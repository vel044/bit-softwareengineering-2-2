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3" r:id="rId11"/>
    <p:sldId id="275" r:id="rId12"/>
    <p:sldId id="276" r:id="rId13"/>
    <p:sldId id="277" r:id="rId14"/>
    <p:sldId id="279" r:id="rId15"/>
    <p:sldId id="281" r:id="rId16"/>
    <p:sldId id="284" r:id="rId17"/>
    <p:sldId id="285" r:id="rId18"/>
    <p:sldId id="291" r:id="rId19"/>
    <p:sldId id="293" r:id="rId20"/>
    <p:sldId id="294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7" r:id="rId34"/>
    <p:sldId id="318" r:id="rId35"/>
    <p:sldId id="319" r:id="rId36"/>
    <p:sldId id="320" r:id="rId37"/>
    <p:sldId id="329" r:id="rId38"/>
    <p:sldId id="330" r:id="rId39"/>
    <p:sldId id="331" r:id="rId40"/>
    <p:sldId id="332" r:id="rId41"/>
    <p:sldId id="333" r:id="rId42"/>
    <p:sldId id="335" r:id="rId43"/>
    <p:sldId id="336" r:id="rId44"/>
    <p:sldId id="337" r:id="rId45"/>
    <p:sldId id="338" r:id="rId46"/>
    <p:sldId id="341" r:id="rId47"/>
    <p:sldId id="342" r:id="rId48"/>
    <p:sldId id="343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353" r:id="rId57"/>
    <p:sldId id="354" r:id="rId58"/>
    <p:sldId id="355" r:id="rId59"/>
    <p:sldId id="359" r:id="rId60"/>
    <p:sldId id="360" r:id="rId61"/>
    <p:sldId id="361" r:id="rId62"/>
    <p:sldId id="362" r:id="rId63"/>
    <p:sldId id="363" r:id="rId64"/>
    <p:sldId id="364" r:id="rId65"/>
    <p:sldId id="365" r:id="rId66"/>
    <p:sldId id="366" r:id="rId67"/>
    <p:sldId id="367" r:id="rId68"/>
    <p:sldId id="368" r:id="rId69"/>
    <p:sldId id="369" r:id="rId70"/>
    <p:sldId id="370" r:id="rId71"/>
    <p:sldId id="371" r:id="rId72"/>
    <p:sldId id="372" r:id="rId73"/>
    <p:sldId id="373" r:id="rId74"/>
  </p:sldIdLst>
  <p:sldSz cx="9906000" cy="6858000" type="A4"/>
  <p:notesSz cx="9906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36" y="5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08:53:03.6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793 1638,'-4'-1,"0"0,1 0,-1-1,0 1,1-1,-1 0,1 0,0 0,-1-1,-4-4,-5-3,-103-67,-186-161,275 214,11 10,1 0,1 0,0-1,0-1,2 0,-14-23,17 21,0-1,2 0,0 0,1 0,1-1,1 0,-3-40,6 33,1 1,1-1,2 0,1 1,11-42,-10 48,11-39,25-58,-34 99,2 0,0 1,1 0,0 1,2 0,-1 0,23-21,323-285,-347 313,1 0,0 1,0 0,1 1,21-9,-27 13,0 1,0 1,0-1,0 1,1 0,-1 0,0 1,1 0,-1 0,0 1,1-1,-1 1,0 1,9 2,3 4,0 1,-1 0,0 2,-1 0,0 0,27 27,20 14,-38-35,42 31,121 113,32 86,-205-227,-1 1,-1 0,15 34,22 70,-44-109,9 29,-2 0,-2 0,-3 1,5 56,-7 188,-6-282,0-1,-1 1,0-1,0 0,-1 1,0-1,0 0,-1 0,0 0,0 0,0-1,-1 1,0-1,0 0,-1 0,0 0,0-1,-6 6,-3 2,-1 0,0-2,0 1,-1-2,-28 14,37-21,-1 0,0 0,0 0,0-1,0-1,0 1,0-1,0-1,0 1,0-1,-1-1,1 0,0 0,0 0,-12-5,-119-50,124 48,0-1,0 0,1-2,-20-16,15 11,-26-17,26 20,0-1,0 0,-24-27,-39-29,13 12,19 8,-69-88,93 103,1 0,-38-74,59 99,1 0,0 0,0-1,1 1,0-1,1 1,0-1,0 0,3-18,2-9,13-51,-13 73,2-8,2 0,0 0,2 1,0 0,2 1,1 0,0 1,23-28,-34 46,0 1,-1 0,1-1,0 1,1 0,-1 0,0 0,1 1,-1-1,1 1,-1-1,1 1,0 0,-1 0,1 0,5-1,-5 2,1 0,-1 0,0 1,1-1,-1 1,0 0,0 0,1 0,-1 0,0 1,0-1,0 1,0 0,-1 0,4 2,12 11,0 0,-1 2,25 30,41 65,-63-82,14 20,-4 1,-1 1,-3 2,-2 1,-2 1,-3 1,17 84,-22-59,-3 0,-3 1,-4 0,-13 152,3-182,-1 0,-3 0,-2-1,-3 0,-21 52,33-97,-1 0,1 0,-1 0,0-1,0 1,-1-1,0 0,-7 6,8-9,0 0,0 0,0-1,0 1,0-1,-1 0,1 0,-1-1,1 0,-1 1,0-1,1-1,-1 1,-5-1,-1 1,-1-2,1 1,0-1,-1-1,1 0,0-1,0 0,1 0,-1-1,-18-10,17 6,0 0,0 0,1-1,0-1,1 0,0 0,-14-20,5 1,1-1,2 0,1-1,2-1,0 0,-9-45,2-2,4 0,3-1,4 0,2-152,11 167,2 1,3 0,2 0,4 1,2 1,38-91,-40 117,2 0,1 2,1 0,3 1,0 1,47-50,-64 76,0 1,0 1,1-1,0 1,0 0,0 0,0 1,0-1,1 2,9-4,-11 5,0 0,0 0,1 1,-1 0,0 0,0 0,1 1,-1 0,0 0,0 0,0 0,0 1,0 0,8 4,5 4,-1 1,0 0,0 2,-1 0,26 27,63 86,-70-81,-3 2,-1 1,-3 1,-1 2,-3 1,-2 1,-3 0,-2 2,-2 0,-3 1,9 97,-20-139,0 0,-1 0,-1 1,0-1,-1 0,-1 0,0-1,-1 1,0 0,-1-1,-1 0,0 0,0-1,-1 0,-1 0,0 0,-1-1,0 0,-12 10,-12 7,0-1,-2-2,-1-2,-1-1,-1-2,-65 25,79-35,0-2,-1 0,1-2,-33 4,44-9,1 0,-1-1,0 0,1-1,-1 0,1-1,-1-1,1 0,0 0,-18-9,14 4,0-2,1 1,0-2,1 0,0-1,1 0,0-1,1-1,1 1,0-2,-15-27,7 9,3-1,0-1,3 0,-16-61,16 35,2 0,3-1,3 0,2 0,3-1,3 1,17-95,-7 88,4 0,3 1,2 1,4 1,2 2,52-86,-34 79,-40 63,0 1,0 0,1 1,-1-1,1 1,12-8,-16 13,0-1,0 1,0-1,1 1,-1 0,0 0,0 1,1-1,-1 1,0 0,1-1,-1 1,0 1,1-1,-1 0,0 1,1 0,-1 0,0 0,0 0,0 0,0 1,0-1,3 3,6 4,0 1,-1 0,0 1,11 12,-18-18,27 30,-2 1,-1 1,-2 2,-1 0,-3 2,31 72,-33-61,-3 0,-2 1,-3 1,-1 0,4 77,-13-107,-2 0,0 0,-2 1,0-1,-2 0,0 0,-2 0,0-1,-2 0,0 0,-1-1,-2 0,0 0,-23 31,6-17,-2-1,-1-2,-2-1,-1-1,-1-2,-1-1,-53 29,31-25,-2-2,-1-2,-1-3,-86 21,-48-6,166-36,0 0,-1-2,1-1,-43-6,65 5,0 0,0-1,1 0,-1 0,1-1,-1 0,1 0,0-1,0 0,0 0,1 0,0-1,-1 0,2 0,-1-1,1 0,-1 0,2 0,-1 0,1-1,0 0,0 0,1 0,0 0,0-1,0 1,-1-9,-4-21,1 0,2 0,1-1,3 1,0-1,3 1,1-1,1 1,14-53,-2 33,3-1,1 2,4 1,1 1,38-58,-44 81,1 1,1 1,38-40,-55 65,1-1,0 1,0 0,0 0,0 1,1-1,-1 1,1 0,11-3,-14 5,1 0,-1 1,0 0,0 0,1 0,-1 0,0 0,0 1,1 0,-1-1,0 1,0 0,0 1,0-1,0 0,0 1,0 0,-1-1,1 1,3 4,8 6,-1 1,0 0,-1 1,17 27,35 69,-34-56,22 34,121 236,-169-313,1 0,-2 1,1-1,-2 1,3 20,-5-25,1-1,-2 1,1-1,-1 0,0 1,0-1,-1 0,0 0,0 0,0 0,-1 0,-4 8,-6 5,-2 0,1 0,-28 25,-58 43,91-80,0 1,-1-1,0 0,-18 10,26-16,-1 1,1-1,0-1,0 1,-1 0,1 0,0-1,-1 0,1 1,-1-1,1 0,0 0,-1 0,1 0,-1-1,1 1,0-1,-1 1,1-1,0 0,-1 0,1 0,0 0,-3-3,1 1,1 0,0-1,0 1,0-1,0 0,1 0,-1 0,1 0,0 0,0-1,-2-8,-1-7,-3-31,8 50,-8-72,4 0,3-1,4 1,2 0,4 0,3 1,3 0,3 1,52-133,-64 191,0 0,1 0,12-18,-18 30,0-1,0 1,0 0,0-1,0 1,0 0,1 0,-1 0,1 0,-1 0,1 0,-1 0,1 0,-1 0,1 1,-1-1,1 1,0-1,0 1,-1 0,1 0,0-1,0 1,-1 0,1 1,0-1,2 0,-1 2,1 0,0 0,0 0,-1 0,1 1,-1-1,0 1,0 0,0 0,3 3,7 10,0 1,-1 0,-1 1,17 35,26 86,-36-84,-3 1,-2 0,-3 1,-2 0,-3 1,-4 108,-5-133,-1 1,-2-1,-2-1,-1 1,-1-1,-2-1,-26 48,-17 14,-69 87,63-92,28-40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09:28:53.2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1 593,'216'-1,"233"2,-2 30,176 14,7-40,684-6,-982 12,-87 0,641-21,-748 3,177 12,34 15,-266-9,-1 4,93 30,57 12,-105-33,262 45,-194-48,-162-20,1-1,-1-1,60-12,-39 5,-1 2,107 2,-105 4,220 0,253-4,-9-28,-495 29,252-38,-263 38,0 0,-1-1,19-9,-30 13,1-1,0 0,-1 0,1 0,-1 0,1 0,-1-1,1 1,-1 0,0-1,0 1,2-3,-3 3,1 1,-1-1,0 1,0-1,0 1,0-1,0 1,0-1,0 1,0-1,0 0,0 1,0-1,0 1,0-1,-1 1,1-1,0 1,0-1,0 1,-1-1,1 1,0-1,-1 1,1 0,-1-1,-3-2,1 1,-1-1,1 1,-1 0,0 0,0 1,0-1,-5 0,-86-20,55 13,-50-16,-241-83,94 32,143 45,-268-86,263 91,-177-24,-270 18,-5 33,366 1,-1572 2,1143-4,-144-42,65-26,423 35,-12-2,52 25,-115-13,97-24,206 41,0 1,-1 2,-76 5,38 0,-427-1,458 2,0 1,-53 13,77-12,3-1,0 2,-22 8,3 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8T09:28:56.0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501 102,'839'-16,"-370"-16,-206 8,387 14,-409 23,24 0,-41-10,388 18,117 14,-2-35,-366-2,219 2,479-2,-879-1,231-35,-336 27,242-35,-295 44,0 1,1 1,-1 2,34 5,86 27,-44-9,-85-23,589 121,-413-76,-116-27,-67-17,-15-1,-20-2,26 0,-237 17,0 20,128-19,35-5,-253 36,-3-22,98-27,-154 8,-414 10,540-20,-1436 2,1293-14,-14 0,-2211 15,1949-15,-74 0,675 15,49-1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3110" y="970886"/>
            <a:ext cx="8399779" cy="1332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7E4D00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hlink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7E4D00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hlink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hlink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040" y="1081532"/>
            <a:ext cx="368554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hlink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4040" y="1642670"/>
            <a:ext cx="5711825" cy="4069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7E4D00"/>
                </a:solidFill>
                <a:latin typeface="华文楷体"/>
                <a:cs typeface="华文楷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41206" y="6472929"/>
            <a:ext cx="216534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.jp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9" Type="http://schemas.openxmlformats.org/officeDocument/2006/relationships/image" Target="../media/image89.png"/><Relationship Id="rId21" Type="http://schemas.openxmlformats.org/officeDocument/2006/relationships/image" Target="../media/image71.png"/><Relationship Id="rId34" Type="http://schemas.openxmlformats.org/officeDocument/2006/relationships/image" Target="../media/image84.png"/><Relationship Id="rId42" Type="http://schemas.openxmlformats.org/officeDocument/2006/relationships/image" Target="../media/image92.png"/><Relationship Id="rId47" Type="http://schemas.openxmlformats.org/officeDocument/2006/relationships/image" Target="../media/image97.png"/><Relationship Id="rId7" Type="http://schemas.openxmlformats.org/officeDocument/2006/relationships/image" Target="../media/image57.png"/><Relationship Id="rId2" Type="http://schemas.openxmlformats.org/officeDocument/2006/relationships/image" Target="../media/image1.jpg"/><Relationship Id="rId16" Type="http://schemas.openxmlformats.org/officeDocument/2006/relationships/image" Target="../media/image66.png"/><Relationship Id="rId29" Type="http://schemas.openxmlformats.org/officeDocument/2006/relationships/image" Target="../media/image79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32" Type="http://schemas.openxmlformats.org/officeDocument/2006/relationships/image" Target="../media/image82.png"/><Relationship Id="rId37" Type="http://schemas.openxmlformats.org/officeDocument/2006/relationships/image" Target="../media/image87.png"/><Relationship Id="rId40" Type="http://schemas.openxmlformats.org/officeDocument/2006/relationships/image" Target="../media/image90.png"/><Relationship Id="rId45" Type="http://schemas.openxmlformats.org/officeDocument/2006/relationships/image" Target="../media/image95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36" Type="http://schemas.openxmlformats.org/officeDocument/2006/relationships/image" Target="../media/image86.png"/><Relationship Id="rId49" Type="http://schemas.openxmlformats.org/officeDocument/2006/relationships/image" Target="../media/image99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4" Type="http://schemas.openxmlformats.org/officeDocument/2006/relationships/image" Target="../media/image94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35" Type="http://schemas.openxmlformats.org/officeDocument/2006/relationships/image" Target="../media/image85.png"/><Relationship Id="rId43" Type="http://schemas.openxmlformats.org/officeDocument/2006/relationships/image" Target="../media/image93.png"/><Relationship Id="rId48" Type="http://schemas.openxmlformats.org/officeDocument/2006/relationships/image" Target="../media/image98.png"/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33" Type="http://schemas.openxmlformats.org/officeDocument/2006/relationships/image" Target="../media/image83.png"/><Relationship Id="rId38" Type="http://schemas.openxmlformats.org/officeDocument/2006/relationships/image" Target="../media/image88.png"/><Relationship Id="rId46" Type="http://schemas.openxmlformats.org/officeDocument/2006/relationships/image" Target="../media/image96.png"/><Relationship Id="rId20" Type="http://schemas.openxmlformats.org/officeDocument/2006/relationships/image" Target="../media/image70.png"/><Relationship Id="rId41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0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0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0" Type="http://schemas.openxmlformats.org/officeDocument/2006/relationships/image" Target="../media/image129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0" Type="http://schemas.openxmlformats.org/officeDocument/2006/relationships/image" Target="../media/image150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18" Type="http://schemas.openxmlformats.org/officeDocument/2006/relationships/image" Target="../media/image169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17" Type="http://schemas.openxmlformats.org/officeDocument/2006/relationships/image" Target="../media/image168.png"/><Relationship Id="rId2" Type="http://schemas.openxmlformats.org/officeDocument/2006/relationships/image" Target="../media/image1.jpg"/><Relationship Id="rId16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5" Type="http://schemas.openxmlformats.org/officeDocument/2006/relationships/image" Target="../media/image156.png"/><Relationship Id="rId15" Type="http://schemas.openxmlformats.org/officeDocument/2006/relationships/image" Target="../media/image166.png"/><Relationship Id="rId10" Type="http://schemas.openxmlformats.org/officeDocument/2006/relationships/image" Target="../media/image161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5" Type="http://schemas.openxmlformats.org/officeDocument/2006/relationships/customXml" Target="../ink/ink3.xml"/><Relationship Id="rId4" Type="http://schemas.openxmlformats.org/officeDocument/2006/relationships/image" Target="../media/image171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4298315" cy="0"/>
          </a:xfrm>
          <a:custGeom>
            <a:avLst/>
            <a:gdLst/>
            <a:ahLst/>
            <a:cxnLst/>
            <a:rect l="l" t="t" r="r" b="b"/>
            <a:pathLst>
              <a:path w="4298315">
                <a:moveTo>
                  <a:pt x="0" y="0"/>
                </a:moveTo>
                <a:lnTo>
                  <a:pt x="4297934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41382" y="99732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218446" y="0"/>
                </a:moveTo>
                <a:lnTo>
                  <a:pt x="0" y="0"/>
                </a:lnTo>
                <a:lnTo>
                  <a:pt x="31008" y="41487"/>
                </a:lnTo>
                <a:lnTo>
                  <a:pt x="56379" y="83857"/>
                </a:lnTo>
                <a:lnTo>
                  <a:pt x="76111" y="126932"/>
                </a:lnTo>
                <a:lnTo>
                  <a:pt x="90206" y="170536"/>
                </a:lnTo>
                <a:lnTo>
                  <a:pt x="98663" y="214491"/>
                </a:lnTo>
                <a:lnTo>
                  <a:pt x="101477" y="258696"/>
                </a:lnTo>
                <a:lnTo>
                  <a:pt x="98663" y="302746"/>
                </a:lnTo>
                <a:lnTo>
                  <a:pt x="90206" y="346694"/>
                </a:lnTo>
                <a:lnTo>
                  <a:pt x="76111" y="390284"/>
                </a:lnTo>
                <a:lnTo>
                  <a:pt x="56379" y="433342"/>
                </a:lnTo>
                <a:lnTo>
                  <a:pt x="31008" y="475689"/>
                </a:lnTo>
                <a:lnTo>
                  <a:pt x="0" y="517149"/>
                </a:lnTo>
                <a:lnTo>
                  <a:pt x="218446" y="517149"/>
                </a:lnTo>
                <a:lnTo>
                  <a:pt x="275831" y="507137"/>
                </a:lnTo>
                <a:lnTo>
                  <a:pt x="331186" y="494685"/>
                </a:lnTo>
                <a:lnTo>
                  <a:pt x="384306" y="479895"/>
                </a:lnTo>
                <a:lnTo>
                  <a:pt x="434989" y="462873"/>
                </a:lnTo>
                <a:lnTo>
                  <a:pt x="483031" y="443719"/>
                </a:lnTo>
                <a:lnTo>
                  <a:pt x="528229" y="422540"/>
                </a:lnTo>
                <a:lnTo>
                  <a:pt x="570381" y="399437"/>
                </a:lnTo>
                <a:lnTo>
                  <a:pt x="609283" y="374514"/>
                </a:lnTo>
                <a:lnTo>
                  <a:pt x="644732" y="347875"/>
                </a:lnTo>
                <a:lnTo>
                  <a:pt x="676524" y="319624"/>
                </a:lnTo>
                <a:lnTo>
                  <a:pt x="704458" y="289863"/>
                </a:lnTo>
                <a:lnTo>
                  <a:pt x="728329" y="258696"/>
                </a:lnTo>
                <a:lnTo>
                  <a:pt x="704777" y="227382"/>
                </a:lnTo>
                <a:lnTo>
                  <a:pt x="677082" y="197488"/>
                </a:lnTo>
                <a:lnTo>
                  <a:pt x="645454" y="169119"/>
                </a:lnTo>
                <a:lnTo>
                  <a:pt x="610103" y="142382"/>
                </a:lnTo>
                <a:lnTo>
                  <a:pt x="571238" y="117383"/>
                </a:lnTo>
                <a:lnTo>
                  <a:pt x="529069" y="94228"/>
                </a:lnTo>
                <a:lnTo>
                  <a:pt x="483807" y="73025"/>
                </a:lnTo>
                <a:lnTo>
                  <a:pt x="435662" y="53879"/>
                </a:lnTo>
                <a:lnTo>
                  <a:pt x="384843" y="36897"/>
                </a:lnTo>
                <a:lnTo>
                  <a:pt x="331561" y="22186"/>
                </a:lnTo>
                <a:lnTo>
                  <a:pt x="276025" y="9851"/>
                </a:lnTo>
                <a:lnTo>
                  <a:pt x="2184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41382" y="99732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728329" y="258696"/>
                </a:moveTo>
                <a:lnTo>
                  <a:pt x="704458" y="289863"/>
                </a:lnTo>
                <a:lnTo>
                  <a:pt x="676524" y="319624"/>
                </a:lnTo>
                <a:lnTo>
                  <a:pt x="644732" y="347875"/>
                </a:lnTo>
                <a:lnTo>
                  <a:pt x="609283" y="374514"/>
                </a:lnTo>
                <a:lnTo>
                  <a:pt x="570381" y="399437"/>
                </a:lnTo>
                <a:lnTo>
                  <a:pt x="528229" y="422540"/>
                </a:lnTo>
                <a:lnTo>
                  <a:pt x="483031" y="443719"/>
                </a:lnTo>
                <a:lnTo>
                  <a:pt x="434989" y="462872"/>
                </a:lnTo>
                <a:lnTo>
                  <a:pt x="384306" y="479895"/>
                </a:lnTo>
                <a:lnTo>
                  <a:pt x="331186" y="494685"/>
                </a:lnTo>
                <a:lnTo>
                  <a:pt x="275831" y="507137"/>
                </a:lnTo>
                <a:lnTo>
                  <a:pt x="218446" y="517149"/>
                </a:lnTo>
                <a:lnTo>
                  <a:pt x="0" y="517149"/>
                </a:lnTo>
                <a:lnTo>
                  <a:pt x="31008" y="475689"/>
                </a:lnTo>
                <a:lnTo>
                  <a:pt x="56379" y="433342"/>
                </a:lnTo>
                <a:lnTo>
                  <a:pt x="76111" y="390284"/>
                </a:lnTo>
                <a:lnTo>
                  <a:pt x="90206" y="346694"/>
                </a:lnTo>
                <a:lnTo>
                  <a:pt x="98663" y="302746"/>
                </a:lnTo>
                <a:lnTo>
                  <a:pt x="101482" y="258620"/>
                </a:lnTo>
                <a:lnTo>
                  <a:pt x="98663" y="214491"/>
                </a:lnTo>
                <a:lnTo>
                  <a:pt x="90206" y="170536"/>
                </a:lnTo>
                <a:lnTo>
                  <a:pt x="76111" y="126932"/>
                </a:lnTo>
                <a:lnTo>
                  <a:pt x="56379" y="83857"/>
                </a:lnTo>
                <a:lnTo>
                  <a:pt x="31008" y="41487"/>
                </a:lnTo>
                <a:lnTo>
                  <a:pt x="0" y="0"/>
                </a:lnTo>
                <a:lnTo>
                  <a:pt x="218446" y="0"/>
                </a:lnTo>
                <a:lnTo>
                  <a:pt x="276025" y="9851"/>
                </a:lnTo>
                <a:lnTo>
                  <a:pt x="331561" y="22186"/>
                </a:lnTo>
                <a:lnTo>
                  <a:pt x="384843" y="36897"/>
                </a:lnTo>
                <a:lnTo>
                  <a:pt x="435662" y="53879"/>
                </a:lnTo>
                <a:lnTo>
                  <a:pt x="483807" y="73025"/>
                </a:lnTo>
                <a:lnTo>
                  <a:pt x="529069" y="94228"/>
                </a:lnTo>
                <a:lnTo>
                  <a:pt x="571238" y="117383"/>
                </a:lnTo>
                <a:lnTo>
                  <a:pt x="610103" y="142382"/>
                </a:lnTo>
                <a:lnTo>
                  <a:pt x="645454" y="169119"/>
                </a:lnTo>
                <a:lnTo>
                  <a:pt x="677082" y="197488"/>
                </a:lnTo>
                <a:lnTo>
                  <a:pt x="704777" y="227382"/>
                </a:lnTo>
                <a:lnTo>
                  <a:pt x="728329" y="258696"/>
                </a:lnTo>
                <a:close/>
              </a:path>
            </a:pathLst>
          </a:custGeom>
          <a:ln w="27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41382" y="99732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448222" y="0"/>
                </a:moveTo>
                <a:lnTo>
                  <a:pt x="0" y="0"/>
                </a:lnTo>
                <a:lnTo>
                  <a:pt x="0" y="517149"/>
                </a:lnTo>
                <a:lnTo>
                  <a:pt x="448222" y="517149"/>
                </a:lnTo>
                <a:lnTo>
                  <a:pt x="498566" y="512986"/>
                </a:lnTo>
                <a:lnTo>
                  <a:pt x="545952" y="500983"/>
                </a:lnTo>
                <a:lnTo>
                  <a:pt x="589588" y="481869"/>
                </a:lnTo>
                <a:lnTo>
                  <a:pt x="628683" y="456369"/>
                </a:lnTo>
                <a:lnTo>
                  <a:pt x="662444" y="425213"/>
                </a:lnTo>
                <a:lnTo>
                  <a:pt x="690081" y="389127"/>
                </a:lnTo>
                <a:lnTo>
                  <a:pt x="710802" y="348841"/>
                </a:lnTo>
                <a:lnTo>
                  <a:pt x="723815" y="305080"/>
                </a:lnTo>
                <a:lnTo>
                  <a:pt x="728329" y="258574"/>
                </a:lnTo>
                <a:lnTo>
                  <a:pt x="723815" y="212100"/>
                </a:lnTo>
                <a:lnTo>
                  <a:pt x="710802" y="168357"/>
                </a:lnTo>
                <a:lnTo>
                  <a:pt x="690081" y="128075"/>
                </a:lnTo>
                <a:lnTo>
                  <a:pt x="662444" y="91986"/>
                </a:lnTo>
                <a:lnTo>
                  <a:pt x="628683" y="60819"/>
                </a:lnTo>
                <a:lnTo>
                  <a:pt x="589588" y="35307"/>
                </a:lnTo>
                <a:lnTo>
                  <a:pt x="545952" y="16179"/>
                </a:lnTo>
                <a:lnTo>
                  <a:pt x="498566" y="4166"/>
                </a:lnTo>
                <a:lnTo>
                  <a:pt x="4482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41382" y="99732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448222" y="517149"/>
                </a:moveTo>
                <a:lnTo>
                  <a:pt x="0" y="517149"/>
                </a:lnTo>
                <a:lnTo>
                  <a:pt x="0" y="0"/>
                </a:lnTo>
                <a:lnTo>
                  <a:pt x="448222" y="0"/>
                </a:lnTo>
                <a:lnTo>
                  <a:pt x="498566" y="4166"/>
                </a:lnTo>
                <a:lnTo>
                  <a:pt x="545952" y="16179"/>
                </a:lnTo>
                <a:lnTo>
                  <a:pt x="589588" y="35307"/>
                </a:lnTo>
                <a:lnTo>
                  <a:pt x="628683" y="60819"/>
                </a:lnTo>
                <a:lnTo>
                  <a:pt x="662444" y="91986"/>
                </a:lnTo>
                <a:lnTo>
                  <a:pt x="690081" y="128075"/>
                </a:lnTo>
                <a:lnTo>
                  <a:pt x="710802" y="168357"/>
                </a:lnTo>
                <a:lnTo>
                  <a:pt x="723815" y="212100"/>
                </a:lnTo>
                <a:lnTo>
                  <a:pt x="728329" y="258574"/>
                </a:lnTo>
                <a:lnTo>
                  <a:pt x="723815" y="305080"/>
                </a:lnTo>
                <a:lnTo>
                  <a:pt x="710802" y="348841"/>
                </a:lnTo>
                <a:lnTo>
                  <a:pt x="690081" y="389127"/>
                </a:lnTo>
                <a:lnTo>
                  <a:pt x="662445" y="425213"/>
                </a:lnTo>
                <a:lnTo>
                  <a:pt x="628683" y="456369"/>
                </a:lnTo>
                <a:lnTo>
                  <a:pt x="589588" y="481869"/>
                </a:lnTo>
                <a:lnTo>
                  <a:pt x="545952" y="500983"/>
                </a:lnTo>
                <a:lnTo>
                  <a:pt x="498566" y="512986"/>
                </a:lnTo>
                <a:lnTo>
                  <a:pt x="448222" y="517149"/>
                </a:lnTo>
                <a:close/>
              </a:path>
            </a:pathLst>
          </a:custGeom>
          <a:ln w="27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41382" y="806494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218446" y="0"/>
                </a:moveTo>
                <a:lnTo>
                  <a:pt x="0" y="0"/>
                </a:lnTo>
                <a:lnTo>
                  <a:pt x="31008" y="41487"/>
                </a:lnTo>
                <a:lnTo>
                  <a:pt x="56379" y="83857"/>
                </a:lnTo>
                <a:lnTo>
                  <a:pt x="76111" y="126932"/>
                </a:lnTo>
                <a:lnTo>
                  <a:pt x="90206" y="170536"/>
                </a:lnTo>
                <a:lnTo>
                  <a:pt x="98663" y="214491"/>
                </a:lnTo>
                <a:lnTo>
                  <a:pt x="101477" y="258696"/>
                </a:lnTo>
                <a:lnTo>
                  <a:pt x="98663" y="302746"/>
                </a:lnTo>
                <a:lnTo>
                  <a:pt x="90206" y="346694"/>
                </a:lnTo>
                <a:lnTo>
                  <a:pt x="76111" y="390284"/>
                </a:lnTo>
                <a:lnTo>
                  <a:pt x="56379" y="433342"/>
                </a:lnTo>
                <a:lnTo>
                  <a:pt x="31008" y="475689"/>
                </a:lnTo>
                <a:lnTo>
                  <a:pt x="0" y="517149"/>
                </a:lnTo>
                <a:lnTo>
                  <a:pt x="218446" y="517149"/>
                </a:lnTo>
                <a:lnTo>
                  <a:pt x="275831" y="507137"/>
                </a:lnTo>
                <a:lnTo>
                  <a:pt x="331186" y="494685"/>
                </a:lnTo>
                <a:lnTo>
                  <a:pt x="384306" y="479895"/>
                </a:lnTo>
                <a:lnTo>
                  <a:pt x="434989" y="462873"/>
                </a:lnTo>
                <a:lnTo>
                  <a:pt x="483031" y="443719"/>
                </a:lnTo>
                <a:lnTo>
                  <a:pt x="528229" y="422540"/>
                </a:lnTo>
                <a:lnTo>
                  <a:pt x="570381" y="399437"/>
                </a:lnTo>
                <a:lnTo>
                  <a:pt x="609283" y="374514"/>
                </a:lnTo>
                <a:lnTo>
                  <a:pt x="644732" y="347875"/>
                </a:lnTo>
                <a:lnTo>
                  <a:pt x="676524" y="319624"/>
                </a:lnTo>
                <a:lnTo>
                  <a:pt x="704458" y="289863"/>
                </a:lnTo>
                <a:lnTo>
                  <a:pt x="728329" y="258696"/>
                </a:lnTo>
                <a:lnTo>
                  <a:pt x="704777" y="227382"/>
                </a:lnTo>
                <a:lnTo>
                  <a:pt x="677082" y="197488"/>
                </a:lnTo>
                <a:lnTo>
                  <a:pt x="645454" y="169119"/>
                </a:lnTo>
                <a:lnTo>
                  <a:pt x="610103" y="142382"/>
                </a:lnTo>
                <a:lnTo>
                  <a:pt x="571238" y="117383"/>
                </a:lnTo>
                <a:lnTo>
                  <a:pt x="529069" y="94228"/>
                </a:lnTo>
                <a:lnTo>
                  <a:pt x="483807" y="73025"/>
                </a:lnTo>
                <a:lnTo>
                  <a:pt x="435662" y="53879"/>
                </a:lnTo>
                <a:lnTo>
                  <a:pt x="384843" y="36897"/>
                </a:lnTo>
                <a:lnTo>
                  <a:pt x="331561" y="22186"/>
                </a:lnTo>
                <a:lnTo>
                  <a:pt x="276025" y="9851"/>
                </a:lnTo>
                <a:lnTo>
                  <a:pt x="2184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41382" y="806495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728329" y="258696"/>
                </a:moveTo>
                <a:lnTo>
                  <a:pt x="704458" y="289863"/>
                </a:lnTo>
                <a:lnTo>
                  <a:pt x="676524" y="319624"/>
                </a:lnTo>
                <a:lnTo>
                  <a:pt x="644732" y="347875"/>
                </a:lnTo>
                <a:lnTo>
                  <a:pt x="609283" y="374514"/>
                </a:lnTo>
                <a:lnTo>
                  <a:pt x="570381" y="399437"/>
                </a:lnTo>
                <a:lnTo>
                  <a:pt x="528229" y="422540"/>
                </a:lnTo>
                <a:lnTo>
                  <a:pt x="483031" y="443719"/>
                </a:lnTo>
                <a:lnTo>
                  <a:pt x="434989" y="462872"/>
                </a:lnTo>
                <a:lnTo>
                  <a:pt x="384306" y="479895"/>
                </a:lnTo>
                <a:lnTo>
                  <a:pt x="331186" y="494685"/>
                </a:lnTo>
                <a:lnTo>
                  <a:pt x="275831" y="507137"/>
                </a:lnTo>
                <a:lnTo>
                  <a:pt x="218446" y="517149"/>
                </a:lnTo>
                <a:lnTo>
                  <a:pt x="0" y="517149"/>
                </a:lnTo>
                <a:lnTo>
                  <a:pt x="31008" y="475689"/>
                </a:lnTo>
                <a:lnTo>
                  <a:pt x="56379" y="433342"/>
                </a:lnTo>
                <a:lnTo>
                  <a:pt x="76111" y="390284"/>
                </a:lnTo>
                <a:lnTo>
                  <a:pt x="90206" y="346694"/>
                </a:lnTo>
                <a:lnTo>
                  <a:pt x="98663" y="302746"/>
                </a:lnTo>
                <a:lnTo>
                  <a:pt x="101482" y="258620"/>
                </a:lnTo>
                <a:lnTo>
                  <a:pt x="98663" y="214491"/>
                </a:lnTo>
                <a:lnTo>
                  <a:pt x="90206" y="170536"/>
                </a:lnTo>
                <a:lnTo>
                  <a:pt x="76111" y="126932"/>
                </a:lnTo>
                <a:lnTo>
                  <a:pt x="56379" y="83857"/>
                </a:lnTo>
                <a:lnTo>
                  <a:pt x="31008" y="41487"/>
                </a:lnTo>
                <a:lnTo>
                  <a:pt x="0" y="0"/>
                </a:lnTo>
                <a:lnTo>
                  <a:pt x="218446" y="0"/>
                </a:lnTo>
                <a:lnTo>
                  <a:pt x="276025" y="9851"/>
                </a:lnTo>
                <a:lnTo>
                  <a:pt x="331561" y="22186"/>
                </a:lnTo>
                <a:lnTo>
                  <a:pt x="384843" y="36897"/>
                </a:lnTo>
                <a:lnTo>
                  <a:pt x="435662" y="53879"/>
                </a:lnTo>
                <a:lnTo>
                  <a:pt x="483807" y="73025"/>
                </a:lnTo>
                <a:lnTo>
                  <a:pt x="529069" y="94228"/>
                </a:lnTo>
                <a:lnTo>
                  <a:pt x="571238" y="117383"/>
                </a:lnTo>
                <a:lnTo>
                  <a:pt x="610103" y="142382"/>
                </a:lnTo>
                <a:lnTo>
                  <a:pt x="645454" y="169119"/>
                </a:lnTo>
                <a:lnTo>
                  <a:pt x="677082" y="197488"/>
                </a:lnTo>
                <a:lnTo>
                  <a:pt x="704777" y="227382"/>
                </a:lnTo>
                <a:lnTo>
                  <a:pt x="728329" y="258696"/>
                </a:lnTo>
                <a:close/>
              </a:path>
            </a:pathLst>
          </a:custGeom>
          <a:ln w="27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41382" y="806494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448222" y="0"/>
                </a:moveTo>
                <a:lnTo>
                  <a:pt x="0" y="0"/>
                </a:lnTo>
                <a:lnTo>
                  <a:pt x="0" y="517149"/>
                </a:lnTo>
                <a:lnTo>
                  <a:pt x="448222" y="517149"/>
                </a:lnTo>
                <a:lnTo>
                  <a:pt x="498566" y="512986"/>
                </a:lnTo>
                <a:lnTo>
                  <a:pt x="545952" y="500983"/>
                </a:lnTo>
                <a:lnTo>
                  <a:pt x="589588" y="481869"/>
                </a:lnTo>
                <a:lnTo>
                  <a:pt x="628683" y="456369"/>
                </a:lnTo>
                <a:lnTo>
                  <a:pt x="662444" y="425213"/>
                </a:lnTo>
                <a:lnTo>
                  <a:pt x="690081" y="389127"/>
                </a:lnTo>
                <a:lnTo>
                  <a:pt x="710802" y="348841"/>
                </a:lnTo>
                <a:lnTo>
                  <a:pt x="723815" y="305080"/>
                </a:lnTo>
                <a:lnTo>
                  <a:pt x="728329" y="258574"/>
                </a:lnTo>
                <a:lnTo>
                  <a:pt x="723815" y="212100"/>
                </a:lnTo>
                <a:lnTo>
                  <a:pt x="710802" y="168357"/>
                </a:lnTo>
                <a:lnTo>
                  <a:pt x="690081" y="128075"/>
                </a:lnTo>
                <a:lnTo>
                  <a:pt x="662444" y="91986"/>
                </a:lnTo>
                <a:lnTo>
                  <a:pt x="628683" y="60819"/>
                </a:lnTo>
                <a:lnTo>
                  <a:pt x="589588" y="35307"/>
                </a:lnTo>
                <a:lnTo>
                  <a:pt x="545952" y="16179"/>
                </a:lnTo>
                <a:lnTo>
                  <a:pt x="498566" y="4166"/>
                </a:lnTo>
                <a:lnTo>
                  <a:pt x="4482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41382" y="806495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448222" y="517149"/>
                </a:moveTo>
                <a:lnTo>
                  <a:pt x="0" y="517149"/>
                </a:lnTo>
                <a:lnTo>
                  <a:pt x="0" y="0"/>
                </a:lnTo>
                <a:lnTo>
                  <a:pt x="448222" y="0"/>
                </a:lnTo>
                <a:lnTo>
                  <a:pt x="498566" y="4166"/>
                </a:lnTo>
                <a:lnTo>
                  <a:pt x="545952" y="16179"/>
                </a:lnTo>
                <a:lnTo>
                  <a:pt x="589588" y="35307"/>
                </a:lnTo>
                <a:lnTo>
                  <a:pt x="628683" y="60819"/>
                </a:lnTo>
                <a:lnTo>
                  <a:pt x="662444" y="91986"/>
                </a:lnTo>
                <a:lnTo>
                  <a:pt x="690081" y="128075"/>
                </a:lnTo>
                <a:lnTo>
                  <a:pt x="710802" y="168357"/>
                </a:lnTo>
                <a:lnTo>
                  <a:pt x="723815" y="212100"/>
                </a:lnTo>
                <a:lnTo>
                  <a:pt x="728329" y="258574"/>
                </a:lnTo>
                <a:lnTo>
                  <a:pt x="723815" y="305080"/>
                </a:lnTo>
                <a:lnTo>
                  <a:pt x="710802" y="348841"/>
                </a:lnTo>
                <a:lnTo>
                  <a:pt x="690081" y="389127"/>
                </a:lnTo>
                <a:lnTo>
                  <a:pt x="662445" y="425213"/>
                </a:lnTo>
                <a:lnTo>
                  <a:pt x="628683" y="456369"/>
                </a:lnTo>
                <a:lnTo>
                  <a:pt x="589588" y="481869"/>
                </a:lnTo>
                <a:lnTo>
                  <a:pt x="545952" y="500983"/>
                </a:lnTo>
                <a:lnTo>
                  <a:pt x="498566" y="512986"/>
                </a:lnTo>
                <a:lnTo>
                  <a:pt x="448222" y="517149"/>
                </a:lnTo>
                <a:close/>
              </a:path>
            </a:pathLst>
          </a:custGeom>
          <a:ln w="27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41382" y="1496108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218446" y="0"/>
                </a:moveTo>
                <a:lnTo>
                  <a:pt x="0" y="0"/>
                </a:lnTo>
                <a:lnTo>
                  <a:pt x="31008" y="41459"/>
                </a:lnTo>
                <a:lnTo>
                  <a:pt x="56379" y="83806"/>
                </a:lnTo>
                <a:lnTo>
                  <a:pt x="76111" y="126864"/>
                </a:lnTo>
                <a:lnTo>
                  <a:pt x="90206" y="170455"/>
                </a:lnTo>
                <a:lnTo>
                  <a:pt x="98663" y="214402"/>
                </a:lnTo>
                <a:lnTo>
                  <a:pt x="101479" y="258574"/>
                </a:lnTo>
                <a:lnTo>
                  <a:pt x="98663" y="302658"/>
                </a:lnTo>
                <a:lnTo>
                  <a:pt x="90206" y="346613"/>
                </a:lnTo>
                <a:lnTo>
                  <a:pt x="76111" y="390216"/>
                </a:lnTo>
                <a:lnTo>
                  <a:pt x="56379" y="433291"/>
                </a:lnTo>
                <a:lnTo>
                  <a:pt x="31008" y="475661"/>
                </a:lnTo>
                <a:lnTo>
                  <a:pt x="0" y="517149"/>
                </a:lnTo>
                <a:lnTo>
                  <a:pt x="218446" y="517149"/>
                </a:lnTo>
                <a:lnTo>
                  <a:pt x="275831" y="507109"/>
                </a:lnTo>
                <a:lnTo>
                  <a:pt x="331186" y="494634"/>
                </a:lnTo>
                <a:lnTo>
                  <a:pt x="384306" y="479825"/>
                </a:lnTo>
                <a:lnTo>
                  <a:pt x="434989" y="462787"/>
                </a:lnTo>
                <a:lnTo>
                  <a:pt x="483031" y="443622"/>
                </a:lnTo>
                <a:lnTo>
                  <a:pt x="528229" y="422433"/>
                </a:lnTo>
                <a:lnTo>
                  <a:pt x="570381" y="399324"/>
                </a:lnTo>
                <a:lnTo>
                  <a:pt x="609283" y="374397"/>
                </a:lnTo>
                <a:lnTo>
                  <a:pt x="644732" y="347756"/>
                </a:lnTo>
                <a:lnTo>
                  <a:pt x="676524" y="319503"/>
                </a:lnTo>
                <a:lnTo>
                  <a:pt x="704458" y="289741"/>
                </a:lnTo>
                <a:lnTo>
                  <a:pt x="728329" y="258574"/>
                </a:lnTo>
                <a:lnTo>
                  <a:pt x="704777" y="227261"/>
                </a:lnTo>
                <a:lnTo>
                  <a:pt x="677082" y="197367"/>
                </a:lnTo>
                <a:lnTo>
                  <a:pt x="645454" y="168999"/>
                </a:lnTo>
                <a:lnTo>
                  <a:pt x="610103" y="142265"/>
                </a:lnTo>
                <a:lnTo>
                  <a:pt x="571238" y="117270"/>
                </a:lnTo>
                <a:lnTo>
                  <a:pt x="529069" y="94122"/>
                </a:lnTo>
                <a:lnTo>
                  <a:pt x="483807" y="72928"/>
                </a:lnTo>
                <a:lnTo>
                  <a:pt x="435662" y="53794"/>
                </a:lnTo>
                <a:lnTo>
                  <a:pt x="384843" y="36827"/>
                </a:lnTo>
                <a:lnTo>
                  <a:pt x="331561" y="22135"/>
                </a:lnTo>
                <a:lnTo>
                  <a:pt x="276025" y="9823"/>
                </a:lnTo>
                <a:lnTo>
                  <a:pt x="2184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41382" y="1496108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728329" y="258574"/>
                </a:moveTo>
                <a:lnTo>
                  <a:pt x="704458" y="289741"/>
                </a:lnTo>
                <a:lnTo>
                  <a:pt x="676524" y="319503"/>
                </a:lnTo>
                <a:lnTo>
                  <a:pt x="644732" y="347756"/>
                </a:lnTo>
                <a:lnTo>
                  <a:pt x="609283" y="374397"/>
                </a:lnTo>
                <a:lnTo>
                  <a:pt x="570381" y="399324"/>
                </a:lnTo>
                <a:lnTo>
                  <a:pt x="528229" y="422433"/>
                </a:lnTo>
                <a:lnTo>
                  <a:pt x="483031" y="443622"/>
                </a:lnTo>
                <a:lnTo>
                  <a:pt x="434989" y="462787"/>
                </a:lnTo>
                <a:lnTo>
                  <a:pt x="384306" y="479825"/>
                </a:lnTo>
                <a:lnTo>
                  <a:pt x="331186" y="494633"/>
                </a:lnTo>
                <a:lnTo>
                  <a:pt x="275831" y="507109"/>
                </a:lnTo>
                <a:lnTo>
                  <a:pt x="218446" y="517149"/>
                </a:lnTo>
                <a:lnTo>
                  <a:pt x="0" y="517149"/>
                </a:lnTo>
                <a:lnTo>
                  <a:pt x="31008" y="475661"/>
                </a:lnTo>
                <a:lnTo>
                  <a:pt x="56379" y="433291"/>
                </a:lnTo>
                <a:lnTo>
                  <a:pt x="76111" y="390216"/>
                </a:lnTo>
                <a:lnTo>
                  <a:pt x="90206" y="346613"/>
                </a:lnTo>
                <a:lnTo>
                  <a:pt x="98663" y="302658"/>
                </a:lnTo>
                <a:lnTo>
                  <a:pt x="101482" y="258529"/>
                </a:lnTo>
                <a:lnTo>
                  <a:pt x="98663" y="214402"/>
                </a:lnTo>
                <a:lnTo>
                  <a:pt x="90206" y="170455"/>
                </a:lnTo>
                <a:lnTo>
                  <a:pt x="76111" y="126864"/>
                </a:lnTo>
                <a:lnTo>
                  <a:pt x="56379" y="83806"/>
                </a:lnTo>
                <a:lnTo>
                  <a:pt x="31008" y="41459"/>
                </a:lnTo>
                <a:lnTo>
                  <a:pt x="0" y="0"/>
                </a:lnTo>
                <a:lnTo>
                  <a:pt x="218446" y="0"/>
                </a:lnTo>
                <a:lnTo>
                  <a:pt x="276025" y="9823"/>
                </a:lnTo>
                <a:lnTo>
                  <a:pt x="331561" y="22135"/>
                </a:lnTo>
                <a:lnTo>
                  <a:pt x="384843" y="36827"/>
                </a:lnTo>
                <a:lnTo>
                  <a:pt x="435662" y="53794"/>
                </a:lnTo>
                <a:lnTo>
                  <a:pt x="483807" y="72928"/>
                </a:lnTo>
                <a:lnTo>
                  <a:pt x="529069" y="94122"/>
                </a:lnTo>
                <a:lnTo>
                  <a:pt x="571238" y="117270"/>
                </a:lnTo>
                <a:lnTo>
                  <a:pt x="610103" y="142265"/>
                </a:lnTo>
                <a:lnTo>
                  <a:pt x="645454" y="168999"/>
                </a:lnTo>
                <a:lnTo>
                  <a:pt x="677082" y="197367"/>
                </a:lnTo>
                <a:lnTo>
                  <a:pt x="704777" y="227261"/>
                </a:lnTo>
                <a:lnTo>
                  <a:pt x="728329" y="258574"/>
                </a:lnTo>
                <a:close/>
              </a:path>
            </a:pathLst>
          </a:custGeom>
          <a:ln w="27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41382" y="1496108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448222" y="0"/>
                </a:moveTo>
                <a:lnTo>
                  <a:pt x="0" y="0"/>
                </a:lnTo>
                <a:lnTo>
                  <a:pt x="0" y="517149"/>
                </a:lnTo>
                <a:lnTo>
                  <a:pt x="448222" y="517149"/>
                </a:lnTo>
                <a:lnTo>
                  <a:pt x="498566" y="512982"/>
                </a:lnTo>
                <a:lnTo>
                  <a:pt x="545952" y="500969"/>
                </a:lnTo>
                <a:lnTo>
                  <a:pt x="589588" y="481841"/>
                </a:lnTo>
                <a:lnTo>
                  <a:pt x="628683" y="456329"/>
                </a:lnTo>
                <a:lnTo>
                  <a:pt x="662444" y="425163"/>
                </a:lnTo>
                <a:lnTo>
                  <a:pt x="690081" y="389073"/>
                </a:lnTo>
                <a:lnTo>
                  <a:pt x="710802" y="348791"/>
                </a:lnTo>
                <a:lnTo>
                  <a:pt x="723815" y="305048"/>
                </a:lnTo>
                <a:lnTo>
                  <a:pt x="728329" y="258574"/>
                </a:lnTo>
                <a:lnTo>
                  <a:pt x="723815" y="212100"/>
                </a:lnTo>
                <a:lnTo>
                  <a:pt x="710802" y="168357"/>
                </a:lnTo>
                <a:lnTo>
                  <a:pt x="690081" y="128075"/>
                </a:lnTo>
                <a:lnTo>
                  <a:pt x="662444" y="91986"/>
                </a:lnTo>
                <a:lnTo>
                  <a:pt x="628683" y="60819"/>
                </a:lnTo>
                <a:lnTo>
                  <a:pt x="589588" y="35307"/>
                </a:lnTo>
                <a:lnTo>
                  <a:pt x="545952" y="16179"/>
                </a:lnTo>
                <a:lnTo>
                  <a:pt x="498566" y="4166"/>
                </a:lnTo>
                <a:lnTo>
                  <a:pt x="4482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41382" y="1496108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448222" y="517149"/>
                </a:moveTo>
                <a:lnTo>
                  <a:pt x="0" y="517149"/>
                </a:lnTo>
                <a:lnTo>
                  <a:pt x="0" y="0"/>
                </a:lnTo>
                <a:lnTo>
                  <a:pt x="448222" y="0"/>
                </a:lnTo>
                <a:lnTo>
                  <a:pt x="498566" y="4166"/>
                </a:lnTo>
                <a:lnTo>
                  <a:pt x="545952" y="16179"/>
                </a:lnTo>
                <a:lnTo>
                  <a:pt x="589588" y="35307"/>
                </a:lnTo>
                <a:lnTo>
                  <a:pt x="628683" y="60819"/>
                </a:lnTo>
                <a:lnTo>
                  <a:pt x="662444" y="91986"/>
                </a:lnTo>
                <a:lnTo>
                  <a:pt x="690081" y="128075"/>
                </a:lnTo>
                <a:lnTo>
                  <a:pt x="710802" y="168357"/>
                </a:lnTo>
                <a:lnTo>
                  <a:pt x="723815" y="212100"/>
                </a:lnTo>
                <a:lnTo>
                  <a:pt x="728329" y="258574"/>
                </a:lnTo>
                <a:lnTo>
                  <a:pt x="723815" y="305048"/>
                </a:lnTo>
                <a:lnTo>
                  <a:pt x="710802" y="348791"/>
                </a:lnTo>
                <a:lnTo>
                  <a:pt x="690081" y="389073"/>
                </a:lnTo>
                <a:lnTo>
                  <a:pt x="662445" y="425163"/>
                </a:lnTo>
                <a:lnTo>
                  <a:pt x="628683" y="456329"/>
                </a:lnTo>
                <a:lnTo>
                  <a:pt x="589588" y="481841"/>
                </a:lnTo>
                <a:lnTo>
                  <a:pt x="545952" y="500969"/>
                </a:lnTo>
                <a:lnTo>
                  <a:pt x="498566" y="512982"/>
                </a:lnTo>
                <a:lnTo>
                  <a:pt x="448222" y="517149"/>
                </a:lnTo>
                <a:close/>
              </a:path>
            </a:pathLst>
          </a:custGeom>
          <a:ln w="27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641382" y="2185600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218446" y="0"/>
                </a:moveTo>
                <a:lnTo>
                  <a:pt x="0" y="0"/>
                </a:lnTo>
                <a:lnTo>
                  <a:pt x="31008" y="41487"/>
                </a:lnTo>
                <a:lnTo>
                  <a:pt x="56379" y="83857"/>
                </a:lnTo>
                <a:lnTo>
                  <a:pt x="76111" y="126932"/>
                </a:lnTo>
                <a:lnTo>
                  <a:pt x="90206" y="170536"/>
                </a:lnTo>
                <a:lnTo>
                  <a:pt x="98663" y="214491"/>
                </a:lnTo>
                <a:lnTo>
                  <a:pt x="101482" y="258620"/>
                </a:lnTo>
                <a:lnTo>
                  <a:pt x="98663" y="302746"/>
                </a:lnTo>
                <a:lnTo>
                  <a:pt x="90206" y="346694"/>
                </a:lnTo>
                <a:lnTo>
                  <a:pt x="76111" y="390284"/>
                </a:lnTo>
                <a:lnTo>
                  <a:pt x="56379" y="433342"/>
                </a:lnTo>
                <a:lnTo>
                  <a:pt x="31008" y="475689"/>
                </a:lnTo>
                <a:lnTo>
                  <a:pt x="0" y="517149"/>
                </a:lnTo>
                <a:lnTo>
                  <a:pt x="218446" y="517149"/>
                </a:lnTo>
                <a:lnTo>
                  <a:pt x="275831" y="507135"/>
                </a:lnTo>
                <a:lnTo>
                  <a:pt x="331186" y="494676"/>
                </a:lnTo>
                <a:lnTo>
                  <a:pt x="384306" y="479876"/>
                </a:lnTo>
                <a:lnTo>
                  <a:pt x="434989" y="462841"/>
                </a:lnTo>
                <a:lnTo>
                  <a:pt x="483031" y="443674"/>
                </a:lnTo>
                <a:lnTo>
                  <a:pt x="528229" y="422479"/>
                </a:lnTo>
                <a:lnTo>
                  <a:pt x="570381" y="399361"/>
                </a:lnTo>
                <a:lnTo>
                  <a:pt x="609283" y="374424"/>
                </a:lnTo>
                <a:lnTo>
                  <a:pt x="644732" y="347773"/>
                </a:lnTo>
                <a:lnTo>
                  <a:pt x="676524" y="319511"/>
                </a:lnTo>
                <a:lnTo>
                  <a:pt x="704458" y="289743"/>
                </a:lnTo>
                <a:lnTo>
                  <a:pt x="728329" y="258574"/>
                </a:lnTo>
                <a:lnTo>
                  <a:pt x="704777" y="227263"/>
                </a:lnTo>
                <a:lnTo>
                  <a:pt x="677082" y="197375"/>
                </a:lnTo>
                <a:lnTo>
                  <a:pt x="645454" y="169016"/>
                </a:lnTo>
                <a:lnTo>
                  <a:pt x="610103" y="142292"/>
                </a:lnTo>
                <a:lnTo>
                  <a:pt x="571238" y="117307"/>
                </a:lnTo>
                <a:lnTo>
                  <a:pt x="529069" y="94168"/>
                </a:lnTo>
                <a:lnTo>
                  <a:pt x="483807" y="72979"/>
                </a:lnTo>
                <a:lnTo>
                  <a:pt x="435662" y="53848"/>
                </a:lnTo>
                <a:lnTo>
                  <a:pt x="384843" y="36878"/>
                </a:lnTo>
                <a:lnTo>
                  <a:pt x="331561" y="22177"/>
                </a:lnTo>
                <a:lnTo>
                  <a:pt x="276025" y="9849"/>
                </a:lnTo>
                <a:lnTo>
                  <a:pt x="2184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641382" y="2185600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728329" y="258574"/>
                </a:moveTo>
                <a:lnTo>
                  <a:pt x="704458" y="289743"/>
                </a:lnTo>
                <a:lnTo>
                  <a:pt x="676524" y="319511"/>
                </a:lnTo>
                <a:lnTo>
                  <a:pt x="644732" y="347773"/>
                </a:lnTo>
                <a:lnTo>
                  <a:pt x="609283" y="374424"/>
                </a:lnTo>
                <a:lnTo>
                  <a:pt x="570381" y="399361"/>
                </a:lnTo>
                <a:lnTo>
                  <a:pt x="528229" y="422479"/>
                </a:lnTo>
                <a:lnTo>
                  <a:pt x="483031" y="443674"/>
                </a:lnTo>
                <a:lnTo>
                  <a:pt x="434989" y="462841"/>
                </a:lnTo>
                <a:lnTo>
                  <a:pt x="384306" y="479876"/>
                </a:lnTo>
                <a:lnTo>
                  <a:pt x="331186" y="494676"/>
                </a:lnTo>
                <a:lnTo>
                  <a:pt x="275831" y="507135"/>
                </a:lnTo>
                <a:lnTo>
                  <a:pt x="218446" y="517149"/>
                </a:lnTo>
                <a:lnTo>
                  <a:pt x="0" y="517149"/>
                </a:lnTo>
                <a:lnTo>
                  <a:pt x="31008" y="475689"/>
                </a:lnTo>
                <a:lnTo>
                  <a:pt x="56379" y="433342"/>
                </a:lnTo>
                <a:lnTo>
                  <a:pt x="76111" y="390284"/>
                </a:lnTo>
                <a:lnTo>
                  <a:pt x="90206" y="346694"/>
                </a:lnTo>
                <a:lnTo>
                  <a:pt x="98663" y="302746"/>
                </a:lnTo>
                <a:lnTo>
                  <a:pt x="101482" y="258620"/>
                </a:lnTo>
                <a:lnTo>
                  <a:pt x="98663" y="214491"/>
                </a:lnTo>
                <a:lnTo>
                  <a:pt x="90206" y="170536"/>
                </a:lnTo>
                <a:lnTo>
                  <a:pt x="76111" y="126932"/>
                </a:lnTo>
                <a:lnTo>
                  <a:pt x="56379" y="83857"/>
                </a:lnTo>
                <a:lnTo>
                  <a:pt x="31008" y="41487"/>
                </a:lnTo>
                <a:lnTo>
                  <a:pt x="0" y="0"/>
                </a:lnTo>
                <a:lnTo>
                  <a:pt x="218446" y="0"/>
                </a:lnTo>
                <a:lnTo>
                  <a:pt x="276025" y="9849"/>
                </a:lnTo>
                <a:lnTo>
                  <a:pt x="331561" y="22177"/>
                </a:lnTo>
                <a:lnTo>
                  <a:pt x="384843" y="36878"/>
                </a:lnTo>
                <a:lnTo>
                  <a:pt x="435662" y="53848"/>
                </a:lnTo>
                <a:lnTo>
                  <a:pt x="483807" y="72979"/>
                </a:lnTo>
                <a:lnTo>
                  <a:pt x="529069" y="94168"/>
                </a:lnTo>
                <a:lnTo>
                  <a:pt x="571238" y="117307"/>
                </a:lnTo>
                <a:lnTo>
                  <a:pt x="610103" y="142292"/>
                </a:lnTo>
                <a:lnTo>
                  <a:pt x="645454" y="169016"/>
                </a:lnTo>
                <a:lnTo>
                  <a:pt x="677082" y="197375"/>
                </a:lnTo>
                <a:lnTo>
                  <a:pt x="704777" y="227263"/>
                </a:lnTo>
                <a:lnTo>
                  <a:pt x="728329" y="258574"/>
                </a:lnTo>
                <a:close/>
              </a:path>
            </a:pathLst>
          </a:custGeom>
          <a:ln w="27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641382" y="2185600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448222" y="0"/>
                </a:moveTo>
                <a:lnTo>
                  <a:pt x="0" y="0"/>
                </a:lnTo>
                <a:lnTo>
                  <a:pt x="0" y="517149"/>
                </a:lnTo>
                <a:lnTo>
                  <a:pt x="448222" y="517149"/>
                </a:lnTo>
                <a:lnTo>
                  <a:pt x="498566" y="512982"/>
                </a:lnTo>
                <a:lnTo>
                  <a:pt x="545952" y="500969"/>
                </a:lnTo>
                <a:lnTo>
                  <a:pt x="589588" y="481841"/>
                </a:lnTo>
                <a:lnTo>
                  <a:pt x="628683" y="456329"/>
                </a:lnTo>
                <a:lnTo>
                  <a:pt x="662444" y="425163"/>
                </a:lnTo>
                <a:lnTo>
                  <a:pt x="690081" y="389073"/>
                </a:lnTo>
                <a:lnTo>
                  <a:pt x="710802" y="348791"/>
                </a:lnTo>
                <a:lnTo>
                  <a:pt x="723815" y="305048"/>
                </a:lnTo>
                <a:lnTo>
                  <a:pt x="728329" y="258574"/>
                </a:lnTo>
                <a:lnTo>
                  <a:pt x="723815" y="212100"/>
                </a:lnTo>
                <a:lnTo>
                  <a:pt x="710802" y="168357"/>
                </a:lnTo>
                <a:lnTo>
                  <a:pt x="690081" y="128075"/>
                </a:lnTo>
                <a:lnTo>
                  <a:pt x="662444" y="91986"/>
                </a:lnTo>
                <a:lnTo>
                  <a:pt x="628683" y="60819"/>
                </a:lnTo>
                <a:lnTo>
                  <a:pt x="589588" y="35307"/>
                </a:lnTo>
                <a:lnTo>
                  <a:pt x="545952" y="16179"/>
                </a:lnTo>
                <a:lnTo>
                  <a:pt x="498566" y="4166"/>
                </a:lnTo>
                <a:lnTo>
                  <a:pt x="4482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41382" y="2185600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448222" y="517149"/>
                </a:moveTo>
                <a:lnTo>
                  <a:pt x="0" y="517149"/>
                </a:lnTo>
                <a:lnTo>
                  <a:pt x="0" y="0"/>
                </a:lnTo>
                <a:lnTo>
                  <a:pt x="448222" y="0"/>
                </a:lnTo>
                <a:lnTo>
                  <a:pt x="498566" y="4166"/>
                </a:lnTo>
                <a:lnTo>
                  <a:pt x="545952" y="16179"/>
                </a:lnTo>
                <a:lnTo>
                  <a:pt x="589588" y="35307"/>
                </a:lnTo>
                <a:lnTo>
                  <a:pt x="628683" y="60819"/>
                </a:lnTo>
                <a:lnTo>
                  <a:pt x="662444" y="91986"/>
                </a:lnTo>
                <a:lnTo>
                  <a:pt x="690081" y="128075"/>
                </a:lnTo>
                <a:lnTo>
                  <a:pt x="710802" y="168357"/>
                </a:lnTo>
                <a:lnTo>
                  <a:pt x="723815" y="212100"/>
                </a:lnTo>
                <a:lnTo>
                  <a:pt x="728329" y="258574"/>
                </a:lnTo>
                <a:lnTo>
                  <a:pt x="723815" y="305048"/>
                </a:lnTo>
                <a:lnTo>
                  <a:pt x="710802" y="348791"/>
                </a:lnTo>
                <a:lnTo>
                  <a:pt x="690081" y="389073"/>
                </a:lnTo>
                <a:lnTo>
                  <a:pt x="662445" y="425163"/>
                </a:lnTo>
                <a:lnTo>
                  <a:pt x="628683" y="456329"/>
                </a:lnTo>
                <a:lnTo>
                  <a:pt x="589588" y="481841"/>
                </a:lnTo>
                <a:lnTo>
                  <a:pt x="545952" y="500969"/>
                </a:lnTo>
                <a:lnTo>
                  <a:pt x="498566" y="512982"/>
                </a:lnTo>
                <a:lnTo>
                  <a:pt x="448222" y="517149"/>
                </a:lnTo>
                <a:close/>
              </a:path>
            </a:pathLst>
          </a:custGeom>
          <a:ln w="27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641382" y="3047556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218446" y="0"/>
                </a:moveTo>
                <a:lnTo>
                  <a:pt x="0" y="0"/>
                </a:lnTo>
                <a:lnTo>
                  <a:pt x="31008" y="41465"/>
                </a:lnTo>
                <a:lnTo>
                  <a:pt x="56379" y="83816"/>
                </a:lnTo>
                <a:lnTo>
                  <a:pt x="76111" y="126875"/>
                </a:lnTo>
                <a:lnTo>
                  <a:pt x="90206" y="170467"/>
                </a:lnTo>
                <a:lnTo>
                  <a:pt x="98663" y="214413"/>
                </a:lnTo>
                <a:lnTo>
                  <a:pt x="101481" y="258562"/>
                </a:lnTo>
                <a:lnTo>
                  <a:pt x="98663" y="302663"/>
                </a:lnTo>
                <a:lnTo>
                  <a:pt x="90206" y="346613"/>
                </a:lnTo>
                <a:lnTo>
                  <a:pt x="76111" y="390209"/>
                </a:lnTo>
                <a:lnTo>
                  <a:pt x="56379" y="433276"/>
                </a:lnTo>
                <a:lnTo>
                  <a:pt x="31008" y="475636"/>
                </a:lnTo>
                <a:lnTo>
                  <a:pt x="0" y="517112"/>
                </a:lnTo>
                <a:lnTo>
                  <a:pt x="218446" y="517112"/>
                </a:lnTo>
                <a:lnTo>
                  <a:pt x="275831" y="507086"/>
                </a:lnTo>
                <a:lnTo>
                  <a:pt x="331186" y="494621"/>
                </a:lnTo>
                <a:lnTo>
                  <a:pt x="384306" y="479820"/>
                </a:lnTo>
                <a:lnTo>
                  <a:pt x="434989" y="462786"/>
                </a:lnTo>
                <a:lnTo>
                  <a:pt x="483031" y="443624"/>
                </a:lnTo>
                <a:lnTo>
                  <a:pt x="528229" y="422436"/>
                </a:lnTo>
                <a:lnTo>
                  <a:pt x="570381" y="399326"/>
                </a:lnTo>
                <a:lnTo>
                  <a:pt x="609283" y="374398"/>
                </a:lnTo>
                <a:lnTo>
                  <a:pt x="644732" y="347753"/>
                </a:lnTo>
                <a:lnTo>
                  <a:pt x="676524" y="319497"/>
                </a:lnTo>
                <a:lnTo>
                  <a:pt x="704458" y="289732"/>
                </a:lnTo>
                <a:lnTo>
                  <a:pt x="728329" y="258562"/>
                </a:lnTo>
                <a:lnTo>
                  <a:pt x="704777" y="227254"/>
                </a:lnTo>
                <a:lnTo>
                  <a:pt x="677082" y="197364"/>
                </a:lnTo>
                <a:lnTo>
                  <a:pt x="645454" y="168999"/>
                </a:lnTo>
                <a:lnTo>
                  <a:pt x="610103" y="142266"/>
                </a:lnTo>
                <a:lnTo>
                  <a:pt x="571238" y="117273"/>
                </a:lnTo>
                <a:lnTo>
                  <a:pt x="529069" y="94125"/>
                </a:lnTo>
                <a:lnTo>
                  <a:pt x="483807" y="72930"/>
                </a:lnTo>
                <a:lnTo>
                  <a:pt x="435662" y="53796"/>
                </a:lnTo>
                <a:lnTo>
                  <a:pt x="384843" y="36829"/>
                </a:lnTo>
                <a:lnTo>
                  <a:pt x="331561" y="22135"/>
                </a:lnTo>
                <a:lnTo>
                  <a:pt x="276025" y="9823"/>
                </a:lnTo>
                <a:lnTo>
                  <a:pt x="2184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641382" y="3047556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728329" y="258562"/>
                </a:moveTo>
                <a:lnTo>
                  <a:pt x="704458" y="289732"/>
                </a:lnTo>
                <a:lnTo>
                  <a:pt x="676524" y="319497"/>
                </a:lnTo>
                <a:lnTo>
                  <a:pt x="644732" y="347753"/>
                </a:lnTo>
                <a:lnTo>
                  <a:pt x="609283" y="374398"/>
                </a:lnTo>
                <a:lnTo>
                  <a:pt x="570381" y="399326"/>
                </a:lnTo>
                <a:lnTo>
                  <a:pt x="528229" y="422436"/>
                </a:lnTo>
                <a:lnTo>
                  <a:pt x="483031" y="443624"/>
                </a:lnTo>
                <a:lnTo>
                  <a:pt x="434989" y="462786"/>
                </a:lnTo>
                <a:lnTo>
                  <a:pt x="384306" y="479820"/>
                </a:lnTo>
                <a:lnTo>
                  <a:pt x="331186" y="494621"/>
                </a:lnTo>
                <a:lnTo>
                  <a:pt x="275831" y="507086"/>
                </a:lnTo>
                <a:lnTo>
                  <a:pt x="218446" y="517112"/>
                </a:lnTo>
                <a:lnTo>
                  <a:pt x="0" y="517112"/>
                </a:lnTo>
                <a:lnTo>
                  <a:pt x="31008" y="475636"/>
                </a:lnTo>
                <a:lnTo>
                  <a:pt x="56379" y="433276"/>
                </a:lnTo>
                <a:lnTo>
                  <a:pt x="76111" y="390209"/>
                </a:lnTo>
                <a:lnTo>
                  <a:pt x="90206" y="346613"/>
                </a:lnTo>
                <a:lnTo>
                  <a:pt x="98663" y="302663"/>
                </a:lnTo>
                <a:lnTo>
                  <a:pt x="101482" y="258538"/>
                </a:lnTo>
                <a:lnTo>
                  <a:pt x="98663" y="214413"/>
                </a:lnTo>
                <a:lnTo>
                  <a:pt x="90206" y="170467"/>
                </a:lnTo>
                <a:lnTo>
                  <a:pt x="76111" y="126875"/>
                </a:lnTo>
                <a:lnTo>
                  <a:pt x="56379" y="83816"/>
                </a:lnTo>
                <a:lnTo>
                  <a:pt x="31008" y="41465"/>
                </a:lnTo>
                <a:lnTo>
                  <a:pt x="0" y="0"/>
                </a:lnTo>
                <a:lnTo>
                  <a:pt x="218446" y="0"/>
                </a:lnTo>
                <a:lnTo>
                  <a:pt x="276025" y="9823"/>
                </a:lnTo>
                <a:lnTo>
                  <a:pt x="331561" y="22135"/>
                </a:lnTo>
                <a:lnTo>
                  <a:pt x="384843" y="36829"/>
                </a:lnTo>
                <a:lnTo>
                  <a:pt x="435662" y="53796"/>
                </a:lnTo>
                <a:lnTo>
                  <a:pt x="483807" y="72930"/>
                </a:lnTo>
                <a:lnTo>
                  <a:pt x="529069" y="94125"/>
                </a:lnTo>
                <a:lnTo>
                  <a:pt x="571238" y="117273"/>
                </a:lnTo>
                <a:lnTo>
                  <a:pt x="610103" y="142266"/>
                </a:lnTo>
                <a:lnTo>
                  <a:pt x="645454" y="168999"/>
                </a:lnTo>
                <a:lnTo>
                  <a:pt x="677082" y="197364"/>
                </a:lnTo>
                <a:lnTo>
                  <a:pt x="704777" y="227254"/>
                </a:lnTo>
                <a:lnTo>
                  <a:pt x="728329" y="258562"/>
                </a:lnTo>
                <a:close/>
              </a:path>
            </a:pathLst>
          </a:custGeom>
          <a:ln w="27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445334" y="3564668"/>
            <a:ext cx="196215" cy="86360"/>
          </a:xfrm>
          <a:custGeom>
            <a:avLst/>
            <a:gdLst/>
            <a:ahLst/>
            <a:cxnLst/>
            <a:rect l="l" t="t" r="r" b="b"/>
            <a:pathLst>
              <a:path w="196215" h="86360">
                <a:moveTo>
                  <a:pt x="196048" y="0"/>
                </a:moveTo>
                <a:lnTo>
                  <a:pt x="196048" y="86183"/>
                </a:lnTo>
                <a:lnTo>
                  <a:pt x="0" y="86183"/>
                </a:lnTo>
              </a:path>
            </a:pathLst>
          </a:custGeom>
          <a:ln w="266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445334" y="2961324"/>
            <a:ext cx="196215" cy="86360"/>
          </a:xfrm>
          <a:custGeom>
            <a:avLst/>
            <a:gdLst/>
            <a:ahLst/>
            <a:cxnLst/>
            <a:rect l="l" t="t" r="r" b="b"/>
            <a:pathLst>
              <a:path w="196215" h="86360">
                <a:moveTo>
                  <a:pt x="196048" y="86232"/>
                </a:moveTo>
                <a:lnTo>
                  <a:pt x="196048" y="0"/>
                </a:lnTo>
                <a:lnTo>
                  <a:pt x="0" y="0"/>
                </a:lnTo>
              </a:path>
            </a:pathLst>
          </a:custGeom>
          <a:ln w="266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641382" y="3047556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448222" y="0"/>
                </a:moveTo>
                <a:lnTo>
                  <a:pt x="0" y="0"/>
                </a:lnTo>
                <a:lnTo>
                  <a:pt x="0" y="517112"/>
                </a:lnTo>
                <a:lnTo>
                  <a:pt x="448222" y="517112"/>
                </a:lnTo>
                <a:lnTo>
                  <a:pt x="498566" y="512946"/>
                </a:lnTo>
                <a:lnTo>
                  <a:pt x="545952" y="500934"/>
                </a:lnTo>
                <a:lnTo>
                  <a:pt x="589588" y="481808"/>
                </a:lnTo>
                <a:lnTo>
                  <a:pt x="628683" y="456296"/>
                </a:lnTo>
                <a:lnTo>
                  <a:pt x="662444" y="425131"/>
                </a:lnTo>
                <a:lnTo>
                  <a:pt x="690081" y="389042"/>
                </a:lnTo>
                <a:lnTo>
                  <a:pt x="710802" y="348760"/>
                </a:lnTo>
                <a:lnTo>
                  <a:pt x="723815" y="305015"/>
                </a:lnTo>
                <a:lnTo>
                  <a:pt x="728329" y="258538"/>
                </a:lnTo>
                <a:lnTo>
                  <a:pt x="723815" y="212058"/>
                </a:lnTo>
                <a:lnTo>
                  <a:pt x="710802" y="168315"/>
                </a:lnTo>
                <a:lnTo>
                  <a:pt x="690081" y="128037"/>
                </a:lnTo>
                <a:lnTo>
                  <a:pt x="662444" y="91954"/>
                </a:lnTo>
                <a:lnTo>
                  <a:pt x="628683" y="60796"/>
                </a:lnTo>
                <a:lnTo>
                  <a:pt x="589588" y="35292"/>
                </a:lnTo>
                <a:lnTo>
                  <a:pt x="545952" y="16171"/>
                </a:lnTo>
                <a:lnTo>
                  <a:pt x="498566" y="4164"/>
                </a:lnTo>
                <a:lnTo>
                  <a:pt x="4482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41382" y="3047556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448222" y="517112"/>
                </a:moveTo>
                <a:lnTo>
                  <a:pt x="0" y="517112"/>
                </a:lnTo>
                <a:lnTo>
                  <a:pt x="0" y="0"/>
                </a:lnTo>
                <a:lnTo>
                  <a:pt x="448222" y="0"/>
                </a:lnTo>
                <a:lnTo>
                  <a:pt x="498566" y="4164"/>
                </a:lnTo>
                <a:lnTo>
                  <a:pt x="545952" y="16171"/>
                </a:lnTo>
                <a:lnTo>
                  <a:pt x="589588" y="35292"/>
                </a:lnTo>
                <a:lnTo>
                  <a:pt x="628683" y="60796"/>
                </a:lnTo>
                <a:lnTo>
                  <a:pt x="662444" y="91954"/>
                </a:lnTo>
                <a:lnTo>
                  <a:pt x="690081" y="128037"/>
                </a:lnTo>
                <a:lnTo>
                  <a:pt x="710802" y="168315"/>
                </a:lnTo>
                <a:lnTo>
                  <a:pt x="723815" y="212058"/>
                </a:lnTo>
                <a:lnTo>
                  <a:pt x="728329" y="258538"/>
                </a:lnTo>
                <a:lnTo>
                  <a:pt x="723815" y="305015"/>
                </a:lnTo>
                <a:lnTo>
                  <a:pt x="710802" y="348760"/>
                </a:lnTo>
                <a:lnTo>
                  <a:pt x="690081" y="389042"/>
                </a:lnTo>
                <a:lnTo>
                  <a:pt x="662445" y="425131"/>
                </a:lnTo>
                <a:lnTo>
                  <a:pt x="628683" y="456296"/>
                </a:lnTo>
                <a:lnTo>
                  <a:pt x="589588" y="481808"/>
                </a:lnTo>
                <a:lnTo>
                  <a:pt x="545952" y="500934"/>
                </a:lnTo>
                <a:lnTo>
                  <a:pt x="498566" y="512946"/>
                </a:lnTo>
                <a:lnTo>
                  <a:pt x="448222" y="517112"/>
                </a:lnTo>
                <a:close/>
              </a:path>
            </a:pathLst>
          </a:custGeom>
          <a:ln w="27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95539" y="1151301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218446" y="0"/>
                </a:moveTo>
                <a:lnTo>
                  <a:pt x="0" y="0"/>
                </a:lnTo>
                <a:lnTo>
                  <a:pt x="30978" y="41487"/>
                </a:lnTo>
                <a:lnTo>
                  <a:pt x="56324" y="83857"/>
                </a:lnTo>
                <a:lnTo>
                  <a:pt x="76037" y="126932"/>
                </a:lnTo>
                <a:lnTo>
                  <a:pt x="90118" y="170536"/>
                </a:lnTo>
                <a:lnTo>
                  <a:pt x="98567" y="214491"/>
                </a:lnTo>
                <a:lnTo>
                  <a:pt x="101383" y="258620"/>
                </a:lnTo>
                <a:lnTo>
                  <a:pt x="98567" y="302746"/>
                </a:lnTo>
                <a:lnTo>
                  <a:pt x="90118" y="346694"/>
                </a:lnTo>
                <a:lnTo>
                  <a:pt x="76037" y="390284"/>
                </a:lnTo>
                <a:lnTo>
                  <a:pt x="56324" y="433342"/>
                </a:lnTo>
                <a:lnTo>
                  <a:pt x="30978" y="475689"/>
                </a:lnTo>
                <a:lnTo>
                  <a:pt x="0" y="517149"/>
                </a:lnTo>
                <a:lnTo>
                  <a:pt x="218446" y="517149"/>
                </a:lnTo>
                <a:lnTo>
                  <a:pt x="275831" y="507135"/>
                </a:lnTo>
                <a:lnTo>
                  <a:pt x="331185" y="494676"/>
                </a:lnTo>
                <a:lnTo>
                  <a:pt x="384304" y="479876"/>
                </a:lnTo>
                <a:lnTo>
                  <a:pt x="434984" y="462841"/>
                </a:lnTo>
                <a:lnTo>
                  <a:pt x="483021" y="443674"/>
                </a:lnTo>
                <a:lnTo>
                  <a:pt x="528213" y="422479"/>
                </a:lnTo>
                <a:lnTo>
                  <a:pt x="570355" y="399361"/>
                </a:lnTo>
                <a:lnTo>
                  <a:pt x="609244" y="374424"/>
                </a:lnTo>
                <a:lnTo>
                  <a:pt x="644676" y="347773"/>
                </a:lnTo>
                <a:lnTo>
                  <a:pt x="676448" y="319511"/>
                </a:lnTo>
                <a:lnTo>
                  <a:pt x="704356" y="289743"/>
                </a:lnTo>
                <a:lnTo>
                  <a:pt x="728197" y="258574"/>
                </a:lnTo>
                <a:lnTo>
                  <a:pt x="704676" y="227289"/>
                </a:lnTo>
                <a:lnTo>
                  <a:pt x="677006" y="197418"/>
                </a:lnTo>
                <a:lnTo>
                  <a:pt x="645399" y="169068"/>
                </a:lnTo>
                <a:lnTo>
                  <a:pt x="610064" y="142346"/>
                </a:lnTo>
                <a:lnTo>
                  <a:pt x="571212" y="117359"/>
                </a:lnTo>
                <a:lnTo>
                  <a:pt x="529053" y="94213"/>
                </a:lnTo>
                <a:lnTo>
                  <a:pt x="483798" y="73016"/>
                </a:lnTo>
                <a:lnTo>
                  <a:pt x="435657" y="53875"/>
                </a:lnTo>
                <a:lnTo>
                  <a:pt x="384841" y="36896"/>
                </a:lnTo>
                <a:lnTo>
                  <a:pt x="331560" y="22185"/>
                </a:lnTo>
                <a:lnTo>
                  <a:pt x="276025" y="9851"/>
                </a:lnTo>
                <a:lnTo>
                  <a:pt x="2184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95539" y="1151301"/>
            <a:ext cx="728345" cy="517525"/>
          </a:xfrm>
          <a:custGeom>
            <a:avLst/>
            <a:gdLst/>
            <a:ahLst/>
            <a:cxnLst/>
            <a:rect l="l" t="t" r="r" b="b"/>
            <a:pathLst>
              <a:path w="728345" h="517525">
                <a:moveTo>
                  <a:pt x="728197" y="258574"/>
                </a:moveTo>
                <a:lnTo>
                  <a:pt x="704356" y="289743"/>
                </a:lnTo>
                <a:lnTo>
                  <a:pt x="676448" y="319511"/>
                </a:lnTo>
                <a:lnTo>
                  <a:pt x="644676" y="347773"/>
                </a:lnTo>
                <a:lnTo>
                  <a:pt x="609244" y="374424"/>
                </a:lnTo>
                <a:lnTo>
                  <a:pt x="570355" y="399361"/>
                </a:lnTo>
                <a:lnTo>
                  <a:pt x="528213" y="422479"/>
                </a:lnTo>
                <a:lnTo>
                  <a:pt x="483021" y="443674"/>
                </a:lnTo>
                <a:lnTo>
                  <a:pt x="434984" y="462841"/>
                </a:lnTo>
                <a:lnTo>
                  <a:pt x="384304" y="479876"/>
                </a:lnTo>
                <a:lnTo>
                  <a:pt x="331185" y="494676"/>
                </a:lnTo>
                <a:lnTo>
                  <a:pt x="275831" y="507135"/>
                </a:lnTo>
                <a:lnTo>
                  <a:pt x="218446" y="517149"/>
                </a:lnTo>
                <a:lnTo>
                  <a:pt x="0" y="517149"/>
                </a:lnTo>
                <a:lnTo>
                  <a:pt x="30978" y="475689"/>
                </a:lnTo>
                <a:lnTo>
                  <a:pt x="56324" y="433342"/>
                </a:lnTo>
                <a:lnTo>
                  <a:pt x="76037" y="390284"/>
                </a:lnTo>
                <a:lnTo>
                  <a:pt x="90118" y="346694"/>
                </a:lnTo>
                <a:lnTo>
                  <a:pt x="98567" y="302746"/>
                </a:lnTo>
                <a:lnTo>
                  <a:pt x="101383" y="258620"/>
                </a:lnTo>
                <a:lnTo>
                  <a:pt x="98567" y="214491"/>
                </a:lnTo>
                <a:lnTo>
                  <a:pt x="90118" y="170536"/>
                </a:lnTo>
                <a:lnTo>
                  <a:pt x="76037" y="126932"/>
                </a:lnTo>
                <a:lnTo>
                  <a:pt x="56324" y="83857"/>
                </a:lnTo>
                <a:lnTo>
                  <a:pt x="30978" y="41487"/>
                </a:lnTo>
                <a:lnTo>
                  <a:pt x="0" y="0"/>
                </a:lnTo>
                <a:lnTo>
                  <a:pt x="218446" y="0"/>
                </a:lnTo>
                <a:lnTo>
                  <a:pt x="276025" y="9851"/>
                </a:lnTo>
                <a:lnTo>
                  <a:pt x="331560" y="22185"/>
                </a:lnTo>
                <a:lnTo>
                  <a:pt x="384841" y="36896"/>
                </a:lnTo>
                <a:lnTo>
                  <a:pt x="435657" y="53875"/>
                </a:lnTo>
                <a:lnTo>
                  <a:pt x="483798" y="73016"/>
                </a:lnTo>
                <a:lnTo>
                  <a:pt x="529053" y="94213"/>
                </a:lnTo>
                <a:lnTo>
                  <a:pt x="571212" y="117359"/>
                </a:lnTo>
                <a:lnTo>
                  <a:pt x="610064" y="142346"/>
                </a:lnTo>
                <a:lnTo>
                  <a:pt x="645399" y="169068"/>
                </a:lnTo>
                <a:lnTo>
                  <a:pt x="677006" y="197418"/>
                </a:lnTo>
                <a:lnTo>
                  <a:pt x="704676" y="227289"/>
                </a:lnTo>
                <a:lnTo>
                  <a:pt x="728197" y="258574"/>
                </a:lnTo>
                <a:close/>
              </a:path>
            </a:pathLst>
          </a:custGeom>
          <a:ln w="27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499360" y="1668451"/>
            <a:ext cx="196215" cy="86360"/>
          </a:xfrm>
          <a:custGeom>
            <a:avLst/>
            <a:gdLst/>
            <a:ahLst/>
            <a:cxnLst/>
            <a:rect l="l" t="t" r="r" b="b"/>
            <a:pathLst>
              <a:path w="196215" h="86360">
                <a:moveTo>
                  <a:pt x="196179" y="0"/>
                </a:moveTo>
                <a:lnTo>
                  <a:pt x="196179" y="86232"/>
                </a:lnTo>
                <a:lnTo>
                  <a:pt x="0" y="86232"/>
                </a:lnTo>
              </a:path>
            </a:pathLst>
          </a:custGeom>
          <a:ln w="266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499360" y="1065069"/>
            <a:ext cx="196215" cy="86360"/>
          </a:xfrm>
          <a:custGeom>
            <a:avLst/>
            <a:gdLst/>
            <a:ahLst/>
            <a:cxnLst/>
            <a:rect l="l" t="t" r="r" b="b"/>
            <a:pathLst>
              <a:path w="196215" h="86359">
                <a:moveTo>
                  <a:pt x="196179" y="86232"/>
                </a:moveTo>
                <a:lnTo>
                  <a:pt x="196179" y="0"/>
                </a:lnTo>
                <a:lnTo>
                  <a:pt x="0" y="0"/>
                </a:lnTo>
              </a:path>
            </a:pathLst>
          </a:custGeom>
          <a:ln w="266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071854" y="1194357"/>
            <a:ext cx="374015" cy="2835910"/>
          </a:xfrm>
          <a:custGeom>
            <a:avLst/>
            <a:gdLst/>
            <a:ahLst/>
            <a:cxnLst/>
            <a:rect l="l" t="t" r="r" b="b"/>
            <a:pathLst>
              <a:path w="374014" h="2835910">
                <a:moveTo>
                  <a:pt x="373479" y="0"/>
                </a:moveTo>
                <a:lnTo>
                  <a:pt x="0" y="0"/>
                </a:lnTo>
                <a:lnTo>
                  <a:pt x="0" y="2835734"/>
                </a:lnTo>
              </a:path>
            </a:pathLst>
          </a:custGeom>
          <a:ln w="28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698375" y="487594"/>
            <a:ext cx="747395" cy="3542665"/>
          </a:xfrm>
          <a:custGeom>
            <a:avLst/>
            <a:gdLst/>
            <a:ahLst/>
            <a:cxnLst/>
            <a:rect l="l" t="t" r="r" b="b"/>
            <a:pathLst>
              <a:path w="747395" h="3542665">
                <a:moveTo>
                  <a:pt x="746959" y="0"/>
                </a:moveTo>
                <a:lnTo>
                  <a:pt x="0" y="0"/>
                </a:lnTo>
                <a:lnTo>
                  <a:pt x="0" y="3542496"/>
                </a:lnTo>
              </a:path>
            </a:pathLst>
          </a:custGeom>
          <a:ln w="283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324909" y="358307"/>
            <a:ext cx="1120775" cy="3672204"/>
          </a:xfrm>
          <a:custGeom>
            <a:avLst/>
            <a:gdLst/>
            <a:ahLst/>
            <a:cxnLst/>
            <a:rect l="l" t="t" r="r" b="b"/>
            <a:pathLst>
              <a:path w="1120775" h="3672204">
                <a:moveTo>
                  <a:pt x="1120425" y="0"/>
                </a:moveTo>
                <a:lnTo>
                  <a:pt x="0" y="0"/>
                </a:lnTo>
                <a:lnTo>
                  <a:pt x="0" y="3671784"/>
                </a:lnTo>
              </a:path>
            </a:pathLst>
          </a:custGeom>
          <a:ln w="28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833694" y="4004176"/>
            <a:ext cx="1292225" cy="30289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380365" algn="l"/>
                <a:tab pos="751840" algn="l"/>
                <a:tab pos="1108710" algn="l"/>
              </a:tabLst>
            </a:pPr>
            <a:r>
              <a:rPr sz="1800" i="1" spc="45" dirty="0">
                <a:latin typeface="华文楷体"/>
                <a:cs typeface="华文楷体"/>
              </a:rPr>
              <a:t>A	</a:t>
            </a:r>
            <a:r>
              <a:rPr sz="1800" i="1" spc="40" dirty="0">
                <a:latin typeface="华文楷体"/>
                <a:cs typeface="华文楷体"/>
              </a:rPr>
              <a:t>B	C	</a:t>
            </a:r>
            <a:r>
              <a:rPr sz="1800" i="1" spc="50" dirty="0">
                <a:latin typeface="华文楷体"/>
                <a:cs typeface="华文楷体"/>
              </a:rPr>
              <a:t>D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637045" y="1274028"/>
            <a:ext cx="208279" cy="30670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800" i="1" spc="35" dirty="0">
                <a:latin typeface="华文楷体"/>
                <a:cs typeface="华文楷体"/>
              </a:rPr>
              <a:t>F</a:t>
            </a:r>
            <a:r>
              <a:rPr sz="1725" spc="60" baseline="-12077" dirty="0">
                <a:latin typeface="华文楷体"/>
                <a:cs typeface="华文楷体"/>
              </a:rPr>
              <a:t>1</a:t>
            </a:r>
            <a:endParaRPr sz="1725" baseline="-12077">
              <a:latin typeface="华文楷体"/>
              <a:cs typeface="华文楷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618336" y="3135717"/>
            <a:ext cx="208279" cy="30670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800" i="1" spc="35" dirty="0">
                <a:latin typeface="华文楷体"/>
                <a:cs typeface="华文楷体"/>
              </a:rPr>
              <a:t>F</a:t>
            </a:r>
            <a:r>
              <a:rPr sz="1725" spc="60" baseline="-12077" dirty="0">
                <a:latin typeface="华文楷体"/>
                <a:cs typeface="华文楷体"/>
              </a:rPr>
              <a:t>2</a:t>
            </a:r>
            <a:endParaRPr sz="1725" baseline="-12077">
              <a:latin typeface="华文楷体"/>
              <a:cs typeface="华文楷体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780287" y="1440180"/>
            <a:ext cx="3467100" cy="585470"/>
          </a:xfrm>
          <a:prstGeom prst="rect">
            <a:avLst/>
          </a:prstGeom>
          <a:solidFill>
            <a:srgbClr val="FFBB57"/>
          </a:solidFill>
        </p:spPr>
        <p:txBody>
          <a:bodyPr vert="horz" wrap="square" lIns="0" tIns="190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0"/>
              </a:spcBef>
            </a:pPr>
            <a:r>
              <a:rPr sz="3200" dirty="0">
                <a:solidFill>
                  <a:srgbClr val="7E4D00"/>
                </a:solidFill>
              </a:rPr>
              <a:t>第一步：写表达式</a:t>
            </a:r>
            <a:endParaRPr sz="3200" dirty="0"/>
          </a:p>
        </p:txBody>
      </p:sp>
      <p:sp>
        <p:nvSpPr>
          <p:cNvPr id="39" name="object 39"/>
          <p:cNvSpPr txBox="1"/>
          <p:nvPr/>
        </p:nvSpPr>
        <p:spPr>
          <a:xfrm>
            <a:off x="5271304" y="4871447"/>
            <a:ext cx="12192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80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80287" y="2520695"/>
            <a:ext cx="3467100" cy="584200"/>
          </a:xfrm>
          <a:prstGeom prst="rect">
            <a:avLst/>
          </a:prstGeom>
          <a:solidFill>
            <a:srgbClr val="FFBB57"/>
          </a:solidFill>
        </p:spPr>
        <p:txBody>
          <a:bodyPr vert="horz" wrap="square" lIns="0" tIns="184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45"/>
              </a:spcBef>
            </a:pP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第二步：列真值表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154543" y="61594"/>
            <a:ext cx="0" cy="1040765"/>
          </a:xfrm>
          <a:custGeom>
            <a:avLst/>
            <a:gdLst/>
            <a:ahLst/>
            <a:cxnLst/>
            <a:rect l="l" t="t" r="r" b="b"/>
            <a:pathLst>
              <a:path h="1040765">
                <a:moveTo>
                  <a:pt x="0" y="0"/>
                </a:moveTo>
                <a:lnTo>
                  <a:pt x="0" y="1040510"/>
                </a:lnTo>
              </a:path>
            </a:pathLst>
          </a:custGeom>
          <a:ln w="1905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768850" y="598805"/>
            <a:ext cx="5088255" cy="0"/>
          </a:xfrm>
          <a:custGeom>
            <a:avLst/>
            <a:gdLst/>
            <a:ahLst/>
            <a:cxnLst/>
            <a:rect l="l" t="t" r="r" b="b"/>
            <a:pathLst>
              <a:path w="5088255">
                <a:moveTo>
                  <a:pt x="0" y="0"/>
                </a:moveTo>
                <a:lnTo>
                  <a:pt x="5088128" y="0"/>
                </a:lnTo>
              </a:path>
            </a:pathLst>
          </a:custGeom>
          <a:ln w="1905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787900" y="61594"/>
            <a:ext cx="0" cy="1040765"/>
          </a:xfrm>
          <a:custGeom>
            <a:avLst/>
            <a:gdLst/>
            <a:ahLst/>
            <a:cxnLst/>
            <a:rect l="l" t="t" r="r" b="b"/>
            <a:pathLst>
              <a:path h="1040765">
                <a:moveTo>
                  <a:pt x="0" y="0"/>
                </a:moveTo>
                <a:lnTo>
                  <a:pt x="0" y="1040510"/>
                </a:lnTo>
              </a:path>
            </a:pathLst>
          </a:custGeom>
          <a:ln w="3810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837928" y="61594"/>
            <a:ext cx="0" cy="1040765"/>
          </a:xfrm>
          <a:custGeom>
            <a:avLst/>
            <a:gdLst/>
            <a:ahLst/>
            <a:cxnLst/>
            <a:rect l="l" t="t" r="r" b="b"/>
            <a:pathLst>
              <a:path h="1040765">
                <a:moveTo>
                  <a:pt x="0" y="0"/>
                </a:moveTo>
                <a:lnTo>
                  <a:pt x="0" y="1040510"/>
                </a:lnTo>
              </a:path>
            </a:pathLst>
          </a:custGeom>
          <a:ln w="3810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768850" y="80644"/>
            <a:ext cx="5088255" cy="0"/>
          </a:xfrm>
          <a:custGeom>
            <a:avLst/>
            <a:gdLst/>
            <a:ahLst/>
            <a:cxnLst/>
            <a:rect l="l" t="t" r="r" b="b"/>
            <a:pathLst>
              <a:path w="5088255">
                <a:moveTo>
                  <a:pt x="0" y="0"/>
                </a:moveTo>
                <a:lnTo>
                  <a:pt x="5088128" y="0"/>
                </a:lnTo>
              </a:path>
            </a:pathLst>
          </a:custGeom>
          <a:ln w="3810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768850" y="1092580"/>
            <a:ext cx="5088255" cy="0"/>
          </a:xfrm>
          <a:custGeom>
            <a:avLst/>
            <a:gdLst/>
            <a:ahLst/>
            <a:cxnLst/>
            <a:rect l="l" t="t" r="r" b="b"/>
            <a:pathLst>
              <a:path w="5088255">
                <a:moveTo>
                  <a:pt x="0" y="0"/>
                </a:moveTo>
                <a:lnTo>
                  <a:pt x="5088128" y="0"/>
                </a:lnTo>
              </a:path>
            </a:pathLst>
          </a:custGeom>
          <a:ln w="1905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025641" y="104031"/>
            <a:ext cx="890269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5"/>
              </a:lnSpc>
              <a:tabLst>
                <a:tab pos="534670" algn="l"/>
              </a:tabLst>
            </a:pPr>
            <a:r>
              <a:rPr sz="2800" b="1" spc="-10" dirty="0">
                <a:solidFill>
                  <a:srgbClr val="FFFFFF"/>
                </a:solidFill>
                <a:latin typeface="华文楷体"/>
                <a:cs typeface="华文楷体"/>
              </a:rPr>
              <a:t>输	入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596883" y="104031"/>
            <a:ext cx="80010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5"/>
              </a:lnSpc>
            </a:pPr>
            <a:r>
              <a:rPr sz="2800" b="1" spc="-10" dirty="0">
                <a:solidFill>
                  <a:srgbClr val="FFFFFF"/>
                </a:solidFill>
                <a:latin typeface="华文楷体"/>
                <a:cs typeface="华文楷体"/>
              </a:rPr>
              <a:t>输</a:t>
            </a:r>
            <a:r>
              <a:rPr sz="2800" b="1" spc="-90" dirty="0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华文楷体"/>
                <a:cs typeface="华文楷体"/>
              </a:rPr>
              <a:t>出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116703" y="666901"/>
            <a:ext cx="186690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58585" y="666901"/>
            <a:ext cx="186690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i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791197" y="666901"/>
            <a:ext cx="2038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i="1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625206" y="666901"/>
            <a:ext cx="22034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i="1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432038" y="666901"/>
            <a:ext cx="287655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i="1" spc="-5" dirty="0">
                <a:latin typeface="Times New Roman"/>
                <a:cs typeface="Times New Roman"/>
              </a:rPr>
              <a:t>F</a:t>
            </a:r>
            <a:r>
              <a:rPr sz="2400" spc="-7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273793" y="666901"/>
            <a:ext cx="287655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i="1" spc="-5" dirty="0">
                <a:latin typeface="Times New Roman"/>
                <a:cs typeface="Times New Roman"/>
              </a:rPr>
              <a:t>F</a:t>
            </a:r>
            <a:r>
              <a:rPr sz="2400" spc="-7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162543" y="61976"/>
            <a:ext cx="0" cy="3631565"/>
          </a:xfrm>
          <a:custGeom>
            <a:avLst/>
            <a:gdLst/>
            <a:ahLst/>
            <a:cxnLst/>
            <a:rect l="l" t="t" r="r" b="b"/>
            <a:pathLst>
              <a:path h="3631565">
                <a:moveTo>
                  <a:pt x="0" y="0"/>
                </a:moveTo>
                <a:lnTo>
                  <a:pt x="0" y="3631311"/>
                </a:lnTo>
              </a:path>
            </a:pathLst>
          </a:custGeom>
          <a:ln w="1905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776851" y="599186"/>
            <a:ext cx="5088255" cy="0"/>
          </a:xfrm>
          <a:custGeom>
            <a:avLst/>
            <a:gdLst/>
            <a:ahLst/>
            <a:cxnLst/>
            <a:rect l="l" t="t" r="r" b="b"/>
            <a:pathLst>
              <a:path w="5088255">
                <a:moveTo>
                  <a:pt x="0" y="0"/>
                </a:moveTo>
                <a:lnTo>
                  <a:pt x="5088128" y="0"/>
                </a:lnTo>
              </a:path>
            </a:pathLst>
          </a:custGeom>
          <a:ln w="1905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776851" y="1092961"/>
            <a:ext cx="5088255" cy="0"/>
          </a:xfrm>
          <a:custGeom>
            <a:avLst/>
            <a:gdLst/>
            <a:ahLst/>
            <a:cxnLst/>
            <a:rect l="l" t="t" r="r" b="b"/>
            <a:pathLst>
              <a:path w="5088255">
                <a:moveTo>
                  <a:pt x="0" y="0"/>
                </a:moveTo>
                <a:lnTo>
                  <a:pt x="5088128" y="0"/>
                </a:lnTo>
              </a:path>
            </a:pathLst>
          </a:custGeom>
          <a:ln w="1905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795901" y="61976"/>
            <a:ext cx="0" cy="3631565"/>
          </a:xfrm>
          <a:custGeom>
            <a:avLst/>
            <a:gdLst/>
            <a:ahLst/>
            <a:cxnLst/>
            <a:rect l="l" t="t" r="r" b="b"/>
            <a:pathLst>
              <a:path h="3631565">
                <a:moveTo>
                  <a:pt x="0" y="0"/>
                </a:moveTo>
                <a:lnTo>
                  <a:pt x="0" y="3631311"/>
                </a:lnTo>
              </a:path>
            </a:pathLst>
          </a:custGeom>
          <a:ln w="3810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845929" y="61976"/>
            <a:ext cx="0" cy="3631565"/>
          </a:xfrm>
          <a:custGeom>
            <a:avLst/>
            <a:gdLst/>
            <a:ahLst/>
            <a:cxnLst/>
            <a:rect l="l" t="t" r="r" b="b"/>
            <a:pathLst>
              <a:path h="3631565">
                <a:moveTo>
                  <a:pt x="0" y="0"/>
                </a:moveTo>
                <a:lnTo>
                  <a:pt x="0" y="3631311"/>
                </a:lnTo>
              </a:path>
            </a:pathLst>
          </a:custGeom>
          <a:ln w="3810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776851" y="81026"/>
            <a:ext cx="5088255" cy="0"/>
          </a:xfrm>
          <a:custGeom>
            <a:avLst/>
            <a:gdLst/>
            <a:ahLst/>
            <a:cxnLst/>
            <a:rect l="l" t="t" r="r" b="b"/>
            <a:pathLst>
              <a:path w="5088255">
                <a:moveTo>
                  <a:pt x="0" y="0"/>
                </a:moveTo>
                <a:lnTo>
                  <a:pt x="5088128" y="0"/>
                </a:lnTo>
              </a:path>
            </a:pathLst>
          </a:custGeom>
          <a:ln w="3810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776851" y="3683761"/>
            <a:ext cx="5088255" cy="0"/>
          </a:xfrm>
          <a:custGeom>
            <a:avLst/>
            <a:gdLst/>
            <a:ahLst/>
            <a:cxnLst/>
            <a:rect l="l" t="t" r="r" b="b"/>
            <a:pathLst>
              <a:path w="5088255">
                <a:moveTo>
                  <a:pt x="0" y="0"/>
                </a:moveTo>
                <a:lnTo>
                  <a:pt x="5088128" y="0"/>
                </a:lnTo>
              </a:path>
            </a:pathLst>
          </a:custGeom>
          <a:ln w="1905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6033515" y="103984"/>
            <a:ext cx="89090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20"/>
              </a:lnSpc>
              <a:tabLst>
                <a:tab pos="534670" algn="l"/>
              </a:tabLst>
            </a:pPr>
            <a:r>
              <a:rPr sz="2800" b="1" spc="-5" dirty="0">
                <a:solidFill>
                  <a:srgbClr val="FFFFFF"/>
                </a:solidFill>
                <a:latin typeface="华文楷体"/>
                <a:cs typeface="华文楷体"/>
              </a:rPr>
              <a:t>输	入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604757" y="103984"/>
            <a:ext cx="80073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20"/>
              </a:lnSpc>
            </a:pPr>
            <a:r>
              <a:rPr sz="2800" b="1" spc="-5" dirty="0">
                <a:solidFill>
                  <a:srgbClr val="FFFFFF"/>
                </a:solidFill>
                <a:latin typeface="华文楷体"/>
                <a:cs typeface="华文楷体"/>
              </a:rPr>
              <a:t>输</a:t>
            </a:r>
            <a:r>
              <a:rPr sz="2800" b="1" spc="-100" dirty="0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华文楷体"/>
                <a:cs typeface="华文楷体"/>
              </a:rPr>
              <a:t>出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24577" y="667807"/>
            <a:ext cx="18669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966459" y="667807"/>
            <a:ext cx="18669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i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799198" y="667807"/>
            <a:ext cx="20383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i="1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633081" y="667807"/>
            <a:ext cx="22034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i="1" spc="-5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439911" y="667807"/>
            <a:ext cx="287655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i="1" spc="-5" dirty="0">
                <a:latin typeface="Times New Roman"/>
                <a:cs typeface="Times New Roman"/>
              </a:rPr>
              <a:t>F</a:t>
            </a:r>
            <a:r>
              <a:rPr sz="2400" spc="-7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281794" y="667807"/>
            <a:ext cx="287655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i="1" spc="-5" dirty="0">
                <a:latin typeface="Times New Roman"/>
                <a:cs typeface="Times New Roman"/>
              </a:rPr>
              <a:t>F</a:t>
            </a:r>
            <a:r>
              <a:rPr sz="2400" spc="-7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127625" y="1165535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969508" y="1165535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811391" y="1165535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653273" y="1165535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494776" y="1165535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336658" y="1165535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127625" y="1683695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969508" y="1683695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811391" y="1683695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653273" y="1683695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494776" y="1683695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9336658" y="1683695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127625" y="2202109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969508" y="2202109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811391" y="2202109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653273" y="2202109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494776" y="2202109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336658" y="2202109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127625" y="2720269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969508" y="2720269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811391" y="2720269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653273" y="2720269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494776" y="2720269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9336658" y="2720269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127625" y="3238158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969508" y="3238158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811391" y="3238158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653273" y="3238158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8494776" y="3238158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9336658" y="3238158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80287" y="3599688"/>
            <a:ext cx="3467100" cy="585470"/>
          </a:xfrm>
          <a:prstGeom prst="rect">
            <a:avLst/>
          </a:prstGeom>
          <a:solidFill>
            <a:srgbClr val="FFBB57"/>
          </a:solidFill>
        </p:spPr>
        <p:txBody>
          <a:bodyPr vert="horz" wrap="square" lIns="0" tIns="196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5"/>
              </a:spcBef>
            </a:pP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第三步：分析功能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872354" y="4281678"/>
            <a:ext cx="1116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ABC</a:t>
            </a:r>
            <a:r>
              <a:rPr sz="1800" i="1" spc="-15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1800" dirty="0">
                <a:solidFill>
                  <a:srgbClr val="FF0000"/>
                </a:solidFill>
                <a:latin typeface="华文楷体"/>
                <a:cs typeface="华文楷体"/>
              </a:rPr>
              <a:t>中：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091160" y="4666762"/>
            <a:ext cx="4276090" cy="3867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382270" algn="l"/>
              </a:tabLst>
            </a:pPr>
            <a:r>
              <a:rPr sz="2350" i="1" spc="155" dirty="0">
                <a:latin typeface="Times New Roman"/>
                <a:cs typeface="Times New Roman"/>
              </a:rPr>
              <a:t>F	</a:t>
            </a:r>
            <a:r>
              <a:rPr sz="2350" spc="140" dirty="0">
                <a:latin typeface="Symbol"/>
                <a:cs typeface="Symbol"/>
              </a:rPr>
              <a:t></a:t>
            </a:r>
            <a:r>
              <a:rPr sz="2350" spc="140" dirty="0">
                <a:latin typeface="Times New Roman"/>
                <a:cs typeface="Times New Roman"/>
              </a:rPr>
              <a:t> </a:t>
            </a:r>
            <a:r>
              <a:rPr sz="2350" i="1" spc="-1115" dirty="0">
                <a:latin typeface="Times New Roman"/>
                <a:cs typeface="Times New Roman"/>
              </a:rPr>
              <a:t>A</a:t>
            </a:r>
            <a:r>
              <a:rPr sz="2700" spc="-817" baseline="44753" dirty="0">
                <a:solidFill>
                  <a:srgbClr val="FF0000"/>
                </a:solidFill>
                <a:latin typeface="华文楷体"/>
                <a:cs typeface="华文楷体"/>
              </a:rPr>
              <a:t>多</a:t>
            </a:r>
            <a:r>
              <a:rPr sz="2350" i="1" spc="-900" dirty="0">
                <a:latin typeface="Times New Roman"/>
                <a:cs typeface="Times New Roman"/>
              </a:rPr>
              <a:t>B</a:t>
            </a:r>
            <a:r>
              <a:rPr sz="2700" spc="-1139" baseline="44753" dirty="0">
                <a:solidFill>
                  <a:srgbClr val="FF0000"/>
                </a:solidFill>
                <a:latin typeface="华文楷体"/>
                <a:cs typeface="华文楷体"/>
              </a:rPr>
              <a:t>数</a:t>
            </a:r>
            <a:r>
              <a:rPr sz="2350" i="1" spc="-815" dirty="0">
                <a:latin typeface="Times New Roman"/>
                <a:cs typeface="Times New Roman"/>
              </a:rPr>
              <a:t>C</a:t>
            </a:r>
            <a:r>
              <a:rPr sz="2700" spc="-367" baseline="44753" dirty="0">
                <a:solidFill>
                  <a:srgbClr val="FF0000"/>
                </a:solidFill>
                <a:latin typeface="华文楷体"/>
                <a:cs typeface="华文楷体"/>
              </a:rPr>
              <a:t>为 </a:t>
            </a:r>
            <a:r>
              <a:rPr sz="2350" spc="-530" dirty="0">
                <a:latin typeface="Symbol"/>
                <a:cs typeface="Symbol"/>
              </a:rPr>
              <a:t></a:t>
            </a:r>
            <a:r>
              <a:rPr sz="2700" spc="-794" baseline="44753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2700" spc="-1402" baseline="44753" dirty="0">
                <a:solidFill>
                  <a:srgbClr val="FF0000"/>
                </a:solidFill>
                <a:latin typeface="华文楷体"/>
                <a:cs typeface="华文楷体"/>
              </a:rPr>
              <a:t>时</a:t>
            </a:r>
            <a:r>
              <a:rPr sz="2350" i="1" spc="-610" dirty="0">
                <a:latin typeface="Times New Roman"/>
                <a:cs typeface="Times New Roman"/>
              </a:rPr>
              <a:t>A</a:t>
            </a:r>
            <a:r>
              <a:rPr sz="2700" spc="-914" baseline="44753" dirty="0">
                <a:solidFill>
                  <a:srgbClr val="FF0000"/>
                </a:solidFill>
                <a:latin typeface="华文楷体"/>
                <a:cs typeface="华文楷体"/>
              </a:rPr>
              <a:t>，</a:t>
            </a:r>
            <a:r>
              <a:rPr sz="2350" i="1" spc="-610" dirty="0">
                <a:latin typeface="Times New Roman"/>
                <a:cs typeface="Times New Roman"/>
              </a:rPr>
              <a:t>B</a:t>
            </a:r>
            <a:r>
              <a:rPr sz="2700" i="1" spc="-914" baseline="44753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350" i="1" spc="-610" dirty="0">
                <a:latin typeface="Times New Roman"/>
                <a:cs typeface="Times New Roman"/>
              </a:rPr>
              <a:t>D</a:t>
            </a:r>
            <a:r>
              <a:rPr sz="1800" spc="-914" baseline="46296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1800" spc="225" baseline="4629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700" spc="-434" baseline="44753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2350" spc="-290" dirty="0">
                <a:latin typeface="Symbol"/>
                <a:cs typeface="Symbol"/>
              </a:rPr>
              <a:t></a:t>
            </a:r>
            <a:r>
              <a:rPr sz="2700" spc="-434" baseline="44753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2700" spc="-434" baseline="44753" dirty="0">
                <a:solidFill>
                  <a:srgbClr val="FF0000"/>
                </a:solidFill>
                <a:latin typeface="华文楷体"/>
                <a:cs typeface="华文楷体"/>
              </a:rPr>
              <a:t>；</a:t>
            </a:r>
            <a:r>
              <a:rPr sz="2350" i="1" spc="-290" dirty="0">
                <a:latin typeface="Times New Roman"/>
                <a:cs typeface="Times New Roman"/>
              </a:rPr>
              <a:t>ACD </a:t>
            </a:r>
            <a:r>
              <a:rPr sz="2350" spc="140" dirty="0">
                <a:latin typeface="Symbol"/>
                <a:cs typeface="Symbol"/>
              </a:rPr>
              <a:t></a:t>
            </a:r>
            <a:r>
              <a:rPr sz="2350" spc="-315" dirty="0">
                <a:latin typeface="Times New Roman"/>
                <a:cs typeface="Times New Roman"/>
              </a:rPr>
              <a:t> </a:t>
            </a:r>
            <a:r>
              <a:rPr sz="2350" i="1" spc="165" dirty="0">
                <a:latin typeface="Times New Roman"/>
                <a:cs typeface="Times New Roman"/>
              </a:rPr>
              <a:t>BCD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761354" y="4830317"/>
            <a:ext cx="2185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华文楷体"/>
                <a:cs typeface="华文楷体"/>
              </a:rPr>
              <a:t>全部为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1800" dirty="0">
                <a:solidFill>
                  <a:srgbClr val="FF0000"/>
                </a:solidFill>
                <a:latin typeface="华文楷体"/>
                <a:cs typeface="华文楷体"/>
              </a:rPr>
              <a:t>时</a:t>
            </a:r>
            <a:r>
              <a:rPr sz="1800" spc="-5" dirty="0">
                <a:solidFill>
                  <a:srgbClr val="FF0000"/>
                </a:solidFill>
                <a:latin typeface="华文楷体"/>
                <a:cs typeface="华文楷体"/>
              </a:rPr>
              <a:t>，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800" spc="-7" baseline="-20833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1800" spc="187" baseline="-2083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1800" dirty="0">
                <a:solidFill>
                  <a:srgbClr val="FF0000"/>
                </a:solidFill>
                <a:latin typeface="华文楷体"/>
                <a:cs typeface="华文楷体"/>
              </a:rPr>
              <a:t>。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859654" y="5104638"/>
            <a:ext cx="3048000" cy="588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1885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华文楷体"/>
                <a:cs typeface="华文楷体"/>
              </a:rPr>
              <a:t>表决电路：</a:t>
            </a:r>
            <a:endParaRPr sz="1800">
              <a:latin typeface="华文楷体"/>
              <a:cs typeface="华文楷体"/>
            </a:endParaRPr>
          </a:p>
          <a:p>
            <a:pPr marL="268605">
              <a:lnSpc>
                <a:spcPts val="2545"/>
              </a:lnSpc>
            </a:pPr>
            <a:r>
              <a:rPr sz="3525" i="1" spc="15" baseline="-15366" dirty="0">
                <a:latin typeface="Times New Roman"/>
                <a:cs typeface="Times New Roman"/>
              </a:rPr>
              <a:t>F</a:t>
            </a:r>
            <a:r>
              <a:rPr sz="2025" spc="15" baseline="-51440" dirty="0">
                <a:latin typeface="Times New Roman"/>
                <a:cs typeface="Times New Roman"/>
              </a:rPr>
              <a:t>2</a:t>
            </a:r>
            <a:r>
              <a:rPr sz="2025" spc="195" baseline="-51440" dirty="0">
                <a:latin typeface="Times New Roman"/>
                <a:cs typeface="Times New Roman"/>
              </a:rPr>
              <a:t> </a:t>
            </a:r>
            <a:r>
              <a:rPr sz="3525" spc="202" baseline="-15366" dirty="0">
                <a:latin typeface="Symbol"/>
                <a:cs typeface="Symbol"/>
              </a:rPr>
              <a:t></a:t>
            </a:r>
            <a:r>
              <a:rPr sz="3525" spc="262" baseline="-15366" dirty="0">
                <a:latin typeface="Times New Roman"/>
                <a:cs typeface="Times New Roman"/>
              </a:rPr>
              <a:t> </a:t>
            </a:r>
            <a:r>
              <a:rPr sz="3525" i="1" spc="-2054" baseline="-15366" dirty="0">
                <a:latin typeface="Times New Roman"/>
                <a:cs typeface="Times New Roman"/>
              </a:rPr>
              <a:t>A</a:t>
            </a:r>
            <a:r>
              <a:rPr sz="1800" spc="-280" dirty="0">
                <a:solidFill>
                  <a:srgbClr val="FF0000"/>
                </a:solidFill>
                <a:latin typeface="华文楷体"/>
                <a:cs typeface="华文楷体"/>
              </a:rPr>
              <a:t>多</a:t>
            </a:r>
            <a:r>
              <a:rPr sz="3525" i="1" spc="-1739" baseline="-15366" dirty="0">
                <a:latin typeface="Times New Roman"/>
                <a:cs typeface="Times New Roman"/>
              </a:rPr>
              <a:t>B</a:t>
            </a:r>
            <a:r>
              <a:rPr sz="1800" spc="-509" dirty="0">
                <a:solidFill>
                  <a:srgbClr val="FF0000"/>
                </a:solidFill>
                <a:latin typeface="华文楷体"/>
                <a:cs typeface="华文楷体"/>
              </a:rPr>
              <a:t>数</a:t>
            </a:r>
            <a:r>
              <a:rPr sz="3525" i="1" spc="-1589" baseline="-15366" dirty="0">
                <a:latin typeface="Times New Roman"/>
                <a:cs typeface="Times New Roman"/>
              </a:rPr>
              <a:t>C</a:t>
            </a:r>
            <a:r>
              <a:rPr sz="1800" spc="-570" dirty="0">
                <a:solidFill>
                  <a:srgbClr val="FF0000"/>
                </a:solidFill>
                <a:latin typeface="华文楷体"/>
                <a:cs typeface="华文楷体"/>
              </a:rPr>
              <a:t>通</a:t>
            </a:r>
            <a:r>
              <a:rPr sz="3525" i="1" spc="-1710" baseline="-15366" dirty="0">
                <a:latin typeface="Times New Roman"/>
                <a:cs typeface="Times New Roman"/>
              </a:rPr>
              <a:t>D</a:t>
            </a:r>
            <a:r>
              <a:rPr sz="1800" dirty="0">
                <a:solidFill>
                  <a:srgbClr val="FF0000"/>
                </a:solidFill>
                <a:latin typeface="华文楷体"/>
                <a:cs typeface="华文楷体"/>
              </a:rPr>
              <a:t>过和一致通过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4795392" y="73786"/>
            <a:ext cx="3366770" cy="518159"/>
          </a:xfrm>
          <a:custGeom>
            <a:avLst/>
            <a:gdLst/>
            <a:ahLst/>
            <a:cxnLst/>
            <a:rect l="l" t="t" r="r" b="b"/>
            <a:pathLst>
              <a:path w="3366770" h="518159">
                <a:moveTo>
                  <a:pt x="0" y="518159"/>
                </a:moveTo>
                <a:lnTo>
                  <a:pt x="3366770" y="518159"/>
                </a:lnTo>
                <a:lnTo>
                  <a:pt x="3366770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162163" y="73786"/>
            <a:ext cx="1683385" cy="518159"/>
          </a:xfrm>
          <a:custGeom>
            <a:avLst/>
            <a:gdLst/>
            <a:ahLst/>
            <a:cxnLst/>
            <a:rect l="l" t="t" r="r" b="b"/>
            <a:pathLst>
              <a:path w="1683384" h="518159">
                <a:moveTo>
                  <a:pt x="0" y="518159"/>
                </a:moveTo>
                <a:lnTo>
                  <a:pt x="1683384" y="518159"/>
                </a:lnTo>
                <a:lnTo>
                  <a:pt x="1683384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795392" y="591896"/>
            <a:ext cx="842010" cy="494030"/>
          </a:xfrm>
          <a:custGeom>
            <a:avLst/>
            <a:gdLst/>
            <a:ahLst/>
            <a:cxnLst/>
            <a:rect l="l" t="t" r="r" b="b"/>
            <a:pathLst>
              <a:path w="842010" h="494030">
                <a:moveTo>
                  <a:pt x="0" y="493699"/>
                </a:moveTo>
                <a:lnTo>
                  <a:pt x="841679" y="493699"/>
                </a:lnTo>
                <a:lnTo>
                  <a:pt x="841679" y="0"/>
                </a:lnTo>
                <a:lnTo>
                  <a:pt x="0" y="0"/>
                </a:lnTo>
                <a:lnTo>
                  <a:pt x="0" y="49369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637148" y="591896"/>
            <a:ext cx="842010" cy="494030"/>
          </a:xfrm>
          <a:custGeom>
            <a:avLst/>
            <a:gdLst/>
            <a:ahLst/>
            <a:cxnLst/>
            <a:rect l="l" t="t" r="r" b="b"/>
            <a:pathLst>
              <a:path w="842010" h="494030">
                <a:moveTo>
                  <a:pt x="0" y="493699"/>
                </a:moveTo>
                <a:lnTo>
                  <a:pt x="841679" y="493699"/>
                </a:lnTo>
                <a:lnTo>
                  <a:pt x="841679" y="0"/>
                </a:lnTo>
                <a:lnTo>
                  <a:pt x="0" y="0"/>
                </a:lnTo>
                <a:lnTo>
                  <a:pt x="0" y="49369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478778" y="591896"/>
            <a:ext cx="842010" cy="494030"/>
          </a:xfrm>
          <a:custGeom>
            <a:avLst/>
            <a:gdLst/>
            <a:ahLst/>
            <a:cxnLst/>
            <a:rect l="l" t="t" r="r" b="b"/>
            <a:pathLst>
              <a:path w="842009" h="494030">
                <a:moveTo>
                  <a:pt x="0" y="493699"/>
                </a:moveTo>
                <a:lnTo>
                  <a:pt x="841679" y="493699"/>
                </a:lnTo>
                <a:lnTo>
                  <a:pt x="841679" y="0"/>
                </a:lnTo>
                <a:lnTo>
                  <a:pt x="0" y="0"/>
                </a:lnTo>
                <a:lnTo>
                  <a:pt x="0" y="49369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320406" y="591896"/>
            <a:ext cx="842010" cy="494030"/>
          </a:xfrm>
          <a:custGeom>
            <a:avLst/>
            <a:gdLst/>
            <a:ahLst/>
            <a:cxnLst/>
            <a:rect l="l" t="t" r="r" b="b"/>
            <a:pathLst>
              <a:path w="842009" h="494030">
                <a:moveTo>
                  <a:pt x="0" y="493699"/>
                </a:moveTo>
                <a:lnTo>
                  <a:pt x="841692" y="493699"/>
                </a:lnTo>
                <a:lnTo>
                  <a:pt x="841692" y="0"/>
                </a:lnTo>
                <a:lnTo>
                  <a:pt x="0" y="0"/>
                </a:lnTo>
                <a:lnTo>
                  <a:pt x="0" y="49369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162163" y="591896"/>
            <a:ext cx="842010" cy="494030"/>
          </a:xfrm>
          <a:custGeom>
            <a:avLst/>
            <a:gdLst/>
            <a:ahLst/>
            <a:cxnLst/>
            <a:rect l="l" t="t" r="r" b="b"/>
            <a:pathLst>
              <a:path w="842009" h="494030">
                <a:moveTo>
                  <a:pt x="0" y="493699"/>
                </a:moveTo>
                <a:lnTo>
                  <a:pt x="841679" y="493699"/>
                </a:lnTo>
                <a:lnTo>
                  <a:pt x="841679" y="0"/>
                </a:lnTo>
                <a:lnTo>
                  <a:pt x="0" y="0"/>
                </a:lnTo>
                <a:lnTo>
                  <a:pt x="0" y="49369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9003792" y="591896"/>
            <a:ext cx="842010" cy="494030"/>
          </a:xfrm>
          <a:custGeom>
            <a:avLst/>
            <a:gdLst/>
            <a:ahLst/>
            <a:cxnLst/>
            <a:rect l="l" t="t" r="r" b="b"/>
            <a:pathLst>
              <a:path w="842009" h="494030">
                <a:moveTo>
                  <a:pt x="0" y="493699"/>
                </a:moveTo>
                <a:lnTo>
                  <a:pt x="841692" y="493699"/>
                </a:lnTo>
                <a:lnTo>
                  <a:pt x="841692" y="0"/>
                </a:lnTo>
                <a:lnTo>
                  <a:pt x="0" y="0"/>
                </a:lnTo>
                <a:lnTo>
                  <a:pt x="0" y="49369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795392" y="108559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10" h="518159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637148" y="108559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10" h="518159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478778" y="108559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59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7320406" y="108559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59">
                <a:moveTo>
                  <a:pt x="0" y="518160"/>
                </a:moveTo>
                <a:lnTo>
                  <a:pt x="841692" y="518160"/>
                </a:lnTo>
                <a:lnTo>
                  <a:pt x="841692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162163" y="108559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59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9003792" y="108559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59">
                <a:moveTo>
                  <a:pt x="0" y="518160"/>
                </a:moveTo>
                <a:lnTo>
                  <a:pt x="841692" y="518160"/>
                </a:lnTo>
                <a:lnTo>
                  <a:pt x="841692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795392" y="160375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10" h="518160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637148" y="160375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10" h="518160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478778" y="160375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7320406" y="160375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60"/>
                </a:moveTo>
                <a:lnTo>
                  <a:pt x="841692" y="518160"/>
                </a:lnTo>
                <a:lnTo>
                  <a:pt x="841692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8162163" y="160375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9003792" y="160375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60"/>
                </a:moveTo>
                <a:lnTo>
                  <a:pt x="841692" y="518160"/>
                </a:lnTo>
                <a:lnTo>
                  <a:pt x="841692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4795392" y="212191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10" h="518160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637148" y="212191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10" h="518160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478778" y="212191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7320406" y="212191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60"/>
                </a:moveTo>
                <a:lnTo>
                  <a:pt x="841692" y="518160"/>
                </a:lnTo>
                <a:lnTo>
                  <a:pt x="841692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8162163" y="212191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9003792" y="212191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60"/>
                </a:moveTo>
                <a:lnTo>
                  <a:pt x="841692" y="518160"/>
                </a:lnTo>
                <a:lnTo>
                  <a:pt x="841692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4795392" y="264007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10" h="518160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637148" y="264007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10" h="518160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478778" y="264007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7320406" y="264007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60"/>
                </a:moveTo>
                <a:lnTo>
                  <a:pt x="841692" y="518160"/>
                </a:lnTo>
                <a:lnTo>
                  <a:pt x="841692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162163" y="264007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60"/>
                </a:moveTo>
                <a:lnTo>
                  <a:pt x="841679" y="518160"/>
                </a:lnTo>
                <a:lnTo>
                  <a:pt x="841679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9003792" y="264007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60"/>
                </a:moveTo>
                <a:lnTo>
                  <a:pt x="841692" y="518160"/>
                </a:lnTo>
                <a:lnTo>
                  <a:pt x="841692" y="0"/>
                </a:lnTo>
                <a:lnTo>
                  <a:pt x="0" y="0"/>
                </a:lnTo>
                <a:lnTo>
                  <a:pt x="0" y="518160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4795392" y="315823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10" h="518160">
                <a:moveTo>
                  <a:pt x="0" y="518159"/>
                </a:moveTo>
                <a:lnTo>
                  <a:pt x="841679" y="518159"/>
                </a:lnTo>
                <a:lnTo>
                  <a:pt x="841679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637148" y="315823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10" h="518160">
                <a:moveTo>
                  <a:pt x="0" y="518159"/>
                </a:moveTo>
                <a:lnTo>
                  <a:pt x="841679" y="518159"/>
                </a:lnTo>
                <a:lnTo>
                  <a:pt x="841679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6478778" y="315823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59"/>
                </a:moveTo>
                <a:lnTo>
                  <a:pt x="841679" y="518159"/>
                </a:lnTo>
                <a:lnTo>
                  <a:pt x="841679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320406" y="315823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59"/>
                </a:moveTo>
                <a:lnTo>
                  <a:pt x="841692" y="518159"/>
                </a:lnTo>
                <a:lnTo>
                  <a:pt x="841692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8162163" y="315823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59"/>
                </a:moveTo>
                <a:lnTo>
                  <a:pt x="841679" y="518159"/>
                </a:lnTo>
                <a:lnTo>
                  <a:pt x="841679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9003792" y="315823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59"/>
                </a:moveTo>
                <a:lnTo>
                  <a:pt x="841692" y="518159"/>
                </a:lnTo>
                <a:lnTo>
                  <a:pt x="841692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E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4795392" y="3676396"/>
            <a:ext cx="3366770" cy="518159"/>
          </a:xfrm>
          <a:custGeom>
            <a:avLst/>
            <a:gdLst/>
            <a:ahLst/>
            <a:cxnLst/>
            <a:rect l="l" t="t" r="r" b="b"/>
            <a:pathLst>
              <a:path w="3366770" h="518160">
                <a:moveTo>
                  <a:pt x="0" y="518159"/>
                </a:moveTo>
                <a:lnTo>
                  <a:pt x="3366770" y="518159"/>
                </a:lnTo>
                <a:lnTo>
                  <a:pt x="3366770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162163" y="367639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59"/>
                </a:moveTo>
                <a:lnTo>
                  <a:pt x="841679" y="518159"/>
                </a:lnTo>
                <a:lnTo>
                  <a:pt x="841679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9003792" y="3676396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0" y="518159"/>
                </a:moveTo>
                <a:lnTo>
                  <a:pt x="841692" y="518159"/>
                </a:lnTo>
                <a:lnTo>
                  <a:pt x="841692" y="0"/>
                </a:lnTo>
                <a:lnTo>
                  <a:pt x="0" y="0"/>
                </a:lnTo>
                <a:lnTo>
                  <a:pt x="0" y="518159"/>
                </a:lnTo>
                <a:close/>
              </a:path>
            </a:pathLst>
          </a:custGeom>
          <a:solidFill>
            <a:srgbClr val="FFDE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162163" y="54736"/>
            <a:ext cx="0" cy="4159250"/>
          </a:xfrm>
          <a:custGeom>
            <a:avLst/>
            <a:gdLst/>
            <a:ahLst/>
            <a:cxnLst/>
            <a:rect l="l" t="t" r="r" b="b"/>
            <a:pathLst>
              <a:path h="4159250">
                <a:moveTo>
                  <a:pt x="0" y="0"/>
                </a:moveTo>
                <a:lnTo>
                  <a:pt x="0" y="4158869"/>
                </a:lnTo>
              </a:path>
            </a:pathLst>
          </a:custGeom>
          <a:ln w="1905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4776342" y="591947"/>
            <a:ext cx="5088255" cy="0"/>
          </a:xfrm>
          <a:custGeom>
            <a:avLst/>
            <a:gdLst/>
            <a:ahLst/>
            <a:cxnLst/>
            <a:rect l="l" t="t" r="r" b="b"/>
            <a:pathLst>
              <a:path w="5088255">
                <a:moveTo>
                  <a:pt x="0" y="0"/>
                </a:moveTo>
                <a:lnTo>
                  <a:pt x="5088255" y="0"/>
                </a:lnTo>
              </a:path>
            </a:pathLst>
          </a:custGeom>
          <a:ln w="1905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4776342" y="1085596"/>
            <a:ext cx="5088255" cy="0"/>
          </a:xfrm>
          <a:custGeom>
            <a:avLst/>
            <a:gdLst/>
            <a:ahLst/>
            <a:cxnLst/>
            <a:rect l="l" t="t" r="r" b="b"/>
            <a:pathLst>
              <a:path w="5088255">
                <a:moveTo>
                  <a:pt x="0" y="0"/>
                </a:moveTo>
                <a:lnTo>
                  <a:pt x="5088255" y="0"/>
                </a:lnTo>
              </a:path>
            </a:pathLst>
          </a:custGeom>
          <a:ln w="1905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4776342" y="3676396"/>
            <a:ext cx="5088255" cy="0"/>
          </a:xfrm>
          <a:custGeom>
            <a:avLst/>
            <a:gdLst/>
            <a:ahLst/>
            <a:cxnLst/>
            <a:rect l="l" t="t" r="r" b="b"/>
            <a:pathLst>
              <a:path w="5088255">
                <a:moveTo>
                  <a:pt x="0" y="0"/>
                </a:moveTo>
                <a:lnTo>
                  <a:pt x="5088255" y="0"/>
                </a:lnTo>
              </a:path>
            </a:pathLst>
          </a:custGeom>
          <a:ln w="1905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4795392" y="54736"/>
            <a:ext cx="0" cy="4159250"/>
          </a:xfrm>
          <a:custGeom>
            <a:avLst/>
            <a:gdLst/>
            <a:ahLst/>
            <a:cxnLst/>
            <a:rect l="l" t="t" r="r" b="b"/>
            <a:pathLst>
              <a:path h="4159250">
                <a:moveTo>
                  <a:pt x="0" y="0"/>
                </a:moveTo>
                <a:lnTo>
                  <a:pt x="0" y="4158869"/>
                </a:lnTo>
              </a:path>
            </a:pathLst>
          </a:custGeom>
          <a:ln w="3810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9845547" y="54736"/>
            <a:ext cx="0" cy="4159250"/>
          </a:xfrm>
          <a:custGeom>
            <a:avLst/>
            <a:gdLst/>
            <a:ahLst/>
            <a:cxnLst/>
            <a:rect l="l" t="t" r="r" b="b"/>
            <a:pathLst>
              <a:path h="4159250">
                <a:moveTo>
                  <a:pt x="0" y="0"/>
                </a:moveTo>
                <a:lnTo>
                  <a:pt x="0" y="4158869"/>
                </a:lnTo>
              </a:path>
            </a:pathLst>
          </a:custGeom>
          <a:ln w="3810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4776342" y="73786"/>
            <a:ext cx="5088255" cy="0"/>
          </a:xfrm>
          <a:custGeom>
            <a:avLst/>
            <a:gdLst/>
            <a:ahLst/>
            <a:cxnLst/>
            <a:rect l="l" t="t" r="r" b="b"/>
            <a:pathLst>
              <a:path w="5088255">
                <a:moveTo>
                  <a:pt x="0" y="0"/>
                </a:moveTo>
                <a:lnTo>
                  <a:pt x="5088255" y="0"/>
                </a:lnTo>
              </a:path>
            </a:pathLst>
          </a:custGeom>
          <a:ln w="3810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4776342" y="4194555"/>
            <a:ext cx="5088255" cy="0"/>
          </a:xfrm>
          <a:custGeom>
            <a:avLst/>
            <a:gdLst/>
            <a:ahLst/>
            <a:cxnLst/>
            <a:rect l="l" t="t" r="r" b="b"/>
            <a:pathLst>
              <a:path w="5088255">
                <a:moveTo>
                  <a:pt x="0" y="0"/>
                </a:moveTo>
                <a:lnTo>
                  <a:pt x="5088255" y="0"/>
                </a:lnTo>
              </a:path>
            </a:pathLst>
          </a:custGeom>
          <a:ln w="38100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4" name="object 154"/>
          <p:cNvGraphicFramePr>
            <a:graphicFrameLocks noGrp="1"/>
          </p:cNvGraphicFramePr>
          <p:nvPr/>
        </p:nvGraphicFramePr>
        <p:xfrm>
          <a:off x="4997577" y="77406"/>
          <a:ext cx="4844414" cy="35543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3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3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159">
                <a:tc gridSpan="4">
                  <a:txBody>
                    <a:bodyPr/>
                    <a:lstStyle/>
                    <a:p>
                      <a:pPr marL="1035685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1570355" algn="l"/>
                        </a:tabLst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	入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3970" marB="0"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99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出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3970" marB="0"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2">
                <a:tc>
                  <a:txBody>
                    <a:bodyPr/>
                    <a:lstStyle/>
                    <a:p>
                      <a:pPr marR="698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0797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149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i="1" spc="-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692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i="1" spc="-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476"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2131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2385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2131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2385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2131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238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2131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238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496"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2131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2385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7" name="object 157"/>
          <p:cNvSpPr txBox="1"/>
          <p:nvPr/>
        </p:nvSpPr>
        <p:spPr>
          <a:xfrm>
            <a:off x="9141206" y="6472929"/>
            <a:ext cx="21717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9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5977890" y="3683000"/>
            <a:ext cx="10026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4365" algn="l"/>
              </a:tabLst>
            </a:pPr>
            <a:r>
              <a:rPr sz="2800" b="1" spc="-10" dirty="0">
                <a:latin typeface="华文楷体"/>
                <a:cs typeface="华文楷体"/>
              </a:rPr>
              <a:t>其	他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8481821" y="3698240"/>
            <a:ext cx="1045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407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0	0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329260"/>
            <a:ext cx="51066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666699"/>
                </a:solidFill>
                <a:latin typeface="隶书"/>
                <a:cs typeface="隶书"/>
              </a:rPr>
              <a:t>常</a:t>
            </a:r>
            <a:r>
              <a:rPr sz="4000" spc="-5" dirty="0">
                <a:solidFill>
                  <a:srgbClr val="666699"/>
                </a:solidFill>
                <a:latin typeface="隶书"/>
                <a:cs typeface="隶书"/>
              </a:rPr>
              <a:t>用组</a:t>
            </a:r>
            <a:r>
              <a:rPr sz="4000" dirty="0">
                <a:solidFill>
                  <a:srgbClr val="666699"/>
                </a:solidFill>
                <a:latin typeface="隶书"/>
                <a:cs typeface="隶书"/>
              </a:rPr>
              <a:t>合</a:t>
            </a:r>
            <a:r>
              <a:rPr sz="4000" spc="-5" dirty="0">
                <a:solidFill>
                  <a:srgbClr val="666699"/>
                </a:solidFill>
                <a:latin typeface="隶书"/>
                <a:cs typeface="隶书"/>
              </a:rPr>
              <a:t>电路</a:t>
            </a:r>
            <a:r>
              <a:rPr sz="4000" dirty="0">
                <a:solidFill>
                  <a:srgbClr val="666699"/>
                </a:solidFill>
                <a:latin typeface="隶书"/>
                <a:cs typeface="隶书"/>
              </a:rPr>
              <a:t>及</a:t>
            </a:r>
            <a:r>
              <a:rPr sz="4000" spc="-5" dirty="0">
                <a:solidFill>
                  <a:srgbClr val="666699"/>
                </a:solidFill>
                <a:latin typeface="隶书"/>
                <a:cs typeface="隶书"/>
              </a:rPr>
              <a:t>其分析</a:t>
            </a:r>
            <a:endParaRPr sz="4000">
              <a:latin typeface="隶书"/>
              <a:cs typeface="隶书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4040" y="1073911"/>
            <a:ext cx="8256270" cy="1180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1 </a:t>
            </a:r>
            <a:r>
              <a:rPr sz="2800" spc="-5" dirty="0">
                <a:latin typeface="微软雅黑"/>
                <a:cs typeface="微软雅黑"/>
              </a:rPr>
              <a:t>加法器</a:t>
            </a:r>
            <a:endParaRPr sz="2800">
              <a:latin typeface="微软雅黑"/>
              <a:cs typeface="微软雅黑"/>
            </a:endParaRPr>
          </a:p>
          <a:p>
            <a:pPr marL="812800">
              <a:lnSpc>
                <a:spcPct val="100000"/>
              </a:lnSpc>
              <a:spcBef>
                <a:spcPts val="2375"/>
              </a:spcBef>
            </a:pP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由5个逻辑门组成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的2</a:t>
            </a:r>
            <a:r>
              <a:rPr sz="2800" spc="20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输入、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2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 输出逻辑电路如图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066888" y="4618216"/>
            <a:ext cx="344170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343547" y="0"/>
                </a:moveTo>
                <a:lnTo>
                  <a:pt x="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76738" y="3495745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>
                <a:moveTo>
                  <a:pt x="0" y="0"/>
                </a:moveTo>
                <a:lnTo>
                  <a:pt x="580806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76738" y="3763048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>
                <a:moveTo>
                  <a:pt x="0" y="0"/>
                </a:moveTo>
                <a:lnTo>
                  <a:pt x="580806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57545" y="3629397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>
                <a:moveTo>
                  <a:pt x="580847" y="0"/>
                </a:moveTo>
                <a:lnTo>
                  <a:pt x="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80025" y="3362094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226508" y="0"/>
                </a:moveTo>
                <a:lnTo>
                  <a:pt x="0" y="0"/>
                </a:lnTo>
                <a:lnTo>
                  <a:pt x="29874" y="39527"/>
                </a:lnTo>
                <a:lnTo>
                  <a:pt x="54770" y="79848"/>
                </a:lnTo>
                <a:lnTo>
                  <a:pt x="74687" y="120818"/>
                </a:lnTo>
                <a:lnTo>
                  <a:pt x="89624" y="162294"/>
                </a:lnTo>
                <a:lnTo>
                  <a:pt x="99583" y="204132"/>
                </a:lnTo>
                <a:lnTo>
                  <a:pt x="104562" y="246187"/>
                </a:lnTo>
                <a:lnTo>
                  <a:pt x="104562" y="288315"/>
                </a:lnTo>
                <a:lnTo>
                  <a:pt x="99583" y="330373"/>
                </a:lnTo>
                <a:lnTo>
                  <a:pt x="89625" y="372217"/>
                </a:lnTo>
                <a:lnTo>
                  <a:pt x="74687" y="413702"/>
                </a:lnTo>
                <a:lnTo>
                  <a:pt x="54770" y="454685"/>
                </a:lnTo>
                <a:lnTo>
                  <a:pt x="29875" y="495021"/>
                </a:lnTo>
                <a:lnTo>
                  <a:pt x="0" y="534568"/>
                </a:lnTo>
                <a:lnTo>
                  <a:pt x="226509" y="534568"/>
                </a:lnTo>
                <a:lnTo>
                  <a:pt x="285996" y="524203"/>
                </a:lnTo>
                <a:lnTo>
                  <a:pt x="343378" y="511317"/>
                </a:lnTo>
                <a:lnTo>
                  <a:pt x="398446" y="496017"/>
                </a:lnTo>
                <a:lnTo>
                  <a:pt x="450988" y="478409"/>
                </a:lnTo>
                <a:lnTo>
                  <a:pt x="500794" y="458600"/>
                </a:lnTo>
                <a:lnTo>
                  <a:pt x="547652" y="436698"/>
                </a:lnTo>
                <a:lnTo>
                  <a:pt x="591352" y="412808"/>
                </a:lnTo>
                <a:lnTo>
                  <a:pt x="631683" y="387039"/>
                </a:lnTo>
                <a:lnTo>
                  <a:pt x="668435" y="359497"/>
                </a:lnTo>
                <a:lnTo>
                  <a:pt x="701397" y="330289"/>
                </a:lnTo>
                <a:lnTo>
                  <a:pt x="730358" y="299522"/>
                </a:lnTo>
                <a:lnTo>
                  <a:pt x="755107" y="267302"/>
                </a:lnTo>
                <a:lnTo>
                  <a:pt x="730689" y="234932"/>
                </a:lnTo>
                <a:lnTo>
                  <a:pt x="701975" y="204029"/>
                </a:lnTo>
                <a:lnTo>
                  <a:pt x="669184" y="174704"/>
                </a:lnTo>
                <a:lnTo>
                  <a:pt x="632533" y="147067"/>
                </a:lnTo>
                <a:lnTo>
                  <a:pt x="592240" y="121228"/>
                </a:lnTo>
                <a:lnTo>
                  <a:pt x="548522" y="97299"/>
                </a:lnTo>
                <a:lnTo>
                  <a:pt x="501599" y="75389"/>
                </a:lnTo>
                <a:lnTo>
                  <a:pt x="451686" y="55610"/>
                </a:lnTo>
                <a:lnTo>
                  <a:pt x="399003" y="38070"/>
                </a:lnTo>
                <a:lnTo>
                  <a:pt x="343767" y="22882"/>
                </a:lnTo>
                <a:lnTo>
                  <a:pt x="286196" y="10155"/>
                </a:lnTo>
                <a:lnTo>
                  <a:pt x="2265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80025" y="3362094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755107" y="267302"/>
                </a:moveTo>
                <a:lnTo>
                  <a:pt x="730358" y="299522"/>
                </a:lnTo>
                <a:lnTo>
                  <a:pt x="701397" y="330289"/>
                </a:lnTo>
                <a:lnTo>
                  <a:pt x="668435" y="359497"/>
                </a:lnTo>
                <a:lnTo>
                  <a:pt x="631683" y="387039"/>
                </a:lnTo>
                <a:lnTo>
                  <a:pt x="591352" y="412808"/>
                </a:lnTo>
                <a:lnTo>
                  <a:pt x="547652" y="436698"/>
                </a:lnTo>
                <a:lnTo>
                  <a:pt x="500794" y="458600"/>
                </a:lnTo>
                <a:lnTo>
                  <a:pt x="450988" y="478409"/>
                </a:lnTo>
                <a:lnTo>
                  <a:pt x="398446" y="496017"/>
                </a:lnTo>
                <a:lnTo>
                  <a:pt x="343378" y="511317"/>
                </a:lnTo>
                <a:lnTo>
                  <a:pt x="285996" y="524203"/>
                </a:lnTo>
                <a:lnTo>
                  <a:pt x="226509" y="534568"/>
                </a:lnTo>
                <a:lnTo>
                  <a:pt x="0" y="534568"/>
                </a:lnTo>
                <a:lnTo>
                  <a:pt x="29875" y="495021"/>
                </a:lnTo>
                <a:lnTo>
                  <a:pt x="54770" y="454685"/>
                </a:lnTo>
                <a:lnTo>
                  <a:pt x="74687" y="413702"/>
                </a:lnTo>
                <a:lnTo>
                  <a:pt x="89625" y="372217"/>
                </a:lnTo>
                <a:lnTo>
                  <a:pt x="99583" y="330373"/>
                </a:lnTo>
                <a:lnTo>
                  <a:pt x="104562" y="288315"/>
                </a:lnTo>
                <a:lnTo>
                  <a:pt x="104562" y="246187"/>
                </a:lnTo>
                <a:lnTo>
                  <a:pt x="99583" y="204132"/>
                </a:lnTo>
                <a:lnTo>
                  <a:pt x="89624" y="162294"/>
                </a:lnTo>
                <a:lnTo>
                  <a:pt x="74687" y="120818"/>
                </a:lnTo>
                <a:lnTo>
                  <a:pt x="54770" y="79848"/>
                </a:lnTo>
                <a:lnTo>
                  <a:pt x="29874" y="39527"/>
                </a:lnTo>
                <a:lnTo>
                  <a:pt x="0" y="0"/>
                </a:lnTo>
                <a:lnTo>
                  <a:pt x="226508" y="0"/>
                </a:lnTo>
                <a:lnTo>
                  <a:pt x="286196" y="10155"/>
                </a:lnTo>
                <a:lnTo>
                  <a:pt x="343767" y="22882"/>
                </a:lnTo>
                <a:lnTo>
                  <a:pt x="399003" y="38070"/>
                </a:lnTo>
                <a:lnTo>
                  <a:pt x="451686" y="55610"/>
                </a:lnTo>
                <a:lnTo>
                  <a:pt x="501599" y="75389"/>
                </a:lnTo>
                <a:lnTo>
                  <a:pt x="548522" y="97299"/>
                </a:lnTo>
                <a:lnTo>
                  <a:pt x="592240" y="121228"/>
                </a:lnTo>
                <a:lnTo>
                  <a:pt x="632533" y="147067"/>
                </a:lnTo>
                <a:lnTo>
                  <a:pt x="669184" y="174704"/>
                </a:lnTo>
                <a:lnTo>
                  <a:pt x="701975" y="204029"/>
                </a:lnTo>
                <a:lnTo>
                  <a:pt x="730689" y="234932"/>
                </a:lnTo>
                <a:lnTo>
                  <a:pt x="755107" y="267302"/>
                </a:lnTo>
                <a:close/>
              </a:path>
            </a:pathLst>
          </a:custGeom>
          <a:ln w="27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18644" y="3575123"/>
            <a:ext cx="115345" cy="1084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80025" y="3362094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464697" y="0"/>
                </a:moveTo>
                <a:lnTo>
                  <a:pt x="0" y="0"/>
                </a:lnTo>
                <a:lnTo>
                  <a:pt x="0" y="534568"/>
                </a:lnTo>
                <a:lnTo>
                  <a:pt x="464697" y="534568"/>
                </a:lnTo>
                <a:lnTo>
                  <a:pt x="511797" y="531069"/>
                </a:lnTo>
                <a:lnTo>
                  <a:pt x="556480" y="520940"/>
                </a:lnTo>
                <a:lnTo>
                  <a:pt x="598147" y="504731"/>
                </a:lnTo>
                <a:lnTo>
                  <a:pt x="636200" y="482994"/>
                </a:lnTo>
                <a:lnTo>
                  <a:pt x="670040" y="456279"/>
                </a:lnTo>
                <a:lnTo>
                  <a:pt x="699068" y="425135"/>
                </a:lnTo>
                <a:lnTo>
                  <a:pt x="722688" y="390116"/>
                </a:lnTo>
                <a:lnTo>
                  <a:pt x="740299" y="351770"/>
                </a:lnTo>
                <a:lnTo>
                  <a:pt x="751305" y="310648"/>
                </a:lnTo>
                <a:lnTo>
                  <a:pt x="755107" y="267302"/>
                </a:lnTo>
                <a:lnTo>
                  <a:pt x="751305" y="223949"/>
                </a:lnTo>
                <a:lnTo>
                  <a:pt x="740299" y="182822"/>
                </a:lnTo>
                <a:lnTo>
                  <a:pt x="722688" y="144470"/>
                </a:lnTo>
                <a:lnTo>
                  <a:pt x="699068" y="109445"/>
                </a:lnTo>
                <a:lnTo>
                  <a:pt x="670039" y="78298"/>
                </a:lnTo>
                <a:lnTo>
                  <a:pt x="636200" y="51579"/>
                </a:lnTo>
                <a:lnTo>
                  <a:pt x="598147" y="29839"/>
                </a:lnTo>
                <a:lnTo>
                  <a:pt x="556480" y="13629"/>
                </a:lnTo>
                <a:lnTo>
                  <a:pt x="511797" y="3499"/>
                </a:lnTo>
                <a:lnTo>
                  <a:pt x="4646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80025" y="3362094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464697" y="534568"/>
                </a:moveTo>
                <a:lnTo>
                  <a:pt x="0" y="534568"/>
                </a:lnTo>
                <a:lnTo>
                  <a:pt x="0" y="0"/>
                </a:lnTo>
                <a:lnTo>
                  <a:pt x="464697" y="0"/>
                </a:lnTo>
                <a:lnTo>
                  <a:pt x="511797" y="3499"/>
                </a:lnTo>
                <a:lnTo>
                  <a:pt x="556480" y="13629"/>
                </a:lnTo>
                <a:lnTo>
                  <a:pt x="598147" y="29839"/>
                </a:lnTo>
                <a:lnTo>
                  <a:pt x="636200" y="51579"/>
                </a:lnTo>
                <a:lnTo>
                  <a:pt x="670039" y="78298"/>
                </a:lnTo>
                <a:lnTo>
                  <a:pt x="699068" y="109445"/>
                </a:lnTo>
                <a:lnTo>
                  <a:pt x="722688" y="144470"/>
                </a:lnTo>
                <a:lnTo>
                  <a:pt x="740299" y="182822"/>
                </a:lnTo>
                <a:lnTo>
                  <a:pt x="751305" y="223949"/>
                </a:lnTo>
                <a:lnTo>
                  <a:pt x="755107" y="267302"/>
                </a:lnTo>
                <a:lnTo>
                  <a:pt x="751305" y="310648"/>
                </a:lnTo>
                <a:lnTo>
                  <a:pt x="740299" y="351770"/>
                </a:lnTo>
                <a:lnTo>
                  <a:pt x="722688" y="390116"/>
                </a:lnTo>
                <a:lnTo>
                  <a:pt x="699068" y="425135"/>
                </a:lnTo>
                <a:lnTo>
                  <a:pt x="670040" y="456279"/>
                </a:lnTo>
                <a:lnTo>
                  <a:pt x="636200" y="482994"/>
                </a:lnTo>
                <a:lnTo>
                  <a:pt x="598147" y="504732"/>
                </a:lnTo>
                <a:lnTo>
                  <a:pt x="556480" y="520940"/>
                </a:lnTo>
                <a:lnTo>
                  <a:pt x="511797" y="531069"/>
                </a:lnTo>
                <a:lnTo>
                  <a:pt x="464697" y="534568"/>
                </a:lnTo>
                <a:close/>
              </a:path>
            </a:pathLst>
          </a:custGeom>
          <a:ln w="27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19212" y="3050156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>
                <a:moveTo>
                  <a:pt x="0" y="0"/>
                </a:moveTo>
                <a:lnTo>
                  <a:pt x="58082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19212" y="3317459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>
                <a:moveTo>
                  <a:pt x="0" y="0"/>
                </a:moveTo>
                <a:lnTo>
                  <a:pt x="58082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00032" y="3183808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>
                <a:moveTo>
                  <a:pt x="580820" y="0"/>
                </a:moveTo>
                <a:lnTo>
                  <a:pt x="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22472" y="2916505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226481" y="0"/>
                </a:moveTo>
                <a:lnTo>
                  <a:pt x="0" y="0"/>
                </a:lnTo>
                <a:lnTo>
                  <a:pt x="29883" y="39554"/>
                </a:lnTo>
                <a:lnTo>
                  <a:pt x="54786" y="79897"/>
                </a:lnTo>
                <a:lnTo>
                  <a:pt x="74709" y="120886"/>
                </a:lnTo>
                <a:lnTo>
                  <a:pt x="89651" y="162376"/>
                </a:lnTo>
                <a:lnTo>
                  <a:pt x="99612" y="204223"/>
                </a:lnTo>
                <a:lnTo>
                  <a:pt x="104593" y="246284"/>
                </a:lnTo>
                <a:lnTo>
                  <a:pt x="104593" y="288415"/>
                </a:lnTo>
                <a:lnTo>
                  <a:pt x="99612" y="330471"/>
                </a:lnTo>
                <a:lnTo>
                  <a:pt x="89651" y="372310"/>
                </a:lnTo>
                <a:lnTo>
                  <a:pt x="74709" y="413786"/>
                </a:lnTo>
                <a:lnTo>
                  <a:pt x="54786" y="454757"/>
                </a:lnTo>
                <a:lnTo>
                  <a:pt x="29883" y="495078"/>
                </a:lnTo>
                <a:lnTo>
                  <a:pt x="0" y="534605"/>
                </a:lnTo>
                <a:lnTo>
                  <a:pt x="226481" y="534605"/>
                </a:lnTo>
                <a:lnTo>
                  <a:pt x="285978" y="524256"/>
                </a:lnTo>
                <a:lnTo>
                  <a:pt x="343368" y="511383"/>
                </a:lnTo>
                <a:lnTo>
                  <a:pt x="398443" y="496095"/>
                </a:lnTo>
                <a:lnTo>
                  <a:pt x="450990" y="478497"/>
                </a:lnTo>
                <a:lnTo>
                  <a:pt x="500799" y="458697"/>
                </a:lnTo>
                <a:lnTo>
                  <a:pt x="547660" y="436803"/>
                </a:lnTo>
                <a:lnTo>
                  <a:pt x="591363" y="412920"/>
                </a:lnTo>
                <a:lnTo>
                  <a:pt x="631695" y="387156"/>
                </a:lnTo>
                <a:lnTo>
                  <a:pt x="668448" y="359618"/>
                </a:lnTo>
                <a:lnTo>
                  <a:pt x="701410" y="330413"/>
                </a:lnTo>
                <a:lnTo>
                  <a:pt x="730371" y="299647"/>
                </a:lnTo>
                <a:lnTo>
                  <a:pt x="755120" y="267428"/>
                </a:lnTo>
                <a:lnTo>
                  <a:pt x="730703" y="235058"/>
                </a:lnTo>
                <a:lnTo>
                  <a:pt x="701989" y="204154"/>
                </a:lnTo>
                <a:lnTo>
                  <a:pt x="669197" y="174828"/>
                </a:lnTo>
                <a:lnTo>
                  <a:pt x="632545" y="147188"/>
                </a:lnTo>
                <a:lnTo>
                  <a:pt x="592251" y="121345"/>
                </a:lnTo>
                <a:lnTo>
                  <a:pt x="548531" y="97409"/>
                </a:lnTo>
                <a:lnTo>
                  <a:pt x="501604" y="75490"/>
                </a:lnTo>
                <a:lnTo>
                  <a:pt x="451688" y="55698"/>
                </a:lnTo>
                <a:lnTo>
                  <a:pt x="399000" y="38143"/>
                </a:lnTo>
                <a:lnTo>
                  <a:pt x="343757" y="22935"/>
                </a:lnTo>
                <a:lnTo>
                  <a:pt x="286179" y="10184"/>
                </a:lnTo>
                <a:lnTo>
                  <a:pt x="2264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22472" y="2916505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755120" y="267428"/>
                </a:moveTo>
                <a:lnTo>
                  <a:pt x="730371" y="299647"/>
                </a:lnTo>
                <a:lnTo>
                  <a:pt x="701410" y="330413"/>
                </a:lnTo>
                <a:lnTo>
                  <a:pt x="668448" y="359618"/>
                </a:lnTo>
                <a:lnTo>
                  <a:pt x="631695" y="387156"/>
                </a:lnTo>
                <a:lnTo>
                  <a:pt x="591363" y="412920"/>
                </a:lnTo>
                <a:lnTo>
                  <a:pt x="547660" y="436803"/>
                </a:lnTo>
                <a:lnTo>
                  <a:pt x="500799" y="458697"/>
                </a:lnTo>
                <a:lnTo>
                  <a:pt x="450990" y="478497"/>
                </a:lnTo>
                <a:lnTo>
                  <a:pt x="398443" y="496095"/>
                </a:lnTo>
                <a:lnTo>
                  <a:pt x="343368" y="511383"/>
                </a:lnTo>
                <a:lnTo>
                  <a:pt x="285978" y="524256"/>
                </a:lnTo>
                <a:lnTo>
                  <a:pt x="226481" y="534605"/>
                </a:lnTo>
                <a:lnTo>
                  <a:pt x="0" y="534605"/>
                </a:lnTo>
                <a:lnTo>
                  <a:pt x="29883" y="495078"/>
                </a:lnTo>
                <a:lnTo>
                  <a:pt x="54786" y="454757"/>
                </a:lnTo>
                <a:lnTo>
                  <a:pt x="74709" y="413786"/>
                </a:lnTo>
                <a:lnTo>
                  <a:pt x="89651" y="372310"/>
                </a:lnTo>
                <a:lnTo>
                  <a:pt x="99612" y="330471"/>
                </a:lnTo>
                <a:lnTo>
                  <a:pt x="104593" y="288415"/>
                </a:lnTo>
                <a:lnTo>
                  <a:pt x="104593" y="246284"/>
                </a:lnTo>
                <a:lnTo>
                  <a:pt x="99612" y="204223"/>
                </a:lnTo>
                <a:lnTo>
                  <a:pt x="89651" y="162376"/>
                </a:lnTo>
                <a:lnTo>
                  <a:pt x="74709" y="120886"/>
                </a:lnTo>
                <a:lnTo>
                  <a:pt x="54786" y="79897"/>
                </a:lnTo>
                <a:lnTo>
                  <a:pt x="29883" y="39554"/>
                </a:lnTo>
                <a:lnTo>
                  <a:pt x="0" y="0"/>
                </a:lnTo>
                <a:lnTo>
                  <a:pt x="226481" y="0"/>
                </a:lnTo>
                <a:lnTo>
                  <a:pt x="286179" y="10184"/>
                </a:lnTo>
                <a:lnTo>
                  <a:pt x="343757" y="22935"/>
                </a:lnTo>
                <a:lnTo>
                  <a:pt x="399000" y="38143"/>
                </a:lnTo>
                <a:lnTo>
                  <a:pt x="451688" y="55698"/>
                </a:lnTo>
                <a:lnTo>
                  <a:pt x="501604" y="75490"/>
                </a:lnTo>
                <a:lnTo>
                  <a:pt x="548531" y="97409"/>
                </a:lnTo>
                <a:lnTo>
                  <a:pt x="592251" y="121345"/>
                </a:lnTo>
                <a:lnTo>
                  <a:pt x="632545" y="147188"/>
                </a:lnTo>
                <a:lnTo>
                  <a:pt x="669197" y="174828"/>
                </a:lnTo>
                <a:lnTo>
                  <a:pt x="701989" y="204154"/>
                </a:lnTo>
                <a:lnTo>
                  <a:pt x="730703" y="235058"/>
                </a:lnTo>
                <a:lnTo>
                  <a:pt x="755120" y="267428"/>
                </a:lnTo>
                <a:close/>
              </a:path>
            </a:pathLst>
          </a:custGeom>
          <a:ln w="27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61105" y="3129660"/>
            <a:ext cx="115345" cy="1084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22472" y="2916505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464710" y="0"/>
                </a:moveTo>
                <a:lnTo>
                  <a:pt x="0" y="0"/>
                </a:lnTo>
                <a:lnTo>
                  <a:pt x="0" y="534605"/>
                </a:lnTo>
                <a:lnTo>
                  <a:pt x="464710" y="534605"/>
                </a:lnTo>
                <a:lnTo>
                  <a:pt x="511811" y="531110"/>
                </a:lnTo>
                <a:lnTo>
                  <a:pt x="556494" y="520988"/>
                </a:lnTo>
                <a:lnTo>
                  <a:pt x="598161" y="504790"/>
                </a:lnTo>
                <a:lnTo>
                  <a:pt x="636213" y="483062"/>
                </a:lnTo>
                <a:lnTo>
                  <a:pt x="670053" y="456354"/>
                </a:lnTo>
                <a:lnTo>
                  <a:pt x="699082" y="425214"/>
                </a:lnTo>
                <a:lnTo>
                  <a:pt x="722701" y="390190"/>
                </a:lnTo>
                <a:lnTo>
                  <a:pt x="740313" y="351832"/>
                </a:lnTo>
                <a:lnTo>
                  <a:pt x="751319" y="310686"/>
                </a:lnTo>
                <a:lnTo>
                  <a:pt x="755120" y="267302"/>
                </a:lnTo>
                <a:lnTo>
                  <a:pt x="751319" y="223949"/>
                </a:lnTo>
                <a:lnTo>
                  <a:pt x="740313" y="182822"/>
                </a:lnTo>
                <a:lnTo>
                  <a:pt x="722701" y="144470"/>
                </a:lnTo>
                <a:lnTo>
                  <a:pt x="699082" y="109445"/>
                </a:lnTo>
                <a:lnTo>
                  <a:pt x="670053" y="78298"/>
                </a:lnTo>
                <a:lnTo>
                  <a:pt x="636213" y="51579"/>
                </a:lnTo>
                <a:lnTo>
                  <a:pt x="598161" y="29839"/>
                </a:lnTo>
                <a:lnTo>
                  <a:pt x="556494" y="13629"/>
                </a:lnTo>
                <a:lnTo>
                  <a:pt x="511811" y="3499"/>
                </a:lnTo>
                <a:lnTo>
                  <a:pt x="4647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22472" y="2916505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464710" y="534605"/>
                </a:moveTo>
                <a:lnTo>
                  <a:pt x="0" y="534605"/>
                </a:lnTo>
                <a:lnTo>
                  <a:pt x="0" y="0"/>
                </a:lnTo>
                <a:lnTo>
                  <a:pt x="464710" y="0"/>
                </a:lnTo>
                <a:lnTo>
                  <a:pt x="511811" y="3499"/>
                </a:lnTo>
                <a:lnTo>
                  <a:pt x="556494" y="13629"/>
                </a:lnTo>
                <a:lnTo>
                  <a:pt x="598161" y="29839"/>
                </a:lnTo>
                <a:lnTo>
                  <a:pt x="636213" y="51579"/>
                </a:lnTo>
                <a:lnTo>
                  <a:pt x="670053" y="78298"/>
                </a:lnTo>
                <a:lnTo>
                  <a:pt x="699082" y="109445"/>
                </a:lnTo>
                <a:lnTo>
                  <a:pt x="722701" y="144470"/>
                </a:lnTo>
                <a:lnTo>
                  <a:pt x="740313" y="182822"/>
                </a:lnTo>
                <a:lnTo>
                  <a:pt x="751319" y="223949"/>
                </a:lnTo>
                <a:lnTo>
                  <a:pt x="755120" y="267302"/>
                </a:lnTo>
                <a:lnTo>
                  <a:pt x="751319" y="310686"/>
                </a:lnTo>
                <a:lnTo>
                  <a:pt x="740313" y="351832"/>
                </a:lnTo>
                <a:lnTo>
                  <a:pt x="722701" y="390190"/>
                </a:lnTo>
                <a:lnTo>
                  <a:pt x="699082" y="425214"/>
                </a:lnTo>
                <a:lnTo>
                  <a:pt x="670053" y="456354"/>
                </a:lnTo>
                <a:lnTo>
                  <a:pt x="636213" y="483062"/>
                </a:lnTo>
                <a:lnTo>
                  <a:pt x="598161" y="504790"/>
                </a:lnTo>
                <a:lnTo>
                  <a:pt x="556494" y="520988"/>
                </a:lnTo>
                <a:lnTo>
                  <a:pt x="511811" y="531110"/>
                </a:lnTo>
                <a:lnTo>
                  <a:pt x="464710" y="534605"/>
                </a:lnTo>
                <a:close/>
              </a:path>
            </a:pathLst>
          </a:custGeom>
          <a:ln w="27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19212" y="3941208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>
                <a:moveTo>
                  <a:pt x="0" y="0"/>
                </a:moveTo>
                <a:lnTo>
                  <a:pt x="58082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19212" y="4208511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>
                <a:moveTo>
                  <a:pt x="0" y="0"/>
                </a:moveTo>
                <a:lnTo>
                  <a:pt x="58082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00032" y="4074860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>
                <a:moveTo>
                  <a:pt x="580820" y="0"/>
                </a:moveTo>
                <a:lnTo>
                  <a:pt x="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322472" y="3807557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226481" y="0"/>
                </a:moveTo>
                <a:lnTo>
                  <a:pt x="0" y="0"/>
                </a:lnTo>
                <a:lnTo>
                  <a:pt x="29883" y="39540"/>
                </a:lnTo>
                <a:lnTo>
                  <a:pt x="54786" y="79873"/>
                </a:lnTo>
                <a:lnTo>
                  <a:pt x="74709" y="120852"/>
                </a:lnTo>
                <a:lnTo>
                  <a:pt x="89651" y="162336"/>
                </a:lnTo>
                <a:lnTo>
                  <a:pt x="99612" y="204178"/>
                </a:lnTo>
                <a:lnTo>
                  <a:pt x="104593" y="246237"/>
                </a:lnTo>
                <a:lnTo>
                  <a:pt x="104593" y="288368"/>
                </a:lnTo>
                <a:lnTo>
                  <a:pt x="99612" y="330426"/>
                </a:lnTo>
                <a:lnTo>
                  <a:pt x="89651" y="372269"/>
                </a:lnTo>
                <a:lnTo>
                  <a:pt x="74709" y="413753"/>
                </a:lnTo>
                <a:lnTo>
                  <a:pt x="54786" y="454732"/>
                </a:lnTo>
                <a:lnTo>
                  <a:pt x="29883" y="495064"/>
                </a:lnTo>
                <a:lnTo>
                  <a:pt x="0" y="534605"/>
                </a:lnTo>
                <a:lnTo>
                  <a:pt x="226481" y="534605"/>
                </a:lnTo>
                <a:lnTo>
                  <a:pt x="285978" y="524241"/>
                </a:lnTo>
                <a:lnTo>
                  <a:pt x="343368" y="511355"/>
                </a:lnTo>
                <a:lnTo>
                  <a:pt x="398443" y="496054"/>
                </a:lnTo>
                <a:lnTo>
                  <a:pt x="450990" y="478446"/>
                </a:lnTo>
                <a:lnTo>
                  <a:pt x="500799" y="458637"/>
                </a:lnTo>
                <a:lnTo>
                  <a:pt x="547660" y="436734"/>
                </a:lnTo>
                <a:lnTo>
                  <a:pt x="591363" y="412844"/>
                </a:lnTo>
                <a:lnTo>
                  <a:pt x="631695" y="387073"/>
                </a:lnTo>
                <a:lnTo>
                  <a:pt x="668448" y="359530"/>
                </a:lnTo>
                <a:lnTo>
                  <a:pt x="701410" y="330320"/>
                </a:lnTo>
                <a:lnTo>
                  <a:pt x="730371" y="299550"/>
                </a:lnTo>
                <a:lnTo>
                  <a:pt x="755120" y="267328"/>
                </a:lnTo>
                <a:lnTo>
                  <a:pt x="730703" y="234963"/>
                </a:lnTo>
                <a:lnTo>
                  <a:pt x="701989" y="204066"/>
                </a:lnTo>
                <a:lnTo>
                  <a:pt x="669197" y="174745"/>
                </a:lnTo>
                <a:lnTo>
                  <a:pt x="632545" y="147111"/>
                </a:lnTo>
                <a:lnTo>
                  <a:pt x="592251" y="121274"/>
                </a:lnTo>
                <a:lnTo>
                  <a:pt x="548531" y="97345"/>
                </a:lnTo>
                <a:lnTo>
                  <a:pt x="501604" y="75433"/>
                </a:lnTo>
                <a:lnTo>
                  <a:pt x="451688" y="55650"/>
                </a:lnTo>
                <a:lnTo>
                  <a:pt x="399000" y="38104"/>
                </a:lnTo>
                <a:lnTo>
                  <a:pt x="343757" y="22907"/>
                </a:lnTo>
                <a:lnTo>
                  <a:pt x="286179" y="10169"/>
                </a:lnTo>
                <a:lnTo>
                  <a:pt x="2264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22472" y="3807557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755120" y="267328"/>
                </a:moveTo>
                <a:lnTo>
                  <a:pt x="730371" y="299550"/>
                </a:lnTo>
                <a:lnTo>
                  <a:pt x="701410" y="330320"/>
                </a:lnTo>
                <a:lnTo>
                  <a:pt x="668448" y="359530"/>
                </a:lnTo>
                <a:lnTo>
                  <a:pt x="631695" y="387073"/>
                </a:lnTo>
                <a:lnTo>
                  <a:pt x="591363" y="412844"/>
                </a:lnTo>
                <a:lnTo>
                  <a:pt x="547660" y="436734"/>
                </a:lnTo>
                <a:lnTo>
                  <a:pt x="500799" y="458637"/>
                </a:lnTo>
                <a:lnTo>
                  <a:pt x="450990" y="478446"/>
                </a:lnTo>
                <a:lnTo>
                  <a:pt x="398443" y="496054"/>
                </a:lnTo>
                <a:lnTo>
                  <a:pt x="343368" y="511355"/>
                </a:lnTo>
                <a:lnTo>
                  <a:pt x="285978" y="524241"/>
                </a:lnTo>
                <a:lnTo>
                  <a:pt x="226481" y="534605"/>
                </a:lnTo>
                <a:lnTo>
                  <a:pt x="0" y="534605"/>
                </a:lnTo>
                <a:lnTo>
                  <a:pt x="29883" y="495064"/>
                </a:lnTo>
                <a:lnTo>
                  <a:pt x="54786" y="454732"/>
                </a:lnTo>
                <a:lnTo>
                  <a:pt x="74709" y="413753"/>
                </a:lnTo>
                <a:lnTo>
                  <a:pt x="89651" y="372269"/>
                </a:lnTo>
                <a:lnTo>
                  <a:pt x="99612" y="330426"/>
                </a:lnTo>
                <a:lnTo>
                  <a:pt x="104593" y="288368"/>
                </a:lnTo>
                <a:lnTo>
                  <a:pt x="104593" y="246237"/>
                </a:lnTo>
                <a:lnTo>
                  <a:pt x="99612" y="204178"/>
                </a:lnTo>
                <a:lnTo>
                  <a:pt x="89651" y="162336"/>
                </a:lnTo>
                <a:lnTo>
                  <a:pt x="74709" y="120852"/>
                </a:lnTo>
                <a:lnTo>
                  <a:pt x="54786" y="79873"/>
                </a:lnTo>
                <a:lnTo>
                  <a:pt x="29883" y="39540"/>
                </a:lnTo>
                <a:lnTo>
                  <a:pt x="0" y="0"/>
                </a:lnTo>
                <a:lnTo>
                  <a:pt x="226481" y="0"/>
                </a:lnTo>
                <a:lnTo>
                  <a:pt x="286179" y="10169"/>
                </a:lnTo>
                <a:lnTo>
                  <a:pt x="343757" y="22907"/>
                </a:lnTo>
                <a:lnTo>
                  <a:pt x="399000" y="38104"/>
                </a:lnTo>
                <a:lnTo>
                  <a:pt x="451688" y="55650"/>
                </a:lnTo>
                <a:lnTo>
                  <a:pt x="501604" y="75433"/>
                </a:lnTo>
                <a:lnTo>
                  <a:pt x="548531" y="97345"/>
                </a:lnTo>
                <a:lnTo>
                  <a:pt x="592251" y="121274"/>
                </a:lnTo>
                <a:lnTo>
                  <a:pt x="632545" y="147111"/>
                </a:lnTo>
                <a:lnTo>
                  <a:pt x="669197" y="174745"/>
                </a:lnTo>
                <a:lnTo>
                  <a:pt x="701989" y="204066"/>
                </a:lnTo>
                <a:lnTo>
                  <a:pt x="730703" y="234963"/>
                </a:lnTo>
                <a:lnTo>
                  <a:pt x="755120" y="267328"/>
                </a:lnTo>
                <a:close/>
              </a:path>
            </a:pathLst>
          </a:custGeom>
          <a:ln w="27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61105" y="4020674"/>
            <a:ext cx="115344" cy="108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22472" y="3807557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464710" y="0"/>
                </a:moveTo>
                <a:lnTo>
                  <a:pt x="0" y="0"/>
                </a:lnTo>
                <a:lnTo>
                  <a:pt x="0" y="534605"/>
                </a:lnTo>
                <a:lnTo>
                  <a:pt x="464710" y="534605"/>
                </a:lnTo>
                <a:lnTo>
                  <a:pt x="511811" y="531107"/>
                </a:lnTo>
                <a:lnTo>
                  <a:pt x="556494" y="520977"/>
                </a:lnTo>
                <a:lnTo>
                  <a:pt x="598161" y="504768"/>
                </a:lnTo>
                <a:lnTo>
                  <a:pt x="636213" y="483029"/>
                </a:lnTo>
                <a:lnTo>
                  <a:pt x="670053" y="456312"/>
                </a:lnTo>
                <a:lnTo>
                  <a:pt x="699082" y="425165"/>
                </a:lnTo>
                <a:lnTo>
                  <a:pt x="722701" y="390140"/>
                </a:lnTo>
                <a:lnTo>
                  <a:pt x="740313" y="351788"/>
                </a:lnTo>
                <a:lnTo>
                  <a:pt x="751319" y="310659"/>
                </a:lnTo>
                <a:lnTo>
                  <a:pt x="755120" y="267302"/>
                </a:lnTo>
                <a:lnTo>
                  <a:pt x="751319" y="223943"/>
                </a:lnTo>
                <a:lnTo>
                  <a:pt x="740313" y="182812"/>
                </a:lnTo>
                <a:lnTo>
                  <a:pt x="722701" y="144459"/>
                </a:lnTo>
                <a:lnTo>
                  <a:pt x="699082" y="109435"/>
                </a:lnTo>
                <a:lnTo>
                  <a:pt x="670053" y="78289"/>
                </a:lnTo>
                <a:lnTo>
                  <a:pt x="636213" y="51572"/>
                </a:lnTo>
                <a:lnTo>
                  <a:pt x="598161" y="29834"/>
                </a:lnTo>
                <a:lnTo>
                  <a:pt x="556494" y="13626"/>
                </a:lnTo>
                <a:lnTo>
                  <a:pt x="511811" y="3498"/>
                </a:lnTo>
                <a:lnTo>
                  <a:pt x="4647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22472" y="3807557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464710" y="534605"/>
                </a:moveTo>
                <a:lnTo>
                  <a:pt x="0" y="534605"/>
                </a:lnTo>
                <a:lnTo>
                  <a:pt x="0" y="0"/>
                </a:lnTo>
                <a:lnTo>
                  <a:pt x="464710" y="0"/>
                </a:lnTo>
                <a:lnTo>
                  <a:pt x="511811" y="3498"/>
                </a:lnTo>
                <a:lnTo>
                  <a:pt x="556494" y="13626"/>
                </a:lnTo>
                <a:lnTo>
                  <a:pt x="598161" y="29834"/>
                </a:lnTo>
                <a:lnTo>
                  <a:pt x="636213" y="51572"/>
                </a:lnTo>
                <a:lnTo>
                  <a:pt x="670053" y="78289"/>
                </a:lnTo>
                <a:lnTo>
                  <a:pt x="699082" y="109435"/>
                </a:lnTo>
                <a:lnTo>
                  <a:pt x="722701" y="144459"/>
                </a:lnTo>
                <a:lnTo>
                  <a:pt x="740313" y="182812"/>
                </a:lnTo>
                <a:lnTo>
                  <a:pt x="751319" y="223943"/>
                </a:lnTo>
                <a:lnTo>
                  <a:pt x="755120" y="267302"/>
                </a:lnTo>
                <a:lnTo>
                  <a:pt x="751319" y="310659"/>
                </a:lnTo>
                <a:lnTo>
                  <a:pt x="740313" y="351788"/>
                </a:lnTo>
                <a:lnTo>
                  <a:pt x="722701" y="390140"/>
                </a:lnTo>
                <a:lnTo>
                  <a:pt x="699082" y="425165"/>
                </a:lnTo>
                <a:lnTo>
                  <a:pt x="670053" y="456312"/>
                </a:lnTo>
                <a:lnTo>
                  <a:pt x="636213" y="483029"/>
                </a:lnTo>
                <a:lnTo>
                  <a:pt x="598161" y="504768"/>
                </a:lnTo>
                <a:lnTo>
                  <a:pt x="556494" y="520977"/>
                </a:lnTo>
                <a:lnTo>
                  <a:pt x="511811" y="531107"/>
                </a:lnTo>
                <a:lnTo>
                  <a:pt x="464710" y="534605"/>
                </a:lnTo>
                <a:close/>
              </a:path>
            </a:pathLst>
          </a:custGeom>
          <a:ln w="27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55233" y="3495745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>
                <a:moveTo>
                  <a:pt x="0" y="0"/>
                </a:moveTo>
                <a:lnTo>
                  <a:pt x="58082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055233" y="3763048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>
                <a:moveTo>
                  <a:pt x="0" y="0"/>
                </a:moveTo>
                <a:lnTo>
                  <a:pt x="58082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636054" y="3629397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>
                <a:moveTo>
                  <a:pt x="580820" y="0"/>
                </a:moveTo>
                <a:lnTo>
                  <a:pt x="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258493" y="3362094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226481" y="0"/>
                </a:moveTo>
                <a:lnTo>
                  <a:pt x="0" y="0"/>
                </a:lnTo>
                <a:lnTo>
                  <a:pt x="29883" y="39527"/>
                </a:lnTo>
                <a:lnTo>
                  <a:pt x="54786" y="79848"/>
                </a:lnTo>
                <a:lnTo>
                  <a:pt x="74709" y="120818"/>
                </a:lnTo>
                <a:lnTo>
                  <a:pt x="89651" y="162294"/>
                </a:lnTo>
                <a:lnTo>
                  <a:pt x="99612" y="204132"/>
                </a:lnTo>
                <a:lnTo>
                  <a:pt x="104593" y="246187"/>
                </a:lnTo>
                <a:lnTo>
                  <a:pt x="104593" y="288315"/>
                </a:lnTo>
                <a:lnTo>
                  <a:pt x="99612" y="330373"/>
                </a:lnTo>
                <a:lnTo>
                  <a:pt x="89651" y="372217"/>
                </a:lnTo>
                <a:lnTo>
                  <a:pt x="74709" y="413702"/>
                </a:lnTo>
                <a:lnTo>
                  <a:pt x="54786" y="454685"/>
                </a:lnTo>
                <a:lnTo>
                  <a:pt x="29883" y="495021"/>
                </a:lnTo>
                <a:lnTo>
                  <a:pt x="0" y="534568"/>
                </a:lnTo>
                <a:lnTo>
                  <a:pt x="226481" y="534568"/>
                </a:lnTo>
                <a:lnTo>
                  <a:pt x="285978" y="524203"/>
                </a:lnTo>
                <a:lnTo>
                  <a:pt x="343368" y="511317"/>
                </a:lnTo>
                <a:lnTo>
                  <a:pt x="398443" y="496017"/>
                </a:lnTo>
                <a:lnTo>
                  <a:pt x="450990" y="478409"/>
                </a:lnTo>
                <a:lnTo>
                  <a:pt x="500799" y="458600"/>
                </a:lnTo>
                <a:lnTo>
                  <a:pt x="547660" y="436698"/>
                </a:lnTo>
                <a:lnTo>
                  <a:pt x="591363" y="412808"/>
                </a:lnTo>
                <a:lnTo>
                  <a:pt x="631695" y="387039"/>
                </a:lnTo>
                <a:lnTo>
                  <a:pt x="668448" y="359497"/>
                </a:lnTo>
                <a:lnTo>
                  <a:pt x="701410" y="330289"/>
                </a:lnTo>
                <a:lnTo>
                  <a:pt x="730371" y="299522"/>
                </a:lnTo>
                <a:lnTo>
                  <a:pt x="755120" y="267302"/>
                </a:lnTo>
                <a:lnTo>
                  <a:pt x="730703" y="234932"/>
                </a:lnTo>
                <a:lnTo>
                  <a:pt x="701989" y="204029"/>
                </a:lnTo>
                <a:lnTo>
                  <a:pt x="669197" y="174704"/>
                </a:lnTo>
                <a:lnTo>
                  <a:pt x="632545" y="147067"/>
                </a:lnTo>
                <a:lnTo>
                  <a:pt x="592251" y="121228"/>
                </a:lnTo>
                <a:lnTo>
                  <a:pt x="548531" y="97299"/>
                </a:lnTo>
                <a:lnTo>
                  <a:pt x="501604" y="75389"/>
                </a:lnTo>
                <a:lnTo>
                  <a:pt x="451688" y="55610"/>
                </a:lnTo>
                <a:lnTo>
                  <a:pt x="399000" y="38070"/>
                </a:lnTo>
                <a:lnTo>
                  <a:pt x="343757" y="22882"/>
                </a:lnTo>
                <a:lnTo>
                  <a:pt x="286179" y="10155"/>
                </a:lnTo>
                <a:lnTo>
                  <a:pt x="2264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58493" y="3362094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755120" y="267302"/>
                </a:moveTo>
                <a:lnTo>
                  <a:pt x="730371" y="299522"/>
                </a:lnTo>
                <a:lnTo>
                  <a:pt x="701410" y="330289"/>
                </a:lnTo>
                <a:lnTo>
                  <a:pt x="668448" y="359497"/>
                </a:lnTo>
                <a:lnTo>
                  <a:pt x="631695" y="387039"/>
                </a:lnTo>
                <a:lnTo>
                  <a:pt x="591363" y="412808"/>
                </a:lnTo>
                <a:lnTo>
                  <a:pt x="547660" y="436698"/>
                </a:lnTo>
                <a:lnTo>
                  <a:pt x="500799" y="458600"/>
                </a:lnTo>
                <a:lnTo>
                  <a:pt x="450990" y="478409"/>
                </a:lnTo>
                <a:lnTo>
                  <a:pt x="398443" y="496017"/>
                </a:lnTo>
                <a:lnTo>
                  <a:pt x="343368" y="511317"/>
                </a:lnTo>
                <a:lnTo>
                  <a:pt x="285978" y="524203"/>
                </a:lnTo>
                <a:lnTo>
                  <a:pt x="226481" y="534568"/>
                </a:lnTo>
                <a:lnTo>
                  <a:pt x="0" y="534568"/>
                </a:lnTo>
                <a:lnTo>
                  <a:pt x="29883" y="495021"/>
                </a:lnTo>
                <a:lnTo>
                  <a:pt x="54786" y="454685"/>
                </a:lnTo>
                <a:lnTo>
                  <a:pt x="74709" y="413702"/>
                </a:lnTo>
                <a:lnTo>
                  <a:pt x="89651" y="372217"/>
                </a:lnTo>
                <a:lnTo>
                  <a:pt x="99612" y="330373"/>
                </a:lnTo>
                <a:lnTo>
                  <a:pt x="104593" y="288315"/>
                </a:lnTo>
                <a:lnTo>
                  <a:pt x="104593" y="246187"/>
                </a:lnTo>
                <a:lnTo>
                  <a:pt x="99612" y="204132"/>
                </a:lnTo>
                <a:lnTo>
                  <a:pt x="89651" y="162294"/>
                </a:lnTo>
                <a:lnTo>
                  <a:pt x="74709" y="120818"/>
                </a:lnTo>
                <a:lnTo>
                  <a:pt x="54786" y="79848"/>
                </a:lnTo>
                <a:lnTo>
                  <a:pt x="29883" y="39527"/>
                </a:lnTo>
                <a:lnTo>
                  <a:pt x="0" y="0"/>
                </a:lnTo>
                <a:lnTo>
                  <a:pt x="226481" y="0"/>
                </a:lnTo>
                <a:lnTo>
                  <a:pt x="286179" y="10155"/>
                </a:lnTo>
                <a:lnTo>
                  <a:pt x="343757" y="22882"/>
                </a:lnTo>
                <a:lnTo>
                  <a:pt x="399000" y="38070"/>
                </a:lnTo>
                <a:lnTo>
                  <a:pt x="451688" y="55610"/>
                </a:lnTo>
                <a:lnTo>
                  <a:pt x="501604" y="75389"/>
                </a:lnTo>
                <a:lnTo>
                  <a:pt x="548531" y="97299"/>
                </a:lnTo>
                <a:lnTo>
                  <a:pt x="592251" y="121228"/>
                </a:lnTo>
                <a:lnTo>
                  <a:pt x="632545" y="147067"/>
                </a:lnTo>
                <a:lnTo>
                  <a:pt x="669197" y="174704"/>
                </a:lnTo>
                <a:lnTo>
                  <a:pt x="701989" y="204029"/>
                </a:lnTo>
                <a:lnTo>
                  <a:pt x="730703" y="234932"/>
                </a:lnTo>
                <a:lnTo>
                  <a:pt x="755120" y="267302"/>
                </a:lnTo>
                <a:close/>
              </a:path>
            </a:pathLst>
          </a:custGeom>
          <a:ln w="27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997126" y="3575123"/>
            <a:ext cx="115345" cy="10842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58493" y="3362094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464710" y="0"/>
                </a:moveTo>
                <a:lnTo>
                  <a:pt x="0" y="0"/>
                </a:lnTo>
                <a:lnTo>
                  <a:pt x="0" y="534568"/>
                </a:lnTo>
                <a:lnTo>
                  <a:pt x="464710" y="534568"/>
                </a:lnTo>
                <a:lnTo>
                  <a:pt x="511811" y="531069"/>
                </a:lnTo>
                <a:lnTo>
                  <a:pt x="556494" y="520940"/>
                </a:lnTo>
                <a:lnTo>
                  <a:pt x="598161" y="504731"/>
                </a:lnTo>
                <a:lnTo>
                  <a:pt x="636213" y="482994"/>
                </a:lnTo>
                <a:lnTo>
                  <a:pt x="670053" y="456279"/>
                </a:lnTo>
                <a:lnTo>
                  <a:pt x="699082" y="425135"/>
                </a:lnTo>
                <a:lnTo>
                  <a:pt x="722701" y="390116"/>
                </a:lnTo>
                <a:lnTo>
                  <a:pt x="740313" y="351770"/>
                </a:lnTo>
                <a:lnTo>
                  <a:pt x="751319" y="310648"/>
                </a:lnTo>
                <a:lnTo>
                  <a:pt x="755120" y="267302"/>
                </a:lnTo>
                <a:lnTo>
                  <a:pt x="751319" y="223949"/>
                </a:lnTo>
                <a:lnTo>
                  <a:pt x="740313" y="182822"/>
                </a:lnTo>
                <a:lnTo>
                  <a:pt x="722701" y="144470"/>
                </a:lnTo>
                <a:lnTo>
                  <a:pt x="699082" y="109445"/>
                </a:lnTo>
                <a:lnTo>
                  <a:pt x="670053" y="78298"/>
                </a:lnTo>
                <a:lnTo>
                  <a:pt x="636213" y="51579"/>
                </a:lnTo>
                <a:lnTo>
                  <a:pt x="598161" y="29839"/>
                </a:lnTo>
                <a:lnTo>
                  <a:pt x="556494" y="13629"/>
                </a:lnTo>
                <a:lnTo>
                  <a:pt x="511811" y="3499"/>
                </a:lnTo>
                <a:lnTo>
                  <a:pt x="4647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258493" y="3362094"/>
            <a:ext cx="755650" cy="534670"/>
          </a:xfrm>
          <a:custGeom>
            <a:avLst/>
            <a:gdLst/>
            <a:ahLst/>
            <a:cxnLst/>
            <a:rect l="l" t="t" r="r" b="b"/>
            <a:pathLst>
              <a:path w="755650" h="534670">
                <a:moveTo>
                  <a:pt x="464710" y="534568"/>
                </a:moveTo>
                <a:lnTo>
                  <a:pt x="0" y="534568"/>
                </a:lnTo>
                <a:lnTo>
                  <a:pt x="0" y="0"/>
                </a:lnTo>
                <a:lnTo>
                  <a:pt x="464710" y="0"/>
                </a:lnTo>
                <a:lnTo>
                  <a:pt x="511811" y="3499"/>
                </a:lnTo>
                <a:lnTo>
                  <a:pt x="556494" y="13629"/>
                </a:lnTo>
                <a:lnTo>
                  <a:pt x="598161" y="29839"/>
                </a:lnTo>
                <a:lnTo>
                  <a:pt x="636213" y="51579"/>
                </a:lnTo>
                <a:lnTo>
                  <a:pt x="670053" y="78298"/>
                </a:lnTo>
                <a:lnTo>
                  <a:pt x="699082" y="109445"/>
                </a:lnTo>
                <a:lnTo>
                  <a:pt x="722701" y="144470"/>
                </a:lnTo>
                <a:lnTo>
                  <a:pt x="740313" y="182822"/>
                </a:lnTo>
                <a:lnTo>
                  <a:pt x="751319" y="223949"/>
                </a:lnTo>
                <a:lnTo>
                  <a:pt x="755120" y="267302"/>
                </a:lnTo>
                <a:lnTo>
                  <a:pt x="751319" y="310648"/>
                </a:lnTo>
                <a:lnTo>
                  <a:pt x="740313" y="351770"/>
                </a:lnTo>
                <a:lnTo>
                  <a:pt x="722701" y="390116"/>
                </a:lnTo>
                <a:lnTo>
                  <a:pt x="699082" y="425135"/>
                </a:lnTo>
                <a:lnTo>
                  <a:pt x="670053" y="456279"/>
                </a:lnTo>
                <a:lnTo>
                  <a:pt x="636213" y="482994"/>
                </a:lnTo>
                <a:lnTo>
                  <a:pt x="598161" y="504732"/>
                </a:lnTo>
                <a:lnTo>
                  <a:pt x="556494" y="520940"/>
                </a:lnTo>
                <a:lnTo>
                  <a:pt x="511811" y="531069"/>
                </a:lnTo>
                <a:lnTo>
                  <a:pt x="464710" y="534568"/>
                </a:lnTo>
                <a:close/>
              </a:path>
            </a:pathLst>
          </a:custGeom>
          <a:ln w="27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442493" y="4350913"/>
            <a:ext cx="668020" cy="534670"/>
          </a:xfrm>
          <a:custGeom>
            <a:avLst/>
            <a:gdLst/>
            <a:ahLst/>
            <a:cxnLst/>
            <a:rect l="l" t="t" r="r" b="b"/>
            <a:pathLst>
              <a:path w="668020" h="534670">
                <a:moveTo>
                  <a:pt x="0" y="0"/>
                </a:moveTo>
                <a:lnTo>
                  <a:pt x="0" y="534605"/>
                </a:lnTo>
                <a:lnTo>
                  <a:pt x="580820" y="267302"/>
                </a:lnTo>
                <a:lnTo>
                  <a:pt x="0" y="0"/>
                </a:lnTo>
                <a:close/>
              </a:path>
              <a:path w="668020" h="534670">
                <a:moveTo>
                  <a:pt x="624395" y="227207"/>
                </a:moveTo>
                <a:lnTo>
                  <a:pt x="607386" y="230358"/>
                </a:lnTo>
                <a:lnTo>
                  <a:pt x="593540" y="238952"/>
                </a:lnTo>
                <a:lnTo>
                  <a:pt x="584228" y="251697"/>
                </a:lnTo>
                <a:lnTo>
                  <a:pt x="580820" y="267302"/>
                </a:lnTo>
                <a:lnTo>
                  <a:pt x="584228" y="282908"/>
                </a:lnTo>
                <a:lnTo>
                  <a:pt x="593541" y="295653"/>
                </a:lnTo>
                <a:lnTo>
                  <a:pt x="607386" y="304247"/>
                </a:lnTo>
                <a:lnTo>
                  <a:pt x="624395" y="307398"/>
                </a:lnTo>
                <a:lnTo>
                  <a:pt x="641325" y="304247"/>
                </a:lnTo>
                <a:lnTo>
                  <a:pt x="655130" y="295653"/>
                </a:lnTo>
                <a:lnTo>
                  <a:pt x="664427" y="282908"/>
                </a:lnTo>
                <a:lnTo>
                  <a:pt x="667833" y="267302"/>
                </a:lnTo>
                <a:lnTo>
                  <a:pt x="664427" y="251697"/>
                </a:lnTo>
                <a:lnTo>
                  <a:pt x="655130" y="238952"/>
                </a:lnTo>
                <a:lnTo>
                  <a:pt x="641325" y="230358"/>
                </a:lnTo>
                <a:lnTo>
                  <a:pt x="624395" y="2272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009146" y="4563955"/>
            <a:ext cx="115346" cy="1085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442493" y="4350913"/>
            <a:ext cx="581025" cy="534670"/>
          </a:xfrm>
          <a:custGeom>
            <a:avLst/>
            <a:gdLst/>
            <a:ahLst/>
            <a:cxnLst/>
            <a:rect l="l" t="t" r="r" b="b"/>
            <a:pathLst>
              <a:path w="581025" h="534670">
                <a:moveTo>
                  <a:pt x="0" y="0"/>
                </a:moveTo>
                <a:lnTo>
                  <a:pt x="580820" y="267302"/>
                </a:lnTo>
                <a:lnTo>
                  <a:pt x="0" y="534605"/>
                </a:lnTo>
                <a:lnTo>
                  <a:pt x="0" y="0"/>
                </a:lnTo>
                <a:close/>
              </a:path>
            </a:pathLst>
          </a:custGeom>
          <a:ln w="282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989520" y="3495745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387217" y="0"/>
                </a:moveTo>
                <a:lnTo>
                  <a:pt x="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989520" y="3763048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387217" y="0"/>
                </a:moveTo>
                <a:lnTo>
                  <a:pt x="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376738" y="3050156"/>
            <a:ext cx="1743075" cy="445770"/>
          </a:xfrm>
          <a:custGeom>
            <a:avLst/>
            <a:gdLst/>
            <a:ahLst/>
            <a:cxnLst/>
            <a:rect l="l" t="t" r="r" b="b"/>
            <a:pathLst>
              <a:path w="1743075" h="445770">
                <a:moveTo>
                  <a:pt x="1742474" y="0"/>
                </a:moveTo>
                <a:lnTo>
                  <a:pt x="0" y="0"/>
                </a:lnTo>
                <a:lnTo>
                  <a:pt x="0" y="445588"/>
                </a:lnTo>
              </a:path>
            </a:pathLst>
          </a:custGeom>
          <a:ln w="273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538392" y="3317459"/>
            <a:ext cx="581025" cy="222885"/>
          </a:xfrm>
          <a:custGeom>
            <a:avLst/>
            <a:gdLst/>
            <a:ahLst/>
            <a:cxnLst/>
            <a:rect l="l" t="t" r="r" b="b"/>
            <a:pathLst>
              <a:path w="581025" h="222885">
                <a:moveTo>
                  <a:pt x="580820" y="0"/>
                </a:moveTo>
                <a:lnTo>
                  <a:pt x="0" y="0"/>
                </a:lnTo>
                <a:lnTo>
                  <a:pt x="0" y="222794"/>
                </a:lnTo>
              </a:path>
            </a:pathLst>
          </a:custGeom>
          <a:ln w="274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538392" y="3540254"/>
            <a:ext cx="581025" cy="401320"/>
          </a:xfrm>
          <a:custGeom>
            <a:avLst/>
            <a:gdLst/>
            <a:ahLst/>
            <a:cxnLst/>
            <a:rect l="l" t="t" r="r" b="b"/>
            <a:pathLst>
              <a:path w="581025" h="401320">
                <a:moveTo>
                  <a:pt x="580820" y="400954"/>
                </a:moveTo>
                <a:lnTo>
                  <a:pt x="0" y="400954"/>
                </a:lnTo>
                <a:lnTo>
                  <a:pt x="0" y="0"/>
                </a:lnTo>
              </a:path>
            </a:pathLst>
          </a:custGeom>
          <a:ln w="279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280853" y="4074860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0" y="0"/>
                </a:moveTo>
                <a:lnTo>
                  <a:pt x="387122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280852" y="3183808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0" y="0"/>
                </a:moveTo>
                <a:lnTo>
                  <a:pt x="387122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376738" y="3763048"/>
            <a:ext cx="1743075" cy="445770"/>
          </a:xfrm>
          <a:custGeom>
            <a:avLst/>
            <a:gdLst/>
            <a:ahLst/>
            <a:cxnLst/>
            <a:rect l="l" t="t" r="r" b="b"/>
            <a:pathLst>
              <a:path w="1743075" h="445770">
                <a:moveTo>
                  <a:pt x="1742474" y="445463"/>
                </a:moveTo>
                <a:lnTo>
                  <a:pt x="0" y="445463"/>
                </a:lnTo>
                <a:lnTo>
                  <a:pt x="0" y="0"/>
                </a:lnTo>
              </a:path>
            </a:pathLst>
          </a:custGeom>
          <a:ln w="273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667975" y="3495745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387258" y="0"/>
                </a:moveTo>
                <a:lnTo>
                  <a:pt x="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667975" y="3763048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387258" y="0"/>
                </a:moveTo>
                <a:lnTo>
                  <a:pt x="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667975" y="3183808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311937"/>
                </a:moveTo>
                <a:lnTo>
                  <a:pt x="0" y="0"/>
                </a:lnTo>
              </a:path>
            </a:pathLst>
          </a:custGeom>
          <a:ln w="295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667975" y="3763048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0"/>
                </a:moveTo>
                <a:lnTo>
                  <a:pt x="0" y="311811"/>
                </a:lnTo>
              </a:path>
            </a:pathLst>
          </a:custGeom>
          <a:ln w="295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216874" y="3629397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30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738585" y="3336898"/>
            <a:ext cx="192405" cy="5994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320" marR="5080" indent="-7620">
              <a:lnSpc>
                <a:spcPts val="2250"/>
              </a:lnSpc>
              <a:spcBef>
                <a:spcPts val="195"/>
              </a:spcBef>
            </a:pPr>
            <a:r>
              <a:rPr sz="1900" i="1" spc="15" dirty="0">
                <a:latin typeface="华文楷体"/>
                <a:cs typeface="华文楷体"/>
              </a:rPr>
              <a:t>A  B</a:t>
            </a:r>
            <a:endParaRPr sz="1900">
              <a:latin typeface="华文楷体"/>
              <a:cs typeface="华文楷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416176" y="3443895"/>
            <a:ext cx="14351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15" dirty="0">
                <a:latin typeface="华文楷体"/>
                <a:cs typeface="华文楷体"/>
              </a:rPr>
              <a:t>S</a:t>
            </a:r>
            <a:endParaRPr sz="1900">
              <a:latin typeface="华文楷体"/>
              <a:cs typeface="华文楷体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435710" y="4432715"/>
            <a:ext cx="18161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20" dirty="0">
                <a:latin typeface="华文楷体"/>
                <a:cs typeface="华文楷体"/>
              </a:rPr>
              <a:t>C</a:t>
            </a:r>
            <a:endParaRPr sz="1900">
              <a:latin typeface="华文楷体"/>
              <a:cs typeface="华文楷体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538392" y="4618216"/>
            <a:ext cx="2904490" cy="0"/>
          </a:xfrm>
          <a:custGeom>
            <a:avLst/>
            <a:gdLst/>
            <a:ahLst/>
            <a:cxnLst/>
            <a:rect l="l" t="t" r="r" b="b"/>
            <a:pathLst>
              <a:path w="2904490">
                <a:moveTo>
                  <a:pt x="2904100" y="0"/>
                </a:moveTo>
                <a:lnTo>
                  <a:pt x="0" y="0"/>
                </a:lnTo>
              </a:path>
            </a:pathLst>
          </a:custGeom>
          <a:ln w="271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538392" y="3941208"/>
            <a:ext cx="0" cy="677545"/>
          </a:xfrm>
          <a:custGeom>
            <a:avLst/>
            <a:gdLst/>
            <a:ahLst/>
            <a:cxnLst/>
            <a:rect l="l" t="t" r="r" b="b"/>
            <a:pathLst>
              <a:path h="677545">
                <a:moveTo>
                  <a:pt x="0" y="0"/>
                </a:moveTo>
                <a:lnTo>
                  <a:pt x="0" y="677008"/>
                </a:lnTo>
              </a:path>
            </a:pathLst>
          </a:custGeom>
          <a:ln w="295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1231391" y="4169664"/>
            <a:ext cx="2647315" cy="585470"/>
          </a:xfrm>
          <a:prstGeom prst="rect">
            <a:avLst/>
          </a:prstGeom>
          <a:solidFill>
            <a:srgbClr val="FFBB57"/>
          </a:solidFill>
        </p:spPr>
        <p:txBody>
          <a:bodyPr vert="horz" wrap="square" lIns="0" tIns="196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5"/>
              </a:spcBef>
            </a:pP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写逻辑表达式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566987" y="5205176"/>
            <a:ext cx="523240" cy="0"/>
          </a:xfrm>
          <a:custGeom>
            <a:avLst/>
            <a:gdLst/>
            <a:ahLst/>
            <a:cxnLst/>
            <a:rect l="l" t="t" r="r" b="b"/>
            <a:pathLst>
              <a:path w="523239">
                <a:moveTo>
                  <a:pt x="0" y="0"/>
                </a:moveTo>
                <a:lnTo>
                  <a:pt x="522838" y="0"/>
                </a:lnTo>
              </a:path>
            </a:pathLst>
          </a:custGeom>
          <a:ln w="18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768531" y="5205177"/>
            <a:ext cx="523240" cy="0"/>
          </a:xfrm>
          <a:custGeom>
            <a:avLst/>
            <a:gdLst/>
            <a:ahLst/>
            <a:cxnLst/>
            <a:rect l="l" t="t" r="r" b="b"/>
            <a:pathLst>
              <a:path w="523239">
                <a:moveTo>
                  <a:pt x="0" y="0"/>
                </a:moveTo>
                <a:lnTo>
                  <a:pt x="522838" y="0"/>
                </a:lnTo>
              </a:path>
            </a:pathLst>
          </a:custGeom>
          <a:ln w="18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098023" y="5177744"/>
            <a:ext cx="251460" cy="0"/>
          </a:xfrm>
          <a:custGeom>
            <a:avLst/>
            <a:gdLst/>
            <a:ahLst/>
            <a:cxnLst/>
            <a:rect l="l" t="t" r="r" b="b"/>
            <a:pathLst>
              <a:path w="251459">
                <a:moveTo>
                  <a:pt x="0" y="0"/>
                </a:moveTo>
                <a:lnTo>
                  <a:pt x="250974" y="0"/>
                </a:lnTo>
              </a:path>
            </a:pathLst>
          </a:custGeom>
          <a:ln w="18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741163" y="5177744"/>
            <a:ext cx="251460" cy="0"/>
          </a:xfrm>
          <a:custGeom>
            <a:avLst/>
            <a:gdLst/>
            <a:ahLst/>
            <a:cxnLst/>
            <a:rect l="l" t="t" r="r" b="b"/>
            <a:pathLst>
              <a:path w="251459">
                <a:moveTo>
                  <a:pt x="0" y="0"/>
                </a:moveTo>
                <a:lnTo>
                  <a:pt x="250974" y="0"/>
                </a:lnTo>
              </a:path>
            </a:pathLst>
          </a:custGeom>
          <a:ln w="18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088824" y="5881489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>
                <a:moveTo>
                  <a:pt x="0" y="0"/>
                </a:moveTo>
                <a:lnTo>
                  <a:pt x="525997" y="0"/>
                </a:lnTo>
              </a:path>
            </a:pathLst>
          </a:custGeom>
          <a:ln w="188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088824" y="5810406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>
                <a:moveTo>
                  <a:pt x="0" y="0"/>
                </a:moveTo>
                <a:lnTo>
                  <a:pt x="525997" y="0"/>
                </a:lnTo>
              </a:path>
            </a:pathLst>
          </a:custGeom>
          <a:ln w="188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336481" y="5232475"/>
            <a:ext cx="523240" cy="0"/>
          </a:xfrm>
          <a:custGeom>
            <a:avLst/>
            <a:gdLst/>
            <a:ahLst/>
            <a:cxnLst/>
            <a:rect l="l" t="t" r="r" b="b"/>
            <a:pathLst>
              <a:path w="523239">
                <a:moveTo>
                  <a:pt x="0" y="0"/>
                </a:moveTo>
                <a:lnTo>
                  <a:pt x="523110" y="0"/>
                </a:lnTo>
              </a:path>
            </a:pathLst>
          </a:custGeom>
          <a:ln w="187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052256" y="5161665"/>
            <a:ext cx="807720" cy="0"/>
          </a:xfrm>
          <a:custGeom>
            <a:avLst/>
            <a:gdLst/>
            <a:ahLst/>
            <a:cxnLst/>
            <a:rect l="l" t="t" r="r" b="b"/>
            <a:pathLst>
              <a:path w="807719">
                <a:moveTo>
                  <a:pt x="0" y="0"/>
                </a:moveTo>
                <a:lnTo>
                  <a:pt x="807334" y="0"/>
                </a:lnTo>
              </a:path>
            </a:pathLst>
          </a:custGeom>
          <a:ln w="187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214667" y="5232475"/>
            <a:ext cx="523240" cy="0"/>
          </a:xfrm>
          <a:custGeom>
            <a:avLst/>
            <a:gdLst/>
            <a:ahLst/>
            <a:cxnLst/>
            <a:rect l="l" t="t" r="r" b="b"/>
            <a:pathLst>
              <a:path w="523239">
                <a:moveTo>
                  <a:pt x="0" y="0"/>
                </a:moveTo>
                <a:lnTo>
                  <a:pt x="523110" y="0"/>
                </a:lnTo>
              </a:path>
            </a:pathLst>
          </a:custGeom>
          <a:ln w="187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930443" y="5161665"/>
            <a:ext cx="807720" cy="0"/>
          </a:xfrm>
          <a:custGeom>
            <a:avLst/>
            <a:gdLst/>
            <a:ahLst/>
            <a:cxnLst/>
            <a:rect l="l" t="t" r="r" b="b"/>
            <a:pathLst>
              <a:path w="807720">
                <a:moveTo>
                  <a:pt x="0" y="0"/>
                </a:moveTo>
                <a:lnTo>
                  <a:pt x="807334" y="0"/>
                </a:lnTo>
              </a:path>
            </a:pathLst>
          </a:custGeom>
          <a:ln w="187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052256" y="5090825"/>
            <a:ext cx="1685925" cy="0"/>
          </a:xfrm>
          <a:custGeom>
            <a:avLst/>
            <a:gdLst/>
            <a:ahLst/>
            <a:cxnLst/>
            <a:rect l="l" t="t" r="r" b="b"/>
            <a:pathLst>
              <a:path w="1685925">
                <a:moveTo>
                  <a:pt x="0" y="0"/>
                </a:moveTo>
                <a:lnTo>
                  <a:pt x="1685521" y="0"/>
                </a:lnTo>
              </a:path>
            </a:pathLst>
          </a:custGeom>
          <a:ln w="187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1336659" y="4939155"/>
            <a:ext cx="8434070" cy="138239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895"/>
              </a:spcBef>
              <a:tabLst>
                <a:tab pos="2616200" algn="l"/>
                <a:tab pos="5149850" algn="l"/>
                <a:tab pos="7065645" algn="l"/>
              </a:tabLst>
            </a:pPr>
            <a:r>
              <a:rPr sz="4425" i="1" spc="225" baseline="-4708" dirty="0">
                <a:latin typeface="Times New Roman"/>
                <a:cs typeface="Times New Roman"/>
              </a:rPr>
              <a:t>S </a:t>
            </a:r>
            <a:r>
              <a:rPr sz="4425" spc="247" baseline="-4708" dirty="0">
                <a:latin typeface="Symbol"/>
                <a:cs typeface="Symbol"/>
              </a:rPr>
              <a:t></a:t>
            </a:r>
            <a:r>
              <a:rPr sz="4425" spc="592" baseline="-4708" dirty="0">
                <a:latin typeface="Times New Roman"/>
                <a:cs typeface="Times New Roman"/>
              </a:rPr>
              <a:t> </a:t>
            </a:r>
            <a:r>
              <a:rPr sz="4425" i="1" spc="397" baseline="-4708" dirty="0">
                <a:latin typeface="Times New Roman"/>
                <a:cs typeface="Times New Roman"/>
              </a:rPr>
              <a:t>AAB</a:t>
            </a:r>
            <a:r>
              <a:rPr sz="4425" i="1" spc="-284" baseline="-4708" dirty="0">
                <a:latin typeface="Times New Roman"/>
                <a:cs typeface="Times New Roman"/>
              </a:rPr>
              <a:t> </a:t>
            </a:r>
            <a:r>
              <a:rPr sz="4425" i="1" spc="472" baseline="-4708" dirty="0">
                <a:latin typeface="Times New Roman"/>
                <a:cs typeface="Times New Roman"/>
              </a:rPr>
              <a:t>BAB	</a:t>
            </a:r>
            <a:r>
              <a:rPr sz="2950" spc="155" dirty="0">
                <a:latin typeface="Symbol"/>
                <a:cs typeface="Symbol"/>
              </a:rPr>
              <a:t></a:t>
            </a:r>
            <a:r>
              <a:rPr sz="2950" spc="155" dirty="0">
                <a:latin typeface="Times New Roman"/>
                <a:cs typeface="Times New Roman"/>
              </a:rPr>
              <a:t> </a:t>
            </a:r>
            <a:r>
              <a:rPr sz="2950" i="1" spc="260" dirty="0">
                <a:latin typeface="Times New Roman"/>
                <a:cs typeface="Times New Roman"/>
              </a:rPr>
              <a:t>AAB</a:t>
            </a:r>
            <a:r>
              <a:rPr sz="2950" i="1" spc="10" dirty="0">
                <a:latin typeface="Times New Roman"/>
                <a:cs typeface="Times New Roman"/>
              </a:rPr>
              <a:t> </a:t>
            </a:r>
            <a:r>
              <a:rPr sz="2950" spc="155" dirty="0">
                <a:latin typeface="Symbol"/>
                <a:cs typeface="Symbol"/>
              </a:rPr>
              <a:t></a:t>
            </a:r>
            <a:r>
              <a:rPr sz="2950" spc="-25" dirty="0">
                <a:latin typeface="Times New Roman"/>
                <a:cs typeface="Times New Roman"/>
              </a:rPr>
              <a:t> </a:t>
            </a:r>
            <a:r>
              <a:rPr sz="2950" i="1" spc="310" dirty="0">
                <a:latin typeface="Times New Roman"/>
                <a:cs typeface="Times New Roman"/>
              </a:rPr>
              <a:t>BAB	</a:t>
            </a:r>
            <a:r>
              <a:rPr sz="4425" spc="232" baseline="3766" dirty="0">
                <a:latin typeface="Symbol"/>
                <a:cs typeface="Symbol"/>
              </a:rPr>
              <a:t></a:t>
            </a:r>
            <a:r>
              <a:rPr sz="4425" spc="232" baseline="3766" dirty="0">
                <a:latin typeface="Times New Roman"/>
                <a:cs typeface="Times New Roman"/>
              </a:rPr>
              <a:t> </a:t>
            </a:r>
            <a:r>
              <a:rPr sz="4425" i="1" spc="330" baseline="3766" dirty="0">
                <a:latin typeface="Times New Roman"/>
                <a:cs typeface="Times New Roman"/>
              </a:rPr>
              <a:t>AB</a:t>
            </a:r>
            <a:r>
              <a:rPr sz="4425" i="1" spc="-22" baseline="3766" dirty="0">
                <a:latin typeface="Times New Roman"/>
                <a:cs typeface="Times New Roman"/>
              </a:rPr>
              <a:t> </a:t>
            </a:r>
            <a:r>
              <a:rPr sz="4425" spc="232" baseline="3766" dirty="0">
                <a:latin typeface="Symbol"/>
                <a:cs typeface="Symbol"/>
              </a:rPr>
              <a:t></a:t>
            </a:r>
            <a:r>
              <a:rPr sz="4425" spc="165" baseline="3766" dirty="0">
                <a:latin typeface="Times New Roman"/>
                <a:cs typeface="Times New Roman"/>
              </a:rPr>
              <a:t> </a:t>
            </a:r>
            <a:r>
              <a:rPr sz="4425" i="1" spc="142" baseline="3766" dirty="0">
                <a:latin typeface="Times New Roman"/>
                <a:cs typeface="Times New Roman"/>
              </a:rPr>
              <a:t>AB	</a:t>
            </a:r>
            <a:r>
              <a:rPr sz="4425" spc="209" baseline="12241" dirty="0">
                <a:latin typeface="Symbol"/>
                <a:cs typeface="Symbol"/>
              </a:rPr>
              <a:t></a:t>
            </a:r>
            <a:r>
              <a:rPr sz="4425" spc="209" baseline="12241" dirty="0">
                <a:latin typeface="Times New Roman"/>
                <a:cs typeface="Times New Roman"/>
              </a:rPr>
              <a:t> </a:t>
            </a:r>
            <a:r>
              <a:rPr sz="4425" i="1" spc="240" baseline="12241" dirty="0">
                <a:latin typeface="Times New Roman"/>
                <a:cs typeface="Times New Roman"/>
              </a:rPr>
              <a:t>A </a:t>
            </a:r>
            <a:r>
              <a:rPr sz="4425" spc="300" baseline="12241" dirty="0">
                <a:latin typeface="Symbol"/>
                <a:cs typeface="Symbol"/>
              </a:rPr>
              <a:t></a:t>
            </a:r>
            <a:r>
              <a:rPr sz="4425" spc="-585" baseline="12241" dirty="0">
                <a:latin typeface="Times New Roman"/>
                <a:cs typeface="Times New Roman"/>
              </a:rPr>
              <a:t> </a:t>
            </a:r>
            <a:r>
              <a:rPr sz="4425" i="1" spc="240" baseline="12241" dirty="0">
                <a:latin typeface="Times New Roman"/>
                <a:cs typeface="Times New Roman"/>
              </a:rPr>
              <a:t>B</a:t>
            </a:r>
            <a:endParaRPr sz="4425" baseline="12241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800"/>
              </a:spcBef>
              <a:tabLst>
                <a:tab pos="1482725" algn="l"/>
              </a:tabLst>
            </a:pPr>
            <a:r>
              <a:rPr sz="2950" i="1" spc="190" dirty="0">
                <a:latin typeface="Times New Roman"/>
                <a:cs typeface="Times New Roman"/>
              </a:rPr>
              <a:t>C</a:t>
            </a:r>
            <a:r>
              <a:rPr sz="2950" i="1" spc="215" dirty="0">
                <a:latin typeface="Times New Roman"/>
                <a:cs typeface="Times New Roman"/>
              </a:rPr>
              <a:t> </a:t>
            </a:r>
            <a:r>
              <a:rPr sz="2950" spc="155" dirty="0">
                <a:latin typeface="Symbol"/>
                <a:cs typeface="Symbol"/>
              </a:rPr>
              <a:t></a:t>
            </a:r>
            <a:r>
              <a:rPr sz="2950" spc="300" dirty="0">
                <a:latin typeface="Times New Roman"/>
                <a:cs typeface="Times New Roman"/>
              </a:rPr>
              <a:t> </a:t>
            </a:r>
            <a:r>
              <a:rPr sz="2950" i="1" spc="175" dirty="0">
                <a:latin typeface="Times New Roman"/>
                <a:cs typeface="Times New Roman"/>
              </a:rPr>
              <a:t>AB	</a:t>
            </a:r>
            <a:r>
              <a:rPr sz="4350" spc="247" baseline="1915" dirty="0">
                <a:latin typeface="Symbol"/>
                <a:cs typeface="Symbol"/>
              </a:rPr>
              <a:t></a:t>
            </a:r>
            <a:r>
              <a:rPr sz="4350" spc="472" baseline="1915" dirty="0">
                <a:latin typeface="Times New Roman"/>
                <a:cs typeface="Times New Roman"/>
              </a:rPr>
              <a:t> </a:t>
            </a:r>
            <a:r>
              <a:rPr sz="4350" i="1" spc="315" baseline="1915" dirty="0">
                <a:latin typeface="Times New Roman"/>
                <a:cs typeface="Times New Roman"/>
              </a:rPr>
              <a:t>AB</a:t>
            </a:r>
            <a:endParaRPr sz="4350" baseline="1915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141206" y="6472929"/>
            <a:ext cx="21717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10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43915" cy="0"/>
          </a:xfrm>
          <a:custGeom>
            <a:avLst/>
            <a:gdLst/>
            <a:ahLst/>
            <a:cxnLst/>
            <a:rect l="l" t="t" r="r" b="b"/>
            <a:pathLst>
              <a:path w="843915">
                <a:moveTo>
                  <a:pt x="0" y="0"/>
                </a:moveTo>
                <a:lnTo>
                  <a:pt x="843534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45046" y="63772"/>
            <a:ext cx="71374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5"/>
              </a:lnSpc>
            </a:pPr>
            <a:r>
              <a:rPr sz="2800" b="1" dirty="0">
                <a:solidFill>
                  <a:srgbClr val="FFFFFF"/>
                </a:solidFill>
                <a:latin typeface="华文楷体"/>
                <a:cs typeface="华文楷体"/>
              </a:rPr>
              <a:t>输入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13750" y="63772"/>
            <a:ext cx="71374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5"/>
              </a:lnSpc>
            </a:pPr>
            <a:r>
              <a:rPr sz="2800" b="1" dirty="0">
                <a:solidFill>
                  <a:srgbClr val="FFFFFF"/>
                </a:solidFill>
                <a:latin typeface="华文楷体"/>
                <a:cs typeface="华文楷体"/>
              </a:rPr>
              <a:t>输出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66409" y="630865"/>
            <a:ext cx="236854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i="1" spc="-5" dirty="0"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0951" y="630865"/>
            <a:ext cx="236854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i="1" spc="-5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4923" y="630865"/>
            <a:ext cx="19748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i="1" spc="-5" dirty="0"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654" y="630865"/>
            <a:ext cx="236854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i="1" spc="-5" dirty="0"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5365" y="1148754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29906" y="1148754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95365" y="1667566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29906" y="1667566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95365" y="2185726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29906" y="2185726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95365" y="2704140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9906" y="2704140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3159251" y="21335"/>
          <a:ext cx="6638288" cy="325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3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5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7E4D00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输入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9685" marB="0">
                    <a:lnL w="53975">
                      <a:solidFill>
                        <a:srgbClr val="7E4D00"/>
                      </a:solidFill>
                      <a:prstDash val="solid"/>
                    </a:lnL>
                    <a:lnR w="19050">
                      <a:solidFill>
                        <a:srgbClr val="7E4D00"/>
                      </a:solidFill>
                      <a:prstDash val="solid"/>
                    </a:lnR>
                    <a:lnT w="539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75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输出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9685" marB="0">
                    <a:lnL w="19050">
                      <a:solidFill>
                        <a:srgbClr val="7E4D00"/>
                      </a:solidFill>
                      <a:prstDash val="solid"/>
                    </a:lnL>
                    <a:lnR w="53975">
                      <a:solidFill>
                        <a:srgbClr val="7E4D00"/>
                      </a:solidFill>
                      <a:prstDash val="solid"/>
                    </a:lnR>
                    <a:lnT w="539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4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7E4D00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53975">
                      <a:solidFill>
                        <a:srgbClr val="7E4D00"/>
                      </a:solidFill>
                      <a:prstDash val="solid"/>
                    </a:lnL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7E4D00"/>
                      </a:solidFill>
                      <a:prstDash val="solid"/>
                    </a:lnL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R="1663064" indent="55880">
                        <a:lnSpc>
                          <a:spcPct val="111100"/>
                        </a:lnSpc>
                        <a:spcBef>
                          <a:spcPts val="1750"/>
                        </a:spcBef>
                      </a:pPr>
                      <a:r>
                        <a:rPr sz="3500" spc="285" dirty="0">
                          <a:latin typeface="Symbol"/>
                          <a:cs typeface="Symbol"/>
                        </a:rPr>
                        <a:t></a:t>
                      </a:r>
                      <a:r>
                        <a:rPr sz="3500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500" i="1" spc="225" dirty="0">
                          <a:latin typeface="Times New Roman"/>
                          <a:cs typeface="Times New Roman"/>
                        </a:rPr>
                        <a:t>B  </a:t>
                      </a:r>
                      <a:r>
                        <a:rPr sz="3500" i="1" spc="200" dirty="0">
                          <a:latin typeface="Times New Roman"/>
                          <a:cs typeface="Times New Roman"/>
                        </a:rPr>
                        <a:t>B</a:t>
                      </a:r>
                      <a:endParaRPr sz="3500">
                        <a:latin typeface="Times New Roman"/>
                        <a:cs typeface="Times New Roman"/>
                      </a:endParaRPr>
                    </a:p>
                  </a:txBody>
                  <a:tcPr marL="0" marR="0" marT="22225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5560" marB="0">
                    <a:lnL w="53975">
                      <a:solidFill>
                        <a:srgbClr val="7E4D00"/>
                      </a:solidFill>
                      <a:prstDash val="solid"/>
                    </a:lnL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5560" marB="0">
                    <a:lnR w="19050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5560" marB="0">
                    <a:lnL w="19050">
                      <a:solidFill>
                        <a:srgbClr val="7E4D00"/>
                      </a:solidFill>
                      <a:prstDash val="solid"/>
                    </a:lnL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556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38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53975">
                      <a:solidFill>
                        <a:srgbClr val="7E4D00"/>
                      </a:solidFill>
                      <a:prstDash val="solid"/>
                    </a:lnL>
                    <a:lnT w="28575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41148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7E4D00"/>
                      </a:solidFill>
                      <a:prstDash val="solid"/>
                    </a:lnL>
                    <a:lnT w="28575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4114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53975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4114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53975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93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2225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7E4D00"/>
                      </a:solidFill>
                      <a:prstDash val="solid"/>
                    </a:lnL>
                    <a:lnB w="539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7E4D00"/>
                      </a:solidFill>
                      <a:prstDash val="solid"/>
                    </a:lnR>
                    <a:lnB w="539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41148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7E4D00"/>
                      </a:solidFill>
                      <a:prstDash val="solid"/>
                    </a:lnL>
                    <a:lnB w="539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53975">
                      <a:solidFill>
                        <a:srgbClr val="7E4D00"/>
                      </a:solidFill>
                      <a:prstDash val="solid"/>
                    </a:lnR>
                    <a:lnB w="539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1333500" y="592836"/>
            <a:ext cx="1826260" cy="585470"/>
          </a:xfrm>
          <a:prstGeom prst="rect">
            <a:avLst/>
          </a:prstGeom>
          <a:solidFill>
            <a:srgbClr val="FFBB57"/>
          </a:solidFill>
        </p:spPr>
        <p:txBody>
          <a:bodyPr vert="horz" wrap="square" lIns="0" tIns="190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0"/>
              </a:spcBef>
            </a:pP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列真值表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943030" y="1192376"/>
            <a:ext cx="1223010" cy="121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1120">
              <a:lnSpc>
                <a:spcPct val="111100"/>
              </a:lnSpc>
              <a:spcBef>
                <a:spcPts val="95"/>
              </a:spcBef>
            </a:pPr>
            <a:r>
              <a:rPr sz="3500" i="1" spc="185" dirty="0">
                <a:solidFill>
                  <a:srgbClr val="000000"/>
                </a:solidFill>
                <a:latin typeface="Times New Roman"/>
                <a:cs typeface="Times New Roman"/>
              </a:rPr>
              <a:t>S </a:t>
            </a:r>
            <a:r>
              <a:rPr sz="3500" spc="200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3500" spc="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500" i="1" spc="225" dirty="0">
                <a:solidFill>
                  <a:srgbClr val="000000"/>
                </a:solidFill>
                <a:latin typeface="Times New Roman"/>
                <a:cs typeface="Times New Roman"/>
              </a:rPr>
              <a:t>A  </a:t>
            </a:r>
            <a:r>
              <a:rPr sz="3500" i="1" spc="220" dirty="0">
                <a:solidFill>
                  <a:srgbClr val="000000"/>
                </a:solidFill>
                <a:latin typeface="Times New Roman"/>
                <a:cs typeface="Times New Roman"/>
              </a:rPr>
              <a:t>C </a:t>
            </a:r>
            <a:r>
              <a:rPr sz="3500" spc="180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3500" spc="3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500" i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19225" y="3297487"/>
            <a:ext cx="8077834" cy="125793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60"/>
              </a:spcBef>
            </a:pPr>
            <a:r>
              <a:rPr sz="1800" spc="20" dirty="0">
                <a:solidFill>
                  <a:srgbClr val="7E4D00"/>
                </a:solidFill>
                <a:latin typeface="华文楷体"/>
                <a:cs typeface="华文楷体"/>
              </a:rPr>
              <a:t>两个</a:t>
            </a:r>
            <a:r>
              <a:rPr sz="1800" spc="15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1800" spc="20" dirty="0">
                <a:solidFill>
                  <a:srgbClr val="7E4D00"/>
                </a:solidFill>
                <a:latin typeface="华文楷体"/>
                <a:cs typeface="华文楷体"/>
              </a:rPr>
              <a:t>位二进</a:t>
            </a:r>
            <a:r>
              <a:rPr sz="1800" spc="30" dirty="0">
                <a:solidFill>
                  <a:srgbClr val="7E4D00"/>
                </a:solidFill>
                <a:latin typeface="华文楷体"/>
                <a:cs typeface="华文楷体"/>
              </a:rPr>
              <a:t>制</a:t>
            </a:r>
            <a:r>
              <a:rPr sz="1800" spc="20" dirty="0">
                <a:solidFill>
                  <a:srgbClr val="7E4D00"/>
                </a:solidFill>
                <a:latin typeface="华文楷体"/>
                <a:cs typeface="华文楷体"/>
              </a:rPr>
              <a:t>数相</a:t>
            </a:r>
            <a:r>
              <a:rPr sz="1800" spc="40" dirty="0">
                <a:solidFill>
                  <a:srgbClr val="7E4D00"/>
                </a:solidFill>
                <a:latin typeface="华文楷体"/>
                <a:cs typeface="华文楷体"/>
              </a:rPr>
              <a:t>加</a:t>
            </a:r>
            <a:r>
              <a:rPr sz="1800" spc="20" dirty="0">
                <a:solidFill>
                  <a:srgbClr val="7E4D00"/>
                </a:solidFill>
                <a:latin typeface="华文楷体"/>
                <a:cs typeface="华文楷体"/>
              </a:rPr>
              <a:t>，其当</a:t>
            </a:r>
            <a:r>
              <a:rPr sz="1900" i="1" spc="-55" dirty="0">
                <a:solidFill>
                  <a:srgbClr val="7E4D00"/>
                </a:solidFill>
                <a:latin typeface="华文楷体"/>
                <a:cs typeface="华文楷体"/>
              </a:rPr>
              <a:t>A</a:t>
            </a:r>
            <a:r>
              <a:rPr sz="1800" spc="25" dirty="0">
                <a:solidFill>
                  <a:srgbClr val="7E4D00"/>
                </a:solidFill>
                <a:latin typeface="华文楷体"/>
                <a:cs typeface="华文楷体"/>
              </a:rPr>
              <a:t>和</a:t>
            </a:r>
            <a:r>
              <a:rPr sz="1900" i="1" spc="-45" dirty="0">
                <a:solidFill>
                  <a:srgbClr val="7E4D00"/>
                </a:solidFill>
                <a:latin typeface="华文楷体"/>
                <a:cs typeface="华文楷体"/>
              </a:rPr>
              <a:t>B</a:t>
            </a:r>
            <a:r>
              <a:rPr sz="1800" spc="20" dirty="0">
                <a:solidFill>
                  <a:srgbClr val="7E4D00"/>
                </a:solidFill>
                <a:latin typeface="华文楷体"/>
                <a:cs typeface="华文楷体"/>
              </a:rPr>
              <a:t>相加时，</a:t>
            </a:r>
            <a:r>
              <a:rPr sz="1800" spc="30" dirty="0">
                <a:solidFill>
                  <a:srgbClr val="7E4D00"/>
                </a:solidFill>
                <a:latin typeface="华文楷体"/>
                <a:cs typeface="华文楷体"/>
              </a:rPr>
              <a:t>因</a:t>
            </a:r>
            <a:r>
              <a:rPr sz="1800" spc="20" dirty="0">
                <a:solidFill>
                  <a:srgbClr val="7E4D00"/>
                </a:solidFill>
                <a:latin typeface="华文楷体"/>
                <a:cs typeface="华文楷体"/>
              </a:rPr>
              <a:t>没有低位进</a:t>
            </a:r>
            <a:r>
              <a:rPr sz="1800" spc="35" dirty="0">
                <a:solidFill>
                  <a:srgbClr val="7E4D00"/>
                </a:solidFill>
                <a:latin typeface="华文楷体"/>
                <a:cs typeface="华文楷体"/>
              </a:rPr>
              <a:t>位</a:t>
            </a:r>
            <a:r>
              <a:rPr sz="1800" spc="20" dirty="0">
                <a:solidFill>
                  <a:srgbClr val="7E4D00"/>
                </a:solidFill>
                <a:latin typeface="华文楷体"/>
                <a:cs typeface="华文楷体"/>
              </a:rPr>
              <a:t>，只考虑本位和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900" i="1" spc="-50" dirty="0">
                <a:solidFill>
                  <a:srgbClr val="7E4D00"/>
                </a:solidFill>
                <a:latin typeface="华文楷体"/>
                <a:cs typeface="华文楷体"/>
              </a:rPr>
              <a:t>S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和进位</a:t>
            </a:r>
            <a:r>
              <a:rPr sz="1900" i="1" spc="-70" dirty="0">
                <a:solidFill>
                  <a:srgbClr val="7E4D00"/>
                </a:solidFill>
                <a:latin typeface="华文楷体"/>
                <a:cs typeface="华文楷体"/>
              </a:rPr>
              <a:t>C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18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1060"/>
              </a:spcBef>
            </a:pPr>
            <a:r>
              <a:rPr sz="1800" spc="-5" dirty="0">
                <a:solidFill>
                  <a:srgbClr val="7E4D00"/>
                </a:solidFill>
                <a:latin typeface="华文楷体"/>
                <a:cs typeface="华文楷体"/>
              </a:rPr>
              <a:t>这种加法运算称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为</a:t>
            </a:r>
            <a:r>
              <a:rPr sz="1800" spc="-5" dirty="0">
                <a:solidFill>
                  <a:srgbClr val="7E4D00"/>
                </a:solidFill>
                <a:latin typeface="华文楷体"/>
                <a:cs typeface="华文楷体"/>
              </a:rPr>
              <a:t>“</a:t>
            </a:r>
            <a:r>
              <a:rPr sz="1800" spc="-5" dirty="0">
                <a:solidFill>
                  <a:srgbClr val="FF0000"/>
                </a:solidFill>
                <a:latin typeface="华文楷体"/>
                <a:cs typeface="华文楷体"/>
              </a:rPr>
              <a:t>半加</a:t>
            </a:r>
            <a:r>
              <a:rPr sz="1800" spc="-5" dirty="0">
                <a:solidFill>
                  <a:srgbClr val="7E4D00"/>
                </a:solidFill>
                <a:latin typeface="华文楷体"/>
                <a:cs typeface="华文楷体"/>
              </a:rPr>
              <a:t>”运算，实现半加运算的电路称为“</a:t>
            </a:r>
            <a:r>
              <a:rPr sz="1800" spc="-5" dirty="0">
                <a:solidFill>
                  <a:srgbClr val="FF0000"/>
                </a:solidFill>
                <a:latin typeface="华文楷体"/>
                <a:cs typeface="华文楷体"/>
              </a:rPr>
              <a:t>半加器</a:t>
            </a:r>
            <a:r>
              <a:rPr sz="1800" spc="-5" dirty="0">
                <a:solidFill>
                  <a:srgbClr val="7E4D00"/>
                </a:solidFill>
                <a:latin typeface="华文楷体"/>
                <a:cs typeface="华文楷体"/>
              </a:rPr>
              <a:t>”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26463" y="2708148"/>
            <a:ext cx="1826260" cy="585470"/>
          </a:xfrm>
          <a:custGeom>
            <a:avLst/>
            <a:gdLst/>
            <a:ahLst/>
            <a:cxnLst/>
            <a:rect l="l" t="t" r="r" b="b"/>
            <a:pathLst>
              <a:path w="1826260" h="585470">
                <a:moveTo>
                  <a:pt x="0" y="585215"/>
                </a:moveTo>
                <a:lnTo>
                  <a:pt x="1825752" y="585215"/>
                </a:lnTo>
                <a:lnTo>
                  <a:pt x="1825752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solidFill>
            <a:srgbClr val="FFBB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504950" y="2714320"/>
            <a:ext cx="165353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分析功能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1206" y="6472929"/>
            <a:ext cx="21717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040" y="1211072"/>
            <a:ext cx="32245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半加器逻辑符号如图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4040" y="2822193"/>
            <a:ext cx="3935095" cy="2061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两个二进制数相加时，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ct val="188600"/>
              </a:lnSpc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还需要考虑低位的进位， 称为</a:t>
            </a:r>
            <a:r>
              <a:rPr sz="2800" spc="-15" dirty="0">
                <a:solidFill>
                  <a:srgbClr val="7E4D00"/>
                </a:solidFill>
                <a:latin typeface="华文楷体"/>
                <a:cs typeface="华文楷体"/>
              </a:rPr>
              <a:t>“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全加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”运算。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87090" y="1249815"/>
            <a:ext cx="1161415" cy="1602740"/>
          </a:xfrm>
          <a:custGeom>
            <a:avLst/>
            <a:gdLst/>
            <a:ahLst/>
            <a:cxnLst/>
            <a:rect l="l" t="t" r="r" b="b"/>
            <a:pathLst>
              <a:path w="1161415" h="1602739">
                <a:moveTo>
                  <a:pt x="0" y="1602724"/>
                </a:moveTo>
                <a:lnTo>
                  <a:pt x="1160816" y="1602724"/>
                </a:lnTo>
                <a:lnTo>
                  <a:pt x="1160816" y="0"/>
                </a:lnTo>
                <a:lnTo>
                  <a:pt x="0" y="0"/>
                </a:lnTo>
                <a:lnTo>
                  <a:pt x="0" y="1602724"/>
                </a:lnTo>
                <a:close/>
              </a:path>
            </a:pathLst>
          </a:custGeom>
          <a:ln w="286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247947" y="1605938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0" y="0"/>
                </a:moveTo>
                <a:lnTo>
                  <a:pt x="386852" y="0"/>
                </a:lnTo>
              </a:path>
            </a:pathLst>
          </a:custGeom>
          <a:ln w="271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47948" y="2496382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0" y="0"/>
                </a:moveTo>
                <a:lnTo>
                  <a:pt x="386852" y="0"/>
                </a:lnTo>
              </a:path>
            </a:pathLst>
          </a:custGeom>
          <a:ln w="271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00142" y="1605938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386947" y="0"/>
                </a:moveTo>
                <a:lnTo>
                  <a:pt x="0" y="0"/>
                </a:lnTo>
              </a:path>
            </a:pathLst>
          </a:custGeom>
          <a:ln w="271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00142" y="2496382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386947" y="0"/>
                </a:moveTo>
                <a:lnTo>
                  <a:pt x="0" y="0"/>
                </a:lnTo>
              </a:path>
            </a:pathLst>
          </a:custGeom>
          <a:ln w="271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34551" y="1363047"/>
            <a:ext cx="247650" cy="410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0" i="1" spc="50" dirty="0">
                <a:latin typeface="华文楷体"/>
                <a:cs typeface="华文楷体"/>
              </a:rPr>
              <a:t>A</a:t>
            </a:r>
            <a:endParaRPr sz="25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4707" y="2262349"/>
            <a:ext cx="227329" cy="410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0" i="1" spc="45" dirty="0">
                <a:latin typeface="华文楷体"/>
                <a:cs typeface="华文楷体"/>
              </a:rPr>
              <a:t>B</a:t>
            </a:r>
            <a:endParaRPr sz="25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85359" y="1363047"/>
            <a:ext cx="182880" cy="410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0" i="1" spc="35" dirty="0">
                <a:latin typeface="华文楷体"/>
                <a:cs typeface="华文楷体"/>
              </a:rPr>
              <a:t>S</a:t>
            </a:r>
            <a:endParaRPr sz="25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59832" y="2253441"/>
            <a:ext cx="233679" cy="410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0" i="1" spc="50" dirty="0">
                <a:latin typeface="华文楷体"/>
                <a:cs typeface="华文楷体"/>
              </a:rPr>
              <a:t>C</a:t>
            </a:r>
            <a:endParaRPr sz="25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46216" y="2334278"/>
            <a:ext cx="36131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750" spc="130" dirty="0">
                <a:latin typeface="华文楷体"/>
                <a:cs typeface="华文楷体"/>
              </a:rPr>
              <a:t>CO</a:t>
            </a:r>
            <a:endParaRPr sz="175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50562" y="1195821"/>
            <a:ext cx="27495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2950" spc="175" dirty="0">
                <a:latin typeface="华文楷体"/>
                <a:cs typeface="华文楷体"/>
              </a:rPr>
              <a:t>Σ</a:t>
            </a:r>
            <a:endParaRPr sz="295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163027" y="4046697"/>
            <a:ext cx="1160780" cy="1617345"/>
          </a:xfrm>
          <a:custGeom>
            <a:avLst/>
            <a:gdLst/>
            <a:ahLst/>
            <a:cxnLst/>
            <a:rect l="l" t="t" r="r" b="b"/>
            <a:pathLst>
              <a:path w="1160779" h="1617345">
                <a:moveTo>
                  <a:pt x="0" y="1617166"/>
                </a:moveTo>
                <a:lnTo>
                  <a:pt x="1160329" y="1617166"/>
                </a:lnTo>
                <a:lnTo>
                  <a:pt x="1160328" y="0"/>
                </a:lnTo>
                <a:lnTo>
                  <a:pt x="0" y="0"/>
                </a:lnTo>
                <a:lnTo>
                  <a:pt x="0" y="1617166"/>
                </a:lnTo>
                <a:close/>
              </a:path>
            </a:pathLst>
          </a:custGeom>
          <a:ln w="28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323383" y="4406028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0" y="0"/>
                </a:moveTo>
                <a:lnTo>
                  <a:pt x="386826" y="0"/>
                </a:lnTo>
              </a:path>
            </a:pathLst>
          </a:custGeom>
          <a:ln w="27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23383" y="5304496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0" y="0"/>
                </a:moveTo>
                <a:lnTo>
                  <a:pt x="386826" y="0"/>
                </a:lnTo>
              </a:path>
            </a:pathLst>
          </a:custGeom>
          <a:ln w="27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776256" y="4406028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386771" y="0"/>
                </a:moveTo>
                <a:lnTo>
                  <a:pt x="0" y="0"/>
                </a:lnTo>
              </a:path>
            </a:pathLst>
          </a:custGeom>
          <a:ln w="27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76256" y="5304496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386771" y="0"/>
                </a:moveTo>
                <a:lnTo>
                  <a:pt x="0" y="0"/>
                </a:lnTo>
              </a:path>
            </a:pathLst>
          </a:custGeom>
          <a:ln w="27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8640" y="5238394"/>
            <a:ext cx="62471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实现全加运算的电路称为</a:t>
            </a:r>
            <a:r>
              <a:rPr sz="2800" spc="-30" dirty="0">
                <a:solidFill>
                  <a:srgbClr val="7E4D00"/>
                </a:solidFill>
                <a:latin typeface="华文楷体"/>
                <a:cs typeface="华文楷体"/>
              </a:rPr>
              <a:t>“</a:t>
            </a:r>
            <a:r>
              <a:rPr sz="2800" spc="-5" dirty="0">
                <a:solidFill>
                  <a:srgbClr val="FF0000"/>
                </a:solidFill>
                <a:latin typeface="华文楷体"/>
                <a:cs typeface="华文楷体"/>
              </a:rPr>
              <a:t>全加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器</a:t>
            </a:r>
            <a:r>
              <a:rPr sz="2800" spc="15" dirty="0">
                <a:solidFill>
                  <a:srgbClr val="7E4D00"/>
                </a:solidFill>
                <a:latin typeface="华文楷体"/>
                <a:cs typeface="华文楷体"/>
              </a:rPr>
              <a:t>”</a:t>
            </a:r>
            <a:r>
              <a:rPr sz="3825" i="1" spc="22" baseline="39215" dirty="0">
                <a:latin typeface="华文楷体"/>
                <a:cs typeface="华文楷体"/>
              </a:rPr>
              <a:t>C</a:t>
            </a:r>
            <a:r>
              <a:rPr sz="3825" i="1" spc="-375" baseline="39215" dirty="0">
                <a:latin typeface="华文楷体"/>
                <a:cs typeface="华文楷体"/>
              </a:rPr>
              <a:t> </a:t>
            </a:r>
            <a:r>
              <a:rPr sz="2400" spc="60" baseline="50347" dirty="0">
                <a:latin typeface="华文楷体"/>
                <a:cs typeface="华文楷体"/>
              </a:rPr>
              <a:t>i-1</a:t>
            </a:r>
            <a:endParaRPr sz="2400" baseline="50347">
              <a:latin typeface="华文楷体"/>
              <a:cs typeface="华文楷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30098" y="4161412"/>
            <a:ext cx="365760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550" i="1" spc="10" dirty="0">
                <a:latin typeface="华文楷体"/>
                <a:cs typeface="华文楷体"/>
              </a:rPr>
              <a:t>S</a:t>
            </a:r>
            <a:r>
              <a:rPr sz="2550" i="1" spc="-55" dirty="0">
                <a:latin typeface="华文楷体"/>
                <a:cs typeface="华文楷体"/>
              </a:rPr>
              <a:t> </a:t>
            </a:r>
            <a:r>
              <a:rPr sz="2400" spc="37" baseline="-12152" dirty="0">
                <a:latin typeface="华文楷体"/>
                <a:cs typeface="华文楷体"/>
              </a:rPr>
              <a:t>i</a:t>
            </a:r>
            <a:endParaRPr sz="2400" baseline="-12152">
              <a:latin typeface="华文楷体"/>
              <a:cs typeface="华文楷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80296" y="5059829"/>
            <a:ext cx="417195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550" i="1" spc="15" dirty="0">
                <a:latin typeface="华文楷体"/>
                <a:cs typeface="华文楷体"/>
              </a:rPr>
              <a:t>C</a:t>
            </a:r>
            <a:r>
              <a:rPr sz="2550" i="1" spc="-55" dirty="0">
                <a:latin typeface="华文楷体"/>
                <a:cs typeface="华文楷体"/>
              </a:rPr>
              <a:t> </a:t>
            </a:r>
            <a:r>
              <a:rPr sz="2400" spc="37" baseline="-12152" dirty="0">
                <a:latin typeface="华文楷体"/>
                <a:cs typeface="华文楷体"/>
              </a:rPr>
              <a:t>i</a:t>
            </a:r>
            <a:endParaRPr sz="2400" baseline="-12152">
              <a:latin typeface="华文楷体"/>
              <a:cs typeface="华文楷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26277" y="3992330"/>
            <a:ext cx="274320" cy="481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000" spc="140" dirty="0">
                <a:latin typeface="华文楷体"/>
                <a:cs typeface="华文楷体"/>
              </a:rPr>
              <a:t>Σ</a:t>
            </a:r>
            <a:endParaRPr sz="3000">
              <a:latin typeface="华文楷体"/>
              <a:cs typeface="华文楷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766431" y="4855718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>
                <a:moveTo>
                  <a:pt x="386771" y="0"/>
                </a:moveTo>
                <a:lnTo>
                  <a:pt x="0" y="0"/>
                </a:lnTo>
              </a:path>
            </a:pathLst>
          </a:custGeom>
          <a:ln w="27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313378" y="4126620"/>
            <a:ext cx="403225" cy="87121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70"/>
              </a:spcBef>
            </a:pPr>
            <a:r>
              <a:rPr sz="2550" i="1" spc="15" dirty="0">
                <a:latin typeface="华文楷体"/>
                <a:cs typeface="华文楷体"/>
              </a:rPr>
              <a:t>A</a:t>
            </a:r>
            <a:r>
              <a:rPr sz="2550" i="1" spc="-300" dirty="0">
                <a:latin typeface="华文楷体"/>
                <a:cs typeface="华文楷体"/>
              </a:rPr>
              <a:t> </a:t>
            </a:r>
            <a:r>
              <a:rPr sz="2400" spc="37" baseline="-12152" dirty="0">
                <a:latin typeface="华文楷体"/>
                <a:cs typeface="华文楷体"/>
              </a:rPr>
              <a:t>i</a:t>
            </a:r>
            <a:endParaRPr sz="2400" baseline="-12152">
              <a:latin typeface="华文楷体"/>
              <a:cs typeface="华文楷体"/>
            </a:endParaRPr>
          </a:p>
          <a:p>
            <a:pPr marL="57150">
              <a:lnSpc>
                <a:spcPct val="100000"/>
              </a:lnSpc>
              <a:spcBef>
                <a:spcPts val="265"/>
              </a:spcBef>
            </a:pPr>
            <a:r>
              <a:rPr sz="2550" i="1" spc="15" dirty="0">
                <a:latin typeface="华文楷体"/>
                <a:cs typeface="华文楷体"/>
              </a:rPr>
              <a:t>B</a:t>
            </a:r>
            <a:r>
              <a:rPr sz="2550" i="1" spc="-300" dirty="0">
                <a:latin typeface="华文楷体"/>
                <a:cs typeface="华文楷体"/>
              </a:rPr>
              <a:t> </a:t>
            </a:r>
            <a:r>
              <a:rPr sz="2400" spc="37" baseline="-12152" dirty="0">
                <a:latin typeface="华文楷体"/>
                <a:cs typeface="华文楷体"/>
              </a:rPr>
              <a:t>i</a:t>
            </a:r>
            <a:endParaRPr sz="2400" baseline="-12152">
              <a:latin typeface="华文楷体"/>
              <a:cs typeface="华文楷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41206" y="6472929"/>
            <a:ext cx="21717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12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77997" y="5141045"/>
            <a:ext cx="1004569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643255" algn="l"/>
              </a:tabLst>
            </a:pPr>
            <a:r>
              <a:rPr sz="2700" spc="97" baseline="1543" dirty="0">
                <a:latin typeface="华文楷体"/>
                <a:cs typeface="华文楷体"/>
              </a:rPr>
              <a:t>CI	</a:t>
            </a:r>
            <a:r>
              <a:rPr sz="1800" spc="90" dirty="0">
                <a:latin typeface="华文楷体"/>
                <a:cs typeface="华文楷体"/>
              </a:rPr>
              <a:t>CO</a:t>
            </a:r>
            <a:endParaRPr sz="1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6764655" cy="0"/>
          </a:xfrm>
          <a:custGeom>
            <a:avLst/>
            <a:gdLst/>
            <a:ahLst/>
            <a:cxnLst/>
            <a:rect l="l" t="t" r="r" b="b"/>
            <a:pathLst>
              <a:path w="6764655">
                <a:moveTo>
                  <a:pt x="0" y="0"/>
                </a:moveTo>
                <a:lnTo>
                  <a:pt x="6764274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46077" y="299475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46077" y="560262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3410" y="429991"/>
            <a:ext cx="568325" cy="0"/>
          </a:xfrm>
          <a:custGeom>
            <a:avLst/>
            <a:gdLst/>
            <a:ahLst/>
            <a:cxnLst/>
            <a:rect l="l" t="t" r="r" b="b"/>
            <a:pathLst>
              <a:path w="568325">
                <a:moveTo>
                  <a:pt x="567733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44964" y="167852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221814" y="0"/>
                </a:moveTo>
                <a:lnTo>
                  <a:pt x="0" y="0"/>
                </a:lnTo>
                <a:lnTo>
                  <a:pt x="24127" y="32076"/>
                </a:lnTo>
                <a:lnTo>
                  <a:pt x="45455" y="64029"/>
                </a:lnTo>
                <a:lnTo>
                  <a:pt x="77315" y="129287"/>
                </a:lnTo>
                <a:lnTo>
                  <a:pt x="96110" y="195775"/>
                </a:lnTo>
                <a:lnTo>
                  <a:pt x="102775" y="262139"/>
                </a:lnTo>
                <a:lnTo>
                  <a:pt x="101576" y="295198"/>
                </a:lnTo>
                <a:lnTo>
                  <a:pt x="87979" y="362915"/>
                </a:lnTo>
                <a:lnTo>
                  <a:pt x="62918" y="428173"/>
                </a:lnTo>
                <a:lnTo>
                  <a:pt x="24127" y="492202"/>
                </a:lnTo>
                <a:lnTo>
                  <a:pt x="0" y="524156"/>
                </a:lnTo>
                <a:lnTo>
                  <a:pt x="221814" y="524156"/>
                </a:lnTo>
                <a:lnTo>
                  <a:pt x="264337" y="516659"/>
                </a:lnTo>
                <a:lnTo>
                  <a:pt x="307261" y="508056"/>
                </a:lnTo>
                <a:lnTo>
                  <a:pt x="388841" y="485935"/>
                </a:lnTo>
                <a:lnTo>
                  <a:pt x="427499" y="473768"/>
                </a:lnTo>
                <a:lnTo>
                  <a:pt x="500682" y="444272"/>
                </a:lnTo>
                <a:lnTo>
                  <a:pt x="567733" y="410844"/>
                </a:lnTo>
                <a:lnTo>
                  <a:pt x="626385" y="372746"/>
                </a:lnTo>
                <a:lnTo>
                  <a:pt x="677040" y="330961"/>
                </a:lnTo>
                <a:lnTo>
                  <a:pt x="719830" y="285367"/>
                </a:lnTo>
                <a:lnTo>
                  <a:pt x="737293" y="262139"/>
                </a:lnTo>
                <a:lnTo>
                  <a:pt x="719830" y="238666"/>
                </a:lnTo>
                <a:lnTo>
                  <a:pt x="678240" y="193317"/>
                </a:lnTo>
                <a:lnTo>
                  <a:pt x="626385" y="151286"/>
                </a:lnTo>
                <a:lnTo>
                  <a:pt x="567733" y="113188"/>
                </a:lnTo>
                <a:lnTo>
                  <a:pt x="502281" y="80128"/>
                </a:lnTo>
                <a:lnTo>
                  <a:pt x="466156" y="64029"/>
                </a:lnTo>
                <a:lnTo>
                  <a:pt x="428832" y="50633"/>
                </a:lnTo>
                <a:lnTo>
                  <a:pt x="390041" y="38098"/>
                </a:lnTo>
                <a:lnTo>
                  <a:pt x="349784" y="25931"/>
                </a:lnTo>
                <a:lnTo>
                  <a:pt x="308460" y="15976"/>
                </a:lnTo>
                <a:lnTo>
                  <a:pt x="264337" y="7373"/>
                </a:lnTo>
                <a:lnTo>
                  <a:pt x="221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44964" y="167852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737293" y="262139"/>
                </a:moveTo>
                <a:lnTo>
                  <a:pt x="699835" y="308963"/>
                </a:lnTo>
                <a:lnTo>
                  <a:pt x="653179" y="353083"/>
                </a:lnTo>
                <a:lnTo>
                  <a:pt x="597059" y="392410"/>
                </a:lnTo>
                <a:lnTo>
                  <a:pt x="534140" y="428173"/>
                </a:lnTo>
                <a:lnTo>
                  <a:pt x="464823" y="458897"/>
                </a:lnTo>
                <a:lnTo>
                  <a:pt x="427499" y="473768"/>
                </a:lnTo>
                <a:lnTo>
                  <a:pt x="388841" y="485935"/>
                </a:lnTo>
                <a:lnTo>
                  <a:pt x="348451" y="496995"/>
                </a:lnTo>
                <a:lnTo>
                  <a:pt x="307261" y="508056"/>
                </a:lnTo>
                <a:lnTo>
                  <a:pt x="264337" y="516659"/>
                </a:lnTo>
                <a:lnTo>
                  <a:pt x="221814" y="524156"/>
                </a:lnTo>
                <a:lnTo>
                  <a:pt x="0" y="524156"/>
                </a:lnTo>
                <a:lnTo>
                  <a:pt x="24127" y="492202"/>
                </a:lnTo>
                <a:lnTo>
                  <a:pt x="45455" y="460003"/>
                </a:lnTo>
                <a:lnTo>
                  <a:pt x="77315" y="394745"/>
                </a:lnTo>
                <a:lnTo>
                  <a:pt x="96110" y="329855"/>
                </a:lnTo>
                <a:lnTo>
                  <a:pt x="102775" y="262139"/>
                </a:lnTo>
                <a:lnTo>
                  <a:pt x="101576" y="228834"/>
                </a:lnTo>
                <a:lnTo>
                  <a:pt x="87979" y="162347"/>
                </a:lnTo>
                <a:lnTo>
                  <a:pt x="62918" y="95859"/>
                </a:lnTo>
                <a:lnTo>
                  <a:pt x="24127" y="32076"/>
                </a:lnTo>
                <a:lnTo>
                  <a:pt x="0" y="0"/>
                </a:lnTo>
                <a:lnTo>
                  <a:pt x="221814" y="0"/>
                </a:lnTo>
                <a:lnTo>
                  <a:pt x="264337" y="7373"/>
                </a:lnTo>
                <a:lnTo>
                  <a:pt x="308460" y="15976"/>
                </a:lnTo>
                <a:lnTo>
                  <a:pt x="349784" y="25931"/>
                </a:lnTo>
                <a:lnTo>
                  <a:pt x="390041" y="38098"/>
                </a:lnTo>
                <a:lnTo>
                  <a:pt x="428832" y="50633"/>
                </a:lnTo>
                <a:lnTo>
                  <a:pt x="466156" y="64029"/>
                </a:lnTo>
                <a:lnTo>
                  <a:pt x="502281" y="80128"/>
                </a:lnTo>
                <a:lnTo>
                  <a:pt x="567733" y="113188"/>
                </a:lnTo>
                <a:lnTo>
                  <a:pt x="626385" y="151286"/>
                </a:lnTo>
                <a:lnTo>
                  <a:pt x="678240" y="193317"/>
                </a:lnTo>
                <a:lnTo>
                  <a:pt x="719830" y="238666"/>
                </a:lnTo>
                <a:lnTo>
                  <a:pt x="737293" y="262139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44964" y="167852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454293" y="0"/>
                </a:moveTo>
                <a:lnTo>
                  <a:pt x="0" y="0"/>
                </a:lnTo>
                <a:lnTo>
                  <a:pt x="0" y="524156"/>
                </a:lnTo>
                <a:lnTo>
                  <a:pt x="454293" y="524156"/>
                </a:lnTo>
                <a:lnTo>
                  <a:pt x="482019" y="522927"/>
                </a:lnTo>
                <a:lnTo>
                  <a:pt x="538006" y="511866"/>
                </a:lnTo>
                <a:lnTo>
                  <a:pt x="589061" y="492202"/>
                </a:lnTo>
                <a:lnTo>
                  <a:pt x="634517" y="463936"/>
                </a:lnTo>
                <a:lnTo>
                  <a:pt x="673174" y="428173"/>
                </a:lnTo>
                <a:lnTo>
                  <a:pt x="702501" y="387617"/>
                </a:lnTo>
                <a:lnTo>
                  <a:pt x="725029" y="339687"/>
                </a:lnTo>
                <a:lnTo>
                  <a:pt x="735960" y="289053"/>
                </a:lnTo>
                <a:lnTo>
                  <a:pt x="737293" y="262139"/>
                </a:lnTo>
                <a:lnTo>
                  <a:pt x="735960" y="235102"/>
                </a:lnTo>
                <a:lnTo>
                  <a:pt x="725029" y="184714"/>
                </a:lnTo>
                <a:lnTo>
                  <a:pt x="702501" y="137890"/>
                </a:lnTo>
                <a:lnTo>
                  <a:pt x="673174" y="95859"/>
                </a:lnTo>
                <a:lnTo>
                  <a:pt x="634517" y="60465"/>
                </a:lnTo>
                <a:lnTo>
                  <a:pt x="589061" y="32076"/>
                </a:lnTo>
                <a:lnTo>
                  <a:pt x="538006" y="12412"/>
                </a:lnTo>
                <a:lnTo>
                  <a:pt x="482019" y="1474"/>
                </a:lnTo>
                <a:lnTo>
                  <a:pt x="4542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44964" y="167852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454293" y="524156"/>
                </a:moveTo>
                <a:lnTo>
                  <a:pt x="0" y="524156"/>
                </a:lnTo>
                <a:lnTo>
                  <a:pt x="0" y="0"/>
                </a:lnTo>
                <a:lnTo>
                  <a:pt x="454293" y="0"/>
                </a:lnTo>
                <a:lnTo>
                  <a:pt x="482019" y="1474"/>
                </a:lnTo>
                <a:lnTo>
                  <a:pt x="538006" y="12412"/>
                </a:lnTo>
                <a:lnTo>
                  <a:pt x="589061" y="32076"/>
                </a:lnTo>
                <a:lnTo>
                  <a:pt x="634517" y="60465"/>
                </a:lnTo>
                <a:lnTo>
                  <a:pt x="673174" y="95859"/>
                </a:lnTo>
                <a:lnTo>
                  <a:pt x="702501" y="137890"/>
                </a:lnTo>
                <a:lnTo>
                  <a:pt x="725029" y="184714"/>
                </a:lnTo>
                <a:lnTo>
                  <a:pt x="735960" y="235102"/>
                </a:lnTo>
                <a:lnTo>
                  <a:pt x="737293" y="262139"/>
                </a:lnTo>
                <a:lnTo>
                  <a:pt x="735960" y="289053"/>
                </a:lnTo>
                <a:lnTo>
                  <a:pt x="725029" y="339687"/>
                </a:lnTo>
                <a:lnTo>
                  <a:pt x="702501" y="387617"/>
                </a:lnTo>
                <a:lnTo>
                  <a:pt x="673174" y="428173"/>
                </a:lnTo>
                <a:lnTo>
                  <a:pt x="634517" y="463936"/>
                </a:lnTo>
                <a:lnTo>
                  <a:pt x="589061" y="492202"/>
                </a:lnTo>
                <a:lnTo>
                  <a:pt x="538006" y="511866"/>
                </a:lnTo>
                <a:lnTo>
                  <a:pt x="482019" y="522927"/>
                </a:lnTo>
                <a:lnTo>
                  <a:pt x="454293" y="524156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46077" y="997038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46077" y="1259055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13410" y="1127309"/>
            <a:ext cx="568325" cy="0"/>
          </a:xfrm>
          <a:custGeom>
            <a:avLst/>
            <a:gdLst/>
            <a:ahLst/>
            <a:cxnLst/>
            <a:rect l="l" t="t" r="r" b="b"/>
            <a:pathLst>
              <a:path w="568325">
                <a:moveTo>
                  <a:pt x="567733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44964" y="866522"/>
            <a:ext cx="737870" cy="523240"/>
          </a:xfrm>
          <a:custGeom>
            <a:avLst/>
            <a:gdLst/>
            <a:ahLst/>
            <a:cxnLst/>
            <a:rect l="l" t="t" r="r" b="b"/>
            <a:pathLst>
              <a:path w="737870" h="523240">
                <a:moveTo>
                  <a:pt x="221814" y="0"/>
                </a:moveTo>
                <a:lnTo>
                  <a:pt x="0" y="0"/>
                </a:lnTo>
                <a:lnTo>
                  <a:pt x="24127" y="30724"/>
                </a:lnTo>
                <a:lnTo>
                  <a:pt x="45455" y="62677"/>
                </a:lnTo>
                <a:lnTo>
                  <a:pt x="77315" y="127935"/>
                </a:lnTo>
                <a:lnTo>
                  <a:pt x="96110" y="194300"/>
                </a:lnTo>
                <a:lnTo>
                  <a:pt x="102775" y="260787"/>
                </a:lnTo>
                <a:lnTo>
                  <a:pt x="101576" y="295321"/>
                </a:lnTo>
                <a:lnTo>
                  <a:pt x="87979" y="361808"/>
                </a:lnTo>
                <a:lnTo>
                  <a:pt x="62918" y="426821"/>
                </a:lnTo>
                <a:lnTo>
                  <a:pt x="24127" y="492079"/>
                </a:lnTo>
                <a:lnTo>
                  <a:pt x="0" y="522681"/>
                </a:lnTo>
                <a:lnTo>
                  <a:pt x="221814" y="522681"/>
                </a:lnTo>
                <a:lnTo>
                  <a:pt x="264337" y="515307"/>
                </a:lnTo>
                <a:lnTo>
                  <a:pt x="307261" y="506950"/>
                </a:lnTo>
                <a:lnTo>
                  <a:pt x="348451" y="497118"/>
                </a:lnTo>
                <a:lnTo>
                  <a:pt x="388841" y="485812"/>
                </a:lnTo>
                <a:lnTo>
                  <a:pt x="427499" y="472416"/>
                </a:lnTo>
                <a:lnTo>
                  <a:pt x="464823" y="459020"/>
                </a:lnTo>
                <a:lnTo>
                  <a:pt x="500682" y="444027"/>
                </a:lnTo>
                <a:lnTo>
                  <a:pt x="567733" y="409493"/>
                </a:lnTo>
                <a:lnTo>
                  <a:pt x="626385" y="371640"/>
                </a:lnTo>
                <a:lnTo>
                  <a:pt x="677040" y="330838"/>
                </a:lnTo>
                <a:lnTo>
                  <a:pt x="719830" y="285489"/>
                </a:lnTo>
                <a:lnTo>
                  <a:pt x="737293" y="260787"/>
                </a:lnTo>
                <a:lnTo>
                  <a:pt x="719830" y="237560"/>
                </a:lnTo>
                <a:lnTo>
                  <a:pt x="678240" y="191965"/>
                </a:lnTo>
                <a:lnTo>
                  <a:pt x="626385" y="150303"/>
                </a:lnTo>
                <a:lnTo>
                  <a:pt x="567733" y="112082"/>
                </a:lnTo>
                <a:lnTo>
                  <a:pt x="502281" y="78777"/>
                </a:lnTo>
                <a:lnTo>
                  <a:pt x="428832" y="49281"/>
                </a:lnTo>
                <a:lnTo>
                  <a:pt x="390041" y="36992"/>
                </a:lnTo>
                <a:lnTo>
                  <a:pt x="349784" y="25931"/>
                </a:lnTo>
                <a:lnTo>
                  <a:pt x="308460" y="16099"/>
                </a:lnTo>
                <a:lnTo>
                  <a:pt x="264337" y="7496"/>
                </a:lnTo>
                <a:lnTo>
                  <a:pt x="221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44964" y="866522"/>
            <a:ext cx="737870" cy="523240"/>
          </a:xfrm>
          <a:custGeom>
            <a:avLst/>
            <a:gdLst/>
            <a:ahLst/>
            <a:cxnLst/>
            <a:rect l="l" t="t" r="r" b="b"/>
            <a:pathLst>
              <a:path w="737870" h="523240">
                <a:moveTo>
                  <a:pt x="737293" y="260787"/>
                </a:moveTo>
                <a:lnTo>
                  <a:pt x="699835" y="308717"/>
                </a:lnTo>
                <a:lnTo>
                  <a:pt x="653179" y="351731"/>
                </a:lnTo>
                <a:lnTo>
                  <a:pt x="597059" y="391304"/>
                </a:lnTo>
                <a:lnTo>
                  <a:pt x="534140" y="426821"/>
                </a:lnTo>
                <a:lnTo>
                  <a:pt x="464823" y="459020"/>
                </a:lnTo>
                <a:lnTo>
                  <a:pt x="427499" y="472416"/>
                </a:lnTo>
                <a:lnTo>
                  <a:pt x="388841" y="485812"/>
                </a:lnTo>
                <a:lnTo>
                  <a:pt x="348451" y="497118"/>
                </a:lnTo>
                <a:lnTo>
                  <a:pt x="307261" y="506950"/>
                </a:lnTo>
                <a:lnTo>
                  <a:pt x="264337" y="515307"/>
                </a:lnTo>
                <a:lnTo>
                  <a:pt x="221814" y="522681"/>
                </a:lnTo>
                <a:lnTo>
                  <a:pt x="0" y="522681"/>
                </a:lnTo>
                <a:lnTo>
                  <a:pt x="24127" y="492079"/>
                </a:lnTo>
                <a:lnTo>
                  <a:pt x="45455" y="460126"/>
                </a:lnTo>
                <a:lnTo>
                  <a:pt x="77315" y="394868"/>
                </a:lnTo>
                <a:lnTo>
                  <a:pt x="96110" y="328380"/>
                </a:lnTo>
                <a:lnTo>
                  <a:pt x="102775" y="260787"/>
                </a:lnTo>
                <a:lnTo>
                  <a:pt x="101576" y="227728"/>
                </a:lnTo>
                <a:lnTo>
                  <a:pt x="87979" y="161240"/>
                </a:lnTo>
                <a:lnTo>
                  <a:pt x="62918" y="95982"/>
                </a:lnTo>
                <a:lnTo>
                  <a:pt x="24127" y="30724"/>
                </a:lnTo>
                <a:lnTo>
                  <a:pt x="0" y="0"/>
                </a:lnTo>
                <a:lnTo>
                  <a:pt x="221814" y="0"/>
                </a:lnTo>
                <a:lnTo>
                  <a:pt x="264337" y="7496"/>
                </a:lnTo>
                <a:lnTo>
                  <a:pt x="308460" y="16099"/>
                </a:lnTo>
                <a:lnTo>
                  <a:pt x="349784" y="25931"/>
                </a:lnTo>
                <a:lnTo>
                  <a:pt x="390041" y="36992"/>
                </a:lnTo>
                <a:lnTo>
                  <a:pt x="428832" y="49281"/>
                </a:lnTo>
                <a:lnTo>
                  <a:pt x="466156" y="64152"/>
                </a:lnTo>
                <a:lnTo>
                  <a:pt x="502281" y="78777"/>
                </a:lnTo>
                <a:lnTo>
                  <a:pt x="567733" y="112082"/>
                </a:lnTo>
                <a:lnTo>
                  <a:pt x="626385" y="150303"/>
                </a:lnTo>
                <a:lnTo>
                  <a:pt x="678240" y="191965"/>
                </a:lnTo>
                <a:lnTo>
                  <a:pt x="719830" y="237560"/>
                </a:lnTo>
                <a:lnTo>
                  <a:pt x="737293" y="260787"/>
                </a:lnTo>
              </a:path>
            </a:pathLst>
          </a:custGeom>
          <a:ln w="27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44964" y="866522"/>
            <a:ext cx="737870" cy="523240"/>
          </a:xfrm>
          <a:custGeom>
            <a:avLst/>
            <a:gdLst/>
            <a:ahLst/>
            <a:cxnLst/>
            <a:rect l="l" t="t" r="r" b="b"/>
            <a:pathLst>
              <a:path w="737870" h="523240">
                <a:moveTo>
                  <a:pt x="454293" y="0"/>
                </a:moveTo>
                <a:lnTo>
                  <a:pt x="0" y="0"/>
                </a:lnTo>
                <a:lnTo>
                  <a:pt x="0" y="522681"/>
                </a:lnTo>
                <a:lnTo>
                  <a:pt x="454293" y="522681"/>
                </a:lnTo>
                <a:lnTo>
                  <a:pt x="482019" y="521575"/>
                </a:lnTo>
                <a:lnTo>
                  <a:pt x="538006" y="511743"/>
                </a:lnTo>
                <a:lnTo>
                  <a:pt x="589061" y="492079"/>
                </a:lnTo>
                <a:lnTo>
                  <a:pt x="634517" y="463690"/>
                </a:lnTo>
                <a:lnTo>
                  <a:pt x="673174" y="427927"/>
                </a:lnTo>
                <a:lnTo>
                  <a:pt x="702501" y="386265"/>
                </a:lnTo>
                <a:lnTo>
                  <a:pt x="725029" y="339441"/>
                </a:lnTo>
                <a:lnTo>
                  <a:pt x="735960" y="287947"/>
                </a:lnTo>
                <a:lnTo>
                  <a:pt x="737293" y="260787"/>
                </a:lnTo>
                <a:lnTo>
                  <a:pt x="735960" y="234856"/>
                </a:lnTo>
                <a:lnTo>
                  <a:pt x="725029" y="183362"/>
                </a:lnTo>
                <a:lnTo>
                  <a:pt x="702501" y="136538"/>
                </a:lnTo>
                <a:lnTo>
                  <a:pt x="673174" y="94876"/>
                </a:lnTo>
                <a:lnTo>
                  <a:pt x="634517" y="59113"/>
                </a:lnTo>
                <a:lnTo>
                  <a:pt x="589061" y="30724"/>
                </a:lnTo>
                <a:lnTo>
                  <a:pt x="538006" y="11060"/>
                </a:lnTo>
                <a:lnTo>
                  <a:pt x="482019" y="1228"/>
                </a:lnTo>
                <a:lnTo>
                  <a:pt x="4542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44964" y="866522"/>
            <a:ext cx="737870" cy="523240"/>
          </a:xfrm>
          <a:custGeom>
            <a:avLst/>
            <a:gdLst/>
            <a:ahLst/>
            <a:cxnLst/>
            <a:rect l="l" t="t" r="r" b="b"/>
            <a:pathLst>
              <a:path w="737870" h="523240">
                <a:moveTo>
                  <a:pt x="454293" y="522681"/>
                </a:moveTo>
                <a:lnTo>
                  <a:pt x="0" y="522681"/>
                </a:lnTo>
                <a:lnTo>
                  <a:pt x="0" y="0"/>
                </a:lnTo>
                <a:lnTo>
                  <a:pt x="454293" y="0"/>
                </a:lnTo>
                <a:lnTo>
                  <a:pt x="482019" y="1228"/>
                </a:lnTo>
                <a:lnTo>
                  <a:pt x="538006" y="11060"/>
                </a:lnTo>
                <a:lnTo>
                  <a:pt x="589061" y="30724"/>
                </a:lnTo>
                <a:lnTo>
                  <a:pt x="634517" y="59113"/>
                </a:lnTo>
                <a:lnTo>
                  <a:pt x="673174" y="94876"/>
                </a:lnTo>
                <a:lnTo>
                  <a:pt x="702501" y="136538"/>
                </a:lnTo>
                <a:lnTo>
                  <a:pt x="725029" y="183362"/>
                </a:lnTo>
                <a:lnTo>
                  <a:pt x="735960" y="234856"/>
                </a:lnTo>
                <a:lnTo>
                  <a:pt x="737293" y="260787"/>
                </a:lnTo>
                <a:lnTo>
                  <a:pt x="735960" y="287947"/>
                </a:lnTo>
                <a:lnTo>
                  <a:pt x="725029" y="339441"/>
                </a:lnTo>
                <a:lnTo>
                  <a:pt x="702501" y="386265"/>
                </a:lnTo>
                <a:lnTo>
                  <a:pt x="673174" y="427927"/>
                </a:lnTo>
                <a:lnTo>
                  <a:pt x="634517" y="463690"/>
                </a:lnTo>
                <a:lnTo>
                  <a:pt x="589061" y="492079"/>
                </a:lnTo>
                <a:lnTo>
                  <a:pt x="538006" y="511743"/>
                </a:lnTo>
                <a:lnTo>
                  <a:pt x="482019" y="521575"/>
                </a:lnTo>
                <a:lnTo>
                  <a:pt x="454293" y="522681"/>
                </a:lnTo>
              </a:path>
            </a:pathLst>
          </a:custGeom>
          <a:ln w="27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46077" y="1694356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46077" y="1956373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13410" y="1826102"/>
            <a:ext cx="568325" cy="0"/>
          </a:xfrm>
          <a:custGeom>
            <a:avLst/>
            <a:gdLst/>
            <a:ahLst/>
            <a:cxnLst/>
            <a:rect l="l" t="t" r="r" b="b"/>
            <a:pathLst>
              <a:path w="568325">
                <a:moveTo>
                  <a:pt x="567733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44964" y="1563840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221814" y="0"/>
                </a:moveTo>
                <a:lnTo>
                  <a:pt x="0" y="0"/>
                </a:lnTo>
                <a:lnTo>
                  <a:pt x="24127" y="32199"/>
                </a:lnTo>
                <a:lnTo>
                  <a:pt x="45455" y="64152"/>
                </a:lnTo>
                <a:lnTo>
                  <a:pt x="77315" y="129410"/>
                </a:lnTo>
                <a:lnTo>
                  <a:pt x="96110" y="194668"/>
                </a:lnTo>
                <a:lnTo>
                  <a:pt x="102775" y="262262"/>
                </a:lnTo>
                <a:lnTo>
                  <a:pt x="101576" y="295321"/>
                </a:lnTo>
                <a:lnTo>
                  <a:pt x="87979" y="361808"/>
                </a:lnTo>
                <a:lnTo>
                  <a:pt x="62918" y="428296"/>
                </a:lnTo>
                <a:lnTo>
                  <a:pt x="24127" y="491956"/>
                </a:lnTo>
                <a:lnTo>
                  <a:pt x="0" y="524156"/>
                </a:lnTo>
                <a:lnTo>
                  <a:pt x="221814" y="524156"/>
                </a:lnTo>
                <a:lnTo>
                  <a:pt x="264337" y="516782"/>
                </a:lnTo>
                <a:lnTo>
                  <a:pt x="348451" y="497118"/>
                </a:lnTo>
                <a:lnTo>
                  <a:pt x="388841" y="486057"/>
                </a:lnTo>
                <a:lnTo>
                  <a:pt x="427499" y="473522"/>
                </a:lnTo>
                <a:lnTo>
                  <a:pt x="464823" y="458897"/>
                </a:lnTo>
                <a:lnTo>
                  <a:pt x="500682" y="444027"/>
                </a:lnTo>
                <a:lnTo>
                  <a:pt x="567733" y="410967"/>
                </a:lnTo>
                <a:lnTo>
                  <a:pt x="626385" y="372869"/>
                </a:lnTo>
                <a:lnTo>
                  <a:pt x="677040" y="331084"/>
                </a:lnTo>
                <a:lnTo>
                  <a:pt x="719830" y="285489"/>
                </a:lnTo>
                <a:lnTo>
                  <a:pt x="737293" y="262262"/>
                </a:lnTo>
                <a:lnTo>
                  <a:pt x="719830" y="237560"/>
                </a:lnTo>
                <a:lnTo>
                  <a:pt x="678240" y="193071"/>
                </a:lnTo>
                <a:lnTo>
                  <a:pt x="626385" y="151409"/>
                </a:lnTo>
                <a:lnTo>
                  <a:pt x="567733" y="113311"/>
                </a:lnTo>
                <a:lnTo>
                  <a:pt x="502281" y="79022"/>
                </a:lnTo>
                <a:lnTo>
                  <a:pt x="466156" y="64152"/>
                </a:lnTo>
                <a:lnTo>
                  <a:pt x="428832" y="50633"/>
                </a:lnTo>
                <a:lnTo>
                  <a:pt x="390041" y="36992"/>
                </a:lnTo>
                <a:lnTo>
                  <a:pt x="349784" y="25931"/>
                </a:lnTo>
                <a:lnTo>
                  <a:pt x="308460" y="16099"/>
                </a:lnTo>
                <a:lnTo>
                  <a:pt x="264337" y="7496"/>
                </a:lnTo>
                <a:lnTo>
                  <a:pt x="221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44964" y="1563840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737293" y="262262"/>
                </a:moveTo>
                <a:lnTo>
                  <a:pt x="699835" y="308717"/>
                </a:lnTo>
                <a:lnTo>
                  <a:pt x="653179" y="351977"/>
                </a:lnTo>
                <a:lnTo>
                  <a:pt x="597059" y="392533"/>
                </a:lnTo>
                <a:lnTo>
                  <a:pt x="534140" y="428296"/>
                </a:lnTo>
                <a:lnTo>
                  <a:pt x="464823" y="458897"/>
                </a:lnTo>
                <a:lnTo>
                  <a:pt x="427499" y="473522"/>
                </a:lnTo>
                <a:lnTo>
                  <a:pt x="388841" y="486057"/>
                </a:lnTo>
                <a:lnTo>
                  <a:pt x="348451" y="497118"/>
                </a:lnTo>
                <a:lnTo>
                  <a:pt x="307261" y="506950"/>
                </a:lnTo>
                <a:lnTo>
                  <a:pt x="264337" y="516782"/>
                </a:lnTo>
                <a:lnTo>
                  <a:pt x="221814" y="524156"/>
                </a:lnTo>
                <a:lnTo>
                  <a:pt x="0" y="524156"/>
                </a:lnTo>
                <a:lnTo>
                  <a:pt x="24127" y="491956"/>
                </a:lnTo>
                <a:lnTo>
                  <a:pt x="45455" y="460126"/>
                </a:lnTo>
                <a:lnTo>
                  <a:pt x="77315" y="394868"/>
                </a:lnTo>
                <a:lnTo>
                  <a:pt x="96110" y="328380"/>
                </a:lnTo>
                <a:lnTo>
                  <a:pt x="102775" y="262262"/>
                </a:lnTo>
                <a:lnTo>
                  <a:pt x="101576" y="228834"/>
                </a:lnTo>
                <a:lnTo>
                  <a:pt x="87979" y="161240"/>
                </a:lnTo>
                <a:lnTo>
                  <a:pt x="62918" y="95982"/>
                </a:lnTo>
                <a:lnTo>
                  <a:pt x="24127" y="32199"/>
                </a:lnTo>
                <a:lnTo>
                  <a:pt x="0" y="0"/>
                </a:lnTo>
                <a:lnTo>
                  <a:pt x="221814" y="0"/>
                </a:lnTo>
                <a:lnTo>
                  <a:pt x="264337" y="7496"/>
                </a:lnTo>
                <a:lnTo>
                  <a:pt x="308460" y="16099"/>
                </a:lnTo>
                <a:lnTo>
                  <a:pt x="349784" y="25931"/>
                </a:lnTo>
                <a:lnTo>
                  <a:pt x="390041" y="36992"/>
                </a:lnTo>
                <a:lnTo>
                  <a:pt x="428832" y="50633"/>
                </a:lnTo>
                <a:lnTo>
                  <a:pt x="466156" y="64152"/>
                </a:lnTo>
                <a:lnTo>
                  <a:pt x="502281" y="79022"/>
                </a:lnTo>
                <a:lnTo>
                  <a:pt x="567733" y="113311"/>
                </a:lnTo>
                <a:lnTo>
                  <a:pt x="626385" y="151409"/>
                </a:lnTo>
                <a:lnTo>
                  <a:pt x="678240" y="193071"/>
                </a:lnTo>
                <a:lnTo>
                  <a:pt x="719830" y="237560"/>
                </a:lnTo>
                <a:lnTo>
                  <a:pt x="737293" y="262262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44964" y="1563840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454293" y="0"/>
                </a:moveTo>
                <a:lnTo>
                  <a:pt x="0" y="0"/>
                </a:lnTo>
                <a:lnTo>
                  <a:pt x="0" y="524156"/>
                </a:lnTo>
                <a:lnTo>
                  <a:pt x="454293" y="524156"/>
                </a:lnTo>
                <a:lnTo>
                  <a:pt x="482019" y="521452"/>
                </a:lnTo>
                <a:lnTo>
                  <a:pt x="538006" y="511620"/>
                </a:lnTo>
                <a:lnTo>
                  <a:pt x="589061" y="491956"/>
                </a:lnTo>
                <a:lnTo>
                  <a:pt x="634517" y="463690"/>
                </a:lnTo>
                <a:lnTo>
                  <a:pt x="673174" y="428296"/>
                </a:lnTo>
                <a:lnTo>
                  <a:pt x="702501" y="386265"/>
                </a:lnTo>
                <a:lnTo>
                  <a:pt x="725029" y="339687"/>
                </a:lnTo>
                <a:lnTo>
                  <a:pt x="735960" y="289053"/>
                </a:lnTo>
                <a:lnTo>
                  <a:pt x="737293" y="262262"/>
                </a:lnTo>
                <a:lnTo>
                  <a:pt x="735960" y="235102"/>
                </a:lnTo>
                <a:lnTo>
                  <a:pt x="725029" y="184837"/>
                </a:lnTo>
                <a:lnTo>
                  <a:pt x="702501" y="136784"/>
                </a:lnTo>
                <a:lnTo>
                  <a:pt x="673174" y="95982"/>
                </a:lnTo>
                <a:lnTo>
                  <a:pt x="634517" y="60465"/>
                </a:lnTo>
                <a:lnTo>
                  <a:pt x="589061" y="32199"/>
                </a:lnTo>
                <a:lnTo>
                  <a:pt x="538006" y="12535"/>
                </a:lnTo>
                <a:lnTo>
                  <a:pt x="482019" y="1228"/>
                </a:lnTo>
                <a:lnTo>
                  <a:pt x="4542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44964" y="1563840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454293" y="524156"/>
                </a:moveTo>
                <a:lnTo>
                  <a:pt x="0" y="524156"/>
                </a:lnTo>
                <a:lnTo>
                  <a:pt x="0" y="0"/>
                </a:lnTo>
                <a:lnTo>
                  <a:pt x="454293" y="0"/>
                </a:lnTo>
                <a:lnTo>
                  <a:pt x="482019" y="1228"/>
                </a:lnTo>
                <a:lnTo>
                  <a:pt x="538006" y="12535"/>
                </a:lnTo>
                <a:lnTo>
                  <a:pt x="589061" y="32199"/>
                </a:lnTo>
                <a:lnTo>
                  <a:pt x="634517" y="60465"/>
                </a:lnTo>
                <a:lnTo>
                  <a:pt x="673174" y="95982"/>
                </a:lnTo>
                <a:lnTo>
                  <a:pt x="702501" y="136784"/>
                </a:lnTo>
                <a:lnTo>
                  <a:pt x="725029" y="184837"/>
                </a:lnTo>
                <a:lnTo>
                  <a:pt x="735960" y="235102"/>
                </a:lnTo>
                <a:lnTo>
                  <a:pt x="737293" y="262262"/>
                </a:lnTo>
                <a:lnTo>
                  <a:pt x="735960" y="289053"/>
                </a:lnTo>
                <a:lnTo>
                  <a:pt x="725029" y="339687"/>
                </a:lnTo>
                <a:lnTo>
                  <a:pt x="702501" y="386265"/>
                </a:lnTo>
                <a:lnTo>
                  <a:pt x="673174" y="428296"/>
                </a:lnTo>
                <a:lnTo>
                  <a:pt x="634517" y="463690"/>
                </a:lnTo>
                <a:lnTo>
                  <a:pt x="589061" y="491956"/>
                </a:lnTo>
                <a:lnTo>
                  <a:pt x="538006" y="511620"/>
                </a:lnTo>
                <a:lnTo>
                  <a:pt x="482019" y="521452"/>
                </a:lnTo>
                <a:lnTo>
                  <a:pt x="454293" y="524156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46077" y="2392903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346077" y="2523420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346077" y="2655166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913410" y="2523420"/>
            <a:ext cx="568325" cy="0"/>
          </a:xfrm>
          <a:custGeom>
            <a:avLst/>
            <a:gdLst/>
            <a:ahLst/>
            <a:cxnLst/>
            <a:rect l="l" t="t" r="r" b="b"/>
            <a:pathLst>
              <a:path w="568325">
                <a:moveTo>
                  <a:pt x="567733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544964" y="2261404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221814" y="0"/>
                </a:moveTo>
                <a:lnTo>
                  <a:pt x="0" y="0"/>
                </a:lnTo>
                <a:lnTo>
                  <a:pt x="24127" y="31953"/>
                </a:lnTo>
                <a:lnTo>
                  <a:pt x="45455" y="63783"/>
                </a:lnTo>
                <a:lnTo>
                  <a:pt x="77315" y="129041"/>
                </a:lnTo>
                <a:lnTo>
                  <a:pt x="96110" y="195529"/>
                </a:lnTo>
                <a:lnTo>
                  <a:pt x="102775" y="262016"/>
                </a:lnTo>
                <a:lnTo>
                  <a:pt x="101576" y="295075"/>
                </a:lnTo>
                <a:lnTo>
                  <a:pt x="87979" y="362669"/>
                </a:lnTo>
                <a:lnTo>
                  <a:pt x="62918" y="427927"/>
                </a:lnTo>
                <a:lnTo>
                  <a:pt x="24127" y="492079"/>
                </a:lnTo>
                <a:lnTo>
                  <a:pt x="0" y="523910"/>
                </a:lnTo>
                <a:lnTo>
                  <a:pt x="221814" y="523910"/>
                </a:lnTo>
                <a:lnTo>
                  <a:pt x="264337" y="516413"/>
                </a:lnTo>
                <a:lnTo>
                  <a:pt x="307261" y="507810"/>
                </a:lnTo>
                <a:lnTo>
                  <a:pt x="348451" y="497978"/>
                </a:lnTo>
                <a:lnTo>
                  <a:pt x="388841" y="485812"/>
                </a:lnTo>
                <a:lnTo>
                  <a:pt x="427499" y="473522"/>
                </a:lnTo>
                <a:lnTo>
                  <a:pt x="464823" y="459880"/>
                </a:lnTo>
                <a:lnTo>
                  <a:pt x="500682" y="444027"/>
                </a:lnTo>
                <a:lnTo>
                  <a:pt x="567733" y="410722"/>
                </a:lnTo>
                <a:lnTo>
                  <a:pt x="626385" y="372501"/>
                </a:lnTo>
                <a:lnTo>
                  <a:pt x="677040" y="330838"/>
                </a:lnTo>
                <a:lnTo>
                  <a:pt x="719830" y="286473"/>
                </a:lnTo>
                <a:lnTo>
                  <a:pt x="737293" y="262016"/>
                </a:lnTo>
                <a:lnTo>
                  <a:pt x="719830" y="238420"/>
                </a:lnTo>
                <a:lnTo>
                  <a:pt x="678240" y="193194"/>
                </a:lnTo>
                <a:lnTo>
                  <a:pt x="626385" y="151163"/>
                </a:lnTo>
                <a:lnTo>
                  <a:pt x="567733" y="112942"/>
                </a:lnTo>
                <a:lnTo>
                  <a:pt x="502281" y="79883"/>
                </a:lnTo>
                <a:lnTo>
                  <a:pt x="466156" y="63783"/>
                </a:lnTo>
                <a:lnTo>
                  <a:pt x="428832" y="50387"/>
                </a:lnTo>
                <a:lnTo>
                  <a:pt x="390041" y="38220"/>
                </a:lnTo>
                <a:lnTo>
                  <a:pt x="308460" y="15853"/>
                </a:lnTo>
                <a:lnTo>
                  <a:pt x="264337" y="7250"/>
                </a:lnTo>
                <a:lnTo>
                  <a:pt x="221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44964" y="2261404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737293" y="262016"/>
                </a:moveTo>
                <a:lnTo>
                  <a:pt x="699835" y="308717"/>
                </a:lnTo>
                <a:lnTo>
                  <a:pt x="653179" y="352837"/>
                </a:lnTo>
                <a:lnTo>
                  <a:pt x="597059" y="392164"/>
                </a:lnTo>
                <a:lnTo>
                  <a:pt x="534140" y="427927"/>
                </a:lnTo>
                <a:lnTo>
                  <a:pt x="464823" y="459880"/>
                </a:lnTo>
                <a:lnTo>
                  <a:pt x="427499" y="473522"/>
                </a:lnTo>
                <a:lnTo>
                  <a:pt x="388841" y="485812"/>
                </a:lnTo>
                <a:lnTo>
                  <a:pt x="348451" y="497978"/>
                </a:lnTo>
                <a:lnTo>
                  <a:pt x="307261" y="507810"/>
                </a:lnTo>
                <a:lnTo>
                  <a:pt x="264337" y="516413"/>
                </a:lnTo>
                <a:lnTo>
                  <a:pt x="221814" y="523910"/>
                </a:lnTo>
                <a:lnTo>
                  <a:pt x="0" y="523910"/>
                </a:lnTo>
                <a:lnTo>
                  <a:pt x="24127" y="492079"/>
                </a:lnTo>
                <a:lnTo>
                  <a:pt x="45455" y="459880"/>
                </a:lnTo>
                <a:lnTo>
                  <a:pt x="77315" y="396097"/>
                </a:lnTo>
                <a:lnTo>
                  <a:pt x="96110" y="329609"/>
                </a:lnTo>
                <a:lnTo>
                  <a:pt x="102775" y="262016"/>
                </a:lnTo>
                <a:lnTo>
                  <a:pt x="101576" y="228588"/>
                </a:lnTo>
                <a:lnTo>
                  <a:pt x="87979" y="162469"/>
                </a:lnTo>
                <a:lnTo>
                  <a:pt x="62918" y="95982"/>
                </a:lnTo>
                <a:lnTo>
                  <a:pt x="24127" y="31953"/>
                </a:lnTo>
                <a:lnTo>
                  <a:pt x="0" y="0"/>
                </a:lnTo>
                <a:lnTo>
                  <a:pt x="221814" y="0"/>
                </a:lnTo>
                <a:lnTo>
                  <a:pt x="264337" y="7250"/>
                </a:lnTo>
                <a:lnTo>
                  <a:pt x="308460" y="15853"/>
                </a:lnTo>
                <a:lnTo>
                  <a:pt x="349784" y="27160"/>
                </a:lnTo>
                <a:lnTo>
                  <a:pt x="390041" y="38220"/>
                </a:lnTo>
                <a:lnTo>
                  <a:pt x="428832" y="50387"/>
                </a:lnTo>
                <a:lnTo>
                  <a:pt x="466156" y="63783"/>
                </a:lnTo>
                <a:lnTo>
                  <a:pt x="502281" y="79883"/>
                </a:lnTo>
                <a:lnTo>
                  <a:pt x="567733" y="112942"/>
                </a:lnTo>
                <a:lnTo>
                  <a:pt x="626385" y="151163"/>
                </a:lnTo>
                <a:lnTo>
                  <a:pt x="678240" y="193194"/>
                </a:lnTo>
                <a:lnTo>
                  <a:pt x="719830" y="238420"/>
                </a:lnTo>
                <a:lnTo>
                  <a:pt x="737293" y="262016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44964" y="2261404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454293" y="0"/>
                </a:moveTo>
                <a:lnTo>
                  <a:pt x="0" y="0"/>
                </a:lnTo>
                <a:lnTo>
                  <a:pt x="0" y="523910"/>
                </a:lnTo>
                <a:lnTo>
                  <a:pt x="454293" y="523910"/>
                </a:lnTo>
                <a:lnTo>
                  <a:pt x="482019" y="522681"/>
                </a:lnTo>
                <a:lnTo>
                  <a:pt x="538006" y="511743"/>
                </a:lnTo>
                <a:lnTo>
                  <a:pt x="589061" y="492079"/>
                </a:lnTo>
                <a:lnTo>
                  <a:pt x="634517" y="463690"/>
                </a:lnTo>
                <a:lnTo>
                  <a:pt x="673174" y="429156"/>
                </a:lnTo>
                <a:lnTo>
                  <a:pt x="702501" y="387494"/>
                </a:lnTo>
                <a:lnTo>
                  <a:pt x="725029" y="339441"/>
                </a:lnTo>
                <a:lnTo>
                  <a:pt x="735960" y="289053"/>
                </a:lnTo>
                <a:lnTo>
                  <a:pt x="737293" y="262016"/>
                </a:lnTo>
                <a:lnTo>
                  <a:pt x="735960" y="234856"/>
                </a:lnTo>
                <a:lnTo>
                  <a:pt x="725029" y="184468"/>
                </a:lnTo>
                <a:lnTo>
                  <a:pt x="702501" y="137767"/>
                </a:lnTo>
                <a:lnTo>
                  <a:pt x="673174" y="95982"/>
                </a:lnTo>
                <a:lnTo>
                  <a:pt x="634517" y="60219"/>
                </a:lnTo>
                <a:lnTo>
                  <a:pt x="589061" y="31953"/>
                </a:lnTo>
                <a:lnTo>
                  <a:pt x="538006" y="12289"/>
                </a:lnTo>
                <a:lnTo>
                  <a:pt x="482019" y="2457"/>
                </a:lnTo>
                <a:lnTo>
                  <a:pt x="4542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44964" y="2261404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454293" y="523910"/>
                </a:moveTo>
                <a:lnTo>
                  <a:pt x="0" y="523910"/>
                </a:lnTo>
                <a:lnTo>
                  <a:pt x="0" y="0"/>
                </a:lnTo>
                <a:lnTo>
                  <a:pt x="454293" y="0"/>
                </a:lnTo>
                <a:lnTo>
                  <a:pt x="482019" y="2457"/>
                </a:lnTo>
                <a:lnTo>
                  <a:pt x="538006" y="12289"/>
                </a:lnTo>
                <a:lnTo>
                  <a:pt x="589061" y="31953"/>
                </a:lnTo>
                <a:lnTo>
                  <a:pt x="634517" y="60219"/>
                </a:lnTo>
                <a:lnTo>
                  <a:pt x="673174" y="95982"/>
                </a:lnTo>
                <a:lnTo>
                  <a:pt x="702501" y="137767"/>
                </a:lnTo>
                <a:lnTo>
                  <a:pt x="725029" y="184468"/>
                </a:lnTo>
                <a:lnTo>
                  <a:pt x="735960" y="234856"/>
                </a:lnTo>
                <a:lnTo>
                  <a:pt x="737293" y="262016"/>
                </a:lnTo>
                <a:lnTo>
                  <a:pt x="735960" y="289053"/>
                </a:lnTo>
                <a:lnTo>
                  <a:pt x="725029" y="339441"/>
                </a:lnTo>
                <a:lnTo>
                  <a:pt x="702501" y="387494"/>
                </a:lnTo>
                <a:lnTo>
                  <a:pt x="673174" y="429156"/>
                </a:lnTo>
                <a:lnTo>
                  <a:pt x="634517" y="463690"/>
                </a:lnTo>
                <a:lnTo>
                  <a:pt x="589061" y="492079"/>
                </a:lnTo>
                <a:lnTo>
                  <a:pt x="538006" y="511743"/>
                </a:lnTo>
                <a:lnTo>
                  <a:pt x="482019" y="522681"/>
                </a:lnTo>
                <a:lnTo>
                  <a:pt x="454293" y="52391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346077" y="3090467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346077" y="3221844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346077" y="3352361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913410" y="3221844"/>
            <a:ext cx="568325" cy="0"/>
          </a:xfrm>
          <a:custGeom>
            <a:avLst/>
            <a:gdLst/>
            <a:ahLst/>
            <a:cxnLst/>
            <a:rect l="l" t="t" r="r" b="b"/>
            <a:pathLst>
              <a:path w="568325">
                <a:moveTo>
                  <a:pt x="567733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544964" y="2959950"/>
            <a:ext cx="737870" cy="523240"/>
          </a:xfrm>
          <a:custGeom>
            <a:avLst/>
            <a:gdLst/>
            <a:ahLst/>
            <a:cxnLst/>
            <a:rect l="l" t="t" r="r" b="b"/>
            <a:pathLst>
              <a:path w="737870" h="523239">
                <a:moveTo>
                  <a:pt x="221814" y="0"/>
                </a:moveTo>
                <a:lnTo>
                  <a:pt x="0" y="0"/>
                </a:lnTo>
                <a:lnTo>
                  <a:pt x="24127" y="30724"/>
                </a:lnTo>
                <a:lnTo>
                  <a:pt x="45455" y="62923"/>
                </a:lnTo>
                <a:lnTo>
                  <a:pt x="77315" y="127812"/>
                </a:lnTo>
                <a:lnTo>
                  <a:pt x="96110" y="194300"/>
                </a:lnTo>
                <a:lnTo>
                  <a:pt x="102775" y="261893"/>
                </a:lnTo>
                <a:lnTo>
                  <a:pt x="101576" y="295321"/>
                </a:lnTo>
                <a:lnTo>
                  <a:pt x="87979" y="361808"/>
                </a:lnTo>
                <a:lnTo>
                  <a:pt x="62918" y="428173"/>
                </a:lnTo>
                <a:lnTo>
                  <a:pt x="24127" y="491956"/>
                </a:lnTo>
                <a:lnTo>
                  <a:pt x="0" y="522681"/>
                </a:lnTo>
                <a:lnTo>
                  <a:pt x="221814" y="522681"/>
                </a:lnTo>
                <a:lnTo>
                  <a:pt x="264337" y="515553"/>
                </a:lnTo>
                <a:lnTo>
                  <a:pt x="307261" y="506827"/>
                </a:lnTo>
                <a:lnTo>
                  <a:pt x="348451" y="496995"/>
                </a:lnTo>
                <a:lnTo>
                  <a:pt x="388841" y="486057"/>
                </a:lnTo>
                <a:lnTo>
                  <a:pt x="464823" y="458897"/>
                </a:lnTo>
                <a:lnTo>
                  <a:pt x="500682" y="444027"/>
                </a:lnTo>
                <a:lnTo>
                  <a:pt x="567733" y="409738"/>
                </a:lnTo>
                <a:lnTo>
                  <a:pt x="626385" y="372746"/>
                </a:lnTo>
                <a:lnTo>
                  <a:pt x="677040" y="331084"/>
                </a:lnTo>
                <a:lnTo>
                  <a:pt x="719830" y="285489"/>
                </a:lnTo>
                <a:lnTo>
                  <a:pt x="737293" y="261893"/>
                </a:lnTo>
                <a:lnTo>
                  <a:pt x="719830" y="237437"/>
                </a:lnTo>
                <a:lnTo>
                  <a:pt x="678240" y="191842"/>
                </a:lnTo>
                <a:lnTo>
                  <a:pt x="626385" y="150180"/>
                </a:lnTo>
                <a:lnTo>
                  <a:pt x="567733" y="112082"/>
                </a:lnTo>
                <a:lnTo>
                  <a:pt x="502281" y="78654"/>
                </a:lnTo>
                <a:lnTo>
                  <a:pt x="428832" y="49158"/>
                </a:lnTo>
                <a:lnTo>
                  <a:pt x="390041" y="36992"/>
                </a:lnTo>
                <a:lnTo>
                  <a:pt x="349784" y="25931"/>
                </a:lnTo>
                <a:lnTo>
                  <a:pt x="308460" y="16099"/>
                </a:lnTo>
                <a:lnTo>
                  <a:pt x="264337" y="7496"/>
                </a:lnTo>
                <a:lnTo>
                  <a:pt x="221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44964" y="2959950"/>
            <a:ext cx="737870" cy="523240"/>
          </a:xfrm>
          <a:custGeom>
            <a:avLst/>
            <a:gdLst/>
            <a:ahLst/>
            <a:cxnLst/>
            <a:rect l="l" t="t" r="r" b="b"/>
            <a:pathLst>
              <a:path w="737870" h="523239">
                <a:moveTo>
                  <a:pt x="737293" y="261893"/>
                </a:moveTo>
                <a:lnTo>
                  <a:pt x="699835" y="308717"/>
                </a:lnTo>
                <a:lnTo>
                  <a:pt x="653179" y="351977"/>
                </a:lnTo>
                <a:lnTo>
                  <a:pt x="597059" y="391304"/>
                </a:lnTo>
                <a:lnTo>
                  <a:pt x="534140" y="427067"/>
                </a:lnTo>
                <a:lnTo>
                  <a:pt x="464823" y="458897"/>
                </a:lnTo>
                <a:lnTo>
                  <a:pt x="427499" y="472293"/>
                </a:lnTo>
                <a:lnTo>
                  <a:pt x="388841" y="486057"/>
                </a:lnTo>
                <a:lnTo>
                  <a:pt x="348451" y="496995"/>
                </a:lnTo>
                <a:lnTo>
                  <a:pt x="307261" y="506827"/>
                </a:lnTo>
                <a:lnTo>
                  <a:pt x="264337" y="515553"/>
                </a:lnTo>
                <a:lnTo>
                  <a:pt x="221814" y="522681"/>
                </a:lnTo>
                <a:lnTo>
                  <a:pt x="0" y="522681"/>
                </a:lnTo>
                <a:lnTo>
                  <a:pt x="24127" y="491956"/>
                </a:lnTo>
                <a:lnTo>
                  <a:pt x="45455" y="460126"/>
                </a:lnTo>
                <a:lnTo>
                  <a:pt x="77315" y="394868"/>
                </a:lnTo>
                <a:lnTo>
                  <a:pt x="96110" y="328380"/>
                </a:lnTo>
                <a:lnTo>
                  <a:pt x="102775" y="261893"/>
                </a:lnTo>
                <a:lnTo>
                  <a:pt x="101576" y="227605"/>
                </a:lnTo>
                <a:lnTo>
                  <a:pt x="87979" y="161240"/>
                </a:lnTo>
                <a:lnTo>
                  <a:pt x="62918" y="95982"/>
                </a:lnTo>
                <a:lnTo>
                  <a:pt x="24127" y="30724"/>
                </a:lnTo>
                <a:lnTo>
                  <a:pt x="0" y="0"/>
                </a:lnTo>
                <a:lnTo>
                  <a:pt x="221814" y="0"/>
                </a:lnTo>
                <a:lnTo>
                  <a:pt x="264337" y="7496"/>
                </a:lnTo>
                <a:lnTo>
                  <a:pt x="308460" y="16099"/>
                </a:lnTo>
                <a:lnTo>
                  <a:pt x="349784" y="25931"/>
                </a:lnTo>
                <a:lnTo>
                  <a:pt x="390041" y="36992"/>
                </a:lnTo>
                <a:lnTo>
                  <a:pt x="428832" y="49158"/>
                </a:lnTo>
                <a:lnTo>
                  <a:pt x="466156" y="64029"/>
                </a:lnTo>
                <a:lnTo>
                  <a:pt x="502281" y="78654"/>
                </a:lnTo>
                <a:lnTo>
                  <a:pt x="567733" y="112082"/>
                </a:lnTo>
                <a:lnTo>
                  <a:pt x="626385" y="150180"/>
                </a:lnTo>
                <a:lnTo>
                  <a:pt x="678240" y="191842"/>
                </a:lnTo>
                <a:lnTo>
                  <a:pt x="719830" y="237437"/>
                </a:lnTo>
                <a:lnTo>
                  <a:pt x="737293" y="261893"/>
                </a:lnTo>
              </a:path>
            </a:pathLst>
          </a:custGeom>
          <a:ln w="27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544964" y="2959950"/>
            <a:ext cx="737870" cy="523240"/>
          </a:xfrm>
          <a:custGeom>
            <a:avLst/>
            <a:gdLst/>
            <a:ahLst/>
            <a:cxnLst/>
            <a:rect l="l" t="t" r="r" b="b"/>
            <a:pathLst>
              <a:path w="737870" h="523239">
                <a:moveTo>
                  <a:pt x="454293" y="0"/>
                </a:moveTo>
                <a:lnTo>
                  <a:pt x="0" y="0"/>
                </a:lnTo>
                <a:lnTo>
                  <a:pt x="0" y="522681"/>
                </a:lnTo>
                <a:lnTo>
                  <a:pt x="454293" y="522681"/>
                </a:lnTo>
                <a:lnTo>
                  <a:pt x="482019" y="521452"/>
                </a:lnTo>
                <a:lnTo>
                  <a:pt x="538006" y="511620"/>
                </a:lnTo>
                <a:lnTo>
                  <a:pt x="589061" y="491956"/>
                </a:lnTo>
                <a:lnTo>
                  <a:pt x="634517" y="463690"/>
                </a:lnTo>
                <a:lnTo>
                  <a:pt x="673174" y="428173"/>
                </a:lnTo>
                <a:lnTo>
                  <a:pt x="702501" y="386142"/>
                </a:lnTo>
                <a:lnTo>
                  <a:pt x="725029" y="339441"/>
                </a:lnTo>
                <a:lnTo>
                  <a:pt x="735960" y="287824"/>
                </a:lnTo>
                <a:lnTo>
                  <a:pt x="737293" y="261893"/>
                </a:lnTo>
                <a:lnTo>
                  <a:pt x="735960" y="235102"/>
                </a:lnTo>
                <a:lnTo>
                  <a:pt x="725029" y="183239"/>
                </a:lnTo>
                <a:lnTo>
                  <a:pt x="702501" y="136415"/>
                </a:lnTo>
                <a:lnTo>
                  <a:pt x="673174" y="94753"/>
                </a:lnTo>
                <a:lnTo>
                  <a:pt x="634517" y="58990"/>
                </a:lnTo>
                <a:lnTo>
                  <a:pt x="589061" y="32199"/>
                </a:lnTo>
                <a:lnTo>
                  <a:pt x="538006" y="11060"/>
                </a:lnTo>
                <a:lnTo>
                  <a:pt x="482019" y="1228"/>
                </a:lnTo>
                <a:lnTo>
                  <a:pt x="4542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44964" y="2959950"/>
            <a:ext cx="737870" cy="523240"/>
          </a:xfrm>
          <a:custGeom>
            <a:avLst/>
            <a:gdLst/>
            <a:ahLst/>
            <a:cxnLst/>
            <a:rect l="l" t="t" r="r" b="b"/>
            <a:pathLst>
              <a:path w="737870" h="523239">
                <a:moveTo>
                  <a:pt x="454293" y="522681"/>
                </a:moveTo>
                <a:lnTo>
                  <a:pt x="0" y="522681"/>
                </a:lnTo>
                <a:lnTo>
                  <a:pt x="0" y="0"/>
                </a:lnTo>
                <a:lnTo>
                  <a:pt x="454293" y="0"/>
                </a:lnTo>
                <a:lnTo>
                  <a:pt x="482019" y="1228"/>
                </a:lnTo>
                <a:lnTo>
                  <a:pt x="538006" y="11060"/>
                </a:lnTo>
                <a:lnTo>
                  <a:pt x="589061" y="32199"/>
                </a:lnTo>
                <a:lnTo>
                  <a:pt x="634517" y="58990"/>
                </a:lnTo>
                <a:lnTo>
                  <a:pt x="673174" y="94753"/>
                </a:lnTo>
                <a:lnTo>
                  <a:pt x="702501" y="136415"/>
                </a:lnTo>
                <a:lnTo>
                  <a:pt x="725029" y="183239"/>
                </a:lnTo>
                <a:lnTo>
                  <a:pt x="735960" y="235102"/>
                </a:lnTo>
                <a:lnTo>
                  <a:pt x="737293" y="261893"/>
                </a:lnTo>
                <a:lnTo>
                  <a:pt x="735960" y="287824"/>
                </a:lnTo>
                <a:lnTo>
                  <a:pt x="725029" y="339441"/>
                </a:lnTo>
                <a:lnTo>
                  <a:pt x="702501" y="386142"/>
                </a:lnTo>
                <a:lnTo>
                  <a:pt x="673174" y="428173"/>
                </a:lnTo>
                <a:lnTo>
                  <a:pt x="634517" y="463690"/>
                </a:lnTo>
                <a:lnTo>
                  <a:pt x="589061" y="491956"/>
                </a:lnTo>
                <a:lnTo>
                  <a:pt x="538006" y="511620"/>
                </a:lnTo>
                <a:lnTo>
                  <a:pt x="482019" y="521452"/>
                </a:lnTo>
                <a:lnTo>
                  <a:pt x="454293" y="522681"/>
                </a:lnTo>
              </a:path>
            </a:pathLst>
          </a:custGeom>
          <a:ln w="27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346077" y="3788891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346077" y="3919408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346077" y="4049679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913410" y="3919408"/>
            <a:ext cx="568325" cy="0"/>
          </a:xfrm>
          <a:custGeom>
            <a:avLst/>
            <a:gdLst/>
            <a:ahLst/>
            <a:cxnLst/>
            <a:rect l="l" t="t" r="r" b="b"/>
            <a:pathLst>
              <a:path w="568325">
                <a:moveTo>
                  <a:pt x="567733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544964" y="3657514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221814" y="0"/>
                </a:moveTo>
                <a:lnTo>
                  <a:pt x="0" y="0"/>
                </a:lnTo>
                <a:lnTo>
                  <a:pt x="24127" y="31953"/>
                </a:lnTo>
                <a:lnTo>
                  <a:pt x="45455" y="63783"/>
                </a:lnTo>
                <a:lnTo>
                  <a:pt x="77315" y="129041"/>
                </a:lnTo>
                <a:lnTo>
                  <a:pt x="96110" y="195529"/>
                </a:lnTo>
                <a:lnTo>
                  <a:pt x="102775" y="261893"/>
                </a:lnTo>
                <a:lnTo>
                  <a:pt x="101576" y="295075"/>
                </a:lnTo>
                <a:lnTo>
                  <a:pt x="87979" y="361440"/>
                </a:lnTo>
                <a:lnTo>
                  <a:pt x="62918" y="427927"/>
                </a:lnTo>
                <a:lnTo>
                  <a:pt x="24127" y="491956"/>
                </a:lnTo>
                <a:lnTo>
                  <a:pt x="0" y="523910"/>
                </a:lnTo>
                <a:lnTo>
                  <a:pt x="221814" y="523910"/>
                </a:lnTo>
                <a:lnTo>
                  <a:pt x="264337" y="516413"/>
                </a:lnTo>
                <a:lnTo>
                  <a:pt x="307261" y="507810"/>
                </a:lnTo>
                <a:lnTo>
                  <a:pt x="388841" y="485689"/>
                </a:lnTo>
                <a:lnTo>
                  <a:pt x="427499" y="473522"/>
                </a:lnTo>
                <a:lnTo>
                  <a:pt x="500682" y="444027"/>
                </a:lnTo>
                <a:lnTo>
                  <a:pt x="567733" y="410599"/>
                </a:lnTo>
                <a:lnTo>
                  <a:pt x="626385" y="372501"/>
                </a:lnTo>
                <a:lnTo>
                  <a:pt x="677040" y="330838"/>
                </a:lnTo>
                <a:lnTo>
                  <a:pt x="719830" y="285244"/>
                </a:lnTo>
                <a:lnTo>
                  <a:pt x="737293" y="261893"/>
                </a:lnTo>
                <a:lnTo>
                  <a:pt x="719830" y="238420"/>
                </a:lnTo>
                <a:lnTo>
                  <a:pt x="678240" y="193071"/>
                </a:lnTo>
                <a:lnTo>
                  <a:pt x="626385" y="151163"/>
                </a:lnTo>
                <a:lnTo>
                  <a:pt x="567733" y="112942"/>
                </a:lnTo>
                <a:lnTo>
                  <a:pt x="502281" y="78654"/>
                </a:lnTo>
                <a:lnTo>
                  <a:pt x="466156" y="63783"/>
                </a:lnTo>
                <a:lnTo>
                  <a:pt x="428832" y="50387"/>
                </a:lnTo>
                <a:lnTo>
                  <a:pt x="349784" y="25685"/>
                </a:lnTo>
                <a:lnTo>
                  <a:pt x="308460" y="15853"/>
                </a:lnTo>
                <a:lnTo>
                  <a:pt x="264337" y="7128"/>
                </a:lnTo>
                <a:lnTo>
                  <a:pt x="221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544964" y="3657514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737293" y="261893"/>
                </a:moveTo>
                <a:lnTo>
                  <a:pt x="699835" y="308717"/>
                </a:lnTo>
                <a:lnTo>
                  <a:pt x="653179" y="351608"/>
                </a:lnTo>
                <a:lnTo>
                  <a:pt x="597059" y="392164"/>
                </a:lnTo>
                <a:lnTo>
                  <a:pt x="534140" y="427927"/>
                </a:lnTo>
                <a:lnTo>
                  <a:pt x="464823" y="458651"/>
                </a:lnTo>
                <a:lnTo>
                  <a:pt x="427499" y="473522"/>
                </a:lnTo>
                <a:lnTo>
                  <a:pt x="388841" y="485689"/>
                </a:lnTo>
                <a:lnTo>
                  <a:pt x="348451" y="496749"/>
                </a:lnTo>
                <a:lnTo>
                  <a:pt x="307261" y="507810"/>
                </a:lnTo>
                <a:lnTo>
                  <a:pt x="264337" y="516413"/>
                </a:lnTo>
                <a:lnTo>
                  <a:pt x="221814" y="523910"/>
                </a:lnTo>
                <a:lnTo>
                  <a:pt x="0" y="523910"/>
                </a:lnTo>
                <a:lnTo>
                  <a:pt x="24127" y="491956"/>
                </a:lnTo>
                <a:lnTo>
                  <a:pt x="45455" y="459757"/>
                </a:lnTo>
                <a:lnTo>
                  <a:pt x="77315" y="394868"/>
                </a:lnTo>
                <a:lnTo>
                  <a:pt x="96110" y="328380"/>
                </a:lnTo>
                <a:lnTo>
                  <a:pt x="102775" y="261893"/>
                </a:lnTo>
                <a:lnTo>
                  <a:pt x="101576" y="228588"/>
                </a:lnTo>
                <a:lnTo>
                  <a:pt x="87979" y="162101"/>
                </a:lnTo>
                <a:lnTo>
                  <a:pt x="62918" y="95982"/>
                </a:lnTo>
                <a:lnTo>
                  <a:pt x="24127" y="31953"/>
                </a:lnTo>
                <a:lnTo>
                  <a:pt x="0" y="0"/>
                </a:lnTo>
                <a:lnTo>
                  <a:pt x="221814" y="0"/>
                </a:lnTo>
                <a:lnTo>
                  <a:pt x="264337" y="7128"/>
                </a:lnTo>
                <a:lnTo>
                  <a:pt x="308460" y="15853"/>
                </a:lnTo>
                <a:lnTo>
                  <a:pt x="349784" y="25685"/>
                </a:lnTo>
                <a:lnTo>
                  <a:pt x="390041" y="38220"/>
                </a:lnTo>
                <a:lnTo>
                  <a:pt x="428832" y="50387"/>
                </a:lnTo>
                <a:lnTo>
                  <a:pt x="466156" y="63783"/>
                </a:lnTo>
                <a:lnTo>
                  <a:pt x="502281" y="78654"/>
                </a:lnTo>
                <a:lnTo>
                  <a:pt x="567733" y="112942"/>
                </a:lnTo>
                <a:lnTo>
                  <a:pt x="626385" y="151163"/>
                </a:lnTo>
                <a:lnTo>
                  <a:pt x="678240" y="193071"/>
                </a:lnTo>
                <a:lnTo>
                  <a:pt x="719830" y="238420"/>
                </a:lnTo>
                <a:lnTo>
                  <a:pt x="737293" y="261893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544964" y="3657514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454293" y="0"/>
                </a:moveTo>
                <a:lnTo>
                  <a:pt x="0" y="0"/>
                </a:lnTo>
                <a:lnTo>
                  <a:pt x="0" y="523910"/>
                </a:lnTo>
                <a:lnTo>
                  <a:pt x="454293" y="523910"/>
                </a:lnTo>
                <a:lnTo>
                  <a:pt x="482019" y="522681"/>
                </a:lnTo>
                <a:lnTo>
                  <a:pt x="538006" y="511620"/>
                </a:lnTo>
                <a:lnTo>
                  <a:pt x="589061" y="491956"/>
                </a:lnTo>
                <a:lnTo>
                  <a:pt x="634517" y="463690"/>
                </a:lnTo>
                <a:lnTo>
                  <a:pt x="673174" y="427927"/>
                </a:lnTo>
                <a:lnTo>
                  <a:pt x="702501" y="386265"/>
                </a:lnTo>
                <a:lnTo>
                  <a:pt x="725029" y="339441"/>
                </a:lnTo>
                <a:lnTo>
                  <a:pt x="735960" y="289053"/>
                </a:lnTo>
                <a:lnTo>
                  <a:pt x="737293" y="261893"/>
                </a:lnTo>
                <a:lnTo>
                  <a:pt x="735960" y="234856"/>
                </a:lnTo>
                <a:lnTo>
                  <a:pt x="725029" y="184468"/>
                </a:lnTo>
                <a:lnTo>
                  <a:pt x="702501" y="137644"/>
                </a:lnTo>
                <a:lnTo>
                  <a:pt x="673174" y="95982"/>
                </a:lnTo>
                <a:lnTo>
                  <a:pt x="634517" y="60219"/>
                </a:lnTo>
                <a:lnTo>
                  <a:pt x="589061" y="31953"/>
                </a:lnTo>
                <a:lnTo>
                  <a:pt x="538006" y="12289"/>
                </a:lnTo>
                <a:lnTo>
                  <a:pt x="482019" y="1228"/>
                </a:lnTo>
                <a:lnTo>
                  <a:pt x="4542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544964" y="3657514"/>
            <a:ext cx="737870" cy="524510"/>
          </a:xfrm>
          <a:custGeom>
            <a:avLst/>
            <a:gdLst/>
            <a:ahLst/>
            <a:cxnLst/>
            <a:rect l="l" t="t" r="r" b="b"/>
            <a:pathLst>
              <a:path w="737870" h="524510">
                <a:moveTo>
                  <a:pt x="454293" y="523910"/>
                </a:moveTo>
                <a:lnTo>
                  <a:pt x="0" y="523910"/>
                </a:lnTo>
                <a:lnTo>
                  <a:pt x="0" y="0"/>
                </a:lnTo>
                <a:lnTo>
                  <a:pt x="454293" y="0"/>
                </a:lnTo>
                <a:lnTo>
                  <a:pt x="482019" y="1228"/>
                </a:lnTo>
                <a:lnTo>
                  <a:pt x="538006" y="12289"/>
                </a:lnTo>
                <a:lnTo>
                  <a:pt x="589061" y="31953"/>
                </a:lnTo>
                <a:lnTo>
                  <a:pt x="634517" y="60219"/>
                </a:lnTo>
                <a:lnTo>
                  <a:pt x="673174" y="95982"/>
                </a:lnTo>
                <a:lnTo>
                  <a:pt x="702501" y="137644"/>
                </a:lnTo>
                <a:lnTo>
                  <a:pt x="725029" y="184468"/>
                </a:lnTo>
                <a:lnTo>
                  <a:pt x="735960" y="234856"/>
                </a:lnTo>
                <a:lnTo>
                  <a:pt x="737293" y="261893"/>
                </a:lnTo>
                <a:lnTo>
                  <a:pt x="735960" y="289053"/>
                </a:lnTo>
                <a:lnTo>
                  <a:pt x="725029" y="339441"/>
                </a:lnTo>
                <a:lnTo>
                  <a:pt x="702501" y="386265"/>
                </a:lnTo>
                <a:lnTo>
                  <a:pt x="673174" y="427927"/>
                </a:lnTo>
                <a:lnTo>
                  <a:pt x="634517" y="463690"/>
                </a:lnTo>
                <a:lnTo>
                  <a:pt x="589061" y="491956"/>
                </a:lnTo>
                <a:lnTo>
                  <a:pt x="538006" y="511620"/>
                </a:lnTo>
                <a:lnTo>
                  <a:pt x="482019" y="522681"/>
                </a:lnTo>
                <a:lnTo>
                  <a:pt x="454293" y="523910"/>
                </a:lnTo>
              </a:path>
            </a:pathLst>
          </a:custGeom>
          <a:ln w="278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346077" y="4486578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346077" y="4616726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346077" y="4748472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3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913410" y="4616726"/>
            <a:ext cx="568325" cy="0"/>
          </a:xfrm>
          <a:custGeom>
            <a:avLst/>
            <a:gdLst/>
            <a:ahLst/>
            <a:cxnLst/>
            <a:rect l="l" t="t" r="r" b="b"/>
            <a:pathLst>
              <a:path w="568325">
                <a:moveTo>
                  <a:pt x="567733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544964" y="4356061"/>
            <a:ext cx="737870" cy="523240"/>
          </a:xfrm>
          <a:custGeom>
            <a:avLst/>
            <a:gdLst/>
            <a:ahLst/>
            <a:cxnLst/>
            <a:rect l="l" t="t" r="r" b="b"/>
            <a:pathLst>
              <a:path w="737870" h="523239">
                <a:moveTo>
                  <a:pt x="221814" y="0"/>
                </a:moveTo>
                <a:lnTo>
                  <a:pt x="0" y="0"/>
                </a:lnTo>
                <a:lnTo>
                  <a:pt x="24127" y="30601"/>
                </a:lnTo>
                <a:lnTo>
                  <a:pt x="45455" y="62800"/>
                </a:lnTo>
                <a:lnTo>
                  <a:pt x="77315" y="127812"/>
                </a:lnTo>
                <a:lnTo>
                  <a:pt x="96110" y="194300"/>
                </a:lnTo>
                <a:lnTo>
                  <a:pt x="102775" y="260664"/>
                </a:lnTo>
                <a:lnTo>
                  <a:pt x="101576" y="295321"/>
                </a:lnTo>
                <a:lnTo>
                  <a:pt x="87979" y="361686"/>
                </a:lnTo>
                <a:lnTo>
                  <a:pt x="62918" y="426698"/>
                </a:lnTo>
                <a:lnTo>
                  <a:pt x="24127" y="491956"/>
                </a:lnTo>
                <a:lnTo>
                  <a:pt x="0" y="522681"/>
                </a:lnTo>
                <a:lnTo>
                  <a:pt x="221814" y="522681"/>
                </a:lnTo>
                <a:lnTo>
                  <a:pt x="264337" y="515430"/>
                </a:lnTo>
                <a:lnTo>
                  <a:pt x="307261" y="506827"/>
                </a:lnTo>
                <a:lnTo>
                  <a:pt x="348451" y="496995"/>
                </a:lnTo>
                <a:lnTo>
                  <a:pt x="427499" y="472293"/>
                </a:lnTo>
                <a:lnTo>
                  <a:pt x="464823" y="458897"/>
                </a:lnTo>
                <a:lnTo>
                  <a:pt x="500682" y="442798"/>
                </a:lnTo>
                <a:lnTo>
                  <a:pt x="567733" y="409738"/>
                </a:lnTo>
                <a:lnTo>
                  <a:pt x="626385" y="371517"/>
                </a:lnTo>
                <a:lnTo>
                  <a:pt x="677040" y="329487"/>
                </a:lnTo>
                <a:lnTo>
                  <a:pt x="719830" y="285489"/>
                </a:lnTo>
                <a:lnTo>
                  <a:pt x="737293" y="260664"/>
                </a:lnTo>
                <a:lnTo>
                  <a:pt x="719830" y="237437"/>
                </a:lnTo>
                <a:lnTo>
                  <a:pt x="678240" y="191842"/>
                </a:lnTo>
                <a:lnTo>
                  <a:pt x="626385" y="150180"/>
                </a:lnTo>
                <a:lnTo>
                  <a:pt x="567733" y="111959"/>
                </a:lnTo>
                <a:lnTo>
                  <a:pt x="502281" y="78654"/>
                </a:lnTo>
                <a:lnTo>
                  <a:pt x="428832" y="49158"/>
                </a:lnTo>
                <a:lnTo>
                  <a:pt x="390041" y="36869"/>
                </a:lnTo>
                <a:lnTo>
                  <a:pt x="308460" y="14870"/>
                </a:lnTo>
                <a:lnTo>
                  <a:pt x="264337" y="6267"/>
                </a:lnTo>
                <a:lnTo>
                  <a:pt x="2218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544964" y="4356061"/>
            <a:ext cx="737870" cy="523240"/>
          </a:xfrm>
          <a:custGeom>
            <a:avLst/>
            <a:gdLst/>
            <a:ahLst/>
            <a:cxnLst/>
            <a:rect l="l" t="t" r="r" b="b"/>
            <a:pathLst>
              <a:path w="737870" h="523239">
                <a:moveTo>
                  <a:pt x="737293" y="260664"/>
                </a:moveTo>
                <a:lnTo>
                  <a:pt x="699835" y="307488"/>
                </a:lnTo>
                <a:lnTo>
                  <a:pt x="653179" y="351854"/>
                </a:lnTo>
                <a:lnTo>
                  <a:pt x="597059" y="391181"/>
                </a:lnTo>
                <a:lnTo>
                  <a:pt x="534140" y="426698"/>
                </a:lnTo>
                <a:lnTo>
                  <a:pt x="464823" y="458897"/>
                </a:lnTo>
                <a:lnTo>
                  <a:pt x="427499" y="472293"/>
                </a:lnTo>
                <a:lnTo>
                  <a:pt x="388841" y="484460"/>
                </a:lnTo>
                <a:lnTo>
                  <a:pt x="348451" y="496995"/>
                </a:lnTo>
                <a:lnTo>
                  <a:pt x="307261" y="506827"/>
                </a:lnTo>
                <a:lnTo>
                  <a:pt x="264337" y="515430"/>
                </a:lnTo>
                <a:lnTo>
                  <a:pt x="221814" y="522681"/>
                </a:lnTo>
                <a:lnTo>
                  <a:pt x="0" y="522681"/>
                </a:lnTo>
                <a:lnTo>
                  <a:pt x="24127" y="491956"/>
                </a:lnTo>
                <a:lnTo>
                  <a:pt x="45455" y="460003"/>
                </a:lnTo>
                <a:lnTo>
                  <a:pt x="77315" y="394745"/>
                </a:lnTo>
                <a:lnTo>
                  <a:pt x="96110" y="328380"/>
                </a:lnTo>
                <a:lnTo>
                  <a:pt x="102775" y="260664"/>
                </a:lnTo>
                <a:lnTo>
                  <a:pt x="101576" y="227605"/>
                </a:lnTo>
                <a:lnTo>
                  <a:pt x="87979" y="161118"/>
                </a:lnTo>
                <a:lnTo>
                  <a:pt x="62918" y="94753"/>
                </a:lnTo>
                <a:lnTo>
                  <a:pt x="24127" y="30601"/>
                </a:lnTo>
                <a:lnTo>
                  <a:pt x="0" y="0"/>
                </a:lnTo>
                <a:lnTo>
                  <a:pt x="221814" y="0"/>
                </a:lnTo>
                <a:lnTo>
                  <a:pt x="264337" y="6267"/>
                </a:lnTo>
                <a:lnTo>
                  <a:pt x="308460" y="14870"/>
                </a:lnTo>
                <a:lnTo>
                  <a:pt x="349784" y="25931"/>
                </a:lnTo>
                <a:lnTo>
                  <a:pt x="390041" y="36869"/>
                </a:lnTo>
                <a:lnTo>
                  <a:pt x="428832" y="49158"/>
                </a:lnTo>
                <a:lnTo>
                  <a:pt x="466156" y="64029"/>
                </a:lnTo>
                <a:lnTo>
                  <a:pt x="502281" y="78654"/>
                </a:lnTo>
                <a:lnTo>
                  <a:pt x="567733" y="111959"/>
                </a:lnTo>
                <a:lnTo>
                  <a:pt x="626385" y="150180"/>
                </a:lnTo>
                <a:lnTo>
                  <a:pt x="678240" y="191842"/>
                </a:lnTo>
                <a:lnTo>
                  <a:pt x="719830" y="237437"/>
                </a:lnTo>
                <a:lnTo>
                  <a:pt x="737293" y="260664"/>
                </a:lnTo>
              </a:path>
            </a:pathLst>
          </a:custGeom>
          <a:ln w="27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544964" y="4356061"/>
            <a:ext cx="737870" cy="523240"/>
          </a:xfrm>
          <a:custGeom>
            <a:avLst/>
            <a:gdLst/>
            <a:ahLst/>
            <a:cxnLst/>
            <a:rect l="l" t="t" r="r" b="b"/>
            <a:pathLst>
              <a:path w="737870" h="523239">
                <a:moveTo>
                  <a:pt x="454293" y="0"/>
                </a:moveTo>
                <a:lnTo>
                  <a:pt x="0" y="0"/>
                </a:lnTo>
                <a:lnTo>
                  <a:pt x="0" y="522681"/>
                </a:lnTo>
                <a:lnTo>
                  <a:pt x="454293" y="522681"/>
                </a:lnTo>
                <a:lnTo>
                  <a:pt x="482019" y="521452"/>
                </a:lnTo>
                <a:lnTo>
                  <a:pt x="538006" y="511620"/>
                </a:lnTo>
                <a:lnTo>
                  <a:pt x="589061" y="490728"/>
                </a:lnTo>
                <a:lnTo>
                  <a:pt x="634517" y="463690"/>
                </a:lnTo>
                <a:lnTo>
                  <a:pt x="673174" y="427927"/>
                </a:lnTo>
                <a:lnTo>
                  <a:pt x="702501" y="386142"/>
                </a:lnTo>
                <a:lnTo>
                  <a:pt x="725029" y="339318"/>
                </a:lnTo>
                <a:lnTo>
                  <a:pt x="735960" y="287824"/>
                </a:lnTo>
                <a:lnTo>
                  <a:pt x="737293" y="260664"/>
                </a:lnTo>
                <a:lnTo>
                  <a:pt x="735960" y="234733"/>
                </a:lnTo>
                <a:lnTo>
                  <a:pt x="725029" y="183239"/>
                </a:lnTo>
                <a:lnTo>
                  <a:pt x="702501" y="136415"/>
                </a:lnTo>
                <a:lnTo>
                  <a:pt x="673174" y="94753"/>
                </a:lnTo>
                <a:lnTo>
                  <a:pt x="634517" y="58990"/>
                </a:lnTo>
                <a:lnTo>
                  <a:pt x="589061" y="30601"/>
                </a:lnTo>
                <a:lnTo>
                  <a:pt x="538006" y="10937"/>
                </a:lnTo>
                <a:lnTo>
                  <a:pt x="482019" y="1106"/>
                </a:lnTo>
                <a:lnTo>
                  <a:pt x="4542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544964" y="4356061"/>
            <a:ext cx="737870" cy="523240"/>
          </a:xfrm>
          <a:custGeom>
            <a:avLst/>
            <a:gdLst/>
            <a:ahLst/>
            <a:cxnLst/>
            <a:rect l="l" t="t" r="r" b="b"/>
            <a:pathLst>
              <a:path w="737870" h="523239">
                <a:moveTo>
                  <a:pt x="454293" y="522681"/>
                </a:moveTo>
                <a:lnTo>
                  <a:pt x="0" y="522681"/>
                </a:lnTo>
                <a:lnTo>
                  <a:pt x="0" y="0"/>
                </a:lnTo>
                <a:lnTo>
                  <a:pt x="454293" y="0"/>
                </a:lnTo>
                <a:lnTo>
                  <a:pt x="482019" y="1106"/>
                </a:lnTo>
                <a:lnTo>
                  <a:pt x="538006" y="10937"/>
                </a:lnTo>
                <a:lnTo>
                  <a:pt x="589061" y="30601"/>
                </a:lnTo>
                <a:lnTo>
                  <a:pt x="634517" y="58990"/>
                </a:lnTo>
                <a:lnTo>
                  <a:pt x="673174" y="94753"/>
                </a:lnTo>
                <a:lnTo>
                  <a:pt x="702501" y="136415"/>
                </a:lnTo>
                <a:lnTo>
                  <a:pt x="725029" y="183239"/>
                </a:lnTo>
                <a:lnTo>
                  <a:pt x="735960" y="234733"/>
                </a:lnTo>
                <a:lnTo>
                  <a:pt x="737293" y="260664"/>
                </a:lnTo>
                <a:lnTo>
                  <a:pt x="735960" y="287824"/>
                </a:lnTo>
                <a:lnTo>
                  <a:pt x="725029" y="339318"/>
                </a:lnTo>
                <a:lnTo>
                  <a:pt x="702501" y="386142"/>
                </a:lnTo>
                <a:lnTo>
                  <a:pt x="673174" y="427927"/>
                </a:lnTo>
                <a:lnTo>
                  <a:pt x="634517" y="463690"/>
                </a:lnTo>
                <a:lnTo>
                  <a:pt x="589061" y="490728"/>
                </a:lnTo>
                <a:lnTo>
                  <a:pt x="538006" y="511620"/>
                </a:lnTo>
                <a:lnTo>
                  <a:pt x="482019" y="521452"/>
                </a:lnTo>
                <a:lnTo>
                  <a:pt x="454293" y="522681"/>
                </a:lnTo>
              </a:path>
            </a:pathLst>
          </a:custGeom>
          <a:ln w="27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209105" y="997038"/>
            <a:ext cx="566420" cy="0"/>
          </a:xfrm>
          <a:custGeom>
            <a:avLst/>
            <a:gdLst/>
            <a:ahLst/>
            <a:cxnLst/>
            <a:rect l="l" t="t" r="r" b="b"/>
            <a:pathLst>
              <a:path w="566420">
                <a:moveTo>
                  <a:pt x="0" y="0"/>
                </a:moveTo>
                <a:lnTo>
                  <a:pt x="5661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209105" y="1128538"/>
            <a:ext cx="566420" cy="0"/>
          </a:xfrm>
          <a:custGeom>
            <a:avLst/>
            <a:gdLst/>
            <a:ahLst/>
            <a:cxnLst/>
            <a:rect l="l" t="t" r="r" b="b"/>
            <a:pathLst>
              <a:path w="566420">
                <a:moveTo>
                  <a:pt x="0" y="0"/>
                </a:moveTo>
                <a:lnTo>
                  <a:pt x="5661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209105" y="1259055"/>
            <a:ext cx="566420" cy="0"/>
          </a:xfrm>
          <a:custGeom>
            <a:avLst/>
            <a:gdLst/>
            <a:ahLst/>
            <a:cxnLst/>
            <a:rect l="l" t="t" r="r" b="b"/>
            <a:pathLst>
              <a:path w="566420">
                <a:moveTo>
                  <a:pt x="0" y="0"/>
                </a:moveTo>
                <a:lnTo>
                  <a:pt x="5661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775238" y="1128538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567333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406792" y="866522"/>
            <a:ext cx="737235" cy="523240"/>
          </a:xfrm>
          <a:custGeom>
            <a:avLst/>
            <a:gdLst/>
            <a:ahLst/>
            <a:cxnLst/>
            <a:rect l="l" t="t" r="r" b="b"/>
            <a:pathLst>
              <a:path w="737235" h="523240">
                <a:moveTo>
                  <a:pt x="221414" y="0"/>
                </a:moveTo>
                <a:lnTo>
                  <a:pt x="0" y="0"/>
                </a:lnTo>
                <a:lnTo>
                  <a:pt x="23861" y="30724"/>
                </a:lnTo>
                <a:lnTo>
                  <a:pt x="45056" y="62677"/>
                </a:lnTo>
                <a:lnTo>
                  <a:pt x="77315" y="127935"/>
                </a:lnTo>
                <a:lnTo>
                  <a:pt x="95977" y="194300"/>
                </a:lnTo>
                <a:lnTo>
                  <a:pt x="102775" y="260787"/>
                </a:lnTo>
                <a:lnTo>
                  <a:pt x="101176" y="295321"/>
                </a:lnTo>
                <a:lnTo>
                  <a:pt x="87979" y="361808"/>
                </a:lnTo>
                <a:lnTo>
                  <a:pt x="62518" y="426821"/>
                </a:lnTo>
                <a:lnTo>
                  <a:pt x="23861" y="492079"/>
                </a:lnTo>
                <a:lnTo>
                  <a:pt x="0" y="522681"/>
                </a:lnTo>
                <a:lnTo>
                  <a:pt x="221414" y="522681"/>
                </a:lnTo>
                <a:lnTo>
                  <a:pt x="265537" y="515307"/>
                </a:lnTo>
                <a:lnTo>
                  <a:pt x="308194" y="506950"/>
                </a:lnTo>
                <a:lnTo>
                  <a:pt x="349784" y="497118"/>
                </a:lnTo>
                <a:lnTo>
                  <a:pt x="389641" y="485812"/>
                </a:lnTo>
                <a:lnTo>
                  <a:pt x="428432" y="472416"/>
                </a:lnTo>
                <a:lnTo>
                  <a:pt x="465757" y="459020"/>
                </a:lnTo>
                <a:lnTo>
                  <a:pt x="535473" y="426821"/>
                </a:lnTo>
                <a:lnTo>
                  <a:pt x="597992" y="391304"/>
                </a:lnTo>
                <a:lnTo>
                  <a:pt x="652779" y="351731"/>
                </a:lnTo>
                <a:lnTo>
                  <a:pt x="699568" y="308717"/>
                </a:lnTo>
                <a:lnTo>
                  <a:pt x="736893" y="260787"/>
                </a:lnTo>
                <a:lnTo>
                  <a:pt x="719563" y="237560"/>
                </a:lnTo>
                <a:lnTo>
                  <a:pt x="678240" y="191965"/>
                </a:lnTo>
                <a:lnTo>
                  <a:pt x="627585" y="150303"/>
                </a:lnTo>
                <a:lnTo>
                  <a:pt x="568666" y="112082"/>
                </a:lnTo>
                <a:lnTo>
                  <a:pt x="501881" y="78777"/>
                </a:lnTo>
                <a:lnTo>
                  <a:pt x="428432" y="49281"/>
                </a:lnTo>
                <a:lnTo>
                  <a:pt x="389641" y="36992"/>
                </a:lnTo>
                <a:lnTo>
                  <a:pt x="349784" y="25931"/>
                </a:lnTo>
                <a:lnTo>
                  <a:pt x="308194" y="16099"/>
                </a:lnTo>
                <a:lnTo>
                  <a:pt x="265537" y="7496"/>
                </a:lnTo>
                <a:lnTo>
                  <a:pt x="2214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406792" y="866522"/>
            <a:ext cx="737235" cy="523240"/>
          </a:xfrm>
          <a:custGeom>
            <a:avLst/>
            <a:gdLst/>
            <a:ahLst/>
            <a:cxnLst/>
            <a:rect l="l" t="t" r="r" b="b"/>
            <a:pathLst>
              <a:path w="737235" h="523240">
                <a:moveTo>
                  <a:pt x="736893" y="260787"/>
                </a:moveTo>
                <a:lnTo>
                  <a:pt x="699568" y="308717"/>
                </a:lnTo>
                <a:lnTo>
                  <a:pt x="652779" y="351731"/>
                </a:lnTo>
                <a:lnTo>
                  <a:pt x="597992" y="391304"/>
                </a:lnTo>
                <a:lnTo>
                  <a:pt x="535473" y="426821"/>
                </a:lnTo>
                <a:lnTo>
                  <a:pt x="500548" y="444027"/>
                </a:lnTo>
                <a:lnTo>
                  <a:pt x="428432" y="472416"/>
                </a:lnTo>
                <a:lnTo>
                  <a:pt x="389641" y="485812"/>
                </a:lnTo>
                <a:lnTo>
                  <a:pt x="349784" y="497118"/>
                </a:lnTo>
                <a:lnTo>
                  <a:pt x="308194" y="506950"/>
                </a:lnTo>
                <a:lnTo>
                  <a:pt x="265537" y="515307"/>
                </a:lnTo>
                <a:lnTo>
                  <a:pt x="221414" y="522681"/>
                </a:lnTo>
                <a:lnTo>
                  <a:pt x="0" y="522681"/>
                </a:lnTo>
                <a:lnTo>
                  <a:pt x="23861" y="492079"/>
                </a:lnTo>
                <a:lnTo>
                  <a:pt x="45056" y="460126"/>
                </a:lnTo>
                <a:lnTo>
                  <a:pt x="77315" y="394868"/>
                </a:lnTo>
                <a:lnTo>
                  <a:pt x="95977" y="328380"/>
                </a:lnTo>
                <a:lnTo>
                  <a:pt x="102775" y="260787"/>
                </a:lnTo>
                <a:lnTo>
                  <a:pt x="101176" y="227728"/>
                </a:lnTo>
                <a:lnTo>
                  <a:pt x="87979" y="161240"/>
                </a:lnTo>
                <a:lnTo>
                  <a:pt x="62518" y="95982"/>
                </a:lnTo>
                <a:lnTo>
                  <a:pt x="23861" y="30724"/>
                </a:lnTo>
                <a:lnTo>
                  <a:pt x="0" y="0"/>
                </a:lnTo>
                <a:lnTo>
                  <a:pt x="221414" y="0"/>
                </a:lnTo>
                <a:lnTo>
                  <a:pt x="265537" y="7496"/>
                </a:lnTo>
                <a:lnTo>
                  <a:pt x="308194" y="16099"/>
                </a:lnTo>
                <a:lnTo>
                  <a:pt x="349784" y="25931"/>
                </a:lnTo>
                <a:lnTo>
                  <a:pt x="389641" y="36992"/>
                </a:lnTo>
                <a:lnTo>
                  <a:pt x="428432" y="49281"/>
                </a:lnTo>
                <a:lnTo>
                  <a:pt x="465757" y="64152"/>
                </a:lnTo>
                <a:lnTo>
                  <a:pt x="501881" y="78777"/>
                </a:lnTo>
                <a:lnTo>
                  <a:pt x="568666" y="112082"/>
                </a:lnTo>
                <a:lnTo>
                  <a:pt x="627585" y="150303"/>
                </a:lnTo>
                <a:lnTo>
                  <a:pt x="678240" y="191965"/>
                </a:lnTo>
                <a:lnTo>
                  <a:pt x="719563" y="237560"/>
                </a:lnTo>
                <a:lnTo>
                  <a:pt x="736893" y="260787"/>
                </a:lnTo>
              </a:path>
            </a:pathLst>
          </a:custGeom>
          <a:ln w="27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128258" y="1075117"/>
            <a:ext cx="112435" cy="1056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209105" y="3439741"/>
            <a:ext cx="566420" cy="0"/>
          </a:xfrm>
          <a:custGeom>
            <a:avLst/>
            <a:gdLst/>
            <a:ahLst/>
            <a:cxnLst/>
            <a:rect l="l" t="t" r="r" b="b"/>
            <a:pathLst>
              <a:path w="566420">
                <a:moveTo>
                  <a:pt x="0" y="0"/>
                </a:moveTo>
                <a:lnTo>
                  <a:pt x="5661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209105" y="3701634"/>
            <a:ext cx="566420" cy="0"/>
          </a:xfrm>
          <a:custGeom>
            <a:avLst/>
            <a:gdLst/>
            <a:ahLst/>
            <a:cxnLst/>
            <a:rect l="l" t="t" r="r" b="b"/>
            <a:pathLst>
              <a:path w="566420">
                <a:moveTo>
                  <a:pt x="0" y="0"/>
                </a:moveTo>
                <a:lnTo>
                  <a:pt x="566133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775238" y="3570257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567333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406792" y="3307995"/>
            <a:ext cx="737235" cy="524510"/>
          </a:xfrm>
          <a:custGeom>
            <a:avLst/>
            <a:gdLst/>
            <a:ahLst/>
            <a:cxnLst/>
            <a:rect l="l" t="t" r="r" b="b"/>
            <a:pathLst>
              <a:path w="737235" h="524510">
                <a:moveTo>
                  <a:pt x="221414" y="0"/>
                </a:moveTo>
                <a:lnTo>
                  <a:pt x="0" y="0"/>
                </a:lnTo>
                <a:lnTo>
                  <a:pt x="23861" y="32199"/>
                </a:lnTo>
                <a:lnTo>
                  <a:pt x="45056" y="64029"/>
                </a:lnTo>
                <a:lnTo>
                  <a:pt x="77315" y="129287"/>
                </a:lnTo>
                <a:lnTo>
                  <a:pt x="95977" y="195775"/>
                </a:lnTo>
                <a:lnTo>
                  <a:pt x="102775" y="262262"/>
                </a:lnTo>
                <a:lnTo>
                  <a:pt x="101176" y="296550"/>
                </a:lnTo>
                <a:lnTo>
                  <a:pt x="87979" y="362915"/>
                </a:lnTo>
                <a:lnTo>
                  <a:pt x="62518" y="428173"/>
                </a:lnTo>
                <a:lnTo>
                  <a:pt x="23861" y="493431"/>
                </a:lnTo>
                <a:lnTo>
                  <a:pt x="0" y="524156"/>
                </a:lnTo>
                <a:lnTo>
                  <a:pt x="221414" y="524156"/>
                </a:lnTo>
                <a:lnTo>
                  <a:pt x="265537" y="516659"/>
                </a:lnTo>
                <a:lnTo>
                  <a:pt x="308194" y="508056"/>
                </a:lnTo>
                <a:lnTo>
                  <a:pt x="349784" y="498224"/>
                </a:lnTo>
                <a:lnTo>
                  <a:pt x="389641" y="486057"/>
                </a:lnTo>
                <a:lnTo>
                  <a:pt x="428432" y="473522"/>
                </a:lnTo>
                <a:lnTo>
                  <a:pt x="465757" y="460126"/>
                </a:lnTo>
                <a:lnTo>
                  <a:pt x="535473" y="428173"/>
                </a:lnTo>
                <a:lnTo>
                  <a:pt x="597992" y="392410"/>
                </a:lnTo>
                <a:lnTo>
                  <a:pt x="652779" y="353083"/>
                </a:lnTo>
                <a:lnTo>
                  <a:pt x="699568" y="308717"/>
                </a:lnTo>
                <a:lnTo>
                  <a:pt x="736893" y="262262"/>
                </a:lnTo>
                <a:lnTo>
                  <a:pt x="719563" y="238666"/>
                </a:lnTo>
                <a:lnTo>
                  <a:pt x="678240" y="193071"/>
                </a:lnTo>
                <a:lnTo>
                  <a:pt x="627585" y="151409"/>
                </a:lnTo>
                <a:lnTo>
                  <a:pt x="568666" y="113188"/>
                </a:lnTo>
                <a:lnTo>
                  <a:pt x="501881" y="80128"/>
                </a:lnTo>
                <a:lnTo>
                  <a:pt x="465757" y="64029"/>
                </a:lnTo>
                <a:lnTo>
                  <a:pt x="428432" y="50633"/>
                </a:lnTo>
                <a:lnTo>
                  <a:pt x="389641" y="38098"/>
                </a:lnTo>
                <a:lnTo>
                  <a:pt x="308194" y="16099"/>
                </a:lnTo>
                <a:lnTo>
                  <a:pt x="265537" y="7496"/>
                </a:lnTo>
                <a:lnTo>
                  <a:pt x="2214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406792" y="3307995"/>
            <a:ext cx="737235" cy="524510"/>
          </a:xfrm>
          <a:custGeom>
            <a:avLst/>
            <a:gdLst/>
            <a:ahLst/>
            <a:cxnLst/>
            <a:rect l="l" t="t" r="r" b="b"/>
            <a:pathLst>
              <a:path w="737235" h="524510">
                <a:moveTo>
                  <a:pt x="736893" y="262262"/>
                </a:moveTo>
                <a:lnTo>
                  <a:pt x="699568" y="308717"/>
                </a:lnTo>
                <a:lnTo>
                  <a:pt x="652779" y="353083"/>
                </a:lnTo>
                <a:lnTo>
                  <a:pt x="597992" y="392410"/>
                </a:lnTo>
                <a:lnTo>
                  <a:pt x="535473" y="428173"/>
                </a:lnTo>
                <a:lnTo>
                  <a:pt x="500548" y="444027"/>
                </a:lnTo>
                <a:lnTo>
                  <a:pt x="465757" y="460126"/>
                </a:lnTo>
                <a:lnTo>
                  <a:pt x="428432" y="473522"/>
                </a:lnTo>
                <a:lnTo>
                  <a:pt x="389641" y="486057"/>
                </a:lnTo>
                <a:lnTo>
                  <a:pt x="349784" y="498224"/>
                </a:lnTo>
                <a:lnTo>
                  <a:pt x="308194" y="508056"/>
                </a:lnTo>
                <a:lnTo>
                  <a:pt x="265537" y="516659"/>
                </a:lnTo>
                <a:lnTo>
                  <a:pt x="221414" y="524156"/>
                </a:lnTo>
                <a:lnTo>
                  <a:pt x="0" y="524156"/>
                </a:lnTo>
                <a:lnTo>
                  <a:pt x="23861" y="493431"/>
                </a:lnTo>
                <a:lnTo>
                  <a:pt x="45056" y="461232"/>
                </a:lnTo>
                <a:lnTo>
                  <a:pt x="77315" y="395974"/>
                </a:lnTo>
                <a:lnTo>
                  <a:pt x="95977" y="329855"/>
                </a:lnTo>
                <a:lnTo>
                  <a:pt x="102775" y="262262"/>
                </a:lnTo>
                <a:lnTo>
                  <a:pt x="101176" y="228834"/>
                </a:lnTo>
                <a:lnTo>
                  <a:pt x="87979" y="162347"/>
                </a:lnTo>
                <a:lnTo>
                  <a:pt x="62518" y="95982"/>
                </a:lnTo>
                <a:lnTo>
                  <a:pt x="23861" y="32199"/>
                </a:lnTo>
                <a:lnTo>
                  <a:pt x="0" y="0"/>
                </a:lnTo>
                <a:lnTo>
                  <a:pt x="221414" y="0"/>
                </a:lnTo>
                <a:lnTo>
                  <a:pt x="265537" y="7496"/>
                </a:lnTo>
                <a:lnTo>
                  <a:pt x="308194" y="16099"/>
                </a:lnTo>
                <a:lnTo>
                  <a:pt x="349784" y="27160"/>
                </a:lnTo>
                <a:lnTo>
                  <a:pt x="389641" y="38098"/>
                </a:lnTo>
                <a:lnTo>
                  <a:pt x="428432" y="50633"/>
                </a:lnTo>
                <a:lnTo>
                  <a:pt x="465757" y="64029"/>
                </a:lnTo>
                <a:lnTo>
                  <a:pt x="501881" y="80128"/>
                </a:lnTo>
                <a:lnTo>
                  <a:pt x="568666" y="113188"/>
                </a:lnTo>
                <a:lnTo>
                  <a:pt x="627585" y="151409"/>
                </a:lnTo>
                <a:lnTo>
                  <a:pt x="678240" y="193071"/>
                </a:lnTo>
                <a:lnTo>
                  <a:pt x="719563" y="238666"/>
                </a:lnTo>
                <a:lnTo>
                  <a:pt x="736893" y="262262"/>
                </a:lnTo>
              </a:path>
            </a:pathLst>
          </a:custGeom>
          <a:ln w="278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209105" y="3832151"/>
            <a:ext cx="198120" cy="87630"/>
          </a:xfrm>
          <a:custGeom>
            <a:avLst/>
            <a:gdLst/>
            <a:ahLst/>
            <a:cxnLst/>
            <a:rect l="l" t="t" r="r" b="b"/>
            <a:pathLst>
              <a:path w="198120" h="87629">
                <a:moveTo>
                  <a:pt x="197686" y="0"/>
                </a:moveTo>
                <a:lnTo>
                  <a:pt x="197686" y="87256"/>
                </a:lnTo>
                <a:lnTo>
                  <a:pt x="0" y="87256"/>
                </a:lnTo>
              </a:path>
            </a:pathLst>
          </a:custGeom>
          <a:ln w="274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209105" y="3221844"/>
            <a:ext cx="198120" cy="86360"/>
          </a:xfrm>
          <a:custGeom>
            <a:avLst/>
            <a:gdLst/>
            <a:ahLst/>
            <a:cxnLst/>
            <a:rect l="l" t="t" r="r" b="b"/>
            <a:pathLst>
              <a:path w="198120" h="86360">
                <a:moveTo>
                  <a:pt x="197686" y="86150"/>
                </a:moveTo>
                <a:lnTo>
                  <a:pt x="197686" y="0"/>
                </a:lnTo>
                <a:lnTo>
                  <a:pt x="0" y="0"/>
                </a:lnTo>
              </a:path>
            </a:pathLst>
          </a:custGeom>
          <a:ln w="27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128246" y="3516456"/>
            <a:ext cx="112458" cy="1072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641372" y="3439741"/>
            <a:ext cx="568325" cy="0"/>
          </a:xfrm>
          <a:custGeom>
            <a:avLst/>
            <a:gdLst/>
            <a:ahLst/>
            <a:cxnLst/>
            <a:rect l="l" t="t" r="r" b="b"/>
            <a:pathLst>
              <a:path w="568325">
                <a:moveTo>
                  <a:pt x="567733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641372" y="3701634"/>
            <a:ext cx="568325" cy="0"/>
          </a:xfrm>
          <a:custGeom>
            <a:avLst/>
            <a:gdLst/>
            <a:ahLst/>
            <a:cxnLst/>
            <a:rect l="l" t="t" r="r" b="b"/>
            <a:pathLst>
              <a:path w="568325">
                <a:moveTo>
                  <a:pt x="567733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641372" y="3230570"/>
            <a:ext cx="0" cy="209550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209170"/>
                </a:moveTo>
                <a:lnTo>
                  <a:pt x="0" y="0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641372" y="3710237"/>
            <a:ext cx="0" cy="192405"/>
          </a:xfrm>
          <a:custGeom>
            <a:avLst/>
            <a:gdLst/>
            <a:ahLst/>
            <a:cxnLst/>
            <a:rect l="l" t="t" r="r" b="b"/>
            <a:pathLst>
              <a:path h="192404">
                <a:moveTo>
                  <a:pt x="0" y="0"/>
                </a:moveTo>
                <a:lnTo>
                  <a:pt x="0" y="191965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481143" y="3221844"/>
            <a:ext cx="160655" cy="0"/>
          </a:xfrm>
          <a:custGeom>
            <a:avLst/>
            <a:gdLst/>
            <a:ahLst/>
            <a:cxnLst/>
            <a:rect l="l" t="t" r="r" b="b"/>
            <a:pathLst>
              <a:path w="160654">
                <a:moveTo>
                  <a:pt x="160228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481143" y="3919408"/>
            <a:ext cx="160655" cy="0"/>
          </a:xfrm>
          <a:custGeom>
            <a:avLst/>
            <a:gdLst/>
            <a:ahLst/>
            <a:cxnLst/>
            <a:rect l="l" t="t" r="r" b="b"/>
            <a:pathLst>
              <a:path w="160654">
                <a:moveTo>
                  <a:pt x="160228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019283" y="3221844"/>
            <a:ext cx="189865" cy="0"/>
          </a:xfrm>
          <a:custGeom>
            <a:avLst/>
            <a:gdLst/>
            <a:ahLst/>
            <a:cxnLst/>
            <a:rect l="l" t="t" r="r" b="b"/>
            <a:pathLst>
              <a:path w="189864">
                <a:moveTo>
                  <a:pt x="189821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009819" y="3919408"/>
            <a:ext cx="199390" cy="0"/>
          </a:xfrm>
          <a:custGeom>
            <a:avLst/>
            <a:gdLst/>
            <a:ahLst/>
            <a:cxnLst/>
            <a:rect l="l" t="t" r="r" b="b"/>
            <a:pathLst>
              <a:path w="199389">
                <a:moveTo>
                  <a:pt x="199286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019283" y="2523420"/>
            <a:ext cx="0" cy="698500"/>
          </a:xfrm>
          <a:custGeom>
            <a:avLst/>
            <a:gdLst/>
            <a:ahLst/>
            <a:cxnLst/>
            <a:rect l="l" t="t" r="r" b="b"/>
            <a:pathLst>
              <a:path h="698500">
                <a:moveTo>
                  <a:pt x="0" y="698424"/>
                </a:moveTo>
                <a:lnTo>
                  <a:pt x="0" y="0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019283" y="3919408"/>
            <a:ext cx="0" cy="697865"/>
          </a:xfrm>
          <a:custGeom>
            <a:avLst/>
            <a:gdLst/>
            <a:ahLst/>
            <a:cxnLst/>
            <a:rect l="l" t="t" r="r" b="b"/>
            <a:pathLst>
              <a:path h="697864">
                <a:moveTo>
                  <a:pt x="0" y="0"/>
                </a:moveTo>
                <a:lnTo>
                  <a:pt x="0" y="697318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481143" y="2523420"/>
            <a:ext cx="538480" cy="0"/>
          </a:xfrm>
          <a:custGeom>
            <a:avLst/>
            <a:gdLst/>
            <a:ahLst/>
            <a:cxnLst/>
            <a:rect l="l" t="t" r="r" b="b"/>
            <a:pathLst>
              <a:path w="538479">
                <a:moveTo>
                  <a:pt x="538139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481143" y="4616726"/>
            <a:ext cx="538480" cy="0"/>
          </a:xfrm>
          <a:custGeom>
            <a:avLst/>
            <a:gdLst/>
            <a:ahLst/>
            <a:cxnLst/>
            <a:rect l="l" t="t" r="r" b="b"/>
            <a:pathLst>
              <a:path w="538479">
                <a:moveTo>
                  <a:pt x="538139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338377" y="1127309"/>
            <a:ext cx="871219" cy="0"/>
          </a:xfrm>
          <a:custGeom>
            <a:avLst/>
            <a:gdLst/>
            <a:ahLst/>
            <a:cxnLst/>
            <a:rect l="l" t="t" r="r" b="b"/>
            <a:pathLst>
              <a:path w="871220">
                <a:moveTo>
                  <a:pt x="870728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829728" y="997038"/>
            <a:ext cx="379730" cy="0"/>
          </a:xfrm>
          <a:custGeom>
            <a:avLst/>
            <a:gdLst/>
            <a:ahLst/>
            <a:cxnLst/>
            <a:rect l="l" t="t" r="r" b="b"/>
            <a:pathLst>
              <a:path w="379729">
                <a:moveTo>
                  <a:pt x="379377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829728" y="1259055"/>
            <a:ext cx="379730" cy="0"/>
          </a:xfrm>
          <a:custGeom>
            <a:avLst/>
            <a:gdLst/>
            <a:ahLst/>
            <a:cxnLst/>
            <a:rect l="l" t="t" r="r" b="b"/>
            <a:pathLst>
              <a:path w="379729">
                <a:moveTo>
                  <a:pt x="379377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829728" y="429991"/>
            <a:ext cx="0" cy="567055"/>
          </a:xfrm>
          <a:custGeom>
            <a:avLst/>
            <a:gdLst/>
            <a:ahLst/>
            <a:cxnLst/>
            <a:rect l="l" t="t" r="r" b="b"/>
            <a:pathLst>
              <a:path h="567055">
                <a:moveTo>
                  <a:pt x="0" y="567047"/>
                </a:moveTo>
                <a:lnTo>
                  <a:pt x="0" y="0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829728" y="1259055"/>
            <a:ext cx="0" cy="567055"/>
          </a:xfrm>
          <a:custGeom>
            <a:avLst/>
            <a:gdLst/>
            <a:ahLst/>
            <a:cxnLst/>
            <a:rect l="l" t="t" r="r" b="b"/>
            <a:pathLst>
              <a:path h="567055">
                <a:moveTo>
                  <a:pt x="0" y="0"/>
                </a:moveTo>
                <a:lnTo>
                  <a:pt x="0" y="567047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481143" y="429991"/>
            <a:ext cx="348615" cy="0"/>
          </a:xfrm>
          <a:custGeom>
            <a:avLst/>
            <a:gdLst/>
            <a:ahLst/>
            <a:cxnLst/>
            <a:rect l="l" t="t" r="r" b="b"/>
            <a:pathLst>
              <a:path w="348614">
                <a:moveTo>
                  <a:pt x="348584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481143" y="1826102"/>
            <a:ext cx="348615" cy="0"/>
          </a:xfrm>
          <a:custGeom>
            <a:avLst/>
            <a:gdLst/>
            <a:ahLst/>
            <a:cxnLst/>
            <a:rect l="l" t="t" r="r" b="b"/>
            <a:pathLst>
              <a:path w="348614">
                <a:moveTo>
                  <a:pt x="348584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560662" y="3352361"/>
            <a:ext cx="785495" cy="0"/>
          </a:xfrm>
          <a:custGeom>
            <a:avLst/>
            <a:gdLst/>
            <a:ahLst/>
            <a:cxnLst/>
            <a:rect l="l" t="t" r="r" b="b"/>
            <a:pathLst>
              <a:path w="785495">
                <a:moveTo>
                  <a:pt x="785415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570126" y="3352361"/>
            <a:ext cx="0" cy="2583180"/>
          </a:xfrm>
          <a:custGeom>
            <a:avLst/>
            <a:gdLst/>
            <a:ahLst/>
            <a:cxnLst/>
            <a:rect l="l" t="t" r="r" b="b"/>
            <a:pathLst>
              <a:path h="2583179">
                <a:moveTo>
                  <a:pt x="0" y="0"/>
                </a:moveTo>
                <a:lnTo>
                  <a:pt x="0" y="2583001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938573" y="1259055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407504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940173" y="1259055"/>
            <a:ext cx="0" cy="3856354"/>
          </a:xfrm>
          <a:custGeom>
            <a:avLst/>
            <a:gdLst/>
            <a:ahLst/>
            <a:cxnLst/>
            <a:rect l="l" t="t" r="r" b="b"/>
            <a:pathLst>
              <a:path h="3856354">
                <a:moveTo>
                  <a:pt x="0" y="0"/>
                </a:moveTo>
                <a:lnTo>
                  <a:pt x="0" y="3855895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182884" y="560262"/>
            <a:ext cx="1163320" cy="0"/>
          </a:xfrm>
          <a:custGeom>
            <a:avLst/>
            <a:gdLst/>
            <a:ahLst/>
            <a:cxnLst/>
            <a:rect l="l" t="t" r="r" b="b"/>
            <a:pathLst>
              <a:path w="1163320">
                <a:moveTo>
                  <a:pt x="1163192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182884" y="561491"/>
            <a:ext cx="0" cy="4553585"/>
          </a:xfrm>
          <a:custGeom>
            <a:avLst/>
            <a:gdLst/>
            <a:ahLst/>
            <a:cxnLst/>
            <a:rect l="l" t="t" r="r" b="b"/>
            <a:pathLst>
              <a:path h="4553585">
                <a:moveTo>
                  <a:pt x="0" y="0"/>
                </a:moveTo>
                <a:lnTo>
                  <a:pt x="0" y="4553459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426902" y="299475"/>
            <a:ext cx="1919605" cy="0"/>
          </a:xfrm>
          <a:custGeom>
            <a:avLst/>
            <a:gdLst/>
            <a:ahLst/>
            <a:cxnLst/>
            <a:rect l="l" t="t" r="r" b="b"/>
            <a:pathLst>
              <a:path w="1919604">
                <a:moveTo>
                  <a:pt x="1919174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426902" y="299475"/>
            <a:ext cx="0" cy="4815840"/>
          </a:xfrm>
          <a:custGeom>
            <a:avLst/>
            <a:gdLst/>
            <a:ahLst/>
            <a:cxnLst/>
            <a:rect l="l" t="t" r="r" b="b"/>
            <a:pathLst>
              <a:path h="4815840">
                <a:moveTo>
                  <a:pt x="0" y="0"/>
                </a:moveTo>
                <a:lnTo>
                  <a:pt x="0" y="4815476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805053" y="2523420"/>
            <a:ext cx="1541145" cy="0"/>
          </a:xfrm>
          <a:custGeom>
            <a:avLst/>
            <a:gdLst/>
            <a:ahLst/>
            <a:cxnLst/>
            <a:rect l="l" t="t" r="r" b="b"/>
            <a:pathLst>
              <a:path w="1541145">
                <a:moveTo>
                  <a:pt x="1541023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805053" y="2523420"/>
            <a:ext cx="0" cy="3412490"/>
          </a:xfrm>
          <a:custGeom>
            <a:avLst/>
            <a:gdLst/>
            <a:ahLst/>
            <a:cxnLst/>
            <a:rect l="l" t="t" r="r" b="b"/>
            <a:pathLst>
              <a:path h="3412490">
                <a:moveTo>
                  <a:pt x="0" y="0"/>
                </a:moveTo>
                <a:lnTo>
                  <a:pt x="0" y="3411942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047778" y="2392903"/>
            <a:ext cx="2298700" cy="0"/>
          </a:xfrm>
          <a:custGeom>
            <a:avLst/>
            <a:gdLst/>
            <a:ahLst/>
            <a:cxnLst/>
            <a:rect l="l" t="t" r="r" b="b"/>
            <a:pathLst>
              <a:path w="2298700">
                <a:moveTo>
                  <a:pt x="2298299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049071" y="2392903"/>
            <a:ext cx="0" cy="3542665"/>
          </a:xfrm>
          <a:custGeom>
            <a:avLst/>
            <a:gdLst/>
            <a:ahLst/>
            <a:cxnLst/>
            <a:rect l="l" t="t" r="r" b="b"/>
            <a:pathLst>
              <a:path h="3542665">
                <a:moveTo>
                  <a:pt x="0" y="0"/>
                </a:moveTo>
                <a:lnTo>
                  <a:pt x="0" y="3542459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426902" y="5490168"/>
            <a:ext cx="0" cy="271145"/>
          </a:xfrm>
          <a:custGeom>
            <a:avLst/>
            <a:gdLst/>
            <a:ahLst/>
            <a:cxnLst/>
            <a:rect l="l" t="t" r="r" b="b"/>
            <a:pathLst>
              <a:path h="271145">
                <a:moveTo>
                  <a:pt x="0" y="0"/>
                </a:moveTo>
                <a:lnTo>
                  <a:pt x="0" y="270570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182884" y="5490168"/>
            <a:ext cx="0" cy="271145"/>
          </a:xfrm>
          <a:custGeom>
            <a:avLst/>
            <a:gdLst/>
            <a:ahLst/>
            <a:cxnLst/>
            <a:rect l="l" t="t" r="r" b="b"/>
            <a:pathLst>
              <a:path h="271145">
                <a:moveTo>
                  <a:pt x="0" y="0"/>
                </a:moveTo>
                <a:lnTo>
                  <a:pt x="0" y="270570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940173" y="5490168"/>
            <a:ext cx="0" cy="271145"/>
          </a:xfrm>
          <a:custGeom>
            <a:avLst/>
            <a:gdLst/>
            <a:ahLst/>
            <a:cxnLst/>
            <a:rect l="l" t="t" r="r" b="b"/>
            <a:pathLst>
              <a:path h="271145">
                <a:moveTo>
                  <a:pt x="0" y="0"/>
                </a:moveTo>
                <a:lnTo>
                  <a:pt x="0" y="270570"/>
                </a:lnTo>
              </a:path>
            </a:pathLst>
          </a:custGeom>
          <a:ln w="293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994622" y="5087913"/>
            <a:ext cx="377825" cy="402590"/>
          </a:xfrm>
          <a:custGeom>
            <a:avLst/>
            <a:gdLst/>
            <a:ahLst/>
            <a:cxnLst/>
            <a:rect l="l" t="t" r="r" b="b"/>
            <a:pathLst>
              <a:path w="377825" h="402589">
                <a:moveTo>
                  <a:pt x="188262" y="52968"/>
                </a:moveTo>
                <a:lnTo>
                  <a:pt x="0" y="402254"/>
                </a:lnTo>
                <a:lnTo>
                  <a:pt x="377817" y="402254"/>
                </a:lnTo>
                <a:lnTo>
                  <a:pt x="188262" y="52968"/>
                </a:lnTo>
                <a:close/>
              </a:path>
              <a:path w="377825" h="402589">
                <a:moveTo>
                  <a:pt x="188262" y="0"/>
                </a:moveTo>
                <a:lnTo>
                  <a:pt x="177598" y="2335"/>
                </a:lnTo>
                <a:lnTo>
                  <a:pt x="168267" y="8602"/>
                </a:lnTo>
                <a:lnTo>
                  <a:pt x="162801" y="16099"/>
                </a:lnTo>
                <a:lnTo>
                  <a:pt x="160268" y="27037"/>
                </a:lnTo>
                <a:lnTo>
                  <a:pt x="162801" y="36869"/>
                </a:lnTo>
                <a:lnTo>
                  <a:pt x="168267" y="45594"/>
                </a:lnTo>
                <a:lnTo>
                  <a:pt x="177598" y="50387"/>
                </a:lnTo>
                <a:lnTo>
                  <a:pt x="188262" y="52968"/>
                </a:lnTo>
                <a:lnTo>
                  <a:pt x="198926" y="50387"/>
                </a:lnTo>
                <a:lnTo>
                  <a:pt x="208257" y="45594"/>
                </a:lnTo>
                <a:lnTo>
                  <a:pt x="215056" y="36869"/>
                </a:lnTo>
                <a:lnTo>
                  <a:pt x="216255" y="27037"/>
                </a:lnTo>
                <a:lnTo>
                  <a:pt x="215056" y="16099"/>
                </a:lnTo>
                <a:lnTo>
                  <a:pt x="208257" y="8602"/>
                </a:lnTo>
                <a:lnTo>
                  <a:pt x="198926" y="2335"/>
                </a:lnTo>
                <a:lnTo>
                  <a:pt x="1882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140780" y="5073803"/>
            <a:ext cx="84208" cy="811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994622" y="5140882"/>
            <a:ext cx="377825" cy="349885"/>
          </a:xfrm>
          <a:custGeom>
            <a:avLst/>
            <a:gdLst/>
            <a:ahLst/>
            <a:cxnLst/>
            <a:rect l="l" t="t" r="r" b="b"/>
            <a:pathLst>
              <a:path w="377825" h="349885">
                <a:moveTo>
                  <a:pt x="0" y="349285"/>
                </a:moveTo>
                <a:lnTo>
                  <a:pt x="188262" y="0"/>
                </a:lnTo>
                <a:lnTo>
                  <a:pt x="377817" y="349285"/>
                </a:lnTo>
                <a:lnTo>
                  <a:pt x="0" y="349285"/>
                </a:lnTo>
              </a:path>
            </a:pathLst>
          </a:custGeom>
          <a:ln w="281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750351" y="5087913"/>
            <a:ext cx="378460" cy="402590"/>
          </a:xfrm>
          <a:custGeom>
            <a:avLst/>
            <a:gdLst/>
            <a:ahLst/>
            <a:cxnLst/>
            <a:rect l="l" t="t" r="r" b="b"/>
            <a:pathLst>
              <a:path w="378460" h="402589">
                <a:moveTo>
                  <a:pt x="189821" y="52968"/>
                </a:moveTo>
                <a:lnTo>
                  <a:pt x="0" y="402254"/>
                </a:lnTo>
                <a:lnTo>
                  <a:pt x="378044" y="402254"/>
                </a:lnTo>
                <a:lnTo>
                  <a:pt x="189821" y="52968"/>
                </a:lnTo>
                <a:close/>
              </a:path>
              <a:path w="378460" h="402589">
                <a:moveTo>
                  <a:pt x="189821" y="0"/>
                </a:moveTo>
                <a:lnTo>
                  <a:pt x="177558" y="2335"/>
                </a:lnTo>
                <a:lnTo>
                  <a:pt x="169560" y="8602"/>
                </a:lnTo>
                <a:lnTo>
                  <a:pt x="163028" y="16099"/>
                </a:lnTo>
                <a:lnTo>
                  <a:pt x="160095" y="27037"/>
                </a:lnTo>
                <a:lnTo>
                  <a:pt x="163028" y="36869"/>
                </a:lnTo>
                <a:lnTo>
                  <a:pt x="169560" y="45594"/>
                </a:lnTo>
                <a:lnTo>
                  <a:pt x="177558" y="50387"/>
                </a:lnTo>
                <a:lnTo>
                  <a:pt x="189821" y="52968"/>
                </a:lnTo>
                <a:lnTo>
                  <a:pt x="200486" y="50387"/>
                </a:lnTo>
                <a:lnTo>
                  <a:pt x="209817" y="45594"/>
                </a:lnTo>
                <a:lnTo>
                  <a:pt x="215016" y="36869"/>
                </a:lnTo>
                <a:lnTo>
                  <a:pt x="217815" y="27037"/>
                </a:lnTo>
                <a:lnTo>
                  <a:pt x="215016" y="16099"/>
                </a:lnTo>
                <a:lnTo>
                  <a:pt x="209817" y="8602"/>
                </a:lnTo>
                <a:lnTo>
                  <a:pt x="200486" y="2335"/>
                </a:lnTo>
                <a:lnTo>
                  <a:pt x="1898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896353" y="5073820"/>
            <a:ext cx="85906" cy="8115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750351" y="5140882"/>
            <a:ext cx="378460" cy="349885"/>
          </a:xfrm>
          <a:custGeom>
            <a:avLst/>
            <a:gdLst/>
            <a:ahLst/>
            <a:cxnLst/>
            <a:rect l="l" t="t" r="r" b="b"/>
            <a:pathLst>
              <a:path w="378460" h="349885">
                <a:moveTo>
                  <a:pt x="0" y="349285"/>
                </a:moveTo>
                <a:lnTo>
                  <a:pt x="189821" y="0"/>
                </a:lnTo>
                <a:lnTo>
                  <a:pt x="378044" y="349285"/>
                </a:lnTo>
                <a:lnTo>
                  <a:pt x="0" y="349285"/>
                </a:lnTo>
              </a:path>
            </a:pathLst>
          </a:custGeom>
          <a:ln w="281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237333" y="5087913"/>
            <a:ext cx="378460" cy="402590"/>
          </a:xfrm>
          <a:custGeom>
            <a:avLst/>
            <a:gdLst/>
            <a:ahLst/>
            <a:cxnLst/>
            <a:rect l="l" t="t" r="r" b="b"/>
            <a:pathLst>
              <a:path w="378459" h="402589">
                <a:moveTo>
                  <a:pt x="189568" y="52968"/>
                </a:moveTo>
                <a:lnTo>
                  <a:pt x="0" y="402254"/>
                </a:lnTo>
                <a:lnTo>
                  <a:pt x="377844" y="402254"/>
                </a:lnTo>
                <a:lnTo>
                  <a:pt x="189568" y="52968"/>
                </a:lnTo>
                <a:close/>
              </a:path>
              <a:path w="378459" h="402589">
                <a:moveTo>
                  <a:pt x="189568" y="0"/>
                </a:moveTo>
                <a:lnTo>
                  <a:pt x="178931" y="2335"/>
                </a:lnTo>
                <a:lnTo>
                  <a:pt x="169586" y="8602"/>
                </a:lnTo>
                <a:lnTo>
                  <a:pt x="162815" y="16099"/>
                </a:lnTo>
                <a:lnTo>
                  <a:pt x="161521" y="27037"/>
                </a:lnTo>
                <a:lnTo>
                  <a:pt x="162815" y="36869"/>
                </a:lnTo>
                <a:lnTo>
                  <a:pt x="169586" y="45594"/>
                </a:lnTo>
                <a:lnTo>
                  <a:pt x="178931" y="50387"/>
                </a:lnTo>
                <a:lnTo>
                  <a:pt x="189568" y="52968"/>
                </a:lnTo>
                <a:lnTo>
                  <a:pt x="200206" y="50387"/>
                </a:lnTo>
                <a:lnTo>
                  <a:pt x="209550" y="45594"/>
                </a:lnTo>
                <a:lnTo>
                  <a:pt x="215042" y="36869"/>
                </a:lnTo>
                <a:lnTo>
                  <a:pt x="217615" y="27037"/>
                </a:lnTo>
                <a:lnTo>
                  <a:pt x="215042" y="16099"/>
                </a:lnTo>
                <a:lnTo>
                  <a:pt x="209550" y="8602"/>
                </a:lnTo>
                <a:lnTo>
                  <a:pt x="200206" y="2335"/>
                </a:lnTo>
                <a:lnTo>
                  <a:pt x="1895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384746" y="5073803"/>
            <a:ext cx="84313" cy="811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237333" y="5140882"/>
            <a:ext cx="378460" cy="349885"/>
          </a:xfrm>
          <a:custGeom>
            <a:avLst/>
            <a:gdLst/>
            <a:ahLst/>
            <a:cxnLst/>
            <a:rect l="l" t="t" r="r" b="b"/>
            <a:pathLst>
              <a:path w="378459" h="349885">
                <a:moveTo>
                  <a:pt x="0" y="349285"/>
                </a:moveTo>
                <a:lnTo>
                  <a:pt x="189568" y="0"/>
                </a:lnTo>
                <a:lnTo>
                  <a:pt x="377844" y="349285"/>
                </a:lnTo>
                <a:lnTo>
                  <a:pt x="0" y="349285"/>
                </a:lnTo>
              </a:path>
            </a:pathLst>
          </a:custGeom>
          <a:ln w="281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182884" y="997038"/>
            <a:ext cx="1163320" cy="0"/>
          </a:xfrm>
          <a:custGeom>
            <a:avLst/>
            <a:gdLst/>
            <a:ahLst/>
            <a:cxnLst/>
            <a:rect l="l" t="t" r="r" b="b"/>
            <a:pathLst>
              <a:path w="1163320">
                <a:moveTo>
                  <a:pt x="1163192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938573" y="1956373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407504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426902" y="1694356"/>
            <a:ext cx="1919605" cy="0"/>
          </a:xfrm>
          <a:custGeom>
            <a:avLst/>
            <a:gdLst/>
            <a:ahLst/>
            <a:cxnLst/>
            <a:rect l="l" t="t" r="r" b="b"/>
            <a:pathLst>
              <a:path w="1919604">
                <a:moveTo>
                  <a:pt x="1919174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938573" y="2655166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407504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049071" y="3090467"/>
            <a:ext cx="2297430" cy="0"/>
          </a:xfrm>
          <a:custGeom>
            <a:avLst/>
            <a:gdLst/>
            <a:ahLst/>
            <a:cxnLst/>
            <a:rect l="l" t="t" r="r" b="b"/>
            <a:pathLst>
              <a:path w="2297429">
                <a:moveTo>
                  <a:pt x="2297005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2182884" y="3213487"/>
            <a:ext cx="1163320" cy="8890"/>
          </a:xfrm>
          <a:custGeom>
            <a:avLst/>
            <a:gdLst/>
            <a:ahLst/>
            <a:cxnLst/>
            <a:rect l="l" t="t" r="r" b="b"/>
            <a:pathLst>
              <a:path w="1163320" h="8889">
                <a:moveTo>
                  <a:pt x="1163192" y="8357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426902" y="3788891"/>
            <a:ext cx="1919605" cy="0"/>
          </a:xfrm>
          <a:custGeom>
            <a:avLst/>
            <a:gdLst/>
            <a:ahLst/>
            <a:cxnLst/>
            <a:rect l="l" t="t" r="r" b="b"/>
            <a:pathLst>
              <a:path w="1919604">
                <a:moveTo>
                  <a:pt x="1919174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805053" y="3919408"/>
            <a:ext cx="1541145" cy="0"/>
          </a:xfrm>
          <a:custGeom>
            <a:avLst/>
            <a:gdLst/>
            <a:ahLst/>
            <a:cxnLst/>
            <a:rect l="l" t="t" r="r" b="b"/>
            <a:pathLst>
              <a:path w="1541145">
                <a:moveTo>
                  <a:pt x="1541023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570126" y="4049679"/>
            <a:ext cx="775970" cy="0"/>
          </a:xfrm>
          <a:custGeom>
            <a:avLst/>
            <a:gdLst/>
            <a:ahLst/>
            <a:cxnLst/>
            <a:rect l="l" t="t" r="r" b="b"/>
            <a:pathLst>
              <a:path w="775970">
                <a:moveTo>
                  <a:pt x="775950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426902" y="4486578"/>
            <a:ext cx="1919605" cy="0"/>
          </a:xfrm>
          <a:custGeom>
            <a:avLst/>
            <a:gdLst/>
            <a:ahLst/>
            <a:cxnLst/>
            <a:rect l="l" t="t" r="r" b="b"/>
            <a:pathLst>
              <a:path w="1919604">
                <a:moveTo>
                  <a:pt x="1919174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2182884" y="4616726"/>
            <a:ext cx="1163320" cy="0"/>
          </a:xfrm>
          <a:custGeom>
            <a:avLst/>
            <a:gdLst/>
            <a:ahLst/>
            <a:cxnLst/>
            <a:rect l="l" t="t" r="r" b="b"/>
            <a:pathLst>
              <a:path w="1163320">
                <a:moveTo>
                  <a:pt x="1163192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938573" y="4748472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407504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2570127" y="5760738"/>
            <a:ext cx="370205" cy="0"/>
          </a:xfrm>
          <a:custGeom>
            <a:avLst/>
            <a:gdLst/>
            <a:ahLst/>
            <a:cxnLst/>
            <a:rect l="l" t="t" r="r" b="b"/>
            <a:pathLst>
              <a:path w="370205">
                <a:moveTo>
                  <a:pt x="370046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805053" y="5760738"/>
            <a:ext cx="377825" cy="0"/>
          </a:xfrm>
          <a:custGeom>
            <a:avLst/>
            <a:gdLst/>
            <a:ahLst/>
            <a:cxnLst/>
            <a:rect l="l" t="t" r="r" b="b"/>
            <a:pathLst>
              <a:path w="377825">
                <a:moveTo>
                  <a:pt x="377831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049071" y="5760738"/>
            <a:ext cx="377825" cy="0"/>
          </a:xfrm>
          <a:custGeom>
            <a:avLst/>
            <a:gdLst/>
            <a:ahLst/>
            <a:cxnLst/>
            <a:rect l="l" t="t" r="r" b="b"/>
            <a:pathLst>
              <a:path w="377825">
                <a:moveTo>
                  <a:pt x="377831" y="0"/>
                </a:moveTo>
                <a:lnTo>
                  <a:pt x="0" y="0"/>
                </a:lnTo>
              </a:path>
            </a:pathLst>
          </a:custGeom>
          <a:ln w="27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 txBox="1"/>
          <p:nvPr/>
        </p:nvSpPr>
        <p:spPr>
          <a:xfrm>
            <a:off x="838044" y="5924431"/>
            <a:ext cx="1166495" cy="4013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815340" algn="l"/>
              </a:tabLst>
            </a:pPr>
            <a:r>
              <a:rPr sz="2450" b="1" i="1" spc="40" dirty="0">
                <a:latin typeface="华文楷体"/>
                <a:cs typeface="华文楷体"/>
              </a:rPr>
              <a:t>A</a:t>
            </a:r>
            <a:r>
              <a:rPr sz="2450" b="1" i="1" spc="-195" dirty="0">
                <a:latin typeface="华文楷体"/>
                <a:cs typeface="华文楷体"/>
              </a:rPr>
              <a:t> </a:t>
            </a:r>
            <a:r>
              <a:rPr sz="2325" b="1" spc="37" baseline="-12544" dirty="0">
                <a:latin typeface="华文楷体"/>
                <a:cs typeface="华文楷体"/>
              </a:rPr>
              <a:t>i	</a:t>
            </a:r>
            <a:r>
              <a:rPr sz="2450" b="1" i="1" spc="35" dirty="0">
                <a:latin typeface="华文楷体"/>
                <a:cs typeface="华文楷体"/>
              </a:rPr>
              <a:t>B</a:t>
            </a:r>
            <a:r>
              <a:rPr sz="2450" b="1" i="1" spc="-235" dirty="0">
                <a:latin typeface="华文楷体"/>
                <a:cs typeface="华文楷体"/>
              </a:rPr>
              <a:t> </a:t>
            </a:r>
            <a:r>
              <a:rPr sz="2325" b="1" spc="37" baseline="-12544" dirty="0">
                <a:latin typeface="华文楷体"/>
                <a:cs typeface="华文楷体"/>
              </a:rPr>
              <a:t>i</a:t>
            </a:r>
            <a:endParaRPr sz="2325" baseline="-12544">
              <a:latin typeface="华文楷体"/>
              <a:cs typeface="华文楷体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2381129" y="5966146"/>
            <a:ext cx="549275" cy="4013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675" b="1" i="1" spc="52" baseline="7936" dirty="0">
                <a:latin typeface="华文楷体"/>
                <a:cs typeface="华文楷体"/>
              </a:rPr>
              <a:t>C</a:t>
            </a:r>
            <a:r>
              <a:rPr sz="3675" b="1" i="1" spc="-375" baseline="7936" dirty="0">
                <a:latin typeface="华文楷体"/>
                <a:cs typeface="华文楷体"/>
              </a:rPr>
              <a:t> </a:t>
            </a:r>
            <a:r>
              <a:rPr sz="1550" b="1" spc="40" dirty="0">
                <a:latin typeface="华文楷体"/>
                <a:cs typeface="华文楷体"/>
              </a:rPr>
              <a:t>i-1</a:t>
            </a:r>
            <a:endParaRPr sz="1550">
              <a:latin typeface="华文楷体"/>
              <a:cs typeface="华文楷体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6378054" y="864328"/>
            <a:ext cx="382905" cy="4013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450" b="1" i="1" spc="35" dirty="0">
                <a:latin typeface="华文楷体"/>
                <a:cs typeface="华文楷体"/>
              </a:rPr>
              <a:t>C</a:t>
            </a:r>
            <a:r>
              <a:rPr sz="2450" b="1" i="1" spc="-240" dirty="0">
                <a:latin typeface="华文楷体"/>
                <a:cs typeface="华文楷体"/>
              </a:rPr>
              <a:t> </a:t>
            </a:r>
            <a:r>
              <a:rPr sz="2325" b="1" spc="37" baseline="-12544" dirty="0">
                <a:latin typeface="华文楷体"/>
                <a:cs typeface="华文楷体"/>
              </a:rPr>
              <a:t>i</a:t>
            </a:r>
            <a:endParaRPr sz="2325" baseline="-12544">
              <a:latin typeface="华文楷体"/>
              <a:cs typeface="华文楷体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6366057" y="3306907"/>
            <a:ext cx="332105" cy="4013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450" b="1" i="1" spc="25" dirty="0">
                <a:latin typeface="华文楷体"/>
                <a:cs typeface="华文楷体"/>
              </a:rPr>
              <a:t>S</a:t>
            </a:r>
            <a:r>
              <a:rPr sz="2450" b="1" i="1" spc="-245" dirty="0">
                <a:latin typeface="华文楷体"/>
                <a:cs typeface="华文楷体"/>
              </a:rPr>
              <a:t> </a:t>
            </a:r>
            <a:r>
              <a:rPr sz="2325" b="1" spc="37" baseline="-12544" dirty="0">
                <a:latin typeface="华文楷体"/>
                <a:cs typeface="华文楷体"/>
              </a:rPr>
              <a:t>i</a:t>
            </a:r>
            <a:endParaRPr sz="2325" baseline="-12544">
              <a:latin typeface="华文楷体"/>
              <a:cs typeface="华文楷体"/>
            </a:endParaRPr>
          </a:p>
        </p:txBody>
      </p:sp>
      <p:sp>
        <p:nvSpPr>
          <p:cNvPr id="138" name="object 138"/>
          <p:cNvSpPr txBox="1">
            <a:spLocks noGrp="1"/>
          </p:cNvSpPr>
          <p:nvPr>
            <p:ph type="title"/>
          </p:nvPr>
        </p:nvSpPr>
        <p:spPr>
          <a:xfrm>
            <a:off x="7254240" y="178307"/>
            <a:ext cx="2476500" cy="2554605"/>
          </a:xfrm>
          <a:prstGeom prst="rect">
            <a:avLst/>
          </a:prstGeom>
          <a:solidFill>
            <a:srgbClr val="FFC9AA"/>
          </a:solidFill>
        </p:spPr>
        <p:txBody>
          <a:bodyPr vert="horz" wrap="square" lIns="0" tIns="13970" rIns="0" bIns="0" rtlCol="0">
            <a:spAutoFit/>
          </a:bodyPr>
          <a:lstStyle/>
          <a:p>
            <a:pPr marL="92710" marR="340995" algn="just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solidFill>
                  <a:srgbClr val="7E4D00"/>
                </a:solidFill>
              </a:rPr>
              <a:t>这是一个由  </a:t>
            </a:r>
            <a:r>
              <a:rPr sz="3200" spc="-5" dirty="0">
                <a:solidFill>
                  <a:srgbClr val="7E4D00"/>
                </a:solidFill>
              </a:rPr>
              <a:t>12</a:t>
            </a:r>
            <a:r>
              <a:rPr sz="3200" dirty="0">
                <a:solidFill>
                  <a:srgbClr val="7E4D00"/>
                </a:solidFill>
              </a:rPr>
              <a:t>个门组成 的</a:t>
            </a:r>
            <a:r>
              <a:rPr sz="3200" spc="-5" dirty="0">
                <a:solidFill>
                  <a:srgbClr val="7E4D00"/>
                </a:solidFill>
              </a:rPr>
              <a:t>3</a:t>
            </a:r>
            <a:r>
              <a:rPr sz="3200" dirty="0">
                <a:solidFill>
                  <a:srgbClr val="7E4D00"/>
                </a:solidFill>
              </a:rPr>
              <a:t>输入</a:t>
            </a:r>
            <a:r>
              <a:rPr sz="3200" spc="-5" dirty="0">
                <a:solidFill>
                  <a:srgbClr val="7E4D00"/>
                </a:solidFill>
              </a:rPr>
              <a:t>、</a:t>
            </a:r>
            <a:r>
              <a:rPr sz="3200" dirty="0">
                <a:solidFill>
                  <a:srgbClr val="7E4D00"/>
                </a:solidFill>
              </a:rPr>
              <a:t>2  输出组合逻 辑电路。</a:t>
            </a:r>
            <a:endParaRPr sz="3200"/>
          </a:p>
        </p:txBody>
      </p:sp>
      <p:sp>
        <p:nvSpPr>
          <p:cNvPr id="139" name="object 139"/>
          <p:cNvSpPr txBox="1"/>
          <p:nvPr/>
        </p:nvSpPr>
        <p:spPr>
          <a:xfrm>
            <a:off x="6475476" y="3954779"/>
            <a:ext cx="2647315" cy="585470"/>
          </a:xfrm>
          <a:prstGeom prst="rect">
            <a:avLst/>
          </a:prstGeom>
          <a:solidFill>
            <a:srgbClr val="FFBB57"/>
          </a:solidFill>
        </p:spPr>
        <p:txBody>
          <a:bodyPr vert="horz" wrap="square" lIns="0" tIns="1968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55"/>
              </a:spcBef>
            </a:pP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写逻辑表达式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40" name="object 140"/>
          <p:cNvSpPr/>
          <p:nvPr/>
        </p:nvSpPr>
        <p:spPr>
          <a:xfrm>
            <a:off x="4706695" y="5912752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0" y="0"/>
                </a:moveTo>
                <a:lnTo>
                  <a:pt x="233410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5924210" y="5912752"/>
            <a:ext cx="297815" cy="0"/>
          </a:xfrm>
          <a:custGeom>
            <a:avLst/>
            <a:gdLst/>
            <a:ahLst/>
            <a:cxnLst/>
            <a:rect l="l" t="t" r="r" b="b"/>
            <a:pathLst>
              <a:path w="297814">
                <a:moveTo>
                  <a:pt x="0" y="0"/>
                </a:moveTo>
                <a:lnTo>
                  <a:pt x="297790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081065" y="5912752"/>
            <a:ext cx="222250" cy="0"/>
          </a:xfrm>
          <a:custGeom>
            <a:avLst/>
            <a:gdLst/>
            <a:ahLst/>
            <a:cxnLst/>
            <a:rect l="l" t="t" r="r" b="b"/>
            <a:pathLst>
              <a:path w="222250">
                <a:moveTo>
                  <a:pt x="0" y="0"/>
                </a:moveTo>
                <a:lnTo>
                  <a:pt x="221762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8567750" y="5912752"/>
            <a:ext cx="222250" cy="0"/>
          </a:xfrm>
          <a:custGeom>
            <a:avLst/>
            <a:gdLst/>
            <a:ahLst/>
            <a:cxnLst/>
            <a:rect l="l" t="t" r="r" b="b"/>
            <a:pathLst>
              <a:path w="222250">
                <a:moveTo>
                  <a:pt x="0" y="0"/>
                </a:moveTo>
                <a:lnTo>
                  <a:pt x="221762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925656" y="5912752"/>
            <a:ext cx="222250" cy="0"/>
          </a:xfrm>
          <a:custGeom>
            <a:avLst/>
            <a:gdLst/>
            <a:ahLst/>
            <a:cxnLst/>
            <a:rect l="l" t="t" r="r" b="b"/>
            <a:pathLst>
              <a:path w="222250">
                <a:moveTo>
                  <a:pt x="0" y="0"/>
                </a:moveTo>
                <a:lnTo>
                  <a:pt x="221762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9283259" y="5912752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5">
                <a:moveTo>
                  <a:pt x="0" y="0"/>
                </a:moveTo>
                <a:lnTo>
                  <a:pt x="232653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4082584" y="5849435"/>
            <a:ext cx="5745480" cy="0"/>
          </a:xfrm>
          <a:custGeom>
            <a:avLst/>
            <a:gdLst/>
            <a:ahLst/>
            <a:cxnLst/>
            <a:rect l="l" t="t" r="r" b="b"/>
            <a:pathLst>
              <a:path w="5745480">
                <a:moveTo>
                  <a:pt x="0" y="0"/>
                </a:moveTo>
                <a:lnTo>
                  <a:pt x="5745248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 txBox="1"/>
          <p:nvPr/>
        </p:nvSpPr>
        <p:spPr>
          <a:xfrm>
            <a:off x="3383048" y="5876912"/>
            <a:ext cx="6476365" cy="943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00" i="1" spc="105" dirty="0">
                <a:latin typeface="Times New Roman"/>
                <a:cs typeface="Times New Roman"/>
              </a:rPr>
              <a:t>S</a:t>
            </a:r>
            <a:r>
              <a:rPr sz="2250" i="1" spc="157" baseline="-25925" dirty="0">
                <a:latin typeface="Times New Roman"/>
                <a:cs typeface="Times New Roman"/>
              </a:rPr>
              <a:t>i </a:t>
            </a:r>
            <a:r>
              <a:rPr sz="2600" spc="160" dirty="0">
                <a:latin typeface="Symbol"/>
                <a:cs typeface="Symbol"/>
              </a:rPr>
              <a:t>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i="1" spc="-40" dirty="0">
                <a:latin typeface="Times New Roman"/>
                <a:cs typeface="Times New Roman"/>
              </a:rPr>
              <a:t>A</a:t>
            </a:r>
            <a:r>
              <a:rPr sz="2250" i="1" spc="-60" baseline="-25925" dirty="0">
                <a:latin typeface="Times New Roman"/>
                <a:cs typeface="Times New Roman"/>
              </a:rPr>
              <a:t>i </a:t>
            </a:r>
            <a:r>
              <a:rPr sz="2600" i="1" spc="25" dirty="0">
                <a:latin typeface="Times New Roman"/>
                <a:cs typeface="Times New Roman"/>
              </a:rPr>
              <a:t>B</a:t>
            </a:r>
            <a:r>
              <a:rPr sz="2250" i="1" spc="37" baseline="-25925" dirty="0">
                <a:latin typeface="Times New Roman"/>
                <a:cs typeface="Times New Roman"/>
              </a:rPr>
              <a:t>i </a:t>
            </a:r>
            <a:r>
              <a:rPr sz="2600" i="1" spc="160" dirty="0">
                <a:latin typeface="Times New Roman"/>
                <a:cs typeface="Times New Roman"/>
              </a:rPr>
              <a:t>C</a:t>
            </a:r>
            <a:r>
              <a:rPr sz="2250" i="1" spc="240" baseline="-5555" dirty="0">
                <a:latin typeface="Times New Roman"/>
                <a:cs typeface="Times New Roman"/>
              </a:rPr>
              <a:t>i</a:t>
            </a:r>
            <a:r>
              <a:rPr sz="2250" spc="240" baseline="-5555" dirty="0">
                <a:latin typeface="Symbol"/>
                <a:cs typeface="Symbol"/>
              </a:rPr>
              <a:t></a:t>
            </a:r>
            <a:r>
              <a:rPr sz="2250" spc="240" baseline="-5555" dirty="0">
                <a:latin typeface="Times New Roman"/>
                <a:cs typeface="Times New Roman"/>
              </a:rPr>
              <a:t>1 </a:t>
            </a:r>
            <a:r>
              <a:rPr sz="2600" spc="160" dirty="0">
                <a:latin typeface="Symbol"/>
                <a:cs typeface="Symbol"/>
              </a:rPr>
              <a:t>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i="1" spc="-40" dirty="0">
                <a:latin typeface="Times New Roman"/>
                <a:cs typeface="Times New Roman"/>
              </a:rPr>
              <a:t>A</a:t>
            </a:r>
            <a:r>
              <a:rPr sz="2250" i="1" spc="-60" baseline="-25925" dirty="0">
                <a:latin typeface="Times New Roman"/>
                <a:cs typeface="Times New Roman"/>
              </a:rPr>
              <a:t>i </a:t>
            </a:r>
            <a:r>
              <a:rPr sz="2600" i="1" spc="90" dirty="0">
                <a:latin typeface="Times New Roman"/>
                <a:cs typeface="Times New Roman"/>
              </a:rPr>
              <a:t>B</a:t>
            </a:r>
            <a:r>
              <a:rPr sz="2250" i="1" spc="135" baseline="-25925" dirty="0">
                <a:latin typeface="Times New Roman"/>
                <a:cs typeface="Times New Roman"/>
              </a:rPr>
              <a:t>i</a:t>
            </a:r>
            <a:r>
              <a:rPr sz="2600" i="1" spc="90" dirty="0">
                <a:latin typeface="Times New Roman"/>
                <a:cs typeface="Times New Roman"/>
              </a:rPr>
              <a:t>C</a:t>
            </a:r>
            <a:r>
              <a:rPr sz="2250" i="1" spc="135" baseline="-25925" dirty="0">
                <a:latin typeface="Times New Roman"/>
                <a:cs typeface="Times New Roman"/>
              </a:rPr>
              <a:t>i</a:t>
            </a:r>
            <a:r>
              <a:rPr sz="2250" spc="135" baseline="-25925" dirty="0">
                <a:latin typeface="Symbol"/>
                <a:cs typeface="Symbol"/>
              </a:rPr>
              <a:t></a:t>
            </a:r>
            <a:r>
              <a:rPr sz="2250" spc="135" baseline="-25925" dirty="0">
                <a:latin typeface="Times New Roman"/>
                <a:cs typeface="Times New Roman"/>
              </a:rPr>
              <a:t>1 </a:t>
            </a:r>
            <a:r>
              <a:rPr sz="2600" spc="160" dirty="0">
                <a:latin typeface="Symbol"/>
                <a:cs typeface="Symbol"/>
              </a:rPr>
              <a:t>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i="1" spc="95" dirty="0">
                <a:latin typeface="Times New Roman"/>
                <a:cs typeface="Times New Roman"/>
              </a:rPr>
              <a:t>A</a:t>
            </a:r>
            <a:r>
              <a:rPr sz="2250" i="1" spc="142" baseline="-3703" dirty="0">
                <a:latin typeface="Times New Roman"/>
                <a:cs typeface="Times New Roman"/>
              </a:rPr>
              <a:t>i </a:t>
            </a:r>
            <a:r>
              <a:rPr sz="2600" i="1" spc="85" dirty="0">
                <a:latin typeface="Times New Roman"/>
                <a:cs typeface="Times New Roman"/>
              </a:rPr>
              <a:t>B</a:t>
            </a:r>
            <a:r>
              <a:rPr sz="2250" i="1" spc="127" baseline="-25925" dirty="0">
                <a:latin typeface="Times New Roman"/>
                <a:cs typeface="Times New Roman"/>
              </a:rPr>
              <a:t>i</a:t>
            </a:r>
            <a:r>
              <a:rPr sz="2600" i="1" spc="85" dirty="0">
                <a:latin typeface="Times New Roman"/>
                <a:cs typeface="Times New Roman"/>
              </a:rPr>
              <a:t>C</a:t>
            </a:r>
            <a:r>
              <a:rPr sz="2250" i="1" spc="127" baseline="-25925" dirty="0">
                <a:latin typeface="Times New Roman"/>
                <a:cs typeface="Times New Roman"/>
              </a:rPr>
              <a:t>i </a:t>
            </a:r>
            <a:r>
              <a:rPr sz="2250" spc="60" baseline="-25925" dirty="0">
                <a:latin typeface="Symbol"/>
                <a:cs typeface="Symbol"/>
              </a:rPr>
              <a:t></a:t>
            </a:r>
            <a:r>
              <a:rPr sz="2250" spc="60" baseline="-25925" dirty="0">
                <a:latin typeface="Times New Roman"/>
                <a:cs typeface="Times New Roman"/>
              </a:rPr>
              <a:t>1 </a:t>
            </a:r>
            <a:r>
              <a:rPr sz="2600" spc="160" dirty="0">
                <a:latin typeface="Symbol"/>
                <a:cs typeface="Symbol"/>
              </a:rPr>
              <a:t></a:t>
            </a:r>
            <a:r>
              <a:rPr sz="2600" spc="-330" dirty="0">
                <a:latin typeface="Times New Roman"/>
                <a:cs typeface="Times New Roman"/>
              </a:rPr>
              <a:t> </a:t>
            </a:r>
            <a:r>
              <a:rPr sz="2600" i="1" spc="95" dirty="0">
                <a:latin typeface="Times New Roman"/>
                <a:cs typeface="Times New Roman"/>
              </a:rPr>
              <a:t>A</a:t>
            </a:r>
            <a:r>
              <a:rPr sz="2250" i="1" spc="142" baseline="-3703" dirty="0">
                <a:latin typeface="Times New Roman"/>
                <a:cs typeface="Times New Roman"/>
              </a:rPr>
              <a:t>i </a:t>
            </a:r>
            <a:r>
              <a:rPr sz="2600" i="1" spc="165" dirty="0">
                <a:latin typeface="Times New Roman"/>
                <a:cs typeface="Times New Roman"/>
              </a:rPr>
              <a:t>B</a:t>
            </a:r>
            <a:r>
              <a:rPr sz="2250" i="1" spc="247" baseline="-3703" dirty="0">
                <a:latin typeface="Times New Roman"/>
                <a:cs typeface="Times New Roman"/>
              </a:rPr>
              <a:t>i </a:t>
            </a:r>
            <a:r>
              <a:rPr sz="2600" i="1" spc="165" dirty="0">
                <a:latin typeface="Times New Roman"/>
                <a:cs typeface="Times New Roman"/>
              </a:rPr>
              <a:t>C</a:t>
            </a:r>
            <a:r>
              <a:rPr sz="2250" i="1" spc="247" baseline="-5555" dirty="0">
                <a:latin typeface="Times New Roman"/>
                <a:cs typeface="Times New Roman"/>
              </a:rPr>
              <a:t>i</a:t>
            </a:r>
            <a:r>
              <a:rPr sz="2250" spc="247" baseline="-5555" dirty="0">
                <a:latin typeface="Symbol"/>
                <a:cs typeface="Symbol"/>
              </a:rPr>
              <a:t></a:t>
            </a:r>
            <a:r>
              <a:rPr sz="2250" spc="247" baseline="-5555" dirty="0">
                <a:latin typeface="Times New Roman"/>
                <a:cs typeface="Times New Roman"/>
              </a:rPr>
              <a:t>1</a:t>
            </a:r>
            <a:endParaRPr sz="2250" baseline="-5555">
              <a:latin typeface="Times New Roman"/>
              <a:cs typeface="Times New Roman"/>
            </a:endParaRPr>
          </a:p>
          <a:p>
            <a:pPr marL="1691005">
              <a:lnSpc>
                <a:spcPct val="100000"/>
              </a:lnSpc>
              <a:spcBef>
                <a:spcPts val="1925"/>
              </a:spcBef>
            </a:pPr>
            <a:r>
              <a:rPr sz="1800" spc="20" dirty="0">
                <a:latin typeface="Franklin Gothic Medium"/>
                <a:cs typeface="Franklin Gothic Medium"/>
              </a:rPr>
              <a:t>13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5916255" y="5028956"/>
            <a:ext cx="250825" cy="0"/>
          </a:xfrm>
          <a:custGeom>
            <a:avLst/>
            <a:gdLst/>
            <a:ahLst/>
            <a:cxnLst/>
            <a:rect l="l" t="t" r="r" b="b"/>
            <a:pathLst>
              <a:path w="250825">
                <a:moveTo>
                  <a:pt x="0" y="0"/>
                </a:moveTo>
                <a:lnTo>
                  <a:pt x="250494" y="0"/>
                </a:lnTo>
              </a:path>
            </a:pathLst>
          </a:custGeom>
          <a:ln w="18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321360" y="5028956"/>
            <a:ext cx="251460" cy="0"/>
          </a:xfrm>
          <a:custGeom>
            <a:avLst/>
            <a:gdLst/>
            <a:ahLst/>
            <a:cxnLst/>
            <a:rect l="l" t="t" r="r" b="b"/>
            <a:pathLst>
              <a:path w="251459">
                <a:moveTo>
                  <a:pt x="0" y="0"/>
                </a:moveTo>
                <a:lnTo>
                  <a:pt x="251314" y="0"/>
                </a:lnTo>
              </a:path>
            </a:pathLst>
          </a:custGeom>
          <a:ln w="18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7088533" y="5028956"/>
            <a:ext cx="250825" cy="0"/>
          </a:xfrm>
          <a:custGeom>
            <a:avLst/>
            <a:gdLst/>
            <a:ahLst/>
            <a:cxnLst/>
            <a:rect l="l" t="t" r="r" b="b"/>
            <a:pathLst>
              <a:path w="250825">
                <a:moveTo>
                  <a:pt x="0" y="0"/>
                </a:moveTo>
                <a:lnTo>
                  <a:pt x="250494" y="0"/>
                </a:lnTo>
              </a:path>
            </a:pathLst>
          </a:custGeom>
          <a:ln w="18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7493604" y="5028956"/>
            <a:ext cx="264795" cy="0"/>
          </a:xfrm>
          <a:custGeom>
            <a:avLst/>
            <a:gdLst/>
            <a:ahLst/>
            <a:cxnLst/>
            <a:rect l="l" t="t" r="r" b="b"/>
            <a:pathLst>
              <a:path w="264795">
                <a:moveTo>
                  <a:pt x="0" y="0"/>
                </a:moveTo>
                <a:lnTo>
                  <a:pt x="264577" y="0"/>
                </a:lnTo>
              </a:path>
            </a:pathLst>
          </a:custGeom>
          <a:ln w="18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503819" y="5028956"/>
            <a:ext cx="251460" cy="0"/>
          </a:xfrm>
          <a:custGeom>
            <a:avLst/>
            <a:gdLst/>
            <a:ahLst/>
            <a:cxnLst/>
            <a:rect l="l" t="t" r="r" b="b"/>
            <a:pathLst>
              <a:path w="251459">
                <a:moveTo>
                  <a:pt x="0" y="0"/>
                </a:moveTo>
                <a:lnTo>
                  <a:pt x="251246" y="0"/>
                </a:lnTo>
              </a:path>
            </a:pathLst>
          </a:custGeom>
          <a:ln w="18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909915" y="5028956"/>
            <a:ext cx="264795" cy="0"/>
          </a:xfrm>
          <a:custGeom>
            <a:avLst/>
            <a:gdLst/>
            <a:ahLst/>
            <a:cxnLst/>
            <a:rect l="l" t="t" r="r" b="b"/>
            <a:pathLst>
              <a:path w="264795">
                <a:moveTo>
                  <a:pt x="0" y="0"/>
                </a:moveTo>
                <a:lnTo>
                  <a:pt x="264235" y="0"/>
                </a:lnTo>
              </a:path>
            </a:pathLst>
          </a:custGeom>
          <a:ln w="18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5916255" y="4957019"/>
            <a:ext cx="3611245" cy="0"/>
          </a:xfrm>
          <a:custGeom>
            <a:avLst/>
            <a:gdLst/>
            <a:ahLst/>
            <a:cxnLst/>
            <a:rect l="l" t="t" r="r" b="b"/>
            <a:pathLst>
              <a:path w="3611245">
                <a:moveTo>
                  <a:pt x="0" y="0"/>
                </a:moveTo>
                <a:lnTo>
                  <a:pt x="3611008" y="0"/>
                </a:lnTo>
              </a:path>
            </a:pathLst>
          </a:custGeom>
          <a:ln w="18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 txBox="1"/>
          <p:nvPr/>
        </p:nvSpPr>
        <p:spPr>
          <a:xfrm>
            <a:off x="5069658" y="4989967"/>
            <a:ext cx="1629410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517525" algn="l"/>
              </a:tabLst>
            </a:pPr>
            <a:r>
              <a:rPr sz="2950" i="1" spc="100" dirty="0">
                <a:latin typeface="Times New Roman"/>
                <a:cs typeface="Times New Roman"/>
              </a:rPr>
              <a:t>C</a:t>
            </a:r>
            <a:r>
              <a:rPr sz="2550" i="1" spc="150" baseline="-24509" dirty="0">
                <a:latin typeface="Times New Roman"/>
                <a:cs typeface="Times New Roman"/>
              </a:rPr>
              <a:t>i	</a:t>
            </a:r>
            <a:r>
              <a:rPr sz="2950" spc="170" dirty="0">
                <a:latin typeface="Symbol"/>
                <a:cs typeface="Symbol"/>
              </a:rPr>
              <a:t></a:t>
            </a:r>
            <a:r>
              <a:rPr sz="2950" spc="170" dirty="0">
                <a:latin typeface="Times New Roman"/>
                <a:cs typeface="Times New Roman"/>
              </a:rPr>
              <a:t> </a:t>
            </a:r>
            <a:r>
              <a:rPr sz="2950" i="1" spc="95" dirty="0">
                <a:latin typeface="Times New Roman"/>
                <a:cs typeface="Times New Roman"/>
              </a:rPr>
              <a:t>A</a:t>
            </a:r>
            <a:r>
              <a:rPr sz="2550" i="1" spc="142" baseline="-4901" dirty="0">
                <a:latin typeface="Times New Roman"/>
                <a:cs typeface="Times New Roman"/>
              </a:rPr>
              <a:t>i</a:t>
            </a:r>
            <a:r>
              <a:rPr sz="2550" i="1" spc="225" baseline="-4901" dirty="0">
                <a:latin typeface="Times New Roman"/>
                <a:cs typeface="Times New Roman"/>
              </a:rPr>
              <a:t> </a:t>
            </a:r>
            <a:r>
              <a:rPr sz="2950" i="1" spc="170" dirty="0">
                <a:latin typeface="Times New Roman"/>
                <a:cs typeface="Times New Roman"/>
              </a:rPr>
              <a:t>B</a:t>
            </a:r>
            <a:r>
              <a:rPr sz="2550" i="1" spc="254" baseline="-4901" dirty="0">
                <a:latin typeface="Times New Roman"/>
                <a:cs typeface="Times New Roman"/>
              </a:rPr>
              <a:t>i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6765644" y="5012678"/>
            <a:ext cx="2767330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47345" indent="-335280">
              <a:lnSpc>
                <a:spcPct val="100000"/>
              </a:lnSpc>
              <a:spcBef>
                <a:spcPts val="135"/>
              </a:spcBef>
              <a:buFont typeface="Symbol"/>
              <a:buChar char=""/>
              <a:tabLst>
                <a:tab pos="347980" algn="l"/>
              </a:tabLst>
            </a:pPr>
            <a:r>
              <a:rPr sz="4425" i="1" spc="142" baseline="3766" dirty="0">
                <a:latin typeface="Times New Roman"/>
                <a:cs typeface="Times New Roman"/>
              </a:rPr>
              <a:t>A</a:t>
            </a:r>
            <a:r>
              <a:rPr sz="2550" i="1" spc="142" baseline="1633" dirty="0">
                <a:latin typeface="Times New Roman"/>
                <a:cs typeface="Times New Roman"/>
              </a:rPr>
              <a:t>i </a:t>
            </a:r>
            <a:r>
              <a:rPr sz="4425" i="1" spc="270" baseline="3766" dirty="0">
                <a:latin typeface="Times New Roman"/>
                <a:cs typeface="Times New Roman"/>
              </a:rPr>
              <a:t>C</a:t>
            </a:r>
            <a:r>
              <a:rPr sz="1700" i="1" spc="180" dirty="0">
                <a:latin typeface="Times New Roman"/>
                <a:cs typeface="Times New Roman"/>
              </a:rPr>
              <a:t>i</a:t>
            </a:r>
            <a:r>
              <a:rPr sz="1700" spc="180" dirty="0">
                <a:latin typeface="Symbol"/>
                <a:cs typeface="Symbol"/>
              </a:rPr>
              <a:t></a:t>
            </a:r>
            <a:r>
              <a:rPr sz="1700" spc="180" dirty="0">
                <a:latin typeface="Times New Roman"/>
                <a:cs typeface="Times New Roman"/>
              </a:rPr>
              <a:t>1 </a:t>
            </a:r>
            <a:r>
              <a:rPr sz="4425" spc="254" baseline="3766" dirty="0">
                <a:latin typeface="Symbol"/>
                <a:cs typeface="Symbol"/>
              </a:rPr>
              <a:t></a:t>
            </a:r>
            <a:r>
              <a:rPr sz="4425" spc="-622" baseline="3766" dirty="0">
                <a:latin typeface="Times New Roman"/>
                <a:cs typeface="Times New Roman"/>
              </a:rPr>
              <a:t> </a:t>
            </a:r>
            <a:r>
              <a:rPr sz="4425" i="1" spc="262" baseline="3766" dirty="0">
                <a:latin typeface="Times New Roman"/>
                <a:cs typeface="Times New Roman"/>
              </a:rPr>
              <a:t>B</a:t>
            </a:r>
            <a:r>
              <a:rPr sz="2550" i="1" spc="262" baseline="1633" dirty="0">
                <a:latin typeface="Times New Roman"/>
                <a:cs typeface="Times New Roman"/>
              </a:rPr>
              <a:t>i </a:t>
            </a:r>
            <a:r>
              <a:rPr sz="4425" i="1" spc="277" baseline="3766" dirty="0">
                <a:latin typeface="Times New Roman"/>
                <a:cs typeface="Times New Roman"/>
              </a:rPr>
              <a:t>C</a:t>
            </a:r>
            <a:r>
              <a:rPr sz="1700" i="1" spc="185" dirty="0">
                <a:latin typeface="Times New Roman"/>
                <a:cs typeface="Times New Roman"/>
              </a:rPr>
              <a:t>i</a:t>
            </a:r>
            <a:r>
              <a:rPr sz="1700" spc="185" dirty="0">
                <a:latin typeface="Symbol"/>
                <a:cs typeface="Symbol"/>
              </a:rPr>
              <a:t></a:t>
            </a:r>
            <a:r>
              <a:rPr sz="1700" spc="185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43915" cy="0"/>
          </a:xfrm>
          <a:custGeom>
            <a:avLst/>
            <a:gdLst/>
            <a:ahLst/>
            <a:cxnLst/>
            <a:rect l="l" t="t" r="r" b="b"/>
            <a:pathLst>
              <a:path w="843915">
                <a:moveTo>
                  <a:pt x="0" y="0"/>
                </a:moveTo>
                <a:lnTo>
                  <a:pt x="843534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38214" y="59200"/>
            <a:ext cx="71374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5"/>
              </a:lnSpc>
            </a:pPr>
            <a:r>
              <a:rPr sz="2800" b="1" dirty="0">
                <a:solidFill>
                  <a:srgbClr val="FFFFFF"/>
                </a:solidFill>
                <a:latin typeface="华文楷体"/>
                <a:cs typeface="华文楷体"/>
              </a:rPr>
              <a:t>输入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06028" y="59200"/>
            <a:ext cx="71374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5"/>
              </a:lnSpc>
            </a:pPr>
            <a:r>
              <a:rPr sz="2800" b="1" dirty="0">
                <a:solidFill>
                  <a:srgbClr val="FFFFFF"/>
                </a:solidFill>
                <a:latin typeface="华文楷体"/>
                <a:cs typeface="华文楷体"/>
              </a:rPr>
              <a:t>输出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16167" y="626022"/>
            <a:ext cx="30289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i="1" spc="-15" dirty="0">
                <a:latin typeface="Times New Roman"/>
                <a:cs typeface="Times New Roman"/>
              </a:rPr>
              <a:t>A</a:t>
            </a:r>
            <a:r>
              <a:rPr sz="2775" b="1" spc="7" baseline="-21021" dirty="0">
                <a:latin typeface="Times New Roman"/>
                <a:cs typeface="Times New Roman"/>
              </a:rPr>
              <a:t>i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43445" y="626022"/>
            <a:ext cx="30289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i="1" spc="-15" dirty="0">
                <a:latin typeface="Times New Roman"/>
                <a:cs typeface="Times New Roman"/>
              </a:rPr>
              <a:t>B</a:t>
            </a:r>
            <a:r>
              <a:rPr sz="2775" b="1" spc="7" baseline="-21021" dirty="0">
                <a:latin typeface="Times New Roman"/>
                <a:cs typeface="Times New Roman"/>
              </a:rPr>
              <a:t>i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71918" y="626022"/>
            <a:ext cx="500380" cy="45529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>
              <a:lnSpc>
                <a:spcPts val="3204"/>
              </a:lnSpc>
              <a:spcBef>
                <a:spcPts val="375"/>
              </a:spcBef>
            </a:pPr>
            <a:r>
              <a:rPr sz="4200" b="1" i="1" spc="-22" baseline="13888" dirty="0">
                <a:latin typeface="Times New Roman"/>
                <a:cs typeface="Times New Roman"/>
              </a:rPr>
              <a:t>C</a:t>
            </a:r>
            <a:r>
              <a:rPr sz="1850" b="1" dirty="0">
                <a:latin typeface="Times New Roman"/>
                <a:cs typeface="Times New Roman"/>
              </a:rPr>
              <a:t>i-</a:t>
            </a:r>
            <a:r>
              <a:rPr sz="1850" b="1" spc="10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18321" y="626022"/>
            <a:ext cx="26479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i="1" spc="-5" dirty="0">
                <a:latin typeface="Times New Roman"/>
                <a:cs typeface="Times New Roman"/>
              </a:rPr>
              <a:t>S</a:t>
            </a:r>
            <a:r>
              <a:rPr sz="2775" b="1" spc="7" baseline="-21021" dirty="0">
                <a:latin typeface="Times New Roman"/>
                <a:cs typeface="Times New Roman"/>
              </a:rPr>
              <a:t>i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26042" y="626022"/>
            <a:ext cx="30289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i="1" spc="-15" dirty="0">
                <a:latin typeface="Times New Roman"/>
                <a:cs typeface="Times New Roman"/>
              </a:rPr>
              <a:t>C</a:t>
            </a:r>
            <a:r>
              <a:rPr sz="2775" b="1" spc="7" baseline="-21021" dirty="0">
                <a:latin typeface="Times New Roman"/>
                <a:cs typeface="Times New Roman"/>
              </a:rPr>
              <a:t>i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78652" y="1144834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05930" y="1144834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33461" y="1144834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78652" y="1662994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05930" y="1662994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33461" y="1662994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78652" y="2180883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05930" y="2180883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33461" y="2180883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78652" y="2699568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05930" y="2699568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33461" y="2699568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78652" y="3217728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05930" y="3217728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33461" y="3217728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78652" y="3736142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05930" y="3736142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33461" y="3736142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78652" y="4254302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05930" y="4254302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33461" y="4254302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0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78652" y="4772191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05930" y="4772191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33461" y="4772191"/>
            <a:ext cx="17780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55"/>
              </a:lnSpc>
            </a:pP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1333500" y="592836"/>
            <a:ext cx="1826260" cy="585470"/>
          </a:xfrm>
          <a:prstGeom prst="rect">
            <a:avLst/>
          </a:prstGeom>
          <a:solidFill>
            <a:srgbClr val="FFBB57"/>
          </a:solidFill>
        </p:spPr>
        <p:txBody>
          <a:bodyPr vert="horz" wrap="square" lIns="0" tIns="190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0"/>
              </a:spcBef>
            </a:pPr>
            <a:r>
              <a:rPr sz="3200" dirty="0">
                <a:solidFill>
                  <a:srgbClr val="7E4D00"/>
                </a:solidFill>
              </a:rPr>
              <a:t>列真值表</a:t>
            </a:r>
            <a:endParaRPr sz="3200"/>
          </a:p>
        </p:txBody>
      </p:sp>
      <p:sp>
        <p:nvSpPr>
          <p:cNvPr id="38" name="object 38"/>
          <p:cNvSpPr txBox="1"/>
          <p:nvPr/>
        </p:nvSpPr>
        <p:spPr>
          <a:xfrm>
            <a:off x="1324355" y="1659635"/>
            <a:ext cx="1826260" cy="585470"/>
          </a:xfrm>
          <a:prstGeom prst="rect">
            <a:avLst/>
          </a:prstGeom>
          <a:solidFill>
            <a:srgbClr val="FFBB57"/>
          </a:solidFill>
        </p:spPr>
        <p:txBody>
          <a:bodyPr vert="horz" wrap="square" lIns="0" tIns="190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0"/>
              </a:spcBef>
            </a:pP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分析功能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198196" y="5365428"/>
            <a:ext cx="250825" cy="0"/>
          </a:xfrm>
          <a:custGeom>
            <a:avLst/>
            <a:gdLst/>
            <a:ahLst/>
            <a:cxnLst/>
            <a:rect l="l" t="t" r="r" b="b"/>
            <a:pathLst>
              <a:path w="250825">
                <a:moveTo>
                  <a:pt x="0" y="0"/>
                </a:moveTo>
                <a:lnTo>
                  <a:pt x="250494" y="0"/>
                </a:lnTo>
              </a:path>
            </a:pathLst>
          </a:custGeom>
          <a:ln w="188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603300" y="5365428"/>
            <a:ext cx="251460" cy="0"/>
          </a:xfrm>
          <a:custGeom>
            <a:avLst/>
            <a:gdLst/>
            <a:ahLst/>
            <a:cxnLst/>
            <a:rect l="l" t="t" r="r" b="b"/>
            <a:pathLst>
              <a:path w="251459">
                <a:moveTo>
                  <a:pt x="0" y="0"/>
                </a:moveTo>
                <a:lnTo>
                  <a:pt x="251314" y="0"/>
                </a:lnTo>
              </a:path>
            </a:pathLst>
          </a:custGeom>
          <a:ln w="188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370474" y="5365428"/>
            <a:ext cx="250825" cy="0"/>
          </a:xfrm>
          <a:custGeom>
            <a:avLst/>
            <a:gdLst/>
            <a:ahLst/>
            <a:cxnLst/>
            <a:rect l="l" t="t" r="r" b="b"/>
            <a:pathLst>
              <a:path w="250825">
                <a:moveTo>
                  <a:pt x="0" y="0"/>
                </a:moveTo>
                <a:lnTo>
                  <a:pt x="250494" y="0"/>
                </a:lnTo>
              </a:path>
            </a:pathLst>
          </a:custGeom>
          <a:ln w="188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775544" y="5365428"/>
            <a:ext cx="264795" cy="0"/>
          </a:xfrm>
          <a:custGeom>
            <a:avLst/>
            <a:gdLst/>
            <a:ahLst/>
            <a:cxnLst/>
            <a:rect l="l" t="t" r="r" b="b"/>
            <a:pathLst>
              <a:path w="264795">
                <a:moveTo>
                  <a:pt x="0" y="0"/>
                </a:moveTo>
                <a:lnTo>
                  <a:pt x="264577" y="0"/>
                </a:lnTo>
              </a:path>
            </a:pathLst>
          </a:custGeom>
          <a:ln w="188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785759" y="5365428"/>
            <a:ext cx="251460" cy="0"/>
          </a:xfrm>
          <a:custGeom>
            <a:avLst/>
            <a:gdLst/>
            <a:ahLst/>
            <a:cxnLst/>
            <a:rect l="l" t="t" r="r" b="b"/>
            <a:pathLst>
              <a:path w="251459">
                <a:moveTo>
                  <a:pt x="0" y="0"/>
                </a:moveTo>
                <a:lnTo>
                  <a:pt x="251246" y="0"/>
                </a:lnTo>
              </a:path>
            </a:pathLst>
          </a:custGeom>
          <a:ln w="188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191855" y="5365428"/>
            <a:ext cx="264795" cy="0"/>
          </a:xfrm>
          <a:custGeom>
            <a:avLst/>
            <a:gdLst/>
            <a:ahLst/>
            <a:cxnLst/>
            <a:rect l="l" t="t" r="r" b="b"/>
            <a:pathLst>
              <a:path w="264795">
                <a:moveTo>
                  <a:pt x="0" y="0"/>
                </a:moveTo>
                <a:lnTo>
                  <a:pt x="264235" y="0"/>
                </a:lnTo>
              </a:path>
            </a:pathLst>
          </a:custGeom>
          <a:ln w="188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98196" y="5293648"/>
            <a:ext cx="3611245" cy="0"/>
          </a:xfrm>
          <a:custGeom>
            <a:avLst/>
            <a:gdLst/>
            <a:ahLst/>
            <a:cxnLst/>
            <a:rect l="l" t="t" r="r" b="b"/>
            <a:pathLst>
              <a:path w="3611245">
                <a:moveTo>
                  <a:pt x="0" y="0"/>
                </a:moveTo>
                <a:lnTo>
                  <a:pt x="3611008" y="0"/>
                </a:lnTo>
              </a:path>
            </a:pathLst>
          </a:custGeom>
          <a:ln w="188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351599" y="5326496"/>
            <a:ext cx="162941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17525" algn="l"/>
              </a:tabLst>
            </a:pPr>
            <a:r>
              <a:rPr sz="2950" i="1" spc="100" dirty="0">
                <a:latin typeface="Times New Roman"/>
                <a:cs typeface="Times New Roman"/>
              </a:rPr>
              <a:t>C</a:t>
            </a:r>
            <a:r>
              <a:rPr sz="2550" i="1" spc="150" baseline="-24509" dirty="0">
                <a:latin typeface="Times New Roman"/>
                <a:cs typeface="Times New Roman"/>
              </a:rPr>
              <a:t>i	</a:t>
            </a:r>
            <a:r>
              <a:rPr sz="2950" spc="170" dirty="0">
                <a:latin typeface="Symbol"/>
                <a:cs typeface="Symbol"/>
              </a:rPr>
              <a:t></a:t>
            </a:r>
            <a:r>
              <a:rPr sz="2950" spc="170" dirty="0">
                <a:latin typeface="Times New Roman"/>
                <a:cs typeface="Times New Roman"/>
              </a:rPr>
              <a:t> </a:t>
            </a:r>
            <a:r>
              <a:rPr sz="2950" i="1" spc="95" dirty="0">
                <a:latin typeface="Times New Roman"/>
                <a:cs typeface="Times New Roman"/>
              </a:rPr>
              <a:t>A</a:t>
            </a:r>
            <a:r>
              <a:rPr sz="2550" i="1" spc="142" baseline="-4901" dirty="0">
                <a:latin typeface="Times New Roman"/>
                <a:cs typeface="Times New Roman"/>
              </a:rPr>
              <a:t>i</a:t>
            </a:r>
            <a:r>
              <a:rPr sz="2550" i="1" spc="225" baseline="-4901" dirty="0">
                <a:latin typeface="Times New Roman"/>
                <a:cs typeface="Times New Roman"/>
              </a:rPr>
              <a:t> </a:t>
            </a:r>
            <a:r>
              <a:rPr sz="2950" i="1" spc="170" dirty="0">
                <a:latin typeface="Times New Roman"/>
                <a:cs typeface="Times New Roman"/>
              </a:rPr>
              <a:t>B</a:t>
            </a:r>
            <a:r>
              <a:rPr sz="2550" i="1" spc="254" baseline="-4901" dirty="0">
                <a:latin typeface="Times New Roman"/>
                <a:cs typeface="Times New Roman"/>
              </a:rPr>
              <a:t>i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047584" y="5349157"/>
            <a:ext cx="276733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7345" indent="-335280">
              <a:lnSpc>
                <a:spcPct val="100000"/>
              </a:lnSpc>
              <a:spcBef>
                <a:spcPts val="125"/>
              </a:spcBef>
              <a:buFont typeface="Symbol"/>
              <a:buChar char=""/>
              <a:tabLst>
                <a:tab pos="347980" algn="l"/>
              </a:tabLst>
            </a:pPr>
            <a:r>
              <a:rPr sz="4425" i="1" spc="142" baseline="3766" dirty="0">
                <a:latin typeface="Times New Roman"/>
                <a:cs typeface="Times New Roman"/>
              </a:rPr>
              <a:t>A</a:t>
            </a:r>
            <a:r>
              <a:rPr sz="2550" i="1" spc="142" baseline="1633" dirty="0">
                <a:latin typeface="Times New Roman"/>
                <a:cs typeface="Times New Roman"/>
              </a:rPr>
              <a:t>i </a:t>
            </a:r>
            <a:r>
              <a:rPr sz="4425" i="1" spc="270" baseline="3766" dirty="0">
                <a:latin typeface="Times New Roman"/>
                <a:cs typeface="Times New Roman"/>
              </a:rPr>
              <a:t>C</a:t>
            </a:r>
            <a:r>
              <a:rPr sz="1700" i="1" spc="180" dirty="0">
                <a:latin typeface="Times New Roman"/>
                <a:cs typeface="Times New Roman"/>
              </a:rPr>
              <a:t>i</a:t>
            </a:r>
            <a:r>
              <a:rPr sz="1700" spc="180" dirty="0">
                <a:latin typeface="Symbol"/>
                <a:cs typeface="Symbol"/>
              </a:rPr>
              <a:t></a:t>
            </a:r>
            <a:r>
              <a:rPr sz="1700" spc="180" dirty="0">
                <a:latin typeface="Times New Roman"/>
                <a:cs typeface="Times New Roman"/>
              </a:rPr>
              <a:t>1 </a:t>
            </a:r>
            <a:r>
              <a:rPr sz="4425" spc="254" baseline="3766" dirty="0">
                <a:latin typeface="Symbol"/>
                <a:cs typeface="Symbol"/>
              </a:rPr>
              <a:t></a:t>
            </a:r>
            <a:r>
              <a:rPr sz="4425" spc="-622" baseline="3766" dirty="0">
                <a:latin typeface="Times New Roman"/>
                <a:cs typeface="Times New Roman"/>
              </a:rPr>
              <a:t> </a:t>
            </a:r>
            <a:r>
              <a:rPr sz="4425" i="1" spc="262" baseline="3766" dirty="0">
                <a:latin typeface="Times New Roman"/>
                <a:cs typeface="Times New Roman"/>
              </a:rPr>
              <a:t>B</a:t>
            </a:r>
            <a:r>
              <a:rPr sz="2550" i="1" spc="262" baseline="1633" dirty="0">
                <a:latin typeface="Times New Roman"/>
                <a:cs typeface="Times New Roman"/>
              </a:rPr>
              <a:t>i </a:t>
            </a:r>
            <a:r>
              <a:rPr sz="4425" i="1" spc="277" baseline="3766" dirty="0">
                <a:latin typeface="Times New Roman"/>
                <a:cs typeface="Times New Roman"/>
              </a:rPr>
              <a:t>C</a:t>
            </a:r>
            <a:r>
              <a:rPr sz="1700" i="1" spc="185" dirty="0">
                <a:latin typeface="Times New Roman"/>
                <a:cs typeface="Times New Roman"/>
              </a:rPr>
              <a:t>i</a:t>
            </a:r>
            <a:r>
              <a:rPr sz="1700" spc="185" dirty="0">
                <a:latin typeface="Symbol"/>
                <a:cs typeface="Symbol"/>
              </a:rPr>
              <a:t></a:t>
            </a:r>
            <a:r>
              <a:rPr sz="1700" spc="185" dirty="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706695" y="5979808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0" y="0"/>
                </a:moveTo>
                <a:lnTo>
                  <a:pt x="233410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924210" y="5979808"/>
            <a:ext cx="297815" cy="0"/>
          </a:xfrm>
          <a:custGeom>
            <a:avLst/>
            <a:gdLst/>
            <a:ahLst/>
            <a:cxnLst/>
            <a:rect l="l" t="t" r="r" b="b"/>
            <a:pathLst>
              <a:path w="297814">
                <a:moveTo>
                  <a:pt x="0" y="0"/>
                </a:moveTo>
                <a:lnTo>
                  <a:pt x="297790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081065" y="5979808"/>
            <a:ext cx="222250" cy="0"/>
          </a:xfrm>
          <a:custGeom>
            <a:avLst/>
            <a:gdLst/>
            <a:ahLst/>
            <a:cxnLst/>
            <a:rect l="l" t="t" r="r" b="b"/>
            <a:pathLst>
              <a:path w="222250">
                <a:moveTo>
                  <a:pt x="0" y="0"/>
                </a:moveTo>
                <a:lnTo>
                  <a:pt x="221762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567750" y="5979808"/>
            <a:ext cx="222250" cy="0"/>
          </a:xfrm>
          <a:custGeom>
            <a:avLst/>
            <a:gdLst/>
            <a:ahLst/>
            <a:cxnLst/>
            <a:rect l="l" t="t" r="r" b="b"/>
            <a:pathLst>
              <a:path w="222250">
                <a:moveTo>
                  <a:pt x="0" y="0"/>
                </a:moveTo>
                <a:lnTo>
                  <a:pt x="221762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925656" y="5979808"/>
            <a:ext cx="222250" cy="0"/>
          </a:xfrm>
          <a:custGeom>
            <a:avLst/>
            <a:gdLst/>
            <a:ahLst/>
            <a:cxnLst/>
            <a:rect l="l" t="t" r="r" b="b"/>
            <a:pathLst>
              <a:path w="222250">
                <a:moveTo>
                  <a:pt x="0" y="0"/>
                </a:moveTo>
                <a:lnTo>
                  <a:pt x="221762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283259" y="5979808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5">
                <a:moveTo>
                  <a:pt x="0" y="0"/>
                </a:moveTo>
                <a:lnTo>
                  <a:pt x="232653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082584" y="5916491"/>
            <a:ext cx="5745480" cy="0"/>
          </a:xfrm>
          <a:custGeom>
            <a:avLst/>
            <a:gdLst/>
            <a:ahLst/>
            <a:cxnLst/>
            <a:rect l="l" t="t" r="r" b="b"/>
            <a:pathLst>
              <a:path w="5745480">
                <a:moveTo>
                  <a:pt x="0" y="0"/>
                </a:moveTo>
                <a:lnTo>
                  <a:pt x="5745248" y="0"/>
                </a:lnTo>
              </a:path>
            </a:pathLst>
          </a:custGeom>
          <a:ln w="16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5" name="object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292076"/>
              </p:ext>
            </p:extLst>
          </p:nvPr>
        </p:nvGraphicFramePr>
        <p:xfrm>
          <a:off x="3132099" y="59200"/>
          <a:ext cx="6633844" cy="5181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6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3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7E4D00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输入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22225" marB="0">
                    <a:lnL w="53975">
                      <a:solidFill>
                        <a:srgbClr val="7E4D00"/>
                      </a:solidFill>
                      <a:prstDash val="solid"/>
                    </a:lnL>
                    <a:lnR w="28575">
                      <a:solidFill>
                        <a:srgbClr val="7E4D00"/>
                      </a:solidFill>
                      <a:prstDash val="solid"/>
                    </a:lnR>
                    <a:lnT w="539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730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输出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7E4D00"/>
                      </a:solidFill>
                      <a:prstDash val="solid"/>
                    </a:lnL>
                    <a:lnR w="53975">
                      <a:solidFill>
                        <a:srgbClr val="7E4D00"/>
                      </a:solidFill>
                      <a:prstDash val="solid"/>
                    </a:lnR>
                    <a:lnT w="539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7E4D00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75" b="1" spc="-7" baseline="-21021" dirty="0">
                          <a:latin typeface="Times New Roman"/>
                          <a:cs typeface="Times New Roman"/>
                        </a:rPr>
                        <a:t>i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53975">
                      <a:solidFill>
                        <a:srgbClr val="7E4D00"/>
                      </a:solidFill>
                      <a:prstDash val="solid"/>
                    </a:lnL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622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75" b="1" spc="-7" baseline="-21021" dirty="0">
                          <a:latin typeface="Times New Roman"/>
                          <a:cs typeface="Times New Roman"/>
                        </a:rPr>
                        <a:t>i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12725">
                        <a:lnSpc>
                          <a:spcPts val="3000"/>
                        </a:lnSpc>
                        <a:spcBef>
                          <a:spcPts val="980"/>
                        </a:spcBef>
                      </a:pPr>
                      <a:r>
                        <a:rPr sz="4200" b="1" i="1" baseline="13888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50" b="1" dirty="0">
                          <a:latin typeface="Times New Roman"/>
                          <a:cs typeface="Times New Roman"/>
                        </a:rPr>
                        <a:t>i-1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124460" marB="0">
                    <a:lnR w="285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1021" dirty="0">
                          <a:latin typeface="Times New Roman"/>
                          <a:cs typeface="Times New Roman"/>
                        </a:rPr>
                        <a:t>i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7E4D00"/>
                      </a:solidFill>
                      <a:prstDash val="solid"/>
                    </a:lnL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75" b="1" spc="-7" baseline="-21021" dirty="0">
                          <a:latin typeface="Times New Roman"/>
                          <a:cs typeface="Times New Roman"/>
                        </a:rPr>
                        <a:t>i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24"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5800" dirty="0">
                        <a:latin typeface="Times New Roman"/>
                        <a:cs typeface="Times New Roman"/>
                      </a:endParaRPr>
                    </a:p>
                    <a:p>
                      <a:pPr marR="633730" indent="50165">
                        <a:lnSpc>
                          <a:spcPct val="150100"/>
                        </a:lnSpc>
                      </a:pPr>
                      <a:r>
                        <a:rPr sz="2800" spc="-5" dirty="0" err="1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加运算的规</a:t>
                      </a:r>
                      <a:r>
                        <a:rPr sz="2800" dirty="0" err="1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该电路为全</a:t>
                      </a:r>
                      <a:endParaRPr sz="2800" dirty="0">
                        <a:latin typeface="华文楷体"/>
                        <a:cs typeface="华文楷体"/>
                      </a:endParaRPr>
                    </a:p>
                  </a:txBody>
                  <a:tcPr marL="0" marR="0" marT="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53975">
                      <a:solidFill>
                        <a:srgbClr val="7E4D00"/>
                      </a:solidFill>
                      <a:prstDash val="solid"/>
                    </a:lnL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4460" marB="0">
                    <a:lnR w="285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L w="28575">
                      <a:solidFill>
                        <a:srgbClr val="7E4D00"/>
                      </a:solidFill>
                      <a:prstDash val="solid"/>
                    </a:lnL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7465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7E4D00"/>
                      </a:solidFill>
                      <a:prstDash val="solid"/>
                    </a:lnT>
                    <a:lnB w="285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66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53975">
                      <a:solidFill>
                        <a:srgbClr val="7E4D00"/>
                      </a:solidFill>
                      <a:prstDash val="solid"/>
                    </a:lnL>
                    <a:lnT w="28575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T w="28575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1369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R w="285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0797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7E4D00"/>
                      </a:solidFill>
                      <a:prstDash val="solid"/>
                    </a:lnL>
                    <a:lnT w="28575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136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28575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0797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53975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136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28575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0797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53975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136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28575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0797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53975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136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28575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0797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53975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136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28575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0797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53975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130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28575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0734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53975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365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7E4D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53975">
                      <a:solidFill>
                        <a:srgbClr val="7E4D00"/>
                      </a:solidFill>
                      <a:prstDash val="solid"/>
                    </a:lnL>
                    <a:lnB w="539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B w="539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136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28575">
                      <a:solidFill>
                        <a:srgbClr val="7E4D00"/>
                      </a:solidFill>
                      <a:prstDash val="solid"/>
                    </a:lnR>
                    <a:lnB w="539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0797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7E4D00"/>
                      </a:solidFill>
                      <a:prstDash val="solid"/>
                    </a:lnL>
                    <a:lnB w="539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53975">
                      <a:solidFill>
                        <a:srgbClr val="7E4D00"/>
                      </a:solidFill>
                      <a:prstDash val="solid"/>
                    </a:lnR>
                    <a:lnB w="53975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14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3383048" y="5943968"/>
            <a:ext cx="647636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00" i="1" spc="105" dirty="0">
                <a:latin typeface="Times New Roman"/>
                <a:cs typeface="Times New Roman"/>
              </a:rPr>
              <a:t>S</a:t>
            </a:r>
            <a:r>
              <a:rPr sz="2250" i="1" spc="157" baseline="-25925" dirty="0">
                <a:latin typeface="Times New Roman"/>
                <a:cs typeface="Times New Roman"/>
              </a:rPr>
              <a:t>i </a:t>
            </a:r>
            <a:r>
              <a:rPr sz="2600" spc="160" dirty="0">
                <a:latin typeface="Symbol"/>
                <a:cs typeface="Symbol"/>
              </a:rPr>
              <a:t>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i="1" spc="-40" dirty="0">
                <a:latin typeface="Times New Roman"/>
                <a:cs typeface="Times New Roman"/>
              </a:rPr>
              <a:t>A</a:t>
            </a:r>
            <a:r>
              <a:rPr sz="2250" i="1" spc="-60" baseline="-25925" dirty="0">
                <a:latin typeface="Times New Roman"/>
                <a:cs typeface="Times New Roman"/>
              </a:rPr>
              <a:t>i </a:t>
            </a:r>
            <a:r>
              <a:rPr sz="2600" i="1" spc="25" dirty="0">
                <a:latin typeface="Times New Roman"/>
                <a:cs typeface="Times New Roman"/>
              </a:rPr>
              <a:t>B</a:t>
            </a:r>
            <a:r>
              <a:rPr sz="2250" i="1" spc="37" baseline="-25925" dirty="0">
                <a:latin typeface="Times New Roman"/>
                <a:cs typeface="Times New Roman"/>
              </a:rPr>
              <a:t>i </a:t>
            </a:r>
            <a:r>
              <a:rPr sz="2600" i="1" spc="160" dirty="0">
                <a:latin typeface="Times New Roman"/>
                <a:cs typeface="Times New Roman"/>
              </a:rPr>
              <a:t>C</a:t>
            </a:r>
            <a:r>
              <a:rPr sz="2250" i="1" spc="240" baseline="-5555" dirty="0">
                <a:latin typeface="Times New Roman"/>
                <a:cs typeface="Times New Roman"/>
              </a:rPr>
              <a:t>i</a:t>
            </a:r>
            <a:r>
              <a:rPr sz="2250" spc="240" baseline="-5555" dirty="0">
                <a:latin typeface="Symbol"/>
                <a:cs typeface="Symbol"/>
              </a:rPr>
              <a:t></a:t>
            </a:r>
            <a:r>
              <a:rPr sz="2250" spc="240" baseline="-5555" dirty="0">
                <a:latin typeface="Times New Roman"/>
                <a:cs typeface="Times New Roman"/>
              </a:rPr>
              <a:t>1 </a:t>
            </a:r>
            <a:r>
              <a:rPr sz="2600" spc="160" dirty="0">
                <a:latin typeface="Symbol"/>
                <a:cs typeface="Symbol"/>
              </a:rPr>
              <a:t>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i="1" spc="-40" dirty="0">
                <a:latin typeface="Times New Roman"/>
                <a:cs typeface="Times New Roman"/>
              </a:rPr>
              <a:t>A</a:t>
            </a:r>
            <a:r>
              <a:rPr sz="2250" i="1" spc="-60" baseline="-25925" dirty="0">
                <a:latin typeface="Times New Roman"/>
                <a:cs typeface="Times New Roman"/>
              </a:rPr>
              <a:t>i </a:t>
            </a:r>
            <a:r>
              <a:rPr sz="2600" i="1" spc="90" dirty="0">
                <a:latin typeface="Times New Roman"/>
                <a:cs typeface="Times New Roman"/>
              </a:rPr>
              <a:t>B</a:t>
            </a:r>
            <a:r>
              <a:rPr sz="2250" i="1" spc="135" baseline="-25925" dirty="0">
                <a:latin typeface="Times New Roman"/>
                <a:cs typeface="Times New Roman"/>
              </a:rPr>
              <a:t>i</a:t>
            </a:r>
            <a:r>
              <a:rPr sz="2600" i="1" spc="90" dirty="0">
                <a:latin typeface="Times New Roman"/>
                <a:cs typeface="Times New Roman"/>
              </a:rPr>
              <a:t>C</a:t>
            </a:r>
            <a:r>
              <a:rPr sz="2250" i="1" spc="135" baseline="-25925" dirty="0">
                <a:latin typeface="Times New Roman"/>
                <a:cs typeface="Times New Roman"/>
              </a:rPr>
              <a:t>i</a:t>
            </a:r>
            <a:r>
              <a:rPr sz="2250" spc="135" baseline="-25925" dirty="0">
                <a:latin typeface="Symbol"/>
                <a:cs typeface="Symbol"/>
              </a:rPr>
              <a:t></a:t>
            </a:r>
            <a:r>
              <a:rPr sz="2250" spc="135" baseline="-25925" dirty="0">
                <a:latin typeface="Times New Roman"/>
                <a:cs typeface="Times New Roman"/>
              </a:rPr>
              <a:t>1 </a:t>
            </a:r>
            <a:r>
              <a:rPr sz="2600" spc="160" dirty="0">
                <a:latin typeface="Symbol"/>
                <a:cs typeface="Symbol"/>
              </a:rPr>
              <a:t>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i="1" spc="95" dirty="0">
                <a:latin typeface="Times New Roman"/>
                <a:cs typeface="Times New Roman"/>
              </a:rPr>
              <a:t>A</a:t>
            </a:r>
            <a:r>
              <a:rPr sz="2250" i="1" spc="142" baseline="-3703" dirty="0">
                <a:latin typeface="Times New Roman"/>
                <a:cs typeface="Times New Roman"/>
              </a:rPr>
              <a:t>i </a:t>
            </a:r>
            <a:r>
              <a:rPr sz="2600" i="1" spc="85" dirty="0">
                <a:latin typeface="Times New Roman"/>
                <a:cs typeface="Times New Roman"/>
              </a:rPr>
              <a:t>B</a:t>
            </a:r>
            <a:r>
              <a:rPr sz="2250" i="1" spc="127" baseline="-25925" dirty="0">
                <a:latin typeface="Times New Roman"/>
                <a:cs typeface="Times New Roman"/>
              </a:rPr>
              <a:t>i</a:t>
            </a:r>
            <a:r>
              <a:rPr sz="2600" i="1" spc="85" dirty="0">
                <a:latin typeface="Times New Roman"/>
                <a:cs typeface="Times New Roman"/>
              </a:rPr>
              <a:t>C</a:t>
            </a:r>
            <a:r>
              <a:rPr sz="2250" i="1" spc="127" baseline="-25925" dirty="0">
                <a:latin typeface="Times New Roman"/>
                <a:cs typeface="Times New Roman"/>
              </a:rPr>
              <a:t>i </a:t>
            </a:r>
            <a:r>
              <a:rPr sz="2250" spc="60" baseline="-25925" dirty="0">
                <a:latin typeface="Symbol"/>
                <a:cs typeface="Symbol"/>
              </a:rPr>
              <a:t></a:t>
            </a:r>
            <a:r>
              <a:rPr sz="2250" spc="60" baseline="-25925" dirty="0">
                <a:latin typeface="Times New Roman"/>
                <a:cs typeface="Times New Roman"/>
              </a:rPr>
              <a:t>1 </a:t>
            </a:r>
            <a:r>
              <a:rPr sz="2600" spc="160" dirty="0">
                <a:latin typeface="Symbol"/>
                <a:cs typeface="Symbol"/>
              </a:rPr>
              <a:t></a:t>
            </a:r>
            <a:r>
              <a:rPr sz="2600" spc="-330" dirty="0">
                <a:latin typeface="Times New Roman"/>
                <a:cs typeface="Times New Roman"/>
              </a:rPr>
              <a:t> </a:t>
            </a:r>
            <a:r>
              <a:rPr sz="2600" i="1" spc="95" dirty="0">
                <a:latin typeface="Times New Roman"/>
                <a:cs typeface="Times New Roman"/>
              </a:rPr>
              <a:t>A</a:t>
            </a:r>
            <a:r>
              <a:rPr sz="2250" i="1" spc="142" baseline="-3703" dirty="0">
                <a:latin typeface="Times New Roman"/>
                <a:cs typeface="Times New Roman"/>
              </a:rPr>
              <a:t>i </a:t>
            </a:r>
            <a:r>
              <a:rPr sz="2600" i="1" spc="165" dirty="0">
                <a:latin typeface="Times New Roman"/>
                <a:cs typeface="Times New Roman"/>
              </a:rPr>
              <a:t>B</a:t>
            </a:r>
            <a:r>
              <a:rPr sz="2250" i="1" spc="247" baseline="-3703" dirty="0">
                <a:latin typeface="Times New Roman"/>
                <a:cs typeface="Times New Roman"/>
              </a:rPr>
              <a:t>i </a:t>
            </a:r>
            <a:r>
              <a:rPr sz="2600" i="1" spc="165" dirty="0">
                <a:latin typeface="Times New Roman"/>
                <a:cs typeface="Times New Roman"/>
              </a:rPr>
              <a:t>C</a:t>
            </a:r>
            <a:r>
              <a:rPr sz="2250" i="1" spc="247" baseline="-5555" dirty="0">
                <a:latin typeface="Times New Roman"/>
                <a:cs typeface="Times New Roman"/>
              </a:rPr>
              <a:t>i</a:t>
            </a:r>
            <a:r>
              <a:rPr sz="2250" spc="247" baseline="-5555" dirty="0">
                <a:latin typeface="Symbol"/>
                <a:cs typeface="Symbol"/>
              </a:rPr>
              <a:t></a:t>
            </a:r>
            <a:r>
              <a:rPr sz="2250" spc="247" baseline="-5555" dirty="0">
                <a:latin typeface="Times New Roman"/>
                <a:cs typeface="Times New Roman"/>
              </a:rPr>
              <a:t>1</a:t>
            </a:r>
            <a:endParaRPr sz="2250" baseline="-5555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644458" y="2560250"/>
            <a:ext cx="1703705" cy="189090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57200" algn="just">
              <a:lnSpc>
                <a:spcPct val="150000"/>
              </a:lnSpc>
              <a:spcBef>
                <a:spcPts val="105"/>
              </a:spcBef>
            </a:pPr>
            <a:r>
              <a:rPr sz="2800" dirty="0">
                <a:solidFill>
                  <a:srgbClr val="FF0000"/>
                </a:solidFill>
                <a:latin typeface="华文楷体"/>
                <a:cs typeface="华文楷体"/>
              </a:rPr>
              <a:t>符合全 律，所以 加器。</a:t>
            </a:r>
            <a:endParaRPr sz="2800" dirty="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42830" y="1675345"/>
            <a:ext cx="1170940" cy="1616075"/>
          </a:xfrm>
          <a:custGeom>
            <a:avLst/>
            <a:gdLst/>
            <a:ahLst/>
            <a:cxnLst/>
            <a:rect l="l" t="t" r="r" b="b"/>
            <a:pathLst>
              <a:path w="1170939" h="1616075">
                <a:moveTo>
                  <a:pt x="0" y="1615696"/>
                </a:moveTo>
                <a:lnTo>
                  <a:pt x="1170730" y="1615696"/>
                </a:lnTo>
                <a:lnTo>
                  <a:pt x="1170730" y="0"/>
                </a:lnTo>
                <a:lnTo>
                  <a:pt x="0" y="0"/>
                </a:lnTo>
                <a:lnTo>
                  <a:pt x="0" y="1615696"/>
                </a:lnTo>
                <a:close/>
              </a:path>
            </a:pathLst>
          </a:custGeom>
          <a:ln w="41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7266" y="405460"/>
            <a:ext cx="87750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97585" algn="l"/>
                <a:tab pos="8761730" algn="l"/>
              </a:tabLst>
            </a:pP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全加器的应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用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—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组成多</a:t>
            </a:r>
            <a:r>
              <a:rPr sz="3200" u="heavy" spc="-20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位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全加器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	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13588" y="2034350"/>
            <a:ext cx="390525" cy="0"/>
          </a:xfrm>
          <a:custGeom>
            <a:avLst/>
            <a:gdLst/>
            <a:ahLst/>
            <a:cxnLst/>
            <a:rect l="l" t="t" r="r" b="b"/>
            <a:pathLst>
              <a:path w="390525">
                <a:moveTo>
                  <a:pt x="0" y="0"/>
                </a:moveTo>
                <a:lnTo>
                  <a:pt x="390294" y="0"/>
                </a:lnTo>
              </a:path>
            </a:pathLst>
          </a:custGeom>
          <a:ln w="39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13588" y="2932001"/>
            <a:ext cx="390525" cy="0"/>
          </a:xfrm>
          <a:custGeom>
            <a:avLst/>
            <a:gdLst/>
            <a:ahLst/>
            <a:cxnLst/>
            <a:rect l="l" t="t" r="r" b="b"/>
            <a:pathLst>
              <a:path w="390525">
                <a:moveTo>
                  <a:pt x="0" y="0"/>
                </a:moveTo>
                <a:lnTo>
                  <a:pt x="390294" y="0"/>
                </a:lnTo>
              </a:path>
            </a:pathLst>
          </a:custGeom>
          <a:ln w="39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52591" y="2034350"/>
            <a:ext cx="390525" cy="0"/>
          </a:xfrm>
          <a:custGeom>
            <a:avLst/>
            <a:gdLst/>
            <a:ahLst/>
            <a:cxnLst/>
            <a:rect l="l" t="t" r="r" b="b"/>
            <a:pathLst>
              <a:path w="390525">
                <a:moveTo>
                  <a:pt x="390239" y="0"/>
                </a:moveTo>
                <a:lnTo>
                  <a:pt x="0" y="0"/>
                </a:lnTo>
              </a:path>
            </a:pathLst>
          </a:custGeom>
          <a:ln w="39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52591" y="2932001"/>
            <a:ext cx="390525" cy="0"/>
          </a:xfrm>
          <a:custGeom>
            <a:avLst/>
            <a:gdLst/>
            <a:ahLst/>
            <a:cxnLst/>
            <a:rect l="l" t="t" r="r" b="b"/>
            <a:pathLst>
              <a:path w="390525">
                <a:moveTo>
                  <a:pt x="390239" y="0"/>
                </a:moveTo>
                <a:lnTo>
                  <a:pt x="0" y="0"/>
                </a:lnTo>
              </a:path>
            </a:pathLst>
          </a:custGeom>
          <a:ln w="39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06457" y="1832568"/>
            <a:ext cx="565150" cy="797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3040"/>
              </a:lnSpc>
              <a:spcBef>
                <a:spcPts val="95"/>
              </a:spcBef>
            </a:pPr>
            <a:r>
              <a:rPr sz="3825" i="1" spc="44" baseline="7625" dirty="0">
                <a:latin typeface="华文楷体"/>
                <a:cs typeface="华文楷体"/>
              </a:rPr>
              <a:t>C</a:t>
            </a:r>
            <a:r>
              <a:rPr sz="3825" i="1" spc="-450" baseline="7625" dirty="0">
                <a:latin typeface="华文楷体"/>
                <a:cs typeface="华文楷体"/>
              </a:rPr>
              <a:t> </a:t>
            </a:r>
            <a:r>
              <a:rPr sz="1600" spc="45" dirty="0">
                <a:latin typeface="华文楷体"/>
                <a:cs typeface="华文楷体"/>
              </a:rPr>
              <a:t>i-1</a:t>
            </a:r>
            <a:endParaRPr sz="1600">
              <a:latin typeface="华文楷体"/>
              <a:cs typeface="华文楷体"/>
            </a:endParaRPr>
          </a:p>
          <a:p>
            <a:pPr marL="107314">
              <a:lnSpc>
                <a:spcPts val="3040"/>
              </a:lnSpc>
            </a:pPr>
            <a:r>
              <a:rPr sz="2550" i="1" spc="30" dirty="0">
                <a:latin typeface="华文楷体"/>
                <a:cs typeface="华文楷体"/>
              </a:rPr>
              <a:t>A</a:t>
            </a:r>
            <a:r>
              <a:rPr sz="2550" i="1" spc="-295" dirty="0">
                <a:latin typeface="华文楷体"/>
                <a:cs typeface="华文楷体"/>
              </a:rPr>
              <a:t> </a:t>
            </a:r>
            <a:r>
              <a:rPr sz="2400" spc="44" baseline="-12152" dirty="0">
                <a:latin typeface="华文楷体"/>
                <a:cs typeface="华文楷体"/>
              </a:rPr>
              <a:t>i</a:t>
            </a:r>
            <a:endParaRPr sz="2400" baseline="-12152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24292" y="1789579"/>
            <a:ext cx="368300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550" i="1" spc="20" dirty="0">
                <a:latin typeface="华文楷体"/>
                <a:cs typeface="华文楷体"/>
              </a:rPr>
              <a:t>S</a:t>
            </a:r>
            <a:r>
              <a:rPr sz="2550" i="1" spc="-50" dirty="0">
                <a:latin typeface="华文楷体"/>
                <a:cs typeface="华文楷体"/>
              </a:rPr>
              <a:t> </a:t>
            </a:r>
            <a:r>
              <a:rPr sz="2400" spc="44" baseline="-12152" dirty="0">
                <a:latin typeface="华文楷体"/>
                <a:cs typeface="华文楷体"/>
              </a:rPr>
              <a:t>i</a:t>
            </a:r>
            <a:endParaRPr sz="2400" baseline="-12152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74042" y="2687180"/>
            <a:ext cx="420370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550" i="1" spc="30" dirty="0">
                <a:latin typeface="华文楷体"/>
                <a:cs typeface="华文楷体"/>
              </a:rPr>
              <a:t>C</a:t>
            </a:r>
            <a:r>
              <a:rPr sz="2550" i="1" spc="-55" dirty="0">
                <a:latin typeface="华文楷体"/>
                <a:cs typeface="华文楷体"/>
              </a:rPr>
              <a:t> </a:t>
            </a:r>
            <a:r>
              <a:rPr sz="2400" spc="44" baseline="-12152" dirty="0">
                <a:latin typeface="华文楷体"/>
                <a:cs typeface="华文楷体"/>
              </a:rPr>
              <a:t>i</a:t>
            </a:r>
            <a:endParaRPr sz="2400" baseline="-12152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08426" y="2768688"/>
            <a:ext cx="363855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spc="105" dirty="0">
                <a:latin typeface="华文楷体"/>
                <a:cs typeface="华文楷体"/>
              </a:rPr>
              <a:t>CO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42678" y="2483632"/>
            <a:ext cx="390525" cy="0"/>
          </a:xfrm>
          <a:custGeom>
            <a:avLst/>
            <a:gdLst/>
            <a:ahLst/>
            <a:cxnLst/>
            <a:rect l="l" t="t" r="r" b="b"/>
            <a:pathLst>
              <a:path w="390525">
                <a:moveTo>
                  <a:pt x="390239" y="0"/>
                </a:moveTo>
                <a:lnTo>
                  <a:pt x="0" y="0"/>
                </a:lnTo>
              </a:path>
            </a:pathLst>
          </a:custGeom>
          <a:ln w="39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21237" y="2638453"/>
            <a:ext cx="228600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i="1" spc="30" dirty="0">
                <a:latin typeface="华文楷体"/>
                <a:cs typeface="华文楷体"/>
              </a:rPr>
              <a:t>B</a:t>
            </a:r>
            <a:endParaRPr sz="2550">
              <a:latin typeface="华文楷体"/>
              <a:cs typeface="华文楷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0084" y="2801572"/>
            <a:ext cx="762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30" dirty="0">
                <a:latin typeface="华文楷体"/>
                <a:cs typeface="华文楷体"/>
              </a:rPr>
              <a:t>i</a:t>
            </a:r>
            <a:endParaRPr sz="1600">
              <a:latin typeface="华文楷体"/>
              <a:cs typeface="华文楷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33430" y="1737469"/>
            <a:ext cx="678815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800" spc="70" dirty="0">
                <a:latin typeface="华文楷体"/>
                <a:cs typeface="华文楷体"/>
              </a:rPr>
              <a:t>CI</a:t>
            </a:r>
            <a:r>
              <a:rPr sz="1800" spc="315" dirty="0">
                <a:latin typeface="华文楷体"/>
                <a:cs typeface="华文楷体"/>
              </a:rPr>
              <a:t> </a:t>
            </a:r>
            <a:r>
              <a:rPr sz="4500" spc="240" baseline="16666" dirty="0">
                <a:latin typeface="华文楷体"/>
                <a:cs typeface="华文楷体"/>
              </a:rPr>
              <a:t>Σ</a:t>
            </a:r>
            <a:endParaRPr sz="4500" baseline="16666">
              <a:latin typeface="华文楷体"/>
              <a:cs typeface="华文楷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6027" y="3799332"/>
            <a:ext cx="3057525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968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55"/>
              </a:spcBef>
            </a:pPr>
            <a:r>
              <a:rPr sz="3200" dirty="0">
                <a:solidFill>
                  <a:srgbClr val="FF0000"/>
                </a:solidFill>
                <a:latin typeface="华文楷体"/>
                <a:cs typeface="华文楷体"/>
              </a:rPr>
              <a:t>组成四位全加器</a:t>
            </a:r>
            <a:endParaRPr sz="3200">
              <a:latin typeface="华文楷体"/>
              <a:cs typeface="华文楷体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5383784" y="1278488"/>
          <a:ext cx="1166495" cy="4748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50" spc="55" dirty="0">
                          <a:latin typeface="华文楷体"/>
                          <a:cs typeface="华文楷体"/>
                        </a:rPr>
                        <a:t>CI</a:t>
                      </a:r>
                      <a:r>
                        <a:rPr sz="1050" spc="215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2700" spc="142" baseline="16975" dirty="0">
                          <a:latin typeface="华文楷体"/>
                          <a:cs typeface="华文楷体"/>
                        </a:rPr>
                        <a:t>Σ</a:t>
                      </a:r>
                      <a:endParaRPr sz="2700" baseline="16975">
                        <a:latin typeface="华文楷体"/>
                        <a:cs typeface="华文楷体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458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80" dirty="0">
                          <a:latin typeface="华文楷体"/>
                          <a:cs typeface="华文楷体"/>
                        </a:rPr>
                        <a:t>CO</a:t>
                      </a:r>
                      <a:endParaRPr sz="1050">
                        <a:latin typeface="华文楷体"/>
                        <a:cs typeface="华文楷体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4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9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503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0000"/>
                      </a:solidFill>
                      <a:prstDash val="solid"/>
                    </a:lnL>
                    <a:lnR w="53975">
                      <a:solidFill>
                        <a:srgbClr val="FF0000"/>
                      </a:solidFill>
                      <a:prstDash val="solid"/>
                    </a:lnR>
                    <a:lnB w="53975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082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0000"/>
                      </a:solidFill>
                      <a:prstDash val="solid"/>
                    </a:lnL>
                    <a:lnT w="53975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50" spc="55" dirty="0">
                          <a:latin typeface="华文楷体"/>
                          <a:cs typeface="华文楷体"/>
                        </a:rPr>
                        <a:t>CI</a:t>
                      </a:r>
                      <a:r>
                        <a:rPr sz="1050" spc="215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2700" spc="142" baseline="16975" dirty="0">
                          <a:latin typeface="华文楷体"/>
                          <a:cs typeface="华文楷体"/>
                        </a:rPr>
                        <a:t>Σ</a:t>
                      </a:r>
                      <a:endParaRPr sz="2700" baseline="16975">
                        <a:latin typeface="华文楷体"/>
                        <a:cs typeface="华文楷体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458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80" dirty="0">
                          <a:latin typeface="华文楷体"/>
                          <a:cs typeface="华文楷体"/>
                        </a:rPr>
                        <a:t>CO</a:t>
                      </a:r>
                      <a:endParaRPr sz="1050">
                        <a:latin typeface="华文楷体"/>
                        <a:cs typeface="华文楷体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9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647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0000"/>
                      </a:solidFill>
                      <a:prstDash val="solid"/>
                    </a:lnL>
                    <a:lnR w="53975">
                      <a:solidFill>
                        <a:srgbClr val="FF0000"/>
                      </a:solidFill>
                      <a:prstDash val="solid"/>
                    </a:lnR>
                    <a:lnB w="53975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6462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0000"/>
                      </a:solidFill>
                      <a:prstDash val="solid"/>
                    </a:lnL>
                    <a:lnT w="53975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050" spc="55" dirty="0">
                          <a:latin typeface="华文楷体"/>
                          <a:cs typeface="华文楷体"/>
                        </a:rPr>
                        <a:t>CI</a:t>
                      </a:r>
                      <a:r>
                        <a:rPr sz="1050" spc="215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2700" spc="142" baseline="16975" dirty="0">
                          <a:latin typeface="华文楷体"/>
                          <a:cs typeface="华文楷体"/>
                        </a:rPr>
                        <a:t>Σ</a:t>
                      </a:r>
                      <a:endParaRPr sz="2700" baseline="16975">
                        <a:latin typeface="华文楷体"/>
                        <a:cs typeface="华文楷体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458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80" dirty="0">
                          <a:latin typeface="华文楷体"/>
                          <a:cs typeface="华文楷体"/>
                        </a:rPr>
                        <a:t>CO</a:t>
                      </a:r>
                      <a:endParaRPr sz="1050">
                        <a:latin typeface="华文楷体"/>
                        <a:cs typeface="华文楷体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4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89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544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0000"/>
                      </a:solidFill>
                      <a:prstDash val="solid"/>
                    </a:lnL>
                    <a:lnR w="53975">
                      <a:solidFill>
                        <a:srgbClr val="FF0000"/>
                      </a:solidFill>
                      <a:prstDash val="solid"/>
                    </a:lnR>
                    <a:lnB w="53975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4252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0000"/>
                      </a:solidFill>
                      <a:prstDash val="solid"/>
                    </a:lnL>
                    <a:lnT w="53975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7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050" spc="55" dirty="0">
                          <a:latin typeface="华文楷体"/>
                          <a:cs typeface="华文楷体"/>
                        </a:rPr>
                        <a:t>CI</a:t>
                      </a:r>
                      <a:r>
                        <a:rPr sz="1050" spc="215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2700" spc="142" baseline="16975" dirty="0">
                          <a:latin typeface="华文楷体"/>
                          <a:cs typeface="华文楷体"/>
                        </a:rPr>
                        <a:t>Σ</a:t>
                      </a:r>
                      <a:endParaRPr sz="2700" baseline="16975">
                        <a:latin typeface="华文楷体"/>
                        <a:cs typeface="华文楷体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458470">
                        <a:lnSpc>
                          <a:spcPct val="100000"/>
                        </a:lnSpc>
                      </a:pPr>
                      <a:r>
                        <a:rPr sz="1050" spc="80" dirty="0">
                          <a:latin typeface="华文楷体"/>
                          <a:cs typeface="华文楷体"/>
                        </a:rPr>
                        <a:t>CO</a:t>
                      </a:r>
                      <a:endParaRPr sz="1050">
                        <a:latin typeface="华文楷体"/>
                        <a:cs typeface="华文楷体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9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6623548" y="1354765"/>
            <a:ext cx="28321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00" i="1" spc="25" dirty="0">
                <a:latin typeface="华文楷体"/>
                <a:cs typeface="华文楷体"/>
              </a:rPr>
              <a:t>S</a:t>
            </a:r>
            <a:r>
              <a:rPr sz="1500" i="1" spc="-40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0</a:t>
            </a:r>
            <a:endParaRPr sz="1425" baseline="-11695">
              <a:latin typeface="华文楷体"/>
              <a:cs typeface="华文楷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08113" y="1882459"/>
            <a:ext cx="31432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00" i="1" spc="35" dirty="0">
                <a:latin typeface="华文楷体"/>
                <a:cs typeface="华文楷体"/>
              </a:rPr>
              <a:t>C</a:t>
            </a:r>
            <a:r>
              <a:rPr sz="1500" i="1" spc="-40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0</a:t>
            </a:r>
            <a:endParaRPr sz="1425" baseline="-11695">
              <a:latin typeface="华文楷体"/>
              <a:cs typeface="华文楷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76690" y="1589791"/>
            <a:ext cx="308610" cy="5321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1500" i="1" spc="40" dirty="0">
                <a:latin typeface="华文楷体"/>
                <a:cs typeface="华文楷体"/>
              </a:rPr>
              <a:t>A</a:t>
            </a:r>
            <a:r>
              <a:rPr sz="1500" i="1" spc="-215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0</a:t>
            </a:r>
            <a:endParaRPr sz="1425" baseline="-11695">
              <a:latin typeface="华文楷体"/>
              <a:cs typeface="华文楷体"/>
            </a:endParaRPr>
          </a:p>
          <a:p>
            <a:pPr marL="52705">
              <a:lnSpc>
                <a:spcPct val="100000"/>
              </a:lnSpc>
              <a:spcBef>
                <a:spcPts val="195"/>
              </a:spcBef>
            </a:pPr>
            <a:r>
              <a:rPr sz="1500" i="1" spc="35" dirty="0">
                <a:latin typeface="华文楷体"/>
                <a:cs typeface="华文楷体"/>
              </a:rPr>
              <a:t>B</a:t>
            </a:r>
            <a:r>
              <a:rPr sz="1500" i="1" spc="-215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0</a:t>
            </a:r>
            <a:endParaRPr sz="1425" baseline="-11695">
              <a:latin typeface="华文楷体"/>
              <a:cs typeface="华文楷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23548" y="2613590"/>
            <a:ext cx="28321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00" i="1" spc="25" dirty="0">
                <a:latin typeface="华文楷体"/>
                <a:cs typeface="华文楷体"/>
              </a:rPr>
              <a:t>S</a:t>
            </a:r>
            <a:r>
              <a:rPr sz="1500" i="1" spc="-40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1</a:t>
            </a:r>
            <a:endParaRPr sz="1425" baseline="-11695">
              <a:latin typeface="华文楷体"/>
              <a:cs typeface="华文楷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08113" y="3141283"/>
            <a:ext cx="31432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00" i="1" spc="35" dirty="0">
                <a:latin typeface="华文楷体"/>
                <a:cs typeface="华文楷体"/>
              </a:rPr>
              <a:t>C</a:t>
            </a:r>
            <a:r>
              <a:rPr sz="1500" i="1" spc="-40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1</a:t>
            </a:r>
            <a:endParaRPr sz="1425" baseline="-11695">
              <a:latin typeface="华文楷体"/>
              <a:cs typeface="华文楷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76690" y="2848615"/>
            <a:ext cx="308610" cy="5321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1500" i="1" spc="40" dirty="0">
                <a:latin typeface="华文楷体"/>
                <a:cs typeface="华文楷体"/>
              </a:rPr>
              <a:t>A</a:t>
            </a:r>
            <a:r>
              <a:rPr sz="1500" i="1" spc="-215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1</a:t>
            </a:r>
            <a:endParaRPr sz="1425" baseline="-11695">
              <a:latin typeface="华文楷体"/>
              <a:cs typeface="华文楷体"/>
            </a:endParaRPr>
          </a:p>
          <a:p>
            <a:pPr marL="52705">
              <a:lnSpc>
                <a:spcPct val="100000"/>
              </a:lnSpc>
              <a:spcBef>
                <a:spcPts val="195"/>
              </a:spcBef>
            </a:pPr>
            <a:r>
              <a:rPr sz="1500" i="1" spc="35" dirty="0">
                <a:latin typeface="华文楷体"/>
                <a:cs typeface="华文楷体"/>
              </a:rPr>
              <a:t>B</a:t>
            </a:r>
            <a:r>
              <a:rPr sz="1500" i="1" spc="-215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1</a:t>
            </a:r>
            <a:endParaRPr sz="1425" baseline="-11695">
              <a:latin typeface="华文楷体"/>
              <a:cs typeface="华文楷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23548" y="3873937"/>
            <a:ext cx="28321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00" i="1" spc="25" dirty="0">
                <a:latin typeface="华文楷体"/>
                <a:cs typeface="华文楷体"/>
              </a:rPr>
              <a:t>S</a:t>
            </a:r>
            <a:r>
              <a:rPr sz="1500" i="1" spc="-40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2</a:t>
            </a:r>
            <a:endParaRPr sz="1425" baseline="-11695">
              <a:latin typeface="华文楷体"/>
              <a:cs typeface="华文楷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33513" y="4401631"/>
            <a:ext cx="15176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i="1" spc="35" dirty="0">
                <a:latin typeface="华文楷体"/>
                <a:cs typeface="华文楷体"/>
              </a:rPr>
              <a:t>C</a:t>
            </a:r>
            <a:endParaRPr sz="1500">
              <a:latin typeface="华文楷体"/>
              <a:cs typeface="华文楷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09246" y="4499473"/>
            <a:ext cx="8763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40" dirty="0">
                <a:latin typeface="华文楷体"/>
                <a:cs typeface="华文楷体"/>
              </a:rPr>
              <a:t>2</a:t>
            </a:r>
            <a:endParaRPr sz="950">
              <a:latin typeface="华文楷体"/>
              <a:cs typeface="华文楷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76690" y="4108963"/>
            <a:ext cx="308610" cy="5321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1500" i="1" spc="40" dirty="0">
                <a:latin typeface="华文楷体"/>
                <a:cs typeface="华文楷体"/>
              </a:rPr>
              <a:t>A</a:t>
            </a:r>
            <a:r>
              <a:rPr sz="1500" i="1" spc="-215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2</a:t>
            </a:r>
            <a:endParaRPr sz="1425" baseline="-11695">
              <a:latin typeface="华文楷体"/>
              <a:cs typeface="华文楷体"/>
            </a:endParaRPr>
          </a:p>
          <a:p>
            <a:pPr marL="52705">
              <a:lnSpc>
                <a:spcPct val="100000"/>
              </a:lnSpc>
              <a:spcBef>
                <a:spcPts val="195"/>
              </a:spcBef>
            </a:pPr>
            <a:r>
              <a:rPr sz="1500" i="1" spc="35" dirty="0">
                <a:latin typeface="华文楷体"/>
                <a:cs typeface="华文楷体"/>
              </a:rPr>
              <a:t>B</a:t>
            </a:r>
            <a:r>
              <a:rPr sz="1500" i="1" spc="-215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2</a:t>
            </a:r>
            <a:endParaRPr sz="1425" baseline="-11695">
              <a:latin typeface="华文楷体"/>
              <a:cs typeface="华文楷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23548" y="5133007"/>
            <a:ext cx="283210" cy="2584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25" dirty="0">
                <a:latin typeface="华文楷体"/>
                <a:cs typeface="华文楷体"/>
              </a:rPr>
              <a:t>S</a:t>
            </a:r>
            <a:r>
              <a:rPr sz="1500" i="1" spc="-40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3</a:t>
            </a:r>
            <a:endParaRPr sz="1425" baseline="-11695">
              <a:latin typeface="华文楷体"/>
              <a:cs typeface="华文楷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08113" y="5661443"/>
            <a:ext cx="314325" cy="2584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00" i="1" spc="35" dirty="0">
                <a:latin typeface="华文楷体"/>
                <a:cs typeface="华文楷体"/>
              </a:rPr>
              <a:t>C</a:t>
            </a:r>
            <a:r>
              <a:rPr sz="1500" i="1" spc="-40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3</a:t>
            </a:r>
            <a:endParaRPr sz="1425" baseline="-11695">
              <a:latin typeface="华文楷体"/>
              <a:cs typeface="华文楷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76690" y="5368326"/>
            <a:ext cx="308610" cy="53340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1500" i="1" spc="40" dirty="0">
                <a:latin typeface="华文楷体"/>
                <a:cs typeface="华文楷体"/>
              </a:rPr>
              <a:t>A</a:t>
            </a:r>
            <a:r>
              <a:rPr sz="1500" i="1" spc="-215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3</a:t>
            </a:r>
            <a:endParaRPr sz="1425" baseline="-11695">
              <a:latin typeface="华文楷体"/>
              <a:cs typeface="华文楷体"/>
            </a:endParaRPr>
          </a:p>
          <a:p>
            <a:pPr marL="52705">
              <a:lnSpc>
                <a:spcPct val="100000"/>
              </a:lnSpc>
              <a:spcBef>
                <a:spcPts val="200"/>
              </a:spcBef>
            </a:pPr>
            <a:r>
              <a:rPr sz="1500" i="1" spc="35" dirty="0">
                <a:latin typeface="华文楷体"/>
                <a:cs typeface="华文楷体"/>
              </a:rPr>
              <a:t>B</a:t>
            </a:r>
            <a:r>
              <a:rPr sz="1500" i="1" spc="-215" dirty="0">
                <a:latin typeface="华文楷体"/>
                <a:cs typeface="华文楷体"/>
              </a:rPr>
              <a:t> </a:t>
            </a:r>
            <a:r>
              <a:rPr sz="1425" spc="60" baseline="-11695" dirty="0">
                <a:latin typeface="华文楷体"/>
                <a:cs typeface="华文楷体"/>
              </a:rPr>
              <a:t>3</a:t>
            </a:r>
            <a:endParaRPr sz="1425" baseline="-11695">
              <a:latin typeface="华文楷体"/>
              <a:cs typeface="华文楷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772807" y="1798928"/>
            <a:ext cx="1363980" cy="3601720"/>
          </a:xfrm>
          <a:custGeom>
            <a:avLst/>
            <a:gdLst/>
            <a:ahLst/>
            <a:cxnLst/>
            <a:rect l="l" t="t" r="r" b="b"/>
            <a:pathLst>
              <a:path w="1363979" h="3601720">
                <a:moveTo>
                  <a:pt x="0" y="3601118"/>
                </a:moveTo>
                <a:lnTo>
                  <a:pt x="1363969" y="3601118"/>
                </a:lnTo>
                <a:lnTo>
                  <a:pt x="1363968" y="0"/>
                </a:lnTo>
                <a:lnTo>
                  <a:pt x="0" y="0"/>
                </a:lnTo>
                <a:lnTo>
                  <a:pt x="0" y="3601118"/>
                </a:lnTo>
                <a:close/>
              </a:path>
            </a:pathLst>
          </a:custGeom>
          <a:ln w="42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375837" y="2158936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697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375837" y="2879261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697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365939" y="2519098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697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383106" y="3239297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701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383106" y="3959622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701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373208" y="3599459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701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383106" y="4319696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701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383106" y="5039932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701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373208" y="4679808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701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136735" y="2519098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752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136735" y="3059279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752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136735" y="3599459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752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136736" y="4139640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752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136736" y="4679808"/>
            <a:ext cx="389890" cy="0"/>
          </a:xfrm>
          <a:custGeom>
            <a:avLst/>
            <a:gdLst/>
            <a:ahLst/>
            <a:cxnLst/>
            <a:rect l="l" t="t" r="r" b="b"/>
            <a:pathLst>
              <a:path w="389890">
                <a:moveTo>
                  <a:pt x="389752" y="0"/>
                </a:moveTo>
                <a:lnTo>
                  <a:pt x="0" y="0"/>
                </a:lnTo>
              </a:path>
            </a:pathLst>
          </a:custGeom>
          <a:ln w="396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7832892" y="1936567"/>
            <a:ext cx="355600" cy="327850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560"/>
              </a:spcBef>
            </a:pPr>
            <a:r>
              <a:rPr sz="1800" spc="70" dirty="0">
                <a:latin typeface="华文楷体"/>
                <a:cs typeface="华文楷体"/>
              </a:rPr>
              <a:t>CI</a:t>
            </a:r>
            <a:endParaRPr sz="1800">
              <a:latin typeface="华文楷体"/>
              <a:cs typeface="华文楷体"/>
            </a:endParaRPr>
          </a:p>
          <a:p>
            <a:pPr marL="33020">
              <a:lnSpc>
                <a:spcPct val="100000"/>
              </a:lnSpc>
              <a:spcBef>
                <a:spcPts val="505"/>
              </a:spcBef>
            </a:pPr>
            <a:r>
              <a:rPr sz="1900" i="1" spc="25" dirty="0">
                <a:latin typeface="华文楷体"/>
                <a:cs typeface="华文楷体"/>
              </a:rPr>
              <a:t>B</a:t>
            </a:r>
            <a:r>
              <a:rPr sz="1900" i="1" spc="-245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0</a:t>
            </a:r>
            <a:endParaRPr sz="1800" baseline="-11574">
              <a:latin typeface="华文楷体"/>
              <a:cs typeface="华文楷体"/>
            </a:endParaRPr>
          </a:p>
          <a:p>
            <a:pPr marL="33020">
              <a:lnSpc>
                <a:spcPct val="100000"/>
              </a:lnSpc>
              <a:spcBef>
                <a:spcPts val="770"/>
              </a:spcBef>
            </a:pPr>
            <a:r>
              <a:rPr sz="1900" i="1" spc="25" dirty="0">
                <a:latin typeface="华文楷体"/>
                <a:cs typeface="华文楷体"/>
              </a:rPr>
              <a:t>B</a:t>
            </a:r>
            <a:r>
              <a:rPr sz="1900" i="1" spc="-245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1</a:t>
            </a:r>
            <a:endParaRPr sz="1800" baseline="-11574">
              <a:latin typeface="华文楷体"/>
              <a:cs typeface="华文楷体"/>
            </a:endParaRPr>
          </a:p>
          <a:p>
            <a:pPr marL="37465">
              <a:lnSpc>
                <a:spcPct val="100000"/>
              </a:lnSpc>
              <a:spcBef>
                <a:spcPts val="484"/>
              </a:spcBef>
            </a:pPr>
            <a:r>
              <a:rPr sz="1900" i="1" spc="25" dirty="0">
                <a:latin typeface="华文楷体"/>
                <a:cs typeface="华文楷体"/>
              </a:rPr>
              <a:t>B</a:t>
            </a:r>
            <a:r>
              <a:rPr sz="1900" i="1" spc="-245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2</a:t>
            </a:r>
            <a:endParaRPr sz="1800" baseline="-11574">
              <a:latin typeface="华文楷体"/>
              <a:cs typeface="华文楷体"/>
            </a:endParaRPr>
          </a:p>
          <a:p>
            <a:pPr marL="33020">
              <a:lnSpc>
                <a:spcPct val="100000"/>
              </a:lnSpc>
              <a:spcBef>
                <a:spcPts val="765"/>
              </a:spcBef>
            </a:pPr>
            <a:r>
              <a:rPr sz="1900" i="1" spc="25" dirty="0">
                <a:latin typeface="华文楷体"/>
                <a:cs typeface="华文楷体"/>
              </a:rPr>
              <a:t>B</a:t>
            </a:r>
            <a:r>
              <a:rPr sz="1900" i="1" spc="-245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3</a:t>
            </a:r>
            <a:endParaRPr sz="1800" baseline="-1157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204"/>
              </a:spcBef>
            </a:pPr>
            <a:r>
              <a:rPr sz="1900" i="1" spc="30" dirty="0">
                <a:latin typeface="华文楷体"/>
                <a:cs typeface="华文楷体"/>
              </a:rPr>
              <a:t>A</a:t>
            </a:r>
            <a:r>
              <a:rPr sz="1900" i="1" spc="-250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0</a:t>
            </a:r>
            <a:endParaRPr sz="1800" baseline="-1157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765"/>
              </a:spcBef>
            </a:pPr>
            <a:r>
              <a:rPr sz="1900" i="1" spc="30" dirty="0">
                <a:latin typeface="华文楷体"/>
                <a:cs typeface="华文楷体"/>
              </a:rPr>
              <a:t>A</a:t>
            </a:r>
            <a:r>
              <a:rPr sz="1900" i="1" spc="-250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1</a:t>
            </a:r>
            <a:endParaRPr sz="1800" baseline="-11574">
              <a:latin typeface="华文楷体"/>
              <a:cs typeface="华文楷体"/>
            </a:endParaRPr>
          </a:p>
          <a:p>
            <a:pPr marL="29845">
              <a:lnSpc>
                <a:spcPct val="100000"/>
              </a:lnSpc>
              <a:spcBef>
                <a:spcPts val="484"/>
              </a:spcBef>
            </a:pPr>
            <a:r>
              <a:rPr sz="1900" i="1" spc="30" dirty="0">
                <a:latin typeface="华文楷体"/>
                <a:cs typeface="华文楷体"/>
              </a:rPr>
              <a:t>A</a:t>
            </a:r>
            <a:r>
              <a:rPr sz="1900" i="1" spc="-250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2</a:t>
            </a:r>
            <a:endParaRPr sz="1800" baseline="-1157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770"/>
              </a:spcBef>
            </a:pPr>
            <a:r>
              <a:rPr sz="1900" i="1" spc="30" dirty="0">
                <a:latin typeface="华文楷体"/>
                <a:cs typeface="华文楷体"/>
              </a:rPr>
              <a:t>A</a:t>
            </a:r>
            <a:r>
              <a:rPr sz="1900" i="1" spc="-250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3</a:t>
            </a:r>
            <a:endParaRPr sz="1800" baseline="-11574">
              <a:latin typeface="华文楷体"/>
              <a:cs typeface="华文楷体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15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8643646" y="2331906"/>
            <a:ext cx="414655" cy="247523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15"/>
              </a:spcBef>
            </a:pPr>
            <a:r>
              <a:rPr sz="1900" i="1" spc="20" dirty="0">
                <a:latin typeface="华文楷体"/>
                <a:cs typeface="华文楷体"/>
              </a:rPr>
              <a:t>S</a:t>
            </a:r>
            <a:r>
              <a:rPr sz="1900" i="1" spc="-250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0</a:t>
            </a:r>
            <a:endParaRPr sz="1800" baseline="-11574">
              <a:latin typeface="华文楷体"/>
              <a:cs typeface="华文楷体"/>
            </a:endParaRPr>
          </a:p>
          <a:p>
            <a:pPr marL="81280">
              <a:lnSpc>
                <a:spcPct val="100000"/>
              </a:lnSpc>
              <a:spcBef>
                <a:spcPts val="1970"/>
              </a:spcBef>
            </a:pPr>
            <a:r>
              <a:rPr sz="1900" i="1" spc="20" dirty="0">
                <a:latin typeface="华文楷体"/>
                <a:cs typeface="华文楷体"/>
              </a:rPr>
              <a:t>S</a:t>
            </a:r>
            <a:r>
              <a:rPr sz="1900" i="1" spc="-250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1</a:t>
            </a:r>
            <a:endParaRPr sz="1800" baseline="-11574">
              <a:latin typeface="华文楷体"/>
              <a:cs typeface="华文楷体"/>
            </a:endParaRPr>
          </a:p>
          <a:p>
            <a:pPr marL="81280">
              <a:lnSpc>
                <a:spcPct val="100000"/>
              </a:lnSpc>
              <a:spcBef>
                <a:spcPts val="1975"/>
              </a:spcBef>
            </a:pPr>
            <a:r>
              <a:rPr sz="1900" i="1" spc="20" dirty="0">
                <a:latin typeface="华文楷体"/>
                <a:cs typeface="华文楷体"/>
              </a:rPr>
              <a:t>S</a:t>
            </a:r>
            <a:r>
              <a:rPr sz="1900" i="1" spc="-250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2</a:t>
            </a:r>
            <a:endParaRPr sz="1800" baseline="-11574">
              <a:latin typeface="华文楷体"/>
              <a:cs typeface="华文楷体"/>
            </a:endParaRPr>
          </a:p>
          <a:p>
            <a:pPr marL="81280">
              <a:lnSpc>
                <a:spcPct val="100000"/>
              </a:lnSpc>
              <a:spcBef>
                <a:spcPts val="1975"/>
              </a:spcBef>
            </a:pPr>
            <a:r>
              <a:rPr sz="1900" i="1" spc="20" dirty="0">
                <a:latin typeface="华文楷体"/>
                <a:cs typeface="华文楷体"/>
              </a:rPr>
              <a:t>S</a:t>
            </a:r>
            <a:r>
              <a:rPr sz="1900" i="1" spc="-250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3</a:t>
            </a:r>
            <a:endParaRPr sz="1800" baseline="-1157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2070"/>
              </a:spcBef>
            </a:pPr>
            <a:r>
              <a:rPr sz="1800" spc="100" dirty="0">
                <a:latin typeface="华文楷体"/>
                <a:cs typeface="华文楷体"/>
              </a:rPr>
              <a:t>CO</a:t>
            </a:r>
            <a:endParaRPr sz="1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11519" y="52781"/>
            <a:ext cx="61277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输入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99957" y="52781"/>
            <a:ext cx="61277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输出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10909" y="552618"/>
            <a:ext cx="22034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5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15734" y="552618"/>
            <a:ext cx="20383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05573" y="552618"/>
            <a:ext cx="22034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5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76743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4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73821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3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71027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2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68105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1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65309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0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11913" y="2022770"/>
            <a:ext cx="4297045" cy="1388110"/>
          </a:xfrm>
          <a:custGeom>
            <a:avLst/>
            <a:gdLst/>
            <a:ahLst/>
            <a:cxnLst/>
            <a:rect l="l" t="t" r="r" b="b"/>
            <a:pathLst>
              <a:path w="4297045" h="1388110">
                <a:moveTo>
                  <a:pt x="0" y="1387821"/>
                </a:moveTo>
                <a:lnTo>
                  <a:pt x="4296421" y="1387821"/>
                </a:lnTo>
                <a:lnTo>
                  <a:pt x="4296421" y="0"/>
                </a:lnTo>
                <a:lnTo>
                  <a:pt x="0" y="0"/>
                </a:lnTo>
                <a:lnTo>
                  <a:pt x="0" y="1387821"/>
                </a:lnTo>
                <a:close/>
              </a:path>
            </a:pathLst>
          </a:custGeom>
          <a:ln w="439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41555" y="3418005"/>
            <a:ext cx="0" cy="191135"/>
          </a:xfrm>
          <a:custGeom>
            <a:avLst/>
            <a:gdLst/>
            <a:ahLst/>
            <a:cxnLst/>
            <a:rect l="l" t="t" r="r" b="b"/>
            <a:pathLst>
              <a:path h="191135">
                <a:moveTo>
                  <a:pt x="0" y="0"/>
                </a:moveTo>
                <a:lnTo>
                  <a:pt x="0" y="190800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00855" y="3418005"/>
            <a:ext cx="0" cy="191135"/>
          </a:xfrm>
          <a:custGeom>
            <a:avLst/>
            <a:gdLst/>
            <a:ahLst/>
            <a:cxnLst/>
            <a:rect l="l" t="t" r="r" b="b"/>
            <a:pathLst>
              <a:path h="191135">
                <a:moveTo>
                  <a:pt x="0" y="0"/>
                </a:moveTo>
                <a:lnTo>
                  <a:pt x="0" y="190800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71213" y="3428077"/>
            <a:ext cx="0" cy="180975"/>
          </a:xfrm>
          <a:custGeom>
            <a:avLst/>
            <a:gdLst/>
            <a:ahLst/>
            <a:cxnLst/>
            <a:rect l="l" t="t" r="r" b="b"/>
            <a:pathLst>
              <a:path h="180975">
                <a:moveTo>
                  <a:pt x="0" y="0"/>
                </a:moveTo>
                <a:lnTo>
                  <a:pt x="0" y="180728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30497" y="3410591"/>
            <a:ext cx="0" cy="198755"/>
          </a:xfrm>
          <a:custGeom>
            <a:avLst/>
            <a:gdLst/>
            <a:ahLst/>
            <a:cxnLst/>
            <a:rect l="l" t="t" r="r" b="b"/>
            <a:pathLst>
              <a:path h="198754">
                <a:moveTo>
                  <a:pt x="0" y="0"/>
                </a:moveTo>
                <a:lnTo>
                  <a:pt x="0" y="198214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89751" y="3410591"/>
            <a:ext cx="0" cy="198755"/>
          </a:xfrm>
          <a:custGeom>
            <a:avLst/>
            <a:gdLst/>
            <a:ahLst/>
            <a:cxnLst/>
            <a:rect l="l" t="t" r="r" b="b"/>
            <a:pathLst>
              <a:path h="198754">
                <a:moveTo>
                  <a:pt x="0" y="0"/>
                </a:moveTo>
                <a:lnTo>
                  <a:pt x="0" y="198214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60200" y="3420663"/>
            <a:ext cx="0" cy="188595"/>
          </a:xfrm>
          <a:custGeom>
            <a:avLst/>
            <a:gdLst/>
            <a:ahLst/>
            <a:cxnLst/>
            <a:rect l="l" t="t" r="r" b="b"/>
            <a:pathLst>
              <a:path h="188595">
                <a:moveTo>
                  <a:pt x="0" y="0"/>
                </a:moveTo>
                <a:lnTo>
                  <a:pt x="0" y="188142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19454" y="3410591"/>
            <a:ext cx="0" cy="198755"/>
          </a:xfrm>
          <a:custGeom>
            <a:avLst/>
            <a:gdLst/>
            <a:ahLst/>
            <a:cxnLst/>
            <a:rect l="l" t="t" r="r" b="b"/>
            <a:pathLst>
              <a:path h="198754">
                <a:moveTo>
                  <a:pt x="0" y="0"/>
                </a:moveTo>
                <a:lnTo>
                  <a:pt x="0" y="198214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078708" y="3410591"/>
            <a:ext cx="0" cy="198755"/>
          </a:xfrm>
          <a:custGeom>
            <a:avLst/>
            <a:gdLst/>
            <a:ahLst/>
            <a:cxnLst/>
            <a:rect l="l" t="t" r="r" b="b"/>
            <a:pathLst>
              <a:path h="198754">
                <a:moveTo>
                  <a:pt x="0" y="0"/>
                </a:moveTo>
                <a:lnTo>
                  <a:pt x="0" y="198214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49156" y="3420663"/>
            <a:ext cx="0" cy="188595"/>
          </a:xfrm>
          <a:custGeom>
            <a:avLst/>
            <a:gdLst/>
            <a:ahLst/>
            <a:cxnLst/>
            <a:rect l="l" t="t" r="r" b="b"/>
            <a:pathLst>
              <a:path h="188595">
                <a:moveTo>
                  <a:pt x="0" y="0"/>
                </a:moveTo>
                <a:lnTo>
                  <a:pt x="0" y="188142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071213" y="1626244"/>
            <a:ext cx="0" cy="396875"/>
          </a:xfrm>
          <a:custGeom>
            <a:avLst/>
            <a:gdLst/>
            <a:ahLst/>
            <a:cxnLst/>
            <a:rect l="l" t="t" r="r" b="b"/>
            <a:pathLst>
              <a:path h="396875">
                <a:moveTo>
                  <a:pt x="0" y="0"/>
                </a:moveTo>
                <a:lnTo>
                  <a:pt x="0" y="396428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715721" y="1626244"/>
            <a:ext cx="0" cy="396875"/>
          </a:xfrm>
          <a:custGeom>
            <a:avLst/>
            <a:gdLst/>
            <a:ahLst/>
            <a:cxnLst/>
            <a:rect l="l" t="t" r="r" b="b"/>
            <a:pathLst>
              <a:path h="396875">
                <a:moveTo>
                  <a:pt x="0" y="0"/>
                </a:moveTo>
                <a:lnTo>
                  <a:pt x="0" y="396428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60200" y="1626244"/>
            <a:ext cx="0" cy="396875"/>
          </a:xfrm>
          <a:custGeom>
            <a:avLst/>
            <a:gdLst/>
            <a:ahLst/>
            <a:cxnLst/>
            <a:rect l="l" t="t" r="r" b="b"/>
            <a:pathLst>
              <a:path h="396875">
                <a:moveTo>
                  <a:pt x="0" y="0"/>
                </a:moveTo>
                <a:lnTo>
                  <a:pt x="0" y="396428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04678" y="1626244"/>
            <a:ext cx="0" cy="396875"/>
          </a:xfrm>
          <a:custGeom>
            <a:avLst/>
            <a:gdLst/>
            <a:ahLst/>
            <a:cxnLst/>
            <a:rect l="l" t="t" r="r" b="b"/>
            <a:pathLst>
              <a:path h="396875">
                <a:moveTo>
                  <a:pt x="0" y="0"/>
                </a:moveTo>
                <a:lnTo>
                  <a:pt x="0" y="396428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649156" y="1626244"/>
            <a:ext cx="0" cy="396875"/>
          </a:xfrm>
          <a:custGeom>
            <a:avLst/>
            <a:gdLst/>
            <a:ahLst/>
            <a:cxnLst/>
            <a:rect l="l" t="t" r="r" b="b"/>
            <a:pathLst>
              <a:path h="396875">
                <a:moveTo>
                  <a:pt x="0" y="0"/>
                </a:moveTo>
                <a:lnTo>
                  <a:pt x="0" y="396428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078708" y="3608806"/>
            <a:ext cx="0" cy="991869"/>
          </a:xfrm>
          <a:custGeom>
            <a:avLst/>
            <a:gdLst/>
            <a:ahLst/>
            <a:cxnLst/>
            <a:rect l="l" t="t" r="r" b="b"/>
            <a:pathLst>
              <a:path h="991870">
                <a:moveTo>
                  <a:pt x="0" y="0"/>
                </a:moveTo>
                <a:lnTo>
                  <a:pt x="0" y="991294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649156" y="3608806"/>
            <a:ext cx="0" cy="991869"/>
          </a:xfrm>
          <a:custGeom>
            <a:avLst/>
            <a:gdLst/>
            <a:ahLst/>
            <a:cxnLst/>
            <a:rect l="l" t="t" r="r" b="b"/>
            <a:pathLst>
              <a:path h="991870">
                <a:moveTo>
                  <a:pt x="0" y="0"/>
                </a:moveTo>
                <a:lnTo>
                  <a:pt x="0" y="991294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19454" y="3608806"/>
            <a:ext cx="0" cy="991869"/>
          </a:xfrm>
          <a:custGeom>
            <a:avLst/>
            <a:gdLst/>
            <a:ahLst/>
            <a:cxnLst/>
            <a:rect l="l" t="t" r="r" b="b"/>
            <a:pathLst>
              <a:path h="991870">
                <a:moveTo>
                  <a:pt x="0" y="0"/>
                </a:moveTo>
                <a:lnTo>
                  <a:pt x="0" y="991294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789751" y="3608806"/>
            <a:ext cx="0" cy="991869"/>
          </a:xfrm>
          <a:custGeom>
            <a:avLst/>
            <a:gdLst/>
            <a:ahLst/>
            <a:cxnLst/>
            <a:rect l="l" t="t" r="r" b="b"/>
            <a:pathLst>
              <a:path h="991870">
                <a:moveTo>
                  <a:pt x="0" y="0"/>
                </a:moveTo>
                <a:lnTo>
                  <a:pt x="0" y="991294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641555" y="3613701"/>
            <a:ext cx="3437254" cy="201295"/>
          </a:xfrm>
          <a:custGeom>
            <a:avLst/>
            <a:gdLst/>
            <a:ahLst/>
            <a:cxnLst/>
            <a:rect l="l" t="t" r="r" b="b"/>
            <a:pathLst>
              <a:path w="3437254" h="201295">
                <a:moveTo>
                  <a:pt x="0" y="0"/>
                </a:moveTo>
                <a:lnTo>
                  <a:pt x="0" y="200760"/>
                </a:lnTo>
                <a:lnTo>
                  <a:pt x="3437152" y="200760"/>
                </a:lnTo>
              </a:path>
            </a:pathLst>
          </a:custGeom>
          <a:ln w="436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071213" y="3608806"/>
            <a:ext cx="0" cy="208279"/>
          </a:xfrm>
          <a:custGeom>
            <a:avLst/>
            <a:gdLst/>
            <a:ahLst/>
            <a:cxnLst/>
            <a:rect l="l" t="t" r="r" b="b"/>
            <a:pathLst>
              <a:path h="208279">
                <a:moveTo>
                  <a:pt x="0" y="0"/>
                </a:moveTo>
                <a:lnTo>
                  <a:pt x="0" y="208173"/>
                </a:lnTo>
              </a:path>
            </a:pathLst>
          </a:custGeom>
          <a:ln w="47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500855" y="3608806"/>
            <a:ext cx="1289050" cy="389255"/>
          </a:xfrm>
          <a:custGeom>
            <a:avLst/>
            <a:gdLst/>
            <a:ahLst/>
            <a:cxnLst/>
            <a:rect l="l" t="t" r="r" b="b"/>
            <a:pathLst>
              <a:path w="1289050" h="389254">
                <a:moveTo>
                  <a:pt x="0" y="0"/>
                </a:moveTo>
                <a:lnTo>
                  <a:pt x="0" y="389126"/>
                </a:lnTo>
                <a:lnTo>
                  <a:pt x="1288896" y="389126"/>
                </a:lnTo>
              </a:path>
            </a:pathLst>
          </a:custGeom>
          <a:ln w="439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30497" y="3608806"/>
            <a:ext cx="1289050" cy="594995"/>
          </a:xfrm>
          <a:custGeom>
            <a:avLst/>
            <a:gdLst/>
            <a:ahLst/>
            <a:cxnLst/>
            <a:rect l="l" t="t" r="r" b="b"/>
            <a:pathLst>
              <a:path w="1289050" h="594995">
                <a:moveTo>
                  <a:pt x="0" y="0"/>
                </a:moveTo>
                <a:lnTo>
                  <a:pt x="0" y="594782"/>
                </a:lnTo>
                <a:lnTo>
                  <a:pt x="1288956" y="594782"/>
                </a:lnTo>
              </a:path>
            </a:pathLst>
          </a:custGeom>
          <a:ln w="442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360200" y="3608806"/>
            <a:ext cx="1289050" cy="793115"/>
          </a:xfrm>
          <a:custGeom>
            <a:avLst/>
            <a:gdLst/>
            <a:ahLst/>
            <a:cxnLst/>
            <a:rect l="l" t="t" r="r" b="b"/>
            <a:pathLst>
              <a:path w="1289050" h="793114">
                <a:moveTo>
                  <a:pt x="0" y="0"/>
                </a:moveTo>
                <a:lnTo>
                  <a:pt x="0" y="793038"/>
                </a:lnTo>
                <a:lnTo>
                  <a:pt x="1288956" y="793038"/>
                </a:lnTo>
              </a:path>
            </a:pathLst>
          </a:custGeom>
          <a:ln w="446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517116" y="2131641"/>
            <a:ext cx="3773804" cy="1210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7145" algn="ctr">
              <a:lnSpc>
                <a:spcPts val="2500"/>
              </a:lnSpc>
              <a:tabLst>
                <a:tab pos="643890" algn="l"/>
                <a:tab pos="1288415" algn="l"/>
                <a:tab pos="1932939" algn="l"/>
                <a:tab pos="2515235" algn="l"/>
              </a:tabLst>
            </a:pPr>
            <a:r>
              <a:rPr sz="2100" i="1" spc="20" dirty="0">
                <a:latin typeface="华文楷体"/>
                <a:cs typeface="华文楷体"/>
              </a:rPr>
              <a:t>S</a:t>
            </a:r>
            <a:r>
              <a:rPr sz="2100" i="1" spc="-165" dirty="0">
                <a:latin typeface="华文楷体"/>
                <a:cs typeface="华文楷体"/>
              </a:rPr>
              <a:t> </a:t>
            </a:r>
            <a:r>
              <a:rPr sz="1950" spc="89" baseline="-12820" dirty="0">
                <a:latin typeface="华文楷体"/>
                <a:cs typeface="华文楷体"/>
              </a:rPr>
              <a:t>0	</a:t>
            </a:r>
            <a:r>
              <a:rPr sz="2100" i="1" spc="20" dirty="0">
                <a:latin typeface="华文楷体"/>
                <a:cs typeface="华文楷体"/>
              </a:rPr>
              <a:t>S</a:t>
            </a:r>
            <a:r>
              <a:rPr sz="2100" i="1" spc="-165" dirty="0">
                <a:latin typeface="华文楷体"/>
                <a:cs typeface="华文楷体"/>
              </a:rPr>
              <a:t> </a:t>
            </a:r>
            <a:r>
              <a:rPr sz="1950" spc="89" baseline="-12820" dirty="0">
                <a:latin typeface="华文楷体"/>
                <a:cs typeface="华文楷体"/>
              </a:rPr>
              <a:t>1	</a:t>
            </a:r>
            <a:r>
              <a:rPr sz="2100" i="1" spc="20" dirty="0">
                <a:latin typeface="华文楷体"/>
                <a:cs typeface="华文楷体"/>
              </a:rPr>
              <a:t>S</a:t>
            </a:r>
            <a:r>
              <a:rPr sz="2100" i="1" spc="-165" dirty="0">
                <a:latin typeface="华文楷体"/>
                <a:cs typeface="华文楷体"/>
              </a:rPr>
              <a:t> </a:t>
            </a:r>
            <a:r>
              <a:rPr sz="1950" spc="89" baseline="-12820" dirty="0">
                <a:latin typeface="华文楷体"/>
                <a:cs typeface="华文楷体"/>
              </a:rPr>
              <a:t>2	</a:t>
            </a:r>
            <a:r>
              <a:rPr sz="2100" i="1" spc="20" dirty="0">
                <a:latin typeface="华文楷体"/>
                <a:cs typeface="华文楷体"/>
              </a:rPr>
              <a:t>S</a:t>
            </a:r>
            <a:r>
              <a:rPr sz="2100" i="1" spc="-165" dirty="0">
                <a:latin typeface="华文楷体"/>
                <a:cs typeface="华文楷体"/>
              </a:rPr>
              <a:t> </a:t>
            </a:r>
            <a:r>
              <a:rPr sz="1950" spc="89" baseline="-12820" dirty="0">
                <a:latin typeface="华文楷体"/>
                <a:cs typeface="华文楷体"/>
              </a:rPr>
              <a:t>3	</a:t>
            </a:r>
            <a:r>
              <a:rPr sz="1950" spc="140" dirty="0">
                <a:latin typeface="华文楷体"/>
                <a:cs typeface="华文楷体"/>
              </a:rPr>
              <a:t>CO</a:t>
            </a:r>
            <a:endParaRPr sz="1950">
              <a:latin typeface="华文楷体"/>
              <a:cs typeface="华文楷体"/>
            </a:endParaRPr>
          </a:p>
          <a:p>
            <a:pPr marR="88265" algn="ctr">
              <a:lnSpc>
                <a:spcPct val="100000"/>
              </a:lnSpc>
              <a:spcBef>
                <a:spcPts val="1045"/>
              </a:spcBef>
            </a:pPr>
            <a:r>
              <a:rPr sz="2200" spc="85" dirty="0">
                <a:solidFill>
                  <a:srgbClr val="FF0000"/>
                </a:solidFill>
                <a:latin typeface="华文楷体"/>
                <a:cs typeface="华文楷体"/>
              </a:rPr>
              <a:t>4</a:t>
            </a:r>
            <a:r>
              <a:rPr sz="2200" spc="185" dirty="0">
                <a:solidFill>
                  <a:srgbClr val="FF0000"/>
                </a:solidFill>
                <a:latin typeface="华文楷体"/>
                <a:cs typeface="华文楷体"/>
              </a:rPr>
              <a:t>位全加器</a:t>
            </a:r>
            <a:endParaRPr sz="220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  <a:spcBef>
                <a:spcPts val="825"/>
              </a:spcBef>
              <a:tabLst>
                <a:tab pos="403860" algn="l"/>
                <a:tab pos="866140" algn="l"/>
                <a:tab pos="1746885" algn="l"/>
                <a:tab pos="2576195" algn="l"/>
                <a:tab pos="3456940" algn="l"/>
              </a:tabLst>
            </a:pPr>
            <a:r>
              <a:rPr sz="2925" spc="142" baseline="5698" dirty="0">
                <a:latin typeface="华文楷体"/>
                <a:cs typeface="华文楷体"/>
              </a:rPr>
              <a:t>CI	</a:t>
            </a:r>
            <a:r>
              <a:rPr sz="3150" i="1" spc="37" baseline="7936" dirty="0">
                <a:latin typeface="华文楷体"/>
                <a:cs typeface="华文楷体"/>
              </a:rPr>
              <a:t>B</a:t>
            </a:r>
            <a:r>
              <a:rPr sz="3150" i="1" spc="-247" baseline="7936" dirty="0">
                <a:latin typeface="华文楷体"/>
                <a:cs typeface="华文楷体"/>
              </a:rPr>
              <a:t> </a:t>
            </a:r>
            <a:r>
              <a:rPr sz="1300" spc="60" dirty="0">
                <a:latin typeface="华文楷体"/>
                <a:cs typeface="华文楷体"/>
              </a:rPr>
              <a:t>0	</a:t>
            </a:r>
            <a:r>
              <a:rPr sz="3150" i="1" spc="37" baseline="7936" dirty="0">
                <a:latin typeface="华文楷体"/>
                <a:cs typeface="华文楷体"/>
              </a:rPr>
              <a:t>B </a:t>
            </a:r>
            <a:r>
              <a:rPr sz="1300" spc="60" dirty="0">
                <a:latin typeface="华文楷体"/>
                <a:cs typeface="华文楷体"/>
              </a:rPr>
              <a:t>1</a:t>
            </a:r>
            <a:r>
              <a:rPr sz="1300" spc="430" dirty="0">
                <a:latin typeface="华文楷体"/>
                <a:cs typeface="华文楷体"/>
              </a:rPr>
              <a:t> </a:t>
            </a:r>
            <a:r>
              <a:rPr sz="3150" i="1" spc="37" baseline="7936" dirty="0">
                <a:latin typeface="华文楷体"/>
                <a:cs typeface="华文楷体"/>
              </a:rPr>
              <a:t>B</a:t>
            </a:r>
            <a:r>
              <a:rPr sz="3150" i="1" spc="-247" baseline="7936" dirty="0">
                <a:latin typeface="华文楷体"/>
                <a:cs typeface="华文楷体"/>
              </a:rPr>
              <a:t> </a:t>
            </a:r>
            <a:r>
              <a:rPr sz="1950" spc="89" baseline="2136" dirty="0">
                <a:latin typeface="华文楷体"/>
                <a:cs typeface="华文楷体"/>
              </a:rPr>
              <a:t>2	</a:t>
            </a:r>
            <a:r>
              <a:rPr sz="3150" i="1" spc="37" baseline="7936" dirty="0">
                <a:latin typeface="华文楷体"/>
                <a:cs typeface="华文楷体"/>
              </a:rPr>
              <a:t>B </a:t>
            </a:r>
            <a:r>
              <a:rPr sz="1300" spc="60" dirty="0">
                <a:latin typeface="华文楷体"/>
                <a:cs typeface="华文楷体"/>
              </a:rPr>
              <a:t>3</a:t>
            </a:r>
            <a:r>
              <a:rPr sz="1300" spc="25" dirty="0">
                <a:latin typeface="华文楷体"/>
                <a:cs typeface="华文楷体"/>
              </a:rPr>
              <a:t> </a:t>
            </a:r>
            <a:r>
              <a:rPr sz="3150" i="1" spc="44" baseline="7936" dirty="0">
                <a:latin typeface="华文楷体"/>
                <a:cs typeface="华文楷体"/>
              </a:rPr>
              <a:t>A</a:t>
            </a:r>
            <a:r>
              <a:rPr sz="3150" i="1" spc="-240" baseline="7936" dirty="0">
                <a:latin typeface="华文楷体"/>
                <a:cs typeface="华文楷体"/>
              </a:rPr>
              <a:t> </a:t>
            </a:r>
            <a:r>
              <a:rPr sz="1300" spc="60" dirty="0">
                <a:latin typeface="华文楷体"/>
                <a:cs typeface="华文楷体"/>
              </a:rPr>
              <a:t>0	</a:t>
            </a:r>
            <a:r>
              <a:rPr sz="3150" i="1" spc="44" baseline="7936" dirty="0">
                <a:latin typeface="华文楷体"/>
                <a:cs typeface="华文楷体"/>
              </a:rPr>
              <a:t>A </a:t>
            </a:r>
            <a:r>
              <a:rPr sz="1300" spc="60" dirty="0">
                <a:latin typeface="华文楷体"/>
                <a:cs typeface="华文楷体"/>
              </a:rPr>
              <a:t>1</a:t>
            </a:r>
            <a:r>
              <a:rPr sz="1300" spc="295" dirty="0">
                <a:latin typeface="华文楷体"/>
                <a:cs typeface="华文楷体"/>
              </a:rPr>
              <a:t> </a:t>
            </a:r>
            <a:r>
              <a:rPr sz="3150" i="1" spc="44" baseline="7936" dirty="0">
                <a:latin typeface="华文楷体"/>
                <a:cs typeface="华文楷体"/>
              </a:rPr>
              <a:t>A</a:t>
            </a:r>
            <a:r>
              <a:rPr sz="3150" i="1" spc="-247" baseline="7936" dirty="0">
                <a:latin typeface="华文楷体"/>
                <a:cs typeface="华文楷体"/>
              </a:rPr>
              <a:t> </a:t>
            </a:r>
            <a:r>
              <a:rPr sz="1950" spc="89" baseline="2136" dirty="0">
                <a:latin typeface="华文楷体"/>
                <a:cs typeface="华文楷体"/>
              </a:rPr>
              <a:t>2	</a:t>
            </a:r>
            <a:r>
              <a:rPr sz="3150" i="1" spc="44" baseline="7936" dirty="0">
                <a:latin typeface="华文楷体"/>
                <a:cs typeface="华文楷体"/>
              </a:rPr>
              <a:t>A</a:t>
            </a:r>
            <a:r>
              <a:rPr sz="3150" i="1" spc="-390" baseline="7936" dirty="0">
                <a:latin typeface="华文楷体"/>
                <a:cs typeface="华文楷体"/>
              </a:rPr>
              <a:t> </a:t>
            </a:r>
            <a:r>
              <a:rPr sz="1300" spc="60" dirty="0">
                <a:latin typeface="华文楷体"/>
                <a:cs typeface="华文楷体"/>
              </a:rPr>
              <a:t>3</a:t>
            </a:r>
            <a:endParaRPr sz="1300">
              <a:latin typeface="华文楷体"/>
              <a:cs typeface="华文楷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311519" y="52781"/>
            <a:ext cx="61277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输入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299957" y="52781"/>
            <a:ext cx="61277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输出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10909" y="552618"/>
            <a:ext cx="22034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5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15734" y="552618"/>
            <a:ext cx="20383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05573" y="552618"/>
            <a:ext cx="22034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5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76743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4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973821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3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71027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2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968105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1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465309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0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044438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541643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038720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044438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541643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038720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044438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541643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038720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044438" y="23816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541643" y="23816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038720" y="23816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044438" y="2838601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541643" y="2838601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038720" y="2838601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044438" y="32963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541643" y="32963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038720" y="32963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044438" y="37535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541643" y="37535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038720" y="37535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044438" y="4210455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541643" y="4210455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038720" y="4210455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306565" y="52781"/>
            <a:ext cx="61277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输入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295131" y="52781"/>
            <a:ext cx="61277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输出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006338" y="552618"/>
            <a:ext cx="22034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5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510781" y="552618"/>
            <a:ext cx="20383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000620" y="552618"/>
            <a:ext cx="22034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5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471918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4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968995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3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466073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2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963279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1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460356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0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039611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536690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033894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530972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028178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525256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9022333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9519539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039611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536690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033894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039611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536690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033894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039611" y="23816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536690" y="23816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033894" y="23816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039611" y="28391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536690" y="28391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033894" y="28391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039611" y="32963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6536690" y="32963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033894" y="32963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039611" y="37535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536690" y="37535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033894" y="37535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6039611" y="4210455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6536690" y="4210455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033894" y="4210455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6311519" y="52781"/>
            <a:ext cx="61277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输入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8299957" y="52781"/>
            <a:ext cx="61277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输出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6010909" y="552618"/>
            <a:ext cx="22034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5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515734" y="552618"/>
            <a:ext cx="20383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7005573" y="552618"/>
            <a:ext cx="22034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5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476743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4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7973821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3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8471027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2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8968105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1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9465309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0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6044438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6541643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038720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7535926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33004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8530081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9027286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9524365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6044438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6541643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7038720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7535926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8033004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8530081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9027286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524365" y="14672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6044438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6541643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7038720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6044438" y="23816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6541643" y="23816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7038720" y="23816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6044438" y="2838601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6541643" y="2838601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7038720" y="2838601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6044438" y="32963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6541643" y="32963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7038720" y="32963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6044438" y="37535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6541643" y="37535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7038720" y="37535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6044438" y="4210455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6541643" y="4210455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7038720" y="4210455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6311519" y="52781"/>
            <a:ext cx="61277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输入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8299957" y="52781"/>
            <a:ext cx="612775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45"/>
              </a:lnSpc>
            </a:pPr>
            <a:r>
              <a:rPr sz="2400" b="1" spc="5" dirty="0">
                <a:solidFill>
                  <a:srgbClr val="FFFFFF"/>
                </a:solidFill>
                <a:latin typeface="华文楷体"/>
                <a:cs typeface="华文楷体"/>
              </a:rPr>
              <a:t>输出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6010909" y="552618"/>
            <a:ext cx="22034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5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6515734" y="552618"/>
            <a:ext cx="20383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7005573" y="552618"/>
            <a:ext cx="22034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5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7476743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4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7973821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3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8471027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2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8968105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1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9465309" y="579146"/>
            <a:ext cx="269240" cy="326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spc="5" dirty="0">
                <a:latin typeface="Times New Roman"/>
                <a:cs typeface="Times New Roman"/>
              </a:rPr>
              <a:t>D</a:t>
            </a:r>
            <a:r>
              <a:rPr sz="1950" b="1" spc="22" baseline="-21367" dirty="0">
                <a:latin typeface="Times New Roman"/>
                <a:cs typeface="Times New Roman"/>
              </a:rPr>
              <a:t>0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6044438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6541643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7038720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7535926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8033004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8530081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9027286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9524365" y="1009818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6044438" y="1466747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6541643" y="1466747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7038720" y="1466747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7535926" y="1466747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8033004" y="1466747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8530081" y="1466747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9027286" y="1466747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9524365" y="1466747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6044438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6541643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7038720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7535926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8033004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8530081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9027286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9524365" y="19244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6044438" y="23816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6541643" y="23816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7038720" y="2381672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6044438" y="2838601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6541643" y="2838601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7038720" y="2838601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6044438" y="32963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6541643" y="32963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7038720" y="32963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6044438" y="37535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6541643" y="37535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7038720" y="3753526"/>
            <a:ext cx="15240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6044438" y="4210455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6541643" y="4210455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7038720" y="4210455"/>
            <a:ext cx="153035" cy="338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dirty="0">
                <a:solidFill>
                  <a:srgbClr val="BE73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7" name="object 207"/>
          <p:cNvSpPr/>
          <p:nvPr/>
        </p:nvSpPr>
        <p:spPr>
          <a:xfrm>
            <a:off x="1211934" y="2022770"/>
            <a:ext cx="4298315" cy="1388110"/>
          </a:xfrm>
          <a:custGeom>
            <a:avLst/>
            <a:gdLst/>
            <a:ahLst/>
            <a:cxnLst/>
            <a:rect l="l" t="t" r="r" b="b"/>
            <a:pathLst>
              <a:path w="4298315" h="1388110">
                <a:moveTo>
                  <a:pt x="0" y="1387820"/>
                </a:moveTo>
                <a:lnTo>
                  <a:pt x="4297838" y="1387821"/>
                </a:lnTo>
                <a:lnTo>
                  <a:pt x="4297838" y="0"/>
                </a:lnTo>
                <a:lnTo>
                  <a:pt x="0" y="0"/>
                </a:lnTo>
                <a:lnTo>
                  <a:pt x="0" y="1387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211934" y="2022770"/>
            <a:ext cx="4298315" cy="1388110"/>
          </a:xfrm>
          <a:custGeom>
            <a:avLst/>
            <a:gdLst/>
            <a:ahLst/>
            <a:cxnLst/>
            <a:rect l="l" t="t" r="r" b="b"/>
            <a:pathLst>
              <a:path w="4298315" h="1388110">
                <a:moveTo>
                  <a:pt x="0" y="1387821"/>
                </a:moveTo>
                <a:lnTo>
                  <a:pt x="4297838" y="1387821"/>
                </a:lnTo>
                <a:lnTo>
                  <a:pt x="4297838" y="0"/>
                </a:lnTo>
                <a:lnTo>
                  <a:pt x="0" y="0"/>
                </a:lnTo>
                <a:lnTo>
                  <a:pt x="0" y="1387821"/>
                </a:lnTo>
                <a:close/>
              </a:path>
            </a:pathLst>
          </a:custGeom>
          <a:ln w="43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641718" y="3418005"/>
            <a:ext cx="0" cy="191135"/>
          </a:xfrm>
          <a:custGeom>
            <a:avLst/>
            <a:gdLst/>
            <a:ahLst/>
            <a:cxnLst/>
            <a:rect l="l" t="t" r="r" b="b"/>
            <a:pathLst>
              <a:path h="191135">
                <a:moveTo>
                  <a:pt x="0" y="0"/>
                </a:moveTo>
                <a:lnTo>
                  <a:pt x="0" y="190800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2501301" y="3418005"/>
            <a:ext cx="0" cy="191135"/>
          </a:xfrm>
          <a:custGeom>
            <a:avLst/>
            <a:gdLst/>
            <a:ahLst/>
            <a:cxnLst/>
            <a:rect l="l" t="t" r="r" b="b"/>
            <a:pathLst>
              <a:path h="191135">
                <a:moveTo>
                  <a:pt x="0" y="0"/>
                </a:moveTo>
                <a:lnTo>
                  <a:pt x="0" y="190800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2071517" y="3428077"/>
            <a:ext cx="0" cy="180975"/>
          </a:xfrm>
          <a:custGeom>
            <a:avLst/>
            <a:gdLst/>
            <a:ahLst/>
            <a:cxnLst/>
            <a:rect l="l" t="t" r="r" b="b"/>
            <a:pathLst>
              <a:path h="180975">
                <a:moveTo>
                  <a:pt x="0" y="0"/>
                </a:moveTo>
                <a:lnTo>
                  <a:pt x="0" y="180728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2931085" y="3410591"/>
            <a:ext cx="0" cy="198755"/>
          </a:xfrm>
          <a:custGeom>
            <a:avLst/>
            <a:gdLst/>
            <a:ahLst/>
            <a:cxnLst/>
            <a:rect l="l" t="t" r="r" b="b"/>
            <a:pathLst>
              <a:path h="198754">
                <a:moveTo>
                  <a:pt x="0" y="0"/>
                </a:moveTo>
                <a:lnTo>
                  <a:pt x="0" y="198214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3790622" y="3410591"/>
            <a:ext cx="0" cy="198755"/>
          </a:xfrm>
          <a:custGeom>
            <a:avLst/>
            <a:gdLst/>
            <a:ahLst/>
            <a:cxnLst/>
            <a:rect l="l" t="t" r="r" b="b"/>
            <a:pathLst>
              <a:path h="198754">
                <a:moveTo>
                  <a:pt x="0" y="0"/>
                </a:moveTo>
                <a:lnTo>
                  <a:pt x="0" y="198214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3360930" y="3420663"/>
            <a:ext cx="0" cy="188595"/>
          </a:xfrm>
          <a:custGeom>
            <a:avLst/>
            <a:gdLst/>
            <a:ahLst/>
            <a:cxnLst/>
            <a:rect l="l" t="t" r="r" b="b"/>
            <a:pathLst>
              <a:path h="188595">
                <a:moveTo>
                  <a:pt x="0" y="0"/>
                </a:moveTo>
                <a:lnTo>
                  <a:pt x="0" y="188142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4220467" y="3410591"/>
            <a:ext cx="0" cy="198755"/>
          </a:xfrm>
          <a:custGeom>
            <a:avLst/>
            <a:gdLst/>
            <a:ahLst/>
            <a:cxnLst/>
            <a:rect l="l" t="t" r="r" b="b"/>
            <a:pathLst>
              <a:path h="198754">
                <a:moveTo>
                  <a:pt x="0" y="0"/>
                </a:moveTo>
                <a:lnTo>
                  <a:pt x="0" y="198214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5080004" y="3410591"/>
            <a:ext cx="0" cy="198755"/>
          </a:xfrm>
          <a:custGeom>
            <a:avLst/>
            <a:gdLst/>
            <a:ahLst/>
            <a:cxnLst/>
            <a:rect l="l" t="t" r="r" b="b"/>
            <a:pathLst>
              <a:path h="198754">
                <a:moveTo>
                  <a:pt x="0" y="0"/>
                </a:moveTo>
                <a:lnTo>
                  <a:pt x="0" y="198214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4650311" y="3420663"/>
            <a:ext cx="0" cy="188595"/>
          </a:xfrm>
          <a:custGeom>
            <a:avLst/>
            <a:gdLst/>
            <a:ahLst/>
            <a:cxnLst/>
            <a:rect l="l" t="t" r="r" b="b"/>
            <a:pathLst>
              <a:path h="188595">
                <a:moveTo>
                  <a:pt x="0" y="0"/>
                </a:moveTo>
                <a:lnTo>
                  <a:pt x="0" y="188142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2071517" y="1626244"/>
            <a:ext cx="0" cy="396875"/>
          </a:xfrm>
          <a:custGeom>
            <a:avLst/>
            <a:gdLst/>
            <a:ahLst/>
            <a:cxnLst/>
            <a:rect l="l" t="t" r="r" b="b"/>
            <a:pathLst>
              <a:path h="396875">
                <a:moveTo>
                  <a:pt x="0" y="0"/>
                </a:moveTo>
                <a:lnTo>
                  <a:pt x="0" y="396428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2716239" y="1626244"/>
            <a:ext cx="0" cy="396875"/>
          </a:xfrm>
          <a:custGeom>
            <a:avLst/>
            <a:gdLst/>
            <a:ahLst/>
            <a:cxnLst/>
            <a:rect l="l" t="t" r="r" b="b"/>
            <a:pathLst>
              <a:path h="396875">
                <a:moveTo>
                  <a:pt x="0" y="0"/>
                </a:moveTo>
                <a:lnTo>
                  <a:pt x="0" y="396428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3360930" y="1626244"/>
            <a:ext cx="0" cy="396875"/>
          </a:xfrm>
          <a:custGeom>
            <a:avLst/>
            <a:gdLst/>
            <a:ahLst/>
            <a:cxnLst/>
            <a:rect l="l" t="t" r="r" b="b"/>
            <a:pathLst>
              <a:path h="396875">
                <a:moveTo>
                  <a:pt x="0" y="0"/>
                </a:moveTo>
                <a:lnTo>
                  <a:pt x="0" y="396428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4005621" y="1626244"/>
            <a:ext cx="0" cy="396875"/>
          </a:xfrm>
          <a:custGeom>
            <a:avLst/>
            <a:gdLst/>
            <a:ahLst/>
            <a:cxnLst/>
            <a:rect l="l" t="t" r="r" b="b"/>
            <a:pathLst>
              <a:path h="396875">
                <a:moveTo>
                  <a:pt x="0" y="0"/>
                </a:moveTo>
                <a:lnTo>
                  <a:pt x="0" y="396428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4650311" y="1626244"/>
            <a:ext cx="0" cy="396875"/>
          </a:xfrm>
          <a:custGeom>
            <a:avLst/>
            <a:gdLst/>
            <a:ahLst/>
            <a:cxnLst/>
            <a:rect l="l" t="t" r="r" b="b"/>
            <a:pathLst>
              <a:path h="396875">
                <a:moveTo>
                  <a:pt x="0" y="0"/>
                </a:moveTo>
                <a:lnTo>
                  <a:pt x="0" y="396428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5080004" y="3437729"/>
            <a:ext cx="0" cy="1162685"/>
          </a:xfrm>
          <a:custGeom>
            <a:avLst/>
            <a:gdLst/>
            <a:ahLst/>
            <a:cxnLst/>
            <a:rect l="l" t="t" r="r" b="b"/>
            <a:pathLst>
              <a:path h="1162685">
                <a:moveTo>
                  <a:pt x="0" y="0"/>
                </a:moveTo>
                <a:lnTo>
                  <a:pt x="0" y="1162371"/>
                </a:lnTo>
              </a:path>
            </a:pathLst>
          </a:custGeom>
          <a:ln w="4730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4650311" y="3431014"/>
            <a:ext cx="0" cy="1169670"/>
          </a:xfrm>
          <a:custGeom>
            <a:avLst/>
            <a:gdLst/>
            <a:ahLst/>
            <a:cxnLst/>
            <a:rect l="l" t="t" r="r" b="b"/>
            <a:pathLst>
              <a:path h="1169670">
                <a:moveTo>
                  <a:pt x="0" y="0"/>
                </a:moveTo>
                <a:lnTo>
                  <a:pt x="0" y="1169085"/>
                </a:lnTo>
              </a:path>
            </a:pathLst>
          </a:custGeom>
          <a:ln w="4730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4220467" y="3417865"/>
            <a:ext cx="0" cy="1182370"/>
          </a:xfrm>
          <a:custGeom>
            <a:avLst/>
            <a:gdLst/>
            <a:ahLst/>
            <a:cxnLst/>
            <a:rect l="l" t="t" r="r" b="b"/>
            <a:pathLst>
              <a:path h="1182370">
                <a:moveTo>
                  <a:pt x="0" y="0"/>
                </a:moveTo>
                <a:lnTo>
                  <a:pt x="0" y="1182234"/>
                </a:lnTo>
              </a:path>
            </a:pathLst>
          </a:custGeom>
          <a:ln w="47305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3790622" y="3411291"/>
            <a:ext cx="0" cy="1189355"/>
          </a:xfrm>
          <a:custGeom>
            <a:avLst/>
            <a:gdLst/>
            <a:ahLst/>
            <a:cxnLst/>
            <a:rect l="l" t="t" r="r" b="b"/>
            <a:pathLst>
              <a:path h="1189354">
                <a:moveTo>
                  <a:pt x="0" y="0"/>
                </a:moveTo>
                <a:lnTo>
                  <a:pt x="0" y="1188809"/>
                </a:lnTo>
              </a:path>
            </a:pathLst>
          </a:custGeom>
          <a:ln w="47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641718" y="3404577"/>
            <a:ext cx="3438525" cy="410209"/>
          </a:xfrm>
          <a:custGeom>
            <a:avLst/>
            <a:gdLst/>
            <a:ahLst/>
            <a:cxnLst/>
            <a:rect l="l" t="t" r="r" b="b"/>
            <a:pathLst>
              <a:path w="3438525" h="410210">
                <a:moveTo>
                  <a:pt x="0" y="0"/>
                </a:moveTo>
                <a:lnTo>
                  <a:pt x="0" y="409885"/>
                </a:lnTo>
                <a:lnTo>
                  <a:pt x="3438286" y="409885"/>
                </a:lnTo>
              </a:path>
            </a:pathLst>
          </a:custGeom>
          <a:ln w="436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2071517" y="3424440"/>
            <a:ext cx="0" cy="393065"/>
          </a:xfrm>
          <a:custGeom>
            <a:avLst/>
            <a:gdLst/>
            <a:ahLst/>
            <a:cxnLst/>
            <a:rect l="l" t="t" r="r" b="b"/>
            <a:pathLst>
              <a:path h="393064">
                <a:moveTo>
                  <a:pt x="0" y="0"/>
                </a:moveTo>
                <a:lnTo>
                  <a:pt x="0" y="392539"/>
                </a:lnTo>
              </a:path>
            </a:pathLst>
          </a:custGeom>
          <a:ln w="4730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2501301" y="3417865"/>
            <a:ext cx="1289685" cy="580390"/>
          </a:xfrm>
          <a:custGeom>
            <a:avLst/>
            <a:gdLst/>
            <a:ahLst/>
            <a:cxnLst/>
            <a:rect l="l" t="t" r="r" b="b"/>
            <a:pathLst>
              <a:path w="1289685" h="580389">
                <a:moveTo>
                  <a:pt x="0" y="0"/>
                </a:moveTo>
                <a:lnTo>
                  <a:pt x="0" y="580066"/>
                </a:lnTo>
                <a:lnTo>
                  <a:pt x="1289321" y="580066"/>
                </a:lnTo>
              </a:path>
            </a:pathLst>
          </a:custGeom>
          <a:ln w="442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2931085" y="3437729"/>
            <a:ext cx="1289685" cy="766445"/>
          </a:xfrm>
          <a:custGeom>
            <a:avLst/>
            <a:gdLst/>
            <a:ahLst/>
            <a:cxnLst/>
            <a:rect l="l" t="t" r="r" b="b"/>
            <a:pathLst>
              <a:path w="1289685" h="766445">
                <a:moveTo>
                  <a:pt x="0" y="0"/>
                </a:moveTo>
                <a:lnTo>
                  <a:pt x="0" y="765859"/>
                </a:lnTo>
                <a:lnTo>
                  <a:pt x="1289381" y="765859"/>
                </a:lnTo>
              </a:path>
            </a:pathLst>
          </a:custGeom>
          <a:ln w="44598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3360930" y="3424440"/>
            <a:ext cx="1289685" cy="977900"/>
          </a:xfrm>
          <a:custGeom>
            <a:avLst/>
            <a:gdLst/>
            <a:ahLst/>
            <a:cxnLst/>
            <a:rect l="l" t="t" r="r" b="b"/>
            <a:pathLst>
              <a:path w="1289685" h="977900">
                <a:moveTo>
                  <a:pt x="0" y="0"/>
                </a:moveTo>
                <a:lnTo>
                  <a:pt x="0" y="977404"/>
                </a:lnTo>
                <a:lnTo>
                  <a:pt x="1289381" y="977404"/>
                </a:lnTo>
              </a:path>
            </a:pathLst>
          </a:custGeom>
          <a:ln w="44979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2" name="object 232"/>
          <p:cNvGraphicFramePr>
            <a:graphicFrameLocks noGrp="1"/>
          </p:cNvGraphicFramePr>
          <p:nvPr/>
        </p:nvGraphicFramePr>
        <p:xfrm>
          <a:off x="489966" y="-1143"/>
          <a:ext cx="9356085" cy="45719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79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97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72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72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40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120"/>
                        </a:spcBef>
                      </a:pPr>
                      <a:r>
                        <a:rPr sz="3200" spc="-5" dirty="0">
                          <a:solidFill>
                            <a:srgbClr val="7E4D00"/>
                          </a:solidFill>
                          <a:latin typeface="华文楷体"/>
                          <a:cs typeface="华文楷体"/>
                        </a:rPr>
                        <a:t>4</a:t>
                      </a:r>
                      <a:r>
                        <a:rPr sz="3200" dirty="0">
                          <a:solidFill>
                            <a:srgbClr val="7E4D00"/>
                          </a:solidFill>
                          <a:latin typeface="华文楷体"/>
                          <a:cs typeface="华文楷体"/>
                        </a:rPr>
                        <a:t>位全加器应用电路</a:t>
                      </a:r>
                      <a:endParaRPr sz="3200">
                        <a:latin typeface="华文楷体"/>
                        <a:cs typeface="华文楷体"/>
                      </a:endParaRPr>
                    </a:p>
                  </a:txBody>
                  <a:tcPr marL="0" marR="0" marT="396240" marB="0">
                    <a:lnR w="53975">
                      <a:solidFill>
                        <a:srgbClr val="4D4D73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4425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输入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16510" marB="0">
                    <a:lnL w="53975">
                      <a:solidFill>
                        <a:srgbClr val="4D4D73"/>
                      </a:solidFill>
                      <a:prstDash val="solid"/>
                    </a:lnL>
                    <a:lnR w="28575">
                      <a:solidFill>
                        <a:srgbClr val="4D4D73"/>
                      </a:solidFill>
                      <a:prstDash val="solid"/>
                    </a:lnR>
                    <a:lnT w="53975">
                      <a:solidFill>
                        <a:srgbClr val="4D4D73"/>
                      </a:solidFill>
                      <a:prstDash val="solid"/>
                    </a:lnT>
                    <a:lnB w="28575">
                      <a:solidFill>
                        <a:srgbClr val="4D4D73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输出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16510" marB="0">
                    <a:lnL w="28575">
                      <a:solidFill>
                        <a:srgbClr val="4D4D73"/>
                      </a:solidFill>
                      <a:prstDash val="solid"/>
                    </a:lnL>
                    <a:lnR w="53975">
                      <a:solidFill>
                        <a:srgbClr val="4D4D73"/>
                      </a:solidFill>
                      <a:prstDash val="solid"/>
                    </a:lnR>
                    <a:lnT w="53975">
                      <a:solidFill>
                        <a:srgbClr val="4D4D73"/>
                      </a:solidFill>
                      <a:prstDash val="solid"/>
                    </a:lnT>
                    <a:lnB w="28575">
                      <a:solidFill>
                        <a:srgbClr val="4D4D73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6240" marB="0">
                    <a:lnR w="53975">
                      <a:solidFill>
                        <a:srgbClr val="4D4D73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53975">
                      <a:solidFill>
                        <a:srgbClr val="4D4D73"/>
                      </a:solidFill>
                      <a:prstDash val="solid"/>
                    </a:lnL>
                    <a:lnT w="28575">
                      <a:solidFill>
                        <a:srgbClr val="4D4D73"/>
                      </a:solidFill>
                      <a:prstDash val="solid"/>
                    </a:lnT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T w="28575">
                      <a:solidFill>
                        <a:srgbClr val="4D4D73"/>
                      </a:solidFill>
                      <a:prstDash val="solid"/>
                    </a:lnT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R w="28575">
                      <a:solidFill>
                        <a:srgbClr val="4D4D73"/>
                      </a:solidFill>
                      <a:prstDash val="solid"/>
                    </a:lnR>
                    <a:lnT w="28575">
                      <a:solidFill>
                        <a:srgbClr val="4D4D73"/>
                      </a:solidFill>
                      <a:prstDash val="solid"/>
                    </a:lnT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2000" b="1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b="1" spc="15" baseline="-21367" dirty="0">
                          <a:latin typeface="Times New Roman"/>
                          <a:cs typeface="Times New Roman"/>
                        </a:rPr>
                        <a:t>4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62865" marB="0">
                    <a:lnL w="28575">
                      <a:solidFill>
                        <a:srgbClr val="4D4D73"/>
                      </a:solidFill>
                      <a:prstDash val="solid"/>
                    </a:lnL>
                    <a:lnT w="28575">
                      <a:solidFill>
                        <a:srgbClr val="4D4D73"/>
                      </a:solidFill>
                      <a:prstDash val="solid"/>
                    </a:lnT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2000" b="1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b="1" spc="15" baseline="-21367" dirty="0">
                          <a:latin typeface="Times New Roman"/>
                          <a:cs typeface="Times New Roman"/>
                        </a:rPr>
                        <a:t>3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62865" marB="0">
                    <a:lnT w="28575">
                      <a:solidFill>
                        <a:srgbClr val="4D4D73"/>
                      </a:solidFill>
                      <a:prstDash val="solid"/>
                    </a:lnT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2000" b="1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b="1" spc="15" baseline="-21367" dirty="0">
                          <a:latin typeface="Times New Roman"/>
                          <a:cs typeface="Times New Roman"/>
                        </a:rPr>
                        <a:t>2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62865" marB="0">
                    <a:lnT w="28575">
                      <a:solidFill>
                        <a:srgbClr val="4D4D73"/>
                      </a:solidFill>
                      <a:prstDash val="solid"/>
                    </a:lnT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2000" b="1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b="1" spc="15" baseline="-21367" dirty="0">
                          <a:latin typeface="Times New Roman"/>
                          <a:cs typeface="Times New Roman"/>
                        </a:rPr>
                        <a:t>1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62865" marB="0">
                    <a:lnT w="28575">
                      <a:solidFill>
                        <a:srgbClr val="4D4D73"/>
                      </a:solidFill>
                      <a:prstDash val="solid"/>
                    </a:lnT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2000" b="1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b="1" spc="15" baseline="-21367" dirty="0">
                          <a:latin typeface="Times New Roman"/>
                          <a:cs typeface="Times New Roman"/>
                        </a:rPr>
                        <a:t>0</a:t>
                      </a:r>
                      <a:endParaRPr sz="195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62865" marB="0">
                    <a:lnR w="53975">
                      <a:solidFill>
                        <a:srgbClr val="4D4D73"/>
                      </a:solidFill>
                      <a:prstDash val="solid"/>
                    </a:lnR>
                    <a:lnT w="28575">
                      <a:solidFill>
                        <a:srgbClr val="4D4D73"/>
                      </a:solidFill>
                      <a:prstDash val="solid"/>
                    </a:lnT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16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362585" algn="ctr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012825" algn="l"/>
                          <a:tab pos="1657350" algn="l"/>
                          <a:tab pos="2296795" algn="l"/>
                          <a:tab pos="2941320" algn="l"/>
                        </a:tabLst>
                      </a:pPr>
                      <a:r>
                        <a:rPr sz="2100" i="1" spc="35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D</a:t>
                      </a:r>
                      <a:r>
                        <a:rPr sz="2100" i="1" spc="-165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950" spc="89" baseline="-12820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0	</a:t>
                      </a:r>
                      <a:r>
                        <a:rPr sz="3150" i="1" spc="52" baseline="2645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D</a:t>
                      </a:r>
                      <a:r>
                        <a:rPr sz="3150" i="1" spc="-247" baseline="2645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950" spc="89" baseline="-8547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1	</a:t>
                      </a:r>
                      <a:r>
                        <a:rPr sz="3150" i="1" spc="52" baseline="2645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D</a:t>
                      </a:r>
                      <a:r>
                        <a:rPr sz="3150" i="1" spc="-247" baseline="2645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950" spc="89" baseline="-8547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2	</a:t>
                      </a:r>
                      <a:r>
                        <a:rPr sz="2100" i="1" spc="35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D</a:t>
                      </a:r>
                      <a:r>
                        <a:rPr sz="2100" i="1" spc="-165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950" spc="89" baseline="-12820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3	</a:t>
                      </a:r>
                      <a:r>
                        <a:rPr sz="2100" i="1" spc="35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D</a:t>
                      </a:r>
                      <a:r>
                        <a:rPr sz="2100" i="1" spc="-260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950" spc="89" baseline="-12820" dirty="0">
                          <a:solidFill>
                            <a:srgbClr val="17365F"/>
                          </a:solidFill>
                          <a:latin typeface="华文楷体"/>
                          <a:cs typeface="华文楷体"/>
                        </a:rPr>
                        <a:t>4</a:t>
                      </a:r>
                      <a:endParaRPr sz="1950" baseline="-12820">
                        <a:latin typeface="华文楷体"/>
                        <a:cs typeface="华文楷体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424815" algn="ctr">
                        <a:lnSpc>
                          <a:spcPct val="100000"/>
                        </a:lnSpc>
                        <a:tabLst>
                          <a:tab pos="1069340" algn="l"/>
                          <a:tab pos="1713864" algn="l"/>
                          <a:tab pos="2359025" algn="l"/>
                          <a:tab pos="2940685" algn="l"/>
                        </a:tabLst>
                      </a:pPr>
                      <a:r>
                        <a:rPr sz="2100" i="1" spc="20" dirty="0">
                          <a:latin typeface="华文楷体"/>
                          <a:cs typeface="华文楷体"/>
                        </a:rPr>
                        <a:t>S</a:t>
                      </a:r>
                      <a:r>
                        <a:rPr sz="2100" i="1" spc="-165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950" spc="89" baseline="-12820" dirty="0">
                          <a:latin typeface="华文楷体"/>
                          <a:cs typeface="华文楷体"/>
                        </a:rPr>
                        <a:t>0	</a:t>
                      </a:r>
                      <a:r>
                        <a:rPr sz="2100" i="1" spc="20" dirty="0">
                          <a:latin typeface="华文楷体"/>
                          <a:cs typeface="华文楷体"/>
                        </a:rPr>
                        <a:t>S</a:t>
                      </a:r>
                      <a:r>
                        <a:rPr sz="2100" i="1" spc="-165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950" spc="89" baseline="-12820" dirty="0">
                          <a:latin typeface="华文楷体"/>
                          <a:cs typeface="华文楷体"/>
                        </a:rPr>
                        <a:t>1	</a:t>
                      </a:r>
                      <a:r>
                        <a:rPr sz="2100" i="1" spc="20" dirty="0">
                          <a:latin typeface="华文楷体"/>
                          <a:cs typeface="华文楷体"/>
                        </a:rPr>
                        <a:t>S</a:t>
                      </a:r>
                      <a:r>
                        <a:rPr sz="2100" i="1" spc="-165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950" spc="89" baseline="-12820" dirty="0">
                          <a:latin typeface="华文楷体"/>
                          <a:cs typeface="华文楷体"/>
                        </a:rPr>
                        <a:t>2	</a:t>
                      </a:r>
                      <a:r>
                        <a:rPr sz="2100" i="1" spc="20" dirty="0">
                          <a:latin typeface="华文楷体"/>
                          <a:cs typeface="华文楷体"/>
                        </a:rPr>
                        <a:t>S</a:t>
                      </a:r>
                      <a:r>
                        <a:rPr sz="2100" i="1" spc="-165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950" spc="89" baseline="-12820" dirty="0">
                          <a:latin typeface="华文楷体"/>
                          <a:cs typeface="华文楷体"/>
                        </a:rPr>
                        <a:t>3	</a:t>
                      </a:r>
                      <a:r>
                        <a:rPr sz="1950" spc="140" dirty="0">
                          <a:latin typeface="华文楷体"/>
                          <a:cs typeface="华文楷体"/>
                        </a:rPr>
                        <a:t>CO</a:t>
                      </a:r>
                      <a:endParaRPr sz="1950">
                        <a:latin typeface="华文楷体"/>
                        <a:cs typeface="华文楷体"/>
                      </a:endParaRPr>
                    </a:p>
                    <a:p>
                      <a:pPr marL="353695"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2200" spc="85" dirty="0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4</a:t>
                      </a:r>
                      <a:r>
                        <a:rPr sz="2200" spc="185" dirty="0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位全加器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  <a:p>
                      <a:pPr marL="449580" algn="ctr">
                        <a:lnSpc>
                          <a:spcPct val="100000"/>
                        </a:lnSpc>
                        <a:spcBef>
                          <a:spcPts val="825"/>
                        </a:spcBef>
                        <a:tabLst>
                          <a:tab pos="854075" algn="l"/>
                          <a:tab pos="1316355" algn="l"/>
                          <a:tab pos="2197735" algn="l"/>
                          <a:tab pos="3027045" algn="l"/>
                          <a:tab pos="3908425" algn="l"/>
                        </a:tabLst>
                      </a:pPr>
                      <a:r>
                        <a:rPr sz="2925" spc="142" baseline="5698" dirty="0">
                          <a:latin typeface="华文楷体"/>
                          <a:cs typeface="华文楷体"/>
                        </a:rPr>
                        <a:t>CI	</a:t>
                      </a:r>
                      <a:r>
                        <a:rPr sz="3150" i="1" spc="44" baseline="7936" dirty="0">
                          <a:latin typeface="华文楷体"/>
                          <a:cs typeface="华文楷体"/>
                        </a:rPr>
                        <a:t>B</a:t>
                      </a:r>
                      <a:r>
                        <a:rPr sz="3150" i="1" spc="-247" baseline="7936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300" spc="60" dirty="0">
                          <a:latin typeface="华文楷体"/>
                          <a:cs typeface="华文楷体"/>
                        </a:rPr>
                        <a:t>0	</a:t>
                      </a:r>
                      <a:r>
                        <a:rPr sz="3150" i="1" spc="44" baseline="7936" dirty="0">
                          <a:latin typeface="华文楷体"/>
                          <a:cs typeface="华文楷体"/>
                        </a:rPr>
                        <a:t>B </a:t>
                      </a:r>
                      <a:r>
                        <a:rPr sz="1300" spc="60" dirty="0">
                          <a:latin typeface="华文楷体"/>
                          <a:cs typeface="华文楷体"/>
                        </a:rPr>
                        <a:t>1</a:t>
                      </a:r>
                      <a:r>
                        <a:rPr sz="1300" spc="420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3150" i="1" spc="44" baseline="7936" dirty="0">
                          <a:latin typeface="华文楷体"/>
                          <a:cs typeface="华文楷体"/>
                        </a:rPr>
                        <a:t>B</a:t>
                      </a:r>
                      <a:r>
                        <a:rPr sz="3150" i="1" spc="-247" baseline="7936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950" spc="89" baseline="2136" dirty="0">
                          <a:latin typeface="华文楷体"/>
                          <a:cs typeface="华文楷体"/>
                        </a:rPr>
                        <a:t>2	</a:t>
                      </a:r>
                      <a:r>
                        <a:rPr sz="3150" i="1" spc="44" baseline="7936" dirty="0">
                          <a:latin typeface="华文楷体"/>
                          <a:cs typeface="华文楷体"/>
                        </a:rPr>
                        <a:t>B </a:t>
                      </a:r>
                      <a:r>
                        <a:rPr sz="1300" spc="60" dirty="0">
                          <a:latin typeface="华文楷体"/>
                          <a:cs typeface="华文楷体"/>
                        </a:rPr>
                        <a:t>3</a:t>
                      </a:r>
                      <a:r>
                        <a:rPr sz="1300" spc="20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3150" i="1" spc="44" baseline="7936" dirty="0">
                          <a:latin typeface="华文楷体"/>
                          <a:cs typeface="华文楷体"/>
                        </a:rPr>
                        <a:t>A</a:t>
                      </a:r>
                      <a:r>
                        <a:rPr sz="3150" i="1" spc="-247" baseline="7936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300" spc="60" dirty="0">
                          <a:latin typeface="华文楷体"/>
                          <a:cs typeface="华文楷体"/>
                        </a:rPr>
                        <a:t>0	</a:t>
                      </a:r>
                      <a:r>
                        <a:rPr sz="3150" i="1" spc="44" baseline="7936" dirty="0">
                          <a:latin typeface="华文楷体"/>
                          <a:cs typeface="华文楷体"/>
                        </a:rPr>
                        <a:t>A </a:t>
                      </a:r>
                      <a:r>
                        <a:rPr sz="1300" spc="60" dirty="0">
                          <a:latin typeface="华文楷体"/>
                          <a:cs typeface="华文楷体"/>
                        </a:rPr>
                        <a:t>1</a:t>
                      </a:r>
                      <a:r>
                        <a:rPr sz="1300" spc="295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3150" i="1" spc="44" baseline="7936" dirty="0">
                          <a:latin typeface="华文楷体"/>
                          <a:cs typeface="华文楷体"/>
                        </a:rPr>
                        <a:t>A</a:t>
                      </a:r>
                      <a:r>
                        <a:rPr sz="3150" i="1" spc="-247" baseline="7936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950" spc="89" baseline="2136" dirty="0">
                          <a:latin typeface="华文楷体"/>
                          <a:cs typeface="华文楷体"/>
                        </a:rPr>
                        <a:t>2	</a:t>
                      </a:r>
                      <a:r>
                        <a:rPr sz="3150" i="1" spc="44" baseline="7936" dirty="0">
                          <a:latin typeface="华文楷体"/>
                          <a:cs typeface="华文楷体"/>
                        </a:rPr>
                        <a:t>A</a:t>
                      </a:r>
                      <a:r>
                        <a:rPr sz="3150" i="1" spc="-254" baseline="7936" dirty="0"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1300" spc="60" dirty="0">
                          <a:latin typeface="华文楷体"/>
                          <a:cs typeface="华文楷体"/>
                        </a:rPr>
                        <a:t>3</a:t>
                      </a:r>
                      <a:endParaRPr sz="1300">
                        <a:latin typeface="华文楷体"/>
                        <a:cs typeface="华文楷体"/>
                      </a:endParaRPr>
                    </a:p>
                  </a:txBody>
                  <a:tcPr marL="0" marR="0" marT="1905" marB="0">
                    <a:lnR w="53975">
                      <a:solidFill>
                        <a:srgbClr val="4D4D73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53975">
                      <a:solidFill>
                        <a:srgbClr val="4D4D73"/>
                      </a:solidFill>
                      <a:prstDash val="solid"/>
                    </a:lnL>
                    <a:lnT w="53975">
                      <a:solidFill>
                        <a:srgbClr val="4D4D73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T w="53975">
                      <a:solidFill>
                        <a:srgbClr val="4D4D73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28575">
                      <a:solidFill>
                        <a:srgbClr val="4D4D73"/>
                      </a:solidFill>
                      <a:prstDash val="solid"/>
                    </a:lnR>
                    <a:lnT w="53975">
                      <a:solidFill>
                        <a:srgbClr val="4D4D73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4D4D73"/>
                      </a:solidFill>
                      <a:prstDash val="solid"/>
                    </a:lnL>
                    <a:lnT w="53975">
                      <a:solidFill>
                        <a:srgbClr val="4D4D73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T w="53975">
                      <a:solidFill>
                        <a:srgbClr val="4D4D73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T w="53975">
                      <a:solidFill>
                        <a:srgbClr val="4D4D73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T w="53975">
                      <a:solidFill>
                        <a:srgbClr val="4D4D73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R w="53975">
                      <a:solidFill>
                        <a:srgbClr val="4D4D73"/>
                      </a:solidFill>
                      <a:prstDash val="solid"/>
                    </a:lnR>
                    <a:lnT w="53975">
                      <a:solidFill>
                        <a:srgbClr val="4D4D73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R w="53975">
                      <a:solidFill>
                        <a:srgbClr val="4D4D73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53975">
                      <a:solidFill>
                        <a:srgbClr val="4D4D73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28575">
                      <a:solidFill>
                        <a:srgbClr val="4D4D73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4D4D73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53975">
                      <a:solidFill>
                        <a:srgbClr val="4D4D73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R w="53975">
                      <a:solidFill>
                        <a:srgbClr val="4D4D73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53975">
                      <a:solidFill>
                        <a:srgbClr val="4D4D73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28575">
                      <a:solidFill>
                        <a:srgbClr val="4D4D73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4D4D73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53975">
                      <a:solidFill>
                        <a:srgbClr val="4D4D73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R w="53975">
                      <a:solidFill>
                        <a:srgbClr val="4D4D73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53975">
                      <a:solidFill>
                        <a:srgbClr val="4D4D73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28575">
                      <a:solidFill>
                        <a:srgbClr val="4D4D73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4D4D73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53975">
                      <a:solidFill>
                        <a:srgbClr val="4D4D73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R w="53975">
                      <a:solidFill>
                        <a:srgbClr val="4D4D73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53975">
                      <a:solidFill>
                        <a:srgbClr val="4D4D73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28575">
                      <a:solidFill>
                        <a:srgbClr val="4D4D73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4D4D73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53975">
                      <a:solidFill>
                        <a:srgbClr val="4D4D73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R w="53975">
                      <a:solidFill>
                        <a:srgbClr val="4D4D73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53975">
                      <a:solidFill>
                        <a:srgbClr val="4D4D73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28575">
                      <a:solidFill>
                        <a:srgbClr val="4D4D73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4D4D73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53975">
                      <a:solidFill>
                        <a:srgbClr val="4D4D73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1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R w="53975">
                      <a:solidFill>
                        <a:srgbClr val="4D4D73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53975">
                      <a:solidFill>
                        <a:srgbClr val="4D4D73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28575">
                      <a:solidFill>
                        <a:srgbClr val="4D4D73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28575">
                      <a:solidFill>
                        <a:srgbClr val="4D4D73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53975">
                      <a:solidFill>
                        <a:srgbClr val="4D4D73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7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R w="53975">
                      <a:solidFill>
                        <a:srgbClr val="4D4D73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53975">
                      <a:solidFill>
                        <a:srgbClr val="4D4D73"/>
                      </a:solidFill>
                      <a:prstDash val="solid"/>
                    </a:lnL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28575">
                      <a:solidFill>
                        <a:srgbClr val="4D4D73"/>
                      </a:solidFill>
                      <a:prstDash val="solid"/>
                    </a:lnR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28575">
                      <a:solidFill>
                        <a:srgbClr val="4D4D73"/>
                      </a:solidFill>
                      <a:prstDash val="solid"/>
                    </a:lnL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53975">
                      <a:solidFill>
                        <a:srgbClr val="4D4D73"/>
                      </a:solidFill>
                      <a:prstDash val="solid"/>
                    </a:lnR>
                    <a:lnB w="53975">
                      <a:solidFill>
                        <a:srgbClr val="4D4D73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5" name="object 2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16</a:t>
            </a:r>
          </a:p>
        </p:txBody>
      </p:sp>
      <p:sp>
        <p:nvSpPr>
          <p:cNvPr id="233" name="object 233"/>
          <p:cNvSpPr txBox="1"/>
          <p:nvPr/>
        </p:nvSpPr>
        <p:spPr>
          <a:xfrm>
            <a:off x="1953244" y="4502702"/>
            <a:ext cx="3228975" cy="16230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750060">
              <a:lnSpc>
                <a:spcPct val="100000"/>
              </a:lnSpc>
              <a:spcBef>
                <a:spcPts val="819"/>
              </a:spcBef>
              <a:tabLst>
                <a:tab pos="2183130" algn="l"/>
                <a:tab pos="2604135" algn="l"/>
                <a:tab pos="3061970" algn="l"/>
              </a:tabLst>
            </a:pPr>
            <a:r>
              <a:rPr sz="2100" i="1" spc="30" dirty="0">
                <a:solidFill>
                  <a:srgbClr val="17365F"/>
                </a:solidFill>
                <a:latin typeface="华文楷体"/>
                <a:cs typeface="华文楷体"/>
              </a:rPr>
              <a:t>C	B	A	</a:t>
            </a:r>
            <a:r>
              <a:rPr sz="1950" spc="90" dirty="0">
                <a:solidFill>
                  <a:srgbClr val="17365F"/>
                </a:solidFill>
                <a:latin typeface="华文楷体"/>
                <a:cs typeface="华文楷体"/>
              </a:rPr>
              <a:t>0</a:t>
            </a:r>
            <a:endParaRPr sz="1950">
              <a:latin typeface="华文楷体"/>
              <a:cs typeface="华文楷体"/>
            </a:endParaRPr>
          </a:p>
          <a:p>
            <a:pPr marR="1236980" algn="r">
              <a:lnSpc>
                <a:spcPts val="2910"/>
              </a:lnSpc>
              <a:spcBef>
                <a:spcPts val="900"/>
              </a:spcBef>
              <a:tabLst>
                <a:tab pos="354330" algn="l"/>
                <a:tab pos="753110" algn="l"/>
                <a:tab pos="1137920" algn="l"/>
              </a:tabLst>
            </a:pPr>
            <a:r>
              <a:rPr sz="2350" spc="110" dirty="0">
                <a:solidFill>
                  <a:srgbClr val="17365F"/>
                </a:solidFill>
                <a:latin typeface="华文楷体"/>
                <a:cs typeface="华文楷体"/>
              </a:rPr>
              <a:t>0	</a:t>
            </a:r>
            <a:r>
              <a:rPr sz="2500" i="1" spc="60" dirty="0">
                <a:solidFill>
                  <a:srgbClr val="17365F"/>
                </a:solidFill>
                <a:latin typeface="华文楷体"/>
                <a:cs typeface="华文楷体"/>
              </a:rPr>
              <a:t>A	</a:t>
            </a:r>
            <a:r>
              <a:rPr sz="2500" i="1" spc="55" dirty="0">
                <a:solidFill>
                  <a:srgbClr val="17365F"/>
                </a:solidFill>
                <a:latin typeface="华文楷体"/>
                <a:cs typeface="华文楷体"/>
              </a:rPr>
              <a:t>B	C</a:t>
            </a:r>
            <a:endParaRPr sz="2500">
              <a:latin typeface="华文楷体"/>
              <a:cs typeface="华文楷体"/>
            </a:endParaRPr>
          </a:p>
          <a:p>
            <a:pPr marR="1146810" algn="r">
              <a:lnSpc>
                <a:spcPts val="2910"/>
              </a:lnSpc>
              <a:tabLst>
                <a:tab pos="551180" algn="l"/>
                <a:tab pos="949960" algn="l"/>
                <a:tab pos="1335405" algn="l"/>
                <a:tab pos="1751330" algn="l"/>
              </a:tabLst>
            </a:pPr>
            <a:r>
              <a:rPr sz="2350" u="heavy" spc="-555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r>
              <a:rPr sz="2350" u="heavy" spc="160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+</a:t>
            </a:r>
            <a:r>
              <a:rPr sz="2350" u="heavy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	</a:t>
            </a:r>
            <a:r>
              <a:rPr sz="2500" i="1" u="heavy" spc="60" dirty="0">
                <a:solidFill>
                  <a:srgbClr val="17365F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A</a:t>
            </a:r>
            <a:r>
              <a:rPr sz="2500" i="1" u="heavy" dirty="0">
                <a:solidFill>
                  <a:srgbClr val="17365F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	</a:t>
            </a:r>
            <a:r>
              <a:rPr sz="2500" i="1" u="heavy" spc="55" dirty="0">
                <a:solidFill>
                  <a:srgbClr val="17365F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B</a:t>
            </a:r>
            <a:r>
              <a:rPr sz="2500" i="1" u="heavy" dirty="0">
                <a:solidFill>
                  <a:srgbClr val="17365F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	</a:t>
            </a:r>
            <a:r>
              <a:rPr sz="2500" i="1" u="heavy" spc="55" dirty="0">
                <a:solidFill>
                  <a:srgbClr val="17365F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C</a:t>
            </a:r>
            <a:r>
              <a:rPr sz="2500" i="1" u="heavy" dirty="0">
                <a:solidFill>
                  <a:srgbClr val="17365F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	</a:t>
            </a:r>
            <a:r>
              <a:rPr sz="2350" u="heavy" spc="110" dirty="0">
                <a:solidFill>
                  <a:srgbClr val="17365F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0</a:t>
            </a:r>
            <a:r>
              <a:rPr sz="2350" u="heavy" spc="-254" dirty="0">
                <a:solidFill>
                  <a:srgbClr val="17365F"/>
                </a:solidFill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</a:t>
            </a:r>
            <a:endParaRPr sz="2350">
              <a:latin typeface="华文楷体"/>
              <a:cs typeface="华文楷体"/>
            </a:endParaRPr>
          </a:p>
          <a:p>
            <a:pPr marR="1192530" algn="r">
              <a:lnSpc>
                <a:spcPct val="100000"/>
              </a:lnSpc>
              <a:spcBef>
                <a:spcPts val="100"/>
              </a:spcBef>
            </a:pPr>
            <a:r>
              <a:rPr sz="2100" i="1" spc="55" dirty="0">
                <a:solidFill>
                  <a:srgbClr val="FF0000"/>
                </a:solidFill>
                <a:latin typeface="华文楷体"/>
                <a:cs typeface="华文楷体"/>
              </a:rPr>
              <a:t>D</a:t>
            </a:r>
            <a:r>
              <a:rPr sz="1950" spc="82" baseline="-12820" dirty="0">
                <a:solidFill>
                  <a:srgbClr val="FF0000"/>
                </a:solidFill>
                <a:latin typeface="华文楷体"/>
                <a:cs typeface="华文楷体"/>
              </a:rPr>
              <a:t>4 </a:t>
            </a:r>
            <a:r>
              <a:rPr sz="2100" i="1" spc="55" dirty="0">
                <a:solidFill>
                  <a:srgbClr val="FF0000"/>
                </a:solidFill>
                <a:latin typeface="华文楷体"/>
                <a:cs typeface="华文楷体"/>
              </a:rPr>
              <a:t>D</a:t>
            </a:r>
            <a:r>
              <a:rPr sz="1950" spc="82" baseline="-12820" dirty="0">
                <a:solidFill>
                  <a:srgbClr val="FF0000"/>
                </a:solidFill>
                <a:latin typeface="华文楷体"/>
                <a:cs typeface="华文楷体"/>
              </a:rPr>
              <a:t>3 </a:t>
            </a:r>
            <a:r>
              <a:rPr sz="2100" i="1" spc="55" dirty="0">
                <a:solidFill>
                  <a:srgbClr val="FF0000"/>
                </a:solidFill>
                <a:latin typeface="华文楷体"/>
                <a:cs typeface="华文楷体"/>
              </a:rPr>
              <a:t>D</a:t>
            </a:r>
            <a:r>
              <a:rPr sz="1950" spc="82" baseline="-12820" dirty="0">
                <a:solidFill>
                  <a:srgbClr val="FF0000"/>
                </a:solidFill>
                <a:latin typeface="华文楷体"/>
                <a:cs typeface="华文楷体"/>
              </a:rPr>
              <a:t>2 </a:t>
            </a:r>
            <a:r>
              <a:rPr sz="2100" i="1" spc="55" dirty="0">
                <a:solidFill>
                  <a:srgbClr val="FF0000"/>
                </a:solidFill>
                <a:latin typeface="华文楷体"/>
                <a:cs typeface="华文楷体"/>
              </a:rPr>
              <a:t>D</a:t>
            </a:r>
            <a:r>
              <a:rPr sz="1950" spc="82" baseline="-12820" dirty="0">
                <a:solidFill>
                  <a:srgbClr val="FF0000"/>
                </a:solidFill>
                <a:latin typeface="华文楷体"/>
                <a:cs typeface="华文楷体"/>
              </a:rPr>
              <a:t>1</a:t>
            </a:r>
            <a:r>
              <a:rPr sz="1950" spc="240" baseline="-12820" dirty="0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sz="2100" i="1" spc="55" dirty="0">
                <a:solidFill>
                  <a:srgbClr val="FF0000"/>
                </a:solidFill>
                <a:latin typeface="华文楷体"/>
                <a:cs typeface="华文楷体"/>
              </a:rPr>
              <a:t>D</a:t>
            </a:r>
            <a:r>
              <a:rPr sz="1950" spc="82" baseline="-12820" dirty="0">
                <a:solidFill>
                  <a:srgbClr val="FF0000"/>
                </a:solidFill>
                <a:latin typeface="华文楷体"/>
                <a:cs typeface="华文楷体"/>
              </a:rPr>
              <a:t>0</a:t>
            </a:r>
            <a:endParaRPr sz="1950" baseline="-12820">
              <a:latin typeface="华文楷体"/>
              <a:cs typeface="华文楷体"/>
            </a:endParaRPr>
          </a:p>
        </p:txBody>
      </p:sp>
      <p:sp>
        <p:nvSpPr>
          <p:cNvPr id="234" name="object 234"/>
          <p:cNvSpPr txBox="1"/>
          <p:nvPr/>
        </p:nvSpPr>
        <p:spPr>
          <a:xfrm>
            <a:off x="5571490" y="4959222"/>
            <a:ext cx="4247515" cy="131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E7300"/>
                </a:solidFill>
                <a:latin typeface="华文楷体"/>
                <a:cs typeface="华文楷体"/>
              </a:rPr>
              <a:t>当输入为0</a:t>
            </a:r>
            <a:r>
              <a:rPr sz="1800" spc="-10" dirty="0">
                <a:solidFill>
                  <a:srgbClr val="BE7300"/>
                </a:solidFill>
                <a:latin typeface="华文楷体"/>
                <a:cs typeface="华文楷体"/>
              </a:rPr>
              <a:t>0</a:t>
            </a:r>
            <a:r>
              <a:rPr sz="1800" dirty="0">
                <a:solidFill>
                  <a:srgbClr val="BE7300"/>
                </a:solidFill>
                <a:latin typeface="华文楷体"/>
                <a:cs typeface="华文楷体"/>
              </a:rPr>
              <a:t>0~</a:t>
            </a:r>
            <a:r>
              <a:rPr sz="1800" spc="-10" dirty="0">
                <a:solidFill>
                  <a:srgbClr val="BE7300"/>
                </a:solidFill>
                <a:latin typeface="华文楷体"/>
                <a:cs typeface="华文楷体"/>
              </a:rPr>
              <a:t>1</a:t>
            </a:r>
            <a:r>
              <a:rPr sz="1800" dirty="0">
                <a:solidFill>
                  <a:srgbClr val="BE7300"/>
                </a:solidFill>
                <a:latin typeface="华文楷体"/>
                <a:cs typeface="华文楷体"/>
              </a:rPr>
              <a:t>1</a:t>
            </a:r>
            <a:r>
              <a:rPr sz="1800" spc="-10" dirty="0">
                <a:solidFill>
                  <a:srgbClr val="BE7300"/>
                </a:solidFill>
                <a:latin typeface="华文楷体"/>
                <a:cs typeface="华文楷体"/>
              </a:rPr>
              <a:t>1</a:t>
            </a:r>
            <a:r>
              <a:rPr sz="1800" dirty="0">
                <a:solidFill>
                  <a:srgbClr val="BE7300"/>
                </a:solidFill>
                <a:latin typeface="华文楷体"/>
                <a:cs typeface="华文楷体"/>
              </a:rPr>
              <a:t>时，输出为相应输入</a:t>
            </a:r>
            <a:endParaRPr sz="1800" dirty="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sz="1800" dirty="0">
                <a:solidFill>
                  <a:srgbClr val="BE7300"/>
                </a:solidFill>
                <a:latin typeface="华文楷体"/>
                <a:cs typeface="华文楷体"/>
              </a:rPr>
              <a:t>值的</a:t>
            </a:r>
            <a:r>
              <a:rPr sz="1800" spc="-5" dirty="0">
                <a:solidFill>
                  <a:srgbClr val="BE7300"/>
                </a:solidFill>
                <a:latin typeface="华文楷体"/>
                <a:cs typeface="华文楷体"/>
              </a:rPr>
              <a:t>3</a:t>
            </a:r>
            <a:r>
              <a:rPr sz="1800" dirty="0">
                <a:solidFill>
                  <a:srgbClr val="BE7300"/>
                </a:solidFill>
                <a:latin typeface="华文楷体"/>
                <a:cs typeface="华文楷体"/>
              </a:rPr>
              <a:t>倍</a:t>
            </a:r>
            <a:endParaRPr sz="1800" dirty="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1850"/>
              </a:spcBef>
            </a:pPr>
            <a:r>
              <a:rPr sz="1800" spc="-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“</a:t>
            </a:r>
            <a:r>
              <a:rPr sz="1800" spc="-5" dirty="0">
                <a:solidFill>
                  <a:srgbClr val="FF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×3</a:t>
            </a:r>
            <a:r>
              <a:rPr sz="1800" spc="-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”</a:t>
            </a:r>
            <a:r>
              <a:rPr sz="1800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电路</a:t>
            </a:r>
            <a:endParaRPr sz="1800" dirty="0">
              <a:highlight>
                <a:srgbClr val="FFFF00"/>
              </a:highlight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1434" y="1965400"/>
            <a:ext cx="4298315" cy="1386840"/>
          </a:xfrm>
          <a:custGeom>
            <a:avLst/>
            <a:gdLst/>
            <a:ahLst/>
            <a:cxnLst/>
            <a:rect l="l" t="t" r="r" b="b"/>
            <a:pathLst>
              <a:path w="4298315" h="1386839">
                <a:moveTo>
                  <a:pt x="0" y="1386228"/>
                </a:moveTo>
                <a:lnTo>
                  <a:pt x="4297838" y="1386228"/>
                </a:lnTo>
                <a:lnTo>
                  <a:pt x="4297838" y="0"/>
                </a:lnTo>
                <a:lnTo>
                  <a:pt x="0" y="0"/>
                </a:lnTo>
                <a:lnTo>
                  <a:pt x="0" y="1386228"/>
                </a:lnTo>
                <a:close/>
              </a:path>
            </a:pathLst>
          </a:custGeom>
          <a:ln w="43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51218" y="3359020"/>
            <a:ext cx="0" cy="191135"/>
          </a:xfrm>
          <a:custGeom>
            <a:avLst/>
            <a:gdLst/>
            <a:ahLst/>
            <a:cxnLst/>
            <a:rect l="l" t="t" r="r" b="b"/>
            <a:pathLst>
              <a:path h="191135">
                <a:moveTo>
                  <a:pt x="0" y="0"/>
                </a:moveTo>
                <a:lnTo>
                  <a:pt x="0" y="190637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10801" y="3359020"/>
            <a:ext cx="0" cy="191135"/>
          </a:xfrm>
          <a:custGeom>
            <a:avLst/>
            <a:gdLst/>
            <a:ahLst/>
            <a:cxnLst/>
            <a:rect l="l" t="t" r="r" b="b"/>
            <a:pathLst>
              <a:path h="191135">
                <a:moveTo>
                  <a:pt x="0" y="0"/>
                </a:moveTo>
                <a:lnTo>
                  <a:pt x="0" y="190637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017" y="3369080"/>
            <a:ext cx="0" cy="180975"/>
          </a:xfrm>
          <a:custGeom>
            <a:avLst/>
            <a:gdLst/>
            <a:ahLst/>
            <a:cxnLst/>
            <a:rect l="l" t="t" r="r" b="b"/>
            <a:pathLst>
              <a:path h="180975">
                <a:moveTo>
                  <a:pt x="0" y="0"/>
                </a:moveTo>
                <a:lnTo>
                  <a:pt x="0" y="180577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40585" y="3351629"/>
            <a:ext cx="0" cy="198120"/>
          </a:xfrm>
          <a:custGeom>
            <a:avLst/>
            <a:gdLst/>
            <a:ahLst/>
            <a:cxnLst/>
            <a:rect l="l" t="t" r="r" b="b"/>
            <a:pathLst>
              <a:path h="198120">
                <a:moveTo>
                  <a:pt x="0" y="0"/>
                </a:moveTo>
                <a:lnTo>
                  <a:pt x="0" y="198028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00122" y="3351629"/>
            <a:ext cx="0" cy="198120"/>
          </a:xfrm>
          <a:custGeom>
            <a:avLst/>
            <a:gdLst/>
            <a:ahLst/>
            <a:cxnLst/>
            <a:rect l="l" t="t" r="r" b="b"/>
            <a:pathLst>
              <a:path h="198120">
                <a:moveTo>
                  <a:pt x="0" y="0"/>
                </a:moveTo>
                <a:lnTo>
                  <a:pt x="0" y="198028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70429" y="3361689"/>
            <a:ext cx="0" cy="188595"/>
          </a:xfrm>
          <a:custGeom>
            <a:avLst/>
            <a:gdLst/>
            <a:ahLst/>
            <a:cxnLst/>
            <a:rect l="l" t="t" r="r" b="b"/>
            <a:pathLst>
              <a:path h="188595">
                <a:moveTo>
                  <a:pt x="0" y="0"/>
                </a:moveTo>
                <a:lnTo>
                  <a:pt x="0" y="187968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9967" y="3351629"/>
            <a:ext cx="0" cy="198120"/>
          </a:xfrm>
          <a:custGeom>
            <a:avLst/>
            <a:gdLst/>
            <a:ahLst/>
            <a:cxnLst/>
            <a:rect l="l" t="t" r="r" b="b"/>
            <a:pathLst>
              <a:path h="198120">
                <a:moveTo>
                  <a:pt x="0" y="0"/>
                </a:moveTo>
                <a:lnTo>
                  <a:pt x="0" y="198028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89504" y="3351629"/>
            <a:ext cx="0" cy="198120"/>
          </a:xfrm>
          <a:custGeom>
            <a:avLst/>
            <a:gdLst/>
            <a:ahLst/>
            <a:cxnLst/>
            <a:rect l="l" t="t" r="r" b="b"/>
            <a:pathLst>
              <a:path h="198120">
                <a:moveTo>
                  <a:pt x="0" y="0"/>
                </a:moveTo>
                <a:lnTo>
                  <a:pt x="0" y="198028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59811" y="3361689"/>
            <a:ext cx="0" cy="188595"/>
          </a:xfrm>
          <a:custGeom>
            <a:avLst/>
            <a:gdLst/>
            <a:ahLst/>
            <a:cxnLst/>
            <a:rect l="l" t="t" r="r" b="b"/>
            <a:pathLst>
              <a:path h="188595">
                <a:moveTo>
                  <a:pt x="0" y="0"/>
                </a:moveTo>
                <a:lnTo>
                  <a:pt x="0" y="187968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81017" y="1569329"/>
            <a:ext cx="0" cy="396240"/>
          </a:xfrm>
          <a:custGeom>
            <a:avLst/>
            <a:gdLst/>
            <a:ahLst/>
            <a:cxnLst/>
            <a:rect l="l" t="t" r="r" b="b"/>
            <a:pathLst>
              <a:path h="396239">
                <a:moveTo>
                  <a:pt x="0" y="0"/>
                </a:moveTo>
                <a:lnTo>
                  <a:pt x="0" y="396113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25739" y="1569329"/>
            <a:ext cx="0" cy="396240"/>
          </a:xfrm>
          <a:custGeom>
            <a:avLst/>
            <a:gdLst/>
            <a:ahLst/>
            <a:cxnLst/>
            <a:rect l="l" t="t" r="r" b="b"/>
            <a:pathLst>
              <a:path h="396239">
                <a:moveTo>
                  <a:pt x="0" y="0"/>
                </a:moveTo>
                <a:lnTo>
                  <a:pt x="0" y="396113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70429" y="1569329"/>
            <a:ext cx="0" cy="396240"/>
          </a:xfrm>
          <a:custGeom>
            <a:avLst/>
            <a:gdLst/>
            <a:ahLst/>
            <a:cxnLst/>
            <a:rect l="l" t="t" r="r" b="b"/>
            <a:pathLst>
              <a:path h="396239">
                <a:moveTo>
                  <a:pt x="0" y="0"/>
                </a:moveTo>
                <a:lnTo>
                  <a:pt x="0" y="396113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15121" y="1569329"/>
            <a:ext cx="0" cy="396240"/>
          </a:xfrm>
          <a:custGeom>
            <a:avLst/>
            <a:gdLst/>
            <a:ahLst/>
            <a:cxnLst/>
            <a:rect l="l" t="t" r="r" b="b"/>
            <a:pathLst>
              <a:path h="396239">
                <a:moveTo>
                  <a:pt x="0" y="0"/>
                </a:moveTo>
                <a:lnTo>
                  <a:pt x="0" y="396113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59811" y="1569329"/>
            <a:ext cx="0" cy="396240"/>
          </a:xfrm>
          <a:custGeom>
            <a:avLst/>
            <a:gdLst/>
            <a:ahLst/>
            <a:cxnLst/>
            <a:rect l="l" t="t" r="r" b="b"/>
            <a:pathLst>
              <a:path h="396239">
                <a:moveTo>
                  <a:pt x="0" y="0"/>
                </a:moveTo>
                <a:lnTo>
                  <a:pt x="0" y="396113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89504" y="3549658"/>
            <a:ext cx="0" cy="786765"/>
          </a:xfrm>
          <a:custGeom>
            <a:avLst/>
            <a:gdLst/>
            <a:ahLst/>
            <a:cxnLst/>
            <a:rect l="l" t="t" r="r" b="b"/>
            <a:pathLst>
              <a:path h="786764">
                <a:moveTo>
                  <a:pt x="0" y="0"/>
                </a:moveTo>
                <a:lnTo>
                  <a:pt x="0" y="786218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59811" y="3549658"/>
            <a:ext cx="0" cy="786765"/>
          </a:xfrm>
          <a:custGeom>
            <a:avLst/>
            <a:gdLst/>
            <a:ahLst/>
            <a:cxnLst/>
            <a:rect l="l" t="t" r="r" b="b"/>
            <a:pathLst>
              <a:path h="786764">
                <a:moveTo>
                  <a:pt x="0" y="0"/>
                </a:moveTo>
                <a:lnTo>
                  <a:pt x="0" y="786218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29967" y="3549658"/>
            <a:ext cx="0" cy="786765"/>
          </a:xfrm>
          <a:custGeom>
            <a:avLst/>
            <a:gdLst/>
            <a:ahLst/>
            <a:cxnLst/>
            <a:rect l="l" t="t" r="r" b="b"/>
            <a:pathLst>
              <a:path h="786764">
                <a:moveTo>
                  <a:pt x="0" y="0"/>
                </a:moveTo>
                <a:lnTo>
                  <a:pt x="0" y="786218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00122" y="3549658"/>
            <a:ext cx="0" cy="786765"/>
          </a:xfrm>
          <a:custGeom>
            <a:avLst/>
            <a:gdLst/>
            <a:ahLst/>
            <a:cxnLst/>
            <a:rect l="l" t="t" r="r" b="b"/>
            <a:pathLst>
              <a:path h="786764">
                <a:moveTo>
                  <a:pt x="0" y="0"/>
                </a:moveTo>
                <a:lnTo>
                  <a:pt x="0" y="786218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51218" y="3554534"/>
            <a:ext cx="0" cy="187325"/>
          </a:xfrm>
          <a:custGeom>
            <a:avLst/>
            <a:gdLst/>
            <a:ahLst/>
            <a:cxnLst/>
            <a:rect l="l" t="t" r="r" b="b"/>
            <a:pathLst>
              <a:path h="187325">
                <a:moveTo>
                  <a:pt x="0" y="0"/>
                </a:moveTo>
                <a:lnTo>
                  <a:pt x="0" y="187242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81017" y="3549658"/>
            <a:ext cx="0" cy="182245"/>
          </a:xfrm>
          <a:custGeom>
            <a:avLst/>
            <a:gdLst/>
            <a:ahLst/>
            <a:cxnLst/>
            <a:rect l="l" t="t" r="r" b="b"/>
            <a:pathLst>
              <a:path h="182245">
                <a:moveTo>
                  <a:pt x="0" y="0"/>
                </a:moveTo>
                <a:lnTo>
                  <a:pt x="0" y="182226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10801" y="3549658"/>
            <a:ext cx="0" cy="192405"/>
          </a:xfrm>
          <a:custGeom>
            <a:avLst/>
            <a:gdLst/>
            <a:ahLst/>
            <a:cxnLst/>
            <a:rect l="l" t="t" r="r" b="b"/>
            <a:pathLst>
              <a:path h="192404">
                <a:moveTo>
                  <a:pt x="0" y="0"/>
                </a:moveTo>
                <a:lnTo>
                  <a:pt x="0" y="192118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40585" y="3549658"/>
            <a:ext cx="0" cy="192405"/>
          </a:xfrm>
          <a:custGeom>
            <a:avLst/>
            <a:gdLst/>
            <a:ahLst/>
            <a:cxnLst/>
            <a:rect l="l" t="t" r="r" b="b"/>
            <a:pathLst>
              <a:path h="192404">
                <a:moveTo>
                  <a:pt x="0" y="0"/>
                </a:moveTo>
                <a:lnTo>
                  <a:pt x="0" y="192118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170429" y="3549658"/>
            <a:ext cx="0" cy="182245"/>
          </a:xfrm>
          <a:custGeom>
            <a:avLst/>
            <a:gdLst/>
            <a:ahLst/>
            <a:cxnLst/>
            <a:rect l="l" t="t" r="r" b="b"/>
            <a:pathLst>
              <a:path h="182245">
                <a:moveTo>
                  <a:pt x="0" y="0"/>
                </a:moveTo>
                <a:lnTo>
                  <a:pt x="0" y="182226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451218" y="3741776"/>
            <a:ext cx="0" cy="594360"/>
          </a:xfrm>
          <a:custGeom>
            <a:avLst/>
            <a:gdLst/>
            <a:ahLst/>
            <a:cxnLst/>
            <a:rect l="l" t="t" r="r" b="b"/>
            <a:pathLst>
              <a:path h="594360">
                <a:moveTo>
                  <a:pt x="0" y="0"/>
                </a:moveTo>
                <a:lnTo>
                  <a:pt x="0" y="594099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81017" y="4008632"/>
            <a:ext cx="0" cy="327660"/>
          </a:xfrm>
          <a:custGeom>
            <a:avLst/>
            <a:gdLst/>
            <a:ahLst/>
            <a:cxnLst/>
            <a:rect l="l" t="t" r="r" b="b"/>
            <a:pathLst>
              <a:path h="327660">
                <a:moveTo>
                  <a:pt x="0" y="0"/>
                </a:moveTo>
                <a:lnTo>
                  <a:pt x="0" y="327243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10801" y="4018524"/>
            <a:ext cx="0" cy="317500"/>
          </a:xfrm>
          <a:custGeom>
            <a:avLst/>
            <a:gdLst/>
            <a:ahLst/>
            <a:cxnLst/>
            <a:rect l="l" t="t" r="r" b="b"/>
            <a:pathLst>
              <a:path h="317500">
                <a:moveTo>
                  <a:pt x="0" y="0"/>
                </a:moveTo>
                <a:lnTo>
                  <a:pt x="0" y="317351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740585" y="4018524"/>
            <a:ext cx="0" cy="317500"/>
          </a:xfrm>
          <a:custGeom>
            <a:avLst/>
            <a:gdLst/>
            <a:ahLst/>
            <a:cxnLst/>
            <a:rect l="l" t="t" r="r" b="b"/>
            <a:pathLst>
              <a:path h="317500">
                <a:moveTo>
                  <a:pt x="0" y="0"/>
                </a:moveTo>
                <a:lnTo>
                  <a:pt x="0" y="317351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70429" y="4008632"/>
            <a:ext cx="0" cy="327660"/>
          </a:xfrm>
          <a:custGeom>
            <a:avLst/>
            <a:gdLst/>
            <a:ahLst/>
            <a:cxnLst/>
            <a:rect l="l" t="t" r="r" b="b"/>
            <a:pathLst>
              <a:path h="327660">
                <a:moveTo>
                  <a:pt x="0" y="0"/>
                </a:moveTo>
                <a:lnTo>
                  <a:pt x="0" y="327243"/>
                </a:lnTo>
              </a:path>
            </a:pathLst>
          </a:custGeom>
          <a:ln w="32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660996" y="1188905"/>
            <a:ext cx="3042920" cy="12153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40"/>
              </a:spcBef>
              <a:tabLst>
                <a:tab pos="778510" algn="l"/>
                <a:tab pos="1423670" algn="l"/>
                <a:tab pos="2068195" algn="l"/>
              </a:tabLst>
            </a:pPr>
            <a:r>
              <a:rPr sz="2300" i="1" spc="40" dirty="0">
                <a:solidFill>
                  <a:srgbClr val="6600FF"/>
                </a:solidFill>
                <a:latin typeface="华文楷体"/>
                <a:cs typeface="华文楷体"/>
              </a:rPr>
              <a:t>S</a:t>
            </a:r>
            <a:r>
              <a:rPr sz="2300" i="1" spc="-175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175" spc="97" baseline="-11494" dirty="0">
                <a:solidFill>
                  <a:srgbClr val="6600FF"/>
                </a:solidFill>
                <a:latin typeface="华文楷体"/>
                <a:cs typeface="华文楷体"/>
              </a:rPr>
              <a:t>0	</a:t>
            </a:r>
            <a:r>
              <a:rPr sz="2300" i="1" spc="40" dirty="0">
                <a:solidFill>
                  <a:srgbClr val="6600FF"/>
                </a:solidFill>
                <a:latin typeface="华文楷体"/>
                <a:cs typeface="华文楷体"/>
              </a:rPr>
              <a:t>S</a:t>
            </a:r>
            <a:r>
              <a:rPr sz="2300" i="1" spc="-175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175" spc="97" baseline="-11494" dirty="0">
                <a:solidFill>
                  <a:srgbClr val="6600FF"/>
                </a:solidFill>
                <a:latin typeface="华文楷体"/>
                <a:cs typeface="华文楷体"/>
              </a:rPr>
              <a:t>1	</a:t>
            </a:r>
            <a:r>
              <a:rPr sz="2300" i="1" spc="40" dirty="0">
                <a:solidFill>
                  <a:srgbClr val="6600FF"/>
                </a:solidFill>
                <a:latin typeface="华文楷体"/>
                <a:cs typeface="华文楷体"/>
              </a:rPr>
              <a:t>S</a:t>
            </a:r>
            <a:r>
              <a:rPr sz="2300" i="1" spc="-175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175" spc="97" baseline="-11494" dirty="0">
                <a:solidFill>
                  <a:srgbClr val="6600FF"/>
                </a:solidFill>
                <a:latin typeface="华文楷体"/>
                <a:cs typeface="华文楷体"/>
              </a:rPr>
              <a:t>2	</a:t>
            </a:r>
            <a:r>
              <a:rPr sz="2300" i="1" spc="40" dirty="0">
                <a:solidFill>
                  <a:srgbClr val="6600FF"/>
                </a:solidFill>
                <a:latin typeface="华文楷体"/>
                <a:cs typeface="华文楷体"/>
              </a:rPr>
              <a:t>S</a:t>
            </a:r>
            <a:r>
              <a:rPr sz="2300" i="1" spc="-180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175" spc="97" baseline="-11494" dirty="0">
                <a:solidFill>
                  <a:srgbClr val="6600FF"/>
                </a:solidFill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50">
              <a:latin typeface="华文楷体"/>
              <a:cs typeface="华文楷体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  <a:tabLst>
                <a:tab pos="733425" algn="l"/>
                <a:tab pos="1377950" algn="l"/>
                <a:tab pos="2022475" algn="l"/>
                <a:tab pos="2604770" algn="l"/>
              </a:tabLst>
            </a:pPr>
            <a:r>
              <a:rPr sz="2100" i="1" spc="20" dirty="0">
                <a:latin typeface="华文楷体"/>
                <a:cs typeface="华文楷体"/>
              </a:rPr>
              <a:t>S</a:t>
            </a:r>
            <a:r>
              <a:rPr sz="2100" i="1" spc="-165" dirty="0">
                <a:latin typeface="华文楷体"/>
                <a:cs typeface="华文楷体"/>
              </a:rPr>
              <a:t> </a:t>
            </a:r>
            <a:r>
              <a:rPr sz="1950" spc="89" baseline="-12820" dirty="0">
                <a:latin typeface="华文楷体"/>
                <a:cs typeface="华文楷体"/>
              </a:rPr>
              <a:t>0	</a:t>
            </a:r>
            <a:r>
              <a:rPr sz="2100" i="1" spc="20" dirty="0">
                <a:latin typeface="华文楷体"/>
                <a:cs typeface="华文楷体"/>
              </a:rPr>
              <a:t>S</a:t>
            </a:r>
            <a:r>
              <a:rPr sz="2100" i="1" spc="-165" dirty="0">
                <a:latin typeface="华文楷体"/>
                <a:cs typeface="华文楷体"/>
              </a:rPr>
              <a:t> </a:t>
            </a:r>
            <a:r>
              <a:rPr sz="1950" spc="89" baseline="-12820" dirty="0">
                <a:latin typeface="华文楷体"/>
                <a:cs typeface="华文楷体"/>
              </a:rPr>
              <a:t>1	</a:t>
            </a:r>
            <a:r>
              <a:rPr sz="2100" i="1" spc="20" dirty="0">
                <a:latin typeface="华文楷体"/>
                <a:cs typeface="华文楷体"/>
              </a:rPr>
              <a:t>S</a:t>
            </a:r>
            <a:r>
              <a:rPr sz="2100" i="1" spc="-165" dirty="0">
                <a:latin typeface="华文楷体"/>
                <a:cs typeface="华文楷体"/>
              </a:rPr>
              <a:t> </a:t>
            </a:r>
            <a:r>
              <a:rPr sz="1950" spc="89" baseline="-12820" dirty="0">
                <a:latin typeface="华文楷体"/>
                <a:cs typeface="华文楷体"/>
              </a:rPr>
              <a:t>2	</a:t>
            </a:r>
            <a:r>
              <a:rPr sz="2100" i="1" spc="20" dirty="0">
                <a:latin typeface="华文楷体"/>
                <a:cs typeface="华文楷体"/>
              </a:rPr>
              <a:t>S</a:t>
            </a:r>
            <a:r>
              <a:rPr sz="2100" i="1" spc="-165" dirty="0">
                <a:latin typeface="华文楷体"/>
                <a:cs typeface="华文楷体"/>
              </a:rPr>
              <a:t> </a:t>
            </a:r>
            <a:r>
              <a:rPr sz="1950" spc="89" baseline="-12820" dirty="0">
                <a:latin typeface="华文楷体"/>
                <a:cs typeface="华文楷体"/>
              </a:rPr>
              <a:t>3	</a:t>
            </a:r>
            <a:r>
              <a:rPr sz="1950" spc="140" dirty="0">
                <a:latin typeface="华文楷体"/>
                <a:cs typeface="华文楷体"/>
              </a:rPr>
              <a:t>CO</a:t>
            </a:r>
            <a:endParaRPr sz="1950">
              <a:latin typeface="华文楷体"/>
              <a:cs typeface="华文楷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01338" y="2339632"/>
            <a:ext cx="3837940" cy="95631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164590">
              <a:lnSpc>
                <a:spcPct val="100000"/>
              </a:lnSpc>
              <a:spcBef>
                <a:spcPts val="1205"/>
              </a:spcBef>
            </a:pPr>
            <a:r>
              <a:rPr sz="2200" spc="85" dirty="0">
                <a:solidFill>
                  <a:srgbClr val="FF0000"/>
                </a:solidFill>
                <a:latin typeface="华文楷体"/>
                <a:cs typeface="华文楷体"/>
              </a:rPr>
              <a:t>4</a:t>
            </a:r>
            <a:r>
              <a:rPr sz="2200" spc="185" dirty="0">
                <a:solidFill>
                  <a:srgbClr val="FF0000"/>
                </a:solidFill>
                <a:latin typeface="华文楷体"/>
                <a:cs typeface="华文楷体"/>
              </a:rPr>
              <a:t>位全加器</a:t>
            </a:r>
            <a:endParaRPr sz="2200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1060"/>
              </a:spcBef>
              <a:tabLst>
                <a:tab pos="429895" algn="l"/>
                <a:tab pos="891540" algn="l"/>
                <a:tab pos="1772920" algn="l"/>
                <a:tab pos="2602230" algn="l"/>
                <a:tab pos="3483610" algn="l"/>
              </a:tabLst>
            </a:pPr>
            <a:r>
              <a:rPr sz="2925" spc="142" baseline="5698" dirty="0">
                <a:latin typeface="华文楷体"/>
                <a:cs typeface="华文楷体"/>
              </a:rPr>
              <a:t>CI	</a:t>
            </a:r>
            <a:r>
              <a:rPr sz="3150" i="1" spc="44" baseline="7936" dirty="0">
                <a:latin typeface="华文楷体"/>
                <a:cs typeface="华文楷体"/>
              </a:rPr>
              <a:t>B</a:t>
            </a:r>
            <a:r>
              <a:rPr sz="3150" i="1" spc="-247" baseline="7936" dirty="0">
                <a:latin typeface="华文楷体"/>
                <a:cs typeface="华文楷体"/>
              </a:rPr>
              <a:t> </a:t>
            </a:r>
            <a:r>
              <a:rPr sz="1300" spc="60" dirty="0">
                <a:latin typeface="华文楷体"/>
                <a:cs typeface="华文楷体"/>
              </a:rPr>
              <a:t>0	</a:t>
            </a:r>
            <a:r>
              <a:rPr sz="3150" i="1" spc="44" baseline="7936" dirty="0">
                <a:latin typeface="华文楷体"/>
                <a:cs typeface="华文楷体"/>
              </a:rPr>
              <a:t>B </a:t>
            </a:r>
            <a:r>
              <a:rPr sz="1300" spc="60" dirty="0">
                <a:latin typeface="华文楷体"/>
                <a:cs typeface="华文楷体"/>
              </a:rPr>
              <a:t>1</a:t>
            </a:r>
            <a:r>
              <a:rPr sz="1300" spc="420" dirty="0">
                <a:latin typeface="华文楷体"/>
                <a:cs typeface="华文楷体"/>
              </a:rPr>
              <a:t> </a:t>
            </a:r>
            <a:r>
              <a:rPr sz="3150" i="1" spc="44" baseline="7936" dirty="0">
                <a:latin typeface="华文楷体"/>
                <a:cs typeface="华文楷体"/>
              </a:rPr>
              <a:t>B</a:t>
            </a:r>
            <a:r>
              <a:rPr sz="3150" i="1" spc="-247" baseline="7936" dirty="0">
                <a:latin typeface="华文楷体"/>
                <a:cs typeface="华文楷体"/>
              </a:rPr>
              <a:t> </a:t>
            </a:r>
            <a:r>
              <a:rPr sz="1950" spc="89" baseline="2136" dirty="0">
                <a:latin typeface="华文楷体"/>
                <a:cs typeface="华文楷体"/>
              </a:rPr>
              <a:t>2	</a:t>
            </a:r>
            <a:r>
              <a:rPr sz="3150" i="1" spc="44" baseline="7936" dirty="0">
                <a:latin typeface="华文楷体"/>
                <a:cs typeface="华文楷体"/>
              </a:rPr>
              <a:t>B </a:t>
            </a:r>
            <a:r>
              <a:rPr sz="1300" spc="60" dirty="0">
                <a:latin typeface="华文楷体"/>
                <a:cs typeface="华文楷体"/>
              </a:rPr>
              <a:t>3</a:t>
            </a:r>
            <a:r>
              <a:rPr sz="1300" spc="20" dirty="0">
                <a:latin typeface="华文楷体"/>
                <a:cs typeface="华文楷体"/>
              </a:rPr>
              <a:t> </a:t>
            </a:r>
            <a:r>
              <a:rPr sz="3150" i="1" spc="44" baseline="7936" dirty="0">
                <a:latin typeface="华文楷体"/>
                <a:cs typeface="华文楷体"/>
              </a:rPr>
              <a:t>A</a:t>
            </a:r>
            <a:r>
              <a:rPr sz="3150" i="1" spc="-247" baseline="7936" dirty="0">
                <a:latin typeface="华文楷体"/>
                <a:cs typeface="华文楷体"/>
              </a:rPr>
              <a:t> </a:t>
            </a:r>
            <a:r>
              <a:rPr sz="1300" spc="60" dirty="0">
                <a:latin typeface="华文楷体"/>
                <a:cs typeface="华文楷体"/>
              </a:rPr>
              <a:t>0	</a:t>
            </a:r>
            <a:r>
              <a:rPr sz="3150" i="1" spc="44" baseline="7936" dirty="0">
                <a:latin typeface="华文楷体"/>
                <a:cs typeface="华文楷体"/>
              </a:rPr>
              <a:t>A </a:t>
            </a:r>
            <a:r>
              <a:rPr sz="1300" spc="60" dirty="0">
                <a:latin typeface="华文楷体"/>
                <a:cs typeface="华文楷体"/>
              </a:rPr>
              <a:t>1</a:t>
            </a:r>
            <a:r>
              <a:rPr sz="1300" spc="295" dirty="0">
                <a:latin typeface="华文楷体"/>
                <a:cs typeface="华文楷体"/>
              </a:rPr>
              <a:t> </a:t>
            </a:r>
            <a:r>
              <a:rPr sz="3150" i="1" spc="44" baseline="7936" dirty="0">
                <a:latin typeface="华文楷体"/>
                <a:cs typeface="华文楷体"/>
              </a:rPr>
              <a:t>A</a:t>
            </a:r>
            <a:r>
              <a:rPr sz="3150" i="1" spc="-247" baseline="7936" dirty="0">
                <a:latin typeface="华文楷体"/>
                <a:cs typeface="华文楷体"/>
              </a:rPr>
              <a:t> </a:t>
            </a:r>
            <a:r>
              <a:rPr sz="1950" spc="89" baseline="2136" dirty="0">
                <a:latin typeface="华文楷体"/>
                <a:cs typeface="华文楷体"/>
              </a:rPr>
              <a:t>2	</a:t>
            </a:r>
            <a:r>
              <a:rPr sz="3150" i="1" spc="44" baseline="7936" dirty="0">
                <a:latin typeface="华文楷体"/>
                <a:cs typeface="华文楷体"/>
              </a:rPr>
              <a:t>A</a:t>
            </a:r>
            <a:r>
              <a:rPr sz="3150" i="1" spc="-322" baseline="7936" dirty="0">
                <a:latin typeface="华文楷体"/>
                <a:cs typeface="华文楷体"/>
              </a:rPr>
              <a:t> </a:t>
            </a:r>
            <a:r>
              <a:rPr sz="1300" spc="60" dirty="0">
                <a:latin typeface="华文楷体"/>
                <a:cs typeface="华文楷体"/>
              </a:rPr>
              <a:t>3</a:t>
            </a:r>
            <a:endParaRPr sz="1300">
              <a:latin typeface="华文楷体"/>
              <a:cs typeface="华文楷体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741329" y="3712574"/>
            <a:ext cx="279400" cy="296545"/>
          </a:xfrm>
          <a:custGeom>
            <a:avLst/>
            <a:gdLst/>
            <a:ahLst/>
            <a:cxnLst/>
            <a:rect l="l" t="t" r="r" b="b"/>
            <a:pathLst>
              <a:path w="279400" h="296545">
                <a:moveTo>
                  <a:pt x="139688" y="38605"/>
                </a:moveTo>
                <a:lnTo>
                  <a:pt x="0" y="296057"/>
                </a:lnTo>
                <a:lnTo>
                  <a:pt x="279376" y="296057"/>
                </a:lnTo>
                <a:lnTo>
                  <a:pt x="139688" y="38605"/>
                </a:lnTo>
                <a:close/>
              </a:path>
              <a:path w="279400" h="296545">
                <a:moveTo>
                  <a:pt x="139688" y="0"/>
                </a:moveTo>
                <a:lnTo>
                  <a:pt x="131533" y="1515"/>
                </a:lnTo>
                <a:lnTo>
                  <a:pt x="124872" y="5651"/>
                </a:lnTo>
                <a:lnTo>
                  <a:pt x="120381" y="11789"/>
                </a:lnTo>
                <a:lnTo>
                  <a:pt x="118734" y="19309"/>
                </a:lnTo>
                <a:lnTo>
                  <a:pt x="120381" y="26822"/>
                </a:lnTo>
                <a:lnTo>
                  <a:pt x="124872" y="32955"/>
                </a:lnTo>
                <a:lnTo>
                  <a:pt x="131533" y="37089"/>
                </a:lnTo>
                <a:lnTo>
                  <a:pt x="139688" y="38605"/>
                </a:lnTo>
                <a:lnTo>
                  <a:pt x="147842" y="37089"/>
                </a:lnTo>
                <a:lnTo>
                  <a:pt x="154503" y="32955"/>
                </a:lnTo>
                <a:lnTo>
                  <a:pt x="158994" y="26822"/>
                </a:lnTo>
                <a:lnTo>
                  <a:pt x="160642" y="19309"/>
                </a:lnTo>
                <a:lnTo>
                  <a:pt x="158994" y="11789"/>
                </a:lnTo>
                <a:lnTo>
                  <a:pt x="154503" y="5651"/>
                </a:lnTo>
                <a:lnTo>
                  <a:pt x="147842" y="1515"/>
                </a:lnTo>
                <a:lnTo>
                  <a:pt x="1396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44331" y="3696842"/>
            <a:ext cx="73372" cy="700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41329" y="3751179"/>
            <a:ext cx="279400" cy="257810"/>
          </a:xfrm>
          <a:custGeom>
            <a:avLst/>
            <a:gdLst/>
            <a:ahLst/>
            <a:cxnLst/>
            <a:rect l="l" t="t" r="r" b="b"/>
            <a:pathLst>
              <a:path w="279400" h="257810">
                <a:moveTo>
                  <a:pt x="0" y="257452"/>
                </a:moveTo>
                <a:lnTo>
                  <a:pt x="139688" y="0"/>
                </a:lnTo>
                <a:lnTo>
                  <a:pt x="279376" y="257452"/>
                </a:lnTo>
                <a:lnTo>
                  <a:pt x="0" y="257452"/>
                </a:lnTo>
                <a:close/>
              </a:path>
            </a:pathLst>
          </a:custGeom>
          <a:ln w="3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171128" y="3722466"/>
            <a:ext cx="279400" cy="296545"/>
          </a:xfrm>
          <a:custGeom>
            <a:avLst/>
            <a:gdLst/>
            <a:ahLst/>
            <a:cxnLst/>
            <a:rect l="l" t="t" r="r" b="b"/>
            <a:pathLst>
              <a:path w="279400" h="296545">
                <a:moveTo>
                  <a:pt x="139672" y="38619"/>
                </a:moveTo>
                <a:lnTo>
                  <a:pt x="0" y="296057"/>
                </a:lnTo>
                <a:lnTo>
                  <a:pt x="279361" y="296057"/>
                </a:lnTo>
                <a:lnTo>
                  <a:pt x="139672" y="38619"/>
                </a:lnTo>
                <a:close/>
              </a:path>
              <a:path w="279400" h="296545">
                <a:moveTo>
                  <a:pt x="139672" y="0"/>
                </a:moveTo>
                <a:lnTo>
                  <a:pt x="131518" y="1517"/>
                </a:lnTo>
                <a:lnTo>
                  <a:pt x="124857" y="5657"/>
                </a:lnTo>
                <a:lnTo>
                  <a:pt x="120366" y="11794"/>
                </a:lnTo>
                <a:lnTo>
                  <a:pt x="118718" y="19309"/>
                </a:lnTo>
                <a:lnTo>
                  <a:pt x="120366" y="26824"/>
                </a:lnTo>
                <a:lnTo>
                  <a:pt x="124857" y="32962"/>
                </a:lnTo>
                <a:lnTo>
                  <a:pt x="131518" y="37101"/>
                </a:lnTo>
                <a:lnTo>
                  <a:pt x="139672" y="38619"/>
                </a:lnTo>
                <a:lnTo>
                  <a:pt x="147833" y="37101"/>
                </a:lnTo>
                <a:lnTo>
                  <a:pt x="154493" y="32962"/>
                </a:lnTo>
                <a:lnTo>
                  <a:pt x="158981" y="26824"/>
                </a:lnTo>
                <a:lnTo>
                  <a:pt x="160626" y="19309"/>
                </a:lnTo>
                <a:lnTo>
                  <a:pt x="158981" y="11794"/>
                </a:lnTo>
                <a:lnTo>
                  <a:pt x="154493" y="5657"/>
                </a:lnTo>
                <a:lnTo>
                  <a:pt x="147833" y="1517"/>
                </a:lnTo>
                <a:lnTo>
                  <a:pt x="1396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274115" y="3706734"/>
            <a:ext cx="73372" cy="700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171128" y="3761086"/>
            <a:ext cx="279400" cy="257810"/>
          </a:xfrm>
          <a:custGeom>
            <a:avLst/>
            <a:gdLst/>
            <a:ahLst/>
            <a:cxnLst/>
            <a:rect l="l" t="t" r="r" b="b"/>
            <a:pathLst>
              <a:path w="279400" h="257810">
                <a:moveTo>
                  <a:pt x="0" y="257438"/>
                </a:moveTo>
                <a:lnTo>
                  <a:pt x="139672" y="0"/>
                </a:lnTo>
                <a:lnTo>
                  <a:pt x="279361" y="257438"/>
                </a:lnTo>
                <a:lnTo>
                  <a:pt x="0" y="257438"/>
                </a:lnTo>
                <a:close/>
              </a:path>
            </a:pathLst>
          </a:custGeom>
          <a:ln w="3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600942" y="3722466"/>
            <a:ext cx="279400" cy="296545"/>
          </a:xfrm>
          <a:custGeom>
            <a:avLst/>
            <a:gdLst/>
            <a:ahLst/>
            <a:cxnLst/>
            <a:rect l="l" t="t" r="r" b="b"/>
            <a:pathLst>
              <a:path w="279400" h="296545">
                <a:moveTo>
                  <a:pt x="139642" y="38619"/>
                </a:moveTo>
                <a:lnTo>
                  <a:pt x="0" y="296057"/>
                </a:lnTo>
                <a:lnTo>
                  <a:pt x="279285" y="296057"/>
                </a:lnTo>
                <a:lnTo>
                  <a:pt x="139642" y="38619"/>
                </a:lnTo>
                <a:close/>
              </a:path>
              <a:path w="279400" h="296545">
                <a:moveTo>
                  <a:pt x="139642" y="0"/>
                </a:moveTo>
                <a:lnTo>
                  <a:pt x="131511" y="1517"/>
                </a:lnTo>
                <a:lnTo>
                  <a:pt x="124859" y="5657"/>
                </a:lnTo>
                <a:lnTo>
                  <a:pt x="120367" y="11794"/>
                </a:lnTo>
                <a:lnTo>
                  <a:pt x="118718" y="19309"/>
                </a:lnTo>
                <a:lnTo>
                  <a:pt x="120367" y="26824"/>
                </a:lnTo>
                <a:lnTo>
                  <a:pt x="124859" y="32962"/>
                </a:lnTo>
                <a:lnTo>
                  <a:pt x="131511" y="37101"/>
                </a:lnTo>
                <a:lnTo>
                  <a:pt x="139642" y="38619"/>
                </a:lnTo>
                <a:lnTo>
                  <a:pt x="147773" y="37101"/>
                </a:lnTo>
                <a:lnTo>
                  <a:pt x="154425" y="32962"/>
                </a:lnTo>
                <a:lnTo>
                  <a:pt x="158917" y="26824"/>
                </a:lnTo>
                <a:lnTo>
                  <a:pt x="160566" y="19309"/>
                </a:lnTo>
                <a:lnTo>
                  <a:pt x="158917" y="11794"/>
                </a:lnTo>
                <a:lnTo>
                  <a:pt x="154425" y="5657"/>
                </a:lnTo>
                <a:lnTo>
                  <a:pt x="147773" y="1517"/>
                </a:lnTo>
                <a:lnTo>
                  <a:pt x="1396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703928" y="3706733"/>
            <a:ext cx="73314" cy="700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600942" y="3761086"/>
            <a:ext cx="279400" cy="257810"/>
          </a:xfrm>
          <a:custGeom>
            <a:avLst/>
            <a:gdLst/>
            <a:ahLst/>
            <a:cxnLst/>
            <a:rect l="l" t="t" r="r" b="b"/>
            <a:pathLst>
              <a:path w="279400" h="257810">
                <a:moveTo>
                  <a:pt x="0" y="257438"/>
                </a:moveTo>
                <a:lnTo>
                  <a:pt x="139642" y="0"/>
                </a:lnTo>
                <a:lnTo>
                  <a:pt x="279285" y="257438"/>
                </a:lnTo>
                <a:lnTo>
                  <a:pt x="0" y="257438"/>
                </a:lnTo>
                <a:close/>
              </a:path>
            </a:pathLst>
          </a:custGeom>
          <a:ln w="313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30635" y="3712574"/>
            <a:ext cx="280035" cy="296545"/>
          </a:xfrm>
          <a:custGeom>
            <a:avLst/>
            <a:gdLst/>
            <a:ahLst/>
            <a:cxnLst/>
            <a:rect l="l" t="t" r="r" b="b"/>
            <a:pathLst>
              <a:path w="280035" h="296545">
                <a:moveTo>
                  <a:pt x="139794" y="38605"/>
                </a:moveTo>
                <a:lnTo>
                  <a:pt x="0" y="296057"/>
                </a:lnTo>
                <a:lnTo>
                  <a:pt x="279436" y="296057"/>
                </a:lnTo>
                <a:lnTo>
                  <a:pt x="139794" y="38605"/>
                </a:lnTo>
                <a:close/>
              </a:path>
              <a:path w="280035" h="296545">
                <a:moveTo>
                  <a:pt x="139794" y="0"/>
                </a:moveTo>
                <a:lnTo>
                  <a:pt x="131599" y="1515"/>
                </a:lnTo>
                <a:lnTo>
                  <a:pt x="124954" y="5651"/>
                </a:lnTo>
                <a:lnTo>
                  <a:pt x="120498" y="11789"/>
                </a:lnTo>
                <a:lnTo>
                  <a:pt x="118870" y="19309"/>
                </a:lnTo>
                <a:lnTo>
                  <a:pt x="120498" y="26822"/>
                </a:lnTo>
                <a:lnTo>
                  <a:pt x="124954" y="32955"/>
                </a:lnTo>
                <a:lnTo>
                  <a:pt x="131599" y="37089"/>
                </a:lnTo>
                <a:lnTo>
                  <a:pt x="139794" y="38605"/>
                </a:lnTo>
                <a:lnTo>
                  <a:pt x="147924" y="37089"/>
                </a:lnTo>
                <a:lnTo>
                  <a:pt x="154577" y="32955"/>
                </a:lnTo>
                <a:lnTo>
                  <a:pt x="159068" y="26822"/>
                </a:lnTo>
                <a:lnTo>
                  <a:pt x="160717" y="19309"/>
                </a:lnTo>
                <a:lnTo>
                  <a:pt x="159068" y="11789"/>
                </a:lnTo>
                <a:lnTo>
                  <a:pt x="154577" y="5651"/>
                </a:lnTo>
                <a:lnTo>
                  <a:pt x="147924" y="1515"/>
                </a:lnTo>
                <a:lnTo>
                  <a:pt x="1397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133773" y="3696841"/>
            <a:ext cx="73313" cy="700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030635" y="3751179"/>
            <a:ext cx="280035" cy="257810"/>
          </a:xfrm>
          <a:custGeom>
            <a:avLst/>
            <a:gdLst/>
            <a:ahLst/>
            <a:cxnLst/>
            <a:rect l="l" t="t" r="r" b="b"/>
            <a:pathLst>
              <a:path w="280035" h="257810">
                <a:moveTo>
                  <a:pt x="0" y="257452"/>
                </a:moveTo>
                <a:lnTo>
                  <a:pt x="139794" y="0"/>
                </a:lnTo>
                <a:lnTo>
                  <a:pt x="279436" y="257452"/>
                </a:lnTo>
                <a:lnTo>
                  <a:pt x="0" y="257452"/>
                </a:lnTo>
                <a:close/>
              </a:path>
            </a:pathLst>
          </a:custGeom>
          <a:ln w="313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994094" y="4823415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>
                <a:moveTo>
                  <a:pt x="0" y="0"/>
                </a:moveTo>
                <a:lnTo>
                  <a:pt x="452587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31439" y="4823415"/>
            <a:ext cx="471170" cy="0"/>
          </a:xfrm>
          <a:custGeom>
            <a:avLst/>
            <a:gdLst/>
            <a:ahLst/>
            <a:cxnLst/>
            <a:rect l="l" t="t" r="r" b="b"/>
            <a:pathLst>
              <a:path w="471170">
                <a:moveTo>
                  <a:pt x="0" y="0"/>
                </a:moveTo>
                <a:lnTo>
                  <a:pt x="470691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087710" y="4823415"/>
            <a:ext cx="418465" cy="0"/>
          </a:xfrm>
          <a:custGeom>
            <a:avLst/>
            <a:gdLst/>
            <a:ahLst/>
            <a:cxnLst/>
            <a:rect l="l" t="t" r="r" b="b"/>
            <a:pathLst>
              <a:path w="418465">
                <a:moveTo>
                  <a:pt x="0" y="0"/>
                </a:moveTo>
                <a:lnTo>
                  <a:pt x="418026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591317" y="4823415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>
                <a:moveTo>
                  <a:pt x="0" y="0"/>
                </a:moveTo>
                <a:lnTo>
                  <a:pt x="466576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332077" y="4159253"/>
            <a:ext cx="4199255" cy="181102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60"/>
              </a:spcBef>
              <a:tabLst>
                <a:tab pos="372745" algn="l"/>
                <a:tab pos="834390" algn="l"/>
                <a:tab pos="1715770" algn="l"/>
              </a:tabLst>
            </a:pPr>
            <a:r>
              <a:rPr sz="3300" spc="127" baseline="1262" dirty="0">
                <a:solidFill>
                  <a:srgbClr val="6600FF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1</a:t>
            </a:r>
            <a:r>
              <a:rPr sz="3300" spc="127" baseline="1262" dirty="0">
                <a:solidFill>
                  <a:srgbClr val="6600FF"/>
                </a:solidFill>
                <a:latin typeface="华文楷体"/>
                <a:cs typeface="华文楷体"/>
              </a:rPr>
              <a:t>	</a:t>
            </a:r>
            <a:r>
              <a:rPr sz="2300" i="1" spc="50" dirty="0">
                <a:solidFill>
                  <a:srgbClr val="6600FF"/>
                </a:solidFill>
                <a:latin typeface="华文楷体"/>
                <a:cs typeface="华文楷体"/>
              </a:rPr>
              <a:t>B</a:t>
            </a:r>
            <a:r>
              <a:rPr sz="2300" i="1" spc="-175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175" spc="97" baseline="-11494" dirty="0">
                <a:solidFill>
                  <a:srgbClr val="6600FF"/>
                </a:solidFill>
                <a:latin typeface="华文楷体"/>
                <a:cs typeface="华文楷体"/>
              </a:rPr>
              <a:t>0	</a:t>
            </a:r>
            <a:r>
              <a:rPr sz="2300" i="1" spc="50" dirty="0">
                <a:solidFill>
                  <a:srgbClr val="6600FF"/>
                </a:solidFill>
                <a:latin typeface="华文楷体"/>
                <a:cs typeface="华文楷体"/>
              </a:rPr>
              <a:t>B </a:t>
            </a:r>
            <a:r>
              <a:rPr sz="2175" spc="97" baseline="-11494" dirty="0">
                <a:solidFill>
                  <a:srgbClr val="6600FF"/>
                </a:solidFill>
                <a:latin typeface="华文楷体"/>
                <a:cs typeface="华文楷体"/>
              </a:rPr>
              <a:t>1</a:t>
            </a:r>
            <a:r>
              <a:rPr sz="2175" spc="142" baseline="-11494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3450" i="1" spc="75" baseline="1207" dirty="0">
                <a:solidFill>
                  <a:srgbClr val="6600FF"/>
                </a:solidFill>
                <a:latin typeface="华文楷体"/>
                <a:cs typeface="华文楷体"/>
              </a:rPr>
              <a:t>B</a:t>
            </a:r>
            <a:r>
              <a:rPr sz="3450" i="1" spc="-254" baseline="1207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175" spc="97" baseline="-9578" dirty="0">
                <a:solidFill>
                  <a:srgbClr val="6600FF"/>
                </a:solidFill>
                <a:latin typeface="华文楷体"/>
                <a:cs typeface="华文楷体"/>
              </a:rPr>
              <a:t>2	</a:t>
            </a:r>
            <a:r>
              <a:rPr sz="2300" i="1" spc="50" dirty="0">
                <a:solidFill>
                  <a:srgbClr val="6600FF"/>
                </a:solidFill>
                <a:latin typeface="华文楷体"/>
                <a:cs typeface="华文楷体"/>
              </a:rPr>
              <a:t>B</a:t>
            </a:r>
            <a:r>
              <a:rPr sz="2300" i="1" spc="-180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175" spc="97" baseline="-11494" dirty="0">
                <a:solidFill>
                  <a:srgbClr val="6600FF"/>
                </a:solidFill>
                <a:latin typeface="华文楷体"/>
                <a:cs typeface="华文楷体"/>
              </a:rPr>
              <a:t>3</a:t>
            </a:r>
            <a:r>
              <a:rPr sz="2175" spc="-142" baseline="-11494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300" i="1" spc="55" dirty="0">
                <a:solidFill>
                  <a:srgbClr val="6600FF"/>
                </a:solidFill>
                <a:latin typeface="华文楷体"/>
                <a:cs typeface="华文楷体"/>
              </a:rPr>
              <a:t>A</a:t>
            </a:r>
            <a:r>
              <a:rPr sz="2300" i="1" spc="-180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175" spc="97" baseline="-11494" dirty="0">
                <a:solidFill>
                  <a:srgbClr val="6600FF"/>
                </a:solidFill>
                <a:latin typeface="华文楷体"/>
                <a:cs typeface="华文楷体"/>
              </a:rPr>
              <a:t>0</a:t>
            </a:r>
            <a:r>
              <a:rPr sz="2175" spc="104" baseline="-11494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300" i="1" spc="55" dirty="0">
                <a:solidFill>
                  <a:srgbClr val="6600FF"/>
                </a:solidFill>
                <a:latin typeface="华文楷体"/>
                <a:cs typeface="华文楷体"/>
              </a:rPr>
              <a:t>A</a:t>
            </a:r>
            <a:r>
              <a:rPr sz="2300" i="1" spc="-175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175" spc="97" baseline="-11494" dirty="0">
                <a:solidFill>
                  <a:srgbClr val="6600FF"/>
                </a:solidFill>
                <a:latin typeface="华文楷体"/>
                <a:cs typeface="华文楷体"/>
              </a:rPr>
              <a:t>1</a:t>
            </a:r>
            <a:r>
              <a:rPr sz="2175" spc="247" baseline="-11494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3450" i="1" spc="82" baseline="1207" dirty="0">
                <a:solidFill>
                  <a:srgbClr val="6600FF"/>
                </a:solidFill>
                <a:latin typeface="华文楷体"/>
                <a:cs typeface="华文楷体"/>
              </a:rPr>
              <a:t>A</a:t>
            </a:r>
            <a:r>
              <a:rPr sz="3450" i="1" spc="-270" baseline="1207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175" spc="97" baseline="-9578" dirty="0">
                <a:solidFill>
                  <a:srgbClr val="6600FF"/>
                </a:solidFill>
                <a:latin typeface="华文楷体"/>
                <a:cs typeface="华文楷体"/>
              </a:rPr>
              <a:t>2</a:t>
            </a:r>
            <a:r>
              <a:rPr sz="2175" spc="104" baseline="-9578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300" i="1" spc="55" dirty="0">
                <a:solidFill>
                  <a:srgbClr val="6600FF"/>
                </a:solidFill>
                <a:latin typeface="华文楷体"/>
                <a:cs typeface="华文楷体"/>
              </a:rPr>
              <a:t>A</a:t>
            </a:r>
            <a:r>
              <a:rPr sz="2300" i="1" spc="-175" dirty="0">
                <a:solidFill>
                  <a:srgbClr val="6600FF"/>
                </a:solidFill>
                <a:latin typeface="华文楷体"/>
                <a:cs typeface="华文楷体"/>
              </a:rPr>
              <a:t> </a:t>
            </a:r>
            <a:r>
              <a:rPr sz="2175" spc="97" baseline="-11494" dirty="0">
                <a:solidFill>
                  <a:srgbClr val="6600FF"/>
                </a:solidFill>
                <a:latin typeface="华文楷体"/>
                <a:cs typeface="华文楷体"/>
              </a:rPr>
              <a:t>3</a:t>
            </a:r>
            <a:endParaRPr sz="2175" baseline="-11494" dirty="0">
              <a:latin typeface="华文楷体"/>
              <a:cs typeface="华文楷体"/>
            </a:endParaRPr>
          </a:p>
          <a:p>
            <a:pPr marR="35560" algn="r">
              <a:lnSpc>
                <a:spcPct val="100000"/>
              </a:lnSpc>
              <a:spcBef>
                <a:spcPts val="1285"/>
              </a:spcBef>
              <a:tabLst>
                <a:tab pos="1815464" algn="l"/>
              </a:tabLst>
            </a:pPr>
            <a:r>
              <a:rPr sz="3550" i="1" spc="229" dirty="0">
                <a:latin typeface="Times New Roman"/>
                <a:cs typeface="Times New Roman"/>
              </a:rPr>
              <a:t>S</a:t>
            </a:r>
            <a:r>
              <a:rPr sz="3075" spc="345" baseline="-24390" dirty="0">
                <a:latin typeface="Times New Roman"/>
                <a:cs typeface="Times New Roman"/>
              </a:rPr>
              <a:t>3</a:t>
            </a:r>
            <a:r>
              <a:rPr sz="3550" i="1" spc="229" dirty="0">
                <a:latin typeface="Times New Roman"/>
                <a:cs typeface="Times New Roman"/>
              </a:rPr>
              <a:t>S</a:t>
            </a:r>
            <a:r>
              <a:rPr sz="3075" spc="345" baseline="-24390" dirty="0">
                <a:latin typeface="Times New Roman"/>
                <a:cs typeface="Times New Roman"/>
              </a:rPr>
              <a:t>2</a:t>
            </a:r>
            <a:r>
              <a:rPr sz="3075" spc="-405" baseline="-24390" dirty="0">
                <a:latin typeface="Times New Roman"/>
                <a:cs typeface="Times New Roman"/>
              </a:rPr>
              <a:t> </a:t>
            </a:r>
            <a:r>
              <a:rPr sz="3550" i="1" spc="155" dirty="0">
                <a:latin typeface="Times New Roman"/>
                <a:cs typeface="Times New Roman"/>
              </a:rPr>
              <a:t>S</a:t>
            </a:r>
            <a:r>
              <a:rPr sz="3075" spc="232" baseline="-24390" dirty="0">
                <a:latin typeface="Times New Roman"/>
                <a:cs typeface="Times New Roman"/>
              </a:rPr>
              <a:t>1</a:t>
            </a:r>
            <a:r>
              <a:rPr sz="3550" i="1" spc="155" dirty="0">
                <a:latin typeface="Times New Roman"/>
                <a:cs typeface="Times New Roman"/>
              </a:rPr>
              <a:t>S</a:t>
            </a:r>
            <a:r>
              <a:rPr sz="3075" spc="232" baseline="-24390" dirty="0">
                <a:latin typeface="Times New Roman"/>
                <a:cs typeface="Times New Roman"/>
              </a:rPr>
              <a:t>0	</a:t>
            </a:r>
            <a:r>
              <a:rPr sz="3550" spc="204" dirty="0">
                <a:latin typeface="Symbol"/>
                <a:cs typeface="Symbol"/>
              </a:rPr>
              <a:t></a:t>
            </a:r>
            <a:r>
              <a:rPr sz="3550" spc="204" dirty="0">
                <a:latin typeface="Times New Roman"/>
                <a:cs typeface="Times New Roman"/>
              </a:rPr>
              <a:t> </a:t>
            </a:r>
            <a:r>
              <a:rPr sz="3550" i="1" spc="-25" dirty="0">
                <a:latin typeface="Times New Roman"/>
                <a:cs typeface="Times New Roman"/>
              </a:rPr>
              <a:t>A</a:t>
            </a:r>
            <a:r>
              <a:rPr sz="3075" spc="-37" baseline="-24390" dirty="0">
                <a:latin typeface="Times New Roman"/>
                <a:cs typeface="Times New Roman"/>
              </a:rPr>
              <a:t>3 </a:t>
            </a:r>
            <a:r>
              <a:rPr sz="3550" i="1" spc="15" dirty="0">
                <a:latin typeface="Times New Roman"/>
                <a:cs typeface="Times New Roman"/>
              </a:rPr>
              <a:t>A</a:t>
            </a:r>
            <a:r>
              <a:rPr sz="3075" spc="22" baseline="-24390" dirty="0">
                <a:latin typeface="Times New Roman"/>
                <a:cs typeface="Times New Roman"/>
              </a:rPr>
              <a:t>2 </a:t>
            </a:r>
            <a:r>
              <a:rPr sz="3550" i="1" spc="-105" dirty="0">
                <a:latin typeface="Times New Roman"/>
                <a:cs typeface="Times New Roman"/>
              </a:rPr>
              <a:t>A</a:t>
            </a:r>
            <a:r>
              <a:rPr sz="3075" spc="-157" baseline="-24390" dirty="0">
                <a:latin typeface="Times New Roman"/>
                <a:cs typeface="Times New Roman"/>
              </a:rPr>
              <a:t>1</a:t>
            </a:r>
            <a:r>
              <a:rPr sz="3075" spc="-525" baseline="-24390" dirty="0">
                <a:latin typeface="Times New Roman"/>
                <a:cs typeface="Times New Roman"/>
              </a:rPr>
              <a:t> </a:t>
            </a:r>
            <a:r>
              <a:rPr sz="3550" i="1" dirty="0">
                <a:latin typeface="Times New Roman"/>
                <a:cs typeface="Times New Roman"/>
              </a:rPr>
              <a:t>A</a:t>
            </a:r>
            <a:r>
              <a:rPr sz="3075" baseline="-24390" dirty="0">
                <a:latin typeface="Times New Roman"/>
                <a:cs typeface="Times New Roman"/>
              </a:rPr>
              <a:t>0</a:t>
            </a:r>
          </a:p>
          <a:p>
            <a:pPr marR="30480" algn="r">
              <a:lnSpc>
                <a:spcPct val="100000"/>
              </a:lnSpc>
              <a:spcBef>
                <a:spcPts val="625"/>
              </a:spcBef>
            </a:pPr>
            <a:r>
              <a:rPr sz="3550" spc="195" dirty="0">
                <a:latin typeface="Symbol"/>
                <a:cs typeface="Symbol"/>
              </a:rPr>
              <a:t></a:t>
            </a:r>
            <a:r>
              <a:rPr sz="3550" spc="195" dirty="0">
                <a:latin typeface="Times New Roman"/>
                <a:cs typeface="Times New Roman"/>
              </a:rPr>
              <a:t> </a:t>
            </a:r>
            <a:r>
              <a:rPr sz="3550" i="1" spc="-30" dirty="0">
                <a:latin typeface="Times New Roman"/>
                <a:cs typeface="Times New Roman"/>
              </a:rPr>
              <a:t>A</a:t>
            </a:r>
            <a:r>
              <a:rPr sz="3075" spc="-44" baseline="-25745" dirty="0">
                <a:latin typeface="Times New Roman"/>
                <a:cs typeface="Times New Roman"/>
              </a:rPr>
              <a:t>3 </a:t>
            </a:r>
            <a:r>
              <a:rPr sz="3550" i="1" spc="5" dirty="0">
                <a:latin typeface="Times New Roman"/>
                <a:cs typeface="Times New Roman"/>
              </a:rPr>
              <a:t>A</a:t>
            </a:r>
            <a:r>
              <a:rPr sz="3075" spc="7" baseline="-25745" dirty="0">
                <a:latin typeface="Times New Roman"/>
                <a:cs typeface="Times New Roman"/>
              </a:rPr>
              <a:t>2 </a:t>
            </a:r>
            <a:r>
              <a:rPr sz="3550" i="1" spc="-120" dirty="0">
                <a:latin typeface="Times New Roman"/>
                <a:cs typeface="Times New Roman"/>
              </a:rPr>
              <a:t>A</a:t>
            </a:r>
            <a:r>
              <a:rPr sz="3075" spc="-179" baseline="-25745" dirty="0">
                <a:latin typeface="Times New Roman"/>
                <a:cs typeface="Times New Roman"/>
              </a:rPr>
              <a:t>1</a:t>
            </a:r>
            <a:r>
              <a:rPr sz="3075" spc="-307" baseline="-25745" dirty="0">
                <a:latin typeface="Times New Roman"/>
                <a:cs typeface="Times New Roman"/>
              </a:rPr>
              <a:t> </a:t>
            </a:r>
            <a:r>
              <a:rPr sz="3550" i="1" spc="-10" dirty="0">
                <a:latin typeface="Times New Roman"/>
                <a:cs typeface="Times New Roman"/>
              </a:rPr>
              <a:t>A</a:t>
            </a:r>
            <a:r>
              <a:rPr sz="3075" spc="-15" baseline="-25745" dirty="0">
                <a:latin typeface="Times New Roman"/>
                <a:cs typeface="Times New Roman"/>
              </a:rPr>
              <a:t>0</a:t>
            </a:r>
            <a:endParaRPr sz="3075" baseline="-25745" dirty="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17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5583397" y="4703081"/>
            <a:ext cx="3173095" cy="126682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25"/>
              </a:spcBef>
              <a:tabLst>
                <a:tab pos="2574925" algn="l"/>
              </a:tabLst>
            </a:pPr>
            <a:r>
              <a:rPr sz="3550" spc="204" dirty="0">
                <a:latin typeface="Symbol"/>
                <a:cs typeface="Symbol"/>
              </a:rPr>
              <a:t></a:t>
            </a:r>
            <a:r>
              <a:rPr sz="3550" spc="204" dirty="0">
                <a:latin typeface="Times New Roman"/>
                <a:cs typeface="Times New Roman"/>
              </a:rPr>
              <a:t> </a:t>
            </a:r>
            <a:r>
              <a:rPr sz="3550" i="1" spc="75" dirty="0">
                <a:latin typeface="Times New Roman"/>
                <a:cs typeface="Times New Roman"/>
              </a:rPr>
              <a:t>B</a:t>
            </a:r>
            <a:r>
              <a:rPr sz="3075" spc="112" baseline="-24390" dirty="0">
                <a:latin typeface="Times New Roman"/>
                <a:cs typeface="Times New Roman"/>
              </a:rPr>
              <a:t>3  </a:t>
            </a:r>
            <a:r>
              <a:rPr sz="3550" i="1" spc="110" dirty="0">
                <a:latin typeface="Times New Roman"/>
                <a:cs typeface="Times New Roman"/>
              </a:rPr>
              <a:t>B</a:t>
            </a:r>
            <a:r>
              <a:rPr sz="3075" spc="165" baseline="-24390" dirty="0">
                <a:latin typeface="Times New Roman"/>
                <a:cs typeface="Times New Roman"/>
              </a:rPr>
              <a:t>2</a:t>
            </a:r>
            <a:r>
              <a:rPr sz="3075" spc="-217" baseline="-24390" dirty="0">
                <a:latin typeface="Times New Roman"/>
                <a:cs typeface="Times New Roman"/>
              </a:rPr>
              <a:t> </a:t>
            </a:r>
            <a:r>
              <a:rPr sz="3550" i="1" spc="-10" dirty="0">
                <a:latin typeface="Times New Roman"/>
                <a:cs typeface="Times New Roman"/>
              </a:rPr>
              <a:t>B</a:t>
            </a:r>
            <a:r>
              <a:rPr sz="3075" spc="-15" baseline="-24390" dirty="0">
                <a:latin typeface="Times New Roman"/>
                <a:cs typeface="Times New Roman"/>
              </a:rPr>
              <a:t>1</a:t>
            </a:r>
            <a:r>
              <a:rPr sz="3075" spc="397" baseline="-24390" dirty="0">
                <a:latin typeface="Times New Roman"/>
                <a:cs typeface="Times New Roman"/>
              </a:rPr>
              <a:t> </a:t>
            </a:r>
            <a:r>
              <a:rPr sz="3550" i="1" spc="100" dirty="0">
                <a:latin typeface="Times New Roman"/>
                <a:cs typeface="Times New Roman"/>
              </a:rPr>
              <a:t>B</a:t>
            </a:r>
            <a:r>
              <a:rPr sz="3075" spc="150" baseline="-24390" dirty="0">
                <a:latin typeface="Times New Roman"/>
                <a:cs typeface="Times New Roman"/>
              </a:rPr>
              <a:t>0	</a:t>
            </a:r>
            <a:r>
              <a:rPr sz="3550" spc="340" dirty="0">
                <a:latin typeface="Symbol"/>
                <a:cs typeface="Symbol"/>
              </a:rPr>
              <a:t></a:t>
            </a:r>
            <a:r>
              <a:rPr sz="3550" spc="340" dirty="0">
                <a:latin typeface="Times New Roman"/>
                <a:cs typeface="Times New Roman"/>
              </a:rPr>
              <a:t>1</a:t>
            </a:r>
            <a:endParaRPr sz="3550" dirty="0">
              <a:latin typeface="Times New Roman"/>
              <a:cs typeface="Times New Roman"/>
            </a:endParaRPr>
          </a:p>
          <a:p>
            <a:pPr marL="415925" indent="-371475">
              <a:lnSpc>
                <a:spcPct val="100000"/>
              </a:lnSpc>
              <a:spcBef>
                <a:spcPts val="625"/>
              </a:spcBef>
              <a:buFont typeface="Symbol"/>
              <a:buChar char=""/>
              <a:tabLst>
                <a:tab pos="416559" algn="l"/>
              </a:tabLst>
            </a:pPr>
            <a:r>
              <a:rPr sz="3550" i="1" spc="60" dirty="0">
                <a:latin typeface="Times New Roman"/>
                <a:cs typeface="Times New Roman"/>
              </a:rPr>
              <a:t>B</a:t>
            </a:r>
            <a:r>
              <a:rPr sz="3075" spc="89" baseline="-25745" dirty="0">
                <a:latin typeface="Times New Roman"/>
                <a:cs typeface="Times New Roman"/>
              </a:rPr>
              <a:t>3</a:t>
            </a:r>
            <a:r>
              <a:rPr sz="3075" spc="-419" baseline="-25745" dirty="0">
                <a:latin typeface="Times New Roman"/>
                <a:cs typeface="Times New Roman"/>
              </a:rPr>
              <a:t> </a:t>
            </a:r>
            <a:r>
              <a:rPr sz="3550" i="1" spc="100" dirty="0">
                <a:latin typeface="Times New Roman"/>
                <a:cs typeface="Times New Roman"/>
              </a:rPr>
              <a:t>B</a:t>
            </a:r>
            <a:r>
              <a:rPr sz="3075" spc="150" baseline="-25745" dirty="0">
                <a:latin typeface="Times New Roman"/>
                <a:cs typeface="Times New Roman"/>
              </a:rPr>
              <a:t>2</a:t>
            </a:r>
            <a:r>
              <a:rPr sz="3075" spc="-300" baseline="-25745" dirty="0">
                <a:latin typeface="Times New Roman"/>
                <a:cs typeface="Times New Roman"/>
              </a:rPr>
              <a:t> </a:t>
            </a:r>
            <a:r>
              <a:rPr sz="3550" i="1" spc="60" dirty="0">
                <a:latin typeface="Times New Roman"/>
                <a:cs typeface="Times New Roman"/>
              </a:rPr>
              <a:t>B</a:t>
            </a:r>
            <a:r>
              <a:rPr sz="3075" spc="89" baseline="-25745" dirty="0">
                <a:latin typeface="Times New Roman"/>
                <a:cs typeface="Times New Roman"/>
              </a:rPr>
              <a:t>1</a:t>
            </a:r>
            <a:r>
              <a:rPr sz="3550" i="1" spc="60" dirty="0">
                <a:latin typeface="Times New Roman"/>
                <a:cs typeface="Times New Roman"/>
              </a:rPr>
              <a:t>B</a:t>
            </a:r>
            <a:r>
              <a:rPr sz="3075" spc="89" baseline="-25745" dirty="0">
                <a:latin typeface="Times New Roman"/>
                <a:cs typeface="Times New Roman"/>
              </a:rPr>
              <a:t>0</a:t>
            </a:r>
            <a:endParaRPr sz="3075" baseline="-25745" dirty="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556884" y="2286670"/>
            <a:ext cx="2607945" cy="84836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900" i="1" spc="-6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A</a:t>
            </a:r>
            <a:r>
              <a:rPr sz="1800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加</a:t>
            </a:r>
            <a:r>
              <a:rPr sz="1900" i="1" spc="-6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B</a:t>
            </a:r>
            <a:r>
              <a:rPr sz="1800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的补码（反码</a:t>
            </a:r>
            <a:r>
              <a:rPr sz="1800" spc="-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+1）</a:t>
            </a:r>
            <a:endParaRPr sz="1800" dirty="0">
              <a:highlight>
                <a:srgbClr val="FFFF00"/>
              </a:highlight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800" spc="-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相当于进</a:t>
            </a:r>
            <a:r>
              <a:rPr sz="1800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行</a:t>
            </a:r>
            <a:r>
              <a:rPr sz="1900" i="1" spc="-70" dirty="0">
                <a:solidFill>
                  <a:srgbClr val="FF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A</a:t>
            </a:r>
            <a:r>
              <a:rPr sz="1800" spc="-5" dirty="0">
                <a:solidFill>
                  <a:srgbClr val="FF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减</a:t>
            </a:r>
            <a:r>
              <a:rPr sz="1900" i="1" spc="-65" dirty="0">
                <a:solidFill>
                  <a:srgbClr val="FF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B</a:t>
            </a:r>
            <a:r>
              <a:rPr sz="1800" spc="-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的运算</a:t>
            </a:r>
            <a:r>
              <a:rPr sz="1800" spc="-5" dirty="0">
                <a:solidFill>
                  <a:srgbClr val="BE7300"/>
                </a:solidFill>
                <a:latin typeface="华文楷体"/>
                <a:cs typeface="华文楷体"/>
              </a:rPr>
              <a:t>。</a:t>
            </a:r>
            <a:endParaRPr sz="1800" dirty="0">
              <a:latin typeface="华文楷体"/>
              <a:cs typeface="华文楷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BCBDA59A-C1C7-9F86-6862-233C2C87B797}"/>
                  </a:ext>
                </a:extLst>
              </p14:cNvPr>
              <p14:cNvContentPartPr/>
              <p14:nvPr/>
            </p14:nvContentPartPr>
            <p14:xfrm>
              <a:off x="1075496" y="4166489"/>
              <a:ext cx="633600" cy="794880"/>
            </p14:xfrm>
          </p:contentPart>
        </mc:Choice>
        <mc:Fallback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BCBDA59A-C1C7-9F86-6862-233C2C87B7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1496" y="4058849"/>
                <a:ext cx="741240" cy="101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997590"/>
            <a:ext cx="840740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95"/>
              </a:spcBef>
            </a:pPr>
            <a:r>
              <a:rPr sz="2800" spc="-5" dirty="0">
                <a:solidFill>
                  <a:srgbClr val="000000"/>
                </a:solidFill>
              </a:rPr>
              <a:t>练习：</a:t>
            </a:r>
            <a:r>
              <a:rPr sz="2800" spc="-5" dirty="0">
                <a:solidFill>
                  <a:srgbClr val="BE7300"/>
                </a:solidFill>
              </a:rPr>
              <a:t>利用</a:t>
            </a:r>
            <a:r>
              <a:rPr sz="2800" spc="-10" dirty="0">
                <a:solidFill>
                  <a:srgbClr val="BE7300"/>
                </a:solidFill>
              </a:rPr>
              <a:t>4</a:t>
            </a:r>
            <a:r>
              <a:rPr sz="2800" spc="-5" dirty="0">
                <a:solidFill>
                  <a:srgbClr val="BE7300"/>
                </a:solidFill>
              </a:rPr>
              <a:t>位全加器和所需门电</a:t>
            </a:r>
            <a:r>
              <a:rPr sz="2800" dirty="0">
                <a:solidFill>
                  <a:srgbClr val="BE7300"/>
                </a:solidFill>
              </a:rPr>
              <a:t>路</a:t>
            </a:r>
            <a:r>
              <a:rPr sz="2800" spc="-5" dirty="0">
                <a:solidFill>
                  <a:srgbClr val="BE7300"/>
                </a:solidFill>
              </a:rPr>
              <a:t>，设</a:t>
            </a:r>
            <a:r>
              <a:rPr sz="2800" dirty="0">
                <a:solidFill>
                  <a:srgbClr val="BE7300"/>
                </a:solidFill>
              </a:rPr>
              <a:t>计</a:t>
            </a:r>
            <a:r>
              <a:rPr sz="2800" spc="-5" dirty="0">
                <a:solidFill>
                  <a:srgbClr val="BE7300"/>
                </a:solidFill>
              </a:rPr>
              <a:t>一个</a:t>
            </a:r>
            <a:r>
              <a:rPr sz="2800" spc="15" dirty="0">
                <a:solidFill>
                  <a:srgbClr val="BE7300"/>
                </a:solidFill>
              </a:rPr>
              <a:t>受</a:t>
            </a:r>
            <a:r>
              <a:rPr sz="2800" spc="-5" dirty="0">
                <a:solidFill>
                  <a:srgbClr val="BE7300"/>
                </a:solidFill>
              </a:rPr>
              <a:t>M 控制的电路。</a:t>
            </a:r>
            <a:endParaRPr sz="28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74394" y="2656077"/>
            <a:ext cx="6407150" cy="1258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当M=</a:t>
            </a:r>
            <a:r>
              <a:rPr sz="2800" spc="-15" dirty="0">
                <a:solidFill>
                  <a:srgbClr val="BE7300"/>
                </a:solidFill>
                <a:latin typeface="华文楷体"/>
                <a:cs typeface="华文楷体"/>
              </a:rPr>
              <a:t>0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时，实现两个四位数的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加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法运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算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，</a:t>
            </a:r>
            <a:endParaRPr sz="2800" dirty="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990"/>
              </a:spcBef>
            </a:pP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当M=</a:t>
            </a:r>
            <a:r>
              <a:rPr sz="2800" spc="-15" dirty="0">
                <a:solidFill>
                  <a:srgbClr val="BE7300"/>
                </a:solidFill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时，实现两个四位数的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减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法运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算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59808" y="5183519"/>
            <a:ext cx="1429385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25"/>
              </a:lnSpc>
            </a:pPr>
            <a:r>
              <a:rPr sz="3000" i="1" spc="240" dirty="0">
                <a:latin typeface="Times New Roman"/>
                <a:cs typeface="Times New Roman"/>
              </a:rPr>
              <a:t>M</a:t>
            </a:r>
            <a:r>
              <a:rPr sz="3000" i="1" spc="90" dirty="0">
                <a:latin typeface="Times New Roman"/>
                <a:cs typeface="Times New Roman"/>
              </a:rPr>
              <a:t> </a:t>
            </a:r>
            <a:r>
              <a:rPr sz="7725" spc="-2370" baseline="-5393" dirty="0">
                <a:latin typeface="Symbol"/>
                <a:cs typeface="Symbol"/>
              </a:rPr>
              <a:t></a:t>
            </a:r>
            <a:r>
              <a:rPr sz="3000" i="1" spc="25" dirty="0">
                <a:latin typeface="Times New Roman"/>
                <a:cs typeface="Times New Roman"/>
              </a:rPr>
              <a:t>D</a:t>
            </a:r>
            <a:r>
              <a:rPr sz="2550" spc="150" baseline="-24509" dirty="0">
                <a:latin typeface="Times New Roman"/>
                <a:cs typeface="Times New Roman"/>
              </a:rPr>
              <a:t>3</a:t>
            </a:r>
            <a:r>
              <a:rPr sz="2550" baseline="-24509" dirty="0">
                <a:latin typeface="Times New Roman"/>
                <a:cs typeface="Times New Roman"/>
              </a:rPr>
              <a:t> </a:t>
            </a:r>
            <a:r>
              <a:rPr sz="2550" spc="-187" baseline="-24509" dirty="0">
                <a:latin typeface="Times New Roman"/>
                <a:cs typeface="Times New Roman"/>
              </a:rPr>
              <a:t> </a:t>
            </a:r>
            <a:r>
              <a:rPr sz="3000" i="1" spc="-1995" dirty="0">
                <a:latin typeface="Times New Roman"/>
                <a:cs typeface="Times New Roman"/>
              </a:rPr>
              <a:t>D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3736" y="5183519"/>
            <a:ext cx="1294130" cy="80264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>
              <a:lnSpc>
                <a:spcPts val="6005"/>
              </a:lnSpc>
              <a:spcBef>
                <a:spcPts val="315"/>
              </a:spcBef>
            </a:pPr>
            <a:r>
              <a:rPr sz="1700" spc="100" dirty="0">
                <a:latin typeface="Times New Roman"/>
                <a:cs typeface="Times New Roman"/>
              </a:rPr>
              <a:t>2 </a:t>
            </a:r>
            <a:r>
              <a:rPr sz="4500" i="1" spc="-15" baseline="13888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1 </a:t>
            </a:r>
            <a:r>
              <a:rPr sz="4500" i="1" spc="120" baseline="13888" dirty="0">
                <a:latin typeface="Times New Roman"/>
                <a:cs typeface="Times New Roman"/>
              </a:rPr>
              <a:t>D</a:t>
            </a:r>
            <a:r>
              <a:rPr sz="1700" spc="80" dirty="0">
                <a:latin typeface="Times New Roman"/>
                <a:cs typeface="Times New Roman"/>
              </a:rPr>
              <a:t>0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7725" spc="-6172" baseline="3236" dirty="0">
                <a:latin typeface="Symbol"/>
                <a:cs typeface="Symbol"/>
              </a:rPr>
              <a:t></a:t>
            </a:r>
            <a:endParaRPr sz="7725" baseline="3236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9793" y="5306657"/>
            <a:ext cx="4723765" cy="619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505"/>
              </a:lnSpc>
              <a:tabLst>
                <a:tab pos="1607185" algn="l"/>
              </a:tabLst>
            </a:pPr>
            <a:r>
              <a:rPr sz="3000" i="1" spc="40" dirty="0">
                <a:latin typeface="Times New Roman"/>
                <a:cs typeface="Times New Roman"/>
              </a:rPr>
              <a:t>B</a:t>
            </a:r>
            <a:r>
              <a:rPr sz="2550" spc="60" baseline="-24509" dirty="0">
                <a:latin typeface="Times New Roman"/>
                <a:cs typeface="Times New Roman"/>
              </a:rPr>
              <a:t>3</a:t>
            </a:r>
            <a:r>
              <a:rPr sz="2550" spc="-352" baseline="-24509" dirty="0">
                <a:latin typeface="Times New Roman"/>
                <a:cs typeface="Times New Roman"/>
              </a:rPr>
              <a:t> </a:t>
            </a:r>
            <a:r>
              <a:rPr sz="3000" i="1" spc="70" dirty="0">
                <a:latin typeface="Times New Roman"/>
                <a:cs typeface="Times New Roman"/>
              </a:rPr>
              <a:t>B</a:t>
            </a:r>
            <a:r>
              <a:rPr sz="2550" spc="104" baseline="-24509" dirty="0">
                <a:latin typeface="Times New Roman"/>
                <a:cs typeface="Times New Roman"/>
              </a:rPr>
              <a:t>2</a:t>
            </a:r>
            <a:r>
              <a:rPr sz="2550" spc="-262" baseline="-24509" dirty="0">
                <a:latin typeface="Times New Roman"/>
                <a:cs typeface="Times New Roman"/>
              </a:rPr>
              <a:t> </a:t>
            </a:r>
            <a:r>
              <a:rPr sz="3000" i="1" spc="40" dirty="0">
                <a:latin typeface="Times New Roman"/>
                <a:cs typeface="Times New Roman"/>
              </a:rPr>
              <a:t>B</a:t>
            </a:r>
            <a:r>
              <a:rPr sz="2550" spc="60" baseline="-24509" dirty="0">
                <a:latin typeface="Times New Roman"/>
                <a:cs typeface="Times New Roman"/>
              </a:rPr>
              <a:t>1</a:t>
            </a:r>
            <a:r>
              <a:rPr sz="3000" i="1" spc="40" dirty="0">
                <a:latin typeface="Times New Roman"/>
                <a:cs typeface="Times New Roman"/>
              </a:rPr>
              <a:t>B</a:t>
            </a:r>
            <a:r>
              <a:rPr sz="2550" spc="60" baseline="-24509" dirty="0">
                <a:latin typeface="Times New Roman"/>
                <a:cs typeface="Times New Roman"/>
              </a:rPr>
              <a:t>0	</a:t>
            </a:r>
            <a:r>
              <a:rPr sz="3000" spc="290" dirty="0">
                <a:latin typeface="Symbol"/>
                <a:cs typeface="Symbol"/>
              </a:rPr>
              <a:t>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i="1" spc="240" dirty="0">
                <a:latin typeface="Times New Roman"/>
                <a:cs typeface="Times New Roman"/>
              </a:rPr>
              <a:t>M</a:t>
            </a:r>
            <a:r>
              <a:rPr sz="3000" i="1" spc="55" dirty="0">
                <a:latin typeface="Times New Roman"/>
                <a:cs typeface="Times New Roman"/>
              </a:rPr>
              <a:t> </a:t>
            </a:r>
            <a:r>
              <a:rPr sz="5850" spc="-989" baseline="-2849" dirty="0">
                <a:latin typeface="Symbol"/>
                <a:cs typeface="Symbol"/>
              </a:rPr>
              <a:t></a:t>
            </a:r>
            <a:r>
              <a:rPr sz="5850" spc="-952" baseline="-2849" dirty="0">
                <a:latin typeface="Times New Roman"/>
                <a:cs typeface="Times New Roman"/>
              </a:rPr>
              <a:t> </a:t>
            </a:r>
            <a:r>
              <a:rPr sz="3000" i="1" spc="55" dirty="0">
                <a:latin typeface="Times New Roman"/>
                <a:cs typeface="Times New Roman"/>
              </a:rPr>
              <a:t>D</a:t>
            </a:r>
            <a:r>
              <a:rPr sz="2550" spc="82" baseline="-24509" dirty="0">
                <a:latin typeface="Times New Roman"/>
                <a:cs typeface="Times New Roman"/>
              </a:rPr>
              <a:t>3</a:t>
            </a:r>
            <a:r>
              <a:rPr sz="2550" spc="-375" baseline="-24509" dirty="0">
                <a:latin typeface="Times New Roman"/>
                <a:cs typeface="Times New Roman"/>
              </a:rPr>
              <a:t> </a:t>
            </a:r>
            <a:r>
              <a:rPr sz="3000" i="1" spc="90" dirty="0">
                <a:latin typeface="Times New Roman"/>
                <a:cs typeface="Times New Roman"/>
              </a:rPr>
              <a:t>D</a:t>
            </a:r>
            <a:r>
              <a:rPr sz="2550" spc="135" baseline="-24509" dirty="0">
                <a:latin typeface="Times New Roman"/>
                <a:cs typeface="Times New Roman"/>
              </a:rPr>
              <a:t>2</a:t>
            </a:r>
            <a:r>
              <a:rPr sz="2550" spc="-300" baseline="-24509" dirty="0">
                <a:latin typeface="Times New Roman"/>
                <a:cs typeface="Times New Roman"/>
              </a:rPr>
              <a:t> </a:t>
            </a:r>
            <a:r>
              <a:rPr sz="3000" i="1" spc="55" dirty="0">
                <a:latin typeface="Times New Roman"/>
                <a:cs typeface="Times New Roman"/>
              </a:rPr>
              <a:t>D</a:t>
            </a:r>
            <a:r>
              <a:rPr sz="2550" spc="82" baseline="-24509" dirty="0">
                <a:latin typeface="Times New Roman"/>
                <a:cs typeface="Times New Roman"/>
              </a:rPr>
              <a:t>1</a:t>
            </a:r>
            <a:r>
              <a:rPr sz="3000" i="1" spc="55" dirty="0">
                <a:latin typeface="Times New Roman"/>
                <a:cs typeface="Times New Roman"/>
              </a:rPr>
              <a:t>D</a:t>
            </a:r>
            <a:r>
              <a:rPr sz="2550" spc="82" baseline="-24509" dirty="0">
                <a:latin typeface="Times New Roman"/>
                <a:cs typeface="Times New Roman"/>
              </a:rPr>
              <a:t>0  </a:t>
            </a:r>
            <a:r>
              <a:rPr sz="5850" spc="-3637" baseline="-2849" dirty="0">
                <a:latin typeface="Symbol"/>
                <a:cs typeface="Symbol"/>
              </a:rPr>
              <a:t></a:t>
            </a:r>
            <a:r>
              <a:rPr sz="5850" spc="-719" baseline="-2849" dirty="0">
                <a:latin typeface="Times New Roman"/>
                <a:cs typeface="Times New Roman"/>
              </a:rPr>
              <a:t> </a:t>
            </a:r>
            <a:r>
              <a:rPr sz="3000" spc="290" dirty="0">
                <a:latin typeface="Symbol"/>
                <a:cs typeface="Symbol"/>
              </a:rPr>
              <a:t>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4040" y="1058672"/>
            <a:ext cx="10788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M=</a:t>
            </a:r>
            <a:r>
              <a:rPr sz="2800" spc="-15" dirty="0">
                <a:solidFill>
                  <a:srgbClr val="BE7300"/>
                </a:solidFill>
                <a:latin typeface="华文楷体"/>
                <a:cs typeface="华文楷体"/>
              </a:rPr>
              <a:t>0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时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11880" y="3257110"/>
            <a:ext cx="422275" cy="0"/>
          </a:xfrm>
          <a:custGeom>
            <a:avLst/>
            <a:gdLst/>
            <a:ahLst/>
            <a:cxnLst/>
            <a:rect l="l" t="t" r="r" b="b"/>
            <a:pathLst>
              <a:path w="422275">
                <a:moveTo>
                  <a:pt x="0" y="0"/>
                </a:moveTo>
                <a:lnTo>
                  <a:pt x="422109" y="0"/>
                </a:lnTo>
              </a:path>
            </a:pathLst>
          </a:custGeom>
          <a:ln w="18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04915" y="3257110"/>
            <a:ext cx="438150" cy="0"/>
          </a:xfrm>
          <a:custGeom>
            <a:avLst/>
            <a:gdLst/>
            <a:ahLst/>
            <a:cxnLst/>
            <a:rect l="l" t="t" r="r" b="b"/>
            <a:pathLst>
              <a:path w="438150">
                <a:moveTo>
                  <a:pt x="0" y="0"/>
                </a:moveTo>
                <a:lnTo>
                  <a:pt x="437947" y="0"/>
                </a:lnTo>
              </a:path>
            </a:pathLst>
          </a:custGeom>
          <a:ln w="18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13788" y="3257110"/>
            <a:ext cx="393065" cy="0"/>
          </a:xfrm>
          <a:custGeom>
            <a:avLst/>
            <a:gdLst/>
            <a:ahLst/>
            <a:cxnLst/>
            <a:rect l="l" t="t" r="r" b="b"/>
            <a:pathLst>
              <a:path w="393065">
                <a:moveTo>
                  <a:pt x="0" y="0"/>
                </a:moveTo>
                <a:lnTo>
                  <a:pt x="392844" y="0"/>
                </a:lnTo>
              </a:path>
            </a:pathLst>
          </a:custGeom>
          <a:ln w="18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78247" y="3257110"/>
            <a:ext cx="213995" cy="0"/>
          </a:xfrm>
          <a:custGeom>
            <a:avLst/>
            <a:gdLst/>
            <a:ahLst/>
            <a:cxnLst/>
            <a:rect l="l" t="t" r="r" b="b"/>
            <a:pathLst>
              <a:path w="213995">
                <a:moveTo>
                  <a:pt x="0" y="0"/>
                </a:moveTo>
                <a:lnTo>
                  <a:pt x="213499" y="0"/>
                </a:lnTo>
              </a:path>
            </a:pathLst>
          </a:custGeom>
          <a:ln w="189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44112" y="5396965"/>
            <a:ext cx="2101215" cy="52324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  <a:tabLst>
                <a:tab pos="1607820" algn="l"/>
              </a:tabLst>
            </a:pPr>
            <a:r>
              <a:rPr sz="2950" i="1" spc="50" dirty="0">
                <a:latin typeface="Times New Roman"/>
                <a:cs typeface="Times New Roman"/>
              </a:rPr>
              <a:t>B</a:t>
            </a:r>
            <a:r>
              <a:rPr sz="2550" spc="75" baseline="-24509" dirty="0">
                <a:latin typeface="Times New Roman"/>
                <a:cs typeface="Times New Roman"/>
              </a:rPr>
              <a:t>3</a:t>
            </a:r>
            <a:r>
              <a:rPr sz="2550" spc="-337" baseline="-24509" dirty="0">
                <a:latin typeface="Times New Roman"/>
                <a:cs typeface="Times New Roman"/>
              </a:rPr>
              <a:t> </a:t>
            </a:r>
            <a:r>
              <a:rPr sz="2950" i="1" spc="80" dirty="0">
                <a:latin typeface="Times New Roman"/>
                <a:cs typeface="Times New Roman"/>
              </a:rPr>
              <a:t>B</a:t>
            </a:r>
            <a:r>
              <a:rPr sz="2550" spc="120" baseline="-24509" dirty="0">
                <a:latin typeface="Times New Roman"/>
                <a:cs typeface="Times New Roman"/>
              </a:rPr>
              <a:t>2</a:t>
            </a:r>
            <a:r>
              <a:rPr sz="2550" spc="-247" baseline="-24509" dirty="0">
                <a:latin typeface="Times New Roman"/>
                <a:cs typeface="Times New Roman"/>
              </a:rPr>
              <a:t> </a:t>
            </a:r>
            <a:r>
              <a:rPr sz="2950" i="1" spc="55" dirty="0">
                <a:latin typeface="Times New Roman"/>
                <a:cs typeface="Times New Roman"/>
              </a:rPr>
              <a:t>B</a:t>
            </a:r>
            <a:r>
              <a:rPr sz="2550" spc="82" baseline="-24509" dirty="0">
                <a:latin typeface="Times New Roman"/>
                <a:cs typeface="Times New Roman"/>
              </a:rPr>
              <a:t>1</a:t>
            </a:r>
            <a:r>
              <a:rPr sz="2950" i="1" spc="55" dirty="0">
                <a:latin typeface="Times New Roman"/>
                <a:cs typeface="Times New Roman"/>
              </a:rPr>
              <a:t>B</a:t>
            </a:r>
            <a:r>
              <a:rPr sz="2550" spc="82" baseline="-24509" dirty="0">
                <a:latin typeface="Times New Roman"/>
                <a:cs typeface="Times New Roman"/>
              </a:rPr>
              <a:t>0	</a:t>
            </a:r>
            <a:r>
              <a:rPr sz="2950" spc="295" dirty="0">
                <a:latin typeface="Symbol"/>
                <a:cs typeface="Symbol"/>
              </a:rPr>
              <a:t></a:t>
            </a:r>
            <a:r>
              <a:rPr sz="2950" spc="295" dirty="0">
                <a:latin typeface="Times New Roman"/>
                <a:cs typeface="Times New Roman"/>
              </a:rPr>
              <a:t> </a:t>
            </a:r>
            <a:r>
              <a:rPr sz="2950" spc="-630" dirty="0">
                <a:solidFill>
                  <a:srgbClr val="FF0000"/>
                </a:solidFill>
                <a:latin typeface="Times New Roman"/>
                <a:cs typeface="Times New Roman"/>
              </a:rPr>
              <a:t>?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13573" y="1361254"/>
            <a:ext cx="394970" cy="0"/>
          </a:xfrm>
          <a:custGeom>
            <a:avLst/>
            <a:gdLst/>
            <a:ahLst/>
            <a:cxnLst/>
            <a:rect l="l" t="t" r="r" b="b"/>
            <a:pathLst>
              <a:path w="394970">
                <a:moveTo>
                  <a:pt x="0" y="0"/>
                </a:moveTo>
                <a:lnTo>
                  <a:pt x="394857" y="0"/>
                </a:lnTo>
              </a:path>
            </a:pathLst>
          </a:custGeom>
          <a:ln w="1891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134318" y="1322243"/>
            <a:ext cx="4434840" cy="4806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649095" algn="l"/>
              </a:tabLst>
            </a:pPr>
            <a:r>
              <a:rPr sz="2950" i="1" spc="60" dirty="0">
                <a:latin typeface="Times New Roman"/>
                <a:cs typeface="Times New Roman"/>
              </a:rPr>
              <a:t>B</a:t>
            </a:r>
            <a:r>
              <a:rPr sz="2550" spc="89" baseline="-24509" dirty="0">
                <a:latin typeface="Times New Roman"/>
                <a:cs typeface="Times New Roman"/>
              </a:rPr>
              <a:t>3</a:t>
            </a:r>
            <a:r>
              <a:rPr sz="2550" spc="-352" baseline="-24509" dirty="0">
                <a:latin typeface="Times New Roman"/>
                <a:cs typeface="Times New Roman"/>
              </a:rPr>
              <a:t> </a:t>
            </a:r>
            <a:r>
              <a:rPr sz="2950" i="1" spc="90" dirty="0">
                <a:latin typeface="Times New Roman"/>
                <a:cs typeface="Times New Roman"/>
              </a:rPr>
              <a:t>B</a:t>
            </a:r>
            <a:r>
              <a:rPr sz="2550" spc="135" baseline="-24509" dirty="0">
                <a:latin typeface="Times New Roman"/>
                <a:cs typeface="Times New Roman"/>
              </a:rPr>
              <a:t>2</a:t>
            </a:r>
            <a:r>
              <a:rPr sz="2550" spc="-270" baseline="-24509" dirty="0">
                <a:latin typeface="Times New Roman"/>
                <a:cs typeface="Times New Roman"/>
              </a:rPr>
              <a:t> </a:t>
            </a:r>
            <a:r>
              <a:rPr sz="2950" i="1" spc="60" dirty="0">
                <a:latin typeface="Times New Roman"/>
                <a:cs typeface="Times New Roman"/>
              </a:rPr>
              <a:t>B</a:t>
            </a:r>
            <a:r>
              <a:rPr sz="2550" spc="89" baseline="-24509" dirty="0">
                <a:latin typeface="Times New Roman"/>
                <a:cs typeface="Times New Roman"/>
              </a:rPr>
              <a:t>1</a:t>
            </a:r>
            <a:r>
              <a:rPr sz="2950" i="1" spc="60" dirty="0">
                <a:latin typeface="Times New Roman"/>
                <a:cs typeface="Times New Roman"/>
              </a:rPr>
              <a:t>B</a:t>
            </a:r>
            <a:r>
              <a:rPr sz="2550" spc="89" baseline="-24509" dirty="0">
                <a:latin typeface="Times New Roman"/>
                <a:cs typeface="Times New Roman"/>
              </a:rPr>
              <a:t>0	</a:t>
            </a:r>
            <a:r>
              <a:rPr sz="2950" spc="180" dirty="0">
                <a:latin typeface="Symbol"/>
                <a:cs typeface="Symbol"/>
              </a:rPr>
              <a:t></a:t>
            </a:r>
            <a:r>
              <a:rPr sz="2950" spc="15" dirty="0">
                <a:latin typeface="Times New Roman"/>
                <a:cs typeface="Times New Roman"/>
              </a:rPr>
              <a:t> </a:t>
            </a:r>
            <a:r>
              <a:rPr sz="2950" i="1" spc="270" dirty="0">
                <a:latin typeface="Times New Roman"/>
                <a:cs typeface="Times New Roman"/>
              </a:rPr>
              <a:t>M</a:t>
            </a:r>
            <a:r>
              <a:rPr sz="2950" i="1" spc="-204" dirty="0">
                <a:latin typeface="Times New Roman"/>
                <a:cs typeface="Times New Roman"/>
              </a:rPr>
              <a:t> </a:t>
            </a:r>
            <a:r>
              <a:rPr sz="2950" spc="140" dirty="0">
                <a:latin typeface="Times New Roman"/>
                <a:cs typeface="Times New Roman"/>
              </a:rPr>
              <a:t>(</a:t>
            </a:r>
            <a:r>
              <a:rPr sz="2950" i="1" spc="140" dirty="0">
                <a:latin typeface="Times New Roman"/>
                <a:cs typeface="Times New Roman"/>
              </a:rPr>
              <a:t>D</a:t>
            </a:r>
            <a:r>
              <a:rPr sz="2550" spc="209" baseline="-24509" dirty="0">
                <a:latin typeface="Times New Roman"/>
                <a:cs typeface="Times New Roman"/>
              </a:rPr>
              <a:t>3</a:t>
            </a:r>
            <a:r>
              <a:rPr sz="2550" spc="-367" baseline="-24509" dirty="0">
                <a:latin typeface="Times New Roman"/>
                <a:cs typeface="Times New Roman"/>
              </a:rPr>
              <a:t> </a:t>
            </a:r>
            <a:r>
              <a:rPr sz="2950" i="1" spc="110" dirty="0">
                <a:latin typeface="Times New Roman"/>
                <a:cs typeface="Times New Roman"/>
              </a:rPr>
              <a:t>D</a:t>
            </a:r>
            <a:r>
              <a:rPr sz="2550" spc="165" baseline="-24509" dirty="0">
                <a:latin typeface="Times New Roman"/>
                <a:cs typeface="Times New Roman"/>
              </a:rPr>
              <a:t>2</a:t>
            </a:r>
            <a:r>
              <a:rPr sz="2550" spc="-292" baseline="-24509" dirty="0">
                <a:latin typeface="Times New Roman"/>
                <a:cs typeface="Times New Roman"/>
              </a:rPr>
              <a:t> </a:t>
            </a:r>
            <a:r>
              <a:rPr sz="2950" i="1" spc="75" dirty="0">
                <a:latin typeface="Times New Roman"/>
                <a:cs typeface="Times New Roman"/>
              </a:rPr>
              <a:t>D</a:t>
            </a:r>
            <a:r>
              <a:rPr sz="2550" spc="112" baseline="-24509" dirty="0">
                <a:latin typeface="Times New Roman"/>
                <a:cs typeface="Times New Roman"/>
              </a:rPr>
              <a:t>1</a:t>
            </a:r>
            <a:r>
              <a:rPr sz="2950" i="1" spc="75" dirty="0">
                <a:latin typeface="Times New Roman"/>
                <a:cs typeface="Times New Roman"/>
              </a:rPr>
              <a:t>D</a:t>
            </a:r>
            <a:r>
              <a:rPr sz="2550" spc="112" baseline="-24509" dirty="0">
                <a:latin typeface="Times New Roman"/>
                <a:cs typeface="Times New Roman"/>
              </a:rPr>
              <a:t>0</a:t>
            </a:r>
            <a:r>
              <a:rPr sz="2550" spc="-97" baseline="-24509" dirty="0">
                <a:latin typeface="Times New Roman"/>
                <a:cs typeface="Times New Roman"/>
              </a:rPr>
              <a:t> </a:t>
            </a:r>
            <a:r>
              <a:rPr sz="2950" spc="105" dirty="0">
                <a:latin typeface="Times New Roman"/>
                <a:cs typeface="Times New Roman"/>
              </a:rPr>
              <a:t>)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82373" y="2639890"/>
            <a:ext cx="422909" cy="0"/>
          </a:xfrm>
          <a:custGeom>
            <a:avLst/>
            <a:gdLst/>
            <a:ahLst/>
            <a:cxnLst/>
            <a:rect l="l" t="t" r="r" b="b"/>
            <a:pathLst>
              <a:path w="422910">
                <a:moveTo>
                  <a:pt x="0" y="0"/>
                </a:moveTo>
                <a:lnTo>
                  <a:pt x="422788" y="0"/>
                </a:lnTo>
              </a:path>
            </a:pathLst>
          </a:custGeom>
          <a:ln w="1891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75775" y="2639890"/>
            <a:ext cx="438784" cy="0"/>
          </a:xfrm>
          <a:custGeom>
            <a:avLst/>
            <a:gdLst/>
            <a:ahLst/>
            <a:cxnLst/>
            <a:rect l="l" t="t" r="r" b="b"/>
            <a:pathLst>
              <a:path w="438784">
                <a:moveTo>
                  <a:pt x="0" y="0"/>
                </a:moveTo>
                <a:lnTo>
                  <a:pt x="438449" y="0"/>
                </a:lnTo>
              </a:path>
            </a:pathLst>
          </a:custGeom>
          <a:ln w="1891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85662" y="2639890"/>
            <a:ext cx="394335" cy="0"/>
          </a:xfrm>
          <a:custGeom>
            <a:avLst/>
            <a:gdLst/>
            <a:ahLst/>
            <a:cxnLst/>
            <a:rect l="l" t="t" r="r" b="b"/>
            <a:pathLst>
              <a:path w="394334">
                <a:moveTo>
                  <a:pt x="0" y="0"/>
                </a:moveTo>
                <a:lnTo>
                  <a:pt x="393938" y="0"/>
                </a:lnTo>
              </a:path>
            </a:pathLst>
          </a:custGeom>
          <a:ln w="1891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250008" y="2639890"/>
            <a:ext cx="435609" cy="0"/>
          </a:xfrm>
          <a:custGeom>
            <a:avLst/>
            <a:gdLst/>
            <a:ahLst/>
            <a:cxnLst/>
            <a:rect l="l" t="t" r="r" b="b"/>
            <a:pathLst>
              <a:path w="435609">
                <a:moveTo>
                  <a:pt x="0" y="0"/>
                </a:moveTo>
                <a:lnTo>
                  <a:pt x="435495" y="0"/>
                </a:lnTo>
              </a:path>
            </a:pathLst>
          </a:custGeom>
          <a:ln w="1891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84147" y="5303520"/>
            <a:ext cx="4884420" cy="763905"/>
          </a:xfrm>
          <a:custGeom>
            <a:avLst/>
            <a:gdLst/>
            <a:ahLst/>
            <a:cxnLst/>
            <a:rect l="l" t="t" r="r" b="b"/>
            <a:pathLst>
              <a:path w="4884420" h="763904">
                <a:moveTo>
                  <a:pt x="0" y="763523"/>
                </a:moveTo>
                <a:lnTo>
                  <a:pt x="4884420" y="763523"/>
                </a:lnTo>
                <a:lnTo>
                  <a:pt x="4884420" y="0"/>
                </a:lnTo>
                <a:lnTo>
                  <a:pt x="0" y="0"/>
                </a:lnTo>
                <a:lnTo>
                  <a:pt x="0" y="7635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65860" y="5413247"/>
            <a:ext cx="13970" cy="523240"/>
          </a:xfrm>
          <a:custGeom>
            <a:avLst/>
            <a:gdLst/>
            <a:ahLst/>
            <a:cxnLst/>
            <a:rect l="l" t="t" r="r" b="b"/>
            <a:pathLst>
              <a:path w="13969" h="523239">
                <a:moveTo>
                  <a:pt x="0" y="522731"/>
                </a:moveTo>
                <a:lnTo>
                  <a:pt x="13715" y="522731"/>
                </a:lnTo>
                <a:lnTo>
                  <a:pt x="13715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79575" y="5359908"/>
            <a:ext cx="4889500" cy="635635"/>
          </a:xfrm>
          <a:custGeom>
            <a:avLst/>
            <a:gdLst/>
            <a:ahLst/>
            <a:cxnLst/>
            <a:rect l="l" t="t" r="r" b="b"/>
            <a:pathLst>
              <a:path w="4889500" h="635635">
                <a:moveTo>
                  <a:pt x="0" y="635508"/>
                </a:moveTo>
                <a:lnTo>
                  <a:pt x="4888992" y="635508"/>
                </a:lnTo>
                <a:lnTo>
                  <a:pt x="4888992" y="0"/>
                </a:lnTo>
                <a:lnTo>
                  <a:pt x="0" y="0"/>
                </a:lnTo>
                <a:lnTo>
                  <a:pt x="0" y="6355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6048755" y="3764279"/>
          <a:ext cx="3770629" cy="27717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256">
                <a:tc rowSpan="4">
                  <a:txBody>
                    <a:bodyPr/>
                    <a:lstStyle/>
                    <a:p>
                      <a:pPr marL="104775">
                        <a:lnSpc>
                          <a:spcPts val="3525"/>
                        </a:lnSpc>
                        <a:tabLst>
                          <a:tab pos="567055" algn="l"/>
                        </a:tabLst>
                      </a:pPr>
                      <a:r>
                        <a:rPr sz="3000" i="1" spc="-4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550" spc="-67" baseline="-26143" dirty="0">
                          <a:latin typeface="Times New Roman"/>
                          <a:cs typeface="Times New Roman"/>
                        </a:rPr>
                        <a:t>3	</a:t>
                      </a:r>
                      <a:r>
                        <a:rPr sz="3000" spc="12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000" spc="-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1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550" spc="150" baseline="-26143" dirty="0">
                          <a:latin typeface="Times New Roman"/>
                          <a:cs typeface="Times New Roman"/>
                        </a:rPr>
                        <a:t>3</a:t>
                      </a:r>
                      <a:endParaRPr sz="2550" baseline="-26143">
                        <a:latin typeface="Times New Roman"/>
                        <a:cs typeface="Times New Roman"/>
                      </a:endParaRPr>
                    </a:p>
                    <a:p>
                      <a:pPr marL="104775" marR="156210">
                        <a:lnSpc>
                          <a:spcPct val="127499"/>
                        </a:lnSpc>
                        <a:spcBef>
                          <a:spcPts val="25"/>
                        </a:spcBef>
                        <a:tabLst>
                          <a:tab pos="581660" algn="l"/>
                        </a:tabLst>
                      </a:pPr>
                      <a:r>
                        <a:rPr sz="3000" i="1" spc="-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550" spc="-22" baseline="-24509" dirty="0">
                          <a:latin typeface="Times New Roman"/>
                          <a:cs typeface="Times New Roman"/>
                        </a:rPr>
                        <a:t>2	</a:t>
                      </a:r>
                      <a:r>
                        <a:rPr sz="3000" spc="12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000" spc="-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13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550" spc="202" baseline="-24509" dirty="0">
                          <a:latin typeface="Times New Roman"/>
                          <a:cs typeface="Times New Roman"/>
                        </a:rPr>
                        <a:t>2  </a:t>
                      </a:r>
                      <a:r>
                        <a:rPr sz="3000" i="1" spc="-114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550" spc="-172" baseline="-24509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3000" spc="12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0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3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550" spc="44" baseline="-24509" dirty="0">
                          <a:latin typeface="Times New Roman"/>
                          <a:cs typeface="Times New Roman"/>
                        </a:rPr>
                        <a:t>1</a:t>
                      </a:r>
                      <a:endParaRPr sz="2550" baseline="-24509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3829"/>
                        </a:lnSpc>
                        <a:spcBef>
                          <a:spcPts val="80"/>
                        </a:spcBef>
                        <a:tabLst>
                          <a:tab pos="578485" algn="l"/>
                        </a:tabLst>
                      </a:pPr>
                      <a:r>
                        <a:rPr sz="5850" spc="-345" baseline="11396" dirty="0">
                          <a:latin typeface="Symbol"/>
                          <a:cs typeface="Symbol"/>
                        </a:rPr>
                        <a:t></a:t>
                      </a:r>
                      <a:r>
                        <a:rPr sz="5850" spc="-637" baseline="1139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130" dirty="0">
                          <a:latin typeface="Times New Roman"/>
                          <a:cs typeface="Times New Roman"/>
                        </a:rPr>
                        <a:t>A	</a:t>
                      </a:r>
                      <a:r>
                        <a:rPr sz="3000" spc="12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000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145" dirty="0">
                          <a:latin typeface="Times New Roman"/>
                          <a:cs typeface="Times New Roman"/>
                        </a:rPr>
                        <a:t>C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321945">
                        <a:lnSpc>
                          <a:spcPts val="1190"/>
                        </a:lnSpc>
                        <a:tabLst>
                          <a:tab pos="1165225" algn="l"/>
                        </a:tabLst>
                      </a:pPr>
                      <a:r>
                        <a:rPr sz="1700" spc="75" dirty="0">
                          <a:latin typeface="Times New Roman"/>
                          <a:cs typeface="Times New Roman"/>
                        </a:rPr>
                        <a:t>0	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ts val="3545"/>
                        </a:lnSpc>
                        <a:spcBef>
                          <a:spcPts val="495"/>
                        </a:spcBef>
                      </a:pPr>
                      <a:r>
                        <a:rPr sz="3000" i="1" spc="130" dirty="0">
                          <a:latin typeface="Times New Roman"/>
                          <a:cs typeface="Times New Roman"/>
                        </a:rPr>
                        <a:t>CI </a:t>
                      </a:r>
                      <a:r>
                        <a:rPr sz="3000" spc="12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0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180" dirty="0">
                          <a:latin typeface="Times New Roman"/>
                          <a:cs typeface="Times New Roman"/>
                        </a:rPr>
                        <a:t>M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800000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800000"/>
                      </a:solidFill>
                      <a:prstDash val="solid"/>
                    </a:lnT>
                    <a:lnB w="28575">
                      <a:solidFill>
                        <a:srgbClr val="8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>
                      <a:solidFill>
                        <a:srgbClr val="8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0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800000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800000"/>
                      </a:solidFill>
                      <a:prstDash val="solid"/>
                    </a:lnT>
                    <a:lnB w="28575">
                      <a:solidFill>
                        <a:srgbClr val="8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3560"/>
                        </a:lnSpc>
                        <a:tabLst>
                          <a:tab pos="588010" algn="l"/>
                        </a:tabLst>
                      </a:pPr>
                      <a:r>
                        <a:rPr sz="3000" i="1" spc="3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550" spc="52" baseline="-24509" dirty="0">
                          <a:latin typeface="Times New Roman"/>
                          <a:cs typeface="Times New Roman"/>
                        </a:rPr>
                        <a:t>3	</a:t>
                      </a:r>
                      <a:r>
                        <a:rPr sz="3000" spc="125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0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190" dirty="0">
                          <a:latin typeface="Times New Roman"/>
                          <a:cs typeface="Times New Roman"/>
                        </a:rPr>
                        <a:t>M </a:t>
                      </a:r>
                      <a:r>
                        <a:rPr sz="3000" spc="175" dirty="0">
                          <a:latin typeface="Symbol"/>
                          <a:cs typeface="Symbol"/>
                        </a:rPr>
                        <a:t></a:t>
                      </a:r>
                      <a:r>
                        <a:rPr sz="300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4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550" spc="67" baseline="-24509" dirty="0">
                          <a:latin typeface="Times New Roman"/>
                          <a:cs typeface="Times New Roman"/>
                        </a:rPr>
                        <a:t>3</a:t>
                      </a:r>
                      <a:endParaRPr sz="2550" baseline="-24509">
                        <a:latin typeface="Times New Roman"/>
                        <a:cs typeface="Times New Roman"/>
                      </a:endParaRPr>
                    </a:p>
                    <a:p>
                      <a:pPr marL="107950" marR="99060">
                        <a:lnSpc>
                          <a:spcPts val="4570"/>
                        </a:lnSpc>
                        <a:spcBef>
                          <a:spcPts val="335"/>
                        </a:spcBef>
                        <a:tabLst>
                          <a:tab pos="603250" algn="l"/>
                        </a:tabLst>
                      </a:pPr>
                      <a:r>
                        <a:rPr sz="3000" i="1" spc="6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550" spc="97" baseline="-24509" dirty="0">
                          <a:latin typeface="Times New Roman"/>
                          <a:cs typeface="Times New Roman"/>
                        </a:rPr>
                        <a:t>2	</a:t>
                      </a:r>
                      <a:r>
                        <a:rPr sz="3000" spc="125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0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190" dirty="0">
                          <a:latin typeface="Times New Roman"/>
                          <a:cs typeface="Times New Roman"/>
                        </a:rPr>
                        <a:t>M </a:t>
                      </a:r>
                      <a:r>
                        <a:rPr sz="3000" spc="175" dirty="0">
                          <a:latin typeface="Symbol"/>
                          <a:cs typeface="Symbol"/>
                        </a:rPr>
                        <a:t></a:t>
                      </a:r>
                      <a:r>
                        <a:rPr sz="300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8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550" spc="120" baseline="-24509" dirty="0">
                          <a:latin typeface="Times New Roman"/>
                          <a:cs typeface="Times New Roman"/>
                        </a:rPr>
                        <a:t>2  </a:t>
                      </a:r>
                      <a:r>
                        <a:rPr sz="3000" i="1" spc="-4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550" spc="-60" baseline="-24509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3000" spc="125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0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190" dirty="0">
                          <a:latin typeface="Times New Roman"/>
                          <a:cs typeface="Times New Roman"/>
                        </a:rPr>
                        <a:t>M </a:t>
                      </a:r>
                      <a:r>
                        <a:rPr sz="3000" spc="175" dirty="0">
                          <a:latin typeface="Symbol"/>
                          <a:cs typeface="Symbol"/>
                        </a:rPr>
                        <a:t></a:t>
                      </a:r>
                      <a:r>
                        <a:rPr sz="3000" spc="-3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-2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550" spc="-37" baseline="-24509" dirty="0">
                          <a:latin typeface="Times New Roman"/>
                          <a:cs typeface="Times New Roman"/>
                        </a:rPr>
                        <a:t>1</a:t>
                      </a:r>
                      <a:endParaRPr sz="2550" baseline="-24509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28575">
                      <a:solidFill>
                        <a:srgbClr val="8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6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800000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800000"/>
                      </a:solidFill>
                      <a:prstDash val="solid"/>
                    </a:lnT>
                    <a:lnB w="28575">
                      <a:solidFill>
                        <a:srgbClr val="8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1814"/>
                        </a:spcBef>
                        <a:tabLst>
                          <a:tab pos="600075" algn="l"/>
                        </a:tabLst>
                      </a:pPr>
                      <a:r>
                        <a:rPr sz="3000" i="1" spc="5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550" spc="75" baseline="-24509" dirty="0">
                          <a:latin typeface="Times New Roman"/>
                          <a:cs typeface="Times New Roman"/>
                        </a:rPr>
                        <a:t>0	</a:t>
                      </a:r>
                      <a:r>
                        <a:rPr sz="3000" spc="125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0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190" dirty="0">
                          <a:latin typeface="Times New Roman"/>
                          <a:cs typeface="Times New Roman"/>
                        </a:rPr>
                        <a:t>M </a:t>
                      </a:r>
                      <a:r>
                        <a:rPr sz="3000" spc="175" dirty="0">
                          <a:latin typeface="Symbol"/>
                          <a:cs typeface="Symbol"/>
                        </a:rPr>
                        <a:t></a:t>
                      </a:r>
                      <a:r>
                        <a:rPr sz="30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i="1" spc="7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550" spc="104" baseline="-24509" dirty="0">
                          <a:latin typeface="Times New Roman"/>
                          <a:cs typeface="Times New Roman"/>
                        </a:rPr>
                        <a:t>0</a:t>
                      </a:r>
                      <a:endParaRPr sz="2550" baseline="-24509">
                        <a:latin typeface="Times New Roman"/>
                        <a:cs typeface="Times New Roman"/>
                      </a:endParaRPr>
                    </a:p>
                  </a:txBody>
                  <a:tcPr marL="0" marR="0" marT="230504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800000"/>
                      </a:solidFill>
                      <a:prstDash val="solid"/>
                    </a:lnR>
                    <a:lnB w="28575">
                      <a:solidFill>
                        <a:srgbClr val="8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800000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800000"/>
                      </a:solidFill>
                      <a:prstDash val="solid"/>
                    </a:lnT>
                    <a:lnB w="28575">
                      <a:solidFill>
                        <a:srgbClr val="8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800000"/>
                      </a:solidFill>
                      <a:prstDash val="solid"/>
                    </a:lnL>
                    <a:lnT w="28575">
                      <a:solidFill>
                        <a:srgbClr val="8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21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23240" y="2243073"/>
            <a:ext cx="7628255" cy="3639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ts val="3110"/>
              </a:lnSpc>
              <a:spcBef>
                <a:spcPts val="95"/>
              </a:spcBef>
            </a:pP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M=1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时</a:t>
            </a:r>
            <a:endParaRPr sz="2800" dirty="0">
              <a:latin typeface="华文楷体"/>
              <a:cs typeface="华文楷体"/>
            </a:endParaRPr>
          </a:p>
          <a:p>
            <a:pPr marL="2766060">
              <a:lnSpc>
                <a:spcPts val="3290"/>
              </a:lnSpc>
              <a:tabLst>
                <a:tab pos="4378325" algn="l"/>
              </a:tabLst>
            </a:pPr>
            <a:r>
              <a:rPr sz="2950" i="1" spc="55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2550" spc="82" baseline="-24509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2550" spc="-345" baseline="-2450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950" i="1" spc="85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2550" spc="127" baseline="-24509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2550" spc="-254" baseline="-2450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950" i="1" spc="6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2550" spc="89" baseline="-24509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2950" i="1" spc="6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2550" spc="89" baseline="-24509" dirty="0">
                <a:solidFill>
                  <a:srgbClr val="0000FF"/>
                </a:solidFill>
                <a:latin typeface="Times New Roman"/>
                <a:cs typeface="Times New Roman"/>
              </a:rPr>
              <a:t>0	</a:t>
            </a:r>
            <a:r>
              <a:rPr sz="2950" spc="175" dirty="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sz="2950" spc="1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950" i="1" spc="-220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2950" spc="-220" dirty="0">
                <a:solidFill>
                  <a:srgbClr val="0000FF"/>
                </a:solidFill>
                <a:latin typeface="华文楷体"/>
                <a:cs typeface="华文楷体"/>
              </a:rPr>
              <a:t>（</a:t>
            </a:r>
            <a:r>
              <a:rPr sz="2950" i="1" spc="-22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2550" spc="-330" baseline="-24509" dirty="0">
                <a:solidFill>
                  <a:srgbClr val="0000FF"/>
                </a:solidFill>
                <a:latin typeface="Times New Roman"/>
                <a:cs typeface="Times New Roman"/>
              </a:rPr>
              <a:t>3 </a:t>
            </a:r>
            <a:r>
              <a:rPr sz="2950" i="1" spc="1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2550" spc="165" baseline="-24509" dirty="0">
                <a:solidFill>
                  <a:srgbClr val="0000FF"/>
                </a:solidFill>
                <a:latin typeface="Times New Roman"/>
                <a:cs typeface="Times New Roman"/>
              </a:rPr>
              <a:t>2 </a:t>
            </a:r>
            <a:r>
              <a:rPr sz="2950" i="1" spc="5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2550" spc="7" baseline="-24509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2550" spc="359" baseline="-2450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950" i="1" spc="14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2550" spc="209" baseline="-24509" dirty="0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r>
              <a:rPr sz="2950" spc="140" dirty="0">
                <a:solidFill>
                  <a:srgbClr val="0000FF"/>
                </a:solidFill>
                <a:latin typeface="华文楷体"/>
                <a:cs typeface="华文楷体"/>
              </a:rPr>
              <a:t>）</a:t>
            </a:r>
            <a:endParaRPr sz="2950" dirty="0">
              <a:latin typeface="华文楷体"/>
              <a:cs typeface="华文楷体"/>
            </a:endParaRPr>
          </a:p>
          <a:p>
            <a:pPr marL="1494790">
              <a:lnSpc>
                <a:spcPct val="100000"/>
              </a:lnSpc>
              <a:spcBef>
                <a:spcPts val="1320"/>
              </a:spcBef>
              <a:tabLst>
                <a:tab pos="3006725" algn="l"/>
              </a:tabLst>
            </a:pPr>
            <a:r>
              <a:rPr sz="2950" i="1" spc="195" dirty="0">
                <a:latin typeface="Times New Roman"/>
                <a:cs typeface="Times New Roman"/>
              </a:rPr>
              <a:t>S</a:t>
            </a:r>
            <a:r>
              <a:rPr sz="2550" spc="292" baseline="-24509" dirty="0">
                <a:latin typeface="Times New Roman"/>
                <a:cs typeface="Times New Roman"/>
              </a:rPr>
              <a:t>3</a:t>
            </a:r>
            <a:r>
              <a:rPr sz="2950" i="1" spc="195" dirty="0">
                <a:latin typeface="Times New Roman"/>
                <a:cs typeface="Times New Roman"/>
              </a:rPr>
              <a:t>S</a:t>
            </a:r>
            <a:r>
              <a:rPr sz="2550" spc="292" baseline="-24509" dirty="0">
                <a:latin typeface="Times New Roman"/>
                <a:cs typeface="Times New Roman"/>
              </a:rPr>
              <a:t>2</a:t>
            </a:r>
            <a:r>
              <a:rPr sz="2550" spc="-345" baseline="-24509" dirty="0">
                <a:latin typeface="Times New Roman"/>
                <a:cs typeface="Times New Roman"/>
              </a:rPr>
              <a:t> </a:t>
            </a:r>
            <a:r>
              <a:rPr sz="2950" i="1" spc="130" dirty="0">
                <a:latin typeface="Times New Roman"/>
                <a:cs typeface="Times New Roman"/>
              </a:rPr>
              <a:t>S</a:t>
            </a:r>
            <a:r>
              <a:rPr sz="2550" spc="195" baseline="-24509" dirty="0">
                <a:latin typeface="Times New Roman"/>
                <a:cs typeface="Times New Roman"/>
              </a:rPr>
              <a:t>1</a:t>
            </a:r>
            <a:r>
              <a:rPr sz="2950" i="1" spc="130" dirty="0">
                <a:latin typeface="Times New Roman"/>
                <a:cs typeface="Times New Roman"/>
              </a:rPr>
              <a:t>S</a:t>
            </a:r>
            <a:r>
              <a:rPr sz="2550" spc="195" baseline="-24509" dirty="0">
                <a:latin typeface="Times New Roman"/>
                <a:cs typeface="Times New Roman"/>
              </a:rPr>
              <a:t>0	</a:t>
            </a:r>
            <a:r>
              <a:rPr sz="2950" spc="180" dirty="0">
                <a:latin typeface="Symbol"/>
                <a:cs typeface="Symbol"/>
              </a:rPr>
              <a:t></a:t>
            </a:r>
            <a:r>
              <a:rPr sz="2950" spc="180" dirty="0">
                <a:latin typeface="Times New Roman"/>
                <a:cs typeface="Times New Roman"/>
              </a:rPr>
              <a:t> </a:t>
            </a:r>
            <a:r>
              <a:rPr sz="2950" i="1" spc="220" dirty="0">
                <a:latin typeface="Times New Roman"/>
                <a:cs typeface="Times New Roman"/>
              </a:rPr>
              <a:t>C C C</a:t>
            </a:r>
            <a:r>
              <a:rPr sz="2950" i="1" spc="-450" dirty="0">
                <a:latin typeface="Times New Roman"/>
                <a:cs typeface="Times New Roman"/>
              </a:rPr>
              <a:t> </a:t>
            </a:r>
            <a:r>
              <a:rPr sz="2950" i="1" spc="220" dirty="0">
                <a:latin typeface="Times New Roman"/>
                <a:cs typeface="Times New Roman"/>
              </a:rPr>
              <a:t>C</a:t>
            </a:r>
            <a:endParaRPr sz="2950" dirty="0">
              <a:latin typeface="Times New Roman"/>
              <a:cs typeface="Times New Roman"/>
            </a:endParaRPr>
          </a:p>
          <a:p>
            <a:pPr marL="695325">
              <a:lnSpc>
                <a:spcPct val="100000"/>
              </a:lnSpc>
              <a:spcBef>
                <a:spcPts val="1950"/>
              </a:spcBef>
              <a:tabLst>
                <a:tab pos="1249045" algn="l"/>
              </a:tabLst>
            </a:pPr>
            <a:r>
              <a:rPr sz="2900" i="1" spc="165" dirty="0">
                <a:solidFill>
                  <a:srgbClr val="FF0000"/>
                </a:solidFill>
                <a:latin typeface="Times New Roman"/>
                <a:cs typeface="Times New Roman"/>
              </a:rPr>
              <a:t>CI	</a:t>
            </a:r>
            <a:r>
              <a:rPr sz="2900" spc="155" dirty="0">
                <a:solidFill>
                  <a:srgbClr val="FF0000"/>
                </a:solidFill>
                <a:latin typeface="Symbol"/>
                <a:cs typeface="Symbol"/>
              </a:rPr>
              <a:t></a:t>
            </a:r>
            <a:endParaRPr sz="2900" dirty="0">
              <a:latin typeface="Symbol"/>
              <a:cs typeface="Symbol"/>
            </a:endParaRPr>
          </a:p>
          <a:p>
            <a:pPr marL="740410">
              <a:lnSpc>
                <a:spcPct val="100000"/>
              </a:lnSpc>
              <a:spcBef>
                <a:spcPts val="2425"/>
              </a:spcBef>
              <a:tabLst>
                <a:tab pos="2332355" algn="l"/>
              </a:tabLst>
            </a:pPr>
            <a:r>
              <a:rPr sz="2950" i="1" spc="-25" dirty="0">
                <a:latin typeface="Times New Roman"/>
                <a:cs typeface="Times New Roman"/>
              </a:rPr>
              <a:t>A</a:t>
            </a:r>
            <a:r>
              <a:rPr sz="2550" spc="-37" baseline="-24509" dirty="0">
                <a:latin typeface="Times New Roman"/>
                <a:cs typeface="Times New Roman"/>
              </a:rPr>
              <a:t>3 </a:t>
            </a:r>
            <a:r>
              <a:rPr sz="2950" i="1" spc="5" dirty="0">
                <a:latin typeface="Times New Roman"/>
                <a:cs typeface="Times New Roman"/>
              </a:rPr>
              <a:t>A</a:t>
            </a:r>
            <a:r>
              <a:rPr sz="2550" spc="7" baseline="-24509" dirty="0">
                <a:latin typeface="Times New Roman"/>
                <a:cs typeface="Times New Roman"/>
              </a:rPr>
              <a:t>2</a:t>
            </a:r>
            <a:r>
              <a:rPr sz="2550" spc="-67" baseline="-24509" dirty="0">
                <a:latin typeface="Times New Roman"/>
                <a:cs typeface="Times New Roman"/>
              </a:rPr>
              <a:t> </a:t>
            </a:r>
            <a:r>
              <a:rPr sz="2950" i="1" spc="-95" dirty="0">
                <a:latin typeface="Times New Roman"/>
                <a:cs typeface="Times New Roman"/>
              </a:rPr>
              <a:t>A</a:t>
            </a:r>
            <a:r>
              <a:rPr sz="2550" spc="-142" baseline="-24509" dirty="0">
                <a:latin typeface="Times New Roman"/>
                <a:cs typeface="Times New Roman"/>
              </a:rPr>
              <a:t>1</a:t>
            </a:r>
            <a:r>
              <a:rPr sz="2550" spc="-232" baseline="-24509" dirty="0">
                <a:latin typeface="Times New Roman"/>
                <a:cs typeface="Times New Roman"/>
              </a:rPr>
              <a:t> </a:t>
            </a:r>
            <a:r>
              <a:rPr sz="2950" i="1" spc="-5" dirty="0">
                <a:latin typeface="Times New Roman"/>
                <a:cs typeface="Times New Roman"/>
              </a:rPr>
              <a:t>A</a:t>
            </a:r>
            <a:r>
              <a:rPr sz="2550" spc="-7" baseline="-24509" dirty="0">
                <a:latin typeface="Times New Roman"/>
                <a:cs typeface="Times New Roman"/>
              </a:rPr>
              <a:t>0	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-90" dirty="0">
                <a:latin typeface="Times New Roman"/>
                <a:cs typeface="Times New Roman"/>
              </a:rPr>
              <a:t> </a:t>
            </a:r>
            <a:r>
              <a:rPr sz="2950" i="1" spc="114" dirty="0">
                <a:latin typeface="Times New Roman"/>
                <a:cs typeface="Times New Roman"/>
              </a:rPr>
              <a:t>C</a:t>
            </a:r>
            <a:r>
              <a:rPr sz="2550" spc="172" baseline="-24509" dirty="0">
                <a:latin typeface="Times New Roman"/>
                <a:cs typeface="Times New Roman"/>
              </a:rPr>
              <a:t>3</a:t>
            </a:r>
            <a:r>
              <a:rPr sz="2950" i="1" spc="114" dirty="0">
                <a:latin typeface="Times New Roman"/>
                <a:cs typeface="Times New Roman"/>
              </a:rPr>
              <a:t>C</a:t>
            </a:r>
            <a:r>
              <a:rPr sz="2550" spc="172" baseline="-24509" dirty="0">
                <a:latin typeface="Times New Roman"/>
                <a:cs typeface="Times New Roman"/>
              </a:rPr>
              <a:t>2</a:t>
            </a:r>
            <a:r>
              <a:rPr sz="2950" i="1" spc="114" dirty="0">
                <a:latin typeface="Times New Roman"/>
                <a:cs typeface="Times New Roman"/>
              </a:rPr>
              <a:t>C</a:t>
            </a:r>
            <a:r>
              <a:rPr sz="2550" spc="172" baseline="-24509" dirty="0">
                <a:latin typeface="Times New Roman"/>
                <a:cs typeface="Times New Roman"/>
              </a:rPr>
              <a:t>1</a:t>
            </a:r>
            <a:r>
              <a:rPr sz="2950" i="1" spc="114" dirty="0">
                <a:latin typeface="Times New Roman"/>
                <a:cs typeface="Times New Roman"/>
              </a:rPr>
              <a:t>C</a:t>
            </a:r>
            <a:r>
              <a:rPr sz="2550" spc="172" baseline="-24509" dirty="0">
                <a:latin typeface="Times New Roman"/>
                <a:cs typeface="Times New Roman"/>
              </a:rPr>
              <a:t>0</a:t>
            </a:r>
            <a:endParaRPr sz="2550" baseline="-24509" dirty="0">
              <a:latin typeface="Times New Roman"/>
              <a:cs typeface="Times New Roman"/>
            </a:endParaRPr>
          </a:p>
          <a:p>
            <a:pPr marL="731520">
              <a:lnSpc>
                <a:spcPct val="100000"/>
              </a:lnSpc>
              <a:spcBef>
                <a:spcPts val="1130"/>
              </a:spcBef>
              <a:tabLst>
                <a:tab pos="2344420" algn="l"/>
              </a:tabLst>
            </a:pPr>
            <a:r>
              <a:rPr sz="2950" i="1" spc="60" dirty="0">
                <a:latin typeface="Times New Roman"/>
                <a:cs typeface="Times New Roman"/>
              </a:rPr>
              <a:t>B</a:t>
            </a:r>
            <a:r>
              <a:rPr sz="2550" spc="89" baseline="-24509" dirty="0">
                <a:latin typeface="Times New Roman"/>
                <a:cs typeface="Times New Roman"/>
              </a:rPr>
              <a:t>3</a:t>
            </a:r>
            <a:r>
              <a:rPr sz="2550" spc="-352" baseline="-24509" dirty="0">
                <a:latin typeface="Times New Roman"/>
                <a:cs typeface="Times New Roman"/>
              </a:rPr>
              <a:t> </a:t>
            </a:r>
            <a:r>
              <a:rPr sz="2950" i="1" spc="90" dirty="0">
                <a:latin typeface="Times New Roman"/>
                <a:cs typeface="Times New Roman"/>
              </a:rPr>
              <a:t>B</a:t>
            </a:r>
            <a:r>
              <a:rPr sz="2550" spc="135" baseline="-24509" dirty="0">
                <a:latin typeface="Times New Roman"/>
                <a:cs typeface="Times New Roman"/>
              </a:rPr>
              <a:t>2</a:t>
            </a:r>
            <a:r>
              <a:rPr sz="2550" spc="-254" baseline="-24509" dirty="0">
                <a:latin typeface="Times New Roman"/>
                <a:cs typeface="Times New Roman"/>
              </a:rPr>
              <a:t> </a:t>
            </a:r>
            <a:r>
              <a:rPr sz="2950" i="1" spc="60" dirty="0">
                <a:latin typeface="Times New Roman"/>
                <a:cs typeface="Times New Roman"/>
              </a:rPr>
              <a:t>B</a:t>
            </a:r>
            <a:r>
              <a:rPr sz="2550" spc="89" baseline="-24509" dirty="0">
                <a:latin typeface="Times New Roman"/>
                <a:cs typeface="Times New Roman"/>
              </a:rPr>
              <a:t>1</a:t>
            </a:r>
            <a:r>
              <a:rPr sz="2950" i="1" spc="60" dirty="0">
                <a:latin typeface="Times New Roman"/>
                <a:cs typeface="Times New Roman"/>
              </a:rPr>
              <a:t>B</a:t>
            </a:r>
            <a:r>
              <a:rPr sz="2550" spc="89" baseline="-24509" dirty="0">
                <a:latin typeface="Times New Roman"/>
                <a:cs typeface="Times New Roman"/>
              </a:rPr>
              <a:t>0	</a:t>
            </a:r>
            <a:r>
              <a:rPr sz="2950" spc="175" dirty="0">
                <a:latin typeface="Symbol"/>
                <a:cs typeface="Symbol"/>
              </a:rPr>
              <a:t></a:t>
            </a:r>
            <a:r>
              <a:rPr sz="2950" spc="45" dirty="0">
                <a:latin typeface="Times New Roman"/>
                <a:cs typeface="Times New Roman"/>
              </a:rPr>
              <a:t> </a:t>
            </a:r>
            <a:r>
              <a:rPr sz="2950" i="1" spc="265" dirty="0">
                <a:latin typeface="Times New Roman"/>
                <a:cs typeface="Times New Roman"/>
              </a:rPr>
              <a:t>M</a:t>
            </a:r>
            <a:r>
              <a:rPr sz="2950" i="1" spc="270" dirty="0">
                <a:latin typeface="Times New Roman"/>
                <a:cs typeface="Times New Roman"/>
              </a:rPr>
              <a:t> </a:t>
            </a:r>
            <a:r>
              <a:rPr sz="2950" spc="245" dirty="0">
                <a:latin typeface="Symbol"/>
                <a:cs typeface="Symbol"/>
              </a:rPr>
              <a:t></a:t>
            </a:r>
            <a:r>
              <a:rPr sz="2950" spc="-300" dirty="0">
                <a:latin typeface="Times New Roman"/>
                <a:cs typeface="Times New Roman"/>
              </a:rPr>
              <a:t> </a:t>
            </a:r>
            <a:r>
              <a:rPr sz="5850" spc="-345" baseline="-2849" dirty="0">
                <a:latin typeface="Symbol"/>
                <a:cs typeface="Symbol"/>
              </a:rPr>
              <a:t></a:t>
            </a:r>
            <a:r>
              <a:rPr sz="5850" spc="-930" baseline="-2849" dirty="0">
                <a:latin typeface="Times New Roman"/>
                <a:cs typeface="Times New Roman"/>
              </a:rPr>
              <a:t> </a:t>
            </a:r>
            <a:r>
              <a:rPr sz="2950" i="1" spc="80" dirty="0">
                <a:latin typeface="Times New Roman"/>
                <a:cs typeface="Times New Roman"/>
              </a:rPr>
              <a:t>D</a:t>
            </a:r>
            <a:r>
              <a:rPr sz="2550" spc="120" baseline="-24509" dirty="0">
                <a:latin typeface="Times New Roman"/>
                <a:cs typeface="Times New Roman"/>
              </a:rPr>
              <a:t>3</a:t>
            </a:r>
            <a:r>
              <a:rPr sz="2550" spc="-359" baseline="-24509" dirty="0">
                <a:latin typeface="Times New Roman"/>
                <a:cs typeface="Times New Roman"/>
              </a:rPr>
              <a:t> </a:t>
            </a:r>
            <a:r>
              <a:rPr sz="2950" i="1" spc="110" dirty="0">
                <a:latin typeface="Times New Roman"/>
                <a:cs typeface="Times New Roman"/>
              </a:rPr>
              <a:t>D</a:t>
            </a:r>
            <a:r>
              <a:rPr sz="2550" spc="165" baseline="-24509" dirty="0">
                <a:latin typeface="Times New Roman"/>
                <a:cs typeface="Times New Roman"/>
              </a:rPr>
              <a:t>2</a:t>
            </a:r>
            <a:r>
              <a:rPr sz="2550" spc="-277" baseline="-24509" dirty="0">
                <a:latin typeface="Times New Roman"/>
                <a:cs typeface="Times New Roman"/>
              </a:rPr>
              <a:t> </a:t>
            </a:r>
            <a:r>
              <a:rPr sz="2950" i="1" spc="75" dirty="0">
                <a:latin typeface="Times New Roman"/>
                <a:cs typeface="Times New Roman"/>
              </a:rPr>
              <a:t>D</a:t>
            </a:r>
            <a:r>
              <a:rPr sz="2550" spc="112" baseline="-24509" dirty="0">
                <a:latin typeface="Times New Roman"/>
                <a:cs typeface="Times New Roman"/>
              </a:rPr>
              <a:t>1</a:t>
            </a:r>
            <a:r>
              <a:rPr sz="2950" i="1" spc="75" dirty="0">
                <a:latin typeface="Times New Roman"/>
                <a:cs typeface="Times New Roman"/>
              </a:rPr>
              <a:t>D</a:t>
            </a:r>
            <a:r>
              <a:rPr sz="2550" spc="112" baseline="-24509" dirty="0">
                <a:latin typeface="Times New Roman"/>
                <a:cs typeface="Times New Roman"/>
              </a:rPr>
              <a:t>0</a:t>
            </a:r>
            <a:endParaRPr sz="2550" baseline="-24509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7413625" cy="0"/>
          </a:xfrm>
          <a:custGeom>
            <a:avLst/>
            <a:gdLst/>
            <a:ahLst/>
            <a:cxnLst/>
            <a:rect l="l" t="t" r="r" b="b"/>
            <a:pathLst>
              <a:path w="7413625">
                <a:moveTo>
                  <a:pt x="0" y="0"/>
                </a:moveTo>
                <a:lnTo>
                  <a:pt x="741349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61584" y="6520688"/>
            <a:ext cx="297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Franklin Gothic Medium"/>
                <a:cs typeface="Franklin Gothic Medium"/>
              </a:rPr>
              <a:t>22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7928" y="1802161"/>
            <a:ext cx="5859780" cy="1885950"/>
          </a:xfrm>
          <a:custGeom>
            <a:avLst/>
            <a:gdLst/>
            <a:ahLst/>
            <a:cxnLst/>
            <a:rect l="l" t="t" r="r" b="b"/>
            <a:pathLst>
              <a:path w="5859780" h="1885950">
                <a:moveTo>
                  <a:pt x="0" y="1885844"/>
                </a:moveTo>
                <a:lnTo>
                  <a:pt x="5859416" y="1885844"/>
                </a:lnTo>
                <a:lnTo>
                  <a:pt x="5859416" y="0"/>
                </a:lnTo>
                <a:lnTo>
                  <a:pt x="0" y="0"/>
                </a:lnTo>
                <a:lnTo>
                  <a:pt x="0" y="1885844"/>
                </a:lnTo>
                <a:close/>
              </a:path>
            </a:pathLst>
          </a:custGeom>
          <a:ln w="597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13870" y="3698061"/>
            <a:ext cx="0" cy="259715"/>
          </a:xfrm>
          <a:custGeom>
            <a:avLst/>
            <a:gdLst/>
            <a:ahLst/>
            <a:cxnLst/>
            <a:rect l="l" t="t" r="r" b="b"/>
            <a:pathLst>
              <a:path h="259714">
                <a:moveTo>
                  <a:pt x="0" y="0"/>
                </a:moveTo>
                <a:lnTo>
                  <a:pt x="0" y="259355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85774" y="3698061"/>
            <a:ext cx="0" cy="259715"/>
          </a:xfrm>
          <a:custGeom>
            <a:avLst/>
            <a:gdLst/>
            <a:ahLst/>
            <a:cxnLst/>
            <a:rect l="l" t="t" r="r" b="b"/>
            <a:pathLst>
              <a:path h="259714">
                <a:moveTo>
                  <a:pt x="0" y="0"/>
                </a:moveTo>
                <a:lnTo>
                  <a:pt x="0" y="259355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77507" y="3711746"/>
            <a:ext cx="45085" cy="245745"/>
          </a:xfrm>
          <a:custGeom>
            <a:avLst/>
            <a:gdLst/>
            <a:ahLst/>
            <a:cxnLst/>
            <a:rect l="l" t="t" r="r" b="b"/>
            <a:pathLst>
              <a:path w="45085" h="245745">
                <a:moveTo>
                  <a:pt x="0" y="245669"/>
                </a:moveTo>
                <a:lnTo>
                  <a:pt x="44649" y="245669"/>
                </a:lnTo>
                <a:lnTo>
                  <a:pt x="44649" y="0"/>
                </a:lnTo>
                <a:lnTo>
                  <a:pt x="0" y="0"/>
                </a:lnTo>
                <a:lnTo>
                  <a:pt x="0" y="2456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71716" y="3692002"/>
            <a:ext cx="0" cy="265430"/>
          </a:xfrm>
          <a:custGeom>
            <a:avLst/>
            <a:gdLst/>
            <a:ahLst/>
            <a:cxnLst/>
            <a:rect l="l" t="t" r="r" b="b"/>
            <a:pathLst>
              <a:path h="265429">
                <a:moveTo>
                  <a:pt x="0" y="0"/>
                </a:moveTo>
                <a:lnTo>
                  <a:pt x="0" y="265414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43558" y="3692002"/>
            <a:ext cx="0" cy="265430"/>
          </a:xfrm>
          <a:custGeom>
            <a:avLst/>
            <a:gdLst/>
            <a:ahLst/>
            <a:cxnLst/>
            <a:rect l="l" t="t" r="r" b="b"/>
            <a:pathLst>
              <a:path h="265429">
                <a:moveTo>
                  <a:pt x="0" y="0"/>
                </a:moveTo>
                <a:lnTo>
                  <a:pt x="0" y="265414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57740" y="3701691"/>
            <a:ext cx="0" cy="255904"/>
          </a:xfrm>
          <a:custGeom>
            <a:avLst/>
            <a:gdLst/>
            <a:ahLst/>
            <a:cxnLst/>
            <a:rect l="l" t="t" r="r" b="b"/>
            <a:pathLst>
              <a:path h="255904">
                <a:moveTo>
                  <a:pt x="0" y="0"/>
                </a:moveTo>
                <a:lnTo>
                  <a:pt x="0" y="255724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629582" y="3692002"/>
            <a:ext cx="0" cy="265430"/>
          </a:xfrm>
          <a:custGeom>
            <a:avLst/>
            <a:gdLst/>
            <a:ahLst/>
            <a:cxnLst/>
            <a:rect l="l" t="t" r="r" b="b"/>
            <a:pathLst>
              <a:path h="265429">
                <a:moveTo>
                  <a:pt x="0" y="0"/>
                </a:moveTo>
                <a:lnTo>
                  <a:pt x="0" y="265414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01424" y="3692002"/>
            <a:ext cx="0" cy="265430"/>
          </a:xfrm>
          <a:custGeom>
            <a:avLst/>
            <a:gdLst/>
            <a:ahLst/>
            <a:cxnLst/>
            <a:rect l="l" t="t" r="r" b="b"/>
            <a:pathLst>
              <a:path h="265429">
                <a:moveTo>
                  <a:pt x="0" y="0"/>
                </a:moveTo>
                <a:lnTo>
                  <a:pt x="0" y="265414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15607" y="3701691"/>
            <a:ext cx="0" cy="255904"/>
          </a:xfrm>
          <a:custGeom>
            <a:avLst/>
            <a:gdLst/>
            <a:ahLst/>
            <a:cxnLst/>
            <a:rect l="l" t="t" r="r" b="b"/>
            <a:pathLst>
              <a:path h="255904">
                <a:moveTo>
                  <a:pt x="0" y="0"/>
                </a:moveTo>
                <a:lnTo>
                  <a:pt x="0" y="255724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699832" y="1263416"/>
            <a:ext cx="0" cy="539115"/>
          </a:xfrm>
          <a:custGeom>
            <a:avLst/>
            <a:gdLst/>
            <a:ahLst/>
            <a:cxnLst/>
            <a:rect l="l" t="t" r="r" b="b"/>
            <a:pathLst>
              <a:path h="539114">
                <a:moveTo>
                  <a:pt x="0" y="0"/>
                </a:moveTo>
                <a:lnTo>
                  <a:pt x="0" y="538687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78807" y="1263416"/>
            <a:ext cx="0" cy="539115"/>
          </a:xfrm>
          <a:custGeom>
            <a:avLst/>
            <a:gdLst/>
            <a:ahLst/>
            <a:cxnLst/>
            <a:rect l="l" t="t" r="r" b="b"/>
            <a:pathLst>
              <a:path h="539114">
                <a:moveTo>
                  <a:pt x="0" y="0"/>
                </a:moveTo>
                <a:lnTo>
                  <a:pt x="0" y="538687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57740" y="1263416"/>
            <a:ext cx="0" cy="539115"/>
          </a:xfrm>
          <a:custGeom>
            <a:avLst/>
            <a:gdLst/>
            <a:ahLst/>
            <a:cxnLst/>
            <a:rect l="l" t="t" r="r" b="b"/>
            <a:pathLst>
              <a:path h="539114">
                <a:moveTo>
                  <a:pt x="0" y="0"/>
                </a:moveTo>
                <a:lnTo>
                  <a:pt x="0" y="538687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36673" y="1263416"/>
            <a:ext cx="0" cy="539115"/>
          </a:xfrm>
          <a:custGeom>
            <a:avLst/>
            <a:gdLst/>
            <a:ahLst/>
            <a:cxnLst/>
            <a:rect l="l" t="t" r="r" b="b"/>
            <a:pathLst>
              <a:path h="539114">
                <a:moveTo>
                  <a:pt x="0" y="0"/>
                </a:moveTo>
                <a:lnTo>
                  <a:pt x="0" y="538687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15606" y="1263416"/>
            <a:ext cx="0" cy="539115"/>
          </a:xfrm>
          <a:custGeom>
            <a:avLst/>
            <a:gdLst/>
            <a:ahLst/>
            <a:cxnLst/>
            <a:rect l="l" t="t" r="r" b="b"/>
            <a:pathLst>
              <a:path h="539114">
                <a:moveTo>
                  <a:pt x="0" y="0"/>
                </a:moveTo>
                <a:lnTo>
                  <a:pt x="0" y="538687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944160" y="1950083"/>
            <a:ext cx="5146040" cy="1645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6034" algn="ctr">
              <a:lnSpc>
                <a:spcPts val="3395"/>
              </a:lnSpc>
              <a:tabLst>
                <a:tab pos="878840" algn="l"/>
                <a:tab pos="1757680" algn="l"/>
                <a:tab pos="2636520" algn="l"/>
                <a:tab pos="3430270" algn="l"/>
              </a:tabLst>
            </a:pPr>
            <a:r>
              <a:rPr sz="2850" i="1" spc="35" dirty="0">
                <a:latin typeface="华文楷体"/>
                <a:cs typeface="华文楷体"/>
              </a:rPr>
              <a:t>S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0	</a:t>
            </a:r>
            <a:r>
              <a:rPr sz="2850" i="1" spc="35" dirty="0">
                <a:latin typeface="华文楷体"/>
                <a:cs typeface="华文楷体"/>
              </a:rPr>
              <a:t>S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1	</a:t>
            </a:r>
            <a:r>
              <a:rPr sz="2850" i="1" spc="35" dirty="0">
                <a:latin typeface="华文楷体"/>
                <a:cs typeface="华文楷体"/>
              </a:rPr>
              <a:t>S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2	</a:t>
            </a:r>
            <a:r>
              <a:rPr sz="2850" i="1" spc="35" dirty="0">
                <a:latin typeface="华文楷体"/>
                <a:cs typeface="华文楷体"/>
              </a:rPr>
              <a:t>S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3	</a:t>
            </a:r>
            <a:r>
              <a:rPr sz="2700" spc="160" dirty="0">
                <a:latin typeface="华文楷体"/>
                <a:cs typeface="华文楷体"/>
              </a:rPr>
              <a:t>CO</a:t>
            </a:r>
            <a:endParaRPr sz="2700">
              <a:latin typeface="华文楷体"/>
              <a:cs typeface="华文楷体"/>
            </a:endParaRPr>
          </a:p>
          <a:p>
            <a:pPr marR="181610" algn="ctr">
              <a:lnSpc>
                <a:spcPct val="100000"/>
              </a:lnSpc>
              <a:spcBef>
                <a:spcPts val="1080"/>
              </a:spcBef>
            </a:pPr>
            <a:r>
              <a:rPr sz="3000" spc="114" dirty="0">
                <a:solidFill>
                  <a:srgbClr val="FF0000"/>
                </a:solidFill>
                <a:latin typeface="华文楷体"/>
                <a:cs typeface="华文楷体"/>
              </a:rPr>
              <a:t>4</a:t>
            </a:r>
            <a:r>
              <a:rPr sz="3000" spc="254" dirty="0">
                <a:solidFill>
                  <a:srgbClr val="FF0000"/>
                </a:solidFill>
                <a:latin typeface="华文楷体"/>
                <a:cs typeface="华文楷体"/>
              </a:rPr>
              <a:t>位全加器</a:t>
            </a:r>
            <a:endParaRPr sz="300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  <a:spcBef>
                <a:spcPts val="1075"/>
              </a:spcBef>
              <a:tabLst>
                <a:tab pos="551180" algn="l"/>
                <a:tab pos="1181100" algn="l"/>
                <a:tab pos="1752600" algn="l"/>
                <a:tab pos="2382520" algn="l"/>
                <a:tab pos="3513454" algn="l"/>
                <a:tab pos="4084320" algn="l"/>
                <a:tab pos="4714875" algn="l"/>
              </a:tabLst>
            </a:pPr>
            <a:r>
              <a:rPr sz="4050" spc="165" baseline="-2057" dirty="0">
                <a:latin typeface="华文楷体"/>
                <a:cs typeface="华文楷体"/>
              </a:rPr>
              <a:t>CI	</a:t>
            </a:r>
            <a:r>
              <a:rPr sz="2850" i="1" spc="45" dirty="0">
                <a:latin typeface="华文楷体"/>
                <a:cs typeface="华文楷体"/>
              </a:rPr>
              <a:t>B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0	</a:t>
            </a:r>
            <a:r>
              <a:rPr sz="2850" i="1" spc="45" dirty="0">
                <a:latin typeface="华文楷体"/>
                <a:cs typeface="华文楷体"/>
              </a:rPr>
              <a:t>B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1	</a:t>
            </a:r>
            <a:r>
              <a:rPr sz="2850" i="1" spc="45" dirty="0">
                <a:latin typeface="华文楷体"/>
                <a:cs typeface="华文楷体"/>
              </a:rPr>
              <a:t>B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9259" dirty="0">
                <a:latin typeface="华文楷体"/>
                <a:cs typeface="华文楷体"/>
              </a:rPr>
              <a:t>2	</a:t>
            </a:r>
            <a:r>
              <a:rPr sz="2850" i="1" spc="45" dirty="0">
                <a:latin typeface="华文楷体"/>
                <a:cs typeface="华文楷体"/>
              </a:rPr>
              <a:t>B </a:t>
            </a:r>
            <a:r>
              <a:rPr sz="2700" spc="104" baseline="-12345" dirty="0">
                <a:latin typeface="华文楷体"/>
                <a:cs typeface="华文楷体"/>
              </a:rPr>
              <a:t>3</a:t>
            </a:r>
            <a:r>
              <a:rPr sz="2700" spc="30" baseline="-12345" dirty="0">
                <a:latin typeface="华文楷体"/>
                <a:cs typeface="华文楷体"/>
              </a:rPr>
              <a:t> </a:t>
            </a:r>
            <a:r>
              <a:rPr sz="2850" i="1" spc="50" dirty="0">
                <a:latin typeface="华文楷体"/>
                <a:cs typeface="华文楷体"/>
              </a:rPr>
              <a:t>A</a:t>
            </a:r>
            <a:r>
              <a:rPr sz="2850" i="1" spc="-215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0	</a:t>
            </a:r>
            <a:r>
              <a:rPr sz="2850" i="1" spc="50" dirty="0">
                <a:latin typeface="华文楷体"/>
                <a:cs typeface="华文楷体"/>
              </a:rPr>
              <a:t>A</a:t>
            </a:r>
            <a:r>
              <a:rPr sz="2850" i="1" spc="-225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1	</a:t>
            </a:r>
            <a:r>
              <a:rPr sz="2850" i="1" spc="50" dirty="0">
                <a:latin typeface="华文楷体"/>
                <a:cs typeface="华文楷体"/>
              </a:rPr>
              <a:t>A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9259" dirty="0">
                <a:latin typeface="华文楷体"/>
                <a:cs typeface="华文楷体"/>
              </a:rPr>
              <a:t>2	</a:t>
            </a:r>
            <a:r>
              <a:rPr sz="2850" i="1" spc="50" dirty="0">
                <a:latin typeface="华文楷体"/>
                <a:cs typeface="华文楷体"/>
              </a:rPr>
              <a:t>A</a:t>
            </a:r>
            <a:r>
              <a:rPr sz="2850" i="1" spc="-315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3</a:t>
            </a:r>
            <a:endParaRPr sz="2700" baseline="-12345">
              <a:latin typeface="华文楷体"/>
              <a:cs typeface="华文楷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26404" y="1800982"/>
            <a:ext cx="5859780" cy="1891030"/>
          </a:xfrm>
          <a:custGeom>
            <a:avLst/>
            <a:gdLst/>
            <a:ahLst/>
            <a:cxnLst/>
            <a:rect l="l" t="t" r="r" b="b"/>
            <a:pathLst>
              <a:path w="5859780" h="1891029">
                <a:moveTo>
                  <a:pt x="0" y="1891019"/>
                </a:moveTo>
                <a:lnTo>
                  <a:pt x="5859417" y="1891019"/>
                </a:lnTo>
                <a:lnTo>
                  <a:pt x="5859417" y="0"/>
                </a:lnTo>
                <a:lnTo>
                  <a:pt x="0" y="0"/>
                </a:lnTo>
                <a:lnTo>
                  <a:pt x="0" y="18910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26404" y="1800982"/>
            <a:ext cx="5859780" cy="1891030"/>
          </a:xfrm>
          <a:custGeom>
            <a:avLst/>
            <a:gdLst/>
            <a:ahLst/>
            <a:cxnLst/>
            <a:rect l="l" t="t" r="r" b="b"/>
            <a:pathLst>
              <a:path w="5859780" h="1891029">
                <a:moveTo>
                  <a:pt x="0" y="1891019"/>
                </a:moveTo>
                <a:lnTo>
                  <a:pt x="5859416" y="1891019"/>
                </a:lnTo>
                <a:lnTo>
                  <a:pt x="5859416" y="0"/>
                </a:lnTo>
                <a:lnTo>
                  <a:pt x="0" y="0"/>
                </a:lnTo>
                <a:lnTo>
                  <a:pt x="0" y="1891019"/>
                </a:lnTo>
                <a:close/>
              </a:path>
            </a:pathLst>
          </a:custGeom>
          <a:ln w="599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12346" y="3702103"/>
            <a:ext cx="0" cy="260350"/>
          </a:xfrm>
          <a:custGeom>
            <a:avLst/>
            <a:gdLst/>
            <a:ahLst/>
            <a:cxnLst/>
            <a:rect l="l" t="t" r="r" b="b"/>
            <a:pathLst>
              <a:path h="260350">
                <a:moveTo>
                  <a:pt x="0" y="0"/>
                </a:moveTo>
                <a:lnTo>
                  <a:pt x="0" y="259981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84250" y="3702103"/>
            <a:ext cx="0" cy="260350"/>
          </a:xfrm>
          <a:custGeom>
            <a:avLst/>
            <a:gdLst/>
            <a:ahLst/>
            <a:cxnLst/>
            <a:rect l="l" t="t" r="r" b="b"/>
            <a:pathLst>
              <a:path h="260350">
                <a:moveTo>
                  <a:pt x="0" y="0"/>
                </a:moveTo>
                <a:lnTo>
                  <a:pt x="0" y="259981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75983" y="3715827"/>
            <a:ext cx="45085" cy="246379"/>
          </a:xfrm>
          <a:custGeom>
            <a:avLst/>
            <a:gdLst/>
            <a:ahLst/>
            <a:cxnLst/>
            <a:rect l="l" t="t" r="r" b="b"/>
            <a:pathLst>
              <a:path w="45085" h="246379">
                <a:moveTo>
                  <a:pt x="0" y="246257"/>
                </a:moveTo>
                <a:lnTo>
                  <a:pt x="44649" y="246257"/>
                </a:lnTo>
                <a:lnTo>
                  <a:pt x="44649" y="0"/>
                </a:lnTo>
                <a:lnTo>
                  <a:pt x="0" y="0"/>
                </a:lnTo>
                <a:lnTo>
                  <a:pt x="0" y="2462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870192" y="3692002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0"/>
                </a:moveTo>
                <a:lnTo>
                  <a:pt x="0" y="270083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042034" y="3692002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0"/>
                </a:moveTo>
                <a:lnTo>
                  <a:pt x="0" y="270083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456216" y="3705725"/>
            <a:ext cx="0" cy="256540"/>
          </a:xfrm>
          <a:custGeom>
            <a:avLst/>
            <a:gdLst/>
            <a:ahLst/>
            <a:cxnLst/>
            <a:rect l="l" t="t" r="r" b="b"/>
            <a:pathLst>
              <a:path h="256539">
                <a:moveTo>
                  <a:pt x="0" y="0"/>
                </a:moveTo>
                <a:lnTo>
                  <a:pt x="0" y="256359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628058" y="3692002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0"/>
                </a:moveTo>
                <a:lnTo>
                  <a:pt x="0" y="270083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799900" y="3692002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0"/>
                </a:moveTo>
                <a:lnTo>
                  <a:pt x="0" y="270083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214082" y="3705725"/>
            <a:ext cx="0" cy="256540"/>
          </a:xfrm>
          <a:custGeom>
            <a:avLst/>
            <a:gdLst/>
            <a:ahLst/>
            <a:cxnLst/>
            <a:rect l="l" t="t" r="r" b="b"/>
            <a:pathLst>
              <a:path h="256539">
                <a:moveTo>
                  <a:pt x="0" y="0"/>
                </a:moveTo>
                <a:lnTo>
                  <a:pt x="0" y="256359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698308" y="1260682"/>
            <a:ext cx="0" cy="540385"/>
          </a:xfrm>
          <a:custGeom>
            <a:avLst/>
            <a:gdLst/>
            <a:ahLst/>
            <a:cxnLst/>
            <a:rect l="l" t="t" r="r" b="b"/>
            <a:pathLst>
              <a:path h="540385">
                <a:moveTo>
                  <a:pt x="0" y="0"/>
                </a:moveTo>
                <a:lnTo>
                  <a:pt x="0" y="540356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77283" y="1260682"/>
            <a:ext cx="0" cy="540385"/>
          </a:xfrm>
          <a:custGeom>
            <a:avLst/>
            <a:gdLst/>
            <a:ahLst/>
            <a:cxnLst/>
            <a:rect l="l" t="t" r="r" b="b"/>
            <a:pathLst>
              <a:path h="540385">
                <a:moveTo>
                  <a:pt x="0" y="0"/>
                </a:moveTo>
                <a:lnTo>
                  <a:pt x="0" y="540356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56216" y="1260682"/>
            <a:ext cx="0" cy="540385"/>
          </a:xfrm>
          <a:custGeom>
            <a:avLst/>
            <a:gdLst/>
            <a:ahLst/>
            <a:cxnLst/>
            <a:rect l="l" t="t" r="r" b="b"/>
            <a:pathLst>
              <a:path h="540385">
                <a:moveTo>
                  <a:pt x="0" y="0"/>
                </a:moveTo>
                <a:lnTo>
                  <a:pt x="0" y="540356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335149" y="1260682"/>
            <a:ext cx="0" cy="540385"/>
          </a:xfrm>
          <a:custGeom>
            <a:avLst/>
            <a:gdLst/>
            <a:ahLst/>
            <a:cxnLst/>
            <a:rect l="l" t="t" r="r" b="b"/>
            <a:pathLst>
              <a:path h="540385">
                <a:moveTo>
                  <a:pt x="0" y="0"/>
                </a:moveTo>
                <a:lnTo>
                  <a:pt x="0" y="540356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214082" y="1260682"/>
            <a:ext cx="0" cy="540385"/>
          </a:xfrm>
          <a:custGeom>
            <a:avLst/>
            <a:gdLst/>
            <a:ahLst/>
            <a:cxnLst/>
            <a:rect l="l" t="t" r="r" b="b"/>
            <a:pathLst>
              <a:path h="540385">
                <a:moveTo>
                  <a:pt x="0" y="0"/>
                </a:moveTo>
                <a:lnTo>
                  <a:pt x="0" y="540356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443345" y="1931674"/>
            <a:ext cx="4072254" cy="463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0"/>
              </a:spcBef>
              <a:tabLst>
                <a:tab pos="955040" algn="l"/>
                <a:tab pos="1833880" algn="l"/>
                <a:tab pos="2712720" algn="l"/>
                <a:tab pos="3506470" algn="l"/>
              </a:tabLst>
            </a:pPr>
            <a:r>
              <a:rPr sz="2850" i="1" spc="35" dirty="0">
                <a:latin typeface="华文楷体"/>
                <a:cs typeface="华文楷体"/>
              </a:rPr>
              <a:t>S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0	</a:t>
            </a:r>
            <a:r>
              <a:rPr sz="2850" i="1" spc="35" dirty="0">
                <a:latin typeface="华文楷体"/>
                <a:cs typeface="华文楷体"/>
              </a:rPr>
              <a:t>S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1	</a:t>
            </a:r>
            <a:r>
              <a:rPr sz="2850" i="1" spc="35" dirty="0">
                <a:latin typeface="华文楷体"/>
                <a:cs typeface="华文楷体"/>
              </a:rPr>
              <a:t>S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2	</a:t>
            </a:r>
            <a:r>
              <a:rPr sz="2850" i="1" spc="35" dirty="0">
                <a:latin typeface="华文楷体"/>
                <a:cs typeface="华文楷体"/>
              </a:rPr>
              <a:t>S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3	</a:t>
            </a:r>
            <a:r>
              <a:rPr sz="2700" spc="160" dirty="0">
                <a:latin typeface="华文楷体"/>
                <a:cs typeface="华文楷体"/>
              </a:rPr>
              <a:t>CO</a:t>
            </a:r>
            <a:endParaRPr sz="2700">
              <a:latin typeface="华文楷体"/>
              <a:cs typeface="华文楷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799900" y="3962085"/>
            <a:ext cx="0" cy="1073150"/>
          </a:xfrm>
          <a:custGeom>
            <a:avLst/>
            <a:gdLst/>
            <a:ahLst/>
            <a:cxnLst/>
            <a:rect l="l" t="t" r="r" b="b"/>
            <a:pathLst>
              <a:path h="1073150">
                <a:moveTo>
                  <a:pt x="0" y="0"/>
                </a:moveTo>
                <a:lnTo>
                  <a:pt x="0" y="1072555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214082" y="3962085"/>
            <a:ext cx="0" cy="1073150"/>
          </a:xfrm>
          <a:custGeom>
            <a:avLst/>
            <a:gdLst/>
            <a:ahLst/>
            <a:cxnLst/>
            <a:rect l="l" t="t" r="r" b="b"/>
            <a:pathLst>
              <a:path h="1073150">
                <a:moveTo>
                  <a:pt x="0" y="0"/>
                </a:moveTo>
                <a:lnTo>
                  <a:pt x="0" y="1072555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628058" y="3962085"/>
            <a:ext cx="0" cy="1073150"/>
          </a:xfrm>
          <a:custGeom>
            <a:avLst/>
            <a:gdLst/>
            <a:ahLst/>
            <a:cxnLst/>
            <a:rect l="l" t="t" r="r" b="b"/>
            <a:pathLst>
              <a:path h="1073150">
                <a:moveTo>
                  <a:pt x="0" y="0"/>
                </a:moveTo>
                <a:lnTo>
                  <a:pt x="0" y="1072555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042034" y="3962085"/>
            <a:ext cx="0" cy="1073150"/>
          </a:xfrm>
          <a:custGeom>
            <a:avLst/>
            <a:gdLst/>
            <a:ahLst/>
            <a:cxnLst/>
            <a:rect l="l" t="t" r="r" b="b"/>
            <a:pathLst>
              <a:path h="1073150">
                <a:moveTo>
                  <a:pt x="0" y="0"/>
                </a:moveTo>
                <a:lnTo>
                  <a:pt x="0" y="1072555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112346" y="3968756"/>
            <a:ext cx="0" cy="255904"/>
          </a:xfrm>
          <a:custGeom>
            <a:avLst/>
            <a:gdLst/>
            <a:ahLst/>
            <a:cxnLst/>
            <a:rect l="l" t="t" r="r" b="b"/>
            <a:pathLst>
              <a:path h="255904">
                <a:moveTo>
                  <a:pt x="0" y="0"/>
                </a:moveTo>
                <a:lnTo>
                  <a:pt x="0" y="255444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698308" y="3962085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0"/>
                </a:moveTo>
                <a:lnTo>
                  <a:pt x="0" y="248621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84250" y="3962085"/>
            <a:ext cx="0" cy="262255"/>
          </a:xfrm>
          <a:custGeom>
            <a:avLst/>
            <a:gdLst/>
            <a:ahLst/>
            <a:cxnLst/>
            <a:rect l="l" t="t" r="r" b="b"/>
            <a:pathLst>
              <a:path h="262254">
                <a:moveTo>
                  <a:pt x="0" y="0"/>
                </a:moveTo>
                <a:lnTo>
                  <a:pt x="0" y="262115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870192" y="3962085"/>
            <a:ext cx="0" cy="262255"/>
          </a:xfrm>
          <a:custGeom>
            <a:avLst/>
            <a:gdLst/>
            <a:ahLst/>
            <a:cxnLst/>
            <a:rect l="l" t="t" r="r" b="b"/>
            <a:pathLst>
              <a:path h="262254">
                <a:moveTo>
                  <a:pt x="0" y="0"/>
                </a:moveTo>
                <a:lnTo>
                  <a:pt x="0" y="262115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456216" y="3962085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0"/>
                </a:moveTo>
                <a:lnTo>
                  <a:pt x="0" y="248621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112346" y="3777201"/>
            <a:ext cx="0" cy="1670050"/>
          </a:xfrm>
          <a:custGeom>
            <a:avLst/>
            <a:gdLst/>
            <a:ahLst/>
            <a:cxnLst/>
            <a:rect l="l" t="t" r="r" b="b"/>
            <a:pathLst>
              <a:path h="1670050">
                <a:moveTo>
                  <a:pt x="0" y="0"/>
                </a:moveTo>
                <a:lnTo>
                  <a:pt x="0" y="1669521"/>
                </a:lnTo>
              </a:path>
            </a:pathLst>
          </a:custGeom>
          <a:ln w="446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841125" y="5015695"/>
            <a:ext cx="0" cy="446405"/>
          </a:xfrm>
          <a:custGeom>
            <a:avLst/>
            <a:gdLst/>
            <a:ahLst/>
            <a:cxnLst/>
            <a:rect l="l" t="t" r="r" b="b"/>
            <a:pathLst>
              <a:path h="446404">
                <a:moveTo>
                  <a:pt x="0" y="0"/>
                </a:moveTo>
                <a:lnTo>
                  <a:pt x="0" y="446408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427087" y="5015695"/>
            <a:ext cx="0" cy="433070"/>
          </a:xfrm>
          <a:custGeom>
            <a:avLst/>
            <a:gdLst/>
            <a:ahLst/>
            <a:cxnLst/>
            <a:rect l="l" t="t" r="r" b="b"/>
            <a:pathLst>
              <a:path h="433070">
                <a:moveTo>
                  <a:pt x="0" y="0"/>
                </a:moveTo>
                <a:lnTo>
                  <a:pt x="0" y="432914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013029" y="5015695"/>
            <a:ext cx="0" cy="433070"/>
          </a:xfrm>
          <a:custGeom>
            <a:avLst/>
            <a:gdLst/>
            <a:ahLst/>
            <a:cxnLst/>
            <a:rect l="l" t="t" r="r" b="b"/>
            <a:pathLst>
              <a:path h="433070">
                <a:moveTo>
                  <a:pt x="0" y="0"/>
                </a:moveTo>
                <a:lnTo>
                  <a:pt x="0" y="432914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599053" y="5015695"/>
            <a:ext cx="0" cy="446405"/>
          </a:xfrm>
          <a:custGeom>
            <a:avLst/>
            <a:gdLst/>
            <a:ahLst/>
            <a:cxnLst/>
            <a:rect l="l" t="t" r="r" b="b"/>
            <a:pathLst>
              <a:path h="446404">
                <a:moveTo>
                  <a:pt x="0" y="0"/>
                </a:moveTo>
                <a:lnTo>
                  <a:pt x="0" y="446408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2530861" y="746381"/>
            <a:ext cx="316103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929640" algn="l"/>
                <a:tab pos="1808480" algn="l"/>
                <a:tab pos="2687320" algn="l"/>
              </a:tabLst>
            </a:pPr>
            <a:r>
              <a:rPr sz="3200" i="1" spc="25" dirty="0">
                <a:solidFill>
                  <a:srgbClr val="17365F"/>
                </a:solidFill>
                <a:latin typeface="华文楷体"/>
                <a:cs typeface="华文楷体"/>
              </a:rPr>
              <a:t>S</a:t>
            </a:r>
            <a:r>
              <a:rPr sz="3200" i="1" spc="-254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000" spc="120" baseline="-11111" dirty="0">
                <a:solidFill>
                  <a:srgbClr val="17365F"/>
                </a:solidFill>
                <a:latin typeface="华文楷体"/>
                <a:cs typeface="华文楷体"/>
              </a:rPr>
              <a:t>0	</a:t>
            </a:r>
            <a:r>
              <a:rPr sz="3200" i="1" spc="25" dirty="0">
                <a:solidFill>
                  <a:srgbClr val="17365F"/>
                </a:solidFill>
                <a:latin typeface="华文楷体"/>
                <a:cs typeface="华文楷体"/>
              </a:rPr>
              <a:t>S</a:t>
            </a:r>
            <a:r>
              <a:rPr sz="3200" i="1" spc="-254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000" spc="120" baseline="-11111" dirty="0">
                <a:solidFill>
                  <a:srgbClr val="17365F"/>
                </a:solidFill>
                <a:latin typeface="华文楷体"/>
                <a:cs typeface="华文楷体"/>
              </a:rPr>
              <a:t>1	</a:t>
            </a:r>
            <a:r>
              <a:rPr sz="3200" i="1" spc="25" dirty="0">
                <a:solidFill>
                  <a:srgbClr val="17365F"/>
                </a:solidFill>
                <a:latin typeface="华文楷体"/>
                <a:cs typeface="华文楷体"/>
              </a:rPr>
              <a:t>S</a:t>
            </a:r>
            <a:r>
              <a:rPr sz="3200" i="1" spc="-254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000" spc="120" baseline="-11111" dirty="0">
                <a:solidFill>
                  <a:srgbClr val="17365F"/>
                </a:solidFill>
                <a:latin typeface="华文楷体"/>
                <a:cs typeface="华文楷体"/>
              </a:rPr>
              <a:t>2	</a:t>
            </a:r>
            <a:r>
              <a:rPr sz="3200" i="1" spc="25" dirty="0">
                <a:solidFill>
                  <a:srgbClr val="17365F"/>
                </a:solidFill>
                <a:latin typeface="华文楷体"/>
                <a:cs typeface="华文楷体"/>
              </a:rPr>
              <a:t>S</a:t>
            </a:r>
            <a:r>
              <a:rPr sz="3200" i="1" spc="-305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000" spc="120" baseline="-11111" dirty="0">
                <a:solidFill>
                  <a:srgbClr val="17365F"/>
                </a:solidFill>
                <a:latin typeface="华文楷体"/>
                <a:cs typeface="华文楷体"/>
              </a:rPr>
              <a:t>3</a:t>
            </a:r>
            <a:endParaRPr sz="3000" baseline="-11111">
              <a:latin typeface="华文楷体"/>
              <a:cs typeface="华文楷体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759808" y="4940425"/>
            <a:ext cx="236918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67385" algn="l"/>
                <a:tab pos="1868805" algn="l"/>
              </a:tabLst>
            </a:pPr>
            <a:r>
              <a:rPr sz="3200" i="1" spc="35" dirty="0">
                <a:solidFill>
                  <a:srgbClr val="17365F"/>
                </a:solidFill>
                <a:latin typeface="华文楷体"/>
                <a:cs typeface="华文楷体"/>
              </a:rPr>
              <a:t>C</a:t>
            </a:r>
            <a:r>
              <a:rPr sz="3200" i="1" spc="-254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000" spc="120" baseline="-11111" dirty="0">
                <a:solidFill>
                  <a:srgbClr val="17365F"/>
                </a:solidFill>
                <a:latin typeface="华文楷体"/>
                <a:cs typeface="华文楷体"/>
              </a:rPr>
              <a:t>0	</a:t>
            </a:r>
            <a:r>
              <a:rPr sz="3200" i="1" spc="35" dirty="0">
                <a:solidFill>
                  <a:srgbClr val="17365F"/>
                </a:solidFill>
                <a:latin typeface="华文楷体"/>
                <a:cs typeface="华文楷体"/>
              </a:rPr>
              <a:t>C </a:t>
            </a:r>
            <a:r>
              <a:rPr sz="3000" spc="120" baseline="-11111" dirty="0">
                <a:solidFill>
                  <a:srgbClr val="17365F"/>
                </a:solidFill>
                <a:latin typeface="华文楷体"/>
                <a:cs typeface="华文楷体"/>
              </a:rPr>
              <a:t>1</a:t>
            </a:r>
            <a:r>
              <a:rPr sz="3000" spc="104" baseline="-11111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200" i="1" spc="35" dirty="0">
                <a:solidFill>
                  <a:srgbClr val="17365F"/>
                </a:solidFill>
                <a:latin typeface="华文楷体"/>
                <a:cs typeface="华文楷体"/>
              </a:rPr>
              <a:t>C</a:t>
            </a:r>
            <a:r>
              <a:rPr sz="3200" i="1" spc="-254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000" spc="120" baseline="-9722" dirty="0">
                <a:solidFill>
                  <a:srgbClr val="17365F"/>
                </a:solidFill>
                <a:latin typeface="华文楷体"/>
                <a:cs typeface="华文楷体"/>
              </a:rPr>
              <a:t>2	</a:t>
            </a:r>
            <a:r>
              <a:rPr sz="3200" i="1" spc="35" dirty="0">
                <a:solidFill>
                  <a:srgbClr val="17365F"/>
                </a:solidFill>
                <a:latin typeface="华文楷体"/>
                <a:cs typeface="华文楷体"/>
              </a:rPr>
              <a:t>C</a:t>
            </a:r>
            <a:r>
              <a:rPr sz="3200" i="1" spc="-320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000" spc="120" baseline="-11111" dirty="0">
                <a:solidFill>
                  <a:srgbClr val="17365F"/>
                </a:solidFill>
                <a:latin typeface="华文楷体"/>
                <a:cs typeface="华文楷体"/>
              </a:rPr>
              <a:t>3</a:t>
            </a:r>
            <a:endParaRPr sz="3000" baseline="-11111">
              <a:latin typeface="华文楷体"/>
              <a:cs typeface="华文楷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917236" y="2366265"/>
            <a:ext cx="5209540" cy="119697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R="194310" algn="ctr">
              <a:lnSpc>
                <a:spcPct val="100000"/>
              </a:lnSpc>
              <a:spcBef>
                <a:spcPts val="1210"/>
              </a:spcBef>
            </a:pPr>
            <a:r>
              <a:rPr sz="3000" spc="114" dirty="0">
                <a:solidFill>
                  <a:srgbClr val="FF0000"/>
                </a:solidFill>
                <a:latin typeface="华文楷体"/>
                <a:cs typeface="华文楷体"/>
              </a:rPr>
              <a:t>4</a:t>
            </a:r>
            <a:r>
              <a:rPr sz="3000" spc="254" dirty="0">
                <a:solidFill>
                  <a:srgbClr val="FF0000"/>
                </a:solidFill>
                <a:latin typeface="华文楷体"/>
                <a:cs typeface="华文楷体"/>
              </a:rPr>
              <a:t>位全加器</a:t>
            </a:r>
            <a:endParaRPr sz="3000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1090"/>
              </a:spcBef>
              <a:tabLst>
                <a:tab pos="576580" algn="l"/>
                <a:tab pos="1206500" algn="l"/>
                <a:tab pos="1778000" algn="l"/>
                <a:tab pos="2407920" algn="l"/>
                <a:tab pos="3538854" algn="l"/>
                <a:tab pos="4109720" algn="l"/>
                <a:tab pos="4740275" algn="l"/>
              </a:tabLst>
            </a:pPr>
            <a:r>
              <a:rPr sz="4050" spc="165" baseline="-2057" dirty="0">
                <a:latin typeface="华文楷体"/>
                <a:cs typeface="华文楷体"/>
              </a:rPr>
              <a:t>CI	</a:t>
            </a:r>
            <a:r>
              <a:rPr sz="2850" i="1" spc="45" dirty="0">
                <a:latin typeface="华文楷体"/>
                <a:cs typeface="华文楷体"/>
              </a:rPr>
              <a:t>B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0	</a:t>
            </a:r>
            <a:r>
              <a:rPr sz="2850" i="1" spc="45" dirty="0">
                <a:latin typeface="华文楷体"/>
                <a:cs typeface="华文楷体"/>
              </a:rPr>
              <a:t>B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1	</a:t>
            </a:r>
            <a:r>
              <a:rPr sz="2850" i="1" spc="45" dirty="0">
                <a:latin typeface="华文楷体"/>
                <a:cs typeface="华文楷体"/>
              </a:rPr>
              <a:t>B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9259" dirty="0">
                <a:latin typeface="华文楷体"/>
                <a:cs typeface="华文楷体"/>
              </a:rPr>
              <a:t>2	</a:t>
            </a:r>
            <a:r>
              <a:rPr sz="2850" i="1" spc="45" dirty="0">
                <a:latin typeface="华文楷体"/>
                <a:cs typeface="华文楷体"/>
              </a:rPr>
              <a:t>B </a:t>
            </a:r>
            <a:r>
              <a:rPr sz="2700" spc="104" baseline="-12345" dirty="0">
                <a:latin typeface="华文楷体"/>
                <a:cs typeface="华文楷体"/>
              </a:rPr>
              <a:t>3</a:t>
            </a:r>
            <a:r>
              <a:rPr sz="2700" spc="30" baseline="-12345" dirty="0">
                <a:latin typeface="华文楷体"/>
                <a:cs typeface="华文楷体"/>
              </a:rPr>
              <a:t> </a:t>
            </a:r>
            <a:r>
              <a:rPr sz="2850" i="1" spc="50" dirty="0">
                <a:latin typeface="华文楷体"/>
                <a:cs typeface="华文楷体"/>
              </a:rPr>
              <a:t>A</a:t>
            </a:r>
            <a:r>
              <a:rPr sz="2850" i="1" spc="-215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0	</a:t>
            </a:r>
            <a:r>
              <a:rPr sz="2850" i="1" spc="50" dirty="0">
                <a:latin typeface="华文楷体"/>
                <a:cs typeface="华文楷体"/>
              </a:rPr>
              <a:t>A</a:t>
            </a:r>
            <a:r>
              <a:rPr sz="2850" i="1" spc="-225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1	</a:t>
            </a:r>
            <a:r>
              <a:rPr sz="2850" i="1" spc="50" dirty="0">
                <a:latin typeface="华文楷体"/>
                <a:cs typeface="华文楷体"/>
              </a:rPr>
              <a:t>A</a:t>
            </a:r>
            <a:r>
              <a:rPr sz="2850" i="1" spc="-220" dirty="0">
                <a:latin typeface="华文楷体"/>
                <a:cs typeface="华文楷体"/>
              </a:rPr>
              <a:t> </a:t>
            </a:r>
            <a:r>
              <a:rPr sz="2700" spc="104" baseline="-9259" dirty="0">
                <a:latin typeface="华文楷体"/>
                <a:cs typeface="华文楷体"/>
              </a:rPr>
              <a:t>2	</a:t>
            </a:r>
            <a:r>
              <a:rPr sz="2850" i="1" spc="50" dirty="0">
                <a:latin typeface="华文楷体"/>
                <a:cs typeface="华文楷体"/>
              </a:rPr>
              <a:t>A</a:t>
            </a:r>
            <a:r>
              <a:rPr sz="2850" i="1" spc="-280" dirty="0">
                <a:latin typeface="华文楷体"/>
                <a:cs typeface="华文楷体"/>
              </a:rPr>
              <a:t> </a:t>
            </a:r>
            <a:r>
              <a:rPr sz="2700" spc="104" baseline="-12345" dirty="0">
                <a:latin typeface="华文楷体"/>
                <a:cs typeface="华文楷体"/>
              </a:rPr>
              <a:t>3</a:t>
            </a:r>
            <a:endParaRPr sz="2700" baseline="-12345">
              <a:latin typeface="华文楷体"/>
              <a:cs typeface="华文楷体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895958" y="5372658"/>
            <a:ext cx="298196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67385" algn="l"/>
              </a:tabLst>
            </a:pPr>
            <a:r>
              <a:rPr sz="3200" i="1" spc="45" dirty="0">
                <a:solidFill>
                  <a:srgbClr val="FF0000"/>
                </a:solidFill>
                <a:latin typeface="华文楷体"/>
                <a:cs typeface="华文楷体"/>
              </a:rPr>
              <a:t>M	</a:t>
            </a:r>
            <a:r>
              <a:rPr sz="3200" i="1" spc="40" dirty="0">
                <a:solidFill>
                  <a:srgbClr val="17365F"/>
                </a:solidFill>
                <a:latin typeface="华文楷体"/>
                <a:cs typeface="华文楷体"/>
              </a:rPr>
              <a:t>D</a:t>
            </a:r>
            <a:r>
              <a:rPr sz="3200" i="1" spc="-270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000" spc="120" baseline="-11111" dirty="0">
                <a:solidFill>
                  <a:srgbClr val="17365F"/>
                </a:solidFill>
                <a:latin typeface="华文楷体"/>
                <a:cs typeface="华文楷体"/>
              </a:rPr>
              <a:t>0</a:t>
            </a:r>
            <a:r>
              <a:rPr sz="3000" spc="37" baseline="-11111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200" i="1" spc="40" dirty="0">
                <a:solidFill>
                  <a:srgbClr val="17365F"/>
                </a:solidFill>
                <a:latin typeface="华文楷体"/>
                <a:cs typeface="华文楷体"/>
              </a:rPr>
              <a:t>D</a:t>
            </a:r>
            <a:r>
              <a:rPr sz="3200" i="1" spc="-265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000" spc="120" baseline="-11111" dirty="0">
                <a:solidFill>
                  <a:srgbClr val="17365F"/>
                </a:solidFill>
                <a:latin typeface="华文楷体"/>
                <a:cs typeface="华文楷体"/>
              </a:rPr>
              <a:t>1</a:t>
            </a:r>
            <a:r>
              <a:rPr sz="3000" spc="30" baseline="-11111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200" i="1" spc="40" dirty="0">
                <a:solidFill>
                  <a:srgbClr val="17365F"/>
                </a:solidFill>
                <a:latin typeface="华文楷体"/>
                <a:cs typeface="华文楷体"/>
              </a:rPr>
              <a:t>D</a:t>
            </a:r>
            <a:r>
              <a:rPr sz="3200" i="1" spc="-265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000" spc="120" baseline="-11111" dirty="0">
                <a:solidFill>
                  <a:srgbClr val="17365F"/>
                </a:solidFill>
                <a:latin typeface="华文楷体"/>
                <a:cs typeface="华文楷体"/>
              </a:rPr>
              <a:t>2</a:t>
            </a:r>
            <a:r>
              <a:rPr sz="3000" spc="37" baseline="-11111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200" i="1" spc="40" dirty="0">
                <a:solidFill>
                  <a:srgbClr val="17365F"/>
                </a:solidFill>
                <a:latin typeface="华文楷体"/>
                <a:cs typeface="华文楷体"/>
              </a:rPr>
              <a:t>D</a:t>
            </a:r>
            <a:r>
              <a:rPr sz="3200" i="1" spc="-270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3000" spc="120" baseline="-11111" dirty="0">
                <a:solidFill>
                  <a:srgbClr val="17365F"/>
                </a:solidFill>
                <a:latin typeface="华文楷体"/>
                <a:cs typeface="华文楷体"/>
              </a:rPr>
              <a:t>3</a:t>
            </a:r>
            <a:endParaRPr sz="3000" baseline="-11111" dirty="0">
              <a:latin typeface="华文楷体"/>
              <a:cs typeface="华文楷体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313379" y="4488908"/>
            <a:ext cx="0" cy="527050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526785"/>
                </a:moveTo>
                <a:lnTo>
                  <a:pt x="0" y="0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599053" y="4488908"/>
            <a:ext cx="0" cy="527050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526785"/>
                </a:moveTo>
                <a:lnTo>
                  <a:pt x="0" y="0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456216" y="3962085"/>
            <a:ext cx="0" cy="527050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0"/>
                </a:moveTo>
                <a:lnTo>
                  <a:pt x="0" y="526823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170542" y="4146511"/>
            <a:ext cx="571500" cy="685165"/>
          </a:xfrm>
          <a:custGeom>
            <a:avLst/>
            <a:gdLst/>
            <a:ahLst/>
            <a:cxnLst/>
            <a:rect l="l" t="t" r="r" b="b"/>
            <a:pathLst>
              <a:path w="571500" h="685164">
                <a:moveTo>
                  <a:pt x="285673" y="0"/>
                </a:moveTo>
                <a:lnTo>
                  <a:pt x="251073" y="22124"/>
                </a:lnTo>
                <a:lnTo>
                  <a:pt x="218046" y="48149"/>
                </a:lnTo>
                <a:lnTo>
                  <a:pt x="186708" y="77875"/>
                </a:lnTo>
                <a:lnTo>
                  <a:pt x="157176" y="111106"/>
                </a:lnTo>
                <a:lnTo>
                  <a:pt x="129568" y="147644"/>
                </a:lnTo>
                <a:lnTo>
                  <a:pt x="104001" y="187290"/>
                </a:lnTo>
                <a:lnTo>
                  <a:pt x="80591" y="229846"/>
                </a:lnTo>
                <a:lnTo>
                  <a:pt x="59456" y="275116"/>
                </a:lnTo>
                <a:lnTo>
                  <a:pt x="40712" y="322900"/>
                </a:lnTo>
                <a:lnTo>
                  <a:pt x="24477" y="373001"/>
                </a:lnTo>
                <a:lnTo>
                  <a:pt x="10829" y="425412"/>
                </a:lnTo>
                <a:lnTo>
                  <a:pt x="0" y="479364"/>
                </a:lnTo>
                <a:lnTo>
                  <a:pt x="0" y="684813"/>
                </a:lnTo>
                <a:lnTo>
                  <a:pt x="42260" y="657716"/>
                </a:lnTo>
                <a:lnTo>
                  <a:pt x="85366" y="635135"/>
                </a:lnTo>
                <a:lnTo>
                  <a:pt x="129162" y="617070"/>
                </a:lnTo>
                <a:lnTo>
                  <a:pt x="173496" y="603521"/>
                </a:lnTo>
                <a:lnTo>
                  <a:pt x="218213" y="594488"/>
                </a:lnTo>
                <a:lnTo>
                  <a:pt x="263161" y="589972"/>
                </a:lnTo>
                <a:lnTo>
                  <a:pt x="571347" y="589972"/>
                </a:lnTo>
                <a:lnTo>
                  <a:pt x="571347" y="479364"/>
                </a:lnTo>
                <a:lnTo>
                  <a:pt x="560197" y="425222"/>
                </a:lnTo>
                <a:lnTo>
                  <a:pt x="546454" y="373368"/>
                </a:lnTo>
                <a:lnTo>
                  <a:pt x="530083" y="323423"/>
                </a:lnTo>
                <a:lnTo>
                  <a:pt x="511248" y="275768"/>
                </a:lnTo>
                <a:lnTo>
                  <a:pt x="490065" y="230596"/>
                </a:lnTo>
                <a:lnTo>
                  <a:pt x="466649" y="188097"/>
                </a:lnTo>
                <a:lnTo>
                  <a:pt x="441113" y="148465"/>
                </a:lnTo>
                <a:lnTo>
                  <a:pt x="413574" y="111890"/>
                </a:lnTo>
                <a:lnTo>
                  <a:pt x="384145" y="78564"/>
                </a:lnTo>
                <a:lnTo>
                  <a:pt x="352942" y="48679"/>
                </a:lnTo>
                <a:lnTo>
                  <a:pt x="320080" y="22427"/>
                </a:lnTo>
                <a:lnTo>
                  <a:pt x="285673" y="0"/>
                </a:lnTo>
                <a:close/>
              </a:path>
              <a:path w="571500" h="685164">
                <a:moveTo>
                  <a:pt x="571347" y="589972"/>
                </a:moveTo>
                <a:lnTo>
                  <a:pt x="308186" y="589972"/>
                </a:lnTo>
                <a:lnTo>
                  <a:pt x="353134" y="594488"/>
                </a:lnTo>
                <a:lnTo>
                  <a:pt x="397851" y="603521"/>
                </a:lnTo>
                <a:lnTo>
                  <a:pt x="442185" y="617070"/>
                </a:lnTo>
                <a:lnTo>
                  <a:pt x="485981" y="635135"/>
                </a:lnTo>
                <a:lnTo>
                  <a:pt x="529087" y="657716"/>
                </a:lnTo>
                <a:lnTo>
                  <a:pt x="571347" y="684813"/>
                </a:lnTo>
                <a:lnTo>
                  <a:pt x="571347" y="5899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170542" y="4146511"/>
            <a:ext cx="571500" cy="685165"/>
          </a:xfrm>
          <a:custGeom>
            <a:avLst/>
            <a:gdLst/>
            <a:ahLst/>
            <a:cxnLst/>
            <a:rect l="l" t="t" r="r" b="b"/>
            <a:pathLst>
              <a:path w="571500" h="685164">
                <a:moveTo>
                  <a:pt x="285673" y="0"/>
                </a:moveTo>
                <a:lnTo>
                  <a:pt x="320080" y="22427"/>
                </a:lnTo>
                <a:lnTo>
                  <a:pt x="352942" y="48679"/>
                </a:lnTo>
                <a:lnTo>
                  <a:pt x="384145" y="78564"/>
                </a:lnTo>
                <a:lnTo>
                  <a:pt x="413574" y="111890"/>
                </a:lnTo>
                <a:lnTo>
                  <a:pt x="441113" y="148465"/>
                </a:lnTo>
                <a:lnTo>
                  <a:pt x="466649" y="188097"/>
                </a:lnTo>
                <a:lnTo>
                  <a:pt x="490065" y="230596"/>
                </a:lnTo>
                <a:lnTo>
                  <a:pt x="511248" y="275768"/>
                </a:lnTo>
                <a:lnTo>
                  <a:pt x="530083" y="323423"/>
                </a:lnTo>
                <a:lnTo>
                  <a:pt x="546454" y="373368"/>
                </a:lnTo>
                <a:lnTo>
                  <a:pt x="560247" y="425412"/>
                </a:lnTo>
                <a:lnTo>
                  <a:pt x="571347" y="479364"/>
                </a:lnTo>
                <a:lnTo>
                  <a:pt x="571347" y="684813"/>
                </a:lnTo>
                <a:lnTo>
                  <a:pt x="529087" y="657716"/>
                </a:lnTo>
                <a:lnTo>
                  <a:pt x="485981" y="635135"/>
                </a:lnTo>
                <a:lnTo>
                  <a:pt x="442185" y="617070"/>
                </a:lnTo>
                <a:lnTo>
                  <a:pt x="397851" y="603521"/>
                </a:lnTo>
                <a:lnTo>
                  <a:pt x="353134" y="594488"/>
                </a:lnTo>
                <a:lnTo>
                  <a:pt x="308186" y="589972"/>
                </a:lnTo>
                <a:lnTo>
                  <a:pt x="263161" y="589972"/>
                </a:lnTo>
                <a:lnTo>
                  <a:pt x="218213" y="594488"/>
                </a:lnTo>
                <a:lnTo>
                  <a:pt x="173496" y="603521"/>
                </a:lnTo>
                <a:lnTo>
                  <a:pt x="129162" y="617070"/>
                </a:lnTo>
                <a:lnTo>
                  <a:pt x="85366" y="635135"/>
                </a:lnTo>
                <a:lnTo>
                  <a:pt x="42260" y="657716"/>
                </a:lnTo>
                <a:lnTo>
                  <a:pt x="0" y="684813"/>
                </a:lnTo>
                <a:lnTo>
                  <a:pt x="0" y="479364"/>
                </a:lnTo>
                <a:lnTo>
                  <a:pt x="10867" y="425222"/>
                </a:lnTo>
                <a:lnTo>
                  <a:pt x="24477" y="373001"/>
                </a:lnTo>
                <a:lnTo>
                  <a:pt x="40712" y="322900"/>
                </a:lnTo>
                <a:lnTo>
                  <a:pt x="59456" y="275116"/>
                </a:lnTo>
                <a:lnTo>
                  <a:pt x="80591" y="229846"/>
                </a:lnTo>
                <a:lnTo>
                  <a:pt x="104001" y="187290"/>
                </a:lnTo>
                <a:lnTo>
                  <a:pt x="129568" y="147644"/>
                </a:lnTo>
                <a:lnTo>
                  <a:pt x="157176" y="111106"/>
                </a:lnTo>
                <a:lnTo>
                  <a:pt x="186708" y="77875"/>
                </a:lnTo>
                <a:lnTo>
                  <a:pt x="218046" y="48149"/>
                </a:lnTo>
                <a:lnTo>
                  <a:pt x="251073" y="22124"/>
                </a:lnTo>
                <a:lnTo>
                  <a:pt x="285673" y="0"/>
                </a:lnTo>
                <a:close/>
              </a:path>
            </a:pathLst>
          </a:custGeom>
          <a:ln w="432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170542" y="4804953"/>
            <a:ext cx="571500" cy="95250"/>
          </a:xfrm>
          <a:custGeom>
            <a:avLst/>
            <a:gdLst/>
            <a:ahLst/>
            <a:cxnLst/>
            <a:rect l="l" t="t" r="r" b="b"/>
            <a:pathLst>
              <a:path w="571500" h="95250">
                <a:moveTo>
                  <a:pt x="571347" y="94855"/>
                </a:moveTo>
                <a:lnTo>
                  <a:pt x="529087" y="67753"/>
                </a:lnTo>
                <a:lnTo>
                  <a:pt x="485981" y="45169"/>
                </a:lnTo>
                <a:lnTo>
                  <a:pt x="442185" y="27101"/>
                </a:lnTo>
                <a:lnTo>
                  <a:pt x="397851" y="13550"/>
                </a:lnTo>
                <a:lnTo>
                  <a:pt x="353134" y="4516"/>
                </a:lnTo>
                <a:lnTo>
                  <a:pt x="308186" y="0"/>
                </a:lnTo>
                <a:lnTo>
                  <a:pt x="263161" y="0"/>
                </a:lnTo>
                <a:lnTo>
                  <a:pt x="218213" y="4516"/>
                </a:lnTo>
                <a:lnTo>
                  <a:pt x="173496" y="13550"/>
                </a:lnTo>
                <a:lnTo>
                  <a:pt x="129162" y="27101"/>
                </a:lnTo>
                <a:lnTo>
                  <a:pt x="85366" y="45169"/>
                </a:lnTo>
                <a:lnTo>
                  <a:pt x="42260" y="67753"/>
                </a:lnTo>
                <a:lnTo>
                  <a:pt x="0" y="94855"/>
                </a:lnTo>
              </a:path>
            </a:pathLst>
          </a:custGeom>
          <a:ln w="412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727355" y="4488908"/>
            <a:ext cx="0" cy="527050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526785"/>
                </a:moveTo>
                <a:lnTo>
                  <a:pt x="0" y="0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013029" y="4488908"/>
            <a:ext cx="0" cy="527050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526785"/>
                </a:moveTo>
                <a:lnTo>
                  <a:pt x="0" y="0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870192" y="3962085"/>
            <a:ext cx="0" cy="527050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0"/>
                </a:moveTo>
                <a:lnTo>
                  <a:pt x="0" y="526823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584518" y="4146511"/>
            <a:ext cx="571500" cy="685165"/>
          </a:xfrm>
          <a:custGeom>
            <a:avLst/>
            <a:gdLst/>
            <a:ahLst/>
            <a:cxnLst/>
            <a:rect l="l" t="t" r="r" b="b"/>
            <a:pathLst>
              <a:path w="571500" h="685164">
                <a:moveTo>
                  <a:pt x="285673" y="0"/>
                </a:moveTo>
                <a:lnTo>
                  <a:pt x="251117" y="22124"/>
                </a:lnTo>
                <a:lnTo>
                  <a:pt x="218117" y="48149"/>
                </a:lnTo>
                <a:lnTo>
                  <a:pt x="186795" y="77875"/>
                </a:lnTo>
                <a:lnTo>
                  <a:pt x="157268" y="111106"/>
                </a:lnTo>
                <a:lnTo>
                  <a:pt x="129656" y="147644"/>
                </a:lnTo>
                <a:lnTo>
                  <a:pt x="104078" y="187290"/>
                </a:lnTo>
                <a:lnTo>
                  <a:pt x="80654" y="229846"/>
                </a:lnTo>
                <a:lnTo>
                  <a:pt x="59502" y="275116"/>
                </a:lnTo>
                <a:lnTo>
                  <a:pt x="40741" y="322900"/>
                </a:lnTo>
                <a:lnTo>
                  <a:pt x="24491" y="373001"/>
                </a:lnTo>
                <a:lnTo>
                  <a:pt x="10832" y="425412"/>
                </a:lnTo>
                <a:lnTo>
                  <a:pt x="0" y="479364"/>
                </a:lnTo>
                <a:lnTo>
                  <a:pt x="0" y="684813"/>
                </a:lnTo>
                <a:lnTo>
                  <a:pt x="42260" y="657716"/>
                </a:lnTo>
                <a:lnTo>
                  <a:pt x="85366" y="635135"/>
                </a:lnTo>
                <a:lnTo>
                  <a:pt x="129162" y="617070"/>
                </a:lnTo>
                <a:lnTo>
                  <a:pt x="173496" y="603521"/>
                </a:lnTo>
                <a:lnTo>
                  <a:pt x="218213" y="594488"/>
                </a:lnTo>
                <a:lnTo>
                  <a:pt x="263161" y="589972"/>
                </a:lnTo>
                <a:lnTo>
                  <a:pt x="571347" y="589972"/>
                </a:lnTo>
                <a:lnTo>
                  <a:pt x="571347" y="479364"/>
                </a:lnTo>
                <a:lnTo>
                  <a:pt x="560201" y="425222"/>
                </a:lnTo>
                <a:lnTo>
                  <a:pt x="546468" y="373368"/>
                </a:lnTo>
                <a:lnTo>
                  <a:pt x="530112" y="323423"/>
                </a:lnTo>
                <a:lnTo>
                  <a:pt x="511294" y="275768"/>
                </a:lnTo>
                <a:lnTo>
                  <a:pt x="490128" y="230596"/>
                </a:lnTo>
                <a:lnTo>
                  <a:pt x="466726" y="188097"/>
                </a:lnTo>
                <a:lnTo>
                  <a:pt x="441201" y="148465"/>
                </a:lnTo>
                <a:lnTo>
                  <a:pt x="413666" y="111890"/>
                </a:lnTo>
                <a:lnTo>
                  <a:pt x="384232" y="78564"/>
                </a:lnTo>
                <a:lnTo>
                  <a:pt x="353014" y="48679"/>
                </a:lnTo>
                <a:lnTo>
                  <a:pt x="320124" y="22427"/>
                </a:lnTo>
                <a:lnTo>
                  <a:pt x="285673" y="0"/>
                </a:lnTo>
                <a:close/>
              </a:path>
              <a:path w="571500" h="685164">
                <a:moveTo>
                  <a:pt x="571347" y="589972"/>
                </a:moveTo>
                <a:lnTo>
                  <a:pt x="308186" y="589972"/>
                </a:lnTo>
                <a:lnTo>
                  <a:pt x="353134" y="594488"/>
                </a:lnTo>
                <a:lnTo>
                  <a:pt x="397851" y="603521"/>
                </a:lnTo>
                <a:lnTo>
                  <a:pt x="442185" y="617070"/>
                </a:lnTo>
                <a:lnTo>
                  <a:pt x="485981" y="635135"/>
                </a:lnTo>
                <a:lnTo>
                  <a:pt x="529087" y="657716"/>
                </a:lnTo>
                <a:lnTo>
                  <a:pt x="571347" y="684813"/>
                </a:lnTo>
                <a:lnTo>
                  <a:pt x="571347" y="5899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584518" y="4146511"/>
            <a:ext cx="571500" cy="685165"/>
          </a:xfrm>
          <a:custGeom>
            <a:avLst/>
            <a:gdLst/>
            <a:ahLst/>
            <a:cxnLst/>
            <a:rect l="l" t="t" r="r" b="b"/>
            <a:pathLst>
              <a:path w="571500" h="685164">
                <a:moveTo>
                  <a:pt x="285673" y="0"/>
                </a:moveTo>
                <a:lnTo>
                  <a:pt x="320124" y="22427"/>
                </a:lnTo>
                <a:lnTo>
                  <a:pt x="353014" y="48679"/>
                </a:lnTo>
                <a:lnTo>
                  <a:pt x="384232" y="78564"/>
                </a:lnTo>
                <a:lnTo>
                  <a:pt x="413666" y="111890"/>
                </a:lnTo>
                <a:lnTo>
                  <a:pt x="441201" y="148465"/>
                </a:lnTo>
                <a:lnTo>
                  <a:pt x="466726" y="188097"/>
                </a:lnTo>
                <a:lnTo>
                  <a:pt x="490128" y="230596"/>
                </a:lnTo>
                <a:lnTo>
                  <a:pt x="511294" y="275768"/>
                </a:lnTo>
                <a:lnTo>
                  <a:pt x="530112" y="323423"/>
                </a:lnTo>
                <a:lnTo>
                  <a:pt x="546468" y="373368"/>
                </a:lnTo>
                <a:lnTo>
                  <a:pt x="560251" y="425412"/>
                </a:lnTo>
                <a:lnTo>
                  <a:pt x="571347" y="479364"/>
                </a:lnTo>
                <a:lnTo>
                  <a:pt x="571347" y="684813"/>
                </a:lnTo>
                <a:lnTo>
                  <a:pt x="529087" y="657716"/>
                </a:lnTo>
                <a:lnTo>
                  <a:pt x="485981" y="635135"/>
                </a:lnTo>
                <a:lnTo>
                  <a:pt x="442185" y="617070"/>
                </a:lnTo>
                <a:lnTo>
                  <a:pt x="397851" y="603521"/>
                </a:lnTo>
                <a:lnTo>
                  <a:pt x="353134" y="594488"/>
                </a:lnTo>
                <a:lnTo>
                  <a:pt x="308186" y="589972"/>
                </a:lnTo>
                <a:lnTo>
                  <a:pt x="263161" y="589972"/>
                </a:lnTo>
                <a:lnTo>
                  <a:pt x="218213" y="594488"/>
                </a:lnTo>
                <a:lnTo>
                  <a:pt x="173496" y="603521"/>
                </a:lnTo>
                <a:lnTo>
                  <a:pt x="129162" y="617070"/>
                </a:lnTo>
                <a:lnTo>
                  <a:pt x="85366" y="635135"/>
                </a:lnTo>
                <a:lnTo>
                  <a:pt x="42260" y="657716"/>
                </a:lnTo>
                <a:lnTo>
                  <a:pt x="0" y="684813"/>
                </a:lnTo>
                <a:lnTo>
                  <a:pt x="0" y="479364"/>
                </a:lnTo>
                <a:lnTo>
                  <a:pt x="10871" y="425222"/>
                </a:lnTo>
                <a:lnTo>
                  <a:pt x="24491" y="373001"/>
                </a:lnTo>
                <a:lnTo>
                  <a:pt x="40741" y="322900"/>
                </a:lnTo>
                <a:lnTo>
                  <a:pt x="59502" y="275116"/>
                </a:lnTo>
                <a:lnTo>
                  <a:pt x="80654" y="229846"/>
                </a:lnTo>
                <a:lnTo>
                  <a:pt x="104078" y="187290"/>
                </a:lnTo>
                <a:lnTo>
                  <a:pt x="129656" y="147644"/>
                </a:lnTo>
                <a:lnTo>
                  <a:pt x="157268" y="111106"/>
                </a:lnTo>
                <a:lnTo>
                  <a:pt x="186795" y="77875"/>
                </a:lnTo>
                <a:lnTo>
                  <a:pt x="218117" y="48149"/>
                </a:lnTo>
                <a:lnTo>
                  <a:pt x="251117" y="22124"/>
                </a:lnTo>
                <a:lnTo>
                  <a:pt x="285673" y="0"/>
                </a:lnTo>
                <a:close/>
              </a:path>
            </a:pathLst>
          </a:custGeom>
          <a:ln w="432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584518" y="4804953"/>
            <a:ext cx="571500" cy="95250"/>
          </a:xfrm>
          <a:custGeom>
            <a:avLst/>
            <a:gdLst/>
            <a:ahLst/>
            <a:cxnLst/>
            <a:rect l="l" t="t" r="r" b="b"/>
            <a:pathLst>
              <a:path w="571500" h="95250">
                <a:moveTo>
                  <a:pt x="571347" y="94855"/>
                </a:moveTo>
                <a:lnTo>
                  <a:pt x="529087" y="67753"/>
                </a:lnTo>
                <a:lnTo>
                  <a:pt x="485981" y="45169"/>
                </a:lnTo>
                <a:lnTo>
                  <a:pt x="442185" y="27101"/>
                </a:lnTo>
                <a:lnTo>
                  <a:pt x="397851" y="13550"/>
                </a:lnTo>
                <a:lnTo>
                  <a:pt x="353134" y="4516"/>
                </a:lnTo>
                <a:lnTo>
                  <a:pt x="308186" y="0"/>
                </a:lnTo>
                <a:lnTo>
                  <a:pt x="263161" y="0"/>
                </a:lnTo>
                <a:lnTo>
                  <a:pt x="218213" y="4516"/>
                </a:lnTo>
                <a:lnTo>
                  <a:pt x="173496" y="13550"/>
                </a:lnTo>
                <a:lnTo>
                  <a:pt x="129162" y="27101"/>
                </a:lnTo>
                <a:lnTo>
                  <a:pt x="85366" y="45169"/>
                </a:lnTo>
                <a:lnTo>
                  <a:pt x="42260" y="67753"/>
                </a:lnTo>
                <a:lnTo>
                  <a:pt x="0" y="94855"/>
                </a:lnTo>
              </a:path>
            </a:pathLst>
          </a:custGeom>
          <a:ln w="412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141434" y="4488908"/>
            <a:ext cx="0" cy="527050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526785"/>
                </a:moveTo>
                <a:lnTo>
                  <a:pt x="0" y="0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427087" y="4488908"/>
            <a:ext cx="0" cy="527050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526785"/>
                </a:moveTo>
                <a:lnTo>
                  <a:pt x="0" y="0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284250" y="3962085"/>
            <a:ext cx="0" cy="527050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0"/>
                </a:moveTo>
                <a:lnTo>
                  <a:pt x="0" y="526823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998597" y="4146511"/>
            <a:ext cx="571500" cy="685165"/>
          </a:xfrm>
          <a:custGeom>
            <a:avLst/>
            <a:gdLst/>
            <a:ahLst/>
            <a:cxnLst/>
            <a:rect l="l" t="t" r="r" b="b"/>
            <a:pathLst>
              <a:path w="571500" h="685164">
                <a:moveTo>
                  <a:pt x="285694" y="0"/>
                </a:moveTo>
                <a:lnTo>
                  <a:pt x="251107" y="22124"/>
                </a:lnTo>
                <a:lnTo>
                  <a:pt x="218086" y="48149"/>
                </a:lnTo>
                <a:lnTo>
                  <a:pt x="186751" y="77875"/>
                </a:lnTo>
                <a:lnTo>
                  <a:pt x="157219" y="111106"/>
                </a:lnTo>
                <a:lnTo>
                  <a:pt x="129607" y="147644"/>
                </a:lnTo>
                <a:lnTo>
                  <a:pt x="104034" y="187290"/>
                </a:lnTo>
                <a:lnTo>
                  <a:pt x="80618" y="229846"/>
                </a:lnTo>
                <a:lnTo>
                  <a:pt x="59475" y="275116"/>
                </a:lnTo>
                <a:lnTo>
                  <a:pt x="40724" y="322900"/>
                </a:lnTo>
                <a:lnTo>
                  <a:pt x="24482" y="373001"/>
                </a:lnTo>
                <a:lnTo>
                  <a:pt x="10830" y="425412"/>
                </a:lnTo>
                <a:lnTo>
                  <a:pt x="0" y="479364"/>
                </a:lnTo>
                <a:lnTo>
                  <a:pt x="0" y="684813"/>
                </a:lnTo>
                <a:lnTo>
                  <a:pt x="42256" y="657716"/>
                </a:lnTo>
                <a:lnTo>
                  <a:pt x="85357" y="635135"/>
                </a:lnTo>
                <a:lnTo>
                  <a:pt x="129150" y="617070"/>
                </a:lnTo>
                <a:lnTo>
                  <a:pt x="173479" y="603521"/>
                </a:lnTo>
                <a:lnTo>
                  <a:pt x="218193" y="594488"/>
                </a:lnTo>
                <a:lnTo>
                  <a:pt x="263136" y="589972"/>
                </a:lnTo>
                <a:lnTo>
                  <a:pt x="571244" y="589972"/>
                </a:lnTo>
                <a:lnTo>
                  <a:pt x="571244" y="479364"/>
                </a:lnTo>
                <a:lnTo>
                  <a:pt x="560142" y="425222"/>
                </a:lnTo>
                <a:lnTo>
                  <a:pt x="546440" y="373368"/>
                </a:lnTo>
                <a:lnTo>
                  <a:pt x="530104" y="323423"/>
                </a:lnTo>
                <a:lnTo>
                  <a:pt x="511296" y="275768"/>
                </a:lnTo>
                <a:lnTo>
                  <a:pt x="490134" y="230596"/>
                </a:lnTo>
                <a:lnTo>
                  <a:pt x="466731" y="188097"/>
                </a:lnTo>
                <a:lnTo>
                  <a:pt x="441203" y="148465"/>
                </a:lnTo>
                <a:lnTo>
                  <a:pt x="413663" y="111890"/>
                </a:lnTo>
                <a:lnTo>
                  <a:pt x="384228" y="78564"/>
                </a:lnTo>
                <a:lnTo>
                  <a:pt x="353011" y="48679"/>
                </a:lnTo>
                <a:lnTo>
                  <a:pt x="320128" y="22427"/>
                </a:lnTo>
                <a:lnTo>
                  <a:pt x="285694" y="0"/>
                </a:lnTo>
                <a:close/>
              </a:path>
              <a:path w="571500" h="685164">
                <a:moveTo>
                  <a:pt x="571244" y="589972"/>
                </a:moveTo>
                <a:lnTo>
                  <a:pt x="308154" y="589972"/>
                </a:lnTo>
                <a:lnTo>
                  <a:pt x="353095" y="594488"/>
                </a:lnTo>
                <a:lnTo>
                  <a:pt x="397804" y="603521"/>
                </a:lnTo>
                <a:lnTo>
                  <a:pt x="442127" y="617070"/>
                </a:lnTo>
                <a:lnTo>
                  <a:pt x="485911" y="635135"/>
                </a:lnTo>
                <a:lnTo>
                  <a:pt x="529001" y="657716"/>
                </a:lnTo>
                <a:lnTo>
                  <a:pt x="571244" y="684813"/>
                </a:lnTo>
                <a:lnTo>
                  <a:pt x="571244" y="5899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998597" y="4146511"/>
            <a:ext cx="571500" cy="685165"/>
          </a:xfrm>
          <a:custGeom>
            <a:avLst/>
            <a:gdLst/>
            <a:ahLst/>
            <a:cxnLst/>
            <a:rect l="l" t="t" r="r" b="b"/>
            <a:pathLst>
              <a:path w="571500" h="685164">
                <a:moveTo>
                  <a:pt x="285694" y="0"/>
                </a:moveTo>
                <a:lnTo>
                  <a:pt x="320128" y="22427"/>
                </a:lnTo>
                <a:lnTo>
                  <a:pt x="353011" y="48679"/>
                </a:lnTo>
                <a:lnTo>
                  <a:pt x="384228" y="78564"/>
                </a:lnTo>
                <a:lnTo>
                  <a:pt x="413663" y="111890"/>
                </a:lnTo>
                <a:lnTo>
                  <a:pt x="441203" y="148465"/>
                </a:lnTo>
                <a:lnTo>
                  <a:pt x="466731" y="188097"/>
                </a:lnTo>
                <a:lnTo>
                  <a:pt x="490134" y="230596"/>
                </a:lnTo>
                <a:lnTo>
                  <a:pt x="511296" y="275768"/>
                </a:lnTo>
                <a:lnTo>
                  <a:pt x="530104" y="323423"/>
                </a:lnTo>
                <a:lnTo>
                  <a:pt x="546440" y="373368"/>
                </a:lnTo>
                <a:lnTo>
                  <a:pt x="560192" y="425412"/>
                </a:lnTo>
                <a:lnTo>
                  <a:pt x="571244" y="479364"/>
                </a:lnTo>
                <a:lnTo>
                  <a:pt x="571244" y="684813"/>
                </a:lnTo>
                <a:lnTo>
                  <a:pt x="529001" y="657716"/>
                </a:lnTo>
                <a:lnTo>
                  <a:pt x="485911" y="635135"/>
                </a:lnTo>
                <a:lnTo>
                  <a:pt x="442127" y="617070"/>
                </a:lnTo>
                <a:lnTo>
                  <a:pt x="397804" y="603521"/>
                </a:lnTo>
                <a:lnTo>
                  <a:pt x="353095" y="594488"/>
                </a:lnTo>
                <a:lnTo>
                  <a:pt x="308154" y="589972"/>
                </a:lnTo>
                <a:lnTo>
                  <a:pt x="263136" y="589972"/>
                </a:lnTo>
                <a:lnTo>
                  <a:pt x="218193" y="594488"/>
                </a:lnTo>
                <a:lnTo>
                  <a:pt x="173479" y="603521"/>
                </a:lnTo>
                <a:lnTo>
                  <a:pt x="129150" y="617070"/>
                </a:lnTo>
                <a:lnTo>
                  <a:pt x="85357" y="635135"/>
                </a:lnTo>
                <a:lnTo>
                  <a:pt x="42256" y="657716"/>
                </a:lnTo>
                <a:lnTo>
                  <a:pt x="0" y="684813"/>
                </a:lnTo>
                <a:lnTo>
                  <a:pt x="0" y="479364"/>
                </a:lnTo>
                <a:lnTo>
                  <a:pt x="10868" y="425222"/>
                </a:lnTo>
                <a:lnTo>
                  <a:pt x="24482" y="373001"/>
                </a:lnTo>
                <a:lnTo>
                  <a:pt x="40724" y="322900"/>
                </a:lnTo>
                <a:lnTo>
                  <a:pt x="59475" y="275116"/>
                </a:lnTo>
                <a:lnTo>
                  <a:pt x="80618" y="229846"/>
                </a:lnTo>
                <a:lnTo>
                  <a:pt x="104034" y="187290"/>
                </a:lnTo>
                <a:lnTo>
                  <a:pt x="129607" y="147644"/>
                </a:lnTo>
                <a:lnTo>
                  <a:pt x="157219" y="111106"/>
                </a:lnTo>
                <a:lnTo>
                  <a:pt x="186751" y="77875"/>
                </a:lnTo>
                <a:lnTo>
                  <a:pt x="218086" y="48149"/>
                </a:lnTo>
                <a:lnTo>
                  <a:pt x="251107" y="22124"/>
                </a:lnTo>
                <a:lnTo>
                  <a:pt x="285694" y="0"/>
                </a:lnTo>
                <a:close/>
              </a:path>
            </a:pathLst>
          </a:custGeom>
          <a:ln w="432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998597" y="4804953"/>
            <a:ext cx="571500" cy="95250"/>
          </a:xfrm>
          <a:custGeom>
            <a:avLst/>
            <a:gdLst/>
            <a:ahLst/>
            <a:cxnLst/>
            <a:rect l="l" t="t" r="r" b="b"/>
            <a:pathLst>
              <a:path w="571500" h="95250">
                <a:moveTo>
                  <a:pt x="571244" y="94855"/>
                </a:moveTo>
                <a:lnTo>
                  <a:pt x="529001" y="67753"/>
                </a:lnTo>
                <a:lnTo>
                  <a:pt x="485911" y="45169"/>
                </a:lnTo>
                <a:lnTo>
                  <a:pt x="442127" y="27101"/>
                </a:lnTo>
                <a:lnTo>
                  <a:pt x="397804" y="13550"/>
                </a:lnTo>
                <a:lnTo>
                  <a:pt x="353095" y="4516"/>
                </a:lnTo>
                <a:lnTo>
                  <a:pt x="308154" y="0"/>
                </a:lnTo>
                <a:lnTo>
                  <a:pt x="263136" y="0"/>
                </a:lnTo>
                <a:lnTo>
                  <a:pt x="218193" y="4516"/>
                </a:lnTo>
                <a:lnTo>
                  <a:pt x="173479" y="13550"/>
                </a:lnTo>
                <a:lnTo>
                  <a:pt x="129150" y="27101"/>
                </a:lnTo>
                <a:lnTo>
                  <a:pt x="85357" y="45169"/>
                </a:lnTo>
                <a:lnTo>
                  <a:pt x="42256" y="67753"/>
                </a:lnTo>
                <a:lnTo>
                  <a:pt x="0" y="94855"/>
                </a:lnTo>
              </a:path>
            </a:pathLst>
          </a:custGeom>
          <a:ln w="412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555471" y="4488908"/>
            <a:ext cx="0" cy="527050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526785"/>
                </a:moveTo>
                <a:lnTo>
                  <a:pt x="0" y="0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841125" y="4488908"/>
            <a:ext cx="0" cy="527050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526785"/>
                </a:moveTo>
                <a:lnTo>
                  <a:pt x="0" y="0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698308" y="3962085"/>
            <a:ext cx="0" cy="527050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0"/>
                </a:moveTo>
                <a:lnTo>
                  <a:pt x="0" y="526823"/>
                </a:lnTo>
              </a:path>
            </a:pathLst>
          </a:custGeom>
          <a:ln w="44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412655" y="4146511"/>
            <a:ext cx="571500" cy="685165"/>
          </a:xfrm>
          <a:custGeom>
            <a:avLst/>
            <a:gdLst/>
            <a:ahLst/>
            <a:cxnLst/>
            <a:rect l="l" t="t" r="r" b="b"/>
            <a:pathLst>
              <a:path w="571500" h="685164">
                <a:moveTo>
                  <a:pt x="285673" y="0"/>
                </a:moveTo>
                <a:lnTo>
                  <a:pt x="251091" y="22124"/>
                </a:lnTo>
                <a:lnTo>
                  <a:pt x="218074" y="48149"/>
                </a:lnTo>
                <a:lnTo>
                  <a:pt x="186742" y="77875"/>
                </a:lnTo>
                <a:lnTo>
                  <a:pt x="157213" y="111106"/>
                </a:lnTo>
                <a:lnTo>
                  <a:pt x="129603" y="147644"/>
                </a:lnTo>
                <a:lnTo>
                  <a:pt x="104032" y="187290"/>
                </a:lnTo>
                <a:lnTo>
                  <a:pt x="80616" y="229846"/>
                </a:lnTo>
                <a:lnTo>
                  <a:pt x="59474" y="275116"/>
                </a:lnTo>
                <a:lnTo>
                  <a:pt x="40723" y="322900"/>
                </a:lnTo>
                <a:lnTo>
                  <a:pt x="24482" y="373001"/>
                </a:lnTo>
                <a:lnTo>
                  <a:pt x="10830" y="425412"/>
                </a:lnTo>
                <a:lnTo>
                  <a:pt x="0" y="479364"/>
                </a:lnTo>
                <a:lnTo>
                  <a:pt x="0" y="684813"/>
                </a:lnTo>
                <a:lnTo>
                  <a:pt x="42256" y="657716"/>
                </a:lnTo>
                <a:lnTo>
                  <a:pt x="85357" y="635135"/>
                </a:lnTo>
                <a:lnTo>
                  <a:pt x="129150" y="617070"/>
                </a:lnTo>
                <a:lnTo>
                  <a:pt x="173481" y="603521"/>
                </a:lnTo>
                <a:lnTo>
                  <a:pt x="218196" y="594488"/>
                </a:lnTo>
                <a:lnTo>
                  <a:pt x="263142" y="589972"/>
                </a:lnTo>
                <a:lnTo>
                  <a:pt x="571306" y="589972"/>
                </a:lnTo>
                <a:lnTo>
                  <a:pt x="571306" y="479364"/>
                </a:lnTo>
                <a:lnTo>
                  <a:pt x="560180" y="425222"/>
                </a:lnTo>
                <a:lnTo>
                  <a:pt x="546460" y="373368"/>
                </a:lnTo>
                <a:lnTo>
                  <a:pt x="530109" y="323423"/>
                </a:lnTo>
                <a:lnTo>
                  <a:pt x="511291" y="275768"/>
                </a:lnTo>
                <a:lnTo>
                  <a:pt x="490121" y="230596"/>
                </a:lnTo>
                <a:lnTo>
                  <a:pt x="466713" y="188097"/>
                </a:lnTo>
                <a:lnTo>
                  <a:pt x="441182" y="148465"/>
                </a:lnTo>
                <a:lnTo>
                  <a:pt x="413641" y="111890"/>
                </a:lnTo>
                <a:lnTo>
                  <a:pt x="384206" y="78564"/>
                </a:lnTo>
                <a:lnTo>
                  <a:pt x="352990" y="48679"/>
                </a:lnTo>
                <a:lnTo>
                  <a:pt x="320107" y="22427"/>
                </a:lnTo>
                <a:lnTo>
                  <a:pt x="285673" y="0"/>
                </a:lnTo>
                <a:close/>
              </a:path>
              <a:path w="571500" h="685164">
                <a:moveTo>
                  <a:pt x="571306" y="589972"/>
                </a:moveTo>
                <a:lnTo>
                  <a:pt x="308164" y="589972"/>
                </a:lnTo>
                <a:lnTo>
                  <a:pt x="353109" y="594488"/>
                </a:lnTo>
                <a:lnTo>
                  <a:pt x="397824" y="603521"/>
                </a:lnTo>
                <a:lnTo>
                  <a:pt x="442155" y="617070"/>
                </a:lnTo>
                <a:lnTo>
                  <a:pt x="485948" y="635135"/>
                </a:lnTo>
                <a:lnTo>
                  <a:pt x="529050" y="657716"/>
                </a:lnTo>
                <a:lnTo>
                  <a:pt x="571306" y="684813"/>
                </a:lnTo>
                <a:lnTo>
                  <a:pt x="571306" y="5899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412655" y="4146511"/>
            <a:ext cx="571500" cy="685165"/>
          </a:xfrm>
          <a:custGeom>
            <a:avLst/>
            <a:gdLst/>
            <a:ahLst/>
            <a:cxnLst/>
            <a:rect l="l" t="t" r="r" b="b"/>
            <a:pathLst>
              <a:path w="571500" h="685164">
                <a:moveTo>
                  <a:pt x="285673" y="0"/>
                </a:moveTo>
                <a:lnTo>
                  <a:pt x="320107" y="22427"/>
                </a:lnTo>
                <a:lnTo>
                  <a:pt x="352990" y="48679"/>
                </a:lnTo>
                <a:lnTo>
                  <a:pt x="384206" y="78564"/>
                </a:lnTo>
                <a:lnTo>
                  <a:pt x="413641" y="111890"/>
                </a:lnTo>
                <a:lnTo>
                  <a:pt x="441182" y="148465"/>
                </a:lnTo>
                <a:lnTo>
                  <a:pt x="466713" y="188097"/>
                </a:lnTo>
                <a:lnTo>
                  <a:pt x="490121" y="230596"/>
                </a:lnTo>
                <a:lnTo>
                  <a:pt x="511291" y="275768"/>
                </a:lnTo>
                <a:lnTo>
                  <a:pt x="530109" y="323423"/>
                </a:lnTo>
                <a:lnTo>
                  <a:pt x="546460" y="373368"/>
                </a:lnTo>
                <a:lnTo>
                  <a:pt x="560231" y="425412"/>
                </a:lnTo>
                <a:lnTo>
                  <a:pt x="571306" y="479364"/>
                </a:lnTo>
                <a:lnTo>
                  <a:pt x="571306" y="684813"/>
                </a:lnTo>
                <a:lnTo>
                  <a:pt x="529050" y="657716"/>
                </a:lnTo>
                <a:lnTo>
                  <a:pt x="485948" y="635135"/>
                </a:lnTo>
                <a:lnTo>
                  <a:pt x="442155" y="617070"/>
                </a:lnTo>
                <a:lnTo>
                  <a:pt x="397824" y="603521"/>
                </a:lnTo>
                <a:lnTo>
                  <a:pt x="353109" y="594488"/>
                </a:lnTo>
                <a:lnTo>
                  <a:pt x="308164" y="589972"/>
                </a:lnTo>
                <a:lnTo>
                  <a:pt x="263142" y="589972"/>
                </a:lnTo>
                <a:lnTo>
                  <a:pt x="218196" y="594488"/>
                </a:lnTo>
                <a:lnTo>
                  <a:pt x="173481" y="603521"/>
                </a:lnTo>
                <a:lnTo>
                  <a:pt x="129150" y="617070"/>
                </a:lnTo>
                <a:lnTo>
                  <a:pt x="85357" y="635135"/>
                </a:lnTo>
                <a:lnTo>
                  <a:pt x="42256" y="657716"/>
                </a:lnTo>
                <a:lnTo>
                  <a:pt x="0" y="684813"/>
                </a:lnTo>
                <a:lnTo>
                  <a:pt x="0" y="479364"/>
                </a:lnTo>
                <a:lnTo>
                  <a:pt x="10868" y="425222"/>
                </a:lnTo>
                <a:lnTo>
                  <a:pt x="24482" y="373001"/>
                </a:lnTo>
                <a:lnTo>
                  <a:pt x="40723" y="322900"/>
                </a:lnTo>
                <a:lnTo>
                  <a:pt x="59474" y="275116"/>
                </a:lnTo>
                <a:lnTo>
                  <a:pt x="80616" y="229846"/>
                </a:lnTo>
                <a:lnTo>
                  <a:pt x="104032" y="187290"/>
                </a:lnTo>
                <a:lnTo>
                  <a:pt x="129603" y="147644"/>
                </a:lnTo>
                <a:lnTo>
                  <a:pt x="157213" y="111106"/>
                </a:lnTo>
                <a:lnTo>
                  <a:pt x="186742" y="77875"/>
                </a:lnTo>
                <a:lnTo>
                  <a:pt x="218074" y="48149"/>
                </a:lnTo>
                <a:lnTo>
                  <a:pt x="251091" y="22124"/>
                </a:lnTo>
                <a:lnTo>
                  <a:pt x="285673" y="0"/>
                </a:lnTo>
                <a:close/>
              </a:path>
            </a:pathLst>
          </a:custGeom>
          <a:ln w="432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412655" y="4804953"/>
            <a:ext cx="571500" cy="95250"/>
          </a:xfrm>
          <a:custGeom>
            <a:avLst/>
            <a:gdLst/>
            <a:ahLst/>
            <a:cxnLst/>
            <a:rect l="l" t="t" r="r" b="b"/>
            <a:pathLst>
              <a:path w="571500" h="95250">
                <a:moveTo>
                  <a:pt x="571306" y="94855"/>
                </a:moveTo>
                <a:lnTo>
                  <a:pt x="529050" y="67753"/>
                </a:lnTo>
                <a:lnTo>
                  <a:pt x="485948" y="45169"/>
                </a:lnTo>
                <a:lnTo>
                  <a:pt x="442155" y="27101"/>
                </a:lnTo>
                <a:lnTo>
                  <a:pt x="397824" y="13550"/>
                </a:lnTo>
                <a:lnTo>
                  <a:pt x="353109" y="4516"/>
                </a:lnTo>
                <a:lnTo>
                  <a:pt x="308164" y="0"/>
                </a:lnTo>
                <a:lnTo>
                  <a:pt x="263142" y="0"/>
                </a:lnTo>
                <a:lnTo>
                  <a:pt x="218196" y="4516"/>
                </a:lnTo>
                <a:lnTo>
                  <a:pt x="173481" y="13550"/>
                </a:lnTo>
                <a:lnTo>
                  <a:pt x="129150" y="27101"/>
                </a:lnTo>
                <a:lnTo>
                  <a:pt x="85357" y="45169"/>
                </a:lnTo>
                <a:lnTo>
                  <a:pt x="42256" y="67753"/>
                </a:lnTo>
                <a:lnTo>
                  <a:pt x="0" y="94855"/>
                </a:lnTo>
              </a:path>
            </a:pathLst>
          </a:custGeom>
          <a:ln w="412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112346" y="4749786"/>
            <a:ext cx="2201545" cy="440690"/>
          </a:xfrm>
          <a:custGeom>
            <a:avLst/>
            <a:gdLst/>
            <a:ahLst/>
            <a:cxnLst/>
            <a:rect l="l" t="t" r="r" b="b"/>
            <a:pathLst>
              <a:path w="2201545" h="440689">
                <a:moveTo>
                  <a:pt x="2201033" y="0"/>
                </a:moveTo>
                <a:lnTo>
                  <a:pt x="2201033" y="440290"/>
                </a:lnTo>
                <a:lnTo>
                  <a:pt x="0" y="440290"/>
                </a:lnTo>
              </a:path>
            </a:pathLst>
          </a:custGeom>
          <a:ln w="4130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727355" y="4749786"/>
            <a:ext cx="0" cy="440690"/>
          </a:xfrm>
          <a:custGeom>
            <a:avLst/>
            <a:gdLst/>
            <a:ahLst/>
            <a:cxnLst/>
            <a:rect l="l" t="t" r="r" b="b"/>
            <a:pathLst>
              <a:path h="440689">
                <a:moveTo>
                  <a:pt x="0" y="0"/>
                </a:moveTo>
                <a:lnTo>
                  <a:pt x="0" y="440290"/>
                </a:lnTo>
              </a:path>
            </a:pathLst>
          </a:custGeom>
          <a:ln w="446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141434" y="4749786"/>
            <a:ext cx="0" cy="440690"/>
          </a:xfrm>
          <a:custGeom>
            <a:avLst/>
            <a:gdLst/>
            <a:ahLst/>
            <a:cxnLst/>
            <a:rect l="l" t="t" r="r" b="b"/>
            <a:pathLst>
              <a:path h="440689">
                <a:moveTo>
                  <a:pt x="0" y="0"/>
                </a:moveTo>
                <a:lnTo>
                  <a:pt x="0" y="440290"/>
                </a:lnTo>
              </a:path>
            </a:pathLst>
          </a:custGeom>
          <a:ln w="446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555471" y="4749786"/>
            <a:ext cx="0" cy="440690"/>
          </a:xfrm>
          <a:custGeom>
            <a:avLst/>
            <a:gdLst/>
            <a:ahLst/>
            <a:cxnLst/>
            <a:rect l="l" t="t" r="r" b="b"/>
            <a:pathLst>
              <a:path h="440689">
                <a:moveTo>
                  <a:pt x="0" y="0"/>
                </a:moveTo>
                <a:lnTo>
                  <a:pt x="0" y="440290"/>
                </a:lnTo>
              </a:path>
            </a:pathLst>
          </a:custGeom>
          <a:ln w="446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7447026" y="3844290"/>
            <a:ext cx="2293620" cy="2312035"/>
          </a:xfrm>
          <a:prstGeom prst="rect">
            <a:avLst/>
          </a:prstGeom>
          <a:solidFill>
            <a:srgbClr val="CCFFCC"/>
          </a:solidFill>
          <a:ln w="19811">
            <a:solidFill>
              <a:srgbClr val="8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090" algn="just">
              <a:lnSpc>
                <a:spcPts val="3560"/>
              </a:lnSpc>
            </a:pPr>
            <a:r>
              <a:rPr sz="3000" i="1" spc="35" dirty="0">
                <a:latin typeface="Times New Roman"/>
                <a:cs typeface="Times New Roman"/>
              </a:rPr>
              <a:t>B</a:t>
            </a:r>
            <a:r>
              <a:rPr sz="2550" spc="52" baseline="-24509" dirty="0">
                <a:latin typeface="Times New Roman"/>
                <a:cs typeface="Times New Roman"/>
              </a:rPr>
              <a:t>3  </a:t>
            </a:r>
            <a:r>
              <a:rPr sz="3000" spc="125" dirty="0">
                <a:latin typeface="Symbol"/>
                <a:cs typeface="Symbol"/>
              </a:rPr>
              <a:t></a:t>
            </a:r>
            <a:r>
              <a:rPr sz="3000" spc="125" dirty="0">
                <a:latin typeface="Times New Roman"/>
                <a:cs typeface="Times New Roman"/>
              </a:rPr>
              <a:t> </a:t>
            </a:r>
            <a:r>
              <a:rPr sz="3000" i="1" spc="190" dirty="0">
                <a:latin typeface="Times New Roman"/>
                <a:cs typeface="Times New Roman"/>
              </a:rPr>
              <a:t>M </a:t>
            </a:r>
            <a:r>
              <a:rPr sz="3000" spc="175" dirty="0">
                <a:latin typeface="Symbol"/>
                <a:cs typeface="Symbol"/>
              </a:rPr>
              <a:t>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i="1" spc="45" dirty="0">
                <a:latin typeface="Times New Roman"/>
                <a:cs typeface="Times New Roman"/>
              </a:rPr>
              <a:t>D</a:t>
            </a:r>
            <a:r>
              <a:rPr sz="2550" spc="67" baseline="-24509" dirty="0">
                <a:latin typeface="Times New Roman"/>
                <a:cs typeface="Times New Roman"/>
              </a:rPr>
              <a:t>3</a:t>
            </a:r>
            <a:endParaRPr sz="2550" baseline="-24509">
              <a:latin typeface="Times New Roman"/>
              <a:cs typeface="Times New Roman"/>
            </a:endParaRPr>
          </a:p>
          <a:p>
            <a:pPr marL="85090" marR="99060" algn="just">
              <a:lnSpc>
                <a:spcPct val="126899"/>
              </a:lnSpc>
              <a:spcBef>
                <a:spcPts val="25"/>
              </a:spcBef>
            </a:pPr>
            <a:r>
              <a:rPr sz="3000" i="1" spc="65" dirty="0">
                <a:latin typeface="Times New Roman"/>
                <a:cs typeface="Times New Roman"/>
              </a:rPr>
              <a:t>B</a:t>
            </a:r>
            <a:r>
              <a:rPr sz="2550" spc="97" baseline="-24509" dirty="0">
                <a:latin typeface="Times New Roman"/>
                <a:cs typeface="Times New Roman"/>
              </a:rPr>
              <a:t>2 </a:t>
            </a:r>
            <a:r>
              <a:rPr sz="3000" spc="125" dirty="0">
                <a:latin typeface="Symbol"/>
                <a:cs typeface="Symbol"/>
              </a:rPr>
              <a:t></a:t>
            </a:r>
            <a:r>
              <a:rPr sz="3000" spc="125" dirty="0">
                <a:latin typeface="Times New Roman"/>
                <a:cs typeface="Times New Roman"/>
              </a:rPr>
              <a:t> </a:t>
            </a:r>
            <a:r>
              <a:rPr sz="3000" i="1" spc="190" dirty="0">
                <a:latin typeface="Times New Roman"/>
                <a:cs typeface="Times New Roman"/>
              </a:rPr>
              <a:t>M </a:t>
            </a:r>
            <a:r>
              <a:rPr sz="3000" spc="175" dirty="0">
                <a:latin typeface="Symbol"/>
                <a:cs typeface="Symbol"/>
              </a:rPr>
              <a:t>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i="1" spc="80" dirty="0">
                <a:latin typeface="Times New Roman"/>
                <a:cs typeface="Times New Roman"/>
              </a:rPr>
              <a:t>D</a:t>
            </a:r>
            <a:r>
              <a:rPr sz="2550" spc="120" baseline="-24509" dirty="0">
                <a:latin typeface="Times New Roman"/>
                <a:cs typeface="Times New Roman"/>
              </a:rPr>
              <a:t>2  </a:t>
            </a:r>
            <a:r>
              <a:rPr sz="3000" i="1" spc="-40" dirty="0">
                <a:latin typeface="Times New Roman"/>
                <a:cs typeface="Times New Roman"/>
              </a:rPr>
              <a:t>B</a:t>
            </a:r>
            <a:r>
              <a:rPr sz="2550" spc="-60" baseline="-24509" dirty="0">
                <a:latin typeface="Times New Roman"/>
                <a:cs typeface="Times New Roman"/>
              </a:rPr>
              <a:t>1 </a:t>
            </a:r>
            <a:r>
              <a:rPr sz="3000" spc="125" dirty="0">
                <a:latin typeface="Symbol"/>
                <a:cs typeface="Symbol"/>
              </a:rPr>
              <a:t></a:t>
            </a:r>
            <a:r>
              <a:rPr sz="3000" spc="125" dirty="0">
                <a:latin typeface="Times New Roman"/>
                <a:cs typeface="Times New Roman"/>
              </a:rPr>
              <a:t> </a:t>
            </a:r>
            <a:r>
              <a:rPr sz="3000" i="1" spc="190" dirty="0">
                <a:latin typeface="Times New Roman"/>
                <a:cs typeface="Times New Roman"/>
              </a:rPr>
              <a:t>M </a:t>
            </a:r>
            <a:r>
              <a:rPr sz="3000" spc="175" dirty="0">
                <a:latin typeface="Symbol"/>
                <a:cs typeface="Symbol"/>
              </a:rPr>
              <a:t></a:t>
            </a:r>
            <a:r>
              <a:rPr sz="3000" spc="175" dirty="0">
                <a:latin typeface="Times New Roman"/>
                <a:cs typeface="Times New Roman"/>
              </a:rPr>
              <a:t> </a:t>
            </a:r>
            <a:r>
              <a:rPr sz="3000" i="1" spc="-25" dirty="0">
                <a:latin typeface="Times New Roman"/>
                <a:cs typeface="Times New Roman"/>
              </a:rPr>
              <a:t>D</a:t>
            </a:r>
            <a:r>
              <a:rPr sz="2550" spc="-37" baseline="-24509" dirty="0">
                <a:latin typeface="Times New Roman"/>
                <a:cs typeface="Times New Roman"/>
              </a:rPr>
              <a:t>1  </a:t>
            </a:r>
            <a:r>
              <a:rPr sz="3000" i="1" spc="50" dirty="0">
                <a:latin typeface="Times New Roman"/>
                <a:cs typeface="Times New Roman"/>
              </a:rPr>
              <a:t>B</a:t>
            </a:r>
            <a:r>
              <a:rPr sz="2550" spc="75" baseline="-24509" dirty="0">
                <a:latin typeface="Times New Roman"/>
                <a:cs typeface="Times New Roman"/>
              </a:rPr>
              <a:t>0  </a:t>
            </a:r>
            <a:r>
              <a:rPr sz="3000" spc="125" dirty="0">
                <a:latin typeface="Symbol"/>
                <a:cs typeface="Symbol"/>
              </a:rPr>
              <a:t></a:t>
            </a:r>
            <a:r>
              <a:rPr sz="3000" spc="125" dirty="0">
                <a:latin typeface="Times New Roman"/>
                <a:cs typeface="Times New Roman"/>
              </a:rPr>
              <a:t> </a:t>
            </a:r>
            <a:r>
              <a:rPr sz="3000" i="1" spc="190" dirty="0">
                <a:latin typeface="Times New Roman"/>
                <a:cs typeface="Times New Roman"/>
              </a:rPr>
              <a:t>M </a:t>
            </a:r>
            <a:r>
              <a:rPr sz="3000" spc="175" dirty="0">
                <a:latin typeface="Symbol"/>
                <a:cs typeface="Symbol"/>
              </a:rPr>
              <a:t>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i="1" spc="70" dirty="0">
                <a:latin typeface="Times New Roman"/>
                <a:cs typeface="Times New Roman"/>
              </a:rPr>
              <a:t>D</a:t>
            </a:r>
            <a:r>
              <a:rPr sz="2550" spc="104" baseline="-24509" dirty="0">
                <a:latin typeface="Times New Roman"/>
                <a:cs typeface="Times New Roman"/>
              </a:rPr>
              <a:t>0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7903464" y="806195"/>
            <a:ext cx="1411605" cy="2771140"/>
          </a:xfrm>
          <a:custGeom>
            <a:avLst/>
            <a:gdLst/>
            <a:ahLst/>
            <a:cxnLst/>
            <a:rect l="l" t="t" r="r" b="b"/>
            <a:pathLst>
              <a:path w="1411604" h="2771140">
                <a:moveTo>
                  <a:pt x="0" y="2770631"/>
                </a:moveTo>
                <a:lnTo>
                  <a:pt x="1411224" y="2770631"/>
                </a:lnTo>
                <a:lnTo>
                  <a:pt x="1411224" y="0"/>
                </a:lnTo>
                <a:lnTo>
                  <a:pt x="0" y="0"/>
                </a:lnTo>
                <a:lnTo>
                  <a:pt x="0" y="2770631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>
            <a:spLocks noGrp="1"/>
          </p:cNvSpPr>
          <p:nvPr>
            <p:ph type="title"/>
          </p:nvPr>
        </p:nvSpPr>
        <p:spPr>
          <a:xfrm>
            <a:off x="7973128" y="645100"/>
            <a:ext cx="1212215" cy="1197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17780">
              <a:lnSpc>
                <a:spcPct val="128200"/>
              </a:lnSpc>
              <a:spcBef>
                <a:spcPts val="95"/>
              </a:spcBef>
              <a:tabLst>
                <a:tab pos="487045" algn="l"/>
              </a:tabLst>
            </a:pPr>
            <a:r>
              <a:rPr sz="3000" i="1" spc="-45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550" spc="-67" baseline="-26143" dirty="0">
                <a:solidFill>
                  <a:srgbClr val="000000"/>
                </a:solidFill>
                <a:latin typeface="Times New Roman"/>
                <a:cs typeface="Times New Roman"/>
              </a:rPr>
              <a:t>3	</a:t>
            </a:r>
            <a:r>
              <a:rPr sz="3000" spc="120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3000" spc="-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000" i="1" spc="100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2550" spc="150" baseline="-26143" dirty="0">
                <a:solidFill>
                  <a:srgbClr val="000000"/>
                </a:solidFill>
                <a:latin typeface="Times New Roman"/>
                <a:cs typeface="Times New Roman"/>
              </a:rPr>
              <a:t>3  </a:t>
            </a:r>
            <a:r>
              <a:rPr sz="3000" i="1" spc="-15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550" spc="-22" baseline="-24509" dirty="0">
                <a:solidFill>
                  <a:srgbClr val="000000"/>
                </a:solidFill>
                <a:latin typeface="Times New Roman"/>
                <a:cs typeface="Times New Roman"/>
              </a:rPr>
              <a:t>2	</a:t>
            </a:r>
            <a:r>
              <a:rPr sz="3000" spc="120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3000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000" i="1" spc="145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973128" y="1817976"/>
            <a:ext cx="708025" cy="118999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80"/>
              </a:spcBef>
            </a:pPr>
            <a:r>
              <a:rPr sz="3000" i="1" spc="-114" dirty="0">
                <a:latin typeface="Times New Roman"/>
                <a:cs typeface="Times New Roman"/>
              </a:rPr>
              <a:t>A</a:t>
            </a:r>
            <a:r>
              <a:rPr sz="2550" spc="-172" baseline="-24509" dirty="0">
                <a:latin typeface="Times New Roman"/>
                <a:cs typeface="Times New Roman"/>
              </a:rPr>
              <a:t>1</a:t>
            </a:r>
            <a:r>
              <a:rPr sz="2550" spc="195" baseline="-24509" dirty="0">
                <a:latin typeface="Times New Roman"/>
                <a:cs typeface="Times New Roman"/>
              </a:rPr>
              <a:t> </a:t>
            </a:r>
            <a:r>
              <a:rPr sz="3000" spc="120" dirty="0">
                <a:latin typeface="Symbol"/>
                <a:cs typeface="Symbol"/>
              </a:rPr>
              <a:t></a:t>
            </a:r>
            <a:endParaRPr sz="3000">
              <a:latin typeface="Symbol"/>
              <a:cs typeface="Symbol"/>
            </a:endParaRPr>
          </a:p>
          <a:p>
            <a:pPr marL="25400">
              <a:lnSpc>
                <a:spcPct val="100000"/>
              </a:lnSpc>
              <a:spcBef>
                <a:spcPts val="985"/>
              </a:spcBef>
            </a:pPr>
            <a:r>
              <a:rPr sz="3000" i="1" spc="130" dirty="0">
                <a:latin typeface="Times New Roman"/>
                <a:cs typeface="Times New Roman"/>
              </a:rPr>
              <a:t>A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7893557" y="796290"/>
            <a:ext cx="1431290" cy="2790825"/>
          </a:xfrm>
          <a:custGeom>
            <a:avLst/>
            <a:gdLst/>
            <a:ahLst/>
            <a:cxnLst/>
            <a:rect l="l" t="t" r="r" b="b"/>
            <a:pathLst>
              <a:path w="1431290" h="2790825">
                <a:moveTo>
                  <a:pt x="0" y="2790443"/>
                </a:moveTo>
                <a:lnTo>
                  <a:pt x="1431036" y="2790443"/>
                </a:lnTo>
                <a:lnTo>
                  <a:pt x="1431036" y="0"/>
                </a:lnTo>
                <a:lnTo>
                  <a:pt x="0" y="0"/>
                </a:lnTo>
                <a:lnTo>
                  <a:pt x="0" y="2790443"/>
                </a:lnTo>
                <a:close/>
              </a:path>
            </a:pathLst>
          </a:custGeom>
          <a:ln w="19812">
            <a:solidFill>
              <a:srgbClr val="8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4040" y="387172"/>
            <a:ext cx="2769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隶书"/>
                <a:cs typeface="隶书"/>
              </a:rPr>
              <a:t>2</a:t>
            </a:r>
            <a:r>
              <a:rPr sz="3600" spc="-85" dirty="0">
                <a:latin typeface="隶书"/>
                <a:cs typeface="隶书"/>
              </a:rPr>
              <a:t> </a:t>
            </a:r>
            <a:r>
              <a:rPr sz="3600" spc="-5" dirty="0">
                <a:latin typeface="隶书"/>
                <a:cs typeface="隶书"/>
              </a:rPr>
              <a:t>数据选择器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4040" y="1211072"/>
            <a:ext cx="6779259" cy="1256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数据选择器又称为多路开关、多路</a:t>
            </a:r>
            <a:r>
              <a:rPr sz="2800" spc="5" dirty="0">
                <a:solidFill>
                  <a:srgbClr val="BE7300"/>
                </a:solidFill>
                <a:latin typeface="华文楷体"/>
                <a:cs typeface="华文楷体"/>
              </a:rPr>
              <a:t>转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换器。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980"/>
              </a:spcBef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功能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8198" y="2839865"/>
            <a:ext cx="3579495" cy="1913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5"/>
              </a:lnSpc>
            </a:pP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输入信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号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中选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择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一个信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4750">
              <a:latin typeface="华文楷体"/>
              <a:cs typeface="华文楷体"/>
            </a:endParaRPr>
          </a:p>
          <a:p>
            <a:pPr marL="10795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到输出</a:t>
            </a:r>
            <a:r>
              <a:rPr sz="2950" i="1" spc="-45" dirty="0">
                <a:solidFill>
                  <a:srgbClr val="BE7300"/>
                </a:solidFill>
                <a:latin typeface="华文楷体"/>
                <a:cs typeface="华文楷体"/>
              </a:rPr>
              <a:t>F</a:t>
            </a:r>
            <a:r>
              <a:rPr sz="2800" spc="-45" dirty="0">
                <a:solidFill>
                  <a:srgbClr val="BE7300"/>
                </a:solidFill>
                <a:latin typeface="华文楷体"/>
                <a:cs typeface="华文楷体"/>
              </a:rPr>
              <a:t>，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称为</a:t>
            </a:r>
            <a:r>
              <a:rPr sz="2800" spc="-30" dirty="0">
                <a:solidFill>
                  <a:srgbClr val="BE7300"/>
                </a:solidFill>
                <a:latin typeface="华文楷体"/>
                <a:cs typeface="华文楷体"/>
              </a:rPr>
              <a:t> </a:t>
            </a: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4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选</a:t>
            </a: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数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1539" y="2607843"/>
            <a:ext cx="4903470" cy="2751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39700" indent="457200">
              <a:lnSpc>
                <a:spcPct val="150100"/>
              </a:lnSpc>
              <a:spcBef>
                <a:spcPts val="100"/>
              </a:spcBef>
            </a:pP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在控制信号作用下，从多个 号到输出。</a:t>
            </a:r>
            <a:endParaRPr sz="2800">
              <a:latin typeface="华文楷体"/>
              <a:cs typeface="华文楷体"/>
            </a:endParaRPr>
          </a:p>
          <a:p>
            <a:pPr marL="38100" marR="30480" indent="457200">
              <a:lnSpc>
                <a:spcPct val="146700"/>
              </a:lnSpc>
              <a:spcBef>
                <a:spcPts val="1170"/>
              </a:spcBef>
            </a:pP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如从</a:t>
            </a: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4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路信号</a:t>
            </a:r>
            <a:r>
              <a:rPr sz="2950" i="1" spc="-120" dirty="0">
                <a:solidFill>
                  <a:srgbClr val="BE7300"/>
                </a:solidFill>
                <a:latin typeface="华文楷体"/>
                <a:cs typeface="华文楷体"/>
              </a:rPr>
              <a:t>D</a:t>
            </a:r>
            <a:r>
              <a:rPr sz="2775" spc="7" baseline="-21021" dirty="0">
                <a:solidFill>
                  <a:srgbClr val="BE7300"/>
                </a:solidFill>
                <a:latin typeface="华文楷体"/>
                <a:cs typeface="华文楷体"/>
              </a:rPr>
              <a:t>0</a:t>
            </a: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~</a:t>
            </a:r>
            <a:r>
              <a:rPr sz="2950" i="1" spc="-120" dirty="0">
                <a:solidFill>
                  <a:srgbClr val="BE7300"/>
                </a:solidFill>
                <a:latin typeface="华文楷体"/>
                <a:cs typeface="华文楷体"/>
              </a:rPr>
              <a:t>D</a:t>
            </a:r>
            <a:r>
              <a:rPr sz="2775" spc="7" baseline="-21021" dirty="0">
                <a:solidFill>
                  <a:srgbClr val="BE7300"/>
                </a:solidFill>
                <a:latin typeface="华文楷体"/>
                <a:cs typeface="华文楷体"/>
              </a:rPr>
              <a:t>3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中选一个 据选择器。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47588" y="2636520"/>
            <a:ext cx="3840479" cy="2032000"/>
          </a:xfrm>
          <a:custGeom>
            <a:avLst/>
            <a:gdLst/>
            <a:ahLst/>
            <a:cxnLst/>
            <a:rect l="l" t="t" r="r" b="b"/>
            <a:pathLst>
              <a:path w="3840479" h="2032000">
                <a:moveTo>
                  <a:pt x="0" y="2031491"/>
                </a:moveTo>
                <a:lnTo>
                  <a:pt x="3840479" y="2031491"/>
                </a:lnTo>
                <a:lnTo>
                  <a:pt x="3840479" y="0"/>
                </a:lnTo>
                <a:lnTo>
                  <a:pt x="0" y="0"/>
                </a:lnTo>
                <a:lnTo>
                  <a:pt x="0" y="2031491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41260" y="2696298"/>
            <a:ext cx="782320" cy="0"/>
          </a:xfrm>
          <a:custGeom>
            <a:avLst/>
            <a:gdLst/>
            <a:ahLst/>
            <a:cxnLst/>
            <a:rect l="l" t="t" r="r" b="b"/>
            <a:pathLst>
              <a:path w="782320">
                <a:moveTo>
                  <a:pt x="0" y="0"/>
                </a:moveTo>
                <a:lnTo>
                  <a:pt x="782169" y="0"/>
                </a:lnTo>
              </a:path>
            </a:pathLst>
          </a:custGeom>
          <a:ln w="392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41260" y="3058166"/>
            <a:ext cx="782320" cy="0"/>
          </a:xfrm>
          <a:custGeom>
            <a:avLst/>
            <a:gdLst/>
            <a:ahLst/>
            <a:cxnLst/>
            <a:rect l="l" t="t" r="r" b="b"/>
            <a:pathLst>
              <a:path w="782320">
                <a:moveTo>
                  <a:pt x="0" y="0"/>
                </a:moveTo>
                <a:lnTo>
                  <a:pt x="782169" y="0"/>
                </a:lnTo>
              </a:path>
            </a:pathLst>
          </a:custGeom>
          <a:ln w="392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41260" y="3418677"/>
            <a:ext cx="782320" cy="0"/>
          </a:xfrm>
          <a:custGeom>
            <a:avLst/>
            <a:gdLst/>
            <a:ahLst/>
            <a:cxnLst/>
            <a:rect l="l" t="t" r="r" b="b"/>
            <a:pathLst>
              <a:path w="782320">
                <a:moveTo>
                  <a:pt x="0" y="0"/>
                </a:moveTo>
                <a:lnTo>
                  <a:pt x="782169" y="0"/>
                </a:lnTo>
              </a:path>
            </a:pathLst>
          </a:custGeom>
          <a:ln w="392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41261" y="3780456"/>
            <a:ext cx="782320" cy="0"/>
          </a:xfrm>
          <a:custGeom>
            <a:avLst/>
            <a:gdLst/>
            <a:ahLst/>
            <a:cxnLst/>
            <a:rect l="l" t="t" r="r" b="b"/>
            <a:pathLst>
              <a:path w="782320">
                <a:moveTo>
                  <a:pt x="0" y="0"/>
                </a:moveTo>
                <a:lnTo>
                  <a:pt x="782169" y="0"/>
                </a:lnTo>
              </a:path>
            </a:pathLst>
          </a:custGeom>
          <a:ln w="392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293985" y="3237769"/>
            <a:ext cx="782320" cy="0"/>
          </a:xfrm>
          <a:custGeom>
            <a:avLst/>
            <a:gdLst/>
            <a:ahLst/>
            <a:cxnLst/>
            <a:rect l="l" t="t" r="r" b="b"/>
            <a:pathLst>
              <a:path w="782320">
                <a:moveTo>
                  <a:pt x="0" y="0"/>
                </a:moveTo>
                <a:lnTo>
                  <a:pt x="782224" y="0"/>
                </a:lnTo>
              </a:path>
            </a:pathLst>
          </a:custGeom>
          <a:ln w="392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57629" y="3359996"/>
            <a:ext cx="805815" cy="745490"/>
          </a:xfrm>
          <a:custGeom>
            <a:avLst/>
            <a:gdLst/>
            <a:ahLst/>
            <a:cxnLst/>
            <a:rect l="l" t="t" r="r" b="b"/>
            <a:pathLst>
              <a:path w="805815" h="745489">
                <a:moveTo>
                  <a:pt x="805502" y="0"/>
                </a:moveTo>
                <a:lnTo>
                  <a:pt x="0" y="745076"/>
                </a:lnTo>
              </a:path>
            </a:pathLst>
          </a:custGeom>
          <a:ln w="40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02389" y="3237769"/>
            <a:ext cx="191770" cy="178435"/>
          </a:xfrm>
          <a:custGeom>
            <a:avLst/>
            <a:gdLst/>
            <a:ahLst/>
            <a:cxnLst/>
            <a:rect l="l" t="t" r="r" b="b"/>
            <a:pathLst>
              <a:path w="191770" h="178435">
                <a:moveTo>
                  <a:pt x="191596" y="0"/>
                </a:moveTo>
                <a:lnTo>
                  <a:pt x="0" y="89041"/>
                </a:lnTo>
                <a:lnTo>
                  <a:pt x="96693" y="178146"/>
                </a:lnTo>
                <a:lnTo>
                  <a:pt x="1915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82832" y="2652364"/>
            <a:ext cx="261620" cy="1127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just">
              <a:lnSpc>
                <a:spcPct val="100499"/>
              </a:lnSpc>
              <a:spcBef>
                <a:spcPts val="90"/>
              </a:spcBef>
            </a:pPr>
            <a:r>
              <a:rPr sz="1800" b="1" spc="105" dirty="0">
                <a:latin typeface="Microsoft JhengHei"/>
                <a:cs typeface="Microsoft JhengHei"/>
              </a:rPr>
              <a:t>输 入 信 号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18772" y="2927469"/>
            <a:ext cx="511809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800" b="1" spc="140" dirty="0">
                <a:latin typeface="Microsoft JhengHei"/>
                <a:cs typeface="Microsoft JhengHei"/>
              </a:rPr>
              <a:t>输出 信号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08040" y="3888560"/>
            <a:ext cx="391795" cy="433070"/>
          </a:xfrm>
          <a:custGeom>
            <a:avLst/>
            <a:gdLst/>
            <a:ahLst/>
            <a:cxnLst/>
            <a:rect l="l" t="t" r="r" b="b"/>
            <a:pathLst>
              <a:path w="391795" h="433070">
                <a:moveTo>
                  <a:pt x="195866" y="0"/>
                </a:moveTo>
                <a:lnTo>
                  <a:pt x="0" y="180895"/>
                </a:lnTo>
                <a:lnTo>
                  <a:pt x="129613" y="180895"/>
                </a:lnTo>
                <a:lnTo>
                  <a:pt x="129613" y="433024"/>
                </a:lnTo>
                <a:lnTo>
                  <a:pt x="262119" y="433024"/>
                </a:lnTo>
                <a:lnTo>
                  <a:pt x="262118" y="180895"/>
                </a:lnTo>
                <a:lnTo>
                  <a:pt x="391732" y="180895"/>
                </a:lnTo>
                <a:lnTo>
                  <a:pt x="195866" y="0"/>
                </a:lnTo>
                <a:close/>
              </a:path>
            </a:pathLst>
          </a:custGeom>
          <a:ln w="292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539859" y="4329748"/>
            <a:ext cx="7613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160" dirty="0">
                <a:latin typeface="Microsoft JhengHei"/>
                <a:cs typeface="Microsoft JhengHei"/>
              </a:rPr>
              <a:t>控制端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24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4693411" y="0"/>
            <a:ext cx="2485390" cy="10185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0960" marR="5080" indent="-48895">
              <a:lnSpc>
                <a:spcPts val="3970"/>
              </a:lnSpc>
              <a:spcBef>
                <a:spcPts val="130"/>
              </a:spcBef>
            </a:pPr>
            <a:r>
              <a:rPr sz="3200" dirty="0">
                <a:solidFill>
                  <a:srgbClr val="000000"/>
                </a:solidFill>
                <a:latin typeface="Arial"/>
                <a:cs typeface="Arial"/>
              </a:rPr>
              <a:t>Data</a:t>
            </a:r>
            <a:r>
              <a:rPr sz="320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000000"/>
                </a:solidFill>
                <a:latin typeface="Arial"/>
                <a:cs typeface="Arial"/>
              </a:rPr>
              <a:t>Selector  Multiplexer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17675" y="2165604"/>
            <a:ext cx="1826260" cy="585470"/>
          </a:xfrm>
          <a:prstGeom prst="rect">
            <a:avLst/>
          </a:prstGeom>
          <a:solidFill>
            <a:srgbClr val="FFBB57"/>
          </a:solidFill>
        </p:spPr>
        <p:txBody>
          <a:bodyPr vert="horz" wrap="square" lIns="0" tIns="1968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5"/>
              </a:spcBef>
            </a:pP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列真值表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49240" y="1231747"/>
            <a:ext cx="323850" cy="0"/>
          </a:xfrm>
          <a:custGeom>
            <a:avLst/>
            <a:gdLst/>
            <a:ahLst/>
            <a:cxnLst/>
            <a:rect l="l" t="t" r="r" b="b"/>
            <a:pathLst>
              <a:path w="323850">
                <a:moveTo>
                  <a:pt x="0" y="0"/>
                </a:moveTo>
                <a:lnTo>
                  <a:pt x="323610" y="0"/>
                </a:lnTo>
              </a:path>
            </a:pathLst>
          </a:custGeom>
          <a:ln w="2442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19633" y="1114667"/>
            <a:ext cx="5100320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5325" i="1" spc="142" baseline="-9389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E</a:t>
            </a:r>
            <a:r>
              <a:rPr sz="5325" i="1" spc="-22" baseline="-9389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</a:rPr>
              <a:t>为使能端，表示低电平有效。</a:t>
            </a:r>
            <a:endParaRPr sz="2800" dirty="0">
              <a:highlight>
                <a:srgbClr val="FFFF00"/>
              </a:highlight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97683" y="2779860"/>
            <a:ext cx="217170" cy="0"/>
          </a:xfrm>
          <a:custGeom>
            <a:avLst/>
            <a:gdLst/>
            <a:ahLst/>
            <a:cxnLst/>
            <a:rect l="l" t="t" r="r" b="b"/>
            <a:pathLst>
              <a:path w="217170">
                <a:moveTo>
                  <a:pt x="0" y="0"/>
                </a:moveTo>
                <a:lnTo>
                  <a:pt x="217064" y="0"/>
                </a:lnTo>
              </a:path>
            </a:pathLst>
          </a:custGeom>
          <a:ln w="16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061075" y="2110104"/>
          <a:ext cx="3739513" cy="36270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7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 gridSpan="3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输入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7780" marB="0">
                    <a:lnL w="38100">
                      <a:solidFill>
                        <a:srgbClr val="7E4D00"/>
                      </a:solidFill>
                      <a:prstDash val="solid"/>
                    </a:lnL>
                    <a:lnR w="19050">
                      <a:solidFill>
                        <a:srgbClr val="7E4D00"/>
                      </a:solidFill>
                      <a:prstDash val="solid"/>
                    </a:lnR>
                    <a:lnT w="38100">
                      <a:solidFill>
                        <a:srgbClr val="7E4D00"/>
                      </a:solidFill>
                      <a:prstDash val="solid"/>
                    </a:lnT>
                    <a:lnB w="19050">
                      <a:solidFill>
                        <a:srgbClr val="7E4D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输出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7E4D00"/>
                      </a:solidFill>
                      <a:prstDash val="solid"/>
                    </a:lnL>
                    <a:lnR w="38100">
                      <a:solidFill>
                        <a:srgbClr val="7E4D00"/>
                      </a:solidFill>
                      <a:prstDash val="solid"/>
                    </a:lnR>
                    <a:lnT w="38100">
                      <a:solidFill>
                        <a:srgbClr val="7E4D00"/>
                      </a:solidFill>
                      <a:prstDash val="solid"/>
                    </a:lnT>
                    <a:lnB w="19050">
                      <a:solidFill>
                        <a:srgbClr val="7E4D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235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116205" marB="0">
                    <a:lnL w="38100">
                      <a:solidFill>
                        <a:srgbClr val="7E4D00"/>
                      </a:solidFill>
                      <a:prstDash val="solid"/>
                    </a:lnL>
                    <a:lnR w="19050">
                      <a:solidFill>
                        <a:srgbClr val="7E4D00"/>
                      </a:solidFill>
                      <a:prstDash val="solid"/>
                    </a:lnR>
                    <a:lnT w="19050">
                      <a:solidFill>
                        <a:srgbClr val="7E4D00"/>
                      </a:solidFill>
                      <a:prstDash val="solid"/>
                    </a:lnT>
                    <a:lnB w="1905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75" b="1" baseline="-21021" dirty="0"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7E4D00"/>
                      </a:solidFill>
                      <a:prstDash val="solid"/>
                    </a:lnL>
                    <a:lnT w="19050">
                      <a:solidFill>
                        <a:srgbClr val="7E4D00"/>
                      </a:solidFill>
                      <a:prstDash val="solid"/>
                    </a:lnT>
                    <a:lnB w="1905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75" b="1" baseline="-21021" dirty="0">
                          <a:latin typeface="Times New Roman"/>
                          <a:cs typeface="Times New Roman"/>
                        </a:rPr>
                        <a:t>0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R w="19050">
                      <a:solidFill>
                        <a:srgbClr val="7E4D00"/>
                      </a:solidFill>
                      <a:prstDash val="solid"/>
                    </a:lnR>
                    <a:lnT w="19050">
                      <a:solidFill>
                        <a:srgbClr val="7E4D00"/>
                      </a:solidFill>
                      <a:prstDash val="solid"/>
                    </a:lnT>
                    <a:lnB w="1905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7E4D00"/>
                      </a:solidFill>
                      <a:prstDash val="solid"/>
                    </a:lnL>
                    <a:lnR w="38100">
                      <a:solidFill>
                        <a:srgbClr val="7E4D00"/>
                      </a:solidFill>
                      <a:prstDash val="solid"/>
                    </a:lnR>
                    <a:lnT w="19050">
                      <a:solidFill>
                        <a:srgbClr val="7E4D00"/>
                      </a:solidFill>
                      <a:prstDash val="solid"/>
                    </a:lnT>
                    <a:lnB w="1905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7E4D00"/>
                      </a:solidFill>
                      <a:prstDash val="solid"/>
                    </a:lnL>
                    <a:lnR w="19050">
                      <a:solidFill>
                        <a:srgbClr val="7E4D00"/>
                      </a:solidFill>
                      <a:prstDash val="solid"/>
                    </a:lnR>
                    <a:lnT w="19050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b="1" spc="-10" dirty="0">
                          <a:solidFill>
                            <a:srgbClr val="7E4D00"/>
                          </a:solidFill>
                          <a:latin typeface="华文楷体"/>
                          <a:cs typeface="华文楷体"/>
                        </a:rPr>
                        <a:t>任</a:t>
                      </a:r>
                      <a:r>
                        <a:rPr sz="2800" b="1" spc="-15" dirty="0">
                          <a:solidFill>
                            <a:srgbClr val="7E4D00"/>
                          </a:solidFill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7E4D00"/>
                          </a:solidFill>
                          <a:latin typeface="华文楷体"/>
                          <a:cs typeface="华文楷体"/>
                        </a:rPr>
                        <a:t>意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7E4D00"/>
                      </a:solidFill>
                      <a:prstDash val="solid"/>
                    </a:lnL>
                    <a:lnR w="19050">
                      <a:solidFill>
                        <a:srgbClr val="7E4D00"/>
                      </a:solidFill>
                      <a:prstDash val="solid"/>
                    </a:lnR>
                    <a:lnT w="19050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9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95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7E4D00"/>
                      </a:solidFill>
                      <a:prstDash val="solid"/>
                    </a:lnL>
                    <a:lnR w="38100">
                      <a:solidFill>
                        <a:srgbClr val="7E4D00"/>
                      </a:solidFill>
                      <a:prstDash val="solid"/>
                    </a:lnR>
                    <a:lnT w="19050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7E4D00"/>
                      </a:solidFill>
                      <a:prstDash val="solid"/>
                    </a:lnL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950" i="1" spc="6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550" spc="89" baseline="-24509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550" baseline="-24509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7E4D00"/>
                      </a:solidFill>
                      <a:prstDash val="solid"/>
                    </a:lnL>
                    <a:lnR w="38100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7E4D00"/>
                      </a:solidFill>
                      <a:prstDash val="solid"/>
                    </a:lnL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950" i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550" baseline="-24509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550" baseline="-24509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7E4D00"/>
                      </a:solidFill>
                      <a:prstDash val="solid"/>
                    </a:lnL>
                    <a:lnR w="38100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2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7E4D00"/>
                      </a:solidFill>
                      <a:prstDash val="solid"/>
                    </a:lnL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3475"/>
                        </a:lnSpc>
                        <a:spcBef>
                          <a:spcPts val="505"/>
                        </a:spcBef>
                      </a:pPr>
                      <a:r>
                        <a:rPr sz="2950" i="1" spc="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550" spc="104" baseline="-24509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550" baseline="-24509">
                        <a:latin typeface="Times New Roman"/>
                        <a:cs typeface="Times New Roman"/>
                      </a:endParaRPr>
                    </a:p>
                  </a:txBody>
                  <a:tcPr marL="0" marR="0" marT="64135" marB="0">
                    <a:lnL w="19050">
                      <a:solidFill>
                        <a:srgbClr val="7E4D00"/>
                      </a:solidFill>
                      <a:prstDash val="solid"/>
                    </a:lnL>
                    <a:lnR w="38100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7E4D00"/>
                      </a:solidFill>
                      <a:prstDash val="solid"/>
                    </a:lnL>
                    <a:lnR w="19050">
                      <a:solidFill>
                        <a:srgbClr val="7E4D00"/>
                      </a:solidFill>
                      <a:prstDash val="solid"/>
                    </a:lnR>
                    <a:lnB w="38100">
                      <a:solidFill>
                        <a:srgbClr val="7E4D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7E4D00"/>
                      </a:solidFill>
                      <a:prstDash val="solid"/>
                    </a:lnL>
                    <a:lnB w="38100">
                      <a:solidFill>
                        <a:srgbClr val="7E4D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7E4D00"/>
                      </a:solidFill>
                      <a:prstDash val="solid"/>
                    </a:lnR>
                    <a:lnB w="38100">
                      <a:solidFill>
                        <a:srgbClr val="7E4D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950" i="1" spc="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550" spc="60" baseline="-24509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550" baseline="-24509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7E4D00"/>
                      </a:solidFill>
                      <a:prstDash val="solid"/>
                    </a:lnL>
                    <a:lnR w="38100">
                      <a:solidFill>
                        <a:srgbClr val="7E4D00"/>
                      </a:solidFill>
                      <a:prstDash val="solid"/>
                    </a:lnR>
                    <a:lnB w="38100">
                      <a:solidFill>
                        <a:srgbClr val="7E4D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222247" y="3058667"/>
            <a:ext cx="2647315" cy="584200"/>
          </a:xfrm>
          <a:prstGeom prst="rect">
            <a:avLst/>
          </a:prstGeom>
          <a:solidFill>
            <a:srgbClr val="FFBB57"/>
          </a:solidFill>
        </p:spPr>
        <p:txBody>
          <a:bodyPr vert="horz" wrap="square" lIns="0" tIns="190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0"/>
              </a:spcBef>
            </a:pP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分析逻辑功能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8042" y="4638294"/>
            <a:ext cx="324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9395" algn="l"/>
              </a:tabLst>
            </a:pPr>
            <a:r>
              <a:rPr sz="1200" dirty="0">
                <a:solidFill>
                  <a:srgbClr val="7E4D00"/>
                </a:solidFill>
                <a:latin typeface="华文楷体"/>
                <a:cs typeface="华文楷体"/>
              </a:rPr>
              <a:t>1	0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26794" y="4505705"/>
            <a:ext cx="430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控制端A</a:t>
            </a:r>
            <a:r>
              <a:rPr sz="1800" spc="65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A</a:t>
            </a:r>
            <a:r>
              <a:rPr sz="1800" spc="70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为</a:t>
            </a:r>
            <a:r>
              <a:rPr sz="1800" spc="-5" dirty="0">
                <a:solidFill>
                  <a:srgbClr val="7E4D00"/>
                </a:solidFill>
                <a:latin typeface="华文楷体"/>
                <a:cs typeface="华文楷体"/>
              </a:rPr>
              <a:t>00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1800" spc="-5" dirty="0">
                <a:solidFill>
                  <a:srgbClr val="7E4D00"/>
                </a:solidFill>
                <a:latin typeface="华文楷体"/>
                <a:cs typeface="华文楷体"/>
              </a:rPr>
              <a:t>01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1800" spc="-5" dirty="0">
                <a:solidFill>
                  <a:srgbClr val="7E4D00"/>
                </a:solidFill>
                <a:latin typeface="华文楷体"/>
                <a:cs typeface="华文楷体"/>
              </a:rPr>
              <a:t>10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1800" spc="-5" dirty="0">
                <a:solidFill>
                  <a:srgbClr val="7E4D00"/>
                </a:solidFill>
                <a:latin typeface="华文楷体"/>
                <a:cs typeface="华文楷体"/>
              </a:rPr>
              <a:t>11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时，分别选中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1544" y="5002359"/>
            <a:ext cx="2879090" cy="8204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900" i="1" spc="-40" dirty="0">
                <a:solidFill>
                  <a:srgbClr val="7E4D00"/>
                </a:solidFill>
                <a:latin typeface="华文楷体"/>
                <a:cs typeface="华文楷体"/>
              </a:rPr>
              <a:t>D</a:t>
            </a:r>
            <a:r>
              <a:rPr sz="1800" spc="-60" baseline="-20833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1900" i="1" spc="-55" dirty="0">
                <a:solidFill>
                  <a:srgbClr val="7E4D00"/>
                </a:solidFill>
                <a:latin typeface="华文楷体"/>
                <a:cs typeface="华文楷体"/>
              </a:rPr>
              <a:t>D</a:t>
            </a:r>
            <a:r>
              <a:rPr sz="1875" i="1" spc="-82" baseline="-20000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1900" i="1" spc="-40" dirty="0">
                <a:solidFill>
                  <a:srgbClr val="7E4D00"/>
                </a:solidFill>
                <a:latin typeface="华文楷体"/>
                <a:cs typeface="华文楷体"/>
              </a:rPr>
              <a:t>D</a:t>
            </a:r>
            <a:r>
              <a:rPr sz="1800" spc="-60" baseline="-20833" dirty="0">
                <a:solidFill>
                  <a:srgbClr val="7E4D00"/>
                </a:solidFill>
                <a:latin typeface="华文楷体"/>
                <a:cs typeface="华文楷体"/>
              </a:rPr>
              <a:t>2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1900" i="1" spc="-40" dirty="0">
                <a:solidFill>
                  <a:srgbClr val="7E4D00"/>
                </a:solidFill>
                <a:latin typeface="华文楷体"/>
                <a:cs typeface="华文楷体"/>
              </a:rPr>
              <a:t>D</a:t>
            </a:r>
            <a:r>
              <a:rPr sz="1800" spc="-60" baseline="-20833" dirty="0">
                <a:solidFill>
                  <a:srgbClr val="7E4D00"/>
                </a:solidFill>
                <a:latin typeface="华文楷体"/>
                <a:cs typeface="华文楷体"/>
              </a:rPr>
              <a:t>3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到输出</a:t>
            </a:r>
            <a:r>
              <a:rPr sz="1900" i="1" spc="-60" dirty="0">
                <a:solidFill>
                  <a:srgbClr val="7E4D00"/>
                </a:solidFill>
                <a:latin typeface="华文楷体"/>
                <a:cs typeface="华文楷体"/>
              </a:rPr>
              <a:t>F</a:t>
            </a:r>
            <a:r>
              <a:rPr sz="1900" i="1" spc="-90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1800">
              <a:latin typeface="华文楷体"/>
              <a:cs typeface="华文楷体"/>
            </a:endParaRPr>
          </a:p>
          <a:p>
            <a:pPr marR="41275" algn="ctr">
              <a:lnSpc>
                <a:spcPct val="100000"/>
              </a:lnSpc>
              <a:spcBef>
                <a:spcPts val="1820"/>
              </a:spcBef>
            </a:pPr>
            <a:r>
              <a:rPr sz="1800" spc="-5" dirty="0">
                <a:solidFill>
                  <a:srgbClr val="7E4D00"/>
                </a:solidFill>
                <a:latin typeface="华文楷体"/>
                <a:cs typeface="华文楷体"/>
              </a:rPr>
              <a:t>4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选</a:t>
            </a:r>
            <a:r>
              <a:rPr sz="1800" spc="-5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数据选择器。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65436" y="4009175"/>
            <a:ext cx="214629" cy="0"/>
          </a:xfrm>
          <a:custGeom>
            <a:avLst/>
            <a:gdLst/>
            <a:ahLst/>
            <a:cxnLst/>
            <a:rect l="l" t="t" r="r" b="b"/>
            <a:pathLst>
              <a:path w="214630">
                <a:moveTo>
                  <a:pt x="0" y="0"/>
                </a:moveTo>
                <a:lnTo>
                  <a:pt x="214079" y="0"/>
                </a:lnTo>
              </a:path>
            </a:pathLst>
          </a:custGeom>
          <a:ln w="74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65436" y="4001112"/>
            <a:ext cx="217170" cy="0"/>
          </a:xfrm>
          <a:custGeom>
            <a:avLst/>
            <a:gdLst/>
            <a:ahLst/>
            <a:cxnLst/>
            <a:rect l="l" t="t" r="r" b="b"/>
            <a:pathLst>
              <a:path w="217169">
                <a:moveTo>
                  <a:pt x="0" y="0"/>
                </a:moveTo>
                <a:lnTo>
                  <a:pt x="217064" y="0"/>
                </a:lnTo>
              </a:path>
            </a:pathLst>
          </a:custGeom>
          <a:ln w="86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33032" y="3925441"/>
            <a:ext cx="287401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525" i="1" spc="120" baseline="-8274" dirty="0">
                <a:latin typeface="Times New Roman"/>
                <a:cs typeface="Times New Roman"/>
              </a:rPr>
              <a:t>E</a:t>
            </a:r>
            <a:r>
              <a:rPr sz="3525" i="1" spc="67" baseline="-8274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7E4D00"/>
                </a:solidFill>
                <a:latin typeface="华文楷体"/>
                <a:cs typeface="华文楷体"/>
              </a:rPr>
              <a:t>为选通端、低电平有效。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28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477266" y="410032"/>
            <a:ext cx="87750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2490" algn="l"/>
                <a:tab pos="8761730" algn="l"/>
              </a:tabLst>
            </a:pP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数据选择器逻辑符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号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	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394184FB-1C69-A46D-7075-74873CA5A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310" y="1557076"/>
            <a:ext cx="7373379" cy="37438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64941" y="1439097"/>
            <a:ext cx="1551305" cy="4311015"/>
          </a:xfrm>
          <a:custGeom>
            <a:avLst/>
            <a:gdLst/>
            <a:ahLst/>
            <a:cxnLst/>
            <a:rect l="l" t="t" r="r" b="b"/>
            <a:pathLst>
              <a:path w="1551304" h="4311015">
                <a:moveTo>
                  <a:pt x="0" y="4310438"/>
                </a:moveTo>
                <a:lnTo>
                  <a:pt x="1551131" y="4310438"/>
                </a:lnTo>
                <a:lnTo>
                  <a:pt x="1551130" y="0"/>
                </a:lnTo>
                <a:lnTo>
                  <a:pt x="0" y="0"/>
                </a:lnTo>
                <a:lnTo>
                  <a:pt x="0" y="4310438"/>
                </a:lnTo>
                <a:close/>
              </a:path>
            </a:pathLst>
          </a:custGeom>
          <a:ln w="29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71061" y="3773889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878" y="0"/>
                </a:lnTo>
              </a:path>
            </a:pathLst>
          </a:custGeom>
          <a:ln w="27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71061" y="4133134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878" y="0"/>
                </a:lnTo>
              </a:path>
            </a:pathLst>
          </a:custGeom>
          <a:ln w="27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71061" y="4492380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878" y="0"/>
                </a:lnTo>
              </a:path>
            </a:pathLst>
          </a:custGeom>
          <a:ln w="27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71061" y="4851536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878" y="0"/>
                </a:lnTo>
              </a:path>
            </a:pathLst>
          </a:custGeom>
          <a:ln w="27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71061" y="5210731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878" y="0"/>
                </a:lnTo>
              </a:path>
            </a:pathLst>
          </a:custGeom>
          <a:ln w="27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15963" y="4492380"/>
            <a:ext cx="194310" cy="0"/>
          </a:xfrm>
          <a:custGeom>
            <a:avLst/>
            <a:gdLst/>
            <a:ahLst/>
            <a:cxnLst/>
            <a:rect l="l" t="t" r="r" b="b"/>
            <a:pathLst>
              <a:path w="194309">
                <a:moveTo>
                  <a:pt x="193976" y="0"/>
                </a:moveTo>
                <a:lnTo>
                  <a:pt x="0" y="0"/>
                </a:lnTo>
              </a:path>
            </a:pathLst>
          </a:custGeom>
          <a:ln w="27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46599" y="5752503"/>
            <a:ext cx="0" cy="177165"/>
          </a:xfrm>
          <a:custGeom>
            <a:avLst/>
            <a:gdLst/>
            <a:ahLst/>
            <a:cxnLst/>
            <a:rect l="l" t="t" r="r" b="b"/>
            <a:pathLst>
              <a:path h="177164">
                <a:moveTo>
                  <a:pt x="0" y="0"/>
                </a:moveTo>
                <a:lnTo>
                  <a:pt x="0" y="176632"/>
                </a:lnTo>
              </a:path>
            </a:pathLst>
          </a:custGeom>
          <a:ln w="295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534361" y="5752503"/>
            <a:ext cx="0" cy="177165"/>
          </a:xfrm>
          <a:custGeom>
            <a:avLst/>
            <a:gdLst/>
            <a:ahLst/>
            <a:cxnLst/>
            <a:rect l="l" t="t" r="r" b="b"/>
            <a:pathLst>
              <a:path h="177164">
                <a:moveTo>
                  <a:pt x="0" y="0"/>
                </a:moveTo>
                <a:lnTo>
                  <a:pt x="0" y="176632"/>
                </a:lnTo>
              </a:path>
            </a:pathLst>
          </a:custGeom>
          <a:ln w="295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71060" y="1798355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879" y="0"/>
                </a:lnTo>
              </a:path>
            </a:pathLst>
          </a:custGeom>
          <a:ln w="27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71061" y="2157474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879" y="0"/>
                </a:lnTo>
              </a:path>
            </a:pathLst>
          </a:custGeom>
          <a:ln w="27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71061" y="2516720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878" y="0"/>
                </a:lnTo>
              </a:path>
            </a:pathLst>
          </a:custGeom>
          <a:ln w="27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71061" y="2875965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878" y="0"/>
                </a:lnTo>
              </a:path>
            </a:pathLst>
          </a:custGeom>
          <a:ln w="27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71061" y="3235084"/>
            <a:ext cx="187325" cy="0"/>
          </a:xfrm>
          <a:custGeom>
            <a:avLst/>
            <a:gdLst/>
            <a:ahLst/>
            <a:cxnLst/>
            <a:rect l="l" t="t" r="r" b="b"/>
            <a:pathLst>
              <a:path w="187325">
                <a:moveTo>
                  <a:pt x="0" y="0"/>
                </a:moveTo>
                <a:lnTo>
                  <a:pt x="186878" y="0"/>
                </a:lnTo>
              </a:path>
            </a:pathLst>
          </a:custGeom>
          <a:ln w="27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115963" y="2516720"/>
            <a:ext cx="194310" cy="0"/>
          </a:xfrm>
          <a:custGeom>
            <a:avLst/>
            <a:gdLst/>
            <a:ahLst/>
            <a:cxnLst/>
            <a:rect l="l" t="t" r="r" b="b"/>
            <a:pathLst>
              <a:path w="194309">
                <a:moveTo>
                  <a:pt x="193976" y="0"/>
                </a:moveTo>
                <a:lnTo>
                  <a:pt x="0" y="0"/>
                </a:lnTo>
              </a:path>
            </a:pathLst>
          </a:custGeom>
          <a:ln w="27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604763" y="1681624"/>
            <a:ext cx="1445895" cy="407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2260"/>
              </a:lnSpc>
            </a:pPr>
            <a:r>
              <a:rPr sz="1900" i="1" spc="25" dirty="0">
                <a:latin typeface="华文楷体"/>
                <a:cs typeface="华文楷体"/>
              </a:rPr>
              <a:t>E</a:t>
            </a:r>
            <a:r>
              <a:rPr sz="1900" i="1" spc="-155" dirty="0">
                <a:latin typeface="华文楷体"/>
                <a:cs typeface="华文楷体"/>
              </a:rPr>
              <a:t> </a:t>
            </a:r>
            <a:r>
              <a:rPr sz="1800" spc="60" baseline="-11574" dirty="0">
                <a:latin typeface="华文楷体"/>
                <a:cs typeface="华文楷体"/>
              </a:rPr>
              <a:t>2</a:t>
            </a:r>
            <a:endParaRPr sz="1800" baseline="-11574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r>
              <a:rPr sz="2850" i="1" spc="37" baseline="7309" dirty="0">
                <a:latin typeface="华文楷体"/>
                <a:cs typeface="华文楷体"/>
              </a:rPr>
              <a:t>D</a:t>
            </a:r>
            <a:r>
              <a:rPr sz="2850" i="1" spc="-232" baseline="7309" dirty="0">
                <a:latin typeface="华文楷体"/>
                <a:cs typeface="华文楷体"/>
              </a:rPr>
              <a:t> </a:t>
            </a:r>
            <a:r>
              <a:rPr sz="1200" spc="40" dirty="0">
                <a:latin typeface="华文楷体"/>
                <a:cs typeface="华文楷体"/>
              </a:rPr>
              <a:t>23</a:t>
            </a:r>
            <a:endParaRPr sz="12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tabLst>
                <a:tab pos="1188085" algn="l"/>
              </a:tabLst>
            </a:pPr>
            <a:r>
              <a:rPr sz="2850" i="1" spc="37" baseline="7309" dirty="0">
                <a:latin typeface="华文楷体"/>
                <a:cs typeface="华文楷体"/>
              </a:rPr>
              <a:t>D</a:t>
            </a:r>
            <a:r>
              <a:rPr sz="2850" i="1" spc="-225" baseline="7309" dirty="0">
                <a:latin typeface="华文楷体"/>
                <a:cs typeface="华文楷体"/>
              </a:rPr>
              <a:t> </a:t>
            </a:r>
            <a:r>
              <a:rPr sz="1200" spc="40" dirty="0">
                <a:latin typeface="华文楷体"/>
                <a:cs typeface="华文楷体"/>
              </a:rPr>
              <a:t>22	</a:t>
            </a:r>
            <a:r>
              <a:rPr sz="2850" i="1" spc="30" baseline="7309" dirty="0">
                <a:latin typeface="华文楷体"/>
                <a:cs typeface="华文楷体"/>
              </a:rPr>
              <a:t>F</a:t>
            </a:r>
            <a:r>
              <a:rPr sz="2850" i="1" spc="-367" baseline="7309" dirty="0">
                <a:latin typeface="华文楷体"/>
                <a:cs typeface="华文楷体"/>
              </a:rPr>
              <a:t> </a:t>
            </a:r>
            <a:r>
              <a:rPr sz="1200" spc="40" dirty="0">
                <a:latin typeface="华文楷体"/>
                <a:cs typeface="华文楷体"/>
              </a:rPr>
              <a:t>2</a:t>
            </a:r>
            <a:endParaRPr sz="12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r>
              <a:rPr sz="2850" i="1" spc="37" baseline="7309" dirty="0">
                <a:latin typeface="华文楷体"/>
                <a:cs typeface="华文楷体"/>
              </a:rPr>
              <a:t>D</a:t>
            </a:r>
            <a:r>
              <a:rPr sz="2850" i="1" spc="-232" baseline="7309" dirty="0">
                <a:latin typeface="华文楷体"/>
                <a:cs typeface="华文楷体"/>
              </a:rPr>
              <a:t> </a:t>
            </a:r>
            <a:r>
              <a:rPr sz="1200" spc="40" dirty="0">
                <a:latin typeface="华文楷体"/>
                <a:cs typeface="华文楷体"/>
              </a:rPr>
              <a:t>21</a:t>
            </a:r>
            <a:endParaRPr sz="1200">
              <a:latin typeface="华文楷体"/>
              <a:cs typeface="华文楷体"/>
            </a:endParaRPr>
          </a:p>
          <a:p>
            <a:pPr>
              <a:lnSpc>
                <a:spcPts val="520"/>
              </a:lnSpc>
              <a:spcBef>
                <a:spcPts val="300"/>
              </a:spcBef>
              <a:tabLst>
                <a:tab pos="589280" algn="l"/>
              </a:tabLst>
            </a:pPr>
            <a:r>
              <a:rPr sz="2850" i="1" spc="37" baseline="7309" dirty="0">
                <a:latin typeface="华文楷体"/>
                <a:cs typeface="华文楷体"/>
              </a:rPr>
              <a:t>D</a:t>
            </a:r>
            <a:r>
              <a:rPr sz="2850" i="1" spc="-225" baseline="7309" dirty="0">
                <a:latin typeface="华文楷体"/>
                <a:cs typeface="华文楷体"/>
              </a:rPr>
              <a:t> </a:t>
            </a:r>
            <a:r>
              <a:rPr sz="1200" spc="40" dirty="0">
                <a:latin typeface="华文楷体"/>
                <a:cs typeface="华文楷体"/>
              </a:rPr>
              <a:t>20	</a:t>
            </a:r>
            <a:r>
              <a:rPr sz="3225" spc="-112" baseline="-10335" dirty="0">
                <a:solidFill>
                  <a:srgbClr val="FF0000"/>
                </a:solidFill>
                <a:latin typeface="华文楷体"/>
                <a:cs typeface="华文楷体"/>
              </a:rPr>
              <a:t>5</a:t>
            </a:r>
            <a:endParaRPr sz="3225" baseline="-10335">
              <a:latin typeface="华文楷体"/>
              <a:cs typeface="华文楷体"/>
            </a:endParaRPr>
          </a:p>
          <a:p>
            <a:pPr marL="90170" algn="ctr">
              <a:lnSpc>
                <a:spcPts val="1150"/>
              </a:lnSpc>
            </a:pPr>
            <a:r>
              <a:rPr sz="2150" spc="-75" dirty="0">
                <a:solidFill>
                  <a:srgbClr val="FF0000"/>
                </a:solidFill>
                <a:latin typeface="华文楷体"/>
                <a:cs typeface="华文楷体"/>
              </a:rPr>
              <a:t>3</a:t>
            </a:r>
            <a:endParaRPr sz="2150">
              <a:latin typeface="华文楷体"/>
              <a:cs typeface="华文楷体"/>
            </a:endParaRPr>
          </a:p>
          <a:p>
            <a:pPr marL="88265" algn="ctr">
              <a:lnSpc>
                <a:spcPts val="1415"/>
              </a:lnSpc>
            </a:pPr>
            <a:r>
              <a:rPr sz="2150" spc="-75" dirty="0">
                <a:solidFill>
                  <a:srgbClr val="FF0000"/>
                </a:solidFill>
                <a:latin typeface="华文楷体"/>
                <a:cs typeface="华文楷体"/>
              </a:rPr>
              <a:t>1</a:t>
            </a:r>
            <a:endParaRPr sz="2150">
              <a:latin typeface="华文楷体"/>
              <a:cs typeface="华文楷体"/>
            </a:endParaRPr>
          </a:p>
          <a:p>
            <a:pPr marL="87630" algn="ctr">
              <a:lnSpc>
                <a:spcPts val="1050"/>
              </a:lnSpc>
            </a:pPr>
            <a:r>
              <a:rPr sz="2150" spc="-75" dirty="0">
                <a:solidFill>
                  <a:srgbClr val="FF0000"/>
                </a:solidFill>
                <a:latin typeface="华文楷体"/>
                <a:cs typeface="华文楷体"/>
              </a:rPr>
              <a:t>S</a:t>
            </a:r>
            <a:endParaRPr sz="2150">
              <a:latin typeface="华文楷体"/>
              <a:cs typeface="华文楷体"/>
            </a:endParaRPr>
          </a:p>
          <a:p>
            <a:pPr marL="86360" algn="ctr">
              <a:lnSpc>
                <a:spcPts val="1070"/>
              </a:lnSpc>
            </a:pPr>
            <a:r>
              <a:rPr sz="2150" spc="-90" dirty="0">
                <a:solidFill>
                  <a:srgbClr val="FF0000"/>
                </a:solidFill>
                <a:latin typeface="华文楷体"/>
                <a:cs typeface="华文楷体"/>
              </a:rPr>
              <a:t>L</a:t>
            </a:r>
            <a:endParaRPr sz="2150">
              <a:latin typeface="华文楷体"/>
              <a:cs typeface="华文楷体"/>
            </a:endParaRPr>
          </a:p>
          <a:p>
            <a:pPr marL="13335">
              <a:lnSpc>
                <a:spcPts val="940"/>
              </a:lnSpc>
              <a:tabLst>
                <a:tab pos="587375" algn="l"/>
              </a:tabLst>
            </a:pPr>
            <a:r>
              <a:rPr sz="1900" i="1" spc="25" dirty="0">
                <a:latin typeface="华文楷体"/>
                <a:cs typeface="华文楷体"/>
              </a:rPr>
              <a:t>E</a:t>
            </a:r>
            <a:r>
              <a:rPr sz="1900" i="1" spc="-150" dirty="0">
                <a:latin typeface="华文楷体"/>
                <a:cs typeface="华文楷体"/>
              </a:rPr>
              <a:t> </a:t>
            </a:r>
            <a:r>
              <a:rPr sz="1800" spc="60" baseline="-11574" dirty="0">
                <a:latin typeface="华文楷体"/>
                <a:cs typeface="华文楷体"/>
              </a:rPr>
              <a:t>1	</a:t>
            </a:r>
            <a:r>
              <a:rPr sz="3225" spc="-112" baseline="1291" dirty="0">
                <a:solidFill>
                  <a:srgbClr val="FF0000"/>
                </a:solidFill>
                <a:latin typeface="华文楷体"/>
                <a:cs typeface="华文楷体"/>
              </a:rPr>
              <a:t>4</a:t>
            </a:r>
            <a:endParaRPr sz="3225" baseline="1291">
              <a:latin typeface="华文楷体"/>
              <a:cs typeface="华文楷体"/>
            </a:endParaRPr>
          </a:p>
          <a:p>
            <a:pPr marL="84455" algn="ctr">
              <a:lnSpc>
                <a:spcPts val="1455"/>
              </a:lnSpc>
            </a:pPr>
            <a:r>
              <a:rPr sz="2150" spc="-75" dirty="0">
                <a:solidFill>
                  <a:srgbClr val="FF0000"/>
                </a:solidFill>
                <a:latin typeface="华文楷体"/>
                <a:cs typeface="华文楷体"/>
              </a:rPr>
              <a:t>7</a:t>
            </a:r>
            <a:endParaRPr sz="2150">
              <a:latin typeface="华文楷体"/>
              <a:cs typeface="华文楷体"/>
            </a:endParaRPr>
          </a:p>
          <a:p>
            <a:pPr>
              <a:lnSpc>
                <a:spcPts val="2000"/>
              </a:lnSpc>
            </a:pPr>
            <a:r>
              <a:rPr sz="2850" i="1" spc="37" baseline="7309" dirty="0">
                <a:latin typeface="华文楷体"/>
                <a:cs typeface="华文楷体"/>
              </a:rPr>
              <a:t>D</a:t>
            </a:r>
            <a:r>
              <a:rPr sz="2850" i="1" spc="-232" baseline="7309" dirty="0">
                <a:latin typeface="华文楷体"/>
                <a:cs typeface="华文楷体"/>
              </a:rPr>
              <a:t> </a:t>
            </a:r>
            <a:r>
              <a:rPr sz="1200" spc="40" dirty="0">
                <a:latin typeface="华文楷体"/>
                <a:cs typeface="华文楷体"/>
              </a:rPr>
              <a:t>13</a:t>
            </a:r>
            <a:endParaRPr sz="12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tabLst>
                <a:tab pos="1188085" algn="l"/>
              </a:tabLst>
            </a:pPr>
            <a:r>
              <a:rPr sz="2850" i="1" spc="37" baseline="7309" dirty="0">
                <a:latin typeface="华文楷体"/>
                <a:cs typeface="华文楷体"/>
              </a:rPr>
              <a:t>D</a:t>
            </a:r>
            <a:r>
              <a:rPr sz="2850" i="1" spc="-225" baseline="7309" dirty="0">
                <a:latin typeface="华文楷体"/>
                <a:cs typeface="华文楷体"/>
              </a:rPr>
              <a:t> </a:t>
            </a:r>
            <a:r>
              <a:rPr sz="1200" spc="40" dirty="0">
                <a:latin typeface="华文楷体"/>
                <a:cs typeface="华文楷体"/>
              </a:rPr>
              <a:t>12	</a:t>
            </a:r>
            <a:r>
              <a:rPr sz="2850" i="1" spc="30" baseline="7309" dirty="0">
                <a:latin typeface="华文楷体"/>
                <a:cs typeface="华文楷体"/>
              </a:rPr>
              <a:t>F</a:t>
            </a:r>
            <a:r>
              <a:rPr sz="2850" i="1" spc="-367" baseline="7309" dirty="0">
                <a:latin typeface="华文楷体"/>
                <a:cs typeface="华文楷体"/>
              </a:rPr>
              <a:t> </a:t>
            </a:r>
            <a:r>
              <a:rPr sz="1200" spc="40" dirty="0">
                <a:latin typeface="华文楷体"/>
                <a:cs typeface="华文楷体"/>
              </a:rPr>
              <a:t>1</a:t>
            </a:r>
            <a:endParaRPr sz="12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r>
              <a:rPr sz="2850" i="1" spc="37" baseline="7309" dirty="0">
                <a:latin typeface="华文楷体"/>
                <a:cs typeface="华文楷体"/>
              </a:rPr>
              <a:t>D</a:t>
            </a:r>
            <a:r>
              <a:rPr sz="2850" i="1" spc="-359" baseline="7309" dirty="0">
                <a:latin typeface="华文楷体"/>
                <a:cs typeface="华文楷体"/>
              </a:rPr>
              <a:t> </a:t>
            </a:r>
            <a:r>
              <a:rPr sz="1200" spc="40" dirty="0">
                <a:latin typeface="华文楷体"/>
                <a:cs typeface="华文楷体"/>
              </a:rPr>
              <a:t>11</a:t>
            </a:r>
            <a:endParaRPr sz="12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r>
              <a:rPr sz="2850" i="1" spc="37" baseline="7309" dirty="0">
                <a:latin typeface="华文楷体"/>
                <a:cs typeface="华文楷体"/>
              </a:rPr>
              <a:t>D</a:t>
            </a:r>
            <a:r>
              <a:rPr sz="2850" i="1" spc="-359" baseline="7309" dirty="0">
                <a:latin typeface="华文楷体"/>
                <a:cs typeface="华文楷体"/>
              </a:rPr>
              <a:t> </a:t>
            </a:r>
            <a:r>
              <a:rPr sz="1200" spc="40" dirty="0">
                <a:latin typeface="华文楷体"/>
                <a:cs typeface="华文楷体"/>
              </a:rPr>
              <a:t>10</a:t>
            </a:r>
            <a:endParaRPr sz="1200">
              <a:latin typeface="华文楷体"/>
              <a:cs typeface="华文楷体"/>
            </a:endParaRPr>
          </a:p>
          <a:p>
            <a:pPr marL="398780">
              <a:lnSpc>
                <a:spcPct val="100000"/>
              </a:lnSpc>
              <a:spcBef>
                <a:spcPts val="580"/>
              </a:spcBef>
            </a:pPr>
            <a:r>
              <a:rPr sz="1900" i="1" spc="25" dirty="0">
                <a:latin typeface="华文楷体"/>
                <a:cs typeface="华文楷体"/>
              </a:rPr>
              <a:t>A </a:t>
            </a:r>
            <a:r>
              <a:rPr sz="1800" spc="60" baseline="-11574" dirty="0">
                <a:latin typeface="华文楷体"/>
                <a:cs typeface="华文楷体"/>
              </a:rPr>
              <a:t>1 </a:t>
            </a:r>
            <a:r>
              <a:rPr sz="1900" i="1" spc="25" dirty="0">
                <a:latin typeface="华文楷体"/>
                <a:cs typeface="华文楷体"/>
              </a:rPr>
              <a:t>A</a:t>
            </a:r>
            <a:r>
              <a:rPr sz="1900" i="1" spc="-229" dirty="0">
                <a:latin typeface="华文楷体"/>
                <a:cs typeface="华文楷体"/>
              </a:rPr>
              <a:t> </a:t>
            </a:r>
            <a:r>
              <a:rPr sz="1800" spc="60" baseline="-11574" dirty="0">
                <a:latin typeface="华文楷体"/>
                <a:cs typeface="华文楷体"/>
              </a:rPr>
              <a:t>0</a:t>
            </a:r>
            <a:endParaRPr sz="1800" baseline="-11574">
              <a:latin typeface="华文楷体"/>
              <a:cs typeface="华文楷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448149" y="1744881"/>
            <a:ext cx="97155" cy="90170"/>
          </a:xfrm>
          <a:custGeom>
            <a:avLst/>
            <a:gdLst/>
            <a:ahLst/>
            <a:cxnLst/>
            <a:rect l="l" t="t" r="r" b="b"/>
            <a:pathLst>
              <a:path w="97154" h="90169">
                <a:moveTo>
                  <a:pt x="48476" y="0"/>
                </a:moveTo>
                <a:lnTo>
                  <a:pt x="29607" y="3534"/>
                </a:lnTo>
                <a:lnTo>
                  <a:pt x="14199" y="13162"/>
                </a:lnTo>
                <a:lnTo>
                  <a:pt x="3809" y="27424"/>
                </a:lnTo>
                <a:lnTo>
                  <a:pt x="0" y="44858"/>
                </a:lnTo>
                <a:lnTo>
                  <a:pt x="3809" y="62365"/>
                </a:lnTo>
                <a:lnTo>
                  <a:pt x="14199" y="76664"/>
                </a:lnTo>
                <a:lnTo>
                  <a:pt x="29607" y="86306"/>
                </a:lnTo>
                <a:lnTo>
                  <a:pt x="48476" y="89843"/>
                </a:lnTo>
                <a:lnTo>
                  <a:pt x="67337" y="86306"/>
                </a:lnTo>
                <a:lnTo>
                  <a:pt x="82743" y="76664"/>
                </a:lnTo>
                <a:lnTo>
                  <a:pt x="93133" y="62365"/>
                </a:lnTo>
                <a:lnTo>
                  <a:pt x="96943" y="44858"/>
                </a:lnTo>
                <a:lnTo>
                  <a:pt x="93133" y="27424"/>
                </a:lnTo>
                <a:lnTo>
                  <a:pt x="82743" y="13162"/>
                </a:lnTo>
                <a:lnTo>
                  <a:pt x="67337" y="3534"/>
                </a:lnTo>
                <a:lnTo>
                  <a:pt x="484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448149" y="1744880"/>
            <a:ext cx="97155" cy="90170"/>
          </a:xfrm>
          <a:custGeom>
            <a:avLst/>
            <a:gdLst/>
            <a:ahLst/>
            <a:cxnLst/>
            <a:rect l="l" t="t" r="r" b="b"/>
            <a:pathLst>
              <a:path w="97154" h="90169">
                <a:moveTo>
                  <a:pt x="96943" y="44858"/>
                </a:moveTo>
                <a:lnTo>
                  <a:pt x="93133" y="27424"/>
                </a:lnTo>
                <a:lnTo>
                  <a:pt x="82743" y="13162"/>
                </a:lnTo>
                <a:lnTo>
                  <a:pt x="67337" y="3534"/>
                </a:lnTo>
                <a:lnTo>
                  <a:pt x="48476" y="0"/>
                </a:lnTo>
                <a:lnTo>
                  <a:pt x="29607" y="3534"/>
                </a:lnTo>
                <a:lnTo>
                  <a:pt x="14199" y="13162"/>
                </a:lnTo>
                <a:lnTo>
                  <a:pt x="3809" y="27424"/>
                </a:lnTo>
                <a:lnTo>
                  <a:pt x="0" y="44858"/>
                </a:lnTo>
                <a:lnTo>
                  <a:pt x="3809" y="62365"/>
                </a:lnTo>
                <a:lnTo>
                  <a:pt x="14199" y="76664"/>
                </a:lnTo>
                <a:lnTo>
                  <a:pt x="29607" y="86306"/>
                </a:lnTo>
                <a:lnTo>
                  <a:pt x="48476" y="89843"/>
                </a:lnTo>
                <a:lnTo>
                  <a:pt x="67337" y="86306"/>
                </a:lnTo>
                <a:lnTo>
                  <a:pt x="82743" y="76664"/>
                </a:lnTo>
                <a:lnTo>
                  <a:pt x="93133" y="62365"/>
                </a:lnTo>
                <a:lnTo>
                  <a:pt x="96943" y="44858"/>
                </a:lnTo>
                <a:close/>
              </a:path>
            </a:pathLst>
          </a:custGeom>
          <a:ln w="28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448149" y="3729411"/>
            <a:ext cx="97155" cy="90170"/>
          </a:xfrm>
          <a:custGeom>
            <a:avLst/>
            <a:gdLst/>
            <a:ahLst/>
            <a:cxnLst/>
            <a:rect l="l" t="t" r="r" b="b"/>
            <a:pathLst>
              <a:path w="97154" h="90170">
                <a:moveTo>
                  <a:pt x="48476" y="0"/>
                </a:moveTo>
                <a:lnTo>
                  <a:pt x="29607" y="3536"/>
                </a:lnTo>
                <a:lnTo>
                  <a:pt x="14199" y="13178"/>
                </a:lnTo>
                <a:lnTo>
                  <a:pt x="3809" y="27478"/>
                </a:lnTo>
                <a:lnTo>
                  <a:pt x="0" y="44984"/>
                </a:lnTo>
                <a:lnTo>
                  <a:pt x="3809" y="62418"/>
                </a:lnTo>
                <a:lnTo>
                  <a:pt x="14199" y="76680"/>
                </a:lnTo>
                <a:lnTo>
                  <a:pt x="29607" y="86308"/>
                </a:lnTo>
                <a:lnTo>
                  <a:pt x="48476" y="89843"/>
                </a:lnTo>
                <a:lnTo>
                  <a:pt x="67337" y="86308"/>
                </a:lnTo>
                <a:lnTo>
                  <a:pt x="82743" y="76680"/>
                </a:lnTo>
                <a:lnTo>
                  <a:pt x="93133" y="62418"/>
                </a:lnTo>
                <a:lnTo>
                  <a:pt x="96943" y="44984"/>
                </a:lnTo>
                <a:lnTo>
                  <a:pt x="93133" y="27478"/>
                </a:lnTo>
                <a:lnTo>
                  <a:pt x="82743" y="13178"/>
                </a:lnTo>
                <a:lnTo>
                  <a:pt x="67337" y="3536"/>
                </a:lnTo>
                <a:lnTo>
                  <a:pt x="484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448149" y="3729411"/>
            <a:ext cx="97155" cy="90170"/>
          </a:xfrm>
          <a:custGeom>
            <a:avLst/>
            <a:gdLst/>
            <a:ahLst/>
            <a:cxnLst/>
            <a:rect l="l" t="t" r="r" b="b"/>
            <a:pathLst>
              <a:path w="97154" h="90170">
                <a:moveTo>
                  <a:pt x="96943" y="44984"/>
                </a:moveTo>
                <a:lnTo>
                  <a:pt x="93133" y="27478"/>
                </a:lnTo>
                <a:lnTo>
                  <a:pt x="82743" y="13178"/>
                </a:lnTo>
                <a:lnTo>
                  <a:pt x="67337" y="3536"/>
                </a:lnTo>
                <a:lnTo>
                  <a:pt x="48476" y="0"/>
                </a:lnTo>
                <a:lnTo>
                  <a:pt x="29607" y="3536"/>
                </a:lnTo>
                <a:lnTo>
                  <a:pt x="14199" y="13178"/>
                </a:lnTo>
                <a:lnTo>
                  <a:pt x="3809" y="27478"/>
                </a:lnTo>
                <a:lnTo>
                  <a:pt x="0" y="44984"/>
                </a:lnTo>
                <a:lnTo>
                  <a:pt x="3809" y="62418"/>
                </a:lnTo>
                <a:lnTo>
                  <a:pt x="14199" y="76680"/>
                </a:lnTo>
                <a:lnTo>
                  <a:pt x="29607" y="86308"/>
                </a:lnTo>
                <a:lnTo>
                  <a:pt x="48476" y="89843"/>
                </a:lnTo>
                <a:lnTo>
                  <a:pt x="67337" y="86308"/>
                </a:lnTo>
                <a:lnTo>
                  <a:pt x="82743" y="76680"/>
                </a:lnTo>
                <a:lnTo>
                  <a:pt x="93133" y="62418"/>
                </a:lnTo>
                <a:lnTo>
                  <a:pt x="96943" y="44984"/>
                </a:lnTo>
                <a:close/>
              </a:path>
            </a:pathLst>
          </a:custGeom>
          <a:ln w="283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557940" y="1440684"/>
            <a:ext cx="1557020" cy="4312285"/>
          </a:xfrm>
          <a:custGeom>
            <a:avLst/>
            <a:gdLst/>
            <a:ahLst/>
            <a:cxnLst/>
            <a:rect l="l" t="t" r="r" b="b"/>
            <a:pathLst>
              <a:path w="1557020" h="4312285">
                <a:moveTo>
                  <a:pt x="0" y="4311819"/>
                </a:moveTo>
                <a:lnTo>
                  <a:pt x="1556701" y="4311819"/>
                </a:lnTo>
                <a:lnTo>
                  <a:pt x="1556701" y="0"/>
                </a:lnTo>
                <a:lnTo>
                  <a:pt x="0" y="0"/>
                </a:lnTo>
                <a:lnTo>
                  <a:pt x="0" y="43118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57940" y="1440684"/>
            <a:ext cx="1557020" cy="4312285"/>
          </a:xfrm>
          <a:custGeom>
            <a:avLst/>
            <a:gdLst/>
            <a:ahLst/>
            <a:cxnLst/>
            <a:rect l="l" t="t" r="r" b="b"/>
            <a:pathLst>
              <a:path w="1557020" h="4312285">
                <a:moveTo>
                  <a:pt x="0" y="4311819"/>
                </a:moveTo>
                <a:lnTo>
                  <a:pt x="1556701" y="4311819"/>
                </a:lnTo>
                <a:lnTo>
                  <a:pt x="1556701" y="0"/>
                </a:lnTo>
                <a:lnTo>
                  <a:pt x="0" y="0"/>
                </a:lnTo>
                <a:lnTo>
                  <a:pt x="0" y="4311819"/>
                </a:lnTo>
                <a:close/>
              </a:path>
            </a:pathLst>
          </a:custGeom>
          <a:ln w="29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363403" y="3776210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194536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63403" y="4135571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194536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363403" y="4494932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194536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63404" y="4854166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194536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63404" y="5213526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194536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114641" y="4494932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194536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41686" y="5752503"/>
            <a:ext cx="0" cy="179705"/>
          </a:xfrm>
          <a:custGeom>
            <a:avLst/>
            <a:gdLst/>
            <a:ahLst/>
            <a:cxnLst/>
            <a:rect l="l" t="t" r="r" b="b"/>
            <a:pathLst>
              <a:path h="179704">
                <a:moveTo>
                  <a:pt x="0" y="0"/>
                </a:moveTo>
                <a:lnTo>
                  <a:pt x="0" y="179654"/>
                </a:lnTo>
              </a:path>
            </a:pathLst>
          </a:custGeom>
          <a:ln w="296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530896" y="5752503"/>
            <a:ext cx="0" cy="179705"/>
          </a:xfrm>
          <a:custGeom>
            <a:avLst/>
            <a:gdLst/>
            <a:ahLst/>
            <a:cxnLst/>
            <a:rect l="l" t="t" r="r" b="b"/>
            <a:pathLst>
              <a:path h="179704">
                <a:moveTo>
                  <a:pt x="0" y="0"/>
                </a:moveTo>
                <a:lnTo>
                  <a:pt x="0" y="179654"/>
                </a:lnTo>
              </a:path>
            </a:pathLst>
          </a:custGeom>
          <a:ln w="296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960395" y="5421945"/>
            <a:ext cx="75184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900" i="1" spc="30" dirty="0">
                <a:latin typeface="华文楷体"/>
                <a:cs typeface="华文楷体"/>
              </a:rPr>
              <a:t>A </a:t>
            </a:r>
            <a:r>
              <a:rPr sz="1800" spc="67" baseline="-11574" dirty="0">
                <a:latin typeface="华文楷体"/>
                <a:cs typeface="华文楷体"/>
              </a:rPr>
              <a:t>1 </a:t>
            </a:r>
            <a:r>
              <a:rPr sz="1900" i="1" spc="30" dirty="0">
                <a:latin typeface="华文楷体"/>
                <a:cs typeface="华文楷体"/>
              </a:rPr>
              <a:t>A</a:t>
            </a:r>
            <a:r>
              <a:rPr sz="1900" i="1" spc="-290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0</a:t>
            </a:r>
            <a:endParaRPr sz="1800" baseline="-11574">
              <a:latin typeface="华文楷体"/>
              <a:cs typeface="华文楷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52818" y="4308104"/>
            <a:ext cx="33464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900" i="1" spc="25" dirty="0">
                <a:latin typeface="华文楷体"/>
                <a:cs typeface="华文楷体"/>
              </a:rPr>
              <a:t>F</a:t>
            </a:r>
            <a:r>
              <a:rPr sz="1900" i="1" spc="-204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1</a:t>
            </a:r>
            <a:endParaRPr sz="1800" baseline="-11574">
              <a:latin typeface="华文楷体"/>
              <a:cs typeface="华文楷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626035" y="3704339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283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363403" y="1800045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194536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363403" y="2159278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194536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363403" y="2518639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194536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363403" y="2877999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194536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363403" y="3237233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194536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559791" y="1620877"/>
            <a:ext cx="463550" cy="177800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70"/>
              </a:spcBef>
            </a:pPr>
            <a:r>
              <a:rPr sz="1900" i="1" spc="30" dirty="0">
                <a:latin typeface="华文楷体"/>
                <a:cs typeface="华文楷体"/>
              </a:rPr>
              <a:t>E</a:t>
            </a:r>
            <a:r>
              <a:rPr sz="1900" i="1" spc="-175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2</a:t>
            </a:r>
            <a:endParaRPr sz="1800" baseline="-1157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380"/>
              </a:spcBef>
            </a:pPr>
            <a:r>
              <a:rPr sz="2850" i="1" spc="52" baseline="7309" dirty="0">
                <a:latin typeface="华文楷体"/>
                <a:cs typeface="华文楷体"/>
              </a:rPr>
              <a:t>D</a:t>
            </a:r>
            <a:r>
              <a:rPr sz="2850" i="1" spc="-375" baseline="7309" dirty="0">
                <a:latin typeface="华文楷体"/>
                <a:cs typeface="华文楷体"/>
              </a:rPr>
              <a:t> </a:t>
            </a:r>
            <a:r>
              <a:rPr sz="1200" spc="45" dirty="0">
                <a:latin typeface="华文楷体"/>
                <a:cs typeface="华文楷体"/>
              </a:rPr>
              <a:t>23</a:t>
            </a:r>
            <a:endParaRPr sz="120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550"/>
              </a:spcBef>
            </a:pPr>
            <a:r>
              <a:rPr sz="2850" i="1" spc="52" baseline="7309" dirty="0">
                <a:latin typeface="华文楷体"/>
                <a:cs typeface="华文楷体"/>
              </a:rPr>
              <a:t>D</a:t>
            </a:r>
            <a:r>
              <a:rPr sz="2850" i="1" spc="-375" baseline="7309" dirty="0">
                <a:latin typeface="华文楷体"/>
                <a:cs typeface="华文楷体"/>
              </a:rPr>
              <a:t> </a:t>
            </a:r>
            <a:r>
              <a:rPr sz="1200" spc="45" dirty="0">
                <a:latin typeface="华文楷体"/>
                <a:cs typeface="华文楷体"/>
              </a:rPr>
              <a:t>22</a:t>
            </a:r>
            <a:endParaRPr sz="120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550"/>
              </a:spcBef>
            </a:pPr>
            <a:r>
              <a:rPr sz="2850" i="1" spc="52" baseline="7309" dirty="0">
                <a:latin typeface="华文楷体"/>
                <a:cs typeface="华文楷体"/>
              </a:rPr>
              <a:t>D</a:t>
            </a:r>
            <a:r>
              <a:rPr sz="2850" i="1" spc="-375" baseline="7309" dirty="0">
                <a:latin typeface="华文楷体"/>
                <a:cs typeface="华文楷体"/>
              </a:rPr>
              <a:t> </a:t>
            </a:r>
            <a:r>
              <a:rPr sz="1200" spc="45" dirty="0">
                <a:latin typeface="华文楷体"/>
                <a:cs typeface="华文楷体"/>
              </a:rPr>
              <a:t>21</a:t>
            </a:r>
            <a:endParaRPr sz="120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545"/>
              </a:spcBef>
            </a:pPr>
            <a:r>
              <a:rPr sz="2850" i="1" spc="52" baseline="7309" dirty="0">
                <a:latin typeface="华文楷体"/>
                <a:cs typeface="华文楷体"/>
              </a:rPr>
              <a:t>D</a:t>
            </a:r>
            <a:r>
              <a:rPr sz="2850" i="1" spc="-375" baseline="7309" dirty="0">
                <a:latin typeface="华文楷体"/>
                <a:cs typeface="华文楷体"/>
              </a:rPr>
              <a:t> </a:t>
            </a:r>
            <a:r>
              <a:rPr sz="1200" spc="45" dirty="0">
                <a:latin typeface="华文楷体"/>
                <a:cs typeface="华文楷体"/>
              </a:rPr>
              <a:t>20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626034" y="1728173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283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114641" y="2518639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194536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752818" y="2331812"/>
            <a:ext cx="33464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900" i="1" spc="25" dirty="0">
                <a:latin typeface="华文楷体"/>
                <a:cs typeface="华文楷体"/>
              </a:rPr>
              <a:t>F</a:t>
            </a:r>
            <a:r>
              <a:rPr sz="1900" i="1" spc="-204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2</a:t>
            </a:r>
            <a:endParaRPr sz="1800" baseline="-11574">
              <a:latin typeface="华文楷体"/>
              <a:cs typeface="华文楷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559791" y="3597170"/>
            <a:ext cx="463550" cy="177800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470"/>
              </a:spcBef>
            </a:pPr>
            <a:r>
              <a:rPr sz="1900" i="1" spc="30" dirty="0">
                <a:latin typeface="华文楷体"/>
                <a:cs typeface="华文楷体"/>
              </a:rPr>
              <a:t>E</a:t>
            </a:r>
            <a:r>
              <a:rPr sz="1900" i="1" spc="-175" dirty="0">
                <a:latin typeface="华文楷体"/>
                <a:cs typeface="华文楷体"/>
              </a:rPr>
              <a:t> </a:t>
            </a:r>
            <a:r>
              <a:rPr sz="1800" spc="67" baseline="-11574" dirty="0">
                <a:latin typeface="华文楷体"/>
                <a:cs typeface="华文楷体"/>
              </a:rPr>
              <a:t>1</a:t>
            </a:r>
            <a:endParaRPr sz="1800" baseline="-1157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380"/>
              </a:spcBef>
            </a:pPr>
            <a:r>
              <a:rPr sz="2850" i="1" spc="52" baseline="7309" dirty="0">
                <a:latin typeface="华文楷体"/>
                <a:cs typeface="华文楷体"/>
              </a:rPr>
              <a:t>D</a:t>
            </a:r>
            <a:r>
              <a:rPr sz="2850" i="1" spc="-375" baseline="7309" dirty="0">
                <a:latin typeface="华文楷体"/>
                <a:cs typeface="华文楷体"/>
              </a:rPr>
              <a:t> </a:t>
            </a:r>
            <a:r>
              <a:rPr sz="1200" spc="45" dirty="0">
                <a:latin typeface="华文楷体"/>
                <a:cs typeface="华文楷体"/>
              </a:rPr>
              <a:t>13</a:t>
            </a:r>
            <a:endParaRPr sz="120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550"/>
              </a:spcBef>
            </a:pPr>
            <a:r>
              <a:rPr sz="2850" i="1" spc="52" baseline="7309" dirty="0">
                <a:latin typeface="华文楷体"/>
                <a:cs typeface="华文楷体"/>
              </a:rPr>
              <a:t>D</a:t>
            </a:r>
            <a:r>
              <a:rPr sz="2850" i="1" spc="-375" baseline="7309" dirty="0">
                <a:latin typeface="华文楷体"/>
                <a:cs typeface="华文楷体"/>
              </a:rPr>
              <a:t> </a:t>
            </a:r>
            <a:r>
              <a:rPr sz="1200" spc="45" dirty="0">
                <a:latin typeface="华文楷体"/>
                <a:cs typeface="华文楷体"/>
              </a:rPr>
              <a:t>12</a:t>
            </a:r>
            <a:endParaRPr sz="120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545"/>
              </a:spcBef>
            </a:pPr>
            <a:r>
              <a:rPr sz="2850" i="1" spc="52" baseline="7309" dirty="0">
                <a:latin typeface="华文楷体"/>
                <a:cs typeface="华文楷体"/>
              </a:rPr>
              <a:t>D</a:t>
            </a:r>
            <a:r>
              <a:rPr sz="2850" i="1" spc="-375" baseline="7309" dirty="0">
                <a:latin typeface="华文楷体"/>
                <a:cs typeface="华文楷体"/>
              </a:rPr>
              <a:t> </a:t>
            </a:r>
            <a:r>
              <a:rPr sz="1200" spc="45" dirty="0">
                <a:latin typeface="华文楷体"/>
                <a:cs typeface="华文楷体"/>
              </a:rPr>
              <a:t>11</a:t>
            </a:r>
            <a:endParaRPr sz="120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550"/>
              </a:spcBef>
            </a:pPr>
            <a:r>
              <a:rPr sz="2850" i="1" spc="52" baseline="7309" dirty="0">
                <a:latin typeface="华文楷体"/>
                <a:cs typeface="华文楷体"/>
              </a:rPr>
              <a:t>D</a:t>
            </a:r>
            <a:r>
              <a:rPr sz="2850" i="1" spc="-375" baseline="7309" dirty="0">
                <a:latin typeface="华文楷体"/>
                <a:cs typeface="华文楷体"/>
              </a:rPr>
              <a:t> </a:t>
            </a:r>
            <a:r>
              <a:rPr sz="1200" spc="45" dirty="0">
                <a:latin typeface="华文楷体"/>
                <a:cs typeface="华文楷体"/>
              </a:rPr>
              <a:t>10</a:t>
            </a:r>
            <a:endParaRPr sz="1200">
              <a:latin typeface="华文楷体"/>
              <a:cs typeface="华文楷体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174426" y="3134559"/>
            <a:ext cx="386080" cy="889635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85" dirty="0">
                <a:solidFill>
                  <a:srgbClr val="FF0000"/>
                </a:solidFill>
                <a:latin typeface="华文楷体"/>
                <a:cs typeface="华文楷体"/>
              </a:rPr>
              <a:t>74LS153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309178" y="3371977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3745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309178" y="3641466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3745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892923" y="3506722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583745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513461" y="3237233"/>
            <a:ext cx="759460" cy="539115"/>
          </a:xfrm>
          <a:custGeom>
            <a:avLst/>
            <a:gdLst/>
            <a:ahLst/>
            <a:cxnLst/>
            <a:rect l="l" t="t" r="r" b="b"/>
            <a:pathLst>
              <a:path w="759459" h="539114">
                <a:moveTo>
                  <a:pt x="227622" y="0"/>
                </a:moveTo>
                <a:lnTo>
                  <a:pt x="0" y="0"/>
                </a:lnTo>
                <a:lnTo>
                  <a:pt x="30034" y="39877"/>
                </a:lnTo>
                <a:lnTo>
                  <a:pt x="55062" y="80551"/>
                </a:lnTo>
                <a:lnTo>
                  <a:pt x="75085" y="121874"/>
                </a:lnTo>
                <a:lnTo>
                  <a:pt x="90102" y="163703"/>
                </a:lnTo>
                <a:lnTo>
                  <a:pt x="100114" y="205893"/>
                </a:lnTo>
                <a:lnTo>
                  <a:pt x="105119" y="248298"/>
                </a:lnTo>
                <a:lnTo>
                  <a:pt x="105119" y="290773"/>
                </a:lnTo>
                <a:lnTo>
                  <a:pt x="100114" y="333173"/>
                </a:lnTo>
                <a:lnTo>
                  <a:pt x="90102" y="375354"/>
                </a:lnTo>
                <a:lnTo>
                  <a:pt x="75085" y="417170"/>
                </a:lnTo>
                <a:lnTo>
                  <a:pt x="55062" y="458475"/>
                </a:lnTo>
                <a:lnTo>
                  <a:pt x="30034" y="499126"/>
                </a:lnTo>
                <a:lnTo>
                  <a:pt x="0" y="538977"/>
                </a:lnTo>
                <a:lnTo>
                  <a:pt x="227622" y="538977"/>
                </a:lnTo>
                <a:lnTo>
                  <a:pt x="287418" y="528543"/>
                </a:lnTo>
                <a:lnTo>
                  <a:pt x="345098" y="515565"/>
                </a:lnTo>
                <a:lnTo>
                  <a:pt x="400450" y="500151"/>
                </a:lnTo>
                <a:lnTo>
                  <a:pt x="453261" y="482410"/>
                </a:lnTo>
                <a:lnTo>
                  <a:pt x="503322" y="462448"/>
                </a:lnTo>
                <a:lnTo>
                  <a:pt x="550419" y="440375"/>
                </a:lnTo>
                <a:lnTo>
                  <a:pt x="594341" y="416297"/>
                </a:lnTo>
                <a:lnTo>
                  <a:pt x="634877" y="390322"/>
                </a:lnTo>
                <a:lnTo>
                  <a:pt x="671815" y="362559"/>
                </a:lnTo>
                <a:lnTo>
                  <a:pt x="704943" y="333115"/>
                </a:lnTo>
                <a:lnTo>
                  <a:pt x="734050" y="302097"/>
                </a:lnTo>
                <a:lnTo>
                  <a:pt x="758924" y="269615"/>
                </a:lnTo>
                <a:lnTo>
                  <a:pt x="734383" y="236980"/>
                </a:lnTo>
                <a:lnTo>
                  <a:pt x="705525" y="205824"/>
                </a:lnTo>
                <a:lnTo>
                  <a:pt x="672568" y="176257"/>
                </a:lnTo>
                <a:lnTo>
                  <a:pt x="635732" y="148392"/>
                </a:lnTo>
                <a:lnTo>
                  <a:pt x="595234" y="122337"/>
                </a:lnTo>
                <a:lnTo>
                  <a:pt x="551294" y="98206"/>
                </a:lnTo>
                <a:lnTo>
                  <a:pt x="504131" y="76107"/>
                </a:lnTo>
                <a:lnTo>
                  <a:pt x="453963" y="56154"/>
                </a:lnTo>
                <a:lnTo>
                  <a:pt x="401009" y="38455"/>
                </a:lnTo>
                <a:lnTo>
                  <a:pt x="345489" y="23122"/>
                </a:lnTo>
                <a:lnTo>
                  <a:pt x="287620" y="10267"/>
                </a:lnTo>
                <a:lnTo>
                  <a:pt x="2276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513461" y="3237233"/>
            <a:ext cx="759460" cy="539115"/>
          </a:xfrm>
          <a:custGeom>
            <a:avLst/>
            <a:gdLst/>
            <a:ahLst/>
            <a:cxnLst/>
            <a:rect l="l" t="t" r="r" b="b"/>
            <a:pathLst>
              <a:path w="759459" h="539114">
                <a:moveTo>
                  <a:pt x="758924" y="269615"/>
                </a:moveTo>
                <a:lnTo>
                  <a:pt x="734050" y="302097"/>
                </a:lnTo>
                <a:lnTo>
                  <a:pt x="704943" y="333115"/>
                </a:lnTo>
                <a:lnTo>
                  <a:pt x="671815" y="362559"/>
                </a:lnTo>
                <a:lnTo>
                  <a:pt x="634877" y="390322"/>
                </a:lnTo>
                <a:lnTo>
                  <a:pt x="594341" y="416297"/>
                </a:lnTo>
                <a:lnTo>
                  <a:pt x="550419" y="440375"/>
                </a:lnTo>
                <a:lnTo>
                  <a:pt x="503322" y="462448"/>
                </a:lnTo>
                <a:lnTo>
                  <a:pt x="453261" y="482410"/>
                </a:lnTo>
                <a:lnTo>
                  <a:pt x="400450" y="500151"/>
                </a:lnTo>
                <a:lnTo>
                  <a:pt x="345098" y="515565"/>
                </a:lnTo>
                <a:lnTo>
                  <a:pt x="287418" y="528543"/>
                </a:lnTo>
                <a:lnTo>
                  <a:pt x="227622" y="538977"/>
                </a:lnTo>
                <a:lnTo>
                  <a:pt x="0" y="538977"/>
                </a:lnTo>
                <a:lnTo>
                  <a:pt x="30034" y="499126"/>
                </a:lnTo>
                <a:lnTo>
                  <a:pt x="55062" y="458475"/>
                </a:lnTo>
                <a:lnTo>
                  <a:pt x="75085" y="417170"/>
                </a:lnTo>
                <a:lnTo>
                  <a:pt x="90102" y="375354"/>
                </a:lnTo>
                <a:lnTo>
                  <a:pt x="100114" y="333173"/>
                </a:lnTo>
                <a:lnTo>
                  <a:pt x="105119" y="290773"/>
                </a:lnTo>
                <a:lnTo>
                  <a:pt x="105119" y="248298"/>
                </a:lnTo>
                <a:lnTo>
                  <a:pt x="100114" y="205893"/>
                </a:lnTo>
                <a:lnTo>
                  <a:pt x="90102" y="163703"/>
                </a:lnTo>
                <a:lnTo>
                  <a:pt x="75085" y="121874"/>
                </a:lnTo>
                <a:lnTo>
                  <a:pt x="55062" y="80551"/>
                </a:lnTo>
                <a:lnTo>
                  <a:pt x="30034" y="39877"/>
                </a:lnTo>
                <a:lnTo>
                  <a:pt x="0" y="0"/>
                </a:lnTo>
                <a:lnTo>
                  <a:pt x="227622" y="0"/>
                </a:lnTo>
                <a:lnTo>
                  <a:pt x="287620" y="10267"/>
                </a:lnTo>
                <a:lnTo>
                  <a:pt x="345489" y="23122"/>
                </a:lnTo>
                <a:lnTo>
                  <a:pt x="401009" y="38455"/>
                </a:lnTo>
                <a:lnTo>
                  <a:pt x="453963" y="56154"/>
                </a:lnTo>
                <a:lnTo>
                  <a:pt x="504131" y="76107"/>
                </a:lnTo>
                <a:lnTo>
                  <a:pt x="551294" y="98206"/>
                </a:lnTo>
                <a:lnTo>
                  <a:pt x="595234" y="122337"/>
                </a:lnTo>
                <a:lnTo>
                  <a:pt x="635732" y="148392"/>
                </a:lnTo>
                <a:lnTo>
                  <a:pt x="672568" y="176257"/>
                </a:lnTo>
                <a:lnTo>
                  <a:pt x="705525" y="205824"/>
                </a:lnTo>
                <a:lnTo>
                  <a:pt x="734383" y="236980"/>
                </a:lnTo>
                <a:lnTo>
                  <a:pt x="758924" y="269615"/>
                </a:lnTo>
                <a:close/>
              </a:path>
            </a:pathLst>
          </a:custGeom>
          <a:ln w="281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309178" y="2518639"/>
            <a:ext cx="0" cy="853440"/>
          </a:xfrm>
          <a:custGeom>
            <a:avLst/>
            <a:gdLst/>
            <a:ahLst/>
            <a:cxnLst/>
            <a:rect l="l" t="t" r="r" b="b"/>
            <a:pathLst>
              <a:path h="853439">
                <a:moveTo>
                  <a:pt x="0" y="0"/>
                </a:moveTo>
                <a:lnTo>
                  <a:pt x="0" y="853338"/>
                </a:lnTo>
              </a:path>
            </a:pathLst>
          </a:custGeom>
          <a:ln w="296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309178" y="3641466"/>
            <a:ext cx="0" cy="854075"/>
          </a:xfrm>
          <a:custGeom>
            <a:avLst/>
            <a:gdLst/>
            <a:ahLst/>
            <a:cxnLst/>
            <a:rect l="l" t="t" r="r" b="b"/>
            <a:pathLst>
              <a:path h="854075">
                <a:moveTo>
                  <a:pt x="0" y="853465"/>
                </a:moveTo>
                <a:lnTo>
                  <a:pt x="0" y="0"/>
                </a:lnTo>
              </a:path>
            </a:pathLst>
          </a:custGeom>
          <a:ln w="296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9503233" y="3300545"/>
            <a:ext cx="180340" cy="3492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00" i="1" spc="30" dirty="0">
                <a:solidFill>
                  <a:srgbClr val="17365F"/>
                </a:solidFill>
                <a:latin typeface="华文楷体"/>
                <a:cs typeface="华文楷体"/>
              </a:rPr>
              <a:t>F</a:t>
            </a:r>
            <a:endParaRPr sz="2100">
              <a:latin typeface="华文楷体"/>
              <a:cs typeface="华文楷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944469" y="5905637"/>
            <a:ext cx="783590" cy="3492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100" i="1" spc="40" dirty="0">
                <a:solidFill>
                  <a:srgbClr val="17365F"/>
                </a:solidFill>
                <a:latin typeface="华文楷体"/>
                <a:cs typeface="华文楷体"/>
              </a:rPr>
              <a:t>A </a:t>
            </a:r>
            <a:r>
              <a:rPr sz="1950" spc="97" baseline="-12820" dirty="0">
                <a:solidFill>
                  <a:srgbClr val="17365F"/>
                </a:solidFill>
                <a:latin typeface="华文楷体"/>
                <a:cs typeface="华文楷体"/>
              </a:rPr>
              <a:t>1 </a:t>
            </a:r>
            <a:r>
              <a:rPr sz="2100" i="1" spc="40" dirty="0">
                <a:solidFill>
                  <a:srgbClr val="17365F"/>
                </a:solidFill>
                <a:latin typeface="华文楷体"/>
                <a:cs typeface="华文楷体"/>
              </a:rPr>
              <a:t>A</a:t>
            </a:r>
            <a:r>
              <a:rPr sz="2100" i="1" spc="-275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1950" spc="97" baseline="-12820" dirty="0">
                <a:solidFill>
                  <a:srgbClr val="17365F"/>
                </a:solidFill>
                <a:latin typeface="华文楷体"/>
                <a:cs typeface="华文楷体"/>
              </a:rPr>
              <a:t>0</a:t>
            </a:r>
            <a:endParaRPr sz="1950" baseline="-12820">
              <a:latin typeface="华文楷体"/>
              <a:cs typeface="华文楷体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945006" y="1620428"/>
            <a:ext cx="447675" cy="359410"/>
          </a:xfrm>
          <a:custGeom>
            <a:avLst/>
            <a:gdLst/>
            <a:ahLst/>
            <a:cxnLst/>
            <a:rect l="l" t="t" r="r" b="b"/>
            <a:pathLst>
              <a:path w="447675" h="359410">
                <a:moveTo>
                  <a:pt x="0" y="0"/>
                </a:moveTo>
                <a:lnTo>
                  <a:pt x="0" y="359233"/>
                </a:lnTo>
                <a:lnTo>
                  <a:pt x="389154" y="179616"/>
                </a:lnTo>
                <a:lnTo>
                  <a:pt x="0" y="0"/>
                </a:lnTo>
                <a:close/>
              </a:path>
              <a:path w="447675" h="359410">
                <a:moveTo>
                  <a:pt x="418397" y="152617"/>
                </a:moveTo>
                <a:lnTo>
                  <a:pt x="406993" y="154732"/>
                </a:lnTo>
                <a:lnTo>
                  <a:pt x="397700" y="160508"/>
                </a:lnTo>
                <a:lnTo>
                  <a:pt x="391445" y="169088"/>
                </a:lnTo>
                <a:lnTo>
                  <a:pt x="389154" y="179616"/>
                </a:lnTo>
                <a:lnTo>
                  <a:pt x="391445" y="190072"/>
                </a:lnTo>
                <a:lnTo>
                  <a:pt x="397700" y="198614"/>
                </a:lnTo>
                <a:lnTo>
                  <a:pt x="406993" y="204376"/>
                </a:lnTo>
                <a:lnTo>
                  <a:pt x="418397" y="206489"/>
                </a:lnTo>
                <a:lnTo>
                  <a:pt x="429721" y="204376"/>
                </a:lnTo>
                <a:lnTo>
                  <a:pt x="438972" y="198614"/>
                </a:lnTo>
                <a:lnTo>
                  <a:pt x="445213" y="190072"/>
                </a:lnTo>
                <a:lnTo>
                  <a:pt x="447501" y="179616"/>
                </a:lnTo>
                <a:lnTo>
                  <a:pt x="445213" y="169088"/>
                </a:lnTo>
                <a:lnTo>
                  <a:pt x="438972" y="160508"/>
                </a:lnTo>
                <a:lnTo>
                  <a:pt x="429721" y="154732"/>
                </a:lnTo>
                <a:lnTo>
                  <a:pt x="418397" y="1526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319902" y="1758787"/>
            <a:ext cx="86864" cy="823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945006" y="1620428"/>
            <a:ext cx="389255" cy="359410"/>
          </a:xfrm>
          <a:custGeom>
            <a:avLst/>
            <a:gdLst/>
            <a:ahLst/>
            <a:cxnLst/>
            <a:rect l="l" t="t" r="r" b="b"/>
            <a:pathLst>
              <a:path w="389254" h="359410">
                <a:moveTo>
                  <a:pt x="0" y="0"/>
                </a:moveTo>
                <a:lnTo>
                  <a:pt x="389154" y="179616"/>
                </a:lnTo>
                <a:lnTo>
                  <a:pt x="0" y="359233"/>
                </a:lnTo>
                <a:lnTo>
                  <a:pt x="0" y="0"/>
                </a:lnTo>
                <a:close/>
              </a:path>
            </a:pathLst>
          </a:custGeom>
          <a:ln w="28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779616" y="1800045"/>
            <a:ext cx="165735" cy="4132579"/>
          </a:xfrm>
          <a:custGeom>
            <a:avLst/>
            <a:gdLst/>
            <a:ahLst/>
            <a:cxnLst/>
            <a:rect l="l" t="t" r="r" b="b"/>
            <a:pathLst>
              <a:path w="165735" h="4132579">
                <a:moveTo>
                  <a:pt x="165390" y="0"/>
                </a:moveTo>
                <a:lnTo>
                  <a:pt x="0" y="0"/>
                </a:lnTo>
                <a:lnTo>
                  <a:pt x="0" y="4132113"/>
                </a:lnTo>
              </a:path>
            </a:pathLst>
          </a:custGeom>
          <a:ln w="296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779616" y="3776210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583787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5582414" y="5905637"/>
            <a:ext cx="394335" cy="3492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100" i="1" spc="40" dirty="0">
                <a:solidFill>
                  <a:srgbClr val="17365F"/>
                </a:solidFill>
                <a:latin typeface="华文楷体"/>
                <a:cs typeface="华文楷体"/>
              </a:rPr>
              <a:t>A</a:t>
            </a:r>
            <a:r>
              <a:rPr sz="2100" i="1" spc="-220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1950" spc="97" baseline="-12820" dirty="0">
                <a:solidFill>
                  <a:srgbClr val="17365F"/>
                </a:solidFill>
                <a:latin typeface="华文楷体"/>
                <a:cs typeface="华文楷体"/>
              </a:rPr>
              <a:t>2</a:t>
            </a:r>
            <a:endParaRPr sz="1950" baseline="-12820">
              <a:latin typeface="华文楷体"/>
              <a:cs typeface="华文楷体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5390462" y="2159278"/>
            <a:ext cx="973455" cy="0"/>
          </a:xfrm>
          <a:custGeom>
            <a:avLst/>
            <a:gdLst/>
            <a:ahLst/>
            <a:cxnLst/>
            <a:rect l="l" t="t" r="r" b="b"/>
            <a:pathLst>
              <a:path w="973454">
                <a:moveTo>
                  <a:pt x="972941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90462" y="2518639"/>
            <a:ext cx="973455" cy="0"/>
          </a:xfrm>
          <a:custGeom>
            <a:avLst/>
            <a:gdLst/>
            <a:ahLst/>
            <a:cxnLst/>
            <a:rect l="l" t="t" r="r" b="b"/>
            <a:pathLst>
              <a:path w="973454">
                <a:moveTo>
                  <a:pt x="972941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390462" y="2877999"/>
            <a:ext cx="973455" cy="0"/>
          </a:xfrm>
          <a:custGeom>
            <a:avLst/>
            <a:gdLst/>
            <a:ahLst/>
            <a:cxnLst/>
            <a:rect l="l" t="t" r="r" b="b"/>
            <a:pathLst>
              <a:path w="973454">
                <a:moveTo>
                  <a:pt x="972941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390462" y="3237233"/>
            <a:ext cx="973455" cy="0"/>
          </a:xfrm>
          <a:custGeom>
            <a:avLst/>
            <a:gdLst/>
            <a:ahLst/>
            <a:cxnLst/>
            <a:rect l="l" t="t" r="r" b="b"/>
            <a:pathLst>
              <a:path w="973454">
                <a:moveTo>
                  <a:pt x="972941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390462" y="4135571"/>
            <a:ext cx="973455" cy="0"/>
          </a:xfrm>
          <a:custGeom>
            <a:avLst/>
            <a:gdLst/>
            <a:ahLst/>
            <a:cxnLst/>
            <a:rect l="l" t="t" r="r" b="b"/>
            <a:pathLst>
              <a:path w="973454">
                <a:moveTo>
                  <a:pt x="972941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390462" y="4494932"/>
            <a:ext cx="973455" cy="0"/>
          </a:xfrm>
          <a:custGeom>
            <a:avLst/>
            <a:gdLst/>
            <a:ahLst/>
            <a:cxnLst/>
            <a:rect l="l" t="t" r="r" b="b"/>
            <a:pathLst>
              <a:path w="973454">
                <a:moveTo>
                  <a:pt x="972941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390462" y="4854166"/>
            <a:ext cx="973455" cy="0"/>
          </a:xfrm>
          <a:custGeom>
            <a:avLst/>
            <a:gdLst/>
            <a:ahLst/>
            <a:cxnLst/>
            <a:rect l="l" t="t" r="r" b="b"/>
            <a:pathLst>
              <a:path w="973454">
                <a:moveTo>
                  <a:pt x="972941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390462" y="5213526"/>
            <a:ext cx="973455" cy="0"/>
          </a:xfrm>
          <a:custGeom>
            <a:avLst/>
            <a:gdLst/>
            <a:ahLst/>
            <a:cxnLst/>
            <a:rect l="l" t="t" r="r" b="b"/>
            <a:pathLst>
              <a:path w="973454">
                <a:moveTo>
                  <a:pt x="972941" y="0"/>
                </a:moveTo>
                <a:lnTo>
                  <a:pt x="0" y="0"/>
                </a:lnTo>
              </a:path>
            </a:pathLst>
          </a:custGeom>
          <a:ln w="273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4946855" y="3911599"/>
            <a:ext cx="420370" cy="146304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5"/>
              </a:spcBef>
            </a:pPr>
            <a:r>
              <a:rPr sz="2100" i="1" spc="45" dirty="0">
                <a:solidFill>
                  <a:srgbClr val="17365F"/>
                </a:solidFill>
                <a:latin typeface="华文楷体"/>
                <a:cs typeface="华文楷体"/>
              </a:rPr>
              <a:t>D</a:t>
            </a:r>
            <a:r>
              <a:rPr sz="2100" i="1" spc="-265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1950" spc="97" baseline="-12820" dirty="0">
                <a:solidFill>
                  <a:srgbClr val="17365F"/>
                </a:solidFill>
                <a:latin typeface="华文楷体"/>
                <a:cs typeface="华文楷体"/>
              </a:rPr>
              <a:t>3</a:t>
            </a:r>
            <a:endParaRPr sz="1950" baseline="-1282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sz="2100" i="1" spc="45" dirty="0">
                <a:solidFill>
                  <a:srgbClr val="17365F"/>
                </a:solidFill>
                <a:latin typeface="华文楷体"/>
                <a:cs typeface="华文楷体"/>
              </a:rPr>
              <a:t>D</a:t>
            </a:r>
            <a:r>
              <a:rPr sz="2100" i="1" spc="-265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1950" spc="97" baseline="-12820" dirty="0">
                <a:solidFill>
                  <a:srgbClr val="17365F"/>
                </a:solidFill>
                <a:latin typeface="华文楷体"/>
                <a:cs typeface="华文楷体"/>
              </a:rPr>
              <a:t>2</a:t>
            </a:r>
            <a:endParaRPr sz="1950" baseline="-1282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sz="2100" i="1" spc="45" dirty="0">
                <a:solidFill>
                  <a:srgbClr val="17365F"/>
                </a:solidFill>
                <a:latin typeface="华文楷体"/>
                <a:cs typeface="华文楷体"/>
              </a:rPr>
              <a:t>D</a:t>
            </a:r>
            <a:r>
              <a:rPr sz="2100" i="1" spc="-265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1950" spc="97" baseline="-12820" dirty="0">
                <a:solidFill>
                  <a:srgbClr val="17365F"/>
                </a:solidFill>
                <a:latin typeface="华文楷体"/>
                <a:cs typeface="华文楷体"/>
              </a:rPr>
              <a:t>1</a:t>
            </a:r>
            <a:endParaRPr sz="1950" baseline="-1282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sz="2100" i="1" spc="45" dirty="0">
                <a:solidFill>
                  <a:srgbClr val="17365F"/>
                </a:solidFill>
                <a:latin typeface="华文楷体"/>
                <a:cs typeface="华文楷体"/>
              </a:rPr>
              <a:t>D</a:t>
            </a:r>
            <a:r>
              <a:rPr sz="2100" i="1" spc="-265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1950" spc="97" baseline="-12820" dirty="0">
                <a:solidFill>
                  <a:srgbClr val="17365F"/>
                </a:solidFill>
                <a:latin typeface="华文楷体"/>
                <a:cs typeface="华文楷体"/>
              </a:rPr>
              <a:t>0</a:t>
            </a:r>
            <a:endParaRPr sz="1950" baseline="-12820">
              <a:latin typeface="华文楷体"/>
              <a:cs typeface="华文楷体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946855" y="1935179"/>
            <a:ext cx="420370" cy="146304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5"/>
              </a:spcBef>
            </a:pPr>
            <a:r>
              <a:rPr sz="2100" i="1" spc="45" dirty="0">
                <a:solidFill>
                  <a:srgbClr val="17365F"/>
                </a:solidFill>
                <a:latin typeface="华文楷体"/>
                <a:cs typeface="华文楷体"/>
              </a:rPr>
              <a:t>D</a:t>
            </a:r>
            <a:r>
              <a:rPr sz="2100" i="1" spc="-265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1950" spc="97" baseline="-12820" dirty="0">
                <a:solidFill>
                  <a:srgbClr val="17365F"/>
                </a:solidFill>
                <a:latin typeface="华文楷体"/>
                <a:cs typeface="华文楷体"/>
              </a:rPr>
              <a:t>7</a:t>
            </a:r>
            <a:endParaRPr sz="1950" baseline="-1282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309"/>
              </a:spcBef>
            </a:pPr>
            <a:r>
              <a:rPr sz="2100" i="1" spc="45" dirty="0">
                <a:solidFill>
                  <a:srgbClr val="17365F"/>
                </a:solidFill>
                <a:latin typeface="华文楷体"/>
                <a:cs typeface="华文楷体"/>
              </a:rPr>
              <a:t>D</a:t>
            </a:r>
            <a:r>
              <a:rPr sz="2100" i="1" spc="-265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1950" spc="97" baseline="-12820" dirty="0">
                <a:solidFill>
                  <a:srgbClr val="17365F"/>
                </a:solidFill>
                <a:latin typeface="华文楷体"/>
                <a:cs typeface="华文楷体"/>
              </a:rPr>
              <a:t>6</a:t>
            </a:r>
            <a:endParaRPr sz="1950" baseline="-1282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309"/>
              </a:spcBef>
            </a:pPr>
            <a:r>
              <a:rPr sz="2100" i="1" spc="45" dirty="0">
                <a:solidFill>
                  <a:srgbClr val="17365F"/>
                </a:solidFill>
                <a:latin typeface="华文楷体"/>
                <a:cs typeface="华文楷体"/>
              </a:rPr>
              <a:t>D</a:t>
            </a:r>
            <a:r>
              <a:rPr sz="2100" i="1" spc="-265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1950" spc="97" baseline="-12820" dirty="0">
                <a:solidFill>
                  <a:srgbClr val="17365F"/>
                </a:solidFill>
                <a:latin typeface="华文楷体"/>
                <a:cs typeface="华文楷体"/>
              </a:rPr>
              <a:t>5</a:t>
            </a:r>
            <a:endParaRPr sz="1950" baseline="-1282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305"/>
              </a:spcBef>
            </a:pPr>
            <a:r>
              <a:rPr sz="2100" i="1" spc="45" dirty="0">
                <a:solidFill>
                  <a:srgbClr val="17365F"/>
                </a:solidFill>
                <a:latin typeface="华文楷体"/>
                <a:cs typeface="华文楷体"/>
              </a:rPr>
              <a:t>D</a:t>
            </a:r>
            <a:r>
              <a:rPr sz="2100" i="1" spc="-265" dirty="0">
                <a:solidFill>
                  <a:srgbClr val="17365F"/>
                </a:solidFill>
                <a:latin typeface="华文楷体"/>
                <a:cs typeface="华文楷体"/>
              </a:rPr>
              <a:t> </a:t>
            </a:r>
            <a:r>
              <a:rPr sz="1950" spc="97" baseline="-12820" dirty="0">
                <a:solidFill>
                  <a:srgbClr val="17365F"/>
                </a:solidFill>
                <a:latin typeface="华文楷体"/>
                <a:cs typeface="华文楷体"/>
              </a:rPr>
              <a:t>4</a:t>
            </a:r>
            <a:endParaRPr sz="1950" baseline="-12820">
              <a:latin typeface="华文楷体"/>
              <a:cs typeface="华文楷体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6455955" y="3708207"/>
            <a:ext cx="125852" cy="1182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455954" y="1731914"/>
            <a:ext cx="125853" cy="1183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>
            <a:spLocks noGrp="1"/>
          </p:cNvSpPr>
          <p:nvPr>
            <p:ph type="title"/>
          </p:nvPr>
        </p:nvSpPr>
        <p:spPr>
          <a:xfrm>
            <a:off x="1710944" y="1243475"/>
            <a:ext cx="2844165" cy="1549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57200">
              <a:lnSpc>
                <a:spcPct val="119100"/>
              </a:lnSpc>
              <a:spcBef>
                <a:spcPts val="90"/>
              </a:spcBef>
            </a:pPr>
            <a:r>
              <a:rPr sz="2800" spc="-10" dirty="0">
                <a:solidFill>
                  <a:srgbClr val="BE7300"/>
                </a:solidFill>
              </a:rPr>
              <a:t>74153</a:t>
            </a:r>
            <a:r>
              <a:rPr sz="2800" spc="-5" dirty="0">
                <a:solidFill>
                  <a:srgbClr val="BE7300"/>
                </a:solidFill>
              </a:rPr>
              <a:t>内部有两 个独立</a:t>
            </a:r>
            <a:r>
              <a:rPr sz="2800" spc="-15" dirty="0">
                <a:solidFill>
                  <a:srgbClr val="BE7300"/>
                </a:solidFill>
              </a:rPr>
              <a:t>的</a:t>
            </a:r>
            <a:r>
              <a:rPr sz="2800" spc="-10" dirty="0">
                <a:solidFill>
                  <a:srgbClr val="BE7300"/>
                </a:solidFill>
              </a:rPr>
              <a:t>4选1</a:t>
            </a:r>
            <a:r>
              <a:rPr sz="2800" spc="-5" dirty="0">
                <a:solidFill>
                  <a:srgbClr val="BE7300"/>
                </a:solidFill>
              </a:rPr>
              <a:t>数据 选择器。</a:t>
            </a:r>
            <a:endParaRPr sz="2800"/>
          </a:p>
        </p:txBody>
      </p:sp>
      <p:sp>
        <p:nvSpPr>
          <p:cNvPr id="79" name="object 7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31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1698244" y="2930799"/>
            <a:ext cx="2895600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 marR="17780" indent="457200">
              <a:lnSpc>
                <a:spcPct val="119100"/>
              </a:lnSpc>
              <a:spcBef>
                <a:spcPts val="105"/>
              </a:spcBef>
            </a:pP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利用扩展端</a:t>
            </a:r>
            <a:r>
              <a:rPr sz="2800" spc="5" dirty="0">
                <a:solidFill>
                  <a:srgbClr val="BE7300"/>
                </a:solidFill>
                <a:latin typeface="华文楷体"/>
                <a:cs typeface="华文楷体"/>
              </a:rPr>
              <a:t>A</a:t>
            </a:r>
            <a:r>
              <a:rPr sz="2775" spc="7" baseline="-21021" dirty="0">
                <a:solidFill>
                  <a:srgbClr val="BE7300"/>
                </a:solidFill>
                <a:latin typeface="华文楷体"/>
                <a:cs typeface="华文楷体"/>
              </a:rPr>
              <a:t>2  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控制两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个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选通端， 在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A</a:t>
            </a:r>
            <a:r>
              <a:rPr sz="2775" baseline="-21021" dirty="0">
                <a:solidFill>
                  <a:srgbClr val="BE7300"/>
                </a:solidFill>
                <a:latin typeface="华文楷体"/>
                <a:cs typeface="华文楷体"/>
              </a:rPr>
              <a:t>2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为</a:t>
            </a: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0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、</a:t>
            </a: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时各有 一个选</a:t>
            </a:r>
            <a:r>
              <a:rPr sz="2800" spc="10" dirty="0">
                <a:solidFill>
                  <a:srgbClr val="BE7300"/>
                </a:solidFill>
                <a:latin typeface="华文楷体"/>
                <a:cs typeface="华文楷体"/>
              </a:rPr>
              <a:t>择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器工作， 实</a:t>
            </a: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现8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选</a:t>
            </a: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选择器的 功能。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387172"/>
            <a:ext cx="2769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  <a:latin typeface="隶书"/>
                <a:cs typeface="隶书"/>
              </a:rPr>
              <a:t>3</a:t>
            </a:r>
            <a:r>
              <a:rPr spc="-85" dirty="0">
                <a:solidFill>
                  <a:srgbClr val="000000"/>
                </a:solidFill>
                <a:latin typeface="隶书"/>
                <a:cs typeface="隶书"/>
              </a:rPr>
              <a:t> </a:t>
            </a:r>
            <a:r>
              <a:rPr spc="-5" dirty="0">
                <a:solidFill>
                  <a:srgbClr val="000000"/>
                </a:solidFill>
                <a:latin typeface="隶书"/>
                <a:cs typeface="隶书"/>
              </a:rPr>
              <a:t>多路分配器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4040" y="1073911"/>
            <a:ext cx="8640445" cy="182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功能</a:t>
            </a:r>
            <a:endParaRPr sz="2800">
              <a:latin typeface="微软雅黑"/>
              <a:cs typeface="微软雅黑"/>
            </a:endParaRPr>
          </a:p>
          <a:p>
            <a:pPr marL="355600" marR="5080" indent="457200">
              <a:lnSpc>
                <a:spcPct val="150100"/>
              </a:lnSpc>
              <a:spcBef>
                <a:spcPts val="690"/>
              </a:spcBef>
            </a:pP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与数据选择器的功能相反，多路分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配</a:t>
            </a: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器可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以</a:t>
            </a: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在通道 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选择端的作用下，将一个数据分别</a:t>
            </a:r>
            <a:r>
              <a:rPr sz="2800" spc="5" dirty="0">
                <a:solidFill>
                  <a:srgbClr val="BE7300"/>
                </a:solidFill>
                <a:latin typeface="华文楷体"/>
                <a:cs typeface="华文楷体"/>
              </a:rPr>
              <a:t>送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到多</a:t>
            </a:r>
            <a:r>
              <a:rPr sz="2800" spc="5" dirty="0">
                <a:solidFill>
                  <a:srgbClr val="BE7300"/>
                </a:solidFill>
                <a:latin typeface="华文楷体"/>
                <a:cs typeface="华文楷体"/>
              </a:rPr>
              <a:t>个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输出</a:t>
            </a:r>
            <a:r>
              <a:rPr sz="2800" spc="5" dirty="0">
                <a:solidFill>
                  <a:srgbClr val="BE7300"/>
                </a:solidFill>
                <a:latin typeface="华文楷体"/>
                <a:cs typeface="华文楷体"/>
              </a:rPr>
              <a:t>端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80232" y="4238244"/>
            <a:ext cx="3705225" cy="2059305"/>
          </a:xfrm>
          <a:custGeom>
            <a:avLst/>
            <a:gdLst/>
            <a:ahLst/>
            <a:cxnLst/>
            <a:rect l="l" t="t" r="r" b="b"/>
            <a:pathLst>
              <a:path w="3705225" h="2059304">
                <a:moveTo>
                  <a:pt x="0" y="2058923"/>
                </a:moveTo>
                <a:lnTo>
                  <a:pt x="3704844" y="2058923"/>
                </a:lnTo>
                <a:lnTo>
                  <a:pt x="3704844" y="0"/>
                </a:lnTo>
                <a:lnTo>
                  <a:pt x="0" y="0"/>
                </a:lnTo>
                <a:lnTo>
                  <a:pt x="0" y="2058923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41291" y="4297544"/>
            <a:ext cx="779780" cy="0"/>
          </a:xfrm>
          <a:custGeom>
            <a:avLst/>
            <a:gdLst/>
            <a:ahLst/>
            <a:cxnLst/>
            <a:rect l="l" t="t" r="r" b="b"/>
            <a:pathLst>
              <a:path w="779779">
                <a:moveTo>
                  <a:pt x="0" y="0"/>
                </a:moveTo>
                <a:lnTo>
                  <a:pt x="779383" y="0"/>
                </a:lnTo>
              </a:path>
            </a:pathLst>
          </a:custGeom>
          <a:ln w="39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41291" y="4656733"/>
            <a:ext cx="779780" cy="0"/>
          </a:xfrm>
          <a:custGeom>
            <a:avLst/>
            <a:gdLst/>
            <a:ahLst/>
            <a:cxnLst/>
            <a:rect l="l" t="t" r="r" b="b"/>
            <a:pathLst>
              <a:path w="779779">
                <a:moveTo>
                  <a:pt x="0" y="0"/>
                </a:moveTo>
                <a:lnTo>
                  <a:pt x="779383" y="0"/>
                </a:lnTo>
              </a:path>
            </a:pathLst>
          </a:custGeom>
          <a:ln w="39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41291" y="5016050"/>
            <a:ext cx="779780" cy="0"/>
          </a:xfrm>
          <a:custGeom>
            <a:avLst/>
            <a:gdLst/>
            <a:ahLst/>
            <a:cxnLst/>
            <a:rect l="l" t="t" r="r" b="b"/>
            <a:pathLst>
              <a:path w="779779">
                <a:moveTo>
                  <a:pt x="0" y="0"/>
                </a:moveTo>
                <a:lnTo>
                  <a:pt x="779383" y="0"/>
                </a:lnTo>
              </a:path>
            </a:pathLst>
          </a:custGeom>
          <a:ln w="39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41292" y="5375328"/>
            <a:ext cx="779780" cy="0"/>
          </a:xfrm>
          <a:custGeom>
            <a:avLst/>
            <a:gdLst/>
            <a:ahLst/>
            <a:cxnLst/>
            <a:rect l="l" t="t" r="r" b="b"/>
            <a:pathLst>
              <a:path w="779779">
                <a:moveTo>
                  <a:pt x="0" y="0"/>
                </a:moveTo>
                <a:lnTo>
                  <a:pt x="779383" y="0"/>
                </a:lnTo>
              </a:path>
            </a:pathLst>
          </a:custGeom>
          <a:ln w="39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70674" y="4836455"/>
            <a:ext cx="779780" cy="0"/>
          </a:xfrm>
          <a:custGeom>
            <a:avLst/>
            <a:gdLst/>
            <a:ahLst/>
            <a:cxnLst/>
            <a:rect l="l" t="t" r="r" b="b"/>
            <a:pathLst>
              <a:path w="779779">
                <a:moveTo>
                  <a:pt x="0" y="0"/>
                </a:moveTo>
                <a:lnTo>
                  <a:pt x="779425" y="0"/>
                </a:lnTo>
              </a:path>
            </a:pathLst>
          </a:custGeom>
          <a:ln w="39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50099" y="4836455"/>
            <a:ext cx="860425" cy="549275"/>
          </a:xfrm>
          <a:custGeom>
            <a:avLst/>
            <a:gdLst/>
            <a:ahLst/>
            <a:cxnLst/>
            <a:rect l="l" t="t" r="r" b="b"/>
            <a:pathLst>
              <a:path w="860425" h="549275">
                <a:moveTo>
                  <a:pt x="860360" y="549037"/>
                </a:moveTo>
                <a:lnTo>
                  <a:pt x="0" y="0"/>
                </a:lnTo>
              </a:path>
            </a:pathLst>
          </a:custGeom>
          <a:ln w="405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58079" y="5325354"/>
            <a:ext cx="205740" cy="158115"/>
          </a:xfrm>
          <a:custGeom>
            <a:avLst/>
            <a:gdLst/>
            <a:ahLst/>
            <a:cxnLst/>
            <a:rect l="l" t="t" r="r" b="b"/>
            <a:pathLst>
              <a:path w="205739" h="158114">
                <a:moveTo>
                  <a:pt x="76989" y="0"/>
                </a:moveTo>
                <a:lnTo>
                  <a:pt x="0" y="102547"/>
                </a:lnTo>
                <a:lnTo>
                  <a:pt x="205260" y="157756"/>
                </a:lnTo>
                <a:lnTo>
                  <a:pt x="769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691341" y="4253412"/>
            <a:ext cx="260350" cy="1120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95"/>
              </a:spcBef>
            </a:pPr>
            <a:r>
              <a:rPr sz="1800" spc="114" dirty="0">
                <a:latin typeface="宋体"/>
                <a:cs typeface="宋体"/>
              </a:rPr>
              <a:t>输 出 信 号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49448" y="4527177"/>
            <a:ext cx="508634" cy="573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800" spc="150" dirty="0">
                <a:latin typeface="宋体"/>
                <a:cs typeface="宋体"/>
              </a:rPr>
              <a:t>输</a:t>
            </a:r>
            <a:r>
              <a:rPr sz="1800" spc="110" dirty="0">
                <a:latin typeface="宋体"/>
                <a:cs typeface="宋体"/>
              </a:rPr>
              <a:t>入 </a:t>
            </a:r>
            <a:r>
              <a:rPr sz="1800" spc="150" dirty="0">
                <a:latin typeface="宋体"/>
                <a:cs typeface="宋体"/>
              </a:rPr>
              <a:t>信</a:t>
            </a:r>
            <a:r>
              <a:rPr sz="1800" spc="145" dirty="0">
                <a:latin typeface="宋体"/>
                <a:cs typeface="宋体"/>
              </a:rPr>
              <a:t>号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39860" y="5447179"/>
            <a:ext cx="389890" cy="431165"/>
          </a:xfrm>
          <a:custGeom>
            <a:avLst/>
            <a:gdLst/>
            <a:ahLst/>
            <a:cxnLst/>
            <a:rect l="l" t="t" r="r" b="b"/>
            <a:pathLst>
              <a:path w="389889" h="431164">
                <a:moveTo>
                  <a:pt x="194811" y="0"/>
                </a:moveTo>
                <a:lnTo>
                  <a:pt x="0" y="179632"/>
                </a:lnTo>
                <a:lnTo>
                  <a:pt x="128545" y="179632"/>
                </a:lnTo>
                <a:lnTo>
                  <a:pt x="128545" y="431128"/>
                </a:lnTo>
                <a:lnTo>
                  <a:pt x="261077" y="431128"/>
                </a:lnTo>
                <a:lnTo>
                  <a:pt x="261077" y="179632"/>
                </a:lnTo>
                <a:lnTo>
                  <a:pt x="389623" y="179632"/>
                </a:lnTo>
                <a:lnTo>
                  <a:pt x="194811" y="0"/>
                </a:lnTo>
                <a:close/>
              </a:path>
            </a:pathLst>
          </a:custGeom>
          <a:ln w="286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71720" y="5948274"/>
            <a:ext cx="75755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spc="150" dirty="0">
                <a:latin typeface="宋体"/>
                <a:cs typeface="宋体"/>
              </a:rPr>
              <a:t>控制</a:t>
            </a:r>
            <a:r>
              <a:rPr sz="1800" spc="145" dirty="0">
                <a:latin typeface="宋体"/>
                <a:cs typeface="宋体"/>
              </a:rPr>
              <a:t>端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040" y="1073911"/>
            <a:ext cx="8553450" cy="262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8</a:t>
            </a:r>
            <a:r>
              <a:rPr sz="2800" spc="-5" dirty="0">
                <a:latin typeface="微软雅黑"/>
                <a:cs typeface="微软雅黑"/>
              </a:rPr>
              <a:t>线</a:t>
            </a:r>
            <a:r>
              <a:rPr sz="2800" dirty="0">
                <a:latin typeface="Times New Roman"/>
                <a:cs typeface="Times New Roman"/>
              </a:rPr>
              <a:t>-3</a:t>
            </a:r>
            <a:r>
              <a:rPr sz="2800" spc="-5" dirty="0">
                <a:latin typeface="微软雅黑"/>
                <a:cs typeface="微软雅黑"/>
              </a:rPr>
              <a:t>线普通编码器</a:t>
            </a:r>
            <a:endParaRPr sz="2800">
              <a:latin typeface="微软雅黑"/>
              <a:cs typeface="微软雅黑"/>
            </a:endParaRPr>
          </a:p>
          <a:p>
            <a:pPr marL="812800">
              <a:lnSpc>
                <a:spcPct val="100000"/>
              </a:lnSpc>
              <a:spcBef>
                <a:spcPts val="2375"/>
              </a:spcBef>
            </a:pP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输入8个高、低电平信号，输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出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3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位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二进制数。</a:t>
            </a:r>
            <a:endParaRPr sz="2800">
              <a:latin typeface="华文楷体"/>
              <a:cs typeface="华文楷体"/>
            </a:endParaRPr>
          </a:p>
          <a:p>
            <a:pPr marL="355600" marR="5080" indent="457200">
              <a:lnSpc>
                <a:spcPct val="150000"/>
              </a:lnSpc>
              <a:spcBef>
                <a:spcPts val="1310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如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5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有效（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或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），即对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5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编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码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，输</a:t>
            </a:r>
            <a:r>
              <a:rPr sz="2800" spc="10" dirty="0">
                <a:solidFill>
                  <a:srgbClr val="7E4D00"/>
                </a:solidFill>
                <a:latin typeface="华文楷体"/>
                <a:cs typeface="华文楷体"/>
              </a:rPr>
              <a:t>出</a:t>
            </a:r>
            <a:r>
              <a:rPr sz="2800" spc="-5" dirty="0">
                <a:solidFill>
                  <a:srgbClr val="FF0000"/>
                </a:solidFill>
                <a:latin typeface="华文楷体"/>
                <a:cs typeface="华文楷体"/>
              </a:rPr>
              <a:t>0101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（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原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码） 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或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1010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（反码）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88207" y="982217"/>
            <a:ext cx="3525520" cy="0"/>
          </a:xfrm>
          <a:custGeom>
            <a:avLst/>
            <a:gdLst/>
            <a:ahLst/>
            <a:cxnLst/>
            <a:rect l="l" t="t" r="r" b="b"/>
            <a:pathLst>
              <a:path w="3525520">
                <a:moveTo>
                  <a:pt x="0" y="0"/>
                </a:moveTo>
                <a:lnTo>
                  <a:pt x="352501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872490" cy="0"/>
          </a:xfrm>
          <a:custGeom>
            <a:avLst/>
            <a:gdLst/>
            <a:ahLst/>
            <a:cxnLst/>
            <a:rect l="l" t="t" r="r" b="b"/>
            <a:pathLst>
              <a:path w="872490">
                <a:moveTo>
                  <a:pt x="0" y="0"/>
                </a:moveTo>
                <a:lnTo>
                  <a:pt x="872490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62455" y="908303"/>
            <a:ext cx="1826260" cy="585470"/>
          </a:xfrm>
          <a:prstGeom prst="rect">
            <a:avLst/>
          </a:prstGeom>
          <a:solidFill>
            <a:srgbClr val="FFBB57"/>
          </a:solidFill>
        </p:spPr>
        <p:txBody>
          <a:bodyPr vert="horz" wrap="square" lIns="0" tIns="190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50"/>
              </a:spcBef>
            </a:pP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列真值表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40</a:t>
            </a: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034681" y="1754504"/>
          <a:ext cx="6017891" cy="41147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67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R="15621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b="1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b="1" spc="-7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16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713219" y="900683"/>
            <a:ext cx="2647315" cy="584200"/>
          </a:xfrm>
          <a:prstGeom prst="rect">
            <a:avLst/>
          </a:prstGeom>
          <a:solidFill>
            <a:srgbClr val="FFBB57"/>
          </a:solidFill>
        </p:spPr>
        <p:txBody>
          <a:bodyPr vert="horz" wrap="square" lIns="0" tIns="1841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45"/>
              </a:spcBef>
            </a:pP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分析逻辑功能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0943" y="1473783"/>
            <a:ext cx="2480310" cy="457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0000"/>
                </a:solidFill>
                <a:latin typeface="华文楷体"/>
                <a:cs typeface="华文楷体"/>
              </a:rPr>
              <a:t>输入</a:t>
            </a:r>
            <a:r>
              <a:rPr sz="3200" spc="-5" dirty="0">
                <a:solidFill>
                  <a:srgbClr val="FF0000"/>
                </a:solidFill>
                <a:latin typeface="华文楷体"/>
                <a:cs typeface="华文楷体"/>
              </a:rPr>
              <a:t>1</a:t>
            </a:r>
            <a:r>
              <a:rPr sz="3200" dirty="0">
                <a:solidFill>
                  <a:srgbClr val="FF0000"/>
                </a:solidFill>
                <a:latin typeface="华文楷体"/>
                <a:cs typeface="华文楷体"/>
              </a:rPr>
              <a:t>有效</a:t>
            </a:r>
            <a:endParaRPr sz="3200">
              <a:latin typeface="华文楷体"/>
              <a:cs typeface="华文楷体"/>
            </a:endParaRPr>
          </a:p>
          <a:p>
            <a:pPr marL="12700" marR="120650">
              <a:lnSpc>
                <a:spcPct val="100000"/>
              </a:lnSpc>
              <a:spcBef>
                <a:spcPts val="5"/>
              </a:spcBef>
            </a:pPr>
            <a:r>
              <a:rPr sz="3200" spc="595" dirty="0">
                <a:solidFill>
                  <a:srgbClr val="7E4D00"/>
                </a:solidFill>
                <a:latin typeface="华文楷体"/>
                <a:cs typeface="华文楷体"/>
              </a:rPr>
              <a:t>输出</a:t>
            </a:r>
            <a:r>
              <a:rPr sz="3200" spc="585" dirty="0">
                <a:solidFill>
                  <a:srgbClr val="7E4D00"/>
                </a:solidFill>
                <a:latin typeface="华文楷体"/>
                <a:cs typeface="华文楷体"/>
              </a:rPr>
              <a:t>对</a:t>
            </a:r>
            <a:r>
              <a:rPr sz="3200" spc="595" dirty="0">
                <a:solidFill>
                  <a:srgbClr val="7E4D00"/>
                </a:solidFill>
                <a:latin typeface="华文楷体"/>
                <a:cs typeface="华文楷体"/>
              </a:rPr>
              <a:t>应</a:t>
            </a: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的 </a:t>
            </a:r>
            <a:r>
              <a:rPr sz="3200" dirty="0">
                <a:solidFill>
                  <a:srgbClr val="C00000"/>
                </a:solidFill>
                <a:latin typeface="华文楷体"/>
                <a:cs typeface="华文楷体"/>
              </a:rPr>
              <a:t>二进制代码 </a:t>
            </a:r>
            <a:r>
              <a:rPr sz="3200" spc="600" dirty="0">
                <a:solidFill>
                  <a:srgbClr val="7E4D00"/>
                </a:solidFill>
                <a:latin typeface="华文楷体"/>
                <a:cs typeface="华文楷体"/>
              </a:rPr>
              <a:t>实现</a:t>
            </a:r>
            <a:r>
              <a:rPr sz="3200" spc="590" dirty="0">
                <a:solidFill>
                  <a:srgbClr val="C00000"/>
                </a:solidFill>
                <a:latin typeface="华文楷体"/>
                <a:cs typeface="华文楷体"/>
              </a:rPr>
              <a:t>编</a:t>
            </a:r>
            <a:r>
              <a:rPr sz="3200" spc="600" dirty="0">
                <a:solidFill>
                  <a:srgbClr val="C00000"/>
                </a:solidFill>
                <a:latin typeface="华文楷体"/>
                <a:cs typeface="华文楷体"/>
              </a:rPr>
              <a:t>码</a:t>
            </a: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功 能</a:t>
            </a:r>
            <a:endParaRPr sz="3200">
              <a:latin typeface="华文楷体"/>
              <a:cs typeface="华文楷体"/>
            </a:endParaRPr>
          </a:p>
          <a:p>
            <a:pPr marL="128905">
              <a:lnSpc>
                <a:spcPts val="3665"/>
              </a:lnSpc>
              <a:spcBef>
                <a:spcPts val="1620"/>
              </a:spcBef>
            </a:pPr>
            <a:r>
              <a:rPr sz="3200" dirty="0">
                <a:solidFill>
                  <a:srgbClr val="FF0000"/>
                </a:solidFill>
                <a:latin typeface="隶书"/>
                <a:cs typeface="隶书"/>
              </a:rPr>
              <a:t>问题</a:t>
            </a:r>
            <a:endParaRPr sz="3200">
              <a:latin typeface="隶书"/>
              <a:cs typeface="隶书"/>
            </a:endParaRPr>
          </a:p>
          <a:p>
            <a:pPr marL="128905">
              <a:lnSpc>
                <a:spcPts val="3665"/>
              </a:lnSpc>
            </a:pPr>
            <a:r>
              <a:rPr sz="3200" spc="595" dirty="0">
                <a:solidFill>
                  <a:srgbClr val="FF0000"/>
                </a:solidFill>
                <a:latin typeface="华文楷体"/>
                <a:cs typeface="华文楷体"/>
              </a:rPr>
              <a:t>同一</a:t>
            </a:r>
            <a:r>
              <a:rPr sz="3200" spc="585" dirty="0">
                <a:solidFill>
                  <a:srgbClr val="FF0000"/>
                </a:solidFill>
                <a:latin typeface="华文楷体"/>
                <a:cs typeface="华文楷体"/>
              </a:rPr>
              <a:t>时</a:t>
            </a:r>
            <a:r>
              <a:rPr sz="3200" spc="595" dirty="0">
                <a:solidFill>
                  <a:srgbClr val="FF0000"/>
                </a:solidFill>
                <a:latin typeface="华文楷体"/>
                <a:cs typeface="华文楷体"/>
              </a:rPr>
              <a:t>刻</a:t>
            </a:r>
            <a:r>
              <a:rPr sz="3200" dirty="0">
                <a:solidFill>
                  <a:srgbClr val="FF0000"/>
                </a:solidFill>
                <a:latin typeface="华文楷体"/>
                <a:cs typeface="华文楷体"/>
              </a:rPr>
              <a:t>只</a:t>
            </a:r>
            <a:endParaRPr sz="3200">
              <a:latin typeface="华文楷体"/>
              <a:cs typeface="华文楷体"/>
            </a:endParaRPr>
          </a:p>
          <a:p>
            <a:pPr marL="128905" marR="5080">
              <a:lnSpc>
                <a:spcPct val="100000"/>
              </a:lnSpc>
            </a:pPr>
            <a:r>
              <a:rPr sz="3200" dirty="0">
                <a:solidFill>
                  <a:srgbClr val="FF0000"/>
                </a:solidFill>
                <a:latin typeface="华文楷体"/>
                <a:cs typeface="华文楷体"/>
              </a:rPr>
              <a:t>允</a:t>
            </a:r>
            <a:r>
              <a:rPr sz="3200" spc="5" dirty="0">
                <a:solidFill>
                  <a:srgbClr val="FF0000"/>
                </a:solidFill>
                <a:latin typeface="华文楷体"/>
                <a:cs typeface="华文楷体"/>
              </a:rPr>
              <a:t>许</a:t>
            </a:r>
            <a:r>
              <a:rPr sz="3200" spc="-65" dirty="0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sz="3200" spc="5" dirty="0">
                <a:solidFill>
                  <a:srgbClr val="FF0000"/>
                </a:solidFill>
                <a:latin typeface="华文楷体"/>
                <a:cs typeface="华文楷体"/>
              </a:rPr>
              <a:t>输</a:t>
            </a:r>
            <a:r>
              <a:rPr sz="3200" spc="-45" dirty="0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sz="3200" spc="790" dirty="0">
                <a:solidFill>
                  <a:srgbClr val="FF0000"/>
                </a:solidFill>
                <a:latin typeface="华文楷体"/>
                <a:cs typeface="华文楷体"/>
              </a:rPr>
              <a:t>入</a:t>
            </a:r>
            <a:r>
              <a:rPr sz="3200" spc="5" dirty="0">
                <a:solidFill>
                  <a:srgbClr val="FF0000"/>
                </a:solidFill>
                <a:latin typeface="华文楷体"/>
                <a:cs typeface="华文楷体"/>
              </a:rPr>
              <a:t>一 </a:t>
            </a:r>
            <a:r>
              <a:rPr sz="3200" dirty="0">
                <a:solidFill>
                  <a:srgbClr val="FF0000"/>
                </a:solidFill>
                <a:latin typeface="华文楷体"/>
                <a:cs typeface="华文楷体"/>
              </a:rPr>
              <a:t>个1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268300"/>
            <a:ext cx="1144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solidFill>
                  <a:srgbClr val="666699"/>
                </a:solidFill>
                <a:latin typeface="隶书"/>
                <a:cs typeface="隶书"/>
              </a:rPr>
              <a:t>总结</a:t>
            </a:r>
            <a:endParaRPr sz="4400">
              <a:latin typeface="隶书"/>
              <a:cs typeface="隶书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4040" y="757798"/>
            <a:ext cx="5969635" cy="4886960"/>
          </a:xfrm>
          <a:prstGeom prst="rect">
            <a:avLst/>
          </a:prstGeom>
        </p:spPr>
        <p:txBody>
          <a:bodyPr vert="horz" wrap="square" lIns="0" tIns="304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95"/>
              </a:spcBef>
            </a:pPr>
            <a:r>
              <a:rPr sz="3600" dirty="0">
                <a:solidFill>
                  <a:srgbClr val="0000FF"/>
                </a:solidFill>
                <a:latin typeface="华文楷体"/>
                <a:cs typeface="华文楷体"/>
              </a:rPr>
              <a:t>组合逻辑电路</a:t>
            </a:r>
            <a:r>
              <a:rPr sz="3600" spc="-10" dirty="0">
                <a:solidFill>
                  <a:srgbClr val="0000FF"/>
                </a:solidFill>
                <a:latin typeface="华文楷体"/>
                <a:cs typeface="华文楷体"/>
              </a:rPr>
              <a:t>的</a:t>
            </a:r>
            <a:r>
              <a:rPr sz="3600" dirty="0">
                <a:solidFill>
                  <a:srgbClr val="990033"/>
                </a:solidFill>
                <a:latin typeface="华文楷体"/>
                <a:cs typeface="华文楷体"/>
              </a:rPr>
              <a:t>一般分析方法</a:t>
            </a:r>
            <a:endParaRPr sz="3600" dirty="0">
              <a:latin typeface="华文楷体"/>
              <a:cs typeface="华文楷体"/>
            </a:endParaRPr>
          </a:p>
          <a:p>
            <a:pPr marL="812800">
              <a:lnSpc>
                <a:spcPct val="100000"/>
              </a:lnSpc>
              <a:spcBef>
                <a:spcPts val="1785"/>
              </a:spcBef>
            </a:pPr>
            <a:r>
              <a:rPr sz="2800" spc="-10" dirty="0">
                <a:highlight>
                  <a:srgbClr val="FFFF00"/>
                </a:highlight>
                <a:latin typeface="华文楷体"/>
                <a:cs typeface="华文楷体"/>
              </a:rPr>
              <a:t>1、写表达式；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  <a:p>
            <a:pPr marL="812800">
              <a:lnSpc>
                <a:spcPct val="100000"/>
              </a:lnSpc>
              <a:spcBef>
                <a:spcPts val="1945"/>
              </a:spcBef>
            </a:pPr>
            <a:r>
              <a:rPr sz="2800" spc="-10" dirty="0">
                <a:highlight>
                  <a:srgbClr val="FFFF00"/>
                </a:highlight>
                <a:latin typeface="华文楷体"/>
                <a:cs typeface="华文楷体"/>
              </a:rPr>
              <a:t>2</a:t>
            </a:r>
            <a:r>
              <a:rPr sz="2800" spc="-5" dirty="0">
                <a:highlight>
                  <a:srgbClr val="FFFF00"/>
                </a:highlight>
                <a:latin typeface="华文楷体"/>
                <a:cs typeface="华文楷体"/>
              </a:rPr>
              <a:t>、列真值表；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  <a:p>
            <a:pPr marL="812800">
              <a:lnSpc>
                <a:spcPct val="100000"/>
              </a:lnSpc>
              <a:spcBef>
                <a:spcPts val="1945"/>
              </a:spcBef>
            </a:pPr>
            <a:r>
              <a:rPr sz="2800" spc="-10" dirty="0">
                <a:highlight>
                  <a:srgbClr val="FFFF00"/>
                </a:highlight>
                <a:latin typeface="华文楷体"/>
                <a:cs typeface="华文楷体"/>
              </a:rPr>
              <a:t>3、说明功能。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3600" dirty="0">
                <a:solidFill>
                  <a:srgbClr val="0000FF"/>
                </a:solidFill>
                <a:latin typeface="华文楷体"/>
                <a:cs typeface="华文楷体"/>
              </a:rPr>
              <a:t>常用组合逻辑电路</a:t>
            </a:r>
            <a:endParaRPr sz="3600" dirty="0">
              <a:latin typeface="华文楷体"/>
              <a:cs typeface="华文楷体"/>
            </a:endParaRPr>
          </a:p>
          <a:p>
            <a:pPr marL="812800" marR="1952625">
              <a:lnSpc>
                <a:spcPts val="5310"/>
              </a:lnSpc>
              <a:spcBef>
                <a:spcPts val="335"/>
              </a:spcBef>
            </a:pP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加法器、数据选择器 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多路分配器、编码器</a:t>
            </a:r>
            <a:endParaRPr sz="2800" dirty="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387172"/>
            <a:ext cx="41433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666699"/>
                </a:solidFill>
                <a:latin typeface="隶书"/>
                <a:cs typeface="隶书"/>
              </a:rPr>
              <a:t>常用组合电路及设计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4040" y="1211072"/>
            <a:ext cx="8640445" cy="2703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1 </a:t>
            </a:r>
            <a:r>
              <a:rPr sz="2800" spc="-5" dirty="0">
                <a:latin typeface="微软雅黑"/>
                <a:cs typeface="微软雅黑"/>
              </a:rPr>
              <a:t>优先编码器的设计及应用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980"/>
              </a:spcBef>
            </a:pPr>
            <a:r>
              <a:rPr sz="2800" spc="-5" dirty="0">
                <a:solidFill>
                  <a:srgbClr val="C00000"/>
                </a:solidFill>
                <a:latin typeface="华文楷体"/>
                <a:cs typeface="华文楷体"/>
              </a:rPr>
              <a:t>功</a:t>
            </a:r>
            <a:r>
              <a:rPr sz="2800" spc="-10" dirty="0">
                <a:solidFill>
                  <a:srgbClr val="C00000"/>
                </a:solidFill>
                <a:latin typeface="华文楷体"/>
                <a:cs typeface="华文楷体"/>
              </a:rPr>
              <a:t>能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355600" marR="5080" indent="457200">
              <a:lnSpc>
                <a:spcPct val="150100"/>
              </a:lnSpc>
              <a:spcBef>
                <a:spcPts val="1300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允许多个输入同时有效，按规定的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优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先级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别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进行编 码。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640" y="1351888"/>
            <a:ext cx="8775065" cy="2181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</a:rPr>
              <a:t>例：设计一</a:t>
            </a:r>
            <a:r>
              <a:rPr sz="2800" spc="-15" dirty="0">
                <a:solidFill>
                  <a:srgbClr val="7E4D00"/>
                </a:solidFill>
              </a:rPr>
              <a:t>个</a:t>
            </a:r>
            <a:r>
              <a:rPr sz="2800" spc="-10" dirty="0">
                <a:solidFill>
                  <a:srgbClr val="7E4D00"/>
                </a:solidFill>
              </a:rPr>
              <a:t>10</a:t>
            </a:r>
            <a:r>
              <a:rPr sz="2800" spc="-5" dirty="0">
                <a:solidFill>
                  <a:srgbClr val="7E4D00"/>
                </a:solidFill>
              </a:rPr>
              <a:t>线-</a:t>
            </a:r>
            <a:r>
              <a:rPr sz="2800" spc="15" dirty="0">
                <a:solidFill>
                  <a:srgbClr val="7E4D00"/>
                </a:solidFill>
              </a:rPr>
              <a:t> </a:t>
            </a:r>
            <a:r>
              <a:rPr sz="2800" spc="-10" dirty="0">
                <a:solidFill>
                  <a:srgbClr val="7E4D00"/>
                </a:solidFill>
              </a:rPr>
              <a:t>4</a:t>
            </a:r>
            <a:r>
              <a:rPr sz="2800" spc="-5" dirty="0">
                <a:solidFill>
                  <a:srgbClr val="7E4D00"/>
                </a:solidFill>
              </a:rPr>
              <a:t>线优先编码器，输入</a:t>
            </a:r>
            <a:r>
              <a:rPr sz="2950" i="1" spc="-30" dirty="0">
                <a:solidFill>
                  <a:srgbClr val="4D4D73"/>
                </a:solidFill>
                <a:latin typeface="华文楷体"/>
                <a:cs typeface="华文楷体"/>
              </a:rPr>
              <a:t>I</a:t>
            </a:r>
            <a:r>
              <a:rPr sz="2775" spc="-44" baseline="-21021" dirty="0">
                <a:solidFill>
                  <a:srgbClr val="4D4D73"/>
                </a:solidFill>
              </a:rPr>
              <a:t>0</a:t>
            </a:r>
            <a:r>
              <a:rPr sz="2775" spc="397" baseline="-21021" dirty="0">
                <a:solidFill>
                  <a:srgbClr val="4D4D73"/>
                </a:solidFill>
              </a:rPr>
              <a:t> </a:t>
            </a:r>
            <a:r>
              <a:rPr sz="2800" spc="-5" dirty="0">
                <a:solidFill>
                  <a:srgbClr val="4D4D73"/>
                </a:solidFill>
              </a:rPr>
              <a:t>~</a:t>
            </a:r>
            <a:r>
              <a:rPr sz="2800" spc="-10" dirty="0">
                <a:solidFill>
                  <a:srgbClr val="4D4D73"/>
                </a:solidFill>
              </a:rPr>
              <a:t> </a:t>
            </a:r>
            <a:r>
              <a:rPr sz="2950" i="1" spc="-25" dirty="0">
                <a:solidFill>
                  <a:srgbClr val="4D4D73"/>
                </a:solidFill>
                <a:latin typeface="华文楷体"/>
                <a:cs typeface="华文楷体"/>
              </a:rPr>
              <a:t>I</a:t>
            </a:r>
            <a:r>
              <a:rPr sz="2775" spc="-37" baseline="-21021" dirty="0">
                <a:solidFill>
                  <a:srgbClr val="4D4D73"/>
                </a:solidFill>
              </a:rPr>
              <a:t>9</a:t>
            </a:r>
            <a:r>
              <a:rPr sz="2800" spc="-25" dirty="0">
                <a:solidFill>
                  <a:srgbClr val="7E4D00"/>
                </a:solidFill>
              </a:rPr>
              <a:t>（</a:t>
            </a:r>
            <a:r>
              <a:rPr sz="2800" spc="-5" dirty="0">
                <a:solidFill>
                  <a:srgbClr val="7E4D00"/>
                </a:solidFill>
              </a:rPr>
              <a:t>低电平</a:t>
            </a:r>
            <a:endParaRPr sz="2800">
              <a:latin typeface="华文楷体"/>
              <a:cs typeface="华文楷体"/>
            </a:endParaRPr>
          </a:p>
          <a:p>
            <a:pPr marL="381000">
              <a:lnSpc>
                <a:spcPct val="100000"/>
              </a:lnSpc>
              <a:spcBef>
                <a:spcPts val="3334"/>
              </a:spcBef>
            </a:pPr>
            <a:r>
              <a:rPr sz="2800" spc="-5" dirty="0">
                <a:solidFill>
                  <a:srgbClr val="7E4D00"/>
                </a:solidFill>
              </a:rPr>
              <a:t>输入有效）、输出反码、优先级自</a:t>
            </a:r>
            <a:r>
              <a:rPr sz="2800" spc="5" dirty="0">
                <a:solidFill>
                  <a:srgbClr val="7E4D00"/>
                </a:solidFill>
              </a:rPr>
              <a:t>高</a:t>
            </a:r>
            <a:r>
              <a:rPr sz="2800" spc="-5" dirty="0">
                <a:solidFill>
                  <a:srgbClr val="7E4D00"/>
                </a:solidFill>
              </a:rPr>
              <a:t>向低</a:t>
            </a:r>
            <a:r>
              <a:rPr sz="2800" spc="5" dirty="0">
                <a:solidFill>
                  <a:srgbClr val="7E4D00"/>
                </a:solidFill>
              </a:rPr>
              <a:t>为</a:t>
            </a:r>
            <a:r>
              <a:rPr sz="2800" spc="-5" dirty="0">
                <a:solidFill>
                  <a:srgbClr val="7E4D00"/>
                </a:solidFill>
              </a:rPr>
              <a:t>：</a:t>
            </a:r>
            <a:endParaRPr sz="2800"/>
          </a:p>
          <a:p>
            <a:pPr marL="380365">
              <a:lnSpc>
                <a:spcPct val="100000"/>
              </a:lnSpc>
              <a:spcBef>
                <a:spcPts val="3209"/>
              </a:spcBef>
            </a:pPr>
            <a:r>
              <a:rPr sz="2950" i="1" spc="-20" dirty="0">
                <a:solidFill>
                  <a:srgbClr val="4D4D73"/>
                </a:solidFill>
                <a:latin typeface="华文楷体"/>
                <a:cs typeface="华文楷体"/>
              </a:rPr>
              <a:t>I</a:t>
            </a:r>
            <a:r>
              <a:rPr sz="2775" spc="-30" baseline="-21021" dirty="0">
                <a:solidFill>
                  <a:srgbClr val="4D4D73"/>
                </a:solidFill>
              </a:rPr>
              <a:t>9</a:t>
            </a:r>
            <a:r>
              <a:rPr sz="2950" i="1" spc="-20" dirty="0">
                <a:solidFill>
                  <a:srgbClr val="4D4D73"/>
                </a:solidFill>
                <a:latin typeface="华文楷体"/>
                <a:cs typeface="华文楷体"/>
              </a:rPr>
              <a:t>I</a:t>
            </a:r>
            <a:r>
              <a:rPr sz="2775" spc="-30" baseline="-21021" dirty="0">
                <a:solidFill>
                  <a:srgbClr val="4D4D73"/>
                </a:solidFill>
              </a:rPr>
              <a:t>8</a:t>
            </a:r>
            <a:r>
              <a:rPr sz="2800" spc="-20" dirty="0">
                <a:solidFill>
                  <a:srgbClr val="4D4D73"/>
                </a:solidFill>
              </a:rPr>
              <a:t>····</a:t>
            </a:r>
            <a:r>
              <a:rPr sz="2950" i="1" spc="-20" dirty="0">
                <a:solidFill>
                  <a:srgbClr val="4D4D73"/>
                </a:solidFill>
                <a:latin typeface="华文楷体"/>
                <a:cs typeface="华文楷体"/>
              </a:rPr>
              <a:t>I</a:t>
            </a:r>
            <a:r>
              <a:rPr sz="2775" spc="-30" baseline="-21021" dirty="0">
                <a:solidFill>
                  <a:srgbClr val="4D4D73"/>
                </a:solidFill>
              </a:rPr>
              <a:t>1</a:t>
            </a:r>
            <a:r>
              <a:rPr sz="2950" i="1" spc="-20" dirty="0">
                <a:solidFill>
                  <a:srgbClr val="4D4D73"/>
                </a:solidFill>
                <a:latin typeface="华文楷体"/>
                <a:cs typeface="华文楷体"/>
              </a:rPr>
              <a:t>I</a:t>
            </a:r>
            <a:r>
              <a:rPr sz="2775" spc="-30" baseline="-21021" dirty="0">
                <a:solidFill>
                  <a:srgbClr val="4D4D73"/>
                </a:solidFill>
              </a:rPr>
              <a:t>0</a:t>
            </a:r>
            <a:endParaRPr sz="2775" baseline="-21021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52615" y="982217"/>
            <a:ext cx="2787015" cy="0"/>
          </a:xfrm>
          <a:custGeom>
            <a:avLst/>
            <a:gdLst/>
            <a:ahLst/>
            <a:cxnLst/>
            <a:rect l="l" t="t" r="r" b="b"/>
            <a:pathLst>
              <a:path w="2787015">
                <a:moveTo>
                  <a:pt x="0" y="0"/>
                </a:moveTo>
                <a:lnTo>
                  <a:pt x="2786633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966" y="982217"/>
            <a:ext cx="852805" cy="0"/>
          </a:xfrm>
          <a:custGeom>
            <a:avLst/>
            <a:gdLst/>
            <a:ahLst/>
            <a:cxnLst/>
            <a:rect l="l" t="t" r="r" b="b"/>
            <a:pathLst>
              <a:path w="852805">
                <a:moveTo>
                  <a:pt x="0" y="0"/>
                </a:moveTo>
                <a:lnTo>
                  <a:pt x="85267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42644" y="612648"/>
            <a:ext cx="511048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39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solidFill>
                  <a:srgbClr val="000000"/>
                </a:solidFill>
              </a:rPr>
              <a:t>第一步：按要求写出真</a:t>
            </a:r>
            <a:r>
              <a:rPr sz="3200" spc="-15" dirty="0">
                <a:solidFill>
                  <a:srgbClr val="000000"/>
                </a:solidFill>
              </a:rPr>
              <a:t>值</a:t>
            </a:r>
            <a:r>
              <a:rPr sz="3200" dirty="0">
                <a:solidFill>
                  <a:srgbClr val="000000"/>
                </a:solidFill>
              </a:rPr>
              <a:t>表</a:t>
            </a:r>
            <a:endParaRPr sz="32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50</a:t>
            </a: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733930" y="1258442"/>
          <a:ext cx="6602728" cy="5120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6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73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26720">
                <a:tc gridSpan="9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输入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输出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300" b="1" i="1" spc="-15" dirty="0">
                          <a:latin typeface="华文楷体"/>
                          <a:cs typeface="华文楷体"/>
                        </a:rPr>
                        <a:t>I</a:t>
                      </a:r>
                      <a:r>
                        <a:rPr sz="2175" b="1" spc="-22" baseline="-21072" dirty="0">
                          <a:latin typeface="华文楷体"/>
                          <a:cs typeface="华文楷体"/>
                        </a:rPr>
                        <a:t>1</a:t>
                      </a:r>
                      <a:endParaRPr sz="2175" baseline="-21072"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24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300" b="1" i="1" spc="10" dirty="0">
                          <a:latin typeface="华文楷体"/>
                          <a:cs typeface="华文楷体"/>
                        </a:rPr>
                        <a:t>I</a:t>
                      </a:r>
                      <a:r>
                        <a:rPr sz="2175" b="1" baseline="-21072" dirty="0">
                          <a:latin typeface="华文楷体"/>
                          <a:cs typeface="华文楷体"/>
                        </a:rPr>
                        <a:t>2</a:t>
                      </a:r>
                      <a:endParaRPr sz="2175" baseline="-21072"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176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300" b="1" i="1" spc="10" dirty="0">
                          <a:latin typeface="华文楷体"/>
                          <a:cs typeface="华文楷体"/>
                        </a:rPr>
                        <a:t>I</a:t>
                      </a:r>
                      <a:r>
                        <a:rPr sz="2175" b="1" baseline="-21072" dirty="0">
                          <a:latin typeface="华文楷体"/>
                          <a:cs typeface="华文楷体"/>
                        </a:rPr>
                        <a:t>3</a:t>
                      </a:r>
                      <a:endParaRPr sz="2175" baseline="-21072"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24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300" b="1" i="1" spc="10" dirty="0">
                          <a:latin typeface="华文楷体"/>
                          <a:cs typeface="华文楷体"/>
                        </a:rPr>
                        <a:t>I</a:t>
                      </a:r>
                      <a:r>
                        <a:rPr sz="2175" b="1" baseline="-21072" dirty="0">
                          <a:latin typeface="华文楷体"/>
                          <a:cs typeface="华文楷体"/>
                        </a:rPr>
                        <a:t>4</a:t>
                      </a:r>
                      <a:endParaRPr sz="2175" baseline="-21072"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24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300" b="1" i="1" spc="10" dirty="0">
                          <a:latin typeface="华文楷体"/>
                          <a:cs typeface="华文楷体"/>
                        </a:rPr>
                        <a:t>I</a:t>
                      </a:r>
                      <a:r>
                        <a:rPr sz="2175" b="1" baseline="-21072" dirty="0">
                          <a:latin typeface="华文楷体"/>
                          <a:cs typeface="华文楷体"/>
                        </a:rPr>
                        <a:t>5</a:t>
                      </a:r>
                      <a:endParaRPr sz="2175" baseline="-21072"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24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300" b="1" i="1" spc="10" dirty="0">
                          <a:latin typeface="华文楷体"/>
                          <a:cs typeface="华文楷体"/>
                        </a:rPr>
                        <a:t>I</a:t>
                      </a:r>
                      <a:r>
                        <a:rPr sz="2175" b="1" baseline="-21072" dirty="0">
                          <a:latin typeface="华文楷体"/>
                          <a:cs typeface="华文楷体"/>
                        </a:rPr>
                        <a:t>6</a:t>
                      </a:r>
                      <a:endParaRPr sz="2175" baseline="-21072"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24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300" b="1" i="1" spc="10" dirty="0">
                          <a:latin typeface="华文楷体"/>
                          <a:cs typeface="华文楷体"/>
                        </a:rPr>
                        <a:t>I</a:t>
                      </a:r>
                      <a:r>
                        <a:rPr sz="2175" b="1" baseline="-21072" dirty="0">
                          <a:latin typeface="华文楷体"/>
                          <a:cs typeface="华文楷体"/>
                        </a:rPr>
                        <a:t>7</a:t>
                      </a:r>
                      <a:endParaRPr sz="2175" baseline="-21072"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24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300" b="1" i="1" spc="10" dirty="0">
                          <a:latin typeface="华文楷体"/>
                          <a:cs typeface="华文楷体"/>
                        </a:rPr>
                        <a:t>I</a:t>
                      </a:r>
                      <a:r>
                        <a:rPr sz="2175" b="1" baseline="-21072" dirty="0">
                          <a:latin typeface="华文楷体"/>
                          <a:cs typeface="华文楷体"/>
                        </a:rPr>
                        <a:t>8</a:t>
                      </a:r>
                      <a:endParaRPr sz="2175" baseline="-21072"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300" b="1" i="1" spc="-15" dirty="0">
                          <a:latin typeface="华文楷体"/>
                          <a:cs typeface="华文楷体"/>
                        </a:rPr>
                        <a:t>I</a:t>
                      </a:r>
                      <a:r>
                        <a:rPr sz="2175" b="1" spc="-22" baseline="-21072" dirty="0">
                          <a:latin typeface="华文楷体"/>
                          <a:cs typeface="华文楷体"/>
                        </a:rPr>
                        <a:t>9</a:t>
                      </a:r>
                      <a:endParaRPr sz="2175" baseline="-21072"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300" b="1" i="1" spc="-2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175" b="1" spc="-37" baseline="-21072" dirty="0">
                          <a:latin typeface="华文楷体"/>
                          <a:cs typeface="华文楷体"/>
                        </a:rPr>
                        <a:t>3</a:t>
                      </a:r>
                      <a:endParaRPr sz="2175" baseline="-21072"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300" b="1" i="1" spc="-2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175" b="1" spc="-37" baseline="-21072" dirty="0">
                          <a:latin typeface="华文楷体"/>
                          <a:cs typeface="华文楷体"/>
                        </a:rPr>
                        <a:t>2</a:t>
                      </a:r>
                      <a:endParaRPr sz="2175" baseline="-21072"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300" b="1" i="1" spc="-2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175" b="1" spc="-37" baseline="-21072" dirty="0">
                          <a:latin typeface="华文楷体"/>
                          <a:cs typeface="华文楷体"/>
                        </a:rPr>
                        <a:t>1</a:t>
                      </a:r>
                      <a:endParaRPr sz="2175" baseline="-21072"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300" b="1" i="1" spc="-2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175" b="1" spc="-37" baseline="-21072" dirty="0">
                          <a:latin typeface="华文楷体"/>
                          <a:cs typeface="华文楷体"/>
                        </a:rPr>
                        <a:t>0</a:t>
                      </a:r>
                      <a:endParaRPr sz="2175" baseline="-21072">
                        <a:latin typeface="华文楷体"/>
                        <a:cs typeface="华文楷体"/>
                      </a:endParaRPr>
                    </a:p>
                  </a:txBody>
                  <a:tcPr marL="0" marR="0" marT="1143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 dirty="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6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161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x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7970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476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b="1" dirty="0">
                          <a:solidFill>
                            <a:srgbClr val="FF0000"/>
                          </a:solidFill>
                          <a:latin typeface="华文楷体"/>
                          <a:cs typeface="华文楷体"/>
                        </a:rPr>
                        <a:t>0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8034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1</a:t>
                      </a:r>
                      <a:endParaRPr sz="220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200" b="1" dirty="0">
                          <a:latin typeface="华文楷体"/>
                          <a:cs typeface="华文楷体"/>
                        </a:rPr>
                        <a:t>0</a:t>
                      </a:r>
                      <a:endParaRPr sz="2200" dirty="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41135" y="982217"/>
            <a:ext cx="3198495" cy="0"/>
          </a:xfrm>
          <a:custGeom>
            <a:avLst/>
            <a:gdLst/>
            <a:ahLst/>
            <a:cxnLst/>
            <a:rect l="l" t="t" r="r" b="b"/>
            <a:pathLst>
              <a:path w="3198495">
                <a:moveTo>
                  <a:pt x="0" y="0"/>
                </a:moveTo>
                <a:lnTo>
                  <a:pt x="3198114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966" y="982217"/>
            <a:ext cx="852805" cy="0"/>
          </a:xfrm>
          <a:custGeom>
            <a:avLst/>
            <a:gdLst/>
            <a:ahLst/>
            <a:cxnLst/>
            <a:rect l="l" t="t" r="r" b="b"/>
            <a:pathLst>
              <a:path w="852805">
                <a:moveTo>
                  <a:pt x="0" y="0"/>
                </a:moveTo>
                <a:lnTo>
                  <a:pt x="85267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42644" y="612648"/>
            <a:ext cx="469900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39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solidFill>
                  <a:srgbClr val="000000"/>
                </a:solidFill>
              </a:rPr>
              <a:t>第二步：写出逻辑表达式</a:t>
            </a:r>
            <a:endParaRPr sz="320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51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3B76150E-133F-DD63-AABD-B7B3B2334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30902"/>
            <a:ext cx="8686800" cy="409910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21223" y="982217"/>
            <a:ext cx="4018279" cy="0"/>
          </a:xfrm>
          <a:custGeom>
            <a:avLst/>
            <a:gdLst/>
            <a:ahLst/>
            <a:cxnLst/>
            <a:rect l="l" t="t" r="r" b="b"/>
            <a:pathLst>
              <a:path w="4018279">
                <a:moveTo>
                  <a:pt x="0" y="0"/>
                </a:moveTo>
                <a:lnTo>
                  <a:pt x="401802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966" y="982217"/>
            <a:ext cx="852805" cy="0"/>
          </a:xfrm>
          <a:custGeom>
            <a:avLst/>
            <a:gdLst/>
            <a:ahLst/>
            <a:cxnLst/>
            <a:rect l="l" t="t" r="r" b="b"/>
            <a:pathLst>
              <a:path w="852805">
                <a:moveTo>
                  <a:pt x="0" y="0"/>
                </a:moveTo>
                <a:lnTo>
                  <a:pt x="85267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42644" y="612648"/>
            <a:ext cx="3878579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39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solidFill>
                  <a:srgbClr val="000000"/>
                </a:solidFill>
              </a:rPr>
              <a:t>第三步：化简表达式</a:t>
            </a:r>
            <a:endParaRPr sz="320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537716" y="5551932"/>
            <a:ext cx="387731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52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0"/>
              </a:spcBef>
            </a:pPr>
            <a:r>
              <a:rPr sz="3200" dirty="0">
                <a:latin typeface="华文楷体"/>
                <a:cs typeface="华文楷体"/>
              </a:rPr>
              <a:t>第四步：画出逻辑图</a:t>
            </a:r>
            <a:endParaRPr sz="3200">
              <a:latin typeface="华文楷体"/>
              <a:cs typeface="华文楷体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0DB289A9-EE5B-CF94-EAD4-5442365AE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85" y="1207382"/>
            <a:ext cx="8093391" cy="419392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4040" y="411556"/>
            <a:ext cx="8677910" cy="18916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64575" algn="l"/>
              </a:tabLst>
            </a:pPr>
            <a:r>
              <a:rPr sz="3200" u="heavy" spc="1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  <a:latin typeface="隶书"/>
                <a:cs typeface="隶书"/>
              </a:rPr>
              <a:t>例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：典型</a:t>
            </a:r>
            <a:r>
              <a:rPr sz="3200" u="heavy" spc="5" dirty="0">
                <a:solidFill>
                  <a:srgbClr val="7E4D00"/>
                </a:solidFill>
                <a:highlight>
                  <a:srgbClr val="FFFF00"/>
                </a:highlight>
                <a:uFill>
                  <a:solidFill>
                    <a:srgbClr val="666699"/>
                  </a:solidFill>
                </a:uFill>
              </a:rPr>
              <a:t>优</a:t>
            </a:r>
            <a:r>
              <a:rPr sz="3200" u="heavy" spc="-10" dirty="0">
                <a:solidFill>
                  <a:srgbClr val="7E4D00"/>
                </a:solidFill>
                <a:highlight>
                  <a:srgbClr val="FFFF00"/>
                </a:highlight>
                <a:uFill>
                  <a:solidFill>
                    <a:srgbClr val="666699"/>
                  </a:solidFill>
                </a:uFill>
              </a:rPr>
              <a:t>先</a:t>
            </a:r>
            <a:r>
              <a:rPr sz="3200" u="heavy" spc="5" dirty="0">
                <a:solidFill>
                  <a:srgbClr val="7E4D00"/>
                </a:solidFill>
                <a:highlight>
                  <a:srgbClr val="FFFF00"/>
                </a:highlight>
                <a:uFill>
                  <a:solidFill>
                    <a:srgbClr val="666699"/>
                  </a:solidFill>
                </a:uFill>
              </a:rPr>
              <a:t>编</a:t>
            </a:r>
            <a:r>
              <a:rPr sz="3200" u="heavy" spc="-15" dirty="0">
                <a:solidFill>
                  <a:srgbClr val="7E4D00"/>
                </a:solidFill>
                <a:highlight>
                  <a:srgbClr val="FFFF00"/>
                </a:highlight>
                <a:uFill>
                  <a:solidFill>
                    <a:srgbClr val="666699"/>
                  </a:solidFill>
                </a:uFill>
              </a:rPr>
              <a:t>码</a:t>
            </a:r>
            <a:r>
              <a:rPr sz="3200" u="heavy" spc="5" dirty="0">
                <a:solidFill>
                  <a:srgbClr val="7E4D00"/>
                </a:solidFill>
                <a:highlight>
                  <a:srgbClr val="FFFF00"/>
                </a:highlight>
                <a:uFill>
                  <a:solidFill>
                    <a:srgbClr val="666699"/>
                  </a:solidFill>
                </a:uFill>
              </a:rPr>
              <a:t>器</a:t>
            </a:r>
            <a:r>
              <a:rPr sz="3200" u="heavy" spc="-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（148</a:t>
            </a:r>
            <a:r>
              <a:rPr sz="3200" u="heavy" spc="-10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）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及扩</a:t>
            </a:r>
            <a:r>
              <a:rPr sz="3200" u="heavy" spc="-1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展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应用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	</a:t>
            </a:r>
            <a:endParaRPr sz="3200" dirty="0">
              <a:latin typeface="隶书"/>
              <a:cs typeface="隶书"/>
            </a:endParaRPr>
          </a:p>
          <a:p>
            <a:pPr marL="355600" marR="168910" indent="457200">
              <a:lnSpc>
                <a:spcPct val="150000"/>
              </a:lnSpc>
              <a:spcBef>
                <a:spcPts val="765"/>
              </a:spcBef>
            </a:pPr>
            <a:r>
              <a:rPr sz="2800" spc="-5" dirty="0">
                <a:solidFill>
                  <a:srgbClr val="7E4D00"/>
                </a:solidFill>
              </a:rPr>
              <a:t>74LS14</a:t>
            </a:r>
            <a:r>
              <a:rPr sz="2800" spc="-15" dirty="0">
                <a:solidFill>
                  <a:srgbClr val="7E4D00"/>
                </a:solidFill>
              </a:rPr>
              <a:t>8</a:t>
            </a:r>
            <a:r>
              <a:rPr sz="2800" spc="-5" dirty="0">
                <a:solidFill>
                  <a:srgbClr val="7E4D00"/>
                </a:solidFill>
              </a:rPr>
              <a:t>为</a:t>
            </a:r>
            <a:r>
              <a:rPr sz="2800" spc="-10" dirty="0">
                <a:solidFill>
                  <a:srgbClr val="7E4D00"/>
                </a:solidFill>
              </a:rPr>
              <a:t>8</a:t>
            </a:r>
            <a:r>
              <a:rPr sz="2800" spc="-5" dirty="0">
                <a:solidFill>
                  <a:srgbClr val="7E4D00"/>
                </a:solidFill>
              </a:rPr>
              <a:t>线-</a:t>
            </a:r>
            <a:r>
              <a:rPr sz="2800" spc="-10" dirty="0">
                <a:solidFill>
                  <a:srgbClr val="7E4D00"/>
                </a:solidFill>
              </a:rPr>
              <a:t>3</a:t>
            </a:r>
            <a:r>
              <a:rPr sz="2800" spc="-5" dirty="0">
                <a:solidFill>
                  <a:srgbClr val="7E4D00"/>
                </a:solidFill>
              </a:rPr>
              <a:t>线优先编码器，</a:t>
            </a: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</a:rPr>
              <a:t>输入</a:t>
            </a:r>
            <a:r>
              <a:rPr sz="2800" dirty="0">
                <a:solidFill>
                  <a:srgbClr val="7E4D00"/>
                </a:solidFill>
                <a:highlight>
                  <a:srgbClr val="FFFF00"/>
                </a:highlight>
              </a:rPr>
              <a:t>低</a:t>
            </a: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</a:rPr>
              <a:t>电平</a:t>
            </a:r>
            <a:r>
              <a:rPr sz="2800" dirty="0">
                <a:solidFill>
                  <a:srgbClr val="7E4D00"/>
                </a:solidFill>
                <a:highlight>
                  <a:srgbClr val="FFFF00"/>
                </a:highlight>
              </a:rPr>
              <a:t>有</a:t>
            </a: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</a:rPr>
              <a:t>效、 输出反码。</a:t>
            </a:r>
            <a:endParaRPr sz="2800" dirty="0">
              <a:highlight>
                <a:srgbClr val="FFFF00"/>
              </a:highlight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15588" y="3492393"/>
            <a:ext cx="4210685" cy="1725295"/>
          </a:xfrm>
          <a:custGeom>
            <a:avLst/>
            <a:gdLst/>
            <a:ahLst/>
            <a:cxnLst/>
            <a:rect l="l" t="t" r="r" b="b"/>
            <a:pathLst>
              <a:path w="4210684" h="1725295">
                <a:moveTo>
                  <a:pt x="0" y="1724966"/>
                </a:moveTo>
                <a:lnTo>
                  <a:pt x="4210203" y="1724966"/>
                </a:lnTo>
                <a:lnTo>
                  <a:pt x="4210203" y="0"/>
                </a:lnTo>
                <a:lnTo>
                  <a:pt x="0" y="0"/>
                </a:lnTo>
                <a:lnTo>
                  <a:pt x="0" y="1724966"/>
                </a:lnTo>
                <a:close/>
              </a:path>
            </a:pathLst>
          </a:custGeom>
          <a:ln w="338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48537" y="4354862"/>
            <a:ext cx="467359" cy="0"/>
          </a:xfrm>
          <a:custGeom>
            <a:avLst/>
            <a:gdLst/>
            <a:ahLst/>
            <a:cxnLst/>
            <a:rect l="l" t="t" r="r" b="b"/>
            <a:pathLst>
              <a:path w="467360">
                <a:moveTo>
                  <a:pt x="0" y="0"/>
                </a:moveTo>
                <a:lnTo>
                  <a:pt x="467050" y="0"/>
                </a:lnTo>
                <a:lnTo>
                  <a:pt x="0" y="0"/>
                </a:lnTo>
                <a:close/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25808" y="4354862"/>
            <a:ext cx="467359" cy="0"/>
          </a:xfrm>
          <a:custGeom>
            <a:avLst/>
            <a:gdLst/>
            <a:ahLst/>
            <a:cxnLst/>
            <a:rect l="l" t="t" r="r" b="b"/>
            <a:pathLst>
              <a:path w="467359">
                <a:moveTo>
                  <a:pt x="0" y="0"/>
                </a:moveTo>
                <a:lnTo>
                  <a:pt x="467121" y="0"/>
                </a:lnTo>
                <a:lnTo>
                  <a:pt x="0" y="0"/>
                </a:lnTo>
                <a:close/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58019" y="4271859"/>
            <a:ext cx="175017" cy="165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08367" y="4273341"/>
            <a:ext cx="175016" cy="1641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83040" y="521736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0"/>
                </a:moveTo>
                <a:lnTo>
                  <a:pt x="0" y="431996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50492" y="521736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0"/>
                </a:moveTo>
                <a:lnTo>
                  <a:pt x="0" y="431996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19611" y="521736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0"/>
                </a:moveTo>
                <a:lnTo>
                  <a:pt x="0" y="431996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87063" y="521736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0"/>
                </a:moveTo>
                <a:lnTo>
                  <a:pt x="0" y="431996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54515" y="521736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0"/>
                </a:moveTo>
                <a:lnTo>
                  <a:pt x="0" y="431996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21967" y="521736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0"/>
                </a:moveTo>
                <a:lnTo>
                  <a:pt x="0" y="431996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89418" y="521736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0"/>
                </a:moveTo>
                <a:lnTo>
                  <a:pt x="0" y="431996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58356" y="521736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0"/>
                </a:moveTo>
                <a:lnTo>
                  <a:pt x="0" y="431996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96538" y="5199920"/>
            <a:ext cx="175000" cy="1641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63596" y="5199922"/>
            <a:ext cx="175392" cy="1641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31031" y="5199922"/>
            <a:ext cx="175343" cy="1641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98483" y="5199922"/>
            <a:ext cx="175343" cy="16414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67577" y="5199913"/>
            <a:ext cx="173710" cy="1641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35029" y="5199913"/>
            <a:ext cx="175360" cy="1656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302481" y="5199913"/>
            <a:ext cx="175360" cy="16563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769931" y="5199912"/>
            <a:ext cx="175033" cy="16564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817773" y="305999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432418"/>
                </a:moveTo>
                <a:lnTo>
                  <a:pt x="0" y="0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752676" y="305999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432418"/>
                </a:moveTo>
                <a:lnTo>
                  <a:pt x="0" y="0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88736" y="305999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432418"/>
                </a:moveTo>
                <a:lnTo>
                  <a:pt x="0" y="0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23639" y="305999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432418"/>
                </a:moveTo>
                <a:lnTo>
                  <a:pt x="0" y="0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729273" y="3345257"/>
            <a:ext cx="175397" cy="16459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665743" y="3345255"/>
            <a:ext cx="175021" cy="16459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600647" y="3345255"/>
            <a:ext cx="175021" cy="16459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536701" y="3345250"/>
            <a:ext cx="173878" cy="16460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246118" y="4163605"/>
            <a:ext cx="196215" cy="3898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2350" spc="135" dirty="0">
                <a:latin typeface="Times New Roman"/>
                <a:cs typeface="Times New Roman"/>
              </a:rPr>
              <a:t>S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173475" y="4214914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603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898815" y="4163605"/>
            <a:ext cx="421005" cy="3898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2350" spc="120" dirty="0">
                <a:latin typeface="Times New Roman"/>
                <a:cs typeface="Times New Roman"/>
              </a:rPr>
              <a:t>Y</a:t>
            </a:r>
            <a:r>
              <a:rPr sz="2325" spc="179" baseline="-12544" dirty="0">
                <a:latin typeface="Times New Roman"/>
                <a:cs typeface="Times New Roman"/>
              </a:rPr>
              <a:t>S</a:t>
            </a:r>
            <a:endParaRPr sz="2325" baseline="-12544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915962" y="4214914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4">
                <a:moveTo>
                  <a:pt x="0" y="0"/>
                </a:moveTo>
                <a:lnTo>
                  <a:pt x="292487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647053" y="3602037"/>
            <a:ext cx="586740" cy="3898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</a:pPr>
            <a:r>
              <a:rPr sz="3525" spc="172" baseline="8274" dirty="0">
                <a:latin typeface="Times New Roman"/>
                <a:cs typeface="Times New Roman"/>
              </a:rPr>
              <a:t>Y</a:t>
            </a:r>
            <a:r>
              <a:rPr sz="1550" spc="114" dirty="0">
                <a:latin typeface="Times New Roman"/>
                <a:cs typeface="Times New Roman"/>
              </a:rPr>
              <a:t>EX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47700" y="3557839"/>
            <a:ext cx="2357755" cy="9804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40"/>
              </a:spcBef>
              <a:tabLst>
                <a:tab pos="1048385" algn="l"/>
                <a:tab pos="1960245" algn="l"/>
              </a:tabLst>
            </a:pPr>
            <a:r>
              <a:rPr sz="2350" spc="120" dirty="0">
                <a:latin typeface="Times New Roman"/>
                <a:cs typeface="Times New Roman"/>
              </a:rPr>
              <a:t>Y</a:t>
            </a:r>
            <a:r>
              <a:rPr sz="2325" spc="179" baseline="-12544" dirty="0">
                <a:latin typeface="Times New Roman"/>
                <a:cs typeface="Times New Roman"/>
              </a:rPr>
              <a:t>2	</a:t>
            </a:r>
            <a:r>
              <a:rPr sz="2350" spc="120" dirty="0">
                <a:latin typeface="Times New Roman"/>
                <a:cs typeface="Times New Roman"/>
              </a:rPr>
              <a:t>Y</a:t>
            </a:r>
            <a:r>
              <a:rPr sz="2325" spc="179" baseline="-12544" dirty="0">
                <a:latin typeface="Times New Roman"/>
                <a:cs typeface="Times New Roman"/>
              </a:rPr>
              <a:t>1	</a:t>
            </a:r>
            <a:r>
              <a:rPr sz="2350" spc="125" dirty="0">
                <a:latin typeface="Times New Roman"/>
                <a:cs typeface="Times New Roman"/>
              </a:rPr>
              <a:t>Y</a:t>
            </a:r>
            <a:r>
              <a:rPr sz="2325" spc="187" baseline="-12544" dirty="0">
                <a:latin typeface="Times New Roman"/>
                <a:cs typeface="Times New Roman"/>
              </a:rPr>
              <a:t>0</a:t>
            </a:r>
            <a:endParaRPr sz="2325" baseline="-12544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075"/>
              </a:spcBef>
            </a:pPr>
            <a:r>
              <a:rPr sz="215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74LS148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64085" y="3610879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206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623764" y="3610879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157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58668" y="3610879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157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494727" y="3610879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4">
                <a:moveTo>
                  <a:pt x="0" y="0"/>
                </a:moveTo>
                <a:lnTo>
                  <a:pt x="292652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460238" y="4831295"/>
            <a:ext cx="3555365" cy="3898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40"/>
              </a:spcBef>
              <a:tabLst>
                <a:tab pos="492759" algn="l"/>
                <a:tab pos="961390" algn="l"/>
                <a:tab pos="1428750" algn="l"/>
                <a:tab pos="1896110" algn="l"/>
                <a:tab pos="2364105" algn="l"/>
                <a:tab pos="2831465" algn="l"/>
                <a:tab pos="3298190" algn="l"/>
              </a:tabLst>
            </a:pPr>
            <a:r>
              <a:rPr sz="2350" spc="75" dirty="0">
                <a:latin typeface="Times New Roman"/>
                <a:cs typeface="Times New Roman"/>
              </a:rPr>
              <a:t>I</a:t>
            </a:r>
            <a:r>
              <a:rPr sz="2325" spc="112" baseline="-12544" dirty="0">
                <a:latin typeface="Times New Roman"/>
                <a:cs typeface="Times New Roman"/>
              </a:rPr>
              <a:t>7	</a:t>
            </a:r>
            <a:r>
              <a:rPr sz="2350" spc="75" dirty="0">
                <a:latin typeface="Times New Roman"/>
                <a:cs typeface="Times New Roman"/>
              </a:rPr>
              <a:t>I</a:t>
            </a:r>
            <a:r>
              <a:rPr sz="2325" spc="112" baseline="-12544" dirty="0">
                <a:latin typeface="Times New Roman"/>
                <a:cs typeface="Times New Roman"/>
              </a:rPr>
              <a:t>6	</a:t>
            </a:r>
            <a:r>
              <a:rPr sz="2350" spc="70" dirty="0">
                <a:latin typeface="Times New Roman"/>
                <a:cs typeface="Times New Roman"/>
              </a:rPr>
              <a:t>I</a:t>
            </a:r>
            <a:r>
              <a:rPr sz="2325" spc="104" baseline="-12544" dirty="0">
                <a:latin typeface="Times New Roman"/>
                <a:cs typeface="Times New Roman"/>
              </a:rPr>
              <a:t>5	</a:t>
            </a:r>
            <a:r>
              <a:rPr sz="2350" spc="70" dirty="0">
                <a:latin typeface="Times New Roman"/>
                <a:cs typeface="Times New Roman"/>
              </a:rPr>
              <a:t>I</a:t>
            </a:r>
            <a:r>
              <a:rPr sz="2325" spc="104" baseline="-12544" dirty="0">
                <a:latin typeface="Times New Roman"/>
                <a:cs typeface="Times New Roman"/>
              </a:rPr>
              <a:t>4	</a:t>
            </a:r>
            <a:r>
              <a:rPr sz="2350" spc="70" dirty="0">
                <a:latin typeface="Times New Roman"/>
                <a:cs typeface="Times New Roman"/>
              </a:rPr>
              <a:t>I</a:t>
            </a:r>
            <a:r>
              <a:rPr sz="2325" spc="104" baseline="-12544" dirty="0">
                <a:latin typeface="Times New Roman"/>
                <a:cs typeface="Times New Roman"/>
              </a:rPr>
              <a:t>3	</a:t>
            </a:r>
            <a:r>
              <a:rPr sz="2350" spc="75" dirty="0">
                <a:latin typeface="Times New Roman"/>
                <a:cs typeface="Times New Roman"/>
              </a:rPr>
              <a:t>I</a:t>
            </a:r>
            <a:r>
              <a:rPr sz="2325" spc="112" baseline="-12544" dirty="0">
                <a:latin typeface="Times New Roman"/>
                <a:cs typeface="Times New Roman"/>
              </a:rPr>
              <a:t>2	</a:t>
            </a:r>
            <a:r>
              <a:rPr sz="2350" spc="75" dirty="0">
                <a:latin typeface="Times New Roman"/>
                <a:cs typeface="Times New Roman"/>
              </a:rPr>
              <a:t>I</a:t>
            </a:r>
            <a:r>
              <a:rPr sz="2325" spc="112" baseline="-12544" dirty="0">
                <a:latin typeface="Times New Roman"/>
                <a:cs typeface="Times New Roman"/>
              </a:rPr>
              <a:t>1	</a:t>
            </a:r>
            <a:r>
              <a:rPr sz="2350" spc="75" dirty="0">
                <a:latin typeface="Times New Roman"/>
                <a:cs typeface="Times New Roman"/>
              </a:rPr>
              <a:t>I</a:t>
            </a:r>
            <a:r>
              <a:rPr sz="2325" spc="112" baseline="-12544" dirty="0">
                <a:latin typeface="Times New Roman"/>
                <a:cs typeface="Times New Roman"/>
              </a:rPr>
              <a:t>0</a:t>
            </a:r>
            <a:endParaRPr sz="2325" baseline="-12544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442920" y="4863087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5907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910372" y="4863087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5907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377494" y="4863087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6270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857985" y="4863087"/>
            <a:ext cx="245110" cy="0"/>
          </a:xfrm>
          <a:custGeom>
            <a:avLst/>
            <a:gdLst/>
            <a:ahLst/>
            <a:cxnLst/>
            <a:rect l="l" t="t" r="r" b="b"/>
            <a:pathLst>
              <a:path w="245110">
                <a:moveTo>
                  <a:pt x="0" y="0"/>
                </a:moveTo>
                <a:lnTo>
                  <a:pt x="244785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302329" y="4863087"/>
            <a:ext cx="245110" cy="0"/>
          </a:xfrm>
          <a:custGeom>
            <a:avLst/>
            <a:gdLst/>
            <a:ahLst/>
            <a:cxnLst/>
            <a:rect l="l" t="t" r="r" b="b"/>
            <a:pathLst>
              <a:path w="245110">
                <a:moveTo>
                  <a:pt x="0" y="0"/>
                </a:moveTo>
                <a:lnTo>
                  <a:pt x="244785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769781" y="4863087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6270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237232" y="4863087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6270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716238" y="4863087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5940" y="0"/>
                </a:lnTo>
              </a:path>
            </a:pathLst>
          </a:custGeom>
          <a:ln w="3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00707" y="982217"/>
            <a:ext cx="838835" cy="0"/>
          </a:xfrm>
          <a:custGeom>
            <a:avLst/>
            <a:gdLst/>
            <a:ahLst/>
            <a:cxnLst/>
            <a:rect l="l" t="t" r="r" b="b"/>
            <a:pathLst>
              <a:path w="838834">
                <a:moveTo>
                  <a:pt x="0" y="0"/>
                </a:moveTo>
                <a:lnTo>
                  <a:pt x="83854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9966" y="982217"/>
            <a:ext cx="1306830" cy="0"/>
          </a:xfrm>
          <a:custGeom>
            <a:avLst/>
            <a:gdLst/>
            <a:ahLst/>
            <a:cxnLst/>
            <a:rect l="l" t="t" r="r" b="b"/>
            <a:pathLst>
              <a:path w="1306830">
                <a:moveTo>
                  <a:pt x="0" y="0"/>
                </a:moveTo>
                <a:lnTo>
                  <a:pt x="1306703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4568" y="402336"/>
            <a:ext cx="39623" cy="6455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61584" y="6520688"/>
            <a:ext cx="299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0" dirty="0">
                <a:latin typeface="Franklin Gothic Medium"/>
                <a:cs typeface="Franklin Gothic Medium"/>
              </a:rPr>
              <a:t>54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77619" y="67182"/>
            <a:ext cx="6642100" cy="0"/>
          </a:xfrm>
          <a:custGeom>
            <a:avLst/>
            <a:gdLst/>
            <a:ahLst/>
            <a:cxnLst/>
            <a:rect l="l" t="t" r="r" b="b"/>
            <a:pathLst>
              <a:path w="6642100">
                <a:moveTo>
                  <a:pt x="0" y="0"/>
                </a:moveTo>
                <a:lnTo>
                  <a:pt x="66421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77619" y="6285153"/>
            <a:ext cx="6642100" cy="0"/>
          </a:xfrm>
          <a:custGeom>
            <a:avLst/>
            <a:gdLst/>
            <a:ahLst/>
            <a:cxnLst/>
            <a:rect l="l" t="t" r="r" b="b"/>
            <a:pathLst>
              <a:path w="6642100">
                <a:moveTo>
                  <a:pt x="0" y="0"/>
                </a:moveTo>
                <a:lnTo>
                  <a:pt x="66421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22804" y="747389"/>
            <a:ext cx="193040" cy="0"/>
          </a:xfrm>
          <a:custGeom>
            <a:avLst/>
            <a:gdLst/>
            <a:ahLst/>
            <a:cxnLst/>
            <a:rect l="l" t="t" r="r" b="b"/>
            <a:pathLst>
              <a:path w="193039">
                <a:moveTo>
                  <a:pt x="0" y="0"/>
                </a:moveTo>
                <a:lnTo>
                  <a:pt x="192563" y="0"/>
                </a:lnTo>
              </a:path>
            </a:pathLst>
          </a:custGeom>
          <a:ln w="11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88925" y="733673"/>
            <a:ext cx="189230" cy="0"/>
          </a:xfrm>
          <a:custGeom>
            <a:avLst/>
            <a:gdLst/>
            <a:ahLst/>
            <a:cxnLst/>
            <a:rect l="l" t="t" r="r" b="b"/>
            <a:pathLst>
              <a:path w="189230">
                <a:moveTo>
                  <a:pt x="0" y="0"/>
                </a:moveTo>
                <a:lnTo>
                  <a:pt x="188711" y="0"/>
                </a:lnTo>
              </a:path>
            </a:pathLst>
          </a:custGeom>
          <a:ln w="11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61372" y="738488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73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61372" y="732900"/>
            <a:ext cx="185420" cy="0"/>
          </a:xfrm>
          <a:custGeom>
            <a:avLst/>
            <a:gdLst/>
            <a:ahLst/>
            <a:cxnLst/>
            <a:rect l="l" t="t" r="r" b="b"/>
            <a:pathLst>
              <a:path w="185420">
                <a:moveTo>
                  <a:pt x="0" y="0"/>
                </a:moveTo>
                <a:lnTo>
                  <a:pt x="184971" y="0"/>
                </a:lnTo>
              </a:path>
            </a:pathLst>
          </a:custGeom>
          <a:ln w="99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35552" y="747389"/>
            <a:ext cx="191770" cy="0"/>
          </a:xfrm>
          <a:custGeom>
            <a:avLst/>
            <a:gdLst/>
            <a:ahLst/>
            <a:cxnLst/>
            <a:rect l="l" t="t" r="r" b="b"/>
            <a:pathLst>
              <a:path w="191770">
                <a:moveTo>
                  <a:pt x="0" y="0"/>
                </a:moveTo>
                <a:lnTo>
                  <a:pt x="191619" y="0"/>
                </a:lnTo>
              </a:path>
            </a:pathLst>
          </a:custGeom>
          <a:ln w="11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07776" y="733673"/>
            <a:ext cx="182245" cy="0"/>
          </a:xfrm>
          <a:custGeom>
            <a:avLst/>
            <a:gdLst/>
            <a:ahLst/>
            <a:cxnLst/>
            <a:rect l="l" t="t" r="r" b="b"/>
            <a:pathLst>
              <a:path w="182245">
                <a:moveTo>
                  <a:pt x="0" y="0"/>
                </a:moveTo>
                <a:lnTo>
                  <a:pt x="182115" y="0"/>
                </a:lnTo>
              </a:path>
            </a:pathLst>
          </a:custGeom>
          <a:ln w="11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96973" y="733673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5">
                <a:moveTo>
                  <a:pt x="0" y="0"/>
                </a:moveTo>
                <a:lnTo>
                  <a:pt x="190608" y="0"/>
                </a:lnTo>
              </a:path>
            </a:pathLst>
          </a:custGeom>
          <a:ln w="11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277051" y="734107"/>
            <a:ext cx="165735" cy="0"/>
          </a:xfrm>
          <a:custGeom>
            <a:avLst/>
            <a:gdLst/>
            <a:ahLst/>
            <a:cxnLst/>
            <a:rect l="l" t="t" r="r" b="b"/>
            <a:pathLst>
              <a:path w="165735">
                <a:moveTo>
                  <a:pt x="0" y="0"/>
                </a:moveTo>
                <a:lnTo>
                  <a:pt x="165610" y="0"/>
                </a:lnTo>
              </a:path>
            </a:pathLst>
          </a:custGeom>
          <a:ln w="12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14644" y="733673"/>
            <a:ext cx="189865" cy="0"/>
          </a:xfrm>
          <a:custGeom>
            <a:avLst/>
            <a:gdLst/>
            <a:ahLst/>
            <a:cxnLst/>
            <a:rect l="l" t="t" r="r" b="b"/>
            <a:pathLst>
              <a:path w="189864">
                <a:moveTo>
                  <a:pt x="0" y="0"/>
                </a:moveTo>
                <a:lnTo>
                  <a:pt x="189712" y="0"/>
                </a:lnTo>
              </a:path>
            </a:pathLst>
          </a:custGeom>
          <a:ln w="11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75517" y="764852"/>
            <a:ext cx="137795" cy="0"/>
          </a:xfrm>
          <a:custGeom>
            <a:avLst/>
            <a:gdLst/>
            <a:ahLst/>
            <a:cxnLst/>
            <a:rect l="l" t="t" r="r" b="b"/>
            <a:pathLst>
              <a:path w="137794">
                <a:moveTo>
                  <a:pt x="0" y="0"/>
                </a:moveTo>
                <a:lnTo>
                  <a:pt x="137295" y="0"/>
                </a:lnTo>
              </a:path>
            </a:pathLst>
          </a:custGeom>
          <a:ln w="121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96004" y="747389"/>
            <a:ext cx="194945" cy="0"/>
          </a:xfrm>
          <a:custGeom>
            <a:avLst/>
            <a:gdLst/>
            <a:ahLst/>
            <a:cxnLst/>
            <a:rect l="l" t="t" r="r" b="b"/>
            <a:pathLst>
              <a:path w="194945">
                <a:moveTo>
                  <a:pt x="0" y="0"/>
                </a:moveTo>
                <a:lnTo>
                  <a:pt x="194852" y="0"/>
                </a:lnTo>
              </a:path>
            </a:pathLst>
          </a:custGeom>
          <a:ln w="11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68452" y="747389"/>
            <a:ext cx="168910" cy="0"/>
          </a:xfrm>
          <a:custGeom>
            <a:avLst/>
            <a:gdLst/>
            <a:ahLst/>
            <a:cxnLst/>
            <a:rect l="l" t="t" r="r" b="b"/>
            <a:pathLst>
              <a:path w="168909">
                <a:moveTo>
                  <a:pt x="0" y="0"/>
                </a:moveTo>
                <a:lnTo>
                  <a:pt x="168403" y="0"/>
                </a:lnTo>
              </a:path>
            </a:pathLst>
          </a:custGeom>
          <a:ln w="11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27392" y="747389"/>
            <a:ext cx="194310" cy="0"/>
          </a:xfrm>
          <a:custGeom>
            <a:avLst/>
            <a:gdLst/>
            <a:ahLst/>
            <a:cxnLst/>
            <a:rect l="l" t="t" r="r" b="b"/>
            <a:pathLst>
              <a:path w="194309">
                <a:moveTo>
                  <a:pt x="0" y="0"/>
                </a:moveTo>
                <a:lnTo>
                  <a:pt x="193998" y="0"/>
                </a:lnTo>
              </a:path>
            </a:pathLst>
          </a:custGeom>
          <a:ln w="11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586282" y="733894"/>
            <a:ext cx="205740" cy="0"/>
          </a:xfrm>
          <a:custGeom>
            <a:avLst/>
            <a:gdLst/>
            <a:ahLst/>
            <a:cxnLst/>
            <a:rect l="l" t="t" r="r" b="b"/>
            <a:pathLst>
              <a:path w="205740">
                <a:moveTo>
                  <a:pt x="0" y="0"/>
                </a:moveTo>
                <a:lnTo>
                  <a:pt x="205289" y="0"/>
                </a:lnTo>
              </a:path>
            </a:pathLst>
          </a:custGeom>
          <a:ln w="113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002184" y="719957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>
                <a:moveTo>
                  <a:pt x="0" y="0"/>
                </a:moveTo>
                <a:lnTo>
                  <a:pt x="319823" y="0"/>
                </a:lnTo>
              </a:path>
            </a:pathLst>
          </a:custGeom>
          <a:ln w="113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1777619" y="67182"/>
          <a:ext cx="6607166" cy="62179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3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55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7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33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844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968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17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70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4797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841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8956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892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9750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518160">
                <a:tc gridSpan="10">
                  <a:txBody>
                    <a:bodyPr/>
                    <a:lstStyle/>
                    <a:p>
                      <a:pPr marL="1677035">
                        <a:lnSpc>
                          <a:spcPct val="100000"/>
                        </a:lnSpc>
                        <a:spcBef>
                          <a:spcPts val="165"/>
                        </a:spcBef>
                        <a:tabLst>
                          <a:tab pos="2210435" algn="l"/>
                        </a:tabLst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	入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20955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42989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</a:t>
                      </a:r>
                      <a:r>
                        <a:rPr sz="2800" b="1" spc="-30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出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20955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564">
                <a:tc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95">
                <a:tc>
                  <a:txBody>
                    <a:bodyPr/>
                    <a:lstStyle/>
                    <a:p>
                      <a:pPr marL="178435">
                        <a:lnSpc>
                          <a:spcPts val="2065"/>
                        </a:lnSpc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ts val="1945"/>
                        </a:lnSpc>
                      </a:pPr>
                      <a:r>
                        <a:rPr sz="1750" i="1" spc="1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500" baseline="-250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500" baseline="-25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175">
                        <a:lnSpc>
                          <a:spcPts val="1839"/>
                        </a:lnSpc>
                      </a:pPr>
                      <a:r>
                        <a:rPr sz="1750" i="1" spc="1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500" spc="150" baseline="-250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500" baseline="-25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87630" algn="ctr">
                        <a:lnSpc>
                          <a:spcPts val="1839"/>
                        </a:lnSpc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1945"/>
                        </a:lnSpc>
                      </a:pPr>
                      <a:r>
                        <a:rPr sz="1750" i="1" spc="14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50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 baseline="-25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ctr">
                        <a:lnSpc>
                          <a:spcPts val="1839"/>
                        </a:lnSpc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839"/>
                        </a:lnSpc>
                      </a:pPr>
                      <a:r>
                        <a:rPr sz="1750" i="1" spc="14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50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 baseline="-25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ctr">
                        <a:lnSpc>
                          <a:spcPts val="1864"/>
                        </a:lnSpc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175">
                        <a:lnSpc>
                          <a:spcPts val="1839"/>
                        </a:lnSpc>
                      </a:pPr>
                      <a:r>
                        <a:rPr sz="1750" i="1" spc="10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500" spc="157" baseline="-25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 baseline="-25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945"/>
                        </a:lnSpc>
                      </a:pPr>
                      <a:r>
                        <a:rPr sz="1750" i="1" spc="-5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50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500" baseline="-25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7175" marR="3175">
                        <a:lnSpc>
                          <a:spcPts val="1945"/>
                        </a:lnSpc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70510">
                        <a:lnSpc>
                          <a:spcPts val="1945"/>
                        </a:lnSpc>
                      </a:pPr>
                      <a:r>
                        <a:rPr sz="1750" i="1" spc="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500" spc="30" baseline="-250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500" baseline="-25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ts val="1855"/>
                        </a:lnSpc>
                      </a:pPr>
                      <a:r>
                        <a:rPr sz="1800" i="1" spc="-10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500" i="1" baseline="-25000" dirty="0">
                          <a:latin typeface="Times New Roman"/>
                          <a:cs typeface="Times New Roman"/>
                        </a:rPr>
                        <a:t>S</a:t>
                      </a:r>
                      <a:endParaRPr sz="1500" baseline="-25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730"/>
                        </a:lnSpc>
                      </a:pPr>
                      <a:r>
                        <a:rPr sz="1750" i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17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8210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12896" y="3129358"/>
            <a:ext cx="4210685" cy="1724025"/>
          </a:xfrm>
          <a:custGeom>
            <a:avLst/>
            <a:gdLst/>
            <a:ahLst/>
            <a:cxnLst/>
            <a:rect l="l" t="t" r="r" b="b"/>
            <a:pathLst>
              <a:path w="4210684" h="1724025">
                <a:moveTo>
                  <a:pt x="0" y="1724029"/>
                </a:moveTo>
                <a:lnTo>
                  <a:pt x="4210203" y="1724029"/>
                </a:lnTo>
                <a:lnTo>
                  <a:pt x="4210203" y="0"/>
                </a:lnTo>
                <a:lnTo>
                  <a:pt x="0" y="0"/>
                </a:lnTo>
                <a:lnTo>
                  <a:pt x="0" y="1724029"/>
                </a:lnTo>
                <a:close/>
              </a:path>
            </a:pathLst>
          </a:custGeom>
          <a:ln w="338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45845" y="3991357"/>
            <a:ext cx="467359" cy="0"/>
          </a:xfrm>
          <a:custGeom>
            <a:avLst/>
            <a:gdLst/>
            <a:ahLst/>
            <a:cxnLst/>
            <a:rect l="l" t="t" r="r" b="b"/>
            <a:pathLst>
              <a:path w="467360">
                <a:moveTo>
                  <a:pt x="0" y="0"/>
                </a:moveTo>
                <a:lnTo>
                  <a:pt x="467050" y="0"/>
                </a:lnTo>
                <a:lnTo>
                  <a:pt x="0" y="0"/>
                </a:lnTo>
                <a:close/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23116" y="3991358"/>
            <a:ext cx="467359" cy="0"/>
          </a:xfrm>
          <a:custGeom>
            <a:avLst/>
            <a:gdLst/>
            <a:ahLst/>
            <a:cxnLst/>
            <a:rect l="l" t="t" r="r" b="b"/>
            <a:pathLst>
              <a:path w="467359">
                <a:moveTo>
                  <a:pt x="0" y="0"/>
                </a:moveTo>
                <a:lnTo>
                  <a:pt x="467121" y="0"/>
                </a:lnTo>
                <a:lnTo>
                  <a:pt x="0" y="0"/>
                </a:lnTo>
                <a:close/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55332" y="3908395"/>
            <a:ext cx="175008" cy="165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05680" y="3909876"/>
            <a:ext cx="175007" cy="1640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80348" y="4853387"/>
            <a:ext cx="0" cy="431800"/>
          </a:xfrm>
          <a:custGeom>
            <a:avLst/>
            <a:gdLst/>
            <a:ahLst/>
            <a:cxnLst/>
            <a:rect l="l" t="t" r="r" b="b"/>
            <a:pathLst>
              <a:path h="431800">
                <a:moveTo>
                  <a:pt x="0" y="0"/>
                </a:moveTo>
                <a:lnTo>
                  <a:pt x="0" y="431761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47800" y="4853387"/>
            <a:ext cx="0" cy="431800"/>
          </a:xfrm>
          <a:custGeom>
            <a:avLst/>
            <a:gdLst/>
            <a:ahLst/>
            <a:cxnLst/>
            <a:rect l="l" t="t" r="r" b="b"/>
            <a:pathLst>
              <a:path h="431800">
                <a:moveTo>
                  <a:pt x="0" y="0"/>
                </a:moveTo>
                <a:lnTo>
                  <a:pt x="0" y="431761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16919" y="4853387"/>
            <a:ext cx="0" cy="431800"/>
          </a:xfrm>
          <a:custGeom>
            <a:avLst/>
            <a:gdLst/>
            <a:ahLst/>
            <a:cxnLst/>
            <a:rect l="l" t="t" r="r" b="b"/>
            <a:pathLst>
              <a:path h="431800">
                <a:moveTo>
                  <a:pt x="0" y="0"/>
                </a:moveTo>
                <a:lnTo>
                  <a:pt x="0" y="431761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84371" y="4853387"/>
            <a:ext cx="0" cy="431800"/>
          </a:xfrm>
          <a:custGeom>
            <a:avLst/>
            <a:gdLst/>
            <a:ahLst/>
            <a:cxnLst/>
            <a:rect l="l" t="t" r="r" b="b"/>
            <a:pathLst>
              <a:path h="431800">
                <a:moveTo>
                  <a:pt x="0" y="0"/>
                </a:moveTo>
                <a:lnTo>
                  <a:pt x="0" y="431761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51823" y="4853387"/>
            <a:ext cx="0" cy="431800"/>
          </a:xfrm>
          <a:custGeom>
            <a:avLst/>
            <a:gdLst/>
            <a:ahLst/>
            <a:cxnLst/>
            <a:rect l="l" t="t" r="r" b="b"/>
            <a:pathLst>
              <a:path h="431800">
                <a:moveTo>
                  <a:pt x="0" y="0"/>
                </a:moveTo>
                <a:lnTo>
                  <a:pt x="0" y="431761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19274" y="4853387"/>
            <a:ext cx="0" cy="431800"/>
          </a:xfrm>
          <a:custGeom>
            <a:avLst/>
            <a:gdLst/>
            <a:ahLst/>
            <a:cxnLst/>
            <a:rect l="l" t="t" r="r" b="b"/>
            <a:pathLst>
              <a:path h="431800">
                <a:moveTo>
                  <a:pt x="0" y="0"/>
                </a:moveTo>
                <a:lnTo>
                  <a:pt x="0" y="431761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86727" y="4853387"/>
            <a:ext cx="0" cy="431800"/>
          </a:xfrm>
          <a:custGeom>
            <a:avLst/>
            <a:gdLst/>
            <a:ahLst/>
            <a:cxnLst/>
            <a:rect l="l" t="t" r="r" b="b"/>
            <a:pathLst>
              <a:path h="431800">
                <a:moveTo>
                  <a:pt x="0" y="0"/>
                </a:moveTo>
                <a:lnTo>
                  <a:pt x="0" y="431761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55664" y="4853387"/>
            <a:ext cx="0" cy="431800"/>
          </a:xfrm>
          <a:custGeom>
            <a:avLst/>
            <a:gdLst/>
            <a:ahLst/>
            <a:cxnLst/>
            <a:rect l="l" t="t" r="r" b="b"/>
            <a:pathLst>
              <a:path h="431800">
                <a:moveTo>
                  <a:pt x="0" y="0"/>
                </a:moveTo>
                <a:lnTo>
                  <a:pt x="0" y="431761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93851" y="4835952"/>
            <a:ext cx="174991" cy="1640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60908" y="4835954"/>
            <a:ext cx="175383" cy="1640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28344" y="4835954"/>
            <a:ext cx="175334" cy="1640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95795" y="4835954"/>
            <a:ext cx="175334" cy="1640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164889" y="4835945"/>
            <a:ext cx="173701" cy="1640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32342" y="4835945"/>
            <a:ext cx="175351" cy="16555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99794" y="4835945"/>
            <a:ext cx="175351" cy="1655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567244" y="4835943"/>
            <a:ext cx="175024" cy="1655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15080" y="269719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432183"/>
                </a:moveTo>
                <a:lnTo>
                  <a:pt x="0" y="0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49984" y="269719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432183"/>
                </a:moveTo>
                <a:lnTo>
                  <a:pt x="0" y="0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86044" y="269719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432183"/>
                </a:moveTo>
                <a:lnTo>
                  <a:pt x="0" y="0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20947" y="2697190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432183"/>
                </a:moveTo>
                <a:lnTo>
                  <a:pt x="0" y="0"/>
                </a:lnTo>
              </a:path>
            </a:pathLst>
          </a:custGeom>
          <a:ln w="36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26586" y="2982297"/>
            <a:ext cx="175388" cy="16451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463056" y="2982295"/>
            <a:ext cx="175012" cy="16451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397960" y="2982295"/>
            <a:ext cx="175012" cy="1645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334013" y="2982289"/>
            <a:ext cx="173869" cy="16452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043426" y="3800198"/>
            <a:ext cx="19621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spc="135" dirty="0">
                <a:latin typeface="Times New Roman"/>
                <a:cs typeface="Times New Roman"/>
              </a:rPr>
              <a:t>S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970783" y="3851486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603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696123" y="3800198"/>
            <a:ext cx="42100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2350" spc="120" dirty="0">
                <a:latin typeface="Times New Roman"/>
                <a:cs typeface="Times New Roman"/>
              </a:rPr>
              <a:t>Y</a:t>
            </a:r>
            <a:r>
              <a:rPr sz="2325" spc="179" baseline="-12544" dirty="0">
                <a:latin typeface="Times New Roman"/>
                <a:cs typeface="Times New Roman"/>
              </a:rPr>
              <a:t>S</a:t>
            </a:r>
            <a:endParaRPr sz="2325" baseline="-12544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713270" y="3851486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4">
                <a:moveTo>
                  <a:pt x="0" y="0"/>
                </a:moveTo>
                <a:lnTo>
                  <a:pt x="292487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444361" y="3238936"/>
            <a:ext cx="586740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3525" spc="172" baseline="8274" dirty="0">
                <a:latin typeface="Times New Roman"/>
                <a:cs typeface="Times New Roman"/>
              </a:rPr>
              <a:t>Y</a:t>
            </a:r>
            <a:r>
              <a:rPr sz="1550" spc="114" dirty="0">
                <a:latin typeface="Times New Roman"/>
                <a:cs typeface="Times New Roman"/>
              </a:rPr>
              <a:t>EX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45008" y="3194761"/>
            <a:ext cx="2357755" cy="9798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35"/>
              </a:spcBef>
              <a:tabLst>
                <a:tab pos="1048385" algn="l"/>
                <a:tab pos="1960245" algn="l"/>
              </a:tabLst>
            </a:pPr>
            <a:r>
              <a:rPr sz="2350" spc="120" dirty="0">
                <a:latin typeface="Times New Roman"/>
                <a:cs typeface="Times New Roman"/>
              </a:rPr>
              <a:t>Y</a:t>
            </a:r>
            <a:r>
              <a:rPr sz="2325" spc="179" baseline="-12544" dirty="0">
                <a:latin typeface="Times New Roman"/>
                <a:cs typeface="Times New Roman"/>
              </a:rPr>
              <a:t>2	</a:t>
            </a:r>
            <a:r>
              <a:rPr sz="2350" spc="120" dirty="0">
                <a:latin typeface="Times New Roman"/>
                <a:cs typeface="Times New Roman"/>
              </a:rPr>
              <a:t>Y</a:t>
            </a:r>
            <a:r>
              <a:rPr sz="2325" spc="179" baseline="-12544" dirty="0">
                <a:latin typeface="Times New Roman"/>
                <a:cs typeface="Times New Roman"/>
              </a:rPr>
              <a:t>1	</a:t>
            </a:r>
            <a:r>
              <a:rPr sz="2350" spc="125" dirty="0">
                <a:latin typeface="Times New Roman"/>
                <a:cs typeface="Times New Roman"/>
              </a:rPr>
              <a:t>Y</a:t>
            </a:r>
            <a:r>
              <a:rPr sz="2325" spc="187" baseline="-12544" dirty="0">
                <a:latin typeface="Times New Roman"/>
                <a:cs typeface="Times New Roman"/>
              </a:rPr>
              <a:t>0</a:t>
            </a:r>
            <a:endParaRPr sz="2325" baseline="-12544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075"/>
              </a:spcBef>
            </a:pPr>
            <a:r>
              <a:rPr sz="215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74LS148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461392" y="3247780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206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21072" y="3247780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157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355976" y="3247780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157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292035" y="3247780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4">
                <a:moveTo>
                  <a:pt x="0" y="0"/>
                </a:moveTo>
                <a:lnTo>
                  <a:pt x="292652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257546" y="4467525"/>
            <a:ext cx="355536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  <a:tabLst>
                <a:tab pos="492759" algn="l"/>
                <a:tab pos="961390" algn="l"/>
                <a:tab pos="1428750" algn="l"/>
                <a:tab pos="1896110" algn="l"/>
                <a:tab pos="2364105" algn="l"/>
                <a:tab pos="2831465" algn="l"/>
                <a:tab pos="3298190" algn="l"/>
              </a:tabLst>
            </a:pPr>
            <a:r>
              <a:rPr sz="2350" spc="75" dirty="0">
                <a:latin typeface="Times New Roman"/>
                <a:cs typeface="Times New Roman"/>
              </a:rPr>
              <a:t>I</a:t>
            </a:r>
            <a:r>
              <a:rPr sz="2325" spc="112" baseline="-12544" dirty="0">
                <a:latin typeface="Times New Roman"/>
                <a:cs typeface="Times New Roman"/>
              </a:rPr>
              <a:t>7	</a:t>
            </a:r>
            <a:r>
              <a:rPr sz="2350" spc="75" dirty="0">
                <a:latin typeface="Times New Roman"/>
                <a:cs typeface="Times New Roman"/>
              </a:rPr>
              <a:t>I</a:t>
            </a:r>
            <a:r>
              <a:rPr sz="2325" spc="112" baseline="-12544" dirty="0">
                <a:latin typeface="Times New Roman"/>
                <a:cs typeface="Times New Roman"/>
              </a:rPr>
              <a:t>6	</a:t>
            </a:r>
            <a:r>
              <a:rPr sz="2350" spc="70" dirty="0">
                <a:latin typeface="Times New Roman"/>
                <a:cs typeface="Times New Roman"/>
              </a:rPr>
              <a:t>I</a:t>
            </a:r>
            <a:r>
              <a:rPr sz="2325" spc="104" baseline="-12544" dirty="0">
                <a:latin typeface="Times New Roman"/>
                <a:cs typeface="Times New Roman"/>
              </a:rPr>
              <a:t>5	</a:t>
            </a:r>
            <a:r>
              <a:rPr sz="2350" spc="70" dirty="0">
                <a:latin typeface="Times New Roman"/>
                <a:cs typeface="Times New Roman"/>
              </a:rPr>
              <a:t>I</a:t>
            </a:r>
            <a:r>
              <a:rPr sz="2325" spc="104" baseline="-12544" dirty="0">
                <a:latin typeface="Times New Roman"/>
                <a:cs typeface="Times New Roman"/>
              </a:rPr>
              <a:t>4	</a:t>
            </a:r>
            <a:r>
              <a:rPr sz="2350" spc="70" dirty="0">
                <a:latin typeface="Times New Roman"/>
                <a:cs typeface="Times New Roman"/>
              </a:rPr>
              <a:t>I</a:t>
            </a:r>
            <a:r>
              <a:rPr sz="2325" spc="104" baseline="-12544" dirty="0">
                <a:latin typeface="Times New Roman"/>
                <a:cs typeface="Times New Roman"/>
              </a:rPr>
              <a:t>3	</a:t>
            </a:r>
            <a:r>
              <a:rPr sz="2350" spc="75" dirty="0">
                <a:latin typeface="Times New Roman"/>
                <a:cs typeface="Times New Roman"/>
              </a:rPr>
              <a:t>I</a:t>
            </a:r>
            <a:r>
              <a:rPr sz="2325" spc="112" baseline="-12544" dirty="0">
                <a:latin typeface="Times New Roman"/>
                <a:cs typeface="Times New Roman"/>
              </a:rPr>
              <a:t>2	</a:t>
            </a:r>
            <a:r>
              <a:rPr sz="2350" spc="75" dirty="0">
                <a:latin typeface="Times New Roman"/>
                <a:cs typeface="Times New Roman"/>
              </a:rPr>
              <a:t>I</a:t>
            </a:r>
            <a:r>
              <a:rPr sz="2325" spc="112" baseline="-12544" dirty="0">
                <a:latin typeface="Times New Roman"/>
                <a:cs typeface="Times New Roman"/>
              </a:rPr>
              <a:t>1	</a:t>
            </a:r>
            <a:r>
              <a:rPr sz="2350" spc="75" dirty="0">
                <a:latin typeface="Times New Roman"/>
                <a:cs typeface="Times New Roman"/>
              </a:rPr>
              <a:t>I</a:t>
            </a:r>
            <a:r>
              <a:rPr sz="2325" spc="112" baseline="-12544" dirty="0">
                <a:latin typeface="Times New Roman"/>
                <a:cs typeface="Times New Roman"/>
              </a:rPr>
              <a:t>0</a:t>
            </a:r>
            <a:endParaRPr sz="2325" baseline="-12544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240228" y="449930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5907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707680" y="449930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5907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74801" y="449930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6270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655293" y="4499306"/>
            <a:ext cx="245110" cy="0"/>
          </a:xfrm>
          <a:custGeom>
            <a:avLst/>
            <a:gdLst/>
            <a:ahLst/>
            <a:cxnLst/>
            <a:rect l="l" t="t" r="r" b="b"/>
            <a:pathLst>
              <a:path w="245110">
                <a:moveTo>
                  <a:pt x="0" y="0"/>
                </a:moveTo>
                <a:lnTo>
                  <a:pt x="244785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099637" y="4499306"/>
            <a:ext cx="245110" cy="0"/>
          </a:xfrm>
          <a:custGeom>
            <a:avLst/>
            <a:gdLst/>
            <a:ahLst/>
            <a:cxnLst/>
            <a:rect l="l" t="t" r="r" b="b"/>
            <a:pathLst>
              <a:path w="245110">
                <a:moveTo>
                  <a:pt x="0" y="0"/>
                </a:moveTo>
                <a:lnTo>
                  <a:pt x="244785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567088" y="449930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6270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034540" y="449930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6270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513547" y="449930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5940" y="0"/>
                </a:lnTo>
              </a:path>
            </a:pathLst>
          </a:custGeom>
          <a:ln w="334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599176" y="1376172"/>
            <a:ext cx="3811904" cy="1002030"/>
          </a:xfrm>
          <a:custGeom>
            <a:avLst/>
            <a:gdLst/>
            <a:ahLst/>
            <a:cxnLst/>
            <a:rect l="l" t="t" r="r" b="b"/>
            <a:pathLst>
              <a:path w="3811904" h="1002030">
                <a:moveTo>
                  <a:pt x="2687828" y="505967"/>
                </a:moveTo>
                <a:lnTo>
                  <a:pt x="2206244" y="505967"/>
                </a:lnTo>
                <a:lnTo>
                  <a:pt x="0" y="1001902"/>
                </a:lnTo>
                <a:lnTo>
                  <a:pt x="2687828" y="505967"/>
                </a:lnTo>
                <a:close/>
              </a:path>
              <a:path w="3811904" h="1002030">
                <a:moveTo>
                  <a:pt x="3811524" y="0"/>
                </a:moveTo>
                <a:lnTo>
                  <a:pt x="1885188" y="0"/>
                </a:lnTo>
                <a:lnTo>
                  <a:pt x="1885188" y="505967"/>
                </a:lnTo>
                <a:lnTo>
                  <a:pt x="3811524" y="505967"/>
                </a:lnTo>
                <a:lnTo>
                  <a:pt x="3811524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599176" y="1376172"/>
            <a:ext cx="3811904" cy="1002030"/>
          </a:xfrm>
          <a:custGeom>
            <a:avLst/>
            <a:gdLst/>
            <a:ahLst/>
            <a:cxnLst/>
            <a:rect l="l" t="t" r="r" b="b"/>
            <a:pathLst>
              <a:path w="3811904" h="1002030">
                <a:moveTo>
                  <a:pt x="1885188" y="0"/>
                </a:moveTo>
                <a:lnTo>
                  <a:pt x="2206244" y="0"/>
                </a:lnTo>
                <a:lnTo>
                  <a:pt x="2687828" y="0"/>
                </a:lnTo>
                <a:lnTo>
                  <a:pt x="3811524" y="0"/>
                </a:lnTo>
                <a:lnTo>
                  <a:pt x="3811524" y="295148"/>
                </a:lnTo>
                <a:lnTo>
                  <a:pt x="3811524" y="421639"/>
                </a:lnTo>
                <a:lnTo>
                  <a:pt x="3811524" y="505967"/>
                </a:lnTo>
                <a:lnTo>
                  <a:pt x="2687828" y="505967"/>
                </a:lnTo>
                <a:lnTo>
                  <a:pt x="0" y="1001902"/>
                </a:lnTo>
                <a:lnTo>
                  <a:pt x="2206244" y="505967"/>
                </a:lnTo>
                <a:lnTo>
                  <a:pt x="1885188" y="505967"/>
                </a:lnTo>
                <a:lnTo>
                  <a:pt x="1885188" y="421639"/>
                </a:lnTo>
                <a:lnTo>
                  <a:pt x="1885188" y="295148"/>
                </a:lnTo>
                <a:lnTo>
                  <a:pt x="1885188" y="0"/>
                </a:lnTo>
                <a:close/>
              </a:path>
            </a:pathLst>
          </a:custGeom>
          <a:ln w="914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975854" y="1390903"/>
            <a:ext cx="946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FF0000"/>
                </a:solidFill>
                <a:latin typeface="华文楷体"/>
                <a:cs typeface="华文楷体"/>
              </a:rPr>
              <a:t>输出反码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729228" y="5972555"/>
            <a:ext cx="2362200" cy="189230"/>
          </a:xfrm>
          <a:custGeom>
            <a:avLst/>
            <a:gdLst/>
            <a:ahLst/>
            <a:cxnLst/>
            <a:rect l="l" t="t" r="r" b="b"/>
            <a:pathLst>
              <a:path w="2362200" h="189229">
                <a:moveTo>
                  <a:pt x="0" y="47244"/>
                </a:moveTo>
                <a:lnTo>
                  <a:pt x="1999869" y="47244"/>
                </a:lnTo>
                <a:lnTo>
                  <a:pt x="1999869" y="0"/>
                </a:lnTo>
                <a:lnTo>
                  <a:pt x="2362200" y="94488"/>
                </a:lnTo>
                <a:lnTo>
                  <a:pt x="1999869" y="188976"/>
                </a:lnTo>
                <a:lnTo>
                  <a:pt x="1999869" y="141732"/>
                </a:lnTo>
                <a:lnTo>
                  <a:pt x="0" y="141732"/>
                </a:lnTo>
                <a:lnTo>
                  <a:pt x="0" y="47244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904488" y="5466588"/>
            <a:ext cx="1937385" cy="37084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285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25"/>
              </a:spcBef>
            </a:pPr>
            <a:r>
              <a:rPr sz="1800" b="1" spc="5" dirty="0">
                <a:solidFill>
                  <a:srgbClr val="FF0000"/>
                </a:solidFill>
                <a:latin typeface="华文楷体"/>
                <a:cs typeface="华文楷体"/>
              </a:rPr>
              <a:t>优先级别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74775" y="4033646"/>
            <a:ext cx="1732914" cy="1681480"/>
          </a:xfrm>
          <a:custGeom>
            <a:avLst/>
            <a:gdLst/>
            <a:ahLst/>
            <a:cxnLst/>
            <a:rect l="l" t="t" r="r" b="b"/>
            <a:pathLst>
              <a:path w="1732914" h="1681479">
                <a:moveTo>
                  <a:pt x="1732788" y="742569"/>
                </a:moveTo>
                <a:lnTo>
                  <a:pt x="0" y="742569"/>
                </a:lnTo>
                <a:lnTo>
                  <a:pt x="0" y="1681352"/>
                </a:lnTo>
                <a:lnTo>
                  <a:pt x="1732788" y="1681352"/>
                </a:lnTo>
                <a:lnTo>
                  <a:pt x="1732788" y="742569"/>
                </a:lnTo>
                <a:close/>
              </a:path>
              <a:path w="1732914" h="1681479">
                <a:moveTo>
                  <a:pt x="1604518" y="0"/>
                </a:moveTo>
                <a:lnTo>
                  <a:pt x="1010793" y="742569"/>
                </a:lnTo>
                <a:lnTo>
                  <a:pt x="1443990" y="742569"/>
                </a:lnTo>
                <a:lnTo>
                  <a:pt x="1604518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74775" y="4033646"/>
            <a:ext cx="1732914" cy="1681480"/>
          </a:xfrm>
          <a:custGeom>
            <a:avLst/>
            <a:gdLst/>
            <a:ahLst/>
            <a:cxnLst/>
            <a:rect l="l" t="t" r="r" b="b"/>
            <a:pathLst>
              <a:path w="1732914" h="1681479">
                <a:moveTo>
                  <a:pt x="0" y="742569"/>
                </a:moveTo>
                <a:lnTo>
                  <a:pt x="1010793" y="742569"/>
                </a:lnTo>
                <a:lnTo>
                  <a:pt x="1604518" y="0"/>
                </a:lnTo>
                <a:lnTo>
                  <a:pt x="1443990" y="742569"/>
                </a:lnTo>
                <a:lnTo>
                  <a:pt x="1732788" y="742569"/>
                </a:lnTo>
                <a:lnTo>
                  <a:pt x="1732788" y="899032"/>
                </a:lnTo>
                <a:lnTo>
                  <a:pt x="1732788" y="1133728"/>
                </a:lnTo>
                <a:lnTo>
                  <a:pt x="1732788" y="1681352"/>
                </a:lnTo>
                <a:lnTo>
                  <a:pt x="1443990" y="1681352"/>
                </a:lnTo>
                <a:lnTo>
                  <a:pt x="1010793" y="1681352"/>
                </a:lnTo>
                <a:lnTo>
                  <a:pt x="0" y="1681352"/>
                </a:lnTo>
                <a:lnTo>
                  <a:pt x="0" y="1133728"/>
                </a:lnTo>
                <a:lnTo>
                  <a:pt x="0" y="899032"/>
                </a:lnTo>
                <a:lnTo>
                  <a:pt x="0" y="742569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383283" y="4791836"/>
            <a:ext cx="716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FF0000"/>
                </a:solidFill>
                <a:latin typeface="华文楷体"/>
                <a:cs typeface="华文楷体"/>
              </a:rPr>
              <a:t>选通端</a:t>
            </a:r>
            <a:endParaRPr sz="1800">
              <a:latin typeface="华文楷体"/>
              <a:cs typeface="华文楷体"/>
            </a:endParaRPr>
          </a:p>
          <a:p>
            <a:pPr marL="73025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华文楷体"/>
                <a:cs typeface="华文楷体"/>
              </a:rPr>
              <a:t>0</a:t>
            </a:r>
            <a:r>
              <a:rPr sz="1800" b="1" spc="5" dirty="0">
                <a:solidFill>
                  <a:srgbClr val="FF0000"/>
                </a:solidFill>
                <a:latin typeface="华文楷体"/>
                <a:cs typeface="华文楷体"/>
              </a:rPr>
              <a:t>有效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961644" y="1909572"/>
            <a:ext cx="2622550" cy="915035"/>
          </a:xfrm>
          <a:custGeom>
            <a:avLst/>
            <a:gdLst/>
            <a:ahLst/>
            <a:cxnLst/>
            <a:rect l="l" t="t" r="r" b="b"/>
            <a:pathLst>
              <a:path w="2622550" h="915035">
                <a:moveTo>
                  <a:pt x="2400341" y="762000"/>
                </a:moveTo>
                <a:lnTo>
                  <a:pt x="2068068" y="762000"/>
                </a:lnTo>
                <a:lnTo>
                  <a:pt x="2622042" y="914526"/>
                </a:lnTo>
                <a:lnTo>
                  <a:pt x="2400341" y="762000"/>
                </a:lnTo>
                <a:close/>
              </a:path>
              <a:path w="2622550" h="915035">
                <a:moveTo>
                  <a:pt x="2068068" y="0"/>
                </a:moveTo>
                <a:lnTo>
                  <a:pt x="0" y="0"/>
                </a:lnTo>
                <a:lnTo>
                  <a:pt x="0" y="914400"/>
                </a:lnTo>
                <a:lnTo>
                  <a:pt x="2068068" y="914400"/>
                </a:lnTo>
                <a:lnTo>
                  <a:pt x="2068068" y="762000"/>
                </a:lnTo>
                <a:lnTo>
                  <a:pt x="2400341" y="762000"/>
                </a:lnTo>
                <a:lnTo>
                  <a:pt x="2068068" y="533400"/>
                </a:lnTo>
                <a:lnTo>
                  <a:pt x="2068068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61644" y="1909572"/>
            <a:ext cx="2622550" cy="915035"/>
          </a:xfrm>
          <a:custGeom>
            <a:avLst/>
            <a:gdLst/>
            <a:ahLst/>
            <a:cxnLst/>
            <a:rect l="l" t="t" r="r" b="b"/>
            <a:pathLst>
              <a:path w="2622550" h="915035">
                <a:moveTo>
                  <a:pt x="0" y="0"/>
                </a:moveTo>
                <a:lnTo>
                  <a:pt x="1206373" y="0"/>
                </a:lnTo>
                <a:lnTo>
                  <a:pt x="1723389" y="0"/>
                </a:lnTo>
                <a:lnTo>
                  <a:pt x="2068068" y="0"/>
                </a:lnTo>
                <a:lnTo>
                  <a:pt x="2068068" y="533400"/>
                </a:lnTo>
                <a:lnTo>
                  <a:pt x="2622042" y="914526"/>
                </a:lnTo>
                <a:lnTo>
                  <a:pt x="2068068" y="762000"/>
                </a:lnTo>
                <a:lnTo>
                  <a:pt x="2068068" y="914400"/>
                </a:lnTo>
                <a:lnTo>
                  <a:pt x="1723389" y="914400"/>
                </a:lnTo>
                <a:lnTo>
                  <a:pt x="1206373" y="914400"/>
                </a:lnTo>
                <a:lnTo>
                  <a:pt x="0" y="914400"/>
                </a:lnTo>
                <a:lnTo>
                  <a:pt x="0" y="7620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ln w="914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065377" y="1924303"/>
            <a:ext cx="1858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FF0000"/>
                </a:solidFill>
                <a:latin typeface="华文楷体"/>
                <a:cs typeface="华文楷体"/>
              </a:rPr>
              <a:t>有编码</a:t>
            </a:r>
            <a:r>
              <a:rPr sz="1800" b="1" spc="-5" dirty="0">
                <a:solidFill>
                  <a:srgbClr val="FF0000"/>
                </a:solidFill>
                <a:latin typeface="华文楷体"/>
                <a:cs typeface="华文楷体"/>
              </a:rPr>
              <a:t>输入时，为</a:t>
            </a:r>
            <a:endParaRPr sz="180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华文楷体"/>
                <a:cs typeface="华文楷体"/>
              </a:rPr>
              <a:t>0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529576" y="4027296"/>
            <a:ext cx="2141855" cy="1257935"/>
          </a:xfrm>
          <a:custGeom>
            <a:avLst/>
            <a:gdLst/>
            <a:ahLst/>
            <a:cxnLst/>
            <a:rect l="l" t="t" r="r" b="b"/>
            <a:pathLst>
              <a:path w="2141854" h="1257935">
                <a:moveTo>
                  <a:pt x="2141728" y="358775"/>
                </a:moveTo>
                <a:lnTo>
                  <a:pt x="59944" y="358775"/>
                </a:lnTo>
                <a:lnTo>
                  <a:pt x="59944" y="1257934"/>
                </a:lnTo>
                <a:lnTo>
                  <a:pt x="2141728" y="1257934"/>
                </a:lnTo>
                <a:lnTo>
                  <a:pt x="2141728" y="358775"/>
                </a:lnTo>
                <a:close/>
              </a:path>
              <a:path w="2141854" h="1257935">
                <a:moveTo>
                  <a:pt x="0" y="0"/>
                </a:moveTo>
                <a:lnTo>
                  <a:pt x="406907" y="358775"/>
                </a:lnTo>
                <a:lnTo>
                  <a:pt x="927353" y="358775"/>
                </a:lnTo>
                <a:lnTo>
                  <a:pt x="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29576" y="4027296"/>
            <a:ext cx="2141855" cy="1257935"/>
          </a:xfrm>
          <a:custGeom>
            <a:avLst/>
            <a:gdLst/>
            <a:ahLst/>
            <a:cxnLst/>
            <a:rect l="l" t="t" r="r" b="b"/>
            <a:pathLst>
              <a:path w="2141854" h="1257935">
                <a:moveTo>
                  <a:pt x="59944" y="358775"/>
                </a:moveTo>
                <a:lnTo>
                  <a:pt x="406907" y="358775"/>
                </a:lnTo>
                <a:lnTo>
                  <a:pt x="0" y="0"/>
                </a:lnTo>
                <a:lnTo>
                  <a:pt x="927353" y="358775"/>
                </a:lnTo>
                <a:lnTo>
                  <a:pt x="2141728" y="358775"/>
                </a:lnTo>
                <a:lnTo>
                  <a:pt x="2141728" y="508634"/>
                </a:lnTo>
                <a:lnTo>
                  <a:pt x="2141728" y="733425"/>
                </a:lnTo>
                <a:lnTo>
                  <a:pt x="2141728" y="1257934"/>
                </a:lnTo>
                <a:lnTo>
                  <a:pt x="927353" y="1257934"/>
                </a:lnTo>
                <a:lnTo>
                  <a:pt x="406907" y="1257934"/>
                </a:lnTo>
                <a:lnTo>
                  <a:pt x="59944" y="1257934"/>
                </a:lnTo>
                <a:lnTo>
                  <a:pt x="59944" y="733425"/>
                </a:lnTo>
                <a:lnTo>
                  <a:pt x="59944" y="508634"/>
                </a:lnTo>
                <a:lnTo>
                  <a:pt x="59944" y="358775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7702422" y="4401692"/>
            <a:ext cx="1858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FF0000"/>
                </a:solidFill>
                <a:latin typeface="华文楷体"/>
                <a:cs typeface="华文楷体"/>
              </a:rPr>
              <a:t>无编码</a:t>
            </a:r>
            <a:r>
              <a:rPr sz="1800" b="1" spc="-5" dirty="0">
                <a:solidFill>
                  <a:srgbClr val="FF0000"/>
                </a:solidFill>
                <a:latin typeface="华文楷体"/>
                <a:cs typeface="华文楷体"/>
              </a:rPr>
              <a:t>输入时，为</a:t>
            </a:r>
            <a:endParaRPr sz="1800" dirty="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华文楷体"/>
                <a:cs typeface="华文楷体"/>
              </a:rPr>
              <a:t>0</a:t>
            </a:r>
            <a:endParaRPr sz="1800" dirty="0">
              <a:latin typeface="华文楷体"/>
              <a:cs typeface="华文楷体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4449317" y="2298954"/>
            <a:ext cx="2087880" cy="525780"/>
          </a:xfrm>
          <a:custGeom>
            <a:avLst/>
            <a:gdLst/>
            <a:ahLst/>
            <a:cxnLst/>
            <a:rect l="l" t="t" r="r" b="b"/>
            <a:pathLst>
              <a:path w="2087879" h="525780">
                <a:moveTo>
                  <a:pt x="0" y="525780"/>
                </a:moveTo>
                <a:lnTo>
                  <a:pt x="1561" y="455903"/>
                </a:lnTo>
                <a:lnTo>
                  <a:pt x="5968" y="393107"/>
                </a:lnTo>
                <a:lnTo>
                  <a:pt x="12811" y="339899"/>
                </a:lnTo>
                <a:lnTo>
                  <a:pt x="21674" y="298788"/>
                </a:lnTo>
                <a:lnTo>
                  <a:pt x="43815" y="262890"/>
                </a:lnTo>
                <a:lnTo>
                  <a:pt x="1000125" y="262890"/>
                </a:lnTo>
                <a:lnTo>
                  <a:pt x="1011793" y="253497"/>
                </a:lnTo>
                <a:lnTo>
                  <a:pt x="1031128" y="185880"/>
                </a:lnTo>
                <a:lnTo>
                  <a:pt x="1037971" y="132672"/>
                </a:lnTo>
                <a:lnTo>
                  <a:pt x="1042378" y="69876"/>
                </a:lnTo>
                <a:lnTo>
                  <a:pt x="1043940" y="0"/>
                </a:lnTo>
                <a:lnTo>
                  <a:pt x="1045501" y="69876"/>
                </a:lnTo>
                <a:lnTo>
                  <a:pt x="1049909" y="132672"/>
                </a:lnTo>
                <a:lnTo>
                  <a:pt x="1056751" y="185880"/>
                </a:lnTo>
                <a:lnTo>
                  <a:pt x="1065614" y="226991"/>
                </a:lnTo>
                <a:lnTo>
                  <a:pt x="1087755" y="262890"/>
                </a:lnTo>
                <a:lnTo>
                  <a:pt x="2044065" y="262890"/>
                </a:lnTo>
                <a:lnTo>
                  <a:pt x="2055733" y="272282"/>
                </a:lnTo>
                <a:lnTo>
                  <a:pt x="2066205" y="298788"/>
                </a:lnTo>
                <a:lnTo>
                  <a:pt x="2075068" y="339899"/>
                </a:lnTo>
                <a:lnTo>
                  <a:pt x="2081910" y="393107"/>
                </a:lnTo>
                <a:lnTo>
                  <a:pt x="2086318" y="455903"/>
                </a:lnTo>
                <a:lnTo>
                  <a:pt x="2087880" y="52578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89190" y="4124216"/>
            <a:ext cx="3156585" cy="1290955"/>
          </a:xfrm>
          <a:custGeom>
            <a:avLst/>
            <a:gdLst/>
            <a:ahLst/>
            <a:cxnLst/>
            <a:rect l="l" t="t" r="r" b="b"/>
            <a:pathLst>
              <a:path w="3156585" h="1290954">
                <a:moveTo>
                  <a:pt x="0" y="1290732"/>
                </a:moveTo>
                <a:lnTo>
                  <a:pt x="3156248" y="1290732"/>
                </a:lnTo>
                <a:lnTo>
                  <a:pt x="3156248" y="0"/>
                </a:lnTo>
                <a:lnTo>
                  <a:pt x="0" y="0"/>
                </a:lnTo>
                <a:lnTo>
                  <a:pt x="0" y="1290732"/>
                </a:lnTo>
                <a:close/>
              </a:path>
            </a:pathLst>
          </a:custGeom>
          <a:ln w="248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38504" y="4769616"/>
            <a:ext cx="335915" cy="0"/>
          </a:xfrm>
          <a:custGeom>
            <a:avLst/>
            <a:gdLst/>
            <a:ahLst/>
            <a:cxnLst/>
            <a:rect l="l" t="t" r="r" b="b"/>
            <a:pathLst>
              <a:path w="335915">
                <a:moveTo>
                  <a:pt x="0" y="0"/>
                </a:moveTo>
                <a:lnTo>
                  <a:pt x="335800" y="0"/>
                </a:lnTo>
              </a:path>
            </a:pathLst>
          </a:custGeom>
          <a:ln w="24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45427" y="4769616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>
                <a:moveTo>
                  <a:pt x="0" y="0"/>
                </a:moveTo>
                <a:lnTo>
                  <a:pt x="350735" y="0"/>
                </a:lnTo>
                <a:lnTo>
                  <a:pt x="0" y="0"/>
                </a:lnTo>
                <a:close/>
              </a:path>
            </a:pathLst>
          </a:custGeom>
          <a:ln w="24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71167" y="4708387"/>
            <a:ext cx="130851" cy="1224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32599" y="4708387"/>
            <a:ext cx="130814" cy="1224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39889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90575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41261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91996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42608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93344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44079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94691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457" y="5402121"/>
            <a:ext cx="130863" cy="1224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25143" y="5402121"/>
            <a:ext cx="130863" cy="12245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75854" y="5402121"/>
            <a:ext cx="130814" cy="12245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26589" y="5402121"/>
            <a:ext cx="130814" cy="12245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77202" y="5402121"/>
            <a:ext cx="130936" cy="1224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627937" y="5402121"/>
            <a:ext cx="130814" cy="12245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78549" y="5402121"/>
            <a:ext cx="130936" cy="12245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29284" y="5402121"/>
            <a:ext cx="130936" cy="1224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15232" y="3906843"/>
            <a:ext cx="0" cy="202565"/>
          </a:xfrm>
          <a:custGeom>
            <a:avLst/>
            <a:gdLst/>
            <a:ahLst/>
            <a:cxnLst/>
            <a:rect l="l" t="t" r="r" b="b"/>
            <a:pathLst>
              <a:path h="202564">
                <a:moveTo>
                  <a:pt x="0" y="0"/>
                </a:moveTo>
                <a:lnTo>
                  <a:pt x="0" y="202377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816567" y="3906843"/>
            <a:ext cx="0" cy="202565"/>
          </a:xfrm>
          <a:custGeom>
            <a:avLst/>
            <a:gdLst/>
            <a:ahLst/>
            <a:cxnLst/>
            <a:rect l="l" t="t" r="r" b="b"/>
            <a:pathLst>
              <a:path h="202564">
                <a:moveTo>
                  <a:pt x="0" y="0"/>
                </a:moveTo>
                <a:lnTo>
                  <a:pt x="0" y="202377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18038" y="3906843"/>
            <a:ext cx="0" cy="202565"/>
          </a:xfrm>
          <a:custGeom>
            <a:avLst/>
            <a:gdLst/>
            <a:ahLst/>
            <a:cxnLst/>
            <a:rect l="l" t="t" r="r" b="b"/>
            <a:pathLst>
              <a:path h="202564">
                <a:moveTo>
                  <a:pt x="0" y="0"/>
                </a:moveTo>
                <a:lnTo>
                  <a:pt x="0" y="202377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19385" y="3906843"/>
            <a:ext cx="0" cy="202565"/>
          </a:xfrm>
          <a:custGeom>
            <a:avLst/>
            <a:gdLst/>
            <a:ahLst/>
            <a:cxnLst/>
            <a:rect l="l" t="t" r="r" b="b"/>
            <a:pathLst>
              <a:path h="202564">
                <a:moveTo>
                  <a:pt x="0" y="0"/>
                </a:moveTo>
                <a:lnTo>
                  <a:pt x="0" y="202377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062627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10" h="97154">
                <a:moveTo>
                  <a:pt x="52604" y="0"/>
                </a:moveTo>
                <a:lnTo>
                  <a:pt x="32129" y="3797"/>
                </a:lnTo>
                <a:lnTo>
                  <a:pt x="15408" y="14157"/>
                </a:lnTo>
                <a:lnTo>
                  <a:pt x="4134" y="29533"/>
                </a:lnTo>
                <a:lnTo>
                  <a:pt x="0" y="48378"/>
                </a:lnTo>
                <a:lnTo>
                  <a:pt x="4134" y="67222"/>
                </a:lnTo>
                <a:lnTo>
                  <a:pt x="15408" y="82598"/>
                </a:lnTo>
                <a:lnTo>
                  <a:pt x="32129" y="92959"/>
                </a:lnTo>
                <a:lnTo>
                  <a:pt x="52604" y="96756"/>
                </a:lnTo>
                <a:lnTo>
                  <a:pt x="73078" y="92959"/>
                </a:lnTo>
                <a:lnTo>
                  <a:pt x="89799" y="82598"/>
                </a:lnTo>
                <a:lnTo>
                  <a:pt x="101073" y="67222"/>
                </a:lnTo>
                <a:lnTo>
                  <a:pt x="105208" y="48378"/>
                </a:lnTo>
                <a:lnTo>
                  <a:pt x="101073" y="29533"/>
                </a:lnTo>
                <a:lnTo>
                  <a:pt x="89799" y="14157"/>
                </a:lnTo>
                <a:lnTo>
                  <a:pt x="73078" y="3797"/>
                </a:lnTo>
                <a:lnTo>
                  <a:pt x="526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062627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10" h="97154">
                <a:moveTo>
                  <a:pt x="105208" y="48378"/>
                </a:moveTo>
                <a:lnTo>
                  <a:pt x="101073" y="29533"/>
                </a:lnTo>
                <a:lnTo>
                  <a:pt x="89799" y="14157"/>
                </a:lnTo>
                <a:lnTo>
                  <a:pt x="73078" y="3797"/>
                </a:lnTo>
                <a:lnTo>
                  <a:pt x="52604" y="0"/>
                </a:lnTo>
                <a:lnTo>
                  <a:pt x="32129" y="3797"/>
                </a:lnTo>
                <a:lnTo>
                  <a:pt x="15408" y="14157"/>
                </a:lnTo>
                <a:lnTo>
                  <a:pt x="4134" y="29533"/>
                </a:lnTo>
                <a:lnTo>
                  <a:pt x="0" y="48378"/>
                </a:lnTo>
                <a:lnTo>
                  <a:pt x="4134" y="67222"/>
                </a:lnTo>
                <a:lnTo>
                  <a:pt x="15408" y="82598"/>
                </a:lnTo>
                <a:lnTo>
                  <a:pt x="32129" y="92959"/>
                </a:lnTo>
                <a:lnTo>
                  <a:pt x="52604" y="96756"/>
                </a:lnTo>
                <a:lnTo>
                  <a:pt x="73078" y="92959"/>
                </a:lnTo>
                <a:lnTo>
                  <a:pt x="89799" y="82598"/>
                </a:lnTo>
                <a:lnTo>
                  <a:pt x="101073" y="67222"/>
                </a:lnTo>
                <a:lnTo>
                  <a:pt x="105208" y="48378"/>
                </a:lnTo>
                <a:close/>
              </a:path>
            </a:pathLst>
          </a:custGeom>
          <a:ln w="255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763987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10" h="97154">
                <a:moveTo>
                  <a:pt x="52579" y="0"/>
                </a:moveTo>
                <a:lnTo>
                  <a:pt x="32150" y="3797"/>
                </a:lnTo>
                <a:lnTo>
                  <a:pt x="15433" y="14157"/>
                </a:lnTo>
                <a:lnTo>
                  <a:pt x="4144" y="29533"/>
                </a:lnTo>
                <a:lnTo>
                  <a:pt x="0" y="48378"/>
                </a:lnTo>
                <a:lnTo>
                  <a:pt x="4144" y="67222"/>
                </a:lnTo>
                <a:lnTo>
                  <a:pt x="15433" y="82598"/>
                </a:lnTo>
                <a:lnTo>
                  <a:pt x="32150" y="92959"/>
                </a:lnTo>
                <a:lnTo>
                  <a:pt x="52579" y="96756"/>
                </a:lnTo>
                <a:lnTo>
                  <a:pt x="73079" y="92959"/>
                </a:lnTo>
                <a:lnTo>
                  <a:pt x="89833" y="82598"/>
                </a:lnTo>
                <a:lnTo>
                  <a:pt x="101136" y="67222"/>
                </a:lnTo>
                <a:lnTo>
                  <a:pt x="105282" y="48378"/>
                </a:lnTo>
                <a:lnTo>
                  <a:pt x="101136" y="29533"/>
                </a:lnTo>
                <a:lnTo>
                  <a:pt x="89833" y="14157"/>
                </a:lnTo>
                <a:lnTo>
                  <a:pt x="73079" y="3797"/>
                </a:lnTo>
                <a:lnTo>
                  <a:pt x="525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763987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10" h="97154">
                <a:moveTo>
                  <a:pt x="105282" y="48378"/>
                </a:moveTo>
                <a:lnTo>
                  <a:pt x="101136" y="29533"/>
                </a:lnTo>
                <a:lnTo>
                  <a:pt x="89833" y="14157"/>
                </a:lnTo>
                <a:lnTo>
                  <a:pt x="73079" y="3797"/>
                </a:lnTo>
                <a:lnTo>
                  <a:pt x="52579" y="0"/>
                </a:lnTo>
                <a:lnTo>
                  <a:pt x="32150" y="3797"/>
                </a:lnTo>
                <a:lnTo>
                  <a:pt x="15433" y="14157"/>
                </a:lnTo>
                <a:lnTo>
                  <a:pt x="4144" y="29533"/>
                </a:lnTo>
                <a:lnTo>
                  <a:pt x="0" y="48378"/>
                </a:lnTo>
                <a:lnTo>
                  <a:pt x="4144" y="67222"/>
                </a:lnTo>
                <a:lnTo>
                  <a:pt x="15433" y="82598"/>
                </a:lnTo>
                <a:lnTo>
                  <a:pt x="32150" y="92959"/>
                </a:lnTo>
                <a:lnTo>
                  <a:pt x="52579" y="96756"/>
                </a:lnTo>
                <a:lnTo>
                  <a:pt x="73079" y="92959"/>
                </a:lnTo>
                <a:lnTo>
                  <a:pt x="89833" y="82598"/>
                </a:lnTo>
                <a:lnTo>
                  <a:pt x="101136" y="67222"/>
                </a:lnTo>
                <a:lnTo>
                  <a:pt x="105282" y="48378"/>
                </a:lnTo>
                <a:close/>
              </a:path>
            </a:pathLst>
          </a:custGeom>
          <a:ln w="255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65334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10" h="97154">
                <a:moveTo>
                  <a:pt x="52703" y="0"/>
                </a:moveTo>
                <a:lnTo>
                  <a:pt x="32202" y="3797"/>
                </a:lnTo>
                <a:lnTo>
                  <a:pt x="15449" y="14157"/>
                </a:lnTo>
                <a:lnTo>
                  <a:pt x="4146" y="29533"/>
                </a:lnTo>
                <a:lnTo>
                  <a:pt x="0" y="48378"/>
                </a:lnTo>
                <a:lnTo>
                  <a:pt x="4146" y="67222"/>
                </a:lnTo>
                <a:lnTo>
                  <a:pt x="15449" y="82598"/>
                </a:lnTo>
                <a:lnTo>
                  <a:pt x="32202" y="92959"/>
                </a:lnTo>
                <a:lnTo>
                  <a:pt x="52703" y="96756"/>
                </a:lnTo>
                <a:lnTo>
                  <a:pt x="73183" y="92959"/>
                </a:lnTo>
                <a:lnTo>
                  <a:pt x="89895" y="82598"/>
                </a:lnTo>
                <a:lnTo>
                  <a:pt x="101155" y="67222"/>
                </a:lnTo>
                <a:lnTo>
                  <a:pt x="105282" y="48378"/>
                </a:lnTo>
                <a:lnTo>
                  <a:pt x="101155" y="29533"/>
                </a:lnTo>
                <a:lnTo>
                  <a:pt x="89895" y="14157"/>
                </a:lnTo>
                <a:lnTo>
                  <a:pt x="73183" y="3797"/>
                </a:lnTo>
                <a:lnTo>
                  <a:pt x="527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65334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10" h="97154">
                <a:moveTo>
                  <a:pt x="105282" y="48378"/>
                </a:moveTo>
                <a:lnTo>
                  <a:pt x="101155" y="29533"/>
                </a:lnTo>
                <a:lnTo>
                  <a:pt x="89895" y="14157"/>
                </a:lnTo>
                <a:lnTo>
                  <a:pt x="73183" y="3797"/>
                </a:lnTo>
                <a:lnTo>
                  <a:pt x="52703" y="0"/>
                </a:lnTo>
                <a:lnTo>
                  <a:pt x="32202" y="3797"/>
                </a:lnTo>
                <a:lnTo>
                  <a:pt x="15449" y="14157"/>
                </a:lnTo>
                <a:lnTo>
                  <a:pt x="4146" y="29533"/>
                </a:lnTo>
                <a:lnTo>
                  <a:pt x="0" y="48378"/>
                </a:lnTo>
                <a:lnTo>
                  <a:pt x="4146" y="67222"/>
                </a:lnTo>
                <a:lnTo>
                  <a:pt x="15449" y="82598"/>
                </a:lnTo>
                <a:lnTo>
                  <a:pt x="32202" y="92959"/>
                </a:lnTo>
                <a:lnTo>
                  <a:pt x="52703" y="96756"/>
                </a:lnTo>
                <a:lnTo>
                  <a:pt x="73183" y="92959"/>
                </a:lnTo>
                <a:lnTo>
                  <a:pt x="89895" y="82598"/>
                </a:lnTo>
                <a:lnTo>
                  <a:pt x="101155" y="67222"/>
                </a:lnTo>
                <a:lnTo>
                  <a:pt x="105282" y="48378"/>
                </a:lnTo>
                <a:close/>
              </a:path>
            </a:pathLst>
          </a:custGeom>
          <a:ln w="255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166806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10" h="97154">
                <a:moveTo>
                  <a:pt x="52579" y="0"/>
                </a:moveTo>
                <a:lnTo>
                  <a:pt x="32098" y="3797"/>
                </a:lnTo>
                <a:lnTo>
                  <a:pt x="15387" y="14157"/>
                </a:lnTo>
                <a:lnTo>
                  <a:pt x="4127" y="29533"/>
                </a:lnTo>
                <a:lnTo>
                  <a:pt x="0" y="48378"/>
                </a:lnTo>
                <a:lnTo>
                  <a:pt x="4127" y="67222"/>
                </a:lnTo>
                <a:lnTo>
                  <a:pt x="15387" y="82598"/>
                </a:lnTo>
                <a:lnTo>
                  <a:pt x="32098" y="92959"/>
                </a:lnTo>
                <a:lnTo>
                  <a:pt x="52579" y="96756"/>
                </a:lnTo>
                <a:lnTo>
                  <a:pt x="73060" y="92959"/>
                </a:lnTo>
                <a:lnTo>
                  <a:pt x="89771" y="82598"/>
                </a:lnTo>
                <a:lnTo>
                  <a:pt x="101031" y="67222"/>
                </a:lnTo>
                <a:lnTo>
                  <a:pt x="105158" y="48378"/>
                </a:lnTo>
                <a:lnTo>
                  <a:pt x="101031" y="29533"/>
                </a:lnTo>
                <a:lnTo>
                  <a:pt x="89771" y="14157"/>
                </a:lnTo>
                <a:lnTo>
                  <a:pt x="73060" y="3797"/>
                </a:lnTo>
                <a:lnTo>
                  <a:pt x="525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166806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10" h="97154">
                <a:moveTo>
                  <a:pt x="105158" y="48378"/>
                </a:moveTo>
                <a:lnTo>
                  <a:pt x="101031" y="29533"/>
                </a:lnTo>
                <a:lnTo>
                  <a:pt x="89771" y="14157"/>
                </a:lnTo>
                <a:lnTo>
                  <a:pt x="73060" y="3797"/>
                </a:lnTo>
                <a:lnTo>
                  <a:pt x="52579" y="0"/>
                </a:lnTo>
                <a:lnTo>
                  <a:pt x="32098" y="3797"/>
                </a:lnTo>
                <a:lnTo>
                  <a:pt x="15387" y="14157"/>
                </a:lnTo>
                <a:lnTo>
                  <a:pt x="4127" y="29533"/>
                </a:lnTo>
                <a:lnTo>
                  <a:pt x="0" y="48378"/>
                </a:lnTo>
                <a:lnTo>
                  <a:pt x="4127" y="67222"/>
                </a:lnTo>
                <a:lnTo>
                  <a:pt x="15387" y="82598"/>
                </a:lnTo>
                <a:lnTo>
                  <a:pt x="32098" y="92959"/>
                </a:lnTo>
                <a:lnTo>
                  <a:pt x="52579" y="96756"/>
                </a:lnTo>
                <a:lnTo>
                  <a:pt x="73060" y="92959"/>
                </a:lnTo>
                <a:lnTo>
                  <a:pt x="89771" y="82598"/>
                </a:lnTo>
                <a:lnTo>
                  <a:pt x="101031" y="67222"/>
                </a:lnTo>
                <a:lnTo>
                  <a:pt x="105158" y="48378"/>
                </a:lnTo>
                <a:close/>
              </a:path>
            </a:pathLst>
          </a:custGeom>
          <a:ln w="25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686543" y="4207900"/>
            <a:ext cx="3026410" cy="121983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"/>
              </a:spcBef>
              <a:tabLst>
                <a:tab pos="723900" algn="l"/>
                <a:tab pos="1442720" algn="l"/>
                <a:tab pos="2127250" algn="l"/>
              </a:tabLst>
            </a:pPr>
            <a:r>
              <a:rPr sz="2700" spc="127" baseline="7716" dirty="0">
                <a:latin typeface="Times New Roman"/>
                <a:cs typeface="Times New Roman"/>
              </a:rPr>
              <a:t>Y</a:t>
            </a:r>
            <a:r>
              <a:rPr sz="1150" spc="85" dirty="0">
                <a:latin typeface="Times New Roman"/>
                <a:cs typeface="Times New Roman"/>
              </a:rPr>
              <a:t>EX	</a:t>
            </a:r>
            <a:r>
              <a:rPr sz="2700" spc="120" baseline="7716" dirty="0">
                <a:latin typeface="Times New Roman"/>
                <a:cs typeface="Times New Roman"/>
              </a:rPr>
              <a:t>Y</a:t>
            </a:r>
            <a:r>
              <a:rPr sz="1150" spc="80" dirty="0">
                <a:latin typeface="Times New Roman"/>
                <a:cs typeface="Times New Roman"/>
              </a:rPr>
              <a:t>2	</a:t>
            </a:r>
            <a:r>
              <a:rPr sz="2700" spc="120" baseline="7716" dirty="0">
                <a:latin typeface="Times New Roman"/>
                <a:cs typeface="Times New Roman"/>
              </a:rPr>
              <a:t>Y</a:t>
            </a:r>
            <a:r>
              <a:rPr sz="1150" spc="80" dirty="0">
                <a:latin typeface="Times New Roman"/>
                <a:cs typeface="Times New Roman"/>
              </a:rPr>
              <a:t>1	</a:t>
            </a:r>
            <a:r>
              <a:rPr sz="2700" spc="120" baseline="7716" dirty="0">
                <a:latin typeface="Times New Roman"/>
                <a:cs typeface="Times New Roman"/>
              </a:rPr>
              <a:t>Y</a:t>
            </a:r>
            <a:r>
              <a:rPr sz="1150" spc="80" dirty="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45"/>
              </a:spcBef>
              <a:tabLst>
                <a:tab pos="1003935" algn="l"/>
                <a:tab pos="2757170" algn="l"/>
              </a:tabLst>
            </a:pPr>
            <a:r>
              <a:rPr sz="1800" spc="80" dirty="0">
                <a:latin typeface="Times New Roman"/>
                <a:cs typeface="Times New Roman"/>
              </a:rPr>
              <a:t>S	</a:t>
            </a:r>
            <a:r>
              <a:rPr sz="2400" b="1" spc="127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74L</a:t>
            </a:r>
            <a:r>
              <a:rPr sz="2400" b="1" spc="120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400" b="1" spc="112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148</a:t>
            </a:r>
            <a:r>
              <a:rPr sz="2400" b="1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spc="105" dirty="0">
                <a:latin typeface="Times New Roman"/>
                <a:cs typeface="Times New Roman"/>
              </a:rPr>
              <a:t>Y</a:t>
            </a:r>
            <a:r>
              <a:rPr sz="1725" spc="89" baseline="-12077" dirty="0">
                <a:latin typeface="Times New Roman"/>
                <a:cs typeface="Times New Roman"/>
              </a:rPr>
              <a:t>S</a:t>
            </a:r>
            <a:endParaRPr sz="1725" baseline="-12077">
              <a:latin typeface="Times New Roman"/>
              <a:cs typeface="Times New Roman"/>
            </a:endParaRPr>
          </a:p>
          <a:p>
            <a:pPr marR="40005" algn="ctr">
              <a:lnSpc>
                <a:spcPct val="100000"/>
              </a:lnSpc>
              <a:spcBef>
                <a:spcPts val="1775"/>
              </a:spcBef>
              <a:tabLst>
                <a:tab pos="350520" algn="l"/>
                <a:tab pos="701040" algn="l"/>
                <a:tab pos="1051560" algn="l"/>
                <a:tab pos="1402715" algn="l"/>
                <a:tab pos="1753235" algn="l"/>
                <a:tab pos="2103755" algn="l"/>
                <a:tab pos="2454275" algn="l"/>
              </a:tabLst>
            </a:pP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7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6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5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4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3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2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1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0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042962" y="4124216"/>
            <a:ext cx="3156585" cy="1290955"/>
          </a:xfrm>
          <a:custGeom>
            <a:avLst/>
            <a:gdLst/>
            <a:ahLst/>
            <a:cxnLst/>
            <a:rect l="l" t="t" r="r" b="b"/>
            <a:pathLst>
              <a:path w="3156584" h="1290954">
                <a:moveTo>
                  <a:pt x="0" y="1290732"/>
                </a:moveTo>
                <a:lnTo>
                  <a:pt x="3156248" y="1290732"/>
                </a:lnTo>
                <a:lnTo>
                  <a:pt x="3156248" y="0"/>
                </a:lnTo>
                <a:lnTo>
                  <a:pt x="0" y="0"/>
                </a:lnTo>
                <a:lnTo>
                  <a:pt x="0" y="1290732"/>
                </a:lnTo>
                <a:close/>
              </a:path>
            </a:pathLst>
          </a:custGeom>
          <a:ln w="248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92351" y="4769616"/>
            <a:ext cx="340360" cy="0"/>
          </a:xfrm>
          <a:custGeom>
            <a:avLst/>
            <a:gdLst/>
            <a:ahLst/>
            <a:cxnLst/>
            <a:rect l="l" t="t" r="r" b="b"/>
            <a:pathLst>
              <a:path w="340360">
                <a:moveTo>
                  <a:pt x="0" y="0"/>
                </a:moveTo>
                <a:lnTo>
                  <a:pt x="340042" y="0"/>
                </a:lnTo>
              </a:path>
            </a:pathLst>
          </a:custGeom>
          <a:ln w="24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199212" y="4769616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>
                <a:moveTo>
                  <a:pt x="0" y="0"/>
                </a:moveTo>
                <a:lnTo>
                  <a:pt x="350735" y="0"/>
                </a:lnTo>
                <a:lnTo>
                  <a:pt x="0" y="0"/>
                </a:lnTo>
                <a:close/>
              </a:path>
            </a:pathLst>
          </a:custGeom>
          <a:ln w="245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924976" y="4708387"/>
            <a:ext cx="130814" cy="12245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186384" y="4708387"/>
            <a:ext cx="130814" cy="1224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393698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744310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095045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45781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796393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147129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497864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848476" y="5414948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76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328291" y="5402121"/>
            <a:ext cx="130814" cy="12245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678903" y="5402121"/>
            <a:ext cx="130936" cy="1224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029639" y="5402121"/>
            <a:ext cx="130814" cy="12245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380374" y="5402121"/>
            <a:ext cx="130814" cy="12245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730987" y="5402121"/>
            <a:ext cx="130936" cy="1224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081721" y="5402121"/>
            <a:ext cx="130814" cy="12245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432334" y="5402121"/>
            <a:ext cx="130936" cy="1224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783069" y="5402121"/>
            <a:ext cx="130936" cy="1224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569004" y="3906843"/>
            <a:ext cx="0" cy="202565"/>
          </a:xfrm>
          <a:custGeom>
            <a:avLst/>
            <a:gdLst/>
            <a:ahLst/>
            <a:cxnLst/>
            <a:rect l="l" t="t" r="r" b="b"/>
            <a:pathLst>
              <a:path h="202564">
                <a:moveTo>
                  <a:pt x="0" y="0"/>
                </a:moveTo>
                <a:lnTo>
                  <a:pt x="0" y="202377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270351" y="3906843"/>
            <a:ext cx="0" cy="202565"/>
          </a:xfrm>
          <a:custGeom>
            <a:avLst/>
            <a:gdLst/>
            <a:ahLst/>
            <a:cxnLst/>
            <a:rect l="l" t="t" r="r" b="b"/>
            <a:pathLst>
              <a:path h="202564">
                <a:moveTo>
                  <a:pt x="0" y="0"/>
                </a:moveTo>
                <a:lnTo>
                  <a:pt x="0" y="202377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971822" y="3906843"/>
            <a:ext cx="0" cy="202565"/>
          </a:xfrm>
          <a:custGeom>
            <a:avLst/>
            <a:gdLst/>
            <a:ahLst/>
            <a:cxnLst/>
            <a:rect l="l" t="t" r="r" b="b"/>
            <a:pathLst>
              <a:path h="202564">
                <a:moveTo>
                  <a:pt x="0" y="0"/>
                </a:moveTo>
                <a:lnTo>
                  <a:pt x="0" y="202377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673170" y="3906843"/>
            <a:ext cx="0" cy="202565"/>
          </a:xfrm>
          <a:custGeom>
            <a:avLst/>
            <a:gdLst/>
            <a:ahLst/>
            <a:cxnLst/>
            <a:rect l="l" t="t" r="r" b="b"/>
            <a:pathLst>
              <a:path h="202564">
                <a:moveTo>
                  <a:pt x="0" y="0"/>
                </a:moveTo>
                <a:lnTo>
                  <a:pt x="0" y="202377"/>
                </a:lnTo>
              </a:path>
            </a:pathLst>
          </a:custGeom>
          <a:ln w="267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516424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09" h="97154">
                <a:moveTo>
                  <a:pt x="52579" y="0"/>
                </a:moveTo>
                <a:lnTo>
                  <a:pt x="32098" y="3797"/>
                </a:lnTo>
                <a:lnTo>
                  <a:pt x="15387" y="14157"/>
                </a:lnTo>
                <a:lnTo>
                  <a:pt x="4127" y="29533"/>
                </a:lnTo>
                <a:lnTo>
                  <a:pt x="0" y="48378"/>
                </a:lnTo>
                <a:lnTo>
                  <a:pt x="4127" y="67222"/>
                </a:lnTo>
                <a:lnTo>
                  <a:pt x="15387" y="82598"/>
                </a:lnTo>
                <a:lnTo>
                  <a:pt x="32098" y="92959"/>
                </a:lnTo>
                <a:lnTo>
                  <a:pt x="52579" y="96756"/>
                </a:lnTo>
                <a:lnTo>
                  <a:pt x="73060" y="92959"/>
                </a:lnTo>
                <a:lnTo>
                  <a:pt x="89771" y="82598"/>
                </a:lnTo>
                <a:lnTo>
                  <a:pt x="101031" y="67222"/>
                </a:lnTo>
                <a:lnTo>
                  <a:pt x="105158" y="48378"/>
                </a:lnTo>
                <a:lnTo>
                  <a:pt x="101031" y="29533"/>
                </a:lnTo>
                <a:lnTo>
                  <a:pt x="89771" y="14157"/>
                </a:lnTo>
                <a:lnTo>
                  <a:pt x="73060" y="3797"/>
                </a:lnTo>
                <a:lnTo>
                  <a:pt x="525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516424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09" h="97154">
                <a:moveTo>
                  <a:pt x="105158" y="48378"/>
                </a:moveTo>
                <a:lnTo>
                  <a:pt x="101031" y="29533"/>
                </a:lnTo>
                <a:lnTo>
                  <a:pt x="89771" y="14157"/>
                </a:lnTo>
                <a:lnTo>
                  <a:pt x="73060" y="3797"/>
                </a:lnTo>
                <a:lnTo>
                  <a:pt x="52579" y="0"/>
                </a:lnTo>
                <a:lnTo>
                  <a:pt x="32098" y="3797"/>
                </a:lnTo>
                <a:lnTo>
                  <a:pt x="15387" y="14157"/>
                </a:lnTo>
                <a:lnTo>
                  <a:pt x="4127" y="29533"/>
                </a:lnTo>
                <a:lnTo>
                  <a:pt x="0" y="48378"/>
                </a:lnTo>
                <a:lnTo>
                  <a:pt x="4127" y="67222"/>
                </a:lnTo>
                <a:lnTo>
                  <a:pt x="15387" y="82598"/>
                </a:lnTo>
                <a:lnTo>
                  <a:pt x="32098" y="92959"/>
                </a:lnTo>
                <a:lnTo>
                  <a:pt x="52579" y="96756"/>
                </a:lnTo>
                <a:lnTo>
                  <a:pt x="73060" y="92959"/>
                </a:lnTo>
                <a:lnTo>
                  <a:pt x="89771" y="82598"/>
                </a:lnTo>
                <a:lnTo>
                  <a:pt x="101031" y="67222"/>
                </a:lnTo>
                <a:lnTo>
                  <a:pt x="105158" y="48378"/>
                </a:lnTo>
                <a:close/>
              </a:path>
            </a:pathLst>
          </a:custGeom>
          <a:ln w="25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217772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09" h="97154">
                <a:moveTo>
                  <a:pt x="52579" y="0"/>
                </a:moveTo>
                <a:lnTo>
                  <a:pt x="32150" y="3797"/>
                </a:lnTo>
                <a:lnTo>
                  <a:pt x="15433" y="14157"/>
                </a:lnTo>
                <a:lnTo>
                  <a:pt x="4144" y="29533"/>
                </a:lnTo>
                <a:lnTo>
                  <a:pt x="0" y="48378"/>
                </a:lnTo>
                <a:lnTo>
                  <a:pt x="4144" y="67222"/>
                </a:lnTo>
                <a:lnTo>
                  <a:pt x="15433" y="82598"/>
                </a:lnTo>
                <a:lnTo>
                  <a:pt x="32150" y="92959"/>
                </a:lnTo>
                <a:lnTo>
                  <a:pt x="52579" y="96756"/>
                </a:lnTo>
                <a:lnTo>
                  <a:pt x="73079" y="92959"/>
                </a:lnTo>
                <a:lnTo>
                  <a:pt x="89833" y="82598"/>
                </a:lnTo>
                <a:lnTo>
                  <a:pt x="101136" y="67222"/>
                </a:lnTo>
                <a:lnTo>
                  <a:pt x="105282" y="48378"/>
                </a:lnTo>
                <a:lnTo>
                  <a:pt x="101136" y="29533"/>
                </a:lnTo>
                <a:lnTo>
                  <a:pt x="89833" y="14157"/>
                </a:lnTo>
                <a:lnTo>
                  <a:pt x="73079" y="3797"/>
                </a:lnTo>
                <a:lnTo>
                  <a:pt x="525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217772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09" h="97154">
                <a:moveTo>
                  <a:pt x="105282" y="48378"/>
                </a:moveTo>
                <a:lnTo>
                  <a:pt x="101136" y="29533"/>
                </a:lnTo>
                <a:lnTo>
                  <a:pt x="89833" y="14157"/>
                </a:lnTo>
                <a:lnTo>
                  <a:pt x="73079" y="3797"/>
                </a:lnTo>
                <a:lnTo>
                  <a:pt x="52579" y="0"/>
                </a:lnTo>
                <a:lnTo>
                  <a:pt x="32150" y="3797"/>
                </a:lnTo>
                <a:lnTo>
                  <a:pt x="15433" y="14157"/>
                </a:lnTo>
                <a:lnTo>
                  <a:pt x="4144" y="29533"/>
                </a:lnTo>
                <a:lnTo>
                  <a:pt x="0" y="48378"/>
                </a:lnTo>
                <a:lnTo>
                  <a:pt x="4144" y="67222"/>
                </a:lnTo>
                <a:lnTo>
                  <a:pt x="15433" y="82598"/>
                </a:lnTo>
                <a:lnTo>
                  <a:pt x="32150" y="92959"/>
                </a:lnTo>
                <a:lnTo>
                  <a:pt x="52579" y="96756"/>
                </a:lnTo>
                <a:lnTo>
                  <a:pt x="73079" y="92959"/>
                </a:lnTo>
                <a:lnTo>
                  <a:pt x="89833" y="82598"/>
                </a:lnTo>
                <a:lnTo>
                  <a:pt x="101136" y="67222"/>
                </a:lnTo>
                <a:lnTo>
                  <a:pt x="105282" y="48378"/>
                </a:lnTo>
                <a:close/>
              </a:path>
            </a:pathLst>
          </a:custGeom>
          <a:ln w="255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919243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09" h="97154">
                <a:moveTo>
                  <a:pt x="52579" y="0"/>
                </a:moveTo>
                <a:lnTo>
                  <a:pt x="32098" y="3797"/>
                </a:lnTo>
                <a:lnTo>
                  <a:pt x="15387" y="14157"/>
                </a:lnTo>
                <a:lnTo>
                  <a:pt x="4127" y="29533"/>
                </a:lnTo>
                <a:lnTo>
                  <a:pt x="0" y="48378"/>
                </a:lnTo>
                <a:lnTo>
                  <a:pt x="4127" y="67222"/>
                </a:lnTo>
                <a:lnTo>
                  <a:pt x="15387" y="82598"/>
                </a:lnTo>
                <a:lnTo>
                  <a:pt x="32098" y="92959"/>
                </a:lnTo>
                <a:lnTo>
                  <a:pt x="52579" y="96756"/>
                </a:lnTo>
                <a:lnTo>
                  <a:pt x="73060" y="92959"/>
                </a:lnTo>
                <a:lnTo>
                  <a:pt x="89771" y="82598"/>
                </a:lnTo>
                <a:lnTo>
                  <a:pt x="101031" y="67222"/>
                </a:lnTo>
                <a:lnTo>
                  <a:pt x="105158" y="48378"/>
                </a:lnTo>
                <a:lnTo>
                  <a:pt x="101031" y="29533"/>
                </a:lnTo>
                <a:lnTo>
                  <a:pt x="89771" y="14157"/>
                </a:lnTo>
                <a:lnTo>
                  <a:pt x="73060" y="3797"/>
                </a:lnTo>
                <a:lnTo>
                  <a:pt x="525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919243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09" h="97154">
                <a:moveTo>
                  <a:pt x="105158" y="48378"/>
                </a:moveTo>
                <a:lnTo>
                  <a:pt x="101031" y="29533"/>
                </a:lnTo>
                <a:lnTo>
                  <a:pt x="89771" y="14157"/>
                </a:lnTo>
                <a:lnTo>
                  <a:pt x="73060" y="3797"/>
                </a:lnTo>
                <a:lnTo>
                  <a:pt x="52579" y="0"/>
                </a:lnTo>
                <a:lnTo>
                  <a:pt x="32098" y="3797"/>
                </a:lnTo>
                <a:lnTo>
                  <a:pt x="15387" y="14157"/>
                </a:lnTo>
                <a:lnTo>
                  <a:pt x="4127" y="29533"/>
                </a:lnTo>
                <a:lnTo>
                  <a:pt x="0" y="48378"/>
                </a:lnTo>
                <a:lnTo>
                  <a:pt x="4127" y="67222"/>
                </a:lnTo>
                <a:lnTo>
                  <a:pt x="15387" y="82598"/>
                </a:lnTo>
                <a:lnTo>
                  <a:pt x="32098" y="92959"/>
                </a:lnTo>
                <a:lnTo>
                  <a:pt x="52579" y="96756"/>
                </a:lnTo>
                <a:lnTo>
                  <a:pt x="73060" y="92959"/>
                </a:lnTo>
                <a:lnTo>
                  <a:pt x="89771" y="82598"/>
                </a:lnTo>
                <a:lnTo>
                  <a:pt x="101031" y="67222"/>
                </a:lnTo>
                <a:lnTo>
                  <a:pt x="105158" y="48378"/>
                </a:lnTo>
                <a:close/>
              </a:path>
            </a:pathLst>
          </a:custGeom>
          <a:ln w="25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620590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09" h="97154">
                <a:moveTo>
                  <a:pt x="52579" y="0"/>
                </a:moveTo>
                <a:lnTo>
                  <a:pt x="32098" y="3797"/>
                </a:lnTo>
                <a:lnTo>
                  <a:pt x="15387" y="14157"/>
                </a:lnTo>
                <a:lnTo>
                  <a:pt x="4127" y="29533"/>
                </a:lnTo>
                <a:lnTo>
                  <a:pt x="0" y="48378"/>
                </a:lnTo>
                <a:lnTo>
                  <a:pt x="4127" y="67222"/>
                </a:lnTo>
                <a:lnTo>
                  <a:pt x="15387" y="82598"/>
                </a:lnTo>
                <a:lnTo>
                  <a:pt x="32098" y="92959"/>
                </a:lnTo>
                <a:lnTo>
                  <a:pt x="52579" y="96756"/>
                </a:lnTo>
                <a:lnTo>
                  <a:pt x="73060" y="92959"/>
                </a:lnTo>
                <a:lnTo>
                  <a:pt x="89771" y="82598"/>
                </a:lnTo>
                <a:lnTo>
                  <a:pt x="101031" y="67222"/>
                </a:lnTo>
                <a:lnTo>
                  <a:pt x="105158" y="48378"/>
                </a:lnTo>
                <a:lnTo>
                  <a:pt x="101031" y="29533"/>
                </a:lnTo>
                <a:lnTo>
                  <a:pt x="89771" y="14157"/>
                </a:lnTo>
                <a:lnTo>
                  <a:pt x="73060" y="3797"/>
                </a:lnTo>
                <a:lnTo>
                  <a:pt x="525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620590" y="4027504"/>
            <a:ext cx="105410" cy="97155"/>
          </a:xfrm>
          <a:custGeom>
            <a:avLst/>
            <a:gdLst/>
            <a:ahLst/>
            <a:cxnLst/>
            <a:rect l="l" t="t" r="r" b="b"/>
            <a:pathLst>
              <a:path w="105409" h="97154">
                <a:moveTo>
                  <a:pt x="105158" y="48378"/>
                </a:moveTo>
                <a:lnTo>
                  <a:pt x="101031" y="29533"/>
                </a:lnTo>
                <a:lnTo>
                  <a:pt x="89771" y="14157"/>
                </a:lnTo>
                <a:lnTo>
                  <a:pt x="73060" y="3797"/>
                </a:lnTo>
                <a:lnTo>
                  <a:pt x="52579" y="0"/>
                </a:lnTo>
                <a:lnTo>
                  <a:pt x="32098" y="3797"/>
                </a:lnTo>
                <a:lnTo>
                  <a:pt x="15387" y="14157"/>
                </a:lnTo>
                <a:lnTo>
                  <a:pt x="4127" y="29533"/>
                </a:lnTo>
                <a:lnTo>
                  <a:pt x="0" y="48378"/>
                </a:lnTo>
                <a:lnTo>
                  <a:pt x="4127" y="67222"/>
                </a:lnTo>
                <a:lnTo>
                  <a:pt x="15387" y="82598"/>
                </a:lnTo>
                <a:lnTo>
                  <a:pt x="32098" y="92959"/>
                </a:lnTo>
                <a:lnTo>
                  <a:pt x="52579" y="96756"/>
                </a:lnTo>
                <a:lnTo>
                  <a:pt x="73060" y="92959"/>
                </a:lnTo>
                <a:lnTo>
                  <a:pt x="89771" y="82598"/>
                </a:lnTo>
                <a:lnTo>
                  <a:pt x="101031" y="67222"/>
                </a:lnTo>
                <a:lnTo>
                  <a:pt x="105158" y="48378"/>
                </a:lnTo>
                <a:close/>
              </a:path>
            </a:pathLst>
          </a:custGeom>
          <a:ln w="255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140327" y="4207900"/>
            <a:ext cx="3026410" cy="121983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"/>
              </a:spcBef>
              <a:tabLst>
                <a:tab pos="723900" algn="l"/>
                <a:tab pos="1442720" algn="l"/>
                <a:tab pos="2126615" algn="l"/>
              </a:tabLst>
            </a:pPr>
            <a:r>
              <a:rPr sz="2700" spc="127" baseline="7716" dirty="0">
                <a:latin typeface="Times New Roman"/>
                <a:cs typeface="Times New Roman"/>
              </a:rPr>
              <a:t>Y</a:t>
            </a:r>
            <a:r>
              <a:rPr sz="1150" spc="85" dirty="0">
                <a:latin typeface="Times New Roman"/>
                <a:cs typeface="Times New Roman"/>
              </a:rPr>
              <a:t>EX	</a:t>
            </a:r>
            <a:r>
              <a:rPr sz="2700" spc="120" baseline="7716" dirty="0">
                <a:latin typeface="Times New Roman"/>
                <a:cs typeface="Times New Roman"/>
              </a:rPr>
              <a:t>Y</a:t>
            </a:r>
            <a:r>
              <a:rPr sz="1150" spc="80" dirty="0">
                <a:latin typeface="Times New Roman"/>
                <a:cs typeface="Times New Roman"/>
              </a:rPr>
              <a:t>2	</a:t>
            </a:r>
            <a:r>
              <a:rPr sz="2700" spc="120" baseline="7716" dirty="0">
                <a:latin typeface="Times New Roman"/>
                <a:cs typeface="Times New Roman"/>
              </a:rPr>
              <a:t>Y</a:t>
            </a:r>
            <a:r>
              <a:rPr sz="1150" spc="80" dirty="0">
                <a:latin typeface="Times New Roman"/>
                <a:cs typeface="Times New Roman"/>
              </a:rPr>
              <a:t>1	</a:t>
            </a:r>
            <a:r>
              <a:rPr sz="2700" spc="120" baseline="7716" dirty="0">
                <a:latin typeface="Times New Roman"/>
                <a:cs typeface="Times New Roman"/>
              </a:rPr>
              <a:t>Y</a:t>
            </a:r>
            <a:r>
              <a:rPr sz="1150" spc="80" dirty="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45"/>
              </a:spcBef>
              <a:tabLst>
                <a:tab pos="1003935" algn="l"/>
                <a:tab pos="2757170" algn="l"/>
              </a:tabLst>
            </a:pPr>
            <a:r>
              <a:rPr sz="1800" spc="80" dirty="0">
                <a:latin typeface="Times New Roman"/>
                <a:cs typeface="Times New Roman"/>
              </a:rPr>
              <a:t>S	</a:t>
            </a:r>
            <a:r>
              <a:rPr sz="2400" b="1" spc="127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74L</a:t>
            </a:r>
            <a:r>
              <a:rPr sz="2400" b="1" spc="120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400" b="1" spc="112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148</a:t>
            </a:r>
            <a:r>
              <a:rPr sz="2400" b="1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spc="105" dirty="0">
                <a:latin typeface="Times New Roman"/>
                <a:cs typeface="Times New Roman"/>
              </a:rPr>
              <a:t>Y</a:t>
            </a:r>
            <a:r>
              <a:rPr sz="1725" spc="89" baseline="-12077" dirty="0">
                <a:latin typeface="Times New Roman"/>
                <a:cs typeface="Times New Roman"/>
              </a:rPr>
              <a:t>S</a:t>
            </a:r>
            <a:endParaRPr sz="1725" baseline="-12077">
              <a:latin typeface="Times New Roman"/>
              <a:cs typeface="Times New Roman"/>
            </a:endParaRPr>
          </a:p>
          <a:p>
            <a:pPr marR="40005" algn="ctr">
              <a:lnSpc>
                <a:spcPct val="100000"/>
              </a:lnSpc>
              <a:spcBef>
                <a:spcPts val="1775"/>
              </a:spcBef>
              <a:tabLst>
                <a:tab pos="350520" algn="l"/>
                <a:tab pos="701040" algn="l"/>
                <a:tab pos="1051560" algn="l"/>
                <a:tab pos="1402715" algn="l"/>
                <a:tab pos="1753235" algn="l"/>
                <a:tab pos="2103755" algn="l"/>
                <a:tab pos="2454275" algn="l"/>
              </a:tabLst>
            </a:pP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7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6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5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4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3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2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1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0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574305" y="4117557"/>
            <a:ext cx="3159760" cy="1297305"/>
          </a:xfrm>
          <a:custGeom>
            <a:avLst/>
            <a:gdLst/>
            <a:ahLst/>
            <a:cxnLst/>
            <a:rect l="l" t="t" r="r" b="b"/>
            <a:pathLst>
              <a:path w="3159760" h="1297304">
                <a:moveTo>
                  <a:pt x="0" y="1296755"/>
                </a:moveTo>
                <a:lnTo>
                  <a:pt x="3159203" y="1296755"/>
                </a:lnTo>
                <a:lnTo>
                  <a:pt x="3159203" y="0"/>
                </a:lnTo>
                <a:lnTo>
                  <a:pt x="0" y="0"/>
                </a:lnTo>
                <a:lnTo>
                  <a:pt x="0" y="1296755"/>
                </a:lnTo>
                <a:close/>
              </a:path>
            </a:pathLst>
          </a:custGeom>
          <a:ln w="25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223680" y="4765969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5">
                <a:moveTo>
                  <a:pt x="0" y="0"/>
                </a:moveTo>
                <a:lnTo>
                  <a:pt x="350625" y="0"/>
                </a:lnTo>
                <a:lnTo>
                  <a:pt x="0" y="0"/>
                </a:lnTo>
                <a:close/>
              </a:path>
            </a:pathLst>
          </a:custGeom>
          <a:ln w="25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743731" y="4765969"/>
            <a:ext cx="340995" cy="0"/>
          </a:xfrm>
          <a:custGeom>
            <a:avLst/>
            <a:gdLst/>
            <a:ahLst/>
            <a:cxnLst/>
            <a:rect l="l" t="t" r="r" b="b"/>
            <a:pathLst>
              <a:path w="340995">
                <a:moveTo>
                  <a:pt x="0" y="0"/>
                </a:moveTo>
                <a:lnTo>
                  <a:pt x="340468" y="0"/>
                </a:lnTo>
              </a:path>
            </a:pathLst>
          </a:custGeom>
          <a:ln w="25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455722" y="4703657"/>
            <a:ext cx="131677" cy="12462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720431" y="4704801"/>
            <a:ext cx="131382" cy="12347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924934" y="5414313"/>
            <a:ext cx="0" cy="325120"/>
          </a:xfrm>
          <a:custGeom>
            <a:avLst/>
            <a:gdLst/>
            <a:ahLst/>
            <a:cxnLst/>
            <a:rect l="l" t="t" r="r" b="b"/>
            <a:pathLst>
              <a:path h="325120">
                <a:moveTo>
                  <a:pt x="0" y="0"/>
                </a:moveTo>
                <a:lnTo>
                  <a:pt x="0" y="324860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275860" y="5414313"/>
            <a:ext cx="0" cy="325120"/>
          </a:xfrm>
          <a:custGeom>
            <a:avLst/>
            <a:gdLst/>
            <a:ahLst/>
            <a:cxnLst/>
            <a:rect l="l" t="t" r="r" b="b"/>
            <a:pathLst>
              <a:path h="325120">
                <a:moveTo>
                  <a:pt x="0" y="0"/>
                </a:moveTo>
                <a:lnTo>
                  <a:pt x="0" y="324860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627716" y="5414313"/>
            <a:ext cx="0" cy="325120"/>
          </a:xfrm>
          <a:custGeom>
            <a:avLst/>
            <a:gdLst/>
            <a:ahLst/>
            <a:cxnLst/>
            <a:rect l="l" t="t" r="r" b="b"/>
            <a:pathLst>
              <a:path h="325120">
                <a:moveTo>
                  <a:pt x="0" y="0"/>
                </a:moveTo>
                <a:lnTo>
                  <a:pt x="0" y="324860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978642" y="5414313"/>
            <a:ext cx="0" cy="325120"/>
          </a:xfrm>
          <a:custGeom>
            <a:avLst/>
            <a:gdLst/>
            <a:ahLst/>
            <a:cxnLst/>
            <a:rect l="l" t="t" r="r" b="b"/>
            <a:pathLst>
              <a:path h="325120">
                <a:moveTo>
                  <a:pt x="0" y="0"/>
                </a:moveTo>
                <a:lnTo>
                  <a:pt x="0" y="324860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329196" y="5414313"/>
            <a:ext cx="0" cy="325120"/>
          </a:xfrm>
          <a:custGeom>
            <a:avLst/>
            <a:gdLst/>
            <a:ahLst/>
            <a:cxnLst/>
            <a:rect l="l" t="t" r="r" b="b"/>
            <a:pathLst>
              <a:path h="325120">
                <a:moveTo>
                  <a:pt x="0" y="0"/>
                </a:moveTo>
                <a:lnTo>
                  <a:pt x="0" y="324860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680123" y="5414313"/>
            <a:ext cx="0" cy="325120"/>
          </a:xfrm>
          <a:custGeom>
            <a:avLst/>
            <a:gdLst/>
            <a:ahLst/>
            <a:cxnLst/>
            <a:rect l="l" t="t" r="r" b="b"/>
            <a:pathLst>
              <a:path h="325120">
                <a:moveTo>
                  <a:pt x="0" y="0"/>
                </a:moveTo>
                <a:lnTo>
                  <a:pt x="0" y="324860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030801" y="5414313"/>
            <a:ext cx="0" cy="325120"/>
          </a:xfrm>
          <a:custGeom>
            <a:avLst/>
            <a:gdLst/>
            <a:ahLst/>
            <a:cxnLst/>
            <a:rect l="l" t="t" r="r" b="b"/>
            <a:pathLst>
              <a:path h="325120">
                <a:moveTo>
                  <a:pt x="0" y="0"/>
                </a:moveTo>
                <a:lnTo>
                  <a:pt x="0" y="324860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382594" y="5414313"/>
            <a:ext cx="0" cy="325120"/>
          </a:xfrm>
          <a:custGeom>
            <a:avLst/>
            <a:gdLst/>
            <a:ahLst/>
            <a:cxnLst/>
            <a:rect l="l" t="t" r="r" b="b"/>
            <a:pathLst>
              <a:path h="325120">
                <a:moveTo>
                  <a:pt x="0" y="0"/>
                </a:moveTo>
                <a:lnTo>
                  <a:pt x="0" y="324860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859999" y="5401224"/>
            <a:ext cx="131369" cy="12341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210629" y="5401225"/>
            <a:ext cx="131663" cy="12341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561221" y="5401226"/>
            <a:ext cx="131749" cy="12341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912146" y="5401224"/>
            <a:ext cx="131381" cy="12341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264058" y="5401218"/>
            <a:ext cx="130400" cy="12342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614982" y="5401217"/>
            <a:ext cx="131271" cy="12453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965539" y="5401219"/>
            <a:ext cx="131639" cy="12453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316464" y="5401217"/>
            <a:ext cx="131394" cy="12453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101141" y="3915366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3855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802435" y="3915366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3855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505155" y="3915366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3855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206760" y="3915366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3855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047808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10" h="97789">
                <a:moveTo>
                  <a:pt x="63233" y="0"/>
                </a:moveTo>
                <a:lnTo>
                  <a:pt x="41945" y="0"/>
                </a:lnTo>
                <a:lnTo>
                  <a:pt x="32056" y="3531"/>
                </a:lnTo>
                <a:lnTo>
                  <a:pt x="1189" y="38964"/>
                </a:lnTo>
                <a:lnTo>
                  <a:pt x="0" y="48078"/>
                </a:lnTo>
                <a:lnTo>
                  <a:pt x="1189" y="58560"/>
                </a:lnTo>
                <a:lnTo>
                  <a:pt x="32056" y="92739"/>
                </a:lnTo>
                <a:lnTo>
                  <a:pt x="53332" y="97182"/>
                </a:lnTo>
                <a:lnTo>
                  <a:pt x="63233" y="96043"/>
                </a:lnTo>
                <a:lnTo>
                  <a:pt x="96492" y="75649"/>
                </a:lnTo>
                <a:lnTo>
                  <a:pt x="105178" y="48078"/>
                </a:lnTo>
                <a:lnTo>
                  <a:pt x="103989" y="38964"/>
                </a:lnTo>
                <a:lnTo>
                  <a:pt x="73122" y="3531"/>
                </a:lnTo>
                <a:lnTo>
                  <a:pt x="632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047808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10" h="97789">
                <a:moveTo>
                  <a:pt x="105178" y="48078"/>
                </a:moveTo>
                <a:lnTo>
                  <a:pt x="83010" y="7975"/>
                </a:lnTo>
                <a:lnTo>
                  <a:pt x="63233" y="0"/>
                </a:lnTo>
                <a:lnTo>
                  <a:pt x="53332" y="0"/>
                </a:lnTo>
                <a:lnTo>
                  <a:pt x="41945" y="0"/>
                </a:lnTo>
                <a:lnTo>
                  <a:pt x="9888" y="20735"/>
                </a:lnTo>
                <a:lnTo>
                  <a:pt x="0" y="48078"/>
                </a:lnTo>
                <a:lnTo>
                  <a:pt x="1189" y="58560"/>
                </a:lnTo>
                <a:lnTo>
                  <a:pt x="32056" y="92739"/>
                </a:lnTo>
                <a:lnTo>
                  <a:pt x="53332" y="97182"/>
                </a:lnTo>
                <a:lnTo>
                  <a:pt x="63233" y="96043"/>
                </a:lnTo>
                <a:lnTo>
                  <a:pt x="96492" y="75649"/>
                </a:lnTo>
                <a:lnTo>
                  <a:pt x="103989" y="58560"/>
                </a:lnTo>
                <a:lnTo>
                  <a:pt x="105178" y="48078"/>
                </a:lnTo>
              </a:path>
            </a:pathLst>
          </a:custGeom>
          <a:ln w="260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2750515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10" h="97789">
                <a:moveTo>
                  <a:pt x="63320" y="0"/>
                </a:moveTo>
                <a:lnTo>
                  <a:pt x="42007" y="0"/>
                </a:lnTo>
                <a:lnTo>
                  <a:pt x="32093" y="3531"/>
                </a:lnTo>
                <a:lnTo>
                  <a:pt x="3593" y="29849"/>
                </a:lnTo>
                <a:lnTo>
                  <a:pt x="0" y="48078"/>
                </a:lnTo>
                <a:lnTo>
                  <a:pt x="1239" y="58560"/>
                </a:lnTo>
                <a:lnTo>
                  <a:pt x="32093" y="92739"/>
                </a:lnTo>
                <a:lnTo>
                  <a:pt x="51920" y="97182"/>
                </a:lnTo>
                <a:lnTo>
                  <a:pt x="63320" y="96043"/>
                </a:lnTo>
                <a:lnTo>
                  <a:pt x="100370" y="67674"/>
                </a:lnTo>
                <a:lnTo>
                  <a:pt x="105203" y="48078"/>
                </a:lnTo>
                <a:lnTo>
                  <a:pt x="104088" y="38964"/>
                </a:lnTo>
                <a:lnTo>
                  <a:pt x="81907" y="7975"/>
                </a:lnTo>
                <a:lnTo>
                  <a:pt x="633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750515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10" h="97789">
                <a:moveTo>
                  <a:pt x="105203" y="48078"/>
                </a:moveTo>
                <a:lnTo>
                  <a:pt x="81907" y="7975"/>
                </a:lnTo>
                <a:lnTo>
                  <a:pt x="63320" y="0"/>
                </a:lnTo>
                <a:lnTo>
                  <a:pt x="51920" y="0"/>
                </a:lnTo>
                <a:lnTo>
                  <a:pt x="42007" y="0"/>
                </a:lnTo>
                <a:lnTo>
                  <a:pt x="8674" y="20735"/>
                </a:lnTo>
                <a:lnTo>
                  <a:pt x="0" y="48078"/>
                </a:lnTo>
                <a:lnTo>
                  <a:pt x="1239" y="58560"/>
                </a:lnTo>
                <a:lnTo>
                  <a:pt x="32093" y="92739"/>
                </a:lnTo>
                <a:lnTo>
                  <a:pt x="51920" y="97182"/>
                </a:lnTo>
                <a:lnTo>
                  <a:pt x="63320" y="96043"/>
                </a:lnTo>
                <a:lnTo>
                  <a:pt x="100370" y="67674"/>
                </a:lnTo>
                <a:lnTo>
                  <a:pt x="104088" y="58560"/>
                </a:lnTo>
                <a:lnTo>
                  <a:pt x="105203" y="48078"/>
                </a:lnTo>
              </a:path>
            </a:pathLst>
          </a:custGeom>
          <a:ln w="260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452119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10" h="97789">
                <a:moveTo>
                  <a:pt x="62948" y="0"/>
                </a:moveTo>
                <a:lnTo>
                  <a:pt x="41883" y="0"/>
                </a:lnTo>
                <a:lnTo>
                  <a:pt x="32093" y="3531"/>
                </a:lnTo>
                <a:lnTo>
                  <a:pt x="3593" y="29849"/>
                </a:lnTo>
                <a:lnTo>
                  <a:pt x="0" y="48078"/>
                </a:lnTo>
                <a:lnTo>
                  <a:pt x="1239" y="58560"/>
                </a:lnTo>
                <a:lnTo>
                  <a:pt x="32093" y="92739"/>
                </a:lnTo>
                <a:lnTo>
                  <a:pt x="53035" y="97182"/>
                </a:lnTo>
                <a:lnTo>
                  <a:pt x="62948" y="96043"/>
                </a:lnTo>
                <a:lnTo>
                  <a:pt x="96529" y="75649"/>
                </a:lnTo>
                <a:lnTo>
                  <a:pt x="105203" y="48078"/>
                </a:lnTo>
                <a:lnTo>
                  <a:pt x="103964" y="38964"/>
                </a:lnTo>
                <a:lnTo>
                  <a:pt x="81535" y="7975"/>
                </a:lnTo>
                <a:lnTo>
                  <a:pt x="629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452120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10" h="97789">
                <a:moveTo>
                  <a:pt x="105203" y="48078"/>
                </a:moveTo>
                <a:lnTo>
                  <a:pt x="81535" y="7975"/>
                </a:lnTo>
                <a:lnTo>
                  <a:pt x="62948" y="0"/>
                </a:lnTo>
                <a:lnTo>
                  <a:pt x="53035" y="0"/>
                </a:lnTo>
                <a:lnTo>
                  <a:pt x="41883" y="0"/>
                </a:lnTo>
                <a:lnTo>
                  <a:pt x="8426" y="20735"/>
                </a:lnTo>
                <a:lnTo>
                  <a:pt x="0" y="48078"/>
                </a:lnTo>
                <a:lnTo>
                  <a:pt x="1239" y="58560"/>
                </a:lnTo>
                <a:lnTo>
                  <a:pt x="32093" y="92739"/>
                </a:lnTo>
                <a:lnTo>
                  <a:pt x="53035" y="97182"/>
                </a:lnTo>
                <a:lnTo>
                  <a:pt x="62948" y="96043"/>
                </a:lnTo>
                <a:lnTo>
                  <a:pt x="96529" y="75649"/>
                </a:lnTo>
                <a:lnTo>
                  <a:pt x="103964" y="58560"/>
                </a:lnTo>
                <a:lnTo>
                  <a:pt x="105203" y="48078"/>
                </a:lnTo>
              </a:path>
            </a:pathLst>
          </a:custGeom>
          <a:ln w="260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154592" y="4020409"/>
            <a:ext cx="104775" cy="97790"/>
          </a:xfrm>
          <a:custGeom>
            <a:avLst/>
            <a:gdLst/>
            <a:ahLst/>
            <a:cxnLst/>
            <a:rect l="l" t="t" r="r" b="b"/>
            <a:pathLst>
              <a:path w="104775" h="97789">
                <a:moveTo>
                  <a:pt x="63196" y="0"/>
                </a:moveTo>
                <a:lnTo>
                  <a:pt x="42254" y="0"/>
                </a:lnTo>
                <a:lnTo>
                  <a:pt x="32341" y="3531"/>
                </a:lnTo>
                <a:lnTo>
                  <a:pt x="3841" y="29849"/>
                </a:lnTo>
                <a:lnTo>
                  <a:pt x="0" y="38964"/>
                </a:lnTo>
                <a:lnTo>
                  <a:pt x="0" y="58560"/>
                </a:lnTo>
                <a:lnTo>
                  <a:pt x="32341" y="92739"/>
                </a:lnTo>
                <a:lnTo>
                  <a:pt x="52168" y="97182"/>
                </a:lnTo>
                <a:lnTo>
                  <a:pt x="63196" y="96043"/>
                </a:lnTo>
                <a:lnTo>
                  <a:pt x="95538" y="75649"/>
                </a:lnTo>
                <a:lnTo>
                  <a:pt x="104212" y="58560"/>
                </a:lnTo>
                <a:lnTo>
                  <a:pt x="104212" y="38964"/>
                </a:lnTo>
                <a:lnTo>
                  <a:pt x="81783" y="7975"/>
                </a:lnTo>
                <a:lnTo>
                  <a:pt x="631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154592" y="4020409"/>
            <a:ext cx="104775" cy="97790"/>
          </a:xfrm>
          <a:custGeom>
            <a:avLst/>
            <a:gdLst/>
            <a:ahLst/>
            <a:cxnLst/>
            <a:rect l="l" t="t" r="r" b="b"/>
            <a:pathLst>
              <a:path w="104775" h="97789">
                <a:moveTo>
                  <a:pt x="104212" y="48078"/>
                </a:moveTo>
                <a:lnTo>
                  <a:pt x="104212" y="38964"/>
                </a:lnTo>
                <a:lnTo>
                  <a:pt x="100370" y="29849"/>
                </a:lnTo>
                <a:lnTo>
                  <a:pt x="63196" y="0"/>
                </a:lnTo>
                <a:lnTo>
                  <a:pt x="52168" y="0"/>
                </a:lnTo>
                <a:lnTo>
                  <a:pt x="42254" y="0"/>
                </a:lnTo>
                <a:lnTo>
                  <a:pt x="8674" y="20735"/>
                </a:lnTo>
                <a:lnTo>
                  <a:pt x="0" y="38964"/>
                </a:lnTo>
                <a:lnTo>
                  <a:pt x="0" y="48078"/>
                </a:lnTo>
                <a:lnTo>
                  <a:pt x="0" y="58560"/>
                </a:lnTo>
                <a:lnTo>
                  <a:pt x="32341" y="92739"/>
                </a:lnTo>
                <a:lnTo>
                  <a:pt x="52168" y="97182"/>
                </a:lnTo>
                <a:lnTo>
                  <a:pt x="63196" y="96043"/>
                </a:lnTo>
                <a:lnTo>
                  <a:pt x="95538" y="75649"/>
                </a:lnTo>
                <a:lnTo>
                  <a:pt x="104212" y="58560"/>
                </a:lnTo>
                <a:lnTo>
                  <a:pt x="104212" y="48078"/>
                </a:lnTo>
              </a:path>
            </a:pathLst>
          </a:custGeom>
          <a:ln w="2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1672297" y="4201279"/>
            <a:ext cx="3028315" cy="12261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"/>
              </a:spcBef>
              <a:tabLst>
                <a:tab pos="724535" algn="l"/>
                <a:tab pos="1443355" algn="l"/>
                <a:tab pos="2127885" algn="l"/>
              </a:tabLst>
            </a:pPr>
            <a:r>
              <a:rPr sz="2700" spc="127" baseline="7716" dirty="0">
                <a:latin typeface="Times New Roman"/>
                <a:cs typeface="Times New Roman"/>
              </a:rPr>
              <a:t>Y</a:t>
            </a:r>
            <a:r>
              <a:rPr sz="1150" spc="85" dirty="0">
                <a:latin typeface="Times New Roman"/>
                <a:cs typeface="Times New Roman"/>
              </a:rPr>
              <a:t>EX	</a:t>
            </a:r>
            <a:r>
              <a:rPr sz="2700" spc="120" baseline="7716" dirty="0">
                <a:latin typeface="Times New Roman"/>
                <a:cs typeface="Times New Roman"/>
              </a:rPr>
              <a:t>Y</a:t>
            </a:r>
            <a:r>
              <a:rPr sz="1150" spc="80" dirty="0">
                <a:latin typeface="Times New Roman"/>
                <a:cs typeface="Times New Roman"/>
              </a:rPr>
              <a:t>2	</a:t>
            </a:r>
            <a:r>
              <a:rPr sz="2700" spc="120" baseline="7716" dirty="0">
                <a:latin typeface="Times New Roman"/>
                <a:cs typeface="Times New Roman"/>
              </a:rPr>
              <a:t>Y</a:t>
            </a:r>
            <a:r>
              <a:rPr sz="1150" spc="80" dirty="0">
                <a:latin typeface="Times New Roman"/>
                <a:cs typeface="Times New Roman"/>
              </a:rPr>
              <a:t>1	</a:t>
            </a:r>
            <a:r>
              <a:rPr sz="2700" spc="127" baseline="7716" dirty="0">
                <a:latin typeface="Times New Roman"/>
                <a:cs typeface="Times New Roman"/>
              </a:rPr>
              <a:t>Y</a:t>
            </a:r>
            <a:r>
              <a:rPr sz="1150" spc="85" dirty="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5"/>
              </a:spcBef>
              <a:tabLst>
                <a:tab pos="1004569" algn="l"/>
                <a:tab pos="2759710" algn="l"/>
              </a:tabLst>
            </a:pPr>
            <a:r>
              <a:rPr sz="1800" spc="85" dirty="0">
                <a:latin typeface="Times New Roman"/>
                <a:cs typeface="Times New Roman"/>
              </a:rPr>
              <a:t>S	</a:t>
            </a:r>
            <a:r>
              <a:rPr sz="2400" b="1" spc="104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74</a:t>
            </a:r>
            <a:r>
              <a:rPr sz="2400" b="1" spc="150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400" b="1" spc="112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400" b="1" spc="104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14</a:t>
            </a:r>
            <a:r>
              <a:rPr sz="2400" b="1" spc="112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r>
              <a:rPr sz="2400" b="1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spc="100" dirty="0">
                <a:latin typeface="Times New Roman"/>
                <a:cs typeface="Times New Roman"/>
              </a:rPr>
              <a:t>Y</a:t>
            </a:r>
            <a:r>
              <a:rPr sz="1725" spc="97" baseline="-12077" dirty="0">
                <a:latin typeface="Times New Roman"/>
                <a:cs typeface="Times New Roman"/>
              </a:rPr>
              <a:t>S</a:t>
            </a:r>
            <a:endParaRPr sz="1725" baseline="-12077">
              <a:latin typeface="Times New Roman"/>
              <a:cs typeface="Times New Roman"/>
            </a:endParaRPr>
          </a:p>
          <a:p>
            <a:pPr marR="41275" algn="ctr">
              <a:lnSpc>
                <a:spcPct val="100000"/>
              </a:lnSpc>
              <a:spcBef>
                <a:spcPts val="1789"/>
              </a:spcBef>
              <a:tabLst>
                <a:tab pos="350520" algn="l"/>
                <a:tab pos="702310" algn="l"/>
                <a:tab pos="1053465" algn="l"/>
                <a:tab pos="1403985" algn="l"/>
                <a:tab pos="1754505" algn="l"/>
                <a:tab pos="2105660" algn="l"/>
                <a:tab pos="2456180" algn="l"/>
              </a:tabLst>
            </a:pPr>
            <a:r>
              <a:rPr sz="1800" spc="55" dirty="0">
                <a:latin typeface="Times New Roman"/>
                <a:cs typeface="Times New Roman"/>
              </a:rPr>
              <a:t>I</a:t>
            </a:r>
            <a:r>
              <a:rPr sz="1725" spc="82" baseline="-12077" dirty="0">
                <a:latin typeface="Times New Roman"/>
                <a:cs typeface="Times New Roman"/>
              </a:rPr>
              <a:t>7	</a:t>
            </a:r>
            <a:r>
              <a:rPr sz="1800" spc="55" dirty="0">
                <a:latin typeface="Times New Roman"/>
                <a:cs typeface="Times New Roman"/>
              </a:rPr>
              <a:t>I</a:t>
            </a:r>
            <a:r>
              <a:rPr sz="1725" spc="82" baseline="-12077" dirty="0">
                <a:latin typeface="Times New Roman"/>
                <a:cs typeface="Times New Roman"/>
              </a:rPr>
              <a:t>6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5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4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3	</a:t>
            </a:r>
            <a:r>
              <a:rPr sz="1800" spc="55" dirty="0">
                <a:latin typeface="Times New Roman"/>
                <a:cs typeface="Times New Roman"/>
              </a:rPr>
              <a:t>I</a:t>
            </a:r>
            <a:r>
              <a:rPr sz="1725" spc="82" baseline="-12077" dirty="0">
                <a:latin typeface="Times New Roman"/>
                <a:cs typeface="Times New Roman"/>
              </a:rPr>
              <a:t>2	</a:t>
            </a:r>
            <a:r>
              <a:rPr sz="1800" spc="55" dirty="0">
                <a:latin typeface="Times New Roman"/>
                <a:cs typeface="Times New Roman"/>
              </a:rPr>
              <a:t>I</a:t>
            </a:r>
            <a:r>
              <a:rPr sz="1725" spc="82" baseline="-12077" dirty="0">
                <a:latin typeface="Times New Roman"/>
                <a:cs typeface="Times New Roman"/>
              </a:rPr>
              <a:t>1	</a:t>
            </a:r>
            <a:r>
              <a:rPr sz="1800" spc="55" dirty="0">
                <a:latin typeface="Times New Roman"/>
                <a:cs typeface="Times New Roman"/>
              </a:rPr>
              <a:t>I</a:t>
            </a:r>
            <a:r>
              <a:rPr sz="1725" spc="82" baseline="-12077" dirty="0">
                <a:latin typeface="Times New Roman"/>
                <a:cs typeface="Times New Roman"/>
              </a:rPr>
              <a:t>0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6032394" y="4117569"/>
            <a:ext cx="3158490" cy="1298575"/>
          </a:xfrm>
          <a:custGeom>
            <a:avLst/>
            <a:gdLst/>
            <a:ahLst/>
            <a:cxnLst/>
            <a:rect l="l" t="t" r="r" b="b"/>
            <a:pathLst>
              <a:path w="3158490" h="1298575">
                <a:moveTo>
                  <a:pt x="0" y="1298122"/>
                </a:moveTo>
                <a:lnTo>
                  <a:pt x="3158087" y="1298122"/>
                </a:lnTo>
                <a:lnTo>
                  <a:pt x="3158087" y="0"/>
                </a:lnTo>
                <a:lnTo>
                  <a:pt x="0" y="0"/>
                </a:lnTo>
                <a:lnTo>
                  <a:pt x="0" y="1298122"/>
                </a:lnTo>
                <a:close/>
              </a:path>
            </a:pathLst>
          </a:custGeom>
          <a:ln w="25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680476" y="4765969"/>
            <a:ext cx="352425" cy="0"/>
          </a:xfrm>
          <a:custGeom>
            <a:avLst/>
            <a:gdLst/>
            <a:ahLst/>
            <a:cxnLst/>
            <a:rect l="l" t="t" r="r" b="b"/>
            <a:pathLst>
              <a:path w="352425">
                <a:moveTo>
                  <a:pt x="0" y="0"/>
                </a:moveTo>
                <a:lnTo>
                  <a:pt x="351917" y="0"/>
                </a:lnTo>
                <a:lnTo>
                  <a:pt x="0" y="0"/>
                </a:lnTo>
                <a:close/>
              </a:path>
            </a:pathLst>
          </a:custGeom>
          <a:ln w="25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9196305" y="4765969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5969" y="0"/>
                </a:lnTo>
              </a:path>
            </a:pathLst>
          </a:custGeom>
          <a:ln w="250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914101" y="4704801"/>
            <a:ext cx="131382" cy="12347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9177268" y="4704801"/>
            <a:ext cx="131382" cy="12347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383320" y="5415691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82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733875" y="5415691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82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084552" y="5415691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82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7435479" y="5415691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82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7787272" y="5415691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82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138199" y="5415691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82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488877" y="5415691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82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8839803" y="5415691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82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316825" y="5402604"/>
            <a:ext cx="131378" cy="12314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6668744" y="5402605"/>
            <a:ext cx="131623" cy="12313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019668" y="5402603"/>
            <a:ext cx="131256" cy="12314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370225" y="5402605"/>
            <a:ext cx="131623" cy="12313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720903" y="5402605"/>
            <a:ext cx="131623" cy="12313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8071828" y="5402604"/>
            <a:ext cx="131378" cy="123141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423617" y="5402599"/>
            <a:ext cx="130520" cy="12315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774548" y="5402604"/>
            <a:ext cx="131378" cy="12314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6558040" y="3915366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3855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7260759" y="3915366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3855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7961992" y="3915366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3855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664712" y="3915366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3855"/>
                </a:lnTo>
              </a:path>
            </a:pathLst>
          </a:custGeom>
          <a:ln w="27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505871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09" h="97789">
                <a:moveTo>
                  <a:pt x="52168" y="0"/>
                </a:moveTo>
                <a:lnTo>
                  <a:pt x="16108" y="13785"/>
                </a:lnTo>
                <a:lnTo>
                  <a:pt x="0" y="48078"/>
                </a:lnTo>
                <a:lnTo>
                  <a:pt x="1239" y="58560"/>
                </a:lnTo>
                <a:lnTo>
                  <a:pt x="3593" y="67674"/>
                </a:lnTo>
                <a:lnTo>
                  <a:pt x="8674" y="75649"/>
                </a:lnTo>
                <a:lnTo>
                  <a:pt x="16108" y="82257"/>
                </a:lnTo>
                <a:lnTo>
                  <a:pt x="23667" y="89207"/>
                </a:lnTo>
                <a:lnTo>
                  <a:pt x="32093" y="93878"/>
                </a:lnTo>
                <a:lnTo>
                  <a:pt x="42254" y="96043"/>
                </a:lnTo>
                <a:lnTo>
                  <a:pt x="52168" y="97182"/>
                </a:lnTo>
                <a:lnTo>
                  <a:pt x="63196" y="96043"/>
                </a:lnTo>
                <a:lnTo>
                  <a:pt x="73109" y="93878"/>
                </a:lnTo>
                <a:lnTo>
                  <a:pt x="81783" y="89207"/>
                </a:lnTo>
                <a:lnTo>
                  <a:pt x="89342" y="82257"/>
                </a:lnTo>
                <a:lnTo>
                  <a:pt x="96777" y="75649"/>
                </a:lnTo>
                <a:lnTo>
                  <a:pt x="101609" y="67674"/>
                </a:lnTo>
                <a:lnTo>
                  <a:pt x="103964" y="58560"/>
                </a:lnTo>
                <a:lnTo>
                  <a:pt x="105203" y="48078"/>
                </a:lnTo>
                <a:lnTo>
                  <a:pt x="103964" y="38964"/>
                </a:lnTo>
                <a:lnTo>
                  <a:pt x="81783" y="7975"/>
                </a:lnTo>
                <a:lnTo>
                  <a:pt x="63196" y="1367"/>
                </a:lnTo>
                <a:lnTo>
                  <a:pt x="521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6505871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09" h="97789">
                <a:moveTo>
                  <a:pt x="105203" y="48078"/>
                </a:moveTo>
                <a:lnTo>
                  <a:pt x="81783" y="7975"/>
                </a:lnTo>
                <a:lnTo>
                  <a:pt x="52168" y="0"/>
                </a:lnTo>
                <a:lnTo>
                  <a:pt x="42254" y="1367"/>
                </a:lnTo>
                <a:lnTo>
                  <a:pt x="8674" y="21760"/>
                </a:lnTo>
                <a:lnTo>
                  <a:pt x="0" y="48078"/>
                </a:lnTo>
                <a:lnTo>
                  <a:pt x="1239" y="58560"/>
                </a:lnTo>
                <a:lnTo>
                  <a:pt x="3593" y="67674"/>
                </a:lnTo>
                <a:lnTo>
                  <a:pt x="8674" y="75649"/>
                </a:lnTo>
                <a:lnTo>
                  <a:pt x="16108" y="82257"/>
                </a:lnTo>
                <a:lnTo>
                  <a:pt x="23667" y="89207"/>
                </a:lnTo>
                <a:lnTo>
                  <a:pt x="32093" y="93878"/>
                </a:lnTo>
                <a:lnTo>
                  <a:pt x="42254" y="96043"/>
                </a:lnTo>
                <a:lnTo>
                  <a:pt x="52168" y="97182"/>
                </a:lnTo>
                <a:lnTo>
                  <a:pt x="63196" y="96043"/>
                </a:lnTo>
                <a:lnTo>
                  <a:pt x="73109" y="93878"/>
                </a:lnTo>
                <a:lnTo>
                  <a:pt x="81783" y="89207"/>
                </a:lnTo>
                <a:lnTo>
                  <a:pt x="89342" y="82257"/>
                </a:lnTo>
                <a:lnTo>
                  <a:pt x="96777" y="75649"/>
                </a:lnTo>
                <a:lnTo>
                  <a:pt x="101609" y="67674"/>
                </a:lnTo>
                <a:lnTo>
                  <a:pt x="103964" y="58560"/>
                </a:lnTo>
                <a:lnTo>
                  <a:pt x="105203" y="48078"/>
                </a:lnTo>
              </a:path>
            </a:pathLst>
          </a:custGeom>
          <a:ln w="260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7207352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09" h="97789">
                <a:moveTo>
                  <a:pt x="53407" y="0"/>
                </a:moveTo>
                <a:lnTo>
                  <a:pt x="16232" y="13785"/>
                </a:lnTo>
                <a:lnTo>
                  <a:pt x="0" y="48078"/>
                </a:lnTo>
                <a:lnTo>
                  <a:pt x="1239" y="58560"/>
                </a:lnTo>
                <a:lnTo>
                  <a:pt x="32093" y="93878"/>
                </a:lnTo>
                <a:lnTo>
                  <a:pt x="53407" y="97182"/>
                </a:lnTo>
                <a:lnTo>
                  <a:pt x="63320" y="96043"/>
                </a:lnTo>
                <a:lnTo>
                  <a:pt x="96529" y="75649"/>
                </a:lnTo>
                <a:lnTo>
                  <a:pt x="105203" y="58560"/>
                </a:lnTo>
                <a:lnTo>
                  <a:pt x="105203" y="38964"/>
                </a:lnTo>
                <a:lnTo>
                  <a:pt x="83022" y="7975"/>
                </a:lnTo>
                <a:lnTo>
                  <a:pt x="53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7207352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09" h="97789">
                <a:moveTo>
                  <a:pt x="105203" y="48078"/>
                </a:moveTo>
                <a:lnTo>
                  <a:pt x="105203" y="38964"/>
                </a:lnTo>
                <a:lnTo>
                  <a:pt x="101609" y="29849"/>
                </a:lnTo>
                <a:lnTo>
                  <a:pt x="73233" y="3531"/>
                </a:lnTo>
                <a:lnTo>
                  <a:pt x="53407" y="0"/>
                </a:lnTo>
                <a:lnTo>
                  <a:pt x="42007" y="1367"/>
                </a:lnTo>
                <a:lnTo>
                  <a:pt x="4832" y="29849"/>
                </a:lnTo>
                <a:lnTo>
                  <a:pt x="0" y="48078"/>
                </a:lnTo>
                <a:lnTo>
                  <a:pt x="1239" y="58560"/>
                </a:lnTo>
                <a:lnTo>
                  <a:pt x="32093" y="93878"/>
                </a:lnTo>
                <a:lnTo>
                  <a:pt x="53407" y="97182"/>
                </a:lnTo>
                <a:lnTo>
                  <a:pt x="63320" y="96043"/>
                </a:lnTo>
                <a:lnTo>
                  <a:pt x="96529" y="75649"/>
                </a:lnTo>
                <a:lnTo>
                  <a:pt x="105203" y="58560"/>
                </a:lnTo>
                <a:lnTo>
                  <a:pt x="105203" y="48078"/>
                </a:lnTo>
              </a:path>
            </a:pathLst>
          </a:custGeom>
          <a:ln w="260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910196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09" h="97789">
                <a:moveTo>
                  <a:pt x="51796" y="0"/>
                </a:moveTo>
                <a:lnTo>
                  <a:pt x="14621" y="13785"/>
                </a:lnTo>
                <a:lnTo>
                  <a:pt x="0" y="48078"/>
                </a:lnTo>
                <a:lnTo>
                  <a:pt x="1115" y="58560"/>
                </a:lnTo>
                <a:lnTo>
                  <a:pt x="32093" y="93878"/>
                </a:lnTo>
                <a:lnTo>
                  <a:pt x="51796" y="97182"/>
                </a:lnTo>
                <a:lnTo>
                  <a:pt x="63196" y="96043"/>
                </a:lnTo>
                <a:lnTo>
                  <a:pt x="100370" y="67674"/>
                </a:lnTo>
                <a:lnTo>
                  <a:pt x="105203" y="48078"/>
                </a:lnTo>
                <a:lnTo>
                  <a:pt x="103964" y="38964"/>
                </a:lnTo>
                <a:lnTo>
                  <a:pt x="81783" y="7975"/>
                </a:lnTo>
                <a:lnTo>
                  <a:pt x="517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7910196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09" h="97789">
                <a:moveTo>
                  <a:pt x="105203" y="48078"/>
                </a:moveTo>
                <a:lnTo>
                  <a:pt x="81783" y="7975"/>
                </a:lnTo>
                <a:lnTo>
                  <a:pt x="51796" y="0"/>
                </a:lnTo>
                <a:lnTo>
                  <a:pt x="41883" y="1367"/>
                </a:lnTo>
                <a:lnTo>
                  <a:pt x="8674" y="21760"/>
                </a:lnTo>
                <a:lnTo>
                  <a:pt x="0" y="48078"/>
                </a:lnTo>
                <a:lnTo>
                  <a:pt x="1115" y="58560"/>
                </a:lnTo>
                <a:lnTo>
                  <a:pt x="32093" y="93878"/>
                </a:lnTo>
                <a:lnTo>
                  <a:pt x="51796" y="97182"/>
                </a:lnTo>
                <a:lnTo>
                  <a:pt x="63196" y="96043"/>
                </a:lnTo>
                <a:lnTo>
                  <a:pt x="100370" y="67674"/>
                </a:lnTo>
                <a:lnTo>
                  <a:pt x="105203" y="48078"/>
                </a:lnTo>
              </a:path>
            </a:pathLst>
          </a:custGeom>
          <a:ln w="260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8611676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09" h="97789">
                <a:moveTo>
                  <a:pt x="53035" y="0"/>
                </a:moveTo>
                <a:lnTo>
                  <a:pt x="15984" y="13785"/>
                </a:lnTo>
                <a:lnTo>
                  <a:pt x="0" y="48078"/>
                </a:lnTo>
                <a:lnTo>
                  <a:pt x="1239" y="58560"/>
                </a:lnTo>
                <a:lnTo>
                  <a:pt x="3593" y="67674"/>
                </a:lnTo>
                <a:lnTo>
                  <a:pt x="8426" y="75649"/>
                </a:lnTo>
                <a:lnTo>
                  <a:pt x="15984" y="82257"/>
                </a:lnTo>
                <a:lnTo>
                  <a:pt x="23419" y="89207"/>
                </a:lnTo>
                <a:lnTo>
                  <a:pt x="32093" y="93878"/>
                </a:lnTo>
                <a:lnTo>
                  <a:pt x="42007" y="96043"/>
                </a:lnTo>
                <a:lnTo>
                  <a:pt x="53035" y="97182"/>
                </a:lnTo>
                <a:lnTo>
                  <a:pt x="62948" y="96043"/>
                </a:lnTo>
                <a:lnTo>
                  <a:pt x="96529" y="75649"/>
                </a:lnTo>
                <a:lnTo>
                  <a:pt x="105203" y="48078"/>
                </a:lnTo>
                <a:lnTo>
                  <a:pt x="104088" y="38964"/>
                </a:lnTo>
                <a:lnTo>
                  <a:pt x="81535" y="7975"/>
                </a:lnTo>
                <a:lnTo>
                  <a:pt x="62948" y="1367"/>
                </a:lnTo>
                <a:lnTo>
                  <a:pt x="530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8611676" y="4020409"/>
            <a:ext cx="105410" cy="97790"/>
          </a:xfrm>
          <a:custGeom>
            <a:avLst/>
            <a:gdLst/>
            <a:ahLst/>
            <a:cxnLst/>
            <a:rect l="l" t="t" r="r" b="b"/>
            <a:pathLst>
              <a:path w="105409" h="97789">
                <a:moveTo>
                  <a:pt x="105203" y="48078"/>
                </a:moveTo>
                <a:lnTo>
                  <a:pt x="81535" y="7975"/>
                </a:lnTo>
                <a:lnTo>
                  <a:pt x="53035" y="0"/>
                </a:lnTo>
                <a:lnTo>
                  <a:pt x="42007" y="1367"/>
                </a:lnTo>
                <a:lnTo>
                  <a:pt x="8426" y="21760"/>
                </a:lnTo>
                <a:lnTo>
                  <a:pt x="0" y="48078"/>
                </a:lnTo>
                <a:lnTo>
                  <a:pt x="1239" y="58560"/>
                </a:lnTo>
                <a:lnTo>
                  <a:pt x="3593" y="67674"/>
                </a:lnTo>
                <a:lnTo>
                  <a:pt x="8426" y="75649"/>
                </a:lnTo>
                <a:lnTo>
                  <a:pt x="15984" y="82257"/>
                </a:lnTo>
                <a:lnTo>
                  <a:pt x="23419" y="89207"/>
                </a:lnTo>
                <a:lnTo>
                  <a:pt x="32093" y="93878"/>
                </a:lnTo>
                <a:lnTo>
                  <a:pt x="42007" y="96043"/>
                </a:lnTo>
                <a:lnTo>
                  <a:pt x="53035" y="97182"/>
                </a:lnTo>
                <a:lnTo>
                  <a:pt x="62948" y="96043"/>
                </a:lnTo>
                <a:lnTo>
                  <a:pt x="96529" y="75649"/>
                </a:lnTo>
                <a:lnTo>
                  <a:pt x="104088" y="58560"/>
                </a:lnTo>
                <a:lnTo>
                  <a:pt x="105203" y="48078"/>
                </a:lnTo>
              </a:path>
            </a:pathLst>
          </a:custGeom>
          <a:ln w="260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 txBox="1"/>
          <p:nvPr/>
        </p:nvSpPr>
        <p:spPr>
          <a:xfrm>
            <a:off x="6129171" y="4201279"/>
            <a:ext cx="3028315" cy="122618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"/>
              </a:spcBef>
              <a:tabLst>
                <a:tab pos="724535" algn="l"/>
                <a:tab pos="1444625" algn="l"/>
                <a:tab pos="2129155" algn="l"/>
              </a:tabLst>
            </a:pPr>
            <a:r>
              <a:rPr sz="2700" spc="127" baseline="7716" dirty="0">
                <a:latin typeface="Times New Roman"/>
                <a:cs typeface="Times New Roman"/>
              </a:rPr>
              <a:t>Y</a:t>
            </a:r>
            <a:r>
              <a:rPr sz="1150" spc="85" dirty="0">
                <a:latin typeface="Times New Roman"/>
                <a:cs typeface="Times New Roman"/>
              </a:rPr>
              <a:t>EX	</a:t>
            </a:r>
            <a:r>
              <a:rPr sz="2700" spc="120" baseline="7716" dirty="0">
                <a:latin typeface="Times New Roman"/>
                <a:cs typeface="Times New Roman"/>
              </a:rPr>
              <a:t>Y</a:t>
            </a:r>
            <a:r>
              <a:rPr sz="1150" spc="80" dirty="0">
                <a:latin typeface="Times New Roman"/>
                <a:cs typeface="Times New Roman"/>
              </a:rPr>
              <a:t>2	</a:t>
            </a:r>
            <a:r>
              <a:rPr sz="2700" spc="120" baseline="7716" dirty="0">
                <a:latin typeface="Times New Roman"/>
                <a:cs typeface="Times New Roman"/>
              </a:rPr>
              <a:t>Y</a:t>
            </a:r>
            <a:r>
              <a:rPr sz="1150" spc="80" dirty="0">
                <a:latin typeface="Times New Roman"/>
                <a:cs typeface="Times New Roman"/>
              </a:rPr>
              <a:t>1	</a:t>
            </a:r>
            <a:r>
              <a:rPr sz="2700" spc="120" baseline="7716" dirty="0">
                <a:latin typeface="Times New Roman"/>
                <a:cs typeface="Times New Roman"/>
              </a:rPr>
              <a:t>Y</a:t>
            </a:r>
            <a:r>
              <a:rPr sz="1150" spc="80" dirty="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65"/>
              </a:spcBef>
              <a:tabLst>
                <a:tab pos="1004569" algn="l"/>
                <a:tab pos="2759710" algn="l"/>
              </a:tabLst>
            </a:pPr>
            <a:r>
              <a:rPr sz="1800" spc="85" dirty="0">
                <a:latin typeface="Times New Roman"/>
                <a:cs typeface="Times New Roman"/>
              </a:rPr>
              <a:t>S	</a:t>
            </a:r>
            <a:r>
              <a:rPr sz="2400" b="1" spc="104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74</a:t>
            </a:r>
            <a:r>
              <a:rPr sz="2400" b="1" spc="135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LS</a:t>
            </a:r>
            <a:r>
              <a:rPr sz="2400" b="1" spc="104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14</a:t>
            </a:r>
            <a:r>
              <a:rPr sz="2400" b="1" spc="112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r>
              <a:rPr sz="2400" b="1" baseline="1736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spc="100" dirty="0">
                <a:latin typeface="Times New Roman"/>
                <a:cs typeface="Times New Roman"/>
              </a:rPr>
              <a:t>Y</a:t>
            </a:r>
            <a:r>
              <a:rPr sz="1725" spc="97" baseline="-12077" dirty="0">
                <a:latin typeface="Times New Roman"/>
                <a:cs typeface="Times New Roman"/>
              </a:rPr>
              <a:t>S</a:t>
            </a:r>
            <a:endParaRPr sz="1725" baseline="-12077">
              <a:latin typeface="Times New Roman"/>
              <a:cs typeface="Times New Roman"/>
            </a:endParaRPr>
          </a:p>
          <a:p>
            <a:pPr marR="39370" algn="ctr">
              <a:lnSpc>
                <a:spcPct val="100000"/>
              </a:lnSpc>
              <a:spcBef>
                <a:spcPts val="1789"/>
              </a:spcBef>
              <a:tabLst>
                <a:tab pos="349885" algn="l"/>
                <a:tab pos="701040" algn="l"/>
                <a:tab pos="1051560" algn="l"/>
                <a:tab pos="1402080" algn="l"/>
                <a:tab pos="1754505" algn="l"/>
                <a:tab pos="2105025" algn="l"/>
                <a:tab pos="2455545" algn="l"/>
              </a:tabLst>
            </a:pP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7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6	</a:t>
            </a:r>
            <a:r>
              <a:rPr sz="1800" spc="55" dirty="0">
                <a:latin typeface="Times New Roman"/>
                <a:cs typeface="Times New Roman"/>
              </a:rPr>
              <a:t>I</a:t>
            </a:r>
            <a:r>
              <a:rPr sz="1725" spc="82" baseline="-12077" dirty="0">
                <a:latin typeface="Times New Roman"/>
                <a:cs typeface="Times New Roman"/>
              </a:rPr>
              <a:t>5	</a:t>
            </a:r>
            <a:r>
              <a:rPr sz="1800" spc="55" dirty="0">
                <a:latin typeface="Times New Roman"/>
                <a:cs typeface="Times New Roman"/>
              </a:rPr>
              <a:t>I</a:t>
            </a:r>
            <a:r>
              <a:rPr sz="1725" spc="82" baseline="-12077" dirty="0">
                <a:latin typeface="Times New Roman"/>
                <a:cs typeface="Times New Roman"/>
              </a:rPr>
              <a:t>4	</a:t>
            </a:r>
            <a:r>
              <a:rPr sz="1800" spc="55" dirty="0">
                <a:latin typeface="Times New Roman"/>
                <a:cs typeface="Times New Roman"/>
              </a:rPr>
              <a:t>I</a:t>
            </a:r>
            <a:r>
              <a:rPr sz="1725" spc="82" baseline="-12077" dirty="0">
                <a:latin typeface="Times New Roman"/>
                <a:cs typeface="Times New Roman"/>
              </a:rPr>
              <a:t>3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2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1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0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1588384" y="4109221"/>
            <a:ext cx="3155950" cy="1294130"/>
          </a:xfrm>
          <a:custGeom>
            <a:avLst/>
            <a:gdLst/>
            <a:ahLst/>
            <a:cxnLst/>
            <a:rect l="l" t="t" r="r" b="b"/>
            <a:pathLst>
              <a:path w="3155950" h="1294129">
                <a:moveTo>
                  <a:pt x="0" y="1293766"/>
                </a:moveTo>
                <a:lnTo>
                  <a:pt x="3155347" y="1293766"/>
                </a:lnTo>
                <a:lnTo>
                  <a:pt x="3155347" y="0"/>
                </a:lnTo>
                <a:lnTo>
                  <a:pt x="0" y="0"/>
                </a:lnTo>
                <a:lnTo>
                  <a:pt x="0" y="12937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588384" y="4109221"/>
            <a:ext cx="3155950" cy="1294130"/>
          </a:xfrm>
          <a:custGeom>
            <a:avLst/>
            <a:gdLst/>
            <a:ahLst/>
            <a:cxnLst/>
            <a:rect l="l" t="t" r="r" b="b"/>
            <a:pathLst>
              <a:path w="3155950" h="1294129">
                <a:moveTo>
                  <a:pt x="0" y="1293766"/>
                </a:moveTo>
                <a:lnTo>
                  <a:pt x="3155347" y="1293766"/>
                </a:lnTo>
                <a:lnTo>
                  <a:pt x="3155347" y="0"/>
                </a:lnTo>
                <a:lnTo>
                  <a:pt x="0" y="0"/>
                </a:lnTo>
                <a:lnTo>
                  <a:pt x="0" y="1293766"/>
                </a:lnTo>
                <a:close/>
              </a:path>
            </a:pathLst>
          </a:custGeom>
          <a:ln w="24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237798" y="4756104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5">
                <a:moveTo>
                  <a:pt x="0" y="0"/>
                </a:moveTo>
                <a:lnTo>
                  <a:pt x="350585" y="0"/>
                </a:lnTo>
                <a:lnTo>
                  <a:pt x="0" y="0"/>
                </a:lnTo>
                <a:close/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4743669" y="4756104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>
                <a:moveTo>
                  <a:pt x="0" y="0"/>
                </a:moveTo>
                <a:lnTo>
                  <a:pt x="350635" y="0"/>
                </a:lnTo>
                <a:lnTo>
                  <a:pt x="0" y="0"/>
                </a:lnTo>
                <a:close/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470366" y="4694772"/>
            <a:ext cx="130857" cy="12266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4730830" y="4694773"/>
            <a:ext cx="130931" cy="122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938982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2289568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2640104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2990740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3341375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3691887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4042522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4393158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1873553" y="5390147"/>
            <a:ext cx="130858" cy="122709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2224139" y="5390147"/>
            <a:ext cx="130858" cy="122709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2574700" y="5390148"/>
            <a:ext cx="130931" cy="12270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2925335" y="5390147"/>
            <a:ext cx="130809" cy="12271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3275970" y="5390147"/>
            <a:ext cx="130809" cy="12271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3626483" y="5390148"/>
            <a:ext cx="130931" cy="12270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3977118" y="5390147"/>
            <a:ext cx="130809" cy="12271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4327753" y="5390147"/>
            <a:ext cx="130809" cy="12271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2114275" y="378580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323470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2815484" y="378580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323470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3516631" y="378580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323470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4217778" y="3813533"/>
            <a:ext cx="0" cy="295910"/>
          </a:xfrm>
          <a:custGeom>
            <a:avLst/>
            <a:gdLst/>
            <a:ahLst/>
            <a:cxnLst/>
            <a:rect l="l" t="t" r="r" b="b"/>
            <a:pathLst>
              <a:path h="295910">
                <a:moveTo>
                  <a:pt x="0" y="295744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2048846" y="3999454"/>
            <a:ext cx="130857" cy="12266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2750080" y="3999453"/>
            <a:ext cx="130808" cy="12266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3451226" y="3999453"/>
            <a:ext cx="130808" cy="12266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4152374" y="3999454"/>
            <a:ext cx="130931" cy="12266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 txBox="1"/>
          <p:nvPr/>
        </p:nvSpPr>
        <p:spPr>
          <a:xfrm>
            <a:off x="1685708" y="4608309"/>
            <a:ext cx="15049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spc="8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1631796" y="4651361"/>
            <a:ext cx="219710" cy="0"/>
          </a:xfrm>
          <a:custGeom>
            <a:avLst/>
            <a:gdLst/>
            <a:ahLst/>
            <a:cxnLst/>
            <a:rect l="l" t="t" r="r" b="b"/>
            <a:pathLst>
              <a:path w="219710">
                <a:moveTo>
                  <a:pt x="0" y="0"/>
                </a:moveTo>
                <a:lnTo>
                  <a:pt x="219113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 txBox="1"/>
          <p:nvPr/>
        </p:nvSpPr>
        <p:spPr>
          <a:xfrm>
            <a:off x="4417354" y="4608309"/>
            <a:ext cx="33210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800" spc="85" dirty="0">
                <a:latin typeface="Times New Roman"/>
                <a:cs typeface="Times New Roman"/>
              </a:rPr>
              <a:t>Y</a:t>
            </a:r>
            <a:r>
              <a:rPr sz="1725" spc="127" baseline="-12077" dirty="0">
                <a:latin typeface="Times New Roman"/>
                <a:cs typeface="Times New Roman"/>
              </a:rPr>
              <a:t>S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175" name="object 175"/>
          <p:cNvSpPr/>
          <p:nvPr/>
        </p:nvSpPr>
        <p:spPr>
          <a:xfrm>
            <a:off x="4436569" y="4651361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0" y="0"/>
                </a:moveTo>
                <a:lnTo>
                  <a:pt x="219038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 txBox="1"/>
          <p:nvPr/>
        </p:nvSpPr>
        <p:spPr>
          <a:xfrm>
            <a:off x="1979640" y="4188197"/>
            <a:ext cx="45656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700" spc="127" baseline="7716" dirty="0">
                <a:latin typeface="Times New Roman"/>
                <a:cs typeface="Times New Roman"/>
              </a:rPr>
              <a:t>Y</a:t>
            </a:r>
            <a:r>
              <a:rPr sz="1150" spc="85" dirty="0">
                <a:latin typeface="Times New Roman"/>
                <a:cs typeface="Times New Roman"/>
              </a:rPr>
              <a:t>EX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2651724" y="4155565"/>
            <a:ext cx="1790064" cy="741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95"/>
              </a:spcBef>
              <a:tabLst>
                <a:tab pos="796290" algn="l"/>
                <a:tab pos="1479550" algn="l"/>
              </a:tabLst>
            </a:pPr>
            <a:r>
              <a:rPr sz="1800" spc="80" dirty="0">
                <a:latin typeface="Times New Roman"/>
                <a:cs typeface="Times New Roman"/>
              </a:rPr>
              <a:t>Y</a:t>
            </a:r>
            <a:r>
              <a:rPr sz="1725" spc="120" baseline="-12077" dirty="0">
                <a:latin typeface="Times New Roman"/>
                <a:cs typeface="Times New Roman"/>
              </a:rPr>
              <a:t>2	</a:t>
            </a:r>
            <a:r>
              <a:rPr sz="1800" spc="80" dirty="0">
                <a:latin typeface="Times New Roman"/>
                <a:cs typeface="Times New Roman"/>
              </a:rPr>
              <a:t>Y</a:t>
            </a:r>
            <a:r>
              <a:rPr sz="1725" spc="120" baseline="-12077" dirty="0">
                <a:latin typeface="Times New Roman"/>
                <a:cs typeface="Times New Roman"/>
              </a:rPr>
              <a:t>1	</a:t>
            </a:r>
            <a:r>
              <a:rPr sz="1800" spc="80" dirty="0">
                <a:latin typeface="Times New Roman"/>
                <a:cs typeface="Times New Roman"/>
              </a:rPr>
              <a:t>Y</a:t>
            </a:r>
            <a:r>
              <a:rPr sz="1725" spc="120" baseline="-12077" dirty="0">
                <a:latin typeface="Times New Roman"/>
                <a:cs typeface="Times New Roman"/>
              </a:rPr>
              <a:t>0</a:t>
            </a:r>
            <a:endParaRPr sz="1725" baseline="-12077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550"/>
              </a:spcBef>
            </a:pPr>
            <a:r>
              <a:rPr sz="1600" b="1" spc="80" dirty="0">
                <a:solidFill>
                  <a:srgbClr val="FF0000"/>
                </a:solidFill>
                <a:latin typeface="Times New Roman"/>
                <a:cs typeface="Times New Roman"/>
              </a:rPr>
              <a:t>74LS148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1999907" y="4198617"/>
            <a:ext cx="219710" cy="0"/>
          </a:xfrm>
          <a:custGeom>
            <a:avLst/>
            <a:gdLst/>
            <a:ahLst/>
            <a:cxnLst/>
            <a:rect l="l" t="t" r="r" b="b"/>
            <a:pathLst>
              <a:path w="219710">
                <a:moveTo>
                  <a:pt x="0" y="0"/>
                </a:moveTo>
                <a:lnTo>
                  <a:pt x="219125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2718642" y="4198617"/>
            <a:ext cx="219710" cy="0"/>
          </a:xfrm>
          <a:custGeom>
            <a:avLst/>
            <a:gdLst/>
            <a:ahLst/>
            <a:cxnLst/>
            <a:rect l="l" t="t" r="r" b="b"/>
            <a:pathLst>
              <a:path w="219710">
                <a:moveTo>
                  <a:pt x="0" y="0"/>
                </a:moveTo>
                <a:lnTo>
                  <a:pt x="219162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3419789" y="4198617"/>
            <a:ext cx="219710" cy="0"/>
          </a:xfrm>
          <a:custGeom>
            <a:avLst/>
            <a:gdLst/>
            <a:ahLst/>
            <a:cxnLst/>
            <a:rect l="l" t="t" r="r" b="b"/>
            <a:pathLst>
              <a:path w="219710">
                <a:moveTo>
                  <a:pt x="0" y="0"/>
                </a:moveTo>
                <a:lnTo>
                  <a:pt x="219162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4120936" y="4198617"/>
            <a:ext cx="219710" cy="0"/>
          </a:xfrm>
          <a:custGeom>
            <a:avLst/>
            <a:gdLst/>
            <a:ahLst/>
            <a:cxnLst/>
            <a:rect l="l" t="t" r="r" b="b"/>
            <a:pathLst>
              <a:path w="219710">
                <a:moveTo>
                  <a:pt x="0" y="0"/>
                </a:moveTo>
                <a:lnTo>
                  <a:pt x="219162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 txBox="1"/>
          <p:nvPr/>
        </p:nvSpPr>
        <p:spPr>
          <a:xfrm>
            <a:off x="1840549" y="5109648"/>
            <a:ext cx="268097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375920" algn="l"/>
                <a:tab pos="726440" algn="l"/>
                <a:tab pos="1076960" algn="l"/>
                <a:tab pos="1427480" algn="l"/>
                <a:tab pos="1778000" algn="l"/>
                <a:tab pos="2128520" algn="l"/>
                <a:tab pos="2479040" algn="l"/>
              </a:tabLst>
            </a:pP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7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6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5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4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3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2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1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0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183" name="object 183"/>
          <p:cNvSpPr/>
          <p:nvPr/>
        </p:nvSpPr>
        <p:spPr>
          <a:xfrm>
            <a:off x="1833383" y="513654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61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2183969" y="513654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37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2534605" y="513654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37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2893898" y="513654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37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3226970" y="513654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37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3577606" y="513654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37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3928117" y="5136544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160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4287534" y="513654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37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6040958" y="4109221"/>
            <a:ext cx="3155950" cy="1294130"/>
          </a:xfrm>
          <a:custGeom>
            <a:avLst/>
            <a:gdLst/>
            <a:ahLst/>
            <a:cxnLst/>
            <a:rect l="l" t="t" r="r" b="b"/>
            <a:pathLst>
              <a:path w="3155950" h="1294129">
                <a:moveTo>
                  <a:pt x="0" y="1293766"/>
                </a:moveTo>
                <a:lnTo>
                  <a:pt x="3155347" y="1293766"/>
                </a:lnTo>
                <a:lnTo>
                  <a:pt x="3155347" y="0"/>
                </a:lnTo>
                <a:lnTo>
                  <a:pt x="0" y="0"/>
                </a:lnTo>
                <a:lnTo>
                  <a:pt x="0" y="12937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6040958" y="4109221"/>
            <a:ext cx="3155950" cy="1294130"/>
          </a:xfrm>
          <a:custGeom>
            <a:avLst/>
            <a:gdLst/>
            <a:ahLst/>
            <a:cxnLst/>
            <a:rect l="l" t="t" r="r" b="b"/>
            <a:pathLst>
              <a:path w="3155950" h="1294129">
                <a:moveTo>
                  <a:pt x="0" y="1293766"/>
                </a:moveTo>
                <a:lnTo>
                  <a:pt x="3155347" y="1293766"/>
                </a:lnTo>
                <a:lnTo>
                  <a:pt x="3155347" y="0"/>
                </a:lnTo>
                <a:lnTo>
                  <a:pt x="0" y="0"/>
                </a:lnTo>
                <a:lnTo>
                  <a:pt x="0" y="1293766"/>
                </a:lnTo>
                <a:close/>
              </a:path>
            </a:pathLst>
          </a:custGeom>
          <a:ln w="24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5690323" y="4756104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>
                <a:moveTo>
                  <a:pt x="0" y="0"/>
                </a:moveTo>
                <a:lnTo>
                  <a:pt x="350635" y="0"/>
                </a:lnTo>
                <a:lnTo>
                  <a:pt x="0" y="0"/>
                </a:lnTo>
                <a:close/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9196182" y="4756104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>
                <a:moveTo>
                  <a:pt x="0" y="0"/>
                </a:moveTo>
                <a:lnTo>
                  <a:pt x="350635" y="0"/>
                </a:lnTo>
                <a:lnTo>
                  <a:pt x="0" y="0"/>
                </a:lnTo>
                <a:close/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5922866" y="4694773"/>
            <a:ext cx="130931" cy="12266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9183342" y="4694773"/>
            <a:ext cx="130931" cy="122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6391470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6742105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7092617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7443252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7793888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8144399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8495034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8845670" y="540298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35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6326065" y="5390147"/>
            <a:ext cx="130809" cy="12271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6676700" y="5390147"/>
            <a:ext cx="130809" cy="12271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7027213" y="5390148"/>
            <a:ext cx="130931" cy="12270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7377848" y="5390147"/>
            <a:ext cx="130809" cy="12271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7728483" y="5390147"/>
            <a:ext cx="130809" cy="12271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8078996" y="5390148"/>
            <a:ext cx="130931" cy="12270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8429630" y="5390147"/>
            <a:ext cx="130809" cy="12271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8780265" y="5390147"/>
            <a:ext cx="130809" cy="12271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6566850" y="3910632"/>
            <a:ext cx="0" cy="198755"/>
          </a:xfrm>
          <a:custGeom>
            <a:avLst/>
            <a:gdLst/>
            <a:ahLst/>
            <a:cxnLst/>
            <a:rect l="l" t="t" r="r" b="b"/>
            <a:pathLst>
              <a:path h="198754">
                <a:moveTo>
                  <a:pt x="0" y="198646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7267996" y="378580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323470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7969143" y="378580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323470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8670290" y="378580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323470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6501322" y="3999454"/>
            <a:ext cx="130931" cy="1226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7202592" y="3999453"/>
            <a:ext cx="130808" cy="12266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7903739" y="3999453"/>
            <a:ext cx="130808" cy="12266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8604887" y="3999454"/>
            <a:ext cx="130931" cy="12266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 txBox="1"/>
          <p:nvPr/>
        </p:nvSpPr>
        <p:spPr>
          <a:xfrm>
            <a:off x="6138171" y="4608309"/>
            <a:ext cx="15049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00" spc="8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2" name="object 222"/>
          <p:cNvSpPr/>
          <p:nvPr/>
        </p:nvSpPr>
        <p:spPr>
          <a:xfrm>
            <a:off x="6084247" y="4651361"/>
            <a:ext cx="219710" cy="0"/>
          </a:xfrm>
          <a:custGeom>
            <a:avLst/>
            <a:gdLst/>
            <a:ahLst/>
            <a:cxnLst/>
            <a:rect l="l" t="t" r="r" b="b"/>
            <a:pathLst>
              <a:path w="219710">
                <a:moveTo>
                  <a:pt x="0" y="0"/>
                </a:moveTo>
                <a:lnTo>
                  <a:pt x="219162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 txBox="1"/>
          <p:nvPr/>
        </p:nvSpPr>
        <p:spPr>
          <a:xfrm>
            <a:off x="8869866" y="4608309"/>
            <a:ext cx="33210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800" spc="85" dirty="0">
                <a:latin typeface="Times New Roman"/>
                <a:cs typeface="Times New Roman"/>
              </a:rPr>
              <a:t>Y</a:t>
            </a:r>
            <a:r>
              <a:rPr sz="1725" spc="127" baseline="-12077" dirty="0">
                <a:latin typeface="Times New Roman"/>
                <a:cs typeface="Times New Roman"/>
              </a:rPr>
              <a:t>S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224" name="object 224"/>
          <p:cNvSpPr/>
          <p:nvPr/>
        </p:nvSpPr>
        <p:spPr>
          <a:xfrm>
            <a:off x="8889083" y="4651361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0" y="0"/>
                </a:moveTo>
                <a:lnTo>
                  <a:pt x="219038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 txBox="1"/>
          <p:nvPr/>
        </p:nvSpPr>
        <p:spPr>
          <a:xfrm>
            <a:off x="6432115" y="4188197"/>
            <a:ext cx="45656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700" spc="127" baseline="7716" dirty="0">
                <a:latin typeface="Times New Roman"/>
                <a:cs typeface="Times New Roman"/>
              </a:rPr>
              <a:t>Y</a:t>
            </a:r>
            <a:r>
              <a:rPr sz="1150" spc="85" dirty="0">
                <a:latin typeface="Times New Roman"/>
                <a:cs typeface="Times New Roman"/>
              </a:rPr>
              <a:t>EX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26" name="object 226"/>
          <p:cNvSpPr txBox="1"/>
          <p:nvPr/>
        </p:nvSpPr>
        <p:spPr>
          <a:xfrm>
            <a:off x="7104236" y="4155565"/>
            <a:ext cx="1790064" cy="741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95"/>
              </a:spcBef>
              <a:tabLst>
                <a:tab pos="796290" algn="l"/>
                <a:tab pos="1479550" algn="l"/>
              </a:tabLst>
            </a:pPr>
            <a:r>
              <a:rPr sz="1800" spc="80" dirty="0">
                <a:latin typeface="Times New Roman"/>
                <a:cs typeface="Times New Roman"/>
              </a:rPr>
              <a:t>Y</a:t>
            </a:r>
            <a:r>
              <a:rPr sz="1725" spc="120" baseline="-12077" dirty="0">
                <a:latin typeface="Times New Roman"/>
                <a:cs typeface="Times New Roman"/>
              </a:rPr>
              <a:t>2	</a:t>
            </a:r>
            <a:r>
              <a:rPr sz="1800" spc="80" dirty="0">
                <a:latin typeface="Times New Roman"/>
                <a:cs typeface="Times New Roman"/>
              </a:rPr>
              <a:t>Y</a:t>
            </a:r>
            <a:r>
              <a:rPr sz="1725" spc="120" baseline="-12077" dirty="0">
                <a:latin typeface="Times New Roman"/>
                <a:cs typeface="Times New Roman"/>
              </a:rPr>
              <a:t>1	</a:t>
            </a:r>
            <a:r>
              <a:rPr sz="1800" spc="80" dirty="0">
                <a:latin typeface="Times New Roman"/>
                <a:cs typeface="Times New Roman"/>
              </a:rPr>
              <a:t>Y</a:t>
            </a:r>
            <a:r>
              <a:rPr sz="1725" spc="120" baseline="-12077" dirty="0">
                <a:latin typeface="Times New Roman"/>
                <a:cs typeface="Times New Roman"/>
              </a:rPr>
              <a:t>0</a:t>
            </a:r>
            <a:endParaRPr sz="1725" baseline="-12077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550"/>
              </a:spcBef>
            </a:pPr>
            <a:r>
              <a:rPr sz="1600" b="1" spc="80" dirty="0">
                <a:solidFill>
                  <a:srgbClr val="FF0000"/>
                </a:solidFill>
                <a:latin typeface="Times New Roman"/>
                <a:cs typeface="Times New Roman"/>
              </a:rPr>
              <a:t>74LS148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7" name="object 227"/>
          <p:cNvSpPr/>
          <p:nvPr/>
        </p:nvSpPr>
        <p:spPr>
          <a:xfrm>
            <a:off x="6452445" y="4198617"/>
            <a:ext cx="219710" cy="0"/>
          </a:xfrm>
          <a:custGeom>
            <a:avLst/>
            <a:gdLst/>
            <a:ahLst/>
            <a:cxnLst/>
            <a:rect l="l" t="t" r="r" b="b"/>
            <a:pathLst>
              <a:path w="219709">
                <a:moveTo>
                  <a:pt x="0" y="0"/>
                </a:moveTo>
                <a:lnTo>
                  <a:pt x="219162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7171154" y="4198617"/>
            <a:ext cx="219710" cy="0"/>
          </a:xfrm>
          <a:custGeom>
            <a:avLst/>
            <a:gdLst/>
            <a:ahLst/>
            <a:cxnLst/>
            <a:rect l="l" t="t" r="r" b="b"/>
            <a:pathLst>
              <a:path w="219709">
                <a:moveTo>
                  <a:pt x="0" y="0"/>
                </a:moveTo>
                <a:lnTo>
                  <a:pt x="219162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7872301" y="4198617"/>
            <a:ext cx="219710" cy="0"/>
          </a:xfrm>
          <a:custGeom>
            <a:avLst/>
            <a:gdLst/>
            <a:ahLst/>
            <a:cxnLst/>
            <a:rect l="l" t="t" r="r" b="b"/>
            <a:pathLst>
              <a:path w="219709">
                <a:moveTo>
                  <a:pt x="0" y="0"/>
                </a:moveTo>
                <a:lnTo>
                  <a:pt x="219162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8573448" y="4198617"/>
            <a:ext cx="219710" cy="0"/>
          </a:xfrm>
          <a:custGeom>
            <a:avLst/>
            <a:gdLst/>
            <a:ahLst/>
            <a:cxnLst/>
            <a:rect l="l" t="t" r="r" b="b"/>
            <a:pathLst>
              <a:path w="219709">
                <a:moveTo>
                  <a:pt x="0" y="0"/>
                </a:moveTo>
                <a:lnTo>
                  <a:pt x="219162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 txBox="1"/>
          <p:nvPr/>
        </p:nvSpPr>
        <p:spPr>
          <a:xfrm>
            <a:off x="6293098" y="5109648"/>
            <a:ext cx="268033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375285" algn="l"/>
                <a:tab pos="726440" algn="l"/>
                <a:tab pos="1076960" algn="l"/>
                <a:tab pos="1427480" algn="l"/>
                <a:tab pos="1778000" algn="l"/>
                <a:tab pos="2128520" algn="l"/>
                <a:tab pos="2479040" algn="l"/>
              </a:tabLst>
            </a:pP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7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6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5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4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3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2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1	</a:t>
            </a:r>
            <a:r>
              <a:rPr sz="1800" spc="50" dirty="0">
                <a:latin typeface="Times New Roman"/>
                <a:cs typeface="Times New Roman"/>
              </a:rPr>
              <a:t>I</a:t>
            </a:r>
            <a:r>
              <a:rPr sz="1725" spc="75" baseline="-12077" dirty="0">
                <a:latin typeface="Times New Roman"/>
                <a:cs typeface="Times New Roman"/>
              </a:rPr>
              <a:t>0</a:t>
            </a:r>
            <a:endParaRPr sz="1725" baseline="-12077">
              <a:latin typeface="Times New Roman"/>
              <a:cs typeface="Times New Roman"/>
            </a:endParaRPr>
          </a:p>
        </p:txBody>
      </p:sp>
      <p:sp>
        <p:nvSpPr>
          <p:cNvPr id="232" name="object 232"/>
          <p:cNvSpPr/>
          <p:nvPr/>
        </p:nvSpPr>
        <p:spPr>
          <a:xfrm>
            <a:off x="6285846" y="5136544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5">
                <a:moveTo>
                  <a:pt x="0" y="0"/>
                </a:moveTo>
                <a:lnTo>
                  <a:pt x="184160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6636482" y="513654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37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6987117" y="513654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37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7346410" y="513654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37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7679483" y="513654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37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8030118" y="513654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37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8380630" y="5136544"/>
            <a:ext cx="184785" cy="0"/>
          </a:xfrm>
          <a:custGeom>
            <a:avLst/>
            <a:gdLst/>
            <a:ahLst/>
            <a:cxnLst/>
            <a:rect l="l" t="t" r="r" b="b"/>
            <a:pathLst>
              <a:path w="184784">
                <a:moveTo>
                  <a:pt x="0" y="0"/>
                </a:moveTo>
                <a:lnTo>
                  <a:pt x="184160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8740047" y="5136544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4037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 txBox="1"/>
          <p:nvPr/>
        </p:nvSpPr>
        <p:spPr>
          <a:xfrm>
            <a:off x="1787640" y="5699272"/>
            <a:ext cx="49784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25" spc="-652" baseline="5167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225" spc="-652" baseline="775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100" spc="-652" baseline="-3968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1400" spc="-434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100" spc="-652" baseline="-3968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r>
              <a:rPr sz="1400" spc="-434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4249204" y="5676270"/>
            <a:ext cx="39878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25" spc="-742" baseline="-2583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150" spc="-49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100" spc="-742" baseline="-15873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r>
              <a:rPr sz="2100" spc="-742" baseline="-11904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endParaRPr sz="2100" baseline="-11904">
              <a:latin typeface="Times New Roman"/>
              <a:cs typeface="Times New Roman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6232210" y="5692438"/>
            <a:ext cx="39624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25" spc="-750" baseline="-2583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150" spc="-5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100" spc="-750" baseline="-15873" dirty="0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r>
              <a:rPr sz="2100" spc="-750" baseline="-11904" dirty="0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endParaRPr sz="2100" baseline="-11904">
              <a:latin typeface="Times New Roman"/>
              <a:cs typeface="Times New Roman"/>
            </a:endParaRPr>
          </a:p>
        </p:txBody>
      </p:sp>
      <p:sp>
        <p:nvSpPr>
          <p:cNvPr id="243" name="object 243"/>
          <p:cNvSpPr txBox="1"/>
          <p:nvPr/>
        </p:nvSpPr>
        <p:spPr>
          <a:xfrm>
            <a:off x="8707280" y="5676270"/>
            <a:ext cx="3930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25" spc="-757" baseline="-2583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150" spc="-50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100" spc="-757" baseline="-15873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2100" spc="-757" baseline="-11904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100" baseline="-11904">
              <a:latin typeface="Times New Roman"/>
              <a:cs typeface="Times New Roman"/>
            </a:endParaRPr>
          </a:p>
        </p:txBody>
      </p:sp>
      <p:sp>
        <p:nvSpPr>
          <p:cNvPr id="244" name="object 244"/>
          <p:cNvSpPr/>
          <p:nvPr/>
        </p:nvSpPr>
        <p:spPr>
          <a:xfrm>
            <a:off x="1237798" y="4756104"/>
            <a:ext cx="0" cy="445770"/>
          </a:xfrm>
          <a:custGeom>
            <a:avLst/>
            <a:gdLst/>
            <a:ahLst/>
            <a:cxnLst/>
            <a:rect l="l" t="t" r="r" b="b"/>
            <a:pathLst>
              <a:path h="445770">
                <a:moveTo>
                  <a:pt x="0" y="0"/>
                </a:moveTo>
                <a:lnTo>
                  <a:pt x="0" y="445384"/>
                </a:lnTo>
              </a:path>
            </a:pathLst>
          </a:custGeom>
          <a:ln w="2671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1105905" y="5201489"/>
            <a:ext cx="280670" cy="0"/>
          </a:xfrm>
          <a:custGeom>
            <a:avLst/>
            <a:gdLst/>
            <a:ahLst/>
            <a:cxnLst/>
            <a:rect l="l" t="t" r="r" b="b"/>
            <a:pathLst>
              <a:path w="280669">
                <a:moveTo>
                  <a:pt x="280471" y="0"/>
                </a:moveTo>
                <a:lnTo>
                  <a:pt x="0" y="0"/>
                </a:lnTo>
              </a:path>
            </a:pathLst>
          </a:custGeom>
          <a:ln w="2464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4865619" y="4756104"/>
            <a:ext cx="1052195" cy="0"/>
          </a:xfrm>
          <a:custGeom>
            <a:avLst/>
            <a:gdLst/>
            <a:ahLst/>
            <a:cxnLst/>
            <a:rect l="l" t="t" r="r" b="b"/>
            <a:pathLst>
              <a:path w="1052195">
                <a:moveTo>
                  <a:pt x="0" y="0"/>
                </a:moveTo>
                <a:lnTo>
                  <a:pt x="1051782" y="0"/>
                </a:lnTo>
              </a:path>
            </a:pathLst>
          </a:custGeom>
          <a:ln w="2464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5943621" y="3005029"/>
            <a:ext cx="0" cy="485775"/>
          </a:xfrm>
          <a:custGeom>
            <a:avLst/>
            <a:gdLst/>
            <a:ahLst/>
            <a:cxnLst/>
            <a:rect l="l" t="t" r="r" b="b"/>
            <a:pathLst>
              <a:path h="485775">
                <a:moveTo>
                  <a:pt x="0" y="485148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6206567" y="3005029"/>
            <a:ext cx="0" cy="485775"/>
          </a:xfrm>
          <a:custGeom>
            <a:avLst/>
            <a:gdLst/>
            <a:ahLst/>
            <a:cxnLst/>
            <a:rect l="l" t="t" r="r" b="b"/>
            <a:pathLst>
              <a:path h="485775">
                <a:moveTo>
                  <a:pt x="0" y="485148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6075094" y="2519881"/>
            <a:ext cx="0" cy="485775"/>
          </a:xfrm>
          <a:custGeom>
            <a:avLst/>
            <a:gdLst/>
            <a:ahLst/>
            <a:cxnLst/>
            <a:rect l="l" t="t" r="r" b="b"/>
            <a:pathLst>
              <a:path h="485775">
                <a:moveTo>
                  <a:pt x="0" y="0"/>
                </a:moveTo>
                <a:lnTo>
                  <a:pt x="0" y="485148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5812148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4" h="631189">
                <a:moveTo>
                  <a:pt x="262945" y="0"/>
                </a:moveTo>
                <a:lnTo>
                  <a:pt x="228308" y="22402"/>
                </a:lnTo>
                <a:lnTo>
                  <a:pt x="195395" y="49060"/>
                </a:lnTo>
                <a:lnTo>
                  <a:pt x="164346" y="79737"/>
                </a:lnTo>
                <a:lnTo>
                  <a:pt x="135302" y="114196"/>
                </a:lnTo>
                <a:lnTo>
                  <a:pt x="108405" y="152201"/>
                </a:lnTo>
                <a:lnTo>
                  <a:pt x="83796" y="193516"/>
                </a:lnTo>
                <a:lnTo>
                  <a:pt x="61615" y="237903"/>
                </a:lnTo>
                <a:lnTo>
                  <a:pt x="42004" y="285127"/>
                </a:lnTo>
                <a:lnTo>
                  <a:pt x="25104" y="334950"/>
                </a:lnTo>
                <a:lnTo>
                  <a:pt x="11055" y="387136"/>
                </a:lnTo>
                <a:lnTo>
                  <a:pt x="0" y="441448"/>
                </a:lnTo>
                <a:lnTo>
                  <a:pt x="0" y="630738"/>
                </a:lnTo>
                <a:lnTo>
                  <a:pt x="42189" y="603884"/>
                </a:lnTo>
                <a:lnTo>
                  <a:pt x="85275" y="581913"/>
                </a:lnTo>
                <a:lnTo>
                  <a:pt x="129078" y="564824"/>
                </a:lnTo>
                <a:lnTo>
                  <a:pt x="173418" y="552618"/>
                </a:lnTo>
                <a:lnTo>
                  <a:pt x="218116" y="545295"/>
                </a:lnTo>
                <a:lnTo>
                  <a:pt x="262991" y="542853"/>
                </a:lnTo>
                <a:lnTo>
                  <a:pt x="525891" y="542853"/>
                </a:lnTo>
                <a:lnTo>
                  <a:pt x="525891" y="441448"/>
                </a:lnTo>
                <a:lnTo>
                  <a:pt x="514657" y="387344"/>
                </a:lnTo>
                <a:lnTo>
                  <a:pt x="500475" y="335343"/>
                </a:lnTo>
                <a:lnTo>
                  <a:pt x="483485" y="285676"/>
                </a:lnTo>
                <a:lnTo>
                  <a:pt x="463822" y="238573"/>
                </a:lnTo>
                <a:lnTo>
                  <a:pt x="441626" y="194264"/>
                </a:lnTo>
                <a:lnTo>
                  <a:pt x="417033" y="152981"/>
                </a:lnTo>
                <a:lnTo>
                  <a:pt x="390182" y="114952"/>
                </a:lnTo>
                <a:lnTo>
                  <a:pt x="361210" y="80409"/>
                </a:lnTo>
                <a:lnTo>
                  <a:pt x="330254" y="49583"/>
                </a:lnTo>
                <a:lnTo>
                  <a:pt x="297454" y="22703"/>
                </a:lnTo>
                <a:lnTo>
                  <a:pt x="262945" y="0"/>
                </a:lnTo>
                <a:close/>
              </a:path>
              <a:path w="526414" h="631189">
                <a:moveTo>
                  <a:pt x="525891" y="542853"/>
                </a:moveTo>
                <a:lnTo>
                  <a:pt x="262991" y="542853"/>
                </a:lnTo>
                <a:lnTo>
                  <a:pt x="307864" y="545295"/>
                </a:lnTo>
                <a:lnTo>
                  <a:pt x="352554" y="552618"/>
                </a:lnTo>
                <a:lnTo>
                  <a:pt x="396882" y="564824"/>
                </a:lnTo>
                <a:lnTo>
                  <a:pt x="440667" y="581913"/>
                </a:lnTo>
                <a:lnTo>
                  <a:pt x="483730" y="603884"/>
                </a:lnTo>
                <a:lnTo>
                  <a:pt x="525891" y="630738"/>
                </a:lnTo>
                <a:lnTo>
                  <a:pt x="525891" y="5428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5812149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4" h="631189">
                <a:moveTo>
                  <a:pt x="262945" y="0"/>
                </a:moveTo>
                <a:lnTo>
                  <a:pt x="297454" y="22703"/>
                </a:lnTo>
                <a:lnTo>
                  <a:pt x="330254" y="49583"/>
                </a:lnTo>
                <a:lnTo>
                  <a:pt x="361210" y="80409"/>
                </a:lnTo>
                <a:lnTo>
                  <a:pt x="390182" y="114952"/>
                </a:lnTo>
                <a:lnTo>
                  <a:pt x="417033" y="152981"/>
                </a:lnTo>
                <a:lnTo>
                  <a:pt x="441626" y="194264"/>
                </a:lnTo>
                <a:lnTo>
                  <a:pt x="463822" y="238573"/>
                </a:lnTo>
                <a:lnTo>
                  <a:pt x="483485" y="285676"/>
                </a:lnTo>
                <a:lnTo>
                  <a:pt x="500475" y="335343"/>
                </a:lnTo>
                <a:lnTo>
                  <a:pt x="514657" y="387344"/>
                </a:lnTo>
                <a:lnTo>
                  <a:pt x="525891" y="441448"/>
                </a:lnTo>
                <a:lnTo>
                  <a:pt x="525891" y="630738"/>
                </a:lnTo>
                <a:lnTo>
                  <a:pt x="483730" y="603884"/>
                </a:lnTo>
                <a:lnTo>
                  <a:pt x="440667" y="581913"/>
                </a:lnTo>
                <a:lnTo>
                  <a:pt x="396882" y="564824"/>
                </a:lnTo>
                <a:lnTo>
                  <a:pt x="352554" y="552618"/>
                </a:lnTo>
                <a:lnTo>
                  <a:pt x="307864" y="545295"/>
                </a:lnTo>
                <a:lnTo>
                  <a:pt x="262991" y="542853"/>
                </a:lnTo>
                <a:lnTo>
                  <a:pt x="218116" y="545295"/>
                </a:lnTo>
                <a:lnTo>
                  <a:pt x="173418" y="552618"/>
                </a:lnTo>
                <a:lnTo>
                  <a:pt x="129078" y="564824"/>
                </a:lnTo>
                <a:lnTo>
                  <a:pt x="85275" y="581913"/>
                </a:lnTo>
                <a:lnTo>
                  <a:pt x="42189" y="603884"/>
                </a:lnTo>
                <a:lnTo>
                  <a:pt x="0" y="630738"/>
                </a:lnTo>
                <a:lnTo>
                  <a:pt x="0" y="441448"/>
                </a:lnTo>
                <a:lnTo>
                  <a:pt x="11055" y="387136"/>
                </a:lnTo>
                <a:lnTo>
                  <a:pt x="25104" y="334950"/>
                </a:lnTo>
                <a:lnTo>
                  <a:pt x="42004" y="285127"/>
                </a:lnTo>
                <a:lnTo>
                  <a:pt x="61615" y="237903"/>
                </a:lnTo>
                <a:lnTo>
                  <a:pt x="83796" y="193516"/>
                </a:lnTo>
                <a:lnTo>
                  <a:pt x="108405" y="152201"/>
                </a:lnTo>
                <a:lnTo>
                  <a:pt x="135302" y="114196"/>
                </a:lnTo>
                <a:lnTo>
                  <a:pt x="164346" y="79737"/>
                </a:lnTo>
                <a:lnTo>
                  <a:pt x="195395" y="49060"/>
                </a:lnTo>
                <a:lnTo>
                  <a:pt x="228308" y="22402"/>
                </a:lnTo>
                <a:lnTo>
                  <a:pt x="262945" y="0"/>
                </a:lnTo>
                <a:close/>
              </a:path>
            </a:pathLst>
          </a:custGeom>
          <a:ln w="25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6022925" y="2606079"/>
            <a:ext cx="104463" cy="98245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5812148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4" h="631189">
                <a:moveTo>
                  <a:pt x="262945" y="0"/>
                </a:moveTo>
                <a:lnTo>
                  <a:pt x="215685" y="3908"/>
                </a:lnTo>
                <a:lnTo>
                  <a:pt x="171203" y="15178"/>
                </a:lnTo>
                <a:lnTo>
                  <a:pt x="130240" y="33122"/>
                </a:lnTo>
                <a:lnTo>
                  <a:pt x="93541" y="57056"/>
                </a:lnTo>
                <a:lnTo>
                  <a:pt x="61847" y="86294"/>
                </a:lnTo>
                <a:lnTo>
                  <a:pt x="35904" y="120150"/>
                </a:lnTo>
                <a:lnTo>
                  <a:pt x="16452" y="157939"/>
                </a:lnTo>
                <a:lnTo>
                  <a:pt x="4237" y="198975"/>
                </a:lnTo>
                <a:lnTo>
                  <a:pt x="0" y="242574"/>
                </a:lnTo>
                <a:lnTo>
                  <a:pt x="0" y="630738"/>
                </a:lnTo>
                <a:lnTo>
                  <a:pt x="525891" y="630738"/>
                </a:lnTo>
                <a:lnTo>
                  <a:pt x="525891" y="242574"/>
                </a:lnTo>
                <a:lnTo>
                  <a:pt x="521654" y="198975"/>
                </a:lnTo>
                <a:lnTo>
                  <a:pt x="509438" y="157939"/>
                </a:lnTo>
                <a:lnTo>
                  <a:pt x="489987" y="120150"/>
                </a:lnTo>
                <a:lnTo>
                  <a:pt x="464043" y="86294"/>
                </a:lnTo>
                <a:lnTo>
                  <a:pt x="432350" y="57056"/>
                </a:lnTo>
                <a:lnTo>
                  <a:pt x="395650" y="33122"/>
                </a:lnTo>
                <a:lnTo>
                  <a:pt x="354687" y="15178"/>
                </a:lnTo>
                <a:lnTo>
                  <a:pt x="310205" y="3908"/>
                </a:lnTo>
                <a:lnTo>
                  <a:pt x="2629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5812149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4" h="631189">
                <a:moveTo>
                  <a:pt x="525891" y="242574"/>
                </a:moveTo>
                <a:lnTo>
                  <a:pt x="525891" y="630738"/>
                </a:lnTo>
                <a:lnTo>
                  <a:pt x="0" y="630738"/>
                </a:lnTo>
                <a:lnTo>
                  <a:pt x="0" y="242574"/>
                </a:lnTo>
                <a:lnTo>
                  <a:pt x="4237" y="198975"/>
                </a:lnTo>
                <a:lnTo>
                  <a:pt x="16452" y="157939"/>
                </a:lnTo>
                <a:lnTo>
                  <a:pt x="35904" y="120150"/>
                </a:lnTo>
                <a:lnTo>
                  <a:pt x="61847" y="86294"/>
                </a:lnTo>
                <a:lnTo>
                  <a:pt x="93541" y="57056"/>
                </a:lnTo>
                <a:lnTo>
                  <a:pt x="130240" y="33122"/>
                </a:lnTo>
                <a:lnTo>
                  <a:pt x="171203" y="15178"/>
                </a:lnTo>
                <a:lnTo>
                  <a:pt x="215685" y="3908"/>
                </a:lnTo>
                <a:lnTo>
                  <a:pt x="262945" y="0"/>
                </a:lnTo>
                <a:lnTo>
                  <a:pt x="310205" y="3908"/>
                </a:lnTo>
                <a:lnTo>
                  <a:pt x="354687" y="15178"/>
                </a:lnTo>
                <a:lnTo>
                  <a:pt x="395650" y="33122"/>
                </a:lnTo>
                <a:lnTo>
                  <a:pt x="432350" y="57056"/>
                </a:lnTo>
                <a:lnTo>
                  <a:pt x="464043" y="86294"/>
                </a:lnTo>
                <a:lnTo>
                  <a:pt x="489987" y="120150"/>
                </a:lnTo>
                <a:lnTo>
                  <a:pt x="509438" y="157939"/>
                </a:lnTo>
                <a:lnTo>
                  <a:pt x="521654" y="198975"/>
                </a:lnTo>
                <a:lnTo>
                  <a:pt x="525891" y="242574"/>
                </a:lnTo>
                <a:close/>
              </a:path>
            </a:pathLst>
          </a:custGeom>
          <a:ln w="25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7679112" y="3005029"/>
            <a:ext cx="0" cy="485775"/>
          </a:xfrm>
          <a:custGeom>
            <a:avLst/>
            <a:gdLst/>
            <a:ahLst/>
            <a:cxnLst/>
            <a:rect l="l" t="t" r="r" b="b"/>
            <a:pathLst>
              <a:path h="485775">
                <a:moveTo>
                  <a:pt x="0" y="485148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7942057" y="3005029"/>
            <a:ext cx="0" cy="485775"/>
          </a:xfrm>
          <a:custGeom>
            <a:avLst/>
            <a:gdLst/>
            <a:ahLst/>
            <a:cxnLst/>
            <a:rect l="l" t="t" r="r" b="b"/>
            <a:pathLst>
              <a:path h="485775">
                <a:moveTo>
                  <a:pt x="0" y="485148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7810585" y="2519881"/>
            <a:ext cx="0" cy="485775"/>
          </a:xfrm>
          <a:custGeom>
            <a:avLst/>
            <a:gdLst/>
            <a:ahLst/>
            <a:cxnLst/>
            <a:rect l="l" t="t" r="r" b="b"/>
            <a:pathLst>
              <a:path h="485775">
                <a:moveTo>
                  <a:pt x="0" y="0"/>
                </a:moveTo>
                <a:lnTo>
                  <a:pt x="0" y="485148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7547639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5" h="631189">
                <a:moveTo>
                  <a:pt x="262945" y="0"/>
                </a:moveTo>
                <a:lnTo>
                  <a:pt x="228278" y="22402"/>
                </a:lnTo>
                <a:lnTo>
                  <a:pt x="195340" y="49060"/>
                </a:lnTo>
                <a:lnTo>
                  <a:pt x="164272" y="79737"/>
                </a:lnTo>
                <a:lnTo>
                  <a:pt x="135216" y="114196"/>
                </a:lnTo>
                <a:lnTo>
                  <a:pt x="108313" y="152201"/>
                </a:lnTo>
                <a:lnTo>
                  <a:pt x="83704" y="193516"/>
                </a:lnTo>
                <a:lnTo>
                  <a:pt x="61529" y="237903"/>
                </a:lnTo>
                <a:lnTo>
                  <a:pt x="41930" y="285127"/>
                </a:lnTo>
                <a:lnTo>
                  <a:pt x="25048" y="334950"/>
                </a:lnTo>
                <a:lnTo>
                  <a:pt x="11024" y="387136"/>
                </a:lnTo>
                <a:lnTo>
                  <a:pt x="0" y="441448"/>
                </a:lnTo>
                <a:lnTo>
                  <a:pt x="0" y="630738"/>
                </a:lnTo>
                <a:lnTo>
                  <a:pt x="42160" y="603884"/>
                </a:lnTo>
                <a:lnTo>
                  <a:pt x="85223" y="581913"/>
                </a:lnTo>
                <a:lnTo>
                  <a:pt x="129008" y="564824"/>
                </a:lnTo>
                <a:lnTo>
                  <a:pt x="173336" y="552618"/>
                </a:lnTo>
                <a:lnTo>
                  <a:pt x="218026" y="545295"/>
                </a:lnTo>
                <a:lnTo>
                  <a:pt x="262899" y="542853"/>
                </a:lnTo>
                <a:lnTo>
                  <a:pt x="525891" y="542853"/>
                </a:lnTo>
                <a:lnTo>
                  <a:pt x="525891" y="441448"/>
                </a:lnTo>
                <a:lnTo>
                  <a:pt x="514629" y="387344"/>
                </a:lnTo>
                <a:lnTo>
                  <a:pt x="500430" y="335343"/>
                </a:lnTo>
                <a:lnTo>
                  <a:pt x="483431" y="285676"/>
                </a:lnTo>
                <a:lnTo>
                  <a:pt x="463768" y="238573"/>
                </a:lnTo>
                <a:lnTo>
                  <a:pt x="441576" y="194264"/>
                </a:lnTo>
                <a:lnTo>
                  <a:pt x="416991" y="152981"/>
                </a:lnTo>
                <a:lnTo>
                  <a:pt x="390151" y="114952"/>
                </a:lnTo>
                <a:lnTo>
                  <a:pt x="361190" y="80409"/>
                </a:lnTo>
                <a:lnTo>
                  <a:pt x="330244" y="49583"/>
                </a:lnTo>
                <a:lnTo>
                  <a:pt x="297451" y="22703"/>
                </a:lnTo>
                <a:lnTo>
                  <a:pt x="262945" y="0"/>
                </a:lnTo>
                <a:close/>
              </a:path>
              <a:path w="526415" h="631189">
                <a:moveTo>
                  <a:pt x="525891" y="542853"/>
                </a:moveTo>
                <a:lnTo>
                  <a:pt x="262899" y="542853"/>
                </a:lnTo>
                <a:lnTo>
                  <a:pt x="307774" y="545295"/>
                </a:lnTo>
                <a:lnTo>
                  <a:pt x="352472" y="552618"/>
                </a:lnTo>
                <a:lnTo>
                  <a:pt x="396812" y="564824"/>
                </a:lnTo>
                <a:lnTo>
                  <a:pt x="440616" y="581913"/>
                </a:lnTo>
                <a:lnTo>
                  <a:pt x="483702" y="603884"/>
                </a:lnTo>
                <a:lnTo>
                  <a:pt x="525891" y="630738"/>
                </a:lnTo>
                <a:lnTo>
                  <a:pt x="525891" y="5428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7547639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5" h="631189">
                <a:moveTo>
                  <a:pt x="262945" y="0"/>
                </a:moveTo>
                <a:lnTo>
                  <a:pt x="297451" y="22703"/>
                </a:lnTo>
                <a:lnTo>
                  <a:pt x="330244" y="49583"/>
                </a:lnTo>
                <a:lnTo>
                  <a:pt x="361190" y="80409"/>
                </a:lnTo>
                <a:lnTo>
                  <a:pt x="390151" y="114952"/>
                </a:lnTo>
                <a:lnTo>
                  <a:pt x="416991" y="152981"/>
                </a:lnTo>
                <a:lnTo>
                  <a:pt x="441576" y="194264"/>
                </a:lnTo>
                <a:lnTo>
                  <a:pt x="463768" y="238573"/>
                </a:lnTo>
                <a:lnTo>
                  <a:pt x="483431" y="285676"/>
                </a:lnTo>
                <a:lnTo>
                  <a:pt x="500430" y="335343"/>
                </a:lnTo>
                <a:lnTo>
                  <a:pt x="514629" y="387344"/>
                </a:lnTo>
                <a:lnTo>
                  <a:pt x="525891" y="441448"/>
                </a:lnTo>
                <a:lnTo>
                  <a:pt x="525891" y="630738"/>
                </a:lnTo>
                <a:lnTo>
                  <a:pt x="483702" y="603884"/>
                </a:lnTo>
                <a:lnTo>
                  <a:pt x="440616" y="581913"/>
                </a:lnTo>
                <a:lnTo>
                  <a:pt x="396812" y="564824"/>
                </a:lnTo>
                <a:lnTo>
                  <a:pt x="352472" y="552618"/>
                </a:lnTo>
                <a:lnTo>
                  <a:pt x="307774" y="545295"/>
                </a:lnTo>
                <a:lnTo>
                  <a:pt x="262899" y="542853"/>
                </a:lnTo>
                <a:lnTo>
                  <a:pt x="218026" y="545295"/>
                </a:lnTo>
                <a:lnTo>
                  <a:pt x="173336" y="552618"/>
                </a:lnTo>
                <a:lnTo>
                  <a:pt x="129008" y="564824"/>
                </a:lnTo>
                <a:lnTo>
                  <a:pt x="85223" y="581913"/>
                </a:lnTo>
                <a:lnTo>
                  <a:pt x="42160" y="603884"/>
                </a:lnTo>
                <a:lnTo>
                  <a:pt x="0" y="630738"/>
                </a:lnTo>
                <a:lnTo>
                  <a:pt x="0" y="441448"/>
                </a:lnTo>
                <a:lnTo>
                  <a:pt x="11024" y="387136"/>
                </a:lnTo>
                <a:lnTo>
                  <a:pt x="25048" y="334950"/>
                </a:lnTo>
                <a:lnTo>
                  <a:pt x="41930" y="285127"/>
                </a:lnTo>
                <a:lnTo>
                  <a:pt x="61529" y="237903"/>
                </a:lnTo>
                <a:lnTo>
                  <a:pt x="83704" y="193516"/>
                </a:lnTo>
                <a:lnTo>
                  <a:pt x="108313" y="152201"/>
                </a:lnTo>
                <a:lnTo>
                  <a:pt x="135216" y="114196"/>
                </a:lnTo>
                <a:lnTo>
                  <a:pt x="164272" y="79737"/>
                </a:lnTo>
                <a:lnTo>
                  <a:pt x="195340" y="49060"/>
                </a:lnTo>
                <a:lnTo>
                  <a:pt x="228278" y="22402"/>
                </a:lnTo>
                <a:lnTo>
                  <a:pt x="262945" y="0"/>
                </a:lnTo>
                <a:close/>
              </a:path>
            </a:pathLst>
          </a:custGeom>
          <a:ln w="25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7758291" y="2606079"/>
            <a:ext cx="104463" cy="98245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7547639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5" h="631189">
                <a:moveTo>
                  <a:pt x="262945" y="0"/>
                </a:moveTo>
                <a:lnTo>
                  <a:pt x="215685" y="3908"/>
                </a:lnTo>
                <a:lnTo>
                  <a:pt x="171203" y="15178"/>
                </a:lnTo>
                <a:lnTo>
                  <a:pt x="130240" y="33122"/>
                </a:lnTo>
                <a:lnTo>
                  <a:pt x="93541" y="57056"/>
                </a:lnTo>
                <a:lnTo>
                  <a:pt x="61847" y="86294"/>
                </a:lnTo>
                <a:lnTo>
                  <a:pt x="35904" y="120150"/>
                </a:lnTo>
                <a:lnTo>
                  <a:pt x="16452" y="157939"/>
                </a:lnTo>
                <a:lnTo>
                  <a:pt x="4237" y="198975"/>
                </a:lnTo>
                <a:lnTo>
                  <a:pt x="0" y="242574"/>
                </a:lnTo>
                <a:lnTo>
                  <a:pt x="0" y="630738"/>
                </a:lnTo>
                <a:lnTo>
                  <a:pt x="525891" y="630738"/>
                </a:lnTo>
                <a:lnTo>
                  <a:pt x="525891" y="242574"/>
                </a:lnTo>
                <a:lnTo>
                  <a:pt x="521654" y="198975"/>
                </a:lnTo>
                <a:lnTo>
                  <a:pt x="509438" y="157939"/>
                </a:lnTo>
                <a:lnTo>
                  <a:pt x="489987" y="120150"/>
                </a:lnTo>
                <a:lnTo>
                  <a:pt x="464043" y="86294"/>
                </a:lnTo>
                <a:lnTo>
                  <a:pt x="432350" y="57056"/>
                </a:lnTo>
                <a:lnTo>
                  <a:pt x="395650" y="33122"/>
                </a:lnTo>
                <a:lnTo>
                  <a:pt x="354687" y="15178"/>
                </a:lnTo>
                <a:lnTo>
                  <a:pt x="310205" y="3908"/>
                </a:lnTo>
                <a:lnTo>
                  <a:pt x="2629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7547639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5" h="631189">
                <a:moveTo>
                  <a:pt x="525891" y="242574"/>
                </a:moveTo>
                <a:lnTo>
                  <a:pt x="525891" y="630738"/>
                </a:lnTo>
                <a:lnTo>
                  <a:pt x="0" y="630738"/>
                </a:lnTo>
                <a:lnTo>
                  <a:pt x="0" y="242574"/>
                </a:lnTo>
                <a:lnTo>
                  <a:pt x="4237" y="198975"/>
                </a:lnTo>
                <a:lnTo>
                  <a:pt x="16452" y="157939"/>
                </a:lnTo>
                <a:lnTo>
                  <a:pt x="35904" y="120150"/>
                </a:lnTo>
                <a:lnTo>
                  <a:pt x="61847" y="86294"/>
                </a:lnTo>
                <a:lnTo>
                  <a:pt x="93541" y="57056"/>
                </a:lnTo>
                <a:lnTo>
                  <a:pt x="130240" y="33122"/>
                </a:lnTo>
                <a:lnTo>
                  <a:pt x="171203" y="15178"/>
                </a:lnTo>
                <a:lnTo>
                  <a:pt x="215685" y="3908"/>
                </a:lnTo>
                <a:lnTo>
                  <a:pt x="262945" y="0"/>
                </a:lnTo>
                <a:lnTo>
                  <a:pt x="310205" y="3908"/>
                </a:lnTo>
                <a:lnTo>
                  <a:pt x="354687" y="15178"/>
                </a:lnTo>
                <a:lnTo>
                  <a:pt x="395650" y="33122"/>
                </a:lnTo>
                <a:lnTo>
                  <a:pt x="432350" y="57056"/>
                </a:lnTo>
                <a:lnTo>
                  <a:pt x="464043" y="86294"/>
                </a:lnTo>
                <a:lnTo>
                  <a:pt x="489987" y="120150"/>
                </a:lnTo>
                <a:lnTo>
                  <a:pt x="509438" y="157939"/>
                </a:lnTo>
                <a:lnTo>
                  <a:pt x="521654" y="198975"/>
                </a:lnTo>
                <a:lnTo>
                  <a:pt x="525891" y="242574"/>
                </a:lnTo>
                <a:close/>
              </a:path>
            </a:pathLst>
          </a:custGeom>
          <a:ln w="25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4015436" y="3005029"/>
            <a:ext cx="0" cy="485775"/>
          </a:xfrm>
          <a:custGeom>
            <a:avLst/>
            <a:gdLst/>
            <a:ahLst/>
            <a:cxnLst/>
            <a:rect l="l" t="t" r="r" b="b"/>
            <a:pathLst>
              <a:path h="485775">
                <a:moveTo>
                  <a:pt x="0" y="485148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4278382" y="3005029"/>
            <a:ext cx="0" cy="485775"/>
          </a:xfrm>
          <a:custGeom>
            <a:avLst/>
            <a:gdLst/>
            <a:ahLst/>
            <a:cxnLst/>
            <a:rect l="l" t="t" r="r" b="b"/>
            <a:pathLst>
              <a:path h="485775">
                <a:moveTo>
                  <a:pt x="0" y="485148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4146909" y="2519881"/>
            <a:ext cx="0" cy="485775"/>
          </a:xfrm>
          <a:custGeom>
            <a:avLst/>
            <a:gdLst/>
            <a:ahLst/>
            <a:cxnLst/>
            <a:rect l="l" t="t" r="r" b="b"/>
            <a:pathLst>
              <a:path h="485775">
                <a:moveTo>
                  <a:pt x="0" y="0"/>
                </a:moveTo>
                <a:lnTo>
                  <a:pt x="0" y="485148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3883963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4" h="631189">
                <a:moveTo>
                  <a:pt x="262945" y="0"/>
                </a:moveTo>
                <a:lnTo>
                  <a:pt x="228278" y="22402"/>
                </a:lnTo>
                <a:lnTo>
                  <a:pt x="195340" y="49060"/>
                </a:lnTo>
                <a:lnTo>
                  <a:pt x="164272" y="79737"/>
                </a:lnTo>
                <a:lnTo>
                  <a:pt x="135216" y="114196"/>
                </a:lnTo>
                <a:lnTo>
                  <a:pt x="108313" y="152201"/>
                </a:lnTo>
                <a:lnTo>
                  <a:pt x="83704" y="193516"/>
                </a:lnTo>
                <a:lnTo>
                  <a:pt x="61529" y="237903"/>
                </a:lnTo>
                <a:lnTo>
                  <a:pt x="41930" y="285127"/>
                </a:lnTo>
                <a:lnTo>
                  <a:pt x="25048" y="334950"/>
                </a:lnTo>
                <a:lnTo>
                  <a:pt x="11024" y="387136"/>
                </a:lnTo>
                <a:lnTo>
                  <a:pt x="0" y="441448"/>
                </a:lnTo>
                <a:lnTo>
                  <a:pt x="0" y="630738"/>
                </a:lnTo>
                <a:lnTo>
                  <a:pt x="42160" y="603884"/>
                </a:lnTo>
                <a:lnTo>
                  <a:pt x="85223" y="581913"/>
                </a:lnTo>
                <a:lnTo>
                  <a:pt x="129008" y="564824"/>
                </a:lnTo>
                <a:lnTo>
                  <a:pt x="173336" y="552618"/>
                </a:lnTo>
                <a:lnTo>
                  <a:pt x="218026" y="545295"/>
                </a:lnTo>
                <a:lnTo>
                  <a:pt x="262899" y="542853"/>
                </a:lnTo>
                <a:lnTo>
                  <a:pt x="525891" y="542853"/>
                </a:lnTo>
                <a:lnTo>
                  <a:pt x="525891" y="441448"/>
                </a:lnTo>
                <a:lnTo>
                  <a:pt x="514629" y="387344"/>
                </a:lnTo>
                <a:lnTo>
                  <a:pt x="500430" y="335343"/>
                </a:lnTo>
                <a:lnTo>
                  <a:pt x="483431" y="285676"/>
                </a:lnTo>
                <a:lnTo>
                  <a:pt x="463768" y="238573"/>
                </a:lnTo>
                <a:lnTo>
                  <a:pt x="441576" y="194264"/>
                </a:lnTo>
                <a:lnTo>
                  <a:pt x="416991" y="152981"/>
                </a:lnTo>
                <a:lnTo>
                  <a:pt x="390151" y="114952"/>
                </a:lnTo>
                <a:lnTo>
                  <a:pt x="361190" y="80409"/>
                </a:lnTo>
                <a:lnTo>
                  <a:pt x="330244" y="49583"/>
                </a:lnTo>
                <a:lnTo>
                  <a:pt x="297451" y="22703"/>
                </a:lnTo>
                <a:lnTo>
                  <a:pt x="262945" y="0"/>
                </a:lnTo>
                <a:close/>
              </a:path>
              <a:path w="526414" h="631189">
                <a:moveTo>
                  <a:pt x="525891" y="542853"/>
                </a:moveTo>
                <a:lnTo>
                  <a:pt x="262899" y="542853"/>
                </a:lnTo>
                <a:lnTo>
                  <a:pt x="307774" y="545295"/>
                </a:lnTo>
                <a:lnTo>
                  <a:pt x="352472" y="552618"/>
                </a:lnTo>
                <a:lnTo>
                  <a:pt x="396812" y="564824"/>
                </a:lnTo>
                <a:lnTo>
                  <a:pt x="440616" y="581913"/>
                </a:lnTo>
                <a:lnTo>
                  <a:pt x="483702" y="603884"/>
                </a:lnTo>
                <a:lnTo>
                  <a:pt x="525891" y="630738"/>
                </a:lnTo>
                <a:lnTo>
                  <a:pt x="525891" y="5428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3883963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4" h="631189">
                <a:moveTo>
                  <a:pt x="262945" y="0"/>
                </a:moveTo>
                <a:lnTo>
                  <a:pt x="297451" y="22703"/>
                </a:lnTo>
                <a:lnTo>
                  <a:pt x="330244" y="49583"/>
                </a:lnTo>
                <a:lnTo>
                  <a:pt x="361190" y="80409"/>
                </a:lnTo>
                <a:lnTo>
                  <a:pt x="390151" y="114952"/>
                </a:lnTo>
                <a:lnTo>
                  <a:pt x="416991" y="152981"/>
                </a:lnTo>
                <a:lnTo>
                  <a:pt x="441576" y="194264"/>
                </a:lnTo>
                <a:lnTo>
                  <a:pt x="463768" y="238573"/>
                </a:lnTo>
                <a:lnTo>
                  <a:pt x="483431" y="285676"/>
                </a:lnTo>
                <a:lnTo>
                  <a:pt x="500430" y="335343"/>
                </a:lnTo>
                <a:lnTo>
                  <a:pt x="514629" y="387344"/>
                </a:lnTo>
                <a:lnTo>
                  <a:pt x="525891" y="441448"/>
                </a:lnTo>
                <a:lnTo>
                  <a:pt x="525891" y="630738"/>
                </a:lnTo>
                <a:lnTo>
                  <a:pt x="483702" y="603884"/>
                </a:lnTo>
                <a:lnTo>
                  <a:pt x="440616" y="581913"/>
                </a:lnTo>
                <a:lnTo>
                  <a:pt x="396812" y="564824"/>
                </a:lnTo>
                <a:lnTo>
                  <a:pt x="352472" y="552618"/>
                </a:lnTo>
                <a:lnTo>
                  <a:pt x="307774" y="545295"/>
                </a:lnTo>
                <a:lnTo>
                  <a:pt x="262899" y="542853"/>
                </a:lnTo>
                <a:lnTo>
                  <a:pt x="218026" y="545295"/>
                </a:lnTo>
                <a:lnTo>
                  <a:pt x="173336" y="552618"/>
                </a:lnTo>
                <a:lnTo>
                  <a:pt x="129008" y="564824"/>
                </a:lnTo>
                <a:lnTo>
                  <a:pt x="85223" y="581913"/>
                </a:lnTo>
                <a:lnTo>
                  <a:pt x="42160" y="603884"/>
                </a:lnTo>
                <a:lnTo>
                  <a:pt x="0" y="630738"/>
                </a:lnTo>
                <a:lnTo>
                  <a:pt x="0" y="441448"/>
                </a:lnTo>
                <a:lnTo>
                  <a:pt x="11024" y="387136"/>
                </a:lnTo>
                <a:lnTo>
                  <a:pt x="25048" y="334950"/>
                </a:lnTo>
                <a:lnTo>
                  <a:pt x="41930" y="285127"/>
                </a:lnTo>
                <a:lnTo>
                  <a:pt x="61529" y="237903"/>
                </a:lnTo>
                <a:lnTo>
                  <a:pt x="83704" y="193516"/>
                </a:lnTo>
                <a:lnTo>
                  <a:pt x="108313" y="152201"/>
                </a:lnTo>
                <a:lnTo>
                  <a:pt x="135216" y="114196"/>
                </a:lnTo>
                <a:lnTo>
                  <a:pt x="164272" y="79737"/>
                </a:lnTo>
                <a:lnTo>
                  <a:pt x="195340" y="49060"/>
                </a:lnTo>
                <a:lnTo>
                  <a:pt x="228278" y="22402"/>
                </a:lnTo>
                <a:lnTo>
                  <a:pt x="262945" y="0"/>
                </a:lnTo>
                <a:close/>
              </a:path>
            </a:pathLst>
          </a:custGeom>
          <a:ln w="25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4094615" y="2606079"/>
            <a:ext cx="104463" cy="98245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3883963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4" h="631189">
                <a:moveTo>
                  <a:pt x="262945" y="0"/>
                </a:moveTo>
                <a:lnTo>
                  <a:pt x="215653" y="3908"/>
                </a:lnTo>
                <a:lnTo>
                  <a:pt x="171153" y="15178"/>
                </a:lnTo>
                <a:lnTo>
                  <a:pt x="130185" y="33122"/>
                </a:lnTo>
                <a:lnTo>
                  <a:pt x="93490" y="57056"/>
                </a:lnTo>
                <a:lnTo>
                  <a:pt x="61807" y="86294"/>
                </a:lnTo>
                <a:lnTo>
                  <a:pt x="35876" y="120150"/>
                </a:lnTo>
                <a:lnTo>
                  <a:pt x="16438" y="157939"/>
                </a:lnTo>
                <a:lnTo>
                  <a:pt x="4232" y="198975"/>
                </a:lnTo>
                <a:lnTo>
                  <a:pt x="0" y="242574"/>
                </a:lnTo>
                <a:lnTo>
                  <a:pt x="0" y="630738"/>
                </a:lnTo>
                <a:lnTo>
                  <a:pt x="525891" y="630738"/>
                </a:lnTo>
                <a:lnTo>
                  <a:pt x="525891" y="242574"/>
                </a:lnTo>
                <a:lnTo>
                  <a:pt x="521654" y="198975"/>
                </a:lnTo>
                <a:lnTo>
                  <a:pt x="509438" y="157939"/>
                </a:lnTo>
                <a:lnTo>
                  <a:pt x="489987" y="120150"/>
                </a:lnTo>
                <a:lnTo>
                  <a:pt x="464043" y="86294"/>
                </a:lnTo>
                <a:lnTo>
                  <a:pt x="432350" y="57056"/>
                </a:lnTo>
                <a:lnTo>
                  <a:pt x="395650" y="33122"/>
                </a:lnTo>
                <a:lnTo>
                  <a:pt x="354687" y="15178"/>
                </a:lnTo>
                <a:lnTo>
                  <a:pt x="310205" y="3908"/>
                </a:lnTo>
                <a:lnTo>
                  <a:pt x="2629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3883963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4" h="631189">
                <a:moveTo>
                  <a:pt x="525891" y="242574"/>
                </a:moveTo>
                <a:lnTo>
                  <a:pt x="525891" y="630738"/>
                </a:lnTo>
                <a:lnTo>
                  <a:pt x="0" y="630738"/>
                </a:lnTo>
                <a:lnTo>
                  <a:pt x="0" y="242574"/>
                </a:lnTo>
                <a:lnTo>
                  <a:pt x="4232" y="198975"/>
                </a:lnTo>
                <a:lnTo>
                  <a:pt x="16438" y="157939"/>
                </a:lnTo>
                <a:lnTo>
                  <a:pt x="35876" y="120150"/>
                </a:lnTo>
                <a:lnTo>
                  <a:pt x="61807" y="86294"/>
                </a:lnTo>
                <a:lnTo>
                  <a:pt x="93490" y="57056"/>
                </a:lnTo>
                <a:lnTo>
                  <a:pt x="130185" y="33122"/>
                </a:lnTo>
                <a:lnTo>
                  <a:pt x="171153" y="15178"/>
                </a:lnTo>
                <a:lnTo>
                  <a:pt x="215653" y="3908"/>
                </a:lnTo>
                <a:lnTo>
                  <a:pt x="262945" y="0"/>
                </a:lnTo>
                <a:lnTo>
                  <a:pt x="310205" y="3908"/>
                </a:lnTo>
                <a:lnTo>
                  <a:pt x="354687" y="15178"/>
                </a:lnTo>
                <a:lnTo>
                  <a:pt x="395650" y="33122"/>
                </a:lnTo>
                <a:lnTo>
                  <a:pt x="432350" y="57056"/>
                </a:lnTo>
                <a:lnTo>
                  <a:pt x="464043" y="86294"/>
                </a:lnTo>
                <a:lnTo>
                  <a:pt x="489987" y="120150"/>
                </a:lnTo>
                <a:lnTo>
                  <a:pt x="509438" y="157939"/>
                </a:lnTo>
                <a:lnTo>
                  <a:pt x="521654" y="198975"/>
                </a:lnTo>
                <a:lnTo>
                  <a:pt x="525891" y="242574"/>
                </a:lnTo>
                <a:close/>
              </a:path>
            </a:pathLst>
          </a:custGeom>
          <a:ln w="25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2122203" y="3005029"/>
            <a:ext cx="0" cy="485775"/>
          </a:xfrm>
          <a:custGeom>
            <a:avLst/>
            <a:gdLst/>
            <a:ahLst/>
            <a:cxnLst/>
            <a:rect l="l" t="t" r="r" b="b"/>
            <a:pathLst>
              <a:path h="485775">
                <a:moveTo>
                  <a:pt x="0" y="485148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2385198" y="3005029"/>
            <a:ext cx="0" cy="485775"/>
          </a:xfrm>
          <a:custGeom>
            <a:avLst/>
            <a:gdLst/>
            <a:ahLst/>
            <a:cxnLst/>
            <a:rect l="l" t="t" r="r" b="b"/>
            <a:pathLst>
              <a:path h="485775">
                <a:moveTo>
                  <a:pt x="0" y="485148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2253676" y="2519881"/>
            <a:ext cx="0" cy="485775"/>
          </a:xfrm>
          <a:custGeom>
            <a:avLst/>
            <a:gdLst/>
            <a:ahLst/>
            <a:cxnLst/>
            <a:rect l="l" t="t" r="r" b="b"/>
            <a:pathLst>
              <a:path h="485775">
                <a:moveTo>
                  <a:pt x="0" y="0"/>
                </a:moveTo>
                <a:lnTo>
                  <a:pt x="0" y="485148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1990730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4" h="631189">
                <a:moveTo>
                  <a:pt x="262970" y="0"/>
                </a:moveTo>
                <a:lnTo>
                  <a:pt x="228309" y="22402"/>
                </a:lnTo>
                <a:lnTo>
                  <a:pt x="195376" y="49060"/>
                </a:lnTo>
                <a:lnTo>
                  <a:pt x="164313" y="79737"/>
                </a:lnTo>
                <a:lnTo>
                  <a:pt x="135260" y="114196"/>
                </a:lnTo>
                <a:lnTo>
                  <a:pt x="108358" y="152201"/>
                </a:lnTo>
                <a:lnTo>
                  <a:pt x="83748" y="193516"/>
                </a:lnTo>
                <a:lnTo>
                  <a:pt x="61570" y="237903"/>
                </a:lnTo>
                <a:lnTo>
                  <a:pt x="41966" y="285127"/>
                </a:lnTo>
                <a:lnTo>
                  <a:pt x="25075" y="334950"/>
                </a:lnTo>
                <a:lnTo>
                  <a:pt x="11040" y="387136"/>
                </a:lnTo>
                <a:lnTo>
                  <a:pt x="0" y="441448"/>
                </a:lnTo>
                <a:lnTo>
                  <a:pt x="0" y="630738"/>
                </a:lnTo>
                <a:lnTo>
                  <a:pt x="42174" y="603884"/>
                </a:lnTo>
                <a:lnTo>
                  <a:pt x="85248" y="581913"/>
                </a:lnTo>
                <a:lnTo>
                  <a:pt x="129042" y="564824"/>
                </a:lnTo>
                <a:lnTo>
                  <a:pt x="173376" y="552618"/>
                </a:lnTo>
                <a:lnTo>
                  <a:pt x="218071" y="545295"/>
                </a:lnTo>
                <a:lnTo>
                  <a:pt x="262947" y="542853"/>
                </a:lnTo>
                <a:lnTo>
                  <a:pt x="525940" y="542853"/>
                </a:lnTo>
                <a:lnTo>
                  <a:pt x="525940" y="441448"/>
                </a:lnTo>
                <a:lnTo>
                  <a:pt x="514678" y="387344"/>
                </a:lnTo>
                <a:lnTo>
                  <a:pt x="500480" y="335343"/>
                </a:lnTo>
                <a:lnTo>
                  <a:pt x="483480" y="285676"/>
                </a:lnTo>
                <a:lnTo>
                  <a:pt x="463816" y="238573"/>
                </a:lnTo>
                <a:lnTo>
                  <a:pt x="441623" y="194264"/>
                </a:lnTo>
                <a:lnTo>
                  <a:pt x="417037" y="152981"/>
                </a:lnTo>
                <a:lnTo>
                  <a:pt x="390194" y="114952"/>
                </a:lnTo>
                <a:lnTo>
                  <a:pt x="361230" y="80409"/>
                </a:lnTo>
                <a:lnTo>
                  <a:pt x="330280" y="49583"/>
                </a:lnTo>
                <a:lnTo>
                  <a:pt x="297482" y="22703"/>
                </a:lnTo>
                <a:lnTo>
                  <a:pt x="262970" y="0"/>
                </a:lnTo>
                <a:close/>
              </a:path>
              <a:path w="526414" h="631189">
                <a:moveTo>
                  <a:pt x="525940" y="542853"/>
                </a:moveTo>
                <a:lnTo>
                  <a:pt x="262947" y="542853"/>
                </a:lnTo>
                <a:lnTo>
                  <a:pt x="307824" y="545295"/>
                </a:lnTo>
                <a:lnTo>
                  <a:pt x="352522" y="552618"/>
                </a:lnTo>
                <a:lnTo>
                  <a:pt x="396863" y="564824"/>
                </a:lnTo>
                <a:lnTo>
                  <a:pt x="440666" y="581913"/>
                </a:lnTo>
                <a:lnTo>
                  <a:pt x="483751" y="603884"/>
                </a:lnTo>
                <a:lnTo>
                  <a:pt x="525940" y="630738"/>
                </a:lnTo>
                <a:lnTo>
                  <a:pt x="525940" y="5428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1990730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4" h="631189">
                <a:moveTo>
                  <a:pt x="262970" y="0"/>
                </a:moveTo>
                <a:lnTo>
                  <a:pt x="297482" y="22703"/>
                </a:lnTo>
                <a:lnTo>
                  <a:pt x="330280" y="49583"/>
                </a:lnTo>
                <a:lnTo>
                  <a:pt x="361230" y="80409"/>
                </a:lnTo>
                <a:lnTo>
                  <a:pt x="390194" y="114952"/>
                </a:lnTo>
                <a:lnTo>
                  <a:pt x="417037" y="152981"/>
                </a:lnTo>
                <a:lnTo>
                  <a:pt x="441623" y="194264"/>
                </a:lnTo>
                <a:lnTo>
                  <a:pt x="463816" y="238573"/>
                </a:lnTo>
                <a:lnTo>
                  <a:pt x="483480" y="285676"/>
                </a:lnTo>
                <a:lnTo>
                  <a:pt x="500480" y="335343"/>
                </a:lnTo>
                <a:lnTo>
                  <a:pt x="514678" y="387344"/>
                </a:lnTo>
                <a:lnTo>
                  <a:pt x="525940" y="441448"/>
                </a:lnTo>
                <a:lnTo>
                  <a:pt x="525940" y="630738"/>
                </a:lnTo>
                <a:lnTo>
                  <a:pt x="483751" y="603884"/>
                </a:lnTo>
                <a:lnTo>
                  <a:pt x="440666" y="581913"/>
                </a:lnTo>
                <a:lnTo>
                  <a:pt x="396863" y="564824"/>
                </a:lnTo>
                <a:lnTo>
                  <a:pt x="352522" y="552618"/>
                </a:lnTo>
                <a:lnTo>
                  <a:pt x="307824" y="545295"/>
                </a:lnTo>
                <a:lnTo>
                  <a:pt x="262947" y="542853"/>
                </a:lnTo>
                <a:lnTo>
                  <a:pt x="218071" y="545295"/>
                </a:lnTo>
                <a:lnTo>
                  <a:pt x="173376" y="552618"/>
                </a:lnTo>
                <a:lnTo>
                  <a:pt x="129042" y="564824"/>
                </a:lnTo>
                <a:lnTo>
                  <a:pt x="85248" y="581913"/>
                </a:lnTo>
                <a:lnTo>
                  <a:pt x="42174" y="603884"/>
                </a:lnTo>
                <a:lnTo>
                  <a:pt x="0" y="630738"/>
                </a:lnTo>
                <a:lnTo>
                  <a:pt x="0" y="441448"/>
                </a:lnTo>
                <a:lnTo>
                  <a:pt x="11040" y="387136"/>
                </a:lnTo>
                <a:lnTo>
                  <a:pt x="25075" y="334950"/>
                </a:lnTo>
                <a:lnTo>
                  <a:pt x="41966" y="285127"/>
                </a:lnTo>
                <a:lnTo>
                  <a:pt x="61570" y="237903"/>
                </a:lnTo>
                <a:lnTo>
                  <a:pt x="83748" y="193516"/>
                </a:lnTo>
                <a:lnTo>
                  <a:pt x="108358" y="152201"/>
                </a:lnTo>
                <a:lnTo>
                  <a:pt x="135260" y="114196"/>
                </a:lnTo>
                <a:lnTo>
                  <a:pt x="164313" y="79737"/>
                </a:lnTo>
                <a:lnTo>
                  <a:pt x="195376" y="49060"/>
                </a:lnTo>
                <a:lnTo>
                  <a:pt x="228309" y="22402"/>
                </a:lnTo>
                <a:lnTo>
                  <a:pt x="262970" y="0"/>
                </a:lnTo>
                <a:close/>
              </a:path>
            </a:pathLst>
          </a:custGeom>
          <a:ln w="25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2201456" y="2606079"/>
            <a:ext cx="104426" cy="98245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1990730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4" h="631189">
                <a:moveTo>
                  <a:pt x="262945" y="0"/>
                </a:moveTo>
                <a:lnTo>
                  <a:pt x="215679" y="3908"/>
                </a:lnTo>
                <a:lnTo>
                  <a:pt x="171193" y="15178"/>
                </a:lnTo>
                <a:lnTo>
                  <a:pt x="130229" y="33122"/>
                </a:lnTo>
                <a:lnTo>
                  <a:pt x="93530" y="57056"/>
                </a:lnTo>
                <a:lnTo>
                  <a:pt x="61839" y="86294"/>
                </a:lnTo>
                <a:lnTo>
                  <a:pt x="35898" y="120150"/>
                </a:lnTo>
                <a:lnTo>
                  <a:pt x="16449" y="157939"/>
                </a:lnTo>
                <a:lnTo>
                  <a:pt x="4236" y="198975"/>
                </a:lnTo>
                <a:lnTo>
                  <a:pt x="0" y="242574"/>
                </a:lnTo>
                <a:lnTo>
                  <a:pt x="0" y="630738"/>
                </a:lnTo>
                <a:lnTo>
                  <a:pt x="525940" y="630738"/>
                </a:lnTo>
                <a:lnTo>
                  <a:pt x="525940" y="242574"/>
                </a:lnTo>
                <a:lnTo>
                  <a:pt x="521703" y="198975"/>
                </a:lnTo>
                <a:lnTo>
                  <a:pt x="509487" y="157939"/>
                </a:lnTo>
                <a:lnTo>
                  <a:pt x="490034" y="120150"/>
                </a:lnTo>
                <a:lnTo>
                  <a:pt x="464088" y="86294"/>
                </a:lnTo>
                <a:lnTo>
                  <a:pt x="432391" y="57056"/>
                </a:lnTo>
                <a:lnTo>
                  <a:pt x="395685" y="33122"/>
                </a:lnTo>
                <a:lnTo>
                  <a:pt x="354714" y="15178"/>
                </a:lnTo>
                <a:lnTo>
                  <a:pt x="310219" y="3908"/>
                </a:lnTo>
                <a:lnTo>
                  <a:pt x="2629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1990730" y="2689660"/>
            <a:ext cx="526415" cy="631190"/>
          </a:xfrm>
          <a:custGeom>
            <a:avLst/>
            <a:gdLst/>
            <a:ahLst/>
            <a:cxnLst/>
            <a:rect l="l" t="t" r="r" b="b"/>
            <a:pathLst>
              <a:path w="526414" h="631189">
                <a:moveTo>
                  <a:pt x="525940" y="242574"/>
                </a:moveTo>
                <a:lnTo>
                  <a:pt x="525940" y="630738"/>
                </a:lnTo>
                <a:lnTo>
                  <a:pt x="0" y="630738"/>
                </a:lnTo>
                <a:lnTo>
                  <a:pt x="0" y="242574"/>
                </a:lnTo>
                <a:lnTo>
                  <a:pt x="4236" y="198975"/>
                </a:lnTo>
                <a:lnTo>
                  <a:pt x="16449" y="157939"/>
                </a:lnTo>
                <a:lnTo>
                  <a:pt x="35898" y="120150"/>
                </a:lnTo>
                <a:lnTo>
                  <a:pt x="61839" y="86294"/>
                </a:lnTo>
                <a:lnTo>
                  <a:pt x="93530" y="57056"/>
                </a:lnTo>
                <a:lnTo>
                  <a:pt x="130229" y="33122"/>
                </a:lnTo>
                <a:lnTo>
                  <a:pt x="171193" y="15178"/>
                </a:lnTo>
                <a:lnTo>
                  <a:pt x="215679" y="3908"/>
                </a:lnTo>
                <a:lnTo>
                  <a:pt x="262945" y="0"/>
                </a:lnTo>
                <a:lnTo>
                  <a:pt x="310220" y="3908"/>
                </a:lnTo>
                <a:lnTo>
                  <a:pt x="354714" y="15178"/>
                </a:lnTo>
                <a:lnTo>
                  <a:pt x="395685" y="33122"/>
                </a:lnTo>
                <a:lnTo>
                  <a:pt x="432391" y="57056"/>
                </a:lnTo>
                <a:lnTo>
                  <a:pt x="464088" y="86294"/>
                </a:lnTo>
                <a:lnTo>
                  <a:pt x="490034" y="120150"/>
                </a:lnTo>
                <a:lnTo>
                  <a:pt x="509487" y="157939"/>
                </a:lnTo>
                <a:lnTo>
                  <a:pt x="521703" y="198975"/>
                </a:lnTo>
                <a:lnTo>
                  <a:pt x="525940" y="242574"/>
                </a:lnTo>
                <a:close/>
              </a:path>
            </a:pathLst>
          </a:custGeom>
          <a:ln w="25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2114275" y="3328385"/>
            <a:ext cx="5080" cy="518159"/>
          </a:xfrm>
          <a:custGeom>
            <a:avLst/>
            <a:gdLst/>
            <a:ahLst/>
            <a:cxnLst/>
            <a:rect l="l" t="t" r="r" b="b"/>
            <a:pathLst>
              <a:path w="5080" h="518160">
                <a:moveTo>
                  <a:pt x="0" y="517552"/>
                </a:moveTo>
                <a:lnTo>
                  <a:pt x="4873" y="0"/>
                </a:lnTo>
              </a:path>
            </a:pathLst>
          </a:custGeom>
          <a:ln w="267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2122203" y="3490178"/>
            <a:ext cx="263525" cy="0"/>
          </a:xfrm>
          <a:custGeom>
            <a:avLst/>
            <a:gdLst/>
            <a:ahLst/>
            <a:cxnLst/>
            <a:rect l="l" t="t" r="r" b="b"/>
            <a:pathLst>
              <a:path w="263525">
                <a:moveTo>
                  <a:pt x="262995" y="0"/>
                </a:moveTo>
                <a:lnTo>
                  <a:pt x="0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2815484" y="349017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323356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3516631" y="3651856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161678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4217778" y="3845938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161678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2815484" y="3490178"/>
            <a:ext cx="1200150" cy="0"/>
          </a:xfrm>
          <a:custGeom>
            <a:avLst/>
            <a:gdLst/>
            <a:ahLst/>
            <a:cxnLst/>
            <a:rect l="l" t="t" r="r" b="b"/>
            <a:pathLst>
              <a:path w="1200150">
                <a:moveTo>
                  <a:pt x="1199952" y="0"/>
                </a:moveTo>
                <a:lnTo>
                  <a:pt x="0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5943621" y="3328385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47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7267996" y="3490178"/>
            <a:ext cx="0" cy="356235"/>
          </a:xfrm>
          <a:custGeom>
            <a:avLst/>
            <a:gdLst/>
            <a:ahLst/>
            <a:cxnLst/>
            <a:rect l="l" t="t" r="r" b="b"/>
            <a:pathLst>
              <a:path h="356235">
                <a:moveTo>
                  <a:pt x="0" y="355760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4278382" y="3490178"/>
            <a:ext cx="2990215" cy="0"/>
          </a:xfrm>
          <a:custGeom>
            <a:avLst/>
            <a:gdLst/>
            <a:ahLst/>
            <a:cxnLst/>
            <a:rect l="l" t="t" r="r" b="b"/>
            <a:pathLst>
              <a:path w="2990215">
                <a:moveTo>
                  <a:pt x="2989614" y="0"/>
                </a:moveTo>
                <a:lnTo>
                  <a:pt x="0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3516631" y="3651856"/>
            <a:ext cx="2427605" cy="0"/>
          </a:xfrm>
          <a:custGeom>
            <a:avLst/>
            <a:gdLst/>
            <a:ahLst/>
            <a:cxnLst/>
            <a:rect l="l" t="t" r="r" b="b"/>
            <a:pathLst>
              <a:path w="2427604">
                <a:moveTo>
                  <a:pt x="0" y="0"/>
                </a:moveTo>
                <a:lnTo>
                  <a:pt x="2426990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7969143" y="3651856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161678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6206567" y="3328385"/>
            <a:ext cx="1762760" cy="323850"/>
          </a:xfrm>
          <a:custGeom>
            <a:avLst/>
            <a:gdLst/>
            <a:ahLst/>
            <a:cxnLst/>
            <a:rect l="l" t="t" r="r" b="b"/>
            <a:pathLst>
              <a:path w="1762759" h="323850">
                <a:moveTo>
                  <a:pt x="0" y="0"/>
                </a:moveTo>
                <a:lnTo>
                  <a:pt x="0" y="323470"/>
                </a:lnTo>
                <a:lnTo>
                  <a:pt x="1762576" y="323470"/>
                </a:lnTo>
              </a:path>
            </a:pathLst>
          </a:custGeom>
          <a:ln w="247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8670290" y="349017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323356"/>
                </a:moveTo>
                <a:lnTo>
                  <a:pt x="0" y="0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7942057" y="3490178"/>
            <a:ext cx="728345" cy="0"/>
          </a:xfrm>
          <a:custGeom>
            <a:avLst/>
            <a:gdLst/>
            <a:ahLst/>
            <a:cxnLst/>
            <a:rect l="l" t="t" r="r" b="b"/>
            <a:pathLst>
              <a:path w="728345">
                <a:moveTo>
                  <a:pt x="0" y="0"/>
                </a:moveTo>
                <a:lnTo>
                  <a:pt x="728233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7679112" y="3490178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356"/>
                </a:lnTo>
              </a:path>
            </a:pathLst>
          </a:custGeom>
          <a:ln w="26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4217778" y="3813533"/>
            <a:ext cx="3461385" cy="0"/>
          </a:xfrm>
          <a:custGeom>
            <a:avLst/>
            <a:gdLst/>
            <a:ahLst/>
            <a:cxnLst/>
            <a:rect l="l" t="t" r="r" b="b"/>
            <a:pathLst>
              <a:path w="3461384">
                <a:moveTo>
                  <a:pt x="0" y="0"/>
                </a:moveTo>
                <a:lnTo>
                  <a:pt x="3461333" y="0"/>
                </a:lnTo>
              </a:path>
            </a:pathLst>
          </a:custGeom>
          <a:ln w="24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 txBox="1"/>
          <p:nvPr/>
        </p:nvSpPr>
        <p:spPr>
          <a:xfrm>
            <a:off x="2099046" y="2178008"/>
            <a:ext cx="223774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1908810" algn="l"/>
              </a:tabLst>
            </a:pPr>
            <a:r>
              <a:rPr sz="2150" spc="80" dirty="0">
                <a:latin typeface="Times New Roman"/>
                <a:cs typeface="Times New Roman"/>
              </a:rPr>
              <a:t>Z</a:t>
            </a:r>
            <a:r>
              <a:rPr sz="2100" spc="120" baseline="-11904" dirty="0">
                <a:latin typeface="Times New Roman"/>
                <a:cs typeface="Times New Roman"/>
              </a:rPr>
              <a:t>3	</a:t>
            </a:r>
            <a:r>
              <a:rPr sz="2150" spc="85" dirty="0">
                <a:latin typeface="Times New Roman"/>
                <a:cs typeface="Times New Roman"/>
              </a:rPr>
              <a:t>Z</a:t>
            </a:r>
            <a:r>
              <a:rPr sz="2100" spc="127" baseline="-11904" dirty="0">
                <a:latin typeface="Times New Roman"/>
                <a:cs typeface="Times New Roman"/>
              </a:rPr>
              <a:t>2</a:t>
            </a:r>
            <a:endParaRPr sz="2100" baseline="-11904">
              <a:latin typeface="Times New Roman"/>
              <a:cs typeface="Times New Roman"/>
            </a:endParaRPr>
          </a:p>
        </p:txBody>
      </p:sp>
      <p:sp>
        <p:nvSpPr>
          <p:cNvPr id="296" name="object 296"/>
          <p:cNvSpPr txBox="1"/>
          <p:nvPr/>
        </p:nvSpPr>
        <p:spPr>
          <a:xfrm>
            <a:off x="5898100" y="2194211"/>
            <a:ext cx="35433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50" spc="85" dirty="0">
                <a:latin typeface="Times New Roman"/>
                <a:cs typeface="Times New Roman"/>
              </a:rPr>
              <a:t>Z</a:t>
            </a:r>
            <a:r>
              <a:rPr sz="2100" spc="127" baseline="-11904" dirty="0">
                <a:latin typeface="Times New Roman"/>
                <a:cs typeface="Times New Roman"/>
              </a:rPr>
              <a:t>1</a:t>
            </a:r>
            <a:endParaRPr sz="2100" baseline="-11904">
              <a:latin typeface="Times New Roman"/>
              <a:cs typeface="Times New Roman"/>
            </a:endParaRPr>
          </a:p>
        </p:txBody>
      </p:sp>
      <p:sp>
        <p:nvSpPr>
          <p:cNvPr id="297" name="object 297"/>
          <p:cNvSpPr txBox="1"/>
          <p:nvPr/>
        </p:nvSpPr>
        <p:spPr>
          <a:xfrm>
            <a:off x="7651030" y="2194211"/>
            <a:ext cx="35433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50" spc="85" dirty="0">
                <a:latin typeface="Times New Roman"/>
                <a:cs typeface="Times New Roman"/>
              </a:rPr>
              <a:t>Z</a:t>
            </a:r>
            <a:r>
              <a:rPr sz="2100" spc="127" baseline="-11904" dirty="0">
                <a:latin typeface="Times New Roman"/>
                <a:cs typeface="Times New Roman"/>
              </a:rPr>
              <a:t>0</a:t>
            </a:r>
            <a:endParaRPr sz="2100" baseline="-11904">
              <a:latin typeface="Times New Roman"/>
              <a:cs typeface="Times New Roman"/>
            </a:endParaRPr>
          </a:p>
        </p:txBody>
      </p:sp>
      <p:sp>
        <p:nvSpPr>
          <p:cNvPr id="298" name="object 298"/>
          <p:cNvSpPr txBox="1">
            <a:spLocks noGrp="1"/>
          </p:cNvSpPr>
          <p:nvPr>
            <p:ph type="title"/>
          </p:nvPr>
        </p:nvSpPr>
        <p:spPr>
          <a:xfrm>
            <a:off x="574040" y="336880"/>
            <a:ext cx="36855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BE7300"/>
                </a:solidFill>
              </a:rPr>
              <a:t>优先编码器的扩展</a:t>
            </a:r>
          </a:p>
        </p:txBody>
      </p:sp>
      <p:sp>
        <p:nvSpPr>
          <p:cNvPr id="299" name="object 299"/>
          <p:cNvSpPr txBox="1"/>
          <p:nvPr/>
        </p:nvSpPr>
        <p:spPr>
          <a:xfrm>
            <a:off x="574040" y="893916"/>
            <a:ext cx="5845175" cy="11603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86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用两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片148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组成为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16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线-</a:t>
            </a:r>
            <a:r>
              <a:rPr sz="2800" spc="-25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4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线优先编码器 </a:t>
            </a:r>
            <a:r>
              <a:rPr sz="2800" spc="-5" dirty="0">
                <a:solidFill>
                  <a:srgbClr val="FF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输出为原码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</p:txBody>
      </p:sp>
      <p:sp>
        <p:nvSpPr>
          <p:cNvPr id="300" name="object 300"/>
          <p:cNvSpPr/>
          <p:nvPr/>
        </p:nvSpPr>
        <p:spPr>
          <a:xfrm>
            <a:off x="4834890" y="4766195"/>
            <a:ext cx="1045844" cy="0"/>
          </a:xfrm>
          <a:custGeom>
            <a:avLst/>
            <a:gdLst/>
            <a:ahLst/>
            <a:cxnLst/>
            <a:rect l="l" t="t" r="r" b="b"/>
            <a:pathLst>
              <a:path w="1045845">
                <a:moveTo>
                  <a:pt x="0" y="0"/>
                </a:moveTo>
                <a:lnTo>
                  <a:pt x="1045480" y="0"/>
                </a:lnTo>
              </a:path>
            </a:pathLst>
          </a:custGeom>
          <a:ln w="2247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1226327" y="4775174"/>
            <a:ext cx="0" cy="440690"/>
          </a:xfrm>
          <a:custGeom>
            <a:avLst/>
            <a:gdLst/>
            <a:ahLst/>
            <a:cxnLst/>
            <a:rect l="l" t="t" r="r" b="b"/>
            <a:pathLst>
              <a:path h="440689">
                <a:moveTo>
                  <a:pt x="0" y="0"/>
                </a:moveTo>
                <a:lnTo>
                  <a:pt x="0" y="440246"/>
                </a:lnTo>
              </a:path>
            </a:pathLst>
          </a:custGeom>
          <a:ln w="2611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1097378" y="5215420"/>
            <a:ext cx="274320" cy="0"/>
          </a:xfrm>
          <a:custGeom>
            <a:avLst/>
            <a:gdLst/>
            <a:ahLst/>
            <a:cxnLst/>
            <a:rect l="l" t="t" r="r" b="b"/>
            <a:pathLst>
              <a:path w="274319">
                <a:moveTo>
                  <a:pt x="0" y="0"/>
                </a:moveTo>
                <a:lnTo>
                  <a:pt x="274210" y="0"/>
                </a:lnTo>
              </a:path>
            </a:pathLst>
          </a:custGeom>
          <a:ln w="2436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387172"/>
            <a:ext cx="4598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  <a:latin typeface="隶书"/>
                <a:cs typeface="隶书"/>
              </a:rPr>
              <a:t>2</a:t>
            </a:r>
            <a:r>
              <a:rPr spc="-75" dirty="0">
                <a:solidFill>
                  <a:srgbClr val="000000"/>
                </a:solidFill>
                <a:latin typeface="隶书"/>
                <a:cs typeface="隶书"/>
              </a:rPr>
              <a:t> </a:t>
            </a:r>
            <a:r>
              <a:rPr spc="-5" dirty="0">
                <a:solidFill>
                  <a:srgbClr val="000000"/>
                </a:solidFill>
                <a:latin typeface="隶书"/>
                <a:cs typeface="隶书"/>
              </a:rPr>
              <a:t>译码器的设计及应用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997590"/>
            <a:ext cx="8297545" cy="3557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 algn="just">
              <a:lnSpc>
                <a:spcPct val="15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译码是编码的逆过程，即将代码“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翻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译”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为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特定的 对象，将一组二进制代码“翻译”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为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一组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高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低电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平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信 号。</a:t>
            </a:r>
            <a:endParaRPr sz="28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2975"/>
              </a:spcBef>
            </a:pP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能实现译码功能的电路称为译码器。</a:t>
            </a:r>
            <a:endParaRPr sz="2800">
              <a:latin typeface="华文楷体"/>
              <a:cs typeface="华文楷体"/>
            </a:endParaRPr>
          </a:p>
          <a:p>
            <a:pPr marL="469900">
              <a:lnSpc>
                <a:spcPct val="100000"/>
              </a:lnSpc>
              <a:spcBef>
                <a:spcPts val="2990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译码器也是一种多输入多输出的组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合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逻辑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电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路。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1069340"/>
            <a:ext cx="2770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微软雅黑"/>
                <a:cs typeface="微软雅黑"/>
              </a:rPr>
              <a:t>译码器的种类</a:t>
            </a:r>
          </a:p>
        </p:txBody>
      </p:sp>
      <p:sp>
        <p:nvSpPr>
          <p:cNvPr id="7" name="object 7"/>
          <p:cNvSpPr/>
          <p:nvPr/>
        </p:nvSpPr>
        <p:spPr>
          <a:xfrm>
            <a:off x="6353555" y="2884932"/>
            <a:ext cx="3552825" cy="585470"/>
          </a:xfrm>
          <a:custGeom>
            <a:avLst/>
            <a:gdLst/>
            <a:ahLst/>
            <a:cxnLst/>
            <a:rect l="l" t="t" r="r" b="b"/>
            <a:pathLst>
              <a:path w="3552825" h="585470">
                <a:moveTo>
                  <a:pt x="0" y="585215"/>
                </a:moveTo>
                <a:lnTo>
                  <a:pt x="3552444" y="585215"/>
                </a:lnTo>
                <a:lnTo>
                  <a:pt x="3552444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32930" y="2886837"/>
            <a:ext cx="30016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10" dirty="0">
                <a:solidFill>
                  <a:srgbClr val="0000FF"/>
                </a:solidFill>
                <a:latin typeface="华文楷体"/>
                <a:cs typeface="华文楷体"/>
              </a:rPr>
              <a:t>二-</a:t>
            </a:r>
            <a:r>
              <a:rPr sz="3200" b="1" dirty="0">
                <a:solidFill>
                  <a:srgbClr val="0000FF"/>
                </a:solidFill>
                <a:latin typeface="华文楷体"/>
                <a:cs typeface="华文楷体"/>
              </a:rPr>
              <a:t>十</a:t>
            </a:r>
            <a:r>
              <a:rPr sz="3200" b="1" spc="-15" dirty="0">
                <a:solidFill>
                  <a:srgbClr val="0000FF"/>
                </a:solidFill>
                <a:latin typeface="华文楷体"/>
                <a:cs typeface="华文楷体"/>
              </a:rPr>
              <a:t>进</a:t>
            </a:r>
            <a:r>
              <a:rPr sz="3200" b="1" dirty="0">
                <a:solidFill>
                  <a:srgbClr val="0000FF"/>
                </a:solidFill>
                <a:latin typeface="华文楷体"/>
                <a:cs typeface="华文楷体"/>
              </a:rPr>
              <a:t>制译</a:t>
            </a:r>
            <a:r>
              <a:rPr sz="3200" b="1" spc="-15" dirty="0">
                <a:solidFill>
                  <a:srgbClr val="0000FF"/>
                </a:solidFill>
                <a:latin typeface="华文楷体"/>
                <a:cs typeface="华文楷体"/>
              </a:rPr>
              <a:t>码</a:t>
            </a:r>
            <a:r>
              <a:rPr sz="3200" b="1" dirty="0">
                <a:solidFill>
                  <a:srgbClr val="0000FF"/>
                </a:solidFill>
                <a:latin typeface="华文楷体"/>
                <a:cs typeface="华文楷体"/>
              </a:rPr>
              <a:t>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20211" y="2884932"/>
            <a:ext cx="2563495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52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0"/>
              </a:spcBef>
            </a:pPr>
            <a:r>
              <a:rPr sz="3200" b="1" spc="5" dirty="0">
                <a:solidFill>
                  <a:srgbClr val="FF0000"/>
                </a:solidFill>
                <a:latin typeface="华文楷体"/>
                <a:cs typeface="华文楷体"/>
              </a:rPr>
              <a:t>通用</a:t>
            </a:r>
            <a:r>
              <a:rPr sz="3200" b="1" dirty="0">
                <a:solidFill>
                  <a:srgbClr val="FF0000"/>
                </a:solidFill>
                <a:latin typeface="华文楷体"/>
                <a:cs typeface="华文楷体"/>
              </a:rPr>
              <a:t>译码器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47060" y="4181855"/>
            <a:ext cx="2403475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52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0"/>
              </a:spcBef>
            </a:pPr>
            <a:r>
              <a:rPr sz="3200" b="1" dirty="0">
                <a:solidFill>
                  <a:srgbClr val="FF0000"/>
                </a:solidFill>
                <a:latin typeface="华文楷体"/>
                <a:cs typeface="华文楷体"/>
              </a:rPr>
              <a:t>显</a:t>
            </a:r>
            <a:r>
              <a:rPr sz="3200" b="1" spc="15" dirty="0">
                <a:solidFill>
                  <a:srgbClr val="FF0000"/>
                </a:solidFill>
                <a:latin typeface="华文楷体"/>
                <a:cs typeface="华文楷体"/>
              </a:rPr>
              <a:t>示</a:t>
            </a:r>
            <a:r>
              <a:rPr sz="3200" b="1" dirty="0">
                <a:solidFill>
                  <a:srgbClr val="FF0000"/>
                </a:solidFill>
                <a:latin typeface="华文楷体"/>
                <a:cs typeface="华文楷体"/>
              </a:rPr>
              <a:t>译码器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55079" y="2237232"/>
            <a:ext cx="288036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52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20"/>
              </a:spcBef>
            </a:pPr>
            <a:r>
              <a:rPr sz="3200" b="1" spc="5" dirty="0">
                <a:solidFill>
                  <a:srgbClr val="0000FF"/>
                </a:solidFill>
                <a:latin typeface="华文楷体"/>
                <a:cs typeface="华文楷体"/>
              </a:rPr>
              <a:t>二进</a:t>
            </a:r>
            <a:r>
              <a:rPr sz="3200" b="1" dirty="0">
                <a:solidFill>
                  <a:srgbClr val="0000FF"/>
                </a:solidFill>
                <a:latin typeface="华文楷体"/>
                <a:cs typeface="华文楷体"/>
              </a:rPr>
              <a:t>制译</a:t>
            </a:r>
            <a:r>
              <a:rPr sz="3200" b="1" spc="-15" dirty="0">
                <a:solidFill>
                  <a:srgbClr val="0000FF"/>
                </a:solidFill>
                <a:latin typeface="华文楷体"/>
                <a:cs typeface="华文楷体"/>
              </a:rPr>
              <a:t>码</a:t>
            </a:r>
            <a:r>
              <a:rPr sz="3200" b="1" dirty="0">
                <a:solidFill>
                  <a:srgbClr val="0000FF"/>
                </a:solidFill>
                <a:latin typeface="华文楷体"/>
                <a:cs typeface="华文楷体"/>
              </a:rPr>
              <a:t>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53555" y="3534155"/>
            <a:ext cx="278003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52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20"/>
              </a:spcBef>
            </a:pPr>
            <a:r>
              <a:rPr sz="3200" b="1" spc="5" dirty="0">
                <a:solidFill>
                  <a:srgbClr val="0000FF"/>
                </a:solidFill>
                <a:latin typeface="华文楷体"/>
                <a:cs typeface="华文楷体"/>
              </a:rPr>
              <a:t>代码</a:t>
            </a:r>
            <a:r>
              <a:rPr sz="3200" b="1" dirty="0">
                <a:solidFill>
                  <a:srgbClr val="0000FF"/>
                </a:solidFill>
                <a:latin typeface="华文楷体"/>
                <a:cs typeface="华文楷体"/>
              </a:rPr>
              <a:t>转换器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5360" y="3534155"/>
            <a:ext cx="1783080" cy="585470"/>
          </a:xfrm>
          <a:custGeom>
            <a:avLst/>
            <a:gdLst/>
            <a:ahLst/>
            <a:cxnLst/>
            <a:rect l="l" t="t" r="r" b="b"/>
            <a:pathLst>
              <a:path w="1783080" h="585470">
                <a:moveTo>
                  <a:pt x="0" y="585215"/>
                </a:moveTo>
                <a:lnTo>
                  <a:pt x="1783079" y="585215"/>
                </a:lnTo>
                <a:lnTo>
                  <a:pt x="1783079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75360" y="3536441"/>
            <a:ext cx="17830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5"/>
              </a:spcBef>
            </a:pPr>
            <a:r>
              <a:rPr sz="3200" b="1" spc="10" dirty="0">
                <a:solidFill>
                  <a:srgbClr val="FF0000"/>
                </a:solidFill>
                <a:latin typeface="华文楷体"/>
                <a:cs typeface="华文楷体"/>
              </a:rPr>
              <a:t>译码器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39389" y="2998470"/>
            <a:ext cx="259079" cy="1583690"/>
          </a:xfrm>
          <a:custGeom>
            <a:avLst/>
            <a:gdLst/>
            <a:ahLst/>
            <a:cxnLst/>
            <a:rect l="l" t="t" r="r" b="b"/>
            <a:pathLst>
              <a:path w="259080" h="1583689">
                <a:moveTo>
                  <a:pt x="259080" y="1583435"/>
                </a:moveTo>
                <a:lnTo>
                  <a:pt x="208674" y="1581741"/>
                </a:lnTo>
                <a:lnTo>
                  <a:pt x="167497" y="1577117"/>
                </a:lnTo>
                <a:lnTo>
                  <a:pt x="139725" y="1570255"/>
                </a:lnTo>
                <a:lnTo>
                  <a:pt x="129540" y="1561845"/>
                </a:lnTo>
                <a:lnTo>
                  <a:pt x="129540" y="813307"/>
                </a:lnTo>
                <a:lnTo>
                  <a:pt x="119354" y="804898"/>
                </a:lnTo>
                <a:lnTo>
                  <a:pt x="91582" y="798036"/>
                </a:lnTo>
                <a:lnTo>
                  <a:pt x="50405" y="793412"/>
                </a:lnTo>
                <a:lnTo>
                  <a:pt x="0" y="791717"/>
                </a:lnTo>
                <a:lnTo>
                  <a:pt x="50405" y="790023"/>
                </a:lnTo>
                <a:lnTo>
                  <a:pt x="91582" y="785399"/>
                </a:lnTo>
                <a:lnTo>
                  <a:pt x="119354" y="778537"/>
                </a:lnTo>
                <a:lnTo>
                  <a:pt x="129540" y="770127"/>
                </a:lnTo>
                <a:lnTo>
                  <a:pt x="129540" y="21589"/>
                </a:lnTo>
                <a:lnTo>
                  <a:pt x="139725" y="13180"/>
                </a:lnTo>
                <a:lnTo>
                  <a:pt x="167497" y="6318"/>
                </a:lnTo>
                <a:lnTo>
                  <a:pt x="208674" y="1694"/>
                </a:lnTo>
                <a:lnTo>
                  <a:pt x="259080" y="0"/>
                </a:lnTo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98058" y="1917954"/>
            <a:ext cx="556260" cy="2344420"/>
          </a:xfrm>
          <a:custGeom>
            <a:avLst/>
            <a:gdLst/>
            <a:ahLst/>
            <a:cxnLst/>
            <a:rect l="l" t="t" r="r" b="b"/>
            <a:pathLst>
              <a:path w="556260" h="2344420">
                <a:moveTo>
                  <a:pt x="556259" y="2343912"/>
                </a:moveTo>
                <a:lnTo>
                  <a:pt x="482300" y="2342259"/>
                </a:lnTo>
                <a:lnTo>
                  <a:pt x="415854" y="2337594"/>
                </a:lnTo>
                <a:lnTo>
                  <a:pt x="359568" y="2330354"/>
                </a:lnTo>
                <a:lnTo>
                  <a:pt x="316088" y="2320976"/>
                </a:lnTo>
                <a:lnTo>
                  <a:pt x="278129" y="2297557"/>
                </a:lnTo>
                <a:lnTo>
                  <a:pt x="278129" y="1218311"/>
                </a:lnTo>
                <a:lnTo>
                  <a:pt x="268199" y="1205969"/>
                </a:lnTo>
                <a:lnTo>
                  <a:pt x="196691" y="1185513"/>
                </a:lnTo>
                <a:lnTo>
                  <a:pt x="140405" y="1178273"/>
                </a:lnTo>
                <a:lnTo>
                  <a:pt x="73959" y="1173608"/>
                </a:lnTo>
                <a:lnTo>
                  <a:pt x="0" y="1171956"/>
                </a:lnTo>
                <a:lnTo>
                  <a:pt x="73959" y="1170303"/>
                </a:lnTo>
                <a:lnTo>
                  <a:pt x="140405" y="1165638"/>
                </a:lnTo>
                <a:lnTo>
                  <a:pt x="196691" y="1158398"/>
                </a:lnTo>
                <a:lnTo>
                  <a:pt x="240171" y="1149020"/>
                </a:lnTo>
                <a:lnTo>
                  <a:pt x="278129" y="1125601"/>
                </a:lnTo>
                <a:lnTo>
                  <a:pt x="278129" y="46355"/>
                </a:lnTo>
                <a:lnTo>
                  <a:pt x="288060" y="34013"/>
                </a:lnTo>
                <a:lnTo>
                  <a:pt x="316088" y="22935"/>
                </a:lnTo>
                <a:lnTo>
                  <a:pt x="359568" y="13557"/>
                </a:lnTo>
                <a:lnTo>
                  <a:pt x="415854" y="6317"/>
                </a:lnTo>
                <a:lnTo>
                  <a:pt x="482300" y="1652"/>
                </a:lnTo>
                <a:lnTo>
                  <a:pt x="556259" y="0"/>
                </a:lnTo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387172"/>
            <a:ext cx="27705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隶书"/>
                <a:cs typeface="隶书"/>
              </a:rPr>
              <a:t>二进制译码器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59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1539" y="970886"/>
            <a:ext cx="8468995" cy="277685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 marR="30480" indent="457200">
              <a:lnSpc>
                <a:spcPct val="146600"/>
              </a:lnSpc>
              <a:spcBef>
                <a:spcPts val="185"/>
              </a:spcBef>
            </a:pP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将</a:t>
            </a:r>
            <a:r>
              <a:rPr sz="2950" i="1" spc="-80" dirty="0">
                <a:solidFill>
                  <a:srgbClr val="FF0000"/>
                </a:solidFill>
                <a:latin typeface="华文楷体"/>
                <a:cs typeface="华文楷体"/>
              </a:rPr>
              <a:t>n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位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二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进制代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码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，译为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特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定含义</a:t>
            </a:r>
            <a:r>
              <a:rPr sz="2800" spc="20" dirty="0">
                <a:solidFill>
                  <a:srgbClr val="BE7300"/>
                </a:solidFill>
                <a:latin typeface="华文楷体"/>
                <a:cs typeface="华文楷体"/>
              </a:rPr>
              <a:t>的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2</a:t>
            </a:r>
            <a:r>
              <a:rPr sz="2775" spc="22" baseline="25525" dirty="0">
                <a:solidFill>
                  <a:srgbClr val="FF0000"/>
                </a:solidFill>
                <a:latin typeface="华文楷体"/>
                <a:cs typeface="华文楷体"/>
              </a:rPr>
              <a:t>n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个输</a:t>
            </a:r>
            <a:r>
              <a:rPr sz="2800" spc="10" dirty="0">
                <a:solidFill>
                  <a:srgbClr val="BE7300"/>
                </a:solidFill>
                <a:latin typeface="华文楷体"/>
                <a:cs typeface="华文楷体"/>
              </a:rPr>
              <a:t>出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信号， 称为二进制译码器。</a:t>
            </a:r>
            <a:endParaRPr sz="2800">
              <a:latin typeface="华文楷体"/>
              <a:cs typeface="华文楷体"/>
            </a:endParaRPr>
          </a:p>
          <a:p>
            <a:pPr marL="38100" marR="71755" indent="457200">
              <a:lnSpc>
                <a:spcPct val="150000"/>
              </a:lnSpc>
              <a:spcBef>
                <a:spcPts val="1300"/>
              </a:spcBef>
            </a:pP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常用的有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2</a:t>
            </a:r>
            <a:r>
              <a:rPr sz="2800" spc="-5" dirty="0">
                <a:solidFill>
                  <a:srgbClr val="FF0000"/>
                </a:solidFill>
                <a:latin typeface="华文楷体"/>
                <a:cs typeface="华文楷体"/>
              </a:rPr>
              <a:t>线-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4</a:t>
            </a:r>
            <a:r>
              <a:rPr sz="2800" spc="-5" dirty="0">
                <a:solidFill>
                  <a:srgbClr val="FF0000"/>
                </a:solidFill>
                <a:latin typeface="华文楷体"/>
                <a:cs typeface="华文楷体"/>
              </a:rPr>
              <a:t>线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译码器、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3</a:t>
            </a:r>
            <a:r>
              <a:rPr sz="2800" spc="-5" dirty="0">
                <a:solidFill>
                  <a:srgbClr val="FF0000"/>
                </a:solidFill>
                <a:latin typeface="华文楷体"/>
                <a:cs typeface="华文楷体"/>
              </a:rPr>
              <a:t>线-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8</a:t>
            </a:r>
            <a:r>
              <a:rPr sz="2800" spc="5" dirty="0">
                <a:solidFill>
                  <a:srgbClr val="FF0000"/>
                </a:solidFill>
                <a:latin typeface="华文楷体"/>
                <a:cs typeface="华文楷体"/>
              </a:rPr>
              <a:t>线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译码</a:t>
            </a:r>
            <a:r>
              <a:rPr sz="2800" dirty="0">
                <a:solidFill>
                  <a:srgbClr val="BE7300"/>
                </a:solidFill>
                <a:latin typeface="华文楷体"/>
                <a:cs typeface="华文楷体"/>
              </a:rPr>
              <a:t>器和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4</a:t>
            </a:r>
            <a:r>
              <a:rPr sz="2800" spc="-5" dirty="0">
                <a:solidFill>
                  <a:srgbClr val="FF0000"/>
                </a:solidFill>
                <a:latin typeface="华文楷体"/>
                <a:cs typeface="华文楷体"/>
              </a:rPr>
              <a:t>线</a:t>
            </a:r>
            <a:r>
              <a:rPr sz="2800" spc="5" dirty="0">
                <a:solidFill>
                  <a:srgbClr val="FF0000"/>
                </a:solidFill>
                <a:latin typeface="华文楷体"/>
                <a:cs typeface="华文楷体"/>
              </a:rPr>
              <a:t>-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16</a:t>
            </a:r>
            <a:r>
              <a:rPr sz="2800" spc="-5" dirty="0">
                <a:solidFill>
                  <a:srgbClr val="FF0000"/>
                </a:solidFill>
                <a:latin typeface="华文楷体"/>
                <a:cs typeface="华文楷体"/>
              </a:rPr>
              <a:t>线 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译码器等。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15043" y="5137482"/>
            <a:ext cx="129878" cy="1230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96907" y="5137482"/>
            <a:ext cx="129878" cy="1230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78790" y="5137482"/>
            <a:ext cx="129878" cy="1230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60694" y="5137482"/>
            <a:ext cx="129838" cy="1230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42436" y="5137484"/>
            <a:ext cx="130039" cy="1230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24379" y="5137482"/>
            <a:ext cx="129838" cy="1230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06325" y="5137482"/>
            <a:ext cx="129838" cy="1230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88067" y="5137484"/>
            <a:ext cx="130039" cy="1230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13585" y="3180496"/>
            <a:ext cx="129837" cy="12298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57158" y="3180496"/>
            <a:ext cx="129837" cy="12298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05420" y="4756651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>
                <a:moveTo>
                  <a:pt x="0" y="0"/>
                </a:moveTo>
                <a:lnTo>
                  <a:pt x="290931" y="0"/>
                </a:lnTo>
              </a:path>
            </a:pathLst>
          </a:custGeom>
          <a:ln w="408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87283" y="4756651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>
                <a:moveTo>
                  <a:pt x="0" y="0"/>
                </a:moveTo>
                <a:lnTo>
                  <a:pt x="290952" y="0"/>
                </a:lnTo>
              </a:path>
            </a:pathLst>
          </a:custGeom>
          <a:ln w="408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69167" y="4756651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>
                <a:moveTo>
                  <a:pt x="0" y="0"/>
                </a:moveTo>
                <a:lnTo>
                  <a:pt x="290931" y="0"/>
                </a:lnTo>
              </a:path>
            </a:pathLst>
          </a:custGeom>
          <a:ln w="408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51030" y="4756651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>
                <a:moveTo>
                  <a:pt x="0" y="0"/>
                </a:moveTo>
                <a:lnTo>
                  <a:pt x="290870" y="0"/>
                </a:lnTo>
              </a:path>
            </a:pathLst>
          </a:custGeom>
          <a:ln w="408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32975" y="4756651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>
                <a:moveTo>
                  <a:pt x="0" y="0"/>
                </a:moveTo>
                <a:lnTo>
                  <a:pt x="290870" y="0"/>
                </a:lnTo>
              </a:path>
            </a:pathLst>
          </a:custGeom>
          <a:ln w="408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14715" y="4756651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>
                <a:moveTo>
                  <a:pt x="0" y="0"/>
                </a:moveTo>
                <a:lnTo>
                  <a:pt x="291075" y="0"/>
                </a:lnTo>
              </a:path>
            </a:pathLst>
          </a:custGeom>
          <a:ln w="408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96661" y="4756651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5">
                <a:moveTo>
                  <a:pt x="0" y="0"/>
                </a:moveTo>
                <a:lnTo>
                  <a:pt x="290870" y="0"/>
                </a:lnTo>
              </a:path>
            </a:pathLst>
          </a:custGeom>
          <a:ln w="408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78606" y="4756651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5">
                <a:moveTo>
                  <a:pt x="0" y="0"/>
                </a:moveTo>
                <a:lnTo>
                  <a:pt x="290870" y="0"/>
                </a:lnTo>
              </a:path>
            </a:pathLst>
          </a:custGeom>
          <a:ln w="408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89401" y="3376000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350" y="0"/>
                </a:lnTo>
              </a:path>
            </a:pathLst>
          </a:custGeom>
          <a:ln w="408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03920" y="3376000"/>
            <a:ext cx="466090" cy="0"/>
          </a:xfrm>
          <a:custGeom>
            <a:avLst/>
            <a:gdLst/>
            <a:ahLst/>
            <a:cxnLst/>
            <a:rect l="l" t="t" r="r" b="b"/>
            <a:pathLst>
              <a:path w="466090">
                <a:moveTo>
                  <a:pt x="0" y="0"/>
                </a:moveTo>
                <a:lnTo>
                  <a:pt x="465556" y="0"/>
                </a:lnTo>
              </a:path>
            </a:pathLst>
          </a:custGeom>
          <a:ln w="408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2722895" y="3014159"/>
          <a:ext cx="4948552" cy="2412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6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4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22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4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30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76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746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62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68023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6598">
                <a:tc gridSpan="15"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55"/>
                        </a:spcBef>
                        <a:tabLst>
                          <a:tab pos="1163320" algn="l"/>
                          <a:tab pos="1920239" algn="l"/>
                          <a:tab pos="2576195" algn="l"/>
                          <a:tab pos="3303270" algn="l"/>
                          <a:tab pos="4117975" algn="l"/>
                        </a:tabLst>
                      </a:pPr>
                      <a:r>
                        <a:rPr sz="4425" spc="209" baseline="7532" dirty="0">
                          <a:latin typeface="华文楷体"/>
                          <a:cs typeface="华文楷体"/>
                        </a:rPr>
                        <a:t>A</a:t>
                      </a:r>
                      <a:r>
                        <a:rPr sz="1950" spc="140" dirty="0">
                          <a:latin typeface="华文楷体"/>
                          <a:cs typeface="华文楷体"/>
                        </a:rPr>
                        <a:t>0	</a:t>
                      </a:r>
                      <a:r>
                        <a:rPr sz="4425" spc="209" baseline="7532" dirty="0">
                          <a:latin typeface="华文楷体"/>
                          <a:cs typeface="华文楷体"/>
                        </a:rPr>
                        <a:t>A</a:t>
                      </a:r>
                      <a:r>
                        <a:rPr sz="1950" spc="140" dirty="0">
                          <a:latin typeface="华文楷体"/>
                          <a:cs typeface="华文楷体"/>
                        </a:rPr>
                        <a:t>1	</a:t>
                      </a:r>
                      <a:r>
                        <a:rPr sz="4425" spc="209" baseline="7532" dirty="0">
                          <a:latin typeface="华文楷体"/>
                          <a:cs typeface="华文楷体"/>
                        </a:rPr>
                        <a:t>A</a:t>
                      </a:r>
                      <a:r>
                        <a:rPr sz="1950" spc="140" dirty="0">
                          <a:latin typeface="华文楷体"/>
                          <a:cs typeface="华文楷体"/>
                        </a:rPr>
                        <a:t>2	</a:t>
                      </a:r>
                      <a:r>
                        <a:rPr sz="2950" spc="135" dirty="0">
                          <a:latin typeface="华文楷体"/>
                          <a:cs typeface="华文楷体"/>
                        </a:rPr>
                        <a:t>ST</a:t>
                      </a:r>
                      <a:r>
                        <a:rPr sz="2925" spc="202" baseline="-11396" dirty="0">
                          <a:latin typeface="华文楷体"/>
                          <a:cs typeface="华文楷体"/>
                        </a:rPr>
                        <a:t>1	</a:t>
                      </a:r>
                      <a:r>
                        <a:rPr sz="4425" spc="202" baseline="-5649" dirty="0">
                          <a:latin typeface="华文楷体"/>
                          <a:cs typeface="华文楷体"/>
                        </a:rPr>
                        <a:t>ST</a:t>
                      </a:r>
                      <a:r>
                        <a:rPr sz="2925" spc="202" baseline="-21367" dirty="0">
                          <a:latin typeface="华文楷体"/>
                          <a:cs typeface="华文楷体"/>
                        </a:rPr>
                        <a:t>2	</a:t>
                      </a:r>
                      <a:r>
                        <a:rPr sz="4425" spc="202" baseline="-5649" dirty="0">
                          <a:latin typeface="华文楷体"/>
                          <a:cs typeface="华文楷体"/>
                        </a:rPr>
                        <a:t>ST</a:t>
                      </a:r>
                      <a:r>
                        <a:rPr sz="2925" spc="202" baseline="-21367" dirty="0">
                          <a:latin typeface="华文楷体"/>
                          <a:cs typeface="华文楷体"/>
                        </a:rPr>
                        <a:t>3</a:t>
                      </a:r>
                      <a:endParaRPr sz="2925" baseline="-21367">
                        <a:latin typeface="华文楷体"/>
                        <a:cs typeface="华文楷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3550" b="1" spc="17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74LS138</a:t>
                      </a:r>
                      <a:endParaRPr sz="3550">
                        <a:latin typeface="Times New Roman"/>
                        <a:cs typeface="Times New Roman"/>
                      </a:endParaRPr>
                    </a:p>
                    <a:p>
                      <a:pPr marL="255904">
                        <a:lnSpc>
                          <a:spcPts val="3435"/>
                        </a:lnSpc>
                        <a:spcBef>
                          <a:spcPts val="2070"/>
                        </a:spcBef>
                        <a:tabLst>
                          <a:tab pos="837565" algn="l"/>
                          <a:tab pos="1419860" algn="l"/>
                          <a:tab pos="2001520" algn="l"/>
                          <a:tab pos="2583180" algn="l"/>
                          <a:tab pos="3165475" algn="l"/>
                          <a:tab pos="3747135" algn="l"/>
                          <a:tab pos="4329430" algn="l"/>
                        </a:tabLst>
                      </a:pPr>
                      <a:r>
                        <a:rPr sz="2950" spc="12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925" spc="187" baseline="-11396" dirty="0">
                          <a:latin typeface="华文楷体"/>
                          <a:cs typeface="华文楷体"/>
                        </a:rPr>
                        <a:t>7	</a:t>
                      </a:r>
                      <a:r>
                        <a:rPr sz="2950" spc="12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925" spc="187" baseline="-11396" dirty="0">
                          <a:latin typeface="华文楷体"/>
                          <a:cs typeface="华文楷体"/>
                        </a:rPr>
                        <a:t>6	</a:t>
                      </a:r>
                      <a:r>
                        <a:rPr sz="2950" spc="12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925" spc="187" baseline="-11396" dirty="0">
                          <a:latin typeface="华文楷体"/>
                          <a:cs typeface="华文楷体"/>
                        </a:rPr>
                        <a:t>5	</a:t>
                      </a:r>
                      <a:r>
                        <a:rPr sz="2950" spc="12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925" spc="187" baseline="-11396" dirty="0">
                          <a:latin typeface="华文楷体"/>
                          <a:cs typeface="华文楷体"/>
                        </a:rPr>
                        <a:t>4	</a:t>
                      </a:r>
                      <a:r>
                        <a:rPr sz="2950" spc="12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925" spc="187" baseline="-11396" dirty="0">
                          <a:latin typeface="华文楷体"/>
                          <a:cs typeface="华文楷体"/>
                        </a:rPr>
                        <a:t>3	</a:t>
                      </a:r>
                      <a:r>
                        <a:rPr sz="2950" spc="12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925" spc="187" baseline="-11396" dirty="0">
                          <a:latin typeface="华文楷体"/>
                          <a:cs typeface="华文楷体"/>
                        </a:rPr>
                        <a:t>2	</a:t>
                      </a:r>
                      <a:r>
                        <a:rPr sz="2950" spc="12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925" spc="187" baseline="-11396" dirty="0">
                          <a:latin typeface="华文楷体"/>
                          <a:cs typeface="华文楷体"/>
                        </a:rPr>
                        <a:t>1	</a:t>
                      </a:r>
                      <a:r>
                        <a:rPr sz="2950" spc="12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925" spc="187" baseline="-11396" dirty="0">
                          <a:latin typeface="华文楷体"/>
                          <a:cs typeface="华文楷体"/>
                        </a:rPr>
                        <a:t>0</a:t>
                      </a:r>
                      <a:endParaRPr sz="2925" baseline="-11396">
                        <a:latin typeface="华文楷体"/>
                        <a:cs typeface="华文楷体"/>
                      </a:endParaRPr>
                    </a:p>
                  </a:txBody>
                  <a:tcPr marL="0" marR="0" marT="698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539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64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574040" y="336880"/>
            <a:ext cx="86779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64575" algn="l"/>
              </a:tabLst>
            </a:pPr>
            <a:r>
              <a:rPr u="heavy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</a:rPr>
              <a:t>二进制</a:t>
            </a:r>
            <a:r>
              <a:rPr u="heavy" dirty="0">
                <a:solidFill>
                  <a:srgbClr val="666699"/>
                </a:solidFill>
                <a:highlight>
                  <a:srgbClr val="FFFF00"/>
                </a:highlight>
                <a:uFill>
                  <a:solidFill>
                    <a:srgbClr val="666699"/>
                  </a:solidFill>
                </a:uFill>
              </a:rPr>
              <a:t>译码器</a:t>
            </a:r>
            <a:r>
              <a:rPr u="heavy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</a:rPr>
              <a:t>的典型产</a:t>
            </a:r>
            <a:r>
              <a:rPr u="heavy" spc="880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</a:rPr>
              <a:t>品</a:t>
            </a:r>
            <a:r>
              <a:rPr u="heavy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</a:rPr>
              <a:t>—</a:t>
            </a:r>
            <a:r>
              <a:rPr u="heavy" spc="-65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</a:rPr>
              <a:t> </a:t>
            </a:r>
            <a:r>
              <a:rPr u="heavy" dirty="0">
                <a:solidFill>
                  <a:srgbClr val="666699"/>
                </a:solidFill>
                <a:highlight>
                  <a:srgbClr val="FFFF00"/>
                </a:highlight>
                <a:uFill>
                  <a:solidFill>
                    <a:srgbClr val="666699"/>
                  </a:solidFill>
                </a:uFill>
              </a:rPr>
              <a:t>74LS138	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916939" y="997590"/>
            <a:ext cx="8260715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华文楷体"/>
                <a:cs typeface="华文楷体"/>
              </a:rPr>
              <a:t>74LS138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为</a:t>
            </a: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3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线-</a:t>
            </a:r>
            <a:r>
              <a:rPr sz="2800" spc="-40" dirty="0">
                <a:solidFill>
                  <a:srgbClr val="BE7300"/>
                </a:solidFill>
                <a:latin typeface="华文楷体"/>
                <a:cs typeface="华文楷体"/>
              </a:rPr>
              <a:t> </a:t>
            </a: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8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线译码器，</a:t>
            </a:r>
            <a:r>
              <a:rPr sz="2800" spc="-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输入原码、输出低电平 有效。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33331" y="982217"/>
            <a:ext cx="106045" cy="0"/>
          </a:xfrm>
          <a:custGeom>
            <a:avLst/>
            <a:gdLst/>
            <a:ahLst/>
            <a:cxnLst/>
            <a:rect l="l" t="t" r="r" b="b"/>
            <a:pathLst>
              <a:path w="106045">
                <a:moveTo>
                  <a:pt x="0" y="0"/>
                </a:moveTo>
                <a:lnTo>
                  <a:pt x="105917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64379" y="982217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>
                <a:moveTo>
                  <a:pt x="0" y="0"/>
                </a:moveTo>
                <a:lnTo>
                  <a:pt x="31546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27604" y="982217"/>
            <a:ext cx="268605" cy="0"/>
          </a:xfrm>
          <a:custGeom>
            <a:avLst/>
            <a:gdLst/>
            <a:ahLst/>
            <a:cxnLst/>
            <a:rect l="l" t="t" r="r" b="b"/>
            <a:pathLst>
              <a:path w="268605">
                <a:moveTo>
                  <a:pt x="0" y="0"/>
                </a:moveTo>
                <a:lnTo>
                  <a:pt x="268223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9966" y="982217"/>
            <a:ext cx="1069340" cy="0"/>
          </a:xfrm>
          <a:custGeom>
            <a:avLst/>
            <a:gdLst/>
            <a:ahLst/>
            <a:cxnLst/>
            <a:rect l="l" t="t" r="r" b="b"/>
            <a:pathLst>
              <a:path w="1069340">
                <a:moveTo>
                  <a:pt x="0" y="0"/>
                </a:moveTo>
                <a:lnTo>
                  <a:pt x="106908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94405" y="1586746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>
                <a:moveTo>
                  <a:pt x="0" y="0"/>
                </a:moveTo>
                <a:lnTo>
                  <a:pt x="443992" y="0"/>
                </a:lnTo>
              </a:path>
            </a:pathLst>
          </a:custGeom>
          <a:ln w="1506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82827" y="1585222"/>
            <a:ext cx="427355" cy="0"/>
          </a:xfrm>
          <a:custGeom>
            <a:avLst/>
            <a:gdLst/>
            <a:ahLst/>
            <a:cxnLst/>
            <a:rect l="l" t="t" r="r" b="b"/>
            <a:pathLst>
              <a:path w="427355">
                <a:moveTo>
                  <a:pt x="0" y="0"/>
                </a:moveTo>
                <a:lnTo>
                  <a:pt x="427218" y="0"/>
                </a:lnTo>
              </a:path>
            </a:pathLst>
          </a:custGeom>
          <a:ln w="1506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03871" y="1571719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>
                <a:moveTo>
                  <a:pt x="0" y="0"/>
                </a:moveTo>
                <a:lnTo>
                  <a:pt x="315307" y="0"/>
                </a:lnTo>
              </a:path>
            </a:pathLst>
          </a:custGeom>
          <a:ln w="1511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56182" y="1571719"/>
            <a:ext cx="280670" cy="0"/>
          </a:xfrm>
          <a:custGeom>
            <a:avLst/>
            <a:gdLst/>
            <a:ahLst/>
            <a:cxnLst/>
            <a:rect l="l" t="t" r="r" b="b"/>
            <a:pathLst>
              <a:path w="280670">
                <a:moveTo>
                  <a:pt x="0" y="0"/>
                </a:moveTo>
                <a:lnTo>
                  <a:pt x="280441" y="0"/>
                </a:lnTo>
              </a:path>
            </a:pathLst>
          </a:custGeom>
          <a:ln w="1511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74362" y="1571719"/>
            <a:ext cx="318770" cy="0"/>
          </a:xfrm>
          <a:custGeom>
            <a:avLst/>
            <a:gdLst/>
            <a:ahLst/>
            <a:cxnLst/>
            <a:rect l="l" t="t" r="r" b="b"/>
            <a:pathLst>
              <a:path w="318770">
                <a:moveTo>
                  <a:pt x="0" y="0"/>
                </a:moveTo>
                <a:lnTo>
                  <a:pt x="318142" y="0"/>
                </a:lnTo>
              </a:path>
            </a:pathLst>
          </a:custGeom>
          <a:ln w="1511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29536" y="1571719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4">
                <a:moveTo>
                  <a:pt x="0" y="0"/>
                </a:moveTo>
                <a:lnTo>
                  <a:pt x="305339" y="0"/>
                </a:lnTo>
              </a:path>
            </a:pathLst>
          </a:custGeom>
          <a:ln w="1511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72585" y="1571719"/>
            <a:ext cx="318770" cy="0"/>
          </a:xfrm>
          <a:custGeom>
            <a:avLst/>
            <a:gdLst/>
            <a:ahLst/>
            <a:cxnLst/>
            <a:rect l="l" t="t" r="r" b="b"/>
            <a:pathLst>
              <a:path w="318770">
                <a:moveTo>
                  <a:pt x="0" y="0"/>
                </a:moveTo>
                <a:lnTo>
                  <a:pt x="318171" y="0"/>
                </a:lnTo>
              </a:path>
            </a:pathLst>
          </a:custGeom>
          <a:ln w="1511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627759" y="1571719"/>
            <a:ext cx="309245" cy="0"/>
          </a:xfrm>
          <a:custGeom>
            <a:avLst/>
            <a:gdLst/>
            <a:ahLst/>
            <a:cxnLst/>
            <a:rect l="l" t="t" r="r" b="b"/>
            <a:pathLst>
              <a:path w="309245">
                <a:moveTo>
                  <a:pt x="0" y="0"/>
                </a:moveTo>
                <a:lnTo>
                  <a:pt x="308989" y="0"/>
                </a:lnTo>
              </a:path>
            </a:pathLst>
          </a:custGeom>
          <a:ln w="1511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174252" y="1571719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>
                <a:moveTo>
                  <a:pt x="0" y="0"/>
                </a:moveTo>
                <a:lnTo>
                  <a:pt x="315493" y="0"/>
                </a:lnTo>
              </a:path>
            </a:pathLst>
          </a:custGeom>
          <a:ln w="1511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726659" y="1571719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>
                <a:moveTo>
                  <a:pt x="0" y="0"/>
                </a:moveTo>
                <a:lnTo>
                  <a:pt x="319613" y="0"/>
                </a:lnTo>
              </a:path>
            </a:pathLst>
          </a:custGeom>
          <a:ln w="1511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369694" y="1472057"/>
          <a:ext cx="7805410" cy="45720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6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75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75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75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75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75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752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75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752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752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350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2025" spc="-7" baseline="-2469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25" baseline="-24691">
                        <a:latin typeface="Times New Roman"/>
                        <a:cs typeface="Times New Roman"/>
                      </a:endParaRPr>
                    </a:p>
                  </a:txBody>
                  <a:tcPr marL="0" marR="0" marT="64769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350" i="1" spc="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2025" spc="82" baseline="-2469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25" baseline="-24691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350" i="1" spc="114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7683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b="1" spc="-15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b="1" spc="-15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b="1" spc="-15" baseline="-20833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350" i="1" spc="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025" spc="112" baseline="-2469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025" baseline="-24691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35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025" baseline="-2469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025" baseline="-24691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350" i="1" spc="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025" spc="127" baseline="-2469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025" baseline="-24691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350" i="1" spc="6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025" spc="89" baseline="-2469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025" baseline="-24691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350" i="1" spc="8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025" spc="127" baseline="-2469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025" baseline="-24691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R="153670" algn="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350" i="1" spc="-2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025" baseline="-2469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025" baseline="-24691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350" i="1" spc="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025" spc="112" baseline="-2469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025" baseline="-24691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350" i="1" spc="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025" spc="112" baseline="-2469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025" baseline="-24691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431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41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4160" marB="0"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641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41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4160" marB="0"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41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431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 gridSpan="3">
                  <a:txBody>
                    <a:bodyPr/>
                    <a:lstStyle/>
                    <a:p>
                      <a:pPr marL="5295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b="1" spc="5" dirty="0">
                          <a:latin typeface="华文楷体"/>
                          <a:cs typeface="华文楷体"/>
                        </a:rPr>
                        <a:t>其他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19431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65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559052" y="914400"/>
            <a:ext cx="1369060" cy="46228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2159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70"/>
              </a:spcBef>
            </a:pPr>
            <a:r>
              <a:rPr sz="2400" dirty="0">
                <a:latin typeface="华文楷体"/>
                <a:cs typeface="华文楷体"/>
              </a:rPr>
              <a:t>选通端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95827" y="918972"/>
            <a:ext cx="1369060" cy="46228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21590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170"/>
              </a:spcBef>
            </a:pPr>
            <a:r>
              <a:rPr sz="2400" dirty="0">
                <a:latin typeface="华文楷体"/>
                <a:cs typeface="华文楷体"/>
              </a:rPr>
              <a:t>输入端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79847" y="937260"/>
            <a:ext cx="4253865" cy="46228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2095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65"/>
              </a:spcBef>
            </a:pPr>
            <a:r>
              <a:rPr sz="2400" spc="-5" dirty="0">
                <a:latin typeface="华文楷体"/>
                <a:cs typeface="华文楷体"/>
              </a:rPr>
              <a:t>输出端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标题 263">
            <a:extLst>
              <a:ext uri="{FF2B5EF4-FFF2-40B4-BE49-F238E27FC236}">
                <a16:creationId xmlns:a16="http://schemas.microsoft.com/office/drawing/2014/main" id="{9B8F481E-AFE6-3527-7F85-F2D824916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66" name="图片 265">
            <a:extLst>
              <a:ext uri="{FF2B5EF4-FFF2-40B4-BE49-F238E27FC236}">
                <a16:creationId xmlns:a16="http://schemas.microsoft.com/office/drawing/2014/main" id="{71F3DD2C-0151-0AD6-2FDE-FC6E6B799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8" y="733049"/>
            <a:ext cx="9878804" cy="539190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42644" y="1271142"/>
            <a:ext cx="4593590" cy="41966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FF"/>
                </a:solidFill>
                <a:latin typeface="华文楷体"/>
                <a:cs typeface="华文楷体"/>
              </a:rPr>
              <a:t>功能：</a:t>
            </a:r>
            <a:endParaRPr sz="2800" dirty="0">
              <a:latin typeface="华文楷体"/>
              <a:cs typeface="华文楷体"/>
            </a:endParaRPr>
          </a:p>
          <a:p>
            <a:pPr marL="381000" marR="30480" indent="457200">
              <a:lnSpc>
                <a:spcPct val="150100"/>
              </a:lnSpc>
              <a:spcBef>
                <a:spcPts val="810"/>
              </a:spcBef>
            </a:pP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输入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4</a:t>
            </a:r>
            <a:r>
              <a:rPr sz="2800" spc="-10" dirty="0">
                <a:solidFill>
                  <a:srgbClr val="BE7300"/>
                </a:solidFill>
                <a:latin typeface="华文楷体"/>
                <a:cs typeface="华文楷体"/>
              </a:rPr>
              <a:t>位二进制代码，输 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出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10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路高低电平信号。</a:t>
            </a:r>
            <a:endParaRPr sz="2800" dirty="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2990"/>
              </a:spcBef>
            </a:pPr>
            <a:r>
              <a:rPr sz="2800" spc="-5" dirty="0">
                <a:solidFill>
                  <a:srgbClr val="C0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74LS42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  <a:p>
            <a:pPr marL="381000" marR="51435" indent="457200" algn="just">
              <a:lnSpc>
                <a:spcPts val="3360"/>
              </a:lnSpc>
              <a:spcBef>
                <a:spcPts val="1889"/>
              </a:spcBef>
            </a:pPr>
            <a:r>
              <a:rPr sz="2800" spc="-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输入（00</a:t>
            </a:r>
            <a:r>
              <a:rPr sz="2800" spc="-20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0</a:t>
            </a:r>
            <a:r>
              <a:rPr sz="2800" spc="-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0~</a:t>
            </a:r>
            <a:r>
              <a:rPr sz="2800" spc="-20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00</a:t>
            </a:r>
            <a:r>
              <a:rPr sz="2800" spc="-1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）为原 码、输出</a:t>
            </a:r>
            <a:r>
              <a:rPr sz="2800" spc="-30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（</a:t>
            </a:r>
            <a:r>
              <a:rPr sz="2950" i="1" spc="-30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F</a:t>
            </a:r>
            <a:r>
              <a:rPr sz="2775" spc="-44" baseline="-21021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9</a:t>
            </a:r>
            <a:r>
              <a:rPr sz="2800" spc="-30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~</a:t>
            </a:r>
            <a:r>
              <a:rPr sz="2950" i="1" spc="-30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F</a:t>
            </a:r>
            <a:r>
              <a:rPr sz="2775" spc="-44" baseline="-21021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0</a:t>
            </a:r>
            <a:r>
              <a:rPr sz="2800" spc="-30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）</a:t>
            </a:r>
            <a:r>
              <a:rPr sz="2800" spc="-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为高电 平有效。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93647" y="333882"/>
            <a:ext cx="32048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790" dirty="0">
                <a:solidFill>
                  <a:srgbClr val="C00000"/>
                </a:solidFill>
              </a:rPr>
              <a:t>二</a:t>
            </a:r>
            <a:r>
              <a:rPr sz="3200" dirty="0">
                <a:solidFill>
                  <a:srgbClr val="C00000"/>
                </a:solidFill>
              </a:rPr>
              <a:t>-</a:t>
            </a:r>
            <a:r>
              <a:rPr sz="3200" spc="-70" dirty="0">
                <a:solidFill>
                  <a:srgbClr val="C00000"/>
                </a:solidFill>
              </a:rPr>
              <a:t> </a:t>
            </a:r>
            <a:r>
              <a:rPr sz="3200" dirty="0">
                <a:solidFill>
                  <a:srgbClr val="C00000"/>
                </a:solidFill>
              </a:rPr>
              <a:t>十进制译码器</a:t>
            </a:r>
            <a:endParaRPr sz="3200"/>
          </a:p>
        </p:txBody>
      </p:sp>
      <p:sp>
        <p:nvSpPr>
          <p:cNvPr id="8" name="object 8"/>
          <p:cNvSpPr/>
          <p:nvPr/>
        </p:nvSpPr>
        <p:spPr>
          <a:xfrm>
            <a:off x="8800379" y="2306940"/>
            <a:ext cx="280035" cy="0"/>
          </a:xfrm>
          <a:custGeom>
            <a:avLst/>
            <a:gdLst/>
            <a:ahLst/>
            <a:cxnLst/>
            <a:rect l="l" t="t" r="r" b="b"/>
            <a:pathLst>
              <a:path w="280034">
                <a:moveTo>
                  <a:pt x="0" y="0"/>
                </a:moveTo>
                <a:lnTo>
                  <a:pt x="279525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00379" y="2658760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411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800379" y="3008936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411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00379" y="3360591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411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0379" y="3712411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411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00379" y="4064067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411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800379" y="4413897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411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800379" y="4765635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411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800379" y="5117389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411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800379" y="5469143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411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25599" y="3243318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252375" y="0"/>
                </a:moveTo>
                <a:lnTo>
                  <a:pt x="0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25599" y="3712411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252375" y="0"/>
                </a:moveTo>
                <a:lnTo>
                  <a:pt x="0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25599" y="4181390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252375" y="0"/>
                </a:moveTo>
                <a:lnTo>
                  <a:pt x="0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25599" y="4648394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252375" y="0"/>
                </a:moveTo>
                <a:lnTo>
                  <a:pt x="0" y="0"/>
                </a:lnTo>
              </a:path>
            </a:pathLst>
          </a:custGeom>
          <a:ln w="36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19212" y="4568850"/>
            <a:ext cx="14160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85" dirty="0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67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555666" y="3395409"/>
            <a:ext cx="430530" cy="1431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algn="just">
              <a:lnSpc>
                <a:spcPct val="118200"/>
              </a:lnSpc>
              <a:spcBef>
                <a:spcPts val="105"/>
              </a:spcBef>
            </a:pPr>
            <a:r>
              <a:rPr sz="2600" b="1" i="1" spc="135" dirty="0">
                <a:latin typeface="Times New Roman"/>
                <a:cs typeface="Times New Roman"/>
              </a:rPr>
              <a:t>A</a:t>
            </a:r>
            <a:r>
              <a:rPr sz="2475" b="1" spc="82" baseline="-11784" dirty="0">
                <a:latin typeface="Times New Roman"/>
                <a:cs typeface="Times New Roman"/>
              </a:rPr>
              <a:t>2  </a:t>
            </a:r>
            <a:r>
              <a:rPr sz="2600" b="1" i="1" spc="135" dirty="0">
                <a:latin typeface="Times New Roman"/>
                <a:cs typeface="Times New Roman"/>
              </a:rPr>
              <a:t>A</a:t>
            </a:r>
            <a:r>
              <a:rPr sz="2475" b="1" spc="82" baseline="-11784" dirty="0">
                <a:latin typeface="Times New Roman"/>
                <a:cs typeface="Times New Roman"/>
              </a:rPr>
              <a:t>1  </a:t>
            </a:r>
            <a:r>
              <a:rPr sz="2600" b="1" i="1" spc="140" dirty="0">
                <a:latin typeface="Times New Roman"/>
                <a:cs typeface="Times New Roman"/>
              </a:rPr>
              <a:t>A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81066" y="3000266"/>
            <a:ext cx="264160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i="1" spc="140" dirty="0">
                <a:latin typeface="Times New Roman"/>
                <a:cs typeface="Times New Roman"/>
              </a:rPr>
              <a:t>A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19212" y="3163494"/>
            <a:ext cx="14160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85" dirty="0">
                <a:latin typeface="Times New Roman"/>
                <a:cs typeface="Times New Roman"/>
              </a:rPr>
              <a:t>3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91929" y="2063888"/>
            <a:ext cx="430530" cy="36068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8100" marR="30480" algn="just">
              <a:lnSpc>
                <a:spcPct val="89300"/>
              </a:lnSpc>
              <a:spcBef>
                <a:spcPts val="425"/>
              </a:spcBef>
            </a:pPr>
            <a:r>
              <a:rPr sz="2600" b="1" i="1" spc="135" dirty="0">
                <a:latin typeface="Times New Roman"/>
                <a:cs typeface="Times New Roman"/>
              </a:rPr>
              <a:t>F</a:t>
            </a:r>
            <a:r>
              <a:rPr sz="2475" b="1" spc="82" baseline="-11784" dirty="0">
                <a:latin typeface="Times New Roman"/>
                <a:cs typeface="Times New Roman"/>
              </a:rPr>
              <a:t>9  </a:t>
            </a:r>
            <a:r>
              <a:rPr sz="2600" b="1" i="1" spc="135" dirty="0">
                <a:latin typeface="Times New Roman"/>
                <a:cs typeface="Times New Roman"/>
              </a:rPr>
              <a:t>F</a:t>
            </a:r>
            <a:r>
              <a:rPr sz="2475" b="1" spc="82" baseline="-11784" dirty="0">
                <a:latin typeface="Times New Roman"/>
                <a:cs typeface="Times New Roman"/>
              </a:rPr>
              <a:t>8  </a:t>
            </a:r>
            <a:r>
              <a:rPr sz="2600" b="1" i="1" spc="135" dirty="0">
                <a:latin typeface="Times New Roman"/>
                <a:cs typeface="Times New Roman"/>
              </a:rPr>
              <a:t>F</a:t>
            </a:r>
            <a:r>
              <a:rPr sz="2475" b="1" spc="82" baseline="-13468" dirty="0">
                <a:latin typeface="Times New Roman"/>
                <a:cs typeface="Times New Roman"/>
              </a:rPr>
              <a:t>7  </a:t>
            </a:r>
            <a:r>
              <a:rPr sz="2600" b="1" i="1" spc="135" dirty="0">
                <a:latin typeface="Times New Roman"/>
                <a:cs typeface="Times New Roman"/>
              </a:rPr>
              <a:t>F</a:t>
            </a:r>
            <a:r>
              <a:rPr sz="2475" b="1" spc="82" baseline="-13468" dirty="0">
                <a:latin typeface="Times New Roman"/>
                <a:cs typeface="Times New Roman"/>
              </a:rPr>
              <a:t>6  </a:t>
            </a:r>
            <a:r>
              <a:rPr sz="2600" b="1" i="1" spc="135" dirty="0">
                <a:latin typeface="Times New Roman"/>
                <a:cs typeface="Times New Roman"/>
              </a:rPr>
              <a:t>F</a:t>
            </a:r>
            <a:r>
              <a:rPr sz="2475" b="1" spc="82" baseline="-11784" dirty="0">
                <a:latin typeface="Times New Roman"/>
                <a:cs typeface="Times New Roman"/>
              </a:rPr>
              <a:t>5  </a:t>
            </a:r>
            <a:r>
              <a:rPr sz="2600" b="1" i="1" spc="135" dirty="0">
                <a:latin typeface="Times New Roman"/>
                <a:cs typeface="Times New Roman"/>
              </a:rPr>
              <a:t>F</a:t>
            </a:r>
            <a:r>
              <a:rPr sz="2475" b="1" spc="82" baseline="-11784" dirty="0">
                <a:latin typeface="Times New Roman"/>
                <a:cs typeface="Times New Roman"/>
              </a:rPr>
              <a:t>4  </a:t>
            </a:r>
            <a:r>
              <a:rPr sz="2600" b="1" i="1" spc="135" dirty="0">
                <a:latin typeface="Times New Roman"/>
                <a:cs typeface="Times New Roman"/>
              </a:rPr>
              <a:t>F</a:t>
            </a:r>
            <a:r>
              <a:rPr sz="2475" b="1" spc="82" baseline="-13468" dirty="0">
                <a:latin typeface="Times New Roman"/>
                <a:cs typeface="Times New Roman"/>
              </a:rPr>
              <a:t>3  </a:t>
            </a:r>
            <a:r>
              <a:rPr sz="2600" b="1" i="1" spc="135" dirty="0">
                <a:latin typeface="Times New Roman"/>
                <a:cs typeface="Times New Roman"/>
              </a:rPr>
              <a:t>F</a:t>
            </a:r>
            <a:r>
              <a:rPr sz="2475" b="1" spc="82" baseline="-13468" dirty="0">
                <a:latin typeface="Times New Roman"/>
                <a:cs typeface="Times New Roman"/>
              </a:rPr>
              <a:t>2  </a:t>
            </a:r>
            <a:r>
              <a:rPr sz="2600" b="1" i="1" spc="135" dirty="0">
                <a:latin typeface="Times New Roman"/>
                <a:cs typeface="Times New Roman"/>
              </a:rPr>
              <a:t>F</a:t>
            </a:r>
            <a:r>
              <a:rPr sz="2475" b="1" spc="82" baseline="-13468" dirty="0">
                <a:latin typeface="Times New Roman"/>
                <a:cs typeface="Times New Roman"/>
              </a:rPr>
              <a:t>1  </a:t>
            </a:r>
            <a:r>
              <a:rPr sz="2600" b="1" i="1" spc="135" dirty="0">
                <a:latin typeface="Times New Roman"/>
                <a:cs typeface="Times New Roman"/>
              </a:rPr>
              <a:t>F</a:t>
            </a:r>
            <a:r>
              <a:rPr sz="2475" b="1" spc="127" baseline="-11784" dirty="0">
                <a:latin typeface="Times New Roman"/>
                <a:cs typeface="Times New Roman"/>
              </a:rPr>
              <a:t>0</a:t>
            </a:r>
            <a:endParaRPr sz="2475" baseline="-11784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77975" y="2072450"/>
            <a:ext cx="1522730" cy="3631565"/>
          </a:xfrm>
          <a:prstGeom prst="rect">
            <a:avLst/>
          </a:prstGeom>
          <a:ln w="3886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400">
              <a:latin typeface="Times New Roman"/>
              <a:cs typeface="Times New Roman"/>
            </a:endParaRPr>
          </a:p>
          <a:p>
            <a:pPr marL="277495" marR="135890" indent="-134620">
              <a:lnSpc>
                <a:spcPct val="105900"/>
              </a:lnSpc>
            </a:pPr>
            <a:r>
              <a:rPr sz="230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r>
              <a:rPr sz="2300" b="1" spc="229" dirty="0">
                <a:solidFill>
                  <a:srgbClr val="FF0000"/>
                </a:solidFill>
                <a:latin typeface="华文楷体"/>
                <a:cs typeface="华文楷体"/>
              </a:rPr>
              <a:t>线</a:t>
            </a:r>
            <a:r>
              <a:rPr sz="2300" b="1" spc="75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2300" b="1" spc="120" dirty="0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r>
              <a:rPr sz="2300" b="1" spc="140" dirty="0">
                <a:solidFill>
                  <a:srgbClr val="FF0000"/>
                </a:solidFill>
                <a:latin typeface="华文楷体"/>
                <a:cs typeface="华文楷体"/>
              </a:rPr>
              <a:t>线 </a:t>
            </a:r>
            <a:r>
              <a:rPr sz="2300" b="1" spc="229" dirty="0">
                <a:solidFill>
                  <a:srgbClr val="FF0000"/>
                </a:solidFill>
                <a:latin typeface="华文楷体"/>
                <a:cs typeface="华文楷体"/>
              </a:rPr>
              <a:t>译码器</a:t>
            </a:r>
            <a:endParaRPr sz="23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4040" y="1246123"/>
            <a:ext cx="1824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C00000"/>
                </a:solidFill>
                <a:highlight>
                  <a:srgbClr val="FFFF00"/>
                </a:highlight>
              </a:rPr>
              <a:t>74L</a:t>
            </a:r>
            <a:r>
              <a:rPr spc="5" dirty="0">
                <a:solidFill>
                  <a:srgbClr val="C00000"/>
                </a:solidFill>
                <a:highlight>
                  <a:srgbClr val="FFFF00"/>
                </a:highlight>
              </a:rPr>
              <a:t>S</a:t>
            </a:r>
            <a:r>
              <a:rPr dirty="0">
                <a:solidFill>
                  <a:srgbClr val="C00000"/>
                </a:solidFill>
                <a:highlight>
                  <a:srgbClr val="FFFF00"/>
                </a:highlight>
              </a:rPr>
              <a:t>4</a:t>
            </a:r>
            <a:r>
              <a:rPr spc="10" dirty="0">
                <a:solidFill>
                  <a:srgbClr val="C00000"/>
                </a:solidFill>
                <a:highlight>
                  <a:srgbClr val="FFFF00"/>
                </a:highlight>
              </a:rPr>
              <a:t>7</a:t>
            </a:r>
            <a:r>
              <a:rPr dirty="0">
                <a:solidFill>
                  <a:srgbClr val="C00000"/>
                </a:solidFill>
                <a:highlight>
                  <a:srgbClr val="FFFF00"/>
                </a:highlight>
              </a:rPr>
              <a:t>：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76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4040" y="2198877"/>
            <a:ext cx="6507480" cy="2151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128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输出低电平有效，用于共阳极数码管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950" dirty="0">
              <a:highlight>
                <a:srgbClr val="FFFF00"/>
              </a:highlight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C000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74LS48：</a:t>
            </a:r>
            <a:endParaRPr sz="3600" dirty="0">
              <a:highlight>
                <a:srgbClr val="FFFF00"/>
              </a:highlight>
              <a:latin typeface="华文楷体"/>
              <a:cs typeface="华文楷体"/>
            </a:endParaRPr>
          </a:p>
          <a:p>
            <a:pPr marL="812800">
              <a:lnSpc>
                <a:spcPct val="100000"/>
              </a:lnSpc>
              <a:spcBef>
                <a:spcPts val="3180"/>
              </a:spcBef>
            </a:pPr>
            <a:r>
              <a:rPr sz="2800" spc="-5" dirty="0">
                <a:solidFill>
                  <a:srgbClr val="BE73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输出高电平有效，用于共阴极数码管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266" y="482599"/>
            <a:ext cx="8775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4715" algn="l"/>
                <a:tab pos="8761730" algn="l"/>
              </a:tabLst>
            </a:pPr>
            <a:r>
              <a:rPr sz="2800" u="heavy" spc="-5" dirty="0"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800" u="heavy" spc="-5" dirty="0">
                <a:uFill>
                  <a:solidFill>
                    <a:srgbClr val="666699"/>
                  </a:solidFill>
                </a:uFill>
                <a:latin typeface="华文楷体"/>
                <a:cs typeface="华文楷体"/>
              </a:rPr>
              <a:t>典型的BCD-七段显示译码器（</a:t>
            </a:r>
            <a:r>
              <a:rPr sz="2800" u="heavy" spc="-10" dirty="0">
                <a:uFill>
                  <a:solidFill>
                    <a:srgbClr val="666699"/>
                  </a:solidFill>
                </a:uFill>
                <a:latin typeface="华文楷体"/>
                <a:cs typeface="华文楷体"/>
              </a:rPr>
              <a:t>4</a:t>
            </a:r>
            <a:r>
              <a:rPr sz="2800" u="heavy" spc="-5" dirty="0">
                <a:uFill>
                  <a:solidFill>
                    <a:srgbClr val="666699"/>
                  </a:solidFill>
                </a:uFill>
                <a:latin typeface="华文楷体"/>
                <a:cs typeface="华文楷体"/>
              </a:rPr>
              <a:t>线-</a:t>
            </a:r>
            <a:r>
              <a:rPr sz="2800" u="heavy" dirty="0">
                <a:uFill>
                  <a:solidFill>
                    <a:srgbClr val="666699"/>
                  </a:solidFill>
                </a:uFill>
                <a:latin typeface="华文楷体"/>
                <a:cs typeface="华文楷体"/>
              </a:rPr>
              <a:t>7</a:t>
            </a:r>
            <a:r>
              <a:rPr sz="2800" u="heavy" spc="-5" dirty="0">
                <a:uFill>
                  <a:solidFill>
                    <a:srgbClr val="666699"/>
                  </a:solidFill>
                </a:uFill>
                <a:latin typeface="华文楷体"/>
                <a:cs typeface="华文楷体"/>
              </a:rPr>
              <a:t>线译</a:t>
            </a:r>
            <a:r>
              <a:rPr sz="2800" u="heavy" dirty="0">
                <a:uFill>
                  <a:solidFill>
                    <a:srgbClr val="666699"/>
                  </a:solidFill>
                </a:uFill>
                <a:latin typeface="华文楷体"/>
                <a:cs typeface="华文楷体"/>
              </a:rPr>
              <a:t>码</a:t>
            </a:r>
            <a:r>
              <a:rPr sz="2800" u="heavy" spc="-5" dirty="0">
                <a:uFill>
                  <a:solidFill>
                    <a:srgbClr val="666699"/>
                  </a:solidFill>
                </a:uFill>
                <a:latin typeface="华文楷体"/>
                <a:cs typeface="华文楷体"/>
              </a:rPr>
              <a:t>器）</a:t>
            </a:r>
            <a:r>
              <a:rPr sz="2800" u="heavy" dirty="0">
                <a:uFill>
                  <a:solidFill>
                    <a:srgbClr val="666699"/>
                  </a:solidFill>
                </a:uFill>
                <a:latin typeface="华文楷体"/>
                <a:cs typeface="华文楷体"/>
              </a:rPr>
              <a:t>	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01497" y="1447648"/>
            <a:ext cx="2325370" cy="4301490"/>
          </a:xfrm>
          <a:custGeom>
            <a:avLst/>
            <a:gdLst/>
            <a:ahLst/>
            <a:cxnLst/>
            <a:rect l="l" t="t" r="r" b="b"/>
            <a:pathLst>
              <a:path w="2325370" h="4301490">
                <a:moveTo>
                  <a:pt x="0" y="4301363"/>
                </a:moveTo>
                <a:lnTo>
                  <a:pt x="2325018" y="4301363"/>
                </a:lnTo>
                <a:lnTo>
                  <a:pt x="2325017" y="0"/>
                </a:lnTo>
                <a:lnTo>
                  <a:pt x="0" y="0"/>
                </a:lnTo>
                <a:lnTo>
                  <a:pt x="0" y="4301363"/>
                </a:lnTo>
                <a:close/>
              </a:path>
            </a:pathLst>
          </a:custGeom>
          <a:ln w="435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26351" y="1985352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4">
                <a:moveTo>
                  <a:pt x="0" y="0"/>
                </a:moveTo>
                <a:lnTo>
                  <a:pt x="30531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26351" y="2522904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26351" y="3060645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26351" y="3598387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26351" y="4135995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26351" y="4673662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26351" y="5211346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4">
                <a:moveTo>
                  <a:pt x="0" y="0"/>
                </a:moveTo>
                <a:lnTo>
                  <a:pt x="30531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10885" y="1985352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10885" y="2522904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10885" y="3060645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10885" y="3598387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10885" y="4404828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10885" y="4942494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10885" y="5480179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996332" y="1647542"/>
            <a:ext cx="492125" cy="3789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 marR="30480" indent="8255" algn="just">
              <a:lnSpc>
                <a:spcPct val="119600"/>
              </a:lnSpc>
              <a:spcBef>
                <a:spcPts val="90"/>
              </a:spcBef>
            </a:pPr>
            <a:r>
              <a:rPr sz="2950" b="1" spc="170" dirty="0">
                <a:latin typeface="Times New Roman"/>
                <a:cs typeface="Times New Roman"/>
              </a:rPr>
              <a:t>F</a:t>
            </a:r>
            <a:r>
              <a:rPr sz="3450" b="1" spc="104" baseline="-12077" dirty="0">
                <a:latin typeface="Times New Roman"/>
                <a:cs typeface="Times New Roman"/>
              </a:rPr>
              <a:t>a  </a:t>
            </a:r>
            <a:r>
              <a:rPr sz="2950" b="1" spc="165" dirty="0">
                <a:latin typeface="Times New Roman"/>
                <a:cs typeface="Times New Roman"/>
              </a:rPr>
              <a:t>F</a:t>
            </a:r>
            <a:r>
              <a:rPr sz="3450" b="1" spc="112" baseline="-12077" dirty="0">
                <a:latin typeface="Times New Roman"/>
                <a:cs typeface="Times New Roman"/>
              </a:rPr>
              <a:t>b  </a:t>
            </a:r>
            <a:r>
              <a:rPr sz="2950" b="1" spc="130" dirty="0">
                <a:latin typeface="Times New Roman"/>
                <a:cs typeface="Times New Roman"/>
              </a:rPr>
              <a:t>F</a:t>
            </a:r>
            <a:r>
              <a:rPr sz="3450" b="1" spc="195" baseline="-12077" dirty="0">
                <a:latin typeface="Times New Roman"/>
                <a:cs typeface="Times New Roman"/>
              </a:rPr>
              <a:t>c  </a:t>
            </a:r>
            <a:r>
              <a:rPr sz="2950" b="1" spc="165" dirty="0">
                <a:latin typeface="Times New Roman"/>
                <a:cs typeface="Times New Roman"/>
              </a:rPr>
              <a:t>F</a:t>
            </a:r>
            <a:r>
              <a:rPr sz="3450" b="1" spc="112" baseline="-12077" dirty="0">
                <a:latin typeface="Times New Roman"/>
                <a:cs typeface="Times New Roman"/>
              </a:rPr>
              <a:t>d  </a:t>
            </a:r>
            <a:r>
              <a:rPr sz="2950" b="1" spc="130" dirty="0">
                <a:latin typeface="Times New Roman"/>
                <a:cs typeface="Times New Roman"/>
              </a:rPr>
              <a:t>F</a:t>
            </a:r>
            <a:r>
              <a:rPr sz="3450" b="1" spc="195" baseline="-12077" dirty="0">
                <a:latin typeface="Times New Roman"/>
                <a:cs typeface="Times New Roman"/>
              </a:rPr>
              <a:t>e  </a:t>
            </a:r>
            <a:r>
              <a:rPr sz="2950" b="1" spc="114" dirty="0">
                <a:latin typeface="Times New Roman"/>
                <a:cs typeface="Times New Roman"/>
              </a:rPr>
              <a:t>F</a:t>
            </a:r>
            <a:r>
              <a:rPr sz="3450" b="1" spc="172" baseline="-12077" dirty="0">
                <a:latin typeface="Times New Roman"/>
                <a:cs typeface="Times New Roman"/>
              </a:rPr>
              <a:t>f  </a:t>
            </a:r>
            <a:r>
              <a:rPr sz="2950" b="1" spc="135" dirty="0">
                <a:latin typeface="Times New Roman"/>
                <a:cs typeface="Times New Roman"/>
              </a:rPr>
              <a:t>F</a:t>
            </a:r>
            <a:r>
              <a:rPr sz="3450" b="1" spc="202" baseline="-12077" dirty="0">
                <a:latin typeface="Times New Roman"/>
                <a:cs typeface="Times New Roman"/>
              </a:rPr>
              <a:t>g</a:t>
            </a:r>
            <a:endParaRPr sz="3450" baseline="-12077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4238677" y="1647542"/>
            <a:ext cx="507365" cy="2176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 marR="17780" algn="just">
              <a:lnSpc>
                <a:spcPct val="119600"/>
              </a:lnSpc>
              <a:spcBef>
                <a:spcPts val="90"/>
              </a:spcBef>
            </a:pP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04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3  </a:t>
            </a: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04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2  </a:t>
            </a: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04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1  </a:t>
            </a: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57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endParaRPr sz="3450" baseline="-12077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063941" y="4329739"/>
            <a:ext cx="158871" cy="150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63941" y="4867424"/>
            <a:ext cx="158871" cy="150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63941" y="5405090"/>
            <a:ext cx="158871" cy="1501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254740" y="4078949"/>
            <a:ext cx="1317625" cy="1638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985">
              <a:lnSpc>
                <a:spcPct val="133100"/>
              </a:lnSpc>
              <a:spcBef>
                <a:spcPts val="90"/>
              </a:spcBef>
            </a:pPr>
            <a:r>
              <a:rPr sz="2650" b="1" spc="170" dirty="0">
                <a:latin typeface="Times New Roman"/>
                <a:cs typeface="Times New Roman"/>
              </a:rPr>
              <a:t>LT  B</a:t>
            </a:r>
            <a:r>
              <a:rPr sz="2650" b="1" spc="95" dirty="0">
                <a:latin typeface="Times New Roman"/>
                <a:cs typeface="Times New Roman"/>
              </a:rPr>
              <a:t>I</a:t>
            </a:r>
            <a:r>
              <a:rPr sz="2650" b="1" spc="70" dirty="0">
                <a:latin typeface="Times New Roman"/>
                <a:cs typeface="Times New Roman"/>
              </a:rPr>
              <a:t>/</a:t>
            </a:r>
            <a:r>
              <a:rPr sz="2650" b="1" spc="180" dirty="0">
                <a:latin typeface="Times New Roman"/>
                <a:cs typeface="Times New Roman"/>
              </a:rPr>
              <a:t>R</a:t>
            </a:r>
            <a:r>
              <a:rPr sz="2650" b="1" spc="120" dirty="0">
                <a:latin typeface="Times New Roman"/>
                <a:cs typeface="Times New Roman"/>
              </a:rPr>
              <a:t>BO  </a:t>
            </a:r>
            <a:r>
              <a:rPr sz="2650" b="1" spc="150" dirty="0">
                <a:latin typeface="Times New Roman"/>
                <a:cs typeface="Times New Roman"/>
              </a:rPr>
              <a:t>RBI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259627" y="4265035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498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59627" y="5318875"/>
            <a:ext cx="593090" cy="0"/>
          </a:xfrm>
          <a:custGeom>
            <a:avLst/>
            <a:gdLst/>
            <a:ahLst/>
            <a:cxnLst/>
            <a:rect l="l" t="t" r="r" b="b"/>
            <a:pathLst>
              <a:path w="593089">
                <a:moveTo>
                  <a:pt x="0" y="0"/>
                </a:moveTo>
                <a:lnTo>
                  <a:pt x="592849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794367" y="4824210"/>
            <a:ext cx="697865" cy="0"/>
          </a:xfrm>
          <a:custGeom>
            <a:avLst/>
            <a:gdLst/>
            <a:ahLst/>
            <a:cxnLst/>
            <a:rect l="l" t="t" r="r" b="b"/>
            <a:pathLst>
              <a:path w="697864">
                <a:moveTo>
                  <a:pt x="0" y="0"/>
                </a:moveTo>
                <a:lnTo>
                  <a:pt x="697464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82880" y="4824210"/>
            <a:ext cx="364490" cy="0"/>
          </a:xfrm>
          <a:custGeom>
            <a:avLst/>
            <a:gdLst/>
            <a:ahLst/>
            <a:cxnLst/>
            <a:rect l="l" t="t" r="r" b="b"/>
            <a:pathLst>
              <a:path w="364489">
                <a:moveTo>
                  <a:pt x="0" y="0"/>
                </a:moveTo>
                <a:lnTo>
                  <a:pt x="36424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133095" y="2874009"/>
            <a:ext cx="434340" cy="11264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270"/>
              </a:lnSpc>
            </a:pP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74LS48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161538" y="1773173"/>
            <a:ext cx="711835" cy="2109470"/>
          </a:xfrm>
          <a:custGeom>
            <a:avLst/>
            <a:gdLst/>
            <a:ahLst/>
            <a:cxnLst/>
            <a:rect l="l" t="t" r="r" b="b"/>
            <a:pathLst>
              <a:path w="711835" h="2109470">
                <a:moveTo>
                  <a:pt x="711708" y="2109216"/>
                </a:moveTo>
                <a:lnTo>
                  <a:pt x="639972" y="2108011"/>
                </a:lnTo>
                <a:lnTo>
                  <a:pt x="573166" y="2104556"/>
                </a:lnTo>
                <a:lnTo>
                  <a:pt x="512718" y="2099089"/>
                </a:lnTo>
                <a:lnTo>
                  <a:pt x="460057" y="2091848"/>
                </a:lnTo>
                <a:lnTo>
                  <a:pt x="416611" y="2083071"/>
                </a:lnTo>
                <a:lnTo>
                  <a:pt x="363081" y="2061862"/>
                </a:lnTo>
                <a:lnTo>
                  <a:pt x="355853" y="2049907"/>
                </a:lnTo>
                <a:lnTo>
                  <a:pt x="355853" y="1113916"/>
                </a:lnTo>
                <a:lnTo>
                  <a:pt x="348626" y="1101961"/>
                </a:lnTo>
                <a:lnTo>
                  <a:pt x="295096" y="1080752"/>
                </a:lnTo>
                <a:lnTo>
                  <a:pt x="251650" y="1071975"/>
                </a:lnTo>
                <a:lnTo>
                  <a:pt x="198989" y="1064734"/>
                </a:lnTo>
                <a:lnTo>
                  <a:pt x="138541" y="1059267"/>
                </a:lnTo>
                <a:lnTo>
                  <a:pt x="71735" y="1055812"/>
                </a:lnTo>
                <a:lnTo>
                  <a:pt x="0" y="1054608"/>
                </a:lnTo>
                <a:lnTo>
                  <a:pt x="71735" y="1053403"/>
                </a:lnTo>
                <a:lnTo>
                  <a:pt x="138541" y="1049948"/>
                </a:lnTo>
                <a:lnTo>
                  <a:pt x="198989" y="1044481"/>
                </a:lnTo>
                <a:lnTo>
                  <a:pt x="251650" y="1037240"/>
                </a:lnTo>
                <a:lnTo>
                  <a:pt x="295096" y="1028463"/>
                </a:lnTo>
                <a:lnTo>
                  <a:pt x="348626" y="1007254"/>
                </a:lnTo>
                <a:lnTo>
                  <a:pt x="355853" y="995299"/>
                </a:lnTo>
                <a:lnTo>
                  <a:pt x="355853" y="59309"/>
                </a:lnTo>
                <a:lnTo>
                  <a:pt x="363086" y="47353"/>
                </a:lnTo>
                <a:lnTo>
                  <a:pt x="416645" y="26144"/>
                </a:lnTo>
                <a:lnTo>
                  <a:pt x="460105" y="17367"/>
                </a:lnTo>
                <a:lnTo>
                  <a:pt x="512774" y="10126"/>
                </a:lnTo>
                <a:lnTo>
                  <a:pt x="573220" y="4659"/>
                </a:lnTo>
                <a:lnTo>
                  <a:pt x="640009" y="1204"/>
                </a:lnTo>
                <a:lnTo>
                  <a:pt x="711708" y="0"/>
                </a:lnTo>
              </a:path>
            </a:pathLst>
          </a:custGeom>
          <a:ln w="38100">
            <a:solidFill>
              <a:srgbClr val="BE7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30580" y="2554223"/>
            <a:ext cx="2257425" cy="37084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28575" rIns="0" bIns="0" rtlCol="0">
            <a:spAutoFit/>
          </a:bodyPr>
          <a:lstStyle/>
          <a:p>
            <a:pPr marL="1017905">
              <a:lnSpc>
                <a:spcPct val="100000"/>
              </a:lnSpc>
              <a:spcBef>
                <a:spcPts val="225"/>
              </a:spcBef>
            </a:pPr>
            <a:r>
              <a:rPr sz="1800" spc="-5" dirty="0">
                <a:latin typeface="华文楷体"/>
                <a:cs typeface="华文楷体"/>
              </a:rPr>
              <a:t>BCD</a:t>
            </a:r>
            <a:r>
              <a:rPr sz="1800" dirty="0">
                <a:latin typeface="华文楷体"/>
                <a:cs typeface="华文楷体"/>
              </a:rPr>
              <a:t>码输入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240523" y="3339084"/>
            <a:ext cx="2665730" cy="370840"/>
          </a:xfrm>
          <a:custGeom>
            <a:avLst/>
            <a:gdLst/>
            <a:ahLst/>
            <a:cxnLst/>
            <a:rect l="l" t="t" r="r" b="b"/>
            <a:pathLst>
              <a:path w="2665729" h="370839">
                <a:moveTo>
                  <a:pt x="0" y="370331"/>
                </a:moveTo>
                <a:lnTo>
                  <a:pt x="2665476" y="370331"/>
                </a:lnTo>
                <a:lnTo>
                  <a:pt x="2665476" y="0"/>
                </a:lnTo>
                <a:lnTo>
                  <a:pt x="0" y="0"/>
                </a:lnTo>
                <a:lnTo>
                  <a:pt x="0" y="370331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431148" y="3354400"/>
            <a:ext cx="139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华文楷体"/>
                <a:cs typeface="华文楷体"/>
              </a:rPr>
              <a:t>显示信号输出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48093" y="1270253"/>
            <a:ext cx="393700" cy="4224655"/>
          </a:xfrm>
          <a:custGeom>
            <a:avLst/>
            <a:gdLst/>
            <a:ahLst/>
            <a:cxnLst/>
            <a:rect l="l" t="t" r="r" b="b"/>
            <a:pathLst>
              <a:path w="393700" h="4224655">
                <a:moveTo>
                  <a:pt x="0" y="0"/>
                </a:moveTo>
                <a:lnTo>
                  <a:pt x="76527" y="2583"/>
                </a:lnTo>
                <a:lnTo>
                  <a:pt x="139017" y="9620"/>
                </a:lnTo>
                <a:lnTo>
                  <a:pt x="181147" y="20038"/>
                </a:lnTo>
                <a:lnTo>
                  <a:pt x="196596" y="32766"/>
                </a:lnTo>
                <a:lnTo>
                  <a:pt x="196596" y="2079498"/>
                </a:lnTo>
                <a:lnTo>
                  <a:pt x="212044" y="2092225"/>
                </a:lnTo>
                <a:lnTo>
                  <a:pt x="254174" y="2102643"/>
                </a:lnTo>
                <a:lnTo>
                  <a:pt x="316664" y="2109680"/>
                </a:lnTo>
                <a:lnTo>
                  <a:pt x="393191" y="2112264"/>
                </a:lnTo>
                <a:lnTo>
                  <a:pt x="316664" y="2114847"/>
                </a:lnTo>
                <a:lnTo>
                  <a:pt x="254174" y="2121884"/>
                </a:lnTo>
                <a:lnTo>
                  <a:pt x="212044" y="2132302"/>
                </a:lnTo>
                <a:lnTo>
                  <a:pt x="196596" y="2145030"/>
                </a:lnTo>
                <a:lnTo>
                  <a:pt x="196596" y="4191762"/>
                </a:lnTo>
                <a:lnTo>
                  <a:pt x="181147" y="4204489"/>
                </a:lnTo>
                <a:lnTo>
                  <a:pt x="139017" y="4214907"/>
                </a:lnTo>
                <a:lnTo>
                  <a:pt x="76527" y="4221944"/>
                </a:lnTo>
                <a:lnTo>
                  <a:pt x="0" y="4224528"/>
                </a:lnTo>
              </a:path>
            </a:pathLst>
          </a:custGeom>
          <a:ln w="38100">
            <a:solidFill>
              <a:srgbClr val="BE7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49573" y="3943350"/>
            <a:ext cx="2296795" cy="2438400"/>
          </a:xfrm>
          <a:custGeom>
            <a:avLst/>
            <a:gdLst/>
            <a:ahLst/>
            <a:cxnLst/>
            <a:rect l="l" t="t" r="r" b="b"/>
            <a:pathLst>
              <a:path w="2296795" h="2438400">
                <a:moveTo>
                  <a:pt x="0" y="1219200"/>
                </a:moveTo>
                <a:lnTo>
                  <a:pt x="911" y="1170163"/>
                </a:lnTo>
                <a:lnTo>
                  <a:pt x="3624" y="1121619"/>
                </a:lnTo>
                <a:lnTo>
                  <a:pt x="8103" y="1073602"/>
                </a:lnTo>
                <a:lnTo>
                  <a:pt x="14313" y="1026150"/>
                </a:lnTo>
                <a:lnTo>
                  <a:pt x="22222" y="979298"/>
                </a:lnTo>
                <a:lnTo>
                  <a:pt x="31794" y="933084"/>
                </a:lnTo>
                <a:lnTo>
                  <a:pt x="42996" y="887543"/>
                </a:lnTo>
                <a:lnTo>
                  <a:pt x="55792" y="842712"/>
                </a:lnTo>
                <a:lnTo>
                  <a:pt x="70149" y="798628"/>
                </a:lnTo>
                <a:lnTo>
                  <a:pt x="86032" y="755327"/>
                </a:lnTo>
                <a:lnTo>
                  <a:pt x="103407" y="712845"/>
                </a:lnTo>
                <a:lnTo>
                  <a:pt x="122240" y="671219"/>
                </a:lnTo>
                <a:lnTo>
                  <a:pt x="142496" y="630485"/>
                </a:lnTo>
                <a:lnTo>
                  <a:pt x="164141" y="590679"/>
                </a:lnTo>
                <a:lnTo>
                  <a:pt x="187141" y="551838"/>
                </a:lnTo>
                <a:lnTo>
                  <a:pt x="211462" y="513999"/>
                </a:lnTo>
                <a:lnTo>
                  <a:pt x="237069" y="477198"/>
                </a:lnTo>
                <a:lnTo>
                  <a:pt x="263928" y="441471"/>
                </a:lnTo>
                <a:lnTo>
                  <a:pt x="292004" y="406854"/>
                </a:lnTo>
                <a:lnTo>
                  <a:pt x="321264" y="373385"/>
                </a:lnTo>
                <a:lnTo>
                  <a:pt x="351673" y="341099"/>
                </a:lnTo>
                <a:lnTo>
                  <a:pt x="383197" y="310033"/>
                </a:lnTo>
                <a:lnTo>
                  <a:pt x="415801" y="280223"/>
                </a:lnTo>
                <a:lnTo>
                  <a:pt x="449451" y="251706"/>
                </a:lnTo>
                <a:lnTo>
                  <a:pt x="484113" y="224519"/>
                </a:lnTo>
                <a:lnTo>
                  <a:pt x="519753" y="198697"/>
                </a:lnTo>
                <a:lnTo>
                  <a:pt x="556336" y="174276"/>
                </a:lnTo>
                <a:lnTo>
                  <a:pt x="593828" y="151295"/>
                </a:lnTo>
                <a:lnTo>
                  <a:pt x="632194" y="129788"/>
                </a:lnTo>
                <a:lnTo>
                  <a:pt x="671401" y="109792"/>
                </a:lnTo>
                <a:lnTo>
                  <a:pt x="711414" y="91344"/>
                </a:lnTo>
                <a:lnTo>
                  <a:pt x="752199" y="74480"/>
                </a:lnTo>
                <a:lnTo>
                  <a:pt x="793721" y="59237"/>
                </a:lnTo>
                <a:lnTo>
                  <a:pt x="835947" y="45651"/>
                </a:lnTo>
                <a:lnTo>
                  <a:pt x="878841" y="33758"/>
                </a:lnTo>
                <a:lnTo>
                  <a:pt x="922370" y="23594"/>
                </a:lnTo>
                <a:lnTo>
                  <a:pt x="966499" y="15197"/>
                </a:lnTo>
                <a:lnTo>
                  <a:pt x="1011195" y="8603"/>
                </a:lnTo>
                <a:lnTo>
                  <a:pt x="1056422" y="3848"/>
                </a:lnTo>
                <a:lnTo>
                  <a:pt x="1102146" y="968"/>
                </a:lnTo>
                <a:lnTo>
                  <a:pt x="1148334" y="0"/>
                </a:lnTo>
                <a:lnTo>
                  <a:pt x="1194521" y="968"/>
                </a:lnTo>
                <a:lnTo>
                  <a:pt x="1240245" y="3848"/>
                </a:lnTo>
                <a:lnTo>
                  <a:pt x="1285472" y="8603"/>
                </a:lnTo>
                <a:lnTo>
                  <a:pt x="1330168" y="15197"/>
                </a:lnTo>
                <a:lnTo>
                  <a:pt x="1374297" y="23594"/>
                </a:lnTo>
                <a:lnTo>
                  <a:pt x="1417826" y="33758"/>
                </a:lnTo>
                <a:lnTo>
                  <a:pt x="1460720" y="45651"/>
                </a:lnTo>
                <a:lnTo>
                  <a:pt x="1502946" y="59237"/>
                </a:lnTo>
                <a:lnTo>
                  <a:pt x="1544468" y="74480"/>
                </a:lnTo>
                <a:lnTo>
                  <a:pt x="1585253" y="91344"/>
                </a:lnTo>
                <a:lnTo>
                  <a:pt x="1625266" y="109792"/>
                </a:lnTo>
                <a:lnTo>
                  <a:pt x="1664473" y="129788"/>
                </a:lnTo>
                <a:lnTo>
                  <a:pt x="1702839" y="151295"/>
                </a:lnTo>
                <a:lnTo>
                  <a:pt x="1740331" y="174276"/>
                </a:lnTo>
                <a:lnTo>
                  <a:pt x="1776914" y="198697"/>
                </a:lnTo>
                <a:lnTo>
                  <a:pt x="1812554" y="224519"/>
                </a:lnTo>
                <a:lnTo>
                  <a:pt x="1847216" y="251706"/>
                </a:lnTo>
                <a:lnTo>
                  <a:pt x="1880866" y="280223"/>
                </a:lnTo>
                <a:lnTo>
                  <a:pt x="1913470" y="310033"/>
                </a:lnTo>
                <a:lnTo>
                  <a:pt x="1944994" y="341099"/>
                </a:lnTo>
                <a:lnTo>
                  <a:pt x="1975403" y="373385"/>
                </a:lnTo>
                <a:lnTo>
                  <a:pt x="2004663" y="406854"/>
                </a:lnTo>
                <a:lnTo>
                  <a:pt x="2032739" y="441471"/>
                </a:lnTo>
                <a:lnTo>
                  <a:pt x="2059598" y="477198"/>
                </a:lnTo>
                <a:lnTo>
                  <a:pt x="2085205" y="513999"/>
                </a:lnTo>
                <a:lnTo>
                  <a:pt x="2109526" y="551838"/>
                </a:lnTo>
                <a:lnTo>
                  <a:pt x="2132526" y="590679"/>
                </a:lnTo>
                <a:lnTo>
                  <a:pt x="2154171" y="630485"/>
                </a:lnTo>
                <a:lnTo>
                  <a:pt x="2174427" y="671219"/>
                </a:lnTo>
                <a:lnTo>
                  <a:pt x="2193260" y="712845"/>
                </a:lnTo>
                <a:lnTo>
                  <a:pt x="2210635" y="755327"/>
                </a:lnTo>
                <a:lnTo>
                  <a:pt x="2226518" y="798628"/>
                </a:lnTo>
                <a:lnTo>
                  <a:pt x="2240875" y="842712"/>
                </a:lnTo>
                <a:lnTo>
                  <a:pt x="2253671" y="887543"/>
                </a:lnTo>
                <a:lnTo>
                  <a:pt x="2264873" y="933084"/>
                </a:lnTo>
                <a:lnTo>
                  <a:pt x="2274445" y="979298"/>
                </a:lnTo>
                <a:lnTo>
                  <a:pt x="2282354" y="1026150"/>
                </a:lnTo>
                <a:lnTo>
                  <a:pt x="2288564" y="1073602"/>
                </a:lnTo>
                <a:lnTo>
                  <a:pt x="2293043" y="1121619"/>
                </a:lnTo>
                <a:lnTo>
                  <a:pt x="2295756" y="1170163"/>
                </a:lnTo>
                <a:lnTo>
                  <a:pt x="2296667" y="1219200"/>
                </a:lnTo>
                <a:lnTo>
                  <a:pt x="2295756" y="1268235"/>
                </a:lnTo>
                <a:lnTo>
                  <a:pt x="2293043" y="1316779"/>
                </a:lnTo>
                <a:lnTo>
                  <a:pt x="2288564" y="1364795"/>
                </a:lnTo>
                <a:lnTo>
                  <a:pt x="2282354" y="1412246"/>
                </a:lnTo>
                <a:lnTo>
                  <a:pt x="2274445" y="1459097"/>
                </a:lnTo>
                <a:lnTo>
                  <a:pt x="2264873" y="1505311"/>
                </a:lnTo>
                <a:lnTo>
                  <a:pt x="2253671" y="1550851"/>
                </a:lnTo>
                <a:lnTo>
                  <a:pt x="2240875" y="1595682"/>
                </a:lnTo>
                <a:lnTo>
                  <a:pt x="2226518" y="1639766"/>
                </a:lnTo>
                <a:lnTo>
                  <a:pt x="2210635" y="1683067"/>
                </a:lnTo>
                <a:lnTo>
                  <a:pt x="2193260" y="1725549"/>
                </a:lnTo>
                <a:lnTo>
                  <a:pt x="2174427" y="1767175"/>
                </a:lnTo>
                <a:lnTo>
                  <a:pt x="2154171" y="1807909"/>
                </a:lnTo>
                <a:lnTo>
                  <a:pt x="2132526" y="1847714"/>
                </a:lnTo>
                <a:lnTo>
                  <a:pt x="2109526" y="1886555"/>
                </a:lnTo>
                <a:lnTo>
                  <a:pt x="2085205" y="1924394"/>
                </a:lnTo>
                <a:lnTo>
                  <a:pt x="2059598" y="1961196"/>
                </a:lnTo>
                <a:lnTo>
                  <a:pt x="2032739" y="1996923"/>
                </a:lnTo>
                <a:lnTo>
                  <a:pt x="2004663" y="2031540"/>
                </a:lnTo>
                <a:lnTo>
                  <a:pt x="1975403" y="2065009"/>
                </a:lnTo>
                <a:lnTo>
                  <a:pt x="1944994" y="2097295"/>
                </a:lnTo>
                <a:lnTo>
                  <a:pt x="1913470" y="2128362"/>
                </a:lnTo>
                <a:lnTo>
                  <a:pt x="1880866" y="2158172"/>
                </a:lnTo>
                <a:lnTo>
                  <a:pt x="1847216" y="2186689"/>
                </a:lnTo>
                <a:lnTo>
                  <a:pt x="1812554" y="2213877"/>
                </a:lnTo>
                <a:lnTo>
                  <a:pt x="1776914" y="2239699"/>
                </a:lnTo>
                <a:lnTo>
                  <a:pt x="1740331" y="2264120"/>
                </a:lnTo>
                <a:lnTo>
                  <a:pt x="1702839" y="2287102"/>
                </a:lnTo>
                <a:lnTo>
                  <a:pt x="1664473" y="2308609"/>
                </a:lnTo>
                <a:lnTo>
                  <a:pt x="1625266" y="2328605"/>
                </a:lnTo>
                <a:lnTo>
                  <a:pt x="1585253" y="2347053"/>
                </a:lnTo>
                <a:lnTo>
                  <a:pt x="1544468" y="2363917"/>
                </a:lnTo>
                <a:lnTo>
                  <a:pt x="1502946" y="2379161"/>
                </a:lnTo>
                <a:lnTo>
                  <a:pt x="1460720" y="2392747"/>
                </a:lnTo>
                <a:lnTo>
                  <a:pt x="1417826" y="2404641"/>
                </a:lnTo>
                <a:lnTo>
                  <a:pt x="1374297" y="2414804"/>
                </a:lnTo>
                <a:lnTo>
                  <a:pt x="1330168" y="2423201"/>
                </a:lnTo>
                <a:lnTo>
                  <a:pt x="1285472" y="2429796"/>
                </a:lnTo>
                <a:lnTo>
                  <a:pt x="1240245" y="2434551"/>
                </a:lnTo>
                <a:lnTo>
                  <a:pt x="1194521" y="2437431"/>
                </a:lnTo>
                <a:lnTo>
                  <a:pt x="1148334" y="2438400"/>
                </a:lnTo>
                <a:lnTo>
                  <a:pt x="1102146" y="2437431"/>
                </a:lnTo>
                <a:lnTo>
                  <a:pt x="1056422" y="2434551"/>
                </a:lnTo>
                <a:lnTo>
                  <a:pt x="1011195" y="2429796"/>
                </a:lnTo>
                <a:lnTo>
                  <a:pt x="966499" y="2423201"/>
                </a:lnTo>
                <a:lnTo>
                  <a:pt x="922370" y="2414804"/>
                </a:lnTo>
                <a:lnTo>
                  <a:pt x="878841" y="2404641"/>
                </a:lnTo>
                <a:lnTo>
                  <a:pt x="835947" y="2392747"/>
                </a:lnTo>
                <a:lnTo>
                  <a:pt x="793721" y="2379161"/>
                </a:lnTo>
                <a:lnTo>
                  <a:pt x="752199" y="2363917"/>
                </a:lnTo>
                <a:lnTo>
                  <a:pt x="711414" y="2347053"/>
                </a:lnTo>
                <a:lnTo>
                  <a:pt x="671401" y="2328605"/>
                </a:lnTo>
                <a:lnTo>
                  <a:pt x="632194" y="2308609"/>
                </a:lnTo>
                <a:lnTo>
                  <a:pt x="593828" y="2287102"/>
                </a:lnTo>
                <a:lnTo>
                  <a:pt x="556336" y="2264120"/>
                </a:lnTo>
                <a:lnTo>
                  <a:pt x="519753" y="2239699"/>
                </a:lnTo>
                <a:lnTo>
                  <a:pt x="484113" y="2213877"/>
                </a:lnTo>
                <a:lnTo>
                  <a:pt x="449451" y="2186689"/>
                </a:lnTo>
                <a:lnTo>
                  <a:pt x="415801" y="2158172"/>
                </a:lnTo>
                <a:lnTo>
                  <a:pt x="383197" y="2128362"/>
                </a:lnTo>
                <a:lnTo>
                  <a:pt x="351673" y="2097295"/>
                </a:lnTo>
                <a:lnTo>
                  <a:pt x="321264" y="2065009"/>
                </a:lnTo>
                <a:lnTo>
                  <a:pt x="292004" y="2031540"/>
                </a:lnTo>
                <a:lnTo>
                  <a:pt x="263928" y="1996923"/>
                </a:lnTo>
                <a:lnTo>
                  <a:pt x="237069" y="1961196"/>
                </a:lnTo>
                <a:lnTo>
                  <a:pt x="211462" y="1924394"/>
                </a:lnTo>
                <a:lnTo>
                  <a:pt x="187141" y="1886555"/>
                </a:lnTo>
                <a:lnTo>
                  <a:pt x="164141" y="1847714"/>
                </a:lnTo>
                <a:lnTo>
                  <a:pt x="142496" y="1807909"/>
                </a:lnTo>
                <a:lnTo>
                  <a:pt x="122240" y="1767175"/>
                </a:lnTo>
                <a:lnTo>
                  <a:pt x="103407" y="1725549"/>
                </a:lnTo>
                <a:lnTo>
                  <a:pt x="86032" y="1683067"/>
                </a:lnTo>
                <a:lnTo>
                  <a:pt x="70149" y="1639766"/>
                </a:lnTo>
                <a:lnTo>
                  <a:pt x="55792" y="1595682"/>
                </a:lnTo>
                <a:lnTo>
                  <a:pt x="42996" y="1550851"/>
                </a:lnTo>
                <a:lnTo>
                  <a:pt x="31794" y="1505311"/>
                </a:lnTo>
                <a:lnTo>
                  <a:pt x="22222" y="1459097"/>
                </a:lnTo>
                <a:lnTo>
                  <a:pt x="14313" y="1412246"/>
                </a:lnTo>
                <a:lnTo>
                  <a:pt x="8103" y="1364795"/>
                </a:lnTo>
                <a:lnTo>
                  <a:pt x="3624" y="1316779"/>
                </a:lnTo>
                <a:lnTo>
                  <a:pt x="911" y="1268235"/>
                </a:lnTo>
                <a:lnTo>
                  <a:pt x="0" y="1219200"/>
                </a:lnTo>
                <a:close/>
              </a:path>
            </a:pathLst>
          </a:custGeom>
          <a:ln w="38100">
            <a:solidFill>
              <a:srgbClr val="BE7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919729" y="4484623"/>
            <a:ext cx="7874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微软雅黑"/>
                <a:cs typeface="微软雅黑"/>
              </a:rPr>
              <a:t>？</a:t>
            </a:r>
            <a:endParaRPr sz="6000">
              <a:latin typeface="微软雅黑"/>
              <a:cs typeface="微软雅黑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6703695" cy="0"/>
          </a:xfrm>
          <a:custGeom>
            <a:avLst/>
            <a:gdLst/>
            <a:ahLst/>
            <a:cxnLst/>
            <a:rect l="l" t="t" r="r" b="b"/>
            <a:pathLst>
              <a:path w="6703695">
                <a:moveTo>
                  <a:pt x="0" y="0"/>
                </a:moveTo>
                <a:lnTo>
                  <a:pt x="670314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8044" y="1281810"/>
            <a:ext cx="5086985" cy="2753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C0000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灯测试输入</a:t>
            </a:r>
            <a:endParaRPr sz="3600" dirty="0">
              <a:highlight>
                <a:srgbClr val="FFFF00"/>
              </a:highlight>
              <a:latin typeface="微软雅黑"/>
              <a:cs typeface="微软雅黑"/>
            </a:endParaRPr>
          </a:p>
          <a:p>
            <a:pPr marL="355600" marR="5080" indent="457200">
              <a:lnSpc>
                <a:spcPct val="150100"/>
              </a:lnSpc>
              <a:spcBef>
                <a:spcPts val="725"/>
              </a:spcBef>
            </a:pPr>
            <a:r>
              <a:rPr sz="2800" spc="-1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为低电平时，数码管应显示  “8”</a:t>
            </a: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。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  <a:p>
            <a:pPr marL="445134" algn="ctr">
              <a:lnSpc>
                <a:spcPct val="100000"/>
              </a:lnSpc>
              <a:spcBef>
                <a:spcPts val="2990"/>
              </a:spcBef>
            </a:pP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正常使用，应接高电平。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93109" y="62332"/>
            <a:ext cx="2325370" cy="4301490"/>
          </a:xfrm>
          <a:custGeom>
            <a:avLst/>
            <a:gdLst/>
            <a:ahLst/>
            <a:cxnLst/>
            <a:rect l="l" t="t" r="r" b="b"/>
            <a:pathLst>
              <a:path w="2325370" h="4301490">
                <a:moveTo>
                  <a:pt x="0" y="4301363"/>
                </a:moveTo>
                <a:lnTo>
                  <a:pt x="2325018" y="4301363"/>
                </a:lnTo>
                <a:lnTo>
                  <a:pt x="2325017" y="0"/>
                </a:lnTo>
                <a:lnTo>
                  <a:pt x="0" y="0"/>
                </a:lnTo>
                <a:lnTo>
                  <a:pt x="0" y="4301363"/>
                </a:lnTo>
                <a:close/>
              </a:path>
            </a:pathLst>
          </a:custGeom>
          <a:ln w="435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17962" y="600036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4">
                <a:moveTo>
                  <a:pt x="0" y="0"/>
                </a:moveTo>
                <a:lnTo>
                  <a:pt x="30531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17962" y="1137588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17963" y="1675329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17963" y="2213071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17963" y="2750680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17963" y="3288346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17963" y="3826030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4">
                <a:moveTo>
                  <a:pt x="0" y="0"/>
                </a:moveTo>
                <a:lnTo>
                  <a:pt x="30531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02497" y="600036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02497" y="1137588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02497" y="1675329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02497" y="2213071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02497" y="3019512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02497" y="3557178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02497" y="4094863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975244" y="262226"/>
            <a:ext cx="504825" cy="3789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indent="8255" algn="just">
              <a:lnSpc>
                <a:spcPct val="119600"/>
              </a:lnSpc>
              <a:spcBef>
                <a:spcPts val="90"/>
              </a:spcBef>
            </a:pPr>
            <a:r>
              <a:rPr sz="2950" b="1" spc="170" dirty="0">
                <a:latin typeface="Times New Roman"/>
                <a:cs typeface="Times New Roman"/>
              </a:rPr>
              <a:t>F</a:t>
            </a:r>
            <a:r>
              <a:rPr sz="3450" b="1" spc="104" baseline="-12077" dirty="0">
                <a:latin typeface="Times New Roman"/>
                <a:cs typeface="Times New Roman"/>
              </a:rPr>
              <a:t>a  </a:t>
            </a:r>
            <a:r>
              <a:rPr sz="2950" b="1" spc="165" dirty="0">
                <a:latin typeface="Times New Roman"/>
                <a:cs typeface="Times New Roman"/>
              </a:rPr>
              <a:t>F</a:t>
            </a:r>
            <a:r>
              <a:rPr sz="3450" b="1" spc="112" baseline="-12077" dirty="0">
                <a:latin typeface="Times New Roman"/>
                <a:cs typeface="Times New Roman"/>
              </a:rPr>
              <a:t>b  </a:t>
            </a:r>
            <a:r>
              <a:rPr sz="2950" b="1" spc="130" dirty="0">
                <a:latin typeface="Times New Roman"/>
                <a:cs typeface="Times New Roman"/>
              </a:rPr>
              <a:t>F</a:t>
            </a:r>
            <a:r>
              <a:rPr sz="3450" b="1" spc="195" baseline="-12077" dirty="0">
                <a:latin typeface="Times New Roman"/>
                <a:cs typeface="Times New Roman"/>
              </a:rPr>
              <a:t>c  </a:t>
            </a:r>
            <a:r>
              <a:rPr sz="2950" b="1" spc="165" dirty="0">
                <a:latin typeface="Times New Roman"/>
                <a:cs typeface="Times New Roman"/>
              </a:rPr>
              <a:t>F</a:t>
            </a:r>
            <a:r>
              <a:rPr sz="3450" b="1" spc="112" baseline="-12077" dirty="0">
                <a:latin typeface="Times New Roman"/>
                <a:cs typeface="Times New Roman"/>
              </a:rPr>
              <a:t>d  </a:t>
            </a:r>
            <a:r>
              <a:rPr sz="2950" b="1" spc="130" dirty="0">
                <a:latin typeface="Times New Roman"/>
                <a:cs typeface="Times New Roman"/>
              </a:rPr>
              <a:t>F</a:t>
            </a:r>
            <a:r>
              <a:rPr sz="3450" b="1" spc="195" baseline="-12077" dirty="0">
                <a:latin typeface="Times New Roman"/>
                <a:cs typeface="Times New Roman"/>
              </a:rPr>
              <a:t>e  </a:t>
            </a:r>
            <a:r>
              <a:rPr sz="2950" b="1" spc="114" dirty="0">
                <a:latin typeface="Times New Roman"/>
                <a:cs typeface="Times New Roman"/>
              </a:rPr>
              <a:t>F</a:t>
            </a:r>
            <a:r>
              <a:rPr sz="3450" b="1" spc="172" baseline="-12077" dirty="0">
                <a:latin typeface="Times New Roman"/>
                <a:cs typeface="Times New Roman"/>
              </a:rPr>
              <a:t>f  </a:t>
            </a:r>
            <a:r>
              <a:rPr sz="2950" b="1" spc="135" dirty="0">
                <a:latin typeface="Times New Roman"/>
                <a:cs typeface="Times New Roman"/>
              </a:rPr>
              <a:t>F</a:t>
            </a:r>
            <a:r>
              <a:rPr sz="3450" b="1" spc="202" baseline="-12077" dirty="0">
                <a:latin typeface="Times New Roman"/>
                <a:cs typeface="Times New Roman"/>
              </a:rPr>
              <a:t>g</a:t>
            </a:r>
            <a:endParaRPr sz="3450" baseline="-12077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217588" y="262226"/>
            <a:ext cx="532765" cy="2176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algn="just">
              <a:lnSpc>
                <a:spcPct val="119600"/>
              </a:lnSpc>
              <a:spcBef>
                <a:spcPts val="90"/>
              </a:spcBef>
            </a:pP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04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3  </a:t>
            </a: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04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2  </a:t>
            </a: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04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1  </a:t>
            </a: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57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endParaRPr sz="3450" baseline="-12077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055553" y="2944423"/>
            <a:ext cx="158871" cy="150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055553" y="3482108"/>
            <a:ext cx="158871" cy="150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055553" y="4019774"/>
            <a:ext cx="158871" cy="1501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46352" y="2693633"/>
            <a:ext cx="1317625" cy="1638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985">
              <a:lnSpc>
                <a:spcPct val="133100"/>
              </a:lnSpc>
              <a:spcBef>
                <a:spcPts val="90"/>
              </a:spcBef>
            </a:pPr>
            <a:r>
              <a:rPr sz="2650" b="1" spc="170" dirty="0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LT </a:t>
            </a:r>
            <a:r>
              <a:rPr sz="2650" b="1" spc="1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50" b="1" spc="170" dirty="0">
                <a:latin typeface="Times New Roman"/>
                <a:cs typeface="Times New Roman"/>
              </a:rPr>
              <a:t>B</a:t>
            </a:r>
            <a:r>
              <a:rPr sz="2650" b="1" spc="95" dirty="0">
                <a:latin typeface="Times New Roman"/>
                <a:cs typeface="Times New Roman"/>
              </a:rPr>
              <a:t>I</a:t>
            </a:r>
            <a:r>
              <a:rPr sz="2650" b="1" spc="70" dirty="0">
                <a:latin typeface="Times New Roman"/>
                <a:cs typeface="Times New Roman"/>
              </a:rPr>
              <a:t>/</a:t>
            </a:r>
            <a:r>
              <a:rPr sz="2650" b="1" spc="180" dirty="0">
                <a:latin typeface="Times New Roman"/>
                <a:cs typeface="Times New Roman"/>
              </a:rPr>
              <a:t>R</a:t>
            </a:r>
            <a:r>
              <a:rPr sz="2650" b="1" spc="120" dirty="0">
                <a:latin typeface="Times New Roman"/>
                <a:cs typeface="Times New Roman"/>
              </a:rPr>
              <a:t>BO  </a:t>
            </a:r>
            <a:r>
              <a:rPr sz="2650" b="1" spc="150" dirty="0">
                <a:latin typeface="Times New Roman"/>
                <a:cs typeface="Times New Roman"/>
              </a:rPr>
              <a:t>RBI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251239" y="2879719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4983" y="0"/>
                </a:lnTo>
              </a:path>
            </a:pathLst>
          </a:custGeom>
          <a:ln w="409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51240" y="3933559"/>
            <a:ext cx="593090" cy="0"/>
          </a:xfrm>
          <a:custGeom>
            <a:avLst/>
            <a:gdLst/>
            <a:ahLst/>
            <a:cxnLst/>
            <a:rect l="l" t="t" r="r" b="b"/>
            <a:pathLst>
              <a:path w="593090">
                <a:moveTo>
                  <a:pt x="0" y="0"/>
                </a:moveTo>
                <a:lnTo>
                  <a:pt x="592849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85979" y="3438894"/>
            <a:ext cx="697865" cy="0"/>
          </a:xfrm>
          <a:custGeom>
            <a:avLst/>
            <a:gdLst/>
            <a:ahLst/>
            <a:cxnLst/>
            <a:rect l="l" t="t" r="r" b="b"/>
            <a:pathLst>
              <a:path w="697865">
                <a:moveTo>
                  <a:pt x="0" y="0"/>
                </a:moveTo>
                <a:lnTo>
                  <a:pt x="697464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74492" y="3438894"/>
            <a:ext cx="364490" cy="0"/>
          </a:xfrm>
          <a:custGeom>
            <a:avLst/>
            <a:gdLst/>
            <a:ahLst/>
            <a:cxnLst/>
            <a:rect l="l" t="t" r="r" b="b"/>
            <a:pathLst>
              <a:path w="364490">
                <a:moveTo>
                  <a:pt x="0" y="0"/>
                </a:moveTo>
                <a:lnTo>
                  <a:pt x="36424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124707" y="1488693"/>
            <a:ext cx="434340" cy="11264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270"/>
              </a:lnSpc>
            </a:pP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74LS48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78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6703695" cy="0"/>
          </a:xfrm>
          <a:custGeom>
            <a:avLst/>
            <a:gdLst/>
            <a:ahLst/>
            <a:cxnLst/>
            <a:rect l="l" t="t" r="r" b="b"/>
            <a:pathLst>
              <a:path w="6703695">
                <a:moveTo>
                  <a:pt x="0" y="0"/>
                </a:moveTo>
                <a:lnTo>
                  <a:pt x="670314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42644" y="1281810"/>
            <a:ext cx="5173345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C0000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灭零输入</a:t>
            </a:r>
            <a:endParaRPr sz="3600" dirty="0">
              <a:highlight>
                <a:srgbClr val="FFFF00"/>
              </a:highlight>
              <a:latin typeface="微软雅黑"/>
              <a:cs typeface="微软雅黑"/>
            </a:endParaRPr>
          </a:p>
          <a:p>
            <a:pPr marL="381000" marR="30480" indent="457200">
              <a:lnSpc>
                <a:spcPct val="150100"/>
              </a:lnSpc>
              <a:spcBef>
                <a:spcPts val="725"/>
              </a:spcBef>
            </a:pPr>
            <a:r>
              <a:rPr sz="2800" spc="-1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为低电平且</a:t>
            </a: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A</a:t>
            </a:r>
            <a:r>
              <a:rPr sz="2775" spc="7" baseline="-21021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3</a:t>
            </a: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A</a:t>
            </a:r>
            <a:r>
              <a:rPr sz="2775" spc="7" baseline="-21021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2</a:t>
            </a: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A</a:t>
            </a:r>
            <a:r>
              <a:rPr sz="2775" spc="7" baseline="-21021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A</a:t>
            </a:r>
            <a:r>
              <a:rPr sz="2775" spc="7" baseline="-21021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0</a:t>
            </a:r>
            <a:r>
              <a:rPr sz="2800" spc="-1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=</a:t>
            </a:r>
            <a:r>
              <a:rPr sz="2800" spc="-1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0时， </a:t>
            </a: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数码管不显示（灭）。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93109" y="62332"/>
            <a:ext cx="2325370" cy="4301490"/>
          </a:xfrm>
          <a:custGeom>
            <a:avLst/>
            <a:gdLst/>
            <a:ahLst/>
            <a:cxnLst/>
            <a:rect l="l" t="t" r="r" b="b"/>
            <a:pathLst>
              <a:path w="2325370" h="4301490">
                <a:moveTo>
                  <a:pt x="0" y="4301363"/>
                </a:moveTo>
                <a:lnTo>
                  <a:pt x="2325018" y="4301363"/>
                </a:lnTo>
                <a:lnTo>
                  <a:pt x="2325017" y="0"/>
                </a:lnTo>
                <a:lnTo>
                  <a:pt x="0" y="0"/>
                </a:lnTo>
                <a:lnTo>
                  <a:pt x="0" y="4301363"/>
                </a:lnTo>
                <a:close/>
              </a:path>
            </a:pathLst>
          </a:custGeom>
          <a:ln w="435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17962" y="600036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4">
                <a:moveTo>
                  <a:pt x="0" y="0"/>
                </a:moveTo>
                <a:lnTo>
                  <a:pt x="30531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17962" y="1137588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17963" y="1675329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17963" y="2213071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17963" y="2750680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17963" y="3288346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17963" y="3826030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4">
                <a:moveTo>
                  <a:pt x="0" y="0"/>
                </a:moveTo>
                <a:lnTo>
                  <a:pt x="30531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02497" y="600036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02497" y="1137588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02497" y="1675329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02497" y="2213071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02497" y="3019512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02497" y="3557178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02497" y="4094863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975244" y="262226"/>
            <a:ext cx="504825" cy="3789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indent="8255" algn="just">
              <a:lnSpc>
                <a:spcPct val="119600"/>
              </a:lnSpc>
              <a:spcBef>
                <a:spcPts val="90"/>
              </a:spcBef>
            </a:pPr>
            <a:r>
              <a:rPr sz="2950" b="1" spc="170" dirty="0">
                <a:latin typeface="Times New Roman"/>
                <a:cs typeface="Times New Roman"/>
              </a:rPr>
              <a:t>F</a:t>
            </a:r>
            <a:r>
              <a:rPr sz="3450" b="1" spc="104" baseline="-12077" dirty="0">
                <a:latin typeface="Times New Roman"/>
                <a:cs typeface="Times New Roman"/>
              </a:rPr>
              <a:t>a  </a:t>
            </a:r>
            <a:r>
              <a:rPr sz="2950" b="1" spc="165" dirty="0">
                <a:latin typeface="Times New Roman"/>
                <a:cs typeface="Times New Roman"/>
              </a:rPr>
              <a:t>F</a:t>
            </a:r>
            <a:r>
              <a:rPr sz="3450" b="1" spc="112" baseline="-12077" dirty="0">
                <a:latin typeface="Times New Roman"/>
                <a:cs typeface="Times New Roman"/>
              </a:rPr>
              <a:t>b  </a:t>
            </a:r>
            <a:r>
              <a:rPr sz="2950" b="1" spc="130" dirty="0">
                <a:latin typeface="Times New Roman"/>
                <a:cs typeface="Times New Roman"/>
              </a:rPr>
              <a:t>F</a:t>
            </a:r>
            <a:r>
              <a:rPr sz="3450" b="1" spc="195" baseline="-12077" dirty="0">
                <a:latin typeface="Times New Roman"/>
                <a:cs typeface="Times New Roman"/>
              </a:rPr>
              <a:t>c  </a:t>
            </a:r>
            <a:r>
              <a:rPr sz="2950" b="1" spc="165" dirty="0">
                <a:latin typeface="Times New Roman"/>
                <a:cs typeface="Times New Roman"/>
              </a:rPr>
              <a:t>F</a:t>
            </a:r>
            <a:r>
              <a:rPr sz="3450" b="1" spc="112" baseline="-12077" dirty="0">
                <a:latin typeface="Times New Roman"/>
                <a:cs typeface="Times New Roman"/>
              </a:rPr>
              <a:t>d  </a:t>
            </a:r>
            <a:r>
              <a:rPr sz="2950" b="1" spc="130" dirty="0">
                <a:latin typeface="Times New Roman"/>
                <a:cs typeface="Times New Roman"/>
              </a:rPr>
              <a:t>F</a:t>
            </a:r>
            <a:r>
              <a:rPr sz="3450" b="1" spc="195" baseline="-12077" dirty="0">
                <a:latin typeface="Times New Roman"/>
                <a:cs typeface="Times New Roman"/>
              </a:rPr>
              <a:t>e  </a:t>
            </a:r>
            <a:r>
              <a:rPr sz="2950" b="1" spc="114" dirty="0">
                <a:latin typeface="Times New Roman"/>
                <a:cs typeface="Times New Roman"/>
              </a:rPr>
              <a:t>F</a:t>
            </a:r>
            <a:r>
              <a:rPr sz="3450" b="1" spc="172" baseline="-12077" dirty="0">
                <a:latin typeface="Times New Roman"/>
                <a:cs typeface="Times New Roman"/>
              </a:rPr>
              <a:t>f  </a:t>
            </a:r>
            <a:r>
              <a:rPr sz="2950" b="1" spc="135" dirty="0">
                <a:latin typeface="Times New Roman"/>
                <a:cs typeface="Times New Roman"/>
              </a:rPr>
              <a:t>F</a:t>
            </a:r>
            <a:r>
              <a:rPr sz="3450" b="1" spc="202" baseline="-12077" dirty="0">
                <a:latin typeface="Times New Roman"/>
                <a:cs typeface="Times New Roman"/>
              </a:rPr>
              <a:t>g</a:t>
            </a:r>
            <a:endParaRPr sz="3450" baseline="-12077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217588" y="262226"/>
            <a:ext cx="532765" cy="2176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algn="just">
              <a:lnSpc>
                <a:spcPct val="119600"/>
              </a:lnSpc>
              <a:spcBef>
                <a:spcPts val="90"/>
              </a:spcBef>
            </a:pP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04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3  </a:t>
            </a: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04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2  </a:t>
            </a: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04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1  </a:t>
            </a: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57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endParaRPr sz="3450" baseline="-12077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055553" y="2944423"/>
            <a:ext cx="158871" cy="150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055553" y="3482108"/>
            <a:ext cx="158871" cy="150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055553" y="4019774"/>
            <a:ext cx="158871" cy="1501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46352" y="2693633"/>
            <a:ext cx="1317625" cy="1638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985">
              <a:lnSpc>
                <a:spcPct val="133100"/>
              </a:lnSpc>
              <a:spcBef>
                <a:spcPts val="90"/>
              </a:spcBef>
            </a:pPr>
            <a:r>
              <a:rPr sz="2650" b="1" spc="170" dirty="0">
                <a:latin typeface="Times New Roman"/>
                <a:cs typeface="Times New Roman"/>
              </a:rPr>
              <a:t>LT  B</a:t>
            </a:r>
            <a:r>
              <a:rPr sz="2650" b="1" spc="95" dirty="0">
                <a:latin typeface="Times New Roman"/>
                <a:cs typeface="Times New Roman"/>
              </a:rPr>
              <a:t>I</a:t>
            </a:r>
            <a:r>
              <a:rPr sz="2650" b="1" spc="70" dirty="0">
                <a:latin typeface="Times New Roman"/>
                <a:cs typeface="Times New Roman"/>
              </a:rPr>
              <a:t>/</a:t>
            </a:r>
            <a:r>
              <a:rPr sz="2650" b="1" spc="180" dirty="0">
                <a:latin typeface="Times New Roman"/>
                <a:cs typeface="Times New Roman"/>
              </a:rPr>
              <a:t>R</a:t>
            </a:r>
            <a:r>
              <a:rPr sz="2650" b="1" spc="120" dirty="0">
                <a:latin typeface="Times New Roman"/>
                <a:cs typeface="Times New Roman"/>
              </a:rPr>
              <a:t>BO  </a:t>
            </a:r>
            <a:r>
              <a:rPr sz="2650" b="1" spc="150" dirty="0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RBI</a:t>
            </a:r>
            <a:endParaRPr sz="2650" dirty="0">
              <a:highlight>
                <a:srgbClr val="FFFF00"/>
              </a:highlight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251239" y="2879719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498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51240" y="3933559"/>
            <a:ext cx="593090" cy="0"/>
          </a:xfrm>
          <a:custGeom>
            <a:avLst/>
            <a:gdLst/>
            <a:ahLst/>
            <a:cxnLst/>
            <a:rect l="l" t="t" r="r" b="b"/>
            <a:pathLst>
              <a:path w="593090">
                <a:moveTo>
                  <a:pt x="0" y="0"/>
                </a:moveTo>
                <a:lnTo>
                  <a:pt x="592849" y="0"/>
                </a:lnTo>
              </a:path>
            </a:pathLst>
          </a:custGeom>
          <a:ln w="409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85979" y="3438894"/>
            <a:ext cx="697865" cy="0"/>
          </a:xfrm>
          <a:custGeom>
            <a:avLst/>
            <a:gdLst/>
            <a:ahLst/>
            <a:cxnLst/>
            <a:rect l="l" t="t" r="r" b="b"/>
            <a:pathLst>
              <a:path w="697865">
                <a:moveTo>
                  <a:pt x="0" y="0"/>
                </a:moveTo>
                <a:lnTo>
                  <a:pt x="697464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74492" y="3438894"/>
            <a:ext cx="364490" cy="0"/>
          </a:xfrm>
          <a:custGeom>
            <a:avLst/>
            <a:gdLst/>
            <a:ahLst/>
            <a:cxnLst/>
            <a:rect l="l" t="t" r="r" b="b"/>
            <a:pathLst>
              <a:path w="364490">
                <a:moveTo>
                  <a:pt x="0" y="0"/>
                </a:moveTo>
                <a:lnTo>
                  <a:pt x="36424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124707" y="1488693"/>
            <a:ext cx="434340" cy="11264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270"/>
              </a:lnSpc>
            </a:pP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74LS48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79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6703695" cy="0"/>
          </a:xfrm>
          <a:custGeom>
            <a:avLst/>
            <a:gdLst/>
            <a:ahLst/>
            <a:cxnLst/>
            <a:rect l="l" t="t" r="r" b="b"/>
            <a:pathLst>
              <a:path w="6703695">
                <a:moveTo>
                  <a:pt x="0" y="0"/>
                </a:moveTo>
                <a:lnTo>
                  <a:pt x="670314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8044" y="1281810"/>
            <a:ext cx="5086985" cy="2753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C0000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熄灭输入</a:t>
            </a:r>
            <a:r>
              <a:rPr sz="3600" spc="-5" dirty="0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/</a:t>
            </a:r>
            <a:r>
              <a:rPr sz="3600" dirty="0">
                <a:solidFill>
                  <a:srgbClr val="C0000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灭零输出</a:t>
            </a:r>
            <a:endParaRPr sz="3600" dirty="0">
              <a:highlight>
                <a:srgbClr val="FFFF00"/>
              </a:highlight>
              <a:latin typeface="微软雅黑"/>
              <a:cs typeface="微软雅黑"/>
            </a:endParaRPr>
          </a:p>
          <a:p>
            <a:pPr marL="812800" marR="5080">
              <a:lnSpc>
                <a:spcPts val="6350"/>
              </a:lnSpc>
              <a:spcBef>
                <a:spcPts val="125"/>
              </a:spcBef>
            </a:pP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双重功能的输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入/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输出端。 </a:t>
            </a: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输入：外加低电平时所有灯</a:t>
            </a:r>
            <a:endParaRPr sz="2800" dirty="0">
              <a:latin typeface="华文楷体"/>
              <a:cs typeface="华文楷体"/>
            </a:endParaRPr>
          </a:p>
          <a:p>
            <a:pPr marL="355600">
              <a:lnSpc>
                <a:spcPct val="100000"/>
              </a:lnSpc>
              <a:spcBef>
                <a:spcPts val="975"/>
              </a:spcBef>
            </a:pP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熄灭。</a:t>
            </a:r>
            <a:endParaRPr sz="2800" dirty="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85544" y="4174134"/>
            <a:ext cx="4686300" cy="130619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1780"/>
              </a:spcBef>
            </a:pPr>
            <a:r>
              <a:rPr sz="2800" spc="-5" dirty="0">
                <a:solidFill>
                  <a:srgbClr val="BE7300"/>
                </a:solidFill>
                <a:latin typeface="华文楷体"/>
                <a:cs typeface="华文楷体"/>
              </a:rPr>
              <a:t>输出：当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A</a:t>
            </a:r>
            <a:r>
              <a:rPr sz="2775" baseline="-21021" dirty="0">
                <a:solidFill>
                  <a:srgbClr val="7E4D00"/>
                </a:solidFill>
                <a:latin typeface="华文楷体"/>
                <a:cs typeface="华文楷体"/>
              </a:rPr>
              <a:t>3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A</a:t>
            </a:r>
            <a:r>
              <a:rPr sz="2775" baseline="-21021" dirty="0">
                <a:solidFill>
                  <a:srgbClr val="7E4D00"/>
                </a:solidFill>
                <a:latin typeface="华文楷体"/>
                <a:cs typeface="华文楷体"/>
              </a:rPr>
              <a:t>2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A</a:t>
            </a:r>
            <a:r>
              <a:rPr sz="2775" baseline="-21021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A</a:t>
            </a:r>
            <a:r>
              <a:rPr sz="2775" baseline="-21021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=0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且RBI</a:t>
            </a:r>
            <a:endParaRPr sz="2800" dirty="0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168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=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0时输出为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0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 dirty="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93109" y="62332"/>
            <a:ext cx="2325370" cy="4301490"/>
          </a:xfrm>
          <a:custGeom>
            <a:avLst/>
            <a:gdLst/>
            <a:ahLst/>
            <a:cxnLst/>
            <a:rect l="l" t="t" r="r" b="b"/>
            <a:pathLst>
              <a:path w="2325370" h="4301490">
                <a:moveTo>
                  <a:pt x="0" y="4301363"/>
                </a:moveTo>
                <a:lnTo>
                  <a:pt x="2325018" y="4301363"/>
                </a:lnTo>
                <a:lnTo>
                  <a:pt x="2325017" y="0"/>
                </a:lnTo>
                <a:lnTo>
                  <a:pt x="0" y="0"/>
                </a:lnTo>
                <a:lnTo>
                  <a:pt x="0" y="4301363"/>
                </a:lnTo>
                <a:close/>
              </a:path>
            </a:pathLst>
          </a:custGeom>
          <a:ln w="435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17962" y="600036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4">
                <a:moveTo>
                  <a:pt x="0" y="0"/>
                </a:moveTo>
                <a:lnTo>
                  <a:pt x="30531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17962" y="1137588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17963" y="1675329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17963" y="2213071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17963" y="2750680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17963" y="3288346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0" y="0"/>
                </a:moveTo>
                <a:lnTo>
                  <a:pt x="290755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517963" y="3826030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4">
                <a:moveTo>
                  <a:pt x="0" y="0"/>
                </a:moveTo>
                <a:lnTo>
                  <a:pt x="30531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02497" y="600036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02497" y="1137588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02497" y="1675329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02497" y="2213071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02497" y="3019512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02497" y="3557178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02497" y="4094863"/>
            <a:ext cx="290830" cy="0"/>
          </a:xfrm>
          <a:custGeom>
            <a:avLst/>
            <a:gdLst/>
            <a:ahLst/>
            <a:cxnLst/>
            <a:rect l="l" t="t" r="r" b="b"/>
            <a:pathLst>
              <a:path w="290829">
                <a:moveTo>
                  <a:pt x="290611" y="0"/>
                </a:moveTo>
                <a:lnTo>
                  <a:pt x="0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975244" y="262226"/>
            <a:ext cx="504825" cy="3789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indent="8255" algn="just">
              <a:lnSpc>
                <a:spcPct val="119600"/>
              </a:lnSpc>
              <a:spcBef>
                <a:spcPts val="90"/>
              </a:spcBef>
            </a:pPr>
            <a:r>
              <a:rPr sz="2950" b="1" spc="170" dirty="0">
                <a:latin typeface="Times New Roman"/>
                <a:cs typeface="Times New Roman"/>
              </a:rPr>
              <a:t>F</a:t>
            </a:r>
            <a:r>
              <a:rPr sz="3450" b="1" spc="104" baseline="-12077" dirty="0">
                <a:latin typeface="Times New Roman"/>
                <a:cs typeface="Times New Roman"/>
              </a:rPr>
              <a:t>a  </a:t>
            </a:r>
            <a:r>
              <a:rPr sz="2950" b="1" spc="165" dirty="0">
                <a:latin typeface="Times New Roman"/>
                <a:cs typeface="Times New Roman"/>
              </a:rPr>
              <a:t>F</a:t>
            </a:r>
            <a:r>
              <a:rPr sz="3450" b="1" spc="112" baseline="-12077" dirty="0">
                <a:latin typeface="Times New Roman"/>
                <a:cs typeface="Times New Roman"/>
              </a:rPr>
              <a:t>b  </a:t>
            </a:r>
            <a:r>
              <a:rPr sz="2950" b="1" spc="130" dirty="0">
                <a:latin typeface="Times New Roman"/>
                <a:cs typeface="Times New Roman"/>
              </a:rPr>
              <a:t>F</a:t>
            </a:r>
            <a:r>
              <a:rPr sz="3450" b="1" spc="195" baseline="-12077" dirty="0">
                <a:latin typeface="Times New Roman"/>
                <a:cs typeface="Times New Roman"/>
              </a:rPr>
              <a:t>c  </a:t>
            </a:r>
            <a:r>
              <a:rPr sz="2950" b="1" spc="165" dirty="0">
                <a:latin typeface="Times New Roman"/>
                <a:cs typeface="Times New Roman"/>
              </a:rPr>
              <a:t>F</a:t>
            </a:r>
            <a:r>
              <a:rPr sz="3450" b="1" spc="112" baseline="-12077" dirty="0">
                <a:latin typeface="Times New Roman"/>
                <a:cs typeface="Times New Roman"/>
              </a:rPr>
              <a:t>d  </a:t>
            </a:r>
            <a:r>
              <a:rPr sz="2950" b="1" spc="130" dirty="0">
                <a:latin typeface="Times New Roman"/>
                <a:cs typeface="Times New Roman"/>
              </a:rPr>
              <a:t>F</a:t>
            </a:r>
            <a:r>
              <a:rPr sz="3450" b="1" spc="195" baseline="-12077" dirty="0">
                <a:latin typeface="Times New Roman"/>
                <a:cs typeface="Times New Roman"/>
              </a:rPr>
              <a:t>e  </a:t>
            </a:r>
            <a:r>
              <a:rPr sz="2950" b="1" spc="114" dirty="0">
                <a:latin typeface="Times New Roman"/>
                <a:cs typeface="Times New Roman"/>
              </a:rPr>
              <a:t>F</a:t>
            </a:r>
            <a:r>
              <a:rPr sz="3450" b="1" spc="172" baseline="-12077" dirty="0">
                <a:latin typeface="Times New Roman"/>
                <a:cs typeface="Times New Roman"/>
              </a:rPr>
              <a:t>f  </a:t>
            </a:r>
            <a:r>
              <a:rPr sz="2950" b="1" spc="135" dirty="0">
                <a:latin typeface="Times New Roman"/>
                <a:cs typeface="Times New Roman"/>
              </a:rPr>
              <a:t>F</a:t>
            </a:r>
            <a:r>
              <a:rPr sz="3450" b="1" spc="202" baseline="-12077" dirty="0">
                <a:latin typeface="Times New Roman"/>
                <a:cs typeface="Times New Roman"/>
              </a:rPr>
              <a:t>g</a:t>
            </a:r>
            <a:endParaRPr sz="3450" baseline="-12077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7217588" y="262226"/>
            <a:ext cx="532765" cy="2176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algn="just">
              <a:lnSpc>
                <a:spcPct val="119600"/>
              </a:lnSpc>
              <a:spcBef>
                <a:spcPts val="90"/>
              </a:spcBef>
            </a:pP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04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3  </a:t>
            </a: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04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2  </a:t>
            </a: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04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1  </a:t>
            </a:r>
            <a:r>
              <a:rPr sz="2950" b="1" spc="2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450" b="1" spc="157" baseline="-12077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endParaRPr sz="3450" baseline="-12077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055553" y="2944423"/>
            <a:ext cx="158871" cy="150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055553" y="3482108"/>
            <a:ext cx="158871" cy="1501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55553" y="4019774"/>
            <a:ext cx="158871" cy="1501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59105" y="3896922"/>
            <a:ext cx="681990" cy="4356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50" b="1" spc="180" dirty="0">
                <a:latin typeface="Times New Roman"/>
                <a:cs typeface="Times New Roman"/>
              </a:rPr>
              <a:t>R</a:t>
            </a:r>
            <a:r>
              <a:rPr sz="2650" b="1" spc="170" dirty="0">
                <a:latin typeface="Times New Roman"/>
                <a:cs typeface="Times New Roman"/>
              </a:rPr>
              <a:t>B</a:t>
            </a:r>
            <a:r>
              <a:rPr sz="2650" b="1" spc="95" dirty="0">
                <a:latin typeface="Times New Roman"/>
                <a:cs typeface="Times New Roman"/>
              </a:rPr>
              <a:t>I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46352" y="2693633"/>
            <a:ext cx="1317625" cy="10404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985">
              <a:lnSpc>
                <a:spcPct val="133100"/>
              </a:lnSpc>
              <a:spcBef>
                <a:spcPts val="90"/>
              </a:spcBef>
            </a:pPr>
            <a:r>
              <a:rPr sz="2650" b="1" spc="170" dirty="0">
                <a:latin typeface="Times New Roman"/>
                <a:cs typeface="Times New Roman"/>
              </a:rPr>
              <a:t>LT  </a:t>
            </a:r>
            <a:r>
              <a:rPr sz="2650" b="1" spc="170" dirty="0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B</a:t>
            </a:r>
            <a:r>
              <a:rPr sz="2650" b="1" spc="95" dirty="0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I</a:t>
            </a:r>
            <a:r>
              <a:rPr sz="2650" b="1" spc="70" dirty="0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/</a:t>
            </a:r>
            <a:r>
              <a:rPr sz="2650" b="1" spc="180" dirty="0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R</a:t>
            </a:r>
            <a:r>
              <a:rPr sz="2650" b="1" spc="185" dirty="0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BO</a:t>
            </a:r>
            <a:endParaRPr sz="2650" dirty="0">
              <a:highlight>
                <a:srgbClr val="FFFF00"/>
              </a:highlight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51239" y="2879719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4983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51240" y="3933559"/>
            <a:ext cx="593090" cy="0"/>
          </a:xfrm>
          <a:custGeom>
            <a:avLst/>
            <a:gdLst/>
            <a:ahLst/>
            <a:cxnLst/>
            <a:rect l="l" t="t" r="r" b="b"/>
            <a:pathLst>
              <a:path w="593090">
                <a:moveTo>
                  <a:pt x="0" y="0"/>
                </a:moveTo>
                <a:lnTo>
                  <a:pt x="592849" y="0"/>
                </a:lnTo>
              </a:path>
            </a:pathLst>
          </a:custGeom>
          <a:ln w="40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85979" y="3438894"/>
            <a:ext cx="697865" cy="0"/>
          </a:xfrm>
          <a:custGeom>
            <a:avLst/>
            <a:gdLst/>
            <a:ahLst/>
            <a:cxnLst/>
            <a:rect l="l" t="t" r="r" b="b"/>
            <a:pathLst>
              <a:path w="697865">
                <a:moveTo>
                  <a:pt x="0" y="0"/>
                </a:moveTo>
                <a:lnTo>
                  <a:pt x="697464" y="0"/>
                </a:lnTo>
              </a:path>
            </a:pathLst>
          </a:custGeom>
          <a:ln w="409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274492" y="3438894"/>
            <a:ext cx="364490" cy="0"/>
          </a:xfrm>
          <a:custGeom>
            <a:avLst/>
            <a:gdLst/>
            <a:ahLst/>
            <a:cxnLst/>
            <a:rect l="l" t="t" r="r" b="b"/>
            <a:pathLst>
              <a:path w="364490">
                <a:moveTo>
                  <a:pt x="0" y="0"/>
                </a:moveTo>
                <a:lnTo>
                  <a:pt x="364243" y="0"/>
                </a:lnTo>
              </a:path>
            </a:pathLst>
          </a:custGeom>
          <a:ln w="4097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124707" y="1488693"/>
            <a:ext cx="434340" cy="11264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270"/>
              </a:lnSpc>
            </a:pPr>
            <a:r>
              <a:rPr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74LS48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17870" y="4463034"/>
            <a:ext cx="504190" cy="0"/>
          </a:xfrm>
          <a:custGeom>
            <a:avLst/>
            <a:gdLst/>
            <a:ahLst/>
            <a:cxnLst/>
            <a:rect l="l" t="t" r="r" b="b"/>
            <a:pathLst>
              <a:path w="504189">
                <a:moveTo>
                  <a:pt x="0" y="0"/>
                </a:moveTo>
                <a:lnTo>
                  <a:pt x="504063" y="0"/>
                </a:lnTo>
              </a:path>
            </a:pathLst>
          </a:custGeom>
          <a:ln w="28956">
            <a:solidFill>
              <a:srgbClr val="7E4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80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8640" y="1069340"/>
            <a:ext cx="8291830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7E4D00"/>
                </a:solidFill>
                <a:latin typeface="微软雅黑"/>
                <a:cs typeface="微软雅黑"/>
              </a:rPr>
              <a:t>功能</a:t>
            </a:r>
            <a:endParaRPr sz="3600" dirty="0">
              <a:latin typeface="微软雅黑"/>
              <a:cs typeface="微软雅黑"/>
            </a:endParaRPr>
          </a:p>
          <a:p>
            <a:pPr marL="838200">
              <a:lnSpc>
                <a:spcPct val="100000"/>
              </a:lnSpc>
              <a:spcBef>
                <a:spcPts val="2410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比较两个相同位数的二进制数的大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小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spc="5" dirty="0">
                <a:solidFill>
                  <a:srgbClr val="7E4D00"/>
                </a:solidFill>
                <a:latin typeface="华文楷体"/>
                <a:cs typeface="华文楷体"/>
              </a:rPr>
              <a:t>由</a:t>
            </a:r>
            <a:r>
              <a:rPr sz="2800" spc="5" dirty="0">
                <a:solidFill>
                  <a:srgbClr val="FF0000"/>
                </a:solidFill>
                <a:latin typeface="华文楷体"/>
                <a:cs typeface="华文楷体"/>
              </a:rPr>
              <a:t>F</a:t>
            </a:r>
            <a:r>
              <a:rPr sz="2775" spc="7" baseline="-21021" dirty="0">
                <a:solidFill>
                  <a:srgbClr val="FF0000"/>
                </a:solidFill>
                <a:latin typeface="华文楷体"/>
                <a:cs typeface="华文楷体"/>
              </a:rPr>
              <a:t>A=B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endParaRPr sz="2800" dirty="0">
              <a:latin typeface="华文楷体"/>
              <a:cs typeface="华文楷体"/>
            </a:endParaRPr>
          </a:p>
          <a:p>
            <a:pPr marL="381000">
              <a:lnSpc>
                <a:spcPct val="100000"/>
              </a:lnSpc>
              <a:spcBef>
                <a:spcPts val="1680"/>
              </a:spcBef>
            </a:pPr>
            <a:r>
              <a:rPr sz="2800" spc="10" dirty="0">
                <a:solidFill>
                  <a:srgbClr val="FF0000"/>
                </a:solidFill>
                <a:latin typeface="华文楷体"/>
                <a:cs typeface="华文楷体"/>
              </a:rPr>
              <a:t>F</a:t>
            </a:r>
            <a:r>
              <a:rPr sz="2775" spc="15" baseline="-21021" dirty="0">
                <a:solidFill>
                  <a:srgbClr val="FF0000"/>
                </a:solidFill>
                <a:latin typeface="华文楷体"/>
                <a:cs typeface="华文楷体"/>
              </a:rPr>
              <a:t>A&lt;B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spc="5" dirty="0">
                <a:solidFill>
                  <a:srgbClr val="FF0000"/>
                </a:solidFill>
                <a:latin typeface="华文楷体"/>
                <a:cs typeface="华文楷体"/>
              </a:rPr>
              <a:t>F</a:t>
            </a:r>
            <a:r>
              <a:rPr sz="2775" spc="7" baseline="-21021" dirty="0">
                <a:solidFill>
                  <a:srgbClr val="FF0000"/>
                </a:solidFill>
                <a:latin typeface="华文楷体"/>
                <a:cs typeface="华文楷体"/>
              </a:rPr>
              <a:t>A&gt;B</a:t>
            </a:r>
            <a:r>
              <a:rPr sz="2775" spc="345" baseline="-21021" dirty="0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三个输出表示比较的结果。</a:t>
            </a:r>
            <a:endParaRPr sz="2800" dirty="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07500" y="3782469"/>
            <a:ext cx="1872614" cy="2593975"/>
          </a:xfrm>
          <a:custGeom>
            <a:avLst/>
            <a:gdLst/>
            <a:ahLst/>
            <a:cxnLst/>
            <a:rect l="l" t="t" r="r" b="b"/>
            <a:pathLst>
              <a:path w="1872615" h="2593975">
                <a:moveTo>
                  <a:pt x="0" y="2593747"/>
                </a:moveTo>
                <a:lnTo>
                  <a:pt x="1872574" y="2593747"/>
                </a:lnTo>
                <a:lnTo>
                  <a:pt x="1872574" y="0"/>
                </a:lnTo>
                <a:lnTo>
                  <a:pt x="0" y="0"/>
                </a:lnTo>
                <a:lnTo>
                  <a:pt x="0" y="2593747"/>
                </a:lnTo>
                <a:close/>
              </a:path>
            </a:pathLst>
          </a:custGeom>
          <a:ln w="353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03661" y="3717499"/>
            <a:ext cx="554355" cy="214376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40"/>
              </a:spcBef>
            </a:pPr>
            <a:r>
              <a:rPr sz="8625" b="1" spc="345" baseline="-13526" dirty="0">
                <a:latin typeface="Microsoft JhengHei"/>
                <a:cs typeface="Microsoft JhengHei"/>
              </a:rPr>
              <a:t>}</a:t>
            </a:r>
            <a:r>
              <a:rPr sz="2150" b="1" spc="125" dirty="0">
                <a:latin typeface="华文楷体"/>
                <a:cs typeface="华文楷体"/>
              </a:rPr>
              <a:t>A</a:t>
            </a:r>
            <a:endParaRPr sz="2150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1440"/>
              </a:spcBef>
            </a:pPr>
            <a:r>
              <a:rPr sz="8625" b="1" spc="600" baseline="-12077" dirty="0">
                <a:latin typeface="Microsoft JhengHei"/>
                <a:cs typeface="Microsoft JhengHei"/>
              </a:rPr>
              <a:t>}</a:t>
            </a:r>
            <a:r>
              <a:rPr sz="2150" b="1" spc="110" dirty="0">
                <a:latin typeface="华文楷体"/>
                <a:cs typeface="华文楷体"/>
              </a:rPr>
              <a:t>B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5812" y="4265542"/>
            <a:ext cx="643890" cy="1651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3225" b="1" spc="150" baseline="7751" dirty="0">
                <a:latin typeface="华文楷体"/>
                <a:cs typeface="华文楷体"/>
              </a:rPr>
              <a:t>F</a:t>
            </a:r>
            <a:r>
              <a:rPr sz="1400" b="1" spc="100" dirty="0">
                <a:latin typeface="华文楷体"/>
                <a:cs typeface="华文楷体"/>
              </a:rPr>
              <a:t>A&lt;B</a:t>
            </a:r>
            <a:endParaRPr sz="1400">
              <a:latin typeface="华文楷体"/>
              <a:cs typeface="华文楷体"/>
            </a:endParaRPr>
          </a:p>
          <a:p>
            <a:pPr marL="25400" marR="30480" indent="22860">
              <a:lnSpc>
                <a:spcPts val="5110"/>
              </a:lnSpc>
              <a:spcBef>
                <a:spcPts val="580"/>
              </a:spcBef>
            </a:pPr>
            <a:r>
              <a:rPr sz="3225" b="1" spc="150" baseline="7751" dirty="0">
                <a:latin typeface="华文楷体"/>
                <a:cs typeface="华文楷体"/>
              </a:rPr>
              <a:t>F</a:t>
            </a:r>
            <a:r>
              <a:rPr sz="1400" b="1" spc="100" dirty="0">
                <a:latin typeface="华文楷体"/>
                <a:cs typeface="华文楷体"/>
              </a:rPr>
              <a:t>A</a:t>
            </a:r>
            <a:r>
              <a:rPr sz="1400" b="1" spc="114" dirty="0">
                <a:latin typeface="华文楷体"/>
                <a:cs typeface="华文楷体"/>
              </a:rPr>
              <a:t>=</a:t>
            </a:r>
            <a:r>
              <a:rPr sz="1400" b="1" spc="55" dirty="0">
                <a:latin typeface="华文楷体"/>
                <a:cs typeface="华文楷体"/>
              </a:rPr>
              <a:t>B  </a:t>
            </a:r>
            <a:r>
              <a:rPr sz="3225" b="1" spc="150" baseline="7751" dirty="0">
                <a:latin typeface="华文楷体"/>
                <a:cs typeface="华文楷体"/>
              </a:rPr>
              <a:t>F</a:t>
            </a:r>
            <a:r>
              <a:rPr sz="1400" b="1" spc="100" dirty="0">
                <a:latin typeface="华文楷体"/>
                <a:cs typeface="华文楷体"/>
              </a:rPr>
              <a:t>A&gt;B</a:t>
            </a:r>
            <a:endParaRPr sz="1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80025" y="4430279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5">
                <a:moveTo>
                  <a:pt x="0" y="0"/>
                </a:moveTo>
                <a:lnTo>
                  <a:pt x="257864" y="0"/>
                </a:lnTo>
              </a:path>
            </a:pathLst>
          </a:custGeom>
          <a:ln w="33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80025" y="572879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6308" y="0"/>
                </a:lnTo>
              </a:path>
            </a:pathLst>
          </a:custGeom>
          <a:ln w="33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0025" y="5079522"/>
            <a:ext cx="234950" cy="0"/>
          </a:xfrm>
          <a:custGeom>
            <a:avLst/>
            <a:gdLst/>
            <a:ahLst/>
            <a:cxnLst/>
            <a:rect l="l" t="t" r="r" b="b"/>
            <a:pathLst>
              <a:path w="234950">
                <a:moveTo>
                  <a:pt x="0" y="0"/>
                </a:moveTo>
                <a:lnTo>
                  <a:pt x="234752" y="0"/>
                </a:lnTo>
              </a:path>
            </a:pathLst>
          </a:custGeom>
          <a:ln w="33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21764" y="4215604"/>
            <a:ext cx="786130" cy="605155"/>
          </a:xfrm>
          <a:custGeom>
            <a:avLst/>
            <a:gdLst/>
            <a:ahLst/>
            <a:cxnLst/>
            <a:rect l="l" t="t" r="r" b="b"/>
            <a:pathLst>
              <a:path w="786129" h="605154">
                <a:moveTo>
                  <a:pt x="785736" y="301396"/>
                </a:moveTo>
                <a:lnTo>
                  <a:pt x="456752" y="0"/>
                </a:lnTo>
                <a:lnTo>
                  <a:pt x="456752" y="199460"/>
                </a:lnTo>
                <a:lnTo>
                  <a:pt x="0" y="199460"/>
                </a:lnTo>
                <a:lnTo>
                  <a:pt x="0" y="405006"/>
                </a:lnTo>
                <a:lnTo>
                  <a:pt x="456752" y="405006"/>
                </a:lnTo>
                <a:lnTo>
                  <a:pt x="456752" y="604923"/>
                </a:lnTo>
                <a:lnTo>
                  <a:pt x="785736" y="301396"/>
                </a:lnTo>
                <a:close/>
              </a:path>
            </a:pathLst>
          </a:custGeom>
          <a:ln w="189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21764" y="5295703"/>
            <a:ext cx="786130" cy="605155"/>
          </a:xfrm>
          <a:custGeom>
            <a:avLst/>
            <a:gdLst/>
            <a:ahLst/>
            <a:cxnLst/>
            <a:rect l="l" t="t" r="r" b="b"/>
            <a:pathLst>
              <a:path w="786129" h="605154">
                <a:moveTo>
                  <a:pt x="785736" y="301762"/>
                </a:moveTo>
                <a:lnTo>
                  <a:pt x="456752" y="0"/>
                </a:lnTo>
                <a:lnTo>
                  <a:pt x="456752" y="199947"/>
                </a:lnTo>
                <a:lnTo>
                  <a:pt x="0" y="199947"/>
                </a:lnTo>
                <a:lnTo>
                  <a:pt x="0" y="405417"/>
                </a:lnTo>
                <a:lnTo>
                  <a:pt x="456752" y="405417"/>
                </a:lnTo>
                <a:lnTo>
                  <a:pt x="456752" y="604999"/>
                </a:lnTo>
                <a:lnTo>
                  <a:pt x="785736" y="301762"/>
                </a:lnTo>
                <a:close/>
              </a:path>
            </a:pathLst>
          </a:custGeom>
          <a:ln w="189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20968" y="4254960"/>
            <a:ext cx="760730" cy="4622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50" spc="105" dirty="0">
                <a:latin typeface="华文楷体"/>
                <a:cs typeface="华文楷体"/>
              </a:rPr>
              <a:t>0111</a:t>
            </a:r>
            <a:endParaRPr sz="2850">
              <a:latin typeface="华文楷体"/>
              <a:cs typeface="华文楷体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82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920969" y="5361096"/>
            <a:ext cx="208915" cy="4622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50" spc="105" dirty="0">
                <a:latin typeface="华文楷体"/>
                <a:cs typeface="华文楷体"/>
              </a:rPr>
              <a:t>0</a:t>
            </a:r>
            <a:endParaRPr sz="2850">
              <a:latin typeface="华文楷体"/>
              <a:cs typeface="华文楷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574040" y="387172"/>
            <a:ext cx="55124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  <a:latin typeface="隶书"/>
                <a:cs typeface="隶书"/>
              </a:rPr>
              <a:t>3</a:t>
            </a:r>
            <a:r>
              <a:rPr spc="-70" dirty="0">
                <a:solidFill>
                  <a:srgbClr val="000000"/>
                </a:solidFill>
                <a:latin typeface="隶书"/>
                <a:cs typeface="隶书"/>
              </a:rPr>
              <a:t> </a:t>
            </a:r>
            <a:r>
              <a:rPr spc="-5" dirty="0">
                <a:solidFill>
                  <a:srgbClr val="000000"/>
                </a:solidFill>
                <a:highlight>
                  <a:srgbClr val="FFFF00"/>
                </a:highlight>
                <a:latin typeface="隶书"/>
                <a:cs typeface="隶书"/>
              </a:rPr>
              <a:t>数值比较器</a:t>
            </a:r>
            <a:r>
              <a:rPr spc="-5" dirty="0">
                <a:solidFill>
                  <a:srgbClr val="000000"/>
                </a:solidFill>
                <a:latin typeface="隶书"/>
                <a:cs typeface="隶书"/>
              </a:rPr>
              <a:t>的设计及应用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819392" y="3987432"/>
            <a:ext cx="218440" cy="1971039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2850" spc="90" dirty="0">
                <a:solidFill>
                  <a:srgbClr val="C00000"/>
                </a:solidFill>
                <a:latin typeface="华文楷体"/>
                <a:cs typeface="华文楷体"/>
              </a:rPr>
              <a:t>0</a:t>
            </a:r>
            <a:endParaRPr sz="285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850" spc="90" dirty="0">
                <a:solidFill>
                  <a:srgbClr val="C00000"/>
                </a:solidFill>
                <a:latin typeface="华文楷体"/>
                <a:cs typeface="华文楷体"/>
              </a:rPr>
              <a:t>0</a:t>
            </a:r>
            <a:endParaRPr sz="2850">
              <a:latin typeface="华文楷体"/>
              <a:cs typeface="华文楷体"/>
            </a:endParaRPr>
          </a:p>
          <a:p>
            <a:pPr marL="24130">
              <a:lnSpc>
                <a:spcPct val="100000"/>
              </a:lnSpc>
              <a:spcBef>
                <a:spcPts val="1745"/>
              </a:spcBef>
            </a:pPr>
            <a:r>
              <a:rPr sz="2850" spc="90" dirty="0">
                <a:solidFill>
                  <a:srgbClr val="C00000"/>
                </a:solidFill>
                <a:latin typeface="华文楷体"/>
                <a:cs typeface="华文楷体"/>
              </a:rPr>
              <a:t>1</a:t>
            </a:r>
            <a:endParaRPr sz="285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61694" y="1191868"/>
            <a:ext cx="735520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950" i="1" spc="-105" dirty="0">
                <a:solidFill>
                  <a:srgbClr val="FF0000"/>
                </a:solidFill>
                <a:latin typeface="华文楷体"/>
                <a:cs typeface="华文楷体"/>
              </a:rPr>
              <a:t>A</a:t>
            </a:r>
            <a:r>
              <a:rPr sz="2800" spc="-5" dirty="0">
                <a:solidFill>
                  <a:srgbClr val="FF0000"/>
                </a:solidFill>
                <a:latin typeface="华文楷体"/>
                <a:cs typeface="华文楷体"/>
              </a:rPr>
              <a:t>、</a:t>
            </a:r>
            <a:r>
              <a:rPr sz="2950" i="1" spc="-95" dirty="0">
                <a:solidFill>
                  <a:srgbClr val="FF0000"/>
                </a:solidFill>
                <a:latin typeface="华文楷体"/>
                <a:cs typeface="华文楷体"/>
              </a:rPr>
              <a:t>B</a:t>
            </a:r>
            <a:r>
              <a:rPr sz="2950" i="1" spc="-55" dirty="0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均为一位二进制数，输出为</a:t>
            </a:r>
            <a:r>
              <a:rPr sz="2800" spc="15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spc="10" dirty="0">
                <a:solidFill>
                  <a:srgbClr val="FF0000"/>
                </a:solidFill>
                <a:latin typeface="华文楷体"/>
                <a:cs typeface="华文楷体"/>
              </a:rPr>
              <a:t>F</a:t>
            </a:r>
            <a:r>
              <a:rPr sz="2775" spc="15" baseline="-21021" dirty="0">
                <a:solidFill>
                  <a:srgbClr val="FF0000"/>
                </a:solidFill>
                <a:latin typeface="华文楷体"/>
                <a:cs typeface="华文楷体"/>
              </a:rPr>
              <a:t>A&gt;B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spc="5" dirty="0">
                <a:solidFill>
                  <a:srgbClr val="FF0000"/>
                </a:solidFill>
                <a:latin typeface="华文楷体"/>
                <a:cs typeface="华文楷体"/>
              </a:rPr>
              <a:t>F</a:t>
            </a:r>
            <a:r>
              <a:rPr sz="2775" spc="7" baseline="-21021" dirty="0">
                <a:solidFill>
                  <a:srgbClr val="FF0000"/>
                </a:solidFill>
                <a:latin typeface="华文楷体"/>
                <a:cs typeface="华文楷体"/>
              </a:rPr>
              <a:t>A=B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83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1539" y="1937969"/>
            <a:ext cx="1186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spc="7" baseline="13888" dirty="0">
                <a:solidFill>
                  <a:srgbClr val="FF0000"/>
                </a:solidFill>
                <a:latin typeface="华文楷体"/>
                <a:cs typeface="华文楷体"/>
              </a:rPr>
              <a:t>F</a:t>
            </a:r>
            <a:r>
              <a:rPr sz="1850" spc="5" dirty="0">
                <a:solidFill>
                  <a:srgbClr val="FF0000"/>
                </a:solidFill>
                <a:latin typeface="华文楷体"/>
                <a:cs typeface="华文楷体"/>
              </a:rPr>
              <a:t>A&lt;B</a:t>
            </a:r>
            <a:r>
              <a:rPr sz="1850" spc="180" dirty="0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sz="4200" spc="-7" baseline="13888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4200" baseline="13888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7266" y="405460"/>
            <a:ext cx="87750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24890" algn="l"/>
                <a:tab pos="8761730" algn="l"/>
              </a:tabLst>
            </a:pPr>
            <a:r>
              <a:rPr sz="3200" u="heavy" dirty="0">
                <a:solidFill>
                  <a:srgbClr val="C00000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u="heavy" spc="5" dirty="0">
                <a:solidFill>
                  <a:srgbClr val="C00000"/>
                </a:solidFill>
                <a:uFill>
                  <a:solidFill>
                    <a:srgbClr val="666699"/>
                  </a:solidFill>
                </a:uFill>
              </a:rPr>
              <a:t>一位比较器的设计	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3464" y="2177795"/>
            <a:ext cx="3540760" cy="58547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52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20"/>
              </a:spcBef>
            </a:pPr>
            <a:r>
              <a:rPr sz="3200" dirty="0">
                <a:latin typeface="华文楷体"/>
                <a:cs typeface="华文楷体"/>
              </a:rPr>
              <a:t>第一</a:t>
            </a:r>
            <a:r>
              <a:rPr sz="3200" spc="790" dirty="0">
                <a:latin typeface="华文楷体"/>
                <a:cs typeface="华文楷体"/>
              </a:rPr>
              <a:t>步</a:t>
            </a:r>
            <a:r>
              <a:rPr sz="3200" dirty="0">
                <a:latin typeface="华文楷体"/>
                <a:cs typeface="华文楷体"/>
              </a:rPr>
              <a:t>列真值表</a:t>
            </a:r>
            <a:endParaRPr sz="3200">
              <a:latin typeface="华文楷体"/>
              <a:cs typeface="华文楷体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836164" y="3260597"/>
          <a:ext cx="5721348" cy="2285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7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3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3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3568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ts val="2630"/>
                        </a:lnSpc>
                        <a:spcBef>
                          <a:spcPts val="865"/>
                        </a:spcBef>
                      </a:pPr>
                      <a:r>
                        <a:rPr sz="3600" b="1" spc="-75" baseline="13888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A&gt;B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ts val="2630"/>
                        </a:lnSpc>
                        <a:spcBef>
                          <a:spcPts val="865"/>
                        </a:spcBef>
                      </a:pPr>
                      <a:r>
                        <a:rPr sz="3600" b="1" spc="-75" baseline="13888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A=B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ts val="2630"/>
                        </a:lnSpc>
                        <a:spcBef>
                          <a:spcPts val="865"/>
                        </a:spcBef>
                      </a:pPr>
                      <a:r>
                        <a:rPr sz="3600" b="1" spc="-75" baseline="13888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A&lt;B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14"/>
                        </a:spcBef>
                        <a:tabLst>
                          <a:tab pos="1151255" algn="l"/>
                          <a:tab pos="2482215" algn="l"/>
                        </a:tabLst>
                      </a:pPr>
                      <a:r>
                        <a:rPr sz="1800" spc="-5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0	</a:t>
                      </a:r>
                      <a:r>
                        <a:rPr sz="2700" spc="-7" baseline="1543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	</a:t>
                      </a:r>
                      <a:r>
                        <a:rPr sz="1800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1185545" algn="l"/>
                          <a:tab pos="2501265" algn="l"/>
                        </a:tabLst>
                      </a:pPr>
                      <a:r>
                        <a:rPr sz="1800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0	0	</a:t>
                      </a:r>
                      <a:r>
                        <a:rPr sz="2700" spc="-7" baseline="1543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700" baseline="1543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8895" algn="ctr">
                        <a:lnSpc>
                          <a:spcPts val="1995"/>
                        </a:lnSpc>
                        <a:tabLst>
                          <a:tab pos="1189990" algn="l"/>
                          <a:tab pos="2530475" algn="l"/>
                        </a:tabLst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	</a:t>
                      </a:r>
                      <a:r>
                        <a:rPr sz="2700" baseline="-10802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0	</a:t>
                      </a:r>
                      <a:r>
                        <a:rPr sz="2700" spc="-7" baseline="-4629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700" baseline="-4629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1211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3185" algn="ctr">
                        <a:lnSpc>
                          <a:spcPct val="100000"/>
                        </a:lnSpc>
                        <a:spcBef>
                          <a:spcPts val="85"/>
                        </a:spcBef>
                        <a:tabLst>
                          <a:tab pos="1209675" algn="l"/>
                          <a:tab pos="2569845" algn="l"/>
                        </a:tabLst>
                      </a:pPr>
                      <a:r>
                        <a:rPr sz="2700" spc="-7" baseline="4629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0	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	</a:t>
                      </a:r>
                      <a:r>
                        <a:rPr sz="2700" spc="-7" baseline="1543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700" baseline="1543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909319" cy="0"/>
          </a:xfrm>
          <a:custGeom>
            <a:avLst/>
            <a:gdLst/>
            <a:ahLst/>
            <a:cxnLst/>
            <a:rect l="l" t="t" r="r" b="b"/>
            <a:pathLst>
              <a:path w="909319">
                <a:moveTo>
                  <a:pt x="0" y="0"/>
                </a:moveTo>
                <a:lnTo>
                  <a:pt x="909066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99032" y="618744"/>
            <a:ext cx="4602480" cy="585470"/>
          </a:xfrm>
          <a:custGeom>
            <a:avLst/>
            <a:gdLst/>
            <a:ahLst/>
            <a:cxnLst/>
            <a:rect l="l" t="t" r="r" b="b"/>
            <a:pathLst>
              <a:path w="4602480" h="585469">
                <a:moveTo>
                  <a:pt x="0" y="585215"/>
                </a:moveTo>
                <a:lnTo>
                  <a:pt x="4602480" y="585215"/>
                </a:lnTo>
                <a:lnTo>
                  <a:pt x="4602480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77517" y="619759"/>
            <a:ext cx="37884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华文楷体"/>
                <a:cs typeface="华文楷体"/>
              </a:rPr>
              <a:t>第二</a:t>
            </a:r>
            <a:r>
              <a:rPr sz="3200" spc="790" dirty="0">
                <a:latin typeface="华文楷体"/>
                <a:cs typeface="华文楷体"/>
              </a:rPr>
              <a:t>步</a:t>
            </a:r>
            <a:r>
              <a:rPr sz="3200" dirty="0">
                <a:latin typeface="华文楷体"/>
                <a:cs typeface="华文楷体"/>
              </a:rPr>
              <a:t>写逻辑表达式</a:t>
            </a:r>
            <a:endParaRPr sz="3200">
              <a:latin typeface="华文楷体"/>
              <a:cs typeface="华文楷体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676900" y="34798"/>
          <a:ext cx="4152899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8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ts val="2635"/>
                        </a:lnSpc>
                        <a:spcBef>
                          <a:spcPts val="865"/>
                        </a:spcBef>
                      </a:pPr>
                      <a:r>
                        <a:rPr sz="3600" b="1" spc="-75" baseline="13888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A&gt;B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2635"/>
                        </a:lnSpc>
                        <a:spcBef>
                          <a:spcPts val="865"/>
                        </a:spcBef>
                      </a:pPr>
                      <a:r>
                        <a:rPr sz="3600" b="1" spc="-75" baseline="13888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A=B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635"/>
                        </a:lnSpc>
                        <a:spcBef>
                          <a:spcPts val="865"/>
                        </a:spcBef>
                      </a:pPr>
                      <a:r>
                        <a:rPr sz="3600" b="1" spc="-75" baseline="13888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A&lt;B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2774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3877762" y="1755390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>
                <a:moveTo>
                  <a:pt x="0" y="0"/>
                </a:moveTo>
                <a:lnTo>
                  <a:pt x="301633" y="0"/>
                </a:lnTo>
              </a:path>
            </a:pathLst>
          </a:custGeom>
          <a:ln w="2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126865" y="1711218"/>
            <a:ext cx="2087880" cy="569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1018540" algn="l"/>
              </a:tabLst>
            </a:pPr>
            <a:r>
              <a:rPr sz="3550" i="1" spc="165" dirty="0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sz="3075" i="1" spc="247" baseline="-2439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075" spc="247" baseline="-24390" dirty="0">
                <a:solidFill>
                  <a:srgbClr val="000000"/>
                </a:solidFill>
                <a:latin typeface="Symbol"/>
                <a:cs typeface="Symbol"/>
              </a:rPr>
              <a:t></a:t>
            </a:r>
            <a:r>
              <a:rPr sz="3075" i="1" spc="247" baseline="-24390" dirty="0">
                <a:solidFill>
                  <a:srgbClr val="000000"/>
                </a:solidFill>
                <a:latin typeface="Times New Roman"/>
                <a:cs typeface="Times New Roman"/>
              </a:rPr>
              <a:t>B	</a:t>
            </a:r>
            <a:r>
              <a:rPr sz="3550" spc="195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3550" spc="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550" i="1" spc="265" dirty="0">
                <a:solidFill>
                  <a:srgbClr val="000000"/>
                </a:solidFill>
                <a:latin typeface="Times New Roman"/>
                <a:cs typeface="Times New Roman"/>
              </a:rPr>
              <a:t>AB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49874" y="2593935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246577" y="0"/>
                </a:lnTo>
              </a:path>
            </a:pathLst>
          </a:custGeom>
          <a:ln w="2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73985" y="2601193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246577" y="0"/>
                </a:lnTo>
              </a:path>
            </a:pathLst>
          </a:custGeom>
          <a:ln w="2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174290" y="2514371"/>
            <a:ext cx="3168015" cy="569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1017269" algn="l"/>
              </a:tabLst>
            </a:pPr>
            <a:r>
              <a:rPr sz="3550" i="1" spc="165" dirty="0">
                <a:latin typeface="Times New Roman"/>
                <a:cs typeface="Times New Roman"/>
              </a:rPr>
              <a:t>F</a:t>
            </a:r>
            <a:r>
              <a:rPr sz="3075" i="1" spc="247" baseline="-25745" dirty="0">
                <a:latin typeface="Times New Roman"/>
                <a:cs typeface="Times New Roman"/>
              </a:rPr>
              <a:t>A</a:t>
            </a:r>
            <a:r>
              <a:rPr sz="3075" spc="247" baseline="-25745" dirty="0">
                <a:latin typeface="Symbol"/>
                <a:cs typeface="Symbol"/>
              </a:rPr>
              <a:t></a:t>
            </a:r>
            <a:r>
              <a:rPr sz="3075" i="1" spc="247" baseline="-25745" dirty="0">
                <a:latin typeface="Times New Roman"/>
                <a:cs typeface="Times New Roman"/>
              </a:rPr>
              <a:t>B	</a:t>
            </a:r>
            <a:r>
              <a:rPr sz="3550" spc="200" dirty="0">
                <a:latin typeface="Symbol"/>
                <a:cs typeface="Symbol"/>
              </a:rPr>
              <a:t></a:t>
            </a:r>
            <a:r>
              <a:rPr sz="3550" spc="200" dirty="0">
                <a:latin typeface="Times New Roman"/>
                <a:cs typeface="Times New Roman"/>
              </a:rPr>
              <a:t> </a:t>
            </a:r>
            <a:r>
              <a:rPr sz="3550" i="1" spc="210" dirty="0">
                <a:latin typeface="Times New Roman"/>
                <a:cs typeface="Times New Roman"/>
              </a:rPr>
              <a:t>AB </a:t>
            </a:r>
            <a:r>
              <a:rPr sz="3550" spc="200" dirty="0">
                <a:latin typeface="Symbol"/>
                <a:cs typeface="Symbol"/>
              </a:rPr>
              <a:t></a:t>
            </a:r>
            <a:r>
              <a:rPr sz="3550" spc="-260" dirty="0">
                <a:latin typeface="Times New Roman"/>
                <a:cs typeface="Times New Roman"/>
              </a:rPr>
              <a:t> </a:t>
            </a:r>
            <a:r>
              <a:rPr sz="3550" i="1" spc="210" dirty="0">
                <a:latin typeface="Times New Roman"/>
                <a:cs typeface="Times New Roman"/>
              </a:rPr>
              <a:t>AB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17195" y="3450291"/>
            <a:ext cx="301625" cy="0"/>
          </a:xfrm>
          <a:custGeom>
            <a:avLst/>
            <a:gdLst/>
            <a:ahLst/>
            <a:cxnLst/>
            <a:rect l="l" t="t" r="r" b="b"/>
            <a:pathLst>
              <a:path w="301625">
                <a:moveTo>
                  <a:pt x="0" y="0"/>
                </a:moveTo>
                <a:lnTo>
                  <a:pt x="301162" y="0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93567" y="3406056"/>
            <a:ext cx="1340485" cy="570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1028700" algn="l"/>
              </a:tabLst>
            </a:pPr>
            <a:r>
              <a:rPr sz="3550" i="1" spc="110" dirty="0">
                <a:latin typeface="Times New Roman"/>
                <a:cs typeface="Times New Roman"/>
              </a:rPr>
              <a:t>F</a:t>
            </a:r>
            <a:r>
              <a:rPr sz="3075" i="1" spc="165" baseline="-24390" dirty="0">
                <a:latin typeface="Times New Roman"/>
                <a:cs typeface="Times New Roman"/>
              </a:rPr>
              <a:t>A</a:t>
            </a:r>
            <a:r>
              <a:rPr sz="3075" spc="165" baseline="-24390" dirty="0">
                <a:latin typeface="Symbol"/>
                <a:cs typeface="Symbol"/>
              </a:rPr>
              <a:t></a:t>
            </a:r>
            <a:r>
              <a:rPr sz="3075" spc="165" baseline="-24390" dirty="0">
                <a:latin typeface="Times New Roman"/>
                <a:cs typeface="Times New Roman"/>
              </a:rPr>
              <a:t>	</a:t>
            </a:r>
            <a:r>
              <a:rPr sz="3550" spc="200" dirty="0">
                <a:latin typeface="Symbol"/>
                <a:cs typeface="Symbol"/>
              </a:rPr>
              <a:t>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1475" y="4133088"/>
            <a:ext cx="4335780" cy="584200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1460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4"/>
              </a:spcBef>
            </a:pPr>
            <a:r>
              <a:rPr sz="3200" dirty="0">
                <a:latin typeface="华文楷体"/>
                <a:cs typeface="华文楷体"/>
              </a:rPr>
              <a:t>第三</a:t>
            </a:r>
            <a:r>
              <a:rPr sz="3200" spc="785" dirty="0">
                <a:latin typeface="华文楷体"/>
                <a:cs typeface="华文楷体"/>
              </a:rPr>
              <a:t>步</a:t>
            </a:r>
            <a:r>
              <a:rPr sz="3200" dirty="0">
                <a:latin typeface="华文楷体"/>
                <a:cs typeface="华文楷体"/>
              </a:rPr>
              <a:t>画逻辑电路图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578542" y="3330964"/>
            <a:ext cx="632460" cy="0"/>
          </a:xfrm>
          <a:custGeom>
            <a:avLst/>
            <a:gdLst/>
            <a:ahLst/>
            <a:cxnLst/>
            <a:rect l="l" t="t" r="r" b="b"/>
            <a:pathLst>
              <a:path w="632459">
                <a:moveTo>
                  <a:pt x="0" y="0"/>
                </a:moveTo>
                <a:lnTo>
                  <a:pt x="632207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578542" y="3653645"/>
            <a:ext cx="632460" cy="0"/>
          </a:xfrm>
          <a:custGeom>
            <a:avLst/>
            <a:gdLst/>
            <a:ahLst/>
            <a:cxnLst/>
            <a:rect l="l" t="t" r="r" b="b"/>
            <a:pathLst>
              <a:path w="632459">
                <a:moveTo>
                  <a:pt x="0" y="0"/>
                </a:moveTo>
                <a:lnTo>
                  <a:pt x="632207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210750" y="3492305"/>
            <a:ext cx="632460" cy="0"/>
          </a:xfrm>
          <a:custGeom>
            <a:avLst/>
            <a:gdLst/>
            <a:ahLst/>
            <a:cxnLst/>
            <a:rect l="l" t="t" r="r" b="b"/>
            <a:pathLst>
              <a:path w="632459">
                <a:moveTo>
                  <a:pt x="632207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99785" y="3169624"/>
            <a:ext cx="822325" cy="645795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246519" y="0"/>
                </a:moveTo>
                <a:lnTo>
                  <a:pt x="0" y="0"/>
                </a:lnTo>
                <a:lnTo>
                  <a:pt x="28503" y="41321"/>
                </a:lnTo>
                <a:lnTo>
                  <a:pt x="52935" y="83372"/>
                </a:lnTo>
                <a:lnTo>
                  <a:pt x="73295" y="126041"/>
                </a:lnTo>
                <a:lnTo>
                  <a:pt x="89583" y="169215"/>
                </a:lnTo>
                <a:lnTo>
                  <a:pt x="101799" y="212782"/>
                </a:lnTo>
                <a:lnTo>
                  <a:pt x="109943" y="256629"/>
                </a:lnTo>
                <a:lnTo>
                  <a:pt x="114015" y="300644"/>
                </a:lnTo>
                <a:lnTo>
                  <a:pt x="114015" y="344716"/>
                </a:lnTo>
                <a:lnTo>
                  <a:pt x="109943" y="388732"/>
                </a:lnTo>
                <a:lnTo>
                  <a:pt x="101799" y="432579"/>
                </a:lnTo>
                <a:lnTo>
                  <a:pt x="89583" y="476146"/>
                </a:lnTo>
                <a:lnTo>
                  <a:pt x="73295" y="519319"/>
                </a:lnTo>
                <a:lnTo>
                  <a:pt x="52935" y="561988"/>
                </a:lnTo>
                <a:lnTo>
                  <a:pt x="28503" y="604039"/>
                </a:lnTo>
                <a:lnTo>
                  <a:pt x="0" y="645361"/>
                </a:lnTo>
                <a:lnTo>
                  <a:pt x="246519" y="645361"/>
                </a:lnTo>
                <a:lnTo>
                  <a:pt x="302163" y="634839"/>
                </a:lnTo>
                <a:lnTo>
                  <a:pt x="356146" y="622062"/>
                </a:lnTo>
                <a:lnTo>
                  <a:pt x="408325" y="607112"/>
                </a:lnTo>
                <a:lnTo>
                  <a:pt x="458554" y="590071"/>
                </a:lnTo>
                <a:lnTo>
                  <a:pt x="506688" y="571021"/>
                </a:lnTo>
                <a:lnTo>
                  <a:pt x="552584" y="550043"/>
                </a:lnTo>
                <a:lnTo>
                  <a:pt x="596095" y="527221"/>
                </a:lnTo>
                <a:lnTo>
                  <a:pt x="637079" y="502635"/>
                </a:lnTo>
                <a:lnTo>
                  <a:pt x="675389" y="476367"/>
                </a:lnTo>
                <a:lnTo>
                  <a:pt x="710881" y="448501"/>
                </a:lnTo>
                <a:lnTo>
                  <a:pt x="743411" y="419117"/>
                </a:lnTo>
                <a:lnTo>
                  <a:pt x="772834" y="388297"/>
                </a:lnTo>
                <a:lnTo>
                  <a:pt x="799005" y="356124"/>
                </a:lnTo>
                <a:lnTo>
                  <a:pt x="821780" y="322680"/>
                </a:lnTo>
                <a:lnTo>
                  <a:pt x="799320" y="289083"/>
                </a:lnTo>
                <a:lnTo>
                  <a:pt x="773396" y="256777"/>
                </a:lnTo>
                <a:lnTo>
                  <a:pt x="744157" y="225844"/>
                </a:lnTo>
                <a:lnTo>
                  <a:pt x="711752" y="196369"/>
                </a:lnTo>
                <a:lnTo>
                  <a:pt x="676332" y="168433"/>
                </a:lnTo>
                <a:lnTo>
                  <a:pt x="638046" y="142121"/>
                </a:lnTo>
                <a:lnTo>
                  <a:pt x="597043" y="117514"/>
                </a:lnTo>
                <a:lnTo>
                  <a:pt x="553473" y="94696"/>
                </a:lnTo>
                <a:lnTo>
                  <a:pt x="507485" y="73750"/>
                </a:lnTo>
                <a:lnTo>
                  <a:pt x="459230" y="54758"/>
                </a:lnTo>
                <a:lnTo>
                  <a:pt x="408856" y="37805"/>
                </a:lnTo>
                <a:lnTo>
                  <a:pt x="356513" y="22972"/>
                </a:lnTo>
                <a:lnTo>
                  <a:pt x="302351" y="10342"/>
                </a:lnTo>
                <a:lnTo>
                  <a:pt x="2465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99785" y="3169624"/>
            <a:ext cx="822325" cy="645795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821780" y="322680"/>
                </a:moveTo>
                <a:lnTo>
                  <a:pt x="799005" y="356124"/>
                </a:lnTo>
                <a:lnTo>
                  <a:pt x="772834" y="388297"/>
                </a:lnTo>
                <a:lnTo>
                  <a:pt x="743411" y="419117"/>
                </a:lnTo>
                <a:lnTo>
                  <a:pt x="710881" y="448501"/>
                </a:lnTo>
                <a:lnTo>
                  <a:pt x="675389" y="476367"/>
                </a:lnTo>
                <a:lnTo>
                  <a:pt x="637079" y="502635"/>
                </a:lnTo>
                <a:lnTo>
                  <a:pt x="596095" y="527221"/>
                </a:lnTo>
                <a:lnTo>
                  <a:pt x="552584" y="550043"/>
                </a:lnTo>
                <a:lnTo>
                  <a:pt x="506688" y="571021"/>
                </a:lnTo>
                <a:lnTo>
                  <a:pt x="458554" y="590071"/>
                </a:lnTo>
                <a:lnTo>
                  <a:pt x="408325" y="607112"/>
                </a:lnTo>
                <a:lnTo>
                  <a:pt x="356146" y="622062"/>
                </a:lnTo>
                <a:lnTo>
                  <a:pt x="302163" y="634839"/>
                </a:lnTo>
                <a:lnTo>
                  <a:pt x="246519" y="645361"/>
                </a:lnTo>
                <a:lnTo>
                  <a:pt x="0" y="645361"/>
                </a:lnTo>
                <a:lnTo>
                  <a:pt x="28503" y="604039"/>
                </a:lnTo>
                <a:lnTo>
                  <a:pt x="52935" y="561988"/>
                </a:lnTo>
                <a:lnTo>
                  <a:pt x="73295" y="519319"/>
                </a:lnTo>
                <a:lnTo>
                  <a:pt x="89583" y="476146"/>
                </a:lnTo>
                <a:lnTo>
                  <a:pt x="101799" y="432579"/>
                </a:lnTo>
                <a:lnTo>
                  <a:pt x="109943" y="388732"/>
                </a:lnTo>
                <a:lnTo>
                  <a:pt x="114015" y="344716"/>
                </a:lnTo>
                <a:lnTo>
                  <a:pt x="114015" y="300644"/>
                </a:lnTo>
                <a:lnTo>
                  <a:pt x="109943" y="256629"/>
                </a:lnTo>
                <a:lnTo>
                  <a:pt x="101799" y="212782"/>
                </a:lnTo>
                <a:lnTo>
                  <a:pt x="89583" y="169215"/>
                </a:lnTo>
                <a:lnTo>
                  <a:pt x="73295" y="126041"/>
                </a:lnTo>
                <a:lnTo>
                  <a:pt x="52935" y="83372"/>
                </a:lnTo>
                <a:lnTo>
                  <a:pt x="28503" y="41321"/>
                </a:lnTo>
                <a:lnTo>
                  <a:pt x="0" y="0"/>
                </a:lnTo>
                <a:lnTo>
                  <a:pt x="246519" y="0"/>
                </a:lnTo>
                <a:lnTo>
                  <a:pt x="302351" y="10342"/>
                </a:lnTo>
                <a:lnTo>
                  <a:pt x="356513" y="22972"/>
                </a:lnTo>
                <a:lnTo>
                  <a:pt x="408856" y="37805"/>
                </a:lnTo>
                <a:lnTo>
                  <a:pt x="459230" y="54758"/>
                </a:lnTo>
                <a:lnTo>
                  <a:pt x="507485" y="73750"/>
                </a:lnTo>
                <a:lnTo>
                  <a:pt x="553473" y="94696"/>
                </a:lnTo>
                <a:lnTo>
                  <a:pt x="597043" y="117514"/>
                </a:lnTo>
                <a:lnTo>
                  <a:pt x="638046" y="142121"/>
                </a:lnTo>
                <a:lnTo>
                  <a:pt x="676332" y="168433"/>
                </a:lnTo>
                <a:lnTo>
                  <a:pt x="711752" y="196369"/>
                </a:lnTo>
                <a:lnTo>
                  <a:pt x="744157" y="225844"/>
                </a:lnTo>
                <a:lnTo>
                  <a:pt x="773396" y="256777"/>
                </a:lnTo>
                <a:lnTo>
                  <a:pt x="799320" y="289083"/>
                </a:lnTo>
                <a:lnTo>
                  <a:pt x="821780" y="322680"/>
                </a:lnTo>
                <a:close/>
              </a:path>
            </a:pathLst>
          </a:custGeom>
          <a:ln w="325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799785" y="3169624"/>
            <a:ext cx="822325" cy="645795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505676" y="0"/>
                </a:moveTo>
                <a:lnTo>
                  <a:pt x="0" y="0"/>
                </a:lnTo>
                <a:lnTo>
                  <a:pt x="0" y="645361"/>
                </a:lnTo>
                <a:lnTo>
                  <a:pt x="505676" y="645361"/>
                </a:lnTo>
                <a:lnTo>
                  <a:pt x="552416" y="641862"/>
                </a:lnTo>
                <a:lnTo>
                  <a:pt x="597017" y="631697"/>
                </a:lnTo>
                <a:lnTo>
                  <a:pt x="638992" y="615366"/>
                </a:lnTo>
                <a:lnTo>
                  <a:pt x="677854" y="593369"/>
                </a:lnTo>
                <a:lnTo>
                  <a:pt x="713114" y="566205"/>
                </a:lnTo>
                <a:lnTo>
                  <a:pt x="744288" y="534373"/>
                </a:lnTo>
                <a:lnTo>
                  <a:pt x="770885" y="498373"/>
                </a:lnTo>
                <a:lnTo>
                  <a:pt x="792421" y="458704"/>
                </a:lnTo>
                <a:lnTo>
                  <a:pt x="808407" y="415866"/>
                </a:lnTo>
                <a:lnTo>
                  <a:pt x="818356" y="370358"/>
                </a:lnTo>
                <a:lnTo>
                  <a:pt x="821780" y="322680"/>
                </a:lnTo>
                <a:lnTo>
                  <a:pt x="818356" y="275002"/>
                </a:lnTo>
                <a:lnTo>
                  <a:pt x="808407" y="229495"/>
                </a:lnTo>
                <a:lnTo>
                  <a:pt x="792421" y="186657"/>
                </a:lnTo>
                <a:lnTo>
                  <a:pt x="770885" y="146988"/>
                </a:lnTo>
                <a:lnTo>
                  <a:pt x="744287" y="110988"/>
                </a:lnTo>
                <a:lnTo>
                  <a:pt x="713114" y="79156"/>
                </a:lnTo>
                <a:lnTo>
                  <a:pt x="677853" y="51991"/>
                </a:lnTo>
                <a:lnTo>
                  <a:pt x="638992" y="29994"/>
                </a:lnTo>
                <a:lnTo>
                  <a:pt x="597017" y="13663"/>
                </a:lnTo>
                <a:lnTo>
                  <a:pt x="552416" y="3499"/>
                </a:lnTo>
                <a:lnTo>
                  <a:pt x="5056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99785" y="3169624"/>
            <a:ext cx="822325" cy="645795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505676" y="645361"/>
                </a:moveTo>
                <a:lnTo>
                  <a:pt x="0" y="645361"/>
                </a:lnTo>
                <a:lnTo>
                  <a:pt x="0" y="0"/>
                </a:lnTo>
                <a:lnTo>
                  <a:pt x="505676" y="0"/>
                </a:lnTo>
                <a:lnTo>
                  <a:pt x="552416" y="3499"/>
                </a:lnTo>
                <a:lnTo>
                  <a:pt x="597017" y="13663"/>
                </a:lnTo>
                <a:lnTo>
                  <a:pt x="638992" y="29994"/>
                </a:lnTo>
                <a:lnTo>
                  <a:pt x="677853" y="51991"/>
                </a:lnTo>
                <a:lnTo>
                  <a:pt x="713114" y="79156"/>
                </a:lnTo>
                <a:lnTo>
                  <a:pt x="744287" y="110988"/>
                </a:lnTo>
                <a:lnTo>
                  <a:pt x="770885" y="146988"/>
                </a:lnTo>
                <a:lnTo>
                  <a:pt x="792421" y="186657"/>
                </a:lnTo>
                <a:lnTo>
                  <a:pt x="808407" y="229495"/>
                </a:lnTo>
                <a:lnTo>
                  <a:pt x="818356" y="275002"/>
                </a:lnTo>
                <a:lnTo>
                  <a:pt x="821780" y="322680"/>
                </a:lnTo>
                <a:lnTo>
                  <a:pt x="818356" y="370358"/>
                </a:lnTo>
                <a:lnTo>
                  <a:pt x="808407" y="415866"/>
                </a:lnTo>
                <a:lnTo>
                  <a:pt x="792421" y="458704"/>
                </a:lnTo>
                <a:lnTo>
                  <a:pt x="770885" y="498373"/>
                </a:lnTo>
                <a:lnTo>
                  <a:pt x="744288" y="534373"/>
                </a:lnTo>
                <a:lnTo>
                  <a:pt x="713114" y="566205"/>
                </a:lnTo>
                <a:lnTo>
                  <a:pt x="677854" y="593369"/>
                </a:lnTo>
                <a:lnTo>
                  <a:pt x="638992" y="615366"/>
                </a:lnTo>
                <a:lnTo>
                  <a:pt x="597017" y="631697"/>
                </a:lnTo>
                <a:lnTo>
                  <a:pt x="552416" y="641862"/>
                </a:lnTo>
                <a:lnTo>
                  <a:pt x="505676" y="645361"/>
                </a:lnTo>
                <a:close/>
              </a:path>
            </a:pathLst>
          </a:custGeom>
          <a:ln w="325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578543" y="4406618"/>
            <a:ext cx="632460" cy="0"/>
          </a:xfrm>
          <a:custGeom>
            <a:avLst/>
            <a:gdLst/>
            <a:ahLst/>
            <a:cxnLst/>
            <a:rect l="l" t="t" r="r" b="b"/>
            <a:pathLst>
              <a:path w="632459">
                <a:moveTo>
                  <a:pt x="0" y="0"/>
                </a:moveTo>
                <a:lnTo>
                  <a:pt x="632207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578543" y="4729238"/>
            <a:ext cx="632460" cy="0"/>
          </a:xfrm>
          <a:custGeom>
            <a:avLst/>
            <a:gdLst/>
            <a:ahLst/>
            <a:cxnLst/>
            <a:rect l="l" t="t" r="r" b="b"/>
            <a:pathLst>
              <a:path w="632459">
                <a:moveTo>
                  <a:pt x="0" y="0"/>
                </a:moveTo>
                <a:lnTo>
                  <a:pt x="632207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210750" y="4567958"/>
            <a:ext cx="632460" cy="0"/>
          </a:xfrm>
          <a:custGeom>
            <a:avLst/>
            <a:gdLst/>
            <a:ahLst/>
            <a:cxnLst/>
            <a:rect l="l" t="t" r="r" b="b"/>
            <a:pathLst>
              <a:path w="632459">
                <a:moveTo>
                  <a:pt x="632207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799785" y="4245277"/>
            <a:ext cx="822325" cy="645795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246519" y="0"/>
                </a:moveTo>
                <a:lnTo>
                  <a:pt x="0" y="0"/>
                </a:lnTo>
                <a:lnTo>
                  <a:pt x="28503" y="41295"/>
                </a:lnTo>
                <a:lnTo>
                  <a:pt x="52935" y="83327"/>
                </a:lnTo>
                <a:lnTo>
                  <a:pt x="73295" y="125984"/>
                </a:lnTo>
                <a:lnTo>
                  <a:pt x="89583" y="169151"/>
                </a:lnTo>
                <a:lnTo>
                  <a:pt x="101799" y="212715"/>
                </a:lnTo>
                <a:lnTo>
                  <a:pt x="109943" y="256564"/>
                </a:lnTo>
                <a:lnTo>
                  <a:pt x="114015" y="300583"/>
                </a:lnTo>
                <a:lnTo>
                  <a:pt x="114015" y="344660"/>
                </a:lnTo>
                <a:lnTo>
                  <a:pt x="109943" y="388682"/>
                </a:lnTo>
                <a:lnTo>
                  <a:pt x="101799" y="432534"/>
                </a:lnTo>
                <a:lnTo>
                  <a:pt x="89583" y="476105"/>
                </a:lnTo>
                <a:lnTo>
                  <a:pt x="73295" y="519280"/>
                </a:lnTo>
                <a:lnTo>
                  <a:pt x="52935" y="561946"/>
                </a:lnTo>
                <a:lnTo>
                  <a:pt x="28503" y="603991"/>
                </a:lnTo>
                <a:lnTo>
                  <a:pt x="0" y="645300"/>
                </a:lnTo>
                <a:lnTo>
                  <a:pt x="246519" y="645300"/>
                </a:lnTo>
                <a:lnTo>
                  <a:pt x="302163" y="634765"/>
                </a:lnTo>
                <a:lnTo>
                  <a:pt x="356146" y="621980"/>
                </a:lnTo>
                <a:lnTo>
                  <a:pt x="408325" y="607027"/>
                </a:lnTo>
                <a:lnTo>
                  <a:pt x="458554" y="589987"/>
                </a:lnTo>
                <a:lnTo>
                  <a:pt x="506688" y="570941"/>
                </a:lnTo>
                <a:lnTo>
                  <a:pt x="552584" y="549970"/>
                </a:lnTo>
                <a:lnTo>
                  <a:pt x="596095" y="527156"/>
                </a:lnTo>
                <a:lnTo>
                  <a:pt x="637079" y="502580"/>
                </a:lnTo>
                <a:lnTo>
                  <a:pt x="675389" y="476324"/>
                </a:lnTo>
                <a:lnTo>
                  <a:pt x="710881" y="448469"/>
                </a:lnTo>
                <a:lnTo>
                  <a:pt x="743411" y="419095"/>
                </a:lnTo>
                <a:lnTo>
                  <a:pt x="772834" y="388285"/>
                </a:lnTo>
                <a:lnTo>
                  <a:pt x="799005" y="356120"/>
                </a:lnTo>
                <a:lnTo>
                  <a:pt x="821780" y="322680"/>
                </a:lnTo>
                <a:lnTo>
                  <a:pt x="799320" y="289081"/>
                </a:lnTo>
                <a:lnTo>
                  <a:pt x="773396" y="256769"/>
                </a:lnTo>
                <a:lnTo>
                  <a:pt x="744157" y="225828"/>
                </a:lnTo>
                <a:lnTo>
                  <a:pt x="711752" y="196342"/>
                </a:lnTo>
                <a:lnTo>
                  <a:pt x="676332" y="168396"/>
                </a:lnTo>
                <a:lnTo>
                  <a:pt x="638046" y="142073"/>
                </a:lnTo>
                <a:lnTo>
                  <a:pt x="597043" y="117457"/>
                </a:lnTo>
                <a:lnTo>
                  <a:pt x="553473" y="94632"/>
                </a:lnTo>
                <a:lnTo>
                  <a:pt x="507485" y="73683"/>
                </a:lnTo>
                <a:lnTo>
                  <a:pt x="459230" y="54692"/>
                </a:lnTo>
                <a:lnTo>
                  <a:pt x="408856" y="37744"/>
                </a:lnTo>
                <a:lnTo>
                  <a:pt x="356513" y="22924"/>
                </a:lnTo>
                <a:lnTo>
                  <a:pt x="302351" y="10314"/>
                </a:lnTo>
                <a:lnTo>
                  <a:pt x="2465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99785" y="4245278"/>
            <a:ext cx="822325" cy="645795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821780" y="322680"/>
                </a:moveTo>
                <a:lnTo>
                  <a:pt x="799005" y="356120"/>
                </a:lnTo>
                <a:lnTo>
                  <a:pt x="772834" y="388285"/>
                </a:lnTo>
                <a:lnTo>
                  <a:pt x="743411" y="419095"/>
                </a:lnTo>
                <a:lnTo>
                  <a:pt x="710881" y="448469"/>
                </a:lnTo>
                <a:lnTo>
                  <a:pt x="675389" y="476324"/>
                </a:lnTo>
                <a:lnTo>
                  <a:pt x="637079" y="502580"/>
                </a:lnTo>
                <a:lnTo>
                  <a:pt x="596095" y="527156"/>
                </a:lnTo>
                <a:lnTo>
                  <a:pt x="552584" y="549970"/>
                </a:lnTo>
                <a:lnTo>
                  <a:pt x="506688" y="570941"/>
                </a:lnTo>
                <a:lnTo>
                  <a:pt x="458554" y="589987"/>
                </a:lnTo>
                <a:lnTo>
                  <a:pt x="408325" y="607027"/>
                </a:lnTo>
                <a:lnTo>
                  <a:pt x="356146" y="621980"/>
                </a:lnTo>
                <a:lnTo>
                  <a:pt x="302163" y="634765"/>
                </a:lnTo>
                <a:lnTo>
                  <a:pt x="246519" y="645300"/>
                </a:lnTo>
                <a:lnTo>
                  <a:pt x="0" y="645300"/>
                </a:lnTo>
                <a:lnTo>
                  <a:pt x="28503" y="603991"/>
                </a:lnTo>
                <a:lnTo>
                  <a:pt x="52935" y="561946"/>
                </a:lnTo>
                <a:lnTo>
                  <a:pt x="73295" y="519280"/>
                </a:lnTo>
                <a:lnTo>
                  <a:pt x="89583" y="476105"/>
                </a:lnTo>
                <a:lnTo>
                  <a:pt x="101799" y="432534"/>
                </a:lnTo>
                <a:lnTo>
                  <a:pt x="109943" y="388682"/>
                </a:lnTo>
                <a:lnTo>
                  <a:pt x="114015" y="344660"/>
                </a:lnTo>
                <a:lnTo>
                  <a:pt x="114015" y="300583"/>
                </a:lnTo>
                <a:lnTo>
                  <a:pt x="109943" y="256564"/>
                </a:lnTo>
                <a:lnTo>
                  <a:pt x="101799" y="212715"/>
                </a:lnTo>
                <a:lnTo>
                  <a:pt x="89583" y="169151"/>
                </a:lnTo>
                <a:lnTo>
                  <a:pt x="73295" y="125984"/>
                </a:lnTo>
                <a:lnTo>
                  <a:pt x="52935" y="83327"/>
                </a:lnTo>
                <a:lnTo>
                  <a:pt x="28503" y="41295"/>
                </a:lnTo>
                <a:lnTo>
                  <a:pt x="0" y="0"/>
                </a:lnTo>
                <a:lnTo>
                  <a:pt x="246519" y="0"/>
                </a:lnTo>
                <a:lnTo>
                  <a:pt x="302351" y="10314"/>
                </a:lnTo>
                <a:lnTo>
                  <a:pt x="356513" y="22924"/>
                </a:lnTo>
                <a:lnTo>
                  <a:pt x="408856" y="37744"/>
                </a:lnTo>
                <a:lnTo>
                  <a:pt x="459230" y="54692"/>
                </a:lnTo>
                <a:lnTo>
                  <a:pt x="507485" y="73683"/>
                </a:lnTo>
                <a:lnTo>
                  <a:pt x="553473" y="94632"/>
                </a:lnTo>
                <a:lnTo>
                  <a:pt x="597043" y="117457"/>
                </a:lnTo>
                <a:lnTo>
                  <a:pt x="638046" y="142073"/>
                </a:lnTo>
                <a:lnTo>
                  <a:pt x="676332" y="168396"/>
                </a:lnTo>
                <a:lnTo>
                  <a:pt x="711752" y="196342"/>
                </a:lnTo>
                <a:lnTo>
                  <a:pt x="744157" y="225828"/>
                </a:lnTo>
                <a:lnTo>
                  <a:pt x="773396" y="256769"/>
                </a:lnTo>
                <a:lnTo>
                  <a:pt x="799320" y="289081"/>
                </a:lnTo>
                <a:lnTo>
                  <a:pt x="821780" y="322680"/>
                </a:lnTo>
                <a:close/>
              </a:path>
            </a:pathLst>
          </a:custGeom>
          <a:ln w="325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717563" y="4245278"/>
            <a:ext cx="114300" cy="645795"/>
          </a:xfrm>
          <a:custGeom>
            <a:avLst/>
            <a:gdLst/>
            <a:ahLst/>
            <a:cxnLst/>
            <a:rect l="l" t="t" r="r" b="b"/>
            <a:pathLst>
              <a:path w="114300" h="645795">
                <a:moveTo>
                  <a:pt x="0" y="645300"/>
                </a:moveTo>
                <a:lnTo>
                  <a:pt x="28503" y="603991"/>
                </a:lnTo>
                <a:lnTo>
                  <a:pt x="52935" y="561946"/>
                </a:lnTo>
                <a:lnTo>
                  <a:pt x="73295" y="519280"/>
                </a:lnTo>
                <a:lnTo>
                  <a:pt x="89583" y="476105"/>
                </a:lnTo>
                <a:lnTo>
                  <a:pt x="101799" y="432534"/>
                </a:lnTo>
                <a:lnTo>
                  <a:pt x="109943" y="388682"/>
                </a:lnTo>
                <a:lnTo>
                  <a:pt x="114015" y="344660"/>
                </a:lnTo>
                <a:lnTo>
                  <a:pt x="114015" y="300583"/>
                </a:lnTo>
                <a:lnTo>
                  <a:pt x="109943" y="256564"/>
                </a:lnTo>
                <a:lnTo>
                  <a:pt x="101799" y="212715"/>
                </a:lnTo>
                <a:lnTo>
                  <a:pt x="89583" y="169151"/>
                </a:lnTo>
                <a:lnTo>
                  <a:pt x="73295" y="125984"/>
                </a:lnTo>
                <a:lnTo>
                  <a:pt x="52935" y="83327"/>
                </a:lnTo>
                <a:lnTo>
                  <a:pt x="28503" y="41295"/>
                </a:lnTo>
                <a:lnTo>
                  <a:pt x="0" y="0"/>
                </a:lnTo>
              </a:path>
            </a:pathLst>
          </a:custGeom>
          <a:ln w="321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602962" y="4503316"/>
            <a:ext cx="127162" cy="1291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578543" y="5482150"/>
            <a:ext cx="632460" cy="0"/>
          </a:xfrm>
          <a:custGeom>
            <a:avLst/>
            <a:gdLst/>
            <a:ahLst/>
            <a:cxnLst/>
            <a:rect l="l" t="t" r="r" b="b"/>
            <a:pathLst>
              <a:path w="632459">
                <a:moveTo>
                  <a:pt x="0" y="0"/>
                </a:moveTo>
                <a:lnTo>
                  <a:pt x="632207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578543" y="5804830"/>
            <a:ext cx="632460" cy="0"/>
          </a:xfrm>
          <a:custGeom>
            <a:avLst/>
            <a:gdLst/>
            <a:ahLst/>
            <a:cxnLst/>
            <a:rect l="l" t="t" r="r" b="b"/>
            <a:pathLst>
              <a:path w="632459">
                <a:moveTo>
                  <a:pt x="0" y="0"/>
                </a:moveTo>
                <a:lnTo>
                  <a:pt x="632207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210750" y="5643490"/>
            <a:ext cx="632460" cy="0"/>
          </a:xfrm>
          <a:custGeom>
            <a:avLst/>
            <a:gdLst/>
            <a:ahLst/>
            <a:cxnLst/>
            <a:rect l="l" t="t" r="r" b="b"/>
            <a:pathLst>
              <a:path w="632459">
                <a:moveTo>
                  <a:pt x="632207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799785" y="5320809"/>
            <a:ext cx="822325" cy="645795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246519" y="0"/>
                </a:moveTo>
                <a:lnTo>
                  <a:pt x="0" y="0"/>
                </a:lnTo>
                <a:lnTo>
                  <a:pt x="28503" y="41312"/>
                </a:lnTo>
                <a:lnTo>
                  <a:pt x="52935" y="83358"/>
                </a:lnTo>
                <a:lnTo>
                  <a:pt x="73295" y="126025"/>
                </a:lnTo>
                <a:lnTo>
                  <a:pt x="89583" y="169201"/>
                </a:lnTo>
                <a:lnTo>
                  <a:pt x="101799" y="212771"/>
                </a:lnTo>
                <a:lnTo>
                  <a:pt x="109943" y="256624"/>
                </a:lnTo>
                <a:lnTo>
                  <a:pt x="114015" y="300647"/>
                </a:lnTo>
                <a:lnTo>
                  <a:pt x="114015" y="344725"/>
                </a:lnTo>
                <a:lnTo>
                  <a:pt x="109943" y="388747"/>
                </a:lnTo>
                <a:lnTo>
                  <a:pt x="101799" y="432599"/>
                </a:lnTo>
                <a:lnTo>
                  <a:pt x="89583" y="476169"/>
                </a:lnTo>
                <a:lnTo>
                  <a:pt x="73295" y="519343"/>
                </a:lnTo>
                <a:lnTo>
                  <a:pt x="52935" y="562008"/>
                </a:lnTo>
                <a:lnTo>
                  <a:pt x="28503" y="604052"/>
                </a:lnTo>
                <a:lnTo>
                  <a:pt x="0" y="645361"/>
                </a:lnTo>
                <a:lnTo>
                  <a:pt x="246519" y="645361"/>
                </a:lnTo>
                <a:lnTo>
                  <a:pt x="302163" y="634826"/>
                </a:lnTo>
                <a:lnTo>
                  <a:pt x="356146" y="622041"/>
                </a:lnTo>
                <a:lnTo>
                  <a:pt x="408325" y="607088"/>
                </a:lnTo>
                <a:lnTo>
                  <a:pt x="458554" y="590047"/>
                </a:lnTo>
                <a:lnTo>
                  <a:pt x="506688" y="571000"/>
                </a:lnTo>
                <a:lnTo>
                  <a:pt x="552584" y="550028"/>
                </a:lnTo>
                <a:lnTo>
                  <a:pt x="596095" y="527213"/>
                </a:lnTo>
                <a:lnTo>
                  <a:pt x="637079" y="502635"/>
                </a:lnTo>
                <a:lnTo>
                  <a:pt x="675389" y="476377"/>
                </a:lnTo>
                <a:lnTo>
                  <a:pt x="710881" y="448518"/>
                </a:lnTo>
                <a:lnTo>
                  <a:pt x="743411" y="419141"/>
                </a:lnTo>
                <a:lnTo>
                  <a:pt x="772834" y="388327"/>
                </a:lnTo>
                <a:lnTo>
                  <a:pt x="799005" y="356156"/>
                </a:lnTo>
                <a:lnTo>
                  <a:pt x="821780" y="322711"/>
                </a:lnTo>
                <a:lnTo>
                  <a:pt x="799320" y="289120"/>
                </a:lnTo>
                <a:lnTo>
                  <a:pt x="773396" y="256816"/>
                </a:lnTo>
                <a:lnTo>
                  <a:pt x="744157" y="225883"/>
                </a:lnTo>
                <a:lnTo>
                  <a:pt x="711752" y="196402"/>
                </a:lnTo>
                <a:lnTo>
                  <a:pt x="676332" y="168460"/>
                </a:lnTo>
                <a:lnTo>
                  <a:pt x="638046" y="142139"/>
                </a:lnTo>
                <a:lnTo>
                  <a:pt x="597043" y="117523"/>
                </a:lnTo>
                <a:lnTo>
                  <a:pt x="553473" y="94697"/>
                </a:lnTo>
                <a:lnTo>
                  <a:pt x="507485" y="73743"/>
                </a:lnTo>
                <a:lnTo>
                  <a:pt x="459230" y="54746"/>
                </a:lnTo>
                <a:lnTo>
                  <a:pt x="408856" y="37789"/>
                </a:lnTo>
                <a:lnTo>
                  <a:pt x="356513" y="22957"/>
                </a:lnTo>
                <a:lnTo>
                  <a:pt x="302351" y="10332"/>
                </a:lnTo>
                <a:lnTo>
                  <a:pt x="2465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799785" y="5320809"/>
            <a:ext cx="822325" cy="645795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821780" y="322711"/>
                </a:moveTo>
                <a:lnTo>
                  <a:pt x="799005" y="356156"/>
                </a:lnTo>
                <a:lnTo>
                  <a:pt x="772834" y="388327"/>
                </a:lnTo>
                <a:lnTo>
                  <a:pt x="743411" y="419141"/>
                </a:lnTo>
                <a:lnTo>
                  <a:pt x="710881" y="448518"/>
                </a:lnTo>
                <a:lnTo>
                  <a:pt x="675389" y="476377"/>
                </a:lnTo>
                <a:lnTo>
                  <a:pt x="637079" y="502635"/>
                </a:lnTo>
                <a:lnTo>
                  <a:pt x="596095" y="527213"/>
                </a:lnTo>
                <a:lnTo>
                  <a:pt x="552584" y="550028"/>
                </a:lnTo>
                <a:lnTo>
                  <a:pt x="506688" y="571000"/>
                </a:lnTo>
                <a:lnTo>
                  <a:pt x="458554" y="590047"/>
                </a:lnTo>
                <a:lnTo>
                  <a:pt x="408325" y="607088"/>
                </a:lnTo>
                <a:lnTo>
                  <a:pt x="356146" y="622041"/>
                </a:lnTo>
                <a:lnTo>
                  <a:pt x="302163" y="634826"/>
                </a:lnTo>
                <a:lnTo>
                  <a:pt x="246519" y="645361"/>
                </a:lnTo>
                <a:lnTo>
                  <a:pt x="0" y="645361"/>
                </a:lnTo>
                <a:lnTo>
                  <a:pt x="28503" y="604052"/>
                </a:lnTo>
                <a:lnTo>
                  <a:pt x="52935" y="562008"/>
                </a:lnTo>
                <a:lnTo>
                  <a:pt x="73295" y="519343"/>
                </a:lnTo>
                <a:lnTo>
                  <a:pt x="89583" y="476169"/>
                </a:lnTo>
                <a:lnTo>
                  <a:pt x="101799" y="432599"/>
                </a:lnTo>
                <a:lnTo>
                  <a:pt x="109943" y="388747"/>
                </a:lnTo>
                <a:lnTo>
                  <a:pt x="114015" y="344725"/>
                </a:lnTo>
                <a:lnTo>
                  <a:pt x="114015" y="300647"/>
                </a:lnTo>
                <a:lnTo>
                  <a:pt x="109943" y="256624"/>
                </a:lnTo>
                <a:lnTo>
                  <a:pt x="101799" y="212771"/>
                </a:lnTo>
                <a:lnTo>
                  <a:pt x="89583" y="169201"/>
                </a:lnTo>
                <a:lnTo>
                  <a:pt x="73295" y="126025"/>
                </a:lnTo>
                <a:lnTo>
                  <a:pt x="52935" y="83358"/>
                </a:lnTo>
                <a:lnTo>
                  <a:pt x="28503" y="41312"/>
                </a:lnTo>
                <a:lnTo>
                  <a:pt x="0" y="0"/>
                </a:lnTo>
                <a:lnTo>
                  <a:pt x="246519" y="0"/>
                </a:lnTo>
                <a:lnTo>
                  <a:pt x="302351" y="10332"/>
                </a:lnTo>
                <a:lnTo>
                  <a:pt x="356513" y="22957"/>
                </a:lnTo>
                <a:lnTo>
                  <a:pt x="408856" y="37789"/>
                </a:lnTo>
                <a:lnTo>
                  <a:pt x="459230" y="54746"/>
                </a:lnTo>
                <a:lnTo>
                  <a:pt x="507485" y="73743"/>
                </a:lnTo>
                <a:lnTo>
                  <a:pt x="553473" y="94697"/>
                </a:lnTo>
                <a:lnTo>
                  <a:pt x="597043" y="117523"/>
                </a:lnTo>
                <a:lnTo>
                  <a:pt x="638046" y="142139"/>
                </a:lnTo>
                <a:lnTo>
                  <a:pt x="676332" y="168460"/>
                </a:lnTo>
                <a:lnTo>
                  <a:pt x="711752" y="196402"/>
                </a:lnTo>
                <a:lnTo>
                  <a:pt x="744157" y="225883"/>
                </a:lnTo>
                <a:lnTo>
                  <a:pt x="773396" y="256816"/>
                </a:lnTo>
                <a:lnTo>
                  <a:pt x="799320" y="289120"/>
                </a:lnTo>
                <a:lnTo>
                  <a:pt x="821780" y="322711"/>
                </a:lnTo>
                <a:close/>
              </a:path>
            </a:pathLst>
          </a:custGeom>
          <a:ln w="325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799785" y="5320809"/>
            <a:ext cx="822325" cy="645795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505676" y="0"/>
                </a:moveTo>
                <a:lnTo>
                  <a:pt x="0" y="0"/>
                </a:lnTo>
                <a:lnTo>
                  <a:pt x="0" y="645361"/>
                </a:lnTo>
                <a:lnTo>
                  <a:pt x="505676" y="645361"/>
                </a:lnTo>
                <a:lnTo>
                  <a:pt x="552416" y="641863"/>
                </a:lnTo>
                <a:lnTo>
                  <a:pt x="597017" y="631700"/>
                </a:lnTo>
                <a:lnTo>
                  <a:pt x="638992" y="615371"/>
                </a:lnTo>
                <a:lnTo>
                  <a:pt x="677854" y="593377"/>
                </a:lnTo>
                <a:lnTo>
                  <a:pt x="713114" y="566215"/>
                </a:lnTo>
                <a:lnTo>
                  <a:pt x="744288" y="534385"/>
                </a:lnTo>
                <a:lnTo>
                  <a:pt x="770885" y="498386"/>
                </a:lnTo>
                <a:lnTo>
                  <a:pt x="792421" y="458717"/>
                </a:lnTo>
                <a:lnTo>
                  <a:pt x="808407" y="415877"/>
                </a:lnTo>
                <a:lnTo>
                  <a:pt x="818356" y="370365"/>
                </a:lnTo>
                <a:lnTo>
                  <a:pt x="821780" y="322680"/>
                </a:lnTo>
                <a:lnTo>
                  <a:pt x="818356" y="274999"/>
                </a:lnTo>
                <a:lnTo>
                  <a:pt x="808407" y="229489"/>
                </a:lnTo>
                <a:lnTo>
                  <a:pt x="792421" y="186650"/>
                </a:lnTo>
                <a:lnTo>
                  <a:pt x="770885" y="146981"/>
                </a:lnTo>
                <a:lnTo>
                  <a:pt x="744287" y="110982"/>
                </a:lnTo>
                <a:lnTo>
                  <a:pt x="713114" y="79151"/>
                </a:lnTo>
                <a:lnTo>
                  <a:pt x="677853" y="51988"/>
                </a:lnTo>
                <a:lnTo>
                  <a:pt x="638992" y="29992"/>
                </a:lnTo>
                <a:lnTo>
                  <a:pt x="597017" y="13662"/>
                </a:lnTo>
                <a:lnTo>
                  <a:pt x="552416" y="3498"/>
                </a:lnTo>
                <a:lnTo>
                  <a:pt x="5056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799785" y="5320809"/>
            <a:ext cx="822325" cy="645795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505676" y="645361"/>
                </a:moveTo>
                <a:lnTo>
                  <a:pt x="0" y="645361"/>
                </a:lnTo>
                <a:lnTo>
                  <a:pt x="0" y="0"/>
                </a:lnTo>
                <a:lnTo>
                  <a:pt x="505676" y="0"/>
                </a:lnTo>
                <a:lnTo>
                  <a:pt x="552416" y="3498"/>
                </a:lnTo>
                <a:lnTo>
                  <a:pt x="597017" y="13662"/>
                </a:lnTo>
                <a:lnTo>
                  <a:pt x="638992" y="29992"/>
                </a:lnTo>
                <a:lnTo>
                  <a:pt x="677853" y="51988"/>
                </a:lnTo>
                <a:lnTo>
                  <a:pt x="713114" y="79151"/>
                </a:lnTo>
                <a:lnTo>
                  <a:pt x="744287" y="110982"/>
                </a:lnTo>
                <a:lnTo>
                  <a:pt x="770885" y="146981"/>
                </a:lnTo>
                <a:lnTo>
                  <a:pt x="792421" y="186650"/>
                </a:lnTo>
                <a:lnTo>
                  <a:pt x="808407" y="229489"/>
                </a:lnTo>
                <a:lnTo>
                  <a:pt x="818356" y="274999"/>
                </a:lnTo>
                <a:lnTo>
                  <a:pt x="821780" y="322680"/>
                </a:lnTo>
                <a:lnTo>
                  <a:pt x="818356" y="370365"/>
                </a:lnTo>
                <a:lnTo>
                  <a:pt x="808407" y="415877"/>
                </a:lnTo>
                <a:lnTo>
                  <a:pt x="792421" y="458717"/>
                </a:lnTo>
                <a:lnTo>
                  <a:pt x="770885" y="498386"/>
                </a:lnTo>
                <a:lnTo>
                  <a:pt x="744288" y="534385"/>
                </a:lnTo>
                <a:lnTo>
                  <a:pt x="713114" y="566215"/>
                </a:lnTo>
                <a:lnTo>
                  <a:pt x="677854" y="593377"/>
                </a:lnTo>
                <a:lnTo>
                  <a:pt x="638992" y="615371"/>
                </a:lnTo>
                <a:lnTo>
                  <a:pt x="597017" y="631700"/>
                </a:lnTo>
                <a:lnTo>
                  <a:pt x="552416" y="641863"/>
                </a:lnTo>
                <a:lnTo>
                  <a:pt x="505676" y="645361"/>
                </a:lnTo>
                <a:close/>
              </a:path>
            </a:pathLst>
          </a:custGeom>
          <a:ln w="325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157022" y="3653645"/>
            <a:ext cx="632460" cy="0"/>
          </a:xfrm>
          <a:custGeom>
            <a:avLst/>
            <a:gdLst/>
            <a:ahLst/>
            <a:cxnLst/>
            <a:rect l="l" t="t" r="r" b="b"/>
            <a:pathLst>
              <a:path w="632459">
                <a:moveTo>
                  <a:pt x="632207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157022" y="5804830"/>
            <a:ext cx="632460" cy="0"/>
          </a:xfrm>
          <a:custGeom>
            <a:avLst/>
            <a:gdLst/>
            <a:ahLst/>
            <a:cxnLst/>
            <a:rect l="l" t="t" r="r" b="b"/>
            <a:pathLst>
              <a:path w="632459">
                <a:moveTo>
                  <a:pt x="632207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735560" y="3436299"/>
            <a:ext cx="485140" cy="430530"/>
          </a:xfrm>
          <a:custGeom>
            <a:avLst/>
            <a:gdLst/>
            <a:ahLst/>
            <a:cxnLst/>
            <a:rect l="l" t="t" r="r" b="b"/>
            <a:pathLst>
              <a:path w="485140" h="430529">
                <a:moveTo>
                  <a:pt x="0" y="0"/>
                </a:moveTo>
                <a:lnTo>
                  <a:pt x="0" y="430291"/>
                </a:lnTo>
                <a:lnTo>
                  <a:pt x="421461" y="215221"/>
                </a:lnTo>
                <a:lnTo>
                  <a:pt x="0" y="0"/>
                </a:lnTo>
                <a:close/>
              </a:path>
              <a:path w="485140" h="430529">
                <a:moveTo>
                  <a:pt x="453131" y="182892"/>
                </a:moveTo>
                <a:lnTo>
                  <a:pt x="440781" y="185425"/>
                </a:lnTo>
                <a:lnTo>
                  <a:pt x="430717" y="192341"/>
                </a:lnTo>
                <a:lnTo>
                  <a:pt x="423942" y="202614"/>
                </a:lnTo>
                <a:lnTo>
                  <a:pt x="421461" y="215221"/>
                </a:lnTo>
                <a:lnTo>
                  <a:pt x="423942" y="227741"/>
                </a:lnTo>
                <a:lnTo>
                  <a:pt x="430717" y="237969"/>
                </a:lnTo>
                <a:lnTo>
                  <a:pt x="440781" y="244868"/>
                </a:lnTo>
                <a:lnTo>
                  <a:pt x="453131" y="247398"/>
                </a:lnTo>
                <a:lnTo>
                  <a:pt x="465395" y="244868"/>
                </a:lnTo>
                <a:lnTo>
                  <a:pt x="475415" y="237969"/>
                </a:lnTo>
                <a:lnTo>
                  <a:pt x="482173" y="227741"/>
                </a:lnTo>
                <a:lnTo>
                  <a:pt x="484652" y="215221"/>
                </a:lnTo>
                <a:lnTo>
                  <a:pt x="482173" y="202614"/>
                </a:lnTo>
                <a:lnTo>
                  <a:pt x="475415" y="192341"/>
                </a:lnTo>
                <a:lnTo>
                  <a:pt x="465395" y="185425"/>
                </a:lnTo>
                <a:lnTo>
                  <a:pt x="453131" y="1828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140796" y="3602967"/>
            <a:ext cx="95641" cy="969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735560" y="3436299"/>
            <a:ext cx="421640" cy="430530"/>
          </a:xfrm>
          <a:custGeom>
            <a:avLst/>
            <a:gdLst/>
            <a:ahLst/>
            <a:cxnLst/>
            <a:rect l="l" t="t" r="r" b="b"/>
            <a:pathLst>
              <a:path w="421640" h="430529">
                <a:moveTo>
                  <a:pt x="0" y="0"/>
                </a:moveTo>
                <a:lnTo>
                  <a:pt x="421461" y="215221"/>
                </a:lnTo>
                <a:lnTo>
                  <a:pt x="0" y="430291"/>
                </a:lnTo>
                <a:lnTo>
                  <a:pt x="0" y="0"/>
                </a:lnTo>
                <a:close/>
              </a:path>
            </a:pathLst>
          </a:custGeom>
          <a:ln w="324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735560" y="5587560"/>
            <a:ext cx="485140" cy="430530"/>
          </a:xfrm>
          <a:custGeom>
            <a:avLst/>
            <a:gdLst/>
            <a:ahLst/>
            <a:cxnLst/>
            <a:rect l="l" t="t" r="r" b="b"/>
            <a:pathLst>
              <a:path w="485140" h="430529">
                <a:moveTo>
                  <a:pt x="0" y="0"/>
                </a:moveTo>
                <a:lnTo>
                  <a:pt x="0" y="430246"/>
                </a:lnTo>
                <a:lnTo>
                  <a:pt x="421461" y="215130"/>
                </a:lnTo>
                <a:lnTo>
                  <a:pt x="0" y="0"/>
                </a:lnTo>
                <a:close/>
              </a:path>
              <a:path w="485140" h="430529">
                <a:moveTo>
                  <a:pt x="453131" y="182862"/>
                </a:moveTo>
                <a:lnTo>
                  <a:pt x="440781" y="185396"/>
                </a:lnTo>
                <a:lnTo>
                  <a:pt x="430717" y="192308"/>
                </a:lnTo>
                <a:lnTo>
                  <a:pt x="423942" y="202565"/>
                </a:lnTo>
                <a:lnTo>
                  <a:pt x="421461" y="215130"/>
                </a:lnTo>
                <a:lnTo>
                  <a:pt x="423942" y="227687"/>
                </a:lnTo>
                <a:lnTo>
                  <a:pt x="430717" y="237939"/>
                </a:lnTo>
                <a:lnTo>
                  <a:pt x="440781" y="244849"/>
                </a:lnTo>
                <a:lnTo>
                  <a:pt x="453131" y="247383"/>
                </a:lnTo>
                <a:lnTo>
                  <a:pt x="465395" y="244849"/>
                </a:lnTo>
                <a:lnTo>
                  <a:pt x="475415" y="237939"/>
                </a:lnTo>
                <a:lnTo>
                  <a:pt x="482173" y="227687"/>
                </a:lnTo>
                <a:lnTo>
                  <a:pt x="484652" y="215130"/>
                </a:lnTo>
                <a:lnTo>
                  <a:pt x="482173" y="202565"/>
                </a:lnTo>
                <a:lnTo>
                  <a:pt x="475415" y="192308"/>
                </a:lnTo>
                <a:lnTo>
                  <a:pt x="465395" y="185396"/>
                </a:lnTo>
                <a:lnTo>
                  <a:pt x="453131" y="1828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140797" y="5754197"/>
            <a:ext cx="95640" cy="969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735560" y="5587560"/>
            <a:ext cx="421640" cy="430530"/>
          </a:xfrm>
          <a:custGeom>
            <a:avLst/>
            <a:gdLst/>
            <a:ahLst/>
            <a:cxnLst/>
            <a:rect l="l" t="t" r="r" b="b"/>
            <a:pathLst>
              <a:path w="421640" h="430529">
                <a:moveTo>
                  <a:pt x="0" y="0"/>
                </a:moveTo>
                <a:lnTo>
                  <a:pt x="421461" y="215130"/>
                </a:lnTo>
                <a:lnTo>
                  <a:pt x="0" y="430246"/>
                </a:lnTo>
                <a:lnTo>
                  <a:pt x="0" y="0"/>
                </a:lnTo>
                <a:close/>
              </a:path>
            </a:pathLst>
          </a:custGeom>
          <a:ln w="324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892621" y="4406618"/>
            <a:ext cx="1685925" cy="0"/>
          </a:xfrm>
          <a:custGeom>
            <a:avLst/>
            <a:gdLst/>
            <a:ahLst/>
            <a:cxnLst/>
            <a:rect l="l" t="t" r="r" b="b"/>
            <a:pathLst>
              <a:path w="1685925">
                <a:moveTo>
                  <a:pt x="1685921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892622" y="4729238"/>
            <a:ext cx="1685925" cy="0"/>
          </a:xfrm>
          <a:custGeom>
            <a:avLst/>
            <a:gdLst/>
            <a:ahLst/>
            <a:cxnLst/>
            <a:rect l="l" t="t" r="r" b="b"/>
            <a:pathLst>
              <a:path w="1685925">
                <a:moveTo>
                  <a:pt x="1685921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314098" y="3330964"/>
            <a:ext cx="1264920" cy="0"/>
          </a:xfrm>
          <a:custGeom>
            <a:avLst/>
            <a:gdLst/>
            <a:ahLst/>
            <a:cxnLst/>
            <a:rect l="l" t="t" r="r" b="b"/>
            <a:pathLst>
              <a:path w="1264920">
                <a:moveTo>
                  <a:pt x="1264444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14098" y="4406618"/>
            <a:ext cx="421640" cy="1396365"/>
          </a:xfrm>
          <a:custGeom>
            <a:avLst/>
            <a:gdLst/>
            <a:ahLst/>
            <a:cxnLst/>
            <a:rect l="l" t="t" r="r" b="b"/>
            <a:pathLst>
              <a:path w="421640" h="1396364">
                <a:moveTo>
                  <a:pt x="421461" y="1396072"/>
                </a:moveTo>
                <a:lnTo>
                  <a:pt x="0" y="1396072"/>
                </a:lnTo>
                <a:lnTo>
                  <a:pt x="0" y="0"/>
                </a:lnTo>
              </a:path>
            </a:pathLst>
          </a:custGeom>
          <a:ln w="321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269938" y="4361539"/>
            <a:ext cx="88318" cy="901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314098" y="3330964"/>
            <a:ext cx="0" cy="1075690"/>
          </a:xfrm>
          <a:custGeom>
            <a:avLst/>
            <a:gdLst/>
            <a:ahLst/>
            <a:cxnLst/>
            <a:rect l="l" t="t" r="r" b="b"/>
            <a:pathLst>
              <a:path h="1075689">
                <a:moveTo>
                  <a:pt x="0" y="0"/>
                </a:moveTo>
                <a:lnTo>
                  <a:pt x="0" y="1075653"/>
                </a:lnTo>
              </a:path>
            </a:pathLst>
          </a:custGeom>
          <a:ln w="321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524829" y="5482150"/>
            <a:ext cx="1054100" cy="0"/>
          </a:xfrm>
          <a:custGeom>
            <a:avLst/>
            <a:gdLst/>
            <a:ahLst/>
            <a:cxnLst/>
            <a:rect l="l" t="t" r="r" b="b"/>
            <a:pathLst>
              <a:path w="1054100">
                <a:moveTo>
                  <a:pt x="1053713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535370" y="3651520"/>
            <a:ext cx="200660" cy="0"/>
          </a:xfrm>
          <a:custGeom>
            <a:avLst/>
            <a:gdLst/>
            <a:ahLst/>
            <a:cxnLst/>
            <a:rect l="l" t="t" r="r" b="b"/>
            <a:pathLst>
              <a:path w="200659">
                <a:moveTo>
                  <a:pt x="200189" y="0"/>
                </a:moveTo>
                <a:lnTo>
                  <a:pt x="0" y="0"/>
                </a:lnTo>
              </a:path>
            </a:pathLst>
          </a:custGeom>
          <a:ln w="32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524829" y="3651520"/>
            <a:ext cx="0" cy="1078230"/>
          </a:xfrm>
          <a:custGeom>
            <a:avLst/>
            <a:gdLst/>
            <a:ahLst/>
            <a:cxnLst/>
            <a:rect l="l" t="t" r="r" b="b"/>
            <a:pathLst>
              <a:path h="1078229">
                <a:moveTo>
                  <a:pt x="0" y="0"/>
                </a:moveTo>
                <a:lnTo>
                  <a:pt x="0" y="1077717"/>
                </a:lnTo>
              </a:path>
            </a:pathLst>
          </a:custGeom>
          <a:ln w="321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480669" y="4684160"/>
            <a:ext cx="88318" cy="901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524829" y="4729238"/>
            <a:ext cx="0" cy="753110"/>
          </a:xfrm>
          <a:custGeom>
            <a:avLst/>
            <a:gdLst/>
            <a:ahLst/>
            <a:cxnLst/>
            <a:rect l="l" t="t" r="r" b="b"/>
            <a:pathLst>
              <a:path h="753110">
                <a:moveTo>
                  <a:pt x="0" y="752911"/>
                </a:moveTo>
                <a:lnTo>
                  <a:pt x="0" y="0"/>
                </a:lnTo>
              </a:path>
            </a:pathLst>
          </a:custGeom>
          <a:ln w="321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5527152" y="4044726"/>
            <a:ext cx="267335" cy="958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3495" marR="5080" indent="-11430">
              <a:lnSpc>
                <a:spcPts val="3729"/>
              </a:lnSpc>
              <a:spcBef>
                <a:spcPts val="130"/>
              </a:spcBef>
            </a:pPr>
            <a:r>
              <a:rPr sz="3000" i="1" spc="-90" dirty="0">
                <a:latin typeface="华文楷体"/>
                <a:cs typeface="华文楷体"/>
              </a:rPr>
              <a:t>A  B</a:t>
            </a:r>
            <a:endParaRPr sz="3000">
              <a:latin typeface="华文楷体"/>
              <a:cs typeface="华文楷体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84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8836825" y="3278246"/>
            <a:ext cx="834390" cy="485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4500" i="1" spc="-165" baseline="7407" dirty="0">
                <a:latin typeface="华文楷体"/>
                <a:cs typeface="华文楷体"/>
              </a:rPr>
              <a:t>F </a:t>
            </a:r>
            <a:r>
              <a:rPr sz="1900" spc="-20" dirty="0">
                <a:latin typeface="华文楷体"/>
                <a:cs typeface="华文楷体"/>
              </a:rPr>
              <a:t>A&gt;B</a:t>
            </a:r>
            <a:endParaRPr sz="1900">
              <a:latin typeface="华文楷体"/>
              <a:cs typeface="华文楷体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847382" y="4310779"/>
            <a:ext cx="834390" cy="485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4500" i="1" spc="-165" baseline="7407" dirty="0">
                <a:latin typeface="华文楷体"/>
                <a:cs typeface="华文楷体"/>
              </a:rPr>
              <a:t>F </a:t>
            </a:r>
            <a:r>
              <a:rPr sz="1900" spc="-20" dirty="0">
                <a:latin typeface="华文楷体"/>
                <a:cs typeface="华文楷体"/>
              </a:rPr>
              <a:t>A=B</a:t>
            </a:r>
            <a:endParaRPr sz="1900">
              <a:latin typeface="华文楷体"/>
              <a:cs typeface="华文楷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847382" y="5386371"/>
            <a:ext cx="834390" cy="485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4500" i="1" spc="-165" baseline="7407" dirty="0">
                <a:latin typeface="华文楷体"/>
                <a:cs typeface="华文楷体"/>
              </a:rPr>
              <a:t>F </a:t>
            </a:r>
            <a:r>
              <a:rPr sz="1900" spc="-20" dirty="0">
                <a:latin typeface="华文楷体"/>
                <a:cs typeface="华文楷体"/>
              </a:rPr>
              <a:t>A&lt;B</a:t>
            </a:r>
            <a:endParaRPr sz="19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4040" y="970886"/>
            <a:ext cx="8903335" cy="2733675"/>
          </a:xfrm>
          <a:prstGeom prst="rect">
            <a:avLst/>
          </a:prstGeom>
        </p:spPr>
        <p:txBody>
          <a:bodyPr vert="horz" wrap="square" lIns="0" tIns="233045" rIns="0" bIns="0" rtlCol="0">
            <a:spAutoFit/>
          </a:bodyPr>
          <a:lstStyle/>
          <a:p>
            <a:pPr marL="366395" algn="ctr">
              <a:lnSpc>
                <a:spcPct val="100000"/>
              </a:lnSpc>
              <a:spcBef>
                <a:spcPts val="1835"/>
              </a:spcBef>
            </a:pPr>
            <a:r>
              <a:rPr sz="2950" i="1" spc="-105" dirty="0">
                <a:solidFill>
                  <a:srgbClr val="FF0000"/>
                </a:solidFill>
                <a:latin typeface="华文楷体"/>
                <a:cs typeface="华文楷体"/>
              </a:rPr>
              <a:t>A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950" i="1" spc="-100" dirty="0">
                <a:solidFill>
                  <a:srgbClr val="FF0000"/>
                </a:solidFill>
                <a:latin typeface="华文楷体"/>
                <a:cs typeface="华文楷体"/>
              </a:rPr>
              <a:t>B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是两个多位二进制数，应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从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最高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位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开始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比</a:t>
            </a:r>
            <a:r>
              <a:rPr sz="2800" spc="10" dirty="0">
                <a:solidFill>
                  <a:srgbClr val="7E4D00"/>
                </a:solidFill>
                <a:latin typeface="华文楷体"/>
                <a:cs typeface="华文楷体"/>
              </a:rPr>
              <a:t>较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,</a:t>
            </a:r>
            <a:endParaRPr sz="2800">
              <a:latin typeface="华文楷体"/>
              <a:cs typeface="华文楷体"/>
            </a:endParaRPr>
          </a:p>
          <a:p>
            <a:pPr marL="342900" algn="ctr">
              <a:lnSpc>
                <a:spcPct val="100000"/>
              </a:lnSpc>
              <a:spcBef>
                <a:spcPts val="1650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依次比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较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，只有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各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位数相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比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全部相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等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时，两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才相等。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2800" spc="-5" dirty="0">
                <a:latin typeface="微软雅黑"/>
                <a:cs typeface="微软雅黑"/>
              </a:rPr>
              <a:t>例</a:t>
            </a:r>
            <a:endParaRPr sz="2800">
              <a:latin typeface="微软雅黑"/>
              <a:cs typeface="微软雅黑"/>
            </a:endParaRPr>
          </a:p>
          <a:p>
            <a:pPr marL="812800">
              <a:lnSpc>
                <a:spcPct val="100000"/>
              </a:lnSpc>
              <a:spcBef>
                <a:spcPts val="2235"/>
              </a:spcBef>
            </a:pP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设计4位比较器</a:t>
            </a:r>
            <a:r>
              <a:rPr sz="2800" spc="-5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950" i="1" spc="-55" dirty="0">
                <a:solidFill>
                  <a:srgbClr val="7E4D00"/>
                </a:solidFill>
                <a:latin typeface="华文楷体"/>
                <a:cs typeface="华文楷体"/>
              </a:rPr>
              <a:t>A</a:t>
            </a:r>
            <a:r>
              <a:rPr sz="2950" i="1" spc="-16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950" i="1" spc="-95" dirty="0">
                <a:solidFill>
                  <a:srgbClr val="7E4D00"/>
                </a:solidFill>
                <a:latin typeface="华文楷体"/>
                <a:cs typeface="华文楷体"/>
              </a:rPr>
              <a:t>B</a:t>
            </a:r>
            <a:r>
              <a:rPr sz="2950" i="1" spc="-5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均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为4位二进制数。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85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7266" y="478027"/>
            <a:ext cx="87750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24890" algn="l"/>
                <a:tab pos="8761730" algn="l"/>
              </a:tabLst>
            </a:pPr>
            <a:r>
              <a:rPr sz="3200" u="heavy" dirty="0">
                <a:solidFill>
                  <a:srgbClr val="C00000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u="heavy" dirty="0">
                <a:solidFill>
                  <a:srgbClr val="C00000"/>
                </a:solidFill>
                <a:uFill>
                  <a:solidFill>
                    <a:srgbClr val="666699"/>
                  </a:solidFill>
                </a:uFill>
              </a:rPr>
              <a:t>多位比较器的设计	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19225" y="405460"/>
            <a:ext cx="62896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C00000"/>
                </a:solidFill>
              </a:rPr>
              <a:t>集成化4</a:t>
            </a:r>
            <a:r>
              <a:rPr sz="3200" spc="5" dirty="0">
                <a:solidFill>
                  <a:srgbClr val="C00000"/>
                </a:solidFill>
              </a:rPr>
              <a:t>位比较器</a:t>
            </a:r>
            <a:r>
              <a:rPr sz="3200" spc="-5" dirty="0">
                <a:solidFill>
                  <a:srgbClr val="C00000"/>
                </a:solidFill>
              </a:rPr>
              <a:t>（</a:t>
            </a:r>
            <a:r>
              <a:rPr sz="3200" dirty="0">
                <a:solidFill>
                  <a:srgbClr val="C00000"/>
                </a:solidFill>
              </a:rPr>
              <a:t>74LS</a:t>
            </a:r>
            <a:r>
              <a:rPr sz="3200" spc="-10" dirty="0">
                <a:solidFill>
                  <a:srgbClr val="C00000"/>
                </a:solidFill>
              </a:rPr>
              <a:t>8</a:t>
            </a:r>
            <a:r>
              <a:rPr sz="3200" dirty="0">
                <a:solidFill>
                  <a:srgbClr val="C00000"/>
                </a:solidFill>
              </a:rPr>
              <a:t>5）及级联</a:t>
            </a:r>
            <a:endParaRPr sz="3200"/>
          </a:p>
        </p:txBody>
      </p:sp>
      <p:sp>
        <p:nvSpPr>
          <p:cNvPr id="7" name="object 7"/>
          <p:cNvSpPr/>
          <p:nvPr/>
        </p:nvSpPr>
        <p:spPr>
          <a:xfrm>
            <a:off x="6603228" y="3094022"/>
            <a:ext cx="1967864" cy="3091180"/>
          </a:xfrm>
          <a:custGeom>
            <a:avLst/>
            <a:gdLst/>
            <a:ahLst/>
            <a:cxnLst/>
            <a:rect l="l" t="t" r="r" b="b"/>
            <a:pathLst>
              <a:path w="1967865" h="3091179">
                <a:moveTo>
                  <a:pt x="0" y="3091124"/>
                </a:moveTo>
                <a:lnTo>
                  <a:pt x="1967366" y="3091124"/>
                </a:lnTo>
                <a:lnTo>
                  <a:pt x="1967365" y="0"/>
                </a:lnTo>
                <a:lnTo>
                  <a:pt x="0" y="0"/>
                </a:lnTo>
                <a:lnTo>
                  <a:pt x="0" y="3091124"/>
                </a:lnTo>
                <a:close/>
              </a:path>
            </a:pathLst>
          </a:custGeom>
          <a:ln w="371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57315" y="333179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245912" y="0"/>
                </a:moveTo>
                <a:lnTo>
                  <a:pt x="0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57315" y="3569523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245912" y="0"/>
                </a:moveTo>
                <a:lnTo>
                  <a:pt x="0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45019" y="3807250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5">
                <a:moveTo>
                  <a:pt x="258209" y="0"/>
                </a:moveTo>
                <a:lnTo>
                  <a:pt x="0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57315" y="404514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245912" y="0"/>
                </a:moveTo>
                <a:lnTo>
                  <a:pt x="0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69610" y="4282873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233618" y="0"/>
                </a:moveTo>
                <a:lnTo>
                  <a:pt x="0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57316" y="4520600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245912" y="0"/>
                </a:moveTo>
                <a:lnTo>
                  <a:pt x="0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57316" y="4758461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245912" y="0"/>
                </a:moveTo>
                <a:lnTo>
                  <a:pt x="0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45020" y="4996239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5">
                <a:moveTo>
                  <a:pt x="258209" y="0"/>
                </a:moveTo>
                <a:lnTo>
                  <a:pt x="0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57316" y="5471810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245912" y="0"/>
                </a:moveTo>
                <a:lnTo>
                  <a:pt x="0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57316" y="5709588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245912" y="0"/>
                </a:moveTo>
                <a:lnTo>
                  <a:pt x="0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57316" y="594736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245912" y="0"/>
                </a:moveTo>
                <a:lnTo>
                  <a:pt x="0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570472" y="3807250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6029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570472" y="4520600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6029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570472" y="523401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>
                <a:moveTo>
                  <a:pt x="0" y="0"/>
                </a:moveTo>
                <a:lnTo>
                  <a:pt x="246029" y="0"/>
                </a:lnTo>
              </a:path>
            </a:pathLst>
          </a:custGeom>
          <a:ln w="36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61340" y="1073911"/>
            <a:ext cx="8477250" cy="2374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微软雅黑"/>
                <a:cs typeface="微软雅黑"/>
              </a:rPr>
              <a:t>特点：</a:t>
            </a:r>
            <a:endParaRPr sz="2800" dirty="0">
              <a:latin typeface="微软雅黑"/>
              <a:cs typeface="微软雅黑"/>
            </a:endParaRPr>
          </a:p>
          <a:p>
            <a:pPr marL="368300" marR="17780" indent="457200">
              <a:lnSpc>
                <a:spcPct val="150100"/>
              </a:lnSpc>
              <a:spcBef>
                <a:spcPts val="690"/>
              </a:spcBef>
            </a:pPr>
            <a:r>
              <a:rPr sz="2800" spc="-1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能进行两</a:t>
            </a: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个</a:t>
            </a:r>
            <a:r>
              <a:rPr sz="2800" spc="-1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4位二进制数比较，为</a:t>
            </a:r>
            <a:r>
              <a:rPr sz="280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扩</a:t>
            </a:r>
            <a:r>
              <a:rPr sz="2800" spc="-1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展使</a:t>
            </a:r>
            <a:r>
              <a:rPr sz="280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用</a:t>
            </a:r>
            <a:r>
              <a:rPr sz="2800" spc="-1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，增加 </a:t>
            </a: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级联输入端。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  <a:p>
            <a:pPr marR="2075814" algn="r">
              <a:lnSpc>
                <a:spcPct val="100000"/>
              </a:lnSpc>
              <a:spcBef>
                <a:spcPts val="1535"/>
              </a:spcBef>
            </a:pPr>
            <a:r>
              <a:rPr sz="2350" spc="70" dirty="0">
                <a:latin typeface="华文楷体"/>
                <a:cs typeface="华文楷体"/>
              </a:rPr>
              <a:t>A</a:t>
            </a:r>
            <a:r>
              <a:rPr sz="2325" spc="60" baseline="-12544" dirty="0">
                <a:latin typeface="华文楷体"/>
                <a:cs typeface="华文楷体"/>
              </a:rPr>
              <a:t>0</a:t>
            </a:r>
            <a:endParaRPr sz="2325" baseline="-12544" dirty="0">
              <a:latin typeface="华文楷体"/>
              <a:cs typeface="华文楷体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" dirty="0"/>
              <a:t>88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619730" y="3345436"/>
            <a:ext cx="37338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2350" spc="55" dirty="0">
                <a:latin typeface="华文楷体"/>
                <a:cs typeface="华文楷体"/>
              </a:rPr>
              <a:t>A</a:t>
            </a:r>
            <a:r>
              <a:rPr sz="2325" spc="82" baseline="-12544" dirty="0">
                <a:latin typeface="华文楷体"/>
                <a:cs typeface="华文楷体"/>
              </a:rPr>
              <a:t>1</a:t>
            </a:r>
            <a:endParaRPr sz="2325" baseline="-12544">
              <a:latin typeface="华文楷体"/>
              <a:cs typeface="华文楷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19730" y="3583163"/>
            <a:ext cx="37338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2350" spc="55" dirty="0">
                <a:latin typeface="华文楷体"/>
                <a:cs typeface="华文楷体"/>
              </a:rPr>
              <a:t>A</a:t>
            </a:r>
            <a:r>
              <a:rPr sz="2325" spc="82" baseline="-12544" dirty="0">
                <a:latin typeface="华文楷体"/>
                <a:cs typeface="华文楷体"/>
              </a:rPr>
              <a:t>2</a:t>
            </a:r>
            <a:endParaRPr sz="2325" baseline="-12544">
              <a:latin typeface="华文楷体"/>
              <a:cs typeface="华文楷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19730" y="3821058"/>
            <a:ext cx="37338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2350" spc="55" dirty="0">
                <a:latin typeface="华文楷体"/>
                <a:cs typeface="华文楷体"/>
              </a:rPr>
              <a:t>A</a:t>
            </a:r>
            <a:r>
              <a:rPr sz="2325" spc="82" baseline="-12544" dirty="0">
                <a:latin typeface="华文楷体"/>
                <a:cs typeface="华文楷体"/>
              </a:rPr>
              <a:t>3</a:t>
            </a:r>
            <a:endParaRPr sz="2325" baseline="-12544">
              <a:latin typeface="华文楷体"/>
              <a:cs typeface="华文楷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29411" y="4082608"/>
            <a:ext cx="35369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2350" spc="50" dirty="0">
                <a:latin typeface="华文楷体"/>
                <a:cs typeface="华文楷体"/>
              </a:rPr>
              <a:t>B</a:t>
            </a:r>
            <a:r>
              <a:rPr sz="2325" spc="75" baseline="-12544" dirty="0">
                <a:latin typeface="华文楷体"/>
                <a:cs typeface="华文楷体"/>
              </a:rPr>
              <a:t>0</a:t>
            </a:r>
            <a:endParaRPr sz="2325" baseline="-12544">
              <a:latin typeface="华文楷体"/>
              <a:cs typeface="华文楷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29411" y="4296596"/>
            <a:ext cx="35369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2350" spc="50" dirty="0">
                <a:latin typeface="华文楷体"/>
                <a:cs typeface="华文楷体"/>
              </a:rPr>
              <a:t>B</a:t>
            </a:r>
            <a:r>
              <a:rPr sz="2325" spc="75" baseline="-12544" dirty="0">
                <a:latin typeface="华文楷体"/>
                <a:cs typeface="华文楷体"/>
              </a:rPr>
              <a:t>1</a:t>
            </a:r>
            <a:endParaRPr sz="2325" baseline="-12544">
              <a:latin typeface="华文楷体"/>
              <a:cs typeface="华文楷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29411" y="4534374"/>
            <a:ext cx="35369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2350" spc="50" dirty="0">
                <a:latin typeface="华文楷体"/>
                <a:cs typeface="华文楷体"/>
              </a:rPr>
              <a:t>B</a:t>
            </a:r>
            <a:r>
              <a:rPr sz="2325" spc="75" baseline="-12544" dirty="0">
                <a:latin typeface="华文楷体"/>
                <a:cs typeface="华文楷体"/>
              </a:rPr>
              <a:t>2</a:t>
            </a:r>
            <a:endParaRPr sz="2325" baseline="-12544">
              <a:latin typeface="华文楷体"/>
              <a:cs typeface="华文楷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29411" y="4772151"/>
            <a:ext cx="35369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2350" spc="50" dirty="0">
                <a:latin typeface="华文楷体"/>
                <a:cs typeface="华文楷体"/>
              </a:rPr>
              <a:t>B</a:t>
            </a:r>
            <a:r>
              <a:rPr sz="2325" spc="75" baseline="-12544" dirty="0">
                <a:latin typeface="华文楷体"/>
                <a:cs typeface="华文楷体"/>
              </a:rPr>
              <a:t>3</a:t>
            </a:r>
            <a:endParaRPr sz="2325" baseline="-12544">
              <a:latin typeface="华文楷体"/>
              <a:cs typeface="华文楷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37722" y="5289984"/>
            <a:ext cx="58293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3525" spc="75" baseline="8274" dirty="0">
                <a:latin typeface="华文楷体"/>
                <a:cs typeface="华文楷体"/>
              </a:rPr>
              <a:t>I</a:t>
            </a:r>
            <a:r>
              <a:rPr sz="1550" spc="50" dirty="0">
                <a:latin typeface="华文楷体"/>
                <a:cs typeface="华文楷体"/>
              </a:rPr>
              <a:t>A&lt;B</a:t>
            </a:r>
            <a:endParaRPr sz="1550">
              <a:latin typeface="华文楷体"/>
              <a:cs typeface="华文楷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37722" y="5527778"/>
            <a:ext cx="58293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3525" spc="75" baseline="8274" dirty="0">
                <a:latin typeface="华文楷体"/>
                <a:cs typeface="华文楷体"/>
              </a:rPr>
              <a:t>I</a:t>
            </a:r>
            <a:r>
              <a:rPr sz="1550" spc="50" dirty="0">
                <a:latin typeface="华文楷体"/>
                <a:cs typeface="华文楷体"/>
              </a:rPr>
              <a:t>A=B</a:t>
            </a:r>
            <a:endParaRPr sz="1550">
              <a:latin typeface="华文楷体"/>
              <a:cs typeface="华文楷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37722" y="5765555"/>
            <a:ext cx="58293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3525" spc="75" baseline="8274" dirty="0">
                <a:latin typeface="华文楷体"/>
                <a:cs typeface="华文楷体"/>
              </a:rPr>
              <a:t>I</a:t>
            </a:r>
            <a:r>
              <a:rPr sz="1550" spc="50" dirty="0">
                <a:latin typeface="华文楷体"/>
                <a:cs typeface="华文楷体"/>
              </a:rPr>
              <a:t>A&gt;B</a:t>
            </a:r>
            <a:endParaRPr sz="1550" dirty="0">
              <a:latin typeface="华文楷体"/>
              <a:cs typeface="华文楷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33018" y="3625441"/>
            <a:ext cx="648335" cy="17672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3525" spc="82" baseline="8274" dirty="0">
                <a:latin typeface="华文楷体"/>
                <a:cs typeface="华文楷体"/>
              </a:rPr>
              <a:t>F</a:t>
            </a:r>
            <a:r>
              <a:rPr sz="1550" spc="55" dirty="0">
                <a:latin typeface="华文楷体"/>
                <a:cs typeface="华文楷体"/>
              </a:rPr>
              <a:t>A&lt;B</a:t>
            </a:r>
            <a:endParaRPr sz="1550">
              <a:latin typeface="华文楷体"/>
              <a:cs typeface="华文楷体"/>
            </a:endParaRPr>
          </a:p>
          <a:p>
            <a:pPr marL="25400" marR="30480">
              <a:lnSpc>
                <a:spcPct val="185900"/>
              </a:lnSpc>
              <a:spcBef>
                <a:spcPts val="375"/>
              </a:spcBef>
            </a:pPr>
            <a:r>
              <a:rPr sz="3525" spc="89" baseline="8274" dirty="0">
                <a:latin typeface="华文楷体"/>
                <a:cs typeface="华文楷体"/>
              </a:rPr>
              <a:t>F</a:t>
            </a:r>
            <a:r>
              <a:rPr sz="1550" spc="40" dirty="0">
                <a:latin typeface="华文楷体"/>
                <a:cs typeface="华文楷体"/>
              </a:rPr>
              <a:t>A=B  </a:t>
            </a:r>
            <a:r>
              <a:rPr sz="3525" spc="89" baseline="8274" dirty="0">
                <a:latin typeface="华文楷体"/>
                <a:cs typeface="华文楷体"/>
              </a:rPr>
              <a:t>F</a:t>
            </a:r>
            <a:r>
              <a:rPr sz="1550" spc="55" dirty="0">
                <a:latin typeface="华文楷体"/>
                <a:cs typeface="华文楷体"/>
              </a:rPr>
              <a:t>A&gt;B</a:t>
            </a:r>
            <a:endParaRPr sz="1550">
              <a:latin typeface="华文楷体"/>
              <a:cs typeface="华文楷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10579" y="4065294"/>
            <a:ext cx="431800" cy="911225"/>
          </a:xfrm>
          <a:prstGeom prst="rect">
            <a:avLst/>
          </a:prstGeom>
        </p:spPr>
        <p:txBody>
          <a:bodyPr vert="vert270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450" spc="-40" dirty="0">
                <a:solidFill>
                  <a:srgbClr val="FF0000"/>
                </a:solidFill>
                <a:latin typeface="华文楷体"/>
                <a:cs typeface="华文楷体"/>
              </a:rPr>
              <a:t>74LS85</a:t>
            </a:r>
            <a:endParaRPr sz="245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9036" y="336801"/>
            <a:ext cx="168376" cy="6521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89966" y="344043"/>
          <a:ext cx="9249408" cy="64949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02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124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359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输入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5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输出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66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4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4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4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24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84150">
                        <a:lnSpc>
                          <a:spcPts val="2635"/>
                        </a:lnSpc>
                        <a:spcBef>
                          <a:spcPts val="865"/>
                        </a:spcBef>
                      </a:pPr>
                      <a:r>
                        <a:rPr sz="3600" b="1" spc="-7" baseline="13888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b="1" spc="-5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A&gt;B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83515">
                        <a:lnSpc>
                          <a:spcPts val="2635"/>
                        </a:lnSpc>
                        <a:spcBef>
                          <a:spcPts val="865"/>
                        </a:spcBef>
                      </a:pPr>
                      <a:r>
                        <a:rPr sz="3600" b="1" spc="-7" baseline="13888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b="1" spc="-5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A=B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83515">
                        <a:lnSpc>
                          <a:spcPts val="2635"/>
                        </a:lnSpc>
                        <a:spcBef>
                          <a:spcPts val="865"/>
                        </a:spcBef>
                      </a:pPr>
                      <a:r>
                        <a:rPr sz="3600" b="1" spc="-7" baseline="13888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b="1" spc="-5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A&lt;B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61290">
                        <a:lnSpc>
                          <a:spcPts val="2635"/>
                        </a:lnSpc>
                        <a:spcBef>
                          <a:spcPts val="865"/>
                        </a:spcBef>
                      </a:pPr>
                      <a:r>
                        <a:rPr sz="3600" b="1" spc="-75" baseline="13888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A&gt;B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68275">
                        <a:lnSpc>
                          <a:spcPts val="2635"/>
                        </a:lnSpc>
                        <a:spcBef>
                          <a:spcPts val="865"/>
                        </a:spcBef>
                      </a:pPr>
                      <a:r>
                        <a:rPr sz="3600" b="1" spc="-75" baseline="13888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A=B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84150">
                        <a:lnSpc>
                          <a:spcPts val="2635"/>
                        </a:lnSpc>
                        <a:spcBef>
                          <a:spcPts val="865"/>
                        </a:spcBef>
                      </a:pPr>
                      <a:r>
                        <a:rPr sz="3600" b="1" spc="-75" baseline="13888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A&lt;B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 rowSpan="1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98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985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985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985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985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985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0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3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0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3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0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3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31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31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31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7973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7973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7973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7973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0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7973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1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7973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&gt;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7973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0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7973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1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48590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48590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800" b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800" b="1" i="1" spc="-5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b="1" spc="-7" baseline="-20833" dirty="0">
                          <a:solidFill>
                            <a:srgbClr val="BE73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8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7973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R="37973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R="37973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51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666699"/>
                      </a:solidFill>
                      <a:prstDash val="solid"/>
                    </a:lnT>
                  </a:tcPr>
                </a:tc>
                <a:tc gridSpan="11">
                  <a:txBody>
                    <a:bodyPr/>
                    <a:lstStyle/>
                    <a:p>
                      <a:pPr marR="72390" algn="ctr">
                        <a:lnSpc>
                          <a:spcPct val="100000"/>
                        </a:lnSpc>
                        <a:spcBef>
                          <a:spcPts val="1785"/>
                        </a:spcBef>
                      </a:pPr>
                      <a:r>
                        <a:rPr sz="1800" spc="10" dirty="0">
                          <a:latin typeface="Franklin Gothic Medium"/>
                          <a:cs typeface="Franklin Gothic Medium"/>
                        </a:rPr>
                        <a:t>89</a:t>
                      </a:r>
                      <a:endParaRPr sz="1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T="226695" marB="0">
                    <a:lnL w="539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36639" y="2668107"/>
            <a:ext cx="292100" cy="0"/>
          </a:xfrm>
          <a:custGeom>
            <a:avLst/>
            <a:gdLst/>
            <a:ahLst/>
            <a:cxnLst/>
            <a:rect l="l" t="t" r="r" b="b"/>
            <a:pathLst>
              <a:path w="292100">
                <a:moveTo>
                  <a:pt x="0" y="0"/>
                </a:moveTo>
                <a:lnTo>
                  <a:pt x="291482" y="0"/>
                </a:lnTo>
              </a:path>
            </a:pathLst>
          </a:custGeom>
          <a:ln w="408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36639" y="3471359"/>
            <a:ext cx="292100" cy="0"/>
          </a:xfrm>
          <a:custGeom>
            <a:avLst/>
            <a:gdLst/>
            <a:ahLst/>
            <a:cxnLst/>
            <a:rect l="l" t="t" r="r" b="b"/>
            <a:pathLst>
              <a:path w="292100">
                <a:moveTo>
                  <a:pt x="0" y="0"/>
                </a:moveTo>
                <a:lnTo>
                  <a:pt x="291482" y="0"/>
                </a:lnTo>
              </a:path>
            </a:pathLst>
          </a:custGeom>
          <a:ln w="408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36639" y="4274666"/>
            <a:ext cx="292100" cy="0"/>
          </a:xfrm>
          <a:custGeom>
            <a:avLst/>
            <a:gdLst/>
            <a:ahLst/>
            <a:cxnLst/>
            <a:rect l="l" t="t" r="r" b="b"/>
            <a:pathLst>
              <a:path w="292100">
                <a:moveTo>
                  <a:pt x="0" y="0"/>
                </a:moveTo>
                <a:lnTo>
                  <a:pt x="291482" y="0"/>
                </a:lnTo>
              </a:path>
            </a:pathLst>
          </a:custGeom>
          <a:ln w="40807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46815" y="2668107"/>
            <a:ext cx="2015489" cy="1874520"/>
          </a:xfrm>
          <a:custGeom>
            <a:avLst/>
            <a:gdLst/>
            <a:ahLst/>
            <a:cxnLst/>
            <a:rect l="l" t="t" r="r" b="b"/>
            <a:pathLst>
              <a:path w="2015489" h="1874520">
                <a:moveTo>
                  <a:pt x="0" y="0"/>
                </a:moveTo>
                <a:lnTo>
                  <a:pt x="864293" y="0"/>
                </a:lnTo>
                <a:lnTo>
                  <a:pt x="864293" y="1874322"/>
                </a:lnTo>
                <a:lnTo>
                  <a:pt x="2015479" y="1874322"/>
                </a:lnTo>
              </a:path>
            </a:pathLst>
          </a:custGeom>
          <a:ln w="42484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63471" y="3471359"/>
            <a:ext cx="1982470" cy="1339215"/>
          </a:xfrm>
          <a:custGeom>
            <a:avLst/>
            <a:gdLst/>
            <a:ahLst/>
            <a:cxnLst/>
            <a:rect l="l" t="t" r="r" b="b"/>
            <a:pathLst>
              <a:path w="1982470" h="1339214">
                <a:moveTo>
                  <a:pt x="0" y="0"/>
                </a:moveTo>
                <a:lnTo>
                  <a:pt x="556133" y="0"/>
                </a:lnTo>
                <a:lnTo>
                  <a:pt x="556133" y="1338833"/>
                </a:lnTo>
                <a:lnTo>
                  <a:pt x="1982164" y="1338834"/>
                </a:lnTo>
              </a:path>
            </a:pathLst>
          </a:custGeom>
          <a:ln w="4194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28122" y="4274666"/>
            <a:ext cx="1717675" cy="803910"/>
          </a:xfrm>
          <a:custGeom>
            <a:avLst/>
            <a:gdLst/>
            <a:ahLst/>
            <a:cxnLst/>
            <a:rect l="l" t="t" r="r" b="b"/>
            <a:pathLst>
              <a:path w="1717675" h="803910">
                <a:moveTo>
                  <a:pt x="0" y="0"/>
                </a:moveTo>
                <a:lnTo>
                  <a:pt x="0" y="803296"/>
                </a:lnTo>
                <a:lnTo>
                  <a:pt x="1717513" y="803296"/>
                </a:lnTo>
              </a:path>
            </a:pathLst>
          </a:custGeom>
          <a:ln w="414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53568" y="1860548"/>
            <a:ext cx="2341880" cy="3487420"/>
          </a:xfrm>
          <a:custGeom>
            <a:avLst/>
            <a:gdLst/>
            <a:ahLst/>
            <a:cxnLst/>
            <a:rect l="l" t="t" r="r" b="b"/>
            <a:pathLst>
              <a:path w="2341879" h="3487420">
                <a:moveTo>
                  <a:pt x="0" y="3486912"/>
                </a:moveTo>
                <a:lnTo>
                  <a:pt x="2341852" y="3486912"/>
                </a:lnTo>
                <a:lnTo>
                  <a:pt x="2341852" y="0"/>
                </a:lnTo>
                <a:lnTo>
                  <a:pt x="0" y="0"/>
                </a:lnTo>
                <a:lnTo>
                  <a:pt x="0" y="3486912"/>
                </a:lnTo>
                <a:close/>
              </a:path>
            </a:pathLst>
          </a:custGeom>
          <a:ln w="43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60852" y="2128770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716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60852" y="2396936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716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46209" y="2665102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>
                <a:moveTo>
                  <a:pt x="307359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60852" y="2933457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716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75495" y="3201623"/>
            <a:ext cx="278130" cy="0"/>
          </a:xfrm>
          <a:custGeom>
            <a:avLst/>
            <a:gdLst/>
            <a:ahLst/>
            <a:cxnLst/>
            <a:rect l="l" t="t" r="r" b="b"/>
            <a:pathLst>
              <a:path w="278130">
                <a:moveTo>
                  <a:pt x="278073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60852" y="3469788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716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60852" y="3738144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716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46209" y="4006329"/>
            <a:ext cx="307975" cy="0"/>
          </a:xfrm>
          <a:custGeom>
            <a:avLst/>
            <a:gdLst/>
            <a:ahLst/>
            <a:cxnLst/>
            <a:rect l="l" t="t" r="r" b="b"/>
            <a:pathLst>
              <a:path w="307975">
                <a:moveTo>
                  <a:pt x="307359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60852" y="4542774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716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60852" y="4811015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716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60852" y="5079238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716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95441" y="2665102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654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95441" y="3469788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654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95441" y="4274551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654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765345" y="2145782"/>
            <a:ext cx="445134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50" spc="140" dirty="0">
                <a:latin typeface="华文楷体"/>
                <a:cs typeface="华文楷体"/>
              </a:rPr>
              <a:t>A</a:t>
            </a:r>
            <a:r>
              <a:rPr sz="2625" spc="209" baseline="-12698" dirty="0">
                <a:latin typeface="华文楷体"/>
                <a:cs typeface="华文楷体"/>
              </a:rPr>
              <a:t>1</a:t>
            </a:r>
            <a:endParaRPr sz="2625" baseline="-12698" dirty="0">
              <a:latin typeface="华文楷体"/>
              <a:cs typeface="华文楷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65345" y="2413948"/>
            <a:ext cx="445134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50" spc="140" dirty="0">
                <a:latin typeface="华文楷体"/>
                <a:cs typeface="华文楷体"/>
              </a:rPr>
              <a:t>A</a:t>
            </a:r>
            <a:r>
              <a:rPr sz="2625" spc="209" baseline="-12698" dirty="0">
                <a:latin typeface="华文楷体"/>
                <a:cs typeface="华文楷体"/>
              </a:rPr>
              <a:t>2</a:t>
            </a:r>
            <a:endParaRPr sz="2625" baseline="-12698">
              <a:latin typeface="华文楷体"/>
              <a:cs typeface="华文楷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5345" y="2682303"/>
            <a:ext cx="445134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50" spc="140" dirty="0">
                <a:latin typeface="华文楷体"/>
                <a:cs typeface="华文楷体"/>
              </a:rPr>
              <a:t>A</a:t>
            </a:r>
            <a:r>
              <a:rPr sz="2625" spc="209" baseline="-12698" dirty="0">
                <a:latin typeface="华文楷体"/>
                <a:cs typeface="华文楷体"/>
              </a:rPr>
              <a:t>3</a:t>
            </a:r>
            <a:endParaRPr sz="2625" baseline="-12698">
              <a:latin typeface="华文楷体"/>
              <a:cs typeface="华文楷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76890" y="2977343"/>
            <a:ext cx="42164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50" spc="130" dirty="0">
                <a:latin typeface="华文楷体"/>
                <a:cs typeface="华文楷体"/>
              </a:rPr>
              <a:t>B</a:t>
            </a:r>
            <a:r>
              <a:rPr sz="2625" spc="195" baseline="-12698" dirty="0">
                <a:latin typeface="华文楷体"/>
                <a:cs typeface="华文楷体"/>
              </a:rPr>
              <a:t>0</a:t>
            </a:r>
            <a:endParaRPr sz="2625" baseline="-12698">
              <a:latin typeface="华文楷体"/>
              <a:cs typeface="华文楷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86783" y="4339311"/>
            <a:ext cx="69469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975" spc="179" baseline="8385" dirty="0">
                <a:latin typeface="华文楷体"/>
                <a:cs typeface="华文楷体"/>
              </a:rPr>
              <a:t>I</a:t>
            </a:r>
            <a:r>
              <a:rPr sz="1750" spc="120" dirty="0">
                <a:latin typeface="华文楷体"/>
                <a:cs typeface="华文楷体"/>
              </a:rPr>
              <a:t>A&lt;B</a:t>
            </a:r>
            <a:endParaRPr sz="1750">
              <a:latin typeface="华文楷体"/>
              <a:cs typeface="华文楷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86783" y="4607533"/>
            <a:ext cx="69469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975" spc="179" baseline="8385" dirty="0">
                <a:latin typeface="华文楷体"/>
                <a:cs typeface="华文楷体"/>
              </a:rPr>
              <a:t>I</a:t>
            </a:r>
            <a:r>
              <a:rPr sz="1750" spc="120" dirty="0">
                <a:latin typeface="华文楷体"/>
                <a:cs typeface="华文楷体"/>
              </a:rPr>
              <a:t>A=B</a:t>
            </a:r>
            <a:endParaRPr sz="1750">
              <a:latin typeface="华文楷体"/>
              <a:cs typeface="华文楷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86783" y="4875775"/>
            <a:ext cx="69469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975" spc="179" baseline="8385" dirty="0">
                <a:latin typeface="华文楷体"/>
                <a:cs typeface="华文楷体"/>
              </a:rPr>
              <a:t>I</a:t>
            </a:r>
            <a:r>
              <a:rPr sz="1750" spc="120" dirty="0">
                <a:latin typeface="华文楷体"/>
                <a:cs typeface="华文楷体"/>
              </a:rPr>
              <a:t>A&gt;B</a:t>
            </a:r>
            <a:endParaRPr sz="1750">
              <a:latin typeface="华文楷体"/>
              <a:cs typeface="华文楷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28701" y="2461639"/>
            <a:ext cx="772160" cy="19900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975" spc="202" baseline="8385" dirty="0">
                <a:latin typeface="华文楷体"/>
                <a:cs typeface="华文楷体"/>
              </a:rPr>
              <a:t>F</a:t>
            </a:r>
            <a:r>
              <a:rPr sz="1750" spc="135" dirty="0">
                <a:latin typeface="华文楷体"/>
                <a:cs typeface="华文楷体"/>
              </a:rPr>
              <a:t>A&lt;B</a:t>
            </a:r>
            <a:endParaRPr sz="1750">
              <a:latin typeface="华文楷体"/>
              <a:cs typeface="华文楷体"/>
            </a:endParaRPr>
          </a:p>
          <a:p>
            <a:pPr marL="38100" marR="30480">
              <a:lnSpc>
                <a:spcPct val="186000"/>
              </a:lnSpc>
              <a:spcBef>
                <a:spcPts val="420"/>
              </a:spcBef>
            </a:pPr>
            <a:r>
              <a:rPr sz="3975" spc="232" baseline="8385" dirty="0">
                <a:latin typeface="华文楷体"/>
                <a:cs typeface="华文楷体"/>
              </a:rPr>
              <a:t>F</a:t>
            </a:r>
            <a:r>
              <a:rPr sz="1750" spc="95" dirty="0">
                <a:latin typeface="华文楷体"/>
                <a:cs typeface="华文楷体"/>
              </a:rPr>
              <a:t>A=B  </a:t>
            </a:r>
            <a:r>
              <a:rPr sz="3975" spc="232" baseline="8385" dirty="0">
                <a:latin typeface="华文楷体"/>
                <a:cs typeface="华文楷体"/>
              </a:rPr>
              <a:t>F</a:t>
            </a:r>
            <a:r>
              <a:rPr sz="1750" spc="130" dirty="0">
                <a:latin typeface="华文楷体"/>
                <a:cs typeface="华文楷体"/>
              </a:rPr>
              <a:t>A&gt;B</a:t>
            </a:r>
            <a:endParaRPr sz="1750">
              <a:latin typeface="华文楷体"/>
              <a:cs typeface="华文楷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16995" y="2957812"/>
            <a:ext cx="509270" cy="1024890"/>
          </a:xfrm>
          <a:prstGeom prst="rect">
            <a:avLst/>
          </a:prstGeom>
        </p:spPr>
        <p:txBody>
          <a:bodyPr vert="vert270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900" spc="-110" dirty="0">
                <a:solidFill>
                  <a:srgbClr val="FF0000"/>
                </a:solidFill>
                <a:latin typeface="华文楷体"/>
                <a:cs typeface="华文楷体"/>
              </a:rPr>
              <a:t>74LS85</a:t>
            </a:r>
            <a:endParaRPr sz="2900">
              <a:latin typeface="华文楷体"/>
              <a:cs typeface="华文楷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151662" y="1860547"/>
            <a:ext cx="2341880" cy="3487420"/>
          </a:xfrm>
          <a:custGeom>
            <a:avLst/>
            <a:gdLst/>
            <a:ahLst/>
            <a:cxnLst/>
            <a:rect l="l" t="t" r="r" b="b"/>
            <a:pathLst>
              <a:path w="2341879" h="3487420">
                <a:moveTo>
                  <a:pt x="0" y="3486912"/>
                </a:moveTo>
                <a:lnTo>
                  <a:pt x="2341852" y="3486912"/>
                </a:lnTo>
                <a:lnTo>
                  <a:pt x="2341852" y="0"/>
                </a:lnTo>
                <a:lnTo>
                  <a:pt x="0" y="0"/>
                </a:lnTo>
                <a:lnTo>
                  <a:pt x="0" y="34869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151662" y="1860547"/>
            <a:ext cx="2341880" cy="3487420"/>
          </a:xfrm>
          <a:custGeom>
            <a:avLst/>
            <a:gdLst/>
            <a:ahLst/>
            <a:cxnLst/>
            <a:rect l="l" t="t" r="r" b="b"/>
            <a:pathLst>
              <a:path w="2341879" h="3487420">
                <a:moveTo>
                  <a:pt x="0" y="3486912"/>
                </a:moveTo>
                <a:lnTo>
                  <a:pt x="2341852" y="3486912"/>
                </a:lnTo>
                <a:lnTo>
                  <a:pt x="2341852" y="0"/>
                </a:lnTo>
                <a:lnTo>
                  <a:pt x="0" y="0"/>
                </a:lnTo>
                <a:lnTo>
                  <a:pt x="0" y="3486912"/>
                </a:lnTo>
                <a:close/>
              </a:path>
            </a:pathLst>
          </a:custGeom>
          <a:ln w="43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59008" y="2128770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654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859008" y="2396936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654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44344" y="2665102"/>
            <a:ext cx="307340" cy="0"/>
          </a:xfrm>
          <a:custGeom>
            <a:avLst/>
            <a:gdLst/>
            <a:ahLst/>
            <a:cxnLst/>
            <a:rect l="l" t="t" r="r" b="b"/>
            <a:pathLst>
              <a:path w="307339">
                <a:moveTo>
                  <a:pt x="307317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859008" y="2933457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654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73672" y="3201623"/>
            <a:ext cx="278130" cy="0"/>
          </a:xfrm>
          <a:custGeom>
            <a:avLst/>
            <a:gdLst/>
            <a:ahLst/>
            <a:cxnLst/>
            <a:rect l="l" t="t" r="r" b="b"/>
            <a:pathLst>
              <a:path w="278129">
                <a:moveTo>
                  <a:pt x="277990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859008" y="3469788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654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859008" y="3738143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654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844344" y="4006328"/>
            <a:ext cx="307340" cy="0"/>
          </a:xfrm>
          <a:custGeom>
            <a:avLst/>
            <a:gdLst/>
            <a:ahLst/>
            <a:cxnLst/>
            <a:rect l="l" t="t" r="r" b="b"/>
            <a:pathLst>
              <a:path w="307339">
                <a:moveTo>
                  <a:pt x="307317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859008" y="4542773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654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859008" y="4811015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654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859008" y="5079238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292654" y="0"/>
                </a:moveTo>
                <a:lnTo>
                  <a:pt x="0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493514" y="2665102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4">
                <a:moveTo>
                  <a:pt x="0" y="0"/>
                </a:moveTo>
                <a:lnTo>
                  <a:pt x="292654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493514" y="3469788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4">
                <a:moveTo>
                  <a:pt x="0" y="0"/>
                </a:moveTo>
                <a:lnTo>
                  <a:pt x="292654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493514" y="4274551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4">
                <a:moveTo>
                  <a:pt x="0" y="0"/>
                </a:moveTo>
                <a:lnTo>
                  <a:pt x="292654" y="0"/>
                </a:lnTo>
              </a:path>
            </a:pathLst>
          </a:custGeom>
          <a:ln w="408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163542" y="1823870"/>
            <a:ext cx="44450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50" spc="140" dirty="0">
                <a:latin typeface="华文楷体"/>
                <a:cs typeface="华文楷体"/>
              </a:rPr>
              <a:t>A</a:t>
            </a:r>
            <a:r>
              <a:rPr sz="2625" spc="209" baseline="-12698" dirty="0">
                <a:latin typeface="华文楷体"/>
                <a:cs typeface="华文楷体"/>
              </a:rPr>
              <a:t>0</a:t>
            </a:r>
            <a:endParaRPr sz="2625" baseline="-12698">
              <a:latin typeface="华文楷体"/>
              <a:cs typeface="华文楷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63542" y="2682303"/>
            <a:ext cx="44450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50" spc="140" dirty="0">
                <a:latin typeface="华文楷体"/>
                <a:cs typeface="华文楷体"/>
              </a:rPr>
              <a:t>A</a:t>
            </a:r>
            <a:r>
              <a:rPr sz="2625" spc="209" baseline="-12698" dirty="0">
                <a:latin typeface="华文楷体"/>
                <a:cs typeface="华文楷体"/>
              </a:rPr>
              <a:t>3</a:t>
            </a:r>
            <a:endParaRPr sz="2625" baseline="-12698">
              <a:latin typeface="华文楷体"/>
              <a:cs typeface="华文楷体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175108" y="2977342"/>
            <a:ext cx="42164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50" spc="130" dirty="0">
                <a:latin typeface="华文楷体"/>
                <a:cs typeface="华文楷体"/>
              </a:rPr>
              <a:t>B</a:t>
            </a:r>
            <a:r>
              <a:rPr sz="2625" spc="195" baseline="-12698" dirty="0">
                <a:latin typeface="华文楷体"/>
                <a:cs typeface="华文楷体"/>
              </a:rPr>
              <a:t>0</a:t>
            </a:r>
            <a:endParaRPr sz="2625" baseline="-12698">
              <a:latin typeface="华文楷体"/>
              <a:cs typeface="华文楷体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75108" y="3218635"/>
            <a:ext cx="42164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50" spc="130" dirty="0">
                <a:latin typeface="华文楷体"/>
                <a:cs typeface="华文楷体"/>
              </a:rPr>
              <a:t>B</a:t>
            </a:r>
            <a:r>
              <a:rPr sz="2625" spc="195" baseline="-12698" dirty="0">
                <a:latin typeface="华文楷体"/>
                <a:cs typeface="华文楷体"/>
              </a:rPr>
              <a:t>1</a:t>
            </a:r>
            <a:endParaRPr sz="2625" baseline="-12698">
              <a:latin typeface="华文楷体"/>
              <a:cs typeface="华文楷体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175108" y="3486952"/>
            <a:ext cx="42164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50" spc="130" dirty="0">
                <a:latin typeface="华文楷体"/>
                <a:cs typeface="华文楷体"/>
              </a:rPr>
              <a:t>B</a:t>
            </a:r>
            <a:r>
              <a:rPr sz="2625" spc="195" baseline="-12698" dirty="0">
                <a:latin typeface="华文楷体"/>
                <a:cs typeface="华文楷体"/>
              </a:rPr>
              <a:t>2</a:t>
            </a:r>
            <a:endParaRPr sz="2625" baseline="-12698">
              <a:latin typeface="华文楷体"/>
              <a:cs typeface="华文楷体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175108" y="3755175"/>
            <a:ext cx="42164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650" spc="130" dirty="0">
                <a:latin typeface="华文楷体"/>
                <a:cs typeface="华文楷体"/>
              </a:rPr>
              <a:t>B</a:t>
            </a:r>
            <a:r>
              <a:rPr sz="2625" spc="195" baseline="-12698" dirty="0">
                <a:latin typeface="华文楷体"/>
                <a:cs typeface="华文楷体"/>
              </a:rPr>
              <a:t>3</a:t>
            </a:r>
            <a:endParaRPr sz="2625" baseline="-12698">
              <a:latin typeface="华文楷体"/>
              <a:cs typeface="华文楷体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184815" y="4339311"/>
            <a:ext cx="69469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975" spc="179" baseline="8385" dirty="0">
                <a:latin typeface="华文楷体"/>
                <a:cs typeface="华文楷体"/>
              </a:rPr>
              <a:t>I</a:t>
            </a:r>
            <a:r>
              <a:rPr sz="1750" spc="120" dirty="0">
                <a:latin typeface="华文楷体"/>
                <a:cs typeface="华文楷体"/>
              </a:rPr>
              <a:t>A&lt;B</a:t>
            </a:r>
            <a:endParaRPr sz="1750">
              <a:latin typeface="华文楷体"/>
              <a:cs typeface="华文楷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184815" y="4607533"/>
            <a:ext cx="69469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975" spc="179" baseline="8385" dirty="0">
                <a:latin typeface="华文楷体"/>
                <a:cs typeface="华文楷体"/>
              </a:rPr>
              <a:t>I</a:t>
            </a:r>
            <a:r>
              <a:rPr sz="1750" spc="120" dirty="0">
                <a:latin typeface="华文楷体"/>
                <a:cs typeface="华文楷体"/>
              </a:rPr>
              <a:t>A=B</a:t>
            </a:r>
            <a:endParaRPr sz="1750">
              <a:latin typeface="华文楷体"/>
              <a:cs typeface="华文楷体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184815" y="4875775"/>
            <a:ext cx="69469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975" spc="179" baseline="8385" dirty="0">
                <a:latin typeface="华文楷体"/>
                <a:cs typeface="华文楷体"/>
              </a:rPr>
              <a:t>I</a:t>
            </a:r>
            <a:r>
              <a:rPr sz="1750" spc="120" dirty="0">
                <a:latin typeface="华文楷体"/>
                <a:cs typeface="华文楷体"/>
              </a:rPr>
              <a:t>A&gt;B</a:t>
            </a:r>
            <a:endParaRPr sz="1750">
              <a:latin typeface="华文楷体"/>
              <a:cs typeface="华文楷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726774" y="2461639"/>
            <a:ext cx="772160" cy="19900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975" spc="202" baseline="8385" dirty="0">
                <a:latin typeface="华文楷体"/>
                <a:cs typeface="华文楷体"/>
              </a:rPr>
              <a:t>F</a:t>
            </a:r>
            <a:r>
              <a:rPr sz="1750" spc="135" dirty="0">
                <a:latin typeface="华文楷体"/>
                <a:cs typeface="华文楷体"/>
              </a:rPr>
              <a:t>A&lt;B</a:t>
            </a:r>
            <a:endParaRPr sz="1750">
              <a:latin typeface="华文楷体"/>
              <a:cs typeface="华文楷体"/>
            </a:endParaRPr>
          </a:p>
          <a:p>
            <a:pPr marL="38100" marR="30480">
              <a:lnSpc>
                <a:spcPct val="186000"/>
              </a:lnSpc>
              <a:spcBef>
                <a:spcPts val="420"/>
              </a:spcBef>
            </a:pPr>
            <a:r>
              <a:rPr sz="3975" spc="232" baseline="8385" dirty="0">
                <a:latin typeface="华文楷体"/>
                <a:cs typeface="华文楷体"/>
              </a:rPr>
              <a:t>F</a:t>
            </a:r>
            <a:r>
              <a:rPr sz="1750" spc="95" dirty="0">
                <a:latin typeface="华文楷体"/>
                <a:cs typeface="华文楷体"/>
              </a:rPr>
              <a:t>A=B  </a:t>
            </a:r>
            <a:r>
              <a:rPr sz="3975" spc="232" baseline="8385" dirty="0">
                <a:latin typeface="华文楷体"/>
                <a:cs typeface="华文楷体"/>
              </a:rPr>
              <a:t>F</a:t>
            </a:r>
            <a:r>
              <a:rPr sz="1750" spc="130" dirty="0">
                <a:latin typeface="华文楷体"/>
                <a:cs typeface="华文楷体"/>
              </a:rPr>
              <a:t>A&gt;B</a:t>
            </a:r>
            <a:endParaRPr sz="1750">
              <a:latin typeface="华文楷体"/>
              <a:cs typeface="华文楷体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115068" y="2957812"/>
            <a:ext cx="509270" cy="1024890"/>
          </a:xfrm>
          <a:prstGeom prst="rect">
            <a:avLst/>
          </a:prstGeom>
        </p:spPr>
        <p:txBody>
          <a:bodyPr vert="vert270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900" spc="-110" dirty="0">
                <a:solidFill>
                  <a:srgbClr val="FF0000"/>
                </a:solidFill>
                <a:latin typeface="华文楷体"/>
                <a:cs typeface="华文楷体"/>
              </a:rPr>
              <a:t>74LS85</a:t>
            </a:r>
            <a:endParaRPr sz="2900">
              <a:latin typeface="华文楷体"/>
              <a:cs typeface="华文楷体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434969" y="1845429"/>
            <a:ext cx="42037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50" spc="100" dirty="0">
                <a:latin typeface="华文楷体"/>
                <a:cs typeface="华文楷体"/>
              </a:rPr>
              <a:t>C</a:t>
            </a:r>
            <a:r>
              <a:rPr sz="2625" spc="150" baseline="-11111" dirty="0">
                <a:latin typeface="华文楷体"/>
                <a:cs typeface="华文楷体"/>
              </a:rPr>
              <a:t>4</a:t>
            </a:r>
            <a:endParaRPr sz="2625" baseline="-11111">
              <a:latin typeface="华文楷体"/>
              <a:cs typeface="华文楷体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422269" y="2145782"/>
            <a:ext cx="119888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779145" algn="l"/>
              </a:tabLst>
            </a:pPr>
            <a:r>
              <a:rPr sz="3975" spc="150" baseline="1048" dirty="0">
                <a:latin typeface="华文楷体"/>
                <a:cs typeface="华文楷体"/>
              </a:rPr>
              <a:t>C</a:t>
            </a:r>
            <a:r>
              <a:rPr sz="2625" spc="150" baseline="-9523" dirty="0">
                <a:latin typeface="华文楷体"/>
                <a:cs typeface="华文楷体"/>
              </a:rPr>
              <a:t>5	</a:t>
            </a:r>
            <a:r>
              <a:rPr sz="2650" spc="140" dirty="0">
                <a:latin typeface="华文楷体"/>
                <a:cs typeface="华文楷体"/>
              </a:rPr>
              <a:t>A</a:t>
            </a:r>
            <a:r>
              <a:rPr sz="2625" spc="209" baseline="-12698" dirty="0">
                <a:latin typeface="华文楷体"/>
                <a:cs typeface="华文楷体"/>
              </a:rPr>
              <a:t>1</a:t>
            </a:r>
            <a:endParaRPr sz="2625" baseline="-12698">
              <a:latin typeface="华文楷体"/>
              <a:cs typeface="华文楷体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422269" y="2413948"/>
            <a:ext cx="119888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779145" algn="l"/>
              </a:tabLst>
            </a:pPr>
            <a:r>
              <a:rPr sz="3975" spc="150" baseline="1048" dirty="0">
                <a:latin typeface="华文楷体"/>
                <a:cs typeface="华文楷体"/>
              </a:rPr>
              <a:t>C</a:t>
            </a:r>
            <a:r>
              <a:rPr sz="2625" spc="150" baseline="-9523" dirty="0">
                <a:latin typeface="华文楷体"/>
                <a:cs typeface="华文楷体"/>
              </a:rPr>
              <a:t>6	</a:t>
            </a:r>
            <a:r>
              <a:rPr sz="2650" spc="140" dirty="0">
                <a:latin typeface="华文楷体"/>
                <a:cs typeface="华文楷体"/>
              </a:rPr>
              <a:t>A</a:t>
            </a:r>
            <a:r>
              <a:rPr sz="2625" spc="209" baseline="-12698" dirty="0">
                <a:latin typeface="华文楷体"/>
                <a:cs typeface="华文楷体"/>
              </a:rPr>
              <a:t>2</a:t>
            </a:r>
            <a:endParaRPr sz="2625" baseline="-12698">
              <a:latin typeface="华文楷体"/>
              <a:cs typeface="华文楷体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434969" y="2674564"/>
            <a:ext cx="42037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50" spc="100" dirty="0">
                <a:latin typeface="华文楷体"/>
                <a:cs typeface="华文楷体"/>
              </a:rPr>
              <a:t>C</a:t>
            </a:r>
            <a:r>
              <a:rPr sz="2625" spc="150" baseline="-11111" dirty="0">
                <a:latin typeface="华文楷体"/>
                <a:cs typeface="华文楷体"/>
              </a:rPr>
              <a:t>7</a:t>
            </a:r>
            <a:endParaRPr sz="2625" baseline="-11111">
              <a:latin typeface="华文楷体"/>
              <a:cs typeface="华文楷体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410336" y="2954024"/>
            <a:ext cx="469265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50" spc="110" dirty="0">
                <a:latin typeface="华文楷体"/>
                <a:cs typeface="华文楷体"/>
              </a:rPr>
              <a:t>D</a:t>
            </a:r>
            <a:r>
              <a:rPr sz="2625" spc="165" baseline="-11111" dirty="0">
                <a:latin typeface="华文楷体"/>
                <a:cs typeface="华文楷体"/>
              </a:rPr>
              <a:t>4</a:t>
            </a:r>
            <a:endParaRPr sz="2625" baseline="-11111">
              <a:latin typeface="华文楷体"/>
              <a:cs typeface="华文楷体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410336" y="3194759"/>
            <a:ext cx="469265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50" spc="110" dirty="0">
                <a:latin typeface="华文楷体"/>
                <a:cs typeface="华文楷体"/>
              </a:rPr>
              <a:t>D</a:t>
            </a:r>
            <a:r>
              <a:rPr sz="2625" spc="165" baseline="-11111" dirty="0">
                <a:latin typeface="华文楷体"/>
                <a:cs typeface="华文楷体"/>
              </a:rPr>
              <a:t>5</a:t>
            </a:r>
            <a:endParaRPr sz="2625" baseline="-11111">
              <a:latin typeface="华文楷体"/>
              <a:cs typeface="华文楷体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410336" y="3462236"/>
            <a:ext cx="469265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50" spc="110" dirty="0">
                <a:latin typeface="华文楷体"/>
                <a:cs typeface="华文楷体"/>
              </a:rPr>
              <a:t>D</a:t>
            </a:r>
            <a:r>
              <a:rPr sz="2625" spc="165" baseline="-11111" dirty="0">
                <a:latin typeface="华文楷体"/>
                <a:cs typeface="华文楷体"/>
              </a:rPr>
              <a:t>6</a:t>
            </a:r>
            <a:endParaRPr sz="2625" baseline="-11111">
              <a:latin typeface="华文楷体"/>
              <a:cs typeface="华文楷体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410336" y="3729720"/>
            <a:ext cx="469265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50" spc="110" dirty="0">
                <a:latin typeface="华文楷体"/>
                <a:cs typeface="华文楷体"/>
              </a:rPr>
              <a:t>D</a:t>
            </a:r>
            <a:r>
              <a:rPr sz="2625" spc="165" baseline="-11111" dirty="0">
                <a:latin typeface="华文楷体"/>
                <a:cs typeface="华文楷体"/>
              </a:rPr>
              <a:t>7</a:t>
            </a:r>
            <a:endParaRPr sz="2625" baseline="-11111">
              <a:latin typeface="华文楷体"/>
              <a:cs typeface="华文楷体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862721" y="2504009"/>
            <a:ext cx="791210" cy="198373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975" spc="187" baseline="7337" dirty="0">
                <a:latin typeface="华文楷体"/>
                <a:cs typeface="华文楷体"/>
              </a:rPr>
              <a:t>F</a:t>
            </a:r>
            <a:r>
              <a:rPr sz="1750" spc="125" dirty="0">
                <a:latin typeface="华文楷体"/>
                <a:cs typeface="华文楷体"/>
              </a:rPr>
              <a:t>C&lt;D</a:t>
            </a:r>
            <a:endParaRPr sz="1750">
              <a:latin typeface="华文楷体"/>
              <a:cs typeface="华文楷体"/>
            </a:endParaRPr>
          </a:p>
          <a:p>
            <a:pPr marL="38100" marR="30480">
              <a:lnSpc>
                <a:spcPct val="185400"/>
              </a:lnSpc>
              <a:spcBef>
                <a:spcPts val="420"/>
              </a:spcBef>
            </a:pPr>
            <a:r>
              <a:rPr sz="3975" spc="195" baseline="7337" dirty="0">
                <a:latin typeface="华文楷体"/>
                <a:cs typeface="华文楷体"/>
              </a:rPr>
              <a:t>F</a:t>
            </a:r>
            <a:r>
              <a:rPr sz="1750" spc="90" dirty="0">
                <a:latin typeface="华文楷体"/>
                <a:cs typeface="华文楷体"/>
              </a:rPr>
              <a:t>C=D  </a:t>
            </a:r>
            <a:r>
              <a:rPr sz="3975" spc="195" baseline="7337" dirty="0">
                <a:latin typeface="华文楷体"/>
                <a:cs typeface="华文楷体"/>
              </a:rPr>
              <a:t>F</a:t>
            </a:r>
            <a:r>
              <a:rPr sz="1750" spc="120" dirty="0">
                <a:latin typeface="华文楷体"/>
                <a:cs typeface="华文楷体"/>
              </a:rPr>
              <a:t>C&gt;D</a:t>
            </a:r>
            <a:endParaRPr sz="1750">
              <a:latin typeface="华文楷体"/>
              <a:cs typeface="华文楷体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913579" y="4524113"/>
            <a:ext cx="662940" cy="1270"/>
          </a:xfrm>
          <a:custGeom>
            <a:avLst/>
            <a:gdLst/>
            <a:ahLst/>
            <a:cxnLst/>
            <a:rect l="l" t="t" r="r" b="b"/>
            <a:pathLst>
              <a:path w="662940" h="1270">
                <a:moveTo>
                  <a:pt x="662438" y="0"/>
                </a:moveTo>
                <a:lnTo>
                  <a:pt x="0" y="715"/>
                </a:lnTo>
              </a:path>
            </a:pathLst>
          </a:custGeom>
          <a:ln w="40658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295430" y="4770589"/>
            <a:ext cx="280670" cy="41275"/>
          </a:xfrm>
          <a:custGeom>
            <a:avLst/>
            <a:gdLst/>
            <a:ahLst/>
            <a:cxnLst/>
            <a:rect l="l" t="t" r="r" b="b"/>
            <a:pathLst>
              <a:path w="280669" h="41275">
                <a:moveTo>
                  <a:pt x="0" y="40658"/>
                </a:moveTo>
                <a:lnTo>
                  <a:pt x="280587" y="40658"/>
                </a:lnTo>
                <a:lnTo>
                  <a:pt x="280587" y="0"/>
                </a:lnTo>
                <a:lnTo>
                  <a:pt x="0" y="0"/>
                </a:lnTo>
                <a:lnTo>
                  <a:pt x="0" y="406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913579" y="5057705"/>
            <a:ext cx="662940" cy="12065"/>
          </a:xfrm>
          <a:custGeom>
            <a:avLst/>
            <a:gdLst/>
            <a:ahLst/>
            <a:cxnLst/>
            <a:rect l="l" t="t" r="r" b="b"/>
            <a:pathLst>
              <a:path w="662940" h="12064">
                <a:moveTo>
                  <a:pt x="662438" y="0"/>
                </a:moveTo>
                <a:lnTo>
                  <a:pt x="0" y="11971"/>
                </a:lnTo>
              </a:path>
            </a:pathLst>
          </a:custGeom>
          <a:ln w="4065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295430" y="4770589"/>
            <a:ext cx="274955" cy="41275"/>
          </a:xfrm>
          <a:custGeom>
            <a:avLst/>
            <a:gdLst/>
            <a:ahLst/>
            <a:cxnLst/>
            <a:rect l="l" t="t" r="r" b="b"/>
            <a:pathLst>
              <a:path w="274955" h="41275">
                <a:moveTo>
                  <a:pt x="0" y="40658"/>
                </a:moveTo>
                <a:lnTo>
                  <a:pt x="274351" y="40658"/>
                </a:lnTo>
                <a:lnTo>
                  <a:pt x="274351" y="0"/>
                </a:lnTo>
                <a:lnTo>
                  <a:pt x="0" y="0"/>
                </a:lnTo>
                <a:lnTo>
                  <a:pt x="0" y="40658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13579" y="4524828"/>
            <a:ext cx="0" cy="1067435"/>
          </a:xfrm>
          <a:custGeom>
            <a:avLst/>
            <a:gdLst/>
            <a:ahLst/>
            <a:cxnLst/>
            <a:rect l="l" t="t" r="r" b="b"/>
            <a:pathLst>
              <a:path h="1067435">
                <a:moveTo>
                  <a:pt x="0" y="0"/>
                </a:moveTo>
                <a:lnTo>
                  <a:pt x="0" y="1067147"/>
                </a:lnTo>
              </a:path>
            </a:pathLst>
          </a:custGeom>
          <a:ln w="4276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63753" y="5639467"/>
            <a:ext cx="323215" cy="0"/>
          </a:xfrm>
          <a:custGeom>
            <a:avLst/>
            <a:gdLst/>
            <a:ahLst/>
            <a:cxnLst/>
            <a:rect l="l" t="t" r="r" b="b"/>
            <a:pathLst>
              <a:path w="323215">
                <a:moveTo>
                  <a:pt x="0" y="0"/>
                </a:moveTo>
                <a:lnTo>
                  <a:pt x="322676" y="0"/>
                </a:lnTo>
              </a:path>
            </a:pathLst>
          </a:custGeom>
          <a:ln w="40658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066820" y="4541022"/>
            <a:ext cx="193040" cy="4324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spc="70" dirty="0">
                <a:solidFill>
                  <a:srgbClr val="C00000"/>
                </a:solidFill>
                <a:latin typeface="华文楷体"/>
                <a:cs typeface="华文楷体"/>
              </a:rPr>
              <a:t>1</a:t>
            </a:r>
            <a:endParaRPr sz="2650">
              <a:latin typeface="华文楷体"/>
              <a:cs typeface="华文楷体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90</a:t>
            </a:r>
            <a:endParaRPr sz="1000">
              <a:latin typeface="Arial"/>
              <a:cs typeface="Arial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title"/>
          </p:nvPr>
        </p:nvSpPr>
        <p:spPr>
          <a:xfrm>
            <a:off x="477266" y="405460"/>
            <a:ext cx="87750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54405" algn="l"/>
                <a:tab pos="8761730" algn="l"/>
              </a:tabLst>
            </a:pPr>
            <a:r>
              <a:rPr sz="3200" u="heavy" dirty="0">
                <a:solidFill>
                  <a:srgbClr val="C00000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u="heavy" dirty="0">
                <a:solidFill>
                  <a:srgbClr val="C00000"/>
                </a:solidFill>
                <a:uFill>
                  <a:solidFill>
                    <a:srgbClr val="666699"/>
                  </a:solidFill>
                </a:uFill>
              </a:rPr>
              <a:t>用74LS</a:t>
            </a:r>
            <a:r>
              <a:rPr sz="3200" u="heavy" spc="-15" dirty="0">
                <a:solidFill>
                  <a:srgbClr val="C00000"/>
                </a:solidFill>
                <a:uFill>
                  <a:solidFill>
                    <a:srgbClr val="666699"/>
                  </a:solidFill>
                </a:uFill>
              </a:rPr>
              <a:t>8</a:t>
            </a:r>
            <a:r>
              <a:rPr sz="3200" u="heavy" dirty="0">
                <a:solidFill>
                  <a:srgbClr val="C00000"/>
                </a:solidFill>
                <a:uFill>
                  <a:solidFill>
                    <a:srgbClr val="666699"/>
                  </a:solidFill>
                </a:uFill>
              </a:rPr>
              <a:t>5实现</a:t>
            </a:r>
            <a:r>
              <a:rPr sz="3200" u="heavy" dirty="0">
                <a:solidFill>
                  <a:srgbClr val="C00000"/>
                </a:solidFill>
                <a:highlight>
                  <a:srgbClr val="FFFF00"/>
                </a:highlight>
                <a:uFill>
                  <a:solidFill>
                    <a:srgbClr val="666699"/>
                  </a:solidFill>
                </a:uFill>
              </a:rPr>
              <a:t>8位二进制数的比较</a:t>
            </a:r>
            <a:r>
              <a:rPr sz="3200" u="heavy" spc="-15" dirty="0">
                <a:solidFill>
                  <a:srgbClr val="C00000"/>
                </a:solidFill>
                <a:highlight>
                  <a:srgbClr val="FFFF00"/>
                </a:highlight>
                <a:uFill>
                  <a:solidFill>
                    <a:srgbClr val="666699"/>
                  </a:solidFill>
                </a:uFill>
              </a:rPr>
              <a:t>（</a:t>
            </a:r>
            <a:r>
              <a:rPr sz="3200" u="heavy" dirty="0">
                <a:solidFill>
                  <a:srgbClr val="C00000"/>
                </a:solidFill>
                <a:highlight>
                  <a:srgbClr val="FFFF00"/>
                </a:highlight>
                <a:uFill>
                  <a:solidFill>
                    <a:srgbClr val="666699"/>
                  </a:solidFill>
                </a:uFill>
              </a:rPr>
              <a:t>级联</a:t>
            </a:r>
            <a:r>
              <a:rPr sz="3200" u="heavy" spc="5" dirty="0">
                <a:solidFill>
                  <a:srgbClr val="C00000"/>
                </a:solidFill>
                <a:highlight>
                  <a:srgbClr val="FFFF00"/>
                </a:highlight>
                <a:uFill>
                  <a:solidFill>
                    <a:srgbClr val="666699"/>
                  </a:solidFill>
                </a:uFill>
              </a:rPr>
              <a:t>）</a:t>
            </a:r>
            <a:r>
              <a:rPr sz="3200" u="heavy" dirty="0">
                <a:solidFill>
                  <a:srgbClr val="C00000"/>
                </a:solidFill>
                <a:highlight>
                  <a:srgbClr val="FFFF00"/>
                </a:highlight>
                <a:uFill>
                  <a:solidFill>
                    <a:srgbClr val="666699"/>
                  </a:solidFill>
                </a:uFill>
              </a:rPr>
              <a:t>	</a:t>
            </a:r>
            <a:endParaRPr sz="3200" dirty="0">
              <a:highlight>
                <a:srgbClr val="FFFF00"/>
              </a:highlight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016318" y="1825121"/>
            <a:ext cx="120650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786765" algn="l"/>
              </a:tabLst>
            </a:pPr>
            <a:r>
              <a:rPr sz="2650" spc="95" dirty="0">
                <a:latin typeface="华文楷体"/>
                <a:cs typeface="华文楷体"/>
              </a:rPr>
              <a:t>C</a:t>
            </a:r>
            <a:r>
              <a:rPr sz="2625" spc="142" baseline="-11111" dirty="0">
                <a:latin typeface="华文楷体"/>
                <a:cs typeface="华文楷体"/>
              </a:rPr>
              <a:t>0	</a:t>
            </a:r>
            <a:r>
              <a:rPr sz="2650" spc="140" dirty="0">
                <a:latin typeface="华文楷体"/>
                <a:cs typeface="华文楷体"/>
              </a:rPr>
              <a:t>A</a:t>
            </a:r>
            <a:r>
              <a:rPr sz="2625" spc="209" baseline="-11111" dirty="0">
                <a:latin typeface="华文楷体"/>
                <a:cs typeface="华文楷体"/>
              </a:rPr>
              <a:t>0</a:t>
            </a:r>
            <a:endParaRPr sz="2625" baseline="-11111">
              <a:latin typeface="华文楷体"/>
              <a:cs typeface="华文楷体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29018" y="2081389"/>
            <a:ext cx="419734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50" spc="95" dirty="0">
                <a:latin typeface="华文楷体"/>
                <a:cs typeface="华文楷体"/>
              </a:rPr>
              <a:t>C</a:t>
            </a:r>
            <a:r>
              <a:rPr sz="2625" spc="142" baseline="-11111" dirty="0">
                <a:latin typeface="华文楷体"/>
                <a:cs typeface="华文楷体"/>
              </a:rPr>
              <a:t>1</a:t>
            </a:r>
            <a:endParaRPr sz="2625" baseline="-11111">
              <a:latin typeface="华文楷体"/>
              <a:cs typeface="华文楷体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029018" y="2349175"/>
            <a:ext cx="419734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50" spc="95" dirty="0">
                <a:latin typeface="华文楷体"/>
                <a:cs typeface="华文楷体"/>
              </a:rPr>
              <a:t>C</a:t>
            </a:r>
            <a:r>
              <a:rPr sz="2625" spc="142" baseline="-11111" dirty="0">
                <a:latin typeface="华文楷体"/>
                <a:cs typeface="华文楷体"/>
              </a:rPr>
              <a:t>2</a:t>
            </a:r>
            <a:endParaRPr sz="2625" baseline="-11111">
              <a:latin typeface="华文楷体"/>
              <a:cs typeface="华文楷体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029018" y="2616961"/>
            <a:ext cx="419734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50" spc="95" dirty="0">
                <a:latin typeface="华文楷体"/>
                <a:cs typeface="华文楷体"/>
              </a:rPr>
              <a:t>C</a:t>
            </a:r>
            <a:r>
              <a:rPr sz="2625" spc="142" baseline="-11111" dirty="0">
                <a:latin typeface="华文楷体"/>
                <a:cs typeface="华文楷体"/>
              </a:rPr>
              <a:t>3</a:t>
            </a:r>
            <a:endParaRPr sz="2625" baseline="-11111">
              <a:latin typeface="华文楷体"/>
              <a:cs typeface="华文楷体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018427" y="2965084"/>
            <a:ext cx="469265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50" spc="110" dirty="0">
                <a:latin typeface="华文楷体"/>
                <a:cs typeface="华文楷体"/>
              </a:rPr>
              <a:t>D</a:t>
            </a:r>
            <a:r>
              <a:rPr sz="2625" spc="165" baseline="-11111" dirty="0">
                <a:latin typeface="华文楷体"/>
                <a:cs typeface="华文楷体"/>
              </a:rPr>
              <a:t>0</a:t>
            </a:r>
            <a:endParaRPr sz="2625" baseline="-11111">
              <a:latin typeface="华文楷体"/>
              <a:cs typeface="华文楷体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005727" y="3218635"/>
            <a:ext cx="1205865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808990" algn="l"/>
              </a:tabLst>
            </a:pPr>
            <a:r>
              <a:rPr sz="2650" spc="110" dirty="0">
                <a:latin typeface="华文楷体"/>
                <a:cs typeface="华文楷体"/>
              </a:rPr>
              <a:t>D</a:t>
            </a:r>
            <a:r>
              <a:rPr sz="2625" spc="165" baseline="-11111" dirty="0">
                <a:latin typeface="华文楷体"/>
                <a:cs typeface="华文楷体"/>
              </a:rPr>
              <a:t>1	</a:t>
            </a:r>
            <a:r>
              <a:rPr sz="2650" spc="130" dirty="0">
                <a:latin typeface="华文楷体"/>
                <a:cs typeface="华文楷体"/>
              </a:rPr>
              <a:t>B</a:t>
            </a:r>
            <a:r>
              <a:rPr sz="2625" spc="195" baseline="-12698" dirty="0">
                <a:latin typeface="华文楷体"/>
                <a:cs typeface="华文楷体"/>
              </a:rPr>
              <a:t>1</a:t>
            </a:r>
            <a:endParaRPr sz="2625" baseline="-12698">
              <a:latin typeface="华文楷体"/>
              <a:cs typeface="华文楷体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005727" y="3486952"/>
            <a:ext cx="1205865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808990" algn="l"/>
              </a:tabLst>
            </a:pPr>
            <a:r>
              <a:rPr sz="2650" spc="110" dirty="0">
                <a:latin typeface="华文楷体"/>
                <a:cs typeface="华文楷体"/>
              </a:rPr>
              <a:t>D</a:t>
            </a:r>
            <a:r>
              <a:rPr sz="2625" spc="165" baseline="-11111" dirty="0">
                <a:latin typeface="华文楷体"/>
                <a:cs typeface="华文楷体"/>
              </a:rPr>
              <a:t>2	</a:t>
            </a:r>
            <a:r>
              <a:rPr sz="2650" spc="130" dirty="0">
                <a:latin typeface="华文楷体"/>
                <a:cs typeface="华文楷体"/>
              </a:rPr>
              <a:t>B</a:t>
            </a:r>
            <a:r>
              <a:rPr sz="2625" spc="195" baseline="-12698" dirty="0">
                <a:latin typeface="华文楷体"/>
                <a:cs typeface="华文楷体"/>
              </a:rPr>
              <a:t>2</a:t>
            </a:r>
            <a:endParaRPr sz="2625" baseline="-12698">
              <a:latin typeface="华文楷体"/>
              <a:cs typeface="华文楷体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005727" y="3755175"/>
            <a:ext cx="1205865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808990" algn="l"/>
              </a:tabLst>
            </a:pPr>
            <a:r>
              <a:rPr sz="2650" spc="110" dirty="0">
                <a:latin typeface="华文楷体"/>
                <a:cs typeface="华文楷体"/>
              </a:rPr>
              <a:t>D</a:t>
            </a:r>
            <a:r>
              <a:rPr sz="2625" spc="165" baseline="-11111" dirty="0">
                <a:latin typeface="华文楷体"/>
                <a:cs typeface="华文楷体"/>
              </a:rPr>
              <a:t>3	</a:t>
            </a:r>
            <a:r>
              <a:rPr sz="2650" spc="130" dirty="0">
                <a:latin typeface="华文楷体"/>
                <a:cs typeface="华文楷体"/>
              </a:rPr>
              <a:t>B</a:t>
            </a:r>
            <a:r>
              <a:rPr sz="2625" spc="195" baseline="-12698" dirty="0">
                <a:latin typeface="华文楷体"/>
                <a:cs typeface="华文楷体"/>
              </a:rPr>
              <a:t>3</a:t>
            </a:r>
            <a:endParaRPr sz="2625" baseline="-12698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4040" y="336880"/>
            <a:ext cx="86779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64575" algn="l"/>
              </a:tabLst>
            </a:pPr>
            <a:r>
              <a:rPr u="heavy" dirty="0">
                <a:solidFill>
                  <a:srgbClr val="666699"/>
                </a:solidFill>
                <a:uFill>
                  <a:solidFill>
                    <a:srgbClr val="666699"/>
                  </a:solidFill>
                </a:uFill>
              </a:rPr>
              <a:t>用数据选择器设计组合电路	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4040" y="1211072"/>
            <a:ext cx="5797550" cy="2868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微软雅黑"/>
                <a:cs typeface="微软雅黑"/>
              </a:rPr>
              <a:t>用数据选择器实现逻辑函数</a:t>
            </a:r>
            <a:endParaRPr sz="2800">
              <a:latin typeface="微软雅黑"/>
              <a:cs typeface="微软雅黑"/>
            </a:endParaRPr>
          </a:p>
          <a:p>
            <a:pPr marL="12700" marR="2225040">
              <a:lnSpc>
                <a:spcPts val="6350"/>
              </a:lnSpc>
              <a:spcBef>
                <a:spcPts val="700"/>
              </a:spcBef>
            </a:pPr>
            <a:r>
              <a:rPr sz="2800" spc="-5" dirty="0">
                <a:solidFill>
                  <a:srgbClr val="7E4D00"/>
                </a:solidFill>
                <a:latin typeface="微软雅黑"/>
                <a:cs typeface="微软雅黑"/>
              </a:rPr>
              <a:t>例</a:t>
            </a:r>
            <a:r>
              <a:rPr sz="2800" spc="-10" dirty="0">
                <a:solidFill>
                  <a:srgbClr val="7E4D00"/>
                </a:solidFill>
                <a:latin typeface="微软雅黑"/>
                <a:cs typeface="微软雅黑"/>
              </a:rPr>
              <a:t>：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设计三人表决电路 解：</a:t>
            </a:r>
            <a:endParaRPr sz="2800">
              <a:latin typeface="华文楷体"/>
              <a:cs typeface="华文楷体"/>
            </a:endParaRPr>
          </a:p>
          <a:p>
            <a:pPr marL="812800">
              <a:lnSpc>
                <a:spcPct val="100000"/>
              </a:lnSpc>
              <a:spcBef>
                <a:spcPts val="226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通过真值表，得到逻辑表达式：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77000" y="5189590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>
                <a:moveTo>
                  <a:pt x="0" y="0"/>
                </a:moveTo>
                <a:lnTo>
                  <a:pt x="301774" y="0"/>
                </a:lnTo>
              </a:path>
            </a:pathLst>
          </a:custGeom>
          <a:ln w="2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41814" y="5189590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>
                <a:moveTo>
                  <a:pt x="0" y="0"/>
                </a:moveTo>
                <a:lnTo>
                  <a:pt x="301774" y="0"/>
                </a:lnTo>
              </a:path>
            </a:pathLst>
          </a:custGeom>
          <a:ln w="2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98473" y="5189590"/>
            <a:ext cx="318135" cy="0"/>
          </a:xfrm>
          <a:custGeom>
            <a:avLst/>
            <a:gdLst/>
            <a:ahLst/>
            <a:cxnLst/>
            <a:rect l="l" t="t" r="r" b="b"/>
            <a:pathLst>
              <a:path w="318134">
                <a:moveTo>
                  <a:pt x="0" y="0"/>
                </a:moveTo>
                <a:lnTo>
                  <a:pt x="317917" y="0"/>
                </a:lnTo>
              </a:path>
            </a:pathLst>
          </a:custGeom>
          <a:ln w="22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05791" y="5146302"/>
            <a:ext cx="6158230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50" i="1" spc="220" dirty="0">
                <a:latin typeface="Times New Roman"/>
                <a:cs typeface="Times New Roman"/>
              </a:rPr>
              <a:t>F </a:t>
            </a:r>
            <a:r>
              <a:rPr sz="3550" spc="195" dirty="0">
                <a:latin typeface="Symbol"/>
                <a:cs typeface="Symbol"/>
              </a:rPr>
              <a:t></a:t>
            </a:r>
            <a:r>
              <a:rPr sz="3550" spc="195" dirty="0">
                <a:latin typeface="Times New Roman"/>
                <a:cs typeface="Times New Roman"/>
              </a:rPr>
              <a:t> </a:t>
            </a:r>
            <a:r>
              <a:rPr sz="3550" i="1" spc="155" dirty="0">
                <a:latin typeface="Times New Roman"/>
                <a:cs typeface="Times New Roman"/>
              </a:rPr>
              <a:t>ABC </a:t>
            </a:r>
            <a:r>
              <a:rPr sz="3550" spc="195" dirty="0">
                <a:latin typeface="Symbol"/>
                <a:cs typeface="Symbol"/>
              </a:rPr>
              <a:t></a:t>
            </a:r>
            <a:r>
              <a:rPr sz="3550" spc="195" dirty="0">
                <a:latin typeface="Times New Roman"/>
                <a:cs typeface="Times New Roman"/>
              </a:rPr>
              <a:t> </a:t>
            </a:r>
            <a:r>
              <a:rPr sz="3550" i="1" spc="175" dirty="0">
                <a:latin typeface="Times New Roman"/>
                <a:cs typeface="Times New Roman"/>
              </a:rPr>
              <a:t>ABC </a:t>
            </a:r>
            <a:r>
              <a:rPr sz="3550" spc="195" dirty="0">
                <a:latin typeface="Symbol"/>
                <a:cs typeface="Symbol"/>
              </a:rPr>
              <a:t></a:t>
            </a:r>
            <a:r>
              <a:rPr sz="3550" spc="195" dirty="0">
                <a:latin typeface="Times New Roman"/>
                <a:cs typeface="Times New Roman"/>
              </a:rPr>
              <a:t> </a:t>
            </a:r>
            <a:r>
              <a:rPr sz="3550" i="1" spc="235" dirty="0">
                <a:latin typeface="Times New Roman"/>
                <a:cs typeface="Times New Roman"/>
              </a:rPr>
              <a:t>ABC </a:t>
            </a:r>
            <a:r>
              <a:rPr sz="3550" spc="195" dirty="0">
                <a:latin typeface="Symbol"/>
                <a:cs typeface="Symbol"/>
              </a:rPr>
              <a:t></a:t>
            </a:r>
            <a:r>
              <a:rPr sz="3550" spc="-455" dirty="0">
                <a:latin typeface="Times New Roman"/>
                <a:cs typeface="Times New Roman"/>
              </a:rPr>
              <a:t> </a:t>
            </a:r>
            <a:r>
              <a:rPr sz="3550" i="1" spc="215" dirty="0">
                <a:latin typeface="Times New Roman"/>
                <a:cs typeface="Times New Roman"/>
              </a:rPr>
              <a:t>ABC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93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394" y="1211072"/>
            <a:ext cx="7107555" cy="1256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用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3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个控制端的选择器实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现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3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变量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组合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电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路。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980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写出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8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选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数据选择器的逻辑式：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4836" y="332231"/>
            <a:ext cx="5215255" cy="612775"/>
          </a:xfrm>
          <a:prstGeom prst="rect">
            <a:avLst/>
          </a:prstGeom>
          <a:solidFill>
            <a:srgbClr val="FFC9AA"/>
          </a:solidFill>
        </p:spPr>
        <p:txBody>
          <a:bodyPr vert="horz" wrap="square" lIns="0" tIns="1066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840"/>
              </a:spcBef>
            </a:pPr>
            <a:r>
              <a:rPr sz="2800" spc="-5" dirty="0">
                <a:solidFill>
                  <a:srgbClr val="C00000"/>
                </a:solidFill>
                <a:latin typeface="华文楷体"/>
                <a:cs typeface="华文楷体"/>
              </a:rPr>
              <a:t>方法一：选用</a:t>
            </a:r>
            <a:r>
              <a:rPr sz="2800" spc="-10" dirty="0">
                <a:solidFill>
                  <a:srgbClr val="C00000"/>
                </a:solidFill>
                <a:latin typeface="华文楷体"/>
                <a:cs typeface="华文楷体"/>
              </a:rPr>
              <a:t>8</a:t>
            </a:r>
            <a:r>
              <a:rPr sz="2800" spc="-5" dirty="0">
                <a:solidFill>
                  <a:srgbClr val="C00000"/>
                </a:solidFill>
                <a:latin typeface="华文楷体"/>
                <a:cs typeface="华文楷体"/>
              </a:rPr>
              <a:t>选</a:t>
            </a:r>
            <a:r>
              <a:rPr sz="2800" spc="-10" dirty="0">
                <a:solidFill>
                  <a:srgbClr val="C00000"/>
                </a:solidFill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C00000"/>
                </a:solidFill>
                <a:latin typeface="华文楷体"/>
                <a:cs typeface="华文楷体"/>
              </a:rPr>
              <a:t>数据选择器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84768" y="4149276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4">
                <a:moveTo>
                  <a:pt x="0" y="0"/>
                </a:moveTo>
                <a:lnTo>
                  <a:pt x="232725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15778" y="4149276"/>
            <a:ext cx="232410" cy="0"/>
          </a:xfrm>
          <a:custGeom>
            <a:avLst/>
            <a:gdLst/>
            <a:ahLst/>
            <a:cxnLst/>
            <a:rect l="l" t="t" r="r" b="b"/>
            <a:pathLst>
              <a:path w="232410">
                <a:moveTo>
                  <a:pt x="0" y="0"/>
                </a:moveTo>
                <a:lnTo>
                  <a:pt x="231965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03896" y="4149276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4">
                <a:moveTo>
                  <a:pt x="0" y="0"/>
                </a:moveTo>
                <a:lnTo>
                  <a:pt x="232725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69833" y="4149276"/>
            <a:ext cx="232410" cy="0"/>
          </a:xfrm>
          <a:custGeom>
            <a:avLst/>
            <a:gdLst/>
            <a:ahLst/>
            <a:cxnLst/>
            <a:rect l="l" t="t" r="r" b="b"/>
            <a:pathLst>
              <a:path w="232410">
                <a:moveTo>
                  <a:pt x="0" y="0"/>
                </a:moveTo>
                <a:lnTo>
                  <a:pt x="231965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00083" y="4149276"/>
            <a:ext cx="232410" cy="0"/>
          </a:xfrm>
          <a:custGeom>
            <a:avLst/>
            <a:gdLst/>
            <a:ahLst/>
            <a:cxnLst/>
            <a:rect l="l" t="t" r="r" b="b"/>
            <a:pathLst>
              <a:path w="232410">
                <a:moveTo>
                  <a:pt x="0" y="0"/>
                </a:moveTo>
                <a:lnTo>
                  <a:pt x="232028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53982" y="4149276"/>
            <a:ext cx="231775" cy="0"/>
          </a:xfrm>
          <a:custGeom>
            <a:avLst/>
            <a:gdLst/>
            <a:ahLst/>
            <a:cxnLst/>
            <a:rect l="l" t="t" r="r" b="b"/>
            <a:pathLst>
              <a:path w="231775">
                <a:moveTo>
                  <a:pt x="0" y="0"/>
                </a:moveTo>
                <a:lnTo>
                  <a:pt x="231712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10211" y="4149276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2028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79852" y="4149276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2028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51856" y="4754121"/>
            <a:ext cx="232410" cy="0"/>
          </a:xfrm>
          <a:custGeom>
            <a:avLst/>
            <a:gdLst/>
            <a:ahLst/>
            <a:cxnLst/>
            <a:rect l="l" t="t" r="r" b="b"/>
            <a:pathLst>
              <a:path w="232410">
                <a:moveTo>
                  <a:pt x="0" y="0"/>
                </a:moveTo>
                <a:lnTo>
                  <a:pt x="231965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40733" y="4754121"/>
            <a:ext cx="232410" cy="0"/>
          </a:xfrm>
          <a:custGeom>
            <a:avLst/>
            <a:gdLst/>
            <a:ahLst/>
            <a:cxnLst/>
            <a:rect l="l" t="t" r="r" b="b"/>
            <a:pathLst>
              <a:path w="232410">
                <a:moveTo>
                  <a:pt x="0" y="0"/>
                </a:moveTo>
                <a:lnTo>
                  <a:pt x="231965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07133" y="4754121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5">
                <a:moveTo>
                  <a:pt x="0" y="0"/>
                </a:moveTo>
                <a:lnTo>
                  <a:pt x="232661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17262" y="4754121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2028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61357" y="3930894"/>
            <a:ext cx="8312784" cy="123698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560"/>
              </a:spcBef>
            </a:pPr>
            <a:r>
              <a:rPr sz="2750" i="1" spc="185" dirty="0">
                <a:latin typeface="Times New Roman"/>
                <a:cs typeface="Times New Roman"/>
              </a:rPr>
              <a:t>F</a:t>
            </a:r>
            <a:r>
              <a:rPr sz="2750" i="1" spc="250" dirty="0">
                <a:latin typeface="Times New Roman"/>
                <a:cs typeface="Times New Roman"/>
              </a:rPr>
              <a:t> </a:t>
            </a:r>
            <a:r>
              <a:rPr sz="2750" spc="165" dirty="0">
                <a:latin typeface="Symbol"/>
                <a:cs typeface="Symbol"/>
              </a:rPr>
              <a:t></a:t>
            </a:r>
            <a:r>
              <a:rPr sz="2750" spc="215" dirty="0">
                <a:latin typeface="Times New Roman"/>
                <a:cs typeface="Times New Roman"/>
              </a:rPr>
              <a:t> </a:t>
            </a:r>
            <a:r>
              <a:rPr sz="2750" i="1" spc="150" dirty="0">
                <a:latin typeface="Times New Roman"/>
                <a:cs typeface="Times New Roman"/>
              </a:rPr>
              <a:t>A</a:t>
            </a:r>
            <a:r>
              <a:rPr sz="2400" spc="225" baseline="-5208" dirty="0">
                <a:latin typeface="Times New Roman"/>
                <a:cs typeface="Times New Roman"/>
              </a:rPr>
              <a:t>2</a:t>
            </a:r>
            <a:r>
              <a:rPr sz="2400" spc="300" baseline="-5208" dirty="0">
                <a:latin typeface="Times New Roman"/>
                <a:cs typeface="Times New Roman"/>
              </a:rPr>
              <a:t> </a:t>
            </a:r>
            <a:r>
              <a:rPr sz="2750" i="1" spc="50" dirty="0">
                <a:latin typeface="Times New Roman"/>
                <a:cs typeface="Times New Roman"/>
              </a:rPr>
              <a:t>A</a:t>
            </a:r>
            <a:r>
              <a:rPr sz="2400" spc="75" baseline="-5208" dirty="0">
                <a:latin typeface="Times New Roman"/>
                <a:cs typeface="Times New Roman"/>
              </a:rPr>
              <a:t>1</a:t>
            </a:r>
            <a:r>
              <a:rPr sz="2400" spc="112" baseline="-5208" dirty="0">
                <a:latin typeface="Times New Roman"/>
                <a:cs typeface="Times New Roman"/>
              </a:rPr>
              <a:t> </a:t>
            </a:r>
            <a:r>
              <a:rPr sz="2750" i="1" spc="135" dirty="0">
                <a:latin typeface="Times New Roman"/>
                <a:cs typeface="Times New Roman"/>
              </a:rPr>
              <a:t>A</a:t>
            </a:r>
            <a:r>
              <a:rPr sz="2400" spc="202" baseline="-5208" dirty="0">
                <a:latin typeface="Times New Roman"/>
                <a:cs typeface="Times New Roman"/>
              </a:rPr>
              <a:t>0</a:t>
            </a:r>
            <a:r>
              <a:rPr sz="2400" spc="-270" baseline="-5208" dirty="0">
                <a:latin typeface="Times New Roman"/>
                <a:cs typeface="Times New Roman"/>
              </a:rPr>
              <a:t> </a:t>
            </a:r>
            <a:r>
              <a:rPr sz="2750" i="1" spc="90" dirty="0">
                <a:latin typeface="Times New Roman"/>
                <a:cs typeface="Times New Roman"/>
              </a:rPr>
              <a:t>D</a:t>
            </a:r>
            <a:r>
              <a:rPr sz="2400" spc="135" baseline="-24305" dirty="0">
                <a:latin typeface="Times New Roman"/>
                <a:cs typeface="Times New Roman"/>
              </a:rPr>
              <a:t>0</a:t>
            </a:r>
            <a:r>
              <a:rPr sz="2400" spc="577" baseline="-24305" dirty="0">
                <a:latin typeface="Times New Roman"/>
                <a:cs typeface="Times New Roman"/>
              </a:rPr>
              <a:t> </a:t>
            </a: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i="1" spc="150" dirty="0">
                <a:latin typeface="Times New Roman"/>
                <a:cs typeface="Times New Roman"/>
              </a:rPr>
              <a:t>A</a:t>
            </a:r>
            <a:r>
              <a:rPr sz="2400" spc="225" baseline="-5208" dirty="0">
                <a:latin typeface="Times New Roman"/>
                <a:cs typeface="Times New Roman"/>
              </a:rPr>
              <a:t>2</a:t>
            </a:r>
            <a:r>
              <a:rPr sz="2400" spc="307" baseline="-5208" dirty="0">
                <a:latin typeface="Times New Roman"/>
                <a:cs typeface="Times New Roman"/>
              </a:rPr>
              <a:t> </a:t>
            </a:r>
            <a:r>
              <a:rPr sz="2750" i="1" spc="50" dirty="0">
                <a:latin typeface="Times New Roman"/>
                <a:cs typeface="Times New Roman"/>
              </a:rPr>
              <a:t>A</a:t>
            </a:r>
            <a:r>
              <a:rPr sz="2400" spc="75" baseline="-5208" dirty="0">
                <a:latin typeface="Times New Roman"/>
                <a:cs typeface="Times New Roman"/>
              </a:rPr>
              <a:t>1</a:t>
            </a:r>
            <a:r>
              <a:rPr sz="2400" spc="-254" baseline="-5208" dirty="0">
                <a:latin typeface="Times New Roman"/>
                <a:cs typeface="Times New Roman"/>
              </a:rPr>
              <a:t> </a:t>
            </a:r>
            <a:r>
              <a:rPr sz="2750" i="1" spc="5" dirty="0">
                <a:latin typeface="Times New Roman"/>
                <a:cs typeface="Times New Roman"/>
              </a:rPr>
              <a:t>A</a:t>
            </a:r>
            <a:r>
              <a:rPr sz="2400" spc="7" baseline="-24305" dirty="0">
                <a:latin typeface="Times New Roman"/>
                <a:cs typeface="Times New Roman"/>
              </a:rPr>
              <a:t>0</a:t>
            </a:r>
            <a:r>
              <a:rPr sz="2400" spc="-270" baseline="-24305" dirty="0">
                <a:latin typeface="Times New Roman"/>
                <a:cs typeface="Times New Roman"/>
              </a:rPr>
              <a:t> </a:t>
            </a:r>
            <a:r>
              <a:rPr sz="2750" i="1" spc="5" dirty="0">
                <a:latin typeface="Times New Roman"/>
                <a:cs typeface="Times New Roman"/>
              </a:rPr>
              <a:t>D</a:t>
            </a:r>
            <a:r>
              <a:rPr sz="2400" spc="7" baseline="-24305" dirty="0">
                <a:latin typeface="Times New Roman"/>
                <a:cs typeface="Times New Roman"/>
              </a:rPr>
              <a:t>1</a:t>
            </a:r>
            <a:r>
              <a:rPr sz="2400" spc="382" baseline="-24305" dirty="0">
                <a:latin typeface="Times New Roman"/>
                <a:cs typeface="Times New Roman"/>
              </a:rPr>
              <a:t> </a:t>
            </a: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i="1" spc="150" dirty="0">
                <a:latin typeface="Times New Roman"/>
                <a:cs typeface="Times New Roman"/>
              </a:rPr>
              <a:t>A</a:t>
            </a:r>
            <a:r>
              <a:rPr sz="2400" spc="225" baseline="-5208" dirty="0">
                <a:latin typeface="Times New Roman"/>
                <a:cs typeface="Times New Roman"/>
              </a:rPr>
              <a:t>2</a:t>
            </a:r>
            <a:r>
              <a:rPr sz="2400" spc="-52" baseline="-5208" dirty="0">
                <a:latin typeface="Times New Roman"/>
                <a:cs typeface="Times New Roman"/>
              </a:rPr>
              <a:t> </a:t>
            </a:r>
            <a:r>
              <a:rPr sz="2750" i="1" spc="-75" dirty="0">
                <a:latin typeface="Times New Roman"/>
                <a:cs typeface="Times New Roman"/>
              </a:rPr>
              <a:t>A</a:t>
            </a:r>
            <a:r>
              <a:rPr sz="2400" spc="-112" baseline="-24305" dirty="0">
                <a:latin typeface="Times New Roman"/>
                <a:cs typeface="Times New Roman"/>
              </a:rPr>
              <a:t>1</a:t>
            </a:r>
            <a:r>
              <a:rPr sz="2400" spc="89" baseline="-24305" dirty="0">
                <a:latin typeface="Times New Roman"/>
                <a:cs typeface="Times New Roman"/>
              </a:rPr>
              <a:t> </a:t>
            </a:r>
            <a:r>
              <a:rPr sz="2750" i="1" spc="135" dirty="0">
                <a:latin typeface="Times New Roman"/>
                <a:cs typeface="Times New Roman"/>
              </a:rPr>
              <a:t>A</a:t>
            </a:r>
            <a:r>
              <a:rPr sz="2400" spc="202" baseline="-5208" dirty="0">
                <a:latin typeface="Times New Roman"/>
                <a:cs typeface="Times New Roman"/>
              </a:rPr>
              <a:t>0</a:t>
            </a:r>
            <a:r>
              <a:rPr sz="2400" spc="-270" baseline="-5208" dirty="0">
                <a:latin typeface="Times New Roman"/>
                <a:cs typeface="Times New Roman"/>
              </a:rPr>
              <a:t> </a:t>
            </a:r>
            <a:r>
              <a:rPr sz="2750" i="1" spc="105" dirty="0">
                <a:latin typeface="Times New Roman"/>
                <a:cs typeface="Times New Roman"/>
              </a:rPr>
              <a:t>D</a:t>
            </a:r>
            <a:r>
              <a:rPr sz="2400" spc="157" baseline="-24305" dirty="0">
                <a:latin typeface="Times New Roman"/>
                <a:cs typeface="Times New Roman"/>
              </a:rPr>
              <a:t>2</a:t>
            </a:r>
            <a:r>
              <a:rPr sz="2400" spc="577" baseline="-24305" dirty="0">
                <a:latin typeface="Times New Roman"/>
                <a:cs typeface="Times New Roman"/>
              </a:rPr>
              <a:t> </a:t>
            </a: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i="1" spc="150" dirty="0">
                <a:latin typeface="Times New Roman"/>
                <a:cs typeface="Times New Roman"/>
              </a:rPr>
              <a:t>A</a:t>
            </a:r>
            <a:r>
              <a:rPr sz="2400" spc="225" baseline="-5208" dirty="0">
                <a:latin typeface="Times New Roman"/>
                <a:cs typeface="Times New Roman"/>
              </a:rPr>
              <a:t>2</a:t>
            </a:r>
            <a:r>
              <a:rPr sz="2400" spc="-52" baseline="-5208" dirty="0">
                <a:latin typeface="Times New Roman"/>
                <a:cs typeface="Times New Roman"/>
              </a:rPr>
              <a:t> </a:t>
            </a:r>
            <a:r>
              <a:rPr sz="2750" i="1" spc="-75" dirty="0">
                <a:latin typeface="Times New Roman"/>
                <a:cs typeface="Times New Roman"/>
              </a:rPr>
              <a:t>A</a:t>
            </a:r>
            <a:r>
              <a:rPr sz="2400" spc="-112" baseline="-24305" dirty="0">
                <a:latin typeface="Times New Roman"/>
                <a:cs typeface="Times New Roman"/>
              </a:rPr>
              <a:t>1</a:t>
            </a:r>
            <a:r>
              <a:rPr sz="2400" spc="-262" baseline="-24305" dirty="0">
                <a:latin typeface="Times New Roman"/>
                <a:cs typeface="Times New Roman"/>
              </a:rPr>
              <a:t> </a:t>
            </a:r>
            <a:r>
              <a:rPr sz="2750" i="1" spc="5" dirty="0">
                <a:latin typeface="Times New Roman"/>
                <a:cs typeface="Times New Roman"/>
              </a:rPr>
              <a:t>A</a:t>
            </a:r>
            <a:r>
              <a:rPr sz="2400" spc="7" baseline="-24305" dirty="0">
                <a:latin typeface="Times New Roman"/>
                <a:cs typeface="Times New Roman"/>
              </a:rPr>
              <a:t>0</a:t>
            </a:r>
            <a:r>
              <a:rPr sz="2400" spc="-270" baseline="-24305" dirty="0">
                <a:latin typeface="Times New Roman"/>
                <a:cs typeface="Times New Roman"/>
              </a:rPr>
              <a:t> </a:t>
            </a:r>
            <a:r>
              <a:rPr sz="2750" i="1" spc="75" dirty="0">
                <a:latin typeface="Times New Roman"/>
                <a:cs typeface="Times New Roman"/>
              </a:rPr>
              <a:t>D</a:t>
            </a:r>
            <a:r>
              <a:rPr sz="2400" spc="112" baseline="-24305" dirty="0">
                <a:latin typeface="Times New Roman"/>
                <a:cs typeface="Times New Roman"/>
              </a:rPr>
              <a:t>3</a:t>
            </a:r>
            <a:endParaRPr sz="2400" baseline="-24305">
              <a:latin typeface="Times New Roman"/>
              <a:cs typeface="Times New Roman"/>
            </a:endParaRPr>
          </a:p>
          <a:p>
            <a:pPr marL="806450">
              <a:lnSpc>
                <a:spcPct val="100000"/>
              </a:lnSpc>
              <a:spcBef>
                <a:spcPts val="1470"/>
              </a:spcBef>
            </a:pP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165" dirty="0">
                <a:latin typeface="Times New Roman"/>
                <a:cs typeface="Times New Roman"/>
              </a:rPr>
              <a:t> </a:t>
            </a:r>
            <a:r>
              <a:rPr sz="2750" i="1" spc="20" dirty="0">
                <a:latin typeface="Times New Roman"/>
                <a:cs typeface="Times New Roman"/>
              </a:rPr>
              <a:t>A</a:t>
            </a:r>
            <a:r>
              <a:rPr sz="2400" spc="30" baseline="-24305" dirty="0">
                <a:latin typeface="Times New Roman"/>
                <a:cs typeface="Times New Roman"/>
              </a:rPr>
              <a:t>2 </a:t>
            </a:r>
            <a:r>
              <a:rPr sz="2750" i="1" spc="50" dirty="0">
                <a:latin typeface="Times New Roman"/>
                <a:cs typeface="Times New Roman"/>
              </a:rPr>
              <a:t>A</a:t>
            </a:r>
            <a:r>
              <a:rPr sz="2400" spc="75" baseline="-5208" dirty="0">
                <a:latin typeface="Times New Roman"/>
                <a:cs typeface="Times New Roman"/>
              </a:rPr>
              <a:t>1 </a:t>
            </a:r>
            <a:r>
              <a:rPr sz="2750" i="1" spc="135" dirty="0">
                <a:latin typeface="Times New Roman"/>
                <a:cs typeface="Times New Roman"/>
              </a:rPr>
              <a:t>A</a:t>
            </a:r>
            <a:r>
              <a:rPr sz="2400" spc="202" baseline="-5208" dirty="0">
                <a:latin typeface="Times New Roman"/>
                <a:cs typeface="Times New Roman"/>
              </a:rPr>
              <a:t>0 </a:t>
            </a:r>
            <a:r>
              <a:rPr sz="2750" i="1" spc="100" dirty="0">
                <a:latin typeface="Times New Roman"/>
                <a:cs typeface="Times New Roman"/>
              </a:rPr>
              <a:t>D</a:t>
            </a:r>
            <a:r>
              <a:rPr sz="2400" spc="150" baseline="-24305" dirty="0">
                <a:latin typeface="Times New Roman"/>
                <a:cs typeface="Times New Roman"/>
              </a:rPr>
              <a:t>4 </a:t>
            </a: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165" dirty="0">
                <a:latin typeface="Times New Roman"/>
                <a:cs typeface="Times New Roman"/>
              </a:rPr>
              <a:t> </a:t>
            </a:r>
            <a:r>
              <a:rPr sz="2750" i="1" spc="20" dirty="0">
                <a:latin typeface="Times New Roman"/>
                <a:cs typeface="Times New Roman"/>
              </a:rPr>
              <a:t>A</a:t>
            </a:r>
            <a:r>
              <a:rPr sz="2400" spc="30" baseline="-24305" dirty="0">
                <a:latin typeface="Times New Roman"/>
                <a:cs typeface="Times New Roman"/>
              </a:rPr>
              <a:t>2 </a:t>
            </a:r>
            <a:r>
              <a:rPr sz="2750" i="1" spc="50" dirty="0">
                <a:latin typeface="Times New Roman"/>
                <a:cs typeface="Times New Roman"/>
              </a:rPr>
              <a:t>A</a:t>
            </a:r>
            <a:r>
              <a:rPr sz="2400" spc="75" baseline="-5208" dirty="0">
                <a:latin typeface="Times New Roman"/>
                <a:cs typeface="Times New Roman"/>
              </a:rPr>
              <a:t>1 </a:t>
            </a:r>
            <a:r>
              <a:rPr sz="2750" i="1" spc="5" dirty="0">
                <a:latin typeface="Times New Roman"/>
                <a:cs typeface="Times New Roman"/>
              </a:rPr>
              <a:t>A</a:t>
            </a:r>
            <a:r>
              <a:rPr sz="2400" spc="7" baseline="-24305" dirty="0">
                <a:latin typeface="Times New Roman"/>
                <a:cs typeface="Times New Roman"/>
              </a:rPr>
              <a:t>0 </a:t>
            </a:r>
            <a:r>
              <a:rPr sz="2750" i="1" spc="75" dirty="0">
                <a:latin typeface="Times New Roman"/>
                <a:cs typeface="Times New Roman"/>
              </a:rPr>
              <a:t>D</a:t>
            </a:r>
            <a:r>
              <a:rPr sz="2400" spc="112" baseline="-24305" dirty="0">
                <a:latin typeface="Times New Roman"/>
                <a:cs typeface="Times New Roman"/>
              </a:rPr>
              <a:t>5 </a:t>
            </a: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165" dirty="0">
                <a:latin typeface="Times New Roman"/>
                <a:cs typeface="Times New Roman"/>
              </a:rPr>
              <a:t> </a:t>
            </a:r>
            <a:r>
              <a:rPr sz="2750" i="1" spc="20" dirty="0">
                <a:latin typeface="Times New Roman"/>
                <a:cs typeface="Times New Roman"/>
              </a:rPr>
              <a:t>A</a:t>
            </a:r>
            <a:r>
              <a:rPr sz="2400" spc="30" baseline="-24305" dirty="0">
                <a:latin typeface="Times New Roman"/>
                <a:cs typeface="Times New Roman"/>
              </a:rPr>
              <a:t>2 </a:t>
            </a:r>
            <a:r>
              <a:rPr sz="2750" i="1" spc="-80" dirty="0">
                <a:latin typeface="Times New Roman"/>
                <a:cs typeface="Times New Roman"/>
              </a:rPr>
              <a:t>A</a:t>
            </a:r>
            <a:r>
              <a:rPr sz="2400" spc="-120" baseline="-24305" dirty="0">
                <a:latin typeface="Times New Roman"/>
                <a:cs typeface="Times New Roman"/>
              </a:rPr>
              <a:t>1 </a:t>
            </a:r>
            <a:r>
              <a:rPr sz="2750" i="1" spc="135" dirty="0">
                <a:latin typeface="Times New Roman"/>
                <a:cs typeface="Times New Roman"/>
              </a:rPr>
              <a:t>A</a:t>
            </a:r>
            <a:r>
              <a:rPr sz="2400" spc="202" baseline="-5208" dirty="0">
                <a:latin typeface="Times New Roman"/>
                <a:cs typeface="Times New Roman"/>
              </a:rPr>
              <a:t>0 </a:t>
            </a:r>
            <a:r>
              <a:rPr sz="2750" i="1" spc="85" dirty="0">
                <a:latin typeface="Times New Roman"/>
                <a:cs typeface="Times New Roman"/>
              </a:rPr>
              <a:t>D</a:t>
            </a:r>
            <a:r>
              <a:rPr sz="2400" spc="127" baseline="-24305" dirty="0">
                <a:latin typeface="Times New Roman"/>
                <a:cs typeface="Times New Roman"/>
              </a:rPr>
              <a:t>6 </a:t>
            </a: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-195" dirty="0">
                <a:latin typeface="Times New Roman"/>
                <a:cs typeface="Times New Roman"/>
              </a:rPr>
              <a:t> </a:t>
            </a:r>
            <a:r>
              <a:rPr sz="2750" i="1" spc="20" dirty="0">
                <a:latin typeface="Times New Roman"/>
                <a:cs typeface="Times New Roman"/>
              </a:rPr>
              <a:t>A</a:t>
            </a:r>
            <a:r>
              <a:rPr sz="2400" spc="30" baseline="-24305" dirty="0">
                <a:latin typeface="Times New Roman"/>
                <a:cs typeface="Times New Roman"/>
              </a:rPr>
              <a:t>2 </a:t>
            </a:r>
            <a:r>
              <a:rPr sz="2750" i="1" spc="-75" dirty="0">
                <a:latin typeface="Times New Roman"/>
                <a:cs typeface="Times New Roman"/>
              </a:rPr>
              <a:t>A</a:t>
            </a:r>
            <a:r>
              <a:rPr sz="2400" spc="-112" baseline="-24305" dirty="0">
                <a:latin typeface="Times New Roman"/>
                <a:cs typeface="Times New Roman"/>
              </a:rPr>
              <a:t>1 </a:t>
            </a:r>
            <a:r>
              <a:rPr sz="2750" i="1" spc="5" dirty="0">
                <a:latin typeface="Times New Roman"/>
                <a:cs typeface="Times New Roman"/>
              </a:rPr>
              <a:t>A</a:t>
            </a:r>
            <a:r>
              <a:rPr sz="2400" spc="7" baseline="-24305" dirty="0">
                <a:latin typeface="Times New Roman"/>
                <a:cs typeface="Times New Roman"/>
              </a:rPr>
              <a:t>0 </a:t>
            </a:r>
            <a:r>
              <a:rPr sz="2750" i="1" spc="85" dirty="0">
                <a:latin typeface="Times New Roman"/>
                <a:cs typeface="Times New Roman"/>
              </a:rPr>
              <a:t>D</a:t>
            </a:r>
            <a:r>
              <a:rPr sz="2400" spc="127" baseline="-24305" dirty="0">
                <a:latin typeface="Times New Roman"/>
                <a:cs typeface="Times New Roman"/>
              </a:rPr>
              <a:t>7</a:t>
            </a:r>
            <a:endParaRPr sz="2400" baseline="-2430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94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1992" y="2567771"/>
            <a:ext cx="1401445" cy="2425700"/>
          </a:xfrm>
          <a:custGeom>
            <a:avLst/>
            <a:gdLst/>
            <a:ahLst/>
            <a:cxnLst/>
            <a:rect l="l" t="t" r="r" b="b"/>
            <a:pathLst>
              <a:path w="1401445" h="2425700">
                <a:moveTo>
                  <a:pt x="0" y="2425291"/>
                </a:moveTo>
                <a:lnTo>
                  <a:pt x="1401022" y="2425291"/>
                </a:lnTo>
                <a:lnTo>
                  <a:pt x="1401022" y="0"/>
                </a:lnTo>
                <a:lnTo>
                  <a:pt x="0" y="0"/>
                </a:lnTo>
                <a:lnTo>
                  <a:pt x="0" y="2425291"/>
                </a:lnTo>
                <a:close/>
              </a:path>
            </a:pathLst>
          </a:custGeom>
          <a:ln w="349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486250" y="3037539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19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486250" y="3563645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86250" y="4063979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86250" y="4590131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04477" y="4993063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4072"/>
                </a:lnTo>
              </a:path>
            </a:pathLst>
          </a:custGeom>
          <a:ln w="3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33030" y="3699204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233451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454753" y="4993063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4072"/>
                </a:lnTo>
              </a:path>
            </a:pathLst>
          </a:custGeom>
          <a:ln w="3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85129" y="2778746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19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85129" y="3296332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5129" y="3813919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85130" y="4331368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805012" y="4993063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4072"/>
                </a:lnTo>
              </a:path>
            </a:pathLst>
          </a:custGeom>
          <a:ln w="3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799243" y="2613034"/>
            <a:ext cx="1221105" cy="239903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ts val="2220"/>
              </a:lnSpc>
              <a:spcBef>
                <a:spcPts val="10"/>
              </a:spcBef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0</a:t>
            </a:r>
            <a:endParaRPr sz="1875" baseline="-11111">
              <a:latin typeface="华文楷体"/>
              <a:cs typeface="华文楷体"/>
            </a:endParaRPr>
          </a:p>
          <a:p>
            <a:pPr marL="635">
              <a:lnSpc>
                <a:spcPts val="203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1</a:t>
            </a:r>
            <a:endParaRPr sz="1875" baseline="-11111">
              <a:latin typeface="华文楷体"/>
              <a:cs typeface="华文楷体"/>
            </a:endParaRPr>
          </a:p>
          <a:p>
            <a:pPr>
              <a:lnSpc>
                <a:spcPts val="203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2</a:t>
            </a:r>
            <a:endParaRPr sz="1875" baseline="-11111">
              <a:latin typeface="华文楷体"/>
              <a:cs typeface="华文楷体"/>
            </a:endParaRPr>
          </a:p>
          <a:p>
            <a:pPr marL="635">
              <a:lnSpc>
                <a:spcPts val="2039"/>
              </a:lnSpc>
              <a:tabLst>
                <a:tab pos="1072515" algn="l"/>
              </a:tabLst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155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3</a:t>
            </a:r>
            <a:r>
              <a:rPr sz="1875" baseline="-11111" dirty="0">
                <a:latin typeface="华文楷体"/>
                <a:cs typeface="华文楷体"/>
              </a:rPr>
              <a:t>	</a:t>
            </a:r>
            <a:r>
              <a:rPr sz="3000" i="1" spc="60" baseline="-27777" dirty="0">
                <a:latin typeface="华文楷体"/>
                <a:cs typeface="华文楷体"/>
              </a:rPr>
              <a:t>F</a:t>
            </a:r>
            <a:endParaRPr sz="3000" baseline="-27777">
              <a:latin typeface="华文楷体"/>
              <a:cs typeface="华文楷体"/>
            </a:endParaRPr>
          </a:p>
          <a:p>
            <a:pPr>
              <a:lnSpc>
                <a:spcPts val="2035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4</a:t>
            </a:r>
            <a:endParaRPr sz="1875" baseline="-11111">
              <a:latin typeface="华文楷体"/>
              <a:cs typeface="华文楷体"/>
            </a:endParaRPr>
          </a:p>
          <a:p>
            <a:pPr marL="635">
              <a:lnSpc>
                <a:spcPts val="2035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5</a:t>
            </a:r>
            <a:endParaRPr sz="1875" baseline="-11111">
              <a:latin typeface="华文楷体"/>
              <a:cs typeface="华文楷体"/>
            </a:endParaRPr>
          </a:p>
          <a:p>
            <a:pPr>
              <a:lnSpc>
                <a:spcPts val="203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6</a:t>
            </a:r>
            <a:endParaRPr sz="1875" baseline="-11111">
              <a:latin typeface="华文楷体"/>
              <a:cs typeface="华文楷体"/>
            </a:endParaRPr>
          </a:p>
          <a:p>
            <a:pPr marL="635">
              <a:lnSpc>
                <a:spcPts val="198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7</a:t>
            </a:r>
            <a:endParaRPr sz="1875" baseline="-11111">
              <a:latin typeface="华文楷体"/>
              <a:cs typeface="华文楷体"/>
            </a:endParaRPr>
          </a:p>
          <a:p>
            <a:pPr marL="197485">
              <a:lnSpc>
                <a:spcPts val="2170"/>
              </a:lnSpc>
            </a:pPr>
            <a:r>
              <a:rPr sz="2000" i="1" spc="55" dirty="0">
                <a:latin typeface="华文楷体"/>
                <a:cs typeface="华文楷体"/>
              </a:rPr>
              <a:t>A</a:t>
            </a:r>
            <a:r>
              <a:rPr sz="1875" spc="82" baseline="-11111" dirty="0">
                <a:latin typeface="华文楷体"/>
                <a:cs typeface="华文楷体"/>
              </a:rPr>
              <a:t>2 </a:t>
            </a:r>
            <a:r>
              <a:rPr sz="2000" i="1" spc="55" dirty="0">
                <a:latin typeface="华文楷体"/>
                <a:cs typeface="华文楷体"/>
              </a:rPr>
              <a:t>A</a:t>
            </a:r>
            <a:r>
              <a:rPr sz="1875" spc="82" baseline="-11111" dirty="0">
                <a:latin typeface="华文楷体"/>
                <a:cs typeface="华文楷体"/>
              </a:rPr>
              <a:t>1</a:t>
            </a:r>
            <a:r>
              <a:rPr sz="1875" spc="165" baseline="-11111" dirty="0">
                <a:latin typeface="华文楷体"/>
                <a:cs typeface="华文楷体"/>
              </a:rPr>
              <a:t> </a:t>
            </a:r>
            <a:r>
              <a:rPr sz="2000" i="1" spc="55" dirty="0">
                <a:latin typeface="华文楷体"/>
                <a:cs typeface="华文楷体"/>
              </a:rPr>
              <a:t>A</a:t>
            </a:r>
            <a:r>
              <a:rPr sz="1875" spc="82" baseline="-11111" dirty="0">
                <a:latin typeface="华文楷体"/>
                <a:cs typeface="华文楷体"/>
              </a:rPr>
              <a:t>0</a:t>
            </a:r>
            <a:endParaRPr sz="1875" baseline="-11111">
              <a:latin typeface="华文楷体"/>
              <a:cs typeface="华文楷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31992" y="2567771"/>
            <a:ext cx="1401445" cy="2425700"/>
          </a:xfrm>
          <a:custGeom>
            <a:avLst/>
            <a:gdLst/>
            <a:ahLst/>
            <a:cxnLst/>
            <a:rect l="l" t="t" r="r" b="b"/>
            <a:pathLst>
              <a:path w="1401445" h="2425700">
                <a:moveTo>
                  <a:pt x="0" y="2425291"/>
                </a:moveTo>
                <a:lnTo>
                  <a:pt x="1401022" y="2425291"/>
                </a:lnTo>
                <a:lnTo>
                  <a:pt x="1401022" y="0"/>
                </a:lnTo>
                <a:lnTo>
                  <a:pt x="0" y="0"/>
                </a:lnTo>
                <a:lnTo>
                  <a:pt x="0" y="2425291"/>
                </a:lnTo>
                <a:close/>
              </a:path>
            </a:pathLst>
          </a:custGeom>
          <a:ln w="349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86250" y="3037539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19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86250" y="3563645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486250" y="4063979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486250" y="4590131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104477" y="4993063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4072"/>
                </a:lnTo>
              </a:path>
            </a:pathLst>
          </a:custGeom>
          <a:ln w="3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133030" y="3699204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233451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454753" y="4993063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4072"/>
                </a:lnTo>
              </a:path>
            </a:pathLst>
          </a:custGeom>
          <a:ln w="3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85129" y="2778746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19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485129" y="3296332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85129" y="3813919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485130" y="4331368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805012" y="4993063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4072"/>
                </a:lnTo>
              </a:path>
            </a:pathLst>
          </a:custGeom>
          <a:ln w="3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799243" y="2613034"/>
            <a:ext cx="1221105" cy="239903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ts val="2220"/>
              </a:lnSpc>
              <a:spcBef>
                <a:spcPts val="10"/>
              </a:spcBef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0</a:t>
            </a:r>
            <a:endParaRPr sz="1875" baseline="-11111">
              <a:latin typeface="华文楷体"/>
              <a:cs typeface="华文楷体"/>
            </a:endParaRPr>
          </a:p>
          <a:p>
            <a:pPr marL="635">
              <a:lnSpc>
                <a:spcPts val="203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1</a:t>
            </a:r>
            <a:endParaRPr sz="1875" baseline="-11111">
              <a:latin typeface="华文楷体"/>
              <a:cs typeface="华文楷体"/>
            </a:endParaRPr>
          </a:p>
          <a:p>
            <a:pPr>
              <a:lnSpc>
                <a:spcPts val="203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2</a:t>
            </a:r>
            <a:endParaRPr sz="1875" baseline="-11111">
              <a:latin typeface="华文楷体"/>
              <a:cs typeface="华文楷体"/>
            </a:endParaRPr>
          </a:p>
          <a:p>
            <a:pPr marL="635">
              <a:lnSpc>
                <a:spcPts val="2039"/>
              </a:lnSpc>
              <a:tabLst>
                <a:tab pos="1072515" algn="l"/>
              </a:tabLst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155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3</a:t>
            </a:r>
            <a:r>
              <a:rPr sz="1875" baseline="-11111" dirty="0">
                <a:latin typeface="华文楷体"/>
                <a:cs typeface="华文楷体"/>
              </a:rPr>
              <a:t>	</a:t>
            </a:r>
            <a:r>
              <a:rPr sz="3000" i="1" spc="60" baseline="-27777" dirty="0">
                <a:latin typeface="华文楷体"/>
                <a:cs typeface="华文楷体"/>
              </a:rPr>
              <a:t>F</a:t>
            </a:r>
            <a:endParaRPr sz="3000" baseline="-27777">
              <a:latin typeface="华文楷体"/>
              <a:cs typeface="华文楷体"/>
            </a:endParaRPr>
          </a:p>
          <a:p>
            <a:pPr>
              <a:lnSpc>
                <a:spcPts val="2035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4</a:t>
            </a:r>
            <a:endParaRPr sz="1875" baseline="-11111">
              <a:latin typeface="华文楷体"/>
              <a:cs typeface="华文楷体"/>
            </a:endParaRPr>
          </a:p>
          <a:p>
            <a:pPr marL="635">
              <a:lnSpc>
                <a:spcPts val="2035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5</a:t>
            </a:r>
            <a:endParaRPr sz="1875" baseline="-11111">
              <a:latin typeface="华文楷体"/>
              <a:cs typeface="华文楷体"/>
            </a:endParaRPr>
          </a:p>
          <a:p>
            <a:pPr>
              <a:lnSpc>
                <a:spcPts val="203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6</a:t>
            </a:r>
            <a:endParaRPr sz="1875" baseline="-11111">
              <a:latin typeface="华文楷体"/>
              <a:cs typeface="华文楷体"/>
            </a:endParaRPr>
          </a:p>
          <a:p>
            <a:pPr marL="635">
              <a:lnSpc>
                <a:spcPts val="198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7</a:t>
            </a:r>
            <a:endParaRPr sz="1875" baseline="-11111">
              <a:latin typeface="华文楷体"/>
              <a:cs typeface="华文楷体"/>
            </a:endParaRPr>
          </a:p>
          <a:p>
            <a:pPr marL="197485">
              <a:lnSpc>
                <a:spcPts val="2170"/>
              </a:lnSpc>
            </a:pPr>
            <a:r>
              <a:rPr sz="2000" i="1" spc="55" dirty="0">
                <a:latin typeface="华文楷体"/>
                <a:cs typeface="华文楷体"/>
              </a:rPr>
              <a:t>A</a:t>
            </a:r>
            <a:r>
              <a:rPr sz="1875" spc="82" baseline="-11111" dirty="0">
                <a:latin typeface="华文楷体"/>
                <a:cs typeface="华文楷体"/>
              </a:rPr>
              <a:t>2 </a:t>
            </a:r>
            <a:r>
              <a:rPr sz="2000" i="1" spc="55" dirty="0">
                <a:latin typeface="华文楷体"/>
                <a:cs typeface="华文楷体"/>
              </a:rPr>
              <a:t>A</a:t>
            </a:r>
            <a:r>
              <a:rPr sz="1875" spc="82" baseline="-11111" dirty="0">
                <a:latin typeface="华文楷体"/>
                <a:cs typeface="华文楷体"/>
              </a:rPr>
              <a:t>1</a:t>
            </a:r>
            <a:r>
              <a:rPr sz="1875" spc="165" baseline="-11111" dirty="0">
                <a:latin typeface="华文楷体"/>
                <a:cs typeface="华文楷体"/>
              </a:rPr>
              <a:t> </a:t>
            </a:r>
            <a:r>
              <a:rPr sz="2000" i="1" spc="55" dirty="0">
                <a:latin typeface="华文楷体"/>
                <a:cs typeface="华文楷体"/>
              </a:rPr>
              <a:t>A</a:t>
            </a:r>
            <a:r>
              <a:rPr sz="1875" spc="82" baseline="-11111" dirty="0">
                <a:latin typeface="华文楷体"/>
                <a:cs typeface="华文楷体"/>
              </a:rPr>
              <a:t>0</a:t>
            </a:r>
            <a:endParaRPr sz="1875" baseline="-11111">
              <a:latin typeface="华文楷体"/>
              <a:cs typeface="华文楷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731992" y="2567771"/>
            <a:ext cx="1401445" cy="2425700"/>
          </a:xfrm>
          <a:custGeom>
            <a:avLst/>
            <a:gdLst/>
            <a:ahLst/>
            <a:cxnLst/>
            <a:rect l="l" t="t" r="r" b="b"/>
            <a:pathLst>
              <a:path w="1401445" h="2425700">
                <a:moveTo>
                  <a:pt x="0" y="2425291"/>
                </a:moveTo>
                <a:lnTo>
                  <a:pt x="1401022" y="2425291"/>
                </a:lnTo>
                <a:lnTo>
                  <a:pt x="1401022" y="0"/>
                </a:lnTo>
                <a:lnTo>
                  <a:pt x="0" y="0"/>
                </a:lnTo>
                <a:lnTo>
                  <a:pt x="0" y="2425291"/>
                </a:lnTo>
                <a:close/>
              </a:path>
            </a:pathLst>
          </a:custGeom>
          <a:ln w="349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486250" y="3037539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19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486250" y="3563645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486250" y="4063979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86250" y="4590131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104477" y="4993063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4072"/>
                </a:lnTo>
              </a:path>
            </a:pathLst>
          </a:custGeom>
          <a:ln w="3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133030" y="3699204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233451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454753" y="4993063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4072"/>
                </a:lnTo>
              </a:path>
            </a:pathLst>
          </a:custGeom>
          <a:ln w="3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485129" y="2778746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19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485129" y="3296332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485129" y="3813919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485130" y="4331368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805012" y="4993063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4072"/>
                </a:lnTo>
              </a:path>
            </a:pathLst>
          </a:custGeom>
          <a:ln w="3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799243" y="2613034"/>
            <a:ext cx="1221105" cy="239903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ts val="2220"/>
              </a:lnSpc>
              <a:spcBef>
                <a:spcPts val="10"/>
              </a:spcBef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0</a:t>
            </a:r>
            <a:endParaRPr sz="1875" baseline="-11111">
              <a:latin typeface="华文楷体"/>
              <a:cs typeface="华文楷体"/>
            </a:endParaRPr>
          </a:p>
          <a:p>
            <a:pPr marL="635">
              <a:lnSpc>
                <a:spcPts val="203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1</a:t>
            </a:r>
            <a:endParaRPr sz="1875" baseline="-11111">
              <a:latin typeface="华文楷体"/>
              <a:cs typeface="华文楷体"/>
            </a:endParaRPr>
          </a:p>
          <a:p>
            <a:pPr>
              <a:lnSpc>
                <a:spcPts val="203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2</a:t>
            </a:r>
            <a:endParaRPr sz="1875" baseline="-11111">
              <a:latin typeface="华文楷体"/>
              <a:cs typeface="华文楷体"/>
            </a:endParaRPr>
          </a:p>
          <a:p>
            <a:pPr marL="635">
              <a:lnSpc>
                <a:spcPts val="2039"/>
              </a:lnSpc>
              <a:tabLst>
                <a:tab pos="1072515" algn="l"/>
              </a:tabLst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155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3</a:t>
            </a:r>
            <a:r>
              <a:rPr sz="1875" baseline="-11111" dirty="0">
                <a:latin typeface="华文楷体"/>
                <a:cs typeface="华文楷体"/>
              </a:rPr>
              <a:t>	</a:t>
            </a:r>
            <a:r>
              <a:rPr sz="3000" i="1" spc="60" baseline="-27777" dirty="0">
                <a:latin typeface="华文楷体"/>
                <a:cs typeface="华文楷体"/>
              </a:rPr>
              <a:t>F</a:t>
            </a:r>
            <a:endParaRPr sz="3000" baseline="-27777">
              <a:latin typeface="华文楷体"/>
              <a:cs typeface="华文楷体"/>
            </a:endParaRPr>
          </a:p>
          <a:p>
            <a:pPr>
              <a:lnSpc>
                <a:spcPts val="2035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4</a:t>
            </a:r>
            <a:endParaRPr sz="1875" baseline="-11111">
              <a:latin typeface="华文楷体"/>
              <a:cs typeface="华文楷体"/>
            </a:endParaRPr>
          </a:p>
          <a:p>
            <a:pPr marL="635">
              <a:lnSpc>
                <a:spcPts val="2035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5</a:t>
            </a:r>
            <a:endParaRPr sz="1875" baseline="-11111">
              <a:latin typeface="华文楷体"/>
              <a:cs typeface="华文楷体"/>
            </a:endParaRPr>
          </a:p>
          <a:p>
            <a:pPr>
              <a:lnSpc>
                <a:spcPts val="203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6</a:t>
            </a:r>
            <a:endParaRPr sz="1875" baseline="-11111">
              <a:latin typeface="华文楷体"/>
              <a:cs typeface="华文楷体"/>
            </a:endParaRPr>
          </a:p>
          <a:p>
            <a:pPr marL="635">
              <a:lnSpc>
                <a:spcPts val="198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7</a:t>
            </a:r>
            <a:endParaRPr sz="1875" baseline="-11111">
              <a:latin typeface="华文楷体"/>
              <a:cs typeface="华文楷体"/>
            </a:endParaRPr>
          </a:p>
          <a:p>
            <a:pPr marL="197485">
              <a:lnSpc>
                <a:spcPts val="2170"/>
              </a:lnSpc>
            </a:pPr>
            <a:r>
              <a:rPr sz="2000" i="1" spc="55" dirty="0">
                <a:latin typeface="华文楷体"/>
                <a:cs typeface="华文楷体"/>
              </a:rPr>
              <a:t>A</a:t>
            </a:r>
            <a:r>
              <a:rPr sz="1875" spc="82" baseline="-11111" dirty="0">
                <a:latin typeface="华文楷体"/>
                <a:cs typeface="华文楷体"/>
              </a:rPr>
              <a:t>2 </a:t>
            </a:r>
            <a:r>
              <a:rPr sz="2000" i="1" spc="55" dirty="0">
                <a:latin typeface="华文楷体"/>
                <a:cs typeface="华文楷体"/>
              </a:rPr>
              <a:t>A</a:t>
            </a:r>
            <a:r>
              <a:rPr sz="1875" spc="82" baseline="-11111" dirty="0">
                <a:latin typeface="华文楷体"/>
                <a:cs typeface="华文楷体"/>
              </a:rPr>
              <a:t>1</a:t>
            </a:r>
            <a:r>
              <a:rPr sz="1875" spc="165" baseline="-11111" dirty="0">
                <a:latin typeface="华文楷体"/>
                <a:cs typeface="华文楷体"/>
              </a:rPr>
              <a:t> </a:t>
            </a:r>
            <a:r>
              <a:rPr sz="2000" i="1" spc="55" dirty="0">
                <a:latin typeface="华文楷体"/>
                <a:cs typeface="华文楷体"/>
              </a:rPr>
              <a:t>A</a:t>
            </a:r>
            <a:r>
              <a:rPr sz="1875" spc="82" baseline="-11111" dirty="0">
                <a:latin typeface="华文楷体"/>
                <a:cs typeface="华文楷体"/>
              </a:rPr>
              <a:t>0</a:t>
            </a:r>
            <a:endParaRPr sz="1875" baseline="-11111">
              <a:latin typeface="华文楷体"/>
              <a:cs typeface="华文楷体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960300" y="2795177"/>
            <a:ext cx="747395" cy="2425065"/>
          </a:xfrm>
          <a:custGeom>
            <a:avLst/>
            <a:gdLst/>
            <a:ahLst/>
            <a:cxnLst/>
            <a:rect l="l" t="t" r="r" b="b"/>
            <a:pathLst>
              <a:path w="747395" h="2425065">
                <a:moveTo>
                  <a:pt x="747028" y="0"/>
                </a:moveTo>
                <a:lnTo>
                  <a:pt x="0" y="0"/>
                </a:lnTo>
                <a:lnTo>
                  <a:pt x="0" y="2424819"/>
                </a:lnTo>
              </a:path>
            </a:pathLst>
          </a:custGeom>
          <a:ln w="353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960300" y="3053970"/>
            <a:ext cx="747395" cy="0"/>
          </a:xfrm>
          <a:custGeom>
            <a:avLst/>
            <a:gdLst/>
            <a:ahLst/>
            <a:cxnLst/>
            <a:rect l="l" t="t" r="r" b="b"/>
            <a:pathLst>
              <a:path w="747395">
                <a:moveTo>
                  <a:pt x="747028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960300" y="3312764"/>
            <a:ext cx="747395" cy="0"/>
          </a:xfrm>
          <a:custGeom>
            <a:avLst/>
            <a:gdLst/>
            <a:ahLst/>
            <a:cxnLst/>
            <a:rect l="l" t="t" r="r" b="b"/>
            <a:pathLst>
              <a:path w="747395">
                <a:moveTo>
                  <a:pt x="747028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960300" y="3830350"/>
            <a:ext cx="764540" cy="0"/>
          </a:xfrm>
          <a:custGeom>
            <a:avLst/>
            <a:gdLst/>
            <a:ahLst/>
            <a:cxnLst/>
            <a:rect l="l" t="t" r="r" b="b"/>
            <a:pathLst>
              <a:path w="764540">
                <a:moveTo>
                  <a:pt x="764541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31992" y="2567771"/>
            <a:ext cx="1401445" cy="2425700"/>
          </a:xfrm>
          <a:custGeom>
            <a:avLst/>
            <a:gdLst/>
            <a:ahLst/>
            <a:cxnLst/>
            <a:rect l="l" t="t" r="r" b="b"/>
            <a:pathLst>
              <a:path w="1401445" h="2425700">
                <a:moveTo>
                  <a:pt x="0" y="2425291"/>
                </a:moveTo>
                <a:lnTo>
                  <a:pt x="1401022" y="2425291"/>
                </a:lnTo>
                <a:lnTo>
                  <a:pt x="1401022" y="0"/>
                </a:lnTo>
                <a:lnTo>
                  <a:pt x="0" y="0"/>
                </a:lnTo>
                <a:lnTo>
                  <a:pt x="0" y="24252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731992" y="2567771"/>
            <a:ext cx="1401445" cy="2425700"/>
          </a:xfrm>
          <a:custGeom>
            <a:avLst/>
            <a:gdLst/>
            <a:ahLst/>
            <a:cxnLst/>
            <a:rect l="l" t="t" r="r" b="b"/>
            <a:pathLst>
              <a:path w="1401445" h="2425700">
                <a:moveTo>
                  <a:pt x="0" y="2425291"/>
                </a:moveTo>
                <a:lnTo>
                  <a:pt x="1401022" y="2425291"/>
                </a:lnTo>
                <a:lnTo>
                  <a:pt x="1401022" y="0"/>
                </a:lnTo>
                <a:lnTo>
                  <a:pt x="0" y="0"/>
                </a:lnTo>
                <a:lnTo>
                  <a:pt x="0" y="2425291"/>
                </a:lnTo>
                <a:close/>
              </a:path>
            </a:pathLst>
          </a:custGeom>
          <a:ln w="349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486250" y="3053970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233500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486250" y="3563645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486250" y="4063979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486250" y="4590131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104477" y="4993063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4072"/>
                </a:lnTo>
              </a:path>
            </a:pathLst>
          </a:custGeom>
          <a:ln w="3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9133030" y="3699204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233451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454753" y="4993063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4072"/>
                </a:lnTo>
              </a:path>
            </a:pathLst>
          </a:custGeom>
          <a:ln w="3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485129" y="2778746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19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485129" y="3312764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233500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485129" y="3813919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485130" y="4331368"/>
            <a:ext cx="233679" cy="33020"/>
          </a:xfrm>
          <a:custGeom>
            <a:avLst/>
            <a:gdLst/>
            <a:ahLst/>
            <a:cxnLst/>
            <a:rect l="l" t="t" r="r" b="b"/>
            <a:pathLst>
              <a:path w="233679" h="33020">
                <a:moveTo>
                  <a:pt x="0" y="32862"/>
                </a:moveTo>
                <a:lnTo>
                  <a:pt x="233500" y="32862"/>
                </a:lnTo>
                <a:lnTo>
                  <a:pt x="233500" y="0"/>
                </a:lnTo>
                <a:lnTo>
                  <a:pt x="0" y="0"/>
                </a:lnTo>
                <a:lnTo>
                  <a:pt x="0" y="3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7773843" y="2596711"/>
            <a:ext cx="394970" cy="18891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ts val="2220"/>
              </a:lnSpc>
              <a:spcBef>
                <a:spcPts val="135"/>
              </a:spcBef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0</a:t>
            </a:r>
            <a:endParaRPr sz="1875" baseline="-11111">
              <a:latin typeface="华文楷体"/>
              <a:cs typeface="华文楷体"/>
            </a:endParaRPr>
          </a:p>
          <a:p>
            <a:pPr marL="26034">
              <a:lnSpc>
                <a:spcPts val="203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1</a:t>
            </a:r>
            <a:endParaRPr sz="1875" baseline="-11111">
              <a:latin typeface="华文楷体"/>
              <a:cs typeface="华文楷体"/>
            </a:endParaRPr>
          </a:p>
          <a:p>
            <a:pPr marL="25400">
              <a:lnSpc>
                <a:spcPts val="203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2</a:t>
            </a:r>
            <a:endParaRPr sz="1875" baseline="-11111">
              <a:latin typeface="华文楷体"/>
              <a:cs typeface="华文楷体"/>
            </a:endParaRPr>
          </a:p>
          <a:p>
            <a:pPr marL="26034">
              <a:lnSpc>
                <a:spcPts val="2039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3</a:t>
            </a:r>
            <a:endParaRPr sz="1875" baseline="-11111">
              <a:latin typeface="华文楷体"/>
              <a:cs typeface="华文楷体"/>
            </a:endParaRPr>
          </a:p>
          <a:p>
            <a:pPr marL="25400">
              <a:lnSpc>
                <a:spcPts val="2035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4</a:t>
            </a:r>
            <a:endParaRPr sz="1875" baseline="-11111">
              <a:latin typeface="华文楷体"/>
              <a:cs typeface="华文楷体"/>
            </a:endParaRPr>
          </a:p>
          <a:p>
            <a:pPr marL="26034">
              <a:lnSpc>
                <a:spcPts val="2035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5</a:t>
            </a:r>
            <a:endParaRPr sz="1875" baseline="-11111">
              <a:latin typeface="华文楷体"/>
              <a:cs typeface="华文楷体"/>
            </a:endParaRPr>
          </a:p>
          <a:p>
            <a:pPr marL="25400">
              <a:lnSpc>
                <a:spcPts val="2220"/>
              </a:lnSpc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25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6</a:t>
            </a:r>
            <a:endParaRPr sz="1875" baseline="-11111">
              <a:latin typeface="华文楷体"/>
              <a:cs typeface="华文楷体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8805012" y="4993063"/>
            <a:ext cx="0" cy="194310"/>
          </a:xfrm>
          <a:custGeom>
            <a:avLst/>
            <a:gdLst/>
            <a:ahLst/>
            <a:cxnLst/>
            <a:rect l="l" t="t" r="r" b="b"/>
            <a:pathLst>
              <a:path h="194310">
                <a:moveTo>
                  <a:pt x="0" y="0"/>
                </a:moveTo>
                <a:lnTo>
                  <a:pt x="0" y="194072"/>
                </a:lnTo>
              </a:path>
            </a:pathLst>
          </a:custGeom>
          <a:ln w="3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7774964" y="4408096"/>
            <a:ext cx="1198880" cy="5829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ts val="2170"/>
              </a:lnSpc>
              <a:spcBef>
                <a:spcPts val="135"/>
              </a:spcBef>
            </a:pPr>
            <a:r>
              <a:rPr sz="2000" i="1" spc="55" dirty="0">
                <a:latin typeface="华文楷体"/>
                <a:cs typeface="华文楷体"/>
              </a:rPr>
              <a:t>D</a:t>
            </a:r>
            <a:r>
              <a:rPr sz="2000" i="1" spc="-160" dirty="0">
                <a:latin typeface="华文楷体"/>
                <a:cs typeface="华文楷体"/>
              </a:rPr>
              <a:t> </a:t>
            </a:r>
            <a:r>
              <a:rPr sz="1875" spc="89" baseline="-11111" dirty="0">
                <a:latin typeface="华文楷体"/>
                <a:cs typeface="华文楷体"/>
              </a:rPr>
              <a:t>7</a:t>
            </a:r>
            <a:endParaRPr sz="1875" baseline="-11111">
              <a:latin typeface="华文楷体"/>
              <a:cs typeface="华文楷体"/>
            </a:endParaRPr>
          </a:p>
          <a:p>
            <a:pPr marL="221615">
              <a:lnSpc>
                <a:spcPts val="2170"/>
              </a:lnSpc>
            </a:pPr>
            <a:r>
              <a:rPr sz="2000" i="1" spc="55" dirty="0">
                <a:latin typeface="华文楷体"/>
                <a:cs typeface="华文楷体"/>
              </a:rPr>
              <a:t>A</a:t>
            </a:r>
            <a:r>
              <a:rPr sz="1875" spc="82" baseline="-11111" dirty="0">
                <a:latin typeface="华文楷体"/>
                <a:cs typeface="华文楷体"/>
              </a:rPr>
              <a:t>2 </a:t>
            </a:r>
            <a:r>
              <a:rPr sz="2000" i="1" spc="55" dirty="0">
                <a:latin typeface="华文楷体"/>
                <a:cs typeface="华文楷体"/>
              </a:rPr>
              <a:t>A</a:t>
            </a:r>
            <a:r>
              <a:rPr sz="1875" spc="82" baseline="-11111" dirty="0">
                <a:latin typeface="华文楷体"/>
                <a:cs typeface="华文楷体"/>
              </a:rPr>
              <a:t>1</a:t>
            </a:r>
            <a:r>
              <a:rPr sz="1875" spc="142" baseline="-11111" dirty="0">
                <a:latin typeface="华文楷体"/>
                <a:cs typeface="华文楷体"/>
              </a:rPr>
              <a:t> </a:t>
            </a:r>
            <a:r>
              <a:rPr sz="2000" i="1" spc="55" dirty="0">
                <a:latin typeface="华文楷体"/>
                <a:cs typeface="华文楷体"/>
              </a:rPr>
              <a:t>A</a:t>
            </a:r>
            <a:r>
              <a:rPr sz="1875" spc="82" baseline="-11111" dirty="0">
                <a:latin typeface="华文楷体"/>
                <a:cs typeface="华文楷体"/>
              </a:rPr>
              <a:t>0</a:t>
            </a:r>
            <a:endParaRPr sz="1875" baseline="-11111">
              <a:latin typeface="华文楷体"/>
              <a:cs typeface="华文楷体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002416" y="5150897"/>
            <a:ext cx="875665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47345" algn="l"/>
                <a:tab pos="694690" algn="l"/>
              </a:tabLst>
            </a:pPr>
            <a:r>
              <a:rPr sz="2000" i="1" spc="50" dirty="0">
                <a:latin typeface="华文楷体"/>
                <a:cs typeface="华文楷体"/>
              </a:rPr>
              <a:t>A	</a:t>
            </a:r>
            <a:r>
              <a:rPr sz="2000" i="1" spc="45" dirty="0">
                <a:latin typeface="华文楷体"/>
                <a:cs typeface="华文楷体"/>
              </a:rPr>
              <a:t>B	</a:t>
            </a:r>
            <a:r>
              <a:rPr sz="3000" i="1" spc="67" baseline="2777" dirty="0">
                <a:latin typeface="华文楷体"/>
                <a:cs typeface="华文楷体"/>
              </a:rPr>
              <a:t>C</a:t>
            </a:r>
            <a:endParaRPr sz="3000" baseline="2777">
              <a:latin typeface="华文楷体"/>
              <a:cs typeface="华文楷体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7240508" y="3580077"/>
            <a:ext cx="484505" cy="1640205"/>
          </a:xfrm>
          <a:custGeom>
            <a:avLst/>
            <a:gdLst/>
            <a:ahLst/>
            <a:cxnLst/>
            <a:rect l="l" t="t" r="r" b="b"/>
            <a:pathLst>
              <a:path w="484504" h="1640204">
                <a:moveTo>
                  <a:pt x="484333" y="0"/>
                </a:moveTo>
                <a:lnTo>
                  <a:pt x="0" y="0"/>
                </a:lnTo>
                <a:lnTo>
                  <a:pt x="0" y="1639920"/>
                </a:lnTo>
              </a:path>
            </a:pathLst>
          </a:custGeom>
          <a:ln w="35367">
            <a:solidFill>
              <a:srgbClr val="1736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240508" y="4080410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4">
                <a:moveTo>
                  <a:pt x="484333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1736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240508" y="4347799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4">
                <a:moveTo>
                  <a:pt x="484333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1736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240509" y="4606562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4">
                <a:moveTo>
                  <a:pt x="484333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1736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960300" y="2795177"/>
            <a:ext cx="747395" cy="2425065"/>
          </a:xfrm>
          <a:custGeom>
            <a:avLst/>
            <a:gdLst/>
            <a:ahLst/>
            <a:cxnLst/>
            <a:rect l="l" t="t" r="r" b="b"/>
            <a:pathLst>
              <a:path w="747395" h="2425065">
                <a:moveTo>
                  <a:pt x="747028" y="0"/>
                </a:moveTo>
                <a:lnTo>
                  <a:pt x="0" y="0"/>
                </a:lnTo>
                <a:lnTo>
                  <a:pt x="0" y="2424819"/>
                </a:lnTo>
              </a:path>
            </a:pathLst>
          </a:custGeom>
          <a:ln w="353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960300" y="3053970"/>
            <a:ext cx="747395" cy="0"/>
          </a:xfrm>
          <a:custGeom>
            <a:avLst/>
            <a:gdLst/>
            <a:ahLst/>
            <a:cxnLst/>
            <a:rect l="l" t="t" r="r" b="b"/>
            <a:pathLst>
              <a:path w="747395">
                <a:moveTo>
                  <a:pt x="747028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960300" y="3312764"/>
            <a:ext cx="747395" cy="0"/>
          </a:xfrm>
          <a:custGeom>
            <a:avLst/>
            <a:gdLst/>
            <a:ahLst/>
            <a:cxnLst/>
            <a:rect l="l" t="t" r="r" b="b"/>
            <a:pathLst>
              <a:path w="747395">
                <a:moveTo>
                  <a:pt x="747028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960300" y="3830350"/>
            <a:ext cx="764540" cy="0"/>
          </a:xfrm>
          <a:custGeom>
            <a:avLst/>
            <a:gdLst/>
            <a:ahLst/>
            <a:cxnLst/>
            <a:rect l="l" t="t" r="r" b="b"/>
            <a:pathLst>
              <a:path w="764540">
                <a:moveTo>
                  <a:pt x="764541" y="0"/>
                </a:moveTo>
                <a:lnTo>
                  <a:pt x="0" y="0"/>
                </a:lnTo>
              </a:path>
            </a:pathLst>
          </a:custGeom>
          <a:ln w="3286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866049" y="5166534"/>
            <a:ext cx="46863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5595" algn="l"/>
              </a:tabLst>
            </a:pPr>
            <a:r>
              <a:rPr sz="2150" spc="85" dirty="0">
                <a:solidFill>
                  <a:srgbClr val="FF0000"/>
                </a:solidFill>
                <a:latin typeface="华文楷体"/>
                <a:cs typeface="华文楷体"/>
              </a:rPr>
              <a:t>0	</a:t>
            </a:r>
            <a:r>
              <a:rPr sz="2150" spc="85" dirty="0">
                <a:solidFill>
                  <a:srgbClr val="17365F"/>
                </a:solidFill>
                <a:latin typeface="华文楷体"/>
                <a:cs typeface="华文楷体"/>
              </a:rPr>
              <a:t>1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871901" y="3502411"/>
            <a:ext cx="732155" cy="336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570230" algn="l"/>
              </a:tabLst>
            </a:pPr>
            <a:r>
              <a:rPr sz="2000" i="1" spc="40" dirty="0">
                <a:latin typeface="华文楷体"/>
                <a:cs typeface="华文楷体"/>
              </a:rPr>
              <a:t>F	F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5940" y="4106443"/>
            <a:ext cx="5518150" cy="1961514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R="2222500" algn="ctr">
              <a:lnSpc>
                <a:spcPct val="100000"/>
              </a:lnSpc>
              <a:spcBef>
                <a:spcPts val="14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则：</a:t>
            </a: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775" spc="-7" baseline="-21021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775" spc="-7" baseline="-2102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775" spc="-7" baseline="-2102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775" spc="-7" baseline="-21021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=0</a:t>
            </a:r>
            <a:endParaRPr sz="2800">
              <a:latin typeface="Times New Roman"/>
              <a:cs typeface="Times New Roman"/>
            </a:endParaRPr>
          </a:p>
          <a:p>
            <a:pPr marR="2222500" algn="ctr">
              <a:lnSpc>
                <a:spcPct val="100000"/>
              </a:lnSpc>
              <a:spcBef>
                <a:spcPts val="1390"/>
              </a:spcBef>
            </a:pPr>
            <a:r>
              <a:rPr sz="2800" i="1" spc="-5" dirty="0">
                <a:solidFill>
                  <a:srgbClr val="2C17BD"/>
                </a:solidFill>
                <a:latin typeface="Times New Roman"/>
                <a:cs typeface="Times New Roman"/>
              </a:rPr>
              <a:t>D</a:t>
            </a:r>
            <a:r>
              <a:rPr sz="2775" spc="-7" baseline="-21021" dirty="0">
                <a:solidFill>
                  <a:srgbClr val="2C17BD"/>
                </a:solidFill>
                <a:latin typeface="Times New Roman"/>
                <a:cs typeface="Times New Roman"/>
              </a:rPr>
              <a:t>3</a:t>
            </a:r>
            <a:r>
              <a:rPr sz="2800" spc="-5" dirty="0">
                <a:solidFill>
                  <a:srgbClr val="2C17BD"/>
                </a:solidFill>
                <a:latin typeface="Times New Roman"/>
                <a:cs typeface="Times New Roman"/>
              </a:rPr>
              <a:t>=</a:t>
            </a:r>
            <a:r>
              <a:rPr sz="2800" i="1" spc="-5" dirty="0">
                <a:solidFill>
                  <a:srgbClr val="2C17BD"/>
                </a:solidFill>
                <a:latin typeface="Times New Roman"/>
                <a:cs typeface="Times New Roman"/>
              </a:rPr>
              <a:t>D</a:t>
            </a:r>
            <a:r>
              <a:rPr sz="2775" spc="-7" baseline="-21021" dirty="0">
                <a:solidFill>
                  <a:srgbClr val="2C17BD"/>
                </a:solidFill>
                <a:latin typeface="Times New Roman"/>
                <a:cs typeface="Times New Roman"/>
              </a:rPr>
              <a:t>5</a:t>
            </a:r>
            <a:r>
              <a:rPr sz="2800" spc="-5" dirty="0">
                <a:solidFill>
                  <a:srgbClr val="2C17BD"/>
                </a:solidFill>
                <a:latin typeface="Times New Roman"/>
                <a:cs typeface="Times New Roman"/>
              </a:rPr>
              <a:t>=</a:t>
            </a:r>
            <a:r>
              <a:rPr sz="2800" i="1" spc="-5" dirty="0">
                <a:solidFill>
                  <a:srgbClr val="2C17BD"/>
                </a:solidFill>
                <a:latin typeface="Times New Roman"/>
                <a:cs typeface="Times New Roman"/>
              </a:rPr>
              <a:t>D</a:t>
            </a:r>
            <a:r>
              <a:rPr sz="2775" spc="-7" baseline="-21021" dirty="0">
                <a:solidFill>
                  <a:srgbClr val="2C17BD"/>
                </a:solidFill>
                <a:latin typeface="Times New Roman"/>
                <a:cs typeface="Times New Roman"/>
              </a:rPr>
              <a:t>6</a:t>
            </a:r>
            <a:r>
              <a:rPr sz="2800" spc="-5" dirty="0">
                <a:solidFill>
                  <a:srgbClr val="2C17BD"/>
                </a:solidFill>
                <a:latin typeface="Times New Roman"/>
                <a:cs typeface="Times New Roman"/>
              </a:rPr>
              <a:t>=</a:t>
            </a:r>
            <a:r>
              <a:rPr sz="2800" i="1" spc="-5" dirty="0">
                <a:solidFill>
                  <a:srgbClr val="2C17BD"/>
                </a:solidFill>
                <a:latin typeface="Times New Roman"/>
                <a:cs typeface="Times New Roman"/>
              </a:rPr>
              <a:t>D</a:t>
            </a:r>
            <a:r>
              <a:rPr sz="2775" spc="-7" baseline="-21021" dirty="0">
                <a:solidFill>
                  <a:srgbClr val="2C17BD"/>
                </a:solidFill>
                <a:latin typeface="Times New Roman"/>
                <a:cs typeface="Times New Roman"/>
              </a:rPr>
              <a:t>7</a:t>
            </a:r>
            <a:r>
              <a:rPr sz="2800" spc="-5" dirty="0">
                <a:solidFill>
                  <a:srgbClr val="2C17BD"/>
                </a:solidFill>
                <a:latin typeface="Times New Roman"/>
                <a:cs typeface="Times New Roman"/>
              </a:rPr>
              <a:t>=1</a:t>
            </a:r>
            <a:endParaRPr sz="2800">
              <a:latin typeface="Times New Roman"/>
              <a:cs typeface="Times New Roman"/>
            </a:endParaRPr>
          </a:p>
          <a:p>
            <a:pPr marL="800100" algn="ctr">
              <a:lnSpc>
                <a:spcPct val="100000"/>
              </a:lnSpc>
              <a:spcBef>
                <a:spcPts val="2380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即可实现所要求的逻辑功能。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912336" y="753804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4">
                <a:moveTo>
                  <a:pt x="0" y="0"/>
                </a:moveTo>
                <a:lnTo>
                  <a:pt x="232768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343427" y="753804"/>
            <a:ext cx="232410" cy="0"/>
          </a:xfrm>
          <a:custGeom>
            <a:avLst/>
            <a:gdLst/>
            <a:ahLst/>
            <a:cxnLst/>
            <a:rect l="l" t="t" r="r" b="b"/>
            <a:pathLst>
              <a:path w="232410">
                <a:moveTo>
                  <a:pt x="0" y="0"/>
                </a:moveTo>
                <a:lnTo>
                  <a:pt x="232008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731617" y="753804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4">
                <a:moveTo>
                  <a:pt x="0" y="0"/>
                </a:moveTo>
                <a:lnTo>
                  <a:pt x="232768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897770" y="753804"/>
            <a:ext cx="232410" cy="0"/>
          </a:xfrm>
          <a:custGeom>
            <a:avLst/>
            <a:gdLst/>
            <a:ahLst/>
            <a:cxnLst/>
            <a:rect l="l" t="t" r="r" b="b"/>
            <a:pathLst>
              <a:path w="232410">
                <a:moveTo>
                  <a:pt x="0" y="0"/>
                </a:moveTo>
                <a:lnTo>
                  <a:pt x="232008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328101" y="753804"/>
            <a:ext cx="232410" cy="0"/>
          </a:xfrm>
          <a:custGeom>
            <a:avLst/>
            <a:gdLst/>
            <a:ahLst/>
            <a:cxnLst/>
            <a:rect l="l" t="t" r="r" b="b"/>
            <a:pathLst>
              <a:path w="232410">
                <a:moveTo>
                  <a:pt x="0" y="0"/>
                </a:moveTo>
                <a:lnTo>
                  <a:pt x="232071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782271" y="753804"/>
            <a:ext cx="231775" cy="0"/>
          </a:xfrm>
          <a:custGeom>
            <a:avLst/>
            <a:gdLst/>
            <a:ahLst/>
            <a:cxnLst/>
            <a:rect l="l" t="t" r="r" b="b"/>
            <a:pathLst>
              <a:path w="231775">
                <a:moveTo>
                  <a:pt x="0" y="0"/>
                </a:moveTo>
                <a:lnTo>
                  <a:pt x="231755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538641" y="753804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2071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708500" y="753804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2071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679567" y="1358649"/>
            <a:ext cx="232410" cy="0"/>
          </a:xfrm>
          <a:custGeom>
            <a:avLst/>
            <a:gdLst/>
            <a:ahLst/>
            <a:cxnLst/>
            <a:rect l="l" t="t" r="r" b="b"/>
            <a:pathLst>
              <a:path w="232410">
                <a:moveTo>
                  <a:pt x="0" y="0"/>
                </a:moveTo>
                <a:lnTo>
                  <a:pt x="232008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068517" y="1358649"/>
            <a:ext cx="232410" cy="0"/>
          </a:xfrm>
          <a:custGeom>
            <a:avLst/>
            <a:gdLst/>
            <a:ahLst/>
            <a:cxnLst/>
            <a:rect l="l" t="t" r="r" b="b"/>
            <a:pathLst>
              <a:path w="232410">
                <a:moveTo>
                  <a:pt x="0" y="0"/>
                </a:moveTo>
                <a:lnTo>
                  <a:pt x="232008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635208" y="1358649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5">
                <a:moveTo>
                  <a:pt x="0" y="0"/>
                </a:moveTo>
                <a:lnTo>
                  <a:pt x="232705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845749" y="1358649"/>
            <a:ext cx="232410" cy="0"/>
          </a:xfrm>
          <a:custGeom>
            <a:avLst/>
            <a:gdLst/>
            <a:ahLst/>
            <a:cxnLst/>
            <a:rect l="l" t="t" r="r" b="b"/>
            <a:pathLst>
              <a:path w="232409">
                <a:moveTo>
                  <a:pt x="0" y="0"/>
                </a:moveTo>
                <a:lnTo>
                  <a:pt x="232071" y="0"/>
                </a:lnTo>
              </a:path>
            </a:pathLst>
          </a:custGeom>
          <a:ln w="146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1201502" y="535423"/>
            <a:ext cx="8314055" cy="193230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560"/>
              </a:spcBef>
            </a:pPr>
            <a:r>
              <a:rPr sz="2750" i="1" spc="185" dirty="0">
                <a:latin typeface="Times New Roman"/>
                <a:cs typeface="Times New Roman"/>
              </a:rPr>
              <a:t>F</a:t>
            </a:r>
            <a:r>
              <a:rPr sz="2750" i="1" spc="250" dirty="0">
                <a:latin typeface="Times New Roman"/>
                <a:cs typeface="Times New Roman"/>
              </a:rPr>
              <a:t> </a:t>
            </a:r>
            <a:r>
              <a:rPr sz="2750" spc="165" dirty="0">
                <a:latin typeface="Symbol"/>
                <a:cs typeface="Symbol"/>
              </a:rPr>
              <a:t></a:t>
            </a:r>
            <a:r>
              <a:rPr sz="2750" spc="220" dirty="0">
                <a:latin typeface="Times New Roman"/>
                <a:cs typeface="Times New Roman"/>
              </a:rPr>
              <a:t> </a:t>
            </a:r>
            <a:r>
              <a:rPr sz="2750" i="1" spc="150" dirty="0">
                <a:latin typeface="Times New Roman"/>
                <a:cs typeface="Times New Roman"/>
              </a:rPr>
              <a:t>A</a:t>
            </a:r>
            <a:r>
              <a:rPr sz="2400" spc="225" baseline="-5208" dirty="0">
                <a:latin typeface="Times New Roman"/>
                <a:cs typeface="Times New Roman"/>
              </a:rPr>
              <a:t>2</a:t>
            </a:r>
            <a:r>
              <a:rPr sz="2400" spc="300" baseline="-5208" dirty="0">
                <a:latin typeface="Times New Roman"/>
                <a:cs typeface="Times New Roman"/>
              </a:rPr>
              <a:t> </a:t>
            </a:r>
            <a:r>
              <a:rPr sz="2750" i="1" spc="50" dirty="0">
                <a:latin typeface="Times New Roman"/>
                <a:cs typeface="Times New Roman"/>
              </a:rPr>
              <a:t>A</a:t>
            </a:r>
            <a:r>
              <a:rPr sz="2400" spc="75" baseline="-5208" dirty="0">
                <a:latin typeface="Times New Roman"/>
                <a:cs typeface="Times New Roman"/>
              </a:rPr>
              <a:t>1</a:t>
            </a:r>
            <a:r>
              <a:rPr sz="2400" spc="104" baseline="-5208" dirty="0">
                <a:latin typeface="Times New Roman"/>
                <a:cs typeface="Times New Roman"/>
              </a:rPr>
              <a:t> </a:t>
            </a:r>
            <a:r>
              <a:rPr sz="2750" i="1" spc="135" dirty="0">
                <a:latin typeface="Times New Roman"/>
                <a:cs typeface="Times New Roman"/>
              </a:rPr>
              <a:t>A</a:t>
            </a:r>
            <a:r>
              <a:rPr sz="2400" spc="202" baseline="-5208" dirty="0">
                <a:latin typeface="Times New Roman"/>
                <a:cs typeface="Times New Roman"/>
              </a:rPr>
              <a:t>0</a:t>
            </a:r>
            <a:r>
              <a:rPr sz="2400" spc="-270" baseline="-5208" dirty="0">
                <a:latin typeface="Times New Roman"/>
                <a:cs typeface="Times New Roman"/>
              </a:rPr>
              <a:t> </a:t>
            </a:r>
            <a:r>
              <a:rPr sz="2750" i="1" spc="90" dirty="0">
                <a:latin typeface="Times New Roman"/>
                <a:cs typeface="Times New Roman"/>
              </a:rPr>
              <a:t>D</a:t>
            </a:r>
            <a:r>
              <a:rPr sz="2400" spc="135" baseline="-24305" dirty="0">
                <a:latin typeface="Times New Roman"/>
                <a:cs typeface="Times New Roman"/>
              </a:rPr>
              <a:t>0</a:t>
            </a:r>
            <a:r>
              <a:rPr sz="2400" spc="585" baseline="-24305" dirty="0">
                <a:latin typeface="Times New Roman"/>
                <a:cs typeface="Times New Roman"/>
              </a:rPr>
              <a:t> </a:t>
            </a: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i="1" spc="150" dirty="0">
                <a:latin typeface="Times New Roman"/>
                <a:cs typeface="Times New Roman"/>
              </a:rPr>
              <a:t>A</a:t>
            </a:r>
            <a:r>
              <a:rPr sz="2400" spc="225" baseline="-5208" dirty="0">
                <a:latin typeface="Times New Roman"/>
                <a:cs typeface="Times New Roman"/>
              </a:rPr>
              <a:t>2</a:t>
            </a:r>
            <a:r>
              <a:rPr sz="2400" spc="300" baseline="-5208" dirty="0">
                <a:latin typeface="Times New Roman"/>
                <a:cs typeface="Times New Roman"/>
              </a:rPr>
              <a:t> </a:t>
            </a:r>
            <a:r>
              <a:rPr sz="2750" i="1" spc="50" dirty="0">
                <a:latin typeface="Times New Roman"/>
                <a:cs typeface="Times New Roman"/>
              </a:rPr>
              <a:t>A</a:t>
            </a:r>
            <a:r>
              <a:rPr sz="2400" spc="75" baseline="-5208" dirty="0">
                <a:latin typeface="Times New Roman"/>
                <a:cs typeface="Times New Roman"/>
              </a:rPr>
              <a:t>1</a:t>
            </a:r>
            <a:r>
              <a:rPr sz="2400" spc="-247" baseline="-5208" dirty="0">
                <a:latin typeface="Times New Roman"/>
                <a:cs typeface="Times New Roman"/>
              </a:rPr>
              <a:t> </a:t>
            </a:r>
            <a:r>
              <a:rPr sz="2750" i="1" spc="5" dirty="0">
                <a:latin typeface="Times New Roman"/>
                <a:cs typeface="Times New Roman"/>
              </a:rPr>
              <a:t>A</a:t>
            </a:r>
            <a:r>
              <a:rPr sz="2400" spc="7" baseline="-24305" dirty="0">
                <a:latin typeface="Times New Roman"/>
                <a:cs typeface="Times New Roman"/>
              </a:rPr>
              <a:t>0</a:t>
            </a:r>
            <a:r>
              <a:rPr sz="2400" spc="-270" baseline="-24305" dirty="0">
                <a:latin typeface="Times New Roman"/>
                <a:cs typeface="Times New Roman"/>
              </a:rPr>
              <a:t> </a:t>
            </a:r>
            <a:r>
              <a:rPr sz="2750" i="1" spc="5" dirty="0">
                <a:latin typeface="Times New Roman"/>
                <a:cs typeface="Times New Roman"/>
              </a:rPr>
              <a:t>D</a:t>
            </a:r>
            <a:r>
              <a:rPr sz="2400" spc="7" baseline="-24305" dirty="0">
                <a:latin typeface="Times New Roman"/>
                <a:cs typeface="Times New Roman"/>
              </a:rPr>
              <a:t>1</a:t>
            </a:r>
            <a:r>
              <a:rPr sz="2400" spc="382" baseline="-24305" dirty="0">
                <a:latin typeface="Times New Roman"/>
                <a:cs typeface="Times New Roman"/>
              </a:rPr>
              <a:t> </a:t>
            </a: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i="1" spc="150" dirty="0">
                <a:latin typeface="Times New Roman"/>
                <a:cs typeface="Times New Roman"/>
              </a:rPr>
              <a:t>A</a:t>
            </a:r>
            <a:r>
              <a:rPr sz="2400" spc="225" baseline="-5208" dirty="0">
                <a:latin typeface="Times New Roman"/>
                <a:cs typeface="Times New Roman"/>
              </a:rPr>
              <a:t>2</a:t>
            </a:r>
            <a:r>
              <a:rPr sz="2400" spc="-52" baseline="-5208" dirty="0">
                <a:latin typeface="Times New Roman"/>
                <a:cs typeface="Times New Roman"/>
              </a:rPr>
              <a:t> </a:t>
            </a:r>
            <a:r>
              <a:rPr sz="2750" i="1" spc="-75" dirty="0">
                <a:latin typeface="Times New Roman"/>
                <a:cs typeface="Times New Roman"/>
              </a:rPr>
              <a:t>A</a:t>
            </a:r>
            <a:r>
              <a:rPr sz="2400" spc="-112" baseline="-24305" dirty="0">
                <a:latin typeface="Times New Roman"/>
                <a:cs typeface="Times New Roman"/>
              </a:rPr>
              <a:t>1</a:t>
            </a:r>
            <a:r>
              <a:rPr sz="2400" spc="89" baseline="-24305" dirty="0">
                <a:latin typeface="Times New Roman"/>
                <a:cs typeface="Times New Roman"/>
              </a:rPr>
              <a:t> </a:t>
            </a:r>
            <a:r>
              <a:rPr sz="2750" i="1" spc="135" dirty="0">
                <a:latin typeface="Times New Roman"/>
                <a:cs typeface="Times New Roman"/>
              </a:rPr>
              <a:t>A</a:t>
            </a:r>
            <a:r>
              <a:rPr sz="2400" spc="202" baseline="-5208" dirty="0">
                <a:latin typeface="Times New Roman"/>
                <a:cs typeface="Times New Roman"/>
              </a:rPr>
              <a:t>0</a:t>
            </a:r>
            <a:r>
              <a:rPr sz="2400" spc="-270" baseline="-5208" dirty="0">
                <a:latin typeface="Times New Roman"/>
                <a:cs typeface="Times New Roman"/>
              </a:rPr>
              <a:t> </a:t>
            </a:r>
            <a:r>
              <a:rPr sz="2750" i="1" spc="105" dirty="0">
                <a:latin typeface="Times New Roman"/>
                <a:cs typeface="Times New Roman"/>
              </a:rPr>
              <a:t>D</a:t>
            </a:r>
            <a:r>
              <a:rPr sz="2400" spc="157" baseline="-24305" dirty="0">
                <a:latin typeface="Times New Roman"/>
                <a:cs typeface="Times New Roman"/>
              </a:rPr>
              <a:t>2</a:t>
            </a:r>
            <a:r>
              <a:rPr sz="2400" spc="577" baseline="-24305" dirty="0">
                <a:latin typeface="Times New Roman"/>
                <a:cs typeface="Times New Roman"/>
              </a:rPr>
              <a:t> </a:t>
            </a: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75" dirty="0">
                <a:latin typeface="Times New Roman"/>
                <a:cs typeface="Times New Roman"/>
              </a:rPr>
              <a:t> </a:t>
            </a:r>
            <a:r>
              <a:rPr sz="2750" i="1" spc="150" dirty="0">
                <a:latin typeface="Times New Roman"/>
                <a:cs typeface="Times New Roman"/>
              </a:rPr>
              <a:t>A</a:t>
            </a:r>
            <a:r>
              <a:rPr sz="2400" spc="225" baseline="-5208" dirty="0">
                <a:latin typeface="Times New Roman"/>
                <a:cs typeface="Times New Roman"/>
              </a:rPr>
              <a:t>2</a:t>
            </a:r>
            <a:r>
              <a:rPr sz="2400" spc="-60" baseline="-5208" dirty="0">
                <a:latin typeface="Times New Roman"/>
                <a:cs typeface="Times New Roman"/>
              </a:rPr>
              <a:t> </a:t>
            </a:r>
            <a:r>
              <a:rPr sz="2750" i="1" spc="-75" dirty="0">
                <a:latin typeface="Times New Roman"/>
                <a:cs typeface="Times New Roman"/>
              </a:rPr>
              <a:t>A</a:t>
            </a:r>
            <a:r>
              <a:rPr sz="2400" spc="-112" baseline="-24305" dirty="0">
                <a:latin typeface="Times New Roman"/>
                <a:cs typeface="Times New Roman"/>
              </a:rPr>
              <a:t>1</a:t>
            </a:r>
            <a:r>
              <a:rPr sz="2400" spc="-262" baseline="-24305" dirty="0">
                <a:latin typeface="Times New Roman"/>
                <a:cs typeface="Times New Roman"/>
              </a:rPr>
              <a:t> </a:t>
            </a:r>
            <a:r>
              <a:rPr sz="2750" i="1" spc="5" dirty="0">
                <a:latin typeface="Times New Roman"/>
                <a:cs typeface="Times New Roman"/>
              </a:rPr>
              <a:t>A</a:t>
            </a:r>
            <a:r>
              <a:rPr sz="2400" spc="7" baseline="-24305" dirty="0">
                <a:latin typeface="Times New Roman"/>
                <a:cs typeface="Times New Roman"/>
              </a:rPr>
              <a:t>0</a:t>
            </a:r>
            <a:r>
              <a:rPr sz="2400" spc="-270" baseline="-24305" dirty="0">
                <a:latin typeface="Times New Roman"/>
                <a:cs typeface="Times New Roman"/>
              </a:rPr>
              <a:t> </a:t>
            </a:r>
            <a:r>
              <a:rPr sz="2750" i="1" spc="75" dirty="0">
                <a:latin typeface="Times New Roman"/>
                <a:cs typeface="Times New Roman"/>
              </a:rPr>
              <a:t>D</a:t>
            </a:r>
            <a:r>
              <a:rPr sz="2400" spc="112" baseline="-24305" dirty="0">
                <a:latin typeface="Times New Roman"/>
                <a:cs typeface="Times New Roman"/>
              </a:rPr>
              <a:t>3</a:t>
            </a:r>
            <a:endParaRPr sz="2400" baseline="-24305">
              <a:latin typeface="Times New Roman"/>
              <a:cs typeface="Times New Roman"/>
            </a:endParaRPr>
          </a:p>
          <a:p>
            <a:pPr marL="793750">
              <a:lnSpc>
                <a:spcPct val="100000"/>
              </a:lnSpc>
              <a:spcBef>
                <a:spcPts val="1470"/>
              </a:spcBef>
            </a:pP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165" dirty="0">
                <a:latin typeface="Times New Roman"/>
                <a:cs typeface="Times New Roman"/>
              </a:rPr>
              <a:t> </a:t>
            </a:r>
            <a:r>
              <a:rPr sz="2750" i="1" spc="20" dirty="0">
                <a:latin typeface="Times New Roman"/>
                <a:cs typeface="Times New Roman"/>
              </a:rPr>
              <a:t>A</a:t>
            </a:r>
            <a:r>
              <a:rPr sz="2400" spc="30" baseline="-24305" dirty="0">
                <a:latin typeface="Times New Roman"/>
                <a:cs typeface="Times New Roman"/>
              </a:rPr>
              <a:t>2 </a:t>
            </a:r>
            <a:r>
              <a:rPr sz="2750" i="1" spc="50" dirty="0">
                <a:latin typeface="Times New Roman"/>
                <a:cs typeface="Times New Roman"/>
              </a:rPr>
              <a:t>A</a:t>
            </a:r>
            <a:r>
              <a:rPr sz="2400" spc="75" baseline="-5208" dirty="0">
                <a:latin typeface="Times New Roman"/>
                <a:cs typeface="Times New Roman"/>
              </a:rPr>
              <a:t>1 </a:t>
            </a:r>
            <a:r>
              <a:rPr sz="2750" i="1" spc="135" dirty="0">
                <a:latin typeface="Times New Roman"/>
                <a:cs typeface="Times New Roman"/>
              </a:rPr>
              <a:t>A</a:t>
            </a:r>
            <a:r>
              <a:rPr sz="2400" spc="202" baseline="-5208" dirty="0">
                <a:latin typeface="Times New Roman"/>
                <a:cs typeface="Times New Roman"/>
              </a:rPr>
              <a:t>0 </a:t>
            </a:r>
            <a:r>
              <a:rPr sz="2750" i="1" spc="100" dirty="0">
                <a:latin typeface="Times New Roman"/>
                <a:cs typeface="Times New Roman"/>
              </a:rPr>
              <a:t>D</a:t>
            </a:r>
            <a:r>
              <a:rPr sz="2400" spc="150" baseline="-24305" dirty="0">
                <a:latin typeface="Times New Roman"/>
                <a:cs typeface="Times New Roman"/>
              </a:rPr>
              <a:t>4 </a:t>
            </a: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165" dirty="0">
                <a:latin typeface="Times New Roman"/>
                <a:cs typeface="Times New Roman"/>
              </a:rPr>
              <a:t> </a:t>
            </a:r>
            <a:r>
              <a:rPr sz="2750" i="1" spc="20" dirty="0">
                <a:latin typeface="Times New Roman"/>
                <a:cs typeface="Times New Roman"/>
              </a:rPr>
              <a:t>A</a:t>
            </a:r>
            <a:r>
              <a:rPr sz="2400" spc="30" baseline="-24305" dirty="0">
                <a:latin typeface="Times New Roman"/>
                <a:cs typeface="Times New Roman"/>
              </a:rPr>
              <a:t>2 </a:t>
            </a:r>
            <a:r>
              <a:rPr sz="2750" i="1" spc="50" dirty="0">
                <a:latin typeface="Times New Roman"/>
                <a:cs typeface="Times New Roman"/>
              </a:rPr>
              <a:t>A</a:t>
            </a:r>
            <a:r>
              <a:rPr sz="2400" spc="75" baseline="-5208" dirty="0">
                <a:latin typeface="Times New Roman"/>
                <a:cs typeface="Times New Roman"/>
              </a:rPr>
              <a:t>1 </a:t>
            </a:r>
            <a:r>
              <a:rPr sz="2750" i="1" spc="5" dirty="0">
                <a:latin typeface="Times New Roman"/>
                <a:cs typeface="Times New Roman"/>
              </a:rPr>
              <a:t>A</a:t>
            </a:r>
            <a:r>
              <a:rPr sz="2400" spc="7" baseline="-24305" dirty="0">
                <a:latin typeface="Times New Roman"/>
                <a:cs typeface="Times New Roman"/>
              </a:rPr>
              <a:t>0 </a:t>
            </a:r>
            <a:r>
              <a:rPr sz="2750" i="1" spc="75" dirty="0">
                <a:latin typeface="Times New Roman"/>
                <a:cs typeface="Times New Roman"/>
              </a:rPr>
              <a:t>D</a:t>
            </a:r>
            <a:r>
              <a:rPr sz="2400" spc="112" baseline="-24305" dirty="0">
                <a:latin typeface="Times New Roman"/>
                <a:cs typeface="Times New Roman"/>
              </a:rPr>
              <a:t>5 </a:t>
            </a: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165" dirty="0">
                <a:latin typeface="Times New Roman"/>
                <a:cs typeface="Times New Roman"/>
              </a:rPr>
              <a:t> </a:t>
            </a:r>
            <a:r>
              <a:rPr sz="2750" i="1" spc="20" dirty="0">
                <a:latin typeface="Times New Roman"/>
                <a:cs typeface="Times New Roman"/>
              </a:rPr>
              <a:t>A</a:t>
            </a:r>
            <a:r>
              <a:rPr sz="2400" spc="30" baseline="-24305" dirty="0">
                <a:latin typeface="Times New Roman"/>
                <a:cs typeface="Times New Roman"/>
              </a:rPr>
              <a:t>2 </a:t>
            </a:r>
            <a:r>
              <a:rPr sz="2750" i="1" spc="-80" dirty="0">
                <a:latin typeface="Times New Roman"/>
                <a:cs typeface="Times New Roman"/>
              </a:rPr>
              <a:t>A</a:t>
            </a:r>
            <a:r>
              <a:rPr sz="2400" spc="-120" baseline="-24305" dirty="0">
                <a:latin typeface="Times New Roman"/>
                <a:cs typeface="Times New Roman"/>
              </a:rPr>
              <a:t>1 </a:t>
            </a:r>
            <a:r>
              <a:rPr sz="2750" i="1" spc="135" dirty="0">
                <a:latin typeface="Times New Roman"/>
                <a:cs typeface="Times New Roman"/>
              </a:rPr>
              <a:t>A</a:t>
            </a:r>
            <a:r>
              <a:rPr sz="2400" spc="202" baseline="-5208" dirty="0">
                <a:latin typeface="Times New Roman"/>
                <a:cs typeface="Times New Roman"/>
              </a:rPr>
              <a:t>0 </a:t>
            </a:r>
            <a:r>
              <a:rPr sz="2750" i="1" spc="85" dirty="0">
                <a:latin typeface="Times New Roman"/>
                <a:cs typeface="Times New Roman"/>
              </a:rPr>
              <a:t>D</a:t>
            </a:r>
            <a:r>
              <a:rPr sz="2400" spc="127" baseline="-24305" dirty="0">
                <a:latin typeface="Times New Roman"/>
                <a:cs typeface="Times New Roman"/>
              </a:rPr>
              <a:t>6 </a:t>
            </a:r>
            <a:r>
              <a:rPr sz="2750" spc="165" dirty="0">
                <a:latin typeface="Symbol"/>
                <a:cs typeface="Symbol"/>
              </a:rPr>
              <a:t></a:t>
            </a:r>
            <a:r>
              <a:rPr sz="2750" spc="-185" dirty="0">
                <a:latin typeface="Times New Roman"/>
                <a:cs typeface="Times New Roman"/>
              </a:rPr>
              <a:t> </a:t>
            </a:r>
            <a:r>
              <a:rPr sz="2750" i="1" spc="20" dirty="0">
                <a:latin typeface="Times New Roman"/>
                <a:cs typeface="Times New Roman"/>
              </a:rPr>
              <a:t>A</a:t>
            </a:r>
            <a:r>
              <a:rPr sz="2400" spc="30" baseline="-24305" dirty="0">
                <a:latin typeface="Times New Roman"/>
                <a:cs typeface="Times New Roman"/>
              </a:rPr>
              <a:t>2 </a:t>
            </a:r>
            <a:r>
              <a:rPr sz="2750" i="1" spc="-75" dirty="0">
                <a:latin typeface="Times New Roman"/>
                <a:cs typeface="Times New Roman"/>
              </a:rPr>
              <a:t>A</a:t>
            </a:r>
            <a:r>
              <a:rPr sz="2400" spc="-112" baseline="-24305" dirty="0">
                <a:latin typeface="Times New Roman"/>
                <a:cs typeface="Times New Roman"/>
              </a:rPr>
              <a:t>1 </a:t>
            </a:r>
            <a:r>
              <a:rPr sz="2750" i="1" spc="5" dirty="0">
                <a:latin typeface="Times New Roman"/>
                <a:cs typeface="Times New Roman"/>
              </a:rPr>
              <a:t>A</a:t>
            </a:r>
            <a:r>
              <a:rPr sz="2400" spc="7" baseline="-24305" dirty="0">
                <a:latin typeface="Times New Roman"/>
                <a:cs typeface="Times New Roman"/>
              </a:rPr>
              <a:t>0 </a:t>
            </a:r>
            <a:r>
              <a:rPr sz="2750" i="1" spc="85" dirty="0">
                <a:latin typeface="Times New Roman"/>
                <a:cs typeface="Times New Roman"/>
              </a:rPr>
              <a:t>D</a:t>
            </a:r>
            <a:r>
              <a:rPr sz="2400" spc="127" baseline="-24305" dirty="0">
                <a:latin typeface="Times New Roman"/>
                <a:cs typeface="Times New Roman"/>
              </a:rPr>
              <a:t>7</a:t>
            </a:r>
            <a:endParaRPr sz="2400" baseline="-24305">
              <a:latin typeface="Times New Roman"/>
              <a:cs typeface="Times New Roman"/>
            </a:endParaRPr>
          </a:p>
          <a:p>
            <a:pPr marL="185420">
              <a:lnSpc>
                <a:spcPct val="100000"/>
              </a:lnSpc>
              <a:spcBef>
                <a:spcPts val="212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和要实现的逻辑表达式对比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2024547" y="2865175"/>
            <a:ext cx="236854" cy="0"/>
          </a:xfrm>
          <a:custGeom>
            <a:avLst/>
            <a:gdLst/>
            <a:ahLst/>
            <a:cxnLst/>
            <a:rect l="l" t="t" r="r" b="b"/>
            <a:pathLst>
              <a:path w="236855">
                <a:moveTo>
                  <a:pt x="0" y="0"/>
                </a:moveTo>
                <a:lnTo>
                  <a:pt x="236674" y="0"/>
                </a:lnTo>
              </a:path>
            </a:pathLst>
          </a:custGeom>
          <a:ln w="177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408646" y="2865175"/>
            <a:ext cx="236854" cy="0"/>
          </a:xfrm>
          <a:custGeom>
            <a:avLst/>
            <a:gdLst/>
            <a:ahLst/>
            <a:cxnLst/>
            <a:rect l="l" t="t" r="r" b="b"/>
            <a:pathLst>
              <a:path w="236854">
                <a:moveTo>
                  <a:pt x="0" y="0"/>
                </a:moveTo>
                <a:lnTo>
                  <a:pt x="236674" y="0"/>
                </a:lnTo>
              </a:path>
            </a:pathLst>
          </a:custGeom>
          <a:ln w="177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786351" y="2865175"/>
            <a:ext cx="249554" cy="0"/>
          </a:xfrm>
          <a:custGeom>
            <a:avLst/>
            <a:gdLst/>
            <a:ahLst/>
            <a:cxnLst/>
            <a:rect l="l" t="t" r="r" b="b"/>
            <a:pathLst>
              <a:path w="249554">
                <a:moveTo>
                  <a:pt x="0" y="0"/>
                </a:moveTo>
                <a:lnTo>
                  <a:pt x="249334" y="0"/>
                </a:lnTo>
              </a:path>
            </a:pathLst>
          </a:custGeom>
          <a:ln w="177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548640" y="2828508"/>
            <a:ext cx="5650230" cy="12503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63905" algn="ctr">
              <a:lnSpc>
                <a:spcPct val="100000"/>
              </a:lnSpc>
              <a:spcBef>
                <a:spcPts val="135"/>
              </a:spcBef>
            </a:pPr>
            <a:r>
              <a:rPr sz="2750" i="1" spc="190" dirty="0">
                <a:latin typeface="Times New Roman"/>
                <a:cs typeface="Times New Roman"/>
              </a:rPr>
              <a:t>F </a:t>
            </a:r>
            <a:r>
              <a:rPr sz="2750" spc="175" dirty="0">
                <a:latin typeface="Symbol"/>
                <a:cs typeface="Symbol"/>
              </a:rPr>
              <a:t></a:t>
            </a:r>
            <a:r>
              <a:rPr sz="2750" spc="175" dirty="0">
                <a:latin typeface="Times New Roman"/>
                <a:cs typeface="Times New Roman"/>
              </a:rPr>
              <a:t> </a:t>
            </a:r>
            <a:r>
              <a:rPr sz="2750" i="1" spc="140" dirty="0">
                <a:latin typeface="Times New Roman"/>
                <a:cs typeface="Times New Roman"/>
              </a:rPr>
              <a:t>ABC </a:t>
            </a:r>
            <a:r>
              <a:rPr sz="2750" spc="175" dirty="0">
                <a:latin typeface="Symbol"/>
                <a:cs typeface="Symbol"/>
              </a:rPr>
              <a:t></a:t>
            </a:r>
            <a:r>
              <a:rPr sz="2750" spc="175" dirty="0">
                <a:latin typeface="Times New Roman"/>
                <a:cs typeface="Times New Roman"/>
              </a:rPr>
              <a:t> </a:t>
            </a:r>
            <a:r>
              <a:rPr sz="2750" i="1" spc="155" dirty="0">
                <a:latin typeface="Times New Roman"/>
                <a:cs typeface="Times New Roman"/>
              </a:rPr>
              <a:t>ABC </a:t>
            </a:r>
            <a:r>
              <a:rPr sz="2750" spc="175" dirty="0">
                <a:latin typeface="Symbol"/>
                <a:cs typeface="Symbol"/>
              </a:rPr>
              <a:t></a:t>
            </a:r>
            <a:r>
              <a:rPr sz="2750" spc="175" dirty="0">
                <a:latin typeface="Times New Roman"/>
                <a:cs typeface="Times New Roman"/>
              </a:rPr>
              <a:t> </a:t>
            </a:r>
            <a:r>
              <a:rPr sz="2750" i="1" spc="204" dirty="0">
                <a:latin typeface="Times New Roman"/>
                <a:cs typeface="Times New Roman"/>
              </a:rPr>
              <a:t>ABC </a:t>
            </a:r>
            <a:r>
              <a:rPr sz="2750" spc="175" dirty="0">
                <a:latin typeface="Symbol"/>
                <a:cs typeface="Symbol"/>
              </a:rPr>
              <a:t></a:t>
            </a:r>
            <a:r>
              <a:rPr sz="2750" spc="-440" dirty="0">
                <a:latin typeface="Times New Roman"/>
                <a:cs typeface="Times New Roman"/>
              </a:rPr>
              <a:t> </a:t>
            </a:r>
            <a:r>
              <a:rPr sz="2750" i="1" spc="190" dirty="0">
                <a:latin typeface="Times New Roman"/>
                <a:cs typeface="Times New Roman"/>
              </a:rPr>
              <a:t>ABC</a:t>
            </a:r>
            <a:endParaRPr sz="27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950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令：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A</a:t>
            </a:r>
            <a:r>
              <a:rPr sz="2775" spc="-7" baseline="-21021" dirty="0">
                <a:latin typeface="Times New Roman"/>
                <a:cs typeface="Times New Roman"/>
              </a:rPr>
              <a:t>2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i="1" spc="-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微软雅黑"/>
                <a:cs typeface="微软雅黑"/>
              </a:rPr>
              <a:t>、</a:t>
            </a:r>
            <a:r>
              <a:rPr sz="2800" i="1" spc="-5" dirty="0">
                <a:latin typeface="Times New Roman"/>
                <a:cs typeface="Times New Roman"/>
              </a:rPr>
              <a:t>A</a:t>
            </a:r>
            <a:r>
              <a:rPr sz="2775" spc="-7" baseline="-21021" dirty="0">
                <a:latin typeface="Times New Roman"/>
                <a:cs typeface="Times New Roman"/>
              </a:rPr>
              <a:t>1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i="1" spc="-5" dirty="0">
                <a:latin typeface="Times New Roman"/>
                <a:cs typeface="Times New Roman"/>
              </a:rPr>
              <a:t>B</a:t>
            </a:r>
            <a:r>
              <a:rPr sz="2800" spc="-5" dirty="0">
                <a:latin typeface="微软雅黑"/>
                <a:cs typeface="微软雅黑"/>
              </a:rPr>
              <a:t>、</a:t>
            </a:r>
            <a:r>
              <a:rPr sz="2800" i="1" dirty="0">
                <a:latin typeface="Times New Roman"/>
                <a:cs typeface="Times New Roman"/>
              </a:rPr>
              <a:t>A</a:t>
            </a:r>
            <a:r>
              <a:rPr sz="2775" baseline="-21021" dirty="0">
                <a:latin typeface="Times New Roman"/>
                <a:cs typeface="Times New Roman"/>
              </a:rPr>
              <a:t>0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i="1" dirty="0"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95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997590"/>
            <a:ext cx="827595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</a:rPr>
              <a:t>用</a:t>
            </a:r>
            <a:r>
              <a:rPr sz="2800" spc="-10" dirty="0">
                <a:solidFill>
                  <a:srgbClr val="FF0000"/>
                </a:solidFill>
              </a:rPr>
              <a:t>2</a:t>
            </a:r>
            <a:r>
              <a:rPr sz="2800" spc="-5" dirty="0">
                <a:solidFill>
                  <a:srgbClr val="7E4D00"/>
                </a:solidFill>
              </a:rPr>
              <a:t>个控制端的选择器实</a:t>
            </a:r>
            <a:r>
              <a:rPr sz="2800" dirty="0">
                <a:solidFill>
                  <a:srgbClr val="7E4D00"/>
                </a:solidFill>
              </a:rPr>
              <a:t>现</a:t>
            </a:r>
            <a:r>
              <a:rPr sz="2800" spc="-10" dirty="0">
                <a:solidFill>
                  <a:srgbClr val="FF0000"/>
                </a:solidFill>
              </a:rPr>
              <a:t>3</a:t>
            </a:r>
            <a:r>
              <a:rPr sz="2800" spc="-5" dirty="0">
                <a:solidFill>
                  <a:srgbClr val="7E4D00"/>
                </a:solidFill>
              </a:rPr>
              <a:t>变量</a:t>
            </a:r>
            <a:r>
              <a:rPr sz="2800" dirty="0">
                <a:solidFill>
                  <a:srgbClr val="7E4D00"/>
                </a:solidFill>
              </a:rPr>
              <a:t>的</a:t>
            </a:r>
            <a:r>
              <a:rPr sz="2800" spc="-5" dirty="0">
                <a:solidFill>
                  <a:srgbClr val="7E4D00"/>
                </a:solidFill>
              </a:rPr>
              <a:t>组合</a:t>
            </a:r>
            <a:r>
              <a:rPr sz="2800" dirty="0">
                <a:solidFill>
                  <a:srgbClr val="7E4D00"/>
                </a:solidFill>
              </a:rPr>
              <a:t>电</a:t>
            </a:r>
            <a:r>
              <a:rPr sz="2800" spc="-5" dirty="0">
                <a:solidFill>
                  <a:srgbClr val="7E4D00"/>
                </a:solidFill>
              </a:rPr>
              <a:t>路，</a:t>
            </a:r>
            <a:r>
              <a:rPr sz="2800" dirty="0">
                <a:solidFill>
                  <a:srgbClr val="7E4D00"/>
                </a:solidFill>
              </a:rPr>
              <a:t>需</a:t>
            </a:r>
            <a:r>
              <a:rPr sz="2800" spc="-5" dirty="0">
                <a:solidFill>
                  <a:srgbClr val="7E4D00"/>
                </a:solidFill>
              </a:rPr>
              <a:t>分 离出多余的变量。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374394" y="2656077"/>
            <a:ext cx="49771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写出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4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选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数据选择器的逻辑式：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836" y="260604"/>
            <a:ext cx="5215255" cy="612775"/>
          </a:xfrm>
          <a:prstGeom prst="rect">
            <a:avLst/>
          </a:prstGeom>
          <a:solidFill>
            <a:srgbClr val="FFC9AA"/>
          </a:solidFill>
        </p:spPr>
        <p:txBody>
          <a:bodyPr vert="horz" wrap="square" lIns="0" tIns="1060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835"/>
              </a:spcBef>
            </a:pPr>
            <a:r>
              <a:rPr sz="2800" spc="-5" dirty="0">
                <a:solidFill>
                  <a:srgbClr val="C00000"/>
                </a:solidFill>
                <a:latin typeface="华文楷体"/>
                <a:cs typeface="华文楷体"/>
              </a:rPr>
              <a:t>方法二：选用</a:t>
            </a:r>
            <a:r>
              <a:rPr sz="2800" spc="-10" dirty="0">
                <a:solidFill>
                  <a:srgbClr val="C00000"/>
                </a:solidFill>
                <a:latin typeface="华文楷体"/>
                <a:cs typeface="华文楷体"/>
              </a:rPr>
              <a:t>4</a:t>
            </a:r>
            <a:r>
              <a:rPr sz="2800" spc="-5" dirty="0">
                <a:solidFill>
                  <a:srgbClr val="C00000"/>
                </a:solidFill>
                <a:latin typeface="华文楷体"/>
                <a:cs typeface="华文楷体"/>
              </a:rPr>
              <a:t>选</a:t>
            </a:r>
            <a:r>
              <a:rPr sz="2800" spc="-10" dirty="0">
                <a:solidFill>
                  <a:srgbClr val="C00000"/>
                </a:solidFill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C00000"/>
                </a:solidFill>
                <a:latin typeface="华文楷体"/>
                <a:cs typeface="华文楷体"/>
              </a:rPr>
              <a:t>数据选择器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68453" y="4183245"/>
            <a:ext cx="251460" cy="0"/>
          </a:xfrm>
          <a:custGeom>
            <a:avLst/>
            <a:gdLst/>
            <a:ahLst/>
            <a:cxnLst/>
            <a:rect l="l" t="t" r="r" b="b"/>
            <a:pathLst>
              <a:path w="251460">
                <a:moveTo>
                  <a:pt x="0" y="0"/>
                </a:moveTo>
                <a:lnTo>
                  <a:pt x="251131" y="0"/>
                </a:lnTo>
              </a:path>
            </a:pathLst>
          </a:custGeom>
          <a:ln w="15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02159" y="4183245"/>
            <a:ext cx="250825" cy="0"/>
          </a:xfrm>
          <a:custGeom>
            <a:avLst/>
            <a:gdLst/>
            <a:ahLst/>
            <a:cxnLst/>
            <a:rect l="l" t="t" r="r" b="b"/>
            <a:pathLst>
              <a:path w="250825">
                <a:moveTo>
                  <a:pt x="0" y="0"/>
                </a:moveTo>
                <a:lnTo>
                  <a:pt x="250277" y="0"/>
                </a:lnTo>
              </a:path>
            </a:pathLst>
          </a:custGeom>
          <a:ln w="15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87567" y="4183245"/>
            <a:ext cx="251460" cy="0"/>
          </a:xfrm>
          <a:custGeom>
            <a:avLst/>
            <a:gdLst/>
            <a:ahLst/>
            <a:cxnLst/>
            <a:rect l="l" t="t" r="r" b="b"/>
            <a:pathLst>
              <a:path w="251460">
                <a:moveTo>
                  <a:pt x="0" y="0"/>
                </a:moveTo>
                <a:lnTo>
                  <a:pt x="251131" y="0"/>
                </a:lnTo>
              </a:path>
            </a:pathLst>
          </a:custGeom>
          <a:ln w="15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95694" y="4183245"/>
            <a:ext cx="250825" cy="0"/>
          </a:xfrm>
          <a:custGeom>
            <a:avLst/>
            <a:gdLst/>
            <a:ahLst/>
            <a:cxnLst/>
            <a:rect l="l" t="t" r="r" b="b"/>
            <a:pathLst>
              <a:path w="250825">
                <a:moveTo>
                  <a:pt x="0" y="0"/>
                </a:moveTo>
                <a:lnTo>
                  <a:pt x="250379" y="0"/>
                </a:lnTo>
              </a:path>
            </a:pathLst>
          </a:custGeom>
          <a:ln w="15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810503" y="4142866"/>
            <a:ext cx="701294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</a:pPr>
            <a:r>
              <a:rPr sz="2950" i="1" spc="185" dirty="0">
                <a:latin typeface="Times New Roman"/>
                <a:cs typeface="Times New Roman"/>
              </a:rPr>
              <a:t>F 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165" dirty="0">
                <a:latin typeface="Times New Roman"/>
                <a:cs typeface="Times New Roman"/>
              </a:rPr>
              <a:t> </a:t>
            </a:r>
            <a:r>
              <a:rPr sz="2950" i="1" spc="90" dirty="0">
                <a:latin typeface="Times New Roman"/>
                <a:cs typeface="Times New Roman"/>
              </a:rPr>
              <a:t>A</a:t>
            </a:r>
            <a:r>
              <a:rPr sz="2550" spc="135" baseline="-4901" dirty="0">
                <a:latin typeface="Times New Roman"/>
                <a:cs typeface="Times New Roman"/>
              </a:rPr>
              <a:t>1 </a:t>
            </a:r>
            <a:r>
              <a:rPr sz="2950" i="1" spc="180" dirty="0">
                <a:latin typeface="Times New Roman"/>
                <a:cs typeface="Times New Roman"/>
              </a:rPr>
              <a:t>A</a:t>
            </a:r>
            <a:r>
              <a:rPr sz="2550" spc="270" baseline="-4901" dirty="0">
                <a:latin typeface="Times New Roman"/>
                <a:cs typeface="Times New Roman"/>
              </a:rPr>
              <a:t>0 </a:t>
            </a:r>
            <a:r>
              <a:rPr sz="2950" i="1" spc="130" dirty="0">
                <a:latin typeface="Times New Roman"/>
                <a:cs typeface="Times New Roman"/>
              </a:rPr>
              <a:t>D</a:t>
            </a:r>
            <a:r>
              <a:rPr sz="2550" spc="195" baseline="-24509" dirty="0">
                <a:latin typeface="Times New Roman"/>
                <a:cs typeface="Times New Roman"/>
              </a:rPr>
              <a:t>0 </a:t>
            </a:r>
            <a:r>
              <a:rPr sz="2950" spc="165" dirty="0">
                <a:latin typeface="Symbol"/>
                <a:cs typeface="Symbol"/>
              </a:rPr>
              <a:t></a:t>
            </a:r>
            <a:r>
              <a:rPr sz="2950" spc="165" dirty="0">
                <a:latin typeface="Times New Roman"/>
                <a:cs typeface="Times New Roman"/>
              </a:rPr>
              <a:t> </a:t>
            </a:r>
            <a:r>
              <a:rPr sz="2950" i="1" spc="90" dirty="0">
                <a:latin typeface="Times New Roman"/>
                <a:cs typeface="Times New Roman"/>
              </a:rPr>
              <a:t>A</a:t>
            </a:r>
            <a:r>
              <a:rPr sz="2550" spc="135" baseline="-4901" dirty="0">
                <a:latin typeface="Times New Roman"/>
                <a:cs typeface="Times New Roman"/>
              </a:rPr>
              <a:t>1 </a:t>
            </a:r>
            <a:r>
              <a:rPr sz="2950" i="1" spc="40" dirty="0">
                <a:latin typeface="Times New Roman"/>
                <a:cs typeface="Times New Roman"/>
              </a:rPr>
              <a:t>A</a:t>
            </a:r>
            <a:r>
              <a:rPr sz="2550" spc="60" baseline="-24509" dirty="0">
                <a:latin typeface="Times New Roman"/>
                <a:cs typeface="Times New Roman"/>
              </a:rPr>
              <a:t>0 </a:t>
            </a:r>
            <a:r>
              <a:rPr sz="2950" i="1" spc="40" dirty="0">
                <a:latin typeface="Times New Roman"/>
                <a:cs typeface="Times New Roman"/>
              </a:rPr>
              <a:t>D</a:t>
            </a:r>
            <a:r>
              <a:rPr sz="2550" spc="60" baseline="-24509" dirty="0">
                <a:latin typeface="Times New Roman"/>
                <a:cs typeface="Times New Roman"/>
              </a:rPr>
              <a:t>1 </a:t>
            </a:r>
            <a:r>
              <a:rPr sz="2950" spc="165" dirty="0">
                <a:latin typeface="Symbol"/>
                <a:cs typeface="Symbol"/>
              </a:rPr>
              <a:t></a:t>
            </a:r>
            <a:r>
              <a:rPr sz="2950" spc="165" dirty="0">
                <a:latin typeface="Times New Roman"/>
                <a:cs typeface="Times New Roman"/>
              </a:rPr>
              <a:t> </a:t>
            </a:r>
            <a:r>
              <a:rPr sz="2950" i="1" spc="-50" dirty="0">
                <a:latin typeface="Times New Roman"/>
                <a:cs typeface="Times New Roman"/>
              </a:rPr>
              <a:t>A</a:t>
            </a:r>
            <a:r>
              <a:rPr sz="2550" spc="-75" baseline="-24509" dirty="0">
                <a:latin typeface="Times New Roman"/>
                <a:cs typeface="Times New Roman"/>
              </a:rPr>
              <a:t>1 </a:t>
            </a:r>
            <a:r>
              <a:rPr sz="2950" i="1" spc="180" dirty="0">
                <a:latin typeface="Times New Roman"/>
                <a:cs typeface="Times New Roman"/>
              </a:rPr>
              <a:t>A</a:t>
            </a:r>
            <a:r>
              <a:rPr sz="2550" spc="270" baseline="-4901" dirty="0">
                <a:latin typeface="Times New Roman"/>
                <a:cs typeface="Times New Roman"/>
              </a:rPr>
              <a:t>0 </a:t>
            </a:r>
            <a:r>
              <a:rPr sz="2950" i="1" spc="145" dirty="0">
                <a:latin typeface="Times New Roman"/>
                <a:cs typeface="Times New Roman"/>
              </a:rPr>
              <a:t>D</a:t>
            </a:r>
            <a:r>
              <a:rPr sz="2550" spc="217" baseline="-24509" dirty="0">
                <a:latin typeface="Times New Roman"/>
                <a:cs typeface="Times New Roman"/>
              </a:rPr>
              <a:t>2 </a:t>
            </a:r>
            <a:r>
              <a:rPr sz="2950" spc="165" dirty="0">
                <a:latin typeface="Symbol"/>
                <a:cs typeface="Symbol"/>
              </a:rPr>
              <a:t></a:t>
            </a:r>
            <a:r>
              <a:rPr sz="2950" spc="165" dirty="0">
                <a:latin typeface="Times New Roman"/>
                <a:cs typeface="Times New Roman"/>
              </a:rPr>
              <a:t> </a:t>
            </a:r>
            <a:r>
              <a:rPr sz="2950" i="1" spc="-50" dirty="0">
                <a:latin typeface="Times New Roman"/>
                <a:cs typeface="Times New Roman"/>
              </a:rPr>
              <a:t>A</a:t>
            </a:r>
            <a:r>
              <a:rPr sz="2550" spc="-75" baseline="-24509" dirty="0">
                <a:latin typeface="Times New Roman"/>
                <a:cs typeface="Times New Roman"/>
              </a:rPr>
              <a:t>1 </a:t>
            </a:r>
            <a:r>
              <a:rPr sz="2950" i="1" spc="40" dirty="0">
                <a:latin typeface="Times New Roman"/>
                <a:cs typeface="Times New Roman"/>
              </a:rPr>
              <a:t>A</a:t>
            </a:r>
            <a:r>
              <a:rPr sz="2550" spc="60" baseline="-24509" dirty="0">
                <a:latin typeface="Times New Roman"/>
                <a:cs typeface="Times New Roman"/>
              </a:rPr>
              <a:t>0</a:t>
            </a:r>
            <a:r>
              <a:rPr sz="2550" spc="127" baseline="-24509" dirty="0">
                <a:latin typeface="Times New Roman"/>
                <a:cs typeface="Times New Roman"/>
              </a:rPr>
              <a:t> </a:t>
            </a:r>
            <a:r>
              <a:rPr sz="2950" i="1" spc="114" dirty="0">
                <a:latin typeface="Times New Roman"/>
                <a:cs typeface="Times New Roman"/>
              </a:rPr>
              <a:t>D</a:t>
            </a:r>
            <a:r>
              <a:rPr sz="2550" spc="172" baseline="-24509" dirty="0">
                <a:latin typeface="Times New Roman"/>
                <a:cs typeface="Times New Roman"/>
              </a:rPr>
              <a:t>3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96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74394" y="1649679"/>
            <a:ext cx="4286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将要实现的逻辑表达式变换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4394" y="5354218"/>
            <a:ext cx="4641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即可实现所要求的逻辑功能。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71640" y="421396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647" y="0"/>
                </a:lnTo>
              </a:path>
            </a:pathLst>
          </a:custGeom>
          <a:ln w="188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43304" y="421397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>
                <a:moveTo>
                  <a:pt x="0" y="0"/>
                </a:moveTo>
                <a:lnTo>
                  <a:pt x="251647" y="0"/>
                </a:lnTo>
              </a:path>
            </a:pathLst>
          </a:custGeom>
          <a:ln w="188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08168" y="421397"/>
            <a:ext cx="265430" cy="0"/>
          </a:xfrm>
          <a:custGeom>
            <a:avLst/>
            <a:gdLst/>
            <a:ahLst/>
            <a:cxnLst/>
            <a:rect l="l" t="t" r="r" b="b"/>
            <a:pathLst>
              <a:path w="265429">
                <a:moveTo>
                  <a:pt x="0" y="0"/>
                </a:moveTo>
                <a:lnTo>
                  <a:pt x="265108" y="0"/>
                </a:lnTo>
              </a:path>
            </a:pathLst>
          </a:custGeom>
          <a:ln w="188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43036" y="383218"/>
            <a:ext cx="5139055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i="1" spc="190" dirty="0">
                <a:latin typeface="Times New Roman"/>
                <a:cs typeface="Times New Roman"/>
              </a:rPr>
              <a:t>F </a:t>
            </a:r>
            <a:r>
              <a:rPr sz="2950" spc="170" dirty="0">
                <a:latin typeface="Symbol"/>
                <a:cs typeface="Symbol"/>
              </a:rPr>
              <a:t></a:t>
            </a:r>
            <a:r>
              <a:rPr sz="2950" spc="170" dirty="0">
                <a:latin typeface="Times New Roman"/>
                <a:cs typeface="Times New Roman"/>
              </a:rPr>
              <a:t> </a:t>
            </a:r>
            <a:r>
              <a:rPr sz="2950" i="1" spc="135" dirty="0">
                <a:latin typeface="Times New Roman"/>
                <a:cs typeface="Times New Roman"/>
              </a:rPr>
              <a:t>ABC </a:t>
            </a:r>
            <a:r>
              <a:rPr sz="2950" spc="170" dirty="0">
                <a:latin typeface="Symbol"/>
                <a:cs typeface="Symbol"/>
              </a:rPr>
              <a:t></a:t>
            </a:r>
            <a:r>
              <a:rPr sz="2950" spc="170" dirty="0">
                <a:latin typeface="Times New Roman"/>
                <a:cs typeface="Times New Roman"/>
              </a:rPr>
              <a:t> </a:t>
            </a:r>
            <a:r>
              <a:rPr sz="2950" i="1" spc="150" dirty="0">
                <a:latin typeface="Times New Roman"/>
                <a:cs typeface="Times New Roman"/>
              </a:rPr>
              <a:t>ABC </a:t>
            </a:r>
            <a:r>
              <a:rPr sz="2950" spc="170" dirty="0">
                <a:latin typeface="Symbol"/>
                <a:cs typeface="Symbol"/>
              </a:rPr>
              <a:t></a:t>
            </a:r>
            <a:r>
              <a:rPr sz="2950" spc="170" dirty="0">
                <a:latin typeface="Times New Roman"/>
                <a:cs typeface="Times New Roman"/>
              </a:rPr>
              <a:t> </a:t>
            </a:r>
            <a:r>
              <a:rPr sz="2950" i="1" spc="200" dirty="0">
                <a:latin typeface="Times New Roman"/>
                <a:cs typeface="Times New Roman"/>
              </a:rPr>
              <a:t>ABC </a:t>
            </a:r>
            <a:r>
              <a:rPr sz="2950" spc="170" dirty="0">
                <a:latin typeface="Symbol"/>
                <a:cs typeface="Symbol"/>
              </a:rPr>
              <a:t></a:t>
            </a:r>
            <a:r>
              <a:rPr sz="2950" spc="-405" dirty="0">
                <a:latin typeface="Times New Roman"/>
                <a:cs typeface="Times New Roman"/>
              </a:rPr>
              <a:t> </a:t>
            </a:r>
            <a:r>
              <a:rPr sz="2950" i="1" spc="185" dirty="0">
                <a:latin typeface="Times New Roman"/>
                <a:cs typeface="Times New Roman"/>
              </a:rPr>
              <a:t>ABC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98539" y="2296309"/>
            <a:ext cx="251460" cy="0"/>
          </a:xfrm>
          <a:custGeom>
            <a:avLst/>
            <a:gdLst/>
            <a:ahLst/>
            <a:cxnLst/>
            <a:rect l="l" t="t" r="r" b="b"/>
            <a:pathLst>
              <a:path w="251459">
                <a:moveTo>
                  <a:pt x="0" y="0"/>
                </a:moveTo>
                <a:lnTo>
                  <a:pt x="251183" y="0"/>
                </a:lnTo>
              </a:path>
            </a:pathLst>
          </a:custGeom>
          <a:ln w="1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32336" y="2296309"/>
            <a:ext cx="250825" cy="0"/>
          </a:xfrm>
          <a:custGeom>
            <a:avLst/>
            <a:gdLst/>
            <a:ahLst/>
            <a:cxnLst/>
            <a:rect l="l" t="t" r="r" b="b"/>
            <a:pathLst>
              <a:path w="250825">
                <a:moveTo>
                  <a:pt x="0" y="0"/>
                </a:moveTo>
                <a:lnTo>
                  <a:pt x="250329" y="0"/>
                </a:lnTo>
              </a:path>
            </a:pathLst>
          </a:custGeom>
          <a:ln w="1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18009" y="2296309"/>
            <a:ext cx="251460" cy="0"/>
          </a:xfrm>
          <a:custGeom>
            <a:avLst/>
            <a:gdLst/>
            <a:ahLst/>
            <a:cxnLst/>
            <a:rect l="l" t="t" r="r" b="b"/>
            <a:pathLst>
              <a:path w="251460">
                <a:moveTo>
                  <a:pt x="0" y="0"/>
                </a:moveTo>
                <a:lnTo>
                  <a:pt x="251183" y="0"/>
                </a:lnTo>
              </a:path>
            </a:pathLst>
          </a:custGeom>
          <a:ln w="1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26552" y="2296309"/>
            <a:ext cx="250825" cy="0"/>
          </a:xfrm>
          <a:custGeom>
            <a:avLst/>
            <a:gdLst/>
            <a:ahLst/>
            <a:cxnLst/>
            <a:rect l="l" t="t" r="r" b="b"/>
            <a:pathLst>
              <a:path w="250825">
                <a:moveTo>
                  <a:pt x="0" y="0"/>
                </a:moveTo>
                <a:lnTo>
                  <a:pt x="250431" y="0"/>
                </a:lnTo>
              </a:path>
            </a:pathLst>
          </a:custGeom>
          <a:ln w="15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869338" y="2255996"/>
            <a:ext cx="1572895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72110" indent="-334645">
              <a:lnSpc>
                <a:spcPct val="100000"/>
              </a:lnSpc>
              <a:spcBef>
                <a:spcPts val="110"/>
              </a:spcBef>
              <a:buFont typeface="Symbol"/>
              <a:buChar char=""/>
              <a:tabLst>
                <a:tab pos="372745" algn="l"/>
              </a:tabLst>
            </a:pPr>
            <a:r>
              <a:rPr sz="2950" i="1" spc="-50" dirty="0">
                <a:latin typeface="Times New Roman"/>
                <a:cs typeface="Times New Roman"/>
              </a:rPr>
              <a:t>A</a:t>
            </a:r>
            <a:r>
              <a:rPr sz="2550" spc="-75" baseline="-24509" dirty="0">
                <a:latin typeface="Times New Roman"/>
                <a:cs typeface="Times New Roman"/>
              </a:rPr>
              <a:t>1 </a:t>
            </a:r>
            <a:r>
              <a:rPr sz="2950" i="1" spc="40" dirty="0">
                <a:latin typeface="Times New Roman"/>
                <a:cs typeface="Times New Roman"/>
              </a:rPr>
              <a:t>A</a:t>
            </a:r>
            <a:r>
              <a:rPr sz="2550" spc="60" baseline="-24509" dirty="0">
                <a:latin typeface="Times New Roman"/>
                <a:cs typeface="Times New Roman"/>
              </a:rPr>
              <a:t>0</a:t>
            </a:r>
            <a:r>
              <a:rPr sz="2550" spc="-352" baseline="-24509" dirty="0">
                <a:latin typeface="Times New Roman"/>
                <a:cs typeface="Times New Roman"/>
              </a:rPr>
              <a:t> </a:t>
            </a:r>
            <a:r>
              <a:rPr sz="2950" i="1" spc="114" dirty="0">
                <a:latin typeface="Times New Roman"/>
                <a:cs typeface="Times New Roman"/>
              </a:rPr>
              <a:t>D</a:t>
            </a:r>
            <a:r>
              <a:rPr sz="2550" spc="172" baseline="-24509" dirty="0">
                <a:latin typeface="Times New Roman"/>
                <a:cs typeface="Times New Roman"/>
              </a:rPr>
              <a:t>3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3142" y="2118306"/>
            <a:ext cx="5376545" cy="295910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95"/>
              </a:spcBef>
            </a:pPr>
            <a:r>
              <a:rPr sz="2950" i="1" spc="185" dirty="0">
                <a:latin typeface="Times New Roman"/>
                <a:cs typeface="Times New Roman"/>
              </a:rPr>
              <a:t>F 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165" dirty="0">
                <a:latin typeface="Times New Roman"/>
                <a:cs typeface="Times New Roman"/>
              </a:rPr>
              <a:t> </a:t>
            </a:r>
            <a:r>
              <a:rPr sz="2950" i="1" spc="90" dirty="0">
                <a:latin typeface="Times New Roman"/>
                <a:cs typeface="Times New Roman"/>
              </a:rPr>
              <a:t>A</a:t>
            </a:r>
            <a:r>
              <a:rPr sz="2550" spc="135" baseline="-4901" dirty="0">
                <a:latin typeface="Times New Roman"/>
                <a:cs typeface="Times New Roman"/>
              </a:rPr>
              <a:t>1 </a:t>
            </a:r>
            <a:r>
              <a:rPr sz="2950" i="1" spc="180" dirty="0">
                <a:latin typeface="Times New Roman"/>
                <a:cs typeface="Times New Roman"/>
              </a:rPr>
              <a:t>A</a:t>
            </a:r>
            <a:r>
              <a:rPr sz="2550" spc="270" baseline="-4901" dirty="0">
                <a:latin typeface="Times New Roman"/>
                <a:cs typeface="Times New Roman"/>
              </a:rPr>
              <a:t>0 </a:t>
            </a:r>
            <a:r>
              <a:rPr sz="2950" i="1" spc="130" dirty="0">
                <a:latin typeface="Times New Roman"/>
                <a:cs typeface="Times New Roman"/>
              </a:rPr>
              <a:t>D</a:t>
            </a:r>
            <a:r>
              <a:rPr sz="2550" spc="195" baseline="-24509" dirty="0">
                <a:latin typeface="Times New Roman"/>
                <a:cs typeface="Times New Roman"/>
              </a:rPr>
              <a:t>0 </a:t>
            </a:r>
            <a:r>
              <a:rPr sz="2950" spc="165" dirty="0">
                <a:latin typeface="Symbol"/>
                <a:cs typeface="Symbol"/>
              </a:rPr>
              <a:t></a:t>
            </a:r>
            <a:r>
              <a:rPr sz="2950" spc="165" dirty="0">
                <a:latin typeface="Times New Roman"/>
                <a:cs typeface="Times New Roman"/>
              </a:rPr>
              <a:t> </a:t>
            </a:r>
            <a:r>
              <a:rPr sz="2950" i="1" spc="90" dirty="0">
                <a:latin typeface="Times New Roman"/>
                <a:cs typeface="Times New Roman"/>
              </a:rPr>
              <a:t>A</a:t>
            </a:r>
            <a:r>
              <a:rPr sz="2550" spc="135" baseline="-4901" dirty="0">
                <a:latin typeface="Times New Roman"/>
                <a:cs typeface="Times New Roman"/>
              </a:rPr>
              <a:t>1 </a:t>
            </a:r>
            <a:r>
              <a:rPr sz="2950" i="1" spc="40" dirty="0">
                <a:latin typeface="Times New Roman"/>
                <a:cs typeface="Times New Roman"/>
              </a:rPr>
              <a:t>A</a:t>
            </a:r>
            <a:r>
              <a:rPr sz="2550" spc="60" baseline="-24509" dirty="0">
                <a:latin typeface="Times New Roman"/>
                <a:cs typeface="Times New Roman"/>
              </a:rPr>
              <a:t>0 </a:t>
            </a:r>
            <a:r>
              <a:rPr sz="2950" i="1" spc="40" dirty="0">
                <a:latin typeface="Times New Roman"/>
                <a:cs typeface="Times New Roman"/>
              </a:rPr>
              <a:t>D</a:t>
            </a:r>
            <a:r>
              <a:rPr sz="2550" spc="60" baseline="-24509" dirty="0">
                <a:latin typeface="Times New Roman"/>
                <a:cs typeface="Times New Roman"/>
              </a:rPr>
              <a:t>1 </a:t>
            </a:r>
            <a:r>
              <a:rPr sz="2950" spc="165" dirty="0">
                <a:latin typeface="Symbol"/>
                <a:cs typeface="Symbol"/>
              </a:rPr>
              <a:t></a:t>
            </a:r>
            <a:r>
              <a:rPr sz="2950" spc="165" dirty="0">
                <a:latin typeface="Times New Roman"/>
                <a:cs typeface="Times New Roman"/>
              </a:rPr>
              <a:t> </a:t>
            </a:r>
            <a:r>
              <a:rPr sz="2950" i="1" spc="-50" dirty="0">
                <a:latin typeface="Times New Roman"/>
                <a:cs typeface="Times New Roman"/>
              </a:rPr>
              <a:t>A</a:t>
            </a:r>
            <a:r>
              <a:rPr sz="2550" spc="-75" baseline="-24509" dirty="0">
                <a:latin typeface="Times New Roman"/>
                <a:cs typeface="Times New Roman"/>
              </a:rPr>
              <a:t>1 </a:t>
            </a:r>
            <a:r>
              <a:rPr sz="2950" i="1" spc="180" dirty="0">
                <a:latin typeface="Times New Roman"/>
                <a:cs typeface="Times New Roman"/>
              </a:rPr>
              <a:t>A</a:t>
            </a:r>
            <a:r>
              <a:rPr sz="2550" spc="270" baseline="-4901" dirty="0">
                <a:latin typeface="Times New Roman"/>
                <a:cs typeface="Times New Roman"/>
              </a:rPr>
              <a:t>0</a:t>
            </a:r>
            <a:r>
              <a:rPr sz="2550" spc="-480" baseline="-4901" dirty="0">
                <a:latin typeface="Times New Roman"/>
                <a:cs typeface="Times New Roman"/>
              </a:rPr>
              <a:t> </a:t>
            </a:r>
            <a:r>
              <a:rPr sz="2950" i="1" spc="145" dirty="0">
                <a:latin typeface="Times New Roman"/>
                <a:cs typeface="Times New Roman"/>
              </a:rPr>
              <a:t>D</a:t>
            </a:r>
            <a:r>
              <a:rPr sz="2550" spc="217" baseline="-24509" dirty="0">
                <a:latin typeface="Times New Roman"/>
                <a:cs typeface="Times New Roman"/>
              </a:rPr>
              <a:t>2</a:t>
            </a:r>
            <a:endParaRPr sz="2550" baseline="-24509" dirty="0">
              <a:latin typeface="Times New Roman"/>
              <a:cs typeface="Times New Roman"/>
            </a:endParaRPr>
          </a:p>
          <a:p>
            <a:pPr marL="133350">
              <a:lnSpc>
                <a:spcPct val="100000"/>
              </a:lnSpc>
              <a:spcBef>
                <a:spcPts val="1019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令：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A</a:t>
            </a:r>
            <a:r>
              <a:rPr sz="2775" spc="-7" baseline="-21021" dirty="0">
                <a:latin typeface="Times New Roman"/>
                <a:cs typeface="Times New Roman"/>
              </a:rPr>
              <a:t>1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i="1" spc="-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微软雅黑"/>
                <a:cs typeface="微软雅黑"/>
              </a:rPr>
              <a:t>、</a:t>
            </a:r>
            <a:r>
              <a:rPr sz="2800" i="1" spc="-5" dirty="0">
                <a:latin typeface="Times New Roman"/>
                <a:cs typeface="Times New Roman"/>
              </a:rPr>
              <a:t>A</a:t>
            </a:r>
            <a:r>
              <a:rPr sz="2775" spc="-7" baseline="-21021" dirty="0">
                <a:latin typeface="Times New Roman"/>
                <a:cs typeface="Times New Roman"/>
              </a:rPr>
              <a:t>0</a:t>
            </a:r>
            <a:r>
              <a:rPr sz="2800" spc="-5" dirty="0">
                <a:latin typeface="Times New Roman"/>
                <a:cs typeface="Times New Roman"/>
              </a:rPr>
              <a:t>=</a:t>
            </a:r>
            <a:r>
              <a:rPr sz="2800" i="1" spc="-5" dirty="0">
                <a:latin typeface="Times New Roman"/>
                <a:cs typeface="Times New Roman"/>
              </a:rPr>
              <a:t>B</a:t>
            </a:r>
            <a:endParaRPr sz="2800" dirty="0">
              <a:latin typeface="Times New Roman"/>
              <a:cs typeface="Times New Roman"/>
            </a:endParaRPr>
          </a:p>
          <a:p>
            <a:pPr marL="1390650" marR="2591435">
              <a:lnSpc>
                <a:spcPct val="138600"/>
              </a:lnSpc>
              <a:spcBef>
                <a:spcPts val="110"/>
              </a:spcBef>
            </a:pPr>
            <a:r>
              <a:rPr sz="2800" i="1" spc="-5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D</a:t>
            </a:r>
            <a:r>
              <a:rPr sz="2775" spc="-7" baseline="-21021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0</a:t>
            </a:r>
            <a:r>
              <a:rPr sz="2800" spc="-5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=0  </a:t>
            </a:r>
            <a:r>
              <a:rPr sz="2800" i="1" spc="-10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D</a:t>
            </a:r>
            <a:r>
              <a:rPr sz="2775" spc="15" baseline="-21021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1</a:t>
            </a:r>
            <a:r>
              <a:rPr sz="2800" spc="-10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=</a:t>
            </a:r>
            <a:r>
              <a:rPr sz="2800" i="1" spc="-10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D</a:t>
            </a:r>
            <a:r>
              <a:rPr sz="2775" spc="15" baseline="-21021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2</a:t>
            </a:r>
            <a:r>
              <a:rPr sz="2800" spc="-10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=C  </a:t>
            </a:r>
            <a:r>
              <a:rPr sz="2800" i="1" spc="-10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D</a:t>
            </a:r>
            <a:r>
              <a:rPr sz="2775" spc="-15" baseline="-21021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3</a:t>
            </a:r>
            <a:r>
              <a:rPr sz="2800" spc="-10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=1</a:t>
            </a:r>
            <a:endParaRPr sz="2800" dirty="0">
              <a:highlight>
                <a:srgbClr val="FFFF00"/>
              </a:highlight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34135" y="1143296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4">
                <a:moveTo>
                  <a:pt x="0" y="0"/>
                </a:moveTo>
                <a:lnTo>
                  <a:pt x="251625" y="0"/>
                </a:lnTo>
              </a:path>
            </a:pathLst>
          </a:custGeom>
          <a:ln w="18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18141" y="1143296"/>
            <a:ext cx="252729" cy="0"/>
          </a:xfrm>
          <a:custGeom>
            <a:avLst/>
            <a:gdLst/>
            <a:ahLst/>
            <a:cxnLst/>
            <a:rect l="l" t="t" r="r" b="b"/>
            <a:pathLst>
              <a:path w="252730">
                <a:moveTo>
                  <a:pt x="0" y="0"/>
                </a:moveTo>
                <a:lnTo>
                  <a:pt x="252449" y="0"/>
                </a:lnTo>
              </a:path>
            </a:pathLst>
          </a:custGeom>
          <a:ln w="18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56672" y="1143296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449" y="0"/>
                </a:lnTo>
              </a:path>
            </a:pathLst>
          </a:custGeom>
          <a:ln w="18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222070" y="1143296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724" y="0"/>
                </a:lnTo>
              </a:path>
            </a:pathLst>
          </a:custGeom>
          <a:ln w="18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690929" y="1104295"/>
            <a:ext cx="573024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175" dirty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sz="2950" spc="2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50" i="1" spc="190" dirty="0">
                <a:solidFill>
                  <a:srgbClr val="000000"/>
                </a:solidFill>
                <a:latin typeface="Times New Roman"/>
                <a:cs typeface="Times New Roman"/>
              </a:rPr>
              <a:t>AB</a:t>
            </a:r>
            <a:r>
              <a:rPr sz="2950" spc="190" dirty="0">
                <a:solidFill>
                  <a:srgbClr val="000000"/>
                </a:solidFill>
                <a:latin typeface="Times New Roman"/>
                <a:cs typeface="Times New Roman"/>
              </a:rPr>
              <a:t>(0)</a:t>
            </a:r>
            <a:r>
              <a:rPr sz="2950" spc="-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50" spc="175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95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50" i="1" spc="180" dirty="0">
                <a:solidFill>
                  <a:srgbClr val="000000"/>
                </a:solidFill>
                <a:latin typeface="Times New Roman"/>
                <a:cs typeface="Times New Roman"/>
              </a:rPr>
              <a:t>AB</a:t>
            </a:r>
            <a:r>
              <a:rPr sz="2950" spc="18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950" i="1" spc="180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2950" spc="180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sz="2950" spc="-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50" spc="175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950" spc="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50" i="1" spc="235" dirty="0">
                <a:solidFill>
                  <a:srgbClr val="000000"/>
                </a:solidFill>
                <a:latin typeface="Times New Roman"/>
                <a:cs typeface="Times New Roman"/>
              </a:rPr>
              <a:t>AB</a:t>
            </a:r>
            <a:r>
              <a:rPr sz="2950" spc="235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950" i="1" spc="235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2950" spc="235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sz="2950" spc="-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50" spc="175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950" spc="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50" i="1" spc="60" dirty="0">
                <a:solidFill>
                  <a:srgbClr val="000000"/>
                </a:solidFill>
                <a:latin typeface="Times New Roman"/>
                <a:cs typeface="Times New Roman"/>
              </a:rPr>
              <a:t>AB</a:t>
            </a:r>
            <a:r>
              <a:rPr sz="2950" spc="60" dirty="0">
                <a:solidFill>
                  <a:srgbClr val="000000"/>
                </a:solidFill>
                <a:latin typeface="Times New Roman"/>
                <a:cs typeface="Times New Roman"/>
              </a:rPr>
              <a:t>(1)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97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4040" y="336880"/>
            <a:ext cx="86779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64575" algn="l"/>
              </a:tabLst>
            </a:pPr>
            <a:r>
              <a:rPr u="heavy" dirty="0">
                <a:solidFill>
                  <a:srgbClr val="C00000"/>
                </a:solidFill>
                <a:uFill>
                  <a:solidFill>
                    <a:srgbClr val="666699"/>
                  </a:solidFill>
                </a:uFill>
              </a:rPr>
              <a:t>用数据选择器设计逻辑函数小结	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98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371092"/>
            <a:ext cx="834009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如果逻辑函数输入变量数与数据选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择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器控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制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端数量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ct val="200000"/>
              </a:lnSpc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相同（如</a:t>
            </a:r>
            <a:r>
              <a:rPr sz="2800" spc="-15" dirty="0">
                <a:solidFill>
                  <a:srgbClr val="7E4D00"/>
                </a:solidFill>
                <a:latin typeface="华文楷体"/>
                <a:cs typeface="华文楷体"/>
              </a:rPr>
              <a:t>用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8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选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实现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3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变量函数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）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，则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输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入变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量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与控制 变量一一相接，数据输入端</a:t>
            </a:r>
            <a:r>
              <a:rPr sz="2800" spc="-30" dirty="0">
                <a:solidFill>
                  <a:srgbClr val="7E4D00"/>
                </a:solidFill>
                <a:latin typeface="华文楷体"/>
                <a:cs typeface="华文楷体"/>
              </a:rPr>
              <a:t>接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高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dirty="0">
                <a:solidFill>
                  <a:srgbClr val="FF0000"/>
                </a:solidFill>
                <a:latin typeface="华文楷体"/>
                <a:cs typeface="华文楷体"/>
              </a:rPr>
              <a:t>低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电平。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371092"/>
            <a:ext cx="8340090" cy="3177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7625" algn="r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如果逻辑函数输入变量数多于数据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选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择器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控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制端数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</a:pPr>
            <a:endParaRPr sz="2050">
              <a:latin typeface="华文楷体"/>
              <a:cs typeface="华文楷体"/>
            </a:endParaRPr>
          </a:p>
          <a:p>
            <a:pPr marR="5080" algn="r">
              <a:lnSpc>
                <a:spcPct val="100000"/>
              </a:lnSpc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（如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用4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选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1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实现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3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变量函数），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则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需分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离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多余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变量。</a:t>
            </a:r>
            <a:endParaRPr sz="2800">
              <a:latin typeface="华文楷体"/>
              <a:cs typeface="华文楷体"/>
            </a:endParaRPr>
          </a:p>
          <a:p>
            <a:pPr marL="12700" marR="47625" indent="457200">
              <a:lnSpc>
                <a:spcPct val="200100"/>
              </a:lnSpc>
              <a:spcBef>
                <a:spcPts val="1290"/>
              </a:spcBef>
            </a:pP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未被分离的输入变量与控制变量相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接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，被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分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离变量 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则与数据输入端相接。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99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75895" marR="17780" indent="457200">
              <a:lnSpc>
                <a:spcPct val="146600"/>
              </a:lnSpc>
              <a:spcBef>
                <a:spcPts val="185"/>
              </a:spcBef>
            </a:pPr>
            <a:r>
              <a:rPr spc="-5" dirty="0"/>
              <a:t>一般情况下，一个</a:t>
            </a:r>
            <a:r>
              <a:rPr sz="2950" i="1" spc="-80" dirty="0">
                <a:solidFill>
                  <a:srgbClr val="FF0000"/>
                </a:solidFill>
                <a:latin typeface="华文楷体"/>
                <a:cs typeface="华文楷体"/>
              </a:rPr>
              <a:t>n</a:t>
            </a:r>
            <a:r>
              <a:rPr spc="-5" dirty="0"/>
              <a:t>变量的逻辑函数可</a:t>
            </a:r>
            <a:r>
              <a:rPr dirty="0"/>
              <a:t>用（</a:t>
            </a:r>
            <a:r>
              <a:rPr spc="-10" dirty="0">
                <a:solidFill>
                  <a:srgbClr val="FF0000"/>
                </a:solidFill>
              </a:rPr>
              <a:t>2</a:t>
            </a:r>
            <a:r>
              <a:rPr sz="2925" i="1" spc="-52" baseline="24216" dirty="0">
                <a:solidFill>
                  <a:srgbClr val="FF0000"/>
                </a:solidFill>
                <a:latin typeface="华文楷体"/>
                <a:cs typeface="华文楷体"/>
              </a:rPr>
              <a:t>n</a:t>
            </a:r>
            <a:r>
              <a:rPr sz="2800" spc="-5" dirty="0"/>
              <a:t>）选1 或</a:t>
            </a:r>
            <a:r>
              <a:rPr sz="2800" spc="-10" dirty="0"/>
              <a:t>（</a:t>
            </a:r>
            <a:r>
              <a:rPr sz="2800" spc="-10" dirty="0">
                <a:solidFill>
                  <a:srgbClr val="FF0000"/>
                </a:solidFill>
              </a:rPr>
              <a:t>2</a:t>
            </a:r>
            <a:r>
              <a:rPr sz="2925" i="1" spc="-15" baseline="24216" dirty="0">
                <a:solidFill>
                  <a:srgbClr val="FF0000"/>
                </a:solidFill>
                <a:latin typeface="华文楷体"/>
                <a:cs typeface="华文楷体"/>
              </a:rPr>
              <a:t>n</a:t>
            </a:r>
            <a:r>
              <a:rPr sz="2775" spc="-15" baseline="25525" dirty="0">
                <a:solidFill>
                  <a:srgbClr val="FF0000"/>
                </a:solidFill>
              </a:rPr>
              <a:t>-1</a:t>
            </a:r>
            <a:r>
              <a:rPr sz="2800" spc="-10" dirty="0"/>
              <a:t>）选1</a:t>
            </a:r>
            <a:r>
              <a:rPr sz="2800" spc="-5" dirty="0"/>
              <a:t>数据选择器实现。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100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2442596"/>
            <a:ext cx="829754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如果部分变量出现的频率更低的话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则通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过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一些门 电路可实现更多变量的逻辑函数。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33706" y="1461334"/>
            <a:ext cx="231775" cy="0"/>
          </a:xfrm>
          <a:custGeom>
            <a:avLst/>
            <a:gdLst/>
            <a:ahLst/>
            <a:cxnLst/>
            <a:rect l="l" t="t" r="r" b="b"/>
            <a:pathLst>
              <a:path w="231775">
                <a:moveTo>
                  <a:pt x="0" y="0"/>
                </a:moveTo>
                <a:lnTo>
                  <a:pt x="231615" y="0"/>
                </a:lnTo>
              </a:path>
            </a:pathLst>
          </a:custGeom>
          <a:ln w="17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7266" y="393268"/>
            <a:ext cx="87750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4394" algn="l"/>
                <a:tab pos="8761730" algn="l"/>
              </a:tabLst>
            </a:pP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例：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用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8选1数据选择器实</a:t>
            </a:r>
            <a:r>
              <a:rPr sz="3200" u="heavy" spc="-10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现</a:t>
            </a:r>
            <a:r>
              <a:rPr sz="3200" u="heavy" spc="-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5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变量</a:t>
            </a:r>
            <a:r>
              <a:rPr sz="3200" u="heavy" spc="-10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逻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辑函数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	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95158" y="1461334"/>
            <a:ext cx="231140" cy="0"/>
          </a:xfrm>
          <a:custGeom>
            <a:avLst/>
            <a:gdLst/>
            <a:ahLst/>
            <a:cxnLst/>
            <a:rect l="l" t="t" r="r" b="b"/>
            <a:pathLst>
              <a:path w="231139">
                <a:moveTo>
                  <a:pt x="0" y="0"/>
                </a:moveTo>
                <a:lnTo>
                  <a:pt x="230824" y="0"/>
                </a:lnTo>
              </a:path>
            </a:pathLst>
          </a:custGeom>
          <a:ln w="17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55788" y="1461334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5">
                <a:moveTo>
                  <a:pt x="0" y="0"/>
                </a:moveTo>
                <a:lnTo>
                  <a:pt x="243088" y="0"/>
                </a:lnTo>
              </a:path>
            </a:pathLst>
          </a:custGeom>
          <a:ln w="17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00817" y="1461334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5">
                <a:moveTo>
                  <a:pt x="0" y="0"/>
                </a:moveTo>
                <a:lnTo>
                  <a:pt x="243088" y="0"/>
                </a:lnTo>
              </a:path>
            </a:pathLst>
          </a:custGeom>
          <a:ln w="17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05456" y="1461334"/>
            <a:ext cx="231775" cy="0"/>
          </a:xfrm>
          <a:custGeom>
            <a:avLst/>
            <a:gdLst/>
            <a:ahLst/>
            <a:cxnLst/>
            <a:rect l="l" t="t" r="r" b="b"/>
            <a:pathLst>
              <a:path w="231775">
                <a:moveTo>
                  <a:pt x="0" y="0"/>
                </a:moveTo>
                <a:lnTo>
                  <a:pt x="231615" y="0"/>
                </a:lnTo>
              </a:path>
            </a:pathLst>
          </a:custGeom>
          <a:ln w="17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97734" y="1461334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3056" y="0"/>
                </a:lnTo>
              </a:path>
            </a:pathLst>
          </a:custGeom>
          <a:ln w="17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45556" y="1461334"/>
            <a:ext cx="231140" cy="0"/>
          </a:xfrm>
          <a:custGeom>
            <a:avLst/>
            <a:gdLst/>
            <a:ahLst/>
            <a:cxnLst/>
            <a:rect l="l" t="t" r="r" b="b"/>
            <a:pathLst>
              <a:path w="231139">
                <a:moveTo>
                  <a:pt x="0" y="0"/>
                </a:moveTo>
                <a:lnTo>
                  <a:pt x="230730" y="0"/>
                </a:lnTo>
              </a:path>
            </a:pathLst>
          </a:custGeom>
          <a:ln w="17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04437" y="1461334"/>
            <a:ext cx="272415" cy="0"/>
          </a:xfrm>
          <a:custGeom>
            <a:avLst/>
            <a:gdLst/>
            <a:ahLst/>
            <a:cxnLst/>
            <a:rect l="l" t="t" r="r" b="b"/>
            <a:pathLst>
              <a:path w="272414">
                <a:moveTo>
                  <a:pt x="0" y="0"/>
                </a:moveTo>
                <a:lnTo>
                  <a:pt x="272135" y="0"/>
                </a:lnTo>
              </a:path>
            </a:pathLst>
          </a:custGeom>
          <a:ln w="17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99544" y="1461334"/>
            <a:ext cx="231140" cy="0"/>
          </a:xfrm>
          <a:custGeom>
            <a:avLst/>
            <a:gdLst/>
            <a:ahLst/>
            <a:cxnLst/>
            <a:rect l="l" t="t" r="r" b="b"/>
            <a:pathLst>
              <a:path w="231140">
                <a:moveTo>
                  <a:pt x="0" y="0"/>
                </a:moveTo>
                <a:lnTo>
                  <a:pt x="231046" y="0"/>
                </a:lnTo>
              </a:path>
            </a:pathLst>
          </a:custGeom>
          <a:ln w="17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60301" y="1461334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3056" y="0"/>
                </a:lnTo>
              </a:path>
            </a:pathLst>
          </a:custGeom>
          <a:ln w="17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98464" y="1461334"/>
            <a:ext cx="231140" cy="0"/>
          </a:xfrm>
          <a:custGeom>
            <a:avLst/>
            <a:gdLst/>
            <a:ahLst/>
            <a:cxnLst/>
            <a:rect l="l" t="t" r="r" b="b"/>
            <a:pathLst>
              <a:path w="231140">
                <a:moveTo>
                  <a:pt x="0" y="0"/>
                </a:moveTo>
                <a:lnTo>
                  <a:pt x="230730" y="0"/>
                </a:lnTo>
              </a:path>
            </a:pathLst>
          </a:custGeom>
          <a:ln w="17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310414" y="1461334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4">
                <a:moveTo>
                  <a:pt x="0" y="0"/>
                </a:moveTo>
                <a:lnTo>
                  <a:pt x="243056" y="0"/>
                </a:lnTo>
              </a:path>
            </a:pathLst>
          </a:custGeom>
          <a:ln w="17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53233" y="5316122"/>
            <a:ext cx="201295" cy="0"/>
          </a:xfrm>
          <a:custGeom>
            <a:avLst/>
            <a:gdLst/>
            <a:ahLst/>
            <a:cxnLst/>
            <a:rect l="l" t="t" r="r" b="b"/>
            <a:pathLst>
              <a:path w="201294">
                <a:moveTo>
                  <a:pt x="0" y="0"/>
                </a:moveTo>
                <a:lnTo>
                  <a:pt x="201062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80169" y="5316122"/>
            <a:ext cx="201295" cy="0"/>
          </a:xfrm>
          <a:custGeom>
            <a:avLst/>
            <a:gdLst/>
            <a:ahLst/>
            <a:cxnLst/>
            <a:rect l="l" t="t" r="r" b="b"/>
            <a:pathLst>
              <a:path w="201294">
                <a:moveTo>
                  <a:pt x="0" y="0"/>
                </a:moveTo>
                <a:lnTo>
                  <a:pt x="201062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07105" y="5316122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0" y="0"/>
                </a:moveTo>
                <a:lnTo>
                  <a:pt x="211680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20911" y="5316122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0" y="0"/>
                </a:moveTo>
                <a:lnTo>
                  <a:pt x="211653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60563" y="5316122"/>
            <a:ext cx="201295" cy="0"/>
          </a:xfrm>
          <a:custGeom>
            <a:avLst/>
            <a:gdLst/>
            <a:ahLst/>
            <a:cxnLst/>
            <a:rect l="l" t="t" r="r" b="b"/>
            <a:pathLst>
              <a:path w="201295">
                <a:moveTo>
                  <a:pt x="0" y="0"/>
                </a:moveTo>
                <a:lnTo>
                  <a:pt x="201062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88480" y="5316122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0" y="0"/>
                </a:moveTo>
                <a:lnTo>
                  <a:pt x="211818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78702" y="5316122"/>
            <a:ext cx="201295" cy="0"/>
          </a:xfrm>
          <a:custGeom>
            <a:avLst/>
            <a:gdLst/>
            <a:ahLst/>
            <a:cxnLst/>
            <a:rect l="l" t="t" r="r" b="b"/>
            <a:pathLst>
              <a:path w="201295">
                <a:moveTo>
                  <a:pt x="0" y="0"/>
                </a:moveTo>
                <a:lnTo>
                  <a:pt x="200843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52442" y="5316122"/>
            <a:ext cx="236854" cy="0"/>
          </a:xfrm>
          <a:custGeom>
            <a:avLst/>
            <a:gdLst/>
            <a:ahLst/>
            <a:cxnLst/>
            <a:rect l="l" t="t" r="r" b="b"/>
            <a:pathLst>
              <a:path w="236854">
                <a:moveTo>
                  <a:pt x="0" y="0"/>
                </a:moveTo>
                <a:lnTo>
                  <a:pt x="236786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44163" y="5316122"/>
            <a:ext cx="201930" cy="0"/>
          </a:xfrm>
          <a:custGeom>
            <a:avLst/>
            <a:gdLst/>
            <a:ahLst/>
            <a:cxnLst/>
            <a:rect l="l" t="t" r="r" b="b"/>
            <a:pathLst>
              <a:path w="201929">
                <a:moveTo>
                  <a:pt x="0" y="0"/>
                </a:moveTo>
                <a:lnTo>
                  <a:pt x="201666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71072" y="5316122"/>
            <a:ext cx="212090" cy="0"/>
          </a:xfrm>
          <a:custGeom>
            <a:avLst/>
            <a:gdLst/>
            <a:ahLst/>
            <a:cxnLst/>
            <a:rect l="l" t="t" r="r" b="b"/>
            <a:pathLst>
              <a:path w="212090">
                <a:moveTo>
                  <a:pt x="0" y="0"/>
                </a:moveTo>
                <a:lnTo>
                  <a:pt x="211818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613994" y="5316122"/>
            <a:ext cx="201930" cy="0"/>
          </a:xfrm>
          <a:custGeom>
            <a:avLst/>
            <a:gdLst/>
            <a:ahLst/>
            <a:cxnLst/>
            <a:rect l="l" t="t" r="r" b="b"/>
            <a:pathLst>
              <a:path w="201929">
                <a:moveTo>
                  <a:pt x="0" y="0"/>
                </a:moveTo>
                <a:lnTo>
                  <a:pt x="201666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466031" y="5316122"/>
            <a:ext cx="211454" cy="0"/>
          </a:xfrm>
          <a:custGeom>
            <a:avLst/>
            <a:gdLst/>
            <a:ahLst/>
            <a:cxnLst/>
            <a:rect l="l" t="t" r="r" b="b"/>
            <a:pathLst>
              <a:path w="211454">
                <a:moveTo>
                  <a:pt x="0" y="0"/>
                </a:moveTo>
                <a:lnTo>
                  <a:pt x="210994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68536" y="1425171"/>
            <a:ext cx="9044305" cy="4244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7785" algn="ctr">
              <a:lnSpc>
                <a:spcPct val="100000"/>
              </a:lnSpc>
              <a:spcBef>
                <a:spcPts val="125"/>
              </a:spcBef>
            </a:pPr>
            <a:r>
              <a:rPr sz="2700" i="1" spc="185" dirty="0">
                <a:latin typeface="Times New Roman"/>
                <a:cs typeface="Times New Roman"/>
              </a:rPr>
              <a:t>F</a:t>
            </a:r>
            <a:r>
              <a:rPr sz="2700" i="1" spc="280" dirty="0">
                <a:latin typeface="Times New Roman"/>
                <a:cs typeface="Times New Roman"/>
              </a:rPr>
              <a:t> </a:t>
            </a:r>
            <a:r>
              <a:rPr sz="2700" spc="165" dirty="0">
                <a:latin typeface="Symbol"/>
                <a:cs typeface="Symbol"/>
              </a:rPr>
              <a:t></a:t>
            </a:r>
            <a:r>
              <a:rPr sz="2700" spc="235" dirty="0">
                <a:latin typeface="Times New Roman"/>
                <a:cs typeface="Times New Roman"/>
              </a:rPr>
              <a:t> </a:t>
            </a:r>
            <a:r>
              <a:rPr sz="2700" i="1" spc="275" dirty="0">
                <a:latin typeface="Times New Roman"/>
                <a:cs typeface="Times New Roman"/>
              </a:rPr>
              <a:t>ABCDE</a:t>
            </a:r>
            <a:r>
              <a:rPr sz="2700" i="1" spc="-35" dirty="0">
                <a:latin typeface="Times New Roman"/>
                <a:cs typeface="Times New Roman"/>
              </a:rPr>
              <a:t> </a:t>
            </a:r>
            <a:r>
              <a:rPr sz="2700" spc="165" dirty="0">
                <a:latin typeface="Symbol"/>
                <a:cs typeface="Symbol"/>
              </a:rPr>
              <a:t></a:t>
            </a:r>
            <a:r>
              <a:rPr sz="2700" spc="85" dirty="0">
                <a:latin typeface="Times New Roman"/>
                <a:cs typeface="Times New Roman"/>
              </a:rPr>
              <a:t> </a:t>
            </a:r>
            <a:r>
              <a:rPr sz="2700" i="1" spc="175" dirty="0">
                <a:latin typeface="Times New Roman"/>
                <a:cs typeface="Times New Roman"/>
              </a:rPr>
              <a:t>ABCE</a:t>
            </a:r>
            <a:r>
              <a:rPr sz="2700" i="1" spc="-15" dirty="0">
                <a:latin typeface="Times New Roman"/>
                <a:cs typeface="Times New Roman"/>
              </a:rPr>
              <a:t> </a:t>
            </a:r>
            <a:r>
              <a:rPr sz="2700" spc="165" dirty="0">
                <a:latin typeface="Symbol"/>
                <a:cs typeface="Symbol"/>
              </a:rPr>
              <a:t></a:t>
            </a:r>
            <a:r>
              <a:rPr sz="2700" spc="70" dirty="0">
                <a:latin typeface="Times New Roman"/>
                <a:cs typeface="Times New Roman"/>
              </a:rPr>
              <a:t> </a:t>
            </a:r>
            <a:r>
              <a:rPr sz="2700" i="1" spc="130" dirty="0">
                <a:latin typeface="Times New Roman"/>
                <a:cs typeface="Times New Roman"/>
              </a:rPr>
              <a:t>ABC</a:t>
            </a:r>
            <a:r>
              <a:rPr sz="2700" i="1" spc="-345" dirty="0">
                <a:latin typeface="Times New Roman"/>
                <a:cs typeface="Times New Roman"/>
              </a:rPr>
              <a:t> </a:t>
            </a:r>
            <a:r>
              <a:rPr sz="2700" i="1" spc="215" dirty="0">
                <a:latin typeface="Times New Roman"/>
                <a:cs typeface="Times New Roman"/>
              </a:rPr>
              <a:t>D</a:t>
            </a:r>
            <a:r>
              <a:rPr sz="2700" i="1" spc="-114" dirty="0">
                <a:latin typeface="Times New Roman"/>
                <a:cs typeface="Times New Roman"/>
              </a:rPr>
              <a:t> </a:t>
            </a:r>
            <a:r>
              <a:rPr sz="2700" spc="165" dirty="0">
                <a:latin typeface="Symbol"/>
                <a:cs typeface="Symbol"/>
              </a:rPr>
              <a:t></a:t>
            </a:r>
            <a:r>
              <a:rPr sz="2700" spc="70" dirty="0">
                <a:latin typeface="Times New Roman"/>
                <a:cs typeface="Times New Roman"/>
              </a:rPr>
              <a:t> </a:t>
            </a:r>
            <a:r>
              <a:rPr sz="2700" i="1" spc="245" dirty="0">
                <a:latin typeface="Times New Roman"/>
                <a:cs typeface="Times New Roman"/>
              </a:rPr>
              <a:t>ABCD</a:t>
            </a:r>
            <a:r>
              <a:rPr sz="2700" i="1" spc="-105" dirty="0">
                <a:latin typeface="Times New Roman"/>
                <a:cs typeface="Times New Roman"/>
              </a:rPr>
              <a:t> </a:t>
            </a:r>
            <a:r>
              <a:rPr sz="2700" spc="165" dirty="0">
                <a:latin typeface="Symbol"/>
                <a:cs typeface="Symbol"/>
              </a:rPr>
              <a:t></a:t>
            </a:r>
            <a:r>
              <a:rPr sz="2700" spc="50" dirty="0">
                <a:latin typeface="Times New Roman"/>
                <a:cs typeface="Times New Roman"/>
              </a:rPr>
              <a:t> </a:t>
            </a:r>
            <a:r>
              <a:rPr sz="2700" i="1" spc="145" dirty="0">
                <a:latin typeface="Times New Roman"/>
                <a:cs typeface="Times New Roman"/>
              </a:rPr>
              <a:t>ABC</a:t>
            </a:r>
            <a:r>
              <a:rPr sz="2700" i="1" spc="30" dirty="0">
                <a:latin typeface="Times New Roman"/>
                <a:cs typeface="Times New Roman"/>
              </a:rPr>
              <a:t> </a:t>
            </a:r>
            <a:r>
              <a:rPr sz="2700" spc="165" dirty="0">
                <a:latin typeface="Symbol"/>
                <a:cs typeface="Symbol"/>
              </a:rPr>
              <a:t></a:t>
            </a:r>
            <a:r>
              <a:rPr sz="2700" spc="40" dirty="0">
                <a:latin typeface="Times New Roman"/>
                <a:cs typeface="Times New Roman"/>
              </a:rPr>
              <a:t> </a:t>
            </a:r>
            <a:r>
              <a:rPr sz="2700" i="1" spc="260" dirty="0">
                <a:latin typeface="Times New Roman"/>
                <a:cs typeface="Times New Roman"/>
              </a:rPr>
              <a:t>ABCE</a:t>
            </a:r>
            <a:endParaRPr sz="2700" dirty="0">
              <a:latin typeface="Times New Roman"/>
              <a:cs typeface="Times New Roman"/>
            </a:endParaRPr>
          </a:p>
          <a:p>
            <a:pPr marL="415290" marR="461645" indent="457200">
              <a:lnSpc>
                <a:spcPct val="150100"/>
              </a:lnSpc>
              <a:spcBef>
                <a:spcPts val="1225"/>
              </a:spcBef>
            </a:pP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用</a:t>
            </a:r>
            <a:r>
              <a:rPr sz="3200" spc="-5" dirty="0">
                <a:solidFill>
                  <a:srgbClr val="FF0000"/>
                </a:solidFill>
                <a:latin typeface="华文楷体"/>
                <a:cs typeface="华文楷体"/>
              </a:rPr>
              <a:t>3</a:t>
            </a: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个控制端的选择器实</a:t>
            </a:r>
            <a:r>
              <a:rPr sz="3200" spc="-10" dirty="0">
                <a:solidFill>
                  <a:srgbClr val="7E4D00"/>
                </a:solidFill>
                <a:latin typeface="华文楷体"/>
                <a:cs typeface="华文楷体"/>
              </a:rPr>
              <a:t>现</a:t>
            </a:r>
            <a:r>
              <a:rPr sz="3200" spc="-5" dirty="0">
                <a:solidFill>
                  <a:srgbClr val="FF0000"/>
                </a:solidFill>
                <a:latin typeface="华文楷体"/>
                <a:cs typeface="华文楷体"/>
              </a:rPr>
              <a:t>5</a:t>
            </a: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个变</a:t>
            </a:r>
            <a:r>
              <a:rPr sz="3200" spc="-15" dirty="0">
                <a:solidFill>
                  <a:srgbClr val="7E4D00"/>
                </a:solidFill>
                <a:latin typeface="华文楷体"/>
                <a:cs typeface="华文楷体"/>
              </a:rPr>
              <a:t>量</a:t>
            </a: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的逻</a:t>
            </a:r>
            <a:r>
              <a:rPr sz="3200" spc="-15" dirty="0">
                <a:solidFill>
                  <a:srgbClr val="7E4D00"/>
                </a:solidFill>
                <a:latin typeface="华文楷体"/>
                <a:cs typeface="华文楷体"/>
              </a:rPr>
              <a:t>辑</a:t>
            </a: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函 数，需分离出两个变量。</a:t>
            </a:r>
            <a:endParaRPr sz="3200" dirty="0">
              <a:latin typeface="华文楷体"/>
              <a:cs typeface="华文楷体"/>
            </a:endParaRPr>
          </a:p>
          <a:p>
            <a:pPr marL="415290" marR="669925" indent="457200">
              <a:lnSpc>
                <a:spcPts val="5760"/>
              </a:lnSpc>
              <a:spcBef>
                <a:spcPts val="515"/>
              </a:spcBef>
            </a:pPr>
            <a:r>
              <a:rPr sz="3200" dirty="0">
                <a:solidFill>
                  <a:srgbClr val="FF0000"/>
                </a:solidFill>
                <a:latin typeface="华文楷体"/>
                <a:cs typeface="华文楷体"/>
              </a:rPr>
              <a:t>D</a:t>
            </a: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3200" spc="-5" dirty="0">
                <a:solidFill>
                  <a:srgbClr val="FF0000"/>
                </a:solidFill>
                <a:latin typeface="华文楷体"/>
                <a:cs typeface="华文楷体"/>
              </a:rPr>
              <a:t>E</a:t>
            </a: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出现较少，可将</a:t>
            </a:r>
            <a:r>
              <a:rPr sz="3200" spc="-15" dirty="0">
                <a:solidFill>
                  <a:srgbClr val="7E4D00"/>
                </a:solidFill>
                <a:latin typeface="华文楷体"/>
                <a:cs typeface="华文楷体"/>
              </a:rPr>
              <a:t>其</a:t>
            </a: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分离</a:t>
            </a:r>
            <a:r>
              <a:rPr sz="3200" spc="-1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并经</a:t>
            </a:r>
            <a:r>
              <a:rPr sz="3200" spc="-15" dirty="0">
                <a:solidFill>
                  <a:srgbClr val="7E4D00"/>
                </a:solidFill>
                <a:latin typeface="华文楷体"/>
                <a:cs typeface="华文楷体"/>
              </a:rPr>
              <a:t>过</a:t>
            </a:r>
            <a:r>
              <a:rPr sz="3200" dirty="0">
                <a:solidFill>
                  <a:srgbClr val="7E4D00"/>
                </a:solidFill>
                <a:latin typeface="华文楷体"/>
                <a:cs typeface="华文楷体"/>
              </a:rPr>
              <a:t>附加 的电路送到输入端。</a:t>
            </a:r>
            <a:endParaRPr sz="3200" dirty="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  <a:spcBef>
                <a:spcPts val="2345"/>
              </a:spcBef>
            </a:pPr>
            <a:r>
              <a:rPr sz="2350" i="1" spc="160" dirty="0">
                <a:latin typeface="Times New Roman"/>
                <a:cs typeface="Times New Roman"/>
              </a:rPr>
              <a:t>F</a:t>
            </a:r>
            <a:r>
              <a:rPr sz="2350" i="1" spc="250" dirty="0">
                <a:latin typeface="Times New Roman"/>
                <a:cs typeface="Times New Roman"/>
              </a:rPr>
              <a:t> </a:t>
            </a:r>
            <a:r>
              <a:rPr sz="2350" spc="140" dirty="0">
                <a:latin typeface="Symbol"/>
                <a:cs typeface="Symbol"/>
              </a:rPr>
              <a:t></a:t>
            </a:r>
            <a:r>
              <a:rPr sz="2350" spc="210" dirty="0">
                <a:latin typeface="Times New Roman"/>
                <a:cs typeface="Times New Roman"/>
              </a:rPr>
              <a:t> </a:t>
            </a:r>
            <a:r>
              <a:rPr sz="2350" i="1" spc="250" dirty="0">
                <a:latin typeface="Times New Roman"/>
                <a:cs typeface="Times New Roman"/>
              </a:rPr>
              <a:t>ABC</a:t>
            </a:r>
            <a:r>
              <a:rPr sz="2350" spc="250" dirty="0">
                <a:latin typeface="Times New Roman"/>
                <a:cs typeface="Times New Roman"/>
              </a:rPr>
              <a:t>(</a:t>
            </a:r>
            <a:r>
              <a:rPr sz="2350" i="1" spc="250" dirty="0">
                <a:latin typeface="Times New Roman"/>
                <a:cs typeface="Times New Roman"/>
              </a:rPr>
              <a:t>DE</a:t>
            </a:r>
            <a:r>
              <a:rPr sz="2350" spc="250" dirty="0">
                <a:latin typeface="Times New Roman"/>
                <a:cs typeface="Times New Roman"/>
              </a:rPr>
              <a:t>)</a:t>
            </a:r>
            <a:r>
              <a:rPr sz="2350" spc="-160" dirty="0">
                <a:latin typeface="Times New Roman"/>
                <a:cs typeface="Times New Roman"/>
              </a:rPr>
              <a:t> </a:t>
            </a:r>
            <a:r>
              <a:rPr sz="2350" spc="140" dirty="0">
                <a:latin typeface="Symbol"/>
                <a:cs typeface="Symbol"/>
              </a:rPr>
              <a:t></a:t>
            </a:r>
            <a:r>
              <a:rPr sz="2350" spc="80" dirty="0">
                <a:latin typeface="Times New Roman"/>
                <a:cs typeface="Times New Roman"/>
              </a:rPr>
              <a:t> </a:t>
            </a:r>
            <a:r>
              <a:rPr sz="2350" i="1" spc="195" dirty="0">
                <a:latin typeface="Times New Roman"/>
                <a:cs typeface="Times New Roman"/>
              </a:rPr>
              <a:t>ABC</a:t>
            </a:r>
            <a:r>
              <a:rPr sz="2350" spc="195" dirty="0">
                <a:latin typeface="Times New Roman"/>
                <a:cs typeface="Times New Roman"/>
              </a:rPr>
              <a:t>(</a:t>
            </a:r>
            <a:r>
              <a:rPr sz="2350" i="1" spc="195" dirty="0">
                <a:latin typeface="Times New Roman"/>
                <a:cs typeface="Times New Roman"/>
              </a:rPr>
              <a:t>E</a:t>
            </a:r>
            <a:r>
              <a:rPr sz="2350" spc="195" dirty="0">
                <a:latin typeface="Times New Roman"/>
                <a:cs typeface="Times New Roman"/>
              </a:rPr>
              <a:t>)</a:t>
            </a:r>
            <a:r>
              <a:rPr sz="2350" spc="-160" dirty="0">
                <a:latin typeface="Times New Roman"/>
                <a:cs typeface="Times New Roman"/>
              </a:rPr>
              <a:t> </a:t>
            </a:r>
            <a:r>
              <a:rPr sz="2350" spc="140" dirty="0">
                <a:latin typeface="Symbol"/>
                <a:cs typeface="Symbol"/>
              </a:rPr>
              <a:t></a:t>
            </a:r>
            <a:r>
              <a:rPr sz="2350" spc="80" dirty="0">
                <a:latin typeface="Times New Roman"/>
                <a:cs typeface="Times New Roman"/>
              </a:rPr>
              <a:t> </a:t>
            </a:r>
            <a:r>
              <a:rPr sz="2350" i="1" spc="175" dirty="0">
                <a:latin typeface="Times New Roman"/>
                <a:cs typeface="Times New Roman"/>
              </a:rPr>
              <a:t>ABC</a:t>
            </a:r>
            <a:r>
              <a:rPr sz="2350" spc="175" dirty="0">
                <a:latin typeface="Times New Roman"/>
                <a:cs typeface="Times New Roman"/>
              </a:rPr>
              <a:t>(</a:t>
            </a:r>
            <a:r>
              <a:rPr sz="2350" i="1" spc="175" dirty="0">
                <a:latin typeface="Times New Roman"/>
                <a:cs typeface="Times New Roman"/>
              </a:rPr>
              <a:t>D</a:t>
            </a:r>
            <a:r>
              <a:rPr sz="2350" spc="175" dirty="0">
                <a:latin typeface="Times New Roman"/>
                <a:cs typeface="Times New Roman"/>
              </a:rPr>
              <a:t>)</a:t>
            </a:r>
            <a:r>
              <a:rPr sz="2350" spc="-160" dirty="0">
                <a:latin typeface="Times New Roman"/>
                <a:cs typeface="Times New Roman"/>
              </a:rPr>
              <a:t> </a:t>
            </a:r>
            <a:r>
              <a:rPr sz="2350" spc="140" dirty="0">
                <a:latin typeface="Symbol"/>
                <a:cs typeface="Symbol"/>
              </a:rPr>
              <a:t></a:t>
            </a:r>
            <a:r>
              <a:rPr sz="2350" spc="80" dirty="0">
                <a:latin typeface="Times New Roman"/>
                <a:cs typeface="Times New Roman"/>
              </a:rPr>
              <a:t> </a:t>
            </a:r>
            <a:r>
              <a:rPr sz="2350" i="1" spc="215" dirty="0">
                <a:latin typeface="Times New Roman"/>
                <a:cs typeface="Times New Roman"/>
              </a:rPr>
              <a:t>ABC</a:t>
            </a:r>
            <a:r>
              <a:rPr sz="2350" spc="215" dirty="0">
                <a:latin typeface="Times New Roman"/>
                <a:cs typeface="Times New Roman"/>
              </a:rPr>
              <a:t>(</a:t>
            </a:r>
            <a:r>
              <a:rPr sz="2350" i="1" spc="215" dirty="0">
                <a:latin typeface="Times New Roman"/>
                <a:cs typeface="Times New Roman"/>
              </a:rPr>
              <a:t>D</a:t>
            </a:r>
            <a:r>
              <a:rPr sz="2350" spc="215" dirty="0">
                <a:latin typeface="Times New Roman"/>
                <a:cs typeface="Times New Roman"/>
              </a:rPr>
              <a:t>)</a:t>
            </a:r>
            <a:r>
              <a:rPr sz="2350" spc="-155" dirty="0">
                <a:latin typeface="Times New Roman"/>
                <a:cs typeface="Times New Roman"/>
              </a:rPr>
              <a:t> </a:t>
            </a:r>
            <a:r>
              <a:rPr sz="2350" spc="140" dirty="0">
                <a:latin typeface="Symbol"/>
                <a:cs typeface="Symbol"/>
              </a:rPr>
              <a:t></a:t>
            </a:r>
            <a:r>
              <a:rPr sz="2350" spc="75" dirty="0">
                <a:latin typeface="Times New Roman"/>
                <a:cs typeface="Times New Roman"/>
              </a:rPr>
              <a:t> </a:t>
            </a:r>
            <a:r>
              <a:rPr sz="2350" i="1" spc="70" dirty="0">
                <a:latin typeface="Times New Roman"/>
                <a:cs typeface="Times New Roman"/>
              </a:rPr>
              <a:t>ABC</a:t>
            </a:r>
            <a:r>
              <a:rPr sz="2350" spc="70" dirty="0">
                <a:latin typeface="Times New Roman"/>
                <a:cs typeface="Times New Roman"/>
              </a:rPr>
              <a:t>(1)</a:t>
            </a:r>
            <a:r>
              <a:rPr sz="2350" spc="-155" dirty="0">
                <a:latin typeface="Times New Roman"/>
                <a:cs typeface="Times New Roman"/>
              </a:rPr>
              <a:t> </a:t>
            </a:r>
            <a:r>
              <a:rPr sz="2350" spc="140" dirty="0">
                <a:latin typeface="Symbol"/>
                <a:cs typeface="Symbol"/>
              </a:rPr>
              <a:t></a:t>
            </a:r>
            <a:r>
              <a:rPr sz="2350" spc="75" dirty="0">
                <a:latin typeface="Times New Roman"/>
                <a:cs typeface="Times New Roman"/>
              </a:rPr>
              <a:t> </a:t>
            </a:r>
            <a:r>
              <a:rPr sz="2350" i="1" spc="210" dirty="0">
                <a:latin typeface="Times New Roman"/>
                <a:cs typeface="Times New Roman"/>
              </a:rPr>
              <a:t>ABC</a:t>
            </a:r>
            <a:r>
              <a:rPr sz="2350" spc="210" dirty="0">
                <a:latin typeface="Times New Roman"/>
                <a:cs typeface="Times New Roman"/>
              </a:rPr>
              <a:t>(</a:t>
            </a:r>
            <a:r>
              <a:rPr sz="2350" i="1" spc="210" dirty="0">
                <a:latin typeface="Times New Roman"/>
                <a:cs typeface="Times New Roman"/>
              </a:rPr>
              <a:t>E</a:t>
            </a:r>
            <a:r>
              <a:rPr sz="2350" spc="210" dirty="0">
                <a:latin typeface="Times New Roman"/>
                <a:cs typeface="Times New Roman"/>
              </a:rPr>
              <a:t>)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101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13" y="353978"/>
            <a:ext cx="201295" cy="0"/>
          </a:xfrm>
          <a:custGeom>
            <a:avLst/>
            <a:gdLst/>
            <a:ahLst/>
            <a:cxnLst/>
            <a:rect l="l" t="t" r="r" b="b"/>
            <a:pathLst>
              <a:path w="201294">
                <a:moveTo>
                  <a:pt x="0" y="0"/>
                </a:moveTo>
                <a:lnTo>
                  <a:pt x="201062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20149" y="353978"/>
            <a:ext cx="201295" cy="0"/>
          </a:xfrm>
          <a:custGeom>
            <a:avLst/>
            <a:gdLst/>
            <a:ahLst/>
            <a:cxnLst/>
            <a:rect l="l" t="t" r="r" b="b"/>
            <a:pathLst>
              <a:path w="201294">
                <a:moveTo>
                  <a:pt x="0" y="0"/>
                </a:moveTo>
                <a:lnTo>
                  <a:pt x="201062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47085" y="353978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0" y="0"/>
                </a:moveTo>
                <a:lnTo>
                  <a:pt x="211680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60891" y="353978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0" y="0"/>
                </a:moveTo>
                <a:lnTo>
                  <a:pt x="211653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0544" y="353978"/>
            <a:ext cx="201295" cy="0"/>
          </a:xfrm>
          <a:custGeom>
            <a:avLst/>
            <a:gdLst/>
            <a:ahLst/>
            <a:cxnLst/>
            <a:rect l="l" t="t" r="r" b="b"/>
            <a:pathLst>
              <a:path w="201294">
                <a:moveTo>
                  <a:pt x="0" y="0"/>
                </a:moveTo>
                <a:lnTo>
                  <a:pt x="201062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28460" y="353978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0" y="0"/>
                </a:moveTo>
                <a:lnTo>
                  <a:pt x="211818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18682" y="353978"/>
            <a:ext cx="201295" cy="0"/>
          </a:xfrm>
          <a:custGeom>
            <a:avLst/>
            <a:gdLst/>
            <a:ahLst/>
            <a:cxnLst/>
            <a:rect l="l" t="t" r="r" b="b"/>
            <a:pathLst>
              <a:path w="201295">
                <a:moveTo>
                  <a:pt x="0" y="0"/>
                </a:moveTo>
                <a:lnTo>
                  <a:pt x="200843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92422" y="353978"/>
            <a:ext cx="236854" cy="0"/>
          </a:xfrm>
          <a:custGeom>
            <a:avLst/>
            <a:gdLst/>
            <a:ahLst/>
            <a:cxnLst/>
            <a:rect l="l" t="t" r="r" b="b"/>
            <a:pathLst>
              <a:path w="236854">
                <a:moveTo>
                  <a:pt x="0" y="0"/>
                </a:moveTo>
                <a:lnTo>
                  <a:pt x="236786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84143" y="353978"/>
            <a:ext cx="201930" cy="0"/>
          </a:xfrm>
          <a:custGeom>
            <a:avLst/>
            <a:gdLst/>
            <a:ahLst/>
            <a:cxnLst/>
            <a:rect l="l" t="t" r="r" b="b"/>
            <a:pathLst>
              <a:path w="201929">
                <a:moveTo>
                  <a:pt x="0" y="0"/>
                </a:moveTo>
                <a:lnTo>
                  <a:pt x="201666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11052" y="353978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0" y="0"/>
                </a:moveTo>
                <a:lnTo>
                  <a:pt x="211818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53975" y="353978"/>
            <a:ext cx="201930" cy="0"/>
          </a:xfrm>
          <a:custGeom>
            <a:avLst/>
            <a:gdLst/>
            <a:ahLst/>
            <a:cxnLst/>
            <a:rect l="l" t="t" r="r" b="b"/>
            <a:pathLst>
              <a:path w="201929">
                <a:moveTo>
                  <a:pt x="0" y="0"/>
                </a:moveTo>
                <a:lnTo>
                  <a:pt x="201666" y="0"/>
                </a:lnTo>
              </a:path>
            </a:pathLst>
          </a:custGeom>
          <a:ln w="15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08516" y="320277"/>
            <a:ext cx="434975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i="1" spc="160" dirty="0">
                <a:latin typeface="Times New Roman"/>
                <a:cs typeface="Times New Roman"/>
              </a:rPr>
              <a:t>F</a:t>
            </a:r>
            <a:r>
              <a:rPr sz="2350" i="1" spc="229" dirty="0">
                <a:latin typeface="Times New Roman"/>
                <a:cs typeface="Times New Roman"/>
              </a:rPr>
              <a:t> </a:t>
            </a:r>
            <a:r>
              <a:rPr sz="2350" spc="140" dirty="0">
                <a:latin typeface="Symbol"/>
                <a:cs typeface="Symbol"/>
              </a:rPr>
              <a:t></a:t>
            </a:r>
            <a:r>
              <a:rPr sz="2350" spc="195" dirty="0">
                <a:latin typeface="Times New Roman"/>
                <a:cs typeface="Times New Roman"/>
              </a:rPr>
              <a:t> </a:t>
            </a:r>
            <a:r>
              <a:rPr sz="2350" i="1" spc="250" dirty="0">
                <a:latin typeface="Times New Roman"/>
                <a:cs typeface="Times New Roman"/>
              </a:rPr>
              <a:t>ABC</a:t>
            </a:r>
            <a:r>
              <a:rPr sz="2350" spc="250" dirty="0">
                <a:latin typeface="Times New Roman"/>
                <a:cs typeface="Times New Roman"/>
              </a:rPr>
              <a:t>(</a:t>
            </a:r>
            <a:r>
              <a:rPr sz="2350" i="1" spc="250" dirty="0">
                <a:latin typeface="Times New Roman"/>
                <a:cs typeface="Times New Roman"/>
              </a:rPr>
              <a:t>DE</a:t>
            </a:r>
            <a:r>
              <a:rPr sz="2350" spc="250" dirty="0">
                <a:latin typeface="Times New Roman"/>
                <a:cs typeface="Times New Roman"/>
              </a:rPr>
              <a:t>)</a:t>
            </a:r>
            <a:r>
              <a:rPr sz="2350" spc="-165" dirty="0">
                <a:latin typeface="Times New Roman"/>
                <a:cs typeface="Times New Roman"/>
              </a:rPr>
              <a:t> </a:t>
            </a:r>
            <a:r>
              <a:rPr sz="2350" spc="140" dirty="0">
                <a:latin typeface="Symbol"/>
                <a:cs typeface="Symbol"/>
              </a:rPr>
              <a:t></a:t>
            </a:r>
            <a:r>
              <a:rPr sz="2350" spc="65" dirty="0">
                <a:latin typeface="Times New Roman"/>
                <a:cs typeface="Times New Roman"/>
              </a:rPr>
              <a:t> </a:t>
            </a:r>
            <a:r>
              <a:rPr sz="2350" i="1" spc="195" dirty="0">
                <a:latin typeface="Times New Roman"/>
                <a:cs typeface="Times New Roman"/>
              </a:rPr>
              <a:t>ABC</a:t>
            </a:r>
            <a:r>
              <a:rPr sz="2350" spc="195" dirty="0">
                <a:latin typeface="Times New Roman"/>
                <a:cs typeface="Times New Roman"/>
              </a:rPr>
              <a:t>(</a:t>
            </a:r>
            <a:r>
              <a:rPr sz="2350" i="1" spc="195" dirty="0">
                <a:latin typeface="Times New Roman"/>
                <a:cs typeface="Times New Roman"/>
              </a:rPr>
              <a:t>E</a:t>
            </a:r>
            <a:r>
              <a:rPr sz="2350" spc="195" dirty="0">
                <a:latin typeface="Times New Roman"/>
                <a:cs typeface="Times New Roman"/>
              </a:rPr>
              <a:t>)</a:t>
            </a:r>
            <a:r>
              <a:rPr sz="2350" spc="-170" dirty="0">
                <a:latin typeface="Times New Roman"/>
                <a:cs typeface="Times New Roman"/>
              </a:rPr>
              <a:t> </a:t>
            </a:r>
            <a:r>
              <a:rPr sz="2350" spc="140" dirty="0">
                <a:latin typeface="Symbol"/>
                <a:cs typeface="Symbol"/>
              </a:rPr>
              <a:t></a:t>
            </a:r>
            <a:r>
              <a:rPr sz="2350" spc="70" dirty="0">
                <a:latin typeface="Times New Roman"/>
                <a:cs typeface="Times New Roman"/>
              </a:rPr>
              <a:t> </a:t>
            </a:r>
            <a:r>
              <a:rPr sz="2350" i="1" spc="114" dirty="0">
                <a:latin typeface="Times New Roman"/>
                <a:cs typeface="Times New Roman"/>
              </a:rPr>
              <a:t>ABC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56305" y="1452041"/>
            <a:ext cx="2025014" cy="3502660"/>
          </a:xfrm>
          <a:custGeom>
            <a:avLst/>
            <a:gdLst/>
            <a:ahLst/>
            <a:cxnLst/>
            <a:rect l="l" t="t" r="r" b="b"/>
            <a:pathLst>
              <a:path w="2025015" h="3502660">
                <a:moveTo>
                  <a:pt x="0" y="3502659"/>
                </a:moveTo>
                <a:lnTo>
                  <a:pt x="2024858" y="3502659"/>
                </a:lnTo>
                <a:lnTo>
                  <a:pt x="2024858" y="0"/>
                </a:lnTo>
                <a:lnTo>
                  <a:pt x="0" y="0"/>
                </a:lnTo>
                <a:lnTo>
                  <a:pt x="0" y="3502659"/>
                </a:lnTo>
                <a:close/>
              </a:path>
            </a:pathLst>
          </a:custGeom>
          <a:ln w="504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66979" y="2154265"/>
            <a:ext cx="671830" cy="0"/>
          </a:xfrm>
          <a:custGeom>
            <a:avLst/>
            <a:gdLst/>
            <a:ahLst/>
            <a:cxnLst/>
            <a:rect l="l" t="t" r="r" b="b"/>
            <a:pathLst>
              <a:path w="671829">
                <a:moveTo>
                  <a:pt x="671706" y="0"/>
                </a:moveTo>
                <a:lnTo>
                  <a:pt x="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01284" y="2914079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01" y="0"/>
                </a:moveTo>
                <a:lnTo>
                  <a:pt x="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92694" y="3636540"/>
            <a:ext cx="646430" cy="0"/>
          </a:xfrm>
          <a:custGeom>
            <a:avLst/>
            <a:gdLst/>
            <a:ahLst/>
            <a:cxnLst/>
            <a:rect l="l" t="t" r="r" b="b"/>
            <a:pathLst>
              <a:path w="646429">
                <a:moveTo>
                  <a:pt x="0" y="0"/>
                </a:moveTo>
                <a:lnTo>
                  <a:pt x="64599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29339" y="3636540"/>
            <a:ext cx="312420" cy="0"/>
          </a:xfrm>
          <a:custGeom>
            <a:avLst/>
            <a:gdLst/>
            <a:ahLst/>
            <a:cxnLst/>
            <a:rect l="l" t="t" r="r" b="b"/>
            <a:pathLst>
              <a:path w="312420">
                <a:moveTo>
                  <a:pt x="0" y="0"/>
                </a:moveTo>
                <a:lnTo>
                  <a:pt x="311923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92694" y="4396507"/>
            <a:ext cx="646430" cy="0"/>
          </a:xfrm>
          <a:custGeom>
            <a:avLst/>
            <a:gdLst/>
            <a:ahLst/>
            <a:cxnLst/>
            <a:rect l="l" t="t" r="r" b="b"/>
            <a:pathLst>
              <a:path w="646429">
                <a:moveTo>
                  <a:pt x="0" y="0"/>
                </a:moveTo>
                <a:lnTo>
                  <a:pt x="64599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55055" y="4396507"/>
            <a:ext cx="286385" cy="0"/>
          </a:xfrm>
          <a:custGeom>
            <a:avLst/>
            <a:gdLst/>
            <a:ahLst/>
            <a:cxnLst/>
            <a:rect l="l" t="t" r="r" b="b"/>
            <a:pathLst>
              <a:path w="286385">
                <a:moveTo>
                  <a:pt x="0" y="0"/>
                </a:moveTo>
                <a:lnTo>
                  <a:pt x="286207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80253" y="4396507"/>
            <a:ext cx="623570" cy="0"/>
          </a:xfrm>
          <a:custGeom>
            <a:avLst/>
            <a:gdLst/>
            <a:ahLst/>
            <a:cxnLst/>
            <a:rect l="l" t="t" r="r" b="b"/>
            <a:pathLst>
              <a:path w="623570">
                <a:moveTo>
                  <a:pt x="0" y="0"/>
                </a:moveTo>
                <a:lnTo>
                  <a:pt x="62337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405237" y="4396507"/>
            <a:ext cx="624205" cy="0"/>
          </a:xfrm>
          <a:custGeom>
            <a:avLst/>
            <a:gdLst/>
            <a:ahLst/>
            <a:cxnLst/>
            <a:rect l="l" t="t" r="r" b="b"/>
            <a:pathLst>
              <a:path w="624204">
                <a:moveTo>
                  <a:pt x="0" y="0"/>
                </a:moveTo>
                <a:lnTo>
                  <a:pt x="623584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94671" y="4954701"/>
            <a:ext cx="0" cy="280670"/>
          </a:xfrm>
          <a:custGeom>
            <a:avLst/>
            <a:gdLst/>
            <a:ahLst/>
            <a:cxnLst/>
            <a:rect l="l" t="t" r="r" b="b"/>
            <a:pathLst>
              <a:path h="280670">
                <a:moveTo>
                  <a:pt x="0" y="0"/>
                </a:moveTo>
                <a:lnTo>
                  <a:pt x="0" y="280283"/>
                </a:lnTo>
              </a:path>
            </a:pathLst>
          </a:custGeom>
          <a:ln w="51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81188" y="3086125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639" y="0"/>
                </a:moveTo>
                <a:lnTo>
                  <a:pt x="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00891" y="4954701"/>
            <a:ext cx="0" cy="280670"/>
          </a:xfrm>
          <a:custGeom>
            <a:avLst/>
            <a:gdLst/>
            <a:ahLst/>
            <a:cxnLst/>
            <a:rect l="l" t="t" r="r" b="b"/>
            <a:pathLst>
              <a:path h="280670">
                <a:moveTo>
                  <a:pt x="0" y="0"/>
                </a:moveTo>
                <a:lnTo>
                  <a:pt x="0" y="280283"/>
                </a:lnTo>
              </a:path>
            </a:pathLst>
          </a:custGeom>
          <a:ln w="51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66978" y="1780510"/>
            <a:ext cx="670560" cy="0"/>
          </a:xfrm>
          <a:custGeom>
            <a:avLst/>
            <a:gdLst/>
            <a:ahLst/>
            <a:cxnLst/>
            <a:rect l="l" t="t" r="r" b="b"/>
            <a:pathLst>
              <a:path w="670560">
                <a:moveTo>
                  <a:pt x="670039" y="0"/>
                </a:moveTo>
                <a:lnTo>
                  <a:pt x="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92694" y="2528020"/>
            <a:ext cx="644525" cy="0"/>
          </a:xfrm>
          <a:custGeom>
            <a:avLst/>
            <a:gdLst/>
            <a:ahLst/>
            <a:cxnLst/>
            <a:rect l="l" t="t" r="r" b="b"/>
            <a:pathLst>
              <a:path w="644525">
                <a:moveTo>
                  <a:pt x="0" y="0"/>
                </a:moveTo>
                <a:lnTo>
                  <a:pt x="644324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054537" y="2528020"/>
            <a:ext cx="986790" cy="0"/>
          </a:xfrm>
          <a:custGeom>
            <a:avLst/>
            <a:gdLst/>
            <a:ahLst/>
            <a:cxnLst/>
            <a:rect l="l" t="t" r="r" b="b"/>
            <a:pathLst>
              <a:path w="986789">
                <a:moveTo>
                  <a:pt x="0" y="0"/>
                </a:moveTo>
                <a:lnTo>
                  <a:pt x="986725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399617" y="3275309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337401" y="0"/>
                </a:moveTo>
                <a:lnTo>
                  <a:pt x="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092694" y="4022819"/>
            <a:ext cx="644525" cy="0"/>
          </a:xfrm>
          <a:custGeom>
            <a:avLst/>
            <a:gdLst/>
            <a:ahLst/>
            <a:cxnLst/>
            <a:rect l="l" t="t" r="r" b="b"/>
            <a:pathLst>
              <a:path w="644525">
                <a:moveTo>
                  <a:pt x="0" y="0"/>
                </a:moveTo>
                <a:lnTo>
                  <a:pt x="644324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828292" y="1499491"/>
            <a:ext cx="542290" cy="271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ts val="3240"/>
              </a:lnSpc>
              <a:spcBef>
                <a:spcPts val="90"/>
              </a:spcBef>
            </a:pPr>
            <a:r>
              <a:rPr sz="2950" i="1" spc="35" dirty="0">
                <a:latin typeface="华文楷体"/>
                <a:cs typeface="华文楷体"/>
              </a:rPr>
              <a:t>D</a:t>
            </a:r>
            <a:r>
              <a:rPr sz="2950" i="1" spc="-335" dirty="0">
                <a:latin typeface="华文楷体"/>
                <a:cs typeface="华文楷体"/>
              </a:rPr>
              <a:t> </a:t>
            </a:r>
            <a:r>
              <a:rPr sz="2775" spc="104" baseline="-12012" dirty="0">
                <a:latin typeface="华文楷体"/>
                <a:cs typeface="华文楷体"/>
              </a:rPr>
              <a:t>0</a:t>
            </a:r>
            <a:endParaRPr sz="2775" baseline="-12012">
              <a:latin typeface="华文楷体"/>
              <a:cs typeface="华文楷体"/>
            </a:endParaRPr>
          </a:p>
          <a:p>
            <a:pPr marL="26670">
              <a:lnSpc>
                <a:spcPts val="2945"/>
              </a:lnSpc>
            </a:pPr>
            <a:r>
              <a:rPr sz="2950" i="1" spc="35" dirty="0">
                <a:latin typeface="华文楷体"/>
                <a:cs typeface="华文楷体"/>
              </a:rPr>
              <a:t>D</a:t>
            </a:r>
            <a:r>
              <a:rPr sz="2950" i="1" spc="-335" dirty="0">
                <a:latin typeface="华文楷体"/>
                <a:cs typeface="华文楷体"/>
              </a:rPr>
              <a:t> </a:t>
            </a:r>
            <a:r>
              <a:rPr sz="2775" spc="104" baseline="-12012" dirty="0">
                <a:latin typeface="华文楷体"/>
                <a:cs typeface="华文楷体"/>
              </a:rPr>
              <a:t>1</a:t>
            </a:r>
            <a:endParaRPr sz="2775" baseline="-12012">
              <a:latin typeface="华文楷体"/>
              <a:cs typeface="华文楷体"/>
            </a:endParaRPr>
          </a:p>
          <a:p>
            <a:pPr marL="25400">
              <a:lnSpc>
                <a:spcPts val="2945"/>
              </a:lnSpc>
            </a:pPr>
            <a:r>
              <a:rPr sz="2950" i="1" spc="35" dirty="0">
                <a:latin typeface="华文楷体"/>
                <a:cs typeface="华文楷体"/>
              </a:rPr>
              <a:t>D</a:t>
            </a:r>
            <a:r>
              <a:rPr sz="2950" i="1" spc="-335" dirty="0">
                <a:latin typeface="华文楷体"/>
                <a:cs typeface="华文楷体"/>
              </a:rPr>
              <a:t> </a:t>
            </a:r>
            <a:r>
              <a:rPr sz="2775" spc="104" baseline="-12012" dirty="0">
                <a:latin typeface="华文楷体"/>
                <a:cs typeface="华文楷体"/>
              </a:rPr>
              <a:t>2</a:t>
            </a:r>
            <a:endParaRPr sz="2775" baseline="-12012">
              <a:latin typeface="华文楷体"/>
              <a:cs typeface="华文楷体"/>
            </a:endParaRPr>
          </a:p>
          <a:p>
            <a:pPr marL="26670">
              <a:lnSpc>
                <a:spcPts val="2940"/>
              </a:lnSpc>
            </a:pPr>
            <a:r>
              <a:rPr sz="2950" i="1" spc="35" dirty="0">
                <a:latin typeface="华文楷体"/>
                <a:cs typeface="华文楷体"/>
              </a:rPr>
              <a:t>D</a:t>
            </a:r>
            <a:r>
              <a:rPr sz="2950" i="1" spc="-335" dirty="0">
                <a:latin typeface="华文楷体"/>
                <a:cs typeface="华文楷体"/>
              </a:rPr>
              <a:t> </a:t>
            </a:r>
            <a:r>
              <a:rPr sz="2775" spc="104" baseline="-12012" dirty="0">
                <a:latin typeface="华文楷体"/>
                <a:cs typeface="华文楷体"/>
              </a:rPr>
              <a:t>3</a:t>
            </a:r>
            <a:endParaRPr sz="2775" baseline="-12012">
              <a:latin typeface="华文楷体"/>
              <a:cs typeface="华文楷体"/>
            </a:endParaRPr>
          </a:p>
          <a:p>
            <a:pPr marL="25400">
              <a:lnSpc>
                <a:spcPts val="2940"/>
              </a:lnSpc>
            </a:pPr>
            <a:r>
              <a:rPr sz="2950" i="1" spc="35" dirty="0">
                <a:latin typeface="华文楷体"/>
                <a:cs typeface="华文楷体"/>
              </a:rPr>
              <a:t>D</a:t>
            </a:r>
            <a:r>
              <a:rPr sz="2950" i="1" spc="-335" dirty="0">
                <a:latin typeface="华文楷体"/>
                <a:cs typeface="华文楷体"/>
              </a:rPr>
              <a:t> </a:t>
            </a:r>
            <a:r>
              <a:rPr sz="2775" spc="104" baseline="-12012" dirty="0">
                <a:latin typeface="华文楷体"/>
                <a:cs typeface="华文楷体"/>
              </a:rPr>
              <a:t>4</a:t>
            </a:r>
            <a:endParaRPr sz="2775" baseline="-12012">
              <a:latin typeface="华文楷体"/>
              <a:cs typeface="华文楷体"/>
            </a:endParaRPr>
          </a:p>
          <a:p>
            <a:pPr marL="26670">
              <a:lnSpc>
                <a:spcPts val="2945"/>
              </a:lnSpc>
            </a:pPr>
            <a:r>
              <a:rPr sz="2950" i="1" spc="35" dirty="0">
                <a:latin typeface="华文楷体"/>
                <a:cs typeface="华文楷体"/>
              </a:rPr>
              <a:t>D</a:t>
            </a:r>
            <a:r>
              <a:rPr sz="2950" i="1" spc="-335" dirty="0">
                <a:latin typeface="华文楷体"/>
                <a:cs typeface="华文楷体"/>
              </a:rPr>
              <a:t> </a:t>
            </a:r>
            <a:r>
              <a:rPr sz="2775" spc="104" baseline="-12012" dirty="0">
                <a:latin typeface="华文楷体"/>
                <a:cs typeface="华文楷体"/>
              </a:rPr>
              <a:t>5</a:t>
            </a:r>
            <a:endParaRPr sz="2775" baseline="-12012">
              <a:latin typeface="华文楷体"/>
              <a:cs typeface="华文楷体"/>
            </a:endParaRPr>
          </a:p>
          <a:p>
            <a:pPr marL="25400">
              <a:lnSpc>
                <a:spcPts val="3240"/>
              </a:lnSpc>
            </a:pPr>
            <a:r>
              <a:rPr sz="2950" i="1" spc="35" dirty="0">
                <a:latin typeface="华文楷体"/>
                <a:cs typeface="华文楷体"/>
              </a:rPr>
              <a:t>D</a:t>
            </a:r>
            <a:r>
              <a:rPr sz="2950" i="1" spc="-335" dirty="0">
                <a:latin typeface="华文楷体"/>
                <a:cs typeface="华文楷体"/>
              </a:rPr>
              <a:t> </a:t>
            </a:r>
            <a:r>
              <a:rPr sz="2775" spc="104" baseline="-12012" dirty="0">
                <a:latin typeface="华文楷体"/>
                <a:cs typeface="华文楷体"/>
              </a:rPr>
              <a:t>6</a:t>
            </a:r>
            <a:endParaRPr sz="2775" baseline="-12012">
              <a:latin typeface="华文楷体"/>
              <a:cs typeface="华文楷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307112" y="4954701"/>
            <a:ext cx="0" cy="280670"/>
          </a:xfrm>
          <a:custGeom>
            <a:avLst/>
            <a:gdLst/>
            <a:ahLst/>
            <a:cxnLst/>
            <a:rect l="l" t="t" r="r" b="b"/>
            <a:pathLst>
              <a:path h="280670">
                <a:moveTo>
                  <a:pt x="0" y="0"/>
                </a:moveTo>
                <a:lnTo>
                  <a:pt x="0" y="280283"/>
                </a:lnTo>
              </a:path>
            </a:pathLst>
          </a:custGeom>
          <a:ln w="51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817021" y="4115488"/>
            <a:ext cx="1729739" cy="15468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3175"/>
              </a:lnSpc>
              <a:spcBef>
                <a:spcPts val="90"/>
              </a:spcBef>
            </a:pPr>
            <a:r>
              <a:rPr sz="2950" i="1" spc="35" dirty="0">
                <a:latin typeface="华文楷体"/>
                <a:cs typeface="华文楷体"/>
              </a:rPr>
              <a:t>D</a:t>
            </a:r>
            <a:r>
              <a:rPr sz="2950" i="1" spc="-240" dirty="0">
                <a:latin typeface="华文楷体"/>
                <a:cs typeface="华文楷体"/>
              </a:rPr>
              <a:t> </a:t>
            </a:r>
            <a:r>
              <a:rPr sz="2775" spc="104" baseline="-12012" dirty="0">
                <a:latin typeface="华文楷体"/>
                <a:cs typeface="华文楷体"/>
              </a:rPr>
              <a:t>7</a:t>
            </a:r>
            <a:endParaRPr sz="2775" baseline="-12012">
              <a:latin typeface="华文楷体"/>
              <a:cs typeface="华文楷体"/>
            </a:endParaRPr>
          </a:p>
          <a:p>
            <a:pPr marL="322580">
              <a:lnSpc>
                <a:spcPts val="3175"/>
              </a:lnSpc>
              <a:tabLst>
                <a:tab pos="1301115" algn="l"/>
              </a:tabLst>
            </a:pPr>
            <a:r>
              <a:rPr sz="2950" i="1" spc="50" dirty="0">
                <a:latin typeface="华文楷体"/>
                <a:cs typeface="华文楷体"/>
              </a:rPr>
              <a:t>A</a:t>
            </a:r>
            <a:r>
              <a:rPr sz="2775" spc="75" baseline="-12012" dirty="0">
                <a:latin typeface="华文楷体"/>
                <a:cs typeface="华文楷体"/>
              </a:rPr>
              <a:t>2</a:t>
            </a:r>
            <a:r>
              <a:rPr sz="2775" spc="427" baseline="-12012" dirty="0">
                <a:latin typeface="华文楷体"/>
                <a:cs typeface="华文楷体"/>
              </a:rPr>
              <a:t> </a:t>
            </a:r>
            <a:r>
              <a:rPr sz="2950" i="1" spc="50" dirty="0">
                <a:latin typeface="华文楷体"/>
                <a:cs typeface="华文楷体"/>
              </a:rPr>
              <a:t>A</a:t>
            </a:r>
            <a:r>
              <a:rPr sz="2775" spc="75" baseline="-12012" dirty="0">
                <a:latin typeface="华文楷体"/>
                <a:cs typeface="华文楷体"/>
              </a:rPr>
              <a:t>1	</a:t>
            </a:r>
            <a:r>
              <a:rPr sz="2950" i="1" spc="50" dirty="0">
                <a:latin typeface="华文楷体"/>
                <a:cs typeface="华文楷体"/>
              </a:rPr>
              <a:t>A</a:t>
            </a:r>
            <a:r>
              <a:rPr sz="2775" spc="75" baseline="-12012" dirty="0">
                <a:latin typeface="华文楷体"/>
                <a:cs typeface="华文楷体"/>
              </a:rPr>
              <a:t>0</a:t>
            </a:r>
            <a:endParaRPr sz="2775" baseline="-12012">
              <a:latin typeface="华文楷体"/>
              <a:cs typeface="华文楷体"/>
            </a:endParaRPr>
          </a:p>
          <a:p>
            <a:pPr marL="347980">
              <a:lnSpc>
                <a:spcPct val="100000"/>
              </a:lnSpc>
              <a:spcBef>
                <a:spcPts val="2100"/>
              </a:spcBef>
              <a:tabLst>
                <a:tab pos="832485" algn="l"/>
                <a:tab pos="1334770" algn="l"/>
              </a:tabLst>
            </a:pPr>
            <a:r>
              <a:rPr sz="2950" i="1" spc="30" dirty="0">
                <a:latin typeface="华文楷体"/>
                <a:cs typeface="华文楷体"/>
              </a:rPr>
              <a:t>A	B	</a:t>
            </a:r>
            <a:r>
              <a:rPr sz="4425" i="1" spc="44" baseline="1883" dirty="0">
                <a:latin typeface="华文楷体"/>
                <a:cs typeface="华文楷体"/>
              </a:rPr>
              <a:t>C</a:t>
            </a:r>
            <a:endParaRPr sz="4425" baseline="1883">
              <a:latin typeface="华文楷体"/>
              <a:cs typeface="华文楷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03785" y="2807523"/>
            <a:ext cx="1052830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824865" algn="l"/>
              </a:tabLst>
            </a:pPr>
            <a:r>
              <a:rPr sz="2950" i="1" spc="25" dirty="0">
                <a:latin typeface="华文楷体"/>
                <a:cs typeface="华文楷体"/>
              </a:rPr>
              <a:t>F	F</a:t>
            </a:r>
            <a:endParaRPr sz="2950">
              <a:latin typeface="华文楷体"/>
              <a:cs typeface="华文楷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066979" y="2154265"/>
            <a:ext cx="0" cy="3502025"/>
          </a:xfrm>
          <a:custGeom>
            <a:avLst/>
            <a:gdLst/>
            <a:ahLst/>
            <a:cxnLst/>
            <a:rect l="l" t="t" r="r" b="b"/>
            <a:pathLst>
              <a:path h="3502025">
                <a:moveTo>
                  <a:pt x="0" y="0"/>
                </a:moveTo>
                <a:lnTo>
                  <a:pt x="0" y="3501889"/>
                </a:lnTo>
              </a:path>
            </a:pathLst>
          </a:custGeom>
          <a:ln w="51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29339" y="3636540"/>
            <a:ext cx="0" cy="2019935"/>
          </a:xfrm>
          <a:custGeom>
            <a:avLst/>
            <a:gdLst/>
            <a:ahLst/>
            <a:cxnLst/>
            <a:rect l="l" t="t" r="r" b="b"/>
            <a:pathLst>
              <a:path h="2019935">
                <a:moveTo>
                  <a:pt x="0" y="0"/>
                </a:moveTo>
                <a:lnTo>
                  <a:pt x="0" y="2019615"/>
                </a:lnTo>
              </a:path>
            </a:pathLst>
          </a:custGeom>
          <a:ln w="51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885741" y="1615496"/>
            <a:ext cx="708660" cy="0"/>
          </a:xfrm>
          <a:custGeom>
            <a:avLst/>
            <a:gdLst/>
            <a:ahLst/>
            <a:cxnLst/>
            <a:rect l="l" t="t" r="r" b="b"/>
            <a:pathLst>
              <a:path w="708660">
                <a:moveTo>
                  <a:pt x="0" y="0"/>
                </a:moveTo>
                <a:lnTo>
                  <a:pt x="708589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885741" y="1942449"/>
            <a:ext cx="708660" cy="0"/>
          </a:xfrm>
          <a:custGeom>
            <a:avLst/>
            <a:gdLst/>
            <a:ahLst/>
            <a:cxnLst/>
            <a:rect l="l" t="t" r="r" b="b"/>
            <a:pathLst>
              <a:path w="708660">
                <a:moveTo>
                  <a:pt x="0" y="0"/>
                </a:moveTo>
                <a:lnTo>
                  <a:pt x="708589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94331" y="1778972"/>
            <a:ext cx="709295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708851" y="0"/>
                </a:moveTo>
                <a:lnTo>
                  <a:pt x="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133827" y="1452019"/>
            <a:ext cx="921385" cy="654050"/>
          </a:xfrm>
          <a:custGeom>
            <a:avLst/>
            <a:gdLst/>
            <a:ahLst/>
            <a:cxnLst/>
            <a:rect l="l" t="t" r="r" b="b"/>
            <a:pathLst>
              <a:path w="921385" h="654050">
                <a:moveTo>
                  <a:pt x="276445" y="0"/>
                </a:moveTo>
                <a:lnTo>
                  <a:pt x="0" y="0"/>
                </a:lnTo>
                <a:lnTo>
                  <a:pt x="31957" y="41851"/>
                </a:lnTo>
                <a:lnTo>
                  <a:pt x="59349" y="84450"/>
                </a:lnTo>
                <a:lnTo>
                  <a:pt x="82176" y="127680"/>
                </a:lnTo>
                <a:lnTo>
                  <a:pt x="100437" y="171427"/>
                </a:lnTo>
                <a:lnTo>
                  <a:pt x="114133" y="215576"/>
                </a:lnTo>
                <a:lnTo>
                  <a:pt x="123264" y="260011"/>
                </a:lnTo>
                <a:lnTo>
                  <a:pt x="127829" y="304620"/>
                </a:lnTo>
                <a:lnTo>
                  <a:pt x="127829" y="349285"/>
                </a:lnTo>
                <a:lnTo>
                  <a:pt x="123264" y="393893"/>
                </a:lnTo>
                <a:lnTo>
                  <a:pt x="114133" y="438329"/>
                </a:lnTo>
                <a:lnTo>
                  <a:pt x="100437" y="482478"/>
                </a:lnTo>
                <a:lnTo>
                  <a:pt x="82176" y="526225"/>
                </a:lnTo>
                <a:lnTo>
                  <a:pt x="59349" y="569455"/>
                </a:lnTo>
                <a:lnTo>
                  <a:pt x="31957" y="612053"/>
                </a:lnTo>
                <a:lnTo>
                  <a:pt x="0" y="653905"/>
                </a:lnTo>
                <a:lnTo>
                  <a:pt x="276445" y="653905"/>
                </a:lnTo>
                <a:lnTo>
                  <a:pt x="334689" y="644011"/>
                </a:lnTo>
                <a:lnTo>
                  <a:pt x="391329" y="632127"/>
                </a:lnTo>
                <a:lnTo>
                  <a:pt x="446230" y="618320"/>
                </a:lnTo>
                <a:lnTo>
                  <a:pt x="499261" y="602657"/>
                </a:lnTo>
                <a:lnTo>
                  <a:pt x="550288" y="585204"/>
                </a:lnTo>
                <a:lnTo>
                  <a:pt x="599180" y="566029"/>
                </a:lnTo>
                <a:lnTo>
                  <a:pt x="645804" y="545198"/>
                </a:lnTo>
                <a:lnTo>
                  <a:pt x="690027" y="522777"/>
                </a:lnTo>
                <a:lnTo>
                  <a:pt x="731717" y="498835"/>
                </a:lnTo>
                <a:lnTo>
                  <a:pt x="770742" y="473437"/>
                </a:lnTo>
                <a:lnTo>
                  <a:pt x="806969" y="446650"/>
                </a:lnTo>
                <a:lnTo>
                  <a:pt x="840265" y="418541"/>
                </a:lnTo>
                <a:lnTo>
                  <a:pt x="870498" y="389178"/>
                </a:lnTo>
                <a:lnTo>
                  <a:pt x="897535" y="358626"/>
                </a:lnTo>
                <a:lnTo>
                  <a:pt x="921245" y="326952"/>
                </a:lnTo>
                <a:lnTo>
                  <a:pt x="897882" y="295151"/>
                </a:lnTo>
                <a:lnTo>
                  <a:pt x="871125" y="264478"/>
                </a:lnTo>
                <a:lnTo>
                  <a:pt x="841111" y="235005"/>
                </a:lnTo>
                <a:lnTo>
                  <a:pt x="807974" y="206799"/>
                </a:lnTo>
                <a:lnTo>
                  <a:pt x="771853" y="179931"/>
                </a:lnTo>
                <a:lnTo>
                  <a:pt x="732883" y="154469"/>
                </a:lnTo>
                <a:lnTo>
                  <a:pt x="691201" y="130482"/>
                </a:lnTo>
                <a:lnTo>
                  <a:pt x="646942" y="108040"/>
                </a:lnTo>
                <a:lnTo>
                  <a:pt x="600243" y="87212"/>
                </a:lnTo>
                <a:lnTo>
                  <a:pt x="551240" y="68066"/>
                </a:lnTo>
                <a:lnTo>
                  <a:pt x="500071" y="50672"/>
                </a:lnTo>
                <a:lnTo>
                  <a:pt x="446870" y="35099"/>
                </a:lnTo>
                <a:lnTo>
                  <a:pt x="391774" y="21417"/>
                </a:lnTo>
                <a:lnTo>
                  <a:pt x="334921" y="9694"/>
                </a:lnTo>
                <a:lnTo>
                  <a:pt x="2764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33827" y="1452019"/>
            <a:ext cx="921385" cy="654050"/>
          </a:xfrm>
          <a:custGeom>
            <a:avLst/>
            <a:gdLst/>
            <a:ahLst/>
            <a:cxnLst/>
            <a:rect l="l" t="t" r="r" b="b"/>
            <a:pathLst>
              <a:path w="921385" h="654050">
                <a:moveTo>
                  <a:pt x="921245" y="326952"/>
                </a:moveTo>
                <a:lnTo>
                  <a:pt x="897535" y="358626"/>
                </a:lnTo>
                <a:lnTo>
                  <a:pt x="870498" y="389178"/>
                </a:lnTo>
                <a:lnTo>
                  <a:pt x="840265" y="418541"/>
                </a:lnTo>
                <a:lnTo>
                  <a:pt x="806969" y="446650"/>
                </a:lnTo>
                <a:lnTo>
                  <a:pt x="770742" y="473437"/>
                </a:lnTo>
                <a:lnTo>
                  <a:pt x="731717" y="498835"/>
                </a:lnTo>
                <a:lnTo>
                  <a:pt x="690027" y="522777"/>
                </a:lnTo>
                <a:lnTo>
                  <a:pt x="645804" y="545198"/>
                </a:lnTo>
                <a:lnTo>
                  <a:pt x="599180" y="566029"/>
                </a:lnTo>
                <a:lnTo>
                  <a:pt x="550288" y="585204"/>
                </a:lnTo>
                <a:lnTo>
                  <a:pt x="499261" y="602657"/>
                </a:lnTo>
                <a:lnTo>
                  <a:pt x="446230" y="618320"/>
                </a:lnTo>
                <a:lnTo>
                  <a:pt x="391329" y="632127"/>
                </a:lnTo>
                <a:lnTo>
                  <a:pt x="334689" y="644011"/>
                </a:lnTo>
                <a:lnTo>
                  <a:pt x="276445" y="653905"/>
                </a:lnTo>
                <a:lnTo>
                  <a:pt x="0" y="653905"/>
                </a:lnTo>
                <a:lnTo>
                  <a:pt x="31957" y="612053"/>
                </a:lnTo>
                <a:lnTo>
                  <a:pt x="59349" y="569455"/>
                </a:lnTo>
                <a:lnTo>
                  <a:pt x="82176" y="526225"/>
                </a:lnTo>
                <a:lnTo>
                  <a:pt x="100437" y="482478"/>
                </a:lnTo>
                <a:lnTo>
                  <a:pt x="114133" y="438329"/>
                </a:lnTo>
                <a:lnTo>
                  <a:pt x="123264" y="393893"/>
                </a:lnTo>
                <a:lnTo>
                  <a:pt x="127829" y="349285"/>
                </a:lnTo>
                <a:lnTo>
                  <a:pt x="127829" y="304620"/>
                </a:lnTo>
                <a:lnTo>
                  <a:pt x="123264" y="260011"/>
                </a:lnTo>
                <a:lnTo>
                  <a:pt x="114133" y="215576"/>
                </a:lnTo>
                <a:lnTo>
                  <a:pt x="100437" y="171427"/>
                </a:lnTo>
                <a:lnTo>
                  <a:pt x="82176" y="127680"/>
                </a:lnTo>
                <a:lnTo>
                  <a:pt x="59349" y="84450"/>
                </a:lnTo>
                <a:lnTo>
                  <a:pt x="31957" y="41851"/>
                </a:lnTo>
                <a:lnTo>
                  <a:pt x="0" y="0"/>
                </a:lnTo>
                <a:lnTo>
                  <a:pt x="276445" y="0"/>
                </a:lnTo>
                <a:lnTo>
                  <a:pt x="334921" y="9694"/>
                </a:lnTo>
                <a:lnTo>
                  <a:pt x="391774" y="21417"/>
                </a:lnTo>
                <a:lnTo>
                  <a:pt x="446870" y="35099"/>
                </a:lnTo>
                <a:lnTo>
                  <a:pt x="500071" y="50672"/>
                </a:lnTo>
                <a:lnTo>
                  <a:pt x="551240" y="68066"/>
                </a:lnTo>
                <a:lnTo>
                  <a:pt x="600243" y="87212"/>
                </a:lnTo>
                <a:lnTo>
                  <a:pt x="646942" y="108040"/>
                </a:lnTo>
                <a:lnTo>
                  <a:pt x="691201" y="130482"/>
                </a:lnTo>
                <a:lnTo>
                  <a:pt x="732883" y="154469"/>
                </a:lnTo>
                <a:lnTo>
                  <a:pt x="771853" y="179931"/>
                </a:lnTo>
                <a:lnTo>
                  <a:pt x="807975" y="206799"/>
                </a:lnTo>
                <a:lnTo>
                  <a:pt x="841111" y="235005"/>
                </a:lnTo>
                <a:lnTo>
                  <a:pt x="871125" y="264478"/>
                </a:lnTo>
                <a:lnTo>
                  <a:pt x="897882" y="295150"/>
                </a:lnTo>
                <a:lnTo>
                  <a:pt x="921245" y="326952"/>
                </a:lnTo>
                <a:close/>
              </a:path>
            </a:pathLst>
          </a:custGeom>
          <a:ln w="487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33827" y="1452019"/>
            <a:ext cx="921385" cy="654050"/>
          </a:xfrm>
          <a:custGeom>
            <a:avLst/>
            <a:gdLst/>
            <a:ahLst/>
            <a:cxnLst/>
            <a:rect l="l" t="t" r="r" b="b"/>
            <a:pathLst>
              <a:path w="921385" h="654050">
                <a:moveTo>
                  <a:pt x="566938" y="0"/>
                </a:moveTo>
                <a:lnTo>
                  <a:pt x="0" y="0"/>
                </a:lnTo>
                <a:lnTo>
                  <a:pt x="0" y="653905"/>
                </a:lnTo>
                <a:lnTo>
                  <a:pt x="566938" y="653905"/>
                </a:lnTo>
                <a:lnTo>
                  <a:pt x="615025" y="650922"/>
                </a:lnTo>
                <a:lnTo>
                  <a:pt x="661143" y="642229"/>
                </a:lnTo>
                <a:lnTo>
                  <a:pt x="704870" y="628218"/>
                </a:lnTo>
                <a:lnTo>
                  <a:pt x="745785" y="609276"/>
                </a:lnTo>
                <a:lnTo>
                  <a:pt x="783465" y="585794"/>
                </a:lnTo>
                <a:lnTo>
                  <a:pt x="817489" y="558160"/>
                </a:lnTo>
                <a:lnTo>
                  <a:pt x="847435" y="526762"/>
                </a:lnTo>
                <a:lnTo>
                  <a:pt x="872882" y="491991"/>
                </a:lnTo>
                <a:lnTo>
                  <a:pt x="893408" y="454236"/>
                </a:lnTo>
                <a:lnTo>
                  <a:pt x="908592" y="413885"/>
                </a:lnTo>
                <a:lnTo>
                  <a:pt x="918011" y="371327"/>
                </a:lnTo>
                <a:lnTo>
                  <a:pt x="921245" y="326952"/>
                </a:lnTo>
                <a:lnTo>
                  <a:pt x="918011" y="282578"/>
                </a:lnTo>
                <a:lnTo>
                  <a:pt x="908592" y="240020"/>
                </a:lnTo>
                <a:lnTo>
                  <a:pt x="893408" y="199669"/>
                </a:lnTo>
                <a:lnTo>
                  <a:pt x="872882" y="161913"/>
                </a:lnTo>
                <a:lnTo>
                  <a:pt x="847435" y="127143"/>
                </a:lnTo>
                <a:lnTo>
                  <a:pt x="817489" y="95745"/>
                </a:lnTo>
                <a:lnTo>
                  <a:pt x="783465" y="68111"/>
                </a:lnTo>
                <a:lnTo>
                  <a:pt x="745785" y="44628"/>
                </a:lnTo>
                <a:lnTo>
                  <a:pt x="704870" y="25687"/>
                </a:lnTo>
                <a:lnTo>
                  <a:pt x="661143" y="11676"/>
                </a:lnTo>
                <a:lnTo>
                  <a:pt x="615025" y="2983"/>
                </a:lnTo>
                <a:lnTo>
                  <a:pt x="5669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33827" y="1452019"/>
            <a:ext cx="921385" cy="654050"/>
          </a:xfrm>
          <a:custGeom>
            <a:avLst/>
            <a:gdLst/>
            <a:ahLst/>
            <a:cxnLst/>
            <a:rect l="l" t="t" r="r" b="b"/>
            <a:pathLst>
              <a:path w="921385" h="654050">
                <a:moveTo>
                  <a:pt x="566938" y="653905"/>
                </a:moveTo>
                <a:lnTo>
                  <a:pt x="0" y="653905"/>
                </a:lnTo>
                <a:lnTo>
                  <a:pt x="0" y="0"/>
                </a:lnTo>
                <a:lnTo>
                  <a:pt x="566938" y="0"/>
                </a:lnTo>
                <a:lnTo>
                  <a:pt x="615025" y="2983"/>
                </a:lnTo>
                <a:lnTo>
                  <a:pt x="661143" y="11676"/>
                </a:lnTo>
                <a:lnTo>
                  <a:pt x="704870" y="25687"/>
                </a:lnTo>
                <a:lnTo>
                  <a:pt x="745785" y="44628"/>
                </a:lnTo>
                <a:lnTo>
                  <a:pt x="783465" y="68111"/>
                </a:lnTo>
                <a:lnTo>
                  <a:pt x="817489" y="95745"/>
                </a:lnTo>
                <a:lnTo>
                  <a:pt x="847435" y="127143"/>
                </a:lnTo>
                <a:lnTo>
                  <a:pt x="872882" y="161913"/>
                </a:lnTo>
                <a:lnTo>
                  <a:pt x="893408" y="199669"/>
                </a:lnTo>
                <a:lnTo>
                  <a:pt x="908592" y="240020"/>
                </a:lnTo>
                <a:lnTo>
                  <a:pt x="918011" y="282578"/>
                </a:lnTo>
                <a:lnTo>
                  <a:pt x="921245" y="326952"/>
                </a:lnTo>
                <a:lnTo>
                  <a:pt x="918011" y="371327"/>
                </a:lnTo>
                <a:lnTo>
                  <a:pt x="908592" y="413885"/>
                </a:lnTo>
                <a:lnTo>
                  <a:pt x="893408" y="454236"/>
                </a:lnTo>
                <a:lnTo>
                  <a:pt x="872882" y="491991"/>
                </a:lnTo>
                <a:lnTo>
                  <a:pt x="847435" y="526762"/>
                </a:lnTo>
                <a:lnTo>
                  <a:pt x="817489" y="558160"/>
                </a:lnTo>
                <a:lnTo>
                  <a:pt x="783465" y="585794"/>
                </a:lnTo>
                <a:lnTo>
                  <a:pt x="745785" y="609276"/>
                </a:lnTo>
                <a:lnTo>
                  <a:pt x="704870" y="628218"/>
                </a:lnTo>
                <a:lnTo>
                  <a:pt x="661143" y="642229"/>
                </a:lnTo>
                <a:lnTo>
                  <a:pt x="615025" y="650921"/>
                </a:lnTo>
                <a:lnTo>
                  <a:pt x="566938" y="653905"/>
                </a:lnTo>
                <a:close/>
              </a:path>
            </a:pathLst>
          </a:custGeom>
          <a:ln w="487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054537" y="2557463"/>
            <a:ext cx="0" cy="3098800"/>
          </a:xfrm>
          <a:custGeom>
            <a:avLst/>
            <a:gdLst/>
            <a:ahLst/>
            <a:cxnLst/>
            <a:rect l="l" t="t" r="r" b="b"/>
            <a:pathLst>
              <a:path h="3098800">
                <a:moveTo>
                  <a:pt x="0" y="3098691"/>
                </a:moveTo>
                <a:lnTo>
                  <a:pt x="0" y="0"/>
                </a:lnTo>
              </a:path>
            </a:pathLst>
          </a:custGeom>
          <a:ln w="51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379521" y="1607586"/>
            <a:ext cx="0" cy="3067685"/>
          </a:xfrm>
          <a:custGeom>
            <a:avLst/>
            <a:gdLst/>
            <a:ahLst/>
            <a:cxnLst/>
            <a:rect l="l" t="t" r="r" b="b"/>
            <a:pathLst>
              <a:path h="3067685">
                <a:moveTo>
                  <a:pt x="0" y="3067578"/>
                </a:moveTo>
                <a:lnTo>
                  <a:pt x="0" y="0"/>
                </a:lnTo>
              </a:path>
            </a:pathLst>
          </a:custGeom>
          <a:ln w="51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042048" y="4628451"/>
            <a:ext cx="675005" cy="716280"/>
          </a:xfrm>
          <a:custGeom>
            <a:avLst/>
            <a:gdLst/>
            <a:ahLst/>
            <a:cxnLst/>
            <a:rect l="l" t="t" r="r" b="b"/>
            <a:pathLst>
              <a:path w="675004" h="716279">
                <a:moveTo>
                  <a:pt x="337472" y="93427"/>
                </a:moveTo>
                <a:lnTo>
                  <a:pt x="0" y="716286"/>
                </a:lnTo>
                <a:lnTo>
                  <a:pt x="674944" y="716286"/>
                </a:lnTo>
                <a:lnTo>
                  <a:pt x="337472" y="93427"/>
                </a:lnTo>
                <a:close/>
              </a:path>
              <a:path w="675004" h="716279">
                <a:moveTo>
                  <a:pt x="337472" y="0"/>
                </a:moveTo>
                <a:lnTo>
                  <a:pt x="317769" y="3671"/>
                </a:lnTo>
                <a:lnTo>
                  <a:pt x="301678" y="13683"/>
                </a:lnTo>
                <a:lnTo>
                  <a:pt x="290829" y="28532"/>
                </a:lnTo>
                <a:lnTo>
                  <a:pt x="286850" y="46713"/>
                </a:lnTo>
                <a:lnTo>
                  <a:pt x="290829" y="64895"/>
                </a:lnTo>
                <a:lnTo>
                  <a:pt x="301678" y="79744"/>
                </a:lnTo>
                <a:lnTo>
                  <a:pt x="317769" y="89756"/>
                </a:lnTo>
                <a:lnTo>
                  <a:pt x="337472" y="93427"/>
                </a:lnTo>
                <a:lnTo>
                  <a:pt x="357175" y="89756"/>
                </a:lnTo>
                <a:lnTo>
                  <a:pt x="373266" y="79744"/>
                </a:lnTo>
                <a:lnTo>
                  <a:pt x="384115" y="64895"/>
                </a:lnTo>
                <a:lnTo>
                  <a:pt x="388094" y="46713"/>
                </a:lnTo>
                <a:lnTo>
                  <a:pt x="384115" y="28532"/>
                </a:lnTo>
                <a:lnTo>
                  <a:pt x="373266" y="13683"/>
                </a:lnTo>
                <a:lnTo>
                  <a:pt x="357175" y="3671"/>
                </a:lnTo>
                <a:lnTo>
                  <a:pt x="3374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304175" y="4603727"/>
            <a:ext cx="150690" cy="1428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042048" y="4721878"/>
            <a:ext cx="675005" cy="622935"/>
          </a:xfrm>
          <a:custGeom>
            <a:avLst/>
            <a:gdLst/>
            <a:ahLst/>
            <a:cxnLst/>
            <a:rect l="l" t="t" r="r" b="b"/>
            <a:pathLst>
              <a:path w="675004" h="622935">
                <a:moveTo>
                  <a:pt x="0" y="622858"/>
                </a:moveTo>
                <a:lnTo>
                  <a:pt x="337472" y="0"/>
                </a:lnTo>
                <a:lnTo>
                  <a:pt x="674945" y="622858"/>
                </a:lnTo>
                <a:lnTo>
                  <a:pt x="0" y="622858"/>
                </a:lnTo>
                <a:close/>
              </a:path>
            </a:pathLst>
          </a:custGeom>
          <a:ln w="49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379521" y="1615496"/>
            <a:ext cx="506730" cy="0"/>
          </a:xfrm>
          <a:custGeom>
            <a:avLst/>
            <a:gdLst/>
            <a:ahLst/>
            <a:cxnLst/>
            <a:rect l="l" t="t" r="r" b="b"/>
            <a:pathLst>
              <a:path w="506729">
                <a:moveTo>
                  <a:pt x="506220" y="0"/>
                </a:moveTo>
                <a:lnTo>
                  <a:pt x="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704576" y="3289372"/>
            <a:ext cx="0" cy="2367280"/>
          </a:xfrm>
          <a:custGeom>
            <a:avLst/>
            <a:gdLst/>
            <a:ahLst/>
            <a:cxnLst/>
            <a:rect l="l" t="t" r="r" b="b"/>
            <a:pathLst>
              <a:path h="2367279">
                <a:moveTo>
                  <a:pt x="0" y="2366783"/>
                </a:moveTo>
                <a:lnTo>
                  <a:pt x="0" y="0"/>
                </a:lnTo>
              </a:path>
            </a:pathLst>
          </a:custGeom>
          <a:ln w="51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704576" y="3275309"/>
            <a:ext cx="2767965" cy="0"/>
          </a:xfrm>
          <a:custGeom>
            <a:avLst/>
            <a:gdLst/>
            <a:ahLst/>
            <a:cxnLst/>
            <a:rect l="l" t="t" r="r" b="b"/>
            <a:pathLst>
              <a:path w="2767965">
                <a:moveTo>
                  <a:pt x="2767426" y="0"/>
                </a:moveTo>
                <a:lnTo>
                  <a:pt x="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742709" y="2914079"/>
            <a:ext cx="1661795" cy="0"/>
          </a:xfrm>
          <a:custGeom>
            <a:avLst/>
            <a:gdLst/>
            <a:ahLst/>
            <a:cxnLst/>
            <a:rect l="l" t="t" r="r" b="b"/>
            <a:pathLst>
              <a:path w="1661795">
                <a:moveTo>
                  <a:pt x="0" y="0"/>
                </a:moveTo>
                <a:lnTo>
                  <a:pt x="166167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029607" y="2914079"/>
            <a:ext cx="1661795" cy="0"/>
          </a:xfrm>
          <a:custGeom>
            <a:avLst/>
            <a:gdLst/>
            <a:ahLst/>
            <a:cxnLst/>
            <a:rect l="l" t="t" r="r" b="b"/>
            <a:pathLst>
              <a:path w="1661795">
                <a:moveTo>
                  <a:pt x="0" y="0"/>
                </a:moveTo>
                <a:lnTo>
                  <a:pt x="166167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029607" y="2914079"/>
            <a:ext cx="0" cy="1730375"/>
          </a:xfrm>
          <a:custGeom>
            <a:avLst/>
            <a:gdLst/>
            <a:ahLst/>
            <a:cxnLst/>
            <a:rect l="l" t="t" r="r" b="b"/>
            <a:pathLst>
              <a:path h="1730375">
                <a:moveTo>
                  <a:pt x="0" y="1729950"/>
                </a:moveTo>
                <a:lnTo>
                  <a:pt x="0" y="0"/>
                </a:lnTo>
              </a:path>
            </a:pathLst>
          </a:custGeom>
          <a:ln w="51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692134" y="4597315"/>
            <a:ext cx="675005" cy="716280"/>
          </a:xfrm>
          <a:custGeom>
            <a:avLst/>
            <a:gdLst/>
            <a:ahLst/>
            <a:cxnLst/>
            <a:rect l="l" t="t" r="r" b="b"/>
            <a:pathLst>
              <a:path w="675005" h="716279">
                <a:moveTo>
                  <a:pt x="337472" y="93427"/>
                </a:moveTo>
                <a:lnTo>
                  <a:pt x="0" y="716264"/>
                </a:lnTo>
                <a:lnTo>
                  <a:pt x="674944" y="716264"/>
                </a:lnTo>
                <a:lnTo>
                  <a:pt x="337472" y="93427"/>
                </a:lnTo>
                <a:close/>
              </a:path>
              <a:path w="675005" h="716279">
                <a:moveTo>
                  <a:pt x="337472" y="0"/>
                </a:moveTo>
                <a:lnTo>
                  <a:pt x="317769" y="3671"/>
                </a:lnTo>
                <a:lnTo>
                  <a:pt x="301678" y="13683"/>
                </a:lnTo>
                <a:lnTo>
                  <a:pt x="290829" y="28532"/>
                </a:lnTo>
                <a:lnTo>
                  <a:pt x="286850" y="46713"/>
                </a:lnTo>
                <a:lnTo>
                  <a:pt x="290829" y="64895"/>
                </a:lnTo>
                <a:lnTo>
                  <a:pt x="301678" y="79744"/>
                </a:lnTo>
                <a:lnTo>
                  <a:pt x="317769" y="89756"/>
                </a:lnTo>
                <a:lnTo>
                  <a:pt x="337472" y="93427"/>
                </a:lnTo>
                <a:lnTo>
                  <a:pt x="357175" y="89756"/>
                </a:lnTo>
                <a:lnTo>
                  <a:pt x="373266" y="79744"/>
                </a:lnTo>
                <a:lnTo>
                  <a:pt x="384115" y="64895"/>
                </a:lnTo>
                <a:lnTo>
                  <a:pt x="388094" y="46713"/>
                </a:lnTo>
                <a:lnTo>
                  <a:pt x="384115" y="28532"/>
                </a:lnTo>
                <a:lnTo>
                  <a:pt x="373266" y="13683"/>
                </a:lnTo>
                <a:lnTo>
                  <a:pt x="357175" y="3671"/>
                </a:lnTo>
                <a:lnTo>
                  <a:pt x="3374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54262" y="4572592"/>
            <a:ext cx="150690" cy="1428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92134" y="4690743"/>
            <a:ext cx="675005" cy="622935"/>
          </a:xfrm>
          <a:custGeom>
            <a:avLst/>
            <a:gdLst/>
            <a:ahLst/>
            <a:cxnLst/>
            <a:rect l="l" t="t" r="r" b="b"/>
            <a:pathLst>
              <a:path w="675005" h="622935">
                <a:moveTo>
                  <a:pt x="0" y="622836"/>
                </a:moveTo>
                <a:lnTo>
                  <a:pt x="337472" y="0"/>
                </a:lnTo>
                <a:lnTo>
                  <a:pt x="674945" y="622836"/>
                </a:lnTo>
                <a:lnTo>
                  <a:pt x="0" y="622836"/>
                </a:lnTo>
                <a:close/>
              </a:path>
            </a:pathLst>
          </a:custGeom>
          <a:ln w="49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379521" y="5344737"/>
            <a:ext cx="0" cy="156210"/>
          </a:xfrm>
          <a:custGeom>
            <a:avLst/>
            <a:gdLst/>
            <a:ahLst/>
            <a:cxnLst/>
            <a:rect l="l" t="t" r="r" b="b"/>
            <a:pathLst>
              <a:path h="156210">
                <a:moveTo>
                  <a:pt x="0" y="0"/>
                </a:moveTo>
                <a:lnTo>
                  <a:pt x="0" y="155698"/>
                </a:lnTo>
              </a:path>
            </a:pathLst>
          </a:custGeom>
          <a:ln w="51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029607" y="5313579"/>
            <a:ext cx="0" cy="194945"/>
          </a:xfrm>
          <a:custGeom>
            <a:avLst/>
            <a:gdLst/>
            <a:ahLst/>
            <a:cxnLst/>
            <a:rect l="l" t="t" r="r" b="b"/>
            <a:pathLst>
              <a:path h="194945">
                <a:moveTo>
                  <a:pt x="0" y="0"/>
                </a:moveTo>
                <a:lnTo>
                  <a:pt x="0" y="194655"/>
                </a:lnTo>
              </a:path>
            </a:pathLst>
          </a:custGeom>
          <a:ln w="51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725446" y="1942449"/>
            <a:ext cx="160655" cy="0"/>
          </a:xfrm>
          <a:custGeom>
            <a:avLst/>
            <a:gdLst/>
            <a:ahLst/>
            <a:cxnLst/>
            <a:rect l="l" t="t" r="r" b="b"/>
            <a:pathLst>
              <a:path w="160654">
                <a:moveTo>
                  <a:pt x="160295" y="0"/>
                </a:moveTo>
                <a:lnTo>
                  <a:pt x="0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716993" y="1942449"/>
            <a:ext cx="0" cy="1332865"/>
          </a:xfrm>
          <a:custGeom>
            <a:avLst/>
            <a:gdLst/>
            <a:ahLst/>
            <a:cxnLst/>
            <a:rect l="l" t="t" r="r" b="b"/>
            <a:pathLst>
              <a:path h="1332864">
                <a:moveTo>
                  <a:pt x="0" y="0"/>
                </a:moveTo>
                <a:lnTo>
                  <a:pt x="0" y="1332860"/>
                </a:lnTo>
              </a:path>
            </a:pathLst>
          </a:custGeom>
          <a:ln w="51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4627110" y="5646513"/>
            <a:ext cx="542290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49885" algn="l"/>
              </a:tabLst>
            </a:pPr>
            <a:r>
              <a:rPr sz="2750" spc="114" dirty="0">
                <a:latin typeface="华文楷体"/>
                <a:cs typeface="华文楷体"/>
              </a:rPr>
              <a:t>1	0</a:t>
            </a:r>
            <a:endParaRPr sz="2750">
              <a:latin typeface="华文楷体"/>
              <a:cs typeface="华文楷体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443575" y="5686559"/>
            <a:ext cx="319405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50" i="1" spc="35" dirty="0">
                <a:latin typeface="华文楷体"/>
                <a:cs typeface="华文楷体"/>
              </a:rPr>
              <a:t>D</a:t>
            </a:r>
            <a:endParaRPr sz="2950">
              <a:latin typeface="华文楷体"/>
              <a:cs typeface="华文楷体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815395" y="5686559"/>
            <a:ext cx="275590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50" i="1" spc="30" dirty="0">
                <a:latin typeface="华文楷体"/>
                <a:cs typeface="华文楷体"/>
              </a:rPr>
              <a:t>E</a:t>
            </a:r>
            <a:endParaRPr sz="2950">
              <a:latin typeface="华文楷体"/>
              <a:cs typeface="华文楷体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029607" y="5508235"/>
            <a:ext cx="675005" cy="0"/>
          </a:xfrm>
          <a:custGeom>
            <a:avLst/>
            <a:gdLst/>
            <a:ahLst/>
            <a:cxnLst/>
            <a:rect l="l" t="t" r="r" b="b"/>
            <a:pathLst>
              <a:path w="675005">
                <a:moveTo>
                  <a:pt x="0" y="0"/>
                </a:moveTo>
                <a:lnTo>
                  <a:pt x="674968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379521" y="5500435"/>
            <a:ext cx="675640" cy="0"/>
          </a:xfrm>
          <a:custGeom>
            <a:avLst/>
            <a:gdLst/>
            <a:ahLst/>
            <a:cxnLst/>
            <a:rect l="l" t="t" r="r" b="b"/>
            <a:pathLst>
              <a:path w="675639">
                <a:moveTo>
                  <a:pt x="0" y="0"/>
                </a:moveTo>
                <a:lnTo>
                  <a:pt x="675016" y="0"/>
                </a:lnTo>
              </a:path>
            </a:pathLst>
          </a:custGeom>
          <a:ln w="47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102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336880"/>
            <a:ext cx="46005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666699"/>
                </a:solidFill>
              </a:rPr>
              <a:t>用译码器设计组合电路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4040" y="868043"/>
            <a:ext cx="8998585" cy="3669665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2800" spc="-5" dirty="0">
                <a:latin typeface="微软雅黑"/>
                <a:cs typeface="微软雅黑"/>
              </a:rPr>
              <a:t>用译码器设计组合电路</a:t>
            </a:r>
            <a:endParaRPr sz="2800">
              <a:latin typeface="微软雅黑"/>
              <a:cs typeface="微软雅黑"/>
            </a:endParaRPr>
          </a:p>
          <a:p>
            <a:pPr marL="355600" marR="363220" indent="457200">
              <a:lnSpc>
                <a:spcPct val="120100"/>
              </a:lnSpc>
              <a:spcBef>
                <a:spcPts val="944"/>
              </a:spcBef>
            </a:pP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对于最小项译码器来说，其输出是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输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入变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量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的所有 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最小项。</a:t>
            </a:r>
            <a:endParaRPr sz="2800">
              <a:latin typeface="华文楷体"/>
              <a:cs typeface="华文楷体"/>
            </a:endParaRPr>
          </a:p>
          <a:p>
            <a:pPr marL="355600" marR="5080" indent="457200">
              <a:lnSpc>
                <a:spcPct val="120100"/>
              </a:lnSpc>
              <a:spcBef>
                <a:spcPts val="130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由于所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有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逻辑函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都可转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化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成其最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小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项的和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的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形式， 因此任何逻辑函数都可采用译码器</a:t>
            </a:r>
            <a:r>
              <a:rPr sz="2800" spc="5" dirty="0">
                <a:solidFill>
                  <a:srgbClr val="7E4D00"/>
                </a:solidFill>
                <a:latin typeface="华文楷体"/>
                <a:cs typeface="华文楷体"/>
              </a:rPr>
              <a:t>实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现。</a:t>
            </a:r>
            <a:endParaRPr sz="2800">
              <a:latin typeface="华文楷体"/>
              <a:cs typeface="华文楷体"/>
            </a:endParaRPr>
          </a:p>
          <a:p>
            <a:pPr marL="812800">
              <a:lnSpc>
                <a:spcPct val="100000"/>
              </a:lnSpc>
              <a:spcBef>
                <a:spcPts val="1970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首先需要将</a:t>
            </a:r>
            <a:r>
              <a:rPr sz="2800" spc="-5" dirty="0">
                <a:solidFill>
                  <a:srgbClr val="C00000"/>
                </a:solidFill>
                <a:latin typeface="华文楷体"/>
                <a:cs typeface="华文楷体"/>
              </a:rPr>
              <a:t>表达式转换成最小项的</a:t>
            </a:r>
            <a:r>
              <a:rPr sz="2800" dirty="0">
                <a:solidFill>
                  <a:srgbClr val="C00000"/>
                </a:solidFill>
                <a:latin typeface="华文楷体"/>
                <a:cs typeface="华文楷体"/>
              </a:rPr>
              <a:t>和</a:t>
            </a:r>
            <a:r>
              <a:rPr sz="2800" spc="-5" dirty="0">
                <a:solidFill>
                  <a:srgbClr val="C00000"/>
                </a:solidFill>
                <a:latin typeface="华文楷体"/>
                <a:cs typeface="华文楷体"/>
              </a:rPr>
              <a:t>的形</a:t>
            </a:r>
            <a:r>
              <a:rPr sz="2800" spc="15" dirty="0">
                <a:solidFill>
                  <a:srgbClr val="C00000"/>
                </a:solidFill>
                <a:latin typeface="华文楷体"/>
                <a:cs typeface="华文楷体"/>
              </a:rPr>
              <a:t>式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74394" y="1211072"/>
            <a:ext cx="7029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7E4D00"/>
                </a:solidFill>
              </a:rPr>
              <a:t>3</a:t>
            </a:r>
            <a:r>
              <a:rPr sz="2800" spc="-5" dirty="0">
                <a:solidFill>
                  <a:srgbClr val="7E4D00"/>
                </a:solidFill>
              </a:rPr>
              <a:t>线-8线译码器可实现任</a:t>
            </a:r>
            <a:r>
              <a:rPr sz="2800" dirty="0">
                <a:solidFill>
                  <a:srgbClr val="7E4D00"/>
                </a:solidFill>
              </a:rPr>
              <a:t>何</a:t>
            </a:r>
            <a:r>
              <a:rPr sz="2800" spc="-10" dirty="0">
                <a:solidFill>
                  <a:srgbClr val="7E4D00"/>
                </a:solidFill>
              </a:rPr>
              <a:t>3</a:t>
            </a:r>
            <a:r>
              <a:rPr sz="2800" spc="-5" dirty="0">
                <a:solidFill>
                  <a:srgbClr val="7E4D00"/>
                </a:solidFill>
              </a:rPr>
              <a:t>变量</a:t>
            </a:r>
            <a:r>
              <a:rPr sz="2800" dirty="0">
                <a:solidFill>
                  <a:srgbClr val="7E4D00"/>
                </a:solidFill>
              </a:rPr>
              <a:t>的</a:t>
            </a:r>
            <a:r>
              <a:rPr sz="2800" spc="-5" dirty="0">
                <a:solidFill>
                  <a:srgbClr val="7E4D00"/>
                </a:solidFill>
              </a:rPr>
              <a:t>逻辑</a:t>
            </a:r>
            <a:r>
              <a:rPr sz="2800" dirty="0">
                <a:solidFill>
                  <a:srgbClr val="7E4D00"/>
                </a:solidFill>
              </a:rPr>
              <a:t>函</a:t>
            </a:r>
            <a:r>
              <a:rPr sz="2800" spc="-5" dirty="0">
                <a:solidFill>
                  <a:srgbClr val="7E4D00"/>
                </a:solidFill>
              </a:rPr>
              <a:t>数。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107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4394" y="2015998"/>
            <a:ext cx="6840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4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线-16线译码器可实现任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何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4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变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量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的逻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辑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函数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9828" y="4232847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4">
                <a:moveTo>
                  <a:pt x="0" y="0"/>
                </a:moveTo>
                <a:lnTo>
                  <a:pt x="222575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81523" y="4232847"/>
            <a:ext cx="198120" cy="0"/>
          </a:xfrm>
          <a:custGeom>
            <a:avLst/>
            <a:gdLst/>
            <a:ahLst/>
            <a:cxnLst/>
            <a:rect l="l" t="t" r="r" b="b"/>
            <a:pathLst>
              <a:path w="198119">
                <a:moveTo>
                  <a:pt x="0" y="0"/>
                </a:moveTo>
                <a:lnTo>
                  <a:pt x="197779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04754" y="4232847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0" y="0"/>
                </a:moveTo>
                <a:lnTo>
                  <a:pt x="197105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27338" y="4232847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4">
                <a:moveTo>
                  <a:pt x="0" y="0"/>
                </a:moveTo>
                <a:lnTo>
                  <a:pt x="207550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81523" y="4176362"/>
            <a:ext cx="653415" cy="0"/>
          </a:xfrm>
          <a:custGeom>
            <a:avLst/>
            <a:gdLst/>
            <a:ahLst/>
            <a:cxnLst/>
            <a:rect l="l" t="t" r="r" b="b"/>
            <a:pathLst>
              <a:path w="653414">
                <a:moveTo>
                  <a:pt x="0" y="0"/>
                </a:moveTo>
                <a:lnTo>
                  <a:pt x="653364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78898" y="4232847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4">
                <a:moveTo>
                  <a:pt x="0" y="0"/>
                </a:moveTo>
                <a:lnTo>
                  <a:pt x="334185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06933" y="4232847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5">
                <a:moveTo>
                  <a:pt x="0" y="0"/>
                </a:moveTo>
                <a:lnTo>
                  <a:pt x="222664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76545" y="4232847"/>
            <a:ext cx="198120" cy="0"/>
          </a:xfrm>
          <a:custGeom>
            <a:avLst/>
            <a:gdLst/>
            <a:ahLst/>
            <a:cxnLst/>
            <a:rect l="l" t="t" r="r" b="b"/>
            <a:pathLst>
              <a:path w="198120">
                <a:moveTo>
                  <a:pt x="0" y="0"/>
                </a:moveTo>
                <a:lnTo>
                  <a:pt x="197833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99749" y="4232847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0" y="0"/>
                </a:moveTo>
                <a:lnTo>
                  <a:pt x="197294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76545" y="4176362"/>
            <a:ext cx="628650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048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49251" y="4232847"/>
            <a:ext cx="301625" cy="0"/>
          </a:xfrm>
          <a:custGeom>
            <a:avLst/>
            <a:gdLst/>
            <a:ahLst/>
            <a:cxnLst/>
            <a:rect l="l" t="t" r="r" b="b"/>
            <a:pathLst>
              <a:path w="301625">
                <a:moveTo>
                  <a:pt x="0" y="0"/>
                </a:moveTo>
                <a:lnTo>
                  <a:pt x="301474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79828" y="4804366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4">
                <a:moveTo>
                  <a:pt x="0" y="0"/>
                </a:moveTo>
                <a:lnTo>
                  <a:pt x="222575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84114" y="4804366"/>
            <a:ext cx="198120" cy="0"/>
          </a:xfrm>
          <a:custGeom>
            <a:avLst/>
            <a:gdLst/>
            <a:ahLst/>
            <a:cxnLst/>
            <a:rect l="l" t="t" r="r" b="b"/>
            <a:pathLst>
              <a:path w="198119">
                <a:moveTo>
                  <a:pt x="0" y="0"/>
                </a:moveTo>
                <a:lnTo>
                  <a:pt x="197779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204478" y="4804366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4">
                <a:moveTo>
                  <a:pt x="0" y="0"/>
                </a:moveTo>
                <a:lnTo>
                  <a:pt x="207577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84114" y="4748475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940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56037" y="4804366"/>
            <a:ext cx="337185" cy="0"/>
          </a:xfrm>
          <a:custGeom>
            <a:avLst/>
            <a:gdLst/>
            <a:ahLst/>
            <a:cxnLst/>
            <a:rect l="l" t="t" r="r" b="b"/>
            <a:pathLst>
              <a:path w="337185">
                <a:moveTo>
                  <a:pt x="0" y="0"/>
                </a:moveTo>
                <a:lnTo>
                  <a:pt x="336803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86690" y="4804366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5">
                <a:moveTo>
                  <a:pt x="0" y="0"/>
                </a:moveTo>
                <a:lnTo>
                  <a:pt x="222664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79244" y="4804366"/>
            <a:ext cx="198120" cy="0"/>
          </a:xfrm>
          <a:custGeom>
            <a:avLst/>
            <a:gdLst/>
            <a:ahLst/>
            <a:cxnLst/>
            <a:rect l="l" t="t" r="r" b="b"/>
            <a:pathLst>
              <a:path w="198120">
                <a:moveTo>
                  <a:pt x="0" y="0"/>
                </a:moveTo>
                <a:lnTo>
                  <a:pt x="197833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79244" y="4748475"/>
            <a:ext cx="622935" cy="0"/>
          </a:xfrm>
          <a:custGeom>
            <a:avLst/>
            <a:gdLst/>
            <a:ahLst/>
            <a:cxnLst/>
            <a:rect l="l" t="t" r="r" b="b"/>
            <a:pathLst>
              <a:path w="622935">
                <a:moveTo>
                  <a:pt x="0" y="0"/>
                </a:moveTo>
                <a:lnTo>
                  <a:pt x="622650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79828" y="5376479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4">
                <a:moveTo>
                  <a:pt x="0" y="0"/>
                </a:moveTo>
                <a:lnTo>
                  <a:pt x="222575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06698" y="5376479"/>
            <a:ext cx="198120" cy="0"/>
          </a:xfrm>
          <a:custGeom>
            <a:avLst/>
            <a:gdLst/>
            <a:ahLst/>
            <a:cxnLst/>
            <a:rect l="l" t="t" r="r" b="b"/>
            <a:pathLst>
              <a:path w="198119">
                <a:moveTo>
                  <a:pt x="0" y="0"/>
                </a:moveTo>
                <a:lnTo>
                  <a:pt x="197779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29929" y="5376479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4">
                <a:moveTo>
                  <a:pt x="0" y="0"/>
                </a:moveTo>
                <a:lnTo>
                  <a:pt x="207577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84114" y="5319993"/>
            <a:ext cx="653415" cy="0"/>
          </a:xfrm>
          <a:custGeom>
            <a:avLst/>
            <a:gdLst/>
            <a:ahLst/>
            <a:cxnLst/>
            <a:rect l="l" t="t" r="r" b="b"/>
            <a:pathLst>
              <a:path w="653414">
                <a:moveTo>
                  <a:pt x="0" y="0"/>
                </a:moveTo>
                <a:lnTo>
                  <a:pt x="653391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781489" y="5376479"/>
            <a:ext cx="337185" cy="0"/>
          </a:xfrm>
          <a:custGeom>
            <a:avLst/>
            <a:gdLst/>
            <a:ahLst/>
            <a:cxnLst/>
            <a:rect l="l" t="t" r="r" b="b"/>
            <a:pathLst>
              <a:path w="337185">
                <a:moveTo>
                  <a:pt x="0" y="0"/>
                </a:moveTo>
                <a:lnTo>
                  <a:pt x="336803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812061" y="5376479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5">
                <a:moveTo>
                  <a:pt x="0" y="0"/>
                </a:moveTo>
                <a:lnTo>
                  <a:pt x="222664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30518" y="5376479"/>
            <a:ext cx="198120" cy="0"/>
          </a:xfrm>
          <a:custGeom>
            <a:avLst/>
            <a:gdLst/>
            <a:ahLst/>
            <a:cxnLst/>
            <a:rect l="l" t="t" r="r" b="b"/>
            <a:pathLst>
              <a:path w="198120">
                <a:moveTo>
                  <a:pt x="0" y="0"/>
                </a:moveTo>
                <a:lnTo>
                  <a:pt x="197833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07853" y="5319993"/>
            <a:ext cx="628650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048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79750" y="5376479"/>
            <a:ext cx="328930" cy="0"/>
          </a:xfrm>
          <a:custGeom>
            <a:avLst/>
            <a:gdLst/>
            <a:ahLst/>
            <a:cxnLst/>
            <a:rect l="l" t="t" r="r" b="b"/>
            <a:pathLst>
              <a:path w="328929">
                <a:moveTo>
                  <a:pt x="0" y="0"/>
                </a:moveTo>
                <a:lnTo>
                  <a:pt x="328463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79828" y="5947997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4">
                <a:moveTo>
                  <a:pt x="0" y="0"/>
                </a:moveTo>
                <a:lnTo>
                  <a:pt x="222575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216893" y="5947997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4">
                <a:moveTo>
                  <a:pt x="0" y="0"/>
                </a:moveTo>
                <a:lnTo>
                  <a:pt x="207550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81523" y="5892107"/>
            <a:ext cx="643255" cy="0"/>
          </a:xfrm>
          <a:custGeom>
            <a:avLst/>
            <a:gdLst/>
            <a:ahLst/>
            <a:cxnLst/>
            <a:rect l="l" t="t" r="r" b="b"/>
            <a:pathLst>
              <a:path w="643255">
                <a:moveTo>
                  <a:pt x="0" y="0"/>
                </a:moveTo>
                <a:lnTo>
                  <a:pt x="642919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769100" y="5947997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4">
                <a:moveTo>
                  <a:pt x="0" y="0"/>
                </a:moveTo>
                <a:lnTo>
                  <a:pt x="334185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796407" y="5947997"/>
            <a:ext cx="223520" cy="0"/>
          </a:xfrm>
          <a:custGeom>
            <a:avLst/>
            <a:gdLst/>
            <a:ahLst/>
            <a:cxnLst/>
            <a:rect l="l" t="t" r="r" b="b"/>
            <a:pathLst>
              <a:path w="223520">
                <a:moveTo>
                  <a:pt x="0" y="0"/>
                </a:moveTo>
                <a:lnTo>
                  <a:pt x="223204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502186" y="5947997"/>
            <a:ext cx="637540" cy="0"/>
          </a:xfrm>
          <a:custGeom>
            <a:avLst/>
            <a:gdLst/>
            <a:ahLst/>
            <a:cxnLst/>
            <a:rect l="l" t="t" r="r" b="b"/>
            <a:pathLst>
              <a:path w="637539">
                <a:moveTo>
                  <a:pt x="0" y="0"/>
                </a:moveTo>
                <a:lnTo>
                  <a:pt x="637495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484338" y="5947997"/>
            <a:ext cx="337820" cy="0"/>
          </a:xfrm>
          <a:custGeom>
            <a:avLst/>
            <a:gdLst/>
            <a:ahLst/>
            <a:cxnLst/>
            <a:rect l="l" t="t" r="r" b="b"/>
            <a:pathLst>
              <a:path w="337820">
                <a:moveTo>
                  <a:pt x="0" y="0"/>
                </a:moveTo>
                <a:lnTo>
                  <a:pt x="337640" y="0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34250" y="4199898"/>
            <a:ext cx="476123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774950" algn="l"/>
              </a:tabLst>
            </a:pPr>
            <a:r>
              <a:rPr sz="2350" i="1" spc="130" dirty="0">
                <a:latin typeface="Times New Roman"/>
                <a:cs typeface="Times New Roman"/>
              </a:rPr>
              <a:t>F </a:t>
            </a:r>
            <a:r>
              <a:rPr sz="2025" spc="97" baseline="-4115" dirty="0">
                <a:latin typeface="Times New Roman"/>
                <a:cs typeface="Times New Roman"/>
              </a:rPr>
              <a:t>0 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i="1" spc="160" dirty="0">
                <a:latin typeface="Times New Roman"/>
                <a:cs typeface="Times New Roman"/>
              </a:rPr>
              <a:t>ABC</a:t>
            </a:r>
            <a:r>
              <a:rPr sz="2350" i="1" spc="-150" dirty="0">
                <a:latin typeface="Times New Roman"/>
                <a:cs typeface="Times New Roman"/>
              </a:rPr>
              <a:t>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i="1" spc="70" dirty="0">
                <a:latin typeface="Times New Roman"/>
                <a:cs typeface="Times New Roman"/>
              </a:rPr>
              <a:t>m</a:t>
            </a:r>
            <a:r>
              <a:rPr sz="2025" spc="104" baseline="-24691" dirty="0">
                <a:latin typeface="Times New Roman"/>
                <a:cs typeface="Times New Roman"/>
              </a:rPr>
              <a:t>0	</a:t>
            </a:r>
            <a:r>
              <a:rPr sz="2350" i="1" spc="185" dirty="0">
                <a:latin typeface="Times New Roman"/>
                <a:cs typeface="Times New Roman"/>
              </a:rPr>
              <a:t>F</a:t>
            </a:r>
            <a:r>
              <a:rPr sz="2025" spc="277" baseline="-4115" dirty="0">
                <a:latin typeface="Times New Roman"/>
                <a:cs typeface="Times New Roman"/>
              </a:rPr>
              <a:t>1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i="1" spc="95" dirty="0">
                <a:latin typeface="Times New Roman"/>
                <a:cs typeface="Times New Roman"/>
              </a:rPr>
              <a:t>ABC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-295" dirty="0">
                <a:latin typeface="Times New Roman"/>
                <a:cs typeface="Times New Roman"/>
              </a:rPr>
              <a:t> </a:t>
            </a:r>
            <a:r>
              <a:rPr sz="2350" i="1" spc="5" dirty="0">
                <a:latin typeface="Times New Roman"/>
                <a:cs typeface="Times New Roman"/>
              </a:rPr>
              <a:t>m</a:t>
            </a:r>
            <a:r>
              <a:rPr sz="2025" spc="7" baseline="-24691" dirty="0">
                <a:latin typeface="Times New Roman"/>
                <a:cs typeface="Times New Roman"/>
              </a:rPr>
              <a:t>1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34250" y="4771391"/>
            <a:ext cx="477329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755265" algn="l"/>
              </a:tabLst>
            </a:pPr>
            <a:r>
              <a:rPr sz="2350" i="1" spc="130" dirty="0">
                <a:latin typeface="Times New Roman"/>
                <a:cs typeface="Times New Roman"/>
              </a:rPr>
              <a:t>F </a:t>
            </a:r>
            <a:r>
              <a:rPr sz="2025" spc="97" baseline="-4115" dirty="0">
                <a:latin typeface="Times New Roman"/>
                <a:cs typeface="Times New Roman"/>
              </a:rPr>
              <a:t>2 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i="1" spc="95" dirty="0">
                <a:latin typeface="Times New Roman"/>
                <a:cs typeface="Times New Roman"/>
              </a:rPr>
              <a:t>ABC</a:t>
            </a:r>
            <a:r>
              <a:rPr sz="2350" i="1" spc="-140" dirty="0">
                <a:latin typeface="Times New Roman"/>
                <a:cs typeface="Times New Roman"/>
              </a:rPr>
              <a:t>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i="1" spc="80" dirty="0">
                <a:latin typeface="Times New Roman"/>
                <a:cs typeface="Times New Roman"/>
              </a:rPr>
              <a:t>m</a:t>
            </a:r>
            <a:r>
              <a:rPr sz="2025" spc="120" baseline="-24691" dirty="0">
                <a:latin typeface="Times New Roman"/>
                <a:cs typeface="Times New Roman"/>
              </a:rPr>
              <a:t>2	</a:t>
            </a:r>
            <a:r>
              <a:rPr sz="2350" i="1" spc="130" dirty="0">
                <a:latin typeface="Times New Roman"/>
                <a:cs typeface="Times New Roman"/>
              </a:rPr>
              <a:t>F </a:t>
            </a:r>
            <a:r>
              <a:rPr sz="2025" spc="97" baseline="-4115" dirty="0">
                <a:latin typeface="Times New Roman"/>
                <a:cs typeface="Times New Roman"/>
              </a:rPr>
              <a:t>3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i="1" spc="85" dirty="0">
                <a:latin typeface="Times New Roman"/>
                <a:cs typeface="Times New Roman"/>
              </a:rPr>
              <a:t>ABC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-415" dirty="0">
                <a:latin typeface="Times New Roman"/>
                <a:cs typeface="Times New Roman"/>
              </a:rPr>
              <a:t> </a:t>
            </a:r>
            <a:r>
              <a:rPr sz="2350" i="1" spc="60" dirty="0">
                <a:latin typeface="Times New Roman"/>
                <a:cs typeface="Times New Roman"/>
              </a:rPr>
              <a:t>m</a:t>
            </a:r>
            <a:r>
              <a:rPr sz="2025" spc="89" baseline="-24691" dirty="0">
                <a:latin typeface="Times New Roman"/>
                <a:cs typeface="Times New Roman"/>
              </a:rPr>
              <a:t>3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46950" y="5343529"/>
            <a:ext cx="208915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350" i="1" spc="130" dirty="0">
                <a:latin typeface="Times New Roman"/>
                <a:cs typeface="Times New Roman"/>
              </a:rPr>
              <a:t>F </a:t>
            </a:r>
            <a:r>
              <a:rPr sz="2025" spc="97" baseline="-4115" dirty="0">
                <a:latin typeface="Times New Roman"/>
                <a:cs typeface="Times New Roman"/>
              </a:rPr>
              <a:t>4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i="1" spc="160" dirty="0">
                <a:latin typeface="Times New Roman"/>
                <a:cs typeface="Times New Roman"/>
              </a:rPr>
              <a:t>ABC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-390" dirty="0">
                <a:latin typeface="Times New Roman"/>
                <a:cs typeface="Times New Roman"/>
              </a:rPr>
              <a:t> </a:t>
            </a:r>
            <a:r>
              <a:rPr sz="2350" i="1" spc="80" dirty="0">
                <a:latin typeface="Times New Roman"/>
                <a:cs typeface="Times New Roman"/>
              </a:rPr>
              <a:t>m</a:t>
            </a:r>
            <a:r>
              <a:rPr sz="2025" spc="120" baseline="-24691" dirty="0">
                <a:latin typeface="Times New Roman"/>
                <a:cs typeface="Times New Roman"/>
              </a:rPr>
              <a:t>4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46950" y="5915033"/>
            <a:ext cx="207391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350" i="1" spc="130" dirty="0">
                <a:latin typeface="Times New Roman"/>
                <a:cs typeface="Times New Roman"/>
              </a:rPr>
              <a:t>F </a:t>
            </a:r>
            <a:r>
              <a:rPr sz="2025" spc="97" baseline="-4115" dirty="0">
                <a:latin typeface="Times New Roman"/>
                <a:cs typeface="Times New Roman"/>
              </a:rPr>
              <a:t>6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i="1" spc="135" dirty="0">
                <a:latin typeface="Times New Roman"/>
                <a:cs typeface="Times New Roman"/>
              </a:rPr>
              <a:t>ABC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-390" dirty="0">
                <a:latin typeface="Times New Roman"/>
                <a:cs typeface="Times New Roman"/>
              </a:rPr>
              <a:t> </a:t>
            </a:r>
            <a:r>
              <a:rPr sz="2350" i="1" spc="70" dirty="0">
                <a:latin typeface="Times New Roman"/>
                <a:cs typeface="Times New Roman"/>
              </a:rPr>
              <a:t>m</a:t>
            </a:r>
            <a:r>
              <a:rPr sz="2025" spc="104" baseline="-24691" dirty="0">
                <a:latin typeface="Times New Roman"/>
                <a:cs typeface="Times New Roman"/>
              </a:rPr>
              <a:t>6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762322" y="5343529"/>
            <a:ext cx="2073910" cy="956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05"/>
              </a:spcBef>
            </a:pPr>
            <a:r>
              <a:rPr sz="2350" i="1" spc="130" dirty="0">
                <a:latin typeface="Times New Roman"/>
                <a:cs typeface="Times New Roman"/>
              </a:rPr>
              <a:t>F </a:t>
            </a:r>
            <a:r>
              <a:rPr sz="2025" spc="97" baseline="-4115" dirty="0">
                <a:latin typeface="Times New Roman"/>
                <a:cs typeface="Times New Roman"/>
              </a:rPr>
              <a:t>5 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i="1" spc="95" dirty="0">
                <a:latin typeface="Times New Roman"/>
                <a:cs typeface="Times New Roman"/>
              </a:rPr>
              <a:t>ABC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-400" dirty="0">
                <a:latin typeface="Times New Roman"/>
                <a:cs typeface="Times New Roman"/>
              </a:rPr>
              <a:t> </a:t>
            </a:r>
            <a:r>
              <a:rPr sz="2350" i="1" spc="65" dirty="0">
                <a:latin typeface="Times New Roman"/>
                <a:cs typeface="Times New Roman"/>
              </a:rPr>
              <a:t>m</a:t>
            </a:r>
            <a:r>
              <a:rPr sz="2025" spc="97" baseline="-24691" dirty="0">
                <a:latin typeface="Times New Roman"/>
                <a:cs typeface="Times New Roman"/>
              </a:rPr>
              <a:t>5</a:t>
            </a:r>
            <a:endParaRPr sz="2025" baseline="-24691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680"/>
              </a:spcBef>
            </a:pPr>
            <a:r>
              <a:rPr sz="2350" i="1" spc="130" dirty="0">
                <a:latin typeface="Times New Roman"/>
                <a:cs typeface="Times New Roman"/>
              </a:rPr>
              <a:t>F </a:t>
            </a:r>
            <a:r>
              <a:rPr sz="2025" spc="97" baseline="-4115" dirty="0">
                <a:latin typeface="Times New Roman"/>
                <a:cs typeface="Times New Roman"/>
              </a:rPr>
              <a:t>7 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i="1" spc="125" dirty="0">
                <a:latin typeface="Times New Roman"/>
                <a:cs typeface="Times New Roman"/>
              </a:rPr>
              <a:t>ABC </a:t>
            </a:r>
            <a:r>
              <a:rPr sz="2350" spc="114" dirty="0">
                <a:latin typeface="Symbol"/>
                <a:cs typeface="Symbol"/>
              </a:rPr>
              <a:t></a:t>
            </a:r>
            <a:r>
              <a:rPr sz="2350" spc="-375" dirty="0">
                <a:latin typeface="Times New Roman"/>
                <a:cs typeface="Times New Roman"/>
              </a:rPr>
              <a:t> </a:t>
            </a:r>
            <a:r>
              <a:rPr sz="2350" i="1" spc="75" dirty="0">
                <a:latin typeface="Times New Roman"/>
                <a:cs typeface="Times New Roman"/>
              </a:rPr>
              <a:t>m</a:t>
            </a:r>
            <a:r>
              <a:rPr sz="2025" spc="112" baseline="-24691" dirty="0">
                <a:latin typeface="Times New Roman"/>
                <a:cs typeface="Times New Roman"/>
              </a:rPr>
              <a:t>7</a:t>
            </a:r>
            <a:endParaRPr sz="2025" baseline="-24691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52932" y="85471"/>
            <a:ext cx="42945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例：用译码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器实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现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逻辑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函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77266" y="706600"/>
            <a:ext cx="877506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3685" algn="l"/>
                <a:tab pos="8761730" algn="l"/>
              </a:tabLst>
            </a:pPr>
            <a:r>
              <a:rPr sz="2950" b="1" i="1" strike="sngStrike" spc="-45" dirty="0">
                <a:solidFill>
                  <a:srgbClr val="7E4D00"/>
                </a:solidFill>
                <a:latin typeface="华文楷体"/>
                <a:cs typeface="华文楷体"/>
              </a:rPr>
              <a:t> 	</a:t>
            </a:r>
            <a:r>
              <a:rPr sz="2950" b="1" i="1" strike="sngStrike" spc="-90" dirty="0">
                <a:solidFill>
                  <a:srgbClr val="7E4D00"/>
                </a:solidFill>
                <a:latin typeface="华文楷体"/>
                <a:cs typeface="华文楷体"/>
              </a:rPr>
              <a:t>F </a:t>
            </a:r>
            <a:r>
              <a:rPr sz="2950" b="1" i="1" strike="sngStrike" spc="-100" dirty="0">
                <a:solidFill>
                  <a:srgbClr val="7E4D00"/>
                </a:solidFill>
                <a:latin typeface="华文楷体"/>
                <a:cs typeface="华文楷体"/>
              </a:rPr>
              <a:t>(A，B，C) </a:t>
            </a:r>
            <a:r>
              <a:rPr sz="2950" b="1" i="1" strike="sngStrike" spc="-110" dirty="0">
                <a:solidFill>
                  <a:srgbClr val="7E4D00"/>
                </a:solidFill>
                <a:latin typeface="华文楷体"/>
                <a:cs typeface="华文楷体"/>
              </a:rPr>
              <a:t>= </a:t>
            </a:r>
            <a:r>
              <a:rPr sz="2800" b="1" strike="sngStrike" spc="-60" dirty="0">
                <a:solidFill>
                  <a:srgbClr val="7E4D00"/>
                </a:solidFill>
                <a:latin typeface="华文楷体"/>
                <a:cs typeface="华文楷体"/>
              </a:rPr>
              <a:t>∑</a:t>
            </a:r>
            <a:r>
              <a:rPr sz="2950" b="1" i="1" strike="sngStrike" spc="-60" dirty="0">
                <a:solidFill>
                  <a:srgbClr val="7E4D00"/>
                </a:solidFill>
                <a:latin typeface="华文楷体"/>
                <a:cs typeface="华文楷体"/>
              </a:rPr>
              <a:t>m </a:t>
            </a:r>
            <a:r>
              <a:rPr sz="2800" b="1" strike="sngStrike" spc="-5" dirty="0">
                <a:solidFill>
                  <a:srgbClr val="7E4D00"/>
                </a:solidFill>
                <a:latin typeface="华文楷体"/>
                <a:cs typeface="华文楷体"/>
              </a:rPr>
              <a:t>( 0， 2， 3， 4，</a:t>
            </a:r>
            <a:r>
              <a:rPr sz="2800" b="1" strike="sngStrike" spc="120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b="1" strike="sngStrike" dirty="0">
                <a:solidFill>
                  <a:srgbClr val="7E4D00"/>
                </a:solidFill>
                <a:latin typeface="华文楷体"/>
                <a:cs typeface="华文楷体"/>
              </a:rPr>
              <a:t>7)	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52932" y="1342761"/>
            <a:ext cx="8560435" cy="24809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136525" indent="621665">
              <a:lnSpc>
                <a:spcPct val="127699"/>
              </a:lnSpc>
              <a:spcBef>
                <a:spcPts val="155"/>
              </a:spcBef>
            </a:pPr>
            <a:r>
              <a:rPr sz="2950" b="1" i="1" spc="-80" dirty="0">
                <a:solidFill>
                  <a:srgbClr val="7E4D00"/>
                </a:solidFill>
                <a:latin typeface="华文楷体"/>
                <a:cs typeface="华文楷体"/>
              </a:rPr>
              <a:t>F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为3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变量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逻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辑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函数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因此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选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用</a:t>
            </a:r>
            <a:r>
              <a:rPr sz="2800" b="1" spc="-40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74LS138（3</a:t>
            </a:r>
            <a:r>
              <a:rPr sz="2800" b="1" spc="-55" dirty="0">
                <a:solidFill>
                  <a:srgbClr val="7E4D00"/>
                </a:solidFill>
                <a:latin typeface="华文楷体"/>
                <a:cs typeface="华文楷体"/>
              </a:rPr>
              <a:t>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线–8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线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译码器）。</a:t>
            </a:r>
            <a:endParaRPr sz="2800">
              <a:latin typeface="华文楷体"/>
              <a:cs typeface="华文楷体"/>
            </a:endParaRPr>
          </a:p>
          <a:p>
            <a:pPr marL="12700" marR="5080" indent="711835">
              <a:lnSpc>
                <a:spcPct val="130000"/>
              </a:lnSpc>
              <a:spcBef>
                <a:spcPts val="1680"/>
              </a:spcBef>
            </a:pP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输入为原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码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、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输出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低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电平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有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效。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每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个输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出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对应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一</a:t>
            </a:r>
            <a:r>
              <a:rPr sz="2800" b="1" spc="-10" dirty="0">
                <a:solidFill>
                  <a:srgbClr val="7E4D00"/>
                </a:solidFill>
                <a:latin typeface="华文楷体"/>
                <a:cs typeface="华文楷体"/>
              </a:rPr>
              <a:t>个 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以输入为变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量的最小项</a:t>
            </a:r>
            <a:r>
              <a:rPr sz="2800" b="1" dirty="0">
                <a:solidFill>
                  <a:srgbClr val="7E4D00"/>
                </a:solidFill>
                <a:latin typeface="华文楷体"/>
                <a:cs typeface="华文楷体"/>
              </a:rPr>
              <a:t>。</a:t>
            </a:r>
            <a:r>
              <a:rPr sz="2800" b="1" spc="-5" dirty="0">
                <a:solidFill>
                  <a:srgbClr val="7E4D00"/>
                </a:solidFill>
                <a:latin typeface="华文楷体"/>
                <a:cs typeface="华文楷体"/>
              </a:rPr>
              <a:t>其逻辑式为：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987789" y="4485557"/>
            <a:ext cx="3773170" cy="1438275"/>
          </a:xfrm>
          <a:custGeom>
            <a:avLst/>
            <a:gdLst/>
            <a:ahLst/>
            <a:cxnLst/>
            <a:rect l="l" t="t" r="r" b="b"/>
            <a:pathLst>
              <a:path w="3773170" h="1438275">
                <a:moveTo>
                  <a:pt x="0" y="1438077"/>
                </a:moveTo>
                <a:lnTo>
                  <a:pt x="3772609" y="1438077"/>
                </a:lnTo>
                <a:lnTo>
                  <a:pt x="3772609" y="0"/>
                </a:lnTo>
                <a:lnTo>
                  <a:pt x="0" y="0"/>
                </a:lnTo>
                <a:lnTo>
                  <a:pt x="0" y="1438077"/>
                </a:lnTo>
                <a:close/>
              </a:path>
            </a:pathLst>
          </a:custGeom>
          <a:ln w="319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270407" y="4269716"/>
            <a:ext cx="100725" cy="222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714016" y="4269716"/>
            <a:ext cx="100725" cy="2222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157609" y="4269716"/>
            <a:ext cx="100725" cy="2222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602777" y="4269716"/>
            <a:ext cx="98749" cy="2222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046247" y="4269716"/>
            <a:ext cx="98902" cy="2222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489872" y="4269716"/>
            <a:ext cx="98902" cy="2222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933513" y="4269716"/>
            <a:ext cx="100434" cy="22226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377152" y="4269716"/>
            <a:ext cx="100248" cy="22225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453318" y="5933742"/>
            <a:ext cx="0" cy="205740"/>
          </a:xfrm>
          <a:custGeom>
            <a:avLst/>
            <a:gdLst/>
            <a:ahLst/>
            <a:cxnLst/>
            <a:rect l="l" t="t" r="r" b="b"/>
            <a:pathLst>
              <a:path h="205739">
                <a:moveTo>
                  <a:pt x="0" y="205687"/>
                </a:moveTo>
                <a:lnTo>
                  <a:pt x="0" y="0"/>
                </a:lnTo>
              </a:path>
            </a:pathLst>
          </a:custGeom>
          <a:ln w="34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030046" y="5933742"/>
            <a:ext cx="0" cy="205740"/>
          </a:xfrm>
          <a:custGeom>
            <a:avLst/>
            <a:gdLst/>
            <a:ahLst/>
            <a:cxnLst/>
            <a:rect l="l" t="t" r="r" b="b"/>
            <a:pathLst>
              <a:path h="205739">
                <a:moveTo>
                  <a:pt x="0" y="205687"/>
                </a:moveTo>
                <a:lnTo>
                  <a:pt x="0" y="0"/>
                </a:lnTo>
              </a:path>
            </a:pathLst>
          </a:custGeom>
          <a:ln w="34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608212" y="5933742"/>
            <a:ext cx="0" cy="205740"/>
          </a:xfrm>
          <a:custGeom>
            <a:avLst/>
            <a:gdLst/>
            <a:ahLst/>
            <a:cxnLst/>
            <a:rect l="l" t="t" r="r" b="b"/>
            <a:pathLst>
              <a:path h="205739">
                <a:moveTo>
                  <a:pt x="0" y="205687"/>
                </a:moveTo>
                <a:lnTo>
                  <a:pt x="0" y="0"/>
                </a:lnTo>
              </a:path>
            </a:pathLst>
          </a:custGeom>
          <a:ln w="34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139561" y="5933742"/>
            <a:ext cx="0" cy="205740"/>
          </a:xfrm>
          <a:custGeom>
            <a:avLst/>
            <a:gdLst/>
            <a:ahLst/>
            <a:cxnLst/>
            <a:rect l="l" t="t" r="r" b="b"/>
            <a:pathLst>
              <a:path h="205739">
                <a:moveTo>
                  <a:pt x="0" y="205687"/>
                </a:moveTo>
                <a:lnTo>
                  <a:pt x="0" y="0"/>
                </a:lnTo>
              </a:path>
            </a:pathLst>
          </a:custGeom>
          <a:ln w="34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716726" y="5933742"/>
            <a:ext cx="0" cy="205740"/>
          </a:xfrm>
          <a:custGeom>
            <a:avLst/>
            <a:gdLst/>
            <a:ahLst/>
            <a:cxnLst/>
            <a:rect l="l" t="t" r="r" b="b"/>
            <a:pathLst>
              <a:path h="205739">
                <a:moveTo>
                  <a:pt x="0" y="205687"/>
                </a:moveTo>
                <a:lnTo>
                  <a:pt x="0" y="0"/>
                </a:lnTo>
              </a:path>
            </a:pathLst>
          </a:custGeom>
          <a:ln w="344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9244065" y="5907114"/>
            <a:ext cx="100280" cy="23231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683732" y="5923634"/>
            <a:ext cx="67945" cy="62865"/>
          </a:xfrm>
          <a:custGeom>
            <a:avLst/>
            <a:gdLst/>
            <a:ahLst/>
            <a:cxnLst/>
            <a:rect l="l" t="t" r="r" b="b"/>
            <a:pathLst>
              <a:path w="67945" h="62864">
                <a:moveTo>
                  <a:pt x="32994" y="0"/>
                </a:moveTo>
                <a:lnTo>
                  <a:pt x="20171" y="2789"/>
                </a:lnTo>
                <a:lnTo>
                  <a:pt x="9069" y="8713"/>
                </a:lnTo>
                <a:lnTo>
                  <a:pt x="3127" y="18820"/>
                </a:lnTo>
                <a:lnTo>
                  <a:pt x="0" y="30322"/>
                </a:lnTo>
                <a:lnTo>
                  <a:pt x="3127" y="43579"/>
                </a:lnTo>
                <a:lnTo>
                  <a:pt x="9069" y="51947"/>
                </a:lnTo>
                <a:lnTo>
                  <a:pt x="20171" y="59265"/>
                </a:lnTo>
                <a:lnTo>
                  <a:pt x="32994" y="62400"/>
                </a:lnTo>
                <a:lnTo>
                  <a:pt x="46911" y="59265"/>
                </a:lnTo>
                <a:lnTo>
                  <a:pt x="57857" y="51947"/>
                </a:lnTo>
                <a:lnTo>
                  <a:pt x="63955" y="43579"/>
                </a:lnTo>
                <a:lnTo>
                  <a:pt x="67395" y="30322"/>
                </a:lnTo>
                <a:lnTo>
                  <a:pt x="63955" y="18820"/>
                </a:lnTo>
                <a:lnTo>
                  <a:pt x="57857" y="8713"/>
                </a:lnTo>
                <a:lnTo>
                  <a:pt x="46911" y="2789"/>
                </a:lnTo>
                <a:lnTo>
                  <a:pt x="329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683732" y="5923634"/>
            <a:ext cx="67945" cy="62865"/>
          </a:xfrm>
          <a:custGeom>
            <a:avLst/>
            <a:gdLst/>
            <a:ahLst/>
            <a:cxnLst/>
            <a:rect l="l" t="t" r="r" b="b"/>
            <a:pathLst>
              <a:path w="67945" h="62864">
                <a:moveTo>
                  <a:pt x="67395" y="30322"/>
                </a:moveTo>
                <a:lnTo>
                  <a:pt x="63955" y="18820"/>
                </a:lnTo>
                <a:lnTo>
                  <a:pt x="57857" y="8713"/>
                </a:lnTo>
                <a:lnTo>
                  <a:pt x="46911" y="2789"/>
                </a:lnTo>
                <a:lnTo>
                  <a:pt x="32994" y="0"/>
                </a:lnTo>
                <a:lnTo>
                  <a:pt x="20171" y="2789"/>
                </a:lnTo>
                <a:lnTo>
                  <a:pt x="9069" y="8713"/>
                </a:lnTo>
                <a:lnTo>
                  <a:pt x="3127" y="18820"/>
                </a:lnTo>
                <a:lnTo>
                  <a:pt x="0" y="30322"/>
                </a:lnTo>
                <a:lnTo>
                  <a:pt x="3127" y="43579"/>
                </a:lnTo>
                <a:lnTo>
                  <a:pt x="9069" y="51947"/>
                </a:lnTo>
                <a:lnTo>
                  <a:pt x="20171" y="59265"/>
                </a:lnTo>
                <a:lnTo>
                  <a:pt x="32994" y="62400"/>
                </a:lnTo>
                <a:lnTo>
                  <a:pt x="46911" y="59265"/>
                </a:lnTo>
                <a:lnTo>
                  <a:pt x="57857" y="51947"/>
                </a:lnTo>
                <a:lnTo>
                  <a:pt x="63955" y="43579"/>
                </a:lnTo>
                <a:lnTo>
                  <a:pt x="67395" y="30322"/>
                </a:lnTo>
              </a:path>
            </a:pathLst>
          </a:custGeom>
          <a:ln w="329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219605" y="4547928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5">
                <a:moveTo>
                  <a:pt x="0" y="0"/>
                </a:moveTo>
                <a:lnTo>
                  <a:pt x="222750" y="0"/>
                </a:lnTo>
              </a:path>
            </a:pathLst>
          </a:custGeom>
          <a:ln w="316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663214" y="4547928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4">
                <a:moveTo>
                  <a:pt x="0" y="0"/>
                </a:moveTo>
                <a:lnTo>
                  <a:pt x="222734" y="0"/>
                </a:lnTo>
              </a:path>
            </a:pathLst>
          </a:custGeom>
          <a:ln w="316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108325" y="4547928"/>
            <a:ext cx="221615" cy="0"/>
          </a:xfrm>
          <a:custGeom>
            <a:avLst/>
            <a:gdLst/>
            <a:ahLst/>
            <a:cxnLst/>
            <a:rect l="l" t="t" r="r" b="b"/>
            <a:pathLst>
              <a:path w="221615">
                <a:moveTo>
                  <a:pt x="0" y="0"/>
                </a:moveTo>
                <a:lnTo>
                  <a:pt x="221233" y="0"/>
                </a:lnTo>
              </a:path>
            </a:pathLst>
          </a:custGeom>
          <a:ln w="316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551918" y="4547928"/>
            <a:ext cx="221615" cy="0"/>
          </a:xfrm>
          <a:custGeom>
            <a:avLst/>
            <a:gdLst/>
            <a:ahLst/>
            <a:cxnLst/>
            <a:rect l="l" t="t" r="r" b="b"/>
            <a:pathLst>
              <a:path w="221615">
                <a:moveTo>
                  <a:pt x="0" y="0"/>
                </a:moveTo>
                <a:lnTo>
                  <a:pt x="221265" y="0"/>
                </a:lnTo>
              </a:path>
            </a:pathLst>
          </a:custGeom>
          <a:ln w="316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995542" y="4547928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4">
                <a:moveTo>
                  <a:pt x="0" y="0"/>
                </a:moveTo>
                <a:lnTo>
                  <a:pt x="222672" y="0"/>
                </a:lnTo>
              </a:path>
            </a:pathLst>
          </a:custGeom>
          <a:ln w="316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439167" y="4547928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4">
                <a:moveTo>
                  <a:pt x="0" y="0"/>
                </a:moveTo>
                <a:lnTo>
                  <a:pt x="222672" y="0"/>
                </a:lnTo>
              </a:path>
            </a:pathLst>
          </a:custGeom>
          <a:ln w="316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882792" y="4547928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4">
                <a:moveTo>
                  <a:pt x="0" y="0"/>
                </a:moveTo>
                <a:lnTo>
                  <a:pt x="222359" y="0"/>
                </a:lnTo>
              </a:path>
            </a:pathLst>
          </a:custGeom>
          <a:ln w="316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9327825" y="4547928"/>
            <a:ext cx="220979" cy="0"/>
          </a:xfrm>
          <a:custGeom>
            <a:avLst/>
            <a:gdLst/>
            <a:ahLst/>
            <a:cxnLst/>
            <a:rect l="l" t="t" r="r" b="b"/>
            <a:pathLst>
              <a:path w="220979">
                <a:moveTo>
                  <a:pt x="0" y="0"/>
                </a:moveTo>
                <a:lnTo>
                  <a:pt x="220795" y="0"/>
                </a:lnTo>
              </a:path>
            </a:pathLst>
          </a:custGeom>
          <a:ln w="316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539402" y="5594884"/>
            <a:ext cx="356235" cy="0"/>
          </a:xfrm>
          <a:custGeom>
            <a:avLst/>
            <a:gdLst/>
            <a:ahLst/>
            <a:cxnLst/>
            <a:rect l="l" t="t" r="r" b="b"/>
            <a:pathLst>
              <a:path w="356234">
                <a:moveTo>
                  <a:pt x="0" y="0"/>
                </a:moveTo>
                <a:lnTo>
                  <a:pt x="355744" y="0"/>
                </a:lnTo>
              </a:path>
            </a:pathLst>
          </a:custGeom>
          <a:ln w="316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9161759" y="5594884"/>
            <a:ext cx="354330" cy="0"/>
          </a:xfrm>
          <a:custGeom>
            <a:avLst/>
            <a:gdLst/>
            <a:ahLst/>
            <a:cxnLst/>
            <a:rect l="l" t="t" r="r" b="b"/>
            <a:pathLst>
              <a:path w="354329">
                <a:moveTo>
                  <a:pt x="0" y="0"/>
                </a:moveTo>
                <a:lnTo>
                  <a:pt x="354024" y="0"/>
                </a:lnTo>
              </a:path>
            </a:pathLst>
          </a:custGeom>
          <a:ln w="316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5408452" y="4408946"/>
            <a:ext cx="4252595" cy="15087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R="55880" algn="r">
              <a:lnSpc>
                <a:spcPct val="100000"/>
              </a:lnSpc>
              <a:spcBef>
                <a:spcPts val="815"/>
              </a:spcBef>
              <a:tabLst>
                <a:tab pos="398780" algn="l"/>
                <a:tab pos="768350" algn="l"/>
                <a:tab pos="1213485" algn="l"/>
                <a:tab pos="1656714" algn="l"/>
                <a:tab pos="2100580" algn="l"/>
                <a:tab pos="2543810" algn="l"/>
                <a:tab pos="2987675" algn="l"/>
                <a:tab pos="3432810" algn="l"/>
                <a:tab pos="3876675" algn="l"/>
              </a:tabLst>
            </a:pPr>
            <a:r>
              <a:rPr sz="2250" b="1" u="heavy" spc="50" dirty="0">
                <a:uFill>
                  <a:solidFill>
                    <a:srgbClr val="000000"/>
                  </a:solidFill>
                </a:uFill>
                <a:latin typeface="华文楷体"/>
                <a:cs typeface="华文楷体"/>
              </a:rPr>
              <a:t> 	</a:t>
            </a:r>
            <a:r>
              <a:rPr sz="2250" b="1" spc="50" dirty="0">
                <a:latin typeface="华文楷体"/>
                <a:cs typeface="华文楷体"/>
              </a:rPr>
              <a:t>	</a:t>
            </a:r>
            <a:r>
              <a:rPr sz="2250" b="1" spc="120" dirty="0">
                <a:latin typeface="华文楷体"/>
                <a:cs typeface="华文楷体"/>
              </a:rPr>
              <a:t>F</a:t>
            </a:r>
            <a:r>
              <a:rPr sz="2250" b="1" spc="104" baseline="-11111" dirty="0">
                <a:latin typeface="华文楷体"/>
                <a:cs typeface="华文楷体"/>
              </a:rPr>
              <a:t>7	</a:t>
            </a:r>
            <a:r>
              <a:rPr sz="2250" b="1" spc="105" dirty="0">
                <a:latin typeface="华文楷体"/>
                <a:cs typeface="华文楷体"/>
              </a:rPr>
              <a:t>F</a:t>
            </a:r>
            <a:r>
              <a:rPr sz="2250" b="1" spc="104" baseline="-11111" dirty="0">
                <a:latin typeface="华文楷体"/>
                <a:cs typeface="华文楷体"/>
              </a:rPr>
              <a:t>6</a:t>
            </a:r>
            <a:r>
              <a:rPr sz="2250" b="1" baseline="-11111" dirty="0">
                <a:latin typeface="华文楷体"/>
                <a:cs typeface="华文楷体"/>
              </a:rPr>
              <a:t>	</a:t>
            </a:r>
            <a:r>
              <a:rPr sz="2250" b="1" spc="120" dirty="0">
                <a:latin typeface="华文楷体"/>
                <a:cs typeface="华文楷体"/>
              </a:rPr>
              <a:t>F</a:t>
            </a:r>
            <a:r>
              <a:rPr sz="2250" b="1" spc="104" baseline="-11111" dirty="0">
                <a:latin typeface="华文楷体"/>
                <a:cs typeface="华文楷体"/>
              </a:rPr>
              <a:t>5</a:t>
            </a:r>
            <a:r>
              <a:rPr sz="2250" b="1" baseline="-11111" dirty="0">
                <a:latin typeface="华文楷体"/>
                <a:cs typeface="华文楷体"/>
              </a:rPr>
              <a:t>	</a:t>
            </a:r>
            <a:r>
              <a:rPr sz="2250" b="1" spc="120" dirty="0">
                <a:latin typeface="华文楷体"/>
                <a:cs typeface="华文楷体"/>
              </a:rPr>
              <a:t>F</a:t>
            </a:r>
            <a:r>
              <a:rPr sz="2250" b="1" spc="104" baseline="-11111" dirty="0">
                <a:latin typeface="华文楷体"/>
                <a:cs typeface="华文楷体"/>
              </a:rPr>
              <a:t>4</a:t>
            </a:r>
            <a:r>
              <a:rPr sz="2250" b="1" baseline="-11111" dirty="0">
                <a:latin typeface="华文楷体"/>
                <a:cs typeface="华文楷体"/>
              </a:rPr>
              <a:t>	</a:t>
            </a:r>
            <a:r>
              <a:rPr sz="2250" b="1" spc="120" dirty="0">
                <a:latin typeface="华文楷体"/>
                <a:cs typeface="华文楷体"/>
              </a:rPr>
              <a:t>F</a:t>
            </a:r>
            <a:r>
              <a:rPr sz="2250" b="1" spc="104" baseline="-11111" dirty="0">
                <a:latin typeface="华文楷体"/>
                <a:cs typeface="华文楷体"/>
              </a:rPr>
              <a:t>3</a:t>
            </a:r>
            <a:r>
              <a:rPr sz="2250" b="1" baseline="-11111" dirty="0">
                <a:latin typeface="华文楷体"/>
                <a:cs typeface="华文楷体"/>
              </a:rPr>
              <a:t>	</a:t>
            </a:r>
            <a:r>
              <a:rPr sz="2250" b="1" spc="120" dirty="0">
                <a:latin typeface="华文楷体"/>
                <a:cs typeface="华文楷体"/>
              </a:rPr>
              <a:t>F</a:t>
            </a:r>
            <a:r>
              <a:rPr sz="2250" b="1" spc="104" baseline="-11111" dirty="0">
                <a:latin typeface="华文楷体"/>
                <a:cs typeface="华文楷体"/>
              </a:rPr>
              <a:t>2</a:t>
            </a:r>
            <a:r>
              <a:rPr sz="2250" b="1" baseline="-11111" dirty="0">
                <a:latin typeface="华文楷体"/>
                <a:cs typeface="华文楷体"/>
              </a:rPr>
              <a:t>	</a:t>
            </a:r>
            <a:r>
              <a:rPr sz="2250" b="1" spc="105" dirty="0">
                <a:latin typeface="华文楷体"/>
                <a:cs typeface="华文楷体"/>
              </a:rPr>
              <a:t>F</a:t>
            </a:r>
            <a:r>
              <a:rPr sz="2250" b="1" spc="104" baseline="-11111" dirty="0">
                <a:latin typeface="华文楷体"/>
                <a:cs typeface="华文楷体"/>
              </a:rPr>
              <a:t>1</a:t>
            </a:r>
            <a:r>
              <a:rPr sz="2250" b="1" baseline="-11111" dirty="0">
                <a:latin typeface="华文楷体"/>
                <a:cs typeface="华文楷体"/>
              </a:rPr>
              <a:t>	</a:t>
            </a:r>
            <a:r>
              <a:rPr sz="2250" b="1" spc="105" dirty="0">
                <a:latin typeface="华文楷体"/>
                <a:cs typeface="华文楷体"/>
              </a:rPr>
              <a:t>F</a:t>
            </a:r>
            <a:r>
              <a:rPr sz="2250" b="1" spc="104" baseline="-11111" dirty="0">
                <a:latin typeface="华文楷体"/>
                <a:cs typeface="华文楷体"/>
              </a:rPr>
              <a:t>0</a:t>
            </a:r>
            <a:endParaRPr sz="2250" baseline="-11111">
              <a:latin typeface="华文楷体"/>
              <a:cs typeface="华文楷体"/>
            </a:endParaRPr>
          </a:p>
          <a:p>
            <a:pPr marL="677545" algn="ctr">
              <a:lnSpc>
                <a:spcPct val="100000"/>
              </a:lnSpc>
              <a:spcBef>
                <a:spcPts val="860"/>
              </a:spcBef>
            </a:pPr>
            <a:r>
              <a:rPr sz="2700" b="1" spc="135" dirty="0">
                <a:solidFill>
                  <a:srgbClr val="FF0000"/>
                </a:solidFill>
                <a:latin typeface="Times New Roman"/>
                <a:cs typeface="Times New Roman"/>
              </a:rPr>
              <a:t>74LS138</a:t>
            </a:r>
            <a:endParaRPr sz="2700">
              <a:latin typeface="Times New Roman"/>
              <a:cs typeface="Times New Roman"/>
            </a:endParaRPr>
          </a:p>
          <a:p>
            <a:pPr marR="82550" algn="r">
              <a:lnSpc>
                <a:spcPct val="100000"/>
              </a:lnSpc>
              <a:spcBef>
                <a:spcPts val="1455"/>
              </a:spcBef>
              <a:tabLst>
                <a:tab pos="576580" algn="l"/>
                <a:tab pos="1153160" algn="l"/>
                <a:tab pos="1654810" algn="l"/>
                <a:tab pos="2830830" algn="l"/>
              </a:tabLst>
            </a:pPr>
            <a:r>
              <a:rPr sz="3375" b="1" spc="217" baseline="2469" dirty="0">
                <a:latin typeface="华文楷体"/>
                <a:cs typeface="华文楷体"/>
              </a:rPr>
              <a:t>A</a:t>
            </a:r>
            <a:r>
              <a:rPr sz="2250" b="1" spc="104" baseline="-9259" dirty="0">
                <a:latin typeface="华文楷体"/>
                <a:cs typeface="华文楷体"/>
              </a:rPr>
              <a:t>2	</a:t>
            </a:r>
            <a:r>
              <a:rPr sz="3375" b="1" spc="217" baseline="2469" dirty="0">
                <a:latin typeface="华文楷体"/>
                <a:cs typeface="华文楷体"/>
              </a:rPr>
              <a:t>A</a:t>
            </a:r>
            <a:r>
              <a:rPr sz="2250" b="1" spc="104" baseline="-9259" dirty="0">
                <a:latin typeface="华文楷体"/>
                <a:cs typeface="华文楷体"/>
              </a:rPr>
              <a:t>1	</a:t>
            </a:r>
            <a:r>
              <a:rPr sz="3375" b="1" spc="217" baseline="2469" dirty="0">
                <a:latin typeface="华文楷体"/>
                <a:cs typeface="华文楷体"/>
              </a:rPr>
              <a:t>A</a:t>
            </a:r>
            <a:r>
              <a:rPr sz="2250" b="1" spc="104" baseline="-9259" dirty="0">
                <a:latin typeface="华文楷体"/>
                <a:cs typeface="华文楷体"/>
              </a:rPr>
              <a:t>0	</a:t>
            </a:r>
            <a:r>
              <a:rPr sz="3375" b="1" spc="172" baseline="2469" dirty="0">
                <a:latin typeface="华文楷体"/>
                <a:cs typeface="华文楷体"/>
              </a:rPr>
              <a:t>ST</a:t>
            </a:r>
            <a:r>
              <a:rPr sz="2250" b="1" spc="104" baseline="-9259" dirty="0">
                <a:latin typeface="华文楷体"/>
                <a:cs typeface="华文楷体"/>
              </a:rPr>
              <a:t>1</a:t>
            </a:r>
            <a:r>
              <a:rPr sz="2250" b="1" baseline="-9259" dirty="0">
                <a:latin typeface="华文楷体"/>
                <a:cs typeface="华文楷体"/>
              </a:rPr>
              <a:t> </a:t>
            </a:r>
            <a:r>
              <a:rPr sz="2250" b="1" spc="195" baseline="-9259" dirty="0">
                <a:latin typeface="华文楷体"/>
                <a:cs typeface="华文楷体"/>
              </a:rPr>
              <a:t> </a:t>
            </a:r>
            <a:r>
              <a:rPr sz="2250" b="1" spc="114" dirty="0">
                <a:latin typeface="华文楷体"/>
                <a:cs typeface="华文楷体"/>
              </a:rPr>
              <a:t>ST</a:t>
            </a:r>
            <a:r>
              <a:rPr sz="2250" b="1" spc="104" baseline="-11111" dirty="0">
                <a:latin typeface="华文楷体"/>
                <a:cs typeface="华文楷体"/>
              </a:rPr>
              <a:t>2</a:t>
            </a:r>
            <a:r>
              <a:rPr sz="2250" b="1" baseline="-11111" dirty="0">
                <a:latin typeface="华文楷体"/>
                <a:cs typeface="华文楷体"/>
              </a:rPr>
              <a:t>	</a:t>
            </a:r>
            <a:r>
              <a:rPr sz="2250" b="1" spc="100" dirty="0">
                <a:latin typeface="华文楷体"/>
                <a:cs typeface="华文楷体"/>
              </a:rPr>
              <a:t>S</a:t>
            </a:r>
            <a:r>
              <a:rPr sz="2250" b="1" spc="125" dirty="0">
                <a:latin typeface="华文楷体"/>
                <a:cs typeface="华文楷体"/>
              </a:rPr>
              <a:t>T</a:t>
            </a:r>
            <a:r>
              <a:rPr sz="2250" b="1" spc="104" baseline="-11111" dirty="0">
                <a:latin typeface="华文楷体"/>
                <a:cs typeface="华文楷体"/>
              </a:rPr>
              <a:t>3</a:t>
            </a:r>
            <a:endParaRPr sz="2250" baseline="-11111">
              <a:latin typeface="华文楷体"/>
              <a:cs typeface="华文楷体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108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61870" y="408785"/>
            <a:ext cx="599948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7E4D00"/>
                </a:solidFill>
                <a:latin typeface="Times New Roman"/>
                <a:cs typeface="Times New Roman"/>
              </a:rPr>
              <a:t>F </a:t>
            </a:r>
            <a:r>
              <a:rPr sz="2800" b="1" i="1" spc="-50" dirty="0">
                <a:solidFill>
                  <a:srgbClr val="7E4D00"/>
                </a:solidFill>
                <a:latin typeface="Times New Roman"/>
                <a:cs typeface="Times New Roman"/>
              </a:rPr>
              <a:t>(A</a:t>
            </a:r>
            <a:r>
              <a:rPr sz="2950" b="1" i="1" spc="-50" dirty="0">
                <a:solidFill>
                  <a:srgbClr val="7E4D00"/>
                </a:solidFill>
                <a:latin typeface="微软雅黑"/>
                <a:cs typeface="微软雅黑"/>
              </a:rPr>
              <a:t>，</a:t>
            </a:r>
            <a:r>
              <a:rPr sz="2800" b="1" i="1" spc="-50" dirty="0">
                <a:solidFill>
                  <a:srgbClr val="7E4D00"/>
                </a:solidFill>
                <a:latin typeface="Times New Roman"/>
                <a:cs typeface="Times New Roman"/>
              </a:rPr>
              <a:t>B</a:t>
            </a:r>
            <a:r>
              <a:rPr sz="2950" b="1" i="1" spc="-50" dirty="0">
                <a:solidFill>
                  <a:srgbClr val="7E4D00"/>
                </a:solidFill>
                <a:latin typeface="微软雅黑"/>
                <a:cs typeface="微软雅黑"/>
              </a:rPr>
              <a:t>，</a:t>
            </a:r>
            <a:r>
              <a:rPr sz="2800" b="1" i="1" spc="-50" dirty="0">
                <a:solidFill>
                  <a:srgbClr val="7E4D00"/>
                </a:solidFill>
                <a:latin typeface="Times New Roman"/>
                <a:cs typeface="Times New Roman"/>
              </a:rPr>
              <a:t>C) </a:t>
            </a:r>
            <a:r>
              <a:rPr sz="2800" b="1" i="1" spc="-5" dirty="0">
                <a:solidFill>
                  <a:srgbClr val="7E4D00"/>
                </a:solidFill>
                <a:latin typeface="Times New Roman"/>
                <a:cs typeface="Times New Roman"/>
              </a:rPr>
              <a:t>= </a:t>
            </a:r>
            <a:r>
              <a:rPr sz="2800" b="1" spc="-10" dirty="0">
                <a:solidFill>
                  <a:srgbClr val="7E4D00"/>
                </a:solidFill>
                <a:latin typeface="Times New Roman"/>
                <a:cs typeface="Times New Roman"/>
              </a:rPr>
              <a:t>∑</a:t>
            </a:r>
            <a:r>
              <a:rPr sz="2800" b="1" i="1" spc="-10" dirty="0">
                <a:solidFill>
                  <a:srgbClr val="7E4D00"/>
                </a:solidFill>
                <a:latin typeface="Times New Roman"/>
                <a:cs typeface="Times New Roman"/>
              </a:rPr>
              <a:t>m </a:t>
            </a: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( 0</a:t>
            </a:r>
            <a:r>
              <a:rPr sz="2800" b="1" spc="-5" dirty="0">
                <a:solidFill>
                  <a:srgbClr val="7E4D00"/>
                </a:solidFill>
                <a:latin typeface="微软雅黑"/>
                <a:cs typeface="微软雅黑"/>
              </a:rPr>
              <a:t>， </a:t>
            </a: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2</a:t>
            </a:r>
            <a:r>
              <a:rPr sz="2800" b="1" spc="-5" dirty="0">
                <a:solidFill>
                  <a:srgbClr val="7E4D00"/>
                </a:solidFill>
                <a:latin typeface="微软雅黑"/>
                <a:cs typeface="微软雅黑"/>
              </a:rPr>
              <a:t>， </a:t>
            </a: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3</a:t>
            </a:r>
            <a:r>
              <a:rPr sz="2800" b="1" spc="-5" dirty="0">
                <a:solidFill>
                  <a:srgbClr val="7E4D00"/>
                </a:solidFill>
                <a:latin typeface="微软雅黑"/>
                <a:cs typeface="微软雅黑"/>
              </a:rPr>
              <a:t>， </a:t>
            </a:r>
            <a:r>
              <a:rPr sz="2800" b="1" spc="-5" dirty="0">
                <a:solidFill>
                  <a:srgbClr val="7E4D00"/>
                </a:solidFill>
                <a:latin typeface="Times New Roman"/>
                <a:cs typeface="Times New Roman"/>
              </a:rPr>
              <a:t>4</a:t>
            </a:r>
            <a:r>
              <a:rPr sz="2800" b="1" spc="-5" dirty="0">
                <a:solidFill>
                  <a:srgbClr val="7E4D00"/>
                </a:solidFill>
                <a:latin typeface="微软雅黑"/>
                <a:cs typeface="微软雅黑"/>
              </a:rPr>
              <a:t>，</a:t>
            </a:r>
            <a:r>
              <a:rPr sz="2800" b="1" spc="-490" dirty="0">
                <a:solidFill>
                  <a:srgbClr val="7E4D00"/>
                </a:solidFill>
                <a:latin typeface="微软雅黑"/>
                <a:cs typeface="微软雅黑"/>
              </a:rPr>
              <a:t> </a:t>
            </a:r>
            <a:r>
              <a:rPr sz="2800" b="1" dirty="0">
                <a:solidFill>
                  <a:srgbClr val="7E4D00"/>
                </a:solidFill>
                <a:latin typeface="Times New Roman"/>
                <a:cs typeface="Times New Roman"/>
              </a:rPr>
              <a:t>7)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49699" y="2702366"/>
            <a:ext cx="3912870" cy="0"/>
          </a:xfrm>
          <a:custGeom>
            <a:avLst/>
            <a:gdLst/>
            <a:ahLst/>
            <a:cxnLst/>
            <a:rect l="l" t="t" r="r" b="b"/>
            <a:pathLst>
              <a:path w="3912870">
                <a:moveTo>
                  <a:pt x="0" y="0"/>
                </a:moveTo>
                <a:lnTo>
                  <a:pt x="3912755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49699" y="2757816"/>
            <a:ext cx="3912870" cy="0"/>
          </a:xfrm>
          <a:custGeom>
            <a:avLst/>
            <a:gdLst/>
            <a:ahLst/>
            <a:cxnLst/>
            <a:rect l="l" t="t" r="r" b="b"/>
            <a:pathLst>
              <a:path w="3912870">
                <a:moveTo>
                  <a:pt x="0" y="0"/>
                </a:moveTo>
                <a:lnTo>
                  <a:pt x="3912755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17702" y="3484677"/>
            <a:ext cx="450215" cy="0"/>
          </a:xfrm>
          <a:custGeom>
            <a:avLst/>
            <a:gdLst/>
            <a:ahLst/>
            <a:cxnLst/>
            <a:rect l="l" t="t" r="r" b="b"/>
            <a:pathLst>
              <a:path w="450214">
                <a:moveTo>
                  <a:pt x="0" y="0"/>
                </a:moveTo>
                <a:lnTo>
                  <a:pt x="450040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01807" y="3484677"/>
            <a:ext cx="454025" cy="0"/>
          </a:xfrm>
          <a:custGeom>
            <a:avLst/>
            <a:gdLst/>
            <a:ahLst/>
            <a:cxnLst/>
            <a:rect l="l" t="t" r="r" b="b"/>
            <a:pathLst>
              <a:path w="454025">
                <a:moveTo>
                  <a:pt x="0" y="0"/>
                </a:moveTo>
                <a:lnTo>
                  <a:pt x="453467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89383" y="3484677"/>
            <a:ext cx="437515" cy="0"/>
          </a:xfrm>
          <a:custGeom>
            <a:avLst/>
            <a:gdLst/>
            <a:ahLst/>
            <a:cxnLst/>
            <a:rect l="l" t="t" r="r" b="b"/>
            <a:pathLst>
              <a:path w="437514">
                <a:moveTo>
                  <a:pt x="0" y="0"/>
                </a:moveTo>
                <a:lnTo>
                  <a:pt x="437514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60962" y="3484677"/>
            <a:ext cx="454025" cy="0"/>
          </a:xfrm>
          <a:custGeom>
            <a:avLst/>
            <a:gdLst/>
            <a:ahLst/>
            <a:cxnLst/>
            <a:rect l="l" t="t" r="r" b="b"/>
            <a:pathLst>
              <a:path w="454025">
                <a:moveTo>
                  <a:pt x="0" y="0"/>
                </a:moveTo>
                <a:lnTo>
                  <a:pt x="453445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48537" y="3484677"/>
            <a:ext cx="454659" cy="0"/>
          </a:xfrm>
          <a:custGeom>
            <a:avLst/>
            <a:gdLst/>
            <a:ahLst/>
            <a:cxnLst/>
            <a:rect l="l" t="t" r="r" b="b"/>
            <a:pathLst>
              <a:path w="454660">
                <a:moveTo>
                  <a:pt x="0" y="0"/>
                </a:moveTo>
                <a:lnTo>
                  <a:pt x="454513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17702" y="3414641"/>
            <a:ext cx="2385695" cy="0"/>
          </a:xfrm>
          <a:custGeom>
            <a:avLst/>
            <a:gdLst/>
            <a:ahLst/>
            <a:cxnLst/>
            <a:rect l="l" t="t" r="r" b="b"/>
            <a:pathLst>
              <a:path w="2385695">
                <a:moveTo>
                  <a:pt x="0" y="0"/>
                </a:moveTo>
                <a:lnTo>
                  <a:pt x="2385348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66730" y="3484677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>
                <a:moveTo>
                  <a:pt x="0" y="0"/>
                </a:moveTo>
                <a:lnTo>
                  <a:pt x="300034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82719" y="3484677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>
                <a:moveTo>
                  <a:pt x="0" y="0"/>
                </a:moveTo>
                <a:lnTo>
                  <a:pt x="299967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02023" y="3484677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>
                <a:moveTo>
                  <a:pt x="0" y="0"/>
                </a:moveTo>
                <a:lnTo>
                  <a:pt x="300034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505462" y="3484677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>
                <a:moveTo>
                  <a:pt x="0" y="0"/>
                </a:moveTo>
                <a:lnTo>
                  <a:pt x="300034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24833" y="3484677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>
                <a:moveTo>
                  <a:pt x="0" y="0"/>
                </a:moveTo>
                <a:lnTo>
                  <a:pt x="300034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66730" y="3414641"/>
            <a:ext cx="2358390" cy="0"/>
          </a:xfrm>
          <a:custGeom>
            <a:avLst/>
            <a:gdLst/>
            <a:ahLst/>
            <a:cxnLst/>
            <a:rect l="l" t="t" r="r" b="b"/>
            <a:pathLst>
              <a:path w="2358390">
                <a:moveTo>
                  <a:pt x="0" y="0"/>
                </a:moveTo>
                <a:lnTo>
                  <a:pt x="2358137" y="0"/>
                </a:lnTo>
              </a:path>
            </a:pathLst>
          </a:custGeom>
          <a:ln w="18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78839" y="997590"/>
            <a:ext cx="8348345" cy="4365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228600" indent="457200">
              <a:lnSpc>
                <a:spcPct val="15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因为</a:t>
            </a:r>
            <a:r>
              <a:rPr sz="2800" spc="-10" dirty="0">
                <a:solidFill>
                  <a:srgbClr val="FF0000"/>
                </a:solidFill>
                <a:latin typeface="华文楷体"/>
                <a:cs typeface="华文楷体"/>
              </a:rPr>
              <a:t>138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的输出为低电平有效，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因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此将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逻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辑函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转 换成最小项的反变量的形式。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华文楷体"/>
              <a:cs typeface="华文楷体"/>
            </a:endParaRPr>
          </a:p>
          <a:p>
            <a:pPr marL="413384">
              <a:lnSpc>
                <a:spcPct val="100000"/>
              </a:lnSpc>
              <a:tabLst>
                <a:tab pos="822325" algn="l"/>
              </a:tabLst>
            </a:pPr>
            <a:r>
              <a:rPr sz="2900" i="1" spc="320" dirty="0">
                <a:latin typeface="Times New Roman"/>
                <a:cs typeface="Times New Roman"/>
              </a:rPr>
              <a:t>F	</a:t>
            </a:r>
            <a:r>
              <a:rPr sz="2900" spc="290" dirty="0">
                <a:latin typeface="Symbol"/>
                <a:cs typeface="Symbol"/>
              </a:rPr>
              <a:t></a:t>
            </a:r>
            <a:r>
              <a:rPr sz="2900" spc="10" dirty="0">
                <a:latin typeface="Times New Roman"/>
                <a:cs typeface="Times New Roman"/>
              </a:rPr>
              <a:t> </a:t>
            </a:r>
            <a:r>
              <a:rPr sz="2900" spc="260" dirty="0">
                <a:latin typeface="Symbol"/>
                <a:cs typeface="Symbol"/>
              </a:rPr>
              <a:t></a:t>
            </a:r>
            <a:r>
              <a:rPr sz="2900" i="1" spc="260" dirty="0">
                <a:latin typeface="Times New Roman"/>
                <a:cs typeface="Times New Roman"/>
              </a:rPr>
              <a:t>m</a:t>
            </a:r>
            <a:r>
              <a:rPr sz="2900" spc="260" dirty="0">
                <a:latin typeface="Times New Roman"/>
                <a:cs typeface="Times New Roman"/>
              </a:rPr>
              <a:t>(0,</a:t>
            </a:r>
            <a:r>
              <a:rPr sz="2900" spc="-305" dirty="0">
                <a:latin typeface="Times New Roman"/>
                <a:cs typeface="Times New Roman"/>
              </a:rPr>
              <a:t> </a:t>
            </a:r>
            <a:r>
              <a:rPr sz="2900" spc="170" dirty="0">
                <a:latin typeface="Times New Roman"/>
                <a:cs typeface="Times New Roman"/>
              </a:rPr>
              <a:t>2,</a:t>
            </a:r>
            <a:r>
              <a:rPr sz="2900" spc="-409" dirty="0">
                <a:latin typeface="Times New Roman"/>
                <a:cs typeface="Times New Roman"/>
              </a:rPr>
              <a:t> </a:t>
            </a:r>
            <a:r>
              <a:rPr sz="2900" spc="114" dirty="0">
                <a:latin typeface="Times New Roman"/>
                <a:cs typeface="Times New Roman"/>
              </a:rPr>
              <a:t>3,</a:t>
            </a:r>
            <a:r>
              <a:rPr sz="2900" spc="-300" dirty="0">
                <a:latin typeface="Times New Roman"/>
                <a:cs typeface="Times New Roman"/>
              </a:rPr>
              <a:t> </a:t>
            </a:r>
            <a:r>
              <a:rPr sz="2900" spc="170" dirty="0">
                <a:latin typeface="Times New Roman"/>
                <a:cs typeface="Times New Roman"/>
              </a:rPr>
              <a:t>4,</a:t>
            </a:r>
            <a:r>
              <a:rPr sz="2900" spc="-360" dirty="0">
                <a:latin typeface="Times New Roman"/>
                <a:cs typeface="Times New Roman"/>
              </a:rPr>
              <a:t> </a:t>
            </a:r>
            <a:r>
              <a:rPr sz="2900" spc="245" dirty="0">
                <a:latin typeface="Times New Roman"/>
                <a:cs typeface="Times New Roman"/>
              </a:rPr>
              <a:t>7)</a:t>
            </a:r>
            <a:r>
              <a:rPr sz="2900" spc="80" dirty="0">
                <a:latin typeface="Times New Roman"/>
                <a:cs typeface="Times New Roman"/>
              </a:rPr>
              <a:t> </a:t>
            </a:r>
            <a:r>
              <a:rPr sz="2900" spc="290" dirty="0">
                <a:latin typeface="Symbol"/>
                <a:cs typeface="Symbol"/>
              </a:rPr>
              <a:t></a:t>
            </a:r>
            <a:r>
              <a:rPr sz="2900" spc="70" dirty="0">
                <a:latin typeface="Times New Roman"/>
                <a:cs typeface="Times New Roman"/>
              </a:rPr>
              <a:t> </a:t>
            </a:r>
            <a:r>
              <a:rPr sz="2900" i="1" spc="215" dirty="0">
                <a:latin typeface="Times New Roman"/>
                <a:cs typeface="Times New Roman"/>
              </a:rPr>
              <a:t>m</a:t>
            </a:r>
            <a:r>
              <a:rPr sz="2550" spc="322" baseline="-24509" dirty="0">
                <a:latin typeface="Times New Roman"/>
                <a:cs typeface="Times New Roman"/>
              </a:rPr>
              <a:t>0</a:t>
            </a:r>
            <a:r>
              <a:rPr sz="2550" spc="712" baseline="-24509" dirty="0">
                <a:latin typeface="Times New Roman"/>
                <a:cs typeface="Times New Roman"/>
              </a:rPr>
              <a:t> </a:t>
            </a:r>
            <a:r>
              <a:rPr sz="2900" spc="290" dirty="0">
                <a:latin typeface="Symbol"/>
                <a:cs typeface="Symbol"/>
              </a:rPr>
              <a:t></a:t>
            </a:r>
            <a:r>
              <a:rPr sz="2900" spc="-85" dirty="0">
                <a:latin typeface="Times New Roman"/>
                <a:cs typeface="Times New Roman"/>
              </a:rPr>
              <a:t> </a:t>
            </a:r>
            <a:r>
              <a:rPr sz="2900" i="1" spc="225" dirty="0">
                <a:latin typeface="Times New Roman"/>
                <a:cs typeface="Times New Roman"/>
              </a:rPr>
              <a:t>m</a:t>
            </a:r>
            <a:r>
              <a:rPr sz="2550" spc="337" baseline="-24509" dirty="0">
                <a:latin typeface="Times New Roman"/>
                <a:cs typeface="Times New Roman"/>
              </a:rPr>
              <a:t>2</a:t>
            </a:r>
            <a:r>
              <a:rPr sz="2550" spc="719" baseline="-24509" dirty="0">
                <a:latin typeface="Times New Roman"/>
                <a:cs typeface="Times New Roman"/>
              </a:rPr>
              <a:t> </a:t>
            </a:r>
            <a:r>
              <a:rPr sz="2900" spc="290" dirty="0">
                <a:latin typeface="Symbol"/>
                <a:cs typeface="Symbol"/>
              </a:rPr>
              <a:t></a:t>
            </a:r>
            <a:r>
              <a:rPr sz="2900" spc="-85" dirty="0">
                <a:latin typeface="Times New Roman"/>
                <a:cs typeface="Times New Roman"/>
              </a:rPr>
              <a:t> </a:t>
            </a:r>
            <a:r>
              <a:rPr sz="2900" i="1" spc="195" dirty="0">
                <a:latin typeface="Times New Roman"/>
                <a:cs typeface="Times New Roman"/>
              </a:rPr>
              <a:t>m</a:t>
            </a:r>
            <a:r>
              <a:rPr sz="2550" spc="292" baseline="-24509" dirty="0">
                <a:latin typeface="Times New Roman"/>
                <a:cs typeface="Times New Roman"/>
              </a:rPr>
              <a:t>3</a:t>
            </a:r>
            <a:r>
              <a:rPr sz="2550" spc="615" baseline="-24509" dirty="0">
                <a:latin typeface="Times New Roman"/>
                <a:cs typeface="Times New Roman"/>
              </a:rPr>
              <a:t> </a:t>
            </a:r>
            <a:r>
              <a:rPr sz="2900" spc="290" dirty="0">
                <a:latin typeface="Symbol"/>
                <a:cs typeface="Symbol"/>
              </a:rPr>
              <a:t></a:t>
            </a:r>
            <a:r>
              <a:rPr sz="2900" spc="-80" dirty="0">
                <a:latin typeface="Times New Roman"/>
                <a:cs typeface="Times New Roman"/>
              </a:rPr>
              <a:t> </a:t>
            </a:r>
            <a:r>
              <a:rPr sz="2900" i="1" spc="229" dirty="0">
                <a:latin typeface="Times New Roman"/>
                <a:cs typeface="Times New Roman"/>
              </a:rPr>
              <a:t>m</a:t>
            </a:r>
            <a:r>
              <a:rPr sz="2550" spc="345" baseline="-24509" dirty="0">
                <a:latin typeface="Times New Roman"/>
                <a:cs typeface="Times New Roman"/>
              </a:rPr>
              <a:t>4</a:t>
            </a:r>
            <a:r>
              <a:rPr sz="2550" spc="705" baseline="-24509" dirty="0">
                <a:latin typeface="Times New Roman"/>
                <a:cs typeface="Times New Roman"/>
              </a:rPr>
              <a:t> </a:t>
            </a:r>
            <a:r>
              <a:rPr sz="2900" spc="290" dirty="0">
                <a:latin typeface="Symbol"/>
                <a:cs typeface="Symbol"/>
              </a:rPr>
              <a:t></a:t>
            </a:r>
            <a:r>
              <a:rPr sz="2900" spc="-85" dirty="0">
                <a:latin typeface="Times New Roman"/>
                <a:cs typeface="Times New Roman"/>
              </a:rPr>
              <a:t> </a:t>
            </a:r>
            <a:r>
              <a:rPr sz="2900" i="1" spc="215" dirty="0">
                <a:latin typeface="Times New Roman"/>
                <a:cs typeface="Times New Roman"/>
              </a:rPr>
              <a:t>m</a:t>
            </a:r>
            <a:r>
              <a:rPr sz="2550" spc="322" baseline="-24509" dirty="0">
                <a:latin typeface="Times New Roman"/>
                <a:cs typeface="Times New Roman"/>
              </a:rPr>
              <a:t>7</a:t>
            </a:r>
            <a:endParaRPr sz="2550" baseline="-24509">
              <a:latin typeface="Times New Roman"/>
              <a:cs typeface="Times New Roman"/>
            </a:endParaRPr>
          </a:p>
          <a:p>
            <a:pPr marR="849630" algn="ctr">
              <a:lnSpc>
                <a:spcPct val="100000"/>
              </a:lnSpc>
              <a:spcBef>
                <a:spcPts val="2130"/>
              </a:spcBef>
              <a:tabLst>
                <a:tab pos="2848610" algn="l"/>
              </a:tabLst>
            </a:pPr>
            <a:r>
              <a:rPr sz="2900" spc="290" dirty="0">
                <a:latin typeface="Symbol"/>
                <a:cs typeface="Symbol"/>
              </a:rPr>
              <a:t></a:t>
            </a:r>
            <a:r>
              <a:rPr sz="2900" spc="75" dirty="0">
                <a:latin typeface="Times New Roman"/>
                <a:cs typeface="Times New Roman"/>
              </a:rPr>
              <a:t> </a:t>
            </a:r>
            <a:r>
              <a:rPr sz="2900" i="1" spc="210" dirty="0">
                <a:latin typeface="Times New Roman"/>
                <a:cs typeface="Times New Roman"/>
              </a:rPr>
              <a:t>m</a:t>
            </a:r>
            <a:r>
              <a:rPr sz="2550" spc="315" baseline="-24509" dirty="0">
                <a:latin typeface="Times New Roman"/>
                <a:cs typeface="Times New Roman"/>
              </a:rPr>
              <a:t>0</a:t>
            </a:r>
            <a:r>
              <a:rPr sz="2550" spc="22" baseline="-24509" dirty="0">
                <a:latin typeface="Times New Roman"/>
                <a:cs typeface="Times New Roman"/>
              </a:rPr>
              <a:t> </a:t>
            </a:r>
            <a:r>
              <a:rPr sz="2900" i="1" spc="225" dirty="0">
                <a:latin typeface="Times New Roman"/>
                <a:cs typeface="Times New Roman"/>
              </a:rPr>
              <a:t>m</a:t>
            </a:r>
            <a:r>
              <a:rPr sz="2550" spc="337" baseline="-24509" dirty="0">
                <a:latin typeface="Times New Roman"/>
                <a:cs typeface="Times New Roman"/>
              </a:rPr>
              <a:t>2</a:t>
            </a:r>
            <a:r>
              <a:rPr sz="2550" spc="15" baseline="-24509" dirty="0">
                <a:latin typeface="Times New Roman"/>
                <a:cs typeface="Times New Roman"/>
              </a:rPr>
              <a:t> </a:t>
            </a:r>
            <a:r>
              <a:rPr sz="2900" i="1" spc="195" dirty="0">
                <a:latin typeface="Times New Roman"/>
                <a:cs typeface="Times New Roman"/>
              </a:rPr>
              <a:t>m</a:t>
            </a:r>
            <a:r>
              <a:rPr sz="2550" spc="292" baseline="-24509" dirty="0">
                <a:latin typeface="Times New Roman"/>
                <a:cs typeface="Times New Roman"/>
              </a:rPr>
              <a:t>3</a:t>
            </a:r>
            <a:r>
              <a:rPr sz="2550" spc="-75" baseline="-24509" dirty="0">
                <a:latin typeface="Times New Roman"/>
                <a:cs typeface="Times New Roman"/>
              </a:rPr>
              <a:t> </a:t>
            </a:r>
            <a:r>
              <a:rPr sz="2900" i="1" spc="225" dirty="0">
                <a:latin typeface="Times New Roman"/>
                <a:cs typeface="Times New Roman"/>
              </a:rPr>
              <a:t>m</a:t>
            </a:r>
            <a:r>
              <a:rPr sz="2550" spc="337" baseline="-24509" dirty="0">
                <a:latin typeface="Times New Roman"/>
                <a:cs typeface="Times New Roman"/>
              </a:rPr>
              <a:t>4</a:t>
            </a:r>
            <a:r>
              <a:rPr sz="2550" spc="7" baseline="-24509" dirty="0">
                <a:latin typeface="Times New Roman"/>
                <a:cs typeface="Times New Roman"/>
              </a:rPr>
              <a:t> </a:t>
            </a:r>
            <a:r>
              <a:rPr sz="2900" i="1" spc="215" dirty="0">
                <a:latin typeface="Times New Roman"/>
                <a:cs typeface="Times New Roman"/>
              </a:rPr>
              <a:t>m</a:t>
            </a:r>
            <a:r>
              <a:rPr sz="2550" spc="322" baseline="-24509" dirty="0">
                <a:latin typeface="Times New Roman"/>
                <a:cs typeface="Times New Roman"/>
              </a:rPr>
              <a:t>7	</a:t>
            </a:r>
            <a:r>
              <a:rPr sz="2900" spc="290" dirty="0">
                <a:latin typeface="Symbol"/>
                <a:cs typeface="Symbol"/>
              </a:rPr>
              <a:t></a:t>
            </a:r>
            <a:r>
              <a:rPr sz="2900" spc="155" dirty="0">
                <a:latin typeface="Times New Roman"/>
                <a:cs typeface="Times New Roman"/>
              </a:rPr>
              <a:t> </a:t>
            </a:r>
            <a:r>
              <a:rPr sz="2900" i="1" spc="320" dirty="0">
                <a:latin typeface="Times New Roman"/>
                <a:cs typeface="Times New Roman"/>
              </a:rPr>
              <a:t>F</a:t>
            </a:r>
            <a:r>
              <a:rPr sz="2900" i="1" spc="-285" dirty="0">
                <a:latin typeface="Times New Roman"/>
                <a:cs typeface="Times New Roman"/>
              </a:rPr>
              <a:t> </a:t>
            </a:r>
            <a:r>
              <a:rPr sz="2550" spc="209" baseline="-4901" dirty="0">
                <a:latin typeface="Times New Roman"/>
                <a:cs typeface="Times New Roman"/>
              </a:rPr>
              <a:t>0</a:t>
            </a:r>
            <a:r>
              <a:rPr sz="2550" spc="150" baseline="-4901" dirty="0">
                <a:latin typeface="Times New Roman"/>
                <a:cs typeface="Times New Roman"/>
              </a:rPr>
              <a:t> </a:t>
            </a:r>
            <a:r>
              <a:rPr sz="2900" i="1" spc="320" dirty="0">
                <a:latin typeface="Times New Roman"/>
                <a:cs typeface="Times New Roman"/>
              </a:rPr>
              <a:t>F</a:t>
            </a:r>
            <a:r>
              <a:rPr sz="2900" i="1" spc="-254" dirty="0">
                <a:latin typeface="Times New Roman"/>
                <a:cs typeface="Times New Roman"/>
              </a:rPr>
              <a:t> </a:t>
            </a:r>
            <a:r>
              <a:rPr sz="2550" spc="209" baseline="-4901" dirty="0">
                <a:latin typeface="Times New Roman"/>
                <a:cs typeface="Times New Roman"/>
              </a:rPr>
              <a:t>2</a:t>
            </a:r>
            <a:r>
              <a:rPr sz="2550" spc="135" baseline="-4901" dirty="0">
                <a:latin typeface="Times New Roman"/>
                <a:cs typeface="Times New Roman"/>
              </a:rPr>
              <a:t> </a:t>
            </a:r>
            <a:r>
              <a:rPr sz="2900" i="1" spc="320" dirty="0">
                <a:latin typeface="Times New Roman"/>
                <a:cs typeface="Times New Roman"/>
              </a:rPr>
              <a:t>F</a:t>
            </a:r>
            <a:r>
              <a:rPr sz="2900" i="1" spc="-315" dirty="0">
                <a:latin typeface="Times New Roman"/>
                <a:cs typeface="Times New Roman"/>
              </a:rPr>
              <a:t> </a:t>
            </a:r>
            <a:r>
              <a:rPr sz="2550" spc="209" baseline="-4901" dirty="0">
                <a:latin typeface="Times New Roman"/>
                <a:cs typeface="Times New Roman"/>
              </a:rPr>
              <a:t>3</a:t>
            </a:r>
            <a:r>
              <a:rPr sz="2550" spc="37" baseline="-4901" dirty="0">
                <a:latin typeface="Times New Roman"/>
                <a:cs typeface="Times New Roman"/>
              </a:rPr>
              <a:t> </a:t>
            </a:r>
            <a:r>
              <a:rPr sz="2900" i="1" spc="320" dirty="0">
                <a:latin typeface="Times New Roman"/>
                <a:cs typeface="Times New Roman"/>
              </a:rPr>
              <a:t>F</a:t>
            </a:r>
            <a:r>
              <a:rPr sz="2900" i="1" spc="-250" dirty="0">
                <a:latin typeface="Times New Roman"/>
                <a:cs typeface="Times New Roman"/>
              </a:rPr>
              <a:t> </a:t>
            </a:r>
            <a:r>
              <a:rPr sz="2550" spc="209" baseline="-4901" dirty="0">
                <a:latin typeface="Times New Roman"/>
                <a:cs typeface="Times New Roman"/>
              </a:rPr>
              <a:t>4</a:t>
            </a:r>
            <a:r>
              <a:rPr sz="2550" spc="135" baseline="-4901" dirty="0">
                <a:latin typeface="Times New Roman"/>
                <a:cs typeface="Times New Roman"/>
              </a:rPr>
              <a:t> </a:t>
            </a:r>
            <a:r>
              <a:rPr sz="2900" i="1" spc="320" dirty="0">
                <a:latin typeface="Times New Roman"/>
                <a:cs typeface="Times New Roman"/>
              </a:rPr>
              <a:t>F</a:t>
            </a:r>
            <a:r>
              <a:rPr sz="2900" i="1" spc="-270" dirty="0">
                <a:latin typeface="Times New Roman"/>
                <a:cs typeface="Times New Roman"/>
              </a:rPr>
              <a:t> </a:t>
            </a:r>
            <a:r>
              <a:rPr sz="2550" spc="209" baseline="-9803" dirty="0">
                <a:latin typeface="Times New Roman"/>
                <a:cs typeface="Times New Roman"/>
              </a:rPr>
              <a:t>7</a:t>
            </a:r>
            <a:endParaRPr sz="2550" baseline="-9803">
              <a:latin typeface="Times New Roman"/>
              <a:cs typeface="Times New Roman"/>
            </a:endParaRPr>
          </a:p>
          <a:p>
            <a:pPr marL="50800" marR="43180" indent="457200">
              <a:lnSpc>
                <a:spcPct val="145600"/>
              </a:lnSpc>
              <a:spcBef>
                <a:spcPts val="1410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由表达式可见，各个输出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（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m</a:t>
            </a:r>
            <a:r>
              <a:rPr sz="2775" spc="7" baseline="-21021" dirty="0">
                <a:solidFill>
                  <a:srgbClr val="7E4D00"/>
                </a:solidFill>
                <a:latin typeface="华文楷体"/>
                <a:cs typeface="华文楷体"/>
              </a:rPr>
              <a:t>i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）用与非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门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连接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便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可 实现逻辑函</a:t>
            </a:r>
            <a:r>
              <a:rPr sz="2800" spc="-15" dirty="0">
                <a:solidFill>
                  <a:srgbClr val="7E4D00"/>
                </a:solidFill>
                <a:latin typeface="华文楷体"/>
                <a:cs typeface="华文楷体"/>
              </a:rPr>
              <a:t>数</a:t>
            </a:r>
            <a:r>
              <a:rPr sz="2950" i="1" spc="-95" dirty="0">
                <a:solidFill>
                  <a:srgbClr val="7E4D00"/>
                </a:solidFill>
                <a:latin typeface="华文楷体"/>
                <a:cs typeface="华文楷体"/>
              </a:rPr>
              <a:t>F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109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24976" y="3635311"/>
            <a:ext cx="115168" cy="253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31909" y="3635311"/>
            <a:ext cx="115168" cy="2536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38823" y="3635311"/>
            <a:ext cx="115168" cy="2536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47538" y="3635311"/>
            <a:ext cx="112909" cy="2536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54312" y="3635311"/>
            <a:ext cx="113084" cy="2536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61262" y="3635311"/>
            <a:ext cx="113084" cy="25367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68231" y="3635311"/>
            <a:ext cx="114836" cy="2536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75179" y="3635311"/>
            <a:ext cx="114660" cy="25365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23134" y="5504324"/>
            <a:ext cx="114616" cy="26528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63939" y="5504326"/>
            <a:ext cx="114791" cy="10696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66956" y="3950890"/>
            <a:ext cx="254635" cy="0"/>
          </a:xfrm>
          <a:custGeom>
            <a:avLst/>
            <a:gdLst/>
            <a:ahLst/>
            <a:cxnLst/>
            <a:rect l="l" t="t" r="r" b="b"/>
            <a:pathLst>
              <a:path w="254635">
                <a:moveTo>
                  <a:pt x="0" y="0"/>
                </a:moveTo>
                <a:lnTo>
                  <a:pt x="254547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3888" y="3950890"/>
            <a:ext cx="254635" cy="0"/>
          </a:xfrm>
          <a:custGeom>
            <a:avLst/>
            <a:gdLst/>
            <a:ahLst/>
            <a:cxnLst/>
            <a:rect l="l" t="t" r="r" b="b"/>
            <a:pathLst>
              <a:path w="254635">
                <a:moveTo>
                  <a:pt x="0" y="0"/>
                </a:moveTo>
                <a:lnTo>
                  <a:pt x="254529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82536" y="3950890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4">
                <a:moveTo>
                  <a:pt x="0" y="0"/>
                </a:moveTo>
                <a:lnTo>
                  <a:pt x="252814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89451" y="3950890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4">
                <a:moveTo>
                  <a:pt x="0" y="0"/>
                </a:moveTo>
                <a:lnTo>
                  <a:pt x="252849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96401" y="3950890"/>
            <a:ext cx="254635" cy="0"/>
          </a:xfrm>
          <a:custGeom>
            <a:avLst/>
            <a:gdLst/>
            <a:ahLst/>
            <a:cxnLst/>
            <a:rect l="l" t="t" r="r" b="b"/>
            <a:pathLst>
              <a:path w="254635">
                <a:moveTo>
                  <a:pt x="0" y="0"/>
                </a:moveTo>
                <a:lnTo>
                  <a:pt x="254458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03352" y="3950890"/>
            <a:ext cx="254635" cy="0"/>
          </a:xfrm>
          <a:custGeom>
            <a:avLst/>
            <a:gdLst/>
            <a:ahLst/>
            <a:cxnLst/>
            <a:rect l="l" t="t" r="r" b="b"/>
            <a:pathLst>
              <a:path w="254635">
                <a:moveTo>
                  <a:pt x="0" y="0"/>
                </a:moveTo>
                <a:lnTo>
                  <a:pt x="254458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10302" y="3950890"/>
            <a:ext cx="254635" cy="0"/>
          </a:xfrm>
          <a:custGeom>
            <a:avLst/>
            <a:gdLst/>
            <a:ahLst/>
            <a:cxnLst/>
            <a:rect l="l" t="t" r="r" b="b"/>
            <a:pathLst>
              <a:path w="254634">
                <a:moveTo>
                  <a:pt x="0" y="0"/>
                </a:moveTo>
                <a:lnTo>
                  <a:pt x="254100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818861" y="3950890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313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17894" y="5148015"/>
            <a:ext cx="407034" cy="0"/>
          </a:xfrm>
          <a:custGeom>
            <a:avLst/>
            <a:gdLst/>
            <a:ahLst/>
            <a:cxnLst/>
            <a:rect l="l" t="t" r="r" b="b"/>
            <a:pathLst>
              <a:path w="407035">
                <a:moveTo>
                  <a:pt x="0" y="0"/>
                </a:moveTo>
                <a:lnTo>
                  <a:pt x="406525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29090" y="5148015"/>
            <a:ext cx="405130" cy="0"/>
          </a:xfrm>
          <a:custGeom>
            <a:avLst/>
            <a:gdLst/>
            <a:ahLst/>
            <a:cxnLst/>
            <a:rect l="l" t="t" r="r" b="b"/>
            <a:pathLst>
              <a:path w="405129">
                <a:moveTo>
                  <a:pt x="0" y="0"/>
                </a:moveTo>
                <a:lnTo>
                  <a:pt x="404559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2983677" y="3861269"/>
          <a:ext cx="4312917" cy="20651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2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16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91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21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41971">
                <a:tc gridSpan="7">
                  <a:txBody>
                    <a:bodyPr/>
                    <a:lstStyle/>
                    <a:p>
                      <a:pPr marL="72390" algn="ctr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581025" algn="l"/>
                          <a:tab pos="1088390" algn="l"/>
                          <a:tab pos="1595120" algn="l"/>
                          <a:tab pos="2101850" algn="l"/>
                          <a:tab pos="2609215" algn="l"/>
                          <a:tab pos="3117850" algn="l"/>
                          <a:tab pos="3624579" algn="l"/>
                        </a:tabLst>
                      </a:pPr>
                      <a:r>
                        <a:rPr sz="2600" b="1" spc="90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625" b="1" spc="135" baseline="-11111" dirty="0">
                          <a:latin typeface="华文楷体"/>
                          <a:cs typeface="华文楷体"/>
                        </a:rPr>
                        <a:t>7	</a:t>
                      </a:r>
                      <a:r>
                        <a:rPr sz="2600" b="1" spc="80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625" b="1" spc="120" baseline="-11111" dirty="0">
                          <a:latin typeface="华文楷体"/>
                          <a:cs typeface="华文楷体"/>
                        </a:rPr>
                        <a:t>6	</a:t>
                      </a:r>
                      <a:r>
                        <a:rPr sz="2600" b="1" spc="90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625" b="1" spc="135" baseline="-11111" dirty="0">
                          <a:latin typeface="华文楷体"/>
                          <a:cs typeface="华文楷体"/>
                        </a:rPr>
                        <a:t>5	</a:t>
                      </a:r>
                      <a:r>
                        <a:rPr sz="2600" b="1" spc="90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625" b="1" spc="135" baseline="-11111" dirty="0">
                          <a:latin typeface="华文楷体"/>
                          <a:cs typeface="华文楷体"/>
                        </a:rPr>
                        <a:t>4	</a:t>
                      </a:r>
                      <a:r>
                        <a:rPr sz="2600" b="1" spc="90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625" b="1" spc="135" baseline="-11111" dirty="0">
                          <a:latin typeface="华文楷体"/>
                          <a:cs typeface="华文楷体"/>
                        </a:rPr>
                        <a:t>3	</a:t>
                      </a:r>
                      <a:r>
                        <a:rPr sz="2600" b="1" spc="90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625" b="1" spc="135" baseline="-11111" dirty="0">
                          <a:latin typeface="华文楷体"/>
                          <a:cs typeface="华文楷体"/>
                        </a:rPr>
                        <a:t>2	</a:t>
                      </a:r>
                      <a:r>
                        <a:rPr sz="2600" b="1" spc="80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625" b="1" spc="120" baseline="-11111" dirty="0">
                          <a:latin typeface="华文楷体"/>
                          <a:cs typeface="华文楷体"/>
                        </a:rPr>
                        <a:t>1	</a:t>
                      </a:r>
                      <a:r>
                        <a:rPr sz="2600" b="1" spc="80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625" b="1" spc="120" baseline="-11111" dirty="0">
                          <a:latin typeface="华文楷体"/>
                          <a:cs typeface="华文楷体"/>
                        </a:rPr>
                        <a:t>0</a:t>
                      </a:r>
                      <a:endParaRPr sz="2625" baseline="-11111" dirty="0">
                        <a:latin typeface="华文楷体"/>
                        <a:cs typeface="华文楷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3100" b="1" spc="14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74LS138</a:t>
                      </a:r>
                      <a:endParaRPr sz="3100" dirty="0">
                        <a:latin typeface="Times New Roman"/>
                        <a:cs typeface="Times New Roman"/>
                      </a:endParaRPr>
                    </a:p>
                    <a:p>
                      <a:pPr marL="136525" algn="ctr">
                        <a:lnSpc>
                          <a:spcPct val="100000"/>
                        </a:lnSpc>
                        <a:spcBef>
                          <a:spcPts val="1615"/>
                        </a:spcBef>
                        <a:tabLst>
                          <a:tab pos="796290" algn="l"/>
                          <a:tab pos="1454785" algn="l"/>
                          <a:tab pos="2028189" algn="l"/>
                          <a:tab pos="2661920" algn="l"/>
                          <a:tab pos="3371850" algn="l"/>
                        </a:tabLst>
                      </a:pPr>
                      <a:r>
                        <a:rPr sz="3900" b="1" spc="157" baseline="2136" dirty="0">
                          <a:latin typeface="华文楷体"/>
                          <a:cs typeface="华文楷体"/>
                        </a:rPr>
                        <a:t>A</a:t>
                      </a:r>
                      <a:r>
                        <a:rPr sz="2625" b="1" spc="157" baseline="-7936" dirty="0">
                          <a:latin typeface="华文楷体"/>
                          <a:cs typeface="华文楷体"/>
                        </a:rPr>
                        <a:t>2	</a:t>
                      </a:r>
                      <a:r>
                        <a:rPr sz="3900" b="1" spc="157" baseline="2136" dirty="0">
                          <a:latin typeface="华文楷体"/>
                          <a:cs typeface="华文楷体"/>
                        </a:rPr>
                        <a:t>A</a:t>
                      </a:r>
                      <a:r>
                        <a:rPr sz="2625" b="1" spc="157" baseline="-7936" dirty="0">
                          <a:latin typeface="华文楷体"/>
                          <a:cs typeface="华文楷体"/>
                        </a:rPr>
                        <a:t>1	</a:t>
                      </a:r>
                      <a:r>
                        <a:rPr sz="3900" b="1" spc="157" baseline="2136" dirty="0">
                          <a:latin typeface="华文楷体"/>
                          <a:cs typeface="华文楷体"/>
                        </a:rPr>
                        <a:t>A</a:t>
                      </a:r>
                      <a:r>
                        <a:rPr sz="2625" b="1" spc="157" baseline="-7936" dirty="0">
                          <a:latin typeface="华文楷体"/>
                          <a:cs typeface="华文楷体"/>
                        </a:rPr>
                        <a:t>0	</a:t>
                      </a:r>
                      <a:r>
                        <a:rPr sz="3900" b="1" spc="142" baseline="2136" dirty="0">
                          <a:latin typeface="华文楷体"/>
                          <a:cs typeface="华文楷体"/>
                        </a:rPr>
                        <a:t>ST</a:t>
                      </a:r>
                      <a:r>
                        <a:rPr sz="2625" b="1" spc="142" baseline="-7936" dirty="0">
                          <a:latin typeface="华文楷体"/>
                          <a:cs typeface="华文楷体"/>
                        </a:rPr>
                        <a:t>1	</a:t>
                      </a:r>
                      <a:r>
                        <a:rPr sz="2600" b="1" spc="95" dirty="0">
                          <a:latin typeface="华文楷体"/>
                          <a:cs typeface="华文楷体"/>
                        </a:rPr>
                        <a:t>ST</a:t>
                      </a:r>
                      <a:r>
                        <a:rPr sz="2625" b="1" spc="142" baseline="-11111" dirty="0">
                          <a:latin typeface="华文楷体"/>
                          <a:cs typeface="华文楷体"/>
                        </a:rPr>
                        <a:t>2	</a:t>
                      </a:r>
                      <a:r>
                        <a:rPr sz="2600" b="1" spc="95" dirty="0">
                          <a:latin typeface="华文楷体"/>
                          <a:cs typeface="华文楷体"/>
                        </a:rPr>
                        <a:t>ST</a:t>
                      </a:r>
                      <a:r>
                        <a:rPr sz="2625" b="1" spc="142" baseline="-11111" dirty="0">
                          <a:latin typeface="华文楷体"/>
                          <a:cs typeface="华文楷体"/>
                        </a:rPr>
                        <a:t>3</a:t>
                      </a:r>
                      <a:endParaRPr sz="2625" baseline="-11111" dirty="0">
                        <a:latin typeface="华文楷体"/>
                        <a:cs typeface="华文楷体"/>
                      </a:endParaRPr>
                    </a:p>
                  </a:txBody>
                  <a:tcPr marL="0" marR="0" marT="285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99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19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3349338" y="5855701"/>
            <a:ext cx="220853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81990" algn="l"/>
                <a:tab pos="1312545" algn="l"/>
                <a:tab pos="2027555" algn="l"/>
              </a:tabLst>
            </a:pPr>
            <a:r>
              <a:rPr sz="2750" b="1" i="1" spc="40" dirty="0">
                <a:latin typeface="华文楷体"/>
                <a:cs typeface="华文楷体"/>
              </a:rPr>
              <a:t>A	</a:t>
            </a:r>
            <a:r>
              <a:rPr sz="2750" b="1" i="1" spc="35" dirty="0">
                <a:latin typeface="华文楷体"/>
                <a:cs typeface="华文楷体"/>
              </a:rPr>
              <a:t>B	C	</a:t>
            </a:r>
            <a:r>
              <a:rPr sz="2600" b="1" spc="95" dirty="0">
                <a:latin typeface="华文楷体"/>
                <a:cs typeface="华文楷体"/>
              </a:rPr>
              <a:t>1</a:t>
            </a:r>
            <a:endParaRPr sz="2600">
              <a:latin typeface="华文楷体"/>
              <a:cs typeface="华文楷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23488" y="5853345"/>
            <a:ext cx="19304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95" dirty="0">
                <a:latin typeface="华文楷体"/>
                <a:cs typeface="华文楷体"/>
              </a:rPr>
              <a:t>0</a:t>
            </a:r>
            <a:endParaRPr sz="2600">
              <a:latin typeface="华文楷体"/>
              <a:cs typeface="华文楷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03993" y="2462898"/>
            <a:ext cx="0" cy="702945"/>
          </a:xfrm>
          <a:custGeom>
            <a:avLst/>
            <a:gdLst/>
            <a:ahLst/>
            <a:cxnLst/>
            <a:rect l="l" t="t" r="r" b="b"/>
            <a:pathLst>
              <a:path h="702944">
                <a:moveTo>
                  <a:pt x="0" y="702754"/>
                </a:moveTo>
                <a:lnTo>
                  <a:pt x="0" y="0"/>
                </a:lnTo>
              </a:path>
            </a:pathLst>
          </a:custGeom>
          <a:ln w="39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94122" y="2462898"/>
            <a:ext cx="0" cy="702945"/>
          </a:xfrm>
          <a:custGeom>
            <a:avLst/>
            <a:gdLst/>
            <a:ahLst/>
            <a:cxnLst/>
            <a:rect l="l" t="t" r="r" b="b"/>
            <a:pathLst>
              <a:path h="702944">
                <a:moveTo>
                  <a:pt x="0" y="702754"/>
                </a:moveTo>
                <a:lnTo>
                  <a:pt x="0" y="0"/>
                </a:lnTo>
              </a:path>
            </a:pathLst>
          </a:custGeom>
          <a:ln w="39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83893" y="2462898"/>
            <a:ext cx="0" cy="702945"/>
          </a:xfrm>
          <a:custGeom>
            <a:avLst/>
            <a:gdLst/>
            <a:ahLst/>
            <a:cxnLst/>
            <a:rect l="l" t="t" r="r" b="b"/>
            <a:pathLst>
              <a:path h="702944">
                <a:moveTo>
                  <a:pt x="0" y="702754"/>
                </a:moveTo>
                <a:lnTo>
                  <a:pt x="0" y="0"/>
                </a:lnTo>
              </a:path>
            </a:pathLst>
          </a:custGeom>
          <a:ln w="39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94122" y="1758824"/>
            <a:ext cx="0" cy="704215"/>
          </a:xfrm>
          <a:custGeom>
            <a:avLst/>
            <a:gdLst/>
            <a:ahLst/>
            <a:cxnLst/>
            <a:rect l="l" t="t" r="r" b="b"/>
            <a:pathLst>
              <a:path h="704214">
                <a:moveTo>
                  <a:pt x="0" y="0"/>
                </a:moveTo>
                <a:lnTo>
                  <a:pt x="0" y="704074"/>
                </a:lnTo>
              </a:path>
            </a:pathLst>
          </a:custGeom>
          <a:ln w="39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714257" y="2004953"/>
            <a:ext cx="759460" cy="914400"/>
          </a:xfrm>
          <a:custGeom>
            <a:avLst/>
            <a:gdLst/>
            <a:ahLst/>
            <a:cxnLst/>
            <a:rect l="l" t="t" r="r" b="b"/>
            <a:pathLst>
              <a:path w="759460" h="914400">
                <a:moveTo>
                  <a:pt x="379864" y="0"/>
                </a:moveTo>
                <a:lnTo>
                  <a:pt x="345734" y="21445"/>
                </a:lnTo>
                <a:lnTo>
                  <a:pt x="311603" y="46355"/>
                </a:lnTo>
                <a:lnTo>
                  <a:pt x="279617" y="74399"/>
                </a:lnTo>
                <a:lnTo>
                  <a:pt x="247274" y="104258"/>
                </a:lnTo>
                <a:lnTo>
                  <a:pt x="218683" y="137086"/>
                </a:lnTo>
                <a:lnTo>
                  <a:pt x="189735" y="171894"/>
                </a:lnTo>
                <a:lnTo>
                  <a:pt x="162931" y="209836"/>
                </a:lnTo>
                <a:lnTo>
                  <a:pt x="137914" y="249593"/>
                </a:lnTo>
                <a:lnTo>
                  <a:pt x="114506" y="292649"/>
                </a:lnTo>
                <a:lnTo>
                  <a:pt x="71798" y="383545"/>
                </a:lnTo>
                <a:lnTo>
                  <a:pt x="53571" y="431550"/>
                </a:lnTo>
                <a:lnTo>
                  <a:pt x="37668" y="481040"/>
                </a:lnTo>
                <a:lnTo>
                  <a:pt x="23372" y="532344"/>
                </a:lnTo>
                <a:lnTo>
                  <a:pt x="10810" y="585463"/>
                </a:lnTo>
                <a:lnTo>
                  <a:pt x="0" y="639902"/>
                </a:lnTo>
                <a:lnTo>
                  <a:pt x="0" y="914240"/>
                </a:lnTo>
                <a:lnTo>
                  <a:pt x="44994" y="884711"/>
                </a:lnTo>
                <a:lnTo>
                  <a:pt x="91276" y="859967"/>
                </a:lnTo>
                <a:lnTo>
                  <a:pt x="137914" y="836706"/>
                </a:lnTo>
                <a:lnTo>
                  <a:pt x="186340" y="818230"/>
                </a:lnTo>
                <a:lnTo>
                  <a:pt x="234587" y="805033"/>
                </a:lnTo>
                <a:lnTo>
                  <a:pt x="283013" y="795135"/>
                </a:lnTo>
                <a:lnTo>
                  <a:pt x="331438" y="788701"/>
                </a:lnTo>
                <a:lnTo>
                  <a:pt x="379864" y="787052"/>
                </a:lnTo>
                <a:lnTo>
                  <a:pt x="759228" y="787052"/>
                </a:lnTo>
                <a:lnTo>
                  <a:pt x="759228" y="639902"/>
                </a:lnTo>
                <a:lnTo>
                  <a:pt x="748864" y="585463"/>
                </a:lnTo>
                <a:lnTo>
                  <a:pt x="736355" y="532344"/>
                </a:lnTo>
                <a:lnTo>
                  <a:pt x="721703" y="481040"/>
                </a:lnTo>
                <a:lnTo>
                  <a:pt x="705799" y="431550"/>
                </a:lnTo>
                <a:lnTo>
                  <a:pt x="685785" y="383545"/>
                </a:lnTo>
                <a:lnTo>
                  <a:pt x="666308" y="337520"/>
                </a:lnTo>
                <a:lnTo>
                  <a:pt x="644865" y="292649"/>
                </a:lnTo>
                <a:lnTo>
                  <a:pt x="621456" y="251572"/>
                </a:lnTo>
                <a:lnTo>
                  <a:pt x="596439" y="211486"/>
                </a:lnTo>
                <a:lnTo>
                  <a:pt x="569635" y="173544"/>
                </a:lnTo>
                <a:lnTo>
                  <a:pt x="541044" y="137086"/>
                </a:lnTo>
                <a:lnTo>
                  <a:pt x="510309" y="104258"/>
                </a:lnTo>
                <a:lnTo>
                  <a:pt x="480110" y="74399"/>
                </a:lnTo>
                <a:lnTo>
                  <a:pt x="447767" y="46355"/>
                </a:lnTo>
                <a:lnTo>
                  <a:pt x="413637" y="21445"/>
                </a:lnTo>
                <a:lnTo>
                  <a:pt x="379864" y="0"/>
                </a:lnTo>
                <a:close/>
              </a:path>
              <a:path w="759460" h="914400">
                <a:moveTo>
                  <a:pt x="759228" y="787052"/>
                </a:moveTo>
                <a:lnTo>
                  <a:pt x="379864" y="787052"/>
                </a:lnTo>
                <a:lnTo>
                  <a:pt x="428290" y="788701"/>
                </a:lnTo>
                <a:lnTo>
                  <a:pt x="476715" y="795135"/>
                </a:lnTo>
                <a:lnTo>
                  <a:pt x="524605" y="805033"/>
                </a:lnTo>
                <a:lnTo>
                  <a:pt x="573030" y="818230"/>
                </a:lnTo>
                <a:lnTo>
                  <a:pt x="621456" y="836706"/>
                </a:lnTo>
                <a:lnTo>
                  <a:pt x="668095" y="859967"/>
                </a:lnTo>
                <a:lnTo>
                  <a:pt x="714734" y="884711"/>
                </a:lnTo>
                <a:lnTo>
                  <a:pt x="759228" y="914240"/>
                </a:lnTo>
                <a:lnTo>
                  <a:pt x="759228" y="7870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14257" y="2004953"/>
            <a:ext cx="759460" cy="914400"/>
          </a:xfrm>
          <a:custGeom>
            <a:avLst/>
            <a:gdLst/>
            <a:ahLst/>
            <a:cxnLst/>
            <a:rect l="l" t="t" r="r" b="b"/>
            <a:pathLst>
              <a:path w="759460" h="914400">
                <a:moveTo>
                  <a:pt x="379864" y="0"/>
                </a:moveTo>
                <a:lnTo>
                  <a:pt x="413637" y="21445"/>
                </a:lnTo>
                <a:lnTo>
                  <a:pt x="447767" y="46355"/>
                </a:lnTo>
                <a:lnTo>
                  <a:pt x="480110" y="74399"/>
                </a:lnTo>
                <a:lnTo>
                  <a:pt x="510309" y="104258"/>
                </a:lnTo>
                <a:lnTo>
                  <a:pt x="541044" y="137086"/>
                </a:lnTo>
                <a:lnTo>
                  <a:pt x="569635" y="173544"/>
                </a:lnTo>
                <a:lnTo>
                  <a:pt x="596439" y="211486"/>
                </a:lnTo>
                <a:lnTo>
                  <a:pt x="621456" y="251572"/>
                </a:lnTo>
                <a:lnTo>
                  <a:pt x="644865" y="292649"/>
                </a:lnTo>
                <a:lnTo>
                  <a:pt x="666308" y="337520"/>
                </a:lnTo>
                <a:lnTo>
                  <a:pt x="685785" y="383545"/>
                </a:lnTo>
                <a:lnTo>
                  <a:pt x="705799" y="431550"/>
                </a:lnTo>
                <a:lnTo>
                  <a:pt x="721703" y="481040"/>
                </a:lnTo>
                <a:lnTo>
                  <a:pt x="736355" y="532344"/>
                </a:lnTo>
                <a:lnTo>
                  <a:pt x="748864" y="585463"/>
                </a:lnTo>
                <a:lnTo>
                  <a:pt x="759228" y="639902"/>
                </a:lnTo>
                <a:lnTo>
                  <a:pt x="759228" y="914240"/>
                </a:lnTo>
                <a:lnTo>
                  <a:pt x="714734" y="884711"/>
                </a:lnTo>
                <a:lnTo>
                  <a:pt x="668095" y="859967"/>
                </a:lnTo>
                <a:lnTo>
                  <a:pt x="621456" y="836706"/>
                </a:lnTo>
                <a:lnTo>
                  <a:pt x="573030" y="818230"/>
                </a:lnTo>
                <a:lnTo>
                  <a:pt x="524605" y="805033"/>
                </a:lnTo>
                <a:lnTo>
                  <a:pt x="476715" y="795135"/>
                </a:lnTo>
                <a:lnTo>
                  <a:pt x="428290" y="788701"/>
                </a:lnTo>
                <a:lnTo>
                  <a:pt x="379864" y="787052"/>
                </a:lnTo>
                <a:lnTo>
                  <a:pt x="331438" y="788701"/>
                </a:lnTo>
                <a:lnTo>
                  <a:pt x="283013" y="795135"/>
                </a:lnTo>
                <a:lnTo>
                  <a:pt x="234587" y="805033"/>
                </a:lnTo>
                <a:lnTo>
                  <a:pt x="186340" y="818230"/>
                </a:lnTo>
                <a:lnTo>
                  <a:pt x="137914" y="836706"/>
                </a:lnTo>
                <a:lnTo>
                  <a:pt x="91276" y="859967"/>
                </a:lnTo>
                <a:lnTo>
                  <a:pt x="44994" y="884711"/>
                </a:lnTo>
                <a:lnTo>
                  <a:pt x="0" y="914240"/>
                </a:lnTo>
                <a:lnTo>
                  <a:pt x="0" y="639902"/>
                </a:lnTo>
                <a:lnTo>
                  <a:pt x="10810" y="585463"/>
                </a:lnTo>
                <a:lnTo>
                  <a:pt x="23372" y="532344"/>
                </a:lnTo>
                <a:lnTo>
                  <a:pt x="37668" y="481040"/>
                </a:lnTo>
                <a:lnTo>
                  <a:pt x="53571" y="431550"/>
                </a:lnTo>
                <a:lnTo>
                  <a:pt x="71798" y="383545"/>
                </a:lnTo>
                <a:lnTo>
                  <a:pt x="93420" y="337520"/>
                </a:lnTo>
                <a:lnTo>
                  <a:pt x="114506" y="292649"/>
                </a:lnTo>
                <a:lnTo>
                  <a:pt x="137914" y="249593"/>
                </a:lnTo>
                <a:lnTo>
                  <a:pt x="162931" y="209836"/>
                </a:lnTo>
                <a:lnTo>
                  <a:pt x="189735" y="171894"/>
                </a:lnTo>
                <a:lnTo>
                  <a:pt x="218683" y="137086"/>
                </a:lnTo>
                <a:lnTo>
                  <a:pt x="247274" y="104258"/>
                </a:lnTo>
                <a:lnTo>
                  <a:pt x="279617" y="74399"/>
                </a:lnTo>
                <a:lnTo>
                  <a:pt x="311603" y="46355"/>
                </a:lnTo>
                <a:lnTo>
                  <a:pt x="345734" y="21445"/>
                </a:lnTo>
                <a:lnTo>
                  <a:pt x="379864" y="0"/>
                </a:lnTo>
              </a:path>
            </a:pathLst>
          </a:custGeom>
          <a:ln w="380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73486" y="2919194"/>
            <a:ext cx="127635" cy="247015"/>
          </a:xfrm>
          <a:custGeom>
            <a:avLst/>
            <a:gdLst/>
            <a:ahLst/>
            <a:cxnLst/>
            <a:rect l="l" t="t" r="r" b="b"/>
            <a:pathLst>
              <a:path w="127635" h="247014">
                <a:moveTo>
                  <a:pt x="0" y="0"/>
                </a:moveTo>
                <a:lnTo>
                  <a:pt x="127586" y="0"/>
                </a:lnTo>
                <a:lnTo>
                  <a:pt x="127586" y="246458"/>
                </a:lnTo>
              </a:path>
            </a:pathLst>
          </a:custGeom>
          <a:ln w="386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87207" y="2919194"/>
            <a:ext cx="127635" cy="247015"/>
          </a:xfrm>
          <a:custGeom>
            <a:avLst/>
            <a:gdLst/>
            <a:ahLst/>
            <a:cxnLst/>
            <a:rect l="l" t="t" r="r" b="b"/>
            <a:pathLst>
              <a:path w="127635" h="247014">
                <a:moveTo>
                  <a:pt x="127050" y="0"/>
                </a:moveTo>
                <a:lnTo>
                  <a:pt x="0" y="0"/>
                </a:lnTo>
                <a:lnTo>
                  <a:pt x="0" y="246458"/>
                </a:lnTo>
              </a:path>
            </a:pathLst>
          </a:custGeom>
          <a:ln w="386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017673" y="1883600"/>
            <a:ext cx="152360" cy="14372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714257" y="2004953"/>
            <a:ext cx="759460" cy="914400"/>
          </a:xfrm>
          <a:custGeom>
            <a:avLst/>
            <a:gdLst/>
            <a:ahLst/>
            <a:cxnLst/>
            <a:rect l="l" t="t" r="r" b="b"/>
            <a:pathLst>
              <a:path w="759460" h="914400">
                <a:moveTo>
                  <a:pt x="379864" y="0"/>
                </a:moveTo>
                <a:lnTo>
                  <a:pt x="340552" y="1979"/>
                </a:lnTo>
                <a:lnTo>
                  <a:pt x="267109" y="16661"/>
                </a:lnTo>
                <a:lnTo>
                  <a:pt x="198848" y="43056"/>
                </a:lnTo>
                <a:lnTo>
                  <a:pt x="137914" y="81163"/>
                </a:lnTo>
                <a:lnTo>
                  <a:pt x="85915" y="127518"/>
                </a:lnTo>
                <a:lnTo>
                  <a:pt x="44994" y="183442"/>
                </a:lnTo>
                <a:lnTo>
                  <a:pt x="16046" y="247943"/>
                </a:lnTo>
                <a:lnTo>
                  <a:pt x="1733" y="315909"/>
                </a:lnTo>
                <a:lnTo>
                  <a:pt x="0" y="352367"/>
                </a:lnTo>
                <a:lnTo>
                  <a:pt x="0" y="914240"/>
                </a:lnTo>
                <a:lnTo>
                  <a:pt x="759228" y="914240"/>
                </a:lnTo>
                <a:lnTo>
                  <a:pt x="759228" y="352367"/>
                </a:lnTo>
                <a:lnTo>
                  <a:pt x="752438" y="281101"/>
                </a:lnTo>
                <a:lnTo>
                  <a:pt x="730816" y="215115"/>
                </a:lnTo>
                <a:lnTo>
                  <a:pt x="694899" y="155562"/>
                </a:lnTo>
                <a:lnTo>
                  <a:pt x="648260" y="102773"/>
                </a:lnTo>
                <a:lnTo>
                  <a:pt x="592865" y="59552"/>
                </a:lnTo>
                <a:lnTo>
                  <a:pt x="528536" y="28374"/>
                </a:lnTo>
                <a:lnTo>
                  <a:pt x="456880" y="6763"/>
                </a:lnTo>
                <a:lnTo>
                  <a:pt x="3798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714257" y="2004953"/>
            <a:ext cx="759460" cy="914400"/>
          </a:xfrm>
          <a:custGeom>
            <a:avLst/>
            <a:gdLst/>
            <a:ahLst/>
            <a:cxnLst/>
            <a:rect l="l" t="t" r="r" b="b"/>
            <a:pathLst>
              <a:path w="759460" h="914400">
                <a:moveTo>
                  <a:pt x="759228" y="352367"/>
                </a:moveTo>
                <a:lnTo>
                  <a:pt x="759228" y="914240"/>
                </a:lnTo>
                <a:lnTo>
                  <a:pt x="0" y="914240"/>
                </a:lnTo>
                <a:lnTo>
                  <a:pt x="0" y="352367"/>
                </a:lnTo>
                <a:lnTo>
                  <a:pt x="1733" y="315909"/>
                </a:lnTo>
                <a:lnTo>
                  <a:pt x="16046" y="247943"/>
                </a:lnTo>
                <a:lnTo>
                  <a:pt x="44994" y="183442"/>
                </a:lnTo>
                <a:lnTo>
                  <a:pt x="85915" y="127518"/>
                </a:lnTo>
                <a:lnTo>
                  <a:pt x="137914" y="81163"/>
                </a:lnTo>
                <a:lnTo>
                  <a:pt x="198848" y="43056"/>
                </a:lnTo>
                <a:lnTo>
                  <a:pt x="267109" y="16661"/>
                </a:lnTo>
                <a:lnTo>
                  <a:pt x="340552" y="1979"/>
                </a:lnTo>
                <a:lnTo>
                  <a:pt x="379864" y="0"/>
                </a:lnTo>
                <a:lnTo>
                  <a:pt x="419176" y="1979"/>
                </a:lnTo>
                <a:lnTo>
                  <a:pt x="492619" y="16661"/>
                </a:lnTo>
                <a:lnTo>
                  <a:pt x="560522" y="43056"/>
                </a:lnTo>
                <a:lnTo>
                  <a:pt x="621456" y="81163"/>
                </a:lnTo>
                <a:lnTo>
                  <a:pt x="673277" y="127518"/>
                </a:lnTo>
                <a:lnTo>
                  <a:pt x="714734" y="183442"/>
                </a:lnTo>
                <a:lnTo>
                  <a:pt x="743324" y="247943"/>
                </a:lnTo>
                <a:lnTo>
                  <a:pt x="757620" y="315909"/>
                </a:lnTo>
                <a:lnTo>
                  <a:pt x="759228" y="352367"/>
                </a:lnTo>
              </a:path>
            </a:pathLst>
          </a:custGeom>
          <a:ln w="380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933403" y="3188913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469492"/>
                </a:moveTo>
                <a:lnTo>
                  <a:pt x="0" y="0"/>
                </a:lnTo>
              </a:path>
            </a:pathLst>
          </a:custGeom>
          <a:ln w="39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601072" y="3165653"/>
            <a:ext cx="1332865" cy="0"/>
          </a:xfrm>
          <a:custGeom>
            <a:avLst/>
            <a:gdLst/>
            <a:ahLst/>
            <a:cxnLst/>
            <a:rect l="l" t="t" r="r" b="b"/>
            <a:pathLst>
              <a:path w="1332865">
                <a:moveTo>
                  <a:pt x="1332330" y="0"/>
                </a:moveTo>
                <a:lnTo>
                  <a:pt x="0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283893" y="3165653"/>
            <a:ext cx="0" cy="234950"/>
          </a:xfrm>
          <a:custGeom>
            <a:avLst/>
            <a:gdLst/>
            <a:ahLst/>
            <a:cxnLst/>
            <a:rect l="l" t="t" r="r" b="b"/>
            <a:pathLst>
              <a:path h="234950">
                <a:moveTo>
                  <a:pt x="0" y="0"/>
                </a:moveTo>
                <a:lnTo>
                  <a:pt x="0" y="234746"/>
                </a:lnTo>
              </a:path>
            </a:pathLst>
          </a:custGeom>
          <a:ln w="39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283893" y="3400399"/>
            <a:ext cx="634365" cy="0"/>
          </a:xfrm>
          <a:custGeom>
            <a:avLst/>
            <a:gdLst/>
            <a:ahLst/>
            <a:cxnLst/>
            <a:rect l="l" t="t" r="r" b="b"/>
            <a:pathLst>
              <a:path w="634364">
                <a:moveTo>
                  <a:pt x="0" y="0"/>
                </a:moveTo>
                <a:lnTo>
                  <a:pt x="634000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903993" y="3165653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657"/>
                </a:lnTo>
              </a:path>
            </a:pathLst>
          </a:custGeom>
          <a:ln w="39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917894" y="3400399"/>
            <a:ext cx="0" cy="258445"/>
          </a:xfrm>
          <a:custGeom>
            <a:avLst/>
            <a:gdLst/>
            <a:ahLst/>
            <a:cxnLst/>
            <a:rect l="l" t="t" r="r" b="b"/>
            <a:pathLst>
              <a:path h="258445">
                <a:moveTo>
                  <a:pt x="0" y="258006"/>
                </a:moveTo>
                <a:lnTo>
                  <a:pt x="0" y="0"/>
                </a:lnTo>
              </a:path>
            </a:pathLst>
          </a:custGeom>
          <a:ln w="39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398435" y="3635311"/>
            <a:ext cx="12700" cy="23495"/>
          </a:xfrm>
          <a:custGeom>
            <a:avLst/>
            <a:gdLst/>
            <a:ahLst/>
            <a:cxnLst/>
            <a:rect l="l" t="t" r="r" b="b"/>
            <a:pathLst>
              <a:path w="12700" h="23495">
                <a:moveTo>
                  <a:pt x="12508" y="23095"/>
                </a:moveTo>
                <a:lnTo>
                  <a:pt x="0" y="0"/>
                </a:lnTo>
              </a:path>
            </a:pathLst>
          </a:custGeom>
          <a:ln w="386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094122" y="3165653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657"/>
                </a:lnTo>
              </a:path>
            </a:pathLst>
          </a:custGeom>
          <a:ln w="39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094122" y="3635311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4">
                <a:moveTo>
                  <a:pt x="0" y="0"/>
                </a:moveTo>
                <a:lnTo>
                  <a:pt x="316821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381480" y="3177201"/>
            <a:ext cx="0" cy="458470"/>
          </a:xfrm>
          <a:custGeom>
            <a:avLst/>
            <a:gdLst/>
            <a:ahLst/>
            <a:cxnLst/>
            <a:rect l="l" t="t" r="r" b="b"/>
            <a:pathLst>
              <a:path h="458470">
                <a:moveTo>
                  <a:pt x="0" y="458110"/>
                </a:moveTo>
                <a:lnTo>
                  <a:pt x="0" y="0"/>
                </a:lnTo>
              </a:path>
            </a:pathLst>
          </a:custGeom>
          <a:ln w="393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381480" y="3165653"/>
            <a:ext cx="1205865" cy="0"/>
          </a:xfrm>
          <a:custGeom>
            <a:avLst/>
            <a:gdLst/>
            <a:ahLst/>
            <a:cxnLst/>
            <a:rect l="l" t="t" r="r" b="b"/>
            <a:pathLst>
              <a:path w="1205864">
                <a:moveTo>
                  <a:pt x="0" y="0"/>
                </a:moveTo>
                <a:lnTo>
                  <a:pt x="1205727" y="0"/>
                </a:lnTo>
              </a:path>
            </a:pathLst>
          </a:custGeom>
          <a:ln w="36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4968666" y="1282659"/>
            <a:ext cx="226695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b="1" i="1" spc="30" dirty="0">
                <a:latin typeface="华文楷体"/>
                <a:cs typeface="华文楷体"/>
              </a:rPr>
              <a:t>F</a:t>
            </a:r>
            <a:endParaRPr sz="2750">
              <a:latin typeface="华文楷体"/>
              <a:cs typeface="华文楷体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110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F2EFAC8C-9024-E40F-EDCA-51E8F2583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A898FE4-7F78-EE6E-520C-7AEE43486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"/>
            <a:ext cx="9448800" cy="620021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82827" y="1262888"/>
          <a:ext cx="4135755" cy="5181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7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60">
                <a:tc gridSpan="3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输入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7780" marB="0">
                    <a:lnL w="38100">
                      <a:solidFill>
                        <a:srgbClr val="7E4D00"/>
                      </a:solidFill>
                      <a:prstDash val="solid"/>
                    </a:lnL>
                    <a:lnR w="19050">
                      <a:solidFill>
                        <a:srgbClr val="7E4D00"/>
                      </a:solidFill>
                      <a:prstDash val="solid"/>
                    </a:lnR>
                    <a:lnT w="38100">
                      <a:solidFill>
                        <a:srgbClr val="7E4D00"/>
                      </a:solidFill>
                      <a:prstDash val="solid"/>
                    </a:lnT>
                    <a:lnB w="19050">
                      <a:solidFill>
                        <a:srgbClr val="7E4D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990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输出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7E4D00"/>
                      </a:solidFill>
                      <a:prstDash val="solid"/>
                    </a:lnL>
                    <a:lnR w="38100">
                      <a:solidFill>
                        <a:srgbClr val="7E4D00"/>
                      </a:solidFill>
                      <a:prstDash val="solid"/>
                    </a:lnR>
                    <a:lnT w="38100">
                      <a:solidFill>
                        <a:srgbClr val="7E4D00"/>
                      </a:solidFill>
                      <a:prstDash val="solid"/>
                    </a:lnT>
                    <a:lnB w="19050">
                      <a:solidFill>
                        <a:srgbClr val="7E4D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75" b="1" spc="-7" baseline="-21021" dirty="0">
                          <a:latin typeface="Times New Roman"/>
                          <a:cs typeface="Times New Roman"/>
                        </a:rPr>
                        <a:t>i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38100">
                      <a:solidFill>
                        <a:srgbClr val="7E4D00"/>
                      </a:solidFill>
                      <a:prstDash val="solid"/>
                    </a:lnL>
                    <a:lnT w="19050">
                      <a:solidFill>
                        <a:srgbClr val="7E4D00"/>
                      </a:solidFill>
                      <a:prstDash val="solid"/>
                    </a:lnT>
                    <a:lnB w="1905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889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75" b="1" spc="-7" baseline="-21021" dirty="0">
                          <a:latin typeface="Times New Roman"/>
                          <a:cs typeface="Times New Roman"/>
                        </a:rPr>
                        <a:t>i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19050">
                      <a:solidFill>
                        <a:srgbClr val="7E4D00"/>
                      </a:solidFill>
                      <a:prstDash val="solid"/>
                    </a:lnT>
                    <a:lnB w="1905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8895" algn="ctr">
                        <a:lnSpc>
                          <a:spcPts val="3030"/>
                        </a:lnSpc>
                        <a:spcBef>
                          <a:spcPts val="950"/>
                        </a:spcBef>
                      </a:pPr>
                      <a:r>
                        <a:rPr sz="4200" b="1" i="1" baseline="13888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50" b="1" dirty="0">
                          <a:latin typeface="Times New Roman"/>
                          <a:cs typeface="Times New Roman"/>
                        </a:rPr>
                        <a:t>i-1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R w="19050">
                      <a:solidFill>
                        <a:srgbClr val="7E4D00"/>
                      </a:solidFill>
                      <a:prstDash val="solid"/>
                    </a:lnR>
                    <a:lnT w="19050">
                      <a:solidFill>
                        <a:srgbClr val="7E4D00"/>
                      </a:solidFill>
                      <a:prstDash val="solid"/>
                    </a:lnT>
                    <a:lnB w="1905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1021" dirty="0">
                          <a:latin typeface="Times New Roman"/>
                          <a:cs typeface="Times New Roman"/>
                        </a:rPr>
                        <a:t>i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7E4D00"/>
                      </a:solidFill>
                      <a:prstDash val="solid"/>
                    </a:lnL>
                    <a:lnT w="19050">
                      <a:solidFill>
                        <a:srgbClr val="7E4D00"/>
                      </a:solidFill>
                      <a:prstDash val="solid"/>
                    </a:lnT>
                    <a:lnB w="1905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i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75" b="1" spc="-7" baseline="-21021" dirty="0">
                          <a:latin typeface="Times New Roman"/>
                          <a:cs typeface="Times New Roman"/>
                        </a:rPr>
                        <a:t>i</a:t>
                      </a:r>
                      <a:endParaRPr sz="2775" baseline="-21021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R w="38100">
                      <a:solidFill>
                        <a:srgbClr val="7E4D00"/>
                      </a:solidFill>
                      <a:prstDash val="solid"/>
                    </a:lnR>
                    <a:lnT w="19050">
                      <a:solidFill>
                        <a:srgbClr val="7E4D00"/>
                      </a:solidFill>
                      <a:prstDash val="solid"/>
                    </a:lnT>
                    <a:lnB w="1905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7E4D00"/>
                      </a:solidFill>
                      <a:prstDash val="solid"/>
                    </a:lnL>
                    <a:lnT w="19050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7E4D00"/>
                      </a:solidFill>
                      <a:prstDash val="solid"/>
                    </a:lnR>
                    <a:lnT w="19050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7E4D00"/>
                      </a:solidFill>
                      <a:prstDash val="solid"/>
                    </a:lnL>
                    <a:lnT w="19050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38100">
                      <a:solidFill>
                        <a:srgbClr val="7E4D00"/>
                      </a:solidFill>
                      <a:prstDash val="solid"/>
                    </a:lnR>
                    <a:lnT w="19050">
                      <a:solidFill>
                        <a:srgbClr val="7E4D00"/>
                      </a:solidFill>
                      <a:prstDash val="solid"/>
                    </a:lnT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38100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38100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38100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8100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R w="38100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7E4D00"/>
                      </a:solidFill>
                      <a:prstDash val="solid"/>
                    </a:lnL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38100">
                      <a:solidFill>
                        <a:srgbClr val="7E4D00"/>
                      </a:solidFill>
                      <a:prstDash val="solid"/>
                    </a:lnR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19050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7E4D00"/>
                      </a:solidFill>
                      <a:prstDash val="solid"/>
                    </a:lnL>
                    <a:solidFill>
                      <a:srgbClr val="FFEEE7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38100">
                      <a:solidFill>
                        <a:srgbClr val="7E4D00"/>
                      </a:solidFill>
                      <a:prstDash val="solid"/>
                    </a:lnR>
                    <a:solidFill>
                      <a:srgbClr val="FF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7E4D00"/>
                      </a:solidFill>
                      <a:prstDash val="solid"/>
                    </a:lnL>
                    <a:lnB w="3810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B w="3810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501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7E4D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19050">
                      <a:solidFill>
                        <a:srgbClr val="7E4D00"/>
                      </a:solidFill>
                      <a:prstDash val="solid"/>
                    </a:lnR>
                    <a:lnB w="3810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7E4D00"/>
                      </a:solidFill>
                      <a:prstDash val="solid"/>
                    </a:lnL>
                    <a:lnB w="3810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33334D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38100">
                      <a:solidFill>
                        <a:srgbClr val="7E4D00"/>
                      </a:solidFill>
                      <a:prstDash val="solid"/>
                    </a:lnR>
                    <a:lnB w="38100">
                      <a:solidFill>
                        <a:srgbClr val="7E4D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112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336880"/>
            <a:ext cx="86779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64575" algn="l"/>
              </a:tabLst>
            </a:pPr>
            <a:r>
              <a:rPr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用译码器实现一位全加器	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48996" y="2736002"/>
            <a:ext cx="3811904" cy="15367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690">
              <a:lnSpc>
                <a:spcPts val="5930"/>
              </a:lnSpc>
              <a:spcBef>
                <a:spcPts val="135"/>
              </a:spcBef>
              <a:tabLst>
                <a:tab pos="532130" algn="l"/>
              </a:tabLst>
            </a:pPr>
            <a:r>
              <a:rPr sz="3350" i="1" spc="114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2925" i="1" spc="172" baseline="-24216" dirty="0">
                <a:solidFill>
                  <a:srgbClr val="0000FF"/>
                </a:solidFill>
                <a:latin typeface="Times New Roman"/>
                <a:cs typeface="Times New Roman"/>
              </a:rPr>
              <a:t>i	</a:t>
            </a:r>
            <a:r>
              <a:rPr sz="3350" spc="155" dirty="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sz="335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7500" spc="487" baseline="-8333" dirty="0">
                <a:solidFill>
                  <a:srgbClr val="0000FF"/>
                </a:solidFill>
                <a:latin typeface="Symbol"/>
                <a:cs typeface="Symbol"/>
              </a:rPr>
              <a:t></a:t>
            </a:r>
            <a:r>
              <a:rPr sz="7500" spc="-1162" baseline="-833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350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3350" spc="-25" dirty="0">
                <a:solidFill>
                  <a:srgbClr val="0000FF"/>
                </a:solidFill>
                <a:latin typeface="Times New Roman"/>
                <a:cs typeface="Times New Roman"/>
              </a:rPr>
              <a:t>(1,</a:t>
            </a:r>
            <a:r>
              <a:rPr sz="3350" spc="-3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350" spc="75" dirty="0">
                <a:solidFill>
                  <a:srgbClr val="0000FF"/>
                </a:solidFill>
                <a:latin typeface="Times New Roman"/>
                <a:cs typeface="Times New Roman"/>
              </a:rPr>
              <a:t>2,</a:t>
            </a:r>
            <a:r>
              <a:rPr sz="3350" spc="-3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350" spc="75" dirty="0">
                <a:solidFill>
                  <a:srgbClr val="0000FF"/>
                </a:solidFill>
                <a:latin typeface="Times New Roman"/>
                <a:cs typeface="Times New Roman"/>
              </a:rPr>
              <a:t>4,</a:t>
            </a:r>
            <a:r>
              <a:rPr sz="3350" spc="-4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350" spc="145" dirty="0">
                <a:solidFill>
                  <a:srgbClr val="0000FF"/>
                </a:solidFill>
                <a:latin typeface="Times New Roman"/>
                <a:cs typeface="Times New Roman"/>
              </a:rPr>
              <a:t>7)</a:t>
            </a:r>
            <a:endParaRPr sz="3350">
              <a:latin typeface="Times New Roman"/>
              <a:cs typeface="Times New Roman"/>
            </a:endParaRPr>
          </a:p>
          <a:p>
            <a:pPr marL="38100">
              <a:lnSpc>
                <a:spcPts val="5930"/>
              </a:lnSpc>
              <a:tabLst>
                <a:tab pos="838200" algn="l"/>
              </a:tabLst>
            </a:pPr>
            <a:r>
              <a:rPr sz="3350" i="1" spc="10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2925" i="1" spc="157" baseline="-24216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925" spc="157" baseline="-24216" dirty="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sz="2925" spc="157" baseline="-24216" dirty="0">
                <a:solidFill>
                  <a:srgbClr val="0000FF"/>
                </a:solidFill>
                <a:latin typeface="Times New Roman"/>
                <a:cs typeface="Times New Roman"/>
              </a:rPr>
              <a:t>1	</a:t>
            </a:r>
            <a:r>
              <a:rPr sz="3350" spc="155" dirty="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sz="3350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7500" spc="487" baseline="-8333" dirty="0">
                <a:solidFill>
                  <a:srgbClr val="0000FF"/>
                </a:solidFill>
                <a:latin typeface="Symbol"/>
                <a:cs typeface="Symbol"/>
              </a:rPr>
              <a:t></a:t>
            </a:r>
            <a:r>
              <a:rPr sz="7500" spc="-1170" baseline="-833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350" i="1" spc="90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3350" spc="90" dirty="0">
                <a:solidFill>
                  <a:srgbClr val="0000FF"/>
                </a:solidFill>
                <a:latin typeface="Times New Roman"/>
                <a:cs typeface="Times New Roman"/>
              </a:rPr>
              <a:t>(3,</a:t>
            </a:r>
            <a:r>
              <a:rPr sz="3350" spc="-50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350" spc="50" dirty="0">
                <a:solidFill>
                  <a:srgbClr val="0000FF"/>
                </a:solidFill>
                <a:latin typeface="Times New Roman"/>
                <a:cs typeface="Times New Roman"/>
              </a:rPr>
              <a:t>5,</a:t>
            </a:r>
            <a:r>
              <a:rPr sz="3350" spc="-4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350" spc="75" dirty="0">
                <a:solidFill>
                  <a:srgbClr val="0000FF"/>
                </a:solidFill>
                <a:latin typeface="Times New Roman"/>
                <a:cs typeface="Times New Roman"/>
              </a:rPr>
              <a:t>6,</a:t>
            </a:r>
            <a:r>
              <a:rPr sz="3350" spc="-4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350" spc="145" dirty="0">
                <a:solidFill>
                  <a:srgbClr val="0000FF"/>
                </a:solidFill>
                <a:latin typeface="Times New Roman"/>
                <a:cs typeface="Times New Roman"/>
              </a:rPr>
              <a:t>7)</a:t>
            </a:r>
            <a:endParaRPr sz="3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7266" y="405460"/>
            <a:ext cx="87750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02055" algn="l"/>
                <a:tab pos="8761730" algn="l"/>
              </a:tabLst>
            </a:pP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选用一片74LS</a:t>
            </a:r>
            <a:r>
              <a:rPr sz="3200" u="heavy" spc="-1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1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3</a:t>
            </a:r>
            <a:r>
              <a:rPr sz="3200" u="heavy" spc="-10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8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及与非门实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现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	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8604" y="2651676"/>
            <a:ext cx="3838575" cy="1564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9690">
              <a:lnSpc>
                <a:spcPts val="6040"/>
              </a:lnSpc>
              <a:spcBef>
                <a:spcPts val="130"/>
              </a:spcBef>
              <a:tabLst>
                <a:tab pos="535305" algn="l"/>
              </a:tabLst>
            </a:pPr>
            <a:r>
              <a:rPr sz="3400" i="1" spc="110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2925" i="1" spc="165" baseline="-25641" dirty="0">
                <a:solidFill>
                  <a:srgbClr val="0000FF"/>
                </a:solidFill>
                <a:latin typeface="Times New Roman"/>
                <a:cs typeface="Times New Roman"/>
              </a:rPr>
              <a:t>i	</a:t>
            </a:r>
            <a:r>
              <a:rPr sz="3400" spc="150" dirty="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sz="3400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7650" spc="434" baseline="-8714" dirty="0">
                <a:solidFill>
                  <a:srgbClr val="0000FF"/>
                </a:solidFill>
                <a:latin typeface="Symbol"/>
                <a:cs typeface="Symbol"/>
              </a:rPr>
              <a:t></a:t>
            </a:r>
            <a:r>
              <a:rPr sz="7650" spc="-1207" baseline="-871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400" i="1" spc="-3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3400" spc="-35" dirty="0">
                <a:solidFill>
                  <a:srgbClr val="0000FF"/>
                </a:solidFill>
                <a:latin typeface="Times New Roman"/>
                <a:cs typeface="Times New Roman"/>
              </a:rPr>
              <a:t>(1,</a:t>
            </a:r>
            <a:r>
              <a:rPr sz="3400" spc="-4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400" spc="65" dirty="0">
                <a:solidFill>
                  <a:srgbClr val="0000FF"/>
                </a:solidFill>
                <a:latin typeface="Times New Roman"/>
                <a:cs typeface="Times New Roman"/>
              </a:rPr>
              <a:t>2,</a:t>
            </a:r>
            <a:r>
              <a:rPr sz="3400" spc="-4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400" spc="65" dirty="0">
                <a:solidFill>
                  <a:srgbClr val="0000FF"/>
                </a:solidFill>
                <a:latin typeface="Times New Roman"/>
                <a:cs typeface="Times New Roman"/>
              </a:rPr>
              <a:t>4,</a:t>
            </a:r>
            <a:r>
              <a:rPr sz="3400" spc="-4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400" spc="135" dirty="0">
                <a:solidFill>
                  <a:srgbClr val="0000FF"/>
                </a:solidFill>
                <a:latin typeface="Times New Roman"/>
                <a:cs typeface="Times New Roman"/>
              </a:rPr>
              <a:t>7)</a:t>
            </a:r>
            <a:endParaRPr sz="3400">
              <a:latin typeface="Times New Roman"/>
              <a:cs typeface="Times New Roman"/>
            </a:endParaRPr>
          </a:p>
          <a:p>
            <a:pPr marL="38100">
              <a:lnSpc>
                <a:spcPts val="6040"/>
              </a:lnSpc>
              <a:tabLst>
                <a:tab pos="843280" algn="l"/>
              </a:tabLst>
            </a:pPr>
            <a:r>
              <a:rPr sz="3400" i="1" spc="10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2925" i="1" spc="157" baseline="-25641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925" spc="157" baseline="-25641" dirty="0">
                <a:solidFill>
                  <a:srgbClr val="0000FF"/>
                </a:solidFill>
                <a:latin typeface="Symbol"/>
                <a:cs typeface="Symbol"/>
              </a:rPr>
              <a:t></a:t>
            </a:r>
            <a:r>
              <a:rPr sz="2925" spc="157" baseline="-25641" dirty="0">
                <a:solidFill>
                  <a:srgbClr val="0000FF"/>
                </a:solidFill>
                <a:latin typeface="Times New Roman"/>
                <a:cs typeface="Times New Roman"/>
              </a:rPr>
              <a:t>1	</a:t>
            </a:r>
            <a:r>
              <a:rPr sz="3400" spc="150" dirty="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sz="3400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7650" spc="434" baseline="-8714" dirty="0">
                <a:solidFill>
                  <a:srgbClr val="0000FF"/>
                </a:solidFill>
                <a:latin typeface="Symbol"/>
                <a:cs typeface="Symbol"/>
              </a:rPr>
              <a:t></a:t>
            </a:r>
            <a:r>
              <a:rPr sz="7650" spc="-1222" baseline="-871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400" i="1" spc="80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3400" spc="80" dirty="0">
                <a:solidFill>
                  <a:srgbClr val="0000FF"/>
                </a:solidFill>
                <a:latin typeface="Times New Roman"/>
                <a:cs typeface="Times New Roman"/>
              </a:rPr>
              <a:t>(3,</a:t>
            </a:r>
            <a:r>
              <a:rPr sz="3400" spc="-5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400" spc="40" dirty="0">
                <a:solidFill>
                  <a:srgbClr val="0000FF"/>
                </a:solidFill>
                <a:latin typeface="Times New Roman"/>
                <a:cs typeface="Times New Roman"/>
              </a:rPr>
              <a:t>5,</a:t>
            </a:r>
            <a:r>
              <a:rPr sz="3400" spc="-4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400" spc="65" dirty="0">
                <a:solidFill>
                  <a:srgbClr val="0000FF"/>
                </a:solidFill>
                <a:latin typeface="Times New Roman"/>
                <a:cs typeface="Times New Roman"/>
              </a:rPr>
              <a:t>6,</a:t>
            </a:r>
            <a:r>
              <a:rPr sz="3400" spc="-4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400" spc="135" dirty="0">
                <a:solidFill>
                  <a:srgbClr val="0000FF"/>
                </a:solidFill>
                <a:latin typeface="Times New Roman"/>
                <a:cs typeface="Times New Roman"/>
              </a:rPr>
              <a:t>7)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39524" y="3493318"/>
            <a:ext cx="112578" cy="2516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43607" y="3493318"/>
            <a:ext cx="112578" cy="2516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47709" y="3493318"/>
            <a:ext cx="112578" cy="2516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51828" y="3493318"/>
            <a:ext cx="112543" cy="2516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55807" y="3493318"/>
            <a:ext cx="112718" cy="2516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59960" y="3493318"/>
            <a:ext cx="112543" cy="2516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64115" y="3493318"/>
            <a:ext cx="112543" cy="2516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168094" y="3493318"/>
            <a:ext cx="112718" cy="251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016934" y="5351013"/>
            <a:ext cx="112544" cy="26319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361622" y="5351013"/>
            <a:ext cx="112544" cy="10688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581787" y="3808045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>
                <a:moveTo>
                  <a:pt x="0" y="0"/>
                </a:moveTo>
                <a:lnTo>
                  <a:pt x="252041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85871" y="3808045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>
                <a:moveTo>
                  <a:pt x="0" y="0"/>
                </a:moveTo>
                <a:lnTo>
                  <a:pt x="252059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589972" y="3808045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>
                <a:moveTo>
                  <a:pt x="0" y="0"/>
                </a:moveTo>
                <a:lnTo>
                  <a:pt x="252041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94021" y="3808045"/>
            <a:ext cx="252729" cy="0"/>
          </a:xfrm>
          <a:custGeom>
            <a:avLst/>
            <a:gdLst/>
            <a:ahLst/>
            <a:cxnLst/>
            <a:rect l="l" t="t" r="r" b="b"/>
            <a:pathLst>
              <a:path w="252729">
                <a:moveTo>
                  <a:pt x="0" y="0"/>
                </a:moveTo>
                <a:lnTo>
                  <a:pt x="252166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98175" y="3808045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>
                <a:moveTo>
                  <a:pt x="0" y="0"/>
                </a:moveTo>
                <a:lnTo>
                  <a:pt x="251988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102331" y="3808045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>
                <a:moveTo>
                  <a:pt x="0" y="0"/>
                </a:moveTo>
                <a:lnTo>
                  <a:pt x="251988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06308" y="3808045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>
                <a:moveTo>
                  <a:pt x="0" y="0"/>
                </a:moveTo>
                <a:lnTo>
                  <a:pt x="251988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110462" y="3808045"/>
            <a:ext cx="252095" cy="0"/>
          </a:xfrm>
          <a:custGeom>
            <a:avLst/>
            <a:gdLst/>
            <a:ahLst/>
            <a:cxnLst/>
            <a:rect l="l" t="t" r="r" b="b"/>
            <a:pathLst>
              <a:path w="252095">
                <a:moveTo>
                  <a:pt x="0" y="0"/>
                </a:moveTo>
                <a:lnTo>
                  <a:pt x="251988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216321" y="4996608"/>
            <a:ext cx="403225" cy="0"/>
          </a:xfrm>
          <a:custGeom>
            <a:avLst/>
            <a:gdLst/>
            <a:ahLst/>
            <a:cxnLst/>
            <a:rect l="l" t="t" r="r" b="b"/>
            <a:pathLst>
              <a:path w="403225">
                <a:moveTo>
                  <a:pt x="0" y="0"/>
                </a:moveTo>
                <a:lnTo>
                  <a:pt x="403146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921960" y="4996608"/>
            <a:ext cx="403860" cy="0"/>
          </a:xfrm>
          <a:custGeom>
            <a:avLst/>
            <a:gdLst/>
            <a:ahLst/>
            <a:cxnLst/>
            <a:rect l="l" t="t" r="r" b="b"/>
            <a:pathLst>
              <a:path w="403859">
                <a:moveTo>
                  <a:pt x="0" y="0"/>
                </a:moveTo>
                <a:lnTo>
                  <a:pt x="403323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5299773" y="3719567"/>
          <a:ext cx="4284976" cy="20514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9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8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31400">
                <a:tc gridSpan="7"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577850" algn="l"/>
                          <a:tab pos="1082040" algn="l"/>
                          <a:tab pos="1586230" algn="l"/>
                          <a:tab pos="2090420" algn="l"/>
                          <a:tab pos="2594610" algn="l"/>
                          <a:tab pos="3098165" algn="l"/>
                          <a:tab pos="3602354" algn="l"/>
                        </a:tabLst>
                      </a:pPr>
                      <a:r>
                        <a:rPr sz="2550" spc="10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550" spc="157" baseline="-11437" dirty="0">
                          <a:latin typeface="华文楷体"/>
                          <a:cs typeface="华文楷体"/>
                        </a:rPr>
                        <a:t>7	</a:t>
                      </a:r>
                      <a:r>
                        <a:rPr sz="2550" spc="10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550" spc="157" baseline="-11437" dirty="0">
                          <a:latin typeface="华文楷体"/>
                          <a:cs typeface="华文楷体"/>
                        </a:rPr>
                        <a:t>6	</a:t>
                      </a:r>
                      <a:r>
                        <a:rPr sz="2550" spc="10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550" spc="157" baseline="-11437" dirty="0">
                          <a:latin typeface="华文楷体"/>
                          <a:cs typeface="华文楷体"/>
                        </a:rPr>
                        <a:t>5	</a:t>
                      </a:r>
                      <a:r>
                        <a:rPr sz="2550" spc="10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550" spc="157" baseline="-11437" dirty="0">
                          <a:latin typeface="华文楷体"/>
                          <a:cs typeface="华文楷体"/>
                        </a:rPr>
                        <a:t>4	</a:t>
                      </a:r>
                      <a:r>
                        <a:rPr sz="2550" spc="10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550" spc="157" baseline="-11437" dirty="0">
                          <a:latin typeface="华文楷体"/>
                          <a:cs typeface="华文楷体"/>
                        </a:rPr>
                        <a:t>3	</a:t>
                      </a:r>
                      <a:r>
                        <a:rPr sz="2550" spc="10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550" spc="157" baseline="-11437" dirty="0">
                          <a:latin typeface="华文楷体"/>
                          <a:cs typeface="华文楷体"/>
                        </a:rPr>
                        <a:t>2	</a:t>
                      </a:r>
                      <a:r>
                        <a:rPr sz="2550" spc="10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550" spc="157" baseline="-11437" dirty="0">
                          <a:latin typeface="华文楷体"/>
                          <a:cs typeface="华文楷体"/>
                        </a:rPr>
                        <a:t>1	</a:t>
                      </a:r>
                      <a:r>
                        <a:rPr sz="2550" spc="105" dirty="0">
                          <a:latin typeface="华文楷体"/>
                          <a:cs typeface="华文楷体"/>
                        </a:rPr>
                        <a:t>F</a:t>
                      </a:r>
                      <a:r>
                        <a:rPr sz="2550" spc="157" baseline="-11437" dirty="0">
                          <a:latin typeface="华文楷体"/>
                          <a:cs typeface="华文楷体"/>
                        </a:rPr>
                        <a:t>0</a:t>
                      </a:r>
                      <a:endParaRPr sz="2550" baseline="-11437">
                        <a:latin typeface="华文楷体"/>
                        <a:cs typeface="华文楷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3100" b="1" spc="13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74LS138</a:t>
                      </a: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136525" algn="ctr">
                        <a:lnSpc>
                          <a:spcPct val="100000"/>
                        </a:lnSpc>
                        <a:spcBef>
                          <a:spcPts val="1630"/>
                        </a:spcBef>
                        <a:tabLst>
                          <a:tab pos="791845" algn="l"/>
                          <a:tab pos="1447165" algn="l"/>
                          <a:tab pos="2016125" algn="l"/>
                          <a:tab pos="2646045" algn="l"/>
                          <a:tab pos="3351529" algn="l"/>
                        </a:tabLst>
                      </a:pPr>
                      <a:r>
                        <a:rPr sz="3825" spc="179" baseline="2178" dirty="0">
                          <a:latin typeface="华文楷体"/>
                          <a:cs typeface="华文楷体"/>
                        </a:rPr>
                        <a:t>A</a:t>
                      </a:r>
                      <a:r>
                        <a:rPr sz="2550" spc="179" baseline="-8169" dirty="0">
                          <a:latin typeface="华文楷体"/>
                          <a:cs typeface="华文楷体"/>
                        </a:rPr>
                        <a:t>2	</a:t>
                      </a:r>
                      <a:r>
                        <a:rPr sz="3825" spc="179" baseline="2178" dirty="0">
                          <a:latin typeface="华文楷体"/>
                          <a:cs typeface="华文楷体"/>
                        </a:rPr>
                        <a:t>A</a:t>
                      </a:r>
                      <a:r>
                        <a:rPr sz="2550" spc="179" baseline="-8169" dirty="0">
                          <a:latin typeface="华文楷体"/>
                          <a:cs typeface="华文楷体"/>
                        </a:rPr>
                        <a:t>1	</a:t>
                      </a:r>
                      <a:r>
                        <a:rPr sz="3825" spc="179" baseline="2178" dirty="0">
                          <a:latin typeface="华文楷体"/>
                          <a:cs typeface="华文楷体"/>
                        </a:rPr>
                        <a:t>A</a:t>
                      </a:r>
                      <a:r>
                        <a:rPr sz="2550" spc="179" baseline="-8169" dirty="0">
                          <a:latin typeface="华文楷体"/>
                          <a:cs typeface="华文楷体"/>
                        </a:rPr>
                        <a:t>0	</a:t>
                      </a:r>
                      <a:r>
                        <a:rPr sz="3825" spc="172" baseline="2178" dirty="0">
                          <a:latin typeface="华文楷体"/>
                          <a:cs typeface="华文楷体"/>
                        </a:rPr>
                        <a:t>ST</a:t>
                      </a:r>
                      <a:r>
                        <a:rPr sz="2550" spc="172" baseline="-8169" dirty="0">
                          <a:latin typeface="华文楷体"/>
                          <a:cs typeface="华文楷体"/>
                        </a:rPr>
                        <a:t>1	</a:t>
                      </a:r>
                      <a:r>
                        <a:rPr sz="2550" spc="114" dirty="0">
                          <a:latin typeface="华文楷体"/>
                          <a:cs typeface="华文楷体"/>
                        </a:rPr>
                        <a:t>ST</a:t>
                      </a:r>
                      <a:r>
                        <a:rPr sz="2550" spc="172" baseline="-11437" dirty="0">
                          <a:latin typeface="华文楷体"/>
                          <a:cs typeface="华文楷体"/>
                        </a:rPr>
                        <a:t>2	</a:t>
                      </a:r>
                      <a:r>
                        <a:rPr sz="2550" spc="114" dirty="0">
                          <a:latin typeface="华文楷体"/>
                          <a:cs typeface="华文楷体"/>
                        </a:rPr>
                        <a:t>ST</a:t>
                      </a:r>
                      <a:r>
                        <a:rPr sz="2550" spc="172" baseline="-11437" dirty="0">
                          <a:latin typeface="华文楷体"/>
                          <a:cs typeface="华文楷体"/>
                        </a:rPr>
                        <a:t>3</a:t>
                      </a:r>
                      <a:endParaRPr sz="2550" baseline="-11437">
                        <a:latin typeface="华文楷体"/>
                        <a:cs typeface="华文楷体"/>
                      </a:endParaRPr>
                    </a:p>
                  </a:txBody>
                  <a:tcPr marL="0" marR="0" marT="317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26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79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5663356" y="5700171"/>
            <a:ext cx="2195830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8815" algn="l"/>
                <a:tab pos="1304925" algn="l"/>
                <a:tab pos="2015489" algn="l"/>
              </a:tabLst>
            </a:pPr>
            <a:r>
              <a:rPr sz="2750" i="1" spc="30" dirty="0">
                <a:latin typeface="华文楷体"/>
                <a:cs typeface="华文楷体"/>
              </a:rPr>
              <a:t>A	B	C	</a:t>
            </a:r>
            <a:r>
              <a:rPr sz="2550" spc="114" dirty="0">
                <a:latin typeface="华文楷体"/>
                <a:cs typeface="华文楷体"/>
              </a:rPr>
              <a:t>1</a:t>
            </a:r>
            <a:endParaRPr sz="2550">
              <a:latin typeface="华文楷体"/>
              <a:cs typeface="华文楷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21702" y="5697578"/>
            <a:ext cx="192405" cy="4203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50" spc="114" dirty="0">
                <a:latin typeface="华文楷体"/>
                <a:cs typeface="华文楷体"/>
              </a:rPr>
              <a:t>0</a:t>
            </a:r>
            <a:endParaRPr sz="2550">
              <a:latin typeface="华文楷体"/>
              <a:cs typeface="华文楷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325322" y="2315641"/>
            <a:ext cx="0" cy="699770"/>
          </a:xfrm>
          <a:custGeom>
            <a:avLst/>
            <a:gdLst/>
            <a:ahLst/>
            <a:cxnLst/>
            <a:rect l="l" t="t" r="r" b="b"/>
            <a:pathLst>
              <a:path h="699769">
                <a:moveTo>
                  <a:pt x="0" y="699173"/>
                </a:moveTo>
                <a:lnTo>
                  <a:pt x="0" y="0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03393" y="2315641"/>
            <a:ext cx="0" cy="699770"/>
          </a:xfrm>
          <a:custGeom>
            <a:avLst/>
            <a:gdLst/>
            <a:ahLst/>
            <a:cxnLst/>
            <a:rect l="l" t="t" r="r" b="b"/>
            <a:pathLst>
              <a:path h="699769">
                <a:moveTo>
                  <a:pt x="0" y="699173"/>
                </a:moveTo>
                <a:lnTo>
                  <a:pt x="0" y="0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514358" y="1616467"/>
            <a:ext cx="0" cy="699770"/>
          </a:xfrm>
          <a:custGeom>
            <a:avLst/>
            <a:gdLst/>
            <a:ahLst/>
            <a:cxnLst/>
            <a:rect l="l" t="t" r="r" b="b"/>
            <a:pathLst>
              <a:path h="699769">
                <a:moveTo>
                  <a:pt x="0" y="0"/>
                </a:moveTo>
                <a:lnTo>
                  <a:pt x="0" y="699173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36286" y="1861145"/>
            <a:ext cx="756285" cy="909319"/>
          </a:xfrm>
          <a:custGeom>
            <a:avLst/>
            <a:gdLst/>
            <a:ahLst/>
            <a:cxnLst/>
            <a:rect l="l" t="t" r="r" b="b"/>
            <a:pathLst>
              <a:path w="756284" h="909319">
                <a:moveTo>
                  <a:pt x="378107" y="0"/>
                </a:moveTo>
                <a:lnTo>
                  <a:pt x="378107" y="164"/>
                </a:lnTo>
                <a:lnTo>
                  <a:pt x="343586" y="21685"/>
                </a:lnTo>
                <a:lnTo>
                  <a:pt x="310211" y="46155"/>
                </a:lnTo>
                <a:lnTo>
                  <a:pt x="278046" y="73464"/>
                </a:lnTo>
                <a:lnTo>
                  <a:pt x="247158" y="103501"/>
                </a:lnTo>
                <a:lnTo>
                  <a:pt x="217612" y="136154"/>
                </a:lnTo>
                <a:lnTo>
                  <a:pt x="189473" y="171313"/>
                </a:lnTo>
                <a:lnTo>
                  <a:pt x="162809" y="208867"/>
                </a:lnTo>
                <a:lnTo>
                  <a:pt x="137684" y="248706"/>
                </a:lnTo>
                <a:lnTo>
                  <a:pt x="114164" y="290719"/>
                </a:lnTo>
                <a:lnTo>
                  <a:pt x="92316" y="334794"/>
                </a:lnTo>
                <a:lnTo>
                  <a:pt x="72204" y="380821"/>
                </a:lnTo>
                <a:lnTo>
                  <a:pt x="53895" y="428690"/>
                </a:lnTo>
                <a:lnTo>
                  <a:pt x="37454" y="478288"/>
                </a:lnTo>
                <a:lnTo>
                  <a:pt x="22947" y="529507"/>
                </a:lnTo>
                <a:lnTo>
                  <a:pt x="10440" y="582234"/>
                </a:lnTo>
                <a:lnTo>
                  <a:pt x="0" y="636360"/>
                </a:lnTo>
                <a:lnTo>
                  <a:pt x="0" y="908991"/>
                </a:lnTo>
                <a:lnTo>
                  <a:pt x="42658" y="880943"/>
                </a:lnTo>
                <a:lnTo>
                  <a:pt x="86000" y="856401"/>
                </a:lnTo>
                <a:lnTo>
                  <a:pt x="129932" y="835365"/>
                </a:lnTo>
                <a:lnTo>
                  <a:pt x="174364" y="817835"/>
                </a:lnTo>
                <a:lnTo>
                  <a:pt x="219206" y="803811"/>
                </a:lnTo>
                <a:lnTo>
                  <a:pt x="264367" y="793292"/>
                </a:lnTo>
                <a:lnTo>
                  <a:pt x="309755" y="786280"/>
                </a:lnTo>
                <a:lnTo>
                  <a:pt x="355280" y="782774"/>
                </a:lnTo>
                <a:lnTo>
                  <a:pt x="756143" y="782774"/>
                </a:lnTo>
                <a:lnTo>
                  <a:pt x="756143" y="636360"/>
                </a:lnTo>
                <a:lnTo>
                  <a:pt x="744705" y="578869"/>
                </a:lnTo>
                <a:lnTo>
                  <a:pt x="730966" y="522968"/>
                </a:lnTo>
                <a:lnTo>
                  <a:pt x="715002" y="468787"/>
                </a:lnTo>
                <a:lnTo>
                  <a:pt x="696891" y="416455"/>
                </a:lnTo>
                <a:lnTo>
                  <a:pt x="676711" y="366103"/>
                </a:lnTo>
                <a:lnTo>
                  <a:pt x="654539" y="317860"/>
                </a:lnTo>
                <a:lnTo>
                  <a:pt x="630451" y="271856"/>
                </a:lnTo>
                <a:lnTo>
                  <a:pt x="604527" y="228220"/>
                </a:lnTo>
                <a:lnTo>
                  <a:pt x="576842" y="187083"/>
                </a:lnTo>
                <a:lnTo>
                  <a:pt x="547474" y="148575"/>
                </a:lnTo>
                <a:lnTo>
                  <a:pt x="516502" y="112824"/>
                </a:lnTo>
                <a:lnTo>
                  <a:pt x="484001" y="79962"/>
                </a:lnTo>
                <a:lnTo>
                  <a:pt x="450050" y="50117"/>
                </a:lnTo>
                <a:lnTo>
                  <a:pt x="414726" y="23420"/>
                </a:lnTo>
                <a:lnTo>
                  <a:pt x="378107" y="0"/>
                </a:lnTo>
                <a:close/>
              </a:path>
              <a:path w="756284" h="909319">
                <a:moveTo>
                  <a:pt x="756143" y="782774"/>
                </a:moveTo>
                <a:lnTo>
                  <a:pt x="400850" y="782774"/>
                </a:lnTo>
                <a:lnTo>
                  <a:pt x="446375" y="786280"/>
                </a:lnTo>
                <a:lnTo>
                  <a:pt x="491763" y="793292"/>
                </a:lnTo>
                <a:lnTo>
                  <a:pt x="536925" y="803811"/>
                </a:lnTo>
                <a:lnTo>
                  <a:pt x="581768" y="817835"/>
                </a:lnTo>
                <a:lnTo>
                  <a:pt x="626203" y="835365"/>
                </a:lnTo>
                <a:lnTo>
                  <a:pt x="670137" y="856401"/>
                </a:lnTo>
                <a:lnTo>
                  <a:pt x="713481" y="880943"/>
                </a:lnTo>
                <a:lnTo>
                  <a:pt x="756143" y="908991"/>
                </a:lnTo>
                <a:lnTo>
                  <a:pt x="756143" y="7827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36286" y="1861145"/>
            <a:ext cx="756285" cy="909319"/>
          </a:xfrm>
          <a:custGeom>
            <a:avLst/>
            <a:gdLst/>
            <a:ahLst/>
            <a:cxnLst/>
            <a:rect l="l" t="t" r="r" b="b"/>
            <a:pathLst>
              <a:path w="756284" h="909319">
                <a:moveTo>
                  <a:pt x="378107" y="0"/>
                </a:moveTo>
                <a:lnTo>
                  <a:pt x="414726" y="23420"/>
                </a:lnTo>
                <a:lnTo>
                  <a:pt x="450050" y="50117"/>
                </a:lnTo>
                <a:lnTo>
                  <a:pt x="484001" y="79962"/>
                </a:lnTo>
                <a:lnTo>
                  <a:pt x="516502" y="112824"/>
                </a:lnTo>
                <a:lnTo>
                  <a:pt x="547474" y="148575"/>
                </a:lnTo>
                <a:lnTo>
                  <a:pt x="576842" y="187083"/>
                </a:lnTo>
                <a:lnTo>
                  <a:pt x="604527" y="228220"/>
                </a:lnTo>
                <a:lnTo>
                  <a:pt x="630451" y="271856"/>
                </a:lnTo>
                <a:lnTo>
                  <a:pt x="654539" y="317860"/>
                </a:lnTo>
                <a:lnTo>
                  <a:pt x="676711" y="366103"/>
                </a:lnTo>
                <a:lnTo>
                  <a:pt x="696891" y="416455"/>
                </a:lnTo>
                <a:lnTo>
                  <a:pt x="715002" y="468787"/>
                </a:lnTo>
                <a:lnTo>
                  <a:pt x="730966" y="522968"/>
                </a:lnTo>
                <a:lnTo>
                  <a:pt x="744705" y="578869"/>
                </a:lnTo>
                <a:lnTo>
                  <a:pt x="756143" y="636360"/>
                </a:lnTo>
                <a:lnTo>
                  <a:pt x="756143" y="908991"/>
                </a:lnTo>
                <a:lnTo>
                  <a:pt x="713481" y="880943"/>
                </a:lnTo>
                <a:lnTo>
                  <a:pt x="670137" y="856401"/>
                </a:lnTo>
                <a:lnTo>
                  <a:pt x="626203" y="835365"/>
                </a:lnTo>
                <a:lnTo>
                  <a:pt x="581768" y="817835"/>
                </a:lnTo>
                <a:lnTo>
                  <a:pt x="536925" y="803810"/>
                </a:lnTo>
                <a:lnTo>
                  <a:pt x="491763" y="793292"/>
                </a:lnTo>
                <a:lnTo>
                  <a:pt x="446375" y="786280"/>
                </a:lnTo>
                <a:lnTo>
                  <a:pt x="400850" y="782774"/>
                </a:lnTo>
                <a:lnTo>
                  <a:pt x="355279" y="782774"/>
                </a:lnTo>
                <a:lnTo>
                  <a:pt x="309755" y="786280"/>
                </a:lnTo>
                <a:lnTo>
                  <a:pt x="264367" y="793292"/>
                </a:lnTo>
                <a:lnTo>
                  <a:pt x="219206" y="803810"/>
                </a:lnTo>
                <a:lnTo>
                  <a:pt x="174364" y="817835"/>
                </a:lnTo>
                <a:lnTo>
                  <a:pt x="129932" y="835365"/>
                </a:lnTo>
                <a:lnTo>
                  <a:pt x="86000" y="856401"/>
                </a:lnTo>
                <a:lnTo>
                  <a:pt x="42658" y="880943"/>
                </a:lnTo>
                <a:lnTo>
                  <a:pt x="0" y="908991"/>
                </a:lnTo>
                <a:lnTo>
                  <a:pt x="0" y="636360"/>
                </a:lnTo>
                <a:lnTo>
                  <a:pt x="10440" y="582234"/>
                </a:lnTo>
                <a:lnTo>
                  <a:pt x="22947" y="529507"/>
                </a:lnTo>
                <a:lnTo>
                  <a:pt x="37454" y="478288"/>
                </a:lnTo>
                <a:lnTo>
                  <a:pt x="53895" y="428690"/>
                </a:lnTo>
                <a:lnTo>
                  <a:pt x="72204" y="380821"/>
                </a:lnTo>
                <a:lnTo>
                  <a:pt x="92316" y="334794"/>
                </a:lnTo>
                <a:lnTo>
                  <a:pt x="114164" y="290719"/>
                </a:lnTo>
                <a:lnTo>
                  <a:pt x="137684" y="248706"/>
                </a:lnTo>
                <a:lnTo>
                  <a:pt x="162809" y="208867"/>
                </a:lnTo>
                <a:lnTo>
                  <a:pt x="189473" y="171313"/>
                </a:lnTo>
                <a:lnTo>
                  <a:pt x="217612" y="136154"/>
                </a:lnTo>
                <a:lnTo>
                  <a:pt x="247158" y="103501"/>
                </a:lnTo>
                <a:lnTo>
                  <a:pt x="278046" y="73464"/>
                </a:lnTo>
                <a:lnTo>
                  <a:pt x="310211" y="46155"/>
                </a:lnTo>
                <a:lnTo>
                  <a:pt x="343586" y="21685"/>
                </a:lnTo>
                <a:lnTo>
                  <a:pt x="378107" y="164"/>
                </a:lnTo>
                <a:close/>
              </a:path>
            </a:pathLst>
          </a:custGeom>
          <a:ln w="372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92429" y="2770137"/>
            <a:ext cx="126364" cy="245110"/>
          </a:xfrm>
          <a:custGeom>
            <a:avLst/>
            <a:gdLst/>
            <a:ahLst/>
            <a:cxnLst/>
            <a:rect l="l" t="t" r="r" b="b"/>
            <a:pathLst>
              <a:path w="126365" h="245110">
                <a:moveTo>
                  <a:pt x="0" y="0"/>
                </a:moveTo>
                <a:lnTo>
                  <a:pt x="126012" y="0"/>
                </a:lnTo>
                <a:lnTo>
                  <a:pt x="126012" y="244678"/>
                </a:lnTo>
              </a:path>
            </a:pathLst>
          </a:custGeom>
          <a:ln w="378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010256" y="2770137"/>
            <a:ext cx="126364" cy="245110"/>
          </a:xfrm>
          <a:custGeom>
            <a:avLst/>
            <a:gdLst/>
            <a:ahLst/>
            <a:cxnLst/>
            <a:rect l="l" t="t" r="r" b="b"/>
            <a:pathLst>
              <a:path w="126364" h="245110">
                <a:moveTo>
                  <a:pt x="126029" y="0"/>
                </a:moveTo>
                <a:lnTo>
                  <a:pt x="0" y="0"/>
                </a:lnTo>
                <a:lnTo>
                  <a:pt x="0" y="244678"/>
                </a:lnTo>
              </a:path>
            </a:pathLst>
          </a:custGeom>
          <a:ln w="378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39253" y="1740713"/>
            <a:ext cx="150191" cy="14171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36286" y="1861145"/>
            <a:ext cx="756285" cy="909319"/>
          </a:xfrm>
          <a:custGeom>
            <a:avLst/>
            <a:gdLst/>
            <a:ahLst/>
            <a:cxnLst/>
            <a:rect l="l" t="t" r="r" b="b"/>
            <a:pathLst>
              <a:path w="756284" h="909319">
                <a:moveTo>
                  <a:pt x="378071" y="0"/>
                </a:moveTo>
                <a:lnTo>
                  <a:pt x="326768" y="3191"/>
                </a:lnTo>
                <a:lnTo>
                  <a:pt x="277562" y="12489"/>
                </a:lnTo>
                <a:lnTo>
                  <a:pt x="230905" y="27475"/>
                </a:lnTo>
                <a:lnTo>
                  <a:pt x="187248" y="47734"/>
                </a:lnTo>
                <a:lnTo>
                  <a:pt x="147040" y="72848"/>
                </a:lnTo>
                <a:lnTo>
                  <a:pt x="110731" y="102401"/>
                </a:lnTo>
                <a:lnTo>
                  <a:pt x="78773" y="135975"/>
                </a:lnTo>
                <a:lnTo>
                  <a:pt x="51616" y="173155"/>
                </a:lnTo>
                <a:lnTo>
                  <a:pt x="29709" y="213522"/>
                </a:lnTo>
                <a:lnTo>
                  <a:pt x="13504" y="256661"/>
                </a:lnTo>
                <a:lnTo>
                  <a:pt x="3451" y="302155"/>
                </a:lnTo>
                <a:lnTo>
                  <a:pt x="0" y="349586"/>
                </a:lnTo>
                <a:lnTo>
                  <a:pt x="0" y="908991"/>
                </a:lnTo>
                <a:lnTo>
                  <a:pt x="756143" y="908991"/>
                </a:lnTo>
                <a:lnTo>
                  <a:pt x="756143" y="349586"/>
                </a:lnTo>
                <a:lnTo>
                  <a:pt x="752691" y="302155"/>
                </a:lnTo>
                <a:lnTo>
                  <a:pt x="742637" y="256661"/>
                </a:lnTo>
                <a:lnTo>
                  <a:pt x="726431" y="213522"/>
                </a:lnTo>
                <a:lnTo>
                  <a:pt x="704523" y="173155"/>
                </a:lnTo>
                <a:lnTo>
                  <a:pt x="677364" y="135975"/>
                </a:lnTo>
                <a:lnTo>
                  <a:pt x="645405" y="102401"/>
                </a:lnTo>
                <a:lnTo>
                  <a:pt x="609095" y="72848"/>
                </a:lnTo>
                <a:lnTo>
                  <a:pt x="568887" y="47734"/>
                </a:lnTo>
                <a:lnTo>
                  <a:pt x="525230" y="27475"/>
                </a:lnTo>
                <a:lnTo>
                  <a:pt x="478574" y="12489"/>
                </a:lnTo>
                <a:lnTo>
                  <a:pt x="429371" y="3191"/>
                </a:lnTo>
                <a:lnTo>
                  <a:pt x="3780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136286" y="1861145"/>
            <a:ext cx="756285" cy="909319"/>
          </a:xfrm>
          <a:custGeom>
            <a:avLst/>
            <a:gdLst/>
            <a:ahLst/>
            <a:cxnLst/>
            <a:rect l="l" t="t" r="r" b="b"/>
            <a:pathLst>
              <a:path w="756284" h="909319">
                <a:moveTo>
                  <a:pt x="756143" y="349586"/>
                </a:moveTo>
                <a:lnTo>
                  <a:pt x="756143" y="908991"/>
                </a:lnTo>
                <a:lnTo>
                  <a:pt x="0" y="908991"/>
                </a:lnTo>
                <a:lnTo>
                  <a:pt x="0" y="349586"/>
                </a:lnTo>
                <a:lnTo>
                  <a:pt x="3451" y="302155"/>
                </a:lnTo>
                <a:lnTo>
                  <a:pt x="13504" y="256661"/>
                </a:lnTo>
                <a:lnTo>
                  <a:pt x="29709" y="213522"/>
                </a:lnTo>
                <a:lnTo>
                  <a:pt x="51616" y="173155"/>
                </a:lnTo>
                <a:lnTo>
                  <a:pt x="78773" y="135975"/>
                </a:lnTo>
                <a:lnTo>
                  <a:pt x="110731" y="102401"/>
                </a:lnTo>
                <a:lnTo>
                  <a:pt x="147040" y="72848"/>
                </a:lnTo>
                <a:lnTo>
                  <a:pt x="187248" y="47734"/>
                </a:lnTo>
                <a:lnTo>
                  <a:pt x="230905" y="27475"/>
                </a:lnTo>
                <a:lnTo>
                  <a:pt x="277562" y="12489"/>
                </a:lnTo>
                <a:lnTo>
                  <a:pt x="326768" y="3191"/>
                </a:lnTo>
                <a:lnTo>
                  <a:pt x="378071" y="0"/>
                </a:lnTo>
                <a:lnTo>
                  <a:pt x="429371" y="3191"/>
                </a:lnTo>
                <a:lnTo>
                  <a:pt x="478574" y="12489"/>
                </a:lnTo>
                <a:lnTo>
                  <a:pt x="525229" y="27475"/>
                </a:lnTo>
                <a:lnTo>
                  <a:pt x="568887" y="47734"/>
                </a:lnTo>
                <a:lnTo>
                  <a:pt x="609095" y="72848"/>
                </a:lnTo>
                <a:lnTo>
                  <a:pt x="645404" y="102401"/>
                </a:lnTo>
                <a:lnTo>
                  <a:pt x="677364" y="135975"/>
                </a:lnTo>
                <a:lnTo>
                  <a:pt x="704523" y="173155"/>
                </a:lnTo>
                <a:lnTo>
                  <a:pt x="726431" y="213522"/>
                </a:lnTo>
                <a:lnTo>
                  <a:pt x="742637" y="256661"/>
                </a:lnTo>
                <a:lnTo>
                  <a:pt x="752691" y="302155"/>
                </a:lnTo>
                <a:lnTo>
                  <a:pt x="756143" y="349586"/>
                </a:lnTo>
                <a:close/>
              </a:path>
            </a:pathLst>
          </a:custGeom>
          <a:ln w="372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029063" y="2311037"/>
            <a:ext cx="0" cy="699770"/>
          </a:xfrm>
          <a:custGeom>
            <a:avLst/>
            <a:gdLst/>
            <a:ahLst/>
            <a:cxnLst/>
            <a:rect l="l" t="t" r="r" b="b"/>
            <a:pathLst>
              <a:path h="699769">
                <a:moveTo>
                  <a:pt x="0" y="699173"/>
                </a:moveTo>
                <a:lnTo>
                  <a:pt x="0" y="0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407135" y="2311037"/>
            <a:ext cx="0" cy="699770"/>
          </a:xfrm>
          <a:custGeom>
            <a:avLst/>
            <a:gdLst/>
            <a:ahLst/>
            <a:cxnLst/>
            <a:rect l="l" t="t" r="r" b="b"/>
            <a:pathLst>
              <a:path h="699769">
                <a:moveTo>
                  <a:pt x="0" y="699173"/>
                </a:moveTo>
                <a:lnTo>
                  <a:pt x="0" y="0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218099" y="1611863"/>
            <a:ext cx="0" cy="699770"/>
          </a:xfrm>
          <a:custGeom>
            <a:avLst/>
            <a:gdLst/>
            <a:ahLst/>
            <a:cxnLst/>
            <a:rect l="l" t="t" r="r" b="b"/>
            <a:pathLst>
              <a:path h="699769">
                <a:moveTo>
                  <a:pt x="0" y="0"/>
                </a:moveTo>
                <a:lnTo>
                  <a:pt x="0" y="699173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840027" y="1856541"/>
            <a:ext cx="756285" cy="909319"/>
          </a:xfrm>
          <a:custGeom>
            <a:avLst/>
            <a:gdLst/>
            <a:ahLst/>
            <a:cxnLst/>
            <a:rect l="l" t="t" r="r" b="b"/>
            <a:pathLst>
              <a:path w="756284" h="909319">
                <a:moveTo>
                  <a:pt x="177" y="908875"/>
                </a:moveTo>
                <a:lnTo>
                  <a:pt x="0" y="908991"/>
                </a:lnTo>
                <a:lnTo>
                  <a:pt x="177" y="908991"/>
                </a:lnTo>
                <a:close/>
              </a:path>
              <a:path w="756284" h="909319">
                <a:moveTo>
                  <a:pt x="756143" y="782774"/>
                </a:moveTo>
                <a:lnTo>
                  <a:pt x="400923" y="782774"/>
                </a:lnTo>
                <a:lnTo>
                  <a:pt x="446447" y="786280"/>
                </a:lnTo>
                <a:lnTo>
                  <a:pt x="491832" y="793292"/>
                </a:lnTo>
                <a:lnTo>
                  <a:pt x="536988" y="803811"/>
                </a:lnTo>
                <a:lnTo>
                  <a:pt x="581824" y="817835"/>
                </a:lnTo>
                <a:lnTo>
                  <a:pt x="626248" y="835365"/>
                </a:lnTo>
                <a:lnTo>
                  <a:pt x="670170" y="856401"/>
                </a:lnTo>
                <a:lnTo>
                  <a:pt x="713499" y="880943"/>
                </a:lnTo>
                <a:lnTo>
                  <a:pt x="756143" y="908991"/>
                </a:lnTo>
                <a:lnTo>
                  <a:pt x="756143" y="782774"/>
                </a:lnTo>
                <a:close/>
              </a:path>
              <a:path w="756284" h="909319">
                <a:moveTo>
                  <a:pt x="378249" y="0"/>
                </a:moveTo>
                <a:lnTo>
                  <a:pt x="343722" y="21548"/>
                </a:lnTo>
                <a:lnTo>
                  <a:pt x="310341" y="46038"/>
                </a:lnTo>
                <a:lnTo>
                  <a:pt x="278171" y="73361"/>
                </a:lnTo>
                <a:lnTo>
                  <a:pt x="247278" y="103405"/>
                </a:lnTo>
                <a:lnTo>
                  <a:pt x="217729" y="136062"/>
                </a:lnTo>
                <a:lnTo>
                  <a:pt x="189588" y="171221"/>
                </a:lnTo>
                <a:lnTo>
                  <a:pt x="162922" y="208771"/>
                </a:lnTo>
                <a:lnTo>
                  <a:pt x="137797" y="248603"/>
                </a:lnTo>
                <a:lnTo>
                  <a:pt x="114279" y="290607"/>
                </a:lnTo>
                <a:lnTo>
                  <a:pt x="92434" y="334673"/>
                </a:lnTo>
                <a:lnTo>
                  <a:pt x="72327" y="380690"/>
                </a:lnTo>
                <a:lnTo>
                  <a:pt x="54024" y="428548"/>
                </a:lnTo>
                <a:lnTo>
                  <a:pt x="37592" y="478138"/>
                </a:lnTo>
                <a:lnTo>
                  <a:pt x="23097" y="529349"/>
                </a:lnTo>
                <a:lnTo>
                  <a:pt x="10603" y="582072"/>
                </a:lnTo>
                <a:lnTo>
                  <a:pt x="177" y="636195"/>
                </a:lnTo>
                <a:lnTo>
                  <a:pt x="177" y="908875"/>
                </a:lnTo>
                <a:lnTo>
                  <a:pt x="42673" y="880943"/>
                </a:lnTo>
                <a:lnTo>
                  <a:pt x="86028" y="856401"/>
                </a:lnTo>
                <a:lnTo>
                  <a:pt x="129972" y="835365"/>
                </a:lnTo>
                <a:lnTo>
                  <a:pt x="174415" y="817835"/>
                </a:lnTo>
                <a:lnTo>
                  <a:pt x="219265" y="803811"/>
                </a:lnTo>
                <a:lnTo>
                  <a:pt x="264432" y="793292"/>
                </a:lnTo>
                <a:lnTo>
                  <a:pt x="309825" y="786280"/>
                </a:lnTo>
                <a:lnTo>
                  <a:pt x="355352" y="782774"/>
                </a:lnTo>
                <a:lnTo>
                  <a:pt x="756143" y="782774"/>
                </a:lnTo>
                <a:lnTo>
                  <a:pt x="756143" y="636195"/>
                </a:lnTo>
                <a:lnTo>
                  <a:pt x="744722" y="578733"/>
                </a:lnTo>
                <a:lnTo>
                  <a:pt x="730999" y="522853"/>
                </a:lnTo>
                <a:lnTo>
                  <a:pt x="715049" y="468687"/>
                </a:lnTo>
                <a:lnTo>
                  <a:pt x="696952" y="416365"/>
                </a:lnTo>
                <a:lnTo>
                  <a:pt x="676784" y="366018"/>
                </a:lnTo>
                <a:lnTo>
                  <a:pt x="654622" y="317777"/>
                </a:lnTo>
                <a:lnTo>
                  <a:pt x="630545" y="271774"/>
                </a:lnTo>
                <a:lnTo>
                  <a:pt x="604629" y="228138"/>
                </a:lnTo>
                <a:lnTo>
                  <a:pt x="576952" y="187002"/>
                </a:lnTo>
                <a:lnTo>
                  <a:pt x="547592" y="148496"/>
                </a:lnTo>
                <a:lnTo>
                  <a:pt x="516625" y="112751"/>
                </a:lnTo>
                <a:lnTo>
                  <a:pt x="484130" y="79897"/>
                </a:lnTo>
                <a:lnTo>
                  <a:pt x="450184" y="50067"/>
                </a:lnTo>
                <a:lnTo>
                  <a:pt x="414865" y="23391"/>
                </a:lnTo>
                <a:lnTo>
                  <a:pt x="3782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840027" y="1856541"/>
            <a:ext cx="756285" cy="909319"/>
          </a:xfrm>
          <a:custGeom>
            <a:avLst/>
            <a:gdLst/>
            <a:ahLst/>
            <a:cxnLst/>
            <a:rect l="l" t="t" r="r" b="b"/>
            <a:pathLst>
              <a:path w="756284" h="909319">
                <a:moveTo>
                  <a:pt x="378249" y="0"/>
                </a:moveTo>
                <a:lnTo>
                  <a:pt x="414865" y="23391"/>
                </a:lnTo>
                <a:lnTo>
                  <a:pt x="450184" y="50067"/>
                </a:lnTo>
                <a:lnTo>
                  <a:pt x="484130" y="79897"/>
                </a:lnTo>
                <a:lnTo>
                  <a:pt x="516625" y="112751"/>
                </a:lnTo>
                <a:lnTo>
                  <a:pt x="547592" y="148496"/>
                </a:lnTo>
                <a:lnTo>
                  <a:pt x="576952" y="187002"/>
                </a:lnTo>
                <a:lnTo>
                  <a:pt x="604629" y="228138"/>
                </a:lnTo>
                <a:lnTo>
                  <a:pt x="630544" y="271774"/>
                </a:lnTo>
                <a:lnTo>
                  <a:pt x="654622" y="317777"/>
                </a:lnTo>
                <a:lnTo>
                  <a:pt x="676784" y="366018"/>
                </a:lnTo>
                <a:lnTo>
                  <a:pt x="696952" y="416365"/>
                </a:lnTo>
                <a:lnTo>
                  <a:pt x="715049" y="468687"/>
                </a:lnTo>
                <a:lnTo>
                  <a:pt x="730999" y="522853"/>
                </a:lnTo>
                <a:lnTo>
                  <a:pt x="744722" y="578733"/>
                </a:lnTo>
                <a:lnTo>
                  <a:pt x="756143" y="636195"/>
                </a:lnTo>
                <a:lnTo>
                  <a:pt x="756143" y="908991"/>
                </a:lnTo>
                <a:lnTo>
                  <a:pt x="713499" y="880943"/>
                </a:lnTo>
                <a:lnTo>
                  <a:pt x="670170" y="856401"/>
                </a:lnTo>
                <a:lnTo>
                  <a:pt x="626248" y="835365"/>
                </a:lnTo>
                <a:lnTo>
                  <a:pt x="581824" y="817835"/>
                </a:lnTo>
                <a:lnTo>
                  <a:pt x="536988" y="803810"/>
                </a:lnTo>
                <a:lnTo>
                  <a:pt x="491832" y="793292"/>
                </a:lnTo>
                <a:lnTo>
                  <a:pt x="446447" y="786280"/>
                </a:lnTo>
                <a:lnTo>
                  <a:pt x="400923" y="782774"/>
                </a:lnTo>
                <a:lnTo>
                  <a:pt x="355352" y="782774"/>
                </a:lnTo>
                <a:lnTo>
                  <a:pt x="309825" y="786280"/>
                </a:lnTo>
                <a:lnTo>
                  <a:pt x="264432" y="793292"/>
                </a:lnTo>
                <a:lnTo>
                  <a:pt x="219265" y="803810"/>
                </a:lnTo>
                <a:lnTo>
                  <a:pt x="174415" y="817835"/>
                </a:lnTo>
                <a:lnTo>
                  <a:pt x="129972" y="835365"/>
                </a:lnTo>
                <a:lnTo>
                  <a:pt x="86028" y="856401"/>
                </a:lnTo>
                <a:lnTo>
                  <a:pt x="42673" y="880943"/>
                </a:lnTo>
                <a:lnTo>
                  <a:pt x="0" y="908991"/>
                </a:lnTo>
                <a:lnTo>
                  <a:pt x="177" y="908991"/>
                </a:lnTo>
                <a:lnTo>
                  <a:pt x="177" y="636195"/>
                </a:lnTo>
                <a:lnTo>
                  <a:pt x="10603" y="582072"/>
                </a:lnTo>
                <a:lnTo>
                  <a:pt x="23097" y="529349"/>
                </a:lnTo>
                <a:lnTo>
                  <a:pt x="37592" y="478138"/>
                </a:lnTo>
                <a:lnTo>
                  <a:pt x="54024" y="428548"/>
                </a:lnTo>
                <a:lnTo>
                  <a:pt x="72327" y="380690"/>
                </a:lnTo>
                <a:lnTo>
                  <a:pt x="92434" y="334673"/>
                </a:lnTo>
                <a:lnTo>
                  <a:pt x="114279" y="290607"/>
                </a:lnTo>
                <a:lnTo>
                  <a:pt x="137797" y="248603"/>
                </a:lnTo>
                <a:lnTo>
                  <a:pt x="162922" y="208771"/>
                </a:lnTo>
                <a:lnTo>
                  <a:pt x="189588" y="171221"/>
                </a:lnTo>
                <a:lnTo>
                  <a:pt x="217729" y="136062"/>
                </a:lnTo>
                <a:lnTo>
                  <a:pt x="247278" y="103405"/>
                </a:lnTo>
                <a:lnTo>
                  <a:pt x="278171" y="73361"/>
                </a:lnTo>
                <a:lnTo>
                  <a:pt x="310341" y="46038"/>
                </a:lnTo>
                <a:lnTo>
                  <a:pt x="343722" y="21548"/>
                </a:lnTo>
                <a:lnTo>
                  <a:pt x="378249" y="0"/>
                </a:lnTo>
                <a:close/>
              </a:path>
            </a:pathLst>
          </a:custGeom>
          <a:ln w="372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596171" y="2765533"/>
            <a:ext cx="126364" cy="245110"/>
          </a:xfrm>
          <a:custGeom>
            <a:avLst/>
            <a:gdLst/>
            <a:ahLst/>
            <a:cxnLst/>
            <a:rect l="l" t="t" r="r" b="b"/>
            <a:pathLst>
              <a:path w="126365" h="245110">
                <a:moveTo>
                  <a:pt x="0" y="0"/>
                </a:moveTo>
                <a:lnTo>
                  <a:pt x="126083" y="0"/>
                </a:lnTo>
                <a:lnTo>
                  <a:pt x="126083" y="244678"/>
                </a:lnTo>
              </a:path>
            </a:pathLst>
          </a:custGeom>
          <a:ln w="378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714122" y="2765533"/>
            <a:ext cx="126364" cy="245110"/>
          </a:xfrm>
          <a:custGeom>
            <a:avLst/>
            <a:gdLst/>
            <a:ahLst/>
            <a:cxnLst/>
            <a:rect l="l" t="t" r="r" b="b"/>
            <a:pathLst>
              <a:path w="126365" h="245110">
                <a:moveTo>
                  <a:pt x="126083" y="0"/>
                </a:moveTo>
                <a:lnTo>
                  <a:pt x="0" y="0"/>
                </a:lnTo>
                <a:lnTo>
                  <a:pt x="0" y="244678"/>
                </a:lnTo>
              </a:path>
            </a:pathLst>
          </a:custGeom>
          <a:ln w="378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43066" y="1736109"/>
            <a:ext cx="150244" cy="14170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840205" y="1856541"/>
            <a:ext cx="756285" cy="909319"/>
          </a:xfrm>
          <a:custGeom>
            <a:avLst/>
            <a:gdLst/>
            <a:ahLst/>
            <a:cxnLst/>
            <a:rect l="l" t="t" r="r" b="b"/>
            <a:pathLst>
              <a:path w="756284" h="909319">
                <a:moveTo>
                  <a:pt x="377893" y="0"/>
                </a:moveTo>
                <a:lnTo>
                  <a:pt x="326597" y="3191"/>
                </a:lnTo>
                <a:lnTo>
                  <a:pt x="277397" y="12489"/>
                </a:lnTo>
                <a:lnTo>
                  <a:pt x="230745" y="27475"/>
                </a:lnTo>
                <a:lnTo>
                  <a:pt x="187092" y="47734"/>
                </a:lnTo>
                <a:lnTo>
                  <a:pt x="146890" y="72848"/>
                </a:lnTo>
                <a:lnTo>
                  <a:pt x="110589" y="102401"/>
                </a:lnTo>
                <a:lnTo>
                  <a:pt x="78641" y="135975"/>
                </a:lnTo>
                <a:lnTo>
                  <a:pt x="51498" y="173155"/>
                </a:lnTo>
                <a:lnTo>
                  <a:pt x="29611" y="213522"/>
                </a:lnTo>
                <a:lnTo>
                  <a:pt x="13432" y="256661"/>
                </a:lnTo>
                <a:lnTo>
                  <a:pt x="3411" y="302155"/>
                </a:lnTo>
                <a:lnTo>
                  <a:pt x="0" y="349586"/>
                </a:lnTo>
                <a:lnTo>
                  <a:pt x="0" y="908991"/>
                </a:lnTo>
                <a:lnTo>
                  <a:pt x="755965" y="908991"/>
                </a:lnTo>
                <a:lnTo>
                  <a:pt x="755965" y="349586"/>
                </a:lnTo>
                <a:lnTo>
                  <a:pt x="752517" y="302155"/>
                </a:lnTo>
                <a:lnTo>
                  <a:pt x="742470" y="256661"/>
                </a:lnTo>
                <a:lnTo>
                  <a:pt x="726275" y="213522"/>
                </a:lnTo>
                <a:lnTo>
                  <a:pt x="704381" y="173155"/>
                </a:lnTo>
                <a:lnTo>
                  <a:pt x="677235" y="135975"/>
                </a:lnTo>
                <a:lnTo>
                  <a:pt x="645287" y="102401"/>
                </a:lnTo>
                <a:lnTo>
                  <a:pt x="608986" y="72848"/>
                </a:lnTo>
                <a:lnTo>
                  <a:pt x="568780" y="47734"/>
                </a:lnTo>
                <a:lnTo>
                  <a:pt x="525119" y="27475"/>
                </a:lnTo>
                <a:lnTo>
                  <a:pt x="478452" y="12489"/>
                </a:lnTo>
                <a:lnTo>
                  <a:pt x="429227" y="3191"/>
                </a:lnTo>
                <a:lnTo>
                  <a:pt x="3778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840205" y="1856541"/>
            <a:ext cx="756285" cy="909319"/>
          </a:xfrm>
          <a:custGeom>
            <a:avLst/>
            <a:gdLst/>
            <a:ahLst/>
            <a:cxnLst/>
            <a:rect l="l" t="t" r="r" b="b"/>
            <a:pathLst>
              <a:path w="756284" h="909319">
                <a:moveTo>
                  <a:pt x="755965" y="349586"/>
                </a:moveTo>
                <a:lnTo>
                  <a:pt x="755965" y="908991"/>
                </a:lnTo>
                <a:lnTo>
                  <a:pt x="0" y="908991"/>
                </a:lnTo>
                <a:lnTo>
                  <a:pt x="0" y="349586"/>
                </a:lnTo>
                <a:lnTo>
                  <a:pt x="3411" y="302155"/>
                </a:lnTo>
                <a:lnTo>
                  <a:pt x="13432" y="256661"/>
                </a:lnTo>
                <a:lnTo>
                  <a:pt x="29611" y="213522"/>
                </a:lnTo>
                <a:lnTo>
                  <a:pt x="51498" y="173155"/>
                </a:lnTo>
                <a:lnTo>
                  <a:pt x="78641" y="135975"/>
                </a:lnTo>
                <a:lnTo>
                  <a:pt x="110589" y="102401"/>
                </a:lnTo>
                <a:lnTo>
                  <a:pt x="146890" y="72848"/>
                </a:lnTo>
                <a:lnTo>
                  <a:pt x="187092" y="47734"/>
                </a:lnTo>
                <a:lnTo>
                  <a:pt x="230745" y="27475"/>
                </a:lnTo>
                <a:lnTo>
                  <a:pt x="277397" y="12489"/>
                </a:lnTo>
                <a:lnTo>
                  <a:pt x="326597" y="3191"/>
                </a:lnTo>
                <a:lnTo>
                  <a:pt x="377893" y="0"/>
                </a:lnTo>
                <a:lnTo>
                  <a:pt x="429227" y="3191"/>
                </a:lnTo>
                <a:lnTo>
                  <a:pt x="478452" y="12489"/>
                </a:lnTo>
                <a:lnTo>
                  <a:pt x="525119" y="27475"/>
                </a:lnTo>
                <a:lnTo>
                  <a:pt x="568780" y="47734"/>
                </a:lnTo>
                <a:lnTo>
                  <a:pt x="608985" y="72848"/>
                </a:lnTo>
                <a:lnTo>
                  <a:pt x="645287" y="102401"/>
                </a:lnTo>
                <a:lnTo>
                  <a:pt x="677235" y="135975"/>
                </a:lnTo>
                <a:lnTo>
                  <a:pt x="704381" y="173155"/>
                </a:lnTo>
                <a:lnTo>
                  <a:pt x="726275" y="213522"/>
                </a:lnTo>
                <a:lnTo>
                  <a:pt x="742470" y="256661"/>
                </a:lnTo>
                <a:lnTo>
                  <a:pt x="752517" y="302155"/>
                </a:lnTo>
                <a:lnTo>
                  <a:pt x="755965" y="349586"/>
                </a:lnTo>
                <a:close/>
              </a:path>
            </a:pathLst>
          </a:custGeom>
          <a:ln w="372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695813" y="3131399"/>
            <a:ext cx="0" cy="507365"/>
          </a:xfrm>
          <a:custGeom>
            <a:avLst/>
            <a:gdLst/>
            <a:ahLst/>
            <a:cxnLst/>
            <a:rect l="l" t="t" r="r" b="b"/>
            <a:pathLst>
              <a:path h="507364">
                <a:moveTo>
                  <a:pt x="0" y="506950"/>
                </a:moveTo>
                <a:lnTo>
                  <a:pt x="0" y="0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695813" y="3131399"/>
            <a:ext cx="2003425" cy="0"/>
          </a:xfrm>
          <a:custGeom>
            <a:avLst/>
            <a:gdLst/>
            <a:ahLst/>
            <a:cxnLst/>
            <a:rect l="l" t="t" r="r" b="b"/>
            <a:pathLst>
              <a:path w="2003425">
                <a:moveTo>
                  <a:pt x="0" y="0"/>
                </a:moveTo>
                <a:lnTo>
                  <a:pt x="2003193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720298" y="2781812"/>
            <a:ext cx="0" cy="856615"/>
          </a:xfrm>
          <a:custGeom>
            <a:avLst/>
            <a:gdLst/>
            <a:ahLst/>
            <a:cxnLst/>
            <a:rect l="l" t="t" r="r" b="b"/>
            <a:pathLst>
              <a:path h="856614">
                <a:moveTo>
                  <a:pt x="0" y="856537"/>
                </a:moveTo>
                <a:lnTo>
                  <a:pt x="0" y="0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714122" y="2770137"/>
            <a:ext cx="0" cy="361315"/>
          </a:xfrm>
          <a:custGeom>
            <a:avLst/>
            <a:gdLst/>
            <a:ahLst/>
            <a:cxnLst/>
            <a:rect l="l" t="t" r="r" b="b"/>
            <a:pathLst>
              <a:path h="361314">
                <a:moveTo>
                  <a:pt x="0" y="0"/>
                </a:moveTo>
                <a:lnTo>
                  <a:pt x="0" y="361261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029064" y="2764382"/>
            <a:ext cx="0" cy="483870"/>
          </a:xfrm>
          <a:custGeom>
            <a:avLst/>
            <a:gdLst/>
            <a:ahLst/>
            <a:cxnLst/>
            <a:rect l="l" t="t" r="r" b="b"/>
            <a:pathLst>
              <a:path h="483869">
                <a:moveTo>
                  <a:pt x="0" y="0"/>
                </a:moveTo>
                <a:lnTo>
                  <a:pt x="0" y="483600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407135" y="2770137"/>
            <a:ext cx="0" cy="594360"/>
          </a:xfrm>
          <a:custGeom>
            <a:avLst/>
            <a:gdLst/>
            <a:ahLst/>
            <a:cxnLst/>
            <a:rect l="l" t="t" r="r" b="b"/>
            <a:pathLst>
              <a:path h="594360">
                <a:moveTo>
                  <a:pt x="0" y="0"/>
                </a:moveTo>
                <a:lnTo>
                  <a:pt x="0" y="594264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216321" y="3364402"/>
            <a:ext cx="0" cy="285750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285457"/>
                </a:moveTo>
                <a:lnTo>
                  <a:pt x="0" y="0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208011" y="3247983"/>
            <a:ext cx="0" cy="401955"/>
          </a:xfrm>
          <a:custGeom>
            <a:avLst/>
            <a:gdLst/>
            <a:ahLst/>
            <a:cxnLst/>
            <a:rect l="l" t="t" r="r" b="b"/>
            <a:pathLst>
              <a:path h="401954">
                <a:moveTo>
                  <a:pt x="0" y="401877"/>
                </a:moveTo>
                <a:lnTo>
                  <a:pt x="0" y="0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216321" y="3364402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4">
                <a:moveTo>
                  <a:pt x="0" y="0"/>
                </a:moveTo>
                <a:lnTo>
                  <a:pt x="190814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208011" y="3247983"/>
            <a:ext cx="821055" cy="0"/>
          </a:xfrm>
          <a:custGeom>
            <a:avLst/>
            <a:gdLst/>
            <a:ahLst/>
            <a:cxnLst/>
            <a:rect l="l" t="t" r="r" b="b"/>
            <a:pathLst>
              <a:path w="821054">
                <a:moveTo>
                  <a:pt x="0" y="0"/>
                </a:moveTo>
                <a:lnTo>
                  <a:pt x="821052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712166" y="3370322"/>
            <a:ext cx="0" cy="274320"/>
          </a:xfrm>
          <a:custGeom>
            <a:avLst/>
            <a:gdLst/>
            <a:ahLst/>
            <a:cxnLst/>
            <a:rect l="l" t="t" r="r" b="b"/>
            <a:pathLst>
              <a:path h="274320">
                <a:moveTo>
                  <a:pt x="0" y="273782"/>
                </a:moveTo>
                <a:lnTo>
                  <a:pt x="0" y="0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703998" y="2781812"/>
            <a:ext cx="0" cy="850900"/>
          </a:xfrm>
          <a:custGeom>
            <a:avLst/>
            <a:gdLst/>
            <a:ahLst/>
            <a:cxnLst/>
            <a:rect l="l" t="t" r="r" b="b"/>
            <a:pathLst>
              <a:path h="850900">
                <a:moveTo>
                  <a:pt x="0" y="850617"/>
                </a:moveTo>
                <a:lnTo>
                  <a:pt x="0" y="0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010256" y="2775892"/>
            <a:ext cx="0" cy="355600"/>
          </a:xfrm>
          <a:custGeom>
            <a:avLst/>
            <a:gdLst/>
            <a:ahLst/>
            <a:cxnLst/>
            <a:rect l="l" t="t" r="r" b="b"/>
            <a:pathLst>
              <a:path h="355600">
                <a:moveTo>
                  <a:pt x="0" y="0"/>
                </a:moveTo>
                <a:lnTo>
                  <a:pt x="0" y="355506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99897" y="3247983"/>
            <a:ext cx="0" cy="245745"/>
          </a:xfrm>
          <a:custGeom>
            <a:avLst/>
            <a:gdLst/>
            <a:ahLst/>
            <a:cxnLst/>
            <a:rect l="l" t="t" r="r" b="b"/>
            <a:pathLst>
              <a:path h="245745">
                <a:moveTo>
                  <a:pt x="0" y="245335"/>
                </a:moveTo>
                <a:lnTo>
                  <a:pt x="0" y="0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325322" y="2787567"/>
            <a:ext cx="0" cy="461009"/>
          </a:xfrm>
          <a:custGeom>
            <a:avLst/>
            <a:gdLst/>
            <a:ahLst/>
            <a:cxnLst/>
            <a:rect l="l" t="t" r="r" b="b"/>
            <a:pathLst>
              <a:path h="461010">
                <a:moveTo>
                  <a:pt x="0" y="0"/>
                </a:moveTo>
                <a:lnTo>
                  <a:pt x="0" y="460415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199897" y="3247983"/>
            <a:ext cx="125730" cy="0"/>
          </a:xfrm>
          <a:custGeom>
            <a:avLst/>
            <a:gdLst/>
            <a:ahLst/>
            <a:cxnLst/>
            <a:rect l="l" t="t" r="r" b="b"/>
            <a:pathLst>
              <a:path w="125729">
                <a:moveTo>
                  <a:pt x="0" y="0"/>
                </a:moveTo>
                <a:lnTo>
                  <a:pt x="125425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018442" y="2781812"/>
            <a:ext cx="0" cy="582930"/>
          </a:xfrm>
          <a:custGeom>
            <a:avLst/>
            <a:gdLst/>
            <a:ahLst/>
            <a:cxnLst/>
            <a:rect l="l" t="t" r="r" b="b"/>
            <a:pathLst>
              <a:path h="582929">
                <a:moveTo>
                  <a:pt x="0" y="0"/>
                </a:moveTo>
                <a:lnTo>
                  <a:pt x="0" y="582590"/>
                </a:lnTo>
              </a:path>
            </a:pathLst>
          </a:custGeom>
          <a:ln w="38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018442" y="3364402"/>
            <a:ext cx="694055" cy="0"/>
          </a:xfrm>
          <a:custGeom>
            <a:avLst/>
            <a:gdLst/>
            <a:ahLst/>
            <a:cxnLst/>
            <a:rect l="l" t="t" r="r" b="b"/>
            <a:pathLst>
              <a:path w="694054">
                <a:moveTo>
                  <a:pt x="0" y="0"/>
                </a:moveTo>
                <a:lnTo>
                  <a:pt x="693724" y="0"/>
                </a:lnTo>
              </a:path>
            </a:pathLst>
          </a:custGeom>
          <a:ln w="355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6282278" y="1235766"/>
            <a:ext cx="716280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125" i="1" spc="44" baseline="7070" dirty="0">
                <a:latin typeface="华文楷体"/>
                <a:cs typeface="华文楷体"/>
              </a:rPr>
              <a:t>C</a:t>
            </a:r>
            <a:r>
              <a:rPr sz="4125" i="1" spc="-75" baseline="7070" dirty="0">
                <a:latin typeface="华文楷体"/>
                <a:cs typeface="华文楷体"/>
              </a:rPr>
              <a:t> </a:t>
            </a:r>
            <a:r>
              <a:rPr sz="1700" spc="75" dirty="0">
                <a:latin typeface="华文楷体"/>
                <a:cs typeface="华文楷体"/>
              </a:rPr>
              <a:t>i+1</a:t>
            </a:r>
            <a:endParaRPr sz="1700">
              <a:latin typeface="华文楷体"/>
              <a:cs typeface="华文楷体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113</a:t>
            </a:r>
            <a:endParaRPr sz="10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058006" y="1189725"/>
            <a:ext cx="391160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50" i="1" spc="20" dirty="0">
                <a:latin typeface="华文楷体"/>
                <a:cs typeface="华文楷体"/>
              </a:rPr>
              <a:t>S</a:t>
            </a:r>
            <a:r>
              <a:rPr sz="2750" i="1" spc="-50" dirty="0">
                <a:latin typeface="华文楷体"/>
                <a:cs typeface="华文楷体"/>
              </a:rPr>
              <a:t> </a:t>
            </a:r>
            <a:r>
              <a:rPr sz="2550" spc="52" baseline="-11437" dirty="0">
                <a:latin typeface="华文楷体"/>
                <a:cs typeface="华文楷体"/>
              </a:rPr>
              <a:t>i</a:t>
            </a:r>
            <a:endParaRPr sz="2550" baseline="-11437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4040" y="402412"/>
            <a:ext cx="86779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64575" algn="l"/>
              </a:tabLst>
            </a:pP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用二进制译码器构成各</a:t>
            </a:r>
            <a:r>
              <a:rPr sz="3200" u="heavy" spc="-30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种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BC</a:t>
            </a:r>
            <a:r>
              <a:rPr sz="3200" u="heavy" spc="-1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D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译</a:t>
            </a:r>
            <a:r>
              <a:rPr sz="3200" u="heavy" spc="-1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码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器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	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1710944" y="1210061"/>
            <a:ext cx="4319270" cy="3390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>
              <a:lnSpc>
                <a:spcPct val="150000"/>
              </a:lnSpc>
              <a:spcBef>
                <a:spcPts val="95"/>
              </a:spcBef>
            </a:pP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任何一种BCD码通过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4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线-  </a:t>
            </a:r>
            <a:r>
              <a:rPr sz="2800" spc="-10" dirty="0">
                <a:solidFill>
                  <a:srgbClr val="7E4D00"/>
                </a:solidFill>
                <a:latin typeface="华文楷体"/>
                <a:cs typeface="华文楷体"/>
              </a:rPr>
              <a:t>16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线译码器进行译码。</a:t>
            </a:r>
            <a:endParaRPr sz="2800" dirty="0">
              <a:latin typeface="华文楷体"/>
              <a:cs typeface="华文楷体"/>
            </a:endParaRPr>
          </a:p>
          <a:p>
            <a:pPr marL="12700" marR="33655" indent="457200">
              <a:lnSpc>
                <a:spcPct val="150000"/>
              </a:lnSpc>
              <a:spcBef>
                <a:spcPts val="1300"/>
              </a:spcBef>
            </a:pP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74LS154为</a:t>
            </a:r>
            <a:r>
              <a:rPr sz="2800" spc="-10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4</a:t>
            </a:r>
            <a:r>
              <a:rPr sz="2800" spc="-5" dirty="0">
                <a:solidFill>
                  <a:srgbClr val="7E4D00"/>
                </a:solidFill>
                <a:highlight>
                  <a:srgbClr val="FFFF00"/>
                </a:highlight>
                <a:latin typeface="华文楷体"/>
                <a:cs typeface="华文楷体"/>
              </a:rPr>
              <a:t>线-16线译码 器，输入原码、输出低电平 有效。</a:t>
            </a:r>
            <a:endParaRPr sz="2800" dirty="0">
              <a:highlight>
                <a:srgbClr val="FFFF00"/>
              </a:highlight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06113" y="1960468"/>
            <a:ext cx="357505" cy="0"/>
          </a:xfrm>
          <a:custGeom>
            <a:avLst/>
            <a:gdLst/>
            <a:ahLst/>
            <a:cxnLst/>
            <a:rect l="l" t="t" r="r" b="b"/>
            <a:pathLst>
              <a:path w="357504">
                <a:moveTo>
                  <a:pt x="357287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31557" y="2535047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9121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518835" y="3081378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4">
                <a:moveTo>
                  <a:pt x="344565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18835" y="3655957"/>
            <a:ext cx="357505" cy="0"/>
          </a:xfrm>
          <a:custGeom>
            <a:avLst/>
            <a:gdLst/>
            <a:ahLst/>
            <a:cxnLst/>
            <a:rect l="l" t="t" r="r" b="b"/>
            <a:pathLst>
              <a:path w="357504">
                <a:moveTo>
                  <a:pt x="357287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18835" y="1677832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4">
                <a:moveTo>
                  <a:pt x="344565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518835" y="2242939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4">
                <a:moveTo>
                  <a:pt x="344565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44100" y="2808213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9301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18835" y="3373486"/>
            <a:ext cx="332105" cy="0"/>
          </a:xfrm>
          <a:custGeom>
            <a:avLst/>
            <a:gdLst/>
            <a:ahLst/>
            <a:cxnLst/>
            <a:rect l="l" t="t" r="r" b="b"/>
            <a:pathLst>
              <a:path w="332104">
                <a:moveTo>
                  <a:pt x="331843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84165" y="1429259"/>
            <a:ext cx="1524000" cy="4946015"/>
          </a:xfrm>
          <a:custGeom>
            <a:avLst/>
            <a:gdLst/>
            <a:ahLst/>
            <a:cxnLst/>
            <a:rect l="l" t="t" r="r" b="b"/>
            <a:pathLst>
              <a:path w="1524000" h="4946015">
                <a:moveTo>
                  <a:pt x="0" y="4945561"/>
                </a:moveTo>
                <a:lnTo>
                  <a:pt x="1523740" y="4945561"/>
                </a:lnTo>
                <a:lnTo>
                  <a:pt x="1523739" y="0"/>
                </a:lnTo>
                <a:lnTo>
                  <a:pt x="0" y="0"/>
                </a:lnTo>
                <a:lnTo>
                  <a:pt x="0" y="4945561"/>
                </a:lnTo>
                <a:close/>
              </a:path>
            </a:pathLst>
          </a:custGeom>
          <a:ln w="384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513088" y="3565528"/>
            <a:ext cx="164157" cy="1549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500185" y="1599033"/>
            <a:ext cx="164159" cy="1551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500185" y="1881669"/>
            <a:ext cx="164159" cy="1551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500187" y="2164307"/>
            <a:ext cx="164157" cy="1549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500186" y="2446777"/>
            <a:ext cx="164159" cy="1551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500186" y="2729414"/>
            <a:ext cx="164159" cy="1551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500186" y="3012050"/>
            <a:ext cx="164159" cy="1551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500187" y="3294688"/>
            <a:ext cx="164157" cy="1549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137842" y="1570659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0" y="0"/>
                </a:moveTo>
                <a:lnTo>
                  <a:pt x="279397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137842" y="1853130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0" y="0"/>
                </a:moveTo>
                <a:lnTo>
                  <a:pt x="279397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137842" y="2135766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0" y="0"/>
                </a:moveTo>
                <a:lnTo>
                  <a:pt x="279397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137842" y="2418403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0" y="0"/>
                </a:moveTo>
                <a:lnTo>
                  <a:pt x="279397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137842" y="2701040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0" y="0"/>
                </a:moveTo>
                <a:lnTo>
                  <a:pt x="279397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137842" y="2983677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0" y="0"/>
                </a:moveTo>
                <a:lnTo>
                  <a:pt x="279397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137842" y="3266147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0" y="0"/>
                </a:moveTo>
                <a:lnTo>
                  <a:pt x="279397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137842" y="3548784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0" y="0"/>
                </a:moveTo>
                <a:lnTo>
                  <a:pt x="279397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568022" y="3076315"/>
            <a:ext cx="501650" cy="15106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785"/>
              </a:lnSpc>
            </a:pPr>
            <a:r>
              <a:rPr sz="3350" b="1" dirty="0">
                <a:solidFill>
                  <a:srgbClr val="FF0000"/>
                </a:solidFill>
                <a:latin typeface="Times New Roman"/>
                <a:cs typeface="Times New Roman"/>
              </a:rPr>
              <a:t>74LS154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521882" y="3938593"/>
            <a:ext cx="357505" cy="0"/>
          </a:xfrm>
          <a:custGeom>
            <a:avLst/>
            <a:gdLst/>
            <a:ahLst/>
            <a:cxnLst/>
            <a:rect l="l" t="t" r="r" b="b"/>
            <a:pathLst>
              <a:path w="357504">
                <a:moveTo>
                  <a:pt x="357287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47146" y="4513172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9301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534603" y="5059603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4">
                <a:moveTo>
                  <a:pt x="344565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34603" y="5634215"/>
            <a:ext cx="357505" cy="0"/>
          </a:xfrm>
          <a:custGeom>
            <a:avLst/>
            <a:gdLst/>
            <a:ahLst/>
            <a:cxnLst/>
            <a:rect l="l" t="t" r="r" b="b"/>
            <a:pathLst>
              <a:path w="357504">
                <a:moveTo>
                  <a:pt x="357287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534603" y="4221230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4">
                <a:moveTo>
                  <a:pt x="344565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59868" y="4786421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9301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534603" y="5351611"/>
            <a:ext cx="332105" cy="0"/>
          </a:xfrm>
          <a:custGeom>
            <a:avLst/>
            <a:gdLst/>
            <a:ahLst/>
            <a:cxnLst/>
            <a:rect l="l" t="t" r="r" b="b"/>
            <a:pathLst>
              <a:path w="332104">
                <a:moveTo>
                  <a:pt x="331843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514700" y="5555466"/>
            <a:ext cx="164158" cy="15505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515954" y="3859795"/>
            <a:ext cx="164159" cy="1551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515954" y="4142431"/>
            <a:ext cx="164159" cy="1551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515954" y="4425068"/>
            <a:ext cx="164159" cy="1551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515955" y="4707705"/>
            <a:ext cx="164157" cy="1550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515954" y="4990258"/>
            <a:ext cx="164158" cy="15505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515954" y="5272862"/>
            <a:ext cx="164158" cy="15505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53592" y="3831421"/>
            <a:ext cx="280035" cy="0"/>
          </a:xfrm>
          <a:custGeom>
            <a:avLst/>
            <a:gdLst/>
            <a:ahLst/>
            <a:cxnLst/>
            <a:rect l="l" t="t" r="r" b="b"/>
            <a:pathLst>
              <a:path w="280034">
                <a:moveTo>
                  <a:pt x="0" y="0"/>
                </a:moveTo>
                <a:lnTo>
                  <a:pt x="279415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153593" y="4114057"/>
            <a:ext cx="280035" cy="0"/>
          </a:xfrm>
          <a:custGeom>
            <a:avLst/>
            <a:gdLst/>
            <a:ahLst/>
            <a:cxnLst/>
            <a:rect l="l" t="t" r="r" b="b"/>
            <a:pathLst>
              <a:path w="280034">
                <a:moveTo>
                  <a:pt x="0" y="0"/>
                </a:moveTo>
                <a:lnTo>
                  <a:pt x="279415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153593" y="4396694"/>
            <a:ext cx="280035" cy="0"/>
          </a:xfrm>
          <a:custGeom>
            <a:avLst/>
            <a:gdLst/>
            <a:ahLst/>
            <a:cxnLst/>
            <a:rect l="l" t="t" r="r" b="b"/>
            <a:pathLst>
              <a:path w="280034">
                <a:moveTo>
                  <a:pt x="0" y="0"/>
                </a:moveTo>
                <a:lnTo>
                  <a:pt x="279415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153593" y="4679165"/>
            <a:ext cx="280035" cy="0"/>
          </a:xfrm>
          <a:custGeom>
            <a:avLst/>
            <a:gdLst/>
            <a:ahLst/>
            <a:cxnLst/>
            <a:rect l="l" t="t" r="r" b="b"/>
            <a:pathLst>
              <a:path w="280034">
                <a:moveTo>
                  <a:pt x="0" y="0"/>
                </a:moveTo>
                <a:lnTo>
                  <a:pt x="279415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153593" y="4961818"/>
            <a:ext cx="280035" cy="0"/>
          </a:xfrm>
          <a:custGeom>
            <a:avLst/>
            <a:gdLst/>
            <a:ahLst/>
            <a:cxnLst/>
            <a:rect l="l" t="t" r="r" b="b"/>
            <a:pathLst>
              <a:path w="280034">
                <a:moveTo>
                  <a:pt x="0" y="0"/>
                </a:moveTo>
                <a:lnTo>
                  <a:pt x="279415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153593" y="5244422"/>
            <a:ext cx="280035" cy="0"/>
          </a:xfrm>
          <a:custGeom>
            <a:avLst/>
            <a:gdLst/>
            <a:ahLst/>
            <a:cxnLst/>
            <a:rect l="l" t="t" r="r" b="b"/>
            <a:pathLst>
              <a:path w="280034">
                <a:moveTo>
                  <a:pt x="0" y="0"/>
                </a:moveTo>
                <a:lnTo>
                  <a:pt x="279415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153593" y="5527009"/>
            <a:ext cx="280035" cy="0"/>
          </a:xfrm>
          <a:custGeom>
            <a:avLst/>
            <a:gdLst/>
            <a:ahLst/>
            <a:cxnLst/>
            <a:rect l="l" t="t" r="r" b="b"/>
            <a:pathLst>
              <a:path w="280034">
                <a:moveTo>
                  <a:pt x="0" y="0"/>
                </a:moveTo>
                <a:lnTo>
                  <a:pt x="279415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532453" y="5916818"/>
            <a:ext cx="357505" cy="0"/>
          </a:xfrm>
          <a:custGeom>
            <a:avLst/>
            <a:gdLst/>
            <a:ahLst/>
            <a:cxnLst/>
            <a:rect l="l" t="t" r="r" b="b"/>
            <a:pathLst>
              <a:path w="357504">
                <a:moveTo>
                  <a:pt x="357287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526705" y="5838069"/>
            <a:ext cx="164158" cy="15505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8033835" y="1496448"/>
            <a:ext cx="460375" cy="4641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4775">
              <a:lnSpc>
                <a:spcPts val="2435"/>
              </a:lnSpc>
              <a:spcBef>
                <a:spcPts val="125"/>
              </a:spcBef>
            </a:pPr>
            <a:r>
              <a:rPr sz="2200" i="1" spc="30" dirty="0">
                <a:latin typeface="华文楷体"/>
                <a:cs typeface="华文楷体"/>
              </a:rPr>
              <a:t>F</a:t>
            </a:r>
            <a:r>
              <a:rPr sz="2200" i="1" spc="-265" dirty="0">
                <a:latin typeface="华文楷体"/>
                <a:cs typeface="华文楷体"/>
              </a:rPr>
              <a:t> </a:t>
            </a:r>
            <a:r>
              <a:rPr sz="2100" spc="67" baseline="-11904" dirty="0">
                <a:latin typeface="华文楷体"/>
                <a:cs typeface="华文楷体"/>
              </a:rPr>
              <a:t>0</a:t>
            </a:r>
            <a:endParaRPr sz="2100" baseline="-11904">
              <a:latin typeface="华文楷体"/>
              <a:cs typeface="华文楷体"/>
            </a:endParaRPr>
          </a:p>
          <a:p>
            <a:pPr marL="106045">
              <a:lnSpc>
                <a:spcPts val="2225"/>
              </a:lnSpc>
            </a:pPr>
            <a:r>
              <a:rPr sz="2200" i="1" spc="30" dirty="0">
                <a:latin typeface="华文楷体"/>
                <a:cs typeface="华文楷体"/>
              </a:rPr>
              <a:t>F</a:t>
            </a:r>
            <a:r>
              <a:rPr sz="2200" i="1" spc="-265" dirty="0">
                <a:latin typeface="华文楷体"/>
                <a:cs typeface="华文楷体"/>
              </a:rPr>
              <a:t> </a:t>
            </a:r>
            <a:r>
              <a:rPr sz="2100" spc="67" baseline="-11904" dirty="0">
                <a:latin typeface="华文楷体"/>
                <a:cs typeface="华文楷体"/>
              </a:rPr>
              <a:t>1</a:t>
            </a:r>
            <a:endParaRPr sz="2100" baseline="-11904">
              <a:latin typeface="华文楷体"/>
              <a:cs typeface="华文楷体"/>
            </a:endParaRPr>
          </a:p>
          <a:p>
            <a:pPr marL="104775">
              <a:lnSpc>
                <a:spcPts val="2225"/>
              </a:lnSpc>
            </a:pPr>
            <a:r>
              <a:rPr sz="2200" i="1" spc="30" dirty="0">
                <a:latin typeface="华文楷体"/>
                <a:cs typeface="华文楷体"/>
              </a:rPr>
              <a:t>F</a:t>
            </a:r>
            <a:r>
              <a:rPr sz="2200" i="1" spc="-265" dirty="0">
                <a:latin typeface="华文楷体"/>
                <a:cs typeface="华文楷体"/>
              </a:rPr>
              <a:t> </a:t>
            </a:r>
            <a:r>
              <a:rPr sz="2100" spc="67" baseline="-11904" dirty="0">
                <a:latin typeface="华文楷体"/>
                <a:cs typeface="华文楷体"/>
              </a:rPr>
              <a:t>2</a:t>
            </a:r>
            <a:endParaRPr sz="2100" baseline="-11904">
              <a:latin typeface="华文楷体"/>
              <a:cs typeface="华文楷体"/>
            </a:endParaRPr>
          </a:p>
          <a:p>
            <a:pPr marL="106045">
              <a:lnSpc>
                <a:spcPts val="2225"/>
              </a:lnSpc>
            </a:pPr>
            <a:r>
              <a:rPr sz="2200" i="1" spc="30" dirty="0">
                <a:latin typeface="华文楷体"/>
                <a:cs typeface="华文楷体"/>
              </a:rPr>
              <a:t>F</a:t>
            </a:r>
            <a:r>
              <a:rPr sz="2200" i="1" spc="-265" dirty="0">
                <a:latin typeface="华文楷体"/>
                <a:cs typeface="华文楷体"/>
              </a:rPr>
              <a:t> </a:t>
            </a:r>
            <a:r>
              <a:rPr sz="2100" spc="67" baseline="-11904" dirty="0">
                <a:latin typeface="华文楷体"/>
                <a:cs typeface="华文楷体"/>
              </a:rPr>
              <a:t>3</a:t>
            </a:r>
            <a:endParaRPr sz="2100" baseline="-11904">
              <a:latin typeface="华文楷体"/>
              <a:cs typeface="华文楷体"/>
            </a:endParaRPr>
          </a:p>
          <a:p>
            <a:pPr marL="104775">
              <a:lnSpc>
                <a:spcPts val="2225"/>
              </a:lnSpc>
            </a:pPr>
            <a:r>
              <a:rPr sz="2200" i="1" spc="30" dirty="0">
                <a:latin typeface="华文楷体"/>
                <a:cs typeface="华文楷体"/>
              </a:rPr>
              <a:t>F</a:t>
            </a:r>
            <a:r>
              <a:rPr sz="2200" i="1" spc="-265" dirty="0">
                <a:latin typeface="华文楷体"/>
                <a:cs typeface="华文楷体"/>
              </a:rPr>
              <a:t> </a:t>
            </a:r>
            <a:r>
              <a:rPr sz="2100" spc="67" baseline="-11904" dirty="0">
                <a:latin typeface="华文楷体"/>
                <a:cs typeface="华文楷体"/>
              </a:rPr>
              <a:t>4</a:t>
            </a:r>
            <a:endParaRPr sz="2100" baseline="-11904">
              <a:latin typeface="华文楷体"/>
              <a:cs typeface="华文楷体"/>
            </a:endParaRPr>
          </a:p>
          <a:p>
            <a:pPr marL="106045">
              <a:lnSpc>
                <a:spcPts val="2225"/>
              </a:lnSpc>
            </a:pPr>
            <a:r>
              <a:rPr sz="2200" i="1" spc="30" dirty="0">
                <a:latin typeface="华文楷体"/>
                <a:cs typeface="华文楷体"/>
              </a:rPr>
              <a:t>F</a:t>
            </a:r>
            <a:r>
              <a:rPr sz="2200" i="1" spc="-265" dirty="0">
                <a:latin typeface="华文楷体"/>
                <a:cs typeface="华文楷体"/>
              </a:rPr>
              <a:t> </a:t>
            </a:r>
            <a:r>
              <a:rPr sz="2100" spc="67" baseline="-11904" dirty="0">
                <a:latin typeface="华文楷体"/>
                <a:cs typeface="华文楷体"/>
              </a:rPr>
              <a:t>5</a:t>
            </a:r>
            <a:endParaRPr sz="2100" baseline="-11904">
              <a:latin typeface="华文楷体"/>
              <a:cs typeface="华文楷体"/>
            </a:endParaRPr>
          </a:p>
          <a:p>
            <a:pPr marL="104775">
              <a:lnSpc>
                <a:spcPts val="2225"/>
              </a:lnSpc>
            </a:pPr>
            <a:r>
              <a:rPr sz="2200" i="1" spc="30" dirty="0">
                <a:latin typeface="华文楷体"/>
                <a:cs typeface="华文楷体"/>
              </a:rPr>
              <a:t>F</a:t>
            </a:r>
            <a:r>
              <a:rPr sz="2200" i="1" spc="-265" dirty="0">
                <a:latin typeface="华文楷体"/>
                <a:cs typeface="华文楷体"/>
              </a:rPr>
              <a:t> </a:t>
            </a:r>
            <a:r>
              <a:rPr sz="2100" spc="67" baseline="-11904" dirty="0">
                <a:latin typeface="华文楷体"/>
                <a:cs typeface="华文楷体"/>
              </a:rPr>
              <a:t>6</a:t>
            </a:r>
            <a:endParaRPr sz="2100" baseline="-11904">
              <a:latin typeface="华文楷体"/>
              <a:cs typeface="华文楷体"/>
            </a:endParaRPr>
          </a:p>
          <a:p>
            <a:pPr marL="106045">
              <a:lnSpc>
                <a:spcPts val="2225"/>
              </a:lnSpc>
            </a:pPr>
            <a:r>
              <a:rPr sz="2200" i="1" spc="30" dirty="0">
                <a:latin typeface="华文楷体"/>
                <a:cs typeface="华文楷体"/>
              </a:rPr>
              <a:t>F</a:t>
            </a:r>
            <a:r>
              <a:rPr sz="2200" i="1" spc="-265" dirty="0">
                <a:latin typeface="华文楷体"/>
                <a:cs typeface="华文楷体"/>
              </a:rPr>
              <a:t> </a:t>
            </a:r>
            <a:r>
              <a:rPr sz="2100" spc="67" baseline="-11904" dirty="0">
                <a:latin typeface="华文楷体"/>
                <a:cs typeface="华文楷体"/>
              </a:rPr>
              <a:t>7</a:t>
            </a:r>
            <a:endParaRPr sz="2100" baseline="-11904">
              <a:latin typeface="华文楷体"/>
              <a:cs typeface="华文楷体"/>
            </a:endParaRPr>
          </a:p>
          <a:p>
            <a:pPr marL="121920">
              <a:lnSpc>
                <a:spcPts val="2225"/>
              </a:lnSpc>
            </a:pPr>
            <a:r>
              <a:rPr sz="2200" i="1" spc="30" dirty="0">
                <a:latin typeface="华文楷体"/>
                <a:cs typeface="华文楷体"/>
              </a:rPr>
              <a:t>F</a:t>
            </a:r>
            <a:r>
              <a:rPr sz="2200" i="1" spc="-265" dirty="0">
                <a:latin typeface="华文楷体"/>
                <a:cs typeface="华文楷体"/>
              </a:rPr>
              <a:t> </a:t>
            </a:r>
            <a:r>
              <a:rPr sz="2100" spc="67" baseline="-11904" dirty="0">
                <a:latin typeface="华文楷体"/>
                <a:cs typeface="华文楷体"/>
              </a:rPr>
              <a:t>8</a:t>
            </a:r>
            <a:endParaRPr sz="2100" baseline="-11904">
              <a:latin typeface="华文楷体"/>
              <a:cs typeface="华文楷体"/>
            </a:endParaRPr>
          </a:p>
          <a:p>
            <a:pPr marL="120650">
              <a:lnSpc>
                <a:spcPts val="2370"/>
              </a:lnSpc>
            </a:pPr>
            <a:r>
              <a:rPr sz="2200" i="1" spc="30" dirty="0">
                <a:latin typeface="华文楷体"/>
                <a:cs typeface="华文楷体"/>
              </a:rPr>
              <a:t>F</a:t>
            </a:r>
            <a:r>
              <a:rPr sz="2200" i="1" spc="-265" dirty="0">
                <a:latin typeface="华文楷体"/>
                <a:cs typeface="华文楷体"/>
              </a:rPr>
              <a:t> </a:t>
            </a:r>
            <a:r>
              <a:rPr sz="2100" spc="67" baseline="-11904" dirty="0">
                <a:latin typeface="华文楷体"/>
                <a:cs typeface="华文楷体"/>
              </a:rPr>
              <a:t>9</a:t>
            </a:r>
            <a:endParaRPr sz="2100" baseline="-11904">
              <a:latin typeface="华文楷体"/>
              <a:cs typeface="华文楷体"/>
            </a:endParaRPr>
          </a:p>
          <a:p>
            <a:pPr marL="25400">
              <a:lnSpc>
                <a:spcPts val="2370"/>
              </a:lnSpc>
            </a:pPr>
            <a:r>
              <a:rPr sz="3300" i="1" spc="44" baseline="7575" dirty="0">
                <a:latin typeface="华文楷体"/>
                <a:cs typeface="华文楷体"/>
              </a:rPr>
              <a:t>F</a:t>
            </a:r>
            <a:r>
              <a:rPr sz="3300" i="1" spc="-390" baseline="7575" dirty="0">
                <a:latin typeface="华文楷体"/>
                <a:cs typeface="华文楷体"/>
              </a:rPr>
              <a:t> </a:t>
            </a:r>
            <a:r>
              <a:rPr sz="1400" spc="45" dirty="0">
                <a:latin typeface="华文楷体"/>
                <a:cs typeface="华文楷体"/>
              </a:rPr>
              <a:t>10</a:t>
            </a:r>
            <a:endParaRPr sz="1400">
              <a:latin typeface="华文楷体"/>
              <a:cs typeface="华文楷体"/>
            </a:endParaRPr>
          </a:p>
          <a:p>
            <a:pPr marL="25400">
              <a:lnSpc>
                <a:spcPts val="2225"/>
              </a:lnSpc>
            </a:pPr>
            <a:r>
              <a:rPr sz="3300" i="1" spc="44" baseline="7575" dirty="0">
                <a:latin typeface="华文楷体"/>
                <a:cs typeface="华文楷体"/>
              </a:rPr>
              <a:t>F</a:t>
            </a:r>
            <a:r>
              <a:rPr sz="3300" i="1" spc="-390" baseline="7575" dirty="0">
                <a:latin typeface="华文楷体"/>
                <a:cs typeface="华文楷体"/>
              </a:rPr>
              <a:t> </a:t>
            </a:r>
            <a:r>
              <a:rPr sz="1400" spc="45" dirty="0">
                <a:latin typeface="华文楷体"/>
                <a:cs typeface="华文楷体"/>
              </a:rPr>
              <a:t>11</a:t>
            </a:r>
            <a:endParaRPr sz="1400">
              <a:latin typeface="华文楷体"/>
              <a:cs typeface="华文楷体"/>
            </a:endParaRPr>
          </a:p>
          <a:p>
            <a:pPr marL="25400">
              <a:lnSpc>
                <a:spcPts val="2225"/>
              </a:lnSpc>
            </a:pPr>
            <a:r>
              <a:rPr sz="3300" i="1" spc="44" baseline="7575" dirty="0">
                <a:latin typeface="华文楷体"/>
                <a:cs typeface="华文楷体"/>
              </a:rPr>
              <a:t>F</a:t>
            </a:r>
            <a:r>
              <a:rPr sz="3300" i="1" spc="-390" baseline="7575" dirty="0">
                <a:latin typeface="华文楷体"/>
                <a:cs typeface="华文楷体"/>
              </a:rPr>
              <a:t> </a:t>
            </a:r>
            <a:r>
              <a:rPr sz="1400" spc="45" dirty="0">
                <a:latin typeface="华文楷体"/>
                <a:cs typeface="华文楷体"/>
              </a:rPr>
              <a:t>12</a:t>
            </a:r>
            <a:endParaRPr sz="1400">
              <a:latin typeface="华文楷体"/>
              <a:cs typeface="华文楷体"/>
            </a:endParaRPr>
          </a:p>
          <a:p>
            <a:pPr marL="25400">
              <a:lnSpc>
                <a:spcPts val="2225"/>
              </a:lnSpc>
            </a:pPr>
            <a:r>
              <a:rPr sz="3300" i="1" spc="44" baseline="7575" dirty="0">
                <a:latin typeface="华文楷体"/>
                <a:cs typeface="华文楷体"/>
              </a:rPr>
              <a:t>F</a:t>
            </a:r>
            <a:r>
              <a:rPr sz="3300" i="1" spc="-390" baseline="7575" dirty="0">
                <a:latin typeface="华文楷体"/>
                <a:cs typeface="华文楷体"/>
              </a:rPr>
              <a:t> </a:t>
            </a:r>
            <a:r>
              <a:rPr sz="1400" spc="45" dirty="0">
                <a:latin typeface="华文楷体"/>
                <a:cs typeface="华文楷体"/>
              </a:rPr>
              <a:t>13</a:t>
            </a:r>
            <a:endParaRPr sz="1400">
              <a:latin typeface="华文楷体"/>
              <a:cs typeface="华文楷体"/>
            </a:endParaRPr>
          </a:p>
          <a:p>
            <a:pPr marL="25400">
              <a:lnSpc>
                <a:spcPts val="2225"/>
              </a:lnSpc>
            </a:pPr>
            <a:r>
              <a:rPr sz="3300" i="1" spc="44" baseline="7575" dirty="0">
                <a:latin typeface="华文楷体"/>
                <a:cs typeface="华文楷体"/>
              </a:rPr>
              <a:t>F</a:t>
            </a:r>
            <a:r>
              <a:rPr sz="3300" i="1" spc="-390" baseline="7575" dirty="0">
                <a:latin typeface="华文楷体"/>
                <a:cs typeface="华文楷体"/>
              </a:rPr>
              <a:t> </a:t>
            </a:r>
            <a:r>
              <a:rPr sz="1400" spc="45" dirty="0">
                <a:latin typeface="华文楷体"/>
                <a:cs typeface="华文楷体"/>
              </a:rPr>
              <a:t>14</a:t>
            </a:r>
            <a:endParaRPr sz="1400">
              <a:latin typeface="华文楷体"/>
              <a:cs typeface="华文楷体"/>
            </a:endParaRPr>
          </a:p>
          <a:p>
            <a:pPr marL="25400">
              <a:lnSpc>
                <a:spcPts val="2435"/>
              </a:lnSpc>
            </a:pPr>
            <a:r>
              <a:rPr sz="3300" i="1" spc="44" baseline="7575" dirty="0">
                <a:latin typeface="华文楷体"/>
                <a:cs typeface="华文楷体"/>
              </a:rPr>
              <a:t>F</a:t>
            </a:r>
            <a:r>
              <a:rPr sz="3300" i="1" spc="-390" baseline="7575" dirty="0">
                <a:latin typeface="华文楷体"/>
                <a:cs typeface="华文楷体"/>
              </a:rPr>
              <a:t> </a:t>
            </a:r>
            <a:r>
              <a:rPr sz="1400" spc="45" dirty="0">
                <a:latin typeface="华文楷体"/>
                <a:cs typeface="华文楷体"/>
              </a:rPr>
              <a:t>15</a:t>
            </a:r>
            <a:endParaRPr sz="1400">
              <a:latin typeface="华文楷体"/>
              <a:cs typeface="华文楷体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8175936" y="5809612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0" y="0"/>
                </a:moveTo>
                <a:lnTo>
                  <a:pt x="279289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639492" y="3313336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4">
                <a:moveTo>
                  <a:pt x="344673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639492" y="3784232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4">
                <a:moveTo>
                  <a:pt x="344673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639492" y="4255293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4">
                <a:moveTo>
                  <a:pt x="344673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639493" y="4726354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4">
                <a:moveTo>
                  <a:pt x="344673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639492" y="1900319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4">
                <a:moveTo>
                  <a:pt x="344673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639492" y="2371380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4">
                <a:moveTo>
                  <a:pt x="344673" y="0"/>
                </a:moveTo>
                <a:lnTo>
                  <a:pt x="0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838532" y="1822851"/>
            <a:ext cx="164281" cy="15493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838531" y="2293745"/>
            <a:ext cx="164283" cy="1551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036182" y="1770715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0" y="0"/>
                </a:moveTo>
                <a:lnTo>
                  <a:pt x="279343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7000479" y="1564778"/>
            <a:ext cx="382905" cy="331089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29209" algn="just">
              <a:lnSpc>
                <a:spcPct val="100000"/>
              </a:lnSpc>
              <a:spcBef>
                <a:spcPts val="1160"/>
              </a:spcBef>
            </a:pPr>
            <a:r>
              <a:rPr sz="2200" i="1" spc="25" dirty="0">
                <a:latin typeface="华文楷体"/>
                <a:cs typeface="华文楷体"/>
              </a:rPr>
              <a:t>S</a:t>
            </a:r>
            <a:r>
              <a:rPr sz="2200" i="1" spc="-270" dirty="0">
                <a:latin typeface="华文楷体"/>
                <a:cs typeface="华文楷体"/>
              </a:rPr>
              <a:t> </a:t>
            </a:r>
            <a:r>
              <a:rPr sz="2100" spc="104" baseline="-11904" dirty="0">
                <a:latin typeface="华文楷体"/>
                <a:cs typeface="华文楷体"/>
              </a:rPr>
              <a:t>A</a:t>
            </a:r>
            <a:endParaRPr sz="2100" baseline="-11904">
              <a:latin typeface="华文楷体"/>
              <a:cs typeface="华文楷体"/>
            </a:endParaRPr>
          </a:p>
          <a:p>
            <a:pPr marL="34925" algn="just">
              <a:lnSpc>
                <a:spcPct val="100000"/>
              </a:lnSpc>
              <a:spcBef>
                <a:spcPts val="1070"/>
              </a:spcBef>
            </a:pPr>
            <a:r>
              <a:rPr sz="2200" i="1" spc="25" dirty="0">
                <a:latin typeface="华文楷体"/>
                <a:cs typeface="华文楷体"/>
              </a:rPr>
              <a:t>S</a:t>
            </a:r>
            <a:r>
              <a:rPr sz="2200" i="1" spc="-270" dirty="0">
                <a:latin typeface="华文楷体"/>
                <a:cs typeface="华文楷体"/>
              </a:rPr>
              <a:t> </a:t>
            </a:r>
            <a:r>
              <a:rPr sz="2100" spc="97" baseline="-11904" dirty="0">
                <a:latin typeface="华文楷体"/>
                <a:cs typeface="华文楷体"/>
              </a:rPr>
              <a:t>B</a:t>
            </a:r>
            <a:endParaRPr sz="2100" baseline="-11904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华文楷体"/>
              <a:cs typeface="华文楷体"/>
            </a:endParaRPr>
          </a:p>
          <a:p>
            <a:pPr marL="25400" marR="128270" indent="13335" algn="just">
              <a:lnSpc>
                <a:spcPct val="140500"/>
              </a:lnSpc>
            </a:pPr>
            <a:r>
              <a:rPr sz="2200" i="1" spc="20" dirty="0">
                <a:latin typeface="华文楷体"/>
                <a:cs typeface="华文楷体"/>
              </a:rPr>
              <a:t>A  </a:t>
            </a:r>
            <a:r>
              <a:rPr sz="2200" i="1" spc="35" dirty="0">
                <a:latin typeface="华文楷体"/>
                <a:cs typeface="华文楷体"/>
              </a:rPr>
              <a:t>B  C  </a:t>
            </a:r>
            <a:r>
              <a:rPr sz="2200" i="1" spc="40" dirty="0">
                <a:latin typeface="华文楷体"/>
                <a:cs typeface="华文楷体"/>
              </a:rPr>
              <a:t>D</a:t>
            </a:r>
            <a:endParaRPr sz="2200">
              <a:latin typeface="华文楷体"/>
              <a:cs typeface="华文楷体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036182" y="2241776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0" y="0"/>
                </a:moveTo>
                <a:lnTo>
                  <a:pt x="279343" y="0"/>
                </a:lnTo>
              </a:path>
            </a:pathLst>
          </a:custGeom>
          <a:ln w="358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114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02686" y="2224282"/>
            <a:ext cx="1640839" cy="4321810"/>
          </a:xfrm>
          <a:custGeom>
            <a:avLst/>
            <a:gdLst/>
            <a:ahLst/>
            <a:cxnLst/>
            <a:rect l="l" t="t" r="r" b="b"/>
            <a:pathLst>
              <a:path w="1640840" h="4321809">
                <a:moveTo>
                  <a:pt x="0" y="4321306"/>
                </a:moveTo>
                <a:lnTo>
                  <a:pt x="1640645" y="4321306"/>
                </a:lnTo>
                <a:lnTo>
                  <a:pt x="1640645" y="0"/>
                </a:lnTo>
                <a:lnTo>
                  <a:pt x="0" y="0"/>
                </a:lnTo>
                <a:lnTo>
                  <a:pt x="0" y="4321306"/>
                </a:lnTo>
                <a:close/>
              </a:path>
            </a:pathLst>
          </a:custGeom>
          <a:ln w="510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25192" y="2656288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7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25192" y="3520671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7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13286" y="3064697"/>
            <a:ext cx="469265" cy="47625"/>
          </a:xfrm>
          <a:custGeom>
            <a:avLst/>
            <a:gdLst/>
            <a:ahLst/>
            <a:cxnLst/>
            <a:rect l="l" t="t" r="r" b="b"/>
            <a:pathLst>
              <a:path w="469265" h="47625">
                <a:moveTo>
                  <a:pt x="0" y="47564"/>
                </a:moveTo>
                <a:lnTo>
                  <a:pt x="468746" y="47564"/>
                </a:lnTo>
                <a:lnTo>
                  <a:pt x="468746" y="0"/>
                </a:lnTo>
                <a:lnTo>
                  <a:pt x="0" y="0"/>
                </a:lnTo>
                <a:lnTo>
                  <a:pt x="0" y="475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33940" y="3952710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7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33940" y="4817093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7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01049" y="4384902"/>
            <a:ext cx="490220" cy="0"/>
          </a:xfrm>
          <a:custGeom>
            <a:avLst/>
            <a:gdLst/>
            <a:ahLst/>
            <a:cxnLst/>
            <a:rect l="l" t="t" r="r" b="b"/>
            <a:pathLst>
              <a:path w="490220">
                <a:moveTo>
                  <a:pt x="489731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01049" y="5249178"/>
            <a:ext cx="501650" cy="0"/>
          </a:xfrm>
          <a:custGeom>
            <a:avLst/>
            <a:gdLst/>
            <a:ahLst/>
            <a:cxnLst/>
            <a:rect l="l" t="t" r="r" b="b"/>
            <a:pathLst>
              <a:path w="501650">
                <a:moveTo>
                  <a:pt x="501637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33940" y="6113455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7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01049" y="5681309"/>
            <a:ext cx="490220" cy="0"/>
          </a:xfrm>
          <a:custGeom>
            <a:avLst/>
            <a:gdLst/>
            <a:ahLst/>
            <a:cxnLst/>
            <a:rect l="l" t="t" r="r" b="b"/>
            <a:pathLst>
              <a:path w="490220">
                <a:moveTo>
                  <a:pt x="489731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749720" y="3088479"/>
            <a:ext cx="462915" cy="0"/>
          </a:xfrm>
          <a:custGeom>
            <a:avLst/>
            <a:gdLst/>
            <a:ahLst/>
            <a:cxnLst/>
            <a:rect l="l" t="t" r="r" b="b"/>
            <a:pathLst>
              <a:path w="462915">
                <a:moveTo>
                  <a:pt x="0" y="0"/>
                </a:moveTo>
                <a:lnTo>
                  <a:pt x="462357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749720" y="3736690"/>
            <a:ext cx="462915" cy="0"/>
          </a:xfrm>
          <a:custGeom>
            <a:avLst/>
            <a:gdLst/>
            <a:ahLst/>
            <a:cxnLst/>
            <a:rect l="l" t="t" r="r" b="b"/>
            <a:pathLst>
              <a:path w="462915">
                <a:moveTo>
                  <a:pt x="0" y="0"/>
                </a:moveTo>
                <a:lnTo>
                  <a:pt x="462357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49720" y="4384902"/>
            <a:ext cx="462915" cy="0"/>
          </a:xfrm>
          <a:custGeom>
            <a:avLst/>
            <a:gdLst/>
            <a:ahLst/>
            <a:cxnLst/>
            <a:rect l="l" t="t" r="r" b="b"/>
            <a:pathLst>
              <a:path w="462915">
                <a:moveTo>
                  <a:pt x="0" y="0"/>
                </a:moveTo>
                <a:lnTo>
                  <a:pt x="462357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749720" y="5033113"/>
            <a:ext cx="462915" cy="0"/>
          </a:xfrm>
          <a:custGeom>
            <a:avLst/>
            <a:gdLst/>
            <a:ahLst/>
            <a:cxnLst/>
            <a:rect l="l" t="t" r="r" b="b"/>
            <a:pathLst>
              <a:path w="462915">
                <a:moveTo>
                  <a:pt x="0" y="0"/>
                </a:moveTo>
                <a:lnTo>
                  <a:pt x="462357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49720" y="5681309"/>
            <a:ext cx="462915" cy="0"/>
          </a:xfrm>
          <a:custGeom>
            <a:avLst/>
            <a:gdLst/>
            <a:ahLst/>
            <a:cxnLst/>
            <a:rect l="l" t="t" r="r" b="b"/>
            <a:pathLst>
              <a:path w="462915">
                <a:moveTo>
                  <a:pt x="0" y="0"/>
                </a:moveTo>
                <a:lnTo>
                  <a:pt x="462357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180060" y="2444500"/>
            <a:ext cx="1490980" cy="3842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25"/>
              </a:lnSpc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1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tabLst>
                <a:tab pos="1068705" algn="l"/>
              </a:tabLst>
            </a:pPr>
            <a:r>
              <a:rPr sz="3450" i="1" spc="37" baseline="2415" dirty="0">
                <a:latin typeface="华文楷体"/>
                <a:cs typeface="华文楷体"/>
              </a:rPr>
              <a:t>A</a:t>
            </a:r>
            <a:r>
              <a:rPr sz="3450" i="1" spc="-270" baseline="2415" dirty="0">
                <a:latin typeface="华文楷体"/>
                <a:cs typeface="华文楷体"/>
              </a:rPr>
              <a:t> </a:t>
            </a:r>
            <a:r>
              <a:rPr sz="2175" spc="75" baseline="-7662" dirty="0">
                <a:latin typeface="华文楷体"/>
                <a:cs typeface="华文楷体"/>
              </a:rPr>
              <a:t>2</a:t>
            </a:r>
            <a:r>
              <a:rPr sz="2175" baseline="-7662" dirty="0">
                <a:latin typeface="华文楷体"/>
                <a:cs typeface="华文楷体"/>
              </a:rPr>
              <a:t>	</a:t>
            </a:r>
            <a:r>
              <a:rPr sz="2150" spc="135" dirty="0">
                <a:latin typeface="华文楷体"/>
                <a:cs typeface="华文楷体"/>
              </a:rPr>
              <a:t>CO</a:t>
            </a:r>
            <a:endParaRPr sz="215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tabLst>
                <a:tab pos="1183640" algn="l"/>
              </a:tabLst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1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	</a:t>
            </a:r>
            <a:r>
              <a:rPr sz="3450" i="1" spc="30" baseline="-41062" dirty="0">
                <a:latin typeface="华文楷体"/>
                <a:cs typeface="华文楷体"/>
              </a:rPr>
              <a:t>S</a:t>
            </a:r>
            <a:r>
              <a:rPr sz="3450" i="1" spc="-419" baseline="-41062" dirty="0">
                <a:latin typeface="华文楷体"/>
                <a:cs typeface="华文楷体"/>
              </a:rPr>
              <a:t> </a:t>
            </a:r>
            <a:r>
              <a:rPr sz="2175" spc="75" baseline="-76628" dirty="0">
                <a:latin typeface="华文楷体"/>
                <a:cs typeface="华文楷体"/>
              </a:rPr>
              <a:t>3</a:t>
            </a:r>
            <a:endParaRPr sz="2175" baseline="-76628">
              <a:latin typeface="华文楷体"/>
              <a:cs typeface="华文楷体"/>
            </a:endParaRPr>
          </a:p>
          <a:p>
            <a:pPr>
              <a:lnSpc>
                <a:spcPts val="90"/>
              </a:lnSpc>
              <a:spcBef>
                <a:spcPts val="894"/>
              </a:spcBef>
              <a:tabLst>
                <a:tab pos="611505" algn="l"/>
              </a:tabLst>
            </a:pPr>
            <a:r>
              <a:rPr sz="3450" i="1" spc="37" baseline="7246" dirty="0">
                <a:latin typeface="华文楷体"/>
                <a:cs typeface="华文楷体"/>
              </a:rPr>
              <a:t>A</a:t>
            </a:r>
            <a:r>
              <a:rPr sz="3450" i="1" spc="-270" baseline="7246" dirty="0">
                <a:latin typeface="华文楷体"/>
                <a:cs typeface="华文楷体"/>
              </a:rPr>
              <a:t> </a:t>
            </a:r>
            <a:r>
              <a:rPr sz="1450" spc="50" dirty="0">
                <a:latin typeface="华文楷体"/>
                <a:cs typeface="华文楷体"/>
              </a:rPr>
              <a:t>0	</a:t>
            </a: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1315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2120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350">
              <a:latin typeface="Times New Roman"/>
              <a:cs typeface="Times New Roman"/>
            </a:endParaRPr>
          </a:p>
          <a:p>
            <a:pPr marL="14604">
              <a:lnSpc>
                <a:spcPts val="70"/>
              </a:lnSpc>
              <a:tabLst>
                <a:tab pos="611505" algn="l"/>
                <a:tab pos="1183640" algn="l"/>
              </a:tabLst>
            </a:pPr>
            <a:r>
              <a:rPr sz="3450" i="1" spc="37" baseline="1207" dirty="0">
                <a:latin typeface="华文楷体"/>
                <a:cs typeface="华文楷体"/>
              </a:rPr>
              <a:t>B</a:t>
            </a:r>
            <a:r>
              <a:rPr sz="3450" i="1" spc="-277" baseline="1207" dirty="0">
                <a:latin typeface="华文楷体"/>
                <a:cs typeface="华文楷体"/>
              </a:rPr>
              <a:t> </a:t>
            </a:r>
            <a:r>
              <a:rPr sz="2175" spc="75" baseline="-9578" dirty="0">
                <a:latin typeface="华文楷体"/>
                <a:cs typeface="华文楷体"/>
              </a:rPr>
              <a:t>3	</a:t>
            </a:r>
            <a:r>
              <a:rPr sz="3525" b="1" spc="-195" baseline="-13002" dirty="0">
                <a:solidFill>
                  <a:srgbClr val="FF0000"/>
                </a:solidFill>
                <a:latin typeface="Times New Roman"/>
                <a:cs typeface="Times New Roman"/>
              </a:rPr>
              <a:t>L	</a:t>
            </a: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62230" algn="ctr">
              <a:lnSpc>
                <a:spcPts val="1425"/>
              </a:lnSpc>
            </a:pPr>
            <a:r>
              <a:rPr sz="235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2140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2350">
              <a:latin typeface="Times New Roman"/>
              <a:cs typeface="Times New Roman"/>
            </a:endParaRPr>
          </a:p>
          <a:p>
            <a:pPr marL="8890">
              <a:lnSpc>
                <a:spcPts val="30"/>
              </a:lnSpc>
              <a:tabLst>
                <a:tab pos="1183640" algn="l"/>
              </a:tabLst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1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	</a:t>
            </a:r>
            <a:r>
              <a:rPr sz="3450" i="1" spc="30" baseline="-41062" dirty="0">
                <a:latin typeface="华文楷体"/>
                <a:cs typeface="华文楷体"/>
              </a:rPr>
              <a:t>S</a:t>
            </a:r>
            <a:r>
              <a:rPr sz="3450" i="1" spc="-427" baseline="-41062" dirty="0">
                <a:latin typeface="华文楷体"/>
                <a:cs typeface="华文楷体"/>
              </a:rPr>
              <a:t> </a:t>
            </a:r>
            <a:r>
              <a:rPr sz="2175" spc="75" baseline="-76628" dirty="0">
                <a:latin typeface="华文楷体"/>
                <a:cs typeface="华文楷体"/>
              </a:rPr>
              <a:t>1</a:t>
            </a:r>
            <a:endParaRPr sz="2175" baseline="-76628">
              <a:latin typeface="华文楷体"/>
              <a:cs typeface="华文楷体"/>
            </a:endParaRPr>
          </a:p>
          <a:p>
            <a:pPr marL="62230" algn="ctr">
              <a:lnSpc>
                <a:spcPts val="1614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19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14604">
              <a:lnSpc>
                <a:spcPct val="100000"/>
              </a:lnSpc>
              <a:spcBef>
                <a:spcPts val="725"/>
              </a:spcBef>
              <a:tabLst>
                <a:tab pos="1183640" algn="l"/>
              </a:tabLst>
            </a:pPr>
            <a:r>
              <a:rPr sz="3450" i="1" spc="37" baseline="2415" dirty="0">
                <a:latin typeface="华文楷体"/>
                <a:cs typeface="华文楷体"/>
              </a:rPr>
              <a:t>B</a:t>
            </a:r>
            <a:r>
              <a:rPr sz="3450" i="1" spc="-277" baseline="2415" dirty="0">
                <a:latin typeface="华文楷体"/>
                <a:cs typeface="华文楷体"/>
              </a:rPr>
              <a:t> </a:t>
            </a:r>
            <a:r>
              <a:rPr sz="2175" spc="75" baseline="-7662" dirty="0">
                <a:latin typeface="华文楷体"/>
                <a:cs typeface="华文楷体"/>
              </a:rPr>
              <a:t>0	</a:t>
            </a: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54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  <a:p>
            <a:pPr marL="13335">
              <a:lnSpc>
                <a:spcPct val="100000"/>
              </a:lnSpc>
              <a:spcBef>
                <a:spcPts val="795"/>
              </a:spcBef>
            </a:pPr>
            <a:r>
              <a:rPr sz="2150" spc="95" dirty="0">
                <a:latin typeface="华文楷体"/>
                <a:cs typeface="华文楷体"/>
              </a:rPr>
              <a:t>CI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574040" y="387172"/>
            <a:ext cx="55156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666699"/>
                </a:solidFill>
                <a:latin typeface="隶书"/>
                <a:cs typeface="隶书"/>
              </a:rPr>
              <a:t>用全加器实现组合逻辑电路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74040" y="1211072"/>
            <a:ext cx="9044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微软雅黑"/>
                <a:cs typeface="微软雅黑"/>
              </a:rPr>
              <a:t>例</a:t>
            </a:r>
            <a:r>
              <a:rPr sz="2800" spc="-10" dirty="0">
                <a:latin typeface="微软雅黑"/>
                <a:cs typeface="微软雅黑"/>
              </a:rPr>
              <a:t>：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设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计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一个代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码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转换电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路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，</a:t>
            </a:r>
            <a:r>
              <a:rPr sz="2800" spc="10" dirty="0">
                <a:solidFill>
                  <a:srgbClr val="7E4D00"/>
                </a:solidFill>
                <a:latin typeface="华文楷体"/>
                <a:cs typeface="华文楷体"/>
              </a:rPr>
              <a:t>将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8421BCD</a:t>
            </a:r>
            <a:r>
              <a:rPr sz="2800" spc="5" dirty="0">
                <a:solidFill>
                  <a:srgbClr val="7E4D00"/>
                </a:solidFill>
                <a:latin typeface="华文楷体"/>
                <a:cs typeface="华文楷体"/>
              </a:rPr>
              <a:t>码转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换成余</a:t>
            </a:r>
            <a:r>
              <a:rPr sz="2800" dirty="0">
                <a:solidFill>
                  <a:srgbClr val="7E4D00"/>
                </a:solidFill>
                <a:latin typeface="华文楷体"/>
                <a:cs typeface="华文楷体"/>
              </a:rPr>
              <a:t>3</a:t>
            </a:r>
            <a:r>
              <a:rPr sz="2800" spc="-5" dirty="0">
                <a:solidFill>
                  <a:srgbClr val="7E4D00"/>
                </a:solidFill>
                <a:latin typeface="华文楷体"/>
                <a:cs typeface="华文楷体"/>
              </a:rPr>
              <a:t>码。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102105" y="2224282"/>
            <a:ext cx="1640205" cy="4321810"/>
          </a:xfrm>
          <a:custGeom>
            <a:avLst/>
            <a:gdLst/>
            <a:ahLst/>
            <a:cxnLst/>
            <a:rect l="l" t="t" r="r" b="b"/>
            <a:pathLst>
              <a:path w="1640204" h="4321809">
                <a:moveTo>
                  <a:pt x="0" y="4321306"/>
                </a:moveTo>
                <a:lnTo>
                  <a:pt x="1640065" y="4321306"/>
                </a:lnTo>
                <a:lnTo>
                  <a:pt x="1640065" y="0"/>
                </a:lnTo>
                <a:lnTo>
                  <a:pt x="0" y="0"/>
                </a:lnTo>
                <a:lnTo>
                  <a:pt x="0" y="4321306"/>
                </a:lnTo>
                <a:close/>
              </a:path>
            </a:pathLst>
          </a:custGeom>
          <a:ln w="51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624779" y="2656288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624779" y="3520671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12877" y="3064697"/>
            <a:ext cx="468630" cy="47625"/>
          </a:xfrm>
          <a:custGeom>
            <a:avLst/>
            <a:gdLst/>
            <a:ahLst/>
            <a:cxnLst/>
            <a:rect l="l" t="t" r="r" b="b"/>
            <a:pathLst>
              <a:path w="468629" h="47625">
                <a:moveTo>
                  <a:pt x="0" y="47564"/>
                </a:moveTo>
                <a:lnTo>
                  <a:pt x="468580" y="47564"/>
                </a:lnTo>
                <a:lnTo>
                  <a:pt x="468580" y="0"/>
                </a:lnTo>
                <a:lnTo>
                  <a:pt x="0" y="0"/>
                </a:lnTo>
                <a:lnTo>
                  <a:pt x="0" y="475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33524" y="3952710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633524" y="4817093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19390" y="4384902"/>
            <a:ext cx="471170" cy="0"/>
          </a:xfrm>
          <a:custGeom>
            <a:avLst/>
            <a:gdLst/>
            <a:ahLst/>
            <a:cxnLst/>
            <a:rect l="l" t="t" r="r" b="b"/>
            <a:pathLst>
              <a:path w="471170">
                <a:moveTo>
                  <a:pt x="470812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38136" y="5249178"/>
            <a:ext cx="464184" cy="0"/>
          </a:xfrm>
          <a:custGeom>
            <a:avLst/>
            <a:gdLst/>
            <a:ahLst/>
            <a:cxnLst/>
            <a:rect l="l" t="t" r="r" b="b"/>
            <a:pathLst>
              <a:path w="464184">
                <a:moveTo>
                  <a:pt x="463968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633524" y="6113455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647509" y="5681309"/>
            <a:ext cx="443230" cy="0"/>
          </a:xfrm>
          <a:custGeom>
            <a:avLst/>
            <a:gdLst/>
            <a:ahLst/>
            <a:cxnLst/>
            <a:rect l="l" t="t" r="r" b="b"/>
            <a:pathLst>
              <a:path w="443229">
                <a:moveTo>
                  <a:pt x="442693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749720" y="3088479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>
                <a:moveTo>
                  <a:pt x="0" y="0"/>
                </a:moveTo>
                <a:lnTo>
                  <a:pt x="461031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749720" y="3736690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>
                <a:moveTo>
                  <a:pt x="0" y="0"/>
                </a:moveTo>
                <a:lnTo>
                  <a:pt x="461031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749720" y="4384902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>
                <a:moveTo>
                  <a:pt x="0" y="0"/>
                </a:moveTo>
                <a:lnTo>
                  <a:pt x="461031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749720" y="5033113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>
                <a:moveTo>
                  <a:pt x="0" y="0"/>
                </a:moveTo>
                <a:lnTo>
                  <a:pt x="461031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749720" y="5681309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>
                <a:moveTo>
                  <a:pt x="0" y="0"/>
                </a:moveTo>
                <a:lnTo>
                  <a:pt x="461031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179452" y="2444512"/>
            <a:ext cx="1490345" cy="3842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25"/>
              </a:lnSpc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19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tabLst>
                <a:tab pos="1068070" algn="l"/>
              </a:tabLst>
            </a:pPr>
            <a:r>
              <a:rPr sz="3450" i="1" spc="37" baseline="2415" dirty="0">
                <a:latin typeface="华文楷体"/>
                <a:cs typeface="华文楷体"/>
              </a:rPr>
              <a:t>A</a:t>
            </a:r>
            <a:r>
              <a:rPr sz="3450" i="1" spc="-277" baseline="2415" dirty="0">
                <a:latin typeface="华文楷体"/>
                <a:cs typeface="华文楷体"/>
              </a:rPr>
              <a:t> </a:t>
            </a:r>
            <a:r>
              <a:rPr sz="2175" spc="75" baseline="-7662" dirty="0">
                <a:latin typeface="华文楷体"/>
                <a:cs typeface="华文楷体"/>
              </a:rPr>
              <a:t>2</a:t>
            </a:r>
            <a:r>
              <a:rPr sz="2175" baseline="-7662" dirty="0">
                <a:latin typeface="华文楷体"/>
                <a:cs typeface="华文楷体"/>
              </a:rPr>
              <a:t>	</a:t>
            </a:r>
            <a:r>
              <a:rPr sz="2150" spc="135" dirty="0">
                <a:latin typeface="华文楷体"/>
                <a:cs typeface="华文楷体"/>
              </a:rPr>
              <a:t>CO</a:t>
            </a:r>
            <a:endParaRPr sz="215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tabLst>
                <a:tab pos="1183005" algn="l"/>
              </a:tabLst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1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	</a:t>
            </a:r>
            <a:r>
              <a:rPr sz="3450" i="1" spc="30" baseline="-41062" dirty="0">
                <a:latin typeface="华文楷体"/>
                <a:cs typeface="华文楷体"/>
              </a:rPr>
              <a:t>S</a:t>
            </a:r>
            <a:r>
              <a:rPr sz="3450" i="1" spc="-427" baseline="-41062" dirty="0">
                <a:latin typeface="华文楷体"/>
                <a:cs typeface="华文楷体"/>
              </a:rPr>
              <a:t> </a:t>
            </a:r>
            <a:r>
              <a:rPr sz="2175" spc="75" baseline="-76628" dirty="0">
                <a:latin typeface="华文楷体"/>
                <a:cs typeface="华文楷体"/>
              </a:rPr>
              <a:t>3</a:t>
            </a:r>
            <a:endParaRPr sz="2175" baseline="-76628">
              <a:latin typeface="华文楷体"/>
              <a:cs typeface="华文楷体"/>
            </a:endParaRPr>
          </a:p>
          <a:p>
            <a:pPr>
              <a:lnSpc>
                <a:spcPts val="90"/>
              </a:lnSpc>
              <a:spcBef>
                <a:spcPts val="894"/>
              </a:spcBef>
              <a:tabLst>
                <a:tab pos="611505" algn="l"/>
              </a:tabLst>
            </a:pPr>
            <a:r>
              <a:rPr sz="3450" i="1" spc="37" baseline="7246" dirty="0">
                <a:latin typeface="华文楷体"/>
                <a:cs typeface="华文楷体"/>
              </a:rPr>
              <a:t>A</a:t>
            </a:r>
            <a:r>
              <a:rPr sz="3450" i="1" spc="-277" baseline="7246" dirty="0">
                <a:latin typeface="华文楷体"/>
                <a:cs typeface="华文楷体"/>
              </a:rPr>
              <a:t> </a:t>
            </a:r>
            <a:r>
              <a:rPr sz="1450" spc="50" dirty="0">
                <a:latin typeface="华文楷体"/>
                <a:cs typeface="华文楷体"/>
              </a:rPr>
              <a:t>0	</a:t>
            </a: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1315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2120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350">
              <a:latin typeface="Times New Roman"/>
              <a:cs typeface="Times New Roman"/>
            </a:endParaRPr>
          </a:p>
          <a:p>
            <a:pPr marL="14604">
              <a:lnSpc>
                <a:spcPts val="70"/>
              </a:lnSpc>
              <a:tabLst>
                <a:tab pos="611505" algn="l"/>
                <a:tab pos="1183005" algn="l"/>
              </a:tabLst>
            </a:pPr>
            <a:r>
              <a:rPr sz="3450" i="1" spc="37" baseline="1207" dirty="0">
                <a:latin typeface="华文楷体"/>
                <a:cs typeface="华文楷体"/>
              </a:rPr>
              <a:t>B</a:t>
            </a:r>
            <a:r>
              <a:rPr sz="3450" i="1" spc="-277" baseline="1207" dirty="0">
                <a:latin typeface="华文楷体"/>
                <a:cs typeface="华文楷体"/>
              </a:rPr>
              <a:t> </a:t>
            </a:r>
            <a:r>
              <a:rPr sz="2175" spc="75" baseline="-9578" dirty="0">
                <a:latin typeface="华文楷体"/>
                <a:cs typeface="华文楷体"/>
              </a:rPr>
              <a:t>3	</a:t>
            </a:r>
            <a:r>
              <a:rPr sz="3525" b="1" spc="-195" baseline="-13002" dirty="0">
                <a:solidFill>
                  <a:srgbClr val="FF0000"/>
                </a:solidFill>
                <a:latin typeface="Times New Roman"/>
                <a:cs typeface="Times New Roman"/>
              </a:rPr>
              <a:t>L	</a:t>
            </a: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62230" algn="ctr">
              <a:lnSpc>
                <a:spcPts val="1425"/>
              </a:lnSpc>
            </a:pPr>
            <a:r>
              <a:rPr sz="235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2140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2350">
              <a:latin typeface="Times New Roman"/>
              <a:cs typeface="Times New Roman"/>
            </a:endParaRPr>
          </a:p>
          <a:p>
            <a:pPr marL="8890">
              <a:lnSpc>
                <a:spcPts val="30"/>
              </a:lnSpc>
              <a:tabLst>
                <a:tab pos="1183005" algn="l"/>
              </a:tabLst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1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	</a:t>
            </a:r>
            <a:r>
              <a:rPr sz="3450" i="1" spc="30" baseline="-41062" dirty="0">
                <a:latin typeface="华文楷体"/>
                <a:cs typeface="华文楷体"/>
              </a:rPr>
              <a:t>S</a:t>
            </a:r>
            <a:r>
              <a:rPr sz="3450" i="1" spc="-427" baseline="-41062" dirty="0">
                <a:latin typeface="华文楷体"/>
                <a:cs typeface="华文楷体"/>
              </a:rPr>
              <a:t> </a:t>
            </a:r>
            <a:r>
              <a:rPr sz="2175" spc="75" baseline="-76628" dirty="0">
                <a:latin typeface="华文楷体"/>
                <a:cs typeface="华文楷体"/>
              </a:rPr>
              <a:t>1</a:t>
            </a:r>
            <a:endParaRPr sz="2175" baseline="-76628">
              <a:latin typeface="华文楷体"/>
              <a:cs typeface="华文楷体"/>
            </a:endParaRPr>
          </a:p>
          <a:p>
            <a:pPr marL="62230" algn="ctr">
              <a:lnSpc>
                <a:spcPts val="1614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19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14604">
              <a:lnSpc>
                <a:spcPct val="100000"/>
              </a:lnSpc>
              <a:spcBef>
                <a:spcPts val="725"/>
              </a:spcBef>
              <a:tabLst>
                <a:tab pos="1183005" algn="l"/>
              </a:tabLst>
            </a:pPr>
            <a:r>
              <a:rPr sz="3450" i="1" spc="37" baseline="2415" dirty="0">
                <a:latin typeface="华文楷体"/>
                <a:cs typeface="华文楷体"/>
              </a:rPr>
              <a:t>B</a:t>
            </a:r>
            <a:r>
              <a:rPr sz="3450" i="1" spc="-277" baseline="2415" dirty="0">
                <a:latin typeface="华文楷体"/>
                <a:cs typeface="华文楷体"/>
              </a:rPr>
              <a:t> </a:t>
            </a:r>
            <a:r>
              <a:rPr sz="2175" spc="75" baseline="-7662" dirty="0">
                <a:latin typeface="华文楷体"/>
                <a:cs typeface="华文楷体"/>
              </a:rPr>
              <a:t>0	</a:t>
            </a: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54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  <a:p>
            <a:pPr marL="13335">
              <a:lnSpc>
                <a:spcPct val="100000"/>
              </a:lnSpc>
              <a:spcBef>
                <a:spcPts val="795"/>
              </a:spcBef>
            </a:pPr>
            <a:r>
              <a:rPr sz="2150" spc="95" dirty="0">
                <a:latin typeface="华文楷体"/>
                <a:cs typeface="华文楷体"/>
              </a:rPr>
              <a:t>CI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102105" y="2224282"/>
            <a:ext cx="1640205" cy="4321810"/>
          </a:xfrm>
          <a:custGeom>
            <a:avLst/>
            <a:gdLst/>
            <a:ahLst/>
            <a:cxnLst/>
            <a:rect l="l" t="t" r="r" b="b"/>
            <a:pathLst>
              <a:path w="1640204" h="4321809">
                <a:moveTo>
                  <a:pt x="0" y="4321306"/>
                </a:moveTo>
                <a:lnTo>
                  <a:pt x="1640065" y="4321306"/>
                </a:lnTo>
                <a:lnTo>
                  <a:pt x="1640065" y="0"/>
                </a:lnTo>
                <a:lnTo>
                  <a:pt x="0" y="0"/>
                </a:lnTo>
                <a:lnTo>
                  <a:pt x="0" y="4321306"/>
                </a:lnTo>
                <a:close/>
              </a:path>
            </a:pathLst>
          </a:custGeom>
          <a:ln w="51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24779" y="2656288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624779" y="3520671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612877" y="3064697"/>
            <a:ext cx="468630" cy="47625"/>
          </a:xfrm>
          <a:custGeom>
            <a:avLst/>
            <a:gdLst/>
            <a:ahLst/>
            <a:cxnLst/>
            <a:rect l="l" t="t" r="r" b="b"/>
            <a:pathLst>
              <a:path w="468629" h="47625">
                <a:moveTo>
                  <a:pt x="0" y="47564"/>
                </a:moveTo>
                <a:lnTo>
                  <a:pt x="468580" y="47564"/>
                </a:lnTo>
                <a:lnTo>
                  <a:pt x="468580" y="0"/>
                </a:lnTo>
                <a:lnTo>
                  <a:pt x="0" y="0"/>
                </a:lnTo>
                <a:lnTo>
                  <a:pt x="0" y="475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633524" y="3952710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633524" y="4817093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1736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942357" y="4384902"/>
            <a:ext cx="1148080" cy="0"/>
          </a:xfrm>
          <a:custGeom>
            <a:avLst/>
            <a:gdLst/>
            <a:ahLst/>
            <a:cxnLst/>
            <a:rect l="l" t="t" r="r" b="b"/>
            <a:pathLst>
              <a:path w="1148079">
                <a:moveTo>
                  <a:pt x="1147845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1736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930636" y="5249178"/>
            <a:ext cx="1171575" cy="0"/>
          </a:xfrm>
          <a:custGeom>
            <a:avLst/>
            <a:gdLst/>
            <a:ahLst/>
            <a:cxnLst/>
            <a:rect l="l" t="t" r="r" b="b"/>
            <a:pathLst>
              <a:path w="1171575">
                <a:moveTo>
                  <a:pt x="1171468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633524" y="6113455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176647" y="5657527"/>
            <a:ext cx="913765" cy="47625"/>
          </a:xfrm>
          <a:custGeom>
            <a:avLst/>
            <a:gdLst/>
            <a:ahLst/>
            <a:cxnLst/>
            <a:rect l="l" t="t" r="r" b="b"/>
            <a:pathLst>
              <a:path w="913765" h="47625">
                <a:moveTo>
                  <a:pt x="0" y="47563"/>
                </a:moveTo>
                <a:lnTo>
                  <a:pt x="913555" y="47563"/>
                </a:lnTo>
                <a:lnTo>
                  <a:pt x="913555" y="0"/>
                </a:lnTo>
                <a:lnTo>
                  <a:pt x="0" y="0"/>
                </a:lnTo>
                <a:lnTo>
                  <a:pt x="0" y="4756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749720" y="3088479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>
                <a:moveTo>
                  <a:pt x="0" y="0"/>
                </a:moveTo>
                <a:lnTo>
                  <a:pt x="461031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749720" y="3736690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>
                <a:moveTo>
                  <a:pt x="0" y="0"/>
                </a:moveTo>
                <a:lnTo>
                  <a:pt x="461031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749720" y="4384902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>
                <a:moveTo>
                  <a:pt x="0" y="0"/>
                </a:moveTo>
                <a:lnTo>
                  <a:pt x="461031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749720" y="5033113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>
                <a:moveTo>
                  <a:pt x="0" y="0"/>
                </a:moveTo>
                <a:lnTo>
                  <a:pt x="461031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749720" y="5681309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>
                <a:moveTo>
                  <a:pt x="0" y="0"/>
                </a:moveTo>
                <a:lnTo>
                  <a:pt x="461031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7179452" y="2444512"/>
            <a:ext cx="1490345" cy="3842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25"/>
              </a:lnSpc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19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tabLst>
                <a:tab pos="1068070" algn="l"/>
              </a:tabLst>
            </a:pPr>
            <a:r>
              <a:rPr sz="3450" i="1" spc="37" baseline="2415" dirty="0">
                <a:latin typeface="华文楷体"/>
                <a:cs typeface="华文楷体"/>
              </a:rPr>
              <a:t>A</a:t>
            </a:r>
            <a:r>
              <a:rPr sz="3450" i="1" spc="-277" baseline="2415" dirty="0">
                <a:latin typeface="华文楷体"/>
                <a:cs typeface="华文楷体"/>
              </a:rPr>
              <a:t> </a:t>
            </a:r>
            <a:r>
              <a:rPr sz="2175" spc="75" baseline="-7662" dirty="0">
                <a:latin typeface="华文楷体"/>
                <a:cs typeface="华文楷体"/>
              </a:rPr>
              <a:t>2</a:t>
            </a:r>
            <a:r>
              <a:rPr sz="2175" baseline="-7662" dirty="0">
                <a:latin typeface="华文楷体"/>
                <a:cs typeface="华文楷体"/>
              </a:rPr>
              <a:t>	</a:t>
            </a:r>
            <a:r>
              <a:rPr sz="2150" spc="135" dirty="0">
                <a:latin typeface="华文楷体"/>
                <a:cs typeface="华文楷体"/>
              </a:rPr>
              <a:t>CO</a:t>
            </a:r>
            <a:endParaRPr sz="215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tabLst>
                <a:tab pos="1183005" algn="l"/>
              </a:tabLst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1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	</a:t>
            </a:r>
            <a:r>
              <a:rPr sz="3450" i="1" spc="30" baseline="-41062" dirty="0">
                <a:latin typeface="华文楷体"/>
                <a:cs typeface="华文楷体"/>
              </a:rPr>
              <a:t>S</a:t>
            </a:r>
            <a:r>
              <a:rPr sz="3450" i="1" spc="-427" baseline="-41062" dirty="0">
                <a:latin typeface="华文楷体"/>
                <a:cs typeface="华文楷体"/>
              </a:rPr>
              <a:t> </a:t>
            </a:r>
            <a:r>
              <a:rPr sz="2175" spc="75" baseline="-76628" dirty="0">
                <a:latin typeface="华文楷体"/>
                <a:cs typeface="华文楷体"/>
              </a:rPr>
              <a:t>3</a:t>
            </a:r>
            <a:endParaRPr sz="2175" baseline="-76628">
              <a:latin typeface="华文楷体"/>
              <a:cs typeface="华文楷体"/>
            </a:endParaRPr>
          </a:p>
          <a:p>
            <a:pPr>
              <a:lnSpc>
                <a:spcPts val="90"/>
              </a:lnSpc>
              <a:spcBef>
                <a:spcPts val="894"/>
              </a:spcBef>
              <a:tabLst>
                <a:tab pos="611505" algn="l"/>
              </a:tabLst>
            </a:pPr>
            <a:r>
              <a:rPr sz="3450" i="1" spc="37" baseline="7246" dirty="0">
                <a:latin typeface="华文楷体"/>
                <a:cs typeface="华文楷体"/>
              </a:rPr>
              <a:t>A</a:t>
            </a:r>
            <a:r>
              <a:rPr sz="3450" i="1" spc="-277" baseline="7246" dirty="0">
                <a:latin typeface="华文楷体"/>
                <a:cs typeface="华文楷体"/>
              </a:rPr>
              <a:t> </a:t>
            </a:r>
            <a:r>
              <a:rPr sz="1450" spc="50" dirty="0">
                <a:latin typeface="华文楷体"/>
                <a:cs typeface="华文楷体"/>
              </a:rPr>
              <a:t>0	</a:t>
            </a: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1315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2120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350">
              <a:latin typeface="Times New Roman"/>
              <a:cs typeface="Times New Roman"/>
            </a:endParaRPr>
          </a:p>
          <a:p>
            <a:pPr marL="14604">
              <a:lnSpc>
                <a:spcPts val="70"/>
              </a:lnSpc>
              <a:tabLst>
                <a:tab pos="611505" algn="l"/>
                <a:tab pos="1183005" algn="l"/>
              </a:tabLst>
            </a:pPr>
            <a:r>
              <a:rPr sz="3450" i="1" spc="37" baseline="1207" dirty="0">
                <a:latin typeface="华文楷体"/>
                <a:cs typeface="华文楷体"/>
              </a:rPr>
              <a:t>B</a:t>
            </a:r>
            <a:r>
              <a:rPr sz="3450" i="1" spc="-277" baseline="1207" dirty="0">
                <a:latin typeface="华文楷体"/>
                <a:cs typeface="华文楷体"/>
              </a:rPr>
              <a:t> </a:t>
            </a:r>
            <a:r>
              <a:rPr sz="2175" spc="75" baseline="-9578" dirty="0">
                <a:latin typeface="华文楷体"/>
                <a:cs typeface="华文楷体"/>
              </a:rPr>
              <a:t>3	</a:t>
            </a:r>
            <a:r>
              <a:rPr sz="3525" b="1" spc="-195" baseline="-13002" dirty="0">
                <a:solidFill>
                  <a:srgbClr val="FF0000"/>
                </a:solidFill>
                <a:latin typeface="Times New Roman"/>
                <a:cs typeface="Times New Roman"/>
              </a:rPr>
              <a:t>L	</a:t>
            </a: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62230" algn="ctr">
              <a:lnSpc>
                <a:spcPts val="1425"/>
              </a:lnSpc>
            </a:pPr>
            <a:r>
              <a:rPr sz="235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2140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2350">
              <a:latin typeface="Times New Roman"/>
              <a:cs typeface="Times New Roman"/>
            </a:endParaRPr>
          </a:p>
          <a:p>
            <a:pPr marL="8890">
              <a:lnSpc>
                <a:spcPts val="30"/>
              </a:lnSpc>
              <a:tabLst>
                <a:tab pos="1183005" algn="l"/>
              </a:tabLst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1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	</a:t>
            </a:r>
            <a:r>
              <a:rPr sz="3450" i="1" spc="30" baseline="-41062" dirty="0">
                <a:latin typeface="华文楷体"/>
                <a:cs typeface="华文楷体"/>
              </a:rPr>
              <a:t>S</a:t>
            </a:r>
            <a:r>
              <a:rPr sz="3450" i="1" spc="-427" baseline="-41062" dirty="0">
                <a:latin typeface="华文楷体"/>
                <a:cs typeface="华文楷体"/>
              </a:rPr>
              <a:t> </a:t>
            </a:r>
            <a:r>
              <a:rPr sz="2175" spc="75" baseline="-76628" dirty="0">
                <a:latin typeface="华文楷体"/>
                <a:cs typeface="华文楷体"/>
              </a:rPr>
              <a:t>1</a:t>
            </a:r>
            <a:endParaRPr sz="2175" baseline="-76628">
              <a:latin typeface="华文楷体"/>
              <a:cs typeface="华文楷体"/>
            </a:endParaRPr>
          </a:p>
          <a:p>
            <a:pPr marL="62230" algn="ctr">
              <a:lnSpc>
                <a:spcPts val="1614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19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14604">
              <a:lnSpc>
                <a:spcPct val="100000"/>
              </a:lnSpc>
              <a:spcBef>
                <a:spcPts val="725"/>
              </a:spcBef>
              <a:tabLst>
                <a:tab pos="1183005" algn="l"/>
              </a:tabLst>
            </a:pPr>
            <a:r>
              <a:rPr sz="3450" i="1" spc="37" baseline="2415" dirty="0">
                <a:latin typeface="华文楷体"/>
                <a:cs typeface="华文楷体"/>
              </a:rPr>
              <a:t>B</a:t>
            </a:r>
            <a:r>
              <a:rPr sz="3450" i="1" spc="-277" baseline="2415" dirty="0">
                <a:latin typeface="华文楷体"/>
                <a:cs typeface="华文楷体"/>
              </a:rPr>
              <a:t> </a:t>
            </a:r>
            <a:r>
              <a:rPr sz="2175" spc="75" baseline="-7662" dirty="0">
                <a:latin typeface="华文楷体"/>
                <a:cs typeface="华文楷体"/>
              </a:rPr>
              <a:t>0	</a:t>
            </a: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54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  <a:p>
            <a:pPr marL="13335">
              <a:lnSpc>
                <a:spcPct val="100000"/>
              </a:lnSpc>
              <a:spcBef>
                <a:spcPts val="795"/>
              </a:spcBef>
            </a:pPr>
            <a:r>
              <a:rPr sz="2150" spc="95" dirty="0">
                <a:latin typeface="华文楷体"/>
                <a:cs typeface="华文楷体"/>
              </a:rPr>
              <a:t>CI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633524" y="4384902"/>
            <a:ext cx="0" cy="436880"/>
          </a:xfrm>
          <a:custGeom>
            <a:avLst/>
            <a:gdLst/>
            <a:ahLst/>
            <a:cxnLst/>
            <a:rect l="l" t="t" r="r" b="b"/>
            <a:pathLst>
              <a:path h="436879">
                <a:moveTo>
                  <a:pt x="0" y="0"/>
                </a:moveTo>
                <a:lnTo>
                  <a:pt x="0" y="436460"/>
                </a:lnTo>
              </a:path>
            </a:pathLst>
          </a:custGeom>
          <a:ln w="35706">
            <a:solidFill>
              <a:srgbClr val="1736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164927" y="5249178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432130"/>
                </a:moveTo>
                <a:lnTo>
                  <a:pt x="0" y="0"/>
                </a:lnTo>
              </a:path>
            </a:pathLst>
          </a:custGeom>
          <a:ln w="357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105990" y="2225272"/>
            <a:ext cx="1644014" cy="4331970"/>
          </a:xfrm>
          <a:custGeom>
            <a:avLst/>
            <a:gdLst/>
            <a:ahLst/>
            <a:cxnLst/>
            <a:rect l="l" t="t" r="r" b="b"/>
            <a:pathLst>
              <a:path w="1644015" h="4331970">
                <a:moveTo>
                  <a:pt x="0" y="4331836"/>
                </a:moveTo>
                <a:lnTo>
                  <a:pt x="1643729" y="4331836"/>
                </a:lnTo>
                <a:lnTo>
                  <a:pt x="1643729" y="0"/>
                </a:lnTo>
                <a:lnTo>
                  <a:pt x="0" y="0"/>
                </a:lnTo>
                <a:lnTo>
                  <a:pt x="0" y="43318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05990" y="2225272"/>
            <a:ext cx="1644014" cy="4331970"/>
          </a:xfrm>
          <a:custGeom>
            <a:avLst/>
            <a:gdLst/>
            <a:ahLst/>
            <a:cxnLst/>
            <a:rect l="l" t="t" r="r" b="b"/>
            <a:pathLst>
              <a:path w="1644015" h="4331970">
                <a:moveTo>
                  <a:pt x="0" y="4331836"/>
                </a:moveTo>
                <a:lnTo>
                  <a:pt x="1643729" y="4331836"/>
                </a:lnTo>
                <a:lnTo>
                  <a:pt x="1643729" y="0"/>
                </a:lnTo>
                <a:lnTo>
                  <a:pt x="0" y="0"/>
                </a:lnTo>
                <a:lnTo>
                  <a:pt x="0" y="4331836"/>
                </a:lnTo>
                <a:close/>
              </a:path>
            </a:pathLst>
          </a:custGeom>
          <a:ln w="50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628403" y="2657560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469575" y="0"/>
                </a:moveTo>
                <a:lnTo>
                  <a:pt x="0" y="0"/>
                </a:lnTo>
              </a:path>
            </a:pathLst>
          </a:custGeom>
          <a:ln w="471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628403" y="3524933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469575" y="0"/>
                </a:moveTo>
                <a:lnTo>
                  <a:pt x="0" y="0"/>
                </a:lnTo>
              </a:path>
            </a:pathLst>
          </a:custGeom>
          <a:ln w="471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615193" y="3067427"/>
            <a:ext cx="471805" cy="47625"/>
          </a:xfrm>
          <a:custGeom>
            <a:avLst/>
            <a:gdLst/>
            <a:ahLst/>
            <a:cxnLst/>
            <a:rect l="l" t="t" r="r" b="b"/>
            <a:pathLst>
              <a:path w="471804" h="47625">
                <a:moveTo>
                  <a:pt x="0" y="47180"/>
                </a:moveTo>
                <a:lnTo>
                  <a:pt x="471181" y="47180"/>
                </a:lnTo>
                <a:lnTo>
                  <a:pt x="471181" y="0"/>
                </a:lnTo>
                <a:lnTo>
                  <a:pt x="0" y="0"/>
                </a:lnTo>
                <a:lnTo>
                  <a:pt x="0" y="47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636795" y="3957324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9194" y="0"/>
                </a:moveTo>
                <a:lnTo>
                  <a:pt x="0" y="0"/>
                </a:lnTo>
              </a:path>
            </a:pathLst>
          </a:custGeom>
          <a:ln w="471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636795" y="4825002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9194" y="0"/>
                </a:moveTo>
                <a:lnTo>
                  <a:pt x="0" y="0"/>
                </a:lnTo>
              </a:path>
            </a:pathLst>
          </a:custGeom>
          <a:ln w="47180">
            <a:solidFill>
              <a:srgbClr val="1736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943439" y="4391239"/>
            <a:ext cx="1151255" cy="0"/>
          </a:xfrm>
          <a:custGeom>
            <a:avLst/>
            <a:gdLst/>
            <a:ahLst/>
            <a:cxnLst/>
            <a:rect l="l" t="t" r="r" b="b"/>
            <a:pathLst>
              <a:path w="1151254">
                <a:moveTo>
                  <a:pt x="1150930" y="0"/>
                </a:moveTo>
                <a:lnTo>
                  <a:pt x="0" y="0"/>
                </a:lnTo>
              </a:path>
            </a:pathLst>
          </a:custGeom>
          <a:ln w="47180">
            <a:solidFill>
              <a:srgbClr val="1736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931836" y="5257393"/>
            <a:ext cx="1174750" cy="0"/>
          </a:xfrm>
          <a:custGeom>
            <a:avLst/>
            <a:gdLst/>
            <a:ahLst/>
            <a:cxnLst/>
            <a:rect l="l" t="t" r="r" b="b"/>
            <a:pathLst>
              <a:path w="1174750">
                <a:moveTo>
                  <a:pt x="1174153" y="0"/>
                </a:moveTo>
                <a:lnTo>
                  <a:pt x="0" y="0"/>
                </a:lnTo>
              </a:path>
            </a:pathLst>
          </a:custGeom>
          <a:ln w="4718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636795" y="6125101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9194" y="0"/>
                </a:moveTo>
                <a:lnTo>
                  <a:pt x="0" y="0"/>
                </a:lnTo>
              </a:path>
            </a:pathLst>
          </a:custGeom>
          <a:ln w="47180">
            <a:solidFill>
              <a:srgbClr val="1736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178823" y="5667657"/>
            <a:ext cx="915669" cy="47625"/>
          </a:xfrm>
          <a:custGeom>
            <a:avLst/>
            <a:gdLst/>
            <a:ahLst/>
            <a:cxnLst/>
            <a:rect l="l" t="t" r="r" b="b"/>
            <a:pathLst>
              <a:path w="915670" h="47625">
                <a:moveTo>
                  <a:pt x="0" y="47180"/>
                </a:moveTo>
                <a:lnTo>
                  <a:pt x="915546" y="47180"/>
                </a:lnTo>
                <a:lnTo>
                  <a:pt x="915546" y="0"/>
                </a:lnTo>
                <a:lnTo>
                  <a:pt x="0" y="0"/>
                </a:lnTo>
                <a:lnTo>
                  <a:pt x="0" y="471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749670" y="3091018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469608" y="0"/>
                </a:moveTo>
                <a:lnTo>
                  <a:pt x="0" y="0"/>
                </a:lnTo>
              </a:path>
            </a:pathLst>
          </a:custGeom>
          <a:ln w="471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749670" y="3741814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469608" y="0"/>
                </a:moveTo>
                <a:lnTo>
                  <a:pt x="0" y="0"/>
                </a:lnTo>
              </a:path>
            </a:pathLst>
          </a:custGeom>
          <a:ln w="471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749670" y="4391239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469608" y="0"/>
                </a:moveTo>
                <a:lnTo>
                  <a:pt x="0" y="0"/>
                </a:lnTo>
              </a:path>
            </a:pathLst>
          </a:custGeom>
          <a:ln w="471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749670" y="5041883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469608" y="0"/>
                </a:moveTo>
                <a:lnTo>
                  <a:pt x="0" y="0"/>
                </a:lnTo>
              </a:path>
            </a:pathLst>
          </a:custGeom>
          <a:ln w="471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749670" y="5691247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>
                <a:moveTo>
                  <a:pt x="469608" y="0"/>
                </a:moveTo>
                <a:lnTo>
                  <a:pt x="0" y="0"/>
                </a:lnTo>
              </a:path>
            </a:pathLst>
          </a:custGeom>
          <a:ln w="471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7158687" y="2345632"/>
            <a:ext cx="408940" cy="393446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55"/>
              </a:spcBef>
            </a:pPr>
            <a:r>
              <a:rPr sz="2300" b="1" i="1" spc="25" dirty="0">
                <a:latin typeface="华文楷体"/>
                <a:cs typeface="华文楷体"/>
              </a:rPr>
              <a:t>A</a:t>
            </a:r>
            <a:r>
              <a:rPr sz="2300" b="1" i="1" spc="-280" dirty="0">
                <a:latin typeface="华文楷体"/>
                <a:cs typeface="华文楷体"/>
              </a:rPr>
              <a:t> </a:t>
            </a:r>
            <a:r>
              <a:rPr sz="2100" b="1" spc="112" baseline="-11904" dirty="0">
                <a:latin typeface="华文楷体"/>
                <a:cs typeface="华文楷体"/>
              </a:rPr>
              <a:t>3</a:t>
            </a:r>
            <a:endParaRPr sz="2100" baseline="-1190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655"/>
              </a:spcBef>
            </a:pPr>
            <a:r>
              <a:rPr sz="2300" b="1" i="1" spc="25" dirty="0">
                <a:latin typeface="华文楷体"/>
                <a:cs typeface="华文楷体"/>
              </a:rPr>
              <a:t>A</a:t>
            </a:r>
            <a:r>
              <a:rPr sz="2300" b="1" i="1" spc="-280" dirty="0">
                <a:latin typeface="华文楷体"/>
                <a:cs typeface="华文楷体"/>
              </a:rPr>
              <a:t> </a:t>
            </a:r>
            <a:r>
              <a:rPr sz="2100" b="1" spc="112" baseline="-11904" dirty="0">
                <a:latin typeface="华文楷体"/>
                <a:cs typeface="华文楷体"/>
              </a:rPr>
              <a:t>2</a:t>
            </a:r>
            <a:endParaRPr sz="2100" baseline="-1190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645"/>
              </a:spcBef>
            </a:pPr>
            <a:r>
              <a:rPr sz="2300" b="1" i="1" spc="25" dirty="0">
                <a:latin typeface="华文楷体"/>
                <a:cs typeface="华文楷体"/>
              </a:rPr>
              <a:t>A</a:t>
            </a:r>
            <a:r>
              <a:rPr sz="2300" b="1" i="1" spc="-280" dirty="0">
                <a:latin typeface="华文楷体"/>
                <a:cs typeface="华文楷体"/>
              </a:rPr>
              <a:t> </a:t>
            </a:r>
            <a:r>
              <a:rPr sz="2100" b="1" spc="112" baseline="-11904" dirty="0">
                <a:latin typeface="华文楷体"/>
                <a:cs typeface="华文楷体"/>
              </a:rPr>
              <a:t>1</a:t>
            </a:r>
            <a:endParaRPr sz="2100" baseline="-1190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655"/>
              </a:spcBef>
            </a:pPr>
            <a:r>
              <a:rPr sz="2300" b="1" i="1" spc="25" dirty="0">
                <a:latin typeface="华文楷体"/>
                <a:cs typeface="华文楷体"/>
              </a:rPr>
              <a:t>A</a:t>
            </a:r>
            <a:r>
              <a:rPr sz="2300" b="1" i="1" spc="-280" dirty="0">
                <a:latin typeface="华文楷体"/>
                <a:cs typeface="华文楷体"/>
              </a:rPr>
              <a:t> </a:t>
            </a:r>
            <a:r>
              <a:rPr sz="2100" b="1" spc="112" baseline="-11904" dirty="0">
                <a:latin typeface="华文楷体"/>
                <a:cs typeface="华文楷体"/>
              </a:rPr>
              <a:t>0</a:t>
            </a:r>
            <a:endParaRPr sz="2100" baseline="-11904">
              <a:latin typeface="华文楷体"/>
              <a:cs typeface="华文楷体"/>
            </a:endParaRPr>
          </a:p>
          <a:p>
            <a:pPr marL="40005">
              <a:lnSpc>
                <a:spcPct val="100000"/>
              </a:lnSpc>
              <a:spcBef>
                <a:spcPts val="655"/>
              </a:spcBef>
            </a:pPr>
            <a:r>
              <a:rPr sz="2300" b="1" i="1" spc="25" dirty="0">
                <a:latin typeface="华文楷体"/>
                <a:cs typeface="华文楷体"/>
              </a:rPr>
              <a:t>B</a:t>
            </a:r>
            <a:r>
              <a:rPr sz="2300" b="1" i="1" spc="-280" dirty="0">
                <a:latin typeface="华文楷体"/>
                <a:cs typeface="华文楷体"/>
              </a:rPr>
              <a:t> </a:t>
            </a:r>
            <a:r>
              <a:rPr sz="2100" b="1" spc="112" baseline="-11904" dirty="0">
                <a:latin typeface="华文楷体"/>
                <a:cs typeface="华文楷体"/>
              </a:rPr>
              <a:t>3</a:t>
            </a:r>
            <a:endParaRPr sz="2100" baseline="-11904">
              <a:latin typeface="华文楷体"/>
              <a:cs typeface="华文楷体"/>
            </a:endParaRPr>
          </a:p>
          <a:p>
            <a:pPr marL="33655">
              <a:lnSpc>
                <a:spcPct val="100000"/>
              </a:lnSpc>
              <a:spcBef>
                <a:spcPts val="645"/>
              </a:spcBef>
            </a:pPr>
            <a:r>
              <a:rPr sz="2300" b="1" i="1" spc="25" dirty="0">
                <a:latin typeface="华文楷体"/>
                <a:cs typeface="华文楷体"/>
              </a:rPr>
              <a:t>B</a:t>
            </a:r>
            <a:r>
              <a:rPr sz="2300" b="1" i="1" spc="-280" dirty="0">
                <a:latin typeface="华文楷体"/>
                <a:cs typeface="华文楷体"/>
              </a:rPr>
              <a:t> </a:t>
            </a:r>
            <a:r>
              <a:rPr sz="2100" b="1" spc="112" baseline="-11904" dirty="0">
                <a:latin typeface="华文楷体"/>
                <a:cs typeface="华文楷体"/>
              </a:rPr>
              <a:t>2</a:t>
            </a:r>
            <a:endParaRPr sz="2100" baseline="-11904">
              <a:latin typeface="华文楷体"/>
              <a:cs typeface="华文楷体"/>
            </a:endParaRPr>
          </a:p>
          <a:p>
            <a:pPr marL="40005">
              <a:lnSpc>
                <a:spcPct val="100000"/>
              </a:lnSpc>
              <a:spcBef>
                <a:spcPts val="660"/>
              </a:spcBef>
            </a:pPr>
            <a:r>
              <a:rPr sz="2300" b="1" i="1" spc="25" dirty="0">
                <a:latin typeface="华文楷体"/>
                <a:cs typeface="华文楷体"/>
              </a:rPr>
              <a:t>B</a:t>
            </a:r>
            <a:r>
              <a:rPr sz="2300" b="1" i="1" spc="-280" dirty="0">
                <a:latin typeface="华文楷体"/>
                <a:cs typeface="华文楷体"/>
              </a:rPr>
              <a:t> </a:t>
            </a:r>
            <a:r>
              <a:rPr sz="2100" b="1" spc="112" baseline="-11904" dirty="0">
                <a:latin typeface="华文楷体"/>
                <a:cs typeface="华文楷体"/>
              </a:rPr>
              <a:t>1</a:t>
            </a:r>
            <a:endParaRPr sz="2100" baseline="-11904">
              <a:latin typeface="华文楷体"/>
              <a:cs typeface="华文楷体"/>
            </a:endParaRPr>
          </a:p>
          <a:p>
            <a:pPr marL="40005">
              <a:lnSpc>
                <a:spcPct val="100000"/>
              </a:lnSpc>
              <a:spcBef>
                <a:spcPts val="650"/>
              </a:spcBef>
            </a:pPr>
            <a:r>
              <a:rPr sz="2300" b="1" i="1" spc="25" dirty="0">
                <a:latin typeface="华文楷体"/>
                <a:cs typeface="华文楷体"/>
              </a:rPr>
              <a:t>B</a:t>
            </a:r>
            <a:r>
              <a:rPr sz="2300" b="1" i="1" spc="-280" dirty="0">
                <a:latin typeface="华文楷体"/>
                <a:cs typeface="华文楷体"/>
              </a:rPr>
              <a:t> </a:t>
            </a:r>
            <a:r>
              <a:rPr sz="2100" b="1" spc="112" baseline="-11904" dirty="0">
                <a:latin typeface="华文楷体"/>
                <a:cs typeface="华文楷体"/>
              </a:rPr>
              <a:t>0</a:t>
            </a:r>
            <a:endParaRPr sz="2100" baseline="-1190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890"/>
              </a:spcBef>
            </a:pPr>
            <a:r>
              <a:rPr sz="2150" b="1" spc="85" dirty="0">
                <a:latin typeface="华文楷体"/>
                <a:cs typeface="华文楷体"/>
              </a:rPr>
              <a:t>CI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230328" y="2891415"/>
            <a:ext cx="485140" cy="2957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2150" b="1" spc="130" dirty="0">
                <a:latin typeface="华文楷体"/>
                <a:cs typeface="华文楷体"/>
              </a:rPr>
              <a:t>CO</a:t>
            </a:r>
            <a:endParaRPr sz="2150">
              <a:latin typeface="华文楷体"/>
              <a:cs typeface="华文楷体"/>
            </a:endParaRPr>
          </a:p>
          <a:p>
            <a:pPr marL="139065">
              <a:lnSpc>
                <a:spcPct val="100000"/>
              </a:lnSpc>
              <a:spcBef>
                <a:spcPts val="2295"/>
              </a:spcBef>
            </a:pPr>
            <a:r>
              <a:rPr sz="2300" b="1" i="1" spc="15" dirty="0">
                <a:latin typeface="华文楷体"/>
                <a:cs typeface="华文楷体"/>
              </a:rPr>
              <a:t>S</a:t>
            </a:r>
            <a:r>
              <a:rPr sz="2300" b="1" i="1" spc="-285" dirty="0">
                <a:latin typeface="华文楷体"/>
                <a:cs typeface="华文楷体"/>
              </a:rPr>
              <a:t> </a:t>
            </a:r>
            <a:r>
              <a:rPr sz="2100" b="1" spc="112" baseline="-11904" dirty="0">
                <a:latin typeface="华文楷体"/>
                <a:cs typeface="华文楷体"/>
              </a:rPr>
              <a:t>3</a:t>
            </a:r>
            <a:endParaRPr sz="2100" baseline="-11904">
              <a:latin typeface="华文楷体"/>
              <a:cs typeface="华文楷体"/>
            </a:endParaRPr>
          </a:p>
          <a:p>
            <a:pPr marL="139065">
              <a:lnSpc>
                <a:spcPct val="100000"/>
              </a:lnSpc>
              <a:spcBef>
                <a:spcPts val="2410"/>
              </a:spcBef>
            </a:pPr>
            <a:r>
              <a:rPr sz="2300" b="1" i="1" spc="15" dirty="0">
                <a:latin typeface="华文楷体"/>
                <a:cs typeface="华文楷体"/>
              </a:rPr>
              <a:t>S</a:t>
            </a:r>
            <a:r>
              <a:rPr sz="2300" b="1" i="1" spc="-285" dirty="0">
                <a:latin typeface="华文楷体"/>
                <a:cs typeface="华文楷体"/>
              </a:rPr>
              <a:t> </a:t>
            </a:r>
            <a:r>
              <a:rPr sz="2100" b="1" spc="112" baseline="-11904" dirty="0">
                <a:latin typeface="华文楷体"/>
                <a:cs typeface="华文楷体"/>
              </a:rPr>
              <a:t>2</a:t>
            </a:r>
            <a:endParaRPr sz="2100" baseline="-11904">
              <a:latin typeface="华文楷体"/>
              <a:cs typeface="华文楷体"/>
            </a:endParaRPr>
          </a:p>
          <a:p>
            <a:pPr marL="139065">
              <a:lnSpc>
                <a:spcPct val="100000"/>
              </a:lnSpc>
              <a:spcBef>
                <a:spcPts val="2305"/>
              </a:spcBef>
            </a:pPr>
            <a:r>
              <a:rPr sz="2300" b="1" i="1" spc="15" dirty="0">
                <a:latin typeface="华文楷体"/>
                <a:cs typeface="华文楷体"/>
              </a:rPr>
              <a:t>S</a:t>
            </a:r>
            <a:r>
              <a:rPr sz="2300" b="1" i="1" spc="-285" dirty="0">
                <a:latin typeface="华文楷体"/>
                <a:cs typeface="华文楷体"/>
              </a:rPr>
              <a:t> </a:t>
            </a:r>
            <a:r>
              <a:rPr sz="2100" b="1" spc="112" baseline="-11904" dirty="0">
                <a:latin typeface="华文楷体"/>
                <a:cs typeface="华文楷体"/>
              </a:rPr>
              <a:t>1</a:t>
            </a:r>
            <a:endParaRPr sz="2100" baseline="-11904">
              <a:latin typeface="华文楷体"/>
              <a:cs typeface="华文楷体"/>
            </a:endParaRPr>
          </a:p>
          <a:p>
            <a:pPr marL="139065">
              <a:lnSpc>
                <a:spcPct val="100000"/>
              </a:lnSpc>
              <a:spcBef>
                <a:spcPts val="2450"/>
              </a:spcBef>
            </a:pPr>
            <a:r>
              <a:rPr sz="2300" b="1" i="1" spc="15" dirty="0">
                <a:latin typeface="华文楷体"/>
                <a:cs typeface="华文楷体"/>
              </a:rPr>
              <a:t>S</a:t>
            </a:r>
            <a:r>
              <a:rPr sz="2300" b="1" i="1" spc="-285" dirty="0">
                <a:latin typeface="华文楷体"/>
                <a:cs typeface="华文楷体"/>
              </a:rPr>
              <a:t> </a:t>
            </a:r>
            <a:r>
              <a:rPr sz="2100" b="1" spc="112" baseline="-11904" dirty="0">
                <a:latin typeface="华文楷体"/>
                <a:cs typeface="华文楷体"/>
              </a:rPr>
              <a:t>0</a:t>
            </a:r>
            <a:endParaRPr sz="2100" baseline="-11904">
              <a:latin typeface="华文楷体"/>
              <a:cs typeface="华文楷体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785110" y="3784645"/>
            <a:ext cx="355600" cy="10490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60"/>
              </a:lnSpc>
            </a:pPr>
            <a:r>
              <a:rPr sz="2350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74LS283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133803" y="2730497"/>
            <a:ext cx="452120" cy="132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23800"/>
              </a:lnSpc>
              <a:spcBef>
                <a:spcPts val="100"/>
              </a:spcBef>
            </a:pPr>
            <a:r>
              <a:rPr sz="2300" i="1" spc="-865" dirty="0">
                <a:latin typeface="华文楷体"/>
                <a:cs typeface="华文楷体"/>
              </a:rPr>
              <a:t>D</a:t>
            </a:r>
            <a:r>
              <a:rPr sz="2300" b="1" i="1" spc="-865" dirty="0">
                <a:latin typeface="华文楷体"/>
                <a:cs typeface="华文楷体"/>
              </a:rPr>
              <a:t>D</a:t>
            </a:r>
            <a:r>
              <a:rPr sz="2300" b="1" i="1" spc="-295" dirty="0">
                <a:latin typeface="华文楷体"/>
                <a:cs typeface="华文楷体"/>
              </a:rPr>
              <a:t> </a:t>
            </a:r>
            <a:r>
              <a:rPr sz="2175" spc="-442" baseline="-11494" dirty="0">
                <a:latin typeface="华文楷体"/>
                <a:cs typeface="华文楷体"/>
              </a:rPr>
              <a:t>2</a:t>
            </a:r>
            <a:r>
              <a:rPr sz="2100" b="1" spc="-442" baseline="-11904" dirty="0">
                <a:latin typeface="华文楷体"/>
                <a:cs typeface="华文楷体"/>
              </a:rPr>
              <a:t>2  </a:t>
            </a:r>
            <a:r>
              <a:rPr sz="3450" i="1" spc="-1297" baseline="1207" dirty="0">
                <a:latin typeface="华文楷体"/>
                <a:cs typeface="华文楷体"/>
              </a:rPr>
              <a:t>D</a:t>
            </a:r>
            <a:r>
              <a:rPr sz="2300" b="1" i="1" spc="-865" dirty="0">
                <a:latin typeface="华文楷体"/>
                <a:cs typeface="华文楷体"/>
              </a:rPr>
              <a:t>D</a:t>
            </a:r>
            <a:r>
              <a:rPr sz="2300" b="1" i="1" spc="-295" dirty="0">
                <a:latin typeface="华文楷体"/>
                <a:cs typeface="华文楷体"/>
              </a:rPr>
              <a:t> </a:t>
            </a:r>
            <a:r>
              <a:rPr sz="2175" spc="-442" baseline="-9578" dirty="0">
                <a:latin typeface="华文楷体"/>
                <a:cs typeface="华文楷体"/>
              </a:rPr>
              <a:t>1</a:t>
            </a:r>
            <a:r>
              <a:rPr sz="2100" b="1" spc="-442" baseline="-11904" dirty="0">
                <a:latin typeface="华文楷体"/>
                <a:cs typeface="华文楷体"/>
              </a:rPr>
              <a:t>1  </a:t>
            </a:r>
            <a:r>
              <a:rPr sz="3450" i="1" spc="-1297" baseline="1207" dirty="0">
                <a:latin typeface="华文楷体"/>
                <a:cs typeface="华文楷体"/>
              </a:rPr>
              <a:t>D</a:t>
            </a:r>
            <a:r>
              <a:rPr sz="2300" b="1" i="1" spc="-865" dirty="0">
                <a:latin typeface="华文楷体"/>
                <a:cs typeface="华文楷体"/>
              </a:rPr>
              <a:t>D</a:t>
            </a:r>
            <a:r>
              <a:rPr sz="2300" b="1" i="1" spc="-295" dirty="0">
                <a:latin typeface="华文楷体"/>
                <a:cs typeface="华文楷体"/>
              </a:rPr>
              <a:t> </a:t>
            </a:r>
            <a:r>
              <a:rPr sz="2175" spc="-442" baseline="-9578" dirty="0">
                <a:latin typeface="华文楷体"/>
                <a:cs typeface="华文楷体"/>
              </a:rPr>
              <a:t>0</a:t>
            </a:r>
            <a:r>
              <a:rPr sz="2100" b="1" spc="-442" baseline="-11904" dirty="0">
                <a:latin typeface="华文楷体"/>
                <a:cs typeface="华文楷体"/>
              </a:rPr>
              <a:t>0</a:t>
            </a:r>
            <a:endParaRPr sz="2100" baseline="-11904">
              <a:latin typeface="华文楷体"/>
              <a:cs typeface="华文楷体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133803" y="2381886"/>
            <a:ext cx="45212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300" i="1" spc="-865" dirty="0">
                <a:latin typeface="华文楷体"/>
                <a:cs typeface="华文楷体"/>
              </a:rPr>
              <a:t>D</a:t>
            </a:r>
            <a:r>
              <a:rPr sz="2300" b="1" i="1" spc="-865" dirty="0">
                <a:latin typeface="华文楷体"/>
                <a:cs typeface="华文楷体"/>
              </a:rPr>
              <a:t>D</a:t>
            </a:r>
            <a:r>
              <a:rPr sz="2300" b="1" i="1" spc="-254" dirty="0">
                <a:latin typeface="华文楷体"/>
                <a:cs typeface="华文楷体"/>
              </a:rPr>
              <a:t> </a:t>
            </a:r>
            <a:r>
              <a:rPr sz="2175" spc="-442" baseline="-11494" dirty="0">
                <a:latin typeface="华文楷体"/>
                <a:cs typeface="华文楷体"/>
              </a:rPr>
              <a:t>3</a:t>
            </a:r>
            <a:r>
              <a:rPr sz="2100" b="1" spc="-442" baseline="-11904" dirty="0">
                <a:latin typeface="华文楷体"/>
                <a:cs typeface="华文楷体"/>
              </a:rPr>
              <a:t>3</a:t>
            </a:r>
            <a:endParaRPr sz="2100" baseline="-11904">
              <a:latin typeface="华文楷体"/>
              <a:cs typeface="华文楷体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636795" y="4391239"/>
            <a:ext cx="0" cy="1734185"/>
          </a:xfrm>
          <a:custGeom>
            <a:avLst/>
            <a:gdLst/>
            <a:ahLst/>
            <a:cxnLst/>
            <a:rect l="l" t="t" r="r" b="b"/>
            <a:pathLst>
              <a:path h="1734185">
                <a:moveTo>
                  <a:pt x="0" y="0"/>
                </a:moveTo>
                <a:lnTo>
                  <a:pt x="0" y="1733862"/>
                </a:lnTo>
              </a:path>
            </a:pathLst>
          </a:custGeom>
          <a:ln w="36429">
            <a:solidFill>
              <a:srgbClr val="1736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167220" y="5257393"/>
            <a:ext cx="0" cy="434340"/>
          </a:xfrm>
          <a:custGeom>
            <a:avLst/>
            <a:gdLst/>
            <a:ahLst/>
            <a:cxnLst/>
            <a:rect l="l" t="t" r="r" b="b"/>
            <a:pathLst>
              <a:path h="434339">
                <a:moveTo>
                  <a:pt x="0" y="433854"/>
                </a:moveTo>
                <a:lnTo>
                  <a:pt x="0" y="0"/>
                </a:lnTo>
              </a:path>
            </a:pathLst>
          </a:custGeom>
          <a:ln w="3642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5705070" y="4186434"/>
            <a:ext cx="16573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25" spc="-1514" baseline="1291" dirty="0">
                <a:latin typeface="华文楷体"/>
                <a:cs typeface="华文楷体"/>
              </a:rPr>
              <a:t>0</a:t>
            </a:r>
            <a:r>
              <a:rPr sz="2150" b="1" spc="85" dirty="0">
                <a:latin typeface="华文楷体"/>
                <a:cs typeface="华文楷体"/>
              </a:rPr>
              <a:t>0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115</a:t>
            </a:r>
            <a:endParaRPr sz="10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726146" y="5067844"/>
            <a:ext cx="16573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25" spc="-1514" baseline="1291" dirty="0">
                <a:latin typeface="华文楷体"/>
                <a:cs typeface="华文楷体"/>
              </a:rPr>
              <a:t>1</a:t>
            </a:r>
            <a:r>
              <a:rPr sz="2150" b="1" spc="85" dirty="0">
                <a:latin typeface="华文楷体"/>
                <a:cs typeface="华文楷体"/>
              </a:rPr>
              <a:t>1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9290515" y="5479891"/>
            <a:ext cx="42481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450" i="1" spc="-1064" baseline="2415" dirty="0">
                <a:latin typeface="华文楷体"/>
                <a:cs typeface="华文楷体"/>
              </a:rPr>
              <a:t>Y</a:t>
            </a:r>
            <a:r>
              <a:rPr sz="2300" b="1" i="1" spc="-710" dirty="0">
                <a:latin typeface="华文楷体"/>
                <a:cs typeface="华文楷体"/>
              </a:rPr>
              <a:t>Y</a:t>
            </a:r>
            <a:r>
              <a:rPr sz="2300" b="1" i="1" spc="-300" dirty="0">
                <a:latin typeface="华文楷体"/>
                <a:cs typeface="华文楷体"/>
              </a:rPr>
              <a:t> </a:t>
            </a:r>
            <a:r>
              <a:rPr sz="2175" spc="-397" baseline="-7662" dirty="0">
                <a:latin typeface="华文楷体"/>
                <a:cs typeface="华文楷体"/>
              </a:rPr>
              <a:t>0</a:t>
            </a:r>
            <a:r>
              <a:rPr sz="2100" b="1" spc="-397" baseline="-11904" dirty="0">
                <a:latin typeface="华文楷体"/>
                <a:cs typeface="华文楷体"/>
              </a:rPr>
              <a:t>0</a:t>
            </a:r>
            <a:endParaRPr sz="2100" baseline="-11904">
              <a:latin typeface="华文楷体"/>
              <a:cs typeface="华文楷体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278613" y="4830588"/>
            <a:ext cx="41465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450" i="1" spc="-1064" baseline="1207" dirty="0">
                <a:latin typeface="华文楷体"/>
                <a:cs typeface="华文楷体"/>
              </a:rPr>
              <a:t>Y</a:t>
            </a:r>
            <a:r>
              <a:rPr sz="2300" b="1" i="1" spc="-710" dirty="0">
                <a:latin typeface="华文楷体"/>
                <a:cs typeface="华文楷体"/>
              </a:rPr>
              <a:t>Y</a:t>
            </a:r>
            <a:r>
              <a:rPr sz="2300" b="1" i="1" spc="-305" dirty="0">
                <a:latin typeface="华文楷体"/>
                <a:cs typeface="华文楷体"/>
              </a:rPr>
              <a:t> </a:t>
            </a:r>
            <a:r>
              <a:rPr sz="2175" spc="75" baseline="-9578" dirty="0">
                <a:latin typeface="华文楷体"/>
                <a:cs typeface="华文楷体"/>
              </a:rPr>
              <a:t>1</a:t>
            </a:r>
            <a:endParaRPr sz="2175" baseline="-9578">
              <a:latin typeface="华文楷体"/>
              <a:cs typeface="华文楷体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9559654" y="4977973"/>
            <a:ext cx="118745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b="1" spc="75" dirty="0">
                <a:latin typeface="华文楷体"/>
                <a:cs typeface="华文楷体"/>
              </a:rPr>
              <a:t>1</a:t>
            </a:r>
            <a:endParaRPr sz="1400">
              <a:latin typeface="华文楷体"/>
              <a:cs typeface="华文楷体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9278613" y="4169062"/>
            <a:ext cx="42545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450" i="1" spc="-1064" baseline="1207" dirty="0">
                <a:latin typeface="华文楷体"/>
                <a:cs typeface="华文楷体"/>
              </a:rPr>
              <a:t>Y</a:t>
            </a:r>
            <a:r>
              <a:rPr sz="2300" b="1" i="1" spc="-710" dirty="0">
                <a:latin typeface="华文楷体"/>
                <a:cs typeface="华文楷体"/>
              </a:rPr>
              <a:t>Y</a:t>
            </a:r>
            <a:r>
              <a:rPr sz="2300" b="1" i="1" spc="-305" dirty="0">
                <a:latin typeface="华文楷体"/>
                <a:cs typeface="华文楷体"/>
              </a:rPr>
              <a:t> </a:t>
            </a:r>
            <a:r>
              <a:rPr sz="2175" spc="-397" baseline="-9578" dirty="0">
                <a:latin typeface="华文楷体"/>
                <a:cs typeface="华文楷体"/>
              </a:rPr>
              <a:t>2</a:t>
            </a:r>
            <a:r>
              <a:rPr sz="2100" b="1" spc="-397" baseline="-11904" dirty="0">
                <a:latin typeface="华文楷体"/>
                <a:cs typeface="华文楷体"/>
              </a:rPr>
              <a:t>2</a:t>
            </a:r>
            <a:endParaRPr sz="2100" baseline="-11904">
              <a:latin typeface="华文楷体"/>
              <a:cs typeface="华文楷体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304013" y="3518265"/>
            <a:ext cx="22987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50" i="1" spc="-2167" baseline="1207" dirty="0">
                <a:latin typeface="华文楷体"/>
                <a:cs typeface="华文楷体"/>
              </a:rPr>
              <a:t>Y</a:t>
            </a:r>
            <a:r>
              <a:rPr sz="2300" b="1" i="1" spc="25" dirty="0">
                <a:latin typeface="华文楷体"/>
                <a:cs typeface="华文楷体"/>
              </a:rPr>
              <a:t>Y</a:t>
            </a:r>
            <a:endParaRPr sz="2300">
              <a:latin typeface="华文楷体"/>
              <a:cs typeface="华文楷体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9549330" y="3666947"/>
            <a:ext cx="12890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75" spc="-907" baseline="1915" dirty="0">
                <a:latin typeface="华文楷体"/>
                <a:cs typeface="华文楷体"/>
              </a:rPr>
              <a:t>3</a:t>
            </a:r>
            <a:r>
              <a:rPr sz="1400" b="1" spc="75" dirty="0">
                <a:latin typeface="华文楷体"/>
                <a:cs typeface="华文楷体"/>
              </a:rPr>
              <a:t>3</a:t>
            </a:r>
            <a:endParaRPr sz="1400">
              <a:latin typeface="华文楷体"/>
              <a:cs typeface="华文楷体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065210" y="3505669"/>
            <a:ext cx="343027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402715" algn="l"/>
              </a:tabLst>
            </a:pPr>
            <a:r>
              <a:rPr sz="2950" i="1" spc="-40" dirty="0">
                <a:latin typeface="Times New Roman"/>
                <a:cs typeface="Times New Roman"/>
              </a:rPr>
              <a:t>Y</a:t>
            </a:r>
            <a:r>
              <a:rPr sz="2550" spc="-60" baseline="-24509" dirty="0">
                <a:latin typeface="Times New Roman"/>
                <a:cs typeface="Times New Roman"/>
              </a:rPr>
              <a:t>3</a:t>
            </a:r>
            <a:r>
              <a:rPr sz="2950" i="1" spc="-40" dirty="0">
                <a:latin typeface="Times New Roman"/>
                <a:cs typeface="Times New Roman"/>
              </a:rPr>
              <a:t>Y</a:t>
            </a:r>
            <a:r>
              <a:rPr sz="2550" spc="-60" baseline="-24509" dirty="0">
                <a:latin typeface="Times New Roman"/>
                <a:cs typeface="Times New Roman"/>
              </a:rPr>
              <a:t>2</a:t>
            </a:r>
            <a:r>
              <a:rPr sz="2950" i="1" spc="-40" dirty="0">
                <a:latin typeface="Times New Roman"/>
                <a:cs typeface="Times New Roman"/>
              </a:rPr>
              <a:t>Y</a:t>
            </a:r>
            <a:r>
              <a:rPr sz="2550" spc="-60" baseline="-24509" dirty="0">
                <a:latin typeface="Times New Roman"/>
                <a:cs typeface="Times New Roman"/>
              </a:rPr>
              <a:t>1</a:t>
            </a:r>
            <a:r>
              <a:rPr sz="2950" i="1" spc="-40" dirty="0">
                <a:latin typeface="Times New Roman"/>
                <a:cs typeface="Times New Roman"/>
              </a:rPr>
              <a:t>Y</a:t>
            </a:r>
            <a:r>
              <a:rPr sz="2550" spc="-60" baseline="-24509" dirty="0">
                <a:latin typeface="Times New Roman"/>
                <a:cs typeface="Times New Roman"/>
              </a:rPr>
              <a:t>0	</a:t>
            </a:r>
            <a:r>
              <a:rPr sz="2950" spc="170" dirty="0">
                <a:latin typeface="Symbol"/>
                <a:cs typeface="Symbol"/>
              </a:rPr>
              <a:t></a:t>
            </a:r>
            <a:r>
              <a:rPr sz="2950" spc="65" dirty="0">
                <a:latin typeface="Times New Roman"/>
                <a:cs typeface="Times New Roman"/>
              </a:rPr>
              <a:t> </a:t>
            </a:r>
            <a:r>
              <a:rPr sz="2950" i="1" spc="70" dirty="0">
                <a:latin typeface="Times New Roman"/>
                <a:cs typeface="Times New Roman"/>
              </a:rPr>
              <a:t>D</a:t>
            </a:r>
            <a:r>
              <a:rPr sz="2550" spc="104" baseline="-24509" dirty="0">
                <a:latin typeface="Times New Roman"/>
                <a:cs typeface="Times New Roman"/>
              </a:rPr>
              <a:t>3</a:t>
            </a:r>
            <a:r>
              <a:rPr sz="2550" spc="-359" baseline="-24509" dirty="0">
                <a:latin typeface="Times New Roman"/>
                <a:cs typeface="Times New Roman"/>
              </a:rPr>
              <a:t> </a:t>
            </a:r>
            <a:r>
              <a:rPr sz="2950" i="1" spc="100" dirty="0">
                <a:latin typeface="Times New Roman"/>
                <a:cs typeface="Times New Roman"/>
              </a:rPr>
              <a:t>D</a:t>
            </a:r>
            <a:r>
              <a:rPr sz="2550" spc="150" baseline="-24509" dirty="0">
                <a:latin typeface="Times New Roman"/>
                <a:cs typeface="Times New Roman"/>
              </a:rPr>
              <a:t>2</a:t>
            </a:r>
            <a:r>
              <a:rPr sz="2550" spc="-284" baseline="-24509" dirty="0">
                <a:latin typeface="Times New Roman"/>
                <a:cs typeface="Times New Roman"/>
              </a:rPr>
              <a:t> </a:t>
            </a:r>
            <a:r>
              <a:rPr sz="2950" i="1" spc="70" dirty="0">
                <a:latin typeface="Times New Roman"/>
                <a:cs typeface="Times New Roman"/>
              </a:rPr>
              <a:t>D</a:t>
            </a:r>
            <a:r>
              <a:rPr sz="2550" spc="104" baseline="-24509" dirty="0">
                <a:latin typeface="Times New Roman"/>
                <a:cs typeface="Times New Roman"/>
              </a:rPr>
              <a:t>1</a:t>
            </a:r>
            <a:r>
              <a:rPr sz="2950" i="1" spc="70" dirty="0">
                <a:latin typeface="Times New Roman"/>
                <a:cs typeface="Times New Roman"/>
              </a:rPr>
              <a:t>D</a:t>
            </a:r>
            <a:r>
              <a:rPr sz="2550" spc="104" baseline="-24509" dirty="0">
                <a:latin typeface="Times New Roman"/>
                <a:cs typeface="Times New Roman"/>
              </a:rPr>
              <a:t>0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557478" y="3505669"/>
            <a:ext cx="114935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spc="170" dirty="0">
                <a:latin typeface="Symbol"/>
                <a:cs typeface="Symbol"/>
              </a:rPr>
              <a:t></a:t>
            </a:r>
            <a:r>
              <a:rPr sz="2950" spc="-275" dirty="0">
                <a:latin typeface="Times New Roman"/>
                <a:cs typeface="Times New Roman"/>
              </a:rPr>
              <a:t> </a:t>
            </a:r>
            <a:r>
              <a:rPr sz="2950" spc="150" dirty="0">
                <a:latin typeface="Times New Roman"/>
                <a:cs typeface="Times New Roman"/>
              </a:rPr>
              <a:t>0011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1375077" y="1615909"/>
            <a:ext cx="459994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1388745" algn="l"/>
              </a:tabLst>
            </a:pPr>
            <a:r>
              <a:rPr sz="2950" i="1" spc="-40" dirty="0">
                <a:latin typeface="Times New Roman"/>
                <a:cs typeface="Times New Roman"/>
              </a:rPr>
              <a:t>Y</a:t>
            </a:r>
            <a:r>
              <a:rPr sz="2550" spc="-60" baseline="-24509" dirty="0">
                <a:latin typeface="Times New Roman"/>
                <a:cs typeface="Times New Roman"/>
              </a:rPr>
              <a:t>3</a:t>
            </a:r>
            <a:r>
              <a:rPr sz="2950" i="1" spc="-40" dirty="0">
                <a:latin typeface="Times New Roman"/>
                <a:cs typeface="Times New Roman"/>
              </a:rPr>
              <a:t>Y</a:t>
            </a:r>
            <a:r>
              <a:rPr sz="2550" spc="-60" baseline="-24509" dirty="0">
                <a:latin typeface="Times New Roman"/>
                <a:cs typeface="Times New Roman"/>
              </a:rPr>
              <a:t>2</a:t>
            </a:r>
            <a:r>
              <a:rPr sz="2950" i="1" spc="-40" dirty="0">
                <a:latin typeface="Times New Roman"/>
                <a:cs typeface="Times New Roman"/>
              </a:rPr>
              <a:t>Y</a:t>
            </a:r>
            <a:r>
              <a:rPr sz="2550" spc="-60" baseline="-24509" dirty="0">
                <a:latin typeface="Times New Roman"/>
                <a:cs typeface="Times New Roman"/>
              </a:rPr>
              <a:t>1</a:t>
            </a:r>
            <a:r>
              <a:rPr sz="2950" i="1" spc="-40" dirty="0">
                <a:latin typeface="Times New Roman"/>
                <a:cs typeface="Times New Roman"/>
              </a:rPr>
              <a:t>Y</a:t>
            </a:r>
            <a:r>
              <a:rPr sz="2550" spc="-60" baseline="-24509" dirty="0">
                <a:latin typeface="Times New Roman"/>
                <a:cs typeface="Times New Roman"/>
              </a:rPr>
              <a:t>0	</a:t>
            </a:r>
            <a:r>
              <a:rPr sz="2950" spc="165" dirty="0">
                <a:latin typeface="Symbol"/>
                <a:cs typeface="Symbol"/>
              </a:rPr>
              <a:t></a:t>
            </a:r>
            <a:r>
              <a:rPr sz="2950" spc="165" dirty="0">
                <a:latin typeface="Times New Roman"/>
                <a:cs typeface="Times New Roman"/>
              </a:rPr>
              <a:t> </a:t>
            </a:r>
            <a:r>
              <a:rPr sz="2950" i="1" spc="70" dirty="0">
                <a:latin typeface="Times New Roman"/>
                <a:cs typeface="Times New Roman"/>
              </a:rPr>
              <a:t>D</a:t>
            </a:r>
            <a:r>
              <a:rPr sz="2550" spc="104" baseline="-24509" dirty="0">
                <a:latin typeface="Times New Roman"/>
                <a:cs typeface="Times New Roman"/>
              </a:rPr>
              <a:t>3 </a:t>
            </a:r>
            <a:r>
              <a:rPr sz="2950" i="1" spc="100" dirty="0">
                <a:latin typeface="Times New Roman"/>
                <a:cs typeface="Times New Roman"/>
              </a:rPr>
              <a:t>D</a:t>
            </a:r>
            <a:r>
              <a:rPr sz="2550" spc="150" baseline="-24509" dirty="0">
                <a:latin typeface="Times New Roman"/>
                <a:cs typeface="Times New Roman"/>
              </a:rPr>
              <a:t>2</a:t>
            </a:r>
            <a:r>
              <a:rPr sz="2550" spc="-307" baseline="-24509" dirty="0">
                <a:latin typeface="Times New Roman"/>
                <a:cs typeface="Times New Roman"/>
              </a:rPr>
              <a:t> </a:t>
            </a:r>
            <a:r>
              <a:rPr sz="2950" i="1" spc="70" dirty="0">
                <a:latin typeface="Times New Roman"/>
                <a:cs typeface="Times New Roman"/>
              </a:rPr>
              <a:t>D</a:t>
            </a:r>
            <a:r>
              <a:rPr sz="2550" spc="104" baseline="-24509" dirty="0">
                <a:latin typeface="Times New Roman"/>
                <a:cs typeface="Times New Roman"/>
              </a:rPr>
              <a:t>1</a:t>
            </a:r>
            <a:r>
              <a:rPr sz="2950" i="1" spc="70" dirty="0">
                <a:latin typeface="Times New Roman"/>
                <a:cs typeface="Times New Roman"/>
              </a:rPr>
              <a:t>D</a:t>
            </a:r>
            <a:r>
              <a:rPr sz="2550" spc="104" baseline="-24509" dirty="0">
                <a:latin typeface="Times New Roman"/>
                <a:cs typeface="Times New Roman"/>
              </a:rPr>
              <a:t>0 </a:t>
            </a:r>
            <a:r>
              <a:rPr sz="2950" spc="200" dirty="0">
                <a:latin typeface="Symbol"/>
                <a:cs typeface="Symbol"/>
              </a:rPr>
              <a:t></a:t>
            </a:r>
            <a:r>
              <a:rPr sz="2950" spc="200" dirty="0">
                <a:latin typeface="Times New Roman"/>
                <a:cs typeface="Times New Roman"/>
              </a:rPr>
              <a:t>1101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title"/>
          </p:nvPr>
        </p:nvSpPr>
        <p:spPr>
          <a:xfrm>
            <a:off x="477266" y="101041"/>
            <a:ext cx="8799195" cy="1022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3200" spc="10" dirty="0">
                <a:solidFill>
                  <a:srgbClr val="000000"/>
                </a:solidFill>
                <a:latin typeface="隶书"/>
                <a:cs typeface="隶书"/>
              </a:rPr>
              <a:t>例</a:t>
            </a:r>
            <a:r>
              <a:rPr sz="3200" dirty="0">
                <a:solidFill>
                  <a:srgbClr val="000000"/>
                </a:solidFill>
                <a:latin typeface="微软雅黑"/>
                <a:cs typeface="微软雅黑"/>
              </a:rPr>
              <a:t>：</a:t>
            </a:r>
            <a:r>
              <a:rPr sz="3200" spc="5" dirty="0">
                <a:solidFill>
                  <a:srgbClr val="7E4D00"/>
                </a:solidFill>
              </a:rPr>
              <a:t>设计一个代</a:t>
            </a:r>
            <a:r>
              <a:rPr sz="3200" spc="-10" dirty="0">
                <a:solidFill>
                  <a:srgbClr val="7E4D00"/>
                </a:solidFill>
              </a:rPr>
              <a:t>码</a:t>
            </a:r>
            <a:r>
              <a:rPr sz="3200" spc="5" dirty="0">
                <a:solidFill>
                  <a:srgbClr val="7E4D00"/>
                </a:solidFill>
              </a:rPr>
              <a:t>转换</a:t>
            </a:r>
            <a:r>
              <a:rPr sz="3200" spc="-10" dirty="0">
                <a:solidFill>
                  <a:srgbClr val="7E4D00"/>
                </a:solidFill>
              </a:rPr>
              <a:t>电</a:t>
            </a:r>
            <a:r>
              <a:rPr sz="3200" spc="5" dirty="0">
                <a:solidFill>
                  <a:srgbClr val="7E4D00"/>
                </a:solidFill>
              </a:rPr>
              <a:t>路，</a:t>
            </a:r>
            <a:r>
              <a:rPr sz="3200" spc="-10" dirty="0">
                <a:solidFill>
                  <a:srgbClr val="7E4D00"/>
                </a:solidFill>
              </a:rPr>
              <a:t>将</a:t>
            </a:r>
            <a:r>
              <a:rPr sz="3200" spc="-20" dirty="0">
                <a:solidFill>
                  <a:srgbClr val="7E4D00"/>
                </a:solidFill>
              </a:rPr>
              <a:t>余</a:t>
            </a:r>
            <a:r>
              <a:rPr sz="3200" spc="-5" dirty="0">
                <a:solidFill>
                  <a:srgbClr val="7E4D00"/>
                </a:solidFill>
              </a:rPr>
              <a:t>3</a:t>
            </a:r>
            <a:r>
              <a:rPr sz="3200" spc="5" dirty="0">
                <a:solidFill>
                  <a:srgbClr val="7E4D00"/>
                </a:solidFill>
              </a:rPr>
              <a:t>码</a:t>
            </a:r>
            <a:r>
              <a:rPr sz="3200" spc="-15" dirty="0">
                <a:solidFill>
                  <a:srgbClr val="7E4D00"/>
                </a:solidFill>
              </a:rPr>
              <a:t>转</a:t>
            </a:r>
            <a:r>
              <a:rPr sz="3200" spc="5" dirty="0">
                <a:solidFill>
                  <a:srgbClr val="7E4D00"/>
                </a:solidFill>
              </a:rPr>
              <a:t>换成</a:t>
            </a:r>
            <a:endParaRPr sz="3200">
              <a:latin typeface="微软雅黑"/>
              <a:cs typeface="微软雅黑"/>
            </a:endParaRPr>
          </a:p>
          <a:p>
            <a:pPr marR="28575" algn="r">
              <a:lnSpc>
                <a:spcPct val="100000"/>
              </a:lnSpc>
              <a:spcBef>
                <a:spcPts val="160"/>
              </a:spcBef>
              <a:tabLst>
                <a:tab pos="854075" algn="l"/>
                <a:tab pos="8749030" algn="l"/>
              </a:tabLst>
            </a:pPr>
            <a:r>
              <a:rPr sz="3200" strike="sngStrike" dirty="0">
                <a:solidFill>
                  <a:srgbClr val="7E4D00"/>
                </a:solidFill>
              </a:rPr>
              <a:t> 	842</a:t>
            </a:r>
            <a:r>
              <a:rPr sz="3200" strike="sngStrike" spc="-10" dirty="0">
                <a:solidFill>
                  <a:srgbClr val="7E4D00"/>
                </a:solidFill>
              </a:rPr>
              <a:t>1</a:t>
            </a:r>
            <a:r>
              <a:rPr sz="3200" strike="sngStrike" dirty="0">
                <a:solidFill>
                  <a:srgbClr val="7E4D00"/>
                </a:solidFill>
              </a:rPr>
              <a:t>BC</a:t>
            </a:r>
            <a:r>
              <a:rPr sz="3200" strike="sngStrike" spc="5" dirty="0">
                <a:solidFill>
                  <a:srgbClr val="7E4D00"/>
                </a:solidFill>
              </a:rPr>
              <a:t>D</a:t>
            </a:r>
            <a:r>
              <a:rPr sz="3200" strike="sngStrike" dirty="0">
                <a:solidFill>
                  <a:srgbClr val="7E4D00"/>
                </a:solidFill>
              </a:rPr>
              <a:t>码。	</a:t>
            </a:r>
            <a:endParaRPr sz="3200"/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E106E77A-E848-CC5F-4A69-9EBB69368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144597"/>
            <a:ext cx="4144006" cy="458894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7266" y="101041"/>
            <a:ext cx="8775065" cy="1022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66775">
              <a:lnSpc>
                <a:spcPct val="100000"/>
              </a:lnSpc>
              <a:spcBef>
                <a:spcPts val="105"/>
              </a:spcBef>
            </a:pPr>
            <a:r>
              <a:rPr sz="3200" spc="10" dirty="0">
                <a:solidFill>
                  <a:srgbClr val="000000"/>
                </a:solidFill>
                <a:latin typeface="隶书"/>
                <a:cs typeface="隶书"/>
              </a:rPr>
              <a:t>例</a:t>
            </a:r>
            <a:r>
              <a:rPr sz="3200" dirty="0">
                <a:solidFill>
                  <a:srgbClr val="000000"/>
                </a:solidFill>
                <a:latin typeface="微软雅黑"/>
                <a:cs typeface="微软雅黑"/>
              </a:rPr>
              <a:t>：</a:t>
            </a:r>
            <a:r>
              <a:rPr sz="3200" spc="5" dirty="0">
                <a:solidFill>
                  <a:srgbClr val="7E4D00"/>
                </a:solidFill>
              </a:rPr>
              <a:t>设计一个代</a:t>
            </a:r>
            <a:r>
              <a:rPr sz="3200" spc="-10" dirty="0">
                <a:solidFill>
                  <a:srgbClr val="7E4D00"/>
                </a:solidFill>
              </a:rPr>
              <a:t>码</a:t>
            </a:r>
            <a:r>
              <a:rPr sz="3200" spc="5" dirty="0">
                <a:solidFill>
                  <a:srgbClr val="7E4D00"/>
                </a:solidFill>
              </a:rPr>
              <a:t>转换</a:t>
            </a:r>
            <a:r>
              <a:rPr sz="3200" spc="-10" dirty="0">
                <a:solidFill>
                  <a:srgbClr val="7E4D00"/>
                </a:solidFill>
              </a:rPr>
              <a:t>电</a:t>
            </a:r>
            <a:r>
              <a:rPr sz="3200" spc="5" dirty="0">
                <a:solidFill>
                  <a:srgbClr val="7E4D00"/>
                </a:solidFill>
              </a:rPr>
              <a:t>路，</a:t>
            </a:r>
            <a:r>
              <a:rPr sz="3200" spc="-30" dirty="0">
                <a:solidFill>
                  <a:srgbClr val="7E4D00"/>
                </a:solidFill>
              </a:rPr>
              <a:t>将</a:t>
            </a:r>
            <a:r>
              <a:rPr sz="3200" spc="-5" dirty="0">
                <a:solidFill>
                  <a:srgbClr val="7E4D00"/>
                </a:solidFill>
              </a:rPr>
              <a:t>8421BCD</a:t>
            </a:r>
            <a:r>
              <a:rPr sz="3200" spc="5" dirty="0">
                <a:solidFill>
                  <a:srgbClr val="7E4D00"/>
                </a:solidFill>
              </a:rPr>
              <a:t>码</a:t>
            </a:r>
            <a:endParaRPr sz="3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  <a:tabLst>
                <a:tab pos="866775" algn="l"/>
                <a:tab pos="8761730" algn="l"/>
              </a:tabLst>
            </a:pPr>
            <a:r>
              <a:rPr sz="3200" strike="sngStrike" dirty="0">
                <a:solidFill>
                  <a:srgbClr val="7E4D00"/>
                </a:solidFill>
                <a:latin typeface="Times New Roman"/>
                <a:cs typeface="Times New Roman"/>
              </a:rPr>
              <a:t> 	</a:t>
            </a:r>
            <a:r>
              <a:rPr sz="3200" strike="sngStrike" dirty="0">
                <a:solidFill>
                  <a:srgbClr val="7E4D00"/>
                </a:solidFill>
              </a:rPr>
              <a:t>转换成542</a:t>
            </a:r>
            <a:r>
              <a:rPr sz="3200" strike="sngStrike" spc="-10" dirty="0">
                <a:solidFill>
                  <a:srgbClr val="7E4D00"/>
                </a:solidFill>
              </a:rPr>
              <a:t>1</a:t>
            </a:r>
            <a:r>
              <a:rPr sz="3200" strike="sngStrike" dirty="0">
                <a:solidFill>
                  <a:srgbClr val="7E4D00"/>
                </a:solidFill>
              </a:rPr>
              <a:t>BCD码。	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9701" y="1226508"/>
            <a:ext cx="1556385" cy="402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8421B</a:t>
            </a:r>
            <a:r>
              <a:rPr sz="2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码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6265" y="1226508"/>
            <a:ext cx="1556385" cy="402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5421B</a:t>
            </a:r>
            <a:r>
              <a:rPr sz="2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b="1" dirty="0">
                <a:solidFill>
                  <a:srgbClr val="FFFFFF"/>
                </a:solidFill>
                <a:latin typeface="微软雅黑"/>
                <a:cs typeface="微软雅黑"/>
              </a:rPr>
              <a:t>码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1769" y="1734607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10" dirty="0">
                <a:latin typeface="Times New Roman"/>
                <a:cs typeface="Times New Roman"/>
              </a:rPr>
              <a:t>D</a:t>
            </a:r>
            <a:r>
              <a:rPr sz="2400" b="1" spc="-7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18410" y="1734607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10" dirty="0">
                <a:latin typeface="Times New Roman"/>
                <a:cs typeface="Times New Roman"/>
              </a:rPr>
              <a:t>D</a:t>
            </a:r>
            <a:r>
              <a:rPr sz="2400" b="1" spc="-7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75305" y="1734607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10" dirty="0">
                <a:latin typeface="Times New Roman"/>
                <a:cs typeface="Times New Roman"/>
              </a:rPr>
              <a:t>D</a:t>
            </a:r>
            <a:r>
              <a:rPr sz="2400" b="1" spc="-7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1820" y="1734607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10" dirty="0">
                <a:latin typeface="Times New Roman"/>
                <a:cs typeface="Times New Roman"/>
              </a:rPr>
              <a:t>D</a:t>
            </a:r>
            <a:r>
              <a:rPr sz="2400" b="1" spc="-7" baseline="-20833" dirty="0">
                <a:latin typeface="Times New Roman"/>
                <a:cs typeface="Times New Roman"/>
              </a:rPr>
              <a:t>0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88334" y="1734607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10" dirty="0">
                <a:latin typeface="Times New Roman"/>
                <a:cs typeface="Times New Roman"/>
              </a:rPr>
              <a:t>Y</a:t>
            </a:r>
            <a:r>
              <a:rPr sz="2400" b="1" spc="-7" baseline="-20833" dirty="0">
                <a:latin typeface="Times New Roman"/>
                <a:cs typeface="Times New Roman"/>
              </a:rPr>
              <a:t>3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45228" y="1734607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10" dirty="0">
                <a:latin typeface="Times New Roman"/>
                <a:cs typeface="Times New Roman"/>
              </a:rPr>
              <a:t>Y</a:t>
            </a:r>
            <a:r>
              <a:rPr sz="2400" b="1" spc="-7" baseline="-20833" dirty="0"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01870" y="1734607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10" dirty="0">
                <a:latin typeface="Times New Roman"/>
                <a:cs typeface="Times New Roman"/>
              </a:rPr>
              <a:t>Y</a:t>
            </a:r>
            <a:r>
              <a:rPr sz="2400" b="1" spc="-7" baseline="-20833" dirty="0">
                <a:latin typeface="Times New Roman"/>
                <a:cs typeface="Times New Roman"/>
              </a:rPr>
              <a:t>1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8638" y="1734607"/>
            <a:ext cx="32131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b="1" spc="-10" dirty="0">
                <a:latin typeface="Times New Roman"/>
                <a:cs typeface="Times New Roman"/>
              </a:rPr>
              <a:t>Y</a:t>
            </a:r>
            <a:r>
              <a:rPr sz="2400" b="1" spc="-7" baseline="-20833" dirty="0">
                <a:latin typeface="Times New Roman"/>
                <a:cs typeface="Times New Roman"/>
              </a:rPr>
              <a:t>0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53210" y="2190238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09851" y="2190238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66745" y="2190238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23260" y="2190238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80154" y="2190238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36669" y="2190238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93309" y="2190238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50078" y="2190238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53210" y="261748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09851" y="261748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66745" y="261748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23260" y="261748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80154" y="261748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36669" y="261748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93309" y="261748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50078" y="261748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53210" y="304420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09851" y="304420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66745" y="304420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223260" y="304420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780154" y="304420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36669" y="304420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893309" y="304420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50078" y="3044204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53210" y="3470652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09851" y="3470652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66745" y="3470652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23260" y="3470652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780154" y="3470652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36669" y="3470652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893309" y="3470652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450078" y="3470652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53210" y="389802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109851" y="389802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666745" y="389802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223260" y="389802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780154" y="389802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336669" y="389802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893309" y="389802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450078" y="389802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553210" y="432474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109851" y="432474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666745" y="432474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223260" y="432474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780154" y="432474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336669" y="432474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893309" y="432474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450078" y="432474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553210" y="475146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109851" y="475146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666745" y="475146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223260" y="475146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780154" y="475146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336669" y="475146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893309" y="475146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450078" y="4751465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553210" y="517843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109851" y="517843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666745" y="517843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223260" y="517843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780154" y="517843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336669" y="517843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893309" y="517843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450078" y="517843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553210" y="560515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109851" y="560515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666745" y="560515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223260" y="560515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780154" y="560515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336669" y="560515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893309" y="560515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450078" y="560515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553210" y="603187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109851" y="603187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666745" y="603187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223260" y="603187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780154" y="603187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336669" y="603187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893309" y="603187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450078" y="6031879"/>
            <a:ext cx="1397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95"/>
              </a:lnSpc>
            </a:pPr>
            <a:r>
              <a:rPr sz="2200" b="1" spc="-5" dirty="0">
                <a:latin typeface="Times New Roman"/>
                <a:cs typeface="Times New Roman"/>
              </a:rPr>
              <a:t>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5740146" y="4239005"/>
            <a:ext cx="1085215" cy="2190115"/>
          </a:xfrm>
          <a:custGeom>
            <a:avLst/>
            <a:gdLst/>
            <a:ahLst/>
            <a:cxnLst/>
            <a:rect l="l" t="t" r="r" b="b"/>
            <a:pathLst>
              <a:path w="1085215" h="2190115">
                <a:moveTo>
                  <a:pt x="0" y="0"/>
                </a:moveTo>
                <a:lnTo>
                  <a:pt x="73610" y="826"/>
                </a:lnTo>
                <a:lnTo>
                  <a:pt x="144213" y="3232"/>
                </a:lnTo>
                <a:lnTo>
                  <a:pt x="211163" y="7110"/>
                </a:lnTo>
                <a:lnTo>
                  <a:pt x="273811" y="12351"/>
                </a:lnTo>
                <a:lnTo>
                  <a:pt x="331512" y="18849"/>
                </a:lnTo>
                <a:lnTo>
                  <a:pt x="383619" y="26495"/>
                </a:lnTo>
                <a:lnTo>
                  <a:pt x="429484" y="35180"/>
                </a:lnTo>
                <a:lnTo>
                  <a:pt x="468460" y="44798"/>
                </a:lnTo>
                <a:lnTo>
                  <a:pt x="523160" y="66395"/>
                </a:lnTo>
                <a:lnTo>
                  <a:pt x="542543" y="90424"/>
                </a:lnTo>
                <a:lnTo>
                  <a:pt x="542543" y="1004570"/>
                </a:lnTo>
                <a:lnTo>
                  <a:pt x="547497" y="1016833"/>
                </a:lnTo>
                <a:lnTo>
                  <a:pt x="585186" y="1039754"/>
                </a:lnTo>
                <a:lnTo>
                  <a:pt x="655603" y="1059813"/>
                </a:lnTo>
                <a:lnTo>
                  <a:pt x="701468" y="1068498"/>
                </a:lnTo>
                <a:lnTo>
                  <a:pt x="753575" y="1076144"/>
                </a:lnTo>
                <a:lnTo>
                  <a:pt x="811276" y="1082642"/>
                </a:lnTo>
                <a:lnTo>
                  <a:pt x="873924" y="1087883"/>
                </a:lnTo>
                <a:lnTo>
                  <a:pt x="940874" y="1091761"/>
                </a:lnTo>
                <a:lnTo>
                  <a:pt x="1011477" y="1094167"/>
                </a:lnTo>
                <a:lnTo>
                  <a:pt x="1085087" y="1094994"/>
                </a:lnTo>
                <a:lnTo>
                  <a:pt x="1011477" y="1095820"/>
                </a:lnTo>
                <a:lnTo>
                  <a:pt x="940874" y="1098226"/>
                </a:lnTo>
                <a:lnTo>
                  <a:pt x="873924" y="1102104"/>
                </a:lnTo>
                <a:lnTo>
                  <a:pt x="811276" y="1107345"/>
                </a:lnTo>
                <a:lnTo>
                  <a:pt x="753575" y="1113843"/>
                </a:lnTo>
                <a:lnTo>
                  <a:pt x="701468" y="1121489"/>
                </a:lnTo>
                <a:lnTo>
                  <a:pt x="655603" y="1130174"/>
                </a:lnTo>
                <a:lnTo>
                  <a:pt x="616627" y="1139792"/>
                </a:lnTo>
                <a:lnTo>
                  <a:pt x="561927" y="1161389"/>
                </a:lnTo>
                <a:lnTo>
                  <a:pt x="542543" y="1185418"/>
                </a:lnTo>
                <a:lnTo>
                  <a:pt x="542543" y="2099564"/>
                </a:lnTo>
                <a:lnTo>
                  <a:pt x="537590" y="2111833"/>
                </a:lnTo>
                <a:lnTo>
                  <a:pt x="499901" y="2134759"/>
                </a:lnTo>
                <a:lnTo>
                  <a:pt x="429484" y="2154817"/>
                </a:lnTo>
                <a:lnTo>
                  <a:pt x="383619" y="2163502"/>
                </a:lnTo>
                <a:lnTo>
                  <a:pt x="331512" y="2171145"/>
                </a:lnTo>
                <a:lnTo>
                  <a:pt x="273812" y="2177641"/>
                </a:lnTo>
                <a:lnTo>
                  <a:pt x="211163" y="2182881"/>
                </a:lnTo>
                <a:lnTo>
                  <a:pt x="144213" y="2186757"/>
                </a:lnTo>
                <a:lnTo>
                  <a:pt x="73610" y="2189162"/>
                </a:lnTo>
                <a:lnTo>
                  <a:pt x="0" y="2189988"/>
                </a:lnTo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7" name="object 97"/>
          <p:cNvGraphicFramePr>
            <a:graphicFrameLocks noGrp="1"/>
          </p:cNvGraphicFramePr>
          <p:nvPr/>
        </p:nvGraphicFramePr>
        <p:xfrm>
          <a:off x="1316355" y="1211008"/>
          <a:ext cx="5019674" cy="51815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0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62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6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45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 gridSpan="4"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8421BCD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码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746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5421BCD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码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1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5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R w="53975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R w="53975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R w="53975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0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R w="53975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4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R="48577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>
                    <a:lnR w="76200">
                      <a:solidFill>
                        <a:srgbClr val="FF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R="4857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R w="76200">
                      <a:solidFill>
                        <a:srgbClr val="FF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6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R="51625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53975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R="4857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R w="76200">
                      <a:solidFill>
                        <a:srgbClr val="FF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89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53975">
                      <a:solidFill>
                        <a:srgbClr val="000000"/>
                      </a:solidFill>
                      <a:prstDash val="solid"/>
                    </a:lnL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R="4857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R w="76200">
                      <a:solidFill>
                        <a:srgbClr val="FF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8" name="object 98"/>
          <p:cNvSpPr txBox="1"/>
          <p:nvPr/>
        </p:nvSpPr>
        <p:spPr>
          <a:xfrm>
            <a:off x="6535145" y="2964953"/>
            <a:ext cx="2404745" cy="37655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3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2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1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0 </a:t>
            </a:r>
            <a:r>
              <a:rPr sz="2100" spc="229" dirty="0">
                <a:latin typeface="Symbol"/>
                <a:cs typeface="Symbol"/>
              </a:rPr>
              <a:t></a:t>
            </a:r>
            <a:r>
              <a:rPr sz="2100" spc="-175" dirty="0">
                <a:latin typeface="Times New Roman"/>
                <a:cs typeface="Times New Roman"/>
              </a:rPr>
              <a:t> </a:t>
            </a:r>
            <a:r>
              <a:rPr sz="2100" i="1" spc="60" dirty="0">
                <a:latin typeface="Times New Roman"/>
                <a:cs typeface="Times New Roman"/>
              </a:rPr>
              <a:t>D</a:t>
            </a:r>
            <a:r>
              <a:rPr sz="1800" spc="89" baseline="-25462" dirty="0">
                <a:latin typeface="Times New Roman"/>
                <a:cs typeface="Times New Roman"/>
              </a:rPr>
              <a:t>3 </a:t>
            </a:r>
            <a:r>
              <a:rPr sz="2100" i="1" spc="85" dirty="0">
                <a:latin typeface="Times New Roman"/>
                <a:cs typeface="Times New Roman"/>
              </a:rPr>
              <a:t>D</a:t>
            </a:r>
            <a:r>
              <a:rPr sz="1800" spc="127" baseline="-25462" dirty="0">
                <a:latin typeface="Times New Roman"/>
                <a:cs typeface="Times New Roman"/>
              </a:rPr>
              <a:t>2 </a:t>
            </a:r>
            <a:r>
              <a:rPr sz="2100" i="1" spc="-204" dirty="0">
                <a:latin typeface="Times New Roman"/>
                <a:cs typeface="Times New Roman"/>
              </a:rPr>
              <a:t>D</a:t>
            </a:r>
            <a:r>
              <a:rPr sz="1800" spc="-307" baseline="-25462" dirty="0">
                <a:latin typeface="Times New Roman"/>
                <a:cs typeface="Times New Roman"/>
              </a:rPr>
              <a:t>1</a:t>
            </a:r>
            <a:r>
              <a:rPr sz="2100" i="1" spc="-204" dirty="0">
                <a:latin typeface="Times New Roman"/>
                <a:cs typeface="Times New Roman"/>
              </a:rPr>
              <a:t>D</a:t>
            </a:r>
            <a:r>
              <a:rPr sz="1800" spc="-307" baseline="-25462" dirty="0">
                <a:latin typeface="Times New Roman"/>
                <a:cs typeface="Times New Roman"/>
              </a:rPr>
              <a:t>0</a:t>
            </a:r>
            <a:endParaRPr sz="1800" baseline="-25462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487912" y="5157412"/>
            <a:ext cx="3364865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3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2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1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0 </a:t>
            </a:r>
            <a:r>
              <a:rPr sz="2100" spc="125" dirty="0">
                <a:latin typeface="Symbol"/>
                <a:cs typeface="Symbol"/>
              </a:rPr>
              <a:t></a:t>
            </a:r>
            <a:r>
              <a:rPr sz="2100" spc="125" dirty="0">
                <a:latin typeface="Times New Roman"/>
                <a:cs typeface="Times New Roman"/>
              </a:rPr>
              <a:t> </a:t>
            </a:r>
            <a:r>
              <a:rPr sz="2100" i="1" spc="60" dirty="0">
                <a:latin typeface="Times New Roman"/>
                <a:cs typeface="Times New Roman"/>
              </a:rPr>
              <a:t>D</a:t>
            </a:r>
            <a:r>
              <a:rPr sz="1800" spc="89" baseline="-25462" dirty="0">
                <a:latin typeface="Times New Roman"/>
                <a:cs typeface="Times New Roman"/>
              </a:rPr>
              <a:t>3 </a:t>
            </a:r>
            <a:r>
              <a:rPr sz="2100" i="1" spc="80" dirty="0">
                <a:latin typeface="Times New Roman"/>
                <a:cs typeface="Times New Roman"/>
              </a:rPr>
              <a:t>D</a:t>
            </a:r>
            <a:r>
              <a:rPr sz="1800" spc="120" baseline="-25462" dirty="0">
                <a:latin typeface="Times New Roman"/>
                <a:cs typeface="Times New Roman"/>
              </a:rPr>
              <a:t>2 </a:t>
            </a:r>
            <a:r>
              <a:rPr sz="2100" i="1" spc="60" dirty="0">
                <a:latin typeface="Times New Roman"/>
                <a:cs typeface="Times New Roman"/>
              </a:rPr>
              <a:t>D</a:t>
            </a:r>
            <a:r>
              <a:rPr sz="1800" spc="89" baseline="-25462" dirty="0">
                <a:latin typeface="Times New Roman"/>
                <a:cs typeface="Times New Roman"/>
              </a:rPr>
              <a:t>1</a:t>
            </a:r>
            <a:r>
              <a:rPr sz="2100" i="1" spc="60" dirty="0">
                <a:latin typeface="Times New Roman"/>
                <a:cs typeface="Times New Roman"/>
              </a:rPr>
              <a:t>D</a:t>
            </a:r>
            <a:r>
              <a:rPr sz="1800" spc="89" baseline="-25462" dirty="0">
                <a:latin typeface="Times New Roman"/>
                <a:cs typeface="Times New Roman"/>
              </a:rPr>
              <a:t>0 </a:t>
            </a:r>
            <a:r>
              <a:rPr sz="2100" spc="125" dirty="0">
                <a:latin typeface="Symbol"/>
                <a:cs typeface="Symbol"/>
              </a:rPr>
              <a:t></a:t>
            </a:r>
            <a:r>
              <a:rPr sz="2100" spc="-150" dirty="0">
                <a:latin typeface="Times New Roman"/>
                <a:cs typeface="Times New Roman"/>
              </a:rPr>
              <a:t> </a:t>
            </a:r>
            <a:r>
              <a:rPr sz="2100" spc="110" dirty="0">
                <a:latin typeface="Times New Roman"/>
                <a:cs typeface="Times New Roman"/>
              </a:rPr>
              <a:t>0011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6502907" y="2965704"/>
            <a:ext cx="3287395" cy="411480"/>
          </a:xfrm>
          <a:custGeom>
            <a:avLst/>
            <a:gdLst/>
            <a:ahLst/>
            <a:cxnLst/>
            <a:rect l="l" t="t" r="r" b="b"/>
            <a:pathLst>
              <a:path w="3287395" h="411479">
                <a:moveTo>
                  <a:pt x="0" y="411479"/>
                </a:moveTo>
                <a:lnTo>
                  <a:pt x="3287267" y="411479"/>
                </a:lnTo>
                <a:lnTo>
                  <a:pt x="3287267" y="0"/>
                </a:lnTo>
                <a:lnTo>
                  <a:pt x="0" y="0"/>
                </a:lnTo>
                <a:lnTo>
                  <a:pt x="0" y="411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6490995" y="2953708"/>
            <a:ext cx="328104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3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2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1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0 </a:t>
            </a:r>
            <a:r>
              <a:rPr sz="2100" spc="130" dirty="0">
                <a:latin typeface="Symbol"/>
                <a:cs typeface="Symbol"/>
              </a:rPr>
              <a:t></a:t>
            </a:r>
            <a:r>
              <a:rPr sz="2100" spc="-210" dirty="0">
                <a:latin typeface="Times New Roman"/>
                <a:cs typeface="Times New Roman"/>
              </a:rPr>
              <a:t> </a:t>
            </a:r>
            <a:r>
              <a:rPr sz="2100" i="1" spc="60" dirty="0">
                <a:latin typeface="Times New Roman"/>
                <a:cs typeface="Times New Roman"/>
              </a:rPr>
              <a:t>D</a:t>
            </a:r>
            <a:r>
              <a:rPr sz="1800" spc="89" baseline="-25462" dirty="0">
                <a:latin typeface="Times New Roman"/>
                <a:cs typeface="Times New Roman"/>
              </a:rPr>
              <a:t>3 </a:t>
            </a:r>
            <a:r>
              <a:rPr sz="2100" i="1" spc="80" dirty="0">
                <a:latin typeface="Times New Roman"/>
                <a:cs typeface="Times New Roman"/>
              </a:rPr>
              <a:t>D</a:t>
            </a:r>
            <a:r>
              <a:rPr sz="1800" spc="120" baseline="-25462" dirty="0">
                <a:latin typeface="Times New Roman"/>
                <a:cs typeface="Times New Roman"/>
              </a:rPr>
              <a:t>2 </a:t>
            </a:r>
            <a:r>
              <a:rPr sz="2100" i="1" spc="60" dirty="0">
                <a:latin typeface="Times New Roman"/>
                <a:cs typeface="Times New Roman"/>
              </a:rPr>
              <a:t>D</a:t>
            </a:r>
            <a:r>
              <a:rPr sz="1800" spc="89" baseline="-25462" dirty="0">
                <a:latin typeface="Times New Roman"/>
                <a:cs typeface="Times New Roman"/>
              </a:rPr>
              <a:t>1</a:t>
            </a:r>
            <a:r>
              <a:rPr sz="2100" i="1" spc="60" dirty="0">
                <a:latin typeface="Times New Roman"/>
                <a:cs typeface="Times New Roman"/>
              </a:rPr>
              <a:t>D</a:t>
            </a:r>
            <a:r>
              <a:rPr sz="1800" spc="89" baseline="-25462" dirty="0">
                <a:latin typeface="Times New Roman"/>
                <a:cs typeface="Times New Roman"/>
              </a:rPr>
              <a:t>0 </a:t>
            </a:r>
            <a:r>
              <a:rPr sz="2100" spc="114" dirty="0">
                <a:latin typeface="Times New Roman"/>
                <a:cs typeface="Times New Roman"/>
              </a:rPr>
              <a:t>+0000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5817870" y="2061210"/>
            <a:ext cx="1085215" cy="2190115"/>
          </a:xfrm>
          <a:custGeom>
            <a:avLst/>
            <a:gdLst/>
            <a:ahLst/>
            <a:cxnLst/>
            <a:rect l="l" t="t" r="r" b="b"/>
            <a:pathLst>
              <a:path w="1085215" h="2190115">
                <a:moveTo>
                  <a:pt x="0" y="0"/>
                </a:moveTo>
                <a:lnTo>
                  <a:pt x="73610" y="826"/>
                </a:lnTo>
                <a:lnTo>
                  <a:pt x="144213" y="3232"/>
                </a:lnTo>
                <a:lnTo>
                  <a:pt x="211163" y="7110"/>
                </a:lnTo>
                <a:lnTo>
                  <a:pt x="273811" y="12351"/>
                </a:lnTo>
                <a:lnTo>
                  <a:pt x="331512" y="18849"/>
                </a:lnTo>
                <a:lnTo>
                  <a:pt x="383619" y="26495"/>
                </a:lnTo>
                <a:lnTo>
                  <a:pt x="429484" y="35180"/>
                </a:lnTo>
                <a:lnTo>
                  <a:pt x="468460" y="44798"/>
                </a:lnTo>
                <a:lnTo>
                  <a:pt x="523160" y="66395"/>
                </a:lnTo>
                <a:lnTo>
                  <a:pt x="542543" y="90424"/>
                </a:lnTo>
                <a:lnTo>
                  <a:pt x="542543" y="1004569"/>
                </a:lnTo>
                <a:lnTo>
                  <a:pt x="547497" y="1016833"/>
                </a:lnTo>
                <a:lnTo>
                  <a:pt x="585186" y="1039754"/>
                </a:lnTo>
                <a:lnTo>
                  <a:pt x="655603" y="1059813"/>
                </a:lnTo>
                <a:lnTo>
                  <a:pt x="701468" y="1068498"/>
                </a:lnTo>
                <a:lnTo>
                  <a:pt x="753575" y="1076144"/>
                </a:lnTo>
                <a:lnTo>
                  <a:pt x="811276" y="1082642"/>
                </a:lnTo>
                <a:lnTo>
                  <a:pt x="873924" y="1087883"/>
                </a:lnTo>
                <a:lnTo>
                  <a:pt x="940874" y="1091761"/>
                </a:lnTo>
                <a:lnTo>
                  <a:pt x="1011477" y="1094167"/>
                </a:lnTo>
                <a:lnTo>
                  <a:pt x="1085087" y="1094993"/>
                </a:lnTo>
                <a:lnTo>
                  <a:pt x="1011477" y="1095820"/>
                </a:lnTo>
                <a:lnTo>
                  <a:pt x="940874" y="1098226"/>
                </a:lnTo>
                <a:lnTo>
                  <a:pt x="873924" y="1102104"/>
                </a:lnTo>
                <a:lnTo>
                  <a:pt x="811276" y="1107345"/>
                </a:lnTo>
                <a:lnTo>
                  <a:pt x="753575" y="1113843"/>
                </a:lnTo>
                <a:lnTo>
                  <a:pt x="701468" y="1121489"/>
                </a:lnTo>
                <a:lnTo>
                  <a:pt x="655603" y="1130174"/>
                </a:lnTo>
                <a:lnTo>
                  <a:pt x="616627" y="1139792"/>
                </a:lnTo>
                <a:lnTo>
                  <a:pt x="561927" y="1161389"/>
                </a:lnTo>
                <a:lnTo>
                  <a:pt x="542543" y="1185417"/>
                </a:lnTo>
                <a:lnTo>
                  <a:pt x="542543" y="2099564"/>
                </a:lnTo>
                <a:lnTo>
                  <a:pt x="537590" y="2111827"/>
                </a:lnTo>
                <a:lnTo>
                  <a:pt x="499901" y="2134748"/>
                </a:lnTo>
                <a:lnTo>
                  <a:pt x="429484" y="2154807"/>
                </a:lnTo>
                <a:lnTo>
                  <a:pt x="383619" y="2163492"/>
                </a:lnTo>
                <a:lnTo>
                  <a:pt x="331512" y="2171138"/>
                </a:lnTo>
                <a:lnTo>
                  <a:pt x="273812" y="2177636"/>
                </a:lnTo>
                <a:lnTo>
                  <a:pt x="211163" y="2182877"/>
                </a:lnTo>
                <a:lnTo>
                  <a:pt x="144213" y="2186755"/>
                </a:lnTo>
                <a:lnTo>
                  <a:pt x="73610" y="2189161"/>
                </a:lnTo>
                <a:lnTo>
                  <a:pt x="0" y="2189988"/>
                </a:lnTo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117</a:t>
            </a:r>
            <a:endParaRPr sz="10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837D7487-38D5-8343-A14F-B194241AD453}"/>
                  </a:ext>
                </a:extLst>
              </p14:cNvPr>
              <p14:cNvContentPartPr/>
              <p14:nvPr/>
            </p14:nvContentPartPr>
            <p14:xfrm>
              <a:off x="6516133" y="2972482"/>
              <a:ext cx="3403800" cy="340920"/>
            </p14:xfrm>
          </p:contentPart>
        </mc:Choice>
        <mc:Fallback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837D7487-38D5-8343-A14F-B194241AD4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62493" y="2864482"/>
                <a:ext cx="3511440" cy="5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85E20928-6B02-C7CC-ED16-0C9482525FE3}"/>
                  </a:ext>
                </a:extLst>
              </p14:cNvPr>
              <p14:cNvContentPartPr/>
              <p14:nvPr/>
            </p14:nvContentPartPr>
            <p14:xfrm>
              <a:off x="6316958" y="5237811"/>
              <a:ext cx="3517560" cy="163080"/>
            </p14:xfrm>
          </p:contentPart>
        </mc:Choice>
        <mc:Fallback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85E20928-6B02-C7CC-ED16-0C9482525F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63318" y="5129811"/>
                <a:ext cx="3625200" cy="378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2686" y="1503430"/>
            <a:ext cx="1640839" cy="4321810"/>
          </a:xfrm>
          <a:custGeom>
            <a:avLst/>
            <a:gdLst/>
            <a:ahLst/>
            <a:cxnLst/>
            <a:rect l="l" t="t" r="r" b="b"/>
            <a:pathLst>
              <a:path w="1640840" h="4321810">
                <a:moveTo>
                  <a:pt x="0" y="4321306"/>
                </a:moveTo>
                <a:lnTo>
                  <a:pt x="1640645" y="4321306"/>
                </a:lnTo>
                <a:lnTo>
                  <a:pt x="1640645" y="0"/>
                </a:lnTo>
                <a:lnTo>
                  <a:pt x="0" y="0"/>
                </a:lnTo>
                <a:lnTo>
                  <a:pt x="0" y="4321306"/>
                </a:lnTo>
                <a:close/>
              </a:path>
            </a:pathLst>
          </a:custGeom>
          <a:ln w="510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79180" y="1935436"/>
            <a:ext cx="314960" cy="0"/>
          </a:xfrm>
          <a:custGeom>
            <a:avLst/>
            <a:gdLst/>
            <a:ahLst/>
            <a:cxnLst/>
            <a:rect l="l" t="t" r="r" b="b"/>
            <a:pathLst>
              <a:path w="314959">
                <a:moveTo>
                  <a:pt x="314757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88556" y="2799819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4">
                <a:moveTo>
                  <a:pt x="305381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69804" y="2367627"/>
            <a:ext cx="312420" cy="0"/>
          </a:xfrm>
          <a:custGeom>
            <a:avLst/>
            <a:gdLst/>
            <a:ahLst/>
            <a:cxnLst/>
            <a:rect l="l" t="t" r="r" b="b"/>
            <a:pathLst>
              <a:path w="312420">
                <a:moveTo>
                  <a:pt x="312227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88556" y="3231858"/>
            <a:ext cx="314325" cy="0"/>
          </a:xfrm>
          <a:custGeom>
            <a:avLst/>
            <a:gdLst/>
            <a:ahLst/>
            <a:cxnLst/>
            <a:rect l="l" t="t" r="r" b="b"/>
            <a:pathLst>
              <a:path w="314325">
                <a:moveTo>
                  <a:pt x="314129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69804" y="4096241"/>
            <a:ext cx="333375" cy="0"/>
          </a:xfrm>
          <a:custGeom>
            <a:avLst/>
            <a:gdLst/>
            <a:ahLst/>
            <a:cxnLst/>
            <a:rect l="l" t="t" r="r" b="b"/>
            <a:pathLst>
              <a:path w="333375">
                <a:moveTo>
                  <a:pt x="332881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69804" y="3664050"/>
            <a:ext cx="321310" cy="0"/>
          </a:xfrm>
          <a:custGeom>
            <a:avLst/>
            <a:gdLst/>
            <a:ahLst/>
            <a:cxnLst/>
            <a:rect l="l" t="t" r="r" b="b"/>
            <a:pathLst>
              <a:path w="321309">
                <a:moveTo>
                  <a:pt x="320975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88556" y="4528327"/>
            <a:ext cx="314325" cy="0"/>
          </a:xfrm>
          <a:custGeom>
            <a:avLst/>
            <a:gdLst/>
            <a:ahLst/>
            <a:cxnLst/>
            <a:rect l="l" t="t" r="r" b="b"/>
            <a:pathLst>
              <a:path w="314325">
                <a:moveTo>
                  <a:pt x="314129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16686" y="5392603"/>
            <a:ext cx="286385" cy="0"/>
          </a:xfrm>
          <a:custGeom>
            <a:avLst/>
            <a:gdLst/>
            <a:ahLst/>
            <a:cxnLst/>
            <a:rect l="l" t="t" r="r" b="b"/>
            <a:pathLst>
              <a:path w="286384">
                <a:moveTo>
                  <a:pt x="28600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07310" y="4960457"/>
            <a:ext cx="283845" cy="0"/>
          </a:xfrm>
          <a:custGeom>
            <a:avLst/>
            <a:gdLst/>
            <a:ahLst/>
            <a:cxnLst/>
            <a:rect l="l" t="t" r="r" b="b"/>
            <a:pathLst>
              <a:path w="283845">
                <a:moveTo>
                  <a:pt x="28347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43265" y="2367627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812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43265" y="3015839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812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43265" y="3664050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812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743265" y="4312261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812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743265" y="4960457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812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180060" y="1723649"/>
            <a:ext cx="1490980" cy="3842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25"/>
              </a:lnSpc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1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tabLst>
                <a:tab pos="1068705" algn="l"/>
              </a:tabLst>
            </a:pPr>
            <a:r>
              <a:rPr sz="3450" i="1" spc="37" baseline="2415" dirty="0">
                <a:latin typeface="华文楷体"/>
                <a:cs typeface="华文楷体"/>
              </a:rPr>
              <a:t>A</a:t>
            </a:r>
            <a:r>
              <a:rPr sz="3450" i="1" spc="-270" baseline="2415" dirty="0">
                <a:latin typeface="华文楷体"/>
                <a:cs typeface="华文楷体"/>
              </a:rPr>
              <a:t> </a:t>
            </a:r>
            <a:r>
              <a:rPr sz="2175" spc="75" baseline="-7662" dirty="0">
                <a:latin typeface="华文楷体"/>
                <a:cs typeface="华文楷体"/>
              </a:rPr>
              <a:t>2</a:t>
            </a:r>
            <a:r>
              <a:rPr sz="2175" baseline="-7662" dirty="0">
                <a:latin typeface="华文楷体"/>
                <a:cs typeface="华文楷体"/>
              </a:rPr>
              <a:t>	</a:t>
            </a:r>
            <a:r>
              <a:rPr sz="2150" spc="135" dirty="0">
                <a:latin typeface="华文楷体"/>
                <a:cs typeface="华文楷体"/>
              </a:rPr>
              <a:t>CO</a:t>
            </a:r>
            <a:endParaRPr sz="215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tabLst>
                <a:tab pos="1183640" algn="l"/>
              </a:tabLst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1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	</a:t>
            </a:r>
            <a:r>
              <a:rPr sz="3450" i="1" spc="30" baseline="-41062" dirty="0">
                <a:latin typeface="华文楷体"/>
                <a:cs typeface="华文楷体"/>
              </a:rPr>
              <a:t>S</a:t>
            </a:r>
            <a:r>
              <a:rPr sz="3450" i="1" spc="-419" baseline="-41062" dirty="0">
                <a:latin typeface="华文楷体"/>
                <a:cs typeface="华文楷体"/>
              </a:rPr>
              <a:t> </a:t>
            </a:r>
            <a:r>
              <a:rPr sz="2175" spc="75" baseline="-76628" dirty="0">
                <a:latin typeface="华文楷体"/>
                <a:cs typeface="华文楷体"/>
              </a:rPr>
              <a:t>3</a:t>
            </a:r>
            <a:endParaRPr sz="2175" baseline="-76628">
              <a:latin typeface="华文楷体"/>
              <a:cs typeface="华文楷体"/>
            </a:endParaRPr>
          </a:p>
          <a:p>
            <a:pPr>
              <a:lnSpc>
                <a:spcPts val="90"/>
              </a:lnSpc>
              <a:spcBef>
                <a:spcPts val="894"/>
              </a:spcBef>
              <a:tabLst>
                <a:tab pos="611505" algn="l"/>
              </a:tabLst>
            </a:pPr>
            <a:r>
              <a:rPr sz="3450" i="1" spc="37" baseline="7246" dirty="0">
                <a:latin typeface="华文楷体"/>
                <a:cs typeface="华文楷体"/>
              </a:rPr>
              <a:t>A</a:t>
            </a:r>
            <a:r>
              <a:rPr sz="3450" i="1" spc="-270" baseline="7246" dirty="0">
                <a:latin typeface="华文楷体"/>
                <a:cs typeface="华文楷体"/>
              </a:rPr>
              <a:t> </a:t>
            </a:r>
            <a:r>
              <a:rPr sz="1450" spc="50" dirty="0">
                <a:latin typeface="华文楷体"/>
                <a:cs typeface="华文楷体"/>
              </a:rPr>
              <a:t>0	</a:t>
            </a: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1315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2120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350">
              <a:latin typeface="Times New Roman"/>
              <a:cs typeface="Times New Roman"/>
            </a:endParaRPr>
          </a:p>
          <a:p>
            <a:pPr marL="14604">
              <a:lnSpc>
                <a:spcPts val="70"/>
              </a:lnSpc>
              <a:tabLst>
                <a:tab pos="611505" algn="l"/>
                <a:tab pos="1183640" algn="l"/>
              </a:tabLst>
            </a:pPr>
            <a:r>
              <a:rPr sz="3450" i="1" spc="37" baseline="1207" dirty="0">
                <a:latin typeface="华文楷体"/>
                <a:cs typeface="华文楷体"/>
              </a:rPr>
              <a:t>B</a:t>
            </a:r>
            <a:r>
              <a:rPr sz="3450" i="1" spc="-277" baseline="1207" dirty="0">
                <a:latin typeface="华文楷体"/>
                <a:cs typeface="华文楷体"/>
              </a:rPr>
              <a:t> </a:t>
            </a:r>
            <a:r>
              <a:rPr sz="2175" spc="75" baseline="-9578" dirty="0">
                <a:latin typeface="华文楷体"/>
                <a:cs typeface="华文楷体"/>
              </a:rPr>
              <a:t>3	</a:t>
            </a:r>
            <a:r>
              <a:rPr sz="3525" b="1" spc="-195" baseline="-13002" dirty="0">
                <a:solidFill>
                  <a:srgbClr val="FF0000"/>
                </a:solidFill>
                <a:latin typeface="Times New Roman"/>
                <a:cs typeface="Times New Roman"/>
              </a:rPr>
              <a:t>L	</a:t>
            </a: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62230" algn="ctr">
              <a:lnSpc>
                <a:spcPts val="1425"/>
              </a:lnSpc>
            </a:pPr>
            <a:r>
              <a:rPr sz="235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2140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2350">
              <a:latin typeface="Times New Roman"/>
              <a:cs typeface="Times New Roman"/>
            </a:endParaRPr>
          </a:p>
          <a:p>
            <a:pPr marL="8890">
              <a:lnSpc>
                <a:spcPts val="30"/>
              </a:lnSpc>
              <a:tabLst>
                <a:tab pos="1183640" algn="l"/>
              </a:tabLst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1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	</a:t>
            </a:r>
            <a:r>
              <a:rPr sz="3450" i="1" spc="30" baseline="-41062" dirty="0">
                <a:latin typeface="华文楷体"/>
                <a:cs typeface="华文楷体"/>
              </a:rPr>
              <a:t>S</a:t>
            </a:r>
            <a:r>
              <a:rPr sz="3450" i="1" spc="-427" baseline="-41062" dirty="0">
                <a:latin typeface="华文楷体"/>
                <a:cs typeface="华文楷体"/>
              </a:rPr>
              <a:t> </a:t>
            </a:r>
            <a:r>
              <a:rPr sz="2175" spc="75" baseline="-76628" dirty="0">
                <a:latin typeface="华文楷体"/>
                <a:cs typeface="华文楷体"/>
              </a:rPr>
              <a:t>1</a:t>
            </a:r>
            <a:endParaRPr sz="2175" baseline="-76628">
              <a:latin typeface="华文楷体"/>
              <a:cs typeface="华文楷体"/>
            </a:endParaRPr>
          </a:p>
          <a:p>
            <a:pPr marL="62230" algn="ctr">
              <a:lnSpc>
                <a:spcPts val="1614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19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14604">
              <a:lnSpc>
                <a:spcPct val="100000"/>
              </a:lnSpc>
              <a:spcBef>
                <a:spcPts val="725"/>
              </a:spcBef>
              <a:tabLst>
                <a:tab pos="1183640" algn="l"/>
              </a:tabLst>
            </a:pPr>
            <a:r>
              <a:rPr sz="3450" i="1" spc="37" baseline="2415" dirty="0">
                <a:latin typeface="华文楷体"/>
                <a:cs typeface="华文楷体"/>
              </a:rPr>
              <a:t>B</a:t>
            </a:r>
            <a:r>
              <a:rPr sz="3450" i="1" spc="-277" baseline="2415" dirty="0">
                <a:latin typeface="华文楷体"/>
                <a:cs typeface="华文楷体"/>
              </a:rPr>
              <a:t> </a:t>
            </a:r>
            <a:r>
              <a:rPr sz="2175" spc="75" baseline="-7662" dirty="0">
                <a:latin typeface="华文楷体"/>
                <a:cs typeface="华文楷体"/>
              </a:rPr>
              <a:t>0	</a:t>
            </a: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54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  <a:p>
            <a:pPr marL="13335">
              <a:lnSpc>
                <a:spcPct val="100000"/>
              </a:lnSpc>
              <a:spcBef>
                <a:spcPts val="795"/>
              </a:spcBef>
            </a:pPr>
            <a:r>
              <a:rPr sz="2150" spc="95" dirty="0">
                <a:latin typeface="华文楷体"/>
                <a:cs typeface="华文楷体"/>
              </a:rPr>
              <a:t>CI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02105" y="1503430"/>
            <a:ext cx="1640205" cy="4321810"/>
          </a:xfrm>
          <a:custGeom>
            <a:avLst/>
            <a:gdLst/>
            <a:ahLst/>
            <a:cxnLst/>
            <a:rect l="l" t="t" r="r" b="b"/>
            <a:pathLst>
              <a:path w="1640204" h="4321810">
                <a:moveTo>
                  <a:pt x="0" y="4321306"/>
                </a:moveTo>
                <a:lnTo>
                  <a:pt x="1640065" y="4321306"/>
                </a:lnTo>
                <a:lnTo>
                  <a:pt x="1640065" y="0"/>
                </a:lnTo>
                <a:lnTo>
                  <a:pt x="0" y="0"/>
                </a:lnTo>
                <a:lnTo>
                  <a:pt x="0" y="4321306"/>
                </a:lnTo>
                <a:close/>
              </a:path>
            </a:pathLst>
          </a:custGeom>
          <a:ln w="51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624779" y="1935436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624779" y="2799819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12877" y="2343845"/>
            <a:ext cx="468630" cy="47625"/>
          </a:xfrm>
          <a:custGeom>
            <a:avLst/>
            <a:gdLst/>
            <a:ahLst/>
            <a:cxnLst/>
            <a:rect l="l" t="t" r="r" b="b"/>
            <a:pathLst>
              <a:path w="468629" h="47625">
                <a:moveTo>
                  <a:pt x="0" y="47563"/>
                </a:moveTo>
                <a:lnTo>
                  <a:pt x="468580" y="47563"/>
                </a:lnTo>
                <a:lnTo>
                  <a:pt x="468580" y="0"/>
                </a:lnTo>
                <a:lnTo>
                  <a:pt x="0" y="0"/>
                </a:lnTo>
                <a:lnTo>
                  <a:pt x="0" y="47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633524" y="3231858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88087" y="4096241"/>
            <a:ext cx="314325" cy="0"/>
          </a:xfrm>
          <a:custGeom>
            <a:avLst/>
            <a:gdLst/>
            <a:ahLst/>
            <a:cxnLst/>
            <a:rect l="l" t="t" r="r" b="b"/>
            <a:pathLst>
              <a:path w="314325">
                <a:moveTo>
                  <a:pt x="314018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788087" y="3664050"/>
            <a:ext cx="302260" cy="0"/>
          </a:xfrm>
          <a:custGeom>
            <a:avLst/>
            <a:gdLst/>
            <a:ahLst/>
            <a:cxnLst/>
            <a:rect l="l" t="t" r="r" b="b"/>
            <a:pathLst>
              <a:path w="302259">
                <a:moveTo>
                  <a:pt x="30211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88087" y="4528327"/>
            <a:ext cx="314325" cy="0"/>
          </a:xfrm>
          <a:custGeom>
            <a:avLst/>
            <a:gdLst/>
            <a:ahLst/>
            <a:cxnLst/>
            <a:rect l="l" t="t" r="r" b="b"/>
            <a:pathLst>
              <a:path w="314325">
                <a:moveTo>
                  <a:pt x="314018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788087" y="5392603"/>
            <a:ext cx="314325" cy="0"/>
          </a:xfrm>
          <a:custGeom>
            <a:avLst/>
            <a:gdLst/>
            <a:ahLst/>
            <a:cxnLst/>
            <a:rect l="l" t="t" r="r" b="b"/>
            <a:pathLst>
              <a:path w="314325">
                <a:moveTo>
                  <a:pt x="314018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88087" y="4960457"/>
            <a:ext cx="302260" cy="0"/>
          </a:xfrm>
          <a:custGeom>
            <a:avLst/>
            <a:gdLst/>
            <a:ahLst/>
            <a:cxnLst/>
            <a:rect l="l" t="t" r="r" b="b"/>
            <a:pathLst>
              <a:path w="302259">
                <a:moveTo>
                  <a:pt x="30211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742104" y="2367627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742104" y="3015839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742104" y="3664050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742104" y="4312261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42104" y="4960457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179452" y="1723660"/>
            <a:ext cx="1490345" cy="3842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25"/>
              </a:lnSpc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19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tabLst>
                <a:tab pos="1068070" algn="l"/>
              </a:tabLst>
            </a:pPr>
            <a:r>
              <a:rPr sz="3450" i="1" spc="37" baseline="2415" dirty="0">
                <a:latin typeface="华文楷体"/>
                <a:cs typeface="华文楷体"/>
              </a:rPr>
              <a:t>A</a:t>
            </a:r>
            <a:r>
              <a:rPr sz="3450" i="1" spc="-277" baseline="2415" dirty="0">
                <a:latin typeface="华文楷体"/>
                <a:cs typeface="华文楷体"/>
              </a:rPr>
              <a:t> </a:t>
            </a:r>
            <a:r>
              <a:rPr sz="2175" spc="75" baseline="-7662" dirty="0">
                <a:latin typeface="华文楷体"/>
                <a:cs typeface="华文楷体"/>
              </a:rPr>
              <a:t>2</a:t>
            </a:r>
            <a:r>
              <a:rPr sz="2175" baseline="-7662" dirty="0">
                <a:latin typeface="华文楷体"/>
                <a:cs typeface="华文楷体"/>
              </a:rPr>
              <a:t>	</a:t>
            </a:r>
            <a:r>
              <a:rPr sz="2150" spc="135" dirty="0">
                <a:latin typeface="华文楷体"/>
                <a:cs typeface="华文楷体"/>
              </a:rPr>
              <a:t>CO</a:t>
            </a:r>
            <a:endParaRPr sz="215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tabLst>
                <a:tab pos="1183005" algn="l"/>
              </a:tabLst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1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	</a:t>
            </a:r>
            <a:r>
              <a:rPr sz="3450" i="1" spc="30" baseline="-41062" dirty="0">
                <a:latin typeface="华文楷体"/>
                <a:cs typeface="华文楷体"/>
              </a:rPr>
              <a:t>S</a:t>
            </a:r>
            <a:r>
              <a:rPr sz="3450" i="1" spc="-427" baseline="-41062" dirty="0">
                <a:latin typeface="华文楷体"/>
                <a:cs typeface="华文楷体"/>
              </a:rPr>
              <a:t> </a:t>
            </a:r>
            <a:r>
              <a:rPr sz="2175" spc="75" baseline="-76628" dirty="0">
                <a:latin typeface="华文楷体"/>
                <a:cs typeface="华文楷体"/>
              </a:rPr>
              <a:t>3</a:t>
            </a:r>
            <a:endParaRPr sz="2175" baseline="-76628">
              <a:latin typeface="华文楷体"/>
              <a:cs typeface="华文楷体"/>
            </a:endParaRPr>
          </a:p>
          <a:p>
            <a:pPr>
              <a:lnSpc>
                <a:spcPts val="90"/>
              </a:lnSpc>
              <a:spcBef>
                <a:spcPts val="894"/>
              </a:spcBef>
              <a:tabLst>
                <a:tab pos="611505" algn="l"/>
              </a:tabLst>
            </a:pPr>
            <a:r>
              <a:rPr sz="3450" i="1" spc="37" baseline="7246" dirty="0">
                <a:latin typeface="华文楷体"/>
                <a:cs typeface="华文楷体"/>
              </a:rPr>
              <a:t>A</a:t>
            </a:r>
            <a:r>
              <a:rPr sz="3450" i="1" spc="-277" baseline="7246" dirty="0">
                <a:latin typeface="华文楷体"/>
                <a:cs typeface="华文楷体"/>
              </a:rPr>
              <a:t> </a:t>
            </a:r>
            <a:r>
              <a:rPr sz="1450" spc="50" dirty="0">
                <a:latin typeface="华文楷体"/>
                <a:cs typeface="华文楷体"/>
              </a:rPr>
              <a:t>0	</a:t>
            </a: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1315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2120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350">
              <a:latin typeface="Times New Roman"/>
              <a:cs typeface="Times New Roman"/>
            </a:endParaRPr>
          </a:p>
          <a:p>
            <a:pPr marL="14604">
              <a:lnSpc>
                <a:spcPts val="70"/>
              </a:lnSpc>
              <a:tabLst>
                <a:tab pos="611505" algn="l"/>
                <a:tab pos="1183005" algn="l"/>
              </a:tabLst>
            </a:pPr>
            <a:r>
              <a:rPr sz="3450" i="1" spc="37" baseline="1207" dirty="0">
                <a:latin typeface="华文楷体"/>
                <a:cs typeface="华文楷体"/>
              </a:rPr>
              <a:t>B</a:t>
            </a:r>
            <a:r>
              <a:rPr sz="3450" i="1" spc="-277" baseline="1207" dirty="0">
                <a:latin typeface="华文楷体"/>
                <a:cs typeface="华文楷体"/>
              </a:rPr>
              <a:t> </a:t>
            </a:r>
            <a:r>
              <a:rPr sz="2175" spc="75" baseline="-9578" dirty="0">
                <a:latin typeface="华文楷体"/>
                <a:cs typeface="华文楷体"/>
              </a:rPr>
              <a:t>3	</a:t>
            </a:r>
            <a:r>
              <a:rPr sz="3525" b="1" spc="-195" baseline="-13002" dirty="0">
                <a:solidFill>
                  <a:srgbClr val="FF0000"/>
                </a:solidFill>
                <a:latin typeface="Times New Roman"/>
                <a:cs typeface="Times New Roman"/>
              </a:rPr>
              <a:t>L	</a:t>
            </a: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62230" algn="ctr">
              <a:lnSpc>
                <a:spcPts val="1425"/>
              </a:lnSpc>
            </a:pPr>
            <a:r>
              <a:rPr sz="235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2140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2350">
              <a:latin typeface="Times New Roman"/>
              <a:cs typeface="Times New Roman"/>
            </a:endParaRPr>
          </a:p>
          <a:p>
            <a:pPr marL="8890">
              <a:lnSpc>
                <a:spcPts val="30"/>
              </a:lnSpc>
              <a:tabLst>
                <a:tab pos="1183005" algn="l"/>
              </a:tabLst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1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	</a:t>
            </a:r>
            <a:r>
              <a:rPr sz="3450" i="1" spc="30" baseline="-41062" dirty="0">
                <a:latin typeface="华文楷体"/>
                <a:cs typeface="华文楷体"/>
              </a:rPr>
              <a:t>S</a:t>
            </a:r>
            <a:r>
              <a:rPr sz="3450" i="1" spc="-427" baseline="-41062" dirty="0">
                <a:latin typeface="华文楷体"/>
                <a:cs typeface="华文楷体"/>
              </a:rPr>
              <a:t> </a:t>
            </a:r>
            <a:r>
              <a:rPr sz="2175" spc="75" baseline="-76628" dirty="0">
                <a:latin typeface="华文楷体"/>
                <a:cs typeface="华文楷体"/>
              </a:rPr>
              <a:t>1</a:t>
            </a:r>
            <a:endParaRPr sz="2175" baseline="-76628">
              <a:latin typeface="华文楷体"/>
              <a:cs typeface="华文楷体"/>
            </a:endParaRPr>
          </a:p>
          <a:p>
            <a:pPr marL="62230" algn="ctr">
              <a:lnSpc>
                <a:spcPts val="1614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19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14604">
              <a:lnSpc>
                <a:spcPct val="100000"/>
              </a:lnSpc>
              <a:spcBef>
                <a:spcPts val="725"/>
              </a:spcBef>
              <a:tabLst>
                <a:tab pos="1183005" algn="l"/>
              </a:tabLst>
            </a:pPr>
            <a:r>
              <a:rPr sz="3450" i="1" spc="37" baseline="2415" dirty="0">
                <a:latin typeface="华文楷体"/>
                <a:cs typeface="华文楷体"/>
              </a:rPr>
              <a:t>B</a:t>
            </a:r>
            <a:r>
              <a:rPr sz="3450" i="1" spc="-277" baseline="2415" dirty="0">
                <a:latin typeface="华文楷体"/>
                <a:cs typeface="华文楷体"/>
              </a:rPr>
              <a:t> </a:t>
            </a:r>
            <a:r>
              <a:rPr sz="2175" spc="75" baseline="-7662" dirty="0">
                <a:latin typeface="华文楷体"/>
                <a:cs typeface="华文楷体"/>
              </a:rPr>
              <a:t>0	</a:t>
            </a: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54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  <a:p>
            <a:pPr marL="13335">
              <a:lnSpc>
                <a:spcPct val="100000"/>
              </a:lnSpc>
              <a:spcBef>
                <a:spcPts val="795"/>
              </a:spcBef>
            </a:pPr>
            <a:r>
              <a:rPr sz="2150" spc="95" dirty="0">
                <a:latin typeface="华文楷体"/>
                <a:cs typeface="华文楷体"/>
              </a:rPr>
              <a:t>CI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2105" y="1503430"/>
            <a:ext cx="1640205" cy="4321810"/>
          </a:xfrm>
          <a:custGeom>
            <a:avLst/>
            <a:gdLst/>
            <a:ahLst/>
            <a:cxnLst/>
            <a:rect l="l" t="t" r="r" b="b"/>
            <a:pathLst>
              <a:path w="1640204" h="4321810">
                <a:moveTo>
                  <a:pt x="0" y="4321306"/>
                </a:moveTo>
                <a:lnTo>
                  <a:pt x="1640065" y="4321306"/>
                </a:lnTo>
                <a:lnTo>
                  <a:pt x="1640065" y="0"/>
                </a:lnTo>
                <a:lnTo>
                  <a:pt x="0" y="0"/>
                </a:lnTo>
                <a:lnTo>
                  <a:pt x="0" y="4321306"/>
                </a:lnTo>
                <a:close/>
              </a:path>
            </a:pathLst>
          </a:custGeom>
          <a:ln w="51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624779" y="1935436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624779" y="2799819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12877" y="2343845"/>
            <a:ext cx="468630" cy="47625"/>
          </a:xfrm>
          <a:custGeom>
            <a:avLst/>
            <a:gdLst/>
            <a:ahLst/>
            <a:cxnLst/>
            <a:rect l="l" t="t" r="r" b="b"/>
            <a:pathLst>
              <a:path w="468629" h="47625">
                <a:moveTo>
                  <a:pt x="0" y="47563"/>
                </a:moveTo>
                <a:lnTo>
                  <a:pt x="468580" y="47563"/>
                </a:lnTo>
                <a:lnTo>
                  <a:pt x="468580" y="0"/>
                </a:lnTo>
                <a:lnTo>
                  <a:pt x="0" y="0"/>
                </a:lnTo>
                <a:lnTo>
                  <a:pt x="0" y="47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633524" y="3231858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633524" y="4096241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394473" y="3664050"/>
            <a:ext cx="695960" cy="0"/>
          </a:xfrm>
          <a:custGeom>
            <a:avLst/>
            <a:gdLst/>
            <a:ahLst/>
            <a:cxnLst/>
            <a:rect l="l" t="t" r="r" b="b"/>
            <a:pathLst>
              <a:path w="695959">
                <a:moveTo>
                  <a:pt x="695729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759967" y="4528327"/>
            <a:ext cx="342265" cy="0"/>
          </a:xfrm>
          <a:custGeom>
            <a:avLst/>
            <a:gdLst/>
            <a:ahLst/>
            <a:cxnLst/>
            <a:rect l="l" t="t" r="r" b="b"/>
            <a:pathLst>
              <a:path w="342265">
                <a:moveTo>
                  <a:pt x="34213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633524" y="5392603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769341" y="4960457"/>
            <a:ext cx="321310" cy="0"/>
          </a:xfrm>
          <a:custGeom>
            <a:avLst/>
            <a:gdLst/>
            <a:ahLst/>
            <a:cxnLst/>
            <a:rect l="l" t="t" r="r" b="b"/>
            <a:pathLst>
              <a:path w="321309">
                <a:moveTo>
                  <a:pt x="320861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742104" y="2367627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742104" y="3015839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742104" y="3664050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742104" y="4312261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742104" y="4960457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7179452" y="1723660"/>
            <a:ext cx="1490345" cy="3842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25"/>
              </a:lnSpc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19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tabLst>
                <a:tab pos="1068070" algn="l"/>
              </a:tabLst>
            </a:pPr>
            <a:r>
              <a:rPr sz="3450" i="1" spc="37" baseline="2415" dirty="0">
                <a:latin typeface="华文楷体"/>
                <a:cs typeface="华文楷体"/>
              </a:rPr>
              <a:t>A</a:t>
            </a:r>
            <a:r>
              <a:rPr sz="3450" i="1" spc="-277" baseline="2415" dirty="0">
                <a:latin typeface="华文楷体"/>
                <a:cs typeface="华文楷体"/>
              </a:rPr>
              <a:t> </a:t>
            </a:r>
            <a:r>
              <a:rPr sz="2175" spc="75" baseline="-7662" dirty="0">
                <a:latin typeface="华文楷体"/>
                <a:cs typeface="华文楷体"/>
              </a:rPr>
              <a:t>2</a:t>
            </a:r>
            <a:r>
              <a:rPr sz="2175" baseline="-7662" dirty="0">
                <a:latin typeface="华文楷体"/>
                <a:cs typeface="华文楷体"/>
              </a:rPr>
              <a:t>	</a:t>
            </a:r>
            <a:r>
              <a:rPr sz="2150" spc="135" dirty="0">
                <a:latin typeface="华文楷体"/>
                <a:cs typeface="华文楷体"/>
              </a:rPr>
              <a:t>CO</a:t>
            </a:r>
            <a:endParaRPr sz="215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tabLst>
                <a:tab pos="1183005" algn="l"/>
              </a:tabLst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1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	</a:t>
            </a:r>
            <a:r>
              <a:rPr sz="3450" i="1" spc="30" baseline="-41062" dirty="0">
                <a:latin typeface="华文楷体"/>
                <a:cs typeface="华文楷体"/>
              </a:rPr>
              <a:t>S</a:t>
            </a:r>
            <a:r>
              <a:rPr sz="3450" i="1" spc="-427" baseline="-41062" dirty="0">
                <a:latin typeface="华文楷体"/>
                <a:cs typeface="华文楷体"/>
              </a:rPr>
              <a:t> </a:t>
            </a:r>
            <a:r>
              <a:rPr sz="2175" spc="75" baseline="-76628" dirty="0">
                <a:latin typeface="华文楷体"/>
                <a:cs typeface="华文楷体"/>
              </a:rPr>
              <a:t>3</a:t>
            </a:r>
            <a:endParaRPr sz="2175" baseline="-76628">
              <a:latin typeface="华文楷体"/>
              <a:cs typeface="华文楷体"/>
            </a:endParaRPr>
          </a:p>
          <a:p>
            <a:pPr>
              <a:lnSpc>
                <a:spcPts val="90"/>
              </a:lnSpc>
              <a:spcBef>
                <a:spcPts val="894"/>
              </a:spcBef>
              <a:tabLst>
                <a:tab pos="611505" algn="l"/>
              </a:tabLst>
            </a:pPr>
            <a:r>
              <a:rPr sz="3450" i="1" spc="37" baseline="7246" dirty="0">
                <a:latin typeface="华文楷体"/>
                <a:cs typeface="华文楷体"/>
              </a:rPr>
              <a:t>A</a:t>
            </a:r>
            <a:r>
              <a:rPr sz="3450" i="1" spc="-277" baseline="7246" dirty="0">
                <a:latin typeface="华文楷体"/>
                <a:cs typeface="华文楷体"/>
              </a:rPr>
              <a:t> </a:t>
            </a:r>
            <a:r>
              <a:rPr sz="1450" spc="50" dirty="0">
                <a:latin typeface="华文楷体"/>
                <a:cs typeface="华文楷体"/>
              </a:rPr>
              <a:t>0	</a:t>
            </a: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8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1315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2120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350">
              <a:latin typeface="Times New Roman"/>
              <a:cs typeface="Times New Roman"/>
            </a:endParaRPr>
          </a:p>
          <a:p>
            <a:pPr marL="14604">
              <a:lnSpc>
                <a:spcPts val="70"/>
              </a:lnSpc>
              <a:tabLst>
                <a:tab pos="611505" algn="l"/>
                <a:tab pos="1183005" algn="l"/>
              </a:tabLst>
            </a:pPr>
            <a:r>
              <a:rPr sz="3450" i="1" spc="37" baseline="1207" dirty="0">
                <a:latin typeface="华文楷体"/>
                <a:cs typeface="华文楷体"/>
              </a:rPr>
              <a:t>B</a:t>
            </a:r>
            <a:r>
              <a:rPr sz="3450" i="1" spc="-277" baseline="1207" dirty="0">
                <a:latin typeface="华文楷体"/>
                <a:cs typeface="华文楷体"/>
              </a:rPr>
              <a:t> </a:t>
            </a:r>
            <a:r>
              <a:rPr sz="2175" spc="75" baseline="-9578" dirty="0">
                <a:latin typeface="华文楷体"/>
                <a:cs typeface="华文楷体"/>
              </a:rPr>
              <a:t>3	</a:t>
            </a:r>
            <a:r>
              <a:rPr sz="3525" b="1" spc="-195" baseline="-13002" dirty="0">
                <a:solidFill>
                  <a:srgbClr val="FF0000"/>
                </a:solidFill>
                <a:latin typeface="Times New Roman"/>
                <a:cs typeface="Times New Roman"/>
              </a:rPr>
              <a:t>L	</a:t>
            </a: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62230" algn="ctr">
              <a:lnSpc>
                <a:spcPts val="1425"/>
              </a:lnSpc>
            </a:pPr>
            <a:r>
              <a:rPr sz="235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sz="2350">
              <a:latin typeface="Times New Roman"/>
              <a:cs typeface="Times New Roman"/>
            </a:endParaRPr>
          </a:p>
          <a:p>
            <a:pPr marL="62230" algn="ctr">
              <a:lnSpc>
                <a:spcPts val="2140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endParaRPr sz="2350">
              <a:latin typeface="Times New Roman"/>
              <a:cs typeface="Times New Roman"/>
            </a:endParaRPr>
          </a:p>
          <a:p>
            <a:pPr marL="8890">
              <a:lnSpc>
                <a:spcPts val="30"/>
              </a:lnSpc>
              <a:tabLst>
                <a:tab pos="1183005" algn="l"/>
              </a:tabLst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1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	</a:t>
            </a:r>
            <a:r>
              <a:rPr sz="3450" i="1" spc="30" baseline="-41062" dirty="0">
                <a:latin typeface="华文楷体"/>
                <a:cs typeface="华文楷体"/>
              </a:rPr>
              <a:t>S</a:t>
            </a:r>
            <a:r>
              <a:rPr sz="3450" i="1" spc="-427" baseline="-41062" dirty="0">
                <a:latin typeface="华文楷体"/>
                <a:cs typeface="华文楷体"/>
              </a:rPr>
              <a:t> </a:t>
            </a:r>
            <a:r>
              <a:rPr sz="2175" spc="75" baseline="-76628" dirty="0">
                <a:latin typeface="华文楷体"/>
                <a:cs typeface="华文楷体"/>
              </a:rPr>
              <a:t>1</a:t>
            </a:r>
            <a:endParaRPr sz="2175" baseline="-76628">
              <a:latin typeface="华文楷体"/>
              <a:cs typeface="华文楷体"/>
            </a:endParaRPr>
          </a:p>
          <a:p>
            <a:pPr marL="62230" algn="ctr">
              <a:lnSpc>
                <a:spcPts val="1614"/>
              </a:lnSpc>
            </a:pPr>
            <a:r>
              <a:rPr sz="235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19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14604">
              <a:lnSpc>
                <a:spcPct val="100000"/>
              </a:lnSpc>
              <a:spcBef>
                <a:spcPts val="725"/>
              </a:spcBef>
              <a:tabLst>
                <a:tab pos="1183005" algn="l"/>
              </a:tabLst>
            </a:pPr>
            <a:r>
              <a:rPr sz="3450" i="1" spc="37" baseline="2415" dirty="0">
                <a:latin typeface="华文楷体"/>
                <a:cs typeface="华文楷体"/>
              </a:rPr>
              <a:t>B</a:t>
            </a:r>
            <a:r>
              <a:rPr sz="3450" i="1" spc="-277" baseline="2415" dirty="0">
                <a:latin typeface="华文楷体"/>
                <a:cs typeface="华文楷体"/>
              </a:rPr>
              <a:t> </a:t>
            </a:r>
            <a:r>
              <a:rPr sz="2175" spc="75" baseline="-7662" dirty="0">
                <a:latin typeface="华文楷体"/>
                <a:cs typeface="华文楷体"/>
              </a:rPr>
              <a:t>0	</a:t>
            </a: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54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  <a:p>
            <a:pPr marL="13335">
              <a:lnSpc>
                <a:spcPct val="100000"/>
              </a:lnSpc>
              <a:spcBef>
                <a:spcPts val="795"/>
              </a:spcBef>
            </a:pPr>
            <a:r>
              <a:rPr sz="2150" spc="95" dirty="0">
                <a:latin typeface="华文楷体"/>
                <a:cs typeface="华文楷体"/>
              </a:rPr>
              <a:t>CI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600644" y="3664050"/>
            <a:ext cx="0" cy="1732914"/>
          </a:xfrm>
          <a:custGeom>
            <a:avLst/>
            <a:gdLst/>
            <a:ahLst/>
            <a:cxnLst/>
            <a:rect l="l" t="t" r="r" b="b"/>
            <a:pathLst>
              <a:path h="1732914">
                <a:moveTo>
                  <a:pt x="0" y="1732898"/>
                </a:moveTo>
                <a:lnTo>
                  <a:pt x="0" y="0"/>
                </a:lnTo>
              </a:path>
            </a:pathLst>
          </a:custGeom>
          <a:ln w="35706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922997" y="1247902"/>
          <a:ext cx="4453886" cy="5181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68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6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75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 gridSpan="4"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8421BCD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码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5421BCD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码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8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8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6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0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6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758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2" name="object 52"/>
          <p:cNvSpPr/>
          <p:nvPr/>
        </p:nvSpPr>
        <p:spPr>
          <a:xfrm>
            <a:off x="7102105" y="1503430"/>
            <a:ext cx="1640205" cy="4321810"/>
          </a:xfrm>
          <a:custGeom>
            <a:avLst/>
            <a:gdLst/>
            <a:ahLst/>
            <a:cxnLst/>
            <a:rect l="l" t="t" r="r" b="b"/>
            <a:pathLst>
              <a:path w="1640204" h="4321810">
                <a:moveTo>
                  <a:pt x="0" y="4321306"/>
                </a:moveTo>
                <a:lnTo>
                  <a:pt x="1640065" y="4321306"/>
                </a:lnTo>
                <a:lnTo>
                  <a:pt x="1640065" y="0"/>
                </a:lnTo>
                <a:lnTo>
                  <a:pt x="0" y="0"/>
                </a:lnTo>
                <a:lnTo>
                  <a:pt x="0" y="43213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102105" y="1503430"/>
            <a:ext cx="1640205" cy="4321810"/>
          </a:xfrm>
          <a:custGeom>
            <a:avLst/>
            <a:gdLst/>
            <a:ahLst/>
            <a:cxnLst/>
            <a:rect l="l" t="t" r="r" b="b"/>
            <a:pathLst>
              <a:path w="1640204" h="4321810">
                <a:moveTo>
                  <a:pt x="0" y="4321306"/>
                </a:moveTo>
                <a:lnTo>
                  <a:pt x="1640065" y="4321306"/>
                </a:lnTo>
                <a:lnTo>
                  <a:pt x="1640065" y="0"/>
                </a:lnTo>
                <a:lnTo>
                  <a:pt x="0" y="0"/>
                </a:lnTo>
                <a:lnTo>
                  <a:pt x="0" y="4321306"/>
                </a:lnTo>
                <a:close/>
              </a:path>
            </a:pathLst>
          </a:custGeom>
          <a:ln w="51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624779" y="1935436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24779" y="2799819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612877" y="2343845"/>
            <a:ext cx="468630" cy="47625"/>
          </a:xfrm>
          <a:custGeom>
            <a:avLst/>
            <a:gdLst/>
            <a:ahLst/>
            <a:cxnLst/>
            <a:rect l="l" t="t" r="r" b="b"/>
            <a:pathLst>
              <a:path w="468629" h="47625">
                <a:moveTo>
                  <a:pt x="0" y="47563"/>
                </a:moveTo>
                <a:lnTo>
                  <a:pt x="468580" y="47563"/>
                </a:lnTo>
                <a:lnTo>
                  <a:pt x="468580" y="0"/>
                </a:lnTo>
                <a:lnTo>
                  <a:pt x="0" y="0"/>
                </a:lnTo>
                <a:lnTo>
                  <a:pt x="0" y="47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633524" y="3231858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633524" y="4096241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394473" y="3664050"/>
            <a:ext cx="695960" cy="0"/>
          </a:xfrm>
          <a:custGeom>
            <a:avLst/>
            <a:gdLst/>
            <a:ahLst/>
            <a:cxnLst/>
            <a:rect l="l" t="t" r="r" b="b"/>
            <a:pathLst>
              <a:path w="695959">
                <a:moveTo>
                  <a:pt x="695729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141437" y="4528327"/>
            <a:ext cx="960755" cy="0"/>
          </a:xfrm>
          <a:custGeom>
            <a:avLst/>
            <a:gdLst/>
            <a:ahLst/>
            <a:cxnLst/>
            <a:rect l="l" t="t" r="r" b="b"/>
            <a:pathLst>
              <a:path w="960754">
                <a:moveTo>
                  <a:pt x="960668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633524" y="5392603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385100" y="4960457"/>
            <a:ext cx="705485" cy="0"/>
          </a:xfrm>
          <a:custGeom>
            <a:avLst/>
            <a:gdLst/>
            <a:ahLst/>
            <a:cxnLst/>
            <a:rect l="l" t="t" r="r" b="b"/>
            <a:pathLst>
              <a:path w="705484">
                <a:moveTo>
                  <a:pt x="705102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742104" y="2367627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742104" y="3015839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742104" y="3664050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742104" y="4312261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742104" y="4960457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154052" y="1624820"/>
            <a:ext cx="408305" cy="39223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40"/>
              </a:spcBef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645"/>
              </a:spcBef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640"/>
              </a:spcBef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645"/>
              </a:spcBef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  <a:p>
            <a:pPr marL="40005">
              <a:lnSpc>
                <a:spcPct val="100000"/>
              </a:lnSpc>
              <a:spcBef>
                <a:spcPts val="645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 marL="34290">
              <a:lnSpc>
                <a:spcPct val="100000"/>
              </a:lnSpc>
              <a:spcBef>
                <a:spcPts val="640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40005">
              <a:lnSpc>
                <a:spcPct val="100000"/>
              </a:lnSpc>
              <a:spcBef>
                <a:spcPts val="645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40005">
              <a:lnSpc>
                <a:spcPct val="100000"/>
              </a:lnSpc>
              <a:spcBef>
                <a:spcPts val="640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  <a:p>
            <a:pPr marL="38735">
              <a:lnSpc>
                <a:spcPct val="100000"/>
              </a:lnSpc>
              <a:spcBef>
                <a:spcPts val="880"/>
              </a:spcBef>
            </a:pPr>
            <a:r>
              <a:rPr sz="2150" spc="95" dirty="0">
                <a:latin typeface="华文楷体"/>
                <a:cs typeface="华文楷体"/>
              </a:rPr>
              <a:t>CI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222765" y="2167263"/>
            <a:ext cx="485140" cy="2951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2150" spc="135" dirty="0">
                <a:latin typeface="华文楷体"/>
                <a:cs typeface="华文楷体"/>
              </a:rPr>
              <a:t>CO</a:t>
            </a:r>
            <a:endParaRPr sz="2150">
              <a:latin typeface="华文楷体"/>
              <a:cs typeface="华文楷体"/>
            </a:endParaRPr>
          </a:p>
          <a:p>
            <a:pPr marL="139700">
              <a:lnSpc>
                <a:spcPct val="100000"/>
              </a:lnSpc>
              <a:spcBef>
                <a:spcPts val="2290"/>
              </a:spcBef>
            </a:pP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 marL="139700">
              <a:lnSpc>
                <a:spcPct val="100000"/>
              </a:lnSpc>
              <a:spcBef>
                <a:spcPts val="2390"/>
              </a:spcBef>
            </a:pP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139700">
              <a:lnSpc>
                <a:spcPct val="100000"/>
              </a:lnSpc>
              <a:spcBef>
                <a:spcPts val="2295"/>
              </a:spcBef>
            </a:pP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139700">
              <a:lnSpc>
                <a:spcPct val="100000"/>
              </a:lnSpc>
              <a:spcBef>
                <a:spcPts val="2430"/>
              </a:spcBef>
            </a:pP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778555" y="3058477"/>
            <a:ext cx="354965" cy="10471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60"/>
              </a:lnSpc>
            </a:pPr>
            <a:r>
              <a:rPr sz="2350" b="1" dirty="0">
                <a:solidFill>
                  <a:srgbClr val="FF0000"/>
                </a:solidFill>
                <a:latin typeface="Times New Roman"/>
                <a:cs typeface="Times New Roman"/>
              </a:rPr>
              <a:t>74L</a:t>
            </a:r>
            <a:r>
              <a:rPr sz="23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350" b="1" dirty="0">
                <a:solidFill>
                  <a:srgbClr val="FF0000"/>
                </a:solidFill>
                <a:latin typeface="Times New Roman"/>
                <a:cs typeface="Times New Roman"/>
              </a:rPr>
              <a:t>283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133803" y="2009600"/>
            <a:ext cx="448945" cy="132207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sz="2300" i="1" spc="30" dirty="0">
                <a:latin typeface="华文楷体"/>
                <a:cs typeface="华文楷体"/>
              </a:rPr>
              <a:t>D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645"/>
              </a:spcBef>
            </a:pPr>
            <a:r>
              <a:rPr sz="2300" i="1" spc="30" dirty="0">
                <a:latin typeface="华文楷体"/>
                <a:cs typeface="华文楷体"/>
              </a:rPr>
              <a:t>D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640"/>
              </a:spcBef>
            </a:pPr>
            <a:r>
              <a:rPr sz="2300" i="1" spc="30" dirty="0">
                <a:latin typeface="华文楷体"/>
                <a:cs typeface="华文楷体"/>
              </a:rPr>
              <a:t>D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133803" y="1659311"/>
            <a:ext cx="44894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300" i="1" spc="30" dirty="0">
                <a:latin typeface="华文楷体"/>
                <a:cs typeface="华文楷体"/>
              </a:rPr>
              <a:t>D</a:t>
            </a:r>
            <a:r>
              <a:rPr sz="2300" i="1" spc="-24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278613" y="3441893"/>
            <a:ext cx="426720" cy="1682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300" i="1" spc="25" dirty="0">
                <a:latin typeface="华文楷体"/>
                <a:cs typeface="华文楷体"/>
              </a:rPr>
              <a:t>Y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2430"/>
              </a:spcBef>
            </a:pPr>
            <a:r>
              <a:rPr sz="2300" i="1" spc="25" dirty="0">
                <a:latin typeface="华文楷体"/>
                <a:cs typeface="华文楷体"/>
              </a:rPr>
              <a:t>Y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49530">
              <a:lnSpc>
                <a:spcPct val="100000"/>
              </a:lnSpc>
              <a:spcBef>
                <a:spcPts val="2345"/>
              </a:spcBef>
            </a:pPr>
            <a:r>
              <a:rPr sz="2300" i="1" spc="25" dirty="0">
                <a:latin typeface="华文楷体"/>
                <a:cs typeface="华文楷体"/>
              </a:rPr>
              <a:t>Y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304013" y="2793681"/>
            <a:ext cx="220979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i="1" spc="25" dirty="0">
                <a:latin typeface="华文楷体"/>
                <a:cs typeface="华文楷体"/>
              </a:rPr>
              <a:t>Y</a:t>
            </a:r>
            <a:endParaRPr sz="2300">
              <a:latin typeface="华文楷体"/>
              <a:cs typeface="华文楷体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549330" y="2940848"/>
            <a:ext cx="11874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50" dirty="0">
                <a:latin typeface="华文楷体"/>
                <a:cs typeface="华文楷体"/>
              </a:rPr>
              <a:t>3</a:t>
            </a:r>
            <a:endParaRPr sz="1450">
              <a:latin typeface="华文楷体"/>
              <a:cs typeface="华文楷体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6600644" y="3664050"/>
            <a:ext cx="0" cy="1732914"/>
          </a:xfrm>
          <a:custGeom>
            <a:avLst/>
            <a:gdLst/>
            <a:ahLst/>
            <a:cxnLst/>
            <a:rect l="l" t="t" r="r" b="b"/>
            <a:pathLst>
              <a:path h="1732914">
                <a:moveTo>
                  <a:pt x="0" y="1732898"/>
                </a:moveTo>
                <a:lnTo>
                  <a:pt x="0" y="0"/>
                </a:lnTo>
              </a:path>
            </a:pathLst>
          </a:custGeom>
          <a:ln w="35706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6143151" y="3452862"/>
            <a:ext cx="16510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90" dirty="0">
                <a:solidFill>
                  <a:srgbClr val="006FC0"/>
                </a:solidFill>
                <a:latin typeface="华文楷体"/>
                <a:cs typeface="华文楷体"/>
              </a:rPr>
              <a:t>0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366354" y="4528327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432130"/>
                </a:moveTo>
                <a:lnTo>
                  <a:pt x="0" y="0"/>
                </a:lnTo>
              </a:path>
            </a:pathLst>
          </a:custGeom>
          <a:ln w="51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5864608" y="4232236"/>
            <a:ext cx="2070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10" dirty="0">
                <a:solidFill>
                  <a:srgbClr val="FF0000"/>
                </a:solidFill>
                <a:latin typeface="华文楷体"/>
                <a:cs typeface="华文楷体"/>
              </a:rPr>
              <a:t>?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118</a:t>
            </a:r>
            <a:endParaRPr sz="10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024626" y="0"/>
            <a:ext cx="3402965" cy="1009650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455"/>
              </a:spcBef>
            </a:pP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3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2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1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0  </a:t>
            </a:r>
            <a:r>
              <a:rPr sz="2100" spc="130" dirty="0">
                <a:latin typeface="Symbol"/>
                <a:cs typeface="Symbol"/>
              </a:rPr>
              <a:t></a:t>
            </a:r>
            <a:r>
              <a:rPr sz="2100" spc="-215" dirty="0">
                <a:latin typeface="Times New Roman"/>
                <a:cs typeface="Times New Roman"/>
              </a:rPr>
              <a:t> </a:t>
            </a:r>
            <a:r>
              <a:rPr sz="2100" i="1" spc="60" dirty="0">
                <a:latin typeface="Times New Roman"/>
                <a:cs typeface="Times New Roman"/>
              </a:rPr>
              <a:t>D</a:t>
            </a:r>
            <a:r>
              <a:rPr sz="1800" spc="89" baseline="-25462" dirty="0">
                <a:latin typeface="Times New Roman"/>
                <a:cs typeface="Times New Roman"/>
              </a:rPr>
              <a:t>3 </a:t>
            </a:r>
            <a:r>
              <a:rPr sz="2100" i="1" spc="80" dirty="0">
                <a:latin typeface="Times New Roman"/>
                <a:cs typeface="Times New Roman"/>
              </a:rPr>
              <a:t>D</a:t>
            </a:r>
            <a:r>
              <a:rPr sz="1800" spc="120" baseline="-25462" dirty="0">
                <a:latin typeface="Times New Roman"/>
                <a:cs typeface="Times New Roman"/>
              </a:rPr>
              <a:t>2 </a:t>
            </a:r>
            <a:r>
              <a:rPr sz="2100" i="1" spc="60" dirty="0">
                <a:latin typeface="Times New Roman"/>
                <a:cs typeface="Times New Roman"/>
              </a:rPr>
              <a:t>D</a:t>
            </a:r>
            <a:r>
              <a:rPr sz="1800" spc="89" baseline="-25462" dirty="0">
                <a:latin typeface="Times New Roman"/>
                <a:cs typeface="Times New Roman"/>
              </a:rPr>
              <a:t>1</a:t>
            </a:r>
            <a:r>
              <a:rPr sz="2100" i="1" spc="60" dirty="0">
                <a:latin typeface="Times New Roman"/>
                <a:cs typeface="Times New Roman"/>
              </a:rPr>
              <a:t>D</a:t>
            </a:r>
            <a:r>
              <a:rPr sz="1800" spc="89" baseline="-25462" dirty="0">
                <a:latin typeface="Times New Roman"/>
                <a:cs typeface="Times New Roman"/>
              </a:rPr>
              <a:t>0 </a:t>
            </a:r>
            <a:r>
              <a:rPr sz="2100" spc="114" dirty="0">
                <a:latin typeface="Times New Roman"/>
                <a:cs typeface="Times New Roman"/>
              </a:rPr>
              <a:t>+0000</a:t>
            </a:r>
            <a:endParaRPr sz="21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345"/>
              </a:spcBef>
            </a:pP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3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2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1</a:t>
            </a:r>
            <a:r>
              <a:rPr sz="2100" i="1" spc="-25" dirty="0">
                <a:latin typeface="Times New Roman"/>
                <a:cs typeface="Times New Roman"/>
              </a:rPr>
              <a:t>Y</a:t>
            </a:r>
            <a:r>
              <a:rPr sz="1800" spc="-37" baseline="-25462" dirty="0">
                <a:latin typeface="Times New Roman"/>
                <a:cs typeface="Times New Roman"/>
              </a:rPr>
              <a:t>0  </a:t>
            </a:r>
            <a:r>
              <a:rPr sz="2100" spc="125" dirty="0">
                <a:latin typeface="Symbol"/>
                <a:cs typeface="Symbol"/>
              </a:rPr>
              <a:t></a:t>
            </a:r>
            <a:r>
              <a:rPr sz="2100" spc="125" dirty="0">
                <a:latin typeface="Times New Roman"/>
                <a:cs typeface="Times New Roman"/>
              </a:rPr>
              <a:t> </a:t>
            </a:r>
            <a:r>
              <a:rPr sz="2100" i="1" spc="60" dirty="0">
                <a:latin typeface="Times New Roman"/>
                <a:cs typeface="Times New Roman"/>
              </a:rPr>
              <a:t>D</a:t>
            </a:r>
            <a:r>
              <a:rPr sz="1800" spc="89" baseline="-25462" dirty="0">
                <a:latin typeface="Times New Roman"/>
                <a:cs typeface="Times New Roman"/>
              </a:rPr>
              <a:t>3 </a:t>
            </a:r>
            <a:r>
              <a:rPr sz="2100" i="1" spc="80" dirty="0">
                <a:latin typeface="Times New Roman"/>
                <a:cs typeface="Times New Roman"/>
              </a:rPr>
              <a:t>D</a:t>
            </a:r>
            <a:r>
              <a:rPr sz="1800" spc="120" baseline="-25462" dirty="0">
                <a:latin typeface="Times New Roman"/>
                <a:cs typeface="Times New Roman"/>
              </a:rPr>
              <a:t>2 </a:t>
            </a:r>
            <a:r>
              <a:rPr sz="2100" i="1" spc="60" dirty="0">
                <a:latin typeface="Times New Roman"/>
                <a:cs typeface="Times New Roman"/>
              </a:rPr>
              <a:t>D</a:t>
            </a:r>
            <a:r>
              <a:rPr sz="1800" spc="89" baseline="-25462" dirty="0">
                <a:latin typeface="Times New Roman"/>
                <a:cs typeface="Times New Roman"/>
              </a:rPr>
              <a:t>1</a:t>
            </a:r>
            <a:r>
              <a:rPr sz="2100" i="1" spc="60" dirty="0">
                <a:latin typeface="Times New Roman"/>
                <a:cs typeface="Times New Roman"/>
              </a:rPr>
              <a:t>D</a:t>
            </a:r>
            <a:r>
              <a:rPr sz="1800" spc="89" baseline="-25462" dirty="0">
                <a:latin typeface="Times New Roman"/>
                <a:cs typeface="Times New Roman"/>
              </a:rPr>
              <a:t>0 </a:t>
            </a:r>
            <a:r>
              <a:rPr sz="2100" spc="125" dirty="0">
                <a:latin typeface="Symbol"/>
                <a:cs typeface="Symbol"/>
              </a:rPr>
              <a:t></a:t>
            </a:r>
            <a:r>
              <a:rPr sz="2100" spc="-155" dirty="0">
                <a:latin typeface="Times New Roman"/>
                <a:cs typeface="Times New Roman"/>
              </a:rPr>
              <a:t> </a:t>
            </a:r>
            <a:r>
              <a:rPr sz="2100" spc="110" dirty="0">
                <a:latin typeface="Times New Roman"/>
                <a:cs typeface="Times New Roman"/>
              </a:rPr>
              <a:t>0011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12352" y="982217"/>
            <a:ext cx="327025" cy="0"/>
          </a:xfrm>
          <a:custGeom>
            <a:avLst/>
            <a:gdLst/>
            <a:ahLst/>
            <a:cxnLst/>
            <a:rect l="l" t="t" r="r" b="b"/>
            <a:pathLst>
              <a:path w="327025">
                <a:moveTo>
                  <a:pt x="0" y="0"/>
                </a:moveTo>
                <a:lnTo>
                  <a:pt x="326898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966" y="982217"/>
            <a:ext cx="5373370" cy="0"/>
          </a:xfrm>
          <a:custGeom>
            <a:avLst/>
            <a:gdLst/>
            <a:ahLst/>
            <a:cxnLst/>
            <a:rect l="l" t="t" r="r" b="b"/>
            <a:pathLst>
              <a:path w="5373370">
                <a:moveTo>
                  <a:pt x="0" y="0"/>
                </a:moveTo>
                <a:lnTo>
                  <a:pt x="5372862" y="0"/>
                </a:lnTo>
              </a:path>
            </a:pathLst>
          </a:custGeom>
          <a:ln w="19811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02105" y="1503430"/>
            <a:ext cx="1640205" cy="4321810"/>
          </a:xfrm>
          <a:custGeom>
            <a:avLst/>
            <a:gdLst/>
            <a:ahLst/>
            <a:cxnLst/>
            <a:rect l="l" t="t" r="r" b="b"/>
            <a:pathLst>
              <a:path w="1640204" h="4321810">
                <a:moveTo>
                  <a:pt x="0" y="4321306"/>
                </a:moveTo>
                <a:lnTo>
                  <a:pt x="1640065" y="4321306"/>
                </a:lnTo>
                <a:lnTo>
                  <a:pt x="1640065" y="0"/>
                </a:lnTo>
                <a:lnTo>
                  <a:pt x="0" y="0"/>
                </a:lnTo>
                <a:lnTo>
                  <a:pt x="0" y="4321306"/>
                </a:lnTo>
                <a:close/>
              </a:path>
            </a:pathLst>
          </a:custGeom>
          <a:ln w="510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24779" y="1935436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24779" y="2799819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12877" y="2367627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33524" y="3231858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33524" y="4096241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94473" y="3664050"/>
            <a:ext cx="695960" cy="0"/>
          </a:xfrm>
          <a:custGeom>
            <a:avLst/>
            <a:gdLst/>
            <a:ahLst/>
            <a:cxnLst/>
            <a:rect l="l" t="t" r="r" b="b"/>
            <a:pathLst>
              <a:path w="695959">
                <a:moveTo>
                  <a:pt x="695729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41437" y="4528327"/>
            <a:ext cx="960755" cy="0"/>
          </a:xfrm>
          <a:custGeom>
            <a:avLst/>
            <a:gdLst/>
            <a:ahLst/>
            <a:cxnLst/>
            <a:rect l="l" t="t" r="r" b="b"/>
            <a:pathLst>
              <a:path w="960754">
                <a:moveTo>
                  <a:pt x="960668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33524" y="5392603"/>
            <a:ext cx="468630" cy="0"/>
          </a:xfrm>
          <a:custGeom>
            <a:avLst/>
            <a:gdLst/>
            <a:ahLst/>
            <a:cxnLst/>
            <a:rect l="l" t="t" r="r" b="b"/>
            <a:pathLst>
              <a:path w="468629">
                <a:moveTo>
                  <a:pt x="468580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385100" y="4960457"/>
            <a:ext cx="705485" cy="0"/>
          </a:xfrm>
          <a:custGeom>
            <a:avLst/>
            <a:gdLst/>
            <a:ahLst/>
            <a:cxnLst/>
            <a:rect l="l" t="t" r="r" b="b"/>
            <a:pathLst>
              <a:path w="705484">
                <a:moveTo>
                  <a:pt x="705102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742104" y="2367627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42104" y="3015839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742104" y="3664050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42104" y="4312261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42104" y="4960457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8646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154052" y="1624820"/>
            <a:ext cx="408305" cy="39223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40"/>
              </a:spcBef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645"/>
              </a:spcBef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640"/>
              </a:spcBef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645"/>
              </a:spcBef>
            </a:pPr>
            <a:r>
              <a:rPr sz="2300" i="1" spc="25" dirty="0">
                <a:latin typeface="华文楷体"/>
                <a:cs typeface="华文楷体"/>
              </a:rPr>
              <a:t>A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  <a:p>
            <a:pPr marL="40005">
              <a:lnSpc>
                <a:spcPct val="100000"/>
              </a:lnSpc>
              <a:spcBef>
                <a:spcPts val="645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 marL="34290">
              <a:lnSpc>
                <a:spcPct val="100000"/>
              </a:lnSpc>
              <a:spcBef>
                <a:spcPts val="640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40005">
              <a:lnSpc>
                <a:spcPct val="100000"/>
              </a:lnSpc>
              <a:spcBef>
                <a:spcPts val="645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40005">
              <a:lnSpc>
                <a:spcPct val="100000"/>
              </a:lnSpc>
              <a:spcBef>
                <a:spcPts val="640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  <a:p>
            <a:pPr marL="38735">
              <a:lnSpc>
                <a:spcPct val="100000"/>
              </a:lnSpc>
              <a:spcBef>
                <a:spcPts val="880"/>
              </a:spcBef>
            </a:pPr>
            <a:r>
              <a:rPr sz="2150" spc="95" dirty="0">
                <a:latin typeface="华文楷体"/>
                <a:cs typeface="华文楷体"/>
              </a:rPr>
              <a:t>CI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22765" y="2167263"/>
            <a:ext cx="485140" cy="2951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2150" spc="135" dirty="0">
                <a:latin typeface="华文楷体"/>
                <a:cs typeface="华文楷体"/>
              </a:rPr>
              <a:t>CO</a:t>
            </a:r>
            <a:endParaRPr sz="2150">
              <a:latin typeface="华文楷体"/>
              <a:cs typeface="华文楷体"/>
            </a:endParaRPr>
          </a:p>
          <a:p>
            <a:pPr marL="139700">
              <a:lnSpc>
                <a:spcPct val="100000"/>
              </a:lnSpc>
              <a:spcBef>
                <a:spcPts val="2290"/>
              </a:spcBef>
            </a:pP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 marL="139700">
              <a:lnSpc>
                <a:spcPct val="100000"/>
              </a:lnSpc>
              <a:spcBef>
                <a:spcPts val="2390"/>
              </a:spcBef>
            </a:pP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139700">
              <a:lnSpc>
                <a:spcPct val="100000"/>
              </a:lnSpc>
              <a:spcBef>
                <a:spcPts val="2295"/>
              </a:spcBef>
            </a:pP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139700">
              <a:lnSpc>
                <a:spcPct val="100000"/>
              </a:lnSpc>
              <a:spcBef>
                <a:spcPts val="2430"/>
              </a:spcBef>
            </a:pP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78555" y="3058477"/>
            <a:ext cx="354965" cy="10471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60"/>
              </a:lnSpc>
            </a:pPr>
            <a:r>
              <a:rPr sz="2350" b="1" dirty="0">
                <a:solidFill>
                  <a:srgbClr val="FF0000"/>
                </a:solidFill>
                <a:latin typeface="Times New Roman"/>
                <a:cs typeface="Times New Roman"/>
              </a:rPr>
              <a:t>74L</a:t>
            </a:r>
            <a:r>
              <a:rPr sz="23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350" b="1" dirty="0">
                <a:solidFill>
                  <a:srgbClr val="FF0000"/>
                </a:solidFill>
                <a:latin typeface="Times New Roman"/>
                <a:cs typeface="Times New Roman"/>
              </a:rPr>
              <a:t>283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33803" y="2009600"/>
            <a:ext cx="448945" cy="132207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sz="2300" i="1" spc="30" dirty="0">
                <a:latin typeface="华文楷体"/>
                <a:cs typeface="华文楷体"/>
              </a:rPr>
              <a:t>D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645"/>
              </a:spcBef>
            </a:pPr>
            <a:r>
              <a:rPr sz="2300" i="1" spc="30" dirty="0">
                <a:latin typeface="华文楷体"/>
                <a:cs typeface="华文楷体"/>
              </a:rPr>
              <a:t>D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640"/>
              </a:spcBef>
            </a:pPr>
            <a:r>
              <a:rPr sz="2300" i="1" spc="30" dirty="0">
                <a:latin typeface="华文楷体"/>
                <a:cs typeface="华文楷体"/>
              </a:rPr>
              <a:t>D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33803" y="1659311"/>
            <a:ext cx="44894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300" i="1" spc="30" dirty="0">
                <a:latin typeface="华文楷体"/>
                <a:cs typeface="华文楷体"/>
              </a:rPr>
              <a:t>D</a:t>
            </a:r>
            <a:r>
              <a:rPr sz="2300" i="1" spc="-24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78613" y="3441893"/>
            <a:ext cx="426720" cy="1682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300" i="1" spc="25" dirty="0">
                <a:latin typeface="华文楷体"/>
                <a:cs typeface="华文楷体"/>
              </a:rPr>
              <a:t>Y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2430"/>
              </a:spcBef>
            </a:pPr>
            <a:r>
              <a:rPr sz="2300" i="1" spc="25" dirty="0">
                <a:latin typeface="华文楷体"/>
                <a:cs typeface="华文楷体"/>
              </a:rPr>
              <a:t>Y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49530">
              <a:lnSpc>
                <a:spcPct val="100000"/>
              </a:lnSpc>
              <a:spcBef>
                <a:spcPts val="2345"/>
              </a:spcBef>
            </a:pPr>
            <a:r>
              <a:rPr sz="2300" i="1" spc="25" dirty="0">
                <a:latin typeface="华文楷体"/>
                <a:cs typeface="华文楷体"/>
              </a:rPr>
              <a:t>Y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04013" y="2793681"/>
            <a:ext cx="220979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i="1" spc="25" dirty="0">
                <a:latin typeface="华文楷体"/>
                <a:cs typeface="华文楷体"/>
              </a:rPr>
              <a:t>Y</a:t>
            </a:r>
            <a:endParaRPr sz="2300">
              <a:latin typeface="华文楷体"/>
              <a:cs typeface="华文楷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49330" y="2940848"/>
            <a:ext cx="11874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50" dirty="0">
                <a:latin typeface="华文楷体"/>
                <a:cs typeface="华文楷体"/>
              </a:rPr>
              <a:t>3</a:t>
            </a:r>
            <a:endParaRPr sz="1450">
              <a:latin typeface="华文楷体"/>
              <a:cs typeface="华文楷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600644" y="3664050"/>
            <a:ext cx="0" cy="1732914"/>
          </a:xfrm>
          <a:custGeom>
            <a:avLst/>
            <a:gdLst/>
            <a:ahLst/>
            <a:cxnLst/>
            <a:rect l="l" t="t" r="r" b="b"/>
            <a:pathLst>
              <a:path h="1732914">
                <a:moveTo>
                  <a:pt x="0" y="1732898"/>
                </a:moveTo>
                <a:lnTo>
                  <a:pt x="0" y="0"/>
                </a:lnTo>
              </a:path>
            </a:pathLst>
          </a:custGeom>
          <a:ln w="35706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143151" y="3452862"/>
            <a:ext cx="16510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90" dirty="0">
                <a:solidFill>
                  <a:srgbClr val="006FC0"/>
                </a:solidFill>
                <a:latin typeface="华文楷体"/>
                <a:cs typeface="华文楷体"/>
              </a:rPr>
              <a:t>0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366354" y="4528327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432130"/>
                </a:moveTo>
                <a:lnTo>
                  <a:pt x="0" y="0"/>
                </a:lnTo>
              </a:path>
            </a:pathLst>
          </a:custGeom>
          <a:ln w="51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864608" y="4232236"/>
            <a:ext cx="2070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10" dirty="0">
                <a:solidFill>
                  <a:srgbClr val="FF0000"/>
                </a:solidFill>
                <a:latin typeface="华文楷体"/>
                <a:cs typeface="华文楷体"/>
              </a:rPr>
              <a:t>?</a:t>
            </a:r>
            <a:endParaRPr sz="3600">
              <a:latin typeface="华文楷体"/>
              <a:cs typeface="华文楷体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922997" y="1247902"/>
          <a:ext cx="3339462" cy="5181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2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 gridSpan="4"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8421BCD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码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400" b="1" spc="-7" baseline="-20833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E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D2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8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8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6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FFD2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FFD2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0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6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solidFill>
                      <a:srgbClr val="DFD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758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5" name="object 35"/>
          <p:cNvSpPr/>
          <p:nvPr/>
        </p:nvSpPr>
        <p:spPr>
          <a:xfrm>
            <a:off x="836261" y="79014"/>
            <a:ext cx="370840" cy="0"/>
          </a:xfrm>
          <a:custGeom>
            <a:avLst/>
            <a:gdLst/>
            <a:ahLst/>
            <a:cxnLst/>
            <a:rect l="l" t="t" r="r" b="b"/>
            <a:pathLst>
              <a:path w="370840">
                <a:moveTo>
                  <a:pt x="0" y="0"/>
                </a:moveTo>
                <a:lnTo>
                  <a:pt x="370572" y="0"/>
                </a:lnTo>
              </a:path>
            </a:pathLst>
          </a:custGeom>
          <a:ln w="16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618980" y="79014"/>
            <a:ext cx="345440" cy="0"/>
          </a:xfrm>
          <a:custGeom>
            <a:avLst/>
            <a:gdLst/>
            <a:ahLst/>
            <a:cxnLst/>
            <a:rect l="l" t="t" r="r" b="b"/>
            <a:pathLst>
              <a:path w="345439">
                <a:moveTo>
                  <a:pt x="0" y="0"/>
                </a:moveTo>
                <a:lnTo>
                  <a:pt x="345063" y="0"/>
                </a:lnTo>
              </a:path>
            </a:pathLst>
          </a:custGeom>
          <a:ln w="16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691301" y="79014"/>
            <a:ext cx="370840" cy="0"/>
          </a:xfrm>
          <a:custGeom>
            <a:avLst/>
            <a:gdLst/>
            <a:ahLst/>
            <a:cxnLst/>
            <a:rect l="l" t="t" r="r" b="b"/>
            <a:pathLst>
              <a:path w="370839">
                <a:moveTo>
                  <a:pt x="0" y="0"/>
                </a:moveTo>
                <a:lnTo>
                  <a:pt x="370581" y="0"/>
                </a:lnTo>
              </a:path>
            </a:pathLst>
          </a:custGeom>
          <a:ln w="16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819152" y="79014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0655" y="0"/>
                </a:lnTo>
              </a:path>
            </a:pathLst>
          </a:custGeom>
          <a:ln w="16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46380" y="79014"/>
            <a:ext cx="370840" cy="0"/>
          </a:xfrm>
          <a:custGeom>
            <a:avLst/>
            <a:gdLst/>
            <a:ahLst/>
            <a:cxnLst/>
            <a:rect l="l" t="t" r="r" b="b"/>
            <a:pathLst>
              <a:path w="370839">
                <a:moveTo>
                  <a:pt x="0" y="0"/>
                </a:moveTo>
                <a:lnTo>
                  <a:pt x="370702" y="0"/>
                </a:lnTo>
              </a:path>
            </a:pathLst>
          </a:custGeom>
          <a:ln w="16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771196" y="79015"/>
            <a:ext cx="384810" cy="0"/>
          </a:xfrm>
          <a:custGeom>
            <a:avLst/>
            <a:gdLst/>
            <a:ahLst/>
            <a:cxnLst/>
            <a:rect l="l" t="t" r="r" b="b"/>
            <a:pathLst>
              <a:path w="384809">
                <a:moveTo>
                  <a:pt x="0" y="0"/>
                </a:moveTo>
                <a:lnTo>
                  <a:pt x="384577" y="0"/>
                </a:lnTo>
              </a:path>
            </a:pathLst>
          </a:custGeom>
          <a:ln w="16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183523" y="79015"/>
            <a:ext cx="345440" cy="0"/>
          </a:xfrm>
          <a:custGeom>
            <a:avLst/>
            <a:gdLst/>
            <a:ahLst/>
            <a:cxnLst/>
            <a:rect l="l" t="t" r="r" b="b"/>
            <a:pathLst>
              <a:path w="345440">
                <a:moveTo>
                  <a:pt x="0" y="0"/>
                </a:moveTo>
                <a:lnTo>
                  <a:pt x="345063" y="0"/>
                </a:lnTo>
              </a:path>
            </a:pathLst>
          </a:custGeom>
          <a:ln w="16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556940" y="79015"/>
            <a:ext cx="381635" cy="0"/>
          </a:xfrm>
          <a:custGeom>
            <a:avLst/>
            <a:gdLst/>
            <a:ahLst/>
            <a:cxnLst/>
            <a:rect l="l" t="t" r="r" b="b"/>
            <a:pathLst>
              <a:path w="381634">
                <a:moveTo>
                  <a:pt x="0" y="0"/>
                </a:moveTo>
                <a:lnTo>
                  <a:pt x="381560" y="0"/>
                </a:lnTo>
              </a:path>
            </a:pathLst>
          </a:custGeom>
          <a:ln w="16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683223" y="79015"/>
            <a:ext cx="384175" cy="0"/>
          </a:xfrm>
          <a:custGeom>
            <a:avLst/>
            <a:gdLst/>
            <a:ahLst/>
            <a:cxnLst/>
            <a:rect l="l" t="t" r="r" b="b"/>
            <a:pathLst>
              <a:path w="384175">
                <a:moveTo>
                  <a:pt x="0" y="0"/>
                </a:moveTo>
                <a:lnTo>
                  <a:pt x="383672" y="0"/>
                </a:lnTo>
              </a:path>
            </a:pathLst>
          </a:custGeom>
          <a:ln w="16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095248" y="79015"/>
            <a:ext cx="345440" cy="0"/>
          </a:xfrm>
          <a:custGeom>
            <a:avLst/>
            <a:gdLst/>
            <a:ahLst/>
            <a:cxnLst/>
            <a:rect l="l" t="t" r="r" b="b"/>
            <a:pathLst>
              <a:path w="345440">
                <a:moveTo>
                  <a:pt x="0" y="0"/>
                </a:moveTo>
                <a:lnTo>
                  <a:pt x="345063" y="0"/>
                </a:lnTo>
              </a:path>
            </a:pathLst>
          </a:custGeom>
          <a:ln w="16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468966" y="79015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0655" y="0"/>
                </a:lnTo>
              </a:path>
            </a:pathLst>
          </a:custGeom>
          <a:ln w="16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91298" y="43277"/>
            <a:ext cx="9093200" cy="4241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</a:pPr>
            <a:r>
              <a:rPr sz="2600" i="1" spc="55" dirty="0">
                <a:latin typeface="Times New Roman"/>
                <a:cs typeface="Times New Roman"/>
              </a:rPr>
              <a:t>D</a:t>
            </a:r>
            <a:r>
              <a:rPr sz="2250" spc="82" baseline="-24074" dirty="0">
                <a:latin typeface="Times New Roman"/>
                <a:cs typeface="Times New Roman"/>
              </a:rPr>
              <a:t>3</a:t>
            </a:r>
            <a:r>
              <a:rPr sz="2250" spc="-315" baseline="-24074" dirty="0">
                <a:latin typeface="Times New Roman"/>
                <a:cs typeface="Times New Roman"/>
              </a:rPr>
              <a:t> </a:t>
            </a:r>
            <a:r>
              <a:rPr sz="2600" i="1" spc="80" dirty="0">
                <a:latin typeface="Times New Roman"/>
                <a:cs typeface="Times New Roman"/>
              </a:rPr>
              <a:t>D</a:t>
            </a:r>
            <a:r>
              <a:rPr sz="2250" spc="120" baseline="-24074" dirty="0">
                <a:latin typeface="Times New Roman"/>
                <a:cs typeface="Times New Roman"/>
              </a:rPr>
              <a:t>2</a:t>
            </a:r>
            <a:r>
              <a:rPr sz="2250" spc="97" baseline="-24074" dirty="0">
                <a:latin typeface="Times New Roman"/>
                <a:cs typeface="Times New Roman"/>
              </a:rPr>
              <a:t> </a:t>
            </a:r>
            <a:r>
              <a:rPr sz="2600" i="1" spc="55" dirty="0">
                <a:latin typeface="Times New Roman"/>
                <a:cs typeface="Times New Roman"/>
              </a:rPr>
              <a:t>D</a:t>
            </a:r>
            <a:r>
              <a:rPr sz="2250" spc="82" baseline="-24074" dirty="0">
                <a:latin typeface="Times New Roman"/>
                <a:cs typeface="Times New Roman"/>
              </a:rPr>
              <a:t>1</a:t>
            </a:r>
            <a:r>
              <a:rPr sz="2600" i="1" spc="55" dirty="0">
                <a:latin typeface="Times New Roman"/>
                <a:cs typeface="Times New Roman"/>
              </a:rPr>
              <a:t>D</a:t>
            </a:r>
            <a:r>
              <a:rPr sz="2250" spc="82" baseline="-24074" dirty="0">
                <a:latin typeface="Times New Roman"/>
                <a:cs typeface="Times New Roman"/>
              </a:rPr>
              <a:t>0</a:t>
            </a:r>
            <a:r>
              <a:rPr sz="2250" spc="585" baseline="-24074" dirty="0">
                <a:latin typeface="Times New Roman"/>
                <a:cs typeface="Times New Roman"/>
              </a:rPr>
              <a:t> </a:t>
            </a:r>
            <a:r>
              <a:rPr sz="2600" spc="150" dirty="0">
                <a:latin typeface="Symbol"/>
                <a:cs typeface="Symbol"/>
              </a:rPr>
              <a:t>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i="1" spc="55" dirty="0">
                <a:latin typeface="Times New Roman"/>
                <a:cs typeface="Times New Roman"/>
              </a:rPr>
              <a:t>D</a:t>
            </a:r>
            <a:r>
              <a:rPr sz="2250" spc="82" baseline="-24074" dirty="0">
                <a:latin typeface="Times New Roman"/>
                <a:cs typeface="Times New Roman"/>
              </a:rPr>
              <a:t>3</a:t>
            </a:r>
            <a:r>
              <a:rPr sz="2250" spc="-307" baseline="-24074" dirty="0">
                <a:latin typeface="Times New Roman"/>
                <a:cs typeface="Times New Roman"/>
              </a:rPr>
              <a:t> </a:t>
            </a:r>
            <a:r>
              <a:rPr sz="2600" i="1" spc="80" dirty="0">
                <a:latin typeface="Times New Roman"/>
                <a:cs typeface="Times New Roman"/>
              </a:rPr>
              <a:t>D</a:t>
            </a:r>
            <a:r>
              <a:rPr sz="2250" spc="120" baseline="-24074" dirty="0">
                <a:latin typeface="Times New Roman"/>
                <a:cs typeface="Times New Roman"/>
              </a:rPr>
              <a:t>2</a:t>
            </a:r>
            <a:r>
              <a:rPr sz="2250" spc="-232" baseline="-24074" dirty="0">
                <a:latin typeface="Times New Roman"/>
                <a:cs typeface="Times New Roman"/>
              </a:rPr>
              <a:t> </a:t>
            </a:r>
            <a:r>
              <a:rPr sz="2600" i="1" spc="-10" dirty="0">
                <a:latin typeface="Times New Roman"/>
                <a:cs typeface="Times New Roman"/>
              </a:rPr>
              <a:t>D</a:t>
            </a:r>
            <a:r>
              <a:rPr sz="2250" spc="-15" baseline="-24074" dirty="0">
                <a:latin typeface="Times New Roman"/>
                <a:cs typeface="Times New Roman"/>
              </a:rPr>
              <a:t>1</a:t>
            </a:r>
            <a:r>
              <a:rPr sz="2250" spc="-89" baseline="-24074" dirty="0">
                <a:latin typeface="Times New Roman"/>
                <a:cs typeface="Times New Roman"/>
              </a:rPr>
              <a:t> </a:t>
            </a:r>
            <a:r>
              <a:rPr sz="2600" i="1" spc="70" dirty="0">
                <a:latin typeface="Times New Roman"/>
                <a:cs typeface="Times New Roman"/>
              </a:rPr>
              <a:t>D</a:t>
            </a:r>
            <a:r>
              <a:rPr sz="2250" spc="104" baseline="-24074" dirty="0">
                <a:latin typeface="Times New Roman"/>
                <a:cs typeface="Times New Roman"/>
              </a:rPr>
              <a:t>0</a:t>
            </a:r>
            <a:r>
              <a:rPr sz="2250" spc="600" baseline="-24074" dirty="0">
                <a:latin typeface="Times New Roman"/>
                <a:cs typeface="Times New Roman"/>
              </a:rPr>
              <a:t> </a:t>
            </a:r>
            <a:r>
              <a:rPr sz="2600" spc="150" dirty="0">
                <a:latin typeface="Symbol"/>
                <a:cs typeface="Symbol"/>
              </a:rPr>
              <a:t>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i="1" spc="55" dirty="0">
                <a:latin typeface="Times New Roman"/>
                <a:cs typeface="Times New Roman"/>
              </a:rPr>
              <a:t>D</a:t>
            </a:r>
            <a:r>
              <a:rPr sz="2250" spc="82" baseline="-24074" dirty="0">
                <a:latin typeface="Times New Roman"/>
                <a:cs typeface="Times New Roman"/>
              </a:rPr>
              <a:t>3</a:t>
            </a:r>
            <a:r>
              <a:rPr sz="2250" spc="-307" baseline="-24074" dirty="0">
                <a:latin typeface="Times New Roman"/>
                <a:cs typeface="Times New Roman"/>
              </a:rPr>
              <a:t> </a:t>
            </a:r>
            <a:r>
              <a:rPr sz="2600" i="1" spc="80" dirty="0">
                <a:latin typeface="Times New Roman"/>
                <a:cs typeface="Times New Roman"/>
              </a:rPr>
              <a:t>D</a:t>
            </a:r>
            <a:r>
              <a:rPr sz="2250" spc="120" baseline="-24074" dirty="0">
                <a:latin typeface="Times New Roman"/>
                <a:cs typeface="Times New Roman"/>
              </a:rPr>
              <a:t>2</a:t>
            </a:r>
            <a:r>
              <a:rPr sz="2250" spc="-225" baseline="-24074" dirty="0">
                <a:latin typeface="Times New Roman"/>
                <a:cs typeface="Times New Roman"/>
              </a:rPr>
              <a:t> </a:t>
            </a:r>
            <a:r>
              <a:rPr sz="2600" i="1" spc="55" dirty="0">
                <a:latin typeface="Times New Roman"/>
                <a:cs typeface="Times New Roman"/>
              </a:rPr>
              <a:t>D</a:t>
            </a:r>
            <a:r>
              <a:rPr sz="2250" spc="82" baseline="-24074" dirty="0">
                <a:latin typeface="Times New Roman"/>
                <a:cs typeface="Times New Roman"/>
              </a:rPr>
              <a:t>1</a:t>
            </a:r>
            <a:r>
              <a:rPr sz="2600" i="1" spc="55" dirty="0">
                <a:latin typeface="Times New Roman"/>
                <a:cs typeface="Times New Roman"/>
              </a:rPr>
              <a:t>D</a:t>
            </a:r>
            <a:r>
              <a:rPr sz="2250" spc="82" baseline="-24074" dirty="0">
                <a:latin typeface="Times New Roman"/>
                <a:cs typeface="Times New Roman"/>
              </a:rPr>
              <a:t>0</a:t>
            </a:r>
            <a:r>
              <a:rPr sz="2250" spc="615" baseline="-24074" dirty="0">
                <a:latin typeface="Times New Roman"/>
                <a:cs typeface="Times New Roman"/>
              </a:rPr>
              <a:t> </a:t>
            </a:r>
            <a:r>
              <a:rPr sz="2600" spc="150" dirty="0">
                <a:latin typeface="Symbol"/>
                <a:cs typeface="Symbol"/>
              </a:rPr>
              <a:t>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i="1" spc="55" dirty="0">
                <a:latin typeface="Times New Roman"/>
                <a:cs typeface="Times New Roman"/>
              </a:rPr>
              <a:t>D</a:t>
            </a:r>
            <a:r>
              <a:rPr sz="2250" spc="82" baseline="-24074" dirty="0">
                <a:latin typeface="Times New Roman"/>
                <a:cs typeface="Times New Roman"/>
              </a:rPr>
              <a:t>3</a:t>
            </a:r>
            <a:r>
              <a:rPr sz="2250" spc="30" baseline="-24074" dirty="0">
                <a:latin typeface="Times New Roman"/>
                <a:cs typeface="Times New Roman"/>
              </a:rPr>
              <a:t> </a:t>
            </a:r>
            <a:r>
              <a:rPr sz="2600" i="1" spc="80" dirty="0">
                <a:latin typeface="Times New Roman"/>
                <a:cs typeface="Times New Roman"/>
              </a:rPr>
              <a:t>D</a:t>
            </a:r>
            <a:r>
              <a:rPr sz="2250" spc="120" baseline="-24074" dirty="0">
                <a:latin typeface="Times New Roman"/>
                <a:cs typeface="Times New Roman"/>
              </a:rPr>
              <a:t>2</a:t>
            </a:r>
            <a:r>
              <a:rPr sz="2250" spc="104" baseline="-24074" dirty="0">
                <a:latin typeface="Times New Roman"/>
                <a:cs typeface="Times New Roman"/>
              </a:rPr>
              <a:t> </a:t>
            </a:r>
            <a:r>
              <a:rPr sz="2600" i="1" spc="-10" dirty="0">
                <a:latin typeface="Times New Roman"/>
                <a:cs typeface="Times New Roman"/>
              </a:rPr>
              <a:t>D</a:t>
            </a:r>
            <a:r>
              <a:rPr sz="2250" spc="-15" baseline="-24074" dirty="0">
                <a:latin typeface="Times New Roman"/>
                <a:cs typeface="Times New Roman"/>
              </a:rPr>
              <a:t>1</a:t>
            </a:r>
            <a:r>
              <a:rPr sz="2250" spc="-82" baseline="-24074" dirty="0">
                <a:latin typeface="Times New Roman"/>
                <a:cs typeface="Times New Roman"/>
              </a:rPr>
              <a:t> </a:t>
            </a:r>
            <a:r>
              <a:rPr sz="2600" i="1" spc="70" dirty="0">
                <a:latin typeface="Times New Roman"/>
                <a:cs typeface="Times New Roman"/>
              </a:rPr>
              <a:t>D</a:t>
            </a:r>
            <a:r>
              <a:rPr sz="2250" spc="104" baseline="-24074" dirty="0">
                <a:latin typeface="Times New Roman"/>
                <a:cs typeface="Times New Roman"/>
              </a:rPr>
              <a:t>0</a:t>
            </a:r>
            <a:r>
              <a:rPr sz="2250" spc="630" baseline="-24074" dirty="0">
                <a:latin typeface="Times New Roman"/>
                <a:cs typeface="Times New Roman"/>
              </a:rPr>
              <a:t> </a:t>
            </a:r>
            <a:r>
              <a:rPr sz="2600" spc="150" dirty="0">
                <a:latin typeface="Symbol"/>
                <a:cs typeface="Symbol"/>
              </a:rPr>
              <a:t>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i="1" spc="55" dirty="0">
                <a:latin typeface="Times New Roman"/>
                <a:cs typeface="Times New Roman"/>
              </a:rPr>
              <a:t>D</a:t>
            </a:r>
            <a:r>
              <a:rPr sz="2250" spc="82" baseline="-24074" dirty="0">
                <a:latin typeface="Times New Roman"/>
                <a:cs typeface="Times New Roman"/>
              </a:rPr>
              <a:t>3</a:t>
            </a:r>
            <a:r>
              <a:rPr sz="2250" spc="30" baseline="-24074" dirty="0">
                <a:latin typeface="Times New Roman"/>
                <a:cs typeface="Times New Roman"/>
              </a:rPr>
              <a:t> </a:t>
            </a:r>
            <a:r>
              <a:rPr sz="2600" i="1" spc="80" dirty="0">
                <a:latin typeface="Times New Roman"/>
                <a:cs typeface="Times New Roman"/>
              </a:rPr>
              <a:t>D</a:t>
            </a:r>
            <a:r>
              <a:rPr sz="2250" spc="120" baseline="-24074" dirty="0">
                <a:latin typeface="Times New Roman"/>
                <a:cs typeface="Times New Roman"/>
              </a:rPr>
              <a:t>2 </a:t>
            </a:r>
            <a:r>
              <a:rPr sz="2600" i="1" spc="-10" dirty="0">
                <a:latin typeface="Times New Roman"/>
                <a:cs typeface="Times New Roman"/>
              </a:rPr>
              <a:t>D</a:t>
            </a:r>
            <a:r>
              <a:rPr sz="2250" spc="-15" baseline="-24074" dirty="0">
                <a:latin typeface="Times New Roman"/>
                <a:cs typeface="Times New Roman"/>
              </a:rPr>
              <a:t>1</a:t>
            </a:r>
            <a:r>
              <a:rPr sz="2250" spc="-82" baseline="-24074" dirty="0">
                <a:latin typeface="Times New Roman"/>
                <a:cs typeface="Times New Roman"/>
              </a:rPr>
              <a:t> </a:t>
            </a:r>
            <a:r>
              <a:rPr sz="2600" i="1" spc="70" dirty="0">
                <a:latin typeface="Times New Roman"/>
                <a:cs typeface="Times New Roman"/>
              </a:rPr>
              <a:t>D</a:t>
            </a:r>
            <a:r>
              <a:rPr sz="2250" spc="104" baseline="-24074" dirty="0">
                <a:latin typeface="Times New Roman"/>
                <a:cs typeface="Times New Roman"/>
              </a:rPr>
              <a:t>0</a:t>
            </a:r>
            <a:endParaRPr sz="2250" baseline="-24074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119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5862828" y="707136"/>
            <a:ext cx="3049905" cy="573405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317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5"/>
              </a:spcBef>
            </a:pPr>
            <a:r>
              <a:rPr sz="2950" i="1" spc="7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2550" spc="112" baseline="-24509" dirty="0">
                <a:solidFill>
                  <a:srgbClr val="000000"/>
                </a:solidFill>
                <a:latin typeface="Times New Roman"/>
                <a:cs typeface="Times New Roman"/>
              </a:rPr>
              <a:t>3 </a:t>
            </a:r>
            <a:r>
              <a:rPr sz="2950" spc="18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950" spc="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50" i="1" spc="10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2550" spc="157" baseline="-24509" dirty="0">
                <a:solidFill>
                  <a:srgbClr val="000000"/>
                </a:solidFill>
                <a:latin typeface="Times New Roman"/>
                <a:cs typeface="Times New Roman"/>
              </a:rPr>
              <a:t>2 </a:t>
            </a:r>
            <a:r>
              <a:rPr sz="2950" i="1" spc="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2550" spc="7" baseline="-24509" dirty="0">
                <a:solidFill>
                  <a:srgbClr val="000000"/>
                </a:solidFill>
                <a:latin typeface="Times New Roman"/>
                <a:cs typeface="Times New Roman"/>
              </a:rPr>
              <a:t>1 </a:t>
            </a:r>
            <a:r>
              <a:rPr sz="2950" spc="18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950" spc="-2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50" i="1" spc="10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2550" spc="157" baseline="-24509" dirty="0">
                <a:solidFill>
                  <a:srgbClr val="000000"/>
                </a:solidFill>
                <a:latin typeface="Times New Roman"/>
                <a:cs typeface="Times New Roman"/>
              </a:rPr>
              <a:t>2 </a:t>
            </a:r>
            <a:r>
              <a:rPr sz="2950" i="1" spc="9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2550" spc="142" baseline="-24509" dirty="0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endParaRPr sz="2550" baseline="-24509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53476" y="1475998"/>
            <a:ext cx="1641475" cy="4321810"/>
          </a:xfrm>
          <a:custGeom>
            <a:avLst/>
            <a:gdLst/>
            <a:ahLst/>
            <a:cxnLst/>
            <a:rect l="l" t="t" r="r" b="b"/>
            <a:pathLst>
              <a:path w="1641475" h="4321810">
                <a:moveTo>
                  <a:pt x="0" y="4321306"/>
                </a:moveTo>
                <a:lnTo>
                  <a:pt x="1641453" y="4321306"/>
                </a:lnTo>
                <a:lnTo>
                  <a:pt x="1641452" y="0"/>
                </a:lnTo>
                <a:lnTo>
                  <a:pt x="0" y="0"/>
                </a:lnTo>
                <a:lnTo>
                  <a:pt x="0" y="4321306"/>
                </a:lnTo>
                <a:close/>
              </a:path>
            </a:pathLst>
          </a:custGeom>
          <a:ln w="51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84479" y="1908004"/>
            <a:ext cx="3560445" cy="0"/>
          </a:xfrm>
          <a:custGeom>
            <a:avLst/>
            <a:gdLst/>
            <a:ahLst/>
            <a:cxnLst/>
            <a:rect l="l" t="t" r="r" b="b"/>
            <a:pathLst>
              <a:path w="3560445">
                <a:moveTo>
                  <a:pt x="3560228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4479" y="2772387"/>
            <a:ext cx="3560445" cy="0"/>
          </a:xfrm>
          <a:custGeom>
            <a:avLst/>
            <a:gdLst/>
            <a:ahLst/>
            <a:cxnLst/>
            <a:rect l="l" t="t" r="r" b="b"/>
            <a:pathLst>
              <a:path w="3560445">
                <a:moveTo>
                  <a:pt x="3560228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19653" y="2340195"/>
            <a:ext cx="3513454" cy="0"/>
          </a:xfrm>
          <a:custGeom>
            <a:avLst/>
            <a:gdLst/>
            <a:ahLst/>
            <a:cxnLst/>
            <a:rect l="l" t="t" r="r" b="b"/>
            <a:pathLst>
              <a:path w="3513454">
                <a:moveTo>
                  <a:pt x="3513142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19653" y="3204426"/>
            <a:ext cx="3534410" cy="0"/>
          </a:xfrm>
          <a:custGeom>
            <a:avLst/>
            <a:gdLst/>
            <a:ahLst/>
            <a:cxnLst/>
            <a:rect l="l" t="t" r="r" b="b"/>
            <a:pathLst>
              <a:path w="3534410">
                <a:moveTo>
                  <a:pt x="3533823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84433" y="4068810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>
                <a:moveTo>
                  <a:pt x="469043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45196" y="3636618"/>
            <a:ext cx="696595" cy="0"/>
          </a:xfrm>
          <a:custGeom>
            <a:avLst/>
            <a:gdLst/>
            <a:ahLst/>
            <a:cxnLst/>
            <a:rect l="l" t="t" r="r" b="b"/>
            <a:pathLst>
              <a:path w="696595">
                <a:moveTo>
                  <a:pt x="696367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63135" y="4500895"/>
            <a:ext cx="790575" cy="0"/>
          </a:xfrm>
          <a:custGeom>
            <a:avLst/>
            <a:gdLst/>
            <a:ahLst/>
            <a:cxnLst/>
            <a:rect l="l" t="t" r="r" b="b"/>
            <a:pathLst>
              <a:path w="790575">
                <a:moveTo>
                  <a:pt x="790342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84433" y="5365171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>
                <a:moveTo>
                  <a:pt x="469043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35931" y="4933025"/>
            <a:ext cx="706120" cy="0"/>
          </a:xfrm>
          <a:custGeom>
            <a:avLst/>
            <a:gdLst/>
            <a:ahLst/>
            <a:cxnLst/>
            <a:rect l="l" t="t" r="r" b="b"/>
            <a:pathLst>
              <a:path w="706120">
                <a:moveTo>
                  <a:pt x="705632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94880" y="2340195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9043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94880" y="2988407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9043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94880" y="3636618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9043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94880" y="4284829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9043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794880" y="4933025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5">
                <a:moveTo>
                  <a:pt x="469043" y="0"/>
                </a:moveTo>
                <a:lnTo>
                  <a:pt x="0" y="0"/>
                </a:lnTo>
              </a:path>
            </a:pathLst>
          </a:custGeom>
          <a:ln w="475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05506" y="1597393"/>
            <a:ext cx="408940" cy="39223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40"/>
              </a:spcBef>
            </a:pPr>
            <a:r>
              <a:rPr sz="2300" i="1" spc="30" dirty="0">
                <a:latin typeface="华文楷体"/>
                <a:cs typeface="华文楷体"/>
              </a:rPr>
              <a:t>A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645"/>
              </a:spcBef>
            </a:pPr>
            <a:r>
              <a:rPr sz="2300" i="1" spc="30" dirty="0">
                <a:latin typeface="华文楷体"/>
                <a:cs typeface="华文楷体"/>
              </a:rPr>
              <a:t>A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640"/>
              </a:spcBef>
            </a:pPr>
            <a:r>
              <a:rPr sz="2300" i="1" spc="30" dirty="0">
                <a:latin typeface="华文楷体"/>
                <a:cs typeface="华文楷体"/>
              </a:rPr>
              <a:t>A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25400">
              <a:lnSpc>
                <a:spcPct val="100000"/>
              </a:lnSpc>
              <a:spcBef>
                <a:spcPts val="645"/>
              </a:spcBef>
            </a:pPr>
            <a:r>
              <a:rPr sz="2300" i="1" spc="30" dirty="0">
                <a:latin typeface="华文楷体"/>
                <a:cs typeface="华文楷体"/>
              </a:rPr>
              <a:t>A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  <a:p>
            <a:pPr marL="40005">
              <a:lnSpc>
                <a:spcPct val="100000"/>
              </a:lnSpc>
              <a:spcBef>
                <a:spcPts val="645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 marL="34290">
              <a:lnSpc>
                <a:spcPct val="100000"/>
              </a:lnSpc>
              <a:spcBef>
                <a:spcPts val="640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40005">
              <a:lnSpc>
                <a:spcPct val="100000"/>
              </a:lnSpc>
              <a:spcBef>
                <a:spcPts val="645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40005">
              <a:lnSpc>
                <a:spcPct val="100000"/>
              </a:lnSpc>
              <a:spcBef>
                <a:spcPts val="640"/>
              </a:spcBef>
            </a:pPr>
            <a:r>
              <a:rPr sz="2300" i="1" spc="25" dirty="0">
                <a:latin typeface="华文楷体"/>
                <a:cs typeface="华文楷体"/>
              </a:rPr>
              <a:t>B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  <a:p>
            <a:pPr marL="38735">
              <a:lnSpc>
                <a:spcPct val="100000"/>
              </a:lnSpc>
              <a:spcBef>
                <a:spcPts val="880"/>
              </a:spcBef>
            </a:pPr>
            <a:r>
              <a:rPr sz="2150" spc="95" dirty="0">
                <a:latin typeface="华文楷体"/>
                <a:cs typeface="华文楷体"/>
              </a:rPr>
              <a:t>CI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75123" y="2139831"/>
            <a:ext cx="485775" cy="2951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2150" spc="135" dirty="0">
                <a:latin typeface="华文楷体"/>
                <a:cs typeface="华文楷体"/>
              </a:rPr>
              <a:t>CO</a:t>
            </a:r>
            <a:endParaRPr sz="2150">
              <a:latin typeface="华文楷体"/>
              <a:cs typeface="华文楷体"/>
            </a:endParaRPr>
          </a:p>
          <a:p>
            <a:pPr marL="140335">
              <a:lnSpc>
                <a:spcPct val="100000"/>
              </a:lnSpc>
              <a:spcBef>
                <a:spcPts val="2290"/>
              </a:spcBef>
            </a:pP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 marL="140335">
              <a:lnSpc>
                <a:spcPct val="100000"/>
              </a:lnSpc>
              <a:spcBef>
                <a:spcPts val="2390"/>
              </a:spcBef>
            </a:pP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140335">
              <a:lnSpc>
                <a:spcPct val="100000"/>
              </a:lnSpc>
              <a:spcBef>
                <a:spcPts val="2295"/>
              </a:spcBef>
            </a:pP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140335">
              <a:lnSpc>
                <a:spcPct val="100000"/>
              </a:lnSpc>
              <a:spcBef>
                <a:spcPts val="2430"/>
              </a:spcBef>
            </a:pPr>
            <a:r>
              <a:rPr sz="2300" i="1" spc="20" dirty="0">
                <a:latin typeface="华文楷体"/>
                <a:cs typeface="华文楷体"/>
              </a:rPr>
              <a:t>S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30360" y="3031045"/>
            <a:ext cx="355600" cy="10471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60"/>
              </a:lnSpc>
            </a:pPr>
            <a:r>
              <a:rPr sz="2350" b="1" dirty="0">
                <a:solidFill>
                  <a:srgbClr val="FF0000"/>
                </a:solidFill>
                <a:latin typeface="Times New Roman"/>
                <a:cs typeface="Times New Roman"/>
              </a:rPr>
              <a:t>74L</a:t>
            </a:r>
            <a:r>
              <a:rPr sz="23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350" b="1" dirty="0">
                <a:solidFill>
                  <a:srgbClr val="FF0000"/>
                </a:solidFill>
                <a:latin typeface="Times New Roman"/>
                <a:cs typeface="Times New Roman"/>
              </a:rPr>
              <a:t>283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96106" y="1603796"/>
            <a:ext cx="449580" cy="175450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sz="2300" i="1" spc="30" dirty="0">
                <a:latin typeface="华文楷体"/>
                <a:cs typeface="华文楷体"/>
              </a:rPr>
              <a:t>D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645"/>
              </a:spcBef>
            </a:pPr>
            <a:r>
              <a:rPr sz="2300" i="1" spc="30" dirty="0">
                <a:latin typeface="华文楷体"/>
                <a:cs typeface="华文楷体"/>
              </a:rPr>
              <a:t>D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645"/>
              </a:spcBef>
            </a:pPr>
            <a:r>
              <a:rPr sz="2300" i="1" spc="30" dirty="0">
                <a:latin typeface="华文楷体"/>
                <a:cs typeface="华文楷体"/>
              </a:rPr>
              <a:t>D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640"/>
              </a:spcBef>
            </a:pPr>
            <a:r>
              <a:rPr sz="2300" i="1" spc="30" dirty="0">
                <a:latin typeface="华文楷体"/>
                <a:cs typeface="华文楷体"/>
              </a:rPr>
              <a:t>D</a:t>
            </a:r>
            <a:r>
              <a:rPr sz="2300" i="1" spc="-280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31875" y="2766221"/>
            <a:ext cx="427355" cy="2331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300" i="1" spc="25" dirty="0">
                <a:latin typeface="华文楷体"/>
                <a:cs typeface="华文楷体"/>
              </a:rPr>
              <a:t>Y</a:t>
            </a:r>
            <a:r>
              <a:rPr sz="2300" i="1" spc="-27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3</a:t>
            </a:r>
            <a:endParaRPr sz="2175" baseline="-1149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2345"/>
              </a:spcBef>
            </a:pPr>
            <a:r>
              <a:rPr sz="2300" i="1" spc="25" dirty="0">
                <a:latin typeface="华文楷体"/>
                <a:cs typeface="华文楷体"/>
              </a:rPr>
              <a:t>Y</a:t>
            </a:r>
            <a:r>
              <a:rPr sz="2300" i="1" spc="-27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2</a:t>
            </a:r>
            <a:endParaRPr sz="2175" baseline="-11494">
              <a:latin typeface="华文楷体"/>
              <a:cs typeface="华文楷体"/>
            </a:endParaRPr>
          </a:p>
          <a:p>
            <a:pPr marL="38100">
              <a:lnSpc>
                <a:spcPct val="100000"/>
              </a:lnSpc>
              <a:spcBef>
                <a:spcPts val="2430"/>
              </a:spcBef>
            </a:pPr>
            <a:r>
              <a:rPr sz="2300" i="1" spc="25" dirty="0">
                <a:latin typeface="华文楷体"/>
                <a:cs typeface="华文楷体"/>
              </a:rPr>
              <a:t>Y</a:t>
            </a:r>
            <a:r>
              <a:rPr sz="2300" i="1" spc="-27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1</a:t>
            </a:r>
            <a:endParaRPr sz="2175" baseline="-11494">
              <a:latin typeface="华文楷体"/>
              <a:cs typeface="华文楷体"/>
            </a:endParaRPr>
          </a:p>
          <a:p>
            <a:pPr marL="49530">
              <a:lnSpc>
                <a:spcPct val="100000"/>
              </a:lnSpc>
              <a:spcBef>
                <a:spcPts val="2345"/>
              </a:spcBef>
            </a:pPr>
            <a:r>
              <a:rPr sz="2300" i="1" spc="25" dirty="0">
                <a:latin typeface="华文楷体"/>
                <a:cs typeface="华文楷体"/>
              </a:rPr>
              <a:t>Y</a:t>
            </a:r>
            <a:r>
              <a:rPr sz="2300" i="1" spc="-275" dirty="0">
                <a:latin typeface="华文楷体"/>
                <a:cs typeface="华文楷体"/>
              </a:rPr>
              <a:t> </a:t>
            </a:r>
            <a:r>
              <a:rPr sz="2175" spc="75" baseline="-11494" dirty="0">
                <a:latin typeface="华文楷体"/>
                <a:cs typeface="华文楷体"/>
              </a:rPr>
              <a:t>0</a:t>
            </a:r>
            <a:endParaRPr sz="2175" baseline="-11494">
              <a:latin typeface="华文楷体"/>
              <a:cs typeface="华文楷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51675" y="3636618"/>
            <a:ext cx="0" cy="1732914"/>
          </a:xfrm>
          <a:custGeom>
            <a:avLst/>
            <a:gdLst/>
            <a:ahLst/>
            <a:cxnLst/>
            <a:rect l="l" t="t" r="r" b="b"/>
            <a:pathLst>
              <a:path h="1732914">
                <a:moveTo>
                  <a:pt x="0" y="1732898"/>
                </a:moveTo>
                <a:lnTo>
                  <a:pt x="0" y="0"/>
                </a:lnTo>
              </a:path>
            </a:pathLst>
          </a:custGeom>
          <a:ln w="35736">
            <a:solidFill>
              <a:srgbClr val="3475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193756" y="3425430"/>
            <a:ext cx="16510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90" dirty="0">
                <a:solidFill>
                  <a:srgbClr val="006FC0"/>
                </a:solidFill>
                <a:latin typeface="华文楷体"/>
                <a:cs typeface="华文楷体"/>
              </a:rPr>
              <a:t>0</a:t>
            </a:r>
            <a:endParaRPr sz="2150">
              <a:latin typeface="华文楷体"/>
              <a:cs typeface="华文楷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417070" y="4500895"/>
            <a:ext cx="0" cy="432434"/>
          </a:xfrm>
          <a:custGeom>
            <a:avLst/>
            <a:gdLst/>
            <a:ahLst/>
            <a:cxnLst/>
            <a:rect l="l" t="t" r="r" b="b"/>
            <a:pathLst>
              <a:path h="432435">
                <a:moveTo>
                  <a:pt x="0" y="432130"/>
                </a:moveTo>
                <a:lnTo>
                  <a:pt x="0" y="0"/>
                </a:lnTo>
              </a:path>
            </a:pathLst>
          </a:custGeom>
          <a:ln w="5161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46579" y="4392854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>
                <a:moveTo>
                  <a:pt x="0" y="0"/>
                </a:moveTo>
                <a:lnTo>
                  <a:pt x="468960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46579" y="4608919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>
                <a:moveTo>
                  <a:pt x="0" y="0"/>
                </a:moveTo>
                <a:lnTo>
                  <a:pt x="468960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815540" y="4500895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>
                <a:moveTo>
                  <a:pt x="469043" y="0"/>
                </a:moveTo>
                <a:lnTo>
                  <a:pt x="0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10720" y="4284829"/>
            <a:ext cx="610235" cy="432434"/>
          </a:xfrm>
          <a:custGeom>
            <a:avLst/>
            <a:gdLst/>
            <a:ahLst/>
            <a:cxnLst/>
            <a:rect l="l" t="t" r="r" b="b"/>
            <a:pathLst>
              <a:path w="610235" h="432435">
                <a:moveTo>
                  <a:pt x="182885" y="0"/>
                </a:moveTo>
                <a:lnTo>
                  <a:pt x="0" y="0"/>
                </a:lnTo>
                <a:lnTo>
                  <a:pt x="30581" y="41679"/>
                </a:lnTo>
                <a:lnTo>
                  <a:pt x="54367" y="84381"/>
                </a:lnTo>
                <a:lnTo>
                  <a:pt x="71357" y="127850"/>
                </a:lnTo>
                <a:lnTo>
                  <a:pt x="81550" y="171830"/>
                </a:lnTo>
                <a:lnTo>
                  <a:pt x="84947" y="216080"/>
                </a:lnTo>
                <a:lnTo>
                  <a:pt x="81551" y="260300"/>
                </a:lnTo>
                <a:lnTo>
                  <a:pt x="71357" y="304280"/>
                </a:lnTo>
                <a:lnTo>
                  <a:pt x="54367" y="347749"/>
                </a:lnTo>
                <a:lnTo>
                  <a:pt x="30581" y="390451"/>
                </a:lnTo>
                <a:lnTo>
                  <a:pt x="0" y="432130"/>
                </a:lnTo>
                <a:lnTo>
                  <a:pt x="182885" y="432130"/>
                </a:lnTo>
                <a:lnTo>
                  <a:pt x="240348" y="421830"/>
                </a:lnTo>
                <a:lnTo>
                  <a:pt x="295305" y="408620"/>
                </a:lnTo>
                <a:lnTo>
                  <a:pt x="347464" y="392649"/>
                </a:lnTo>
                <a:lnTo>
                  <a:pt x="396534" y="374066"/>
                </a:lnTo>
                <a:lnTo>
                  <a:pt x="442224" y="353021"/>
                </a:lnTo>
                <a:lnTo>
                  <a:pt x="484240" y="329662"/>
                </a:lnTo>
                <a:lnTo>
                  <a:pt x="522292" y="304139"/>
                </a:lnTo>
                <a:lnTo>
                  <a:pt x="556087" y="276602"/>
                </a:lnTo>
                <a:lnTo>
                  <a:pt x="585333" y="247199"/>
                </a:lnTo>
                <a:lnTo>
                  <a:pt x="609739" y="216080"/>
                </a:lnTo>
                <a:lnTo>
                  <a:pt x="585673" y="184828"/>
                </a:lnTo>
                <a:lnTo>
                  <a:pt x="556658" y="155311"/>
                </a:lnTo>
                <a:lnTo>
                  <a:pt x="523000" y="127682"/>
                </a:lnTo>
                <a:lnTo>
                  <a:pt x="485002" y="102094"/>
                </a:lnTo>
                <a:lnTo>
                  <a:pt x="442968" y="78701"/>
                </a:lnTo>
                <a:lnTo>
                  <a:pt x="397202" y="57655"/>
                </a:lnTo>
                <a:lnTo>
                  <a:pt x="348006" y="39109"/>
                </a:lnTo>
                <a:lnTo>
                  <a:pt x="295686" y="23215"/>
                </a:lnTo>
                <a:lnTo>
                  <a:pt x="240544" y="10128"/>
                </a:lnTo>
                <a:lnTo>
                  <a:pt x="1828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10720" y="4284829"/>
            <a:ext cx="610235" cy="432434"/>
          </a:xfrm>
          <a:custGeom>
            <a:avLst/>
            <a:gdLst/>
            <a:ahLst/>
            <a:cxnLst/>
            <a:rect l="l" t="t" r="r" b="b"/>
            <a:pathLst>
              <a:path w="610235" h="432435">
                <a:moveTo>
                  <a:pt x="609739" y="216080"/>
                </a:moveTo>
                <a:lnTo>
                  <a:pt x="585333" y="247199"/>
                </a:lnTo>
                <a:lnTo>
                  <a:pt x="556087" y="276602"/>
                </a:lnTo>
                <a:lnTo>
                  <a:pt x="522292" y="304139"/>
                </a:lnTo>
                <a:lnTo>
                  <a:pt x="484240" y="329662"/>
                </a:lnTo>
                <a:lnTo>
                  <a:pt x="442224" y="353021"/>
                </a:lnTo>
                <a:lnTo>
                  <a:pt x="396534" y="374066"/>
                </a:lnTo>
                <a:lnTo>
                  <a:pt x="347464" y="392649"/>
                </a:lnTo>
                <a:lnTo>
                  <a:pt x="295305" y="408620"/>
                </a:lnTo>
                <a:lnTo>
                  <a:pt x="240348" y="421830"/>
                </a:lnTo>
                <a:lnTo>
                  <a:pt x="182885" y="432130"/>
                </a:lnTo>
                <a:lnTo>
                  <a:pt x="0" y="432130"/>
                </a:lnTo>
                <a:lnTo>
                  <a:pt x="30581" y="390451"/>
                </a:lnTo>
                <a:lnTo>
                  <a:pt x="54367" y="347749"/>
                </a:lnTo>
                <a:lnTo>
                  <a:pt x="71357" y="304280"/>
                </a:lnTo>
                <a:lnTo>
                  <a:pt x="81550" y="260300"/>
                </a:lnTo>
                <a:lnTo>
                  <a:pt x="84948" y="216065"/>
                </a:lnTo>
                <a:lnTo>
                  <a:pt x="81550" y="171830"/>
                </a:lnTo>
                <a:lnTo>
                  <a:pt x="71357" y="127850"/>
                </a:lnTo>
                <a:lnTo>
                  <a:pt x="54367" y="84381"/>
                </a:lnTo>
                <a:lnTo>
                  <a:pt x="30581" y="41679"/>
                </a:lnTo>
                <a:lnTo>
                  <a:pt x="0" y="0"/>
                </a:lnTo>
                <a:lnTo>
                  <a:pt x="182885" y="0"/>
                </a:lnTo>
                <a:lnTo>
                  <a:pt x="240544" y="10128"/>
                </a:lnTo>
                <a:lnTo>
                  <a:pt x="295686" y="23215"/>
                </a:lnTo>
                <a:lnTo>
                  <a:pt x="348006" y="39109"/>
                </a:lnTo>
                <a:lnTo>
                  <a:pt x="397202" y="57655"/>
                </a:lnTo>
                <a:lnTo>
                  <a:pt x="442968" y="78701"/>
                </a:lnTo>
                <a:lnTo>
                  <a:pt x="485002" y="102094"/>
                </a:lnTo>
                <a:lnTo>
                  <a:pt x="523000" y="127682"/>
                </a:lnTo>
                <a:lnTo>
                  <a:pt x="556658" y="155311"/>
                </a:lnTo>
                <a:lnTo>
                  <a:pt x="585673" y="184828"/>
                </a:lnTo>
                <a:lnTo>
                  <a:pt x="609739" y="216080"/>
                </a:lnTo>
                <a:close/>
              </a:path>
            </a:pathLst>
          </a:custGeom>
          <a:ln w="33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510720" y="4284829"/>
            <a:ext cx="610235" cy="432434"/>
          </a:xfrm>
          <a:custGeom>
            <a:avLst/>
            <a:gdLst/>
            <a:ahLst/>
            <a:cxnLst/>
            <a:rect l="l" t="t" r="r" b="b"/>
            <a:pathLst>
              <a:path w="610235" h="432435">
                <a:moveTo>
                  <a:pt x="375135" y="0"/>
                </a:moveTo>
                <a:lnTo>
                  <a:pt x="0" y="0"/>
                </a:lnTo>
                <a:lnTo>
                  <a:pt x="0" y="432130"/>
                </a:lnTo>
                <a:lnTo>
                  <a:pt x="375135" y="432130"/>
                </a:lnTo>
                <a:lnTo>
                  <a:pt x="422409" y="427740"/>
                </a:lnTo>
                <a:lnTo>
                  <a:pt x="466444" y="415150"/>
                </a:lnTo>
                <a:lnTo>
                  <a:pt x="506294" y="395227"/>
                </a:lnTo>
                <a:lnTo>
                  <a:pt x="541017" y="368843"/>
                </a:lnTo>
                <a:lnTo>
                  <a:pt x="569666" y="336865"/>
                </a:lnTo>
                <a:lnTo>
                  <a:pt x="591300" y="300164"/>
                </a:lnTo>
                <a:lnTo>
                  <a:pt x="604972" y="259607"/>
                </a:lnTo>
                <a:lnTo>
                  <a:pt x="609739" y="216065"/>
                </a:lnTo>
                <a:lnTo>
                  <a:pt x="604972" y="172518"/>
                </a:lnTo>
                <a:lnTo>
                  <a:pt x="591300" y="131959"/>
                </a:lnTo>
                <a:lnTo>
                  <a:pt x="569666" y="95258"/>
                </a:lnTo>
                <a:lnTo>
                  <a:pt x="541017" y="63281"/>
                </a:lnTo>
                <a:lnTo>
                  <a:pt x="506294" y="36898"/>
                </a:lnTo>
                <a:lnTo>
                  <a:pt x="466444" y="16978"/>
                </a:lnTo>
                <a:lnTo>
                  <a:pt x="422409" y="4389"/>
                </a:lnTo>
                <a:lnTo>
                  <a:pt x="3751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10720" y="4284829"/>
            <a:ext cx="610235" cy="432434"/>
          </a:xfrm>
          <a:custGeom>
            <a:avLst/>
            <a:gdLst/>
            <a:ahLst/>
            <a:cxnLst/>
            <a:rect l="l" t="t" r="r" b="b"/>
            <a:pathLst>
              <a:path w="610235" h="432435">
                <a:moveTo>
                  <a:pt x="375135" y="432130"/>
                </a:moveTo>
                <a:lnTo>
                  <a:pt x="0" y="432130"/>
                </a:lnTo>
                <a:lnTo>
                  <a:pt x="0" y="0"/>
                </a:lnTo>
                <a:lnTo>
                  <a:pt x="375135" y="0"/>
                </a:lnTo>
                <a:lnTo>
                  <a:pt x="422409" y="4389"/>
                </a:lnTo>
                <a:lnTo>
                  <a:pt x="466444" y="16978"/>
                </a:lnTo>
                <a:lnTo>
                  <a:pt x="506294" y="36898"/>
                </a:lnTo>
                <a:lnTo>
                  <a:pt x="541016" y="63281"/>
                </a:lnTo>
                <a:lnTo>
                  <a:pt x="569666" y="95258"/>
                </a:lnTo>
                <a:lnTo>
                  <a:pt x="591300" y="131959"/>
                </a:lnTo>
                <a:lnTo>
                  <a:pt x="604972" y="172518"/>
                </a:lnTo>
                <a:lnTo>
                  <a:pt x="609739" y="216065"/>
                </a:lnTo>
                <a:lnTo>
                  <a:pt x="604972" y="259607"/>
                </a:lnTo>
                <a:lnTo>
                  <a:pt x="591300" y="300164"/>
                </a:lnTo>
                <a:lnTo>
                  <a:pt x="569666" y="336865"/>
                </a:lnTo>
                <a:lnTo>
                  <a:pt x="541017" y="368843"/>
                </a:lnTo>
                <a:lnTo>
                  <a:pt x="506294" y="395227"/>
                </a:lnTo>
                <a:lnTo>
                  <a:pt x="466444" y="415150"/>
                </a:lnTo>
                <a:lnTo>
                  <a:pt x="422409" y="427740"/>
                </a:lnTo>
                <a:lnTo>
                  <a:pt x="375135" y="432130"/>
                </a:lnTo>
                <a:close/>
              </a:path>
            </a:pathLst>
          </a:custGeom>
          <a:ln w="33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46579" y="4911423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>
                <a:moveTo>
                  <a:pt x="0" y="0"/>
                </a:moveTo>
                <a:lnTo>
                  <a:pt x="468960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346579" y="5127488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>
                <a:moveTo>
                  <a:pt x="0" y="0"/>
                </a:moveTo>
                <a:lnTo>
                  <a:pt x="468960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815540" y="5019463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>
                <a:moveTo>
                  <a:pt x="469043" y="0"/>
                </a:moveTo>
                <a:lnTo>
                  <a:pt x="0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10720" y="4803383"/>
            <a:ext cx="610235" cy="432434"/>
          </a:xfrm>
          <a:custGeom>
            <a:avLst/>
            <a:gdLst/>
            <a:ahLst/>
            <a:cxnLst/>
            <a:rect l="l" t="t" r="r" b="b"/>
            <a:pathLst>
              <a:path w="610235" h="432435">
                <a:moveTo>
                  <a:pt x="182885" y="0"/>
                </a:moveTo>
                <a:lnTo>
                  <a:pt x="0" y="0"/>
                </a:lnTo>
                <a:lnTo>
                  <a:pt x="30581" y="41683"/>
                </a:lnTo>
                <a:lnTo>
                  <a:pt x="54367" y="84387"/>
                </a:lnTo>
                <a:lnTo>
                  <a:pt x="71357" y="127857"/>
                </a:lnTo>
                <a:lnTo>
                  <a:pt x="81550" y="171837"/>
                </a:lnTo>
                <a:lnTo>
                  <a:pt x="84947" y="216095"/>
                </a:lnTo>
                <a:lnTo>
                  <a:pt x="81551" y="260308"/>
                </a:lnTo>
                <a:lnTo>
                  <a:pt x="71357" y="304288"/>
                </a:lnTo>
                <a:lnTo>
                  <a:pt x="54367" y="347758"/>
                </a:lnTo>
                <a:lnTo>
                  <a:pt x="30581" y="390462"/>
                </a:lnTo>
                <a:lnTo>
                  <a:pt x="0" y="432145"/>
                </a:lnTo>
                <a:lnTo>
                  <a:pt x="182885" y="432145"/>
                </a:lnTo>
                <a:lnTo>
                  <a:pt x="240348" y="421845"/>
                </a:lnTo>
                <a:lnTo>
                  <a:pt x="295305" y="408634"/>
                </a:lnTo>
                <a:lnTo>
                  <a:pt x="347464" y="392662"/>
                </a:lnTo>
                <a:lnTo>
                  <a:pt x="396534" y="374077"/>
                </a:lnTo>
                <a:lnTo>
                  <a:pt x="442224" y="353030"/>
                </a:lnTo>
                <a:lnTo>
                  <a:pt x="484240" y="329671"/>
                </a:lnTo>
                <a:lnTo>
                  <a:pt x="522292" y="304148"/>
                </a:lnTo>
                <a:lnTo>
                  <a:pt x="556087" y="276611"/>
                </a:lnTo>
                <a:lnTo>
                  <a:pt x="585333" y="247211"/>
                </a:lnTo>
                <a:lnTo>
                  <a:pt x="609739" y="216095"/>
                </a:lnTo>
                <a:lnTo>
                  <a:pt x="585673" y="184841"/>
                </a:lnTo>
                <a:lnTo>
                  <a:pt x="556658" y="155320"/>
                </a:lnTo>
                <a:lnTo>
                  <a:pt x="523000" y="127685"/>
                </a:lnTo>
                <a:lnTo>
                  <a:pt x="485002" y="102091"/>
                </a:lnTo>
                <a:lnTo>
                  <a:pt x="442968" y="78692"/>
                </a:lnTo>
                <a:lnTo>
                  <a:pt x="397202" y="57640"/>
                </a:lnTo>
                <a:lnTo>
                  <a:pt x="348006" y="39092"/>
                </a:lnTo>
                <a:lnTo>
                  <a:pt x="295686" y="23199"/>
                </a:lnTo>
                <a:lnTo>
                  <a:pt x="240544" y="10117"/>
                </a:lnTo>
                <a:lnTo>
                  <a:pt x="1828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10720" y="4803383"/>
            <a:ext cx="610235" cy="432434"/>
          </a:xfrm>
          <a:custGeom>
            <a:avLst/>
            <a:gdLst/>
            <a:ahLst/>
            <a:cxnLst/>
            <a:rect l="l" t="t" r="r" b="b"/>
            <a:pathLst>
              <a:path w="610235" h="432435">
                <a:moveTo>
                  <a:pt x="609739" y="216095"/>
                </a:moveTo>
                <a:lnTo>
                  <a:pt x="585333" y="247211"/>
                </a:lnTo>
                <a:lnTo>
                  <a:pt x="556087" y="276611"/>
                </a:lnTo>
                <a:lnTo>
                  <a:pt x="522292" y="304148"/>
                </a:lnTo>
                <a:lnTo>
                  <a:pt x="484240" y="329671"/>
                </a:lnTo>
                <a:lnTo>
                  <a:pt x="442224" y="353030"/>
                </a:lnTo>
                <a:lnTo>
                  <a:pt x="396534" y="374077"/>
                </a:lnTo>
                <a:lnTo>
                  <a:pt x="347464" y="392662"/>
                </a:lnTo>
                <a:lnTo>
                  <a:pt x="295305" y="408634"/>
                </a:lnTo>
                <a:lnTo>
                  <a:pt x="240348" y="421845"/>
                </a:lnTo>
                <a:lnTo>
                  <a:pt x="182885" y="432145"/>
                </a:lnTo>
                <a:lnTo>
                  <a:pt x="0" y="432145"/>
                </a:lnTo>
                <a:lnTo>
                  <a:pt x="30581" y="390462"/>
                </a:lnTo>
                <a:lnTo>
                  <a:pt x="54367" y="347758"/>
                </a:lnTo>
                <a:lnTo>
                  <a:pt x="71357" y="304288"/>
                </a:lnTo>
                <a:lnTo>
                  <a:pt x="81550" y="260308"/>
                </a:lnTo>
                <a:lnTo>
                  <a:pt x="84948" y="216072"/>
                </a:lnTo>
                <a:lnTo>
                  <a:pt x="81550" y="171837"/>
                </a:lnTo>
                <a:lnTo>
                  <a:pt x="71357" y="127857"/>
                </a:lnTo>
                <a:lnTo>
                  <a:pt x="54367" y="84387"/>
                </a:lnTo>
                <a:lnTo>
                  <a:pt x="30581" y="41683"/>
                </a:lnTo>
                <a:lnTo>
                  <a:pt x="0" y="0"/>
                </a:lnTo>
                <a:lnTo>
                  <a:pt x="182885" y="0"/>
                </a:lnTo>
                <a:lnTo>
                  <a:pt x="240544" y="10117"/>
                </a:lnTo>
                <a:lnTo>
                  <a:pt x="295686" y="23199"/>
                </a:lnTo>
                <a:lnTo>
                  <a:pt x="348006" y="39092"/>
                </a:lnTo>
                <a:lnTo>
                  <a:pt x="397202" y="57640"/>
                </a:lnTo>
                <a:lnTo>
                  <a:pt x="442968" y="78692"/>
                </a:lnTo>
                <a:lnTo>
                  <a:pt x="485002" y="102091"/>
                </a:lnTo>
                <a:lnTo>
                  <a:pt x="523000" y="127685"/>
                </a:lnTo>
                <a:lnTo>
                  <a:pt x="556658" y="155320"/>
                </a:lnTo>
                <a:lnTo>
                  <a:pt x="585673" y="184841"/>
                </a:lnTo>
                <a:lnTo>
                  <a:pt x="609739" y="216095"/>
                </a:lnTo>
                <a:close/>
              </a:path>
            </a:pathLst>
          </a:custGeom>
          <a:ln w="33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510720" y="4803383"/>
            <a:ext cx="610235" cy="432434"/>
          </a:xfrm>
          <a:custGeom>
            <a:avLst/>
            <a:gdLst/>
            <a:ahLst/>
            <a:cxnLst/>
            <a:rect l="l" t="t" r="r" b="b"/>
            <a:pathLst>
              <a:path w="610235" h="432435">
                <a:moveTo>
                  <a:pt x="375135" y="0"/>
                </a:moveTo>
                <a:lnTo>
                  <a:pt x="0" y="0"/>
                </a:lnTo>
                <a:lnTo>
                  <a:pt x="0" y="432145"/>
                </a:lnTo>
                <a:lnTo>
                  <a:pt x="375135" y="432145"/>
                </a:lnTo>
                <a:lnTo>
                  <a:pt x="422409" y="427755"/>
                </a:lnTo>
                <a:lnTo>
                  <a:pt x="466444" y="415165"/>
                </a:lnTo>
                <a:lnTo>
                  <a:pt x="506294" y="395243"/>
                </a:lnTo>
                <a:lnTo>
                  <a:pt x="541017" y="368858"/>
                </a:lnTo>
                <a:lnTo>
                  <a:pt x="569666" y="336881"/>
                </a:lnTo>
                <a:lnTo>
                  <a:pt x="591300" y="300179"/>
                </a:lnTo>
                <a:lnTo>
                  <a:pt x="604972" y="259622"/>
                </a:lnTo>
                <a:lnTo>
                  <a:pt x="609739" y="216080"/>
                </a:lnTo>
                <a:lnTo>
                  <a:pt x="604972" y="172533"/>
                </a:lnTo>
                <a:lnTo>
                  <a:pt x="591300" y="131972"/>
                </a:lnTo>
                <a:lnTo>
                  <a:pt x="569666" y="95268"/>
                </a:lnTo>
                <a:lnTo>
                  <a:pt x="541017" y="63289"/>
                </a:lnTo>
                <a:lnTo>
                  <a:pt x="506294" y="36903"/>
                </a:lnTo>
                <a:lnTo>
                  <a:pt x="466444" y="16980"/>
                </a:lnTo>
                <a:lnTo>
                  <a:pt x="422409" y="4390"/>
                </a:lnTo>
                <a:lnTo>
                  <a:pt x="3751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510720" y="4803383"/>
            <a:ext cx="610235" cy="432434"/>
          </a:xfrm>
          <a:custGeom>
            <a:avLst/>
            <a:gdLst/>
            <a:ahLst/>
            <a:cxnLst/>
            <a:rect l="l" t="t" r="r" b="b"/>
            <a:pathLst>
              <a:path w="610235" h="432435">
                <a:moveTo>
                  <a:pt x="375135" y="432145"/>
                </a:moveTo>
                <a:lnTo>
                  <a:pt x="0" y="432145"/>
                </a:lnTo>
                <a:lnTo>
                  <a:pt x="0" y="0"/>
                </a:lnTo>
                <a:lnTo>
                  <a:pt x="375135" y="0"/>
                </a:lnTo>
                <a:lnTo>
                  <a:pt x="422409" y="4390"/>
                </a:lnTo>
                <a:lnTo>
                  <a:pt x="466444" y="16980"/>
                </a:lnTo>
                <a:lnTo>
                  <a:pt x="506294" y="36903"/>
                </a:lnTo>
                <a:lnTo>
                  <a:pt x="541016" y="63289"/>
                </a:lnTo>
                <a:lnTo>
                  <a:pt x="569666" y="95268"/>
                </a:lnTo>
                <a:lnTo>
                  <a:pt x="591300" y="131972"/>
                </a:lnTo>
                <a:lnTo>
                  <a:pt x="604972" y="172533"/>
                </a:lnTo>
                <a:lnTo>
                  <a:pt x="609739" y="216080"/>
                </a:lnTo>
                <a:lnTo>
                  <a:pt x="604972" y="259622"/>
                </a:lnTo>
                <a:lnTo>
                  <a:pt x="591300" y="300179"/>
                </a:lnTo>
                <a:lnTo>
                  <a:pt x="569666" y="336881"/>
                </a:lnTo>
                <a:lnTo>
                  <a:pt x="541017" y="368858"/>
                </a:lnTo>
                <a:lnTo>
                  <a:pt x="506294" y="395243"/>
                </a:lnTo>
                <a:lnTo>
                  <a:pt x="466444" y="415165"/>
                </a:lnTo>
                <a:lnTo>
                  <a:pt x="422409" y="427755"/>
                </a:lnTo>
                <a:lnTo>
                  <a:pt x="375135" y="432145"/>
                </a:lnTo>
                <a:close/>
              </a:path>
            </a:pathLst>
          </a:custGeom>
          <a:ln w="33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425213" y="4392854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>
                <a:moveTo>
                  <a:pt x="0" y="0"/>
                </a:moveTo>
                <a:lnTo>
                  <a:pt x="469043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425213" y="4500895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>
                <a:moveTo>
                  <a:pt x="0" y="0"/>
                </a:moveTo>
                <a:lnTo>
                  <a:pt x="469043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425213" y="4608919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>
                <a:moveTo>
                  <a:pt x="0" y="0"/>
                </a:moveTo>
                <a:lnTo>
                  <a:pt x="469043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894257" y="4500895"/>
            <a:ext cx="469265" cy="0"/>
          </a:xfrm>
          <a:custGeom>
            <a:avLst/>
            <a:gdLst/>
            <a:ahLst/>
            <a:cxnLst/>
            <a:rect l="l" t="t" r="r" b="b"/>
            <a:pathLst>
              <a:path w="469264">
                <a:moveTo>
                  <a:pt x="468877" y="0"/>
                </a:moveTo>
                <a:lnTo>
                  <a:pt x="0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589337" y="4284829"/>
            <a:ext cx="610235" cy="432434"/>
          </a:xfrm>
          <a:custGeom>
            <a:avLst/>
            <a:gdLst/>
            <a:ahLst/>
            <a:cxnLst/>
            <a:rect l="l" t="t" r="r" b="b"/>
            <a:pathLst>
              <a:path w="610235" h="432435">
                <a:moveTo>
                  <a:pt x="182984" y="0"/>
                </a:moveTo>
                <a:lnTo>
                  <a:pt x="0" y="0"/>
                </a:lnTo>
                <a:lnTo>
                  <a:pt x="30599" y="41679"/>
                </a:lnTo>
                <a:lnTo>
                  <a:pt x="54399" y="84381"/>
                </a:lnTo>
                <a:lnTo>
                  <a:pt x="71398" y="127850"/>
                </a:lnTo>
                <a:lnTo>
                  <a:pt x="81598" y="171830"/>
                </a:lnTo>
                <a:lnTo>
                  <a:pt x="84997" y="216080"/>
                </a:lnTo>
                <a:lnTo>
                  <a:pt x="81598" y="260300"/>
                </a:lnTo>
                <a:lnTo>
                  <a:pt x="71398" y="304280"/>
                </a:lnTo>
                <a:lnTo>
                  <a:pt x="54399" y="347749"/>
                </a:lnTo>
                <a:lnTo>
                  <a:pt x="30599" y="390451"/>
                </a:lnTo>
                <a:lnTo>
                  <a:pt x="0" y="432130"/>
                </a:lnTo>
                <a:lnTo>
                  <a:pt x="182984" y="432130"/>
                </a:lnTo>
                <a:lnTo>
                  <a:pt x="240406" y="421830"/>
                </a:lnTo>
                <a:lnTo>
                  <a:pt x="295339" y="408620"/>
                </a:lnTo>
                <a:lnTo>
                  <a:pt x="347486" y="392649"/>
                </a:lnTo>
                <a:lnTo>
                  <a:pt x="396552" y="374066"/>
                </a:lnTo>
                <a:lnTo>
                  <a:pt x="442240" y="353021"/>
                </a:lnTo>
                <a:lnTo>
                  <a:pt x="484256" y="329662"/>
                </a:lnTo>
                <a:lnTo>
                  <a:pt x="522303" y="304139"/>
                </a:lnTo>
                <a:lnTo>
                  <a:pt x="556085" y="276602"/>
                </a:lnTo>
                <a:lnTo>
                  <a:pt x="585307" y="247199"/>
                </a:lnTo>
                <a:lnTo>
                  <a:pt x="609673" y="216080"/>
                </a:lnTo>
                <a:lnTo>
                  <a:pt x="585607" y="184828"/>
                </a:lnTo>
                <a:lnTo>
                  <a:pt x="556594" y="155311"/>
                </a:lnTo>
                <a:lnTo>
                  <a:pt x="522939" y="127682"/>
                </a:lnTo>
                <a:lnTo>
                  <a:pt x="484947" y="102094"/>
                </a:lnTo>
                <a:lnTo>
                  <a:pt x="442923" y="78701"/>
                </a:lnTo>
                <a:lnTo>
                  <a:pt x="397171" y="57655"/>
                </a:lnTo>
                <a:lnTo>
                  <a:pt x="347997" y="39109"/>
                </a:lnTo>
                <a:lnTo>
                  <a:pt x="295704" y="23215"/>
                </a:lnTo>
                <a:lnTo>
                  <a:pt x="240599" y="10128"/>
                </a:lnTo>
                <a:lnTo>
                  <a:pt x="1829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589337" y="4284829"/>
            <a:ext cx="610235" cy="432434"/>
          </a:xfrm>
          <a:custGeom>
            <a:avLst/>
            <a:gdLst/>
            <a:ahLst/>
            <a:cxnLst/>
            <a:rect l="l" t="t" r="r" b="b"/>
            <a:pathLst>
              <a:path w="610235" h="432435">
                <a:moveTo>
                  <a:pt x="609673" y="216080"/>
                </a:moveTo>
                <a:lnTo>
                  <a:pt x="585307" y="247199"/>
                </a:lnTo>
                <a:lnTo>
                  <a:pt x="556085" y="276602"/>
                </a:lnTo>
                <a:lnTo>
                  <a:pt x="522303" y="304139"/>
                </a:lnTo>
                <a:lnTo>
                  <a:pt x="484256" y="329662"/>
                </a:lnTo>
                <a:lnTo>
                  <a:pt x="442240" y="353021"/>
                </a:lnTo>
                <a:lnTo>
                  <a:pt x="396552" y="374066"/>
                </a:lnTo>
                <a:lnTo>
                  <a:pt x="347486" y="392649"/>
                </a:lnTo>
                <a:lnTo>
                  <a:pt x="295339" y="408620"/>
                </a:lnTo>
                <a:lnTo>
                  <a:pt x="240406" y="421830"/>
                </a:lnTo>
                <a:lnTo>
                  <a:pt x="182984" y="432130"/>
                </a:lnTo>
                <a:lnTo>
                  <a:pt x="0" y="432130"/>
                </a:lnTo>
                <a:lnTo>
                  <a:pt x="30599" y="390451"/>
                </a:lnTo>
                <a:lnTo>
                  <a:pt x="54399" y="347749"/>
                </a:lnTo>
                <a:lnTo>
                  <a:pt x="71398" y="304280"/>
                </a:lnTo>
                <a:lnTo>
                  <a:pt x="81598" y="260300"/>
                </a:lnTo>
                <a:lnTo>
                  <a:pt x="84998" y="216065"/>
                </a:lnTo>
                <a:lnTo>
                  <a:pt x="81598" y="171830"/>
                </a:lnTo>
                <a:lnTo>
                  <a:pt x="71398" y="127850"/>
                </a:lnTo>
                <a:lnTo>
                  <a:pt x="54399" y="84381"/>
                </a:lnTo>
                <a:lnTo>
                  <a:pt x="30599" y="41679"/>
                </a:lnTo>
                <a:lnTo>
                  <a:pt x="0" y="0"/>
                </a:lnTo>
                <a:lnTo>
                  <a:pt x="182984" y="0"/>
                </a:lnTo>
                <a:lnTo>
                  <a:pt x="240599" y="10128"/>
                </a:lnTo>
                <a:lnTo>
                  <a:pt x="295704" y="23215"/>
                </a:lnTo>
                <a:lnTo>
                  <a:pt x="347997" y="39109"/>
                </a:lnTo>
                <a:lnTo>
                  <a:pt x="397171" y="57655"/>
                </a:lnTo>
                <a:lnTo>
                  <a:pt x="442923" y="78701"/>
                </a:lnTo>
                <a:lnTo>
                  <a:pt x="484947" y="102094"/>
                </a:lnTo>
                <a:lnTo>
                  <a:pt x="522939" y="127682"/>
                </a:lnTo>
                <a:lnTo>
                  <a:pt x="556594" y="155311"/>
                </a:lnTo>
                <a:lnTo>
                  <a:pt x="585607" y="184828"/>
                </a:lnTo>
                <a:lnTo>
                  <a:pt x="609673" y="216080"/>
                </a:lnTo>
                <a:close/>
              </a:path>
            </a:pathLst>
          </a:custGeom>
          <a:ln w="33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84583" y="4500895"/>
            <a:ext cx="140970" cy="0"/>
          </a:xfrm>
          <a:custGeom>
            <a:avLst/>
            <a:gdLst/>
            <a:ahLst/>
            <a:cxnLst/>
            <a:rect l="l" t="t" r="r" b="b"/>
            <a:pathLst>
              <a:path w="140970">
                <a:moveTo>
                  <a:pt x="0" y="0"/>
                </a:moveTo>
                <a:lnTo>
                  <a:pt x="140630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84583" y="5019463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>
                <a:moveTo>
                  <a:pt x="0" y="0"/>
                </a:moveTo>
                <a:lnTo>
                  <a:pt x="128883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425213" y="4608919"/>
            <a:ext cx="0" cy="410845"/>
          </a:xfrm>
          <a:custGeom>
            <a:avLst/>
            <a:gdLst/>
            <a:ahLst/>
            <a:cxnLst/>
            <a:rect l="l" t="t" r="r" b="b"/>
            <a:pathLst>
              <a:path h="410845">
                <a:moveTo>
                  <a:pt x="0" y="0"/>
                </a:moveTo>
                <a:lnTo>
                  <a:pt x="0" y="410543"/>
                </a:lnTo>
              </a:path>
            </a:pathLst>
          </a:custGeom>
          <a:ln w="35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425213" y="1908004"/>
            <a:ext cx="0" cy="2485390"/>
          </a:xfrm>
          <a:custGeom>
            <a:avLst/>
            <a:gdLst/>
            <a:ahLst/>
            <a:cxnLst/>
            <a:rect l="l" t="t" r="r" b="b"/>
            <a:pathLst>
              <a:path h="2485390">
                <a:moveTo>
                  <a:pt x="0" y="2484850"/>
                </a:moveTo>
                <a:lnTo>
                  <a:pt x="0" y="0"/>
                </a:lnTo>
              </a:path>
            </a:pathLst>
          </a:custGeom>
          <a:ln w="35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346579" y="2772387"/>
            <a:ext cx="0" cy="1620520"/>
          </a:xfrm>
          <a:custGeom>
            <a:avLst/>
            <a:gdLst/>
            <a:ahLst/>
            <a:cxnLst/>
            <a:rect l="l" t="t" r="r" b="b"/>
            <a:pathLst>
              <a:path h="1620520">
                <a:moveTo>
                  <a:pt x="0" y="1620467"/>
                </a:moveTo>
                <a:lnTo>
                  <a:pt x="0" y="0"/>
                </a:lnTo>
              </a:path>
            </a:pathLst>
          </a:custGeom>
          <a:ln w="35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065186" y="4608919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392" y="0"/>
                </a:moveTo>
                <a:lnTo>
                  <a:pt x="0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065186" y="2340195"/>
            <a:ext cx="281940" cy="2571750"/>
          </a:xfrm>
          <a:custGeom>
            <a:avLst/>
            <a:gdLst/>
            <a:ahLst/>
            <a:cxnLst/>
            <a:rect l="l" t="t" r="r" b="b"/>
            <a:pathLst>
              <a:path w="281939" h="2571750">
                <a:moveTo>
                  <a:pt x="281392" y="2571227"/>
                </a:moveTo>
                <a:lnTo>
                  <a:pt x="0" y="2571227"/>
                </a:lnTo>
                <a:lnTo>
                  <a:pt x="0" y="0"/>
                </a:lnTo>
              </a:path>
            </a:pathLst>
          </a:custGeom>
          <a:ln w="35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830698" y="5127488"/>
            <a:ext cx="516255" cy="0"/>
          </a:xfrm>
          <a:custGeom>
            <a:avLst/>
            <a:gdLst/>
            <a:ahLst/>
            <a:cxnLst/>
            <a:rect l="l" t="t" r="r" b="b"/>
            <a:pathLst>
              <a:path w="516254">
                <a:moveTo>
                  <a:pt x="515881" y="0"/>
                </a:moveTo>
                <a:lnTo>
                  <a:pt x="0" y="0"/>
                </a:lnTo>
              </a:path>
            </a:pathLst>
          </a:custGeom>
          <a:ln w="329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830698" y="3204426"/>
            <a:ext cx="0" cy="1923414"/>
          </a:xfrm>
          <a:custGeom>
            <a:avLst/>
            <a:gdLst/>
            <a:ahLst/>
            <a:cxnLst/>
            <a:rect l="l" t="t" r="r" b="b"/>
            <a:pathLst>
              <a:path h="1923414">
                <a:moveTo>
                  <a:pt x="0" y="0"/>
                </a:moveTo>
                <a:lnTo>
                  <a:pt x="0" y="1923062"/>
                </a:lnTo>
              </a:path>
            </a:pathLst>
          </a:custGeom>
          <a:ln w="35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>
            <a:spLocks noGrp="1"/>
          </p:cNvSpPr>
          <p:nvPr>
            <p:ph type="title"/>
          </p:nvPr>
        </p:nvSpPr>
        <p:spPr>
          <a:xfrm>
            <a:off x="477266" y="410032"/>
            <a:ext cx="86264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9145" algn="l"/>
              </a:tabLst>
            </a:pP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 	</a:t>
            </a:r>
            <a:r>
              <a:rPr sz="3200" u="heavy" spc="-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4</a:t>
            </a:r>
            <a:r>
              <a:rPr sz="3200" u="heavy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位加法器实现8421BCD</a:t>
            </a:r>
            <a:r>
              <a:rPr sz="3200" u="heavy" spc="-10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码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转</a:t>
            </a:r>
            <a:r>
              <a:rPr sz="3200" u="heavy" spc="-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5421BCD</a:t>
            </a:r>
            <a:r>
              <a:rPr sz="3200" u="heavy" spc="5" dirty="0">
                <a:solidFill>
                  <a:srgbClr val="7E4D00"/>
                </a:solidFill>
                <a:uFill>
                  <a:solidFill>
                    <a:srgbClr val="666699"/>
                  </a:solidFill>
                </a:uFill>
              </a:rPr>
              <a:t>码电路</a:t>
            </a:r>
            <a:endParaRPr sz="3200"/>
          </a:p>
        </p:txBody>
      </p:sp>
      <p:sp>
        <p:nvSpPr>
          <p:cNvPr id="58" name="object 58"/>
          <p:cNvSpPr txBox="1"/>
          <p:nvPr/>
        </p:nvSpPr>
        <p:spPr>
          <a:xfrm>
            <a:off x="9071102" y="6472929"/>
            <a:ext cx="28702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000" spc="-5" dirty="0">
                <a:latin typeface="Arial"/>
                <a:cs typeface="Arial"/>
              </a:rPr>
              <a:t>120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5317</Words>
  <Application>Microsoft Office PowerPoint</Application>
  <PresentationFormat>A4 纸张(210x297 毫米)</PresentationFormat>
  <Paragraphs>2477</Paragraphs>
  <Slides>73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4" baseType="lpstr">
      <vt:lpstr>Microsoft JhengHei</vt:lpstr>
      <vt:lpstr>华文楷体</vt:lpstr>
      <vt:lpstr>隶书</vt:lpstr>
      <vt:lpstr>宋体</vt:lpstr>
      <vt:lpstr>微软雅黑</vt:lpstr>
      <vt:lpstr>Arial</vt:lpstr>
      <vt:lpstr>Calibri</vt:lpstr>
      <vt:lpstr>Franklin Gothic Medium</vt:lpstr>
      <vt:lpstr>Symbol</vt:lpstr>
      <vt:lpstr>Times New Roman</vt:lpstr>
      <vt:lpstr>Office Theme</vt:lpstr>
      <vt:lpstr>第一步：写表达式</vt:lpstr>
      <vt:lpstr>常用组合电路及其分析</vt:lpstr>
      <vt:lpstr>S  A  C  A</vt:lpstr>
      <vt:lpstr>PowerPoint 演示文稿</vt:lpstr>
      <vt:lpstr>这是一个由  12个门组成 的3输入、2  输出组合逻 辑电路。</vt:lpstr>
      <vt:lpstr>列真值表</vt:lpstr>
      <vt:lpstr>  全加器的应用—组成多位全加器 </vt:lpstr>
      <vt:lpstr>PowerPoint 演示文稿</vt:lpstr>
      <vt:lpstr>PowerPoint 演示文稿</vt:lpstr>
      <vt:lpstr>练习：利用4位全加器和所需门电路，设计一个受M 控制的电路。</vt:lpstr>
      <vt:lpstr>B3 B2 B1B0  M (D3 D2 D1D0 )</vt:lpstr>
      <vt:lpstr>A3  C3  A2  C</vt:lpstr>
      <vt:lpstr>Data Selector  Multiplexer</vt:lpstr>
      <vt:lpstr>E 为使能端，表示低电平有效。</vt:lpstr>
      <vt:lpstr>  数据选择器逻辑符号 </vt:lpstr>
      <vt:lpstr>74153内部有两 个独立的4选1数据 选择器。</vt:lpstr>
      <vt:lpstr>3 多路分配器</vt:lpstr>
      <vt:lpstr>PowerPoint 演示文稿</vt:lpstr>
      <vt:lpstr>PowerPoint 演示文稿</vt:lpstr>
      <vt:lpstr>总结</vt:lpstr>
      <vt:lpstr>常用组合电路及设计</vt:lpstr>
      <vt:lpstr>例：设计一个10线- 4线优先编码器，输入I0 ~ I9（低电平 输入有效）、输出反码、优先级自高向低为： I9I8····I1I0</vt:lpstr>
      <vt:lpstr>第一步：按要求写出真值表</vt:lpstr>
      <vt:lpstr>第二步：写出逻辑表达式</vt:lpstr>
      <vt:lpstr>第三步：化简表达式</vt:lpstr>
      <vt:lpstr>例：典型优先编码器（148）及扩展应用  74LS148为8线-3线优先编码器，输入低电平有效、 输出反码。</vt:lpstr>
      <vt:lpstr>PowerPoint 演示文稿</vt:lpstr>
      <vt:lpstr>PowerPoint 演示文稿</vt:lpstr>
      <vt:lpstr>优先编码器的扩展</vt:lpstr>
      <vt:lpstr>2 译码器的设计及应用</vt:lpstr>
      <vt:lpstr>译码器的种类</vt:lpstr>
      <vt:lpstr>二进制译码器</vt:lpstr>
      <vt:lpstr>二进制译码器的典型产品— 74LS138 </vt:lpstr>
      <vt:lpstr>PowerPoint 演示文稿</vt:lpstr>
      <vt:lpstr>PowerPoint 演示文稿</vt:lpstr>
      <vt:lpstr>二- 十进制译码器</vt:lpstr>
      <vt:lpstr>74LS47：</vt:lpstr>
      <vt:lpstr>A3  A2  A1  A0</vt:lpstr>
      <vt:lpstr>A3  A2  A1  A0</vt:lpstr>
      <vt:lpstr>A3  A2  A1  A0</vt:lpstr>
      <vt:lpstr>A3  A2  A1  A0</vt:lpstr>
      <vt:lpstr>3 数值比较器的设计及应用</vt:lpstr>
      <vt:lpstr>  一位比较器的设计 </vt:lpstr>
      <vt:lpstr>FAB  AB</vt:lpstr>
      <vt:lpstr>  多位比较器的设计 </vt:lpstr>
      <vt:lpstr>集成化4位比较器（74LS85）及级联</vt:lpstr>
      <vt:lpstr>PowerPoint 演示文稿</vt:lpstr>
      <vt:lpstr>  用74LS85实现8位二进制数的比较（级联） </vt:lpstr>
      <vt:lpstr>用数据选择器设计组合电路 </vt:lpstr>
      <vt:lpstr>PowerPoint 演示文稿</vt:lpstr>
      <vt:lpstr>PowerPoint 演示文稿</vt:lpstr>
      <vt:lpstr>用2个控制端的选择器实现3变量的组合电路，需分 离出多余的变量。</vt:lpstr>
      <vt:lpstr> AB(0)  AB(C)  AB(C)  AB(1)</vt:lpstr>
      <vt:lpstr>用数据选择器设计逻辑函数小结 </vt:lpstr>
      <vt:lpstr>PowerPoint 演示文稿</vt:lpstr>
      <vt:lpstr>一般情况下，一个n变量的逻辑函数可用（2n）选1 或（2n-1）选1数据选择器实现。</vt:lpstr>
      <vt:lpstr>  例：用8选1数据选择器实现5变量逻辑函数 </vt:lpstr>
      <vt:lpstr>PowerPoint 演示文稿</vt:lpstr>
      <vt:lpstr>用译码器设计组合电路</vt:lpstr>
      <vt:lpstr>3线-8线译码器可实现任何3变量的逻辑函数。</vt:lpstr>
      <vt:lpstr>  F (A，B，C) = ∑m ( 0， 2， 3， 4， 7) </vt:lpstr>
      <vt:lpstr>F (A，B，C) = ∑m ( 0， 2， 3， 4， 7)</vt:lpstr>
      <vt:lpstr>PowerPoint 演示文稿</vt:lpstr>
      <vt:lpstr>PowerPoint 演示文稿</vt:lpstr>
      <vt:lpstr>用译码器实现一位全加器 </vt:lpstr>
      <vt:lpstr>  选用一片74LS138及与非门实现 </vt:lpstr>
      <vt:lpstr>用二进制译码器构成各种BCD译码器 </vt:lpstr>
      <vt:lpstr>用全加器实现组合逻辑电路</vt:lpstr>
      <vt:lpstr>例：设计一个代码转换电路，将余3码转换成   8421BCD码。 </vt:lpstr>
      <vt:lpstr>例：设计一个代码转换电路，将8421BCD码   转换成5421BCD码。 </vt:lpstr>
      <vt:lpstr>PowerPoint 演示文稿</vt:lpstr>
      <vt:lpstr>D3  D2 D1  D2 D0</vt:lpstr>
      <vt:lpstr>  4位加法器实现8421BCD码转5421BCD码电路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数字电路  第5章  组合逻辑电路</dc:title>
  <dc:creator>pyro</dc:creator>
  <cp:lastModifiedBy>- Vel</cp:lastModifiedBy>
  <cp:revision>1</cp:revision>
  <dcterms:created xsi:type="dcterms:W3CDTF">2024-05-07T02:30:35Z</dcterms:created>
  <dcterms:modified xsi:type="dcterms:W3CDTF">2024-05-08T09:29:33Z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2024-05-07T00:00:00Z</vt:filetime>
  </property>
</Properties>
</file>
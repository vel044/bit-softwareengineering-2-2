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7772400" cy="10058400"/>
  <p:notesSz cx="7772400" cy="10058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7" autoAdjust="0"/>
  </p:normalViewPr>
  <p:slideViewPr>
    <p:cSldViewPr>
      <p:cViewPr varScale="1">
        <p:scale>
          <a:sx n="71" d="100"/>
          <a:sy n="71" d="100"/>
        </p:scale>
        <p:origin x="2524" y="5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3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100" y="654817"/>
            <a:ext cx="642620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4.xml"/><Relationship Id="rId3" Type="http://schemas.openxmlformats.org/officeDocument/2006/relationships/slide" Target="slide3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12.xml"/><Relationship Id="rId5" Type="http://schemas.openxmlformats.org/officeDocument/2006/relationships/slide" Target="slide5.xml"/><Relationship Id="rId10" Type="http://schemas.openxmlformats.org/officeDocument/2006/relationships/slide" Target="slide11.xml"/><Relationship Id="rId4" Type="http://schemas.openxmlformats.org/officeDocument/2006/relationships/slide" Target="slide4.xml"/><Relationship Id="rId9" Type="http://schemas.openxmlformats.org/officeDocument/2006/relationships/slide" Target="slide10.xml"/><Relationship Id="rId14" Type="http://schemas.openxmlformats.org/officeDocument/2006/relationships/hyperlink" Target="http://www.princexml.com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13" Type="http://schemas.openxmlformats.org/officeDocument/2006/relationships/slide" Target="slide27.xml"/><Relationship Id="rId3" Type="http://schemas.openxmlformats.org/officeDocument/2006/relationships/slide" Target="slide15.xml"/><Relationship Id="rId7" Type="http://schemas.openxmlformats.org/officeDocument/2006/relationships/slide" Target="slide20.xml"/><Relationship Id="rId12" Type="http://schemas.openxmlformats.org/officeDocument/2006/relationships/slide" Target="slide26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9.xml"/><Relationship Id="rId11" Type="http://schemas.openxmlformats.org/officeDocument/2006/relationships/slide" Target="slide25.xml"/><Relationship Id="rId5" Type="http://schemas.openxmlformats.org/officeDocument/2006/relationships/slide" Target="slide18.xml"/><Relationship Id="rId10" Type="http://schemas.openxmlformats.org/officeDocument/2006/relationships/slide" Target="slide23.xml"/><Relationship Id="rId4" Type="http://schemas.openxmlformats.org/officeDocument/2006/relationships/slide" Target="slide17.xml"/><Relationship Id="rId9" Type="http://schemas.openxmlformats.org/officeDocument/2006/relationships/slide" Target="slide22.xml"/><Relationship Id="rId14" Type="http://schemas.openxmlformats.org/officeDocument/2006/relationships/slide" Target="slide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4817"/>
            <a:ext cx="41471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>
                <a:latin typeface="微软雅黑"/>
                <a:cs typeface="微软雅黑"/>
              </a:rPr>
              <a:t>电</a:t>
            </a:r>
            <a:r>
              <a:rPr spc="-15" dirty="0"/>
              <a:t>子</a:t>
            </a:r>
            <a:r>
              <a:rPr spc="-70" dirty="0"/>
              <a:t>商</a:t>
            </a:r>
            <a:r>
              <a:rPr spc="50" dirty="0">
                <a:latin typeface="微软雅黑"/>
                <a:cs typeface="微软雅黑"/>
              </a:rPr>
              <a:t>务</a:t>
            </a:r>
            <a:r>
              <a:rPr spc="-15" dirty="0"/>
              <a:t>管理</a:t>
            </a:r>
            <a:r>
              <a:rPr spc="-70" dirty="0"/>
              <a:t>系</a:t>
            </a:r>
            <a:r>
              <a:rPr dirty="0">
                <a:latin typeface="微软雅黑"/>
                <a:cs typeface="微软雅黑"/>
              </a:rPr>
              <a:t>统设</a:t>
            </a:r>
            <a:r>
              <a:rPr spc="50" dirty="0">
                <a:latin typeface="微软雅黑"/>
                <a:cs typeface="微软雅黑"/>
              </a:rPr>
              <a:t>计</a:t>
            </a:r>
            <a:r>
              <a:rPr spc="-15" dirty="0"/>
              <a:t>文档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433" y="1512067"/>
            <a:ext cx="4050665" cy="767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2700" b="1" spc="-70" dirty="0">
                <a:latin typeface="MS Gothic"/>
                <a:cs typeface="MS Gothic"/>
              </a:rPr>
              <a:t>目</a:t>
            </a:r>
            <a:r>
              <a:rPr sz="2700" b="1" dirty="0">
                <a:latin typeface="微软雅黑"/>
                <a:cs typeface="微软雅黑"/>
              </a:rPr>
              <a:t>录</a:t>
            </a:r>
            <a:endParaRPr sz="27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940"/>
              </a:spcBef>
            </a:pPr>
            <a:r>
              <a:rPr sz="2100" b="1" spc="-55" dirty="0">
                <a:latin typeface="MS Gothic"/>
                <a:cs typeface="MS Gothic"/>
              </a:rPr>
              <a:t>目</a:t>
            </a:r>
            <a:r>
              <a:rPr sz="2100" b="1" dirty="0">
                <a:latin typeface="微软雅黑"/>
                <a:cs typeface="微软雅黑"/>
              </a:rPr>
              <a:t>录</a:t>
            </a:r>
            <a:endParaRPr sz="2100" dirty="0">
              <a:latin typeface="微软雅黑"/>
              <a:cs typeface="微软雅黑"/>
            </a:endParaRPr>
          </a:p>
          <a:p>
            <a:pPr marL="819785" indent="-155575">
              <a:lnSpc>
                <a:spcPct val="100000"/>
              </a:lnSpc>
              <a:spcBef>
                <a:spcPts val="2120"/>
              </a:spcBef>
              <a:buClr>
                <a:srgbClr val="333333"/>
              </a:buClr>
              <a:buFont typeface="Arial"/>
              <a:buChar char="•"/>
              <a:tabLst>
                <a:tab pos="820419" algn="l"/>
              </a:tabLst>
            </a:pP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2" action="ppaction://hlinksldjump"/>
              </a:rPr>
              <a:t>电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子商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2" action="ppaction://hlinksldjump"/>
              </a:rPr>
              <a:t>务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管理系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2" action="ppaction://hlinksldjump"/>
              </a:rPr>
              <a:t>统设计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文档</a:t>
            </a:r>
            <a:endParaRPr sz="1200" dirty="0">
              <a:latin typeface="MS Gothic"/>
              <a:cs typeface="MS Gothic"/>
            </a:endParaRPr>
          </a:p>
          <a:p>
            <a:pPr marL="819785" indent="-155575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0419" algn="l"/>
              </a:tabLst>
            </a:pP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目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2" action="ppaction://hlinksldjump"/>
              </a:rPr>
              <a:t>录</a:t>
            </a:r>
            <a:endParaRPr sz="1200" dirty="0">
              <a:latin typeface="微软雅黑"/>
              <a:cs typeface="微软雅黑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◦"/>
              <a:tabLst>
                <a:tab pos="1633220" algn="l"/>
              </a:tabLst>
            </a:pP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目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2" action="ppaction://hlinksldjump"/>
              </a:rPr>
              <a:t>录</a:t>
            </a:r>
            <a:endParaRPr sz="1200" dirty="0">
              <a:latin typeface="微软雅黑"/>
              <a:cs typeface="微软雅黑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1.</a:t>
            </a:r>
            <a:r>
              <a:rPr sz="1200" spc="-9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概述</a:t>
            </a:r>
            <a:endParaRPr sz="1200" dirty="0">
              <a:latin typeface="MS Gothic"/>
              <a:cs typeface="MS Gothic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2.</a:t>
            </a:r>
            <a:r>
              <a:rPr sz="1200" spc="-9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背景</a:t>
            </a:r>
            <a:endParaRPr sz="1200" dirty="0">
              <a:latin typeface="MS Gothic"/>
              <a:cs typeface="MS Gothic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3.</a:t>
            </a:r>
            <a:r>
              <a:rPr sz="1200" spc="-9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系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统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概述</a:t>
            </a:r>
            <a:endParaRPr sz="1200" dirty="0">
              <a:latin typeface="MS Gothic"/>
              <a:cs typeface="MS Gothic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4" action="ppaction://hlinksldjump"/>
              </a:rPr>
              <a:t>4.</a:t>
            </a:r>
            <a:r>
              <a:rPr sz="1200" spc="-95" dirty="0">
                <a:solidFill>
                  <a:srgbClr val="0088C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4" action="ppaction://hlinksldjump"/>
              </a:rPr>
              <a:t>功能需求</a:t>
            </a:r>
            <a:endParaRPr sz="1200" dirty="0">
              <a:latin typeface="MS Gothic"/>
              <a:cs typeface="MS Gothic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5" action="ppaction://hlinksldjump"/>
              </a:rPr>
              <a:t>5.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5" action="ppaction://hlinksldjump"/>
              </a:rPr>
              <a:t>非功能需求</a:t>
            </a:r>
            <a:endParaRPr sz="1200" dirty="0">
              <a:latin typeface="MS Gothic"/>
              <a:cs typeface="MS Gothic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6" action="ppaction://hlinksldjump"/>
              </a:rPr>
              <a:t>6.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6" action="ppaction://hlinksldjump"/>
              </a:rPr>
              <a:t>系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6" action="ppaction://hlinksldjump"/>
              </a:rPr>
              <a:t>统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6" action="ppaction://hlinksldjump"/>
              </a:rPr>
              <a:t>架构</a:t>
            </a:r>
            <a:endParaRPr sz="1200" dirty="0">
              <a:latin typeface="MS Gothic"/>
              <a:cs typeface="MS Gothic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7" action="ppaction://hlinksldjump"/>
              </a:rPr>
              <a:t>7.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数据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库设计</a:t>
            </a:r>
            <a:endParaRPr sz="1200" dirty="0">
              <a:latin typeface="微软雅黑"/>
              <a:cs typeface="微软雅黑"/>
            </a:endParaRPr>
          </a:p>
          <a:p>
            <a:pPr marL="244538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2446020" algn="l"/>
              </a:tabLst>
            </a:pP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8" action="ppaction://hlinksldjump"/>
              </a:rPr>
              <a:t>数据表</a:t>
            </a:r>
            <a:endParaRPr sz="1200" dirty="0">
              <a:latin typeface="MS Gothic"/>
              <a:cs typeface="MS Gothic"/>
            </a:endParaRPr>
          </a:p>
          <a:p>
            <a:pPr marL="3258185" lvl="3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8" action="ppaction://hlinksldjump"/>
              </a:rPr>
              <a:t>Consumers</a:t>
            </a:r>
            <a:endParaRPr sz="1200" dirty="0">
              <a:latin typeface="Arial"/>
              <a:cs typeface="Arial"/>
            </a:endParaRPr>
          </a:p>
          <a:p>
            <a:pPr marL="3258185" lvl="3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sz="1200" dirty="0">
                <a:solidFill>
                  <a:srgbClr val="0088CC"/>
                </a:solidFill>
                <a:latin typeface="Arial"/>
                <a:cs typeface="Arial"/>
                <a:hlinkClick r:id="rId8" action="ppaction://hlinksldjump"/>
              </a:rPr>
              <a:t>Merchants</a:t>
            </a:r>
            <a:endParaRPr sz="1200" dirty="0">
              <a:latin typeface="Arial"/>
              <a:cs typeface="Arial"/>
            </a:endParaRPr>
          </a:p>
          <a:p>
            <a:pPr marL="3258185" lvl="3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8" action="ppaction://hlinksldjump"/>
              </a:rPr>
              <a:t>Products</a:t>
            </a:r>
            <a:endParaRPr sz="1200" dirty="0">
              <a:latin typeface="Arial"/>
              <a:cs typeface="Arial"/>
            </a:endParaRPr>
          </a:p>
          <a:p>
            <a:pPr marL="3258185" lvl="3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8" action="ppaction://hlinksldjump"/>
              </a:rPr>
              <a:t>Orders</a:t>
            </a:r>
            <a:endParaRPr sz="1200" dirty="0">
              <a:latin typeface="Arial"/>
              <a:cs typeface="Arial"/>
            </a:endParaRPr>
          </a:p>
          <a:p>
            <a:pPr marL="3258185" lvl="3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8" action="ppaction://hlinksldjump"/>
              </a:rPr>
              <a:t>Addresses</a:t>
            </a:r>
            <a:endParaRPr sz="1200" dirty="0">
              <a:latin typeface="Arial"/>
              <a:cs typeface="Arial"/>
            </a:endParaRPr>
          </a:p>
          <a:p>
            <a:pPr marL="3258185" lvl="3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9" action="ppaction://hlinksldjump"/>
              </a:rPr>
              <a:t>Payments</a:t>
            </a:r>
            <a:endParaRPr sz="1200" dirty="0">
              <a:latin typeface="Arial"/>
              <a:cs typeface="Arial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9" action="ppaction://hlinksldjump"/>
              </a:rPr>
              <a:t>8.</a:t>
            </a:r>
            <a:r>
              <a:rPr sz="1200" spc="-95" dirty="0">
                <a:solidFill>
                  <a:srgbClr val="0088CC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9" action="ppaction://hlinksldjump"/>
              </a:rPr>
              <a:t>界面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9" action="ppaction://hlinksldjump"/>
              </a:rPr>
              <a:t>设计</a:t>
            </a:r>
            <a:endParaRPr sz="1200" dirty="0">
              <a:latin typeface="微软雅黑"/>
              <a:cs typeface="微软雅黑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9" action="ppaction://hlinksldjump"/>
              </a:rPr>
              <a:t>9.</a:t>
            </a:r>
            <a:r>
              <a:rPr sz="1200" spc="-95" dirty="0">
                <a:solidFill>
                  <a:srgbClr val="0088CC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9" action="ppaction://hlinksldjump"/>
              </a:rPr>
              <a:t>详细设计</a:t>
            </a:r>
            <a:endParaRPr sz="1200" dirty="0">
              <a:latin typeface="微软雅黑"/>
              <a:cs typeface="微软雅黑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0" action="ppaction://hlinksldjump"/>
              </a:rPr>
              <a:t>10.</a:t>
            </a:r>
            <a:r>
              <a:rPr sz="1200" spc="-95" dirty="0">
                <a:solidFill>
                  <a:srgbClr val="0088CC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0" action="ppaction://hlinksldjump"/>
              </a:rPr>
              <a:t>测试计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0" action="ppaction://hlinksldjump"/>
              </a:rPr>
              <a:t>划</a:t>
            </a:r>
            <a:endParaRPr sz="1200" dirty="0">
              <a:latin typeface="MS Gothic"/>
              <a:cs typeface="MS Gothic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35" dirty="0">
                <a:solidFill>
                  <a:srgbClr val="0088CC"/>
                </a:solidFill>
                <a:latin typeface="Arial"/>
                <a:cs typeface="Arial"/>
                <a:hlinkClick r:id="rId11" action="ppaction://hlinksldjump"/>
              </a:rPr>
              <a:t>11.</a:t>
            </a:r>
            <a:r>
              <a:rPr sz="1200" spc="-90" dirty="0">
                <a:solidFill>
                  <a:srgbClr val="0088CC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1" action="ppaction://hlinksldjump"/>
              </a:rPr>
              <a:t>维护计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1" action="ppaction://hlinksldjump"/>
              </a:rPr>
              <a:t>划</a:t>
            </a:r>
            <a:endParaRPr sz="1200" dirty="0">
              <a:latin typeface="MS Gothic"/>
              <a:cs typeface="MS Gothic"/>
            </a:endParaRPr>
          </a:p>
          <a:p>
            <a:pPr marL="163258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332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1" action="ppaction://hlinksldjump"/>
              </a:rPr>
              <a:t>12.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1" action="ppaction://hlinksldjump"/>
              </a:rPr>
              <a:t>数据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1" action="ppaction://hlinksldjump"/>
              </a:rPr>
              <a:t>库规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1" action="ppaction://hlinksldjump"/>
              </a:rPr>
              <a:t>范化</a:t>
            </a:r>
            <a:endParaRPr sz="1200" dirty="0">
              <a:latin typeface="MS Gothic"/>
              <a:cs typeface="MS Gothic"/>
            </a:endParaRPr>
          </a:p>
          <a:p>
            <a:pPr marL="244538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24460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1" action="ppaction://hlinksldjump"/>
              </a:rPr>
              <a:t>1. Consumers</a:t>
            </a:r>
            <a:r>
              <a:rPr sz="1200" spc="-10" dirty="0">
                <a:solidFill>
                  <a:srgbClr val="0088CC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1" action="ppaction://hlinksldjump"/>
              </a:rPr>
              <a:t>表</a:t>
            </a:r>
            <a:endParaRPr sz="1200" dirty="0">
              <a:latin typeface="MS Gothic"/>
              <a:cs typeface="MS Gothic"/>
            </a:endParaRPr>
          </a:p>
          <a:p>
            <a:pPr marL="244538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24460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2. </a:t>
            </a:r>
            <a:r>
              <a:rPr sz="1200" dirty="0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Merchants</a:t>
            </a:r>
            <a:r>
              <a:rPr sz="1200" spc="-15" dirty="0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表</a:t>
            </a:r>
            <a:endParaRPr sz="1200" dirty="0">
              <a:latin typeface="MS Gothic"/>
              <a:cs typeface="MS Gothic"/>
            </a:endParaRPr>
          </a:p>
          <a:p>
            <a:pPr marL="244538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24460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3. Products</a:t>
            </a:r>
            <a:r>
              <a:rPr sz="1200" dirty="0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表</a:t>
            </a:r>
            <a:endParaRPr sz="1200" dirty="0">
              <a:latin typeface="MS Gothic"/>
              <a:cs typeface="MS Gothic"/>
            </a:endParaRPr>
          </a:p>
          <a:p>
            <a:pPr marL="244538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244602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3" action="ppaction://hlinksldjump"/>
              </a:rPr>
              <a:t>4. Orders</a:t>
            </a:r>
            <a:r>
              <a:rPr sz="1200" dirty="0">
                <a:solidFill>
                  <a:srgbClr val="0088CC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表</a:t>
            </a:r>
            <a:endParaRPr sz="1200" dirty="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1400" y="1270000"/>
            <a:ext cx="3175000" cy="63607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sz="800" b="1" i="1" dirty="0">
                <a:latin typeface="Arial"/>
                <a:cs typeface="Arial"/>
                <a:hlinkClick r:id="rId14"/>
              </a:rPr>
              <a:t>www.princexml.com</a:t>
            </a:r>
            <a:endParaRPr sz="800" dirty="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sz="1000" dirty="0">
                <a:latin typeface="Arial"/>
                <a:cs typeface="Arial"/>
              </a:rPr>
              <a:t>--------------------------------------------</a:t>
            </a:r>
          </a:p>
          <a:p>
            <a:pPr marL="25400" marR="17780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This document was created with Prince, a great way of  </a:t>
            </a:r>
            <a:r>
              <a:rPr sz="1000" spc="-360" dirty="0">
                <a:latin typeface="Arial"/>
                <a:cs typeface="Arial"/>
              </a:rPr>
              <a:t>getting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web content onto paper.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43075" y="634494"/>
            <a:ext cx="4906010" cy="85598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981075" indent="-156210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Char char="▪"/>
              <a:tabLst>
                <a:tab pos="9817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2" action="ppaction://hlinksldjump"/>
              </a:rPr>
              <a:t>5. Addresses</a:t>
            </a:r>
            <a:r>
              <a:rPr sz="1200" spc="15" dirty="0">
                <a:solidFill>
                  <a:srgbClr val="0088C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marL="98107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9817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6. Payments</a:t>
            </a:r>
            <a:r>
              <a:rPr sz="1200" spc="10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marL="98107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981710" algn="l"/>
              </a:tabLst>
            </a:pP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证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明</a:t>
            </a:r>
            <a:endParaRPr sz="1200">
              <a:latin typeface="MS Gothic"/>
              <a:cs typeface="MS Gothic"/>
            </a:endParaRPr>
          </a:p>
          <a:p>
            <a:pPr marL="16827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◦"/>
              <a:tabLst>
                <a:tab pos="1689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13. 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实现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的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评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分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项说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明</a:t>
            </a:r>
            <a:endParaRPr sz="1200">
              <a:latin typeface="MS Gothic"/>
              <a:cs typeface="MS Gothic"/>
            </a:endParaRPr>
          </a:p>
          <a:p>
            <a:pPr marL="16827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◦"/>
              <a:tabLst>
                <a:tab pos="168910" algn="l"/>
              </a:tabLst>
            </a:pP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该项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目完成了全部的任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务</a:t>
            </a:r>
            <a:endParaRPr sz="1200">
              <a:latin typeface="微软雅黑"/>
              <a:cs typeface="微软雅黑"/>
            </a:endParaRPr>
          </a:p>
          <a:p>
            <a:pPr marL="981075" marR="46990" lvl="1" indent="-156210">
              <a:lnSpc>
                <a:spcPct val="133300"/>
              </a:lnSpc>
              <a:buClr>
                <a:srgbClr val="333333"/>
              </a:buClr>
              <a:buChar char="▪"/>
              <a:tabLst>
                <a:tab pos="9817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1.</a:t>
            </a:r>
            <a:r>
              <a:rPr sz="1200" spc="-7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使用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Gauss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数据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库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，至少六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张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表，含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ER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图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，范式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证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明，  提交数据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库语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句与数据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库备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份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17945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4" action="ppaction://hlinksldjump"/>
              </a:rPr>
              <a:t>1. Consumers</a:t>
            </a:r>
            <a:r>
              <a:rPr sz="1200" dirty="0">
                <a:solidFill>
                  <a:srgbClr val="0088C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4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17945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4" action="ppaction://hlinksldjump"/>
              </a:rPr>
              <a:t>2. </a:t>
            </a:r>
            <a:r>
              <a:rPr sz="1200" dirty="0">
                <a:solidFill>
                  <a:srgbClr val="0088CC"/>
                </a:solidFill>
                <a:latin typeface="Arial"/>
                <a:cs typeface="Arial"/>
                <a:hlinkClick r:id="rId4" action="ppaction://hlinksldjump"/>
              </a:rPr>
              <a:t>Merchants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4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17945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4" action="ppaction://hlinksldjump"/>
              </a:rPr>
              <a:t>3. Products</a:t>
            </a:r>
            <a:r>
              <a:rPr sz="1200" spc="10" dirty="0">
                <a:solidFill>
                  <a:srgbClr val="0088C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4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17945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5" action="ppaction://hlinksldjump"/>
              </a:rPr>
              <a:t>4. Orders</a:t>
            </a:r>
            <a:r>
              <a:rPr sz="1200" spc="5" dirty="0">
                <a:solidFill>
                  <a:srgbClr val="0088CC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5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17945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5" action="ppaction://hlinksldjump"/>
              </a:rPr>
              <a:t>5. Addresses</a:t>
            </a:r>
            <a:r>
              <a:rPr sz="1200" spc="15" dirty="0">
                <a:solidFill>
                  <a:srgbClr val="0088CC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5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17945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6" action="ppaction://hlinksldjump"/>
              </a:rPr>
              <a:t>6. Payments</a:t>
            </a:r>
            <a:r>
              <a:rPr sz="1200" spc="10" dirty="0">
                <a:solidFill>
                  <a:srgbClr val="0088CC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6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17945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6" action="ppaction://hlinksldjump"/>
              </a:rPr>
              <a:t>BCNF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6" action="ppaction://hlinksldjump"/>
              </a:rPr>
              <a:t>证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6" action="ppaction://hlinksldjump"/>
              </a:rPr>
              <a:t>明</a:t>
            </a:r>
            <a:endParaRPr sz="1200">
              <a:latin typeface="MS Gothic"/>
              <a:cs typeface="MS Gothic"/>
            </a:endParaRPr>
          </a:p>
          <a:p>
            <a:pPr marL="981075" marR="89535" lvl="1" indent="-156210">
              <a:lnSpc>
                <a:spcPct val="133300"/>
              </a:lnSpc>
              <a:buClr>
                <a:srgbClr val="333333"/>
              </a:buClr>
              <a:buChar char="▪"/>
              <a:tabLst>
                <a:tab pos="9817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</a:rPr>
              <a:t>2.</a:t>
            </a:r>
            <a:r>
              <a:rPr sz="1200" spc="-90" dirty="0">
                <a:solidFill>
                  <a:srgbClr val="0088C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实现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表的增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删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改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查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，提交了功能需求和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设计说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明，提交 了使用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说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明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书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、源代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码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和可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执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行文件</a:t>
            </a:r>
            <a:endParaRPr sz="1200">
              <a:latin typeface="MS Gothic"/>
              <a:cs typeface="MS Gothic"/>
            </a:endParaRPr>
          </a:p>
          <a:p>
            <a:pPr marL="98107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9817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6" action="ppaction://hlinksldjump"/>
              </a:rPr>
              <a:t>3.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6" action="ppaction://hlinksldjump"/>
              </a:rPr>
              <a:t>有界面表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6" action="ppaction://hlinksldjump"/>
              </a:rPr>
              <a:t>级联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6" action="ppaction://hlinksldjump"/>
              </a:rPr>
              <a:t>操作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1794510" algn="l"/>
              </a:tabLst>
            </a:pP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6" action="ppaction://hlinksldjump"/>
              </a:rPr>
              <a:t>表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6" action="ppaction://hlinksldjump"/>
              </a:rPr>
              <a:t>级联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6" action="ppaction://hlinksldjump"/>
              </a:rPr>
              <a:t>操作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6" action="ppaction://hlinksldjump"/>
              </a:rPr>
              <a:t>证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6" action="ppaction://hlinksldjump"/>
              </a:rPr>
              <a:t>明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17945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7" action="ppaction://hlinksldjump"/>
              </a:rPr>
              <a:t>1. 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删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除商家及其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产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品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17945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7" action="ppaction://hlinksldjump"/>
              </a:rPr>
              <a:t>2.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删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除消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费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者及其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订单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和地址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17945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7" action="ppaction://hlinksldjump"/>
              </a:rPr>
              <a:t>3.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删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除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订单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及其付款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记录</a:t>
            </a:r>
            <a:endParaRPr sz="1200">
              <a:latin typeface="微软雅黑"/>
              <a:cs typeface="微软雅黑"/>
            </a:endParaRPr>
          </a:p>
          <a:p>
            <a:pPr marL="98107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9817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8" action="ppaction://hlinksldjump"/>
              </a:rPr>
              <a:t>4.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8" action="ppaction://hlinksldjump"/>
              </a:rPr>
              <a:t>有多个用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8" action="ppaction://hlinksldjump"/>
              </a:rPr>
              <a:t>户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8" action="ppaction://hlinksldjump"/>
              </a:rPr>
              <a:t>及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8" action="ppaction://hlinksldjump"/>
              </a:rPr>
              <a:t>链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8" action="ppaction://hlinksldjump"/>
              </a:rPr>
              <a:t>接</a:t>
            </a:r>
            <a:endParaRPr sz="1200">
              <a:latin typeface="MS Gothic"/>
              <a:cs typeface="MS Gothic"/>
            </a:endParaRPr>
          </a:p>
          <a:p>
            <a:pPr marL="98107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9817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9" action="ppaction://hlinksldjump"/>
              </a:rPr>
              <a:t>5. 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9" action="ppaction://hlinksldjump"/>
              </a:rPr>
              <a:t>应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9" action="ppaction://hlinksldjump"/>
              </a:rPr>
              <a:t>用用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9" action="ppaction://hlinksldjump"/>
              </a:rPr>
              <a:t>户权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9" action="ppaction://hlinksldjump"/>
              </a:rPr>
              <a:t>限管理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1794510" algn="l"/>
              </a:tabLst>
            </a:pP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9" action="ppaction://hlinksldjump"/>
              </a:rPr>
              <a:t>消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9" action="ppaction://hlinksldjump"/>
              </a:rPr>
              <a:t>费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9" action="ppaction://hlinksldjump"/>
              </a:rPr>
              <a:t>者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9" action="ppaction://hlinksldjump"/>
              </a:rPr>
              <a:t>权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9" action="ppaction://hlinksldjump"/>
              </a:rPr>
              <a:t>限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1794510" algn="l"/>
              </a:tabLst>
            </a:pP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9" action="ppaction://hlinksldjump"/>
              </a:rPr>
              <a:t>商家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9" action="ppaction://hlinksldjump"/>
              </a:rPr>
              <a:t>权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9" action="ppaction://hlinksldjump"/>
              </a:rPr>
              <a:t>限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1794510" algn="l"/>
              </a:tabLst>
            </a:pP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0" action="ppaction://hlinksldjump"/>
              </a:rPr>
              <a:t>实现权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0" action="ppaction://hlinksldjump"/>
              </a:rPr>
              <a:t>限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0" action="ppaction://hlinksldjump"/>
              </a:rPr>
              <a:t>检查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0" action="ppaction://hlinksldjump"/>
              </a:rPr>
              <a:t>的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0" action="ppaction://hlinksldjump"/>
              </a:rPr>
              <a:t>逻辑</a:t>
            </a:r>
            <a:endParaRPr sz="1200">
              <a:latin typeface="微软雅黑"/>
              <a:cs typeface="微软雅黑"/>
            </a:endParaRPr>
          </a:p>
          <a:p>
            <a:pPr marL="98107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9817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1" action="ppaction://hlinksldjump"/>
              </a:rPr>
              <a:t>6. 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1" action="ppaction://hlinksldjump"/>
              </a:rPr>
              <a:t>视图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1" action="ppaction://hlinksldjump"/>
              </a:rPr>
              <a:t>和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1" action="ppaction://hlinksldjump"/>
              </a:rPr>
              <a:t>动态</a:t>
            </a:r>
            <a:r>
              <a:rPr sz="1200" spc="-25" dirty="0">
                <a:solidFill>
                  <a:srgbClr val="0088CC"/>
                </a:solidFill>
                <a:latin typeface="微软雅黑"/>
                <a:cs typeface="微软雅黑"/>
                <a:hlinkClick r:id="rId11" action="ppaction://hlinksldjump"/>
              </a:rPr>
              <a:t> 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1" action="ppaction://hlinksldjump"/>
              </a:rPr>
              <a:t>SQL</a:t>
            </a:r>
            <a:endParaRPr sz="1200">
              <a:latin typeface="Arial"/>
              <a:cs typeface="Arial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1794510" algn="l"/>
              </a:tabLst>
            </a:pP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1" action="ppaction://hlinksldjump"/>
              </a:rPr>
              <a:t>视图</a:t>
            </a:r>
            <a:endParaRPr sz="1200">
              <a:latin typeface="微软雅黑"/>
              <a:cs typeface="微软雅黑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1794510" algn="l"/>
              </a:tabLst>
            </a:pP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动态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SQL</a:t>
            </a:r>
            <a:endParaRPr sz="1200">
              <a:latin typeface="Arial"/>
              <a:cs typeface="Arial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1794510" algn="l"/>
              </a:tabLst>
            </a:pP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视图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和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动态</a:t>
            </a:r>
            <a:r>
              <a:rPr sz="1200" spc="-30" dirty="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 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SQL</a:t>
            </a:r>
            <a:r>
              <a:rPr sz="1200" dirty="0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的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结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合</a:t>
            </a:r>
            <a:endParaRPr sz="1200">
              <a:latin typeface="MS Gothic"/>
              <a:cs typeface="MS Gothic"/>
            </a:endParaRPr>
          </a:p>
          <a:p>
            <a:pPr marL="981075" lvl="1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9817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7.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存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储过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程</a:t>
            </a:r>
            <a:r>
              <a:rPr sz="1200" dirty="0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-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函数</a:t>
            </a:r>
            <a:r>
              <a:rPr sz="1200" dirty="0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-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触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发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器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1794510" algn="l"/>
              </a:tabLst>
            </a:pP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储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存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过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程</a:t>
            </a:r>
            <a:endParaRPr sz="1200">
              <a:latin typeface="MS Gothic"/>
              <a:cs typeface="MS Gothic"/>
            </a:endParaRPr>
          </a:p>
          <a:p>
            <a:pPr marL="1793875" lvl="2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1794510" algn="l"/>
              </a:tabLst>
            </a:pP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触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3" action="ppaction://hlinksldjump"/>
              </a:rPr>
              <a:t>发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器</a:t>
            </a:r>
            <a:r>
              <a:rPr sz="1200" spc="-275" dirty="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 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13" action="ppaction://hlinksldjump"/>
              </a:rPr>
              <a:t>(Trigger)</a:t>
            </a:r>
            <a:endParaRPr sz="1200">
              <a:latin typeface="Arial"/>
              <a:cs typeface="Arial"/>
            </a:endParaRPr>
          </a:p>
          <a:p>
            <a:pPr marL="2606675" lvl="3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2607310" algn="l"/>
              </a:tabLst>
            </a:pP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4" action="ppaction://hlinksldjump"/>
              </a:rPr>
              <a:t>示例：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4" action="ppaction://hlinksldjump"/>
              </a:rPr>
              <a:t>创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4" action="ppaction://hlinksldjump"/>
              </a:rPr>
              <a:t>建一个触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4" action="ppaction://hlinksldjump"/>
              </a:rPr>
              <a:t>发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4" action="ppaction://hlinksldjump"/>
              </a:rPr>
              <a:t>器在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4" action="ppaction://hlinksldjump"/>
              </a:rPr>
              <a:t>订单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4" action="ppaction://hlinksldjump"/>
              </a:rPr>
              <a:t>插入</a:t>
            </a:r>
            <a:endParaRPr sz="1200">
              <a:latin typeface="MS Gothic"/>
              <a:cs typeface="MS Gothic"/>
            </a:endParaRPr>
          </a:p>
          <a:p>
            <a:pPr marL="2606675">
              <a:lnSpc>
                <a:spcPct val="100000"/>
              </a:lnSpc>
              <a:spcBef>
                <a:spcPts val="480"/>
              </a:spcBef>
            </a:pP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4" action="ppaction://hlinksldjump"/>
              </a:rPr>
              <a:t>时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4" action="ppaction://hlinksldjump"/>
              </a:rPr>
              <a:t>自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4" action="ppaction://hlinksldjump"/>
              </a:rPr>
              <a:t>动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4" action="ppaction://hlinksldjump"/>
              </a:rPr>
              <a:t>更新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4" action="ppaction://hlinksldjump"/>
              </a:rPr>
              <a:t>产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4" action="ppaction://hlinksldjump"/>
              </a:rPr>
              <a:t>品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14" action="ppaction://hlinksldjump"/>
              </a:rPr>
              <a:t>库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14" action="ppaction://hlinksldjump"/>
              </a:rPr>
              <a:t>存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5875" y="695454"/>
            <a:ext cx="2086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 indent="-156210">
              <a:lnSpc>
                <a:spcPct val="100000"/>
              </a:lnSpc>
              <a:spcBef>
                <a:spcPts val="100"/>
              </a:spcBef>
              <a:buClr>
                <a:srgbClr val="333333"/>
              </a:buClr>
              <a:buChar char="▪"/>
              <a:tabLst>
                <a:tab pos="168910" algn="l"/>
              </a:tabLst>
            </a:pP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2" action="ppaction://hlinksldjump"/>
              </a:rPr>
              <a:t>8</a:t>
            </a:r>
            <a:r>
              <a:rPr sz="1200" dirty="0">
                <a:solidFill>
                  <a:srgbClr val="0088CC"/>
                </a:solidFill>
                <a:latin typeface="Arial"/>
                <a:cs typeface="Arial"/>
                <a:hlinkClick r:id="rId2" action="ppaction://hlinksldjump"/>
              </a:rPr>
              <a:t>.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待用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  <a:hlinkClick r:id="rId2" action="ppaction://hlinksldjump"/>
              </a:rPr>
              <a:t>delph</a:t>
            </a:r>
            <a:r>
              <a:rPr sz="1200" dirty="0">
                <a:solidFill>
                  <a:srgbClr val="0088CC"/>
                </a:solidFill>
                <a:latin typeface="Arial"/>
                <a:cs typeface="Arial"/>
                <a:hlinkClick r:id="rId2" action="ppaction://hlinksldjump"/>
              </a:rPr>
              <a:t>i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中至少五个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  <a:hlinkClick r:id="rId2" action="ppaction://hlinksldjump"/>
              </a:rPr>
              <a:t>组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件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1169420"/>
            <a:ext cx="6324600" cy="804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2260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314960" algn="l"/>
              </a:tabLst>
            </a:pPr>
            <a:r>
              <a:rPr sz="2100" b="1" spc="-10" dirty="0">
                <a:latin typeface="MS Gothic"/>
                <a:cs typeface="MS Gothic"/>
              </a:rPr>
              <a:t>概述</a:t>
            </a:r>
            <a:endParaRPr sz="21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buFont typeface="Arial"/>
              <a:buAutoNum type="arabicPeriod"/>
            </a:pPr>
            <a:endParaRPr sz="1650">
              <a:latin typeface="MS Gothic"/>
              <a:cs typeface="MS Gothic"/>
            </a:endParaRPr>
          </a:p>
          <a:p>
            <a:pPr marL="825500" lvl="1" indent="-155575" algn="just">
              <a:lnSpc>
                <a:spcPct val="100000"/>
              </a:lnSpc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spc="20" dirty="0">
                <a:latin typeface="微软雅黑"/>
                <a:cs typeface="微软雅黑"/>
              </a:rPr>
              <a:t>项</a:t>
            </a:r>
            <a:r>
              <a:rPr sz="1200" b="1" spc="-5" dirty="0">
                <a:latin typeface="MS Gothic"/>
                <a:cs typeface="MS Gothic"/>
              </a:rPr>
              <a:t>目名</a:t>
            </a:r>
            <a:r>
              <a:rPr sz="1200" b="1" spc="-30" dirty="0">
                <a:latin typeface="MS Gothic"/>
                <a:cs typeface="MS Gothic"/>
              </a:rPr>
              <a:t>称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电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子商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务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管理系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统</a:t>
            </a:r>
            <a:endParaRPr sz="1200">
              <a:latin typeface="微软雅黑"/>
              <a:cs typeface="微软雅黑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文档版</a:t>
            </a:r>
            <a:r>
              <a:rPr sz="1200" b="1" spc="-30" dirty="0">
                <a:latin typeface="MS Gothic"/>
                <a:cs typeface="MS Gothic"/>
              </a:rPr>
              <a:t>本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1.0.0</a:t>
            </a:r>
            <a:endParaRPr sz="1200">
              <a:latin typeface="Arial"/>
              <a:cs typeface="Arial"/>
            </a:endParaRPr>
          </a:p>
          <a:p>
            <a:pPr marL="825500" lvl="1" indent="-155575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spc="20" dirty="0">
                <a:latin typeface="微软雅黑"/>
                <a:cs typeface="微软雅黑"/>
              </a:rPr>
              <a:t>创</a:t>
            </a:r>
            <a:r>
              <a:rPr sz="1200" b="1" spc="-5" dirty="0">
                <a:latin typeface="MS Gothic"/>
                <a:cs typeface="MS Gothic"/>
              </a:rPr>
              <a:t>建日</a:t>
            </a:r>
            <a:r>
              <a:rPr sz="1200" b="1" spc="-30" dirty="0">
                <a:latin typeface="MS Gothic"/>
                <a:cs typeface="MS Gothic"/>
              </a:rPr>
              <a:t>期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2024/5/30</a:t>
            </a:r>
            <a:endParaRPr sz="1200">
              <a:latin typeface="Arial"/>
              <a:cs typeface="Arial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作</a:t>
            </a:r>
            <a:r>
              <a:rPr sz="1200" b="1" spc="-30" dirty="0">
                <a:latin typeface="MS Gothic"/>
                <a:cs typeface="MS Gothic"/>
              </a:rPr>
              <a:t>者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俞乐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楠</a:t>
            </a:r>
            <a:r>
              <a:rPr sz="1200" spc="-2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1120221303</a:t>
            </a:r>
            <a:endParaRPr sz="1200">
              <a:latin typeface="Arial"/>
              <a:cs typeface="Arial"/>
            </a:endParaRPr>
          </a:p>
          <a:p>
            <a:pPr marL="825500" marR="5080" lvl="1" indent="-155575" algn="just">
              <a:lnSpc>
                <a:spcPct val="133300"/>
              </a:lnSpc>
              <a:spcBef>
                <a:spcPts val="5"/>
              </a:spcBef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spc="20" dirty="0">
                <a:latin typeface="微软雅黑"/>
                <a:cs typeface="微软雅黑"/>
              </a:rPr>
              <a:t>项</a:t>
            </a:r>
            <a:r>
              <a:rPr sz="1200" b="1" spc="-5" dirty="0">
                <a:latin typeface="MS Gothic"/>
                <a:cs typeface="MS Gothic"/>
              </a:rPr>
              <a:t>目描</a:t>
            </a:r>
            <a:r>
              <a:rPr sz="1200" b="1" spc="-30" dirty="0">
                <a:latin typeface="MS Gothic"/>
                <a:cs typeface="MS Gothic"/>
              </a:rPr>
              <a:t>述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：本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目旨在开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发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一个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电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子商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务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管理系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统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，支持消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者和商家在平台上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进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行商品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购买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销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售的操作。系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统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提供用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注册、登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、商品搜索、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管理、支付 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理、地址管理等功能，旨在提高交易效率，提升用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体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验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333333"/>
              </a:buClr>
              <a:buFont typeface="Arial"/>
              <a:buChar char="•"/>
            </a:pPr>
            <a:endParaRPr sz="1750">
              <a:latin typeface="MS Gothic"/>
              <a:cs typeface="MS Gothic"/>
            </a:endParaRPr>
          </a:p>
          <a:p>
            <a:pPr marL="314325" indent="-302260">
              <a:lnSpc>
                <a:spcPct val="100000"/>
              </a:lnSpc>
              <a:spcBef>
                <a:spcPts val="5"/>
              </a:spcBef>
              <a:buFont typeface="Arial"/>
              <a:buAutoNum type="arabicPeriod"/>
              <a:tabLst>
                <a:tab pos="314960" algn="l"/>
              </a:tabLst>
            </a:pPr>
            <a:r>
              <a:rPr sz="2100" b="1" spc="-10" dirty="0">
                <a:latin typeface="MS Gothic"/>
                <a:cs typeface="MS Gothic"/>
              </a:rPr>
              <a:t>背景</a:t>
            </a:r>
            <a:endParaRPr sz="2100">
              <a:latin typeface="MS Gothic"/>
              <a:cs typeface="MS Gothic"/>
            </a:endParaRPr>
          </a:p>
          <a:p>
            <a:pPr marL="825500" marR="5080" lvl="1" indent="-155575" algn="just">
              <a:lnSpc>
                <a:spcPct val="133300"/>
              </a:lnSpc>
              <a:spcBef>
                <a:spcPts val="1635"/>
              </a:spcBef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dirty="0">
                <a:latin typeface="微软雅黑"/>
                <a:cs typeface="微软雅黑"/>
              </a:rPr>
              <a:t>问题</a:t>
            </a:r>
            <a:r>
              <a:rPr sz="1200" b="1" spc="20" dirty="0">
                <a:latin typeface="微软雅黑"/>
                <a:cs typeface="微软雅黑"/>
              </a:rPr>
              <a:t>陈</a:t>
            </a:r>
            <a:r>
              <a:rPr sz="1200" b="1" spc="-30" dirty="0">
                <a:latin typeface="MS Gothic"/>
                <a:cs typeface="MS Gothic"/>
              </a:rPr>
              <a:t>述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：当前市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场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上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电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子商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务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平台种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类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繁多，但很多中小型商家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以找到一个既 能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满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足其需求，又具有良好用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体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验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的平台。同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时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，消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者在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选择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商品和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购买过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程 中也存在各种不便。</a:t>
            </a:r>
            <a:endParaRPr sz="1200">
              <a:latin typeface="MS Gothic"/>
              <a:cs typeface="MS Gothic"/>
            </a:endParaRPr>
          </a:p>
          <a:p>
            <a:pPr marL="825500" marR="5080" lvl="1" indent="-155575" algn="just">
              <a:lnSpc>
                <a:spcPct val="133300"/>
              </a:lnSpc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30" dirty="0">
                <a:latin typeface="MS Gothic"/>
                <a:cs typeface="MS Gothic"/>
              </a:rPr>
              <a:t>目</a:t>
            </a:r>
            <a:r>
              <a:rPr sz="1200" b="1" dirty="0">
                <a:latin typeface="微软雅黑"/>
                <a:cs typeface="微软雅黑"/>
              </a:rPr>
              <a:t>标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：开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发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一个高效、易用的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电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子商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务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管理系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统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，方便商家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进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行商品管理和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销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售， 帮助消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者快速找到所需商品并完成交易。</a:t>
            </a:r>
            <a:endParaRPr sz="1200">
              <a:latin typeface="MS Gothic"/>
              <a:cs typeface="MS Gothic"/>
            </a:endParaRPr>
          </a:p>
          <a:p>
            <a:pPr marL="828040" lvl="1" indent="-158750" algn="just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受</a:t>
            </a:r>
            <a:r>
              <a:rPr sz="1200" b="1" spc="-30" dirty="0">
                <a:latin typeface="MS Gothic"/>
                <a:cs typeface="MS Gothic"/>
              </a:rPr>
              <a:t>众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：中小型商家、普通消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者、平台管理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员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333333"/>
              </a:buClr>
              <a:buFont typeface="Arial"/>
              <a:buChar char="•"/>
            </a:pPr>
            <a:endParaRPr sz="1750">
              <a:latin typeface="MS Gothic"/>
              <a:cs typeface="MS Gothic"/>
            </a:endParaRPr>
          </a:p>
          <a:p>
            <a:pPr marL="314325" indent="-302260">
              <a:lnSpc>
                <a:spcPct val="100000"/>
              </a:lnSpc>
              <a:buFont typeface="Arial"/>
              <a:buAutoNum type="arabicPeriod"/>
              <a:tabLst>
                <a:tab pos="314960" algn="l"/>
              </a:tabLst>
            </a:pPr>
            <a:r>
              <a:rPr sz="2100" b="1" spc="-55" dirty="0">
                <a:latin typeface="MS Gothic"/>
                <a:cs typeface="MS Gothic"/>
              </a:rPr>
              <a:t>系</a:t>
            </a:r>
            <a:r>
              <a:rPr sz="2100" b="1" spc="40" dirty="0">
                <a:latin typeface="微软雅黑"/>
                <a:cs typeface="微软雅黑"/>
              </a:rPr>
              <a:t>统</a:t>
            </a:r>
            <a:r>
              <a:rPr sz="2100" b="1" spc="-10" dirty="0">
                <a:latin typeface="MS Gothic"/>
                <a:cs typeface="MS Gothic"/>
              </a:rPr>
              <a:t>概述</a:t>
            </a:r>
            <a:endParaRPr sz="21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212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30" dirty="0">
                <a:latin typeface="MS Gothic"/>
                <a:cs typeface="MS Gothic"/>
              </a:rPr>
              <a:t>系</a:t>
            </a:r>
            <a:r>
              <a:rPr sz="1200" b="1" spc="20" dirty="0">
                <a:latin typeface="微软雅黑"/>
                <a:cs typeface="微软雅黑"/>
              </a:rPr>
              <a:t>统</a:t>
            </a:r>
            <a:r>
              <a:rPr sz="1200" b="1" spc="-5" dirty="0">
                <a:latin typeface="MS Gothic"/>
                <a:cs typeface="MS Gothic"/>
              </a:rPr>
              <a:t>功</a:t>
            </a:r>
            <a:r>
              <a:rPr sz="1200" b="1" spc="-30" dirty="0">
                <a:latin typeface="MS Gothic"/>
                <a:cs typeface="MS Gothic"/>
              </a:rPr>
              <a:t>能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注册和登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录</a:t>
            </a:r>
            <a:endParaRPr sz="1200">
              <a:latin typeface="微软雅黑"/>
              <a:cs typeface="微软雅黑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消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者商品搜索和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购买</a:t>
            </a:r>
            <a:endParaRPr sz="1200">
              <a:latin typeface="微软雅黑"/>
              <a:cs typeface="微软雅黑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商家商品管理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管理和状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跟踪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支付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理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地址管理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30" dirty="0">
                <a:latin typeface="MS Gothic"/>
                <a:cs typeface="MS Gothic"/>
              </a:rPr>
              <a:t>用</a:t>
            </a:r>
            <a:r>
              <a:rPr sz="1200" b="1" spc="20" dirty="0">
                <a:latin typeface="微软雅黑"/>
                <a:cs typeface="微软雅黑"/>
              </a:rPr>
              <a:t>户</a:t>
            </a:r>
            <a:r>
              <a:rPr sz="1200" b="1" spc="-5" dirty="0">
                <a:latin typeface="MS Gothic"/>
                <a:cs typeface="MS Gothic"/>
              </a:rPr>
              <a:t>角</a:t>
            </a:r>
            <a:r>
              <a:rPr sz="1200" b="1" spc="-30" dirty="0">
                <a:latin typeface="MS Gothic"/>
                <a:cs typeface="MS Gothic"/>
              </a:rPr>
              <a:t>色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  <a:p>
            <a:pPr marL="1640839" lvl="2" indent="-159385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◦"/>
              <a:tabLst>
                <a:tab pos="1641475" algn="l"/>
              </a:tabLst>
            </a:pPr>
            <a:r>
              <a:rPr sz="1200" b="1" spc="-30" dirty="0">
                <a:latin typeface="MS Gothic"/>
                <a:cs typeface="MS Gothic"/>
              </a:rPr>
              <a:t>消</a:t>
            </a:r>
            <a:r>
              <a:rPr sz="1200" b="1" spc="20" dirty="0">
                <a:latin typeface="微软雅黑"/>
                <a:cs typeface="微软雅黑"/>
              </a:rPr>
              <a:t>费</a:t>
            </a:r>
            <a:r>
              <a:rPr sz="1200" b="1" spc="-30" dirty="0">
                <a:latin typeface="MS Gothic"/>
                <a:cs typeface="MS Gothic"/>
              </a:rPr>
              <a:t>者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浏览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购买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商品，管理个人信息和地址，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看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1640839" lvl="2" indent="-159385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◦"/>
              <a:tabLst>
                <a:tab pos="1641475" algn="l"/>
              </a:tabLst>
            </a:pPr>
            <a:r>
              <a:rPr sz="1200" b="1" spc="-5" dirty="0">
                <a:latin typeface="MS Gothic"/>
                <a:cs typeface="MS Gothic"/>
              </a:rPr>
              <a:t>商</a:t>
            </a:r>
            <a:r>
              <a:rPr sz="1200" b="1" spc="-30" dirty="0">
                <a:latin typeface="MS Gothic"/>
                <a:cs typeface="MS Gothic"/>
              </a:rPr>
              <a:t>家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：管理商品信息，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看和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1640839" lvl="2" indent="-159385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◦"/>
              <a:tabLst>
                <a:tab pos="1641475" algn="l"/>
              </a:tabLst>
            </a:pPr>
            <a:r>
              <a:rPr sz="1200" b="1" spc="-5" dirty="0">
                <a:latin typeface="MS Gothic"/>
                <a:cs typeface="MS Gothic"/>
              </a:rPr>
              <a:t>管</a:t>
            </a:r>
            <a:r>
              <a:rPr sz="1200" b="1" spc="-30" dirty="0">
                <a:latin typeface="MS Gothic"/>
                <a:cs typeface="MS Gothic"/>
              </a:rPr>
              <a:t>理</a:t>
            </a:r>
            <a:r>
              <a:rPr sz="1200" b="1" dirty="0">
                <a:latin typeface="微软雅黑"/>
                <a:cs typeface="微软雅黑"/>
              </a:rPr>
              <a:t>员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：管理用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信息，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审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核商家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格，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维护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统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正常运行。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58879"/>
            <a:ext cx="5765800" cy="347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2260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4"/>
              <a:tabLst>
                <a:tab pos="314960" algn="l"/>
              </a:tabLst>
            </a:pPr>
            <a:r>
              <a:rPr sz="2100" b="1" spc="-10" dirty="0">
                <a:latin typeface="MS Gothic"/>
                <a:cs typeface="MS Gothic"/>
              </a:rPr>
              <a:t>功能需求</a:t>
            </a:r>
            <a:endParaRPr sz="21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buFont typeface="Arial"/>
              <a:buAutoNum type="arabicPeriod" startAt="4"/>
            </a:pPr>
            <a:endParaRPr sz="165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需求列</a:t>
            </a:r>
            <a:r>
              <a:rPr sz="1200" b="1" spc="-30" dirty="0">
                <a:latin typeface="MS Gothic"/>
                <a:cs typeface="MS Gothic"/>
              </a:rPr>
              <a:t>表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注册、登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销</a:t>
            </a:r>
            <a:endParaRPr sz="1200">
              <a:latin typeface="微软雅黑"/>
              <a:cs typeface="微软雅黑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消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者商品搜索、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看商品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详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情和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购买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商品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商家添加、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编辑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除商品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看和管理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态</a:t>
            </a:r>
            <a:endParaRPr sz="1200">
              <a:latin typeface="微软雅黑"/>
              <a:cs typeface="微软雅黑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支付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并更新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态</a:t>
            </a:r>
            <a:endParaRPr sz="1200">
              <a:latin typeface="微软雅黑"/>
              <a:cs typeface="微软雅黑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地址的添加、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编辑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除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30" dirty="0">
                <a:latin typeface="MS Gothic"/>
                <a:cs typeface="MS Gothic"/>
              </a:rPr>
              <a:t>用</a:t>
            </a:r>
            <a:r>
              <a:rPr sz="1200" b="1" spc="20" dirty="0">
                <a:latin typeface="微软雅黑"/>
                <a:cs typeface="微软雅黑"/>
              </a:rPr>
              <a:t>户</a:t>
            </a:r>
            <a:r>
              <a:rPr sz="1200" b="1" spc="-5" dirty="0">
                <a:latin typeface="MS Gothic"/>
                <a:cs typeface="MS Gothic"/>
              </a:rPr>
              <a:t>故</a:t>
            </a:r>
            <a:r>
              <a:rPr sz="1200" b="1" spc="-30" dirty="0">
                <a:latin typeface="MS Gothic"/>
                <a:cs typeface="MS Gothic"/>
              </a:rPr>
              <a:t>事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作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消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者，我希望能搜索并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购买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商品，以便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得所需物品。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作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商家，我希望能添加和管理商品，以便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销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售商品。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作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管理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员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，我希望能管理用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和商家，以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维护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平台秩序。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用</a:t>
            </a:r>
            <a:r>
              <a:rPr sz="1200" b="1" spc="-30" dirty="0">
                <a:latin typeface="MS Gothic"/>
                <a:cs typeface="MS Gothic"/>
              </a:rPr>
              <a:t>例</a:t>
            </a:r>
            <a:r>
              <a:rPr sz="1200" b="1" dirty="0">
                <a:latin typeface="微软雅黑"/>
                <a:cs typeface="微软雅黑"/>
              </a:rPr>
              <a:t>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400800" cy="58538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3100" y="6779402"/>
            <a:ext cx="3937000" cy="250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2260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5"/>
              <a:tabLst>
                <a:tab pos="314960" algn="l"/>
              </a:tabLst>
            </a:pPr>
            <a:r>
              <a:rPr sz="2100" b="1" spc="-10" dirty="0">
                <a:latin typeface="MS Gothic"/>
                <a:cs typeface="MS Gothic"/>
              </a:rPr>
              <a:t>非功能需求</a:t>
            </a:r>
            <a:endParaRPr sz="21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buFont typeface="Arial"/>
              <a:buAutoNum type="arabicPeriod" startAt="5"/>
            </a:pPr>
            <a:endParaRPr sz="165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性</a:t>
            </a:r>
            <a:r>
              <a:rPr sz="1200" b="1" spc="-30" dirty="0">
                <a:latin typeface="MS Gothic"/>
                <a:cs typeface="MS Gothic"/>
              </a:rPr>
              <a:t>能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统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响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应时间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不超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过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2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秒。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支持每秒至少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100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次并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发请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求。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可用</a:t>
            </a:r>
            <a:r>
              <a:rPr sz="1200" b="1" spc="-30" dirty="0">
                <a:latin typeface="MS Gothic"/>
                <a:cs typeface="MS Gothic"/>
              </a:rPr>
              <a:t>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界面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设计简洁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操作便捷。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提供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详细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的帮助文档和使用指南。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安全</a:t>
            </a:r>
            <a:r>
              <a:rPr sz="1200" b="1" spc="-30" dirty="0">
                <a:latin typeface="MS Gothic"/>
                <a:cs typeface="MS Gothic"/>
              </a:rPr>
              <a:t>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  <a:p>
            <a:pPr marL="1638300" lvl="2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数据加密存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储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34494"/>
            <a:ext cx="6172200" cy="27952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638300" indent="-156210">
              <a:lnSpc>
                <a:spcPct val="100000"/>
              </a:lnSpc>
              <a:spcBef>
                <a:spcPts val="5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支持多因素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认证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可靠</a:t>
            </a:r>
            <a:r>
              <a:rPr sz="1200" b="1" spc="-30" dirty="0">
                <a:latin typeface="MS Gothic"/>
                <a:cs typeface="MS Gothic"/>
              </a:rPr>
              <a:t>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  <a:p>
            <a:pPr marL="1638300" lvl="1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统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可用性保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在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99%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以上。</a:t>
            </a:r>
            <a:endParaRPr sz="1200">
              <a:latin typeface="MS Gothic"/>
              <a:cs typeface="MS Gothic"/>
            </a:endParaRPr>
          </a:p>
          <a:p>
            <a:pPr marL="1638300" lvl="1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提供数据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备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份和恢复功能。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30" dirty="0">
                <a:latin typeface="MS Gothic"/>
                <a:cs typeface="MS Gothic"/>
              </a:rPr>
              <a:t>可</a:t>
            </a:r>
            <a:r>
              <a:rPr sz="1200" b="1" dirty="0">
                <a:latin typeface="微软雅黑"/>
                <a:cs typeface="微软雅黑"/>
              </a:rPr>
              <a:t>维</a:t>
            </a:r>
            <a:r>
              <a:rPr sz="1200" b="1" spc="20" dirty="0">
                <a:latin typeface="微软雅黑"/>
                <a:cs typeface="微软雅黑"/>
              </a:rPr>
              <a:t>护</a:t>
            </a:r>
            <a:r>
              <a:rPr sz="1200" b="1" spc="-30" dirty="0">
                <a:latin typeface="MS Gothic"/>
                <a:cs typeface="MS Gothic"/>
              </a:rPr>
              <a:t>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  <a:p>
            <a:pPr marL="1638300" lvl="1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代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码结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构清晰，注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释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完善。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MS Gothic"/>
              <a:cs typeface="MS Gothic"/>
            </a:endParaRPr>
          </a:p>
          <a:p>
            <a:pPr marL="314325" indent="-302260">
              <a:lnSpc>
                <a:spcPct val="100000"/>
              </a:lnSpc>
              <a:spcBef>
                <a:spcPts val="5"/>
              </a:spcBef>
              <a:buFont typeface="Arial"/>
              <a:buAutoNum type="arabicPeriod" startAt="6"/>
              <a:tabLst>
                <a:tab pos="314960" algn="l"/>
              </a:tabLst>
            </a:pPr>
            <a:r>
              <a:rPr sz="2100" b="1" spc="-55" dirty="0">
                <a:latin typeface="MS Gothic"/>
                <a:cs typeface="MS Gothic"/>
              </a:rPr>
              <a:t>系</a:t>
            </a:r>
            <a:r>
              <a:rPr sz="2100" b="1" spc="40" dirty="0">
                <a:latin typeface="微软雅黑"/>
                <a:cs typeface="微软雅黑"/>
              </a:rPr>
              <a:t>统</a:t>
            </a:r>
            <a:r>
              <a:rPr sz="2100" b="1" spc="-10" dirty="0">
                <a:latin typeface="MS Gothic"/>
                <a:cs typeface="MS Gothic"/>
              </a:rPr>
              <a:t>架构</a:t>
            </a:r>
            <a:endParaRPr sz="21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2115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体</a:t>
            </a:r>
            <a:r>
              <a:rPr sz="1200" b="1" spc="-30" dirty="0">
                <a:latin typeface="MS Gothic"/>
                <a:cs typeface="MS Gothic"/>
              </a:rPr>
              <a:t>系</a:t>
            </a:r>
            <a:r>
              <a:rPr sz="1200" b="1" spc="20" dirty="0">
                <a:latin typeface="微软雅黑"/>
                <a:cs typeface="微软雅黑"/>
              </a:rPr>
              <a:t>结</a:t>
            </a:r>
            <a:r>
              <a:rPr sz="1200" b="1" spc="-5" dirty="0">
                <a:latin typeface="MS Gothic"/>
                <a:cs typeface="MS Gothic"/>
              </a:rPr>
              <a:t>构概</a:t>
            </a:r>
            <a:r>
              <a:rPr sz="1200" b="1" spc="-30" dirty="0">
                <a:latin typeface="MS Gothic"/>
                <a:cs typeface="MS Gothic"/>
              </a:rPr>
              <a:t>述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：本系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统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采用三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层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架构，包括表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现层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、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业务逻辑层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访问层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5500" lvl="1" indent="-155575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spc="20" dirty="0">
                <a:latin typeface="微软雅黑"/>
                <a:cs typeface="微软雅黑"/>
              </a:rPr>
              <a:t>组</a:t>
            </a:r>
            <a:r>
              <a:rPr sz="1200" b="1" spc="-30" dirty="0">
                <a:latin typeface="MS Gothic"/>
                <a:cs typeface="MS Gothic"/>
              </a:rPr>
              <a:t>件</a:t>
            </a:r>
            <a:r>
              <a:rPr sz="1200" b="1" dirty="0">
                <a:latin typeface="微软雅黑"/>
                <a:cs typeface="微软雅黑"/>
              </a:rPr>
              <a:t>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600" y="685800"/>
            <a:ext cx="5588000" cy="937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34494"/>
            <a:ext cx="3054985" cy="18199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28040" indent="-158750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30" dirty="0">
                <a:latin typeface="MS Gothic"/>
                <a:cs typeface="MS Gothic"/>
              </a:rPr>
              <a:t>技</a:t>
            </a:r>
            <a:r>
              <a:rPr sz="1200" b="1" dirty="0">
                <a:latin typeface="微软雅黑"/>
                <a:cs typeface="微软雅黑"/>
              </a:rPr>
              <a:t>术栈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  <a:p>
            <a:pPr marL="1638300" lvl="1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前端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Delphi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、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ADO</a:t>
            </a:r>
            <a:endParaRPr sz="1200">
              <a:latin typeface="Arial"/>
              <a:cs typeface="Arial"/>
            </a:endParaRPr>
          </a:p>
          <a:p>
            <a:pPr marL="1638300" lvl="1" indent="-156210">
              <a:lnSpc>
                <a:spcPct val="100000"/>
              </a:lnSpc>
              <a:spcBef>
                <a:spcPts val="480"/>
              </a:spcBef>
              <a:buFont typeface="Arial"/>
              <a:buChar char="◦"/>
              <a:tabLst>
                <a:tab pos="16383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Arial"/>
              <a:cs typeface="Arial"/>
            </a:endParaRPr>
          </a:p>
          <a:p>
            <a:pPr marL="314325" indent="-302260">
              <a:lnSpc>
                <a:spcPct val="100000"/>
              </a:lnSpc>
              <a:spcBef>
                <a:spcPts val="5"/>
              </a:spcBef>
              <a:buFont typeface="Arial"/>
              <a:buAutoNum type="arabicPeriod" startAt="7"/>
              <a:tabLst>
                <a:tab pos="314960" algn="l"/>
              </a:tabLst>
            </a:pPr>
            <a:r>
              <a:rPr sz="2100" b="1" spc="-10" dirty="0">
                <a:latin typeface="MS Gothic"/>
                <a:cs typeface="MS Gothic"/>
              </a:rPr>
              <a:t>数</a:t>
            </a:r>
            <a:r>
              <a:rPr sz="2100" b="1" spc="-55" dirty="0">
                <a:latin typeface="MS Gothic"/>
                <a:cs typeface="MS Gothic"/>
              </a:rPr>
              <a:t>据</a:t>
            </a:r>
            <a:r>
              <a:rPr sz="2100" b="1" dirty="0">
                <a:latin typeface="微软雅黑"/>
                <a:cs typeface="微软雅黑"/>
              </a:rPr>
              <a:t>库设计</a:t>
            </a:r>
            <a:endParaRPr sz="2100">
              <a:latin typeface="微软雅黑"/>
              <a:cs typeface="微软雅黑"/>
            </a:endParaRPr>
          </a:p>
          <a:p>
            <a:pPr marL="825500" lvl="1" indent="-155575">
              <a:lnSpc>
                <a:spcPct val="100000"/>
              </a:lnSpc>
              <a:spcBef>
                <a:spcPts val="2115"/>
              </a:spcBef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spc="-5" dirty="0">
                <a:latin typeface="Arial"/>
                <a:cs typeface="Arial"/>
              </a:rPr>
              <a:t>ER</a:t>
            </a:r>
            <a:r>
              <a:rPr sz="1200" b="1" dirty="0">
                <a:latin typeface="微软雅黑"/>
                <a:cs typeface="微软雅黑"/>
              </a:rPr>
              <a:t>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800" y="2632710"/>
            <a:ext cx="6400800" cy="47423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30944" y="7476132"/>
            <a:ext cx="5368925" cy="17322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70180" indent="-158115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170815" algn="l"/>
              </a:tabLst>
            </a:pPr>
            <a:r>
              <a:rPr sz="1200" b="1" spc="-5" dirty="0">
                <a:latin typeface="MS Gothic"/>
                <a:cs typeface="MS Gothic"/>
              </a:rPr>
              <a:t>数据字</a:t>
            </a:r>
            <a:r>
              <a:rPr sz="1200" b="1" spc="-30" dirty="0">
                <a:latin typeface="MS Gothic"/>
                <a:cs typeface="MS Gothic"/>
              </a:rPr>
              <a:t>典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  <a:p>
            <a:pPr marL="980440" lvl="1" indent="-156845">
              <a:lnSpc>
                <a:spcPct val="100000"/>
              </a:lnSpc>
              <a:spcBef>
                <a:spcPts val="480"/>
              </a:spcBef>
              <a:buChar char="◦"/>
              <a:tabLst>
                <a:tab pos="981075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Consumers(ConsumerID,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Password)</a:t>
            </a:r>
            <a:endParaRPr sz="1200">
              <a:latin typeface="Arial"/>
              <a:cs typeface="Arial"/>
            </a:endParaRPr>
          </a:p>
          <a:p>
            <a:pPr marL="980440" lvl="1" indent="-156845">
              <a:lnSpc>
                <a:spcPct val="100000"/>
              </a:lnSpc>
              <a:spcBef>
                <a:spcPts val="480"/>
              </a:spcBef>
              <a:buChar char="◦"/>
              <a:tabLst>
                <a:tab pos="981075" algn="l"/>
              </a:tabLst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Merchants(MerchantID,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Password)</a:t>
            </a:r>
            <a:endParaRPr sz="1200">
              <a:latin typeface="Arial"/>
              <a:cs typeface="Arial"/>
            </a:endParaRPr>
          </a:p>
          <a:p>
            <a:pPr marL="980440" lvl="1" indent="-156845">
              <a:lnSpc>
                <a:spcPct val="100000"/>
              </a:lnSpc>
              <a:spcBef>
                <a:spcPts val="480"/>
              </a:spcBef>
              <a:buChar char="◦"/>
              <a:tabLst>
                <a:tab pos="981075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Products(ProductID, ProductName, Price, Stock,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MerchantID)</a:t>
            </a:r>
            <a:endParaRPr sz="1200">
              <a:latin typeface="Arial"/>
              <a:cs typeface="Arial"/>
            </a:endParaRPr>
          </a:p>
          <a:p>
            <a:pPr marL="980440" marR="5080" lvl="1" indent="-156210">
              <a:lnSpc>
                <a:spcPct val="133300"/>
              </a:lnSpc>
              <a:buChar char="◦"/>
              <a:tabLst>
                <a:tab pos="981075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Orders(OrderID, ConsumerID, ProductID,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Quantity, 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TotalAmount, 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Status)</a:t>
            </a:r>
            <a:endParaRPr sz="1200">
              <a:latin typeface="Arial"/>
              <a:cs typeface="Arial"/>
            </a:endParaRPr>
          </a:p>
          <a:p>
            <a:pPr marL="980440" lvl="1" indent="-156845">
              <a:lnSpc>
                <a:spcPct val="100000"/>
              </a:lnSpc>
              <a:spcBef>
                <a:spcPts val="480"/>
              </a:spcBef>
              <a:buChar char="◦"/>
              <a:tabLst>
                <a:tab pos="981075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Addresses(AddressID, ConsumerID, Address)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43075" y="695454"/>
            <a:ext cx="4134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 indent="-156210">
              <a:lnSpc>
                <a:spcPct val="100000"/>
              </a:lnSpc>
              <a:spcBef>
                <a:spcPts val="100"/>
              </a:spcBef>
              <a:buChar char="◦"/>
              <a:tabLst>
                <a:tab pos="16891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Payments(PaymentID, OrderID, Amount,</a:t>
            </a:r>
            <a:r>
              <a:rPr sz="1200" spc="-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PaymentMethod)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1133350"/>
            <a:ext cx="6328410" cy="8007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MS Gothic"/>
                <a:cs typeface="MS Gothic"/>
              </a:rPr>
              <a:t>数据表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500" b="1" spc="-5" dirty="0">
                <a:latin typeface="Arial"/>
                <a:cs typeface="Arial"/>
              </a:rPr>
              <a:t>Consumers</a:t>
            </a:r>
            <a:endParaRPr sz="15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1455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ConsumerID: INT PRIMARY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KEY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Password: 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VARCHAR(50)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NOT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NULL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Arial"/>
                <a:cs typeface="Arial"/>
              </a:rPr>
              <a:t>Merchants</a:t>
            </a:r>
            <a:endParaRPr sz="15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1455"/>
              </a:spcBef>
              <a:buChar char="•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MerchantID: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INT PRIMARY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KEY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Password: 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VARCHAR(50)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NOT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NULL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b="1" spc="-5" dirty="0">
                <a:latin typeface="Arial"/>
                <a:cs typeface="Arial"/>
              </a:rPr>
              <a:t>Products</a:t>
            </a:r>
            <a:endParaRPr sz="15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1455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ProductID: INT PRIMARY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KEY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ProductName: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VARCHAR(100)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NOT NULL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Price: DECIMAL(10, 2) NOT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NULL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Stock: INT NOT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NULL</a:t>
            </a:r>
            <a:endParaRPr sz="1200">
              <a:latin typeface="Arial"/>
              <a:cs typeface="Arial"/>
            </a:endParaRPr>
          </a:p>
          <a:p>
            <a:pPr marL="825500" marR="1362075" indent="-155575">
              <a:lnSpc>
                <a:spcPct val="133300"/>
              </a:lnSpc>
              <a:buChar char="•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MerchantID: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INT NOT NULL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(FOREIGN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KEY REFERENCES 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Merchants(MerchantID))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b="1" spc="-5" dirty="0">
                <a:latin typeface="Arial"/>
                <a:cs typeface="Arial"/>
              </a:rPr>
              <a:t>Orders</a:t>
            </a:r>
            <a:endParaRPr sz="15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1455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OrderID: INT PRIMARY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KEY</a:t>
            </a:r>
            <a:endParaRPr sz="1200">
              <a:latin typeface="Arial"/>
              <a:cs typeface="Arial"/>
            </a:endParaRPr>
          </a:p>
          <a:p>
            <a:pPr marL="825500" marR="1294765" indent="-155575">
              <a:lnSpc>
                <a:spcPct val="133300"/>
              </a:lnSpc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ConsumerID: INT NOT NULL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(FOREIGN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KEY REFERENCES  Consumers(ConsumerID))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ProductID: INT NOT NULL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(FOREIGN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KEY REFERENCES</a:t>
            </a:r>
            <a:r>
              <a:rPr sz="12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Products(ProductID))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Quantity: INT NOT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NULL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TotalAmount: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DECIMAL(10, 2) NOT</a:t>
            </a:r>
            <a:r>
              <a:rPr sz="12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NULL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Status: 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VARCHAR(20)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NOT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NULL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b="1" spc="-5" dirty="0">
                <a:latin typeface="Arial"/>
                <a:cs typeface="Arial"/>
              </a:rPr>
              <a:t>Addresses</a:t>
            </a:r>
            <a:endParaRPr sz="15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1455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AddressID: INT PRIMARY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KEY</a:t>
            </a:r>
            <a:endParaRPr sz="1200">
              <a:latin typeface="Arial"/>
              <a:cs typeface="Arial"/>
            </a:endParaRPr>
          </a:p>
          <a:p>
            <a:pPr marL="825500" marR="1294765" indent="-155575">
              <a:lnSpc>
                <a:spcPct val="133300"/>
              </a:lnSpc>
              <a:spcBef>
                <a:spcPts val="5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ConsumerID: INT NOT NULL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(FOREIGN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KEY REFERENCES  Consumers(ConsumerID))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95454"/>
            <a:ext cx="5923280" cy="2818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00" indent="-155575">
              <a:lnSpc>
                <a:spcPct val="100000"/>
              </a:lnSpc>
              <a:spcBef>
                <a:spcPts val="10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Address: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VARCHAR(255)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NOT NULL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33333"/>
              </a:buClr>
              <a:buFont typeface="Arial"/>
              <a:buChar char="•"/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b="1" spc="-5" dirty="0">
                <a:latin typeface="Arial"/>
                <a:cs typeface="Arial"/>
              </a:rPr>
              <a:t>Payments</a:t>
            </a:r>
            <a:endParaRPr sz="15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1455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PaymentID: INT PRIMARY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KEY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OrderID: INT NOT NULL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(FOREIGN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KEY REFERENCES</a:t>
            </a:r>
            <a:r>
              <a:rPr sz="12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Orders(OrderID))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Amount: DECIMAL(10, 2) NOT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NULL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PaymentMethod: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VARCHAR(50)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NOT NULL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314325" indent="-302260">
              <a:lnSpc>
                <a:spcPct val="100000"/>
              </a:lnSpc>
              <a:spcBef>
                <a:spcPts val="800"/>
              </a:spcBef>
              <a:buFont typeface="Arial"/>
              <a:buAutoNum type="arabicPeriod" startAt="8"/>
              <a:tabLst>
                <a:tab pos="314960" algn="l"/>
              </a:tabLst>
            </a:pPr>
            <a:r>
              <a:rPr sz="2100" b="1" spc="-10" dirty="0">
                <a:latin typeface="MS Gothic"/>
                <a:cs typeface="MS Gothic"/>
              </a:rPr>
              <a:t>界</a:t>
            </a:r>
            <a:r>
              <a:rPr sz="2100" b="1" spc="-55" dirty="0">
                <a:latin typeface="MS Gothic"/>
                <a:cs typeface="MS Gothic"/>
              </a:rPr>
              <a:t>面</a:t>
            </a:r>
            <a:r>
              <a:rPr sz="2100" b="1" dirty="0">
                <a:latin typeface="微软雅黑"/>
                <a:cs typeface="微软雅黑"/>
              </a:rPr>
              <a:t>设计</a:t>
            </a:r>
            <a:endParaRPr sz="2100">
              <a:latin typeface="微软雅黑"/>
              <a:cs typeface="微软雅黑"/>
            </a:endParaRPr>
          </a:p>
          <a:p>
            <a:pPr marL="828040" lvl="1" indent="-158750">
              <a:lnSpc>
                <a:spcPct val="100000"/>
              </a:lnSpc>
              <a:spcBef>
                <a:spcPts val="2115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界面流</a:t>
            </a:r>
            <a:r>
              <a:rPr sz="1200" b="1" spc="-30" dirty="0">
                <a:latin typeface="MS Gothic"/>
                <a:cs typeface="MS Gothic"/>
              </a:rPr>
              <a:t>程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附件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800" y="3691890"/>
            <a:ext cx="6400800" cy="36568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7588568"/>
            <a:ext cx="1388745" cy="79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8610" indent="-296545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9"/>
              <a:tabLst>
                <a:tab pos="309245" algn="l"/>
              </a:tabLst>
            </a:pPr>
            <a:r>
              <a:rPr sz="2100" b="1" dirty="0">
                <a:latin typeface="微软雅黑"/>
                <a:cs typeface="微软雅黑"/>
              </a:rPr>
              <a:t>详细设计</a:t>
            </a:r>
            <a:endParaRPr sz="2100">
              <a:latin typeface="微软雅黑"/>
              <a:cs typeface="微软雅黑"/>
            </a:endParaRPr>
          </a:p>
          <a:p>
            <a:pPr marL="825500" lvl="1" indent="-155575">
              <a:lnSpc>
                <a:spcPct val="100000"/>
              </a:lnSpc>
              <a:spcBef>
                <a:spcPts val="2115"/>
              </a:spcBef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dirty="0">
                <a:latin typeface="微软雅黑"/>
                <a:cs typeface="微软雅黑"/>
              </a:rPr>
              <a:t>类图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600" y="685800"/>
            <a:ext cx="5588000" cy="39312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3100" y="4565789"/>
            <a:ext cx="2015489" cy="15760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25500" indent="-155575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spc="20" dirty="0">
                <a:latin typeface="微软雅黑"/>
                <a:cs typeface="微软雅黑"/>
              </a:rPr>
              <a:t>顺</a:t>
            </a:r>
            <a:r>
              <a:rPr sz="1200" b="1" spc="-30" dirty="0">
                <a:latin typeface="MS Gothic"/>
                <a:cs typeface="MS Gothic"/>
              </a:rPr>
              <a:t>序</a:t>
            </a:r>
            <a:r>
              <a:rPr sz="1200" b="1" dirty="0">
                <a:latin typeface="微软雅黑"/>
                <a:cs typeface="微软雅黑"/>
              </a:rPr>
              <a:t>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附件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  <a:p>
            <a:pPr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30" dirty="0">
                <a:latin typeface="MS Gothic"/>
                <a:cs typeface="MS Gothic"/>
              </a:rPr>
              <a:t>状</a:t>
            </a:r>
            <a:r>
              <a:rPr sz="1200" b="1" dirty="0">
                <a:latin typeface="微软雅黑"/>
                <a:cs typeface="微软雅黑"/>
              </a:rPr>
              <a:t>态图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附件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I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Arial"/>
              <a:cs typeface="Arial"/>
            </a:endParaRPr>
          </a:p>
          <a:p>
            <a:pPr marL="457200" indent="-445134">
              <a:lnSpc>
                <a:spcPct val="100000"/>
              </a:lnSpc>
              <a:spcBef>
                <a:spcPts val="5"/>
              </a:spcBef>
              <a:buFont typeface="Arial"/>
              <a:buAutoNum type="arabicPeriod" startAt="10"/>
              <a:tabLst>
                <a:tab pos="457834" algn="l"/>
              </a:tabLst>
            </a:pPr>
            <a:r>
              <a:rPr sz="2100" b="1" dirty="0">
                <a:latin typeface="微软雅黑"/>
                <a:cs typeface="微软雅黑"/>
              </a:rPr>
              <a:t>测试</a:t>
            </a:r>
            <a:r>
              <a:rPr sz="2100" b="1" spc="40" dirty="0">
                <a:latin typeface="微软雅黑"/>
                <a:cs typeface="微软雅黑"/>
              </a:rPr>
              <a:t>计</a:t>
            </a:r>
            <a:r>
              <a:rPr sz="2100" b="1" spc="-10" dirty="0">
                <a:latin typeface="MS Gothic"/>
                <a:cs typeface="MS Gothic"/>
              </a:rPr>
              <a:t>划</a:t>
            </a:r>
            <a:endParaRPr sz="2100">
              <a:latin typeface="MS Gothic"/>
              <a:cs typeface="MS Gothic"/>
            </a:endParaRPr>
          </a:p>
          <a:p>
            <a:pPr marL="825500" lvl="1" indent="-155575">
              <a:lnSpc>
                <a:spcPct val="100000"/>
              </a:lnSpc>
              <a:spcBef>
                <a:spcPts val="2115"/>
              </a:spcBef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dirty="0">
                <a:latin typeface="微软雅黑"/>
                <a:cs typeface="微软雅黑"/>
              </a:rPr>
              <a:t>测</a:t>
            </a:r>
            <a:r>
              <a:rPr sz="1200" b="1" spc="20" dirty="0">
                <a:latin typeface="微软雅黑"/>
                <a:cs typeface="微软雅黑"/>
              </a:rPr>
              <a:t>试</a:t>
            </a:r>
            <a:r>
              <a:rPr sz="1200" b="1" spc="-5" dirty="0">
                <a:latin typeface="MS Gothic"/>
                <a:cs typeface="MS Gothic"/>
              </a:rPr>
              <a:t>用</a:t>
            </a:r>
            <a:r>
              <a:rPr sz="1200" b="1" spc="-30" dirty="0">
                <a:latin typeface="MS Gothic"/>
                <a:cs typeface="MS Gothic"/>
              </a:rPr>
              <a:t>例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8600" y="6167764"/>
            <a:ext cx="3714750" cy="1104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8125" y="7516505"/>
            <a:ext cx="3638550" cy="10858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8236263"/>
            <a:ext cx="6400800" cy="1097280"/>
          </a:xfrm>
          <a:custGeom>
            <a:avLst/>
            <a:gdLst/>
            <a:ahLst/>
            <a:cxnLst/>
            <a:rect l="l" t="t" r="r" b="b"/>
            <a:pathLst>
              <a:path w="6400800" h="109727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068705"/>
                </a:lnTo>
                <a:lnTo>
                  <a:pt x="2246" y="1079824"/>
                </a:lnTo>
                <a:lnTo>
                  <a:pt x="8372" y="1088907"/>
                </a:lnTo>
                <a:lnTo>
                  <a:pt x="17455" y="1095033"/>
                </a:lnTo>
                <a:lnTo>
                  <a:pt x="28575" y="1097280"/>
                </a:lnTo>
                <a:lnTo>
                  <a:pt x="6372225" y="1097280"/>
                </a:lnTo>
                <a:lnTo>
                  <a:pt x="6383344" y="1095033"/>
                </a:lnTo>
                <a:lnTo>
                  <a:pt x="6392427" y="1088907"/>
                </a:lnTo>
                <a:lnTo>
                  <a:pt x="6398553" y="1079824"/>
                </a:lnTo>
                <a:lnTo>
                  <a:pt x="6400800" y="106870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600" y="685800"/>
            <a:ext cx="5588000" cy="6125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8125" y="1542210"/>
            <a:ext cx="5029200" cy="1209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8600" y="2995725"/>
            <a:ext cx="5588000" cy="7283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98600" y="3967939"/>
            <a:ext cx="5588000" cy="999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3100" y="4915977"/>
            <a:ext cx="6076950" cy="42646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25500" indent="-155575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dirty="0">
                <a:latin typeface="微软雅黑"/>
                <a:cs typeface="微软雅黑"/>
              </a:rPr>
              <a:t>测试</a:t>
            </a:r>
            <a:r>
              <a:rPr sz="1200" b="1" spc="20" dirty="0">
                <a:latin typeface="微软雅黑"/>
                <a:cs typeface="微软雅黑"/>
              </a:rPr>
              <a:t>环</a:t>
            </a:r>
            <a:r>
              <a:rPr sz="1200" b="1" spc="-30" dirty="0">
                <a:latin typeface="MS Gothic"/>
                <a:cs typeface="MS Gothic"/>
              </a:rPr>
              <a:t>境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Windows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10,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OpenEuler,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OpenGauss,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Data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Studio,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Delphi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7.0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IDE</a:t>
            </a:r>
            <a:endParaRPr sz="1200">
              <a:latin typeface="Arial"/>
              <a:cs typeface="Arial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dirty="0">
                <a:latin typeface="微软雅黑"/>
                <a:cs typeface="微软雅黑"/>
              </a:rPr>
              <a:t>测</a:t>
            </a:r>
            <a:r>
              <a:rPr sz="1200" b="1" spc="20" dirty="0">
                <a:latin typeface="微软雅黑"/>
                <a:cs typeface="微软雅黑"/>
              </a:rPr>
              <a:t>试</a:t>
            </a:r>
            <a:r>
              <a:rPr sz="1200" b="1" spc="-5" dirty="0">
                <a:latin typeface="MS Gothic"/>
                <a:cs typeface="MS Gothic"/>
              </a:rPr>
              <a:t>策</a:t>
            </a:r>
            <a:r>
              <a:rPr sz="1200" b="1" spc="-30" dirty="0">
                <a:latin typeface="MS Gothic"/>
                <a:cs typeface="MS Gothic"/>
              </a:rPr>
              <a:t>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元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测试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、集成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测试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、系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统测试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、用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户验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测试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微软雅黑"/>
              <a:cs typeface="微软雅黑"/>
            </a:endParaRPr>
          </a:p>
          <a:p>
            <a:pPr marL="442595" indent="-430530">
              <a:lnSpc>
                <a:spcPct val="100000"/>
              </a:lnSpc>
              <a:buFont typeface="Arial"/>
              <a:buAutoNum type="arabicPeriod" startAt="11"/>
              <a:tabLst>
                <a:tab pos="443230" algn="l"/>
              </a:tabLst>
            </a:pPr>
            <a:r>
              <a:rPr sz="2100" b="1" dirty="0">
                <a:latin typeface="微软雅黑"/>
                <a:cs typeface="微软雅黑"/>
              </a:rPr>
              <a:t>维护</a:t>
            </a:r>
            <a:r>
              <a:rPr sz="2100" b="1" spc="40" dirty="0">
                <a:latin typeface="微软雅黑"/>
                <a:cs typeface="微软雅黑"/>
              </a:rPr>
              <a:t>计</a:t>
            </a:r>
            <a:r>
              <a:rPr sz="2100" b="1" spc="-10" dirty="0">
                <a:latin typeface="MS Gothic"/>
                <a:cs typeface="MS Gothic"/>
              </a:rPr>
              <a:t>划</a:t>
            </a:r>
            <a:endParaRPr sz="2100">
              <a:latin typeface="MS Gothic"/>
              <a:cs typeface="MS Gothic"/>
            </a:endParaRPr>
          </a:p>
          <a:p>
            <a:pPr marL="825500" lvl="1" indent="-155575">
              <a:lnSpc>
                <a:spcPct val="100000"/>
              </a:lnSpc>
              <a:spcBef>
                <a:spcPts val="2115"/>
              </a:spcBef>
              <a:buClr>
                <a:srgbClr val="333333"/>
              </a:buClr>
              <a:buFont typeface="Arial"/>
              <a:buChar char="•"/>
              <a:tabLst>
                <a:tab pos="825500" algn="l"/>
              </a:tabLst>
            </a:pPr>
            <a:r>
              <a:rPr sz="1200" b="1" dirty="0">
                <a:latin typeface="微软雅黑"/>
                <a:cs typeface="微软雅黑"/>
              </a:rPr>
              <a:t>维</a:t>
            </a:r>
            <a:r>
              <a:rPr sz="1200" b="1" spc="20" dirty="0">
                <a:latin typeface="微软雅黑"/>
                <a:cs typeface="微软雅黑"/>
              </a:rPr>
              <a:t>护</a:t>
            </a:r>
            <a:r>
              <a:rPr sz="1200" b="1" spc="-5" dirty="0">
                <a:latin typeface="MS Gothic"/>
                <a:cs typeface="MS Gothic"/>
              </a:rPr>
              <a:t>策</a:t>
            </a:r>
            <a:r>
              <a:rPr sz="1200" b="1" spc="-30" dirty="0">
                <a:latin typeface="MS Gothic"/>
                <a:cs typeface="MS Gothic"/>
              </a:rPr>
              <a:t>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：定期更新、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错误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修复、功能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扩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展</a:t>
            </a:r>
            <a:endParaRPr sz="1200">
              <a:latin typeface="MS Gothic"/>
              <a:cs typeface="MS Gothic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333333"/>
              </a:buClr>
              <a:buFont typeface="Arial"/>
              <a:buChar char="•"/>
            </a:pPr>
            <a:endParaRPr sz="1750">
              <a:latin typeface="MS Gothic"/>
              <a:cs typeface="MS Gothic"/>
            </a:endParaRPr>
          </a:p>
          <a:p>
            <a:pPr marL="462280" indent="-450215">
              <a:lnSpc>
                <a:spcPct val="100000"/>
              </a:lnSpc>
              <a:buFont typeface="Arial"/>
              <a:buAutoNum type="arabicPeriod" startAt="11"/>
              <a:tabLst>
                <a:tab pos="462915" algn="l"/>
              </a:tabLst>
            </a:pPr>
            <a:r>
              <a:rPr sz="2100" b="1" spc="-10" dirty="0">
                <a:latin typeface="MS Gothic"/>
                <a:cs typeface="MS Gothic"/>
              </a:rPr>
              <a:t>数</a:t>
            </a:r>
            <a:r>
              <a:rPr sz="2100" b="1" spc="-55" dirty="0">
                <a:latin typeface="MS Gothic"/>
                <a:cs typeface="MS Gothic"/>
              </a:rPr>
              <a:t>据</a:t>
            </a:r>
            <a:r>
              <a:rPr sz="2100" b="1" dirty="0">
                <a:latin typeface="微软雅黑"/>
                <a:cs typeface="微软雅黑"/>
              </a:rPr>
              <a:t>库</a:t>
            </a:r>
            <a:r>
              <a:rPr sz="2100" b="1" spc="40" dirty="0">
                <a:latin typeface="微软雅黑"/>
                <a:cs typeface="微软雅黑"/>
              </a:rPr>
              <a:t>规</a:t>
            </a:r>
            <a:r>
              <a:rPr sz="2100" b="1" spc="-10" dirty="0">
                <a:latin typeface="MS Gothic"/>
                <a:cs typeface="MS Gothic"/>
              </a:rPr>
              <a:t>范化</a:t>
            </a:r>
            <a:endParaRPr sz="21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以下是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进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行第三范式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（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3NF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）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BCNF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（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Boyce-Codd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范式）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范化的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明。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1. Consumers</a:t>
            </a:r>
            <a:r>
              <a:rPr sz="1800" b="1" spc="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MS Gothic"/>
                <a:cs typeface="MS Gothic"/>
              </a:rPr>
              <a:t>表</a:t>
            </a:r>
            <a:endParaRPr sz="18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>
              <a:latin typeface="MS Gothic"/>
              <a:cs typeface="MS Gothic"/>
            </a:endParaRPr>
          </a:p>
          <a:p>
            <a:pPr marL="419100" marR="3583940" indent="-28511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Consumers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ConsumerID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 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Password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-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2078859"/>
            <a:ext cx="6400800" cy="1310640"/>
          </a:xfrm>
          <a:custGeom>
            <a:avLst/>
            <a:gdLst/>
            <a:ahLst/>
            <a:cxnLst/>
            <a:rect l="l" t="t" r="r" b="b"/>
            <a:pathLst>
              <a:path w="6400800" h="131063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282064"/>
                </a:lnTo>
                <a:lnTo>
                  <a:pt x="2246" y="1293184"/>
                </a:lnTo>
                <a:lnTo>
                  <a:pt x="8372" y="1302267"/>
                </a:lnTo>
                <a:lnTo>
                  <a:pt x="17455" y="1308393"/>
                </a:lnTo>
                <a:lnTo>
                  <a:pt x="28575" y="1310639"/>
                </a:lnTo>
                <a:lnTo>
                  <a:pt x="6372225" y="1310639"/>
                </a:lnTo>
                <a:lnTo>
                  <a:pt x="6383344" y="1308393"/>
                </a:lnTo>
                <a:lnTo>
                  <a:pt x="6392427" y="1302267"/>
                </a:lnTo>
                <a:lnTo>
                  <a:pt x="6398553" y="1293184"/>
                </a:lnTo>
                <a:lnTo>
                  <a:pt x="6400800" y="1282064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934959"/>
            <a:ext cx="6400800" cy="2164080"/>
          </a:xfrm>
          <a:custGeom>
            <a:avLst/>
            <a:gdLst/>
            <a:ahLst/>
            <a:cxnLst/>
            <a:rect l="l" t="t" r="r" b="b"/>
            <a:pathLst>
              <a:path w="6400800" h="216407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135505"/>
                </a:lnTo>
                <a:lnTo>
                  <a:pt x="2246" y="2146624"/>
                </a:lnTo>
                <a:lnTo>
                  <a:pt x="8372" y="2155707"/>
                </a:lnTo>
                <a:lnTo>
                  <a:pt x="17455" y="2161833"/>
                </a:lnTo>
                <a:lnTo>
                  <a:pt x="28575" y="2164080"/>
                </a:lnTo>
                <a:lnTo>
                  <a:pt x="6372225" y="2164080"/>
                </a:lnTo>
                <a:lnTo>
                  <a:pt x="6383344" y="2161833"/>
                </a:lnTo>
                <a:lnTo>
                  <a:pt x="6392427" y="2155707"/>
                </a:lnTo>
                <a:lnTo>
                  <a:pt x="6398553" y="2146624"/>
                </a:lnTo>
                <a:lnTo>
                  <a:pt x="6400800" y="213550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38574" y="982280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09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24633" y="1229229"/>
            <a:ext cx="660400" cy="181610"/>
          </a:xfrm>
          <a:custGeom>
            <a:avLst/>
            <a:gdLst/>
            <a:ahLst/>
            <a:cxnLst/>
            <a:rect l="l" t="t" r="r" b="b"/>
            <a:pathLst>
              <a:path w="660400" h="181609">
                <a:moveTo>
                  <a:pt x="6318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631825" y="181355"/>
                </a:lnTo>
                <a:lnTo>
                  <a:pt x="642944" y="179109"/>
                </a:lnTo>
                <a:lnTo>
                  <a:pt x="652027" y="172983"/>
                </a:lnTo>
                <a:lnTo>
                  <a:pt x="658153" y="163900"/>
                </a:lnTo>
                <a:lnTo>
                  <a:pt x="660400" y="152780"/>
                </a:lnTo>
                <a:lnTo>
                  <a:pt x="660400" y="28575"/>
                </a:lnTo>
                <a:lnTo>
                  <a:pt x="658153" y="17455"/>
                </a:lnTo>
                <a:lnTo>
                  <a:pt x="652027" y="8372"/>
                </a:lnTo>
                <a:lnTo>
                  <a:pt x="642944" y="2246"/>
                </a:lnTo>
                <a:lnTo>
                  <a:pt x="63182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79317" y="122922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09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3100" y="634494"/>
            <a:ext cx="5950585" cy="23888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28040" indent="-158750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10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只有一个候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选键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，即</a:t>
            </a:r>
            <a:r>
              <a:rPr sz="1200" spc="7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-20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，所以不存在部分依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505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10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Password</a:t>
            </a:r>
            <a:r>
              <a:rPr sz="1000" spc="12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仅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</a:t>
            </a:r>
            <a:r>
              <a:rPr sz="1200" spc="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-20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（主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），没有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2. </a:t>
            </a:r>
            <a:r>
              <a:rPr sz="1800" b="1" dirty="0">
                <a:latin typeface="Arial"/>
                <a:cs typeface="Arial"/>
              </a:rPr>
              <a:t>Merchants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MS Gothic"/>
                <a:cs typeface="MS Gothic"/>
              </a:rPr>
              <a:t>表</a:t>
            </a:r>
            <a:endParaRPr sz="18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>
              <a:latin typeface="MS Gothic"/>
              <a:cs typeface="MS Gothic"/>
            </a:endParaRPr>
          </a:p>
          <a:p>
            <a:pPr marL="419100" marR="3458210" indent="-28511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Merchants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MerchantID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 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Password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-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38574" y="383837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24633" y="4085329"/>
            <a:ext cx="660400" cy="181610"/>
          </a:xfrm>
          <a:custGeom>
            <a:avLst/>
            <a:gdLst/>
            <a:ahLst/>
            <a:cxnLst/>
            <a:rect l="l" t="t" r="r" b="b"/>
            <a:pathLst>
              <a:path w="660400" h="181610">
                <a:moveTo>
                  <a:pt x="6318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631825" y="181355"/>
                </a:lnTo>
                <a:lnTo>
                  <a:pt x="642944" y="179109"/>
                </a:lnTo>
                <a:lnTo>
                  <a:pt x="652027" y="172983"/>
                </a:lnTo>
                <a:lnTo>
                  <a:pt x="658153" y="163900"/>
                </a:lnTo>
                <a:lnTo>
                  <a:pt x="660400" y="152780"/>
                </a:lnTo>
                <a:lnTo>
                  <a:pt x="660400" y="28575"/>
                </a:lnTo>
                <a:lnTo>
                  <a:pt x="658153" y="17455"/>
                </a:lnTo>
                <a:lnTo>
                  <a:pt x="652027" y="8372"/>
                </a:lnTo>
                <a:lnTo>
                  <a:pt x="642944" y="2246"/>
                </a:lnTo>
                <a:lnTo>
                  <a:pt x="63182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79317" y="408532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3100" y="3490593"/>
            <a:ext cx="5950585" cy="32423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28040" indent="-158750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10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只有一个候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选键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，即</a:t>
            </a:r>
            <a:r>
              <a:rPr sz="1200" spc="7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-20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，所以不存在部分依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505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10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Password</a:t>
            </a:r>
            <a:r>
              <a:rPr sz="1000" spc="12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仅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</a:t>
            </a:r>
            <a:r>
              <a:rPr sz="1200" spc="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-20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（主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），没有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3. Products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spc="-10" dirty="0">
                <a:latin typeface="MS Gothic"/>
                <a:cs typeface="MS Gothic"/>
              </a:rPr>
              <a:t>表</a:t>
            </a:r>
            <a:endParaRPr sz="18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>
              <a:latin typeface="MS Gothic"/>
              <a:cs typeface="MS Gothic"/>
            </a:endParaRPr>
          </a:p>
          <a:p>
            <a:pPr marL="419100" marR="3671570" indent="-28511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Products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ProductID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</a:t>
            </a:r>
            <a:r>
              <a:rPr sz="1000" spc="-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310134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ProductName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Price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DECIMAL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Stock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MerchantID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sz="1000" spc="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sz="1000" spc="5" dirty="0">
                <a:latin typeface="Consolas"/>
                <a:cs typeface="Consolas"/>
              </a:rPr>
              <a:t>Merchants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sz="1000" spc="8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24633" y="7547918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09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03046" y="181356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1"/>
                </a:lnTo>
                <a:lnTo>
                  <a:pt x="731621" y="28575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15689" y="7547918"/>
            <a:ext cx="874394" cy="181610"/>
          </a:xfrm>
          <a:custGeom>
            <a:avLst/>
            <a:gdLst/>
            <a:ahLst/>
            <a:cxnLst/>
            <a:rect l="l" t="t" r="r" b="b"/>
            <a:pathLst>
              <a:path w="874395" h="181609">
                <a:moveTo>
                  <a:pt x="84549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845491" y="181356"/>
                </a:lnTo>
                <a:lnTo>
                  <a:pt x="856610" y="179109"/>
                </a:lnTo>
                <a:lnTo>
                  <a:pt x="865693" y="172983"/>
                </a:lnTo>
                <a:lnTo>
                  <a:pt x="871819" y="163900"/>
                </a:lnTo>
                <a:lnTo>
                  <a:pt x="874066" y="152781"/>
                </a:lnTo>
                <a:lnTo>
                  <a:pt x="874066" y="28575"/>
                </a:lnTo>
                <a:lnTo>
                  <a:pt x="871819" y="17455"/>
                </a:lnTo>
                <a:lnTo>
                  <a:pt x="865693" y="8372"/>
                </a:lnTo>
                <a:lnTo>
                  <a:pt x="856610" y="2246"/>
                </a:lnTo>
                <a:lnTo>
                  <a:pt x="84549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74439" y="7547918"/>
            <a:ext cx="447040" cy="181610"/>
          </a:xfrm>
          <a:custGeom>
            <a:avLst/>
            <a:gdLst/>
            <a:ahLst/>
            <a:cxnLst/>
            <a:rect l="l" t="t" r="r" b="b"/>
            <a:pathLst>
              <a:path w="447039" h="181609">
                <a:moveTo>
                  <a:pt x="418160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418160" y="181356"/>
                </a:lnTo>
                <a:lnTo>
                  <a:pt x="429279" y="179109"/>
                </a:lnTo>
                <a:lnTo>
                  <a:pt x="438362" y="172983"/>
                </a:lnTo>
                <a:lnTo>
                  <a:pt x="444488" y="163900"/>
                </a:lnTo>
                <a:lnTo>
                  <a:pt x="446735" y="152781"/>
                </a:lnTo>
                <a:lnTo>
                  <a:pt x="446735" y="28575"/>
                </a:lnTo>
                <a:lnTo>
                  <a:pt x="444488" y="17455"/>
                </a:lnTo>
                <a:lnTo>
                  <a:pt x="438362" y="8372"/>
                </a:lnTo>
                <a:lnTo>
                  <a:pt x="429279" y="2246"/>
                </a:lnTo>
                <a:lnTo>
                  <a:pt x="41816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05857" y="7547918"/>
            <a:ext cx="447040" cy="181610"/>
          </a:xfrm>
          <a:custGeom>
            <a:avLst/>
            <a:gdLst/>
            <a:ahLst/>
            <a:cxnLst/>
            <a:rect l="l" t="t" r="r" b="b"/>
            <a:pathLst>
              <a:path w="447040" h="181609">
                <a:moveTo>
                  <a:pt x="41816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418161" y="181356"/>
                </a:lnTo>
                <a:lnTo>
                  <a:pt x="429280" y="179109"/>
                </a:lnTo>
                <a:lnTo>
                  <a:pt x="438363" y="172983"/>
                </a:lnTo>
                <a:lnTo>
                  <a:pt x="444489" y="163900"/>
                </a:lnTo>
                <a:lnTo>
                  <a:pt x="446736" y="152781"/>
                </a:lnTo>
                <a:lnTo>
                  <a:pt x="446736" y="28575"/>
                </a:lnTo>
                <a:lnTo>
                  <a:pt x="444489" y="17455"/>
                </a:lnTo>
                <a:lnTo>
                  <a:pt x="438363" y="8372"/>
                </a:lnTo>
                <a:lnTo>
                  <a:pt x="429280" y="2246"/>
                </a:lnTo>
                <a:lnTo>
                  <a:pt x="41816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98600" y="779486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09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74269" y="181356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1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30944" y="7200132"/>
            <a:ext cx="5676900" cy="10071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70180" indent="-158115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17081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170180" indent="-158115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17081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13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sz="1200" spc="-27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ProductName</a:t>
            </a:r>
            <a:r>
              <a:rPr sz="1000" spc="-19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Price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Stock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212725">
              <a:lnSpc>
                <a:spcPct val="100000"/>
              </a:lnSpc>
              <a:spcBef>
                <a:spcPts val="505"/>
              </a:spcBef>
            </a:pP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170180" indent="-158115">
              <a:lnSpc>
                <a:spcPct val="100000"/>
              </a:lnSpc>
              <a:spcBef>
                <a:spcPts val="500"/>
              </a:spcBef>
              <a:buClr>
                <a:srgbClr val="333333"/>
              </a:buClr>
              <a:buFont typeface="Arial"/>
              <a:buChar char="•"/>
              <a:tabLst>
                <a:tab pos="17081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112519"/>
            <a:ext cx="6400800" cy="2590800"/>
          </a:xfrm>
          <a:custGeom>
            <a:avLst/>
            <a:gdLst/>
            <a:ahLst/>
            <a:cxnLst/>
            <a:rect l="l" t="t" r="r" b="b"/>
            <a:pathLst>
              <a:path w="6400800" h="25908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562225"/>
                </a:lnTo>
                <a:lnTo>
                  <a:pt x="2246" y="2573344"/>
                </a:lnTo>
                <a:lnTo>
                  <a:pt x="8372" y="2582427"/>
                </a:lnTo>
                <a:lnTo>
                  <a:pt x="17455" y="2588553"/>
                </a:lnTo>
                <a:lnTo>
                  <a:pt x="28575" y="2590800"/>
                </a:lnTo>
                <a:lnTo>
                  <a:pt x="6372225" y="2590800"/>
                </a:lnTo>
                <a:lnTo>
                  <a:pt x="6383344" y="2588553"/>
                </a:lnTo>
                <a:lnTo>
                  <a:pt x="6392427" y="2582427"/>
                </a:lnTo>
                <a:lnTo>
                  <a:pt x="6398553" y="2573344"/>
                </a:lnTo>
                <a:lnTo>
                  <a:pt x="6400800" y="25622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5492619"/>
            <a:ext cx="6400800" cy="1524000"/>
          </a:xfrm>
          <a:custGeom>
            <a:avLst/>
            <a:gdLst/>
            <a:ahLst/>
            <a:cxnLst/>
            <a:rect l="l" t="t" r="r" b="b"/>
            <a:pathLst>
              <a:path w="6400800" h="15240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495424"/>
                </a:lnTo>
                <a:lnTo>
                  <a:pt x="2246" y="1506544"/>
                </a:lnTo>
                <a:lnTo>
                  <a:pt x="8372" y="1515627"/>
                </a:lnTo>
                <a:lnTo>
                  <a:pt x="17455" y="1521753"/>
                </a:lnTo>
                <a:lnTo>
                  <a:pt x="28575" y="1523999"/>
                </a:lnTo>
                <a:lnTo>
                  <a:pt x="6372225" y="1523999"/>
                </a:lnTo>
                <a:lnTo>
                  <a:pt x="6383344" y="1521753"/>
                </a:lnTo>
                <a:lnTo>
                  <a:pt x="6392427" y="1515627"/>
                </a:lnTo>
                <a:lnTo>
                  <a:pt x="6398553" y="1506544"/>
                </a:lnTo>
                <a:lnTo>
                  <a:pt x="6400800" y="1495424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660910"/>
            <a:ext cx="1326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4. Orders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MS Gothic"/>
                <a:cs typeface="MS Gothic"/>
              </a:rPr>
              <a:t>表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019" y="1177951"/>
            <a:ext cx="572325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180" marR="3708400" indent="-285115">
              <a:lnSpc>
                <a:spcPct val="140000"/>
              </a:lnSpc>
              <a:spcBef>
                <a:spcPts val="95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Orders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OrderID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</a:t>
            </a:r>
            <a:r>
              <a:rPr sz="1000" spc="-2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297180" marR="370840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ConsumerID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ProductID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Quantity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sz="1000" spc="-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297180" marR="285369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TotalAmount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DECIMAL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Status 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20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1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297180" marR="5080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sz="1000" spc="5" dirty="0">
                <a:latin typeface="Consolas"/>
                <a:cs typeface="Consolas"/>
              </a:rPr>
              <a:t>Consumers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DELETE CASCADE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sz="1000" spc="5" dirty="0">
                <a:latin typeface="Consolas"/>
                <a:cs typeface="Consolas"/>
              </a:rPr>
              <a:t>Products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sz="1000" spc="7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24633" y="4152200"/>
            <a:ext cx="589280" cy="181610"/>
          </a:xfrm>
          <a:custGeom>
            <a:avLst/>
            <a:gdLst/>
            <a:ahLst/>
            <a:cxnLst/>
            <a:rect l="l" t="t" r="r" b="b"/>
            <a:pathLst>
              <a:path w="589280" h="181610">
                <a:moveTo>
                  <a:pt x="560603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560603" y="181355"/>
                </a:lnTo>
                <a:lnTo>
                  <a:pt x="571722" y="179109"/>
                </a:lnTo>
                <a:lnTo>
                  <a:pt x="580805" y="172983"/>
                </a:lnTo>
                <a:lnTo>
                  <a:pt x="586931" y="163900"/>
                </a:lnTo>
                <a:lnTo>
                  <a:pt x="589178" y="152780"/>
                </a:lnTo>
                <a:lnTo>
                  <a:pt x="589178" y="28575"/>
                </a:lnTo>
                <a:lnTo>
                  <a:pt x="586931" y="17455"/>
                </a:lnTo>
                <a:lnTo>
                  <a:pt x="580805" y="8372"/>
                </a:lnTo>
                <a:lnTo>
                  <a:pt x="571722" y="2246"/>
                </a:lnTo>
                <a:lnTo>
                  <a:pt x="560603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73246" y="4152200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60774" y="4152200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10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03046" y="181355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0"/>
                </a:lnTo>
                <a:lnTo>
                  <a:pt x="731621" y="28575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98600" y="4399149"/>
            <a:ext cx="660400" cy="181610"/>
          </a:xfrm>
          <a:custGeom>
            <a:avLst/>
            <a:gdLst/>
            <a:ahLst/>
            <a:cxnLst/>
            <a:rect l="l" t="t" r="r" b="b"/>
            <a:pathLst>
              <a:path w="660400" h="181610">
                <a:moveTo>
                  <a:pt x="63182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631826" y="181355"/>
                </a:lnTo>
                <a:lnTo>
                  <a:pt x="642945" y="179109"/>
                </a:lnTo>
                <a:lnTo>
                  <a:pt x="652028" y="172983"/>
                </a:lnTo>
                <a:lnTo>
                  <a:pt x="658154" y="163900"/>
                </a:lnTo>
                <a:lnTo>
                  <a:pt x="660401" y="152780"/>
                </a:lnTo>
                <a:lnTo>
                  <a:pt x="660401" y="28575"/>
                </a:lnTo>
                <a:lnTo>
                  <a:pt x="658154" y="17455"/>
                </a:lnTo>
                <a:lnTo>
                  <a:pt x="652028" y="8372"/>
                </a:lnTo>
                <a:lnTo>
                  <a:pt x="642945" y="2246"/>
                </a:lnTo>
                <a:lnTo>
                  <a:pt x="63182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43683" y="4399149"/>
            <a:ext cx="874394" cy="181610"/>
          </a:xfrm>
          <a:custGeom>
            <a:avLst/>
            <a:gdLst/>
            <a:ahLst/>
            <a:cxnLst/>
            <a:rect l="l" t="t" r="r" b="b"/>
            <a:pathLst>
              <a:path w="874394" h="181610">
                <a:moveTo>
                  <a:pt x="84549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845491" y="181355"/>
                </a:lnTo>
                <a:lnTo>
                  <a:pt x="856610" y="179109"/>
                </a:lnTo>
                <a:lnTo>
                  <a:pt x="865693" y="172983"/>
                </a:lnTo>
                <a:lnTo>
                  <a:pt x="871819" y="163900"/>
                </a:lnTo>
                <a:lnTo>
                  <a:pt x="874066" y="152780"/>
                </a:lnTo>
                <a:lnTo>
                  <a:pt x="874066" y="28575"/>
                </a:lnTo>
                <a:lnTo>
                  <a:pt x="871819" y="17455"/>
                </a:lnTo>
                <a:lnTo>
                  <a:pt x="865693" y="8372"/>
                </a:lnTo>
                <a:lnTo>
                  <a:pt x="856610" y="2246"/>
                </a:lnTo>
                <a:lnTo>
                  <a:pt x="84549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02433" y="4399149"/>
            <a:ext cx="518159" cy="181610"/>
          </a:xfrm>
          <a:custGeom>
            <a:avLst/>
            <a:gdLst/>
            <a:ahLst/>
            <a:cxnLst/>
            <a:rect l="l" t="t" r="r" b="b"/>
            <a:pathLst>
              <a:path w="518160" h="181610">
                <a:moveTo>
                  <a:pt x="489383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489383" y="181355"/>
                </a:lnTo>
                <a:lnTo>
                  <a:pt x="500502" y="179109"/>
                </a:lnTo>
                <a:lnTo>
                  <a:pt x="509585" y="172983"/>
                </a:lnTo>
                <a:lnTo>
                  <a:pt x="515711" y="163900"/>
                </a:lnTo>
                <a:lnTo>
                  <a:pt x="517958" y="152780"/>
                </a:lnTo>
                <a:lnTo>
                  <a:pt x="517958" y="28575"/>
                </a:lnTo>
                <a:lnTo>
                  <a:pt x="515711" y="17455"/>
                </a:lnTo>
                <a:lnTo>
                  <a:pt x="509585" y="8372"/>
                </a:lnTo>
                <a:lnTo>
                  <a:pt x="500502" y="2246"/>
                </a:lnTo>
                <a:lnTo>
                  <a:pt x="489383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24633" y="7465499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09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4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03046" y="181355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0"/>
                </a:lnTo>
                <a:lnTo>
                  <a:pt x="731621" y="28574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15689" y="746549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09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4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4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03217" y="7465499"/>
            <a:ext cx="589280" cy="181610"/>
          </a:xfrm>
          <a:custGeom>
            <a:avLst/>
            <a:gdLst/>
            <a:ahLst/>
            <a:cxnLst/>
            <a:rect l="l" t="t" r="r" b="b"/>
            <a:pathLst>
              <a:path w="589279" h="181609">
                <a:moveTo>
                  <a:pt x="560603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4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560603" y="181355"/>
                </a:lnTo>
                <a:lnTo>
                  <a:pt x="571722" y="179109"/>
                </a:lnTo>
                <a:lnTo>
                  <a:pt x="580805" y="172983"/>
                </a:lnTo>
                <a:lnTo>
                  <a:pt x="586931" y="163900"/>
                </a:lnTo>
                <a:lnTo>
                  <a:pt x="589178" y="152780"/>
                </a:lnTo>
                <a:lnTo>
                  <a:pt x="589178" y="28574"/>
                </a:lnTo>
                <a:lnTo>
                  <a:pt x="586931" y="17455"/>
                </a:lnTo>
                <a:lnTo>
                  <a:pt x="580805" y="8372"/>
                </a:lnTo>
                <a:lnTo>
                  <a:pt x="571722" y="2246"/>
                </a:lnTo>
                <a:lnTo>
                  <a:pt x="560603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3100" y="3804414"/>
            <a:ext cx="6382385" cy="431736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28040" indent="-158750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14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sz="1200" spc="-27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-19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870585">
              <a:lnSpc>
                <a:spcPct val="100000"/>
              </a:lnSpc>
              <a:spcBef>
                <a:spcPts val="505"/>
              </a:spcBef>
            </a:pPr>
            <a:r>
              <a:rPr sz="1000" spc="5" dirty="0">
                <a:latin typeface="Consolas"/>
                <a:cs typeface="Consolas"/>
              </a:rPr>
              <a:t>Quantity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TotalAmount</a:t>
            </a:r>
            <a:r>
              <a:rPr sz="1000" spc="-18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Status</a:t>
            </a:r>
            <a:r>
              <a:rPr sz="1000" spc="-19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50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MS Gothic"/>
              <a:cs typeface="MS Gothic"/>
            </a:endParaRPr>
          </a:p>
          <a:p>
            <a:pPr marL="266065" indent="-254000">
              <a:lnSpc>
                <a:spcPct val="100000"/>
              </a:lnSpc>
              <a:buFont typeface="Arial"/>
              <a:buAutoNum type="arabicPeriod" startAt="5"/>
              <a:tabLst>
                <a:tab pos="266700" algn="l"/>
              </a:tabLst>
            </a:pPr>
            <a:r>
              <a:rPr sz="1800" b="1" spc="-5" dirty="0">
                <a:latin typeface="Arial"/>
                <a:cs typeface="Arial"/>
              </a:rPr>
              <a:t>Addresses</a:t>
            </a:r>
            <a:r>
              <a:rPr sz="1800" b="1" spc="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MS Gothic"/>
                <a:cs typeface="MS Gothic"/>
              </a:rPr>
              <a:t>表</a:t>
            </a:r>
            <a:endParaRPr sz="18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5"/>
            </a:pPr>
            <a:endParaRPr sz="1450">
              <a:latin typeface="MS Gothic"/>
              <a:cs typeface="MS Gothic"/>
            </a:endParaRPr>
          </a:p>
          <a:p>
            <a:pPr marL="419100" marR="4103370" indent="-28511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Addresses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AddressID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</a:t>
            </a:r>
            <a:r>
              <a:rPr sz="1000" spc="-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3818254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ConsumerID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Address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255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-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sz="1000" spc="5" dirty="0">
                <a:latin typeface="Consolas"/>
                <a:cs typeface="Consolas"/>
              </a:rPr>
              <a:t>Consumers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sz="1000" spc="7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Consolas"/>
              <a:cs typeface="Consolas"/>
            </a:endParaRPr>
          </a:p>
          <a:p>
            <a:pPr marL="828040" lvl="1" indent="-158750">
              <a:lnSpc>
                <a:spcPct val="100000"/>
              </a:lnSpc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AddressID</a:t>
            </a:r>
            <a:r>
              <a:rPr sz="1000" spc="13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sz="1200" spc="-2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Address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endParaRPr sz="1200">
              <a:latin typeface="MS Gothic"/>
              <a:cs typeface="MS Gothic"/>
            </a:endParaRPr>
          </a:p>
          <a:p>
            <a:pPr marL="825500">
              <a:lnSpc>
                <a:spcPct val="100000"/>
              </a:lnSpc>
              <a:spcBef>
                <a:spcPts val="505"/>
              </a:spcBef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112519"/>
            <a:ext cx="6400800" cy="1737360"/>
          </a:xfrm>
          <a:custGeom>
            <a:avLst/>
            <a:gdLst/>
            <a:ahLst/>
            <a:cxnLst/>
            <a:rect l="l" t="t" r="r" b="b"/>
            <a:pathLst>
              <a:path w="6400800" h="173736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708784"/>
                </a:lnTo>
                <a:lnTo>
                  <a:pt x="2246" y="1719904"/>
                </a:lnTo>
                <a:lnTo>
                  <a:pt x="8372" y="1728987"/>
                </a:lnTo>
                <a:lnTo>
                  <a:pt x="17455" y="1735113"/>
                </a:lnTo>
                <a:lnTo>
                  <a:pt x="28575" y="1737359"/>
                </a:lnTo>
                <a:lnTo>
                  <a:pt x="6372225" y="1737359"/>
                </a:lnTo>
                <a:lnTo>
                  <a:pt x="6383344" y="1735113"/>
                </a:lnTo>
                <a:lnTo>
                  <a:pt x="6392427" y="1728987"/>
                </a:lnTo>
                <a:lnTo>
                  <a:pt x="6398553" y="1719904"/>
                </a:lnTo>
                <a:lnTo>
                  <a:pt x="6400800" y="1708784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3100" y="660910"/>
            <a:ext cx="16567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6. Payments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MS Gothic"/>
                <a:cs typeface="MS Gothic"/>
              </a:rPr>
              <a:t>表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4633" y="3298760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10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03046" y="181355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0"/>
                </a:lnTo>
                <a:lnTo>
                  <a:pt x="731621" y="28575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15689" y="3298760"/>
            <a:ext cx="589280" cy="181610"/>
          </a:xfrm>
          <a:custGeom>
            <a:avLst/>
            <a:gdLst/>
            <a:ahLst/>
            <a:cxnLst/>
            <a:rect l="l" t="t" r="r" b="b"/>
            <a:pathLst>
              <a:path w="589279" h="181610">
                <a:moveTo>
                  <a:pt x="560604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560604" y="181355"/>
                </a:lnTo>
                <a:lnTo>
                  <a:pt x="571723" y="179109"/>
                </a:lnTo>
                <a:lnTo>
                  <a:pt x="580807" y="172983"/>
                </a:lnTo>
                <a:lnTo>
                  <a:pt x="586932" y="163900"/>
                </a:lnTo>
                <a:lnTo>
                  <a:pt x="589179" y="152780"/>
                </a:lnTo>
                <a:lnTo>
                  <a:pt x="589179" y="28575"/>
                </a:lnTo>
                <a:lnTo>
                  <a:pt x="586932" y="17455"/>
                </a:lnTo>
                <a:lnTo>
                  <a:pt x="580807" y="8372"/>
                </a:lnTo>
                <a:lnTo>
                  <a:pt x="571723" y="2246"/>
                </a:lnTo>
                <a:lnTo>
                  <a:pt x="56060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89553" y="3298760"/>
            <a:ext cx="518159" cy="181610"/>
          </a:xfrm>
          <a:custGeom>
            <a:avLst/>
            <a:gdLst/>
            <a:ahLst/>
            <a:cxnLst/>
            <a:rect l="l" t="t" r="r" b="b"/>
            <a:pathLst>
              <a:path w="518160" h="181610">
                <a:moveTo>
                  <a:pt x="48938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489381" y="181355"/>
                </a:lnTo>
                <a:lnTo>
                  <a:pt x="500501" y="179109"/>
                </a:lnTo>
                <a:lnTo>
                  <a:pt x="509584" y="172983"/>
                </a:lnTo>
                <a:lnTo>
                  <a:pt x="515710" y="163900"/>
                </a:lnTo>
                <a:lnTo>
                  <a:pt x="517956" y="152780"/>
                </a:lnTo>
                <a:lnTo>
                  <a:pt x="517956" y="28575"/>
                </a:lnTo>
                <a:lnTo>
                  <a:pt x="515710" y="17455"/>
                </a:lnTo>
                <a:lnTo>
                  <a:pt x="509584" y="8372"/>
                </a:lnTo>
                <a:lnTo>
                  <a:pt x="500501" y="2246"/>
                </a:lnTo>
                <a:lnTo>
                  <a:pt x="48938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98600" y="3545709"/>
            <a:ext cx="1016635" cy="181610"/>
          </a:xfrm>
          <a:custGeom>
            <a:avLst/>
            <a:gdLst/>
            <a:ahLst/>
            <a:cxnLst/>
            <a:rect l="l" t="t" r="r" b="b"/>
            <a:pathLst>
              <a:path w="1016635" h="181610">
                <a:moveTo>
                  <a:pt x="987934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987934" y="181355"/>
                </a:lnTo>
                <a:lnTo>
                  <a:pt x="999053" y="179109"/>
                </a:lnTo>
                <a:lnTo>
                  <a:pt x="1008136" y="172983"/>
                </a:lnTo>
                <a:lnTo>
                  <a:pt x="1014262" y="163900"/>
                </a:lnTo>
                <a:lnTo>
                  <a:pt x="1016509" y="152780"/>
                </a:lnTo>
                <a:lnTo>
                  <a:pt x="1016509" y="28575"/>
                </a:lnTo>
                <a:lnTo>
                  <a:pt x="1014262" y="17455"/>
                </a:lnTo>
                <a:lnTo>
                  <a:pt x="1008136" y="8372"/>
                </a:lnTo>
                <a:lnTo>
                  <a:pt x="999053" y="2246"/>
                </a:lnTo>
                <a:lnTo>
                  <a:pt x="98793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3100" y="1177951"/>
            <a:ext cx="6003925" cy="4959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0" marR="3724275" indent="-285115">
              <a:lnSpc>
                <a:spcPct val="140000"/>
              </a:lnSpc>
              <a:spcBef>
                <a:spcPts val="95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Payments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PaymentID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 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OrderID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sz="100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Amount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DECIMAL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PaymentMethod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2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sz="1000" spc="5" dirty="0">
                <a:latin typeface="Consolas"/>
                <a:cs typeface="Consolas"/>
              </a:rPr>
              <a:t>Orders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sz="1000" spc="6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Consolas"/>
              <a:cs typeface="Consolas"/>
            </a:endParaRPr>
          </a:p>
          <a:p>
            <a:pPr marL="828040" indent="-158750">
              <a:lnSpc>
                <a:spcPct val="100000"/>
              </a:lnSpc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PaymentID</a:t>
            </a:r>
            <a:r>
              <a:rPr sz="1000" spc="14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sz="1200" spc="-2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-19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Amount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870585">
              <a:lnSpc>
                <a:spcPct val="100000"/>
              </a:lnSpc>
              <a:spcBef>
                <a:spcPts val="505"/>
              </a:spcBef>
            </a:pPr>
            <a:r>
              <a:rPr sz="1000" spc="5" dirty="0">
                <a:latin typeface="Consolas"/>
                <a:cs typeface="Consolas"/>
              </a:rPr>
              <a:t>PaymentMethod</a:t>
            </a:r>
            <a:r>
              <a:rPr sz="1000" spc="-19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505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33"/>
              </a:buClr>
              <a:buFont typeface="Arial"/>
              <a:buChar char="•"/>
            </a:pPr>
            <a:endParaRPr sz="15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1800" b="1" spc="35" dirty="0">
                <a:latin typeface="微软雅黑"/>
                <a:cs typeface="微软雅黑"/>
              </a:rPr>
              <a:t>证</a:t>
            </a:r>
            <a:r>
              <a:rPr sz="1800" b="1" spc="-10" dirty="0">
                <a:latin typeface="MS Gothic"/>
                <a:cs typeface="MS Gothic"/>
              </a:rPr>
              <a:t>明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所有表都符合以下条件：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buFont typeface="Arial"/>
              <a:buChar char="•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每个表中的所有属性都是原子的，没有重复的列，符合第一范式</a:t>
            </a:r>
            <a:r>
              <a:rPr sz="1200" spc="-28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每个表的非主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属性完全依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，符合第二范式</a:t>
            </a:r>
            <a:r>
              <a:rPr sz="1200" spc="-2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每个表的非主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属性没有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，直接依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，符合第三范式</a:t>
            </a:r>
            <a:r>
              <a:rPr sz="1200" spc="-33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此外，由于所有表的候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选键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都只有一个，因此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这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些表也符合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BCNF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（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Boyce-Codd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范式）。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100" y="6402959"/>
            <a:ext cx="6330315" cy="224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" dirty="0">
                <a:latin typeface="Arial"/>
                <a:cs typeface="Arial"/>
              </a:rPr>
              <a:t>13. </a:t>
            </a:r>
            <a:r>
              <a:rPr sz="2100" b="1" dirty="0">
                <a:latin typeface="微软雅黑"/>
                <a:cs typeface="微软雅黑"/>
              </a:rPr>
              <a:t>实</a:t>
            </a:r>
            <a:r>
              <a:rPr sz="2100" b="1" spc="40" dirty="0">
                <a:latin typeface="微软雅黑"/>
                <a:cs typeface="微软雅黑"/>
              </a:rPr>
              <a:t>现</a:t>
            </a:r>
            <a:r>
              <a:rPr sz="2100" b="1" spc="-55" dirty="0">
                <a:latin typeface="MS Gothic"/>
                <a:cs typeface="MS Gothic"/>
              </a:rPr>
              <a:t>的</a:t>
            </a:r>
            <a:r>
              <a:rPr sz="2100" b="1" spc="40" dirty="0">
                <a:latin typeface="微软雅黑"/>
                <a:cs typeface="微软雅黑"/>
              </a:rPr>
              <a:t>评</a:t>
            </a:r>
            <a:r>
              <a:rPr sz="2100" b="1" spc="-55" dirty="0">
                <a:latin typeface="MS Gothic"/>
                <a:cs typeface="MS Gothic"/>
              </a:rPr>
              <a:t>分</a:t>
            </a:r>
            <a:r>
              <a:rPr sz="2100" b="1" dirty="0">
                <a:latin typeface="微软雅黑"/>
                <a:cs typeface="微软雅黑"/>
              </a:rPr>
              <a:t>项</a:t>
            </a:r>
            <a:r>
              <a:rPr sz="2100" b="1" spc="40" dirty="0">
                <a:latin typeface="微软雅黑"/>
                <a:cs typeface="微软雅黑"/>
              </a:rPr>
              <a:t>说</a:t>
            </a:r>
            <a:r>
              <a:rPr sz="2100" b="1" spc="-10" dirty="0">
                <a:latin typeface="MS Gothic"/>
                <a:cs typeface="MS Gothic"/>
              </a:rPr>
              <a:t>明</a:t>
            </a:r>
            <a:endParaRPr sz="21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100" b="1" dirty="0">
                <a:latin typeface="微软雅黑"/>
                <a:cs typeface="微软雅黑"/>
              </a:rPr>
              <a:t>该</a:t>
            </a:r>
            <a:r>
              <a:rPr sz="2100" b="1" spc="40" dirty="0">
                <a:latin typeface="微软雅黑"/>
                <a:cs typeface="微软雅黑"/>
              </a:rPr>
              <a:t>项</a:t>
            </a:r>
            <a:r>
              <a:rPr sz="2100" b="1" spc="-10" dirty="0">
                <a:latin typeface="MS Gothic"/>
                <a:cs typeface="MS Gothic"/>
              </a:rPr>
              <a:t>目完成了全部的</a:t>
            </a:r>
            <a:r>
              <a:rPr sz="2100" b="1" spc="-55" dirty="0">
                <a:latin typeface="MS Gothic"/>
                <a:cs typeface="MS Gothic"/>
              </a:rPr>
              <a:t>任</a:t>
            </a:r>
            <a:r>
              <a:rPr sz="2100" b="1" dirty="0">
                <a:latin typeface="微软雅黑"/>
                <a:cs typeface="微软雅黑"/>
              </a:rPr>
              <a:t>务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微软雅黑"/>
              <a:cs typeface="微软雅黑"/>
            </a:endParaRPr>
          </a:p>
          <a:p>
            <a:pPr marL="17145" marR="5080" indent="-508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1.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MS Gothic"/>
                <a:cs typeface="MS Gothic"/>
              </a:rPr>
              <a:t>使</a:t>
            </a:r>
            <a:r>
              <a:rPr sz="1800" b="1" spc="-50" dirty="0">
                <a:latin typeface="MS Gothic"/>
                <a:cs typeface="MS Gothic"/>
              </a:rPr>
              <a:t>用</a:t>
            </a:r>
            <a:r>
              <a:rPr sz="1800" b="1" dirty="0">
                <a:latin typeface="Arial"/>
                <a:cs typeface="Arial"/>
              </a:rPr>
              <a:t>Gauss</a:t>
            </a:r>
            <a:r>
              <a:rPr sz="1800" b="1" spc="-10" dirty="0">
                <a:latin typeface="MS Gothic"/>
                <a:cs typeface="MS Gothic"/>
              </a:rPr>
              <a:t>数</a:t>
            </a:r>
            <a:r>
              <a:rPr sz="1800" b="1" spc="-50" dirty="0">
                <a:latin typeface="MS Gothic"/>
                <a:cs typeface="MS Gothic"/>
              </a:rPr>
              <a:t>据</a:t>
            </a:r>
            <a:r>
              <a:rPr sz="1800" b="1" spc="35" dirty="0">
                <a:latin typeface="微软雅黑"/>
                <a:cs typeface="微软雅黑"/>
              </a:rPr>
              <a:t>库</a:t>
            </a:r>
            <a:r>
              <a:rPr sz="1800" b="1" spc="-10" dirty="0">
                <a:latin typeface="MS Gothic"/>
                <a:cs typeface="MS Gothic"/>
              </a:rPr>
              <a:t>，至少</a:t>
            </a:r>
            <a:r>
              <a:rPr sz="1800" b="1" spc="-50" dirty="0">
                <a:latin typeface="MS Gothic"/>
                <a:cs typeface="MS Gothic"/>
              </a:rPr>
              <a:t>六</a:t>
            </a:r>
            <a:r>
              <a:rPr sz="1800" b="1" spc="35" dirty="0">
                <a:latin typeface="微软雅黑"/>
                <a:cs typeface="微软雅黑"/>
              </a:rPr>
              <a:t>张</a:t>
            </a:r>
            <a:r>
              <a:rPr sz="1800" b="1" spc="-10" dirty="0">
                <a:latin typeface="MS Gothic"/>
                <a:cs typeface="MS Gothic"/>
              </a:rPr>
              <a:t>表，</a:t>
            </a:r>
            <a:r>
              <a:rPr sz="1800" b="1" spc="-50" dirty="0">
                <a:latin typeface="MS Gothic"/>
                <a:cs typeface="MS Gothic"/>
              </a:rPr>
              <a:t>含</a:t>
            </a:r>
            <a:r>
              <a:rPr sz="1800" b="1" spc="-5" dirty="0">
                <a:latin typeface="Arial"/>
                <a:cs typeface="Arial"/>
              </a:rPr>
              <a:t>ER</a:t>
            </a:r>
            <a:r>
              <a:rPr sz="1800" b="1" spc="35" dirty="0">
                <a:latin typeface="微软雅黑"/>
                <a:cs typeface="微软雅黑"/>
              </a:rPr>
              <a:t>图</a:t>
            </a:r>
            <a:r>
              <a:rPr sz="1800" b="1" spc="-10" dirty="0">
                <a:latin typeface="MS Gothic"/>
                <a:cs typeface="MS Gothic"/>
              </a:rPr>
              <a:t>，范</a:t>
            </a:r>
            <a:r>
              <a:rPr sz="1800" b="1" spc="-50" dirty="0">
                <a:latin typeface="MS Gothic"/>
                <a:cs typeface="MS Gothic"/>
              </a:rPr>
              <a:t>式</a:t>
            </a:r>
            <a:r>
              <a:rPr sz="1800" b="1" spc="35" dirty="0">
                <a:latin typeface="微软雅黑"/>
                <a:cs typeface="微软雅黑"/>
              </a:rPr>
              <a:t>证</a:t>
            </a:r>
            <a:r>
              <a:rPr sz="1800" b="1" spc="-10" dirty="0">
                <a:latin typeface="MS Gothic"/>
                <a:cs typeface="MS Gothic"/>
              </a:rPr>
              <a:t>明，提交 数</a:t>
            </a:r>
            <a:r>
              <a:rPr sz="1800" b="1" spc="-50" dirty="0">
                <a:latin typeface="MS Gothic"/>
                <a:cs typeface="MS Gothic"/>
              </a:rPr>
              <a:t>据</a:t>
            </a:r>
            <a:r>
              <a:rPr sz="1800" b="1" dirty="0">
                <a:latin typeface="微软雅黑"/>
                <a:cs typeface="微软雅黑"/>
              </a:rPr>
              <a:t>库</a:t>
            </a:r>
            <a:r>
              <a:rPr sz="1800" b="1" spc="35" dirty="0">
                <a:latin typeface="微软雅黑"/>
                <a:cs typeface="微软雅黑"/>
              </a:rPr>
              <a:t>语</a:t>
            </a:r>
            <a:r>
              <a:rPr sz="1800" b="1" spc="-10" dirty="0">
                <a:latin typeface="MS Gothic"/>
                <a:cs typeface="MS Gothic"/>
              </a:rPr>
              <a:t>句与数</a:t>
            </a:r>
            <a:r>
              <a:rPr sz="1800" b="1" spc="-50" dirty="0">
                <a:latin typeface="MS Gothic"/>
                <a:cs typeface="MS Gothic"/>
              </a:rPr>
              <a:t>据</a:t>
            </a:r>
            <a:r>
              <a:rPr sz="1800" b="1" dirty="0">
                <a:latin typeface="微软雅黑"/>
                <a:cs typeface="微软雅黑"/>
              </a:rPr>
              <a:t>库</a:t>
            </a:r>
            <a:r>
              <a:rPr sz="1800" b="1" spc="35" dirty="0">
                <a:latin typeface="微软雅黑"/>
                <a:cs typeface="微软雅黑"/>
              </a:rPr>
              <a:t>备</a:t>
            </a:r>
            <a:r>
              <a:rPr sz="1800" b="1" spc="-10" dirty="0">
                <a:latin typeface="MS Gothic"/>
                <a:cs typeface="MS Gothic"/>
              </a:rPr>
              <a:t>份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使用了至少六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张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0575" y="685800"/>
            <a:ext cx="1504950" cy="1762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3100" y="2619504"/>
            <a:ext cx="389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R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图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800" y="3006089"/>
            <a:ext cx="6400800" cy="47423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3100" y="7910472"/>
            <a:ext cx="583438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范式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明在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</a:rPr>
              <a:t>Design</a:t>
            </a:r>
            <a:r>
              <a:rPr sz="1200" spc="-10" dirty="0">
                <a:solidFill>
                  <a:srgbClr val="0088CC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</a:rPr>
              <a:t>documents.pdf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中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以下是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进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行第三范式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（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3NF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）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BCNF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（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Boyce-Codd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范式）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范化的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明。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066800"/>
            <a:ext cx="6400800" cy="1097280"/>
          </a:xfrm>
          <a:custGeom>
            <a:avLst/>
            <a:gdLst/>
            <a:ahLst/>
            <a:cxnLst/>
            <a:rect l="l" t="t" r="r" b="b"/>
            <a:pathLst>
              <a:path w="6400800" h="109728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068704"/>
                </a:lnTo>
                <a:lnTo>
                  <a:pt x="2246" y="1079824"/>
                </a:lnTo>
                <a:lnTo>
                  <a:pt x="8372" y="1088907"/>
                </a:lnTo>
                <a:lnTo>
                  <a:pt x="17455" y="1095033"/>
                </a:lnTo>
                <a:lnTo>
                  <a:pt x="28575" y="1097279"/>
                </a:lnTo>
                <a:lnTo>
                  <a:pt x="6372225" y="1097279"/>
                </a:lnTo>
                <a:lnTo>
                  <a:pt x="6383344" y="1095033"/>
                </a:lnTo>
                <a:lnTo>
                  <a:pt x="6392427" y="1088907"/>
                </a:lnTo>
                <a:lnTo>
                  <a:pt x="6398553" y="1079824"/>
                </a:lnTo>
                <a:lnTo>
                  <a:pt x="6400800" y="1068704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3625719"/>
            <a:ext cx="6400800" cy="1310640"/>
          </a:xfrm>
          <a:custGeom>
            <a:avLst/>
            <a:gdLst/>
            <a:ahLst/>
            <a:cxnLst/>
            <a:rect l="l" t="t" r="r" b="b"/>
            <a:pathLst>
              <a:path w="6400800" h="131063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282064"/>
                </a:lnTo>
                <a:lnTo>
                  <a:pt x="2246" y="1293184"/>
                </a:lnTo>
                <a:lnTo>
                  <a:pt x="8372" y="1302267"/>
                </a:lnTo>
                <a:lnTo>
                  <a:pt x="17455" y="1308393"/>
                </a:lnTo>
                <a:lnTo>
                  <a:pt x="28575" y="1310639"/>
                </a:lnTo>
                <a:lnTo>
                  <a:pt x="6372225" y="1310639"/>
                </a:lnTo>
                <a:lnTo>
                  <a:pt x="6383344" y="1308393"/>
                </a:lnTo>
                <a:lnTo>
                  <a:pt x="6392427" y="1302267"/>
                </a:lnTo>
                <a:lnTo>
                  <a:pt x="6398553" y="1293184"/>
                </a:lnTo>
                <a:lnTo>
                  <a:pt x="6400800" y="1282064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" y="6397999"/>
            <a:ext cx="6400800" cy="2164080"/>
          </a:xfrm>
          <a:custGeom>
            <a:avLst/>
            <a:gdLst/>
            <a:ahLst/>
            <a:cxnLst/>
            <a:rect l="l" t="t" r="r" b="b"/>
            <a:pathLst>
              <a:path w="6400800" h="216407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135505"/>
                </a:lnTo>
                <a:lnTo>
                  <a:pt x="2246" y="2146624"/>
                </a:lnTo>
                <a:lnTo>
                  <a:pt x="8372" y="2155707"/>
                </a:lnTo>
                <a:lnTo>
                  <a:pt x="17455" y="2161833"/>
                </a:lnTo>
                <a:lnTo>
                  <a:pt x="28575" y="2164080"/>
                </a:lnTo>
                <a:lnTo>
                  <a:pt x="6372225" y="2164080"/>
                </a:lnTo>
                <a:lnTo>
                  <a:pt x="6383344" y="2161833"/>
                </a:lnTo>
                <a:lnTo>
                  <a:pt x="6392427" y="2155707"/>
                </a:lnTo>
                <a:lnTo>
                  <a:pt x="6398553" y="2146624"/>
                </a:lnTo>
                <a:lnTo>
                  <a:pt x="6400800" y="213550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38574" y="2612960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24633" y="2859909"/>
            <a:ext cx="660400" cy="181610"/>
          </a:xfrm>
          <a:custGeom>
            <a:avLst/>
            <a:gdLst/>
            <a:ahLst/>
            <a:cxnLst/>
            <a:rect l="l" t="t" r="r" b="b"/>
            <a:pathLst>
              <a:path w="660400" h="181610">
                <a:moveTo>
                  <a:pt x="6318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631825" y="181355"/>
                </a:lnTo>
                <a:lnTo>
                  <a:pt x="642944" y="179109"/>
                </a:lnTo>
                <a:lnTo>
                  <a:pt x="652027" y="172983"/>
                </a:lnTo>
                <a:lnTo>
                  <a:pt x="658153" y="163900"/>
                </a:lnTo>
                <a:lnTo>
                  <a:pt x="660400" y="152780"/>
                </a:lnTo>
                <a:lnTo>
                  <a:pt x="660400" y="28575"/>
                </a:lnTo>
                <a:lnTo>
                  <a:pt x="658153" y="17455"/>
                </a:lnTo>
                <a:lnTo>
                  <a:pt x="652027" y="8372"/>
                </a:lnTo>
                <a:lnTo>
                  <a:pt x="642944" y="2246"/>
                </a:lnTo>
                <a:lnTo>
                  <a:pt x="63182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79317" y="285990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3100" y="662942"/>
            <a:ext cx="5950585" cy="3907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 indent="-212090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224790" algn="l"/>
              </a:tabLst>
            </a:pPr>
            <a:r>
              <a:rPr sz="1500" b="1" spc="-5" dirty="0">
                <a:latin typeface="Arial"/>
                <a:cs typeface="Arial"/>
              </a:rPr>
              <a:t>Consumers</a:t>
            </a:r>
            <a:r>
              <a:rPr sz="1500" b="1" spc="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AutoNum type="arabicPeriod"/>
            </a:pPr>
            <a:endParaRPr sz="1450">
              <a:latin typeface="MS Gothic"/>
              <a:cs typeface="MS Gothic"/>
            </a:endParaRPr>
          </a:p>
          <a:p>
            <a:pPr marL="419100" marR="3458210" indent="-28511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Consumers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ConsumerID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 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Password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-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Consolas"/>
              <a:cs typeface="Consolas"/>
            </a:endParaRPr>
          </a:p>
          <a:p>
            <a:pPr marL="828040" lvl="1" indent="-158750">
              <a:lnSpc>
                <a:spcPct val="100000"/>
              </a:lnSpc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10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只有一个候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选键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，即</a:t>
            </a:r>
            <a:r>
              <a:rPr sz="1200" spc="7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-20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，所以不存在部分依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505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10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Password</a:t>
            </a:r>
            <a:r>
              <a:rPr sz="1000" spc="12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仅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</a:t>
            </a:r>
            <a:r>
              <a:rPr sz="1200" spc="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-20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（主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），没有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333333"/>
              </a:buClr>
              <a:buFont typeface="Arial"/>
              <a:buChar char="•"/>
            </a:pPr>
            <a:endParaRPr sz="1350">
              <a:latin typeface="MS Gothic"/>
              <a:cs typeface="MS Gothic"/>
            </a:endParaRPr>
          </a:p>
          <a:p>
            <a:pPr marL="224154" indent="-212090">
              <a:lnSpc>
                <a:spcPct val="100000"/>
              </a:lnSpc>
              <a:buFont typeface="Arial"/>
              <a:buAutoNum type="arabicPeriod" startAt="2"/>
              <a:tabLst>
                <a:tab pos="224790" algn="l"/>
              </a:tabLst>
            </a:pPr>
            <a:r>
              <a:rPr sz="1500" b="1" dirty="0">
                <a:latin typeface="Arial"/>
                <a:cs typeface="Arial"/>
              </a:rPr>
              <a:t>Merchants</a:t>
            </a:r>
            <a:r>
              <a:rPr sz="1500" b="1" spc="25" dirty="0">
                <a:latin typeface="Arial"/>
                <a:cs typeface="Arial"/>
              </a:rPr>
              <a:t> </a:t>
            </a:r>
            <a:r>
              <a:rPr sz="1500" b="1" spc="-10" dirty="0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MS Gothic"/>
              <a:cs typeface="MS Gothic"/>
            </a:endParaRPr>
          </a:p>
          <a:p>
            <a:pPr marL="419100" marR="3458210" indent="-28511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Merchants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MerchantID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 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Password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-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38574" y="538523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24633" y="5632189"/>
            <a:ext cx="660400" cy="181610"/>
          </a:xfrm>
          <a:custGeom>
            <a:avLst/>
            <a:gdLst/>
            <a:ahLst/>
            <a:cxnLst/>
            <a:rect l="l" t="t" r="r" b="b"/>
            <a:pathLst>
              <a:path w="660400" h="181610">
                <a:moveTo>
                  <a:pt x="6318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631825" y="181356"/>
                </a:lnTo>
                <a:lnTo>
                  <a:pt x="642944" y="179109"/>
                </a:lnTo>
                <a:lnTo>
                  <a:pt x="652027" y="172983"/>
                </a:lnTo>
                <a:lnTo>
                  <a:pt x="658153" y="163900"/>
                </a:lnTo>
                <a:lnTo>
                  <a:pt x="660400" y="152781"/>
                </a:lnTo>
                <a:lnTo>
                  <a:pt x="660400" y="28575"/>
                </a:lnTo>
                <a:lnTo>
                  <a:pt x="658153" y="17455"/>
                </a:lnTo>
                <a:lnTo>
                  <a:pt x="652027" y="8372"/>
                </a:lnTo>
                <a:lnTo>
                  <a:pt x="642944" y="2246"/>
                </a:lnTo>
                <a:lnTo>
                  <a:pt x="63182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79317" y="563218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74269" y="181356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1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3100" y="5037453"/>
            <a:ext cx="5950585" cy="31584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28040" indent="-158750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10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只有一个候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选键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，即</a:t>
            </a:r>
            <a:r>
              <a:rPr sz="1200" spc="7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-20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，所以不存在部分依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505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10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Password</a:t>
            </a:r>
            <a:r>
              <a:rPr sz="1000" spc="12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仅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</a:t>
            </a:r>
            <a:r>
              <a:rPr sz="1200" spc="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-20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（主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），没有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1500" b="1" spc="-5" dirty="0">
                <a:latin typeface="Arial"/>
                <a:cs typeface="Arial"/>
              </a:rPr>
              <a:t>3. Products</a:t>
            </a:r>
            <a:r>
              <a:rPr sz="1500" b="1" spc="45" dirty="0">
                <a:latin typeface="Arial"/>
                <a:cs typeface="Arial"/>
              </a:rPr>
              <a:t> </a:t>
            </a:r>
            <a:r>
              <a:rPr sz="1500" b="1" spc="-10" dirty="0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MS Gothic"/>
              <a:cs typeface="MS Gothic"/>
            </a:endParaRPr>
          </a:p>
          <a:p>
            <a:pPr marL="419100" marR="3671570" indent="-28511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Products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ProductID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</a:t>
            </a:r>
            <a:r>
              <a:rPr sz="1000" spc="-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310134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ProductName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Price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DECIMAL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Stock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MerchantID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sz="1000" spc="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sz="1000" spc="5" dirty="0">
                <a:latin typeface="Consolas"/>
                <a:cs typeface="Consolas"/>
              </a:rPr>
              <a:t>Merchants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sz="1000" spc="8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624633" y="9010958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09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4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03046" y="181355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0"/>
                </a:lnTo>
                <a:lnTo>
                  <a:pt x="731621" y="28574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15689" y="9010958"/>
            <a:ext cx="874394" cy="181610"/>
          </a:xfrm>
          <a:custGeom>
            <a:avLst/>
            <a:gdLst/>
            <a:ahLst/>
            <a:cxnLst/>
            <a:rect l="l" t="t" r="r" b="b"/>
            <a:pathLst>
              <a:path w="874395" h="181609">
                <a:moveTo>
                  <a:pt x="84549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4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845491" y="181355"/>
                </a:lnTo>
                <a:lnTo>
                  <a:pt x="856610" y="179109"/>
                </a:lnTo>
                <a:lnTo>
                  <a:pt x="865693" y="172983"/>
                </a:lnTo>
                <a:lnTo>
                  <a:pt x="871819" y="163900"/>
                </a:lnTo>
                <a:lnTo>
                  <a:pt x="874066" y="152780"/>
                </a:lnTo>
                <a:lnTo>
                  <a:pt x="874066" y="28574"/>
                </a:lnTo>
                <a:lnTo>
                  <a:pt x="871819" y="17455"/>
                </a:lnTo>
                <a:lnTo>
                  <a:pt x="865693" y="8372"/>
                </a:lnTo>
                <a:lnTo>
                  <a:pt x="856610" y="2246"/>
                </a:lnTo>
                <a:lnTo>
                  <a:pt x="84549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74439" y="9010958"/>
            <a:ext cx="447040" cy="181610"/>
          </a:xfrm>
          <a:custGeom>
            <a:avLst/>
            <a:gdLst/>
            <a:ahLst/>
            <a:cxnLst/>
            <a:rect l="l" t="t" r="r" b="b"/>
            <a:pathLst>
              <a:path w="447039" h="181609">
                <a:moveTo>
                  <a:pt x="418160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4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418160" y="181355"/>
                </a:lnTo>
                <a:lnTo>
                  <a:pt x="429279" y="179109"/>
                </a:lnTo>
                <a:lnTo>
                  <a:pt x="438362" y="172983"/>
                </a:lnTo>
                <a:lnTo>
                  <a:pt x="444488" y="163900"/>
                </a:lnTo>
                <a:lnTo>
                  <a:pt x="446735" y="152780"/>
                </a:lnTo>
                <a:lnTo>
                  <a:pt x="446735" y="28574"/>
                </a:lnTo>
                <a:lnTo>
                  <a:pt x="444488" y="17455"/>
                </a:lnTo>
                <a:lnTo>
                  <a:pt x="438362" y="8372"/>
                </a:lnTo>
                <a:lnTo>
                  <a:pt x="429279" y="2246"/>
                </a:lnTo>
                <a:lnTo>
                  <a:pt x="41816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05857" y="9010958"/>
            <a:ext cx="447040" cy="181610"/>
          </a:xfrm>
          <a:custGeom>
            <a:avLst/>
            <a:gdLst/>
            <a:ahLst/>
            <a:cxnLst/>
            <a:rect l="l" t="t" r="r" b="b"/>
            <a:pathLst>
              <a:path w="447040" h="181609">
                <a:moveTo>
                  <a:pt x="41816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4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418161" y="181355"/>
                </a:lnTo>
                <a:lnTo>
                  <a:pt x="429280" y="179109"/>
                </a:lnTo>
                <a:lnTo>
                  <a:pt x="438363" y="172983"/>
                </a:lnTo>
                <a:lnTo>
                  <a:pt x="444489" y="163900"/>
                </a:lnTo>
                <a:lnTo>
                  <a:pt x="446736" y="152780"/>
                </a:lnTo>
                <a:lnTo>
                  <a:pt x="446736" y="28574"/>
                </a:lnTo>
                <a:lnTo>
                  <a:pt x="444489" y="17455"/>
                </a:lnTo>
                <a:lnTo>
                  <a:pt x="438363" y="8372"/>
                </a:lnTo>
                <a:lnTo>
                  <a:pt x="429280" y="2246"/>
                </a:lnTo>
                <a:lnTo>
                  <a:pt x="41816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30944" y="8663172"/>
            <a:ext cx="5676900" cy="5130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70180" indent="-158115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17081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170180" indent="-158115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17081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13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sz="1200" spc="-27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ProductName</a:t>
            </a:r>
            <a:r>
              <a:rPr sz="1000" spc="-19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Price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Stock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748090"/>
            <a:ext cx="6400800" cy="2590800"/>
          </a:xfrm>
          <a:custGeom>
            <a:avLst/>
            <a:gdLst/>
            <a:ahLst/>
            <a:cxnLst/>
            <a:rect l="l" t="t" r="r" b="b"/>
            <a:pathLst>
              <a:path w="6400800" h="25908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562225"/>
                </a:lnTo>
                <a:lnTo>
                  <a:pt x="2246" y="2573344"/>
                </a:lnTo>
                <a:lnTo>
                  <a:pt x="8372" y="2582427"/>
                </a:lnTo>
                <a:lnTo>
                  <a:pt x="17455" y="2588553"/>
                </a:lnTo>
                <a:lnTo>
                  <a:pt x="28575" y="2590800"/>
                </a:lnTo>
                <a:lnTo>
                  <a:pt x="6372225" y="2590800"/>
                </a:lnTo>
                <a:lnTo>
                  <a:pt x="6383344" y="2588553"/>
                </a:lnTo>
                <a:lnTo>
                  <a:pt x="6392427" y="2582427"/>
                </a:lnTo>
                <a:lnTo>
                  <a:pt x="6398553" y="2573344"/>
                </a:lnTo>
                <a:lnTo>
                  <a:pt x="6400800" y="25622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044369"/>
            <a:ext cx="6400800" cy="1524000"/>
          </a:xfrm>
          <a:custGeom>
            <a:avLst/>
            <a:gdLst/>
            <a:ahLst/>
            <a:cxnLst/>
            <a:rect l="l" t="t" r="r" b="b"/>
            <a:pathLst>
              <a:path w="6400800" h="15240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495425"/>
                </a:lnTo>
                <a:lnTo>
                  <a:pt x="2246" y="1506544"/>
                </a:lnTo>
                <a:lnTo>
                  <a:pt x="8372" y="1515627"/>
                </a:lnTo>
                <a:lnTo>
                  <a:pt x="17455" y="1521753"/>
                </a:lnTo>
                <a:lnTo>
                  <a:pt x="28575" y="1524000"/>
                </a:lnTo>
                <a:lnTo>
                  <a:pt x="6372225" y="1524000"/>
                </a:lnTo>
                <a:lnTo>
                  <a:pt x="6383344" y="1521753"/>
                </a:lnTo>
                <a:lnTo>
                  <a:pt x="6392427" y="1515627"/>
                </a:lnTo>
                <a:lnTo>
                  <a:pt x="6398553" y="1506544"/>
                </a:lnTo>
                <a:lnTo>
                  <a:pt x="6400800" y="14954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8600" y="738440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09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3100" y="631385"/>
            <a:ext cx="5845175" cy="33413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870585">
              <a:lnSpc>
                <a:spcPct val="100000"/>
              </a:lnSpc>
              <a:spcBef>
                <a:spcPts val="605"/>
              </a:spcBef>
            </a:pP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50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1500" b="1" spc="-5" dirty="0">
                <a:latin typeface="Arial"/>
                <a:cs typeface="Arial"/>
              </a:rPr>
              <a:t>4. Orders</a:t>
            </a:r>
            <a:r>
              <a:rPr sz="1500" b="1" spc="35" dirty="0">
                <a:latin typeface="Arial"/>
                <a:cs typeface="Arial"/>
              </a:rPr>
              <a:t> </a:t>
            </a:r>
            <a:r>
              <a:rPr sz="1500" b="1" spc="-10" dirty="0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MS Gothic"/>
              <a:cs typeface="MS Gothic"/>
            </a:endParaRPr>
          </a:p>
          <a:p>
            <a:pPr marL="419100" marR="3708400" indent="-28511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Orders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OrderID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</a:t>
            </a:r>
            <a:r>
              <a:rPr sz="1000" spc="-2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370840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ConsumerID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ProductID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Quantity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sz="1000" spc="-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285369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TotalAmount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DECIMAL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Status 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20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1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5080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sz="1000" spc="5" dirty="0">
                <a:latin typeface="Consolas"/>
                <a:cs typeface="Consolas"/>
              </a:rPr>
              <a:t>Consumers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DELETE CASCADE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sz="1000" spc="5" dirty="0">
                <a:latin typeface="Consolas"/>
                <a:cs typeface="Consolas"/>
              </a:rPr>
              <a:t>Products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sz="1000" spc="7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24633" y="4787769"/>
            <a:ext cx="589280" cy="181610"/>
          </a:xfrm>
          <a:custGeom>
            <a:avLst/>
            <a:gdLst/>
            <a:ahLst/>
            <a:cxnLst/>
            <a:rect l="l" t="t" r="r" b="b"/>
            <a:pathLst>
              <a:path w="589280" h="181610">
                <a:moveTo>
                  <a:pt x="560603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560603" y="181355"/>
                </a:lnTo>
                <a:lnTo>
                  <a:pt x="571722" y="179109"/>
                </a:lnTo>
                <a:lnTo>
                  <a:pt x="580805" y="172983"/>
                </a:lnTo>
                <a:lnTo>
                  <a:pt x="586931" y="163900"/>
                </a:lnTo>
                <a:lnTo>
                  <a:pt x="589178" y="152780"/>
                </a:lnTo>
                <a:lnTo>
                  <a:pt x="589178" y="28575"/>
                </a:lnTo>
                <a:lnTo>
                  <a:pt x="586931" y="17455"/>
                </a:lnTo>
                <a:lnTo>
                  <a:pt x="580805" y="8372"/>
                </a:lnTo>
                <a:lnTo>
                  <a:pt x="571722" y="2246"/>
                </a:lnTo>
                <a:lnTo>
                  <a:pt x="560603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73246" y="478776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60774" y="4787769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10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03046" y="181355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0"/>
                </a:lnTo>
                <a:lnTo>
                  <a:pt x="731621" y="28575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98600" y="5034719"/>
            <a:ext cx="660400" cy="181610"/>
          </a:xfrm>
          <a:custGeom>
            <a:avLst/>
            <a:gdLst/>
            <a:ahLst/>
            <a:cxnLst/>
            <a:rect l="l" t="t" r="r" b="b"/>
            <a:pathLst>
              <a:path w="660400" h="181610">
                <a:moveTo>
                  <a:pt x="63182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631826" y="181356"/>
                </a:lnTo>
                <a:lnTo>
                  <a:pt x="642945" y="179109"/>
                </a:lnTo>
                <a:lnTo>
                  <a:pt x="652028" y="172983"/>
                </a:lnTo>
                <a:lnTo>
                  <a:pt x="658154" y="163900"/>
                </a:lnTo>
                <a:lnTo>
                  <a:pt x="660401" y="152781"/>
                </a:lnTo>
                <a:lnTo>
                  <a:pt x="660401" y="28575"/>
                </a:lnTo>
                <a:lnTo>
                  <a:pt x="658154" y="17455"/>
                </a:lnTo>
                <a:lnTo>
                  <a:pt x="652028" y="8372"/>
                </a:lnTo>
                <a:lnTo>
                  <a:pt x="642945" y="2246"/>
                </a:lnTo>
                <a:lnTo>
                  <a:pt x="63182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43683" y="5034719"/>
            <a:ext cx="874394" cy="181610"/>
          </a:xfrm>
          <a:custGeom>
            <a:avLst/>
            <a:gdLst/>
            <a:ahLst/>
            <a:cxnLst/>
            <a:rect l="l" t="t" r="r" b="b"/>
            <a:pathLst>
              <a:path w="874394" h="181610">
                <a:moveTo>
                  <a:pt x="84549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845491" y="181356"/>
                </a:lnTo>
                <a:lnTo>
                  <a:pt x="856610" y="179109"/>
                </a:lnTo>
                <a:lnTo>
                  <a:pt x="865693" y="172983"/>
                </a:lnTo>
                <a:lnTo>
                  <a:pt x="871819" y="163900"/>
                </a:lnTo>
                <a:lnTo>
                  <a:pt x="874066" y="152781"/>
                </a:lnTo>
                <a:lnTo>
                  <a:pt x="874066" y="28575"/>
                </a:lnTo>
                <a:lnTo>
                  <a:pt x="871819" y="17455"/>
                </a:lnTo>
                <a:lnTo>
                  <a:pt x="865693" y="8372"/>
                </a:lnTo>
                <a:lnTo>
                  <a:pt x="856610" y="2246"/>
                </a:lnTo>
                <a:lnTo>
                  <a:pt x="84549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02433" y="5034719"/>
            <a:ext cx="518159" cy="181610"/>
          </a:xfrm>
          <a:custGeom>
            <a:avLst/>
            <a:gdLst/>
            <a:ahLst/>
            <a:cxnLst/>
            <a:rect l="l" t="t" r="r" b="b"/>
            <a:pathLst>
              <a:path w="518160" h="181610">
                <a:moveTo>
                  <a:pt x="489383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489383" y="181356"/>
                </a:lnTo>
                <a:lnTo>
                  <a:pt x="500502" y="179109"/>
                </a:lnTo>
                <a:lnTo>
                  <a:pt x="509585" y="172983"/>
                </a:lnTo>
                <a:lnTo>
                  <a:pt x="515711" y="163900"/>
                </a:lnTo>
                <a:lnTo>
                  <a:pt x="517958" y="152781"/>
                </a:lnTo>
                <a:lnTo>
                  <a:pt x="517958" y="28575"/>
                </a:lnTo>
                <a:lnTo>
                  <a:pt x="515711" y="17455"/>
                </a:lnTo>
                <a:lnTo>
                  <a:pt x="509585" y="8372"/>
                </a:lnTo>
                <a:lnTo>
                  <a:pt x="500502" y="2246"/>
                </a:lnTo>
                <a:lnTo>
                  <a:pt x="489383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24633" y="8017249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09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03046" y="181356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1"/>
                </a:lnTo>
                <a:lnTo>
                  <a:pt x="731621" y="28575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15689" y="801724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09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74269" y="181356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1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03217" y="8017249"/>
            <a:ext cx="589280" cy="181610"/>
          </a:xfrm>
          <a:custGeom>
            <a:avLst/>
            <a:gdLst/>
            <a:ahLst/>
            <a:cxnLst/>
            <a:rect l="l" t="t" r="r" b="b"/>
            <a:pathLst>
              <a:path w="589279" h="181609">
                <a:moveTo>
                  <a:pt x="560603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560603" y="181356"/>
                </a:lnTo>
                <a:lnTo>
                  <a:pt x="571722" y="179109"/>
                </a:lnTo>
                <a:lnTo>
                  <a:pt x="580805" y="172983"/>
                </a:lnTo>
                <a:lnTo>
                  <a:pt x="586931" y="163900"/>
                </a:lnTo>
                <a:lnTo>
                  <a:pt x="589178" y="152781"/>
                </a:lnTo>
                <a:lnTo>
                  <a:pt x="589178" y="28575"/>
                </a:lnTo>
                <a:lnTo>
                  <a:pt x="586931" y="17455"/>
                </a:lnTo>
                <a:lnTo>
                  <a:pt x="580805" y="8372"/>
                </a:lnTo>
                <a:lnTo>
                  <a:pt x="571722" y="2246"/>
                </a:lnTo>
                <a:lnTo>
                  <a:pt x="560603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3100" y="4439983"/>
            <a:ext cx="6382385" cy="423354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28040" indent="-158750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14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sz="1200" spc="-27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-19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870585">
              <a:lnSpc>
                <a:spcPct val="100000"/>
              </a:lnSpc>
              <a:spcBef>
                <a:spcPts val="505"/>
              </a:spcBef>
            </a:pPr>
            <a:r>
              <a:rPr sz="1000" spc="5" dirty="0">
                <a:latin typeface="Consolas"/>
                <a:cs typeface="Consolas"/>
              </a:rPr>
              <a:t>Quantity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TotalAmount</a:t>
            </a:r>
            <a:r>
              <a:rPr sz="1000" spc="-18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Status</a:t>
            </a:r>
            <a:r>
              <a:rPr sz="1000" spc="-19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50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300">
              <a:latin typeface="MS Gothic"/>
              <a:cs typeface="MS Gothic"/>
            </a:endParaRPr>
          </a:p>
          <a:p>
            <a:pPr marL="224154" indent="-212090">
              <a:lnSpc>
                <a:spcPct val="100000"/>
              </a:lnSpc>
              <a:buFont typeface="Arial"/>
              <a:buAutoNum type="arabicPeriod" startAt="5"/>
              <a:tabLst>
                <a:tab pos="224790" algn="l"/>
              </a:tabLst>
            </a:pPr>
            <a:r>
              <a:rPr sz="1500" b="1" spc="-5" dirty="0">
                <a:latin typeface="Arial"/>
                <a:cs typeface="Arial"/>
              </a:rPr>
              <a:t>Addresses</a:t>
            </a:r>
            <a:r>
              <a:rPr sz="1500" b="1" spc="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 startAt="5"/>
            </a:pPr>
            <a:endParaRPr sz="1450">
              <a:latin typeface="MS Gothic"/>
              <a:cs typeface="MS Gothic"/>
            </a:endParaRPr>
          </a:p>
          <a:p>
            <a:pPr marL="419100" marR="4103370" indent="-28511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Addresses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AddressID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</a:t>
            </a:r>
            <a:r>
              <a:rPr sz="1000" spc="-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3818254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ConsumerID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Address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255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-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sz="1000" spc="5" dirty="0">
                <a:latin typeface="Consolas"/>
                <a:cs typeface="Consolas"/>
              </a:rPr>
              <a:t>Consumers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sz="1000" spc="7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Consolas"/>
              <a:cs typeface="Consolas"/>
            </a:endParaRPr>
          </a:p>
          <a:p>
            <a:pPr marL="828040" lvl="1" indent="-158750">
              <a:lnSpc>
                <a:spcPct val="100000"/>
              </a:lnSpc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AddressID</a:t>
            </a:r>
            <a:r>
              <a:rPr sz="1000" spc="13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sz="1200" spc="-2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Address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endParaRPr sz="1200">
              <a:latin typeface="MS Gothic"/>
              <a:cs typeface="MS Gothic"/>
            </a:endParaRPr>
          </a:p>
          <a:p>
            <a:pPr marL="825500">
              <a:lnSpc>
                <a:spcPct val="100000"/>
              </a:lnSpc>
              <a:spcBef>
                <a:spcPts val="505"/>
              </a:spcBef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066800"/>
            <a:ext cx="6400800" cy="1737360"/>
          </a:xfrm>
          <a:custGeom>
            <a:avLst/>
            <a:gdLst/>
            <a:ahLst/>
            <a:cxnLst/>
            <a:rect l="l" t="t" r="r" b="b"/>
            <a:pathLst>
              <a:path w="6400800" h="173736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708784"/>
                </a:lnTo>
                <a:lnTo>
                  <a:pt x="2246" y="1719904"/>
                </a:lnTo>
                <a:lnTo>
                  <a:pt x="8372" y="1728987"/>
                </a:lnTo>
                <a:lnTo>
                  <a:pt x="17455" y="1735113"/>
                </a:lnTo>
                <a:lnTo>
                  <a:pt x="28575" y="1737359"/>
                </a:lnTo>
                <a:lnTo>
                  <a:pt x="6372225" y="1737359"/>
                </a:lnTo>
                <a:lnTo>
                  <a:pt x="6383344" y="1735113"/>
                </a:lnTo>
                <a:lnTo>
                  <a:pt x="6392427" y="1728987"/>
                </a:lnTo>
                <a:lnTo>
                  <a:pt x="6398553" y="1719904"/>
                </a:lnTo>
                <a:lnTo>
                  <a:pt x="6400800" y="1708784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24633" y="3253040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10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03046" y="181355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0"/>
                </a:lnTo>
                <a:lnTo>
                  <a:pt x="731621" y="28575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15689" y="3253040"/>
            <a:ext cx="589280" cy="181610"/>
          </a:xfrm>
          <a:custGeom>
            <a:avLst/>
            <a:gdLst/>
            <a:ahLst/>
            <a:cxnLst/>
            <a:rect l="l" t="t" r="r" b="b"/>
            <a:pathLst>
              <a:path w="589279" h="181610">
                <a:moveTo>
                  <a:pt x="560604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560604" y="181355"/>
                </a:lnTo>
                <a:lnTo>
                  <a:pt x="571723" y="179109"/>
                </a:lnTo>
                <a:lnTo>
                  <a:pt x="580807" y="172983"/>
                </a:lnTo>
                <a:lnTo>
                  <a:pt x="586932" y="163900"/>
                </a:lnTo>
                <a:lnTo>
                  <a:pt x="589179" y="152780"/>
                </a:lnTo>
                <a:lnTo>
                  <a:pt x="589179" y="28575"/>
                </a:lnTo>
                <a:lnTo>
                  <a:pt x="586932" y="17455"/>
                </a:lnTo>
                <a:lnTo>
                  <a:pt x="580807" y="8372"/>
                </a:lnTo>
                <a:lnTo>
                  <a:pt x="571723" y="2246"/>
                </a:lnTo>
                <a:lnTo>
                  <a:pt x="56060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89553" y="3253040"/>
            <a:ext cx="518159" cy="181610"/>
          </a:xfrm>
          <a:custGeom>
            <a:avLst/>
            <a:gdLst/>
            <a:ahLst/>
            <a:cxnLst/>
            <a:rect l="l" t="t" r="r" b="b"/>
            <a:pathLst>
              <a:path w="518160" h="181610">
                <a:moveTo>
                  <a:pt x="48938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489381" y="181355"/>
                </a:lnTo>
                <a:lnTo>
                  <a:pt x="500501" y="179109"/>
                </a:lnTo>
                <a:lnTo>
                  <a:pt x="509584" y="172983"/>
                </a:lnTo>
                <a:lnTo>
                  <a:pt x="515710" y="163900"/>
                </a:lnTo>
                <a:lnTo>
                  <a:pt x="517956" y="152780"/>
                </a:lnTo>
                <a:lnTo>
                  <a:pt x="517956" y="28575"/>
                </a:lnTo>
                <a:lnTo>
                  <a:pt x="515710" y="17455"/>
                </a:lnTo>
                <a:lnTo>
                  <a:pt x="509584" y="8372"/>
                </a:lnTo>
                <a:lnTo>
                  <a:pt x="500501" y="2246"/>
                </a:lnTo>
                <a:lnTo>
                  <a:pt x="48938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98600" y="3499989"/>
            <a:ext cx="1016635" cy="181610"/>
          </a:xfrm>
          <a:custGeom>
            <a:avLst/>
            <a:gdLst/>
            <a:ahLst/>
            <a:cxnLst/>
            <a:rect l="l" t="t" r="r" b="b"/>
            <a:pathLst>
              <a:path w="1016635" h="181610">
                <a:moveTo>
                  <a:pt x="987934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987934" y="181356"/>
                </a:lnTo>
                <a:lnTo>
                  <a:pt x="999053" y="179109"/>
                </a:lnTo>
                <a:lnTo>
                  <a:pt x="1008136" y="172983"/>
                </a:lnTo>
                <a:lnTo>
                  <a:pt x="1014262" y="163900"/>
                </a:lnTo>
                <a:lnTo>
                  <a:pt x="1016509" y="152781"/>
                </a:lnTo>
                <a:lnTo>
                  <a:pt x="1016509" y="28575"/>
                </a:lnTo>
                <a:lnTo>
                  <a:pt x="1014262" y="17455"/>
                </a:lnTo>
                <a:lnTo>
                  <a:pt x="1008136" y="8372"/>
                </a:lnTo>
                <a:lnTo>
                  <a:pt x="999053" y="2246"/>
                </a:lnTo>
                <a:lnTo>
                  <a:pt x="98793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3100" y="662942"/>
            <a:ext cx="6228080" cy="856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 indent="-212090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6"/>
              <a:tabLst>
                <a:tab pos="224790" algn="l"/>
              </a:tabLst>
            </a:pPr>
            <a:r>
              <a:rPr sz="1500" b="1" spc="-5" dirty="0">
                <a:latin typeface="Arial"/>
                <a:cs typeface="Arial"/>
              </a:rPr>
              <a:t>Payments</a:t>
            </a:r>
            <a:r>
              <a:rPr sz="1500" b="1" spc="45" dirty="0">
                <a:latin typeface="Arial"/>
                <a:cs typeface="Arial"/>
              </a:rPr>
              <a:t> </a:t>
            </a:r>
            <a:r>
              <a:rPr sz="1500" b="1" spc="-10" dirty="0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AutoNum type="arabicPeriod" startAt="6"/>
            </a:pPr>
            <a:endParaRPr sz="1450">
              <a:latin typeface="MS Gothic"/>
              <a:cs typeface="MS Gothic"/>
            </a:endParaRPr>
          </a:p>
          <a:p>
            <a:pPr marL="419100" marR="3948429" indent="-28511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Payments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sz="1000" spc="5" dirty="0">
                <a:latin typeface="Consolas"/>
                <a:cs typeface="Consolas"/>
              </a:rPr>
              <a:t>PaymentID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 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OrderID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sz="100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Amount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DECIMAL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PaymentMethod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2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sz="1000" spc="5" dirty="0">
                <a:latin typeface="Consolas"/>
                <a:cs typeface="Consolas"/>
              </a:rPr>
              <a:t>Orders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sz="1000" spc="6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Consolas"/>
              <a:cs typeface="Consolas"/>
            </a:endParaRPr>
          </a:p>
          <a:p>
            <a:pPr marL="828040" lvl="1" indent="-158750">
              <a:lnSpc>
                <a:spcPct val="100000"/>
              </a:lnSpc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第一范式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第二范式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PaymentID</a:t>
            </a:r>
            <a:r>
              <a:rPr sz="1000" spc="14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sz="1200" spc="-27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-19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5" dirty="0">
                <a:latin typeface="Consolas"/>
                <a:cs typeface="Consolas"/>
              </a:rPr>
              <a:t>Amount</a:t>
            </a:r>
            <a:r>
              <a:rPr sz="1000" spc="-19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870585">
              <a:lnSpc>
                <a:spcPct val="100000"/>
              </a:lnSpc>
              <a:spcBef>
                <a:spcPts val="505"/>
              </a:spcBef>
            </a:pPr>
            <a:r>
              <a:rPr sz="1000" spc="5" dirty="0">
                <a:latin typeface="Consolas"/>
                <a:cs typeface="Consolas"/>
              </a:rPr>
              <a:t>PaymentMethod</a:t>
            </a:r>
            <a:r>
              <a:rPr sz="1000" spc="-19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lvl="1" indent="-158750">
              <a:lnSpc>
                <a:spcPct val="100000"/>
              </a:lnSpc>
              <a:spcBef>
                <a:spcPts val="505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sz="1200" b="1" spc="-5" dirty="0">
                <a:latin typeface="MS Gothic"/>
                <a:cs typeface="MS Gothic"/>
              </a:rPr>
              <a:t>第三范式</a:t>
            </a:r>
            <a:r>
              <a:rPr sz="1200" b="1" spc="-305" dirty="0">
                <a:latin typeface="MS Gothic"/>
                <a:cs typeface="MS Gothic"/>
              </a:rPr>
              <a:t> </a:t>
            </a:r>
            <a:r>
              <a:rPr sz="1200" b="1" dirty="0"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333333"/>
              </a:buClr>
              <a:buFont typeface="Arial"/>
              <a:buChar char="•"/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1500" b="1" spc="-5" dirty="0">
                <a:latin typeface="Arial"/>
                <a:cs typeface="Arial"/>
              </a:rPr>
              <a:t>BCNF</a:t>
            </a:r>
            <a:r>
              <a:rPr sz="1500" b="1" spc="30" dirty="0">
                <a:latin typeface="微软雅黑"/>
                <a:cs typeface="微软雅黑"/>
              </a:rPr>
              <a:t>证</a:t>
            </a:r>
            <a:r>
              <a:rPr sz="1500" b="1" spc="-10" dirty="0">
                <a:latin typeface="MS Gothic"/>
                <a:cs typeface="MS Gothic"/>
              </a:rPr>
              <a:t>明</a:t>
            </a:r>
            <a:endParaRPr sz="15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所有表都符合以下条件：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MS Gothic"/>
              <a:cs typeface="MS Gothic"/>
            </a:endParaRPr>
          </a:p>
          <a:p>
            <a:pPr marL="825500" lvl="1" indent="-155575">
              <a:lnSpc>
                <a:spcPct val="100000"/>
              </a:lnSpc>
              <a:buFont typeface="Arial"/>
              <a:buChar char="•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每个表中的所有属性都是原子的，没有重复的列，符合第一范式</a:t>
            </a:r>
            <a:r>
              <a:rPr sz="1200" spc="-28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(1NF)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5500" lvl="1" indent="-15557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每个表的非主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属性完全依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，符合第二范式</a:t>
            </a:r>
            <a:r>
              <a:rPr sz="1200" spc="-2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(2NF)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5500" lvl="1" indent="-15557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每个表的非主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属性没有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，直接依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，符合第三范式</a:t>
            </a:r>
            <a:r>
              <a:rPr sz="1200" spc="-28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(3NF)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此外，由于所有表的候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选键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都只有一个，因此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这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些表也符合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BCNF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（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Boyce-Codd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范式）。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MS Gothic"/>
              <a:cs typeface="MS Gothic"/>
            </a:endParaRPr>
          </a:p>
          <a:p>
            <a:pPr marL="17145" marR="5080" indent="-5080">
              <a:lnSpc>
                <a:spcPct val="100000"/>
              </a:lnSpc>
              <a:buFont typeface="Arial"/>
              <a:buAutoNum type="arabicPeriod" startAt="2"/>
              <a:tabLst>
                <a:tab pos="267335" algn="l"/>
              </a:tabLst>
            </a:pPr>
            <a:r>
              <a:rPr sz="1800" b="1" dirty="0">
                <a:latin typeface="微软雅黑"/>
                <a:cs typeface="微软雅黑"/>
              </a:rPr>
              <a:t>实</a:t>
            </a:r>
            <a:r>
              <a:rPr sz="1800" b="1" spc="35" dirty="0">
                <a:latin typeface="微软雅黑"/>
                <a:cs typeface="微软雅黑"/>
              </a:rPr>
              <a:t>现</a:t>
            </a:r>
            <a:r>
              <a:rPr sz="1800" b="1" spc="-10" dirty="0">
                <a:latin typeface="MS Gothic"/>
                <a:cs typeface="MS Gothic"/>
              </a:rPr>
              <a:t>表的</a:t>
            </a:r>
            <a:r>
              <a:rPr sz="1800" b="1" spc="-50" dirty="0">
                <a:latin typeface="MS Gothic"/>
                <a:cs typeface="MS Gothic"/>
              </a:rPr>
              <a:t>增</a:t>
            </a:r>
            <a:r>
              <a:rPr sz="1800" b="1" spc="35" dirty="0">
                <a:latin typeface="微软雅黑"/>
                <a:cs typeface="微软雅黑"/>
              </a:rPr>
              <a:t>删</a:t>
            </a:r>
            <a:r>
              <a:rPr sz="1800" b="1" spc="-50" dirty="0">
                <a:latin typeface="MS Gothic"/>
                <a:cs typeface="MS Gothic"/>
              </a:rPr>
              <a:t>改</a:t>
            </a:r>
            <a:r>
              <a:rPr sz="1800" b="1" spc="35" dirty="0">
                <a:latin typeface="微软雅黑"/>
                <a:cs typeface="微软雅黑"/>
              </a:rPr>
              <a:t>查</a:t>
            </a:r>
            <a:r>
              <a:rPr sz="1800" b="1" spc="-10" dirty="0">
                <a:latin typeface="MS Gothic"/>
                <a:cs typeface="MS Gothic"/>
              </a:rPr>
              <a:t>，提交了功能需求</a:t>
            </a:r>
            <a:r>
              <a:rPr sz="1800" b="1" spc="-50" dirty="0">
                <a:latin typeface="MS Gothic"/>
                <a:cs typeface="MS Gothic"/>
              </a:rPr>
              <a:t>和</a:t>
            </a:r>
            <a:r>
              <a:rPr sz="1800" b="1" dirty="0">
                <a:latin typeface="微软雅黑"/>
                <a:cs typeface="微软雅黑"/>
              </a:rPr>
              <a:t>设计</a:t>
            </a:r>
            <a:r>
              <a:rPr sz="1800" b="1" spc="35" dirty="0">
                <a:latin typeface="微软雅黑"/>
                <a:cs typeface="微软雅黑"/>
              </a:rPr>
              <a:t>说</a:t>
            </a:r>
            <a:r>
              <a:rPr sz="1800" b="1" spc="-10" dirty="0">
                <a:latin typeface="MS Gothic"/>
                <a:cs typeface="MS Gothic"/>
              </a:rPr>
              <a:t>明，提交了使 </a:t>
            </a:r>
            <a:r>
              <a:rPr sz="1800" b="1" spc="-50" dirty="0">
                <a:latin typeface="MS Gothic"/>
                <a:cs typeface="MS Gothic"/>
              </a:rPr>
              <a:t>用</a:t>
            </a:r>
            <a:r>
              <a:rPr sz="1800" b="1" spc="35" dirty="0">
                <a:latin typeface="微软雅黑"/>
                <a:cs typeface="微软雅黑"/>
              </a:rPr>
              <a:t>说</a:t>
            </a:r>
            <a:r>
              <a:rPr sz="1800" b="1" spc="-50" dirty="0">
                <a:latin typeface="MS Gothic"/>
                <a:cs typeface="MS Gothic"/>
              </a:rPr>
              <a:t>明</a:t>
            </a:r>
            <a:r>
              <a:rPr sz="1800" b="1" spc="35" dirty="0">
                <a:latin typeface="微软雅黑"/>
                <a:cs typeface="微软雅黑"/>
              </a:rPr>
              <a:t>书</a:t>
            </a:r>
            <a:r>
              <a:rPr sz="1800" b="1" spc="-10" dirty="0">
                <a:latin typeface="MS Gothic"/>
                <a:cs typeface="MS Gothic"/>
              </a:rPr>
              <a:t>、源</a:t>
            </a:r>
            <a:r>
              <a:rPr sz="1800" b="1" spc="-50" dirty="0">
                <a:latin typeface="MS Gothic"/>
                <a:cs typeface="MS Gothic"/>
              </a:rPr>
              <a:t>代</a:t>
            </a:r>
            <a:r>
              <a:rPr sz="1800" b="1" spc="35" dirty="0">
                <a:latin typeface="微软雅黑"/>
                <a:cs typeface="微软雅黑"/>
              </a:rPr>
              <a:t>码</a:t>
            </a:r>
            <a:r>
              <a:rPr sz="1800" b="1" spc="-10" dirty="0">
                <a:latin typeface="MS Gothic"/>
                <a:cs typeface="MS Gothic"/>
              </a:rPr>
              <a:t>和</a:t>
            </a:r>
            <a:r>
              <a:rPr sz="1800" b="1" spc="-50" dirty="0">
                <a:latin typeface="MS Gothic"/>
                <a:cs typeface="MS Gothic"/>
              </a:rPr>
              <a:t>可</a:t>
            </a:r>
            <a:r>
              <a:rPr sz="1800" b="1" spc="35" dirty="0">
                <a:latin typeface="微软雅黑"/>
                <a:cs typeface="微软雅黑"/>
              </a:rPr>
              <a:t>执</a:t>
            </a:r>
            <a:r>
              <a:rPr sz="1800" b="1" spc="-10" dirty="0">
                <a:latin typeface="MS Gothic"/>
                <a:cs typeface="MS Gothic"/>
              </a:rPr>
              <a:t>行文件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功能需求与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设计说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明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</a:rPr>
              <a:t>Design</a:t>
            </a:r>
            <a:r>
              <a:rPr sz="1200" spc="-10" dirty="0">
                <a:solidFill>
                  <a:srgbClr val="0088CC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</a:rPr>
              <a:t>documents.pdf</a:t>
            </a:r>
            <a:endParaRPr sz="1200">
              <a:latin typeface="Arial"/>
              <a:cs typeface="Arial"/>
            </a:endParaRPr>
          </a:p>
          <a:p>
            <a:pPr marL="12700" marR="4369435">
              <a:lnSpc>
                <a:spcPct val="133300"/>
              </a:lnSpc>
            </a:pP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使用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说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明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书</a:t>
            </a:r>
            <a:r>
              <a:rPr sz="1200" spc="-5" dirty="0">
                <a:solidFill>
                  <a:srgbClr val="0088CC"/>
                </a:solidFill>
                <a:latin typeface="Arial"/>
                <a:cs typeface="Arial"/>
              </a:rPr>
              <a:t>UserManual.pdf 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源代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码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可</a:t>
            </a:r>
            <a:r>
              <a:rPr sz="1200" dirty="0">
                <a:solidFill>
                  <a:srgbClr val="0088CC"/>
                </a:solidFill>
                <a:latin typeface="微软雅黑"/>
                <a:cs typeface="微软雅黑"/>
              </a:rPr>
              <a:t>执</a:t>
            </a:r>
            <a:r>
              <a:rPr sz="1200" dirty="0">
                <a:solidFill>
                  <a:srgbClr val="0088CC"/>
                </a:solidFill>
                <a:latin typeface="MS Gothic"/>
                <a:cs typeface="MS Gothic"/>
              </a:rPr>
              <a:t>行文件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MS Gothic"/>
              <a:cs typeface="MS Gothic"/>
            </a:endParaRPr>
          </a:p>
          <a:p>
            <a:pPr marL="271145" indent="-259079">
              <a:lnSpc>
                <a:spcPct val="100000"/>
              </a:lnSpc>
              <a:buFont typeface="Arial"/>
              <a:buAutoNum type="arabicPeriod" startAt="3"/>
              <a:tabLst>
                <a:tab pos="271780" algn="l"/>
              </a:tabLst>
            </a:pPr>
            <a:r>
              <a:rPr sz="1800" b="1" spc="-10" dirty="0">
                <a:latin typeface="MS Gothic"/>
                <a:cs typeface="MS Gothic"/>
              </a:rPr>
              <a:t>有界面</a:t>
            </a:r>
            <a:r>
              <a:rPr sz="1800" b="1" spc="-50" dirty="0">
                <a:latin typeface="MS Gothic"/>
                <a:cs typeface="MS Gothic"/>
              </a:rPr>
              <a:t>表</a:t>
            </a:r>
            <a:r>
              <a:rPr sz="1800" b="1" dirty="0">
                <a:latin typeface="微软雅黑"/>
                <a:cs typeface="微软雅黑"/>
              </a:rPr>
              <a:t>级</a:t>
            </a:r>
            <a:r>
              <a:rPr sz="1800" b="1" spc="35" dirty="0">
                <a:latin typeface="微软雅黑"/>
                <a:cs typeface="微软雅黑"/>
              </a:rPr>
              <a:t>联</a:t>
            </a:r>
            <a:r>
              <a:rPr sz="1800" b="1" spc="-10" dirty="0">
                <a:latin typeface="MS Gothic"/>
                <a:cs typeface="MS Gothic"/>
              </a:rPr>
              <a:t>操作</a:t>
            </a:r>
            <a:endParaRPr sz="1800">
              <a:latin typeface="MS Gothic"/>
              <a:cs typeface="MS Gothic"/>
            </a:endParaRPr>
          </a:p>
          <a:p>
            <a:pPr marL="15875">
              <a:lnSpc>
                <a:spcPct val="100000"/>
              </a:lnSpc>
              <a:spcBef>
                <a:spcPts val="1515"/>
              </a:spcBef>
            </a:pPr>
            <a:r>
              <a:rPr sz="1500" b="1" spc="-40" dirty="0">
                <a:latin typeface="MS Gothic"/>
                <a:cs typeface="MS Gothic"/>
              </a:rPr>
              <a:t>表</a:t>
            </a:r>
            <a:r>
              <a:rPr sz="1500" b="1" dirty="0">
                <a:latin typeface="微软雅黑"/>
                <a:cs typeface="微软雅黑"/>
              </a:rPr>
              <a:t>级</a:t>
            </a:r>
            <a:r>
              <a:rPr sz="1500" b="1" spc="30" dirty="0">
                <a:latin typeface="微软雅黑"/>
                <a:cs typeface="微软雅黑"/>
              </a:rPr>
              <a:t>联</a:t>
            </a:r>
            <a:r>
              <a:rPr sz="1500" b="1" spc="-10" dirty="0">
                <a:latin typeface="MS Gothic"/>
                <a:cs typeface="MS Gothic"/>
              </a:rPr>
              <a:t>操</a:t>
            </a:r>
            <a:r>
              <a:rPr sz="1500" b="1" spc="-40" dirty="0">
                <a:latin typeface="MS Gothic"/>
                <a:cs typeface="MS Gothic"/>
              </a:rPr>
              <a:t>作</a:t>
            </a:r>
            <a:r>
              <a:rPr sz="1500" b="1" spc="30" dirty="0">
                <a:latin typeface="微软雅黑"/>
                <a:cs typeface="微软雅黑"/>
              </a:rPr>
              <a:t>证</a:t>
            </a:r>
            <a:r>
              <a:rPr sz="1500" b="1" spc="-10" dirty="0">
                <a:latin typeface="MS Gothic"/>
                <a:cs typeface="MS Gothic"/>
              </a:rPr>
              <a:t>明</a:t>
            </a:r>
            <a:endParaRPr sz="15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明数据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表具有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级联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操作，我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们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展示了以下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场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景：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466150"/>
            <a:ext cx="6400800" cy="2164080"/>
          </a:xfrm>
          <a:custGeom>
            <a:avLst/>
            <a:gdLst/>
            <a:ahLst/>
            <a:cxnLst/>
            <a:rect l="l" t="t" r="r" b="b"/>
            <a:pathLst>
              <a:path w="6400800" h="216407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135505"/>
                </a:lnTo>
                <a:lnTo>
                  <a:pt x="2246" y="2146624"/>
                </a:lnTo>
                <a:lnTo>
                  <a:pt x="8372" y="2155707"/>
                </a:lnTo>
                <a:lnTo>
                  <a:pt x="17455" y="2161833"/>
                </a:lnTo>
                <a:lnTo>
                  <a:pt x="28575" y="2164080"/>
                </a:lnTo>
                <a:lnTo>
                  <a:pt x="6372225" y="2164080"/>
                </a:lnTo>
                <a:lnTo>
                  <a:pt x="6383344" y="2161833"/>
                </a:lnTo>
                <a:lnTo>
                  <a:pt x="6392427" y="2155707"/>
                </a:lnTo>
                <a:lnTo>
                  <a:pt x="6398553" y="2146624"/>
                </a:lnTo>
                <a:lnTo>
                  <a:pt x="6400800" y="213550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97970"/>
            <a:ext cx="6400800" cy="2804160"/>
          </a:xfrm>
          <a:custGeom>
            <a:avLst/>
            <a:gdLst/>
            <a:ahLst/>
            <a:cxnLst/>
            <a:rect l="l" t="t" r="r" b="b"/>
            <a:pathLst>
              <a:path w="6400800" h="280415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775585"/>
                </a:lnTo>
                <a:lnTo>
                  <a:pt x="2246" y="2786704"/>
                </a:lnTo>
                <a:lnTo>
                  <a:pt x="8372" y="2795787"/>
                </a:lnTo>
                <a:lnTo>
                  <a:pt x="17455" y="2801913"/>
                </a:lnTo>
                <a:lnTo>
                  <a:pt x="28575" y="2804160"/>
                </a:lnTo>
                <a:lnTo>
                  <a:pt x="6372225" y="2804160"/>
                </a:lnTo>
                <a:lnTo>
                  <a:pt x="6383344" y="2801913"/>
                </a:lnTo>
                <a:lnTo>
                  <a:pt x="6392427" y="2795787"/>
                </a:lnTo>
                <a:lnTo>
                  <a:pt x="6398553" y="2786704"/>
                </a:lnTo>
                <a:lnTo>
                  <a:pt x="6400800" y="277558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5341" y="1119440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5" h="181609">
                <a:moveTo>
                  <a:pt x="703047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03047" y="181355"/>
                </a:lnTo>
                <a:lnTo>
                  <a:pt x="714167" y="179109"/>
                </a:lnTo>
                <a:lnTo>
                  <a:pt x="723250" y="172983"/>
                </a:lnTo>
                <a:lnTo>
                  <a:pt x="729376" y="163900"/>
                </a:lnTo>
                <a:lnTo>
                  <a:pt x="731622" y="152780"/>
                </a:lnTo>
                <a:lnTo>
                  <a:pt x="731622" y="28575"/>
                </a:lnTo>
                <a:lnTo>
                  <a:pt x="729376" y="17455"/>
                </a:lnTo>
                <a:lnTo>
                  <a:pt x="723250" y="8372"/>
                </a:lnTo>
                <a:lnTo>
                  <a:pt x="714167" y="2246"/>
                </a:lnTo>
                <a:lnTo>
                  <a:pt x="703047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25646" y="1119440"/>
            <a:ext cx="660400" cy="181610"/>
          </a:xfrm>
          <a:custGeom>
            <a:avLst/>
            <a:gdLst/>
            <a:ahLst/>
            <a:cxnLst/>
            <a:rect l="l" t="t" r="r" b="b"/>
            <a:pathLst>
              <a:path w="660400" h="181609">
                <a:moveTo>
                  <a:pt x="63182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631826" y="181355"/>
                </a:lnTo>
                <a:lnTo>
                  <a:pt x="642945" y="179109"/>
                </a:lnTo>
                <a:lnTo>
                  <a:pt x="652028" y="172983"/>
                </a:lnTo>
                <a:lnTo>
                  <a:pt x="658154" y="163900"/>
                </a:lnTo>
                <a:lnTo>
                  <a:pt x="660401" y="152780"/>
                </a:lnTo>
                <a:lnTo>
                  <a:pt x="660401" y="28575"/>
                </a:lnTo>
                <a:lnTo>
                  <a:pt x="658154" y="17455"/>
                </a:lnTo>
                <a:lnTo>
                  <a:pt x="652028" y="8372"/>
                </a:lnTo>
                <a:lnTo>
                  <a:pt x="642945" y="2246"/>
                </a:lnTo>
                <a:lnTo>
                  <a:pt x="63182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3100" y="662942"/>
            <a:ext cx="7127240" cy="6372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 indent="-212090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224790" algn="l"/>
              </a:tabLst>
            </a:pPr>
            <a:r>
              <a:rPr sz="1500" b="1" spc="30" dirty="0">
                <a:latin typeface="微软雅黑"/>
                <a:cs typeface="微软雅黑"/>
              </a:rPr>
              <a:t>删</a:t>
            </a:r>
            <a:r>
              <a:rPr sz="1500" b="1" spc="-10" dirty="0">
                <a:latin typeface="MS Gothic"/>
                <a:cs typeface="MS Gothic"/>
              </a:rPr>
              <a:t>除商家及</a:t>
            </a:r>
            <a:r>
              <a:rPr sz="1500" b="1" spc="-40" dirty="0">
                <a:latin typeface="MS Gothic"/>
                <a:cs typeface="MS Gothic"/>
              </a:rPr>
              <a:t>其</a:t>
            </a:r>
            <a:r>
              <a:rPr sz="1500" b="1" spc="30" dirty="0">
                <a:latin typeface="微软雅黑"/>
                <a:cs typeface="微软雅黑"/>
              </a:rPr>
              <a:t>产</a:t>
            </a:r>
            <a:r>
              <a:rPr sz="1500" b="1" spc="-10" dirty="0">
                <a:latin typeface="MS Gothic"/>
                <a:cs typeface="MS Gothic"/>
              </a:rPr>
              <a:t>品</a:t>
            </a:r>
            <a:endParaRPr sz="15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当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除</a:t>
            </a:r>
            <a:r>
              <a:rPr sz="1200" spc="8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000" spc="5" dirty="0">
                <a:latin typeface="Consolas"/>
                <a:cs typeface="Consolas"/>
              </a:rPr>
              <a:t>Merchants</a:t>
            </a:r>
            <a:r>
              <a:rPr sz="1000" spc="14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记录时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，相关的</a:t>
            </a:r>
            <a:r>
              <a:rPr sz="1200" spc="9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000" spc="5" dirty="0">
                <a:latin typeface="Consolas"/>
                <a:cs typeface="Consolas"/>
              </a:rPr>
              <a:t>Products</a:t>
            </a:r>
            <a:r>
              <a:rPr sz="1000" spc="14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也会被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除。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MS Gothic"/>
              <a:cs typeface="MS Gothic"/>
            </a:endParaRPr>
          </a:p>
          <a:p>
            <a:pPr marL="13462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插入示例数据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Merchants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Password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sz="1000" spc="6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'merchantpass'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Products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ProductName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Price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Stock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'Product </a:t>
            </a:r>
            <a:r>
              <a:rPr sz="1000" spc="10" dirty="0">
                <a:solidFill>
                  <a:srgbClr val="183691"/>
                </a:solidFill>
                <a:latin typeface="Consolas"/>
                <a:cs typeface="Consolas"/>
              </a:rPr>
              <a:t>A'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sz="1000" spc="15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删除商家记录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DELETE FROM </a:t>
            </a:r>
            <a:r>
              <a:rPr sz="1000" spc="5" dirty="0">
                <a:latin typeface="Consolas"/>
                <a:cs typeface="Consolas"/>
              </a:rPr>
              <a:t>Merchants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sz="1000" spc="5" dirty="0">
                <a:latin typeface="Consolas"/>
                <a:cs typeface="Consolas"/>
              </a:rPr>
              <a:t>MerchantID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sz="1000" spc="4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级联删除后的结果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SELECT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 *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Products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结果为空，因为相关的产品记录已被删除</a:t>
            </a:r>
            <a:endParaRPr sz="1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微软雅黑"/>
              <a:cs typeface="微软雅黑"/>
            </a:endParaRPr>
          </a:p>
          <a:p>
            <a:pPr marL="172085" indent="-160020">
              <a:lnSpc>
                <a:spcPct val="100000"/>
              </a:lnSpc>
              <a:spcBef>
                <a:spcPts val="5"/>
              </a:spcBef>
              <a:buFont typeface="Arial"/>
              <a:buAutoNum type="arabicPeriod" startAt="2"/>
              <a:tabLst>
                <a:tab pos="172720" algn="l"/>
              </a:tabLst>
            </a:pPr>
            <a:r>
              <a:rPr sz="1500" b="1" spc="30" dirty="0">
                <a:latin typeface="微软雅黑"/>
                <a:cs typeface="微软雅黑"/>
              </a:rPr>
              <a:t>删</a:t>
            </a:r>
            <a:r>
              <a:rPr sz="1500" b="1" spc="-10" dirty="0">
                <a:latin typeface="MS Gothic"/>
                <a:cs typeface="MS Gothic"/>
              </a:rPr>
              <a:t>除</a:t>
            </a:r>
            <a:r>
              <a:rPr sz="1500" b="1" spc="-40" dirty="0">
                <a:latin typeface="MS Gothic"/>
                <a:cs typeface="MS Gothic"/>
              </a:rPr>
              <a:t>消</a:t>
            </a:r>
            <a:r>
              <a:rPr sz="1500" b="1" spc="30" dirty="0">
                <a:latin typeface="微软雅黑"/>
                <a:cs typeface="微软雅黑"/>
              </a:rPr>
              <a:t>费</a:t>
            </a:r>
            <a:r>
              <a:rPr sz="1500" b="1" spc="-10" dirty="0">
                <a:latin typeface="MS Gothic"/>
                <a:cs typeface="MS Gothic"/>
              </a:rPr>
              <a:t>者及</a:t>
            </a:r>
            <a:r>
              <a:rPr sz="1500" b="1" spc="-40" dirty="0">
                <a:latin typeface="MS Gothic"/>
                <a:cs typeface="MS Gothic"/>
              </a:rPr>
              <a:t>其</a:t>
            </a:r>
            <a:r>
              <a:rPr sz="1500" b="1" dirty="0">
                <a:latin typeface="微软雅黑"/>
                <a:cs typeface="微软雅黑"/>
              </a:rPr>
              <a:t>订</a:t>
            </a:r>
            <a:r>
              <a:rPr sz="1500" b="1" spc="30" dirty="0">
                <a:latin typeface="微软雅黑"/>
                <a:cs typeface="微软雅黑"/>
              </a:rPr>
              <a:t>单</a:t>
            </a:r>
            <a:r>
              <a:rPr sz="1500" b="1" spc="-10" dirty="0">
                <a:latin typeface="MS Gothic"/>
                <a:cs typeface="MS Gothic"/>
              </a:rPr>
              <a:t>和地址</a:t>
            </a:r>
            <a:endParaRPr sz="15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当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除</a:t>
            </a:r>
            <a:r>
              <a:rPr sz="1200" spc="-2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Consumers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记录时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，相关的</a:t>
            </a:r>
            <a:r>
              <a:rPr sz="1200" spc="-27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Orders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sz="1200" spc="-27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Addresses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也会被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除。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MS Gothic"/>
              <a:cs typeface="MS Gothic"/>
            </a:endParaRPr>
          </a:p>
          <a:p>
            <a:pPr marL="13462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插入示例数据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Consumers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Password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sz="1000" spc="6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'consumerpass'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 marL="134620" marR="5080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Orders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Quantity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TotalAmount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Status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Addresses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AddressID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Address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'123 Main</a:t>
            </a:r>
            <a:r>
              <a:rPr sz="1000" spc="75" dirty="0">
                <a:solidFill>
                  <a:srgbClr val="183691"/>
                </a:solidFill>
                <a:latin typeface="Consolas"/>
                <a:cs typeface="Consolas"/>
              </a:rPr>
              <a:t> </a:t>
            </a:r>
            <a:r>
              <a:rPr sz="1000" spc="10" dirty="0">
                <a:solidFill>
                  <a:srgbClr val="183691"/>
                </a:solidFill>
                <a:latin typeface="Consolas"/>
                <a:cs typeface="Consolas"/>
              </a:rPr>
              <a:t>St'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删除消费者记录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DELETE FROM </a:t>
            </a:r>
            <a:r>
              <a:rPr sz="1000" spc="5" dirty="0">
                <a:latin typeface="Consolas"/>
                <a:cs typeface="Consolas"/>
              </a:rPr>
              <a:t>Consumers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sz="1000" spc="5" dirty="0">
                <a:latin typeface="Consolas"/>
                <a:cs typeface="Consolas"/>
              </a:rPr>
              <a:t>ConsumerID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sz="1000" spc="4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级联删除后的结果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  <a:tabLst>
                <a:tab pos="1843405" algn="l"/>
              </a:tabLst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SELECT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*</a:t>
            </a:r>
            <a:r>
              <a:rPr sz="1000" spc="3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r>
              <a:rPr sz="1000" spc="1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Orders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	</a:t>
            </a: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</a:t>
            </a:r>
            <a:r>
              <a:rPr sz="1000" spc="10" dirty="0">
                <a:solidFill>
                  <a:srgbClr val="969896"/>
                </a:solidFill>
                <a:latin typeface="Consolas"/>
                <a:cs typeface="Consolas"/>
              </a:rPr>
              <a:t>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结果为空，因为相关的订单记录已被删除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SELECT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 *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Addresses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结果为空，因为相关的地址记录已被删除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100" y="7569772"/>
            <a:ext cx="4996180" cy="622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Arial"/>
                <a:cs typeface="Arial"/>
              </a:rPr>
              <a:t>3.</a:t>
            </a:r>
            <a:r>
              <a:rPr sz="1500" b="1" spc="30" dirty="0">
                <a:latin typeface="微软雅黑"/>
                <a:cs typeface="微软雅黑"/>
              </a:rPr>
              <a:t>删</a:t>
            </a:r>
            <a:r>
              <a:rPr sz="1500" b="1" spc="-40" dirty="0">
                <a:latin typeface="MS Gothic"/>
                <a:cs typeface="MS Gothic"/>
              </a:rPr>
              <a:t>除</a:t>
            </a:r>
            <a:r>
              <a:rPr sz="1500" b="1" dirty="0">
                <a:latin typeface="微软雅黑"/>
                <a:cs typeface="微软雅黑"/>
              </a:rPr>
              <a:t>订</a:t>
            </a:r>
            <a:r>
              <a:rPr sz="1500" b="1" spc="30" dirty="0">
                <a:latin typeface="微软雅黑"/>
                <a:cs typeface="微软雅黑"/>
              </a:rPr>
              <a:t>单</a:t>
            </a:r>
            <a:r>
              <a:rPr sz="1500" b="1" spc="-10" dirty="0">
                <a:latin typeface="MS Gothic"/>
                <a:cs typeface="MS Gothic"/>
              </a:rPr>
              <a:t>及其付</a:t>
            </a:r>
            <a:r>
              <a:rPr sz="1500" b="1" spc="-40" dirty="0">
                <a:latin typeface="MS Gothic"/>
                <a:cs typeface="MS Gothic"/>
              </a:rPr>
              <a:t>款</a:t>
            </a:r>
            <a:r>
              <a:rPr sz="1500" b="1" dirty="0">
                <a:latin typeface="微软雅黑"/>
                <a:cs typeface="微软雅黑"/>
              </a:rPr>
              <a:t>记录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当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除</a:t>
            </a:r>
            <a:r>
              <a:rPr sz="1200" spc="-29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Orders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记录时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，相关的</a:t>
            </a:r>
            <a:r>
              <a:rPr sz="1200" spc="-290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Payments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也会被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除。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400800" cy="2590800"/>
          </a:xfrm>
          <a:custGeom>
            <a:avLst/>
            <a:gdLst/>
            <a:ahLst/>
            <a:cxnLst/>
            <a:rect l="l" t="t" r="r" b="b"/>
            <a:pathLst>
              <a:path w="6400800" h="25908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562225"/>
                </a:lnTo>
                <a:lnTo>
                  <a:pt x="2246" y="2573344"/>
                </a:lnTo>
                <a:lnTo>
                  <a:pt x="8372" y="2582427"/>
                </a:lnTo>
                <a:lnTo>
                  <a:pt x="17455" y="2588553"/>
                </a:lnTo>
                <a:lnTo>
                  <a:pt x="28575" y="2590800"/>
                </a:lnTo>
                <a:lnTo>
                  <a:pt x="6372225" y="2590800"/>
                </a:lnTo>
                <a:lnTo>
                  <a:pt x="6383344" y="2588553"/>
                </a:lnTo>
                <a:lnTo>
                  <a:pt x="6392427" y="2582427"/>
                </a:lnTo>
                <a:lnTo>
                  <a:pt x="6398553" y="2573344"/>
                </a:lnTo>
                <a:lnTo>
                  <a:pt x="6400800" y="25622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5019" y="751231"/>
            <a:ext cx="7005320" cy="194563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插入示例数据</a:t>
            </a:r>
            <a:endParaRPr sz="1000">
              <a:latin typeface="微软雅黑"/>
              <a:cs typeface="微软雅黑"/>
            </a:endParaRPr>
          </a:p>
          <a:p>
            <a:pPr marL="12700" marR="5080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Orders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Quantity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TotalAmount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Status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Payments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PaymentID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Amount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PaymentMethod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100.00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'Credit</a:t>
            </a:r>
            <a:r>
              <a:rPr sz="1000" spc="135" dirty="0">
                <a:solidFill>
                  <a:srgbClr val="183691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Car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删除订单记录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DELETE FROM </a:t>
            </a:r>
            <a:r>
              <a:rPr sz="1000" spc="5" dirty="0">
                <a:latin typeface="Consolas"/>
                <a:cs typeface="Consolas"/>
              </a:rPr>
              <a:t>Orders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sz="1000" spc="5" dirty="0">
                <a:latin typeface="Consolas"/>
                <a:cs typeface="Consolas"/>
              </a:rPr>
              <a:t>OrderID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sz="1000" spc="4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级联删除后的结果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SELECT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 *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Payments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结果为空，因为相关的付款记录已被删除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3377694"/>
            <a:ext cx="64262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过这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些操作，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明了数据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表具有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级联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操作（表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级联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）的能力。当父表的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被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除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时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，相关 的子表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会自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动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被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除，保持数据的一致性和完整性。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4120390"/>
            <a:ext cx="2049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4</a:t>
            </a:r>
            <a:r>
              <a:rPr sz="1800" b="1" spc="35" dirty="0">
                <a:latin typeface="Arial"/>
                <a:cs typeface="Arial"/>
              </a:rPr>
              <a:t>.</a:t>
            </a:r>
            <a:r>
              <a:rPr sz="1800" b="1" spc="-10" dirty="0">
                <a:latin typeface="MS Gothic"/>
                <a:cs typeface="MS Gothic"/>
              </a:rPr>
              <a:t>有多个</a:t>
            </a:r>
            <a:r>
              <a:rPr sz="1800" b="1" spc="-50" dirty="0">
                <a:latin typeface="MS Gothic"/>
                <a:cs typeface="MS Gothic"/>
              </a:rPr>
              <a:t>用</a:t>
            </a:r>
            <a:r>
              <a:rPr sz="1800" b="1" spc="35" dirty="0">
                <a:latin typeface="微软雅黑"/>
                <a:cs typeface="微软雅黑"/>
              </a:rPr>
              <a:t>户</a:t>
            </a:r>
            <a:r>
              <a:rPr sz="1800" b="1" spc="-50" dirty="0">
                <a:latin typeface="MS Gothic"/>
                <a:cs typeface="MS Gothic"/>
              </a:rPr>
              <a:t>及</a:t>
            </a:r>
            <a:r>
              <a:rPr sz="1800" b="1" spc="35" dirty="0">
                <a:latin typeface="微软雅黑"/>
                <a:cs typeface="微软雅黑"/>
              </a:rPr>
              <a:t>链</a:t>
            </a:r>
            <a:r>
              <a:rPr sz="1800" b="1" spc="-10" dirty="0">
                <a:latin typeface="MS Gothic"/>
                <a:cs typeface="MS Gothic"/>
              </a:rPr>
              <a:t>接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5800" y="4572000"/>
            <a:ext cx="6400800" cy="46422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929639"/>
            <a:ext cx="3714750" cy="1104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5325" y="2278379"/>
            <a:ext cx="3638550" cy="1085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3567940"/>
            <a:ext cx="4445635" cy="568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5"/>
              <a:tabLst>
                <a:tab pos="267335" algn="l"/>
              </a:tabLst>
            </a:pPr>
            <a:r>
              <a:rPr sz="1800" b="1" spc="35" dirty="0">
                <a:latin typeface="微软雅黑"/>
                <a:cs typeface="微软雅黑"/>
              </a:rPr>
              <a:t>应</a:t>
            </a:r>
            <a:r>
              <a:rPr sz="1800" b="1" spc="-10" dirty="0">
                <a:latin typeface="MS Gothic"/>
                <a:cs typeface="MS Gothic"/>
              </a:rPr>
              <a:t>用</a:t>
            </a:r>
            <a:r>
              <a:rPr sz="1800" b="1" spc="-50" dirty="0">
                <a:latin typeface="MS Gothic"/>
                <a:cs typeface="MS Gothic"/>
              </a:rPr>
              <a:t>用</a:t>
            </a:r>
            <a:r>
              <a:rPr sz="1800" b="1" dirty="0">
                <a:latin typeface="微软雅黑"/>
                <a:cs typeface="微软雅黑"/>
              </a:rPr>
              <a:t>户</a:t>
            </a:r>
            <a:r>
              <a:rPr sz="1800" b="1" spc="35" dirty="0">
                <a:latin typeface="微软雅黑"/>
                <a:cs typeface="微软雅黑"/>
              </a:rPr>
              <a:t>权</a:t>
            </a:r>
            <a:r>
              <a:rPr sz="1800" b="1" spc="-10" dirty="0">
                <a:latin typeface="MS Gothic"/>
                <a:cs typeface="MS Gothic"/>
              </a:rPr>
              <a:t>限管理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实现应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用的用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户权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限管理，我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们设计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了以下两个角色：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MS Gothic"/>
              <a:cs typeface="MS Gothic"/>
            </a:endParaRPr>
          </a:p>
          <a:p>
            <a:pPr marL="825500" lvl="1" indent="-155575">
              <a:lnSpc>
                <a:spcPct val="100000"/>
              </a:lnSpc>
              <a:buFont typeface="Arial"/>
              <a:buChar char="•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消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者</a:t>
            </a:r>
            <a:r>
              <a:rPr sz="1200" spc="-2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(Consumer)</a:t>
            </a:r>
            <a:endParaRPr sz="1200">
              <a:latin typeface="Arial"/>
              <a:cs typeface="Arial"/>
            </a:endParaRPr>
          </a:p>
          <a:p>
            <a:pPr marL="825500" lvl="1" indent="-15557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商家</a:t>
            </a:r>
            <a:r>
              <a:rPr sz="1200" spc="-2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(Merchant)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每个角色有不同的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权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限和功能：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MS Gothic"/>
              <a:cs typeface="MS Gothic"/>
            </a:endParaRPr>
          </a:p>
          <a:p>
            <a:pPr marL="15875">
              <a:lnSpc>
                <a:spcPct val="100000"/>
              </a:lnSpc>
            </a:pPr>
            <a:r>
              <a:rPr sz="1500" b="1" spc="-40" dirty="0">
                <a:latin typeface="MS Gothic"/>
                <a:cs typeface="MS Gothic"/>
              </a:rPr>
              <a:t>消</a:t>
            </a:r>
            <a:r>
              <a:rPr sz="1500" b="1" spc="30" dirty="0">
                <a:latin typeface="微软雅黑"/>
                <a:cs typeface="微软雅黑"/>
              </a:rPr>
              <a:t>费</a:t>
            </a:r>
            <a:r>
              <a:rPr sz="1500" b="1" spc="-40" dirty="0">
                <a:latin typeface="MS Gothic"/>
                <a:cs typeface="MS Gothic"/>
              </a:rPr>
              <a:t>者</a:t>
            </a:r>
            <a:r>
              <a:rPr sz="1500" b="1" spc="30" dirty="0">
                <a:latin typeface="微软雅黑"/>
                <a:cs typeface="微软雅黑"/>
              </a:rPr>
              <a:t>权</a:t>
            </a:r>
            <a:r>
              <a:rPr sz="1500" b="1" spc="-10" dirty="0">
                <a:latin typeface="MS Gothic"/>
                <a:cs typeface="MS Gothic"/>
              </a:rPr>
              <a:t>限</a:t>
            </a:r>
            <a:endParaRPr sz="15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1455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看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品</a:t>
            </a:r>
            <a:endParaRPr sz="12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添加地址</a:t>
            </a:r>
            <a:endParaRPr sz="12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购买产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品</a:t>
            </a:r>
            <a:endParaRPr sz="12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看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endParaRPr sz="1200">
              <a:latin typeface="微软雅黑"/>
              <a:cs typeface="微软雅黑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支付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endParaRPr sz="1200">
              <a:latin typeface="微软雅黑"/>
              <a:cs typeface="微软雅黑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接收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微软雅黑"/>
              <a:cs typeface="微软雅黑"/>
            </a:endParaRPr>
          </a:p>
          <a:p>
            <a:pPr marL="15875">
              <a:lnSpc>
                <a:spcPct val="100000"/>
              </a:lnSpc>
            </a:pPr>
            <a:r>
              <a:rPr sz="1500" b="1" spc="-10" dirty="0">
                <a:latin typeface="MS Gothic"/>
                <a:cs typeface="MS Gothic"/>
              </a:rPr>
              <a:t>商</a:t>
            </a:r>
            <a:r>
              <a:rPr sz="1500" b="1" spc="-40" dirty="0">
                <a:latin typeface="MS Gothic"/>
                <a:cs typeface="MS Gothic"/>
              </a:rPr>
              <a:t>家</a:t>
            </a:r>
            <a:r>
              <a:rPr sz="1500" b="1" spc="30" dirty="0">
                <a:latin typeface="微软雅黑"/>
                <a:cs typeface="微软雅黑"/>
              </a:rPr>
              <a:t>权</a:t>
            </a:r>
            <a:r>
              <a:rPr sz="1500" b="1" spc="-10" dirty="0">
                <a:latin typeface="MS Gothic"/>
                <a:cs typeface="MS Gothic"/>
              </a:rPr>
              <a:t>限</a:t>
            </a:r>
            <a:endParaRPr sz="15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146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看自己的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品</a:t>
            </a:r>
            <a:endParaRPr sz="12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添加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品</a:t>
            </a:r>
            <a:endParaRPr sz="12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看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endParaRPr sz="1200">
              <a:latin typeface="微软雅黑"/>
              <a:cs typeface="微软雅黑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发货订单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过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以下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SQ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L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示例，我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们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展示了如何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不同角色的用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分配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权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限：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400800" cy="5791200"/>
          </a:xfrm>
          <a:custGeom>
            <a:avLst/>
            <a:gdLst/>
            <a:ahLst/>
            <a:cxnLst/>
            <a:rect l="l" t="t" r="r" b="b"/>
            <a:pathLst>
              <a:path w="6400800" h="57912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5762625"/>
                </a:lnTo>
                <a:lnTo>
                  <a:pt x="2246" y="5773744"/>
                </a:lnTo>
                <a:lnTo>
                  <a:pt x="8372" y="5782827"/>
                </a:lnTo>
                <a:lnTo>
                  <a:pt x="17455" y="5788953"/>
                </a:lnTo>
                <a:lnTo>
                  <a:pt x="28575" y="5791200"/>
                </a:lnTo>
                <a:lnTo>
                  <a:pt x="6372225" y="5791200"/>
                </a:lnTo>
                <a:lnTo>
                  <a:pt x="6383344" y="5788953"/>
                </a:lnTo>
                <a:lnTo>
                  <a:pt x="6392427" y="5782827"/>
                </a:lnTo>
                <a:lnTo>
                  <a:pt x="6398553" y="5773744"/>
                </a:lnTo>
                <a:lnTo>
                  <a:pt x="6400800" y="57626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3100" y="751231"/>
            <a:ext cx="7126605" cy="6515734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575"/>
              </a:spcBef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示例用户表结构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sz="1000" spc="5" dirty="0">
                <a:latin typeface="Consolas"/>
                <a:cs typeface="Consolas"/>
              </a:rPr>
              <a:t>Users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endParaRPr sz="1000">
              <a:latin typeface="Consolas"/>
              <a:cs typeface="Consolas"/>
            </a:endParaRPr>
          </a:p>
          <a:p>
            <a:pPr marL="419100" marR="456184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UserID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 PRIMARY KEY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Username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Password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sz="1000" spc="-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Role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NULL </a:t>
            </a: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角 色 </a:t>
            </a:r>
            <a:r>
              <a:rPr sz="1000" spc="5" dirty="0">
                <a:solidFill>
                  <a:srgbClr val="969896"/>
                </a:solidFill>
                <a:latin typeface="微软雅黑"/>
                <a:cs typeface="微软雅黑"/>
              </a:rPr>
              <a:t>：</a:t>
            </a: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'Consumer'</a:t>
            </a:r>
            <a:r>
              <a:rPr sz="1000" spc="-345" dirty="0">
                <a:solidFill>
                  <a:srgbClr val="969896"/>
                </a:solidFill>
                <a:latin typeface="Consolas"/>
                <a:cs typeface="Consolas"/>
              </a:rPr>
              <a:t>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或 </a:t>
            </a: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'Merchant'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插入示例用户</a:t>
            </a:r>
            <a:endParaRPr sz="1000">
              <a:latin typeface="微软雅黑"/>
              <a:cs typeface="微软雅黑"/>
            </a:endParaRPr>
          </a:p>
          <a:p>
            <a:pPr marL="134620" marR="5080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Users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UserID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Username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Password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Role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'consumer1'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'password1'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'Consume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Users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UserID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Username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Password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Role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'merchant1'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'password1'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sz="1000" spc="15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'Merchan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根据角色分配权限的存储过程</a:t>
            </a:r>
            <a:endParaRPr sz="1000">
              <a:latin typeface="微软雅黑"/>
              <a:cs typeface="微软雅黑"/>
            </a:endParaRPr>
          </a:p>
          <a:p>
            <a:pPr marL="134620" marR="413448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PROCEDURE </a:t>
            </a:r>
            <a:r>
              <a:rPr sz="1000" spc="5" dirty="0">
                <a:latin typeface="Consolas"/>
                <a:cs typeface="Consolas"/>
              </a:rPr>
              <a:t>AssignRolePermissions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()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BEGIN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为消费者分配权限</a:t>
            </a:r>
            <a:endParaRPr sz="1000">
              <a:latin typeface="微软雅黑"/>
              <a:cs typeface="微软雅黑"/>
            </a:endParaRPr>
          </a:p>
          <a:p>
            <a:pPr marL="419100" marR="320865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ConsumerPermissions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ConsumerID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SELECT </a:t>
            </a:r>
            <a:r>
              <a:rPr sz="1000" spc="5" dirty="0">
                <a:latin typeface="Consolas"/>
                <a:cs typeface="Consolas"/>
              </a:rPr>
              <a:t>UserID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FROM </a:t>
            </a:r>
            <a:r>
              <a:rPr sz="1000" spc="5" dirty="0">
                <a:latin typeface="Consolas"/>
                <a:cs typeface="Consolas"/>
              </a:rPr>
              <a:t>Users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sz="1000" spc="5" dirty="0">
                <a:latin typeface="Consolas"/>
                <a:cs typeface="Consolas"/>
              </a:rPr>
              <a:t>Role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sz="1000" spc="3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'Consumer'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为商家分配权限</a:t>
            </a:r>
            <a:endParaRPr sz="1000">
              <a:latin typeface="微软雅黑"/>
              <a:cs typeface="微软雅黑"/>
            </a:endParaRPr>
          </a:p>
          <a:p>
            <a:pPr marL="419100" marR="320865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MerchantPermissions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SELECT </a:t>
            </a:r>
            <a:r>
              <a:rPr sz="1000" spc="5" dirty="0">
                <a:latin typeface="Consolas"/>
                <a:cs typeface="Consolas"/>
              </a:rPr>
              <a:t>UserID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FROM </a:t>
            </a:r>
            <a:r>
              <a:rPr sz="1000" spc="5" dirty="0">
                <a:latin typeface="Consolas"/>
                <a:cs typeface="Consolas"/>
              </a:rPr>
              <a:t>Users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sz="1000" spc="5" dirty="0">
                <a:latin typeface="Consolas"/>
                <a:cs typeface="Consolas"/>
              </a:rPr>
              <a:t>Role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sz="1000" spc="3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'Merchant'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调用存储过程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CALL </a:t>
            </a:r>
            <a:r>
              <a:rPr sz="1000" spc="5" dirty="0">
                <a:latin typeface="Consolas"/>
                <a:cs typeface="Consolas"/>
              </a:rPr>
              <a:t>AssignRolePermissions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微软雅黑"/>
                <a:cs typeface="微软雅黑"/>
              </a:rPr>
              <a:t>实现</a:t>
            </a:r>
            <a:r>
              <a:rPr sz="1500" b="1" spc="30" dirty="0">
                <a:latin typeface="微软雅黑"/>
                <a:cs typeface="微软雅黑"/>
              </a:rPr>
              <a:t>权</a:t>
            </a:r>
            <a:r>
              <a:rPr sz="1500" b="1" spc="-40" dirty="0">
                <a:latin typeface="MS Gothic"/>
                <a:cs typeface="MS Gothic"/>
              </a:rPr>
              <a:t>限</a:t>
            </a:r>
            <a:r>
              <a:rPr sz="1500" b="1" dirty="0">
                <a:latin typeface="微软雅黑"/>
                <a:cs typeface="微软雅黑"/>
              </a:rPr>
              <a:t>检</a:t>
            </a:r>
            <a:r>
              <a:rPr sz="1500" b="1" spc="30" dirty="0">
                <a:latin typeface="微软雅黑"/>
                <a:cs typeface="微软雅黑"/>
              </a:rPr>
              <a:t>查</a:t>
            </a:r>
            <a:r>
              <a:rPr sz="1500" b="1" spc="-40" dirty="0">
                <a:latin typeface="MS Gothic"/>
                <a:cs typeface="MS Gothic"/>
              </a:rPr>
              <a:t>的</a:t>
            </a:r>
            <a:r>
              <a:rPr sz="1500" b="1" dirty="0">
                <a:latin typeface="微软雅黑"/>
                <a:cs typeface="微软雅黑"/>
              </a:rPr>
              <a:t>逻辑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应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用程序中，可以通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过检查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的角色来决定是否授予特定操作的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权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限。例如：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400800" cy="7284720"/>
          </a:xfrm>
          <a:custGeom>
            <a:avLst/>
            <a:gdLst/>
            <a:ahLst/>
            <a:cxnLst/>
            <a:rect l="l" t="t" r="r" b="b"/>
            <a:pathLst>
              <a:path w="6400800" h="728472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7256145"/>
                </a:lnTo>
                <a:lnTo>
                  <a:pt x="2246" y="7267264"/>
                </a:lnTo>
                <a:lnTo>
                  <a:pt x="8372" y="7276347"/>
                </a:lnTo>
                <a:lnTo>
                  <a:pt x="17455" y="7282473"/>
                </a:lnTo>
                <a:lnTo>
                  <a:pt x="28575" y="7284720"/>
                </a:lnTo>
                <a:lnTo>
                  <a:pt x="6372225" y="7284720"/>
                </a:lnTo>
                <a:lnTo>
                  <a:pt x="6383344" y="7282473"/>
                </a:lnTo>
                <a:lnTo>
                  <a:pt x="6392427" y="7276347"/>
                </a:lnTo>
                <a:lnTo>
                  <a:pt x="6398553" y="7267264"/>
                </a:lnTo>
                <a:lnTo>
                  <a:pt x="6400800" y="725614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3100" y="751231"/>
            <a:ext cx="6426200" cy="7833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4620" marR="1583055">
              <a:lnSpc>
                <a:spcPct val="140000"/>
              </a:lnSpc>
              <a:spcBef>
                <a:spcPts val="95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procedure </a:t>
            </a:r>
            <a:r>
              <a:rPr sz="1000" spc="5" dirty="0">
                <a:latin typeface="Consolas"/>
                <a:cs typeface="Consolas"/>
              </a:rPr>
              <a:t>TConsumerMenuForm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CheckUserPermissions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UserID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sz="1000" spc="5" dirty="0">
                <a:latin typeface="Consolas"/>
                <a:cs typeface="Consolas"/>
              </a:rPr>
              <a:t>Integer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);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</a:t>
            </a:r>
            <a:endParaRPr sz="1000">
              <a:latin typeface="Consolas"/>
              <a:cs typeface="Consolas"/>
            </a:endParaRPr>
          </a:p>
          <a:p>
            <a:pPr marL="134620" marR="4930140" indent="14224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UserRole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string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begin</a:t>
            </a:r>
            <a:endParaRPr sz="1000">
              <a:latin typeface="Consolas"/>
              <a:cs typeface="Consolas"/>
            </a:endParaRPr>
          </a:p>
          <a:p>
            <a:pPr marL="27686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//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查询用户角色</a:t>
            </a:r>
            <a:endParaRPr sz="1000">
              <a:latin typeface="微软雅黑"/>
              <a:cs typeface="微软雅黑"/>
            </a:endParaRPr>
          </a:p>
          <a:p>
            <a:pPr marL="27686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ADOQuery1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Close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276860" marR="22987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ADOQuery1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SQL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Text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:= </a:t>
            </a:r>
            <a:r>
              <a:rPr sz="1000" spc="5" dirty="0">
                <a:latin typeface="Consolas"/>
                <a:cs typeface="Consolas"/>
              </a:rPr>
              <a:t>Format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'SELECT Role FROM Users WHERE UserID </a:t>
            </a:r>
            <a:r>
              <a:rPr sz="1000" spc="10" dirty="0">
                <a:solidFill>
                  <a:srgbClr val="183691"/>
                </a:solidFill>
                <a:latin typeface="Consolas"/>
                <a:cs typeface="Consolas"/>
              </a:rPr>
              <a:t>= </a:t>
            </a:r>
            <a:r>
              <a:rPr sz="1000" spc="15" dirty="0">
                <a:solidFill>
                  <a:srgbClr val="183691"/>
                </a:solidFill>
                <a:latin typeface="Consolas"/>
                <a:cs typeface="Consolas"/>
              </a:rPr>
              <a:t>%d'</a:t>
            </a:r>
            <a:r>
              <a:rPr sz="1000" spc="1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sz="1000" spc="5" dirty="0">
                <a:latin typeface="Consolas"/>
                <a:cs typeface="Consolas"/>
              </a:rPr>
              <a:t>UserID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]);  </a:t>
            </a:r>
            <a:r>
              <a:rPr sz="1000" spc="5" dirty="0">
                <a:latin typeface="Consolas"/>
                <a:cs typeface="Consolas"/>
              </a:rPr>
              <a:t>ADOQuery1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Open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276860" marR="407606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if not </a:t>
            </a:r>
            <a:r>
              <a:rPr sz="1000" spc="5" dirty="0">
                <a:latin typeface="Consolas"/>
                <a:cs typeface="Consolas"/>
              </a:rPr>
              <a:t>ADOQuery1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IsEmpty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then  begin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UserRole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:=</a:t>
            </a:r>
            <a:r>
              <a:rPr sz="1000" spc="2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ADOQuery1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FieldByName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'Role'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).</a:t>
            </a:r>
            <a:r>
              <a:rPr sz="1000" spc="5" dirty="0">
                <a:latin typeface="Consolas"/>
                <a:cs typeface="Consolas"/>
              </a:rPr>
              <a:t>AsString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419100" marR="393382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if </a:t>
            </a:r>
            <a:r>
              <a:rPr sz="1000" spc="5" dirty="0">
                <a:latin typeface="Consolas"/>
                <a:cs typeface="Consolas"/>
              </a:rPr>
              <a:t>UserRole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'Consumer'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then  begin</a:t>
            </a:r>
            <a:endParaRPr sz="1000">
              <a:latin typeface="Consolas"/>
              <a:cs typeface="Consolas"/>
            </a:endParaRPr>
          </a:p>
          <a:p>
            <a:pPr marL="56134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//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显示消费者菜单</a:t>
            </a:r>
            <a:endParaRPr sz="1000">
              <a:latin typeface="微软雅黑"/>
              <a:cs typeface="微软雅黑"/>
            </a:endParaRPr>
          </a:p>
          <a:p>
            <a:pPr marL="419100" marR="4289425" indent="14224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ConsumerMenuForm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Show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endParaRPr sz="1000">
              <a:latin typeface="Consolas"/>
              <a:cs typeface="Consolas"/>
            </a:endParaRPr>
          </a:p>
          <a:p>
            <a:pPr marL="419100" marR="3577590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else if </a:t>
            </a:r>
            <a:r>
              <a:rPr sz="1000" spc="5" dirty="0">
                <a:latin typeface="Consolas"/>
                <a:cs typeface="Consolas"/>
              </a:rPr>
              <a:t>UserRole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'Merchant'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then  begin</a:t>
            </a:r>
            <a:endParaRPr sz="1000">
              <a:latin typeface="Consolas"/>
              <a:cs typeface="Consolas"/>
            </a:endParaRPr>
          </a:p>
          <a:p>
            <a:pPr marL="56134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//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显示商家菜单</a:t>
            </a:r>
            <a:endParaRPr sz="1000">
              <a:latin typeface="微软雅黑"/>
              <a:cs typeface="微软雅黑"/>
            </a:endParaRPr>
          </a:p>
          <a:p>
            <a:pPr marL="419100" marR="4289425" indent="14224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MerchantMenuForm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Show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endParaRPr sz="1000">
              <a:latin typeface="Consolas"/>
              <a:cs typeface="Consolas"/>
            </a:endParaRPr>
          </a:p>
          <a:p>
            <a:pPr marL="419100" marR="564324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else  begin</a:t>
            </a:r>
            <a:endParaRPr sz="1000">
              <a:latin typeface="Consolas"/>
              <a:cs typeface="Consolas"/>
            </a:endParaRPr>
          </a:p>
          <a:p>
            <a:pPr marL="419100" marR="3790950" indent="14224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ShowMessage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'Unknown role.'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);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276860" marR="578548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end  else  begin</a:t>
            </a:r>
            <a:endParaRPr sz="1000">
              <a:latin typeface="Consolas"/>
              <a:cs typeface="Consolas"/>
            </a:endParaRPr>
          </a:p>
          <a:p>
            <a:pPr marL="276860" marR="3790950" indent="14224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ShowMessage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'User not found.'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);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Consolas"/>
              <a:cs typeface="Consolas"/>
            </a:endParaRPr>
          </a:p>
          <a:p>
            <a:pPr marL="12700" marR="5080">
              <a:lnSpc>
                <a:spcPct val="133300"/>
              </a:lnSpc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过这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种方式，我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们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确保了不同角色的用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只能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访问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和操作其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权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限范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围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内的功能，从而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实现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应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用用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户权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限管理。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2415539"/>
            <a:ext cx="6400800" cy="6431280"/>
          </a:xfrm>
          <a:custGeom>
            <a:avLst/>
            <a:gdLst/>
            <a:ahLst/>
            <a:cxnLst/>
            <a:rect l="l" t="t" r="r" b="b"/>
            <a:pathLst>
              <a:path w="6400800" h="643128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6402705"/>
                </a:lnTo>
                <a:lnTo>
                  <a:pt x="2246" y="6413824"/>
                </a:lnTo>
                <a:lnTo>
                  <a:pt x="8372" y="6422907"/>
                </a:lnTo>
                <a:lnTo>
                  <a:pt x="17455" y="6429033"/>
                </a:lnTo>
                <a:lnTo>
                  <a:pt x="28575" y="6431280"/>
                </a:lnTo>
                <a:lnTo>
                  <a:pt x="6372225" y="6431280"/>
                </a:lnTo>
                <a:lnTo>
                  <a:pt x="6383344" y="6429033"/>
                </a:lnTo>
                <a:lnTo>
                  <a:pt x="6392427" y="6422907"/>
                </a:lnTo>
                <a:lnTo>
                  <a:pt x="6398553" y="6413824"/>
                </a:lnTo>
                <a:lnTo>
                  <a:pt x="6400800" y="640270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3100" y="660910"/>
            <a:ext cx="6426200" cy="7820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6. </a:t>
            </a:r>
            <a:r>
              <a:rPr sz="1800" b="1" dirty="0">
                <a:latin typeface="微软雅黑"/>
                <a:cs typeface="微软雅黑"/>
              </a:rPr>
              <a:t>视</a:t>
            </a:r>
            <a:r>
              <a:rPr sz="1800" b="1" spc="35" dirty="0">
                <a:latin typeface="微软雅黑"/>
                <a:cs typeface="微软雅黑"/>
              </a:rPr>
              <a:t>图</a:t>
            </a:r>
            <a:r>
              <a:rPr sz="1800" b="1" spc="-50" dirty="0">
                <a:latin typeface="MS Gothic"/>
                <a:cs typeface="MS Gothic"/>
              </a:rPr>
              <a:t>和</a:t>
            </a:r>
            <a:r>
              <a:rPr sz="1800" b="1" dirty="0">
                <a:latin typeface="微软雅黑"/>
                <a:cs typeface="微软雅黑"/>
              </a:rPr>
              <a:t>动态</a:t>
            </a:r>
            <a:r>
              <a:rPr sz="1800" b="1" spc="-40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Arial"/>
                <a:cs typeface="Arial"/>
              </a:rPr>
              <a:t>SQL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500" b="1" dirty="0">
                <a:latin typeface="微软雅黑"/>
                <a:cs typeface="微软雅黑"/>
              </a:rPr>
              <a:t>视图</a:t>
            </a:r>
            <a:endParaRPr sz="1500">
              <a:latin typeface="微软雅黑"/>
              <a:cs typeface="微软雅黑"/>
            </a:endParaRPr>
          </a:p>
          <a:p>
            <a:pPr marL="12700" marR="5080" algn="just">
              <a:lnSpc>
                <a:spcPct val="133300"/>
              </a:lnSpc>
              <a:spcBef>
                <a:spcPts val="975"/>
              </a:spcBef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简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化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并提高安全性，我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们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可以使用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可以将复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杂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封装起来，用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可以像 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访问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表一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样访问视图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，从而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实现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数据的抽象和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隐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藏。以下是两个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的示例，一个用于消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者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看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品信息，另一个用于商家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看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信息。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MS Gothic"/>
              <a:cs typeface="MS Gothic"/>
            </a:endParaRPr>
          </a:p>
          <a:p>
            <a:pPr marL="13462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消费者查看产品信息视图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如果视图已经存在，则删除它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DROP VIEW IF EXISTS</a:t>
            </a:r>
            <a:r>
              <a:rPr sz="1000" spc="2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ConsumerOrdersView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创建消费者查看订单的视图</a:t>
            </a:r>
            <a:endParaRPr sz="1000">
              <a:latin typeface="微软雅黑"/>
              <a:cs typeface="微软雅黑"/>
            </a:endParaRPr>
          </a:p>
          <a:p>
            <a:pPr marL="134620" marR="393382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VIEW </a:t>
            </a:r>
            <a:r>
              <a:rPr sz="1000" spc="5" dirty="0">
                <a:latin typeface="Consolas"/>
                <a:cs typeface="Consolas"/>
              </a:rPr>
              <a:t>ConsumerOrdersView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AS  SELECT</a:t>
            </a:r>
            <a:endParaRPr sz="1000">
              <a:latin typeface="Consolas"/>
              <a:cs typeface="Consolas"/>
            </a:endParaRPr>
          </a:p>
          <a:p>
            <a:pPr marL="419100" marR="5073015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o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OrderID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 </a:t>
            </a:r>
            <a:r>
              <a:rPr sz="1000" spc="10" dirty="0">
                <a:latin typeface="Consolas"/>
                <a:cs typeface="Consolas"/>
              </a:rPr>
              <a:t>o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ConsumerI</a:t>
            </a:r>
            <a:r>
              <a:rPr sz="1000" spc="15" dirty="0">
                <a:latin typeface="Consolas"/>
                <a:cs typeface="Consolas"/>
              </a:rPr>
              <a:t>D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379095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c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Password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AS </a:t>
            </a:r>
            <a:r>
              <a:rPr sz="1000" spc="5" dirty="0">
                <a:latin typeface="Consolas"/>
                <a:cs typeface="Consolas"/>
              </a:rPr>
              <a:t>ConsumerPassword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 o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5001895">
              <a:lnSpc>
                <a:spcPct val="140000"/>
              </a:lnSpc>
            </a:pPr>
            <a:r>
              <a:rPr sz="1000" spc="10" dirty="0">
                <a:latin typeface="Consolas"/>
                <a:cs typeface="Consolas"/>
              </a:rPr>
              <a:t>p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ProductNam</a:t>
            </a:r>
            <a:r>
              <a:rPr sz="1000" spc="15" dirty="0">
                <a:latin typeface="Consolas"/>
                <a:cs typeface="Consolas"/>
              </a:rPr>
              <a:t>e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o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Quantity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 </a:t>
            </a:r>
            <a:r>
              <a:rPr sz="1000" spc="10" dirty="0">
                <a:latin typeface="Consolas"/>
                <a:cs typeface="Consolas"/>
              </a:rPr>
              <a:t>o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TotalAmoun</a:t>
            </a:r>
            <a:r>
              <a:rPr sz="1000" spc="15" dirty="0">
                <a:latin typeface="Consolas"/>
                <a:cs typeface="Consolas"/>
              </a:rPr>
              <a:t>t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sz="1000" spc="5" dirty="0">
                <a:latin typeface="Consolas"/>
                <a:cs typeface="Consolas"/>
              </a:rPr>
              <a:t>o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Status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 p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m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Password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AS</a:t>
            </a:r>
            <a:r>
              <a:rPr sz="1000" spc="1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MerchantPassword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Orders</a:t>
            </a:r>
            <a:r>
              <a:rPr sz="1000" dirty="0">
                <a:latin typeface="Consolas"/>
                <a:cs typeface="Consolas"/>
              </a:rPr>
              <a:t> </a:t>
            </a:r>
            <a:r>
              <a:rPr sz="1000" spc="10" dirty="0">
                <a:latin typeface="Consolas"/>
                <a:cs typeface="Consolas"/>
              </a:rPr>
              <a:t>o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JOIN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Consumers </a:t>
            </a:r>
            <a:r>
              <a:rPr sz="1000" spc="10" dirty="0">
                <a:latin typeface="Consolas"/>
                <a:cs typeface="Consolas"/>
              </a:rPr>
              <a:t>c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</a:t>
            </a:r>
            <a:r>
              <a:rPr sz="1000" spc="5" dirty="0">
                <a:latin typeface="Consolas"/>
                <a:cs typeface="Consolas"/>
              </a:rPr>
              <a:t>o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ConsumerID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sz="1000" spc="3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c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ConsumerID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JOIN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Products </a:t>
            </a:r>
            <a:r>
              <a:rPr sz="1000" spc="10" dirty="0">
                <a:latin typeface="Consolas"/>
                <a:cs typeface="Consolas"/>
              </a:rPr>
              <a:t>p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</a:t>
            </a:r>
            <a:r>
              <a:rPr sz="1000" spc="5" dirty="0">
                <a:latin typeface="Consolas"/>
                <a:cs typeface="Consolas"/>
              </a:rPr>
              <a:t>o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ProductID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sz="1000" spc="3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p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ProductID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JOIN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Merchants </a:t>
            </a:r>
            <a:r>
              <a:rPr sz="1000" spc="10" dirty="0">
                <a:latin typeface="Consolas"/>
                <a:cs typeface="Consolas"/>
              </a:rPr>
              <a:t>m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ON </a:t>
            </a:r>
            <a:r>
              <a:rPr sz="1000" spc="5" dirty="0">
                <a:latin typeface="Consolas"/>
                <a:cs typeface="Consolas"/>
              </a:rPr>
              <a:t>p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MerchantID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sz="1000" spc="3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m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5"/>
              </a:spcBef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查询视图以验证其内容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SELECT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*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r>
              <a:rPr sz="1000" spc="1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ConsumerOrdersView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706879"/>
            <a:ext cx="6400800" cy="1524000"/>
          </a:xfrm>
          <a:custGeom>
            <a:avLst/>
            <a:gdLst/>
            <a:ahLst/>
            <a:cxnLst/>
            <a:rect l="l" t="t" r="r" b="b"/>
            <a:pathLst>
              <a:path w="6400800" h="15240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495425"/>
                </a:lnTo>
                <a:lnTo>
                  <a:pt x="2246" y="1506544"/>
                </a:lnTo>
                <a:lnTo>
                  <a:pt x="8372" y="1515627"/>
                </a:lnTo>
                <a:lnTo>
                  <a:pt x="17455" y="1521753"/>
                </a:lnTo>
                <a:lnTo>
                  <a:pt x="28575" y="1524000"/>
                </a:lnTo>
                <a:lnTo>
                  <a:pt x="6372225" y="1524000"/>
                </a:lnTo>
                <a:lnTo>
                  <a:pt x="6383344" y="1521753"/>
                </a:lnTo>
                <a:lnTo>
                  <a:pt x="6392427" y="1515627"/>
                </a:lnTo>
                <a:lnTo>
                  <a:pt x="6398553" y="1506544"/>
                </a:lnTo>
                <a:lnTo>
                  <a:pt x="6400800" y="14954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3100" y="662942"/>
            <a:ext cx="7120890" cy="580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微软雅黑"/>
                <a:cs typeface="微软雅黑"/>
              </a:rPr>
              <a:t>动态</a:t>
            </a:r>
            <a:r>
              <a:rPr sz="1500" b="1" spc="-5" dirty="0">
                <a:latin typeface="Arial"/>
                <a:cs typeface="Arial"/>
              </a:rPr>
              <a:t>SQL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sz="1200" spc="-30" dirty="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是指在程序运行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时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生成和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行的</a:t>
            </a:r>
            <a:r>
              <a:rPr sz="1200" spc="-2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语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句，适用于需要根据不同条件生成不同</a:t>
            </a:r>
            <a:r>
              <a:rPr sz="1200" spc="-27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场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景。以下示例展示了如何使用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sz="1200" spc="-30" dirty="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查询产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品信息。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MS Gothic"/>
              <a:cs typeface="MS Gothic"/>
            </a:endParaRPr>
          </a:p>
          <a:p>
            <a:pPr marL="41910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//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检查</a:t>
            </a: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ID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是否已存在</a:t>
            </a:r>
            <a:endParaRPr sz="1000">
              <a:latin typeface="微软雅黑"/>
              <a:cs typeface="微软雅黑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if </a:t>
            </a:r>
            <a:r>
              <a:rPr sz="1000" spc="5" dirty="0">
                <a:latin typeface="Consolas"/>
                <a:cs typeface="Consolas"/>
              </a:rPr>
              <a:t>UserType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'Consumer'</a:t>
            </a:r>
            <a:r>
              <a:rPr sz="1000" spc="25" dirty="0">
                <a:solidFill>
                  <a:srgbClr val="183691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then</a:t>
            </a:r>
            <a:endParaRPr sz="1000">
              <a:latin typeface="Consolas"/>
              <a:cs typeface="Consolas"/>
            </a:endParaRPr>
          </a:p>
          <a:p>
            <a:pPr marL="419100" marR="5080" indent="14224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Query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SQL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Text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:= </a:t>
            </a:r>
            <a:r>
              <a:rPr sz="1000" spc="5" dirty="0">
                <a:latin typeface="Consolas"/>
                <a:cs typeface="Consolas"/>
              </a:rPr>
              <a:t>Format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'SELECT COUNT(*) AS UserCount FROM Consumers WHERE ConsumerID </a:t>
            </a:r>
            <a:r>
              <a:rPr sz="1000" spc="10" dirty="0">
                <a:solidFill>
                  <a:srgbClr val="183691"/>
                </a:solidFill>
                <a:latin typeface="Consolas"/>
                <a:cs typeface="Consolas"/>
              </a:rPr>
              <a:t>=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%s'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else if </a:t>
            </a:r>
            <a:r>
              <a:rPr sz="1000" spc="5" dirty="0">
                <a:latin typeface="Consolas"/>
                <a:cs typeface="Consolas"/>
              </a:rPr>
              <a:t>UserType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'Merchant'</a:t>
            </a:r>
            <a:r>
              <a:rPr sz="1000" spc="30" dirty="0">
                <a:solidFill>
                  <a:srgbClr val="183691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then</a:t>
            </a:r>
            <a:endParaRPr sz="1000">
              <a:latin typeface="Consolas"/>
              <a:cs typeface="Consolas"/>
            </a:endParaRPr>
          </a:p>
          <a:p>
            <a:pPr marL="419100" marR="5080" indent="14224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Query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SQL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Text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:= </a:t>
            </a:r>
            <a:r>
              <a:rPr sz="1000" spc="5" dirty="0">
                <a:latin typeface="Consolas"/>
                <a:cs typeface="Consolas"/>
              </a:rPr>
              <a:t>Format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'SELECT COUNT(*) AS UserCount FROM Merchants WHERE MerchantID </a:t>
            </a:r>
            <a:r>
              <a:rPr sz="1000" spc="10" dirty="0">
                <a:solidFill>
                  <a:srgbClr val="183691"/>
                </a:solidFill>
                <a:latin typeface="Consolas"/>
                <a:cs typeface="Consolas"/>
              </a:rPr>
              <a:t>=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%s'  </a:t>
            </a:r>
            <a:r>
              <a:rPr sz="1000" spc="5" dirty="0">
                <a:latin typeface="Consolas"/>
                <a:cs typeface="Consolas"/>
              </a:rPr>
              <a:t>Query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Open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Consolas"/>
              <a:cs typeface="Consolas"/>
            </a:endParaRPr>
          </a:p>
          <a:p>
            <a:pPr marL="12700" marR="809625">
              <a:lnSpc>
                <a:spcPct val="133300"/>
              </a:lnSpc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例如上文中我的代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就使用了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过这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种方式，可以根据用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的不同需求灵活地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 据。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微软雅黑"/>
                <a:cs typeface="微软雅黑"/>
              </a:rPr>
              <a:t>视</a:t>
            </a:r>
            <a:r>
              <a:rPr sz="1500" b="1" spc="30" dirty="0">
                <a:latin typeface="微软雅黑"/>
                <a:cs typeface="微软雅黑"/>
              </a:rPr>
              <a:t>图</a:t>
            </a:r>
            <a:r>
              <a:rPr sz="1500" b="1" spc="-40" dirty="0">
                <a:latin typeface="MS Gothic"/>
                <a:cs typeface="MS Gothic"/>
              </a:rPr>
              <a:t>和</a:t>
            </a:r>
            <a:r>
              <a:rPr sz="1500" b="1" dirty="0">
                <a:latin typeface="微软雅黑"/>
                <a:cs typeface="微软雅黑"/>
              </a:rPr>
              <a:t>动态</a:t>
            </a:r>
            <a:r>
              <a:rPr sz="1500" b="1" spc="-40" dirty="0">
                <a:latin typeface="微软雅黑"/>
                <a:cs typeface="微软雅黑"/>
              </a:rPr>
              <a:t> </a:t>
            </a:r>
            <a:r>
              <a:rPr sz="1500" b="1" spc="-5" dirty="0">
                <a:latin typeface="Arial"/>
                <a:cs typeface="Arial"/>
              </a:rPr>
              <a:t>SQL</a:t>
            </a:r>
            <a:r>
              <a:rPr sz="1500" b="1" spc="35" dirty="0">
                <a:latin typeface="Arial"/>
                <a:cs typeface="Arial"/>
              </a:rPr>
              <a:t> </a:t>
            </a:r>
            <a:r>
              <a:rPr sz="1500" b="1" spc="-40" dirty="0">
                <a:latin typeface="MS Gothic"/>
                <a:cs typeface="MS Gothic"/>
              </a:rPr>
              <a:t>的</a:t>
            </a:r>
            <a:r>
              <a:rPr sz="1500" b="1" spc="30" dirty="0">
                <a:latin typeface="微软雅黑"/>
                <a:cs typeface="微软雅黑"/>
              </a:rPr>
              <a:t>结</a:t>
            </a:r>
            <a:r>
              <a:rPr sz="1500" b="1" spc="-10" dirty="0">
                <a:latin typeface="MS Gothic"/>
                <a:cs typeface="MS Gothic"/>
              </a:rPr>
              <a:t>合</a:t>
            </a:r>
            <a:endParaRPr sz="1500">
              <a:latin typeface="MS Gothic"/>
              <a:cs typeface="MS Gothic"/>
            </a:endParaRPr>
          </a:p>
          <a:p>
            <a:pPr marL="12700" marR="808990" algn="just">
              <a:lnSpc>
                <a:spcPct val="133300"/>
              </a:lnSpc>
              <a:spcBef>
                <a:spcPts val="975"/>
              </a:spcBef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结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合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sz="1200" spc="-110" dirty="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，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可以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进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一步提高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的灵活性和安全性。例如，可以在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的基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础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上使 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sz="1200" spc="-45" dirty="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来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特定条件的数据。通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过这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种方式，可以充分利用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sz="1200" spc="-45" dirty="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优势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，  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实现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灵活、高效、安全的数据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15" dirty="0">
                <a:latin typeface="Arial"/>
                <a:cs typeface="Arial"/>
              </a:rPr>
              <a:t>7.</a:t>
            </a:r>
            <a:r>
              <a:rPr sz="1800" b="1" spc="-50" dirty="0">
                <a:latin typeface="MS Gothic"/>
                <a:cs typeface="MS Gothic"/>
              </a:rPr>
              <a:t>存</a:t>
            </a:r>
            <a:r>
              <a:rPr sz="1800" b="1" dirty="0">
                <a:latin typeface="微软雅黑"/>
                <a:cs typeface="微软雅黑"/>
              </a:rPr>
              <a:t>储</a:t>
            </a:r>
            <a:r>
              <a:rPr sz="1800" b="1" spc="35" dirty="0">
                <a:latin typeface="微软雅黑"/>
                <a:cs typeface="微软雅黑"/>
              </a:rPr>
              <a:t>过</a:t>
            </a:r>
            <a:r>
              <a:rPr sz="1800" b="1" spc="-50" dirty="0">
                <a:latin typeface="MS Gothic"/>
                <a:cs typeface="MS Gothic"/>
              </a:rPr>
              <a:t>程</a:t>
            </a:r>
            <a:r>
              <a:rPr sz="1800" b="1" spc="35" dirty="0">
                <a:latin typeface="Arial"/>
                <a:cs typeface="Arial"/>
              </a:rPr>
              <a:t>-</a:t>
            </a:r>
            <a:r>
              <a:rPr sz="1800" b="1" spc="-10" dirty="0">
                <a:latin typeface="MS Gothic"/>
                <a:cs typeface="MS Gothic"/>
              </a:rPr>
              <a:t>函</a:t>
            </a:r>
            <a:r>
              <a:rPr sz="1800" b="1" spc="-50" dirty="0">
                <a:latin typeface="MS Gothic"/>
                <a:cs typeface="MS Gothic"/>
              </a:rPr>
              <a:t>数</a:t>
            </a:r>
            <a:r>
              <a:rPr sz="1800" b="1" spc="35" dirty="0">
                <a:latin typeface="Arial"/>
                <a:cs typeface="Arial"/>
              </a:rPr>
              <a:t>-</a:t>
            </a:r>
            <a:r>
              <a:rPr sz="1800" b="1" spc="-50" dirty="0">
                <a:latin typeface="MS Gothic"/>
                <a:cs typeface="MS Gothic"/>
              </a:rPr>
              <a:t>触</a:t>
            </a:r>
            <a:r>
              <a:rPr sz="1800" b="1" spc="35" dirty="0">
                <a:latin typeface="微软雅黑"/>
                <a:cs typeface="微软雅黑"/>
              </a:rPr>
              <a:t>发</a:t>
            </a:r>
            <a:r>
              <a:rPr sz="1800" b="1" spc="-10" dirty="0">
                <a:latin typeface="MS Gothic"/>
                <a:cs typeface="MS Gothic"/>
              </a:rPr>
              <a:t>器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500" b="1" spc="30" dirty="0">
                <a:latin typeface="微软雅黑"/>
                <a:cs typeface="微软雅黑"/>
              </a:rPr>
              <a:t>储</a:t>
            </a:r>
            <a:r>
              <a:rPr sz="1500" b="1" spc="-40" dirty="0">
                <a:latin typeface="MS Gothic"/>
                <a:cs typeface="MS Gothic"/>
              </a:rPr>
              <a:t>存</a:t>
            </a:r>
            <a:r>
              <a:rPr sz="1500" b="1" spc="30" dirty="0">
                <a:latin typeface="微软雅黑"/>
                <a:cs typeface="微软雅黑"/>
              </a:rPr>
              <a:t>过</a:t>
            </a:r>
            <a:r>
              <a:rPr sz="1500" b="1" spc="-10" dirty="0">
                <a:latin typeface="MS Gothic"/>
                <a:cs typeface="MS Gothic"/>
              </a:rPr>
              <a:t>程</a:t>
            </a:r>
            <a:endParaRPr sz="15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下面的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语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句中使用了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储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存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过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程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400800" cy="4724400"/>
          </a:xfrm>
          <a:custGeom>
            <a:avLst/>
            <a:gdLst/>
            <a:ahLst/>
            <a:cxnLst/>
            <a:rect l="l" t="t" r="r" b="b"/>
            <a:pathLst>
              <a:path w="6400800" h="47244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4695825"/>
                </a:lnTo>
                <a:lnTo>
                  <a:pt x="2246" y="4706944"/>
                </a:lnTo>
                <a:lnTo>
                  <a:pt x="8372" y="4716027"/>
                </a:lnTo>
                <a:lnTo>
                  <a:pt x="17455" y="4722153"/>
                </a:lnTo>
                <a:lnTo>
                  <a:pt x="28575" y="4724400"/>
                </a:lnTo>
                <a:lnTo>
                  <a:pt x="6372225" y="4724400"/>
                </a:lnTo>
                <a:lnTo>
                  <a:pt x="6383344" y="4722153"/>
                </a:lnTo>
                <a:lnTo>
                  <a:pt x="6392427" y="4716027"/>
                </a:lnTo>
                <a:lnTo>
                  <a:pt x="6398553" y="4706944"/>
                </a:lnTo>
                <a:lnTo>
                  <a:pt x="6400800" y="46958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5019" y="751231"/>
            <a:ext cx="5354955" cy="42926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如果存储过程</a:t>
            </a:r>
            <a:r>
              <a:rPr sz="1000" spc="260" dirty="0">
                <a:solidFill>
                  <a:srgbClr val="969896"/>
                </a:solidFill>
                <a:latin typeface="微软雅黑"/>
                <a:cs typeface="微软雅黑"/>
              </a:rPr>
              <a:t> </a:t>
            </a: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AddProduct</a:t>
            </a:r>
            <a:r>
              <a:rPr sz="1000" spc="20" dirty="0">
                <a:solidFill>
                  <a:srgbClr val="969896"/>
                </a:solidFill>
                <a:latin typeface="Consolas"/>
                <a:cs typeface="Consolas"/>
              </a:rPr>
              <a:t>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已存在，则将其删除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DROP PROCEDURE IF EXISTS</a:t>
            </a:r>
            <a:r>
              <a:rPr sz="1000" spc="3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AddProduct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创建新的存储过程</a:t>
            </a:r>
            <a:r>
              <a:rPr sz="1000" spc="260" dirty="0">
                <a:solidFill>
                  <a:srgbClr val="969896"/>
                </a:solidFill>
                <a:latin typeface="微软雅黑"/>
                <a:cs typeface="微软雅黑"/>
              </a:rPr>
              <a:t> </a:t>
            </a: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AddProduct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OR REPLACE PROCEDURE</a:t>
            </a:r>
            <a:r>
              <a:rPr sz="1000" spc="3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AddProduct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 </a:t>
            </a:r>
            <a:r>
              <a:rPr sz="1000" spc="5" dirty="0">
                <a:latin typeface="Consolas"/>
                <a:cs typeface="Consolas"/>
              </a:rPr>
              <a:t>p_ProductID</a:t>
            </a:r>
            <a:r>
              <a:rPr sz="1000" spc="15" dirty="0"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297180" marR="2912110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 </a:t>
            </a:r>
            <a:r>
              <a:rPr sz="1000" spc="5" dirty="0">
                <a:latin typeface="Consolas"/>
                <a:cs typeface="Consolas"/>
              </a:rPr>
              <a:t>p_ProductName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),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 </a:t>
            </a:r>
            <a:r>
              <a:rPr sz="1000" spc="5" dirty="0">
                <a:latin typeface="Consolas"/>
                <a:cs typeface="Consolas"/>
              </a:rPr>
              <a:t>p_Price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DECIMAL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10" dirty="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),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 </a:t>
            </a:r>
            <a:r>
              <a:rPr sz="1000" spc="5" dirty="0">
                <a:latin typeface="Consolas"/>
                <a:cs typeface="Consolas"/>
              </a:rPr>
              <a:t>p_Stock</a:t>
            </a:r>
            <a:r>
              <a:rPr sz="1000" spc="15" dirty="0"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 </a:t>
            </a:r>
            <a:r>
              <a:rPr sz="1000" spc="5" dirty="0">
                <a:latin typeface="Consolas"/>
                <a:cs typeface="Consolas"/>
              </a:rPr>
              <a:t>p_MerchantID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INT</a:t>
            </a:r>
            <a:endParaRPr sz="1000">
              <a:latin typeface="Consolas"/>
              <a:cs typeface="Consolas"/>
            </a:endParaRPr>
          </a:p>
          <a:p>
            <a:pPr marL="12700" marR="5191760">
              <a:lnSpc>
                <a:spcPct val="140000"/>
              </a:lnSpc>
            </a:pPr>
            <a:r>
              <a:rPr sz="1000" spc="10" dirty="0">
                <a:solidFill>
                  <a:srgbClr val="333333"/>
                </a:solidFill>
                <a:latin typeface="Consolas"/>
                <a:cs typeface="Consolas"/>
              </a:rPr>
              <a:t>)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AS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BEGIN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插入新产品到</a:t>
            </a:r>
            <a:r>
              <a:rPr sz="1000" spc="260" dirty="0">
                <a:solidFill>
                  <a:srgbClr val="969896"/>
                </a:solidFill>
                <a:latin typeface="微软雅黑"/>
                <a:cs typeface="微软雅黑"/>
              </a:rPr>
              <a:t> </a:t>
            </a: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Products</a:t>
            </a:r>
            <a:r>
              <a:rPr sz="1000" spc="20" dirty="0">
                <a:solidFill>
                  <a:srgbClr val="969896"/>
                </a:solidFill>
                <a:latin typeface="Consolas"/>
                <a:cs typeface="Consolas"/>
              </a:rPr>
              <a:t>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表中</a:t>
            </a:r>
            <a:endParaRPr sz="1000">
              <a:latin typeface="微软雅黑"/>
              <a:cs typeface="微软雅黑"/>
            </a:endParaRPr>
          </a:p>
          <a:p>
            <a:pPr marL="297180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sz="1000" spc="5" dirty="0">
                <a:latin typeface="Consolas"/>
                <a:cs typeface="Consolas"/>
              </a:rPr>
              <a:t>Products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ProductName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Price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Stock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MerchantID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spc="5" dirty="0">
                <a:latin typeface="Consolas"/>
                <a:cs typeface="Consolas"/>
              </a:rPr>
              <a:t>p_ProductID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p_ProductName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p_Price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p_Stock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sz="1000" spc="6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p_MerchantID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输出一条消息，指示插入成功</a:t>
            </a:r>
            <a:endParaRPr sz="1000">
              <a:latin typeface="微软雅黑"/>
              <a:cs typeface="微软雅黑"/>
            </a:endParaRPr>
          </a:p>
          <a:p>
            <a:pPr marL="12700" marR="134620" indent="284480">
              <a:lnSpc>
                <a:spcPct val="140000"/>
              </a:lnSpc>
            </a:pPr>
            <a:r>
              <a:rPr sz="1000" spc="5" dirty="0">
                <a:latin typeface="Consolas"/>
                <a:cs typeface="Consolas"/>
              </a:rPr>
              <a:t>RAISE NOTICE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'Product </a:t>
            </a:r>
            <a:r>
              <a:rPr sz="1000" spc="10" dirty="0">
                <a:solidFill>
                  <a:srgbClr val="183691"/>
                </a:solidFill>
                <a:latin typeface="Consolas"/>
                <a:cs typeface="Consolas"/>
              </a:rPr>
              <a:t>% </a:t>
            </a:r>
            <a:r>
              <a:rPr sz="1000" spc="5" dirty="0">
                <a:solidFill>
                  <a:srgbClr val="183691"/>
                </a:solidFill>
                <a:latin typeface="Consolas"/>
                <a:cs typeface="Consolas"/>
              </a:rPr>
              <a:t>has been added successfully.'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spc="5" dirty="0">
                <a:latin typeface="Consolas"/>
                <a:cs typeface="Consolas"/>
              </a:rPr>
              <a:t>p_ProductName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5572254"/>
            <a:ext cx="1854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可以看出我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创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建了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储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存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过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程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0869" y="5958840"/>
            <a:ext cx="6250722" cy="2063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3100" y="8190045"/>
            <a:ext cx="6401435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1500" b="1" spc="-40" dirty="0">
                <a:latin typeface="MS Gothic"/>
                <a:cs typeface="MS Gothic"/>
              </a:rPr>
              <a:t>触</a:t>
            </a:r>
            <a:r>
              <a:rPr sz="1500" b="1" spc="30" dirty="0">
                <a:latin typeface="微软雅黑"/>
                <a:cs typeface="微软雅黑"/>
              </a:rPr>
              <a:t>发</a:t>
            </a:r>
            <a:r>
              <a:rPr sz="1500" b="1" spc="-10" dirty="0">
                <a:latin typeface="MS Gothic"/>
                <a:cs typeface="MS Gothic"/>
              </a:rPr>
              <a:t>器</a:t>
            </a:r>
            <a:r>
              <a:rPr sz="1500" b="1" spc="-380" dirty="0">
                <a:latin typeface="MS Gothic"/>
                <a:cs typeface="MS Gothic"/>
              </a:rPr>
              <a:t> </a:t>
            </a:r>
            <a:r>
              <a:rPr sz="1500" b="1" spc="-15" dirty="0">
                <a:latin typeface="Arial"/>
                <a:cs typeface="Arial"/>
              </a:rPr>
              <a:t>(Trigger)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975"/>
              </a:spcBef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行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这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些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命令后，每当向</a:t>
            </a:r>
            <a:r>
              <a:rPr sz="1200" spc="-295" dirty="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Orders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表插入新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记录时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，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Products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存将自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动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减少相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应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 量。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021080"/>
            <a:ext cx="6400800" cy="3870960"/>
          </a:xfrm>
          <a:custGeom>
            <a:avLst/>
            <a:gdLst/>
            <a:ahLst/>
            <a:cxnLst/>
            <a:rect l="l" t="t" r="r" b="b"/>
            <a:pathLst>
              <a:path w="6400800" h="387096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3842385"/>
                </a:lnTo>
                <a:lnTo>
                  <a:pt x="2246" y="3853504"/>
                </a:lnTo>
                <a:lnTo>
                  <a:pt x="8372" y="3862587"/>
                </a:lnTo>
                <a:lnTo>
                  <a:pt x="17455" y="3868713"/>
                </a:lnTo>
                <a:lnTo>
                  <a:pt x="28575" y="3870960"/>
                </a:lnTo>
                <a:lnTo>
                  <a:pt x="6372225" y="3870960"/>
                </a:lnTo>
                <a:lnTo>
                  <a:pt x="6383344" y="3868713"/>
                </a:lnTo>
                <a:lnTo>
                  <a:pt x="6392427" y="3862587"/>
                </a:lnTo>
                <a:lnTo>
                  <a:pt x="6398553" y="3853504"/>
                </a:lnTo>
                <a:lnTo>
                  <a:pt x="6400800" y="384238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6148" y="664974"/>
            <a:ext cx="3683000" cy="386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MS Gothic"/>
                <a:cs typeface="MS Gothic"/>
              </a:rPr>
              <a:t>示例</a:t>
            </a:r>
            <a:r>
              <a:rPr sz="1200" b="1" spc="-30" dirty="0">
                <a:latin typeface="MS Gothic"/>
                <a:cs typeface="MS Gothic"/>
              </a:rPr>
              <a:t>：</a:t>
            </a:r>
            <a:r>
              <a:rPr sz="1200" b="1" spc="20" dirty="0">
                <a:latin typeface="微软雅黑"/>
                <a:cs typeface="微软雅黑"/>
              </a:rPr>
              <a:t>创</a:t>
            </a:r>
            <a:r>
              <a:rPr sz="1200" b="1" spc="-5" dirty="0">
                <a:latin typeface="MS Gothic"/>
                <a:cs typeface="MS Gothic"/>
              </a:rPr>
              <a:t>建一个</a:t>
            </a:r>
            <a:r>
              <a:rPr sz="1200" b="1" spc="-30" dirty="0">
                <a:latin typeface="MS Gothic"/>
                <a:cs typeface="MS Gothic"/>
              </a:rPr>
              <a:t>触</a:t>
            </a:r>
            <a:r>
              <a:rPr sz="1200" b="1" spc="20" dirty="0">
                <a:latin typeface="微软雅黑"/>
                <a:cs typeface="微软雅黑"/>
              </a:rPr>
              <a:t>发</a:t>
            </a:r>
            <a:r>
              <a:rPr sz="1200" b="1" spc="-5" dirty="0">
                <a:latin typeface="MS Gothic"/>
                <a:cs typeface="MS Gothic"/>
              </a:rPr>
              <a:t>器</a:t>
            </a:r>
            <a:r>
              <a:rPr sz="1200" b="1" spc="-30" dirty="0">
                <a:latin typeface="MS Gothic"/>
                <a:cs typeface="MS Gothic"/>
              </a:rPr>
              <a:t>在</a:t>
            </a:r>
            <a:r>
              <a:rPr sz="1200" b="1" dirty="0">
                <a:latin typeface="微软雅黑"/>
                <a:cs typeface="微软雅黑"/>
              </a:rPr>
              <a:t>订</a:t>
            </a:r>
            <a:r>
              <a:rPr sz="1200" b="1" spc="20" dirty="0">
                <a:latin typeface="微软雅黑"/>
                <a:cs typeface="微软雅黑"/>
              </a:rPr>
              <a:t>单</a:t>
            </a:r>
            <a:r>
              <a:rPr sz="1200" b="1" spc="-5" dirty="0">
                <a:latin typeface="MS Gothic"/>
                <a:cs typeface="MS Gothic"/>
              </a:rPr>
              <a:t>插</a:t>
            </a:r>
            <a:r>
              <a:rPr sz="1200" b="1" spc="-30" dirty="0">
                <a:latin typeface="MS Gothic"/>
                <a:cs typeface="MS Gothic"/>
              </a:rPr>
              <a:t>入</a:t>
            </a:r>
            <a:r>
              <a:rPr sz="1200" b="1" spc="20" dirty="0">
                <a:latin typeface="微软雅黑"/>
                <a:cs typeface="微软雅黑"/>
              </a:rPr>
              <a:t>时</a:t>
            </a:r>
            <a:r>
              <a:rPr sz="1200" b="1" spc="-30" dirty="0">
                <a:latin typeface="MS Gothic"/>
                <a:cs typeface="MS Gothic"/>
              </a:rPr>
              <a:t>自</a:t>
            </a:r>
            <a:r>
              <a:rPr sz="1200" b="1" spc="20" dirty="0">
                <a:latin typeface="微软雅黑"/>
                <a:cs typeface="微软雅黑"/>
              </a:rPr>
              <a:t>动</a:t>
            </a:r>
            <a:r>
              <a:rPr sz="1200" b="1" spc="-5" dirty="0">
                <a:latin typeface="MS Gothic"/>
                <a:cs typeface="MS Gothic"/>
              </a:rPr>
              <a:t>更</a:t>
            </a:r>
            <a:r>
              <a:rPr sz="1200" b="1" spc="-30" dirty="0">
                <a:latin typeface="MS Gothic"/>
                <a:cs typeface="MS Gothic"/>
              </a:rPr>
              <a:t>新</a:t>
            </a:r>
            <a:r>
              <a:rPr sz="1200" b="1" spc="20" dirty="0">
                <a:latin typeface="微软雅黑"/>
                <a:cs typeface="微软雅黑"/>
              </a:rPr>
              <a:t>产</a:t>
            </a:r>
            <a:r>
              <a:rPr sz="1200" b="1" spc="-30" dirty="0">
                <a:latin typeface="MS Gothic"/>
                <a:cs typeface="MS Gothic"/>
              </a:rPr>
              <a:t>品</a:t>
            </a:r>
            <a:r>
              <a:rPr sz="1200" b="1" spc="20" dirty="0">
                <a:latin typeface="微软雅黑"/>
                <a:cs typeface="微软雅黑"/>
              </a:rPr>
              <a:t>库</a:t>
            </a:r>
            <a:r>
              <a:rPr sz="1200" b="1" spc="-5" dirty="0">
                <a:latin typeface="MS Gothic"/>
                <a:cs typeface="MS Gothic"/>
              </a:rPr>
              <a:t>存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MS Gothic"/>
              <a:cs typeface="MS Gothic"/>
            </a:endParaRPr>
          </a:p>
          <a:p>
            <a:pPr marL="131445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删除已有的触发器函数</a:t>
            </a:r>
            <a:endParaRPr sz="1000">
              <a:latin typeface="微软雅黑"/>
              <a:cs typeface="微软雅黑"/>
            </a:endParaRPr>
          </a:p>
          <a:p>
            <a:pPr marL="131445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DROP FUNCTION IF EXISTS</a:t>
            </a:r>
            <a:r>
              <a:rPr sz="1000" spc="2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UpdateProductStock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31445">
              <a:lnSpc>
                <a:spcPct val="100000"/>
              </a:lnSpc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创建新的触发器函数</a:t>
            </a:r>
            <a:endParaRPr sz="1000">
              <a:latin typeface="微软雅黑"/>
              <a:cs typeface="微软雅黑"/>
            </a:endParaRPr>
          </a:p>
          <a:p>
            <a:pPr marL="131445" marR="19621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CREATE OR REPLACE FUNCTION </a:t>
            </a:r>
            <a:r>
              <a:rPr sz="1000" spc="5" dirty="0">
                <a:latin typeface="Consolas"/>
                <a:cs typeface="Consolas"/>
              </a:rPr>
              <a:t>UpdateProductStock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()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RETURNS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TRIGGER</a:t>
            </a:r>
            <a:endParaRPr sz="1000">
              <a:latin typeface="Consolas"/>
              <a:cs typeface="Consolas"/>
            </a:endParaRPr>
          </a:p>
          <a:p>
            <a:pPr marL="131445" marR="3187700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AS</a:t>
            </a:r>
            <a:r>
              <a:rPr sz="1000" spc="-8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$$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BEGIN</a:t>
            </a:r>
            <a:endParaRPr sz="1000">
              <a:latin typeface="Consolas"/>
              <a:cs typeface="Consolas"/>
            </a:endParaRPr>
          </a:p>
          <a:p>
            <a:pPr marL="415925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sz="1000" spc="20" dirty="0">
                <a:solidFill>
                  <a:srgbClr val="969896"/>
                </a:solidFill>
                <a:latin typeface="微软雅黑"/>
                <a:cs typeface="微软雅黑"/>
              </a:rPr>
              <a:t>减少产品库存</a:t>
            </a:r>
            <a:endParaRPr sz="1000">
              <a:latin typeface="微软雅黑"/>
              <a:cs typeface="微软雅黑"/>
            </a:endParaRPr>
          </a:p>
          <a:p>
            <a:pPr marL="415925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UPDATE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Products</a:t>
            </a:r>
            <a:endParaRPr sz="1000">
              <a:latin typeface="Consolas"/>
              <a:cs typeface="Consolas"/>
            </a:endParaRPr>
          </a:p>
          <a:p>
            <a:pPr marL="415925" marR="979805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SET </a:t>
            </a:r>
            <a:r>
              <a:rPr sz="1000" spc="5" dirty="0">
                <a:latin typeface="Consolas"/>
                <a:cs typeface="Consolas"/>
              </a:rPr>
              <a:t>Stock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 </a:t>
            </a:r>
            <a:r>
              <a:rPr sz="1000" spc="5" dirty="0">
                <a:latin typeface="Consolas"/>
                <a:cs typeface="Consolas"/>
              </a:rPr>
              <a:t>Stock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- </a:t>
            </a:r>
            <a:r>
              <a:rPr sz="1000" spc="5" dirty="0">
                <a:latin typeface="Consolas"/>
                <a:cs typeface="Consolas"/>
              </a:rPr>
              <a:t>NEW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Quantity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sz="1000" spc="5" dirty="0">
                <a:latin typeface="Consolas"/>
                <a:cs typeface="Consolas"/>
              </a:rPr>
              <a:t>ProductID </a:t>
            </a:r>
            <a:r>
              <a:rPr sz="1000" spc="10" dirty="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sz="1000" spc="-10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NEW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spc="5" dirty="0">
                <a:latin typeface="Consolas"/>
                <a:cs typeface="Consolas"/>
              </a:rPr>
              <a:t>ProductID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131445" marR="2475230" indent="284480">
              <a:lnSpc>
                <a:spcPct val="140000"/>
              </a:lnSpc>
            </a:pP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RETURN</a:t>
            </a:r>
            <a:r>
              <a:rPr sz="1000" spc="-5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NEW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 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131445">
              <a:lnSpc>
                <a:spcPct val="100000"/>
              </a:lnSpc>
              <a:spcBef>
                <a:spcPts val="480"/>
              </a:spcBef>
            </a:pPr>
            <a:r>
              <a:rPr sz="1000" spc="5" dirty="0">
                <a:latin typeface="Consolas"/>
                <a:cs typeface="Consolas"/>
              </a:rPr>
              <a:t>$$ </a:t>
            </a:r>
            <a:r>
              <a:rPr sz="1000" spc="5" dirty="0">
                <a:solidFill>
                  <a:srgbClr val="A71D5D"/>
                </a:solidFill>
                <a:latin typeface="Consolas"/>
                <a:cs typeface="Consolas"/>
              </a:rPr>
              <a:t>LANGUAGE</a:t>
            </a:r>
            <a:r>
              <a:rPr sz="1000" spc="15" dirty="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sz="1000" spc="5" dirty="0">
                <a:latin typeface="Consolas"/>
                <a:cs typeface="Consolas"/>
              </a:rPr>
              <a:t>plpgsql</a:t>
            </a:r>
            <a:r>
              <a:rPr sz="1000" spc="5" dirty="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5054094"/>
            <a:ext cx="2311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可以看到我成功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创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建使用了触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发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器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2970" y="5440679"/>
            <a:ext cx="6363629" cy="2178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3100" y="7780939"/>
            <a:ext cx="3850640" cy="150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不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过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也可以在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delphi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中手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动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更改。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MS Gothic"/>
              <a:cs typeface="MS Gothic"/>
            </a:endParaRPr>
          </a:p>
          <a:p>
            <a:pPr marL="207645" indent="-195580">
              <a:lnSpc>
                <a:spcPct val="100000"/>
              </a:lnSpc>
              <a:buSzPct val="94444"/>
              <a:buFont typeface="Arial"/>
              <a:buAutoNum type="arabicPeriod" startAt="8"/>
              <a:tabLst>
                <a:tab pos="208279" algn="l"/>
              </a:tabLst>
            </a:pPr>
            <a:r>
              <a:rPr sz="1800" b="1" spc="-10" dirty="0">
                <a:latin typeface="MS Gothic"/>
                <a:cs typeface="MS Gothic"/>
              </a:rPr>
              <a:t>待</a:t>
            </a:r>
            <a:r>
              <a:rPr sz="1800" b="1" spc="-50" dirty="0">
                <a:latin typeface="MS Gothic"/>
                <a:cs typeface="MS Gothic"/>
              </a:rPr>
              <a:t>用</a:t>
            </a:r>
            <a:r>
              <a:rPr sz="1800" b="1" dirty="0">
                <a:latin typeface="Arial"/>
                <a:cs typeface="Arial"/>
              </a:rPr>
              <a:t>delphi</a:t>
            </a:r>
            <a:r>
              <a:rPr sz="1800" b="1" spc="-10" dirty="0">
                <a:latin typeface="MS Gothic"/>
                <a:cs typeface="MS Gothic"/>
              </a:rPr>
              <a:t>中至少五</a:t>
            </a:r>
            <a:r>
              <a:rPr sz="1800" b="1" spc="-50" dirty="0">
                <a:latin typeface="MS Gothic"/>
                <a:cs typeface="MS Gothic"/>
              </a:rPr>
              <a:t>个</a:t>
            </a:r>
            <a:r>
              <a:rPr sz="1800" b="1" spc="35" dirty="0">
                <a:latin typeface="微软雅黑"/>
                <a:cs typeface="微软雅黑"/>
              </a:rPr>
              <a:t>组</a:t>
            </a:r>
            <a:r>
              <a:rPr sz="1800" b="1" spc="-10" dirty="0">
                <a:latin typeface="MS Gothic"/>
                <a:cs typeface="MS Gothic"/>
              </a:rPr>
              <a:t>件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我主要使用了以下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件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MS Gothic"/>
              <a:cs typeface="MS Gothic"/>
            </a:endParaRPr>
          </a:p>
          <a:p>
            <a:pPr marL="825500" lvl="1" indent="-155575">
              <a:lnSpc>
                <a:spcPct val="100000"/>
              </a:lnSpc>
              <a:buChar char="•"/>
              <a:tabLst>
                <a:tab pos="825500" algn="l"/>
              </a:tabLst>
            </a:pP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TADOConnection</a:t>
            </a:r>
            <a:r>
              <a:rPr sz="1200" spc="-10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用于与数据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建立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连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接。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34494"/>
            <a:ext cx="4713605" cy="23723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25500" indent="-155575">
              <a:lnSpc>
                <a:spcPct val="100000"/>
              </a:lnSpc>
              <a:spcBef>
                <a:spcPts val="580"/>
              </a:spcBef>
              <a:buChar char="•"/>
              <a:tabLst>
                <a:tab pos="825500" algn="l"/>
              </a:tabLst>
            </a:pP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TADOQuery</a:t>
            </a:r>
            <a:r>
              <a:rPr sz="1200" spc="-1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用于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执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行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查询语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句，并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获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取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查询结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果。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TDataSource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数据源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件，用于提供数据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给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数据控件。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TDBGrid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数据表格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件，用于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示数据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库查询结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果。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TDBNavigator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导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航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栏组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件，用于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浏览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数据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TEdit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文本框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件，用于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输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入文本信息。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TLabel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标签组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件，用于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显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示静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态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文本信息。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TButton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按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钮组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件，用于触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发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事件。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TComboBox</a:t>
            </a:r>
            <a:r>
              <a:rPr sz="1200" spc="-5" dirty="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下拉框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件，用于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选择项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通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过对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象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层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次列表，可以看到我用了十余种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sz="1200" dirty="0">
                <a:solidFill>
                  <a:srgbClr val="333333"/>
                </a:solidFill>
                <a:latin typeface="MS Gothic"/>
                <a:cs typeface="MS Gothic"/>
              </a:rPr>
              <a:t>件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000750" cy="937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000750" cy="937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000750" cy="937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2841</Words>
  <Application>Microsoft Office PowerPoint</Application>
  <PresentationFormat>自定义</PresentationFormat>
  <Paragraphs>573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0" baseType="lpstr">
      <vt:lpstr>MS Gothic</vt:lpstr>
      <vt:lpstr>微软雅黑</vt:lpstr>
      <vt:lpstr>Arial</vt:lpstr>
      <vt:lpstr>Calibri</vt:lpstr>
      <vt:lpstr>Consolas</vt:lpstr>
      <vt:lpstr>Office Theme</vt:lpstr>
      <vt:lpstr>电子商务管理系统设计文档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documents</dc:title>
  <cp:lastModifiedBy>- Vel</cp:lastModifiedBy>
  <cp:revision>1</cp:revision>
  <dcterms:created xsi:type="dcterms:W3CDTF">2024-06-12T01:31:04Z</dcterms:created>
  <dcterms:modified xsi:type="dcterms:W3CDTF">2024-06-12T01:33:36Z</dcterms:modified>
</cp:coreProperties>
</file>
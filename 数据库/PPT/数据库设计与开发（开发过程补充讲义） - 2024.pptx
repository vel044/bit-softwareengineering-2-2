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方正姚体"/>
                <a:cs typeface="方正姚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hlink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方正姚体"/>
                <a:cs typeface="方正姚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方正姚体"/>
                <a:cs typeface="方正姚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0439" y="394461"/>
            <a:ext cx="67831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方正姚体"/>
                <a:cs typeface="方正姚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7514" y="1067978"/>
            <a:ext cx="8268970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hlink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25.xml"/><Relationship Id="rId4" Type="http://schemas.openxmlformats.org/officeDocument/2006/relationships/slide" Target="slide35.xml"/><Relationship Id="rId5" Type="http://schemas.openxmlformats.org/officeDocument/2006/relationships/slide" Target="slide60.xml"/><Relationship Id="rId6" Type="http://schemas.openxmlformats.org/officeDocument/2006/relationships/slide" Target="slide73.xml"/><Relationship Id="rId7" Type="http://schemas.openxmlformats.org/officeDocument/2006/relationships/slide" Target="slide92.xml"/><Relationship Id="rId8" Type="http://schemas.openxmlformats.org/officeDocument/2006/relationships/slide" Target="slide98.xml"/><Relationship Id="rId9" Type="http://schemas.openxmlformats.org/officeDocument/2006/relationships/image" Target="../media/image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slide" Target="slide9.xml"/><Relationship Id="rId4" Type="http://schemas.openxmlformats.org/officeDocument/2006/relationships/slide" Target="slide11.xml"/><Relationship Id="rId5" Type="http://schemas.openxmlformats.org/officeDocument/2006/relationships/slide" Target="slide13.xml"/><Relationship Id="rId6" Type="http://schemas.openxmlformats.org/officeDocument/2006/relationships/slide" Target="slide1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6.xml"/><Relationship Id="rId3" Type="http://schemas.openxmlformats.org/officeDocument/2006/relationships/slide" Target="slide27.xml"/><Relationship Id="rId4" Type="http://schemas.openxmlformats.org/officeDocument/2006/relationships/slide" Target="slide29.xml"/><Relationship Id="rId5" Type="http://schemas.openxmlformats.org/officeDocument/2006/relationships/slide" Target="slide3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6.xml"/><Relationship Id="rId3" Type="http://schemas.openxmlformats.org/officeDocument/2006/relationships/slide" Target="slide37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5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1.xml"/><Relationship Id="rId3" Type="http://schemas.openxmlformats.org/officeDocument/2006/relationships/slide" Target="slide63.xml"/><Relationship Id="rId4" Type="http://schemas.openxmlformats.org/officeDocument/2006/relationships/slide" Target="slide66.xml"/><Relationship Id="rId5" Type="http://schemas.openxmlformats.org/officeDocument/2006/relationships/slide" Target="slide70.xml"/><Relationship Id="rId6" Type="http://schemas.openxmlformats.org/officeDocument/2006/relationships/slide" Target="slide71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4.xml"/><Relationship Id="rId3" Type="http://schemas.openxmlformats.org/officeDocument/2006/relationships/slide" Target="slide75.xml"/><Relationship Id="rId4" Type="http://schemas.openxmlformats.org/officeDocument/2006/relationships/slide" Target="slide80.xml"/><Relationship Id="rId5" Type="http://schemas.openxmlformats.org/officeDocument/2006/relationships/slide" Target="slide87.xml"/><Relationship Id="rId6" Type="http://schemas.openxmlformats.org/officeDocument/2006/relationships/slide" Target="slide90.xml"/><Relationship Id="rId7" Type="http://schemas.openxmlformats.org/officeDocument/2006/relationships/slide" Target="slide91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93.xml"/><Relationship Id="rId3" Type="http://schemas.openxmlformats.org/officeDocument/2006/relationships/slide" Target="slide94.xml"/><Relationship Id="rId4" Type="http://schemas.openxmlformats.org/officeDocument/2006/relationships/slide" Target="slide95.xml"/><Relationship Id="rId5" Type="http://schemas.openxmlformats.org/officeDocument/2006/relationships/slide" Target="slide96.xm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0811" y="845819"/>
            <a:ext cx="8413242" cy="19210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090" y="1100073"/>
            <a:ext cx="734060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b="0">
                <a:latin typeface="隶书"/>
                <a:cs typeface="隶书"/>
              </a:rPr>
              <a:t>数据库设计与开发</a:t>
            </a:r>
            <a:endParaRPr sz="7200">
              <a:latin typeface="隶书"/>
              <a:cs typeface="隶书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40608" y="2610611"/>
            <a:ext cx="2695193" cy="11224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83410" y="2432535"/>
            <a:ext cx="6647180" cy="3834129"/>
          </a:xfrm>
          <a:prstGeom prst="rect">
            <a:avLst/>
          </a:prstGeom>
        </p:spPr>
        <p:txBody>
          <a:bodyPr wrap="square" lIns="0" tIns="368300" rIns="0" bIns="0" rtlCol="0" vert="horz">
            <a:spAutoFit/>
          </a:bodyPr>
          <a:lstStyle/>
          <a:p>
            <a:pPr algn="ctr" marR="1026160">
              <a:lnSpc>
                <a:spcPct val="100000"/>
              </a:lnSpc>
              <a:spcBef>
                <a:spcPts val="2900"/>
              </a:spcBef>
            </a:pPr>
            <a:r>
              <a:rPr dirty="0" sz="4000" spc="-5">
                <a:solidFill>
                  <a:srgbClr val="339933"/>
                </a:solidFill>
                <a:latin typeface="方正姚体"/>
                <a:cs typeface="方正姚体"/>
              </a:rPr>
              <a:t>补充讲义</a:t>
            </a:r>
            <a:endParaRPr sz="4000">
              <a:latin typeface="方正姚体"/>
              <a:cs typeface="方正姚体"/>
            </a:endParaRPr>
          </a:p>
          <a:p>
            <a:pPr algn="ctr" marR="1189990">
              <a:lnSpc>
                <a:spcPct val="100000"/>
              </a:lnSpc>
              <a:spcBef>
                <a:spcPts val="2255"/>
              </a:spcBef>
            </a:pPr>
            <a:r>
              <a:rPr dirty="0" sz="3200" b="1">
                <a:solidFill>
                  <a:srgbClr val="0000FF"/>
                </a:solidFill>
                <a:latin typeface="Arial"/>
                <a:cs typeface="Arial"/>
              </a:rPr>
              <a:t>Copyright</a:t>
            </a:r>
            <a:r>
              <a:rPr dirty="0" sz="3200" spc="-6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000FF"/>
                </a:solidFill>
                <a:latin typeface="Arial"/>
                <a:cs typeface="Arial"/>
              </a:rPr>
              <a:t>©</a:t>
            </a:r>
            <a:r>
              <a:rPr dirty="0" sz="3200" spc="-2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Arial"/>
                <a:cs typeface="Arial"/>
              </a:rPr>
              <a:t>2000-2024</a:t>
            </a: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年</a:t>
            </a:r>
            <a:r>
              <a:rPr dirty="0" sz="3200" spc="-10" b="1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月</a:t>
            </a:r>
            <a:endParaRPr sz="3200">
              <a:latin typeface="宋体"/>
              <a:cs typeface="宋体"/>
            </a:endParaRPr>
          </a:p>
          <a:p>
            <a:pPr algn="ctr" marR="1189990">
              <a:lnSpc>
                <a:spcPct val="100000"/>
              </a:lnSpc>
              <a:spcBef>
                <a:spcPts val="930"/>
              </a:spcBef>
              <a:tabLst>
                <a:tab pos="2040889" algn="l"/>
              </a:tabLst>
            </a:pPr>
            <a:r>
              <a:rPr dirty="0" sz="3200" spc="-5" b="1">
                <a:solidFill>
                  <a:srgbClr val="0000FF"/>
                </a:solidFill>
                <a:latin typeface="黑体"/>
                <a:cs typeface="黑体"/>
              </a:rPr>
              <a:t>版权</a:t>
            </a:r>
            <a:r>
              <a:rPr dirty="0" sz="3200" spc="-10" b="1">
                <a:solidFill>
                  <a:srgbClr val="0000FF"/>
                </a:solidFill>
                <a:latin typeface="黑体"/>
                <a:cs typeface="黑体"/>
              </a:rPr>
              <a:t>所有	</a:t>
            </a:r>
            <a:r>
              <a:rPr dirty="0" sz="3200" spc="-5" b="1">
                <a:solidFill>
                  <a:srgbClr val="0000FF"/>
                </a:solidFill>
                <a:latin typeface="黑体"/>
                <a:cs typeface="黑体"/>
              </a:rPr>
              <a:t>请勿复</a:t>
            </a:r>
            <a:r>
              <a:rPr dirty="0" sz="3200" spc="-10" b="1">
                <a:solidFill>
                  <a:srgbClr val="0000FF"/>
                </a:solidFill>
                <a:latin typeface="黑体"/>
                <a:cs typeface="黑体"/>
              </a:rPr>
              <a:t>制</a:t>
            </a:r>
            <a:r>
              <a:rPr dirty="0" sz="3200" spc="-5" b="1">
                <a:solidFill>
                  <a:srgbClr val="0000FF"/>
                </a:solidFill>
                <a:latin typeface="黑体"/>
                <a:cs typeface="黑体"/>
              </a:rPr>
              <a:t>、传</a:t>
            </a:r>
            <a:r>
              <a:rPr dirty="0" sz="3200" spc="-10" b="1">
                <a:solidFill>
                  <a:srgbClr val="0000FF"/>
                </a:solidFill>
                <a:latin typeface="黑体"/>
                <a:cs typeface="黑体"/>
              </a:rPr>
              <a:t>播</a:t>
            </a:r>
            <a:endParaRPr sz="3200">
              <a:latin typeface="黑体"/>
              <a:cs typeface="黑体"/>
            </a:endParaRPr>
          </a:p>
          <a:p>
            <a:pPr algn="ctr" marL="3128010">
              <a:lnSpc>
                <a:spcPct val="100000"/>
              </a:lnSpc>
              <a:spcBef>
                <a:spcPts val="1814"/>
              </a:spcBef>
              <a:tabLst>
                <a:tab pos="4228465" algn="l"/>
                <a:tab pos="5328920" algn="l"/>
              </a:tabLst>
            </a:pPr>
            <a:r>
              <a:rPr dirty="0" sz="4300" spc="-20" b="1">
                <a:solidFill>
                  <a:srgbClr val="008000"/>
                </a:solidFill>
                <a:latin typeface="方正舒体"/>
                <a:cs typeface="方正舒体"/>
              </a:rPr>
              <a:t>趙	小	林</a:t>
            </a:r>
            <a:endParaRPr sz="4300">
              <a:latin typeface="方正舒体"/>
              <a:cs typeface="方正舒体"/>
            </a:endParaRPr>
          </a:p>
          <a:p>
            <a:pPr algn="ctr" marL="3150235">
              <a:lnSpc>
                <a:spcPct val="100000"/>
              </a:lnSpc>
              <a:spcBef>
                <a:spcPts val="705"/>
              </a:spcBef>
            </a:pPr>
            <a:r>
              <a:rPr dirty="0" sz="3200" spc="1590" b="1">
                <a:solidFill>
                  <a:srgbClr val="33CCFF"/>
                </a:solidFill>
                <a:latin typeface="宋体"/>
                <a:cs typeface="宋体"/>
              </a:rPr>
              <a:t>"</a:t>
            </a:r>
            <a:r>
              <a:rPr dirty="0" sz="3200" spc="-20" b="1">
                <a:solidFill>
                  <a:srgbClr val="33CC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33CCFF"/>
                </a:solidFill>
                <a:latin typeface="宋体"/>
                <a:cs typeface="宋体"/>
              </a:rPr>
              <a:t>京 理 工 大 学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9473" y="394461"/>
            <a:ext cx="38481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7780" algn="l"/>
              </a:tabLst>
            </a:pPr>
            <a:r>
              <a:rPr dirty="0" spc="-10"/>
              <a:t>补</a:t>
            </a:r>
            <a:r>
              <a:rPr dirty="0" spc="-20"/>
              <a:t>充</a:t>
            </a:r>
            <a:r>
              <a:rPr dirty="0"/>
              <a:t>	</a:t>
            </a:r>
            <a:r>
              <a:rPr dirty="0" spc="-10"/>
              <a:t>数据库设计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90841"/>
            <a:ext cx="5067300" cy="412369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Clr>
                <a:srgbClr val="0000FF"/>
              </a:buClr>
              <a:buFont typeface=""/>
              <a:buChar char="•"/>
              <a:tabLst>
                <a:tab pos="356235" algn="l"/>
              </a:tabLst>
            </a:pPr>
            <a:r>
              <a:rPr dirty="0" u="heavy" sz="32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2" action="ppaction://hlinksldjump"/>
              </a:rPr>
              <a:t>§1</a:t>
            </a:r>
            <a:r>
              <a:rPr dirty="0" u="heavy" sz="3200" spc="158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2" action="ppaction://hlinksldjump"/>
              </a:rPr>
              <a:t> </a:t>
            </a:r>
            <a:r>
              <a:rPr dirty="0" u="heavy" sz="32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2" action="ppaction://hlinksldjump"/>
              </a:rPr>
              <a:t>数据库设计概述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00FF"/>
              </a:buClr>
              <a:buFont typeface=""/>
              <a:buChar char="•"/>
              <a:tabLst>
                <a:tab pos="356235" algn="l"/>
              </a:tabLst>
            </a:pP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3" action="ppaction://hlinksldjump"/>
              </a:rPr>
              <a:t>§2</a:t>
            </a:r>
            <a:r>
              <a:rPr dirty="0" u="heavy" sz="3200" spc="158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3" action="ppaction://hlinksldjump"/>
              </a:rPr>
              <a:t> </a:t>
            </a: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3" action="ppaction://hlinksldjump"/>
              </a:rPr>
              <a:t>需求分析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00FF"/>
              </a:buClr>
              <a:buFont typeface=""/>
              <a:buChar char="•"/>
              <a:tabLst>
                <a:tab pos="356235" algn="l"/>
              </a:tabLst>
            </a:pP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4" action="ppaction://hlinksldjump"/>
              </a:rPr>
              <a:t>§3</a:t>
            </a:r>
            <a:r>
              <a:rPr dirty="0" u="heavy" sz="3200" spc="151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4" action="ppaction://hlinksldjump"/>
              </a:rPr>
              <a:t> </a:t>
            </a: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4" action="ppaction://hlinksldjump"/>
              </a:rPr>
              <a:t>概念结构设计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00FF"/>
              </a:buClr>
              <a:buFont typeface=""/>
              <a:buChar char="•"/>
              <a:tabLst>
                <a:tab pos="356235" algn="l"/>
              </a:tabLst>
            </a:pP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5" action="ppaction://hlinksldjump"/>
              </a:rPr>
              <a:t>§4</a:t>
            </a:r>
            <a:r>
              <a:rPr dirty="0" u="heavy" sz="3200" spc="151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5" action="ppaction://hlinksldjump"/>
              </a:rPr>
              <a:t> </a:t>
            </a: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5" action="ppaction://hlinksldjump"/>
              </a:rPr>
              <a:t>逻辑结构设计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00FF"/>
              </a:buClr>
              <a:buFont typeface=""/>
              <a:buChar char="•"/>
              <a:tabLst>
                <a:tab pos="356235" algn="l"/>
              </a:tabLst>
            </a:pP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6" action="ppaction://hlinksldjump"/>
              </a:rPr>
              <a:t>§5</a:t>
            </a:r>
            <a:r>
              <a:rPr dirty="0" u="heavy" sz="3200" spc="156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6" action="ppaction://hlinksldjump"/>
              </a:rPr>
              <a:t> </a:t>
            </a: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6" action="ppaction://hlinksldjump"/>
              </a:rPr>
              <a:t>数据库的物理设计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Clr>
                <a:srgbClr val="0000FF"/>
              </a:buClr>
              <a:buFont typeface=""/>
              <a:buChar char="•"/>
              <a:tabLst>
                <a:tab pos="356235" algn="l"/>
              </a:tabLst>
            </a:pPr>
            <a:r>
              <a:rPr dirty="0" u="heavy" sz="32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7" action="ppaction://hlinksldjump"/>
              </a:rPr>
              <a:t>§6</a:t>
            </a:r>
            <a:r>
              <a:rPr dirty="0" u="heavy" sz="3200" spc="155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7" action="ppaction://hlinksldjump"/>
              </a:rPr>
              <a:t> </a:t>
            </a:r>
            <a:r>
              <a:rPr dirty="0" u="heavy" sz="32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7" action="ppaction://hlinksldjump"/>
              </a:rPr>
              <a:t>数据库的实施和维护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00FF"/>
              </a:buClr>
              <a:buFont typeface=""/>
              <a:buChar char="•"/>
              <a:tabLst>
                <a:tab pos="356235" algn="l"/>
              </a:tabLst>
            </a:pP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8" action="ppaction://hlinksldjump"/>
              </a:rPr>
              <a:t>§7</a:t>
            </a:r>
            <a:r>
              <a:rPr dirty="0" u="heavy" sz="3200" spc="-2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8" action="ppaction://hlinksldjump"/>
              </a:rPr>
              <a:t> </a:t>
            </a:r>
            <a:r>
              <a:rPr dirty="0" u="heavy" sz="3200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8" action="ppaction://hlinksldjump"/>
              </a:rPr>
              <a:t>小 结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9915" y="5044894"/>
            <a:ext cx="1821681" cy="181484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442" y="394461"/>
            <a:ext cx="43567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1</a:t>
            </a:r>
            <a:r>
              <a:rPr dirty="0"/>
              <a:t>	</a:t>
            </a:r>
            <a:r>
              <a:rPr dirty="0" spc="-10"/>
              <a:t>数据库设计概述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96327"/>
            <a:ext cx="4154170" cy="277050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16230" indent="-304165">
              <a:lnSpc>
                <a:spcPct val="100000"/>
              </a:lnSpc>
              <a:spcBef>
                <a:spcPts val="8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2" action="ppaction://hlinksldjump"/>
              </a:rPr>
              <a:t>数据库设计概述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3" action="ppaction://hlinksldjump"/>
              </a:rPr>
              <a:t>数据库和信息系统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4" action="ppaction://hlinksldjump"/>
              </a:rPr>
              <a:t>数据库设计的特点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5" action="ppaction://hlinksldjump"/>
              </a:rPr>
              <a:t>数据库设计方法简述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6" action="ppaction://hlinksldjump"/>
              </a:rPr>
              <a:t>数据库设计的基本步骤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442" y="394461"/>
            <a:ext cx="43567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1</a:t>
            </a:r>
            <a:r>
              <a:rPr dirty="0"/>
              <a:t>	</a:t>
            </a:r>
            <a:r>
              <a:rPr dirty="0" spc="-10"/>
              <a:t>数据库设计概述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52257"/>
            <a:ext cx="7214234" cy="351218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315595" indent="-303530">
              <a:lnSpc>
                <a:spcPct val="100000"/>
              </a:lnSpc>
              <a:spcBef>
                <a:spcPts val="100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数据库设计有两个含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义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  <a:p>
            <a:pPr marL="469265">
              <a:lnSpc>
                <a:spcPts val="3279"/>
              </a:lnSpc>
              <a:spcBef>
                <a:spcPts val="83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一个是指数据库系统设计，即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设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计一个</a:t>
            </a:r>
            <a:endParaRPr sz="2800">
              <a:latin typeface="宋体"/>
              <a:cs typeface="宋体"/>
            </a:endParaRPr>
          </a:p>
          <a:p>
            <a:pPr marL="697865">
              <a:lnSpc>
                <a:spcPts val="3279"/>
              </a:lnSpc>
            </a:pP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DBMS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系统，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一个是指数据库应用系统的设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计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299085" marR="5080" indent="-287020">
              <a:lnSpc>
                <a:spcPct val="97700"/>
              </a:lnSpc>
              <a:spcBef>
                <a:spcPts val="96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我们这里要讨论的数据库设计是指后者，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即在现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有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DBMS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的基础上建立数据库及应 用系统的整个过程。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442" y="394461"/>
            <a:ext cx="43567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1</a:t>
            </a:r>
            <a:r>
              <a:rPr dirty="0"/>
              <a:t>	</a:t>
            </a:r>
            <a:r>
              <a:rPr dirty="0" spc="-10"/>
              <a:t>数据库设计概述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156450" cy="36633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9085" marR="5080" indent="-287020">
              <a:lnSpc>
                <a:spcPct val="99400"/>
              </a:lnSpc>
              <a:spcBef>
                <a:spcPts val="12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要建立一个数据库应用系统，需要根据 数据处理的规模，对应用系统的性能要 求等选择合适的计算机硬件配</a:t>
            </a:r>
            <a:r>
              <a:rPr dirty="0" sz="3000" spc="5" b="1">
                <a:solidFill>
                  <a:srgbClr val="005F00"/>
                </a:solidFill>
                <a:latin typeface="黑体"/>
                <a:cs typeface="黑体"/>
              </a:rPr>
              <a:t>置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如计算 机的选型，是否上网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等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、软件配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置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如</a:t>
            </a:r>
            <a:r>
              <a:rPr dirty="0" sz="3000" spc="-10" b="1">
                <a:solidFill>
                  <a:srgbClr val="005F00"/>
                </a:solidFill>
                <a:latin typeface="黑体"/>
                <a:cs typeface="黑体"/>
              </a:rPr>
              <a:t>操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作系统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等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、选定数据库管理系统，组织 开发人员小组，在熟悉计算机软硬件及 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DBMS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的基础上，完成整个应用系统的设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计工作。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442" y="394461"/>
            <a:ext cx="43567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1</a:t>
            </a:r>
            <a:r>
              <a:rPr dirty="0"/>
              <a:t>	</a:t>
            </a:r>
            <a:r>
              <a:rPr dirty="0" spc="-10"/>
              <a:t>数据库设计概述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197725" cy="3205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99085" marR="5080" indent="-287020">
              <a:lnSpc>
                <a:spcPct val="99200"/>
              </a:lnSpc>
              <a:spcBef>
                <a:spcPts val="13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以数据库为核心的、普通的应用系统人 们通常称为管理信息系统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Managenent  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Information</a:t>
            </a:r>
            <a:r>
              <a:rPr dirty="0" sz="3000" spc="10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System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MIS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系统）。它一 般具有对信息的存储、检索、加工等功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能。随着数据库技术的发展和广泛普及， 各行各业都有大量的信息需要进行管理，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要求建立信息管理系统。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442" y="394461"/>
            <a:ext cx="43567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1</a:t>
            </a:r>
            <a:r>
              <a:rPr dirty="0"/>
              <a:t>	</a:t>
            </a:r>
            <a:r>
              <a:rPr dirty="0" spc="-10"/>
              <a:t>数据库设计概述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42746"/>
            <a:ext cx="7091680" cy="466915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just" marL="299085" marR="265430" indent="-287020">
              <a:lnSpc>
                <a:spcPct val="87700"/>
              </a:lnSpc>
              <a:spcBef>
                <a:spcPts val="540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如何建立一个高效实用的数据库应用系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统，是数据库应用领域研究的一个主要 课题。</a:t>
            </a:r>
            <a:endParaRPr sz="3000">
              <a:latin typeface="黑体"/>
              <a:cs typeface="黑体"/>
            </a:endParaRPr>
          </a:p>
          <a:p>
            <a:pPr marL="299085" marR="5080" indent="-287020">
              <a:lnSpc>
                <a:spcPct val="89400"/>
              </a:lnSpc>
              <a:spcBef>
                <a:spcPts val="910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在数据库应用初期，数据库设计往往是 凭设计者的经验、知识、水平，因此设 计出的应用系统性能好坏差别很大，常 常不能满足应用要求。数据库工作者经 过大量探索和研究，提出了不少的数据 库设计方法，如新奥尔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良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(NewOrleans) 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方法，规范化方法，基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于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模型的数据 库设计方法等。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442" y="394461"/>
            <a:ext cx="43567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1</a:t>
            </a:r>
            <a:r>
              <a:rPr dirty="0"/>
              <a:t>	</a:t>
            </a:r>
            <a:r>
              <a:rPr dirty="0" spc="-10"/>
              <a:t>数据库设计概述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214234" cy="3205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99085" marR="5080" indent="-287020">
              <a:lnSpc>
                <a:spcPct val="99200"/>
              </a:lnSpc>
              <a:spcBef>
                <a:spcPts val="13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实践表明，数据库设计是一项软件工程，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应该把软件工程的原理和方法应用到数 据库设计中。与一般软件工程相比，数 据库设计与应用环境联系紧密，应用系 统的信息结构复杂，加之数据库系统本 身的复杂性，因此数据库设计具有自身 的特点，逐渐形成了数据库设计方法学。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6529" y="394461"/>
            <a:ext cx="52501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.1</a:t>
            </a:r>
            <a:r>
              <a:rPr dirty="0"/>
              <a:t>	</a:t>
            </a:r>
            <a:r>
              <a:rPr dirty="0" spc="-10"/>
              <a:t>数据库和信息系统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5418"/>
            <a:ext cx="7277100" cy="43694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99085" marR="5080" indent="-287020">
              <a:lnSpc>
                <a:spcPct val="99600"/>
              </a:lnSpc>
              <a:spcBef>
                <a:spcPts val="114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从使用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者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角度看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信息系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统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是提供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信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息、辅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助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人们对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环境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进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控制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进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行决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策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系统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。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数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据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库是信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息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系统的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核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心和基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础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。它把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信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息系统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中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大量得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数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据按一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定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的模型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组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织起来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提供储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存、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维护、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检索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数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据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的功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能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使信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息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统可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以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方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便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及时准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的从数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库中获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得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所需的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信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息。一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个</a:t>
            </a:r>
            <a:r>
              <a:rPr dirty="0" sz="2600" spc="15" b="1">
                <a:solidFill>
                  <a:srgbClr val="005F00"/>
                </a:solidFill>
                <a:latin typeface="黑体"/>
                <a:cs typeface="黑体"/>
              </a:rPr>
              <a:t>信 </a:t>
            </a: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息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spc="620" b="1">
                <a:solidFill>
                  <a:srgbClr val="005F00"/>
                </a:solidFill>
                <a:latin typeface="黑体"/>
                <a:cs typeface="黑体"/>
              </a:rPr>
              <a:t>统</a:t>
            </a: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的各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个部分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能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否紧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密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的结合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一起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以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及 如何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集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合，关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在数据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库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。因此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只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有对数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据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库 进行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合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理的逻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辑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设计和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有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效的物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理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设计才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能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开 发出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善而高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效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的信息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统。数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库设计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是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信 息系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统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开发和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建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设的重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要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组成部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分。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6529" y="394461"/>
            <a:ext cx="52501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.1</a:t>
            </a:r>
            <a:r>
              <a:rPr dirty="0"/>
              <a:t>	</a:t>
            </a:r>
            <a:r>
              <a:rPr dirty="0" spc="-10"/>
              <a:t>数据库和信息系统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289165" cy="326326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专业人员应具备的技术和知识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数据库的基本知识和数据库设计技术</a:t>
            </a:r>
            <a:endParaRPr sz="3000">
              <a:latin typeface="黑体"/>
              <a:cs typeface="黑体"/>
            </a:endParaRPr>
          </a:p>
          <a:p>
            <a:pPr lvl="1" marL="756285" marR="5080" indent="-287020">
              <a:lnSpc>
                <a:spcPts val="3429"/>
              </a:lnSpc>
              <a:spcBef>
                <a:spcPts val="11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计算机科学的基础知识和程序设计的方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法和技巧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64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软件工程的原理和方法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应用领域的知识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6529" y="394461"/>
            <a:ext cx="52501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数据库设计的特点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214234" cy="32969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299085" marR="387350" indent="-287020">
              <a:lnSpc>
                <a:spcPct val="97700"/>
              </a:lnSpc>
              <a:spcBef>
                <a:spcPts val="18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数据库建设是硬件、软件和干件（技术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与管理的界面）的结合。这是数据库设 计的特点之一。</a:t>
            </a:r>
            <a:endParaRPr sz="3000">
              <a:latin typeface="黑体"/>
              <a:cs typeface="黑体"/>
            </a:endParaRPr>
          </a:p>
          <a:p>
            <a:pPr marL="299085" marR="5080" indent="-287020">
              <a:lnSpc>
                <a:spcPct val="98500"/>
              </a:lnSpc>
              <a:spcBef>
                <a:spcPts val="94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数据库设计应该和应用系统设计相结合，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也就是说，整个设计过程中要把结构设 计和行为设计密切结合起来。这是数据 库设计的特点之二。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6529" y="394461"/>
            <a:ext cx="52501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数据库设计的特点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302500" cy="375475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99085" marR="5080" indent="-287020">
              <a:lnSpc>
                <a:spcPct val="98500"/>
              </a:lnSpc>
              <a:spcBef>
                <a:spcPts val="15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传统的软件工程忽视对应用中数据语义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的分析和抽象。如结构化设计方法</a:t>
            </a:r>
            <a:r>
              <a:rPr dirty="0" sz="3000" spc="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</a:t>
            </a:r>
            <a:r>
              <a:rPr dirty="0" sz="3000" spc="-10" b="1">
                <a:solidFill>
                  <a:srgbClr val="005F00"/>
                </a:solidFill>
                <a:latin typeface="黑体"/>
                <a:cs typeface="黑体"/>
              </a:rPr>
              <a:t>）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和逐步求精的方法，只要有可能就尽量 推迟数据结构的设计。</a:t>
            </a:r>
            <a:endParaRPr sz="3000">
              <a:latin typeface="黑体"/>
              <a:cs typeface="黑体"/>
            </a:endParaRPr>
          </a:p>
          <a:p>
            <a:pPr algn="just" marL="299085" marR="474980" indent="-287020">
              <a:lnSpc>
                <a:spcPct val="98500"/>
              </a:lnSpc>
              <a:spcBef>
                <a:spcPts val="944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数据库应用系统要求各应用程序共享数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据库模式，因而数据库（模式）设计质 量直接影响系统中各处理过程的性能和 质量。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2020" y="394461"/>
            <a:ext cx="57594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数据库设计方法简述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42746"/>
            <a:ext cx="7132320" cy="466915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99085" marR="50165" indent="-287020">
              <a:lnSpc>
                <a:spcPct val="89200"/>
              </a:lnSpc>
              <a:spcBef>
                <a:spcPts val="484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规范设计法中比较著名的有新奥尔良方 法。它将数据库设计分为四个阶段：需 求分析、概念设计、逻辑设计和物理设 计。其后</a:t>
            </a:r>
            <a:r>
              <a:rPr dirty="0" sz="3000" spc="-4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3000" spc="-40" b="1">
                <a:solidFill>
                  <a:srgbClr val="005F00"/>
                </a:solidFill>
                <a:latin typeface="Times New Roman"/>
                <a:cs typeface="Times New Roman"/>
              </a:rPr>
              <a:t>S.B.Yao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等又将数据库设计分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为五个步骤。又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有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I.R</a:t>
            </a:r>
            <a:r>
              <a:rPr dirty="0" sz="3000" spc="5" b="1">
                <a:solidFill>
                  <a:srgbClr val="005F00"/>
                </a:solidFill>
                <a:latin typeface="Times New Roman"/>
                <a:cs typeface="Times New Roman"/>
              </a:rPr>
              <a:t>.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Pal</a:t>
            </a:r>
            <a:r>
              <a:rPr dirty="0" sz="3000" spc="-15" b="1">
                <a:solidFill>
                  <a:srgbClr val="005F00"/>
                </a:solidFill>
                <a:latin typeface="Times New Roman"/>
                <a:cs typeface="Times New Roman"/>
              </a:rPr>
              <a:t>m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er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等主张把数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据库设计当成一步接一步的过程，并采 用一些辅助手段实现每一过程。</a:t>
            </a:r>
            <a:endParaRPr sz="3000">
              <a:latin typeface="黑体"/>
              <a:cs typeface="黑体"/>
            </a:endParaRPr>
          </a:p>
          <a:p>
            <a:pPr marL="299085" marR="5080" indent="-287020">
              <a:lnSpc>
                <a:spcPct val="9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基于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模型的数据库设计方法，基于 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3N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F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的设计方法，基于抽象语法规范的设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计方法等，是在数据库设计的不同阶段 上支持实现的具体技术和方法。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2020" y="394461"/>
            <a:ext cx="57594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数据库设计方法简述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087234" cy="395605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299085" marR="259715" indent="-287020">
              <a:lnSpc>
                <a:spcPct val="97700"/>
              </a:lnSpc>
              <a:spcBef>
                <a:spcPts val="18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规范化设计方法从本质上说仍然是手工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方法，其基本思想是过程迭代和逐步求 精。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著名的数据库开发工具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64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70"/>
              </a:spcBef>
            </a:pPr>
            <a:r>
              <a:rPr dirty="0" sz="2800" spc="-1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Power</a:t>
            </a:r>
            <a:r>
              <a:rPr dirty="0" sz="2800" spc="-35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Designer</a:t>
            </a:r>
            <a:endParaRPr sz="2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75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计算机辅助软件工程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CAS</a:t>
            </a:r>
            <a:r>
              <a:rPr dirty="0" sz="3000" spc="5" b="1">
                <a:solidFill>
                  <a:srgbClr val="005F00"/>
                </a:solidFill>
                <a:latin typeface="Times New Roman"/>
                <a:cs typeface="Times New Roman"/>
              </a:rPr>
              <a:t>E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）已经开始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强调数据库自动设计。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4499"/>
            <a:ext cx="7734300" cy="459994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1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2800" spc="-5" b="1">
                <a:solidFill>
                  <a:srgbClr val="0000FF"/>
                </a:solidFill>
                <a:latin typeface="宋体"/>
                <a:cs typeface="宋体"/>
              </a:rPr>
              <a:t>早期数据库设计</a:t>
            </a:r>
            <a:endParaRPr sz="2800">
              <a:latin typeface="宋体"/>
              <a:cs typeface="宋体"/>
            </a:endParaRPr>
          </a:p>
          <a:p>
            <a:pPr lvl="1" marL="756285" marR="5080" indent="-287020">
              <a:lnSpc>
                <a:spcPct val="99500"/>
              </a:lnSpc>
              <a:spcBef>
                <a:spcPts val="780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由于应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涉及面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小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，通常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只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是处理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某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一方面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的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应用，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如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工资管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理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系统，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人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事管理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统等，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需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要比较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简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单，数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结构不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太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复杂。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设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计人员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在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了解用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户的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信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息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要求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处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理要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求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数据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量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之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后，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就可以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经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过综合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、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分析，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建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立起数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模型。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然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后结合</a:t>
            </a:r>
            <a:r>
              <a:rPr dirty="0" sz="2600" spc="-5" b="1">
                <a:solidFill>
                  <a:srgbClr val="005F00"/>
                </a:solidFill>
                <a:latin typeface="Times New Roman"/>
                <a:cs typeface="Times New Roman"/>
              </a:rPr>
              <a:t>DBMS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将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数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据的逻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辑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结构、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物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理结构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、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系统性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能一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起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考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虑，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直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接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编程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成应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统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的设计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。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这种手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工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设计方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法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，数据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库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设计的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好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坏完全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取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决于设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计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者的经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、水平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缺少科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学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根据，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因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而很难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保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证设计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量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。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5165"/>
            <a:ext cx="7601584" cy="505079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2800" spc="-5" b="1">
                <a:solidFill>
                  <a:srgbClr val="0000FF"/>
                </a:solidFill>
                <a:latin typeface="宋体"/>
                <a:cs typeface="宋体"/>
              </a:rPr>
              <a:t>现代数据库系统与早期数据库</a:t>
            </a:r>
            <a:r>
              <a:rPr dirty="0" sz="2800" spc="5" b="1">
                <a:solidFill>
                  <a:srgbClr val="0000FF"/>
                </a:solidFill>
                <a:latin typeface="宋体"/>
                <a:cs typeface="宋体"/>
              </a:rPr>
              <a:t>系</a:t>
            </a:r>
            <a:r>
              <a:rPr dirty="0" sz="2800" spc="-5" b="1">
                <a:solidFill>
                  <a:srgbClr val="0000FF"/>
                </a:solidFill>
                <a:latin typeface="宋体"/>
                <a:cs typeface="宋体"/>
              </a:rPr>
              <a:t>统比较</a:t>
            </a:r>
            <a:endParaRPr sz="2800">
              <a:latin typeface="宋体"/>
              <a:cs typeface="宋体"/>
            </a:endParaRPr>
          </a:p>
          <a:p>
            <a:pPr lvl="1" marL="756285" marR="202565" indent="-287020">
              <a:lnSpc>
                <a:spcPts val="2680"/>
              </a:lnSpc>
              <a:spcBef>
                <a:spcPts val="905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数据间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的关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十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分复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杂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仅凭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设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计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者的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经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很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难准确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达不同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户的要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求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和数据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间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的关系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。</a:t>
            </a:r>
            <a:endParaRPr sz="2600">
              <a:latin typeface="黑体"/>
              <a:cs typeface="黑体"/>
            </a:endParaRPr>
          </a:p>
          <a:p>
            <a:pPr marL="1155700" marR="5080" indent="-228600">
              <a:lnSpc>
                <a:spcPts val="2470"/>
              </a:lnSpc>
              <a:spcBef>
                <a:spcPts val="825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直接把逻辑结构，物理结构、系统性能一起考 </a:t>
            </a:r>
            <a:r>
              <a:rPr dirty="0" sz="2400" spc="-5" b="1">
                <a:solidFill>
                  <a:srgbClr val="000066"/>
                </a:solidFill>
                <a:latin typeface="宋体"/>
                <a:cs typeface="宋体"/>
              </a:rPr>
              <a:t>虑，涉及的因素太多，设计过程复杂，难以控制</a:t>
            </a:r>
            <a:endParaRPr sz="2400">
              <a:latin typeface="宋体"/>
              <a:cs typeface="宋体"/>
            </a:endParaRPr>
          </a:p>
          <a:p>
            <a:pPr algn="just" lvl="1" marL="756285" marR="202565" indent="-287020">
              <a:lnSpc>
                <a:spcPct val="87900"/>
              </a:lnSpc>
              <a:spcBef>
                <a:spcPts val="805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在设计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中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缺乏文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档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资料，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很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难与用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户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交流。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而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准确了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解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用户需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求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是数据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库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应用系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统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是否成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功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的关键。</a:t>
            </a:r>
            <a:endParaRPr sz="2600">
              <a:latin typeface="黑体"/>
              <a:cs typeface="黑体"/>
            </a:endParaRPr>
          </a:p>
          <a:p>
            <a:pPr algn="just" lvl="1" marL="756285" marR="202565" indent="-287020">
              <a:lnSpc>
                <a:spcPct val="89000"/>
              </a:lnSpc>
              <a:spcBef>
                <a:spcPts val="785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大型数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据库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统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一般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设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计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周期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都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比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较长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有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的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可能需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要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二三年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时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间。如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果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在设计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后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期才发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现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错误，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轻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则影响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统质量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重则导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致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整个设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计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失败。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因此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设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计过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程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中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需要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进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阶段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评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审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，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及时发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现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错误，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及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时纠正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。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6630670" cy="3903979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数据库的设计可分为以下六</a:t>
            </a:r>
            <a:r>
              <a:rPr dirty="0" sz="3200" spc="-15" b="1">
                <a:solidFill>
                  <a:srgbClr val="0000FF"/>
                </a:solidFill>
                <a:latin typeface="宋体"/>
                <a:cs typeface="宋体"/>
              </a:rPr>
              <a:t>个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阶</a:t>
            </a:r>
            <a:r>
              <a:rPr dirty="0" sz="3200" spc="5" b="1">
                <a:solidFill>
                  <a:srgbClr val="0000FF"/>
                </a:solidFill>
                <a:latin typeface="宋体"/>
                <a:cs typeface="宋体"/>
              </a:rPr>
              <a:t>段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1.</a:t>
            </a:r>
            <a:r>
              <a:rPr dirty="0" sz="3000" spc="-90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需求分析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2.</a:t>
            </a:r>
            <a:r>
              <a:rPr dirty="0" sz="3000" spc="-90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概念设计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3.</a:t>
            </a:r>
            <a:r>
              <a:rPr dirty="0" sz="3000" spc="-10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逻辑设计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4.</a:t>
            </a:r>
            <a:r>
              <a:rPr dirty="0" sz="3000" spc="-90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物理设计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5.</a:t>
            </a:r>
            <a:r>
              <a:rPr dirty="0" sz="3000" spc="-10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数据库实施和运行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6.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数据库的使用和维护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588884" cy="389255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数据库设计的基本步骤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需求分析阶段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ct val="98500"/>
              </a:lnSpc>
              <a:spcBef>
                <a:spcPts val="8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主要是获得用户对所要建立数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据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库的信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息要求和处理要求的全面描述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通过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调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查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研究，了解用户业务流程，与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用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户取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得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对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需求的一致认识。</a:t>
            </a:r>
            <a:endParaRPr sz="2800">
              <a:latin typeface="宋体"/>
              <a:cs typeface="宋体"/>
            </a:endParaRPr>
          </a:p>
          <a:p>
            <a:pPr marL="1155700" marR="273050" indent="-228600">
              <a:lnSpc>
                <a:spcPts val="3210"/>
              </a:lnSpc>
              <a:spcBef>
                <a:spcPts val="106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是整个设计过程的基础，是最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困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难、最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耗费时间的一步。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0489" rIns="0" bIns="0" rtlCol="0" vert="horz">
            <a:spAutoFit/>
          </a:bodyPr>
          <a:lstStyle/>
          <a:p>
            <a:pPr marL="682625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682625" algn="l"/>
                <a:tab pos="683260" algn="l"/>
              </a:tabLst>
            </a:pPr>
            <a:r>
              <a:rPr dirty="0" spc="-5"/>
              <a:t>数据库设计的基本步骤</a:t>
            </a:r>
          </a:p>
          <a:p>
            <a:pPr lvl="1" marL="1100455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110109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概念设计阶段</a:t>
            </a:r>
            <a:endParaRPr sz="3000">
              <a:latin typeface="黑体"/>
              <a:cs typeface="黑体"/>
            </a:endParaRPr>
          </a:p>
          <a:p>
            <a:pPr marL="1482725" marR="357505" indent="-228600">
              <a:lnSpc>
                <a:spcPct val="98900"/>
              </a:lnSpc>
              <a:spcBef>
                <a:spcPts val="875"/>
              </a:spcBef>
            </a:pPr>
            <a:r>
              <a:rPr dirty="0" sz="2800" spc="-5" b="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>
                <a:solidFill>
                  <a:srgbClr val="000066"/>
                </a:solidFill>
              </a:rPr>
              <a:t>要对收集的信息、数据进行分</a:t>
            </a:r>
            <a:r>
              <a:rPr dirty="0" sz="2800" spc="5">
                <a:solidFill>
                  <a:srgbClr val="000066"/>
                </a:solidFill>
              </a:rPr>
              <a:t>析</a:t>
            </a:r>
            <a:r>
              <a:rPr dirty="0" sz="2800" spc="-5">
                <a:solidFill>
                  <a:srgbClr val="000066"/>
                </a:solidFill>
              </a:rPr>
              <a:t>抽象，  </a:t>
            </a:r>
            <a:r>
              <a:rPr dirty="0" sz="2800" spc="-10">
                <a:solidFill>
                  <a:srgbClr val="000066"/>
                </a:solidFill>
              </a:rPr>
              <a:t>确定实体、属性及它们之间的</a:t>
            </a:r>
            <a:r>
              <a:rPr dirty="0" sz="2800">
                <a:solidFill>
                  <a:srgbClr val="000066"/>
                </a:solidFill>
              </a:rPr>
              <a:t>联</a:t>
            </a:r>
            <a:r>
              <a:rPr dirty="0" sz="2800" spc="-10">
                <a:solidFill>
                  <a:srgbClr val="000066"/>
                </a:solidFill>
              </a:rPr>
              <a:t>系，</a:t>
            </a:r>
            <a:r>
              <a:rPr dirty="0" sz="2800">
                <a:solidFill>
                  <a:srgbClr val="000066"/>
                </a:solidFill>
              </a:rPr>
              <a:t>将</a:t>
            </a:r>
            <a:r>
              <a:rPr dirty="0" sz="2800" spc="-15">
                <a:solidFill>
                  <a:srgbClr val="000066"/>
                </a:solidFill>
              </a:rPr>
              <a:t>各 </a:t>
            </a:r>
            <a:r>
              <a:rPr dirty="0" sz="2800" spc="-5">
                <a:solidFill>
                  <a:srgbClr val="000066"/>
                </a:solidFill>
              </a:rPr>
              <a:t>个用户的局部视图合并成一个</a:t>
            </a:r>
            <a:r>
              <a:rPr dirty="0" sz="2800" spc="5">
                <a:solidFill>
                  <a:srgbClr val="000066"/>
                </a:solidFill>
              </a:rPr>
              <a:t>总</a:t>
            </a:r>
            <a:r>
              <a:rPr dirty="0" sz="2800" spc="-5">
                <a:solidFill>
                  <a:srgbClr val="000066"/>
                </a:solidFill>
              </a:rPr>
              <a:t>的全</a:t>
            </a:r>
            <a:r>
              <a:rPr dirty="0" sz="2800" spc="5">
                <a:solidFill>
                  <a:srgbClr val="000066"/>
                </a:solidFill>
              </a:rPr>
              <a:t>局</a:t>
            </a:r>
            <a:r>
              <a:rPr dirty="0" sz="2800" spc="-15">
                <a:solidFill>
                  <a:srgbClr val="000066"/>
                </a:solidFill>
              </a:rPr>
              <a:t>视 </a:t>
            </a:r>
            <a:r>
              <a:rPr dirty="0" sz="2800" spc="-5">
                <a:solidFill>
                  <a:srgbClr val="000066"/>
                </a:solidFill>
              </a:rPr>
              <a:t>图，形成独立于计算机的反映</a:t>
            </a:r>
            <a:r>
              <a:rPr dirty="0" sz="2800" spc="5">
                <a:solidFill>
                  <a:srgbClr val="000066"/>
                </a:solidFill>
              </a:rPr>
              <a:t>用</a:t>
            </a:r>
            <a:r>
              <a:rPr dirty="0" sz="2800" spc="-5">
                <a:solidFill>
                  <a:srgbClr val="000066"/>
                </a:solidFill>
              </a:rPr>
              <a:t>户观</a:t>
            </a:r>
            <a:r>
              <a:rPr dirty="0" sz="2800" spc="5">
                <a:solidFill>
                  <a:srgbClr val="000066"/>
                </a:solidFill>
              </a:rPr>
              <a:t>点</a:t>
            </a:r>
            <a:r>
              <a:rPr dirty="0" sz="2800" spc="-15">
                <a:solidFill>
                  <a:srgbClr val="000066"/>
                </a:solidFill>
              </a:rPr>
              <a:t>的 </a:t>
            </a:r>
            <a:r>
              <a:rPr dirty="0" sz="2800" spc="-10">
                <a:solidFill>
                  <a:srgbClr val="000066"/>
                </a:solidFill>
              </a:rPr>
              <a:t>概念模式。概念模式与具</a:t>
            </a:r>
            <a:r>
              <a:rPr dirty="0" sz="2800" spc="-5">
                <a:solidFill>
                  <a:srgbClr val="000066"/>
                </a:solidFill>
              </a:rPr>
              <a:t>体</a:t>
            </a:r>
            <a:r>
              <a:rPr dirty="0" sz="2800" spc="-5">
                <a:solidFill>
                  <a:srgbClr val="000066"/>
                </a:solidFill>
                <a:latin typeface="Times New Roman"/>
                <a:cs typeface="Times New Roman"/>
              </a:rPr>
              <a:t>DBMS</a:t>
            </a:r>
            <a:r>
              <a:rPr dirty="0" sz="2800" spc="-10">
                <a:solidFill>
                  <a:srgbClr val="000066"/>
                </a:solidFill>
              </a:rPr>
              <a:t>无</a:t>
            </a:r>
            <a:r>
              <a:rPr dirty="0" sz="2800">
                <a:solidFill>
                  <a:srgbClr val="000066"/>
                </a:solidFill>
              </a:rPr>
              <a:t>关</a:t>
            </a:r>
            <a:r>
              <a:rPr dirty="0" sz="2800" spc="-15">
                <a:solidFill>
                  <a:srgbClr val="000066"/>
                </a:solidFill>
              </a:rPr>
              <a:t>，</a:t>
            </a:r>
            <a:endParaRPr sz="2800">
              <a:latin typeface="Times New Roman"/>
              <a:cs typeface="Times New Roman"/>
            </a:endParaRPr>
          </a:p>
          <a:p>
            <a:pPr marL="1482725" marR="5080">
              <a:lnSpc>
                <a:spcPts val="3200"/>
              </a:lnSpc>
              <a:spcBef>
                <a:spcPts val="400"/>
              </a:spcBef>
            </a:pPr>
            <a:r>
              <a:rPr dirty="0" sz="2800" spc="-10">
                <a:solidFill>
                  <a:srgbClr val="000066"/>
                </a:solidFill>
              </a:rPr>
              <a:t>接近现</a:t>
            </a:r>
            <a:r>
              <a:rPr dirty="0" sz="2800" spc="5">
                <a:solidFill>
                  <a:srgbClr val="000066"/>
                </a:solidFill>
              </a:rPr>
              <a:t>实</a:t>
            </a:r>
            <a:r>
              <a:rPr dirty="0" sz="2800" spc="-10">
                <a:solidFill>
                  <a:srgbClr val="000066"/>
                </a:solidFill>
              </a:rPr>
              <a:t>世界，</a:t>
            </a:r>
            <a:r>
              <a:rPr dirty="0" sz="2800" spc="5">
                <a:solidFill>
                  <a:srgbClr val="000066"/>
                </a:solidFill>
              </a:rPr>
              <a:t>结</a:t>
            </a:r>
            <a:r>
              <a:rPr dirty="0" sz="2800" spc="-10">
                <a:solidFill>
                  <a:srgbClr val="000066"/>
                </a:solidFill>
              </a:rPr>
              <a:t>构稳定</a:t>
            </a:r>
            <a:r>
              <a:rPr dirty="0" sz="2800" spc="5">
                <a:solidFill>
                  <a:srgbClr val="000066"/>
                </a:solidFill>
              </a:rPr>
              <a:t>，</a:t>
            </a:r>
            <a:r>
              <a:rPr dirty="0" sz="2800" spc="-10">
                <a:solidFill>
                  <a:srgbClr val="000066"/>
                </a:solidFill>
              </a:rPr>
              <a:t>用户容</a:t>
            </a:r>
            <a:r>
              <a:rPr dirty="0" sz="2800" spc="5">
                <a:solidFill>
                  <a:srgbClr val="000066"/>
                </a:solidFill>
              </a:rPr>
              <a:t>易</a:t>
            </a:r>
            <a:r>
              <a:rPr dirty="0" sz="2800" spc="-10">
                <a:solidFill>
                  <a:srgbClr val="000066"/>
                </a:solidFill>
              </a:rPr>
              <a:t>理解</a:t>
            </a:r>
            <a:r>
              <a:rPr dirty="0" sz="2800" spc="-15">
                <a:solidFill>
                  <a:srgbClr val="000066"/>
                </a:solidFill>
              </a:rPr>
              <a:t>， </a:t>
            </a:r>
            <a:r>
              <a:rPr dirty="0" sz="2800" spc="-5">
                <a:solidFill>
                  <a:srgbClr val="000066"/>
                </a:solidFill>
              </a:rPr>
              <a:t>能较准确地反映用户的信息需</a:t>
            </a:r>
            <a:r>
              <a:rPr dirty="0" sz="2800" spc="5">
                <a:solidFill>
                  <a:srgbClr val="000066"/>
                </a:solidFill>
              </a:rPr>
              <a:t>求</a:t>
            </a:r>
            <a:r>
              <a:rPr dirty="0" sz="2800" spc="-15">
                <a:solidFill>
                  <a:srgbClr val="000066"/>
                </a:solidFill>
              </a:rPr>
              <a:t>。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777"/>
            <a:ext cx="7588884" cy="469392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数据库设计的基本步骤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逻辑设计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ct val="9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要在概念模式的基础上导出具</a:t>
            </a:r>
            <a:r>
              <a:rPr dirty="0" sz="2800" spc="15" b="1">
                <a:solidFill>
                  <a:srgbClr val="000066"/>
                </a:solidFill>
                <a:latin typeface="宋体"/>
                <a:cs typeface="宋体"/>
              </a:rPr>
              <a:t>体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DBMS 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可处理的数据库的逻辑结构，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即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确定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数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据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库模式和子模式。包括确定数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据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项，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记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录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及记录间的联系，安全性，完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整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性，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一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致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性约束等。</a:t>
            </a:r>
            <a:endParaRPr sz="2800">
              <a:latin typeface="宋体"/>
              <a:cs typeface="宋体"/>
            </a:endParaRPr>
          </a:p>
          <a:p>
            <a:pPr marL="1155700" marR="5080" indent="-228600">
              <a:lnSpc>
                <a:spcPct val="88500"/>
              </a:lnSpc>
              <a:spcBef>
                <a:spcPts val="8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要检查导出的逻辑结构是否与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概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念模式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一致，从功能和性能上是否能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满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足用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户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要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求，要进行模式评价。如果达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不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到用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户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要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求，还要反复、修工或重新进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行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设计。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777"/>
            <a:ext cx="7588884" cy="469392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数据库设计的基本步骤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数据库物理设计阶段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ct val="88500"/>
              </a:lnSpc>
              <a:spcBef>
                <a:spcPts val="8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任务是确定数据在介质上的物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理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存储结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构，即数据在介质上如何存放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包括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存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取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方法及存取路径的选择。物理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设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计的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结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果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将导出数据库的存储模式。</a:t>
            </a:r>
            <a:endParaRPr sz="2800">
              <a:latin typeface="宋体"/>
              <a:cs typeface="宋体"/>
            </a:endParaRPr>
          </a:p>
          <a:p>
            <a:pPr marL="1155700" marR="5080" indent="-228600">
              <a:lnSpc>
                <a:spcPct val="88900"/>
              </a:lnSpc>
              <a:spcBef>
                <a:spcPts val="86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逻辑设计和物理设计的好坏对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数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据库的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性能影响很大，在物理设计完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后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，要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进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行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性能分析，测试。如果需要，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要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重新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设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计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逻辑结构和物理结构。在逻辑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结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构和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物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理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结构确定后，就可以建立数据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库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了。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0489" rIns="0" bIns="0" rtlCol="0" vert="horz">
            <a:spAutoFit/>
          </a:bodyPr>
          <a:lstStyle/>
          <a:p>
            <a:pPr marL="682625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682625" algn="l"/>
                <a:tab pos="683260" algn="l"/>
              </a:tabLst>
            </a:pPr>
            <a:r>
              <a:rPr dirty="0" spc="-5"/>
              <a:t>数据库设计的基本步骤</a:t>
            </a:r>
          </a:p>
          <a:p>
            <a:pPr lvl="1" marL="1100455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110109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数据库实施阶段</a:t>
            </a:r>
            <a:endParaRPr sz="3000">
              <a:latin typeface="黑体"/>
              <a:cs typeface="黑体"/>
            </a:endParaRPr>
          </a:p>
          <a:p>
            <a:pPr marL="1482725" marR="357505" indent="-228600">
              <a:lnSpc>
                <a:spcPct val="100000"/>
              </a:lnSpc>
              <a:spcBef>
                <a:spcPts val="835"/>
              </a:spcBef>
            </a:pPr>
            <a:r>
              <a:rPr dirty="0" sz="2800" spc="-5" b="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>
                <a:solidFill>
                  <a:srgbClr val="000066"/>
                </a:solidFill>
              </a:rPr>
              <a:t>包括建立实际数据库结构，装</a:t>
            </a:r>
            <a:r>
              <a:rPr dirty="0" sz="2800" spc="5">
                <a:solidFill>
                  <a:srgbClr val="000066"/>
                </a:solidFill>
              </a:rPr>
              <a:t>入</a:t>
            </a:r>
            <a:r>
              <a:rPr dirty="0" sz="2800" spc="-5">
                <a:solidFill>
                  <a:srgbClr val="000066"/>
                </a:solidFill>
              </a:rPr>
              <a:t>数据，  </a:t>
            </a:r>
            <a:r>
              <a:rPr dirty="0" sz="2800" spc="-10">
                <a:solidFill>
                  <a:srgbClr val="000066"/>
                </a:solidFill>
              </a:rPr>
              <a:t>完成编码，进行测试。然后就</a:t>
            </a:r>
            <a:r>
              <a:rPr dirty="0" sz="2800">
                <a:solidFill>
                  <a:srgbClr val="000066"/>
                </a:solidFill>
              </a:rPr>
              <a:t>可</a:t>
            </a:r>
            <a:r>
              <a:rPr dirty="0" sz="2800" spc="-10">
                <a:solidFill>
                  <a:srgbClr val="000066"/>
                </a:solidFill>
              </a:rPr>
              <a:t>以投</a:t>
            </a:r>
            <a:r>
              <a:rPr dirty="0" sz="2800">
                <a:solidFill>
                  <a:srgbClr val="000066"/>
                </a:solidFill>
              </a:rPr>
              <a:t>入</a:t>
            </a:r>
            <a:r>
              <a:rPr dirty="0" sz="2800" spc="-15">
                <a:solidFill>
                  <a:srgbClr val="000066"/>
                </a:solidFill>
              </a:rPr>
              <a:t>运 </a:t>
            </a:r>
            <a:r>
              <a:rPr dirty="0" sz="2800" spc="-5">
                <a:solidFill>
                  <a:srgbClr val="000066"/>
                </a:solidFill>
              </a:rPr>
              <a:t>行。在这之间进行的结构特性</a:t>
            </a:r>
            <a:r>
              <a:rPr dirty="0" sz="2800" spc="5">
                <a:solidFill>
                  <a:srgbClr val="000066"/>
                </a:solidFill>
              </a:rPr>
              <a:t>设</a:t>
            </a:r>
            <a:r>
              <a:rPr dirty="0" sz="2800" spc="-5">
                <a:solidFill>
                  <a:srgbClr val="000066"/>
                </a:solidFill>
              </a:rPr>
              <a:t>计可</a:t>
            </a:r>
            <a:r>
              <a:rPr dirty="0" sz="2800" spc="5">
                <a:solidFill>
                  <a:srgbClr val="000066"/>
                </a:solidFill>
              </a:rPr>
              <a:t>以</a:t>
            </a:r>
            <a:r>
              <a:rPr dirty="0" sz="2800" spc="-15">
                <a:solidFill>
                  <a:srgbClr val="000066"/>
                </a:solidFill>
              </a:rPr>
              <a:t>和</a:t>
            </a:r>
            <a:endParaRPr sz="2800">
              <a:latin typeface="Wingdings"/>
              <a:cs typeface="Wingdings"/>
            </a:endParaRPr>
          </a:p>
          <a:p>
            <a:pPr marL="1482725" marR="5080">
              <a:lnSpc>
                <a:spcPts val="3200"/>
              </a:lnSpc>
              <a:spcBef>
                <a:spcPts val="245"/>
              </a:spcBef>
            </a:pPr>
            <a:r>
              <a:rPr dirty="0" sz="2800" spc="-10">
                <a:solidFill>
                  <a:srgbClr val="000066"/>
                </a:solidFill>
              </a:rPr>
              <a:t>行为特</a:t>
            </a:r>
            <a:r>
              <a:rPr dirty="0" sz="2800" spc="5">
                <a:solidFill>
                  <a:srgbClr val="000066"/>
                </a:solidFill>
              </a:rPr>
              <a:t>性</a:t>
            </a:r>
            <a:r>
              <a:rPr dirty="0" sz="2800" spc="-10">
                <a:solidFill>
                  <a:srgbClr val="000066"/>
                </a:solidFill>
              </a:rPr>
              <a:t>即应用</a:t>
            </a:r>
            <a:r>
              <a:rPr dirty="0" sz="2800" spc="5">
                <a:solidFill>
                  <a:srgbClr val="000066"/>
                </a:solidFill>
              </a:rPr>
              <a:t>程</a:t>
            </a:r>
            <a:r>
              <a:rPr dirty="0" sz="2800" spc="-10">
                <a:solidFill>
                  <a:srgbClr val="000066"/>
                </a:solidFill>
              </a:rPr>
              <a:t>序的设</a:t>
            </a:r>
            <a:r>
              <a:rPr dirty="0" sz="2800" spc="5">
                <a:solidFill>
                  <a:srgbClr val="000066"/>
                </a:solidFill>
              </a:rPr>
              <a:t>计</a:t>
            </a:r>
            <a:r>
              <a:rPr dirty="0" sz="2800" spc="-10">
                <a:solidFill>
                  <a:srgbClr val="000066"/>
                </a:solidFill>
              </a:rPr>
              <a:t>结合起</a:t>
            </a:r>
            <a:r>
              <a:rPr dirty="0" sz="2800" spc="5">
                <a:solidFill>
                  <a:srgbClr val="000066"/>
                </a:solidFill>
              </a:rPr>
              <a:t>来</a:t>
            </a:r>
            <a:r>
              <a:rPr dirty="0" sz="2800" spc="-10">
                <a:solidFill>
                  <a:srgbClr val="000066"/>
                </a:solidFill>
              </a:rPr>
              <a:t>进行</a:t>
            </a:r>
            <a:r>
              <a:rPr dirty="0" sz="2800" spc="-15">
                <a:solidFill>
                  <a:srgbClr val="000066"/>
                </a:solidFill>
              </a:rPr>
              <a:t>， </a:t>
            </a:r>
            <a:r>
              <a:rPr dirty="0" sz="2800" spc="-10">
                <a:solidFill>
                  <a:srgbClr val="000066"/>
                </a:solidFill>
              </a:rPr>
              <a:t>以相互参照，补充完善各阶段</a:t>
            </a:r>
            <a:r>
              <a:rPr dirty="0" sz="2800">
                <a:solidFill>
                  <a:srgbClr val="000066"/>
                </a:solidFill>
              </a:rPr>
              <a:t>的</a:t>
            </a:r>
            <a:r>
              <a:rPr dirty="0" sz="2800" spc="-10">
                <a:solidFill>
                  <a:srgbClr val="000066"/>
                </a:solidFill>
              </a:rPr>
              <a:t>设计。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588884" cy="252666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数据库设计的基本步骤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数据库运行和维护阶段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ct val="97700"/>
              </a:lnSpc>
              <a:spcBef>
                <a:spcPts val="91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数据库应用系统经过试运行以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后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可投入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正式运行。在数据库系统运行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过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程中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必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须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不断的对其进行评价、调整和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修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改。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§1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数据库设计的基本步骤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289165" cy="392684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数据库生存期</a:t>
            </a:r>
            <a:endParaRPr sz="3200">
              <a:latin typeface="宋体"/>
              <a:cs typeface="宋体"/>
            </a:endParaRPr>
          </a:p>
          <a:p>
            <a:pPr algn="just" lvl="1" marL="756285" marR="5080" indent="-287020">
              <a:lnSpc>
                <a:spcPct val="99200"/>
              </a:lnSpc>
              <a:spcBef>
                <a:spcPts val="9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按照软件工程的设计思想，软件生存期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指软件从开始分析、设计直到停止使用 的整个时间。使用和维护阶段是整个生 存期的最长时间段。数据库使用和维护 阶段需要不断完善系统性能和改进系统 功能，进行数据库的再组织和重构造，  以延长数据库使用时间。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6966" y="394461"/>
            <a:ext cx="28295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2</a:t>
            </a:r>
            <a:r>
              <a:rPr dirty="0"/>
              <a:t>	</a:t>
            </a:r>
            <a:r>
              <a:rPr dirty="0" spc="-10"/>
              <a:t>需求分析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96327"/>
            <a:ext cx="3006725" cy="222123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16230" indent="-304165">
              <a:lnSpc>
                <a:spcPct val="100000"/>
              </a:lnSpc>
              <a:spcBef>
                <a:spcPts val="8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2" action="ppaction://hlinksldjump"/>
              </a:rPr>
              <a:t>需求分析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3" action="ppaction://hlinksldjump"/>
              </a:rPr>
              <a:t>需求分析的任务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4" action="ppaction://hlinksldjump"/>
              </a:rPr>
              <a:t>需求分析的方法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5" action="ppaction://hlinksldjump"/>
              </a:rPr>
              <a:t>数据字典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6966" y="394461"/>
            <a:ext cx="28295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2</a:t>
            </a:r>
            <a:r>
              <a:rPr dirty="0"/>
              <a:t>	</a:t>
            </a:r>
            <a:r>
              <a:rPr dirty="0" spc="-10"/>
              <a:t>需求分析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654925" cy="308038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需求分析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简单的说就是分析用户的要求。</a:t>
            </a:r>
            <a:endParaRPr sz="3000">
              <a:latin typeface="黑体"/>
              <a:cs typeface="黑体"/>
            </a:endParaRPr>
          </a:p>
          <a:p>
            <a:pPr lvl="1" marL="756285" marR="5080" indent="-287020">
              <a:lnSpc>
                <a:spcPct val="98500"/>
              </a:lnSpc>
              <a:spcBef>
                <a:spcPts val="9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需求分析是设计数据库的起点，需求分 析的结果是否准确的反映了用户的实际 要求，将直接影响到后面各个阶段的设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计，并影响到设计结果是否合理和实用。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2</a:t>
            </a:r>
            <a:r>
              <a:rPr dirty="0" spc="-20"/>
              <a:t>.1</a:t>
            </a:r>
            <a:r>
              <a:rPr dirty="0"/>
              <a:t>	</a:t>
            </a:r>
            <a:r>
              <a:rPr dirty="0" spc="-10"/>
              <a:t>需求分析的任务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528559" cy="464312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需求分析的任务</a:t>
            </a:r>
            <a:endParaRPr sz="3200">
              <a:latin typeface="宋体"/>
              <a:cs typeface="宋体"/>
            </a:endParaRPr>
          </a:p>
          <a:p>
            <a:pPr lvl="1" marL="756285" marR="243840" indent="-287020">
              <a:lnSpc>
                <a:spcPts val="3429"/>
              </a:lnSpc>
              <a:spcBef>
                <a:spcPts val="11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需求分析要获得数据库设计所必需的数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据信息。这些信息包括用户</a:t>
            </a:r>
            <a:r>
              <a:rPr dirty="0" sz="3000" spc="5" b="1">
                <a:solidFill>
                  <a:srgbClr val="005F00"/>
                </a:solidFill>
                <a:latin typeface="黑体"/>
                <a:cs typeface="黑体"/>
              </a:rPr>
              <a:t>的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9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信息要求</a:t>
            </a:r>
            <a:endParaRPr sz="2800">
              <a:latin typeface="宋体"/>
              <a:cs typeface="宋体"/>
            </a:endParaRPr>
          </a:p>
          <a:p>
            <a:pPr marL="1612900" marR="5080" indent="-228600">
              <a:lnSpc>
                <a:spcPts val="2760"/>
              </a:lnSpc>
              <a:spcBef>
                <a:spcPts val="90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信息需求指设计范围内涉及的所有信息的内 </a:t>
            </a:r>
            <a:r>
              <a:rPr dirty="0" sz="2400" b="1">
                <a:latin typeface="宋体"/>
                <a:cs typeface="宋体"/>
              </a:rPr>
              <a:t>容、特征、需要存储的数据。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处理要求</a:t>
            </a:r>
            <a:endParaRPr sz="2800">
              <a:latin typeface="宋体"/>
              <a:cs typeface="宋体"/>
            </a:endParaRPr>
          </a:p>
          <a:p>
            <a:pPr algn="just" marL="1612900" marR="5080" indent="-228600">
              <a:lnSpc>
                <a:spcPct val="97900"/>
              </a:lnSpc>
              <a:spcBef>
                <a:spcPts val="77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处理需要是用户对信息加工处理的要求，包 </a:t>
            </a:r>
            <a:r>
              <a:rPr dirty="0" sz="2400" b="1">
                <a:latin typeface="宋体"/>
                <a:cs typeface="宋体"/>
              </a:rPr>
              <a:t>括发生的频度，响应时间，批处理还是联机 处理。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2</a:t>
            </a:r>
            <a:r>
              <a:rPr dirty="0" spc="-20"/>
              <a:t>.1</a:t>
            </a:r>
            <a:r>
              <a:rPr dirty="0"/>
              <a:t>	</a:t>
            </a:r>
            <a:r>
              <a:rPr dirty="0" spc="-10"/>
              <a:t>需求分析的任务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990"/>
            <a:ext cx="7588884" cy="478091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6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需求分析的任务</a:t>
            </a:r>
            <a:endParaRPr sz="3200">
              <a:latin typeface="宋体"/>
              <a:cs typeface="宋体"/>
            </a:endParaRPr>
          </a:p>
          <a:p>
            <a:pPr lvl="1" marL="756285" marR="304165" indent="-287020">
              <a:lnSpc>
                <a:spcPts val="3070"/>
              </a:lnSpc>
              <a:spcBef>
                <a:spcPts val="107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需求分析要获得数据库设计所必需的数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据信息。这些信息包括用户</a:t>
            </a:r>
            <a:r>
              <a:rPr dirty="0" sz="3000" spc="5" b="1">
                <a:solidFill>
                  <a:srgbClr val="005F00"/>
                </a:solidFill>
                <a:latin typeface="黑体"/>
                <a:cs typeface="黑体"/>
              </a:rPr>
              <a:t>的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3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完整性、安全性要求</a:t>
            </a:r>
            <a:endParaRPr sz="2800">
              <a:latin typeface="宋体"/>
              <a:cs typeface="宋体"/>
            </a:endParaRPr>
          </a:p>
          <a:p>
            <a:pPr marL="1384300">
              <a:lnSpc>
                <a:spcPct val="100000"/>
              </a:lnSpc>
              <a:spcBef>
                <a:spcPts val="309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对数据约束的要求，安全保密要求等。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宋体"/>
              <a:cs typeface="宋体"/>
            </a:endParaRPr>
          </a:p>
          <a:p>
            <a:pPr marL="1155700" marR="5080" indent="-228600">
              <a:lnSpc>
                <a:spcPct val="88900"/>
              </a:lnSpc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确定用户的需求是很难的，用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户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不清楚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计算能做什么，不能做什么，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不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清楚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计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算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机的运行机制，甚至不完全明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白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自己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需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求；而设计人员不了解用户领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域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的知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识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，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可能会误解用户的需求。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2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需求分析的方法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479665" cy="417830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调查用户需求的具体步骤：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1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）调查组织机构情况。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2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）调查各部门的业务活动情况。</a:t>
            </a:r>
            <a:endParaRPr sz="3000">
              <a:latin typeface="黑体"/>
              <a:cs typeface="黑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3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）在熟悉了业务活动的基础上，协助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用户明确对新系统的各种要求，包括信 息要求、处理要求、完全性和完整性要 求，这是调查的又一重点。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4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）确定新系统的边界。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2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需求分析的方法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188466"/>
            <a:ext cx="7320915" cy="418719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155700" marR="5080" indent="-228600">
              <a:lnSpc>
                <a:spcPts val="3200"/>
              </a:lnSpc>
              <a:spcBef>
                <a:spcPts val="33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在调查过程中，可以根据不同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问题和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条件，使用不同的调查方法。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9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常用的调查方法有：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1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）跟班作业开调查会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2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）请专人介绍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3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）询问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4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）设计调查表请用户填写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5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）查阅记录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2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需求分析的方法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6938009" cy="347980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99085" marR="111125" indent="-287020">
              <a:lnSpc>
                <a:spcPts val="3440"/>
              </a:lnSpc>
              <a:spcBef>
                <a:spcPts val="35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了解用户需求以后，还需要进一步分析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和表达用户的需求。</a:t>
            </a:r>
            <a:endParaRPr sz="3000">
              <a:latin typeface="黑体"/>
              <a:cs typeface="黑体"/>
            </a:endParaRPr>
          </a:p>
          <a:p>
            <a:pPr marL="299085" marR="5080" indent="-287020">
              <a:lnSpc>
                <a:spcPct val="100000"/>
              </a:lnSpc>
              <a:spcBef>
                <a:spcPts val="62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常用的分析方法有结构化分析</a:t>
            </a:r>
            <a:r>
              <a:rPr dirty="0" sz="3000" spc="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A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）方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法，采用自顶向下、逐层分解的方式。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应借助数据字典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DD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）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和数据流图</a:t>
            </a:r>
            <a:endParaRPr sz="3000">
              <a:latin typeface="黑体"/>
              <a:cs typeface="黑体"/>
            </a:endParaRPr>
          </a:p>
          <a:p>
            <a:pPr marL="299085">
              <a:lnSpc>
                <a:spcPct val="100000"/>
              </a:lnSpc>
            </a:pP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DFD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）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来进行描述。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需求分析过程是一个反复的过程。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942" y="394461"/>
            <a:ext cx="3215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§2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数据字典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197725" cy="283972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99085" marR="5080" indent="-287020">
              <a:lnSpc>
                <a:spcPct val="98500"/>
              </a:lnSpc>
              <a:spcBef>
                <a:spcPts val="15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数据流图表达了数据和处理的关系，数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据字典则是系统中各类数据描述的集合，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是进行详细的数据收集和数据分析所获 得的主要成果。</a:t>
            </a:r>
            <a:endParaRPr sz="3000">
              <a:latin typeface="黑体"/>
              <a:cs typeface="黑体"/>
            </a:endParaRPr>
          </a:p>
          <a:p>
            <a:pPr marL="299085" marR="370840" indent="-287020">
              <a:lnSpc>
                <a:spcPts val="3429"/>
              </a:lnSpc>
              <a:spcBef>
                <a:spcPts val="114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数据字典在数据库设计中占有很重要的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地位。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942" y="394461"/>
            <a:ext cx="3215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§2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数据字典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83148"/>
            <a:ext cx="7338059" cy="534733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3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2800" spc="-5" b="1">
                <a:solidFill>
                  <a:srgbClr val="0000FF"/>
                </a:solidFill>
                <a:latin typeface="宋体"/>
                <a:cs typeface="宋体"/>
              </a:rPr>
              <a:t>数据字典通常包括：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320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Times New Roman"/>
                <a:cs typeface="Times New Roman"/>
              </a:rPr>
              <a:t>1.</a:t>
            </a:r>
            <a:r>
              <a:rPr dirty="0" sz="2600" spc="-10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2600" spc="15" b="1">
                <a:solidFill>
                  <a:srgbClr val="005F00"/>
                </a:solidFill>
                <a:latin typeface="黑体"/>
                <a:cs typeface="黑体"/>
              </a:rPr>
              <a:t>数据项</a:t>
            </a:r>
            <a:endParaRPr sz="26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数据项是不可再分割的数据单位。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305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Times New Roman"/>
                <a:cs typeface="Times New Roman"/>
              </a:rPr>
              <a:t>2.</a:t>
            </a:r>
            <a:r>
              <a:rPr dirty="0" sz="2600" spc="-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数据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结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构</a:t>
            </a:r>
            <a:endParaRPr sz="26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295"/>
              </a:spcBef>
            </a:pPr>
            <a:r>
              <a:rPr dirty="0" sz="2400" spc="-1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spc="-5" b="1">
                <a:solidFill>
                  <a:srgbClr val="000066"/>
                </a:solidFill>
                <a:latin typeface="宋体"/>
                <a:cs typeface="宋体"/>
              </a:rPr>
              <a:t>数据结构反映了数据之间的组合关系。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305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Times New Roman"/>
                <a:cs typeface="Times New Roman"/>
              </a:rPr>
              <a:t>3.</a:t>
            </a:r>
            <a:r>
              <a:rPr dirty="0" sz="2600" spc="-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数据流</a:t>
            </a:r>
            <a:endParaRPr sz="26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300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数据流是数据结构在系统内传输的路径。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Times New Roman"/>
                <a:cs typeface="Times New Roman"/>
              </a:rPr>
              <a:t>4.</a:t>
            </a:r>
            <a:r>
              <a:rPr dirty="0" sz="2600" spc="-10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数据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储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存</a:t>
            </a:r>
            <a:endParaRPr sz="2600">
              <a:latin typeface="黑体"/>
              <a:cs typeface="黑体"/>
            </a:endParaRPr>
          </a:p>
          <a:p>
            <a:pPr marL="1155700" marR="5080" indent="-228600">
              <a:lnSpc>
                <a:spcPts val="2470"/>
              </a:lnSpc>
              <a:spcBef>
                <a:spcPts val="844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数据存储是数据结构停留或保存的地方，也是 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数据流的来源和去向之一。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290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Times New Roman"/>
                <a:cs typeface="Times New Roman"/>
              </a:rPr>
              <a:t>5.</a:t>
            </a:r>
            <a:r>
              <a:rPr dirty="0" sz="2600" spc="-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处理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过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程</a:t>
            </a:r>
            <a:endParaRPr sz="2600">
              <a:latin typeface="黑体"/>
              <a:cs typeface="黑体"/>
            </a:endParaRPr>
          </a:p>
          <a:p>
            <a:pPr marL="1155700" marR="5080" indent="-228600">
              <a:lnSpc>
                <a:spcPts val="2470"/>
              </a:lnSpc>
              <a:spcBef>
                <a:spcPts val="844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处理过程的具体处理逻辑一般用判定表或判定 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树来描述。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942" y="394461"/>
            <a:ext cx="3215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§2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数据字典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289165" cy="498284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元数据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关于数据库中数据的描述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元数据不是用户应用中的数据</a:t>
            </a:r>
            <a:endParaRPr sz="3000">
              <a:latin typeface="黑体"/>
              <a:cs typeface="黑体"/>
            </a:endParaRPr>
          </a:p>
          <a:p>
            <a:pPr marL="355600" indent="-343535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需求分析中应该注意的问题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设计的可修改性、可扩充性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用户的参与</a:t>
            </a:r>
            <a:endParaRPr sz="3000">
              <a:latin typeface="黑体"/>
              <a:cs typeface="黑体"/>
            </a:endParaRPr>
          </a:p>
          <a:p>
            <a:pPr marL="355600" indent="-343535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需求分析的结果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ts val="3429"/>
              </a:lnSpc>
              <a:spcBef>
                <a:spcPts val="114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由设计人员（需求人员）和用户共同认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可的需求文档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950" y="394461"/>
            <a:ext cx="38481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3</a:t>
            </a:r>
            <a:r>
              <a:rPr dirty="0"/>
              <a:t>	</a:t>
            </a:r>
            <a:r>
              <a:rPr dirty="0" spc="-10"/>
              <a:t>概念结构设计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96327"/>
            <a:ext cx="4919345" cy="277050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16230" indent="-304165">
              <a:lnSpc>
                <a:spcPct val="100000"/>
              </a:lnSpc>
              <a:spcBef>
                <a:spcPts val="8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2" action="ppaction://hlinksldjump"/>
              </a:rPr>
              <a:t>概念结构设计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3" action="ppaction://hlinksldjump"/>
              </a:rPr>
              <a:t>概念结构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4" action="ppaction://hlinksldjump"/>
              </a:rPr>
              <a:t>概念结构设计的方法与步骤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5" action="ppaction://hlinksldjump"/>
              </a:rPr>
              <a:t>数据抽象与局部视图设计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6" action="ppaction://hlinksldjump"/>
              </a:rPr>
              <a:t>视图的集成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950" y="394461"/>
            <a:ext cx="38481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3</a:t>
            </a:r>
            <a:r>
              <a:rPr dirty="0"/>
              <a:t>	</a:t>
            </a:r>
            <a:r>
              <a:rPr dirty="0" spc="-10"/>
              <a:t>概念结构设计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672070" cy="3103245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概念结构设计</a:t>
            </a:r>
            <a:endParaRPr sz="3200">
              <a:latin typeface="宋体"/>
              <a:cs typeface="宋体"/>
            </a:endParaRPr>
          </a:p>
          <a:p>
            <a:pPr algn="just" lvl="1" marL="756285" marR="387350" indent="-287020">
              <a:lnSpc>
                <a:spcPct val="97700"/>
              </a:lnSpc>
              <a:spcBef>
                <a:spcPts val="969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将需求分析得到的用户需求抽象为信息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结构即概念模型的过程就是概念结构设 计。它是整个数据库设计的关键。</a:t>
            </a:r>
            <a:endParaRPr sz="3000">
              <a:latin typeface="黑体"/>
              <a:cs typeface="黑体"/>
            </a:endParaRPr>
          </a:p>
          <a:p>
            <a:pPr lvl="1" marL="756285" marR="5080" indent="-287020">
              <a:lnSpc>
                <a:spcPts val="3429"/>
              </a:lnSpc>
              <a:spcBef>
                <a:spcPts val="11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独立于数据模型（层次、网状、关系），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更与采用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的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DBMS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无关。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942" y="394461"/>
            <a:ext cx="3215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.1</a:t>
            </a:r>
            <a:r>
              <a:rPr dirty="0"/>
              <a:t>	</a:t>
            </a:r>
            <a:r>
              <a:rPr dirty="0" spc="-10"/>
              <a:t>概念结构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82499"/>
            <a:ext cx="7899400" cy="48196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2800" spc="-5" b="1">
                <a:solidFill>
                  <a:srgbClr val="0000FF"/>
                </a:solidFill>
                <a:latin typeface="宋体"/>
                <a:cs typeface="宋体"/>
              </a:rPr>
              <a:t>概念结构的主要特点是：</a:t>
            </a:r>
            <a:endParaRPr sz="2800">
              <a:latin typeface="宋体"/>
              <a:cs typeface="宋体"/>
            </a:endParaRPr>
          </a:p>
          <a:p>
            <a:pPr lvl="1" marL="756285" marR="332740" indent="-287020">
              <a:lnSpc>
                <a:spcPct val="100000"/>
              </a:lnSpc>
              <a:spcBef>
                <a:spcPts val="635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2600" spc="5" b="1">
                <a:solidFill>
                  <a:srgbClr val="005F00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）能真实、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充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分的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反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映现实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世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界，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包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括事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物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和事物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之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间的联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，能满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足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用户对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数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据的处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理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要求。</a:t>
            </a:r>
            <a:endParaRPr sz="2600">
              <a:latin typeface="黑体"/>
              <a:cs typeface="黑体"/>
            </a:endParaRPr>
          </a:p>
          <a:p>
            <a:pPr lvl="1" marL="756285" marR="332740" indent="-287020">
              <a:lnSpc>
                <a:spcPct val="100000"/>
              </a:lnSpc>
              <a:spcBef>
                <a:spcPts val="620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spc="1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2600" b="1">
                <a:solidFill>
                  <a:srgbClr val="005F00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）易于理解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，从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可以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它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和不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熟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悉计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算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机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的用户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交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换意见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用户的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积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极参与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是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数据库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的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设计成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功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的关键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。</a:t>
            </a:r>
            <a:endParaRPr sz="2600">
              <a:latin typeface="黑体"/>
              <a:cs typeface="黑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2600" spc="-10" b="1">
                <a:solidFill>
                  <a:srgbClr val="005F00"/>
                </a:solidFill>
                <a:latin typeface="Times New Roman"/>
                <a:cs typeface="Times New Roman"/>
              </a:rPr>
              <a:t>3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）易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于更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改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当应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用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环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境和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应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用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要求</a:t>
            </a:r>
            <a:r>
              <a:rPr dirty="0" sz="2600" spc="5" b="1">
                <a:solidFill>
                  <a:srgbClr val="005F00"/>
                </a:solidFill>
                <a:latin typeface="黑体"/>
                <a:cs typeface="黑体"/>
              </a:rPr>
              <a:t>改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变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时，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容易对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概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念模型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修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改和扩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充。</a:t>
            </a:r>
            <a:endParaRPr sz="2600">
              <a:latin typeface="黑体"/>
              <a:cs typeface="黑体"/>
            </a:endParaRPr>
          </a:p>
          <a:p>
            <a:pPr lvl="1" marL="756285" marR="332740" indent="-287020">
              <a:lnSpc>
                <a:spcPct val="100000"/>
              </a:lnSpc>
              <a:spcBef>
                <a:spcPts val="630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2600" spc="5" b="1">
                <a:solidFill>
                  <a:srgbClr val="005F00"/>
                </a:solidFill>
                <a:latin typeface="Times New Roman"/>
                <a:cs typeface="Times New Roman"/>
              </a:rPr>
              <a:t>4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）易于向关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系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、网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状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、层状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等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各种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数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据模</a:t>
            </a:r>
            <a:r>
              <a:rPr dirty="0" sz="2600" spc="-5" b="1">
                <a:solidFill>
                  <a:srgbClr val="005F00"/>
                </a:solidFill>
                <a:latin typeface="黑体"/>
                <a:cs typeface="黑体"/>
              </a:rPr>
              <a:t>型 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转换。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942" y="394461"/>
            <a:ext cx="3215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.1</a:t>
            </a:r>
            <a:r>
              <a:rPr dirty="0"/>
              <a:t>	</a:t>
            </a:r>
            <a:r>
              <a:rPr dirty="0" spc="-10"/>
              <a:t>概念结构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73514"/>
            <a:ext cx="3771900" cy="108966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315595" indent="-303530">
              <a:lnSpc>
                <a:spcPct val="100000"/>
              </a:lnSpc>
              <a:spcBef>
                <a:spcPts val="83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描述概念结构的工具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685"/>
              </a:spcBef>
            </a:pPr>
            <a:r>
              <a:rPr dirty="0" sz="2800" spc="-1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E-R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图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530" y="394461"/>
            <a:ext cx="716153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§3.2</a:t>
            </a:r>
            <a:r>
              <a:rPr dirty="0" spc="-65"/>
              <a:t> </a:t>
            </a:r>
            <a:r>
              <a:rPr dirty="0" spc="-10"/>
              <a:t>概念结构设计的方法与步骤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6083935" cy="280606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设计概念结构通常有四类方</a:t>
            </a:r>
            <a:r>
              <a:rPr dirty="0" sz="3200" spc="-15" b="1">
                <a:solidFill>
                  <a:srgbClr val="0000FF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自顶向下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自底向上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逐步扩张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混合策略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6831965" cy="27482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299085" marR="5080" indent="-287020">
              <a:lnSpc>
                <a:spcPct val="99100"/>
              </a:lnSpc>
              <a:spcBef>
                <a:spcPts val="13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概念结构是对现实世界的一种抽象。所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谓抽象是对人、物、事和概念进行人为 处理，抽取所关心的共同特性，忽略非 本质的细节，并把这些特性用各种概念 精确的加以描述，这些概念组成了某种 模型。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777"/>
            <a:ext cx="7320915" cy="386461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一般有三种抽象：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分类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ts val="2870"/>
              </a:lnSpc>
              <a:spcBef>
                <a:spcPts val="100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定义某一类概念作为现实世界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一组对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象的类型。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3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聚集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定义某一类型的组成成分。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5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概括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35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定义类型之间的一种子集联系。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5154295" cy="170878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设计分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E-R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图具体做法是：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1.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选择局部应用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2.</a:t>
            </a:r>
            <a:r>
              <a:rPr dirty="0" sz="3000" spc="-10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逐一设计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分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图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167129"/>
            <a:ext cx="7437755" cy="3080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6285" marR="5080" indent="-287020">
              <a:lnSpc>
                <a:spcPct val="10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为了简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化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图的处置，应尽量将现实世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界的事物作为属性对待。</a:t>
            </a:r>
            <a:endParaRPr sz="3000">
              <a:latin typeface="黑体"/>
              <a:cs typeface="黑体"/>
            </a:endParaRPr>
          </a:p>
          <a:p>
            <a:pPr marL="355600" indent="-343535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划分实体与属性的准则</a:t>
            </a:r>
            <a:endParaRPr sz="3200">
              <a:latin typeface="宋体"/>
              <a:cs typeface="宋体"/>
            </a:endParaRPr>
          </a:p>
          <a:p>
            <a:pPr lvl="1" marL="756285" marR="153035" indent="-287020">
              <a:lnSpc>
                <a:spcPts val="3429"/>
              </a:lnSpc>
              <a:spcBef>
                <a:spcPts val="114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属性不具备需要再描述的性质，是不可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再分的数据项。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63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属性不能与其它实体有联系。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0489" rIns="0" bIns="0" rtlCol="0" vert="horz">
            <a:spAutoFit/>
          </a:bodyPr>
          <a:lstStyle/>
          <a:p>
            <a:pPr marL="682625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682625" algn="l"/>
                <a:tab pos="683260" algn="l"/>
              </a:tabLst>
            </a:pPr>
            <a:r>
              <a:rPr dirty="0" spc="-10"/>
              <a:t>例</a:t>
            </a:r>
          </a:p>
          <a:p>
            <a:pPr lvl="1" marL="1100455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110109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设计选课管理的数据库，包含以下信息：</a:t>
            </a:r>
            <a:endParaRPr sz="3000">
              <a:latin typeface="黑体"/>
              <a:cs typeface="黑体"/>
            </a:endParaRPr>
          </a:p>
          <a:p>
            <a:pPr marL="1482725" marR="5080" indent="-228600">
              <a:lnSpc>
                <a:spcPct val="99100"/>
              </a:lnSpc>
              <a:spcBef>
                <a:spcPts val="865"/>
              </a:spcBef>
            </a:pPr>
            <a:r>
              <a:rPr dirty="0" sz="2800" spc="-5" b="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>
                <a:solidFill>
                  <a:srgbClr val="000066"/>
                </a:solidFill>
              </a:rPr>
              <a:t>课程名</a:t>
            </a:r>
            <a:r>
              <a:rPr dirty="0" sz="2800" spc="5">
                <a:solidFill>
                  <a:srgbClr val="000066"/>
                </a:solidFill>
              </a:rPr>
              <a:t>称</a:t>
            </a:r>
            <a:r>
              <a:rPr dirty="0" sz="2800" spc="-10">
                <a:solidFill>
                  <a:srgbClr val="000066"/>
                </a:solidFill>
              </a:rPr>
              <a:t>、课程</a:t>
            </a:r>
            <a:r>
              <a:rPr dirty="0" sz="2800" spc="5">
                <a:solidFill>
                  <a:srgbClr val="000066"/>
                </a:solidFill>
              </a:rPr>
              <a:t>代</a:t>
            </a:r>
            <a:r>
              <a:rPr dirty="0" sz="2800" spc="-10">
                <a:solidFill>
                  <a:srgbClr val="000066"/>
                </a:solidFill>
              </a:rPr>
              <a:t>号、课</a:t>
            </a:r>
            <a:r>
              <a:rPr dirty="0" sz="2800" spc="5">
                <a:solidFill>
                  <a:srgbClr val="000066"/>
                </a:solidFill>
              </a:rPr>
              <a:t>程</a:t>
            </a:r>
            <a:r>
              <a:rPr dirty="0" sz="2800" spc="-10">
                <a:solidFill>
                  <a:srgbClr val="000066"/>
                </a:solidFill>
              </a:rPr>
              <a:t>类型（</a:t>
            </a:r>
            <a:r>
              <a:rPr dirty="0" sz="2800" spc="5">
                <a:solidFill>
                  <a:srgbClr val="000066"/>
                </a:solidFill>
              </a:rPr>
              <a:t>必</a:t>
            </a:r>
            <a:r>
              <a:rPr dirty="0" sz="2800" spc="-10">
                <a:solidFill>
                  <a:srgbClr val="000066"/>
                </a:solidFill>
              </a:rPr>
              <a:t>修</a:t>
            </a:r>
            <a:r>
              <a:rPr dirty="0" sz="2800" spc="-15">
                <a:solidFill>
                  <a:srgbClr val="000066"/>
                </a:solidFill>
              </a:rPr>
              <a:t>、 </a:t>
            </a:r>
            <a:r>
              <a:rPr dirty="0" sz="2800" spc="-10">
                <a:solidFill>
                  <a:srgbClr val="000066"/>
                </a:solidFill>
              </a:rPr>
              <a:t>选修、任选）、学分、任课教</a:t>
            </a:r>
            <a:r>
              <a:rPr dirty="0" sz="2800">
                <a:solidFill>
                  <a:srgbClr val="000066"/>
                </a:solidFill>
              </a:rPr>
              <a:t>师</a:t>
            </a:r>
            <a:r>
              <a:rPr dirty="0" sz="2800" spc="-10">
                <a:solidFill>
                  <a:srgbClr val="000066"/>
                </a:solidFill>
              </a:rPr>
              <a:t>姓名</a:t>
            </a:r>
            <a:r>
              <a:rPr dirty="0" sz="2800">
                <a:solidFill>
                  <a:srgbClr val="000066"/>
                </a:solidFill>
              </a:rPr>
              <a:t>、</a:t>
            </a:r>
            <a:r>
              <a:rPr dirty="0" sz="2800" spc="-15">
                <a:solidFill>
                  <a:srgbClr val="000066"/>
                </a:solidFill>
              </a:rPr>
              <a:t>教 </a:t>
            </a:r>
            <a:r>
              <a:rPr dirty="0" sz="2800" spc="-5">
                <a:solidFill>
                  <a:srgbClr val="000066"/>
                </a:solidFill>
              </a:rPr>
              <a:t>师编号、教师职称、教师所属</a:t>
            </a:r>
            <a:r>
              <a:rPr dirty="0" sz="2800" spc="5">
                <a:solidFill>
                  <a:srgbClr val="000066"/>
                </a:solidFill>
              </a:rPr>
              <a:t>院</a:t>
            </a:r>
            <a:r>
              <a:rPr dirty="0" sz="2800" spc="-5">
                <a:solidFill>
                  <a:srgbClr val="000066"/>
                </a:solidFill>
              </a:rPr>
              <a:t>名称</a:t>
            </a:r>
            <a:r>
              <a:rPr dirty="0" sz="2800" spc="5">
                <a:solidFill>
                  <a:srgbClr val="000066"/>
                </a:solidFill>
              </a:rPr>
              <a:t>、</a:t>
            </a:r>
            <a:r>
              <a:rPr dirty="0" sz="2800" spc="-15">
                <a:solidFill>
                  <a:srgbClr val="000066"/>
                </a:solidFill>
              </a:rPr>
              <a:t>教 </a:t>
            </a:r>
            <a:r>
              <a:rPr dirty="0" sz="2800" spc="-10">
                <a:solidFill>
                  <a:srgbClr val="000066"/>
                </a:solidFill>
              </a:rPr>
              <a:t>师所属</a:t>
            </a:r>
            <a:r>
              <a:rPr dirty="0" sz="2800" spc="5">
                <a:solidFill>
                  <a:srgbClr val="000066"/>
                </a:solidFill>
              </a:rPr>
              <a:t>院</a:t>
            </a:r>
            <a:r>
              <a:rPr dirty="0" sz="2800" spc="-10">
                <a:solidFill>
                  <a:srgbClr val="000066"/>
                </a:solidFill>
              </a:rPr>
              <a:t>代号、</a:t>
            </a:r>
            <a:r>
              <a:rPr dirty="0" sz="2800" spc="5">
                <a:solidFill>
                  <a:srgbClr val="000066"/>
                </a:solidFill>
              </a:rPr>
              <a:t>教</a:t>
            </a:r>
            <a:r>
              <a:rPr dirty="0" sz="2800" spc="-10">
                <a:solidFill>
                  <a:srgbClr val="000066"/>
                </a:solidFill>
              </a:rPr>
              <a:t>师所授</a:t>
            </a:r>
            <a:r>
              <a:rPr dirty="0" sz="2800" spc="5">
                <a:solidFill>
                  <a:srgbClr val="000066"/>
                </a:solidFill>
              </a:rPr>
              <a:t>课</a:t>
            </a:r>
            <a:r>
              <a:rPr dirty="0" sz="2800" spc="-10">
                <a:solidFill>
                  <a:srgbClr val="000066"/>
                </a:solidFill>
              </a:rPr>
              <a:t>程、学</a:t>
            </a:r>
            <a:r>
              <a:rPr dirty="0" sz="2800" spc="5">
                <a:solidFill>
                  <a:srgbClr val="000066"/>
                </a:solidFill>
              </a:rPr>
              <a:t>生</a:t>
            </a:r>
            <a:r>
              <a:rPr dirty="0" sz="2800" spc="-10">
                <a:solidFill>
                  <a:srgbClr val="000066"/>
                </a:solidFill>
              </a:rPr>
              <a:t>姓名</a:t>
            </a:r>
            <a:r>
              <a:rPr dirty="0" sz="2800" spc="-15">
                <a:solidFill>
                  <a:srgbClr val="000066"/>
                </a:solidFill>
              </a:rPr>
              <a:t>、 </a:t>
            </a:r>
            <a:r>
              <a:rPr dirty="0" sz="2800" spc="-10">
                <a:solidFill>
                  <a:srgbClr val="000066"/>
                </a:solidFill>
              </a:rPr>
              <a:t>学生学号、学生性别、学生所</a:t>
            </a:r>
            <a:r>
              <a:rPr dirty="0" sz="2800">
                <a:solidFill>
                  <a:srgbClr val="000066"/>
                </a:solidFill>
              </a:rPr>
              <a:t>属</a:t>
            </a:r>
            <a:r>
              <a:rPr dirty="0" sz="2800" spc="-10">
                <a:solidFill>
                  <a:srgbClr val="000066"/>
                </a:solidFill>
              </a:rPr>
              <a:t>院名</a:t>
            </a:r>
            <a:r>
              <a:rPr dirty="0" sz="2800">
                <a:solidFill>
                  <a:srgbClr val="000066"/>
                </a:solidFill>
              </a:rPr>
              <a:t>称</a:t>
            </a:r>
            <a:r>
              <a:rPr dirty="0" sz="2800" spc="-15">
                <a:solidFill>
                  <a:srgbClr val="000066"/>
                </a:solidFill>
              </a:rPr>
              <a:t>、 </a:t>
            </a:r>
            <a:r>
              <a:rPr dirty="0" sz="2800" spc="-5">
                <a:solidFill>
                  <a:srgbClr val="000066"/>
                </a:solidFill>
              </a:rPr>
              <a:t>学生所属院代号、学生所选课</a:t>
            </a:r>
            <a:r>
              <a:rPr dirty="0" sz="2800" spc="5">
                <a:solidFill>
                  <a:srgbClr val="000066"/>
                </a:solidFill>
              </a:rPr>
              <a:t>程</a:t>
            </a:r>
            <a:r>
              <a:rPr dirty="0" sz="2800" spc="-15">
                <a:solidFill>
                  <a:srgbClr val="000066"/>
                </a:solidFill>
              </a:rPr>
              <a:t>。</a:t>
            </a:r>
            <a:endParaRPr sz="28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0489" rIns="0" bIns="0" rtlCol="0" vert="horz">
            <a:spAutoFit/>
          </a:bodyPr>
          <a:lstStyle/>
          <a:p>
            <a:pPr marL="682625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682625" algn="l"/>
                <a:tab pos="683260" algn="l"/>
              </a:tabLst>
            </a:pPr>
            <a:r>
              <a:rPr dirty="0" spc="-5"/>
              <a:t>例（续）</a:t>
            </a:r>
          </a:p>
          <a:p>
            <a:pPr lvl="1" marL="1100455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110109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其中语义有：</a:t>
            </a:r>
            <a:endParaRPr sz="3000">
              <a:latin typeface="黑体"/>
              <a:cs typeface="黑体"/>
            </a:endParaRPr>
          </a:p>
          <a:p>
            <a:pPr marL="1482725" marR="357505" indent="-228600">
              <a:lnSpc>
                <a:spcPct val="100000"/>
              </a:lnSpc>
              <a:spcBef>
                <a:spcPts val="835"/>
              </a:spcBef>
            </a:pPr>
            <a:r>
              <a:rPr dirty="0" sz="2800" spc="-5" b="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>
                <a:solidFill>
                  <a:srgbClr val="000066"/>
                </a:solidFill>
              </a:rPr>
              <a:t>每个学院有唯一代号，教师、</a:t>
            </a:r>
            <a:r>
              <a:rPr dirty="0" sz="2800" spc="5">
                <a:solidFill>
                  <a:srgbClr val="000066"/>
                </a:solidFill>
              </a:rPr>
              <a:t>学</a:t>
            </a:r>
            <a:r>
              <a:rPr dirty="0" sz="2800" spc="-5">
                <a:solidFill>
                  <a:srgbClr val="000066"/>
                </a:solidFill>
              </a:rPr>
              <a:t>生仅有 </a:t>
            </a:r>
            <a:r>
              <a:rPr dirty="0" sz="2800" spc="-10">
                <a:solidFill>
                  <a:srgbClr val="000066"/>
                </a:solidFill>
              </a:rPr>
              <a:t>唯一编号，仅属于一个学院，</a:t>
            </a:r>
            <a:r>
              <a:rPr dirty="0" sz="2800">
                <a:solidFill>
                  <a:srgbClr val="000066"/>
                </a:solidFill>
              </a:rPr>
              <a:t>一</a:t>
            </a:r>
            <a:r>
              <a:rPr dirty="0" sz="2800" spc="-10">
                <a:solidFill>
                  <a:srgbClr val="000066"/>
                </a:solidFill>
              </a:rPr>
              <a:t>门课</a:t>
            </a:r>
            <a:r>
              <a:rPr dirty="0" sz="2800">
                <a:solidFill>
                  <a:srgbClr val="000066"/>
                </a:solidFill>
              </a:rPr>
              <a:t>程</a:t>
            </a:r>
            <a:r>
              <a:rPr dirty="0" sz="2800" spc="-15">
                <a:solidFill>
                  <a:srgbClr val="000066"/>
                </a:solidFill>
              </a:rPr>
              <a:t>可 </a:t>
            </a:r>
            <a:r>
              <a:rPr dirty="0" sz="2800" spc="-5">
                <a:solidFill>
                  <a:srgbClr val="000066"/>
                </a:solidFill>
              </a:rPr>
              <a:t>以由多个老师同时教授，一名</a:t>
            </a:r>
            <a:r>
              <a:rPr dirty="0" sz="2800" spc="5">
                <a:solidFill>
                  <a:srgbClr val="000066"/>
                </a:solidFill>
              </a:rPr>
              <a:t>教</a:t>
            </a:r>
            <a:r>
              <a:rPr dirty="0" sz="2800" spc="-5">
                <a:solidFill>
                  <a:srgbClr val="000066"/>
                </a:solidFill>
              </a:rPr>
              <a:t>师可</a:t>
            </a:r>
            <a:r>
              <a:rPr dirty="0" sz="2800" spc="5">
                <a:solidFill>
                  <a:srgbClr val="000066"/>
                </a:solidFill>
              </a:rPr>
              <a:t>以</a:t>
            </a:r>
            <a:r>
              <a:rPr dirty="0" sz="2800" spc="-15">
                <a:solidFill>
                  <a:srgbClr val="000066"/>
                </a:solidFill>
              </a:rPr>
              <a:t>教</a:t>
            </a:r>
            <a:endParaRPr sz="2800">
              <a:latin typeface="Wingdings"/>
              <a:cs typeface="Wingdings"/>
            </a:endParaRPr>
          </a:p>
          <a:p>
            <a:pPr marL="1482725" marR="5080">
              <a:lnSpc>
                <a:spcPct val="97700"/>
              </a:lnSpc>
              <a:spcBef>
                <a:spcPts val="80"/>
              </a:spcBef>
            </a:pPr>
            <a:r>
              <a:rPr dirty="0" sz="2800" spc="-10">
                <a:solidFill>
                  <a:srgbClr val="000066"/>
                </a:solidFill>
              </a:rPr>
              <a:t>授多门</a:t>
            </a:r>
            <a:r>
              <a:rPr dirty="0" sz="2800" spc="5">
                <a:solidFill>
                  <a:srgbClr val="000066"/>
                </a:solidFill>
              </a:rPr>
              <a:t>课</a:t>
            </a:r>
            <a:r>
              <a:rPr dirty="0" sz="2800" spc="-10">
                <a:solidFill>
                  <a:srgbClr val="000066"/>
                </a:solidFill>
              </a:rPr>
              <a:t>程，一</a:t>
            </a:r>
            <a:r>
              <a:rPr dirty="0" sz="2800" spc="5">
                <a:solidFill>
                  <a:srgbClr val="000066"/>
                </a:solidFill>
              </a:rPr>
              <a:t>名</a:t>
            </a:r>
            <a:r>
              <a:rPr dirty="0" sz="2800" spc="-10">
                <a:solidFill>
                  <a:srgbClr val="000066"/>
                </a:solidFill>
              </a:rPr>
              <a:t>学生可</a:t>
            </a:r>
            <a:r>
              <a:rPr dirty="0" sz="2800" spc="5">
                <a:solidFill>
                  <a:srgbClr val="000066"/>
                </a:solidFill>
              </a:rPr>
              <a:t>以</a:t>
            </a:r>
            <a:r>
              <a:rPr dirty="0" sz="2800" spc="-10">
                <a:solidFill>
                  <a:srgbClr val="000066"/>
                </a:solidFill>
              </a:rPr>
              <a:t>选修多</a:t>
            </a:r>
            <a:r>
              <a:rPr dirty="0" sz="2800" spc="5">
                <a:solidFill>
                  <a:srgbClr val="000066"/>
                </a:solidFill>
              </a:rPr>
              <a:t>门</a:t>
            </a:r>
            <a:r>
              <a:rPr dirty="0" sz="2800" spc="-10">
                <a:solidFill>
                  <a:srgbClr val="000066"/>
                </a:solidFill>
              </a:rPr>
              <a:t>课程</a:t>
            </a:r>
            <a:r>
              <a:rPr dirty="0" sz="2800" spc="-15">
                <a:solidFill>
                  <a:srgbClr val="000066"/>
                </a:solidFill>
              </a:rPr>
              <a:t>， </a:t>
            </a:r>
            <a:r>
              <a:rPr dirty="0" sz="2800" spc="-10">
                <a:solidFill>
                  <a:srgbClr val="000066"/>
                </a:solidFill>
              </a:rPr>
              <a:t>学生选修课程时应同时选择课</a:t>
            </a:r>
            <a:r>
              <a:rPr dirty="0" sz="2800">
                <a:solidFill>
                  <a:srgbClr val="000066"/>
                </a:solidFill>
              </a:rPr>
              <a:t>程</a:t>
            </a:r>
            <a:r>
              <a:rPr dirty="0" sz="2800" spc="-10">
                <a:solidFill>
                  <a:srgbClr val="000066"/>
                </a:solidFill>
              </a:rPr>
              <a:t>和老</a:t>
            </a:r>
            <a:r>
              <a:rPr dirty="0" sz="2800">
                <a:solidFill>
                  <a:srgbClr val="000066"/>
                </a:solidFill>
              </a:rPr>
              <a:t>师</a:t>
            </a:r>
            <a:r>
              <a:rPr dirty="0" sz="2800" spc="-15">
                <a:solidFill>
                  <a:srgbClr val="000066"/>
                </a:solidFill>
              </a:rPr>
              <a:t>，  </a:t>
            </a:r>
            <a:r>
              <a:rPr dirty="0" sz="2800" spc="-5">
                <a:solidFill>
                  <a:srgbClr val="000066"/>
                </a:solidFill>
              </a:rPr>
              <a:t>并取得成绩。</a:t>
            </a:r>
            <a:endParaRPr sz="2800"/>
          </a:p>
          <a:p>
            <a:pPr lvl="1" marL="1100455" indent="-304165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110109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设计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030" y="394461"/>
            <a:ext cx="67779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10"/>
              <a:t>§3.3	数据抽象与局部视</a:t>
            </a:r>
            <a:r>
              <a:rPr dirty="0" spc="-25"/>
              <a:t>图</a:t>
            </a:r>
            <a:r>
              <a:rPr dirty="0" spc="-10"/>
              <a:t>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777"/>
            <a:ext cx="7528559" cy="467169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r" marL="342900" marR="5530215" indent="-342900"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  <a:tabLst>
                <a:tab pos="342900" algn="l"/>
                <a:tab pos="3435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例（续）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首先进行信息分类，找出实体</a:t>
            </a:r>
            <a:endParaRPr sz="3000">
              <a:latin typeface="黑体"/>
              <a:cs typeface="黑体"/>
            </a:endParaRPr>
          </a:p>
          <a:p>
            <a:pPr algn="r" marR="5562600">
              <a:lnSpc>
                <a:spcPct val="100000"/>
              </a:lnSpc>
              <a:spcBef>
                <a:spcPts val="34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课程</a:t>
            </a:r>
            <a:endParaRPr sz="2800">
              <a:latin typeface="宋体"/>
              <a:cs typeface="宋体"/>
            </a:endParaRPr>
          </a:p>
          <a:p>
            <a:pPr marL="1612900" marR="5080" indent="-228600">
              <a:lnSpc>
                <a:spcPts val="2470"/>
              </a:lnSpc>
              <a:spcBef>
                <a:spcPts val="844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课程名称、课程代号、课程类型（必修、选 </a:t>
            </a:r>
            <a:r>
              <a:rPr dirty="0" sz="2400" b="1">
                <a:latin typeface="宋体"/>
                <a:cs typeface="宋体"/>
              </a:rPr>
              <a:t>修、任选）、学分、</a:t>
            </a:r>
            <a:endParaRPr sz="2400">
              <a:latin typeface="宋体"/>
              <a:cs typeface="宋体"/>
            </a:endParaRPr>
          </a:p>
          <a:p>
            <a:pPr algn="r" marR="5562600">
              <a:lnSpc>
                <a:spcPct val="100000"/>
              </a:lnSpc>
              <a:spcBef>
                <a:spcPts val="31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教师</a:t>
            </a:r>
            <a:endParaRPr sz="2800">
              <a:latin typeface="宋体"/>
              <a:cs typeface="宋体"/>
            </a:endParaRPr>
          </a:p>
          <a:p>
            <a:pPr marL="1612900" marR="5080" indent="-228600">
              <a:lnSpc>
                <a:spcPts val="2470"/>
              </a:lnSpc>
              <a:spcBef>
                <a:spcPts val="850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任课教师姓名、教师编号、教师职称、教师 </a:t>
            </a:r>
            <a:r>
              <a:rPr dirty="0" sz="2400" b="1">
                <a:latin typeface="宋体"/>
                <a:cs typeface="宋体"/>
              </a:rPr>
              <a:t>所属学院名称、教师所属学院代号、</a:t>
            </a:r>
            <a:endParaRPr sz="2400">
              <a:latin typeface="宋体"/>
              <a:cs typeface="宋体"/>
            </a:endParaRPr>
          </a:p>
          <a:p>
            <a:pPr algn="r" marR="5562600">
              <a:lnSpc>
                <a:spcPct val="100000"/>
              </a:lnSpc>
              <a:spcBef>
                <a:spcPts val="31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学生</a:t>
            </a:r>
            <a:endParaRPr sz="2800">
              <a:latin typeface="宋体"/>
              <a:cs typeface="宋体"/>
            </a:endParaRPr>
          </a:p>
          <a:p>
            <a:pPr marL="1612900" marR="5080" indent="-228600">
              <a:lnSpc>
                <a:spcPts val="2470"/>
              </a:lnSpc>
              <a:spcBef>
                <a:spcPts val="850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学生姓名、学生学号、学生性别、学生所属 </a:t>
            </a:r>
            <a:r>
              <a:rPr dirty="0" sz="2400" b="1">
                <a:latin typeface="宋体"/>
                <a:cs typeface="宋体"/>
              </a:rPr>
              <a:t>学院名称、学生所属学院代号。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777"/>
            <a:ext cx="7673975" cy="457136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例（续）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首先进行信息分类，找出实体（续）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学生所在学院</a:t>
            </a:r>
            <a:endParaRPr sz="2800">
              <a:latin typeface="宋体"/>
              <a:cs typeface="宋体"/>
            </a:endParaRPr>
          </a:p>
          <a:p>
            <a:pPr marL="1384300">
              <a:lnSpc>
                <a:spcPct val="100000"/>
              </a:lnSpc>
              <a:spcBef>
                <a:spcPts val="300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学院名称、学院代号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2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教师所在学院</a:t>
            </a:r>
            <a:endParaRPr sz="2800">
              <a:latin typeface="宋体"/>
              <a:cs typeface="宋体"/>
            </a:endParaRPr>
          </a:p>
          <a:p>
            <a:pPr marL="1384300">
              <a:lnSpc>
                <a:spcPct val="100000"/>
              </a:lnSpc>
              <a:spcBef>
                <a:spcPts val="30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学院名称、学院代号</a:t>
            </a:r>
            <a:endParaRPr sz="24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3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找出实体间的联系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ts val="2870"/>
              </a:lnSpc>
              <a:spcBef>
                <a:spcPts val="100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学院与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教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师；学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院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与学生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；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教师与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课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程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；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学生与课程</a:t>
            </a:r>
            <a:endParaRPr sz="2800">
              <a:latin typeface="宋体"/>
              <a:cs typeface="宋体"/>
            </a:endParaRPr>
          </a:p>
          <a:p>
            <a:pPr marL="1384300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注意学生选的课是某教师教授的课程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4110354" cy="167322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例（续）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图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首先画出各个实体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7400" y="3200400"/>
            <a:ext cx="1259205" cy="539750"/>
          </a:xfrm>
          <a:prstGeom prst="rect">
            <a:avLst/>
          </a:prstGeom>
          <a:solidFill>
            <a:srgbClr val="339933"/>
          </a:solidFill>
          <a:ln w="9144">
            <a:solidFill>
              <a:srgbClr val="00000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322580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学生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4210811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5" h="539750">
                <a:moveTo>
                  <a:pt x="629412" y="0"/>
                </a:moveTo>
                <a:lnTo>
                  <a:pt x="565058" y="1392"/>
                </a:lnTo>
                <a:lnTo>
                  <a:pt x="502564" y="5480"/>
                </a:lnTo>
                <a:lnTo>
                  <a:pt x="442245" y="12127"/>
                </a:lnTo>
                <a:lnTo>
                  <a:pt x="384417" y="21199"/>
                </a:lnTo>
                <a:lnTo>
                  <a:pt x="329398" y="32558"/>
                </a:lnTo>
                <a:lnTo>
                  <a:pt x="277503" y="46070"/>
                </a:lnTo>
                <a:lnTo>
                  <a:pt x="229048" y="61599"/>
                </a:lnTo>
                <a:lnTo>
                  <a:pt x="184351" y="79009"/>
                </a:lnTo>
                <a:lnTo>
                  <a:pt x="143728" y="98166"/>
                </a:lnTo>
                <a:lnTo>
                  <a:pt x="107494" y="118932"/>
                </a:lnTo>
                <a:lnTo>
                  <a:pt x="75967" y="141173"/>
                </a:lnTo>
                <a:lnTo>
                  <a:pt x="28297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7" y="349960"/>
                </a:lnTo>
                <a:lnTo>
                  <a:pt x="75967" y="398322"/>
                </a:lnTo>
                <a:lnTo>
                  <a:pt x="107494" y="420563"/>
                </a:lnTo>
                <a:lnTo>
                  <a:pt x="143728" y="441329"/>
                </a:lnTo>
                <a:lnTo>
                  <a:pt x="184351" y="460486"/>
                </a:lnTo>
                <a:lnTo>
                  <a:pt x="229048" y="477896"/>
                </a:lnTo>
                <a:lnTo>
                  <a:pt x="277503" y="493425"/>
                </a:lnTo>
                <a:lnTo>
                  <a:pt x="329398" y="506937"/>
                </a:lnTo>
                <a:lnTo>
                  <a:pt x="384417" y="518296"/>
                </a:lnTo>
                <a:lnTo>
                  <a:pt x="442245" y="527368"/>
                </a:lnTo>
                <a:lnTo>
                  <a:pt x="502564" y="534015"/>
                </a:lnTo>
                <a:lnTo>
                  <a:pt x="565058" y="538103"/>
                </a:lnTo>
                <a:lnTo>
                  <a:pt x="629412" y="539495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2" y="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5800" y="4210811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5" h="539750">
                <a:moveTo>
                  <a:pt x="0" y="269748"/>
                </a:moveTo>
                <a:lnTo>
                  <a:pt x="12787" y="215386"/>
                </a:lnTo>
                <a:lnTo>
                  <a:pt x="49462" y="164752"/>
                </a:lnTo>
                <a:lnTo>
                  <a:pt x="107494" y="118932"/>
                </a:lnTo>
                <a:lnTo>
                  <a:pt x="143728" y="98166"/>
                </a:lnTo>
                <a:lnTo>
                  <a:pt x="184351" y="79009"/>
                </a:lnTo>
                <a:lnTo>
                  <a:pt x="229048" y="61599"/>
                </a:lnTo>
                <a:lnTo>
                  <a:pt x="277503" y="46070"/>
                </a:lnTo>
                <a:lnTo>
                  <a:pt x="329398" y="32558"/>
                </a:lnTo>
                <a:lnTo>
                  <a:pt x="384417" y="21199"/>
                </a:lnTo>
                <a:lnTo>
                  <a:pt x="442245" y="12127"/>
                </a:lnTo>
                <a:lnTo>
                  <a:pt x="502564" y="5480"/>
                </a:lnTo>
                <a:lnTo>
                  <a:pt x="565058" y="1392"/>
                </a:lnTo>
                <a:lnTo>
                  <a:pt x="629412" y="0"/>
                </a:lnTo>
                <a:lnTo>
                  <a:pt x="693763" y="1392"/>
                </a:lnTo>
                <a:lnTo>
                  <a:pt x="756255" y="5480"/>
                </a:lnTo>
                <a:lnTo>
                  <a:pt x="816574" y="12127"/>
                </a:lnTo>
                <a:lnTo>
                  <a:pt x="874400" y="21199"/>
                </a:lnTo>
                <a:lnTo>
                  <a:pt x="929420" y="32558"/>
                </a:lnTo>
                <a:lnTo>
                  <a:pt x="981315" y="46070"/>
                </a:lnTo>
                <a:lnTo>
                  <a:pt x="1029769" y="61599"/>
                </a:lnTo>
                <a:lnTo>
                  <a:pt x="1074467" y="79009"/>
                </a:lnTo>
                <a:lnTo>
                  <a:pt x="1115091" y="98166"/>
                </a:lnTo>
                <a:lnTo>
                  <a:pt x="1151326" y="118932"/>
                </a:lnTo>
                <a:lnTo>
                  <a:pt x="1182854" y="141173"/>
                </a:lnTo>
                <a:lnTo>
                  <a:pt x="1230525" y="189535"/>
                </a:lnTo>
                <a:lnTo>
                  <a:pt x="1255574" y="242168"/>
                </a:lnTo>
                <a:lnTo>
                  <a:pt x="1258824" y="269748"/>
                </a:lnTo>
                <a:lnTo>
                  <a:pt x="1255574" y="297327"/>
                </a:lnTo>
                <a:lnTo>
                  <a:pt x="1230525" y="349960"/>
                </a:lnTo>
                <a:lnTo>
                  <a:pt x="1182854" y="398322"/>
                </a:lnTo>
                <a:lnTo>
                  <a:pt x="1151326" y="420563"/>
                </a:lnTo>
                <a:lnTo>
                  <a:pt x="1115091" y="441329"/>
                </a:lnTo>
                <a:lnTo>
                  <a:pt x="1074467" y="460486"/>
                </a:lnTo>
                <a:lnTo>
                  <a:pt x="1029769" y="477896"/>
                </a:lnTo>
                <a:lnTo>
                  <a:pt x="981315" y="493425"/>
                </a:lnTo>
                <a:lnTo>
                  <a:pt x="929420" y="506937"/>
                </a:lnTo>
                <a:lnTo>
                  <a:pt x="874400" y="518296"/>
                </a:lnTo>
                <a:lnTo>
                  <a:pt x="816574" y="527368"/>
                </a:lnTo>
                <a:lnTo>
                  <a:pt x="756255" y="534015"/>
                </a:lnTo>
                <a:lnTo>
                  <a:pt x="693763" y="538103"/>
                </a:lnTo>
                <a:lnTo>
                  <a:pt x="629412" y="539495"/>
                </a:lnTo>
                <a:lnTo>
                  <a:pt x="565058" y="538103"/>
                </a:lnTo>
                <a:lnTo>
                  <a:pt x="502564" y="534015"/>
                </a:lnTo>
                <a:lnTo>
                  <a:pt x="442245" y="527368"/>
                </a:lnTo>
                <a:lnTo>
                  <a:pt x="384417" y="518296"/>
                </a:lnTo>
                <a:lnTo>
                  <a:pt x="329398" y="506937"/>
                </a:lnTo>
                <a:lnTo>
                  <a:pt x="277503" y="493425"/>
                </a:lnTo>
                <a:lnTo>
                  <a:pt x="229048" y="477896"/>
                </a:lnTo>
                <a:lnTo>
                  <a:pt x="184351" y="460486"/>
                </a:lnTo>
                <a:lnTo>
                  <a:pt x="143728" y="441329"/>
                </a:lnTo>
                <a:lnTo>
                  <a:pt x="107494" y="420563"/>
                </a:lnTo>
                <a:lnTo>
                  <a:pt x="75967" y="398322"/>
                </a:lnTo>
                <a:lnTo>
                  <a:pt x="28297" y="349960"/>
                </a:lnTo>
                <a:lnTo>
                  <a:pt x="3249" y="297327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96797" y="4278833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spc="-5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学号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1600" y="3733800"/>
            <a:ext cx="1295400" cy="635635"/>
          </a:xfrm>
          <a:custGeom>
            <a:avLst/>
            <a:gdLst/>
            <a:ahLst/>
            <a:cxnLst/>
            <a:rect l="l" t="t" r="r" b="b"/>
            <a:pathLst>
              <a:path w="1295400" h="635635">
                <a:moveTo>
                  <a:pt x="0" y="635507"/>
                </a:moveTo>
                <a:lnTo>
                  <a:pt x="1295400" y="0"/>
                </a:lnTo>
              </a:path>
            </a:pathLst>
          </a:custGeom>
          <a:ln w="12192">
            <a:solidFill>
              <a:srgbClr val="3399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01011" y="4718303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629412" y="0"/>
                </a:moveTo>
                <a:lnTo>
                  <a:pt x="565060" y="1392"/>
                </a:lnTo>
                <a:lnTo>
                  <a:pt x="502568" y="5480"/>
                </a:lnTo>
                <a:lnTo>
                  <a:pt x="442249" y="12127"/>
                </a:lnTo>
                <a:lnTo>
                  <a:pt x="384423" y="21199"/>
                </a:lnTo>
                <a:lnTo>
                  <a:pt x="329403" y="32558"/>
                </a:lnTo>
                <a:lnTo>
                  <a:pt x="277508" y="46070"/>
                </a:lnTo>
                <a:lnTo>
                  <a:pt x="229054" y="61599"/>
                </a:lnTo>
                <a:lnTo>
                  <a:pt x="184356" y="79009"/>
                </a:lnTo>
                <a:lnTo>
                  <a:pt x="143732" y="98166"/>
                </a:lnTo>
                <a:lnTo>
                  <a:pt x="107497" y="118932"/>
                </a:lnTo>
                <a:lnTo>
                  <a:pt x="75969" y="141173"/>
                </a:lnTo>
                <a:lnTo>
                  <a:pt x="28298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8" y="349960"/>
                </a:lnTo>
                <a:lnTo>
                  <a:pt x="75969" y="398322"/>
                </a:lnTo>
                <a:lnTo>
                  <a:pt x="107497" y="420563"/>
                </a:lnTo>
                <a:lnTo>
                  <a:pt x="143732" y="441329"/>
                </a:lnTo>
                <a:lnTo>
                  <a:pt x="184356" y="460486"/>
                </a:lnTo>
                <a:lnTo>
                  <a:pt x="229054" y="477896"/>
                </a:lnTo>
                <a:lnTo>
                  <a:pt x="277508" y="493425"/>
                </a:lnTo>
                <a:lnTo>
                  <a:pt x="329403" y="506937"/>
                </a:lnTo>
                <a:lnTo>
                  <a:pt x="384423" y="518296"/>
                </a:lnTo>
                <a:lnTo>
                  <a:pt x="442249" y="527368"/>
                </a:lnTo>
                <a:lnTo>
                  <a:pt x="502568" y="534015"/>
                </a:lnTo>
                <a:lnTo>
                  <a:pt x="565060" y="538103"/>
                </a:lnTo>
                <a:lnTo>
                  <a:pt x="629412" y="539496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2" y="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01011" y="4718303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0" y="269748"/>
                </a:moveTo>
                <a:lnTo>
                  <a:pt x="12788" y="215386"/>
                </a:lnTo>
                <a:lnTo>
                  <a:pt x="49464" y="164752"/>
                </a:lnTo>
                <a:lnTo>
                  <a:pt x="107497" y="118932"/>
                </a:lnTo>
                <a:lnTo>
                  <a:pt x="143732" y="98166"/>
                </a:lnTo>
                <a:lnTo>
                  <a:pt x="184356" y="79009"/>
                </a:lnTo>
                <a:lnTo>
                  <a:pt x="229054" y="61599"/>
                </a:lnTo>
                <a:lnTo>
                  <a:pt x="277508" y="46070"/>
                </a:lnTo>
                <a:lnTo>
                  <a:pt x="329403" y="32558"/>
                </a:lnTo>
                <a:lnTo>
                  <a:pt x="384423" y="21199"/>
                </a:lnTo>
                <a:lnTo>
                  <a:pt x="442249" y="12127"/>
                </a:lnTo>
                <a:lnTo>
                  <a:pt x="502568" y="5480"/>
                </a:lnTo>
                <a:lnTo>
                  <a:pt x="565060" y="1392"/>
                </a:lnTo>
                <a:lnTo>
                  <a:pt x="629412" y="0"/>
                </a:lnTo>
                <a:lnTo>
                  <a:pt x="693763" y="1392"/>
                </a:lnTo>
                <a:lnTo>
                  <a:pt x="756255" y="5480"/>
                </a:lnTo>
                <a:lnTo>
                  <a:pt x="816574" y="12127"/>
                </a:lnTo>
                <a:lnTo>
                  <a:pt x="874400" y="21199"/>
                </a:lnTo>
                <a:lnTo>
                  <a:pt x="929420" y="32558"/>
                </a:lnTo>
                <a:lnTo>
                  <a:pt x="981315" y="46070"/>
                </a:lnTo>
                <a:lnTo>
                  <a:pt x="1029769" y="61599"/>
                </a:lnTo>
                <a:lnTo>
                  <a:pt x="1074467" y="79009"/>
                </a:lnTo>
                <a:lnTo>
                  <a:pt x="1115091" y="98166"/>
                </a:lnTo>
                <a:lnTo>
                  <a:pt x="1151326" y="118932"/>
                </a:lnTo>
                <a:lnTo>
                  <a:pt x="1182854" y="141173"/>
                </a:lnTo>
                <a:lnTo>
                  <a:pt x="1230525" y="189535"/>
                </a:lnTo>
                <a:lnTo>
                  <a:pt x="1255574" y="242168"/>
                </a:lnTo>
                <a:lnTo>
                  <a:pt x="1258824" y="269748"/>
                </a:lnTo>
                <a:lnTo>
                  <a:pt x="1255574" y="297327"/>
                </a:lnTo>
                <a:lnTo>
                  <a:pt x="1230525" y="349960"/>
                </a:lnTo>
                <a:lnTo>
                  <a:pt x="1182854" y="398322"/>
                </a:lnTo>
                <a:lnTo>
                  <a:pt x="1151326" y="420563"/>
                </a:lnTo>
                <a:lnTo>
                  <a:pt x="1115091" y="441329"/>
                </a:lnTo>
                <a:lnTo>
                  <a:pt x="1074467" y="460486"/>
                </a:lnTo>
                <a:lnTo>
                  <a:pt x="1029769" y="477896"/>
                </a:lnTo>
                <a:lnTo>
                  <a:pt x="981315" y="493425"/>
                </a:lnTo>
                <a:lnTo>
                  <a:pt x="929420" y="506937"/>
                </a:lnTo>
                <a:lnTo>
                  <a:pt x="874400" y="518296"/>
                </a:lnTo>
                <a:lnTo>
                  <a:pt x="816574" y="527368"/>
                </a:lnTo>
                <a:lnTo>
                  <a:pt x="756255" y="534015"/>
                </a:lnTo>
                <a:lnTo>
                  <a:pt x="693763" y="538103"/>
                </a:lnTo>
                <a:lnTo>
                  <a:pt x="629412" y="539496"/>
                </a:lnTo>
                <a:lnTo>
                  <a:pt x="565060" y="538103"/>
                </a:lnTo>
                <a:lnTo>
                  <a:pt x="502568" y="534015"/>
                </a:lnTo>
                <a:lnTo>
                  <a:pt x="442249" y="527368"/>
                </a:lnTo>
                <a:lnTo>
                  <a:pt x="384423" y="518296"/>
                </a:lnTo>
                <a:lnTo>
                  <a:pt x="329403" y="506937"/>
                </a:lnTo>
                <a:lnTo>
                  <a:pt x="277508" y="493425"/>
                </a:lnTo>
                <a:lnTo>
                  <a:pt x="229054" y="477896"/>
                </a:lnTo>
                <a:lnTo>
                  <a:pt x="184356" y="460486"/>
                </a:lnTo>
                <a:lnTo>
                  <a:pt x="143732" y="441329"/>
                </a:lnTo>
                <a:lnTo>
                  <a:pt x="107497" y="420563"/>
                </a:lnTo>
                <a:lnTo>
                  <a:pt x="75969" y="398322"/>
                </a:lnTo>
                <a:lnTo>
                  <a:pt x="28298" y="349960"/>
                </a:lnTo>
                <a:lnTo>
                  <a:pt x="3249" y="297327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11400" y="4786960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宋体"/>
                <a:cs typeface="宋体"/>
              </a:rPr>
              <a:t>性别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03448" y="4221479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629412" y="0"/>
                </a:moveTo>
                <a:lnTo>
                  <a:pt x="565060" y="1392"/>
                </a:lnTo>
                <a:lnTo>
                  <a:pt x="502568" y="5480"/>
                </a:lnTo>
                <a:lnTo>
                  <a:pt x="442249" y="12127"/>
                </a:lnTo>
                <a:lnTo>
                  <a:pt x="384423" y="21199"/>
                </a:lnTo>
                <a:lnTo>
                  <a:pt x="329403" y="32558"/>
                </a:lnTo>
                <a:lnTo>
                  <a:pt x="277508" y="46070"/>
                </a:lnTo>
                <a:lnTo>
                  <a:pt x="229054" y="61599"/>
                </a:lnTo>
                <a:lnTo>
                  <a:pt x="184356" y="79009"/>
                </a:lnTo>
                <a:lnTo>
                  <a:pt x="143732" y="98166"/>
                </a:lnTo>
                <a:lnTo>
                  <a:pt x="107497" y="118932"/>
                </a:lnTo>
                <a:lnTo>
                  <a:pt x="75969" y="141173"/>
                </a:lnTo>
                <a:lnTo>
                  <a:pt x="28298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8" y="349960"/>
                </a:lnTo>
                <a:lnTo>
                  <a:pt x="75969" y="398322"/>
                </a:lnTo>
                <a:lnTo>
                  <a:pt x="107497" y="420563"/>
                </a:lnTo>
                <a:lnTo>
                  <a:pt x="143732" y="441329"/>
                </a:lnTo>
                <a:lnTo>
                  <a:pt x="184356" y="460486"/>
                </a:lnTo>
                <a:lnTo>
                  <a:pt x="229054" y="477896"/>
                </a:lnTo>
                <a:lnTo>
                  <a:pt x="277508" y="493425"/>
                </a:lnTo>
                <a:lnTo>
                  <a:pt x="329403" y="506937"/>
                </a:lnTo>
                <a:lnTo>
                  <a:pt x="384423" y="518296"/>
                </a:lnTo>
                <a:lnTo>
                  <a:pt x="442249" y="527368"/>
                </a:lnTo>
                <a:lnTo>
                  <a:pt x="502568" y="534015"/>
                </a:lnTo>
                <a:lnTo>
                  <a:pt x="565060" y="538103"/>
                </a:lnTo>
                <a:lnTo>
                  <a:pt x="629412" y="539496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2" y="0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03448" y="4221479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0" y="269748"/>
                </a:moveTo>
                <a:lnTo>
                  <a:pt x="12788" y="215386"/>
                </a:lnTo>
                <a:lnTo>
                  <a:pt x="49464" y="164752"/>
                </a:lnTo>
                <a:lnTo>
                  <a:pt x="107497" y="118932"/>
                </a:lnTo>
                <a:lnTo>
                  <a:pt x="143732" y="98166"/>
                </a:lnTo>
                <a:lnTo>
                  <a:pt x="184356" y="79009"/>
                </a:lnTo>
                <a:lnTo>
                  <a:pt x="229054" y="61599"/>
                </a:lnTo>
                <a:lnTo>
                  <a:pt x="277508" y="46070"/>
                </a:lnTo>
                <a:lnTo>
                  <a:pt x="329403" y="32558"/>
                </a:lnTo>
                <a:lnTo>
                  <a:pt x="384423" y="21199"/>
                </a:lnTo>
                <a:lnTo>
                  <a:pt x="442249" y="12127"/>
                </a:lnTo>
                <a:lnTo>
                  <a:pt x="502568" y="5480"/>
                </a:lnTo>
                <a:lnTo>
                  <a:pt x="565060" y="1392"/>
                </a:lnTo>
                <a:lnTo>
                  <a:pt x="629412" y="0"/>
                </a:lnTo>
                <a:lnTo>
                  <a:pt x="693763" y="1392"/>
                </a:lnTo>
                <a:lnTo>
                  <a:pt x="756255" y="5480"/>
                </a:lnTo>
                <a:lnTo>
                  <a:pt x="816574" y="12127"/>
                </a:lnTo>
                <a:lnTo>
                  <a:pt x="874400" y="21199"/>
                </a:lnTo>
                <a:lnTo>
                  <a:pt x="929420" y="32558"/>
                </a:lnTo>
                <a:lnTo>
                  <a:pt x="981315" y="46070"/>
                </a:lnTo>
                <a:lnTo>
                  <a:pt x="1029769" y="61599"/>
                </a:lnTo>
                <a:lnTo>
                  <a:pt x="1074467" y="79009"/>
                </a:lnTo>
                <a:lnTo>
                  <a:pt x="1115091" y="98166"/>
                </a:lnTo>
                <a:lnTo>
                  <a:pt x="1151326" y="118932"/>
                </a:lnTo>
                <a:lnTo>
                  <a:pt x="1182854" y="141173"/>
                </a:lnTo>
                <a:lnTo>
                  <a:pt x="1230525" y="189535"/>
                </a:lnTo>
                <a:lnTo>
                  <a:pt x="1255574" y="242168"/>
                </a:lnTo>
                <a:lnTo>
                  <a:pt x="1258824" y="269748"/>
                </a:lnTo>
                <a:lnTo>
                  <a:pt x="1255574" y="297327"/>
                </a:lnTo>
                <a:lnTo>
                  <a:pt x="1230525" y="349960"/>
                </a:lnTo>
                <a:lnTo>
                  <a:pt x="1182854" y="398322"/>
                </a:lnTo>
                <a:lnTo>
                  <a:pt x="1151326" y="420563"/>
                </a:lnTo>
                <a:lnTo>
                  <a:pt x="1115091" y="441329"/>
                </a:lnTo>
                <a:lnTo>
                  <a:pt x="1074467" y="460486"/>
                </a:lnTo>
                <a:lnTo>
                  <a:pt x="1029769" y="477896"/>
                </a:lnTo>
                <a:lnTo>
                  <a:pt x="981315" y="493425"/>
                </a:lnTo>
                <a:lnTo>
                  <a:pt x="929420" y="506937"/>
                </a:lnTo>
                <a:lnTo>
                  <a:pt x="874400" y="518296"/>
                </a:lnTo>
                <a:lnTo>
                  <a:pt x="816574" y="527368"/>
                </a:lnTo>
                <a:lnTo>
                  <a:pt x="756255" y="534015"/>
                </a:lnTo>
                <a:lnTo>
                  <a:pt x="693763" y="538103"/>
                </a:lnTo>
                <a:lnTo>
                  <a:pt x="629412" y="539496"/>
                </a:lnTo>
                <a:lnTo>
                  <a:pt x="565060" y="538103"/>
                </a:lnTo>
                <a:lnTo>
                  <a:pt x="502568" y="534015"/>
                </a:lnTo>
                <a:lnTo>
                  <a:pt x="442249" y="527368"/>
                </a:lnTo>
                <a:lnTo>
                  <a:pt x="384423" y="518296"/>
                </a:lnTo>
                <a:lnTo>
                  <a:pt x="329403" y="506937"/>
                </a:lnTo>
                <a:lnTo>
                  <a:pt x="277508" y="493425"/>
                </a:lnTo>
                <a:lnTo>
                  <a:pt x="229054" y="477896"/>
                </a:lnTo>
                <a:lnTo>
                  <a:pt x="184356" y="460486"/>
                </a:lnTo>
                <a:lnTo>
                  <a:pt x="143732" y="441329"/>
                </a:lnTo>
                <a:lnTo>
                  <a:pt x="107497" y="420563"/>
                </a:lnTo>
                <a:lnTo>
                  <a:pt x="75969" y="398322"/>
                </a:lnTo>
                <a:lnTo>
                  <a:pt x="28298" y="349960"/>
                </a:lnTo>
                <a:lnTo>
                  <a:pt x="3249" y="297327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15105" y="4290441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姓名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67000" y="3733800"/>
            <a:ext cx="1041400" cy="487680"/>
          </a:xfrm>
          <a:custGeom>
            <a:avLst/>
            <a:gdLst/>
            <a:ahLst/>
            <a:cxnLst/>
            <a:rect l="l" t="t" r="r" b="b"/>
            <a:pathLst>
              <a:path w="1041400" h="487679">
                <a:moveTo>
                  <a:pt x="0" y="0"/>
                </a:moveTo>
                <a:lnTo>
                  <a:pt x="1040891" y="487680"/>
                </a:lnTo>
              </a:path>
            </a:pathLst>
          </a:custGeom>
          <a:ln w="12192">
            <a:solidFill>
              <a:srgbClr val="3399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67000" y="3810000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12192">
            <a:solidFill>
              <a:srgbClr val="3399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09104" y="4293108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629412" y="0"/>
                </a:moveTo>
                <a:lnTo>
                  <a:pt x="565060" y="1392"/>
                </a:lnTo>
                <a:lnTo>
                  <a:pt x="502568" y="5480"/>
                </a:lnTo>
                <a:lnTo>
                  <a:pt x="442249" y="12127"/>
                </a:lnTo>
                <a:lnTo>
                  <a:pt x="384423" y="21199"/>
                </a:lnTo>
                <a:lnTo>
                  <a:pt x="329403" y="32558"/>
                </a:lnTo>
                <a:lnTo>
                  <a:pt x="277508" y="46070"/>
                </a:lnTo>
                <a:lnTo>
                  <a:pt x="229054" y="61599"/>
                </a:lnTo>
                <a:lnTo>
                  <a:pt x="184356" y="79009"/>
                </a:lnTo>
                <a:lnTo>
                  <a:pt x="143732" y="98166"/>
                </a:lnTo>
                <a:lnTo>
                  <a:pt x="107497" y="118932"/>
                </a:lnTo>
                <a:lnTo>
                  <a:pt x="75969" y="141173"/>
                </a:lnTo>
                <a:lnTo>
                  <a:pt x="28298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8" y="349960"/>
                </a:lnTo>
                <a:lnTo>
                  <a:pt x="75969" y="398322"/>
                </a:lnTo>
                <a:lnTo>
                  <a:pt x="107497" y="420563"/>
                </a:lnTo>
                <a:lnTo>
                  <a:pt x="143732" y="441329"/>
                </a:lnTo>
                <a:lnTo>
                  <a:pt x="184356" y="460486"/>
                </a:lnTo>
                <a:lnTo>
                  <a:pt x="229054" y="477896"/>
                </a:lnTo>
                <a:lnTo>
                  <a:pt x="277508" y="493425"/>
                </a:lnTo>
                <a:lnTo>
                  <a:pt x="329403" y="506937"/>
                </a:lnTo>
                <a:lnTo>
                  <a:pt x="384423" y="518296"/>
                </a:lnTo>
                <a:lnTo>
                  <a:pt x="442249" y="527368"/>
                </a:lnTo>
                <a:lnTo>
                  <a:pt x="502568" y="534015"/>
                </a:lnTo>
                <a:lnTo>
                  <a:pt x="565060" y="538103"/>
                </a:lnTo>
                <a:lnTo>
                  <a:pt x="629412" y="539496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2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621016" y="4361815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姓名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24600" y="3352800"/>
            <a:ext cx="1259205" cy="539750"/>
          </a:xfrm>
          <a:prstGeom prst="rect">
            <a:avLst/>
          </a:prstGeom>
          <a:solidFill>
            <a:srgbClr val="33CCCC"/>
          </a:solidFill>
        </p:spPr>
        <p:txBody>
          <a:bodyPr wrap="square" lIns="0" tIns="81280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教师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58000" y="3886200"/>
            <a:ext cx="1027430" cy="407034"/>
          </a:xfrm>
          <a:custGeom>
            <a:avLst/>
            <a:gdLst/>
            <a:ahLst/>
            <a:cxnLst/>
            <a:rect l="l" t="t" r="r" b="b"/>
            <a:pathLst>
              <a:path w="1027429" h="407035">
                <a:moveTo>
                  <a:pt x="0" y="0"/>
                </a:moveTo>
                <a:lnTo>
                  <a:pt x="1027176" y="406907"/>
                </a:lnTo>
              </a:path>
            </a:pathLst>
          </a:custGeom>
          <a:ln w="12192">
            <a:solidFill>
              <a:srgbClr val="33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953000" y="4248911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629412" y="0"/>
                </a:moveTo>
                <a:lnTo>
                  <a:pt x="565060" y="1392"/>
                </a:lnTo>
                <a:lnTo>
                  <a:pt x="502568" y="5480"/>
                </a:lnTo>
                <a:lnTo>
                  <a:pt x="442249" y="12127"/>
                </a:lnTo>
                <a:lnTo>
                  <a:pt x="384423" y="21199"/>
                </a:lnTo>
                <a:lnTo>
                  <a:pt x="329403" y="32558"/>
                </a:lnTo>
                <a:lnTo>
                  <a:pt x="277508" y="46070"/>
                </a:lnTo>
                <a:lnTo>
                  <a:pt x="229054" y="61599"/>
                </a:lnTo>
                <a:lnTo>
                  <a:pt x="184356" y="79009"/>
                </a:lnTo>
                <a:lnTo>
                  <a:pt x="143732" y="98166"/>
                </a:lnTo>
                <a:lnTo>
                  <a:pt x="107497" y="118932"/>
                </a:lnTo>
                <a:lnTo>
                  <a:pt x="75969" y="141173"/>
                </a:lnTo>
                <a:lnTo>
                  <a:pt x="28298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8" y="349960"/>
                </a:lnTo>
                <a:lnTo>
                  <a:pt x="75969" y="398322"/>
                </a:lnTo>
                <a:lnTo>
                  <a:pt x="107497" y="420563"/>
                </a:lnTo>
                <a:lnTo>
                  <a:pt x="143732" y="441329"/>
                </a:lnTo>
                <a:lnTo>
                  <a:pt x="184356" y="460486"/>
                </a:lnTo>
                <a:lnTo>
                  <a:pt x="229054" y="477896"/>
                </a:lnTo>
                <a:lnTo>
                  <a:pt x="277508" y="493425"/>
                </a:lnTo>
                <a:lnTo>
                  <a:pt x="329403" y="506937"/>
                </a:lnTo>
                <a:lnTo>
                  <a:pt x="384423" y="518296"/>
                </a:lnTo>
                <a:lnTo>
                  <a:pt x="442249" y="527368"/>
                </a:lnTo>
                <a:lnTo>
                  <a:pt x="502568" y="534015"/>
                </a:lnTo>
                <a:lnTo>
                  <a:pt x="565060" y="538103"/>
                </a:lnTo>
                <a:lnTo>
                  <a:pt x="629412" y="539495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2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264658" y="4316933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spc="-5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编号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62600" y="3867911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1258824" y="0"/>
                </a:moveTo>
                <a:lnTo>
                  <a:pt x="0" y="539495"/>
                </a:lnTo>
              </a:path>
            </a:pathLst>
          </a:custGeom>
          <a:ln w="12192">
            <a:solidFill>
              <a:srgbClr val="33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48400" y="4953000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629411" y="0"/>
                </a:moveTo>
                <a:lnTo>
                  <a:pt x="565060" y="1392"/>
                </a:lnTo>
                <a:lnTo>
                  <a:pt x="502568" y="5480"/>
                </a:lnTo>
                <a:lnTo>
                  <a:pt x="442249" y="12127"/>
                </a:lnTo>
                <a:lnTo>
                  <a:pt x="384423" y="21199"/>
                </a:lnTo>
                <a:lnTo>
                  <a:pt x="329403" y="32558"/>
                </a:lnTo>
                <a:lnTo>
                  <a:pt x="277508" y="46070"/>
                </a:lnTo>
                <a:lnTo>
                  <a:pt x="229054" y="61599"/>
                </a:lnTo>
                <a:lnTo>
                  <a:pt x="184356" y="79009"/>
                </a:lnTo>
                <a:lnTo>
                  <a:pt x="143732" y="98166"/>
                </a:lnTo>
                <a:lnTo>
                  <a:pt x="107497" y="118932"/>
                </a:lnTo>
                <a:lnTo>
                  <a:pt x="75969" y="141173"/>
                </a:lnTo>
                <a:lnTo>
                  <a:pt x="28298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8" y="349960"/>
                </a:lnTo>
                <a:lnTo>
                  <a:pt x="75969" y="398322"/>
                </a:lnTo>
                <a:lnTo>
                  <a:pt x="107497" y="420563"/>
                </a:lnTo>
                <a:lnTo>
                  <a:pt x="143732" y="441329"/>
                </a:lnTo>
                <a:lnTo>
                  <a:pt x="184356" y="460486"/>
                </a:lnTo>
                <a:lnTo>
                  <a:pt x="229054" y="477896"/>
                </a:lnTo>
                <a:lnTo>
                  <a:pt x="277508" y="493425"/>
                </a:lnTo>
                <a:lnTo>
                  <a:pt x="329403" y="506937"/>
                </a:lnTo>
                <a:lnTo>
                  <a:pt x="384423" y="518296"/>
                </a:lnTo>
                <a:lnTo>
                  <a:pt x="442249" y="527368"/>
                </a:lnTo>
                <a:lnTo>
                  <a:pt x="502568" y="534015"/>
                </a:lnTo>
                <a:lnTo>
                  <a:pt x="565060" y="538103"/>
                </a:lnTo>
                <a:lnTo>
                  <a:pt x="629411" y="539496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1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60311" y="5022037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宋体"/>
                <a:cs typeface="宋体"/>
              </a:rPr>
              <a:t>职称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858000" y="3962400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12192">
            <a:solidFill>
              <a:srgbClr val="33CCC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5180330" cy="167322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例（续）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图（续）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首先画出各个实体（续）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4976" y="3200400"/>
            <a:ext cx="1259205" cy="539750"/>
          </a:xfrm>
          <a:prstGeom prst="rect">
            <a:avLst/>
          </a:prstGeom>
          <a:solidFill>
            <a:srgbClr val="FFCCFF"/>
          </a:solidFill>
          <a:ln w="9144">
            <a:solidFill>
              <a:srgbClr val="80000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学院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62800" y="4876800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629411" y="0"/>
                </a:moveTo>
                <a:lnTo>
                  <a:pt x="565060" y="1392"/>
                </a:lnTo>
                <a:lnTo>
                  <a:pt x="502568" y="5480"/>
                </a:lnTo>
                <a:lnTo>
                  <a:pt x="442249" y="12127"/>
                </a:lnTo>
                <a:lnTo>
                  <a:pt x="384423" y="21199"/>
                </a:lnTo>
                <a:lnTo>
                  <a:pt x="329403" y="32558"/>
                </a:lnTo>
                <a:lnTo>
                  <a:pt x="277508" y="46070"/>
                </a:lnTo>
                <a:lnTo>
                  <a:pt x="229054" y="61599"/>
                </a:lnTo>
                <a:lnTo>
                  <a:pt x="184356" y="79009"/>
                </a:lnTo>
                <a:lnTo>
                  <a:pt x="143732" y="98166"/>
                </a:lnTo>
                <a:lnTo>
                  <a:pt x="107497" y="118932"/>
                </a:lnTo>
                <a:lnTo>
                  <a:pt x="75969" y="141173"/>
                </a:lnTo>
                <a:lnTo>
                  <a:pt x="28298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8" y="349960"/>
                </a:lnTo>
                <a:lnTo>
                  <a:pt x="75969" y="398322"/>
                </a:lnTo>
                <a:lnTo>
                  <a:pt x="107497" y="420563"/>
                </a:lnTo>
                <a:lnTo>
                  <a:pt x="143732" y="441329"/>
                </a:lnTo>
                <a:lnTo>
                  <a:pt x="184356" y="460486"/>
                </a:lnTo>
                <a:lnTo>
                  <a:pt x="229054" y="477896"/>
                </a:lnTo>
                <a:lnTo>
                  <a:pt x="277508" y="493425"/>
                </a:lnTo>
                <a:lnTo>
                  <a:pt x="329403" y="506937"/>
                </a:lnTo>
                <a:lnTo>
                  <a:pt x="384423" y="518296"/>
                </a:lnTo>
                <a:lnTo>
                  <a:pt x="442249" y="527368"/>
                </a:lnTo>
                <a:lnTo>
                  <a:pt x="502568" y="534015"/>
                </a:lnTo>
                <a:lnTo>
                  <a:pt x="565060" y="538103"/>
                </a:lnTo>
                <a:lnTo>
                  <a:pt x="629411" y="539496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1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62800" y="4876800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0" y="269748"/>
                </a:moveTo>
                <a:lnTo>
                  <a:pt x="12788" y="215386"/>
                </a:lnTo>
                <a:lnTo>
                  <a:pt x="49464" y="164752"/>
                </a:lnTo>
                <a:lnTo>
                  <a:pt x="107497" y="118932"/>
                </a:lnTo>
                <a:lnTo>
                  <a:pt x="143732" y="98166"/>
                </a:lnTo>
                <a:lnTo>
                  <a:pt x="184356" y="79009"/>
                </a:lnTo>
                <a:lnTo>
                  <a:pt x="229054" y="61599"/>
                </a:lnTo>
                <a:lnTo>
                  <a:pt x="277508" y="46070"/>
                </a:lnTo>
                <a:lnTo>
                  <a:pt x="329403" y="32558"/>
                </a:lnTo>
                <a:lnTo>
                  <a:pt x="384423" y="21199"/>
                </a:lnTo>
                <a:lnTo>
                  <a:pt x="442249" y="12127"/>
                </a:lnTo>
                <a:lnTo>
                  <a:pt x="502568" y="5480"/>
                </a:lnTo>
                <a:lnTo>
                  <a:pt x="565060" y="1392"/>
                </a:lnTo>
                <a:lnTo>
                  <a:pt x="629411" y="0"/>
                </a:lnTo>
                <a:lnTo>
                  <a:pt x="693763" y="1392"/>
                </a:lnTo>
                <a:lnTo>
                  <a:pt x="756255" y="5480"/>
                </a:lnTo>
                <a:lnTo>
                  <a:pt x="816574" y="12127"/>
                </a:lnTo>
                <a:lnTo>
                  <a:pt x="874400" y="21199"/>
                </a:lnTo>
                <a:lnTo>
                  <a:pt x="929420" y="32558"/>
                </a:lnTo>
                <a:lnTo>
                  <a:pt x="981315" y="46070"/>
                </a:lnTo>
                <a:lnTo>
                  <a:pt x="1029769" y="61599"/>
                </a:lnTo>
                <a:lnTo>
                  <a:pt x="1074467" y="79009"/>
                </a:lnTo>
                <a:lnTo>
                  <a:pt x="1115091" y="98166"/>
                </a:lnTo>
                <a:lnTo>
                  <a:pt x="1151326" y="118932"/>
                </a:lnTo>
                <a:lnTo>
                  <a:pt x="1182854" y="141173"/>
                </a:lnTo>
                <a:lnTo>
                  <a:pt x="1230525" y="189535"/>
                </a:lnTo>
                <a:lnTo>
                  <a:pt x="1255574" y="242168"/>
                </a:lnTo>
                <a:lnTo>
                  <a:pt x="1258824" y="269748"/>
                </a:lnTo>
                <a:lnTo>
                  <a:pt x="1255574" y="297327"/>
                </a:lnTo>
                <a:lnTo>
                  <a:pt x="1230525" y="349960"/>
                </a:lnTo>
                <a:lnTo>
                  <a:pt x="1182854" y="398322"/>
                </a:lnTo>
                <a:lnTo>
                  <a:pt x="1151326" y="420563"/>
                </a:lnTo>
                <a:lnTo>
                  <a:pt x="1115091" y="441329"/>
                </a:lnTo>
                <a:lnTo>
                  <a:pt x="1074467" y="460486"/>
                </a:lnTo>
                <a:lnTo>
                  <a:pt x="1029769" y="477896"/>
                </a:lnTo>
                <a:lnTo>
                  <a:pt x="981315" y="493425"/>
                </a:lnTo>
                <a:lnTo>
                  <a:pt x="929420" y="506937"/>
                </a:lnTo>
                <a:lnTo>
                  <a:pt x="874400" y="518296"/>
                </a:lnTo>
                <a:lnTo>
                  <a:pt x="816574" y="527368"/>
                </a:lnTo>
                <a:lnTo>
                  <a:pt x="756255" y="534015"/>
                </a:lnTo>
                <a:lnTo>
                  <a:pt x="693763" y="538103"/>
                </a:lnTo>
                <a:lnTo>
                  <a:pt x="629411" y="539496"/>
                </a:lnTo>
                <a:lnTo>
                  <a:pt x="565060" y="538103"/>
                </a:lnTo>
                <a:lnTo>
                  <a:pt x="502568" y="534015"/>
                </a:lnTo>
                <a:lnTo>
                  <a:pt x="442249" y="527368"/>
                </a:lnTo>
                <a:lnTo>
                  <a:pt x="384423" y="518296"/>
                </a:lnTo>
                <a:lnTo>
                  <a:pt x="329403" y="506937"/>
                </a:lnTo>
                <a:lnTo>
                  <a:pt x="277508" y="493425"/>
                </a:lnTo>
                <a:lnTo>
                  <a:pt x="229054" y="477896"/>
                </a:lnTo>
                <a:lnTo>
                  <a:pt x="184356" y="460486"/>
                </a:lnTo>
                <a:lnTo>
                  <a:pt x="143732" y="441329"/>
                </a:lnTo>
                <a:lnTo>
                  <a:pt x="107497" y="420563"/>
                </a:lnTo>
                <a:lnTo>
                  <a:pt x="75969" y="398322"/>
                </a:lnTo>
                <a:lnTo>
                  <a:pt x="28298" y="349960"/>
                </a:lnTo>
                <a:lnTo>
                  <a:pt x="3249" y="297327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22311" y="4945837"/>
            <a:ext cx="9448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宋体"/>
                <a:cs typeface="宋体"/>
              </a:rPr>
              <a:t>院名称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10200" y="4876800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629412" y="0"/>
                </a:moveTo>
                <a:lnTo>
                  <a:pt x="565060" y="1392"/>
                </a:lnTo>
                <a:lnTo>
                  <a:pt x="502568" y="5480"/>
                </a:lnTo>
                <a:lnTo>
                  <a:pt x="442249" y="12127"/>
                </a:lnTo>
                <a:lnTo>
                  <a:pt x="384423" y="21199"/>
                </a:lnTo>
                <a:lnTo>
                  <a:pt x="329403" y="32558"/>
                </a:lnTo>
                <a:lnTo>
                  <a:pt x="277508" y="46070"/>
                </a:lnTo>
                <a:lnTo>
                  <a:pt x="229054" y="61599"/>
                </a:lnTo>
                <a:lnTo>
                  <a:pt x="184356" y="79009"/>
                </a:lnTo>
                <a:lnTo>
                  <a:pt x="143732" y="98166"/>
                </a:lnTo>
                <a:lnTo>
                  <a:pt x="107497" y="118932"/>
                </a:lnTo>
                <a:lnTo>
                  <a:pt x="75969" y="141173"/>
                </a:lnTo>
                <a:lnTo>
                  <a:pt x="28298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8" y="349960"/>
                </a:lnTo>
                <a:lnTo>
                  <a:pt x="75969" y="398322"/>
                </a:lnTo>
                <a:lnTo>
                  <a:pt x="107497" y="420563"/>
                </a:lnTo>
                <a:lnTo>
                  <a:pt x="143732" y="441329"/>
                </a:lnTo>
                <a:lnTo>
                  <a:pt x="184356" y="460486"/>
                </a:lnTo>
                <a:lnTo>
                  <a:pt x="229054" y="477896"/>
                </a:lnTo>
                <a:lnTo>
                  <a:pt x="277508" y="493425"/>
                </a:lnTo>
                <a:lnTo>
                  <a:pt x="329403" y="506937"/>
                </a:lnTo>
                <a:lnTo>
                  <a:pt x="384423" y="518296"/>
                </a:lnTo>
                <a:lnTo>
                  <a:pt x="442249" y="527368"/>
                </a:lnTo>
                <a:lnTo>
                  <a:pt x="502568" y="534015"/>
                </a:lnTo>
                <a:lnTo>
                  <a:pt x="565060" y="538103"/>
                </a:lnTo>
                <a:lnTo>
                  <a:pt x="629412" y="539496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2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10200" y="4876800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0" y="269748"/>
                </a:moveTo>
                <a:lnTo>
                  <a:pt x="12788" y="215386"/>
                </a:lnTo>
                <a:lnTo>
                  <a:pt x="49464" y="164752"/>
                </a:lnTo>
                <a:lnTo>
                  <a:pt x="107497" y="118932"/>
                </a:lnTo>
                <a:lnTo>
                  <a:pt x="143732" y="98166"/>
                </a:lnTo>
                <a:lnTo>
                  <a:pt x="184356" y="79009"/>
                </a:lnTo>
                <a:lnTo>
                  <a:pt x="229054" y="61599"/>
                </a:lnTo>
                <a:lnTo>
                  <a:pt x="277508" y="46070"/>
                </a:lnTo>
                <a:lnTo>
                  <a:pt x="329403" y="32558"/>
                </a:lnTo>
                <a:lnTo>
                  <a:pt x="384423" y="21199"/>
                </a:lnTo>
                <a:lnTo>
                  <a:pt x="442249" y="12127"/>
                </a:lnTo>
                <a:lnTo>
                  <a:pt x="502568" y="5480"/>
                </a:lnTo>
                <a:lnTo>
                  <a:pt x="565060" y="1392"/>
                </a:lnTo>
                <a:lnTo>
                  <a:pt x="629412" y="0"/>
                </a:lnTo>
                <a:lnTo>
                  <a:pt x="693763" y="1392"/>
                </a:lnTo>
                <a:lnTo>
                  <a:pt x="756255" y="5480"/>
                </a:lnTo>
                <a:lnTo>
                  <a:pt x="816574" y="12127"/>
                </a:lnTo>
                <a:lnTo>
                  <a:pt x="874400" y="21199"/>
                </a:lnTo>
                <a:lnTo>
                  <a:pt x="929420" y="32558"/>
                </a:lnTo>
                <a:lnTo>
                  <a:pt x="981315" y="46070"/>
                </a:lnTo>
                <a:lnTo>
                  <a:pt x="1029769" y="61599"/>
                </a:lnTo>
                <a:lnTo>
                  <a:pt x="1074467" y="79009"/>
                </a:lnTo>
                <a:lnTo>
                  <a:pt x="1115091" y="98166"/>
                </a:lnTo>
                <a:lnTo>
                  <a:pt x="1151326" y="118932"/>
                </a:lnTo>
                <a:lnTo>
                  <a:pt x="1182854" y="141173"/>
                </a:lnTo>
                <a:lnTo>
                  <a:pt x="1230525" y="189535"/>
                </a:lnTo>
                <a:lnTo>
                  <a:pt x="1255574" y="242168"/>
                </a:lnTo>
                <a:lnTo>
                  <a:pt x="1258824" y="269748"/>
                </a:lnTo>
                <a:lnTo>
                  <a:pt x="1255574" y="297327"/>
                </a:lnTo>
                <a:lnTo>
                  <a:pt x="1230525" y="349960"/>
                </a:lnTo>
                <a:lnTo>
                  <a:pt x="1182854" y="398322"/>
                </a:lnTo>
                <a:lnTo>
                  <a:pt x="1151326" y="420563"/>
                </a:lnTo>
                <a:lnTo>
                  <a:pt x="1115091" y="441329"/>
                </a:lnTo>
                <a:lnTo>
                  <a:pt x="1074467" y="460486"/>
                </a:lnTo>
                <a:lnTo>
                  <a:pt x="1029769" y="477896"/>
                </a:lnTo>
                <a:lnTo>
                  <a:pt x="981315" y="493425"/>
                </a:lnTo>
                <a:lnTo>
                  <a:pt x="929420" y="506937"/>
                </a:lnTo>
                <a:lnTo>
                  <a:pt x="874400" y="518296"/>
                </a:lnTo>
                <a:lnTo>
                  <a:pt x="816574" y="527368"/>
                </a:lnTo>
                <a:lnTo>
                  <a:pt x="756255" y="534015"/>
                </a:lnTo>
                <a:lnTo>
                  <a:pt x="693763" y="538103"/>
                </a:lnTo>
                <a:lnTo>
                  <a:pt x="629412" y="539496"/>
                </a:lnTo>
                <a:lnTo>
                  <a:pt x="565060" y="538103"/>
                </a:lnTo>
                <a:lnTo>
                  <a:pt x="502568" y="534015"/>
                </a:lnTo>
                <a:lnTo>
                  <a:pt x="442249" y="527368"/>
                </a:lnTo>
                <a:lnTo>
                  <a:pt x="384423" y="518296"/>
                </a:lnTo>
                <a:lnTo>
                  <a:pt x="329403" y="506937"/>
                </a:lnTo>
                <a:lnTo>
                  <a:pt x="277508" y="493425"/>
                </a:lnTo>
                <a:lnTo>
                  <a:pt x="229054" y="477896"/>
                </a:lnTo>
                <a:lnTo>
                  <a:pt x="184356" y="460486"/>
                </a:lnTo>
                <a:lnTo>
                  <a:pt x="143732" y="441329"/>
                </a:lnTo>
                <a:lnTo>
                  <a:pt x="107497" y="420563"/>
                </a:lnTo>
                <a:lnTo>
                  <a:pt x="75969" y="398322"/>
                </a:lnTo>
                <a:lnTo>
                  <a:pt x="28298" y="349960"/>
                </a:lnTo>
                <a:lnTo>
                  <a:pt x="3249" y="297327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569458" y="4945837"/>
            <a:ext cx="9448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spc="-5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院代号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19800" y="3733800"/>
            <a:ext cx="838200" cy="1143000"/>
          </a:xfrm>
          <a:custGeom>
            <a:avLst/>
            <a:gdLst/>
            <a:ahLst/>
            <a:cxnLst/>
            <a:rect l="l" t="t" r="r" b="b"/>
            <a:pathLst>
              <a:path w="838200" h="1143000">
                <a:moveTo>
                  <a:pt x="0" y="1143000"/>
                </a:moveTo>
                <a:lnTo>
                  <a:pt x="838200" y="0"/>
                </a:lnTo>
              </a:path>
            </a:pathLst>
          </a:custGeom>
          <a:ln w="1219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34200" y="3733800"/>
            <a:ext cx="838200" cy="1143000"/>
          </a:xfrm>
          <a:custGeom>
            <a:avLst/>
            <a:gdLst/>
            <a:ahLst/>
            <a:cxnLst/>
            <a:rect l="l" t="t" r="r" b="b"/>
            <a:pathLst>
              <a:path w="838200" h="1143000">
                <a:moveTo>
                  <a:pt x="0" y="0"/>
                </a:moveTo>
                <a:lnTo>
                  <a:pt x="838200" y="1143000"/>
                </a:lnTo>
              </a:path>
            </a:pathLst>
          </a:custGeom>
          <a:ln w="1219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81200" y="3200400"/>
            <a:ext cx="1259205" cy="539750"/>
          </a:xfrm>
          <a:prstGeom prst="rect">
            <a:avLst/>
          </a:prstGeom>
          <a:solidFill>
            <a:srgbClr val="99CC00"/>
          </a:solidFill>
        </p:spPr>
        <p:txBody>
          <a:bodyPr wrap="square" lIns="0" tIns="81280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课程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03448" y="4221479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4" h="539750">
                <a:moveTo>
                  <a:pt x="629412" y="0"/>
                </a:moveTo>
                <a:lnTo>
                  <a:pt x="565060" y="1392"/>
                </a:lnTo>
                <a:lnTo>
                  <a:pt x="502568" y="5480"/>
                </a:lnTo>
                <a:lnTo>
                  <a:pt x="442249" y="12127"/>
                </a:lnTo>
                <a:lnTo>
                  <a:pt x="384423" y="21199"/>
                </a:lnTo>
                <a:lnTo>
                  <a:pt x="329403" y="32558"/>
                </a:lnTo>
                <a:lnTo>
                  <a:pt x="277508" y="46070"/>
                </a:lnTo>
                <a:lnTo>
                  <a:pt x="229054" y="61599"/>
                </a:lnTo>
                <a:lnTo>
                  <a:pt x="184356" y="79009"/>
                </a:lnTo>
                <a:lnTo>
                  <a:pt x="143732" y="98166"/>
                </a:lnTo>
                <a:lnTo>
                  <a:pt x="107497" y="118932"/>
                </a:lnTo>
                <a:lnTo>
                  <a:pt x="75969" y="141173"/>
                </a:lnTo>
                <a:lnTo>
                  <a:pt x="28298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8" y="349960"/>
                </a:lnTo>
                <a:lnTo>
                  <a:pt x="75969" y="398322"/>
                </a:lnTo>
                <a:lnTo>
                  <a:pt x="107497" y="420563"/>
                </a:lnTo>
                <a:lnTo>
                  <a:pt x="143732" y="441329"/>
                </a:lnTo>
                <a:lnTo>
                  <a:pt x="184356" y="460486"/>
                </a:lnTo>
                <a:lnTo>
                  <a:pt x="229054" y="477896"/>
                </a:lnTo>
                <a:lnTo>
                  <a:pt x="277508" y="493425"/>
                </a:lnTo>
                <a:lnTo>
                  <a:pt x="329403" y="506937"/>
                </a:lnTo>
                <a:lnTo>
                  <a:pt x="384423" y="518296"/>
                </a:lnTo>
                <a:lnTo>
                  <a:pt x="442249" y="527368"/>
                </a:lnTo>
                <a:lnTo>
                  <a:pt x="502568" y="534015"/>
                </a:lnTo>
                <a:lnTo>
                  <a:pt x="565060" y="538103"/>
                </a:lnTo>
                <a:lnTo>
                  <a:pt x="629412" y="539496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2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62705" y="4290441"/>
            <a:ext cx="944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课程名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2155" y="5084064"/>
            <a:ext cx="1259205" cy="541020"/>
          </a:xfrm>
          <a:custGeom>
            <a:avLst/>
            <a:gdLst/>
            <a:ahLst/>
            <a:cxnLst/>
            <a:rect l="l" t="t" r="r" b="b"/>
            <a:pathLst>
              <a:path w="1259204" h="541020">
                <a:moveTo>
                  <a:pt x="629411" y="0"/>
                </a:moveTo>
                <a:lnTo>
                  <a:pt x="565060" y="1397"/>
                </a:lnTo>
                <a:lnTo>
                  <a:pt x="502568" y="5497"/>
                </a:lnTo>
                <a:lnTo>
                  <a:pt x="442249" y="12165"/>
                </a:lnTo>
                <a:lnTo>
                  <a:pt x="384423" y="21264"/>
                </a:lnTo>
                <a:lnTo>
                  <a:pt x="329403" y="32658"/>
                </a:lnTo>
                <a:lnTo>
                  <a:pt x="277508" y="46211"/>
                </a:lnTo>
                <a:lnTo>
                  <a:pt x="229054" y="61786"/>
                </a:lnTo>
                <a:lnTo>
                  <a:pt x="184356" y="79248"/>
                </a:lnTo>
                <a:lnTo>
                  <a:pt x="143732" y="98459"/>
                </a:lnTo>
                <a:lnTo>
                  <a:pt x="107497" y="119285"/>
                </a:lnTo>
                <a:lnTo>
                  <a:pt x="75969" y="141589"/>
                </a:lnTo>
                <a:lnTo>
                  <a:pt x="28298" y="190085"/>
                </a:lnTo>
                <a:lnTo>
                  <a:pt x="3249" y="242859"/>
                </a:lnTo>
                <a:lnTo>
                  <a:pt x="0" y="270510"/>
                </a:lnTo>
                <a:lnTo>
                  <a:pt x="3249" y="298160"/>
                </a:lnTo>
                <a:lnTo>
                  <a:pt x="28298" y="350934"/>
                </a:lnTo>
                <a:lnTo>
                  <a:pt x="75969" y="399430"/>
                </a:lnTo>
                <a:lnTo>
                  <a:pt x="107497" y="421734"/>
                </a:lnTo>
                <a:lnTo>
                  <a:pt x="143732" y="442560"/>
                </a:lnTo>
                <a:lnTo>
                  <a:pt x="184356" y="461772"/>
                </a:lnTo>
                <a:lnTo>
                  <a:pt x="229054" y="479233"/>
                </a:lnTo>
                <a:lnTo>
                  <a:pt x="277508" y="494808"/>
                </a:lnTo>
                <a:lnTo>
                  <a:pt x="329403" y="508361"/>
                </a:lnTo>
                <a:lnTo>
                  <a:pt x="384423" y="519755"/>
                </a:lnTo>
                <a:lnTo>
                  <a:pt x="442249" y="528854"/>
                </a:lnTo>
                <a:lnTo>
                  <a:pt x="502568" y="535522"/>
                </a:lnTo>
                <a:lnTo>
                  <a:pt x="565060" y="539622"/>
                </a:lnTo>
                <a:lnTo>
                  <a:pt x="629411" y="541020"/>
                </a:lnTo>
                <a:lnTo>
                  <a:pt x="693763" y="539622"/>
                </a:lnTo>
                <a:lnTo>
                  <a:pt x="756255" y="535522"/>
                </a:lnTo>
                <a:lnTo>
                  <a:pt x="816574" y="528854"/>
                </a:lnTo>
                <a:lnTo>
                  <a:pt x="874400" y="519755"/>
                </a:lnTo>
                <a:lnTo>
                  <a:pt x="929420" y="508361"/>
                </a:lnTo>
                <a:lnTo>
                  <a:pt x="981315" y="494808"/>
                </a:lnTo>
                <a:lnTo>
                  <a:pt x="1029769" y="479233"/>
                </a:lnTo>
                <a:lnTo>
                  <a:pt x="1074467" y="461772"/>
                </a:lnTo>
                <a:lnTo>
                  <a:pt x="1115091" y="442560"/>
                </a:lnTo>
                <a:lnTo>
                  <a:pt x="1151326" y="421734"/>
                </a:lnTo>
                <a:lnTo>
                  <a:pt x="1182854" y="399430"/>
                </a:lnTo>
                <a:lnTo>
                  <a:pt x="1230525" y="350934"/>
                </a:lnTo>
                <a:lnTo>
                  <a:pt x="1255574" y="298160"/>
                </a:lnTo>
                <a:lnTo>
                  <a:pt x="1258823" y="270510"/>
                </a:lnTo>
                <a:lnTo>
                  <a:pt x="1255574" y="242859"/>
                </a:lnTo>
                <a:lnTo>
                  <a:pt x="1230525" y="190085"/>
                </a:lnTo>
                <a:lnTo>
                  <a:pt x="1182854" y="141589"/>
                </a:lnTo>
                <a:lnTo>
                  <a:pt x="1151326" y="119285"/>
                </a:lnTo>
                <a:lnTo>
                  <a:pt x="1115091" y="98459"/>
                </a:lnTo>
                <a:lnTo>
                  <a:pt x="1074467" y="79248"/>
                </a:lnTo>
                <a:lnTo>
                  <a:pt x="1029769" y="61786"/>
                </a:lnTo>
                <a:lnTo>
                  <a:pt x="981315" y="46211"/>
                </a:lnTo>
                <a:lnTo>
                  <a:pt x="929420" y="32658"/>
                </a:lnTo>
                <a:lnTo>
                  <a:pt x="874400" y="21264"/>
                </a:lnTo>
                <a:lnTo>
                  <a:pt x="816574" y="12165"/>
                </a:lnTo>
                <a:lnTo>
                  <a:pt x="756255" y="5497"/>
                </a:lnTo>
                <a:lnTo>
                  <a:pt x="693763" y="1397"/>
                </a:lnTo>
                <a:lnTo>
                  <a:pt x="629411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083179" y="5154295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学分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4276" y="4221479"/>
            <a:ext cx="1259205" cy="539750"/>
          </a:xfrm>
          <a:custGeom>
            <a:avLst/>
            <a:gdLst/>
            <a:ahLst/>
            <a:cxnLst/>
            <a:rect l="l" t="t" r="r" b="b"/>
            <a:pathLst>
              <a:path w="1259205" h="539750">
                <a:moveTo>
                  <a:pt x="629411" y="0"/>
                </a:moveTo>
                <a:lnTo>
                  <a:pt x="565058" y="1392"/>
                </a:lnTo>
                <a:lnTo>
                  <a:pt x="502564" y="5480"/>
                </a:lnTo>
                <a:lnTo>
                  <a:pt x="442245" y="12127"/>
                </a:lnTo>
                <a:lnTo>
                  <a:pt x="384417" y="21199"/>
                </a:lnTo>
                <a:lnTo>
                  <a:pt x="329398" y="32558"/>
                </a:lnTo>
                <a:lnTo>
                  <a:pt x="277503" y="46070"/>
                </a:lnTo>
                <a:lnTo>
                  <a:pt x="229048" y="61599"/>
                </a:lnTo>
                <a:lnTo>
                  <a:pt x="184351" y="79009"/>
                </a:lnTo>
                <a:lnTo>
                  <a:pt x="143728" y="98166"/>
                </a:lnTo>
                <a:lnTo>
                  <a:pt x="107494" y="118932"/>
                </a:lnTo>
                <a:lnTo>
                  <a:pt x="75967" y="141173"/>
                </a:lnTo>
                <a:lnTo>
                  <a:pt x="28297" y="189535"/>
                </a:lnTo>
                <a:lnTo>
                  <a:pt x="3249" y="242168"/>
                </a:lnTo>
                <a:lnTo>
                  <a:pt x="0" y="269748"/>
                </a:lnTo>
                <a:lnTo>
                  <a:pt x="3249" y="297327"/>
                </a:lnTo>
                <a:lnTo>
                  <a:pt x="28297" y="349960"/>
                </a:lnTo>
                <a:lnTo>
                  <a:pt x="75967" y="398322"/>
                </a:lnTo>
                <a:lnTo>
                  <a:pt x="107494" y="420563"/>
                </a:lnTo>
                <a:lnTo>
                  <a:pt x="143728" y="441329"/>
                </a:lnTo>
                <a:lnTo>
                  <a:pt x="184351" y="460486"/>
                </a:lnTo>
                <a:lnTo>
                  <a:pt x="229048" y="477896"/>
                </a:lnTo>
                <a:lnTo>
                  <a:pt x="277503" y="493425"/>
                </a:lnTo>
                <a:lnTo>
                  <a:pt x="329398" y="506937"/>
                </a:lnTo>
                <a:lnTo>
                  <a:pt x="384417" y="518296"/>
                </a:lnTo>
                <a:lnTo>
                  <a:pt x="442245" y="527368"/>
                </a:lnTo>
                <a:lnTo>
                  <a:pt x="502564" y="534015"/>
                </a:lnTo>
                <a:lnTo>
                  <a:pt x="565058" y="538103"/>
                </a:lnTo>
                <a:lnTo>
                  <a:pt x="629411" y="539496"/>
                </a:lnTo>
                <a:lnTo>
                  <a:pt x="693763" y="538103"/>
                </a:lnTo>
                <a:lnTo>
                  <a:pt x="756255" y="534015"/>
                </a:lnTo>
                <a:lnTo>
                  <a:pt x="816574" y="527368"/>
                </a:lnTo>
                <a:lnTo>
                  <a:pt x="874400" y="518296"/>
                </a:lnTo>
                <a:lnTo>
                  <a:pt x="929420" y="506937"/>
                </a:lnTo>
                <a:lnTo>
                  <a:pt x="981315" y="493425"/>
                </a:lnTo>
                <a:lnTo>
                  <a:pt x="1029769" y="477896"/>
                </a:lnTo>
                <a:lnTo>
                  <a:pt x="1074467" y="460486"/>
                </a:lnTo>
                <a:lnTo>
                  <a:pt x="1115091" y="441329"/>
                </a:lnTo>
                <a:lnTo>
                  <a:pt x="1151326" y="420563"/>
                </a:lnTo>
                <a:lnTo>
                  <a:pt x="1182854" y="398322"/>
                </a:lnTo>
                <a:lnTo>
                  <a:pt x="1230525" y="349960"/>
                </a:lnTo>
                <a:lnTo>
                  <a:pt x="1255574" y="297327"/>
                </a:lnTo>
                <a:lnTo>
                  <a:pt x="1258824" y="269748"/>
                </a:lnTo>
                <a:lnTo>
                  <a:pt x="1255574" y="242168"/>
                </a:lnTo>
                <a:lnTo>
                  <a:pt x="1230525" y="189535"/>
                </a:lnTo>
                <a:lnTo>
                  <a:pt x="1182854" y="141173"/>
                </a:lnTo>
                <a:lnTo>
                  <a:pt x="1151326" y="118932"/>
                </a:lnTo>
                <a:lnTo>
                  <a:pt x="1115091" y="98166"/>
                </a:lnTo>
                <a:lnTo>
                  <a:pt x="1074467" y="79009"/>
                </a:lnTo>
                <a:lnTo>
                  <a:pt x="1029769" y="61599"/>
                </a:lnTo>
                <a:lnTo>
                  <a:pt x="981315" y="46070"/>
                </a:lnTo>
                <a:lnTo>
                  <a:pt x="929420" y="32558"/>
                </a:lnTo>
                <a:lnTo>
                  <a:pt x="874400" y="21199"/>
                </a:lnTo>
                <a:lnTo>
                  <a:pt x="816574" y="12127"/>
                </a:lnTo>
                <a:lnTo>
                  <a:pt x="756255" y="5480"/>
                </a:lnTo>
                <a:lnTo>
                  <a:pt x="693763" y="1392"/>
                </a:lnTo>
                <a:lnTo>
                  <a:pt x="629411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95273" y="4290441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编号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03603" y="3733800"/>
            <a:ext cx="1187450" cy="487680"/>
          </a:xfrm>
          <a:custGeom>
            <a:avLst/>
            <a:gdLst/>
            <a:ahLst/>
            <a:cxnLst/>
            <a:rect l="l" t="t" r="r" b="b"/>
            <a:pathLst>
              <a:path w="1187450" h="487679">
                <a:moveTo>
                  <a:pt x="0" y="487680"/>
                </a:moveTo>
                <a:lnTo>
                  <a:pt x="1187196" y="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90800" y="3733800"/>
            <a:ext cx="1188720" cy="487680"/>
          </a:xfrm>
          <a:custGeom>
            <a:avLst/>
            <a:gdLst/>
            <a:ahLst/>
            <a:cxnLst/>
            <a:rect l="l" t="t" r="r" b="b"/>
            <a:pathLst>
              <a:path w="1188720" h="487679">
                <a:moveTo>
                  <a:pt x="0" y="0"/>
                </a:moveTo>
                <a:lnTo>
                  <a:pt x="1188720" y="48768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90800" y="3733800"/>
            <a:ext cx="757555" cy="1350645"/>
          </a:xfrm>
          <a:custGeom>
            <a:avLst/>
            <a:gdLst/>
            <a:ahLst/>
            <a:cxnLst/>
            <a:rect l="l" t="t" r="r" b="b"/>
            <a:pathLst>
              <a:path w="757554" h="1350645">
                <a:moveTo>
                  <a:pt x="757427" y="1350264"/>
                </a:moveTo>
                <a:lnTo>
                  <a:pt x="0" y="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58824" y="5084064"/>
            <a:ext cx="1259205" cy="541020"/>
          </a:xfrm>
          <a:custGeom>
            <a:avLst/>
            <a:gdLst/>
            <a:ahLst/>
            <a:cxnLst/>
            <a:rect l="l" t="t" r="r" b="b"/>
            <a:pathLst>
              <a:path w="1259205" h="541020">
                <a:moveTo>
                  <a:pt x="629412" y="0"/>
                </a:moveTo>
                <a:lnTo>
                  <a:pt x="565060" y="1397"/>
                </a:lnTo>
                <a:lnTo>
                  <a:pt x="502568" y="5497"/>
                </a:lnTo>
                <a:lnTo>
                  <a:pt x="442249" y="12165"/>
                </a:lnTo>
                <a:lnTo>
                  <a:pt x="384423" y="21264"/>
                </a:lnTo>
                <a:lnTo>
                  <a:pt x="329403" y="32658"/>
                </a:lnTo>
                <a:lnTo>
                  <a:pt x="277508" y="46211"/>
                </a:lnTo>
                <a:lnTo>
                  <a:pt x="229054" y="61786"/>
                </a:lnTo>
                <a:lnTo>
                  <a:pt x="184356" y="79248"/>
                </a:lnTo>
                <a:lnTo>
                  <a:pt x="143732" y="98459"/>
                </a:lnTo>
                <a:lnTo>
                  <a:pt x="107497" y="119285"/>
                </a:lnTo>
                <a:lnTo>
                  <a:pt x="75969" y="141589"/>
                </a:lnTo>
                <a:lnTo>
                  <a:pt x="28298" y="190085"/>
                </a:lnTo>
                <a:lnTo>
                  <a:pt x="3249" y="242859"/>
                </a:lnTo>
                <a:lnTo>
                  <a:pt x="0" y="270510"/>
                </a:lnTo>
                <a:lnTo>
                  <a:pt x="3249" y="298160"/>
                </a:lnTo>
                <a:lnTo>
                  <a:pt x="28298" y="350934"/>
                </a:lnTo>
                <a:lnTo>
                  <a:pt x="75969" y="399430"/>
                </a:lnTo>
                <a:lnTo>
                  <a:pt x="107497" y="421734"/>
                </a:lnTo>
                <a:lnTo>
                  <a:pt x="143732" y="442560"/>
                </a:lnTo>
                <a:lnTo>
                  <a:pt x="184356" y="461772"/>
                </a:lnTo>
                <a:lnTo>
                  <a:pt x="229054" y="479233"/>
                </a:lnTo>
                <a:lnTo>
                  <a:pt x="277508" y="494808"/>
                </a:lnTo>
                <a:lnTo>
                  <a:pt x="329403" y="508361"/>
                </a:lnTo>
                <a:lnTo>
                  <a:pt x="384423" y="519755"/>
                </a:lnTo>
                <a:lnTo>
                  <a:pt x="442249" y="528854"/>
                </a:lnTo>
                <a:lnTo>
                  <a:pt x="502568" y="535522"/>
                </a:lnTo>
                <a:lnTo>
                  <a:pt x="565060" y="539622"/>
                </a:lnTo>
                <a:lnTo>
                  <a:pt x="629412" y="541020"/>
                </a:lnTo>
                <a:lnTo>
                  <a:pt x="693763" y="539622"/>
                </a:lnTo>
                <a:lnTo>
                  <a:pt x="756255" y="535522"/>
                </a:lnTo>
                <a:lnTo>
                  <a:pt x="816574" y="528854"/>
                </a:lnTo>
                <a:lnTo>
                  <a:pt x="874400" y="519755"/>
                </a:lnTo>
                <a:lnTo>
                  <a:pt x="929420" y="508361"/>
                </a:lnTo>
                <a:lnTo>
                  <a:pt x="981315" y="494808"/>
                </a:lnTo>
                <a:lnTo>
                  <a:pt x="1029769" y="479233"/>
                </a:lnTo>
                <a:lnTo>
                  <a:pt x="1074467" y="461772"/>
                </a:lnTo>
                <a:lnTo>
                  <a:pt x="1115091" y="442560"/>
                </a:lnTo>
                <a:lnTo>
                  <a:pt x="1151326" y="421734"/>
                </a:lnTo>
                <a:lnTo>
                  <a:pt x="1182854" y="399430"/>
                </a:lnTo>
                <a:lnTo>
                  <a:pt x="1230525" y="350934"/>
                </a:lnTo>
                <a:lnTo>
                  <a:pt x="1255574" y="298160"/>
                </a:lnTo>
                <a:lnTo>
                  <a:pt x="1258824" y="270510"/>
                </a:lnTo>
                <a:lnTo>
                  <a:pt x="1255574" y="242859"/>
                </a:lnTo>
                <a:lnTo>
                  <a:pt x="1230525" y="190085"/>
                </a:lnTo>
                <a:lnTo>
                  <a:pt x="1182854" y="141589"/>
                </a:lnTo>
                <a:lnTo>
                  <a:pt x="1151326" y="119285"/>
                </a:lnTo>
                <a:lnTo>
                  <a:pt x="1115091" y="98459"/>
                </a:lnTo>
                <a:lnTo>
                  <a:pt x="1074467" y="79248"/>
                </a:lnTo>
                <a:lnTo>
                  <a:pt x="1029769" y="61786"/>
                </a:lnTo>
                <a:lnTo>
                  <a:pt x="981315" y="46211"/>
                </a:lnTo>
                <a:lnTo>
                  <a:pt x="929420" y="32658"/>
                </a:lnTo>
                <a:lnTo>
                  <a:pt x="874400" y="21264"/>
                </a:lnTo>
                <a:lnTo>
                  <a:pt x="816574" y="12165"/>
                </a:lnTo>
                <a:lnTo>
                  <a:pt x="756255" y="5497"/>
                </a:lnTo>
                <a:lnTo>
                  <a:pt x="693763" y="1397"/>
                </a:lnTo>
                <a:lnTo>
                  <a:pt x="629412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569847" y="5154295"/>
            <a:ext cx="638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类型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08048" y="3717035"/>
            <a:ext cx="719455" cy="1367155"/>
          </a:xfrm>
          <a:custGeom>
            <a:avLst/>
            <a:gdLst/>
            <a:ahLst/>
            <a:cxnLst/>
            <a:rect l="l" t="t" r="r" b="b"/>
            <a:pathLst>
              <a:path w="719455" h="1367154">
                <a:moveTo>
                  <a:pt x="719327" y="0"/>
                </a:moveTo>
                <a:lnTo>
                  <a:pt x="0" y="1367027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673975" cy="211391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例（续）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图（续）</a:t>
            </a:r>
            <a:endParaRPr sz="3000">
              <a:latin typeface="黑体"/>
              <a:cs typeface="黑体"/>
            </a:endParaRPr>
          </a:p>
          <a:p>
            <a:pPr algn="ctr" marL="9144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再画出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各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个实体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间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的联系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忽略了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属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性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algn="ctr" marR="605790">
              <a:lnSpc>
                <a:spcPct val="100000"/>
              </a:lnSpc>
              <a:spcBef>
                <a:spcPts val="595"/>
              </a:spcBef>
            </a:pPr>
            <a:r>
              <a:rPr dirty="0" sz="2400" spc="-5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该图存在疑问和不明确的地方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0" y="3340608"/>
            <a:ext cx="901065" cy="539750"/>
          </a:xfrm>
          <a:custGeom>
            <a:avLst/>
            <a:gdLst/>
            <a:ahLst/>
            <a:cxnLst/>
            <a:rect l="l" t="t" r="r" b="b"/>
            <a:pathLst>
              <a:path w="901065" h="539750">
                <a:moveTo>
                  <a:pt x="0" y="539495"/>
                </a:moveTo>
                <a:lnTo>
                  <a:pt x="900683" y="539495"/>
                </a:lnTo>
                <a:lnTo>
                  <a:pt x="900683" y="0"/>
                </a:lnTo>
                <a:lnTo>
                  <a:pt x="0" y="0"/>
                </a:lnTo>
                <a:lnTo>
                  <a:pt x="0" y="539495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48400" y="3340608"/>
            <a:ext cx="901065" cy="539750"/>
          </a:xfrm>
          <a:prstGeom prst="rect">
            <a:avLst/>
          </a:prstGeom>
          <a:ln w="9144">
            <a:solidFill>
              <a:srgbClr val="000066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课程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5400" y="5391911"/>
            <a:ext cx="901065" cy="539750"/>
          </a:xfrm>
          <a:prstGeom prst="rect">
            <a:avLst/>
          </a:prstGeom>
          <a:solidFill>
            <a:srgbClr val="33CCCC"/>
          </a:solidFill>
          <a:ln w="9144">
            <a:solidFill>
              <a:srgbClr val="000066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教师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8800" y="5315711"/>
            <a:ext cx="901065" cy="539750"/>
          </a:xfrm>
          <a:custGeom>
            <a:avLst/>
            <a:gdLst/>
            <a:ahLst/>
            <a:cxnLst/>
            <a:rect l="l" t="t" r="r" b="b"/>
            <a:pathLst>
              <a:path w="901064" h="539750">
                <a:moveTo>
                  <a:pt x="0" y="539496"/>
                </a:moveTo>
                <a:lnTo>
                  <a:pt x="900684" y="539496"/>
                </a:lnTo>
                <a:lnTo>
                  <a:pt x="900684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28800" y="5315711"/>
            <a:ext cx="901065" cy="539750"/>
          </a:xfrm>
          <a:prstGeom prst="rect">
            <a:avLst/>
          </a:prstGeom>
          <a:ln w="9144">
            <a:solidFill>
              <a:srgbClr val="000066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学生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4000" y="43312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24000" y="43312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700"/>
                </a:moveTo>
                <a:lnTo>
                  <a:pt x="762000" y="0"/>
                </a:lnTo>
                <a:lnTo>
                  <a:pt x="1524000" y="266700"/>
                </a:lnTo>
                <a:lnTo>
                  <a:pt x="762000" y="533400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67864" y="4396867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就读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86761" y="486537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199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33800" y="4387596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699"/>
                </a:lnTo>
                <a:lnTo>
                  <a:pt x="762000" y="533399"/>
                </a:lnTo>
                <a:lnTo>
                  <a:pt x="1524000" y="266699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33800" y="4387596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699"/>
                </a:moveTo>
                <a:lnTo>
                  <a:pt x="762000" y="0"/>
                </a:lnTo>
                <a:lnTo>
                  <a:pt x="1524000" y="266699"/>
                </a:lnTo>
                <a:lnTo>
                  <a:pt x="762000" y="533399"/>
                </a:lnTo>
                <a:lnTo>
                  <a:pt x="0" y="266699"/>
                </a:lnTo>
                <a:close/>
              </a:path>
            </a:pathLst>
          </a:custGeom>
          <a:ln w="914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178046" y="4453585"/>
            <a:ext cx="6388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工作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96561" y="4941570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0" y="0"/>
                </a:moveTo>
                <a:lnTo>
                  <a:pt x="990600" y="457199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43600" y="44074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43600" y="44074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700"/>
                </a:moveTo>
                <a:lnTo>
                  <a:pt x="762000" y="0"/>
                </a:lnTo>
                <a:lnTo>
                  <a:pt x="1524000" y="266700"/>
                </a:lnTo>
                <a:lnTo>
                  <a:pt x="762000" y="533400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388353" y="4473067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授课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06361" y="3874770"/>
            <a:ext cx="0" cy="533400"/>
          </a:xfrm>
          <a:custGeom>
            <a:avLst/>
            <a:gdLst/>
            <a:ahLst/>
            <a:cxnLst/>
            <a:rect l="l" t="t" r="r" b="b"/>
            <a:pathLst>
              <a:path w="0" h="533400">
                <a:moveTo>
                  <a:pt x="0" y="0"/>
                </a:moveTo>
                <a:lnTo>
                  <a:pt x="0" y="533399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63361" y="4941570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1066799" y="0"/>
                </a:moveTo>
                <a:lnTo>
                  <a:pt x="0" y="457199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10561" y="3569970"/>
            <a:ext cx="5560060" cy="2743200"/>
          </a:xfrm>
          <a:custGeom>
            <a:avLst/>
            <a:gdLst/>
            <a:ahLst/>
            <a:cxnLst/>
            <a:rect l="l" t="t" r="r" b="b"/>
            <a:pathLst>
              <a:path w="5560059" h="2743200">
                <a:moveTo>
                  <a:pt x="0" y="2285580"/>
                </a:moveTo>
                <a:lnTo>
                  <a:pt x="54804" y="2296421"/>
                </a:lnTo>
                <a:lnTo>
                  <a:pt x="109602" y="2307256"/>
                </a:lnTo>
                <a:lnTo>
                  <a:pt x="164388" y="2318081"/>
                </a:lnTo>
                <a:lnTo>
                  <a:pt x="219154" y="2328889"/>
                </a:lnTo>
                <a:lnTo>
                  <a:pt x="273896" y="2339675"/>
                </a:lnTo>
                <a:lnTo>
                  <a:pt x="328607" y="2350435"/>
                </a:lnTo>
                <a:lnTo>
                  <a:pt x="383280" y="2361162"/>
                </a:lnTo>
                <a:lnTo>
                  <a:pt x="437910" y="2371851"/>
                </a:lnTo>
                <a:lnTo>
                  <a:pt x="492489" y="2382497"/>
                </a:lnTo>
                <a:lnTo>
                  <a:pt x="547013" y="2393095"/>
                </a:lnTo>
                <a:lnTo>
                  <a:pt x="601474" y="2403638"/>
                </a:lnTo>
                <a:lnTo>
                  <a:pt x="655866" y="2414122"/>
                </a:lnTo>
                <a:lnTo>
                  <a:pt x="710183" y="2424540"/>
                </a:lnTo>
                <a:lnTo>
                  <a:pt x="764420" y="2434889"/>
                </a:lnTo>
                <a:lnTo>
                  <a:pt x="818569" y="2445162"/>
                </a:lnTo>
                <a:lnTo>
                  <a:pt x="872624" y="2455353"/>
                </a:lnTo>
                <a:lnTo>
                  <a:pt x="926579" y="2465459"/>
                </a:lnTo>
                <a:lnTo>
                  <a:pt x="980428" y="2475472"/>
                </a:lnTo>
                <a:lnTo>
                  <a:pt x="1034165" y="2485388"/>
                </a:lnTo>
                <a:lnTo>
                  <a:pt x="1087783" y="2495201"/>
                </a:lnTo>
                <a:lnTo>
                  <a:pt x="1141276" y="2504905"/>
                </a:lnTo>
                <a:lnTo>
                  <a:pt x="1194639" y="2514497"/>
                </a:lnTo>
                <a:lnTo>
                  <a:pt x="1247863" y="2523969"/>
                </a:lnTo>
                <a:lnTo>
                  <a:pt x="1300945" y="2533317"/>
                </a:lnTo>
                <a:lnTo>
                  <a:pt x="1353876" y="2542535"/>
                </a:lnTo>
                <a:lnTo>
                  <a:pt x="1406652" y="2551618"/>
                </a:lnTo>
                <a:lnTo>
                  <a:pt x="1459265" y="2560560"/>
                </a:lnTo>
                <a:lnTo>
                  <a:pt x="1511709" y="2569356"/>
                </a:lnTo>
                <a:lnTo>
                  <a:pt x="1563979" y="2578000"/>
                </a:lnTo>
                <a:lnTo>
                  <a:pt x="1616067" y="2586488"/>
                </a:lnTo>
                <a:lnTo>
                  <a:pt x="1667969" y="2594814"/>
                </a:lnTo>
                <a:lnTo>
                  <a:pt x="1719676" y="2602971"/>
                </a:lnTo>
                <a:lnTo>
                  <a:pt x="1771184" y="2610956"/>
                </a:lnTo>
                <a:lnTo>
                  <a:pt x="1822486" y="2618762"/>
                </a:lnTo>
                <a:lnTo>
                  <a:pt x="1873576" y="2626384"/>
                </a:lnTo>
                <a:lnTo>
                  <a:pt x="1924447" y="2633817"/>
                </a:lnTo>
                <a:lnTo>
                  <a:pt x="1975094" y="2641055"/>
                </a:lnTo>
                <a:lnTo>
                  <a:pt x="2025509" y="2648093"/>
                </a:lnTo>
                <a:lnTo>
                  <a:pt x="2075688" y="2654926"/>
                </a:lnTo>
                <a:lnTo>
                  <a:pt x="2125622" y="2661547"/>
                </a:lnTo>
                <a:lnTo>
                  <a:pt x="2175307" y="2667952"/>
                </a:lnTo>
                <a:lnTo>
                  <a:pt x="2224736" y="2674136"/>
                </a:lnTo>
                <a:lnTo>
                  <a:pt x="2273903" y="2680092"/>
                </a:lnTo>
                <a:lnTo>
                  <a:pt x="2322802" y="2685815"/>
                </a:lnTo>
                <a:lnTo>
                  <a:pt x="2371425" y="2691300"/>
                </a:lnTo>
                <a:lnTo>
                  <a:pt x="2419768" y="2696542"/>
                </a:lnTo>
                <a:lnTo>
                  <a:pt x="2467824" y="2701535"/>
                </a:lnTo>
                <a:lnTo>
                  <a:pt x="2515586" y="2706274"/>
                </a:lnTo>
                <a:lnTo>
                  <a:pt x="2563048" y="2710754"/>
                </a:lnTo>
                <a:lnTo>
                  <a:pt x="2610205" y="2714968"/>
                </a:lnTo>
                <a:lnTo>
                  <a:pt x="2657049" y="2718911"/>
                </a:lnTo>
                <a:lnTo>
                  <a:pt x="2703576" y="2722579"/>
                </a:lnTo>
                <a:lnTo>
                  <a:pt x="2749777" y="2725966"/>
                </a:lnTo>
                <a:lnTo>
                  <a:pt x="2795647" y="2729065"/>
                </a:lnTo>
                <a:lnTo>
                  <a:pt x="2841181" y="2731873"/>
                </a:lnTo>
                <a:lnTo>
                  <a:pt x="2886371" y="2734383"/>
                </a:lnTo>
                <a:lnTo>
                  <a:pt x="2931211" y="2736590"/>
                </a:lnTo>
                <a:lnTo>
                  <a:pt x="2975696" y="2738489"/>
                </a:lnTo>
                <a:lnTo>
                  <a:pt x="3019818" y="2740074"/>
                </a:lnTo>
                <a:lnTo>
                  <a:pt x="3063572" y="2741340"/>
                </a:lnTo>
                <a:lnTo>
                  <a:pt x="3106952" y="2742281"/>
                </a:lnTo>
                <a:lnTo>
                  <a:pt x="3149951" y="2742892"/>
                </a:lnTo>
                <a:lnTo>
                  <a:pt x="3192562" y="2743168"/>
                </a:lnTo>
                <a:lnTo>
                  <a:pt x="3234781" y="2743103"/>
                </a:lnTo>
                <a:lnTo>
                  <a:pt x="3276600" y="2742691"/>
                </a:lnTo>
                <a:lnTo>
                  <a:pt x="3335383" y="2741700"/>
                </a:lnTo>
                <a:lnTo>
                  <a:pt x="3394097" y="2740374"/>
                </a:lnTo>
                <a:lnTo>
                  <a:pt x="3452709" y="2738706"/>
                </a:lnTo>
                <a:lnTo>
                  <a:pt x="3511187" y="2736686"/>
                </a:lnTo>
                <a:lnTo>
                  <a:pt x="3569497" y="2734304"/>
                </a:lnTo>
                <a:lnTo>
                  <a:pt x="3627607" y="2731551"/>
                </a:lnTo>
                <a:lnTo>
                  <a:pt x="3685483" y="2728418"/>
                </a:lnTo>
                <a:lnTo>
                  <a:pt x="3743094" y="2724895"/>
                </a:lnTo>
                <a:lnTo>
                  <a:pt x="3800405" y="2720973"/>
                </a:lnTo>
                <a:lnTo>
                  <a:pt x="3857384" y="2716642"/>
                </a:lnTo>
                <a:lnTo>
                  <a:pt x="3913999" y="2711893"/>
                </a:lnTo>
                <a:lnTo>
                  <a:pt x="3970216" y="2706717"/>
                </a:lnTo>
                <a:lnTo>
                  <a:pt x="4026002" y="2701104"/>
                </a:lnTo>
                <a:lnTo>
                  <a:pt x="4081325" y="2695045"/>
                </a:lnTo>
                <a:lnTo>
                  <a:pt x="4136151" y="2688531"/>
                </a:lnTo>
                <a:lnTo>
                  <a:pt x="4190448" y="2681551"/>
                </a:lnTo>
                <a:lnTo>
                  <a:pt x="4244184" y="2674098"/>
                </a:lnTo>
                <a:lnTo>
                  <a:pt x="4297324" y="2666160"/>
                </a:lnTo>
                <a:lnTo>
                  <a:pt x="4349836" y="2657730"/>
                </a:lnTo>
                <a:lnTo>
                  <a:pt x="4401688" y="2648797"/>
                </a:lnTo>
                <a:lnTo>
                  <a:pt x="4452846" y="2639352"/>
                </a:lnTo>
                <a:lnTo>
                  <a:pt x="4503277" y="2629386"/>
                </a:lnTo>
                <a:lnTo>
                  <a:pt x="4552950" y="2618889"/>
                </a:lnTo>
                <a:lnTo>
                  <a:pt x="4601829" y="2607852"/>
                </a:lnTo>
                <a:lnTo>
                  <a:pt x="4649884" y="2596265"/>
                </a:lnTo>
                <a:lnTo>
                  <a:pt x="4697081" y="2584120"/>
                </a:lnTo>
                <a:lnTo>
                  <a:pt x="4743387" y="2571407"/>
                </a:lnTo>
                <a:lnTo>
                  <a:pt x="4788769" y="2558116"/>
                </a:lnTo>
                <a:lnTo>
                  <a:pt x="4833194" y="2544238"/>
                </a:lnTo>
                <a:lnTo>
                  <a:pt x="4876630" y="2529763"/>
                </a:lnTo>
                <a:lnTo>
                  <a:pt x="4919044" y="2514683"/>
                </a:lnTo>
                <a:lnTo>
                  <a:pt x="4960402" y="2498987"/>
                </a:lnTo>
                <a:lnTo>
                  <a:pt x="5000672" y="2482667"/>
                </a:lnTo>
                <a:lnTo>
                  <a:pt x="5039821" y="2465713"/>
                </a:lnTo>
                <a:lnTo>
                  <a:pt x="5077816" y="2448115"/>
                </a:lnTo>
                <a:lnTo>
                  <a:pt x="5114625" y="2429865"/>
                </a:lnTo>
                <a:lnTo>
                  <a:pt x="5150213" y="2410953"/>
                </a:lnTo>
                <a:lnTo>
                  <a:pt x="5184549" y="2391369"/>
                </a:lnTo>
                <a:lnTo>
                  <a:pt x="5217600" y="2371104"/>
                </a:lnTo>
                <a:lnTo>
                  <a:pt x="5279713" y="2328493"/>
                </a:lnTo>
                <a:lnTo>
                  <a:pt x="5336290" y="2283046"/>
                </a:lnTo>
                <a:lnTo>
                  <a:pt x="5387068" y="2234688"/>
                </a:lnTo>
                <a:lnTo>
                  <a:pt x="5434646" y="2178627"/>
                </a:lnTo>
                <a:lnTo>
                  <a:pt x="5456610" y="2145467"/>
                </a:lnTo>
                <a:lnTo>
                  <a:pt x="5476181" y="2110040"/>
                </a:lnTo>
                <a:lnTo>
                  <a:pt x="5493448" y="2072476"/>
                </a:lnTo>
                <a:lnTo>
                  <a:pt x="5508500" y="2032902"/>
                </a:lnTo>
                <a:lnTo>
                  <a:pt x="5521428" y="1991448"/>
                </a:lnTo>
                <a:lnTo>
                  <a:pt x="5532319" y="1948242"/>
                </a:lnTo>
                <a:lnTo>
                  <a:pt x="5541263" y="1903413"/>
                </a:lnTo>
                <a:lnTo>
                  <a:pt x="5548351" y="1857088"/>
                </a:lnTo>
                <a:lnTo>
                  <a:pt x="5553670" y="1809397"/>
                </a:lnTo>
                <a:lnTo>
                  <a:pt x="5557310" y="1760469"/>
                </a:lnTo>
                <a:lnTo>
                  <a:pt x="5559361" y="1710431"/>
                </a:lnTo>
                <a:lnTo>
                  <a:pt x="5559912" y="1659412"/>
                </a:lnTo>
                <a:lnTo>
                  <a:pt x="5559051" y="1607541"/>
                </a:lnTo>
                <a:lnTo>
                  <a:pt x="5556870" y="1554947"/>
                </a:lnTo>
                <a:lnTo>
                  <a:pt x="5553455" y="1501757"/>
                </a:lnTo>
                <a:lnTo>
                  <a:pt x="5548898" y="1448100"/>
                </a:lnTo>
                <a:lnTo>
                  <a:pt x="5543288" y="1394106"/>
                </a:lnTo>
                <a:lnTo>
                  <a:pt x="5536712" y="1339902"/>
                </a:lnTo>
                <a:lnTo>
                  <a:pt x="5529262" y="1285617"/>
                </a:lnTo>
                <a:lnTo>
                  <a:pt x="5521026" y="1231380"/>
                </a:lnTo>
                <a:lnTo>
                  <a:pt x="5512093" y="1177319"/>
                </a:lnTo>
                <a:lnTo>
                  <a:pt x="5502553" y="1123562"/>
                </a:lnTo>
                <a:lnTo>
                  <a:pt x="5492495" y="1070239"/>
                </a:lnTo>
                <a:lnTo>
                  <a:pt x="5482009" y="1017478"/>
                </a:lnTo>
                <a:lnTo>
                  <a:pt x="5471183" y="965406"/>
                </a:lnTo>
                <a:lnTo>
                  <a:pt x="5460108" y="914154"/>
                </a:lnTo>
                <a:lnTo>
                  <a:pt x="5448871" y="863849"/>
                </a:lnTo>
                <a:lnTo>
                  <a:pt x="5437563" y="814620"/>
                </a:lnTo>
                <a:lnTo>
                  <a:pt x="5426273" y="766595"/>
                </a:lnTo>
                <a:lnTo>
                  <a:pt x="5415090" y="719903"/>
                </a:lnTo>
                <a:lnTo>
                  <a:pt x="5404103" y="674673"/>
                </a:lnTo>
                <a:lnTo>
                  <a:pt x="5393403" y="631033"/>
                </a:lnTo>
                <a:lnTo>
                  <a:pt x="5383077" y="589112"/>
                </a:lnTo>
                <a:lnTo>
                  <a:pt x="5373216" y="549037"/>
                </a:lnTo>
                <a:lnTo>
                  <a:pt x="5363908" y="510939"/>
                </a:lnTo>
                <a:lnTo>
                  <a:pt x="5347311" y="441183"/>
                </a:lnTo>
                <a:lnTo>
                  <a:pt x="5333999" y="380872"/>
                </a:lnTo>
                <a:lnTo>
                  <a:pt x="5315097" y="302168"/>
                </a:lnTo>
                <a:lnTo>
                  <a:pt x="5293697" y="235321"/>
                </a:lnTo>
                <a:lnTo>
                  <a:pt x="5270008" y="179343"/>
                </a:lnTo>
                <a:lnTo>
                  <a:pt x="5244238" y="133247"/>
                </a:lnTo>
                <a:lnTo>
                  <a:pt x="5216595" y="96044"/>
                </a:lnTo>
                <a:lnTo>
                  <a:pt x="5187288" y="66746"/>
                </a:lnTo>
                <a:lnTo>
                  <a:pt x="5124510" y="27913"/>
                </a:lnTo>
                <a:lnTo>
                  <a:pt x="5057571" y="8842"/>
                </a:lnTo>
                <a:lnTo>
                  <a:pt x="4988134" y="1630"/>
                </a:lnTo>
                <a:lnTo>
                  <a:pt x="4952999" y="0"/>
                </a:lnTo>
              </a:path>
            </a:pathLst>
          </a:custGeom>
          <a:ln w="19812">
            <a:solidFill>
              <a:srgbClr val="000066"/>
            </a:solidFill>
            <a:prstDash val="sysDashDot"/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824227" y="3336035"/>
          <a:ext cx="914400" cy="1000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442595"/>
              </a:tblGrid>
              <a:tr h="539495">
                <a:tc gridSpan="2"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2400" b="1">
                          <a:latin typeface="宋体"/>
                          <a:cs typeface="宋体"/>
                        </a:rPr>
                        <a:t>学院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81280">
                    <a:lnL w="9525">
                      <a:solidFill>
                        <a:srgbClr val="000066"/>
                      </a:solidFill>
                      <a:prstDash val="solid"/>
                    </a:lnL>
                    <a:lnR w="9525">
                      <a:solidFill>
                        <a:srgbClr val="000066"/>
                      </a:solidFill>
                      <a:prstDash val="solid"/>
                    </a:lnR>
                    <a:lnT w="9525">
                      <a:solidFill>
                        <a:srgbClr val="000066"/>
                      </a:solidFill>
                      <a:prstDash val="solid"/>
                    </a:lnT>
                    <a:lnB w="9525">
                      <a:solidFill>
                        <a:srgbClr val="000066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1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66"/>
                      </a:solidFill>
                      <a:prstDash val="solid"/>
                    </a:lnR>
                    <a:lnT w="9525">
                      <a:solidFill>
                        <a:srgbClr val="0000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3240"/>
                        </a:lnSpc>
                        <a:spcBef>
                          <a:spcPts val="215"/>
                        </a:spcBef>
                      </a:pPr>
                      <a:r>
                        <a:rPr dirty="0" sz="2800" b="1">
                          <a:solidFill>
                            <a:srgbClr val="8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28575">
                      <a:solidFill>
                        <a:srgbClr val="000066"/>
                      </a:solidFill>
                      <a:prstDash val="solid"/>
                    </a:lnL>
                    <a:lnT w="9525">
                      <a:solidFill>
                        <a:srgbClr val="00006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034028" y="3374135"/>
          <a:ext cx="914400" cy="101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442595"/>
              </a:tblGrid>
              <a:tr h="539495">
                <a:tc gridSpan="2"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2400" b="1">
                          <a:latin typeface="宋体"/>
                          <a:cs typeface="宋体"/>
                        </a:rPr>
                        <a:t>学院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81280">
                    <a:lnL w="9525">
                      <a:solidFill>
                        <a:srgbClr val="000066"/>
                      </a:solidFill>
                      <a:prstDash val="solid"/>
                    </a:lnL>
                    <a:lnR w="9525">
                      <a:solidFill>
                        <a:srgbClr val="000066"/>
                      </a:solidFill>
                      <a:prstDash val="solid"/>
                    </a:lnR>
                    <a:lnT w="9525">
                      <a:solidFill>
                        <a:srgbClr val="000066"/>
                      </a:solidFill>
                      <a:prstDash val="solid"/>
                    </a:lnT>
                    <a:lnB w="9525">
                      <a:solidFill>
                        <a:srgbClr val="000066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01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66"/>
                      </a:solidFill>
                      <a:prstDash val="solid"/>
                    </a:lnR>
                    <a:lnT w="9525">
                      <a:solidFill>
                        <a:srgbClr val="0000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3085"/>
                        </a:lnSpc>
                        <a:spcBef>
                          <a:spcPts val="515"/>
                        </a:spcBef>
                      </a:pPr>
                      <a:r>
                        <a:rPr dirty="0" sz="2800" b="1">
                          <a:solidFill>
                            <a:srgbClr val="8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28575">
                      <a:solidFill>
                        <a:srgbClr val="000066"/>
                      </a:solidFill>
                      <a:prstDash val="solid"/>
                    </a:lnL>
                    <a:lnT w="9525">
                      <a:solidFill>
                        <a:srgbClr val="00006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5563361" y="6172961"/>
            <a:ext cx="2438400" cy="538480"/>
          </a:xfrm>
          <a:prstGeom prst="rect">
            <a:avLst/>
          </a:prstGeom>
          <a:ln w="19811">
            <a:solidFill>
              <a:srgbClr val="000066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326390">
              <a:lnSpc>
                <a:spcPct val="100000"/>
              </a:lnSpc>
              <a:spcBef>
                <a:spcPts val="300"/>
              </a:spcBef>
            </a:pP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？无法联系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41194" y="4809871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75175" y="51143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26706" y="3971671"/>
            <a:ext cx="3213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28028" y="51143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  <a:tabLst>
                <a:tab pos="1167130" algn="l"/>
              </a:tabLst>
            </a:pPr>
            <a:r>
              <a:rPr dirty="0" spc="-10"/>
              <a:t>§3.3	数据抽象与局部视图设计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673975" cy="211391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例（续）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图（续）</a:t>
            </a:r>
            <a:endParaRPr sz="3000">
              <a:latin typeface="黑体"/>
              <a:cs typeface="黑体"/>
            </a:endParaRPr>
          </a:p>
          <a:p>
            <a:pPr algn="ctr" marL="9144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再画出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各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个实体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间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的联系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忽略了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属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性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algn="ctr" marR="605790">
              <a:lnSpc>
                <a:spcPct val="100000"/>
              </a:lnSpc>
              <a:spcBef>
                <a:spcPts val="595"/>
              </a:spcBef>
            </a:pPr>
            <a:r>
              <a:rPr dirty="0" sz="2400" spc="-5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该图存在疑问和不明确的地方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0" y="3340608"/>
            <a:ext cx="901065" cy="539750"/>
          </a:xfrm>
          <a:custGeom>
            <a:avLst/>
            <a:gdLst/>
            <a:ahLst/>
            <a:cxnLst/>
            <a:rect l="l" t="t" r="r" b="b"/>
            <a:pathLst>
              <a:path w="901065" h="539750">
                <a:moveTo>
                  <a:pt x="0" y="539495"/>
                </a:moveTo>
                <a:lnTo>
                  <a:pt x="900683" y="539495"/>
                </a:lnTo>
                <a:lnTo>
                  <a:pt x="900683" y="0"/>
                </a:lnTo>
                <a:lnTo>
                  <a:pt x="0" y="0"/>
                </a:lnTo>
                <a:lnTo>
                  <a:pt x="0" y="539495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48400" y="3340608"/>
            <a:ext cx="901065" cy="539750"/>
          </a:xfrm>
          <a:prstGeom prst="rect">
            <a:avLst/>
          </a:prstGeom>
          <a:ln w="9144">
            <a:solidFill>
              <a:srgbClr val="000066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课程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58667" y="3357371"/>
            <a:ext cx="901065" cy="539750"/>
          </a:xfrm>
          <a:custGeom>
            <a:avLst/>
            <a:gdLst/>
            <a:ahLst/>
            <a:cxnLst/>
            <a:rect l="l" t="t" r="r" b="b"/>
            <a:pathLst>
              <a:path w="901064" h="539750">
                <a:moveTo>
                  <a:pt x="0" y="539495"/>
                </a:moveTo>
                <a:lnTo>
                  <a:pt x="900683" y="539495"/>
                </a:lnTo>
                <a:lnTo>
                  <a:pt x="900683" y="0"/>
                </a:lnTo>
                <a:lnTo>
                  <a:pt x="0" y="0"/>
                </a:lnTo>
                <a:lnTo>
                  <a:pt x="0" y="539495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58667" y="3357371"/>
            <a:ext cx="901065" cy="539750"/>
          </a:xfrm>
          <a:prstGeom prst="rect">
            <a:avLst/>
          </a:prstGeom>
          <a:ln w="9144">
            <a:solidFill>
              <a:srgbClr val="000066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645"/>
              </a:spcBef>
            </a:pPr>
            <a:r>
              <a:rPr dirty="0" sz="2400" b="1">
                <a:latin typeface="宋体"/>
                <a:cs typeface="宋体"/>
              </a:rPr>
              <a:t>学院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5400" y="5391911"/>
            <a:ext cx="901065" cy="539750"/>
          </a:xfrm>
          <a:prstGeom prst="rect">
            <a:avLst/>
          </a:prstGeom>
          <a:solidFill>
            <a:srgbClr val="33CCCC"/>
          </a:solidFill>
          <a:ln w="9144">
            <a:solidFill>
              <a:srgbClr val="000066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教师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8800" y="5315711"/>
            <a:ext cx="901065" cy="539750"/>
          </a:xfrm>
          <a:custGeom>
            <a:avLst/>
            <a:gdLst/>
            <a:ahLst/>
            <a:cxnLst/>
            <a:rect l="l" t="t" r="r" b="b"/>
            <a:pathLst>
              <a:path w="901064" h="539750">
                <a:moveTo>
                  <a:pt x="0" y="539496"/>
                </a:moveTo>
                <a:lnTo>
                  <a:pt x="900684" y="539496"/>
                </a:lnTo>
                <a:lnTo>
                  <a:pt x="900684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28800" y="5315711"/>
            <a:ext cx="901065" cy="539750"/>
          </a:xfrm>
          <a:prstGeom prst="rect">
            <a:avLst/>
          </a:prstGeom>
          <a:ln w="9144">
            <a:solidFill>
              <a:srgbClr val="000066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学生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4000" y="43312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24000" y="43312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700"/>
                </a:moveTo>
                <a:lnTo>
                  <a:pt x="762000" y="0"/>
                </a:lnTo>
                <a:lnTo>
                  <a:pt x="1524000" y="266700"/>
                </a:lnTo>
                <a:lnTo>
                  <a:pt x="762000" y="533400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86761" y="3934205"/>
            <a:ext cx="1062355" cy="398145"/>
          </a:xfrm>
          <a:custGeom>
            <a:avLst/>
            <a:gdLst/>
            <a:ahLst/>
            <a:cxnLst/>
            <a:rect l="l" t="t" r="r" b="b"/>
            <a:pathLst>
              <a:path w="1062354" h="398145">
                <a:moveTo>
                  <a:pt x="1062227" y="0"/>
                </a:moveTo>
                <a:lnTo>
                  <a:pt x="0" y="397764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86761" y="486537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199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733800" y="4387596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699"/>
                </a:lnTo>
                <a:lnTo>
                  <a:pt x="762000" y="533399"/>
                </a:lnTo>
                <a:lnTo>
                  <a:pt x="1524000" y="266699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33800" y="4387596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699"/>
                </a:moveTo>
                <a:lnTo>
                  <a:pt x="762000" y="0"/>
                </a:lnTo>
                <a:lnTo>
                  <a:pt x="1524000" y="266699"/>
                </a:lnTo>
                <a:lnTo>
                  <a:pt x="762000" y="533399"/>
                </a:lnTo>
                <a:lnTo>
                  <a:pt x="0" y="266699"/>
                </a:lnTo>
                <a:close/>
              </a:path>
            </a:pathLst>
          </a:custGeom>
          <a:ln w="914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48990" y="3934205"/>
            <a:ext cx="1148080" cy="454659"/>
          </a:xfrm>
          <a:custGeom>
            <a:avLst/>
            <a:gdLst/>
            <a:ahLst/>
            <a:cxnLst/>
            <a:rect l="l" t="t" r="r" b="b"/>
            <a:pathLst>
              <a:path w="1148079" h="454660">
                <a:moveTo>
                  <a:pt x="0" y="0"/>
                </a:moveTo>
                <a:lnTo>
                  <a:pt x="1147572" y="454152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96561" y="4941570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0" y="0"/>
                </a:moveTo>
                <a:lnTo>
                  <a:pt x="990600" y="457199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43600" y="44074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43600" y="44074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266700"/>
                </a:moveTo>
                <a:lnTo>
                  <a:pt x="762000" y="0"/>
                </a:lnTo>
                <a:lnTo>
                  <a:pt x="1524000" y="266700"/>
                </a:lnTo>
                <a:lnTo>
                  <a:pt x="762000" y="533400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388353" y="4473067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授课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706361" y="3874770"/>
            <a:ext cx="0" cy="533400"/>
          </a:xfrm>
          <a:custGeom>
            <a:avLst/>
            <a:gdLst/>
            <a:ahLst/>
            <a:cxnLst/>
            <a:rect l="l" t="t" r="r" b="b"/>
            <a:pathLst>
              <a:path w="0" h="533400">
                <a:moveTo>
                  <a:pt x="0" y="0"/>
                </a:moveTo>
                <a:lnTo>
                  <a:pt x="0" y="533399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563361" y="4941570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1066799" y="0"/>
                </a:moveTo>
                <a:lnTo>
                  <a:pt x="0" y="457199"/>
                </a:lnTo>
              </a:path>
            </a:pathLst>
          </a:custGeom>
          <a:ln w="19812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10561" y="3569970"/>
            <a:ext cx="5560060" cy="2743200"/>
          </a:xfrm>
          <a:custGeom>
            <a:avLst/>
            <a:gdLst/>
            <a:ahLst/>
            <a:cxnLst/>
            <a:rect l="l" t="t" r="r" b="b"/>
            <a:pathLst>
              <a:path w="5560059" h="2743200">
                <a:moveTo>
                  <a:pt x="0" y="2285580"/>
                </a:moveTo>
                <a:lnTo>
                  <a:pt x="54804" y="2296421"/>
                </a:lnTo>
                <a:lnTo>
                  <a:pt x="109602" y="2307256"/>
                </a:lnTo>
                <a:lnTo>
                  <a:pt x="164388" y="2318081"/>
                </a:lnTo>
                <a:lnTo>
                  <a:pt x="219154" y="2328889"/>
                </a:lnTo>
                <a:lnTo>
                  <a:pt x="273896" y="2339675"/>
                </a:lnTo>
                <a:lnTo>
                  <a:pt x="328607" y="2350435"/>
                </a:lnTo>
                <a:lnTo>
                  <a:pt x="383280" y="2361162"/>
                </a:lnTo>
                <a:lnTo>
                  <a:pt x="437910" y="2371851"/>
                </a:lnTo>
                <a:lnTo>
                  <a:pt x="492489" y="2382497"/>
                </a:lnTo>
                <a:lnTo>
                  <a:pt x="547013" y="2393095"/>
                </a:lnTo>
                <a:lnTo>
                  <a:pt x="601474" y="2403638"/>
                </a:lnTo>
                <a:lnTo>
                  <a:pt x="655866" y="2414122"/>
                </a:lnTo>
                <a:lnTo>
                  <a:pt x="710183" y="2424540"/>
                </a:lnTo>
                <a:lnTo>
                  <a:pt x="764420" y="2434889"/>
                </a:lnTo>
                <a:lnTo>
                  <a:pt x="818569" y="2445162"/>
                </a:lnTo>
                <a:lnTo>
                  <a:pt x="872624" y="2455353"/>
                </a:lnTo>
                <a:lnTo>
                  <a:pt x="926579" y="2465459"/>
                </a:lnTo>
                <a:lnTo>
                  <a:pt x="980428" y="2475472"/>
                </a:lnTo>
                <a:lnTo>
                  <a:pt x="1034165" y="2485388"/>
                </a:lnTo>
                <a:lnTo>
                  <a:pt x="1087783" y="2495201"/>
                </a:lnTo>
                <a:lnTo>
                  <a:pt x="1141276" y="2504905"/>
                </a:lnTo>
                <a:lnTo>
                  <a:pt x="1194639" y="2514497"/>
                </a:lnTo>
                <a:lnTo>
                  <a:pt x="1247863" y="2523969"/>
                </a:lnTo>
                <a:lnTo>
                  <a:pt x="1300945" y="2533317"/>
                </a:lnTo>
                <a:lnTo>
                  <a:pt x="1353876" y="2542535"/>
                </a:lnTo>
                <a:lnTo>
                  <a:pt x="1406652" y="2551618"/>
                </a:lnTo>
                <a:lnTo>
                  <a:pt x="1459265" y="2560560"/>
                </a:lnTo>
                <a:lnTo>
                  <a:pt x="1511709" y="2569356"/>
                </a:lnTo>
                <a:lnTo>
                  <a:pt x="1563979" y="2578000"/>
                </a:lnTo>
                <a:lnTo>
                  <a:pt x="1616067" y="2586488"/>
                </a:lnTo>
                <a:lnTo>
                  <a:pt x="1667969" y="2594814"/>
                </a:lnTo>
                <a:lnTo>
                  <a:pt x="1719676" y="2602971"/>
                </a:lnTo>
                <a:lnTo>
                  <a:pt x="1771184" y="2610956"/>
                </a:lnTo>
                <a:lnTo>
                  <a:pt x="1822486" y="2618762"/>
                </a:lnTo>
                <a:lnTo>
                  <a:pt x="1873576" y="2626384"/>
                </a:lnTo>
                <a:lnTo>
                  <a:pt x="1924447" y="2633817"/>
                </a:lnTo>
                <a:lnTo>
                  <a:pt x="1975094" y="2641055"/>
                </a:lnTo>
                <a:lnTo>
                  <a:pt x="2025509" y="2648093"/>
                </a:lnTo>
                <a:lnTo>
                  <a:pt x="2075688" y="2654926"/>
                </a:lnTo>
                <a:lnTo>
                  <a:pt x="2125622" y="2661547"/>
                </a:lnTo>
                <a:lnTo>
                  <a:pt x="2175307" y="2667952"/>
                </a:lnTo>
                <a:lnTo>
                  <a:pt x="2224736" y="2674136"/>
                </a:lnTo>
                <a:lnTo>
                  <a:pt x="2273903" y="2680092"/>
                </a:lnTo>
                <a:lnTo>
                  <a:pt x="2322802" y="2685815"/>
                </a:lnTo>
                <a:lnTo>
                  <a:pt x="2371425" y="2691300"/>
                </a:lnTo>
                <a:lnTo>
                  <a:pt x="2419768" y="2696542"/>
                </a:lnTo>
                <a:lnTo>
                  <a:pt x="2467824" y="2701535"/>
                </a:lnTo>
                <a:lnTo>
                  <a:pt x="2515586" y="2706274"/>
                </a:lnTo>
                <a:lnTo>
                  <a:pt x="2563048" y="2710754"/>
                </a:lnTo>
                <a:lnTo>
                  <a:pt x="2610205" y="2714968"/>
                </a:lnTo>
                <a:lnTo>
                  <a:pt x="2657049" y="2718911"/>
                </a:lnTo>
                <a:lnTo>
                  <a:pt x="2703576" y="2722579"/>
                </a:lnTo>
                <a:lnTo>
                  <a:pt x="2749777" y="2725966"/>
                </a:lnTo>
                <a:lnTo>
                  <a:pt x="2795647" y="2729065"/>
                </a:lnTo>
                <a:lnTo>
                  <a:pt x="2841181" y="2731873"/>
                </a:lnTo>
                <a:lnTo>
                  <a:pt x="2886371" y="2734383"/>
                </a:lnTo>
                <a:lnTo>
                  <a:pt x="2931211" y="2736590"/>
                </a:lnTo>
                <a:lnTo>
                  <a:pt x="2975696" y="2738489"/>
                </a:lnTo>
                <a:lnTo>
                  <a:pt x="3019818" y="2740074"/>
                </a:lnTo>
                <a:lnTo>
                  <a:pt x="3063572" y="2741340"/>
                </a:lnTo>
                <a:lnTo>
                  <a:pt x="3106952" y="2742281"/>
                </a:lnTo>
                <a:lnTo>
                  <a:pt x="3149951" y="2742892"/>
                </a:lnTo>
                <a:lnTo>
                  <a:pt x="3192562" y="2743168"/>
                </a:lnTo>
                <a:lnTo>
                  <a:pt x="3234781" y="2743103"/>
                </a:lnTo>
                <a:lnTo>
                  <a:pt x="3276600" y="2742691"/>
                </a:lnTo>
                <a:lnTo>
                  <a:pt x="3335383" y="2741700"/>
                </a:lnTo>
                <a:lnTo>
                  <a:pt x="3394097" y="2740374"/>
                </a:lnTo>
                <a:lnTo>
                  <a:pt x="3452709" y="2738706"/>
                </a:lnTo>
                <a:lnTo>
                  <a:pt x="3511187" y="2736686"/>
                </a:lnTo>
                <a:lnTo>
                  <a:pt x="3569497" y="2734304"/>
                </a:lnTo>
                <a:lnTo>
                  <a:pt x="3627607" y="2731551"/>
                </a:lnTo>
                <a:lnTo>
                  <a:pt x="3685483" y="2728418"/>
                </a:lnTo>
                <a:lnTo>
                  <a:pt x="3743094" y="2724895"/>
                </a:lnTo>
                <a:lnTo>
                  <a:pt x="3800405" y="2720973"/>
                </a:lnTo>
                <a:lnTo>
                  <a:pt x="3857384" y="2716642"/>
                </a:lnTo>
                <a:lnTo>
                  <a:pt x="3913999" y="2711893"/>
                </a:lnTo>
                <a:lnTo>
                  <a:pt x="3970216" y="2706717"/>
                </a:lnTo>
                <a:lnTo>
                  <a:pt x="4026002" y="2701104"/>
                </a:lnTo>
                <a:lnTo>
                  <a:pt x="4081325" y="2695045"/>
                </a:lnTo>
                <a:lnTo>
                  <a:pt x="4136151" y="2688531"/>
                </a:lnTo>
                <a:lnTo>
                  <a:pt x="4190448" y="2681551"/>
                </a:lnTo>
                <a:lnTo>
                  <a:pt x="4244184" y="2674098"/>
                </a:lnTo>
                <a:lnTo>
                  <a:pt x="4297324" y="2666160"/>
                </a:lnTo>
                <a:lnTo>
                  <a:pt x="4349836" y="2657730"/>
                </a:lnTo>
                <a:lnTo>
                  <a:pt x="4401688" y="2648797"/>
                </a:lnTo>
                <a:lnTo>
                  <a:pt x="4452846" y="2639352"/>
                </a:lnTo>
                <a:lnTo>
                  <a:pt x="4503277" y="2629386"/>
                </a:lnTo>
                <a:lnTo>
                  <a:pt x="4552950" y="2618889"/>
                </a:lnTo>
                <a:lnTo>
                  <a:pt x="4601829" y="2607852"/>
                </a:lnTo>
                <a:lnTo>
                  <a:pt x="4649884" y="2596265"/>
                </a:lnTo>
                <a:lnTo>
                  <a:pt x="4697081" y="2584120"/>
                </a:lnTo>
                <a:lnTo>
                  <a:pt x="4743387" y="2571407"/>
                </a:lnTo>
                <a:lnTo>
                  <a:pt x="4788769" y="2558116"/>
                </a:lnTo>
                <a:lnTo>
                  <a:pt x="4833194" y="2544238"/>
                </a:lnTo>
                <a:lnTo>
                  <a:pt x="4876630" y="2529763"/>
                </a:lnTo>
                <a:lnTo>
                  <a:pt x="4919044" y="2514683"/>
                </a:lnTo>
                <a:lnTo>
                  <a:pt x="4960402" y="2498987"/>
                </a:lnTo>
                <a:lnTo>
                  <a:pt x="5000672" y="2482667"/>
                </a:lnTo>
                <a:lnTo>
                  <a:pt x="5039821" y="2465713"/>
                </a:lnTo>
                <a:lnTo>
                  <a:pt x="5077816" y="2448115"/>
                </a:lnTo>
                <a:lnTo>
                  <a:pt x="5114625" y="2429865"/>
                </a:lnTo>
                <a:lnTo>
                  <a:pt x="5150213" y="2410953"/>
                </a:lnTo>
                <a:lnTo>
                  <a:pt x="5184549" y="2391369"/>
                </a:lnTo>
                <a:lnTo>
                  <a:pt x="5217600" y="2371104"/>
                </a:lnTo>
                <a:lnTo>
                  <a:pt x="5279713" y="2328493"/>
                </a:lnTo>
                <a:lnTo>
                  <a:pt x="5336290" y="2283046"/>
                </a:lnTo>
                <a:lnTo>
                  <a:pt x="5387068" y="2234688"/>
                </a:lnTo>
                <a:lnTo>
                  <a:pt x="5434646" y="2178627"/>
                </a:lnTo>
                <a:lnTo>
                  <a:pt x="5456610" y="2145467"/>
                </a:lnTo>
                <a:lnTo>
                  <a:pt x="5476181" y="2110040"/>
                </a:lnTo>
                <a:lnTo>
                  <a:pt x="5493448" y="2072476"/>
                </a:lnTo>
                <a:lnTo>
                  <a:pt x="5508500" y="2032902"/>
                </a:lnTo>
                <a:lnTo>
                  <a:pt x="5521428" y="1991448"/>
                </a:lnTo>
                <a:lnTo>
                  <a:pt x="5532319" y="1948242"/>
                </a:lnTo>
                <a:lnTo>
                  <a:pt x="5541263" y="1903413"/>
                </a:lnTo>
                <a:lnTo>
                  <a:pt x="5548351" y="1857088"/>
                </a:lnTo>
                <a:lnTo>
                  <a:pt x="5553670" y="1809397"/>
                </a:lnTo>
                <a:lnTo>
                  <a:pt x="5557310" y="1760469"/>
                </a:lnTo>
                <a:lnTo>
                  <a:pt x="5559361" y="1710431"/>
                </a:lnTo>
                <a:lnTo>
                  <a:pt x="5559912" y="1659412"/>
                </a:lnTo>
                <a:lnTo>
                  <a:pt x="5559051" y="1607541"/>
                </a:lnTo>
                <a:lnTo>
                  <a:pt x="5556870" y="1554947"/>
                </a:lnTo>
                <a:lnTo>
                  <a:pt x="5553455" y="1501757"/>
                </a:lnTo>
                <a:lnTo>
                  <a:pt x="5548898" y="1448100"/>
                </a:lnTo>
                <a:lnTo>
                  <a:pt x="5543288" y="1394106"/>
                </a:lnTo>
                <a:lnTo>
                  <a:pt x="5536712" y="1339902"/>
                </a:lnTo>
                <a:lnTo>
                  <a:pt x="5529262" y="1285617"/>
                </a:lnTo>
                <a:lnTo>
                  <a:pt x="5521026" y="1231380"/>
                </a:lnTo>
                <a:lnTo>
                  <a:pt x="5512093" y="1177319"/>
                </a:lnTo>
                <a:lnTo>
                  <a:pt x="5502553" y="1123562"/>
                </a:lnTo>
                <a:lnTo>
                  <a:pt x="5492495" y="1070239"/>
                </a:lnTo>
                <a:lnTo>
                  <a:pt x="5482009" y="1017478"/>
                </a:lnTo>
                <a:lnTo>
                  <a:pt x="5471183" y="965406"/>
                </a:lnTo>
                <a:lnTo>
                  <a:pt x="5460108" y="914154"/>
                </a:lnTo>
                <a:lnTo>
                  <a:pt x="5448871" y="863849"/>
                </a:lnTo>
                <a:lnTo>
                  <a:pt x="5437563" y="814620"/>
                </a:lnTo>
                <a:lnTo>
                  <a:pt x="5426273" y="766595"/>
                </a:lnTo>
                <a:lnTo>
                  <a:pt x="5415090" y="719903"/>
                </a:lnTo>
                <a:lnTo>
                  <a:pt x="5404103" y="674673"/>
                </a:lnTo>
                <a:lnTo>
                  <a:pt x="5393403" y="631033"/>
                </a:lnTo>
                <a:lnTo>
                  <a:pt x="5383077" y="589112"/>
                </a:lnTo>
                <a:lnTo>
                  <a:pt x="5373216" y="549037"/>
                </a:lnTo>
                <a:lnTo>
                  <a:pt x="5363908" y="510939"/>
                </a:lnTo>
                <a:lnTo>
                  <a:pt x="5347311" y="441183"/>
                </a:lnTo>
                <a:lnTo>
                  <a:pt x="5333999" y="380872"/>
                </a:lnTo>
                <a:lnTo>
                  <a:pt x="5315097" y="302168"/>
                </a:lnTo>
                <a:lnTo>
                  <a:pt x="5293697" y="235321"/>
                </a:lnTo>
                <a:lnTo>
                  <a:pt x="5270008" y="179343"/>
                </a:lnTo>
                <a:lnTo>
                  <a:pt x="5244238" y="133247"/>
                </a:lnTo>
                <a:lnTo>
                  <a:pt x="5216595" y="96044"/>
                </a:lnTo>
                <a:lnTo>
                  <a:pt x="5187288" y="66746"/>
                </a:lnTo>
                <a:lnTo>
                  <a:pt x="5124510" y="27913"/>
                </a:lnTo>
                <a:lnTo>
                  <a:pt x="5057571" y="8842"/>
                </a:lnTo>
                <a:lnTo>
                  <a:pt x="4988134" y="1630"/>
                </a:lnTo>
                <a:lnTo>
                  <a:pt x="4952999" y="0"/>
                </a:lnTo>
              </a:path>
            </a:pathLst>
          </a:custGeom>
          <a:ln w="19812">
            <a:solidFill>
              <a:srgbClr val="000066"/>
            </a:solidFill>
            <a:prstDash val="sysDashDot"/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563361" y="6172961"/>
            <a:ext cx="2438400" cy="538480"/>
          </a:xfrm>
          <a:prstGeom prst="rect">
            <a:avLst/>
          </a:prstGeom>
          <a:ln w="19811">
            <a:solidFill>
              <a:srgbClr val="000066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326390">
              <a:lnSpc>
                <a:spcPct val="100000"/>
              </a:lnSpc>
              <a:spcBef>
                <a:spcPts val="300"/>
              </a:spcBef>
            </a:pP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？无法联系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67864" y="3807763"/>
            <a:ext cx="686435" cy="98044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78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2400" b="1">
                <a:latin typeface="宋体"/>
                <a:cs typeface="宋体"/>
              </a:rPr>
              <a:t>就读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41194" y="4809871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78046" y="3906724"/>
            <a:ext cx="686435" cy="93853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0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400" b="1">
                <a:latin typeface="宋体"/>
                <a:cs typeface="宋体"/>
              </a:rPr>
              <a:t>工作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75175" y="51143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26706" y="3971671"/>
            <a:ext cx="3213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28028" y="51143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33" y="394461"/>
            <a:ext cx="3724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视图的集成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67129"/>
            <a:ext cx="7109459" cy="3398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各子系统的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分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图设计好以后，下一步 就是要将所有的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分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图综合成一个系统 的总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图。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一般来说，视图集成可以有两种方式：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6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多个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分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E-R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图一次集成</a:t>
            </a:r>
            <a:endParaRPr sz="2800">
              <a:latin typeface="宋体"/>
              <a:cs typeface="宋体"/>
            </a:endParaRPr>
          </a:p>
          <a:p>
            <a:pPr marL="697865" marR="250825" indent="-228600">
              <a:lnSpc>
                <a:spcPts val="3200"/>
              </a:lnSpc>
              <a:spcBef>
                <a:spcPts val="106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逐步集成，用累加的方式一次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集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成两个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分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E-R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图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33" y="394461"/>
            <a:ext cx="3724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视图的集成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476490" cy="316103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每次集成个</a:t>
            </a: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分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E-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图</a:t>
            </a:r>
            <a:r>
              <a:rPr dirty="0" sz="3200" spc="5" b="1">
                <a:solidFill>
                  <a:srgbClr val="0000FF"/>
                </a:solidFill>
                <a:latin typeface="宋体"/>
                <a:cs typeface="宋体"/>
              </a:rPr>
              <a:t>时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都</a:t>
            </a:r>
            <a:r>
              <a:rPr dirty="0" sz="3200" spc="5" b="1">
                <a:solidFill>
                  <a:srgbClr val="0000FF"/>
                </a:solidFill>
                <a:latin typeface="宋体"/>
                <a:cs typeface="宋体"/>
              </a:rPr>
              <a:t>需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要分</a:t>
            </a: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两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步走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1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）合并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解决各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分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E-R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图之间的冲突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将各</a:t>
            </a:r>
            <a:r>
              <a:rPr dirty="0" sz="2800" spc="40" b="1">
                <a:solidFill>
                  <a:srgbClr val="000066"/>
                </a:solidFill>
                <a:latin typeface="宋体"/>
                <a:cs typeface="宋体"/>
              </a:rPr>
              <a:t>分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E-R</a:t>
            </a:r>
            <a:endParaRPr sz="280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</a:pP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合成初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步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E-R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图。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2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）修改和重构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消除不必要的冗余，生成基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本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E-R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图。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33" y="394461"/>
            <a:ext cx="3724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视图的集成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7538"/>
            <a:ext cx="7576820" cy="355282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8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一、合</a:t>
            </a: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并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E-R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图，生成初</a:t>
            </a:r>
            <a:r>
              <a:rPr dirty="0" sz="3200" spc="-15" b="1">
                <a:solidFill>
                  <a:srgbClr val="0000FF"/>
                </a:solidFill>
                <a:latin typeface="宋体"/>
                <a:cs typeface="宋体"/>
              </a:rPr>
              <a:t>步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E-R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  <a:p>
            <a:pPr marL="1155700" marR="5080" indent="-2286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各分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-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图之间的冲突主要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有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三类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属性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冲突、命名冲突、结构冲突。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属性冲突</a:t>
            </a:r>
            <a:endParaRPr sz="3000">
              <a:latin typeface="黑体"/>
              <a:cs typeface="黑体"/>
            </a:endParaRPr>
          </a:p>
          <a:p>
            <a:pPr marL="1155700" marR="77470" indent="-2286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）属性域冲突，即属性值的类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型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、取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值范围或取值集合不同。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）属性取值单位冲突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33" y="394461"/>
            <a:ext cx="3724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视图的集成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777"/>
            <a:ext cx="7503795" cy="46196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一、合并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E-R</a:t>
            </a: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图，生成初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步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E-R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图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续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命名冲突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）同名异义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）异名同义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5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结构冲突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ts val="3020"/>
              </a:lnSpc>
              <a:spcBef>
                <a:spcPts val="72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）同一对象在不同应用中具有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不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同的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抽象。</a:t>
            </a:r>
            <a:endParaRPr sz="2800">
              <a:latin typeface="宋体"/>
              <a:cs typeface="宋体"/>
            </a:endParaRPr>
          </a:p>
          <a:p>
            <a:pPr marL="1155700" marR="112395" indent="-228600">
              <a:lnSpc>
                <a:spcPts val="3020"/>
              </a:lnSpc>
              <a:spcBef>
                <a:spcPts val="6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）同一实体在不同</a:t>
            </a:r>
            <a:r>
              <a:rPr dirty="0" sz="2800" spc="-20" b="1">
                <a:solidFill>
                  <a:srgbClr val="000066"/>
                </a:solidFill>
                <a:latin typeface="宋体"/>
                <a:cs typeface="宋体"/>
              </a:rPr>
              <a:t>分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-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图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包含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属性个数和属性排列次序不完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全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相同。</a:t>
            </a:r>
            <a:endParaRPr sz="2800">
              <a:latin typeface="宋体"/>
              <a:cs typeface="宋体"/>
            </a:endParaRPr>
          </a:p>
          <a:p>
            <a:pPr marL="1384300">
              <a:lnSpc>
                <a:spcPct val="100000"/>
              </a:lnSpc>
              <a:spcBef>
                <a:spcPts val="26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解决方案：取属性的并集。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33" y="394461"/>
            <a:ext cx="3724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视图的集成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320915" cy="209994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合并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图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ts val="3200"/>
              </a:lnSpc>
              <a:spcBef>
                <a:spcPts val="10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某学生选的是某老师上的某课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程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，因此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可以讲授课联系看作实体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8400" y="3340608"/>
            <a:ext cx="901065" cy="539750"/>
          </a:xfrm>
          <a:prstGeom prst="rect">
            <a:avLst/>
          </a:prstGeom>
          <a:solidFill>
            <a:srgbClr val="99CC00"/>
          </a:solidFill>
        </p:spPr>
        <p:txBody>
          <a:bodyPr wrap="square" lIns="0" tIns="81280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课程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7248" y="3352800"/>
            <a:ext cx="909955" cy="5486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8636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680"/>
              </a:spcBef>
            </a:pPr>
            <a:r>
              <a:rPr dirty="0" sz="2400" b="1">
                <a:latin typeface="宋体"/>
                <a:cs typeface="宋体"/>
              </a:rPr>
              <a:t>学院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05400" y="5391911"/>
            <a:ext cx="901065" cy="539750"/>
          </a:xfrm>
          <a:custGeom>
            <a:avLst/>
            <a:gdLst/>
            <a:ahLst/>
            <a:cxnLst/>
            <a:rect l="l" t="t" r="r" b="b"/>
            <a:pathLst>
              <a:path w="901064" h="539750">
                <a:moveTo>
                  <a:pt x="0" y="539496"/>
                </a:moveTo>
                <a:lnTo>
                  <a:pt x="900684" y="539496"/>
                </a:lnTo>
                <a:lnTo>
                  <a:pt x="900684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05400" y="5460593"/>
            <a:ext cx="901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教师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0" y="43312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86761" y="3934205"/>
            <a:ext cx="1062355" cy="398145"/>
          </a:xfrm>
          <a:custGeom>
            <a:avLst/>
            <a:gdLst/>
            <a:ahLst/>
            <a:cxnLst/>
            <a:rect l="l" t="t" r="r" b="b"/>
            <a:pathLst>
              <a:path w="1062354" h="398145">
                <a:moveTo>
                  <a:pt x="1062227" y="0"/>
                </a:moveTo>
                <a:lnTo>
                  <a:pt x="0" y="397764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33800" y="4387596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699"/>
                </a:lnTo>
                <a:lnTo>
                  <a:pt x="762000" y="533399"/>
                </a:lnTo>
                <a:lnTo>
                  <a:pt x="1524000" y="266699"/>
                </a:lnTo>
                <a:lnTo>
                  <a:pt x="76200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08653" y="3934205"/>
            <a:ext cx="788035" cy="454659"/>
          </a:xfrm>
          <a:custGeom>
            <a:avLst/>
            <a:gdLst/>
            <a:ahLst/>
            <a:cxnLst/>
            <a:rect l="l" t="t" r="r" b="b"/>
            <a:pathLst>
              <a:path w="788035" h="454660">
                <a:moveTo>
                  <a:pt x="0" y="0"/>
                </a:moveTo>
                <a:lnTo>
                  <a:pt x="787908" y="454152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96561" y="4941570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0" y="0"/>
                </a:moveTo>
                <a:lnTo>
                  <a:pt x="990600" y="457199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43600" y="44074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388353" y="4473067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授课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06361" y="3874770"/>
            <a:ext cx="0" cy="533400"/>
          </a:xfrm>
          <a:custGeom>
            <a:avLst/>
            <a:gdLst/>
            <a:ahLst/>
            <a:cxnLst/>
            <a:rect l="l" t="t" r="r" b="b"/>
            <a:pathLst>
              <a:path w="0" h="533400">
                <a:moveTo>
                  <a:pt x="0" y="0"/>
                </a:moveTo>
                <a:lnTo>
                  <a:pt x="0" y="533399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63361" y="4941570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1066799" y="0"/>
                </a:moveTo>
                <a:lnTo>
                  <a:pt x="0" y="457199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67864" y="3807763"/>
            <a:ext cx="686435" cy="98044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78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2400" b="1">
                <a:latin typeface="宋体"/>
                <a:cs typeface="宋体"/>
              </a:rPr>
              <a:t>就读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78046" y="3906724"/>
            <a:ext cx="686435" cy="93853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0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400" b="1">
                <a:latin typeface="宋体"/>
                <a:cs typeface="宋体"/>
              </a:rPr>
              <a:t>工作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5175" y="51143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26706" y="3971671"/>
            <a:ext cx="3213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28028" y="51143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58000" y="5486400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86761" y="5868161"/>
            <a:ext cx="5334000" cy="536575"/>
          </a:xfrm>
          <a:custGeom>
            <a:avLst/>
            <a:gdLst/>
            <a:ahLst/>
            <a:cxnLst/>
            <a:rect l="l" t="t" r="r" b="b"/>
            <a:pathLst>
              <a:path w="5334000" h="536575">
                <a:moveTo>
                  <a:pt x="0" y="0"/>
                </a:moveTo>
                <a:lnTo>
                  <a:pt x="53218" y="12105"/>
                </a:lnTo>
                <a:lnTo>
                  <a:pt x="106430" y="24204"/>
                </a:lnTo>
                <a:lnTo>
                  <a:pt x="159632" y="36293"/>
                </a:lnTo>
                <a:lnTo>
                  <a:pt x="212817" y="48365"/>
                </a:lnTo>
                <a:lnTo>
                  <a:pt x="265980" y="60416"/>
                </a:lnTo>
                <a:lnTo>
                  <a:pt x="319116" y="72439"/>
                </a:lnTo>
                <a:lnTo>
                  <a:pt x="372219" y="84429"/>
                </a:lnTo>
                <a:lnTo>
                  <a:pt x="425284" y="96380"/>
                </a:lnTo>
                <a:lnTo>
                  <a:pt x="478304" y="108288"/>
                </a:lnTo>
                <a:lnTo>
                  <a:pt x="531276" y="120146"/>
                </a:lnTo>
                <a:lnTo>
                  <a:pt x="584192" y="131949"/>
                </a:lnTo>
                <a:lnTo>
                  <a:pt x="637048" y="143692"/>
                </a:lnTo>
                <a:lnTo>
                  <a:pt x="689839" y="155369"/>
                </a:lnTo>
                <a:lnTo>
                  <a:pt x="742558" y="166974"/>
                </a:lnTo>
                <a:lnTo>
                  <a:pt x="795200" y="178503"/>
                </a:lnTo>
                <a:lnTo>
                  <a:pt x="847760" y="189949"/>
                </a:lnTo>
                <a:lnTo>
                  <a:pt x="900232" y="201308"/>
                </a:lnTo>
                <a:lnTo>
                  <a:pt x="952611" y="212573"/>
                </a:lnTo>
                <a:lnTo>
                  <a:pt x="1004891" y="223740"/>
                </a:lnTo>
                <a:lnTo>
                  <a:pt x="1057067" y="234802"/>
                </a:lnTo>
                <a:lnTo>
                  <a:pt x="1109133" y="245754"/>
                </a:lnTo>
                <a:lnTo>
                  <a:pt x="1161084" y="256591"/>
                </a:lnTo>
                <a:lnTo>
                  <a:pt x="1212914" y="267307"/>
                </a:lnTo>
                <a:lnTo>
                  <a:pt x="1264618" y="277897"/>
                </a:lnTo>
                <a:lnTo>
                  <a:pt x="1316191" y="288355"/>
                </a:lnTo>
                <a:lnTo>
                  <a:pt x="1367626" y="298676"/>
                </a:lnTo>
                <a:lnTo>
                  <a:pt x="1418919" y="308854"/>
                </a:lnTo>
                <a:lnTo>
                  <a:pt x="1470064" y="318884"/>
                </a:lnTo>
                <a:lnTo>
                  <a:pt x="1521055" y="328760"/>
                </a:lnTo>
                <a:lnTo>
                  <a:pt x="1571887" y="338477"/>
                </a:lnTo>
                <a:lnTo>
                  <a:pt x="1622554" y="348029"/>
                </a:lnTo>
                <a:lnTo>
                  <a:pt x="1673052" y="357411"/>
                </a:lnTo>
                <a:lnTo>
                  <a:pt x="1723373" y="366618"/>
                </a:lnTo>
                <a:lnTo>
                  <a:pt x="1773514" y="375643"/>
                </a:lnTo>
                <a:lnTo>
                  <a:pt x="1823469" y="384481"/>
                </a:lnTo>
                <a:lnTo>
                  <a:pt x="1873231" y="393128"/>
                </a:lnTo>
                <a:lnTo>
                  <a:pt x="1922796" y="401577"/>
                </a:lnTo>
                <a:lnTo>
                  <a:pt x="1972158" y="409822"/>
                </a:lnTo>
                <a:lnTo>
                  <a:pt x="2021311" y="417859"/>
                </a:lnTo>
                <a:lnTo>
                  <a:pt x="2070251" y="425682"/>
                </a:lnTo>
                <a:lnTo>
                  <a:pt x="2118971" y="433285"/>
                </a:lnTo>
                <a:lnTo>
                  <a:pt x="2167466" y="440663"/>
                </a:lnTo>
                <a:lnTo>
                  <a:pt x="2215731" y="447811"/>
                </a:lnTo>
                <a:lnTo>
                  <a:pt x="2263760" y="454722"/>
                </a:lnTo>
                <a:lnTo>
                  <a:pt x="2311548" y="461392"/>
                </a:lnTo>
                <a:lnTo>
                  <a:pt x="2359088" y="467815"/>
                </a:lnTo>
                <a:lnTo>
                  <a:pt x="2406377" y="473985"/>
                </a:lnTo>
                <a:lnTo>
                  <a:pt x="2453407" y="479897"/>
                </a:lnTo>
                <a:lnTo>
                  <a:pt x="2500175" y="485546"/>
                </a:lnTo>
                <a:lnTo>
                  <a:pt x="2546673" y="490926"/>
                </a:lnTo>
                <a:lnTo>
                  <a:pt x="2592898" y="496031"/>
                </a:lnTo>
                <a:lnTo>
                  <a:pt x="2638842" y="500856"/>
                </a:lnTo>
                <a:lnTo>
                  <a:pt x="2684501" y="505396"/>
                </a:lnTo>
                <a:lnTo>
                  <a:pt x="2729870" y="509644"/>
                </a:lnTo>
                <a:lnTo>
                  <a:pt x="2774942" y="513596"/>
                </a:lnTo>
                <a:lnTo>
                  <a:pt x="2819713" y="517247"/>
                </a:lnTo>
                <a:lnTo>
                  <a:pt x="2864177" y="520589"/>
                </a:lnTo>
                <a:lnTo>
                  <a:pt x="2908327" y="523619"/>
                </a:lnTo>
                <a:lnTo>
                  <a:pt x="2952160" y="526331"/>
                </a:lnTo>
                <a:lnTo>
                  <a:pt x="2995669" y="528718"/>
                </a:lnTo>
                <a:lnTo>
                  <a:pt x="3038849" y="530776"/>
                </a:lnTo>
                <a:lnTo>
                  <a:pt x="3081694" y="532499"/>
                </a:lnTo>
                <a:lnTo>
                  <a:pt x="3124200" y="533882"/>
                </a:lnTo>
                <a:lnTo>
                  <a:pt x="3183130" y="535241"/>
                </a:lnTo>
                <a:lnTo>
                  <a:pt x="3241398" y="535936"/>
                </a:lnTo>
                <a:lnTo>
                  <a:pt x="3299019" y="535984"/>
                </a:lnTo>
                <a:lnTo>
                  <a:pt x="3356008" y="535399"/>
                </a:lnTo>
                <a:lnTo>
                  <a:pt x="3412380" y="534196"/>
                </a:lnTo>
                <a:lnTo>
                  <a:pt x="3468149" y="532391"/>
                </a:lnTo>
                <a:lnTo>
                  <a:pt x="3523332" y="529998"/>
                </a:lnTo>
                <a:lnTo>
                  <a:pt x="3577943" y="527033"/>
                </a:lnTo>
                <a:lnTo>
                  <a:pt x="3631996" y="523510"/>
                </a:lnTo>
                <a:lnTo>
                  <a:pt x="3685508" y="519445"/>
                </a:lnTo>
                <a:lnTo>
                  <a:pt x="3738493" y="514852"/>
                </a:lnTo>
                <a:lnTo>
                  <a:pt x="3790966" y="509748"/>
                </a:lnTo>
                <a:lnTo>
                  <a:pt x="3842943" y="504146"/>
                </a:lnTo>
                <a:lnTo>
                  <a:pt x="3894438" y="498062"/>
                </a:lnTo>
                <a:lnTo>
                  <a:pt x="3945466" y="491511"/>
                </a:lnTo>
                <a:lnTo>
                  <a:pt x="3996043" y="484508"/>
                </a:lnTo>
                <a:lnTo>
                  <a:pt x="4046183" y="477068"/>
                </a:lnTo>
                <a:lnTo>
                  <a:pt x="4095902" y="469206"/>
                </a:lnTo>
                <a:lnTo>
                  <a:pt x="4145214" y="460937"/>
                </a:lnTo>
                <a:lnTo>
                  <a:pt x="4194135" y="452277"/>
                </a:lnTo>
                <a:lnTo>
                  <a:pt x="4242680" y="443240"/>
                </a:lnTo>
                <a:lnTo>
                  <a:pt x="4290864" y="433842"/>
                </a:lnTo>
                <a:lnTo>
                  <a:pt x="4338701" y="424097"/>
                </a:lnTo>
                <a:lnTo>
                  <a:pt x="4386207" y="414021"/>
                </a:lnTo>
                <a:lnTo>
                  <a:pt x="4433397" y="403628"/>
                </a:lnTo>
                <a:lnTo>
                  <a:pt x="4480286" y="392934"/>
                </a:lnTo>
                <a:lnTo>
                  <a:pt x="4526889" y="381954"/>
                </a:lnTo>
                <a:lnTo>
                  <a:pt x="4573221" y="370702"/>
                </a:lnTo>
                <a:lnTo>
                  <a:pt x="4619297" y="359195"/>
                </a:lnTo>
                <a:lnTo>
                  <a:pt x="4665133" y="347446"/>
                </a:lnTo>
                <a:lnTo>
                  <a:pt x="4710742" y="335472"/>
                </a:lnTo>
                <a:lnTo>
                  <a:pt x="4756141" y="323286"/>
                </a:lnTo>
                <a:lnTo>
                  <a:pt x="4801345" y="310905"/>
                </a:lnTo>
                <a:lnTo>
                  <a:pt x="4846367" y="298343"/>
                </a:lnTo>
                <a:lnTo>
                  <a:pt x="4891224" y="285615"/>
                </a:lnTo>
                <a:lnTo>
                  <a:pt x="4935931" y="272737"/>
                </a:lnTo>
                <a:lnTo>
                  <a:pt x="4980502" y="259723"/>
                </a:lnTo>
                <a:lnTo>
                  <a:pt x="5024952" y="246588"/>
                </a:lnTo>
                <a:lnTo>
                  <a:pt x="5069298" y="233349"/>
                </a:lnTo>
                <a:lnTo>
                  <a:pt x="5113553" y="220018"/>
                </a:lnTo>
                <a:lnTo>
                  <a:pt x="5157732" y="206613"/>
                </a:lnTo>
                <a:lnTo>
                  <a:pt x="5201852" y="193147"/>
                </a:lnTo>
                <a:lnTo>
                  <a:pt x="5245926" y="179636"/>
                </a:lnTo>
                <a:lnTo>
                  <a:pt x="5289970" y="166095"/>
                </a:lnTo>
                <a:lnTo>
                  <a:pt x="5333999" y="152539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824227" y="4865370"/>
          <a:ext cx="914400" cy="994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442595"/>
              </a:tblGrid>
              <a:tr h="4503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3020"/>
                        </a:lnSpc>
                      </a:pPr>
                      <a:r>
                        <a:rPr dirty="0" sz="2800" b="1">
                          <a:solidFill>
                            <a:srgbClr val="800000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9496">
                <a:tc gridSpan="2"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2400" b="1">
                          <a:latin typeface="宋体"/>
                          <a:cs typeface="宋体"/>
                        </a:rPr>
                        <a:t>学生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812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33993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468361" y="4648961"/>
            <a:ext cx="152400" cy="838200"/>
          </a:xfrm>
          <a:custGeom>
            <a:avLst/>
            <a:gdLst/>
            <a:ahLst/>
            <a:cxnLst/>
            <a:rect l="l" t="t" r="r" b="b"/>
            <a:pathLst>
              <a:path w="152400" h="838200">
                <a:moveTo>
                  <a:pt x="0" y="0"/>
                </a:moveTo>
                <a:lnTo>
                  <a:pt x="152400" y="838200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302754" y="4898897"/>
            <a:ext cx="638175" cy="1045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0209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2400" spc="-5" b="1">
                <a:latin typeface="宋体"/>
                <a:cs typeface="宋体"/>
              </a:rPr>
              <a:t>选课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19873" y="6042152"/>
            <a:ext cx="163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33" y="394461"/>
            <a:ext cx="3724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视图的集成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601584" cy="490982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二、消除不必要的冗余，设</a:t>
            </a:r>
            <a:r>
              <a:rPr dirty="0" sz="3200" spc="-15" b="1">
                <a:solidFill>
                  <a:srgbClr val="0000FF"/>
                </a:solidFill>
                <a:latin typeface="宋体"/>
                <a:cs typeface="宋体"/>
              </a:rPr>
              <a:t>计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基</a:t>
            </a:r>
            <a:r>
              <a:rPr dirty="0" sz="3200" spc="5" b="1">
                <a:solidFill>
                  <a:srgbClr val="0000FF"/>
                </a:solidFill>
                <a:latin typeface="宋体"/>
                <a:cs typeface="宋体"/>
              </a:rPr>
              <a:t>本</a:t>
            </a:r>
            <a:r>
              <a:rPr dirty="0" sz="3200" spc="-5" b="1">
                <a:solidFill>
                  <a:srgbClr val="0000FF"/>
                </a:solidFill>
                <a:latin typeface="Times New Roman"/>
                <a:cs typeface="Times New Roman"/>
              </a:rPr>
              <a:t>E-R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  <a:p>
            <a:pPr lvl="1" marL="756285" marR="42545" indent="-287020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在初步</a:t>
            </a:r>
            <a:r>
              <a:rPr dirty="0" sz="3000" spc="5" b="1">
                <a:solidFill>
                  <a:srgbClr val="005F00"/>
                </a:solidFill>
                <a:latin typeface="Times New Roman"/>
                <a:cs typeface="Times New Roman"/>
              </a:rPr>
              <a:t>E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-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图中，可能存在一些冗余的数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据和实体间冗余的联系。冗余数据和冗 余联系容易破坏数据库的完整性，给数 据库的维护增加困难，因当消除。消除 了冗余的初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步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图称为基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本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图。</a:t>
            </a:r>
            <a:endParaRPr sz="3000">
              <a:latin typeface="黑体"/>
              <a:cs typeface="黑体"/>
            </a:endParaRPr>
          </a:p>
          <a:p>
            <a:pPr algn="just" lvl="1" marL="756285" marR="316865" indent="-287020">
              <a:lnSpc>
                <a:spcPct val="98500"/>
              </a:lnSpc>
              <a:spcBef>
                <a:spcPts val="9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消除冗余主要采用分析方法，即以数据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字典和数据流图为依据，根据数据字典 中关于数据项之间逻辑关系的说明来消 除冗余。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33" y="394461"/>
            <a:ext cx="3724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视图的集成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046599"/>
            <a:ext cx="7626984" cy="351917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683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68300" algn="l"/>
                <a:tab pos="3689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二、消除不必要的冗余，设</a:t>
            </a:r>
            <a:r>
              <a:rPr dirty="0" sz="3200" spc="-15" b="1">
                <a:solidFill>
                  <a:srgbClr val="0000FF"/>
                </a:solidFill>
                <a:latin typeface="宋体"/>
                <a:cs typeface="宋体"/>
              </a:rPr>
              <a:t>计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基</a:t>
            </a:r>
            <a:r>
              <a:rPr dirty="0" sz="3200" spc="5" b="1">
                <a:solidFill>
                  <a:srgbClr val="0000FF"/>
                </a:solidFill>
                <a:latin typeface="宋体"/>
                <a:cs typeface="宋体"/>
              </a:rPr>
              <a:t>本</a:t>
            </a:r>
            <a:r>
              <a:rPr dirty="0" sz="3200" spc="-5" b="1">
                <a:solidFill>
                  <a:srgbClr val="0000FF"/>
                </a:solidFill>
                <a:latin typeface="Times New Roman"/>
                <a:cs typeface="Times New Roman"/>
              </a:rPr>
              <a:t>E-R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  <a:p>
            <a:pPr lvl="1" marL="768985" marR="329565" indent="-287020">
              <a:lnSpc>
                <a:spcPts val="3429"/>
              </a:lnSpc>
              <a:spcBef>
                <a:spcPts val="1145"/>
              </a:spcBef>
              <a:buSzPct val="96666"/>
              <a:buFont typeface="Wingdings"/>
              <a:buChar char=""/>
              <a:tabLst>
                <a:tab pos="7867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除分析方法外，还可以用规范化理论来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消除冗余。具体方法如下：</a:t>
            </a:r>
            <a:endParaRPr sz="3000">
              <a:latin typeface="黑体"/>
              <a:cs typeface="黑体"/>
            </a:endParaRPr>
          </a:p>
          <a:p>
            <a:pPr marL="939800">
              <a:lnSpc>
                <a:spcPct val="100000"/>
              </a:lnSpc>
              <a:spcBef>
                <a:spcPts val="59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确定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分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E-R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图实体之间的数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据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依</a:t>
            </a:r>
            <a:r>
              <a:rPr dirty="0" sz="2800" spc="15" b="1">
                <a:solidFill>
                  <a:srgbClr val="000066"/>
                </a:solidFill>
                <a:latin typeface="宋体"/>
                <a:cs typeface="宋体"/>
              </a:rPr>
              <a:t>赖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F</a:t>
            </a:r>
            <a:r>
              <a:rPr dirty="0" baseline="-21021" sz="2775" b="1">
                <a:solidFill>
                  <a:srgbClr val="000066"/>
                </a:solidFill>
                <a:latin typeface="Times New Roman"/>
                <a:cs typeface="Times New Roman"/>
              </a:rPr>
              <a:t>L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1168400" marR="85090" indent="-2286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求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F</a:t>
            </a:r>
            <a:r>
              <a:rPr dirty="0" baseline="-21021" sz="2775" b="1">
                <a:solidFill>
                  <a:srgbClr val="000066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的最小覆盖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G</a:t>
            </a:r>
            <a:r>
              <a:rPr dirty="0" baseline="-21021" sz="2775" spc="-7" b="1">
                <a:solidFill>
                  <a:srgbClr val="000066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，差集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为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D=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F</a:t>
            </a:r>
            <a:r>
              <a:rPr dirty="0" baseline="-21021" sz="2775" b="1">
                <a:solidFill>
                  <a:srgbClr val="000066"/>
                </a:solidFill>
                <a:latin typeface="Times New Roman"/>
                <a:cs typeface="Times New Roman"/>
              </a:rPr>
              <a:t>L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-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G</a:t>
            </a:r>
            <a:r>
              <a:rPr dirty="0" baseline="-21021" sz="2775" b="1">
                <a:solidFill>
                  <a:srgbClr val="000066"/>
                </a:solidFill>
                <a:latin typeface="Times New Roman"/>
                <a:cs typeface="Times New Roman"/>
              </a:rPr>
              <a:t>L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逐一考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察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中的函数依赖，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确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定是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否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是冗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余的联系，若是，就把它去掉。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33" y="394461"/>
            <a:ext cx="3724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§3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视图的集成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2589530" cy="116014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合并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图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3600" y="3340608"/>
            <a:ext cx="901065" cy="539750"/>
          </a:xfrm>
          <a:prstGeom prst="rect">
            <a:avLst/>
          </a:prstGeom>
          <a:solidFill>
            <a:srgbClr val="99CC00"/>
          </a:solidFill>
        </p:spPr>
        <p:txBody>
          <a:bodyPr wrap="square" lIns="0" tIns="81280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640"/>
              </a:spcBef>
            </a:pPr>
            <a:r>
              <a:rPr dirty="0" sz="2400" b="1">
                <a:latin typeface="宋体"/>
                <a:cs typeface="宋体"/>
              </a:rPr>
              <a:t>课程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0600" y="5391911"/>
            <a:ext cx="901065" cy="539750"/>
          </a:xfrm>
          <a:custGeom>
            <a:avLst/>
            <a:gdLst/>
            <a:ahLst/>
            <a:cxnLst/>
            <a:rect l="l" t="t" r="r" b="b"/>
            <a:pathLst>
              <a:path w="901064" h="539750">
                <a:moveTo>
                  <a:pt x="0" y="539496"/>
                </a:moveTo>
                <a:lnTo>
                  <a:pt x="900684" y="539496"/>
                </a:lnTo>
                <a:lnTo>
                  <a:pt x="900684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00600" y="5460593"/>
            <a:ext cx="901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教师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9200" y="43312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62427" y="3374135"/>
            <a:ext cx="909955" cy="5486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85725" rIns="0" bIns="0" rtlCol="0" vert="horz">
            <a:spAutoFit/>
          </a:bodyPr>
          <a:lstStyle/>
          <a:p>
            <a:pPr marL="14859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latin typeface="宋体"/>
                <a:cs typeface="宋体"/>
              </a:rPr>
              <a:t>学院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1961" y="3963161"/>
            <a:ext cx="1066800" cy="368935"/>
          </a:xfrm>
          <a:custGeom>
            <a:avLst/>
            <a:gdLst/>
            <a:ahLst/>
            <a:cxnLst/>
            <a:rect l="l" t="t" r="r" b="b"/>
            <a:pathLst>
              <a:path w="1066800" h="368935">
                <a:moveTo>
                  <a:pt x="1066800" y="0"/>
                </a:moveTo>
                <a:lnTo>
                  <a:pt x="0" y="368807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29000" y="4387596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699"/>
                </a:lnTo>
                <a:lnTo>
                  <a:pt x="762000" y="533399"/>
                </a:lnTo>
                <a:lnTo>
                  <a:pt x="1524000" y="266699"/>
                </a:lnTo>
                <a:lnTo>
                  <a:pt x="76200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01161" y="3963161"/>
            <a:ext cx="990600" cy="425450"/>
          </a:xfrm>
          <a:custGeom>
            <a:avLst/>
            <a:gdLst/>
            <a:ahLst/>
            <a:cxnLst/>
            <a:rect l="l" t="t" r="r" b="b"/>
            <a:pathLst>
              <a:path w="990600" h="425450">
                <a:moveTo>
                  <a:pt x="0" y="0"/>
                </a:moveTo>
                <a:lnTo>
                  <a:pt x="990600" y="425195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91761" y="4941570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0" y="0"/>
                </a:moveTo>
                <a:lnTo>
                  <a:pt x="990600" y="457199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38800" y="4407408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083300" y="4473067"/>
            <a:ext cx="638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授课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01561" y="3874770"/>
            <a:ext cx="0" cy="533400"/>
          </a:xfrm>
          <a:custGeom>
            <a:avLst/>
            <a:gdLst/>
            <a:ahLst/>
            <a:cxnLst/>
            <a:rect l="l" t="t" r="r" b="b"/>
            <a:pathLst>
              <a:path w="0" h="533400">
                <a:moveTo>
                  <a:pt x="0" y="0"/>
                </a:moveTo>
                <a:lnTo>
                  <a:pt x="0" y="533399"/>
                </a:lnTo>
              </a:path>
            </a:pathLst>
          </a:custGeom>
          <a:ln w="19812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58561" y="4941570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1066800" y="0"/>
                </a:moveTo>
                <a:lnTo>
                  <a:pt x="0" y="457199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63064" y="3504762"/>
            <a:ext cx="762635" cy="1283335"/>
          </a:xfrm>
          <a:prstGeom prst="rect">
            <a:avLst/>
          </a:prstGeom>
        </p:spPr>
        <p:txBody>
          <a:bodyPr wrap="square" lIns="0" tIns="26289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070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2400" b="1">
                <a:latin typeface="宋体"/>
                <a:cs typeface="宋体"/>
              </a:rPr>
              <a:t>就读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73246" y="3603886"/>
            <a:ext cx="638175" cy="1241425"/>
          </a:xfrm>
          <a:prstGeom prst="rect">
            <a:avLst/>
          </a:prstGeom>
        </p:spPr>
        <p:txBody>
          <a:bodyPr wrap="square" lIns="0" tIns="2400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90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spc="-5" b="1">
                <a:latin typeface="宋体"/>
                <a:cs typeface="宋体"/>
              </a:rPr>
              <a:t>工作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0375" y="51143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21906" y="3971671"/>
            <a:ext cx="3213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23228" y="51143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53200" y="5486400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762000" y="0"/>
                </a:moveTo>
                <a:lnTo>
                  <a:pt x="0" y="266700"/>
                </a:lnTo>
                <a:lnTo>
                  <a:pt x="762000" y="533400"/>
                </a:lnTo>
                <a:lnTo>
                  <a:pt x="1524000" y="266700"/>
                </a:lnTo>
                <a:lnTo>
                  <a:pt x="762000" y="0"/>
                </a:lnTo>
                <a:close/>
              </a:path>
            </a:pathLst>
          </a:custGeom>
          <a:solidFill>
            <a:srgbClr val="00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981961" y="5868161"/>
            <a:ext cx="5334000" cy="536575"/>
          </a:xfrm>
          <a:custGeom>
            <a:avLst/>
            <a:gdLst/>
            <a:ahLst/>
            <a:cxnLst/>
            <a:rect l="l" t="t" r="r" b="b"/>
            <a:pathLst>
              <a:path w="5334000" h="536575">
                <a:moveTo>
                  <a:pt x="0" y="0"/>
                </a:moveTo>
                <a:lnTo>
                  <a:pt x="53218" y="12105"/>
                </a:lnTo>
                <a:lnTo>
                  <a:pt x="106430" y="24204"/>
                </a:lnTo>
                <a:lnTo>
                  <a:pt x="159632" y="36293"/>
                </a:lnTo>
                <a:lnTo>
                  <a:pt x="212817" y="48365"/>
                </a:lnTo>
                <a:lnTo>
                  <a:pt x="265980" y="60416"/>
                </a:lnTo>
                <a:lnTo>
                  <a:pt x="319116" y="72439"/>
                </a:lnTo>
                <a:lnTo>
                  <a:pt x="372219" y="84429"/>
                </a:lnTo>
                <a:lnTo>
                  <a:pt x="425284" y="96380"/>
                </a:lnTo>
                <a:lnTo>
                  <a:pt x="478304" y="108288"/>
                </a:lnTo>
                <a:lnTo>
                  <a:pt x="531276" y="120146"/>
                </a:lnTo>
                <a:lnTo>
                  <a:pt x="584192" y="131949"/>
                </a:lnTo>
                <a:lnTo>
                  <a:pt x="637048" y="143692"/>
                </a:lnTo>
                <a:lnTo>
                  <a:pt x="689839" y="155369"/>
                </a:lnTo>
                <a:lnTo>
                  <a:pt x="742558" y="166974"/>
                </a:lnTo>
                <a:lnTo>
                  <a:pt x="795200" y="178503"/>
                </a:lnTo>
                <a:lnTo>
                  <a:pt x="847760" y="189949"/>
                </a:lnTo>
                <a:lnTo>
                  <a:pt x="900232" y="201308"/>
                </a:lnTo>
                <a:lnTo>
                  <a:pt x="952611" y="212573"/>
                </a:lnTo>
                <a:lnTo>
                  <a:pt x="1004891" y="223740"/>
                </a:lnTo>
                <a:lnTo>
                  <a:pt x="1057067" y="234802"/>
                </a:lnTo>
                <a:lnTo>
                  <a:pt x="1109133" y="245754"/>
                </a:lnTo>
                <a:lnTo>
                  <a:pt x="1161084" y="256591"/>
                </a:lnTo>
                <a:lnTo>
                  <a:pt x="1212914" y="267307"/>
                </a:lnTo>
                <a:lnTo>
                  <a:pt x="1264618" y="277897"/>
                </a:lnTo>
                <a:lnTo>
                  <a:pt x="1316191" y="288355"/>
                </a:lnTo>
                <a:lnTo>
                  <a:pt x="1367626" y="298676"/>
                </a:lnTo>
                <a:lnTo>
                  <a:pt x="1418919" y="308854"/>
                </a:lnTo>
                <a:lnTo>
                  <a:pt x="1470064" y="318884"/>
                </a:lnTo>
                <a:lnTo>
                  <a:pt x="1521055" y="328760"/>
                </a:lnTo>
                <a:lnTo>
                  <a:pt x="1571887" y="338477"/>
                </a:lnTo>
                <a:lnTo>
                  <a:pt x="1622554" y="348029"/>
                </a:lnTo>
                <a:lnTo>
                  <a:pt x="1673052" y="357411"/>
                </a:lnTo>
                <a:lnTo>
                  <a:pt x="1723373" y="366618"/>
                </a:lnTo>
                <a:lnTo>
                  <a:pt x="1773514" y="375643"/>
                </a:lnTo>
                <a:lnTo>
                  <a:pt x="1823469" y="384481"/>
                </a:lnTo>
                <a:lnTo>
                  <a:pt x="1873231" y="393128"/>
                </a:lnTo>
                <a:lnTo>
                  <a:pt x="1922796" y="401577"/>
                </a:lnTo>
                <a:lnTo>
                  <a:pt x="1972158" y="409822"/>
                </a:lnTo>
                <a:lnTo>
                  <a:pt x="2021311" y="417859"/>
                </a:lnTo>
                <a:lnTo>
                  <a:pt x="2070251" y="425682"/>
                </a:lnTo>
                <a:lnTo>
                  <a:pt x="2118971" y="433285"/>
                </a:lnTo>
                <a:lnTo>
                  <a:pt x="2167466" y="440663"/>
                </a:lnTo>
                <a:lnTo>
                  <a:pt x="2215731" y="447811"/>
                </a:lnTo>
                <a:lnTo>
                  <a:pt x="2263760" y="454722"/>
                </a:lnTo>
                <a:lnTo>
                  <a:pt x="2311548" y="461392"/>
                </a:lnTo>
                <a:lnTo>
                  <a:pt x="2359088" y="467815"/>
                </a:lnTo>
                <a:lnTo>
                  <a:pt x="2406377" y="473985"/>
                </a:lnTo>
                <a:lnTo>
                  <a:pt x="2453407" y="479897"/>
                </a:lnTo>
                <a:lnTo>
                  <a:pt x="2500175" y="485546"/>
                </a:lnTo>
                <a:lnTo>
                  <a:pt x="2546673" y="490926"/>
                </a:lnTo>
                <a:lnTo>
                  <a:pt x="2592898" y="496031"/>
                </a:lnTo>
                <a:lnTo>
                  <a:pt x="2638842" y="500856"/>
                </a:lnTo>
                <a:lnTo>
                  <a:pt x="2684501" y="505396"/>
                </a:lnTo>
                <a:lnTo>
                  <a:pt x="2729870" y="509644"/>
                </a:lnTo>
                <a:lnTo>
                  <a:pt x="2774942" y="513596"/>
                </a:lnTo>
                <a:lnTo>
                  <a:pt x="2819713" y="517247"/>
                </a:lnTo>
                <a:lnTo>
                  <a:pt x="2864177" y="520589"/>
                </a:lnTo>
                <a:lnTo>
                  <a:pt x="2908327" y="523619"/>
                </a:lnTo>
                <a:lnTo>
                  <a:pt x="2952160" y="526331"/>
                </a:lnTo>
                <a:lnTo>
                  <a:pt x="2995669" y="528718"/>
                </a:lnTo>
                <a:lnTo>
                  <a:pt x="3038849" y="530776"/>
                </a:lnTo>
                <a:lnTo>
                  <a:pt x="3081694" y="532499"/>
                </a:lnTo>
                <a:lnTo>
                  <a:pt x="3124200" y="533882"/>
                </a:lnTo>
                <a:lnTo>
                  <a:pt x="3183130" y="535241"/>
                </a:lnTo>
                <a:lnTo>
                  <a:pt x="3241398" y="535936"/>
                </a:lnTo>
                <a:lnTo>
                  <a:pt x="3299019" y="535984"/>
                </a:lnTo>
                <a:lnTo>
                  <a:pt x="3356008" y="535399"/>
                </a:lnTo>
                <a:lnTo>
                  <a:pt x="3412380" y="534196"/>
                </a:lnTo>
                <a:lnTo>
                  <a:pt x="3468149" y="532391"/>
                </a:lnTo>
                <a:lnTo>
                  <a:pt x="3523332" y="529998"/>
                </a:lnTo>
                <a:lnTo>
                  <a:pt x="3577943" y="527033"/>
                </a:lnTo>
                <a:lnTo>
                  <a:pt x="3631996" y="523510"/>
                </a:lnTo>
                <a:lnTo>
                  <a:pt x="3685508" y="519445"/>
                </a:lnTo>
                <a:lnTo>
                  <a:pt x="3738493" y="514852"/>
                </a:lnTo>
                <a:lnTo>
                  <a:pt x="3790966" y="509748"/>
                </a:lnTo>
                <a:lnTo>
                  <a:pt x="3842943" y="504146"/>
                </a:lnTo>
                <a:lnTo>
                  <a:pt x="3894438" y="498062"/>
                </a:lnTo>
                <a:lnTo>
                  <a:pt x="3945466" y="491511"/>
                </a:lnTo>
                <a:lnTo>
                  <a:pt x="3996043" y="484508"/>
                </a:lnTo>
                <a:lnTo>
                  <a:pt x="4046183" y="477068"/>
                </a:lnTo>
                <a:lnTo>
                  <a:pt x="4095902" y="469206"/>
                </a:lnTo>
                <a:lnTo>
                  <a:pt x="4145214" y="460937"/>
                </a:lnTo>
                <a:lnTo>
                  <a:pt x="4194135" y="452277"/>
                </a:lnTo>
                <a:lnTo>
                  <a:pt x="4242680" y="443240"/>
                </a:lnTo>
                <a:lnTo>
                  <a:pt x="4290864" y="433842"/>
                </a:lnTo>
                <a:lnTo>
                  <a:pt x="4338701" y="424097"/>
                </a:lnTo>
                <a:lnTo>
                  <a:pt x="4386207" y="414021"/>
                </a:lnTo>
                <a:lnTo>
                  <a:pt x="4433397" y="403628"/>
                </a:lnTo>
                <a:lnTo>
                  <a:pt x="4480286" y="392934"/>
                </a:lnTo>
                <a:lnTo>
                  <a:pt x="4526889" y="381954"/>
                </a:lnTo>
                <a:lnTo>
                  <a:pt x="4573221" y="370702"/>
                </a:lnTo>
                <a:lnTo>
                  <a:pt x="4619297" y="359195"/>
                </a:lnTo>
                <a:lnTo>
                  <a:pt x="4665133" y="347446"/>
                </a:lnTo>
                <a:lnTo>
                  <a:pt x="4710742" y="335472"/>
                </a:lnTo>
                <a:lnTo>
                  <a:pt x="4756141" y="323286"/>
                </a:lnTo>
                <a:lnTo>
                  <a:pt x="4801345" y="310905"/>
                </a:lnTo>
                <a:lnTo>
                  <a:pt x="4846367" y="298343"/>
                </a:lnTo>
                <a:lnTo>
                  <a:pt x="4891224" y="285615"/>
                </a:lnTo>
                <a:lnTo>
                  <a:pt x="4935931" y="272737"/>
                </a:lnTo>
                <a:lnTo>
                  <a:pt x="4980502" y="259723"/>
                </a:lnTo>
                <a:lnTo>
                  <a:pt x="5024952" y="246588"/>
                </a:lnTo>
                <a:lnTo>
                  <a:pt x="5069298" y="233349"/>
                </a:lnTo>
                <a:lnTo>
                  <a:pt x="5113553" y="220018"/>
                </a:lnTo>
                <a:lnTo>
                  <a:pt x="5157732" y="206613"/>
                </a:lnTo>
                <a:lnTo>
                  <a:pt x="5201852" y="193147"/>
                </a:lnTo>
                <a:lnTo>
                  <a:pt x="5245926" y="179636"/>
                </a:lnTo>
                <a:lnTo>
                  <a:pt x="5289970" y="166095"/>
                </a:lnTo>
                <a:lnTo>
                  <a:pt x="5333999" y="152539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519427" y="4865370"/>
          <a:ext cx="914400" cy="994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442595"/>
              </a:tblGrid>
              <a:tr h="4503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3020"/>
                        </a:lnSpc>
                      </a:pPr>
                      <a:r>
                        <a:rPr dirty="0" sz="2800" b="1">
                          <a:solidFill>
                            <a:srgbClr val="800000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9496">
                <a:tc gridSpan="2"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2400" b="1">
                          <a:latin typeface="宋体"/>
                          <a:cs typeface="宋体"/>
                        </a:rPr>
                        <a:t>学生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812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33993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163561" y="4648961"/>
            <a:ext cx="152400" cy="838200"/>
          </a:xfrm>
          <a:custGeom>
            <a:avLst/>
            <a:gdLst/>
            <a:ahLst/>
            <a:cxnLst/>
            <a:rect l="l" t="t" r="r" b="b"/>
            <a:pathLst>
              <a:path w="152400" h="838200">
                <a:moveTo>
                  <a:pt x="0" y="0"/>
                </a:moveTo>
                <a:lnTo>
                  <a:pt x="152400" y="838200"/>
                </a:lnTo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997954" y="4898897"/>
            <a:ext cx="638175" cy="1045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63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2400" spc="-5" b="1">
                <a:latin typeface="宋体"/>
                <a:cs typeface="宋体"/>
              </a:rPr>
              <a:t>选课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15073" y="6042152"/>
            <a:ext cx="163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950" y="394461"/>
            <a:ext cx="38481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4</a:t>
            </a:r>
            <a:r>
              <a:rPr dirty="0"/>
              <a:t>	</a:t>
            </a:r>
            <a:r>
              <a:rPr dirty="0" spc="-10"/>
              <a:t>逻辑结构设计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96327"/>
            <a:ext cx="4347845" cy="277050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16230" indent="-304165">
              <a:lnSpc>
                <a:spcPct val="100000"/>
              </a:lnSpc>
              <a:spcBef>
                <a:spcPts val="8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2" action="ppaction://hlinksldjump"/>
              </a:rPr>
              <a:t>逻辑结构设计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宋体"/>
                <a:cs typeface="宋体"/>
                <a:hlinkClick r:id="rId3" action="ppaction://hlinksldjump"/>
              </a:rPr>
              <a:t>E-R</a:t>
            </a: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3" action="ppaction://hlinksldjump"/>
              </a:rPr>
              <a:t>图向关系模型的转换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4" action="ppaction://hlinksldjump"/>
              </a:rPr>
              <a:t>数据模型的优化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5" action="ppaction://hlinksldjump"/>
              </a:rPr>
              <a:t>设计用户子模式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6" action="ppaction://hlinksldjump"/>
              </a:rPr>
              <a:t>评价数据模型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950" y="394461"/>
            <a:ext cx="38481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4</a:t>
            </a:r>
            <a:r>
              <a:rPr dirty="0"/>
              <a:t>	</a:t>
            </a:r>
            <a:r>
              <a:rPr dirty="0" spc="-10"/>
              <a:t>逻辑结构设计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990"/>
            <a:ext cx="7638415" cy="467677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6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逻辑结构设计</a:t>
            </a:r>
            <a:endParaRPr sz="3200">
              <a:latin typeface="宋体"/>
              <a:cs typeface="宋体"/>
            </a:endParaRPr>
          </a:p>
          <a:p>
            <a:pPr lvl="1" marL="756285" marR="140970" indent="-287020">
              <a:lnSpc>
                <a:spcPct val="87700"/>
              </a:lnSpc>
              <a:spcBef>
                <a:spcPts val="969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就是把概念结构设计阶段设计好的基本 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E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-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图转换为与选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用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D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B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MS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产品所支持的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数据模型相符合的逻辑结构。</a:t>
            </a:r>
            <a:endParaRPr sz="3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850">
              <a:latin typeface="黑体"/>
              <a:cs typeface="黑体"/>
            </a:endParaRPr>
          </a:p>
          <a:p>
            <a:pPr marL="1155700" marR="321945" indent="-228600">
              <a:lnSpc>
                <a:spcPts val="2870"/>
              </a:lnSpc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概念结构是独立于任何一种数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据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模型的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信息结构。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2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逻辑结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构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设计是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与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具体</a:t>
            </a:r>
            <a:r>
              <a:rPr dirty="0" sz="2800" spc="45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DBMS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相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关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实际情况中往往由用户来选</a:t>
            </a:r>
            <a:r>
              <a:rPr dirty="0" sz="2800" spc="15" b="1">
                <a:solidFill>
                  <a:srgbClr val="000066"/>
                </a:solidFill>
                <a:latin typeface="宋体"/>
                <a:cs typeface="宋体"/>
              </a:rPr>
              <a:t>择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DBMS</a:t>
            </a:r>
            <a:r>
              <a:rPr dirty="0" sz="2800" spc="25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950" y="394461"/>
            <a:ext cx="38481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4</a:t>
            </a:r>
            <a:r>
              <a:rPr dirty="0"/>
              <a:t>	</a:t>
            </a:r>
            <a:r>
              <a:rPr dirty="0" spc="-10"/>
              <a:t>逻辑结构设计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663180" cy="317182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设计逻辑结构时一般要分三</a:t>
            </a:r>
            <a:r>
              <a:rPr dirty="0" sz="3200" spc="-15" b="1">
                <a:solidFill>
                  <a:srgbClr val="0000FF"/>
                </a:solidFill>
                <a:latin typeface="宋体"/>
                <a:cs typeface="宋体"/>
              </a:rPr>
              <a:t>步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进行：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1.</a:t>
            </a:r>
            <a:r>
              <a:rPr dirty="0" sz="3000" spc="-3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005F00"/>
                </a:solidFill>
                <a:latin typeface="黑体"/>
                <a:cs typeface="黑体"/>
              </a:rPr>
              <a:t>将概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念</a:t>
            </a:r>
            <a:r>
              <a:rPr dirty="0" sz="3000" spc="-10" b="1">
                <a:solidFill>
                  <a:srgbClr val="005F00"/>
                </a:solidFill>
                <a:latin typeface="黑体"/>
                <a:cs typeface="黑体"/>
              </a:rPr>
              <a:t>结构转换为一般的关系、网状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、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层状模型；</a:t>
            </a:r>
            <a:endParaRPr sz="3000">
              <a:latin typeface="黑体"/>
              <a:cs typeface="黑体"/>
            </a:endParaRPr>
          </a:p>
          <a:p>
            <a:pPr lvl="1" marL="756285" marR="380365" indent="-287020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2.</a:t>
            </a:r>
            <a:r>
              <a:rPr dirty="0" sz="3000" spc="-8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将转换来的关系、网状、层状模型向 特定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DBMS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支持下的数据模型转换；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3.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对数据模型进行优化；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0541" y="394461"/>
            <a:ext cx="6582409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3320" algn="l"/>
              </a:tabLst>
            </a:pPr>
            <a:r>
              <a:rPr dirty="0" spc="-10"/>
              <a:t>§4.1	</a:t>
            </a:r>
            <a:r>
              <a:rPr dirty="0" spc="-5"/>
              <a:t>E-R</a:t>
            </a:r>
            <a:r>
              <a:rPr dirty="0" spc="-10"/>
              <a:t>图向关系模型的转换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67129"/>
            <a:ext cx="719772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E-R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图向关系模型的转换要解决的问题是 如何将实体和实体间的联系转换为关系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模式，如何确定这些关系模式的属和码。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0541" y="394461"/>
            <a:ext cx="6582409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3320" algn="l"/>
              </a:tabLst>
            </a:pPr>
            <a:r>
              <a:rPr dirty="0" spc="-10"/>
              <a:t>§4.1	</a:t>
            </a:r>
            <a:r>
              <a:rPr dirty="0" spc="-5"/>
              <a:t>E-R</a:t>
            </a:r>
            <a:r>
              <a:rPr dirty="0" spc="-10"/>
              <a:t>图向关系模型的转换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42746"/>
            <a:ext cx="7214234" cy="522795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99085" marR="5080" indent="-287020">
              <a:lnSpc>
                <a:spcPts val="3070"/>
              </a:lnSpc>
              <a:spcBef>
                <a:spcPts val="640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将实体和实体间的联系转换为关系模式，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这种转换一般遵循如原则：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34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）一个实体型转换为一个关系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模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式。</a:t>
            </a:r>
            <a:endParaRPr sz="2800">
              <a:latin typeface="宋体"/>
              <a:cs typeface="宋体"/>
            </a:endParaRPr>
          </a:p>
          <a:p>
            <a:pPr marL="697865" marR="174625" indent="-228600">
              <a:lnSpc>
                <a:spcPts val="3020"/>
              </a:lnSpc>
              <a:spcBef>
                <a:spcPts val="71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）一个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：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联系可以转为一个独立的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关系模式。</a:t>
            </a:r>
            <a:endParaRPr sz="2800">
              <a:latin typeface="宋体"/>
              <a:cs typeface="宋体"/>
            </a:endParaRPr>
          </a:p>
          <a:p>
            <a:pPr marL="697865" marR="155575" indent="-228600">
              <a:lnSpc>
                <a:spcPts val="3020"/>
              </a:lnSpc>
              <a:spcBef>
                <a:spcPts val="6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）一个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：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联系可以转为一个独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立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关系模式。</a:t>
            </a:r>
            <a:endParaRPr sz="2800">
              <a:latin typeface="宋体"/>
              <a:cs typeface="宋体"/>
            </a:endParaRPr>
          </a:p>
          <a:p>
            <a:pPr marL="697865" marR="398145" indent="-228600">
              <a:lnSpc>
                <a:spcPts val="303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）一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个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联系转换为一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个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关系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模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式。</a:t>
            </a:r>
            <a:endParaRPr sz="2800">
              <a:latin typeface="宋体"/>
              <a:cs typeface="宋体"/>
            </a:endParaRPr>
          </a:p>
          <a:p>
            <a:pPr marL="697865" marR="172720" indent="-228600">
              <a:lnSpc>
                <a:spcPts val="302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5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）三个或三个以上实体间的一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个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多元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联系可以转换为一个关系模式。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30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6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）具有相同码的关系模式可合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并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0541" y="394461"/>
            <a:ext cx="6582409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3320" algn="l"/>
              </a:tabLst>
            </a:pPr>
            <a:r>
              <a:rPr dirty="0" spc="-10"/>
              <a:t>§4.1	</a:t>
            </a:r>
            <a:r>
              <a:rPr dirty="0" spc="-5"/>
              <a:t>E-R</a:t>
            </a:r>
            <a:r>
              <a:rPr dirty="0" spc="-10"/>
              <a:t>图向关系模型的转换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4499"/>
            <a:ext cx="7644765" cy="454596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1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2800" spc="-15" b="1">
                <a:solidFill>
                  <a:srgbClr val="0000FF"/>
                </a:solidFill>
                <a:latin typeface="宋体"/>
                <a:cs typeface="宋体"/>
              </a:rPr>
              <a:t>例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765"/>
              </a:spcBef>
              <a:buFont typeface="Wingdings"/>
              <a:buChar char=""/>
              <a:tabLst>
                <a:tab pos="756920" algn="l"/>
              </a:tabLst>
            </a:pPr>
            <a:r>
              <a:rPr dirty="0" sz="2600" spc="5" b="1">
                <a:solidFill>
                  <a:srgbClr val="005F00"/>
                </a:solidFill>
                <a:latin typeface="宋体"/>
                <a:cs typeface="宋体"/>
              </a:rPr>
              <a:t>E-R</a:t>
            </a:r>
            <a:r>
              <a:rPr dirty="0" sz="2600" spc="10" b="1">
                <a:solidFill>
                  <a:srgbClr val="005F00"/>
                </a:solidFill>
                <a:latin typeface="黑体"/>
                <a:cs typeface="黑体"/>
              </a:rPr>
              <a:t>图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向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关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系模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型</a:t>
            </a:r>
            <a:r>
              <a:rPr dirty="0" sz="2600" b="1">
                <a:solidFill>
                  <a:srgbClr val="005F00"/>
                </a:solidFill>
                <a:latin typeface="黑体"/>
                <a:cs typeface="黑体"/>
              </a:rPr>
              <a:t>进行转</a:t>
            </a:r>
            <a:r>
              <a:rPr dirty="0" sz="2600" spc="-10" b="1">
                <a:solidFill>
                  <a:srgbClr val="005F00"/>
                </a:solidFill>
                <a:latin typeface="黑体"/>
                <a:cs typeface="黑体"/>
              </a:rPr>
              <a:t>换</a:t>
            </a:r>
            <a:endParaRPr sz="26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455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学生</a:t>
            </a:r>
            <a:r>
              <a:rPr dirty="0" sz="24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学号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，姓名，性别）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就读</a:t>
            </a:r>
            <a:r>
              <a:rPr dirty="0" sz="24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学号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，所在学院代号）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教师</a:t>
            </a:r>
            <a:r>
              <a:rPr dirty="0" sz="24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教师编号，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教师姓名，职称）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工作</a:t>
            </a:r>
            <a:r>
              <a:rPr dirty="0" sz="24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教师编号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，所在学院代号）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课程</a:t>
            </a:r>
            <a:r>
              <a:rPr dirty="0" sz="24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课程编号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，课程名称，课程类型，学分）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dirty="0" sz="2400" spc="-1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spc="-5" b="1">
                <a:solidFill>
                  <a:srgbClr val="000066"/>
                </a:solidFill>
                <a:latin typeface="宋体"/>
                <a:cs typeface="宋体"/>
              </a:rPr>
              <a:t>学院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4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学院名称</a:t>
            </a:r>
            <a:r>
              <a:rPr dirty="0" sz="2400" spc="-5" b="1">
                <a:solidFill>
                  <a:srgbClr val="000066"/>
                </a:solidFill>
                <a:latin typeface="宋体"/>
                <a:cs typeface="宋体"/>
              </a:rPr>
              <a:t>，学院代号）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授课</a:t>
            </a:r>
            <a:r>
              <a:rPr dirty="0" sz="24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教师编号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课程编</a:t>
            </a:r>
            <a:r>
              <a:rPr dirty="0" u="heavy" sz="24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号</a:t>
            </a:r>
            <a:r>
              <a:rPr dirty="0" sz="2400" spc="-10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选课</a:t>
            </a:r>
            <a:r>
              <a:rPr dirty="0" sz="24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学号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教师编号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u="heavy" sz="240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课程编</a:t>
            </a:r>
            <a:r>
              <a:rPr dirty="0" u="heavy" sz="2400" spc="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号</a:t>
            </a:r>
            <a:r>
              <a:rPr dirty="0" sz="2400" b="1">
                <a:solidFill>
                  <a:srgbClr val="000066"/>
                </a:solidFill>
                <a:latin typeface="宋体"/>
                <a:cs typeface="宋体"/>
              </a:rPr>
              <a:t>，成绩）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4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数据模型的优化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7978"/>
            <a:ext cx="7588884" cy="46462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数据模型的优化</a:t>
            </a:r>
            <a:endParaRPr sz="32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1.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确定数据依赖</a:t>
            </a:r>
            <a:endParaRPr sz="2800">
              <a:latin typeface="宋体"/>
              <a:cs typeface="宋体"/>
            </a:endParaRPr>
          </a:p>
          <a:p>
            <a:pPr marL="1155700" marR="274320" indent="-228600">
              <a:lnSpc>
                <a:spcPts val="3020"/>
              </a:lnSpc>
              <a:spcBef>
                <a:spcPts val="72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2.</a:t>
            </a:r>
            <a:r>
              <a:rPr dirty="0" sz="2800" spc="-90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对于各个关系模式之间的数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据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依赖进 行极小化处理，消除冗余的联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系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384300">
              <a:lnSpc>
                <a:spcPct val="100000"/>
              </a:lnSpc>
              <a:spcBef>
                <a:spcPts val="265"/>
              </a:spcBef>
            </a:pPr>
            <a:r>
              <a:rPr dirty="0" sz="2400" spc="-5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取消多余的属性</a:t>
            </a:r>
            <a:endParaRPr sz="2400">
              <a:latin typeface="宋体"/>
              <a:cs typeface="宋体"/>
            </a:endParaRPr>
          </a:p>
          <a:p>
            <a:pPr marL="1155700" marR="5080" indent="-228600">
              <a:lnSpc>
                <a:spcPct val="90000"/>
              </a:lnSpc>
              <a:spcBef>
                <a:spcPts val="66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3.</a:t>
            </a:r>
            <a:r>
              <a:rPr dirty="0" sz="2800" spc="-30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按照数据依赖的理论对关系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模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式逐一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进行分析，考察是否存在部分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函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数依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赖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、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传递函数依赖、多值依赖等，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确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定各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关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系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模式分别属于第几范式。</a:t>
            </a:r>
            <a:endParaRPr sz="2800">
              <a:latin typeface="宋体"/>
              <a:cs typeface="宋体"/>
            </a:endParaRPr>
          </a:p>
          <a:p>
            <a:pPr marL="1384300">
              <a:lnSpc>
                <a:spcPts val="2675"/>
              </a:lnSpc>
              <a:spcBef>
                <a:spcPts val="42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并非规范化程度越高越好，一般的，设计到</a:t>
            </a:r>
            <a:endParaRPr sz="2400">
              <a:latin typeface="宋体"/>
              <a:cs typeface="宋体"/>
            </a:endParaRPr>
          </a:p>
          <a:p>
            <a:pPr marL="1612900">
              <a:lnSpc>
                <a:spcPts val="2675"/>
              </a:lnSpc>
            </a:pPr>
            <a:r>
              <a:rPr dirty="0" sz="2400" spc="-5" b="1">
                <a:latin typeface="Times New Roman"/>
                <a:cs typeface="Times New Roman"/>
              </a:rPr>
              <a:t>3NF</a:t>
            </a:r>
            <a:r>
              <a:rPr dirty="0" sz="2400" b="1">
                <a:latin typeface="宋体"/>
                <a:cs typeface="宋体"/>
              </a:rPr>
              <a:t>或</a:t>
            </a:r>
            <a:r>
              <a:rPr dirty="0" sz="2400" spc="-10" b="1">
                <a:latin typeface="Times New Roman"/>
                <a:cs typeface="Times New Roman"/>
              </a:rPr>
              <a:t>BCNF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4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数据模型的优化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682625" indent="-343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682625" algn="l"/>
                <a:tab pos="683260" algn="l"/>
              </a:tabLst>
            </a:pPr>
            <a:r>
              <a:rPr dirty="0"/>
              <a:t>数据模型的优化（续）</a:t>
            </a:r>
          </a:p>
          <a:p>
            <a:pPr marL="1482725" marR="358140" indent="-228600">
              <a:lnSpc>
                <a:spcPts val="3180"/>
              </a:lnSpc>
              <a:spcBef>
                <a:spcPts val="600"/>
              </a:spcBef>
            </a:pPr>
            <a:r>
              <a:rPr dirty="0" sz="2800" spc="-5" b="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>
                <a:solidFill>
                  <a:srgbClr val="000066"/>
                </a:solidFill>
                <a:latin typeface="Times New Roman"/>
                <a:cs typeface="Times New Roman"/>
              </a:rPr>
              <a:t>4.</a:t>
            </a:r>
            <a:r>
              <a:rPr dirty="0" sz="2800" spc="-3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0066"/>
                </a:solidFill>
              </a:rPr>
              <a:t>按照需求分析阶段得到的处</a:t>
            </a:r>
            <a:r>
              <a:rPr dirty="0" sz="2800" spc="5">
                <a:solidFill>
                  <a:srgbClr val="000066"/>
                </a:solidFill>
              </a:rPr>
              <a:t>理</a:t>
            </a:r>
            <a:r>
              <a:rPr dirty="0" sz="2800" spc="-5">
                <a:solidFill>
                  <a:srgbClr val="000066"/>
                </a:solidFill>
              </a:rPr>
              <a:t>要求，  </a:t>
            </a:r>
            <a:r>
              <a:rPr dirty="0" sz="2800" spc="-5">
                <a:solidFill>
                  <a:srgbClr val="000066"/>
                </a:solidFill>
              </a:rPr>
              <a:t>分析这些模式对于这样的应用</a:t>
            </a:r>
            <a:r>
              <a:rPr dirty="0" sz="2800" spc="5">
                <a:solidFill>
                  <a:srgbClr val="000066"/>
                </a:solidFill>
              </a:rPr>
              <a:t>环</a:t>
            </a:r>
            <a:r>
              <a:rPr dirty="0" sz="2800" spc="-5">
                <a:solidFill>
                  <a:srgbClr val="000066"/>
                </a:solidFill>
              </a:rPr>
              <a:t>境是</a:t>
            </a:r>
            <a:r>
              <a:rPr dirty="0" sz="2800" spc="5">
                <a:solidFill>
                  <a:srgbClr val="000066"/>
                </a:solidFill>
              </a:rPr>
              <a:t>否</a:t>
            </a:r>
            <a:r>
              <a:rPr dirty="0" sz="2800" spc="-15">
                <a:solidFill>
                  <a:srgbClr val="000066"/>
                </a:solidFill>
              </a:rPr>
              <a:t>合</a:t>
            </a:r>
            <a:endParaRPr sz="2800">
              <a:latin typeface="Times New Roman"/>
              <a:cs typeface="Times New Roman"/>
            </a:endParaRPr>
          </a:p>
          <a:p>
            <a:pPr marL="1482725">
              <a:lnSpc>
                <a:spcPts val="2790"/>
              </a:lnSpc>
            </a:pPr>
            <a:r>
              <a:rPr dirty="0" sz="2800" spc="-10">
                <a:solidFill>
                  <a:srgbClr val="000066"/>
                </a:solidFill>
              </a:rPr>
              <a:t>适确定</a:t>
            </a:r>
            <a:r>
              <a:rPr dirty="0" sz="2800" spc="5">
                <a:solidFill>
                  <a:srgbClr val="000066"/>
                </a:solidFill>
              </a:rPr>
              <a:t>是</a:t>
            </a:r>
            <a:r>
              <a:rPr dirty="0" sz="2800" spc="-10">
                <a:solidFill>
                  <a:srgbClr val="000066"/>
                </a:solidFill>
              </a:rPr>
              <a:t>否要对</a:t>
            </a:r>
            <a:r>
              <a:rPr dirty="0" sz="2800" spc="5">
                <a:solidFill>
                  <a:srgbClr val="000066"/>
                </a:solidFill>
              </a:rPr>
              <a:t>某</a:t>
            </a:r>
            <a:r>
              <a:rPr dirty="0" sz="2800" spc="-10">
                <a:solidFill>
                  <a:srgbClr val="000066"/>
                </a:solidFill>
              </a:rPr>
              <a:t>些模式</a:t>
            </a:r>
            <a:r>
              <a:rPr dirty="0" sz="2800" spc="5">
                <a:solidFill>
                  <a:srgbClr val="000066"/>
                </a:solidFill>
              </a:rPr>
              <a:t>进</a:t>
            </a:r>
            <a:r>
              <a:rPr dirty="0" sz="2800" spc="-10">
                <a:solidFill>
                  <a:srgbClr val="000066"/>
                </a:solidFill>
              </a:rPr>
              <a:t>行合并</a:t>
            </a:r>
            <a:r>
              <a:rPr dirty="0" sz="2800" spc="5">
                <a:solidFill>
                  <a:srgbClr val="000066"/>
                </a:solidFill>
              </a:rPr>
              <a:t>或</a:t>
            </a:r>
            <a:r>
              <a:rPr dirty="0" sz="2800" spc="-10">
                <a:solidFill>
                  <a:srgbClr val="000066"/>
                </a:solidFill>
              </a:rPr>
              <a:t>分解</a:t>
            </a:r>
            <a:r>
              <a:rPr dirty="0" sz="2800" spc="-15">
                <a:solidFill>
                  <a:srgbClr val="000066"/>
                </a:solidFill>
              </a:rPr>
              <a:t>。</a:t>
            </a:r>
            <a:endParaRPr sz="2800"/>
          </a:p>
          <a:p>
            <a:pPr marL="1711325">
              <a:lnSpc>
                <a:spcPts val="2675"/>
              </a:lnSpc>
              <a:spcBef>
                <a:spcPts val="420"/>
              </a:spcBef>
            </a:pPr>
            <a:r>
              <a:rPr dirty="0" sz="2400" spc="-5" b="0">
                <a:solidFill>
                  <a:srgbClr val="000000"/>
                </a:solidFill>
                <a:latin typeface="Wingdings"/>
                <a:cs typeface="Wingdings"/>
              </a:rPr>
              <a:t></a:t>
            </a:r>
            <a:r>
              <a:rPr dirty="0" sz="2400">
                <a:solidFill>
                  <a:srgbClr val="000000"/>
                </a:solidFill>
              </a:rPr>
              <a:t>根据空间或时间需要可能将表分拆或合并</a:t>
            </a:r>
            <a:endParaRPr sz="2400">
              <a:latin typeface="Wingdings"/>
              <a:cs typeface="Wingdings"/>
            </a:endParaRPr>
          </a:p>
          <a:p>
            <a:pPr marL="1939925">
              <a:lnSpc>
                <a:spcPts val="2675"/>
              </a:lnSpc>
            </a:pPr>
            <a:r>
              <a:rPr dirty="0" sz="2400">
                <a:solidFill>
                  <a:srgbClr val="000000"/>
                </a:solidFill>
              </a:rPr>
              <a:t>（合并会降低范式）。</a:t>
            </a:r>
            <a:endParaRPr sz="2400"/>
          </a:p>
          <a:p>
            <a:pPr marL="1482725" marR="627380" indent="-228600">
              <a:lnSpc>
                <a:spcPts val="3020"/>
              </a:lnSpc>
              <a:spcBef>
                <a:spcPts val="705"/>
              </a:spcBef>
            </a:pPr>
            <a:r>
              <a:rPr dirty="0" sz="2800" spc="-5" b="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>
                <a:solidFill>
                  <a:srgbClr val="000066"/>
                </a:solidFill>
                <a:latin typeface="Times New Roman"/>
                <a:cs typeface="Times New Roman"/>
              </a:rPr>
              <a:t>5.</a:t>
            </a:r>
            <a:r>
              <a:rPr dirty="0" sz="2800" spc="-9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0066"/>
                </a:solidFill>
              </a:rPr>
              <a:t>对关系模式进行必要分解，</a:t>
            </a:r>
            <a:r>
              <a:rPr dirty="0" sz="2800" spc="5">
                <a:solidFill>
                  <a:srgbClr val="000066"/>
                </a:solidFill>
              </a:rPr>
              <a:t>提</a:t>
            </a:r>
            <a:r>
              <a:rPr dirty="0" sz="2800" spc="-5">
                <a:solidFill>
                  <a:srgbClr val="000066"/>
                </a:solidFill>
              </a:rPr>
              <a:t>高数据 </a:t>
            </a:r>
            <a:r>
              <a:rPr dirty="0" sz="2800" spc="-10">
                <a:solidFill>
                  <a:srgbClr val="000066"/>
                </a:solidFill>
              </a:rPr>
              <a:t>库操作的效率和储存空间的利</a:t>
            </a:r>
            <a:r>
              <a:rPr dirty="0" sz="2800">
                <a:solidFill>
                  <a:srgbClr val="000066"/>
                </a:solidFill>
              </a:rPr>
              <a:t>用</a:t>
            </a:r>
            <a:r>
              <a:rPr dirty="0" sz="2800" spc="-10">
                <a:solidFill>
                  <a:srgbClr val="000066"/>
                </a:solidFill>
              </a:rPr>
              <a:t>率。</a:t>
            </a:r>
            <a:endParaRPr sz="2800">
              <a:latin typeface="Times New Roman"/>
              <a:cs typeface="Times New Roman"/>
            </a:endParaRPr>
          </a:p>
          <a:p>
            <a:pPr marL="1711325">
              <a:lnSpc>
                <a:spcPct val="100000"/>
              </a:lnSpc>
              <a:spcBef>
                <a:spcPts val="270"/>
              </a:spcBef>
            </a:pPr>
            <a:r>
              <a:rPr dirty="0" sz="2400" b="0">
                <a:solidFill>
                  <a:srgbClr val="000000"/>
                </a:solidFill>
                <a:latin typeface="Wingdings"/>
                <a:cs typeface="Wingdings"/>
              </a:rPr>
              <a:t></a:t>
            </a:r>
            <a:r>
              <a:rPr dirty="0" sz="2400">
                <a:solidFill>
                  <a:srgbClr val="000000"/>
                </a:solidFill>
              </a:rPr>
              <a:t>根据</a:t>
            </a:r>
            <a:r>
              <a:rPr dirty="0" sz="2400">
                <a:solidFill>
                  <a:srgbClr val="000000"/>
                </a:solidFill>
                <a:latin typeface="Times New Roman"/>
                <a:cs typeface="Times New Roman"/>
              </a:rPr>
              <a:t>80/20</a:t>
            </a:r>
            <a:r>
              <a:rPr dirty="0" sz="2400">
                <a:solidFill>
                  <a:srgbClr val="000000"/>
                </a:solidFill>
              </a:rPr>
              <a:t>原则水平分解以提高效率</a:t>
            </a:r>
            <a:endParaRPr sz="2400">
              <a:latin typeface="Times New Roman"/>
              <a:cs typeface="Times New Roman"/>
            </a:endParaRPr>
          </a:p>
          <a:p>
            <a:pPr marL="1711325">
              <a:lnSpc>
                <a:spcPct val="100000"/>
              </a:lnSpc>
              <a:spcBef>
                <a:spcPts val="285"/>
              </a:spcBef>
            </a:pPr>
            <a:r>
              <a:rPr dirty="0" sz="2400" b="0">
                <a:solidFill>
                  <a:srgbClr val="000000"/>
                </a:solidFill>
                <a:latin typeface="Wingdings"/>
                <a:cs typeface="Wingdings"/>
              </a:rPr>
              <a:t></a:t>
            </a:r>
            <a:r>
              <a:rPr dirty="0" sz="2400">
                <a:solidFill>
                  <a:srgbClr val="000000"/>
                </a:solidFill>
              </a:rPr>
              <a:t>水平分解可以实现数据分布</a:t>
            </a:r>
            <a:endParaRPr sz="2400">
              <a:latin typeface="Wingdings"/>
              <a:cs typeface="Wingdings"/>
            </a:endParaRPr>
          </a:p>
          <a:p>
            <a:pPr marL="1711325">
              <a:lnSpc>
                <a:spcPct val="100000"/>
              </a:lnSpc>
              <a:spcBef>
                <a:spcPts val="290"/>
              </a:spcBef>
            </a:pPr>
            <a:r>
              <a:rPr dirty="0" sz="2400" b="0">
                <a:solidFill>
                  <a:srgbClr val="000000"/>
                </a:solidFill>
                <a:latin typeface="Wingdings"/>
                <a:cs typeface="Wingdings"/>
              </a:rPr>
              <a:t></a:t>
            </a:r>
            <a:r>
              <a:rPr dirty="0" sz="2400">
                <a:solidFill>
                  <a:srgbClr val="000000"/>
                </a:solidFill>
              </a:rPr>
              <a:t>垂直分解要保持无损连接性和保持函数依赖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4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数据模型的优化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990"/>
            <a:ext cx="7676515" cy="507682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6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5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数据模型的优化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1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学生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800" spc="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学</a:t>
            </a:r>
            <a:r>
              <a:rPr dirty="0" u="heavy" sz="28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号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，姓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名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，性别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所在院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代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号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155700" marR="361950" indent="-228600">
              <a:lnSpc>
                <a:spcPts val="2870"/>
              </a:lnSpc>
              <a:spcBef>
                <a:spcPts val="100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教师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800" spc="-1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教师编号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、教师姓名，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所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在院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代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号）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2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课程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8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课程编号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，课程名称，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学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分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学院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8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学院名称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，学院代号）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授课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8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教师编号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u="heavy" sz="28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课程编号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384300">
              <a:lnSpc>
                <a:spcPct val="100000"/>
              </a:lnSpc>
              <a:spcBef>
                <a:spcPts val="30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可以增加“教室”等属性。</a:t>
            </a:r>
            <a:endParaRPr sz="2400">
              <a:latin typeface="宋体"/>
              <a:cs typeface="宋体"/>
            </a:endParaRPr>
          </a:p>
          <a:p>
            <a:pPr marL="1155700" marR="358775" indent="-228600">
              <a:lnSpc>
                <a:spcPts val="2870"/>
              </a:lnSpc>
              <a:spcBef>
                <a:spcPts val="9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选课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u="heavy" sz="28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学号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u="heavy" sz="2800" spc="-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教师编号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u="heavy" sz="2800" spc="-10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课程</a:t>
            </a:r>
            <a:r>
              <a:rPr dirty="0" u="heavy" sz="2800" spc="5" b="1">
                <a:solidFill>
                  <a:srgbClr val="000066"/>
                </a:solidFill>
                <a:uFill>
                  <a:solidFill>
                    <a:srgbClr val="000066"/>
                  </a:solidFill>
                </a:uFill>
                <a:latin typeface="宋体"/>
                <a:cs typeface="宋体"/>
              </a:rPr>
              <a:t>编号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，成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绩）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4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数据模型的优化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416800" cy="511048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89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写出函数依赖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学院代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号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学院名称</a:t>
            </a:r>
            <a:endParaRPr sz="2800">
              <a:latin typeface="宋体"/>
              <a:cs typeface="宋体"/>
            </a:endParaRPr>
          </a:p>
          <a:p>
            <a:pPr marL="1155700" marR="101600" indent="-2286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学号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姓名、性别、出生日期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、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学院代 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号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教师编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号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姓名、性别、学院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代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号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课程编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号</a:t>
            </a:r>
            <a:r>
              <a:rPr dirty="0" sz="2800" spc="-10" b="1">
                <a:solidFill>
                  <a:srgbClr val="000066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课程名称、课程类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型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学分）</a:t>
            </a:r>
            <a:endParaRPr sz="2800">
              <a:latin typeface="宋体"/>
              <a:cs typeface="宋体"/>
            </a:endParaRPr>
          </a:p>
          <a:p>
            <a:pPr marL="1155700" marR="7620" indent="-2286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（教师编号、课程编号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r>
              <a:rPr dirty="0" sz="2800" spc="-740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教师编号、 课程编号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（学号、教师编号、课程编号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r>
              <a:rPr dirty="0" sz="2800" spc="-710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成绩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4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设计用户子模式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197725" cy="434721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99085" marR="5080" indent="-287020">
              <a:lnSpc>
                <a:spcPts val="3440"/>
              </a:lnSpc>
              <a:spcBef>
                <a:spcPts val="35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定义数据库全局模式主要是从系统的时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间效率、空间效率、易维护等角度出发。</a:t>
            </a:r>
            <a:endParaRPr sz="3000">
              <a:latin typeface="黑体"/>
              <a:cs typeface="黑体"/>
            </a:endParaRPr>
          </a:p>
          <a:p>
            <a:pPr algn="just" marL="299085" marR="370840" indent="-287020">
              <a:lnSpc>
                <a:spcPct val="97700"/>
              </a:lnSpc>
              <a:spcBef>
                <a:spcPts val="87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由于用户子模式与模式是相对独立的，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因此在定义用户子模式是时注重考虑用 户的方便与习惯。包括：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）使用更符合用户习惯的别名。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）可以对不同级别的用户定义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不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同的</a:t>
            </a:r>
            <a:endParaRPr sz="2800">
              <a:latin typeface="宋体"/>
              <a:cs typeface="宋体"/>
            </a:endParaRPr>
          </a:p>
          <a:p>
            <a:pPr marL="697865">
              <a:lnSpc>
                <a:spcPct val="100000"/>
              </a:lnSpc>
            </a:pPr>
            <a:r>
              <a:rPr dirty="0" sz="2800" spc="-40" b="1">
                <a:solidFill>
                  <a:srgbClr val="000066"/>
                </a:solidFill>
                <a:latin typeface="Times New Roman"/>
                <a:cs typeface="Times New Roman"/>
              </a:rPr>
              <a:t>View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以保证系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统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安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全性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）简化用户对系统的使用。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5545" y="394461"/>
            <a:ext cx="4232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4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评价数据模型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4818"/>
            <a:ext cx="7673975" cy="494157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6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如何评价一个数据模型？</a:t>
            </a:r>
            <a:endParaRPr sz="3200">
              <a:latin typeface="宋体"/>
              <a:cs typeface="宋体"/>
            </a:endParaRPr>
          </a:p>
          <a:p>
            <a:pPr marL="1155700" marR="358140" indent="-228600">
              <a:lnSpc>
                <a:spcPts val="3200"/>
              </a:lnSpc>
              <a:spcBef>
                <a:spcPts val="10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一个好的模型应该具有最小定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义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、完备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定义及适应性。另外，应该容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易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实现。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63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最小定义：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6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用尽可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能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少的实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体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描述尽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可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能多的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对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象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155700" marR="90170" indent="-228600">
              <a:lnSpc>
                <a:spcPct val="97700"/>
              </a:lnSpc>
              <a:spcBef>
                <a:spcPts val="90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任何数据和信息应该且只能用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一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种方法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进行定义，以便尽可能地消除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冗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余：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消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除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冗余的实体和冗余的关系。</a:t>
            </a:r>
            <a:endParaRPr sz="2800">
              <a:latin typeface="宋体"/>
              <a:cs typeface="宋体"/>
            </a:endParaRPr>
          </a:p>
          <a:p>
            <a:pPr marL="1155700" marR="358140" indent="-228600">
              <a:lnSpc>
                <a:spcPts val="3200"/>
              </a:lnSpc>
              <a:spcBef>
                <a:spcPts val="106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规范化理论为消除冗余提供了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强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有力的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手段。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5545" y="394461"/>
            <a:ext cx="4232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4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评价数据模型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588884" cy="444119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如何评价一个数据模型？（</a:t>
            </a:r>
            <a:r>
              <a:rPr dirty="0" sz="3200" spc="-15" b="1">
                <a:solidFill>
                  <a:srgbClr val="0000FF"/>
                </a:solidFill>
                <a:latin typeface="宋体"/>
                <a:cs typeface="宋体"/>
              </a:rPr>
              <a:t>继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续）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完备定义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ct val="97700"/>
              </a:lnSpc>
              <a:spcBef>
                <a:spcPts val="91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现实世界中所有感兴趣的概念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和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对象是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否都已经定义在模型之中，如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果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没有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系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统的某些功能必将无法实现。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1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适应性</a:t>
            </a:r>
            <a:endParaRPr sz="3000">
              <a:latin typeface="黑体"/>
              <a:cs typeface="黑体"/>
            </a:endParaRPr>
          </a:p>
          <a:p>
            <a:pPr marL="1155700" marR="5080" indent="-228600">
              <a:lnSpc>
                <a:spcPct val="97700"/>
              </a:lnSpc>
              <a:spcBef>
                <a:spcPts val="91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当系统的功能或需求发生变化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时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，是否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能够做最小的修改以适应新的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要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求，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降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低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维护费用。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552" y="394461"/>
            <a:ext cx="4866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1050" algn="l"/>
              </a:tabLst>
            </a:pPr>
            <a:r>
              <a:rPr dirty="0" spc="-5"/>
              <a:t>§</a:t>
            </a:r>
            <a:r>
              <a:rPr dirty="0" spc="-20"/>
              <a:t>5</a:t>
            </a:r>
            <a:r>
              <a:rPr dirty="0"/>
              <a:t>	</a:t>
            </a:r>
            <a:r>
              <a:rPr dirty="0" spc="-10"/>
              <a:t>数据库的物理设计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96327"/>
            <a:ext cx="5301615" cy="3297554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16230" indent="-304165">
              <a:lnSpc>
                <a:spcPct val="100000"/>
              </a:lnSpc>
              <a:spcBef>
                <a:spcPts val="8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2" action="ppaction://hlinksldjump"/>
              </a:rPr>
              <a:t>数据库的物理设计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3" action="ppaction://hlinksldjump"/>
              </a:rPr>
              <a:t>数据库物理设计的内容和方法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4" action="ppaction://hlinksldjump"/>
              </a:rPr>
              <a:t>关系模式存取方法选择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5" action="ppaction://hlinksldjump"/>
              </a:rPr>
              <a:t>确定数据库的存储结构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6" action="ppaction://hlinksldjump"/>
              </a:rPr>
              <a:t>评价物理结构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55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7" action="ppaction://hlinksldjump"/>
              </a:rPr>
              <a:t>物理设计的必要工作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552" y="394461"/>
            <a:ext cx="4866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1050" algn="l"/>
              </a:tabLst>
            </a:pPr>
            <a:r>
              <a:rPr dirty="0" spc="-5"/>
              <a:t>§</a:t>
            </a:r>
            <a:r>
              <a:rPr dirty="0" spc="-20"/>
              <a:t>5</a:t>
            </a:r>
            <a:r>
              <a:rPr dirty="0"/>
              <a:t>	</a:t>
            </a:r>
            <a:r>
              <a:rPr dirty="0" spc="-10"/>
              <a:t>数据库的物理设计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479665" cy="423799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数据库的物理设计</a:t>
            </a:r>
            <a:endParaRPr sz="3200">
              <a:latin typeface="宋体"/>
              <a:cs typeface="宋体"/>
            </a:endParaRPr>
          </a:p>
          <a:p>
            <a:pPr lvl="1" marL="756285" marR="196215" indent="-287020">
              <a:lnSpc>
                <a:spcPts val="3429"/>
              </a:lnSpc>
              <a:spcBef>
                <a:spcPts val="11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为一个给定的逻辑数据模型选取一个最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适合应用要求的物理结构的过程。</a:t>
            </a:r>
            <a:endParaRPr sz="3000">
              <a:latin typeface="黑体"/>
              <a:cs typeface="黑体"/>
            </a:endParaRPr>
          </a:p>
          <a:p>
            <a:pPr marL="355600" indent="-343535">
              <a:lnSpc>
                <a:spcPct val="100000"/>
              </a:lnSpc>
              <a:spcBef>
                <a:spcPts val="69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数据库物理设计的步骤：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1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）确定数据库的物理结构，在关系数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据库中主要指存取方法和储存结构。</a:t>
            </a:r>
            <a:endParaRPr sz="3000">
              <a:latin typeface="黑体"/>
              <a:cs typeface="黑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2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）对物理结构进行评价，评价的重点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是时间和空间效率。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538" y="394461"/>
            <a:ext cx="70300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§5</a:t>
            </a:r>
            <a:r>
              <a:rPr dirty="0" spc="-15"/>
              <a:t>.</a:t>
            </a:r>
            <a:r>
              <a:rPr dirty="0"/>
              <a:t>1</a:t>
            </a:r>
            <a:r>
              <a:rPr dirty="0" spc="-10"/>
              <a:t>数据库物理设计的内容方法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96173"/>
            <a:ext cx="5844540" cy="481584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16230" indent="-304165">
              <a:lnSpc>
                <a:spcPct val="100000"/>
              </a:lnSpc>
              <a:spcBef>
                <a:spcPts val="82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要根据应用环境来决定设计方案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决策支持系统</a:t>
            </a:r>
            <a:endParaRPr sz="2800">
              <a:latin typeface="宋体"/>
              <a:cs typeface="宋体"/>
            </a:endParaRPr>
          </a:p>
          <a:p>
            <a:pPr marL="926465">
              <a:lnSpc>
                <a:spcPct val="100000"/>
              </a:lnSpc>
              <a:spcBef>
                <a:spcPts val="55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较少空间，较多索引，不强调速度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9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在线事务处理</a:t>
            </a:r>
            <a:endParaRPr sz="2800">
              <a:latin typeface="宋体"/>
              <a:cs typeface="宋体"/>
            </a:endParaRPr>
          </a:p>
          <a:p>
            <a:pPr marL="926465">
              <a:lnSpc>
                <a:spcPct val="100000"/>
              </a:lnSpc>
              <a:spcBef>
                <a:spcPts val="55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强调速度，适当索引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宋体"/>
              <a:cs typeface="宋体"/>
            </a:endParaRPr>
          </a:p>
          <a:p>
            <a:pPr algn="ctr" marR="2082800">
              <a:lnSpc>
                <a:spcPct val="100000"/>
              </a:lnSpc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读型（主要读）</a:t>
            </a:r>
            <a:endParaRPr sz="2800">
              <a:latin typeface="宋体"/>
              <a:cs typeface="宋体"/>
            </a:endParaRPr>
          </a:p>
          <a:p>
            <a:pPr algn="ctr" marR="610870">
              <a:lnSpc>
                <a:spcPct val="100000"/>
              </a:lnSpc>
              <a:spcBef>
                <a:spcPts val="560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强调速度，可以有冗余</a:t>
            </a:r>
            <a:endParaRPr sz="2400">
              <a:latin typeface="宋体"/>
              <a:cs typeface="宋体"/>
            </a:endParaRPr>
          </a:p>
          <a:p>
            <a:pPr algn="ctr" marR="2082800">
              <a:lnSpc>
                <a:spcPct val="100000"/>
              </a:lnSpc>
              <a:spcBef>
                <a:spcPts val="69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写型（主要写）</a:t>
            </a:r>
            <a:endParaRPr sz="2800">
              <a:latin typeface="宋体"/>
              <a:cs typeface="宋体"/>
            </a:endParaRPr>
          </a:p>
          <a:p>
            <a:pPr algn="ctr" marR="1224280">
              <a:lnSpc>
                <a:spcPct val="100000"/>
              </a:lnSpc>
              <a:spcBef>
                <a:spcPts val="555"/>
              </a:spcBef>
            </a:pPr>
            <a:r>
              <a:rPr dirty="0" sz="2400" spc="-5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冗余小，数据备份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538" y="394461"/>
            <a:ext cx="70300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§5</a:t>
            </a:r>
            <a:r>
              <a:rPr dirty="0" spc="-15"/>
              <a:t>.</a:t>
            </a:r>
            <a:r>
              <a:rPr dirty="0"/>
              <a:t>1</a:t>
            </a:r>
            <a:r>
              <a:rPr dirty="0" spc="-10"/>
              <a:t>数据库物理设计的内容方法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96173"/>
            <a:ext cx="4540250" cy="159893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16230" indent="-304165">
              <a:lnSpc>
                <a:spcPct val="100000"/>
              </a:lnSpc>
              <a:spcBef>
                <a:spcPts val="82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要根据</a:t>
            </a:r>
            <a:r>
              <a:rPr dirty="0" sz="3000" spc="-5" b="1">
                <a:solidFill>
                  <a:srgbClr val="005F00"/>
                </a:solidFill>
                <a:latin typeface="宋体"/>
                <a:cs typeface="宋体"/>
              </a:rPr>
              <a:t>DBMS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决定设计方案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存取方法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存储结构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538" y="394461"/>
            <a:ext cx="70300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§5</a:t>
            </a:r>
            <a:r>
              <a:rPr dirty="0" spc="-15"/>
              <a:t>.</a:t>
            </a:r>
            <a:r>
              <a:rPr dirty="0"/>
              <a:t>1</a:t>
            </a:r>
            <a:r>
              <a:rPr dirty="0" spc="-10"/>
              <a:t>数据库物理设计的内容方法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6831965" cy="296862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99085" marR="5080" indent="-287020">
              <a:lnSpc>
                <a:spcPts val="3440"/>
              </a:lnSpc>
              <a:spcBef>
                <a:spcPts val="35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对于数据库查询事务，需要得到如下信 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息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5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查询的关系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查询条件所涉及属性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连接条件所涉及属性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查询的投影属性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538" y="394461"/>
            <a:ext cx="70300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§5</a:t>
            </a:r>
            <a:r>
              <a:rPr dirty="0" spc="-15"/>
              <a:t>.</a:t>
            </a:r>
            <a:r>
              <a:rPr dirty="0"/>
              <a:t>1</a:t>
            </a:r>
            <a:r>
              <a:rPr dirty="0" spc="-10"/>
              <a:t>数据库物理设计的内容方法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73514"/>
            <a:ext cx="6863080" cy="254127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315595" indent="-303530">
              <a:lnSpc>
                <a:spcPct val="100000"/>
              </a:lnSpc>
              <a:spcBef>
                <a:spcPts val="83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对于数据的更新，需要得到如下信息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6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被更新的关系</a:t>
            </a:r>
            <a:endParaRPr sz="2800">
              <a:latin typeface="宋体"/>
              <a:cs typeface="宋体"/>
            </a:endParaRPr>
          </a:p>
          <a:p>
            <a:pPr marL="697865" marR="5080" indent="-228600">
              <a:lnSpc>
                <a:spcPts val="3200"/>
              </a:lnSpc>
              <a:spcBef>
                <a:spcPts val="106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每一关系上的更新操作条件所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涉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及的属 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0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修改操作要改变的属性值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538" y="394461"/>
            <a:ext cx="70300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§5</a:t>
            </a:r>
            <a:r>
              <a:rPr dirty="0" spc="-15"/>
              <a:t>.</a:t>
            </a:r>
            <a:r>
              <a:rPr dirty="0"/>
              <a:t>1</a:t>
            </a:r>
            <a:r>
              <a:rPr dirty="0" spc="-10"/>
              <a:t>数据库物理设计的内容方法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6863080" cy="237172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99085" marR="36195" indent="-287020">
              <a:lnSpc>
                <a:spcPts val="3440"/>
              </a:lnSpc>
              <a:spcBef>
                <a:spcPts val="35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通常对于关系数据库物理设计的内容主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要包括：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5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为关系模式选择存取方法</a:t>
            </a:r>
            <a:endParaRPr sz="2800">
              <a:latin typeface="宋体"/>
              <a:cs typeface="宋体"/>
            </a:endParaRPr>
          </a:p>
          <a:p>
            <a:pPr marL="697865" marR="5080" indent="-228600">
              <a:lnSpc>
                <a:spcPts val="3210"/>
              </a:lnSpc>
              <a:spcBef>
                <a:spcPts val="106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设计关系、索引等数据库文件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物理储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存结构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关系模式存取方法选择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6831965" cy="437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数据库物理设计的任务之一就是要确定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选择哪些存取方法，即建立哪些存取路 径。</a:t>
            </a:r>
            <a:endParaRPr sz="3000">
              <a:latin typeface="黑体"/>
              <a:cs typeface="黑体"/>
            </a:endParaRPr>
          </a:p>
          <a:p>
            <a:pPr marL="299085" marR="5080" indent="-287020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存取方法是快速存取数据库中数据的技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术，主要的方法有三类：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索引方法</a:t>
            </a:r>
            <a:endParaRPr sz="2800">
              <a:latin typeface="宋体"/>
              <a:cs typeface="宋体"/>
            </a:endParaRPr>
          </a:p>
          <a:p>
            <a:pPr marL="926465">
              <a:lnSpc>
                <a:spcPct val="100000"/>
              </a:lnSpc>
              <a:spcBef>
                <a:spcPts val="555"/>
              </a:spcBef>
            </a:pPr>
            <a:r>
              <a:rPr dirty="0" sz="2400" spc="-5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主要</a:t>
            </a:r>
            <a:r>
              <a:rPr dirty="0" sz="2400" spc="-5" b="1">
                <a:latin typeface="宋体"/>
                <a:cs typeface="宋体"/>
              </a:rPr>
              <a:t>是</a:t>
            </a:r>
            <a:r>
              <a:rPr dirty="0" sz="2400" b="1">
                <a:latin typeface="宋体"/>
                <a:cs typeface="宋体"/>
              </a:rPr>
              <a:t>B+</a:t>
            </a:r>
            <a:r>
              <a:rPr dirty="0" sz="2400" spc="-5" b="1">
                <a:latin typeface="宋体"/>
                <a:cs typeface="宋体"/>
              </a:rPr>
              <a:t>树。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9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聚簇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（Cluster）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方法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0"/>
              </a:spcBef>
            </a:pPr>
            <a:r>
              <a:rPr dirty="0" sz="280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HASH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方法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关系模式存取方法选择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990"/>
            <a:ext cx="7485380" cy="496887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6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存取方法的选择</a:t>
            </a:r>
            <a:endParaRPr sz="3200">
              <a:latin typeface="宋体"/>
              <a:cs typeface="宋体"/>
            </a:endParaRPr>
          </a:p>
          <a:p>
            <a:pPr algn="just" lvl="1" marL="756285" marR="201295" indent="-287020">
              <a:lnSpc>
                <a:spcPct val="88400"/>
              </a:lnSpc>
              <a:spcBef>
                <a:spcPts val="944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所谓选择索引存取方法实际上就是根据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应用要求确定对关系的哪些属性列建立 索引、哪些属性列建立组合索引、哪些 索引要设计为唯一索引等。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常建立索引的属性（组）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经常查询的属性（组）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经常在聚集函数中使用的属性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组）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在连接条件中出现的属性（组）</a:t>
            </a:r>
            <a:endParaRPr sz="2800">
              <a:latin typeface="宋体"/>
              <a:cs typeface="宋体"/>
            </a:endParaRPr>
          </a:p>
          <a:p>
            <a:pPr marL="1612900" marR="5080" indent="-228600">
              <a:lnSpc>
                <a:spcPts val="2590"/>
              </a:lnSpc>
              <a:spcBef>
                <a:spcPts val="630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索引不是越多越好</a:t>
            </a:r>
            <a:r>
              <a:rPr dirty="0" sz="2400" spc="-15" b="1">
                <a:latin typeface="宋体"/>
                <a:cs typeface="宋体"/>
              </a:rPr>
              <a:t>，</a:t>
            </a:r>
            <a:r>
              <a:rPr dirty="0" sz="2400" spc="-5" b="1">
                <a:latin typeface="Times New Roman"/>
                <a:cs typeface="Times New Roman"/>
              </a:rPr>
              <a:t>D</a:t>
            </a:r>
            <a:r>
              <a:rPr dirty="0" sz="2400" spc="-15" b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Times New Roman"/>
                <a:cs typeface="Times New Roman"/>
              </a:rPr>
              <a:t>MS</a:t>
            </a:r>
            <a:r>
              <a:rPr dirty="0" sz="2400" b="1">
                <a:latin typeface="宋体"/>
                <a:cs typeface="宋体"/>
              </a:rPr>
              <a:t>必须为索引的维 </a:t>
            </a:r>
            <a:r>
              <a:rPr dirty="0" sz="2400" b="1">
                <a:latin typeface="宋体"/>
                <a:cs typeface="宋体"/>
              </a:rPr>
              <a:t>护付出代价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关系模式存取方法选择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777"/>
            <a:ext cx="7674609" cy="491807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聚簇存取方法的选择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聚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簇</a:t>
            </a:r>
            <a:endParaRPr sz="3000">
              <a:latin typeface="黑体"/>
              <a:cs typeface="黑体"/>
            </a:endParaRPr>
          </a:p>
          <a:p>
            <a:pPr marL="1155700" marR="90805" indent="-228600">
              <a:lnSpc>
                <a:spcPct val="87700"/>
              </a:lnSpc>
              <a:spcBef>
                <a:spcPts val="91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为了提高某个属性的查询速度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把这个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或这些属性上具有相同值的元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组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集中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存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放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在连续的物理块称为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聚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簇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155700" marR="5080" indent="-228600">
              <a:lnSpc>
                <a:spcPts val="3020"/>
              </a:lnSpc>
              <a:spcBef>
                <a:spcPts val="8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聚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簇功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能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可以用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于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经常连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接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的多个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关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系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，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形成“聚簇码”，以提高连接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速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度。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聚簇索引</a:t>
            </a:r>
            <a:endParaRPr sz="3000">
              <a:latin typeface="黑体"/>
              <a:cs typeface="黑体"/>
            </a:endParaRPr>
          </a:p>
          <a:p>
            <a:pPr marL="1155700" marR="90805" indent="-228600">
              <a:lnSpc>
                <a:spcPts val="3020"/>
              </a:lnSpc>
              <a:spcBef>
                <a:spcPts val="72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强迫系统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把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这个或这些属性上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具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有相同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值的元组集中存放在连续的物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理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块且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整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体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按升序或降序排列的索引。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关系模式存取方法选择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588884" cy="440499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聚簇存取方法的选择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设计候选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聚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簇</a:t>
            </a:r>
            <a:endParaRPr sz="3000">
              <a:latin typeface="黑体"/>
              <a:cs typeface="黑体"/>
            </a:endParaRPr>
          </a:p>
          <a:p>
            <a:pPr marL="1155700" marR="89535" indent="-2286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）对经常在一起进行连接操作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关系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可以建立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聚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簇</a:t>
            </a:r>
            <a:endParaRPr sz="2800">
              <a:latin typeface="宋体"/>
              <a:cs typeface="宋体"/>
            </a:endParaRPr>
          </a:p>
          <a:p>
            <a:pPr algn="just" marL="1155700" marR="5080" indent="-2286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）如果一个关系的一个属性经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常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出现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在相等比较条件中，则单个关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系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可建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立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聚 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簇</a:t>
            </a:r>
            <a:endParaRPr sz="2800">
              <a:latin typeface="宋体"/>
              <a:cs typeface="宋体"/>
            </a:endParaRPr>
          </a:p>
          <a:p>
            <a:pPr marL="1155700" marR="89535" indent="-2286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）如果一个关系的一个属性上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值重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复率很高，则此单个关系可建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立聚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簇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关系模式存取方法选择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855584" cy="490474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聚簇存取方法的选择</a:t>
            </a:r>
            <a:endParaRPr sz="3200">
              <a:latin typeface="宋体"/>
              <a:cs typeface="宋体"/>
            </a:endParaRPr>
          </a:p>
          <a:p>
            <a:pPr lvl="1" marL="756285" marR="571500" indent="-287020">
              <a:lnSpc>
                <a:spcPts val="3429"/>
              </a:lnSpc>
              <a:spcBef>
                <a:spcPts val="11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检查候选聚族中的关系，取消其中不必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要的的关系：</a:t>
            </a:r>
            <a:endParaRPr sz="3000">
              <a:latin typeface="黑体"/>
              <a:cs typeface="黑体"/>
            </a:endParaRPr>
          </a:p>
          <a:p>
            <a:pPr marL="1155700" marR="361315" indent="-228600">
              <a:lnSpc>
                <a:spcPct val="100000"/>
              </a:lnSpc>
              <a:spcBef>
                <a:spcPts val="59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）从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聚簇中删除经常进行全表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扫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描的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关系</a:t>
            </a:r>
            <a:endParaRPr sz="2800">
              <a:latin typeface="宋体"/>
              <a:cs typeface="宋体"/>
            </a:endParaRPr>
          </a:p>
          <a:p>
            <a:pPr marL="1155700" marR="361315" indent="-2286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）从聚簇中删除更改新操作远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多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于连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接操作的关系</a:t>
            </a:r>
            <a:endParaRPr sz="2800">
              <a:latin typeface="宋体"/>
              <a:cs typeface="宋体"/>
            </a:endParaRPr>
          </a:p>
          <a:p>
            <a:pPr marL="1155700" marR="5080" indent="-228600">
              <a:lnSpc>
                <a:spcPct val="102299"/>
              </a:lnSpc>
              <a:spcBef>
                <a:spcPts val="59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不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同的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聚</a:t>
            </a:r>
            <a:r>
              <a:rPr dirty="0" sz="2800" spc="10" b="1">
                <a:solidFill>
                  <a:srgbClr val="000066"/>
                </a:solidFill>
                <a:latin typeface="宋体"/>
                <a:cs typeface="宋体"/>
              </a:rPr>
              <a:t>簇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中可能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包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含相同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关系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，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一个关系可以在某一个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聚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簇中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但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不能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同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时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加入多个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聚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簇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关系模式存取方法选择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4044950" cy="3691254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聚簇存取方法的选择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89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聚簇适用的语句</a:t>
            </a:r>
            <a:endParaRPr sz="3000">
              <a:latin typeface="黑体"/>
              <a:cs typeface="黑体"/>
            </a:endParaRPr>
          </a:p>
          <a:p>
            <a:pPr marL="13843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主要是排序类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9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ORDER</a:t>
            </a:r>
            <a:r>
              <a:rPr dirty="0" sz="2800" spc="-95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BY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GROUP</a:t>
            </a:r>
            <a:r>
              <a:rPr dirty="0" sz="2800" spc="-95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BY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dirty="0" sz="280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UNION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70"/>
              </a:spcBef>
            </a:pPr>
            <a:r>
              <a:rPr dirty="0" sz="280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DISTINCT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关系模式存取方法选择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886065" cy="495935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HASH</a:t>
            </a: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存取方法的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选择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选择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HASH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存取方法的规则如下：</a:t>
            </a:r>
            <a:endParaRPr sz="3000">
              <a:latin typeface="黑体"/>
              <a:cs typeface="黑体"/>
            </a:endParaRPr>
          </a:p>
          <a:p>
            <a:pPr lvl="1" marL="756285" marR="236220" indent="-287020">
              <a:lnSpc>
                <a:spcPct val="98500"/>
              </a:lnSpc>
              <a:spcBef>
                <a:spcPts val="9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如果一个关系属性主要出现在等连接条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件中或主要出现在相等比较选择条件中，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而且满足下列两个条件之一，则此关系 可以选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择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HASH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存取方法：</a:t>
            </a:r>
            <a:endParaRPr sz="3000">
              <a:latin typeface="黑体"/>
              <a:cs typeface="黑体"/>
            </a:endParaRPr>
          </a:p>
          <a:p>
            <a:pPr marL="1155700" marR="386715" indent="-2286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）如果一个关系的大小可预知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而且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不变。</a:t>
            </a:r>
            <a:endParaRPr sz="2800">
              <a:latin typeface="宋体"/>
              <a:cs typeface="宋体"/>
            </a:endParaRPr>
          </a:p>
          <a:p>
            <a:pPr marL="1155700" marR="5080" indent="-2286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）如果关系的大小动态改变，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而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且数 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据库管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理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系统提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供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了动</a:t>
            </a:r>
            <a:r>
              <a:rPr dirty="0" sz="2800" spc="35" b="1">
                <a:solidFill>
                  <a:srgbClr val="000066"/>
                </a:solidFill>
                <a:latin typeface="宋体"/>
                <a:cs typeface="宋体"/>
              </a:rPr>
              <a:t>态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HAS</a:t>
            </a:r>
            <a:r>
              <a:rPr dirty="0" sz="2800" spc="10" b="1">
                <a:solidFill>
                  <a:srgbClr val="000066"/>
                </a:solidFill>
                <a:latin typeface="Times New Roman"/>
                <a:cs typeface="Times New Roman"/>
              </a:rPr>
              <a:t>H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存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取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方法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确定数据库的存储结构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672070" cy="4018279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确定数据库物理结构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ct val="98500"/>
              </a:lnSpc>
              <a:spcBef>
                <a:spcPts val="9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主要指确定数据的存放位置和存储结构，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包括确定关系、索引、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聚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簇、日志、备 份等的储存安排和存储结构；确定系统 配置等。</a:t>
            </a:r>
            <a:endParaRPr sz="3000">
              <a:latin typeface="黑体"/>
              <a:cs typeface="黑体"/>
            </a:endParaRPr>
          </a:p>
          <a:p>
            <a:pPr algn="just" lvl="1" marL="756285" marR="387350" indent="-287020">
              <a:lnSpc>
                <a:spcPct val="97700"/>
              </a:lnSpc>
              <a:spcBef>
                <a:spcPts val="97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主要考虑的因素有存取时间、存储空间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利用率、维护代价、数据可恢复性。这 几方面常常相互矛盾，需要折中选择。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确定数据库的存储结构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5759450" cy="441579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确定数据的存放位置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磁盘的数量和容量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磁盘阵列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数据是否镜像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将表分割存放在不同的磁盘上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多个日志的分开存放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表和索引分别放在不同的磁盘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磁带或磁盘备份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7513" y="394461"/>
            <a:ext cx="62680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确定数据库的存储结构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91113"/>
            <a:ext cx="5376545" cy="458660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"/>
              <a:buChar char="•"/>
              <a:tabLst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确定系统配置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内存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同时连接用户数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数据缓冲区（大小、个数）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磁盘物理块（大小）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数据填装因子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时间片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36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数据库大小</a:t>
            </a:r>
            <a:endParaRPr sz="3000">
              <a:latin typeface="黑体"/>
              <a:cs typeface="黑体"/>
            </a:endParaRPr>
          </a:p>
          <a:p>
            <a:pPr lvl="1" marL="773430" indent="-304165">
              <a:lnSpc>
                <a:spcPct val="100000"/>
              </a:lnSpc>
              <a:spcBef>
                <a:spcPts val="36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锁规模、层次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5545" y="394461"/>
            <a:ext cx="4232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5</a:t>
            </a:r>
            <a:r>
              <a:rPr dirty="0" spc="-20"/>
              <a:t>.4</a:t>
            </a:r>
            <a:r>
              <a:rPr dirty="0"/>
              <a:t>	</a:t>
            </a:r>
            <a:r>
              <a:rPr dirty="0" spc="-10"/>
              <a:t>评价物理结构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672070" cy="447548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评价物理结构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ct val="99100"/>
              </a:lnSpc>
              <a:spcBef>
                <a:spcPts val="919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数据库物理设计过程中需要对时间效率、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时空效率、维护代价和各种用户要求进 行权衡，其结果可以产生多种方案，数 据库设计人员必须对这些方案进行细致 的评价，从中选出一个较优的方案为数 据库的物理结构。</a:t>
            </a:r>
            <a:endParaRPr sz="3000">
              <a:latin typeface="黑体"/>
              <a:cs typeface="黑体"/>
            </a:endParaRPr>
          </a:p>
          <a:p>
            <a:pPr lvl="1" marL="756285" marR="292735" indent="-287020">
              <a:lnSpc>
                <a:spcPct val="100000"/>
              </a:lnSpc>
              <a:spcBef>
                <a:spcPts val="725"/>
              </a:spcBef>
              <a:buSzPct val="96666"/>
              <a:buFont typeface="Wingdings"/>
              <a:buChar char=""/>
              <a:tabLst>
                <a:tab pos="868044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评价数据库物理结构的方法完全依赖于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所选用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的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DBMS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2020" y="394461"/>
            <a:ext cx="57594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§5</a:t>
            </a:r>
            <a:r>
              <a:rPr dirty="0" spc="-20"/>
              <a:t>.5</a:t>
            </a:r>
            <a:r>
              <a:rPr dirty="0"/>
              <a:t>	</a:t>
            </a:r>
            <a:r>
              <a:rPr dirty="0" spc="-10"/>
              <a:t>物理设计的必要工作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846695" cy="392684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物理设计的必要工作</a:t>
            </a:r>
            <a:endParaRPr sz="3200">
              <a:latin typeface="宋体"/>
              <a:cs typeface="宋体"/>
            </a:endParaRPr>
          </a:p>
          <a:p>
            <a:pPr lvl="1" marL="756285" marR="241935" indent="-287020">
              <a:lnSpc>
                <a:spcPct val="97700"/>
              </a:lnSpc>
              <a:spcBef>
                <a:spcPts val="969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物理设计的工作除了要实现实现概念模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型向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D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B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M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的转化的任务，同时加入概念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模型中未考虑或未全部考虑的因素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：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PK</a:t>
            </a:r>
            <a:endParaRPr sz="3000">
              <a:latin typeface="Times New Roman"/>
              <a:cs typeface="Times New Roman"/>
            </a:endParaRPr>
          </a:p>
          <a:p>
            <a:pPr marL="756285" marR="5080">
              <a:lnSpc>
                <a:spcPct val="100000"/>
              </a:lnSpc>
              <a:spcBef>
                <a:spcPts val="5"/>
              </a:spcBef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（主键）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F</a:t>
            </a:r>
            <a:r>
              <a:rPr dirty="0" sz="3000" spc="-10" b="1">
                <a:solidFill>
                  <a:srgbClr val="005F00"/>
                </a:solidFill>
                <a:latin typeface="Times New Roman"/>
                <a:cs typeface="Times New Roman"/>
              </a:rPr>
              <a:t>K</a:t>
            </a:r>
            <a:r>
              <a:rPr dirty="0" sz="3000" spc="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10" b="1">
                <a:solidFill>
                  <a:srgbClr val="005F00"/>
                </a:solidFill>
                <a:latin typeface="黑体"/>
                <a:cs typeface="黑体"/>
              </a:rPr>
              <a:t>外键）</a:t>
            </a:r>
            <a:r>
              <a:rPr dirty="0" sz="3000" spc="10" b="1">
                <a:solidFill>
                  <a:srgbClr val="005F00"/>
                </a:solidFill>
                <a:latin typeface="黑体"/>
                <a:cs typeface="黑体"/>
              </a:rPr>
              <a:t>，</a:t>
            </a:r>
            <a:r>
              <a:rPr dirty="0" sz="3000" spc="-110" b="1">
                <a:solidFill>
                  <a:srgbClr val="005F00"/>
                </a:solidFill>
                <a:latin typeface="Times New Roman"/>
                <a:cs typeface="Times New Roman"/>
              </a:rPr>
              <a:t>V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iew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10" b="1">
                <a:solidFill>
                  <a:srgbClr val="005F00"/>
                </a:solidFill>
                <a:latin typeface="黑体"/>
                <a:cs typeface="黑体"/>
              </a:rPr>
              <a:t>视图）</a:t>
            </a:r>
            <a:r>
              <a:rPr dirty="0" sz="3000" spc="-10" b="1">
                <a:solidFill>
                  <a:srgbClr val="005F00"/>
                </a:solidFill>
                <a:latin typeface="黑体"/>
                <a:cs typeface="黑体"/>
              </a:rPr>
              <a:t>，  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Index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（索引</a:t>
            </a:r>
            <a:r>
              <a:rPr dirty="0" sz="3000" spc="-25" b="1">
                <a:solidFill>
                  <a:srgbClr val="005F00"/>
                </a:solidFill>
                <a:latin typeface="黑体"/>
                <a:cs typeface="黑体"/>
              </a:rPr>
              <a:t>），</a:t>
            </a:r>
            <a:r>
              <a:rPr dirty="0" sz="3000" spc="-25" b="1">
                <a:solidFill>
                  <a:srgbClr val="005F00"/>
                </a:solidFill>
                <a:latin typeface="Times New Roman"/>
                <a:cs typeface="Times New Roman"/>
              </a:rPr>
              <a:t>Trigger</a:t>
            </a:r>
            <a:r>
              <a:rPr dirty="0" sz="3000" spc="-2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触发器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）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,  </a:t>
            </a:r>
            <a:r>
              <a:rPr dirty="0" sz="3000" spc="-10" b="1">
                <a:solidFill>
                  <a:srgbClr val="005F00"/>
                </a:solidFill>
                <a:latin typeface="Times New Roman"/>
                <a:cs typeface="Times New Roman"/>
              </a:rPr>
              <a:t>Stored </a:t>
            </a:r>
            <a:r>
              <a:rPr dirty="0" sz="3000" spc="-15" b="1">
                <a:solidFill>
                  <a:srgbClr val="005F00"/>
                </a:solidFill>
                <a:latin typeface="Times New Roman"/>
                <a:cs typeface="Times New Roman"/>
              </a:rPr>
              <a:t>Procedure</a:t>
            </a:r>
            <a:r>
              <a:rPr dirty="0" sz="3000" spc="-15" b="1">
                <a:solidFill>
                  <a:srgbClr val="005F00"/>
                </a:solidFill>
                <a:latin typeface="黑体"/>
                <a:cs typeface="黑体"/>
              </a:rPr>
              <a:t>（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存储过程</a:t>
            </a:r>
            <a:r>
              <a:rPr dirty="0" sz="3000" spc="-10" b="1">
                <a:solidFill>
                  <a:srgbClr val="005F00"/>
                </a:solidFill>
                <a:latin typeface="黑体"/>
                <a:cs typeface="黑体"/>
              </a:rPr>
              <a:t>）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等等，以 实现系统的完整性。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4045" y="394461"/>
            <a:ext cx="5375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1050" algn="l"/>
              </a:tabLst>
            </a:pPr>
            <a:r>
              <a:rPr dirty="0" spc="-5"/>
              <a:t>§</a:t>
            </a:r>
            <a:r>
              <a:rPr dirty="0" spc="-20"/>
              <a:t>6</a:t>
            </a:r>
            <a:r>
              <a:rPr dirty="0"/>
              <a:t>	</a:t>
            </a:r>
            <a:r>
              <a:rPr dirty="0" spc="-10"/>
              <a:t>数据库的实施和维护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96327"/>
            <a:ext cx="5301615" cy="222123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16230" indent="-304165">
              <a:lnSpc>
                <a:spcPct val="100000"/>
              </a:lnSpc>
              <a:spcBef>
                <a:spcPts val="825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2" action="ppaction://hlinksldjump"/>
              </a:rPr>
              <a:t>数据库的实施和维护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3" action="ppaction://hlinksldjump"/>
              </a:rPr>
              <a:t>数据的载入和应用程序的调试</a:t>
            </a:r>
            <a:endParaRPr sz="3000">
              <a:latin typeface="黑体"/>
              <a:cs typeface="黑体"/>
            </a:endParaRPr>
          </a:p>
          <a:p>
            <a:pPr marL="315595" indent="-303530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4" action="ppaction://hlinksldjump"/>
              </a:rPr>
              <a:t>数据库的试运行</a:t>
            </a:r>
            <a:endParaRPr sz="3000">
              <a:latin typeface="黑体"/>
              <a:cs typeface="黑体"/>
            </a:endParaRPr>
          </a:p>
          <a:p>
            <a:pPr marL="316230" indent="-304165">
              <a:lnSpc>
                <a:spcPct val="100000"/>
              </a:lnSpc>
              <a:spcBef>
                <a:spcPts val="720"/>
              </a:spcBef>
              <a:buClr>
                <a:srgbClr val="005F00"/>
              </a:buClr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u="heavy" sz="3000" spc="-5" b="1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黑体"/>
                <a:cs typeface="黑体"/>
                <a:hlinkClick r:id="rId5" action="ppaction://hlinksldjump"/>
              </a:rPr>
              <a:t>数据库的运行和维护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4045" y="394461"/>
            <a:ext cx="5375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1050" algn="l"/>
              </a:tabLst>
            </a:pPr>
            <a:r>
              <a:rPr dirty="0" spc="-5"/>
              <a:t>§</a:t>
            </a:r>
            <a:r>
              <a:rPr dirty="0" spc="-20"/>
              <a:t>6</a:t>
            </a:r>
            <a:r>
              <a:rPr dirty="0"/>
              <a:t>	</a:t>
            </a:r>
            <a:r>
              <a:rPr dirty="0" spc="-10"/>
              <a:t>数据库的实施和维护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599"/>
            <a:ext cx="7610475" cy="493268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数据库的实施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ct val="99200"/>
              </a:lnSpc>
              <a:spcBef>
                <a:spcPts val="9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完成数据库的物理设计之后，设计人员 就要用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RDBMS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提供的数据定义语义和其 它实用程序将数据逻辑设计和物理设计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结果严格描述出来，成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为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D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B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M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S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可以接受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的源代码，在经过调试产生目标模式。 然后就可以组织数据入库，这就是数据 库实施阶段。</a:t>
            </a:r>
            <a:endParaRPr sz="3000">
              <a:latin typeface="黑体"/>
              <a:cs typeface="黑体"/>
            </a:endParaRPr>
          </a:p>
          <a:p>
            <a:pPr lvl="1" marL="756285" marR="325755" indent="-287020">
              <a:lnSpc>
                <a:spcPts val="3429"/>
              </a:lnSpc>
              <a:spcBef>
                <a:spcPts val="114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目标代码可能存在与数据库服务器端，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也可能存在与客户端。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538" y="394461"/>
            <a:ext cx="70300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§6</a:t>
            </a:r>
            <a:r>
              <a:rPr dirty="0" spc="-15"/>
              <a:t>.</a:t>
            </a:r>
            <a:r>
              <a:rPr dirty="0"/>
              <a:t>1</a:t>
            </a:r>
            <a:r>
              <a:rPr dirty="0" spc="-10"/>
              <a:t>数据载入和应用程序的调试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4818"/>
            <a:ext cx="7588884" cy="455104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6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数据的载入和应用程序的调试</a:t>
            </a:r>
            <a:endParaRPr sz="3200">
              <a:latin typeface="宋体"/>
              <a:cs typeface="宋体"/>
            </a:endParaRPr>
          </a:p>
          <a:p>
            <a:pPr marL="1155700" marR="5080" indent="-228600">
              <a:lnSpc>
                <a:spcPct val="97700"/>
              </a:lnSpc>
              <a:spcBef>
                <a:spcPts val="91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数据库实施阶段包括两项重要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工作， 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一项是数据库的载入，另一项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是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应用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程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序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的编码和调试。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1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数据库的载入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6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录入或从旧系统转换而来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应用程序的编码和调试</a:t>
            </a:r>
            <a:endParaRPr sz="3000">
              <a:latin typeface="黑体"/>
              <a:cs typeface="黑体"/>
            </a:endParaRPr>
          </a:p>
          <a:p>
            <a:pPr marL="1155700" marR="272415" indent="-228600">
              <a:lnSpc>
                <a:spcPts val="3200"/>
              </a:lnSpc>
              <a:spcBef>
                <a:spcPts val="108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应与数据库设计同时进行，结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合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已经载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入的数据进行调试。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394461"/>
            <a:ext cx="47415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/>
              <a:t>§</a:t>
            </a:r>
            <a:r>
              <a:rPr dirty="0" spc="-5"/>
              <a:t>6</a:t>
            </a:r>
            <a:r>
              <a:rPr dirty="0" spc="-20"/>
              <a:t>.2</a:t>
            </a:r>
            <a:r>
              <a:rPr dirty="0"/>
              <a:t>	</a:t>
            </a:r>
            <a:r>
              <a:rPr dirty="0" spc="-10"/>
              <a:t>数据库的试运行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6990"/>
            <a:ext cx="7654925" cy="467677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6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宋体"/>
                <a:cs typeface="宋体"/>
              </a:rPr>
              <a:t>数据库的试运行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ct val="87700"/>
              </a:lnSpc>
              <a:spcBef>
                <a:spcPts val="969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在原有系统的数据有一小部分已输入数 据库后，就可以开始对数据库系统进行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联合调试，这又称之为数据库的试运行。</a:t>
            </a:r>
            <a:endParaRPr sz="3000">
              <a:latin typeface="黑体"/>
              <a:cs typeface="黑体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测试应用程序功能是否满足设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计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要求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测试系统性能是否与设计目标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相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35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试运行期间的注意事项</a:t>
            </a:r>
            <a:endParaRPr sz="3000">
              <a:latin typeface="黑体"/>
              <a:cs typeface="黑体"/>
            </a:endParaRPr>
          </a:p>
          <a:p>
            <a:pPr marL="1155700" marR="339090" indent="-228600">
              <a:lnSpc>
                <a:spcPts val="2870"/>
              </a:lnSpc>
              <a:spcBef>
                <a:spcPts val="100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分批组织数据入库，防止修改</a:t>
            </a:r>
            <a:r>
              <a:rPr dirty="0" sz="2800" spc="5" b="1">
                <a:solidFill>
                  <a:srgbClr val="000066"/>
                </a:solidFill>
                <a:latin typeface="宋体"/>
                <a:cs typeface="宋体"/>
              </a:rPr>
              <a:t>设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计时需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要大量修正数据或是数据作废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2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做好系统的备份工作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2020" y="394461"/>
            <a:ext cx="57594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§6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数据库的运行和维护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188161"/>
            <a:ext cx="7214234" cy="485203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99085" marR="387350" indent="-287020">
              <a:lnSpc>
                <a:spcPts val="3440"/>
              </a:lnSpc>
              <a:spcBef>
                <a:spcPts val="350"/>
              </a:spcBef>
              <a:buSzPct val="96666"/>
              <a:buFont typeface="Wingdings"/>
              <a:buChar char=""/>
              <a:tabLst>
                <a:tab pos="3168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在数据库运行阶段，对数据库经常性的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维护工作主要是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由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DBA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来完成。</a:t>
            </a:r>
            <a:endParaRPr sz="3000">
              <a:latin typeface="黑体"/>
              <a:cs typeface="黑体"/>
            </a:endParaRPr>
          </a:p>
          <a:p>
            <a:pPr marL="469265">
              <a:lnSpc>
                <a:spcPct val="100000"/>
              </a:lnSpc>
              <a:spcBef>
                <a:spcPts val="58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数据库的转储和恢复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数据库的安全性、完整性控制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数据库性能的监督、分析和改造</a:t>
            </a:r>
            <a:endParaRPr sz="2800">
              <a:latin typeface="宋体"/>
              <a:cs typeface="宋体"/>
            </a:endParaRPr>
          </a:p>
          <a:p>
            <a:pPr algn="ctr" marR="1981200">
              <a:lnSpc>
                <a:spcPct val="100000"/>
              </a:lnSpc>
              <a:spcBef>
                <a:spcPts val="59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性能调整或数据库重构</a:t>
            </a:r>
            <a:endParaRPr sz="2400">
              <a:latin typeface="宋体"/>
              <a:cs typeface="宋体"/>
            </a:endParaRPr>
          </a:p>
          <a:p>
            <a:pPr algn="ctr" marR="2026920">
              <a:lnSpc>
                <a:spcPct val="100000"/>
              </a:lnSpc>
              <a:spcBef>
                <a:spcPts val="655"/>
              </a:spcBef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数据库的重组织与重构造</a:t>
            </a:r>
            <a:endParaRPr sz="2800">
              <a:latin typeface="宋体"/>
              <a:cs typeface="宋体"/>
            </a:endParaRPr>
          </a:p>
          <a:p>
            <a:pPr algn="ctr" marR="2593975">
              <a:lnSpc>
                <a:spcPct val="100000"/>
              </a:lnSpc>
              <a:spcBef>
                <a:spcPts val="595"/>
              </a:spcBef>
            </a:pPr>
            <a:r>
              <a:rPr dirty="0" sz="2400">
                <a:latin typeface="Wingdings"/>
                <a:cs typeface="Wingdings"/>
              </a:rPr>
              <a:t></a:t>
            </a:r>
            <a:r>
              <a:rPr dirty="0" sz="2400" b="1">
                <a:latin typeface="宋体"/>
                <a:cs typeface="宋体"/>
              </a:rPr>
              <a:t>修改模式或外模式</a:t>
            </a:r>
            <a:endParaRPr sz="2400">
              <a:latin typeface="宋体"/>
              <a:cs typeface="宋体"/>
            </a:endParaRPr>
          </a:p>
          <a:p>
            <a:pPr marL="299085" marR="5080" indent="-287020">
              <a:lnSpc>
                <a:spcPts val="3429"/>
              </a:lnSpc>
              <a:spcBef>
                <a:spcPts val="1120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当系统发生重大变化，重构也无济于事，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则数据库系统生命周期结束。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2020" y="394461"/>
            <a:ext cx="57594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</a:tabLst>
            </a:pPr>
            <a:r>
              <a:rPr dirty="0" spc="-5"/>
              <a:t>§6</a:t>
            </a:r>
            <a:r>
              <a:rPr dirty="0" spc="-20"/>
              <a:t>.3</a:t>
            </a:r>
            <a:r>
              <a:rPr dirty="0"/>
              <a:t>	</a:t>
            </a:r>
            <a:r>
              <a:rPr dirty="0" spc="-10"/>
              <a:t>数据库的运行和维护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073514"/>
            <a:ext cx="3387725" cy="262636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315595" indent="-303530">
              <a:lnSpc>
                <a:spcPct val="100000"/>
              </a:lnSpc>
              <a:spcBef>
                <a:spcPts val="835"/>
              </a:spcBef>
              <a:buSzPct val="96666"/>
              <a:buFont typeface="Wingdings"/>
              <a:buChar char=""/>
              <a:tabLst>
                <a:tab pos="316230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维护工作的分类</a:t>
            </a:r>
            <a:endParaRPr sz="3000">
              <a:latin typeface="黑体"/>
              <a:cs typeface="黑体"/>
            </a:endParaRPr>
          </a:p>
          <a:p>
            <a:pPr algn="ctr" marL="456565">
              <a:lnSpc>
                <a:spcPct val="100000"/>
              </a:lnSpc>
              <a:spcBef>
                <a:spcPts val="685"/>
              </a:spcBef>
            </a:pPr>
            <a:r>
              <a:rPr dirty="0" sz="2800" spc="-1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⒈</a:t>
            </a:r>
            <a:r>
              <a:rPr dirty="0" sz="2800" spc="-795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改正性维护；</a:t>
            </a:r>
            <a:endParaRPr sz="2800">
              <a:latin typeface="宋体"/>
              <a:cs typeface="宋体"/>
            </a:endParaRPr>
          </a:p>
          <a:p>
            <a:pPr algn="ctr" marL="456565">
              <a:lnSpc>
                <a:spcPct val="100000"/>
              </a:lnSpc>
              <a:spcBef>
                <a:spcPts val="670"/>
              </a:spcBef>
            </a:pPr>
            <a:r>
              <a:rPr dirty="0" sz="2800" spc="-1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⒉</a:t>
            </a:r>
            <a:r>
              <a:rPr dirty="0" sz="2800" spc="-795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适应性维护；</a:t>
            </a:r>
            <a:endParaRPr sz="2800">
              <a:latin typeface="宋体"/>
              <a:cs typeface="宋体"/>
            </a:endParaRPr>
          </a:p>
          <a:p>
            <a:pPr algn="ctr" marL="456565">
              <a:lnSpc>
                <a:spcPct val="100000"/>
              </a:lnSpc>
              <a:spcBef>
                <a:spcPts val="675"/>
              </a:spcBef>
            </a:pPr>
            <a:r>
              <a:rPr dirty="0" sz="2800" spc="-1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⒊</a:t>
            </a:r>
            <a:r>
              <a:rPr dirty="0" sz="2800" spc="-775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完善性维护；</a:t>
            </a:r>
            <a:endParaRPr sz="2800">
              <a:latin typeface="宋体"/>
              <a:cs typeface="宋体"/>
            </a:endParaRPr>
          </a:p>
          <a:p>
            <a:pPr algn="ctr" marL="456565">
              <a:lnSpc>
                <a:spcPct val="100000"/>
              </a:lnSpc>
              <a:spcBef>
                <a:spcPts val="670"/>
              </a:spcBef>
            </a:pPr>
            <a:r>
              <a:rPr dirty="0" sz="2800" spc="-10">
                <a:solidFill>
                  <a:srgbClr val="000066"/>
                </a:solidFill>
                <a:latin typeface="Wingdings"/>
                <a:cs typeface="Wingdings"/>
              </a:rPr>
              <a:t>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⒋</a:t>
            </a:r>
            <a:r>
              <a:rPr dirty="0" sz="2800" spc="-795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预防性维护。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5982" y="394461"/>
            <a:ext cx="1812289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0415" algn="l"/>
              </a:tabLst>
            </a:pPr>
            <a:r>
              <a:rPr dirty="0" spc="-5"/>
              <a:t>§</a:t>
            </a:r>
            <a:r>
              <a:rPr dirty="0" spc="-20"/>
              <a:t>7</a:t>
            </a:r>
            <a:r>
              <a:rPr dirty="0"/>
              <a:t>	</a:t>
            </a:r>
            <a:r>
              <a:rPr dirty="0" spc="-10"/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403"/>
            <a:ext cx="7564120" cy="333756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数据库的设计过程</a:t>
            </a:r>
            <a:endParaRPr sz="3200">
              <a:latin typeface="宋体"/>
              <a:cs typeface="宋体"/>
            </a:endParaRPr>
          </a:p>
          <a:p>
            <a:pPr lvl="1" marL="773430" indent="-304165">
              <a:lnSpc>
                <a:spcPct val="100000"/>
              </a:lnSpc>
              <a:spcBef>
                <a:spcPts val="720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各阶段的任务和步骤</a:t>
            </a:r>
            <a:endParaRPr sz="3000">
              <a:latin typeface="黑体"/>
              <a:cs typeface="黑体"/>
            </a:endParaRPr>
          </a:p>
          <a:p>
            <a:pPr marL="355600" indent="-343535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E-R</a:t>
            </a:r>
            <a:r>
              <a:rPr dirty="0" sz="3200" spc="-10" b="1">
                <a:solidFill>
                  <a:srgbClr val="0000FF"/>
                </a:solidFill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715"/>
              </a:spcBef>
              <a:buSzPct val="96666"/>
              <a:buFont typeface="Wingdings"/>
              <a:buChar char=""/>
              <a:tabLst>
                <a:tab pos="774065" algn="l"/>
              </a:tabLst>
            </a:pP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能够给出应用系统</a:t>
            </a:r>
            <a:r>
              <a:rPr dirty="0" sz="3000" b="1">
                <a:solidFill>
                  <a:srgbClr val="005F00"/>
                </a:solidFill>
                <a:latin typeface="黑体"/>
                <a:cs typeface="黑体"/>
              </a:rPr>
              <a:t>的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E</a:t>
            </a:r>
            <a:r>
              <a:rPr dirty="0" sz="3000" spc="-5" b="1">
                <a:solidFill>
                  <a:srgbClr val="005F00"/>
                </a:solidFill>
                <a:latin typeface="Times New Roman"/>
                <a:cs typeface="Times New Roman"/>
              </a:rPr>
              <a:t>-</a:t>
            </a:r>
            <a:r>
              <a:rPr dirty="0" sz="3000" b="1">
                <a:solidFill>
                  <a:srgbClr val="005F00"/>
                </a:solidFill>
                <a:latin typeface="Times New Roman"/>
                <a:cs typeface="Times New Roman"/>
              </a:rPr>
              <a:t>R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图，并转化为关 </a:t>
            </a:r>
            <a:r>
              <a:rPr dirty="0" sz="3000" spc="-5" b="1">
                <a:solidFill>
                  <a:srgbClr val="005F00"/>
                </a:solidFill>
                <a:latin typeface="黑体"/>
                <a:cs typeface="黑体"/>
              </a:rPr>
              <a:t>系模型</a:t>
            </a:r>
            <a:endParaRPr sz="3000">
              <a:latin typeface="黑体"/>
              <a:cs typeface="黑体"/>
            </a:endParaRPr>
          </a:p>
          <a:p>
            <a:pPr marL="355600" indent="-343535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dirty="0" sz="3200" spc="-5" b="1">
                <a:solidFill>
                  <a:srgbClr val="0000FF"/>
                </a:solidFill>
                <a:latin typeface="宋体"/>
                <a:cs typeface="宋体"/>
              </a:rPr>
              <a:t>对数据模型的评价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SERVER</dc:creator>
  <dc:title>数据库原理与设计</dc:title>
  <dcterms:created xsi:type="dcterms:W3CDTF">2024-06-23T04:38:47Z</dcterms:created>
  <dcterms:modified xsi:type="dcterms:W3CDTF">2024-06-23T04:38:47Z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2024-06-23T00:00:00Z</vt:filetime>
  </property>
</Properties>
</file>
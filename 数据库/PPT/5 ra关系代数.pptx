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59F920F-A02B-494A-8BA2-4C3B70307BEA}">
          <p14:sldIdLst>
            <p14:sldId id="256"/>
            <p14:sldId id="257"/>
            <p14:sldId id="258"/>
            <p14:sldId id="259"/>
          </p14:sldIdLst>
        </p14:section>
        <p14:section name="选择" id="{86F6AA88-FFD6-48A2-A649-4E4D081E88E0}">
          <p14:sldIdLst>
            <p14:sldId id="260"/>
            <p14:sldId id="261"/>
          </p14:sldIdLst>
        </p14:section>
        <p14:section name="投影" id="{4A820021-0BC5-47C5-8E8E-5D51012199DD}">
          <p14:sldIdLst>
            <p14:sldId id="262"/>
            <p14:sldId id="263"/>
            <p14:sldId id="264"/>
            <p14:sldId id="265"/>
          </p14:sldIdLst>
        </p14:section>
        <p14:section name="笛卡尔积/交叉连接" id="{30D95D02-4CAB-4711-AD82-BE5FA291E395}">
          <p14:sldIdLst>
            <p14:sldId id="266"/>
            <p14:sldId id="267"/>
          </p14:sldIdLst>
        </p14:section>
        <p14:section name="条件链接" id="{5D3ED34C-8048-4B4E-9EED-AE8B2D48486D}">
          <p14:sldIdLst>
            <p14:sldId id="268"/>
            <p14:sldId id="269"/>
          </p14:sldIdLst>
        </p14:section>
        <p14:section name="自然链接" id="{1E98AB0B-55BD-4346-8FE7-C1EDF97BBD3E}">
          <p14:sldIdLst>
            <p14:sldId id="270"/>
            <p14:sldId id="271"/>
          </p14:sldIdLst>
        </p14:section>
        <p14:section name="重命名" id="{E1C2D768-FB40-4A47-91F6-E0CCA9360237}">
          <p14:sldIdLst>
            <p14:sldId id="272"/>
            <p14:sldId id="273"/>
          </p14:sldIdLst>
        </p14:section>
        <p14:section name="构造复杂表达式" id="{0533A929-308A-47E6-BFE8-6DE931B9E0BA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41244" y="2506344"/>
            <a:ext cx="44615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8320" y="3821557"/>
            <a:ext cx="3007359" cy="119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8894" y="829944"/>
            <a:ext cx="65062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39632" y="2424598"/>
            <a:ext cx="4464684" cy="1918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Relational</a:t>
            </a:r>
            <a:r>
              <a:rPr spc="-45" dirty="0"/>
              <a:t> </a:t>
            </a:r>
            <a:r>
              <a:rPr spc="-15" dirty="0"/>
              <a:t>Algebra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-80645">
              <a:lnSpc>
                <a:spcPct val="1199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70" dirty="0"/>
              <a:t> </a:t>
            </a:r>
            <a:r>
              <a:rPr spc="-10" dirty="0"/>
              <a:t>Operations  Algebra </a:t>
            </a:r>
            <a:r>
              <a:rPr spc="-5" dirty="0"/>
              <a:t>of</a:t>
            </a:r>
            <a:r>
              <a:rPr spc="-55" dirty="0"/>
              <a:t> </a:t>
            </a:r>
            <a:r>
              <a:rPr dirty="0"/>
              <a:t>Bags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7395" y="829944"/>
            <a:ext cx="5109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is </a:t>
            </a:r>
            <a:r>
              <a:rPr dirty="0"/>
              <a:t>an</a:t>
            </a:r>
            <a:r>
              <a:rPr spc="-70" dirty="0"/>
              <a:t> </a:t>
            </a:r>
            <a:r>
              <a:rPr spc="-35" dirty="0"/>
              <a:t>“Algebra”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38830"/>
            <a:ext cx="7512050" cy="3353482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8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Mathematical system consisting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of:</a:t>
            </a:r>
            <a:endParaRPr sz="3200" dirty="0">
              <a:latin typeface="Tahoma"/>
              <a:cs typeface="Tahoma"/>
            </a:endParaRPr>
          </a:p>
          <a:p>
            <a:pPr marL="755650" marR="789305" lvl="1" indent="-285750">
              <a:lnSpc>
                <a:spcPts val="3360"/>
              </a:lnSpc>
              <a:spcBef>
                <a:spcPts val="785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>
                <a:effectLst/>
              </a:rPr>
              <a:t>Operands</a:t>
            </a:r>
            <a:r>
              <a:rPr lang="zh-CN" altLang="en-US" sz="3200" dirty="0">
                <a:effectLst/>
              </a:rPr>
              <a:t>操作数</a:t>
            </a:r>
            <a:r>
              <a:rPr sz="2800" spc="-725" dirty="0">
                <a:latin typeface="Tahoma"/>
                <a:cs typeface="Tahoma"/>
              </a:rPr>
              <a:t>-- </a:t>
            </a:r>
            <a:r>
              <a:rPr sz="2800" spc="-10" dirty="0">
                <a:latin typeface="Tahoma"/>
                <a:cs typeface="Tahoma"/>
              </a:rPr>
              <a:t>variables </a:t>
            </a:r>
            <a:r>
              <a:rPr lang="zh-CN" altLang="en-US" sz="2800" spc="-10" dirty="0">
                <a:latin typeface="Tahoma"/>
                <a:cs typeface="Tahoma"/>
              </a:rPr>
              <a:t>变量</a:t>
            </a:r>
            <a:r>
              <a:rPr sz="2800" spc="-5" dirty="0">
                <a:latin typeface="Tahoma"/>
                <a:cs typeface="Tahoma"/>
              </a:rPr>
              <a:t>or </a:t>
            </a:r>
            <a:r>
              <a:rPr sz="2800" spc="-15" dirty="0">
                <a:latin typeface="Tahoma"/>
                <a:cs typeface="Tahoma"/>
              </a:rPr>
              <a:t>values from  </a:t>
            </a:r>
            <a:r>
              <a:rPr sz="2800" spc="-5" dirty="0">
                <a:latin typeface="Tahoma"/>
                <a:cs typeface="Tahoma"/>
              </a:rPr>
              <a:t>which new </a:t>
            </a:r>
            <a:r>
              <a:rPr sz="2800" spc="-15" dirty="0">
                <a:latin typeface="Tahoma"/>
                <a:cs typeface="Tahoma"/>
              </a:rPr>
              <a:t>values </a:t>
            </a:r>
            <a:r>
              <a:rPr sz="2800" spc="-5" dirty="0">
                <a:latin typeface="Tahoma"/>
                <a:cs typeface="Tahoma"/>
              </a:rPr>
              <a:t>can be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constructed.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>
                <a:effectLst/>
              </a:rPr>
              <a:t>Operators</a:t>
            </a:r>
            <a:r>
              <a:rPr lang="zh-CN" altLang="en-US" sz="3200" dirty="0">
                <a:effectLst/>
              </a:rPr>
              <a:t>运算符</a:t>
            </a:r>
            <a:r>
              <a:rPr sz="2800" spc="-740" dirty="0">
                <a:latin typeface="Tahoma"/>
                <a:cs typeface="Tahoma"/>
              </a:rPr>
              <a:t>-- </a:t>
            </a:r>
            <a:r>
              <a:rPr sz="2800" spc="-5" dirty="0">
                <a:latin typeface="Tahoma"/>
                <a:cs typeface="Tahoma"/>
              </a:rPr>
              <a:t>symbols denoting</a:t>
            </a:r>
            <a:r>
              <a:rPr lang="zh-CN" altLang="en-US" sz="2800" spc="-5" dirty="0">
                <a:latin typeface="Tahoma"/>
                <a:cs typeface="Tahoma"/>
              </a:rPr>
              <a:t>表示</a:t>
            </a:r>
            <a:r>
              <a:rPr sz="2800" spc="-5" dirty="0">
                <a:latin typeface="Tahoma"/>
                <a:cs typeface="Tahoma"/>
              </a:rPr>
              <a:t> procedures  that construct new </a:t>
            </a:r>
            <a:r>
              <a:rPr sz="2800" spc="-15" dirty="0">
                <a:latin typeface="Tahoma"/>
                <a:cs typeface="Tahoma"/>
              </a:rPr>
              <a:t>values from </a:t>
            </a:r>
            <a:r>
              <a:rPr sz="2800" spc="-10" dirty="0">
                <a:latin typeface="Tahoma"/>
                <a:cs typeface="Tahoma"/>
              </a:rPr>
              <a:t>given  </a:t>
            </a:r>
            <a:r>
              <a:rPr sz="2800" spc="-15" dirty="0">
                <a:latin typeface="Tahoma"/>
                <a:cs typeface="Tahoma"/>
              </a:rPr>
              <a:t>values.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7610" y="829944"/>
            <a:ext cx="67487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is </a:t>
            </a:r>
            <a:r>
              <a:rPr spc="-15" dirty="0"/>
              <a:t>Relational</a:t>
            </a:r>
            <a:r>
              <a:rPr spc="-10" dirty="0"/>
              <a:t> </a:t>
            </a:r>
            <a:r>
              <a:rPr spc="-15" dirty="0"/>
              <a:t>Algebra?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2690" cy="40453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064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10" dirty="0">
                <a:latin typeface="Tahoma"/>
                <a:cs typeface="Tahoma"/>
              </a:rPr>
              <a:t>algebra </a:t>
            </a:r>
            <a:r>
              <a:rPr sz="3200" spc="-5" dirty="0">
                <a:latin typeface="Tahoma"/>
                <a:cs typeface="Tahoma"/>
              </a:rPr>
              <a:t>whose </a:t>
            </a:r>
            <a:r>
              <a:rPr sz="3200" spc="-10" dirty="0">
                <a:latin typeface="Tahoma"/>
                <a:cs typeface="Tahoma"/>
              </a:rPr>
              <a:t>operands</a:t>
            </a:r>
            <a:r>
              <a:rPr lang="en-US" sz="3200" spc="-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relations or </a:t>
            </a:r>
            <a:r>
              <a:rPr sz="3200" spc="-10" dirty="0">
                <a:latin typeface="Tahoma"/>
                <a:cs typeface="Tahoma"/>
              </a:rPr>
              <a:t>variables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represent  </a:t>
            </a:r>
            <a:r>
              <a:rPr sz="3200" spc="-5" dirty="0">
                <a:latin typeface="Tahoma"/>
                <a:cs typeface="Tahoma"/>
              </a:rPr>
              <a:t>relations.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Operators are </a:t>
            </a:r>
            <a:r>
              <a:rPr sz="3200" spc="-5" dirty="0">
                <a:latin typeface="Tahoma"/>
                <a:cs typeface="Tahoma"/>
              </a:rPr>
              <a:t>designed to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the most  common things that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with  relations in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database.</a:t>
            </a:r>
            <a:endParaRPr sz="3200" dirty="0">
              <a:latin typeface="Tahoma"/>
              <a:cs typeface="Tahoma"/>
            </a:endParaRPr>
          </a:p>
          <a:p>
            <a:pPr marL="755650" marR="357505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result is an </a:t>
            </a:r>
            <a:r>
              <a:rPr sz="2800" spc="-10" dirty="0">
                <a:latin typeface="Tahoma"/>
                <a:cs typeface="Tahoma"/>
              </a:rPr>
              <a:t>algebra </a:t>
            </a:r>
            <a:r>
              <a:rPr sz="2800" spc="-5" dirty="0">
                <a:latin typeface="Tahoma"/>
                <a:cs typeface="Tahoma"/>
              </a:rPr>
              <a:t>that can be used  as a</a:t>
            </a:r>
            <a:r>
              <a:rPr lang="en-US" sz="2800" spc="-5" dirty="0">
                <a:latin typeface="Tahoma"/>
                <a:cs typeface="Tahoma"/>
              </a:rPr>
              <a:t> </a:t>
            </a:r>
            <a:r>
              <a:rPr lang="en-US" sz="2800" spc="-5" dirty="0" err="1">
                <a:latin typeface="Tahoma"/>
                <a:cs typeface="Tahoma"/>
              </a:rPr>
              <a:t>querylanguage</a:t>
            </a:r>
            <a:r>
              <a:rPr lang="en-US" sz="2800" spc="-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for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relations.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8147" y="228600"/>
            <a:ext cx="576770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Core </a:t>
            </a:r>
            <a:r>
              <a:rPr spc="-15" dirty="0"/>
              <a:t>Relational</a:t>
            </a:r>
            <a:r>
              <a:rPr spc="-30" dirty="0"/>
              <a:t> </a:t>
            </a:r>
            <a:r>
              <a:rPr spc="-15" dirty="0"/>
              <a:t>Algebra</a:t>
            </a:r>
            <a:r>
              <a:rPr lang="zh-CN" altLang="en-US" spc="-15" dirty="0"/>
              <a:t>核心关系代数</a:t>
            </a:r>
            <a:endParaRPr spc="-1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42989" y="1573870"/>
            <a:ext cx="7164070" cy="492570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3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Union</a:t>
            </a:r>
            <a:r>
              <a:rPr lang="zh-CN" altLang="en-US" sz="3200" spc="-5" dirty="0">
                <a:solidFill>
                  <a:srgbClr val="33CC33"/>
                </a:solidFill>
                <a:latin typeface="Tahoma"/>
                <a:cs typeface="Tahoma"/>
              </a:rPr>
              <a:t>并集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, intersection</a:t>
            </a:r>
            <a:r>
              <a:rPr lang="zh-CN" altLang="en-US" sz="3200" spc="-5" dirty="0">
                <a:solidFill>
                  <a:srgbClr val="33CC33"/>
                </a:solidFill>
                <a:latin typeface="Tahoma"/>
                <a:cs typeface="Tahoma"/>
              </a:rPr>
              <a:t>交集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, and</a:t>
            </a:r>
            <a:r>
              <a:rPr sz="3200" spc="-1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difference</a:t>
            </a:r>
            <a:r>
              <a:rPr lang="zh-CN" altLang="en-US" sz="3200" spc="-10" dirty="0">
                <a:solidFill>
                  <a:srgbClr val="33CC33"/>
                </a:solidFill>
                <a:latin typeface="Tahoma"/>
                <a:cs typeface="Tahoma"/>
              </a:rPr>
              <a:t>差集</a:t>
            </a:r>
            <a:r>
              <a:rPr sz="3200" spc="-1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32155" marR="5080" lvl="1" indent="-262890">
              <a:lnSpc>
                <a:spcPts val="3020"/>
              </a:lnSpc>
              <a:spcBef>
                <a:spcPts val="71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Usual set </a:t>
            </a:r>
            <a:r>
              <a:rPr sz="2800" spc="-10" dirty="0">
                <a:latin typeface="Tahoma"/>
                <a:cs typeface="Tahoma"/>
              </a:rPr>
              <a:t>operations, </a:t>
            </a:r>
            <a:r>
              <a:rPr sz="2800" spc="-5" dirty="0">
                <a:latin typeface="Tahoma"/>
                <a:cs typeface="Tahoma"/>
              </a:rPr>
              <a:t>but </a:t>
            </a:r>
            <a:r>
              <a:rPr lang="en-US" altLang="zh-CN" sz="3200" dirty="0">
                <a:effectLst/>
              </a:rPr>
              <a:t>both operands must have the same relation schema.</a:t>
            </a:r>
          </a:p>
          <a:p>
            <a:pPr marL="732155" marR="5080" lvl="1" indent="-262890">
              <a:lnSpc>
                <a:spcPts val="3020"/>
              </a:lnSpc>
              <a:spcBef>
                <a:spcPts val="71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lang="en-US" sz="3200" spc="-5" dirty="0">
                <a:solidFill>
                  <a:srgbClr val="33CC33"/>
                </a:solidFill>
                <a:latin typeface="Tahoma"/>
                <a:cs typeface="Tahoma"/>
              </a:rPr>
              <a:t>Selection</a:t>
            </a:r>
            <a:r>
              <a:rPr lang="zh-CN" altLang="en-US" sz="3200" spc="-5" dirty="0">
                <a:solidFill>
                  <a:srgbClr val="33CC33"/>
                </a:solidFill>
                <a:latin typeface="Tahoma"/>
                <a:cs typeface="Tahoma"/>
              </a:rPr>
              <a:t>选择</a:t>
            </a:r>
            <a:r>
              <a:rPr lang="en-US" sz="3200" spc="-5" dirty="0">
                <a:latin typeface="Tahoma"/>
                <a:cs typeface="Tahoma"/>
              </a:rPr>
              <a:t>: picking certain</a:t>
            </a:r>
            <a:r>
              <a:rPr lang="en-US" sz="3200" spc="-15" dirty="0">
                <a:latin typeface="Tahoma"/>
                <a:cs typeface="Tahoma"/>
              </a:rPr>
              <a:t> </a:t>
            </a:r>
            <a:r>
              <a:rPr lang="en-US" sz="3200" spc="-5" dirty="0">
                <a:latin typeface="Tahoma"/>
                <a:cs typeface="Tahoma"/>
              </a:rPr>
              <a:t>rows.</a:t>
            </a:r>
            <a:endParaRPr lang="en-US"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3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Projection</a:t>
            </a:r>
            <a:r>
              <a:rPr lang="zh-CN" altLang="en-US" sz="3200" spc="-5" dirty="0">
                <a:solidFill>
                  <a:srgbClr val="33CC33"/>
                </a:solidFill>
                <a:latin typeface="Tahoma"/>
                <a:cs typeface="Tahoma"/>
              </a:rPr>
              <a:t>投影</a:t>
            </a:r>
            <a:r>
              <a:rPr sz="3200" spc="-5" dirty="0">
                <a:latin typeface="Tahoma"/>
                <a:cs typeface="Tahoma"/>
              </a:rPr>
              <a:t>: picking certain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columns.</a:t>
            </a:r>
            <a:r>
              <a:rPr lang="zh-CN" altLang="en-US" sz="3200" spc="-5" dirty="0">
                <a:latin typeface="Tahoma"/>
                <a:cs typeface="Tahoma"/>
              </a:rPr>
              <a:t>列</a:t>
            </a:r>
            <a:endParaRPr sz="3200" dirty="0">
              <a:latin typeface="Tahoma"/>
              <a:cs typeface="Tahoma"/>
            </a:endParaRPr>
          </a:p>
          <a:p>
            <a:pPr marL="355600" marR="365125" indent="-342900">
              <a:lnSpc>
                <a:spcPts val="3450"/>
              </a:lnSpc>
              <a:spcBef>
                <a:spcPts val="81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Products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joins</a:t>
            </a:r>
            <a:r>
              <a:rPr sz="3200" spc="-5" dirty="0">
                <a:latin typeface="Tahoma"/>
                <a:cs typeface="Tahoma"/>
              </a:rPr>
              <a:t>: compositions of  relations.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3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Renaming </a:t>
            </a:r>
            <a:r>
              <a:rPr sz="3200" spc="-5" dirty="0">
                <a:latin typeface="Tahoma"/>
                <a:cs typeface="Tahoma"/>
              </a:rPr>
              <a:t>of relations and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762000"/>
            <a:ext cx="3657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Selection</a:t>
            </a:r>
            <a:r>
              <a:rPr lang="zh-CN" altLang="en-US" spc="-5" dirty="0"/>
              <a:t>选择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837515"/>
            <a:ext cx="7601584" cy="226504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12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R1 :=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4000" spc="-35" dirty="0">
                <a:latin typeface="Lucida Sans Unicode"/>
                <a:cs typeface="Lucida Sans Unicode"/>
              </a:rPr>
              <a:t>σ</a:t>
            </a:r>
            <a:r>
              <a:rPr sz="3225" i="1" spc="-52" baseline="-16795" dirty="0">
                <a:latin typeface="Tahoma"/>
                <a:cs typeface="Tahoma"/>
              </a:rPr>
              <a:t>C</a:t>
            </a:r>
            <a:r>
              <a:rPr sz="3200" spc="-35" dirty="0">
                <a:latin typeface="Tahoma"/>
                <a:cs typeface="Tahoma"/>
              </a:rPr>
              <a:t>(R2)</a:t>
            </a:r>
            <a:endParaRPr sz="3200" dirty="0">
              <a:latin typeface="Tahoma"/>
              <a:cs typeface="Tahoma"/>
            </a:endParaRPr>
          </a:p>
          <a:p>
            <a:pPr marL="768350" marR="17780" lvl="1" indent="-285750">
              <a:lnSpc>
                <a:spcPts val="3360"/>
              </a:lnSpc>
              <a:spcBef>
                <a:spcPts val="106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45490" algn="l"/>
              </a:tabLst>
            </a:pPr>
            <a:r>
              <a:rPr sz="2900" i="1" spc="-65" dirty="0">
                <a:latin typeface="Tahoma"/>
                <a:cs typeface="Tahoma"/>
              </a:rPr>
              <a:t>C </a:t>
            </a:r>
            <a:r>
              <a:rPr sz="2800" spc="-5" dirty="0">
                <a:latin typeface="Tahoma"/>
                <a:cs typeface="Tahoma"/>
              </a:rPr>
              <a:t>is a condition (as in </a:t>
            </a:r>
            <a:r>
              <a:rPr sz="2800" spc="20" dirty="0">
                <a:latin typeface="Tahoma"/>
                <a:cs typeface="Tahoma"/>
              </a:rPr>
              <a:t>“if” </a:t>
            </a:r>
            <a:r>
              <a:rPr sz="2800" spc="-5" dirty="0">
                <a:latin typeface="Tahoma"/>
                <a:cs typeface="Tahoma"/>
              </a:rPr>
              <a:t>statements) that  </a:t>
            </a:r>
            <a:r>
              <a:rPr sz="2800" spc="-10" dirty="0">
                <a:latin typeface="Tahoma"/>
                <a:cs typeface="Tahoma"/>
              </a:rPr>
              <a:t>refers </a:t>
            </a:r>
            <a:r>
              <a:rPr sz="2800" spc="-5" dirty="0">
                <a:latin typeface="Tahoma"/>
                <a:cs typeface="Tahoma"/>
              </a:rPr>
              <a:t>to attributes of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R2.</a:t>
            </a:r>
            <a:endParaRPr sz="2800" dirty="0">
              <a:latin typeface="Tahoma"/>
              <a:cs typeface="Tahoma"/>
            </a:endParaRPr>
          </a:p>
          <a:p>
            <a:pPr marL="768350" lvl="1" indent="-285750">
              <a:lnSpc>
                <a:spcPct val="100000"/>
              </a:lnSpc>
              <a:spcBef>
                <a:spcPts val="459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R1 is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those tuples of R2 that </a:t>
            </a:r>
            <a:r>
              <a:rPr sz="2800" spc="-10" dirty="0">
                <a:latin typeface="Tahoma"/>
                <a:cs typeface="Tahoma"/>
              </a:rPr>
              <a:t>satisfy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C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3770" y="829944"/>
            <a:ext cx="4696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2064" y="2046922"/>
            <a:ext cx="19170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Relation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Sells: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8837" y="2433637"/>
            <a:ext cx="4505325" cy="1914525"/>
          </a:xfrm>
          <a:custGeom>
            <a:avLst/>
            <a:gdLst/>
            <a:ahLst/>
            <a:cxnLst/>
            <a:rect l="l" t="t" r="r" b="b"/>
            <a:pathLst>
              <a:path w="4505325" h="1914525">
                <a:moveTo>
                  <a:pt x="4505325" y="1914525"/>
                </a:moveTo>
                <a:lnTo>
                  <a:pt x="0" y="1914525"/>
                </a:lnTo>
                <a:lnTo>
                  <a:pt x="0" y="0"/>
                </a:lnTo>
                <a:lnTo>
                  <a:pt x="4505325" y="0"/>
                </a:lnTo>
                <a:lnTo>
                  <a:pt x="450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05000"/>
                </a:lnTo>
                <a:lnTo>
                  <a:pt x="4762" y="1905000"/>
                </a:lnTo>
                <a:lnTo>
                  <a:pt x="9525" y="1909762"/>
                </a:lnTo>
                <a:lnTo>
                  <a:pt x="4505325" y="1909762"/>
                </a:lnTo>
                <a:lnTo>
                  <a:pt x="4505325" y="1914525"/>
                </a:lnTo>
                <a:close/>
              </a:path>
              <a:path w="4505325" h="1914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05325" h="1914525">
                <a:moveTo>
                  <a:pt x="449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95800" y="4762"/>
                </a:lnTo>
                <a:lnTo>
                  <a:pt x="4495800" y="9525"/>
                </a:lnTo>
                <a:close/>
              </a:path>
              <a:path w="4505325" h="1914525">
                <a:moveTo>
                  <a:pt x="4495800" y="1909762"/>
                </a:moveTo>
                <a:lnTo>
                  <a:pt x="4495800" y="4762"/>
                </a:lnTo>
                <a:lnTo>
                  <a:pt x="4500562" y="9525"/>
                </a:lnTo>
                <a:lnTo>
                  <a:pt x="4505325" y="9525"/>
                </a:lnTo>
                <a:lnTo>
                  <a:pt x="4505325" y="1905000"/>
                </a:lnTo>
                <a:lnTo>
                  <a:pt x="4500562" y="1905000"/>
                </a:lnTo>
                <a:lnTo>
                  <a:pt x="4495800" y="1909762"/>
                </a:lnTo>
                <a:close/>
              </a:path>
              <a:path w="4505325" h="1914525">
                <a:moveTo>
                  <a:pt x="4505325" y="9525"/>
                </a:moveTo>
                <a:lnTo>
                  <a:pt x="4500562" y="9525"/>
                </a:lnTo>
                <a:lnTo>
                  <a:pt x="4495800" y="4762"/>
                </a:lnTo>
                <a:lnTo>
                  <a:pt x="4505325" y="4762"/>
                </a:lnTo>
                <a:lnTo>
                  <a:pt x="4505325" y="9525"/>
                </a:lnTo>
                <a:close/>
              </a:path>
              <a:path w="4505325" h="1914525">
                <a:moveTo>
                  <a:pt x="9525" y="1909762"/>
                </a:moveTo>
                <a:lnTo>
                  <a:pt x="4762" y="1905000"/>
                </a:lnTo>
                <a:lnTo>
                  <a:pt x="9525" y="1905000"/>
                </a:lnTo>
                <a:lnTo>
                  <a:pt x="9525" y="1909762"/>
                </a:lnTo>
                <a:close/>
              </a:path>
              <a:path w="4505325" h="1914525">
                <a:moveTo>
                  <a:pt x="4495800" y="1909762"/>
                </a:moveTo>
                <a:lnTo>
                  <a:pt x="9525" y="1909762"/>
                </a:lnTo>
                <a:lnTo>
                  <a:pt x="9525" y="1905000"/>
                </a:lnTo>
                <a:lnTo>
                  <a:pt x="4495800" y="1905000"/>
                </a:lnTo>
                <a:lnTo>
                  <a:pt x="4495800" y="1909762"/>
                </a:lnTo>
                <a:close/>
              </a:path>
              <a:path w="4505325" h="1914525">
                <a:moveTo>
                  <a:pt x="4505325" y="1909762"/>
                </a:moveTo>
                <a:lnTo>
                  <a:pt x="4495800" y="1909762"/>
                </a:lnTo>
                <a:lnTo>
                  <a:pt x="4500562" y="1905000"/>
                </a:lnTo>
                <a:lnTo>
                  <a:pt x="4505325" y="1905000"/>
                </a:lnTo>
                <a:lnTo>
                  <a:pt x="4505325" y="1909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3600" y="2819400"/>
            <a:ext cx="4495800" cy="0"/>
          </a:xfrm>
          <a:custGeom>
            <a:avLst/>
            <a:gdLst/>
            <a:ahLst/>
            <a:cxnLst/>
            <a:rect l="l" t="t" r="r" b="b"/>
            <a:pathLst>
              <a:path w="4495800">
                <a:moveTo>
                  <a:pt x="0" y="0"/>
                </a:moveTo>
                <a:lnTo>
                  <a:pt x="449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39632" y="2424598"/>
          <a:ext cx="4464685" cy="1918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831">
                <a:tc>
                  <a:txBody>
                    <a:bodyPr/>
                    <a:lstStyle/>
                    <a:p>
                      <a:pPr marL="69215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beer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ri</a:t>
                      </a: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2.5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46050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400" spc="-65" dirty="0">
                          <a:latin typeface="Tahoma"/>
                          <a:cs typeface="Tahoma"/>
                        </a:rPr>
                        <a:t>.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7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2.5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689">
                <a:tc>
                  <a:txBody>
                    <a:bodyPr/>
                    <a:lstStyle/>
                    <a:p>
                      <a:pPr marL="69215">
                        <a:lnSpc>
                          <a:spcPts val="287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3.0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72539" y="4453572"/>
            <a:ext cx="400875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Tahoma"/>
                <a:cs typeface="Tahoma"/>
              </a:rPr>
              <a:t>JoeMenu :=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3200" spc="-5" dirty="0">
                <a:latin typeface="Lucida Sans Unicode"/>
                <a:cs typeface="Lucida Sans Unicode"/>
              </a:rPr>
              <a:t>σ</a:t>
            </a:r>
            <a:r>
              <a:rPr sz="2325" baseline="-17921" dirty="0">
                <a:latin typeface="Tahoma"/>
                <a:cs typeface="Tahoma"/>
              </a:rPr>
              <a:t>b</a:t>
            </a:r>
            <a:r>
              <a:rPr sz="2325" spc="7" baseline="-17921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r</a:t>
            </a:r>
            <a:r>
              <a:rPr sz="2325" spc="7" baseline="-17921" dirty="0">
                <a:latin typeface="Tahoma"/>
                <a:cs typeface="Tahoma"/>
              </a:rPr>
              <a:t>=</a:t>
            </a:r>
            <a:r>
              <a:rPr sz="2325" spc="-7" baseline="-17921" dirty="0">
                <a:latin typeface="Tahoma"/>
                <a:cs typeface="Tahoma"/>
              </a:rPr>
              <a:t>“</a:t>
            </a:r>
            <a:r>
              <a:rPr sz="2325" baseline="-17921" dirty="0">
                <a:latin typeface="Tahoma"/>
                <a:cs typeface="Tahoma"/>
              </a:rPr>
              <a:t>Joe</a:t>
            </a:r>
            <a:r>
              <a:rPr sz="2325" spc="-120" baseline="-17921" dirty="0">
                <a:latin typeface="Tahoma"/>
                <a:cs typeface="Tahoma"/>
              </a:rPr>
              <a:t>’</a:t>
            </a:r>
            <a:r>
              <a:rPr sz="2325" spc="-7" baseline="-17921" dirty="0">
                <a:latin typeface="Tahoma"/>
                <a:cs typeface="Tahoma"/>
              </a:rPr>
              <a:t>s”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):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2339" y="4969192"/>
            <a:ext cx="2453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ar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9940" y="4969192"/>
            <a:ext cx="674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p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ri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339" y="5334952"/>
            <a:ext cx="669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41140" y="5334952"/>
            <a:ext cx="7410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Bud  Mi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69940" y="5334952"/>
            <a:ext cx="6172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2.5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2.75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28837" y="4948237"/>
            <a:ext cx="4505325" cy="1152525"/>
          </a:xfrm>
          <a:custGeom>
            <a:avLst/>
            <a:gdLst/>
            <a:ahLst/>
            <a:cxnLst/>
            <a:rect l="l" t="t" r="r" b="b"/>
            <a:pathLst>
              <a:path w="4505325" h="1152525">
                <a:moveTo>
                  <a:pt x="4505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4505325" y="0"/>
                </a:lnTo>
                <a:lnTo>
                  <a:pt x="450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4505325" y="1147762"/>
                </a:lnTo>
                <a:lnTo>
                  <a:pt x="4505325" y="1152525"/>
                </a:lnTo>
                <a:close/>
              </a:path>
              <a:path w="4505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05325" h="1152525">
                <a:moveTo>
                  <a:pt x="449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95800" y="4762"/>
                </a:lnTo>
                <a:lnTo>
                  <a:pt x="4495800" y="9525"/>
                </a:lnTo>
                <a:close/>
              </a:path>
              <a:path w="4505325" h="1152525">
                <a:moveTo>
                  <a:pt x="4495800" y="1147762"/>
                </a:moveTo>
                <a:lnTo>
                  <a:pt x="4495800" y="4762"/>
                </a:lnTo>
                <a:lnTo>
                  <a:pt x="4500562" y="9525"/>
                </a:lnTo>
                <a:lnTo>
                  <a:pt x="4505325" y="9525"/>
                </a:lnTo>
                <a:lnTo>
                  <a:pt x="4505325" y="1143000"/>
                </a:lnTo>
                <a:lnTo>
                  <a:pt x="4500562" y="1143000"/>
                </a:lnTo>
                <a:lnTo>
                  <a:pt x="4495800" y="1147762"/>
                </a:lnTo>
                <a:close/>
              </a:path>
              <a:path w="4505325" h="1152525">
                <a:moveTo>
                  <a:pt x="4505325" y="9525"/>
                </a:moveTo>
                <a:lnTo>
                  <a:pt x="4500562" y="9525"/>
                </a:lnTo>
                <a:lnTo>
                  <a:pt x="4495800" y="4762"/>
                </a:lnTo>
                <a:lnTo>
                  <a:pt x="4505325" y="4762"/>
                </a:lnTo>
                <a:lnTo>
                  <a:pt x="4505325" y="9525"/>
                </a:lnTo>
                <a:close/>
              </a:path>
              <a:path w="4505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4505325" h="1152525">
                <a:moveTo>
                  <a:pt x="4495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4495800" y="1143000"/>
                </a:lnTo>
                <a:lnTo>
                  <a:pt x="4495800" y="1147762"/>
                </a:lnTo>
                <a:close/>
              </a:path>
              <a:path w="4505325" h="1152525">
                <a:moveTo>
                  <a:pt x="4505325" y="1147762"/>
                </a:moveTo>
                <a:lnTo>
                  <a:pt x="4495800" y="1147762"/>
                </a:lnTo>
                <a:lnTo>
                  <a:pt x="4500562" y="1143000"/>
                </a:lnTo>
                <a:lnTo>
                  <a:pt x="4505325" y="1143000"/>
                </a:lnTo>
                <a:lnTo>
                  <a:pt x="4505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33600" y="5334000"/>
            <a:ext cx="4495800" cy="0"/>
          </a:xfrm>
          <a:custGeom>
            <a:avLst/>
            <a:gdLst/>
            <a:ahLst/>
            <a:cxnLst/>
            <a:rect l="l" t="t" r="r" b="b"/>
            <a:pathLst>
              <a:path w="4495800">
                <a:moveTo>
                  <a:pt x="0" y="0"/>
                </a:moveTo>
                <a:lnTo>
                  <a:pt x="449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200" y="49530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57800" y="49530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5020" y="829944"/>
            <a:ext cx="2474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</a:t>
            </a:r>
            <a:r>
              <a:rPr spc="-30" dirty="0"/>
              <a:t>r</a:t>
            </a:r>
            <a:r>
              <a:rPr spc="-5" dirty="0"/>
              <a:t>ojectio</a:t>
            </a:r>
            <a:r>
              <a:rPr dirty="0"/>
              <a:t>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837515"/>
            <a:ext cx="7477759" cy="40538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12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R1 :=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4000" spc="-35" dirty="0">
                <a:latin typeface="Lucida Sans Unicode"/>
                <a:cs typeface="Lucida Sans Unicode"/>
              </a:rPr>
              <a:t>π</a:t>
            </a:r>
            <a:r>
              <a:rPr sz="3225" i="1" spc="-52" baseline="-16795" dirty="0">
                <a:latin typeface="Tahoma"/>
                <a:cs typeface="Tahoma"/>
              </a:rPr>
              <a:t>L</a:t>
            </a:r>
            <a:r>
              <a:rPr sz="3200" spc="-35" dirty="0">
                <a:latin typeface="Tahoma"/>
                <a:cs typeface="Tahoma"/>
              </a:rPr>
              <a:t>(R2)</a:t>
            </a:r>
            <a:endParaRPr sz="3200" dirty="0">
              <a:latin typeface="Tahoma"/>
              <a:cs typeface="Tahoma"/>
            </a:endParaRPr>
          </a:p>
          <a:p>
            <a:pPr marL="768350" marR="17780" lvl="1" indent="-285750">
              <a:lnSpc>
                <a:spcPts val="3360"/>
              </a:lnSpc>
              <a:spcBef>
                <a:spcPts val="106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45490" algn="l"/>
              </a:tabLst>
            </a:pPr>
            <a:r>
              <a:rPr sz="2900" i="1" spc="-55" dirty="0">
                <a:latin typeface="Tahoma"/>
                <a:cs typeface="Tahoma"/>
              </a:rPr>
              <a:t>L </a:t>
            </a:r>
            <a:r>
              <a:rPr sz="2800" spc="-5" dirty="0">
                <a:latin typeface="Tahoma"/>
                <a:cs typeface="Tahoma"/>
              </a:rPr>
              <a:t>is a list of attributes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schema of  R2.</a:t>
            </a:r>
            <a:endParaRPr sz="2800" dirty="0">
              <a:latin typeface="Tahoma"/>
              <a:cs typeface="Tahoma"/>
            </a:endParaRPr>
          </a:p>
          <a:p>
            <a:pPr marL="768350" marR="43815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R1 is constructed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looking at each tuple  of R2, </a:t>
            </a:r>
            <a:r>
              <a:rPr sz="2800" spc="-10" dirty="0">
                <a:latin typeface="Tahoma"/>
                <a:cs typeface="Tahoma"/>
              </a:rPr>
              <a:t>extracting </a:t>
            </a:r>
            <a:r>
              <a:rPr sz="2800" spc="-5" dirty="0">
                <a:latin typeface="Tahoma"/>
                <a:cs typeface="Tahoma"/>
              </a:rPr>
              <a:t>the attributes on list </a:t>
            </a:r>
            <a:r>
              <a:rPr sz="2900" i="1" spc="-475" dirty="0">
                <a:latin typeface="Tahoma"/>
                <a:cs typeface="Tahoma"/>
              </a:rPr>
              <a:t>L</a:t>
            </a:r>
            <a:r>
              <a:rPr sz="2800" spc="-475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in  the order specified, and creating </a:t>
            </a:r>
            <a:r>
              <a:rPr sz="2800" spc="-15" dirty="0">
                <a:latin typeface="Tahoma"/>
                <a:cs typeface="Tahoma"/>
              </a:rPr>
              <a:t>from  </a:t>
            </a:r>
            <a:r>
              <a:rPr sz="2800" spc="-5" dirty="0">
                <a:latin typeface="Tahoma"/>
                <a:cs typeface="Tahoma"/>
              </a:rPr>
              <a:t>those components a tuple </a:t>
            </a:r>
            <a:r>
              <a:rPr sz="2800" spc="-15" dirty="0">
                <a:latin typeface="Tahoma"/>
                <a:cs typeface="Tahoma"/>
              </a:rPr>
              <a:t>for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R1.</a:t>
            </a:r>
            <a:endParaRPr sz="2800" dirty="0">
              <a:latin typeface="Tahoma"/>
              <a:cs typeface="Tahoma"/>
            </a:endParaRPr>
          </a:p>
          <a:p>
            <a:pPr marL="768350" lvl="1" indent="-285750">
              <a:lnSpc>
                <a:spcPct val="100000"/>
              </a:lnSpc>
              <a:spcBef>
                <a:spcPts val="56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Eliminate duplicate tuples, </a:t>
            </a:r>
            <a:r>
              <a:rPr sz="2800" dirty="0">
                <a:latin typeface="Tahoma"/>
                <a:cs typeface="Tahoma"/>
              </a:rPr>
              <a:t>if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any.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5159" y="6270625"/>
            <a:ext cx="114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6929" y="829944"/>
            <a:ext cx="4930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spc="-5" dirty="0"/>
              <a:t>Projection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2064" y="2046922"/>
            <a:ext cx="19170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Relation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Sells: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8837" y="2433637"/>
            <a:ext cx="4505325" cy="1914525"/>
          </a:xfrm>
          <a:custGeom>
            <a:avLst/>
            <a:gdLst/>
            <a:ahLst/>
            <a:cxnLst/>
            <a:rect l="l" t="t" r="r" b="b"/>
            <a:pathLst>
              <a:path w="4505325" h="1914525">
                <a:moveTo>
                  <a:pt x="4505325" y="1914525"/>
                </a:moveTo>
                <a:lnTo>
                  <a:pt x="0" y="1914525"/>
                </a:lnTo>
                <a:lnTo>
                  <a:pt x="0" y="0"/>
                </a:lnTo>
                <a:lnTo>
                  <a:pt x="4505325" y="0"/>
                </a:lnTo>
                <a:lnTo>
                  <a:pt x="450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05000"/>
                </a:lnTo>
                <a:lnTo>
                  <a:pt x="4762" y="1905000"/>
                </a:lnTo>
                <a:lnTo>
                  <a:pt x="9525" y="1909762"/>
                </a:lnTo>
                <a:lnTo>
                  <a:pt x="4505325" y="1909762"/>
                </a:lnTo>
                <a:lnTo>
                  <a:pt x="4505325" y="1914525"/>
                </a:lnTo>
                <a:close/>
              </a:path>
              <a:path w="4505325" h="1914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05325" h="1914525">
                <a:moveTo>
                  <a:pt x="449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95800" y="4762"/>
                </a:lnTo>
                <a:lnTo>
                  <a:pt x="4495800" y="9525"/>
                </a:lnTo>
                <a:close/>
              </a:path>
              <a:path w="4505325" h="1914525">
                <a:moveTo>
                  <a:pt x="4495800" y="1909762"/>
                </a:moveTo>
                <a:lnTo>
                  <a:pt x="4495800" y="4762"/>
                </a:lnTo>
                <a:lnTo>
                  <a:pt x="4500562" y="9525"/>
                </a:lnTo>
                <a:lnTo>
                  <a:pt x="4505325" y="9525"/>
                </a:lnTo>
                <a:lnTo>
                  <a:pt x="4505325" y="1905000"/>
                </a:lnTo>
                <a:lnTo>
                  <a:pt x="4500562" y="1905000"/>
                </a:lnTo>
                <a:lnTo>
                  <a:pt x="4495800" y="1909762"/>
                </a:lnTo>
                <a:close/>
              </a:path>
              <a:path w="4505325" h="1914525">
                <a:moveTo>
                  <a:pt x="4505325" y="9525"/>
                </a:moveTo>
                <a:lnTo>
                  <a:pt x="4500562" y="9525"/>
                </a:lnTo>
                <a:lnTo>
                  <a:pt x="4495800" y="4762"/>
                </a:lnTo>
                <a:lnTo>
                  <a:pt x="4505325" y="4762"/>
                </a:lnTo>
                <a:lnTo>
                  <a:pt x="4505325" y="9525"/>
                </a:lnTo>
                <a:close/>
              </a:path>
              <a:path w="4505325" h="1914525">
                <a:moveTo>
                  <a:pt x="9525" y="1909762"/>
                </a:moveTo>
                <a:lnTo>
                  <a:pt x="4762" y="1905000"/>
                </a:lnTo>
                <a:lnTo>
                  <a:pt x="9525" y="1905000"/>
                </a:lnTo>
                <a:lnTo>
                  <a:pt x="9525" y="1909762"/>
                </a:lnTo>
                <a:close/>
              </a:path>
              <a:path w="4505325" h="1914525">
                <a:moveTo>
                  <a:pt x="4495800" y="1909762"/>
                </a:moveTo>
                <a:lnTo>
                  <a:pt x="9525" y="1909762"/>
                </a:lnTo>
                <a:lnTo>
                  <a:pt x="9525" y="1905000"/>
                </a:lnTo>
                <a:lnTo>
                  <a:pt x="4495800" y="1905000"/>
                </a:lnTo>
                <a:lnTo>
                  <a:pt x="4495800" y="1909762"/>
                </a:lnTo>
                <a:close/>
              </a:path>
              <a:path w="4505325" h="1914525">
                <a:moveTo>
                  <a:pt x="4505325" y="1909762"/>
                </a:moveTo>
                <a:lnTo>
                  <a:pt x="4495800" y="1909762"/>
                </a:lnTo>
                <a:lnTo>
                  <a:pt x="4500562" y="1905000"/>
                </a:lnTo>
                <a:lnTo>
                  <a:pt x="4505325" y="1905000"/>
                </a:lnTo>
                <a:lnTo>
                  <a:pt x="4505325" y="1909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3600" y="2819400"/>
            <a:ext cx="4495800" cy="0"/>
          </a:xfrm>
          <a:custGeom>
            <a:avLst/>
            <a:gdLst/>
            <a:ahLst/>
            <a:cxnLst/>
            <a:rect l="l" t="t" r="r" b="b"/>
            <a:pathLst>
              <a:path w="4495800">
                <a:moveTo>
                  <a:pt x="0" y="0"/>
                </a:moveTo>
                <a:lnTo>
                  <a:pt x="449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59839" y="4417278"/>
            <a:ext cx="3540760" cy="94361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964565" marR="43180" indent="-914400">
              <a:lnSpc>
                <a:spcPct val="105600"/>
              </a:lnSpc>
              <a:spcBef>
                <a:spcPts val="175"/>
              </a:spcBef>
              <a:tabLst>
                <a:tab pos="2793365" algn="l"/>
              </a:tabLst>
            </a:pPr>
            <a:r>
              <a:rPr sz="2400" dirty="0">
                <a:latin typeface="Tahoma"/>
                <a:cs typeface="Tahoma"/>
              </a:rPr>
              <a:t>Pri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es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Lucida Sans Unicode"/>
                <a:cs typeface="Lucida Sans Unicode"/>
              </a:rPr>
              <a:t>π</a:t>
            </a:r>
            <a:r>
              <a:rPr sz="2325" spc="-7" baseline="-17921" dirty="0">
                <a:latin typeface="Tahoma"/>
                <a:cs typeface="Tahoma"/>
              </a:rPr>
              <a:t>beer,pri</a:t>
            </a:r>
            <a:r>
              <a:rPr sz="2325" baseline="-17921" dirty="0">
                <a:latin typeface="Tahoma"/>
                <a:cs typeface="Tahoma"/>
              </a:rPr>
              <a:t>ce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): 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beer	price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2339" y="5334952"/>
            <a:ext cx="7410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Bud  Mi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ler  Mi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1140" y="5334952"/>
            <a:ext cx="6172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2.5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2.75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3.0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8837" y="4948237"/>
            <a:ext cx="2752725" cy="1533525"/>
          </a:xfrm>
          <a:custGeom>
            <a:avLst/>
            <a:gdLst/>
            <a:ahLst/>
            <a:cxnLst/>
            <a:rect l="l" t="t" r="r" b="b"/>
            <a:pathLst>
              <a:path w="2752725" h="1533525">
                <a:moveTo>
                  <a:pt x="27527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2752725" y="0"/>
                </a:lnTo>
                <a:lnTo>
                  <a:pt x="2752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2752725" y="1528762"/>
                </a:lnTo>
                <a:lnTo>
                  <a:pt x="2752725" y="1533525"/>
                </a:lnTo>
                <a:close/>
              </a:path>
              <a:path w="27527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52725" h="1533525">
                <a:moveTo>
                  <a:pt x="2743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43200" y="4762"/>
                </a:lnTo>
                <a:lnTo>
                  <a:pt x="2743200" y="9525"/>
                </a:lnTo>
                <a:close/>
              </a:path>
              <a:path w="2752725" h="1533525">
                <a:moveTo>
                  <a:pt x="2743200" y="1528762"/>
                </a:moveTo>
                <a:lnTo>
                  <a:pt x="2743200" y="4762"/>
                </a:lnTo>
                <a:lnTo>
                  <a:pt x="2747962" y="9525"/>
                </a:lnTo>
                <a:lnTo>
                  <a:pt x="2752725" y="9525"/>
                </a:lnTo>
                <a:lnTo>
                  <a:pt x="2752725" y="1524000"/>
                </a:lnTo>
                <a:lnTo>
                  <a:pt x="2747962" y="1524000"/>
                </a:lnTo>
                <a:lnTo>
                  <a:pt x="2743200" y="1528762"/>
                </a:lnTo>
                <a:close/>
              </a:path>
              <a:path w="2752725" h="1533525">
                <a:moveTo>
                  <a:pt x="2752725" y="9525"/>
                </a:moveTo>
                <a:lnTo>
                  <a:pt x="2747962" y="9525"/>
                </a:lnTo>
                <a:lnTo>
                  <a:pt x="2743200" y="4762"/>
                </a:lnTo>
                <a:lnTo>
                  <a:pt x="2752725" y="4762"/>
                </a:lnTo>
                <a:lnTo>
                  <a:pt x="2752725" y="9525"/>
                </a:lnTo>
                <a:close/>
              </a:path>
              <a:path w="27527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2752725" h="1533525">
                <a:moveTo>
                  <a:pt x="27432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2743200" y="1524000"/>
                </a:lnTo>
                <a:lnTo>
                  <a:pt x="2743200" y="1528762"/>
                </a:lnTo>
                <a:close/>
              </a:path>
              <a:path w="2752725" h="1533525">
                <a:moveTo>
                  <a:pt x="2752725" y="1528762"/>
                </a:moveTo>
                <a:lnTo>
                  <a:pt x="2743200" y="1528762"/>
                </a:lnTo>
                <a:lnTo>
                  <a:pt x="2747962" y="1524000"/>
                </a:lnTo>
                <a:lnTo>
                  <a:pt x="2752725" y="1524000"/>
                </a:lnTo>
                <a:lnTo>
                  <a:pt x="27527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33600" y="5334000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05200" y="49530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139632" y="2424598"/>
          <a:ext cx="4464685" cy="1918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831">
                <a:tc>
                  <a:txBody>
                    <a:bodyPr/>
                    <a:lstStyle/>
                    <a:p>
                      <a:pPr marL="69215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bar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beer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ri</a:t>
                      </a: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2.5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Joe’s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46050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400" spc="-65" dirty="0">
                          <a:latin typeface="Tahoma"/>
                          <a:cs typeface="Tahoma"/>
                        </a:rPr>
                        <a:t>.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7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2.5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689">
                <a:tc>
                  <a:txBody>
                    <a:bodyPr/>
                    <a:lstStyle/>
                    <a:p>
                      <a:pPr marL="69215">
                        <a:lnSpc>
                          <a:spcPts val="2875"/>
                        </a:lnSpc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Sue’s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21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Miller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3.0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0579" y="829944"/>
            <a:ext cx="4943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Extended</a:t>
            </a:r>
            <a:r>
              <a:rPr spc="-75" dirty="0"/>
              <a:t> </a:t>
            </a:r>
            <a:r>
              <a:rPr spc="-5" dirty="0"/>
              <a:t>Projection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78660"/>
            <a:ext cx="7527925" cy="309562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0" marR="52705" indent="-609600">
              <a:lnSpc>
                <a:spcPct val="101000"/>
              </a:lnSpc>
              <a:spcBef>
                <a:spcPts val="45"/>
              </a:spcBef>
              <a:buClr>
                <a:srgbClr val="CC00CC"/>
              </a:buClr>
              <a:buFont typeface="Wingdings"/>
              <a:buChar char=""/>
              <a:tabLst>
                <a:tab pos="634365" algn="l"/>
                <a:tab pos="635000" algn="l"/>
              </a:tabLst>
            </a:pPr>
            <a:r>
              <a:rPr sz="3200" spc="-5" dirty="0">
                <a:latin typeface="Tahoma"/>
                <a:cs typeface="Tahoma"/>
              </a:rPr>
              <a:t>Using the same </a:t>
            </a:r>
            <a:r>
              <a:rPr sz="4000" spc="-90" dirty="0">
                <a:latin typeface="Lucida Sans Unicode"/>
                <a:cs typeface="Lucida Sans Unicode"/>
              </a:rPr>
              <a:t>π</a:t>
            </a:r>
            <a:r>
              <a:rPr sz="3225" i="1" spc="-135" baseline="-16795" dirty="0">
                <a:latin typeface="Tahoma"/>
                <a:cs typeface="Tahoma"/>
              </a:rPr>
              <a:t>L </a:t>
            </a:r>
            <a:r>
              <a:rPr sz="3200" spc="-60" dirty="0">
                <a:latin typeface="Tahoma"/>
                <a:cs typeface="Tahoma"/>
              </a:rPr>
              <a:t>operator,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allow  the list </a:t>
            </a:r>
            <a:r>
              <a:rPr sz="3350" i="1" spc="-75" dirty="0">
                <a:latin typeface="Tahoma"/>
                <a:cs typeface="Tahoma"/>
              </a:rPr>
              <a:t>L </a:t>
            </a:r>
            <a:r>
              <a:rPr sz="3200" spc="-5" dirty="0">
                <a:latin typeface="Tahoma"/>
                <a:cs typeface="Tahoma"/>
              </a:rPr>
              <a:t>to contain </a:t>
            </a:r>
            <a:r>
              <a:rPr sz="3200" spc="-10" dirty="0">
                <a:latin typeface="Tahoma"/>
                <a:cs typeface="Tahoma"/>
              </a:rPr>
              <a:t>arbitrary  </a:t>
            </a:r>
            <a:r>
              <a:rPr sz="3200" spc="-5" dirty="0">
                <a:latin typeface="Tahoma"/>
                <a:cs typeface="Tahoma"/>
              </a:rPr>
              <a:t>expressions </a:t>
            </a:r>
            <a:r>
              <a:rPr sz="3200" spc="-10" dirty="0">
                <a:latin typeface="Tahoma"/>
                <a:cs typeface="Tahoma"/>
              </a:rPr>
              <a:t>involving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attributes:</a:t>
            </a:r>
            <a:endParaRPr sz="3200" dirty="0">
              <a:latin typeface="Tahoma"/>
              <a:cs typeface="Tahoma"/>
            </a:endParaRPr>
          </a:p>
          <a:p>
            <a:pPr marL="1397000" lvl="1" indent="-457834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AutoNum type="arabicPeriod"/>
              <a:tabLst>
                <a:tab pos="1397000" algn="l"/>
              </a:tabLst>
            </a:pPr>
            <a:r>
              <a:rPr sz="2800" spc="-5" dirty="0">
                <a:latin typeface="Tahoma"/>
                <a:cs typeface="Tahoma"/>
              </a:rPr>
              <a:t>Arithmetic on attributes, </a:t>
            </a:r>
            <a:r>
              <a:rPr sz="2800" spc="-40" dirty="0">
                <a:latin typeface="Tahoma"/>
                <a:cs typeface="Tahoma"/>
              </a:rPr>
              <a:t>e.g.,</a:t>
            </a:r>
            <a:r>
              <a:rPr sz="2800" spc="-185" dirty="0">
                <a:latin typeface="Tahoma"/>
                <a:cs typeface="Tahoma"/>
              </a:rPr>
              <a:t> </a:t>
            </a:r>
            <a:r>
              <a:rPr sz="2900" i="1" spc="-780" dirty="0">
                <a:latin typeface="Tahoma"/>
                <a:cs typeface="Tahoma"/>
              </a:rPr>
              <a:t>A</a:t>
            </a:r>
            <a:r>
              <a:rPr sz="2800" spc="-780" dirty="0">
                <a:latin typeface="Tahoma"/>
                <a:cs typeface="Tahoma"/>
              </a:rPr>
              <a:t>+</a:t>
            </a:r>
            <a:r>
              <a:rPr sz="2900" i="1" spc="-780" dirty="0">
                <a:latin typeface="Tahoma"/>
                <a:cs typeface="Tahoma"/>
              </a:rPr>
              <a:t>B-&gt;C</a:t>
            </a:r>
            <a:r>
              <a:rPr sz="2800" spc="-7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1396365" marR="714375" lvl="1" indent="-457200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AutoNum type="arabicPeriod"/>
              <a:tabLst>
                <a:tab pos="1397000" algn="l"/>
              </a:tabLst>
            </a:pPr>
            <a:r>
              <a:rPr sz="2800" spc="-5" dirty="0">
                <a:latin typeface="Tahoma"/>
                <a:cs typeface="Tahoma"/>
              </a:rPr>
              <a:t>Duplicate occurrences of the same  attribute.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489" y="829944"/>
            <a:ext cx="7399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Extended</a:t>
            </a:r>
            <a:r>
              <a:rPr spc="-50" dirty="0"/>
              <a:t> </a:t>
            </a:r>
            <a:r>
              <a:rPr spc="-5" dirty="0"/>
              <a:t>Projection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464" y="2046287"/>
            <a:ext cx="1116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=	(</a:t>
            </a:r>
            <a:r>
              <a:rPr sz="2400" spc="-9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2264" y="2046287"/>
            <a:ext cx="417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spc="-10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  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0237" y="2052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5000" y="24384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4600" y="20574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1239" y="2777807"/>
            <a:ext cx="224790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  <a:tabLst>
                <a:tab pos="1863089" algn="l"/>
              </a:tabLst>
            </a:pPr>
            <a:r>
              <a:rPr sz="2400" dirty="0">
                <a:latin typeface="Tahoma"/>
                <a:cs typeface="Tahoma"/>
              </a:rPr>
              <a:t>3	4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tabLst>
                <a:tab pos="1456055" algn="l"/>
              </a:tabLst>
            </a:pPr>
            <a:r>
              <a:rPr lang="el-GR" sz="3600" spc="-502" baseline="11574" dirty="0">
                <a:latin typeface="Lucida Sans Unicode"/>
                <a:cs typeface="Lucida Sans Unicode"/>
              </a:rPr>
              <a:t>π</a:t>
            </a:r>
            <a:r>
              <a:rPr lang="pt-BR" altLang="zh-CN" sz="1600" dirty="0">
                <a:effectLst/>
              </a:rPr>
              <a:t>A +B-&gt;C ,A ,A</a:t>
            </a:r>
            <a:r>
              <a:rPr sz="1600" i="1" spc="-335" dirty="0">
                <a:latin typeface="Tahoma"/>
                <a:cs typeface="Tahoma"/>
              </a:rPr>
              <a:t>	</a:t>
            </a:r>
            <a:r>
              <a:rPr sz="3600" baseline="11574" dirty="0">
                <a:latin typeface="Tahoma"/>
                <a:cs typeface="Tahoma"/>
              </a:rPr>
              <a:t>(R)</a:t>
            </a:r>
            <a:r>
              <a:rPr sz="3600" spc="-97" baseline="11574" dirty="0">
                <a:latin typeface="Tahoma"/>
                <a:cs typeface="Tahoma"/>
              </a:rPr>
              <a:t> </a:t>
            </a:r>
            <a:r>
              <a:rPr sz="3600" baseline="11574" dirty="0">
                <a:latin typeface="Tahoma"/>
                <a:cs typeface="Tahoma"/>
              </a:rPr>
              <a:t>=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12540" y="3632517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6940" y="3632517"/>
            <a:ext cx="1289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A1	A2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2540" y="401859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7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6940" y="401859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1340" y="401859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52837" y="3576637"/>
            <a:ext cx="2447925" cy="1152525"/>
          </a:xfrm>
          <a:custGeom>
            <a:avLst/>
            <a:gdLst/>
            <a:ahLst/>
            <a:cxnLst/>
            <a:rect l="l" t="t" r="r" b="b"/>
            <a:pathLst>
              <a:path w="2447925" h="1152525">
                <a:moveTo>
                  <a:pt x="24479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447925" y="0"/>
                </a:lnTo>
                <a:lnTo>
                  <a:pt x="244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447925" y="1147762"/>
                </a:lnTo>
                <a:lnTo>
                  <a:pt x="2447925" y="1152525"/>
                </a:lnTo>
                <a:close/>
              </a:path>
              <a:path w="24479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447925" h="1152525">
                <a:moveTo>
                  <a:pt x="243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38400" y="4762"/>
                </a:lnTo>
                <a:lnTo>
                  <a:pt x="2438400" y="9525"/>
                </a:lnTo>
                <a:close/>
              </a:path>
              <a:path w="2447925" h="1152525">
                <a:moveTo>
                  <a:pt x="2438400" y="1147762"/>
                </a:moveTo>
                <a:lnTo>
                  <a:pt x="2438400" y="4762"/>
                </a:lnTo>
                <a:lnTo>
                  <a:pt x="2443162" y="9525"/>
                </a:lnTo>
                <a:lnTo>
                  <a:pt x="2447925" y="9525"/>
                </a:lnTo>
                <a:lnTo>
                  <a:pt x="2447925" y="1143000"/>
                </a:lnTo>
                <a:lnTo>
                  <a:pt x="2443162" y="1143000"/>
                </a:lnTo>
                <a:lnTo>
                  <a:pt x="2438400" y="1147762"/>
                </a:lnTo>
                <a:close/>
              </a:path>
              <a:path w="2447925" h="1152525">
                <a:moveTo>
                  <a:pt x="2447925" y="9525"/>
                </a:moveTo>
                <a:lnTo>
                  <a:pt x="2443162" y="9525"/>
                </a:lnTo>
                <a:lnTo>
                  <a:pt x="2438400" y="4762"/>
                </a:lnTo>
                <a:lnTo>
                  <a:pt x="2447925" y="4762"/>
                </a:lnTo>
                <a:lnTo>
                  <a:pt x="2447925" y="9525"/>
                </a:lnTo>
                <a:close/>
              </a:path>
              <a:path w="24479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447925" h="1152525">
                <a:moveTo>
                  <a:pt x="24384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438400" y="1143000"/>
                </a:lnTo>
                <a:lnTo>
                  <a:pt x="2438400" y="1147762"/>
                </a:lnTo>
                <a:close/>
              </a:path>
              <a:path w="2447925" h="1152525">
                <a:moveTo>
                  <a:pt x="2447925" y="1147762"/>
                </a:moveTo>
                <a:lnTo>
                  <a:pt x="2438400" y="1147762"/>
                </a:lnTo>
                <a:lnTo>
                  <a:pt x="2443162" y="1143000"/>
                </a:lnTo>
                <a:lnTo>
                  <a:pt x="2447925" y="1143000"/>
                </a:lnTo>
                <a:lnTo>
                  <a:pt x="24479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57600" y="3962400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72000" y="35814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34000" y="35814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609600"/>
            <a:ext cx="514096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Product, or cross-join</a:t>
            </a:r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笛卡尔积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交叉连接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854817"/>
            <a:ext cx="7962900" cy="400304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3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R3 := R1 </a:t>
            </a:r>
            <a:r>
              <a:rPr sz="3200" dirty="0">
                <a:latin typeface="Lucida Sans Unicode"/>
                <a:cs typeface="Lucida Sans Unicode"/>
              </a:rPr>
              <a:t>Χ</a:t>
            </a:r>
            <a:r>
              <a:rPr sz="3200" spc="-40" dirty="0">
                <a:latin typeface="Lucida Sans Unicode"/>
                <a:cs typeface="Lucida Sans Unicode"/>
              </a:rPr>
              <a:t> </a:t>
            </a:r>
            <a:r>
              <a:rPr sz="3200" dirty="0">
                <a:latin typeface="Tahoma"/>
                <a:cs typeface="Tahoma"/>
              </a:rPr>
              <a:t>R2</a:t>
            </a:r>
          </a:p>
          <a:p>
            <a:pPr marL="755650" marR="150495" lvl="1" indent="-285750">
              <a:lnSpc>
                <a:spcPct val="100000"/>
              </a:lnSpc>
              <a:spcBef>
                <a:spcPts val="8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Pair </a:t>
            </a:r>
            <a:r>
              <a:rPr sz="2800" spc="-5" dirty="0">
                <a:latin typeface="Tahoma"/>
                <a:cs typeface="Tahoma"/>
              </a:rPr>
              <a:t>each tuple t1 of R1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each tuple t2 of  R2.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Concatenation t1t2 is a tuple of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R3.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Schema of R3 is the attributes of R1 and then  R2, in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order.</a:t>
            </a:r>
            <a:endParaRPr sz="2800" dirty="0">
              <a:latin typeface="Tahoma"/>
              <a:cs typeface="Tahoma"/>
            </a:endParaRPr>
          </a:p>
          <a:p>
            <a:pPr marL="755650" marR="30099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10" dirty="0">
                <a:latin typeface="Tahoma"/>
                <a:cs typeface="Tahoma"/>
              </a:rPr>
              <a:t>beware </a:t>
            </a:r>
            <a:r>
              <a:rPr sz="2800" spc="-5" dirty="0">
                <a:latin typeface="Tahoma"/>
                <a:cs typeface="Tahoma"/>
              </a:rPr>
              <a:t>attribute </a:t>
            </a:r>
            <a:r>
              <a:rPr sz="2900" i="1" spc="-30" dirty="0">
                <a:latin typeface="Tahoma"/>
                <a:cs typeface="Tahoma"/>
              </a:rPr>
              <a:t>A</a:t>
            </a:r>
            <a:r>
              <a:rPr sz="2800" spc="-30" dirty="0">
                <a:latin typeface="Tahoma"/>
                <a:cs typeface="Tahoma"/>
              </a:rPr>
              <a:t>of </a:t>
            </a:r>
            <a:r>
              <a:rPr sz="2800" spc="-5" dirty="0">
                <a:latin typeface="Tahoma"/>
                <a:cs typeface="Tahoma"/>
              </a:rPr>
              <a:t>the same name in  R1 and R2: use </a:t>
            </a:r>
            <a:r>
              <a:rPr sz="2800" spc="-65" dirty="0">
                <a:latin typeface="Tahoma"/>
                <a:cs typeface="Tahoma"/>
              </a:rPr>
              <a:t>R1.</a:t>
            </a:r>
            <a:r>
              <a:rPr sz="2900" i="1" spc="-65" dirty="0">
                <a:latin typeface="Tahoma"/>
                <a:cs typeface="Tahoma"/>
              </a:rPr>
              <a:t>A </a:t>
            </a:r>
            <a:r>
              <a:rPr sz="2800" spc="-5" dirty="0">
                <a:latin typeface="Tahoma"/>
                <a:cs typeface="Tahoma"/>
              </a:rPr>
              <a:t>and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229" dirty="0">
                <a:latin typeface="Tahoma"/>
                <a:cs typeface="Tahoma"/>
              </a:rPr>
              <a:t>R2.</a:t>
            </a:r>
            <a:r>
              <a:rPr sz="2900" i="1" spc="-229" dirty="0">
                <a:latin typeface="Tahoma"/>
                <a:cs typeface="Tahoma"/>
              </a:rPr>
              <a:t>A</a:t>
            </a:r>
            <a:r>
              <a:rPr sz="2800" spc="-229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7810" y="746124"/>
            <a:ext cx="6088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R3 := R1 </a:t>
            </a:r>
            <a:r>
              <a:rPr dirty="0">
                <a:latin typeface="Lucida Sans Unicode"/>
                <a:cs typeface="Lucida Sans Unicode"/>
              </a:rPr>
              <a:t>Χ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dirty="0"/>
              <a:t>R2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064" y="2046287"/>
            <a:ext cx="22459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R1(	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A,	B</a:t>
            </a:r>
            <a:r>
              <a:rPr sz="2400" spc="-9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tabLst>
                <a:tab pos="1840864" algn="l"/>
              </a:tabLst>
            </a:pPr>
            <a:r>
              <a:rPr sz="2400" dirty="0">
                <a:latin typeface="Tahoma"/>
                <a:cs typeface="Tahoma"/>
              </a:rPr>
              <a:t>1	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5464" y="277780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9864" y="277780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064" y="3509327"/>
            <a:ext cx="22491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R2(	</a:t>
            </a:r>
            <a:r>
              <a:rPr sz="2400" spc="-15" dirty="0">
                <a:solidFill>
                  <a:srgbClr val="CC00CC"/>
                </a:solidFill>
                <a:latin typeface="Tahoma"/>
                <a:cs typeface="Tahoma"/>
              </a:rPr>
              <a:t>B,	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spc="-9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tabLst>
                <a:tab pos="1840864" algn="l"/>
              </a:tabLst>
            </a:pPr>
            <a:r>
              <a:rPr sz="2400" dirty="0">
                <a:latin typeface="Tahoma"/>
                <a:cs typeface="Tahoma"/>
              </a:rPr>
              <a:t>5	6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5464" y="4240847"/>
            <a:ext cx="1106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7	8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749935" algn="l"/>
              </a:tabLst>
            </a:pPr>
            <a:r>
              <a:rPr sz="2400" dirty="0">
                <a:latin typeface="Tahoma"/>
                <a:cs typeface="Tahoma"/>
              </a:rPr>
              <a:t>9	</a:t>
            </a:r>
            <a:r>
              <a:rPr sz="2400" spc="-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1637" y="2052637"/>
            <a:ext cx="1304925" cy="1152525"/>
          </a:xfrm>
          <a:custGeom>
            <a:avLst/>
            <a:gdLst/>
            <a:ahLst/>
            <a:cxnLst/>
            <a:rect l="l" t="t" r="r" b="b"/>
            <a:pathLst>
              <a:path w="1304925" h="1152525">
                <a:moveTo>
                  <a:pt x="13049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304925" y="1147762"/>
                </a:lnTo>
                <a:lnTo>
                  <a:pt x="1304925" y="1152525"/>
                </a:lnTo>
                <a:close/>
              </a:path>
              <a:path w="13049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1525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152525">
                <a:moveTo>
                  <a:pt x="1295400" y="11477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143000"/>
                </a:lnTo>
                <a:lnTo>
                  <a:pt x="1300162" y="1143000"/>
                </a:lnTo>
                <a:lnTo>
                  <a:pt x="1295400" y="1147762"/>
                </a:lnTo>
                <a:close/>
              </a:path>
              <a:path w="1304925" h="11525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304925" h="1152525">
                <a:moveTo>
                  <a:pt x="12954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95400" y="1143000"/>
                </a:lnTo>
                <a:lnTo>
                  <a:pt x="1295400" y="1147762"/>
                </a:lnTo>
                <a:close/>
              </a:path>
              <a:path w="1304925" h="1152525">
                <a:moveTo>
                  <a:pt x="1304925" y="1147762"/>
                </a:moveTo>
                <a:lnTo>
                  <a:pt x="1295400" y="1147762"/>
                </a:lnTo>
                <a:lnTo>
                  <a:pt x="1300162" y="1143000"/>
                </a:lnTo>
                <a:lnTo>
                  <a:pt x="1304925" y="1143000"/>
                </a:lnTo>
                <a:lnTo>
                  <a:pt x="13049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71637" y="3500437"/>
            <a:ext cx="1304925" cy="1533525"/>
          </a:xfrm>
          <a:custGeom>
            <a:avLst/>
            <a:gdLst/>
            <a:ahLst/>
            <a:cxnLst/>
            <a:rect l="l" t="t" r="r" b="b"/>
            <a:pathLst>
              <a:path w="1304925" h="1533525">
                <a:moveTo>
                  <a:pt x="13049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1304925" y="1528762"/>
                </a:lnTo>
                <a:lnTo>
                  <a:pt x="1304925" y="1533525"/>
                </a:lnTo>
                <a:close/>
              </a:path>
              <a:path w="13049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5335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533525">
                <a:moveTo>
                  <a:pt x="1295400" y="15287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524000"/>
                </a:lnTo>
                <a:lnTo>
                  <a:pt x="1300162" y="1524000"/>
                </a:lnTo>
                <a:lnTo>
                  <a:pt x="1295400" y="1528762"/>
                </a:lnTo>
                <a:close/>
              </a:path>
              <a:path w="1304925" h="15335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1304925" h="1533525">
                <a:moveTo>
                  <a:pt x="12954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1295400" y="1524000"/>
                </a:lnTo>
                <a:lnTo>
                  <a:pt x="1295400" y="1528762"/>
                </a:lnTo>
                <a:close/>
              </a:path>
              <a:path w="1304925" h="1533525">
                <a:moveTo>
                  <a:pt x="1304925" y="1528762"/>
                </a:moveTo>
                <a:lnTo>
                  <a:pt x="1295400" y="1528762"/>
                </a:lnTo>
                <a:lnTo>
                  <a:pt x="1300162" y="1524000"/>
                </a:lnTo>
                <a:lnTo>
                  <a:pt x="1304925" y="1524000"/>
                </a:lnTo>
                <a:lnTo>
                  <a:pt x="13049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6400" y="2438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62200" y="20574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6400" y="3886200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2200" y="35052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22140" y="2012950"/>
            <a:ext cx="42684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44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  <a:tab pos="2755265" algn="l"/>
                <a:tab pos="3669665" algn="l"/>
                <a:tab pos="4138295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3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(	A,	R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1.</a:t>
            </a:r>
            <a:r>
              <a:rPr sz="2400" spc="-2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,	R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2.</a:t>
            </a:r>
            <a:r>
              <a:rPr sz="2400" spc="-2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,	C	)  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6540" y="2744470"/>
            <a:ext cx="19240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0940" y="2378709"/>
            <a:ext cx="19240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65340" y="2378709"/>
            <a:ext cx="110680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5	6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7	8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749935" algn="l"/>
              </a:tabLst>
            </a:pPr>
            <a:r>
              <a:rPr sz="2400" dirty="0">
                <a:latin typeface="Tahoma"/>
                <a:cs typeface="Tahoma"/>
              </a:rPr>
              <a:t>9	</a:t>
            </a:r>
            <a:r>
              <a:rPr sz="2400" spc="-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5	6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7	8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749935" algn="l"/>
              </a:tabLst>
            </a:pPr>
            <a:r>
              <a:rPr sz="2400" dirty="0">
                <a:latin typeface="Tahoma"/>
                <a:cs typeface="Tahoma"/>
              </a:rPr>
              <a:t>9	</a:t>
            </a:r>
            <a:r>
              <a:rPr sz="2400" spc="-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76837" y="1976437"/>
            <a:ext cx="3362325" cy="2676525"/>
          </a:xfrm>
          <a:custGeom>
            <a:avLst/>
            <a:gdLst/>
            <a:ahLst/>
            <a:cxnLst/>
            <a:rect l="l" t="t" r="r" b="b"/>
            <a:pathLst>
              <a:path w="3362325" h="2676525">
                <a:moveTo>
                  <a:pt x="3362325" y="2676525"/>
                </a:moveTo>
                <a:lnTo>
                  <a:pt x="0" y="2676525"/>
                </a:lnTo>
                <a:lnTo>
                  <a:pt x="0" y="0"/>
                </a:lnTo>
                <a:lnTo>
                  <a:pt x="3362325" y="0"/>
                </a:lnTo>
                <a:lnTo>
                  <a:pt x="3362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67000"/>
                </a:lnTo>
                <a:lnTo>
                  <a:pt x="4762" y="2667000"/>
                </a:lnTo>
                <a:lnTo>
                  <a:pt x="9525" y="2671762"/>
                </a:lnTo>
                <a:lnTo>
                  <a:pt x="3362325" y="2671762"/>
                </a:lnTo>
                <a:lnTo>
                  <a:pt x="3362325" y="2676525"/>
                </a:lnTo>
                <a:close/>
              </a:path>
              <a:path w="3362325" h="2676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362325" h="2676525">
                <a:moveTo>
                  <a:pt x="3352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52800" y="4762"/>
                </a:lnTo>
                <a:lnTo>
                  <a:pt x="3352800" y="9525"/>
                </a:lnTo>
                <a:close/>
              </a:path>
              <a:path w="3362325" h="2676525">
                <a:moveTo>
                  <a:pt x="3352800" y="2671762"/>
                </a:moveTo>
                <a:lnTo>
                  <a:pt x="3352800" y="4762"/>
                </a:lnTo>
                <a:lnTo>
                  <a:pt x="3357562" y="9525"/>
                </a:lnTo>
                <a:lnTo>
                  <a:pt x="3362325" y="9525"/>
                </a:lnTo>
                <a:lnTo>
                  <a:pt x="3362325" y="2667000"/>
                </a:lnTo>
                <a:lnTo>
                  <a:pt x="3357562" y="2667000"/>
                </a:lnTo>
                <a:lnTo>
                  <a:pt x="3352800" y="2671762"/>
                </a:lnTo>
                <a:close/>
              </a:path>
              <a:path w="3362325" h="2676525">
                <a:moveTo>
                  <a:pt x="3362325" y="9525"/>
                </a:moveTo>
                <a:lnTo>
                  <a:pt x="3357562" y="9525"/>
                </a:lnTo>
                <a:lnTo>
                  <a:pt x="3352800" y="4762"/>
                </a:lnTo>
                <a:lnTo>
                  <a:pt x="3362325" y="4762"/>
                </a:lnTo>
                <a:lnTo>
                  <a:pt x="3362325" y="9525"/>
                </a:lnTo>
                <a:close/>
              </a:path>
              <a:path w="3362325" h="2676525">
                <a:moveTo>
                  <a:pt x="9525" y="2671762"/>
                </a:moveTo>
                <a:lnTo>
                  <a:pt x="4762" y="2667000"/>
                </a:lnTo>
                <a:lnTo>
                  <a:pt x="9525" y="2667000"/>
                </a:lnTo>
                <a:lnTo>
                  <a:pt x="9525" y="2671762"/>
                </a:lnTo>
                <a:close/>
              </a:path>
              <a:path w="3362325" h="2676525">
                <a:moveTo>
                  <a:pt x="3352800" y="2671762"/>
                </a:moveTo>
                <a:lnTo>
                  <a:pt x="9525" y="2671762"/>
                </a:lnTo>
                <a:lnTo>
                  <a:pt x="9525" y="2667000"/>
                </a:lnTo>
                <a:lnTo>
                  <a:pt x="3352800" y="2667000"/>
                </a:lnTo>
                <a:lnTo>
                  <a:pt x="3352800" y="2671762"/>
                </a:lnTo>
                <a:close/>
              </a:path>
              <a:path w="3362325" h="2676525">
                <a:moveTo>
                  <a:pt x="3362325" y="2671762"/>
                </a:moveTo>
                <a:lnTo>
                  <a:pt x="3352800" y="2671762"/>
                </a:lnTo>
                <a:lnTo>
                  <a:pt x="3357562" y="2667000"/>
                </a:lnTo>
                <a:lnTo>
                  <a:pt x="3362325" y="2667000"/>
                </a:lnTo>
                <a:lnTo>
                  <a:pt x="3362325" y="2671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81600" y="2438400"/>
            <a:ext cx="3352800" cy="0"/>
          </a:xfrm>
          <a:custGeom>
            <a:avLst/>
            <a:gdLst/>
            <a:ahLst/>
            <a:cxnLst/>
            <a:rect l="l" t="t" r="r" b="b"/>
            <a:pathLst>
              <a:path w="3352800">
                <a:moveTo>
                  <a:pt x="0" y="0"/>
                </a:moveTo>
                <a:lnTo>
                  <a:pt x="3352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43600" y="19812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10400" y="19812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48600" y="19812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282" y="533400"/>
            <a:ext cx="259143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Theta-Join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PingFang SC"/>
              </a:rPr>
              <a:t>条件链接</a:t>
            </a:r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854160"/>
            <a:ext cx="7519670" cy="4157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R3 := R1 </a:t>
            </a:r>
            <a:r>
              <a:rPr sz="4000" spc="-95" dirty="0">
                <a:latin typeface="Lucida Sans Unicode"/>
                <a:cs typeface="Lucida Sans Unicode"/>
              </a:rPr>
              <a:t>⋈</a:t>
            </a:r>
            <a:r>
              <a:rPr sz="3225" i="1" spc="-142" baseline="-16795" dirty="0">
                <a:latin typeface="Tahoma"/>
                <a:cs typeface="Tahoma"/>
              </a:rPr>
              <a:t>C</a:t>
            </a:r>
            <a:r>
              <a:rPr sz="3225" i="1" spc="-540" baseline="-167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R2</a:t>
            </a:r>
          </a:p>
          <a:p>
            <a:pPr marL="768350" lvl="1" indent="-285750">
              <a:lnSpc>
                <a:spcPct val="100000"/>
              </a:lnSpc>
              <a:spcBef>
                <a:spcPts val="40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90" dirty="0">
                <a:latin typeface="Tahoma"/>
                <a:cs typeface="Tahoma"/>
              </a:rPr>
              <a:t>Take </a:t>
            </a:r>
            <a:r>
              <a:rPr sz="2800" spc="-5" dirty="0">
                <a:latin typeface="Tahoma"/>
                <a:cs typeface="Tahoma"/>
              </a:rPr>
              <a:t>the product R1 </a:t>
            </a:r>
            <a:r>
              <a:rPr sz="2800" spc="-5" dirty="0">
                <a:latin typeface="Lucida Sans Unicode"/>
                <a:cs typeface="Lucida Sans Unicode"/>
              </a:rPr>
              <a:t>Χ</a:t>
            </a:r>
            <a:r>
              <a:rPr sz="2800" spc="85" dirty="0"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Tahoma"/>
                <a:cs typeface="Tahoma"/>
              </a:rPr>
              <a:t>R2.</a:t>
            </a:r>
            <a:endParaRPr sz="2800" dirty="0">
              <a:latin typeface="Tahoma"/>
              <a:cs typeface="Tahoma"/>
            </a:endParaRPr>
          </a:p>
          <a:p>
            <a:pPr marL="768350" lvl="1" indent="-285750">
              <a:lnSpc>
                <a:spcPct val="100000"/>
              </a:lnSpc>
              <a:spcBef>
                <a:spcPts val="38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  <a:tab pos="3289300" algn="l"/>
              </a:tabLst>
            </a:pPr>
            <a:r>
              <a:rPr sz="2800" spc="-5" dirty="0">
                <a:latin typeface="Tahoma"/>
                <a:cs typeface="Tahoma"/>
              </a:rPr>
              <a:t>Then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apply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3600" spc="-85" dirty="0">
                <a:latin typeface="Lucida Sans Unicode"/>
                <a:cs typeface="Lucida Sans Unicode"/>
              </a:rPr>
              <a:t>σ</a:t>
            </a:r>
            <a:r>
              <a:rPr sz="2850" i="1" spc="-127" baseline="-16081" dirty="0">
                <a:latin typeface="Tahoma"/>
                <a:cs typeface="Tahoma"/>
              </a:rPr>
              <a:t>C	</a:t>
            </a:r>
            <a:r>
              <a:rPr sz="2800" spc="-5" dirty="0">
                <a:latin typeface="Tahoma"/>
                <a:cs typeface="Tahoma"/>
              </a:rPr>
              <a:t>to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result.</a:t>
            </a:r>
            <a:endParaRPr sz="2800" dirty="0">
              <a:latin typeface="Tahoma"/>
              <a:cs typeface="Tahoma"/>
            </a:endParaRPr>
          </a:p>
          <a:p>
            <a:pPr marL="368300" marR="17780" indent="-342900">
              <a:lnSpc>
                <a:spcPts val="3879"/>
              </a:lnSpc>
              <a:spcBef>
                <a:spcPts val="13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As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4000" dirty="0">
                <a:latin typeface="Lucida Sans Unicode"/>
                <a:cs typeface="Lucida Sans Unicode"/>
              </a:rPr>
              <a:t>σ</a:t>
            </a:r>
            <a:r>
              <a:rPr sz="3200" dirty="0">
                <a:latin typeface="Tahoma"/>
                <a:cs typeface="Tahoma"/>
              </a:rPr>
              <a:t>, </a:t>
            </a:r>
            <a:r>
              <a:rPr sz="3350" i="1" spc="-90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5" dirty="0">
                <a:latin typeface="Tahoma"/>
                <a:cs typeface="Tahoma"/>
              </a:rPr>
              <a:t>any boolean-valued  </a:t>
            </a:r>
            <a:r>
              <a:rPr sz="3200" spc="-5" dirty="0">
                <a:latin typeface="Tahoma"/>
                <a:cs typeface="Tahoma"/>
              </a:rPr>
              <a:t>condition.</a:t>
            </a:r>
            <a:endParaRPr sz="3200" dirty="0">
              <a:latin typeface="Tahoma"/>
              <a:cs typeface="Tahoma"/>
            </a:endParaRPr>
          </a:p>
          <a:p>
            <a:pPr marL="768350" marR="363220" lvl="1" indent="-285750">
              <a:lnSpc>
                <a:spcPct val="89900"/>
              </a:lnSpc>
              <a:spcBef>
                <a:spcPts val="53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Historic </a:t>
            </a:r>
            <a:r>
              <a:rPr sz="2800" spc="-10" dirty="0">
                <a:latin typeface="Tahoma"/>
                <a:cs typeface="Tahoma"/>
              </a:rPr>
              <a:t>versions </a:t>
            </a:r>
            <a:r>
              <a:rPr sz="2800" spc="-5" dirty="0">
                <a:latin typeface="Tahoma"/>
                <a:cs typeface="Tahoma"/>
              </a:rPr>
              <a:t>of this </a:t>
            </a:r>
            <a:r>
              <a:rPr sz="2800" spc="-10" dirty="0">
                <a:latin typeface="Tahoma"/>
                <a:cs typeface="Tahoma"/>
              </a:rPr>
              <a:t>operator </a:t>
            </a:r>
            <a:r>
              <a:rPr sz="2800" spc="-5" dirty="0">
                <a:latin typeface="Tahoma"/>
                <a:cs typeface="Tahoma"/>
              </a:rPr>
              <a:t>allowed  only A </a:t>
            </a:r>
            <a:r>
              <a:rPr sz="2800" spc="-5" dirty="0">
                <a:latin typeface="Symbol"/>
                <a:cs typeface="Symbol"/>
              </a:rPr>
              <a:t>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ahoma"/>
                <a:cs typeface="Tahoma"/>
              </a:rPr>
              <a:t>B, </a:t>
            </a:r>
            <a:r>
              <a:rPr sz="2800" spc="-5" dirty="0">
                <a:latin typeface="Tahoma"/>
                <a:cs typeface="Tahoma"/>
              </a:rPr>
              <a:t>where </a:t>
            </a:r>
            <a:r>
              <a:rPr sz="2800" spc="-5" dirty="0">
                <a:latin typeface="Symbol"/>
                <a:cs typeface="Symbol"/>
              </a:rPr>
              <a:t>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ahoma"/>
                <a:cs typeface="Tahoma"/>
              </a:rPr>
              <a:t>is =, &lt;, etc.; hence  the name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“theta-join.”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9779" y="601344"/>
            <a:ext cx="5044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Theta</a:t>
            </a:r>
            <a:r>
              <a:rPr spc="-45" dirty="0"/>
              <a:t> </a:t>
            </a:r>
            <a:r>
              <a:rPr spc="-5" dirty="0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33765" y="1708150"/>
            <a:ext cx="142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708150"/>
            <a:ext cx="7032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5080" indent="-9144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  <a:tab pos="2755265" algn="l"/>
                <a:tab pos="3594735" algn="l"/>
                <a:tab pos="4584065" algn="l"/>
                <a:tab pos="5498465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Sells(	</a:t>
            </a:r>
            <a:r>
              <a:rPr sz="2400" spc="-85" dirty="0">
                <a:solidFill>
                  <a:srgbClr val="CC00CC"/>
                </a:solidFill>
                <a:latin typeface="Tahoma"/>
                <a:cs typeface="Tahoma"/>
              </a:rPr>
              <a:t>bar,	</a:t>
            </a:r>
            <a:r>
              <a:rPr sz="2400" spc="-70" dirty="0">
                <a:solidFill>
                  <a:srgbClr val="CC00CC"/>
                </a:solidFill>
                <a:latin typeface="Tahoma"/>
                <a:cs typeface="Tahoma"/>
              </a:rPr>
              <a:t>beer,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price	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	Bars(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name,</a:t>
            </a:r>
            <a:r>
              <a:rPr sz="2400" spc="-229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addr  </a:t>
            </a:r>
            <a:r>
              <a:rPr sz="2400" spc="-20" dirty="0">
                <a:latin typeface="Tahoma"/>
                <a:cs typeface="Tahoma"/>
              </a:rPr>
              <a:t>Joe’s	</a:t>
            </a:r>
            <a:r>
              <a:rPr sz="2400" dirty="0">
                <a:latin typeface="Tahoma"/>
                <a:cs typeface="Tahoma"/>
              </a:rPr>
              <a:t>Bud	</a:t>
            </a:r>
            <a:r>
              <a:rPr sz="2400" spc="-5" dirty="0">
                <a:latin typeface="Tahoma"/>
                <a:cs typeface="Tahoma"/>
              </a:rPr>
              <a:t>2.50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0940" y="2073909"/>
            <a:ext cx="716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5340" y="2073909"/>
            <a:ext cx="12788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  River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8939" y="2439670"/>
            <a:ext cx="7162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339" y="2439670"/>
            <a:ext cx="1531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Miller	</a:t>
            </a:r>
            <a:r>
              <a:rPr sz="2400" spc="-20" dirty="0">
                <a:latin typeface="Tahoma"/>
                <a:cs typeface="Tahoma"/>
              </a:rPr>
              <a:t>2.75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</a:t>
            </a:r>
            <a:r>
              <a:rPr sz="2400" spc="-5" dirty="0">
                <a:latin typeface="Tahoma"/>
                <a:cs typeface="Tahoma"/>
              </a:rPr>
              <a:t>2.5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oors	</a:t>
            </a:r>
            <a:r>
              <a:rPr sz="2400" spc="-5" dirty="0">
                <a:latin typeface="Tahoma"/>
                <a:cs typeface="Tahoma"/>
              </a:rPr>
              <a:t>3.0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5389" y="3874770"/>
            <a:ext cx="53111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20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n</a:t>
            </a:r>
            <a:r>
              <a:rPr sz="2400" spc="-25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o :=</a:t>
            </a:r>
            <a:r>
              <a:rPr sz="2400" spc="-5" dirty="0">
                <a:latin typeface="Tahoma"/>
                <a:cs typeface="Tahoma"/>
              </a:rPr>
              <a:t> 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3200" spc="-5" dirty="0">
                <a:latin typeface="Lucida Sans Unicode"/>
                <a:cs typeface="Lucida Sans Unicode"/>
              </a:rPr>
              <a:t>⋈</a:t>
            </a:r>
            <a:r>
              <a:rPr sz="2325" spc="7" baseline="-17921" dirty="0">
                <a:latin typeface="Tahoma"/>
                <a:cs typeface="Tahoma"/>
              </a:rPr>
              <a:t>S</a:t>
            </a:r>
            <a:r>
              <a:rPr sz="2325" baseline="-17921" dirty="0">
                <a:latin typeface="Tahoma"/>
                <a:cs typeface="Tahoma"/>
              </a:rPr>
              <a:t>el</a:t>
            </a:r>
            <a:r>
              <a:rPr sz="2325" spc="-7" baseline="-17921" dirty="0">
                <a:latin typeface="Tahoma"/>
                <a:cs typeface="Tahoma"/>
              </a:rPr>
              <a:t>ls.b</a:t>
            </a:r>
            <a:r>
              <a:rPr sz="2325" baseline="-17921" dirty="0">
                <a:latin typeface="Tahoma"/>
                <a:cs typeface="Tahoma"/>
              </a:rPr>
              <a:t>ar </a:t>
            </a:r>
            <a:r>
              <a:rPr sz="2325" spc="7" baseline="-17921" dirty="0">
                <a:latin typeface="Tahoma"/>
                <a:cs typeface="Tahoma"/>
              </a:rPr>
              <a:t>= </a:t>
            </a:r>
            <a:r>
              <a:rPr sz="2325" spc="22" baseline="-17921" dirty="0">
                <a:latin typeface="Tahoma"/>
                <a:cs typeface="Tahoma"/>
              </a:rPr>
              <a:t>B</a:t>
            </a:r>
            <a:r>
              <a:rPr sz="2325" spc="7" baseline="-17921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rs.</a:t>
            </a:r>
            <a:r>
              <a:rPr sz="2325" spc="7" baseline="-17921" dirty="0">
                <a:latin typeface="Tahoma"/>
                <a:cs typeface="Tahoma"/>
              </a:rPr>
              <a:t>na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325" spc="7" baseline="-17921" dirty="0">
                <a:latin typeface="Tahoma"/>
                <a:cs typeface="Tahoma"/>
              </a:rPr>
              <a:t>e</a:t>
            </a:r>
            <a:r>
              <a:rPr sz="2325" baseline="-17921" dirty="0">
                <a:latin typeface="Tahoma"/>
                <a:cs typeface="Tahoma"/>
              </a:rPr>
              <a:t> </a:t>
            </a:r>
            <a:r>
              <a:rPr sz="2325" spc="-330" baseline="-17921" dirty="0"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95437" y="1747837"/>
            <a:ext cx="2676525" cy="1838325"/>
          </a:xfrm>
          <a:custGeom>
            <a:avLst/>
            <a:gdLst/>
            <a:ahLst/>
            <a:cxnLst/>
            <a:rect l="l" t="t" r="r" b="b"/>
            <a:pathLst>
              <a:path w="2676525" h="1838325">
                <a:moveTo>
                  <a:pt x="2676525" y="1838325"/>
                </a:moveTo>
                <a:lnTo>
                  <a:pt x="0" y="1838325"/>
                </a:lnTo>
                <a:lnTo>
                  <a:pt x="0" y="0"/>
                </a:lnTo>
                <a:lnTo>
                  <a:pt x="2676525" y="0"/>
                </a:lnTo>
                <a:lnTo>
                  <a:pt x="267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8800"/>
                </a:lnTo>
                <a:lnTo>
                  <a:pt x="4762" y="1828800"/>
                </a:lnTo>
                <a:lnTo>
                  <a:pt x="9525" y="1833562"/>
                </a:lnTo>
                <a:lnTo>
                  <a:pt x="2676525" y="1833562"/>
                </a:lnTo>
                <a:lnTo>
                  <a:pt x="2676525" y="1838325"/>
                </a:lnTo>
                <a:close/>
              </a:path>
              <a:path w="2676525" h="1838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76525" h="1838325">
                <a:moveTo>
                  <a:pt x="266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667000" y="4762"/>
                </a:lnTo>
                <a:lnTo>
                  <a:pt x="2667000" y="9525"/>
                </a:lnTo>
                <a:close/>
              </a:path>
              <a:path w="2676525" h="1838325">
                <a:moveTo>
                  <a:pt x="2667000" y="1833562"/>
                </a:moveTo>
                <a:lnTo>
                  <a:pt x="2667000" y="4762"/>
                </a:lnTo>
                <a:lnTo>
                  <a:pt x="2671762" y="9525"/>
                </a:lnTo>
                <a:lnTo>
                  <a:pt x="2676525" y="9525"/>
                </a:lnTo>
                <a:lnTo>
                  <a:pt x="2676525" y="1828800"/>
                </a:lnTo>
                <a:lnTo>
                  <a:pt x="2671762" y="1828800"/>
                </a:lnTo>
                <a:lnTo>
                  <a:pt x="2667000" y="1833562"/>
                </a:lnTo>
                <a:close/>
              </a:path>
              <a:path w="2676525" h="1838325">
                <a:moveTo>
                  <a:pt x="2676525" y="9525"/>
                </a:moveTo>
                <a:lnTo>
                  <a:pt x="2671762" y="9525"/>
                </a:lnTo>
                <a:lnTo>
                  <a:pt x="2667000" y="4762"/>
                </a:lnTo>
                <a:lnTo>
                  <a:pt x="2676525" y="4762"/>
                </a:lnTo>
                <a:lnTo>
                  <a:pt x="2676525" y="9525"/>
                </a:lnTo>
                <a:close/>
              </a:path>
              <a:path w="2676525" h="1838325">
                <a:moveTo>
                  <a:pt x="9525" y="1833562"/>
                </a:moveTo>
                <a:lnTo>
                  <a:pt x="4762" y="1828800"/>
                </a:lnTo>
                <a:lnTo>
                  <a:pt x="9525" y="1828800"/>
                </a:lnTo>
                <a:lnTo>
                  <a:pt x="9525" y="1833562"/>
                </a:lnTo>
                <a:close/>
              </a:path>
              <a:path w="2676525" h="1838325">
                <a:moveTo>
                  <a:pt x="2667000" y="1833562"/>
                </a:moveTo>
                <a:lnTo>
                  <a:pt x="9525" y="1833562"/>
                </a:lnTo>
                <a:lnTo>
                  <a:pt x="9525" y="1828800"/>
                </a:lnTo>
                <a:lnTo>
                  <a:pt x="2667000" y="1828800"/>
                </a:lnTo>
                <a:lnTo>
                  <a:pt x="2667000" y="1833562"/>
                </a:lnTo>
                <a:close/>
              </a:path>
              <a:path w="2676525" h="1838325">
                <a:moveTo>
                  <a:pt x="2676525" y="1833562"/>
                </a:moveTo>
                <a:lnTo>
                  <a:pt x="2667000" y="1833562"/>
                </a:lnTo>
                <a:lnTo>
                  <a:pt x="2671762" y="1828800"/>
                </a:lnTo>
                <a:lnTo>
                  <a:pt x="2676525" y="1828800"/>
                </a:lnTo>
                <a:lnTo>
                  <a:pt x="2676525" y="1833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0200" y="2133600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38400" y="17526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9000" y="17526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7437" y="1747837"/>
            <a:ext cx="2295525" cy="1152525"/>
          </a:xfrm>
          <a:custGeom>
            <a:avLst/>
            <a:gdLst/>
            <a:ahLst/>
            <a:cxnLst/>
            <a:rect l="l" t="t" r="r" b="b"/>
            <a:pathLst>
              <a:path w="2295525" h="1152525">
                <a:moveTo>
                  <a:pt x="22955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295525" y="0"/>
                </a:lnTo>
                <a:lnTo>
                  <a:pt x="229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295525" y="1147762"/>
                </a:lnTo>
                <a:lnTo>
                  <a:pt x="2295525" y="1152525"/>
                </a:lnTo>
                <a:close/>
              </a:path>
              <a:path w="22955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95525" h="1152525">
                <a:moveTo>
                  <a:pt x="228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0" y="4762"/>
                </a:lnTo>
                <a:lnTo>
                  <a:pt x="2286000" y="9525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2286000" y="4762"/>
                </a:lnTo>
                <a:lnTo>
                  <a:pt x="2290762" y="9525"/>
                </a:lnTo>
                <a:lnTo>
                  <a:pt x="2295525" y="9525"/>
                </a:lnTo>
                <a:lnTo>
                  <a:pt x="2295525" y="1143000"/>
                </a:lnTo>
                <a:lnTo>
                  <a:pt x="2290762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5525" y="4762"/>
                </a:lnTo>
                <a:lnTo>
                  <a:pt x="2295525" y="9525"/>
                </a:lnTo>
                <a:close/>
              </a:path>
              <a:path w="22955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286000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1147762"/>
                </a:moveTo>
                <a:lnTo>
                  <a:pt x="2286000" y="1147762"/>
                </a:lnTo>
                <a:lnTo>
                  <a:pt x="2290762" y="1143000"/>
                </a:lnTo>
                <a:lnTo>
                  <a:pt x="2295525" y="1143000"/>
                </a:lnTo>
                <a:lnTo>
                  <a:pt x="22955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72200" y="21336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86600" y="17526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4914" y="4560887"/>
            <a:ext cx="1134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ar</a:t>
            </a:r>
            <a:r>
              <a:rPr sz="2400" spc="-20" dirty="0">
                <a:solidFill>
                  <a:srgbClr val="CC00CC"/>
                </a:solidFill>
                <a:latin typeface="Tahoma"/>
                <a:cs typeface="Tahoma"/>
              </a:rPr>
              <a:t>I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n</a:t>
            </a:r>
            <a:r>
              <a:rPr sz="2400" spc="-25" dirty="0">
                <a:solidFill>
                  <a:srgbClr val="CC00CC"/>
                </a:solidFill>
                <a:latin typeface="Tahoma"/>
                <a:cs typeface="Tahoma"/>
              </a:rPr>
              <a:t>f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o(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03490" y="4560887"/>
            <a:ext cx="142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77464" y="4560887"/>
            <a:ext cx="669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CC00CC"/>
                </a:solidFill>
                <a:latin typeface="Tahoma"/>
                <a:cs typeface="Tahoma"/>
              </a:rPr>
              <a:t>bar,  </a:t>
            </a: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91865" y="4560887"/>
            <a:ext cx="3375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spc="-70" dirty="0">
                <a:solidFill>
                  <a:srgbClr val="CC00CC"/>
                </a:solidFill>
                <a:latin typeface="Tahoma"/>
                <a:cs typeface="Tahoma"/>
              </a:rPr>
              <a:t>beer,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price,	name,</a:t>
            </a:r>
            <a:r>
              <a:rPr sz="2400" spc="-229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addr  </a:t>
            </a:r>
            <a:r>
              <a:rPr sz="2400" dirty="0">
                <a:latin typeface="Tahoma"/>
                <a:cs typeface="Tahoma"/>
              </a:rPr>
              <a:t>Bud	</a:t>
            </a:r>
            <a:r>
              <a:rPr sz="2400" spc="-5" dirty="0">
                <a:latin typeface="Tahoma"/>
                <a:cs typeface="Tahoma"/>
              </a:rPr>
              <a:t>2.50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91865" y="5292407"/>
            <a:ext cx="152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Mi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ler	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spc="-65" dirty="0">
                <a:latin typeface="Tahoma"/>
                <a:cs typeface="Tahoma"/>
              </a:rPr>
              <a:t>.</a:t>
            </a:r>
            <a:r>
              <a:rPr sz="2400" spc="-5" dirty="0">
                <a:latin typeface="Tahoma"/>
                <a:cs typeface="Tahoma"/>
              </a:rPr>
              <a:t>7</a:t>
            </a: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77464" y="5292407"/>
            <a:ext cx="7162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91865" y="5658167"/>
            <a:ext cx="15316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</a:t>
            </a:r>
            <a:r>
              <a:rPr sz="2400" spc="-5" dirty="0">
                <a:latin typeface="Tahoma"/>
                <a:cs typeface="Tahoma"/>
              </a:rPr>
              <a:t>2.5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oors	</a:t>
            </a:r>
            <a:r>
              <a:rPr sz="2400" spc="-5" dirty="0">
                <a:latin typeface="Tahoma"/>
                <a:cs typeface="Tahoma"/>
              </a:rPr>
              <a:t>3.0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20665" y="4926647"/>
            <a:ext cx="71628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35065" y="4926647"/>
            <a:ext cx="12788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  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  River Rd.  River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09837" y="4567237"/>
            <a:ext cx="5038725" cy="1838325"/>
          </a:xfrm>
          <a:custGeom>
            <a:avLst/>
            <a:gdLst/>
            <a:ahLst/>
            <a:cxnLst/>
            <a:rect l="l" t="t" r="r" b="b"/>
            <a:pathLst>
              <a:path w="5038725" h="1838325">
                <a:moveTo>
                  <a:pt x="5038725" y="1838325"/>
                </a:moveTo>
                <a:lnTo>
                  <a:pt x="0" y="1838325"/>
                </a:lnTo>
                <a:lnTo>
                  <a:pt x="0" y="0"/>
                </a:lnTo>
                <a:lnTo>
                  <a:pt x="5038725" y="0"/>
                </a:lnTo>
                <a:lnTo>
                  <a:pt x="503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8800"/>
                </a:lnTo>
                <a:lnTo>
                  <a:pt x="4762" y="1828800"/>
                </a:lnTo>
                <a:lnTo>
                  <a:pt x="9525" y="1833562"/>
                </a:lnTo>
                <a:lnTo>
                  <a:pt x="5038725" y="1833562"/>
                </a:lnTo>
                <a:lnTo>
                  <a:pt x="5038725" y="1838325"/>
                </a:lnTo>
                <a:close/>
              </a:path>
              <a:path w="5038725" h="1838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038725" h="1838325">
                <a:moveTo>
                  <a:pt x="502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029200" y="4762"/>
                </a:lnTo>
                <a:lnTo>
                  <a:pt x="5029200" y="9525"/>
                </a:lnTo>
                <a:close/>
              </a:path>
              <a:path w="5038725" h="1838325">
                <a:moveTo>
                  <a:pt x="5029200" y="1833562"/>
                </a:moveTo>
                <a:lnTo>
                  <a:pt x="5029200" y="4762"/>
                </a:lnTo>
                <a:lnTo>
                  <a:pt x="5033962" y="9525"/>
                </a:lnTo>
                <a:lnTo>
                  <a:pt x="5038725" y="9525"/>
                </a:lnTo>
                <a:lnTo>
                  <a:pt x="5038725" y="1828800"/>
                </a:lnTo>
                <a:lnTo>
                  <a:pt x="5033962" y="1828800"/>
                </a:lnTo>
                <a:lnTo>
                  <a:pt x="5029200" y="1833562"/>
                </a:lnTo>
                <a:close/>
              </a:path>
              <a:path w="5038725" h="1838325">
                <a:moveTo>
                  <a:pt x="5038725" y="9525"/>
                </a:moveTo>
                <a:lnTo>
                  <a:pt x="5033962" y="9525"/>
                </a:lnTo>
                <a:lnTo>
                  <a:pt x="5029200" y="4762"/>
                </a:lnTo>
                <a:lnTo>
                  <a:pt x="5038725" y="4762"/>
                </a:lnTo>
                <a:lnTo>
                  <a:pt x="5038725" y="9525"/>
                </a:lnTo>
                <a:close/>
              </a:path>
              <a:path w="5038725" h="1838325">
                <a:moveTo>
                  <a:pt x="9525" y="1833562"/>
                </a:moveTo>
                <a:lnTo>
                  <a:pt x="4762" y="1828800"/>
                </a:lnTo>
                <a:lnTo>
                  <a:pt x="9525" y="1828800"/>
                </a:lnTo>
                <a:lnTo>
                  <a:pt x="9525" y="1833562"/>
                </a:lnTo>
                <a:close/>
              </a:path>
              <a:path w="5038725" h="1838325">
                <a:moveTo>
                  <a:pt x="5029200" y="1833562"/>
                </a:moveTo>
                <a:lnTo>
                  <a:pt x="9525" y="1833562"/>
                </a:lnTo>
                <a:lnTo>
                  <a:pt x="9525" y="1828800"/>
                </a:lnTo>
                <a:lnTo>
                  <a:pt x="5029200" y="1828800"/>
                </a:lnTo>
                <a:lnTo>
                  <a:pt x="5029200" y="1833562"/>
                </a:lnTo>
                <a:close/>
              </a:path>
              <a:path w="5038725" h="1838325">
                <a:moveTo>
                  <a:pt x="5038725" y="1833562"/>
                </a:moveTo>
                <a:lnTo>
                  <a:pt x="5029200" y="1833562"/>
                </a:lnTo>
                <a:lnTo>
                  <a:pt x="5033962" y="1828800"/>
                </a:lnTo>
                <a:lnTo>
                  <a:pt x="5038725" y="1828800"/>
                </a:lnTo>
                <a:lnTo>
                  <a:pt x="5038725" y="1833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14600" y="4953000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52800" y="45720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67200" y="45720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81600" y="45720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2200" y="45720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109" y="329686"/>
            <a:ext cx="29533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Natural</a:t>
            </a:r>
            <a:r>
              <a:rPr spc="-75" dirty="0"/>
              <a:t> </a:t>
            </a:r>
            <a:r>
              <a:rPr spc="-5" dirty="0"/>
              <a:t>Join</a:t>
            </a:r>
            <a:r>
              <a:rPr lang="zh-CN" altLang="en-US" spc="-5" dirty="0"/>
              <a:t>自然链接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02525" cy="31680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91630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useful </a:t>
            </a:r>
            <a:r>
              <a:rPr sz="3200" spc="-5" dirty="0">
                <a:latin typeface="Tahoma"/>
                <a:cs typeface="Tahoma"/>
              </a:rPr>
              <a:t>join </a:t>
            </a:r>
            <a:r>
              <a:rPr sz="3200" spc="-15" dirty="0">
                <a:latin typeface="Tahoma"/>
                <a:cs typeface="Tahoma"/>
              </a:rPr>
              <a:t>variant </a:t>
            </a:r>
            <a:r>
              <a:rPr sz="3200" spc="-985" dirty="0">
                <a:latin typeface="Tahoma"/>
                <a:cs typeface="Tahoma"/>
              </a:rPr>
              <a:t>(</a:t>
            </a:r>
            <a:r>
              <a:rPr lang="en-US" altLang="zh-CN" sz="3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-apple-system"/>
              </a:rPr>
              <a:t>natural join</a:t>
            </a:r>
            <a:r>
              <a:rPr sz="3200" spc="-5" dirty="0">
                <a:latin typeface="Tahoma"/>
                <a:cs typeface="Tahoma"/>
              </a:rPr>
              <a:t>)  connects two relations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Equating attributes of the same name,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endParaRPr sz="2800" dirty="0">
              <a:latin typeface="Tahoma"/>
              <a:cs typeface="Tahoma"/>
            </a:endParaRPr>
          </a:p>
          <a:p>
            <a:pPr marL="755650" marR="640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Projecting out one copy of each pair of  equated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attributes.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Denoted </a:t>
            </a:r>
            <a:r>
              <a:rPr sz="3200" dirty="0">
                <a:latin typeface="Tahoma"/>
                <a:cs typeface="Tahoma"/>
              </a:rPr>
              <a:t>R3 := R1 </a:t>
            </a:r>
            <a:r>
              <a:rPr sz="4000" spc="-5" dirty="0">
                <a:latin typeface="Lucida Sans Unicode"/>
                <a:cs typeface="Lucida Sans Unicode"/>
              </a:rPr>
              <a:t>⋈</a:t>
            </a:r>
            <a:r>
              <a:rPr sz="4000" spc="-295" dirty="0">
                <a:latin typeface="Lucida Sans Unicode"/>
                <a:cs typeface="Lucida Sans Unicode"/>
              </a:rPr>
              <a:t> </a:t>
            </a:r>
            <a:r>
              <a:rPr sz="3200" spc="-5" dirty="0">
                <a:latin typeface="Tahoma"/>
                <a:cs typeface="Tahoma"/>
              </a:rPr>
              <a:t>R2.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7535" y="448944"/>
            <a:ext cx="5408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5" dirty="0"/>
              <a:t>Natural</a:t>
            </a:r>
            <a:r>
              <a:rPr spc="-55" dirty="0"/>
              <a:t> </a:t>
            </a:r>
            <a:r>
              <a:rPr spc="-5" dirty="0"/>
              <a:t>Join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09965" y="1403350"/>
            <a:ext cx="142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9" y="1403350"/>
            <a:ext cx="37249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5080" indent="-9144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  <a:tab pos="2755265" algn="l"/>
                <a:tab pos="3594735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S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</a:t>
            </a:r>
            <a:r>
              <a:rPr sz="2400" spc="5" dirty="0">
                <a:solidFill>
                  <a:srgbClr val="CC00CC"/>
                </a:solidFill>
                <a:latin typeface="Tahoma"/>
                <a:cs typeface="Tahoma"/>
              </a:rPr>
              <a:t>l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l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s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(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r>
              <a:rPr sz="2400" spc="-325" dirty="0">
                <a:solidFill>
                  <a:srgbClr val="CC00CC"/>
                </a:solidFill>
                <a:latin typeface="Tahoma"/>
                <a:cs typeface="Tahoma"/>
              </a:rPr>
              <a:t>r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,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ee</a:t>
            </a:r>
            <a:r>
              <a:rPr sz="2400" spc="-325" dirty="0">
                <a:solidFill>
                  <a:srgbClr val="CC00CC"/>
                </a:solidFill>
                <a:latin typeface="Tahoma"/>
                <a:cs typeface="Tahoma"/>
              </a:rPr>
              <a:t>r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,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p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ri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	)  </a:t>
            </a:r>
            <a:r>
              <a:rPr sz="2400" spc="-20" dirty="0">
                <a:latin typeface="Tahoma"/>
                <a:cs typeface="Tahoma"/>
              </a:rPr>
              <a:t>Joe’s	</a:t>
            </a:r>
            <a:r>
              <a:rPr sz="2400" dirty="0">
                <a:latin typeface="Tahoma"/>
                <a:cs typeface="Tahoma"/>
              </a:rPr>
              <a:t>Bud	</a:t>
            </a:r>
            <a:r>
              <a:rPr sz="2400" spc="-5" dirty="0">
                <a:latin typeface="Tahoma"/>
                <a:cs typeface="Tahoma"/>
              </a:rPr>
              <a:t>2.50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2740" y="1403350"/>
            <a:ext cx="1583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Bars(	</a:t>
            </a:r>
            <a:r>
              <a:rPr sz="2400" spc="-85" dirty="0">
                <a:solidFill>
                  <a:srgbClr val="CC00CC"/>
                </a:solidFill>
                <a:latin typeface="Tahoma"/>
                <a:cs typeface="Tahoma"/>
              </a:rPr>
              <a:t>bar,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41540" y="1403350"/>
            <a:ext cx="12788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addr  </a:t>
            </a:r>
            <a:r>
              <a:rPr sz="2400" spc="-5" dirty="0">
                <a:latin typeface="Tahoma"/>
                <a:cs typeface="Tahoma"/>
              </a:rPr>
              <a:t>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7140" y="2134870"/>
            <a:ext cx="716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1540" y="2134870"/>
            <a:ext cx="1249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River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5139" y="2134870"/>
            <a:ext cx="7162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9539" y="2134870"/>
            <a:ext cx="1531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Miller	</a:t>
            </a:r>
            <a:r>
              <a:rPr sz="2400" spc="-20" dirty="0">
                <a:latin typeface="Tahoma"/>
                <a:cs typeface="Tahoma"/>
              </a:rPr>
              <a:t>2.75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</a:t>
            </a:r>
            <a:r>
              <a:rPr sz="2400" spc="-5" dirty="0">
                <a:latin typeface="Tahoma"/>
                <a:cs typeface="Tahoma"/>
              </a:rPr>
              <a:t>2.5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oors	</a:t>
            </a:r>
            <a:r>
              <a:rPr sz="2400" spc="-5" dirty="0">
                <a:latin typeface="Tahoma"/>
                <a:cs typeface="Tahoma"/>
              </a:rPr>
              <a:t>3.0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0739" y="3532827"/>
            <a:ext cx="7950200" cy="94488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957580" algn="ctr">
              <a:lnSpc>
                <a:spcPct val="100000"/>
              </a:lnSpc>
              <a:spcBef>
                <a:spcPts val="395"/>
              </a:spcBef>
            </a:pPr>
            <a:r>
              <a:rPr sz="2400" spc="-5" dirty="0">
                <a:latin typeface="Tahoma"/>
                <a:cs typeface="Tahoma"/>
              </a:rPr>
              <a:t>BarInfo </a:t>
            </a:r>
            <a:r>
              <a:rPr sz="2400" dirty="0">
                <a:latin typeface="Tahoma"/>
                <a:cs typeface="Tahoma"/>
              </a:rPr>
              <a:t>:= Sells </a:t>
            </a:r>
            <a:r>
              <a:rPr sz="3200" spc="5" dirty="0">
                <a:latin typeface="Lucida Sans Unicode"/>
                <a:cs typeface="Lucida Sans Unicode"/>
              </a:rPr>
              <a:t>⋈</a:t>
            </a:r>
            <a:r>
              <a:rPr sz="3200" spc="-2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ahoma"/>
                <a:cs typeface="Tahoma"/>
              </a:rPr>
              <a:t>Bars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solidFill>
                  <a:srgbClr val="3366FF"/>
                </a:solidFill>
                <a:latin typeface="Tahoma"/>
                <a:cs typeface="Tahoma"/>
              </a:rPr>
              <a:t>Note</a:t>
            </a:r>
            <a:r>
              <a:rPr sz="2400" spc="-5" dirty="0">
                <a:latin typeface="Tahoma"/>
                <a:cs typeface="Tahoma"/>
              </a:rPr>
              <a:t>: Bars.name </a:t>
            </a:r>
            <a:r>
              <a:rPr sz="2400" dirty="0">
                <a:latin typeface="Tahoma"/>
                <a:cs typeface="Tahoma"/>
              </a:rPr>
              <a:t>has </a:t>
            </a:r>
            <a:r>
              <a:rPr sz="2400" spc="-5" dirty="0">
                <a:latin typeface="Tahoma"/>
                <a:cs typeface="Tahoma"/>
              </a:rPr>
              <a:t>become Bars.bar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10" dirty="0">
                <a:latin typeface="Tahoma"/>
                <a:cs typeface="Tahoma"/>
              </a:rPr>
              <a:t>make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natural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71637" y="1443037"/>
            <a:ext cx="2676525" cy="1838325"/>
          </a:xfrm>
          <a:custGeom>
            <a:avLst/>
            <a:gdLst/>
            <a:ahLst/>
            <a:cxnLst/>
            <a:rect l="l" t="t" r="r" b="b"/>
            <a:pathLst>
              <a:path w="2676525" h="1838325">
                <a:moveTo>
                  <a:pt x="2676525" y="1838325"/>
                </a:moveTo>
                <a:lnTo>
                  <a:pt x="0" y="1838325"/>
                </a:lnTo>
                <a:lnTo>
                  <a:pt x="0" y="0"/>
                </a:lnTo>
                <a:lnTo>
                  <a:pt x="2676525" y="0"/>
                </a:lnTo>
                <a:lnTo>
                  <a:pt x="267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8800"/>
                </a:lnTo>
                <a:lnTo>
                  <a:pt x="4762" y="1828800"/>
                </a:lnTo>
                <a:lnTo>
                  <a:pt x="9525" y="1833562"/>
                </a:lnTo>
                <a:lnTo>
                  <a:pt x="2676525" y="1833562"/>
                </a:lnTo>
                <a:lnTo>
                  <a:pt x="2676525" y="1838325"/>
                </a:lnTo>
                <a:close/>
              </a:path>
              <a:path w="2676525" h="1838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76525" h="1838325">
                <a:moveTo>
                  <a:pt x="266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667000" y="4762"/>
                </a:lnTo>
                <a:lnTo>
                  <a:pt x="2667000" y="9525"/>
                </a:lnTo>
                <a:close/>
              </a:path>
              <a:path w="2676525" h="1838325">
                <a:moveTo>
                  <a:pt x="2667000" y="1833562"/>
                </a:moveTo>
                <a:lnTo>
                  <a:pt x="2667000" y="4762"/>
                </a:lnTo>
                <a:lnTo>
                  <a:pt x="2671762" y="9525"/>
                </a:lnTo>
                <a:lnTo>
                  <a:pt x="2676525" y="9525"/>
                </a:lnTo>
                <a:lnTo>
                  <a:pt x="2676525" y="1828800"/>
                </a:lnTo>
                <a:lnTo>
                  <a:pt x="2671762" y="1828800"/>
                </a:lnTo>
                <a:lnTo>
                  <a:pt x="2667000" y="1833562"/>
                </a:lnTo>
                <a:close/>
              </a:path>
              <a:path w="2676525" h="1838325">
                <a:moveTo>
                  <a:pt x="2676525" y="9525"/>
                </a:moveTo>
                <a:lnTo>
                  <a:pt x="2671762" y="9525"/>
                </a:lnTo>
                <a:lnTo>
                  <a:pt x="2667000" y="4762"/>
                </a:lnTo>
                <a:lnTo>
                  <a:pt x="2676525" y="4762"/>
                </a:lnTo>
                <a:lnTo>
                  <a:pt x="2676525" y="9525"/>
                </a:lnTo>
                <a:close/>
              </a:path>
              <a:path w="2676525" h="1838325">
                <a:moveTo>
                  <a:pt x="9525" y="1833562"/>
                </a:moveTo>
                <a:lnTo>
                  <a:pt x="4762" y="1828800"/>
                </a:lnTo>
                <a:lnTo>
                  <a:pt x="9525" y="1828800"/>
                </a:lnTo>
                <a:lnTo>
                  <a:pt x="9525" y="1833562"/>
                </a:lnTo>
                <a:close/>
              </a:path>
              <a:path w="2676525" h="1838325">
                <a:moveTo>
                  <a:pt x="2667000" y="1833562"/>
                </a:moveTo>
                <a:lnTo>
                  <a:pt x="9525" y="1833562"/>
                </a:lnTo>
                <a:lnTo>
                  <a:pt x="9525" y="1828800"/>
                </a:lnTo>
                <a:lnTo>
                  <a:pt x="2667000" y="1828800"/>
                </a:lnTo>
                <a:lnTo>
                  <a:pt x="2667000" y="1833562"/>
                </a:lnTo>
                <a:close/>
              </a:path>
              <a:path w="2676525" h="1838325">
                <a:moveTo>
                  <a:pt x="2676525" y="1833562"/>
                </a:moveTo>
                <a:lnTo>
                  <a:pt x="2667000" y="1833562"/>
                </a:lnTo>
                <a:lnTo>
                  <a:pt x="2671762" y="1828800"/>
                </a:lnTo>
                <a:lnTo>
                  <a:pt x="2676525" y="1828800"/>
                </a:lnTo>
                <a:lnTo>
                  <a:pt x="2676525" y="1833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6400" y="1828800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14600" y="14478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200" y="14478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67437" y="1443037"/>
            <a:ext cx="2295525" cy="1152525"/>
          </a:xfrm>
          <a:custGeom>
            <a:avLst/>
            <a:gdLst/>
            <a:ahLst/>
            <a:cxnLst/>
            <a:rect l="l" t="t" r="r" b="b"/>
            <a:pathLst>
              <a:path w="2295525" h="1152525">
                <a:moveTo>
                  <a:pt x="22955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295525" y="0"/>
                </a:lnTo>
                <a:lnTo>
                  <a:pt x="229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295525" y="1147762"/>
                </a:lnTo>
                <a:lnTo>
                  <a:pt x="2295525" y="1152525"/>
                </a:lnTo>
                <a:close/>
              </a:path>
              <a:path w="22955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95525" h="1152525">
                <a:moveTo>
                  <a:pt x="228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0" y="4762"/>
                </a:lnTo>
                <a:lnTo>
                  <a:pt x="2286000" y="9525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2286000" y="4762"/>
                </a:lnTo>
                <a:lnTo>
                  <a:pt x="2290762" y="9525"/>
                </a:lnTo>
                <a:lnTo>
                  <a:pt x="2295525" y="9525"/>
                </a:lnTo>
                <a:lnTo>
                  <a:pt x="2295525" y="1143000"/>
                </a:lnTo>
                <a:lnTo>
                  <a:pt x="2290762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5525" y="4762"/>
                </a:lnTo>
                <a:lnTo>
                  <a:pt x="2295525" y="9525"/>
                </a:lnTo>
                <a:close/>
              </a:path>
              <a:path w="22955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286000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1147762"/>
                </a:moveTo>
                <a:lnTo>
                  <a:pt x="2286000" y="1147762"/>
                </a:lnTo>
                <a:lnTo>
                  <a:pt x="2290762" y="1143000"/>
                </a:lnTo>
                <a:lnTo>
                  <a:pt x="2295525" y="1143000"/>
                </a:lnTo>
                <a:lnTo>
                  <a:pt x="22955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72200" y="18288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86600" y="14478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40739" y="4451984"/>
            <a:ext cx="1572260" cy="7289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77825" marR="5080" indent="-365125">
              <a:lnSpc>
                <a:spcPts val="2660"/>
              </a:lnSpc>
              <a:spcBef>
                <a:spcPts val="370"/>
              </a:spcBef>
            </a:pPr>
            <a:r>
              <a:rPr sz="2400" spc="-5" dirty="0">
                <a:latin typeface="Tahoma"/>
                <a:cs typeface="Tahoma"/>
              </a:rPr>
              <a:t>join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“work.”  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BarInfo(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65290" y="4789487"/>
            <a:ext cx="142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53664" y="4789487"/>
            <a:ext cx="669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CC00CC"/>
                </a:solidFill>
                <a:latin typeface="Tahoma"/>
                <a:cs typeface="Tahoma"/>
              </a:rPr>
              <a:t>bar,  </a:t>
            </a: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68065" y="4789487"/>
            <a:ext cx="2460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840864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ee</a:t>
            </a:r>
            <a:r>
              <a:rPr sz="2400" spc="-325" dirty="0">
                <a:solidFill>
                  <a:srgbClr val="CC00CC"/>
                </a:solidFill>
                <a:latin typeface="Tahoma"/>
                <a:cs typeface="Tahoma"/>
              </a:rPr>
              <a:t>r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,	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p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ri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e,	a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dd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 </a:t>
            </a:r>
            <a:r>
              <a:rPr sz="2400" dirty="0">
                <a:latin typeface="Tahoma"/>
                <a:cs typeface="Tahoma"/>
              </a:rPr>
              <a:t>Bud	</a:t>
            </a:r>
            <a:r>
              <a:rPr sz="2400" spc="-5" dirty="0">
                <a:latin typeface="Tahoma"/>
                <a:cs typeface="Tahoma"/>
              </a:rPr>
              <a:t>2.50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68065" y="5521007"/>
            <a:ext cx="152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Milller</a:t>
            </a:r>
            <a:r>
              <a:rPr sz="2400" spc="1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2.75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3664" y="5521007"/>
            <a:ext cx="7162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68065" y="5886767"/>
            <a:ext cx="15316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</a:t>
            </a:r>
            <a:r>
              <a:rPr sz="2400" spc="-5" dirty="0">
                <a:latin typeface="Tahoma"/>
                <a:cs typeface="Tahoma"/>
              </a:rPr>
              <a:t>2.5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oors	</a:t>
            </a:r>
            <a:r>
              <a:rPr sz="2400" spc="-5" dirty="0">
                <a:latin typeface="Tahoma"/>
                <a:cs typeface="Tahoma"/>
              </a:rPr>
              <a:t>3.0</a:t>
            </a:r>
            <a:r>
              <a:rPr sz="240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6865" y="5155247"/>
            <a:ext cx="12788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  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  River Rd.  River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86037" y="4795837"/>
            <a:ext cx="4124325" cy="1838325"/>
          </a:xfrm>
          <a:custGeom>
            <a:avLst/>
            <a:gdLst/>
            <a:ahLst/>
            <a:cxnLst/>
            <a:rect l="l" t="t" r="r" b="b"/>
            <a:pathLst>
              <a:path w="4124325" h="1838325">
                <a:moveTo>
                  <a:pt x="4124325" y="1838325"/>
                </a:moveTo>
                <a:lnTo>
                  <a:pt x="0" y="1838325"/>
                </a:lnTo>
                <a:lnTo>
                  <a:pt x="0" y="0"/>
                </a:lnTo>
                <a:lnTo>
                  <a:pt x="4124325" y="0"/>
                </a:lnTo>
                <a:lnTo>
                  <a:pt x="412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8800"/>
                </a:lnTo>
                <a:lnTo>
                  <a:pt x="4762" y="1828800"/>
                </a:lnTo>
                <a:lnTo>
                  <a:pt x="9525" y="1833562"/>
                </a:lnTo>
                <a:lnTo>
                  <a:pt x="4124325" y="1833562"/>
                </a:lnTo>
                <a:lnTo>
                  <a:pt x="4124325" y="1838325"/>
                </a:lnTo>
                <a:close/>
              </a:path>
              <a:path w="4124325" h="1838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124325" h="1838325">
                <a:moveTo>
                  <a:pt x="411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114800" y="4762"/>
                </a:lnTo>
                <a:lnTo>
                  <a:pt x="4114800" y="9525"/>
                </a:lnTo>
                <a:close/>
              </a:path>
              <a:path w="4124325" h="1838325">
                <a:moveTo>
                  <a:pt x="4114800" y="1833562"/>
                </a:moveTo>
                <a:lnTo>
                  <a:pt x="4114800" y="4762"/>
                </a:lnTo>
                <a:lnTo>
                  <a:pt x="4119562" y="9525"/>
                </a:lnTo>
                <a:lnTo>
                  <a:pt x="4124325" y="9525"/>
                </a:lnTo>
                <a:lnTo>
                  <a:pt x="4124325" y="1828800"/>
                </a:lnTo>
                <a:lnTo>
                  <a:pt x="4119562" y="1828800"/>
                </a:lnTo>
                <a:lnTo>
                  <a:pt x="4114800" y="1833562"/>
                </a:lnTo>
                <a:close/>
              </a:path>
              <a:path w="4124325" h="1838325">
                <a:moveTo>
                  <a:pt x="4124325" y="9525"/>
                </a:moveTo>
                <a:lnTo>
                  <a:pt x="4119562" y="9525"/>
                </a:lnTo>
                <a:lnTo>
                  <a:pt x="4114800" y="4762"/>
                </a:lnTo>
                <a:lnTo>
                  <a:pt x="4124325" y="4762"/>
                </a:lnTo>
                <a:lnTo>
                  <a:pt x="4124325" y="9525"/>
                </a:lnTo>
                <a:close/>
              </a:path>
              <a:path w="4124325" h="1838325">
                <a:moveTo>
                  <a:pt x="9525" y="1833562"/>
                </a:moveTo>
                <a:lnTo>
                  <a:pt x="4762" y="1828800"/>
                </a:lnTo>
                <a:lnTo>
                  <a:pt x="9525" y="1828800"/>
                </a:lnTo>
                <a:lnTo>
                  <a:pt x="9525" y="1833562"/>
                </a:lnTo>
                <a:close/>
              </a:path>
              <a:path w="4124325" h="1838325">
                <a:moveTo>
                  <a:pt x="4114800" y="1833562"/>
                </a:moveTo>
                <a:lnTo>
                  <a:pt x="9525" y="1833562"/>
                </a:lnTo>
                <a:lnTo>
                  <a:pt x="9525" y="1828800"/>
                </a:lnTo>
                <a:lnTo>
                  <a:pt x="4114800" y="1828800"/>
                </a:lnTo>
                <a:lnTo>
                  <a:pt x="4114800" y="1833562"/>
                </a:lnTo>
                <a:close/>
              </a:path>
              <a:path w="4124325" h="1838325">
                <a:moveTo>
                  <a:pt x="4124325" y="1833562"/>
                </a:moveTo>
                <a:lnTo>
                  <a:pt x="4114800" y="1833562"/>
                </a:lnTo>
                <a:lnTo>
                  <a:pt x="4119562" y="1828800"/>
                </a:lnTo>
                <a:lnTo>
                  <a:pt x="4124325" y="1828800"/>
                </a:lnTo>
                <a:lnTo>
                  <a:pt x="4124325" y="1833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90800" y="5181600"/>
            <a:ext cx="4114800" cy="0"/>
          </a:xfrm>
          <a:custGeom>
            <a:avLst/>
            <a:gdLst/>
            <a:ahLst/>
            <a:cxnLst/>
            <a:rect l="l" t="t" r="r" b="b"/>
            <a:pathLst>
              <a:path w="4114800">
                <a:moveTo>
                  <a:pt x="0" y="0"/>
                </a:moveTo>
                <a:lnTo>
                  <a:pt x="4114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29000" y="48006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19600" y="48006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34000" y="4800600"/>
            <a:ext cx="0" cy="1828800"/>
          </a:xfrm>
          <a:custGeom>
            <a:avLst/>
            <a:gdLst/>
            <a:ahLst/>
            <a:cxnLst/>
            <a:rect l="l" t="t" r="r" b="b"/>
            <a:pathLst>
              <a:path h="1828800">
                <a:moveTo>
                  <a:pt x="0" y="0"/>
                </a:moveTo>
                <a:lnTo>
                  <a:pt x="0" y="1828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2479" y="829944"/>
            <a:ext cx="2479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Renaming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34968"/>
            <a:ext cx="7780655" cy="349757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68300" marR="17780" indent="-342900">
              <a:lnSpc>
                <a:spcPct val="105800"/>
              </a:lnSpc>
              <a:spcBef>
                <a:spcPts val="1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4000" spc="-5" dirty="0">
                <a:latin typeface="Lucida Sans Unicode"/>
                <a:cs typeface="Lucida Sans Unicode"/>
              </a:rPr>
              <a:t>ρ </a:t>
            </a:r>
            <a:r>
              <a:rPr sz="3200" spc="-10" dirty="0">
                <a:latin typeface="Tahoma"/>
                <a:cs typeface="Tahoma"/>
              </a:rPr>
              <a:t>operator gives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new schema to</a:t>
            </a:r>
            <a:r>
              <a:rPr sz="3200" spc="-2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368300" marR="83820" indent="-342900">
              <a:lnSpc>
                <a:spcPct val="101000"/>
              </a:lnSpc>
              <a:spcBef>
                <a:spcPts val="63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R1 := </a:t>
            </a:r>
            <a:r>
              <a:rPr sz="4000" spc="-50" dirty="0">
                <a:latin typeface="Lucida Sans Unicode"/>
                <a:cs typeface="Lucida Sans Unicode"/>
              </a:rPr>
              <a:t>ρ</a:t>
            </a:r>
            <a:r>
              <a:rPr sz="3075" spc="-75" baseline="-17615" dirty="0">
                <a:solidFill>
                  <a:srgbClr val="CC00CC"/>
                </a:solidFill>
                <a:latin typeface="Tahoma"/>
                <a:cs typeface="Tahoma"/>
              </a:rPr>
              <a:t>R1(A1,…,A</a:t>
            </a:r>
            <a:r>
              <a:rPr sz="3225" i="1" spc="-75" baseline="-16795" dirty="0">
                <a:solidFill>
                  <a:srgbClr val="CC00CC"/>
                </a:solidFill>
                <a:latin typeface="Tahoma"/>
                <a:cs typeface="Tahoma"/>
              </a:rPr>
              <a:t>n</a:t>
            </a:r>
            <a:r>
              <a:rPr sz="3075" spc="-75" baseline="-1761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r>
              <a:rPr sz="3200" spc="-50" dirty="0">
                <a:latin typeface="Tahoma"/>
                <a:cs typeface="Tahoma"/>
              </a:rPr>
              <a:t>(R2) </a:t>
            </a:r>
            <a:r>
              <a:rPr sz="3200" spc="-10" dirty="0">
                <a:latin typeface="Tahoma"/>
                <a:cs typeface="Tahoma"/>
              </a:rPr>
              <a:t>makes </a:t>
            </a:r>
            <a:r>
              <a:rPr sz="3200" dirty="0">
                <a:latin typeface="Tahoma"/>
                <a:cs typeface="Tahoma"/>
              </a:rPr>
              <a:t>R1 be a  </a:t>
            </a:r>
            <a:r>
              <a:rPr sz="3200" spc="-5" dirty="0">
                <a:latin typeface="Tahoma"/>
                <a:cs typeface="Tahoma"/>
              </a:rPr>
              <a:t>relation with attributes </a:t>
            </a:r>
            <a:r>
              <a:rPr sz="3200" spc="-45" dirty="0">
                <a:latin typeface="Tahoma"/>
                <a:cs typeface="Tahoma"/>
              </a:rPr>
              <a:t>A1,…,A</a:t>
            </a:r>
            <a:r>
              <a:rPr sz="3350" i="1" spc="-45" dirty="0">
                <a:latin typeface="Tahoma"/>
                <a:cs typeface="Tahoma"/>
              </a:rPr>
              <a:t>n </a:t>
            </a:r>
            <a:r>
              <a:rPr sz="3200" spc="-5" dirty="0">
                <a:latin typeface="Tahoma"/>
                <a:cs typeface="Tahoma"/>
              </a:rPr>
              <a:t>and the  same tuples as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R2.</a:t>
            </a:r>
            <a:endParaRPr sz="3200" dirty="0">
              <a:latin typeface="Tahoma"/>
              <a:cs typeface="Tahoma"/>
            </a:endParaRPr>
          </a:p>
          <a:p>
            <a:pPr marL="427355" indent="-402590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Simplified notation: </a:t>
            </a:r>
            <a:r>
              <a:rPr sz="3200" spc="-125" dirty="0">
                <a:solidFill>
                  <a:srgbClr val="CC00CC"/>
                </a:solidFill>
                <a:latin typeface="Tahoma"/>
                <a:cs typeface="Tahoma"/>
              </a:rPr>
              <a:t>R1(A1,…,A</a:t>
            </a:r>
            <a:r>
              <a:rPr sz="3350" i="1" spc="-125" dirty="0">
                <a:solidFill>
                  <a:srgbClr val="CC00CC"/>
                </a:solidFill>
                <a:latin typeface="Tahoma"/>
                <a:cs typeface="Tahoma"/>
              </a:rPr>
              <a:t>n</a:t>
            </a:r>
            <a:r>
              <a:rPr sz="3200" spc="-125" dirty="0">
                <a:solidFill>
                  <a:srgbClr val="CC00CC"/>
                </a:solidFill>
                <a:latin typeface="Tahoma"/>
                <a:cs typeface="Tahoma"/>
              </a:rPr>
              <a:t>) </a:t>
            </a:r>
            <a:r>
              <a:rPr sz="3200" dirty="0">
                <a:latin typeface="Tahoma"/>
                <a:cs typeface="Tahoma"/>
              </a:rPr>
              <a:t>:=</a:t>
            </a:r>
            <a:r>
              <a:rPr sz="3200" spc="114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R2.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5025" y="829944"/>
            <a:ext cx="49345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15" dirty="0"/>
              <a:t>Renaming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65" y="2046287"/>
            <a:ext cx="3359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3228975" algn="l"/>
              </a:tabLst>
            </a:pPr>
            <a:r>
              <a:rPr sz="2400" spc="1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ar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s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(	na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e,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dd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	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6864" y="2412047"/>
            <a:ext cx="716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Joe’s  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1264" y="2412047"/>
            <a:ext cx="12788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Maple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  River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9237" y="2052637"/>
            <a:ext cx="2295525" cy="1152525"/>
          </a:xfrm>
          <a:custGeom>
            <a:avLst/>
            <a:gdLst/>
            <a:ahLst/>
            <a:cxnLst/>
            <a:rect l="l" t="t" r="r" b="b"/>
            <a:pathLst>
              <a:path w="2295525" h="1152525">
                <a:moveTo>
                  <a:pt x="22955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295525" y="0"/>
                </a:lnTo>
                <a:lnTo>
                  <a:pt x="229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295525" y="1147762"/>
                </a:lnTo>
                <a:lnTo>
                  <a:pt x="2295525" y="1152525"/>
                </a:lnTo>
                <a:close/>
              </a:path>
              <a:path w="22955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95525" h="1152525">
                <a:moveTo>
                  <a:pt x="228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0" y="4762"/>
                </a:lnTo>
                <a:lnTo>
                  <a:pt x="2286000" y="9525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2286000" y="4762"/>
                </a:lnTo>
                <a:lnTo>
                  <a:pt x="2290762" y="9525"/>
                </a:lnTo>
                <a:lnTo>
                  <a:pt x="2295525" y="9525"/>
                </a:lnTo>
                <a:lnTo>
                  <a:pt x="2295525" y="1143000"/>
                </a:lnTo>
                <a:lnTo>
                  <a:pt x="2290762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5525" y="4762"/>
                </a:lnTo>
                <a:lnTo>
                  <a:pt x="2295525" y="9525"/>
                </a:lnTo>
                <a:close/>
              </a:path>
              <a:path w="22955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286000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1147762"/>
                </a:moveTo>
                <a:lnTo>
                  <a:pt x="2286000" y="1147762"/>
                </a:lnTo>
                <a:lnTo>
                  <a:pt x="2290762" y="1143000"/>
                </a:lnTo>
                <a:lnTo>
                  <a:pt x="2295525" y="1143000"/>
                </a:lnTo>
                <a:lnTo>
                  <a:pt x="22955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0" y="24384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38400" y="20574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6489" y="4375150"/>
            <a:ext cx="1297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0715" marR="5080" indent="-628650">
              <a:lnSpc>
                <a:spcPct val="100000"/>
              </a:lnSpc>
              <a:spcBef>
                <a:spcPts val="100"/>
              </a:spcBef>
              <a:tabLst>
                <a:tab pos="640715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R(	</a:t>
            </a:r>
            <a:r>
              <a:rPr sz="2400" spc="-85" dirty="0">
                <a:solidFill>
                  <a:srgbClr val="CC00CC"/>
                </a:solidFill>
                <a:latin typeface="Tahoma"/>
                <a:cs typeface="Tahoma"/>
              </a:rPr>
              <a:t>bar,  </a:t>
            </a:r>
            <a:r>
              <a:rPr sz="2400" dirty="0">
                <a:latin typeface="Tahoma"/>
                <a:cs typeface="Tahoma"/>
              </a:rPr>
              <a:t>Joe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9539" y="4375150"/>
            <a:ext cx="1510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049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dd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	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Maple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5139" y="5106670"/>
            <a:ext cx="716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ue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9539" y="5106670"/>
            <a:ext cx="1249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River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71637" y="4414837"/>
            <a:ext cx="2295525" cy="1152525"/>
          </a:xfrm>
          <a:custGeom>
            <a:avLst/>
            <a:gdLst/>
            <a:ahLst/>
            <a:cxnLst/>
            <a:rect l="l" t="t" r="r" b="b"/>
            <a:pathLst>
              <a:path w="2295525" h="1152525">
                <a:moveTo>
                  <a:pt x="22955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295525" y="0"/>
                </a:lnTo>
                <a:lnTo>
                  <a:pt x="229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295525" y="1147762"/>
                </a:lnTo>
                <a:lnTo>
                  <a:pt x="2295525" y="1152525"/>
                </a:lnTo>
                <a:close/>
              </a:path>
              <a:path w="22955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295525" h="1152525">
                <a:moveTo>
                  <a:pt x="228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0" y="4762"/>
                </a:lnTo>
                <a:lnTo>
                  <a:pt x="2286000" y="9525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2286000" y="4762"/>
                </a:lnTo>
                <a:lnTo>
                  <a:pt x="2290762" y="9525"/>
                </a:lnTo>
                <a:lnTo>
                  <a:pt x="2295525" y="9525"/>
                </a:lnTo>
                <a:lnTo>
                  <a:pt x="2295525" y="1143000"/>
                </a:lnTo>
                <a:lnTo>
                  <a:pt x="2290762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5525" y="4762"/>
                </a:lnTo>
                <a:lnTo>
                  <a:pt x="2295525" y="9525"/>
                </a:lnTo>
                <a:close/>
              </a:path>
              <a:path w="22955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295525" h="1152525">
                <a:moveTo>
                  <a:pt x="22860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286000" y="1143000"/>
                </a:lnTo>
                <a:lnTo>
                  <a:pt x="2286000" y="1147762"/>
                </a:lnTo>
                <a:close/>
              </a:path>
              <a:path w="2295525" h="1152525">
                <a:moveTo>
                  <a:pt x="2295525" y="1147762"/>
                </a:moveTo>
                <a:lnTo>
                  <a:pt x="2286000" y="1147762"/>
                </a:lnTo>
                <a:lnTo>
                  <a:pt x="2290762" y="1143000"/>
                </a:lnTo>
                <a:lnTo>
                  <a:pt x="2295525" y="1143000"/>
                </a:lnTo>
                <a:lnTo>
                  <a:pt x="22955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6400" y="4800600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90800" y="44196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74339" y="3461384"/>
            <a:ext cx="2746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solidFill>
                  <a:srgbClr val="CC00CC"/>
                </a:solidFill>
                <a:highlight>
                  <a:srgbClr val="FFFF00"/>
                </a:highlight>
                <a:latin typeface="Tahoma"/>
                <a:cs typeface="Tahoma"/>
              </a:rPr>
              <a:t>R(bar, </a:t>
            </a:r>
            <a:r>
              <a:rPr sz="2400" spc="-5" dirty="0">
                <a:solidFill>
                  <a:srgbClr val="CC00CC"/>
                </a:solidFill>
                <a:highlight>
                  <a:srgbClr val="FFFF00"/>
                </a:highlight>
                <a:latin typeface="Tahoma"/>
                <a:cs typeface="Tahoma"/>
              </a:rPr>
              <a:t>addr) 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:=</a:t>
            </a:r>
            <a:r>
              <a:rPr sz="2400" spc="-2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Bars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414" y="829944"/>
            <a:ext cx="7329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Building </a:t>
            </a:r>
            <a:r>
              <a:rPr spc="-5" dirty="0"/>
              <a:t>Complex</a:t>
            </a:r>
            <a:r>
              <a:rPr spc="-75" dirty="0"/>
              <a:t> </a:t>
            </a:r>
            <a:r>
              <a:rPr spc="-5" dirty="0"/>
              <a:t>Expressions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784349"/>
            <a:ext cx="7388859" cy="312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18034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Combine </a:t>
            </a:r>
            <a:r>
              <a:rPr sz="3200" spc="-10" dirty="0">
                <a:latin typeface="Tahoma"/>
                <a:cs typeface="Tahoma"/>
              </a:rPr>
              <a:t>operators </a:t>
            </a:r>
            <a:r>
              <a:rPr sz="3200" spc="-5" dirty="0">
                <a:latin typeface="Tahoma"/>
                <a:cs typeface="Tahoma"/>
              </a:rPr>
              <a:t>with parentheses  and precedence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rules.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Three notations, just as in arithmetic:</a:t>
            </a:r>
            <a:endParaRPr sz="3200" dirty="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Sequences of assignment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statements.</a:t>
            </a:r>
            <a:endParaRPr sz="2800" dirty="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Expressions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15" dirty="0">
                <a:latin typeface="Tahoma"/>
                <a:cs typeface="Tahoma"/>
              </a:rPr>
              <a:t>several</a:t>
            </a:r>
            <a:r>
              <a:rPr sz="2800" spc="-10" dirty="0">
                <a:latin typeface="Tahoma"/>
                <a:cs typeface="Tahoma"/>
              </a:rPr>
              <a:t> operators.</a:t>
            </a:r>
            <a:endParaRPr sz="2800" dirty="0">
              <a:latin typeface="Tahoma"/>
              <a:cs typeface="Tahoma"/>
            </a:endParaRPr>
          </a:p>
          <a:p>
            <a:pPr marL="1384300" lvl="1" indent="-457834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384300" algn="l"/>
              </a:tabLst>
            </a:pPr>
            <a:r>
              <a:rPr sz="2800" spc="-5" dirty="0">
                <a:latin typeface="Tahoma"/>
                <a:cs typeface="Tahoma"/>
              </a:rPr>
              <a:t>Expression trees.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160" y="829944"/>
            <a:ext cx="6583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Sequences of</a:t>
            </a:r>
            <a:r>
              <a:rPr spc="-30" dirty="0"/>
              <a:t> </a:t>
            </a:r>
            <a:r>
              <a:rPr spc="-5" dirty="0"/>
              <a:t>Assignments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16556"/>
            <a:ext cx="6711315" cy="40398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Create </a:t>
            </a:r>
            <a:r>
              <a:rPr sz="3200" spc="-10" dirty="0">
                <a:latin typeface="Tahoma"/>
                <a:cs typeface="Tahoma"/>
              </a:rPr>
              <a:t>temporary </a:t>
            </a:r>
            <a:r>
              <a:rPr sz="3200" spc="-5" dirty="0">
                <a:latin typeface="Tahoma"/>
                <a:cs typeface="Tahoma"/>
              </a:rPr>
              <a:t>relation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names.</a:t>
            </a:r>
            <a:endParaRPr sz="3200" dirty="0">
              <a:latin typeface="Tahoma"/>
              <a:cs typeface="Tahoma"/>
            </a:endParaRPr>
          </a:p>
          <a:p>
            <a:pPr marL="368300" marR="177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10" dirty="0">
                <a:latin typeface="Tahoma"/>
                <a:cs typeface="Tahoma"/>
              </a:rPr>
              <a:t>Renaming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implied by giving  relations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of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attributes.</a:t>
            </a:r>
            <a:endParaRPr sz="3200" dirty="0">
              <a:latin typeface="Tahoma"/>
              <a:cs typeface="Tahoma"/>
            </a:endParaRPr>
          </a:p>
          <a:p>
            <a:pPr marL="368300" marR="135890" indent="-342900">
              <a:lnSpc>
                <a:spcPct val="105800"/>
              </a:lnSpc>
              <a:spcBef>
                <a:spcPts val="4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R3 := R1 </a:t>
            </a:r>
            <a:r>
              <a:rPr sz="4000" spc="-95" dirty="0">
                <a:latin typeface="Lucida Sans Unicode"/>
                <a:cs typeface="Lucida Sans Unicode"/>
              </a:rPr>
              <a:t>⋈</a:t>
            </a:r>
            <a:r>
              <a:rPr sz="3225" i="1" spc="-142" baseline="-16795" dirty="0">
                <a:latin typeface="Tahoma"/>
                <a:cs typeface="Tahoma"/>
              </a:rPr>
              <a:t>C </a:t>
            </a:r>
            <a:r>
              <a:rPr sz="3200" dirty="0">
                <a:latin typeface="Tahoma"/>
                <a:cs typeface="Tahoma"/>
              </a:rPr>
              <a:t>R2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written:</a:t>
            </a:r>
            <a:endParaRPr sz="3200" dirty="0">
              <a:latin typeface="Tahoma"/>
              <a:cs typeface="Tahoma"/>
            </a:endParaRPr>
          </a:p>
          <a:p>
            <a:pPr marL="482600">
              <a:lnSpc>
                <a:spcPct val="100000"/>
              </a:lnSpc>
              <a:spcBef>
                <a:spcPts val="480"/>
              </a:spcBef>
            </a:pPr>
            <a:r>
              <a:rPr sz="2800" spc="-5" dirty="0">
                <a:latin typeface="Tahoma"/>
                <a:cs typeface="Tahoma"/>
              </a:rPr>
              <a:t>R4 := R1 </a:t>
            </a:r>
            <a:r>
              <a:rPr sz="2800" spc="-5" dirty="0">
                <a:latin typeface="Lucida Sans Unicode"/>
                <a:cs typeface="Lucida Sans Unicode"/>
              </a:rPr>
              <a:t>Χ </a:t>
            </a:r>
            <a:r>
              <a:rPr sz="2800" spc="-5" dirty="0">
                <a:latin typeface="Tahoma"/>
                <a:cs typeface="Tahoma"/>
              </a:rPr>
              <a:t>R2</a:t>
            </a:r>
            <a:endParaRPr sz="2800" dirty="0">
              <a:latin typeface="Tahoma"/>
              <a:cs typeface="Tahoma"/>
            </a:endParaRPr>
          </a:p>
          <a:p>
            <a:pPr marL="482600">
              <a:lnSpc>
                <a:spcPct val="100000"/>
              </a:lnSpc>
              <a:spcBef>
                <a:spcPts val="800"/>
              </a:spcBef>
            </a:pPr>
            <a:r>
              <a:rPr sz="2800" spc="-5" dirty="0">
                <a:latin typeface="Tahoma"/>
                <a:cs typeface="Tahoma"/>
              </a:rPr>
              <a:t>R3 :=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3600" spc="-35" dirty="0">
                <a:latin typeface="Lucida Sans Unicode"/>
                <a:cs typeface="Lucida Sans Unicode"/>
              </a:rPr>
              <a:t>σ</a:t>
            </a:r>
            <a:r>
              <a:rPr sz="2850" i="1" spc="-52" baseline="-16081" dirty="0">
                <a:latin typeface="Tahoma"/>
                <a:cs typeface="Tahoma"/>
              </a:rPr>
              <a:t>C</a:t>
            </a:r>
            <a:r>
              <a:rPr sz="2800" spc="-35" dirty="0">
                <a:latin typeface="Tahoma"/>
                <a:cs typeface="Tahoma"/>
              </a:rPr>
              <a:t>(R4)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95" y="601344"/>
            <a:ext cx="8665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Expressions in </a:t>
            </a:r>
            <a:r>
              <a:rPr dirty="0"/>
              <a:t>a </a:t>
            </a:r>
            <a:r>
              <a:rPr spc="-5" dirty="0"/>
              <a:t>Single</a:t>
            </a:r>
            <a:r>
              <a:rPr spc="-45" dirty="0"/>
              <a:t> </a:t>
            </a:r>
            <a:r>
              <a:rPr spc="-5" dirty="0"/>
              <a:t>Assignment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94640" y="1673860"/>
            <a:ext cx="8040370" cy="403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0" marR="17780" indent="-6096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Font typeface="Wingdings"/>
              <a:buChar char=""/>
              <a:tabLst>
                <a:tab pos="634365" algn="l"/>
                <a:tab pos="63500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the theta-join </a:t>
            </a:r>
            <a:r>
              <a:rPr sz="3200" dirty="0">
                <a:latin typeface="Tahoma"/>
                <a:cs typeface="Tahoma"/>
              </a:rPr>
              <a:t>R3 := R1 </a:t>
            </a:r>
            <a:r>
              <a:rPr sz="4000" spc="-95" dirty="0">
                <a:latin typeface="Lucida Sans Unicode"/>
                <a:cs typeface="Lucida Sans Unicode"/>
              </a:rPr>
              <a:t>⋈</a:t>
            </a:r>
            <a:r>
              <a:rPr sz="3225" i="1" spc="-142" baseline="-16795" dirty="0">
                <a:latin typeface="Tahoma"/>
                <a:cs typeface="Tahoma"/>
              </a:rPr>
              <a:t>C </a:t>
            </a:r>
            <a:r>
              <a:rPr sz="3200" dirty="0">
                <a:latin typeface="Tahoma"/>
                <a:cs typeface="Tahoma"/>
              </a:rPr>
              <a:t>R2 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written: </a:t>
            </a:r>
            <a:r>
              <a:rPr sz="3200" dirty="0">
                <a:latin typeface="Tahoma"/>
                <a:cs typeface="Tahoma"/>
              </a:rPr>
              <a:t>R3 := </a:t>
            </a:r>
            <a:r>
              <a:rPr sz="4000" spc="-95" dirty="0">
                <a:latin typeface="Lucida Sans Unicode"/>
                <a:cs typeface="Lucida Sans Unicode"/>
              </a:rPr>
              <a:t>σ</a:t>
            </a:r>
            <a:r>
              <a:rPr sz="3225" i="1" spc="-142" baseline="-16795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(R1 </a:t>
            </a:r>
            <a:r>
              <a:rPr sz="3200" dirty="0">
                <a:latin typeface="Lucida Sans Unicode"/>
                <a:cs typeface="Lucida Sans Unicode"/>
              </a:rPr>
              <a:t>Χ</a:t>
            </a:r>
            <a:r>
              <a:rPr sz="3200" spc="-290" dirty="0">
                <a:latin typeface="Lucida Sans Unicode"/>
                <a:cs typeface="Lucida Sans Unicode"/>
              </a:rPr>
              <a:t> </a:t>
            </a:r>
            <a:r>
              <a:rPr sz="3200" spc="-5" dirty="0">
                <a:latin typeface="Tahoma"/>
                <a:cs typeface="Tahoma"/>
              </a:rPr>
              <a:t>R2)</a:t>
            </a:r>
            <a:endParaRPr sz="3200" dirty="0">
              <a:latin typeface="Tahoma"/>
              <a:cs typeface="Tahoma"/>
            </a:endParaRPr>
          </a:p>
          <a:p>
            <a:pPr marL="635000" indent="-609600">
              <a:lnSpc>
                <a:spcPct val="100000"/>
              </a:lnSpc>
              <a:spcBef>
                <a:spcPts val="1045"/>
              </a:spcBef>
              <a:buClr>
                <a:srgbClr val="CC00CC"/>
              </a:buClr>
              <a:buFont typeface="Wingdings"/>
              <a:buChar char=""/>
              <a:tabLst>
                <a:tab pos="634365" algn="l"/>
                <a:tab pos="635000" algn="l"/>
              </a:tabLst>
            </a:pPr>
            <a:r>
              <a:rPr sz="3200" spc="-5" dirty="0">
                <a:latin typeface="Tahoma"/>
                <a:cs typeface="Tahoma"/>
              </a:rPr>
              <a:t>Precedence of relational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operators:</a:t>
            </a:r>
            <a:endParaRPr sz="3200" dirty="0">
              <a:latin typeface="Tahoma"/>
              <a:cs typeface="Tahoma"/>
            </a:endParaRPr>
          </a:p>
          <a:p>
            <a:pPr marL="939800" marR="3453129" lvl="1">
              <a:lnSpc>
                <a:spcPts val="4610"/>
              </a:lnSpc>
              <a:spcBef>
                <a:spcPts val="55"/>
              </a:spcBef>
              <a:buClr>
                <a:srgbClr val="CC00CC"/>
              </a:buClr>
              <a:buAutoNum type="arabicPeriod"/>
              <a:tabLst>
                <a:tab pos="1397000" algn="l"/>
              </a:tabLst>
            </a:pPr>
            <a:r>
              <a:rPr sz="2800" spc="-5" dirty="0">
                <a:latin typeface="Tahoma"/>
                <a:cs typeface="Tahoma"/>
              </a:rPr>
              <a:t>[</a:t>
            </a:r>
            <a:r>
              <a:rPr sz="3200" spc="-5" dirty="0">
                <a:latin typeface="Lucida Sans Unicode"/>
                <a:cs typeface="Lucida Sans Unicode"/>
              </a:rPr>
              <a:t>σ</a:t>
            </a:r>
            <a:r>
              <a:rPr sz="2800" spc="-5" dirty="0">
                <a:latin typeface="Tahoma"/>
                <a:cs typeface="Tahoma"/>
              </a:rPr>
              <a:t>, </a:t>
            </a:r>
            <a:r>
              <a:rPr sz="3200" spc="-5" dirty="0">
                <a:latin typeface="Lucida Sans Unicode"/>
                <a:cs typeface="Lucida Sans Unicode"/>
              </a:rPr>
              <a:t>π</a:t>
            </a:r>
            <a:r>
              <a:rPr sz="2800" spc="-5" dirty="0">
                <a:latin typeface="Tahoma"/>
                <a:cs typeface="Tahoma"/>
              </a:rPr>
              <a:t>, </a:t>
            </a:r>
            <a:r>
              <a:rPr sz="3200" spc="-5" dirty="0">
                <a:latin typeface="Lucida Sans Unicode"/>
                <a:cs typeface="Lucida Sans Unicode"/>
              </a:rPr>
              <a:t>ρ</a:t>
            </a:r>
            <a:r>
              <a:rPr sz="2800" spc="-5" dirty="0">
                <a:latin typeface="Tahoma"/>
                <a:cs typeface="Tahoma"/>
              </a:rPr>
              <a:t>]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(highest).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2. </a:t>
            </a:r>
            <a:r>
              <a:rPr sz="2800" spc="-5" dirty="0">
                <a:latin typeface="Tahoma"/>
                <a:cs typeface="Tahoma"/>
              </a:rPr>
              <a:t>[</a:t>
            </a:r>
            <a:r>
              <a:rPr sz="2400" spc="-5" dirty="0">
                <a:latin typeface="Lucida Sans Unicode"/>
                <a:cs typeface="Lucida Sans Unicode"/>
              </a:rPr>
              <a:t>Χ</a:t>
            </a:r>
            <a:r>
              <a:rPr sz="2800" spc="-5" dirty="0">
                <a:latin typeface="Tahoma"/>
                <a:cs typeface="Tahoma"/>
              </a:rPr>
              <a:t>,</a:t>
            </a:r>
            <a:r>
              <a:rPr sz="2800" spc="-530" dirty="0">
                <a:latin typeface="Tahoma"/>
                <a:cs typeface="Tahoma"/>
              </a:rPr>
              <a:t> </a:t>
            </a:r>
            <a:r>
              <a:rPr sz="3200" spc="-5" dirty="0">
                <a:latin typeface="Lucida Sans Unicode"/>
                <a:cs typeface="Lucida Sans Unicode"/>
              </a:rPr>
              <a:t>⋈</a:t>
            </a:r>
            <a:r>
              <a:rPr sz="2800" spc="-5" dirty="0">
                <a:latin typeface="Tahoma"/>
                <a:cs typeface="Tahoma"/>
              </a:rPr>
              <a:t>].</a:t>
            </a:r>
            <a:endParaRPr sz="2800" dirty="0">
              <a:latin typeface="Tahoma"/>
              <a:cs typeface="Tahoma"/>
            </a:endParaRPr>
          </a:p>
          <a:p>
            <a:pPr marL="939800">
              <a:lnSpc>
                <a:spcPct val="100000"/>
              </a:lnSpc>
              <a:spcBef>
                <a:spcPts val="415"/>
              </a:spcBef>
            </a:pPr>
            <a:r>
              <a:rPr sz="2800" spc="-5" dirty="0">
                <a:solidFill>
                  <a:srgbClr val="CC00CC"/>
                </a:solidFill>
                <a:latin typeface="Lucida Sans Unicode"/>
                <a:cs typeface="Lucida Sans Unicode"/>
              </a:rPr>
              <a:t>3.</a:t>
            </a:r>
            <a:r>
              <a:rPr sz="2800" spc="50" dirty="0">
                <a:solidFill>
                  <a:srgbClr val="CC00CC"/>
                </a:solidFill>
                <a:latin typeface="Lucida Sans Unicode"/>
                <a:cs typeface="Lucida Sans Unicode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∩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9398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4. </a:t>
            </a:r>
            <a:r>
              <a:rPr sz="2800" spc="-5" dirty="0">
                <a:latin typeface="Tahoma"/>
                <a:cs typeface="Tahoma"/>
              </a:rPr>
              <a:t>[</a:t>
            </a:r>
            <a:r>
              <a:rPr sz="2800" spc="-5" dirty="0">
                <a:latin typeface="Lucida Sans Unicode"/>
                <a:cs typeface="Lucida Sans Unicode"/>
              </a:rPr>
              <a:t>∪</a:t>
            </a:r>
            <a:r>
              <a:rPr sz="2800" spc="-5" dirty="0">
                <a:latin typeface="Tahoma"/>
                <a:cs typeface="Tahoma"/>
              </a:rPr>
              <a:t>,</a:t>
            </a:r>
            <a:r>
              <a:rPr sz="2800" spc="-525" dirty="0">
                <a:latin typeface="Tahoma"/>
                <a:cs typeface="Tahoma"/>
              </a:rPr>
              <a:t> </a:t>
            </a:r>
            <a:r>
              <a:rPr sz="2800" spc="-5" dirty="0">
                <a:latin typeface="Lucida Sans Unicode"/>
                <a:cs typeface="Lucida Sans Unicode"/>
              </a:rPr>
              <a:t>—</a:t>
            </a:r>
            <a:r>
              <a:rPr sz="2800" spc="-5" dirty="0">
                <a:latin typeface="Tahoma"/>
                <a:cs typeface="Tahoma"/>
              </a:rPr>
              <a:t>]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9995" y="829944"/>
            <a:ext cx="4144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Expression</a:t>
            </a:r>
            <a:r>
              <a:rPr spc="-90" dirty="0"/>
              <a:t> Trees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8245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Leaves are operands </a:t>
            </a:r>
            <a:r>
              <a:rPr sz="3200" dirty="0">
                <a:latin typeface="Tahoma"/>
                <a:cs typeface="Tahoma"/>
              </a:rPr>
              <a:t>--- </a:t>
            </a:r>
            <a:r>
              <a:rPr sz="3200" spc="-5" dirty="0">
                <a:latin typeface="Tahoma"/>
                <a:cs typeface="Tahoma"/>
              </a:rPr>
              <a:t>either </a:t>
            </a:r>
            <a:r>
              <a:rPr sz="3200" spc="-10" dirty="0">
                <a:latin typeface="Tahoma"/>
                <a:cs typeface="Tahoma"/>
              </a:rPr>
              <a:t>variables  </a:t>
            </a:r>
            <a:r>
              <a:rPr sz="3200" spc="-5" dirty="0">
                <a:latin typeface="Tahoma"/>
                <a:cs typeface="Tahoma"/>
              </a:rPr>
              <a:t>standing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relations or </a:t>
            </a:r>
            <a:r>
              <a:rPr sz="3200" spc="-45" dirty="0">
                <a:latin typeface="Tahoma"/>
                <a:cs typeface="Tahoma"/>
              </a:rPr>
              <a:t>particular,  </a:t>
            </a:r>
            <a:r>
              <a:rPr sz="3200" spc="-5" dirty="0">
                <a:latin typeface="Tahoma"/>
                <a:cs typeface="Tahoma"/>
              </a:rPr>
              <a:t>constant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relations.</a:t>
            </a:r>
            <a:endParaRPr sz="3200" dirty="0">
              <a:latin typeface="Tahoma"/>
              <a:cs typeface="Tahoma"/>
            </a:endParaRPr>
          </a:p>
          <a:p>
            <a:pPr marL="355600" marR="539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Interior nodes </a:t>
            </a:r>
            <a:r>
              <a:rPr sz="3200" spc="-10" dirty="0">
                <a:latin typeface="Tahoma"/>
                <a:cs typeface="Tahoma"/>
              </a:rPr>
              <a:t>are operators, </a:t>
            </a:r>
            <a:r>
              <a:rPr sz="3200" spc="-5" dirty="0">
                <a:latin typeface="Tahoma"/>
                <a:cs typeface="Tahoma"/>
              </a:rPr>
              <a:t>applied to  their child or children.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3814" y="829944"/>
            <a:ext cx="6517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10" dirty="0"/>
              <a:t>Tree </a:t>
            </a:r>
            <a:r>
              <a:rPr spc="-20" dirty="0"/>
              <a:t>for </a:t>
            </a:r>
            <a:r>
              <a:rPr dirty="0"/>
              <a:t>a</a:t>
            </a:r>
            <a:r>
              <a:rPr spc="70" dirty="0"/>
              <a:t> </a:t>
            </a:r>
            <a:r>
              <a:rPr spc="-5" dirty="0"/>
              <a:t>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1680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the relations 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Bars(name,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addr) </a:t>
            </a:r>
            <a:r>
              <a:rPr sz="3200" spc="-5" dirty="0">
                <a:latin typeface="Tahoma"/>
                <a:cs typeface="Tahoma"/>
              </a:rPr>
              <a:t> and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 names of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bars that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either </a:t>
            </a:r>
            <a:r>
              <a:rPr sz="3200" dirty="0">
                <a:latin typeface="Tahoma"/>
                <a:cs typeface="Tahoma"/>
              </a:rPr>
              <a:t>on  </a:t>
            </a:r>
            <a:r>
              <a:rPr sz="3200" spc="-5" dirty="0">
                <a:latin typeface="Tahoma"/>
                <a:cs typeface="Tahoma"/>
              </a:rPr>
              <a:t>Maple St. or sell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less than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$3.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6604" y="829944"/>
            <a:ext cx="2511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 a</a:t>
            </a:r>
            <a:r>
              <a:rPr spc="-100" dirty="0"/>
              <a:t> </a:t>
            </a:r>
            <a:r>
              <a:rPr spc="-90" dirty="0"/>
              <a:t>Tree: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8939" y="5899784"/>
            <a:ext cx="61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ars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3740" y="5899784"/>
            <a:ext cx="632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1200" y="53340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58740" y="4706620"/>
            <a:ext cx="263144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0" baseline="6944" dirty="0">
                <a:latin typeface="Lucida Sans Unicode"/>
                <a:cs typeface="Lucida Sans Unicode"/>
              </a:rPr>
              <a:t>σ</a:t>
            </a:r>
            <a:r>
              <a:rPr sz="1550" spc="-5" dirty="0">
                <a:latin typeface="Tahoma"/>
                <a:cs typeface="Tahoma"/>
              </a:rPr>
              <a:t>pri</a:t>
            </a:r>
            <a:r>
              <a:rPr sz="1550" dirty="0">
                <a:latin typeface="Tahoma"/>
                <a:cs typeface="Tahoma"/>
              </a:rPr>
              <a:t>ce</a:t>
            </a:r>
            <a:r>
              <a:rPr sz="1550" spc="5" dirty="0">
                <a:latin typeface="Tahoma"/>
                <a:cs typeface="Tahoma"/>
              </a:rPr>
              <a:t>&lt;3</a:t>
            </a:r>
            <a:r>
              <a:rPr sz="1550" dirty="0">
                <a:latin typeface="Tahoma"/>
                <a:cs typeface="Tahoma"/>
              </a:rPr>
              <a:t> AN</a:t>
            </a:r>
            <a:r>
              <a:rPr sz="1550" spc="5" dirty="0">
                <a:latin typeface="Tahoma"/>
                <a:cs typeface="Tahoma"/>
              </a:rPr>
              <a:t>D </a:t>
            </a:r>
            <a:r>
              <a:rPr sz="1550" spc="-5" dirty="0">
                <a:latin typeface="Tahoma"/>
                <a:cs typeface="Tahoma"/>
              </a:rPr>
              <a:t>beer</a:t>
            </a:r>
            <a:r>
              <a:rPr sz="1550" spc="5" dirty="0">
                <a:latin typeface="Tahoma"/>
                <a:cs typeface="Tahoma"/>
              </a:rPr>
              <a:t>=</a:t>
            </a:r>
            <a:r>
              <a:rPr sz="1550" spc="-5" dirty="0">
                <a:latin typeface="Tahoma"/>
                <a:cs typeface="Tahoma"/>
              </a:rPr>
              <a:t>“</a:t>
            </a:r>
            <a:r>
              <a:rPr sz="1550" spc="15" dirty="0">
                <a:latin typeface="Tahoma"/>
                <a:cs typeface="Tahoma"/>
              </a:rPr>
              <a:t>B</a:t>
            </a:r>
            <a:r>
              <a:rPr sz="1550" spc="5" dirty="0">
                <a:latin typeface="Tahoma"/>
                <a:cs typeface="Tahoma"/>
              </a:rPr>
              <a:t>u</a:t>
            </a:r>
            <a:r>
              <a:rPr sz="1550" dirty="0">
                <a:latin typeface="Tahoma"/>
                <a:cs typeface="Tahoma"/>
              </a:rPr>
              <a:t>d”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0" y="531495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72539" y="3639820"/>
            <a:ext cx="2023110" cy="17011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95"/>
              </a:spcBef>
            </a:pPr>
            <a:r>
              <a:rPr sz="6000" spc="-7" baseline="6944" dirty="0">
                <a:latin typeface="Lucida Sans Unicode"/>
                <a:cs typeface="Lucida Sans Unicode"/>
              </a:rPr>
              <a:t>π</a:t>
            </a:r>
            <a:r>
              <a:rPr sz="1550" spc="5" dirty="0">
                <a:latin typeface="Tahoma"/>
                <a:cs typeface="Tahoma"/>
              </a:rPr>
              <a:t>na</a:t>
            </a:r>
            <a:r>
              <a:rPr sz="1550" dirty="0">
                <a:latin typeface="Tahoma"/>
                <a:cs typeface="Tahoma"/>
              </a:rPr>
              <a:t>m</a:t>
            </a:r>
            <a:r>
              <a:rPr sz="1550" spc="5" dirty="0">
                <a:latin typeface="Tahoma"/>
                <a:cs typeface="Tahoma"/>
              </a:rPr>
              <a:t>e</a:t>
            </a:r>
            <a:endParaRPr sz="155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600"/>
              </a:spcBef>
            </a:pPr>
            <a:r>
              <a:rPr sz="6000" baseline="6944" dirty="0">
                <a:latin typeface="Lucida Sans Unicode"/>
                <a:cs typeface="Lucida Sans Unicode"/>
              </a:rPr>
              <a:t>σ</a:t>
            </a:r>
            <a:r>
              <a:rPr sz="1550" spc="5" dirty="0">
                <a:latin typeface="Tahoma"/>
                <a:cs typeface="Tahoma"/>
              </a:rPr>
              <a:t>a</a:t>
            </a:r>
            <a:r>
              <a:rPr sz="1550" dirty="0">
                <a:latin typeface="Tahoma"/>
                <a:cs typeface="Tahoma"/>
              </a:rPr>
              <a:t>ddr </a:t>
            </a:r>
            <a:r>
              <a:rPr sz="1550" spc="5" dirty="0">
                <a:latin typeface="Tahoma"/>
                <a:cs typeface="Tahoma"/>
              </a:rPr>
              <a:t>= </a:t>
            </a:r>
            <a:r>
              <a:rPr sz="1550" dirty="0">
                <a:latin typeface="Tahoma"/>
                <a:cs typeface="Tahoma"/>
              </a:rPr>
              <a:t>“M</a:t>
            </a:r>
            <a:r>
              <a:rPr sz="1550" spc="5" dirty="0">
                <a:latin typeface="Tahoma"/>
                <a:cs typeface="Tahoma"/>
              </a:rPr>
              <a:t>a</a:t>
            </a:r>
            <a:r>
              <a:rPr sz="1550" spc="-5" dirty="0">
                <a:latin typeface="Tahoma"/>
                <a:cs typeface="Tahoma"/>
              </a:rPr>
              <a:t>pl</a:t>
            </a:r>
            <a:r>
              <a:rPr sz="1550" spc="5" dirty="0">
                <a:latin typeface="Tahoma"/>
                <a:cs typeface="Tahoma"/>
              </a:rPr>
              <a:t>e</a:t>
            </a:r>
            <a:r>
              <a:rPr sz="1550" dirty="0">
                <a:latin typeface="Tahoma"/>
                <a:cs typeface="Tahoma"/>
              </a:rPr>
              <a:t> </a:t>
            </a:r>
            <a:r>
              <a:rPr sz="1550" spc="5" dirty="0">
                <a:latin typeface="Tahoma"/>
                <a:cs typeface="Tahoma"/>
              </a:rPr>
              <a:t>S</a:t>
            </a:r>
            <a:r>
              <a:rPr sz="1550" spc="-5" dirty="0">
                <a:latin typeface="Tahoma"/>
                <a:cs typeface="Tahoma"/>
              </a:rPr>
              <a:t>t</a:t>
            </a:r>
            <a:r>
              <a:rPr sz="1550" spc="-245" dirty="0">
                <a:latin typeface="Tahoma"/>
                <a:cs typeface="Tahoma"/>
              </a:rPr>
              <a:t>.</a:t>
            </a:r>
            <a:r>
              <a:rPr sz="1550" dirty="0">
                <a:latin typeface="Tahoma"/>
                <a:cs typeface="Tahoma"/>
              </a:rPr>
              <a:t>”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1200" y="424815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96000" y="31242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6000" y="42672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04640" y="1597660"/>
            <a:ext cx="2497455" cy="2676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Lucida Sans Unicode"/>
                <a:cs typeface="Lucida Sans Unicode"/>
              </a:rPr>
              <a:t>∪</a:t>
            </a:r>
            <a:endParaRPr sz="4000">
              <a:latin typeface="Lucida Sans Unicode"/>
              <a:cs typeface="Lucida Sans Unicode"/>
            </a:endParaRPr>
          </a:p>
          <a:p>
            <a:pPr marL="1549400" marR="17780" indent="-152400">
              <a:lnSpc>
                <a:spcPts val="8400"/>
              </a:lnSpc>
              <a:spcBef>
                <a:spcPts val="160"/>
              </a:spcBef>
            </a:pPr>
            <a:r>
              <a:rPr sz="6000" spc="-7" baseline="6944" dirty="0">
                <a:latin typeface="Lucida Sans Unicode"/>
                <a:cs typeface="Lucida Sans Unicode"/>
              </a:rPr>
              <a:t>ρ</a:t>
            </a:r>
            <a:r>
              <a:rPr sz="1550" spc="5" dirty="0">
                <a:solidFill>
                  <a:srgbClr val="CC00CC"/>
                </a:solidFill>
                <a:latin typeface="Tahoma"/>
                <a:cs typeface="Tahoma"/>
              </a:rPr>
              <a:t>R</a:t>
            </a:r>
            <a:r>
              <a:rPr sz="1550" spc="-5" dirty="0">
                <a:solidFill>
                  <a:srgbClr val="CC00CC"/>
                </a:solidFill>
                <a:latin typeface="Tahoma"/>
                <a:cs typeface="Tahoma"/>
              </a:rPr>
              <a:t>(</a:t>
            </a:r>
            <a:r>
              <a:rPr sz="1550" spc="5" dirty="0">
                <a:solidFill>
                  <a:srgbClr val="CC00CC"/>
                </a:solidFill>
                <a:latin typeface="Tahoma"/>
                <a:cs typeface="Tahoma"/>
              </a:rPr>
              <a:t>na</a:t>
            </a:r>
            <a:r>
              <a:rPr sz="1550" dirty="0">
                <a:solidFill>
                  <a:srgbClr val="CC00CC"/>
                </a:solidFill>
                <a:latin typeface="Tahoma"/>
                <a:cs typeface="Tahoma"/>
              </a:rPr>
              <a:t>me)  </a:t>
            </a:r>
            <a:r>
              <a:rPr sz="6000" spc="-7" baseline="6944" dirty="0">
                <a:latin typeface="Lucida Sans Unicode"/>
                <a:cs typeface="Lucida Sans Unicode"/>
              </a:rPr>
              <a:t>π</a:t>
            </a:r>
            <a:r>
              <a:rPr sz="1550" dirty="0">
                <a:latin typeface="Tahoma"/>
                <a:cs typeface="Tahoma"/>
              </a:rPr>
              <a:t>bar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8596" y="2205812"/>
            <a:ext cx="2215515" cy="1456055"/>
          </a:xfrm>
          <a:custGeom>
            <a:avLst/>
            <a:gdLst/>
            <a:ahLst/>
            <a:cxnLst/>
            <a:rect l="l" t="t" r="r" b="b"/>
            <a:pathLst>
              <a:path w="2215515" h="1456054">
                <a:moveTo>
                  <a:pt x="5219" y="1455775"/>
                </a:moveTo>
                <a:lnTo>
                  <a:pt x="0" y="1447799"/>
                </a:lnTo>
                <a:lnTo>
                  <a:pt x="2209787" y="0"/>
                </a:lnTo>
                <a:lnTo>
                  <a:pt x="2215019" y="7975"/>
                </a:lnTo>
                <a:lnTo>
                  <a:pt x="5219" y="14557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94491" y="2205215"/>
            <a:ext cx="1603375" cy="466725"/>
          </a:xfrm>
          <a:custGeom>
            <a:avLst/>
            <a:gdLst/>
            <a:ahLst/>
            <a:cxnLst/>
            <a:rect l="l" t="t" r="r" b="b"/>
            <a:pathLst>
              <a:path w="1603375" h="466725">
                <a:moveTo>
                  <a:pt x="1600200" y="466369"/>
                </a:moveTo>
                <a:lnTo>
                  <a:pt x="0" y="9169"/>
                </a:lnTo>
                <a:lnTo>
                  <a:pt x="2616" y="0"/>
                </a:lnTo>
                <a:lnTo>
                  <a:pt x="1602816" y="457200"/>
                </a:lnTo>
                <a:lnTo>
                  <a:pt x="1600200" y="466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8860" y="829944"/>
            <a:ext cx="4526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40" dirty="0"/>
              <a:t> </a:t>
            </a:r>
            <a:r>
              <a:rPr spc="-45" dirty="0"/>
              <a:t>Self-Join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12949"/>
            <a:ext cx="7827009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bars  that sell two </a:t>
            </a:r>
            <a:r>
              <a:rPr sz="3200" spc="-15" dirty="0">
                <a:latin typeface="Tahoma"/>
                <a:cs typeface="Tahoma"/>
              </a:rPr>
              <a:t>different </a:t>
            </a:r>
            <a:r>
              <a:rPr sz="3200" spc="-5" dirty="0">
                <a:latin typeface="Tahoma"/>
                <a:cs typeface="Tahoma"/>
              </a:rPr>
              <a:t>beers at the same  price.</a:t>
            </a:r>
            <a:endParaRPr sz="3200" dirty="0">
              <a:latin typeface="Tahoma"/>
              <a:cs typeface="Tahoma"/>
            </a:endParaRPr>
          </a:p>
          <a:p>
            <a:pPr marL="355600" marR="4635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6398260" algn="l"/>
              </a:tabLst>
            </a:pPr>
            <a:r>
              <a:rPr sz="3200" spc="-10" dirty="0">
                <a:solidFill>
                  <a:srgbClr val="993300"/>
                </a:solidFill>
                <a:latin typeface="Tahoma"/>
                <a:cs typeface="Tahoma"/>
              </a:rPr>
              <a:t>Strategy</a:t>
            </a:r>
            <a:r>
              <a:rPr sz="3200" spc="-10" dirty="0">
                <a:latin typeface="Tahoma"/>
                <a:cs typeface="Tahoma"/>
              </a:rPr>
              <a:t>: </a:t>
            </a:r>
            <a:r>
              <a:rPr sz="3200" spc="-5" dirty="0">
                <a:latin typeface="Tahoma"/>
                <a:cs typeface="Tahoma"/>
              </a:rPr>
              <a:t>by renaming, define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copy of  Sells, called </a:t>
            </a:r>
            <a:r>
              <a:rPr sz="3200" spc="-75" dirty="0">
                <a:solidFill>
                  <a:srgbClr val="CC00CC"/>
                </a:solidFill>
                <a:latin typeface="Tahoma"/>
                <a:cs typeface="Tahoma"/>
              </a:rPr>
              <a:t>S(bar,</a:t>
            </a:r>
            <a:r>
              <a:rPr sz="3200" spc="5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beer1,</a:t>
            </a:r>
            <a:r>
              <a:rPr sz="3200" spc="1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.	The  </a:t>
            </a:r>
            <a:r>
              <a:rPr sz="3200" spc="-10" dirty="0">
                <a:latin typeface="Tahoma"/>
                <a:cs typeface="Tahoma"/>
              </a:rPr>
              <a:t>natural </a:t>
            </a:r>
            <a:r>
              <a:rPr sz="3200" spc="-5" dirty="0">
                <a:latin typeface="Tahoma"/>
                <a:cs typeface="Tahoma"/>
              </a:rPr>
              <a:t>join of </a:t>
            </a:r>
            <a:r>
              <a:rPr sz="3200" dirty="0"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consists of  quadruples </a:t>
            </a:r>
            <a:r>
              <a:rPr sz="3200" spc="-90" dirty="0">
                <a:latin typeface="Tahoma"/>
                <a:cs typeface="Tahoma"/>
              </a:rPr>
              <a:t>(bar, beer, </a:t>
            </a:r>
            <a:r>
              <a:rPr sz="3200" spc="-5" dirty="0">
                <a:latin typeface="Tahoma"/>
                <a:cs typeface="Tahoma"/>
              </a:rPr>
              <a:t>beer1, price) such  that the bar sells both beers at this</a:t>
            </a:r>
            <a:r>
              <a:rPr sz="3200" spc="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price.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354" y="829944"/>
            <a:ext cx="2193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</a:t>
            </a:r>
            <a:r>
              <a:rPr spc="-85" dirty="0"/>
              <a:t> </a:t>
            </a:r>
            <a:r>
              <a:rPr spc="-11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139" y="5823584"/>
            <a:ext cx="632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9940" y="5823584"/>
            <a:ext cx="632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5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ls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2200" y="523875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60815" y="4186440"/>
            <a:ext cx="1755775" cy="542925"/>
          </a:xfrm>
          <a:custGeom>
            <a:avLst/>
            <a:gdLst/>
            <a:ahLst/>
            <a:cxnLst/>
            <a:rect l="l" t="t" r="r" b="b"/>
            <a:pathLst>
              <a:path w="1755775" h="542925">
                <a:moveTo>
                  <a:pt x="2768" y="542518"/>
                </a:moveTo>
                <a:lnTo>
                  <a:pt x="0" y="533400"/>
                </a:lnTo>
                <a:lnTo>
                  <a:pt x="1752600" y="0"/>
                </a:lnTo>
                <a:lnTo>
                  <a:pt x="1755368" y="9118"/>
                </a:lnTo>
                <a:lnTo>
                  <a:pt x="2768" y="542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16387" y="4187481"/>
            <a:ext cx="1759585" cy="1607820"/>
          </a:xfrm>
          <a:custGeom>
            <a:avLst/>
            <a:gdLst/>
            <a:ahLst/>
            <a:cxnLst/>
            <a:rect l="l" t="t" r="r" b="b"/>
            <a:pathLst>
              <a:path w="1759585" h="1607820">
                <a:moveTo>
                  <a:pt x="1752600" y="1607235"/>
                </a:moveTo>
                <a:lnTo>
                  <a:pt x="0" y="7035"/>
                </a:lnTo>
                <a:lnTo>
                  <a:pt x="6426" y="0"/>
                </a:lnTo>
                <a:lnTo>
                  <a:pt x="1759026" y="1600200"/>
                </a:lnTo>
                <a:lnTo>
                  <a:pt x="1752600" y="1607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67200" y="22098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88439" y="1658619"/>
            <a:ext cx="3734435" cy="3606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5320" algn="ctr">
              <a:lnSpc>
                <a:spcPct val="100000"/>
              </a:lnSpc>
              <a:spcBef>
                <a:spcPts val="95"/>
              </a:spcBef>
            </a:pPr>
            <a:r>
              <a:rPr sz="6000" spc="-7" baseline="6944" dirty="0">
                <a:latin typeface="Lucida Sans Unicode"/>
                <a:cs typeface="Lucida Sans Unicode"/>
              </a:rPr>
              <a:t>π</a:t>
            </a:r>
            <a:r>
              <a:rPr sz="1550" dirty="0">
                <a:latin typeface="Tahoma"/>
                <a:cs typeface="Tahoma"/>
              </a:rPr>
              <a:t>bar</a:t>
            </a:r>
            <a:endParaRPr sz="1550">
              <a:latin typeface="Tahoma"/>
              <a:cs typeface="Tahoma"/>
            </a:endParaRPr>
          </a:p>
          <a:p>
            <a:pPr marL="2044064" algn="ctr">
              <a:lnSpc>
                <a:spcPct val="100000"/>
              </a:lnSpc>
              <a:spcBef>
                <a:spcPts val="3000"/>
              </a:spcBef>
            </a:pPr>
            <a:r>
              <a:rPr sz="6000" baseline="6944" dirty="0">
                <a:latin typeface="Lucida Sans Unicode"/>
                <a:cs typeface="Lucida Sans Unicode"/>
              </a:rPr>
              <a:t>σ</a:t>
            </a:r>
            <a:r>
              <a:rPr sz="1550" dirty="0">
                <a:latin typeface="Tahoma"/>
                <a:cs typeface="Tahoma"/>
              </a:rPr>
              <a:t>beer </a:t>
            </a:r>
            <a:r>
              <a:rPr sz="1550" spc="5" dirty="0">
                <a:latin typeface="Tahoma"/>
                <a:cs typeface="Tahoma"/>
              </a:rPr>
              <a:t>!= </a:t>
            </a:r>
            <a:r>
              <a:rPr sz="1550" spc="-5" dirty="0">
                <a:latin typeface="Tahoma"/>
                <a:cs typeface="Tahoma"/>
              </a:rPr>
              <a:t>beer</a:t>
            </a:r>
            <a:r>
              <a:rPr sz="1550" spc="5" dirty="0"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  <a:p>
            <a:pPr marL="2489200">
              <a:lnSpc>
                <a:spcPct val="100000"/>
              </a:lnSpc>
              <a:spcBef>
                <a:spcPts val="2520"/>
              </a:spcBef>
            </a:pPr>
            <a:r>
              <a:rPr sz="4000" spc="-5" dirty="0">
                <a:latin typeface="Lucida Sans Unicode"/>
                <a:cs typeface="Lucida Sans Unicode"/>
              </a:rPr>
              <a:t>⋈</a:t>
            </a:r>
            <a:endParaRPr sz="40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3479"/>
              </a:spcBef>
            </a:pPr>
            <a:r>
              <a:rPr sz="6000" spc="-7" baseline="6944" dirty="0">
                <a:latin typeface="Lucida Sans Unicode"/>
                <a:cs typeface="Lucida Sans Unicode"/>
              </a:rPr>
              <a:t>ρ</a:t>
            </a:r>
            <a:r>
              <a:rPr sz="1550" spc="5" dirty="0">
                <a:solidFill>
                  <a:srgbClr val="CC00CC"/>
                </a:solidFill>
                <a:latin typeface="Tahoma"/>
                <a:cs typeface="Tahoma"/>
              </a:rPr>
              <a:t>S</a:t>
            </a:r>
            <a:r>
              <a:rPr sz="1550" spc="-5" dirty="0">
                <a:solidFill>
                  <a:srgbClr val="CC00CC"/>
                </a:solidFill>
                <a:latin typeface="Tahoma"/>
                <a:cs typeface="Tahoma"/>
              </a:rPr>
              <a:t>(b</a:t>
            </a:r>
            <a:r>
              <a:rPr sz="1550" spc="5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r>
              <a:rPr sz="1550" spc="-330" dirty="0">
                <a:solidFill>
                  <a:srgbClr val="CC00CC"/>
                </a:solidFill>
                <a:latin typeface="Tahoma"/>
                <a:cs typeface="Tahoma"/>
              </a:rPr>
              <a:t>r</a:t>
            </a:r>
            <a:r>
              <a:rPr sz="1550" dirty="0">
                <a:solidFill>
                  <a:srgbClr val="CC00CC"/>
                </a:solidFill>
                <a:latin typeface="Tahoma"/>
                <a:cs typeface="Tahoma"/>
              </a:rPr>
              <a:t>, beer1, </a:t>
            </a:r>
            <a:r>
              <a:rPr sz="1550" spc="-5" dirty="0">
                <a:solidFill>
                  <a:srgbClr val="CC00CC"/>
                </a:solidFill>
                <a:latin typeface="Tahoma"/>
                <a:cs typeface="Tahoma"/>
              </a:rPr>
              <a:t>pri</a:t>
            </a:r>
            <a:r>
              <a:rPr sz="1550" dirty="0">
                <a:solidFill>
                  <a:srgbClr val="CC00CC"/>
                </a:solidFill>
                <a:latin typeface="Tahoma"/>
                <a:cs typeface="Tahoma"/>
              </a:rPr>
              <a:t>ce)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67200" y="32004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910" y="829944"/>
            <a:ext cx="4996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Schemas </a:t>
            </a:r>
            <a:r>
              <a:rPr spc="-20" dirty="0"/>
              <a:t>for</a:t>
            </a:r>
            <a:r>
              <a:rPr spc="-50" dirty="0"/>
              <a:t> </a:t>
            </a:r>
            <a:r>
              <a:rPr spc="-15" dirty="0"/>
              <a:t>Results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444740" cy="378015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Union, intersection, and 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difference</a:t>
            </a:r>
            <a:r>
              <a:rPr sz="3200" spc="-10" dirty="0">
                <a:latin typeface="Tahoma"/>
                <a:cs typeface="Tahoma"/>
              </a:rPr>
              <a:t>: </a:t>
            </a:r>
            <a:r>
              <a:rPr sz="3200" spc="-5" dirty="0">
                <a:latin typeface="Tahoma"/>
                <a:cs typeface="Tahoma"/>
              </a:rPr>
              <a:t>the  schemas of the two </a:t>
            </a:r>
            <a:r>
              <a:rPr sz="3200" spc="-10" dirty="0">
                <a:latin typeface="Tahoma"/>
                <a:cs typeface="Tahoma"/>
              </a:rPr>
              <a:t>operands </a:t>
            </a:r>
            <a:r>
              <a:rPr sz="3200" spc="-5" dirty="0">
                <a:latin typeface="Tahoma"/>
                <a:cs typeface="Tahoma"/>
              </a:rPr>
              <a:t>must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the same, </a:t>
            </a: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use that schema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 result.</a:t>
            </a:r>
            <a:endParaRPr sz="3200" dirty="0">
              <a:latin typeface="Tahoma"/>
              <a:cs typeface="Tahoma"/>
            </a:endParaRPr>
          </a:p>
          <a:p>
            <a:pPr marL="355600" marR="368300" indent="-342900">
              <a:lnSpc>
                <a:spcPts val="346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Selection</a:t>
            </a:r>
            <a:r>
              <a:rPr sz="3200" spc="-5" dirty="0">
                <a:latin typeface="Tahoma"/>
                <a:cs typeface="Tahoma"/>
              </a:rPr>
              <a:t>: schema of the result is the  same as the schema of the</a:t>
            </a:r>
            <a:r>
              <a:rPr sz="3200" spc="-10" dirty="0">
                <a:latin typeface="Tahoma"/>
                <a:cs typeface="Tahoma"/>
              </a:rPr>
              <a:t> operand.</a:t>
            </a:r>
            <a:endParaRPr sz="3200" dirty="0">
              <a:latin typeface="Tahoma"/>
              <a:cs typeface="Tahoma"/>
            </a:endParaRPr>
          </a:p>
          <a:p>
            <a:pPr marL="355600" marR="76200" indent="-342900">
              <a:lnSpc>
                <a:spcPts val="3460"/>
              </a:lnSpc>
              <a:spcBef>
                <a:spcPts val="7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Projection</a:t>
            </a:r>
            <a:r>
              <a:rPr sz="3200" spc="-5" dirty="0">
                <a:latin typeface="Tahoma"/>
                <a:cs typeface="Tahoma"/>
              </a:rPr>
              <a:t>: list of attributes tells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the  schema.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8089" y="601344"/>
            <a:ext cx="6687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Schemas </a:t>
            </a:r>
            <a:r>
              <a:rPr spc="-20" dirty="0"/>
              <a:t>for </a:t>
            </a:r>
            <a:r>
              <a:rPr spc="-15" dirty="0"/>
              <a:t>Results </a:t>
            </a:r>
            <a:r>
              <a:rPr spc="-5" dirty="0"/>
              <a:t>--- 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708149"/>
            <a:ext cx="7864475" cy="4182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39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Product</a:t>
            </a:r>
            <a:r>
              <a:rPr sz="3200" spc="-5" dirty="0">
                <a:latin typeface="Tahoma"/>
                <a:cs typeface="Tahoma"/>
              </a:rPr>
              <a:t>: schema is the attributes of both  relations.</a:t>
            </a:r>
            <a:endParaRPr sz="3200" dirty="0">
              <a:latin typeface="Tahoma"/>
              <a:cs typeface="Tahoma"/>
            </a:endParaRPr>
          </a:p>
          <a:p>
            <a:pPr marL="755650" marR="495934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Use </a:t>
            </a:r>
            <a:r>
              <a:rPr sz="2800" spc="-290" dirty="0">
                <a:latin typeface="Tahoma"/>
                <a:cs typeface="Tahoma"/>
              </a:rPr>
              <a:t>R.</a:t>
            </a:r>
            <a:r>
              <a:rPr sz="2900" i="1" spc="-290" dirty="0">
                <a:latin typeface="Tahoma"/>
                <a:cs typeface="Tahoma"/>
              </a:rPr>
              <a:t>A</a:t>
            </a:r>
            <a:r>
              <a:rPr sz="2800" spc="-290" dirty="0">
                <a:latin typeface="Tahoma"/>
                <a:cs typeface="Tahoma"/>
              </a:rPr>
              <a:t>, </a:t>
            </a:r>
            <a:r>
              <a:rPr sz="2800" spc="-40" dirty="0">
                <a:latin typeface="Tahoma"/>
                <a:cs typeface="Tahoma"/>
              </a:rPr>
              <a:t>etc., </a:t>
            </a:r>
            <a:r>
              <a:rPr sz="2800" spc="-5" dirty="0">
                <a:latin typeface="Tahoma"/>
                <a:cs typeface="Tahoma"/>
              </a:rPr>
              <a:t>to distinguish two attributes  named</a:t>
            </a:r>
            <a:r>
              <a:rPr sz="2800" spc="-185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A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Theta-join</a:t>
            </a:r>
            <a:r>
              <a:rPr sz="3200" spc="-5" dirty="0">
                <a:latin typeface="Tahoma"/>
                <a:cs typeface="Tahoma"/>
              </a:rPr>
              <a:t>: same as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product.</a:t>
            </a:r>
            <a:endParaRPr sz="3200" dirty="0">
              <a:latin typeface="Tahoma"/>
              <a:cs typeface="Tahoma"/>
            </a:endParaRPr>
          </a:p>
          <a:p>
            <a:pPr marL="355600" marR="61341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Natural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join</a:t>
            </a:r>
            <a:r>
              <a:rPr sz="3200" spc="-5" dirty="0">
                <a:latin typeface="Tahoma"/>
                <a:cs typeface="Tahoma"/>
              </a:rPr>
              <a:t>: union of the attributes of  the two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Renaming</a:t>
            </a:r>
            <a:r>
              <a:rPr sz="3200" spc="-10" dirty="0">
                <a:latin typeface="Tahoma"/>
                <a:cs typeface="Tahoma"/>
              </a:rPr>
              <a:t>: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operator </a:t>
            </a:r>
            <a:r>
              <a:rPr sz="3200" spc="-5" dirty="0">
                <a:latin typeface="Tahoma"/>
                <a:cs typeface="Tahoma"/>
              </a:rPr>
              <a:t>tells the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schema.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460" y="829944"/>
            <a:ext cx="6609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Relational Algebra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Bags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840217"/>
            <a:ext cx="7472045" cy="26797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350" i="1" spc="-425" dirty="0">
                <a:solidFill>
                  <a:srgbClr val="FF0066"/>
                </a:solidFill>
                <a:latin typeface="Tahoma"/>
                <a:cs typeface="Tahoma"/>
              </a:rPr>
              <a:t>bag</a:t>
            </a:r>
            <a:r>
              <a:rPr sz="3200" spc="-425" dirty="0">
                <a:latin typeface="Tahoma"/>
                <a:cs typeface="Tahoma"/>
              </a:rPr>
              <a:t>(or </a:t>
            </a:r>
            <a:r>
              <a:rPr lang="en-US" altLang="zh-CN" sz="3600" dirty="0">
                <a:effectLst/>
              </a:rPr>
              <a:t>multiset</a:t>
            </a:r>
            <a:r>
              <a:rPr sz="3200" spc="-894" dirty="0">
                <a:latin typeface="Tahoma"/>
                <a:cs typeface="Tahoma"/>
              </a:rPr>
              <a:t>)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set, but </a:t>
            </a:r>
            <a:r>
              <a:rPr sz="3200" dirty="0">
                <a:latin typeface="Tahoma"/>
                <a:cs typeface="Tahoma"/>
              </a:rPr>
              <a:t>an  </a:t>
            </a:r>
            <a:r>
              <a:rPr sz="3200" spc="-5" dirty="0">
                <a:latin typeface="Tahoma"/>
                <a:cs typeface="Tahoma"/>
              </a:rPr>
              <a:t>element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appear more than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once.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{1,2,1,3} is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" dirty="0">
                <a:latin typeface="Tahoma"/>
                <a:cs typeface="Tahoma"/>
              </a:rPr>
              <a:t> bag.</a:t>
            </a:r>
            <a:endParaRPr sz="3200" dirty="0">
              <a:latin typeface="Tahoma"/>
              <a:cs typeface="Tahoma"/>
            </a:endParaRPr>
          </a:p>
          <a:p>
            <a:pPr marL="355600" marR="75565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{1,2,3} is also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bag that  happens to </a:t>
            </a:r>
            <a:r>
              <a:rPr sz="3200" dirty="0">
                <a:latin typeface="Tahoma"/>
                <a:cs typeface="Tahoma"/>
              </a:rPr>
              <a:t>be a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2939" y="829944"/>
            <a:ext cx="2738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Why</a:t>
            </a:r>
            <a:r>
              <a:rPr spc="-85" dirty="0"/>
              <a:t> </a:t>
            </a:r>
            <a:r>
              <a:rPr dirty="0"/>
              <a:t>Bags?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07225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938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SQL, the most important query  language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relational databases, is  actually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bag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language.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Some </a:t>
            </a:r>
            <a:r>
              <a:rPr sz="3200" spc="-10" dirty="0">
                <a:latin typeface="Tahoma"/>
                <a:cs typeface="Tahoma"/>
              </a:rPr>
              <a:t>operations, like </a:t>
            </a:r>
            <a:r>
              <a:rPr sz="3200" spc="-5" dirty="0">
                <a:latin typeface="Tahoma"/>
                <a:cs typeface="Tahoma"/>
              </a:rPr>
              <a:t>projection,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more </a:t>
            </a:r>
            <a:r>
              <a:rPr sz="3200" spc="-10" dirty="0">
                <a:latin typeface="Tahoma"/>
                <a:cs typeface="Tahoma"/>
              </a:rPr>
              <a:t>efficient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bags than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3920" y="829944"/>
            <a:ext cx="4836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Operations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Bags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249795" cy="378015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Selection </a:t>
            </a:r>
            <a:r>
              <a:rPr sz="3200" spc="-5" dirty="0">
                <a:latin typeface="Tahoma"/>
                <a:cs typeface="Tahoma"/>
              </a:rPr>
              <a:t>applies to each tuple, </a:t>
            </a:r>
            <a:r>
              <a:rPr sz="3200" dirty="0">
                <a:latin typeface="Tahoma"/>
                <a:cs typeface="Tahoma"/>
              </a:rPr>
              <a:t>so its  </a:t>
            </a:r>
            <a:r>
              <a:rPr sz="3200" spc="-15" dirty="0">
                <a:latin typeface="Tahoma"/>
                <a:cs typeface="Tahoma"/>
              </a:rPr>
              <a:t>effect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bags is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15" dirty="0">
                <a:latin typeface="Tahoma"/>
                <a:cs typeface="Tahoma"/>
              </a:rPr>
              <a:t>effect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355600" marR="243840" indent="-342900">
              <a:lnSpc>
                <a:spcPts val="345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Projection </a:t>
            </a:r>
            <a:r>
              <a:rPr sz="3200" spc="-5" dirty="0">
                <a:latin typeface="Tahoma"/>
                <a:cs typeface="Tahoma"/>
              </a:rPr>
              <a:t>also applies to each tuple,  but 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bag </a:t>
            </a:r>
            <a:r>
              <a:rPr sz="3200" spc="-60" dirty="0">
                <a:latin typeface="Tahoma"/>
                <a:cs typeface="Tahoma"/>
              </a:rPr>
              <a:t>operator, </a:t>
            </a:r>
            <a:r>
              <a:rPr sz="3200" dirty="0">
                <a:latin typeface="Tahoma"/>
                <a:cs typeface="Tahoma"/>
              </a:rPr>
              <a:t>we do </a:t>
            </a:r>
            <a:r>
              <a:rPr sz="3200" spc="-5" dirty="0">
                <a:latin typeface="Tahoma"/>
                <a:cs typeface="Tahoma"/>
              </a:rPr>
              <a:t>not  eliminate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duplicates.</a:t>
            </a:r>
            <a:endParaRPr sz="3200" dirty="0">
              <a:latin typeface="Tahoma"/>
              <a:cs typeface="Tahoma"/>
            </a:endParaRPr>
          </a:p>
          <a:p>
            <a:pPr marL="355600" marR="271780" indent="-342900">
              <a:lnSpc>
                <a:spcPts val="3460"/>
              </a:lnSpc>
              <a:spcBef>
                <a:spcPts val="7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Products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joins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done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each  pair of tuples, </a:t>
            </a: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duplicates in bags 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15" dirty="0">
                <a:latin typeface="Tahoma"/>
                <a:cs typeface="Tahoma"/>
              </a:rPr>
              <a:t>effect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how </a:t>
            </a:r>
            <a:r>
              <a:rPr sz="3200" dirty="0">
                <a:latin typeface="Tahoma"/>
                <a:cs typeface="Tahoma"/>
              </a:rPr>
              <a:t>we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operate.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9414" y="829944"/>
            <a:ext cx="5805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5" dirty="0"/>
              <a:t>Bag</a:t>
            </a:r>
            <a:r>
              <a:rPr spc="-45" dirty="0"/>
              <a:t> </a:t>
            </a:r>
            <a:r>
              <a:rPr spc="-5" dirty="0"/>
              <a:t>Selection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00237" y="2128837"/>
            <a:ext cx="1381125" cy="1533525"/>
          </a:xfrm>
          <a:custGeom>
            <a:avLst/>
            <a:gdLst/>
            <a:ahLst/>
            <a:cxnLst/>
            <a:rect l="l" t="t" r="r" b="b"/>
            <a:pathLst>
              <a:path w="1381125" h="1533525">
                <a:moveTo>
                  <a:pt x="1381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1381125" y="1528762"/>
                </a:lnTo>
                <a:lnTo>
                  <a:pt x="1381125" y="1533525"/>
                </a:lnTo>
                <a:close/>
              </a:path>
              <a:path w="1381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533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524000"/>
                </a:lnTo>
                <a:lnTo>
                  <a:pt x="1376362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1371600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1528762"/>
                </a:moveTo>
                <a:lnTo>
                  <a:pt x="1371600" y="1528762"/>
                </a:lnTo>
                <a:lnTo>
                  <a:pt x="1376362" y="1524000"/>
                </a:lnTo>
                <a:lnTo>
                  <a:pt x="1381125" y="1524000"/>
                </a:lnTo>
                <a:lnTo>
                  <a:pt x="1381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10614" y="2133600"/>
          <a:ext cx="2379345" cy="1523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341">
                <a:tc>
                  <a:txBody>
                    <a:bodyPr/>
                    <a:lstStyle/>
                    <a:p>
                      <a:pPr marL="31750">
                        <a:lnSpc>
                          <a:spcPts val="2795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R(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A,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795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10360" y="4182110"/>
            <a:ext cx="34232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2290445" algn="l"/>
                <a:tab pos="3204845" algn="l"/>
              </a:tabLst>
            </a:pPr>
            <a:r>
              <a:rPr sz="3200" spc="-110" dirty="0">
                <a:latin typeface="Lucida Sans Unicode"/>
                <a:cs typeface="Lucida Sans Unicode"/>
              </a:rPr>
              <a:t>σ</a:t>
            </a:r>
            <a:r>
              <a:rPr sz="2400" i="1" spc="-787" baseline="-17361" dirty="0">
                <a:latin typeface="Tahoma"/>
                <a:cs typeface="Tahoma"/>
              </a:rPr>
              <a:t>A</a:t>
            </a:r>
            <a:r>
              <a:rPr sz="2325" spc="-150" baseline="-17921" dirty="0">
                <a:latin typeface="Tahoma"/>
                <a:cs typeface="Tahoma"/>
              </a:rPr>
              <a:t>+</a:t>
            </a:r>
            <a:r>
              <a:rPr sz="2400" i="1" spc="-52" baseline="-17361" dirty="0">
                <a:latin typeface="Tahoma"/>
                <a:cs typeface="Tahoma"/>
              </a:rPr>
              <a:t>B</a:t>
            </a:r>
            <a:r>
              <a:rPr sz="2325" spc="7" baseline="-17921" dirty="0">
                <a:latin typeface="Tahoma"/>
                <a:cs typeface="Tahoma"/>
              </a:rPr>
              <a:t>&lt; 5</a:t>
            </a:r>
            <a:r>
              <a:rPr sz="2325" baseline="-17921" dirty="0">
                <a:latin typeface="Tahoma"/>
                <a:cs typeface="Tahoma"/>
              </a:rPr>
              <a:t> </a:t>
            </a:r>
            <a:r>
              <a:rPr sz="2325" spc="-337" baseline="-17921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(R) =	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	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8740" y="4697729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3140" y="4697729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44912" y="4186237"/>
            <a:ext cx="1381125" cy="1228725"/>
          </a:xfrm>
          <a:custGeom>
            <a:avLst/>
            <a:gdLst/>
            <a:ahLst/>
            <a:cxnLst/>
            <a:rect l="l" t="t" r="r" b="b"/>
            <a:pathLst>
              <a:path w="1381125" h="1228725">
                <a:moveTo>
                  <a:pt x="13811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1381125" y="1223962"/>
                </a:lnTo>
                <a:lnTo>
                  <a:pt x="1381125" y="1228725"/>
                </a:lnTo>
                <a:close/>
              </a:path>
              <a:path w="13811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2287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228725">
                <a:moveTo>
                  <a:pt x="1371600" y="12239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219200"/>
                </a:lnTo>
                <a:lnTo>
                  <a:pt x="1376362" y="1219200"/>
                </a:lnTo>
                <a:lnTo>
                  <a:pt x="1371600" y="1223962"/>
                </a:lnTo>
                <a:close/>
              </a:path>
              <a:path w="1381125" h="12287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1381125" h="1228725">
                <a:moveTo>
                  <a:pt x="13716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1371600" y="1219200"/>
                </a:lnTo>
                <a:lnTo>
                  <a:pt x="1371600" y="1223962"/>
                </a:lnTo>
                <a:close/>
              </a:path>
              <a:path w="1381125" h="1228725">
                <a:moveTo>
                  <a:pt x="1381125" y="1223962"/>
                </a:moveTo>
                <a:lnTo>
                  <a:pt x="1371600" y="1223962"/>
                </a:lnTo>
                <a:lnTo>
                  <a:pt x="1376362" y="1219200"/>
                </a:lnTo>
                <a:lnTo>
                  <a:pt x="1381125" y="1219200"/>
                </a:lnTo>
                <a:lnTo>
                  <a:pt x="13811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9675" y="46482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35475" y="4191000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2575" y="829944"/>
            <a:ext cx="6038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5" dirty="0"/>
              <a:t>Bag</a:t>
            </a:r>
            <a:r>
              <a:rPr spc="-75" dirty="0"/>
              <a:t> </a:t>
            </a:r>
            <a:r>
              <a:rPr spc="-5" dirty="0"/>
              <a:t>Projection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00237" y="2128837"/>
            <a:ext cx="1381125" cy="1533525"/>
          </a:xfrm>
          <a:custGeom>
            <a:avLst/>
            <a:gdLst/>
            <a:ahLst/>
            <a:cxnLst/>
            <a:rect l="l" t="t" r="r" b="b"/>
            <a:pathLst>
              <a:path w="1381125" h="1533525">
                <a:moveTo>
                  <a:pt x="1381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1381125" y="1528762"/>
                </a:lnTo>
                <a:lnTo>
                  <a:pt x="1381125" y="1533525"/>
                </a:lnTo>
                <a:close/>
              </a:path>
              <a:path w="1381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533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524000"/>
                </a:lnTo>
                <a:lnTo>
                  <a:pt x="1376362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1371600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1528762"/>
                </a:moveTo>
                <a:lnTo>
                  <a:pt x="1371600" y="1528762"/>
                </a:lnTo>
                <a:lnTo>
                  <a:pt x="1376362" y="1524000"/>
                </a:lnTo>
                <a:lnTo>
                  <a:pt x="1381125" y="1524000"/>
                </a:lnTo>
                <a:lnTo>
                  <a:pt x="1381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10614" y="2133600"/>
          <a:ext cx="2379345" cy="1523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341">
                <a:tc>
                  <a:txBody>
                    <a:bodyPr/>
                    <a:lstStyle/>
                    <a:p>
                      <a:pPr marL="31750">
                        <a:lnSpc>
                          <a:spcPts val="2795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R(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A,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795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58670" y="4030100"/>
            <a:ext cx="2076450" cy="182498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842135" marR="43180" indent="-1779270" algn="r">
              <a:lnSpc>
                <a:spcPct val="105700"/>
              </a:lnSpc>
              <a:spcBef>
                <a:spcPts val="280"/>
              </a:spcBef>
              <a:tabLst>
                <a:tab pos="1842135" algn="l"/>
              </a:tabLst>
            </a:pPr>
            <a:r>
              <a:rPr sz="4000" spc="-110" dirty="0">
                <a:latin typeface="Lucida Sans Unicode"/>
                <a:cs typeface="Lucida Sans Unicode"/>
              </a:rPr>
              <a:t>π</a:t>
            </a:r>
            <a:r>
              <a:rPr sz="2400" i="1" spc="-37" baseline="-17361" dirty="0">
                <a:latin typeface="Tahoma"/>
                <a:cs typeface="Tahoma"/>
              </a:rPr>
              <a:t>A</a:t>
            </a:r>
            <a:r>
              <a:rPr sz="2400" i="1" spc="-375" baseline="-17361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(R) =	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  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84213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  <a:p>
            <a:pPr marL="184213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4912" y="4186237"/>
            <a:ext cx="450850" cy="1609725"/>
          </a:xfrm>
          <a:custGeom>
            <a:avLst/>
            <a:gdLst/>
            <a:ahLst/>
            <a:cxnLst/>
            <a:rect l="l" t="t" r="r" b="b"/>
            <a:pathLst>
              <a:path w="450850" h="1609725">
                <a:moveTo>
                  <a:pt x="450850" y="1609725"/>
                </a:moveTo>
                <a:lnTo>
                  <a:pt x="0" y="1609725"/>
                </a:lnTo>
                <a:lnTo>
                  <a:pt x="0" y="0"/>
                </a:lnTo>
                <a:lnTo>
                  <a:pt x="450850" y="0"/>
                </a:lnTo>
                <a:lnTo>
                  <a:pt x="4508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00200"/>
                </a:lnTo>
                <a:lnTo>
                  <a:pt x="4762" y="1600200"/>
                </a:lnTo>
                <a:lnTo>
                  <a:pt x="9525" y="1604962"/>
                </a:lnTo>
                <a:lnTo>
                  <a:pt x="450850" y="1604962"/>
                </a:lnTo>
                <a:lnTo>
                  <a:pt x="450850" y="1609725"/>
                </a:lnTo>
                <a:close/>
              </a:path>
              <a:path w="450850" h="1609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0850" h="1609725">
                <a:moveTo>
                  <a:pt x="4413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41325" y="4762"/>
                </a:lnTo>
                <a:lnTo>
                  <a:pt x="441325" y="9525"/>
                </a:lnTo>
                <a:close/>
              </a:path>
              <a:path w="450850" h="1609725">
                <a:moveTo>
                  <a:pt x="441325" y="1604962"/>
                </a:moveTo>
                <a:lnTo>
                  <a:pt x="441325" y="4762"/>
                </a:lnTo>
                <a:lnTo>
                  <a:pt x="446087" y="9525"/>
                </a:lnTo>
                <a:lnTo>
                  <a:pt x="450850" y="9525"/>
                </a:lnTo>
                <a:lnTo>
                  <a:pt x="450850" y="1600200"/>
                </a:lnTo>
                <a:lnTo>
                  <a:pt x="446087" y="1600200"/>
                </a:lnTo>
                <a:lnTo>
                  <a:pt x="441325" y="1604962"/>
                </a:lnTo>
                <a:close/>
              </a:path>
              <a:path w="450850" h="1609725">
                <a:moveTo>
                  <a:pt x="450850" y="9525"/>
                </a:moveTo>
                <a:lnTo>
                  <a:pt x="446087" y="9525"/>
                </a:lnTo>
                <a:lnTo>
                  <a:pt x="441325" y="4762"/>
                </a:lnTo>
                <a:lnTo>
                  <a:pt x="450850" y="4762"/>
                </a:lnTo>
                <a:lnTo>
                  <a:pt x="450850" y="9525"/>
                </a:lnTo>
                <a:close/>
              </a:path>
              <a:path w="450850" h="1609725">
                <a:moveTo>
                  <a:pt x="9525" y="1604962"/>
                </a:moveTo>
                <a:lnTo>
                  <a:pt x="4762" y="1600200"/>
                </a:lnTo>
                <a:lnTo>
                  <a:pt x="9525" y="1600200"/>
                </a:lnTo>
                <a:lnTo>
                  <a:pt x="9525" y="1604962"/>
                </a:lnTo>
                <a:close/>
              </a:path>
              <a:path w="450850" h="1609725">
                <a:moveTo>
                  <a:pt x="441325" y="1604962"/>
                </a:moveTo>
                <a:lnTo>
                  <a:pt x="9525" y="1604962"/>
                </a:lnTo>
                <a:lnTo>
                  <a:pt x="9525" y="1600200"/>
                </a:lnTo>
                <a:lnTo>
                  <a:pt x="441325" y="1600200"/>
                </a:lnTo>
                <a:lnTo>
                  <a:pt x="441325" y="1604962"/>
                </a:lnTo>
                <a:close/>
              </a:path>
              <a:path w="450850" h="1609725">
                <a:moveTo>
                  <a:pt x="450850" y="1604962"/>
                </a:moveTo>
                <a:lnTo>
                  <a:pt x="441325" y="1604962"/>
                </a:lnTo>
                <a:lnTo>
                  <a:pt x="446087" y="1600200"/>
                </a:lnTo>
                <a:lnTo>
                  <a:pt x="450850" y="1600200"/>
                </a:lnTo>
                <a:lnTo>
                  <a:pt x="450850" y="1604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9675" y="4648200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>
                <a:moveTo>
                  <a:pt x="0" y="0"/>
                </a:moveTo>
                <a:lnTo>
                  <a:pt x="4413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9595" y="829944"/>
            <a:ext cx="5464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5" dirty="0"/>
              <a:t>Bag</a:t>
            </a:r>
            <a:r>
              <a:rPr spc="-45" dirty="0"/>
              <a:t> </a:t>
            </a:r>
            <a:r>
              <a:rPr spc="-10" dirty="0"/>
              <a:t>Product</a:t>
            </a:r>
          </a:p>
        </p:txBody>
      </p:sp>
      <p:sp>
        <p:nvSpPr>
          <p:cNvPr id="4" name="object 4"/>
          <p:cNvSpPr/>
          <p:nvPr/>
        </p:nvSpPr>
        <p:spPr>
          <a:xfrm>
            <a:off x="1900237" y="2128837"/>
            <a:ext cx="1381125" cy="1533525"/>
          </a:xfrm>
          <a:custGeom>
            <a:avLst/>
            <a:gdLst/>
            <a:ahLst/>
            <a:cxnLst/>
            <a:rect l="l" t="t" r="r" b="b"/>
            <a:pathLst>
              <a:path w="1381125" h="1533525">
                <a:moveTo>
                  <a:pt x="1381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1381125" y="1528762"/>
                </a:lnTo>
                <a:lnTo>
                  <a:pt x="1381125" y="1533525"/>
                </a:lnTo>
                <a:close/>
              </a:path>
              <a:path w="1381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533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524000"/>
                </a:lnTo>
                <a:lnTo>
                  <a:pt x="1376362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1371600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1528762"/>
                </a:moveTo>
                <a:lnTo>
                  <a:pt x="1371600" y="1528762"/>
                </a:lnTo>
                <a:lnTo>
                  <a:pt x="1376362" y="1524000"/>
                </a:lnTo>
                <a:lnTo>
                  <a:pt x="1381125" y="1524000"/>
                </a:lnTo>
                <a:lnTo>
                  <a:pt x="1381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57837" y="2052637"/>
            <a:ext cx="1381125" cy="1228725"/>
          </a:xfrm>
          <a:custGeom>
            <a:avLst/>
            <a:gdLst/>
            <a:ahLst/>
            <a:cxnLst/>
            <a:rect l="l" t="t" r="r" b="b"/>
            <a:pathLst>
              <a:path w="1381125" h="1228725">
                <a:moveTo>
                  <a:pt x="13811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1381125" y="1223962"/>
                </a:lnTo>
                <a:lnTo>
                  <a:pt x="1381125" y="1228725"/>
                </a:lnTo>
                <a:close/>
              </a:path>
              <a:path w="13811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2287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228725">
                <a:moveTo>
                  <a:pt x="1371600" y="12239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219200"/>
                </a:lnTo>
                <a:lnTo>
                  <a:pt x="1376362" y="1219200"/>
                </a:lnTo>
                <a:lnTo>
                  <a:pt x="1371600" y="1223962"/>
                </a:lnTo>
                <a:close/>
              </a:path>
              <a:path w="1381125" h="12287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1381125" h="1228725">
                <a:moveTo>
                  <a:pt x="13716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1371600" y="1219200"/>
                </a:lnTo>
                <a:lnTo>
                  <a:pt x="1371600" y="1223962"/>
                </a:lnTo>
                <a:close/>
              </a:path>
              <a:path w="1381125" h="1228725">
                <a:moveTo>
                  <a:pt x="1381125" y="1223962"/>
                </a:moveTo>
                <a:lnTo>
                  <a:pt x="1371600" y="1223962"/>
                </a:lnTo>
                <a:lnTo>
                  <a:pt x="1376362" y="1219200"/>
                </a:lnTo>
                <a:lnTo>
                  <a:pt x="1381125" y="1219200"/>
                </a:lnTo>
                <a:lnTo>
                  <a:pt x="13811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5000" y="25146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9664" y="2122487"/>
            <a:ext cx="1215390" cy="226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R(	A,</a:t>
            </a:r>
            <a:endParaRPr sz="2400">
              <a:latin typeface="Tahoma"/>
              <a:cs typeface="Tahoma"/>
            </a:endParaRPr>
          </a:p>
          <a:p>
            <a:pPr marR="113664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R="113664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  <a:p>
            <a:pPr marR="113664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400" dirty="0">
                <a:latin typeface="Tahoma"/>
                <a:cs typeface="Tahoma"/>
              </a:rPr>
              <a:t>R </a:t>
            </a:r>
            <a:r>
              <a:rPr sz="3200" dirty="0">
                <a:latin typeface="Lucida Sans Unicode"/>
                <a:cs typeface="Lucida Sans Unicode"/>
              </a:rPr>
              <a:t>Χ 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3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14637" y="3957637"/>
            <a:ext cx="3209925" cy="2600325"/>
          </a:xfrm>
          <a:custGeom>
            <a:avLst/>
            <a:gdLst/>
            <a:ahLst/>
            <a:cxnLst/>
            <a:rect l="l" t="t" r="r" b="b"/>
            <a:pathLst>
              <a:path w="3209925" h="2600325">
                <a:moveTo>
                  <a:pt x="3209925" y="2600325"/>
                </a:moveTo>
                <a:lnTo>
                  <a:pt x="0" y="2600325"/>
                </a:lnTo>
                <a:lnTo>
                  <a:pt x="0" y="0"/>
                </a:lnTo>
                <a:lnTo>
                  <a:pt x="3209925" y="0"/>
                </a:lnTo>
                <a:lnTo>
                  <a:pt x="3209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90800"/>
                </a:lnTo>
                <a:lnTo>
                  <a:pt x="4762" y="2590800"/>
                </a:lnTo>
                <a:lnTo>
                  <a:pt x="9525" y="2595562"/>
                </a:lnTo>
                <a:lnTo>
                  <a:pt x="3209925" y="2595562"/>
                </a:lnTo>
                <a:lnTo>
                  <a:pt x="3209925" y="2600325"/>
                </a:lnTo>
                <a:close/>
              </a:path>
              <a:path w="3209925" h="2600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209925" h="2600325">
                <a:moveTo>
                  <a:pt x="3200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200400" y="4762"/>
                </a:lnTo>
                <a:lnTo>
                  <a:pt x="3200400" y="9525"/>
                </a:lnTo>
                <a:close/>
              </a:path>
              <a:path w="3209925" h="2600325">
                <a:moveTo>
                  <a:pt x="3200400" y="2595562"/>
                </a:moveTo>
                <a:lnTo>
                  <a:pt x="3200400" y="4762"/>
                </a:lnTo>
                <a:lnTo>
                  <a:pt x="3205162" y="9525"/>
                </a:lnTo>
                <a:lnTo>
                  <a:pt x="3209925" y="9525"/>
                </a:lnTo>
                <a:lnTo>
                  <a:pt x="3209925" y="2590800"/>
                </a:lnTo>
                <a:lnTo>
                  <a:pt x="3205162" y="2590800"/>
                </a:lnTo>
                <a:lnTo>
                  <a:pt x="3200400" y="2595562"/>
                </a:lnTo>
                <a:close/>
              </a:path>
              <a:path w="3209925" h="2600325">
                <a:moveTo>
                  <a:pt x="3209925" y="9525"/>
                </a:moveTo>
                <a:lnTo>
                  <a:pt x="3205162" y="9525"/>
                </a:lnTo>
                <a:lnTo>
                  <a:pt x="3200400" y="4762"/>
                </a:lnTo>
                <a:lnTo>
                  <a:pt x="3209925" y="4762"/>
                </a:lnTo>
                <a:lnTo>
                  <a:pt x="3209925" y="9525"/>
                </a:lnTo>
                <a:close/>
              </a:path>
              <a:path w="3209925" h="2600325">
                <a:moveTo>
                  <a:pt x="9525" y="2595562"/>
                </a:moveTo>
                <a:lnTo>
                  <a:pt x="4762" y="2590800"/>
                </a:lnTo>
                <a:lnTo>
                  <a:pt x="9525" y="2590800"/>
                </a:lnTo>
                <a:lnTo>
                  <a:pt x="9525" y="2595562"/>
                </a:lnTo>
                <a:close/>
              </a:path>
              <a:path w="3209925" h="2600325">
                <a:moveTo>
                  <a:pt x="3200400" y="2595562"/>
                </a:moveTo>
                <a:lnTo>
                  <a:pt x="9525" y="2595562"/>
                </a:lnTo>
                <a:lnTo>
                  <a:pt x="9525" y="2590800"/>
                </a:lnTo>
                <a:lnTo>
                  <a:pt x="3200400" y="2590800"/>
                </a:lnTo>
                <a:lnTo>
                  <a:pt x="3200400" y="2595562"/>
                </a:lnTo>
                <a:close/>
              </a:path>
              <a:path w="3209925" h="2600325">
                <a:moveTo>
                  <a:pt x="3209925" y="2595562"/>
                </a:moveTo>
                <a:lnTo>
                  <a:pt x="3200400" y="2595562"/>
                </a:lnTo>
                <a:lnTo>
                  <a:pt x="3205162" y="2590800"/>
                </a:lnTo>
                <a:lnTo>
                  <a:pt x="3209925" y="2590800"/>
                </a:lnTo>
                <a:lnTo>
                  <a:pt x="3209925" y="2595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5200" y="3962400"/>
            <a:ext cx="0" cy="2590800"/>
          </a:xfrm>
          <a:custGeom>
            <a:avLst/>
            <a:gdLst/>
            <a:ahLst/>
            <a:cxnLst/>
            <a:rect l="l" t="t" r="r" b="b"/>
            <a:pathLst>
              <a:path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586037" y="2057400"/>
          <a:ext cx="4559935" cy="455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5541">
                <a:tc>
                  <a:txBody>
                    <a:bodyPr/>
                    <a:lstStyle/>
                    <a:p>
                      <a:pPr marR="118110" algn="r">
                        <a:lnSpc>
                          <a:spcPts val="2795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795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95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S(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1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B,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95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 marR="130810" algn="r">
                        <a:lnSpc>
                          <a:spcPts val="277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09">
                <a:tc>
                  <a:txBody>
                    <a:bodyPr/>
                    <a:lstStyle/>
                    <a:p>
                      <a:pPr marR="130810" algn="r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599">
                <a:tc>
                  <a:txBody>
                    <a:bodyPr/>
                    <a:lstStyle/>
                    <a:p>
                      <a:pPr marR="114935" algn="r">
                        <a:lnSpc>
                          <a:spcPts val="2665"/>
                        </a:lnSpc>
                        <a:spcBef>
                          <a:spcPts val="235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984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8330">
                        <a:lnSpc>
                          <a:spcPts val="2665"/>
                        </a:lnSpc>
                        <a:spcBef>
                          <a:spcPts val="235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R.B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984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665"/>
                        </a:lnSpc>
                        <a:spcBef>
                          <a:spcPts val="235"/>
                        </a:spcBef>
                      </a:pPr>
                      <a:r>
                        <a:rPr sz="2400" spc="-1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S.B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98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665"/>
                        </a:lnSpc>
                        <a:spcBef>
                          <a:spcPts val="235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984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313">
                <a:tc>
                  <a:txBody>
                    <a:bodyPr/>
                    <a:lstStyle/>
                    <a:p>
                      <a:pPr marR="130810" algn="r">
                        <a:lnSpc>
                          <a:spcPts val="2785"/>
                        </a:lnSpc>
                        <a:spcBef>
                          <a:spcPts val="489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222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785"/>
                        </a:lnSpc>
                        <a:spcBef>
                          <a:spcPts val="489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2229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5"/>
                        </a:lnSpc>
                        <a:spcBef>
                          <a:spcPts val="489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22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5"/>
                        </a:lnSpc>
                        <a:spcBef>
                          <a:spcPts val="489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2229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6831">
                <a:tc>
                  <a:txBody>
                    <a:bodyPr/>
                    <a:lstStyle/>
                    <a:p>
                      <a:pPr marR="130810" algn="r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 algn="ctr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4155" y="829944"/>
            <a:ext cx="6155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5" dirty="0"/>
              <a:t>Bag</a:t>
            </a:r>
            <a:r>
              <a:rPr spc="-50" dirty="0"/>
              <a:t> </a:t>
            </a:r>
            <a:r>
              <a:rPr spc="-25" dirty="0"/>
              <a:t>Theta-Join</a:t>
            </a:r>
          </a:p>
        </p:txBody>
      </p:sp>
      <p:sp>
        <p:nvSpPr>
          <p:cNvPr id="3" name="object 3"/>
          <p:cNvSpPr/>
          <p:nvPr/>
        </p:nvSpPr>
        <p:spPr>
          <a:xfrm>
            <a:off x="1900237" y="2128837"/>
            <a:ext cx="1381125" cy="1533525"/>
          </a:xfrm>
          <a:custGeom>
            <a:avLst/>
            <a:gdLst/>
            <a:ahLst/>
            <a:cxnLst/>
            <a:rect l="l" t="t" r="r" b="b"/>
            <a:pathLst>
              <a:path w="1381125" h="1533525">
                <a:moveTo>
                  <a:pt x="1381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1381125" y="1528762"/>
                </a:lnTo>
                <a:lnTo>
                  <a:pt x="1381125" y="1533525"/>
                </a:lnTo>
                <a:close/>
              </a:path>
              <a:path w="1381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5335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524000"/>
                </a:lnTo>
                <a:lnTo>
                  <a:pt x="1376362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1381125" h="1533525">
                <a:moveTo>
                  <a:pt x="1371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1371600" y="1524000"/>
                </a:lnTo>
                <a:lnTo>
                  <a:pt x="1371600" y="1528762"/>
                </a:lnTo>
                <a:close/>
              </a:path>
              <a:path w="1381125" h="1533525">
                <a:moveTo>
                  <a:pt x="1381125" y="1528762"/>
                </a:moveTo>
                <a:lnTo>
                  <a:pt x="1371600" y="1528762"/>
                </a:lnTo>
                <a:lnTo>
                  <a:pt x="1376362" y="1524000"/>
                </a:lnTo>
                <a:lnTo>
                  <a:pt x="1381125" y="1524000"/>
                </a:lnTo>
                <a:lnTo>
                  <a:pt x="1381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57837" y="2052637"/>
            <a:ext cx="1381125" cy="1228725"/>
          </a:xfrm>
          <a:custGeom>
            <a:avLst/>
            <a:gdLst/>
            <a:ahLst/>
            <a:cxnLst/>
            <a:rect l="l" t="t" r="r" b="b"/>
            <a:pathLst>
              <a:path w="1381125" h="1228725">
                <a:moveTo>
                  <a:pt x="13811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1381125" y="1223962"/>
                </a:lnTo>
                <a:lnTo>
                  <a:pt x="1381125" y="1228725"/>
                </a:lnTo>
                <a:close/>
              </a:path>
              <a:path w="13811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2287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228725">
                <a:moveTo>
                  <a:pt x="1371600" y="12239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219200"/>
                </a:lnTo>
                <a:lnTo>
                  <a:pt x="1376362" y="1219200"/>
                </a:lnTo>
                <a:lnTo>
                  <a:pt x="1371600" y="1223962"/>
                </a:lnTo>
                <a:close/>
              </a:path>
              <a:path w="1381125" h="12287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1381125" h="1228725">
                <a:moveTo>
                  <a:pt x="13716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1371600" y="1219200"/>
                </a:lnTo>
                <a:lnTo>
                  <a:pt x="1371600" y="1223962"/>
                </a:lnTo>
                <a:close/>
              </a:path>
              <a:path w="1381125" h="1228725">
                <a:moveTo>
                  <a:pt x="1381125" y="1223962"/>
                </a:moveTo>
                <a:lnTo>
                  <a:pt x="1371600" y="1223962"/>
                </a:lnTo>
                <a:lnTo>
                  <a:pt x="1376362" y="1219200"/>
                </a:lnTo>
                <a:lnTo>
                  <a:pt x="1381125" y="1219200"/>
                </a:lnTo>
                <a:lnTo>
                  <a:pt x="13811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10614" y="2057400"/>
          <a:ext cx="6040120" cy="1600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5541">
                <a:tc>
                  <a:txBody>
                    <a:bodyPr/>
                    <a:lstStyle/>
                    <a:p>
                      <a:pPr marL="31750">
                        <a:lnSpc>
                          <a:spcPts val="2795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R(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A,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2795"/>
                        </a:lnSpc>
                        <a:spcBef>
                          <a:spcPts val="610"/>
                        </a:spcBef>
                        <a:tabLst>
                          <a:tab pos="1522730" algn="l"/>
                        </a:tabLst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)	</a:t>
                      </a: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S(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1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B,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795"/>
                        </a:lnSpc>
                        <a:spcBef>
                          <a:spcPts val="6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80464" y="3844607"/>
            <a:ext cx="227266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600" baseline="11574" dirty="0">
                <a:latin typeface="Tahoma"/>
                <a:cs typeface="Tahoma"/>
              </a:rPr>
              <a:t>R </a:t>
            </a:r>
            <a:r>
              <a:rPr sz="6000" spc="-7" baseline="6944" dirty="0">
                <a:latin typeface="Lucida Sans Unicode"/>
                <a:cs typeface="Lucida Sans Unicode"/>
              </a:rPr>
              <a:t>⋈ </a:t>
            </a:r>
            <a:r>
              <a:rPr sz="1550" dirty="0">
                <a:latin typeface="Tahoma"/>
                <a:cs typeface="Tahoma"/>
              </a:rPr>
              <a:t>R.B&lt;S.B </a:t>
            </a:r>
            <a:r>
              <a:rPr sz="3600" baseline="11574" dirty="0">
                <a:latin typeface="Tahoma"/>
                <a:cs typeface="Tahoma"/>
              </a:rPr>
              <a:t>S</a:t>
            </a:r>
            <a:r>
              <a:rPr sz="3600" spc="-509" baseline="11574" dirty="0">
                <a:latin typeface="Tahoma"/>
                <a:cs typeface="Tahoma"/>
              </a:rPr>
              <a:t> </a:t>
            </a:r>
            <a:r>
              <a:rPr sz="3600" baseline="11574" dirty="0">
                <a:latin typeface="Tahoma"/>
                <a:cs typeface="Tahoma"/>
              </a:rPr>
              <a:t>=</a:t>
            </a:r>
            <a:endParaRPr sz="3600" baseline="1157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05237" y="3957637"/>
            <a:ext cx="3209925" cy="2295525"/>
          </a:xfrm>
          <a:custGeom>
            <a:avLst/>
            <a:gdLst/>
            <a:ahLst/>
            <a:cxnLst/>
            <a:rect l="l" t="t" r="r" b="b"/>
            <a:pathLst>
              <a:path w="3209925" h="2295525">
                <a:moveTo>
                  <a:pt x="32099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3209925" y="0"/>
                </a:lnTo>
                <a:lnTo>
                  <a:pt x="3209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3209925" y="2290762"/>
                </a:lnTo>
                <a:lnTo>
                  <a:pt x="3209925" y="2295525"/>
                </a:lnTo>
                <a:close/>
              </a:path>
              <a:path w="32099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209925" h="2295525">
                <a:moveTo>
                  <a:pt x="3200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200400" y="4762"/>
                </a:lnTo>
                <a:lnTo>
                  <a:pt x="3200400" y="9525"/>
                </a:lnTo>
                <a:close/>
              </a:path>
              <a:path w="3209925" h="2295525">
                <a:moveTo>
                  <a:pt x="3200400" y="2290762"/>
                </a:moveTo>
                <a:lnTo>
                  <a:pt x="3200400" y="4762"/>
                </a:lnTo>
                <a:lnTo>
                  <a:pt x="3205162" y="9525"/>
                </a:lnTo>
                <a:lnTo>
                  <a:pt x="3209925" y="9525"/>
                </a:lnTo>
                <a:lnTo>
                  <a:pt x="3209925" y="2286000"/>
                </a:lnTo>
                <a:lnTo>
                  <a:pt x="3205162" y="2286000"/>
                </a:lnTo>
                <a:lnTo>
                  <a:pt x="3200400" y="2290762"/>
                </a:lnTo>
                <a:close/>
              </a:path>
              <a:path w="3209925" h="2295525">
                <a:moveTo>
                  <a:pt x="3209925" y="9525"/>
                </a:moveTo>
                <a:lnTo>
                  <a:pt x="3205162" y="9525"/>
                </a:lnTo>
                <a:lnTo>
                  <a:pt x="3200400" y="4762"/>
                </a:lnTo>
                <a:lnTo>
                  <a:pt x="3209925" y="4762"/>
                </a:lnTo>
                <a:lnTo>
                  <a:pt x="3209925" y="9525"/>
                </a:lnTo>
                <a:close/>
              </a:path>
              <a:path w="32099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3209925" h="2295525">
                <a:moveTo>
                  <a:pt x="32004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3200400" y="2286000"/>
                </a:lnTo>
                <a:lnTo>
                  <a:pt x="3200400" y="2290762"/>
                </a:lnTo>
                <a:close/>
              </a:path>
              <a:path w="3209925" h="2295525">
                <a:moveTo>
                  <a:pt x="3209925" y="2290762"/>
                </a:moveTo>
                <a:lnTo>
                  <a:pt x="3200400" y="2290762"/>
                </a:lnTo>
                <a:lnTo>
                  <a:pt x="3205162" y="2286000"/>
                </a:lnTo>
                <a:lnTo>
                  <a:pt x="3209925" y="2286000"/>
                </a:lnTo>
                <a:lnTo>
                  <a:pt x="32099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10000" y="3962400"/>
          <a:ext cx="3200399" cy="2319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266">
                <a:tc>
                  <a:txBody>
                    <a:bodyPr/>
                    <a:lstStyle/>
                    <a:p>
                      <a:pPr marL="151130">
                        <a:lnSpc>
                          <a:spcPts val="262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62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R.B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2620"/>
                        </a:lnSpc>
                        <a:spcBef>
                          <a:spcPts val="285"/>
                        </a:spcBef>
                      </a:pPr>
                      <a:r>
                        <a:rPr sz="2400" spc="-1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S.B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262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253">
                <a:tc>
                  <a:txBody>
                    <a:bodyPr/>
                    <a:lstStyle/>
                    <a:p>
                      <a:pPr marL="151130">
                        <a:lnSpc>
                          <a:spcPts val="2785"/>
                        </a:lnSpc>
                        <a:spcBef>
                          <a:spcPts val="75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5"/>
                        </a:lnSpc>
                        <a:spcBef>
                          <a:spcPts val="75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2785"/>
                        </a:lnSpc>
                        <a:spcBef>
                          <a:spcPts val="75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5"/>
                        </a:lnSpc>
                        <a:spcBef>
                          <a:spcPts val="755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831">
                <a:tc>
                  <a:txBody>
                    <a:bodyPr/>
                    <a:lstStyle/>
                    <a:p>
                      <a:pPr marL="151130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ts val="279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4379" y="829944"/>
            <a:ext cx="2555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Bag</a:t>
            </a:r>
            <a:r>
              <a:rPr spc="-80" dirty="0"/>
              <a:t> </a:t>
            </a:r>
            <a:r>
              <a:rPr spc="-5" dirty="0"/>
              <a:t>Union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2530" cy="263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element appears in the union of two  bags the sum of the number of times </a:t>
            </a:r>
            <a:r>
              <a:rPr sz="3200" dirty="0">
                <a:latin typeface="Tahoma"/>
                <a:cs typeface="Tahoma"/>
              </a:rPr>
              <a:t>it  </a:t>
            </a:r>
            <a:r>
              <a:rPr sz="3200" spc="-5" dirty="0">
                <a:latin typeface="Tahoma"/>
                <a:cs typeface="Tahoma"/>
              </a:rPr>
              <a:t>appears in each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bag.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{1,2,1} </a:t>
            </a:r>
            <a:r>
              <a:rPr sz="3600" dirty="0">
                <a:latin typeface="Lucida Sans Unicode"/>
                <a:cs typeface="Lucida Sans Unicode"/>
              </a:rPr>
              <a:t>∪ </a:t>
            </a:r>
            <a:r>
              <a:rPr sz="3200" spc="-5" dirty="0">
                <a:latin typeface="Tahoma"/>
                <a:cs typeface="Tahoma"/>
              </a:rPr>
              <a:t>{1,1,2,3,1}</a:t>
            </a:r>
            <a:r>
              <a:rPr sz="3200" spc="-1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  <a:p>
            <a:pPr marL="355600">
              <a:lnSpc>
                <a:spcPct val="100000"/>
              </a:lnSpc>
              <a:spcBef>
                <a:spcPts val="250"/>
              </a:spcBef>
            </a:pPr>
            <a:r>
              <a:rPr sz="3200" spc="-5" dirty="0">
                <a:latin typeface="Tahoma"/>
                <a:cs typeface="Tahoma"/>
              </a:rPr>
              <a:t>{1,1,1,1,1,2,2,3}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000" y="829944"/>
            <a:ext cx="4064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Bag</a:t>
            </a:r>
            <a:r>
              <a:rPr spc="-90" dirty="0"/>
              <a:t> </a:t>
            </a:r>
            <a:r>
              <a:rPr spc="-5" dirty="0"/>
              <a:t>Intersection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60920" cy="263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element appears in the intersection  of two bags the minimum of the  number of times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appears in </a:t>
            </a:r>
            <a:r>
              <a:rPr sz="3200" spc="-65" dirty="0">
                <a:latin typeface="Tahoma"/>
                <a:cs typeface="Tahoma"/>
              </a:rPr>
              <a:t>either.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{1,2,1,1} </a:t>
            </a:r>
            <a:r>
              <a:rPr sz="3600" dirty="0">
                <a:latin typeface="Lucida Sans Unicode"/>
                <a:cs typeface="Lucida Sans Unicode"/>
              </a:rPr>
              <a:t>∩ </a:t>
            </a:r>
            <a:r>
              <a:rPr sz="3200" spc="-5" dirty="0">
                <a:latin typeface="Tahoma"/>
                <a:cs typeface="Tahoma"/>
              </a:rPr>
              <a:t>{1,2,1,3}</a:t>
            </a:r>
            <a:r>
              <a:rPr sz="3200" spc="-1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  <a:p>
            <a:pPr marL="355600">
              <a:lnSpc>
                <a:spcPct val="100000"/>
              </a:lnSpc>
              <a:spcBef>
                <a:spcPts val="250"/>
              </a:spcBef>
            </a:pPr>
            <a:r>
              <a:rPr sz="3200" spc="-5" dirty="0">
                <a:latin typeface="Tahoma"/>
                <a:cs typeface="Tahoma"/>
              </a:rPr>
              <a:t>{1,1,2}.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3360" y="829944"/>
            <a:ext cx="3637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Bag</a:t>
            </a:r>
            <a:r>
              <a:rPr spc="-70" dirty="0"/>
              <a:t> </a:t>
            </a:r>
            <a:r>
              <a:rPr spc="-15" dirty="0"/>
              <a:t>Difference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68845" cy="30740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28295" marR="217804" indent="-31623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element appears in the </a:t>
            </a:r>
            <a:r>
              <a:rPr sz="3200" spc="-10" dirty="0">
                <a:latin typeface="Tahoma"/>
                <a:cs typeface="Tahoma"/>
              </a:rPr>
              <a:t>difference  </a:t>
            </a:r>
            <a:r>
              <a:rPr sz="3350" i="1" spc="-250" dirty="0">
                <a:latin typeface="Tahoma"/>
                <a:cs typeface="Tahoma"/>
              </a:rPr>
              <a:t>A–B </a:t>
            </a:r>
            <a:r>
              <a:rPr sz="3200" spc="-5" dirty="0">
                <a:latin typeface="Tahoma"/>
                <a:cs typeface="Tahoma"/>
              </a:rPr>
              <a:t>of bags as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times as </a:t>
            </a:r>
            <a:r>
              <a:rPr sz="3200" dirty="0">
                <a:latin typeface="Tahoma"/>
                <a:cs typeface="Tahoma"/>
              </a:rPr>
              <a:t>it  </a:t>
            </a:r>
            <a:r>
              <a:rPr sz="3200" spc="-5" dirty="0">
                <a:latin typeface="Tahoma"/>
                <a:cs typeface="Tahoma"/>
              </a:rPr>
              <a:t>appears in </a:t>
            </a:r>
            <a:r>
              <a:rPr sz="3350" i="1" spc="-560" dirty="0">
                <a:latin typeface="Tahoma"/>
                <a:cs typeface="Tahoma"/>
              </a:rPr>
              <a:t>A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minus the number of  times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appears in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B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10" dirty="0">
                <a:latin typeface="Tahoma"/>
                <a:cs typeface="Tahoma"/>
              </a:rPr>
              <a:t>never </a:t>
            </a:r>
            <a:r>
              <a:rPr sz="2800" spc="-5" dirty="0">
                <a:latin typeface="Tahoma"/>
                <a:cs typeface="Tahoma"/>
              </a:rPr>
              <a:t>less than 0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times.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{1,2,1,1} </a:t>
            </a:r>
            <a:r>
              <a:rPr sz="3200" dirty="0">
                <a:latin typeface="Tahoma"/>
                <a:cs typeface="Tahoma"/>
              </a:rPr>
              <a:t>– </a:t>
            </a:r>
            <a:r>
              <a:rPr sz="3200" spc="-5" dirty="0">
                <a:latin typeface="Tahoma"/>
                <a:cs typeface="Tahoma"/>
              </a:rPr>
              <a:t>{1,2,3}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{1,1}.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359" y="829944"/>
            <a:ext cx="7701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Beware: </a:t>
            </a:r>
            <a:r>
              <a:rPr spc="5" dirty="0"/>
              <a:t>Bag </a:t>
            </a:r>
            <a:r>
              <a:rPr spc="-10" dirty="0"/>
              <a:t>Laws </a:t>
            </a:r>
            <a:r>
              <a:rPr dirty="0"/>
              <a:t>!= Set</a:t>
            </a:r>
            <a:r>
              <a:rPr spc="-70" dirty="0"/>
              <a:t> </a:t>
            </a:r>
            <a:r>
              <a:rPr spc="-10" dirty="0"/>
              <a:t>Laws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33615" cy="406393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22352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Some, but </a:t>
            </a:r>
            <a:r>
              <a:rPr lang="en-US" altLang="zh-CN" sz="3600" dirty="0">
                <a:effectLst/>
              </a:rPr>
              <a:t>not all </a:t>
            </a:r>
            <a:r>
              <a:rPr sz="3200" spc="-10" dirty="0">
                <a:latin typeface="Tahoma"/>
                <a:cs typeface="Tahoma"/>
              </a:rPr>
              <a:t>algebraic laws </a:t>
            </a:r>
            <a:r>
              <a:rPr sz="3200" spc="-5" dirty="0">
                <a:latin typeface="Tahoma"/>
                <a:cs typeface="Tahoma"/>
              </a:rPr>
              <a:t>that  hold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sets also hold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bags.</a:t>
            </a:r>
            <a:endParaRPr sz="3200" dirty="0">
              <a:latin typeface="Tahoma"/>
              <a:cs typeface="Tahoma"/>
            </a:endParaRPr>
          </a:p>
          <a:p>
            <a:pPr marL="355600" marR="315595" indent="-342900">
              <a:lnSpc>
                <a:spcPct val="99600"/>
              </a:lnSpc>
              <a:spcBef>
                <a:spcPts val="6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the commutative </a:t>
            </a:r>
            <a:r>
              <a:rPr sz="3200" spc="-10" dirty="0">
                <a:latin typeface="Tahoma"/>
                <a:cs typeface="Tahoma"/>
              </a:rPr>
              <a:t>law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union </a:t>
            </a:r>
            <a:r>
              <a:rPr sz="3200" spc="-135" dirty="0">
                <a:latin typeface="Tahoma"/>
                <a:cs typeface="Tahoma"/>
              </a:rPr>
              <a:t>(</a:t>
            </a:r>
            <a:r>
              <a:rPr sz="3350" i="1" spc="-135" dirty="0">
                <a:latin typeface="Tahoma"/>
                <a:cs typeface="Tahoma"/>
              </a:rPr>
              <a:t>R</a:t>
            </a:r>
            <a:r>
              <a:rPr sz="3600" spc="-135" dirty="0">
                <a:latin typeface="Lucida Sans Unicode"/>
                <a:cs typeface="Lucida Sans Unicode"/>
              </a:rPr>
              <a:t>∪</a:t>
            </a:r>
            <a:r>
              <a:rPr sz="3350" i="1" spc="-135" dirty="0">
                <a:latin typeface="Tahoma"/>
                <a:cs typeface="Tahoma"/>
              </a:rPr>
              <a:t>S</a:t>
            </a:r>
            <a:r>
              <a:rPr sz="3200" spc="-135" dirty="0">
                <a:latin typeface="Tahoma"/>
                <a:cs typeface="Tahoma"/>
              </a:rPr>
              <a:t>= </a:t>
            </a:r>
            <a:r>
              <a:rPr sz="3350" i="1" spc="-114" dirty="0">
                <a:latin typeface="Tahoma"/>
                <a:cs typeface="Tahoma"/>
              </a:rPr>
              <a:t>S</a:t>
            </a:r>
            <a:r>
              <a:rPr sz="3600" spc="-114" dirty="0">
                <a:latin typeface="Lucida Sans Unicode"/>
                <a:cs typeface="Lucida Sans Unicode"/>
              </a:rPr>
              <a:t>∪</a:t>
            </a:r>
            <a:r>
              <a:rPr sz="3350" i="1" spc="-114" dirty="0">
                <a:latin typeface="Tahoma"/>
                <a:cs typeface="Tahoma"/>
              </a:rPr>
              <a:t>R</a:t>
            </a:r>
            <a:r>
              <a:rPr sz="3200" spc="-114" dirty="0">
                <a:latin typeface="Tahoma"/>
                <a:cs typeface="Tahoma"/>
              </a:rPr>
              <a:t>) </a:t>
            </a:r>
            <a:r>
              <a:rPr lang="en-US" altLang="zh-CN" sz="3600" dirty="0">
                <a:effectLst/>
              </a:rPr>
              <a:t>does </a:t>
            </a:r>
            <a:r>
              <a:rPr sz="3200" spc="-5" dirty="0">
                <a:latin typeface="Tahoma"/>
                <a:cs typeface="Tahoma"/>
              </a:rPr>
              <a:t>hold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bags.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Since addition is commutative, adding the  number of times </a:t>
            </a:r>
            <a:r>
              <a:rPr sz="2900" i="1" spc="-55" dirty="0">
                <a:latin typeface="Tahoma"/>
                <a:cs typeface="Tahoma"/>
              </a:rPr>
              <a:t>x </a:t>
            </a:r>
            <a:r>
              <a:rPr sz="2800" spc="-5" dirty="0">
                <a:latin typeface="Tahoma"/>
                <a:cs typeface="Tahoma"/>
              </a:rPr>
              <a:t>appears in </a:t>
            </a:r>
            <a:r>
              <a:rPr sz="2900" i="1" spc="-25" dirty="0">
                <a:latin typeface="Tahoma"/>
                <a:cs typeface="Tahoma"/>
              </a:rPr>
              <a:t>R</a:t>
            </a:r>
            <a:r>
              <a:rPr sz="2800" spc="-25" dirty="0">
                <a:latin typeface="Tahoma"/>
                <a:cs typeface="Tahoma"/>
              </a:rPr>
              <a:t>and </a:t>
            </a:r>
            <a:r>
              <a:rPr sz="2900" i="1" spc="-60" dirty="0">
                <a:latin typeface="Tahoma"/>
                <a:cs typeface="Tahoma"/>
              </a:rPr>
              <a:t>S  </a:t>
            </a:r>
            <a:r>
              <a:rPr sz="2800" spc="5" dirty="0">
                <a:latin typeface="Tahoma"/>
                <a:cs typeface="Tahoma"/>
              </a:rPr>
              <a:t>doesn’t </a:t>
            </a:r>
            <a:r>
              <a:rPr sz="2800" spc="-5" dirty="0">
                <a:latin typeface="Tahoma"/>
                <a:cs typeface="Tahoma"/>
              </a:rPr>
              <a:t>depend on the order of </a:t>
            </a:r>
            <a:r>
              <a:rPr sz="2900" i="1" spc="-25" dirty="0">
                <a:latin typeface="Tahoma"/>
                <a:cs typeface="Tahoma"/>
              </a:rPr>
              <a:t>R</a:t>
            </a:r>
            <a:r>
              <a:rPr sz="2800" spc="-25" dirty="0">
                <a:latin typeface="Tahoma"/>
                <a:cs typeface="Tahoma"/>
              </a:rPr>
              <a:t>and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S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A </a:t>
            </a:r>
            <a:r>
              <a:rPr spc="-10" dirty="0"/>
              <a:t>Law </a:t>
            </a:r>
            <a:r>
              <a:rPr spc="-5" dirty="0"/>
              <a:t>That</a:t>
            </a:r>
            <a:r>
              <a:rPr spc="-50" dirty="0"/>
              <a:t> </a:t>
            </a:r>
            <a:r>
              <a:rPr spc="-45" dirty="0"/>
              <a:t>Fails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77455" cy="3919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14655" indent="-402590">
              <a:lnSpc>
                <a:spcPts val="3879"/>
              </a:lnSpc>
              <a:spcBef>
                <a:spcPts val="11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Set </a:t>
            </a:r>
            <a:r>
              <a:rPr sz="3200" spc="-5" dirty="0">
                <a:latin typeface="Tahoma"/>
                <a:cs typeface="Tahoma"/>
              </a:rPr>
              <a:t>union is </a:t>
            </a:r>
            <a:r>
              <a:rPr lang="en-US" altLang="zh-CN" sz="3600" dirty="0">
                <a:effectLst/>
              </a:rPr>
              <a:t>idempotent</a:t>
            </a:r>
            <a:r>
              <a:rPr sz="3200" spc="-1115" dirty="0">
                <a:latin typeface="Tahoma"/>
                <a:cs typeface="Tahoma"/>
              </a:rPr>
              <a:t>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meaning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that</a:t>
            </a:r>
            <a:endParaRPr sz="3200" dirty="0">
              <a:latin typeface="Tahoma"/>
              <a:cs typeface="Tahoma"/>
            </a:endParaRPr>
          </a:p>
          <a:p>
            <a:pPr marL="328295">
              <a:lnSpc>
                <a:spcPts val="4180"/>
              </a:lnSpc>
            </a:pPr>
            <a:r>
              <a:rPr sz="3350" i="1" spc="-110" dirty="0">
                <a:latin typeface="Tahoma"/>
                <a:cs typeface="Tahoma"/>
              </a:rPr>
              <a:t>S</a:t>
            </a:r>
            <a:r>
              <a:rPr sz="3600" spc="-110" dirty="0">
                <a:latin typeface="Lucida Sans Unicode"/>
                <a:cs typeface="Lucida Sans Unicode"/>
              </a:rPr>
              <a:t>∪</a:t>
            </a:r>
            <a:r>
              <a:rPr sz="3350" i="1" spc="-110" dirty="0">
                <a:latin typeface="Tahoma"/>
                <a:cs typeface="Tahoma"/>
              </a:rPr>
              <a:t>S</a:t>
            </a:r>
            <a:r>
              <a:rPr sz="3200" spc="-110" dirty="0">
                <a:latin typeface="Tahoma"/>
                <a:cs typeface="Tahoma"/>
              </a:rPr>
              <a:t>=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S</a:t>
            </a:r>
            <a:r>
              <a:rPr sz="3200" spc="-555" dirty="0">
                <a:latin typeface="Tahoma"/>
                <a:cs typeface="Tahoma"/>
              </a:rPr>
              <a:t>.</a:t>
            </a:r>
            <a:r>
              <a:rPr lang="en-US" sz="3200" spc="-555" dirty="0">
                <a:latin typeface="Tahoma"/>
                <a:cs typeface="Tahoma"/>
              </a:rPr>
              <a:t>   </a:t>
            </a:r>
            <a:r>
              <a:rPr lang="zh-CN" altLang="en-US" sz="3200" spc="-555" dirty="0">
                <a:latin typeface="Tahoma"/>
                <a:cs typeface="Tahoma"/>
              </a:rPr>
              <a:t>幂等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11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0" dirty="0">
                <a:latin typeface="Tahoma"/>
                <a:cs typeface="Tahoma"/>
              </a:rPr>
              <a:t>However,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bags,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350" i="1" spc="-15" dirty="0">
                <a:latin typeface="Tahoma"/>
                <a:cs typeface="Tahoma"/>
              </a:rPr>
              <a:t>x</a:t>
            </a:r>
            <a:r>
              <a:rPr sz="3200" spc="-15" dirty="0">
                <a:latin typeface="Tahoma"/>
                <a:cs typeface="Tahoma"/>
              </a:rPr>
              <a:t>appears </a:t>
            </a:r>
            <a:r>
              <a:rPr sz="3350" i="1" spc="-85" dirty="0">
                <a:latin typeface="Tahoma"/>
                <a:cs typeface="Tahoma"/>
              </a:rPr>
              <a:t>n </a:t>
            </a:r>
            <a:r>
              <a:rPr sz="3200" spc="-5" dirty="0">
                <a:latin typeface="Tahoma"/>
                <a:cs typeface="Tahoma"/>
              </a:rPr>
              <a:t>times  in </a:t>
            </a:r>
            <a:r>
              <a:rPr sz="3350" i="1" spc="-555" dirty="0">
                <a:latin typeface="Tahoma"/>
                <a:cs typeface="Tahoma"/>
              </a:rPr>
              <a:t>S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appears </a:t>
            </a:r>
            <a:r>
              <a:rPr sz="3200" spc="-150" dirty="0">
                <a:latin typeface="Tahoma"/>
                <a:cs typeface="Tahoma"/>
              </a:rPr>
              <a:t>2</a:t>
            </a:r>
            <a:r>
              <a:rPr sz="3350" i="1" spc="-150" dirty="0">
                <a:latin typeface="Tahoma"/>
                <a:cs typeface="Tahoma"/>
              </a:rPr>
              <a:t>n </a:t>
            </a:r>
            <a:r>
              <a:rPr sz="3200" spc="-5" dirty="0">
                <a:latin typeface="Tahoma"/>
                <a:cs typeface="Tahoma"/>
              </a:rPr>
              <a:t>times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 dirty="0">
              <a:latin typeface="Tahoma"/>
              <a:cs typeface="Tahoma"/>
            </a:endParaRPr>
          </a:p>
          <a:p>
            <a:pPr marL="328295">
              <a:lnSpc>
                <a:spcPts val="3940"/>
              </a:lnSpc>
            </a:pPr>
            <a:r>
              <a:rPr sz="3350" i="1" spc="-360" dirty="0">
                <a:latin typeface="Tahoma"/>
                <a:cs typeface="Tahoma"/>
              </a:rPr>
              <a:t>S</a:t>
            </a:r>
            <a:r>
              <a:rPr sz="3600" spc="-360" dirty="0">
                <a:latin typeface="Lucida Sans Unicode"/>
                <a:cs typeface="Lucida Sans Unicode"/>
              </a:rPr>
              <a:t>∪</a:t>
            </a:r>
            <a:r>
              <a:rPr sz="3350" i="1" spc="-360" dirty="0">
                <a:latin typeface="Tahoma"/>
                <a:cs typeface="Tahoma"/>
              </a:rPr>
              <a:t>S</a:t>
            </a:r>
            <a:r>
              <a:rPr sz="3200" spc="-3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Thus </a:t>
            </a:r>
            <a:r>
              <a:rPr sz="3350" i="1" spc="-140" dirty="0">
                <a:latin typeface="Tahoma"/>
                <a:cs typeface="Tahoma"/>
              </a:rPr>
              <a:t>S</a:t>
            </a:r>
            <a:r>
              <a:rPr sz="3600" spc="-140" dirty="0">
                <a:latin typeface="Lucida Sans Unicode"/>
                <a:cs typeface="Lucida Sans Unicode"/>
              </a:rPr>
              <a:t>∪</a:t>
            </a:r>
            <a:r>
              <a:rPr sz="3350" i="1" spc="-140" dirty="0">
                <a:latin typeface="Tahoma"/>
                <a:cs typeface="Tahoma"/>
              </a:rPr>
              <a:t>S </a:t>
            </a:r>
            <a:r>
              <a:rPr sz="3200" dirty="0">
                <a:latin typeface="Tahoma"/>
                <a:cs typeface="Tahoma"/>
              </a:rPr>
              <a:t>!= </a:t>
            </a:r>
            <a:r>
              <a:rPr sz="3350" i="1" spc="-85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in</a:t>
            </a:r>
            <a:r>
              <a:rPr sz="3200" spc="-36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general.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79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40" dirty="0">
                <a:latin typeface="Tahoma"/>
                <a:cs typeface="Tahoma"/>
              </a:rPr>
              <a:t>e.g., </a:t>
            </a:r>
            <a:r>
              <a:rPr sz="2800" spc="-5" dirty="0">
                <a:latin typeface="Tahoma"/>
                <a:cs typeface="Tahoma"/>
              </a:rPr>
              <a:t>{1} </a:t>
            </a:r>
            <a:r>
              <a:rPr sz="3200" dirty="0">
                <a:latin typeface="Lucida Sans Unicode"/>
                <a:cs typeface="Lucida Sans Unicode"/>
              </a:rPr>
              <a:t>∪ </a:t>
            </a:r>
            <a:r>
              <a:rPr sz="2800" spc="-5" dirty="0">
                <a:latin typeface="Tahoma"/>
                <a:cs typeface="Tahoma"/>
              </a:rPr>
              <a:t>{1} = {1,1} !=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{1}.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2067</Words>
  <Application>Microsoft Office PowerPoint</Application>
  <PresentationFormat>全屏显示(4:3)</PresentationFormat>
  <Paragraphs>437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9" baseType="lpstr">
      <vt:lpstr>-apple-system</vt:lpstr>
      <vt:lpstr>PingFang SC</vt:lpstr>
      <vt:lpstr>Calibri</vt:lpstr>
      <vt:lpstr>Lucida Sans Unicode</vt:lpstr>
      <vt:lpstr>Symbol</vt:lpstr>
      <vt:lpstr>Tahoma</vt:lpstr>
      <vt:lpstr>Times New Roman</vt:lpstr>
      <vt:lpstr>Wingdings</vt:lpstr>
      <vt:lpstr>Office Theme</vt:lpstr>
      <vt:lpstr>Relational Algebra</vt:lpstr>
      <vt:lpstr>What is an “Algebra”</vt:lpstr>
      <vt:lpstr>What is Relational Algebra?</vt:lpstr>
      <vt:lpstr>Core Relational Algebra核心关系代数</vt:lpstr>
      <vt:lpstr>Selection选择</vt:lpstr>
      <vt:lpstr>Example: Selection</vt:lpstr>
      <vt:lpstr>Projection</vt:lpstr>
      <vt:lpstr>Example: Projection</vt:lpstr>
      <vt:lpstr>Extended Projection</vt:lpstr>
      <vt:lpstr>Example: Extended Projection</vt:lpstr>
      <vt:lpstr>Product, or cross-join笛卡尔积/交叉连接</vt:lpstr>
      <vt:lpstr>Example: R3 := R1 Χ R2</vt:lpstr>
      <vt:lpstr>Theta-Join条件链接</vt:lpstr>
      <vt:lpstr>Example: Theta Join</vt:lpstr>
      <vt:lpstr>Natural Join自然链接</vt:lpstr>
      <vt:lpstr>Example: Natural Join</vt:lpstr>
      <vt:lpstr>Renaming</vt:lpstr>
      <vt:lpstr>Example: Renaming</vt:lpstr>
      <vt:lpstr>Building Complex Expressions</vt:lpstr>
      <vt:lpstr>Sequences of Assignments</vt:lpstr>
      <vt:lpstr>Expressions in a Single Assignment</vt:lpstr>
      <vt:lpstr>Expression Trees</vt:lpstr>
      <vt:lpstr>Example: Tree for a Query</vt:lpstr>
      <vt:lpstr>As a Tree:</vt:lpstr>
      <vt:lpstr>Example: Self-Join</vt:lpstr>
      <vt:lpstr>The Tree</vt:lpstr>
      <vt:lpstr>Schemas for Results</vt:lpstr>
      <vt:lpstr>Schemas for Results --- (2)</vt:lpstr>
      <vt:lpstr>Relational Algebra on Bags</vt:lpstr>
      <vt:lpstr>Why Bags?</vt:lpstr>
      <vt:lpstr>Operations on Bags</vt:lpstr>
      <vt:lpstr>Example: Bag Selection</vt:lpstr>
      <vt:lpstr>Example: Bag Projection</vt:lpstr>
      <vt:lpstr>Example: Bag Product</vt:lpstr>
      <vt:lpstr>Example: Bag Theta-Join</vt:lpstr>
      <vt:lpstr>Bag Union</vt:lpstr>
      <vt:lpstr>Bag Intersection</vt:lpstr>
      <vt:lpstr>Bag Difference</vt:lpstr>
      <vt:lpstr>Beware: Bag Laws != Set Laws</vt:lpstr>
      <vt:lpstr>Example: A Law That Fails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2024-06-16T09:17:44Z</dcterms:created>
  <dcterms:modified xsi:type="dcterms:W3CDTF">2024-06-19T08:17:58Z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2024-06-16T00:00:00Z</vt:filetime>
  </property>
</Properties>
</file>
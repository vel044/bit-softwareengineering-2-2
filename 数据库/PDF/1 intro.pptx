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</p:sldIdLst>
  <p:sldSz cx="9144000" cy="6858000" type="screen4x3"/>
  <p:notesSz cx="9144000" cy="6858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1" d="100"/>
          <a:sy n="71" d="100"/>
        </p:scale>
        <p:origin x="52" y="75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6/14/2024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chemeClr val="tx1"/>
                </a:solidFill>
                <a:latin typeface="Gill Sans MT"/>
                <a:cs typeface="Gill Sans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tx1"/>
                </a:solidFill>
                <a:latin typeface="Gill Sans MT"/>
                <a:cs typeface="Gill Sans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6/14/2024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chemeClr val="tx1"/>
                </a:solidFill>
                <a:latin typeface="Gill Sans MT"/>
                <a:cs typeface="Gill Sans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764540" y="1966086"/>
            <a:ext cx="3863340" cy="432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Gill Sans MT"/>
                <a:cs typeface="Gill Sans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6/14/2024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chemeClr val="tx1"/>
                </a:solidFill>
                <a:latin typeface="Gill Sans MT"/>
                <a:cs typeface="Gill Sans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6/14/2024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6/14/2024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2342" y="476757"/>
            <a:ext cx="7319314" cy="136778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0" i="0">
                <a:solidFill>
                  <a:schemeClr val="tx1"/>
                </a:solidFill>
                <a:latin typeface="Gill Sans MT"/>
                <a:cs typeface="Gill Sans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87425" y="1689938"/>
            <a:ext cx="7240270" cy="16395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Gill Sans MT"/>
                <a:cs typeface="Gill Sans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6/14/2024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148573" y="6296263"/>
            <a:ext cx="257175" cy="2228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70661" y="1238250"/>
            <a:ext cx="7973059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dirty="0"/>
              <a:t>Database Design and</a:t>
            </a:r>
            <a:r>
              <a:rPr sz="4400" spc="-105" dirty="0"/>
              <a:t> </a:t>
            </a:r>
            <a:r>
              <a:rPr sz="4400" spc="-15" dirty="0"/>
              <a:t>Development</a:t>
            </a:r>
            <a:endParaRPr sz="4400" dirty="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1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2614041" y="2581148"/>
            <a:ext cx="4085590" cy="18364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5" dirty="0">
                <a:latin typeface="宋体"/>
                <a:cs typeface="宋体"/>
              </a:rPr>
              <a:t>数据库设计与开发</a:t>
            </a:r>
            <a:endParaRPr sz="40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4350">
              <a:latin typeface="宋体"/>
              <a:cs typeface="宋体"/>
            </a:endParaRPr>
          </a:p>
          <a:p>
            <a:pPr marL="892175">
              <a:lnSpc>
                <a:spcPct val="100000"/>
              </a:lnSpc>
            </a:pPr>
            <a:r>
              <a:rPr sz="3200" spc="-5" dirty="0">
                <a:latin typeface="Gill Sans MT"/>
                <a:cs typeface="Gill Sans MT"/>
              </a:rPr>
              <a:t>Xiaolin</a:t>
            </a:r>
            <a:r>
              <a:rPr sz="3200" spc="-50" dirty="0">
                <a:latin typeface="Gill Sans MT"/>
                <a:cs typeface="Gill Sans MT"/>
              </a:rPr>
              <a:t> </a:t>
            </a:r>
            <a:r>
              <a:rPr sz="3200" dirty="0">
                <a:latin typeface="Gill Sans MT"/>
                <a:cs typeface="Gill Sans MT"/>
              </a:rPr>
              <a:t>Zhao</a:t>
            </a:r>
            <a:endParaRPr sz="3200">
              <a:latin typeface="Gill Sans MT"/>
              <a:cs typeface="Gill Sans M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0214" y="2839593"/>
            <a:ext cx="7492365" cy="13671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sz="4400" spc="-5" dirty="0"/>
              <a:t>Chapter</a:t>
            </a:r>
            <a:r>
              <a:rPr sz="4400" spc="-30" dirty="0"/>
              <a:t> </a:t>
            </a:r>
            <a:r>
              <a:rPr sz="4400" dirty="0"/>
              <a:t>1:</a:t>
            </a:r>
            <a:endParaRPr sz="4400"/>
          </a:p>
          <a:p>
            <a:pPr algn="ctr">
              <a:lnSpc>
                <a:spcPct val="100000"/>
              </a:lnSpc>
            </a:pPr>
            <a:r>
              <a:rPr sz="4400" dirty="0"/>
              <a:t>The </a:t>
            </a:r>
            <a:r>
              <a:rPr sz="4400" spc="-70" dirty="0"/>
              <a:t>Worlds </a:t>
            </a:r>
            <a:r>
              <a:rPr sz="4400" dirty="0"/>
              <a:t>of Database</a:t>
            </a:r>
            <a:r>
              <a:rPr sz="4400" spc="-570" dirty="0"/>
              <a:t> </a:t>
            </a:r>
            <a:r>
              <a:rPr sz="4400" dirty="0"/>
              <a:t>Systems</a:t>
            </a:r>
            <a:endParaRPr sz="4400"/>
          </a:p>
        </p:txBody>
      </p:sp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2</a:t>
            </a:fld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99509" y="812038"/>
            <a:ext cx="174371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5" dirty="0"/>
              <a:t>Outline</a:t>
            </a:r>
            <a:endParaRPr sz="440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3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64540" y="1929511"/>
            <a:ext cx="7691755" cy="3579826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675"/>
              </a:spcBef>
              <a:buChar char="•"/>
              <a:tabLst>
                <a:tab pos="355600" algn="l"/>
                <a:tab pos="356235" algn="l"/>
              </a:tabLst>
            </a:pPr>
            <a:r>
              <a:rPr sz="2400" spc="-30" dirty="0">
                <a:latin typeface="Gill Sans MT"/>
                <a:cs typeface="Gill Sans MT"/>
              </a:rPr>
              <a:t>Why </a:t>
            </a:r>
            <a:r>
              <a:rPr sz="2400" dirty="0">
                <a:latin typeface="Gill Sans MT"/>
                <a:cs typeface="Gill Sans MT"/>
              </a:rPr>
              <a:t>do </a:t>
            </a:r>
            <a:r>
              <a:rPr sz="2400" spc="-25" dirty="0">
                <a:latin typeface="Gill Sans MT"/>
                <a:cs typeface="Gill Sans MT"/>
              </a:rPr>
              <a:t>we </a:t>
            </a:r>
            <a:r>
              <a:rPr sz="2400" spc="-5" dirty="0">
                <a:latin typeface="Gill Sans MT"/>
                <a:cs typeface="Gill Sans MT"/>
              </a:rPr>
              <a:t>need </a:t>
            </a:r>
            <a:r>
              <a:rPr sz="2400" dirty="0">
                <a:latin typeface="Gill Sans MT"/>
                <a:cs typeface="Gill Sans MT"/>
              </a:rPr>
              <a:t>a </a:t>
            </a:r>
            <a:r>
              <a:rPr sz="2400" spc="-10" dirty="0">
                <a:latin typeface="Gill Sans MT"/>
                <a:cs typeface="Gill Sans MT"/>
              </a:rPr>
              <a:t>DBMS </a:t>
            </a:r>
            <a:r>
              <a:rPr sz="2400" spc="-5" dirty="0">
                <a:latin typeface="Gill Sans MT"/>
                <a:cs typeface="Gill Sans MT"/>
              </a:rPr>
              <a:t>(Database Management</a:t>
            </a:r>
            <a:r>
              <a:rPr sz="2400" spc="50" dirty="0">
                <a:latin typeface="Gill Sans MT"/>
                <a:cs typeface="Gill Sans MT"/>
              </a:rPr>
              <a:t> </a:t>
            </a:r>
            <a:r>
              <a:rPr sz="2400" spc="-5" dirty="0">
                <a:latin typeface="Gill Sans MT"/>
                <a:cs typeface="Gill Sans MT"/>
              </a:rPr>
              <a:t>System)?</a:t>
            </a:r>
            <a:endParaRPr sz="2400" dirty="0">
              <a:latin typeface="Gill Sans MT"/>
              <a:cs typeface="Gill Sans MT"/>
            </a:endParaRPr>
          </a:p>
          <a:p>
            <a:pPr marL="355600" indent="-343535">
              <a:lnSpc>
                <a:spcPct val="100000"/>
              </a:lnSpc>
              <a:spcBef>
                <a:spcPts val="575"/>
              </a:spcBef>
              <a:buChar char="•"/>
              <a:tabLst>
                <a:tab pos="355600" algn="l"/>
                <a:tab pos="356235" algn="l"/>
              </a:tabLst>
            </a:pPr>
            <a:r>
              <a:rPr sz="2400" spc="-5" dirty="0">
                <a:latin typeface="Gill Sans MT"/>
                <a:cs typeface="Gill Sans MT"/>
              </a:rPr>
              <a:t>What </a:t>
            </a:r>
            <a:r>
              <a:rPr sz="2400" dirty="0">
                <a:latin typeface="Gill Sans MT"/>
                <a:cs typeface="Gill Sans MT"/>
              </a:rPr>
              <a:t>can a DBMS </a:t>
            </a:r>
            <a:r>
              <a:rPr sz="2400" spc="-5" dirty="0">
                <a:latin typeface="Gill Sans MT"/>
                <a:cs typeface="Gill Sans MT"/>
              </a:rPr>
              <a:t>do </a:t>
            </a:r>
            <a:r>
              <a:rPr sz="2400" spc="-10" dirty="0">
                <a:latin typeface="Gill Sans MT"/>
                <a:cs typeface="Gill Sans MT"/>
              </a:rPr>
              <a:t>for </a:t>
            </a:r>
            <a:r>
              <a:rPr sz="2400" dirty="0">
                <a:latin typeface="Gill Sans MT"/>
                <a:cs typeface="Gill Sans MT"/>
              </a:rPr>
              <a:t>an</a:t>
            </a:r>
            <a:r>
              <a:rPr sz="2400" spc="-25" dirty="0">
                <a:latin typeface="Gill Sans MT"/>
                <a:cs typeface="Gill Sans MT"/>
              </a:rPr>
              <a:t> </a:t>
            </a:r>
            <a:r>
              <a:rPr sz="2400" spc="-5" dirty="0">
                <a:latin typeface="Gill Sans MT"/>
                <a:cs typeface="Gill Sans MT"/>
              </a:rPr>
              <a:t>application?</a:t>
            </a:r>
            <a:endParaRPr sz="2400" dirty="0">
              <a:latin typeface="Gill Sans MT"/>
              <a:cs typeface="Gill Sans MT"/>
            </a:endParaRPr>
          </a:p>
          <a:p>
            <a:pPr marL="355600" indent="-343535">
              <a:lnSpc>
                <a:spcPct val="100000"/>
              </a:lnSpc>
              <a:spcBef>
                <a:spcPts val="575"/>
              </a:spcBef>
              <a:buChar char="•"/>
              <a:tabLst>
                <a:tab pos="355600" algn="l"/>
                <a:tab pos="356235" algn="l"/>
              </a:tabLst>
            </a:pPr>
            <a:r>
              <a:rPr sz="2400" spc="-35" dirty="0">
                <a:latin typeface="Gill Sans MT"/>
                <a:cs typeface="Gill Sans MT"/>
              </a:rPr>
              <a:t>Why </a:t>
            </a:r>
            <a:r>
              <a:rPr sz="2400" dirty="0">
                <a:latin typeface="Gill Sans MT"/>
                <a:cs typeface="Gill Sans MT"/>
              </a:rPr>
              <a:t>study </a:t>
            </a:r>
            <a:r>
              <a:rPr sz="2400" spc="-5" dirty="0">
                <a:latin typeface="Gill Sans MT"/>
                <a:cs typeface="Gill Sans MT"/>
              </a:rPr>
              <a:t>database</a:t>
            </a:r>
            <a:r>
              <a:rPr sz="2400" spc="25" dirty="0">
                <a:latin typeface="Gill Sans MT"/>
                <a:cs typeface="Gill Sans MT"/>
              </a:rPr>
              <a:t> </a:t>
            </a:r>
            <a:r>
              <a:rPr sz="2400" dirty="0">
                <a:latin typeface="Gill Sans MT"/>
                <a:cs typeface="Gill Sans MT"/>
              </a:rPr>
              <a:t>systems?</a:t>
            </a:r>
          </a:p>
          <a:p>
            <a:pPr marL="355600" indent="-343535">
              <a:lnSpc>
                <a:spcPct val="100000"/>
              </a:lnSpc>
              <a:spcBef>
                <a:spcPts val="580"/>
              </a:spcBef>
              <a:buChar char="•"/>
              <a:tabLst>
                <a:tab pos="355600" algn="l"/>
                <a:tab pos="356235" algn="l"/>
              </a:tabLst>
            </a:pPr>
            <a:r>
              <a:rPr sz="2400" dirty="0">
                <a:latin typeface="Gill Sans MT"/>
                <a:cs typeface="Gill Sans MT"/>
              </a:rPr>
              <a:t>Data </a:t>
            </a:r>
            <a:r>
              <a:rPr sz="2400" spc="-5" dirty="0">
                <a:latin typeface="Gill Sans MT"/>
                <a:cs typeface="Gill Sans MT"/>
              </a:rPr>
              <a:t>Models: Overview </a:t>
            </a:r>
            <a:r>
              <a:rPr sz="2400" dirty="0">
                <a:latin typeface="Gill Sans MT"/>
                <a:cs typeface="Gill Sans MT"/>
              </a:rPr>
              <a:t>of a </a:t>
            </a:r>
            <a:r>
              <a:rPr sz="2400" spc="-5" dirty="0">
                <a:latin typeface="Gill Sans MT"/>
                <a:cs typeface="Gill Sans MT"/>
              </a:rPr>
              <a:t>Relational</a:t>
            </a:r>
            <a:r>
              <a:rPr sz="2400" spc="-275" dirty="0">
                <a:latin typeface="Gill Sans MT"/>
                <a:cs typeface="Gill Sans MT"/>
              </a:rPr>
              <a:t> </a:t>
            </a:r>
            <a:r>
              <a:rPr sz="2400" spc="-5" dirty="0">
                <a:latin typeface="Gill Sans MT"/>
                <a:cs typeface="Gill Sans MT"/>
              </a:rPr>
              <a:t>Model</a:t>
            </a:r>
            <a:endParaRPr sz="2400" dirty="0">
              <a:latin typeface="Gill Sans MT"/>
              <a:cs typeface="Gill Sans MT"/>
            </a:endParaRPr>
          </a:p>
          <a:p>
            <a:pPr marL="355600" indent="-343535">
              <a:lnSpc>
                <a:spcPct val="100000"/>
              </a:lnSpc>
              <a:spcBef>
                <a:spcPts val="575"/>
              </a:spcBef>
              <a:buChar char="•"/>
              <a:tabLst>
                <a:tab pos="355600" algn="l"/>
                <a:tab pos="356235" algn="l"/>
              </a:tabLst>
            </a:pPr>
            <a:r>
              <a:rPr sz="2400" spc="-15" dirty="0">
                <a:latin typeface="Gill Sans MT"/>
                <a:cs typeface="Gill Sans MT"/>
              </a:rPr>
              <a:t>Levels </a:t>
            </a:r>
            <a:r>
              <a:rPr sz="2400" dirty="0">
                <a:latin typeface="Gill Sans MT"/>
                <a:cs typeface="Gill Sans MT"/>
              </a:rPr>
              <a:t>of </a:t>
            </a:r>
            <a:r>
              <a:rPr sz="2400" spc="-5" dirty="0">
                <a:latin typeface="Gill Sans MT"/>
                <a:cs typeface="Gill Sans MT"/>
              </a:rPr>
              <a:t>Abstractio</a:t>
            </a:r>
            <a:r>
              <a:rPr lang="en-US" sz="2400" spc="-5" dirty="0">
                <a:latin typeface="Gill Sans MT"/>
                <a:cs typeface="Gill Sans MT"/>
              </a:rPr>
              <a:t>n</a:t>
            </a:r>
            <a:r>
              <a:rPr lang="zh-CN" altLang="en-US" sz="2400" spc="-5" dirty="0">
                <a:latin typeface="Gill Sans MT"/>
                <a:cs typeface="Gill Sans MT"/>
              </a:rPr>
              <a:t> </a:t>
            </a:r>
            <a:r>
              <a:rPr lang="en-US" altLang="zh-CN" sz="2400" spc="-5" dirty="0">
                <a:latin typeface="Gill Sans MT"/>
                <a:cs typeface="Gill Sans MT"/>
              </a:rPr>
              <a:t>(</a:t>
            </a:r>
            <a:r>
              <a:rPr lang="zh-CN" altLang="en-US" sz="2400" spc="-5" dirty="0">
                <a:latin typeface="Gill Sans MT"/>
                <a:cs typeface="Gill Sans MT"/>
              </a:rPr>
              <a:t>抽象层次</a:t>
            </a:r>
            <a:r>
              <a:rPr lang="en-US" altLang="zh-CN" sz="2400" spc="-5" dirty="0">
                <a:latin typeface="Gill Sans MT"/>
                <a:cs typeface="Gill Sans MT"/>
              </a:rPr>
              <a:t>)</a:t>
            </a:r>
            <a:r>
              <a:rPr sz="2400" spc="-5" dirty="0">
                <a:latin typeface="Gill Sans MT"/>
                <a:cs typeface="Gill Sans MT"/>
              </a:rPr>
              <a:t> in </a:t>
            </a:r>
            <a:r>
              <a:rPr sz="2400" dirty="0">
                <a:latin typeface="Gill Sans MT"/>
                <a:cs typeface="Gill Sans MT"/>
              </a:rPr>
              <a:t>a</a:t>
            </a:r>
            <a:r>
              <a:rPr sz="2400" spc="-265" dirty="0">
                <a:latin typeface="Gill Sans MT"/>
                <a:cs typeface="Gill Sans MT"/>
              </a:rPr>
              <a:t> </a:t>
            </a:r>
            <a:r>
              <a:rPr sz="2400" dirty="0">
                <a:latin typeface="Gill Sans MT"/>
                <a:cs typeface="Gill Sans MT"/>
              </a:rPr>
              <a:t>DBMS</a:t>
            </a:r>
          </a:p>
          <a:p>
            <a:pPr marL="355600" indent="-343535">
              <a:lnSpc>
                <a:spcPct val="100000"/>
              </a:lnSpc>
              <a:spcBef>
                <a:spcPts val="575"/>
              </a:spcBef>
              <a:buChar char="•"/>
              <a:tabLst>
                <a:tab pos="355600" algn="l"/>
                <a:tab pos="356235" algn="l"/>
              </a:tabLst>
            </a:pPr>
            <a:r>
              <a:rPr sz="2400" spc="-5" dirty="0">
                <a:latin typeface="Gill Sans MT"/>
                <a:cs typeface="Gill Sans MT"/>
              </a:rPr>
              <a:t>Sample Queries</a:t>
            </a:r>
            <a:r>
              <a:rPr lang="zh-CN" altLang="en-US" sz="2400" spc="-5" dirty="0">
                <a:latin typeface="Gill Sans MT"/>
                <a:cs typeface="Gill Sans MT"/>
              </a:rPr>
              <a:t>（查询）</a:t>
            </a:r>
            <a:r>
              <a:rPr sz="2400" spc="-5" dirty="0">
                <a:latin typeface="Gill Sans MT"/>
                <a:cs typeface="Gill Sans MT"/>
              </a:rPr>
              <a:t> in</a:t>
            </a:r>
            <a:r>
              <a:rPr sz="2400" spc="-35" dirty="0">
                <a:latin typeface="Gill Sans MT"/>
                <a:cs typeface="Gill Sans MT"/>
              </a:rPr>
              <a:t> </a:t>
            </a:r>
            <a:r>
              <a:rPr sz="2400" dirty="0">
                <a:latin typeface="Gill Sans MT"/>
                <a:cs typeface="Gill Sans MT"/>
              </a:rPr>
              <a:t>DBMS</a:t>
            </a:r>
          </a:p>
          <a:p>
            <a:pPr marL="355600" indent="-343535">
              <a:lnSpc>
                <a:spcPct val="100000"/>
              </a:lnSpc>
              <a:spcBef>
                <a:spcPts val="580"/>
              </a:spcBef>
              <a:buChar char="•"/>
              <a:tabLst>
                <a:tab pos="355600" algn="l"/>
                <a:tab pos="356235" algn="l"/>
              </a:tabLst>
            </a:pPr>
            <a:r>
              <a:rPr sz="2400" spc="-30" dirty="0">
                <a:latin typeface="Gill Sans MT"/>
                <a:cs typeface="Gill Sans MT"/>
              </a:rPr>
              <a:t>Transaction </a:t>
            </a:r>
            <a:r>
              <a:rPr sz="2400" spc="-5" dirty="0">
                <a:latin typeface="Gill Sans MT"/>
                <a:cs typeface="Gill Sans MT"/>
              </a:rPr>
              <a:t>Management</a:t>
            </a:r>
            <a:r>
              <a:rPr sz="2400" spc="40" dirty="0">
                <a:latin typeface="Gill Sans MT"/>
                <a:cs typeface="Gill Sans MT"/>
              </a:rPr>
              <a:t> </a:t>
            </a:r>
            <a:r>
              <a:rPr lang="zh-CN" altLang="en-US" sz="2400" spc="40" dirty="0">
                <a:latin typeface="Gill Sans MT"/>
                <a:cs typeface="Gill Sans MT"/>
              </a:rPr>
              <a:t>（处理管理）</a:t>
            </a:r>
            <a:r>
              <a:rPr sz="2400" spc="-5" dirty="0">
                <a:latin typeface="Gill Sans MT"/>
                <a:cs typeface="Gill Sans MT"/>
              </a:rPr>
              <a:t>Overview</a:t>
            </a:r>
            <a:endParaRPr sz="2400" dirty="0">
              <a:latin typeface="Gill Sans MT"/>
              <a:cs typeface="Gill Sans MT"/>
            </a:endParaRPr>
          </a:p>
          <a:p>
            <a:pPr marL="355600" indent="-343535">
              <a:lnSpc>
                <a:spcPct val="100000"/>
              </a:lnSpc>
              <a:spcBef>
                <a:spcPts val="575"/>
              </a:spcBef>
              <a:buChar char="•"/>
              <a:tabLst>
                <a:tab pos="355600" algn="l"/>
                <a:tab pos="356235" algn="l"/>
              </a:tabLst>
            </a:pPr>
            <a:r>
              <a:rPr sz="2400" spc="-10" dirty="0">
                <a:latin typeface="Gill Sans MT"/>
                <a:cs typeface="Gill Sans MT"/>
              </a:rPr>
              <a:t>Structure </a:t>
            </a:r>
            <a:r>
              <a:rPr sz="2400" dirty="0">
                <a:latin typeface="Gill Sans MT"/>
                <a:cs typeface="Gill Sans MT"/>
              </a:rPr>
              <a:t>of a</a:t>
            </a:r>
            <a:r>
              <a:rPr sz="2400" spc="-30" dirty="0">
                <a:latin typeface="Gill Sans MT"/>
                <a:cs typeface="Gill Sans MT"/>
              </a:rPr>
              <a:t> </a:t>
            </a:r>
            <a:r>
              <a:rPr sz="2400" dirty="0">
                <a:latin typeface="Gill Sans MT"/>
                <a:cs typeface="Gill Sans MT"/>
              </a:rPr>
              <a:t>DBMS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251075" marR="5080" indent="-1266825">
              <a:lnSpc>
                <a:spcPct val="100000"/>
              </a:lnSpc>
              <a:spcBef>
                <a:spcPts val="105"/>
              </a:spcBef>
            </a:pPr>
            <a:r>
              <a:rPr sz="4400" dirty="0"/>
              <a:t>What can DBMS do</a:t>
            </a:r>
            <a:r>
              <a:rPr sz="4400" spc="-110" dirty="0"/>
              <a:t> </a:t>
            </a:r>
            <a:r>
              <a:rPr sz="4400" spc="-20" dirty="0"/>
              <a:t>for  </a:t>
            </a:r>
            <a:r>
              <a:rPr sz="4400" spc="-5" dirty="0"/>
              <a:t>applications?</a:t>
            </a:r>
            <a:endParaRPr sz="440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4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64540" y="2002663"/>
            <a:ext cx="7641208" cy="38856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15240" indent="-343535">
              <a:lnSpc>
                <a:spcPct val="100000"/>
              </a:lnSpc>
              <a:spcBef>
                <a:spcPts val="100"/>
              </a:spcBef>
              <a:buChar char="•"/>
              <a:tabLst>
                <a:tab pos="355600" algn="l"/>
                <a:tab pos="356235" algn="l"/>
              </a:tabLst>
            </a:pPr>
            <a:r>
              <a:rPr sz="2400" spc="-10" dirty="0">
                <a:latin typeface="Gill Sans MT"/>
                <a:cs typeface="Gill Sans MT"/>
              </a:rPr>
              <a:t>Store </a:t>
            </a:r>
            <a:r>
              <a:rPr sz="2400" spc="-5" dirty="0">
                <a:latin typeface="Gill Sans MT"/>
                <a:cs typeface="Gill Sans MT"/>
              </a:rPr>
              <a:t>huge amount </a:t>
            </a:r>
            <a:r>
              <a:rPr sz="2400" dirty="0">
                <a:latin typeface="Gill Sans MT"/>
                <a:cs typeface="Gill Sans MT"/>
              </a:rPr>
              <a:t>of data </a:t>
            </a:r>
            <a:r>
              <a:rPr sz="2400" spc="10" dirty="0">
                <a:latin typeface="Gill Sans MT"/>
                <a:cs typeface="Gill Sans MT"/>
              </a:rPr>
              <a:t>(e.g.,TB+) </a:t>
            </a:r>
            <a:r>
              <a:rPr sz="2400" spc="-20" dirty="0">
                <a:latin typeface="Gill Sans MT"/>
                <a:cs typeface="Gill Sans MT"/>
              </a:rPr>
              <a:t>over </a:t>
            </a:r>
            <a:r>
              <a:rPr sz="2400" dirty="0">
                <a:latin typeface="Gill Sans MT"/>
                <a:cs typeface="Gill Sans MT"/>
              </a:rPr>
              <a:t>a </a:t>
            </a:r>
            <a:r>
              <a:rPr sz="2400" spc="-5" dirty="0">
                <a:latin typeface="Gill Sans MT"/>
                <a:cs typeface="Gill Sans MT"/>
              </a:rPr>
              <a:t>long period  </a:t>
            </a:r>
            <a:r>
              <a:rPr sz="2400" dirty="0">
                <a:latin typeface="Gill Sans MT"/>
                <a:cs typeface="Gill Sans MT"/>
              </a:rPr>
              <a:t>of</a:t>
            </a:r>
            <a:r>
              <a:rPr sz="2400" spc="-5" dirty="0">
                <a:latin typeface="Gill Sans MT"/>
                <a:cs typeface="Gill Sans MT"/>
              </a:rPr>
              <a:t> </a:t>
            </a:r>
            <a:r>
              <a:rPr sz="2400" dirty="0">
                <a:latin typeface="Gill Sans MT"/>
                <a:cs typeface="Gill Sans MT"/>
              </a:rPr>
              <a:t>time</a:t>
            </a:r>
          </a:p>
          <a:p>
            <a:pPr marL="355600" indent="-343535">
              <a:lnSpc>
                <a:spcPct val="100000"/>
              </a:lnSpc>
              <a:spcBef>
                <a:spcPts val="575"/>
              </a:spcBef>
              <a:buChar char="•"/>
              <a:tabLst>
                <a:tab pos="355600" algn="l"/>
                <a:tab pos="356235" algn="l"/>
              </a:tabLst>
            </a:pPr>
            <a:r>
              <a:rPr sz="2400" spc="-10" dirty="0">
                <a:latin typeface="Gill Sans MT"/>
                <a:cs typeface="Gill Sans MT"/>
              </a:rPr>
              <a:t>Allow apps </a:t>
            </a:r>
            <a:r>
              <a:rPr sz="2400" dirty="0">
                <a:latin typeface="Gill Sans MT"/>
                <a:cs typeface="Gill Sans MT"/>
              </a:rPr>
              <a:t>to </a:t>
            </a:r>
            <a:r>
              <a:rPr sz="2400" spc="10" dirty="0">
                <a:latin typeface="Gill Sans MT"/>
                <a:cs typeface="Gill Sans MT"/>
              </a:rPr>
              <a:t>query </a:t>
            </a:r>
            <a:r>
              <a:rPr sz="2400" spc="-5" dirty="0">
                <a:latin typeface="Gill Sans MT"/>
                <a:cs typeface="Gill Sans MT"/>
              </a:rPr>
              <a:t>and update data</a:t>
            </a:r>
            <a:endParaRPr sz="2400" dirty="0">
              <a:latin typeface="Gill Sans MT"/>
              <a:cs typeface="Gill Sans MT"/>
            </a:endParaRPr>
          </a:p>
          <a:p>
            <a:pPr marL="756285" lvl="1" indent="-287020">
              <a:lnSpc>
                <a:spcPct val="100000"/>
              </a:lnSpc>
              <a:spcBef>
                <a:spcPts val="495"/>
              </a:spcBef>
              <a:buChar char="–"/>
              <a:tabLst>
                <a:tab pos="756285" algn="l"/>
                <a:tab pos="756920" algn="l"/>
              </a:tabLst>
            </a:pPr>
            <a:r>
              <a:rPr sz="2000" spc="5" dirty="0">
                <a:latin typeface="Gill Sans MT"/>
                <a:cs typeface="Gill Sans MT"/>
              </a:rPr>
              <a:t>Query: </a:t>
            </a:r>
            <a:r>
              <a:rPr sz="2000" spc="-5" dirty="0">
                <a:latin typeface="Gill Sans MT"/>
                <a:cs typeface="Gill Sans MT"/>
              </a:rPr>
              <a:t>what is </a:t>
            </a:r>
            <a:r>
              <a:rPr sz="2000" spc="10" dirty="0">
                <a:latin typeface="Gill Sans MT"/>
                <a:cs typeface="Gill Sans MT"/>
              </a:rPr>
              <a:t>Mary</a:t>
            </a:r>
            <a:r>
              <a:rPr sz="2000" spc="10" dirty="0">
                <a:latin typeface="Times New Roman"/>
                <a:cs typeface="Times New Roman"/>
              </a:rPr>
              <a:t>’</a:t>
            </a:r>
            <a:r>
              <a:rPr sz="2000" spc="10" dirty="0">
                <a:latin typeface="Gill Sans MT"/>
                <a:cs typeface="Gill Sans MT"/>
              </a:rPr>
              <a:t>s </a:t>
            </a:r>
            <a:r>
              <a:rPr sz="2000" spc="-5" dirty="0">
                <a:latin typeface="Gill Sans MT"/>
                <a:cs typeface="Gill Sans MT"/>
              </a:rPr>
              <a:t>grade in </a:t>
            </a:r>
            <a:r>
              <a:rPr sz="2000" dirty="0">
                <a:latin typeface="Gill Sans MT"/>
                <a:cs typeface="Gill Sans MT"/>
              </a:rPr>
              <a:t>the </a:t>
            </a:r>
            <a:r>
              <a:rPr sz="2000" spc="-5" dirty="0">
                <a:latin typeface="Times New Roman"/>
                <a:cs typeface="Times New Roman"/>
              </a:rPr>
              <a:t>“</a:t>
            </a:r>
            <a:r>
              <a:rPr sz="2000" spc="-5" dirty="0">
                <a:latin typeface="Gill Sans MT"/>
                <a:cs typeface="Gill Sans MT"/>
              </a:rPr>
              <a:t>Operating </a:t>
            </a:r>
            <a:r>
              <a:rPr sz="2000" dirty="0">
                <a:latin typeface="Gill Sans MT"/>
                <a:cs typeface="Gill Sans MT"/>
              </a:rPr>
              <a:t>System</a:t>
            </a:r>
            <a:r>
              <a:rPr sz="2000" dirty="0">
                <a:latin typeface="Times New Roman"/>
                <a:cs typeface="Times New Roman"/>
              </a:rPr>
              <a:t>”</a:t>
            </a:r>
            <a:r>
              <a:rPr sz="2000" spc="-2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Gill Sans MT"/>
                <a:cs typeface="Gill Sans MT"/>
              </a:rPr>
              <a:t>course?</a:t>
            </a:r>
          </a:p>
          <a:p>
            <a:pPr marL="756285" lvl="1" indent="-287020">
              <a:lnSpc>
                <a:spcPct val="100000"/>
              </a:lnSpc>
              <a:spcBef>
                <a:spcPts val="484"/>
              </a:spcBef>
              <a:buChar char="–"/>
              <a:tabLst>
                <a:tab pos="756285" algn="l"/>
                <a:tab pos="756920" algn="l"/>
              </a:tabLst>
            </a:pPr>
            <a:r>
              <a:rPr sz="2000" dirty="0">
                <a:latin typeface="Gill Sans MT"/>
                <a:cs typeface="Gill Sans MT"/>
              </a:rPr>
              <a:t>Update: </a:t>
            </a:r>
            <a:r>
              <a:rPr sz="2000" spc="-10" dirty="0">
                <a:latin typeface="Gill Sans MT"/>
                <a:cs typeface="Gill Sans MT"/>
              </a:rPr>
              <a:t>enroll </a:t>
            </a:r>
            <a:r>
              <a:rPr sz="2000" spc="10" dirty="0">
                <a:latin typeface="Gill Sans MT"/>
                <a:cs typeface="Gill Sans MT"/>
              </a:rPr>
              <a:t>Mary </a:t>
            </a:r>
            <a:r>
              <a:rPr sz="2000" spc="-5" dirty="0">
                <a:latin typeface="Gill Sans MT"/>
                <a:cs typeface="Gill Sans MT"/>
              </a:rPr>
              <a:t>in </a:t>
            </a:r>
            <a:r>
              <a:rPr sz="2000" dirty="0">
                <a:latin typeface="Gill Sans MT"/>
                <a:cs typeface="Gill Sans MT"/>
              </a:rPr>
              <a:t>the </a:t>
            </a:r>
            <a:r>
              <a:rPr sz="2000" dirty="0">
                <a:latin typeface="Times New Roman"/>
                <a:cs typeface="Times New Roman"/>
              </a:rPr>
              <a:t>“</a:t>
            </a:r>
            <a:r>
              <a:rPr sz="2000" dirty="0">
                <a:latin typeface="Gill Sans MT"/>
                <a:cs typeface="Gill Sans MT"/>
              </a:rPr>
              <a:t>Database</a:t>
            </a:r>
            <a:r>
              <a:rPr sz="2000" dirty="0">
                <a:latin typeface="Times New Roman"/>
                <a:cs typeface="Times New Roman"/>
              </a:rPr>
              <a:t>”</a:t>
            </a:r>
            <a:r>
              <a:rPr sz="2000" spc="-2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Gill Sans MT"/>
                <a:cs typeface="Gill Sans MT"/>
              </a:rPr>
              <a:t>course</a:t>
            </a:r>
          </a:p>
          <a:p>
            <a:pPr marL="355600" indent="-343535">
              <a:lnSpc>
                <a:spcPct val="100000"/>
              </a:lnSpc>
              <a:spcBef>
                <a:spcPts val="555"/>
              </a:spcBef>
              <a:buChar char="•"/>
              <a:tabLst>
                <a:tab pos="355600" algn="l"/>
                <a:tab pos="356235" algn="l"/>
              </a:tabLst>
            </a:pPr>
            <a:r>
              <a:rPr sz="2400" spc="-10" dirty="0">
                <a:latin typeface="Gill Sans MT"/>
                <a:cs typeface="Gill Sans MT"/>
              </a:rPr>
              <a:t>Protect </a:t>
            </a:r>
            <a:r>
              <a:rPr sz="2400" spc="-20" dirty="0">
                <a:latin typeface="Gill Sans MT"/>
                <a:cs typeface="Gill Sans MT"/>
              </a:rPr>
              <a:t>from </a:t>
            </a:r>
            <a:r>
              <a:rPr sz="2400" dirty="0">
                <a:latin typeface="Gill Sans MT"/>
                <a:cs typeface="Gill Sans MT"/>
              </a:rPr>
              <a:t>unauthorized</a:t>
            </a:r>
            <a:r>
              <a:rPr lang="zh-CN" altLang="en-US" sz="2400" dirty="0">
                <a:latin typeface="Gill Sans MT"/>
                <a:cs typeface="Gill Sans MT"/>
              </a:rPr>
              <a:t>（没授权的）</a:t>
            </a:r>
            <a:r>
              <a:rPr sz="2400" dirty="0">
                <a:latin typeface="Gill Sans MT"/>
                <a:cs typeface="Gill Sans MT"/>
              </a:rPr>
              <a:t> access</a:t>
            </a:r>
            <a:r>
              <a:rPr lang="zh-CN" altLang="en-US" sz="2400" dirty="0">
                <a:latin typeface="Gill Sans MT"/>
                <a:cs typeface="Gill Sans MT"/>
              </a:rPr>
              <a:t>（访问）</a:t>
            </a:r>
            <a:endParaRPr sz="2400" dirty="0">
              <a:latin typeface="Gill Sans MT"/>
              <a:cs typeface="Gill Sans MT"/>
            </a:endParaRPr>
          </a:p>
          <a:p>
            <a:pPr marL="756285" lvl="1" indent="-287020">
              <a:lnSpc>
                <a:spcPct val="100000"/>
              </a:lnSpc>
              <a:spcBef>
                <a:spcPts val="500"/>
              </a:spcBef>
              <a:buChar char="–"/>
              <a:tabLst>
                <a:tab pos="756285" algn="l"/>
                <a:tab pos="756920" algn="l"/>
              </a:tabLst>
            </a:pPr>
            <a:r>
              <a:rPr sz="2000" dirty="0">
                <a:latin typeface="Gill Sans MT"/>
                <a:cs typeface="Gill Sans MT"/>
              </a:rPr>
              <a:t>Students cannot change their course</a:t>
            </a:r>
            <a:r>
              <a:rPr sz="2000" spc="-150" dirty="0">
                <a:latin typeface="Gill Sans MT"/>
                <a:cs typeface="Gill Sans MT"/>
              </a:rPr>
              <a:t> </a:t>
            </a:r>
            <a:r>
              <a:rPr sz="2000" spc="-5" dirty="0">
                <a:latin typeface="Gill Sans MT"/>
                <a:cs typeface="Gill Sans MT"/>
              </a:rPr>
              <a:t>grades.</a:t>
            </a:r>
            <a:endParaRPr sz="2000" dirty="0">
              <a:latin typeface="Gill Sans MT"/>
              <a:cs typeface="Gill Sans MT"/>
            </a:endParaRPr>
          </a:p>
          <a:p>
            <a:pPr marL="355600" indent="-343535">
              <a:lnSpc>
                <a:spcPct val="100000"/>
              </a:lnSpc>
              <a:spcBef>
                <a:spcPts val="560"/>
              </a:spcBef>
              <a:buChar char="•"/>
              <a:tabLst>
                <a:tab pos="355600" algn="l"/>
                <a:tab pos="356235" algn="l"/>
              </a:tabLst>
            </a:pPr>
            <a:r>
              <a:rPr sz="2400" spc="-10" dirty="0">
                <a:latin typeface="Gill Sans MT"/>
                <a:cs typeface="Gill Sans MT"/>
              </a:rPr>
              <a:t>Protect </a:t>
            </a:r>
            <a:r>
              <a:rPr sz="2400" spc="-20" dirty="0">
                <a:latin typeface="Gill Sans MT"/>
                <a:cs typeface="Gill Sans MT"/>
              </a:rPr>
              <a:t>from </a:t>
            </a:r>
            <a:r>
              <a:rPr sz="2400" dirty="0">
                <a:latin typeface="Gill Sans MT"/>
                <a:cs typeface="Gill Sans MT"/>
              </a:rPr>
              <a:t>system</a:t>
            </a:r>
            <a:r>
              <a:rPr sz="2400" spc="-10" dirty="0">
                <a:latin typeface="Gill Sans MT"/>
                <a:cs typeface="Gill Sans MT"/>
              </a:rPr>
              <a:t> </a:t>
            </a:r>
            <a:r>
              <a:rPr sz="2400" dirty="0">
                <a:latin typeface="Gill Sans MT"/>
                <a:cs typeface="Gill Sans MT"/>
              </a:rPr>
              <a:t>crashes</a:t>
            </a:r>
          </a:p>
          <a:p>
            <a:pPr marL="756285" lvl="1" indent="-287020">
              <a:lnSpc>
                <a:spcPct val="100000"/>
              </a:lnSpc>
              <a:spcBef>
                <a:spcPts val="495"/>
              </a:spcBef>
              <a:buChar char="–"/>
              <a:tabLst>
                <a:tab pos="756285" algn="l"/>
                <a:tab pos="756920" algn="l"/>
              </a:tabLst>
            </a:pPr>
            <a:r>
              <a:rPr sz="2000" dirty="0">
                <a:latin typeface="Gill Sans MT"/>
                <a:cs typeface="Gill Sans MT"/>
              </a:rPr>
              <a:t>When</a:t>
            </a:r>
            <a:r>
              <a:rPr sz="2000" spc="-10" dirty="0">
                <a:latin typeface="Gill Sans MT"/>
                <a:cs typeface="Gill Sans MT"/>
              </a:rPr>
              <a:t> </a:t>
            </a:r>
            <a:r>
              <a:rPr sz="2000" dirty="0">
                <a:latin typeface="Gill Sans MT"/>
                <a:cs typeface="Gill Sans MT"/>
              </a:rPr>
              <a:t>some</a:t>
            </a:r>
            <a:r>
              <a:rPr sz="2000" spc="-20" dirty="0">
                <a:latin typeface="Gill Sans MT"/>
                <a:cs typeface="Gill Sans MT"/>
              </a:rPr>
              <a:t> </a:t>
            </a:r>
            <a:r>
              <a:rPr sz="2000" dirty="0">
                <a:latin typeface="Gill Sans MT"/>
                <a:cs typeface="Gill Sans MT"/>
              </a:rPr>
              <a:t>system</a:t>
            </a:r>
            <a:r>
              <a:rPr sz="2000" spc="5" dirty="0">
                <a:latin typeface="Gill Sans MT"/>
                <a:cs typeface="Gill Sans MT"/>
              </a:rPr>
              <a:t> </a:t>
            </a:r>
            <a:r>
              <a:rPr sz="2000" dirty="0">
                <a:latin typeface="Gill Sans MT"/>
                <a:cs typeface="Gill Sans MT"/>
              </a:rPr>
              <a:t>components</a:t>
            </a:r>
            <a:r>
              <a:rPr sz="2000" spc="-25" dirty="0">
                <a:latin typeface="Gill Sans MT"/>
                <a:cs typeface="Gill Sans MT"/>
              </a:rPr>
              <a:t> </a:t>
            </a:r>
            <a:r>
              <a:rPr sz="2000" dirty="0">
                <a:latin typeface="Gill Sans MT"/>
                <a:cs typeface="Gill Sans MT"/>
              </a:rPr>
              <a:t>fail</a:t>
            </a:r>
            <a:r>
              <a:rPr sz="2000" spc="-25" dirty="0">
                <a:latin typeface="Gill Sans MT"/>
                <a:cs typeface="Gill Sans MT"/>
              </a:rPr>
              <a:t> </a:t>
            </a:r>
            <a:r>
              <a:rPr sz="2000" spc="-10" dirty="0">
                <a:latin typeface="Gill Sans MT"/>
                <a:cs typeface="Gill Sans MT"/>
              </a:rPr>
              <a:t>(hard </a:t>
            </a:r>
            <a:r>
              <a:rPr sz="2000" spc="-5" dirty="0">
                <a:latin typeface="Gill Sans MT"/>
                <a:cs typeface="Gill Sans MT"/>
              </a:rPr>
              <a:t>drive,</a:t>
            </a:r>
            <a:r>
              <a:rPr sz="2000" spc="-220" dirty="0">
                <a:latin typeface="Gill Sans MT"/>
                <a:cs typeface="Gill Sans MT"/>
              </a:rPr>
              <a:t> </a:t>
            </a:r>
            <a:r>
              <a:rPr sz="2000" spc="-5" dirty="0">
                <a:latin typeface="Gill Sans MT"/>
                <a:cs typeface="Gill Sans MT"/>
              </a:rPr>
              <a:t>network,</a:t>
            </a:r>
            <a:r>
              <a:rPr sz="2000" spc="-245" dirty="0">
                <a:latin typeface="Gill Sans MT"/>
                <a:cs typeface="Gill Sans MT"/>
              </a:rPr>
              <a:t> </a:t>
            </a:r>
            <a:r>
              <a:rPr sz="2000" dirty="0">
                <a:latin typeface="Gill Sans MT"/>
                <a:cs typeface="Gill Sans MT"/>
              </a:rPr>
              <a:t>etc.),</a:t>
            </a:r>
          </a:p>
          <a:p>
            <a:pPr marL="756285">
              <a:lnSpc>
                <a:spcPct val="100000"/>
              </a:lnSpc>
            </a:pPr>
            <a:r>
              <a:rPr sz="2000" dirty="0">
                <a:latin typeface="Gill Sans MT"/>
                <a:cs typeface="Gill Sans MT"/>
              </a:rPr>
              <a:t>database </a:t>
            </a:r>
            <a:r>
              <a:rPr sz="2000" spc="-5" dirty="0">
                <a:latin typeface="Gill Sans MT"/>
                <a:cs typeface="Gill Sans MT"/>
              </a:rPr>
              <a:t>can </a:t>
            </a:r>
            <a:r>
              <a:rPr sz="2000" dirty="0">
                <a:latin typeface="Gill Sans MT"/>
                <a:cs typeface="Gill Sans MT"/>
              </a:rPr>
              <a:t>be </a:t>
            </a:r>
            <a:r>
              <a:rPr sz="2000" spc="-10" dirty="0">
                <a:latin typeface="Gill Sans MT"/>
                <a:cs typeface="Gill Sans MT"/>
              </a:rPr>
              <a:t>restored </a:t>
            </a:r>
            <a:r>
              <a:rPr sz="2000" dirty="0">
                <a:latin typeface="Gill Sans MT"/>
                <a:cs typeface="Gill Sans MT"/>
              </a:rPr>
              <a:t>to a </a:t>
            </a:r>
            <a:r>
              <a:rPr sz="2000" spc="-10" dirty="0">
                <a:latin typeface="Gill Sans MT"/>
                <a:cs typeface="Gill Sans MT"/>
              </a:rPr>
              <a:t>good</a:t>
            </a:r>
            <a:r>
              <a:rPr sz="2000" spc="-110" dirty="0">
                <a:latin typeface="Gill Sans MT"/>
                <a:cs typeface="Gill Sans MT"/>
              </a:rPr>
              <a:t> </a:t>
            </a:r>
            <a:r>
              <a:rPr sz="2000" spc="5" dirty="0">
                <a:latin typeface="Gill Sans MT"/>
                <a:cs typeface="Gill Sans MT"/>
              </a:rPr>
              <a:t>state.</a:t>
            </a:r>
            <a:endParaRPr sz="2000" dirty="0">
              <a:latin typeface="Gill Sans MT"/>
              <a:cs typeface="Gill Sans M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250440" marR="5080" indent="-2237740">
              <a:lnSpc>
                <a:spcPct val="100000"/>
              </a:lnSpc>
              <a:spcBef>
                <a:spcPts val="105"/>
              </a:spcBef>
            </a:pPr>
            <a:r>
              <a:rPr sz="4400" spc="-25" dirty="0"/>
              <a:t>More </a:t>
            </a:r>
            <a:r>
              <a:rPr sz="4400" spc="-10" dirty="0"/>
              <a:t>on </a:t>
            </a:r>
            <a:r>
              <a:rPr sz="4400" dirty="0"/>
              <a:t>what can </a:t>
            </a:r>
            <a:r>
              <a:rPr sz="4400" spc="-5" dirty="0"/>
              <a:t>DBMS </a:t>
            </a:r>
            <a:r>
              <a:rPr sz="4400" dirty="0"/>
              <a:t>do </a:t>
            </a:r>
            <a:r>
              <a:rPr sz="4400" spc="-20" dirty="0"/>
              <a:t>for  </a:t>
            </a:r>
            <a:r>
              <a:rPr sz="4400" spc="-5" dirty="0"/>
              <a:t>applications?</a:t>
            </a:r>
            <a:endParaRPr sz="4400" dirty="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5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64540" y="1915794"/>
            <a:ext cx="7319314" cy="43133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95"/>
              </a:spcBef>
              <a:buChar char="•"/>
              <a:tabLst>
                <a:tab pos="355600" algn="l"/>
                <a:tab pos="356235" algn="l"/>
              </a:tabLst>
            </a:pPr>
            <a:r>
              <a:rPr sz="2800" spc="-15" dirty="0">
                <a:latin typeface="Gill Sans MT"/>
                <a:cs typeface="Gill Sans MT"/>
              </a:rPr>
              <a:t>Protect </a:t>
            </a:r>
            <a:r>
              <a:rPr sz="2800" spc="-25" dirty="0">
                <a:latin typeface="Gill Sans MT"/>
                <a:cs typeface="Gill Sans MT"/>
              </a:rPr>
              <a:t>from </a:t>
            </a:r>
            <a:r>
              <a:rPr sz="2800" spc="-15" dirty="0">
                <a:latin typeface="Gill Sans MT"/>
                <a:cs typeface="Gill Sans MT"/>
              </a:rPr>
              <a:t>incorrect</a:t>
            </a:r>
            <a:r>
              <a:rPr sz="2800" spc="65" dirty="0">
                <a:latin typeface="Gill Sans MT"/>
                <a:cs typeface="Gill Sans MT"/>
              </a:rPr>
              <a:t> </a:t>
            </a:r>
            <a:r>
              <a:rPr sz="2800" spc="-5" dirty="0">
                <a:latin typeface="Gill Sans MT"/>
                <a:cs typeface="Gill Sans MT"/>
              </a:rPr>
              <a:t>inputs</a:t>
            </a:r>
            <a:endParaRPr sz="2800" dirty="0">
              <a:latin typeface="Gill Sans MT"/>
              <a:cs typeface="Gill Sans MT"/>
            </a:endParaRPr>
          </a:p>
          <a:p>
            <a:pPr marL="756285" lvl="1" indent="-287020">
              <a:lnSpc>
                <a:spcPts val="2870"/>
              </a:lnSpc>
              <a:spcBef>
                <a:spcPts val="15"/>
              </a:spcBef>
              <a:buChar char="–"/>
              <a:tabLst>
                <a:tab pos="756285" algn="l"/>
                <a:tab pos="756920" algn="l"/>
              </a:tabLst>
            </a:pPr>
            <a:r>
              <a:rPr sz="2400" spc="10" dirty="0">
                <a:latin typeface="Gill Sans MT"/>
                <a:cs typeface="Gill Sans MT"/>
              </a:rPr>
              <a:t>Mary </a:t>
            </a:r>
            <a:r>
              <a:rPr sz="2400" spc="-5" dirty="0">
                <a:latin typeface="Gill Sans MT"/>
                <a:cs typeface="Gill Sans MT"/>
              </a:rPr>
              <a:t>has </a:t>
            </a:r>
            <a:r>
              <a:rPr sz="2400" spc="-15" dirty="0">
                <a:latin typeface="Gill Sans MT"/>
                <a:cs typeface="Gill Sans MT"/>
              </a:rPr>
              <a:t>registered </a:t>
            </a:r>
            <a:r>
              <a:rPr sz="2400" spc="-10" dirty="0">
                <a:latin typeface="Gill Sans MT"/>
                <a:cs typeface="Gill Sans MT"/>
              </a:rPr>
              <a:t>for </a:t>
            </a:r>
            <a:r>
              <a:rPr sz="2400" dirty="0">
                <a:latin typeface="Gill Sans MT"/>
                <a:cs typeface="Gill Sans MT"/>
              </a:rPr>
              <a:t>100 courses</a:t>
            </a:r>
          </a:p>
          <a:p>
            <a:pPr marL="355600" indent="-343535">
              <a:lnSpc>
                <a:spcPts val="3350"/>
              </a:lnSpc>
              <a:buChar char="•"/>
              <a:tabLst>
                <a:tab pos="355600" algn="l"/>
                <a:tab pos="356235" algn="l"/>
              </a:tabLst>
            </a:pPr>
            <a:r>
              <a:rPr sz="2800" spc="5" dirty="0">
                <a:latin typeface="Gill Sans MT"/>
                <a:cs typeface="Gill Sans MT"/>
              </a:rPr>
              <a:t>Support </a:t>
            </a:r>
            <a:r>
              <a:rPr sz="2800" spc="-10" dirty="0">
                <a:latin typeface="Gill Sans MT"/>
                <a:cs typeface="Gill Sans MT"/>
              </a:rPr>
              <a:t>concurrent</a:t>
            </a:r>
            <a:r>
              <a:rPr lang="zh-CN" altLang="en-US" sz="2800" spc="-10" dirty="0">
                <a:latin typeface="Gill Sans MT"/>
                <a:cs typeface="Gill Sans MT"/>
              </a:rPr>
              <a:t>（并发）</a:t>
            </a:r>
            <a:r>
              <a:rPr sz="2800" spc="-10" dirty="0">
                <a:latin typeface="Gill Sans MT"/>
                <a:cs typeface="Gill Sans MT"/>
              </a:rPr>
              <a:t> </a:t>
            </a:r>
            <a:r>
              <a:rPr sz="2800" spc="-5" dirty="0">
                <a:latin typeface="Gill Sans MT"/>
                <a:cs typeface="Gill Sans MT"/>
              </a:rPr>
              <a:t>access </a:t>
            </a:r>
            <a:r>
              <a:rPr sz="2800" spc="-25" dirty="0">
                <a:latin typeface="Gill Sans MT"/>
                <a:cs typeface="Gill Sans MT"/>
              </a:rPr>
              <a:t>from </a:t>
            </a:r>
            <a:r>
              <a:rPr sz="2800" spc="-5" dirty="0">
                <a:latin typeface="Gill Sans MT"/>
                <a:cs typeface="Gill Sans MT"/>
              </a:rPr>
              <a:t>multiple</a:t>
            </a:r>
            <a:r>
              <a:rPr sz="2800" spc="35" dirty="0">
                <a:latin typeface="Gill Sans MT"/>
                <a:cs typeface="Gill Sans MT"/>
              </a:rPr>
              <a:t> </a:t>
            </a:r>
            <a:r>
              <a:rPr sz="2800" spc="-5" dirty="0">
                <a:latin typeface="Gill Sans MT"/>
                <a:cs typeface="Gill Sans MT"/>
              </a:rPr>
              <a:t>users</a:t>
            </a:r>
            <a:endParaRPr sz="2800" dirty="0">
              <a:latin typeface="Gill Sans MT"/>
              <a:cs typeface="Gill Sans MT"/>
            </a:endParaRPr>
          </a:p>
          <a:p>
            <a:pPr marL="756285" marR="208915" lvl="1" indent="-287020">
              <a:lnSpc>
                <a:spcPts val="2300"/>
              </a:lnSpc>
              <a:spcBef>
                <a:spcPts val="580"/>
              </a:spcBef>
              <a:buChar char="–"/>
              <a:tabLst>
                <a:tab pos="756285" algn="l"/>
                <a:tab pos="756920" algn="l"/>
              </a:tabLst>
            </a:pPr>
            <a:r>
              <a:rPr sz="2400" dirty="0">
                <a:latin typeface="Gill Sans MT"/>
                <a:cs typeface="Gill Sans MT"/>
              </a:rPr>
              <a:t>1000 students using the </a:t>
            </a:r>
            <a:r>
              <a:rPr sz="2400" spc="-5" dirty="0">
                <a:latin typeface="Gill Sans MT"/>
                <a:cs typeface="Gill Sans MT"/>
              </a:rPr>
              <a:t>registration </a:t>
            </a:r>
            <a:r>
              <a:rPr sz="2400" dirty="0">
                <a:latin typeface="Gill Sans MT"/>
                <a:cs typeface="Gill Sans MT"/>
              </a:rPr>
              <a:t>system at</a:t>
            </a:r>
            <a:r>
              <a:rPr sz="2400" spc="-130" dirty="0">
                <a:latin typeface="Gill Sans MT"/>
                <a:cs typeface="Gill Sans MT"/>
              </a:rPr>
              <a:t> </a:t>
            </a:r>
            <a:r>
              <a:rPr sz="2400" dirty="0">
                <a:latin typeface="Gill Sans MT"/>
                <a:cs typeface="Gill Sans MT"/>
              </a:rPr>
              <a:t>the  </a:t>
            </a:r>
            <a:r>
              <a:rPr sz="2400" spc="-5" dirty="0">
                <a:latin typeface="Gill Sans MT"/>
                <a:cs typeface="Gill Sans MT"/>
              </a:rPr>
              <a:t>same</a:t>
            </a:r>
            <a:r>
              <a:rPr sz="2400" dirty="0">
                <a:latin typeface="Gill Sans MT"/>
                <a:cs typeface="Gill Sans MT"/>
              </a:rPr>
              <a:t> time</a:t>
            </a:r>
          </a:p>
          <a:p>
            <a:pPr marL="355600" marR="683895" indent="-343535">
              <a:lnSpc>
                <a:spcPts val="2690"/>
              </a:lnSpc>
              <a:spcBef>
                <a:spcPts val="655"/>
              </a:spcBef>
              <a:buChar char="•"/>
              <a:tabLst>
                <a:tab pos="355600" algn="l"/>
                <a:tab pos="356235" algn="l"/>
              </a:tabLst>
            </a:pPr>
            <a:r>
              <a:rPr sz="2800" spc="-10" dirty="0">
                <a:latin typeface="Gill Sans MT"/>
                <a:cs typeface="Gill Sans MT"/>
              </a:rPr>
              <a:t>Allow </a:t>
            </a:r>
            <a:r>
              <a:rPr sz="2800" spc="-5" dirty="0">
                <a:latin typeface="Gill Sans MT"/>
                <a:cs typeface="Gill Sans MT"/>
              </a:rPr>
              <a:t>administrators to easily change data  </a:t>
            </a:r>
            <a:r>
              <a:rPr sz="2800" dirty="0">
                <a:latin typeface="Gill Sans MT"/>
                <a:cs typeface="Gill Sans MT"/>
              </a:rPr>
              <a:t>schema</a:t>
            </a:r>
            <a:r>
              <a:rPr lang="zh-CN" altLang="en-US" sz="2800" dirty="0">
                <a:latin typeface="Gill Sans MT"/>
                <a:cs typeface="Gill Sans MT"/>
              </a:rPr>
              <a:t>（架构）</a:t>
            </a:r>
            <a:endParaRPr sz="2800" dirty="0">
              <a:latin typeface="Gill Sans MT"/>
              <a:cs typeface="Gill Sans MT"/>
            </a:endParaRPr>
          </a:p>
          <a:p>
            <a:pPr marL="756285" lvl="1" indent="-287020">
              <a:lnSpc>
                <a:spcPts val="2870"/>
              </a:lnSpc>
              <a:spcBef>
                <a:spcPts val="40"/>
              </a:spcBef>
              <a:buChar char="–"/>
              <a:tabLst>
                <a:tab pos="756285" algn="l"/>
                <a:tab pos="756920" algn="l"/>
              </a:tabLst>
            </a:pPr>
            <a:r>
              <a:rPr sz="2400" dirty="0">
                <a:latin typeface="Gill Sans MT"/>
                <a:cs typeface="Gill Sans MT"/>
              </a:rPr>
              <a:t>At a </a:t>
            </a:r>
            <a:r>
              <a:rPr sz="2400" spc="-5" dirty="0">
                <a:latin typeface="Gill Sans MT"/>
                <a:cs typeface="Gill Sans MT"/>
              </a:rPr>
              <a:t>later </a:t>
            </a:r>
            <a:r>
              <a:rPr sz="2400" spc="5" dirty="0">
                <a:latin typeface="Gill Sans MT"/>
                <a:cs typeface="Gill Sans MT"/>
              </a:rPr>
              <a:t>time, </a:t>
            </a:r>
            <a:r>
              <a:rPr sz="2400" spc="-10" dirty="0">
                <a:latin typeface="Gill Sans MT"/>
                <a:cs typeface="Gill Sans MT"/>
              </a:rPr>
              <a:t>add </a:t>
            </a:r>
            <a:r>
              <a:rPr sz="2400" spc="-120" dirty="0">
                <a:latin typeface="Gill Sans MT"/>
                <a:cs typeface="Gill Sans MT"/>
              </a:rPr>
              <a:t>TA </a:t>
            </a:r>
            <a:r>
              <a:rPr sz="2400" spc="-10" dirty="0">
                <a:latin typeface="Gill Sans MT"/>
                <a:cs typeface="Gill Sans MT"/>
              </a:rPr>
              <a:t>info </a:t>
            </a:r>
            <a:r>
              <a:rPr sz="2400" dirty="0">
                <a:latin typeface="Gill Sans MT"/>
                <a:cs typeface="Gill Sans MT"/>
              </a:rPr>
              <a:t>to</a:t>
            </a:r>
            <a:r>
              <a:rPr sz="2400" spc="-459" dirty="0">
                <a:latin typeface="Gill Sans MT"/>
                <a:cs typeface="Gill Sans MT"/>
              </a:rPr>
              <a:t> </a:t>
            </a:r>
            <a:r>
              <a:rPr sz="2400" spc="-5" dirty="0">
                <a:latin typeface="Gill Sans MT"/>
                <a:cs typeface="Gill Sans MT"/>
              </a:rPr>
              <a:t>courses.</a:t>
            </a:r>
            <a:endParaRPr sz="2400" dirty="0">
              <a:latin typeface="Gill Sans MT"/>
              <a:cs typeface="Gill Sans MT"/>
            </a:endParaRPr>
          </a:p>
          <a:p>
            <a:pPr marL="355600" indent="-343535">
              <a:lnSpc>
                <a:spcPts val="3350"/>
              </a:lnSpc>
              <a:buChar char="•"/>
              <a:tabLst>
                <a:tab pos="355600" algn="l"/>
                <a:tab pos="356235" algn="l"/>
              </a:tabLst>
            </a:pPr>
            <a:r>
              <a:rPr sz="2800" spc="-5" dirty="0">
                <a:latin typeface="Gill Sans MT"/>
                <a:cs typeface="Gill Sans MT"/>
              </a:rPr>
              <a:t>Efficient </a:t>
            </a:r>
            <a:r>
              <a:rPr lang="zh-CN" altLang="en-US" sz="2800" spc="-5" dirty="0">
                <a:latin typeface="Gill Sans MT"/>
                <a:cs typeface="Gill Sans MT"/>
              </a:rPr>
              <a:t>（高效）</a:t>
            </a:r>
            <a:r>
              <a:rPr sz="2800" spc="-5" dirty="0">
                <a:latin typeface="Gill Sans MT"/>
                <a:cs typeface="Gill Sans MT"/>
              </a:rPr>
              <a:t>database</a:t>
            </a:r>
            <a:r>
              <a:rPr sz="2800" spc="25" dirty="0">
                <a:latin typeface="Gill Sans MT"/>
                <a:cs typeface="Gill Sans MT"/>
              </a:rPr>
              <a:t> </a:t>
            </a:r>
            <a:r>
              <a:rPr sz="2800" spc="-5" dirty="0">
                <a:latin typeface="Gill Sans MT"/>
                <a:cs typeface="Gill Sans MT"/>
              </a:rPr>
              <a:t>operations</a:t>
            </a:r>
            <a:endParaRPr sz="2800" dirty="0">
              <a:latin typeface="Gill Sans MT"/>
              <a:cs typeface="Gill Sans MT"/>
            </a:endParaRPr>
          </a:p>
          <a:p>
            <a:pPr marL="756285" lvl="1" indent="-287020">
              <a:lnSpc>
                <a:spcPct val="100000"/>
              </a:lnSpc>
              <a:spcBef>
                <a:spcPts val="15"/>
              </a:spcBef>
              <a:buChar char="–"/>
              <a:tabLst>
                <a:tab pos="756285" algn="l"/>
                <a:tab pos="756920" algn="l"/>
              </a:tabLst>
            </a:pPr>
            <a:r>
              <a:rPr sz="2400" spc="-10" dirty="0">
                <a:latin typeface="Gill Sans MT"/>
                <a:cs typeface="Gill Sans MT"/>
              </a:rPr>
              <a:t>Search for </a:t>
            </a:r>
            <a:r>
              <a:rPr sz="2400" dirty="0">
                <a:latin typeface="Gill Sans MT"/>
                <a:cs typeface="Gill Sans MT"/>
              </a:rPr>
              <a:t>students </a:t>
            </a:r>
            <a:r>
              <a:rPr sz="2400" spc="-5" dirty="0">
                <a:latin typeface="Gill Sans MT"/>
                <a:cs typeface="Gill Sans MT"/>
              </a:rPr>
              <a:t>with </a:t>
            </a:r>
            <a:r>
              <a:rPr sz="2400" dirty="0">
                <a:latin typeface="Gill Sans MT"/>
                <a:cs typeface="Gill Sans MT"/>
              </a:rPr>
              <a:t>5 highest</a:t>
            </a:r>
            <a:r>
              <a:rPr sz="2400" spc="-40" dirty="0">
                <a:latin typeface="Gill Sans MT"/>
                <a:cs typeface="Gill Sans MT"/>
              </a:rPr>
              <a:t> </a:t>
            </a:r>
            <a:r>
              <a:rPr sz="2400" spc="-50" dirty="0">
                <a:latin typeface="Gill Sans MT"/>
                <a:cs typeface="Gill Sans MT"/>
              </a:rPr>
              <a:t>GPAs</a:t>
            </a:r>
            <a:endParaRPr sz="2400" dirty="0">
              <a:latin typeface="Gill Sans MT"/>
              <a:cs typeface="Gill Sans M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09802" y="152400"/>
            <a:ext cx="5715000" cy="136768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10" dirty="0"/>
              <a:t>Alternative</a:t>
            </a:r>
            <a:r>
              <a:rPr lang="zh-CN" altLang="en-US" sz="4400" spc="-10" dirty="0"/>
              <a:t>（替代方案）</a:t>
            </a:r>
            <a:r>
              <a:rPr sz="4400" spc="-10" dirty="0"/>
              <a:t> </a:t>
            </a:r>
            <a:r>
              <a:rPr sz="4400" spc="-5" dirty="0"/>
              <a:t>to Using </a:t>
            </a:r>
            <a:r>
              <a:rPr sz="4400" dirty="0"/>
              <a:t>a</a:t>
            </a:r>
            <a:r>
              <a:rPr sz="4400" spc="-45" dirty="0"/>
              <a:t> </a:t>
            </a:r>
            <a:r>
              <a:rPr sz="4400" dirty="0"/>
              <a:t>DBMS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6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47648" y="1458652"/>
            <a:ext cx="7658100" cy="5246948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434"/>
              </a:spcBef>
              <a:buChar char="•"/>
              <a:tabLst>
                <a:tab pos="355600" algn="l"/>
                <a:tab pos="356235" algn="l"/>
              </a:tabLst>
            </a:pPr>
            <a:r>
              <a:rPr sz="2800" spc="-15" dirty="0">
                <a:latin typeface="Gill Sans MT"/>
                <a:cs typeface="Gill Sans MT"/>
              </a:rPr>
              <a:t>Store </a:t>
            </a:r>
            <a:r>
              <a:rPr sz="2800" spc="-5" dirty="0">
                <a:latin typeface="Gill Sans MT"/>
                <a:cs typeface="Gill Sans MT"/>
              </a:rPr>
              <a:t>data as files in operating</a:t>
            </a:r>
            <a:r>
              <a:rPr sz="2800" spc="55" dirty="0">
                <a:latin typeface="Gill Sans MT"/>
                <a:cs typeface="Gill Sans MT"/>
              </a:rPr>
              <a:t> </a:t>
            </a:r>
            <a:r>
              <a:rPr sz="2800" spc="-5" dirty="0">
                <a:latin typeface="Gill Sans MT"/>
                <a:cs typeface="Gill Sans MT"/>
              </a:rPr>
              <a:t>systems.</a:t>
            </a:r>
            <a:endParaRPr sz="2800" dirty="0">
              <a:latin typeface="Gill Sans MT"/>
              <a:cs typeface="Gill Sans MT"/>
            </a:endParaRPr>
          </a:p>
          <a:p>
            <a:pPr marL="355600" indent="-343535">
              <a:lnSpc>
                <a:spcPct val="100000"/>
              </a:lnSpc>
              <a:spcBef>
                <a:spcPts val="335"/>
              </a:spcBef>
              <a:buChar char="•"/>
              <a:tabLst>
                <a:tab pos="355600" algn="l"/>
                <a:tab pos="356235" algn="l"/>
              </a:tabLst>
            </a:pPr>
            <a:r>
              <a:rPr sz="2800" spc="-5" dirty="0">
                <a:latin typeface="Gill Sans MT"/>
                <a:cs typeface="Gill Sans MT"/>
              </a:rPr>
              <a:t>Applications </a:t>
            </a:r>
            <a:r>
              <a:rPr sz="2800" spc="-45" dirty="0">
                <a:latin typeface="Gill Sans MT"/>
                <a:cs typeface="Gill Sans MT"/>
              </a:rPr>
              <a:t>have </a:t>
            </a:r>
            <a:r>
              <a:rPr sz="2800" dirty="0">
                <a:latin typeface="Gill Sans MT"/>
                <a:cs typeface="Gill Sans MT"/>
              </a:rPr>
              <a:t>to </a:t>
            </a:r>
            <a:r>
              <a:rPr sz="2800" spc="-5" dirty="0">
                <a:latin typeface="Gill Sans MT"/>
                <a:cs typeface="Gill Sans MT"/>
              </a:rPr>
              <a:t>deal with the </a:t>
            </a:r>
            <a:r>
              <a:rPr sz="2800" spc="-10" dirty="0">
                <a:latin typeface="Gill Sans MT"/>
                <a:cs typeface="Gill Sans MT"/>
              </a:rPr>
              <a:t>following</a:t>
            </a:r>
            <a:r>
              <a:rPr sz="2800" spc="60" dirty="0">
                <a:latin typeface="Gill Sans MT"/>
                <a:cs typeface="Gill Sans MT"/>
              </a:rPr>
              <a:t> </a:t>
            </a:r>
            <a:r>
              <a:rPr sz="2800" spc="-5" dirty="0">
                <a:latin typeface="Gill Sans MT"/>
                <a:cs typeface="Gill Sans MT"/>
              </a:rPr>
              <a:t>issues:</a:t>
            </a:r>
            <a:endParaRPr sz="2800" dirty="0">
              <a:latin typeface="Gill Sans MT"/>
              <a:cs typeface="Gill Sans MT"/>
            </a:endParaRPr>
          </a:p>
          <a:p>
            <a:pPr marL="756285" lvl="1" indent="-287020">
              <a:lnSpc>
                <a:spcPts val="2735"/>
              </a:lnSpc>
              <a:spcBef>
                <a:spcPts val="305"/>
              </a:spcBef>
              <a:buChar char="–"/>
              <a:tabLst>
                <a:tab pos="756285" algn="l"/>
                <a:tab pos="756920" algn="l"/>
              </a:tabLst>
            </a:pPr>
            <a:r>
              <a:rPr sz="2400" spc="-5" dirty="0">
                <a:latin typeface="Gill Sans MT"/>
                <a:cs typeface="Gill Sans MT"/>
              </a:rPr>
              <a:t>32-bit </a:t>
            </a:r>
            <a:r>
              <a:rPr sz="2400" spc="-10" dirty="0">
                <a:latin typeface="Gill Sans MT"/>
                <a:cs typeface="Gill Sans MT"/>
              </a:rPr>
              <a:t>addressing </a:t>
            </a:r>
            <a:r>
              <a:rPr sz="2400" spc="-5" dirty="0">
                <a:latin typeface="Gill Sans MT"/>
                <a:cs typeface="Gill Sans MT"/>
              </a:rPr>
              <a:t>(4GB) </a:t>
            </a:r>
            <a:r>
              <a:rPr lang="zh-CN" altLang="en-US" sz="2400" spc="-5" dirty="0">
                <a:latin typeface="Gill Sans MT"/>
                <a:cs typeface="Gill Sans MT"/>
              </a:rPr>
              <a:t>（寻址）</a:t>
            </a:r>
            <a:r>
              <a:rPr sz="2400" spc="-5" dirty="0">
                <a:latin typeface="Gill Sans MT"/>
                <a:cs typeface="Gill Sans MT"/>
              </a:rPr>
              <a:t>is insufficient </a:t>
            </a:r>
            <a:r>
              <a:rPr lang="zh-CN" altLang="en-US" sz="2400" spc="-5" dirty="0">
                <a:latin typeface="Gill Sans MT"/>
                <a:cs typeface="Gill Sans MT"/>
              </a:rPr>
              <a:t>（不够）</a:t>
            </a:r>
            <a:r>
              <a:rPr sz="2400" dirty="0">
                <a:latin typeface="Gill Sans MT"/>
                <a:cs typeface="Gill Sans MT"/>
              </a:rPr>
              <a:t>to</a:t>
            </a:r>
            <a:r>
              <a:rPr sz="2400" spc="-25" dirty="0">
                <a:latin typeface="Gill Sans MT"/>
                <a:cs typeface="Gill Sans MT"/>
              </a:rPr>
              <a:t> </a:t>
            </a:r>
            <a:r>
              <a:rPr sz="2400" spc="-15" dirty="0">
                <a:latin typeface="Gill Sans MT"/>
                <a:cs typeface="Gill Sans MT"/>
              </a:rPr>
              <a:t>address</a:t>
            </a:r>
            <a:endParaRPr sz="2400" dirty="0">
              <a:latin typeface="Gill Sans MT"/>
              <a:cs typeface="Gill Sans MT"/>
            </a:endParaRPr>
          </a:p>
          <a:p>
            <a:pPr marL="756285">
              <a:lnSpc>
                <a:spcPts val="2735"/>
              </a:lnSpc>
            </a:pPr>
            <a:r>
              <a:rPr sz="2400" dirty="0">
                <a:latin typeface="Gill Sans MT"/>
                <a:cs typeface="Gill Sans MT"/>
              </a:rPr>
              <a:t>100GB+ data</a:t>
            </a:r>
            <a:r>
              <a:rPr sz="2400" spc="-20" dirty="0">
                <a:latin typeface="Gill Sans MT"/>
                <a:cs typeface="Gill Sans MT"/>
              </a:rPr>
              <a:t> </a:t>
            </a:r>
            <a:r>
              <a:rPr sz="2400" dirty="0">
                <a:latin typeface="Gill Sans MT"/>
                <a:cs typeface="Gill Sans MT"/>
              </a:rPr>
              <a:t>file</a:t>
            </a:r>
          </a:p>
          <a:p>
            <a:pPr marL="756285" lvl="1" indent="-287020">
              <a:lnSpc>
                <a:spcPct val="100000"/>
              </a:lnSpc>
              <a:spcBef>
                <a:spcPts val="290"/>
              </a:spcBef>
              <a:buChar char="–"/>
              <a:tabLst>
                <a:tab pos="756285" algn="l"/>
                <a:tab pos="756920" algn="l"/>
              </a:tabLst>
            </a:pPr>
            <a:r>
              <a:rPr sz="2400" spc="-5" dirty="0">
                <a:latin typeface="Gill Sans MT"/>
                <a:cs typeface="Gill Sans MT"/>
              </a:rPr>
              <a:t>Write </a:t>
            </a:r>
            <a:r>
              <a:rPr sz="2400" dirty="0">
                <a:latin typeface="Gill Sans MT"/>
                <a:cs typeface="Gill Sans MT"/>
              </a:rPr>
              <a:t>special code to </a:t>
            </a:r>
            <a:r>
              <a:rPr sz="2400" spc="5" dirty="0">
                <a:latin typeface="Gill Sans MT"/>
                <a:cs typeface="Gill Sans MT"/>
              </a:rPr>
              <a:t>support </a:t>
            </a:r>
            <a:r>
              <a:rPr sz="2400" spc="-10" dirty="0">
                <a:solidFill>
                  <a:srgbClr val="3333CC"/>
                </a:solidFill>
                <a:latin typeface="Gill Sans MT"/>
                <a:cs typeface="Gill Sans MT"/>
              </a:rPr>
              <a:t>different</a:t>
            </a:r>
            <a:r>
              <a:rPr sz="2400" spc="-40" dirty="0">
                <a:solidFill>
                  <a:srgbClr val="3333CC"/>
                </a:solidFill>
                <a:latin typeface="Gill Sans MT"/>
                <a:cs typeface="Gill Sans MT"/>
              </a:rPr>
              <a:t> </a:t>
            </a:r>
            <a:r>
              <a:rPr sz="2400" spc="-5" dirty="0">
                <a:solidFill>
                  <a:srgbClr val="3333CC"/>
                </a:solidFill>
                <a:latin typeface="Gill Sans MT"/>
                <a:cs typeface="Gill Sans MT"/>
              </a:rPr>
              <a:t>queries</a:t>
            </a:r>
            <a:endParaRPr sz="2400" dirty="0">
              <a:latin typeface="Gill Sans MT"/>
              <a:cs typeface="Gill Sans MT"/>
            </a:endParaRPr>
          </a:p>
          <a:p>
            <a:pPr marL="756285" marR="466090" lvl="1" indent="-287020">
              <a:lnSpc>
                <a:spcPts val="2590"/>
              </a:lnSpc>
              <a:spcBef>
                <a:spcPts val="615"/>
              </a:spcBef>
              <a:buChar char="–"/>
              <a:tabLst>
                <a:tab pos="756285" algn="l"/>
                <a:tab pos="756920" algn="l"/>
              </a:tabLst>
            </a:pPr>
            <a:r>
              <a:rPr sz="2400" spc="-5" dirty="0">
                <a:latin typeface="Gill Sans MT"/>
                <a:cs typeface="Gill Sans MT"/>
              </a:rPr>
              <a:t>Write </a:t>
            </a:r>
            <a:r>
              <a:rPr sz="2400" dirty="0">
                <a:latin typeface="Gill Sans MT"/>
                <a:cs typeface="Gill Sans MT"/>
              </a:rPr>
              <a:t>special code to </a:t>
            </a:r>
            <a:r>
              <a:rPr sz="2400" spc="-10" dirty="0">
                <a:latin typeface="Gill Sans MT"/>
                <a:cs typeface="Gill Sans MT"/>
              </a:rPr>
              <a:t>protect </a:t>
            </a:r>
            <a:r>
              <a:rPr sz="2400" dirty="0">
                <a:latin typeface="Gill Sans MT"/>
                <a:cs typeface="Gill Sans MT"/>
              </a:rPr>
              <a:t>data </a:t>
            </a:r>
            <a:r>
              <a:rPr sz="2400" spc="-20" dirty="0">
                <a:latin typeface="Gill Sans MT"/>
                <a:cs typeface="Gill Sans MT"/>
              </a:rPr>
              <a:t>from </a:t>
            </a:r>
            <a:r>
              <a:rPr sz="2400" spc="-10" dirty="0">
                <a:solidFill>
                  <a:srgbClr val="3333CC"/>
                </a:solidFill>
                <a:latin typeface="Gill Sans MT"/>
                <a:cs typeface="Gill Sans MT"/>
              </a:rPr>
              <a:t>concurrent  </a:t>
            </a:r>
            <a:r>
              <a:rPr sz="2400" dirty="0">
                <a:solidFill>
                  <a:srgbClr val="3333CC"/>
                </a:solidFill>
                <a:latin typeface="Gill Sans MT"/>
                <a:cs typeface="Gill Sans MT"/>
              </a:rPr>
              <a:t>access</a:t>
            </a:r>
            <a:endParaRPr sz="2400" dirty="0">
              <a:latin typeface="Gill Sans MT"/>
              <a:cs typeface="Gill Sans MT"/>
            </a:endParaRPr>
          </a:p>
          <a:p>
            <a:pPr marL="756285" lvl="1" indent="-287020">
              <a:lnSpc>
                <a:spcPct val="100000"/>
              </a:lnSpc>
              <a:spcBef>
                <a:spcPts val="254"/>
              </a:spcBef>
              <a:buChar char="–"/>
              <a:tabLst>
                <a:tab pos="756285" algn="l"/>
                <a:tab pos="756920" algn="l"/>
              </a:tabLst>
            </a:pPr>
            <a:r>
              <a:rPr sz="2400" spc="-5" dirty="0">
                <a:latin typeface="Gill Sans MT"/>
                <a:cs typeface="Gill Sans MT"/>
              </a:rPr>
              <a:t>Write </a:t>
            </a:r>
            <a:r>
              <a:rPr sz="2400" dirty="0">
                <a:latin typeface="Gill Sans MT"/>
                <a:cs typeface="Gill Sans MT"/>
              </a:rPr>
              <a:t>special code to </a:t>
            </a:r>
            <a:r>
              <a:rPr sz="2400" spc="-10" dirty="0">
                <a:latin typeface="Gill Sans MT"/>
                <a:cs typeface="Gill Sans MT"/>
              </a:rPr>
              <a:t>protect </a:t>
            </a:r>
            <a:r>
              <a:rPr sz="2400" spc="-5" dirty="0">
                <a:latin typeface="Gill Sans MT"/>
                <a:cs typeface="Gill Sans MT"/>
              </a:rPr>
              <a:t>against </a:t>
            </a:r>
            <a:r>
              <a:rPr sz="2400" dirty="0">
                <a:solidFill>
                  <a:srgbClr val="3333CC"/>
                </a:solidFill>
                <a:latin typeface="Gill Sans MT"/>
                <a:cs typeface="Gill Sans MT"/>
              </a:rPr>
              <a:t>system</a:t>
            </a:r>
            <a:r>
              <a:rPr sz="2400" spc="-30" dirty="0">
                <a:solidFill>
                  <a:srgbClr val="3333CC"/>
                </a:solidFill>
                <a:latin typeface="Gill Sans MT"/>
                <a:cs typeface="Gill Sans MT"/>
              </a:rPr>
              <a:t> </a:t>
            </a:r>
            <a:r>
              <a:rPr sz="2400" spc="-5" dirty="0">
                <a:solidFill>
                  <a:srgbClr val="3333CC"/>
                </a:solidFill>
                <a:latin typeface="Gill Sans MT"/>
                <a:cs typeface="Gill Sans MT"/>
              </a:rPr>
              <a:t>crashes</a:t>
            </a:r>
            <a:endParaRPr sz="2400" dirty="0">
              <a:latin typeface="Gill Sans MT"/>
              <a:cs typeface="Gill Sans MT"/>
            </a:endParaRPr>
          </a:p>
          <a:p>
            <a:pPr marL="756285" lvl="1" indent="-287020">
              <a:lnSpc>
                <a:spcPct val="100000"/>
              </a:lnSpc>
              <a:spcBef>
                <a:spcPts val="285"/>
              </a:spcBef>
              <a:buChar char="–"/>
              <a:tabLst>
                <a:tab pos="756285" algn="l"/>
                <a:tab pos="756920" algn="l"/>
              </a:tabLst>
            </a:pPr>
            <a:r>
              <a:rPr sz="2400" spc="-5" dirty="0">
                <a:latin typeface="Gill Sans MT"/>
                <a:cs typeface="Gill Sans MT"/>
              </a:rPr>
              <a:t>Optimize </a:t>
            </a:r>
            <a:r>
              <a:rPr lang="zh-CN" altLang="en-US" sz="2400" spc="-5" dirty="0">
                <a:latin typeface="Gill Sans MT"/>
                <a:cs typeface="Gill Sans MT"/>
              </a:rPr>
              <a:t>（优化）</a:t>
            </a:r>
            <a:r>
              <a:rPr sz="2400" spc="-5" dirty="0">
                <a:latin typeface="Gill Sans MT"/>
                <a:cs typeface="Gill Sans MT"/>
              </a:rPr>
              <a:t>applications </a:t>
            </a:r>
            <a:r>
              <a:rPr sz="2400" spc="-10" dirty="0">
                <a:latin typeface="Gill Sans MT"/>
                <a:cs typeface="Gill Sans MT"/>
              </a:rPr>
              <a:t>for </a:t>
            </a:r>
            <a:r>
              <a:rPr sz="2400" spc="-5" dirty="0">
                <a:solidFill>
                  <a:srgbClr val="3333CC"/>
                </a:solidFill>
                <a:latin typeface="Gill Sans MT"/>
                <a:cs typeface="Gill Sans MT"/>
              </a:rPr>
              <a:t>efficient </a:t>
            </a:r>
            <a:r>
              <a:rPr lang="zh-CN" altLang="en-US" sz="2400" spc="-5" dirty="0">
                <a:solidFill>
                  <a:srgbClr val="3333CC"/>
                </a:solidFill>
                <a:latin typeface="Gill Sans MT"/>
                <a:cs typeface="Gill Sans MT"/>
              </a:rPr>
              <a:t>（高效）</a:t>
            </a:r>
            <a:r>
              <a:rPr sz="2400" dirty="0">
                <a:solidFill>
                  <a:srgbClr val="3333CC"/>
                </a:solidFill>
                <a:latin typeface="Gill Sans MT"/>
                <a:cs typeface="Gill Sans MT"/>
              </a:rPr>
              <a:t>access and</a:t>
            </a:r>
            <a:r>
              <a:rPr sz="2400" spc="-35" dirty="0">
                <a:solidFill>
                  <a:srgbClr val="3333CC"/>
                </a:solidFill>
                <a:latin typeface="Gill Sans MT"/>
                <a:cs typeface="Gill Sans MT"/>
              </a:rPr>
              <a:t> </a:t>
            </a:r>
            <a:r>
              <a:rPr sz="2400" spc="10" dirty="0">
                <a:solidFill>
                  <a:srgbClr val="3333CC"/>
                </a:solidFill>
                <a:latin typeface="Gill Sans MT"/>
                <a:cs typeface="Gill Sans MT"/>
              </a:rPr>
              <a:t>query</a:t>
            </a:r>
            <a:endParaRPr sz="2400" dirty="0">
              <a:latin typeface="Gill Sans MT"/>
              <a:cs typeface="Gill Sans MT"/>
            </a:endParaRPr>
          </a:p>
          <a:p>
            <a:pPr marL="756285" lvl="1" indent="-287020">
              <a:lnSpc>
                <a:spcPct val="100000"/>
              </a:lnSpc>
              <a:spcBef>
                <a:spcPts val="290"/>
              </a:spcBef>
              <a:buChar char="–"/>
              <a:tabLst>
                <a:tab pos="756285" algn="l"/>
                <a:tab pos="756920" algn="l"/>
              </a:tabLst>
            </a:pPr>
            <a:r>
              <a:rPr sz="2400" spc="-40" dirty="0">
                <a:latin typeface="Gill Sans MT"/>
                <a:cs typeface="Gill Sans MT"/>
              </a:rPr>
              <a:t>May </a:t>
            </a:r>
            <a:r>
              <a:rPr sz="2400" spc="-5" dirty="0">
                <a:latin typeface="Gill Sans MT"/>
                <a:cs typeface="Gill Sans MT"/>
              </a:rPr>
              <a:t>often </a:t>
            </a:r>
            <a:r>
              <a:rPr sz="2400" spc="-20" dirty="0">
                <a:latin typeface="Gill Sans MT"/>
                <a:cs typeface="Gill Sans MT"/>
              </a:rPr>
              <a:t>rewrite</a:t>
            </a:r>
            <a:r>
              <a:rPr sz="2400" spc="40" dirty="0">
                <a:latin typeface="Gill Sans MT"/>
                <a:cs typeface="Gill Sans MT"/>
              </a:rPr>
              <a:t> </a:t>
            </a:r>
            <a:r>
              <a:rPr sz="2400" spc="-5" dirty="0">
                <a:latin typeface="Gill Sans MT"/>
                <a:cs typeface="Gill Sans MT"/>
              </a:rPr>
              <a:t>applications</a:t>
            </a:r>
            <a:endParaRPr sz="2400" dirty="0">
              <a:latin typeface="Gill Sans MT"/>
              <a:cs typeface="Gill Sans MT"/>
            </a:endParaRPr>
          </a:p>
          <a:p>
            <a:pPr marL="355600" indent="-343535">
              <a:lnSpc>
                <a:spcPct val="100000"/>
              </a:lnSpc>
              <a:spcBef>
                <a:spcPts val="320"/>
              </a:spcBef>
              <a:buChar char="•"/>
              <a:tabLst>
                <a:tab pos="355600" algn="l"/>
                <a:tab pos="356235" algn="l"/>
              </a:tabLst>
            </a:pPr>
            <a:r>
              <a:rPr sz="2800" spc="-5" dirty="0">
                <a:latin typeface="Gill Sans MT"/>
                <a:cs typeface="Gill Sans MT"/>
              </a:rPr>
              <a:t>Easier </a:t>
            </a:r>
            <a:r>
              <a:rPr sz="2800" dirty="0">
                <a:latin typeface="Gill Sans MT"/>
                <a:cs typeface="Gill Sans MT"/>
              </a:rPr>
              <a:t>to buy </a:t>
            </a:r>
            <a:r>
              <a:rPr sz="2800" spc="-5" dirty="0">
                <a:latin typeface="Gill Sans MT"/>
                <a:cs typeface="Gill Sans MT"/>
              </a:rPr>
              <a:t>a DBMS </a:t>
            </a:r>
            <a:r>
              <a:rPr sz="2800" dirty="0">
                <a:latin typeface="Gill Sans MT"/>
                <a:cs typeface="Gill Sans MT"/>
              </a:rPr>
              <a:t>to </a:t>
            </a:r>
            <a:r>
              <a:rPr sz="2800" spc="-5" dirty="0">
                <a:latin typeface="Gill Sans MT"/>
                <a:cs typeface="Gill Sans MT"/>
              </a:rPr>
              <a:t>handle </a:t>
            </a:r>
            <a:r>
              <a:rPr sz="2800" dirty="0">
                <a:latin typeface="Gill Sans MT"/>
                <a:cs typeface="Gill Sans MT"/>
              </a:rPr>
              <a:t>these</a:t>
            </a:r>
            <a:r>
              <a:rPr sz="2800" spc="-20" dirty="0">
                <a:latin typeface="Gill Sans MT"/>
                <a:cs typeface="Gill Sans MT"/>
              </a:rPr>
              <a:t> </a:t>
            </a:r>
            <a:r>
              <a:rPr sz="2800" spc="-5" dirty="0">
                <a:latin typeface="Gill Sans MT"/>
                <a:cs typeface="Gill Sans MT"/>
              </a:rPr>
              <a:t>issues</a:t>
            </a:r>
            <a:endParaRPr sz="2800" dirty="0">
              <a:latin typeface="Gill Sans MT"/>
              <a:cs typeface="Gill Sans M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764155" marR="5080" indent="-2533650">
              <a:lnSpc>
                <a:spcPct val="100000"/>
              </a:lnSpc>
              <a:spcBef>
                <a:spcPts val="105"/>
              </a:spcBef>
            </a:pPr>
            <a:r>
              <a:rPr sz="4400" dirty="0"/>
              <a:t>Database Management</a:t>
            </a:r>
            <a:r>
              <a:rPr sz="4400" spc="-120" dirty="0"/>
              <a:t> </a:t>
            </a:r>
            <a:r>
              <a:rPr sz="4400" spc="-5" dirty="0"/>
              <a:t>System  (DBMS)</a:t>
            </a:r>
            <a:endParaRPr sz="4400" dirty="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7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64540" y="1958467"/>
            <a:ext cx="7172959" cy="1710055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355600" marR="5080" indent="-343535">
              <a:lnSpc>
                <a:spcPts val="3040"/>
              </a:lnSpc>
              <a:spcBef>
                <a:spcPts val="459"/>
              </a:spcBef>
              <a:buChar char="•"/>
              <a:tabLst>
                <a:tab pos="355600" algn="l"/>
                <a:tab pos="356235" algn="l"/>
              </a:tabLst>
            </a:pPr>
            <a:r>
              <a:rPr sz="2800" spc="-5" dirty="0">
                <a:latin typeface="Gill Sans MT"/>
                <a:cs typeface="Gill Sans MT"/>
              </a:rPr>
              <a:t>DBMS is </a:t>
            </a:r>
            <a:r>
              <a:rPr sz="2800" spc="-10" dirty="0">
                <a:latin typeface="Gill Sans MT"/>
                <a:cs typeface="Gill Sans MT"/>
              </a:rPr>
              <a:t>software </a:t>
            </a:r>
            <a:r>
              <a:rPr sz="2800" spc="-5" dirty="0">
                <a:latin typeface="Gill Sans MT"/>
                <a:cs typeface="Gill Sans MT"/>
              </a:rPr>
              <a:t>to </a:t>
            </a:r>
            <a:r>
              <a:rPr sz="2800" spc="-15" dirty="0">
                <a:latin typeface="Gill Sans MT"/>
                <a:cs typeface="Gill Sans MT"/>
              </a:rPr>
              <a:t>store </a:t>
            </a:r>
            <a:r>
              <a:rPr sz="2800" spc="-10" dirty="0">
                <a:latin typeface="Gill Sans MT"/>
                <a:cs typeface="Gill Sans MT"/>
              </a:rPr>
              <a:t>and </a:t>
            </a:r>
            <a:r>
              <a:rPr sz="2800" spc="-5" dirty="0">
                <a:latin typeface="Gill Sans MT"/>
                <a:cs typeface="Gill Sans MT"/>
              </a:rPr>
              <a:t>manage data,</a:t>
            </a:r>
            <a:r>
              <a:rPr sz="2800" spc="-185" dirty="0">
                <a:latin typeface="Gill Sans MT"/>
                <a:cs typeface="Gill Sans MT"/>
              </a:rPr>
              <a:t> </a:t>
            </a:r>
            <a:r>
              <a:rPr sz="2800" spc="-5" dirty="0">
                <a:latin typeface="Gill Sans MT"/>
                <a:cs typeface="Gill Sans MT"/>
              </a:rPr>
              <a:t>so  </a:t>
            </a:r>
            <a:r>
              <a:rPr sz="2800" spc="-10" dirty="0">
                <a:latin typeface="Gill Sans MT"/>
                <a:cs typeface="Gill Sans MT"/>
              </a:rPr>
              <a:t>applications </a:t>
            </a:r>
            <a:r>
              <a:rPr sz="2800" dirty="0">
                <a:latin typeface="Gill Sans MT"/>
                <a:cs typeface="Gill Sans MT"/>
              </a:rPr>
              <a:t>don</a:t>
            </a:r>
            <a:r>
              <a:rPr sz="2800" dirty="0">
                <a:latin typeface="Times New Roman"/>
                <a:cs typeface="Times New Roman"/>
              </a:rPr>
              <a:t>’</a:t>
            </a:r>
            <a:r>
              <a:rPr sz="2800" dirty="0">
                <a:latin typeface="Gill Sans MT"/>
                <a:cs typeface="Gill Sans MT"/>
              </a:rPr>
              <a:t>t </a:t>
            </a:r>
            <a:r>
              <a:rPr sz="2800" spc="-45" dirty="0">
                <a:latin typeface="Gill Sans MT"/>
                <a:cs typeface="Gill Sans MT"/>
              </a:rPr>
              <a:t>have </a:t>
            </a:r>
            <a:r>
              <a:rPr sz="2800" dirty="0">
                <a:latin typeface="Gill Sans MT"/>
                <a:cs typeface="Gill Sans MT"/>
              </a:rPr>
              <a:t>to </a:t>
            </a:r>
            <a:r>
              <a:rPr sz="2800" spc="-5" dirty="0">
                <a:latin typeface="Gill Sans MT"/>
                <a:cs typeface="Gill Sans MT"/>
              </a:rPr>
              <a:t>worry about</a:t>
            </a:r>
            <a:r>
              <a:rPr sz="2800" spc="65" dirty="0">
                <a:latin typeface="Gill Sans MT"/>
                <a:cs typeface="Gill Sans MT"/>
              </a:rPr>
              <a:t> </a:t>
            </a:r>
            <a:r>
              <a:rPr sz="2800" dirty="0">
                <a:latin typeface="Gill Sans MT"/>
                <a:cs typeface="Gill Sans MT"/>
              </a:rPr>
              <a:t>them.</a:t>
            </a:r>
          </a:p>
          <a:p>
            <a:pPr marL="355600" indent="-343535">
              <a:lnSpc>
                <a:spcPct val="100000"/>
              </a:lnSpc>
              <a:spcBef>
                <a:spcPts val="275"/>
              </a:spcBef>
              <a:buChar char="•"/>
              <a:tabLst>
                <a:tab pos="355600" algn="l"/>
                <a:tab pos="356235" algn="l"/>
              </a:tabLst>
            </a:pPr>
            <a:r>
              <a:rPr sz="2800" spc="-5" dirty="0">
                <a:latin typeface="Gill Sans MT"/>
                <a:cs typeface="Gill Sans MT"/>
              </a:rPr>
              <a:t>What can a DBMS do </a:t>
            </a:r>
            <a:r>
              <a:rPr sz="2800" spc="-10" dirty="0">
                <a:latin typeface="Gill Sans MT"/>
                <a:cs typeface="Gill Sans MT"/>
              </a:rPr>
              <a:t>for</a:t>
            </a:r>
            <a:r>
              <a:rPr sz="2800" spc="15" dirty="0">
                <a:latin typeface="Gill Sans MT"/>
                <a:cs typeface="Gill Sans MT"/>
              </a:rPr>
              <a:t> </a:t>
            </a:r>
            <a:r>
              <a:rPr sz="2800" spc="-5" dirty="0">
                <a:latin typeface="Gill Sans MT"/>
                <a:cs typeface="Gill Sans MT"/>
              </a:rPr>
              <a:t>applications?</a:t>
            </a:r>
            <a:endParaRPr sz="2800" dirty="0">
              <a:latin typeface="Gill Sans MT"/>
              <a:cs typeface="Gill Sans MT"/>
            </a:endParaRPr>
          </a:p>
          <a:p>
            <a:pPr marL="469900">
              <a:lnSpc>
                <a:spcPct val="100000"/>
              </a:lnSpc>
              <a:spcBef>
                <a:spcPts val="305"/>
              </a:spcBef>
              <a:tabLst>
                <a:tab pos="756285" algn="l"/>
              </a:tabLst>
            </a:pPr>
            <a:r>
              <a:rPr sz="2400" dirty="0">
                <a:latin typeface="Gill Sans MT"/>
                <a:cs typeface="Gill Sans MT"/>
              </a:rPr>
              <a:t>–	Can </a:t>
            </a:r>
            <a:r>
              <a:rPr sz="2400" spc="-15" dirty="0">
                <a:latin typeface="Gill Sans MT"/>
                <a:cs typeface="Gill Sans MT"/>
              </a:rPr>
              <a:t>you </a:t>
            </a:r>
            <a:r>
              <a:rPr sz="2400" dirty="0">
                <a:latin typeface="Gill Sans MT"/>
                <a:cs typeface="Gill Sans MT"/>
              </a:rPr>
              <a:t>think </a:t>
            </a:r>
            <a:r>
              <a:rPr sz="2400" spc="-5" dirty="0">
                <a:latin typeface="Gill Sans MT"/>
                <a:cs typeface="Gill Sans MT"/>
              </a:rPr>
              <a:t>of</a:t>
            </a:r>
            <a:r>
              <a:rPr sz="2400" spc="-20" dirty="0">
                <a:latin typeface="Gill Sans MT"/>
                <a:cs typeface="Gill Sans MT"/>
              </a:rPr>
              <a:t> </a:t>
            </a:r>
            <a:r>
              <a:rPr sz="2400" dirty="0">
                <a:latin typeface="Gill Sans MT"/>
                <a:cs typeface="Gill Sans MT"/>
              </a:rPr>
              <a:t>them?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2343" y="247048"/>
            <a:ext cx="7319314" cy="1367789"/>
          </a:xfrm>
          <a:prstGeom prst="rect">
            <a:avLst/>
          </a:prstGeom>
        </p:spPr>
        <p:txBody>
          <a:bodyPr vert="horz" wrap="square" lIns="0" tIns="76073" rIns="0" bIns="0" rtlCol="0">
            <a:spAutoFit/>
          </a:bodyPr>
          <a:lstStyle/>
          <a:p>
            <a:pPr marL="2378710" marR="5080" indent="-1334135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What can a DBMS do </a:t>
            </a:r>
            <a:r>
              <a:rPr spc="-15" dirty="0"/>
              <a:t>for  </a:t>
            </a:r>
            <a:r>
              <a:rPr spc="-5" dirty="0"/>
              <a:t>applications?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8</a:t>
            </a:fld>
            <a:endParaRPr dirty="0"/>
          </a:p>
        </p:txBody>
      </p:sp>
      <p:sp>
        <p:nvSpPr>
          <p:cNvPr id="3" name="object 3"/>
          <p:cNvSpPr txBox="1">
            <a:spLocks noGrp="1"/>
          </p:cNvSpPr>
          <p:nvPr>
            <p:ph sz="half" idx="2"/>
          </p:nvPr>
        </p:nvSpPr>
        <p:spPr>
          <a:xfrm>
            <a:off x="94551" y="1522276"/>
            <a:ext cx="4951538" cy="4355167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355600" marR="59690" indent="-343535" algn="just">
              <a:lnSpc>
                <a:spcPts val="2590"/>
              </a:lnSpc>
              <a:spcBef>
                <a:spcPts val="425"/>
              </a:spcBef>
              <a:buChar char="•"/>
              <a:tabLst>
                <a:tab pos="356235" algn="l"/>
              </a:tabLst>
            </a:pPr>
            <a:r>
              <a:rPr dirty="0"/>
              <a:t>Define </a:t>
            </a:r>
            <a:r>
              <a:rPr spc="-5" dirty="0"/>
              <a:t>data: Data</a:t>
            </a:r>
            <a:r>
              <a:rPr spc="-270" dirty="0"/>
              <a:t> </a:t>
            </a:r>
            <a:r>
              <a:rPr spc="-5" dirty="0"/>
              <a:t>Definition  Language</a:t>
            </a:r>
            <a:r>
              <a:rPr spc="5" dirty="0"/>
              <a:t> </a:t>
            </a:r>
            <a:r>
              <a:rPr spc="-5" dirty="0"/>
              <a:t>(DDL)</a:t>
            </a:r>
          </a:p>
          <a:p>
            <a:pPr marL="355600" marR="5080" indent="-343535" algn="just">
              <a:lnSpc>
                <a:spcPct val="90000"/>
              </a:lnSpc>
              <a:spcBef>
                <a:spcPts val="540"/>
              </a:spcBef>
              <a:buChar char="•"/>
              <a:tabLst>
                <a:tab pos="356235" algn="l"/>
              </a:tabLst>
            </a:pPr>
            <a:r>
              <a:rPr dirty="0"/>
              <a:t>Access and </a:t>
            </a:r>
            <a:r>
              <a:rPr spc="-5" dirty="0"/>
              <a:t>operate </a:t>
            </a:r>
            <a:r>
              <a:rPr dirty="0"/>
              <a:t>on</a:t>
            </a:r>
            <a:r>
              <a:rPr spc="-75" dirty="0"/>
              <a:t> </a:t>
            </a:r>
            <a:r>
              <a:rPr spc="-5" dirty="0"/>
              <a:t>data:  </a:t>
            </a:r>
            <a:r>
              <a:rPr dirty="0"/>
              <a:t>Data </a:t>
            </a:r>
            <a:r>
              <a:rPr spc="-5" dirty="0"/>
              <a:t>Manipulation Language  (DML)</a:t>
            </a:r>
            <a:r>
              <a:rPr lang="zh-CN" altLang="en-US" spc="-5" dirty="0"/>
              <a:t>（数据操作语言）</a:t>
            </a:r>
            <a:endParaRPr spc="-5" dirty="0"/>
          </a:p>
          <a:p>
            <a:pPr marL="756285" lvl="1" indent="-287020">
              <a:lnSpc>
                <a:spcPct val="100000"/>
              </a:lnSpc>
              <a:spcBef>
                <a:spcPts val="259"/>
              </a:spcBef>
              <a:buChar char="–"/>
              <a:tabLst>
                <a:tab pos="756285" algn="l"/>
                <a:tab pos="756920" algn="l"/>
              </a:tabLst>
            </a:pPr>
            <a:r>
              <a:rPr sz="2000" spc="10" dirty="0">
                <a:latin typeface="Gill Sans MT"/>
                <a:cs typeface="Gill Sans MT"/>
              </a:rPr>
              <a:t>Query</a:t>
            </a:r>
            <a:r>
              <a:rPr sz="2000" spc="-25" dirty="0">
                <a:latin typeface="Gill Sans MT"/>
                <a:cs typeface="Gill Sans MT"/>
              </a:rPr>
              <a:t> </a:t>
            </a:r>
            <a:r>
              <a:rPr sz="2000" dirty="0">
                <a:latin typeface="Gill Sans MT"/>
                <a:cs typeface="Gill Sans MT"/>
              </a:rPr>
              <a:t>language</a:t>
            </a:r>
          </a:p>
          <a:p>
            <a:pPr marL="355600" indent="-343535">
              <a:lnSpc>
                <a:spcPct val="100000"/>
              </a:lnSpc>
              <a:spcBef>
                <a:spcPts val="270"/>
              </a:spcBef>
              <a:buChar char="•"/>
              <a:tabLst>
                <a:tab pos="355600" algn="l"/>
                <a:tab pos="356235" algn="l"/>
              </a:tabLst>
            </a:pPr>
            <a:r>
              <a:rPr spc="-5" dirty="0"/>
              <a:t>Storage management</a:t>
            </a:r>
          </a:p>
          <a:p>
            <a:pPr marL="355600" indent="-343535">
              <a:lnSpc>
                <a:spcPct val="100000"/>
              </a:lnSpc>
              <a:spcBef>
                <a:spcPts val="290"/>
              </a:spcBef>
              <a:buChar char="•"/>
              <a:tabLst>
                <a:tab pos="355600" algn="l"/>
                <a:tab pos="356235" algn="l"/>
              </a:tabLst>
            </a:pPr>
            <a:r>
              <a:rPr spc="-30" dirty="0"/>
              <a:t>Transaction</a:t>
            </a:r>
            <a:r>
              <a:rPr spc="-10" dirty="0"/>
              <a:t> </a:t>
            </a:r>
            <a:r>
              <a:rPr spc="-5" dirty="0"/>
              <a:t>Management</a:t>
            </a:r>
            <a:r>
              <a:rPr lang="zh-CN" altLang="en-US" spc="-5" dirty="0"/>
              <a:t>（事务管理）</a:t>
            </a:r>
            <a:endParaRPr spc="-5" dirty="0"/>
          </a:p>
          <a:p>
            <a:pPr marL="756285" lvl="1" indent="-287020">
              <a:lnSpc>
                <a:spcPct val="100000"/>
              </a:lnSpc>
              <a:spcBef>
                <a:spcPts val="254"/>
              </a:spcBef>
              <a:buChar char="–"/>
              <a:tabLst>
                <a:tab pos="756285" algn="l"/>
                <a:tab pos="756920" algn="l"/>
              </a:tabLst>
            </a:pPr>
            <a:r>
              <a:rPr sz="2000" spc="-5" dirty="0">
                <a:latin typeface="Gill Sans MT"/>
                <a:cs typeface="Gill Sans MT"/>
              </a:rPr>
              <a:t>Concurrency</a:t>
            </a:r>
            <a:r>
              <a:rPr sz="2000" spc="-60" dirty="0">
                <a:latin typeface="Gill Sans MT"/>
                <a:cs typeface="Gill Sans MT"/>
              </a:rPr>
              <a:t> </a:t>
            </a:r>
            <a:r>
              <a:rPr sz="2000" spc="-10" dirty="0">
                <a:latin typeface="Gill Sans MT"/>
                <a:cs typeface="Gill Sans MT"/>
              </a:rPr>
              <a:t>control</a:t>
            </a:r>
            <a:endParaRPr sz="2000" dirty="0">
              <a:latin typeface="Gill Sans MT"/>
              <a:cs typeface="Gill Sans MT"/>
            </a:endParaRPr>
          </a:p>
          <a:p>
            <a:pPr marL="756285" lvl="1" indent="-287020">
              <a:lnSpc>
                <a:spcPct val="100000"/>
              </a:lnSpc>
              <a:spcBef>
                <a:spcPts val="240"/>
              </a:spcBef>
              <a:buChar char="–"/>
              <a:tabLst>
                <a:tab pos="756285" algn="l"/>
                <a:tab pos="756920" algn="l"/>
              </a:tabLst>
            </a:pPr>
            <a:r>
              <a:rPr sz="2000" spc="-5" dirty="0">
                <a:latin typeface="Gill Sans MT"/>
                <a:cs typeface="Gill Sans MT"/>
              </a:rPr>
              <a:t>Crash</a:t>
            </a:r>
            <a:r>
              <a:rPr sz="2000" spc="-20" dirty="0">
                <a:latin typeface="Gill Sans MT"/>
                <a:cs typeface="Gill Sans MT"/>
              </a:rPr>
              <a:t> </a:t>
            </a:r>
            <a:r>
              <a:rPr sz="2000" spc="-10" dirty="0">
                <a:latin typeface="Gill Sans MT"/>
                <a:cs typeface="Gill Sans MT"/>
              </a:rPr>
              <a:t>recovery</a:t>
            </a:r>
            <a:r>
              <a:rPr lang="zh-CN" altLang="en-US" sz="2000" spc="-10" dirty="0">
                <a:latin typeface="Gill Sans MT"/>
                <a:cs typeface="Gill Sans MT"/>
              </a:rPr>
              <a:t>（故障恢复）</a:t>
            </a:r>
            <a:endParaRPr sz="2000" dirty="0">
              <a:latin typeface="Gill Sans MT"/>
              <a:cs typeface="Gill Sans MT"/>
            </a:endParaRPr>
          </a:p>
          <a:p>
            <a:pPr marL="355600" indent="-343535">
              <a:lnSpc>
                <a:spcPts val="2735"/>
              </a:lnSpc>
              <a:spcBef>
                <a:spcPts val="275"/>
              </a:spcBef>
              <a:buChar char="•"/>
              <a:tabLst>
                <a:tab pos="355600" algn="l"/>
                <a:tab pos="356235" algn="l"/>
              </a:tabLst>
            </a:pPr>
            <a:r>
              <a:rPr spc="-15" dirty="0"/>
              <a:t>Provide good</a:t>
            </a:r>
            <a:r>
              <a:rPr spc="10" dirty="0"/>
              <a:t> </a:t>
            </a:r>
            <a:r>
              <a:rPr spc="-20" dirty="0"/>
              <a:t>security,</a:t>
            </a:r>
          </a:p>
          <a:p>
            <a:pPr marL="355600">
              <a:lnSpc>
                <a:spcPts val="2735"/>
              </a:lnSpc>
            </a:pPr>
            <a:r>
              <a:rPr spc="-20" dirty="0"/>
              <a:t>efficiency, </a:t>
            </a:r>
            <a:r>
              <a:rPr dirty="0"/>
              <a:t>and</a:t>
            </a:r>
            <a:r>
              <a:rPr spc="-280" dirty="0"/>
              <a:t> </a:t>
            </a:r>
            <a:r>
              <a:rPr dirty="0"/>
              <a:t>scalability</a:t>
            </a:r>
            <a:r>
              <a:rPr lang="zh-CN" altLang="en-US" dirty="0"/>
              <a:t>（可拓展性）</a:t>
            </a:r>
            <a:endParaRPr dirty="0"/>
          </a:p>
        </p:txBody>
      </p:sp>
      <p:sp>
        <p:nvSpPr>
          <p:cNvPr id="4" name="object 4"/>
          <p:cNvSpPr txBox="1"/>
          <p:nvPr/>
        </p:nvSpPr>
        <p:spPr>
          <a:xfrm>
            <a:off x="6085332" y="2781300"/>
            <a:ext cx="2819400" cy="711835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36195" rIns="0" bIns="0" rtlCol="0">
            <a:spAutoFit/>
          </a:bodyPr>
          <a:lstStyle/>
          <a:p>
            <a:pPr marL="112395" marR="106045" indent="92710">
              <a:lnSpc>
                <a:spcPct val="100000"/>
              </a:lnSpc>
              <a:spcBef>
                <a:spcPts val="285"/>
              </a:spcBef>
            </a:pPr>
            <a:r>
              <a:rPr sz="2000" dirty="0">
                <a:latin typeface="Gill Sans MT"/>
                <a:cs typeface="Gill Sans MT"/>
              </a:rPr>
              <a:t>Abstraction &amp; Interface  </a:t>
            </a:r>
            <a:r>
              <a:rPr sz="2000" spc="-5" dirty="0">
                <a:latin typeface="Gill Sans MT"/>
                <a:cs typeface="Gill Sans MT"/>
              </a:rPr>
              <a:t>(Database </a:t>
            </a:r>
            <a:r>
              <a:rPr sz="2000" dirty="0">
                <a:latin typeface="Gill Sans MT"/>
                <a:cs typeface="Gill Sans MT"/>
              </a:rPr>
              <a:t>language:</a:t>
            </a:r>
            <a:r>
              <a:rPr sz="2000" spc="-325" dirty="0">
                <a:latin typeface="Gill Sans MT"/>
                <a:cs typeface="Gill Sans MT"/>
              </a:rPr>
              <a:t> </a:t>
            </a:r>
            <a:r>
              <a:rPr sz="2000" spc="-5" dirty="0">
                <a:latin typeface="Gill Sans MT"/>
                <a:cs typeface="Gill Sans MT"/>
              </a:rPr>
              <a:t>SQL)</a:t>
            </a:r>
            <a:endParaRPr sz="2000" dirty="0">
              <a:latin typeface="Gill Sans MT"/>
              <a:cs typeface="Gill Sans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148071" y="2276855"/>
            <a:ext cx="3744595" cy="405765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35560" rIns="0" bIns="0" rtlCol="0">
            <a:spAutoFit/>
          </a:bodyPr>
          <a:lstStyle/>
          <a:p>
            <a:pPr marL="1242060">
              <a:lnSpc>
                <a:spcPct val="100000"/>
              </a:lnSpc>
              <a:spcBef>
                <a:spcPts val="280"/>
              </a:spcBef>
            </a:pPr>
            <a:r>
              <a:rPr sz="2000" dirty="0">
                <a:latin typeface="Gill Sans MT"/>
                <a:cs typeface="Gill Sans MT"/>
              </a:rPr>
              <a:t>Applications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5367797" y="2781300"/>
            <a:ext cx="615553" cy="2552700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vert" wrap="square" lIns="0" tIns="34290" rIns="0" bIns="0" rtlCol="0">
            <a:spAutoFit/>
          </a:bodyPr>
          <a:lstStyle/>
          <a:p>
            <a:pPr marL="601345" marR="593725" indent="42545">
              <a:lnSpc>
                <a:spcPct val="100000"/>
              </a:lnSpc>
              <a:spcBef>
                <a:spcPts val="270"/>
              </a:spcBef>
            </a:pPr>
            <a:r>
              <a:rPr sz="2000" dirty="0">
                <a:latin typeface="Gill Sans MT"/>
                <a:cs typeface="Gill Sans MT"/>
              </a:rPr>
              <a:t>System  </a:t>
            </a:r>
            <a:r>
              <a:rPr sz="2000" spc="-5" dirty="0">
                <a:latin typeface="Gill Sans MT"/>
                <a:cs typeface="Gill Sans MT"/>
              </a:rPr>
              <a:t>(DB</a:t>
            </a:r>
            <a:r>
              <a:rPr sz="2000" spc="-10" dirty="0">
                <a:latin typeface="Gill Sans MT"/>
                <a:cs typeface="Gill Sans MT"/>
              </a:rPr>
              <a:t>M</a:t>
            </a:r>
            <a:r>
              <a:rPr sz="2000" dirty="0">
                <a:latin typeface="Gill Sans MT"/>
                <a:cs typeface="Gill Sans MT"/>
              </a:rPr>
              <a:t>S)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085332" y="3645408"/>
            <a:ext cx="2819400" cy="1015365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35560" rIns="0" bIns="0" rtlCol="0">
            <a:spAutoFit/>
          </a:bodyPr>
          <a:lstStyle/>
          <a:p>
            <a:pPr marL="167005" marR="159385" algn="ctr">
              <a:lnSpc>
                <a:spcPct val="100000"/>
              </a:lnSpc>
              <a:spcBef>
                <a:spcPts val="280"/>
              </a:spcBef>
            </a:pPr>
            <a:r>
              <a:rPr sz="2000" spc="-10" dirty="0">
                <a:latin typeface="Gill Sans MT"/>
                <a:cs typeface="Gill Sans MT"/>
              </a:rPr>
              <a:t>Perform </a:t>
            </a:r>
            <a:r>
              <a:rPr sz="2000" spc="5" dirty="0">
                <a:latin typeface="Gill Sans MT"/>
                <a:cs typeface="Gill Sans MT"/>
              </a:rPr>
              <a:t>dirty </a:t>
            </a:r>
            <a:r>
              <a:rPr sz="2000" spc="-10" dirty="0">
                <a:latin typeface="Gill Sans MT"/>
                <a:cs typeface="Gill Sans MT"/>
              </a:rPr>
              <a:t>work</a:t>
            </a:r>
            <a:r>
              <a:rPr sz="2000" spc="-114" dirty="0">
                <a:latin typeface="Gill Sans MT"/>
                <a:cs typeface="Gill Sans MT"/>
              </a:rPr>
              <a:t> </a:t>
            </a:r>
            <a:r>
              <a:rPr sz="2000" dirty="0">
                <a:latin typeface="Gill Sans MT"/>
                <a:cs typeface="Gill Sans MT"/>
              </a:rPr>
              <a:t>that  </a:t>
            </a:r>
            <a:r>
              <a:rPr sz="2000" spc="-15" dirty="0">
                <a:latin typeface="Gill Sans MT"/>
                <a:cs typeface="Gill Sans MT"/>
              </a:rPr>
              <a:t>you don’t </a:t>
            </a:r>
            <a:r>
              <a:rPr sz="2000" spc="-5" dirty="0">
                <a:latin typeface="Gill Sans MT"/>
                <a:cs typeface="Gill Sans MT"/>
              </a:rPr>
              <a:t>want  applications </a:t>
            </a:r>
            <a:r>
              <a:rPr sz="2000" dirty="0">
                <a:latin typeface="Gill Sans MT"/>
                <a:cs typeface="Gill Sans MT"/>
              </a:rPr>
              <a:t>to</a:t>
            </a:r>
            <a:r>
              <a:rPr sz="2000" spc="-70" dirty="0">
                <a:latin typeface="Gill Sans MT"/>
                <a:cs typeface="Gill Sans MT"/>
              </a:rPr>
              <a:t> </a:t>
            </a:r>
            <a:r>
              <a:rPr sz="2000" dirty="0">
                <a:latin typeface="Gill Sans MT"/>
                <a:cs typeface="Gill Sans MT"/>
              </a:rPr>
              <a:t>do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15974" y="812038"/>
            <a:ext cx="6912609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50" dirty="0"/>
              <a:t>Why </a:t>
            </a:r>
            <a:r>
              <a:rPr sz="4400" spc="-5" dirty="0"/>
              <a:t>Study </a:t>
            </a:r>
            <a:r>
              <a:rPr sz="4400" dirty="0"/>
              <a:t>Database</a:t>
            </a:r>
            <a:r>
              <a:rPr sz="4400" spc="-55" dirty="0"/>
              <a:t> </a:t>
            </a:r>
            <a:r>
              <a:rPr sz="4400" dirty="0"/>
              <a:t>Systems?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9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64540" y="1913370"/>
            <a:ext cx="7582534" cy="3712210"/>
          </a:xfrm>
          <a:prstGeom prst="rect">
            <a:avLst/>
          </a:prstGeom>
        </p:spPr>
        <p:txBody>
          <a:bodyPr vert="horz" wrap="square" lIns="0" tIns="57150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450"/>
              </a:spcBef>
              <a:buChar char="•"/>
              <a:tabLst>
                <a:tab pos="355600" algn="l"/>
                <a:tab pos="356235" algn="l"/>
              </a:tabLst>
            </a:pPr>
            <a:r>
              <a:rPr sz="2800" spc="-15" dirty="0">
                <a:latin typeface="Gill Sans MT"/>
                <a:cs typeface="Gill Sans MT"/>
              </a:rPr>
              <a:t>They </a:t>
            </a:r>
            <a:r>
              <a:rPr sz="2800" spc="-30" dirty="0">
                <a:latin typeface="Gill Sans MT"/>
                <a:cs typeface="Gill Sans MT"/>
              </a:rPr>
              <a:t>are</a:t>
            </a:r>
            <a:r>
              <a:rPr sz="2800" spc="10" dirty="0">
                <a:latin typeface="Gill Sans MT"/>
                <a:cs typeface="Gill Sans MT"/>
              </a:rPr>
              <a:t> </a:t>
            </a:r>
            <a:r>
              <a:rPr sz="2800" spc="-5" dirty="0">
                <a:latin typeface="Gill Sans MT"/>
                <a:cs typeface="Gill Sans MT"/>
              </a:rPr>
              <a:t>everywhere.</a:t>
            </a:r>
            <a:endParaRPr sz="2800" dirty="0">
              <a:latin typeface="Gill Sans MT"/>
              <a:cs typeface="Gill Sans MT"/>
            </a:endParaRPr>
          </a:p>
          <a:p>
            <a:pPr marL="756285" lvl="1" indent="-287020">
              <a:lnSpc>
                <a:spcPct val="100000"/>
              </a:lnSpc>
              <a:spcBef>
                <a:spcPts val="305"/>
              </a:spcBef>
              <a:buChar char="–"/>
              <a:tabLst>
                <a:tab pos="756285" algn="l"/>
                <a:tab pos="756920" algn="l"/>
              </a:tabLst>
            </a:pPr>
            <a:r>
              <a:rPr sz="2400" spc="-5" dirty="0">
                <a:latin typeface="Gill Sans MT"/>
                <a:cs typeface="Gill Sans MT"/>
              </a:rPr>
              <a:t>Online </a:t>
            </a:r>
            <a:r>
              <a:rPr sz="2400" spc="-10" dirty="0">
                <a:latin typeface="Gill Sans MT"/>
                <a:cs typeface="Gill Sans MT"/>
              </a:rPr>
              <a:t>stores, </a:t>
            </a:r>
            <a:r>
              <a:rPr sz="2400" spc="-15" dirty="0">
                <a:latin typeface="Gill Sans MT"/>
                <a:cs typeface="Gill Sans MT"/>
              </a:rPr>
              <a:t>real</a:t>
            </a:r>
            <a:r>
              <a:rPr sz="2400" spc="-245" dirty="0">
                <a:latin typeface="Gill Sans MT"/>
                <a:cs typeface="Gill Sans MT"/>
              </a:rPr>
              <a:t> </a:t>
            </a:r>
            <a:r>
              <a:rPr sz="2400" spc="-10" dirty="0">
                <a:latin typeface="Gill Sans MT"/>
                <a:cs typeface="Gill Sans MT"/>
              </a:rPr>
              <a:t>stores</a:t>
            </a:r>
            <a:endParaRPr sz="2400" dirty="0">
              <a:latin typeface="Gill Sans MT"/>
              <a:cs typeface="Gill Sans MT"/>
            </a:endParaRPr>
          </a:p>
          <a:p>
            <a:pPr marL="756285" lvl="1" indent="-287020">
              <a:lnSpc>
                <a:spcPct val="100000"/>
              </a:lnSpc>
              <a:spcBef>
                <a:spcPts val="285"/>
              </a:spcBef>
              <a:buChar char="–"/>
              <a:tabLst>
                <a:tab pos="756285" algn="l"/>
                <a:tab pos="756920" algn="l"/>
              </a:tabLst>
            </a:pPr>
            <a:r>
              <a:rPr sz="2400" dirty="0">
                <a:latin typeface="Gill Sans MT"/>
                <a:cs typeface="Gill Sans MT"/>
              </a:rPr>
              <a:t>Banks, </a:t>
            </a:r>
            <a:r>
              <a:rPr sz="2400" spc="-10" dirty="0">
                <a:latin typeface="Gill Sans MT"/>
                <a:cs typeface="Gill Sans MT"/>
              </a:rPr>
              <a:t>credit </a:t>
            </a:r>
            <a:r>
              <a:rPr sz="2400" spc="-15" dirty="0">
                <a:latin typeface="Gill Sans MT"/>
                <a:cs typeface="Gill Sans MT"/>
              </a:rPr>
              <a:t>card</a:t>
            </a:r>
            <a:r>
              <a:rPr sz="2400" spc="-270" dirty="0">
                <a:latin typeface="Gill Sans MT"/>
                <a:cs typeface="Gill Sans MT"/>
              </a:rPr>
              <a:t> </a:t>
            </a:r>
            <a:r>
              <a:rPr sz="2400" dirty="0">
                <a:latin typeface="Gill Sans MT"/>
                <a:cs typeface="Gill Sans MT"/>
              </a:rPr>
              <a:t>companies</a:t>
            </a:r>
          </a:p>
          <a:p>
            <a:pPr marL="756285" lvl="1" indent="-287020">
              <a:lnSpc>
                <a:spcPct val="100000"/>
              </a:lnSpc>
              <a:spcBef>
                <a:spcPts val="290"/>
              </a:spcBef>
              <a:buChar char="–"/>
              <a:tabLst>
                <a:tab pos="756285" algn="l"/>
                <a:tab pos="756920" algn="l"/>
              </a:tabLst>
            </a:pPr>
            <a:r>
              <a:rPr sz="2400" dirty="0">
                <a:latin typeface="Gill Sans MT"/>
                <a:cs typeface="Gill Sans MT"/>
              </a:rPr>
              <a:t>Passport </a:t>
            </a:r>
            <a:r>
              <a:rPr sz="2400" spc="-10" dirty="0">
                <a:latin typeface="Gill Sans MT"/>
                <a:cs typeface="Gill Sans MT"/>
              </a:rPr>
              <a:t>control</a:t>
            </a:r>
            <a:endParaRPr sz="2400" dirty="0">
              <a:latin typeface="Gill Sans MT"/>
              <a:cs typeface="Gill Sans MT"/>
            </a:endParaRPr>
          </a:p>
          <a:p>
            <a:pPr marL="756285" lvl="1" indent="-287020">
              <a:lnSpc>
                <a:spcPct val="100000"/>
              </a:lnSpc>
              <a:spcBef>
                <a:spcPts val="290"/>
              </a:spcBef>
              <a:buChar char="–"/>
              <a:tabLst>
                <a:tab pos="756285" algn="l"/>
                <a:tab pos="756920" algn="l"/>
              </a:tabLst>
            </a:pPr>
            <a:r>
              <a:rPr lang="en-US" sz="2400" spc="-10" dirty="0">
                <a:latin typeface="Gill Sans MT"/>
                <a:cs typeface="Gill Sans MT"/>
              </a:rPr>
              <a:t>Police </a:t>
            </a:r>
            <a:r>
              <a:rPr lang="en-US" sz="2400" spc="-5" dirty="0">
                <a:latin typeface="Gill Sans MT"/>
                <a:cs typeface="Gill Sans MT"/>
              </a:rPr>
              <a:t>(criminal</a:t>
            </a:r>
            <a:r>
              <a:rPr lang="en-US" sz="2400" spc="-10" dirty="0">
                <a:latin typeface="Gill Sans MT"/>
                <a:cs typeface="Gill Sans MT"/>
              </a:rPr>
              <a:t> </a:t>
            </a:r>
            <a:r>
              <a:rPr lang="en-US" sz="2400" spc="-15" dirty="0">
                <a:latin typeface="Gill Sans MT"/>
                <a:cs typeface="Gill Sans MT"/>
              </a:rPr>
              <a:t>records)</a:t>
            </a:r>
            <a:endParaRPr sz="2400" dirty="0">
              <a:latin typeface="Gill Sans MT"/>
              <a:cs typeface="Gill Sans MT"/>
            </a:endParaRPr>
          </a:p>
          <a:p>
            <a:pPr marL="756285" lvl="1" indent="-287020">
              <a:lnSpc>
                <a:spcPct val="100000"/>
              </a:lnSpc>
              <a:spcBef>
                <a:spcPts val="290"/>
              </a:spcBef>
              <a:buChar char="–"/>
              <a:tabLst>
                <a:tab pos="756285" algn="l"/>
                <a:tab pos="756920" algn="l"/>
              </a:tabLst>
            </a:pPr>
            <a:r>
              <a:rPr sz="2400" spc="-5" dirty="0">
                <a:latin typeface="Gill Sans MT"/>
                <a:cs typeface="Gill Sans MT"/>
              </a:rPr>
              <a:t>Airlines and </a:t>
            </a:r>
            <a:r>
              <a:rPr sz="2400" dirty="0">
                <a:latin typeface="Gill Sans MT"/>
                <a:cs typeface="Gill Sans MT"/>
              </a:rPr>
              <a:t>hotels</a:t>
            </a:r>
            <a:r>
              <a:rPr sz="2400" spc="-10" dirty="0">
                <a:latin typeface="Gill Sans MT"/>
                <a:cs typeface="Gill Sans MT"/>
              </a:rPr>
              <a:t> </a:t>
            </a:r>
            <a:r>
              <a:rPr sz="2400" dirty="0">
                <a:latin typeface="Gill Sans MT"/>
                <a:cs typeface="Gill Sans MT"/>
              </a:rPr>
              <a:t>(reservations)</a:t>
            </a:r>
          </a:p>
          <a:p>
            <a:pPr marL="355600" indent="-343535">
              <a:lnSpc>
                <a:spcPct val="100000"/>
              </a:lnSpc>
              <a:spcBef>
                <a:spcPts val="320"/>
              </a:spcBef>
              <a:buChar char="•"/>
              <a:tabLst>
                <a:tab pos="355600" algn="l"/>
                <a:tab pos="356235" algn="l"/>
              </a:tabLst>
            </a:pPr>
            <a:r>
              <a:rPr sz="2800" spc="-5" dirty="0">
                <a:latin typeface="Gill Sans MT"/>
                <a:cs typeface="Gill Sans MT"/>
              </a:rPr>
              <a:t>DBMS </a:t>
            </a:r>
            <a:r>
              <a:rPr sz="2800" spc="-10" dirty="0">
                <a:latin typeface="Gill Sans MT"/>
                <a:cs typeface="Gill Sans MT"/>
              </a:rPr>
              <a:t>vendors</a:t>
            </a:r>
            <a:r>
              <a:rPr lang="zh-CN" altLang="en-US" sz="2800" spc="-10" dirty="0">
                <a:latin typeface="Gill Sans MT"/>
                <a:cs typeface="Gill Sans MT"/>
              </a:rPr>
              <a:t>（供应商）</a:t>
            </a:r>
            <a:r>
              <a:rPr sz="2800" spc="-10" dirty="0">
                <a:latin typeface="Gill Sans MT"/>
                <a:cs typeface="Gill Sans MT"/>
              </a:rPr>
              <a:t> </a:t>
            </a:r>
            <a:r>
              <a:rPr sz="2800" spc="-5" dirty="0">
                <a:latin typeface="Gill Sans MT"/>
                <a:cs typeface="Gill Sans MT"/>
              </a:rPr>
              <a:t>&amp;</a:t>
            </a:r>
            <a:r>
              <a:rPr sz="2800" dirty="0">
                <a:latin typeface="Gill Sans MT"/>
                <a:cs typeface="Gill Sans MT"/>
              </a:rPr>
              <a:t> </a:t>
            </a:r>
            <a:r>
              <a:rPr sz="2800" spc="-10" dirty="0">
                <a:latin typeface="Gill Sans MT"/>
                <a:cs typeface="Gill Sans MT"/>
              </a:rPr>
              <a:t>products</a:t>
            </a:r>
            <a:endParaRPr sz="2800" dirty="0">
              <a:latin typeface="Gill Sans MT"/>
              <a:cs typeface="Gill Sans MT"/>
            </a:endParaRPr>
          </a:p>
          <a:p>
            <a:pPr marL="756285" marR="5080" lvl="1" indent="-287020">
              <a:lnSpc>
                <a:spcPts val="2590"/>
              </a:lnSpc>
              <a:spcBef>
                <a:spcPts val="635"/>
              </a:spcBef>
              <a:buChar char="–"/>
              <a:tabLst>
                <a:tab pos="756285" algn="l"/>
                <a:tab pos="756920" algn="l"/>
              </a:tabLst>
            </a:pPr>
            <a:r>
              <a:rPr sz="2400" dirty="0">
                <a:latin typeface="Gill Sans MT"/>
                <a:cs typeface="Gill Sans MT"/>
              </a:rPr>
              <a:t>Oracle, </a:t>
            </a:r>
            <a:r>
              <a:rPr sz="2400" spc="-10" dirty="0">
                <a:latin typeface="Gill Sans MT"/>
                <a:cs typeface="Gill Sans MT"/>
              </a:rPr>
              <a:t>Microsoft </a:t>
            </a:r>
            <a:r>
              <a:rPr sz="2400" spc="-5" dirty="0">
                <a:latin typeface="Gill Sans MT"/>
                <a:cs typeface="Gill Sans MT"/>
              </a:rPr>
              <a:t>(Access </a:t>
            </a:r>
            <a:r>
              <a:rPr sz="2400" dirty="0">
                <a:latin typeface="Gill Sans MT"/>
                <a:cs typeface="Gill Sans MT"/>
              </a:rPr>
              <a:t>and SQL server),</a:t>
            </a:r>
            <a:r>
              <a:rPr sz="2400" spc="-525" dirty="0">
                <a:latin typeface="Gill Sans MT"/>
                <a:cs typeface="Gill Sans MT"/>
              </a:rPr>
              <a:t> </a:t>
            </a:r>
            <a:r>
              <a:rPr sz="2400" dirty="0">
                <a:latin typeface="Gill Sans MT"/>
                <a:cs typeface="Gill Sans MT"/>
              </a:rPr>
              <a:t>IBM </a:t>
            </a:r>
            <a:r>
              <a:rPr sz="2400" spc="-5" dirty="0">
                <a:latin typeface="Gill Sans MT"/>
                <a:cs typeface="Gill Sans MT"/>
              </a:rPr>
              <a:t>(DB2),  </a:t>
            </a:r>
            <a:r>
              <a:rPr sz="2400" spc="5" dirty="0">
                <a:latin typeface="Gill Sans MT"/>
                <a:cs typeface="Gill Sans MT"/>
              </a:rPr>
              <a:t>Sybase,</a:t>
            </a:r>
            <a:r>
              <a:rPr sz="2400" spc="-260" dirty="0">
                <a:latin typeface="Gill Sans MT"/>
                <a:cs typeface="Gill Sans MT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…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23438" y="812038"/>
            <a:ext cx="289814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dirty="0"/>
              <a:t>Data</a:t>
            </a:r>
            <a:r>
              <a:rPr sz="4400" spc="-100" dirty="0"/>
              <a:t> </a:t>
            </a:r>
            <a:r>
              <a:rPr sz="4400" dirty="0"/>
              <a:t>Models</a:t>
            </a:r>
            <a:endParaRPr sz="440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10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64540" y="2002663"/>
            <a:ext cx="7671434" cy="313162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86105" indent="-343535">
              <a:lnSpc>
                <a:spcPct val="100000"/>
              </a:lnSpc>
              <a:spcBef>
                <a:spcPts val="100"/>
              </a:spcBef>
              <a:buChar char="•"/>
              <a:tabLst>
                <a:tab pos="355600" algn="l"/>
                <a:tab pos="356235" algn="l"/>
              </a:tabLst>
            </a:pPr>
            <a:r>
              <a:rPr sz="2400" dirty="0">
                <a:latin typeface="Gill Sans MT"/>
                <a:cs typeface="Gill Sans MT"/>
              </a:rPr>
              <a:t>A </a:t>
            </a:r>
            <a:r>
              <a:rPr sz="2400" dirty="0">
                <a:solidFill>
                  <a:srgbClr val="9900CC"/>
                </a:solidFill>
                <a:latin typeface="Gill Sans MT"/>
                <a:cs typeface="Gill Sans MT"/>
              </a:rPr>
              <a:t>data </a:t>
            </a:r>
            <a:r>
              <a:rPr sz="2400" spc="-5" dirty="0">
                <a:solidFill>
                  <a:srgbClr val="9900CC"/>
                </a:solidFill>
                <a:latin typeface="Gill Sans MT"/>
                <a:cs typeface="Gill Sans MT"/>
              </a:rPr>
              <a:t>model </a:t>
            </a:r>
            <a:r>
              <a:rPr sz="2400" spc="-5" dirty="0">
                <a:latin typeface="Gill Sans MT"/>
                <a:cs typeface="Gill Sans MT"/>
              </a:rPr>
              <a:t>is </a:t>
            </a:r>
            <a:r>
              <a:rPr sz="2400" dirty="0">
                <a:latin typeface="Gill Sans MT"/>
                <a:cs typeface="Gill Sans MT"/>
              </a:rPr>
              <a:t>a </a:t>
            </a:r>
            <a:r>
              <a:rPr sz="2400" spc="-5" dirty="0">
                <a:latin typeface="Gill Sans MT"/>
                <a:cs typeface="Gill Sans MT"/>
              </a:rPr>
              <a:t>collection </a:t>
            </a:r>
            <a:r>
              <a:rPr sz="2400" dirty="0">
                <a:latin typeface="Gill Sans MT"/>
                <a:cs typeface="Gill Sans MT"/>
              </a:rPr>
              <a:t>of concepts</a:t>
            </a:r>
            <a:r>
              <a:rPr lang="zh-CN" altLang="en-US" sz="2400" dirty="0">
                <a:latin typeface="Gill Sans MT"/>
                <a:cs typeface="Gill Sans MT"/>
              </a:rPr>
              <a:t>（概念）</a:t>
            </a:r>
            <a:r>
              <a:rPr sz="2400" dirty="0">
                <a:latin typeface="Gill Sans MT"/>
                <a:cs typeface="Gill Sans MT"/>
              </a:rPr>
              <a:t> </a:t>
            </a:r>
            <a:r>
              <a:rPr sz="2400" spc="-10" dirty="0">
                <a:latin typeface="Gill Sans MT"/>
                <a:cs typeface="Gill Sans MT"/>
              </a:rPr>
              <a:t>for</a:t>
            </a:r>
            <a:r>
              <a:rPr sz="2400" spc="-80" dirty="0">
                <a:latin typeface="Gill Sans MT"/>
                <a:cs typeface="Gill Sans MT"/>
              </a:rPr>
              <a:t> </a:t>
            </a:r>
            <a:r>
              <a:rPr sz="2400" dirty="0">
                <a:latin typeface="Gill Sans MT"/>
                <a:cs typeface="Gill Sans MT"/>
              </a:rPr>
              <a:t>describing  data.</a:t>
            </a:r>
          </a:p>
          <a:p>
            <a:pPr marL="756285" lvl="1" indent="-287020">
              <a:lnSpc>
                <a:spcPct val="100000"/>
              </a:lnSpc>
              <a:spcBef>
                <a:spcPts val="495"/>
              </a:spcBef>
              <a:buChar char="–"/>
              <a:tabLst>
                <a:tab pos="756285" algn="l"/>
                <a:tab pos="756920" algn="l"/>
              </a:tabLst>
            </a:pPr>
            <a:r>
              <a:rPr sz="2000" spc="-5" dirty="0">
                <a:latin typeface="Gill Sans MT"/>
                <a:cs typeface="Gill Sans MT"/>
              </a:rPr>
              <a:t>Entity-relation </a:t>
            </a:r>
            <a:r>
              <a:rPr sz="2000" dirty="0">
                <a:latin typeface="Gill Sans MT"/>
                <a:cs typeface="Gill Sans MT"/>
              </a:rPr>
              <a:t>(ER)</a:t>
            </a:r>
            <a:r>
              <a:rPr sz="2000" spc="-70" dirty="0">
                <a:latin typeface="Gill Sans MT"/>
                <a:cs typeface="Gill Sans MT"/>
              </a:rPr>
              <a:t> </a:t>
            </a:r>
            <a:r>
              <a:rPr sz="2000" dirty="0">
                <a:latin typeface="Gill Sans MT"/>
                <a:cs typeface="Gill Sans MT"/>
              </a:rPr>
              <a:t>model</a:t>
            </a:r>
          </a:p>
          <a:p>
            <a:pPr marL="756285" lvl="1" indent="-287020">
              <a:lnSpc>
                <a:spcPct val="100000"/>
              </a:lnSpc>
              <a:spcBef>
                <a:spcPts val="480"/>
              </a:spcBef>
              <a:buChar char="–"/>
              <a:tabLst>
                <a:tab pos="756285" algn="l"/>
                <a:tab pos="756920" algn="l"/>
              </a:tabLst>
            </a:pPr>
            <a:r>
              <a:rPr sz="2000" dirty="0">
                <a:latin typeface="Gill Sans MT"/>
                <a:cs typeface="Gill Sans MT"/>
              </a:rPr>
              <a:t>Relational model </a:t>
            </a:r>
            <a:r>
              <a:rPr sz="2000" spc="-5" dirty="0">
                <a:latin typeface="Gill Sans MT"/>
                <a:cs typeface="Gill Sans MT"/>
              </a:rPr>
              <a:t>(main focus </a:t>
            </a:r>
            <a:r>
              <a:rPr sz="2000" dirty="0">
                <a:latin typeface="Gill Sans MT"/>
                <a:cs typeface="Gill Sans MT"/>
              </a:rPr>
              <a:t>of this</a:t>
            </a:r>
            <a:r>
              <a:rPr sz="2000" spc="-135" dirty="0">
                <a:latin typeface="Gill Sans MT"/>
                <a:cs typeface="Gill Sans MT"/>
              </a:rPr>
              <a:t> </a:t>
            </a:r>
            <a:r>
              <a:rPr sz="2000" dirty="0">
                <a:latin typeface="Gill Sans MT"/>
                <a:cs typeface="Gill Sans MT"/>
              </a:rPr>
              <a:t>course)</a:t>
            </a:r>
          </a:p>
          <a:p>
            <a:pPr marL="355600" indent="-343535">
              <a:lnSpc>
                <a:spcPct val="100000"/>
              </a:lnSpc>
              <a:spcBef>
                <a:spcPts val="560"/>
              </a:spcBef>
              <a:buChar char="•"/>
              <a:tabLst>
                <a:tab pos="355600" algn="l"/>
                <a:tab pos="356235" algn="l"/>
              </a:tabLst>
            </a:pPr>
            <a:r>
              <a:rPr sz="2400" dirty="0">
                <a:latin typeface="Gill Sans MT"/>
                <a:cs typeface="Gill Sans MT"/>
              </a:rPr>
              <a:t>A </a:t>
            </a:r>
            <a:r>
              <a:rPr sz="2400" dirty="0">
                <a:solidFill>
                  <a:srgbClr val="9900CC"/>
                </a:solidFill>
                <a:latin typeface="Gill Sans MT"/>
                <a:cs typeface="Gill Sans MT"/>
              </a:rPr>
              <a:t>schema </a:t>
            </a:r>
            <a:r>
              <a:rPr sz="2400" spc="-5" dirty="0">
                <a:latin typeface="Gill Sans MT"/>
                <a:cs typeface="Gill Sans MT"/>
              </a:rPr>
              <a:t>is </a:t>
            </a:r>
            <a:r>
              <a:rPr sz="2400" dirty="0">
                <a:latin typeface="Gill Sans MT"/>
                <a:cs typeface="Gill Sans MT"/>
              </a:rPr>
              <a:t>a </a:t>
            </a:r>
            <a:r>
              <a:rPr sz="2400" spc="-5" dirty="0">
                <a:latin typeface="Gill Sans MT"/>
                <a:cs typeface="Gill Sans MT"/>
              </a:rPr>
              <a:t>description </a:t>
            </a:r>
            <a:r>
              <a:rPr sz="2400" dirty="0">
                <a:latin typeface="Gill Sans MT"/>
                <a:cs typeface="Gill Sans MT"/>
              </a:rPr>
              <a:t>of</a:t>
            </a:r>
            <a:r>
              <a:rPr sz="2400" spc="-45" dirty="0">
                <a:latin typeface="Gill Sans MT"/>
                <a:cs typeface="Gill Sans MT"/>
              </a:rPr>
              <a:t> </a:t>
            </a:r>
            <a:r>
              <a:rPr sz="2400" dirty="0">
                <a:latin typeface="Gill Sans MT"/>
                <a:cs typeface="Gill Sans MT"/>
              </a:rPr>
              <a:t>data.</a:t>
            </a:r>
          </a:p>
          <a:p>
            <a:pPr marL="355600" indent="-343535">
              <a:lnSpc>
                <a:spcPct val="100000"/>
              </a:lnSpc>
              <a:spcBef>
                <a:spcPts val="575"/>
              </a:spcBef>
              <a:buChar char="•"/>
              <a:tabLst>
                <a:tab pos="355600" algn="l"/>
                <a:tab pos="356235" algn="l"/>
              </a:tabLst>
            </a:pPr>
            <a:r>
              <a:rPr sz="2400" dirty="0">
                <a:latin typeface="Gill Sans MT"/>
                <a:cs typeface="Gill Sans MT"/>
              </a:rPr>
              <a:t>The </a:t>
            </a:r>
            <a:r>
              <a:rPr sz="2400" spc="-10" dirty="0">
                <a:solidFill>
                  <a:srgbClr val="9900CC"/>
                </a:solidFill>
                <a:latin typeface="Gill Sans MT"/>
                <a:cs typeface="Gill Sans MT"/>
              </a:rPr>
              <a:t>relational </a:t>
            </a:r>
            <a:r>
              <a:rPr sz="2400" spc="-5" dirty="0">
                <a:solidFill>
                  <a:srgbClr val="9900CC"/>
                </a:solidFill>
                <a:latin typeface="Gill Sans MT"/>
                <a:cs typeface="Gill Sans MT"/>
              </a:rPr>
              <a:t>model </a:t>
            </a:r>
            <a:r>
              <a:rPr sz="2400" spc="-5" dirty="0">
                <a:latin typeface="Gill Sans MT"/>
                <a:cs typeface="Gill Sans MT"/>
              </a:rPr>
              <a:t>is </a:t>
            </a:r>
            <a:r>
              <a:rPr sz="2400" dirty="0">
                <a:latin typeface="Gill Sans MT"/>
                <a:cs typeface="Gill Sans MT"/>
              </a:rPr>
              <a:t>the </a:t>
            </a:r>
            <a:r>
              <a:rPr sz="2400" spc="-5" dirty="0">
                <a:latin typeface="Gill Sans MT"/>
                <a:cs typeface="Gill Sans MT"/>
              </a:rPr>
              <a:t>m</a:t>
            </a:r>
            <a:r>
              <a:rPr lang="en-US" sz="2400" spc="-5" dirty="0">
                <a:latin typeface="Gill Sans MT"/>
                <a:cs typeface="Gill Sans MT"/>
              </a:rPr>
              <a:t> </a:t>
            </a:r>
            <a:r>
              <a:rPr sz="2400" spc="-5" dirty="0" err="1">
                <a:latin typeface="Gill Sans MT"/>
                <a:cs typeface="Gill Sans MT"/>
              </a:rPr>
              <a:t>ost</a:t>
            </a:r>
            <a:r>
              <a:rPr sz="2400" spc="-5" dirty="0">
                <a:latin typeface="Gill Sans MT"/>
                <a:cs typeface="Gill Sans MT"/>
              </a:rPr>
              <a:t> </a:t>
            </a:r>
            <a:r>
              <a:rPr sz="2400" spc="-10" dirty="0">
                <a:latin typeface="Gill Sans MT"/>
                <a:cs typeface="Gill Sans MT"/>
              </a:rPr>
              <a:t>widely </a:t>
            </a:r>
            <a:r>
              <a:rPr sz="2400" dirty="0">
                <a:latin typeface="Gill Sans MT"/>
                <a:cs typeface="Gill Sans MT"/>
              </a:rPr>
              <a:t>used </a:t>
            </a:r>
            <a:r>
              <a:rPr sz="2400" spc="-5" dirty="0">
                <a:latin typeface="Gill Sans MT"/>
                <a:cs typeface="Gill Sans MT"/>
              </a:rPr>
              <a:t>data</a:t>
            </a:r>
            <a:r>
              <a:rPr sz="2400" spc="-10" dirty="0">
                <a:latin typeface="Gill Sans MT"/>
                <a:cs typeface="Gill Sans MT"/>
              </a:rPr>
              <a:t> </a:t>
            </a:r>
            <a:r>
              <a:rPr sz="2400" dirty="0">
                <a:latin typeface="Gill Sans MT"/>
                <a:cs typeface="Gill Sans MT"/>
              </a:rPr>
              <a:t>model.</a:t>
            </a:r>
          </a:p>
          <a:p>
            <a:pPr marL="756285" lvl="1" indent="-287020">
              <a:lnSpc>
                <a:spcPct val="100000"/>
              </a:lnSpc>
              <a:spcBef>
                <a:spcPts val="500"/>
              </a:spcBef>
              <a:buSzPct val="75000"/>
              <a:buChar char="–"/>
              <a:tabLst>
                <a:tab pos="756285" algn="l"/>
                <a:tab pos="756920" algn="l"/>
              </a:tabLst>
            </a:pPr>
            <a:r>
              <a:rPr sz="2000" dirty="0">
                <a:latin typeface="Gill Sans MT"/>
                <a:cs typeface="Gill Sans MT"/>
              </a:rPr>
              <a:t>A </a:t>
            </a:r>
            <a:r>
              <a:rPr sz="2000" spc="-5" dirty="0">
                <a:solidFill>
                  <a:srgbClr val="9900CC"/>
                </a:solidFill>
                <a:latin typeface="Gill Sans MT"/>
                <a:cs typeface="Gill Sans MT"/>
              </a:rPr>
              <a:t>relation is </a:t>
            </a:r>
            <a:r>
              <a:rPr sz="2000" spc="-5" dirty="0">
                <a:latin typeface="Gill Sans MT"/>
                <a:cs typeface="Gill Sans MT"/>
              </a:rPr>
              <a:t>basically </a:t>
            </a:r>
            <a:r>
              <a:rPr sz="2000" dirty="0">
                <a:latin typeface="Gill Sans MT"/>
                <a:cs typeface="Gill Sans MT"/>
              </a:rPr>
              <a:t>a table </a:t>
            </a:r>
            <a:r>
              <a:rPr sz="2000" spc="-5" dirty="0">
                <a:latin typeface="Gill Sans MT"/>
                <a:cs typeface="Gill Sans MT"/>
              </a:rPr>
              <a:t>with </a:t>
            </a:r>
            <a:r>
              <a:rPr sz="2000" spc="-20" dirty="0">
                <a:latin typeface="Gill Sans MT"/>
                <a:cs typeface="Gill Sans MT"/>
              </a:rPr>
              <a:t>rows </a:t>
            </a:r>
            <a:r>
              <a:rPr sz="2000" dirty="0">
                <a:latin typeface="Gill Sans MT"/>
                <a:cs typeface="Gill Sans MT"/>
              </a:rPr>
              <a:t>and columns of</a:t>
            </a:r>
            <a:r>
              <a:rPr sz="2000" spc="-175" dirty="0">
                <a:latin typeface="Gill Sans MT"/>
                <a:cs typeface="Gill Sans MT"/>
              </a:rPr>
              <a:t> </a:t>
            </a:r>
            <a:r>
              <a:rPr sz="2000" spc="-10" dirty="0">
                <a:solidFill>
                  <a:srgbClr val="9900CC"/>
                </a:solidFill>
                <a:latin typeface="Gill Sans MT"/>
                <a:cs typeface="Gill Sans MT"/>
              </a:rPr>
              <a:t>records</a:t>
            </a:r>
            <a:r>
              <a:rPr sz="2000" spc="-10" dirty="0">
                <a:latin typeface="Gill Sans MT"/>
                <a:cs typeface="Gill Sans MT"/>
              </a:rPr>
              <a:t>.</a:t>
            </a:r>
            <a:endParaRPr sz="2000" dirty="0">
              <a:latin typeface="Gill Sans MT"/>
              <a:cs typeface="Gill Sans MT"/>
            </a:endParaRPr>
          </a:p>
          <a:p>
            <a:pPr marL="756285" lvl="1" indent="-287020">
              <a:lnSpc>
                <a:spcPct val="100000"/>
              </a:lnSpc>
              <a:spcBef>
                <a:spcPts val="480"/>
              </a:spcBef>
              <a:buSzPct val="75000"/>
              <a:buChar char="–"/>
              <a:tabLst>
                <a:tab pos="756285" algn="l"/>
                <a:tab pos="756920" algn="l"/>
              </a:tabLst>
            </a:pPr>
            <a:r>
              <a:rPr sz="2000" spc="5" dirty="0">
                <a:latin typeface="Gill Sans MT"/>
                <a:cs typeface="Gill Sans MT"/>
              </a:rPr>
              <a:t>Every </a:t>
            </a:r>
            <a:r>
              <a:rPr sz="2000" spc="-10" dirty="0">
                <a:latin typeface="Gill Sans MT"/>
                <a:cs typeface="Gill Sans MT"/>
              </a:rPr>
              <a:t>relation </a:t>
            </a:r>
            <a:r>
              <a:rPr sz="2000" dirty="0">
                <a:latin typeface="Gill Sans MT"/>
                <a:cs typeface="Gill Sans MT"/>
              </a:rPr>
              <a:t>has a </a:t>
            </a:r>
            <a:r>
              <a:rPr sz="2000" spc="-5" dirty="0">
                <a:solidFill>
                  <a:srgbClr val="9900CC"/>
                </a:solidFill>
                <a:latin typeface="Gill Sans MT"/>
                <a:cs typeface="Gill Sans MT"/>
              </a:rPr>
              <a:t>schema</a:t>
            </a:r>
            <a:r>
              <a:rPr sz="2000" spc="-5" dirty="0">
                <a:latin typeface="Gill Sans MT"/>
                <a:cs typeface="Gill Sans MT"/>
              </a:rPr>
              <a:t>, which describes </a:t>
            </a:r>
            <a:r>
              <a:rPr sz="2000" dirty="0">
                <a:latin typeface="Gill Sans MT"/>
                <a:cs typeface="Gill Sans MT"/>
              </a:rPr>
              <a:t>the </a:t>
            </a:r>
            <a:r>
              <a:rPr sz="2000" spc="-5" dirty="0">
                <a:latin typeface="Gill Sans MT"/>
                <a:cs typeface="Gill Sans MT"/>
              </a:rPr>
              <a:t>columns,</a:t>
            </a:r>
            <a:r>
              <a:rPr sz="2000" spc="-405" dirty="0">
                <a:latin typeface="Gill Sans MT"/>
                <a:cs typeface="Gill Sans MT"/>
              </a:rPr>
              <a:t> </a:t>
            </a:r>
            <a:r>
              <a:rPr sz="2000" dirty="0">
                <a:latin typeface="Gill Sans MT"/>
                <a:cs typeface="Gill Sans MT"/>
              </a:rPr>
              <a:t>or </a:t>
            </a:r>
            <a:r>
              <a:rPr sz="2000" spc="-5" dirty="0">
                <a:latin typeface="Gill Sans MT"/>
                <a:cs typeface="Gill Sans MT"/>
              </a:rPr>
              <a:t>fields.</a:t>
            </a:r>
            <a:endParaRPr sz="2000" dirty="0">
              <a:latin typeface="Gill Sans MT"/>
              <a:cs typeface="Gill Sans M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60142" y="812038"/>
            <a:ext cx="3824604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dirty="0"/>
              <a:t>Relational</a:t>
            </a:r>
            <a:r>
              <a:rPr sz="4400" spc="-95" dirty="0"/>
              <a:t> </a:t>
            </a:r>
            <a:r>
              <a:rPr sz="4400" dirty="0"/>
              <a:t>Model</a:t>
            </a:r>
            <a:endParaRPr sz="440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11</a:t>
            </a:fld>
            <a:endParaRPr dirty="0"/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028700" y="3846512"/>
          <a:ext cx="7161530" cy="213042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31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5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300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331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3129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0634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400" dirty="0">
                          <a:solidFill>
                            <a:srgbClr val="CC3300"/>
                          </a:solidFill>
                          <a:latin typeface="Gill Sans MT"/>
                          <a:cs typeface="Gill Sans MT"/>
                        </a:rPr>
                        <a:t>sid</a:t>
                      </a:r>
                      <a:endParaRPr sz="2400">
                        <a:latin typeface="Gill Sans MT"/>
                        <a:cs typeface="Gill Sans MT"/>
                      </a:endParaRPr>
                    </a:p>
                  </a:txBody>
                  <a:tcPr marL="0" marR="0" marT="3429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1B1B1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400" spc="-5" dirty="0">
                          <a:solidFill>
                            <a:srgbClr val="CC3300"/>
                          </a:solidFill>
                          <a:latin typeface="Gill Sans MT"/>
                          <a:cs typeface="Gill Sans MT"/>
                        </a:rPr>
                        <a:t>name</a:t>
                      </a:r>
                      <a:endParaRPr sz="2400">
                        <a:latin typeface="Gill Sans MT"/>
                        <a:cs typeface="Gill Sans MT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1B1B1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400" dirty="0">
                          <a:solidFill>
                            <a:srgbClr val="CC3300"/>
                          </a:solidFill>
                          <a:latin typeface="Gill Sans MT"/>
                          <a:cs typeface="Gill Sans MT"/>
                        </a:rPr>
                        <a:t>email</a:t>
                      </a:r>
                      <a:endParaRPr sz="2400">
                        <a:latin typeface="Gill Sans MT"/>
                        <a:cs typeface="Gill Sans MT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1B1B1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400" spc="-5" dirty="0">
                          <a:solidFill>
                            <a:srgbClr val="CC3300"/>
                          </a:solidFill>
                          <a:latin typeface="Gill Sans MT"/>
                          <a:cs typeface="Gill Sans MT"/>
                        </a:rPr>
                        <a:t>age</a:t>
                      </a:r>
                      <a:endParaRPr sz="2400">
                        <a:latin typeface="Gill Sans MT"/>
                        <a:cs typeface="Gill Sans MT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1B1B1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400" dirty="0">
                          <a:solidFill>
                            <a:srgbClr val="CC3300"/>
                          </a:solidFill>
                          <a:latin typeface="Gill Sans MT"/>
                          <a:cs typeface="Gill Sans MT"/>
                        </a:rPr>
                        <a:t>gpa</a:t>
                      </a:r>
                      <a:endParaRPr sz="2400">
                        <a:latin typeface="Gill Sans MT"/>
                        <a:cs typeface="Gill Sans MT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1B1B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927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2400" dirty="0">
                          <a:latin typeface="Gill Sans MT"/>
                          <a:cs typeface="Gill Sans MT"/>
                        </a:rPr>
                        <a:t>53666</a:t>
                      </a:r>
                      <a:endParaRPr sz="2400">
                        <a:latin typeface="Gill Sans MT"/>
                        <a:cs typeface="Gill Sans MT"/>
                      </a:endParaRPr>
                    </a:p>
                  </a:txBody>
                  <a:tcPr marL="0" marR="0" marT="3492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2400" spc="-10" dirty="0">
                          <a:latin typeface="Gill Sans MT"/>
                          <a:cs typeface="Gill Sans MT"/>
                        </a:rPr>
                        <a:t>Jones</a:t>
                      </a:r>
                      <a:endParaRPr sz="2400">
                        <a:latin typeface="Gill Sans MT"/>
                        <a:cs typeface="Gill Sans MT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2400" spc="-10" dirty="0">
                          <a:latin typeface="Gill Sans MT"/>
                          <a:cs typeface="Gill Sans MT"/>
                        </a:rPr>
                        <a:t>Jones@cs</a:t>
                      </a:r>
                      <a:endParaRPr sz="2400">
                        <a:latin typeface="Gill Sans MT"/>
                        <a:cs typeface="Gill Sans MT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2400" dirty="0">
                          <a:latin typeface="Gill Sans MT"/>
                          <a:cs typeface="Gill Sans MT"/>
                        </a:rPr>
                        <a:t>18</a:t>
                      </a:r>
                      <a:endParaRPr sz="2400">
                        <a:latin typeface="Gill Sans MT"/>
                        <a:cs typeface="Gill Sans MT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2400" dirty="0">
                          <a:latin typeface="Gill Sans MT"/>
                          <a:cs typeface="Gill Sans MT"/>
                        </a:rPr>
                        <a:t>3.4</a:t>
                      </a:r>
                      <a:endParaRPr sz="2400">
                        <a:latin typeface="Gill Sans MT"/>
                        <a:cs typeface="Gill Sans MT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8451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2400" dirty="0">
                          <a:latin typeface="Gill Sans MT"/>
                          <a:cs typeface="Gill Sans MT"/>
                        </a:rPr>
                        <a:t>53688</a:t>
                      </a:r>
                      <a:endParaRPr sz="2400">
                        <a:latin typeface="Gill Sans MT"/>
                        <a:cs typeface="Gill Sans MT"/>
                      </a:endParaRPr>
                    </a:p>
                  </a:txBody>
                  <a:tcPr marL="0" marR="0" marT="3492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2400" dirty="0">
                          <a:latin typeface="Gill Sans MT"/>
                          <a:cs typeface="Gill Sans MT"/>
                        </a:rPr>
                        <a:t>Smith</a:t>
                      </a:r>
                      <a:endParaRPr sz="2400">
                        <a:latin typeface="Gill Sans MT"/>
                        <a:cs typeface="Gill Sans MT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2400" dirty="0">
                          <a:latin typeface="Gill Sans MT"/>
                          <a:cs typeface="Gill Sans MT"/>
                        </a:rPr>
                        <a:t>Smith@ee</a:t>
                      </a:r>
                      <a:endParaRPr sz="2400">
                        <a:latin typeface="Gill Sans MT"/>
                        <a:cs typeface="Gill Sans MT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2400" dirty="0">
                          <a:latin typeface="Gill Sans MT"/>
                          <a:cs typeface="Gill Sans MT"/>
                        </a:rPr>
                        <a:t>18</a:t>
                      </a:r>
                      <a:endParaRPr sz="2400">
                        <a:latin typeface="Gill Sans MT"/>
                        <a:cs typeface="Gill Sans MT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2400" dirty="0">
                          <a:latin typeface="Gill Sans MT"/>
                          <a:cs typeface="Gill Sans MT"/>
                        </a:rPr>
                        <a:t>3.2</a:t>
                      </a:r>
                      <a:endParaRPr sz="2400">
                        <a:latin typeface="Gill Sans MT"/>
                        <a:cs typeface="Gill Sans MT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634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400" dirty="0">
                          <a:latin typeface="Gill Sans MT"/>
                          <a:cs typeface="Gill Sans MT"/>
                        </a:rPr>
                        <a:t>53650</a:t>
                      </a:r>
                      <a:endParaRPr sz="2400">
                        <a:latin typeface="Gill Sans MT"/>
                        <a:cs typeface="Gill Sans MT"/>
                      </a:endParaRPr>
                    </a:p>
                  </a:txBody>
                  <a:tcPr marL="0" marR="0" marT="3429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400" spc="-20" dirty="0">
                          <a:latin typeface="Gill Sans MT"/>
                          <a:cs typeface="Gill Sans MT"/>
                        </a:rPr>
                        <a:t>Joe</a:t>
                      </a:r>
                      <a:endParaRPr sz="2400">
                        <a:latin typeface="Gill Sans MT"/>
                        <a:cs typeface="Gill Sans MT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400" spc="-10" dirty="0">
                          <a:latin typeface="Gill Sans MT"/>
                          <a:cs typeface="Gill Sans MT"/>
                        </a:rPr>
                        <a:t>Joe@cs</a:t>
                      </a:r>
                      <a:endParaRPr sz="2400">
                        <a:latin typeface="Gill Sans MT"/>
                        <a:cs typeface="Gill Sans MT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400" dirty="0">
                          <a:latin typeface="Gill Sans MT"/>
                          <a:cs typeface="Gill Sans MT"/>
                        </a:rPr>
                        <a:t>19</a:t>
                      </a:r>
                      <a:endParaRPr sz="2400">
                        <a:latin typeface="Gill Sans MT"/>
                        <a:cs typeface="Gill Sans MT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400" dirty="0">
                          <a:latin typeface="Gill Sans MT"/>
                          <a:cs typeface="Gill Sans MT"/>
                        </a:rPr>
                        <a:t>2.5</a:t>
                      </a:r>
                      <a:endParaRPr sz="2400">
                        <a:latin typeface="Gill Sans MT"/>
                        <a:cs typeface="Gill Sans MT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764540" y="2002663"/>
            <a:ext cx="7194550" cy="15640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84835" indent="-343535">
              <a:lnSpc>
                <a:spcPct val="100000"/>
              </a:lnSpc>
              <a:spcBef>
                <a:spcPts val="100"/>
              </a:spcBef>
              <a:buChar char="•"/>
              <a:tabLst>
                <a:tab pos="355600" algn="l"/>
                <a:tab pos="356235" algn="l"/>
              </a:tabLst>
            </a:pPr>
            <a:r>
              <a:rPr sz="2400" dirty="0">
                <a:latin typeface="Gill Sans MT"/>
                <a:cs typeface="Gill Sans MT"/>
              </a:rPr>
              <a:t>The </a:t>
            </a:r>
            <a:r>
              <a:rPr sz="2400" spc="-10" dirty="0">
                <a:latin typeface="Gill Sans MT"/>
                <a:cs typeface="Gill Sans MT"/>
              </a:rPr>
              <a:t>entire </a:t>
            </a:r>
            <a:r>
              <a:rPr sz="2400" dirty="0">
                <a:latin typeface="Gill Sans MT"/>
                <a:cs typeface="Gill Sans MT"/>
              </a:rPr>
              <a:t>table </a:t>
            </a:r>
            <a:r>
              <a:rPr sz="2400" spc="-10" dirty="0">
                <a:latin typeface="Gill Sans MT"/>
                <a:cs typeface="Gill Sans MT"/>
              </a:rPr>
              <a:t>shows </a:t>
            </a:r>
            <a:r>
              <a:rPr sz="2400" dirty="0">
                <a:latin typeface="Gill Sans MT"/>
                <a:cs typeface="Gill Sans MT"/>
              </a:rPr>
              <a:t>an </a:t>
            </a:r>
            <a:r>
              <a:rPr sz="2400" spc="-5" dirty="0">
                <a:latin typeface="Gill Sans MT"/>
                <a:cs typeface="Gill Sans MT"/>
              </a:rPr>
              <a:t>instance</a:t>
            </a:r>
            <a:r>
              <a:rPr lang="zh-CN" altLang="en-US" sz="2400" spc="-5" dirty="0">
                <a:latin typeface="Gill Sans MT"/>
                <a:cs typeface="Gill Sans MT"/>
              </a:rPr>
              <a:t>（实例）</a:t>
            </a:r>
            <a:r>
              <a:rPr sz="2400" spc="-5" dirty="0">
                <a:latin typeface="Gill Sans MT"/>
                <a:cs typeface="Gill Sans MT"/>
              </a:rPr>
              <a:t> of </a:t>
            </a:r>
            <a:r>
              <a:rPr sz="2400" dirty="0">
                <a:latin typeface="Gill Sans MT"/>
                <a:cs typeface="Gill Sans MT"/>
              </a:rPr>
              <a:t>the Students  </a:t>
            </a:r>
            <a:r>
              <a:rPr sz="2400" spc="-10" dirty="0">
                <a:latin typeface="Gill Sans MT"/>
                <a:cs typeface="Gill Sans MT"/>
              </a:rPr>
              <a:t>relation.</a:t>
            </a:r>
            <a:endParaRPr sz="2400" dirty="0">
              <a:latin typeface="Gill Sans MT"/>
              <a:cs typeface="Gill Sans MT"/>
            </a:endParaRPr>
          </a:p>
          <a:p>
            <a:pPr marL="355600" indent="-343535">
              <a:lnSpc>
                <a:spcPct val="100000"/>
              </a:lnSpc>
              <a:spcBef>
                <a:spcPts val="575"/>
              </a:spcBef>
              <a:buChar char="•"/>
              <a:tabLst>
                <a:tab pos="355600" algn="l"/>
                <a:tab pos="356235" algn="l"/>
              </a:tabLst>
            </a:pPr>
            <a:r>
              <a:rPr sz="2400" dirty="0">
                <a:latin typeface="Gill Sans MT"/>
                <a:cs typeface="Gill Sans MT"/>
              </a:rPr>
              <a:t>The Students schema </a:t>
            </a:r>
            <a:r>
              <a:rPr sz="2400" spc="-5" dirty="0">
                <a:latin typeface="Gill Sans MT"/>
                <a:cs typeface="Gill Sans MT"/>
              </a:rPr>
              <a:t>is </a:t>
            </a:r>
            <a:r>
              <a:rPr sz="2400" dirty="0">
                <a:latin typeface="Gill Sans MT"/>
                <a:cs typeface="Gill Sans MT"/>
              </a:rPr>
              <a:t>the column</a:t>
            </a:r>
            <a:r>
              <a:rPr sz="2400" spc="-75" dirty="0">
                <a:latin typeface="Gill Sans MT"/>
                <a:cs typeface="Gill Sans MT"/>
              </a:rPr>
              <a:t> </a:t>
            </a:r>
            <a:r>
              <a:rPr sz="2400" dirty="0">
                <a:latin typeface="Gill Sans MT"/>
                <a:cs typeface="Gill Sans MT"/>
              </a:rPr>
              <a:t>heads</a:t>
            </a:r>
            <a:r>
              <a:rPr lang="en-US" sz="2400" dirty="0">
                <a:latin typeface="Gill Sans MT"/>
                <a:cs typeface="Gill Sans MT"/>
              </a:rPr>
              <a:t> </a:t>
            </a:r>
            <a:r>
              <a:rPr lang="zh-CN" altLang="en-US" sz="2400" dirty="0">
                <a:latin typeface="Gill Sans MT"/>
                <a:cs typeface="Gill Sans MT"/>
              </a:rPr>
              <a:t>（列标题）</a:t>
            </a:r>
            <a:endParaRPr sz="2400" dirty="0">
              <a:latin typeface="Gill Sans MT"/>
              <a:cs typeface="Gill Sans MT"/>
            </a:endParaRPr>
          </a:p>
          <a:p>
            <a:pPr marL="469900">
              <a:lnSpc>
                <a:spcPct val="100000"/>
              </a:lnSpc>
              <a:spcBef>
                <a:spcPts val="495"/>
              </a:spcBef>
              <a:tabLst>
                <a:tab pos="756285" algn="l"/>
              </a:tabLst>
            </a:pPr>
            <a:r>
              <a:rPr sz="2000" dirty="0">
                <a:latin typeface="Gill Sans MT"/>
                <a:cs typeface="Gill Sans MT"/>
              </a:rPr>
              <a:t>–	</a:t>
            </a:r>
            <a:r>
              <a:rPr sz="2000" dirty="0">
                <a:highlight>
                  <a:srgbClr val="FFFF00"/>
                </a:highlight>
                <a:latin typeface="Gill Sans MT"/>
                <a:cs typeface="Gill Sans MT"/>
              </a:rPr>
              <a:t>Students(Sid:</a:t>
            </a:r>
            <a:r>
              <a:rPr sz="2000" spc="-229" dirty="0">
                <a:highlight>
                  <a:srgbClr val="FFFF00"/>
                </a:highlight>
                <a:latin typeface="Gill Sans MT"/>
                <a:cs typeface="Gill Sans MT"/>
              </a:rPr>
              <a:t> </a:t>
            </a:r>
            <a:r>
              <a:rPr sz="2000" dirty="0">
                <a:highlight>
                  <a:srgbClr val="FFFF00"/>
                </a:highlight>
                <a:latin typeface="Gill Sans MT"/>
                <a:cs typeface="Gill Sans MT"/>
              </a:rPr>
              <a:t>String,</a:t>
            </a:r>
            <a:r>
              <a:rPr sz="2000" spc="-240" dirty="0">
                <a:highlight>
                  <a:srgbClr val="FFFF00"/>
                </a:highlight>
                <a:latin typeface="Gill Sans MT"/>
                <a:cs typeface="Gill Sans MT"/>
              </a:rPr>
              <a:t> </a:t>
            </a:r>
            <a:r>
              <a:rPr sz="2000" dirty="0">
                <a:highlight>
                  <a:srgbClr val="FFFF00"/>
                </a:highlight>
                <a:latin typeface="Gill Sans MT"/>
                <a:cs typeface="Gill Sans MT"/>
              </a:rPr>
              <a:t>Name:</a:t>
            </a:r>
            <a:r>
              <a:rPr sz="2000" spc="-210" dirty="0">
                <a:highlight>
                  <a:srgbClr val="FFFF00"/>
                </a:highlight>
                <a:latin typeface="Gill Sans MT"/>
                <a:cs typeface="Gill Sans MT"/>
              </a:rPr>
              <a:t> </a:t>
            </a:r>
            <a:r>
              <a:rPr sz="2000" dirty="0">
                <a:highlight>
                  <a:srgbClr val="FFFF00"/>
                </a:highlight>
                <a:latin typeface="Gill Sans MT"/>
                <a:cs typeface="Gill Sans MT"/>
              </a:rPr>
              <a:t>String,</a:t>
            </a:r>
            <a:r>
              <a:rPr sz="2000" spc="-240" dirty="0">
                <a:highlight>
                  <a:srgbClr val="FFFF00"/>
                </a:highlight>
                <a:latin typeface="Gill Sans MT"/>
                <a:cs typeface="Gill Sans MT"/>
              </a:rPr>
              <a:t> </a:t>
            </a:r>
            <a:r>
              <a:rPr sz="2000" spc="-5" dirty="0">
                <a:highlight>
                  <a:srgbClr val="FFFF00"/>
                </a:highlight>
                <a:latin typeface="Gill Sans MT"/>
                <a:cs typeface="Gill Sans MT"/>
              </a:rPr>
              <a:t>Login:</a:t>
            </a:r>
            <a:r>
              <a:rPr sz="2000" spc="-235" dirty="0">
                <a:highlight>
                  <a:srgbClr val="FFFF00"/>
                </a:highlight>
                <a:latin typeface="Gill Sans MT"/>
                <a:cs typeface="Gill Sans MT"/>
              </a:rPr>
              <a:t> </a:t>
            </a:r>
            <a:r>
              <a:rPr sz="2000" dirty="0">
                <a:highlight>
                  <a:srgbClr val="FFFF00"/>
                </a:highlight>
                <a:latin typeface="Gill Sans MT"/>
                <a:cs typeface="Gill Sans MT"/>
              </a:rPr>
              <a:t>String,</a:t>
            </a:r>
            <a:r>
              <a:rPr sz="2000" spc="-229" dirty="0">
                <a:highlight>
                  <a:srgbClr val="FFFF00"/>
                </a:highlight>
                <a:latin typeface="Gill Sans MT"/>
                <a:cs typeface="Gill Sans MT"/>
              </a:rPr>
              <a:t> </a:t>
            </a:r>
            <a:r>
              <a:rPr sz="2000" spc="-5" dirty="0">
                <a:highlight>
                  <a:srgbClr val="FFFF00"/>
                </a:highlight>
                <a:latin typeface="Gill Sans MT"/>
                <a:cs typeface="Gill Sans MT"/>
              </a:rPr>
              <a:t>age:</a:t>
            </a:r>
            <a:r>
              <a:rPr sz="2000" spc="-210" dirty="0">
                <a:highlight>
                  <a:srgbClr val="FFFF00"/>
                </a:highlight>
                <a:latin typeface="Gill Sans MT"/>
                <a:cs typeface="Gill Sans MT"/>
              </a:rPr>
              <a:t> </a:t>
            </a:r>
            <a:r>
              <a:rPr sz="2000" spc="-20" dirty="0">
                <a:highlight>
                  <a:srgbClr val="FFFF00"/>
                </a:highlight>
                <a:latin typeface="Gill Sans MT"/>
                <a:cs typeface="Gill Sans MT"/>
              </a:rPr>
              <a:t>Integer,</a:t>
            </a:r>
            <a:r>
              <a:rPr sz="2000" spc="-20" dirty="0">
                <a:highlight>
                  <a:srgbClr val="FFFF00"/>
                </a:highlight>
                <a:latin typeface="Times New Roman"/>
                <a:cs typeface="Times New Roman"/>
              </a:rPr>
              <a:t>…</a:t>
            </a:r>
            <a:r>
              <a:rPr sz="2000" spc="20" dirty="0">
                <a:highlight>
                  <a:srgbClr val="FFFF00"/>
                </a:highlight>
                <a:latin typeface="Times New Roman"/>
                <a:cs typeface="Times New Roman"/>
              </a:rPr>
              <a:t> </a:t>
            </a:r>
            <a:r>
              <a:rPr sz="2000" dirty="0">
                <a:latin typeface="Gill Sans MT"/>
                <a:cs typeface="Gill Sans MT"/>
              </a:rPr>
              <a:t>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18438" y="812038"/>
            <a:ext cx="710755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25" dirty="0"/>
              <a:t>Levels </a:t>
            </a:r>
            <a:r>
              <a:rPr sz="4400" dirty="0"/>
              <a:t>of Abstractions </a:t>
            </a:r>
            <a:r>
              <a:rPr sz="4400" spc="-5" dirty="0"/>
              <a:t>in</a:t>
            </a:r>
            <a:r>
              <a:rPr sz="4400" spc="-540" dirty="0"/>
              <a:t> </a:t>
            </a:r>
            <a:r>
              <a:rPr sz="4400" dirty="0"/>
              <a:t>DBMS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88949" y="1612138"/>
            <a:ext cx="3932554" cy="4309110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355600" marR="147955" indent="-343535">
              <a:lnSpc>
                <a:spcPct val="90100"/>
              </a:lnSpc>
              <a:spcBef>
                <a:spcPts val="385"/>
              </a:spcBef>
              <a:buChar char="•"/>
              <a:tabLst>
                <a:tab pos="355600" algn="l"/>
                <a:tab pos="356235" algn="l"/>
              </a:tabLst>
            </a:pPr>
            <a:r>
              <a:rPr sz="2400" spc="-15" dirty="0">
                <a:latin typeface="Gill Sans MT"/>
                <a:cs typeface="Gill Sans MT"/>
              </a:rPr>
              <a:t>Many </a:t>
            </a:r>
            <a:r>
              <a:rPr sz="2400" spc="-10" dirty="0">
                <a:solidFill>
                  <a:srgbClr val="669900"/>
                </a:solidFill>
                <a:latin typeface="Gill Sans MT"/>
                <a:cs typeface="Gill Sans MT"/>
              </a:rPr>
              <a:t>views</a:t>
            </a:r>
            <a:r>
              <a:rPr sz="2400" spc="-10" dirty="0">
                <a:latin typeface="Gill Sans MT"/>
                <a:cs typeface="Gill Sans MT"/>
              </a:rPr>
              <a:t>, </a:t>
            </a:r>
            <a:r>
              <a:rPr sz="2400" dirty="0">
                <a:latin typeface="Gill Sans MT"/>
                <a:cs typeface="Gill Sans MT"/>
              </a:rPr>
              <a:t>one</a:t>
            </a:r>
            <a:r>
              <a:rPr sz="2400" spc="-305" dirty="0">
                <a:latin typeface="Gill Sans MT"/>
                <a:cs typeface="Gill Sans MT"/>
              </a:rPr>
              <a:t> </a:t>
            </a:r>
            <a:r>
              <a:rPr sz="2400" dirty="0">
                <a:solidFill>
                  <a:srgbClr val="669900"/>
                </a:solidFill>
                <a:latin typeface="Gill Sans MT"/>
                <a:cs typeface="Gill Sans MT"/>
              </a:rPr>
              <a:t>conceptual  schema </a:t>
            </a:r>
            <a:r>
              <a:rPr sz="2400" dirty="0">
                <a:latin typeface="Gill Sans MT"/>
                <a:cs typeface="Gill Sans MT"/>
              </a:rPr>
              <a:t>and one </a:t>
            </a:r>
            <a:r>
              <a:rPr sz="2400" spc="-10" dirty="0">
                <a:solidFill>
                  <a:srgbClr val="669900"/>
                </a:solidFill>
                <a:latin typeface="Gill Sans MT"/>
                <a:cs typeface="Gill Sans MT"/>
              </a:rPr>
              <a:t>physical  </a:t>
            </a:r>
            <a:r>
              <a:rPr sz="2400" spc="-5" dirty="0">
                <a:solidFill>
                  <a:srgbClr val="669900"/>
                </a:solidFill>
                <a:latin typeface="Gill Sans MT"/>
                <a:cs typeface="Gill Sans MT"/>
              </a:rPr>
              <a:t>schema</a:t>
            </a:r>
            <a:r>
              <a:rPr sz="2400" spc="-5" dirty="0">
                <a:solidFill>
                  <a:srgbClr val="9900CC"/>
                </a:solidFill>
                <a:latin typeface="Gill Sans MT"/>
                <a:cs typeface="Gill Sans MT"/>
              </a:rPr>
              <a:t>.</a:t>
            </a:r>
            <a:endParaRPr sz="2400" dirty="0">
              <a:latin typeface="Gill Sans MT"/>
              <a:cs typeface="Gill Sans MT"/>
            </a:endParaRPr>
          </a:p>
          <a:p>
            <a:pPr marL="756285" marR="364490" lvl="1" indent="-287020">
              <a:lnSpc>
                <a:spcPts val="2160"/>
              </a:lnSpc>
              <a:spcBef>
                <a:spcPts val="525"/>
              </a:spcBef>
              <a:buSzPct val="75000"/>
              <a:buChar char="–"/>
              <a:tabLst>
                <a:tab pos="756285" algn="l"/>
                <a:tab pos="756920" algn="l"/>
              </a:tabLst>
            </a:pPr>
            <a:r>
              <a:rPr sz="2000" dirty="0">
                <a:latin typeface="Gill Sans MT"/>
                <a:cs typeface="Gill Sans MT"/>
              </a:rPr>
              <a:t>Conceptual schema</a:t>
            </a:r>
            <a:r>
              <a:rPr sz="2000" spc="-120" dirty="0">
                <a:latin typeface="Gill Sans MT"/>
                <a:cs typeface="Gill Sans MT"/>
              </a:rPr>
              <a:t> </a:t>
            </a:r>
            <a:r>
              <a:rPr sz="2000" dirty="0">
                <a:latin typeface="Gill Sans MT"/>
                <a:cs typeface="Gill Sans MT"/>
              </a:rPr>
              <a:t>defines  </a:t>
            </a:r>
            <a:r>
              <a:rPr sz="2000" spc="-5" dirty="0">
                <a:latin typeface="Gill Sans MT"/>
                <a:cs typeface="Gill Sans MT"/>
              </a:rPr>
              <a:t>logical</a:t>
            </a:r>
            <a:r>
              <a:rPr sz="2000" spc="-45" dirty="0">
                <a:latin typeface="Gill Sans MT"/>
                <a:cs typeface="Gill Sans MT"/>
              </a:rPr>
              <a:t> </a:t>
            </a:r>
            <a:r>
              <a:rPr sz="2000" spc="-5" dirty="0">
                <a:latin typeface="Gill Sans MT"/>
                <a:cs typeface="Gill Sans MT"/>
              </a:rPr>
              <a:t>structure</a:t>
            </a:r>
            <a:r>
              <a:rPr lang="zh-CN" altLang="en-US" sz="2000" spc="-5" dirty="0">
                <a:latin typeface="Gill Sans MT"/>
                <a:cs typeface="Gill Sans MT"/>
              </a:rPr>
              <a:t>逻辑结构</a:t>
            </a:r>
            <a:endParaRPr sz="2000" dirty="0">
              <a:latin typeface="Gill Sans MT"/>
              <a:cs typeface="Gill Sans MT"/>
            </a:endParaRPr>
          </a:p>
          <a:p>
            <a:pPr marL="1155700" lvl="2" indent="-229235">
              <a:lnSpc>
                <a:spcPct val="100000"/>
              </a:lnSpc>
              <a:spcBef>
                <a:spcPts val="195"/>
              </a:spcBef>
              <a:buSzPct val="75000"/>
              <a:buChar char="•"/>
              <a:tabLst>
                <a:tab pos="1155700" algn="l"/>
                <a:tab pos="1156335" algn="l"/>
              </a:tabLst>
            </a:pPr>
            <a:r>
              <a:rPr sz="1800" spc="-5" dirty="0">
                <a:latin typeface="Gill Sans MT"/>
                <a:cs typeface="Gill Sans MT"/>
              </a:rPr>
              <a:t>Relation</a:t>
            </a:r>
            <a:r>
              <a:rPr sz="1800" spc="-15" dirty="0">
                <a:latin typeface="Gill Sans MT"/>
                <a:cs typeface="Gill Sans MT"/>
              </a:rPr>
              <a:t> </a:t>
            </a:r>
            <a:r>
              <a:rPr sz="1800" dirty="0">
                <a:latin typeface="Gill Sans MT"/>
                <a:cs typeface="Gill Sans MT"/>
              </a:rPr>
              <a:t>tables</a:t>
            </a:r>
          </a:p>
          <a:p>
            <a:pPr marL="756285" lvl="1" indent="-287020">
              <a:lnSpc>
                <a:spcPts val="2280"/>
              </a:lnSpc>
              <a:spcBef>
                <a:spcPts val="229"/>
              </a:spcBef>
              <a:buSzPct val="75000"/>
              <a:buChar char="–"/>
              <a:tabLst>
                <a:tab pos="756285" algn="l"/>
                <a:tab pos="756920" algn="l"/>
              </a:tabLst>
            </a:pPr>
            <a:r>
              <a:rPr sz="2000" spc="-10" dirty="0">
                <a:latin typeface="Gill Sans MT"/>
                <a:cs typeface="Gill Sans MT"/>
              </a:rPr>
              <a:t>Physical </a:t>
            </a:r>
            <a:r>
              <a:rPr sz="2000" dirty="0">
                <a:latin typeface="Gill Sans MT"/>
                <a:cs typeface="Gill Sans MT"/>
              </a:rPr>
              <a:t>schema describes</a:t>
            </a:r>
            <a:r>
              <a:rPr sz="2000" spc="-75" dirty="0">
                <a:latin typeface="Gill Sans MT"/>
                <a:cs typeface="Gill Sans MT"/>
              </a:rPr>
              <a:t> </a:t>
            </a:r>
            <a:r>
              <a:rPr sz="2000" dirty="0">
                <a:latin typeface="Gill Sans MT"/>
                <a:cs typeface="Gill Sans MT"/>
              </a:rPr>
              <a:t>the</a:t>
            </a:r>
          </a:p>
          <a:p>
            <a:pPr marL="756285">
              <a:lnSpc>
                <a:spcPts val="2280"/>
              </a:lnSpc>
            </a:pPr>
            <a:r>
              <a:rPr sz="2000" dirty="0">
                <a:latin typeface="Gill Sans MT"/>
                <a:cs typeface="Gill Sans MT"/>
              </a:rPr>
              <a:t>file and indexing</a:t>
            </a:r>
            <a:r>
              <a:rPr sz="2000" spc="-85" dirty="0">
                <a:latin typeface="Gill Sans MT"/>
                <a:cs typeface="Gill Sans MT"/>
              </a:rPr>
              <a:t> </a:t>
            </a:r>
            <a:r>
              <a:rPr sz="2000" dirty="0">
                <a:latin typeface="Gill Sans MT"/>
                <a:cs typeface="Gill Sans MT"/>
              </a:rPr>
              <a:t>used</a:t>
            </a:r>
          </a:p>
          <a:p>
            <a:pPr marL="1155700" lvl="2" indent="-229235">
              <a:lnSpc>
                <a:spcPct val="100000"/>
              </a:lnSpc>
              <a:spcBef>
                <a:spcPts val="225"/>
              </a:spcBef>
              <a:buSzPct val="75000"/>
              <a:buChar char="•"/>
              <a:tabLst>
                <a:tab pos="1155700" algn="l"/>
                <a:tab pos="1156335" algn="l"/>
              </a:tabLst>
            </a:pPr>
            <a:r>
              <a:rPr sz="1800" dirty="0">
                <a:latin typeface="Gill Sans MT"/>
                <a:cs typeface="Gill Sans MT"/>
              </a:rPr>
              <a:t>Sorted </a:t>
            </a:r>
            <a:r>
              <a:rPr sz="1800" spc="-5" dirty="0">
                <a:latin typeface="Gill Sans MT"/>
                <a:cs typeface="Gill Sans MT"/>
              </a:rPr>
              <a:t>file with B+ </a:t>
            </a:r>
            <a:r>
              <a:rPr sz="1800" spc="-10" dirty="0">
                <a:latin typeface="Gill Sans MT"/>
                <a:cs typeface="Gill Sans MT"/>
              </a:rPr>
              <a:t>tree</a:t>
            </a:r>
            <a:r>
              <a:rPr sz="1800" spc="-45" dirty="0">
                <a:latin typeface="Gill Sans MT"/>
                <a:cs typeface="Gill Sans MT"/>
              </a:rPr>
              <a:t> </a:t>
            </a:r>
            <a:r>
              <a:rPr sz="1800" spc="-5" dirty="0">
                <a:latin typeface="Gill Sans MT"/>
                <a:cs typeface="Gill Sans MT"/>
              </a:rPr>
              <a:t>index</a:t>
            </a:r>
            <a:endParaRPr sz="1800" dirty="0">
              <a:latin typeface="Gill Sans MT"/>
              <a:cs typeface="Gill Sans MT"/>
            </a:endParaRPr>
          </a:p>
          <a:p>
            <a:pPr marL="756285" marR="375920" lvl="1" indent="-287020">
              <a:lnSpc>
                <a:spcPct val="90100"/>
              </a:lnSpc>
              <a:spcBef>
                <a:spcPts val="470"/>
              </a:spcBef>
              <a:buSzPct val="75000"/>
              <a:buChar char="–"/>
              <a:tabLst>
                <a:tab pos="756285" algn="l"/>
                <a:tab pos="756920" algn="l"/>
              </a:tabLst>
            </a:pPr>
            <a:r>
              <a:rPr sz="2000" spc="-10" dirty="0">
                <a:latin typeface="Gill Sans MT"/>
                <a:cs typeface="Gill Sans MT"/>
              </a:rPr>
              <a:t>Views </a:t>
            </a:r>
            <a:r>
              <a:rPr sz="2000" dirty="0">
                <a:latin typeface="Gill Sans MT"/>
                <a:cs typeface="Gill Sans MT"/>
              </a:rPr>
              <a:t>describe </a:t>
            </a:r>
            <a:r>
              <a:rPr sz="2000" spc="-10" dirty="0">
                <a:latin typeface="Gill Sans MT"/>
                <a:cs typeface="Gill Sans MT"/>
              </a:rPr>
              <a:t>how  </a:t>
            </a:r>
            <a:r>
              <a:rPr sz="2000" spc="-5" dirty="0">
                <a:latin typeface="Gill Sans MT"/>
                <a:cs typeface="Gill Sans MT"/>
              </a:rPr>
              <a:t>applications (users) see </a:t>
            </a:r>
            <a:r>
              <a:rPr sz="2000" dirty="0">
                <a:latin typeface="Gill Sans MT"/>
                <a:cs typeface="Gill Sans MT"/>
              </a:rPr>
              <a:t>the  data</a:t>
            </a:r>
          </a:p>
          <a:p>
            <a:pPr marL="1155700" marR="111760" lvl="2" indent="-228600">
              <a:lnSpc>
                <a:spcPts val="1939"/>
              </a:lnSpc>
              <a:spcBef>
                <a:spcPts val="470"/>
              </a:spcBef>
              <a:buSzPct val="75000"/>
              <a:buChar char="•"/>
              <a:tabLst>
                <a:tab pos="1155700" algn="l"/>
                <a:tab pos="1156335" algn="l"/>
              </a:tabLst>
            </a:pPr>
            <a:r>
              <a:rPr sz="1800" spc="-5" dirty="0">
                <a:latin typeface="Gill Sans MT"/>
                <a:cs typeface="Gill Sans MT"/>
              </a:rPr>
              <a:t>Relation </a:t>
            </a:r>
            <a:r>
              <a:rPr sz="1800" dirty="0">
                <a:latin typeface="Gill Sans MT"/>
                <a:cs typeface="Gill Sans MT"/>
              </a:rPr>
              <a:t>tables but not</a:t>
            </a:r>
            <a:r>
              <a:rPr sz="1800" spc="-95" dirty="0">
                <a:latin typeface="Gill Sans MT"/>
                <a:cs typeface="Gill Sans MT"/>
              </a:rPr>
              <a:t> </a:t>
            </a:r>
            <a:r>
              <a:rPr sz="1800" spc="-10" dirty="0">
                <a:latin typeface="Gill Sans MT"/>
                <a:cs typeface="Gill Sans MT"/>
              </a:rPr>
              <a:t>store  </a:t>
            </a:r>
            <a:r>
              <a:rPr sz="1800" spc="-5" dirty="0">
                <a:latin typeface="Gill Sans MT"/>
                <a:cs typeface="Gill Sans MT"/>
              </a:rPr>
              <a:t>explicitly</a:t>
            </a:r>
            <a:endParaRPr sz="1800" dirty="0">
              <a:latin typeface="Gill Sans MT"/>
              <a:cs typeface="Gill Sans MT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430517" y="4676394"/>
            <a:ext cx="1041400" cy="203200"/>
          </a:xfrm>
          <a:custGeom>
            <a:avLst/>
            <a:gdLst/>
            <a:ahLst/>
            <a:cxnLst/>
            <a:rect l="l" t="t" r="r" b="b"/>
            <a:pathLst>
              <a:path w="1041400" h="203200">
                <a:moveTo>
                  <a:pt x="0" y="101345"/>
                </a:moveTo>
                <a:lnTo>
                  <a:pt x="48376" y="58605"/>
                </a:lnTo>
                <a:lnTo>
                  <a:pt x="127667" y="34841"/>
                </a:lnTo>
                <a:lnTo>
                  <a:pt x="179008" y="24846"/>
                </a:lnTo>
                <a:lnTo>
                  <a:pt x="237072" y="16318"/>
                </a:lnTo>
                <a:lnTo>
                  <a:pt x="301053" y="9413"/>
                </a:lnTo>
                <a:lnTo>
                  <a:pt x="370146" y="4288"/>
                </a:lnTo>
                <a:lnTo>
                  <a:pt x="443545" y="1098"/>
                </a:lnTo>
                <a:lnTo>
                  <a:pt x="520446" y="0"/>
                </a:lnTo>
                <a:lnTo>
                  <a:pt x="597346" y="1098"/>
                </a:lnTo>
                <a:lnTo>
                  <a:pt x="670745" y="4288"/>
                </a:lnTo>
                <a:lnTo>
                  <a:pt x="739838" y="9413"/>
                </a:lnTo>
                <a:lnTo>
                  <a:pt x="803819" y="16318"/>
                </a:lnTo>
                <a:lnTo>
                  <a:pt x="861883" y="24846"/>
                </a:lnTo>
                <a:lnTo>
                  <a:pt x="913224" y="34841"/>
                </a:lnTo>
                <a:lnTo>
                  <a:pt x="957036" y="46146"/>
                </a:lnTo>
                <a:lnTo>
                  <a:pt x="1018854" y="72063"/>
                </a:lnTo>
                <a:lnTo>
                  <a:pt x="1040891" y="101345"/>
                </a:lnTo>
                <a:lnTo>
                  <a:pt x="1035248" y="116330"/>
                </a:lnTo>
                <a:lnTo>
                  <a:pt x="992515" y="144086"/>
                </a:lnTo>
                <a:lnTo>
                  <a:pt x="913224" y="167850"/>
                </a:lnTo>
                <a:lnTo>
                  <a:pt x="861883" y="177845"/>
                </a:lnTo>
                <a:lnTo>
                  <a:pt x="803819" y="186373"/>
                </a:lnTo>
                <a:lnTo>
                  <a:pt x="739838" y="193278"/>
                </a:lnTo>
                <a:lnTo>
                  <a:pt x="670745" y="198403"/>
                </a:lnTo>
                <a:lnTo>
                  <a:pt x="597346" y="201593"/>
                </a:lnTo>
                <a:lnTo>
                  <a:pt x="520446" y="202691"/>
                </a:lnTo>
                <a:lnTo>
                  <a:pt x="443545" y="201593"/>
                </a:lnTo>
                <a:lnTo>
                  <a:pt x="370146" y="198403"/>
                </a:lnTo>
                <a:lnTo>
                  <a:pt x="301053" y="193278"/>
                </a:lnTo>
                <a:lnTo>
                  <a:pt x="237072" y="186373"/>
                </a:lnTo>
                <a:lnTo>
                  <a:pt x="179008" y="177845"/>
                </a:lnTo>
                <a:lnTo>
                  <a:pt x="127667" y="167850"/>
                </a:lnTo>
                <a:lnTo>
                  <a:pt x="83855" y="156545"/>
                </a:lnTo>
                <a:lnTo>
                  <a:pt x="22037" y="130628"/>
                </a:lnTo>
                <a:lnTo>
                  <a:pt x="0" y="101345"/>
                </a:lnTo>
                <a:close/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413753" y="4772405"/>
            <a:ext cx="3175" cy="957580"/>
          </a:xfrm>
          <a:custGeom>
            <a:avLst/>
            <a:gdLst/>
            <a:ahLst/>
            <a:cxnLst/>
            <a:rect l="l" t="t" r="r" b="b"/>
            <a:pathLst>
              <a:path w="3175" h="957579">
                <a:moveTo>
                  <a:pt x="0" y="0"/>
                </a:moveTo>
                <a:lnTo>
                  <a:pt x="3048" y="957072"/>
                </a:lnTo>
              </a:path>
            </a:pathLst>
          </a:custGeom>
          <a:ln w="2590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430517" y="5590794"/>
            <a:ext cx="1041400" cy="203200"/>
          </a:xfrm>
          <a:custGeom>
            <a:avLst/>
            <a:gdLst/>
            <a:ahLst/>
            <a:cxnLst/>
            <a:rect l="l" t="t" r="r" b="b"/>
            <a:pathLst>
              <a:path w="1041400" h="203200">
                <a:moveTo>
                  <a:pt x="0" y="101345"/>
                </a:moveTo>
                <a:lnTo>
                  <a:pt x="48376" y="58622"/>
                </a:lnTo>
                <a:lnTo>
                  <a:pt x="127667" y="34856"/>
                </a:lnTo>
                <a:lnTo>
                  <a:pt x="179008" y="24859"/>
                </a:lnTo>
                <a:lnTo>
                  <a:pt x="237072" y="16328"/>
                </a:lnTo>
                <a:lnTo>
                  <a:pt x="301053" y="9419"/>
                </a:lnTo>
                <a:lnTo>
                  <a:pt x="370146" y="4291"/>
                </a:lnTo>
                <a:lnTo>
                  <a:pt x="443545" y="1098"/>
                </a:lnTo>
                <a:lnTo>
                  <a:pt x="520446" y="0"/>
                </a:lnTo>
                <a:lnTo>
                  <a:pt x="597346" y="1098"/>
                </a:lnTo>
                <a:lnTo>
                  <a:pt x="670745" y="4291"/>
                </a:lnTo>
                <a:lnTo>
                  <a:pt x="739838" y="9419"/>
                </a:lnTo>
                <a:lnTo>
                  <a:pt x="803819" y="16328"/>
                </a:lnTo>
                <a:lnTo>
                  <a:pt x="861883" y="24859"/>
                </a:lnTo>
                <a:lnTo>
                  <a:pt x="913224" y="34856"/>
                </a:lnTo>
                <a:lnTo>
                  <a:pt x="957036" y="46163"/>
                </a:lnTo>
                <a:lnTo>
                  <a:pt x="1018854" y="72077"/>
                </a:lnTo>
                <a:lnTo>
                  <a:pt x="1040891" y="101345"/>
                </a:lnTo>
                <a:lnTo>
                  <a:pt x="1035248" y="116321"/>
                </a:lnTo>
                <a:lnTo>
                  <a:pt x="992515" y="144069"/>
                </a:lnTo>
                <a:lnTo>
                  <a:pt x="913224" y="167835"/>
                </a:lnTo>
                <a:lnTo>
                  <a:pt x="861883" y="177832"/>
                </a:lnTo>
                <a:lnTo>
                  <a:pt x="803819" y="186363"/>
                </a:lnTo>
                <a:lnTo>
                  <a:pt x="739838" y="193272"/>
                </a:lnTo>
                <a:lnTo>
                  <a:pt x="670745" y="198400"/>
                </a:lnTo>
                <a:lnTo>
                  <a:pt x="597346" y="201593"/>
                </a:lnTo>
                <a:lnTo>
                  <a:pt x="520446" y="202691"/>
                </a:lnTo>
                <a:lnTo>
                  <a:pt x="443545" y="201593"/>
                </a:lnTo>
                <a:lnTo>
                  <a:pt x="370146" y="198400"/>
                </a:lnTo>
                <a:lnTo>
                  <a:pt x="301053" y="193272"/>
                </a:lnTo>
                <a:lnTo>
                  <a:pt x="237072" y="186363"/>
                </a:lnTo>
                <a:lnTo>
                  <a:pt x="179008" y="177832"/>
                </a:lnTo>
                <a:lnTo>
                  <a:pt x="127667" y="167835"/>
                </a:lnTo>
                <a:lnTo>
                  <a:pt x="83855" y="156528"/>
                </a:lnTo>
                <a:lnTo>
                  <a:pt x="22037" y="130614"/>
                </a:lnTo>
                <a:lnTo>
                  <a:pt x="0" y="101345"/>
                </a:lnTo>
                <a:close/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483602" y="4815078"/>
            <a:ext cx="0" cy="838200"/>
          </a:xfrm>
          <a:custGeom>
            <a:avLst/>
            <a:gdLst/>
            <a:ahLst/>
            <a:cxnLst/>
            <a:rect l="l" t="t" r="r" b="b"/>
            <a:pathLst>
              <a:path h="838200">
                <a:moveTo>
                  <a:pt x="0" y="0"/>
                </a:moveTo>
                <a:lnTo>
                  <a:pt x="0" y="838200"/>
                </a:lnTo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5820917" y="4066794"/>
            <a:ext cx="2714244" cy="314830"/>
          </a:xfrm>
          <a:prstGeom prst="rect">
            <a:avLst/>
          </a:prstGeom>
          <a:ln w="25907">
            <a:solidFill>
              <a:srgbClr val="000000"/>
            </a:solidFill>
          </a:ln>
        </p:spPr>
        <p:txBody>
          <a:bodyPr vert="horz" wrap="square" lIns="0" tIns="6985" rIns="0" bIns="0" rtlCol="0">
            <a:spAutoFit/>
          </a:bodyPr>
          <a:lstStyle/>
          <a:p>
            <a:pPr marL="61594">
              <a:lnSpc>
                <a:spcPct val="100000"/>
              </a:lnSpc>
              <a:spcBef>
                <a:spcPts val="55"/>
              </a:spcBef>
            </a:pPr>
            <a:r>
              <a:rPr sz="2000" spc="-10" dirty="0">
                <a:latin typeface="Gill Sans MT"/>
                <a:cs typeface="Gill Sans MT"/>
              </a:rPr>
              <a:t>Physical</a:t>
            </a:r>
            <a:r>
              <a:rPr sz="2000" spc="-30" dirty="0">
                <a:latin typeface="Gill Sans MT"/>
                <a:cs typeface="Gill Sans MT"/>
              </a:rPr>
              <a:t> </a:t>
            </a:r>
            <a:r>
              <a:rPr sz="2000" dirty="0">
                <a:latin typeface="Gill Sans MT"/>
                <a:cs typeface="Gill Sans MT"/>
              </a:rPr>
              <a:t>Schema</a:t>
            </a:r>
            <a:r>
              <a:rPr lang="zh-CN" altLang="en-US" sz="2000" dirty="0">
                <a:latin typeface="Gill Sans MT"/>
                <a:cs typeface="Gill Sans MT"/>
              </a:rPr>
              <a:t>物理模式</a:t>
            </a:r>
            <a:endParaRPr sz="2000" dirty="0">
              <a:latin typeface="Gill Sans MT"/>
              <a:cs typeface="Gill Sans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310378" y="3366516"/>
            <a:ext cx="3323844" cy="314830"/>
          </a:xfrm>
          <a:prstGeom prst="rect">
            <a:avLst/>
          </a:prstGeom>
          <a:ln w="25907">
            <a:solidFill>
              <a:srgbClr val="000000"/>
            </a:solidFill>
          </a:ln>
        </p:spPr>
        <p:txBody>
          <a:bodyPr vert="horz" wrap="square" lIns="0" tIns="6985" rIns="0" bIns="0" rtlCol="0">
            <a:spAutoFit/>
          </a:bodyPr>
          <a:lstStyle/>
          <a:p>
            <a:pPr marL="55244">
              <a:lnSpc>
                <a:spcPct val="100000"/>
              </a:lnSpc>
              <a:spcBef>
                <a:spcPts val="55"/>
              </a:spcBef>
            </a:pPr>
            <a:r>
              <a:rPr sz="2000" dirty="0">
                <a:latin typeface="Gill Sans MT"/>
                <a:cs typeface="Gill Sans MT"/>
              </a:rPr>
              <a:t>Conceptual</a:t>
            </a:r>
            <a:r>
              <a:rPr sz="2000" spc="-55" dirty="0">
                <a:latin typeface="Gill Sans MT"/>
                <a:cs typeface="Gill Sans MT"/>
              </a:rPr>
              <a:t> </a:t>
            </a:r>
            <a:r>
              <a:rPr sz="2000" dirty="0">
                <a:latin typeface="Gill Sans MT"/>
                <a:cs typeface="Gill Sans MT"/>
              </a:rPr>
              <a:t>Schema</a:t>
            </a:r>
            <a:r>
              <a:rPr lang="zh-CN" altLang="en-US" sz="2000" dirty="0">
                <a:latin typeface="Gill Sans MT"/>
                <a:cs typeface="Gill Sans MT"/>
              </a:rPr>
              <a:t>概念模式</a:t>
            </a:r>
            <a:endParaRPr sz="2000" dirty="0">
              <a:latin typeface="Gill Sans MT"/>
              <a:cs typeface="Gill Sans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135117" y="2542794"/>
            <a:ext cx="1041400" cy="355600"/>
          </a:xfrm>
          <a:prstGeom prst="rect">
            <a:avLst/>
          </a:prstGeom>
          <a:ln w="25907">
            <a:solidFill>
              <a:srgbClr val="000000"/>
            </a:solidFill>
          </a:ln>
        </p:spPr>
        <p:txBody>
          <a:bodyPr vert="horz" wrap="square" lIns="0" tIns="6350" rIns="0" bIns="0" rtlCol="0">
            <a:spAutoFit/>
          </a:bodyPr>
          <a:lstStyle/>
          <a:p>
            <a:pPr marL="61594">
              <a:lnSpc>
                <a:spcPct val="100000"/>
              </a:lnSpc>
              <a:spcBef>
                <a:spcPts val="50"/>
              </a:spcBef>
            </a:pPr>
            <a:r>
              <a:rPr sz="2000" spc="-10" dirty="0">
                <a:latin typeface="Gill Sans MT"/>
                <a:cs typeface="Gill Sans MT"/>
              </a:rPr>
              <a:t>View</a:t>
            </a:r>
            <a:r>
              <a:rPr sz="2000" spc="-20" dirty="0">
                <a:latin typeface="Gill Sans MT"/>
                <a:cs typeface="Gill Sans MT"/>
              </a:rPr>
              <a:t> </a:t>
            </a:r>
            <a:r>
              <a:rPr sz="2000" dirty="0">
                <a:latin typeface="Gill Sans MT"/>
                <a:cs typeface="Gill Sans MT"/>
              </a:rPr>
              <a:t>1</a:t>
            </a:r>
            <a:endParaRPr sz="2000">
              <a:latin typeface="Gill Sans MT"/>
              <a:cs typeface="Gill Sans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430517" y="2542794"/>
            <a:ext cx="1041400" cy="355600"/>
          </a:xfrm>
          <a:prstGeom prst="rect">
            <a:avLst/>
          </a:prstGeom>
          <a:ln w="25907">
            <a:solidFill>
              <a:srgbClr val="000000"/>
            </a:solidFill>
          </a:ln>
        </p:spPr>
        <p:txBody>
          <a:bodyPr vert="horz" wrap="square" lIns="0" tIns="6350" rIns="0" bIns="0" rtlCol="0">
            <a:spAutoFit/>
          </a:bodyPr>
          <a:lstStyle/>
          <a:p>
            <a:pPr marL="61594">
              <a:lnSpc>
                <a:spcPct val="100000"/>
              </a:lnSpc>
              <a:spcBef>
                <a:spcPts val="50"/>
              </a:spcBef>
            </a:pPr>
            <a:r>
              <a:rPr sz="2000" spc="-10" dirty="0">
                <a:latin typeface="Gill Sans MT"/>
                <a:cs typeface="Gill Sans MT"/>
              </a:rPr>
              <a:t>View</a:t>
            </a:r>
            <a:r>
              <a:rPr sz="2000" spc="-20" dirty="0">
                <a:latin typeface="Gill Sans MT"/>
                <a:cs typeface="Gill Sans MT"/>
              </a:rPr>
              <a:t> </a:t>
            </a:r>
            <a:r>
              <a:rPr sz="2000" dirty="0">
                <a:latin typeface="Gill Sans MT"/>
                <a:cs typeface="Gill Sans MT"/>
              </a:rPr>
              <a:t>2</a:t>
            </a:r>
            <a:endParaRPr sz="2000">
              <a:latin typeface="Gill Sans MT"/>
              <a:cs typeface="Gill Sans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725918" y="2542794"/>
            <a:ext cx="1041400" cy="355600"/>
          </a:xfrm>
          <a:prstGeom prst="rect">
            <a:avLst/>
          </a:prstGeom>
          <a:ln w="25907">
            <a:solidFill>
              <a:srgbClr val="000000"/>
            </a:solidFill>
          </a:ln>
        </p:spPr>
        <p:txBody>
          <a:bodyPr vert="horz" wrap="square" lIns="0" tIns="6350" rIns="0" bIns="0" rtlCol="0">
            <a:spAutoFit/>
          </a:bodyPr>
          <a:lstStyle/>
          <a:p>
            <a:pPr marL="63500">
              <a:lnSpc>
                <a:spcPct val="100000"/>
              </a:lnSpc>
              <a:spcBef>
                <a:spcPts val="50"/>
              </a:spcBef>
            </a:pPr>
            <a:r>
              <a:rPr sz="2000" spc="-10" dirty="0">
                <a:latin typeface="Gill Sans MT"/>
                <a:cs typeface="Gill Sans MT"/>
              </a:rPr>
              <a:t>View</a:t>
            </a:r>
            <a:r>
              <a:rPr sz="2000" spc="-20" dirty="0">
                <a:latin typeface="Gill Sans MT"/>
                <a:cs typeface="Gill Sans MT"/>
              </a:rPr>
              <a:t> </a:t>
            </a:r>
            <a:r>
              <a:rPr sz="2000" dirty="0">
                <a:latin typeface="Gill Sans MT"/>
                <a:cs typeface="Gill Sans MT"/>
              </a:rPr>
              <a:t>3</a:t>
            </a:r>
            <a:endParaRPr sz="2000">
              <a:latin typeface="Gill Sans MT"/>
              <a:cs typeface="Gill Sans MT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5654040" y="2909316"/>
            <a:ext cx="533400" cy="457200"/>
          </a:xfrm>
          <a:custGeom>
            <a:avLst/>
            <a:gdLst/>
            <a:ahLst/>
            <a:cxnLst/>
            <a:rect l="l" t="t" r="r" b="b"/>
            <a:pathLst>
              <a:path w="533400" h="457200">
                <a:moveTo>
                  <a:pt x="487481" y="426223"/>
                </a:moveTo>
                <a:lnTo>
                  <a:pt x="450723" y="436499"/>
                </a:lnTo>
                <a:lnTo>
                  <a:pt x="533400" y="457200"/>
                </a:lnTo>
                <a:lnTo>
                  <a:pt x="521538" y="429006"/>
                </a:lnTo>
                <a:lnTo>
                  <a:pt x="490727" y="429006"/>
                </a:lnTo>
                <a:lnTo>
                  <a:pt x="487481" y="426223"/>
                </a:lnTo>
                <a:close/>
              </a:path>
              <a:path w="533400" h="457200">
                <a:moveTo>
                  <a:pt x="495728" y="416563"/>
                </a:moveTo>
                <a:lnTo>
                  <a:pt x="494792" y="424180"/>
                </a:lnTo>
                <a:lnTo>
                  <a:pt x="487481" y="426223"/>
                </a:lnTo>
                <a:lnTo>
                  <a:pt x="490727" y="429006"/>
                </a:lnTo>
                <a:lnTo>
                  <a:pt x="498983" y="419354"/>
                </a:lnTo>
                <a:lnTo>
                  <a:pt x="495728" y="416563"/>
                </a:lnTo>
                <a:close/>
              </a:path>
              <a:path w="533400" h="457200">
                <a:moveTo>
                  <a:pt x="500380" y="378713"/>
                </a:moveTo>
                <a:lnTo>
                  <a:pt x="495728" y="416563"/>
                </a:lnTo>
                <a:lnTo>
                  <a:pt x="498983" y="419354"/>
                </a:lnTo>
                <a:lnTo>
                  <a:pt x="490727" y="429006"/>
                </a:lnTo>
                <a:lnTo>
                  <a:pt x="521538" y="429006"/>
                </a:lnTo>
                <a:lnTo>
                  <a:pt x="500380" y="378713"/>
                </a:lnTo>
                <a:close/>
              </a:path>
              <a:path w="533400" h="457200">
                <a:moveTo>
                  <a:pt x="45918" y="30976"/>
                </a:moveTo>
                <a:lnTo>
                  <a:pt x="38608" y="33020"/>
                </a:lnTo>
                <a:lnTo>
                  <a:pt x="37671" y="40636"/>
                </a:lnTo>
                <a:lnTo>
                  <a:pt x="487481" y="426223"/>
                </a:lnTo>
                <a:lnTo>
                  <a:pt x="494792" y="424180"/>
                </a:lnTo>
                <a:lnTo>
                  <a:pt x="495728" y="416563"/>
                </a:lnTo>
                <a:lnTo>
                  <a:pt x="45918" y="30976"/>
                </a:lnTo>
                <a:close/>
              </a:path>
              <a:path w="533400" h="457200">
                <a:moveTo>
                  <a:pt x="0" y="0"/>
                </a:moveTo>
                <a:lnTo>
                  <a:pt x="33020" y="78486"/>
                </a:lnTo>
                <a:lnTo>
                  <a:pt x="37671" y="40636"/>
                </a:lnTo>
                <a:lnTo>
                  <a:pt x="34417" y="37846"/>
                </a:lnTo>
                <a:lnTo>
                  <a:pt x="42672" y="28194"/>
                </a:lnTo>
                <a:lnTo>
                  <a:pt x="55872" y="28194"/>
                </a:lnTo>
                <a:lnTo>
                  <a:pt x="82676" y="20700"/>
                </a:lnTo>
                <a:lnTo>
                  <a:pt x="0" y="0"/>
                </a:lnTo>
                <a:close/>
              </a:path>
              <a:path w="533400" h="457200">
                <a:moveTo>
                  <a:pt x="42672" y="28194"/>
                </a:moveTo>
                <a:lnTo>
                  <a:pt x="34417" y="37846"/>
                </a:lnTo>
                <a:lnTo>
                  <a:pt x="37671" y="40636"/>
                </a:lnTo>
                <a:lnTo>
                  <a:pt x="38608" y="33020"/>
                </a:lnTo>
                <a:lnTo>
                  <a:pt x="45918" y="30976"/>
                </a:lnTo>
                <a:lnTo>
                  <a:pt x="42672" y="28194"/>
                </a:lnTo>
                <a:close/>
              </a:path>
              <a:path w="533400" h="457200">
                <a:moveTo>
                  <a:pt x="55872" y="28194"/>
                </a:moveTo>
                <a:lnTo>
                  <a:pt x="42672" y="28194"/>
                </a:lnTo>
                <a:lnTo>
                  <a:pt x="45918" y="30976"/>
                </a:lnTo>
                <a:lnTo>
                  <a:pt x="55872" y="2819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6911340" y="2909316"/>
            <a:ext cx="76200" cy="457200"/>
          </a:xfrm>
          <a:custGeom>
            <a:avLst/>
            <a:gdLst/>
            <a:ahLst/>
            <a:cxnLst/>
            <a:rect l="l" t="t" r="r" b="b"/>
            <a:pathLst>
              <a:path w="76200" h="457200">
                <a:moveTo>
                  <a:pt x="0" y="381000"/>
                </a:moveTo>
                <a:lnTo>
                  <a:pt x="38100" y="457200"/>
                </a:lnTo>
                <a:lnTo>
                  <a:pt x="63500" y="406400"/>
                </a:lnTo>
                <a:lnTo>
                  <a:pt x="31750" y="406400"/>
                </a:lnTo>
                <a:lnTo>
                  <a:pt x="31750" y="402166"/>
                </a:lnTo>
                <a:lnTo>
                  <a:pt x="0" y="381000"/>
                </a:lnTo>
                <a:close/>
              </a:path>
              <a:path w="76200" h="457200">
                <a:moveTo>
                  <a:pt x="31750" y="402166"/>
                </a:moveTo>
                <a:lnTo>
                  <a:pt x="31750" y="406400"/>
                </a:lnTo>
                <a:lnTo>
                  <a:pt x="38100" y="406400"/>
                </a:lnTo>
                <a:lnTo>
                  <a:pt x="31750" y="402166"/>
                </a:lnTo>
                <a:close/>
              </a:path>
              <a:path w="76200" h="457200">
                <a:moveTo>
                  <a:pt x="38100" y="50800"/>
                </a:moveTo>
                <a:lnTo>
                  <a:pt x="31750" y="55033"/>
                </a:lnTo>
                <a:lnTo>
                  <a:pt x="31750" y="402166"/>
                </a:lnTo>
                <a:lnTo>
                  <a:pt x="38100" y="406400"/>
                </a:lnTo>
                <a:lnTo>
                  <a:pt x="44450" y="402166"/>
                </a:lnTo>
                <a:lnTo>
                  <a:pt x="44450" y="55033"/>
                </a:lnTo>
                <a:lnTo>
                  <a:pt x="38100" y="50800"/>
                </a:lnTo>
                <a:close/>
              </a:path>
              <a:path w="76200" h="457200">
                <a:moveTo>
                  <a:pt x="44450" y="402166"/>
                </a:moveTo>
                <a:lnTo>
                  <a:pt x="38100" y="406400"/>
                </a:lnTo>
                <a:lnTo>
                  <a:pt x="44450" y="406400"/>
                </a:lnTo>
                <a:lnTo>
                  <a:pt x="44450" y="402166"/>
                </a:lnTo>
                <a:close/>
              </a:path>
              <a:path w="76200" h="457200">
                <a:moveTo>
                  <a:pt x="76200" y="381000"/>
                </a:moveTo>
                <a:lnTo>
                  <a:pt x="44450" y="402166"/>
                </a:lnTo>
                <a:lnTo>
                  <a:pt x="44450" y="406400"/>
                </a:lnTo>
                <a:lnTo>
                  <a:pt x="63500" y="406400"/>
                </a:lnTo>
                <a:lnTo>
                  <a:pt x="76200" y="381000"/>
                </a:lnTo>
                <a:close/>
              </a:path>
              <a:path w="76200" h="457200">
                <a:moveTo>
                  <a:pt x="38100" y="0"/>
                </a:moveTo>
                <a:lnTo>
                  <a:pt x="0" y="76200"/>
                </a:lnTo>
                <a:lnTo>
                  <a:pt x="31750" y="55033"/>
                </a:lnTo>
                <a:lnTo>
                  <a:pt x="31750" y="50800"/>
                </a:lnTo>
                <a:lnTo>
                  <a:pt x="63500" y="50800"/>
                </a:lnTo>
                <a:lnTo>
                  <a:pt x="38100" y="0"/>
                </a:lnTo>
                <a:close/>
              </a:path>
              <a:path w="76200" h="457200">
                <a:moveTo>
                  <a:pt x="63500" y="50800"/>
                </a:moveTo>
                <a:lnTo>
                  <a:pt x="44450" y="50800"/>
                </a:lnTo>
                <a:lnTo>
                  <a:pt x="44450" y="55033"/>
                </a:lnTo>
                <a:lnTo>
                  <a:pt x="76200" y="76200"/>
                </a:lnTo>
                <a:lnTo>
                  <a:pt x="63500" y="50800"/>
                </a:lnTo>
                <a:close/>
              </a:path>
              <a:path w="76200" h="457200">
                <a:moveTo>
                  <a:pt x="38100" y="50800"/>
                </a:moveTo>
                <a:lnTo>
                  <a:pt x="31750" y="50800"/>
                </a:lnTo>
                <a:lnTo>
                  <a:pt x="31750" y="55033"/>
                </a:lnTo>
                <a:lnTo>
                  <a:pt x="38100" y="50800"/>
                </a:lnTo>
                <a:close/>
              </a:path>
              <a:path w="76200" h="457200">
                <a:moveTo>
                  <a:pt x="44450" y="50800"/>
                </a:moveTo>
                <a:lnTo>
                  <a:pt x="38100" y="50800"/>
                </a:lnTo>
                <a:lnTo>
                  <a:pt x="44450" y="55033"/>
                </a:lnTo>
                <a:lnTo>
                  <a:pt x="44450" y="508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7711440" y="2909316"/>
            <a:ext cx="533400" cy="457200"/>
          </a:xfrm>
          <a:custGeom>
            <a:avLst/>
            <a:gdLst/>
            <a:ahLst/>
            <a:cxnLst/>
            <a:rect l="l" t="t" r="r" b="b"/>
            <a:pathLst>
              <a:path w="533400" h="457200">
                <a:moveTo>
                  <a:pt x="33019" y="378713"/>
                </a:moveTo>
                <a:lnTo>
                  <a:pt x="0" y="457200"/>
                </a:lnTo>
                <a:lnTo>
                  <a:pt x="82676" y="436499"/>
                </a:lnTo>
                <a:lnTo>
                  <a:pt x="55872" y="429006"/>
                </a:lnTo>
                <a:lnTo>
                  <a:pt x="42671" y="429006"/>
                </a:lnTo>
                <a:lnTo>
                  <a:pt x="34416" y="419354"/>
                </a:lnTo>
                <a:lnTo>
                  <a:pt x="37671" y="416563"/>
                </a:lnTo>
                <a:lnTo>
                  <a:pt x="33019" y="378713"/>
                </a:lnTo>
                <a:close/>
              </a:path>
              <a:path w="533400" h="457200">
                <a:moveTo>
                  <a:pt x="37671" y="416563"/>
                </a:moveTo>
                <a:lnTo>
                  <a:pt x="34416" y="419354"/>
                </a:lnTo>
                <a:lnTo>
                  <a:pt x="42671" y="429006"/>
                </a:lnTo>
                <a:lnTo>
                  <a:pt x="45918" y="426223"/>
                </a:lnTo>
                <a:lnTo>
                  <a:pt x="38607" y="424180"/>
                </a:lnTo>
                <a:lnTo>
                  <a:pt x="37671" y="416563"/>
                </a:lnTo>
                <a:close/>
              </a:path>
              <a:path w="533400" h="457200">
                <a:moveTo>
                  <a:pt x="45918" y="426223"/>
                </a:moveTo>
                <a:lnTo>
                  <a:pt x="42671" y="429006"/>
                </a:lnTo>
                <a:lnTo>
                  <a:pt x="55872" y="429006"/>
                </a:lnTo>
                <a:lnTo>
                  <a:pt x="45918" y="426223"/>
                </a:lnTo>
                <a:close/>
              </a:path>
              <a:path w="533400" h="457200">
                <a:moveTo>
                  <a:pt x="487481" y="30976"/>
                </a:moveTo>
                <a:lnTo>
                  <a:pt x="37671" y="416563"/>
                </a:lnTo>
                <a:lnTo>
                  <a:pt x="38607" y="424180"/>
                </a:lnTo>
                <a:lnTo>
                  <a:pt x="45918" y="426223"/>
                </a:lnTo>
                <a:lnTo>
                  <a:pt x="495728" y="40636"/>
                </a:lnTo>
                <a:lnTo>
                  <a:pt x="494791" y="33020"/>
                </a:lnTo>
                <a:lnTo>
                  <a:pt x="487481" y="30976"/>
                </a:lnTo>
                <a:close/>
              </a:path>
              <a:path w="533400" h="457200">
                <a:moveTo>
                  <a:pt x="521538" y="28194"/>
                </a:moveTo>
                <a:lnTo>
                  <a:pt x="490727" y="28194"/>
                </a:lnTo>
                <a:lnTo>
                  <a:pt x="498982" y="37846"/>
                </a:lnTo>
                <a:lnTo>
                  <a:pt x="495728" y="40636"/>
                </a:lnTo>
                <a:lnTo>
                  <a:pt x="500379" y="78486"/>
                </a:lnTo>
                <a:lnTo>
                  <a:pt x="521538" y="28194"/>
                </a:lnTo>
                <a:close/>
              </a:path>
              <a:path w="533400" h="457200">
                <a:moveTo>
                  <a:pt x="490727" y="28194"/>
                </a:moveTo>
                <a:lnTo>
                  <a:pt x="487481" y="30976"/>
                </a:lnTo>
                <a:lnTo>
                  <a:pt x="494791" y="33020"/>
                </a:lnTo>
                <a:lnTo>
                  <a:pt x="495728" y="40636"/>
                </a:lnTo>
                <a:lnTo>
                  <a:pt x="498982" y="37846"/>
                </a:lnTo>
                <a:lnTo>
                  <a:pt x="490727" y="28194"/>
                </a:lnTo>
                <a:close/>
              </a:path>
              <a:path w="533400" h="457200">
                <a:moveTo>
                  <a:pt x="533400" y="0"/>
                </a:moveTo>
                <a:lnTo>
                  <a:pt x="450723" y="20700"/>
                </a:lnTo>
                <a:lnTo>
                  <a:pt x="487481" y="30976"/>
                </a:lnTo>
                <a:lnTo>
                  <a:pt x="490727" y="28194"/>
                </a:lnTo>
                <a:lnTo>
                  <a:pt x="521538" y="28194"/>
                </a:lnTo>
                <a:lnTo>
                  <a:pt x="5334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6911340" y="3747515"/>
            <a:ext cx="76200" cy="304800"/>
          </a:xfrm>
          <a:custGeom>
            <a:avLst/>
            <a:gdLst/>
            <a:ahLst/>
            <a:cxnLst/>
            <a:rect l="l" t="t" r="r" b="b"/>
            <a:pathLst>
              <a:path w="76200" h="304800">
                <a:moveTo>
                  <a:pt x="0" y="228599"/>
                </a:moveTo>
                <a:lnTo>
                  <a:pt x="38100" y="304799"/>
                </a:lnTo>
                <a:lnTo>
                  <a:pt x="63500" y="253999"/>
                </a:lnTo>
                <a:lnTo>
                  <a:pt x="31750" y="253999"/>
                </a:lnTo>
                <a:lnTo>
                  <a:pt x="31750" y="249766"/>
                </a:lnTo>
                <a:lnTo>
                  <a:pt x="0" y="228599"/>
                </a:lnTo>
                <a:close/>
              </a:path>
              <a:path w="76200" h="304800">
                <a:moveTo>
                  <a:pt x="31750" y="249766"/>
                </a:moveTo>
                <a:lnTo>
                  <a:pt x="31750" y="253999"/>
                </a:lnTo>
                <a:lnTo>
                  <a:pt x="38100" y="253999"/>
                </a:lnTo>
                <a:lnTo>
                  <a:pt x="31750" y="249766"/>
                </a:lnTo>
                <a:close/>
              </a:path>
              <a:path w="76200" h="304800">
                <a:moveTo>
                  <a:pt x="38100" y="50799"/>
                </a:moveTo>
                <a:lnTo>
                  <a:pt x="31750" y="55033"/>
                </a:lnTo>
                <a:lnTo>
                  <a:pt x="31750" y="249766"/>
                </a:lnTo>
                <a:lnTo>
                  <a:pt x="38100" y="253999"/>
                </a:lnTo>
                <a:lnTo>
                  <a:pt x="44450" y="249766"/>
                </a:lnTo>
                <a:lnTo>
                  <a:pt x="44450" y="55033"/>
                </a:lnTo>
                <a:lnTo>
                  <a:pt x="38100" y="50799"/>
                </a:lnTo>
                <a:close/>
              </a:path>
              <a:path w="76200" h="304800">
                <a:moveTo>
                  <a:pt x="44450" y="249766"/>
                </a:moveTo>
                <a:lnTo>
                  <a:pt x="38100" y="253999"/>
                </a:lnTo>
                <a:lnTo>
                  <a:pt x="44450" y="253999"/>
                </a:lnTo>
                <a:lnTo>
                  <a:pt x="44450" y="249766"/>
                </a:lnTo>
                <a:close/>
              </a:path>
              <a:path w="76200" h="304800">
                <a:moveTo>
                  <a:pt x="76200" y="228599"/>
                </a:moveTo>
                <a:lnTo>
                  <a:pt x="44450" y="249766"/>
                </a:lnTo>
                <a:lnTo>
                  <a:pt x="44450" y="253999"/>
                </a:lnTo>
                <a:lnTo>
                  <a:pt x="63500" y="253999"/>
                </a:lnTo>
                <a:lnTo>
                  <a:pt x="76200" y="228599"/>
                </a:lnTo>
                <a:close/>
              </a:path>
              <a:path w="76200" h="304800">
                <a:moveTo>
                  <a:pt x="38100" y="0"/>
                </a:moveTo>
                <a:lnTo>
                  <a:pt x="0" y="76199"/>
                </a:lnTo>
                <a:lnTo>
                  <a:pt x="31750" y="55033"/>
                </a:lnTo>
                <a:lnTo>
                  <a:pt x="31750" y="50799"/>
                </a:lnTo>
                <a:lnTo>
                  <a:pt x="63500" y="50799"/>
                </a:lnTo>
                <a:lnTo>
                  <a:pt x="38100" y="0"/>
                </a:lnTo>
                <a:close/>
              </a:path>
              <a:path w="76200" h="304800">
                <a:moveTo>
                  <a:pt x="63500" y="50799"/>
                </a:moveTo>
                <a:lnTo>
                  <a:pt x="44450" y="50799"/>
                </a:lnTo>
                <a:lnTo>
                  <a:pt x="44450" y="55033"/>
                </a:lnTo>
                <a:lnTo>
                  <a:pt x="76200" y="76199"/>
                </a:lnTo>
                <a:lnTo>
                  <a:pt x="63500" y="50799"/>
                </a:lnTo>
                <a:close/>
              </a:path>
              <a:path w="76200" h="304800">
                <a:moveTo>
                  <a:pt x="38100" y="50799"/>
                </a:moveTo>
                <a:lnTo>
                  <a:pt x="31750" y="50799"/>
                </a:lnTo>
                <a:lnTo>
                  <a:pt x="31750" y="55033"/>
                </a:lnTo>
                <a:lnTo>
                  <a:pt x="38100" y="50799"/>
                </a:lnTo>
                <a:close/>
              </a:path>
              <a:path w="76200" h="304800">
                <a:moveTo>
                  <a:pt x="44450" y="50799"/>
                </a:moveTo>
                <a:lnTo>
                  <a:pt x="38100" y="50799"/>
                </a:lnTo>
                <a:lnTo>
                  <a:pt x="44450" y="55033"/>
                </a:lnTo>
                <a:lnTo>
                  <a:pt x="44450" y="507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6911340" y="4433315"/>
            <a:ext cx="76200" cy="381000"/>
          </a:xfrm>
          <a:custGeom>
            <a:avLst/>
            <a:gdLst/>
            <a:ahLst/>
            <a:cxnLst/>
            <a:rect l="l" t="t" r="r" b="b"/>
            <a:pathLst>
              <a:path w="76200" h="381000">
                <a:moveTo>
                  <a:pt x="0" y="304799"/>
                </a:moveTo>
                <a:lnTo>
                  <a:pt x="38100" y="380999"/>
                </a:lnTo>
                <a:lnTo>
                  <a:pt x="63500" y="330199"/>
                </a:lnTo>
                <a:lnTo>
                  <a:pt x="31750" y="330199"/>
                </a:lnTo>
                <a:lnTo>
                  <a:pt x="31750" y="325966"/>
                </a:lnTo>
                <a:lnTo>
                  <a:pt x="0" y="304799"/>
                </a:lnTo>
                <a:close/>
              </a:path>
              <a:path w="76200" h="381000">
                <a:moveTo>
                  <a:pt x="31750" y="325966"/>
                </a:moveTo>
                <a:lnTo>
                  <a:pt x="31750" y="330199"/>
                </a:lnTo>
                <a:lnTo>
                  <a:pt x="38100" y="330199"/>
                </a:lnTo>
                <a:lnTo>
                  <a:pt x="31750" y="325966"/>
                </a:lnTo>
                <a:close/>
              </a:path>
              <a:path w="76200" h="381000">
                <a:moveTo>
                  <a:pt x="38100" y="50799"/>
                </a:moveTo>
                <a:lnTo>
                  <a:pt x="31750" y="55033"/>
                </a:lnTo>
                <a:lnTo>
                  <a:pt x="31750" y="325966"/>
                </a:lnTo>
                <a:lnTo>
                  <a:pt x="38100" y="330199"/>
                </a:lnTo>
                <a:lnTo>
                  <a:pt x="44450" y="325966"/>
                </a:lnTo>
                <a:lnTo>
                  <a:pt x="44450" y="55033"/>
                </a:lnTo>
                <a:lnTo>
                  <a:pt x="38100" y="50799"/>
                </a:lnTo>
                <a:close/>
              </a:path>
              <a:path w="76200" h="381000">
                <a:moveTo>
                  <a:pt x="44450" y="325966"/>
                </a:moveTo>
                <a:lnTo>
                  <a:pt x="38100" y="330199"/>
                </a:lnTo>
                <a:lnTo>
                  <a:pt x="44450" y="330199"/>
                </a:lnTo>
                <a:lnTo>
                  <a:pt x="44450" y="325966"/>
                </a:lnTo>
                <a:close/>
              </a:path>
              <a:path w="76200" h="381000">
                <a:moveTo>
                  <a:pt x="76200" y="304799"/>
                </a:moveTo>
                <a:lnTo>
                  <a:pt x="44450" y="325966"/>
                </a:lnTo>
                <a:lnTo>
                  <a:pt x="44450" y="330199"/>
                </a:lnTo>
                <a:lnTo>
                  <a:pt x="63500" y="330199"/>
                </a:lnTo>
                <a:lnTo>
                  <a:pt x="76200" y="304799"/>
                </a:lnTo>
                <a:close/>
              </a:path>
              <a:path w="76200" h="381000">
                <a:moveTo>
                  <a:pt x="38100" y="0"/>
                </a:moveTo>
                <a:lnTo>
                  <a:pt x="0" y="76199"/>
                </a:lnTo>
                <a:lnTo>
                  <a:pt x="31750" y="55033"/>
                </a:lnTo>
                <a:lnTo>
                  <a:pt x="31750" y="50799"/>
                </a:lnTo>
                <a:lnTo>
                  <a:pt x="63500" y="50799"/>
                </a:lnTo>
                <a:lnTo>
                  <a:pt x="38100" y="0"/>
                </a:lnTo>
                <a:close/>
              </a:path>
              <a:path w="76200" h="381000">
                <a:moveTo>
                  <a:pt x="63500" y="50799"/>
                </a:moveTo>
                <a:lnTo>
                  <a:pt x="44450" y="50799"/>
                </a:lnTo>
                <a:lnTo>
                  <a:pt x="44450" y="55033"/>
                </a:lnTo>
                <a:lnTo>
                  <a:pt x="76200" y="76199"/>
                </a:lnTo>
                <a:lnTo>
                  <a:pt x="63500" y="50799"/>
                </a:lnTo>
                <a:close/>
              </a:path>
              <a:path w="76200" h="381000">
                <a:moveTo>
                  <a:pt x="38100" y="50799"/>
                </a:moveTo>
                <a:lnTo>
                  <a:pt x="31750" y="50799"/>
                </a:lnTo>
                <a:lnTo>
                  <a:pt x="31750" y="55033"/>
                </a:lnTo>
                <a:lnTo>
                  <a:pt x="38100" y="50799"/>
                </a:lnTo>
                <a:close/>
              </a:path>
              <a:path w="76200" h="381000">
                <a:moveTo>
                  <a:pt x="44450" y="50799"/>
                </a:moveTo>
                <a:lnTo>
                  <a:pt x="38100" y="50799"/>
                </a:lnTo>
                <a:lnTo>
                  <a:pt x="44450" y="55033"/>
                </a:lnTo>
                <a:lnTo>
                  <a:pt x="44450" y="507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5106161" y="1677161"/>
            <a:ext cx="990600" cy="355600"/>
          </a:xfrm>
          <a:prstGeom prst="rect">
            <a:avLst/>
          </a:prstGeom>
          <a:ln w="25907">
            <a:solidFill>
              <a:srgbClr val="000000"/>
            </a:solidFill>
          </a:ln>
        </p:spPr>
        <p:txBody>
          <a:bodyPr vert="horz" wrap="square" lIns="0" tIns="33655" rIns="0" bIns="0" rtlCol="0">
            <a:spAutoFit/>
          </a:bodyPr>
          <a:lstStyle/>
          <a:p>
            <a:pPr marL="90170">
              <a:lnSpc>
                <a:spcPct val="100000"/>
              </a:lnSpc>
              <a:spcBef>
                <a:spcPts val="265"/>
              </a:spcBef>
            </a:pPr>
            <a:r>
              <a:rPr sz="2000" dirty="0">
                <a:latin typeface="Gill Sans MT"/>
                <a:cs typeface="Gill Sans MT"/>
              </a:rPr>
              <a:t>App1</a:t>
            </a:r>
            <a:endParaRPr sz="2000">
              <a:latin typeface="Gill Sans MT"/>
              <a:cs typeface="Gill Sans MT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6896100" y="2057400"/>
            <a:ext cx="76200" cy="457200"/>
          </a:xfrm>
          <a:custGeom>
            <a:avLst/>
            <a:gdLst/>
            <a:ahLst/>
            <a:cxnLst/>
            <a:rect l="l" t="t" r="r" b="b"/>
            <a:pathLst>
              <a:path w="76200" h="457200">
                <a:moveTo>
                  <a:pt x="0" y="381000"/>
                </a:moveTo>
                <a:lnTo>
                  <a:pt x="38100" y="457200"/>
                </a:lnTo>
                <a:lnTo>
                  <a:pt x="63500" y="406400"/>
                </a:lnTo>
                <a:lnTo>
                  <a:pt x="31750" y="406400"/>
                </a:lnTo>
                <a:lnTo>
                  <a:pt x="31750" y="402166"/>
                </a:lnTo>
                <a:lnTo>
                  <a:pt x="0" y="381000"/>
                </a:lnTo>
                <a:close/>
              </a:path>
              <a:path w="76200" h="457200">
                <a:moveTo>
                  <a:pt x="31750" y="402166"/>
                </a:moveTo>
                <a:lnTo>
                  <a:pt x="31750" y="406400"/>
                </a:lnTo>
                <a:lnTo>
                  <a:pt x="38100" y="406400"/>
                </a:lnTo>
                <a:lnTo>
                  <a:pt x="31750" y="402166"/>
                </a:lnTo>
                <a:close/>
              </a:path>
              <a:path w="76200" h="457200">
                <a:moveTo>
                  <a:pt x="38100" y="50800"/>
                </a:moveTo>
                <a:lnTo>
                  <a:pt x="31750" y="55033"/>
                </a:lnTo>
                <a:lnTo>
                  <a:pt x="31750" y="402166"/>
                </a:lnTo>
                <a:lnTo>
                  <a:pt x="38100" y="406400"/>
                </a:lnTo>
                <a:lnTo>
                  <a:pt x="44450" y="402166"/>
                </a:lnTo>
                <a:lnTo>
                  <a:pt x="44450" y="55033"/>
                </a:lnTo>
                <a:lnTo>
                  <a:pt x="38100" y="50800"/>
                </a:lnTo>
                <a:close/>
              </a:path>
              <a:path w="76200" h="457200">
                <a:moveTo>
                  <a:pt x="44450" y="402166"/>
                </a:moveTo>
                <a:lnTo>
                  <a:pt x="38100" y="406400"/>
                </a:lnTo>
                <a:lnTo>
                  <a:pt x="44450" y="406400"/>
                </a:lnTo>
                <a:lnTo>
                  <a:pt x="44450" y="402166"/>
                </a:lnTo>
                <a:close/>
              </a:path>
              <a:path w="76200" h="457200">
                <a:moveTo>
                  <a:pt x="76200" y="381000"/>
                </a:moveTo>
                <a:lnTo>
                  <a:pt x="44450" y="402166"/>
                </a:lnTo>
                <a:lnTo>
                  <a:pt x="44450" y="406400"/>
                </a:lnTo>
                <a:lnTo>
                  <a:pt x="63500" y="406400"/>
                </a:lnTo>
                <a:lnTo>
                  <a:pt x="76200" y="381000"/>
                </a:lnTo>
                <a:close/>
              </a:path>
              <a:path w="76200" h="457200">
                <a:moveTo>
                  <a:pt x="38100" y="0"/>
                </a:moveTo>
                <a:lnTo>
                  <a:pt x="0" y="76200"/>
                </a:lnTo>
                <a:lnTo>
                  <a:pt x="31750" y="55033"/>
                </a:lnTo>
                <a:lnTo>
                  <a:pt x="31750" y="50800"/>
                </a:lnTo>
                <a:lnTo>
                  <a:pt x="63500" y="50800"/>
                </a:lnTo>
                <a:lnTo>
                  <a:pt x="38100" y="0"/>
                </a:lnTo>
                <a:close/>
              </a:path>
              <a:path w="76200" h="457200">
                <a:moveTo>
                  <a:pt x="63500" y="50800"/>
                </a:moveTo>
                <a:lnTo>
                  <a:pt x="44450" y="50800"/>
                </a:lnTo>
                <a:lnTo>
                  <a:pt x="44450" y="55033"/>
                </a:lnTo>
                <a:lnTo>
                  <a:pt x="76200" y="76200"/>
                </a:lnTo>
                <a:lnTo>
                  <a:pt x="63500" y="50800"/>
                </a:lnTo>
                <a:close/>
              </a:path>
              <a:path w="76200" h="457200">
                <a:moveTo>
                  <a:pt x="38100" y="50800"/>
                </a:moveTo>
                <a:lnTo>
                  <a:pt x="31750" y="50800"/>
                </a:lnTo>
                <a:lnTo>
                  <a:pt x="31750" y="55033"/>
                </a:lnTo>
                <a:lnTo>
                  <a:pt x="38100" y="50800"/>
                </a:lnTo>
                <a:close/>
              </a:path>
              <a:path w="76200" h="457200">
                <a:moveTo>
                  <a:pt x="44450" y="50800"/>
                </a:moveTo>
                <a:lnTo>
                  <a:pt x="38100" y="50800"/>
                </a:lnTo>
                <a:lnTo>
                  <a:pt x="44450" y="55033"/>
                </a:lnTo>
                <a:lnTo>
                  <a:pt x="44450" y="508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5524500" y="2057400"/>
            <a:ext cx="76200" cy="457200"/>
          </a:xfrm>
          <a:custGeom>
            <a:avLst/>
            <a:gdLst/>
            <a:ahLst/>
            <a:cxnLst/>
            <a:rect l="l" t="t" r="r" b="b"/>
            <a:pathLst>
              <a:path w="76200" h="457200">
                <a:moveTo>
                  <a:pt x="0" y="381000"/>
                </a:moveTo>
                <a:lnTo>
                  <a:pt x="38100" y="457200"/>
                </a:lnTo>
                <a:lnTo>
                  <a:pt x="63500" y="406400"/>
                </a:lnTo>
                <a:lnTo>
                  <a:pt x="31750" y="406400"/>
                </a:lnTo>
                <a:lnTo>
                  <a:pt x="31750" y="402166"/>
                </a:lnTo>
                <a:lnTo>
                  <a:pt x="0" y="381000"/>
                </a:lnTo>
                <a:close/>
              </a:path>
              <a:path w="76200" h="457200">
                <a:moveTo>
                  <a:pt x="31750" y="402166"/>
                </a:moveTo>
                <a:lnTo>
                  <a:pt x="31750" y="406400"/>
                </a:lnTo>
                <a:lnTo>
                  <a:pt x="38100" y="406400"/>
                </a:lnTo>
                <a:lnTo>
                  <a:pt x="31750" y="402166"/>
                </a:lnTo>
                <a:close/>
              </a:path>
              <a:path w="76200" h="457200">
                <a:moveTo>
                  <a:pt x="38100" y="50800"/>
                </a:moveTo>
                <a:lnTo>
                  <a:pt x="31750" y="55033"/>
                </a:lnTo>
                <a:lnTo>
                  <a:pt x="31750" y="402166"/>
                </a:lnTo>
                <a:lnTo>
                  <a:pt x="38100" y="406400"/>
                </a:lnTo>
                <a:lnTo>
                  <a:pt x="44450" y="402166"/>
                </a:lnTo>
                <a:lnTo>
                  <a:pt x="44450" y="55033"/>
                </a:lnTo>
                <a:lnTo>
                  <a:pt x="38100" y="50800"/>
                </a:lnTo>
                <a:close/>
              </a:path>
              <a:path w="76200" h="457200">
                <a:moveTo>
                  <a:pt x="44450" y="402166"/>
                </a:moveTo>
                <a:lnTo>
                  <a:pt x="38100" y="406400"/>
                </a:lnTo>
                <a:lnTo>
                  <a:pt x="44450" y="406400"/>
                </a:lnTo>
                <a:lnTo>
                  <a:pt x="44450" y="402166"/>
                </a:lnTo>
                <a:close/>
              </a:path>
              <a:path w="76200" h="457200">
                <a:moveTo>
                  <a:pt x="76200" y="381000"/>
                </a:moveTo>
                <a:lnTo>
                  <a:pt x="44450" y="402166"/>
                </a:lnTo>
                <a:lnTo>
                  <a:pt x="44450" y="406400"/>
                </a:lnTo>
                <a:lnTo>
                  <a:pt x="63500" y="406400"/>
                </a:lnTo>
                <a:lnTo>
                  <a:pt x="76200" y="381000"/>
                </a:lnTo>
                <a:close/>
              </a:path>
              <a:path w="76200" h="457200">
                <a:moveTo>
                  <a:pt x="38100" y="0"/>
                </a:moveTo>
                <a:lnTo>
                  <a:pt x="0" y="76200"/>
                </a:lnTo>
                <a:lnTo>
                  <a:pt x="31750" y="55033"/>
                </a:lnTo>
                <a:lnTo>
                  <a:pt x="31750" y="50800"/>
                </a:lnTo>
                <a:lnTo>
                  <a:pt x="63500" y="50800"/>
                </a:lnTo>
                <a:lnTo>
                  <a:pt x="38100" y="0"/>
                </a:lnTo>
                <a:close/>
              </a:path>
              <a:path w="76200" h="457200">
                <a:moveTo>
                  <a:pt x="63500" y="50800"/>
                </a:moveTo>
                <a:lnTo>
                  <a:pt x="44450" y="50800"/>
                </a:lnTo>
                <a:lnTo>
                  <a:pt x="44450" y="55033"/>
                </a:lnTo>
                <a:lnTo>
                  <a:pt x="76200" y="76200"/>
                </a:lnTo>
                <a:lnTo>
                  <a:pt x="63500" y="50800"/>
                </a:lnTo>
                <a:close/>
              </a:path>
              <a:path w="76200" h="457200">
                <a:moveTo>
                  <a:pt x="38100" y="50800"/>
                </a:moveTo>
                <a:lnTo>
                  <a:pt x="31750" y="50800"/>
                </a:lnTo>
                <a:lnTo>
                  <a:pt x="31750" y="55033"/>
                </a:lnTo>
                <a:lnTo>
                  <a:pt x="38100" y="50800"/>
                </a:lnTo>
                <a:close/>
              </a:path>
              <a:path w="76200" h="457200">
                <a:moveTo>
                  <a:pt x="44450" y="50800"/>
                </a:moveTo>
                <a:lnTo>
                  <a:pt x="38100" y="50800"/>
                </a:lnTo>
                <a:lnTo>
                  <a:pt x="44450" y="55033"/>
                </a:lnTo>
                <a:lnTo>
                  <a:pt x="44450" y="508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6477761" y="1677161"/>
            <a:ext cx="2057400" cy="355600"/>
          </a:xfrm>
          <a:prstGeom prst="rect">
            <a:avLst/>
          </a:prstGeom>
          <a:ln w="25907">
            <a:solidFill>
              <a:srgbClr val="000000"/>
            </a:solidFill>
          </a:ln>
        </p:spPr>
        <p:txBody>
          <a:bodyPr vert="horz" wrap="square" lIns="0" tIns="33655" rIns="0" bIns="0" rtlCol="0">
            <a:spAutoFit/>
          </a:bodyPr>
          <a:lstStyle/>
          <a:p>
            <a:pPr marR="95885" algn="ctr">
              <a:lnSpc>
                <a:spcPct val="100000"/>
              </a:lnSpc>
              <a:spcBef>
                <a:spcPts val="265"/>
              </a:spcBef>
            </a:pPr>
            <a:r>
              <a:rPr sz="2000" dirty="0">
                <a:latin typeface="Gill Sans MT"/>
                <a:cs typeface="Gill Sans MT"/>
              </a:rPr>
              <a:t>App2</a:t>
            </a:r>
            <a:endParaRPr sz="2000">
              <a:latin typeface="Gill Sans MT"/>
              <a:cs typeface="Gill Sans MT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8191500" y="2057400"/>
            <a:ext cx="76200" cy="457200"/>
          </a:xfrm>
          <a:custGeom>
            <a:avLst/>
            <a:gdLst/>
            <a:ahLst/>
            <a:cxnLst/>
            <a:rect l="l" t="t" r="r" b="b"/>
            <a:pathLst>
              <a:path w="76200" h="457200">
                <a:moveTo>
                  <a:pt x="0" y="381000"/>
                </a:moveTo>
                <a:lnTo>
                  <a:pt x="38100" y="457200"/>
                </a:lnTo>
                <a:lnTo>
                  <a:pt x="63500" y="406400"/>
                </a:lnTo>
                <a:lnTo>
                  <a:pt x="31750" y="406400"/>
                </a:lnTo>
                <a:lnTo>
                  <a:pt x="31750" y="402166"/>
                </a:lnTo>
                <a:lnTo>
                  <a:pt x="0" y="381000"/>
                </a:lnTo>
                <a:close/>
              </a:path>
              <a:path w="76200" h="457200">
                <a:moveTo>
                  <a:pt x="31750" y="402166"/>
                </a:moveTo>
                <a:lnTo>
                  <a:pt x="31750" y="406400"/>
                </a:lnTo>
                <a:lnTo>
                  <a:pt x="38100" y="406400"/>
                </a:lnTo>
                <a:lnTo>
                  <a:pt x="31750" y="402166"/>
                </a:lnTo>
                <a:close/>
              </a:path>
              <a:path w="76200" h="457200">
                <a:moveTo>
                  <a:pt x="38100" y="50800"/>
                </a:moveTo>
                <a:lnTo>
                  <a:pt x="31750" y="55033"/>
                </a:lnTo>
                <a:lnTo>
                  <a:pt x="31750" y="402166"/>
                </a:lnTo>
                <a:lnTo>
                  <a:pt x="38100" y="406400"/>
                </a:lnTo>
                <a:lnTo>
                  <a:pt x="44450" y="402166"/>
                </a:lnTo>
                <a:lnTo>
                  <a:pt x="44450" y="55033"/>
                </a:lnTo>
                <a:lnTo>
                  <a:pt x="38100" y="50800"/>
                </a:lnTo>
                <a:close/>
              </a:path>
              <a:path w="76200" h="457200">
                <a:moveTo>
                  <a:pt x="44450" y="402166"/>
                </a:moveTo>
                <a:lnTo>
                  <a:pt x="38100" y="406400"/>
                </a:lnTo>
                <a:lnTo>
                  <a:pt x="44450" y="406400"/>
                </a:lnTo>
                <a:lnTo>
                  <a:pt x="44450" y="402166"/>
                </a:lnTo>
                <a:close/>
              </a:path>
              <a:path w="76200" h="457200">
                <a:moveTo>
                  <a:pt x="76200" y="381000"/>
                </a:moveTo>
                <a:lnTo>
                  <a:pt x="44450" y="402166"/>
                </a:lnTo>
                <a:lnTo>
                  <a:pt x="44450" y="406400"/>
                </a:lnTo>
                <a:lnTo>
                  <a:pt x="63500" y="406400"/>
                </a:lnTo>
                <a:lnTo>
                  <a:pt x="76200" y="381000"/>
                </a:lnTo>
                <a:close/>
              </a:path>
              <a:path w="76200" h="457200">
                <a:moveTo>
                  <a:pt x="38100" y="0"/>
                </a:moveTo>
                <a:lnTo>
                  <a:pt x="0" y="76200"/>
                </a:lnTo>
                <a:lnTo>
                  <a:pt x="31750" y="55033"/>
                </a:lnTo>
                <a:lnTo>
                  <a:pt x="31750" y="50800"/>
                </a:lnTo>
                <a:lnTo>
                  <a:pt x="63500" y="50800"/>
                </a:lnTo>
                <a:lnTo>
                  <a:pt x="38100" y="0"/>
                </a:lnTo>
                <a:close/>
              </a:path>
              <a:path w="76200" h="457200">
                <a:moveTo>
                  <a:pt x="63500" y="50800"/>
                </a:moveTo>
                <a:lnTo>
                  <a:pt x="44450" y="50800"/>
                </a:lnTo>
                <a:lnTo>
                  <a:pt x="44450" y="55033"/>
                </a:lnTo>
                <a:lnTo>
                  <a:pt x="76200" y="76200"/>
                </a:lnTo>
                <a:lnTo>
                  <a:pt x="63500" y="50800"/>
                </a:lnTo>
                <a:close/>
              </a:path>
              <a:path w="76200" h="457200">
                <a:moveTo>
                  <a:pt x="38100" y="50800"/>
                </a:moveTo>
                <a:lnTo>
                  <a:pt x="31750" y="50800"/>
                </a:lnTo>
                <a:lnTo>
                  <a:pt x="31750" y="55033"/>
                </a:lnTo>
                <a:lnTo>
                  <a:pt x="38100" y="50800"/>
                </a:lnTo>
                <a:close/>
              </a:path>
              <a:path w="76200" h="457200">
                <a:moveTo>
                  <a:pt x="44450" y="50800"/>
                </a:moveTo>
                <a:lnTo>
                  <a:pt x="38100" y="50800"/>
                </a:lnTo>
                <a:lnTo>
                  <a:pt x="44450" y="55033"/>
                </a:lnTo>
                <a:lnTo>
                  <a:pt x="44450" y="508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4953761" y="2439161"/>
            <a:ext cx="3962400" cy="609600"/>
          </a:xfrm>
          <a:custGeom>
            <a:avLst/>
            <a:gdLst/>
            <a:ahLst/>
            <a:cxnLst/>
            <a:rect l="l" t="t" r="r" b="b"/>
            <a:pathLst>
              <a:path w="3962400" h="609600">
                <a:moveTo>
                  <a:pt x="0" y="609600"/>
                </a:moveTo>
                <a:lnTo>
                  <a:pt x="3962399" y="609600"/>
                </a:lnTo>
                <a:lnTo>
                  <a:pt x="3962399" y="0"/>
                </a:lnTo>
                <a:lnTo>
                  <a:pt x="0" y="0"/>
                </a:lnTo>
                <a:lnTo>
                  <a:pt x="0" y="609600"/>
                </a:lnTo>
                <a:close/>
              </a:path>
            </a:pathLst>
          </a:custGeom>
          <a:ln w="38100">
            <a:solidFill>
              <a:srgbClr val="FF66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4953761" y="3201161"/>
            <a:ext cx="3962400" cy="609600"/>
          </a:xfrm>
          <a:custGeom>
            <a:avLst/>
            <a:gdLst/>
            <a:ahLst/>
            <a:cxnLst/>
            <a:rect l="l" t="t" r="r" b="b"/>
            <a:pathLst>
              <a:path w="3962400" h="609600">
                <a:moveTo>
                  <a:pt x="0" y="609600"/>
                </a:moveTo>
                <a:lnTo>
                  <a:pt x="3962399" y="609600"/>
                </a:lnTo>
                <a:lnTo>
                  <a:pt x="3962399" y="0"/>
                </a:lnTo>
                <a:lnTo>
                  <a:pt x="0" y="0"/>
                </a:lnTo>
                <a:lnTo>
                  <a:pt x="0" y="609600"/>
                </a:lnTo>
                <a:close/>
              </a:path>
            </a:pathLst>
          </a:custGeom>
          <a:ln w="38100">
            <a:solidFill>
              <a:srgbClr val="FF66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4953761" y="3963161"/>
            <a:ext cx="3962400" cy="609600"/>
          </a:xfrm>
          <a:custGeom>
            <a:avLst/>
            <a:gdLst/>
            <a:ahLst/>
            <a:cxnLst/>
            <a:rect l="l" t="t" r="r" b="b"/>
            <a:pathLst>
              <a:path w="3962400" h="609600">
                <a:moveTo>
                  <a:pt x="0" y="609600"/>
                </a:moveTo>
                <a:lnTo>
                  <a:pt x="3962399" y="609600"/>
                </a:lnTo>
                <a:lnTo>
                  <a:pt x="3962399" y="0"/>
                </a:lnTo>
                <a:lnTo>
                  <a:pt x="0" y="0"/>
                </a:lnTo>
                <a:lnTo>
                  <a:pt x="0" y="609600"/>
                </a:lnTo>
                <a:close/>
              </a:path>
            </a:pathLst>
          </a:custGeom>
          <a:ln w="38100">
            <a:solidFill>
              <a:srgbClr val="FF66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12</a:t>
            </a:fld>
            <a:endParaRPr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35455" y="812038"/>
            <a:ext cx="667004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dirty="0"/>
              <a:t>Example: </a:t>
            </a:r>
            <a:r>
              <a:rPr sz="4400" spc="-10" dirty="0"/>
              <a:t>University</a:t>
            </a:r>
            <a:r>
              <a:rPr sz="4400" spc="-550" dirty="0"/>
              <a:t> </a:t>
            </a:r>
            <a:r>
              <a:rPr sz="4400" dirty="0"/>
              <a:t>Database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13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63625" y="1682677"/>
            <a:ext cx="7821930" cy="4584700"/>
          </a:xfrm>
          <a:prstGeom prst="rect">
            <a:avLst/>
          </a:prstGeom>
        </p:spPr>
        <p:txBody>
          <a:bodyPr vert="horz" wrap="square" lIns="0" tIns="57785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455"/>
              </a:spcBef>
              <a:buChar char="•"/>
              <a:tabLst>
                <a:tab pos="355600" algn="l"/>
                <a:tab pos="356235" algn="l"/>
              </a:tabLst>
            </a:pPr>
            <a:r>
              <a:rPr sz="2800" dirty="0">
                <a:latin typeface="Gill Sans MT"/>
                <a:cs typeface="Gill Sans MT"/>
              </a:rPr>
              <a:t>Conceptual</a:t>
            </a:r>
            <a:r>
              <a:rPr sz="2800" spc="-5" dirty="0">
                <a:latin typeface="Gill Sans MT"/>
                <a:cs typeface="Gill Sans MT"/>
              </a:rPr>
              <a:t> </a:t>
            </a:r>
            <a:r>
              <a:rPr sz="2800" dirty="0">
                <a:latin typeface="Gill Sans MT"/>
                <a:cs typeface="Gill Sans MT"/>
              </a:rPr>
              <a:t>schema:</a:t>
            </a:r>
          </a:p>
          <a:p>
            <a:pPr marL="756285" marR="5080" lvl="1" indent="-287020">
              <a:lnSpc>
                <a:spcPts val="2590"/>
              </a:lnSpc>
              <a:spcBef>
                <a:spcPts val="635"/>
              </a:spcBef>
              <a:buSzPct val="75000"/>
              <a:buChar char="–"/>
              <a:tabLst>
                <a:tab pos="756285" algn="l"/>
                <a:tab pos="756920" algn="l"/>
              </a:tabLst>
            </a:pPr>
            <a:r>
              <a:rPr sz="2400" dirty="0">
                <a:latin typeface="Gill Sans MT"/>
                <a:cs typeface="Gill Sans MT"/>
              </a:rPr>
              <a:t>Students</a:t>
            </a:r>
            <a:r>
              <a:rPr sz="2400" spc="-15" dirty="0">
                <a:latin typeface="Gill Sans MT"/>
                <a:cs typeface="Gill Sans MT"/>
              </a:rPr>
              <a:t> </a:t>
            </a:r>
            <a:r>
              <a:rPr sz="2400" spc="-5" dirty="0">
                <a:latin typeface="Gill Sans MT"/>
                <a:cs typeface="Gill Sans MT"/>
              </a:rPr>
              <a:t>(sid:</a:t>
            </a:r>
            <a:r>
              <a:rPr sz="2400" spc="-235" dirty="0">
                <a:latin typeface="Gill Sans MT"/>
                <a:cs typeface="Gill Sans MT"/>
              </a:rPr>
              <a:t> </a:t>
            </a:r>
            <a:r>
              <a:rPr sz="2400" spc="-5" dirty="0">
                <a:latin typeface="Gill Sans MT"/>
                <a:cs typeface="Gill Sans MT"/>
              </a:rPr>
              <a:t>string,</a:t>
            </a:r>
            <a:r>
              <a:rPr sz="2400" spc="-229" dirty="0">
                <a:latin typeface="Gill Sans MT"/>
                <a:cs typeface="Gill Sans MT"/>
              </a:rPr>
              <a:t> </a:t>
            </a:r>
            <a:r>
              <a:rPr sz="2400" spc="-5" dirty="0">
                <a:latin typeface="Gill Sans MT"/>
                <a:cs typeface="Gill Sans MT"/>
              </a:rPr>
              <a:t>name:</a:t>
            </a:r>
            <a:r>
              <a:rPr sz="2400" spc="-229" dirty="0">
                <a:latin typeface="Gill Sans MT"/>
                <a:cs typeface="Gill Sans MT"/>
              </a:rPr>
              <a:t> </a:t>
            </a:r>
            <a:r>
              <a:rPr sz="2400" spc="-5" dirty="0">
                <a:latin typeface="Gill Sans MT"/>
                <a:cs typeface="Gill Sans MT"/>
              </a:rPr>
              <a:t>string,</a:t>
            </a:r>
            <a:r>
              <a:rPr sz="2400" spc="-235" dirty="0">
                <a:latin typeface="Gill Sans MT"/>
                <a:cs typeface="Gill Sans MT"/>
              </a:rPr>
              <a:t> </a:t>
            </a:r>
            <a:r>
              <a:rPr sz="2400" spc="-5" dirty="0">
                <a:latin typeface="Gill Sans MT"/>
                <a:cs typeface="Gill Sans MT"/>
              </a:rPr>
              <a:t>login:</a:t>
            </a:r>
            <a:r>
              <a:rPr sz="2400" spc="-235" dirty="0">
                <a:latin typeface="Gill Sans MT"/>
                <a:cs typeface="Gill Sans MT"/>
              </a:rPr>
              <a:t> </a:t>
            </a:r>
            <a:r>
              <a:rPr sz="2400" spc="-5" dirty="0">
                <a:latin typeface="Gill Sans MT"/>
                <a:cs typeface="Gill Sans MT"/>
              </a:rPr>
              <a:t>string,</a:t>
            </a:r>
            <a:r>
              <a:rPr sz="2400" spc="-235" dirty="0">
                <a:latin typeface="Gill Sans MT"/>
                <a:cs typeface="Gill Sans MT"/>
              </a:rPr>
              <a:t> </a:t>
            </a:r>
            <a:r>
              <a:rPr sz="2400" spc="-5" dirty="0">
                <a:latin typeface="Gill Sans MT"/>
                <a:cs typeface="Gill Sans MT"/>
              </a:rPr>
              <a:t>age:</a:t>
            </a:r>
            <a:r>
              <a:rPr sz="2400" spc="-235" dirty="0">
                <a:latin typeface="Gill Sans MT"/>
                <a:cs typeface="Gill Sans MT"/>
              </a:rPr>
              <a:t> </a:t>
            </a:r>
            <a:r>
              <a:rPr sz="2400" spc="-35" dirty="0">
                <a:latin typeface="Gill Sans MT"/>
                <a:cs typeface="Gill Sans MT"/>
              </a:rPr>
              <a:t>integer,  </a:t>
            </a:r>
            <a:r>
              <a:rPr sz="2400" spc="-10" dirty="0">
                <a:latin typeface="Gill Sans MT"/>
                <a:cs typeface="Gill Sans MT"/>
              </a:rPr>
              <a:t>gpa:real)</a:t>
            </a:r>
            <a:endParaRPr sz="2400" dirty="0">
              <a:latin typeface="Gill Sans MT"/>
              <a:cs typeface="Gill Sans MT"/>
            </a:endParaRPr>
          </a:p>
          <a:p>
            <a:pPr marL="756285" lvl="1" indent="-287020">
              <a:lnSpc>
                <a:spcPct val="100000"/>
              </a:lnSpc>
              <a:spcBef>
                <a:spcPts val="250"/>
              </a:spcBef>
              <a:buSzPct val="75000"/>
              <a:buChar char="–"/>
              <a:tabLst>
                <a:tab pos="756285" algn="l"/>
                <a:tab pos="756920" algn="l"/>
              </a:tabLst>
            </a:pPr>
            <a:r>
              <a:rPr sz="2400" spc="-5" dirty="0">
                <a:latin typeface="Gill Sans MT"/>
                <a:cs typeface="Gill Sans MT"/>
              </a:rPr>
              <a:t>Courses</a:t>
            </a:r>
            <a:r>
              <a:rPr sz="2400" spc="-10" dirty="0">
                <a:latin typeface="Gill Sans MT"/>
                <a:cs typeface="Gill Sans MT"/>
              </a:rPr>
              <a:t> </a:t>
            </a:r>
            <a:r>
              <a:rPr sz="2400" spc="-5" dirty="0">
                <a:latin typeface="Gill Sans MT"/>
                <a:cs typeface="Gill Sans MT"/>
              </a:rPr>
              <a:t>(cid:</a:t>
            </a:r>
            <a:r>
              <a:rPr sz="2400" spc="-260" dirty="0">
                <a:latin typeface="Gill Sans MT"/>
                <a:cs typeface="Gill Sans MT"/>
              </a:rPr>
              <a:t> </a:t>
            </a:r>
            <a:r>
              <a:rPr sz="2400" dirty="0">
                <a:latin typeface="Gill Sans MT"/>
                <a:cs typeface="Gill Sans MT"/>
              </a:rPr>
              <a:t>string,</a:t>
            </a:r>
            <a:r>
              <a:rPr sz="2400" spc="-250" dirty="0">
                <a:latin typeface="Gill Sans MT"/>
                <a:cs typeface="Gill Sans MT"/>
              </a:rPr>
              <a:t> </a:t>
            </a:r>
            <a:r>
              <a:rPr sz="2400" dirty="0">
                <a:latin typeface="Gill Sans MT"/>
                <a:cs typeface="Gill Sans MT"/>
              </a:rPr>
              <a:t>cname:string,</a:t>
            </a:r>
            <a:r>
              <a:rPr sz="2400" spc="-250" dirty="0">
                <a:latin typeface="Gill Sans MT"/>
                <a:cs typeface="Gill Sans MT"/>
              </a:rPr>
              <a:t> </a:t>
            </a:r>
            <a:r>
              <a:rPr sz="2400" spc="-5" dirty="0">
                <a:latin typeface="Gill Sans MT"/>
                <a:cs typeface="Gill Sans MT"/>
              </a:rPr>
              <a:t>credits:integer)</a:t>
            </a:r>
            <a:endParaRPr sz="2400" dirty="0">
              <a:latin typeface="Gill Sans MT"/>
              <a:cs typeface="Gill Sans MT"/>
            </a:endParaRPr>
          </a:p>
          <a:p>
            <a:pPr marL="756285" lvl="1" indent="-287020">
              <a:lnSpc>
                <a:spcPct val="100000"/>
              </a:lnSpc>
              <a:spcBef>
                <a:spcPts val="290"/>
              </a:spcBef>
              <a:buSzPct val="75000"/>
              <a:buChar char="–"/>
              <a:tabLst>
                <a:tab pos="756285" algn="l"/>
                <a:tab pos="756920" algn="l"/>
              </a:tabLst>
            </a:pPr>
            <a:r>
              <a:rPr sz="2400" spc="-10" dirty="0">
                <a:latin typeface="Gill Sans MT"/>
                <a:cs typeface="Gill Sans MT"/>
              </a:rPr>
              <a:t>Enrolled </a:t>
            </a:r>
            <a:r>
              <a:rPr sz="2400" spc="-5" dirty="0">
                <a:latin typeface="Gill Sans MT"/>
                <a:cs typeface="Gill Sans MT"/>
              </a:rPr>
              <a:t>(sid:string, </a:t>
            </a:r>
            <a:r>
              <a:rPr sz="2400" dirty="0">
                <a:latin typeface="Gill Sans MT"/>
                <a:cs typeface="Gill Sans MT"/>
              </a:rPr>
              <a:t>cid:string,</a:t>
            </a:r>
            <a:r>
              <a:rPr sz="2400" spc="-495" dirty="0">
                <a:latin typeface="Gill Sans MT"/>
                <a:cs typeface="Gill Sans MT"/>
              </a:rPr>
              <a:t> </a:t>
            </a:r>
            <a:r>
              <a:rPr sz="2400" spc="-5" dirty="0">
                <a:latin typeface="Gill Sans MT"/>
                <a:cs typeface="Gill Sans MT"/>
              </a:rPr>
              <a:t>grade:string)</a:t>
            </a:r>
            <a:endParaRPr sz="2400" dirty="0">
              <a:latin typeface="Gill Sans MT"/>
              <a:cs typeface="Gill Sans MT"/>
            </a:endParaRPr>
          </a:p>
          <a:p>
            <a:pPr marL="355600" indent="-343535">
              <a:lnSpc>
                <a:spcPct val="100000"/>
              </a:lnSpc>
              <a:spcBef>
                <a:spcPts val="320"/>
              </a:spcBef>
              <a:buChar char="•"/>
              <a:tabLst>
                <a:tab pos="355600" algn="l"/>
                <a:tab pos="356235" algn="l"/>
              </a:tabLst>
            </a:pPr>
            <a:r>
              <a:rPr sz="2800" spc="-15" dirty="0">
                <a:latin typeface="Gill Sans MT"/>
                <a:cs typeface="Gill Sans MT"/>
              </a:rPr>
              <a:t>Physical</a:t>
            </a:r>
            <a:r>
              <a:rPr sz="2800" spc="-10" dirty="0">
                <a:latin typeface="Gill Sans MT"/>
                <a:cs typeface="Gill Sans MT"/>
              </a:rPr>
              <a:t> </a:t>
            </a:r>
            <a:r>
              <a:rPr sz="2800" spc="-5" dirty="0">
                <a:latin typeface="Gill Sans MT"/>
                <a:cs typeface="Gill Sans MT"/>
              </a:rPr>
              <a:t>schema:</a:t>
            </a:r>
            <a:endParaRPr sz="2800" dirty="0">
              <a:latin typeface="Gill Sans MT"/>
              <a:cs typeface="Gill Sans MT"/>
            </a:endParaRPr>
          </a:p>
          <a:p>
            <a:pPr marL="756285" lvl="1" indent="-287020">
              <a:lnSpc>
                <a:spcPct val="100000"/>
              </a:lnSpc>
              <a:spcBef>
                <a:spcPts val="305"/>
              </a:spcBef>
              <a:buSzPct val="75000"/>
              <a:buChar char="–"/>
              <a:tabLst>
                <a:tab pos="756285" algn="l"/>
                <a:tab pos="756920" algn="l"/>
              </a:tabLst>
            </a:pPr>
            <a:r>
              <a:rPr sz="2400" dirty="0">
                <a:latin typeface="Gill Sans MT"/>
                <a:cs typeface="Gill Sans MT"/>
              </a:rPr>
              <a:t>Relations </a:t>
            </a:r>
            <a:r>
              <a:rPr sz="2400" spc="-10" dirty="0">
                <a:latin typeface="Gill Sans MT"/>
                <a:cs typeface="Gill Sans MT"/>
              </a:rPr>
              <a:t>stored </a:t>
            </a:r>
            <a:r>
              <a:rPr sz="2400" spc="-5" dirty="0">
                <a:latin typeface="Gill Sans MT"/>
                <a:cs typeface="Gill Sans MT"/>
              </a:rPr>
              <a:t>as </a:t>
            </a:r>
            <a:r>
              <a:rPr sz="2400" spc="-10" dirty="0">
                <a:latin typeface="Gill Sans MT"/>
                <a:cs typeface="Gill Sans MT"/>
              </a:rPr>
              <a:t>unordered</a:t>
            </a:r>
            <a:r>
              <a:rPr sz="2400" dirty="0">
                <a:latin typeface="Gill Sans MT"/>
                <a:cs typeface="Gill Sans MT"/>
              </a:rPr>
              <a:t> files</a:t>
            </a:r>
            <a:r>
              <a:rPr lang="zh-CN" altLang="en-US" sz="2400" dirty="0">
                <a:latin typeface="Gill Sans MT"/>
                <a:cs typeface="Gill Sans MT"/>
              </a:rPr>
              <a:t>（无序文件）</a:t>
            </a:r>
            <a:r>
              <a:rPr sz="2400" dirty="0">
                <a:latin typeface="Gill Sans MT"/>
                <a:cs typeface="Gill Sans MT"/>
              </a:rPr>
              <a:t>.</a:t>
            </a:r>
          </a:p>
          <a:p>
            <a:pPr marL="756285" lvl="1" indent="-287020">
              <a:lnSpc>
                <a:spcPct val="100000"/>
              </a:lnSpc>
              <a:spcBef>
                <a:spcPts val="290"/>
              </a:spcBef>
              <a:buSzPct val="75000"/>
              <a:buChar char="–"/>
              <a:tabLst>
                <a:tab pos="756285" algn="l"/>
                <a:tab pos="756920" algn="l"/>
              </a:tabLst>
            </a:pPr>
            <a:r>
              <a:rPr sz="2400" dirty="0">
                <a:latin typeface="Gill Sans MT"/>
                <a:cs typeface="Gill Sans MT"/>
              </a:rPr>
              <a:t>Index </a:t>
            </a:r>
            <a:r>
              <a:rPr sz="2400" spc="-5" dirty="0">
                <a:latin typeface="Gill Sans MT"/>
                <a:cs typeface="Gill Sans MT"/>
              </a:rPr>
              <a:t>on </a:t>
            </a:r>
            <a:r>
              <a:rPr sz="2400" dirty="0">
                <a:latin typeface="Gill Sans MT"/>
                <a:cs typeface="Gill Sans MT"/>
              </a:rPr>
              <a:t>first column of</a:t>
            </a:r>
            <a:r>
              <a:rPr sz="2400" spc="-40" dirty="0">
                <a:latin typeface="Gill Sans MT"/>
                <a:cs typeface="Gill Sans MT"/>
              </a:rPr>
              <a:t> </a:t>
            </a:r>
            <a:r>
              <a:rPr sz="2400" dirty="0">
                <a:latin typeface="Gill Sans MT"/>
                <a:cs typeface="Gill Sans MT"/>
              </a:rPr>
              <a:t>Students.</a:t>
            </a:r>
          </a:p>
          <a:p>
            <a:pPr marL="355600" indent="-343535">
              <a:lnSpc>
                <a:spcPct val="100000"/>
              </a:lnSpc>
              <a:spcBef>
                <a:spcPts val="320"/>
              </a:spcBef>
              <a:buChar char="•"/>
              <a:tabLst>
                <a:tab pos="355600" algn="l"/>
                <a:tab pos="356235" algn="l"/>
              </a:tabLst>
            </a:pPr>
            <a:r>
              <a:rPr sz="2800" spc="-15" dirty="0">
                <a:latin typeface="Gill Sans MT"/>
                <a:cs typeface="Gill Sans MT"/>
              </a:rPr>
              <a:t>View </a:t>
            </a:r>
            <a:r>
              <a:rPr sz="2800" spc="-5" dirty="0">
                <a:latin typeface="Gill Sans MT"/>
                <a:cs typeface="Gill Sans MT"/>
              </a:rPr>
              <a:t>(External</a:t>
            </a:r>
            <a:r>
              <a:rPr sz="2800" dirty="0">
                <a:latin typeface="Gill Sans MT"/>
                <a:cs typeface="Gill Sans MT"/>
              </a:rPr>
              <a:t> </a:t>
            </a:r>
            <a:r>
              <a:rPr sz="2800" spc="-5" dirty="0">
                <a:latin typeface="Gill Sans MT"/>
                <a:cs typeface="Gill Sans MT"/>
              </a:rPr>
              <a:t>Schema):</a:t>
            </a:r>
            <a:endParaRPr sz="2800" dirty="0">
              <a:latin typeface="Gill Sans MT"/>
              <a:cs typeface="Gill Sans MT"/>
            </a:endParaRPr>
          </a:p>
          <a:p>
            <a:pPr marL="756285" lvl="1" indent="-287020">
              <a:lnSpc>
                <a:spcPct val="100000"/>
              </a:lnSpc>
              <a:spcBef>
                <a:spcPts val="305"/>
              </a:spcBef>
              <a:buSzPct val="75000"/>
              <a:buChar char="–"/>
              <a:tabLst>
                <a:tab pos="756285" algn="l"/>
                <a:tab pos="756920" algn="l"/>
              </a:tabLst>
            </a:pPr>
            <a:r>
              <a:rPr sz="2400" spc="-5" dirty="0">
                <a:latin typeface="Gill Sans MT"/>
                <a:cs typeface="Gill Sans MT"/>
              </a:rPr>
              <a:t>Course_info(cid:string,</a:t>
            </a:r>
            <a:r>
              <a:rPr sz="2400" spc="-245" dirty="0">
                <a:latin typeface="Gill Sans MT"/>
                <a:cs typeface="Gill Sans MT"/>
              </a:rPr>
              <a:t> </a:t>
            </a:r>
            <a:r>
              <a:rPr sz="2400" spc="-5" dirty="0">
                <a:latin typeface="Gill Sans MT"/>
                <a:cs typeface="Gill Sans MT"/>
              </a:rPr>
              <a:t>enrollment:integer)</a:t>
            </a:r>
            <a:endParaRPr sz="2400" dirty="0">
              <a:latin typeface="Gill Sans MT"/>
              <a:cs typeface="Gill Sans MT"/>
            </a:endParaRPr>
          </a:p>
          <a:p>
            <a:pPr marL="756285" lvl="1" indent="-287020">
              <a:lnSpc>
                <a:spcPct val="100000"/>
              </a:lnSpc>
              <a:spcBef>
                <a:spcPts val="285"/>
              </a:spcBef>
              <a:buSzPct val="75000"/>
              <a:buChar char="–"/>
              <a:tabLst>
                <a:tab pos="756285" algn="l"/>
                <a:tab pos="756920" algn="l"/>
              </a:tabLst>
            </a:pPr>
            <a:r>
              <a:rPr sz="2400" spc="-25" dirty="0">
                <a:latin typeface="Gill Sans MT"/>
                <a:cs typeface="Gill Sans MT"/>
              </a:rPr>
              <a:t>Why?</a:t>
            </a:r>
            <a:endParaRPr sz="2400" dirty="0">
              <a:latin typeface="Gill Sans MT"/>
              <a:cs typeface="Gill Sans MT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0336" y="689418"/>
            <a:ext cx="7655412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dirty="0"/>
              <a:t>Data</a:t>
            </a:r>
            <a:r>
              <a:rPr sz="4400" spc="-75" dirty="0"/>
              <a:t> </a:t>
            </a:r>
            <a:r>
              <a:rPr sz="4400" dirty="0"/>
              <a:t>Independence</a:t>
            </a:r>
            <a:r>
              <a:rPr lang="zh-CN" altLang="en-US" sz="4400" dirty="0"/>
              <a:t>数据独立性</a:t>
            </a:r>
            <a:endParaRPr sz="4400" dirty="0"/>
          </a:p>
        </p:txBody>
      </p:sp>
      <p:sp>
        <p:nvSpPr>
          <p:cNvPr id="3" name="object 3"/>
          <p:cNvSpPr txBox="1"/>
          <p:nvPr/>
        </p:nvSpPr>
        <p:spPr>
          <a:xfrm>
            <a:off x="762101" y="1667001"/>
            <a:ext cx="4215765" cy="4287199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354965" marR="508000" indent="-342900">
              <a:lnSpc>
                <a:spcPts val="3460"/>
              </a:lnSpc>
              <a:spcBef>
                <a:spcPts val="535"/>
              </a:spcBef>
              <a:buChar char="•"/>
              <a:tabLst>
                <a:tab pos="354965" algn="l"/>
                <a:tab pos="355600" algn="l"/>
              </a:tabLst>
            </a:pPr>
            <a:r>
              <a:rPr sz="3200" spc="-10" dirty="0">
                <a:latin typeface="Gill Sans MT"/>
                <a:cs typeface="Gill Sans MT"/>
              </a:rPr>
              <a:t>Three </a:t>
            </a:r>
            <a:r>
              <a:rPr sz="3200" spc="-20" dirty="0">
                <a:latin typeface="Gill Sans MT"/>
                <a:cs typeface="Gill Sans MT"/>
              </a:rPr>
              <a:t>levels </a:t>
            </a:r>
            <a:r>
              <a:rPr sz="3200" dirty="0">
                <a:latin typeface="Gill Sans MT"/>
                <a:cs typeface="Gill Sans MT"/>
              </a:rPr>
              <a:t>of  abstraction</a:t>
            </a:r>
            <a:r>
              <a:rPr sz="3200" spc="-120" dirty="0">
                <a:latin typeface="Gill Sans MT"/>
                <a:cs typeface="Gill Sans MT"/>
              </a:rPr>
              <a:t> </a:t>
            </a:r>
            <a:r>
              <a:rPr sz="3200" spc="-15" dirty="0">
                <a:latin typeface="Gill Sans MT"/>
                <a:cs typeface="Gill Sans MT"/>
              </a:rPr>
              <a:t>provides </a:t>
            </a:r>
            <a:r>
              <a:rPr sz="3200" spc="-15" dirty="0">
                <a:solidFill>
                  <a:srgbClr val="CC3300"/>
                </a:solidFill>
                <a:latin typeface="Gill Sans MT"/>
                <a:cs typeface="Gill Sans MT"/>
              </a:rPr>
              <a:t> </a:t>
            </a:r>
            <a:r>
              <a:rPr sz="3200" dirty="0">
                <a:solidFill>
                  <a:srgbClr val="CC3300"/>
                </a:solidFill>
                <a:latin typeface="Gill Sans MT"/>
                <a:cs typeface="Gill Sans MT"/>
              </a:rPr>
              <a:t>data</a:t>
            </a:r>
            <a:r>
              <a:rPr sz="3200" spc="-40" dirty="0">
                <a:solidFill>
                  <a:srgbClr val="CC3300"/>
                </a:solidFill>
                <a:latin typeface="Gill Sans MT"/>
                <a:cs typeface="Gill Sans MT"/>
              </a:rPr>
              <a:t> </a:t>
            </a:r>
            <a:r>
              <a:rPr sz="3200" spc="5" dirty="0">
                <a:solidFill>
                  <a:srgbClr val="CC3300"/>
                </a:solidFill>
                <a:latin typeface="Gill Sans MT"/>
                <a:cs typeface="Gill Sans MT"/>
              </a:rPr>
              <a:t>independence</a:t>
            </a:r>
            <a:r>
              <a:rPr sz="3200" spc="5" dirty="0">
                <a:latin typeface="Gill Sans MT"/>
                <a:cs typeface="Gill Sans MT"/>
              </a:rPr>
              <a:t>.</a:t>
            </a:r>
            <a:endParaRPr sz="3200" dirty="0">
              <a:latin typeface="Gill Sans MT"/>
              <a:cs typeface="Gill Sans MT"/>
            </a:endParaRPr>
          </a:p>
          <a:p>
            <a:pPr marL="756285" marR="391160" lvl="1" indent="-287020" algn="just">
              <a:lnSpc>
                <a:spcPts val="3020"/>
              </a:lnSpc>
              <a:spcBef>
                <a:spcPts val="680"/>
              </a:spcBef>
              <a:buChar char="–"/>
              <a:tabLst>
                <a:tab pos="756920" algn="l"/>
              </a:tabLst>
            </a:pPr>
            <a:r>
              <a:rPr sz="2800" spc="-5" dirty="0">
                <a:latin typeface="Gill Sans MT"/>
                <a:cs typeface="Gill Sans MT"/>
              </a:rPr>
              <a:t>Changes in one </a:t>
            </a:r>
            <a:r>
              <a:rPr sz="2800" spc="-40" dirty="0">
                <a:latin typeface="Gill Sans MT"/>
                <a:cs typeface="Gill Sans MT"/>
              </a:rPr>
              <a:t>layer  </a:t>
            </a:r>
            <a:r>
              <a:rPr sz="2800" spc="-10" dirty="0">
                <a:latin typeface="Gill Sans MT"/>
                <a:cs typeface="Gill Sans MT"/>
              </a:rPr>
              <a:t>only affect </a:t>
            </a:r>
            <a:r>
              <a:rPr sz="2800" spc="-5" dirty="0">
                <a:latin typeface="Gill Sans MT"/>
                <a:cs typeface="Gill Sans MT"/>
              </a:rPr>
              <a:t>one</a:t>
            </a:r>
            <a:r>
              <a:rPr sz="2800" spc="-50" dirty="0">
                <a:latin typeface="Gill Sans MT"/>
                <a:cs typeface="Gill Sans MT"/>
              </a:rPr>
              <a:t> </a:t>
            </a:r>
            <a:r>
              <a:rPr sz="2800" dirty="0">
                <a:latin typeface="Gill Sans MT"/>
                <a:cs typeface="Gill Sans MT"/>
              </a:rPr>
              <a:t>upper  </a:t>
            </a:r>
            <a:r>
              <a:rPr sz="2800" spc="-80" dirty="0">
                <a:latin typeface="Gill Sans MT"/>
                <a:cs typeface="Gill Sans MT"/>
              </a:rPr>
              <a:t>layer.</a:t>
            </a:r>
            <a:r>
              <a:rPr lang="zh-CN" altLang="en-US" sz="2800" spc="-80" dirty="0">
                <a:latin typeface="Gill Sans MT"/>
                <a:cs typeface="Gill Sans MT"/>
              </a:rPr>
              <a:t>只影响上面层</a:t>
            </a:r>
            <a:endParaRPr sz="2800" dirty="0">
              <a:latin typeface="Gill Sans MT"/>
              <a:cs typeface="Gill Sans MT"/>
            </a:endParaRPr>
          </a:p>
          <a:p>
            <a:pPr marL="756285" marR="5080" lvl="1" indent="-287020">
              <a:lnSpc>
                <a:spcPct val="90000"/>
              </a:lnSpc>
              <a:spcBef>
                <a:spcPts val="635"/>
              </a:spcBef>
              <a:buChar char="–"/>
              <a:tabLst>
                <a:tab pos="756920" algn="l"/>
              </a:tabLst>
            </a:pPr>
            <a:r>
              <a:rPr sz="2800" spc="-5" dirty="0">
                <a:latin typeface="Gill Sans MT"/>
                <a:cs typeface="Gill Sans MT"/>
              </a:rPr>
              <a:t>E.g., applications </a:t>
            </a:r>
            <a:r>
              <a:rPr sz="2800" spc="-25" dirty="0">
                <a:latin typeface="Gill Sans MT"/>
                <a:cs typeface="Gill Sans MT"/>
              </a:rPr>
              <a:t>are</a:t>
            </a:r>
            <a:r>
              <a:rPr sz="2800" spc="-320" dirty="0">
                <a:latin typeface="Gill Sans MT"/>
                <a:cs typeface="Gill Sans MT"/>
              </a:rPr>
              <a:t> </a:t>
            </a:r>
            <a:r>
              <a:rPr sz="2800" spc="-5" dirty="0">
                <a:latin typeface="Gill Sans MT"/>
                <a:cs typeface="Gill Sans MT"/>
              </a:rPr>
              <a:t>not  </a:t>
            </a:r>
            <a:r>
              <a:rPr sz="2800" spc="-10" dirty="0">
                <a:latin typeface="Gill Sans MT"/>
                <a:cs typeface="Gill Sans MT"/>
              </a:rPr>
              <a:t>affected </a:t>
            </a:r>
            <a:r>
              <a:rPr sz="2800" spc="-15" dirty="0">
                <a:latin typeface="Gill Sans MT"/>
                <a:cs typeface="Gill Sans MT"/>
              </a:rPr>
              <a:t>by </a:t>
            </a:r>
            <a:r>
              <a:rPr sz="2800" spc="-5" dirty="0">
                <a:latin typeface="Gill Sans MT"/>
                <a:cs typeface="Gill Sans MT"/>
              </a:rPr>
              <a:t>changes </a:t>
            </a:r>
            <a:r>
              <a:rPr sz="2800" spc="-10" dirty="0">
                <a:latin typeface="Gill Sans MT"/>
                <a:cs typeface="Gill Sans MT"/>
              </a:rPr>
              <a:t>in  </a:t>
            </a:r>
            <a:r>
              <a:rPr sz="2800" spc="-5" dirty="0">
                <a:latin typeface="Gill Sans MT"/>
                <a:cs typeface="Gill Sans MT"/>
              </a:rPr>
              <a:t>conceptual &amp; </a:t>
            </a:r>
            <a:r>
              <a:rPr sz="2800" spc="-15" dirty="0">
                <a:latin typeface="Gill Sans MT"/>
                <a:cs typeface="Gill Sans MT"/>
              </a:rPr>
              <a:t>physical  </a:t>
            </a:r>
            <a:r>
              <a:rPr sz="2800" dirty="0">
                <a:latin typeface="Gill Sans MT"/>
                <a:cs typeface="Gill Sans MT"/>
              </a:rPr>
              <a:t>schema.</a:t>
            </a:r>
          </a:p>
        </p:txBody>
      </p:sp>
      <p:sp>
        <p:nvSpPr>
          <p:cNvPr id="4" name="object 4"/>
          <p:cNvSpPr/>
          <p:nvPr/>
        </p:nvSpPr>
        <p:spPr>
          <a:xfrm>
            <a:off x="6582918" y="4904994"/>
            <a:ext cx="1041400" cy="203200"/>
          </a:xfrm>
          <a:custGeom>
            <a:avLst/>
            <a:gdLst/>
            <a:ahLst/>
            <a:cxnLst/>
            <a:rect l="l" t="t" r="r" b="b"/>
            <a:pathLst>
              <a:path w="1041400" h="203200">
                <a:moveTo>
                  <a:pt x="0" y="101345"/>
                </a:moveTo>
                <a:lnTo>
                  <a:pt x="48376" y="58605"/>
                </a:lnTo>
                <a:lnTo>
                  <a:pt x="127667" y="34841"/>
                </a:lnTo>
                <a:lnTo>
                  <a:pt x="179008" y="24846"/>
                </a:lnTo>
                <a:lnTo>
                  <a:pt x="237072" y="16318"/>
                </a:lnTo>
                <a:lnTo>
                  <a:pt x="301053" y="9413"/>
                </a:lnTo>
                <a:lnTo>
                  <a:pt x="370146" y="4288"/>
                </a:lnTo>
                <a:lnTo>
                  <a:pt x="443545" y="1098"/>
                </a:lnTo>
                <a:lnTo>
                  <a:pt x="520446" y="0"/>
                </a:lnTo>
                <a:lnTo>
                  <a:pt x="597346" y="1098"/>
                </a:lnTo>
                <a:lnTo>
                  <a:pt x="670745" y="4288"/>
                </a:lnTo>
                <a:lnTo>
                  <a:pt x="739838" y="9413"/>
                </a:lnTo>
                <a:lnTo>
                  <a:pt x="803819" y="16318"/>
                </a:lnTo>
                <a:lnTo>
                  <a:pt x="861883" y="24846"/>
                </a:lnTo>
                <a:lnTo>
                  <a:pt x="913224" y="34841"/>
                </a:lnTo>
                <a:lnTo>
                  <a:pt x="957036" y="46146"/>
                </a:lnTo>
                <a:lnTo>
                  <a:pt x="1018854" y="72063"/>
                </a:lnTo>
                <a:lnTo>
                  <a:pt x="1040891" y="101345"/>
                </a:lnTo>
                <a:lnTo>
                  <a:pt x="1035248" y="116330"/>
                </a:lnTo>
                <a:lnTo>
                  <a:pt x="992515" y="144086"/>
                </a:lnTo>
                <a:lnTo>
                  <a:pt x="913224" y="167850"/>
                </a:lnTo>
                <a:lnTo>
                  <a:pt x="861883" y="177845"/>
                </a:lnTo>
                <a:lnTo>
                  <a:pt x="803819" y="186373"/>
                </a:lnTo>
                <a:lnTo>
                  <a:pt x="739838" y="193278"/>
                </a:lnTo>
                <a:lnTo>
                  <a:pt x="670745" y="198403"/>
                </a:lnTo>
                <a:lnTo>
                  <a:pt x="597346" y="201593"/>
                </a:lnTo>
                <a:lnTo>
                  <a:pt x="520446" y="202691"/>
                </a:lnTo>
                <a:lnTo>
                  <a:pt x="443545" y="201593"/>
                </a:lnTo>
                <a:lnTo>
                  <a:pt x="370146" y="198403"/>
                </a:lnTo>
                <a:lnTo>
                  <a:pt x="301053" y="193278"/>
                </a:lnTo>
                <a:lnTo>
                  <a:pt x="237072" y="186373"/>
                </a:lnTo>
                <a:lnTo>
                  <a:pt x="179008" y="177845"/>
                </a:lnTo>
                <a:lnTo>
                  <a:pt x="127667" y="167850"/>
                </a:lnTo>
                <a:lnTo>
                  <a:pt x="83855" y="156545"/>
                </a:lnTo>
                <a:lnTo>
                  <a:pt x="22037" y="130628"/>
                </a:lnTo>
                <a:lnTo>
                  <a:pt x="0" y="101345"/>
                </a:lnTo>
                <a:close/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566154" y="5001005"/>
            <a:ext cx="3175" cy="957580"/>
          </a:xfrm>
          <a:custGeom>
            <a:avLst/>
            <a:gdLst/>
            <a:ahLst/>
            <a:cxnLst/>
            <a:rect l="l" t="t" r="r" b="b"/>
            <a:pathLst>
              <a:path w="3175" h="957579">
                <a:moveTo>
                  <a:pt x="0" y="0"/>
                </a:moveTo>
                <a:lnTo>
                  <a:pt x="3048" y="957072"/>
                </a:lnTo>
              </a:path>
            </a:pathLst>
          </a:custGeom>
          <a:ln w="2590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582918" y="5819394"/>
            <a:ext cx="1041400" cy="203200"/>
          </a:xfrm>
          <a:custGeom>
            <a:avLst/>
            <a:gdLst/>
            <a:ahLst/>
            <a:cxnLst/>
            <a:rect l="l" t="t" r="r" b="b"/>
            <a:pathLst>
              <a:path w="1041400" h="203200">
                <a:moveTo>
                  <a:pt x="0" y="101345"/>
                </a:moveTo>
                <a:lnTo>
                  <a:pt x="48376" y="58622"/>
                </a:lnTo>
                <a:lnTo>
                  <a:pt x="127667" y="34856"/>
                </a:lnTo>
                <a:lnTo>
                  <a:pt x="179008" y="24859"/>
                </a:lnTo>
                <a:lnTo>
                  <a:pt x="237072" y="16328"/>
                </a:lnTo>
                <a:lnTo>
                  <a:pt x="301053" y="9419"/>
                </a:lnTo>
                <a:lnTo>
                  <a:pt x="370146" y="4291"/>
                </a:lnTo>
                <a:lnTo>
                  <a:pt x="443545" y="1098"/>
                </a:lnTo>
                <a:lnTo>
                  <a:pt x="520446" y="0"/>
                </a:lnTo>
                <a:lnTo>
                  <a:pt x="597346" y="1098"/>
                </a:lnTo>
                <a:lnTo>
                  <a:pt x="670745" y="4291"/>
                </a:lnTo>
                <a:lnTo>
                  <a:pt x="739838" y="9419"/>
                </a:lnTo>
                <a:lnTo>
                  <a:pt x="803819" y="16328"/>
                </a:lnTo>
                <a:lnTo>
                  <a:pt x="861883" y="24859"/>
                </a:lnTo>
                <a:lnTo>
                  <a:pt x="913224" y="34856"/>
                </a:lnTo>
                <a:lnTo>
                  <a:pt x="957036" y="46163"/>
                </a:lnTo>
                <a:lnTo>
                  <a:pt x="1018854" y="72077"/>
                </a:lnTo>
                <a:lnTo>
                  <a:pt x="1040891" y="101345"/>
                </a:lnTo>
                <a:lnTo>
                  <a:pt x="1035248" y="116321"/>
                </a:lnTo>
                <a:lnTo>
                  <a:pt x="992515" y="144069"/>
                </a:lnTo>
                <a:lnTo>
                  <a:pt x="913224" y="167835"/>
                </a:lnTo>
                <a:lnTo>
                  <a:pt x="861883" y="177832"/>
                </a:lnTo>
                <a:lnTo>
                  <a:pt x="803819" y="186363"/>
                </a:lnTo>
                <a:lnTo>
                  <a:pt x="739838" y="193272"/>
                </a:lnTo>
                <a:lnTo>
                  <a:pt x="670745" y="198400"/>
                </a:lnTo>
                <a:lnTo>
                  <a:pt x="597346" y="201593"/>
                </a:lnTo>
                <a:lnTo>
                  <a:pt x="520446" y="202691"/>
                </a:lnTo>
                <a:lnTo>
                  <a:pt x="443545" y="201593"/>
                </a:lnTo>
                <a:lnTo>
                  <a:pt x="370146" y="198400"/>
                </a:lnTo>
                <a:lnTo>
                  <a:pt x="301053" y="193272"/>
                </a:lnTo>
                <a:lnTo>
                  <a:pt x="237072" y="186363"/>
                </a:lnTo>
                <a:lnTo>
                  <a:pt x="179008" y="177832"/>
                </a:lnTo>
                <a:lnTo>
                  <a:pt x="127667" y="167835"/>
                </a:lnTo>
                <a:lnTo>
                  <a:pt x="83855" y="156528"/>
                </a:lnTo>
                <a:lnTo>
                  <a:pt x="22037" y="130614"/>
                </a:lnTo>
                <a:lnTo>
                  <a:pt x="0" y="101345"/>
                </a:lnTo>
                <a:close/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636002" y="5043678"/>
            <a:ext cx="0" cy="838200"/>
          </a:xfrm>
          <a:custGeom>
            <a:avLst/>
            <a:gdLst/>
            <a:ahLst/>
            <a:cxnLst/>
            <a:rect l="l" t="t" r="r" b="b"/>
            <a:pathLst>
              <a:path h="838200">
                <a:moveTo>
                  <a:pt x="0" y="0"/>
                </a:moveTo>
                <a:lnTo>
                  <a:pt x="0" y="838200"/>
                </a:lnTo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5973317" y="4295394"/>
            <a:ext cx="2336800" cy="355600"/>
          </a:xfrm>
          <a:prstGeom prst="rect">
            <a:avLst/>
          </a:prstGeom>
          <a:ln w="25907">
            <a:solidFill>
              <a:srgbClr val="000000"/>
            </a:solidFill>
          </a:ln>
        </p:spPr>
        <p:txBody>
          <a:bodyPr vert="horz" wrap="square" lIns="0" tIns="6985" rIns="0" bIns="0" rtlCol="0">
            <a:spAutoFit/>
          </a:bodyPr>
          <a:lstStyle/>
          <a:p>
            <a:pPr marL="61594">
              <a:lnSpc>
                <a:spcPct val="100000"/>
              </a:lnSpc>
              <a:spcBef>
                <a:spcPts val="55"/>
              </a:spcBef>
            </a:pPr>
            <a:r>
              <a:rPr sz="2000" spc="-10" dirty="0">
                <a:latin typeface="Gill Sans MT"/>
                <a:cs typeface="Gill Sans MT"/>
              </a:rPr>
              <a:t>Physical</a:t>
            </a:r>
            <a:r>
              <a:rPr sz="2000" spc="-30" dirty="0">
                <a:latin typeface="Gill Sans MT"/>
                <a:cs typeface="Gill Sans MT"/>
              </a:rPr>
              <a:t> </a:t>
            </a:r>
            <a:r>
              <a:rPr sz="2000" dirty="0">
                <a:latin typeface="Gill Sans MT"/>
                <a:cs typeface="Gill Sans MT"/>
              </a:rPr>
              <a:t>Schema</a:t>
            </a:r>
            <a:endParaRPr sz="2000">
              <a:latin typeface="Gill Sans MT"/>
              <a:cs typeface="Gill Sans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744717" y="3609594"/>
            <a:ext cx="2794000" cy="355600"/>
          </a:xfrm>
          <a:prstGeom prst="rect">
            <a:avLst/>
          </a:prstGeom>
          <a:ln w="25907">
            <a:solidFill>
              <a:srgbClr val="000000"/>
            </a:solidFill>
          </a:ln>
        </p:spPr>
        <p:txBody>
          <a:bodyPr vert="horz" wrap="square" lIns="0" tIns="6985" rIns="0" bIns="0" rtlCol="0">
            <a:spAutoFit/>
          </a:bodyPr>
          <a:lstStyle/>
          <a:p>
            <a:pPr marL="55244">
              <a:lnSpc>
                <a:spcPct val="100000"/>
              </a:lnSpc>
              <a:spcBef>
                <a:spcPts val="55"/>
              </a:spcBef>
            </a:pPr>
            <a:r>
              <a:rPr sz="2000" dirty="0">
                <a:latin typeface="Gill Sans MT"/>
                <a:cs typeface="Gill Sans MT"/>
              </a:rPr>
              <a:t>Conceptual</a:t>
            </a:r>
            <a:r>
              <a:rPr sz="2000" spc="-55" dirty="0">
                <a:latin typeface="Gill Sans MT"/>
                <a:cs typeface="Gill Sans MT"/>
              </a:rPr>
              <a:t> </a:t>
            </a:r>
            <a:r>
              <a:rPr sz="2000" dirty="0">
                <a:latin typeface="Gill Sans MT"/>
                <a:cs typeface="Gill Sans MT"/>
              </a:rPr>
              <a:t>Schema</a:t>
            </a:r>
            <a:endParaRPr sz="2000">
              <a:latin typeface="Gill Sans MT"/>
              <a:cs typeface="Gill Sans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287517" y="2771394"/>
            <a:ext cx="1041400" cy="355600"/>
          </a:xfrm>
          <a:prstGeom prst="rect">
            <a:avLst/>
          </a:prstGeom>
          <a:ln w="25907">
            <a:solidFill>
              <a:srgbClr val="000000"/>
            </a:solidFill>
          </a:ln>
        </p:spPr>
        <p:txBody>
          <a:bodyPr vert="horz" wrap="square" lIns="0" tIns="6350" rIns="0" bIns="0" rtlCol="0">
            <a:spAutoFit/>
          </a:bodyPr>
          <a:lstStyle/>
          <a:p>
            <a:pPr marL="61594">
              <a:lnSpc>
                <a:spcPct val="100000"/>
              </a:lnSpc>
              <a:spcBef>
                <a:spcPts val="50"/>
              </a:spcBef>
            </a:pPr>
            <a:r>
              <a:rPr sz="2000" spc="-10" dirty="0">
                <a:latin typeface="Gill Sans MT"/>
                <a:cs typeface="Gill Sans MT"/>
              </a:rPr>
              <a:t>View</a:t>
            </a:r>
            <a:r>
              <a:rPr sz="2000" spc="-20" dirty="0">
                <a:latin typeface="Gill Sans MT"/>
                <a:cs typeface="Gill Sans MT"/>
              </a:rPr>
              <a:t> </a:t>
            </a:r>
            <a:r>
              <a:rPr sz="2000" dirty="0">
                <a:latin typeface="Gill Sans MT"/>
                <a:cs typeface="Gill Sans MT"/>
              </a:rPr>
              <a:t>1</a:t>
            </a:r>
            <a:endParaRPr sz="2000">
              <a:latin typeface="Gill Sans MT"/>
              <a:cs typeface="Gill Sans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582918" y="2771394"/>
            <a:ext cx="1041400" cy="355600"/>
          </a:xfrm>
          <a:prstGeom prst="rect">
            <a:avLst/>
          </a:prstGeom>
          <a:ln w="25907">
            <a:solidFill>
              <a:srgbClr val="000000"/>
            </a:solidFill>
          </a:ln>
        </p:spPr>
        <p:txBody>
          <a:bodyPr vert="horz" wrap="square" lIns="0" tIns="6350" rIns="0" bIns="0" rtlCol="0">
            <a:spAutoFit/>
          </a:bodyPr>
          <a:lstStyle/>
          <a:p>
            <a:pPr marL="61594">
              <a:lnSpc>
                <a:spcPct val="100000"/>
              </a:lnSpc>
              <a:spcBef>
                <a:spcPts val="50"/>
              </a:spcBef>
            </a:pPr>
            <a:r>
              <a:rPr sz="2000" spc="-10" dirty="0">
                <a:latin typeface="Gill Sans MT"/>
                <a:cs typeface="Gill Sans MT"/>
              </a:rPr>
              <a:t>View</a:t>
            </a:r>
            <a:r>
              <a:rPr sz="2000" spc="-20" dirty="0">
                <a:latin typeface="Gill Sans MT"/>
                <a:cs typeface="Gill Sans MT"/>
              </a:rPr>
              <a:t> </a:t>
            </a:r>
            <a:r>
              <a:rPr sz="2000" dirty="0">
                <a:latin typeface="Gill Sans MT"/>
                <a:cs typeface="Gill Sans MT"/>
              </a:rPr>
              <a:t>2</a:t>
            </a:r>
            <a:endParaRPr sz="2000">
              <a:latin typeface="Gill Sans MT"/>
              <a:cs typeface="Gill Sans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878318" y="2771394"/>
            <a:ext cx="1041400" cy="355600"/>
          </a:xfrm>
          <a:prstGeom prst="rect">
            <a:avLst/>
          </a:prstGeom>
          <a:ln w="25907">
            <a:solidFill>
              <a:srgbClr val="000000"/>
            </a:solidFill>
          </a:ln>
        </p:spPr>
        <p:txBody>
          <a:bodyPr vert="horz" wrap="square" lIns="0" tIns="6350" rIns="0" bIns="0" rtlCol="0">
            <a:spAutoFit/>
          </a:bodyPr>
          <a:lstStyle/>
          <a:p>
            <a:pPr marL="63500">
              <a:lnSpc>
                <a:spcPct val="100000"/>
              </a:lnSpc>
              <a:spcBef>
                <a:spcPts val="50"/>
              </a:spcBef>
            </a:pPr>
            <a:r>
              <a:rPr sz="2000" spc="-10" dirty="0">
                <a:latin typeface="Gill Sans MT"/>
                <a:cs typeface="Gill Sans MT"/>
              </a:rPr>
              <a:t>View</a:t>
            </a:r>
            <a:r>
              <a:rPr sz="2000" spc="-20" dirty="0">
                <a:latin typeface="Gill Sans MT"/>
                <a:cs typeface="Gill Sans MT"/>
              </a:rPr>
              <a:t> </a:t>
            </a:r>
            <a:r>
              <a:rPr sz="2000" dirty="0">
                <a:latin typeface="Gill Sans MT"/>
                <a:cs typeface="Gill Sans MT"/>
              </a:rPr>
              <a:t>3</a:t>
            </a:r>
            <a:endParaRPr sz="2000">
              <a:latin typeface="Gill Sans MT"/>
              <a:cs typeface="Gill Sans MT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5806440" y="3137916"/>
            <a:ext cx="533400" cy="457200"/>
          </a:xfrm>
          <a:custGeom>
            <a:avLst/>
            <a:gdLst/>
            <a:ahLst/>
            <a:cxnLst/>
            <a:rect l="l" t="t" r="r" b="b"/>
            <a:pathLst>
              <a:path w="533400" h="457200">
                <a:moveTo>
                  <a:pt x="487481" y="426223"/>
                </a:moveTo>
                <a:lnTo>
                  <a:pt x="450723" y="436499"/>
                </a:lnTo>
                <a:lnTo>
                  <a:pt x="533400" y="457200"/>
                </a:lnTo>
                <a:lnTo>
                  <a:pt x="521538" y="429006"/>
                </a:lnTo>
                <a:lnTo>
                  <a:pt x="490727" y="429006"/>
                </a:lnTo>
                <a:lnTo>
                  <a:pt x="487481" y="426223"/>
                </a:lnTo>
                <a:close/>
              </a:path>
              <a:path w="533400" h="457200">
                <a:moveTo>
                  <a:pt x="495728" y="416563"/>
                </a:moveTo>
                <a:lnTo>
                  <a:pt x="494792" y="424180"/>
                </a:lnTo>
                <a:lnTo>
                  <a:pt x="487481" y="426223"/>
                </a:lnTo>
                <a:lnTo>
                  <a:pt x="490727" y="429006"/>
                </a:lnTo>
                <a:lnTo>
                  <a:pt x="498983" y="419354"/>
                </a:lnTo>
                <a:lnTo>
                  <a:pt x="495728" y="416563"/>
                </a:lnTo>
                <a:close/>
              </a:path>
              <a:path w="533400" h="457200">
                <a:moveTo>
                  <a:pt x="500380" y="378713"/>
                </a:moveTo>
                <a:lnTo>
                  <a:pt x="495728" y="416563"/>
                </a:lnTo>
                <a:lnTo>
                  <a:pt x="498983" y="419354"/>
                </a:lnTo>
                <a:lnTo>
                  <a:pt x="490727" y="429006"/>
                </a:lnTo>
                <a:lnTo>
                  <a:pt x="521538" y="429006"/>
                </a:lnTo>
                <a:lnTo>
                  <a:pt x="500380" y="378713"/>
                </a:lnTo>
                <a:close/>
              </a:path>
              <a:path w="533400" h="457200">
                <a:moveTo>
                  <a:pt x="45918" y="30976"/>
                </a:moveTo>
                <a:lnTo>
                  <a:pt x="38608" y="33020"/>
                </a:lnTo>
                <a:lnTo>
                  <a:pt x="37671" y="40636"/>
                </a:lnTo>
                <a:lnTo>
                  <a:pt x="487481" y="426223"/>
                </a:lnTo>
                <a:lnTo>
                  <a:pt x="494792" y="424180"/>
                </a:lnTo>
                <a:lnTo>
                  <a:pt x="495728" y="416563"/>
                </a:lnTo>
                <a:lnTo>
                  <a:pt x="45918" y="30976"/>
                </a:lnTo>
                <a:close/>
              </a:path>
              <a:path w="533400" h="457200">
                <a:moveTo>
                  <a:pt x="0" y="0"/>
                </a:moveTo>
                <a:lnTo>
                  <a:pt x="33020" y="78486"/>
                </a:lnTo>
                <a:lnTo>
                  <a:pt x="37671" y="40636"/>
                </a:lnTo>
                <a:lnTo>
                  <a:pt x="34417" y="37846"/>
                </a:lnTo>
                <a:lnTo>
                  <a:pt x="42672" y="28194"/>
                </a:lnTo>
                <a:lnTo>
                  <a:pt x="55872" y="28194"/>
                </a:lnTo>
                <a:lnTo>
                  <a:pt x="82676" y="20700"/>
                </a:lnTo>
                <a:lnTo>
                  <a:pt x="0" y="0"/>
                </a:lnTo>
                <a:close/>
              </a:path>
              <a:path w="533400" h="457200">
                <a:moveTo>
                  <a:pt x="42672" y="28194"/>
                </a:moveTo>
                <a:lnTo>
                  <a:pt x="34417" y="37846"/>
                </a:lnTo>
                <a:lnTo>
                  <a:pt x="37671" y="40636"/>
                </a:lnTo>
                <a:lnTo>
                  <a:pt x="38608" y="33020"/>
                </a:lnTo>
                <a:lnTo>
                  <a:pt x="45918" y="30976"/>
                </a:lnTo>
                <a:lnTo>
                  <a:pt x="42672" y="28194"/>
                </a:lnTo>
                <a:close/>
              </a:path>
              <a:path w="533400" h="457200">
                <a:moveTo>
                  <a:pt x="55872" y="28194"/>
                </a:moveTo>
                <a:lnTo>
                  <a:pt x="42672" y="28194"/>
                </a:lnTo>
                <a:lnTo>
                  <a:pt x="45918" y="30976"/>
                </a:lnTo>
                <a:lnTo>
                  <a:pt x="55872" y="2819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7063740" y="3137916"/>
            <a:ext cx="76200" cy="457200"/>
          </a:xfrm>
          <a:custGeom>
            <a:avLst/>
            <a:gdLst/>
            <a:ahLst/>
            <a:cxnLst/>
            <a:rect l="l" t="t" r="r" b="b"/>
            <a:pathLst>
              <a:path w="76200" h="457200">
                <a:moveTo>
                  <a:pt x="0" y="381000"/>
                </a:moveTo>
                <a:lnTo>
                  <a:pt x="38100" y="457200"/>
                </a:lnTo>
                <a:lnTo>
                  <a:pt x="63500" y="406400"/>
                </a:lnTo>
                <a:lnTo>
                  <a:pt x="31750" y="406400"/>
                </a:lnTo>
                <a:lnTo>
                  <a:pt x="31750" y="402166"/>
                </a:lnTo>
                <a:lnTo>
                  <a:pt x="0" y="381000"/>
                </a:lnTo>
                <a:close/>
              </a:path>
              <a:path w="76200" h="457200">
                <a:moveTo>
                  <a:pt x="31750" y="402166"/>
                </a:moveTo>
                <a:lnTo>
                  <a:pt x="31750" y="406400"/>
                </a:lnTo>
                <a:lnTo>
                  <a:pt x="38100" y="406400"/>
                </a:lnTo>
                <a:lnTo>
                  <a:pt x="31750" y="402166"/>
                </a:lnTo>
                <a:close/>
              </a:path>
              <a:path w="76200" h="457200">
                <a:moveTo>
                  <a:pt x="38100" y="50800"/>
                </a:moveTo>
                <a:lnTo>
                  <a:pt x="31750" y="55033"/>
                </a:lnTo>
                <a:lnTo>
                  <a:pt x="31750" y="402166"/>
                </a:lnTo>
                <a:lnTo>
                  <a:pt x="38100" y="406400"/>
                </a:lnTo>
                <a:lnTo>
                  <a:pt x="44450" y="402166"/>
                </a:lnTo>
                <a:lnTo>
                  <a:pt x="44450" y="55033"/>
                </a:lnTo>
                <a:lnTo>
                  <a:pt x="38100" y="50800"/>
                </a:lnTo>
                <a:close/>
              </a:path>
              <a:path w="76200" h="457200">
                <a:moveTo>
                  <a:pt x="44450" y="402166"/>
                </a:moveTo>
                <a:lnTo>
                  <a:pt x="38100" y="406400"/>
                </a:lnTo>
                <a:lnTo>
                  <a:pt x="44450" y="406400"/>
                </a:lnTo>
                <a:lnTo>
                  <a:pt x="44450" y="402166"/>
                </a:lnTo>
                <a:close/>
              </a:path>
              <a:path w="76200" h="457200">
                <a:moveTo>
                  <a:pt x="76200" y="381000"/>
                </a:moveTo>
                <a:lnTo>
                  <a:pt x="44450" y="402166"/>
                </a:lnTo>
                <a:lnTo>
                  <a:pt x="44450" y="406400"/>
                </a:lnTo>
                <a:lnTo>
                  <a:pt x="63500" y="406400"/>
                </a:lnTo>
                <a:lnTo>
                  <a:pt x="76200" y="381000"/>
                </a:lnTo>
                <a:close/>
              </a:path>
              <a:path w="76200" h="457200">
                <a:moveTo>
                  <a:pt x="38100" y="0"/>
                </a:moveTo>
                <a:lnTo>
                  <a:pt x="0" y="76200"/>
                </a:lnTo>
                <a:lnTo>
                  <a:pt x="31750" y="55033"/>
                </a:lnTo>
                <a:lnTo>
                  <a:pt x="31750" y="50800"/>
                </a:lnTo>
                <a:lnTo>
                  <a:pt x="63500" y="50800"/>
                </a:lnTo>
                <a:lnTo>
                  <a:pt x="38100" y="0"/>
                </a:lnTo>
                <a:close/>
              </a:path>
              <a:path w="76200" h="457200">
                <a:moveTo>
                  <a:pt x="63500" y="50800"/>
                </a:moveTo>
                <a:lnTo>
                  <a:pt x="44450" y="50800"/>
                </a:lnTo>
                <a:lnTo>
                  <a:pt x="44450" y="55033"/>
                </a:lnTo>
                <a:lnTo>
                  <a:pt x="76200" y="76200"/>
                </a:lnTo>
                <a:lnTo>
                  <a:pt x="63500" y="50800"/>
                </a:lnTo>
                <a:close/>
              </a:path>
              <a:path w="76200" h="457200">
                <a:moveTo>
                  <a:pt x="38100" y="50800"/>
                </a:moveTo>
                <a:lnTo>
                  <a:pt x="31750" y="50800"/>
                </a:lnTo>
                <a:lnTo>
                  <a:pt x="31750" y="55033"/>
                </a:lnTo>
                <a:lnTo>
                  <a:pt x="38100" y="50800"/>
                </a:lnTo>
                <a:close/>
              </a:path>
              <a:path w="76200" h="457200">
                <a:moveTo>
                  <a:pt x="44450" y="50800"/>
                </a:moveTo>
                <a:lnTo>
                  <a:pt x="38100" y="50800"/>
                </a:lnTo>
                <a:lnTo>
                  <a:pt x="44450" y="55033"/>
                </a:lnTo>
                <a:lnTo>
                  <a:pt x="44450" y="508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7863840" y="3137916"/>
            <a:ext cx="533400" cy="457200"/>
          </a:xfrm>
          <a:custGeom>
            <a:avLst/>
            <a:gdLst/>
            <a:ahLst/>
            <a:cxnLst/>
            <a:rect l="l" t="t" r="r" b="b"/>
            <a:pathLst>
              <a:path w="533400" h="457200">
                <a:moveTo>
                  <a:pt x="33019" y="378713"/>
                </a:moveTo>
                <a:lnTo>
                  <a:pt x="0" y="457200"/>
                </a:lnTo>
                <a:lnTo>
                  <a:pt x="82676" y="436499"/>
                </a:lnTo>
                <a:lnTo>
                  <a:pt x="55872" y="429006"/>
                </a:lnTo>
                <a:lnTo>
                  <a:pt x="42671" y="429006"/>
                </a:lnTo>
                <a:lnTo>
                  <a:pt x="34416" y="419354"/>
                </a:lnTo>
                <a:lnTo>
                  <a:pt x="37671" y="416563"/>
                </a:lnTo>
                <a:lnTo>
                  <a:pt x="33019" y="378713"/>
                </a:lnTo>
                <a:close/>
              </a:path>
              <a:path w="533400" h="457200">
                <a:moveTo>
                  <a:pt x="37671" y="416563"/>
                </a:moveTo>
                <a:lnTo>
                  <a:pt x="34416" y="419354"/>
                </a:lnTo>
                <a:lnTo>
                  <a:pt x="42671" y="429006"/>
                </a:lnTo>
                <a:lnTo>
                  <a:pt x="45918" y="426223"/>
                </a:lnTo>
                <a:lnTo>
                  <a:pt x="38607" y="424180"/>
                </a:lnTo>
                <a:lnTo>
                  <a:pt x="37671" y="416563"/>
                </a:lnTo>
                <a:close/>
              </a:path>
              <a:path w="533400" h="457200">
                <a:moveTo>
                  <a:pt x="45918" y="426223"/>
                </a:moveTo>
                <a:lnTo>
                  <a:pt x="42671" y="429006"/>
                </a:lnTo>
                <a:lnTo>
                  <a:pt x="55872" y="429006"/>
                </a:lnTo>
                <a:lnTo>
                  <a:pt x="45918" y="426223"/>
                </a:lnTo>
                <a:close/>
              </a:path>
              <a:path w="533400" h="457200">
                <a:moveTo>
                  <a:pt x="487481" y="30976"/>
                </a:moveTo>
                <a:lnTo>
                  <a:pt x="37671" y="416563"/>
                </a:lnTo>
                <a:lnTo>
                  <a:pt x="38607" y="424180"/>
                </a:lnTo>
                <a:lnTo>
                  <a:pt x="45918" y="426223"/>
                </a:lnTo>
                <a:lnTo>
                  <a:pt x="495728" y="40636"/>
                </a:lnTo>
                <a:lnTo>
                  <a:pt x="494791" y="33020"/>
                </a:lnTo>
                <a:lnTo>
                  <a:pt x="487481" y="30976"/>
                </a:lnTo>
                <a:close/>
              </a:path>
              <a:path w="533400" h="457200">
                <a:moveTo>
                  <a:pt x="521538" y="28194"/>
                </a:moveTo>
                <a:lnTo>
                  <a:pt x="490727" y="28194"/>
                </a:lnTo>
                <a:lnTo>
                  <a:pt x="498982" y="37846"/>
                </a:lnTo>
                <a:lnTo>
                  <a:pt x="495728" y="40636"/>
                </a:lnTo>
                <a:lnTo>
                  <a:pt x="500379" y="78486"/>
                </a:lnTo>
                <a:lnTo>
                  <a:pt x="521538" y="28194"/>
                </a:lnTo>
                <a:close/>
              </a:path>
              <a:path w="533400" h="457200">
                <a:moveTo>
                  <a:pt x="490727" y="28194"/>
                </a:moveTo>
                <a:lnTo>
                  <a:pt x="487481" y="30976"/>
                </a:lnTo>
                <a:lnTo>
                  <a:pt x="494791" y="33020"/>
                </a:lnTo>
                <a:lnTo>
                  <a:pt x="495728" y="40636"/>
                </a:lnTo>
                <a:lnTo>
                  <a:pt x="498982" y="37846"/>
                </a:lnTo>
                <a:lnTo>
                  <a:pt x="490727" y="28194"/>
                </a:lnTo>
                <a:close/>
              </a:path>
              <a:path w="533400" h="457200">
                <a:moveTo>
                  <a:pt x="533400" y="0"/>
                </a:moveTo>
                <a:lnTo>
                  <a:pt x="450723" y="20700"/>
                </a:lnTo>
                <a:lnTo>
                  <a:pt x="487481" y="30976"/>
                </a:lnTo>
                <a:lnTo>
                  <a:pt x="490727" y="28194"/>
                </a:lnTo>
                <a:lnTo>
                  <a:pt x="521538" y="28194"/>
                </a:lnTo>
                <a:lnTo>
                  <a:pt x="5334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7063740" y="3976115"/>
            <a:ext cx="76200" cy="304800"/>
          </a:xfrm>
          <a:custGeom>
            <a:avLst/>
            <a:gdLst/>
            <a:ahLst/>
            <a:cxnLst/>
            <a:rect l="l" t="t" r="r" b="b"/>
            <a:pathLst>
              <a:path w="76200" h="304800">
                <a:moveTo>
                  <a:pt x="0" y="228599"/>
                </a:moveTo>
                <a:lnTo>
                  <a:pt x="38100" y="304799"/>
                </a:lnTo>
                <a:lnTo>
                  <a:pt x="63500" y="253999"/>
                </a:lnTo>
                <a:lnTo>
                  <a:pt x="31750" y="253999"/>
                </a:lnTo>
                <a:lnTo>
                  <a:pt x="31750" y="249766"/>
                </a:lnTo>
                <a:lnTo>
                  <a:pt x="0" y="228599"/>
                </a:lnTo>
                <a:close/>
              </a:path>
              <a:path w="76200" h="304800">
                <a:moveTo>
                  <a:pt x="31750" y="249766"/>
                </a:moveTo>
                <a:lnTo>
                  <a:pt x="31750" y="253999"/>
                </a:lnTo>
                <a:lnTo>
                  <a:pt x="38100" y="253999"/>
                </a:lnTo>
                <a:lnTo>
                  <a:pt x="31750" y="249766"/>
                </a:lnTo>
                <a:close/>
              </a:path>
              <a:path w="76200" h="304800">
                <a:moveTo>
                  <a:pt x="38100" y="50799"/>
                </a:moveTo>
                <a:lnTo>
                  <a:pt x="31750" y="55033"/>
                </a:lnTo>
                <a:lnTo>
                  <a:pt x="31750" y="249766"/>
                </a:lnTo>
                <a:lnTo>
                  <a:pt x="38100" y="253999"/>
                </a:lnTo>
                <a:lnTo>
                  <a:pt x="44450" y="249766"/>
                </a:lnTo>
                <a:lnTo>
                  <a:pt x="44450" y="55033"/>
                </a:lnTo>
                <a:lnTo>
                  <a:pt x="38100" y="50799"/>
                </a:lnTo>
                <a:close/>
              </a:path>
              <a:path w="76200" h="304800">
                <a:moveTo>
                  <a:pt x="44450" y="249766"/>
                </a:moveTo>
                <a:lnTo>
                  <a:pt x="38100" y="253999"/>
                </a:lnTo>
                <a:lnTo>
                  <a:pt x="44450" y="253999"/>
                </a:lnTo>
                <a:lnTo>
                  <a:pt x="44450" y="249766"/>
                </a:lnTo>
                <a:close/>
              </a:path>
              <a:path w="76200" h="304800">
                <a:moveTo>
                  <a:pt x="76200" y="228599"/>
                </a:moveTo>
                <a:lnTo>
                  <a:pt x="44450" y="249766"/>
                </a:lnTo>
                <a:lnTo>
                  <a:pt x="44450" y="253999"/>
                </a:lnTo>
                <a:lnTo>
                  <a:pt x="63500" y="253999"/>
                </a:lnTo>
                <a:lnTo>
                  <a:pt x="76200" y="228599"/>
                </a:lnTo>
                <a:close/>
              </a:path>
              <a:path w="76200" h="304800">
                <a:moveTo>
                  <a:pt x="38100" y="0"/>
                </a:moveTo>
                <a:lnTo>
                  <a:pt x="0" y="76199"/>
                </a:lnTo>
                <a:lnTo>
                  <a:pt x="31750" y="55033"/>
                </a:lnTo>
                <a:lnTo>
                  <a:pt x="31750" y="50799"/>
                </a:lnTo>
                <a:lnTo>
                  <a:pt x="63500" y="50799"/>
                </a:lnTo>
                <a:lnTo>
                  <a:pt x="38100" y="0"/>
                </a:lnTo>
                <a:close/>
              </a:path>
              <a:path w="76200" h="304800">
                <a:moveTo>
                  <a:pt x="63500" y="50799"/>
                </a:moveTo>
                <a:lnTo>
                  <a:pt x="44450" y="50799"/>
                </a:lnTo>
                <a:lnTo>
                  <a:pt x="44450" y="55033"/>
                </a:lnTo>
                <a:lnTo>
                  <a:pt x="76200" y="76199"/>
                </a:lnTo>
                <a:lnTo>
                  <a:pt x="63500" y="50799"/>
                </a:lnTo>
                <a:close/>
              </a:path>
              <a:path w="76200" h="304800">
                <a:moveTo>
                  <a:pt x="38100" y="50799"/>
                </a:moveTo>
                <a:lnTo>
                  <a:pt x="31750" y="50799"/>
                </a:lnTo>
                <a:lnTo>
                  <a:pt x="31750" y="55033"/>
                </a:lnTo>
                <a:lnTo>
                  <a:pt x="38100" y="50799"/>
                </a:lnTo>
                <a:close/>
              </a:path>
              <a:path w="76200" h="304800">
                <a:moveTo>
                  <a:pt x="44450" y="50799"/>
                </a:moveTo>
                <a:lnTo>
                  <a:pt x="38100" y="50799"/>
                </a:lnTo>
                <a:lnTo>
                  <a:pt x="44450" y="55033"/>
                </a:lnTo>
                <a:lnTo>
                  <a:pt x="44450" y="507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7063740" y="4661915"/>
            <a:ext cx="76200" cy="381000"/>
          </a:xfrm>
          <a:custGeom>
            <a:avLst/>
            <a:gdLst/>
            <a:ahLst/>
            <a:cxnLst/>
            <a:rect l="l" t="t" r="r" b="b"/>
            <a:pathLst>
              <a:path w="76200" h="381000">
                <a:moveTo>
                  <a:pt x="0" y="304799"/>
                </a:moveTo>
                <a:lnTo>
                  <a:pt x="38100" y="380999"/>
                </a:lnTo>
                <a:lnTo>
                  <a:pt x="63500" y="330199"/>
                </a:lnTo>
                <a:lnTo>
                  <a:pt x="31750" y="330199"/>
                </a:lnTo>
                <a:lnTo>
                  <a:pt x="31750" y="325966"/>
                </a:lnTo>
                <a:lnTo>
                  <a:pt x="0" y="304799"/>
                </a:lnTo>
                <a:close/>
              </a:path>
              <a:path w="76200" h="381000">
                <a:moveTo>
                  <a:pt x="31750" y="325966"/>
                </a:moveTo>
                <a:lnTo>
                  <a:pt x="31750" y="330199"/>
                </a:lnTo>
                <a:lnTo>
                  <a:pt x="38100" y="330199"/>
                </a:lnTo>
                <a:lnTo>
                  <a:pt x="31750" y="325966"/>
                </a:lnTo>
                <a:close/>
              </a:path>
              <a:path w="76200" h="381000">
                <a:moveTo>
                  <a:pt x="38100" y="50799"/>
                </a:moveTo>
                <a:lnTo>
                  <a:pt x="31750" y="55033"/>
                </a:lnTo>
                <a:lnTo>
                  <a:pt x="31750" y="325966"/>
                </a:lnTo>
                <a:lnTo>
                  <a:pt x="38100" y="330199"/>
                </a:lnTo>
                <a:lnTo>
                  <a:pt x="44450" y="325966"/>
                </a:lnTo>
                <a:lnTo>
                  <a:pt x="44450" y="55033"/>
                </a:lnTo>
                <a:lnTo>
                  <a:pt x="38100" y="50799"/>
                </a:lnTo>
                <a:close/>
              </a:path>
              <a:path w="76200" h="381000">
                <a:moveTo>
                  <a:pt x="44450" y="325966"/>
                </a:moveTo>
                <a:lnTo>
                  <a:pt x="38100" y="330199"/>
                </a:lnTo>
                <a:lnTo>
                  <a:pt x="44450" y="330199"/>
                </a:lnTo>
                <a:lnTo>
                  <a:pt x="44450" y="325966"/>
                </a:lnTo>
                <a:close/>
              </a:path>
              <a:path w="76200" h="381000">
                <a:moveTo>
                  <a:pt x="76200" y="304799"/>
                </a:moveTo>
                <a:lnTo>
                  <a:pt x="44450" y="325966"/>
                </a:lnTo>
                <a:lnTo>
                  <a:pt x="44450" y="330199"/>
                </a:lnTo>
                <a:lnTo>
                  <a:pt x="63500" y="330199"/>
                </a:lnTo>
                <a:lnTo>
                  <a:pt x="76200" y="304799"/>
                </a:lnTo>
                <a:close/>
              </a:path>
              <a:path w="76200" h="381000">
                <a:moveTo>
                  <a:pt x="38100" y="0"/>
                </a:moveTo>
                <a:lnTo>
                  <a:pt x="0" y="76199"/>
                </a:lnTo>
                <a:lnTo>
                  <a:pt x="31750" y="55033"/>
                </a:lnTo>
                <a:lnTo>
                  <a:pt x="31750" y="50799"/>
                </a:lnTo>
                <a:lnTo>
                  <a:pt x="63500" y="50799"/>
                </a:lnTo>
                <a:lnTo>
                  <a:pt x="38100" y="0"/>
                </a:lnTo>
                <a:close/>
              </a:path>
              <a:path w="76200" h="381000">
                <a:moveTo>
                  <a:pt x="63500" y="50799"/>
                </a:moveTo>
                <a:lnTo>
                  <a:pt x="44450" y="50799"/>
                </a:lnTo>
                <a:lnTo>
                  <a:pt x="44450" y="55033"/>
                </a:lnTo>
                <a:lnTo>
                  <a:pt x="76200" y="76199"/>
                </a:lnTo>
                <a:lnTo>
                  <a:pt x="63500" y="50799"/>
                </a:lnTo>
                <a:close/>
              </a:path>
              <a:path w="76200" h="381000">
                <a:moveTo>
                  <a:pt x="38100" y="50799"/>
                </a:moveTo>
                <a:lnTo>
                  <a:pt x="31750" y="50799"/>
                </a:lnTo>
                <a:lnTo>
                  <a:pt x="31750" y="55033"/>
                </a:lnTo>
                <a:lnTo>
                  <a:pt x="38100" y="50799"/>
                </a:lnTo>
                <a:close/>
              </a:path>
              <a:path w="76200" h="381000">
                <a:moveTo>
                  <a:pt x="44450" y="50799"/>
                </a:moveTo>
                <a:lnTo>
                  <a:pt x="38100" y="50799"/>
                </a:lnTo>
                <a:lnTo>
                  <a:pt x="44450" y="55033"/>
                </a:lnTo>
                <a:lnTo>
                  <a:pt x="44450" y="507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5258561" y="1905761"/>
            <a:ext cx="990600" cy="355600"/>
          </a:xfrm>
          <a:prstGeom prst="rect">
            <a:avLst/>
          </a:prstGeom>
          <a:ln w="25907">
            <a:solidFill>
              <a:srgbClr val="000000"/>
            </a:solidFill>
          </a:ln>
        </p:spPr>
        <p:txBody>
          <a:bodyPr vert="horz" wrap="square" lIns="0" tIns="33655" rIns="0" bIns="0" rtlCol="0">
            <a:spAutoFit/>
          </a:bodyPr>
          <a:lstStyle/>
          <a:p>
            <a:pPr marL="90170">
              <a:lnSpc>
                <a:spcPct val="100000"/>
              </a:lnSpc>
              <a:spcBef>
                <a:spcPts val="265"/>
              </a:spcBef>
            </a:pPr>
            <a:r>
              <a:rPr sz="2000" dirty="0">
                <a:latin typeface="Gill Sans MT"/>
                <a:cs typeface="Gill Sans MT"/>
              </a:rPr>
              <a:t>App1</a:t>
            </a:r>
            <a:endParaRPr sz="2000">
              <a:latin typeface="Gill Sans MT"/>
              <a:cs typeface="Gill Sans MT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7048500" y="2286000"/>
            <a:ext cx="76200" cy="457200"/>
          </a:xfrm>
          <a:custGeom>
            <a:avLst/>
            <a:gdLst/>
            <a:ahLst/>
            <a:cxnLst/>
            <a:rect l="l" t="t" r="r" b="b"/>
            <a:pathLst>
              <a:path w="76200" h="457200">
                <a:moveTo>
                  <a:pt x="0" y="381000"/>
                </a:moveTo>
                <a:lnTo>
                  <a:pt x="38100" y="457200"/>
                </a:lnTo>
                <a:lnTo>
                  <a:pt x="63500" y="406400"/>
                </a:lnTo>
                <a:lnTo>
                  <a:pt x="31750" y="406400"/>
                </a:lnTo>
                <a:lnTo>
                  <a:pt x="31750" y="402166"/>
                </a:lnTo>
                <a:lnTo>
                  <a:pt x="0" y="381000"/>
                </a:lnTo>
                <a:close/>
              </a:path>
              <a:path w="76200" h="457200">
                <a:moveTo>
                  <a:pt x="31750" y="402166"/>
                </a:moveTo>
                <a:lnTo>
                  <a:pt x="31750" y="406400"/>
                </a:lnTo>
                <a:lnTo>
                  <a:pt x="38100" y="406400"/>
                </a:lnTo>
                <a:lnTo>
                  <a:pt x="31750" y="402166"/>
                </a:lnTo>
                <a:close/>
              </a:path>
              <a:path w="76200" h="457200">
                <a:moveTo>
                  <a:pt x="38100" y="50800"/>
                </a:moveTo>
                <a:lnTo>
                  <a:pt x="31750" y="55033"/>
                </a:lnTo>
                <a:lnTo>
                  <a:pt x="31750" y="402166"/>
                </a:lnTo>
                <a:lnTo>
                  <a:pt x="38100" y="406400"/>
                </a:lnTo>
                <a:lnTo>
                  <a:pt x="44450" y="402166"/>
                </a:lnTo>
                <a:lnTo>
                  <a:pt x="44450" y="55033"/>
                </a:lnTo>
                <a:lnTo>
                  <a:pt x="38100" y="50800"/>
                </a:lnTo>
                <a:close/>
              </a:path>
              <a:path w="76200" h="457200">
                <a:moveTo>
                  <a:pt x="44450" y="402166"/>
                </a:moveTo>
                <a:lnTo>
                  <a:pt x="38100" y="406400"/>
                </a:lnTo>
                <a:lnTo>
                  <a:pt x="44450" y="406400"/>
                </a:lnTo>
                <a:lnTo>
                  <a:pt x="44450" y="402166"/>
                </a:lnTo>
                <a:close/>
              </a:path>
              <a:path w="76200" h="457200">
                <a:moveTo>
                  <a:pt x="76200" y="381000"/>
                </a:moveTo>
                <a:lnTo>
                  <a:pt x="44450" y="402166"/>
                </a:lnTo>
                <a:lnTo>
                  <a:pt x="44450" y="406400"/>
                </a:lnTo>
                <a:lnTo>
                  <a:pt x="63500" y="406400"/>
                </a:lnTo>
                <a:lnTo>
                  <a:pt x="76200" y="381000"/>
                </a:lnTo>
                <a:close/>
              </a:path>
              <a:path w="76200" h="457200">
                <a:moveTo>
                  <a:pt x="38100" y="0"/>
                </a:moveTo>
                <a:lnTo>
                  <a:pt x="0" y="76200"/>
                </a:lnTo>
                <a:lnTo>
                  <a:pt x="31750" y="55033"/>
                </a:lnTo>
                <a:lnTo>
                  <a:pt x="31750" y="50800"/>
                </a:lnTo>
                <a:lnTo>
                  <a:pt x="63500" y="50800"/>
                </a:lnTo>
                <a:lnTo>
                  <a:pt x="38100" y="0"/>
                </a:lnTo>
                <a:close/>
              </a:path>
              <a:path w="76200" h="457200">
                <a:moveTo>
                  <a:pt x="63500" y="50800"/>
                </a:moveTo>
                <a:lnTo>
                  <a:pt x="44450" y="50800"/>
                </a:lnTo>
                <a:lnTo>
                  <a:pt x="44450" y="55033"/>
                </a:lnTo>
                <a:lnTo>
                  <a:pt x="76200" y="76200"/>
                </a:lnTo>
                <a:lnTo>
                  <a:pt x="63500" y="50800"/>
                </a:lnTo>
                <a:close/>
              </a:path>
              <a:path w="76200" h="457200">
                <a:moveTo>
                  <a:pt x="38100" y="50800"/>
                </a:moveTo>
                <a:lnTo>
                  <a:pt x="31750" y="50800"/>
                </a:lnTo>
                <a:lnTo>
                  <a:pt x="31750" y="55033"/>
                </a:lnTo>
                <a:lnTo>
                  <a:pt x="38100" y="50800"/>
                </a:lnTo>
                <a:close/>
              </a:path>
              <a:path w="76200" h="457200">
                <a:moveTo>
                  <a:pt x="44450" y="50800"/>
                </a:moveTo>
                <a:lnTo>
                  <a:pt x="38100" y="50800"/>
                </a:lnTo>
                <a:lnTo>
                  <a:pt x="44450" y="55033"/>
                </a:lnTo>
                <a:lnTo>
                  <a:pt x="44450" y="508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5676900" y="2286000"/>
            <a:ext cx="76200" cy="457200"/>
          </a:xfrm>
          <a:custGeom>
            <a:avLst/>
            <a:gdLst/>
            <a:ahLst/>
            <a:cxnLst/>
            <a:rect l="l" t="t" r="r" b="b"/>
            <a:pathLst>
              <a:path w="76200" h="457200">
                <a:moveTo>
                  <a:pt x="0" y="381000"/>
                </a:moveTo>
                <a:lnTo>
                  <a:pt x="38100" y="457200"/>
                </a:lnTo>
                <a:lnTo>
                  <a:pt x="63500" y="406400"/>
                </a:lnTo>
                <a:lnTo>
                  <a:pt x="31750" y="406400"/>
                </a:lnTo>
                <a:lnTo>
                  <a:pt x="31750" y="402166"/>
                </a:lnTo>
                <a:lnTo>
                  <a:pt x="0" y="381000"/>
                </a:lnTo>
                <a:close/>
              </a:path>
              <a:path w="76200" h="457200">
                <a:moveTo>
                  <a:pt x="31750" y="402166"/>
                </a:moveTo>
                <a:lnTo>
                  <a:pt x="31750" y="406400"/>
                </a:lnTo>
                <a:lnTo>
                  <a:pt x="38100" y="406400"/>
                </a:lnTo>
                <a:lnTo>
                  <a:pt x="31750" y="402166"/>
                </a:lnTo>
                <a:close/>
              </a:path>
              <a:path w="76200" h="457200">
                <a:moveTo>
                  <a:pt x="38100" y="50800"/>
                </a:moveTo>
                <a:lnTo>
                  <a:pt x="31750" y="55033"/>
                </a:lnTo>
                <a:lnTo>
                  <a:pt x="31750" y="402166"/>
                </a:lnTo>
                <a:lnTo>
                  <a:pt x="38100" y="406400"/>
                </a:lnTo>
                <a:lnTo>
                  <a:pt x="44450" y="402166"/>
                </a:lnTo>
                <a:lnTo>
                  <a:pt x="44450" y="55033"/>
                </a:lnTo>
                <a:lnTo>
                  <a:pt x="38100" y="50800"/>
                </a:lnTo>
                <a:close/>
              </a:path>
              <a:path w="76200" h="457200">
                <a:moveTo>
                  <a:pt x="44450" y="402166"/>
                </a:moveTo>
                <a:lnTo>
                  <a:pt x="38100" y="406400"/>
                </a:lnTo>
                <a:lnTo>
                  <a:pt x="44450" y="406400"/>
                </a:lnTo>
                <a:lnTo>
                  <a:pt x="44450" y="402166"/>
                </a:lnTo>
                <a:close/>
              </a:path>
              <a:path w="76200" h="457200">
                <a:moveTo>
                  <a:pt x="76200" y="381000"/>
                </a:moveTo>
                <a:lnTo>
                  <a:pt x="44450" y="402166"/>
                </a:lnTo>
                <a:lnTo>
                  <a:pt x="44450" y="406400"/>
                </a:lnTo>
                <a:lnTo>
                  <a:pt x="63500" y="406400"/>
                </a:lnTo>
                <a:lnTo>
                  <a:pt x="76200" y="381000"/>
                </a:lnTo>
                <a:close/>
              </a:path>
              <a:path w="76200" h="457200">
                <a:moveTo>
                  <a:pt x="38100" y="0"/>
                </a:moveTo>
                <a:lnTo>
                  <a:pt x="0" y="76200"/>
                </a:lnTo>
                <a:lnTo>
                  <a:pt x="31750" y="55033"/>
                </a:lnTo>
                <a:lnTo>
                  <a:pt x="31750" y="50800"/>
                </a:lnTo>
                <a:lnTo>
                  <a:pt x="63500" y="50800"/>
                </a:lnTo>
                <a:lnTo>
                  <a:pt x="38100" y="0"/>
                </a:lnTo>
                <a:close/>
              </a:path>
              <a:path w="76200" h="457200">
                <a:moveTo>
                  <a:pt x="63500" y="50800"/>
                </a:moveTo>
                <a:lnTo>
                  <a:pt x="44450" y="50800"/>
                </a:lnTo>
                <a:lnTo>
                  <a:pt x="44450" y="55033"/>
                </a:lnTo>
                <a:lnTo>
                  <a:pt x="76200" y="76200"/>
                </a:lnTo>
                <a:lnTo>
                  <a:pt x="63500" y="50800"/>
                </a:lnTo>
                <a:close/>
              </a:path>
              <a:path w="76200" h="457200">
                <a:moveTo>
                  <a:pt x="38100" y="50800"/>
                </a:moveTo>
                <a:lnTo>
                  <a:pt x="31750" y="50800"/>
                </a:lnTo>
                <a:lnTo>
                  <a:pt x="31750" y="55033"/>
                </a:lnTo>
                <a:lnTo>
                  <a:pt x="38100" y="50800"/>
                </a:lnTo>
                <a:close/>
              </a:path>
              <a:path w="76200" h="457200">
                <a:moveTo>
                  <a:pt x="44450" y="50800"/>
                </a:moveTo>
                <a:lnTo>
                  <a:pt x="38100" y="50800"/>
                </a:lnTo>
                <a:lnTo>
                  <a:pt x="44450" y="55033"/>
                </a:lnTo>
                <a:lnTo>
                  <a:pt x="44450" y="508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6630161" y="1905761"/>
            <a:ext cx="2057400" cy="355600"/>
          </a:xfrm>
          <a:prstGeom prst="rect">
            <a:avLst/>
          </a:prstGeom>
          <a:ln w="25907">
            <a:solidFill>
              <a:srgbClr val="000000"/>
            </a:solidFill>
          </a:ln>
        </p:spPr>
        <p:txBody>
          <a:bodyPr vert="horz" wrap="square" lIns="0" tIns="33655" rIns="0" bIns="0" rtlCol="0">
            <a:spAutoFit/>
          </a:bodyPr>
          <a:lstStyle/>
          <a:p>
            <a:pPr marR="95885" algn="ctr">
              <a:lnSpc>
                <a:spcPct val="100000"/>
              </a:lnSpc>
              <a:spcBef>
                <a:spcPts val="265"/>
              </a:spcBef>
            </a:pPr>
            <a:r>
              <a:rPr sz="2000" dirty="0">
                <a:latin typeface="Gill Sans MT"/>
                <a:cs typeface="Gill Sans MT"/>
              </a:rPr>
              <a:t>App2</a:t>
            </a:r>
            <a:endParaRPr sz="2000">
              <a:latin typeface="Gill Sans MT"/>
              <a:cs typeface="Gill Sans MT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8343900" y="2286000"/>
            <a:ext cx="76200" cy="457200"/>
          </a:xfrm>
          <a:custGeom>
            <a:avLst/>
            <a:gdLst/>
            <a:ahLst/>
            <a:cxnLst/>
            <a:rect l="l" t="t" r="r" b="b"/>
            <a:pathLst>
              <a:path w="76200" h="457200">
                <a:moveTo>
                  <a:pt x="0" y="381000"/>
                </a:moveTo>
                <a:lnTo>
                  <a:pt x="38100" y="457200"/>
                </a:lnTo>
                <a:lnTo>
                  <a:pt x="63500" y="406400"/>
                </a:lnTo>
                <a:lnTo>
                  <a:pt x="31750" y="406400"/>
                </a:lnTo>
                <a:lnTo>
                  <a:pt x="31750" y="402166"/>
                </a:lnTo>
                <a:lnTo>
                  <a:pt x="0" y="381000"/>
                </a:lnTo>
                <a:close/>
              </a:path>
              <a:path w="76200" h="457200">
                <a:moveTo>
                  <a:pt x="31750" y="402166"/>
                </a:moveTo>
                <a:lnTo>
                  <a:pt x="31750" y="406400"/>
                </a:lnTo>
                <a:lnTo>
                  <a:pt x="38100" y="406400"/>
                </a:lnTo>
                <a:lnTo>
                  <a:pt x="31750" y="402166"/>
                </a:lnTo>
                <a:close/>
              </a:path>
              <a:path w="76200" h="457200">
                <a:moveTo>
                  <a:pt x="38100" y="50800"/>
                </a:moveTo>
                <a:lnTo>
                  <a:pt x="31750" y="55033"/>
                </a:lnTo>
                <a:lnTo>
                  <a:pt x="31750" y="402166"/>
                </a:lnTo>
                <a:lnTo>
                  <a:pt x="38100" y="406400"/>
                </a:lnTo>
                <a:lnTo>
                  <a:pt x="44450" y="402166"/>
                </a:lnTo>
                <a:lnTo>
                  <a:pt x="44450" y="55033"/>
                </a:lnTo>
                <a:lnTo>
                  <a:pt x="38100" y="50800"/>
                </a:lnTo>
                <a:close/>
              </a:path>
              <a:path w="76200" h="457200">
                <a:moveTo>
                  <a:pt x="44450" y="402166"/>
                </a:moveTo>
                <a:lnTo>
                  <a:pt x="38100" y="406400"/>
                </a:lnTo>
                <a:lnTo>
                  <a:pt x="44450" y="406400"/>
                </a:lnTo>
                <a:lnTo>
                  <a:pt x="44450" y="402166"/>
                </a:lnTo>
                <a:close/>
              </a:path>
              <a:path w="76200" h="457200">
                <a:moveTo>
                  <a:pt x="76200" y="381000"/>
                </a:moveTo>
                <a:lnTo>
                  <a:pt x="44450" y="402166"/>
                </a:lnTo>
                <a:lnTo>
                  <a:pt x="44450" y="406400"/>
                </a:lnTo>
                <a:lnTo>
                  <a:pt x="63500" y="406400"/>
                </a:lnTo>
                <a:lnTo>
                  <a:pt x="76200" y="381000"/>
                </a:lnTo>
                <a:close/>
              </a:path>
              <a:path w="76200" h="457200">
                <a:moveTo>
                  <a:pt x="38100" y="0"/>
                </a:moveTo>
                <a:lnTo>
                  <a:pt x="0" y="76200"/>
                </a:lnTo>
                <a:lnTo>
                  <a:pt x="31750" y="55033"/>
                </a:lnTo>
                <a:lnTo>
                  <a:pt x="31750" y="50800"/>
                </a:lnTo>
                <a:lnTo>
                  <a:pt x="63500" y="50800"/>
                </a:lnTo>
                <a:lnTo>
                  <a:pt x="38100" y="0"/>
                </a:lnTo>
                <a:close/>
              </a:path>
              <a:path w="76200" h="457200">
                <a:moveTo>
                  <a:pt x="63500" y="50800"/>
                </a:moveTo>
                <a:lnTo>
                  <a:pt x="44450" y="50800"/>
                </a:lnTo>
                <a:lnTo>
                  <a:pt x="44450" y="55033"/>
                </a:lnTo>
                <a:lnTo>
                  <a:pt x="76200" y="76200"/>
                </a:lnTo>
                <a:lnTo>
                  <a:pt x="63500" y="50800"/>
                </a:lnTo>
                <a:close/>
              </a:path>
              <a:path w="76200" h="457200">
                <a:moveTo>
                  <a:pt x="38100" y="50800"/>
                </a:moveTo>
                <a:lnTo>
                  <a:pt x="31750" y="50800"/>
                </a:lnTo>
                <a:lnTo>
                  <a:pt x="31750" y="55033"/>
                </a:lnTo>
                <a:lnTo>
                  <a:pt x="38100" y="50800"/>
                </a:lnTo>
                <a:close/>
              </a:path>
              <a:path w="76200" h="457200">
                <a:moveTo>
                  <a:pt x="44450" y="50800"/>
                </a:moveTo>
                <a:lnTo>
                  <a:pt x="38100" y="50800"/>
                </a:lnTo>
                <a:lnTo>
                  <a:pt x="44450" y="55033"/>
                </a:lnTo>
                <a:lnTo>
                  <a:pt x="44450" y="508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5639561" y="3505961"/>
            <a:ext cx="2971800" cy="533400"/>
          </a:xfrm>
          <a:custGeom>
            <a:avLst/>
            <a:gdLst/>
            <a:ahLst/>
            <a:cxnLst/>
            <a:rect l="l" t="t" r="r" b="b"/>
            <a:pathLst>
              <a:path w="2971800" h="533400">
                <a:moveTo>
                  <a:pt x="0" y="533400"/>
                </a:moveTo>
                <a:lnTo>
                  <a:pt x="2971799" y="533400"/>
                </a:lnTo>
                <a:lnTo>
                  <a:pt x="2971799" y="0"/>
                </a:lnTo>
                <a:lnTo>
                  <a:pt x="0" y="0"/>
                </a:lnTo>
                <a:lnTo>
                  <a:pt x="0" y="533400"/>
                </a:lnTo>
                <a:close/>
              </a:path>
            </a:pathLst>
          </a:custGeom>
          <a:ln w="28956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5868161" y="4191761"/>
            <a:ext cx="2514600" cy="533400"/>
          </a:xfrm>
          <a:custGeom>
            <a:avLst/>
            <a:gdLst/>
            <a:ahLst/>
            <a:cxnLst/>
            <a:rect l="l" t="t" r="r" b="b"/>
            <a:pathLst>
              <a:path w="2514600" h="533400">
                <a:moveTo>
                  <a:pt x="0" y="533400"/>
                </a:moveTo>
                <a:lnTo>
                  <a:pt x="2514599" y="533400"/>
                </a:lnTo>
                <a:lnTo>
                  <a:pt x="2514599" y="0"/>
                </a:lnTo>
                <a:lnTo>
                  <a:pt x="0" y="0"/>
                </a:lnTo>
                <a:lnTo>
                  <a:pt x="0" y="533400"/>
                </a:lnTo>
                <a:close/>
              </a:path>
            </a:pathLst>
          </a:custGeom>
          <a:ln w="28956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14</a:t>
            </a:fld>
            <a:endParaRPr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173973" y="6276847"/>
            <a:ext cx="20637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5" dirty="0">
                <a:latin typeface="Times New Roman"/>
                <a:cs typeface="Times New Roman"/>
              </a:rPr>
              <a:t>16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571750" y="812038"/>
            <a:ext cx="399732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5" dirty="0"/>
              <a:t>Queries in</a:t>
            </a:r>
            <a:r>
              <a:rPr sz="4400" spc="-80" dirty="0"/>
              <a:t> </a:t>
            </a:r>
            <a:r>
              <a:rPr sz="4400" dirty="0"/>
              <a:t>DBMS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69239" y="1508633"/>
            <a:ext cx="7404734" cy="4725670"/>
          </a:xfrm>
          <a:prstGeom prst="rect">
            <a:avLst/>
          </a:prstGeom>
        </p:spPr>
        <p:txBody>
          <a:bodyPr vert="horz" wrap="square" lIns="0" tIns="64769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509"/>
              </a:spcBef>
              <a:buChar char="•"/>
              <a:tabLst>
                <a:tab pos="355600" algn="l"/>
                <a:tab pos="356235" algn="l"/>
              </a:tabLst>
            </a:pPr>
            <a:r>
              <a:rPr sz="3200" dirty="0">
                <a:latin typeface="Gill Sans MT"/>
                <a:cs typeface="Gill Sans MT"/>
              </a:rPr>
              <a:t>Sample queries on </a:t>
            </a:r>
            <a:r>
              <a:rPr sz="3200" spc="-5" dirty="0">
                <a:latin typeface="Gill Sans MT"/>
                <a:cs typeface="Gill Sans MT"/>
              </a:rPr>
              <a:t>university</a:t>
            </a:r>
            <a:r>
              <a:rPr sz="3200" spc="-140" dirty="0">
                <a:latin typeface="Gill Sans MT"/>
                <a:cs typeface="Gill Sans MT"/>
              </a:rPr>
              <a:t> </a:t>
            </a:r>
            <a:r>
              <a:rPr sz="3200" dirty="0">
                <a:latin typeface="Gill Sans MT"/>
                <a:cs typeface="Gill Sans MT"/>
              </a:rPr>
              <a:t>database:</a:t>
            </a:r>
          </a:p>
          <a:p>
            <a:pPr marL="756285" marR="34290" lvl="1" indent="-287020">
              <a:lnSpc>
                <a:spcPts val="3020"/>
              </a:lnSpc>
              <a:spcBef>
                <a:spcPts val="735"/>
              </a:spcBef>
              <a:buChar char="–"/>
              <a:tabLst>
                <a:tab pos="756920" algn="l"/>
              </a:tabLst>
            </a:pPr>
            <a:r>
              <a:rPr sz="2800" spc="-5" dirty="0">
                <a:latin typeface="Gill Sans MT"/>
                <a:cs typeface="Gill Sans MT"/>
              </a:rPr>
              <a:t>What is the name of the </a:t>
            </a:r>
            <a:r>
              <a:rPr sz="2800" dirty="0">
                <a:latin typeface="Gill Sans MT"/>
                <a:cs typeface="Gill Sans MT"/>
              </a:rPr>
              <a:t>student </a:t>
            </a:r>
            <a:r>
              <a:rPr sz="2800" spc="-5" dirty="0">
                <a:latin typeface="Gill Sans MT"/>
                <a:cs typeface="Gill Sans MT"/>
              </a:rPr>
              <a:t>with </a:t>
            </a:r>
            <a:r>
              <a:rPr sz="2800" dirty="0">
                <a:latin typeface="Gill Sans MT"/>
                <a:cs typeface="Gill Sans MT"/>
              </a:rPr>
              <a:t>student  </a:t>
            </a:r>
            <a:r>
              <a:rPr sz="2800" spc="-5" dirty="0">
                <a:latin typeface="Gill Sans MT"/>
                <a:cs typeface="Gill Sans MT"/>
              </a:rPr>
              <a:t>ID </a:t>
            </a:r>
            <a:r>
              <a:rPr sz="2800" dirty="0">
                <a:latin typeface="Gill Sans MT"/>
                <a:cs typeface="Gill Sans MT"/>
              </a:rPr>
              <a:t>123456?</a:t>
            </a:r>
          </a:p>
          <a:p>
            <a:pPr marL="355600" marR="1041400" indent="-343535">
              <a:lnSpc>
                <a:spcPts val="3460"/>
              </a:lnSpc>
              <a:spcBef>
                <a:spcPts val="765"/>
              </a:spcBef>
              <a:buChar char="•"/>
              <a:tabLst>
                <a:tab pos="355600" algn="l"/>
                <a:tab pos="356235" algn="l"/>
              </a:tabLst>
            </a:pPr>
            <a:r>
              <a:rPr sz="3200" dirty="0">
                <a:latin typeface="Gill Sans MT"/>
                <a:cs typeface="Gill Sans MT"/>
              </a:rPr>
              <a:t>The </a:t>
            </a:r>
            <a:r>
              <a:rPr sz="3200" spc="-50" dirty="0">
                <a:latin typeface="Gill Sans MT"/>
                <a:cs typeface="Gill Sans MT"/>
              </a:rPr>
              <a:t>key </a:t>
            </a:r>
            <a:r>
              <a:rPr sz="3200" dirty="0">
                <a:latin typeface="Gill Sans MT"/>
                <a:cs typeface="Gill Sans MT"/>
              </a:rPr>
              <a:t>benefits of using a </a:t>
            </a:r>
            <a:r>
              <a:rPr sz="3200" spc="-10" dirty="0">
                <a:latin typeface="Gill Sans MT"/>
                <a:cs typeface="Gill Sans MT"/>
              </a:rPr>
              <a:t>relational  </a:t>
            </a:r>
            <a:r>
              <a:rPr sz="3200" dirty="0">
                <a:latin typeface="Gill Sans MT"/>
                <a:cs typeface="Gill Sans MT"/>
              </a:rPr>
              <a:t>database</a:t>
            </a:r>
            <a:r>
              <a:rPr sz="3200" spc="-25" dirty="0">
                <a:latin typeface="Gill Sans MT"/>
                <a:cs typeface="Gill Sans MT"/>
              </a:rPr>
              <a:t> </a:t>
            </a:r>
            <a:r>
              <a:rPr sz="3200" spc="-20" dirty="0">
                <a:latin typeface="Gill Sans MT"/>
                <a:cs typeface="Gill Sans MT"/>
              </a:rPr>
              <a:t>are</a:t>
            </a:r>
            <a:endParaRPr sz="3200" dirty="0">
              <a:latin typeface="Gill Sans MT"/>
              <a:cs typeface="Gill Sans MT"/>
            </a:endParaRPr>
          </a:p>
          <a:p>
            <a:pPr marL="756285" marR="5080" lvl="1" indent="-287020">
              <a:lnSpc>
                <a:spcPts val="3030"/>
              </a:lnSpc>
              <a:spcBef>
                <a:spcPts val="670"/>
              </a:spcBef>
              <a:buChar char="–"/>
              <a:tabLst>
                <a:tab pos="756920" algn="l"/>
              </a:tabLst>
            </a:pPr>
            <a:r>
              <a:rPr sz="2800" spc="-5" dirty="0">
                <a:latin typeface="Gill Sans MT"/>
                <a:cs typeface="Gill Sans MT"/>
              </a:rPr>
              <a:t>Easy to </a:t>
            </a:r>
            <a:r>
              <a:rPr sz="2800" dirty="0">
                <a:latin typeface="Gill Sans MT"/>
                <a:cs typeface="Gill Sans MT"/>
              </a:rPr>
              <a:t>specify queries using </a:t>
            </a:r>
            <a:r>
              <a:rPr sz="2800" spc="-5" dirty="0">
                <a:latin typeface="Gill Sans MT"/>
                <a:cs typeface="Gill Sans MT"/>
              </a:rPr>
              <a:t>a </a:t>
            </a:r>
            <a:r>
              <a:rPr sz="2800" spc="15" dirty="0">
                <a:solidFill>
                  <a:srgbClr val="669900"/>
                </a:solidFill>
                <a:latin typeface="Gill Sans MT"/>
                <a:cs typeface="Gill Sans MT"/>
              </a:rPr>
              <a:t>query</a:t>
            </a:r>
            <a:r>
              <a:rPr sz="2800" spc="-85" dirty="0">
                <a:solidFill>
                  <a:srgbClr val="669900"/>
                </a:solidFill>
                <a:latin typeface="Gill Sans MT"/>
                <a:cs typeface="Gill Sans MT"/>
              </a:rPr>
              <a:t> </a:t>
            </a:r>
            <a:r>
              <a:rPr sz="2800" spc="-5" dirty="0">
                <a:solidFill>
                  <a:srgbClr val="669900"/>
                </a:solidFill>
                <a:latin typeface="Gill Sans MT"/>
                <a:cs typeface="Gill Sans MT"/>
              </a:rPr>
              <a:t>language</a:t>
            </a:r>
            <a:r>
              <a:rPr sz="2800" spc="-5" dirty="0">
                <a:latin typeface="Gill Sans MT"/>
                <a:cs typeface="Gill Sans MT"/>
              </a:rPr>
              <a:t>:  </a:t>
            </a:r>
            <a:r>
              <a:rPr sz="2800" spc="-10" dirty="0">
                <a:latin typeface="Gill Sans MT"/>
                <a:cs typeface="Gill Sans MT"/>
              </a:rPr>
              <a:t>Structured </a:t>
            </a:r>
            <a:r>
              <a:rPr sz="2800" spc="10" dirty="0">
                <a:latin typeface="Gill Sans MT"/>
                <a:cs typeface="Gill Sans MT"/>
              </a:rPr>
              <a:t>Query </a:t>
            </a:r>
            <a:r>
              <a:rPr sz="2800" spc="-10" dirty="0">
                <a:latin typeface="Gill Sans MT"/>
                <a:cs typeface="Gill Sans MT"/>
              </a:rPr>
              <a:t>Language</a:t>
            </a:r>
            <a:r>
              <a:rPr sz="2800" spc="35" dirty="0">
                <a:latin typeface="Gill Sans MT"/>
                <a:cs typeface="Gill Sans MT"/>
              </a:rPr>
              <a:t> </a:t>
            </a:r>
            <a:r>
              <a:rPr sz="2800" spc="-10" dirty="0">
                <a:latin typeface="Gill Sans MT"/>
                <a:cs typeface="Gill Sans MT"/>
              </a:rPr>
              <a:t>(SQL)</a:t>
            </a:r>
            <a:endParaRPr sz="2800" dirty="0">
              <a:latin typeface="Gill Sans MT"/>
              <a:cs typeface="Gill Sans MT"/>
            </a:endParaRPr>
          </a:p>
          <a:p>
            <a:pPr marL="1384300" marR="4201795">
              <a:lnSpc>
                <a:spcPts val="2640"/>
              </a:lnSpc>
              <a:spcBef>
                <a:spcPts val="110"/>
              </a:spcBef>
            </a:pPr>
            <a:r>
              <a:rPr sz="2000" dirty="0">
                <a:latin typeface="Gill Sans MT"/>
                <a:cs typeface="Gill Sans MT"/>
              </a:rPr>
              <a:t>SELECT S.name </a:t>
            </a:r>
            <a:r>
              <a:rPr lang="en-US" sz="2000" dirty="0">
                <a:latin typeface="Gill Sans MT"/>
                <a:cs typeface="Gill Sans MT"/>
              </a:rPr>
              <a:t> </a:t>
            </a:r>
            <a:r>
              <a:rPr sz="2000" dirty="0">
                <a:latin typeface="Gill Sans MT"/>
                <a:cs typeface="Gill Sans MT"/>
              </a:rPr>
              <a:t> </a:t>
            </a:r>
            <a:r>
              <a:rPr sz="2000" spc="-35" dirty="0">
                <a:latin typeface="Gill Sans MT"/>
                <a:cs typeface="Gill Sans MT"/>
              </a:rPr>
              <a:t>FROM </a:t>
            </a:r>
            <a:r>
              <a:rPr sz="2000" dirty="0">
                <a:latin typeface="Gill Sans MT"/>
                <a:cs typeface="Gill Sans MT"/>
              </a:rPr>
              <a:t>Students</a:t>
            </a:r>
            <a:r>
              <a:rPr sz="2000" spc="-65" dirty="0">
                <a:latin typeface="Gill Sans MT"/>
                <a:cs typeface="Gill Sans MT"/>
              </a:rPr>
              <a:t> </a:t>
            </a:r>
            <a:r>
              <a:rPr sz="2000" dirty="0">
                <a:latin typeface="Gill Sans MT"/>
                <a:cs typeface="Gill Sans MT"/>
              </a:rPr>
              <a:t>S</a:t>
            </a:r>
          </a:p>
          <a:p>
            <a:pPr marL="1384300">
              <a:lnSpc>
                <a:spcPct val="100000"/>
              </a:lnSpc>
              <a:spcBef>
                <a:spcPts val="114"/>
              </a:spcBef>
            </a:pPr>
            <a:r>
              <a:rPr sz="2000" dirty="0">
                <a:latin typeface="Gill Sans MT"/>
                <a:cs typeface="Gill Sans MT"/>
              </a:rPr>
              <a:t>WHERE S.sid =</a:t>
            </a:r>
            <a:r>
              <a:rPr sz="2000" spc="-50" dirty="0">
                <a:latin typeface="Gill Sans MT"/>
                <a:cs typeface="Gill Sans MT"/>
              </a:rPr>
              <a:t> </a:t>
            </a:r>
            <a:r>
              <a:rPr sz="2000" spc="5" dirty="0">
                <a:latin typeface="Gill Sans MT"/>
                <a:cs typeface="Gill Sans MT"/>
              </a:rPr>
              <a:t>123456</a:t>
            </a:r>
            <a:endParaRPr sz="2000" dirty="0">
              <a:latin typeface="Gill Sans MT"/>
              <a:cs typeface="Gill Sans MT"/>
            </a:endParaRPr>
          </a:p>
          <a:p>
            <a:pPr marL="756285" lvl="1" indent="-287020">
              <a:lnSpc>
                <a:spcPct val="100000"/>
              </a:lnSpc>
              <a:spcBef>
                <a:spcPts val="305"/>
              </a:spcBef>
              <a:buChar char="–"/>
              <a:tabLst>
                <a:tab pos="756920" algn="l"/>
              </a:tabLst>
            </a:pPr>
            <a:r>
              <a:rPr sz="2800" spc="-5" dirty="0">
                <a:latin typeface="Gill Sans MT"/>
                <a:cs typeface="Gill Sans MT"/>
              </a:rPr>
              <a:t>Efficient </a:t>
            </a:r>
            <a:r>
              <a:rPr sz="2800" spc="10" dirty="0">
                <a:latin typeface="Gill Sans MT"/>
                <a:cs typeface="Gill Sans MT"/>
              </a:rPr>
              <a:t>query </a:t>
            </a:r>
            <a:r>
              <a:rPr sz="2800" spc="-10" dirty="0">
                <a:latin typeface="Gill Sans MT"/>
                <a:cs typeface="Gill Sans MT"/>
              </a:rPr>
              <a:t>processor </a:t>
            </a:r>
            <a:r>
              <a:rPr sz="2800" spc="-5" dirty="0">
                <a:latin typeface="Gill Sans MT"/>
                <a:cs typeface="Gill Sans MT"/>
              </a:rPr>
              <a:t>to get</a:t>
            </a:r>
            <a:r>
              <a:rPr sz="2800" spc="-15" dirty="0">
                <a:latin typeface="Gill Sans MT"/>
                <a:cs typeface="Gill Sans MT"/>
              </a:rPr>
              <a:t> answer</a:t>
            </a:r>
            <a:endParaRPr sz="2800" dirty="0">
              <a:latin typeface="Gill Sans MT"/>
              <a:cs typeface="Gill Sans MT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32331" y="609600"/>
            <a:ext cx="6030469" cy="136768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50" dirty="0"/>
              <a:t>Transaction</a:t>
            </a:r>
            <a:r>
              <a:rPr lang="en-US" sz="4400" spc="-50" dirty="0"/>
              <a:t> </a:t>
            </a:r>
            <a:r>
              <a:rPr sz="4400" dirty="0"/>
              <a:t>Management</a:t>
            </a:r>
            <a:r>
              <a:rPr lang="zh-CN" altLang="en-US" sz="4400" dirty="0"/>
              <a:t>事务处理</a:t>
            </a:r>
            <a:endParaRPr sz="4400" dirty="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16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64540" y="2001138"/>
            <a:ext cx="7597775" cy="2270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5080" indent="-343535">
              <a:lnSpc>
                <a:spcPct val="100000"/>
              </a:lnSpc>
              <a:spcBef>
                <a:spcPts val="95"/>
              </a:spcBef>
              <a:buChar char="•"/>
              <a:tabLst>
                <a:tab pos="355600" algn="l"/>
                <a:tab pos="356235" algn="l"/>
              </a:tabLst>
            </a:pPr>
            <a:r>
              <a:rPr sz="2800" spc="-5" dirty="0">
                <a:latin typeface="Gill Sans MT"/>
                <a:cs typeface="Gill Sans MT"/>
              </a:rPr>
              <a:t>A transaction is </a:t>
            </a:r>
            <a:r>
              <a:rPr sz="2800" spc="-10" dirty="0">
                <a:latin typeface="Gill Sans MT"/>
                <a:cs typeface="Gill Sans MT"/>
              </a:rPr>
              <a:t>an execution</a:t>
            </a:r>
            <a:r>
              <a:rPr lang="zh-CN" altLang="en-US" sz="2800" spc="-10" dirty="0">
                <a:latin typeface="Gill Sans MT"/>
                <a:cs typeface="Gill Sans MT"/>
              </a:rPr>
              <a:t>执行</a:t>
            </a:r>
            <a:r>
              <a:rPr sz="2800" spc="-10" dirty="0">
                <a:latin typeface="Gill Sans MT"/>
                <a:cs typeface="Gill Sans MT"/>
              </a:rPr>
              <a:t> </a:t>
            </a:r>
            <a:r>
              <a:rPr sz="2800" spc="-5" dirty="0">
                <a:latin typeface="Gill Sans MT"/>
                <a:cs typeface="Gill Sans MT"/>
              </a:rPr>
              <a:t>of a user </a:t>
            </a:r>
            <a:r>
              <a:rPr sz="2800" spc="-20" dirty="0">
                <a:latin typeface="Gill Sans MT"/>
                <a:cs typeface="Gill Sans MT"/>
              </a:rPr>
              <a:t>program </a:t>
            </a:r>
            <a:r>
              <a:rPr sz="2800" spc="-10" dirty="0">
                <a:latin typeface="Gill Sans MT"/>
                <a:cs typeface="Gill Sans MT"/>
              </a:rPr>
              <a:t>in  </a:t>
            </a:r>
            <a:r>
              <a:rPr sz="2800" spc="-5" dirty="0">
                <a:latin typeface="Gill Sans MT"/>
                <a:cs typeface="Gill Sans MT"/>
              </a:rPr>
              <a:t>a</a:t>
            </a:r>
            <a:r>
              <a:rPr sz="2800" dirty="0">
                <a:latin typeface="Gill Sans MT"/>
                <a:cs typeface="Gill Sans MT"/>
              </a:rPr>
              <a:t> </a:t>
            </a:r>
            <a:r>
              <a:rPr sz="2800" spc="-5" dirty="0">
                <a:latin typeface="Gill Sans MT"/>
                <a:cs typeface="Gill Sans MT"/>
              </a:rPr>
              <a:t>DBMS.</a:t>
            </a:r>
            <a:endParaRPr sz="2800" dirty="0">
              <a:latin typeface="Gill Sans MT"/>
              <a:cs typeface="Gill Sans MT"/>
            </a:endParaRPr>
          </a:p>
          <a:p>
            <a:pPr marL="355600" indent="-343535">
              <a:lnSpc>
                <a:spcPct val="100000"/>
              </a:lnSpc>
              <a:spcBef>
                <a:spcPts val="670"/>
              </a:spcBef>
              <a:buChar char="•"/>
              <a:tabLst>
                <a:tab pos="355600" algn="l"/>
                <a:tab pos="356235" algn="l"/>
              </a:tabLst>
            </a:pPr>
            <a:r>
              <a:rPr sz="2800" spc="-35" dirty="0">
                <a:latin typeface="Gill Sans MT"/>
                <a:cs typeface="Gill Sans MT"/>
              </a:rPr>
              <a:t>Transaction </a:t>
            </a:r>
            <a:r>
              <a:rPr sz="2800" spc="-5" dirty="0">
                <a:latin typeface="Gill Sans MT"/>
                <a:cs typeface="Gill Sans MT"/>
              </a:rPr>
              <a:t>management deals with </a:t>
            </a:r>
            <a:r>
              <a:rPr sz="2800" spc="-25" dirty="0">
                <a:latin typeface="Gill Sans MT"/>
                <a:cs typeface="Gill Sans MT"/>
              </a:rPr>
              <a:t>two</a:t>
            </a:r>
            <a:r>
              <a:rPr sz="2800" spc="75" dirty="0">
                <a:latin typeface="Gill Sans MT"/>
                <a:cs typeface="Gill Sans MT"/>
              </a:rPr>
              <a:t> </a:t>
            </a:r>
            <a:r>
              <a:rPr sz="2800" dirty="0">
                <a:latin typeface="Gill Sans MT"/>
                <a:cs typeface="Gill Sans MT"/>
              </a:rPr>
              <a:t>things:</a:t>
            </a:r>
          </a:p>
          <a:p>
            <a:pPr marL="756285" lvl="1" indent="-287020">
              <a:lnSpc>
                <a:spcPct val="100000"/>
              </a:lnSpc>
              <a:spcBef>
                <a:spcPts val="595"/>
              </a:spcBef>
              <a:buChar char="–"/>
              <a:tabLst>
                <a:tab pos="756285" algn="l"/>
                <a:tab pos="756920" algn="l"/>
              </a:tabLst>
            </a:pPr>
            <a:r>
              <a:rPr sz="2400" spc="-10" dirty="0">
                <a:latin typeface="Gill Sans MT"/>
                <a:cs typeface="Gill Sans MT"/>
              </a:rPr>
              <a:t>Concurrent execution </a:t>
            </a:r>
            <a:r>
              <a:rPr sz="2400" dirty="0">
                <a:latin typeface="Gill Sans MT"/>
                <a:cs typeface="Gill Sans MT"/>
              </a:rPr>
              <a:t>of</a:t>
            </a:r>
            <a:r>
              <a:rPr sz="2400" spc="-10" dirty="0">
                <a:latin typeface="Gill Sans MT"/>
                <a:cs typeface="Gill Sans MT"/>
              </a:rPr>
              <a:t> </a:t>
            </a:r>
            <a:r>
              <a:rPr sz="2400" dirty="0">
                <a:latin typeface="Gill Sans MT"/>
                <a:cs typeface="Gill Sans MT"/>
              </a:rPr>
              <a:t>transactions</a:t>
            </a:r>
            <a:r>
              <a:rPr lang="zh-CN" altLang="en-US" sz="2400" dirty="0">
                <a:latin typeface="Gill Sans MT"/>
                <a:cs typeface="Gill Sans MT"/>
              </a:rPr>
              <a:t>并发控制</a:t>
            </a:r>
            <a:endParaRPr sz="2400" dirty="0">
              <a:latin typeface="Gill Sans MT"/>
              <a:cs typeface="Gill Sans MT"/>
            </a:endParaRPr>
          </a:p>
          <a:p>
            <a:pPr marL="756285" lvl="1" indent="-287020">
              <a:lnSpc>
                <a:spcPct val="100000"/>
              </a:lnSpc>
              <a:spcBef>
                <a:spcPts val="575"/>
              </a:spcBef>
              <a:buChar char="–"/>
              <a:tabLst>
                <a:tab pos="756285" algn="l"/>
                <a:tab pos="756920" algn="l"/>
              </a:tabLst>
            </a:pPr>
            <a:r>
              <a:rPr sz="2400" dirty="0">
                <a:latin typeface="Gill Sans MT"/>
                <a:cs typeface="Gill Sans MT"/>
              </a:rPr>
              <a:t>Incomplete </a:t>
            </a:r>
            <a:r>
              <a:rPr sz="2400" spc="-5" dirty="0">
                <a:latin typeface="Gill Sans MT"/>
                <a:cs typeface="Gill Sans MT"/>
              </a:rPr>
              <a:t>transactions </a:t>
            </a:r>
            <a:r>
              <a:rPr sz="2400" dirty="0">
                <a:latin typeface="Gill Sans MT"/>
                <a:cs typeface="Gill Sans MT"/>
              </a:rPr>
              <a:t>and system</a:t>
            </a:r>
            <a:r>
              <a:rPr sz="2400" spc="-50" dirty="0">
                <a:latin typeface="Gill Sans MT"/>
                <a:cs typeface="Gill Sans MT"/>
              </a:rPr>
              <a:t> </a:t>
            </a:r>
            <a:r>
              <a:rPr sz="2400" dirty="0">
                <a:latin typeface="Gill Sans MT"/>
                <a:cs typeface="Gill Sans MT"/>
              </a:rPr>
              <a:t>crashes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92832" y="812038"/>
            <a:ext cx="496062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15" dirty="0"/>
              <a:t>Concurrency</a:t>
            </a:r>
            <a:r>
              <a:rPr sz="4400" spc="-35" dirty="0"/>
              <a:t> </a:t>
            </a:r>
            <a:r>
              <a:rPr sz="4400" spc="-20" dirty="0"/>
              <a:t>Control</a:t>
            </a:r>
            <a:endParaRPr sz="4400" dirty="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17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64540" y="1998091"/>
            <a:ext cx="7466330" cy="359917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10795" indent="-343535">
              <a:lnSpc>
                <a:spcPct val="100000"/>
              </a:lnSpc>
              <a:spcBef>
                <a:spcPts val="105"/>
              </a:spcBef>
              <a:buChar char="•"/>
              <a:tabLst>
                <a:tab pos="355600" algn="l"/>
                <a:tab pos="356235" algn="l"/>
              </a:tabLst>
            </a:pPr>
            <a:r>
              <a:rPr sz="3200" dirty="0">
                <a:latin typeface="Gill Sans MT"/>
                <a:cs typeface="Gill Sans MT"/>
              </a:rPr>
              <a:t>Example: </a:t>
            </a:r>
            <a:r>
              <a:rPr sz="3200" spc="-20" dirty="0">
                <a:latin typeface="Gill Sans MT"/>
                <a:cs typeface="Gill Sans MT"/>
              </a:rPr>
              <a:t>two </a:t>
            </a:r>
            <a:r>
              <a:rPr sz="3200" spc="-30" dirty="0">
                <a:latin typeface="Gill Sans MT"/>
                <a:cs typeface="Gill Sans MT"/>
              </a:rPr>
              <a:t>travel </a:t>
            </a:r>
            <a:r>
              <a:rPr sz="3200" dirty="0">
                <a:latin typeface="Gill Sans MT"/>
                <a:cs typeface="Gill Sans MT"/>
              </a:rPr>
              <a:t>agents</a:t>
            </a:r>
            <a:r>
              <a:rPr lang="zh-CN" altLang="en-US" sz="3200" dirty="0">
                <a:latin typeface="Gill Sans MT"/>
                <a:cs typeface="Gill Sans MT"/>
              </a:rPr>
              <a:t>旅行社</a:t>
            </a:r>
            <a:r>
              <a:rPr sz="3200" spc="-5" dirty="0">
                <a:latin typeface="Gill Sans MT"/>
                <a:cs typeface="Gill Sans MT"/>
              </a:rPr>
              <a:t>(A,</a:t>
            </a:r>
            <a:r>
              <a:rPr sz="3200" spc="-715" dirty="0">
                <a:latin typeface="Gill Sans MT"/>
                <a:cs typeface="Gill Sans MT"/>
              </a:rPr>
              <a:t> </a:t>
            </a:r>
            <a:r>
              <a:rPr sz="3200" dirty="0">
                <a:latin typeface="Gill Sans MT"/>
                <a:cs typeface="Gill Sans MT"/>
              </a:rPr>
              <a:t>B) </a:t>
            </a:r>
            <a:r>
              <a:rPr sz="3200" spc="-20" dirty="0">
                <a:latin typeface="Gill Sans MT"/>
                <a:cs typeface="Gill Sans MT"/>
              </a:rPr>
              <a:t>are </a:t>
            </a:r>
            <a:r>
              <a:rPr sz="3200" spc="15" dirty="0">
                <a:latin typeface="Gill Sans MT"/>
                <a:cs typeface="Gill Sans MT"/>
              </a:rPr>
              <a:t>trying  </a:t>
            </a:r>
            <a:r>
              <a:rPr sz="3200" spc="-5" dirty="0">
                <a:latin typeface="Gill Sans MT"/>
                <a:cs typeface="Gill Sans MT"/>
              </a:rPr>
              <a:t>to </a:t>
            </a:r>
            <a:r>
              <a:rPr sz="3200" dirty="0">
                <a:latin typeface="Gill Sans MT"/>
                <a:cs typeface="Gill Sans MT"/>
              </a:rPr>
              <a:t>book one </a:t>
            </a:r>
            <a:r>
              <a:rPr sz="3200" spc="-5" dirty="0">
                <a:latin typeface="Gill Sans MT"/>
                <a:cs typeface="Gill Sans MT"/>
              </a:rPr>
              <a:t>remaining </a:t>
            </a:r>
            <a:r>
              <a:rPr sz="3200" dirty="0">
                <a:latin typeface="Gill Sans MT"/>
                <a:cs typeface="Gill Sans MT"/>
              </a:rPr>
              <a:t>airline seat </a:t>
            </a:r>
            <a:r>
              <a:rPr sz="3200" spc="-20" dirty="0">
                <a:latin typeface="Gill Sans MT"/>
                <a:cs typeface="Gill Sans MT"/>
              </a:rPr>
              <a:t>(two  </a:t>
            </a:r>
            <a:r>
              <a:rPr sz="3200" dirty="0">
                <a:latin typeface="Gill Sans MT"/>
                <a:cs typeface="Gill Sans MT"/>
              </a:rPr>
              <a:t>transactions), </a:t>
            </a:r>
            <a:r>
              <a:rPr sz="3200" spc="-10" dirty="0">
                <a:latin typeface="Gill Sans MT"/>
                <a:cs typeface="Gill Sans MT"/>
              </a:rPr>
              <a:t>only </a:t>
            </a:r>
            <a:r>
              <a:rPr sz="3200" dirty="0">
                <a:latin typeface="Gill Sans MT"/>
                <a:cs typeface="Gill Sans MT"/>
              </a:rPr>
              <a:t>one transaction can  succeed </a:t>
            </a:r>
            <a:r>
              <a:rPr sz="3200" spc="-5" dirty="0">
                <a:latin typeface="Gill Sans MT"/>
                <a:cs typeface="Gill Sans MT"/>
              </a:rPr>
              <a:t>in</a:t>
            </a:r>
            <a:r>
              <a:rPr sz="3200" spc="-30" dirty="0">
                <a:latin typeface="Gill Sans MT"/>
                <a:cs typeface="Gill Sans MT"/>
              </a:rPr>
              <a:t> </a:t>
            </a:r>
            <a:r>
              <a:rPr sz="3200" dirty="0">
                <a:latin typeface="Gill Sans MT"/>
                <a:cs typeface="Gill Sans MT"/>
              </a:rPr>
              <a:t>booking.</a:t>
            </a:r>
          </a:p>
          <a:p>
            <a:pPr marL="469900">
              <a:lnSpc>
                <a:spcPct val="100000"/>
              </a:lnSpc>
              <a:spcBef>
                <a:spcPts val="530"/>
              </a:spcBef>
            </a:pPr>
            <a:r>
              <a:rPr sz="2000" dirty="0">
                <a:latin typeface="Gill Sans MT"/>
                <a:cs typeface="Gill Sans MT"/>
              </a:rPr>
              <a:t>// </a:t>
            </a:r>
            <a:r>
              <a:rPr sz="2000" spc="-5" dirty="0">
                <a:latin typeface="Gill Sans MT"/>
                <a:cs typeface="Gill Sans MT"/>
              </a:rPr>
              <a:t>num_seats is</a:t>
            </a:r>
            <a:r>
              <a:rPr sz="2000" spc="-30" dirty="0">
                <a:latin typeface="Gill Sans MT"/>
                <a:cs typeface="Gill Sans MT"/>
              </a:rPr>
              <a:t> </a:t>
            </a:r>
            <a:r>
              <a:rPr sz="2000" dirty="0">
                <a:latin typeface="Gill Sans MT"/>
                <a:cs typeface="Gill Sans MT"/>
              </a:rPr>
              <a:t>1</a:t>
            </a:r>
          </a:p>
          <a:p>
            <a:pPr marL="469900">
              <a:lnSpc>
                <a:spcPct val="100000"/>
              </a:lnSpc>
              <a:spcBef>
                <a:spcPts val="480"/>
              </a:spcBef>
            </a:pPr>
            <a:r>
              <a:rPr sz="2000" spc="-20" dirty="0">
                <a:latin typeface="Gill Sans MT"/>
                <a:cs typeface="Gill Sans MT"/>
              </a:rPr>
              <a:t>Transactions</a:t>
            </a:r>
            <a:r>
              <a:rPr sz="2000" spc="-235" dirty="0">
                <a:latin typeface="Gill Sans MT"/>
                <a:cs typeface="Gill Sans MT"/>
              </a:rPr>
              <a:t> </a:t>
            </a:r>
            <a:r>
              <a:rPr sz="2000" dirty="0">
                <a:latin typeface="Gill Sans MT"/>
                <a:cs typeface="Gill Sans MT"/>
              </a:rPr>
              <a:t>A</a:t>
            </a:r>
            <a:r>
              <a:rPr sz="2000" spc="-5" dirty="0">
                <a:latin typeface="Gill Sans MT"/>
                <a:cs typeface="Gill Sans MT"/>
              </a:rPr>
              <a:t> and</a:t>
            </a:r>
            <a:r>
              <a:rPr sz="2000" spc="-15" dirty="0">
                <a:latin typeface="Gill Sans MT"/>
                <a:cs typeface="Gill Sans MT"/>
              </a:rPr>
              <a:t> </a:t>
            </a:r>
            <a:r>
              <a:rPr sz="2000" dirty="0">
                <a:latin typeface="Gill Sans MT"/>
                <a:cs typeface="Gill Sans MT"/>
              </a:rPr>
              <a:t>B:</a:t>
            </a:r>
            <a:r>
              <a:rPr sz="2000" spc="-195" dirty="0">
                <a:latin typeface="Gill Sans MT"/>
                <a:cs typeface="Gill Sans MT"/>
              </a:rPr>
              <a:t> </a:t>
            </a:r>
            <a:r>
              <a:rPr sz="2000" spc="-5" dirty="0">
                <a:latin typeface="Gill Sans MT"/>
                <a:cs typeface="Gill Sans MT"/>
              </a:rPr>
              <a:t>if</a:t>
            </a:r>
            <a:r>
              <a:rPr sz="2000" spc="-15" dirty="0">
                <a:latin typeface="Gill Sans MT"/>
                <a:cs typeface="Gill Sans MT"/>
              </a:rPr>
              <a:t> </a:t>
            </a:r>
            <a:r>
              <a:rPr sz="2000" spc="-5" dirty="0">
                <a:latin typeface="Gill Sans MT"/>
                <a:cs typeface="Gill Sans MT"/>
              </a:rPr>
              <a:t>num_seats</a:t>
            </a:r>
            <a:r>
              <a:rPr sz="2000" spc="-30" dirty="0">
                <a:latin typeface="Gill Sans MT"/>
                <a:cs typeface="Gill Sans MT"/>
              </a:rPr>
              <a:t> </a:t>
            </a:r>
            <a:r>
              <a:rPr sz="2000" dirty="0">
                <a:latin typeface="Gill Sans MT"/>
                <a:cs typeface="Gill Sans MT"/>
              </a:rPr>
              <a:t>&gt;</a:t>
            </a:r>
            <a:r>
              <a:rPr sz="2000" spc="-15" dirty="0">
                <a:latin typeface="Gill Sans MT"/>
                <a:cs typeface="Gill Sans MT"/>
              </a:rPr>
              <a:t> </a:t>
            </a:r>
            <a:r>
              <a:rPr sz="2000" dirty="0">
                <a:latin typeface="Gill Sans MT"/>
                <a:cs typeface="Gill Sans MT"/>
              </a:rPr>
              <a:t>0,</a:t>
            </a:r>
            <a:r>
              <a:rPr sz="2000" spc="-210" dirty="0">
                <a:latin typeface="Gill Sans MT"/>
                <a:cs typeface="Gill Sans MT"/>
              </a:rPr>
              <a:t> </a:t>
            </a:r>
            <a:r>
              <a:rPr sz="2000" dirty="0">
                <a:latin typeface="Gill Sans MT"/>
                <a:cs typeface="Gill Sans MT"/>
              </a:rPr>
              <a:t>book</a:t>
            </a:r>
            <a:r>
              <a:rPr sz="2000" spc="-35" dirty="0">
                <a:latin typeface="Gill Sans MT"/>
                <a:cs typeface="Gill Sans MT"/>
              </a:rPr>
              <a:t> </a:t>
            </a:r>
            <a:r>
              <a:rPr sz="2000" dirty="0">
                <a:latin typeface="Gill Sans MT"/>
                <a:cs typeface="Gill Sans MT"/>
              </a:rPr>
              <a:t>the</a:t>
            </a:r>
            <a:r>
              <a:rPr sz="2000" spc="-20" dirty="0">
                <a:latin typeface="Gill Sans MT"/>
                <a:cs typeface="Gill Sans MT"/>
              </a:rPr>
              <a:t> </a:t>
            </a:r>
            <a:r>
              <a:rPr sz="2000" dirty="0">
                <a:latin typeface="Gill Sans MT"/>
                <a:cs typeface="Gill Sans MT"/>
              </a:rPr>
              <a:t>seat</a:t>
            </a:r>
            <a:r>
              <a:rPr sz="2000" spc="5" dirty="0">
                <a:latin typeface="Gill Sans MT"/>
                <a:cs typeface="Gill Sans MT"/>
              </a:rPr>
              <a:t> </a:t>
            </a:r>
            <a:r>
              <a:rPr sz="2000" dirty="0">
                <a:latin typeface="Gill Sans MT"/>
                <a:cs typeface="Gill Sans MT"/>
              </a:rPr>
              <a:t>&amp;</a:t>
            </a:r>
            <a:r>
              <a:rPr sz="2000" spc="-10" dirty="0">
                <a:latin typeface="Gill Sans MT"/>
                <a:cs typeface="Gill Sans MT"/>
              </a:rPr>
              <a:t> </a:t>
            </a:r>
            <a:r>
              <a:rPr sz="2000" dirty="0">
                <a:latin typeface="Gill Sans MT"/>
                <a:cs typeface="Gill Sans MT"/>
              </a:rPr>
              <a:t>num_seat--;</a:t>
            </a:r>
          </a:p>
          <a:p>
            <a:pPr marL="927100">
              <a:lnSpc>
                <a:spcPct val="100000"/>
              </a:lnSpc>
            </a:pPr>
            <a:r>
              <a:rPr sz="2000" dirty="0">
                <a:latin typeface="Gill Sans MT"/>
                <a:cs typeface="Gill Sans MT"/>
              </a:rPr>
              <a:t>//</a:t>
            </a:r>
            <a:r>
              <a:rPr sz="2000" spc="-5" dirty="0">
                <a:latin typeface="Gill Sans MT"/>
                <a:cs typeface="Gill Sans MT"/>
              </a:rPr>
              <a:t> </a:t>
            </a:r>
            <a:r>
              <a:rPr sz="2000" spc="-10" dirty="0">
                <a:latin typeface="Gill Sans MT"/>
                <a:cs typeface="Gill Sans MT"/>
              </a:rPr>
              <a:t>overbook!</a:t>
            </a:r>
            <a:endParaRPr sz="2000" dirty="0">
              <a:latin typeface="Gill Sans MT"/>
              <a:cs typeface="Gill Sans MT"/>
            </a:endParaRPr>
          </a:p>
          <a:p>
            <a:pPr marL="355600" indent="-343535">
              <a:lnSpc>
                <a:spcPct val="100000"/>
              </a:lnSpc>
              <a:spcBef>
                <a:spcPts val="720"/>
              </a:spcBef>
              <a:buChar char="•"/>
              <a:tabLst>
                <a:tab pos="355600" algn="l"/>
                <a:tab pos="356235" algn="l"/>
              </a:tabLst>
            </a:pPr>
            <a:r>
              <a:rPr sz="3200" spc="-15" dirty="0">
                <a:latin typeface="Gill Sans MT"/>
                <a:cs typeface="Gill Sans MT"/>
              </a:rPr>
              <a:t>How </a:t>
            </a:r>
            <a:r>
              <a:rPr sz="3200" spc="-5" dirty="0">
                <a:latin typeface="Gill Sans MT"/>
                <a:cs typeface="Gill Sans MT"/>
              </a:rPr>
              <a:t>to </a:t>
            </a:r>
            <a:r>
              <a:rPr sz="3200" spc="-10" dirty="0">
                <a:latin typeface="Gill Sans MT"/>
                <a:cs typeface="Gill Sans MT"/>
              </a:rPr>
              <a:t>solve</a:t>
            </a:r>
            <a:r>
              <a:rPr sz="3200" spc="-20" dirty="0">
                <a:latin typeface="Gill Sans MT"/>
                <a:cs typeface="Gill Sans MT"/>
              </a:rPr>
              <a:t> </a:t>
            </a:r>
            <a:r>
              <a:rPr sz="3200" dirty="0">
                <a:latin typeface="Gill Sans MT"/>
                <a:cs typeface="Gill Sans MT"/>
              </a:rPr>
              <a:t>this?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4138" y="812038"/>
            <a:ext cx="733298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15" dirty="0"/>
              <a:t>Concurrency </a:t>
            </a:r>
            <a:r>
              <a:rPr sz="4400" spc="-20" dirty="0"/>
              <a:t>Control</a:t>
            </a:r>
            <a:r>
              <a:rPr sz="4400" spc="-45" dirty="0"/>
              <a:t> </a:t>
            </a:r>
            <a:r>
              <a:rPr sz="4400" spc="-5" dirty="0"/>
              <a:t>(Solution)</a:t>
            </a:r>
            <a:endParaRPr sz="4400" dirty="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18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64540" y="1943836"/>
            <a:ext cx="7640320" cy="4498667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469900">
              <a:lnSpc>
                <a:spcPct val="100000"/>
              </a:lnSpc>
              <a:spcBef>
                <a:spcPts val="580"/>
              </a:spcBef>
            </a:pPr>
            <a:r>
              <a:rPr sz="2000" dirty="0">
                <a:latin typeface="Gill Sans MT"/>
                <a:cs typeface="Gill Sans MT"/>
              </a:rPr>
              <a:t>// </a:t>
            </a:r>
            <a:r>
              <a:rPr sz="2000" spc="-5" dirty="0">
                <a:latin typeface="Gill Sans MT"/>
                <a:cs typeface="Gill Sans MT"/>
              </a:rPr>
              <a:t>num_seats is</a:t>
            </a:r>
            <a:r>
              <a:rPr sz="2000" spc="-30" dirty="0">
                <a:latin typeface="Gill Sans MT"/>
                <a:cs typeface="Gill Sans MT"/>
              </a:rPr>
              <a:t> </a:t>
            </a:r>
            <a:r>
              <a:rPr sz="2000" dirty="0">
                <a:latin typeface="Gill Sans MT"/>
                <a:cs typeface="Gill Sans MT"/>
              </a:rPr>
              <a:t>1</a:t>
            </a:r>
          </a:p>
          <a:p>
            <a:pPr marL="469900">
              <a:lnSpc>
                <a:spcPct val="100000"/>
              </a:lnSpc>
              <a:spcBef>
                <a:spcPts val="480"/>
              </a:spcBef>
            </a:pPr>
            <a:r>
              <a:rPr sz="2000" spc="-20" dirty="0">
                <a:latin typeface="Gill Sans MT"/>
                <a:cs typeface="Gill Sans MT"/>
              </a:rPr>
              <a:t>Transactions</a:t>
            </a:r>
            <a:r>
              <a:rPr sz="2000" spc="-229" dirty="0">
                <a:latin typeface="Gill Sans MT"/>
                <a:cs typeface="Gill Sans MT"/>
              </a:rPr>
              <a:t> </a:t>
            </a:r>
            <a:r>
              <a:rPr sz="2000" dirty="0">
                <a:latin typeface="Gill Sans MT"/>
                <a:cs typeface="Gill Sans MT"/>
              </a:rPr>
              <a:t>A</a:t>
            </a:r>
            <a:r>
              <a:rPr sz="2000" spc="-10" dirty="0">
                <a:latin typeface="Gill Sans MT"/>
                <a:cs typeface="Gill Sans MT"/>
              </a:rPr>
              <a:t> </a:t>
            </a:r>
            <a:r>
              <a:rPr sz="2000" dirty="0">
                <a:latin typeface="Gill Sans MT"/>
                <a:cs typeface="Gill Sans MT"/>
              </a:rPr>
              <a:t>and</a:t>
            </a:r>
            <a:r>
              <a:rPr sz="2000" spc="-15" dirty="0">
                <a:latin typeface="Gill Sans MT"/>
                <a:cs typeface="Gill Sans MT"/>
              </a:rPr>
              <a:t> </a:t>
            </a:r>
            <a:r>
              <a:rPr sz="2000" dirty="0">
                <a:latin typeface="Gill Sans MT"/>
                <a:cs typeface="Gill Sans MT"/>
              </a:rPr>
              <a:t>B:</a:t>
            </a:r>
            <a:r>
              <a:rPr sz="2000" spc="-200" dirty="0">
                <a:latin typeface="Gill Sans MT"/>
                <a:cs typeface="Gill Sans MT"/>
              </a:rPr>
              <a:t> </a:t>
            </a:r>
            <a:r>
              <a:rPr sz="2000" spc="-5" dirty="0">
                <a:latin typeface="Gill Sans MT"/>
                <a:cs typeface="Gill Sans MT"/>
              </a:rPr>
              <a:t>if</a:t>
            </a:r>
            <a:r>
              <a:rPr sz="2000" spc="-15" dirty="0">
                <a:latin typeface="Gill Sans MT"/>
                <a:cs typeface="Gill Sans MT"/>
              </a:rPr>
              <a:t> </a:t>
            </a:r>
            <a:r>
              <a:rPr sz="2000" spc="-5" dirty="0">
                <a:latin typeface="Gill Sans MT"/>
                <a:cs typeface="Gill Sans MT"/>
              </a:rPr>
              <a:t>num_seats</a:t>
            </a:r>
            <a:r>
              <a:rPr sz="2000" spc="-25" dirty="0">
                <a:latin typeface="Gill Sans MT"/>
                <a:cs typeface="Gill Sans MT"/>
              </a:rPr>
              <a:t> </a:t>
            </a:r>
            <a:r>
              <a:rPr sz="2000" dirty="0">
                <a:latin typeface="Gill Sans MT"/>
                <a:cs typeface="Gill Sans MT"/>
              </a:rPr>
              <a:t>&gt;</a:t>
            </a:r>
            <a:r>
              <a:rPr sz="2000" spc="-15" dirty="0">
                <a:latin typeface="Gill Sans MT"/>
                <a:cs typeface="Gill Sans MT"/>
              </a:rPr>
              <a:t> </a:t>
            </a:r>
            <a:r>
              <a:rPr sz="2000" dirty="0">
                <a:latin typeface="Gill Sans MT"/>
                <a:cs typeface="Gill Sans MT"/>
              </a:rPr>
              <a:t>0,</a:t>
            </a:r>
            <a:r>
              <a:rPr sz="2000" spc="-210" dirty="0">
                <a:latin typeface="Gill Sans MT"/>
                <a:cs typeface="Gill Sans MT"/>
              </a:rPr>
              <a:t> </a:t>
            </a:r>
            <a:r>
              <a:rPr sz="2000" dirty="0">
                <a:latin typeface="Gill Sans MT"/>
                <a:cs typeface="Gill Sans MT"/>
              </a:rPr>
              <a:t>book</a:t>
            </a:r>
            <a:r>
              <a:rPr sz="2000" spc="-30" dirty="0">
                <a:latin typeface="Gill Sans MT"/>
                <a:cs typeface="Gill Sans MT"/>
              </a:rPr>
              <a:t> </a:t>
            </a:r>
            <a:r>
              <a:rPr sz="2000" dirty="0">
                <a:latin typeface="Gill Sans MT"/>
                <a:cs typeface="Gill Sans MT"/>
              </a:rPr>
              <a:t>the</a:t>
            </a:r>
            <a:r>
              <a:rPr sz="2000" spc="-15" dirty="0">
                <a:latin typeface="Gill Sans MT"/>
                <a:cs typeface="Gill Sans MT"/>
              </a:rPr>
              <a:t> </a:t>
            </a:r>
            <a:r>
              <a:rPr sz="2000" spc="-5" dirty="0">
                <a:latin typeface="Gill Sans MT"/>
                <a:cs typeface="Gill Sans MT"/>
              </a:rPr>
              <a:t>seat</a:t>
            </a:r>
            <a:r>
              <a:rPr sz="2000" dirty="0">
                <a:latin typeface="Gill Sans MT"/>
                <a:cs typeface="Gill Sans MT"/>
              </a:rPr>
              <a:t> &amp;</a:t>
            </a:r>
            <a:r>
              <a:rPr sz="2000" spc="-5" dirty="0">
                <a:latin typeface="Gill Sans MT"/>
                <a:cs typeface="Gill Sans MT"/>
              </a:rPr>
              <a:t> </a:t>
            </a:r>
            <a:r>
              <a:rPr sz="2000" dirty="0">
                <a:latin typeface="Gill Sans MT"/>
                <a:cs typeface="Gill Sans MT"/>
              </a:rPr>
              <a:t>num_seat--;</a:t>
            </a:r>
          </a:p>
          <a:p>
            <a:pPr marL="927100">
              <a:lnSpc>
                <a:spcPct val="100000"/>
              </a:lnSpc>
            </a:pPr>
            <a:r>
              <a:rPr sz="2000" dirty="0">
                <a:latin typeface="Gill Sans MT"/>
                <a:cs typeface="Gill Sans MT"/>
              </a:rPr>
              <a:t>//</a:t>
            </a:r>
            <a:r>
              <a:rPr sz="2000" spc="-5" dirty="0">
                <a:latin typeface="Gill Sans MT"/>
                <a:cs typeface="Gill Sans MT"/>
              </a:rPr>
              <a:t> </a:t>
            </a:r>
            <a:r>
              <a:rPr sz="2000" spc="-10" dirty="0">
                <a:latin typeface="Gill Sans MT"/>
                <a:cs typeface="Gill Sans MT"/>
              </a:rPr>
              <a:t>overbook!</a:t>
            </a:r>
            <a:endParaRPr sz="2000" dirty="0">
              <a:latin typeface="Gill Sans MT"/>
              <a:cs typeface="Gill Sans MT"/>
            </a:endParaRPr>
          </a:p>
          <a:p>
            <a:pPr marL="355600" indent="-343535">
              <a:lnSpc>
                <a:spcPct val="100000"/>
              </a:lnSpc>
              <a:spcBef>
                <a:spcPts val="720"/>
              </a:spcBef>
              <a:buChar char="•"/>
              <a:tabLst>
                <a:tab pos="355600" algn="l"/>
                <a:tab pos="356235" algn="l"/>
              </a:tabLst>
            </a:pPr>
            <a:r>
              <a:rPr sz="3200" dirty="0">
                <a:latin typeface="Gill Sans MT"/>
                <a:cs typeface="Gill Sans MT"/>
              </a:rPr>
              <a:t>Solution: use </a:t>
            </a:r>
            <a:r>
              <a:rPr sz="3200" spc="-5" dirty="0">
                <a:latin typeface="Gill Sans MT"/>
                <a:cs typeface="Gill Sans MT"/>
              </a:rPr>
              <a:t>locking</a:t>
            </a:r>
            <a:r>
              <a:rPr sz="3200" spc="-400" dirty="0">
                <a:latin typeface="Gill Sans MT"/>
                <a:cs typeface="Gill Sans MT"/>
              </a:rPr>
              <a:t> </a:t>
            </a:r>
            <a:r>
              <a:rPr sz="3200" spc="-10" dirty="0">
                <a:latin typeface="Gill Sans MT"/>
                <a:cs typeface="Gill Sans MT"/>
              </a:rPr>
              <a:t>protocol</a:t>
            </a:r>
            <a:r>
              <a:rPr lang="zh-CN" altLang="en-US" sz="3200" spc="-10" dirty="0">
                <a:latin typeface="Gill Sans MT"/>
                <a:cs typeface="Gill Sans MT"/>
              </a:rPr>
              <a:t>锁协议</a:t>
            </a:r>
            <a:endParaRPr sz="3200" dirty="0">
              <a:latin typeface="Gill Sans MT"/>
              <a:cs typeface="Gill Sans MT"/>
            </a:endParaRPr>
          </a:p>
          <a:p>
            <a:pPr marL="756285" marR="1322705" indent="-287020">
              <a:lnSpc>
                <a:spcPct val="120000"/>
              </a:lnSpc>
              <a:spcBef>
                <a:spcPts val="50"/>
              </a:spcBef>
            </a:pPr>
            <a:r>
              <a:rPr sz="2000" spc="-25" dirty="0">
                <a:latin typeface="Gill Sans MT"/>
                <a:cs typeface="Gill Sans MT"/>
              </a:rPr>
              <a:t>Transaction </a:t>
            </a:r>
            <a:r>
              <a:rPr sz="2000" dirty="0">
                <a:latin typeface="Gill Sans MT"/>
                <a:cs typeface="Gill Sans MT"/>
              </a:rPr>
              <a:t>A: </a:t>
            </a:r>
            <a:r>
              <a:rPr sz="2000" spc="-5" dirty="0">
                <a:latin typeface="Gill Sans MT"/>
                <a:cs typeface="Gill Sans MT"/>
              </a:rPr>
              <a:t>get exclusive lock</a:t>
            </a:r>
            <a:r>
              <a:rPr lang="zh-CN" altLang="en-US" sz="2000" spc="-5" dirty="0">
                <a:latin typeface="Gill Sans MT"/>
                <a:cs typeface="Gill Sans MT"/>
              </a:rPr>
              <a:t>独占锁</a:t>
            </a:r>
            <a:r>
              <a:rPr sz="2000" dirty="0">
                <a:latin typeface="Gill Sans MT"/>
                <a:cs typeface="Gill Sans MT"/>
              </a:rPr>
              <a:t>on </a:t>
            </a:r>
            <a:r>
              <a:rPr sz="2000" spc="-5" dirty="0">
                <a:solidFill>
                  <a:srgbClr val="CC3300"/>
                </a:solidFill>
                <a:latin typeface="Gill Sans MT"/>
                <a:cs typeface="Gill Sans MT"/>
              </a:rPr>
              <a:t>num_seats  </a:t>
            </a:r>
            <a:r>
              <a:rPr sz="2000" spc="-25" dirty="0">
                <a:latin typeface="Gill Sans MT"/>
                <a:cs typeface="Gill Sans MT"/>
              </a:rPr>
              <a:t>Transaction</a:t>
            </a:r>
            <a:r>
              <a:rPr sz="2000" spc="-35" dirty="0">
                <a:latin typeface="Gill Sans MT"/>
                <a:cs typeface="Gill Sans MT"/>
              </a:rPr>
              <a:t> </a:t>
            </a:r>
            <a:r>
              <a:rPr sz="2000" dirty="0">
                <a:latin typeface="Gill Sans MT"/>
                <a:cs typeface="Gill Sans MT"/>
              </a:rPr>
              <a:t>B:</a:t>
            </a:r>
            <a:r>
              <a:rPr sz="2000" spc="-215" dirty="0">
                <a:latin typeface="Gill Sans MT"/>
                <a:cs typeface="Gill Sans MT"/>
              </a:rPr>
              <a:t> </a:t>
            </a:r>
            <a:r>
              <a:rPr sz="2000" spc="-5" dirty="0">
                <a:latin typeface="Gill Sans MT"/>
                <a:cs typeface="Gill Sans MT"/>
              </a:rPr>
              <a:t>wait</a:t>
            </a:r>
            <a:r>
              <a:rPr sz="2000" spc="-20" dirty="0">
                <a:latin typeface="Gill Sans MT"/>
                <a:cs typeface="Gill Sans MT"/>
              </a:rPr>
              <a:t> </a:t>
            </a:r>
            <a:r>
              <a:rPr sz="2000" dirty="0">
                <a:latin typeface="Gill Sans MT"/>
                <a:cs typeface="Gill Sans MT"/>
              </a:rPr>
              <a:t>until</a:t>
            </a:r>
            <a:r>
              <a:rPr sz="2000" spc="-235" dirty="0">
                <a:latin typeface="Gill Sans MT"/>
                <a:cs typeface="Gill Sans MT"/>
              </a:rPr>
              <a:t> </a:t>
            </a:r>
            <a:r>
              <a:rPr sz="2000" dirty="0">
                <a:latin typeface="Gill Sans MT"/>
                <a:cs typeface="Gill Sans MT"/>
              </a:rPr>
              <a:t>A</a:t>
            </a:r>
            <a:r>
              <a:rPr sz="2000" spc="5" dirty="0">
                <a:latin typeface="Gill Sans MT"/>
                <a:cs typeface="Gill Sans MT"/>
              </a:rPr>
              <a:t> </a:t>
            </a:r>
            <a:r>
              <a:rPr sz="2000" spc="-5" dirty="0">
                <a:latin typeface="Gill Sans MT"/>
                <a:cs typeface="Gill Sans MT"/>
              </a:rPr>
              <a:t>releases lock</a:t>
            </a:r>
            <a:r>
              <a:rPr sz="2000" spc="-15" dirty="0">
                <a:latin typeface="Gill Sans MT"/>
                <a:cs typeface="Gill Sans MT"/>
              </a:rPr>
              <a:t> </a:t>
            </a:r>
            <a:r>
              <a:rPr sz="2000" dirty="0">
                <a:latin typeface="Gill Sans MT"/>
                <a:cs typeface="Gill Sans MT"/>
              </a:rPr>
              <a:t>on</a:t>
            </a:r>
            <a:r>
              <a:rPr sz="2000" spc="-10" dirty="0">
                <a:latin typeface="Gill Sans MT"/>
                <a:cs typeface="Gill Sans MT"/>
              </a:rPr>
              <a:t> </a:t>
            </a:r>
            <a:r>
              <a:rPr sz="2000" spc="-5" dirty="0">
                <a:latin typeface="Gill Sans MT"/>
                <a:cs typeface="Gill Sans MT"/>
              </a:rPr>
              <a:t>num_seats</a:t>
            </a:r>
            <a:endParaRPr sz="2000" dirty="0">
              <a:latin typeface="Gill Sans MT"/>
              <a:cs typeface="Gill Sans MT"/>
            </a:endParaRPr>
          </a:p>
          <a:p>
            <a:pPr marL="469900">
              <a:lnSpc>
                <a:spcPct val="100000"/>
              </a:lnSpc>
              <a:spcBef>
                <a:spcPts val="480"/>
              </a:spcBef>
            </a:pPr>
            <a:r>
              <a:rPr sz="2000" spc="-25" dirty="0">
                <a:latin typeface="Gill Sans MT"/>
                <a:cs typeface="Gill Sans MT"/>
              </a:rPr>
              <a:t>Transaction</a:t>
            </a:r>
            <a:r>
              <a:rPr sz="2000" spc="-245" dirty="0">
                <a:latin typeface="Gill Sans MT"/>
                <a:cs typeface="Gill Sans MT"/>
              </a:rPr>
              <a:t> </a:t>
            </a:r>
            <a:r>
              <a:rPr sz="2000" spc="-5" dirty="0">
                <a:latin typeface="Gill Sans MT"/>
                <a:cs typeface="Gill Sans MT"/>
              </a:rPr>
              <a:t>A:</a:t>
            </a:r>
            <a:r>
              <a:rPr sz="2000" spc="-200" dirty="0">
                <a:latin typeface="Gill Sans MT"/>
                <a:cs typeface="Gill Sans MT"/>
              </a:rPr>
              <a:t> </a:t>
            </a:r>
            <a:r>
              <a:rPr sz="2000" spc="-5" dirty="0">
                <a:latin typeface="Gill Sans MT"/>
                <a:cs typeface="Gill Sans MT"/>
              </a:rPr>
              <a:t>if</a:t>
            </a:r>
            <a:r>
              <a:rPr sz="2000" spc="-15" dirty="0">
                <a:latin typeface="Gill Sans MT"/>
                <a:cs typeface="Gill Sans MT"/>
              </a:rPr>
              <a:t> </a:t>
            </a:r>
            <a:r>
              <a:rPr sz="2000" spc="-5" dirty="0">
                <a:latin typeface="Gill Sans MT"/>
                <a:cs typeface="Gill Sans MT"/>
              </a:rPr>
              <a:t>num_seats</a:t>
            </a:r>
            <a:r>
              <a:rPr sz="2000" spc="-30" dirty="0">
                <a:latin typeface="Gill Sans MT"/>
                <a:cs typeface="Gill Sans MT"/>
              </a:rPr>
              <a:t> </a:t>
            </a:r>
            <a:r>
              <a:rPr sz="2000" dirty="0">
                <a:latin typeface="Gill Sans MT"/>
                <a:cs typeface="Gill Sans MT"/>
              </a:rPr>
              <a:t>&gt;</a:t>
            </a:r>
            <a:r>
              <a:rPr sz="2000" spc="-15" dirty="0">
                <a:latin typeface="Gill Sans MT"/>
                <a:cs typeface="Gill Sans MT"/>
              </a:rPr>
              <a:t> </a:t>
            </a:r>
            <a:r>
              <a:rPr sz="2000" dirty="0">
                <a:latin typeface="Gill Sans MT"/>
                <a:cs typeface="Gill Sans MT"/>
              </a:rPr>
              <a:t>0,</a:t>
            </a:r>
            <a:r>
              <a:rPr sz="2000" spc="-215" dirty="0">
                <a:latin typeface="Gill Sans MT"/>
                <a:cs typeface="Gill Sans MT"/>
              </a:rPr>
              <a:t> </a:t>
            </a:r>
            <a:r>
              <a:rPr sz="2000" dirty="0">
                <a:latin typeface="Gill Sans MT"/>
                <a:cs typeface="Gill Sans MT"/>
              </a:rPr>
              <a:t>book</a:t>
            </a:r>
            <a:r>
              <a:rPr sz="2000" spc="-15" dirty="0">
                <a:latin typeface="Gill Sans MT"/>
                <a:cs typeface="Gill Sans MT"/>
              </a:rPr>
              <a:t> </a:t>
            </a:r>
            <a:r>
              <a:rPr sz="2000" dirty="0">
                <a:latin typeface="Gill Sans MT"/>
                <a:cs typeface="Gill Sans MT"/>
              </a:rPr>
              <a:t>&amp;</a:t>
            </a:r>
            <a:r>
              <a:rPr sz="2000" spc="-10" dirty="0">
                <a:latin typeface="Gill Sans MT"/>
                <a:cs typeface="Gill Sans MT"/>
              </a:rPr>
              <a:t> </a:t>
            </a:r>
            <a:r>
              <a:rPr sz="2000" dirty="0">
                <a:latin typeface="Gill Sans MT"/>
                <a:cs typeface="Gill Sans MT"/>
              </a:rPr>
              <a:t>num_seat--;</a:t>
            </a:r>
          </a:p>
          <a:p>
            <a:pPr marL="4585335">
              <a:lnSpc>
                <a:spcPct val="100000"/>
              </a:lnSpc>
              <a:spcBef>
                <a:spcPts val="480"/>
              </a:spcBef>
            </a:pPr>
            <a:r>
              <a:rPr sz="2000" dirty="0">
                <a:latin typeface="Gill Sans MT"/>
                <a:cs typeface="Gill Sans MT"/>
              </a:rPr>
              <a:t>// book the </a:t>
            </a:r>
            <a:r>
              <a:rPr sz="2000" spc="-5" dirty="0">
                <a:latin typeface="Gill Sans MT"/>
                <a:cs typeface="Gill Sans MT"/>
              </a:rPr>
              <a:t>seat, num_seat</a:t>
            </a:r>
            <a:r>
              <a:rPr sz="2000" spc="-300" dirty="0">
                <a:latin typeface="Gill Sans MT"/>
                <a:cs typeface="Gill Sans MT"/>
              </a:rPr>
              <a:t> </a:t>
            </a:r>
            <a:r>
              <a:rPr sz="2000" spc="-5" dirty="0">
                <a:latin typeface="Gill Sans MT"/>
                <a:cs typeface="Gill Sans MT"/>
              </a:rPr>
              <a:t>is</a:t>
            </a:r>
            <a:endParaRPr sz="2000" dirty="0">
              <a:latin typeface="Gill Sans MT"/>
              <a:cs typeface="Gill Sans MT"/>
            </a:endParaRPr>
          </a:p>
          <a:p>
            <a:pPr marL="756285">
              <a:lnSpc>
                <a:spcPct val="100000"/>
              </a:lnSpc>
            </a:pPr>
            <a:r>
              <a:rPr sz="2000" dirty="0">
                <a:latin typeface="Gill Sans MT"/>
                <a:cs typeface="Gill Sans MT"/>
              </a:rPr>
              <a:t>set to</a:t>
            </a:r>
            <a:r>
              <a:rPr sz="2000" spc="-25" dirty="0">
                <a:latin typeface="Gill Sans MT"/>
                <a:cs typeface="Gill Sans MT"/>
              </a:rPr>
              <a:t> </a:t>
            </a:r>
            <a:r>
              <a:rPr sz="2000" dirty="0">
                <a:latin typeface="Gill Sans MT"/>
                <a:cs typeface="Gill Sans MT"/>
              </a:rPr>
              <a:t>0</a:t>
            </a:r>
          </a:p>
          <a:p>
            <a:pPr marL="469900">
              <a:lnSpc>
                <a:spcPct val="100000"/>
              </a:lnSpc>
              <a:spcBef>
                <a:spcPts val="480"/>
              </a:spcBef>
            </a:pPr>
            <a:r>
              <a:rPr sz="2000" spc="-25" dirty="0">
                <a:latin typeface="Gill Sans MT"/>
                <a:cs typeface="Gill Sans MT"/>
              </a:rPr>
              <a:t>Transaction</a:t>
            </a:r>
            <a:r>
              <a:rPr sz="2000" spc="-240" dirty="0">
                <a:latin typeface="Gill Sans MT"/>
                <a:cs typeface="Gill Sans MT"/>
              </a:rPr>
              <a:t> </a:t>
            </a:r>
            <a:r>
              <a:rPr sz="2000" dirty="0">
                <a:latin typeface="Gill Sans MT"/>
                <a:cs typeface="Gill Sans MT"/>
              </a:rPr>
              <a:t>A:</a:t>
            </a:r>
            <a:r>
              <a:rPr sz="2000" spc="-204" dirty="0">
                <a:latin typeface="Gill Sans MT"/>
                <a:cs typeface="Gill Sans MT"/>
              </a:rPr>
              <a:t> </a:t>
            </a:r>
            <a:r>
              <a:rPr sz="2000" spc="-5" dirty="0">
                <a:latin typeface="Gill Sans MT"/>
                <a:cs typeface="Gill Sans MT"/>
              </a:rPr>
              <a:t>release exclusive</a:t>
            </a:r>
            <a:r>
              <a:rPr sz="2000" spc="-30" dirty="0">
                <a:latin typeface="Gill Sans MT"/>
                <a:cs typeface="Gill Sans MT"/>
              </a:rPr>
              <a:t> </a:t>
            </a:r>
            <a:r>
              <a:rPr sz="2000" spc="-5" dirty="0">
                <a:latin typeface="Gill Sans MT"/>
                <a:cs typeface="Gill Sans MT"/>
              </a:rPr>
              <a:t>lock</a:t>
            </a:r>
            <a:r>
              <a:rPr sz="2000" spc="-20" dirty="0">
                <a:latin typeface="Gill Sans MT"/>
                <a:cs typeface="Gill Sans MT"/>
              </a:rPr>
              <a:t> </a:t>
            </a:r>
            <a:r>
              <a:rPr sz="2000" dirty="0">
                <a:latin typeface="Gill Sans MT"/>
                <a:cs typeface="Gill Sans MT"/>
              </a:rPr>
              <a:t>on</a:t>
            </a:r>
            <a:r>
              <a:rPr sz="2000" spc="-15" dirty="0">
                <a:latin typeface="Gill Sans MT"/>
                <a:cs typeface="Gill Sans MT"/>
              </a:rPr>
              <a:t> </a:t>
            </a:r>
            <a:r>
              <a:rPr sz="2000" spc="-5" dirty="0">
                <a:latin typeface="Gill Sans MT"/>
                <a:cs typeface="Gill Sans MT"/>
              </a:rPr>
              <a:t>num_seats</a:t>
            </a:r>
            <a:endParaRPr sz="2000" dirty="0">
              <a:latin typeface="Gill Sans MT"/>
              <a:cs typeface="Gill Sans MT"/>
            </a:endParaRPr>
          </a:p>
          <a:p>
            <a:pPr marL="756285">
              <a:lnSpc>
                <a:spcPct val="100000"/>
              </a:lnSpc>
              <a:spcBef>
                <a:spcPts val="480"/>
              </a:spcBef>
              <a:tabLst>
                <a:tab pos="5499735" algn="l"/>
              </a:tabLst>
            </a:pPr>
            <a:r>
              <a:rPr sz="2000" spc="-25" dirty="0">
                <a:latin typeface="Gill Sans MT"/>
                <a:cs typeface="Gill Sans MT"/>
              </a:rPr>
              <a:t>Transaction </a:t>
            </a:r>
            <a:r>
              <a:rPr sz="2000" dirty="0">
                <a:latin typeface="Gill Sans MT"/>
                <a:cs typeface="Gill Sans MT"/>
              </a:rPr>
              <a:t>B: </a:t>
            </a:r>
            <a:r>
              <a:rPr sz="2000" spc="-5" dirty="0">
                <a:latin typeface="Gill Sans MT"/>
                <a:cs typeface="Gill Sans MT"/>
              </a:rPr>
              <a:t>num_seats </a:t>
            </a:r>
            <a:r>
              <a:rPr sz="2000" dirty="0">
                <a:latin typeface="Gill Sans MT"/>
                <a:cs typeface="Gill Sans MT"/>
              </a:rPr>
              <a:t>= 0,</a:t>
            </a:r>
            <a:r>
              <a:rPr sz="2000" spc="-425" dirty="0">
                <a:latin typeface="Gill Sans MT"/>
                <a:cs typeface="Gill Sans MT"/>
              </a:rPr>
              <a:t> </a:t>
            </a:r>
            <a:r>
              <a:rPr sz="2000" dirty="0">
                <a:latin typeface="Gill Sans MT"/>
                <a:cs typeface="Gill Sans MT"/>
              </a:rPr>
              <a:t>no booking;	// does not book</a:t>
            </a:r>
            <a:r>
              <a:rPr sz="2000" spc="-114" dirty="0">
                <a:latin typeface="Gill Sans MT"/>
                <a:cs typeface="Gill Sans MT"/>
              </a:rPr>
              <a:t> </a:t>
            </a:r>
            <a:r>
              <a:rPr sz="2000" dirty="0">
                <a:latin typeface="Gill Sans MT"/>
                <a:cs typeface="Gill Sans MT"/>
              </a:rPr>
              <a:t>the</a:t>
            </a:r>
          </a:p>
          <a:p>
            <a:pPr marL="756285">
              <a:lnSpc>
                <a:spcPct val="100000"/>
              </a:lnSpc>
              <a:spcBef>
                <a:spcPts val="5"/>
              </a:spcBef>
            </a:pPr>
            <a:r>
              <a:rPr sz="2000" spc="-5" dirty="0">
                <a:latin typeface="Gill Sans MT"/>
                <a:cs typeface="Gill Sans MT"/>
              </a:rPr>
              <a:t>seat</a:t>
            </a:r>
            <a:endParaRPr sz="2000" dirty="0">
              <a:latin typeface="Gill Sans MT"/>
              <a:cs typeface="Gill Sans MT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62173" y="640156"/>
            <a:ext cx="366649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5" dirty="0"/>
              <a:t>Crash</a:t>
            </a:r>
            <a:r>
              <a:rPr sz="4400" spc="-105" dirty="0"/>
              <a:t> </a:t>
            </a:r>
            <a:r>
              <a:rPr sz="4400" dirty="0"/>
              <a:t>Recovery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19</a:t>
            </a:fld>
            <a:endParaRPr dirty="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687425" y="1689938"/>
            <a:ext cx="7240270" cy="219547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har char="•"/>
              <a:tabLst>
                <a:tab pos="355600" algn="l"/>
              </a:tabLst>
            </a:pPr>
            <a:r>
              <a:rPr dirty="0"/>
              <a:t>Example: a bank transaction</a:t>
            </a:r>
            <a:r>
              <a:rPr spc="-395" dirty="0"/>
              <a:t> </a:t>
            </a:r>
            <a:r>
              <a:rPr spc="-5" dirty="0"/>
              <a:t>transfers</a:t>
            </a:r>
            <a:r>
              <a:rPr lang="zh-CN" altLang="en-US" spc="-5" dirty="0"/>
              <a:t>交易转账</a:t>
            </a:r>
            <a:endParaRPr spc="-5" dirty="0"/>
          </a:p>
          <a:p>
            <a:pPr marL="355600">
              <a:lnSpc>
                <a:spcPct val="100000"/>
              </a:lnSpc>
              <a:spcBef>
                <a:spcPts val="5"/>
              </a:spcBef>
            </a:pPr>
            <a:r>
              <a:rPr dirty="0"/>
              <a:t>$100 </a:t>
            </a:r>
            <a:r>
              <a:rPr spc="-20" dirty="0"/>
              <a:t>from </a:t>
            </a:r>
            <a:r>
              <a:rPr spc="-5" dirty="0"/>
              <a:t>account </a:t>
            </a:r>
            <a:r>
              <a:rPr dirty="0"/>
              <a:t>A </a:t>
            </a:r>
            <a:r>
              <a:rPr spc="-5" dirty="0"/>
              <a:t>to </a:t>
            </a:r>
            <a:r>
              <a:rPr dirty="0"/>
              <a:t>account</a:t>
            </a:r>
            <a:r>
              <a:rPr spc="-340" dirty="0"/>
              <a:t> </a:t>
            </a:r>
            <a:r>
              <a:rPr dirty="0"/>
              <a:t>B</a:t>
            </a:r>
          </a:p>
          <a:p>
            <a:pPr marL="469900">
              <a:lnSpc>
                <a:spcPct val="100000"/>
              </a:lnSpc>
              <a:spcBef>
                <a:spcPts val="700"/>
              </a:spcBef>
            </a:pPr>
            <a:r>
              <a:rPr sz="2800" spc="-5" dirty="0"/>
              <a:t>A = A -</a:t>
            </a:r>
            <a:r>
              <a:rPr sz="2800" spc="-295" dirty="0"/>
              <a:t> </a:t>
            </a:r>
            <a:r>
              <a:rPr sz="2800" spc="-5" dirty="0"/>
              <a:t>$100</a:t>
            </a:r>
            <a:endParaRPr sz="2800" dirty="0"/>
          </a:p>
        </p:txBody>
      </p:sp>
      <p:sp>
        <p:nvSpPr>
          <p:cNvPr id="4" name="object 4"/>
          <p:cNvSpPr txBox="1"/>
          <p:nvPr/>
        </p:nvSpPr>
        <p:spPr>
          <a:xfrm>
            <a:off x="4345685" y="3390138"/>
            <a:ext cx="300609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latin typeface="Gill Sans MT"/>
                <a:cs typeface="Gill Sans MT"/>
              </a:rPr>
              <a:t>// </a:t>
            </a:r>
            <a:r>
              <a:rPr sz="2800" spc="-10" dirty="0">
                <a:latin typeface="Gill Sans MT"/>
                <a:cs typeface="Gill Sans MT"/>
              </a:rPr>
              <a:t>good for </a:t>
            </a:r>
            <a:r>
              <a:rPr sz="2800" spc="-5" dirty="0">
                <a:latin typeface="Gill Sans MT"/>
                <a:cs typeface="Gill Sans MT"/>
              </a:rPr>
              <a:t>the</a:t>
            </a:r>
            <a:r>
              <a:rPr sz="2800" spc="-30" dirty="0">
                <a:latin typeface="Gill Sans MT"/>
                <a:cs typeface="Gill Sans MT"/>
              </a:rPr>
              <a:t> </a:t>
            </a:r>
            <a:r>
              <a:rPr sz="2800" spc="-5" dirty="0">
                <a:latin typeface="Gill Sans MT"/>
                <a:cs typeface="Gill Sans MT"/>
              </a:rPr>
              <a:t>bank!</a:t>
            </a:r>
            <a:endParaRPr sz="2800">
              <a:latin typeface="Gill Sans MT"/>
              <a:cs typeface="Gill Sans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87425" y="3962400"/>
            <a:ext cx="3436620" cy="16332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 marR="97790" indent="286385">
              <a:lnSpc>
                <a:spcPct val="120000"/>
              </a:lnSpc>
              <a:spcBef>
                <a:spcPts val="100"/>
              </a:spcBef>
            </a:pPr>
            <a:r>
              <a:rPr sz="2800" spc="-5" dirty="0">
                <a:latin typeface="Gill Sans MT"/>
                <a:cs typeface="Gill Sans MT"/>
              </a:rPr>
              <a:t>&lt;system</a:t>
            </a:r>
            <a:r>
              <a:rPr sz="2800" spc="-60" dirty="0">
                <a:latin typeface="Gill Sans MT"/>
                <a:cs typeface="Gill Sans MT"/>
              </a:rPr>
              <a:t> </a:t>
            </a:r>
            <a:r>
              <a:rPr sz="2800" spc="-5" dirty="0">
                <a:latin typeface="Gill Sans MT"/>
                <a:cs typeface="Gill Sans MT"/>
              </a:rPr>
              <a:t>crashes&gt;  B = B +</a:t>
            </a:r>
            <a:r>
              <a:rPr sz="2800" spc="-35" dirty="0">
                <a:latin typeface="Gill Sans MT"/>
                <a:cs typeface="Gill Sans MT"/>
              </a:rPr>
              <a:t> </a:t>
            </a:r>
            <a:r>
              <a:rPr sz="2800" dirty="0">
                <a:latin typeface="Gill Sans MT"/>
                <a:cs typeface="Gill Sans MT"/>
              </a:rPr>
              <a:t>$100</a:t>
            </a:r>
          </a:p>
          <a:p>
            <a:pPr marL="355600" indent="-342900">
              <a:lnSpc>
                <a:spcPct val="100000"/>
              </a:lnSpc>
              <a:spcBef>
                <a:spcPts val="750"/>
              </a:spcBef>
              <a:buChar char="•"/>
              <a:tabLst>
                <a:tab pos="354965" algn="l"/>
                <a:tab pos="355600" algn="l"/>
              </a:tabLst>
            </a:pPr>
            <a:r>
              <a:rPr sz="3200" spc="-10" dirty="0">
                <a:latin typeface="Gill Sans MT"/>
                <a:cs typeface="Gill Sans MT"/>
              </a:rPr>
              <a:t>How </a:t>
            </a:r>
            <a:r>
              <a:rPr sz="3200" dirty="0">
                <a:latin typeface="Gill Sans MT"/>
                <a:cs typeface="Gill Sans MT"/>
              </a:rPr>
              <a:t>to </a:t>
            </a:r>
            <a:r>
              <a:rPr sz="3200" spc="-10" dirty="0">
                <a:latin typeface="Gill Sans MT"/>
                <a:cs typeface="Gill Sans MT"/>
              </a:rPr>
              <a:t>solve</a:t>
            </a:r>
            <a:r>
              <a:rPr sz="3200" spc="-80" dirty="0">
                <a:latin typeface="Gill Sans MT"/>
                <a:cs typeface="Gill Sans MT"/>
              </a:rPr>
              <a:t> </a:t>
            </a:r>
            <a:r>
              <a:rPr sz="3200" dirty="0">
                <a:latin typeface="Gill Sans MT"/>
                <a:cs typeface="Gill Sans MT"/>
              </a:rPr>
              <a:t>this?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71675" y="640156"/>
            <a:ext cx="604393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5" dirty="0"/>
              <a:t>Crash </a:t>
            </a:r>
            <a:r>
              <a:rPr sz="4400" dirty="0"/>
              <a:t>Recovery</a:t>
            </a:r>
            <a:r>
              <a:rPr sz="4400" spc="-100" dirty="0"/>
              <a:t> </a:t>
            </a:r>
            <a:r>
              <a:rPr sz="4400" spc="-5" dirty="0"/>
              <a:t>(Solution)</a:t>
            </a:r>
            <a:endParaRPr sz="440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20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687425" y="1622652"/>
            <a:ext cx="7730490" cy="4257675"/>
          </a:xfrm>
          <a:prstGeom prst="rect">
            <a:avLst/>
          </a:prstGeom>
        </p:spPr>
        <p:txBody>
          <a:bodyPr vert="horz" wrap="square" lIns="0" tIns="49530" rIns="0" bIns="0" rtlCol="0">
            <a:spAutoFit/>
          </a:bodyPr>
          <a:lstStyle/>
          <a:p>
            <a:pPr marL="469900">
              <a:lnSpc>
                <a:spcPct val="100000"/>
              </a:lnSpc>
              <a:spcBef>
                <a:spcPts val="390"/>
              </a:spcBef>
            </a:pPr>
            <a:r>
              <a:rPr sz="2400" dirty="0">
                <a:latin typeface="Gill Sans MT"/>
                <a:cs typeface="Gill Sans MT"/>
              </a:rPr>
              <a:t>A = A -</a:t>
            </a:r>
            <a:r>
              <a:rPr sz="2400" spc="-280" dirty="0">
                <a:latin typeface="Gill Sans MT"/>
                <a:cs typeface="Gill Sans MT"/>
              </a:rPr>
              <a:t> </a:t>
            </a:r>
            <a:r>
              <a:rPr sz="2400" spc="-5" dirty="0">
                <a:latin typeface="Gill Sans MT"/>
                <a:cs typeface="Gill Sans MT"/>
              </a:rPr>
              <a:t>$100</a:t>
            </a:r>
            <a:endParaRPr sz="2400" dirty="0">
              <a:latin typeface="Gill Sans MT"/>
              <a:cs typeface="Gill Sans MT"/>
            </a:endParaRPr>
          </a:p>
          <a:p>
            <a:pPr marL="756285">
              <a:lnSpc>
                <a:spcPct val="100000"/>
              </a:lnSpc>
              <a:spcBef>
                <a:spcPts val="290"/>
              </a:spcBef>
              <a:tabLst>
                <a:tab pos="3670300" algn="l"/>
              </a:tabLst>
            </a:pPr>
            <a:r>
              <a:rPr sz="2400" dirty="0">
                <a:latin typeface="Gill Sans MT"/>
                <a:cs typeface="Gill Sans MT"/>
              </a:rPr>
              <a:t>&lt;system</a:t>
            </a:r>
            <a:r>
              <a:rPr sz="2400" spc="-25" dirty="0">
                <a:latin typeface="Gill Sans MT"/>
                <a:cs typeface="Gill Sans MT"/>
              </a:rPr>
              <a:t> </a:t>
            </a:r>
            <a:r>
              <a:rPr sz="2400" dirty="0">
                <a:latin typeface="Gill Sans MT"/>
                <a:cs typeface="Gill Sans MT"/>
              </a:rPr>
              <a:t>crashes&gt;	// </a:t>
            </a:r>
            <a:r>
              <a:rPr sz="2400" spc="-10" dirty="0">
                <a:latin typeface="Gill Sans MT"/>
                <a:cs typeface="Gill Sans MT"/>
              </a:rPr>
              <a:t>good for </a:t>
            </a:r>
            <a:r>
              <a:rPr sz="2400" dirty="0">
                <a:latin typeface="Gill Sans MT"/>
                <a:cs typeface="Gill Sans MT"/>
              </a:rPr>
              <a:t>the</a:t>
            </a:r>
            <a:r>
              <a:rPr sz="2400" spc="5" dirty="0">
                <a:latin typeface="Gill Sans MT"/>
                <a:cs typeface="Gill Sans MT"/>
              </a:rPr>
              <a:t> </a:t>
            </a:r>
            <a:r>
              <a:rPr sz="2400" spc="-5" dirty="0">
                <a:latin typeface="Gill Sans MT"/>
                <a:cs typeface="Gill Sans MT"/>
              </a:rPr>
              <a:t>bank!</a:t>
            </a:r>
            <a:endParaRPr sz="2400" dirty="0">
              <a:latin typeface="Gill Sans MT"/>
              <a:cs typeface="Gill Sans MT"/>
            </a:endParaRPr>
          </a:p>
          <a:p>
            <a:pPr marL="469900">
              <a:lnSpc>
                <a:spcPct val="100000"/>
              </a:lnSpc>
              <a:spcBef>
                <a:spcPts val="290"/>
              </a:spcBef>
            </a:pPr>
            <a:r>
              <a:rPr sz="2400" dirty="0">
                <a:latin typeface="Gill Sans MT"/>
                <a:cs typeface="Gill Sans MT"/>
              </a:rPr>
              <a:t>B = B +</a:t>
            </a:r>
            <a:r>
              <a:rPr sz="2400" spc="-35" dirty="0">
                <a:latin typeface="Gill Sans MT"/>
                <a:cs typeface="Gill Sans MT"/>
              </a:rPr>
              <a:t> </a:t>
            </a:r>
            <a:r>
              <a:rPr sz="2400" spc="-5" dirty="0">
                <a:latin typeface="Gill Sans MT"/>
                <a:cs typeface="Gill Sans MT"/>
              </a:rPr>
              <a:t>$100</a:t>
            </a:r>
            <a:endParaRPr sz="2400" dirty="0">
              <a:latin typeface="Gill Sans MT"/>
              <a:cs typeface="Gill Sans MT"/>
            </a:endParaRPr>
          </a:p>
          <a:p>
            <a:pPr marL="355600" marR="149860" indent="-342900">
              <a:lnSpc>
                <a:spcPct val="90000"/>
              </a:lnSpc>
              <a:spcBef>
                <a:spcPts val="735"/>
              </a:spcBef>
              <a:buChar char="•"/>
              <a:tabLst>
                <a:tab pos="354965" algn="l"/>
                <a:tab pos="355600" algn="l"/>
              </a:tabLst>
            </a:pPr>
            <a:r>
              <a:rPr sz="3200" dirty="0">
                <a:latin typeface="Gill Sans MT"/>
                <a:cs typeface="Gill Sans MT"/>
              </a:rPr>
              <a:t>Solution: use logging, meaning that all </a:t>
            </a:r>
            <a:r>
              <a:rPr sz="3200" spc="-5" dirty="0">
                <a:latin typeface="Gill Sans MT"/>
                <a:cs typeface="Gill Sans MT"/>
              </a:rPr>
              <a:t>write  </a:t>
            </a:r>
            <a:r>
              <a:rPr sz="3200" dirty="0">
                <a:latin typeface="Gill Sans MT"/>
                <a:cs typeface="Gill Sans MT"/>
              </a:rPr>
              <a:t>operations </a:t>
            </a:r>
            <a:r>
              <a:rPr sz="3200" spc="-20" dirty="0">
                <a:latin typeface="Gill Sans MT"/>
                <a:cs typeface="Gill Sans MT"/>
              </a:rPr>
              <a:t>are </a:t>
            </a:r>
            <a:r>
              <a:rPr sz="3200" spc="-15" dirty="0">
                <a:latin typeface="Gill Sans MT"/>
                <a:cs typeface="Gill Sans MT"/>
              </a:rPr>
              <a:t>recorded </a:t>
            </a:r>
            <a:r>
              <a:rPr sz="3200" spc="-5" dirty="0">
                <a:latin typeface="Gill Sans MT"/>
                <a:cs typeface="Gill Sans MT"/>
              </a:rPr>
              <a:t>in </a:t>
            </a:r>
            <a:r>
              <a:rPr sz="3200" dirty="0">
                <a:latin typeface="Gill Sans MT"/>
                <a:cs typeface="Gill Sans MT"/>
              </a:rPr>
              <a:t>a log on a stable  </a:t>
            </a:r>
            <a:r>
              <a:rPr sz="3200" spc="10" dirty="0">
                <a:latin typeface="Gill Sans MT"/>
                <a:cs typeface="Gill Sans MT"/>
              </a:rPr>
              <a:t>storage.</a:t>
            </a:r>
            <a:endParaRPr sz="3200" dirty="0">
              <a:latin typeface="Gill Sans MT"/>
              <a:cs typeface="Gill Sans MT"/>
            </a:endParaRPr>
          </a:p>
          <a:p>
            <a:pPr marL="469900">
              <a:lnSpc>
                <a:spcPct val="100000"/>
              </a:lnSpc>
              <a:spcBef>
                <a:spcPts val="320"/>
              </a:spcBef>
              <a:tabLst>
                <a:tab pos="2755900" algn="l"/>
              </a:tabLst>
            </a:pPr>
            <a:r>
              <a:rPr sz="2400" dirty="0">
                <a:latin typeface="Gill Sans MT"/>
                <a:cs typeface="Gill Sans MT"/>
              </a:rPr>
              <a:t>A = A</a:t>
            </a:r>
            <a:r>
              <a:rPr sz="2400" spc="-265" dirty="0">
                <a:latin typeface="Gill Sans MT"/>
                <a:cs typeface="Gill Sans MT"/>
              </a:rPr>
              <a:t> </a:t>
            </a:r>
            <a:r>
              <a:rPr sz="2400" dirty="0">
                <a:latin typeface="Gill Sans MT"/>
                <a:cs typeface="Gill Sans MT"/>
              </a:rPr>
              <a:t>- </a:t>
            </a:r>
            <a:r>
              <a:rPr sz="2400" spc="-5" dirty="0">
                <a:latin typeface="Gill Sans MT"/>
                <a:cs typeface="Gill Sans MT"/>
              </a:rPr>
              <a:t>$100	</a:t>
            </a:r>
            <a:r>
              <a:rPr sz="2400" dirty="0">
                <a:latin typeface="Gill Sans MT"/>
                <a:cs typeface="Gill Sans MT"/>
              </a:rPr>
              <a:t>// </a:t>
            </a:r>
            <a:r>
              <a:rPr sz="2400" spc="-15" dirty="0">
                <a:latin typeface="Gill Sans MT"/>
                <a:cs typeface="Gill Sans MT"/>
              </a:rPr>
              <a:t>recorded </a:t>
            </a:r>
            <a:r>
              <a:rPr sz="2400" dirty="0">
                <a:latin typeface="Gill Sans MT"/>
                <a:cs typeface="Gill Sans MT"/>
              </a:rPr>
              <a:t>A value (checkpoint) </a:t>
            </a:r>
            <a:r>
              <a:rPr sz="2400" spc="-5" dirty="0">
                <a:latin typeface="Gill Sans MT"/>
                <a:cs typeface="Gill Sans MT"/>
              </a:rPr>
              <a:t>in </a:t>
            </a:r>
            <a:r>
              <a:rPr sz="2400" dirty="0">
                <a:latin typeface="Gill Sans MT"/>
                <a:cs typeface="Gill Sans MT"/>
              </a:rPr>
              <a:t>a</a:t>
            </a:r>
            <a:r>
              <a:rPr sz="2400" spc="-350" dirty="0">
                <a:latin typeface="Gill Sans MT"/>
                <a:cs typeface="Gill Sans MT"/>
              </a:rPr>
              <a:t> </a:t>
            </a:r>
            <a:r>
              <a:rPr sz="2400" spc="-5" dirty="0">
                <a:latin typeface="Gill Sans MT"/>
                <a:cs typeface="Gill Sans MT"/>
              </a:rPr>
              <a:t>log</a:t>
            </a:r>
            <a:endParaRPr sz="2400" dirty="0">
              <a:latin typeface="Gill Sans MT"/>
              <a:cs typeface="Gill Sans MT"/>
            </a:endParaRPr>
          </a:p>
          <a:p>
            <a:pPr marL="756285">
              <a:lnSpc>
                <a:spcPct val="100000"/>
              </a:lnSpc>
              <a:spcBef>
                <a:spcPts val="290"/>
              </a:spcBef>
            </a:pPr>
            <a:r>
              <a:rPr sz="2400" dirty="0">
                <a:latin typeface="Gill Sans MT"/>
                <a:cs typeface="Gill Sans MT"/>
              </a:rPr>
              <a:t>&lt;system</a:t>
            </a:r>
            <a:r>
              <a:rPr sz="2400" spc="-30" dirty="0">
                <a:latin typeface="Gill Sans MT"/>
                <a:cs typeface="Gill Sans MT"/>
              </a:rPr>
              <a:t> </a:t>
            </a:r>
            <a:r>
              <a:rPr sz="2400" dirty="0">
                <a:latin typeface="Gill Sans MT"/>
                <a:cs typeface="Gill Sans MT"/>
              </a:rPr>
              <a:t>crashes&gt;</a:t>
            </a:r>
          </a:p>
          <a:p>
            <a:pPr marL="1841500">
              <a:lnSpc>
                <a:spcPct val="100000"/>
              </a:lnSpc>
              <a:spcBef>
                <a:spcPts val="290"/>
              </a:spcBef>
            </a:pPr>
            <a:r>
              <a:rPr sz="2400" dirty="0">
                <a:latin typeface="Gill Sans MT"/>
                <a:cs typeface="Gill Sans MT"/>
              </a:rPr>
              <a:t>// </a:t>
            </a:r>
            <a:r>
              <a:rPr sz="2400" spc="5" dirty="0">
                <a:latin typeface="Gill Sans MT"/>
                <a:cs typeface="Gill Sans MT"/>
              </a:rPr>
              <a:t>start </a:t>
            </a:r>
            <a:r>
              <a:rPr sz="2400" spc="-10" dirty="0">
                <a:latin typeface="Gill Sans MT"/>
                <a:cs typeface="Gill Sans MT"/>
              </a:rPr>
              <a:t>recovery: </a:t>
            </a:r>
            <a:r>
              <a:rPr sz="2400" spc="-15" dirty="0">
                <a:latin typeface="Gill Sans MT"/>
                <a:cs typeface="Gill Sans MT"/>
              </a:rPr>
              <a:t>read </a:t>
            </a:r>
            <a:r>
              <a:rPr sz="2400" dirty="0">
                <a:latin typeface="Gill Sans MT"/>
                <a:cs typeface="Gill Sans MT"/>
              </a:rPr>
              <a:t>the </a:t>
            </a:r>
            <a:r>
              <a:rPr sz="2400" spc="-5" dirty="0">
                <a:latin typeface="Gill Sans MT"/>
                <a:cs typeface="Gill Sans MT"/>
              </a:rPr>
              <a:t>log </a:t>
            </a:r>
            <a:r>
              <a:rPr sz="2400" spc="-15" dirty="0">
                <a:latin typeface="Gill Sans MT"/>
                <a:cs typeface="Gill Sans MT"/>
              </a:rPr>
              <a:t>from</a:t>
            </a:r>
            <a:r>
              <a:rPr sz="2400" spc="-285" dirty="0">
                <a:latin typeface="Gill Sans MT"/>
                <a:cs typeface="Gill Sans MT"/>
              </a:rPr>
              <a:t> </a:t>
            </a:r>
            <a:r>
              <a:rPr sz="2400" dirty="0">
                <a:latin typeface="Gill Sans MT"/>
                <a:cs typeface="Gill Sans MT"/>
              </a:rPr>
              <a:t>disk</a:t>
            </a:r>
          </a:p>
          <a:p>
            <a:pPr marL="1841500">
              <a:lnSpc>
                <a:spcPct val="100000"/>
              </a:lnSpc>
              <a:spcBef>
                <a:spcPts val="285"/>
              </a:spcBef>
            </a:pPr>
            <a:r>
              <a:rPr sz="2400" dirty="0">
                <a:latin typeface="Gill Sans MT"/>
                <a:cs typeface="Gill Sans MT"/>
              </a:rPr>
              <a:t>//analyze, </a:t>
            </a:r>
            <a:r>
              <a:rPr sz="2400" spc="-15" dirty="0">
                <a:latin typeface="Gill Sans MT"/>
                <a:cs typeface="Gill Sans MT"/>
              </a:rPr>
              <a:t>undo,</a:t>
            </a:r>
            <a:r>
              <a:rPr sz="2400" spc="-500" dirty="0">
                <a:latin typeface="Gill Sans MT"/>
                <a:cs typeface="Gill Sans MT"/>
              </a:rPr>
              <a:t> </a:t>
            </a:r>
            <a:r>
              <a:rPr sz="2400" dirty="0">
                <a:latin typeface="Gill Sans MT"/>
                <a:cs typeface="Gill Sans MT"/>
              </a:rPr>
              <a:t>&amp; </a:t>
            </a:r>
            <a:r>
              <a:rPr sz="2400" spc="-15" dirty="0">
                <a:latin typeface="Gill Sans MT"/>
                <a:cs typeface="Gill Sans MT"/>
              </a:rPr>
              <a:t>redo</a:t>
            </a:r>
            <a:endParaRPr sz="2400" dirty="0">
              <a:latin typeface="Gill Sans MT"/>
              <a:cs typeface="Gill Sans MT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30833" y="540766"/>
            <a:ext cx="2596515" cy="1244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49605" marR="5080" indent="-63754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Overview</a:t>
            </a:r>
            <a:r>
              <a:rPr spc="-70" dirty="0"/>
              <a:t> </a:t>
            </a:r>
            <a:r>
              <a:rPr spc="-5" dirty="0"/>
              <a:t>of  DBMS</a:t>
            </a:r>
          </a:p>
        </p:txBody>
      </p:sp>
      <p:sp>
        <p:nvSpPr>
          <p:cNvPr id="3" name="object 3"/>
          <p:cNvSpPr/>
          <p:nvPr/>
        </p:nvSpPr>
        <p:spPr>
          <a:xfrm>
            <a:off x="4419600" y="228600"/>
            <a:ext cx="4279392" cy="613257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95829" y="812038"/>
            <a:ext cx="4751705" cy="136768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50" dirty="0"/>
              <a:t>Layered</a:t>
            </a:r>
            <a:r>
              <a:rPr sz="4400" spc="-535" dirty="0"/>
              <a:t> </a:t>
            </a:r>
            <a:r>
              <a:rPr sz="4400" spc="-15" dirty="0"/>
              <a:t>Architecture</a:t>
            </a:r>
            <a:r>
              <a:rPr lang="zh-CN" altLang="en-US" sz="4400" spc="-15" dirty="0"/>
              <a:t>分层架构</a:t>
            </a:r>
            <a:endParaRPr sz="4400" dirty="0"/>
          </a:p>
        </p:txBody>
      </p:sp>
      <p:graphicFrame>
        <p:nvGraphicFramePr>
          <p:cNvPr id="3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1155698"/>
              </p:ext>
            </p:extLst>
          </p:nvPr>
        </p:nvGraphicFramePr>
        <p:xfrm>
          <a:off x="432510" y="3113785"/>
          <a:ext cx="4471864" cy="320357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4718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762761">
                <a:tc>
                  <a:txBody>
                    <a:bodyPr/>
                    <a:lstStyle/>
                    <a:p>
                      <a:pPr marL="972819" marR="715010" indent="-24765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2400" dirty="0">
                          <a:solidFill>
                            <a:srgbClr val="3333CC"/>
                          </a:solidFill>
                          <a:latin typeface="+mj-lt"/>
                          <a:cs typeface="Haettenschweiler"/>
                        </a:rPr>
                        <a:t>Query</a:t>
                      </a:r>
                      <a:r>
                        <a:rPr sz="2400" spc="-75" dirty="0">
                          <a:solidFill>
                            <a:srgbClr val="3333CC"/>
                          </a:solidFill>
                          <a:latin typeface="+mj-lt"/>
                          <a:cs typeface="Haettenschweiler"/>
                        </a:rPr>
                        <a:t> </a:t>
                      </a:r>
                      <a:r>
                        <a:rPr sz="2400" spc="-5" dirty="0">
                          <a:solidFill>
                            <a:srgbClr val="3333CC"/>
                          </a:solidFill>
                          <a:latin typeface="+mj-lt"/>
                          <a:cs typeface="Haettenschweiler"/>
                        </a:rPr>
                        <a:t>Optimization </a:t>
                      </a:r>
                      <a:r>
                        <a:rPr lang="zh-CN" altLang="en-US" sz="2400" spc="-5" dirty="0">
                          <a:solidFill>
                            <a:srgbClr val="3333CC"/>
                          </a:solidFill>
                          <a:latin typeface="+mj-lt"/>
                          <a:cs typeface="Haettenschweiler"/>
                        </a:rPr>
                        <a:t>优化</a:t>
                      </a:r>
                      <a:r>
                        <a:rPr sz="2400" spc="-5" dirty="0">
                          <a:solidFill>
                            <a:srgbClr val="3333CC"/>
                          </a:solidFill>
                          <a:latin typeface="+mj-lt"/>
                          <a:cs typeface="Haettenschweiler"/>
                        </a:rPr>
                        <a:t> </a:t>
                      </a:r>
                      <a:r>
                        <a:rPr sz="2400" dirty="0">
                          <a:solidFill>
                            <a:srgbClr val="3333CC"/>
                          </a:solidFill>
                          <a:latin typeface="+mj-lt"/>
                          <a:cs typeface="Haettenschweiler"/>
                        </a:rPr>
                        <a:t>and</a:t>
                      </a:r>
                      <a:r>
                        <a:rPr sz="2400" spc="-35" dirty="0">
                          <a:solidFill>
                            <a:srgbClr val="3333CC"/>
                          </a:solidFill>
                          <a:latin typeface="+mj-lt"/>
                          <a:cs typeface="Haettenschweiler"/>
                        </a:rPr>
                        <a:t> </a:t>
                      </a:r>
                      <a:r>
                        <a:rPr sz="2400" spc="-5" dirty="0">
                          <a:solidFill>
                            <a:srgbClr val="3333CC"/>
                          </a:solidFill>
                          <a:latin typeface="+mj-lt"/>
                          <a:cs typeface="Haettenschweiler"/>
                        </a:rPr>
                        <a:t>Execution</a:t>
                      </a:r>
                      <a:r>
                        <a:rPr lang="zh-CN" altLang="en-US" sz="2400" spc="-5" dirty="0">
                          <a:solidFill>
                            <a:srgbClr val="3333CC"/>
                          </a:solidFill>
                          <a:latin typeface="+mj-lt"/>
                          <a:cs typeface="Haettenschweiler"/>
                        </a:rPr>
                        <a:t>执行</a:t>
                      </a:r>
                      <a:endParaRPr sz="2400" dirty="0">
                        <a:latin typeface="+mj-lt"/>
                        <a:cs typeface="Haettenschweiler"/>
                      </a:endParaRPr>
                    </a:p>
                  </a:txBody>
                  <a:tcPr marL="0" marR="0" marT="58419" marB="0">
                    <a:lnL w="53975">
                      <a:solidFill>
                        <a:srgbClr val="000000"/>
                      </a:solidFill>
                      <a:prstDash val="solid"/>
                    </a:lnL>
                    <a:lnR w="53975">
                      <a:solidFill>
                        <a:srgbClr val="000000"/>
                      </a:solidFill>
                      <a:prstDash val="solid"/>
                    </a:lnR>
                    <a:lnT w="539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6221"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995"/>
                        </a:spcBef>
                      </a:pPr>
                      <a:r>
                        <a:rPr sz="2400" spc="-5" dirty="0">
                          <a:solidFill>
                            <a:srgbClr val="3333CC"/>
                          </a:solidFill>
                          <a:latin typeface="+mj-lt"/>
                          <a:cs typeface="Haettenschweiler"/>
                        </a:rPr>
                        <a:t>Relational</a:t>
                      </a:r>
                      <a:r>
                        <a:rPr sz="2400" spc="-10" dirty="0">
                          <a:solidFill>
                            <a:srgbClr val="3333CC"/>
                          </a:solidFill>
                          <a:latin typeface="+mj-lt"/>
                          <a:cs typeface="Haettenschweiler"/>
                        </a:rPr>
                        <a:t> </a:t>
                      </a:r>
                      <a:r>
                        <a:rPr sz="2400" spc="-5" dirty="0">
                          <a:solidFill>
                            <a:srgbClr val="3333CC"/>
                          </a:solidFill>
                          <a:latin typeface="+mj-lt"/>
                          <a:cs typeface="Haettenschweiler"/>
                        </a:rPr>
                        <a:t>Operators</a:t>
                      </a:r>
                      <a:r>
                        <a:rPr lang="zh-CN" altLang="en-US" sz="2400" spc="-5" dirty="0">
                          <a:solidFill>
                            <a:srgbClr val="3333CC"/>
                          </a:solidFill>
                          <a:latin typeface="+mj-lt"/>
                          <a:cs typeface="Haettenschweiler"/>
                        </a:rPr>
                        <a:t>关系运算符</a:t>
                      </a:r>
                      <a:endParaRPr sz="2400" dirty="0">
                        <a:latin typeface="+mj-lt"/>
                        <a:cs typeface="Haettenschweiler"/>
                      </a:endParaRPr>
                    </a:p>
                  </a:txBody>
                  <a:tcPr marL="0" marR="0" marT="126365" marB="0">
                    <a:lnL w="53975">
                      <a:solidFill>
                        <a:srgbClr val="000000"/>
                      </a:solidFill>
                      <a:prstDash val="solid"/>
                    </a:lnL>
                    <a:lnR w="539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1905" algn="ctr">
                        <a:lnSpc>
                          <a:spcPts val="2695"/>
                        </a:lnSpc>
                        <a:spcBef>
                          <a:spcPts val="805"/>
                        </a:spcBef>
                      </a:pPr>
                      <a:r>
                        <a:rPr sz="2400" dirty="0">
                          <a:solidFill>
                            <a:srgbClr val="3333CC"/>
                          </a:solidFill>
                          <a:latin typeface="+mj-lt"/>
                          <a:cs typeface="Haettenschweiler"/>
                        </a:rPr>
                        <a:t>Files </a:t>
                      </a:r>
                      <a:r>
                        <a:rPr sz="2400" spc="-5" dirty="0">
                          <a:solidFill>
                            <a:srgbClr val="3333CC"/>
                          </a:solidFill>
                          <a:latin typeface="+mj-lt"/>
                          <a:cs typeface="Haettenschweiler"/>
                        </a:rPr>
                        <a:t>and Access</a:t>
                      </a:r>
                      <a:r>
                        <a:rPr sz="2400" spc="-40" dirty="0">
                          <a:solidFill>
                            <a:srgbClr val="3333CC"/>
                          </a:solidFill>
                          <a:latin typeface="+mj-lt"/>
                          <a:cs typeface="Haettenschweiler"/>
                        </a:rPr>
                        <a:t> </a:t>
                      </a:r>
                      <a:r>
                        <a:rPr sz="2400" spc="-5" dirty="0">
                          <a:solidFill>
                            <a:srgbClr val="3333CC"/>
                          </a:solidFill>
                          <a:latin typeface="+mj-lt"/>
                          <a:cs typeface="Haettenschweiler"/>
                        </a:rPr>
                        <a:t>Methods</a:t>
                      </a:r>
                      <a:r>
                        <a:rPr lang="zh-CN" altLang="en-US" sz="2400" spc="-5" dirty="0">
                          <a:solidFill>
                            <a:srgbClr val="3333CC"/>
                          </a:solidFill>
                          <a:latin typeface="+mj-lt"/>
                          <a:cs typeface="Haettenschweiler"/>
                        </a:rPr>
                        <a:t>文件和访问方法</a:t>
                      </a:r>
                      <a:endParaRPr sz="2400" dirty="0">
                        <a:latin typeface="+mj-lt"/>
                        <a:cs typeface="Haettenschweiler"/>
                      </a:endParaRPr>
                    </a:p>
                  </a:txBody>
                  <a:tcPr marL="0" marR="0" marT="102235" marB="0">
                    <a:lnL w="53975">
                      <a:solidFill>
                        <a:srgbClr val="000000"/>
                      </a:solidFill>
                      <a:prstDash val="solid"/>
                    </a:lnL>
                    <a:lnR w="539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1795"/>
                        </a:spcBef>
                      </a:pPr>
                      <a:r>
                        <a:rPr sz="2400" dirty="0">
                          <a:solidFill>
                            <a:srgbClr val="3333CC"/>
                          </a:solidFill>
                          <a:latin typeface="+mj-lt"/>
                          <a:cs typeface="Haettenschweiler"/>
                        </a:rPr>
                        <a:t>Buffer</a:t>
                      </a:r>
                      <a:r>
                        <a:rPr sz="2400" spc="-40" dirty="0">
                          <a:solidFill>
                            <a:srgbClr val="3333CC"/>
                          </a:solidFill>
                          <a:latin typeface="+mj-lt"/>
                          <a:cs typeface="Haettenschweiler"/>
                        </a:rPr>
                        <a:t> </a:t>
                      </a:r>
                      <a:r>
                        <a:rPr sz="2400" spc="-5" dirty="0">
                          <a:solidFill>
                            <a:srgbClr val="3333CC"/>
                          </a:solidFill>
                          <a:latin typeface="+mj-lt"/>
                          <a:cs typeface="Haettenschweiler"/>
                        </a:rPr>
                        <a:t>Management</a:t>
                      </a:r>
                      <a:r>
                        <a:rPr lang="zh-CN" altLang="en-US" sz="2400" spc="-5" dirty="0">
                          <a:solidFill>
                            <a:srgbClr val="3333CC"/>
                          </a:solidFill>
                          <a:latin typeface="+mj-lt"/>
                          <a:cs typeface="Haettenschweiler"/>
                        </a:rPr>
                        <a:t>缓冲区管理</a:t>
                      </a:r>
                      <a:endParaRPr sz="2400" dirty="0">
                        <a:latin typeface="+mj-lt"/>
                        <a:cs typeface="Haettenschweiler"/>
                      </a:endParaRPr>
                    </a:p>
                  </a:txBody>
                  <a:tcPr marL="0" marR="0" marT="227965" marB="0">
                    <a:lnL w="53975">
                      <a:solidFill>
                        <a:srgbClr val="000000"/>
                      </a:solidFill>
                      <a:prstDash val="solid"/>
                    </a:lnL>
                    <a:lnR w="539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9778">
                <a:tc>
                  <a:txBody>
                    <a:bodyPr/>
                    <a:lstStyle/>
                    <a:p>
                      <a:pPr marL="635" algn="ctr">
                        <a:lnSpc>
                          <a:spcPts val="2780"/>
                        </a:lnSpc>
                        <a:spcBef>
                          <a:spcPts val="1130"/>
                        </a:spcBef>
                      </a:pPr>
                      <a:r>
                        <a:rPr sz="2400" dirty="0">
                          <a:solidFill>
                            <a:srgbClr val="3333CC"/>
                          </a:solidFill>
                          <a:latin typeface="+mj-lt"/>
                          <a:cs typeface="Haettenschweiler"/>
                        </a:rPr>
                        <a:t>Disk Space</a:t>
                      </a:r>
                      <a:r>
                        <a:rPr sz="2400" spc="-30" dirty="0">
                          <a:solidFill>
                            <a:srgbClr val="3333CC"/>
                          </a:solidFill>
                          <a:latin typeface="+mj-lt"/>
                          <a:cs typeface="Haettenschweiler"/>
                        </a:rPr>
                        <a:t> </a:t>
                      </a:r>
                      <a:r>
                        <a:rPr sz="2400" spc="-5" dirty="0">
                          <a:solidFill>
                            <a:srgbClr val="3333CC"/>
                          </a:solidFill>
                          <a:latin typeface="+mj-lt"/>
                          <a:cs typeface="Haettenschweiler"/>
                        </a:rPr>
                        <a:t>Management</a:t>
                      </a:r>
                      <a:endParaRPr sz="2400" dirty="0">
                        <a:latin typeface="+mj-lt"/>
                        <a:cs typeface="Haettenschweiler"/>
                      </a:endParaRPr>
                    </a:p>
                  </a:txBody>
                  <a:tcPr marL="0" marR="0" marT="143510" marB="0">
                    <a:lnL w="53975">
                      <a:solidFill>
                        <a:srgbClr val="000000"/>
                      </a:solidFill>
                      <a:prstDash val="solid"/>
                    </a:lnL>
                    <a:lnR w="539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539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object 4"/>
          <p:cNvSpPr/>
          <p:nvPr/>
        </p:nvSpPr>
        <p:spPr>
          <a:xfrm>
            <a:off x="4930140" y="4276344"/>
            <a:ext cx="228600" cy="0"/>
          </a:xfrm>
          <a:custGeom>
            <a:avLst/>
            <a:gdLst/>
            <a:ahLst/>
            <a:cxnLst/>
            <a:rect l="l" t="t" r="r" b="b"/>
            <a:pathLst>
              <a:path w="228600">
                <a:moveTo>
                  <a:pt x="0" y="0"/>
                </a:moveTo>
                <a:lnTo>
                  <a:pt x="228600" y="0"/>
                </a:lnTo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158740" y="4276344"/>
            <a:ext cx="0" cy="1600200"/>
          </a:xfrm>
          <a:custGeom>
            <a:avLst/>
            <a:gdLst/>
            <a:ahLst/>
            <a:cxnLst/>
            <a:rect l="l" t="t" r="r" b="b"/>
            <a:pathLst>
              <a:path h="1600200">
                <a:moveTo>
                  <a:pt x="0" y="0"/>
                </a:moveTo>
                <a:lnTo>
                  <a:pt x="0" y="1600199"/>
                </a:lnTo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930140" y="5876544"/>
            <a:ext cx="228600" cy="0"/>
          </a:xfrm>
          <a:custGeom>
            <a:avLst/>
            <a:gdLst/>
            <a:ahLst/>
            <a:cxnLst/>
            <a:rect l="l" t="t" r="r" b="b"/>
            <a:pathLst>
              <a:path w="228600">
                <a:moveTo>
                  <a:pt x="0" y="0"/>
                </a:moveTo>
                <a:lnTo>
                  <a:pt x="228600" y="0"/>
                </a:lnTo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6172200" y="3116326"/>
            <a:ext cx="2380108" cy="1244571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2000" spc="-5" dirty="0">
                <a:latin typeface="Abadi" panose="020F0502020204030204" pitchFamily="34" charset="0"/>
                <a:cs typeface="Haettenschweiler"/>
              </a:rPr>
              <a:t>These layers  </a:t>
            </a:r>
            <a:r>
              <a:rPr sz="2000" spc="-10" dirty="0">
                <a:latin typeface="Abadi" panose="020F0502020204030204" pitchFamily="34" charset="0"/>
                <a:cs typeface="Haettenschweiler"/>
              </a:rPr>
              <a:t>must </a:t>
            </a:r>
            <a:r>
              <a:rPr sz="2000" spc="-5" dirty="0">
                <a:latin typeface="Abadi" panose="020F0502020204030204" pitchFamily="34" charset="0"/>
                <a:cs typeface="Haettenschweiler"/>
              </a:rPr>
              <a:t>consider  concurrency  control and  crash</a:t>
            </a:r>
            <a:r>
              <a:rPr sz="2000" spc="-45" dirty="0">
                <a:latin typeface="Abadi" panose="020F0502020204030204" pitchFamily="34" charset="0"/>
                <a:cs typeface="Haettenschweiler"/>
              </a:rPr>
              <a:t> </a:t>
            </a:r>
            <a:r>
              <a:rPr sz="2000" spc="-5" dirty="0">
                <a:latin typeface="Abadi" panose="020F0502020204030204" pitchFamily="34" charset="0"/>
                <a:cs typeface="Haettenschweiler"/>
              </a:rPr>
              <a:t>recovery</a:t>
            </a:r>
            <a:endParaRPr sz="2000" dirty="0">
              <a:latin typeface="Abadi" panose="020F0502020204030204" pitchFamily="34" charset="0"/>
              <a:cs typeface="Haettenschweiler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5552059" y="3999610"/>
            <a:ext cx="455930" cy="1431925"/>
          </a:xfrm>
          <a:custGeom>
            <a:avLst/>
            <a:gdLst/>
            <a:ahLst/>
            <a:cxnLst/>
            <a:rect l="l" t="t" r="r" b="b"/>
            <a:pathLst>
              <a:path w="455929" h="1431925">
                <a:moveTo>
                  <a:pt x="455549" y="0"/>
                </a:moveTo>
                <a:lnTo>
                  <a:pt x="454798" y="69360"/>
                </a:lnTo>
                <a:lnTo>
                  <a:pt x="453031" y="137856"/>
                </a:lnTo>
                <a:lnTo>
                  <a:pt x="450273" y="205414"/>
                </a:lnTo>
                <a:lnTo>
                  <a:pt x="446545" y="271961"/>
                </a:lnTo>
                <a:lnTo>
                  <a:pt x="441873" y="337422"/>
                </a:lnTo>
                <a:lnTo>
                  <a:pt x="436278" y="401724"/>
                </a:lnTo>
                <a:lnTo>
                  <a:pt x="429784" y="464793"/>
                </a:lnTo>
                <a:lnTo>
                  <a:pt x="422415" y="526554"/>
                </a:lnTo>
                <a:lnTo>
                  <a:pt x="414193" y="586936"/>
                </a:lnTo>
                <a:lnTo>
                  <a:pt x="405143" y="645862"/>
                </a:lnTo>
                <a:lnTo>
                  <a:pt x="395288" y="703261"/>
                </a:lnTo>
                <a:lnTo>
                  <a:pt x="384650" y="759058"/>
                </a:lnTo>
                <a:lnTo>
                  <a:pt x="373254" y="813178"/>
                </a:lnTo>
                <a:lnTo>
                  <a:pt x="361122" y="865549"/>
                </a:lnTo>
                <a:lnTo>
                  <a:pt x="348278" y="916097"/>
                </a:lnTo>
                <a:lnTo>
                  <a:pt x="334745" y="964748"/>
                </a:lnTo>
                <a:lnTo>
                  <a:pt x="320547" y="1011427"/>
                </a:lnTo>
                <a:lnTo>
                  <a:pt x="305708" y="1056062"/>
                </a:lnTo>
                <a:lnTo>
                  <a:pt x="290249" y="1098579"/>
                </a:lnTo>
                <a:lnTo>
                  <a:pt x="274195" y="1138903"/>
                </a:lnTo>
                <a:lnTo>
                  <a:pt x="257569" y="1176961"/>
                </a:lnTo>
                <a:lnTo>
                  <a:pt x="240394" y="1212679"/>
                </a:lnTo>
                <a:lnTo>
                  <a:pt x="204492" y="1276800"/>
                </a:lnTo>
                <a:lnTo>
                  <a:pt x="166676" y="1330676"/>
                </a:lnTo>
                <a:lnTo>
                  <a:pt x="127132" y="1373717"/>
                </a:lnTo>
                <a:lnTo>
                  <a:pt x="86046" y="1405332"/>
                </a:lnTo>
                <a:lnTo>
                  <a:pt x="43607" y="1424932"/>
                </a:lnTo>
                <a:lnTo>
                  <a:pt x="21937" y="1430041"/>
                </a:lnTo>
                <a:lnTo>
                  <a:pt x="0" y="1431925"/>
                </a:lnTo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5311140" y="5381244"/>
            <a:ext cx="228600" cy="762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069335" y="2517648"/>
            <a:ext cx="76200" cy="457200"/>
          </a:xfrm>
          <a:custGeom>
            <a:avLst/>
            <a:gdLst/>
            <a:ahLst/>
            <a:cxnLst/>
            <a:rect l="l" t="t" r="r" b="b"/>
            <a:pathLst>
              <a:path w="76200" h="457200">
                <a:moveTo>
                  <a:pt x="31750" y="381000"/>
                </a:moveTo>
                <a:lnTo>
                  <a:pt x="0" y="381000"/>
                </a:lnTo>
                <a:lnTo>
                  <a:pt x="38100" y="457200"/>
                </a:lnTo>
                <a:lnTo>
                  <a:pt x="69850" y="393700"/>
                </a:lnTo>
                <a:lnTo>
                  <a:pt x="31750" y="393700"/>
                </a:lnTo>
                <a:lnTo>
                  <a:pt x="31750" y="381000"/>
                </a:lnTo>
                <a:close/>
              </a:path>
              <a:path w="76200" h="457200">
                <a:moveTo>
                  <a:pt x="44450" y="0"/>
                </a:moveTo>
                <a:lnTo>
                  <a:pt x="31750" y="0"/>
                </a:lnTo>
                <a:lnTo>
                  <a:pt x="31750" y="393700"/>
                </a:lnTo>
                <a:lnTo>
                  <a:pt x="44450" y="393700"/>
                </a:lnTo>
                <a:lnTo>
                  <a:pt x="44450" y="0"/>
                </a:lnTo>
                <a:close/>
              </a:path>
              <a:path w="76200" h="457200">
                <a:moveTo>
                  <a:pt x="76200" y="381000"/>
                </a:moveTo>
                <a:lnTo>
                  <a:pt x="44450" y="381000"/>
                </a:lnTo>
                <a:lnTo>
                  <a:pt x="44450" y="393700"/>
                </a:lnTo>
                <a:lnTo>
                  <a:pt x="69850" y="393700"/>
                </a:lnTo>
                <a:lnTo>
                  <a:pt x="76200" y="3810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2561970" y="1995857"/>
            <a:ext cx="1346200" cy="868044"/>
          </a:xfrm>
          <a:prstGeom prst="rect">
            <a:avLst/>
          </a:prstGeom>
        </p:spPr>
        <p:txBody>
          <a:bodyPr vert="horz" wrap="square" lIns="0" tIns="127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5"/>
              </a:spcBef>
            </a:pPr>
            <a:r>
              <a:rPr sz="2400" spc="-5" dirty="0">
                <a:solidFill>
                  <a:srgbClr val="3333CC"/>
                </a:solidFill>
                <a:latin typeface="Haettenschweiler"/>
                <a:cs typeface="Haettenschweiler"/>
              </a:rPr>
              <a:t>Applications</a:t>
            </a:r>
            <a:endParaRPr sz="2400" dirty="0">
              <a:latin typeface="Haettenschweiler"/>
              <a:cs typeface="Haettenschweiler"/>
            </a:endParaRPr>
          </a:p>
          <a:p>
            <a:pPr marL="801370">
              <a:lnSpc>
                <a:spcPct val="100000"/>
              </a:lnSpc>
              <a:spcBef>
                <a:spcPts val="685"/>
              </a:spcBef>
            </a:pPr>
            <a:r>
              <a:rPr sz="1800" spc="-10" dirty="0">
                <a:latin typeface="Haettenschweiler"/>
                <a:cs typeface="Haettenschweiler"/>
              </a:rPr>
              <a:t>Qu</a:t>
            </a:r>
            <a:r>
              <a:rPr sz="1800" dirty="0">
                <a:latin typeface="Haettenschweiler"/>
                <a:cs typeface="Haettenschweiler"/>
              </a:rPr>
              <a:t>eries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22</a:t>
            </a:fld>
            <a:endParaRPr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11223" y="0"/>
            <a:ext cx="576834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dirty="0"/>
              <a:t>Application</a:t>
            </a:r>
            <a:r>
              <a:rPr sz="4400" spc="-520" dirty="0"/>
              <a:t> </a:t>
            </a:r>
            <a:r>
              <a:rPr sz="4400" spc="-15" dirty="0"/>
              <a:t>Architectures</a:t>
            </a:r>
            <a:endParaRPr sz="4400" dirty="0"/>
          </a:p>
        </p:txBody>
      </p:sp>
      <p:sp>
        <p:nvSpPr>
          <p:cNvPr id="3" name="object 3"/>
          <p:cNvSpPr/>
          <p:nvPr/>
        </p:nvSpPr>
        <p:spPr>
          <a:xfrm>
            <a:off x="1557528" y="964880"/>
            <a:ext cx="6028944" cy="340461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1149350" y="4719325"/>
            <a:ext cx="6845300" cy="13978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8110" marR="5080" indent="-118110">
              <a:lnSpc>
                <a:spcPct val="100000"/>
              </a:lnSpc>
              <a:spcBef>
                <a:spcPts val="100"/>
              </a:spcBef>
              <a:buSzPct val="94444"/>
              <a:buFont typeface="Wingdings"/>
              <a:buChar char=""/>
              <a:tabLst>
                <a:tab pos="118110" algn="l"/>
                <a:tab pos="2551430" algn="l"/>
              </a:tabLst>
            </a:pPr>
            <a:r>
              <a:rPr sz="1800" b="1" spc="-15" dirty="0">
                <a:latin typeface="Arial"/>
                <a:cs typeface="Arial"/>
              </a:rPr>
              <a:t>Two-tier</a:t>
            </a:r>
            <a:r>
              <a:rPr lang="zh-CN" altLang="en-US" sz="1800" b="1" spc="-15" dirty="0">
                <a:latin typeface="Arial"/>
                <a:cs typeface="Arial"/>
              </a:rPr>
              <a:t>双层</a:t>
            </a:r>
            <a:r>
              <a:rPr sz="1800" b="1" spc="-25" dirty="0">
                <a:latin typeface="Arial"/>
                <a:cs typeface="Arial"/>
              </a:rPr>
              <a:t> </a:t>
            </a:r>
            <a:r>
              <a:rPr sz="1800" b="1" spc="-5" dirty="0" err="1">
                <a:latin typeface="Arial"/>
                <a:cs typeface="Arial"/>
              </a:rPr>
              <a:t>architecture</a:t>
            </a:r>
            <a:r>
              <a:rPr sz="1800" spc="-5" dirty="0" err="1">
                <a:latin typeface="Arial"/>
                <a:cs typeface="Arial"/>
              </a:rPr>
              <a:t>:</a:t>
            </a:r>
            <a:r>
              <a:rPr sz="1800" dirty="0" err="1">
                <a:latin typeface="Arial"/>
                <a:cs typeface="Arial"/>
              </a:rPr>
              <a:t>E.g</a:t>
            </a:r>
            <a:r>
              <a:rPr sz="1800" dirty="0">
                <a:latin typeface="Arial"/>
                <a:cs typeface="Arial"/>
              </a:rPr>
              <a:t>. </a:t>
            </a:r>
            <a:r>
              <a:rPr sz="1800" spc="-5" dirty="0">
                <a:latin typeface="Arial"/>
                <a:cs typeface="Arial"/>
              </a:rPr>
              <a:t>client programs using ODBC</a:t>
            </a:r>
            <a:r>
              <a:rPr lang="zh-CN" altLang="en-US" sz="1800" spc="-5" dirty="0">
                <a:latin typeface="Arial"/>
                <a:cs typeface="Arial"/>
              </a:rPr>
              <a:t>以目标为导向的数据库</a:t>
            </a:r>
            <a:r>
              <a:rPr sz="1800" spc="-5" dirty="0">
                <a:latin typeface="Arial"/>
                <a:cs typeface="Arial"/>
              </a:rPr>
              <a:t>/JDBC</a:t>
            </a:r>
            <a:r>
              <a:rPr lang="zh-CN" altLang="en-US" sz="1800" spc="-5" dirty="0">
                <a:latin typeface="Arial"/>
                <a:cs typeface="Arial"/>
              </a:rPr>
              <a:t>（</a:t>
            </a:r>
            <a:r>
              <a:rPr lang="en-US" altLang="zh-CN" sz="1800" spc="-5" dirty="0">
                <a:latin typeface="Arial"/>
                <a:cs typeface="Arial"/>
              </a:rPr>
              <a:t>JAVA</a:t>
            </a:r>
            <a:r>
              <a:rPr lang="zh-CN" altLang="en-US" sz="1800" spc="-5" dirty="0">
                <a:latin typeface="Arial"/>
                <a:cs typeface="Arial"/>
              </a:rPr>
              <a:t>数据库连接）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to  </a:t>
            </a:r>
            <a:r>
              <a:rPr sz="1800" spc="-5" dirty="0">
                <a:latin typeface="Arial"/>
                <a:cs typeface="Arial"/>
              </a:rPr>
              <a:t>communicate </a:t>
            </a:r>
            <a:r>
              <a:rPr sz="1800" spc="-15" dirty="0">
                <a:latin typeface="Arial"/>
                <a:cs typeface="Arial"/>
              </a:rPr>
              <a:t>with </a:t>
            </a:r>
            <a:r>
              <a:rPr sz="1800" spc="-5" dirty="0">
                <a:latin typeface="Arial"/>
                <a:cs typeface="Arial"/>
              </a:rPr>
              <a:t>a</a:t>
            </a:r>
            <a:r>
              <a:rPr sz="1800" spc="65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database</a:t>
            </a:r>
            <a:endParaRPr sz="1800" dirty="0">
              <a:latin typeface="Arial"/>
              <a:cs typeface="Arial"/>
            </a:endParaRPr>
          </a:p>
          <a:p>
            <a:pPr marL="117475" indent="-105410">
              <a:lnSpc>
                <a:spcPct val="100000"/>
              </a:lnSpc>
              <a:buSzPct val="94444"/>
              <a:buFont typeface="Wingdings"/>
              <a:buChar char=""/>
              <a:tabLst>
                <a:tab pos="118110" algn="l"/>
              </a:tabLst>
            </a:pPr>
            <a:r>
              <a:rPr sz="1800" b="1" spc="-5" dirty="0">
                <a:latin typeface="Arial"/>
                <a:cs typeface="Arial"/>
              </a:rPr>
              <a:t>Three-tier architecture</a:t>
            </a:r>
            <a:r>
              <a:rPr sz="1800" spc="-5" dirty="0">
                <a:latin typeface="Arial"/>
                <a:cs typeface="Arial"/>
              </a:rPr>
              <a:t>: </a:t>
            </a:r>
            <a:r>
              <a:rPr sz="1800" dirty="0">
                <a:latin typeface="Arial"/>
                <a:cs typeface="Arial"/>
              </a:rPr>
              <a:t>E.g. </a:t>
            </a:r>
            <a:r>
              <a:rPr sz="1800" spc="-10" dirty="0">
                <a:latin typeface="Arial"/>
                <a:cs typeface="Arial"/>
              </a:rPr>
              <a:t>web-based </a:t>
            </a:r>
            <a:r>
              <a:rPr sz="1800" spc="-5" dirty="0">
                <a:latin typeface="Arial"/>
                <a:cs typeface="Arial"/>
              </a:rPr>
              <a:t>applications,</a:t>
            </a:r>
            <a:r>
              <a:rPr sz="1800" spc="8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and</a:t>
            </a:r>
            <a:endParaRPr sz="1800" dirty="0">
              <a:latin typeface="Arial"/>
              <a:cs typeface="Arial"/>
            </a:endParaRPr>
          </a:p>
          <a:p>
            <a:pPr marL="139065">
              <a:lnSpc>
                <a:spcPct val="100000"/>
              </a:lnSpc>
            </a:pPr>
            <a:r>
              <a:rPr sz="1800" spc="-5" dirty="0">
                <a:latin typeface="Arial"/>
                <a:cs typeface="Arial"/>
              </a:rPr>
              <a:t>applications </a:t>
            </a:r>
            <a:r>
              <a:rPr sz="1800" spc="-10" dirty="0">
                <a:latin typeface="Arial"/>
                <a:cs typeface="Arial"/>
              </a:rPr>
              <a:t>built </a:t>
            </a:r>
            <a:r>
              <a:rPr sz="1800" spc="-5" dirty="0">
                <a:latin typeface="Arial"/>
                <a:cs typeface="Arial"/>
              </a:rPr>
              <a:t>using</a:t>
            </a:r>
            <a:r>
              <a:rPr sz="1800" spc="5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“middleware”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23</a:t>
            </a:fld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230</TotalTime>
  <Words>1433</Words>
  <Application>Microsoft Office PowerPoint</Application>
  <PresentationFormat>全屏显示(4:3)</PresentationFormat>
  <Paragraphs>225</Paragraphs>
  <Slides>23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32" baseType="lpstr">
      <vt:lpstr>宋体</vt:lpstr>
      <vt:lpstr>Abadi</vt:lpstr>
      <vt:lpstr>Arial</vt:lpstr>
      <vt:lpstr>Calibri</vt:lpstr>
      <vt:lpstr>Gill Sans MT</vt:lpstr>
      <vt:lpstr>Haettenschweiler</vt:lpstr>
      <vt:lpstr>Times New Roman</vt:lpstr>
      <vt:lpstr>Wingdings</vt:lpstr>
      <vt:lpstr>Office Theme</vt:lpstr>
      <vt:lpstr>Database Design and Development</vt:lpstr>
      <vt:lpstr>Chapter 1: The Worlds of Database Systems</vt:lpstr>
      <vt:lpstr>Outline</vt:lpstr>
      <vt:lpstr>What can DBMS do for  applications?</vt:lpstr>
      <vt:lpstr>More on what can DBMS do for  applications?</vt:lpstr>
      <vt:lpstr>Alternative（替代方案） to Using a DBMS</vt:lpstr>
      <vt:lpstr>Database Management System  (DBMS)</vt:lpstr>
      <vt:lpstr>What can a DBMS do for  applications?</vt:lpstr>
      <vt:lpstr>Why Study Database Systems?</vt:lpstr>
      <vt:lpstr>Data Models</vt:lpstr>
      <vt:lpstr>Relational Model</vt:lpstr>
      <vt:lpstr>Levels of Abstractions in DBMS</vt:lpstr>
      <vt:lpstr>Example: University Database</vt:lpstr>
      <vt:lpstr>Data Independence数据独立性</vt:lpstr>
      <vt:lpstr>Queries in DBMS</vt:lpstr>
      <vt:lpstr>Transaction Management事务处理</vt:lpstr>
      <vt:lpstr>Concurrency Control</vt:lpstr>
      <vt:lpstr>Concurrency Control (Solution)</vt:lpstr>
      <vt:lpstr>Crash Recovery</vt:lpstr>
      <vt:lpstr>Crash Recovery (Solution)</vt:lpstr>
      <vt:lpstr>Overview of  DBMS</vt:lpstr>
      <vt:lpstr>Layered Architecture分层架构</vt:lpstr>
      <vt:lpstr>Application Architectures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Welcome</dc:title>
  <dc:creator>Emily Hung</dc:creator>
  <cp:lastModifiedBy>- Vel</cp:lastModifiedBy>
  <cp:revision>2</cp:revision>
  <dcterms:created xsi:type="dcterms:W3CDTF">2024-06-13T03:04:13Z</dcterms:created>
  <dcterms:modified xsi:type="dcterms:W3CDTF">2024-06-14T11:27:36Z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2024-02-24T00:00:00Z</vt:filetime>
  </property>
  <property fmtid="{D5CDD505-2E9C-101B-9397-08002B2CF9AE}" pid="3" name="Creator">
    <vt:lpwstr>Microsoft® PowerPoint® 2019</vt:lpwstr>
  </property>
  <property fmtid="{D5CDD505-2E9C-101B-9397-08002B2CF9AE}" pid="4" name="LastSaved">
    <vt:filetime>2024-06-13T00:00:00Z</vt:filetime>
  </property>
</Properties>
</file>
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slides/slide54.xml" ContentType="application/vnd.openxmlformats-officedocument.presentationml.slide+xml"/>
  <Override PartName="/ppt/slides/slide55.xml" ContentType="application/vnd.openxmlformats-officedocument.presentationml.slide+xml"/>
  <Override PartName="/ppt/slides/slide56.xml" ContentType="application/vnd.openxmlformats-officedocument.presentationml.slide+xml"/>
  <Override PartName="/ppt/slides/slide57.xml" ContentType="application/vnd.openxmlformats-officedocument.presentationml.slide+xml"/>
  <Override PartName="/ppt/slides/slide58.xml" ContentType="application/vnd.openxmlformats-officedocument.presentationml.slide+xml"/>
  <Override PartName="/ppt/slides/slide59.xml" ContentType="application/vnd.openxmlformats-officedocument.presentationml.slide+xml"/>
  <Override PartName="/ppt/slides/slide60.xml" ContentType="application/vnd.openxmlformats-officedocument.presentationml.slide+xml"/>
  <Override PartName="/ppt/slides/slide61.xml" ContentType="application/vnd.openxmlformats-officedocument.presentationml.slide+xml"/>
  <Override PartName="/ppt/slides/slide62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ink/ink1.xml" ContentType="application/inkml+xml"/>
  <Override PartName="/ppt/ink/ink2.xml" ContentType="application/inkml+xml"/>
  <Override PartName="/ppt/ink/ink3.xml" ContentType="application/inkml+xml"/>
  <Override PartName="/ppt/ink/ink4.xml" ContentType="application/inkml+xml"/>
  <Override PartName="/ppt/ink/ink5.xml" ContentType="application/inkml+xml"/>
  <Override PartName="/ppt/ink/ink6.xml" ContentType="application/inkml+xml"/>
  <Override PartName="/ppt/ink/ink7.xml" ContentType="application/inkml+xml"/>
  <Override PartName="/ppt/ink/ink8.xml" ContentType="application/inkml+xml"/>
  <Override PartName="/ppt/ink/ink9.xml" ContentType="application/inkml+xml"/>
  <Override PartName="/ppt/ink/ink10.xml" ContentType="application/inkml+xml"/>
  <Override PartName="/ppt/ink/ink11.xml" ContentType="application/inkml+xml"/>
  <Override PartName="/ppt/ink/ink12.xml" ContentType="application/inkml+xml"/>
  <Override PartName="/ppt/ink/ink13.xml" ContentType="application/inkml+xml"/>
  <Override PartName="/ppt/ink/ink14.xml" ContentType="application/inkml+xml"/>
  <Override PartName="/ppt/ink/ink15.xml" ContentType="application/inkml+xml"/>
  <Override PartName="/ppt/ink/ink16.xml" ContentType="application/inkml+xml"/>
  <Override PartName="/ppt/ink/ink17.xml" ContentType="application/inkml+xml"/>
  <Override PartName="/ppt/ink/ink18.xml" ContentType="application/inkml+xml"/>
  <Override PartName="/ppt/ink/ink19.xml" ContentType="application/inkml+xml"/>
  <Override PartName="/ppt/ink/ink20.xml" ContentType="application/inkml+xml"/>
  <Override PartName="/ppt/ink/ink21.xml" ContentType="application/inkml+xml"/>
  <Override PartName="/ppt/ink/ink22.xml" ContentType="application/inkml+xml"/>
  <Override PartName="/ppt/ink/ink23.xml" ContentType="application/inkml+xml"/>
  <Override PartName="/ppt/ink/ink24.xml" ContentType="application/inkml+xml"/>
  <Override PartName="/ppt/ink/ink25.xml" ContentType="application/inkml+xml"/>
  <Override PartName="/ppt/ink/ink26.xml" ContentType="application/inkml+xml"/>
  <Override PartName="/ppt/ink/ink27.xml" ContentType="application/inkml+xml"/>
  <Override PartName="/ppt/ink/ink28.xml" ContentType="application/inkml+xml"/>
  <Override PartName="/ppt/ink/ink29.xml" ContentType="application/inkml+xml"/>
  <Override PartName="/ppt/ink/ink30.xml" ContentType="application/inkml+xml"/>
  <Override PartName="/ppt/ink/ink31.xml" ContentType="application/inkml+xml"/>
  <Override PartName="/ppt/ink/ink32.xml" ContentType="application/inkml+xml"/>
  <Override PartName="/ppt/ink/ink33.xml" ContentType="application/inkml+xml"/>
  <Override PartName="/ppt/ink/ink34.xml" ContentType="application/inkml+xml"/>
  <Override PartName="/ppt/ink/ink35.xml" ContentType="application/inkml+xml"/>
  <Override PartName="/ppt/ink/ink36.xml" ContentType="application/inkml+xml"/>
  <Override PartName="/ppt/ink/ink37.xml" ContentType="application/inkml+xml"/>
  <Override PartName="/ppt/ink/ink38.xml" ContentType="application/inkml+xml"/>
  <Override PartName="/ppt/ink/ink39.xml" ContentType="application/inkml+xml"/>
  <Override PartName="/ppt/ink/ink40.xml" ContentType="application/inkml+xml"/>
  <Override PartName="/ppt/ink/ink41.xml" ContentType="application/inkml+xml"/>
  <Override PartName="/ppt/ink/ink42.xml" ContentType="application/inkml+xml"/>
  <Override PartName="/ppt/ink/ink43.xml" ContentType="application/inkml+xml"/>
  <Override PartName="/ppt/ink/ink44.xml" ContentType="application/inkml+xml"/>
  <Override PartName="/ppt/ink/ink45.xml" ContentType="application/inkml+xml"/>
  <Override PartName="/ppt/ink/ink46.xml" ContentType="application/inkml+xml"/>
  <Override PartName="/ppt/ink/ink47.xml" ContentType="application/inkml+xml"/>
  <Override PartName="/ppt/ink/ink48.xml" ContentType="application/inkml+xml"/>
  <Override PartName="/ppt/ink/ink49.xml" ContentType="application/inkml+xml"/>
  <Override PartName="/ppt/ink/ink50.xml" ContentType="application/inkml+xml"/>
  <Override PartName="/ppt/ink/ink51.xml" ContentType="application/inkml+xml"/>
  <Override PartName="/ppt/ink/ink52.xml" ContentType="application/inkml+xml"/>
  <Override PartName="/ppt/ink/ink53.xml" ContentType="application/inkml+xml"/>
  <Override PartName="/ppt/ink/ink54.xml" ContentType="application/inkml+xml"/>
  <Override PartName="/ppt/ink/ink55.xml" ContentType="application/inkml+xml"/>
  <Override PartName="/ppt/ink/ink56.xml" ContentType="application/inkml+xml"/>
  <Override PartName="/ppt/ink/ink57.xml" ContentType="application/inkml+xml"/>
  <Override PartName="/ppt/ink/ink58.xml" ContentType="application/inkml+xml"/>
  <Override PartName="/ppt/ink/ink59.xml" ContentType="application/inkml+xml"/>
  <Override PartName="/ppt/ink/ink60.xml" ContentType="application/inkml+xml"/>
  <Override PartName="/ppt/ink/ink61.xml" ContentType="application/inkml+xml"/>
  <Override PartName="/ppt/ink/ink62.xml" ContentType="application/inkml+xml"/>
  <Override PartName="/ppt/ink/ink63.xml" ContentType="application/inkml+xml"/>
  <Override PartName="/ppt/ink/ink64.xml" ContentType="application/inkml+xml"/>
  <Override PartName="/ppt/ink/ink65.xml" ContentType="application/inkml+xml"/>
  <Override PartName="/ppt/ink/ink66.xml" ContentType="application/inkml+xml"/>
  <Override PartName="/ppt/ink/ink67.xml" ContentType="application/inkml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78" r:id="rId24"/>
    <p:sldId id="279" r:id="rId25"/>
    <p:sldId id="280" r:id="rId26"/>
    <p:sldId id="281" r:id="rId27"/>
    <p:sldId id="282" r:id="rId28"/>
    <p:sldId id="283" r:id="rId29"/>
    <p:sldId id="284" r:id="rId30"/>
    <p:sldId id="285" r:id="rId31"/>
    <p:sldId id="286" r:id="rId32"/>
    <p:sldId id="287" r:id="rId33"/>
    <p:sldId id="288" r:id="rId34"/>
    <p:sldId id="289" r:id="rId35"/>
    <p:sldId id="290" r:id="rId36"/>
    <p:sldId id="291" r:id="rId37"/>
    <p:sldId id="292" r:id="rId38"/>
    <p:sldId id="293" r:id="rId39"/>
    <p:sldId id="294" r:id="rId40"/>
    <p:sldId id="295" r:id="rId41"/>
    <p:sldId id="296" r:id="rId42"/>
    <p:sldId id="297" r:id="rId43"/>
    <p:sldId id="298" r:id="rId44"/>
    <p:sldId id="299" r:id="rId45"/>
    <p:sldId id="300" r:id="rId46"/>
    <p:sldId id="301" r:id="rId47"/>
    <p:sldId id="302" r:id="rId48"/>
    <p:sldId id="303" r:id="rId49"/>
    <p:sldId id="304" r:id="rId50"/>
    <p:sldId id="305" r:id="rId51"/>
    <p:sldId id="306" r:id="rId52"/>
    <p:sldId id="307" r:id="rId53"/>
    <p:sldId id="308" r:id="rId54"/>
    <p:sldId id="309" r:id="rId55"/>
    <p:sldId id="310" r:id="rId56"/>
    <p:sldId id="311" r:id="rId57"/>
    <p:sldId id="312" r:id="rId58"/>
    <p:sldId id="313" r:id="rId59"/>
    <p:sldId id="314" r:id="rId60"/>
    <p:sldId id="315" r:id="rId61"/>
    <p:sldId id="316" r:id="rId62"/>
    <p:sldId id="317" r:id="rId63"/>
  </p:sldIdLst>
  <p:sldSz cx="9144000" cy="6858000" type="screen4x3"/>
  <p:notesSz cx="9144000" cy="6858000"/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71" d="100"/>
          <a:sy n="71" d="100"/>
        </p:scale>
        <p:origin x="52" y="47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26" Type="http://schemas.openxmlformats.org/officeDocument/2006/relationships/slide" Target="slides/slide25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slide" Target="slides/slide54.xml"/><Relationship Id="rId63" Type="http://schemas.openxmlformats.org/officeDocument/2006/relationships/slide" Target="slides/slide62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slide" Target="slides/slide57.xml"/><Relationship Id="rId66" Type="http://schemas.openxmlformats.org/officeDocument/2006/relationships/theme" Target="theme/theme1.xml"/><Relationship Id="rId5" Type="http://schemas.openxmlformats.org/officeDocument/2006/relationships/slide" Target="slides/slide4.xml"/><Relationship Id="rId61" Type="http://schemas.openxmlformats.org/officeDocument/2006/relationships/slide" Target="slides/slide60.xml"/><Relationship Id="rId19" Type="http://schemas.openxmlformats.org/officeDocument/2006/relationships/slide" Target="slides/slide1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slide" Target="slides/slide55.xml"/><Relationship Id="rId64" Type="http://schemas.openxmlformats.org/officeDocument/2006/relationships/presProps" Target="pres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openxmlformats.org/officeDocument/2006/relationships/slide" Target="slides/slide58.xml"/><Relationship Id="rId67" Type="http://schemas.openxmlformats.org/officeDocument/2006/relationships/tableStyles" Target="tableStyles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62" Type="http://schemas.openxmlformats.org/officeDocument/2006/relationships/slide" Target="slides/slide6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slide" Target="slides/slide56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openxmlformats.org/officeDocument/2006/relationships/slide" Target="slides/slide59.xml"/><Relationship Id="rId65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9" Type="http://schemas.openxmlformats.org/officeDocument/2006/relationships/slide" Target="slides/slide38.xml"/></Relationships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4:06.47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0,'22'2,"0"1,0 0,0 2,0 0,26 11,7 1,28 4,0-4,1-3,1-4,96-1,-67-11,-1-5,181-34,-246 31,1 1,0 3,0 2,54 2,444 16,-374-13,-150 0,-31 0,-37 0,-519-1,537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4:08.12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0,'4'1,"-1"-1,0 1,1 1,-1-1,0 0,1 1,-1-1,3 3,16 7,1-4,0 1,-1 1,26 14,-29-13,0 0,1-2,1 0,22 5,87 13,-104-22,646 60,7-59,-647-5,1 2,-1 1,51 13,88 34,-89-23,-43-17,1-1,1-1,60 2,121-8,-190-3,-18 1,-17-1,-32 1,-491 35,344-18,-96 7,-620 60,866-81,5-1,-1 1,1 2,-50 15,76-20,1 0,-1 0,0 0,1 1,-1-1,1 0,-1 0,1 1,-1-1,1 0,-1 1,1-1,0 1,-1-1,1 1,-1-1,1 1,0-1,-1 1,1 0,0-1,1 1,-1-1,0 0,0 1,0-1,1 0,-1 1,0-1,1 0,-1 1,0-1,1 0,-1 1,0-1,1 0,-1 0,0 1,1-1,-1 0,1 0,-1 0,1 0,-1 0,1 1,19 4,37 4,91 10,1550 98,-1682-117,203-3,-218 3,49-6,-46 5,-1 1,1-1,-1-1,1 1,-1 0,1-1,-1 0,0 0,0 0,3-2,-6 3,1 1,0-1,-1 1,1-1,-1 1,1-1,-1 1,1-1,-1 0,1 0,-1 1,0-1,1 0,-1 1,0-1,1 0,-1 0,0 0,0 1,0-1,0 0,0 0,0 0,0 1,0-1,0 0,-1-1,0 1,1-1,-1 1,0-1,0 1,-1-1,1 1,0 0,0 0,-1 0,1-1,0 1,-3 0,-3-4,-1 1,0 1,0 0,-10-3,-21-2,0 2</inkml:trace>
</inkml:ink>
</file>

<file path=ppt/ink/ink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6:48.30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212 156,'2443'0,"-2489"-3,0-2,1-2,-79-23,-42-7,9 4,93 18,-91-10,116 24,-1 2,-63 9,35-2,46-5,0 2,0 0,-27 11,22-7,-41 9,-2-8,-125 3,168-11,0 2,0 0,1 2,-1 0,-44 19,18 2,43-21,0 0,0 0,-1-2,-18 7,-4-4,-52 2,-11 3,13 1,-40 9,104-18,1 2,0 0,0 1,-27 15,0 3,-67 43,97-59,1 2,1-1,0 2,1 0,-15 18,26-29,0 1,0 0,0-1,0 1,0 0,1-1,-1 1,0 0,1 0,-1 0,1 0,0 0,0 0,-1 0,1 0,1-1,-1 1,0 0,0 0,1 0,-1 0,1 0,-1 0,1-1,0 1,0 0,0 0,0-1,0 1,0-1,0 1,3 1,4 5,0 0,1-1,0 0,14 8,-14-9,164 88,-40-25,-21-16,-47-24,-13 2,-42-25,-1 0,1 0,0-1,0 0,1 0,-1-1,16 3,51 1,-57-7,1 0,36 9,14 6,-43-10,0 0,-1 2,27 12,-16-4,0-1,1-2,1-2,0-1,0-2,1-2,68 2,-76-6,0 1,-1 2,51 14,-49-10,1-2,67 6,-19-10,105-11,-140 0,-2-3,1-1,-1-3,-1-1,48-26,-35 21,-49 19,0 0,-1-1,1 0,-1-1,1 0,-1 0,0-1,0 0,-1 0,0-1,12-11,-11 8,-1-1,0 1,0-1,-1-1,8-20,-12 28,-1-1,0 1,1-1,-2 1,1-1,0 0,-1 1,0-1,0 0,0 0,0 1,0-1,-1 0,0 1,1-1,-1 1,-1-1,1 1,0-1,-1 1,0 0,0 0,-3-5,1 4,0 0,-1 0,1 0,-1 1,0 0,0-1,0 2,-10-5,-51-14,57 19,-420-100,-12-3,14-37,378 122,-68-42,77 34,39 27,1 1,-1 0,1-1,-1 1,1-1,-1 1,1-1,0 1,-1-1,1 1,0-1,0 1,-1-1,1 1,0-1,0 0,0 1,-1-1,1 1,0-2,0 2,1-1,-1 1,0 0,1-1,-1 1,0 0,0 0,1-1,-1 1,1 0,-1 0,0 0,1 0,-1-1,0 1,1 0,-1 0,1 0,-1 0,0 0,1 0,-1 0,1 0,35 4,246 73,-168-43,473 148,-421-132,-111-37</inkml:trace>
</inkml:ink>
</file>

<file path=ppt/ink/ink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2.16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17,'1'1,"-1"0,0 0,1 1,-1-1,1 0,0 0,-1 0,1 0,0 0,-1 0,1 0,0-1,0 1,0 0,0 0,0-1,0 1,0 0,0-1,0 1,0-1,0 1,2-1,32 11,9-3,91 2,-124-9,646-15,-453 4,696-30,-801 38,102 10,94 25,-131-13,-51-8,600 53,-625-61,294 8,437 23,-591-9,3-1,-181-23</inkml:trace>
</inkml:ink>
</file>

<file path=ppt/ink/ink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5.15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93,'20'0,"30"-7,33-5,23-1,13 2,11 3,2 2,-4-4,-14 0,-23 1,-27 2</inkml:trace>
</inkml:ink>
</file>

<file path=ppt/ink/ink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6.20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81,'57'-2,"86"-14,-42 3,1188-37,-464 90,-482-17,96 1,1077 73,-741-10,-225-21,-369-45,355 19,-503-40,-8-1</inkml:trace>
</inkml:ink>
</file>

<file path=ppt/ink/ink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38:07.8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1,'321'14,"-173"-4,766 75,-341-25,653 54,-1092-104,206-11,-175-6,152-12,-270 12,0-3,45-15,-51 13</inkml:trace>
</inkml:ink>
</file>

<file path=ppt/ink/ink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5.09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285 53,'0'-1,"0"0,0 0,1 0,-1 0,0 0,0 0,1 0,-1 0,0 0,1 0,-1 0,1 1,-1-1,1 0,0 0,-1 0,1 1,0-1,0 0,-1 1,1-1,0 0,0 1,0-1,0 1,0 0,-1-1,1 1,0 0,0-1,0 1,0 0,0 0,0 0,0 0,0 0,0 0,0 0,0 0,0 0,0 1,2-1,6 2,0 0,-1 0,14 6,-18-7,165 72,-150-64,-1 1,0 0,29 24,1-1,155 87,-193-115,-2 0,1-1,0 0,-1 0,1-1,1-1,-1 1,0-1,0-1,1 0,14 0,-12-2,0 0,0-1,-1 0,1-1,0-1,-1 0,20-10,50-20,-52 23,-1-1,35-21,207-135,-270 168,3-2,0 0,0 0,0 0,0 0,0 0,4-5,-7 7,0 0,0 0,0 0,0-1,0 1,0 0,1 0,-1 0,0-1,0 1,0 0,0 0,0-1,0 1,0 0,0 0,0 0,0-1,0 1,0 0,0 0,-1 0,1-1,0 1,0 0,0 0,0 0,0-1,0 1,0 0,-1 0,1 0,0 0,0-1,-1 1,-15-6,-49-8,12 2,-63-6,48 14,0 3,0 3,0 4,0 2,1 3,0 2,1 4,1 3,1 2,1 4,-90 49,95-43,-313 165,363-193,1 0,-1 0,1 1,-7 5,13-9,0-1,0 1,0 0,0-1,1 1,-1 0,0 0,0-1,1 1,-1 0,0 0,1 0,-1 0,1 0,-1 0,1 0,0 0,-1 0,1 0,0 0,0 0,-1 0,1 0,0 0,0 0,0 0,1 1,-1-1,0 0,0 0,0 0,1 0,-1 0,1 0,-1 0,1 0,-1 0,1 0,-1-1,1 1,1 2,8 4,-1-1,1 1,0-1,1-1,0 0,16 5,23 11,150 71,-172-82,0-2,1 0,0-2,0-1,45 1,8-7,91-15,-5 0,-67 5,154-36,-224 39,0-1,-1-1,34-17,-35 13</inkml:trace>
</inkml:ink>
</file>

<file path=ppt/ink/ink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6.31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1,'28'1,"-1"2,47 10,14 3,288 9,3-26,-90-7,278 2,36 21,-576-14,-1 0,36 7,-50-5,-1 0,1 1,-1 0,1 0,-1 2,0-1,13 10,62 52,-45-35</inkml:trace>
</inkml:ink>
</file>

<file path=ppt/ink/ink1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4:58.9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63,'6'0,"0"1,-1 1,1-1,0 1,-1 0,1 1,-1-1,0 1,0 0,0 0,0 1,7 6,-5-4,1-1,-1 0,1 0,11 5,-1-6,0 0,0-1,0 0,0-2,0 0,29-3,-6 1,292-17,-134 4,-78 7,0-5,131-31,-167 27,0 3,90-1,178 9,-293 5,103-1,178 5,-319-1,0 1,0 0,0 2,0 1,37 16,-8-2,-8-6,1-1,0-2,0-2,1-2,48 2,-61-8</inkml:trace>
</inkml:ink>
</file>

<file path=ppt/ink/ink1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5:11.02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1,'4'0,"4"0,7 0,5 0,-1 3,3 2,-2 2,-2 1,-6-2,-10-1,-11-1,-4-3</inkml:trace>
</inkml:ink>
</file>

<file path=ppt/ink/ink1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5:15.63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0 534,'1'-2,"-1"1,1 0,-1 0,1 0,0 0,0 0,-1 0,1 0,0 1,0-1,0 0,0 0,0 1,0-1,0 0,0 1,0-1,0 1,0-1,0 1,1 0,-1-1,1 1,3-2,50-15,77-15,-45 13,241-68,-8-23,-229 69,63-24,209-35,-301 84,-37 9,-1 1,1 1,29-2,273 5,-155 4,-160-2,1 0,0 1,0 0,0 1,0 0,-1 1,1 0,-1 1,0 1,17 8,23 21,-1 2,-2 2,51 50,-67-60,40 26,22 17,-83-61,0 1,-1 1,-1 0,0 0,12 20,-10-6,-12-26,0 1,0-1,0 1,0-1,0 0,0 1,0-1,0 0,0 1,0-1,0 1,0-1,0 0,-1 1,1-1,0 0,0 1,0-1,0 0,-1 1,1-1,0 0,-1 1,0-1,0 1,1-1,-1 0,0 1,0-1,0 0,0 0,0 0,1 0,-1 0,0 0,0 0,0 0,0 0,-1-1,-14-2,0-2,0 0,-17-8,-26-9,19 12,1 2,-1 1,0 2,0 2,0 2,-64 5,47 3,0 2,1 2,0 3,-57 23,-68 32,-142 50,253-99,30-9,-56 22,-132 73,207-97,-30 12,-66 19,101-36,0 0,0-1,-1-1,1-1,-1 0,1-1,0-1,-30-4,34 1,0-1,0 0,0 0,1-1,0 0,-15-12,-5-2,-85-62,88 66,-140-87,155 96,-1 0,0 0,-1 2,1 0,-1 0,0 2,-23-4,-33-9,20 1,45 11,13 2,15 4,54 20,-54-14,0-1,1-1,0-1,0-1,31 1,-6-6,0-3,-1-2,71-18,141-52,-220 64,279-98,-73 23,77 1,-284 79,1 2,67 0,-47 4,338-33,78-3,-332 24,-36 2,408-7,7 19,-150 1,400-2,-756 0,0 1,0 0,28 6,-38-5,1 0,-1 0,0 1,0 0,0 0,0 0,0 1,-1 0,1 0,-1 0,6 8,0-2,0 0,17 12,3 2,-27-20,0 1,0-1,0 1,-1 0,1 1,-1-1,0 0,3 11,14 50,-18-57,51 169,-38-129,-14-45,0-1,0 1,0-1,0 0,0 0,-1 1,0-1,1 4,-2-6,1 0,0 0,0-1,-1 1,1 0,0 0,-1 0,1 0,-1-1,1 1,-1 0,1 0,-1-1,1 1,-1 0,0-1,1 1,-1-1,0 1,0-1,0 1,1-1,-1 0,0 1,0-1,0 0,0 1,0-1,1 0,-1 0,0 0,-2 0,-23 2,-45-4,34 0,-907-13,512 53,171-8,-250 25,412-45,-110-4,116-5,35 4,0 2,-86 21,87-15,0-2,-85 4,231-10,594 1,186-81,-13-74,-446 66,-373 79,-1 0,1 3,41 3,48-2,-119-1,0 0,1 0,-1 0,0-1,0 0,0-1,9-4,12-9</inkml:trace>
</inkml:ink>
</file>

<file path=ppt/ink/ink1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6:02.4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1 379,'3208'0,"-2451"30,-57-31,-383-8,95-31,-263 20,295-46,-48 7,249 5,-297 28,-130 7,292-47,-310 41,366 2,546 27,-668 20,-218-8,348 0,2 1,-322 4,128 5,-372-26,4 0,-38 5,-234 25,10-7,-94 7,-80 5,-83 4,-1244 72,1648-106,-1509 64,9-41,860-50,12-49,491 33,62 6</inkml:trace>
</inkml:ink>
</file>

<file path=ppt/ink/ink1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02.92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495 624,'188'16,"-39"-2,-95-13,1-3,65-10,107-28,19-4,-76 24,155-23,577-99,484 21,-1094 105,354-11,-630 29,1 0,-1 1,1 0,-1 1,0 1,-1 1,1 0,17 11,10 2,175 64,3-9,322 63,-184-77,-358-59,1-1,0 1,0-1,-1 0,1 0,0 0,-1 0,1 0,0 0,0 0,-1-1,1 1,2-1,-5-1,-1 1,1-1,-1 1,0 0,1 0,-1 0,0 0,0 0,0 0,-3-1,-79-33,-2 4,-149-34,-192-6,-333 22,7 49,725 1,-724 9,-769 4,998-42,154 4,257 19,1 6,-168 20,254-16,-1-1,0-1,-1-2,1-1,0 0,0-2,-35-7,-93-36,50 12,85 27,1 0,0-1,0-1,1-1,0 0,1-1,-30-24,37 26,0 0,1 0,0-1,1 0,0-1,0 1,1-2,0 1,0 0,1-1,1 0,0 0,-4-20,8 19,5 12,11 18,-9-10,16 17,2-1,1-1,0-1,2-2,39 23,-23-19,0-3,1-1,53 14,152 25,2-21,-217-33,493 45,3-26,-307-15,555 10,-3-49,-41-53,-698 77,151-32,-160 31,-1 2,31-2,-28 4,40-9,73-31,6-1,-101 33</inkml:trace>
</inkml:ink>
</file>

<file path=ppt/ink/ink1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24.52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0,'1014'4,"-806"-6,429 15,-414 12,275 16,-476-39,-1 0,0 1,27 9,-25-7,0 0,32 3,305-6,-188-4,-135 2</inkml:trace>
</inkml:ink>
</file>

<file path=ppt/ink/ink1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27.11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1 163,'17'0,"1"-1,30-5,-21 1,1318-109,1451 127,-2764-12,225 17,-171-6,86 10,312-7,86 8,-472-10,97 26,-4-1,-129-30,-1-4,63-3,-60-1,284-6,147 3,-252 2,383-50,-274 27,-73 8,161-40,-376 53,-47 3,-1-1,1 0,-1-1,0 0,24-8,145-48,-159 48</inkml:trace>
</inkml:ink>
</file>

<file path=ppt/ink/ink1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39.68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1 234,'40'0,"1135"-8,-7-50,-28-84,-981 117</inkml:trace>
</inkml:ink>
</file>

<file path=ppt/ink/ink1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40.7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0,'14'0,"20"7,96 15,99 11,111 0,78-3,28-6,46 0,-28-2,-32 6,-60 6,-83-4,-83-21,-78-11</inkml:trace>
</inkml:ink>
</file>

<file path=ppt/ink/ink1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7:44.09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4200 259,'-33'15,"0"-2,0-1,-55 11,-95 17,-116 8,-396 12,-307-47,1000-13,-155 0,-401-9,535 7,-1 0,1-2,1 0,-1-2,-30-11,-190-45,92 27,-301-63,423 94,20 3,-1 0,1 0,0-1,-1-1,-13-5,23 8,0 0,-1 0,1 0,0 0,0 0,0 0,0 0,0 0,-1 0,1 0,0 0,0-1,0 1,0 0,0 0,0 0,0 0,-1 0,1 0,0-1,0 1,0 0,0 0,0 0,0 0,0 0,0-1,0 1,0 0,0 0,0 0,0 0,0-1,0 1,0 0,0 0,0 0,0 0,0-1,0 1,13-6,28-4,0 2,60-3,-41 5,173-17,63 3,1088-9,-928 47,462 78,-628-40,-279-54,13 4,34 3,-50-9,1 1,-1-2,0 1,0-1,1 0,-1-1,13-4,24-13,-2-2,78-51,-77 45,-28 17,1 1,-1-1,26-23,-41 33,0-1,0 1,-1-1,1 0,0 1,0-1,-1 0,1 0,0 1,-1-1,1 0,-1 0,1 0,-1 0,1 0,-1 0,0 0,1 0,-1 0,0 0,0 0,0 0,0 0,0 0,0 0,0 0,0 0,0 0,-1 0,1 0,0 0,0 0,-1 0,1 0,-1 0,1 0,-1 0,1 0,-2-1,-2 0,1-1,0 1,-1 0,0-1,1 2,-1-1,0 0,-8-1,-23-5,0 2,0 1,0 2,-49 2,30 0,-913 0,486 4,386-3</inkml:trace>
</inkml:ink>
</file>

<file path=ppt/ink/ink2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00.47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0,'3'0,"5"0,18 4,54 17,34 9,58 16,12 3,13 4,3-8,-3-4,-15-9,-18-10,-24-9,-15-7,-19-4,-20-2,-26-2</inkml:trace>
</inkml:ink>
</file>

<file path=ppt/ink/ink2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03.16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1 511,'175'-5,"332"-54,165-83,-583 122,1136-206,-768 172,-318 49,-116 6,-1 1,0 0,38 10,-54-10,-1-1,1 1,0 1,0-1,-1 1,1 0,-1 0,8 7,-11-8,0-1,-1 1,1 0,-1 0,1 0,-1 0,0 1,0-1,0 0,0 0,0 1,0-1,-1 0,1 1,-1-1,0 1,0-1,0 1,0-1,0 1,0-1,-1 4,-5 21,3-18,1 1,0 0,1 0,0 0,1 18,1-25,-1 0,1 0,0 0,0 1,0-1,0 0,1-1,-1 1,1 0,0 0,0-1,0 1,0-1,0 1,0-1,1 0,-1 0,1 0,-1 0,1 0,0-1,0 1,3 0,12 5,1-2,0 0,0-1,1-1,-1 0,1-2,21-1,15 3,-5 3,0 3,0 1,-1 3,52 21,227 58,-147-45,-151-38,-1 2,0 1,0 1,32 20,-60-32,0 0,0 0,0 0,0 0,0 1,0-1,-1 1,1-1,0 1,-1 0,1-1,-1 1,0 0,1 0,-1 0,0 0,0 0,-1 0,1 0,0 1,0 3,-1-4,-1 0,0 0,1 0,-1 0,0 0,0 0,-1 0,1 0,0 0,-1 0,1 0,-1-1,1 1,-1-1,0 1,0-1,1 0,-1 0,0 1,0-1,-4 1,-6 4,-1-1,0 0,-1-1,1 0,-1-1,0-1,0 0,0-1,0 0,0-1,-18-2,5-2,0 0,-1-2,2-1,-46-18,59 19,1 0,0-1,1 0,-1-1,1 0,1-1,-11-10,-2-6,-30-43,43 52,10 16,0-1,0 1,0 0,0 0,0 0,-1-1,1 1,0 0,0 0,0-1,0 1,0 0,0 0,0-1,0 1,1 0,-1 0,0-1,0 1,0 0,0 0,0-1,0 1,0 0,0 0,1 0,-1-1,0 1,0 0,0 0,1 0,-1-1,3 1,-1 0,1-1,0 1,0 0,0 0,-1 0,1 1,4 0,-1 0,27 2,0-1,64-6,67-18,355-116,-499 132,24-9,-32 10,0 0,0 2,0-1,18-1,-30 5,0 0,0 0,0-1,0 1,1 0,-1 0,0 0,0 0,0 0,0 0,0 0,1 0,-1 1,0-1,0 0,0 0,0 0,0 0,0 0,1 0,-1 0,0 0,0 0,0 0,0 0,0 0,0 0,0 1,0-1,0 0,1 0,-1 0,0 0,0 0,0 0,0 1,0-1,0 0,0 0,0 0,0 0,0 0,0 0,0 1,0-1,0 0,0 0,0 0,0 0,0 0,0 1,-5 9,-10 7,3-8,-1-1,-1 0,0-1,0-1,0 0,-20 5,33-11,-28 8,-1-1,1-1,-1-2,0 0,-34-2,-153-15,42-11,102 11,-1 4,-122 0,-116 39,-19 1,135-27,-265-28,375 14,-150-12,219 22,7 0,0-1,0 1,1-2,-19-4,26 6,0-1,0 1,1-1,-1 0,1 0,-1 0,0 0,1 0,0 0,-1 0,1 0,0-1,-1 1,1 0,0-1,0 1,0-1,0 1,0-1,1 0,-1 1,0-1,1 0,-1 0,1 1,0-1,0 0,-1 0,1 0,0 1,0-1,1-2,1-7,0 0,1 0,1 1,-1-1,2 1,-1 0,2 0,-1 0,1 1,0 0,15-16,-19 23,0 0,0 0,0 1,0-1,0 1,0-1,0 1,1 0,-1-1,0 1,1 1,-1-1,1 0,-1 0,1 1,0 0,-1-1,1 1,-1 0,1 0,0 0,4 2,-4-1,0 0,0 1,0-1,0 1,0 0,0 0,-1 0,1 0,-1 1,1-1,-1 1,0-1,0 1,0 0,0 0,2 6,-1-4,0 0,-1 1,0-1,0 1,-1-1,0 1,1 0,-2-1,1 1,-1 0,0 0,0 0,-1-1,-1 8,2-12,0 0,0 0,0-1,0 1,-1 0,1 0,0-1,0 1,-1 0,1-1,-1 1,1-1,0 1,-1 0,1-1,-1 1,1-1,-1 1,0-1,1 1,-1-1,0 0,1 1,-1-1,0 0,1 1,-2-1,-15-5,16 4,0 1,1-1,-1 1,0-1,1 1,-1-1,0 1,1 0,-1-1,0 1,0 0,0 0,1-1,-1 1,0 0,0 0,0 0,1 0,-1 0,0 0,0 0,0 0,1 1,-1-1,0 0,0 0,0 1,1-1,-1 0,0 1,1-1,-1 1,0-1,1 1,-1-1,0 1,1 0,-1-1,1 1,-1-1,1 2,-2 2,1 1,-1 0,2-1,-1 1,0 0,1 0,0-1,0 10,8 36,-4-61,-2-11,-1 18,-2 1,1 0,1 0,-1 0,0 0,1 0,0 1,-1-1,1 0,2-3,-3 5,1 0,0 0,0 0,0 0,0 1,0-1,0 0,1 0,-1 1,0-1,0 1,0-1,1 1,-1 0,0-1,0 1,1 0,-1 0,0 0,1 0,-1 0,0 0,1 0,-1 0,0 0,3 1,170 42,-52-11,67 7,287 20,198-34,-535-25,-1-7,0-5,197-44,-296 49,0 3,0 1,58 3,5 0,245-16,460-3,-577 40,4-1,-219-19,-28-2,-169 1,-38 3,-74 1,-10 0</inkml:trace>
</inkml:ink>
</file>

<file path=ppt/ink/ink2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11.3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42,'17'2,"-1"0,0 1,0 0,27 10,-24-7,23 5,0-3,1-1,-1-1,1-3,73-4,213-36,-286 31,90-16,141-16,-263 37,0 1,1 0,-1 1,1 0,20 5,-27-4,1 0,0 0,-1 0,0 1,1 0,-1 0,0 1,0-1,-1 1,1 0,-1 0,6 8,2 4</inkml:trace>
</inkml:ink>
</file>

<file path=ppt/ink/ink2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8:59:13.3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1 351,'12'0,"0"1,0 0,0 1,0 1,0 0,0 0,16 8,3 4,38 25,-53-30,-3-4,0-1,0 0,0-1,1 0,0-1,26 2,-47-6,1 1,-1 1,1-1,-8 2,12-1,0-1,0 1,0 0,0-1,0 1,0 0,0 0,0 0,0 1,1-1,-1 0,0 1,1-1,0 1,-1-1,1 1,-2 2,3-4,0 1,0-1,-1 1,1 0,0-1,0 1,0 0,0-1,0 1,0 0,0-1,0 1,0-1,1 1,-1 0,0-1,0 1,0-1,1 1,-1 0,0-1,1 1,-1-1,1 1,-1-1,0 1,1-1,-1 0,1 1,-1-1,1 0,-1 1,1-1,0 0,-1 1,1-1,-1 0,1 0,0 0,-1 0,1 1,-1-1,2 0,3 1,1 0,-1 0,0 0,0-1,6 0,24-2,-1-2,63-17,66-31,218-101,-220 86,-79 34,228-101,-255 104,-16 5</inkml:trace>
</inkml:ink>
</file>

<file path=ppt/ink/ink2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1.2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1,'14'0,"0"0,0 1,25 6,-31-5,-1 0,1 1,-1 0,0 1,-1 0,1 0,0 0,7 7,4 2,0 0,1-2,30 14,12 7,-27-11,-18-10,-1-2,2 0,-1-1,22 8,-22-11,-1-1,1-1,0 0,0-1,0-1,0-1,0 0,1 0,28-7,-45 7,0 0,0 0,0 1,0-1,0 0,0 0,0 0,0 0,0 0,0 0,0 0,0 0,1 0,-1 0,0 0,0 0,0 0,0 0,0 1,0-1,-1 0,1 0,0 0,0 0,0 0,0 0,0 0,0 0,0 0,0 0,0 0,0 0,0 0,0 1,0-1,0 0,0 0,0 0,0 0,0 0,0 0,0 0,0 0,0 0,-1 0,1 0,0 0,0 0,0 0,0 0,0 0,0 0,0 0,0 0,11 2,16 0,-17-3,0-1,1 1,-1-1,0-1,0 0,0-1,12-5,-11 0,-16 6,-24 5,-15 7,-68 24,119-36,-1 2,0-2,-1 1,1 0,8-6,-13 8,-1-1,1 0,0 1,0-1,0 1,-1-1,1 0,0 1,-1-1,1 0,0 0,-1 0,1 0,-1 1,1-1,-1 0,0 0,1 0,-1 0,0 0,0 0,0 0,0 0,1 0,-1 0,0 0,-1 0,1 0,0 0,0 0,0 0,-1 0,1 0,0 0,-1 0,0-1,-1-1,0 1,-1 0,1 0,0 0,-1 0,1 0,-1 1,1-1,-1 1,0 0,0 0,0 0,0 0,0 0,0 0,0 1,-3-1,-4 0,-1 0,1 1,-19 1,18 1,0 0,1 1,-17 5,24-7,0 0,0 1,0-1,0 1,0-1,0 1,1 0,-1 0,1 0,-1 0,1 0,0 0,-1 1,1 0,-2 4,4 4,7-2</inkml:trace>
</inkml:ink>
</file>

<file path=ppt/ink/ink2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2.80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105 448,'13'0,"1"0,-1 0,0 1,1 1,-1 0,0 1,0 1,0 0,-1 0,13 7,-12-3,-1 0,13 11,-13-10,-1-1,16 9,-23-15,1 1,0-2,0 1,0 0,0-1,0 0,0 0,1 0,9-1,9-1,1-2,35-9,6-1,191-14,-239 25,0 1,1 1,-1 1,0 1,1 0,-1 2,-1 0,1 0,0 2,-1 0,0 1,21 12,-3 5,50 43,-31-23,75 64,-51-44,-50-39,0-2,2-1,42 25,-68-45,0 0,0 0,0-1,0 1,0-1,0 1,0-2,1 1,-1 0,0-1,7 1,-10-1,-1 0,0 0,0 0,0 0,1 0,-1 0,0 0,0-1,0 1,1 0,-1 0,0 0,0 0,0 0,0 0,1 0,-1 0,0 0,0-1,0 1,0 0,0 0,1 0,-1 0,0 0,0-1,0 1,0 0,0 0,0 0,0 0,0-1,0 1,1 0,-1 0,0 0,0-1,0 1,0 0,0 0,0 0,0-1,0 1,-1 0,1 0,0 0,0-1,0 1,-10-12,-18-10,25 21,-328-207,283 177,40 24,-1 1,1 0,-1 1,-1 0,1 0,-1 1,1 0,-1 1,0 0,-13-2,8 4,1-1,-1-1,1-1,0 0,0-1,1 0,0-1,0 0,0-1,-12-9,-81-48,-123-53,144 67,66 38,0 0,-1 1,0 1,0 1,-36-11,2 9,-110-8,-52 17,257-7,-17 3,117-32,140-34,4 19,-145 38,-53 8,144-33,-194 27,-14-1</inkml:trace>
</inkml:ink>
</file>

<file path=ppt/ink/ink2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6.1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1,'24'0,"38"8,-3-1,698 17,-33-4,-316 11,-311-20,152 38,-242-47,30 4,0 0,1-3,0 0,-1-3,54-6,228-3,26-3,-325 10,-6 0,-1 1,23 0,-33 1,0 1,1-1,-1 1,0-1,0 1,0 0,0 0,0 0,0 1,-1-1,1 1,0-1,0 1,-1 0,0 0,4 4,-5-6,-1 0,0 1,1-1,-1 0,0 1,1-1,-1 1,0-1,0 0,1 1,-1-1,0 1,0-1,0 1,1-1,-1 1,0-1,0 1,0-1,0 1,0 0,0-1,0 1,0-1,0 1,0-1,-1 1,1-1,0 1,0-1,0 1,-1-1,1 0,0 1,0-1,-1 1,0 0,-20 10,4-2,10-4,1 1,0 0,1 0,-1 0,1 1,0 0,1 0,0 0,0 1,-4 10,-3 13,-10 40,17-56,-2 5,-8 38,13-54,1 1,-1-1,1 0,0 0,0 0,1 0,-1 0,1 1,0-1,0 0,2 4,-2-6,0-1,0 1,0-1,0 1,0-1,0 1,1-1,-1 0,1 0,-1 0,1 0,-1 0,1 0,0 0,-1 0,1-1,0 1,0-1,-1 1,1-1,0 1,2-1,6 0,0 1,-1-2,13-1,-11 1,188-28,-111 13,115-4,-95 20,75-3,-160 0,-1 0,0-1,0-1,-1 0,1-2,21-11,-6 3,1 1,66-14,-17 5,-63 15,-8 3,0 0,-1 1,1 0,1 1,-1 1,21 0,-28 3,10-2,-21-3,-11-5,-8-2,0 2,-1 0,0 1,0 1,-44-7,-125-6,49 14,-216 18,-145 46,109-10,-165-36,387-15,102 3,-589-17,276-13,304 29,71 1,0 1,0 0,0 0,0 1,0 0,-11 5,5 2,13-9,1 1,0-1,0 0,0 0,0 0,0 0,0 0,0 0,0 0,0 0,0 1,0-1,0 0,0 0,0 0,-1 0,1 0,0 0,0 0,0 1,0-1,0 0,0 0,0 0,1 0,-1 0,0 0,0 0,0 1,0-1,0 0,0 0,0 0,0 0,0 0,0 0,0 0,0 0,0 1,0-1,1 0,-1 0,0 0,0 0,0 0,0 0,0 0,0 0,0 0,0 0,1 0,1 1,1-1,-1 0,0 0,1 0,-1 0,1 0,-1 0,1-1,2 0,26-9,0-2,-1 0,47-29,-55 30,7-2,-28 13,0-1,0 1,0 0,0-1,0 1,0 0,0 0,0 0,0 0,0 0,0 0,0 0,0 0,0 0,0 1,0-1,0 0,0 1,0-1,0 1,0-1,0 1,0-1,1 2,-2-2,0 0,0 0,0 0,0 0,0 1,0-1,0 0,0 0,0 0,0 1,0-1,0 0,0 0,-1 0,1 1,0-1,0 0,0 0,0 0,0 0,0 1,0-1,-1 0,1 0,0 0,0 0,0 0,0 0,0 1,-1-1,1 0,0 0,0 0,0 0,-1 0,1 0,0 0,-1 1,1-1,0 0,-1 0,1 0,0 0,-1 1,1-1,0 0,0 0,-1 1,1-1,0 0,0 1,0-1,-1 0,1 1,0-1,0 0,0 1,0-1,0 0,0 1,0-1,-1 0,1 1,0-1,0 1,0-1,1 0,-1 1,0-1,0 0,0 1,2 2,1-1,-1 0,1 0,-1 0,1 0,0-1,-1 1,1-1,4 2,13 6</inkml:trace>
</inkml:ink>
</file>

<file path=ppt/ink/ink2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38.8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0 867,'0'-1,"1"-1,-1 1,0 0,0 0,1 0,-1 0,0 0,1-1,-1 1,1 0,-1 0,1 0,0 0,0 0,-1 1,1-1,0 0,0 0,0 0,0 1,0-1,0 0,0 1,0-1,0 1,0-1,0 1,0 0,0-1,1 1,-1 0,0 0,1 0,4-1,0 0,0 1,0 0,0 1,10 1,44 7,103 3,63-15,-221 3,870-51,-166 5,401 27,-625-6,-421 19,-56 5,3 0,0 0,0 1,0 0,14 3,-22-3,0 1,0-1,-1 1,1 0,0 1,0-1,-1 0,1 1,-1-1,1 1,-1 0,0 0,1 0,-1 0,0 0,0 1,-1-1,1 0,3 6,-2-2,0 1,0-1,-1 1,1-1,-2 1,3 12,-3-18,-1 0,0 0,1 0,-1 0,1-1,-1 1,1 0,-1 0,1 0,0 0,-1-1,1 1,0 0,0 0,0-1,-1 1,1-1,0 1,0-1,0 1,0-1,0 0,0 1,0-1,0 0,0 0,0 1,0-1,0 0,1 0,36-2,-17-2,0 0,0-2,32-12,64-35,-52 23,256-98,-261 109,0 3,0 2,100-9,-75 14,0-3,98-28,-136 29,-34 9,0 0,0-1,0-1,-1 0,0-1,0 0,18-10,-28 13,0 0,0 1,0-1,0 0,0 0,-1 0,1 0,-1-1,1 1,-1 0,0-1,0 1,0-1,0 1,0-1,0 1,-1-1,1 1,-1-1,0 0,0 0,0 1,0-1,0 0,-1 1,1-1,-1 1,0-4,-4-6,0 0,0 0,-1 1,-12-18,7 10,11 19,-9-14,0-1,2-1,-1 1,-8-29,16 41,-1 1,1-1,-1 1,1-1,0 1,0-1,0 1,0-1,1 1,-1-1,1 1,-1 0,1-1,0 1,0 0,0-1,0 1,0 0,1 0,-1 0,1 0,-1 0,1 0,0 0,-1 0,1 1,3-2,3-2,0 0,1 1,-1 1,1 0,17-5,21-3,1 3,0 1,86 0,-121 7,0 0,0 1,1 1,-1 0,18 6,-26-6,-1-1,1 1,-1 0,1 1,-1-1,0 1,0 0,0 0,-1 0,1 0,-1 1,1 0,-1-1,0 1,-1 0,1 0,2 5,-4-6,1 0,0 0,0 0,0 0,0 0,1-1,-1 1,1-1,0 0,-1 1,1-1,0 0,0-1,0 1,1-1,-1 1,0-1,1 0,5 1,5 0,1 0,0-1,21-1,-17 0,248-2,-229 1</inkml:trace>
</inkml:ink>
</file>

<file path=ppt/ink/ink2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0.9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0 403,'161'-8,"-29"1,640 0,-66 2,-460 0,1545-23,-1113 49,-152-2,-501-18,193 7,-179-4,0 1,0 2,52 17,-71-17,-2 2,1 1,-1 0,0 1,-1 0,27 25,12 9,-10-13,2-2,1-2,0-2,2-3,1-1,79 21,15-9,223 23,159-17,-37-4,11 0,-478-38,-24 2,0 0,0 0,1 0,-1 0,0 0,0 0,0-1,0 1,0 0,0 0,0 0,0 0,1 0,-1 0,0 0,0 0,0 0,0 0,0 0,0-1,0 1,0 0,0 0,0 0,0 0,0 0,0 0,0 0,0 0,0-1,0 1,0 0,0 0,0 0,0 0,0 0,0 0,0 0,0-1,0 1,0 0,0 0,0 0,0 0,0 0,0 0,0 0,0 0,0 0,0-1,-1 1,1 0,0 0,0 0,-15-9,-22-6,-1 2,-56-12,49 14,-775-176,60 41,-1354-82,2334 227,-118-3,199-3,83-4,87-10,1136-93,101-31,-1599 137,99-11,-194 16,-27 1,-214 1,119 2,-192 1,-885 17,-849 81,2005-98,-30 1,-86 18,140-20,-1 0,1 1,0-1,0 1,-8 4,13-6,-1 1,1-1,0 0,0 0,0 0,0 0,0 0,-1 0,1 0,0 0,0 0,0 1,0-1,0 0,0 0,-1 0,1 0,0 0,0 1,0-1,0 0,0 0,0 0,0 0,0 1,0-1,0 0,0 0,0 0,0 0,0 1,0-1,0 0,0 0,0 0,0 0,0 1,0-1,0 0,13 5,25 0,1-1,66-3,-55-2,168 0,55-2,2853-7,-2844 13,-214-2,147 6,-205-5,-25 0,-273 20,23-3,-64 3,-67-1,-1582 31,1571-44,-1066 46,1275-39</inkml:trace>
</inkml:ink>
</file>

<file path=ppt/ink/ink2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3.1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 1096,'688'-32,"-378"-1,64-4,-11 1,1095-98,-1039 104,-43 12,-51 10,-68 6,-1 3,-273-2,-32-5,-27-3,-148-11,-65-4,-68-4,-1203-123,7-78,1264 171,-57-33,271 63,51 16,24 12,0 0,0 0,0 0,-1 0,1 0,0 0,0-1,0 1,0 0,0 0,-1 0,1 0,0 0,0 0,0-1,0 1,0 0,0 0,-1 0,1 0,0-1,0 1,0 0,0 0,0 0,0-1,0 1,0 0,0 0,0 0,0 0,0-1,0 1,0 0,0 0,0 0,0-1,0 1,0 0,1 0,-1 0,0 0,0-1,0 1,0 0,0 0,4-1,-1 0,1 0,-1 0,1 1,-1-1,1 1,-1 0,5 1,157 2,556-36,-485 17,1499-37,-1487 61,-236-7,285 26,-282-25,-1 1,1 0,-1 1,1 1,-1 0,15 9,-27-13,0 0,-1 0,1 0,-1 1,1-1,-1 1,0-1,1 1,0 1,-2 2,-11-6,2-2,0 1,-1 0,1 0,-1 1,1 0,-12 0,-10 0,-380-1,-9 22,203-8,-533 62,619-56,-134 23,255-39,0 1,0 1,0-1,1 1,-14 8,-9 4,24-13,0-1,-1 0,0 0,1 0,-12 0,-15 2,-319 86,52-11,281-74,2-2,0 1,0 1,1 1,-1 0,-20 12,38-18,0 1,0-1,0 1,0-1,0 1,1 0,-1-1,0 1,0 0,1 0,-1-1,0 1,1 0,-2 2,2-3,0 0,0 1,0-1,0 0,0 1,1-1,-1 0,0 1,0-1,0 0,0 1,0-1,0 0,1 1,-1-1,0 0,0 0,0 1,1-1,-1 0,0 0,0 1,1-1,-1 0,0 0,1 0,-1 0,0 1,1-1,33 8,-34-8,325 31,4-25,-259-5,230 0,142 1,-319 4,-1 5,232 52,-283-45,79 15,-107-29,-34-7,-14-2,-16-4,19 8,-17-6</inkml:trace>
</inkml:ink>
</file>

<file path=ppt/ink/ink3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3.84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11 597,'0'1,"0"-1,-1 0,1 0,0 0,-1 0,1 0,0 0,-1 0,1 0,0 0,-1 0,1 0,0 0,-1 0,1-1,0 1,-1 0,1 0,0 0,0 0,-1 0,1-1,0 1,-1 0,1 0,0-1,0 1,0 0,-1 0,1-1,0 1,0 0,0-1,0 1,-1 0,1-1,0 1,0 0,0-1,0 1,0 0,0-1,10-16,-6 12,1 1,-1 0,1 0,0 0,0 1,1 0,-1 0,1 0,6-1,61-18,40-1,155-11,-176 24,795-67,-355 35,26-15,-5-31,261-48,-540 103,-139 20</inkml:trace>
</inkml:ink>
</file>

<file path=ppt/ink/ink3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4.59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1 445,'0'-4,"0"-1,1 0,0 1,0-1,0 1,1-1,-1 1,1-1,0 1,0 0,0 0,1 0,0 0,0 0,0 1,0-1,0 1,0 0,1 0,0 0,0 0,0 1,0-1,6-2,12-4,0 0,1 1,43-8,111-15,78 2,64-6,71 0,858-46,-449 34,-468 25,-51 6,-60 8,-182 7,73 0,-97 2,0 1,0 0,-1 0,1 1,16 7,-26-8,0-1,0 1,0 0,-1 0,1 0,-1 1,0-1,1 1,-1 0,0 0,3 5,-4-5,1 1,-1 0,0 1,-1-1,1 0,1 9</inkml:trace>
</inkml:ink>
</file>

<file path=ppt/ink/ink3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49.18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37,'23'2,"0"0,0 1,0 1,-1 1,1 2,-1 0,30 14,-22-10,-1-1,1-2,1-1,0-1,39 2,2-5,83-7,-108-2,-1-1,0-3,79-27,-91 28,56-8,-57 11,57-15,-73 15,-9 2,1 1,0 0,0 1,12-3,-20 5,1 0,-1 0,1 0,-1 0,1 0,-1 0,1 0,-1 0,0 0,1 1,-1-1,1 1,-1-1,0 1,1-1,-1 1,0 0,0 0,0-1,1 1,-1 0,0 0,0 0,0 1,0-1,0 0,-1 0,1 0,0 1,-1-1,1 0,0 1,0 1,1 15,0-1,-1 0,-1 0,0 1,-5 28,4-37,1-7,0 1,0-1,-1 1,1 0,-1-1,0 1,1-1,-1 1,0-1,-1 0,1 1,0-1,-1 0,1 0,-4 3,3-3,1-1,-1-1,0 1,0 0,0 0,0-1,0 1,0-1,0 0,0 1,-1-1,1 0,0 0,0-1,0 1,0 0,0-1,0 1,0-1,-3-1,-24-8,-42-20,45 18,-1 1,-35-10,61 20,0 1,0-1,0 1,0 0,0-1,1 1,-1 0,0 0,0 0,0 0,0 0,0 0,0 0,0 0,0 0,0 0,-2 1,10 19,-6-19,24 36,-10-16,-2-1</inkml:trace>
</inkml:ink>
</file>

<file path=ppt/ink/ink3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50.41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0,'7'1,"-1"0,1 0,0 1,-1 0,13 5,9 2,29 12,-42-15,-1-1,1 0,0-1,22 4,32-3,117-6,74-22,-17 1,-222 20,-1 1,0 1,1 1,-1 1,24 5,-40-6,1 1,0-1,-1 1,0 0,1 0,-1 0,0 0,0 1,-1-1,1 1,0 0,-1 1,1-1,-1 1,0-1,0 1,-1 0,1 0,-1 0,0 0,0 0,0 1,-1-1,1 1,-1-1,0 1,1 7,-1 21</inkml:trace>
</inkml:ink>
</file>

<file path=ppt/ink/ink3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3:55.8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7,'3'0,"0"0,0 1,-1-1,1 1,0 0,-1 0,1 0,0 0,-1 1,1-1,-1 0,4 4,28 26,-9-8,-19-18,0-1,1 0,0 0,-1-1,2 1,-1-2,0 1,0-1,13 2,2-1,1-1,24-2,-32-1,22 1,313-8,-241 1,130-26,-119 8,52-10,-128 29,-44 6,1 0,-1 0,1 0,-1 0,1 0,0 0,-1 0,1 0,-1 0,1 0,0 0,-1 0,1 0,-1 0,1 1,-1-1,1 0,-1 0,1 1,-1-1,1 0,-1 1,1-1,-1 0,1 1,-1-1,1 1,-1-1,0 1,1-1,-1 1,0-1,0 1,1-1,-1 1,0-1,0 1,0-1,0 1,0 0,1-1,-1 1,0-1,0 1,-1 0,1-1,0 1,0-1,0 1,0-1,0 1,-1 0,1 0,-3 5,1 0,-1 0,-1 0,-3 5,2-3,-9 17,-16 41,29-64,1-1,-1 0,1 1,-1 0,1-1,0 1,0-1,0 1,0-1,0 1,0 0,0-1,0 1,1-1,-1 1,0-1,1 1,0-1,-1 1,2 1,0-1,0 0,-1 0,1 0,0 0,0-1,1 1,-1-1,0 1,0-1,1 0,3 2,7 0,0 1,0-2,27 3,-36-5,88 5,105-8,-191 2,-10-1,-19-4,-12-3,-28-23,38 18</inkml:trace>
</inkml:ink>
</file>

<file path=ppt/ink/ink3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00.5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47 0,'0'1,"0"-1,0 1,0 0,-1-1,1 1,0-1,0 1,-1-1,1 1,0-1,-1 1,1-1,0 1,-1-1,1 1,-1-1,1 0,-1 1,1-1,-1 0,1 1,-1-1,1 0,-1 1,0-1,1 0,-1 0,0 0,-22 3,13-2,10-1,0 1,0-1,0 0,0 0,-1 0,1 0,0 0,0 0,0 0,0 0,0 1,0-1,0 0,0 0,0 0,0 0,0 0,-1 0,1 1,0-1,0 0,0 0,0 0,0 0,0 0,0 1,0-1,0 0,0 0,0 0,0 0,0 0,0 0,1 1,-1-1,0 0,0 0,0 0,0 0,0 0,0 0,0 1,0-1,0 0,0 0,1 0,-1 0,0 0,0 0,0 0,0 0,0 0,0 0,1 1,-1-1,0 0,0 0,0 0,0 0,0 0,1 0,-1 0,0 0,32 11,26 2,1-2,69 4,-125-15,248 22,781 84,-591-62,685 16,-775-46,259 13,1044 53,-1554-74</inkml:trace>
</inkml:ink>
</file>

<file path=ppt/ink/ink3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4.42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1057 43,'0'-1,"1"0,-1-1,1 1,-1 0,1 0,0 0,-1-1,1 1,0 0,0 0,0 0,0 0,0 0,0 1,0-1,0 0,0 0,0 1,0-1,1 0,-1 1,0 0,0-1,1 1,-1-1,0 1,1 0,1 0,-2 0,43-7,609-2,-536 11,91 1,557 10,-631-8,0 7,241 53,-349-60,-1 2,-1 1,35 16,-45-15,-14-9,0 0,0 0,0 0,0 0,1 0,-1 0,0 0,0 0,0 0,0 0,0 0,0 0,0 0,0 0,0 1,0-1,0 0,0 0,0 0,0 0,0 0,0 0,0 0,1 0,-1 0,0 0,0 0,0 0,0 0,0 0,0 0,0 1,0-1,0 0,0 0,0 0,0 0,0 0,0 0,0 0,0 0,0 0,0 0,0 0,-1 0,1 1,0-1,0 0,0 0,0 0,0 0,0 0,0 0,0 0,0 0,0 0,0 0,0 0,0 0,0 0,0 0,0 0,0 0,0 0,-1 0,1 0,0 0,0 0,-22-2,10 0,8 1,-1 1,0 0,0 0,0 0,0 1,-6 1,11-2,-1 0,0 0,0 1,1-1,-1 0,0 0,1 1,-1-1,0 1,1-1,-1 0,1 1,-1-1,0 1,1 0,0-1,-1 1,1-1,-1 1,1 0,0-1,-1 1,1 0,0-1,-1 1,1 0,0 0,0-1,0 1,0 0,0 0,0-1,0 1,0 0,0 0,0-1,0 1,1 0,-1 0,0-1,0 1,1 0,-1-1,0 1,1 0,-1-1,1 2,2 3,0 0,0 0,0 0,1 0,0 0,5 5,-8-9,1 0,-1 0,0 0,1 0,-1-1,0 1,1 0,-1-1,1 1,-1-1,1 1,0-1,-1 0,1 1,-1-1,1 0,0 0,-1 0,1 0,-1-1,1 1,0 0,-1-1,1 1,-1-1,1 1,-1-1,1 0,1-1,23-15,37-33,-14 10,-46 38,99-70,-90 65,1-1,1 2,-1 0,1 0,0 1,19-3,-27 7,1 0,-1 1,1 0,-1 0,0 1,1-1,-1 2,0-1,10 4,3 2,30 17,-12-5,-21-12,-1 0,1-1,-1-1,2-1,-1 0,0-1,1 0,25-1,50-7,-58 2,0 1,0 2,0 1,44 7,-24 6,68 25,3 2,-116-39,209 49,-197-49,1 2,-1 0,0 2,0 0,-1 1,0 1,0 1,0 1,26 18,8 5,-39-24,0 0,19 15,-34-23,1-1,-1 0,1 1,0-1,-1 1,1 0,-1-1,1 1,-1-1,0 1,1 0,-1-1,0 1,1 0,-1-1,0 1,0 0,1 0,-2 0,1 0,0 0,-1-1,1 1,-1 0,1-1,-1 1,1-1,-1 1,1-1,-1 1,0-1,1 1,-1-1,0 1,0-1,1 0,-1 1,0-1,0 0,1 0,-2 1,-30 7,-1 0,0-3,0 0,-46 0,23-2,-435 24,-16 1,4 29,-97 28,159-48,304-36,-259 15,-40 63,386-68,29-7,-30 8,47-11,1 0,0 0,0 0,0 1,0-1,0 1,0 0,0 0,1 0,-1 1,-3 3,6-5,-1 0,0 0,1 0,-1 0,1 0,-1 0,1 1,-1-1,1 0,0 0,0 1,0-1,0 0,0 1,0-1,0 0,0 0,0 1,0-1,1 0,-1 0,1 1,-1-1,1 0,1 2,22 28,-24-30,62 57,-43-42,-1 0,0 2,26 34,-43-51,0 1,1 0,-1 0,0 0,0 1,-1-1,1 0,0 0,-1 0,1 1,-1-1,0 0,1 1,-1-1,0 0,-1 0,1 4,-1-5,1 0,-1 0,1 0,-1 0,1-1,-1 1,0 0,0 0,1 0,-1 0,0-1,0 1,0 0,0-1,0 1,0-1,0 1,0-1,0 1,0-1,0 0,0 1,0-1,-1 0,1 0,0 0,0 0,0 0,0 0,0 0,0 0,-1-1,1 1,0 0,-1-1,-2-1,-1 1,1-1,0 0,1 0,-1-1,0 1,0-1,1 1,0-1,-1 0,1-1,1 1,-1 0,0-1,1 0,-1 1,1-1,0 0,0 0,-1-5,-3-9,0 0,1-1,-4-23,-28-162,41 280,-3-54,-1-16,0 0,0 0,0-1,1 1,0 0,0 0,1-1,0 1,0-1,0 1,4 6,-6-12,0 1,1-1,-1 1,0-1,1 1,-1-1,1 1,-1-1,0 1,1-1,-1 1,1-1,0 0,-1 1,1-1,-1 0,1 1,-1-1,1 0,0 0,-1 0,1 1,0-1,-1 0,1 0,0 0,-1 0,1 0,-1 0,1-1,0 1,-1 0,1 0,0 0,-1 0,1-1,-1 1,1 0,0-1,-1 1,1 0,-1-1,1 1,-1-1,0 1,1-1,0 0,-1 0,1 0,-1 0,0 0,0 0,1-1,-1 1,0 0,0 0,0 0,0 0,0 0,-1 0,1 0,0 0,0 0,-1 0,1 0,-1 0,1 0,-1 0,1 0,-1 0,1 0,-1 0,0 0,0 0,1 1,-1-1,0 0,-2-1,-3-2,0 0,-1 0,1 1,-1-1,0 1,-12-3,-51-10,65 15,-81-14,-98-3,-90 9,253 9,-219 6,87 0,143-6,0-1,0 0,0 0,0-1,0-1,1 0,-12-4,-62-34,55 25,-227-96,150 69,104 43,0 0,0-1,0 1,0-1,0 1,-1-1,1 0,0 1,0-1,0 0,1 0,-1 0,0 1,-1-3,2 3,0 0,0-1,0 1,1 0,-1-1,0 1,0 0,0 0,0-1,1 1,-1 0,0-1,0 1,1 0,-1 0,0 0,0-1,1 1,-1 0,0 0,1 0,-1 0,0-1,0 1,1 0,-1 0,0 0,1 0,-1 0,0 0,1 0,48-5,1632-46,-1629 50,1 1,-1-2,1-2,67-14,-80 4,-40 14,1-1,0 1,-1-1,1 0,0 1,-1-1,1 1,-1-1,1 0,-1 0,1 1,-1-1,1 0,-1 0,0 0,0 1,1-1,-1 0,0 0,0 0,0 0,0 1,0-1,0 0,0 0,0 0,0 0,0 0,0 1,-1-1,1 0,0 0,-1 0,1 0,-1 1,1-1,0 0,-1 1,0-1,1 0,-2 0,-1-5,1 3,0-1,0 0,0 0,0 0,1-1,-1 1,-1-7,3 9,0 1,0-1,1 1,-1-1,0 1,0-1,1 1,-1 0,1-1,-1 1,1 0,-1-1,1 1,0 0,0 0,0-1,0 1,0 0,0 0,0 0,0 0,0 0,0 0,0 1,2-2,5-2,0 0,0 0,1 1,-1 0,1 0,14-2,57-4,-64 8,59-1,-49 2,0 0,-1-2,51-11,-71 12,0-1,0 0,0 0,0-1,4-2,9-6,126-77,-25 13,-40 32,-65 37,-12 8,-22 8,-94 22,89-31,26 0,7 2,-6-2,1 1,-1 0,1 0,-1 0,0 0,1 0,-1 1,0-1,-1 1,1-1,0 1,-1 0,1-1,-1 1,0 0,0 0,0 0,0 0,0 5,0-5,-1-1,0 0,1 1,-1-1,0 1,0-1,0 0,0 1,-1-1,1 0,-1 1,0-1,1 0,-1 1,0-1,0 0,0 0,0 0,-1 0,1 0,-1 0,1 0,-1-1,0 1,-3 2,-6 1</inkml:trace>
</inkml:ink>
</file>

<file path=ppt/ink/ink3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8.308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3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29.15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82,'4'0,"17"0,66-7,61-5,33-1,19 2,-8 3,-17 2,3 3,4-8,8 4,5 3,-10 10,-20 3,-29 0,-36-1</inkml:trace>
</inkml:ink>
</file>

<file path=ppt/ink/ink3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0.45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1,'726'20,"-6"26,-387-23,391 8,-249-14,-367-9,-25 1</inkml:trace>
</inkml:ink>
</file>

<file path=ppt/ink/ink4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2.8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1 204,'3'0,"12"0,42 0,63-4,88-10,81-4,73-5,62-2,38-3,15-1,7 5,-9 6,-28 7,-57 5,-68 3,-85 2,-82 2</inkml:trace>
</inkml:ink>
</file>

<file path=ppt/ink/ink4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4.47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56,'493'-9,"-98"1,361-12,-72 1,293 29,-156 33,-633-31,353 70,204 39,8-53,-425-41,475 16,37 5,-702-35,118 9,-217-19</inkml:trace>
</inkml:ink>
</file>

<file path=ppt/ink/ink4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4:36.713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1841 804,'2'0,"0"0,1 0,-1 0,0 1,0-1,0 1,0-1,0 1,0 0,-1 0,1 0,0 0,2 2,13 7,1-2,1-1,0 0,0-2,1 0,-1-1,1-1,0-1,33-1,16-4,83-14,9-6,311-3,-257 37,287 49,-443-49,-1 1,-1 3,80 33,-101-28,-35-20,-1 0,1 1,-1-1,1 0,-1 1,1-1,-1 1,1-1,-1 1,1-1,-1 1,0-1,1 1,-1-1,0 1,1-1,-1 1,0 0,0-1,1 1,-1 0,0-1,0 1,0 0,0-1,0 2,-1-1,0 0,1 0,-1-1,0 1,0 0,0 0,0-1,0 1,0-1,0 1,0-1,0 1,0-1,0 0,0 1,-1-1,-1 0,-47 5,-5-5,-85-11,-157-41,-54-24,-445-118,367 89,-1037-261,1235 307,94 12,132 45,0 1,1-2,-1 1,0-1,1 1,-1-1,1-1,-6-5,9 9,1-1,0 1,0 0,0-1,0 1,-1-1,1 1,0 0,0-1,0 1,0-1,0 1,0 0,0-1,0 1,0-1,0 1,0-1,0 1,0 0,1-1,-1 1,0-1,0 1,0 0,0-1,1 1,-1 0,0-1,1 1,-1 0,0-1,0 1,1-1,2-1,0 1,0-1,0 0,0 1,0 0,0 0,6-2,30-5,0 1,0 1,0 3,1 1,42 3,214 29,-153-12,147 5,2-12,418-38,-573 17,141-17,-214 13,-43 8,37-4,-50 9,-1 1,1 0,0 0,-1 1,1 0,-1 0,1 1,12 4,100 50,-31-13,596 216,-681-258,49 17,-15-6,-1 1,0 3,44 24,0 8,186 104,-77-58,252 86,-371-156,76 40,-127-53,-8-2</inkml:trace>
</inkml:ink>
</file>

<file path=ppt/ink/ink4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4.90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42,'0'-1,"0"0,1 1,-1-1,0 0,0 0,1 0,-1 1,1-1,-1 0,0 0,1 1,0-1,-1 1,1-1,-1 0,1 1,0-1,-1 1,1-1,0 1,0-1,-1 1,1 0,0-1,0 1,1 0,33-8,174-2,-174 9,1582-5,-1010 8,-388-3,225 3,-425-2,-10-1,-1 1,1 0,0 1,-1 0,1 0,-1 1,1 0,-1 1,15 6,-6-1,1 0,0-1,1 0,0-2,0 0,24 2,118 3,-44-5,-75 1,-8 3</inkml:trace>
</inkml:ink>
</file>

<file path=ppt/ink/ink4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5.68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1,'94'6,"-25"-1,1145 20,-762-20,739 64,-1062-57,-5-1,135 29,-214-28</inkml:trace>
</inkml:ink>
</file>

<file path=ppt/ink/ink4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6.657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1,'9'8,"0"0,1-1,1 0,15 8,25 17,-42-26,-1-1,1 0,1-1,-1 0,1 0,0-1,-1 0,1-1,1 0,-1-1,11 1,-16-2,506 21,-413-21,506 0,760 14,-1352-14,905 26,-897-26,2-1,33 5,-48-3,1 1,-1 0,0 0,0 0,0 1,0 0,-1 0,8 5,2 3</inkml:trace>
</inkml:ink>
</file>

<file path=ppt/ink/ink4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28.22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97,'177'0,"19"0,76 1,60 6,1095 56,-1175-50,802 53,64 4,-512-39,922 43,-102-41,9-33,-823-2,1522 1,-3222-36,583 13,163 12,-407-20,4-23,0-28,-155-16,-2 44,-68 81,829-19,-198 13,-359 9,636-30,0-2,1-4,0-2,-97-27,-53-37,195 66</inkml:trace>
</inkml:ink>
</file>

<file path=ppt/ink/ink4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30.3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1921 835,'1'2,"1"-1,-1 0,1 1,0-1,-1 0,1 0,0 0,0 0,0 0,0 0,0-1,0 1,3 0,-5-1,31 7,0-1,50 3,-51-6,324 16,-61-15,51-2,47-3,25-1,814 11,-941 8,-84 5,-81 1,-119-22,-1 0,1 0,0 1,-1 0,1 0,-1 0,0 0,6 4,-10-5,1-1,-1 0,0 1,1-1,-1 0,0 1,0-1,0 1,1-1,-1 0,0 1,0-1,0 1,0-1,0 1,0-1,0 0,0 1,0-1,0 1,0-1,0 1,0-1,0 0,0 1,0-1,-1 1,1-1,0 0,0 1,-2 1,1 0,-1 0,0-1,0 1,1 0,-1-1,0 0,0 1,-3 0,-20 10,0-1,-1-1,-1-1,1-1,-47 7,-151 9,-740-3,-161-110,779 44,53-4,60 3,191 38,-11-2,0-3,-76-28,121 38,1 0,-1-1,1 0,-11-8,17 11,0 0,-1 1,1-1,0 0,0 0,1 0,-1 0,0-1,0 1,0 0,1 0,-1 0,0-1,1 1,-1 0,1 0,0-1,-1 1,1 0,0-1,0 1,0-1,0 1,0 0,0-1,0 1,0-1,1 1,-1 0,1-1,-1 1,1 0,0-3,3-1,0 1,1-1,-1 0,1 1,0 0,0 0,0 1,10-7,103-46,70-20,65-9,435-94,11 42,-27 35,-311 50,-282 38,-76 11,-7 1,-31-1,-148 0,-178 3,-177 1,-1512 12,1415-8,108-4,132-3,132 0,117-1,99 1,46 2,5-1,22 1,877-3,-515 4,2046 18,-1243 41,-1025-43,-152-16,-1 1,0 0,18 7,-31-9,1 0,-1 0,0 0,0 0,1 0,-1 0,0 0,0 0,0 0,1 0,-1 1,0-1,0 0,0 0,1 0,-1 0,0 1,0-1,0 0,0 0,0 0,1 1,-1-1,0 0,0 0,0 0,0 1,0-1,0 0,0 0,0 1,0-1,0 0,0 0,0 1,0-1,0 0,0 0,0 0,0 1,0-1,0 0,0 0,0 1,0-1,0 0,-1 0,1 0,0 1,0-1,0 0,0 0,-1 0,1 1,0-1,0 0,0 0,-1 0,1 0,-5 3,-1 0,1-1,0 0,-1 0,-7 1,-130 25,-547 60,267-38,318-32,103-18,0 0,0 1,0-1,0 1,0-1,0 1,0 0,0 0,0 0,0 0,-2 2,4-2,0-1,1 1,-1-1,0 0,0 1,1-1,-1 1,0-1,1 0,-1 1,0-1,1 0,-1 1,0-1,1 0,-1 0,1 1,-1-1,1 0,-1 0,0 0,1 1,-1-1,1 0,-1 0,1 0,-1 0,1 0,-1 0,2 0,25 4,27 0,170 3,109-3,909-2,-1173-2,82 0,431 3,-22 33,-513-30,-1 1,82 24,-121-28,-1-1,1 1,0 0,-1 0,1 1,7 6,-13-9,0-1,0 1,-1 0,1-1,0 1,0 0,-1 0,1 0,-1 0,1 0,-1 0,1-1,-1 1,1 0,-1 0,0 1,0-1,1 0,-1 0,0 0,0 0,0 0,0 0,0 0,0 0,0 0,-1 0,1 0,0 0,-1 0,0 2,-2 1,0-1,0 1,0-1,-1 0,1 1,-1-2,0 1,0 0,0-1,-7 3,-16 8,-49 14,-283 57,-154-3,-461 27,-11-27,385-40,111-11,138-12,147-9,162-9,37-2,10-1,113-22,152-21,136-18,98-12,592-80,7 43,-635 86,-71 12,-82 10,-86 8,-186-2,-6-1,-1 2,0 1,46 10,-60-4,-21-9,-1 0,1 0,-1 1,0-1,1 0,-1 0,0 1,1-1,-1 0,0 1,0-1,1 0,-1 1,0-1,0 0,0 1,1-1,-1 1,0-1,0 0,0 1,0-1,0 1,0-1,0 0,0 1,-1 1,0 0,-1-1,1 1,-1-1,1 1,-1-1,0 0,1 0,-1 0,0 0,0 0,0 0,0 0,0-1,0 1,0-1,-3 1,-28 7,-39 5,-108 9,-665 41,225-21,607-41,-12 2,62 1,335 19,11-8,124-3,117-8,2595-85,-2840 64</inkml:trace>
</inkml:ink>
</file>

<file path=ppt/ink/ink4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31.37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5359 0,'-3'0,"-52"0,-53 4,-112 7,-65 2,-135-1,-50-3,-122-2,-61-4,-10-1,54-1,95-1,130-1,137 1,112-1</inkml:trace>
</inkml:ink>
</file>

<file path=ppt/ink/ink4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46.75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1 695,'417'-24,"-325"11,-1-5,135-43,-106 18,-2-5,156-87,-202 94,285-182,-335 206,0 1,27-13,-40 24,1 1,-1 0,1 1,0 0,0 1,1 0,-1 0,17 0,159 5,-28 1,-155-4,3-1,1 1,-1 0,1 1,-1 0,1 0,-1 0,0 0,1 1,5 3,2 3</inkml:trace>
</inkml:ink>
</file>

<file path=ppt/ink/ink5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48.79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1 509,'239'0,"-4"0,85 0,1612-24,-1069 9,-780 14,-139 0,-169-7,-20-9,-1609-144,1823 158,-241-28,267 30,-30-4,-36-11,61 13,0 0,1-1,0 0,-1 0,1-1,1-1,-1 1,-8-8,2 0,0 0,1-1,0-1,1 0,0-1,1 0,-15-29,21 23,6 22,0-1,0 1,0-1,1 1,-1 0,0-1,0 1,0-1,0 1,0 0,1-1,-1 1,0 0,0-1,1 1,-1 0,0-1,1 1,-1 0,0 0,1-1,-1 1,0 0,1 0,-1 0,0-1,1 1,0 0,3 0,1 0,0 0,0 0,0 0,-1 1,10 2,-6-1,555 73,-473-65,397 39,330 35,-540-54,507 72,-761-98,-16-3,0 0,0 0,0 0,0 1,0 0,0 1,-1-1,9 5,-14-3,-8-1,-9 0,-1-1,1-1,-33-1,11-1,-637-16,253 3,-550-32,549 21,405 23,38-4,-14 4,410-79,-198 43,-86 12,152-27,0 20,-246 32</inkml:trace>
</inkml:ink>
</file>

<file path=ppt/ink/ink5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2.03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0 283,'40'0,"-1"3,52 9,-14 0,118 3,83-16,-106-1,1634 2,-1766-1,0-1,0-2,-1-1,1-3,-1-1,-1-1,47-21,-59 20,0 1,0 2,1 0,38-5,41 2,130 4,-157 8,106-3,-156-2,34-9,-34 7,36-5,13 6,-20 1,83-15,-125 14,1-1,-1 0,-1-1,1-1,-1 0,-1-1,25-19,-20 14,-12 10,0 0,-1 0,1 1,0 0,1 1,-1 0,0 0,1 0,-1 1,11-1,11 1,41 4,-22 0,131-1,-169-1,0 1,0 1,0 0,0 0,0 1,0 0,-1 1,0 0,16 11,-9-6,28 13,22 13,-40-21,-4-3</inkml:trace>
</inkml:ink>
</file>

<file path=ppt/ink/ink5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2.746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4865 78,'-245'3,"-327"45,453-31,-499 57,512-68,1-5,0-5,-201-32,153 5,-330-60,-6 34,249 49,-332 32,-75 13,542-36</inkml:trace>
</inkml:ink>
</file>

<file path=ppt/ink/ink5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5:57.21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854 433,'8'0,"0"1,1-1,-1 1,13 4,14 2,507 53,10-33,-156-9,-9 2,-589-20,-423 9,197 0,419-9,-46 1,-64 8,102-7,1 2,-1-1,0 2,1 0,0 1,0 1,1 1,-17 10,28-15,-1 0,0 0,0-1,0 1,-6 1,9-3,0-1,-1 0,1 1,0-1,-1 0,1 0,-1 0,1-1,0 1,-1 0,1-1,0 0,-1 1,-2-3,-18-5,0 0,-1 1,0 1,-33-3,-102-2,112 9,-492-8,288 9,789 2,-480 1,98 18,-82-8,118 12,229 0,-415-24,1 0,-1-1,1 1,8-3,-15 3,0 0,0 0,1 0,-1 0,0 0,0 0,0 0,0 0,0 0,1 0,-1 0,0 0,0 0,0-1,0 1,0 0,1 0,-1 0,0 0,0 0,0 0,0-1,0 1,0 0,0 0,0 0,0 0,0 0,0-1,1 1,-1 0,0 0,0 0,0 0,0-1,0 1,0 0,0 0,0 0,0 0,-1-1,1 1,0 0,0 0,0 0,0 0,0 0,0-1,0 1,0 0,0 0,-19-11,-73-27,-43-20,101 40,-312-171,196 109,13 8,64 33,35 19,-56-38,85 48,13 3,-1 6,0 0,0 0,0 1,0-1,0 1,0-1,3 1,209 5,-78 1,108-5,404-50,-504 21,-143 28,0 0,-1-1,1 1,0-1,-1 0,1 1,0-1,-1 0,1 0,-1 0,4-2,-6 2,0 1,1 0,-1 0,1 0,-1-1,0 1,1 0,-1 0,1 0,-1 0,0 0,1 0,-1 0,0 0,1 0,-1 0,1 1,-1-1,0 0,1 0,-1 0,1 1,-1-1,1 0,-1 1,0 0,-41 16,-31 11,57-23,-14 4,-1 1,1 1,-45 24,73-34,0 0,1 0,-1 0,1 0,0 0,-1 0,1 0,0 0,0 1,-1-1,1 0,0 1,0-1,1 1,-2 2,2-4,0 1,0 0,0-1,0 1,0 0,0-1,0 1,0 0,0-1,1 1,-1 0,0-1,0 1,1 0,-1-1,0 1,1-1,-1 1,1-1,-1 1,1-1,-1 1,1-1,-1 1,2 0,3 2,0-1,0 0,0 0,0 0,0 0,1-1,10 2,54 3,-1-3,74-6,-29 0,64 2,-149 1</inkml:trace>
</inkml:ink>
</file>

<file path=ppt/ink/ink5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00.58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0 256,'2'1,"0"-1,-1 1,1 0,-1-1,1 1,-1 0,1 0,-1 0,3 2,5 3,10 2,0-1,-1-1,2-1,26 3,-5 1,43 6,158 9,89-21,-194-4,-139 0,-6 0,0-1,-1 0,1 0,-10-5,-5-5,0 0,0 2,-1 1,0 0,-30-5,-146-36,93 31,-148-7,148 18,64 2,26 3,14 1,6 2,484-83,-158 20,-240 54,164 3,-184 7,-44-1</inkml:trace>
</inkml:ink>
</file>

<file path=ppt/ink/ink5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04.21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1,'16'0,"-1"0,-1 0,25 4,-35-3,1 0,-1 0,0 0,0 1,0 0,1 0,-2 0,1 0,0 1,0-1,-1 1,7 6,1 1,1 1,0-2,0 0,1 0,0-1,25 10,-5-1,-28-14,0 0,0 0,0 0,0 0,-1 1,1 0,-1 0,0 0,0 0,-1 1,1 0,5 9,-3 5</inkml:trace>
</inkml:ink>
</file>

<file path=ppt/ink/ink5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11.98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1111 455,'12'1,"1"0,0 1,17 4,16 4,31-5,154-7,-84-3,791 6,-349 0,-561-2,41-8,16 0,430 6,-264 5,-85-4,180 5,-334-3,0 2,0-1,0 2,0-1,-1 2,1 0,-1 0,0 1,0 0,17 11,-12-7,0-1,22 7,6 3,-45-16,-7 0,-9-1,-102-10,27 0,-643 2,434 9,136-1,-191-2,69-18,285 19,-69-9,0-4,-80-25,89 20,-1 4,0 1,-78-4,-166-15,120-1,94 14,-1 4,-126-3,200 17,0-2,0 0,-24-7,-17-2,-485-48,413 52,62 6,-1-4,-91-19,-6-9,261 57,-70-20,37 13,-40-10,0-1,1 0,28 2,639-10,-414-6,-157 7,388-25,-366 15,204 7,-195 7,970-2,-1062-1,0-2,0-2,99-24,75-14,-161 32,17-2,116-3,-171 16</inkml:trace>
</inkml:ink>
</file>

<file path=ppt/ink/ink5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06:13.38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0,'6'0,"6"0,8 3,3 8,5 3,1 1,2-2,-1-2,1-4,-1-3,1-2,-2-1,2-1,-6 6,-2 3,0-1,-2-2</inkml:trace>
</inkml:ink>
</file>

<file path=ppt/ink/ink58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7.04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0 217,'1'-1,"-1"0,1 0,-1 1,0-1,1 0,0 0,-1 1,1-1,-1 0,1 1,0-1,-1 0,1 1,0-1,0 1,0-1,-1 1,1 0,0-1,0 1,0 0,0 0,0-1,0 1,1 0,29-4,-27 3,50-3,0 3,85 8,109 28,6 0,217-11,2-22,-304-3,749-41,-847 36,373-41,-1-26,-331 51,126-6,114 15,-308 13,468-14,-332-12,-66 6,-93 18,0 1,0 1,0 0,25 5,84 20,-52-9,-21-5,775 162,-445-78,620 140,-903-214,1-5,0-5,108-2,269-22,31 0,172 25,-229 0,63-24,-199 2,56-4,86-1,99-35,-456 37,-49 6</inkml:trace>
</inkml:ink>
</file>

<file path=ppt/ink/ink59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8.0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4,'8'0,"16"4,42 15,43 3,20-1,27-5,20-5,10-4,7-4,1-6,-8-7,-14-10,-32-2,-31 2,-17 6,-29 4,-30 5,-19 2</inkml:trace>
</inkml:ink>
</file>

<file path=ppt/ink/ink60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2:59.97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915 456,'347'-68,"-23"25,0 0,-224 25,117-37,-175 42,1 2,0 2,0 2,63-3,89 7,167-8,-218-4,-2-6,165-47,-289 63,0 0,-1-1,0-1,0 0,15-10,-31 16,0 1,0 0,0-1,0 1,0-1,0 0,0 1,0-1,0 1,-1-1,1 0,0 0,0 0,-1 1,1-1,-1 0,2-2,-40 15,-87 34,-870 312,-22-40,873-282,84-23,-1 2,-97 40,149-50,1 0,-2-1,1-1,0 1,-1-1,1-1,-1 0,0 0,0-1,1 0,-15-1,-256-47,90 12,-14 8,-85-13,269 36,10 2,0 0,0 1,0 0,-15 0,25 1,-1 0,1 0,-1 0,1 0,-1 0,1 0,-1 0,1 0,-1 0,1 0,-1 0,1 0,-1 1,1-1,-1 0,1 0,-1 0,1 1,-1-1,1 0,-1 1,1-1,0 0,-1 1,1-1,0 0,-1 1,1-1,0 1,-1-1,1 1,0-1,0 1,-1-1,1 1,0-1,0 1,0-1,0 1,0-1,0 1,0-1,0 2,1-1,-1 0,1 1,0-1,0 0,-1 0,1 0,0 1,0-1,0 0,0 0,1 0,-1-1,0 1,2 1,21 8,2-2</inkml:trace>
</inkml:ink>
</file>

<file path=ppt/ink/ink6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3:01.540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1 164,'1011'12,"-553"-4,164-23,-434-2,237-52,-335 45,-67 17,1 0,0 2,0 0,1 2,40-1,98 21,-9 0,213-15,-241-13,21-2,63 14,120-7,-318 6,1-2,0 1,-1-2,1 0,20-7,-5-5</inkml:trace>
</inkml:ink>
</file>

<file path=ppt/ink/ink62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4:49.465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0 453,'79'-54,"-22"14,0 3,103-49,-74 52,112-28,93-8,-266 64,57-15,-44 10,1 2,44-5,283 6,-259 9,481 14,90 0,1568-16,-1745 20,-4 24,-485-42,66 6</inkml:trace>
</inkml:ink>
</file>

<file path=ppt/ink/ink63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01.092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0,'1'0,"0"0,0 1,1-1,-1 0,0 0,0 1,0-1,0 1,0-1,0 1,0-1,0 1,0 0,1 0,8 6,327 147,-300-140,0-2,1-1,0-2,1-2,47 3,-51-8,-1 2,0 1,0 2,0 1,49 19,-10 4,-37-14,-1-3,2 0,0-3,62 13,17-2,-75-12,75 8,231-14,-297-7,0-3,-1-1,0-3,87-29,180-90,-238 94,-36 16,0 3,79-21,-79 29</inkml:trace>
</inkml:ink>
</file>

<file path=ppt/ink/ink64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49.36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0 0,'0'0</inkml:trace>
</inkml:ink>
</file>

<file path=ppt/ink/ink65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2.304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360 328,'131'0,"291"0,-49 0,68 0,1478-12,207 0,-2101 11,0 1,1 2,-1 0,0 2,0 0,-1 2,31 10,-13 2,102 46,-144-64,0 0,0 0,-1 0,1 0,0 0,0 0,0 0,0 0,0 0,0 0,0 0,0 0,0 0,0 0,0 1,0-1,0 0,0 0,0 0,0 0,0 0,0 0,0 0,0 0,0 0,0 0,0 0,0 0,0 0,0 1,0-1,0 0,0 0,0 0,0 0,0 0,0 0,0 0,0 0,0 0,0 0,0 0,0 0,0 0,0 0,0 0,0 0,1 0,-1 1,0-1,0 0,0 0,0 0,0 0,0 0,0 0,0 0,0 0,0 0,0 0,-11 1,-25-3,-386-64,2-27,338 74,-667-176,709 183,-2 1,1 3,-1 1,0 2,-85 0,-10 11,-153 27,-130 47,-391 146,735-196,-73 41,85-38,-117 42,110-55,0-4,-131 14,-150-14,330-16,-70 1,0 3,-98 19,25 11,-112 20,184-40,-95 2,165-16,1 0,-33-5,49 4,-1 0,1 0,-1-1,1 0,0 0,-1-1,1 0,0 0,1 0,-1-1,0 1,-5-7,10 10,1 0,0 0,-1 0,1-1,0 1,-1 0,1-1,0 1,0 0,-1 0,1-1,0 1,0 0,-1-1,1 1,0-1,0 1,0 0,0-1,-1 1,1-1,0 1,0 0,0-1,0 1,0-1,0 1,0 0,0-1,0 1,0-1,1 1,-1-1,0 1,0 0,0-1,0 1,1 0,-1-1,0 1,0 0,1-1,-1 1,0 0,0-1,1 1,-1 0,0 0,1-1,3-1,0 1,0 0,0 0,0 0,8-1,46-4,113 3,-98 4,208 1,895-31,2-94,-1165 121,184-24,-164 24,0 2,1 1,62 10,238 62,41 7,304 36,-557-96,8 2,2-6,194-2,237-63,-184 10,7 21,-344 18</inkml:trace>
</inkml:ink>
</file>

<file path=ppt/ink/ink66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8.229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1 159,'8'-8,"29"-3,71-4,114-8,126 0,126 4,64 6,49 4,57 4,3 3,-31 2,-33 0,-47 1,-68 0,-84-4,-108-11,-100-2</inkml:trace>
</inkml:ink>
</file>

<file path=ppt/ink/ink67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</inkml:traceFormat>
        <inkml:channelProperties>
          <inkml:channelProperty channel="X" name="resolution" value="1000" units="1/cm"/>
          <inkml:channelProperty channel="Y" name="resolution" value="1000" units="1/cm"/>
        </inkml:channelProperties>
      </inkml:inkSource>
      <inkml:timestamp xml:id="ts0" timeString="2024-06-16T09:15:59.401"/>
    </inkml:context>
    <inkml:brush xml:id="br0">
      <inkml:brushProperty name="width" value="0.3" units="cm"/>
      <inkml:brushProperty name="height" value="0.6" units="cm"/>
      <inkml:brushProperty name="color" value="#FFFC00"/>
      <inkml:brushProperty name="tip" value="rectangle"/>
      <inkml:brushProperty name="rasterOp" value="maskPen"/>
      <inkml:brushProperty name="ignorePressure" value="1"/>
    </inkml:brush>
  </inkml:definitions>
  <inkml:trace contextRef="#ctx0" brushRef="#br0">1 306,'4'0,"40"-8,88-8,99-13,123-10,49 1,83-6,64 6,11 8,-23 5,-51 7,-62 7,-87 5,-92 3,-88 3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1494155" y="2506344"/>
            <a:ext cx="615568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Tahoma"/>
                <a:cs typeface="Tahoma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image" Target="../media/image1.png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bk object 16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blipFill>
            <a:blip r:embed="rId7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44065" y="800099"/>
            <a:ext cx="5055869" cy="69723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44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739140" y="1876687"/>
            <a:ext cx="7664450" cy="2847975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200" b="0" i="0">
                <a:solidFill>
                  <a:schemeClr val="tx1"/>
                </a:solidFill>
                <a:latin typeface="宋体"/>
                <a:cs typeface="宋体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6/16/2024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658368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t>‹#›</a:t>
            </a:fld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3.png"/><Relationship Id="rId4" Type="http://schemas.openxmlformats.org/officeDocument/2006/relationships/customXml" Target="../ink/ink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customXml" Target="../ink/ink3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customXml" Target="../ink/ink7.xml"/><Relationship Id="rId3" Type="http://schemas.openxmlformats.org/officeDocument/2006/relationships/image" Target="../media/image5.png"/><Relationship Id="rId7" Type="http://schemas.openxmlformats.org/officeDocument/2006/relationships/image" Target="../media/image7.png"/><Relationship Id="rId2" Type="http://schemas.openxmlformats.org/officeDocument/2006/relationships/customXml" Target="../ink/ink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.xml"/><Relationship Id="rId5" Type="http://schemas.openxmlformats.org/officeDocument/2006/relationships/image" Target="../media/image6.png"/><Relationship Id="rId4" Type="http://schemas.openxmlformats.org/officeDocument/2006/relationships/customXml" Target="../ink/ink5.xml"/><Relationship Id="rId9" Type="http://schemas.openxmlformats.org/officeDocument/2006/relationships/image" Target="../media/image8.png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8.xml.rels><?xml version="1.0" encoding="UTF-8" standalone="yes"?>
<Relationships xmlns="http://schemas.openxmlformats.org/package/2006/relationships"><Relationship Id="rId8" Type="http://schemas.openxmlformats.org/officeDocument/2006/relationships/customXml" Target="../ink/ink11.xml"/><Relationship Id="rId3" Type="http://schemas.openxmlformats.org/officeDocument/2006/relationships/image" Target="../media/image9.png"/><Relationship Id="rId7" Type="http://schemas.openxmlformats.org/officeDocument/2006/relationships/image" Target="../media/image11.png"/><Relationship Id="rId2" Type="http://schemas.openxmlformats.org/officeDocument/2006/relationships/customXml" Target="../ink/ink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0.xml"/><Relationship Id="rId11" Type="http://schemas.openxmlformats.org/officeDocument/2006/relationships/image" Target="../media/image13.png"/><Relationship Id="rId5" Type="http://schemas.openxmlformats.org/officeDocument/2006/relationships/image" Target="../media/image10.png"/><Relationship Id="rId10" Type="http://schemas.openxmlformats.org/officeDocument/2006/relationships/customXml" Target="../ink/ink12.xml"/><Relationship Id="rId4" Type="http://schemas.openxmlformats.org/officeDocument/2006/relationships/customXml" Target="../ink/ink9.xml"/><Relationship Id="rId9" Type="http://schemas.openxmlformats.org/officeDocument/2006/relationships/image" Target="../media/image12.png"/></Relationships>
</file>

<file path=ppt/slides/_rels/slide3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png"/><Relationship Id="rId2" Type="http://schemas.openxmlformats.org/officeDocument/2006/relationships/customXml" Target="../ink/ink13.xml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3.xml.rels><?xml version="1.0" encoding="UTF-8" standalone="yes"?>
<Relationships xmlns="http://schemas.openxmlformats.org/package/2006/relationships"><Relationship Id="rId3" Type="http://schemas.openxmlformats.org/officeDocument/2006/relationships/image" Target="../media/image15.png"/><Relationship Id="rId2" Type="http://schemas.openxmlformats.org/officeDocument/2006/relationships/customXml" Target="../ink/ink14.xml"/><Relationship Id="rId1" Type="http://schemas.openxmlformats.org/officeDocument/2006/relationships/slideLayout" Target="../slideLayouts/slideLayout2.xml"/></Relationships>
</file>

<file path=ppt/slides/_rels/slide44.xml.rels><?xml version="1.0" encoding="UTF-8" standalone="yes"?>
<Relationships xmlns="http://schemas.openxmlformats.org/package/2006/relationships"><Relationship Id="rId3" Type="http://schemas.openxmlformats.org/officeDocument/2006/relationships/customXml" Target="../ink/ink15.xml"/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8.png"/><Relationship Id="rId5" Type="http://schemas.openxmlformats.org/officeDocument/2006/relationships/customXml" Target="../ink/ink16.xml"/><Relationship Id="rId4" Type="http://schemas.openxmlformats.org/officeDocument/2006/relationships/image" Target="../media/image17.png"/></Relationships>
</file>

<file path=ppt/slides/_rels/slide45.xml.rels><?xml version="1.0" encoding="UTF-8" standalone="yes"?>
<Relationships xmlns="http://schemas.openxmlformats.org/package/2006/relationships"><Relationship Id="rId3" Type="http://schemas.openxmlformats.org/officeDocument/2006/relationships/image" Target="../media/image19.png"/><Relationship Id="rId7" Type="http://schemas.openxmlformats.org/officeDocument/2006/relationships/image" Target="../media/image21.png"/><Relationship Id="rId2" Type="http://schemas.openxmlformats.org/officeDocument/2006/relationships/customXml" Target="../ink/ink17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19.xml"/><Relationship Id="rId5" Type="http://schemas.openxmlformats.org/officeDocument/2006/relationships/image" Target="../media/image20.png"/><Relationship Id="rId4" Type="http://schemas.openxmlformats.org/officeDocument/2006/relationships/customXml" Target="../ink/ink18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png"/><Relationship Id="rId1" Type="http://schemas.openxmlformats.org/officeDocument/2006/relationships/slideLayout" Target="../slideLayouts/slideLayout2.xml"/></Relationships>
</file>

<file path=ppt/slides/_rels/slide52.xml.rels><?xml version="1.0" encoding="UTF-8" standalone="yes"?>
<Relationships xmlns="http://schemas.openxmlformats.org/package/2006/relationships"><Relationship Id="rId8" Type="http://schemas.openxmlformats.org/officeDocument/2006/relationships/customXml" Target="../ink/ink23.xml"/><Relationship Id="rId3" Type="http://schemas.openxmlformats.org/officeDocument/2006/relationships/image" Target="../media/image22.png"/><Relationship Id="rId7" Type="http://schemas.openxmlformats.org/officeDocument/2006/relationships/image" Target="../media/image24.png"/><Relationship Id="rId2" Type="http://schemas.openxmlformats.org/officeDocument/2006/relationships/customXml" Target="../ink/ink20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2.xml"/><Relationship Id="rId5" Type="http://schemas.openxmlformats.org/officeDocument/2006/relationships/image" Target="../media/image23.png"/><Relationship Id="rId4" Type="http://schemas.openxmlformats.org/officeDocument/2006/relationships/customXml" Target="../ink/ink21.xml"/><Relationship Id="rId9" Type="http://schemas.openxmlformats.org/officeDocument/2006/relationships/image" Target="../media/image25.png"/></Relationships>
</file>

<file path=ppt/slides/_rels/slide53.xml.rels><?xml version="1.0" encoding="UTF-8" standalone="yes"?>
<Relationships xmlns="http://schemas.openxmlformats.org/package/2006/relationships"><Relationship Id="rId8" Type="http://schemas.openxmlformats.org/officeDocument/2006/relationships/customXml" Target="../ink/ink27.xml"/><Relationship Id="rId13" Type="http://schemas.openxmlformats.org/officeDocument/2006/relationships/image" Target="../media/image31.png"/><Relationship Id="rId18" Type="http://schemas.openxmlformats.org/officeDocument/2006/relationships/customXml" Target="../ink/ink32.xml"/><Relationship Id="rId3" Type="http://schemas.openxmlformats.org/officeDocument/2006/relationships/image" Target="../media/image26.png"/><Relationship Id="rId21" Type="http://schemas.openxmlformats.org/officeDocument/2006/relationships/image" Target="../media/image35.png"/><Relationship Id="rId7" Type="http://schemas.openxmlformats.org/officeDocument/2006/relationships/image" Target="../media/image28.png"/><Relationship Id="rId12" Type="http://schemas.openxmlformats.org/officeDocument/2006/relationships/customXml" Target="../ink/ink29.xml"/><Relationship Id="rId17" Type="http://schemas.openxmlformats.org/officeDocument/2006/relationships/image" Target="../media/image33.png"/><Relationship Id="rId25" Type="http://schemas.openxmlformats.org/officeDocument/2006/relationships/image" Target="../media/image37.png"/><Relationship Id="rId2" Type="http://schemas.openxmlformats.org/officeDocument/2006/relationships/customXml" Target="../ink/ink24.xml"/><Relationship Id="rId16" Type="http://schemas.openxmlformats.org/officeDocument/2006/relationships/customXml" Target="../ink/ink31.xml"/><Relationship Id="rId20" Type="http://schemas.openxmlformats.org/officeDocument/2006/relationships/customXml" Target="../ink/ink33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26.xml"/><Relationship Id="rId11" Type="http://schemas.openxmlformats.org/officeDocument/2006/relationships/image" Target="../media/image30.png"/><Relationship Id="rId24" Type="http://schemas.openxmlformats.org/officeDocument/2006/relationships/customXml" Target="../ink/ink35.xml"/><Relationship Id="rId5" Type="http://schemas.openxmlformats.org/officeDocument/2006/relationships/image" Target="../media/image27.png"/><Relationship Id="rId15" Type="http://schemas.openxmlformats.org/officeDocument/2006/relationships/image" Target="../media/image32.png"/><Relationship Id="rId23" Type="http://schemas.openxmlformats.org/officeDocument/2006/relationships/image" Target="../media/image36.png"/><Relationship Id="rId10" Type="http://schemas.openxmlformats.org/officeDocument/2006/relationships/customXml" Target="../ink/ink28.xml"/><Relationship Id="rId19" Type="http://schemas.openxmlformats.org/officeDocument/2006/relationships/image" Target="../media/image34.png"/><Relationship Id="rId4" Type="http://schemas.openxmlformats.org/officeDocument/2006/relationships/customXml" Target="../ink/ink25.xml"/><Relationship Id="rId9" Type="http://schemas.openxmlformats.org/officeDocument/2006/relationships/image" Target="../media/image29.png"/><Relationship Id="rId14" Type="http://schemas.openxmlformats.org/officeDocument/2006/relationships/customXml" Target="../ink/ink30.xml"/><Relationship Id="rId22" Type="http://schemas.openxmlformats.org/officeDocument/2006/relationships/customXml" Target="../ink/ink34.xml"/></Relationships>
</file>

<file path=ppt/slides/_rels/slide54.xml.rels><?xml version="1.0" encoding="UTF-8" standalone="yes"?>
<Relationships xmlns="http://schemas.openxmlformats.org/package/2006/relationships"><Relationship Id="rId8" Type="http://schemas.openxmlformats.org/officeDocument/2006/relationships/customXml" Target="../ink/ink39.xml"/><Relationship Id="rId13" Type="http://schemas.openxmlformats.org/officeDocument/2006/relationships/image" Target="../media/image43.png"/><Relationship Id="rId18" Type="http://schemas.openxmlformats.org/officeDocument/2006/relationships/customXml" Target="../ink/ink44.xml"/><Relationship Id="rId26" Type="http://schemas.openxmlformats.org/officeDocument/2006/relationships/customXml" Target="../ink/ink48.xml"/><Relationship Id="rId3" Type="http://schemas.openxmlformats.org/officeDocument/2006/relationships/image" Target="../media/image38.png"/><Relationship Id="rId21" Type="http://schemas.openxmlformats.org/officeDocument/2006/relationships/image" Target="../media/image47.png"/><Relationship Id="rId7" Type="http://schemas.openxmlformats.org/officeDocument/2006/relationships/image" Target="../media/image40.png"/><Relationship Id="rId12" Type="http://schemas.openxmlformats.org/officeDocument/2006/relationships/customXml" Target="../ink/ink41.xml"/><Relationship Id="rId17" Type="http://schemas.openxmlformats.org/officeDocument/2006/relationships/image" Target="../media/image45.png"/><Relationship Id="rId25" Type="http://schemas.openxmlformats.org/officeDocument/2006/relationships/image" Target="../media/image49.png"/><Relationship Id="rId2" Type="http://schemas.openxmlformats.org/officeDocument/2006/relationships/customXml" Target="../ink/ink36.xml"/><Relationship Id="rId16" Type="http://schemas.openxmlformats.org/officeDocument/2006/relationships/customXml" Target="../ink/ink43.xml"/><Relationship Id="rId20" Type="http://schemas.openxmlformats.org/officeDocument/2006/relationships/customXml" Target="../ink/ink45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38.xml"/><Relationship Id="rId11" Type="http://schemas.openxmlformats.org/officeDocument/2006/relationships/image" Target="../media/image42.png"/><Relationship Id="rId24" Type="http://schemas.openxmlformats.org/officeDocument/2006/relationships/customXml" Target="../ink/ink47.xml"/><Relationship Id="rId5" Type="http://schemas.openxmlformats.org/officeDocument/2006/relationships/image" Target="../media/image39.png"/><Relationship Id="rId15" Type="http://schemas.openxmlformats.org/officeDocument/2006/relationships/image" Target="../media/image44.png"/><Relationship Id="rId23" Type="http://schemas.openxmlformats.org/officeDocument/2006/relationships/image" Target="../media/image48.png"/><Relationship Id="rId10" Type="http://schemas.openxmlformats.org/officeDocument/2006/relationships/customXml" Target="../ink/ink40.xml"/><Relationship Id="rId19" Type="http://schemas.openxmlformats.org/officeDocument/2006/relationships/image" Target="../media/image46.png"/><Relationship Id="rId4" Type="http://schemas.openxmlformats.org/officeDocument/2006/relationships/customXml" Target="../ink/ink37.xml"/><Relationship Id="rId9" Type="http://schemas.openxmlformats.org/officeDocument/2006/relationships/image" Target="../media/image41.png"/><Relationship Id="rId14" Type="http://schemas.openxmlformats.org/officeDocument/2006/relationships/customXml" Target="../ink/ink42.xml"/><Relationship Id="rId22" Type="http://schemas.openxmlformats.org/officeDocument/2006/relationships/customXml" Target="../ink/ink46.xml"/><Relationship Id="rId27" Type="http://schemas.openxmlformats.org/officeDocument/2006/relationships/image" Target="../media/image50.png"/></Relationships>
</file>

<file path=ppt/slides/_rels/slide55.xml.rels><?xml version="1.0" encoding="UTF-8" standalone="yes"?>
<Relationships xmlns="http://schemas.openxmlformats.org/package/2006/relationships"><Relationship Id="rId8" Type="http://schemas.openxmlformats.org/officeDocument/2006/relationships/customXml" Target="../ink/ink52.xml"/><Relationship Id="rId13" Type="http://schemas.openxmlformats.org/officeDocument/2006/relationships/image" Target="../media/image56.png"/><Relationship Id="rId18" Type="http://schemas.openxmlformats.org/officeDocument/2006/relationships/customXml" Target="../ink/ink57.xml"/><Relationship Id="rId3" Type="http://schemas.openxmlformats.org/officeDocument/2006/relationships/image" Target="../media/image51.png"/><Relationship Id="rId7" Type="http://schemas.openxmlformats.org/officeDocument/2006/relationships/image" Target="../media/image53.png"/><Relationship Id="rId12" Type="http://schemas.openxmlformats.org/officeDocument/2006/relationships/customXml" Target="../ink/ink54.xml"/><Relationship Id="rId17" Type="http://schemas.openxmlformats.org/officeDocument/2006/relationships/image" Target="../media/image58.png"/><Relationship Id="rId2" Type="http://schemas.openxmlformats.org/officeDocument/2006/relationships/customXml" Target="../ink/ink49.xml"/><Relationship Id="rId16" Type="http://schemas.openxmlformats.org/officeDocument/2006/relationships/customXml" Target="../ink/ink56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51.xml"/><Relationship Id="rId11" Type="http://schemas.openxmlformats.org/officeDocument/2006/relationships/image" Target="../media/image55.png"/><Relationship Id="rId5" Type="http://schemas.openxmlformats.org/officeDocument/2006/relationships/image" Target="../media/image52.png"/><Relationship Id="rId15" Type="http://schemas.openxmlformats.org/officeDocument/2006/relationships/image" Target="../media/image57.png"/><Relationship Id="rId10" Type="http://schemas.openxmlformats.org/officeDocument/2006/relationships/customXml" Target="../ink/ink53.xml"/><Relationship Id="rId19" Type="http://schemas.openxmlformats.org/officeDocument/2006/relationships/image" Target="../media/image59.png"/><Relationship Id="rId4" Type="http://schemas.openxmlformats.org/officeDocument/2006/relationships/customXml" Target="../ink/ink50.xml"/><Relationship Id="rId9" Type="http://schemas.openxmlformats.org/officeDocument/2006/relationships/image" Target="../media/image54.png"/><Relationship Id="rId14" Type="http://schemas.openxmlformats.org/officeDocument/2006/relationships/customXml" Target="../ink/ink55.xml"/></Relationships>
</file>

<file path=ppt/slides/_rels/slide56.xml.rels><?xml version="1.0" encoding="UTF-8" standalone="yes"?>
<Relationships xmlns="http://schemas.openxmlformats.org/package/2006/relationships"><Relationship Id="rId8" Type="http://schemas.openxmlformats.org/officeDocument/2006/relationships/customXml" Target="../ink/ink61.xml"/><Relationship Id="rId3" Type="http://schemas.openxmlformats.org/officeDocument/2006/relationships/image" Target="../media/image60.png"/><Relationship Id="rId7" Type="http://schemas.openxmlformats.org/officeDocument/2006/relationships/image" Target="../media/image62.png"/><Relationship Id="rId2" Type="http://schemas.openxmlformats.org/officeDocument/2006/relationships/customXml" Target="../ink/ink58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0.xml"/><Relationship Id="rId5" Type="http://schemas.openxmlformats.org/officeDocument/2006/relationships/image" Target="../media/image61.png"/><Relationship Id="rId4" Type="http://schemas.openxmlformats.org/officeDocument/2006/relationships/customXml" Target="../ink/ink59.xml"/><Relationship Id="rId9" Type="http://schemas.openxmlformats.org/officeDocument/2006/relationships/image" Target="../media/image63.png"/></Relationships>
</file>

<file path=ppt/slides/_rels/slide5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9.xml.rels><?xml version="1.0" encoding="UTF-8" standalone="yes"?>
<Relationships xmlns="http://schemas.openxmlformats.org/package/2006/relationships"><Relationship Id="rId3" Type="http://schemas.openxmlformats.org/officeDocument/2006/relationships/image" Target="../media/image64.png"/><Relationship Id="rId2" Type="http://schemas.openxmlformats.org/officeDocument/2006/relationships/customXml" Target="../ink/ink6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65.png"/><Relationship Id="rId4" Type="http://schemas.openxmlformats.org/officeDocument/2006/relationships/customXml" Target="../ink/ink63.xml"/></Relationships>
</file>

<file path=ppt/slides/_rels/slide6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1.xml.rels><?xml version="1.0" encoding="UTF-8" standalone="yes"?>
<Relationships xmlns="http://schemas.openxmlformats.org/package/2006/relationships"><Relationship Id="rId8" Type="http://schemas.openxmlformats.org/officeDocument/2006/relationships/customXml" Target="../ink/ink67.xml"/><Relationship Id="rId3" Type="http://schemas.openxmlformats.org/officeDocument/2006/relationships/image" Target="../media/image39.png"/><Relationship Id="rId7" Type="http://schemas.openxmlformats.org/officeDocument/2006/relationships/image" Target="../media/image67.png"/><Relationship Id="rId2" Type="http://schemas.openxmlformats.org/officeDocument/2006/relationships/customXml" Target="../ink/ink64.xml"/><Relationship Id="rId1" Type="http://schemas.openxmlformats.org/officeDocument/2006/relationships/slideLayout" Target="../slideLayouts/slideLayout2.xml"/><Relationship Id="rId6" Type="http://schemas.openxmlformats.org/officeDocument/2006/relationships/customXml" Target="../ink/ink66.xml"/><Relationship Id="rId5" Type="http://schemas.openxmlformats.org/officeDocument/2006/relationships/image" Target="../media/image66.png"/><Relationship Id="rId4" Type="http://schemas.openxmlformats.org/officeDocument/2006/relationships/customXml" Target="../ink/ink65.xml"/><Relationship Id="rId9" Type="http://schemas.openxmlformats.org/officeDocument/2006/relationships/image" Target="../media/image68.png"/></Relationships>
</file>

<file path=ppt/slides/_rels/slide6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265159" y="6270625"/>
            <a:ext cx="114935" cy="24002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400" dirty="0">
                <a:latin typeface="Times New Roman"/>
                <a:cs typeface="Times New Roman"/>
              </a:rPr>
              <a:t>1</a:t>
            </a:r>
            <a:endParaRPr sz="1400"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ctr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-5" dirty="0"/>
              <a:t>Functional</a:t>
            </a:r>
            <a:r>
              <a:rPr spc="-40" dirty="0"/>
              <a:t> </a:t>
            </a:r>
            <a:r>
              <a:rPr spc="-5" dirty="0"/>
              <a:t>Dependencies</a:t>
            </a:r>
          </a:p>
        </p:txBody>
      </p:sp>
      <p:sp>
        <p:nvSpPr>
          <p:cNvPr id="4" name="object 4"/>
          <p:cNvSpPr txBox="1"/>
          <p:nvPr/>
        </p:nvSpPr>
        <p:spPr>
          <a:xfrm>
            <a:off x="3746500" y="3895725"/>
            <a:ext cx="1651635" cy="51435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3200" dirty="0">
                <a:latin typeface="宋体"/>
                <a:cs typeface="宋体"/>
              </a:rPr>
              <a:t>补充知</a:t>
            </a:r>
            <a:r>
              <a:rPr sz="3200" spc="5" dirty="0">
                <a:latin typeface="宋体"/>
                <a:cs typeface="宋体"/>
              </a:rPr>
              <a:t>识</a:t>
            </a:r>
            <a:endParaRPr sz="32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6970"/>
            <a:ext cx="7538720" cy="431292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公理系</a:t>
            </a:r>
            <a:r>
              <a:rPr sz="3200" spc="5" dirty="0">
                <a:latin typeface="宋体"/>
                <a:cs typeface="宋体"/>
              </a:rPr>
              <a:t>统</a:t>
            </a:r>
            <a:endParaRPr sz="3200" dirty="0">
              <a:latin typeface="宋体"/>
              <a:cs typeface="宋体"/>
            </a:endParaRPr>
          </a:p>
          <a:p>
            <a:pPr marL="755650" marR="19050" lvl="1" indent="-285750" algn="just">
              <a:lnSpc>
                <a:spcPct val="89900"/>
              </a:lnSpc>
              <a:spcBef>
                <a:spcPts val="50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函数依赖的公理系统是模式分解算法的理</a:t>
            </a:r>
            <a:r>
              <a:rPr sz="2800" spc="-5" dirty="0">
                <a:latin typeface="宋体"/>
                <a:cs typeface="宋体"/>
              </a:rPr>
              <a:t>论 </a:t>
            </a:r>
            <a:r>
              <a:rPr sz="2800" dirty="0">
                <a:latin typeface="宋体"/>
                <a:cs typeface="宋体"/>
              </a:rPr>
              <a:t>基础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7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公理系统就是一个有效</a:t>
            </a:r>
            <a:r>
              <a:rPr sz="2800" spc="-5" dirty="0">
                <a:latin typeface="宋体"/>
                <a:cs typeface="宋体"/>
              </a:rPr>
              <a:t>而 </a:t>
            </a:r>
            <a:r>
              <a:rPr sz="2800" dirty="0">
                <a:latin typeface="宋体"/>
                <a:cs typeface="宋体"/>
              </a:rPr>
              <a:t>完备的公理系统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54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spc="-5" dirty="0">
                <a:latin typeface="Tahoma"/>
                <a:cs typeface="Tahoma"/>
              </a:rPr>
              <a:t>5.11</a:t>
            </a:r>
            <a:endParaRPr sz="3200" dirty="0">
              <a:latin typeface="Tahoma"/>
              <a:cs typeface="Tahoma"/>
            </a:endParaRPr>
          </a:p>
          <a:p>
            <a:pPr marL="755650" lvl="1" indent="-285750">
              <a:lnSpc>
                <a:spcPts val="3190"/>
              </a:lnSpc>
              <a:spcBef>
                <a:spcPts val="3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对于满足一组函数依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54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2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的关系模</a:t>
            </a:r>
            <a:r>
              <a:rPr sz="2800" spc="-5" dirty="0">
                <a:latin typeface="宋体"/>
                <a:cs typeface="宋体"/>
              </a:rPr>
              <a:t>式</a:t>
            </a:r>
            <a:r>
              <a:rPr sz="2800" spc="-54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endParaRPr sz="2800" dirty="0">
              <a:latin typeface="Tahoma"/>
              <a:cs typeface="Tahoma"/>
            </a:endParaRPr>
          </a:p>
          <a:p>
            <a:pPr marL="755650" marR="5080">
              <a:lnSpc>
                <a:spcPts val="3020"/>
              </a:lnSpc>
              <a:spcBef>
                <a:spcPts val="215"/>
              </a:spcBef>
            </a:pP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），其任何一个关系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，若函数依赖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Y </a:t>
            </a:r>
            <a:r>
              <a:rPr sz="2800" dirty="0">
                <a:latin typeface="宋体"/>
                <a:cs typeface="宋体"/>
              </a:rPr>
              <a:t>都成立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（即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r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中任意两元组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s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，若 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则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）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</a:t>
            </a:r>
            <a:r>
              <a:rPr sz="2800" spc="-5" dirty="0">
                <a:latin typeface="宋体"/>
                <a:cs typeface="宋体"/>
              </a:rPr>
              <a:t>称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逻辑</a:t>
            </a:r>
            <a:r>
              <a:rPr sz="2800" spc="-5" dirty="0">
                <a:latin typeface="宋体"/>
                <a:cs typeface="宋体"/>
              </a:rPr>
              <a:t>蕴 </a:t>
            </a:r>
            <a:r>
              <a:rPr sz="2800" dirty="0">
                <a:latin typeface="宋体"/>
                <a:cs typeface="宋体"/>
              </a:rPr>
              <a:t>含</a:t>
            </a:r>
            <a:r>
              <a:rPr sz="2800" spc="-5" dirty="0">
                <a:latin typeface="Tahoma"/>
                <a:cs typeface="Tahoma"/>
              </a:rPr>
              <a:t>X→Y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7838"/>
            <a:ext cx="7518400" cy="4391025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41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</a:t>
            </a:r>
            <a:r>
              <a:rPr sz="2800" spc="-5" dirty="0">
                <a:latin typeface="宋体"/>
                <a:cs typeface="宋体"/>
              </a:rPr>
              <a:t>统</a:t>
            </a:r>
            <a:endParaRPr sz="2800" dirty="0">
              <a:latin typeface="宋体"/>
              <a:cs typeface="宋体"/>
            </a:endParaRPr>
          </a:p>
          <a:p>
            <a:pPr marL="1155065" marR="5080" lvl="1" indent="-228600" algn="just">
              <a:lnSpc>
                <a:spcPct val="87700"/>
              </a:lnSpc>
              <a:spcBef>
                <a:spcPts val="6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为属性总体，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上的一组函数依赖，于是 有关系模式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对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来说有以下 的推理规则：</a:t>
            </a:r>
          </a:p>
          <a:p>
            <a:pPr marL="755650" indent="-285750">
              <a:lnSpc>
                <a:spcPct val="100000"/>
              </a:lnSpc>
              <a:spcBef>
                <a:spcPts val="44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A1</a:t>
            </a:r>
            <a:r>
              <a:rPr sz="2600" dirty="0">
                <a:latin typeface="宋体"/>
                <a:cs typeface="宋体"/>
              </a:rPr>
              <a:t>自反律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Reflexivity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114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U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，则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</a:p>
          <a:p>
            <a:pPr marL="755650" indent="-285750">
              <a:lnSpc>
                <a:spcPct val="100000"/>
              </a:lnSpc>
              <a:spcBef>
                <a:spcPts val="4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A2</a:t>
            </a:r>
            <a:r>
              <a:rPr sz="2600" dirty="0">
                <a:latin typeface="宋体"/>
                <a:cs typeface="宋体"/>
              </a:rPr>
              <a:t>增广律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Augmentation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065" marR="111125" lvl="1" indent="-228600" algn="just">
              <a:lnSpc>
                <a:spcPts val="263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所蕴含，且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U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，则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→Y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 涵。</a:t>
            </a:r>
          </a:p>
          <a:p>
            <a:pPr marL="755650" indent="-285750">
              <a:lnSpc>
                <a:spcPct val="100000"/>
              </a:lnSpc>
              <a:spcBef>
                <a:spcPts val="3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spc="-5" dirty="0">
                <a:latin typeface="Tahoma"/>
                <a:cs typeface="Tahoma"/>
              </a:rPr>
              <a:t>A3</a:t>
            </a:r>
            <a:r>
              <a:rPr sz="2600" dirty="0">
                <a:latin typeface="宋体"/>
                <a:cs typeface="宋体"/>
              </a:rPr>
              <a:t>传递律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Transitivity</a:t>
            </a:r>
            <a:r>
              <a:rPr sz="2600" spc="-5" dirty="0">
                <a:latin typeface="宋体"/>
                <a:cs typeface="宋体"/>
              </a:rPr>
              <a:t>）：</a:t>
            </a:r>
            <a:endParaRPr sz="26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Y→Z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所蕴涵，则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所蕴涵。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20609" cy="425196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推理规则是正确的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1155700" indent="-22923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从定义出发证明推理规则的正确性</a:t>
            </a:r>
          </a:p>
          <a:p>
            <a:pPr marL="755650" indent="-285750">
              <a:lnSpc>
                <a:spcPct val="100000"/>
              </a:lnSpc>
              <a:spcBef>
                <a:spcPts val="8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自反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 err="1">
                <a:latin typeface="宋体"/>
                <a:cs typeface="宋体"/>
              </a:rPr>
              <a:t>设</a:t>
            </a:r>
            <a:r>
              <a:rPr sz="2400" dirty="0" err="1">
                <a:latin typeface="Tahoma"/>
                <a:cs typeface="Tahoma"/>
              </a:rPr>
              <a:t>Y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X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1155065" marR="5080" indent="-228600">
              <a:lnSpc>
                <a:spcPct val="97700"/>
              </a:lnSpc>
              <a:spcBef>
                <a:spcPts val="810"/>
              </a:spcBef>
              <a:buClr>
                <a:srgbClr val="CC00CC"/>
              </a:buClr>
              <a:buChar char="•"/>
              <a:tabLst>
                <a:tab pos="1155700" algn="l"/>
              </a:tabLst>
            </a:pPr>
            <a:r>
              <a:rPr sz="2400" dirty="0" err="1">
                <a:latin typeface="宋体"/>
                <a:cs typeface="宋体"/>
              </a:rPr>
              <a:t>对</a:t>
            </a:r>
            <a:r>
              <a:rPr sz="2400" spc="-5" dirty="0" err="1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(U,F)</a:t>
            </a:r>
            <a:r>
              <a:rPr sz="2400" dirty="0" err="1">
                <a:highlight>
                  <a:srgbClr val="FFFF00"/>
                </a:highlight>
                <a:latin typeface="宋体"/>
                <a:cs typeface="宋体"/>
              </a:rPr>
              <a:t>的任一关系</a:t>
            </a:r>
            <a:r>
              <a:rPr sz="2400" dirty="0" err="1">
                <a:highlight>
                  <a:srgbClr val="FFFF00"/>
                </a:highlight>
                <a:latin typeface="Tahoma"/>
                <a:cs typeface="Tahoma"/>
              </a:rPr>
              <a:t>r</a:t>
            </a:r>
            <a:r>
              <a:rPr sz="2400" dirty="0" err="1">
                <a:highlight>
                  <a:srgbClr val="FFFF00"/>
                </a:highlight>
                <a:latin typeface="宋体"/>
                <a:cs typeface="宋体"/>
              </a:rPr>
              <a:t>中的两个元组</a:t>
            </a:r>
            <a:r>
              <a:rPr sz="2400" spc="-5" dirty="0" err="1">
                <a:highlight>
                  <a:srgbClr val="FFFF00"/>
                </a:highlight>
                <a:latin typeface="Tahoma"/>
                <a:cs typeface="Tahoma"/>
              </a:rPr>
              <a:t>t</a:t>
            </a:r>
            <a:r>
              <a:rPr sz="2400" spc="-5" dirty="0" err="1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 err="1">
                <a:highlight>
                  <a:srgbClr val="FFFF00"/>
                </a:highlight>
                <a:latin typeface="Tahoma"/>
                <a:cs typeface="Tahoma"/>
              </a:rPr>
              <a:t>s</a:t>
            </a:r>
            <a:r>
              <a:rPr sz="2400" spc="-5" dirty="0" err="1">
                <a:latin typeface="宋体"/>
                <a:cs typeface="宋体"/>
              </a:rPr>
              <a:t>：</a:t>
            </a:r>
            <a:r>
              <a:rPr sz="2400" dirty="0" err="1">
                <a:latin typeface="宋体"/>
                <a:cs typeface="宋体"/>
              </a:rPr>
              <a:t>若有</a:t>
            </a:r>
            <a:r>
              <a:rPr sz="240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t[X]=s[X]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 err="1">
                <a:latin typeface="宋体"/>
                <a:cs typeface="宋体"/>
              </a:rPr>
              <a:t>由于</a:t>
            </a:r>
            <a:r>
              <a:rPr sz="2400" dirty="0" err="1">
                <a:latin typeface="Tahoma"/>
                <a:cs typeface="Tahoma"/>
              </a:rPr>
              <a:t>Y</a:t>
            </a:r>
            <a:r>
              <a:rPr sz="2400" dirty="0" err="1">
                <a:latin typeface="Lucida Sans Unicode"/>
                <a:cs typeface="Lucida Sans Unicode"/>
              </a:rPr>
              <a:t>⊆</a:t>
            </a:r>
            <a:r>
              <a:rPr sz="2400" dirty="0" err="1">
                <a:latin typeface="Tahoma"/>
                <a:cs typeface="Tahoma"/>
              </a:rPr>
              <a:t>X</a:t>
            </a:r>
            <a:r>
              <a:rPr sz="2400" dirty="0" err="1">
                <a:latin typeface="宋体"/>
                <a:cs typeface="宋体"/>
              </a:rPr>
              <a:t>，有</a:t>
            </a:r>
            <a:r>
              <a:rPr sz="2400" spc="-5" dirty="0" err="1">
                <a:latin typeface="Tahoma"/>
                <a:cs typeface="Tahoma"/>
              </a:rPr>
              <a:t>t</a:t>
            </a:r>
            <a:r>
              <a:rPr sz="2400" spc="-5" dirty="0">
                <a:latin typeface="Tahoma"/>
                <a:cs typeface="Tahoma"/>
              </a:rPr>
              <a:t>[Y]=s[Y]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 err="1">
                <a:latin typeface="宋体"/>
                <a:cs typeface="宋体"/>
              </a:rPr>
              <a:t>所以</a:t>
            </a:r>
            <a:r>
              <a:rPr sz="2400" dirty="0" err="1">
                <a:latin typeface="Tahoma"/>
                <a:cs typeface="Tahoma"/>
              </a:rPr>
              <a:t>X→Y</a:t>
            </a:r>
            <a:r>
              <a:rPr sz="2400" dirty="0">
                <a:latin typeface="Tahoma"/>
                <a:cs typeface="Tahoma"/>
              </a:rPr>
              <a:t>  </a:t>
            </a:r>
            <a:r>
              <a:rPr sz="2400" dirty="0" err="1">
                <a:latin typeface="宋体"/>
                <a:cs typeface="宋体"/>
              </a:rPr>
              <a:t>成立，自反律得证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62850" cy="309880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2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增广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所蕴含，且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。</a:t>
            </a:r>
          </a:p>
          <a:p>
            <a:pPr marL="1155700" lvl="2" indent="-229235">
              <a:lnSpc>
                <a:spcPct val="100000"/>
              </a:lnSpc>
              <a:spcBef>
                <a:spcPts val="74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的任一关系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中任意的两个元组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1155065" marR="5080" algn="just">
              <a:lnSpc>
                <a:spcPct val="100000"/>
              </a:lnSpc>
            </a:pPr>
            <a:r>
              <a:rPr sz="2400" dirty="0">
                <a:latin typeface="宋体"/>
                <a:cs typeface="宋体"/>
              </a:rPr>
              <a:t>；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t[XZ]=s[XZ]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则有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t[Z]=s[Z]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 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2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t[YZ]=s[YZ]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所以 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XZ→YZ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为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所蕴含</a:t>
            </a:r>
            <a:r>
              <a:rPr sz="2400" dirty="0">
                <a:latin typeface="宋体"/>
                <a:cs typeface="宋体"/>
              </a:rPr>
              <a:t>，增广律得证。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51420" cy="3116559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dirty="0">
                <a:latin typeface="宋体"/>
                <a:cs typeface="宋体"/>
              </a:rPr>
              <a:t>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3</a:t>
            </a:r>
            <a:r>
              <a:rPr sz="2800" spc="-5" dirty="0">
                <a:latin typeface="宋体"/>
                <a:cs typeface="宋体"/>
              </a:rPr>
              <a:t>）</a:t>
            </a:r>
            <a:r>
              <a:rPr sz="2800" dirty="0">
                <a:latin typeface="宋体"/>
                <a:cs typeface="宋体"/>
              </a:rPr>
              <a:t>传递</a:t>
            </a:r>
            <a:r>
              <a:rPr sz="2800" spc="-5" dirty="0">
                <a:latin typeface="宋体"/>
                <a:cs typeface="宋体"/>
              </a:rPr>
              <a:t>律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及</a:t>
            </a:r>
            <a:r>
              <a:rPr sz="2400" spc="-5" dirty="0">
                <a:latin typeface="Tahoma"/>
                <a:cs typeface="Tahoma"/>
              </a:rPr>
              <a:t>Y→Z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）的任一关系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中任意的两个元组</a:t>
            </a:r>
            <a:r>
              <a:rPr sz="2400" dirty="0">
                <a:latin typeface="Tahoma"/>
                <a:cs typeface="Tahoma"/>
              </a:rPr>
              <a:t>t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s</a:t>
            </a:r>
          </a:p>
          <a:p>
            <a:pPr marL="1155065" marR="210185">
              <a:lnSpc>
                <a:spcPct val="97700"/>
              </a:lnSpc>
              <a:spcBef>
                <a:spcPts val="70"/>
              </a:spcBef>
            </a:pPr>
            <a:r>
              <a:rPr sz="2400" dirty="0">
                <a:latin typeface="宋体"/>
                <a:cs typeface="宋体"/>
              </a:rPr>
              <a:t>；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若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t[X]=s[X]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10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t[Y]=s[Y]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再由 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Y→Z</a:t>
            </a:r>
            <a:r>
              <a:rPr sz="2400" spc="-65" dirty="0">
                <a:highlight>
                  <a:srgbClr val="FFFF00"/>
                </a:highlight>
                <a:latin typeface="Tahoma"/>
                <a:cs typeface="Tahoma"/>
              </a:rPr>
              <a:t> 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t[Z]=s[Z]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所以</a:t>
            </a:r>
            <a:r>
              <a:rPr sz="2400" spc="-5" dirty="0">
                <a:latin typeface="Tahoma"/>
                <a:cs typeface="Tahoma"/>
              </a:rPr>
              <a:t>X→Z</a:t>
            </a:r>
            <a:r>
              <a:rPr sz="2400" dirty="0">
                <a:latin typeface="宋体"/>
                <a:cs typeface="宋体"/>
              </a:rPr>
              <a:t>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所蕴含，传 递律得证。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695"/>
            <a:ext cx="7397750" cy="4342856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推理规</a:t>
            </a:r>
            <a:r>
              <a:rPr sz="3200" spc="5" dirty="0">
                <a:latin typeface="宋体"/>
                <a:cs typeface="宋体"/>
              </a:rPr>
              <a:t>则</a:t>
            </a:r>
            <a:endParaRPr sz="3200" dirty="0">
              <a:latin typeface="宋体"/>
              <a:cs typeface="宋体"/>
            </a:endParaRPr>
          </a:p>
          <a:p>
            <a:pPr marL="1155065" marR="5080" lvl="1" indent="-228600">
              <a:lnSpc>
                <a:spcPts val="2750"/>
              </a:lnSpc>
              <a:spcBef>
                <a:spcPts val="95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根据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、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宋体"/>
                <a:cs typeface="宋体"/>
              </a:rPr>
              <a:t>、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spc="-5" dirty="0">
                <a:latin typeface="Tahoma"/>
                <a:cs typeface="Tahoma"/>
              </a:rPr>
              <a:t>3</a:t>
            </a:r>
            <a:r>
              <a:rPr sz="2400" dirty="0">
                <a:latin typeface="宋体"/>
                <a:cs typeface="宋体"/>
              </a:rPr>
              <a:t>这三条规则可以得到三条推理 规则：</a:t>
            </a:r>
          </a:p>
          <a:p>
            <a:pPr marL="755650" indent="-28575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合并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伪传递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WY→Z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XW→Z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；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分解</a:t>
            </a:r>
            <a:r>
              <a:rPr sz="2800" dirty="0">
                <a:latin typeface="宋体"/>
                <a:cs typeface="宋体"/>
              </a:rPr>
              <a:t>规</a:t>
            </a:r>
            <a:r>
              <a:rPr sz="2800" spc="-5" dirty="0">
                <a:latin typeface="宋体"/>
                <a:cs typeface="宋体"/>
              </a:rPr>
              <a:t>则</a:t>
            </a:r>
            <a:endParaRPr sz="2800" dirty="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spc="-5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X→Z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648"/>
            <a:ext cx="7483475" cy="3489960"/>
          </a:xfrm>
          <a:prstGeom prst="rect">
            <a:avLst/>
          </a:prstGeom>
        </p:spPr>
        <p:txBody>
          <a:bodyPr vert="horz" wrap="square" lIns="0" tIns="8826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9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1181100" lvl="1" indent="-22923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根据合并规则和分解规则，得到</a:t>
            </a:r>
          </a:p>
          <a:p>
            <a:pPr marL="781050" marR="30480" indent="-285750">
              <a:lnSpc>
                <a:spcPct val="100000"/>
              </a:lnSpc>
              <a:spcBef>
                <a:spcPts val="7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→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1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2</a:t>
            </a:r>
            <a:r>
              <a:rPr sz="2800" dirty="0">
                <a:highlight>
                  <a:srgbClr val="FFFF00"/>
                </a:highlight>
                <a:latin typeface="Arial"/>
                <a:cs typeface="Arial"/>
              </a:rPr>
              <a:t>…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spc="7" baseline="-16975" dirty="0">
                <a:highlight>
                  <a:srgbClr val="FFFF00"/>
                </a:highlight>
                <a:latin typeface="Tahoma"/>
                <a:cs typeface="Tahoma"/>
              </a:rPr>
              <a:t>k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成立的充分必要条件是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→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A</a:t>
            </a:r>
            <a:r>
              <a:rPr sz="2700" baseline="-16975" dirty="0">
                <a:highlight>
                  <a:srgbClr val="FFFF00"/>
                </a:highlight>
                <a:latin typeface="Tahoma"/>
                <a:cs typeface="Tahoma"/>
              </a:rPr>
              <a:t>i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（  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i=1,2</a:t>
            </a:r>
            <a:r>
              <a:rPr sz="2800" spc="-5" dirty="0">
                <a:highlight>
                  <a:srgbClr val="FFFF00"/>
                </a:highlight>
                <a:latin typeface="Arial"/>
                <a:cs typeface="Arial"/>
              </a:rPr>
              <a:t>…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k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）。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1</a:t>
            </a:r>
          </a:p>
          <a:p>
            <a:pPr marL="781050" marR="180975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在关系模式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）中为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所逻辑蕴含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的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函数依赖的全体叫做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的闭包</a:t>
            </a:r>
            <a:r>
              <a:rPr sz="2800" dirty="0">
                <a:latin typeface="宋体"/>
                <a:cs typeface="宋体"/>
              </a:rPr>
              <a:t>，记为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367"/>
            <a:ext cx="7655559" cy="32226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公理是有效的、完备的</a:t>
            </a:r>
            <a:r>
              <a:rPr sz="3200" spc="5" dirty="0">
                <a:latin typeface="宋体"/>
                <a:cs typeface="宋体"/>
              </a:rPr>
              <a:t>。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有效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0465" marR="3048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出发根据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公理推导出来的每一个函 数依赖一定在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中；</a:t>
            </a:r>
            <a:endParaRPr sz="24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0465" marR="213995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81100" algn="l"/>
              </a:tabLst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中的每一个函数依赖，必定可以由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出发根据  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公理推导出来。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5600"/>
            <a:ext cx="7578725" cy="1854835"/>
          </a:xfrm>
          <a:prstGeom prst="rect">
            <a:avLst/>
          </a:prstGeom>
        </p:spPr>
        <p:txBody>
          <a:bodyPr vert="horz" wrap="square" lIns="0" tIns="110489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69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spc="-5" dirty="0">
                <a:latin typeface="Tahoma"/>
                <a:cs typeface="Tahoma"/>
              </a:rPr>
              <a:t>Armstrong</a:t>
            </a:r>
            <a:r>
              <a:rPr sz="3200" dirty="0">
                <a:latin typeface="宋体"/>
                <a:cs typeface="宋体"/>
              </a:rPr>
              <a:t>公理推导出来的依赖函数集</a:t>
            </a:r>
            <a:r>
              <a:rPr sz="3200" spc="5" dirty="0">
                <a:latin typeface="宋体"/>
                <a:cs typeface="宋体"/>
              </a:rPr>
              <a:t>合</a:t>
            </a:r>
            <a:endParaRPr sz="3200" dirty="0">
              <a:latin typeface="宋体"/>
              <a:cs typeface="宋体"/>
            </a:endParaRPr>
          </a:p>
          <a:p>
            <a:pPr marL="1155065" marR="137795" lvl="1" indent="-228600">
              <a:lnSpc>
                <a:spcPts val="2750"/>
              </a:lnSpc>
              <a:spcBef>
                <a:spcPts val="7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要证明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公理的完备性就必须求出该集 合。</a:t>
            </a:r>
          </a:p>
          <a:p>
            <a:pPr marL="1155700" lvl="1" indent="-229235">
              <a:lnSpc>
                <a:spcPct val="100000"/>
              </a:lnSpc>
              <a:spcBef>
                <a:spcPts val="63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该问题是</a:t>
            </a:r>
            <a:r>
              <a:rPr sz="2400" spc="-5" dirty="0">
                <a:latin typeface="Tahoma"/>
                <a:cs typeface="Tahoma"/>
              </a:rPr>
              <a:t>NP</a:t>
            </a:r>
            <a:r>
              <a:rPr sz="2400" dirty="0">
                <a:latin typeface="宋体"/>
                <a:cs typeface="宋体"/>
              </a:rPr>
              <a:t>完全问题。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2464"/>
            <a:ext cx="7242175" cy="10718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2</a:t>
            </a: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为属性集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上的一组函数依赖，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713864" y="3206750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012439"/>
            <a:ext cx="665289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  <a:tabLst>
                <a:tab pos="1530985" algn="l"/>
              </a:tabLst>
            </a:pP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75" dirty="0">
                <a:latin typeface="Tahoma"/>
                <a:cs typeface="Tahoma"/>
              </a:rPr>
              <a:t> </a:t>
            </a:r>
            <a:r>
              <a:rPr sz="2700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Tahoma"/>
                <a:cs typeface="Tahoma"/>
              </a:rPr>
              <a:t>={A</a:t>
            </a:r>
            <a:r>
              <a:rPr sz="2800" dirty="0">
                <a:latin typeface="MS UI Gothic"/>
                <a:cs typeface="MS UI Gothic"/>
              </a:rPr>
              <a:t>∣	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能由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根据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</a:t>
            </a:r>
            <a:r>
              <a:rPr sz="2800" spc="-5" dirty="0">
                <a:latin typeface="宋体"/>
                <a:cs typeface="宋体"/>
              </a:rPr>
              <a:t>导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707004" y="3634740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1482089" y="3440429"/>
            <a:ext cx="657860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出</a:t>
            </a:r>
            <a:r>
              <a:rPr sz="2800" spc="-5" dirty="0">
                <a:latin typeface="Tahoma"/>
                <a:cs typeface="Tahoma"/>
              </a:rPr>
              <a:t>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6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3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称为属性集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关于函数依赖集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507489" y="3847464"/>
            <a:ext cx="109156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闭包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1307"/>
            <a:ext cx="7447915" cy="1986914"/>
          </a:xfrm>
          <a:prstGeom prst="rect">
            <a:avLst/>
          </a:prstGeom>
        </p:spPr>
        <p:txBody>
          <a:bodyPr vert="horz" wrap="square" lIns="0" tIns="85090" rIns="0" bIns="0" rtlCol="0">
            <a:spAutoFit/>
          </a:bodyPr>
          <a:lstStyle/>
          <a:p>
            <a:pPr marL="1155700" indent="-229235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由引理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容易得出</a:t>
            </a:r>
          </a:p>
          <a:p>
            <a:pPr marL="414655" indent="-402590">
              <a:lnSpc>
                <a:spcPct val="100000"/>
              </a:lnSpc>
              <a:spcBef>
                <a:spcPts val="7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2</a:t>
            </a: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为属性集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上的一组函数依赖，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endParaRPr sz="2800" dirty="0">
              <a:latin typeface="Tahoma"/>
              <a:cs typeface="Tahoma"/>
            </a:endParaRPr>
          </a:p>
          <a:p>
            <a:pPr marL="755650">
              <a:lnSpc>
                <a:spcPct val="100000"/>
              </a:lnSpc>
              <a:spcBef>
                <a:spcPts val="190"/>
              </a:spcBef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5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X→Y</a:t>
            </a:r>
            <a:r>
              <a:rPr sz="2800" dirty="0">
                <a:latin typeface="宋体"/>
                <a:cs typeface="宋体"/>
              </a:rPr>
              <a:t>能由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根据</a:t>
            </a: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公理导出的</a:t>
            </a:r>
            <a:r>
              <a:rPr sz="2800" spc="-5" dirty="0">
                <a:latin typeface="宋体"/>
                <a:cs typeface="宋体"/>
              </a:rPr>
              <a:t>充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4335145" y="4073525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879214"/>
            <a:ext cx="354774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分必要条件是</a:t>
            </a:r>
            <a:r>
              <a:rPr sz="2800" spc="-5" dirty="0">
                <a:latin typeface="Tahoma"/>
                <a:cs typeface="Tahoma"/>
              </a:rPr>
              <a:t>Y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53539" y="4914265"/>
            <a:ext cx="6607175" cy="1106170"/>
          </a:xfrm>
          <a:prstGeom prst="rect">
            <a:avLst/>
          </a:prstGeom>
        </p:spPr>
        <p:txBody>
          <a:bodyPr vert="horz" wrap="square" lIns="0" tIns="20955" rIns="0" bIns="0" rtlCol="0">
            <a:spAutoFit/>
          </a:bodyPr>
          <a:lstStyle/>
          <a:p>
            <a:pPr marL="266700" marR="30480" indent="-228600">
              <a:lnSpc>
                <a:spcPct val="97700"/>
              </a:lnSpc>
              <a:spcBef>
                <a:spcPts val="16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判断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是否能够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根据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公理导出的 问题，就转化为求出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284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，判断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宋体"/>
                <a:cs typeface="宋体"/>
              </a:rPr>
              <a:t>是否为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子集 的问题。</a:t>
            </a: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E3FF8E2-8E7A-9084-DE44-819E9128AEA0}"/>
                  </a:ext>
                </a:extLst>
              </p14:cNvPr>
              <p14:cNvContentPartPr/>
              <p14:nvPr/>
            </p14:nvContentPartPr>
            <p14:xfrm>
              <a:off x="1977564" y="3699929"/>
              <a:ext cx="825120" cy="442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E3FF8E2-8E7A-9084-DE44-819E9128AEA0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23564" y="3591929"/>
                <a:ext cx="932760" cy="259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437179C-F2B6-51D3-C949-DB8817DE3902}"/>
                  </a:ext>
                </a:extLst>
              </p14:cNvPr>
              <p14:cNvContentPartPr/>
              <p14:nvPr/>
            </p14:nvContentPartPr>
            <p14:xfrm>
              <a:off x="3622044" y="3941129"/>
              <a:ext cx="1031760" cy="2566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437179C-F2B6-51D3-C949-DB8817DE3902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568044" y="3833129"/>
                <a:ext cx="1139400" cy="472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42464"/>
            <a:ext cx="7449184" cy="1071880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算法</a:t>
            </a:r>
            <a:r>
              <a:rPr sz="3200" dirty="0">
                <a:latin typeface="Tahoma"/>
                <a:cs typeface="Tahoma"/>
              </a:rPr>
              <a:t>1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求属性集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Lucida Sans Unicode"/>
                <a:cs typeface="Lucida Sans Unicode"/>
              </a:rPr>
              <a:t>⊆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）关于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上的函数依赖集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endParaRPr sz="2800">
              <a:latin typeface="Tahoma"/>
              <a:cs typeface="Tahoma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3013710"/>
            <a:ext cx="21043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宋体"/>
                <a:cs typeface="宋体"/>
              </a:rPr>
              <a:t>的闭包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30" dirty="0">
                <a:latin typeface="Tahoma"/>
                <a:cs typeface="Tahoma"/>
              </a:rPr>
              <a:t> </a:t>
            </a:r>
            <a:r>
              <a:rPr sz="2700" spc="22" baseline="21604" dirty="0">
                <a:latin typeface="Tahoma"/>
                <a:cs typeface="Tahoma"/>
              </a:rPr>
              <a:t>+</a:t>
            </a:r>
            <a:r>
              <a:rPr sz="2700" spc="405" baseline="21604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53539" y="3187739"/>
            <a:ext cx="1860550" cy="1155065"/>
          </a:xfrm>
          <a:prstGeom prst="rect">
            <a:avLst/>
          </a:prstGeom>
        </p:spPr>
        <p:txBody>
          <a:bodyPr vert="horz" wrap="square" lIns="0" tIns="36194" rIns="0" bIns="0" rtlCol="0">
            <a:spAutoFit/>
          </a:bodyPr>
          <a:lstStyle/>
          <a:p>
            <a:pPr marL="1139825">
              <a:lnSpc>
                <a:spcPct val="100000"/>
              </a:lnSpc>
              <a:spcBef>
                <a:spcPts val="284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21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输入：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F</a:t>
            </a:r>
            <a:endParaRPr sz="2400">
              <a:latin typeface="Tahoma"/>
              <a:cs typeface="Tahoma"/>
            </a:endParaRPr>
          </a:p>
          <a:p>
            <a:pPr marL="2667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输出：</a:t>
            </a:r>
            <a:r>
              <a:rPr sz="2400" spc="-484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6970"/>
            <a:ext cx="6953250" cy="3746500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算法</a:t>
            </a:r>
            <a:r>
              <a:rPr sz="3200" spc="-5" dirty="0">
                <a:latin typeface="Tahoma"/>
                <a:cs typeface="Tahoma"/>
              </a:rPr>
              <a:t>1</a:t>
            </a:r>
            <a:r>
              <a:rPr sz="3200" spc="-5" dirty="0">
                <a:latin typeface="宋体"/>
                <a:cs typeface="宋体"/>
              </a:rPr>
              <a:t>（</a:t>
            </a:r>
            <a:r>
              <a:rPr sz="3200" dirty="0">
                <a:latin typeface="宋体"/>
                <a:cs typeface="宋体"/>
              </a:rPr>
              <a:t>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1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步</a:t>
            </a:r>
            <a:r>
              <a:rPr sz="2800" spc="-5" dirty="0">
                <a:latin typeface="宋体"/>
                <a:cs typeface="宋体"/>
              </a:rPr>
              <a:t>骤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43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=X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i=0</a:t>
            </a:r>
            <a:endParaRPr sz="2400">
              <a:latin typeface="Tahoma"/>
              <a:cs typeface="Tahoma"/>
            </a:endParaRPr>
          </a:p>
          <a:p>
            <a:pPr marL="1181100" lvl="2" indent="-229235">
              <a:lnSpc>
                <a:spcPts val="2655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，这里</a:t>
            </a:r>
            <a:endParaRPr sz="2400">
              <a:latin typeface="宋体"/>
              <a:cs typeface="宋体"/>
            </a:endParaRPr>
          </a:p>
          <a:p>
            <a:pPr marL="1180465">
              <a:lnSpc>
                <a:spcPts val="2580"/>
              </a:lnSpc>
            </a:pPr>
            <a:r>
              <a:rPr sz="2400" spc="-5" dirty="0">
                <a:latin typeface="Tahoma"/>
                <a:cs typeface="Tahoma"/>
              </a:rPr>
              <a:t>B={A|(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-5" dirty="0">
                <a:latin typeface="Tahoma"/>
                <a:cs typeface="Tahoma"/>
              </a:rPr>
              <a:t>V)(</a:t>
            </a:r>
            <a:r>
              <a:rPr sz="2400" spc="-5" dirty="0">
                <a:latin typeface="Symbol"/>
                <a:cs typeface="Symbol"/>
              </a:rPr>
              <a:t></a:t>
            </a:r>
            <a:r>
              <a:rPr sz="2400" spc="-5" dirty="0">
                <a:latin typeface="Tahoma"/>
                <a:cs typeface="Tahoma"/>
              </a:rPr>
              <a:t>W)(V→W</a:t>
            </a:r>
            <a:r>
              <a:rPr sz="2400" spc="-5" dirty="0">
                <a:latin typeface="宋体"/>
                <a:cs typeface="宋体"/>
              </a:rPr>
              <a:t>∈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MS UI Gothic"/>
                <a:cs typeface="MS UI Gothic"/>
              </a:rPr>
              <a:t>∧</a:t>
            </a:r>
            <a:r>
              <a:rPr sz="2400" spc="-5" dirty="0">
                <a:latin typeface="Tahoma"/>
                <a:cs typeface="Tahoma"/>
              </a:rPr>
              <a:t>V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spc="-5" dirty="0">
                <a:latin typeface="MS UI Gothic"/>
                <a:cs typeface="MS UI Gothic"/>
              </a:rPr>
              <a:t>∧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宋体"/>
                <a:cs typeface="宋体"/>
              </a:rPr>
              <a:t>∈</a:t>
            </a:r>
            <a:r>
              <a:rPr sz="2400" spc="-5" dirty="0">
                <a:latin typeface="Tahoma"/>
                <a:cs typeface="Tahoma"/>
              </a:rPr>
              <a:t>W)</a:t>
            </a:r>
            <a:endParaRPr sz="2400">
              <a:latin typeface="Tahoma"/>
              <a:cs typeface="Tahoma"/>
            </a:endParaRPr>
          </a:p>
          <a:p>
            <a:pPr marL="1181100" lvl="2" indent="-229235">
              <a:lnSpc>
                <a:spcPts val="2805"/>
              </a:lnSpc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3600" baseline="-13888" dirty="0">
                <a:latin typeface="宋体"/>
                <a:cs typeface="宋体"/>
              </a:rPr>
              <a:t>⑶</a:t>
            </a:r>
            <a:r>
              <a:rPr sz="3600" spc="-682" baseline="-13888" dirty="0">
                <a:latin typeface="宋体"/>
                <a:cs typeface="宋体"/>
              </a:rPr>
              <a:t> </a:t>
            </a:r>
            <a:r>
              <a:rPr sz="3600" spc="-7" baseline="-13888" dirty="0">
                <a:latin typeface="Tahoma"/>
                <a:cs typeface="Tahoma"/>
              </a:rPr>
              <a:t>X</a:t>
            </a:r>
            <a:r>
              <a:rPr sz="1550" spc="-5" dirty="0">
                <a:latin typeface="Tahoma"/>
                <a:cs typeface="Tahoma"/>
              </a:rPr>
              <a:t>(i+1)</a:t>
            </a:r>
            <a:r>
              <a:rPr sz="3600" spc="-7" baseline="-13888" dirty="0">
                <a:latin typeface="Tahoma"/>
                <a:cs typeface="Tahoma"/>
              </a:rPr>
              <a:t>=B</a:t>
            </a:r>
            <a:r>
              <a:rPr sz="3600" spc="-7" baseline="-13888" dirty="0">
                <a:latin typeface="宋体"/>
                <a:cs typeface="宋体"/>
              </a:rPr>
              <a:t>∪</a:t>
            </a:r>
            <a:r>
              <a:rPr sz="3600" spc="-7" baseline="-13888" dirty="0">
                <a:latin typeface="Tahoma"/>
                <a:cs typeface="Tahoma"/>
              </a:rPr>
              <a:t>X</a:t>
            </a:r>
            <a:r>
              <a:rPr sz="1550" spc="-5" dirty="0">
                <a:latin typeface="Tahoma"/>
                <a:cs typeface="Tahoma"/>
              </a:rPr>
              <a:t>(i)</a:t>
            </a:r>
            <a:endParaRPr sz="1550">
              <a:latin typeface="Tahoma"/>
              <a:cs typeface="Tahoma"/>
            </a:endParaRPr>
          </a:p>
          <a:p>
            <a:pPr marL="1181100" lvl="2" indent="-229235">
              <a:lnSpc>
                <a:spcPct val="100000"/>
              </a:lnSpc>
              <a:spcBef>
                <a:spcPts val="88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⑷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(i+1)</a:t>
            </a:r>
            <a:r>
              <a:rPr sz="2400" spc="-5" dirty="0">
                <a:latin typeface="Tahoma"/>
                <a:cs typeface="Tahoma"/>
              </a:rPr>
              <a:t>=X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dirty="0">
                <a:latin typeface="宋体"/>
                <a:cs typeface="宋体"/>
              </a:rPr>
              <a:t>或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(i+1)</a:t>
            </a:r>
            <a:r>
              <a:rPr sz="2400" spc="-5" dirty="0">
                <a:latin typeface="Tahoma"/>
                <a:cs typeface="Tahoma"/>
              </a:rPr>
              <a:t>=U</a:t>
            </a:r>
            <a:r>
              <a:rPr sz="2400" spc="-26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？是转⑸，否转⑹</a:t>
            </a:r>
            <a:endParaRPr sz="24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⑸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21505" dirty="0">
                <a:latin typeface="Tahoma"/>
                <a:cs typeface="Tahoma"/>
              </a:rPr>
              <a:t>(i+1)</a:t>
            </a:r>
            <a:r>
              <a:rPr sz="2400" dirty="0">
                <a:latin typeface="宋体"/>
                <a:cs typeface="宋体"/>
              </a:rPr>
              <a:t>就是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90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，算法终止</a:t>
            </a:r>
            <a:endParaRPr sz="24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284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⑹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若否，则</a:t>
            </a:r>
            <a:r>
              <a:rPr sz="2400" spc="-5" dirty="0">
                <a:latin typeface="Tahoma"/>
                <a:cs typeface="Tahoma"/>
              </a:rPr>
              <a:t>i=i+1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返回⑵，继续执行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476"/>
            <a:ext cx="6769734" cy="144780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800" spc="-5" dirty="0">
                <a:latin typeface="宋体"/>
                <a:cs typeface="宋体"/>
              </a:rPr>
              <a:t>例</a:t>
            </a:r>
            <a:endParaRPr sz="280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由关系模式</a:t>
            </a:r>
            <a:r>
              <a:rPr sz="2600" spc="-5" dirty="0">
                <a:latin typeface="Tahoma"/>
                <a:cs typeface="Tahoma"/>
              </a:rPr>
              <a:t>R(U,F),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U={A,B,C,D,E}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F={AB→C,B→D,C→E,EC→B,AC→B}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5" dirty="0">
                <a:latin typeface="宋体"/>
                <a:cs typeface="宋体"/>
              </a:rPr>
              <a:t>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52650" y="3493134"/>
            <a:ext cx="13779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latin typeface="Tahoma"/>
                <a:cs typeface="Tahoma"/>
              </a:rPr>
              <a:t>F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310890"/>
            <a:ext cx="1320165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Tahoma"/>
                <a:cs typeface="Tahoma"/>
              </a:rPr>
              <a:t>(AB)</a:t>
            </a:r>
            <a:r>
              <a:rPr sz="2600" spc="-525" dirty="0">
                <a:latin typeface="Tahoma"/>
                <a:cs typeface="Tahoma"/>
              </a:rPr>
              <a:t> </a:t>
            </a:r>
            <a:r>
              <a:rPr sz="2550" spc="-15" baseline="21241" dirty="0">
                <a:latin typeface="Tahoma"/>
                <a:cs typeface="Tahoma"/>
              </a:rPr>
              <a:t>+ 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9" y="3706745"/>
            <a:ext cx="6322695" cy="2622550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72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2600" dirty="0">
                <a:latin typeface="宋体"/>
                <a:cs typeface="宋体"/>
              </a:rPr>
              <a:t>解</a:t>
            </a:r>
            <a:r>
              <a:rPr sz="2600" dirty="0">
                <a:latin typeface="Tahoma"/>
                <a:cs typeface="Tahoma"/>
              </a:rPr>
              <a:t>1</a:t>
            </a:r>
            <a:endParaRPr sz="2600">
              <a:latin typeface="Tahoma"/>
              <a:cs typeface="Tahoma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=AB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232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=AB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CD=ABCD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=ABCD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BCDE=ABCDE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723900" algn="l"/>
              </a:tabLst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dirty="0">
                <a:latin typeface="宋体"/>
                <a:cs typeface="宋体"/>
              </a:rPr>
              <a:t>已是全部属性，所以</a:t>
            </a:r>
            <a:r>
              <a:rPr sz="2400" dirty="0">
                <a:latin typeface="Tahoma"/>
                <a:cs typeface="Tahoma"/>
              </a:rPr>
              <a:t>(AB)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-3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232650" cy="146113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556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205989" y="3463925"/>
            <a:ext cx="146685" cy="30353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25"/>
              </a:spcBef>
            </a:pPr>
            <a:r>
              <a:rPr sz="1800" spc="10" dirty="0">
                <a:latin typeface="Tahoma"/>
                <a:cs typeface="Tahoma"/>
              </a:rPr>
              <a:t>F</a:t>
            </a:r>
            <a:endParaRPr sz="18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269614"/>
            <a:ext cx="1418590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(AC)</a:t>
            </a:r>
            <a:r>
              <a:rPr sz="2800" spc="-565" dirty="0">
                <a:latin typeface="Tahoma"/>
                <a:cs typeface="Tahoma"/>
              </a:rPr>
              <a:t> </a:t>
            </a:r>
            <a:r>
              <a:rPr sz="2700" spc="15" baseline="21604" dirty="0">
                <a:latin typeface="Tahoma"/>
                <a:cs typeface="Tahoma"/>
              </a:rPr>
              <a:t>+ 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209039" y="3697424"/>
            <a:ext cx="6300470" cy="2428240"/>
          </a:xfrm>
          <a:prstGeom prst="rect">
            <a:avLst/>
          </a:prstGeom>
        </p:spPr>
        <p:txBody>
          <a:bodyPr vert="horz" wrap="square" lIns="0" tIns="52705" rIns="0" bIns="0" rtlCol="0">
            <a:spAutoFit/>
          </a:bodyPr>
          <a:lstStyle/>
          <a:p>
            <a:pPr marL="311150" indent="-285750">
              <a:lnSpc>
                <a:spcPct val="100000"/>
              </a:lnSpc>
              <a:spcBef>
                <a:spcPts val="415"/>
              </a:spcBef>
              <a:buClr>
                <a:srgbClr val="CC00CC"/>
              </a:buClr>
              <a:buFont typeface="Wingdings"/>
              <a:buChar char=""/>
              <a:tabLst>
                <a:tab pos="311150" algn="l"/>
              </a:tabLst>
            </a:pPr>
            <a:r>
              <a:rPr sz="2800" dirty="0">
                <a:latin typeface="宋体"/>
                <a:cs typeface="宋体"/>
              </a:rPr>
              <a:t>解</a:t>
            </a:r>
            <a:r>
              <a:rPr sz="2800" spc="-5" dirty="0">
                <a:latin typeface="Tahoma"/>
                <a:cs typeface="Tahoma"/>
              </a:rPr>
              <a:t>2</a:t>
            </a:r>
            <a:endParaRPr sz="2800">
              <a:latin typeface="Tahoma"/>
              <a:cs typeface="Tahoma"/>
            </a:endParaRPr>
          </a:p>
          <a:p>
            <a:pPr marL="711200" lvl="1" indent="-229235">
              <a:lnSpc>
                <a:spcPct val="100000"/>
              </a:lnSpc>
              <a:spcBef>
                <a:spcPts val="27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=AC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ts val="2735"/>
              </a:lnSpc>
              <a:spcBef>
                <a:spcPts val="28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10565">
              <a:lnSpc>
                <a:spcPts val="2735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=AC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BE=ABCE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Font typeface="Tahoma"/>
              <a:buChar char="•"/>
              <a:tabLst>
                <a:tab pos="7112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=ABCE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BCD=ABCDE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11200" lvl="1" indent="-229235">
              <a:lnSpc>
                <a:spcPct val="100000"/>
              </a:lnSpc>
              <a:spcBef>
                <a:spcPts val="285"/>
              </a:spcBef>
              <a:buClr>
                <a:srgbClr val="CC00CC"/>
              </a:buClr>
              <a:buChar char="•"/>
              <a:tabLst>
                <a:tab pos="711200" algn="l"/>
              </a:tabLst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dirty="0">
                <a:latin typeface="宋体"/>
                <a:cs typeface="宋体"/>
              </a:rPr>
              <a:t>已是全部属性，所以</a:t>
            </a:r>
            <a:r>
              <a:rPr sz="2400" dirty="0">
                <a:latin typeface="Tahoma"/>
                <a:cs typeface="Tahoma"/>
              </a:rPr>
              <a:t>(AC)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-44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476"/>
            <a:ext cx="6769734" cy="144780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19"/>
              </a:spcBef>
            </a:pPr>
            <a:r>
              <a:rPr sz="2800" spc="-5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2800" spc="-5" dirty="0">
                <a:latin typeface="宋体"/>
                <a:cs typeface="宋体"/>
              </a:rPr>
              <a:t>例</a:t>
            </a:r>
            <a:endParaRPr sz="2800">
              <a:latin typeface="宋体"/>
              <a:cs typeface="宋体"/>
            </a:endParaRPr>
          </a:p>
          <a:p>
            <a:pPr marL="755650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由关系模式</a:t>
            </a:r>
            <a:r>
              <a:rPr sz="2600" spc="-5" dirty="0">
                <a:latin typeface="Tahoma"/>
                <a:cs typeface="Tahoma"/>
              </a:rPr>
              <a:t>R(U,F),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U={A,B,C,D,E}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F={AB→C,B→D,C→E,EC→B,AC→B}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5" dirty="0">
                <a:latin typeface="宋体"/>
                <a:cs typeface="宋体"/>
              </a:rPr>
              <a:t>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182495" y="3493134"/>
            <a:ext cx="137795" cy="283210"/>
          </a:xfrm>
          <a:prstGeom prst="rect">
            <a:avLst/>
          </a:prstGeom>
        </p:spPr>
        <p:txBody>
          <a:bodyPr vert="horz" wrap="square" lIns="0" tIns="1143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0"/>
              </a:spcBef>
            </a:pPr>
            <a:r>
              <a:rPr sz="1700" spc="-10" dirty="0">
                <a:latin typeface="Tahoma"/>
                <a:cs typeface="Tahoma"/>
              </a:rPr>
              <a:t>F</a:t>
            </a:r>
            <a:endParaRPr sz="17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482089" y="3310890"/>
            <a:ext cx="1350010" cy="422909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600" spc="-5" dirty="0">
                <a:latin typeface="Tahoma"/>
                <a:cs typeface="Tahoma"/>
              </a:rPr>
              <a:t>(CD)</a:t>
            </a:r>
            <a:r>
              <a:rPr sz="2600" spc="-520" dirty="0">
                <a:latin typeface="Tahoma"/>
                <a:cs typeface="Tahoma"/>
              </a:rPr>
              <a:t> </a:t>
            </a:r>
            <a:r>
              <a:rPr sz="2550" spc="-15" baseline="21241" dirty="0">
                <a:latin typeface="Tahoma"/>
                <a:cs typeface="Tahoma"/>
              </a:rPr>
              <a:t>+ 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196339" y="3706745"/>
            <a:ext cx="6160135" cy="3061335"/>
          </a:xfrm>
          <a:prstGeom prst="rect">
            <a:avLst/>
          </a:prstGeom>
        </p:spPr>
        <p:txBody>
          <a:bodyPr vert="horz" wrap="square" lIns="0" tIns="92075" rIns="0" bIns="0" rtlCol="0">
            <a:spAutoFit/>
          </a:bodyPr>
          <a:lstStyle/>
          <a:p>
            <a:pPr marL="323850" indent="-285750">
              <a:lnSpc>
                <a:spcPct val="100000"/>
              </a:lnSpc>
              <a:spcBef>
                <a:spcPts val="725"/>
              </a:spcBef>
              <a:buClr>
                <a:srgbClr val="CC00CC"/>
              </a:buClr>
              <a:buFont typeface="Wingdings"/>
              <a:buChar char=""/>
              <a:tabLst>
                <a:tab pos="323850" algn="l"/>
              </a:tabLst>
            </a:pPr>
            <a:r>
              <a:rPr sz="2600" dirty="0">
                <a:latin typeface="宋体"/>
                <a:cs typeface="宋体"/>
              </a:rPr>
              <a:t>解</a:t>
            </a:r>
            <a:r>
              <a:rPr sz="2600" dirty="0">
                <a:latin typeface="Tahoma"/>
                <a:cs typeface="Tahoma"/>
              </a:rPr>
              <a:t>3</a:t>
            </a:r>
            <a:endParaRPr sz="2600">
              <a:latin typeface="Tahoma"/>
              <a:cs typeface="Tahoma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设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(0)</a:t>
            </a:r>
            <a:r>
              <a:rPr sz="2400" spc="-5" dirty="0">
                <a:latin typeface="Tahoma"/>
                <a:cs typeface="Tahoma"/>
              </a:rPr>
              <a:t>=CD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找左部为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和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dirty="0">
                <a:latin typeface="宋体"/>
                <a:cs typeface="宋体"/>
              </a:rPr>
              <a:t>的函数依赖，有</a:t>
            </a:r>
            <a:endParaRPr sz="2400">
              <a:latin typeface="宋体"/>
              <a:cs typeface="宋体"/>
            </a:endParaRPr>
          </a:p>
          <a:p>
            <a:pPr marL="7232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(1)</a:t>
            </a:r>
            <a:r>
              <a:rPr sz="2400" spc="-5" dirty="0">
                <a:latin typeface="Tahoma"/>
                <a:cs typeface="Tahoma"/>
              </a:rPr>
              <a:t>=CD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E=CDE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Tahoma"/>
                <a:cs typeface="Tahoma"/>
              </a:rPr>
              <a:t>=CDE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B=BCDE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有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=BCDE</a:t>
            </a:r>
            <a:r>
              <a:rPr sz="2400" spc="-5" dirty="0">
                <a:latin typeface="宋体"/>
                <a:cs typeface="宋体"/>
              </a:rPr>
              <a:t>∪</a:t>
            </a:r>
            <a:r>
              <a:rPr sz="2400" spc="-5" dirty="0">
                <a:latin typeface="Tahoma"/>
                <a:cs typeface="Tahoma"/>
              </a:rPr>
              <a:t>Ф=BCDE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>
              <a:latin typeface="宋体"/>
              <a:cs typeface="宋体"/>
            </a:endParaRPr>
          </a:p>
          <a:p>
            <a:pPr marL="7239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723900" algn="l"/>
              </a:tabLst>
            </a:pPr>
            <a:r>
              <a:rPr sz="2400" dirty="0">
                <a:latin typeface="宋体"/>
                <a:cs typeface="宋体"/>
              </a:rPr>
              <a:t>因为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(3)</a:t>
            </a:r>
            <a:r>
              <a:rPr sz="2400" spc="-5" dirty="0">
                <a:latin typeface="Tahoma"/>
                <a:cs typeface="Tahoma"/>
              </a:rPr>
              <a:t>=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21505" dirty="0">
                <a:latin typeface="Tahoma"/>
                <a:cs typeface="Tahoma"/>
              </a:rPr>
              <a:t>(2)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所以</a:t>
            </a:r>
            <a:r>
              <a:rPr sz="2400" dirty="0">
                <a:latin typeface="Tahoma"/>
                <a:cs typeface="Tahoma"/>
              </a:rPr>
              <a:t>(CD)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=BCDE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489825" cy="23418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算法</a:t>
            </a:r>
            <a:r>
              <a:rPr sz="2800" spc="-5" dirty="0">
                <a:latin typeface="Tahoma"/>
                <a:cs typeface="Tahoma"/>
              </a:rPr>
              <a:t>1</a:t>
            </a:r>
            <a:r>
              <a:rPr sz="2800" dirty="0">
                <a:latin typeface="宋体"/>
                <a:cs typeface="宋体"/>
              </a:rPr>
              <a:t>的循环次</a:t>
            </a:r>
            <a:r>
              <a:rPr sz="2800" spc="-5" dirty="0">
                <a:latin typeface="宋体"/>
                <a:cs typeface="宋体"/>
              </a:rPr>
              <a:t>数</a:t>
            </a:r>
            <a:endParaRPr sz="2800">
              <a:latin typeface="宋体"/>
              <a:cs typeface="宋体"/>
            </a:endParaRPr>
          </a:p>
          <a:p>
            <a:pPr marL="1180465" marR="30480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=</a:t>
            </a:r>
            <a:r>
              <a:rPr sz="2400" dirty="0">
                <a:latin typeface="Tahoma"/>
                <a:cs typeface="Tahoma"/>
              </a:rPr>
              <a:t>|X</a:t>
            </a:r>
            <a:r>
              <a:rPr sz="2325" spc="-7" baseline="21505" dirty="0">
                <a:latin typeface="Tahoma"/>
                <a:cs typeface="Tahoma"/>
              </a:rPr>
              <a:t>(i)</a:t>
            </a:r>
            <a:r>
              <a:rPr sz="2400" dirty="0">
                <a:latin typeface="Tahoma"/>
                <a:cs typeface="Tahoma"/>
              </a:rPr>
              <a:t>|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dirty="0">
                <a:latin typeface="Tahoma"/>
                <a:cs typeface="Tahoma"/>
              </a:rPr>
              <a:t>{a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Tahoma"/>
                <a:cs typeface="Tahoma"/>
              </a:rPr>
              <a:t>}</a:t>
            </a:r>
            <a:r>
              <a:rPr sz="2400" dirty="0">
                <a:latin typeface="宋体"/>
                <a:cs typeface="宋体"/>
              </a:rPr>
              <a:t>形成一个步长大于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的严格递增 的序列，序列的上界是</a:t>
            </a:r>
            <a:r>
              <a:rPr sz="2400" dirty="0">
                <a:latin typeface="Tahoma"/>
                <a:cs typeface="Tahoma"/>
              </a:rPr>
              <a:t>|U|</a:t>
            </a:r>
            <a:r>
              <a:rPr sz="2400" dirty="0">
                <a:latin typeface="宋体"/>
                <a:cs typeface="宋体"/>
              </a:rPr>
              <a:t>，因此算法最多循环</a:t>
            </a:r>
            <a:endParaRPr sz="2400">
              <a:latin typeface="宋体"/>
              <a:cs typeface="宋体"/>
            </a:endParaRPr>
          </a:p>
          <a:p>
            <a:pPr marL="118046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|U|</a:t>
            </a:r>
            <a:r>
              <a:rPr sz="2400" dirty="0">
                <a:latin typeface="宋体"/>
                <a:cs typeface="宋体"/>
              </a:rPr>
              <a:t>-</a:t>
            </a:r>
            <a:r>
              <a:rPr sz="2400" dirty="0">
                <a:latin typeface="Tahoma"/>
                <a:cs typeface="Tahoma"/>
              </a:rPr>
              <a:t>|X|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C6960E35-3CDA-9439-B41C-E7CCCC2EF3FC}"/>
                  </a:ext>
                </a:extLst>
              </p14:cNvPr>
              <p14:cNvContentPartPr/>
              <p14:nvPr/>
            </p14:nvContentPartPr>
            <p14:xfrm>
              <a:off x="1908444" y="3920249"/>
              <a:ext cx="955800" cy="4125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C6960E35-3CDA-9439-B41C-E7CCCC2EF3F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4444" y="3812249"/>
                <a:ext cx="1063440" cy="6282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471409" cy="3975735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2</a:t>
            </a:r>
            <a:endParaRPr sz="3200">
              <a:latin typeface="Tahoma"/>
              <a:cs typeface="Tahoma"/>
            </a:endParaRPr>
          </a:p>
          <a:p>
            <a:pPr marL="7556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Armstrong</a:t>
            </a:r>
            <a:r>
              <a:rPr sz="2800" dirty="0">
                <a:latin typeface="宋体"/>
                <a:cs typeface="宋体"/>
              </a:rPr>
              <a:t>公理系统是有效的，完备</a:t>
            </a:r>
            <a:r>
              <a:rPr sz="2800" spc="-5" dirty="0">
                <a:latin typeface="宋体"/>
                <a:cs typeface="宋体"/>
              </a:rPr>
              <a:t>的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有效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由定理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可以证明。</a:t>
            </a:r>
            <a:endParaRPr sz="24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700" lvl="2" indent="-2419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证明其逆否命题，即若函数依赖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不能由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从</a:t>
            </a:r>
            <a:endParaRPr sz="2400">
              <a:latin typeface="宋体"/>
              <a:cs typeface="宋体"/>
            </a:endParaRPr>
          </a:p>
          <a:p>
            <a:pPr marL="970915" algn="ctr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公理导出，则它必然不为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所蕴含。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25E2FFFD-202B-B2BA-06A3-4684B58416F2}"/>
                  </a:ext>
                </a:extLst>
              </p14:cNvPr>
              <p14:cNvContentPartPr/>
              <p14:nvPr/>
            </p14:nvContentPartPr>
            <p14:xfrm>
              <a:off x="6145644" y="5310209"/>
              <a:ext cx="1940400" cy="878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25E2FFFD-202B-B2BA-06A3-4684B58416F2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091644" y="5202569"/>
                <a:ext cx="2048040" cy="303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4A5A0330-BB7A-292A-AFD7-D4938FF9DED3}"/>
                  </a:ext>
                </a:extLst>
              </p14:cNvPr>
              <p14:cNvContentPartPr/>
              <p14:nvPr/>
            </p14:nvContentPartPr>
            <p14:xfrm>
              <a:off x="2473644" y="5445929"/>
              <a:ext cx="373680" cy="3384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4A5A0330-BB7A-292A-AFD7-D4938FF9DED3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20004" y="5337929"/>
                <a:ext cx="481320" cy="2494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0D68AD38-228B-78BB-D393-4C0850529E00}"/>
                  </a:ext>
                </a:extLst>
              </p14:cNvPr>
              <p14:cNvContentPartPr/>
              <p14:nvPr/>
            </p14:nvContentPartPr>
            <p14:xfrm>
              <a:off x="2020044" y="5584889"/>
              <a:ext cx="2453040" cy="1436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0D68AD38-228B-78BB-D393-4C0850529E00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66044" y="5476889"/>
                <a:ext cx="2560680" cy="359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94918EF-1405-99FC-4533-71EACBD2A7C8}"/>
                  </a:ext>
                </a:extLst>
              </p14:cNvPr>
              <p14:cNvContentPartPr/>
              <p14:nvPr/>
            </p14:nvContentPartPr>
            <p14:xfrm>
              <a:off x="6166884" y="5684609"/>
              <a:ext cx="1571760" cy="1058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94918EF-1405-99FC-4533-71EACBD2A7C8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6113244" y="5576969"/>
                <a:ext cx="1679400" cy="3214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37367"/>
            <a:ext cx="6610350" cy="298640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50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V→W</a:t>
            </a:r>
            <a:r>
              <a:rPr sz="2400" dirty="0">
                <a:latin typeface="宋体"/>
                <a:cs typeface="宋体"/>
              </a:rPr>
              <a:t>成立，且</a:t>
            </a:r>
            <a:r>
              <a:rPr sz="2400" dirty="0">
                <a:latin typeface="Tahoma"/>
                <a:cs typeface="Tahoma"/>
              </a:rPr>
              <a:t>V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</a:t>
            </a:r>
            <a:r>
              <a:rPr sz="2400" dirty="0">
                <a:latin typeface="Tahoma"/>
                <a:cs typeface="Tahoma"/>
              </a:rPr>
              <a:t>W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530"/>
              </a:spcBef>
            </a:pPr>
            <a:r>
              <a:rPr sz="2000" dirty="0">
                <a:latin typeface="宋体"/>
                <a:cs typeface="宋体"/>
              </a:rPr>
              <a:t>–对</a:t>
            </a:r>
            <a:r>
              <a:rPr sz="2000" spc="-5" dirty="0">
                <a:latin typeface="宋体"/>
                <a:cs typeface="宋体"/>
              </a:rPr>
              <a:t>F</a:t>
            </a:r>
            <a:r>
              <a:rPr sz="2000" dirty="0">
                <a:latin typeface="宋体"/>
                <a:cs typeface="宋体"/>
              </a:rPr>
              <a:t>中任一</a:t>
            </a:r>
            <a:r>
              <a:rPr sz="2000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459"/>
              </a:spcBef>
            </a:pPr>
            <a:r>
              <a:rPr sz="2000" spc="-5" dirty="0">
                <a:latin typeface="宋体"/>
                <a:cs typeface="宋体"/>
              </a:rPr>
              <a:t>–∵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X→V</a:t>
            </a:r>
            <a:r>
              <a:rPr sz="2000" spc="-5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515"/>
              </a:spcBef>
            </a:pPr>
            <a:r>
              <a:rPr sz="2000" dirty="0">
                <a:latin typeface="宋体"/>
                <a:cs typeface="宋体"/>
              </a:rPr>
              <a:t>–∵</a:t>
            </a:r>
            <a:r>
              <a:rPr sz="2000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dirty="0">
                <a:latin typeface="MS UI Gothic"/>
                <a:cs typeface="MS UI Gothic"/>
              </a:rPr>
              <a:t>∴</a:t>
            </a:r>
            <a:r>
              <a:rPr sz="2000" dirty="0">
                <a:latin typeface="Times New Roman"/>
                <a:cs typeface="Times New Roman"/>
              </a:rPr>
              <a:t>X→W</a:t>
            </a:r>
            <a:r>
              <a:rPr sz="2000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09065">
              <a:lnSpc>
                <a:spcPct val="100000"/>
              </a:lnSpc>
              <a:spcBef>
                <a:spcPts val="44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-3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 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37367"/>
            <a:ext cx="7407909" cy="2257425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55065" marR="5080" lvl="2" indent="-228600">
              <a:lnSpc>
                <a:spcPts val="2750"/>
              </a:lnSpc>
              <a:spcBef>
                <a:spcPts val="9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52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构造一张二维表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，其必是</a:t>
            </a:r>
            <a:r>
              <a:rPr sz="2400" spc="-5" dirty="0">
                <a:latin typeface="Tahoma"/>
                <a:cs typeface="Tahoma"/>
              </a:rPr>
              <a:t>R</a:t>
            </a:r>
            <a:r>
              <a:rPr sz="2400" spc="-5" dirty="0">
                <a:latin typeface="宋体"/>
                <a:cs typeface="宋体"/>
              </a:rPr>
              <a:t>（</a:t>
            </a:r>
            <a:r>
              <a:rPr sz="2400" spc="-5" dirty="0">
                <a:latin typeface="Tahoma"/>
                <a:cs typeface="Tahoma"/>
              </a:rPr>
              <a:t>U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上的一 个关系</a:t>
            </a:r>
            <a:endParaRPr sz="240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42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9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宋体"/>
                <a:cs typeface="宋体"/>
              </a:rPr>
              <a:t>下面的二维表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中有两个元组</a:t>
            </a:r>
            <a:r>
              <a:rPr sz="2000" spc="5" dirty="0">
                <a:latin typeface="宋体"/>
                <a:cs typeface="宋体"/>
              </a:rPr>
              <a:t>，</a:t>
            </a:r>
            <a:endParaRPr sz="20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2936239" y="4165600"/>
            <a:ext cx="445134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3000" spc="-7" baseline="-13888" dirty="0">
                <a:latin typeface="Times New Roman"/>
                <a:cs typeface="Times New Roman"/>
              </a:rPr>
              <a:t>X</a:t>
            </a:r>
            <a:r>
              <a:rPr sz="1950" spc="-7" baseline="-38461" dirty="0">
                <a:latin typeface="Times New Roman"/>
                <a:cs typeface="Times New Roman"/>
              </a:rPr>
              <a:t>F</a:t>
            </a:r>
            <a:r>
              <a:rPr sz="1300" spc="-5" dirty="0">
                <a:latin typeface="Times New Roman"/>
                <a:cs typeface="Times New Roman"/>
              </a:rPr>
              <a:t>+</a:t>
            </a:r>
            <a:endParaRPr sz="1300">
              <a:latin typeface="Times New Roman"/>
              <a:cs typeface="Times New Roman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584700" y="4229100"/>
            <a:ext cx="7969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宋体"/>
                <a:cs typeface="宋体"/>
              </a:rPr>
              <a:t>-</a:t>
            </a:r>
            <a:r>
              <a:rPr sz="2000" spc="-730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endParaRPr sz="1950" baseline="21367">
              <a:latin typeface="Times New Roman"/>
              <a:cs typeface="Times New Roman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580639" y="4902327"/>
            <a:ext cx="116903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4422140" y="4902327"/>
            <a:ext cx="1169035" cy="756920"/>
          </a:xfrm>
          <a:prstGeom prst="rect">
            <a:avLst/>
          </a:prstGeom>
        </p:spPr>
        <p:txBody>
          <a:bodyPr vert="horz" wrap="square" lIns="0" tIns="7302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575"/>
              </a:spcBef>
            </a:pPr>
            <a:r>
              <a:rPr sz="2000" spc="-5" dirty="0">
                <a:latin typeface="Times New Roman"/>
                <a:cs typeface="Times New Roman"/>
              </a:rPr>
              <a:t>0000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000</a:t>
            </a:r>
            <a:endParaRPr sz="200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Times New Roman"/>
                <a:cs typeface="Times New Roman"/>
              </a:rPr>
              <a:t>1111</a:t>
            </a:r>
            <a:r>
              <a:rPr sz="2000" spc="-5" dirty="0">
                <a:latin typeface="Arial"/>
                <a:cs typeface="Arial"/>
              </a:rPr>
              <a:t>…</a:t>
            </a:r>
            <a:r>
              <a:rPr sz="2000" spc="-5" dirty="0">
                <a:latin typeface="Times New Roman"/>
                <a:cs typeface="Times New Roman"/>
              </a:rPr>
              <a:t>111</a:t>
            </a:r>
            <a:endParaRPr sz="2000">
              <a:latin typeface="Times New Roman"/>
              <a:cs typeface="Times New Roman"/>
            </a:endParaRPr>
          </a:p>
        </p:txBody>
      </p:sp>
      <p:sp>
        <p:nvSpPr>
          <p:cNvPr id="8" name="object 8"/>
          <p:cNvSpPr/>
          <p:nvPr/>
        </p:nvSpPr>
        <p:spPr>
          <a:xfrm>
            <a:off x="2738437" y="4110113"/>
            <a:ext cx="1228725" cy="308610"/>
          </a:xfrm>
          <a:custGeom>
            <a:avLst/>
            <a:gdLst/>
            <a:ahLst/>
            <a:cxnLst/>
            <a:rect l="l" t="t" r="r" b="b"/>
            <a:pathLst>
              <a:path w="1228725" h="308610">
                <a:moveTo>
                  <a:pt x="614343" y="51172"/>
                </a:moveTo>
                <a:lnTo>
                  <a:pt x="609726" y="11429"/>
                </a:lnTo>
                <a:lnTo>
                  <a:pt x="609600" y="3810"/>
                </a:lnTo>
                <a:lnTo>
                  <a:pt x="609904" y="2539"/>
                </a:lnTo>
                <a:lnTo>
                  <a:pt x="610742" y="1270"/>
                </a:lnTo>
                <a:lnTo>
                  <a:pt x="612000" y="0"/>
                </a:lnTo>
                <a:lnTo>
                  <a:pt x="616724" y="0"/>
                </a:lnTo>
                <a:lnTo>
                  <a:pt x="617982" y="1270"/>
                </a:lnTo>
                <a:lnTo>
                  <a:pt x="618820" y="2539"/>
                </a:lnTo>
                <a:lnTo>
                  <a:pt x="619125" y="3810"/>
                </a:lnTo>
                <a:lnTo>
                  <a:pt x="618985" y="12700"/>
                </a:lnTo>
                <a:lnTo>
                  <a:pt x="614438" y="50800"/>
                </a:lnTo>
                <a:lnTo>
                  <a:pt x="614343" y="51172"/>
                </a:lnTo>
                <a:close/>
              </a:path>
              <a:path w="1228725" h="308610">
                <a:moveTo>
                  <a:pt x="612658" y="41910"/>
                </a:moveTo>
                <a:lnTo>
                  <a:pt x="606463" y="41910"/>
                </a:lnTo>
                <a:lnTo>
                  <a:pt x="607593" y="34289"/>
                </a:lnTo>
                <a:lnTo>
                  <a:pt x="608457" y="26670"/>
                </a:lnTo>
                <a:lnTo>
                  <a:pt x="609091" y="19050"/>
                </a:lnTo>
                <a:lnTo>
                  <a:pt x="609473" y="11429"/>
                </a:lnTo>
                <a:lnTo>
                  <a:pt x="609600" y="3810"/>
                </a:lnTo>
                <a:lnTo>
                  <a:pt x="609726" y="11429"/>
                </a:lnTo>
                <a:lnTo>
                  <a:pt x="610133" y="20320"/>
                </a:lnTo>
                <a:lnTo>
                  <a:pt x="610781" y="27939"/>
                </a:lnTo>
                <a:lnTo>
                  <a:pt x="611695" y="35560"/>
                </a:lnTo>
                <a:lnTo>
                  <a:pt x="612658" y="41910"/>
                </a:lnTo>
                <a:close/>
              </a:path>
              <a:path w="1228725" h="308610">
                <a:moveTo>
                  <a:pt x="1146238" y="166370"/>
                </a:moveTo>
                <a:lnTo>
                  <a:pt x="1141323" y="163829"/>
                </a:lnTo>
                <a:lnTo>
                  <a:pt x="1141653" y="163829"/>
                </a:lnTo>
                <a:lnTo>
                  <a:pt x="1136650" y="162560"/>
                </a:lnTo>
                <a:lnTo>
                  <a:pt x="1136992" y="162560"/>
                </a:lnTo>
                <a:lnTo>
                  <a:pt x="1131912" y="161289"/>
                </a:lnTo>
                <a:lnTo>
                  <a:pt x="710133" y="161289"/>
                </a:lnTo>
                <a:lnTo>
                  <a:pt x="704976" y="160020"/>
                </a:lnTo>
                <a:lnTo>
                  <a:pt x="669201" y="144779"/>
                </a:lnTo>
                <a:lnTo>
                  <a:pt x="664387" y="142239"/>
                </a:lnTo>
                <a:lnTo>
                  <a:pt x="659942" y="138429"/>
                </a:lnTo>
                <a:lnTo>
                  <a:pt x="655650" y="133350"/>
                </a:lnTo>
                <a:lnTo>
                  <a:pt x="651522" y="129539"/>
                </a:lnTo>
                <a:lnTo>
                  <a:pt x="633336" y="102870"/>
                </a:lnTo>
                <a:lnTo>
                  <a:pt x="630313" y="97789"/>
                </a:lnTo>
                <a:lnTo>
                  <a:pt x="627329" y="91439"/>
                </a:lnTo>
                <a:lnTo>
                  <a:pt x="624611" y="85089"/>
                </a:lnTo>
                <a:lnTo>
                  <a:pt x="622109" y="78739"/>
                </a:lnTo>
                <a:lnTo>
                  <a:pt x="619810" y="71120"/>
                </a:lnTo>
                <a:lnTo>
                  <a:pt x="617740" y="64770"/>
                </a:lnTo>
                <a:lnTo>
                  <a:pt x="615873" y="57150"/>
                </a:lnTo>
                <a:lnTo>
                  <a:pt x="614343" y="51172"/>
                </a:lnTo>
                <a:lnTo>
                  <a:pt x="614438" y="50800"/>
                </a:lnTo>
                <a:lnTo>
                  <a:pt x="618985" y="12700"/>
                </a:lnTo>
                <a:lnTo>
                  <a:pt x="619125" y="3810"/>
                </a:lnTo>
                <a:lnTo>
                  <a:pt x="619251" y="11429"/>
                </a:lnTo>
                <a:lnTo>
                  <a:pt x="619645" y="19050"/>
                </a:lnTo>
                <a:lnTo>
                  <a:pt x="620280" y="26670"/>
                </a:lnTo>
                <a:lnTo>
                  <a:pt x="621157" y="34289"/>
                </a:lnTo>
                <a:lnTo>
                  <a:pt x="622261" y="41910"/>
                </a:lnTo>
                <a:lnTo>
                  <a:pt x="622465" y="41910"/>
                </a:lnTo>
                <a:lnTo>
                  <a:pt x="623608" y="48260"/>
                </a:lnTo>
                <a:lnTo>
                  <a:pt x="625170" y="55879"/>
                </a:lnTo>
                <a:lnTo>
                  <a:pt x="626948" y="62229"/>
                </a:lnTo>
                <a:lnTo>
                  <a:pt x="628929" y="68579"/>
                </a:lnTo>
                <a:lnTo>
                  <a:pt x="631126" y="74929"/>
                </a:lnTo>
                <a:lnTo>
                  <a:pt x="633514" y="81279"/>
                </a:lnTo>
                <a:lnTo>
                  <a:pt x="636079" y="87629"/>
                </a:lnTo>
                <a:lnTo>
                  <a:pt x="638835" y="92710"/>
                </a:lnTo>
                <a:lnTo>
                  <a:pt x="641769" y="99060"/>
                </a:lnTo>
                <a:lnTo>
                  <a:pt x="644867" y="104139"/>
                </a:lnTo>
                <a:lnTo>
                  <a:pt x="648119" y="109220"/>
                </a:lnTo>
                <a:lnTo>
                  <a:pt x="651535" y="114300"/>
                </a:lnTo>
                <a:lnTo>
                  <a:pt x="651408" y="114300"/>
                </a:lnTo>
                <a:lnTo>
                  <a:pt x="655091" y="119379"/>
                </a:lnTo>
                <a:lnTo>
                  <a:pt x="655910" y="119379"/>
                </a:lnTo>
                <a:lnTo>
                  <a:pt x="658787" y="123189"/>
                </a:lnTo>
                <a:lnTo>
                  <a:pt x="658622" y="123189"/>
                </a:lnTo>
                <a:lnTo>
                  <a:pt x="662609" y="127000"/>
                </a:lnTo>
                <a:lnTo>
                  <a:pt x="662432" y="127000"/>
                </a:lnTo>
                <a:lnTo>
                  <a:pt x="666546" y="130810"/>
                </a:lnTo>
                <a:lnTo>
                  <a:pt x="666356" y="130810"/>
                </a:lnTo>
                <a:lnTo>
                  <a:pt x="670610" y="134620"/>
                </a:lnTo>
                <a:lnTo>
                  <a:pt x="670407" y="134620"/>
                </a:lnTo>
                <a:lnTo>
                  <a:pt x="674789" y="137160"/>
                </a:lnTo>
                <a:lnTo>
                  <a:pt x="674560" y="137160"/>
                </a:lnTo>
                <a:lnTo>
                  <a:pt x="679056" y="140970"/>
                </a:lnTo>
                <a:lnTo>
                  <a:pt x="678802" y="140970"/>
                </a:lnTo>
                <a:lnTo>
                  <a:pt x="683412" y="143510"/>
                </a:lnTo>
                <a:lnTo>
                  <a:pt x="683145" y="143510"/>
                </a:lnTo>
                <a:lnTo>
                  <a:pt x="687870" y="144779"/>
                </a:lnTo>
                <a:lnTo>
                  <a:pt x="687577" y="144779"/>
                </a:lnTo>
                <a:lnTo>
                  <a:pt x="692391" y="147320"/>
                </a:lnTo>
                <a:lnTo>
                  <a:pt x="692086" y="147320"/>
                </a:lnTo>
                <a:lnTo>
                  <a:pt x="697001" y="148589"/>
                </a:lnTo>
                <a:lnTo>
                  <a:pt x="696671" y="148589"/>
                </a:lnTo>
                <a:lnTo>
                  <a:pt x="701675" y="149860"/>
                </a:lnTo>
                <a:lnTo>
                  <a:pt x="701332" y="149860"/>
                </a:lnTo>
                <a:lnTo>
                  <a:pt x="706412" y="151129"/>
                </a:lnTo>
                <a:lnTo>
                  <a:pt x="1122603" y="151129"/>
                </a:lnTo>
                <a:lnTo>
                  <a:pt x="1128191" y="152400"/>
                </a:lnTo>
                <a:lnTo>
                  <a:pt x="1133348" y="152400"/>
                </a:lnTo>
                <a:lnTo>
                  <a:pt x="1139113" y="153670"/>
                </a:lnTo>
                <a:lnTo>
                  <a:pt x="1165957" y="165100"/>
                </a:lnTo>
                <a:lnTo>
                  <a:pt x="1145933" y="165100"/>
                </a:lnTo>
                <a:lnTo>
                  <a:pt x="1146238" y="166370"/>
                </a:lnTo>
                <a:close/>
              </a:path>
              <a:path w="1228725" h="308610">
                <a:moveTo>
                  <a:pt x="584873" y="119379"/>
                </a:moveTo>
                <a:lnTo>
                  <a:pt x="573633" y="119379"/>
                </a:lnTo>
                <a:lnTo>
                  <a:pt x="577316" y="114300"/>
                </a:lnTo>
                <a:lnTo>
                  <a:pt x="577189" y="114300"/>
                </a:lnTo>
                <a:lnTo>
                  <a:pt x="580720" y="109220"/>
                </a:lnTo>
                <a:lnTo>
                  <a:pt x="583958" y="104139"/>
                </a:lnTo>
                <a:lnTo>
                  <a:pt x="587044" y="99060"/>
                </a:lnTo>
                <a:lnTo>
                  <a:pt x="589965" y="92710"/>
                </a:lnTo>
                <a:lnTo>
                  <a:pt x="592721" y="87629"/>
                </a:lnTo>
                <a:lnTo>
                  <a:pt x="595287" y="81279"/>
                </a:lnTo>
                <a:lnTo>
                  <a:pt x="597662" y="74929"/>
                </a:lnTo>
                <a:lnTo>
                  <a:pt x="599846" y="68579"/>
                </a:lnTo>
                <a:lnTo>
                  <a:pt x="601827" y="62229"/>
                </a:lnTo>
                <a:lnTo>
                  <a:pt x="603592" y="55879"/>
                </a:lnTo>
                <a:lnTo>
                  <a:pt x="605154" y="48260"/>
                </a:lnTo>
                <a:lnTo>
                  <a:pt x="606488" y="40639"/>
                </a:lnTo>
                <a:lnTo>
                  <a:pt x="606463" y="41910"/>
                </a:lnTo>
                <a:lnTo>
                  <a:pt x="612658" y="41910"/>
                </a:lnTo>
                <a:lnTo>
                  <a:pt x="612851" y="43179"/>
                </a:lnTo>
                <a:lnTo>
                  <a:pt x="614248" y="50800"/>
                </a:lnTo>
                <a:lnTo>
                  <a:pt x="614343" y="51172"/>
                </a:lnTo>
                <a:lnTo>
                  <a:pt x="612813" y="57150"/>
                </a:lnTo>
                <a:lnTo>
                  <a:pt x="610946" y="64770"/>
                </a:lnTo>
                <a:lnTo>
                  <a:pt x="608914" y="71120"/>
                </a:lnTo>
                <a:lnTo>
                  <a:pt x="606551" y="78739"/>
                </a:lnTo>
                <a:lnTo>
                  <a:pt x="604037" y="85089"/>
                </a:lnTo>
                <a:lnTo>
                  <a:pt x="601319" y="91439"/>
                </a:lnTo>
                <a:lnTo>
                  <a:pt x="598411" y="97789"/>
                </a:lnTo>
                <a:lnTo>
                  <a:pt x="595299" y="102870"/>
                </a:lnTo>
                <a:lnTo>
                  <a:pt x="591997" y="109220"/>
                </a:lnTo>
                <a:lnTo>
                  <a:pt x="588530" y="114300"/>
                </a:lnTo>
                <a:lnTo>
                  <a:pt x="584873" y="119379"/>
                </a:lnTo>
                <a:close/>
              </a:path>
              <a:path w="1228725" h="308610">
                <a:moveTo>
                  <a:pt x="622465" y="41910"/>
                </a:moveTo>
                <a:lnTo>
                  <a:pt x="622261" y="41910"/>
                </a:lnTo>
                <a:lnTo>
                  <a:pt x="622236" y="40639"/>
                </a:lnTo>
                <a:lnTo>
                  <a:pt x="622465" y="41910"/>
                </a:lnTo>
                <a:close/>
              </a:path>
              <a:path w="1228725" h="308610">
                <a:moveTo>
                  <a:pt x="9525" y="308610"/>
                </a:moveTo>
                <a:lnTo>
                  <a:pt x="0" y="308610"/>
                </a:lnTo>
                <a:lnTo>
                  <a:pt x="139" y="300989"/>
                </a:lnTo>
                <a:lnTo>
                  <a:pt x="4686" y="262889"/>
                </a:lnTo>
                <a:lnTo>
                  <a:pt x="12573" y="234950"/>
                </a:lnTo>
                <a:lnTo>
                  <a:pt x="15087" y="227329"/>
                </a:lnTo>
                <a:lnTo>
                  <a:pt x="17805" y="220979"/>
                </a:lnTo>
                <a:lnTo>
                  <a:pt x="20713" y="215900"/>
                </a:lnTo>
                <a:lnTo>
                  <a:pt x="23825" y="209550"/>
                </a:lnTo>
                <a:lnTo>
                  <a:pt x="50533" y="175260"/>
                </a:lnTo>
                <a:lnTo>
                  <a:pt x="54787" y="171450"/>
                </a:lnTo>
                <a:lnTo>
                  <a:pt x="59601" y="167639"/>
                </a:lnTo>
                <a:lnTo>
                  <a:pt x="64350" y="163829"/>
                </a:lnTo>
                <a:lnTo>
                  <a:pt x="68961" y="161289"/>
                </a:lnTo>
                <a:lnTo>
                  <a:pt x="73952" y="158750"/>
                </a:lnTo>
                <a:lnTo>
                  <a:pt x="79362" y="156210"/>
                </a:lnTo>
                <a:lnTo>
                  <a:pt x="84277" y="154939"/>
                </a:lnTo>
                <a:lnTo>
                  <a:pt x="95376" y="152400"/>
                </a:lnTo>
                <a:lnTo>
                  <a:pt x="100533" y="152400"/>
                </a:lnTo>
                <a:lnTo>
                  <a:pt x="106121" y="151129"/>
                </a:lnTo>
                <a:lnTo>
                  <a:pt x="522312" y="151129"/>
                </a:lnTo>
                <a:lnTo>
                  <a:pt x="527392" y="149860"/>
                </a:lnTo>
                <a:lnTo>
                  <a:pt x="527050" y="149860"/>
                </a:lnTo>
                <a:lnTo>
                  <a:pt x="532053" y="148589"/>
                </a:lnTo>
                <a:lnTo>
                  <a:pt x="531723" y="148589"/>
                </a:lnTo>
                <a:lnTo>
                  <a:pt x="536638" y="147320"/>
                </a:lnTo>
                <a:lnTo>
                  <a:pt x="536333" y="147320"/>
                </a:lnTo>
                <a:lnTo>
                  <a:pt x="541147" y="144779"/>
                </a:lnTo>
                <a:lnTo>
                  <a:pt x="540854" y="144779"/>
                </a:lnTo>
                <a:lnTo>
                  <a:pt x="545579" y="143510"/>
                </a:lnTo>
                <a:lnTo>
                  <a:pt x="545312" y="143510"/>
                </a:lnTo>
                <a:lnTo>
                  <a:pt x="549922" y="140970"/>
                </a:lnTo>
                <a:lnTo>
                  <a:pt x="549668" y="140970"/>
                </a:lnTo>
                <a:lnTo>
                  <a:pt x="554164" y="137160"/>
                </a:lnTo>
                <a:lnTo>
                  <a:pt x="553935" y="137160"/>
                </a:lnTo>
                <a:lnTo>
                  <a:pt x="558317" y="134620"/>
                </a:lnTo>
                <a:lnTo>
                  <a:pt x="558114" y="134620"/>
                </a:lnTo>
                <a:lnTo>
                  <a:pt x="562368" y="130810"/>
                </a:lnTo>
                <a:lnTo>
                  <a:pt x="562178" y="130810"/>
                </a:lnTo>
                <a:lnTo>
                  <a:pt x="566292" y="127000"/>
                </a:lnTo>
                <a:lnTo>
                  <a:pt x="566115" y="127000"/>
                </a:lnTo>
                <a:lnTo>
                  <a:pt x="570102" y="123189"/>
                </a:lnTo>
                <a:lnTo>
                  <a:pt x="569937" y="123189"/>
                </a:lnTo>
                <a:lnTo>
                  <a:pt x="573773" y="118110"/>
                </a:lnTo>
                <a:lnTo>
                  <a:pt x="573633" y="119379"/>
                </a:lnTo>
                <a:lnTo>
                  <a:pt x="584873" y="119379"/>
                </a:lnTo>
                <a:lnTo>
                  <a:pt x="581037" y="124460"/>
                </a:lnTo>
                <a:lnTo>
                  <a:pt x="577049" y="129539"/>
                </a:lnTo>
                <a:lnTo>
                  <a:pt x="572897" y="133350"/>
                </a:lnTo>
                <a:lnTo>
                  <a:pt x="568591" y="138429"/>
                </a:lnTo>
                <a:lnTo>
                  <a:pt x="564337" y="142239"/>
                </a:lnTo>
                <a:lnTo>
                  <a:pt x="559523" y="144779"/>
                </a:lnTo>
                <a:lnTo>
                  <a:pt x="554774" y="148589"/>
                </a:lnTo>
                <a:lnTo>
                  <a:pt x="523748" y="160020"/>
                </a:lnTo>
                <a:lnTo>
                  <a:pt x="518591" y="161289"/>
                </a:lnTo>
                <a:lnTo>
                  <a:pt x="96812" y="161289"/>
                </a:lnTo>
                <a:lnTo>
                  <a:pt x="91732" y="162560"/>
                </a:lnTo>
                <a:lnTo>
                  <a:pt x="92075" y="162560"/>
                </a:lnTo>
                <a:lnTo>
                  <a:pt x="87071" y="163829"/>
                </a:lnTo>
                <a:lnTo>
                  <a:pt x="87401" y="163829"/>
                </a:lnTo>
                <a:lnTo>
                  <a:pt x="84943" y="165100"/>
                </a:lnTo>
                <a:lnTo>
                  <a:pt x="82791" y="165100"/>
                </a:lnTo>
                <a:lnTo>
                  <a:pt x="77977" y="167639"/>
                </a:lnTo>
                <a:lnTo>
                  <a:pt x="78270" y="167639"/>
                </a:lnTo>
                <a:lnTo>
                  <a:pt x="73545" y="170179"/>
                </a:lnTo>
                <a:lnTo>
                  <a:pt x="73812" y="170179"/>
                </a:lnTo>
                <a:lnTo>
                  <a:pt x="69202" y="172720"/>
                </a:lnTo>
                <a:lnTo>
                  <a:pt x="69456" y="172720"/>
                </a:lnTo>
                <a:lnTo>
                  <a:pt x="64960" y="175260"/>
                </a:lnTo>
                <a:lnTo>
                  <a:pt x="65189" y="175260"/>
                </a:lnTo>
                <a:lnTo>
                  <a:pt x="60807" y="179070"/>
                </a:lnTo>
                <a:lnTo>
                  <a:pt x="61010" y="179070"/>
                </a:lnTo>
                <a:lnTo>
                  <a:pt x="56756" y="181610"/>
                </a:lnTo>
                <a:lnTo>
                  <a:pt x="56946" y="181610"/>
                </a:lnTo>
                <a:lnTo>
                  <a:pt x="52831" y="185420"/>
                </a:lnTo>
                <a:lnTo>
                  <a:pt x="53009" y="185420"/>
                </a:lnTo>
                <a:lnTo>
                  <a:pt x="50018" y="189229"/>
                </a:lnTo>
                <a:lnTo>
                  <a:pt x="49187" y="189229"/>
                </a:lnTo>
                <a:lnTo>
                  <a:pt x="45351" y="194310"/>
                </a:lnTo>
                <a:lnTo>
                  <a:pt x="45491" y="194310"/>
                </a:lnTo>
                <a:lnTo>
                  <a:pt x="41808" y="199389"/>
                </a:lnTo>
                <a:lnTo>
                  <a:pt x="38404" y="203200"/>
                </a:lnTo>
                <a:lnTo>
                  <a:pt x="35836" y="208279"/>
                </a:lnTo>
                <a:lnTo>
                  <a:pt x="35267" y="208279"/>
                </a:lnTo>
                <a:lnTo>
                  <a:pt x="32080" y="214629"/>
                </a:lnTo>
                <a:lnTo>
                  <a:pt x="29159" y="219710"/>
                </a:lnTo>
                <a:lnTo>
                  <a:pt x="26403" y="226060"/>
                </a:lnTo>
                <a:lnTo>
                  <a:pt x="23837" y="231139"/>
                </a:lnTo>
                <a:lnTo>
                  <a:pt x="21462" y="237489"/>
                </a:lnTo>
                <a:lnTo>
                  <a:pt x="19278" y="243839"/>
                </a:lnTo>
                <a:lnTo>
                  <a:pt x="17636" y="250189"/>
                </a:lnTo>
                <a:lnTo>
                  <a:pt x="17348" y="250189"/>
                </a:lnTo>
                <a:lnTo>
                  <a:pt x="15532" y="257810"/>
                </a:lnTo>
                <a:lnTo>
                  <a:pt x="13969" y="264160"/>
                </a:lnTo>
                <a:lnTo>
                  <a:pt x="12636" y="271779"/>
                </a:lnTo>
                <a:lnTo>
                  <a:pt x="11719" y="278129"/>
                </a:lnTo>
                <a:lnTo>
                  <a:pt x="11556" y="278129"/>
                </a:lnTo>
                <a:lnTo>
                  <a:pt x="10655" y="285750"/>
                </a:lnTo>
                <a:lnTo>
                  <a:pt x="10032" y="293370"/>
                </a:lnTo>
                <a:lnTo>
                  <a:pt x="9651" y="300989"/>
                </a:lnTo>
                <a:lnTo>
                  <a:pt x="9525" y="308610"/>
                </a:lnTo>
                <a:close/>
              </a:path>
              <a:path w="1228725" h="308610">
                <a:moveTo>
                  <a:pt x="655910" y="119379"/>
                </a:moveTo>
                <a:lnTo>
                  <a:pt x="655091" y="119379"/>
                </a:lnTo>
                <a:lnTo>
                  <a:pt x="654951" y="118110"/>
                </a:lnTo>
                <a:lnTo>
                  <a:pt x="655910" y="119379"/>
                </a:lnTo>
                <a:close/>
              </a:path>
              <a:path w="1228725" h="308610">
                <a:moveTo>
                  <a:pt x="96456" y="162560"/>
                </a:moveTo>
                <a:lnTo>
                  <a:pt x="96812" y="161289"/>
                </a:lnTo>
                <a:lnTo>
                  <a:pt x="101612" y="161289"/>
                </a:lnTo>
                <a:lnTo>
                  <a:pt x="96456" y="162560"/>
                </a:lnTo>
                <a:close/>
              </a:path>
              <a:path w="1228725" h="308610">
                <a:moveTo>
                  <a:pt x="1132268" y="162560"/>
                </a:moveTo>
                <a:lnTo>
                  <a:pt x="1127112" y="161289"/>
                </a:lnTo>
                <a:lnTo>
                  <a:pt x="1131912" y="161289"/>
                </a:lnTo>
                <a:lnTo>
                  <a:pt x="1132268" y="162560"/>
                </a:lnTo>
                <a:close/>
              </a:path>
              <a:path w="1228725" h="308610">
                <a:moveTo>
                  <a:pt x="82486" y="166370"/>
                </a:moveTo>
                <a:lnTo>
                  <a:pt x="82791" y="165100"/>
                </a:lnTo>
                <a:lnTo>
                  <a:pt x="84943" y="165100"/>
                </a:lnTo>
                <a:lnTo>
                  <a:pt x="82486" y="166370"/>
                </a:lnTo>
                <a:close/>
              </a:path>
              <a:path w="1228725" h="308610">
                <a:moveTo>
                  <a:pt x="1179702" y="190500"/>
                </a:moveTo>
                <a:lnTo>
                  <a:pt x="1175715" y="185420"/>
                </a:lnTo>
                <a:lnTo>
                  <a:pt x="1175892" y="185420"/>
                </a:lnTo>
                <a:lnTo>
                  <a:pt x="1171778" y="181610"/>
                </a:lnTo>
                <a:lnTo>
                  <a:pt x="1171968" y="181610"/>
                </a:lnTo>
                <a:lnTo>
                  <a:pt x="1167714" y="179070"/>
                </a:lnTo>
                <a:lnTo>
                  <a:pt x="1167917" y="179070"/>
                </a:lnTo>
                <a:lnTo>
                  <a:pt x="1163535" y="175260"/>
                </a:lnTo>
                <a:lnTo>
                  <a:pt x="1163764" y="175260"/>
                </a:lnTo>
                <a:lnTo>
                  <a:pt x="1159268" y="172720"/>
                </a:lnTo>
                <a:lnTo>
                  <a:pt x="1159522" y="172720"/>
                </a:lnTo>
                <a:lnTo>
                  <a:pt x="1154912" y="170179"/>
                </a:lnTo>
                <a:lnTo>
                  <a:pt x="1155179" y="170179"/>
                </a:lnTo>
                <a:lnTo>
                  <a:pt x="1150454" y="167639"/>
                </a:lnTo>
                <a:lnTo>
                  <a:pt x="1150747" y="167639"/>
                </a:lnTo>
                <a:lnTo>
                  <a:pt x="1145933" y="165100"/>
                </a:lnTo>
                <a:lnTo>
                  <a:pt x="1165957" y="165100"/>
                </a:lnTo>
                <a:lnTo>
                  <a:pt x="1169123" y="167639"/>
                </a:lnTo>
                <a:lnTo>
                  <a:pt x="1173937" y="171450"/>
                </a:lnTo>
                <a:lnTo>
                  <a:pt x="1178382" y="175260"/>
                </a:lnTo>
                <a:lnTo>
                  <a:pt x="1182674" y="179070"/>
                </a:lnTo>
                <a:lnTo>
                  <a:pt x="1186802" y="184150"/>
                </a:lnTo>
                <a:lnTo>
                  <a:pt x="1190790" y="187960"/>
                </a:lnTo>
                <a:lnTo>
                  <a:pt x="1191742" y="189229"/>
                </a:lnTo>
                <a:lnTo>
                  <a:pt x="1179537" y="189229"/>
                </a:lnTo>
                <a:lnTo>
                  <a:pt x="1179702" y="190500"/>
                </a:lnTo>
                <a:close/>
              </a:path>
              <a:path w="1228725" h="308610">
                <a:moveTo>
                  <a:pt x="49022" y="190500"/>
                </a:moveTo>
                <a:lnTo>
                  <a:pt x="49187" y="189229"/>
                </a:lnTo>
                <a:lnTo>
                  <a:pt x="50018" y="189229"/>
                </a:lnTo>
                <a:lnTo>
                  <a:pt x="49022" y="190500"/>
                </a:lnTo>
                <a:close/>
              </a:path>
              <a:path w="1228725" h="308610">
                <a:moveTo>
                  <a:pt x="1193558" y="209550"/>
                </a:moveTo>
                <a:lnTo>
                  <a:pt x="1190205" y="203200"/>
                </a:lnTo>
                <a:lnTo>
                  <a:pt x="1186789" y="199389"/>
                </a:lnTo>
                <a:lnTo>
                  <a:pt x="1186916" y="199389"/>
                </a:lnTo>
                <a:lnTo>
                  <a:pt x="1183233" y="194310"/>
                </a:lnTo>
                <a:lnTo>
                  <a:pt x="1183373" y="194310"/>
                </a:lnTo>
                <a:lnTo>
                  <a:pt x="1179537" y="189229"/>
                </a:lnTo>
                <a:lnTo>
                  <a:pt x="1191742" y="189229"/>
                </a:lnTo>
                <a:lnTo>
                  <a:pt x="1194600" y="193039"/>
                </a:lnTo>
                <a:lnTo>
                  <a:pt x="1198245" y="198120"/>
                </a:lnTo>
                <a:lnTo>
                  <a:pt x="1201712" y="204470"/>
                </a:lnTo>
                <a:lnTo>
                  <a:pt x="1204169" y="208279"/>
                </a:lnTo>
                <a:lnTo>
                  <a:pt x="1193457" y="208279"/>
                </a:lnTo>
                <a:lnTo>
                  <a:pt x="1193558" y="209550"/>
                </a:lnTo>
                <a:close/>
              </a:path>
              <a:path w="1228725" h="308610">
                <a:moveTo>
                  <a:pt x="35166" y="209550"/>
                </a:moveTo>
                <a:lnTo>
                  <a:pt x="35267" y="208279"/>
                </a:lnTo>
                <a:lnTo>
                  <a:pt x="35836" y="208279"/>
                </a:lnTo>
                <a:lnTo>
                  <a:pt x="35166" y="209550"/>
                </a:lnTo>
                <a:close/>
              </a:path>
              <a:path w="1228725" h="308610">
                <a:moveTo>
                  <a:pt x="1211427" y="251460"/>
                </a:moveTo>
                <a:lnTo>
                  <a:pt x="1209395" y="243839"/>
                </a:lnTo>
                <a:lnTo>
                  <a:pt x="1207198" y="237489"/>
                </a:lnTo>
                <a:lnTo>
                  <a:pt x="1204810" y="231139"/>
                </a:lnTo>
                <a:lnTo>
                  <a:pt x="1202245" y="226060"/>
                </a:lnTo>
                <a:lnTo>
                  <a:pt x="1199489" y="219710"/>
                </a:lnTo>
                <a:lnTo>
                  <a:pt x="1196555" y="214629"/>
                </a:lnTo>
                <a:lnTo>
                  <a:pt x="1193457" y="208279"/>
                </a:lnTo>
                <a:lnTo>
                  <a:pt x="1204169" y="208279"/>
                </a:lnTo>
                <a:lnTo>
                  <a:pt x="1220584" y="248920"/>
                </a:lnTo>
                <a:lnTo>
                  <a:pt x="1220957" y="250189"/>
                </a:lnTo>
                <a:lnTo>
                  <a:pt x="1211376" y="250189"/>
                </a:lnTo>
                <a:lnTo>
                  <a:pt x="1211427" y="251460"/>
                </a:lnTo>
                <a:close/>
              </a:path>
              <a:path w="1228725" h="308610">
                <a:moveTo>
                  <a:pt x="17297" y="251460"/>
                </a:moveTo>
                <a:lnTo>
                  <a:pt x="17348" y="250189"/>
                </a:lnTo>
                <a:lnTo>
                  <a:pt x="17636" y="250189"/>
                </a:lnTo>
                <a:lnTo>
                  <a:pt x="17297" y="251460"/>
                </a:lnTo>
                <a:close/>
              </a:path>
              <a:path w="1228725" h="308610">
                <a:moveTo>
                  <a:pt x="1217193" y="279400"/>
                </a:moveTo>
                <a:lnTo>
                  <a:pt x="1216063" y="271779"/>
                </a:lnTo>
                <a:lnTo>
                  <a:pt x="1214716" y="264160"/>
                </a:lnTo>
                <a:lnTo>
                  <a:pt x="1213154" y="257810"/>
                </a:lnTo>
                <a:lnTo>
                  <a:pt x="1211376" y="250189"/>
                </a:lnTo>
                <a:lnTo>
                  <a:pt x="1220957" y="250189"/>
                </a:lnTo>
                <a:lnTo>
                  <a:pt x="1222451" y="255270"/>
                </a:lnTo>
                <a:lnTo>
                  <a:pt x="1224076" y="262889"/>
                </a:lnTo>
                <a:lnTo>
                  <a:pt x="1225473" y="270510"/>
                </a:lnTo>
                <a:lnTo>
                  <a:pt x="1226629" y="278129"/>
                </a:lnTo>
                <a:lnTo>
                  <a:pt x="1217167" y="278129"/>
                </a:lnTo>
                <a:lnTo>
                  <a:pt x="1217193" y="279400"/>
                </a:lnTo>
                <a:close/>
              </a:path>
              <a:path w="1228725" h="308610">
                <a:moveTo>
                  <a:pt x="11531" y="279400"/>
                </a:moveTo>
                <a:lnTo>
                  <a:pt x="11556" y="278129"/>
                </a:lnTo>
                <a:lnTo>
                  <a:pt x="11719" y="278129"/>
                </a:lnTo>
                <a:lnTo>
                  <a:pt x="11531" y="279400"/>
                </a:lnTo>
                <a:close/>
              </a:path>
              <a:path w="1228725" h="308610">
                <a:moveTo>
                  <a:pt x="1228725" y="308610"/>
                </a:moveTo>
                <a:lnTo>
                  <a:pt x="1219200" y="308610"/>
                </a:lnTo>
                <a:lnTo>
                  <a:pt x="1219073" y="300989"/>
                </a:lnTo>
                <a:lnTo>
                  <a:pt x="1218679" y="293370"/>
                </a:lnTo>
                <a:lnTo>
                  <a:pt x="1218044" y="285750"/>
                </a:lnTo>
                <a:lnTo>
                  <a:pt x="1217167" y="278129"/>
                </a:lnTo>
                <a:lnTo>
                  <a:pt x="1226629" y="278129"/>
                </a:lnTo>
                <a:lnTo>
                  <a:pt x="1227543" y="285750"/>
                </a:lnTo>
                <a:lnTo>
                  <a:pt x="1228191" y="293370"/>
                </a:lnTo>
                <a:lnTo>
                  <a:pt x="1228598" y="300989"/>
                </a:lnTo>
                <a:lnTo>
                  <a:pt x="1228725" y="308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4948237" y="4110113"/>
            <a:ext cx="1228725" cy="308610"/>
          </a:xfrm>
          <a:custGeom>
            <a:avLst/>
            <a:gdLst/>
            <a:ahLst/>
            <a:cxnLst/>
            <a:rect l="l" t="t" r="r" b="b"/>
            <a:pathLst>
              <a:path w="1228725" h="308610">
                <a:moveTo>
                  <a:pt x="614343" y="51172"/>
                </a:moveTo>
                <a:lnTo>
                  <a:pt x="609726" y="11429"/>
                </a:lnTo>
                <a:lnTo>
                  <a:pt x="609600" y="3810"/>
                </a:lnTo>
                <a:lnTo>
                  <a:pt x="609904" y="2539"/>
                </a:lnTo>
                <a:lnTo>
                  <a:pt x="610742" y="1270"/>
                </a:lnTo>
                <a:lnTo>
                  <a:pt x="612000" y="0"/>
                </a:lnTo>
                <a:lnTo>
                  <a:pt x="616724" y="0"/>
                </a:lnTo>
                <a:lnTo>
                  <a:pt x="617982" y="1270"/>
                </a:lnTo>
                <a:lnTo>
                  <a:pt x="618820" y="2539"/>
                </a:lnTo>
                <a:lnTo>
                  <a:pt x="619125" y="3810"/>
                </a:lnTo>
                <a:lnTo>
                  <a:pt x="618985" y="12700"/>
                </a:lnTo>
                <a:lnTo>
                  <a:pt x="614438" y="50800"/>
                </a:lnTo>
                <a:lnTo>
                  <a:pt x="614343" y="51172"/>
                </a:lnTo>
                <a:close/>
              </a:path>
              <a:path w="1228725" h="308610">
                <a:moveTo>
                  <a:pt x="612658" y="41910"/>
                </a:moveTo>
                <a:lnTo>
                  <a:pt x="606463" y="41910"/>
                </a:lnTo>
                <a:lnTo>
                  <a:pt x="607593" y="34289"/>
                </a:lnTo>
                <a:lnTo>
                  <a:pt x="608457" y="26670"/>
                </a:lnTo>
                <a:lnTo>
                  <a:pt x="609091" y="19050"/>
                </a:lnTo>
                <a:lnTo>
                  <a:pt x="609473" y="11429"/>
                </a:lnTo>
                <a:lnTo>
                  <a:pt x="609600" y="3810"/>
                </a:lnTo>
                <a:lnTo>
                  <a:pt x="609726" y="11429"/>
                </a:lnTo>
                <a:lnTo>
                  <a:pt x="610133" y="20320"/>
                </a:lnTo>
                <a:lnTo>
                  <a:pt x="610781" y="27939"/>
                </a:lnTo>
                <a:lnTo>
                  <a:pt x="611695" y="35560"/>
                </a:lnTo>
                <a:lnTo>
                  <a:pt x="612658" y="41910"/>
                </a:lnTo>
                <a:close/>
              </a:path>
              <a:path w="1228725" h="308610">
                <a:moveTo>
                  <a:pt x="1146238" y="166370"/>
                </a:moveTo>
                <a:lnTo>
                  <a:pt x="1141323" y="163829"/>
                </a:lnTo>
                <a:lnTo>
                  <a:pt x="1141653" y="163829"/>
                </a:lnTo>
                <a:lnTo>
                  <a:pt x="1136650" y="162560"/>
                </a:lnTo>
                <a:lnTo>
                  <a:pt x="1136992" y="162560"/>
                </a:lnTo>
                <a:lnTo>
                  <a:pt x="1131912" y="161289"/>
                </a:lnTo>
                <a:lnTo>
                  <a:pt x="710133" y="161289"/>
                </a:lnTo>
                <a:lnTo>
                  <a:pt x="704976" y="160020"/>
                </a:lnTo>
                <a:lnTo>
                  <a:pt x="669201" y="144779"/>
                </a:lnTo>
                <a:lnTo>
                  <a:pt x="664387" y="142239"/>
                </a:lnTo>
                <a:lnTo>
                  <a:pt x="659942" y="138429"/>
                </a:lnTo>
                <a:lnTo>
                  <a:pt x="655650" y="133350"/>
                </a:lnTo>
                <a:lnTo>
                  <a:pt x="651522" y="129539"/>
                </a:lnTo>
                <a:lnTo>
                  <a:pt x="633336" y="102870"/>
                </a:lnTo>
                <a:lnTo>
                  <a:pt x="630313" y="97789"/>
                </a:lnTo>
                <a:lnTo>
                  <a:pt x="627329" y="91439"/>
                </a:lnTo>
                <a:lnTo>
                  <a:pt x="624611" y="85089"/>
                </a:lnTo>
                <a:lnTo>
                  <a:pt x="622109" y="78739"/>
                </a:lnTo>
                <a:lnTo>
                  <a:pt x="619810" y="71120"/>
                </a:lnTo>
                <a:lnTo>
                  <a:pt x="617740" y="64770"/>
                </a:lnTo>
                <a:lnTo>
                  <a:pt x="615873" y="57150"/>
                </a:lnTo>
                <a:lnTo>
                  <a:pt x="614343" y="51172"/>
                </a:lnTo>
                <a:lnTo>
                  <a:pt x="614438" y="50800"/>
                </a:lnTo>
                <a:lnTo>
                  <a:pt x="618985" y="12700"/>
                </a:lnTo>
                <a:lnTo>
                  <a:pt x="619125" y="3810"/>
                </a:lnTo>
                <a:lnTo>
                  <a:pt x="619251" y="11429"/>
                </a:lnTo>
                <a:lnTo>
                  <a:pt x="619645" y="19050"/>
                </a:lnTo>
                <a:lnTo>
                  <a:pt x="620280" y="26670"/>
                </a:lnTo>
                <a:lnTo>
                  <a:pt x="621157" y="34289"/>
                </a:lnTo>
                <a:lnTo>
                  <a:pt x="622261" y="41910"/>
                </a:lnTo>
                <a:lnTo>
                  <a:pt x="622465" y="41910"/>
                </a:lnTo>
                <a:lnTo>
                  <a:pt x="623608" y="48260"/>
                </a:lnTo>
                <a:lnTo>
                  <a:pt x="625170" y="55879"/>
                </a:lnTo>
                <a:lnTo>
                  <a:pt x="626948" y="62229"/>
                </a:lnTo>
                <a:lnTo>
                  <a:pt x="628929" y="68579"/>
                </a:lnTo>
                <a:lnTo>
                  <a:pt x="631126" y="74929"/>
                </a:lnTo>
                <a:lnTo>
                  <a:pt x="633514" y="81279"/>
                </a:lnTo>
                <a:lnTo>
                  <a:pt x="636079" y="87629"/>
                </a:lnTo>
                <a:lnTo>
                  <a:pt x="638835" y="92710"/>
                </a:lnTo>
                <a:lnTo>
                  <a:pt x="641769" y="99060"/>
                </a:lnTo>
                <a:lnTo>
                  <a:pt x="644867" y="104139"/>
                </a:lnTo>
                <a:lnTo>
                  <a:pt x="648119" y="109220"/>
                </a:lnTo>
                <a:lnTo>
                  <a:pt x="651535" y="114300"/>
                </a:lnTo>
                <a:lnTo>
                  <a:pt x="651408" y="114300"/>
                </a:lnTo>
                <a:lnTo>
                  <a:pt x="655091" y="119379"/>
                </a:lnTo>
                <a:lnTo>
                  <a:pt x="655910" y="119379"/>
                </a:lnTo>
                <a:lnTo>
                  <a:pt x="658787" y="123189"/>
                </a:lnTo>
                <a:lnTo>
                  <a:pt x="658622" y="123189"/>
                </a:lnTo>
                <a:lnTo>
                  <a:pt x="662609" y="127000"/>
                </a:lnTo>
                <a:lnTo>
                  <a:pt x="662432" y="127000"/>
                </a:lnTo>
                <a:lnTo>
                  <a:pt x="666546" y="130810"/>
                </a:lnTo>
                <a:lnTo>
                  <a:pt x="666356" y="130810"/>
                </a:lnTo>
                <a:lnTo>
                  <a:pt x="670610" y="134620"/>
                </a:lnTo>
                <a:lnTo>
                  <a:pt x="670407" y="134620"/>
                </a:lnTo>
                <a:lnTo>
                  <a:pt x="674789" y="137160"/>
                </a:lnTo>
                <a:lnTo>
                  <a:pt x="674560" y="137160"/>
                </a:lnTo>
                <a:lnTo>
                  <a:pt x="679056" y="140970"/>
                </a:lnTo>
                <a:lnTo>
                  <a:pt x="678802" y="140970"/>
                </a:lnTo>
                <a:lnTo>
                  <a:pt x="683412" y="143510"/>
                </a:lnTo>
                <a:lnTo>
                  <a:pt x="683145" y="143510"/>
                </a:lnTo>
                <a:lnTo>
                  <a:pt x="687870" y="144779"/>
                </a:lnTo>
                <a:lnTo>
                  <a:pt x="687577" y="144779"/>
                </a:lnTo>
                <a:lnTo>
                  <a:pt x="692391" y="147320"/>
                </a:lnTo>
                <a:lnTo>
                  <a:pt x="692086" y="147320"/>
                </a:lnTo>
                <a:lnTo>
                  <a:pt x="697001" y="148589"/>
                </a:lnTo>
                <a:lnTo>
                  <a:pt x="696671" y="148589"/>
                </a:lnTo>
                <a:lnTo>
                  <a:pt x="701675" y="149860"/>
                </a:lnTo>
                <a:lnTo>
                  <a:pt x="701332" y="149860"/>
                </a:lnTo>
                <a:lnTo>
                  <a:pt x="706412" y="151129"/>
                </a:lnTo>
                <a:lnTo>
                  <a:pt x="1122603" y="151129"/>
                </a:lnTo>
                <a:lnTo>
                  <a:pt x="1128191" y="152400"/>
                </a:lnTo>
                <a:lnTo>
                  <a:pt x="1133348" y="152400"/>
                </a:lnTo>
                <a:lnTo>
                  <a:pt x="1139113" y="153670"/>
                </a:lnTo>
                <a:lnTo>
                  <a:pt x="1165957" y="165100"/>
                </a:lnTo>
                <a:lnTo>
                  <a:pt x="1145933" y="165100"/>
                </a:lnTo>
                <a:lnTo>
                  <a:pt x="1146238" y="166370"/>
                </a:lnTo>
                <a:close/>
              </a:path>
              <a:path w="1228725" h="308610">
                <a:moveTo>
                  <a:pt x="584873" y="119379"/>
                </a:moveTo>
                <a:lnTo>
                  <a:pt x="573633" y="119379"/>
                </a:lnTo>
                <a:lnTo>
                  <a:pt x="577316" y="114300"/>
                </a:lnTo>
                <a:lnTo>
                  <a:pt x="577189" y="114300"/>
                </a:lnTo>
                <a:lnTo>
                  <a:pt x="580720" y="109220"/>
                </a:lnTo>
                <a:lnTo>
                  <a:pt x="583958" y="104139"/>
                </a:lnTo>
                <a:lnTo>
                  <a:pt x="587044" y="99060"/>
                </a:lnTo>
                <a:lnTo>
                  <a:pt x="589965" y="92710"/>
                </a:lnTo>
                <a:lnTo>
                  <a:pt x="592721" y="87629"/>
                </a:lnTo>
                <a:lnTo>
                  <a:pt x="595287" y="81279"/>
                </a:lnTo>
                <a:lnTo>
                  <a:pt x="597662" y="74929"/>
                </a:lnTo>
                <a:lnTo>
                  <a:pt x="599846" y="68579"/>
                </a:lnTo>
                <a:lnTo>
                  <a:pt x="601827" y="62229"/>
                </a:lnTo>
                <a:lnTo>
                  <a:pt x="603592" y="55879"/>
                </a:lnTo>
                <a:lnTo>
                  <a:pt x="605154" y="48260"/>
                </a:lnTo>
                <a:lnTo>
                  <a:pt x="606488" y="40639"/>
                </a:lnTo>
                <a:lnTo>
                  <a:pt x="606463" y="41910"/>
                </a:lnTo>
                <a:lnTo>
                  <a:pt x="612658" y="41910"/>
                </a:lnTo>
                <a:lnTo>
                  <a:pt x="612851" y="43179"/>
                </a:lnTo>
                <a:lnTo>
                  <a:pt x="614248" y="50800"/>
                </a:lnTo>
                <a:lnTo>
                  <a:pt x="614343" y="51172"/>
                </a:lnTo>
                <a:lnTo>
                  <a:pt x="612813" y="57150"/>
                </a:lnTo>
                <a:lnTo>
                  <a:pt x="610946" y="64770"/>
                </a:lnTo>
                <a:lnTo>
                  <a:pt x="608914" y="71120"/>
                </a:lnTo>
                <a:lnTo>
                  <a:pt x="606551" y="78739"/>
                </a:lnTo>
                <a:lnTo>
                  <a:pt x="604037" y="85089"/>
                </a:lnTo>
                <a:lnTo>
                  <a:pt x="601319" y="91439"/>
                </a:lnTo>
                <a:lnTo>
                  <a:pt x="598411" y="97789"/>
                </a:lnTo>
                <a:lnTo>
                  <a:pt x="595299" y="102870"/>
                </a:lnTo>
                <a:lnTo>
                  <a:pt x="591997" y="109220"/>
                </a:lnTo>
                <a:lnTo>
                  <a:pt x="588530" y="114300"/>
                </a:lnTo>
                <a:lnTo>
                  <a:pt x="584873" y="119379"/>
                </a:lnTo>
                <a:close/>
              </a:path>
              <a:path w="1228725" h="308610">
                <a:moveTo>
                  <a:pt x="622465" y="41910"/>
                </a:moveTo>
                <a:lnTo>
                  <a:pt x="622261" y="41910"/>
                </a:lnTo>
                <a:lnTo>
                  <a:pt x="622236" y="40639"/>
                </a:lnTo>
                <a:lnTo>
                  <a:pt x="622465" y="41910"/>
                </a:lnTo>
                <a:close/>
              </a:path>
              <a:path w="1228725" h="308610">
                <a:moveTo>
                  <a:pt x="9525" y="308610"/>
                </a:moveTo>
                <a:lnTo>
                  <a:pt x="0" y="308610"/>
                </a:lnTo>
                <a:lnTo>
                  <a:pt x="139" y="300989"/>
                </a:lnTo>
                <a:lnTo>
                  <a:pt x="4686" y="262889"/>
                </a:lnTo>
                <a:lnTo>
                  <a:pt x="12573" y="234950"/>
                </a:lnTo>
                <a:lnTo>
                  <a:pt x="15087" y="227329"/>
                </a:lnTo>
                <a:lnTo>
                  <a:pt x="17805" y="220979"/>
                </a:lnTo>
                <a:lnTo>
                  <a:pt x="20713" y="215900"/>
                </a:lnTo>
                <a:lnTo>
                  <a:pt x="23825" y="209550"/>
                </a:lnTo>
                <a:lnTo>
                  <a:pt x="50533" y="175260"/>
                </a:lnTo>
                <a:lnTo>
                  <a:pt x="54787" y="171450"/>
                </a:lnTo>
                <a:lnTo>
                  <a:pt x="59601" y="167639"/>
                </a:lnTo>
                <a:lnTo>
                  <a:pt x="64350" y="163829"/>
                </a:lnTo>
                <a:lnTo>
                  <a:pt x="68961" y="161289"/>
                </a:lnTo>
                <a:lnTo>
                  <a:pt x="73952" y="158750"/>
                </a:lnTo>
                <a:lnTo>
                  <a:pt x="79362" y="156210"/>
                </a:lnTo>
                <a:lnTo>
                  <a:pt x="84277" y="154939"/>
                </a:lnTo>
                <a:lnTo>
                  <a:pt x="95376" y="152400"/>
                </a:lnTo>
                <a:lnTo>
                  <a:pt x="100533" y="152400"/>
                </a:lnTo>
                <a:lnTo>
                  <a:pt x="106121" y="151129"/>
                </a:lnTo>
                <a:lnTo>
                  <a:pt x="522312" y="151129"/>
                </a:lnTo>
                <a:lnTo>
                  <a:pt x="527392" y="149860"/>
                </a:lnTo>
                <a:lnTo>
                  <a:pt x="527050" y="149860"/>
                </a:lnTo>
                <a:lnTo>
                  <a:pt x="532053" y="148589"/>
                </a:lnTo>
                <a:lnTo>
                  <a:pt x="531723" y="148589"/>
                </a:lnTo>
                <a:lnTo>
                  <a:pt x="536638" y="147320"/>
                </a:lnTo>
                <a:lnTo>
                  <a:pt x="536333" y="147320"/>
                </a:lnTo>
                <a:lnTo>
                  <a:pt x="541147" y="144779"/>
                </a:lnTo>
                <a:lnTo>
                  <a:pt x="540854" y="144779"/>
                </a:lnTo>
                <a:lnTo>
                  <a:pt x="545579" y="143510"/>
                </a:lnTo>
                <a:lnTo>
                  <a:pt x="545312" y="143510"/>
                </a:lnTo>
                <a:lnTo>
                  <a:pt x="549922" y="140970"/>
                </a:lnTo>
                <a:lnTo>
                  <a:pt x="549668" y="140970"/>
                </a:lnTo>
                <a:lnTo>
                  <a:pt x="554164" y="137160"/>
                </a:lnTo>
                <a:lnTo>
                  <a:pt x="553935" y="137160"/>
                </a:lnTo>
                <a:lnTo>
                  <a:pt x="558317" y="134620"/>
                </a:lnTo>
                <a:lnTo>
                  <a:pt x="558114" y="134620"/>
                </a:lnTo>
                <a:lnTo>
                  <a:pt x="562368" y="130810"/>
                </a:lnTo>
                <a:lnTo>
                  <a:pt x="562178" y="130810"/>
                </a:lnTo>
                <a:lnTo>
                  <a:pt x="566292" y="127000"/>
                </a:lnTo>
                <a:lnTo>
                  <a:pt x="566115" y="127000"/>
                </a:lnTo>
                <a:lnTo>
                  <a:pt x="570102" y="123189"/>
                </a:lnTo>
                <a:lnTo>
                  <a:pt x="569937" y="123189"/>
                </a:lnTo>
                <a:lnTo>
                  <a:pt x="573773" y="118110"/>
                </a:lnTo>
                <a:lnTo>
                  <a:pt x="573633" y="119379"/>
                </a:lnTo>
                <a:lnTo>
                  <a:pt x="584873" y="119379"/>
                </a:lnTo>
                <a:lnTo>
                  <a:pt x="581037" y="124460"/>
                </a:lnTo>
                <a:lnTo>
                  <a:pt x="577049" y="129539"/>
                </a:lnTo>
                <a:lnTo>
                  <a:pt x="572897" y="133350"/>
                </a:lnTo>
                <a:lnTo>
                  <a:pt x="568591" y="138429"/>
                </a:lnTo>
                <a:lnTo>
                  <a:pt x="564337" y="142239"/>
                </a:lnTo>
                <a:lnTo>
                  <a:pt x="559523" y="144779"/>
                </a:lnTo>
                <a:lnTo>
                  <a:pt x="554774" y="148589"/>
                </a:lnTo>
                <a:lnTo>
                  <a:pt x="523748" y="160020"/>
                </a:lnTo>
                <a:lnTo>
                  <a:pt x="518591" y="161289"/>
                </a:lnTo>
                <a:lnTo>
                  <a:pt x="96812" y="161289"/>
                </a:lnTo>
                <a:lnTo>
                  <a:pt x="91732" y="162560"/>
                </a:lnTo>
                <a:lnTo>
                  <a:pt x="92075" y="162560"/>
                </a:lnTo>
                <a:lnTo>
                  <a:pt x="87071" y="163829"/>
                </a:lnTo>
                <a:lnTo>
                  <a:pt x="87401" y="163829"/>
                </a:lnTo>
                <a:lnTo>
                  <a:pt x="84943" y="165100"/>
                </a:lnTo>
                <a:lnTo>
                  <a:pt x="82791" y="165100"/>
                </a:lnTo>
                <a:lnTo>
                  <a:pt x="77977" y="167639"/>
                </a:lnTo>
                <a:lnTo>
                  <a:pt x="78270" y="167639"/>
                </a:lnTo>
                <a:lnTo>
                  <a:pt x="73545" y="170179"/>
                </a:lnTo>
                <a:lnTo>
                  <a:pt x="73812" y="170179"/>
                </a:lnTo>
                <a:lnTo>
                  <a:pt x="69202" y="172720"/>
                </a:lnTo>
                <a:lnTo>
                  <a:pt x="69456" y="172720"/>
                </a:lnTo>
                <a:lnTo>
                  <a:pt x="64960" y="175260"/>
                </a:lnTo>
                <a:lnTo>
                  <a:pt x="65189" y="175260"/>
                </a:lnTo>
                <a:lnTo>
                  <a:pt x="60807" y="179070"/>
                </a:lnTo>
                <a:lnTo>
                  <a:pt x="61010" y="179070"/>
                </a:lnTo>
                <a:lnTo>
                  <a:pt x="56756" y="181610"/>
                </a:lnTo>
                <a:lnTo>
                  <a:pt x="56946" y="181610"/>
                </a:lnTo>
                <a:lnTo>
                  <a:pt x="52832" y="185420"/>
                </a:lnTo>
                <a:lnTo>
                  <a:pt x="53009" y="185420"/>
                </a:lnTo>
                <a:lnTo>
                  <a:pt x="50018" y="189229"/>
                </a:lnTo>
                <a:lnTo>
                  <a:pt x="49187" y="189229"/>
                </a:lnTo>
                <a:lnTo>
                  <a:pt x="45351" y="194310"/>
                </a:lnTo>
                <a:lnTo>
                  <a:pt x="45491" y="194310"/>
                </a:lnTo>
                <a:lnTo>
                  <a:pt x="41808" y="199389"/>
                </a:lnTo>
                <a:lnTo>
                  <a:pt x="41935" y="199389"/>
                </a:lnTo>
                <a:lnTo>
                  <a:pt x="38404" y="203200"/>
                </a:lnTo>
                <a:lnTo>
                  <a:pt x="35836" y="208279"/>
                </a:lnTo>
                <a:lnTo>
                  <a:pt x="35267" y="208279"/>
                </a:lnTo>
                <a:lnTo>
                  <a:pt x="32080" y="214629"/>
                </a:lnTo>
                <a:lnTo>
                  <a:pt x="29159" y="219710"/>
                </a:lnTo>
                <a:lnTo>
                  <a:pt x="26403" y="226060"/>
                </a:lnTo>
                <a:lnTo>
                  <a:pt x="23837" y="231139"/>
                </a:lnTo>
                <a:lnTo>
                  <a:pt x="21462" y="237489"/>
                </a:lnTo>
                <a:lnTo>
                  <a:pt x="19278" y="243839"/>
                </a:lnTo>
                <a:lnTo>
                  <a:pt x="17636" y="250189"/>
                </a:lnTo>
                <a:lnTo>
                  <a:pt x="17348" y="250189"/>
                </a:lnTo>
                <a:lnTo>
                  <a:pt x="15532" y="257810"/>
                </a:lnTo>
                <a:lnTo>
                  <a:pt x="13970" y="264160"/>
                </a:lnTo>
                <a:lnTo>
                  <a:pt x="12636" y="271779"/>
                </a:lnTo>
                <a:lnTo>
                  <a:pt x="11719" y="278129"/>
                </a:lnTo>
                <a:lnTo>
                  <a:pt x="11557" y="278129"/>
                </a:lnTo>
                <a:lnTo>
                  <a:pt x="10667" y="285750"/>
                </a:lnTo>
                <a:lnTo>
                  <a:pt x="10033" y="293370"/>
                </a:lnTo>
                <a:lnTo>
                  <a:pt x="9651" y="300989"/>
                </a:lnTo>
                <a:lnTo>
                  <a:pt x="9525" y="308610"/>
                </a:lnTo>
                <a:close/>
              </a:path>
              <a:path w="1228725" h="308610">
                <a:moveTo>
                  <a:pt x="655910" y="119379"/>
                </a:moveTo>
                <a:lnTo>
                  <a:pt x="655091" y="119379"/>
                </a:lnTo>
                <a:lnTo>
                  <a:pt x="654951" y="118110"/>
                </a:lnTo>
                <a:lnTo>
                  <a:pt x="655910" y="119379"/>
                </a:lnTo>
                <a:close/>
              </a:path>
              <a:path w="1228725" h="308610">
                <a:moveTo>
                  <a:pt x="96456" y="162560"/>
                </a:moveTo>
                <a:lnTo>
                  <a:pt x="96812" y="161289"/>
                </a:lnTo>
                <a:lnTo>
                  <a:pt x="101612" y="161289"/>
                </a:lnTo>
                <a:lnTo>
                  <a:pt x="96456" y="162560"/>
                </a:lnTo>
                <a:close/>
              </a:path>
              <a:path w="1228725" h="308610">
                <a:moveTo>
                  <a:pt x="1132268" y="162560"/>
                </a:moveTo>
                <a:lnTo>
                  <a:pt x="1127112" y="161289"/>
                </a:lnTo>
                <a:lnTo>
                  <a:pt x="1131912" y="161289"/>
                </a:lnTo>
                <a:lnTo>
                  <a:pt x="1132268" y="162560"/>
                </a:lnTo>
                <a:close/>
              </a:path>
              <a:path w="1228725" h="308610">
                <a:moveTo>
                  <a:pt x="82486" y="166370"/>
                </a:moveTo>
                <a:lnTo>
                  <a:pt x="82791" y="165100"/>
                </a:lnTo>
                <a:lnTo>
                  <a:pt x="84943" y="165100"/>
                </a:lnTo>
                <a:lnTo>
                  <a:pt x="82486" y="166370"/>
                </a:lnTo>
                <a:close/>
              </a:path>
              <a:path w="1228725" h="308610">
                <a:moveTo>
                  <a:pt x="1179702" y="190500"/>
                </a:moveTo>
                <a:lnTo>
                  <a:pt x="1175715" y="185420"/>
                </a:lnTo>
                <a:lnTo>
                  <a:pt x="1175892" y="185420"/>
                </a:lnTo>
                <a:lnTo>
                  <a:pt x="1171778" y="181610"/>
                </a:lnTo>
                <a:lnTo>
                  <a:pt x="1171968" y="181610"/>
                </a:lnTo>
                <a:lnTo>
                  <a:pt x="1167714" y="179070"/>
                </a:lnTo>
                <a:lnTo>
                  <a:pt x="1167917" y="179070"/>
                </a:lnTo>
                <a:lnTo>
                  <a:pt x="1163535" y="175260"/>
                </a:lnTo>
                <a:lnTo>
                  <a:pt x="1163764" y="175260"/>
                </a:lnTo>
                <a:lnTo>
                  <a:pt x="1159268" y="172720"/>
                </a:lnTo>
                <a:lnTo>
                  <a:pt x="1159522" y="172720"/>
                </a:lnTo>
                <a:lnTo>
                  <a:pt x="1154912" y="170179"/>
                </a:lnTo>
                <a:lnTo>
                  <a:pt x="1155179" y="170179"/>
                </a:lnTo>
                <a:lnTo>
                  <a:pt x="1150454" y="167639"/>
                </a:lnTo>
                <a:lnTo>
                  <a:pt x="1150747" y="167639"/>
                </a:lnTo>
                <a:lnTo>
                  <a:pt x="1145933" y="165100"/>
                </a:lnTo>
                <a:lnTo>
                  <a:pt x="1165957" y="165100"/>
                </a:lnTo>
                <a:lnTo>
                  <a:pt x="1169123" y="167639"/>
                </a:lnTo>
                <a:lnTo>
                  <a:pt x="1173937" y="171450"/>
                </a:lnTo>
                <a:lnTo>
                  <a:pt x="1178382" y="175260"/>
                </a:lnTo>
                <a:lnTo>
                  <a:pt x="1182674" y="179070"/>
                </a:lnTo>
                <a:lnTo>
                  <a:pt x="1186802" y="184150"/>
                </a:lnTo>
                <a:lnTo>
                  <a:pt x="1190790" y="187960"/>
                </a:lnTo>
                <a:lnTo>
                  <a:pt x="1191742" y="189229"/>
                </a:lnTo>
                <a:lnTo>
                  <a:pt x="1179537" y="189229"/>
                </a:lnTo>
                <a:lnTo>
                  <a:pt x="1179702" y="190500"/>
                </a:lnTo>
                <a:close/>
              </a:path>
              <a:path w="1228725" h="308610">
                <a:moveTo>
                  <a:pt x="49022" y="190500"/>
                </a:moveTo>
                <a:lnTo>
                  <a:pt x="49187" y="189229"/>
                </a:lnTo>
                <a:lnTo>
                  <a:pt x="50018" y="189229"/>
                </a:lnTo>
                <a:lnTo>
                  <a:pt x="49022" y="190500"/>
                </a:lnTo>
                <a:close/>
              </a:path>
              <a:path w="1228725" h="308610">
                <a:moveTo>
                  <a:pt x="1193558" y="209550"/>
                </a:moveTo>
                <a:lnTo>
                  <a:pt x="1190205" y="203200"/>
                </a:lnTo>
                <a:lnTo>
                  <a:pt x="1186789" y="199389"/>
                </a:lnTo>
                <a:lnTo>
                  <a:pt x="1186916" y="199389"/>
                </a:lnTo>
                <a:lnTo>
                  <a:pt x="1183233" y="194310"/>
                </a:lnTo>
                <a:lnTo>
                  <a:pt x="1183373" y="194310"/>
                </a:lnTo>
                <a:lnTo>
                  <a:pt x="1179537" y="189229"/>
                </a:lnTo>
                <a:lnTo>
                  <a:pt x="1191742" y="189229"/>
                </a:lnTo>
                <a:lnTo>
                  <a:pt x="1194600" y="193039"/>
                </a:lnTo>
                <a:lnTo>
                  <a:pt x="1198245" y="198120"/>
                </a:lnTo>
                <a:lnTo>
                  <a:pt x="1201712" y="204470"/>
                </a:lnTo>
                <a:lnTo>
                  <a:pt x="1204169" y="208279"/>
                </a:lnTo>
                <a:lnTo>
                  <a:pt x="1193457" y="208279"/>
                </a:lnTo>
                <a:lnTo>
                  <a:pt x="1193558" y="209550"/>
                </a:lnTo>
                <a:close/>
              </a:path>
              <a:path w="1228725" h="308610">
                <a:moveTo>
                  <a:pt x="35166" y="209550"/>
                </a:moveTo>
                <a:lnTo>
                  <a:pt x="35267" y="208279"/>
                </a:lnTo>
                <a:lnTo>
                  <a:pt x="35836" y="208279"/>
                </a:lnTo>
                <a:lnTo>
                  <a:pt x="35166" y="209550"/>
                </a:lnTo>
                <a:close/>
              </a:path>
              <a:path w="1228725" h="308610">
                <a:moveTo>
                  <a:pt x="1211427" y="251460"/>
                </a:moveTo>
                <a:lnTo>
                  <a:pt x="1209395" y="243839"/>
                </a:lnTo>
                <a:lnTo>
                  <a:pt x="1207198" y="237489"/>
                </a:lnTo>
                <a:lnTo>
                  <a:pt x="1204810" y="231139"/>
                </a:lnTo>
                <a:lnTo>
                  <a:pt x="1202245" y="226060"/>
                </a:lnTo>
                <a:lnTo>
                  <a:pt x="1199489" y="219710"/>
                </a:lnTo>
                <a:lnTo>
                  <a:pt x="1196555" y="214629"/>
                </a:lnTo>
                <a:lnTo>
                  <a:pt x="1193457" y="208279"/>
                </a:lnTo>
                <a:lnTo>
                  <a:pt x="1204169" y="208279"/>
                </a:lnTo>
                <a:lnTo>
                  <a:pt x="1220584" y="248920"/>
                </a:lnTo>
                <a:lnTo>
                  <a:pt x="1220957" y="250189"/>
                </a:lnTo>
                <a:lnTo>
                  <a:pt x="1211376" y="250189"/>
                </a:lnTo>
                <a:lnTo>
                  <a:pt x="1211427" y="251460"/>
                </a:lnTo>
                <a:close/>
              </a:path>
              <a:path w="1228725" h="308610">
                <a:moveTo>
                  <a:pt x="17297" y="251460"/>
                </a:moveTo>
                <a:lnTo>
                  <a:pt x="17348" y="250189"/>
                </a:lnTo>
                <a:lnTo>
                  <a:pt x="17636" y="250189"/>
                </a:lnTo>
                <a:lnTo>
                  <a:pt x="17297" y="251460"/>
                </a:lnTo>
                <a:close/>
              </a:path>
              <a:path w="1228725" h="308610">
                <a:moveTo>
                  <a:pt x="1217193" y="279400"/>
                </a:moveTo>
                <a:lnTo>
                  <a:pt x="1216063" y="271779"/>
                </a:lnTo>
                <a:lnTo>
                  <a:pt x="1214716" y="264160"/>
                </a:lnTo>
                <a:lnTo>
                  <a:pt x="1213154" y="257810"/>
                </a:lnTo>
                <a:lnTo>
                  <a:pt x="1211376" y="250189"/>
                </a:lnTo>
                <a:lnTo>
                  <a:pt x="1220957" y="250189"/>
                </a:lnTo>
                <a:lnTo>
                  <a:pt x="1222451" y="255270"/>
                </a:lnTo>
                <a:lnTo>
                  <a:pt x="1224076" y="262889"/>
                </a:lnTo>
                <a:lnTo>
                  <a:pt x="1225473" y="270510"/>
                </a:lnTo>
                <a:lnTo>
                  <a:pt x="1226629" y="278129"/>
                </a:lnTo>
                <a:lnTo>
                  <a:pt x="1217167" y="278129"/>
                </a:lnTo>
                <a:lnTo>
                  <a:pt x="1217193" y="279400"/>
                </a:lnTo>
                <a:close/>
              </a:path>
              <a:path w="1228725" h="308610">
                <a:moveTo>
                  <a:pt x="11531" y="279400"/>
                </a:moveTo>
                <a:lnTo>
                  <a:pt x="11557" y="278129"/>
                </a:lnTo>
                <a:lnTo>
                  <a:pt x="11719" y="278129"/>
                </a:lnTo>
                <a:lnTo>
                  <a:pt x="11531" y="279400"/>
                </a:lnTo>
                <a:close/>
              </a:path>
              <a:path w="1228725" h="308610">
                <a:moveTo>
                  <a:pt x="1228725" y="308610"/>
                </a:moveTo>
                <a:lnTo>
                  <a:pt x="1219200" y="308610"/>
                </a:lnTo>
                <a:lnTo>
                  <a:pt x="1219073" y="300989"/>
                </a:lnTo>
                <a:lnTo>
                  <a:pt x="1218679" y="293370"/>
                </a:lnTo>
                <a:lnTo>
                  <a:pt x="1218044" y="285750"/>
                </a:lnTo>
                <a:lnTo>
                  <a:pt x="1217167" y="278129"/>
                </a:lnTo>
                <a:lnTo>
                  <a:pt x="1226629" y="278129"/>
                </a:lnTo>
                <a:lnTo>
                  <a:pt x="1227543" y="285750"/>
                </a:lnTo>
                <a:lnTo>
                  <a:pt x="1228191" y="293370"/>
                </a:lnTo>
                <a:lnTo>
                  <a:pt x="1228598" y="300989"/>
                </a:lnTo>
                <a:lnTo>
                  <a:pt x="1228725" y="308610"/>
                </a:lnTo>
                <a:close/>
              </a:path>
            </a:pathLst>
          </a:custGeom>
          <a:solidFill>
            <a:srgbClr val="000000"/>
          </a:solid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37367"/>
            <a:ext cx="7621270" cy="3827779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651000" marR="43180" indent="-228600">
              <a:lnSpc>
                <a:spcPct val="99400"/>
              </a:lnSpc>
              <a:spcBef>
                <a:spcPts val="545"/>
              </a:spcBef>
            </a:pPr>
            <a:r>
              <a:rPr sz="2000" dirty="0">
                <a:latin typeface="宋体"/>
                <a:cs typeface="宋体"/>
              </a:rPr>
              <a:t>–若</a:t>
            </a:r>
            <a:r>
              <a:rPr sz="2000" spc="-5" dirty="0">
                <a:latin typeface="宋体"/>
                <a:cs typeface="宋体"/>
              </a:rPr>
              <a:t>r</a:t>
            </a:r>
            <a:r>
              <a:rPr sz="2000" dirty="0">
                <a:latin typeface="宋体"/>
                <a:cs typeface="宋体"/>
              </a:rPr>
              <a:t>不是</a:t>
            </a:r>
            <a:r>
              <a:rPr sz="2000" spc="-5" dirty="0">
                <a:latin typeface="宋体"/>
                <a:cs typeface="宋体"/>
              </a:rPr>
              <a:t>R（U，F）</a:t>
            </a:r>
            <a:r>
              <a:rPr sz="2000" dirty="0">
                <a:latin typeface="宋体"/>
                <a:cs typeface="宋体"/>
              </a:rPr>
              <a:t>的关系，则必由于</a:t>
            </a:r>
            <a:r>
              <a:rPr sz="2000" spc="-5" dirty="0">
                <a:latin typeface="宋体"/>
                <a:cs typeface="宋体"/>
              </a:rPr>
              <a:t>F</a:t>
            </a:r>
            <a:r>
              <a:rPr sz="2000" dirty="0">
                <a:latin typeface="宋体"/>
                <a:cs typeface="宋体"/>
              </a:rPr>
              <a:t>中有依赖关</a:t>
            </a:r>
            <a:r>
              <a:rPr sz="2000" spc="5" dirty="0">
                <a:latin typeface="宋体"/>
                <a:cs typeface="宋体"/>
              </a:rPr>
              <a:t>系 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上不成立所致。由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的构成可知，有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dirty="0">
                <a:latin typeface="宋体"/>
                <a:cs typeface="宋体"/>
              </a:rPr>
              <a:t>， 而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⊈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；</a:t>
            </a:r>
            <a:endParaRPr sz="2000">
              <a:latin typeface="宋体"/>
              <a:cs typeface="宋体"/>
            </a:endParaRPr>
          </a:p>
          <a:p>
            <a:pPr marL="1421765">
              <a:lnSpc>
                <a:spcPct val="100000"/>
              </a:lnSpc>
              <a:spcBef>
                <a:spcPts val="480"/>
              </a:spcBef>
            </a:pPr>
            <a:r>
              <a:rPr sz="2000" spc="-5" dirty="0">
                <a:latin typeface="宋体"/>
                <a:cs typeface="宋体"/>
              </a:rPr>
              <a:t>–∵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1950" spc="254" baseline="21367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MS UI Gothic"/>
                <a:cs typeface="MS UI Gothic"/>
              </a:rPr>
              <a:t>∴</a:t>
            </a:r>
            <a:r>
              <a:rPr sz="2000" spc="-5" dirty="0">
                <a:latin typeface="Times New Roman"/>
                <a:cs typeface="Times New Roman"/>
              </a:rPr>
              <a:t>W</a:t>
            </a:r>
            <a:r>
              <a:rPr sz="2000" spc="-5" dirty="0">
                <a:latin typeface="Lucida Sans Unicode"/>
                <a:cs typeface="Lucida Sans Unicode"/>
              </a:rPr>
              <a:t>⊆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dirty="0">
                <a:latin typeface="宋体"/>
                <a:cs typeface="宋体"/>
              </a:rPr>
              <a:t>第一步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651000" marR="163195" lvl="2" indent="-228600">
              <a:lnSpc>
                <a:spcPct val="100000"/>
              </a:lnSpc>
              <a:spcBef>
                <a:spcPts val="500"/>
              </a:spcBef>
              <a:buFont typeface="Times New Roman"/>
              <a:buChar char="–"/>
              <a:tabLst>
                <a:tab pos="1651000" algn="l"/>
              </a:tabLst>
            </a:pPr>
            <a:r>
              <a:rPr sz="2000" dirty="0">
                <a:latin typeface="宋体"/>
                <a:cs typeface="宋体"/>
              </a:rPr>
              <a:t>矛盾，所以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其必是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（</a:t>
            </a:r>
            <a:r>
              <a:rPr sz="2000" spc="-5" dirty="0">
                <a:latin typeface="Times New Roman"/>
                <a:cs typeface="Times New Roman"/>
              </a:rPr>
              <a:t>U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）上的一个关系，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中的 全部函数依赖在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上成立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lvl="2">
              <a:lnSpc>
                <a:spcPct val="100000"/>
              </a:lnSpc>
              <a:spcBef>
                <a:spcPts val="5"/>
              </a:spcBef>
              <a:buFont typeface="Times New Roman"/>
              <a:buChar char="–"/>
            </a:pPr>
            <a:endParaRPr sz="2600">
              <a:latin typeface="宋体"/>
              <a:cs typeface="宋体"/>
            </a:endParaRPr>
          </a:p>
          <a:p>
            <a:pPr marL="1651000" lvl="2" indent="-229235">
              <a:lnSpc>
                <a:spcPct val="100000"/>
              </a:lnSpc>
              <a:buFont typeface="Times New Roman"/>
              <a:buChar char="–"/>
              <a:tabLst>
                <a:tab pos="1651000" algn="l"/>
              </a:tabLst>
            </a:pPr>
            <a:r>
              <a:rPr sz="2000" dirty="0">
                <a:latin typeface="宋体"/>
                <a:cs typeface="宋体"/>
              </a:rPr>
              <a:t>如果</a:t>
            </a:r>
            <a:r>
              <a:rPr sz="2000" spc="-5" dirty="0">
                <a:latin typeface="Times New Roman"/>
                <a:cs typeface="Times New Roman"/>
              </a:rPr>
              <a:t>V</a:t>
            </a:r>
            <a:r>
              <a:rPr sz="2000" spc="-5" dirty="0">
                <a:latin typeface="Lucida Sans Unicode"/>
                <a:cs typeface="Lucida Sans Unicode"/>
              </a:rPr>
              <a:t>⊈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则有</a:t>
            </a:r>
            <a:r>
              <a:rPr sz="2000" spc="-5" dirty="0">
                <a:latin typeface="Times New Roman"/>
                <a:cs typeface="Times New Roman"/>
              </a:rPr>
              <a:t>t1[V]&lt;&gt;t2[V]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则必有</a:t>
            </a:r>
            <a:r>
              <a:rPr sz="2000" spc="-5" dirty="0">
                <a:latin typeface="Times New Roman"/>
                <a:cs typeface="Times New Roman"/>
              </a:rPr>
              <a:t>V→W</a:t>
            </a:r>
            <a:r>
              <a:rPr sz="2000" dirty="0">
                <a:latin typeface="宋体"/>
                <a:cs typeface="宋体"/>
              </a:rPr>
              <a:t>成立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26440" y="1937367"/>
            <a:ext cx="7499984" cy="3498850"/>
          </a:xfrm>
          <a:prstGeom prst="rect">
            <a:avLst/>
          </a:prstGeom>
        </p:spPr>
        <p:txBody>
          <a:bodyPr vert="horz" wrap="square" lIns="0" tIns="88900" rIns="0" bIns="0" rtlCol="0">
            <a:spAutoFit/>
          </a:bodyPr>
          <a:lstStyle/>
          <a:p>
            <a:pPr marL="452755" indent="-402590">
              <a:lnSpc>
                <a:spcPct val="100000"/>
              </a:lnSpc>
              <a:spcBef>
                <a:spcPts val="7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533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2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937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93750" algn="l"/>
              </a:tabLst>
            </a:pPr>
            <a:r>
              <a:rPr sz="2800" dirty="0">
                <a:latin typeface="宋体"/>
                <a:cs typeface="宋体"/>
              </a:rPr>
              <a:t>完备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>
              <a:latin typeface="宋体"/>
              <a:cs typeface="宋体"/>
            </a:endParaRPr>
          </a:p>
          <a:p>
            <a:pPr marL="1193165" marR="43180" lvl="2" indent="-228600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938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484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不能由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从</a:t>
            </a: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公理导出，则</a:t>
            </a:r>
            <a:r>
              <a:rPr sz="2400" dirty="0">
                <a:latin typeface="Tahoma"/>
                <a:cs typeface="Tahoma"/>
              </a:rPr>
              <a:t>Y  </a:t>
            </a:r>
            <a:r>
              <a:rPr sz="2400" dirty="0">
                <a:latin typeface="宋体"/>
                <a:cs typeface="宋体"/>
              </a:rPr>
              <a:t>不是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spc="7" baseline="-17921" dirty="0">
                <a:latin typeface="Tahoma"/>
                <a:cs typeface="Tahoma"/>
              </a:rPr>
              <a:t>F</a:t>
            </a:r>
            <a:r>
              <a:rPr sz="2325" spc="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的子集，因此必有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宋体"/>
                <a:cs typeface="宋体"/>
              </a:rPr>
              <a:t>的子集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Arial"/>
                <a:cs typeface="Arial"/>
              </a:rPr>
              <a:t>’</a:t>
            </a:r>
            <a:r>
              <a:rPr sz="2400" dirty="0">
                <a:latin typeface="宋体"/>
                <a:cs typeface="宋体"/>
              </a:rPr>
              <a:t>满足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Arial"/>
                <a:cs typeface="Arial"/>
              </a:rPr>
              <a:t>’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-  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中不成立，即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必不为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endParaRPr sz="2400">
              <a:latin typeface="Tahoma"/>
              <a:cs typeface="Tahoma"/>
            </a:endParaRPr>
          </a:p>
          <a:p>
            <a:pPr marL="1193165">
              <a:lnSpc>
                <a:spcPct val="100000"/>
              </a:lnSpc>
            </a:pP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宋体"/>
                <a:cs typeface="宋体"/>
              </a:rPr>
              <a:t>）</a:t>
            </a:r>
            <a:r>
              <a:rPr sz="2400" dirty="0">
                <a:latin typeface="宋体"/>
                <a:cs typeface="宋体"/>
              </a:rPr>
              <a:t>所蕴含。</a:t>
            </a:r>
            <a:endParaRPr sz="24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000">
              <a:latin typeface="宋体"/>
              <a:cs typeface="宋体"/>
            </a:endParaRPr>
          </a:p>
          <a:p>
            <a:pPr marL="1193800" indent="-229235">
              <a:lnSpc>
                <a:spcPct val="100000"/>
              </a:lnSpc>
              <a:buClr>
                <a:srgbClr val="CC00CC"/>
              </a:buClr>
              <a:buChar char="•"/>
              <a:tabLst>
                <a:tab pos="1193800" algn="l"/>
              </a:tabLst>
            </a:pPr>
            <a:r>
              <a:rPr sz="2400" dirty="0">
                <a:latin typeface="宋体"/>
                <a:cs typeface="宋体"/>
              </a:rPr>
              <a:t>证明完毕。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1653539" y="2013584"/>
            <a:ext cx="6741159" cy="2276475"/>
          </a:xfrm>
          <a:prstGeom prst="rect">
            <a:avLst/>
          </a:prstGeom>
        </p:spPr>
        <p:txBody>
          <a:bodyPr vert="horz" wrap="square" lIns="0" tIns="17780" rIns="0" bIns="0" rtlCol="0">
            <a:spAutoFit/>
          </a:bodyPr>
          <a:lstStyle/>
          <a:p>
            <a:pPr marL="266700" marR="30480" indent="-228600">
              <a:lnSpc>
                <a:spcPct val="98500"/>
              </a:lnSpc>
              <a:spcBef>
                <a:spcPts val="140"/>
              </a:spcBef>
              <a:buClr>
                <a:srgbClr val="CC00CC"/>
              </a:buClr>
              <a:buChar char="•"/>
              <a:tabLst>
                <a:tab pos="266700" algn="l"/>
              </a:tabLst>
            </a:pPr>
            <a:r>
              <a:rPr sz="2400" spc="-5" dirty="0">
                <a:latin typeface="Tahoma"/>
                <a:cs typeface="Tahoma"/>
              </a:rPr>
              <a:t>Armstrong</a:t>
            </a:r>
            <a:r>
              <a:rPr sz="2400" dirty="0">
                <a:latin typeface="宋体"/>
                <a:cs typeface="宋体"/>
              </a:rPr>
              <a:t>公理的完备性及有效性说明了“导出 ”和“蕴含”是两个完全等价的概念。于是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也 可以说成是由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出发借助</a:t>
            </a:r>
            <a:r>
              <a:rPr sz="2400" dirty="0">
                <a:latin typeface="Tahoma"/>
                <a:cs typeface="Tahoma"/>
              </a:rPr>
              <a:t>Ar</a:t>
            </a:r>
            <a:r>
              <a:rPr sz="2400" spc="-5" dirty="0">
                <a:latin typeface="Tahoma"/>
                <a:cs typeface="Tahoma"/>
              </a:rPr>
              <a:t>ms</a:t>
            </a:r>
            <a:r>
              <a:rPr sz="2400" dirty="0">
                <a:latin typeface="Tahoma"/>
                <a:cs typeface="Tahoma"/>
              </a:rPr>
              <a:t>tron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公理导出的函 数依赖的集合。</a:t>
            </a:r>
            <a:endParaRPr sz="2400">
              <a:latin typeface="宋体"/>
              <a:cs typeface="宋体"/>
            </a:endParaRPr>
          </a:p>
          <a:p>
            <a:pPr marL="266700" marR="66675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266700" algn="l"/>
              </a:tabLst>
            </a:pPr>
            <a:r>
              <a:rPr sz="2400" dirty="0">
                <a:latin typeface="宋体"/>
                <a:cs typeface="宋体"/>
              </a:rPr>
              <a:t>从导出（或蕴含）的概念出发，可以引出函数依 赖集等价和最小依赖集的概念。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14795"/>
            <a:ext cx="7661275" cy="1550670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3</a:t>
            </a:r>
            <a:endParaRPr sz="3200">
              <a:latin typeface="Tahoma"/>
              <a:cs typeface="Tahoma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如果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spc="-5" dirty="0">
                <a:latin typeface="Tahoma"/>
                <a:cs typeface="Tahoma"/>
              </a:rPr>
              <a:t>=F</a:t>
            </a:r>
            <a:r>
              <a:rPr sz="2700" spc="15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，就说函数依赖集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覆盖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Tahoma"/>
                <a:cs typeface="Tahoma"/>
              </a:rPr>
              <a:t>G </a:t>
            </a:r>
            <a:r>
              <a:rPr sz="2800" dirty="0">
                <a:latin typeface="宋体"/>
                <a:cs typeface="宋体"/>
              </a:rPr>
              <a:t>的覆盖，或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是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的覆盖），或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与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等价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2464"/>
            <a:ext cx="7139940" cy="4416594"/>
          </a:xfrm>
          <a:prstGeom prst="rect">
            <a:avLst/>
          </a:prstGeom>
        </p:spPr>
        <p:txBody>
          <a:bodyPr vert="horz" wrap="square" lIns="0" tIns="8382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引理</a:t>
            </a:r>
            <a:r>
              <a:rPr sz="3200" dirty="0">
                <a:latin typeface="Tahoma"/>
                <a:cs typeface="Tahoma"/>
              </a:rPr>
              <a:t>3</a:t>
            </a:r>
          </a:p>
          <a:p>
            <a:pPr marL="781050" lvl="1" indent="-285750">
              <a:lnSpc>
                <a:spcPct val="100000"/>
              </a:lnSpc>
              <a:spcBef>
                <a:spcPts val="48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=G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的充分必要条件是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及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800" dirty="0">
                <a:highlight>
                  <a:srgbClr val="FFFF00"/>
                </a:highlight>
                <a:latin typeface="Lucida Sans Unicode"/>
                <a:cs typeface="Lucida Sans Unicode"/>
              </a:rPr>
              <a:t>⊆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700" baseline="21604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。</a:t>
            </a:r>
            <a:endParaRPr sz="28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必要性是显然的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充分</a:t>
            </a:r>
            <a:r>
              <a:rPr sz="2800" spc="-5" dirty="0">
                <a:latin typeface="宋体"/>
                <a:cs typeface="宋体"/>
              </a:rPr>
              <a:t>性</a:t>
            </a:r>
            <a:endParaRPr sz="2800" dirty="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6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spc="-5" dirty="0">
                <a:latin typeface="Lucida Sans Unicode"/>
                <a:cs typeface="Lucida Sans Unicode"/>
              </a:rPr>
              <a:t>⊆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任取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∈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，则有</a:t>
            </a:r>
            <a:r>
              <a:rPr sz="2400" dirty="0">
                <a:latin typeface="Tahoma"/>
                <a:cs typeface="Tahoma"/>
              </a:rPr>
              <a:t>Y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，所以有</a:t>
            </a:r>
          </a:p>
          <a:p>
            <a:pPr marL="1180465">
              <a:lnSpc>
                <a:spcPct val="100000"/>
              </a:lnSpc>
            </a:pP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∈(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)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Tahoma"/>
                <a:cs typeface="Tahoma"/>
              </a:rPr>
              <a:t>=G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，所以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同理，有</a:t>
            </a:r>
            <a:r>
              <a:rPr sz="2400" dirty="0">
                <a:latin typeface="Tahoma"/>
                <a:cs typeface="Tahoma"/>
              </a:rPr>
              <a:t>G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Lucida Sans Unicode"/>
                <a:cs typeface="Lucida Sans Unicode"/>
              </a:rPr>
              <a:t>⊆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405" baseline="2150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，所以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spc="-5" dirty="0">
                <a:latin typeface="Tahoma"/>
                <a:cs typeface="Tahoma"/>
              </a:rPr>
              <a:t>=G</a:t>
            </a:r>
            <a:r>
              <a:rPr sz="2325" spc="-7" baseline="2150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94754"/>
            <a:ext cx="7623809" cy="1570355"/>
          </a:xfrm>
          <a:prstGeom prst="rect">
            <a:avLst/>
          </a:prstGeom>
        </p:spPr>
        <p:txBody>
          <a:bodyPr vert="horz" wrap="square" lIns="0" tIns="10922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86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判断两个函数依赖集等价的算</a:t>
            </a:r>
            <a:r>
              <a:rPr sz="3200" spc="5" dirty="0">
                <a:latin typeface="宋体"/>
                <a:cs typeface="宋体"/>
              </a:rPr>
              <a:t>法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5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判定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800" dirty="0">
                <a:latin typeface="Lucida Sans Unicode"/>
                <a:cs typeface="Lucida Sans Unicode"/>
              </a:rPr>
              <a:t>⊆</a:t>
            </a:r>
            <a:r>
              <a:rPr sz="2800" dirty="0">
                <a:latin typeface="Tahoma"/>
                <a:cs typeface="Tahoma"/>
              </a:rPr>
              <a:t>G</a:t>
            </a:r>
            <a:r>
              <a:rPr sz="2700" baseline="21604" dirty="0"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只须逐一对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中的函数依赖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X→Y</a:t>
            </a:r>
            <a:endParaRPr sz="2800" dirty="0">
              <a:highlight>
                <a:srgbClr val="FFFF00"/>
              </a:highlight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  <a:spcBef>
                <a:spcPts val="190"/>
              </a:spcBef>
            </a:pP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，考查</a:t>
            </a:r>
            <a:r>
              <a:rPr sz="2800" spc="-5" dirty="0">
                <a:highlight>
                  <a:srgbClr val="FFFF00"/>
                </a:highlight>
                <a:latin typeface="Tahoma"/>
                <a:cs typeface="Tahoma"/>
              </a:rPr>
              <a:t>Y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是否属于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700" baseline="-16975" dirty="0">
                <a:highlight>
                  <a:srgbClr val="FFFF00"/>
                </a:highlight>
                <a:latin typeface="Tahoma"/>
                <a:cs typeface="Tahoma"/>
              </a:rPr>
              <a:t>G</a:t>
            </a:r>
            <a:r>
              <a:rPr sz="2800" dirty="0">
                <a:highlight>
                  <a:srgbClr val="FFFF00"/>
                </a:highlight>
                <a:latin typeface="Tahoma"/>
                <a:cs typeface="Tahoma"/>
              </a:rPr>
              <a:t>+</a:t>
            </a:r>
            <a:r>
              <a:rPr sz="2800" dirty="0">
                <a:latin typeface="宋体"/>
                <a:cs typeface="宋体"/>
              </a:rPr>
              <a:t>就行了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795"/>
            <a:ext cx="7524115" cy="4064446"/>
          </a:xfrm>
          <a:prstGeom prst="rect">
            <a:avLst/>
          </a:prstGeom>
        </p:spPr>
        <p:txBody>
          <a:bodyPr vert="horz" wrap="square" lIns="0" tIns="1111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8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定义</a:t>
            </a:r>
            <a:r>
              <a:rPr sz="3200" dirty="0">
                <a:latin typeface="Tahoma"/>
                <a:cs typeface="Tahoma"/>
              </a:rPr>
              <a:t>4</a:t>
            </a:r>
          </a:p>
          <a:p>
            <a:pPr marL="755650" marR="5080" lvl="1" indent="-285750">
              <a:lnSpc>
                <a:spcPct val="97700"/>
              </a:lnSpc>
              <a:spcBef>
                <a:spcPts val="75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如果函数依赖集满足下列条件，则称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为</a:t>
            </a:r>
            <a:r>
              <a:rPr sz="2800" spc="-5" dirty="0">
                <a:latin typeface="宋体"/>
                <a:cs typeface="宋体"/>
              </a:rPr>
              <a:t>一 </a:t>
            </a:r>
            <a:r>
              <a:rPr sz="2800" dirty="0">
                <a:latin typeface="宋体"/>
                <a:cs typeface="宋体"/>
              </a:rPr>
              <a:t>个极小函数依赖集，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也称为最小依赖集或</a:t>
            </a:r>
            <a:r>
              <a:rPr sz="2800" spc="-5" dirty="0">
                <a:highlight>
                  <a:srgbClr val="FFFF00"/>
                </a:highlight>
                <a:latin typeface="宋体"/>
                <a:cs typeface="宋体"/>
              </a:rPr>
              <a:t>最 </a:t>
            </a:r>
            <a:r>
              <a:rPr sz="2800" dirty="0">
                <a:highlight>
                  <a:srgbClr val="FFFF00"/>
                </a:highlight>
                <a:latin typeface="宋体"/>
                <a:cs typeface="宋体"/>
              </a:rPr>
              <a:t>小覆盖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59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中任一函数依赖的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右部仅含一个属性</a:t>
            </a: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50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不存在这样的函数依赖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X→A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，使得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与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-</a:t>
            </a:r>
            <a:endParaRPr sz="2400" dirty="0">
              <a:highlight>
                <a:srgbClr val="FFFF00"/>
              </a:highlight>
              <a:latin typeface="宋体"/>
              <a:cs typeface="宋体"/>
            </a:endParaRPr>
          </a:p>
          <a:p>
            <a:pPr marL="1155065">
              <a:lnSpc>
                <a:spcPct val="100000"/>
              </a:lnSpc>
            </a:pP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{X→A}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等价</a:t>
            </a:r>
            <a:r>
              <a:rPr sz="2400" dirty="0">
                <a:latin typeface="宋体"/>
                <a:cs typeface="宋体"/>
              </a:rPr>
              <a:t>；</a:t>
            </a:r>
          </a:p>
          <a:p>
            <a:pPr marL="1155065" marR="83185" lvl="2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55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不存在这样的函数依赖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X→A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，</a:t>
            </a:r>
            <a:r>
              <a:rPr sz="2400" dirty="0">
                <a:highlight>
                  <a:srgbClr val="FFFF00"/>
                </a:highlight>
                <a:latin typeface="Tahoma"/>
                <a:cs typeface="Tahoma"/>
              </a:rPr>
              <a:t>X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有真子集 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Z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使得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spc="-5" dirty="0">
                <a:highlight>
                  <a:srgbClr val="FFFF00"/>
                </a:highlight>
                <a:latin typeface="宋体"/>
                <a:cs typeface="宋体"/>
              </a:rPr>
              <a:t>-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{X→A}</a:t>
            </a:r>
            <a:r>
              <a:rPr sz="2400" spc="-5" dirty="0">
                <a:highlight>
                  <a:srgbClr val="FFFF00"/>
                </a:highlight>
                <a:latin typeface="MS UI Gothic"/>
                <a:cs typeface="MS UI Gothic"/>
              </a:rPr>
              <a:t>∪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{Z→A}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与</a:t>
            </a:r>
            <a:r>
              <a:rPr sz="2400" spc="-5" dirty="0">
                <a:highlight>
                  <a:srgbClr val="FFFF00"/>
                </a:highlight>
                <a:latin typeface="Tahoma"/>
                <a:cs typeface="Tahoma"/>
              </a:rPr>
              <a:t>F</a:t>
            </a:r>
            <a:r>
              <a:rPr sz="2400" dirty="0">
                <a:highlight>
                  <a:srgbClr val="FFFF00"/>
                </a:highlight>
                <a:latin typeface="宋体"/>
                <a:cs typeface="宋体"/>
              </a:rPr>
              <a:t>等价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46970"/>
            <a:ext cx="7574915" cy="3837304"/>
          </a:xfrm>
          <a:prstGeom prst="rect">
            <a:avLst/>
          </a:prstGeom>
        </p:spPr>
        <p:txBody>
          <a:bodyPr vert="horz" wrap="square" lIns="0" tIns="387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3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dirty="0">
                <a:latin typeface="Tahoma"/>
                <a:cs typeface="Tahoma"/>
              </a:rPr>
              <a:t>3</a:t>
            </a:r>
          </a:p>
          <a:p>
            <a:pPr marL="781050" marR="30480" lvl="1" indent="-285750">
              <a:lnSpc>
                <a:spcPts val="3180"/>
              </a:lnSpc>
              <a:spcBef>
                <a:spcPts val="42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每一个函数依赖集均等价于一个极小函数</a:t>
            </a:r>
            <a:r>
              <a:rPr sz="2800" spc="-5" dirty="0">
                <a:latin typeface="宋体"/>
                <a:cs typeface="宋体"/>
              </a:rPr>
              <a:t>依 </a:t>
            </a:r>
            <a:r>
              <a:rPr sz="2800" dirty="0">
                <a:latin typeface="宋体"/>
                <a:cs typeface="宋体"/>
              </a:rPr>
              <a:t>赖集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宋体"/>
                <a:cs typeface="宋体"/>
              </a:rPr>
              <a:t>。此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宋体"/>
                <a:cs typeface="宋体"/>
              </a:rPr>
              <a:t>称为一个最小依赖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13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证</a:t>
            </a:r>
            <a:r>
              <a:rPr sz="3200" spc="5" dirty="0">
                <a:latin typeface="宋体"/>
                <a:cs typeface="宋体"/>
              </a:rPr>
              <a:t>明</a:t>
            </a:r>
            <a:endParaRPr sz="3200" dirty="0">
              <a:latin typeface="宋体"/>
              <a:cs typeface="宋体"/>
            </a:endParaRPr>
          </a:p>
          <a:p>
            <a:pPr marL="781050" marR="200660" lvl="1" indent="-285750">
              <a:lnSpc>
                <a:spcPts val="3020"/>
              </a:lnSpc>
              <a:spcBef>
                <a:spcPts val="88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采用构造性证明方法。分三步对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进行“</a:t>
            </a:r>
            <a:r>
              <a:rPr sz="2800" spc="-5" dirty="0">
                <a:latin typeface="宋体"/>
                <a:cs typeface="宋体"/>
              </a:rPr>
              <a:t>极 </a:t>
            </a:r>
            <a:r>
              <a:rPr sz="2800" dirty="0">
                <a:latin typeface="宋体"/>
                <a:cs typeface="宋体"/>
              </a:rPr>
              <a:t>小化”处理，找出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的一个最小依赖集来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80465" marR="132715" lvl="2" indent="-228600">
              <a:lnSpc>
                <a:spcPct val="89900"/>
              </a:lnSpc>
              <a:spcBef>
                <a:spcPts val="52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⑴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逐一检查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，若 </a:t>
            </a:r>
            <a:r>
              <a:rPr sz="2400" spc="-5" dirty="0">
                <a:latin typeface="Tahoma"/>
                <a:cs typeface="Tahoma"/>
              </a:rPr>
              <a:t>Y=A</a:t>
            </a:r>
            <a:r>
              <a:rPr sz="2325" spc="-7" baseline="-17921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325" spc="-7" baseline="-17921" dirty="0">
                <a:latin typeface="Tahoma"/>
                <a:cs typeface="Tahoma"/>
              </a:rPr>
              <a:t>k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k&gt;2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则用</a:t>
            </a:r>
            <a:r>
              <a:rPr sz="2400" spc="-5" dirty="0">
                <a:latin typeface="Tahoma"/>
                <a:cs typeface="Tahoma"/>
              </a:rPr>
              <a:t>{X→A</a:t>
            </a:r>
            <a:r>
              <a:rPr sz="2325" spc="-7" baseline="-17921" dirty="0">
                <a:latin typeface="Tahoma"/>
                <a:cs typeface="Tahoma"/>
              </a:rPr>
              <a:t>j</a:t>
            </a:r>
            <a:r>
              <a:rPr sz="2400" spc="-5" dirty="0">
                <a:latin typeface="Tahoma"/>
                <a:cs typeface="Tahoma"/>
              </a:rPr>
              <a:t>|j=1,2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k}</a:t>
            </a:r>
            <a:r>
              <a:rPr sz="2400" dirty="0">
                <a:latin typeface="宋体"/>
                <a:cs typeface="宋体"/>
              </a:rPr>
              <a:t>来取 代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dirty="0">
                <a:latin typeface="宋体"/>
                <a:cs typeface="宋体"/>
              </a:rPr>
              <a:t>。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926688"/>
            <a:ext cx="7606030" cy="3736975"/>
          </a:xfrm>
          <a:prstGeom prst="rect">
            <a:avLst/>
          </a:prstGeom>
        </p:spPr>
        <p:txBody>
          <a:bodyPr vert="horz" wrap="square" lIns="0" tIns="59054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464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定理</a:t>
            </a:r>
            <a:r>
              <a:rPr sz="3200" spc="-5" dirty="0">
                <a:latin typeface="Tahoma"/>
                <a:cs typeface="Tahoma"/>
              </a:rPr>
              <a:t>3</a:t>
            </a:r>
            <a:r>
              <a:rPr sz="3200" dirty="0">
                <a:latin typeface="宋体"/>
                <a:cs typeface="宋体"/>
              </a:rPr>
              <a:t>的证明（续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1180465" marR="159385" lvl="1" indent="-228600">
              <a:lnSpc>
                <a:spcPct val="89800"/>
              </a:lnSpc>
              <a:spcBef>
                <a:spcPts val="56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⑵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逐一检查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70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，令 </a:t>
            </a:r>
            <a:r>
              <a:rPr sz="2400" spc="-5" dirty="0">
                <a:latin typeface="Tahoma"/>
                <a:cs typeface="Tahoma"/>
              </a:rPr>
              <a:t>G=F-{X→A}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MS UI Gothic"/>
                <a:cs typeface="MS UI Gothic"/>
              </a:rPr>
              <a:t>∈</a:t>
            </a:r>
            <a:r>
              <a:rPr sz="2400" spc="-5" dirty="0">
                <a:latin typeface="Tahoma"/>
                <a:cs typeface="Tahoma"/>
              </a:rPr>
              <a:t>X</a:t>
            </a:r>
            <a:r>
              <a:rPr sz="2325" spc="-7" baseline="-17921" dirty="0">
                <a:latin typeface="Tahoma"/>
                <a:cs typeface="Tahoma"/>
              </a:rPr>
              <a:t>G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中去掉此函数 依赖（因为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等价的充要条件是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MS UI Gothic"/>
                <a:cs typeface="MS UI Gothic"/>
              </a:rPr>
              <a:t>∈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325" baseline="-17921" dirty="0">
                <a:latin typeface="Tahoma"/>
                <a:cs typeface="Tahoma"/>
              </a:rPr>
              <a:t>G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dirty="0">
                <a:latin typeface="宋体"/>
                <a:cs typeface="宋体"/>
              </a:rPr>
              <a:t>）。</a:t>
            </a:r>
          </a:p>
          <a:p>
            <a:pPr marL="1180465" marR="30480" lvl="1" indent="-228600">
              <a:lnSpc>
                <a:spcPct val="89900"/>
              </a:lnSpc>
              <a:spcBef>
                <a:spcPts val="58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⑶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宋体"/>
                <a:cs typeface="宋体"/>
              </a:rPr>
              <a:t>逐一取出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中的个函数依赖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：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，设 </a:t>
            </a:r>
            <a:r>
              <a:rPr sz="2400" spc="-5" dirty="0">
                <a:latin typeface="Tahoma"/>
                <a:cs typeface="Tahoma"/>
              </a:rPr>
              <a:t>X=B</a:t>
            </a:r>
            <a:r>
              <a:rPr sz="2325" spc="-7" baseline="-17921" dirty="0">
                <a:latin typeface="Tahoma"/>
                <a:cs typeface="Tahoma"/>
              </a:rPr>
              <a:t>1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m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逐一考察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(i=1,2</a:t>
            </a:r>
            <a:r>
              <a:rPr sz="2400" spc="-5" dirty="0">
                <a:latin typeface="Arial"/>
                <a:cs typeface="Arial"/>
              </a:rPr>
              <a:t>…</a:t>
            </a:r>
            <a:r>
              <a:rPr sz="2400" spc="-5" dirty="0">
                <a:latin typeface="Tahoma"/>
                <a:cs typeface="Tahoma"/>
              </a:rPr>
              <a:t>m)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若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400" dirty="0">
                <a:latin typeface="MS UI Gothic"/>
                <a:cs typeface="MS UI Gothic"/>
              </a:rPr>
              <a:t>∈</a:t>
            </a:r>
            <a:r>
              <a:rPr sz="2400" dirty="0">
                <a:latin typeface="Tahoma"/>
                <a:cs typeface="Tahoma"/>
              </a:rPr>
              <a:t>(X-  </a:t>
            </a:r>
            <a:r>
              <a:rPr sz="2400" spc="-5" dirty="0">
                <a:latin typeface="Tahoma"/>
                <a:cs typeface="Tahoma"/>
              </a:rPr>
              <a:t>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Tahoma"/>
                <a:cs typeface="Tahoma"/>
              </a:rPr>
              <a:t>)</a:t>
            </a:r>
            <a:r>
              <a:rPr sz="2325" spc="-7" baseline="-17921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则以</a:t>
            </a:r>
            <a:r>
              <a:rPr sz="2400" spc="-5" dirty="0">
                <a:latin typeface="Tahoma"/>
                <a:cs typeface="Tahoma"/>
              </a:rPr>
              <a:t>X-B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宋体"/>
                <a:cs typeface="宋体"/>
              </a:rPr>
              <a:t>取代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（因为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F-</a:t>
            </a:r>
            <a:endParaRPr sz="2400" dirty="0">
              <a:latin typeface="Tahoma"/>
              <a:cs typeface="Tahoma"/>
            </a:endParaRPr>
          </a:p>
          <a:p>
            <a:pPr marL="1180465" marR="171450">
              <a:lnSpc>
                <a:spcPts val="2590"/>
              </a:lnSpc>
              <a:spcBef>
                <a:spcPts val="35"/>
              </a:spcBef>
            </a:pPr>
            <a:r>
              <a:rPr sz="2400" spc="-5" dirty="0">
                <a:latin typeface="Tahoma"/>
                <a:cs typeface="Tahoma"/>
              </a:rPr>
              <a:t>{X→A}</a:t>
            </a:r>
            <a:r>
              <a:rPr sz="2400" spc="-5" dirty="0">
                <a:latin typeface="MS UI Gothic"/>
                <a:cs typeface="MS UI Gothic"/>
              </a:rPr>
              <a:t>∪</a:t>
            </a:r>
            <a:r>
              <a:rPr sz="2400" spc="-5" dirty="0">
                <a:latin typeface="Tahoma"/>
                <a:cs typeface="Tahoma"/>
              </a:rPr>
              <a:t>{Z→A}</a:t>
            </a:r>
            <a:r>
              <a:rPr sz="2400" dirty="0">
                <a:latin typeface="宋体"/>
                <a:cs typeface="宋体"/>
              </a:rPr>
              <a:t>等价的充要条件是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MS UI Gothic"/>
                <a:cs typeface="MS UI Gothic"/>
              </a:rPr>
              <a:t>∈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325" spc="-7" baseline="-17921" dirty="0">
                <a:latin typeface="Tahoma"/>
                <a:cs typeface="Tahoma"/>
              </a:rPr>
              <a:t>F</a:t>
            </a:r>
            <a:r>
              <a:rPr sz="2400" spc="-5" dirty="0">
                <a:latin typeface="Tahoma"/>
                <a:cs typeface="Tahoma"/>
              </a:rPr>
              <a:t>+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其 中</a:t>
            </a:r>
            <a:r>
              <a:rPr sz="2400" spc="-5" dirty="0">
                <a:latin typeface="Tahoma"/>
                <a:cs typeface="Tahoma"/>
              </a:rPr>
              <a:t>Z=X-B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spc="-5" dirty="0">
                <a:latin typeface="宋体"/>
                <a:cs typeface="宋体"/>
              </a:rPr>
              <a:t>）</a:t>
            </a:r>
            <a:endParaRPr sz="2400" dirty="0">
              <a:latin typeface="宋体"/>
              <a:cs typeface="宋体"/>
            </a:endParaRPr>
          </a:p>
          <a:p>
            <a:pPr marL="1181100" lvl="1" indent="-229235">
              <a:lnSpc>
                <a:spcPct val="100000"/>
              </a:lnSpc>
              <a:spcBef>
                <a:spcPts val="2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最后剩下的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就一定是等价的极小依赖集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3695"/>
            <a:ext cx="7593965" cy="3060700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极小依赖集的讨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 dirty="0">
              <a:latin typeface="宋体"/>
              <a:cs typeface="宋体"/>
            </a:endParaRPr>
          </a:p>
          <a:p>
            <a:pPr marL="1180465" marR="130175" lvl="1" indent="-22860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Char char="•"/>
              <a:tabLst>
                <a:tab pos="1181100" algn="l"/>
              </a:tabLst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的最小函数依赖集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400" dirty="0">
                <a:latin typeface="宋体"/>
                <a:cs typeface="宋体"/>
              </a:rPr>
              <a:t>不一定是唯一的。它于对 各函数依赖集</a:t>
            </a:r>
            <a:r>
              <a:rPr sz="2400" spc="-5" dirty="0">
                <a:latin typeface="Tahoma"/>
                <a:cs typeface="Tahoma"/>
              </a:rPr>
              <a:t>FD</a:t>
            </a:r>
            <a:r>
              <a:rPr sz="2325" spc="-7" baseline="-17921" dirty="0">
                <a:latin typeface="Tahoma"/>
                <a:cs typeface="Tahoma"/>
              </a:rPr>
              <a:t>i</a:t>
            </a:r>
            <a:r>
              <a:rPr sz="2400" dirty="0">
                <a:latin typeface="宋体"/>
                <a:cs typeface="宋体"/>
              </a:rPr>
              <a:t>中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各属性的处置顺序有关。</a:t>
            </a:r>
          </a:p>
          <a:p>
            <a:pPr marL="1180465" marR="138430" lvl="1" indent="-228600">
              <a:lnSpc>
                <a:spcPts val="2750"/>
              </a:lnSpc>
              <a:spcBef>
                <a:spcPts val="7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若改造后的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与原来的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相同，说明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本身就是一 个最小依赖集。</a:t>
            </a:r>
          </a:p>
          <a:p>
            <a:pPr marL="1180465" marR="30480" lvl="1" indent="-228600">
              <a:lnSpc>
                <a:spcPts val="2750"/>
              </a:lnSpc>
              <a:spcBef>
                <a:spcPts val="83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定理</a:t>
            </a:r>
            <a:r>
              <a:rPr sz="2400" spc="-5" dirty="0">
                <a:latin typeface="Tahoma"/>
                <a:cs typeface="Tahoma"/>
              </a:rPr>
              <a:t>5.3</a:t>
            </a:r>
            <a:r>
              <a:rPr sz="2400" dirty="0">
                <a:latin typeface="宋体"/>
                <a:cs typeface="宋体"/>
              </a:rPr>
              <a:t>的构造极小化过程可以用来检验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是否为 极小依赖集。</a:t>
            </a:r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64450" cy="31216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 dirty="0">
              <a:latin typeface="Tahoma"/>
              <a:cs typeface="Tahoma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74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⑴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右部仅含有一个属性，得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=F</a:t>
            </a:r>
            <a:r>
              <a:rPr sz="2800" dirty="0">
                <a:latin typeface="宋体"/>
                <a:cs typeface="宋体"/>
              </a:rPr>
              <a:t>；</a:t>
            </a:r>
          </a:p>
        </p:txBody>
      </p:sp>
    </p:spTree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0950" cy="43097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marR="30480" lvl="1" indent="-285750">
              <a:lnSpc>
                <a:spcPts val="2860"/>
              </a:lnSpc>
              <a:spcBef>
                <a:spcPts val="10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 dirty="0">
              <a:latin typeface="宋体"/>
              <a:cs typeface="宋体"/>
            </a:endParaRPr>
          </a:p>
          <a:p>
            <a:pPr marL="1180465" marR="123189" lvl="2" indent="-228600">
              <a:lnSpc>
                <a:spcPts val="259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F’=F-{AB→C}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dirty="0">
                <a:latin typeface="Tahoma"/>
                <a:cs typeface="Tahoma"/>
              </a:rPr>
              <a:t>AB</a:t>
            </a:r>
            <a:r>
              <a:rPr sz="2400" dirty="0">
                <a:latin typeface="宋体"/>
                <a:cs typeface="宋体"/>
              </a:rPr>
              <a:t>的闭包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宋体"/>
                <a:cs typeface="宋体"/>
              </a:rPr>
              <a:t>得</a:t>
            </a:r>
            <a:r>
              <a:rPr sz="2400" dirty="0">
                <a:latin typeface="Tahoma"/>
                <a:cs typeface="Tahoma"/>
              </a:rPr>
              <a:t>AB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45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=ABD</a:t>
            </a:r>
            <a:r>
              <a:rPr sz="2400" spc="-5" dirty="0">
                <a:latin typeface="宋体"/>
                <a:cs typeface="宋体"/>
              </a:rPr>
              <a:t>，  </a:t>
            </a:r>
            <a:r>
              <a:rPr sz="2400" dirty="0">
                <a:latin typeface="宋体"/>
                <a:cs typeface="宋体"/>
              </a:rPr>
              <a:t>不包含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故</a:t>
            </a:r>
            <a:r>
              <a:rPr sz="2400" spc="-5" dirty="0">
                <a:latin typeface="Tahoma"/>
                <a:cs typeface="Tahoma"/>
              </a:rPr>
              <a:t>AB→C</a:t>
            </a:r>
            <a:r>
              <a:rPr sz="2400" dirty="0">
                <a:latin typeface="宋体"/>
                <a:cs typeface="宋体"/>
              </a:rPr>
              <a:t>不能去掉</a:t>
            </a:r>
          </a:p>
          <a:p>
            <a:pPr marL="1180465" marR="234315" lvl="2" indent="-228600">
              <a:lnSpc>
                <a:spcPts val="259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F’=F-{B→D}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75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=B</a:t>
            </a:r>
            <a:r>
              <a:rPr sz="2400" spc="-15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，不包 含</a:t>
            </a:r>
            <a:r>
              <a:rPr sz="2400" dirty="0">
                <a:latin typeface="Tahoma"/>
                <a:cs typeface="Tahoma"/>
              </a:rPr>
              <a:t>D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dirty="0">
                <a:latin typeface="Tahoma"/>
                <a:cs typeface="Tahoma"/>
              </a:rPr>
              <a:t>B→D</a:t>
            </a:r>
            <a:r>
              <a:rPr sz="2400" dirty="0">
                <a:latin typeface="宋体"/>
                <a:cs typeface="宋体"/>
              </a:rPr>
              <a:t>不能去掉</a:t>
            </a:r>
          </a:p>
        </p:txBody>
      </p:sp>
    </p:spTree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0950" cy="430974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marR="30480" lvl="1" indent="-285750">
              <a:lnSpc>
                <a:spcPts val="2860"/>
              </a:lnSpc>
              <a:spcBef>
                <a:spcPts val="10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>
              <a:latin typeface="宋体"/>
              <a:cs typeface="宋体"/>
            </a:endParaRPr>
          </a:p>
          <a:p>
            <a:pPr marL="1180465" marR="257810" lvl="2" indent="-228600">
              <a:lnSpc>
                <a:spcPts val="259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F’=F-{C→E}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spc="-5" dirty="0">
                <a:latin typeface="Tahoma"/>
                <a:cs typeface="Tahoma"/>
              </a:rPr>
              <a:t>C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6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，不包 含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故</a:t>
            </a:r>
            <a:r>
              <a:rPr sz="2400" spc="-5" dirty="0">
                <a:latin typeface="Tahoma"/>
                <a:cs typeface="Tahoma"/>
              </a:rPr>
              <a:t>C→E</a:t>
            </a:r>
            <a:r>
              <a:rPr sz="2400" dirty="0">
                <a:latin typeface="宋体"/>
                <a:cs typeface="宋体"/>
              </a:rPr>
              <a:t>不能去掉；</a:t>
            </a:r>
            <a:endParaRPr sz="2400">
              <a:latin typeface="宋体"/>
              <a:cs typeface="宋体"/>
            </a:endParaRPr>
          </a:p>
          <a:p>
            <a:pPr marL="1180465" marR="175260" lvl="2" indent="-228600">
              <a:lnSpc>
                <a:spcPts val="259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F’=F-{EC→B}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，求</a:t>
            </a:r>
            <a:r>
              <a:rPr sz="2400" spc="-5" dirty="0">
                <a:latin typeface="Tahoma"/>
                <a:cs typeface="Tahoma"/>
              </a:rPr>
              <a:t>EC</a:t>
            </a:r>
            <a:r>
              <a:rPr sz="2400" dirty="0">
                <a:latin typeface="宋体"/>
                <a:cs typeface="宋体"/>
              </a:rPr>
              <a:t>的闭包，</a:t>
            </a:r>
            <a:r>
              <a:rPr sz="2400" spc="-46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EC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r>
              <a:rPr sz="2325" spc="367" baseline="2150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=EC</a:t>
            </a:r>
            <a:r>
              <a:rPr sz="2400" spc="-2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  不包含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spc="-5" dirty="0">
                <a:latin typeface="Tahoma"/>
                <a:cs typeface="Tahoma"/>
              </a:rPr>
              <a:t>EC→B</a:t>
            </a:r>
            <a:r>
              <a:rPr sz="2400" dirty="0">
                <a:latin typeface="宋体"/>
                <a:cs typeface="宋体"/>
              </a:rPr>
              <a:t>不能去掉；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00950" cy="3926204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marR="304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>
              <a:latin typeface="宋体"/>
              <a:cs typeface="宋体"/>
            </a:endParaRP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F’=F-{AC→B}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求</a:t>
            </a:r>
            <a:r>
              <a:rPr sz="2400" spc="-5" dirty="0">
                <a:latin typeface="Tahoma"/>
                <a:cs typeface="Tahoma"/>
              </a:rPr>
              <a:t>AC</a:t>
            </a:r>
            <a:r>
              <a:rPr sz="2400" dirty="0">
                <a:latin typeface="宋体"/>
                <a:cs typeface="宋体"/>
              </a:rPr>
              <a:t>的闭包，得</a:t>
            </a:r>
            <a:r>
              <a:rPr sz="2400" dirty="0">
                <a:latin typeface="Tahoma"/>
                <a:cs typeface="Tahoma"/>
              </a:rPr>
              <a:t>AC</a:t>
            </a:r>
            <a:r>
              <a:rPr sz="2325" baseline="-17921" dirty="0">
                <a:latin typeface="Tahoma"/>
                <a:cs typeface="Tahoma"/>
              </a:rPr>
              <a:t>F’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  <a:p>
            <a:pPr marL="11804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=ABCDE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包含</a:t>
            </a:r>
            <a:r>
              <a:rPr sz="2400" dirty="0">
                <a:latin typeface="Tahoma"/>
                <a:cs typeface="Tahoma"/>
              </a:rPr>
              <a:t>B</a:t>
            </a:r>
            <a:r>
              <a:rPr sz="2400" dirty="0">
                <a:latin typeface="宋体"/>
                <a:cs typeface="宋体"/>
              </a:rPr>
              <a:t>，故</a:t>
            </a:r>
            <a:r>
              <a:rPr sz="2400" spc="-5" dirty="0">
                <a:latin typeface="Tahoma"/>
                <a:cs typeface="Tahoma"/>
              </a:rPr>
              <a:t>AC→B</a:t>
            </a:r>
            <a:r>
              <a:rPr sz="2400" dirty="0">
                <a:latin typeface="宋体"/>
                <a:cs typeface="宋体"/>
              </a:rPr>
              <a:t>可以去掉；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567930" cy="4580741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68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 dirty="0">
              <a:latin typeface="宋体"/>
              <a:cs typeface="宋体"/>
            </a:endParaRPr>
          </a:p>
          <a:p>
            <a:pPr marL="781050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F={AB→C,</a:t>
            </a:r>
            <a:endParaRPr sz="2800" dirty="0">
              <a:latin typeface="Tahoma"/>
              <a:cs typeface="Tahoma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2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52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去掉多余的函数依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endParaRPr sz="2800" dirty="0">
              <a:latin typeface="宋体"/>
              <a:cs typeface="宋体"/>
            </a:endParaRPr>
          </a:p>
          <a:p>
            <a:pPr marL="1181100" lvl="2" indent="-229235">
              <a:lnSpc>
                <a:spcPts val="2735"/>
              </a:lnSpc>
              <a:spcBef>
                <a:spcPts val="2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则在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400" spc="-10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中去掉函数依赖</a:t>
            </a:r>
            <a:r>
              <a:rPr sz="2400" spc="-5" dirty="0">
                <a:latin typeface="Tahoma"/>
                <a:cs typeface="Tahoma"/>
              </a:rPr>
              <a:t>AC→B </a:t>
            </a:r>
            <a:r>
              <a:rPr sz="2400" dirty="0">
                <a:latin typeface="宋体"/>
                <a:cs typeface="宋体"/>
              </a:rPr>
              <a:t>，得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spc="-7" baseline="-17921" dirty="0">
                <a:latin typeface="Tahoma"/>
                <a:cs typeface="Tahoma"/>
              </a:rPr>
              <a:t>m</a:t>
            </a:r>
            <a:r>
              <a:rPr sz="2400" spc="-5" dirty="0">
                <a:latin typeface="Tahoma"/>
                <a:cs typeface="Tahoma"/>
              </a:rPr>
              <a:t>=</a:t>
            </a:r>
            <a:endParaRPr sz="2400" dirty="0">
              <a:latin typeface="Tahoma"/>
              <a:cs typeface="Tahoma"/>
            </a:endParaRPr>
          </a:p>
          <a:p>
            <a:pPr marL="1180465">
              <a:lnSpc>
                <a:spcPts val="2735"/>
              </a:lnSpc>
            </a:pPr>
            <a:r>
              <a:rPr sz="2400" spc="-5" dirty="0">
                <a:latin typeface="Tahoma"/>
                <a:cs typeface="Tahoma"/>
              </a:rPr>
              <a:t>{AB→C,B→D,C→E,EC→B}</a:t>
            </a:r>
            <a:r>
              <a:rPr sz="2400" spc="-5" dirty="0">
                <a:latin typeface="宋体"/>
                <a:cs typeface="宋体"/>
              </a:rPr>
              <a:t>；</a:t>
            </a:r>
            <a:endParaRPr sz="2400" dirty="0">
              <a:latin typeface="宋体"/>
              <a:cs typeface="宋体"/>
            </a:endParaRPr>
          </a:p>
          <a:p>
            <a:pPr marL="1638300" marR="79375" indent="-228600">
              <a:lnSpc>
                <a:spcPts val="2150"/>
              </a:lnSpc>
              <a:spcBef>
                <a:spcPts val="40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195" dirty="0">
                <a:latin typeface="Times New Roman"/>
                <a:cs typeface="Times New Roman"/>
              </a:rPr>
              <a:t> </a:t>
            </a:r>
            <a:r>
              <a:rPr sz="2000" dirty="0">
                <a:highlight>
                  <a:srgbClr val="FFFF00"/>
                </a:highlight>
                <a:latin typeface="宋体"/>
                <a:cs typeface="宋体"/>
              </a:rPr>
              <a:t>如果在一次扫描中发现可以去掉两个（以上）的函</a:t>
            </a:r>
            <a:r>
              <a:rPr sz="2000" spc="5" dirty="0">
                <a:highlight>
                  <a:srgbClr val="FFFF00"/>
                </a:highlight>
                <a:latin typeface="宋体"/>
                <a:cs typeface="宋体"/>
              </a:rPr>
              <a:t>数 </a:t>
            </a:r>
            <a:r>
              <a:rPr sz="2000" dirty="0">
                <a:highlight>
                  <a:srgbClr val="FFFF00"/>
                </a:highlight>
                <a:latin typeface="宋体"/>
                <a:cs typeface="宋体"/>
              </a:rPr>
              <a:t>依赖，则应该得到两个（以上）的</a:t>
            </a:r>
            <a:r>
              <a:rPr sz="2000" spc="-10" dirty="0">
                <a:highlight>
                  <a:srgbClr val="FFFF00"/>
                </a:highlight>
                <a:latin typeface="Times New Roman"/>
                <a:cs typeface="Times New Roman"/>
              </a:rPr>
              <a:t>F</a:t>
            </a:r>
            <a:r>
              <a:rPr sz="1950" spc="-15" baseline="-17094" dirty="0">
                <a:highlight>
                  <a:srgbClr val="FFFF00"/>
                </a:highlight>
                <a:latin typeface="Times New Roman"/>
                <a:cs typeface="Times New Roman"/>
              </a:rPr>
              <a:t>m</a:t>
            </a:r>
            <a:endParaRPr sz="1950" baseline="-17094" dirty="0">
              <a:highlight>
                <a:srgbClr val="FFFF00"/>
              </a:highlight>
              <a:latin typeface="Times New Roman"/>
              <a:cs typeface="Times New Roman"/>
            </a:endParaRPr>
          </a:p>
          <a:p>
            <a:pPr marL="1180465" marR="30480" lvl="2" indent="-228600">
              <a:lnSpc>
                <a:spcPts val="2590"/>
              </a:lnSpc>
              <a:spcBef>
                <a:spcPts val="710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继续在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400" dirty="0">
                <a:latin typeface="宋体"/>
                <a:cs typeface="宋体"/>
              </a:rPr>
              <a:t>中去掉一个函数依赖</a:t>
            </a:r>
            <a:r>
              <a:rPr sz="2400" dirty="0">
                <a:latin typeface="Tahoma"/>
                <a:cs typeface="Tahoma"/>
              </a:rPr>
              <a:t>X→A</a:t>
            </a:r>
            <a:r>
              <a:rPr sz="2400" dirty="0">
                <a:latin typeface="宋体"/>
                <a:cs typeface="宋体"/>
              </a:rPr>
              <a:t>后求关于</a:t>
            </a:r>
            <a:r>
              <a:rPr sz="2400" dirty="0">
                <a:latin typeface="Tahoma"/>
                <a:cs typeface="Tahoma"/>
              </a:rPr>
              <a:t>X</a:t>
            </a:r>
            <a:r>
              <a:rPr sz="2400" dirty="0">
                <a:latin typeface="宋体"/>
                <a:cs typeface="宋体"/>
              </a:rPr>
              <a:t>的 闭包，不能再求的新的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例（续</a:t>
            </a:r>
            <a:r>
              <a:rPr spc="5" dirty="0"/>
              <a:t>）</a:t>
            </a: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ts val="294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/>
              <a:t>，</a:t>
            </a:r>
            <a:r>
              <a:rPr sz="2800" dirty="0"/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 dirty="0">
              <a:latin typeface="Tahoma"/>
              <a:cs typeface="Tahoma"/>
            </a:endParaRPr>
          </a:p>
          <a:p>
            <a:pPr marL="781050">
              <a:lnSpc>
                <a:spcPts val="3110"/>
              </a:lnSpc>
            </a:pPr>
            <a:r>
              <a:rPr sz="2800" spc="-5" dirty="0"/>
              <a:t>。</a:t>
            </a:r>
            <a:endParaRPr sz="2800" dirty="0"/>
          </a:p>
          <a:p>
            <a:pPr marL="4400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解（续</a:t>
            </a:r>
            <a:r>
              <a:rPr spc="5" dirty="0"/>
              <a:t>）</a:t>
            </a:r>
          </a:p>
          <a:p>
            <a:pPr marL="781050" lvl="1" indent="-28575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检查形如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Arial"/>
                <a:cs typeface="Arial"/>
              </a:rPr>
              <a:t>…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→A</a:t>
            </a:r>
            <a:r>
              <a:rPr sz="2800" dirty="0">
                <a:latin typeface="宋体"/>
                <a:cs typeface="宋体"/>
              </a:rPr>
              <a:t>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8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若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4657725"/>
            <a:ext cx="49218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∈(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-480" dirty="0">
                <a:latin typeface="宋体"/>
                <a:cs typeface="宋体"/>
              </a:rPr>
              <a:t> 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则以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取代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939" y="4852034"/>
            <a:ext cx="3427729" cy="65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735">
              <a:lnSpc>
                <a:spcPts val="2120"/>
              </a:lnSpc>
              <a:spcBef>
                <a:spcPts val="125"/>
              </a:spcBef>
              <a:tabLst>
                <a:tab pos="1411605" algn="l"/>
                <a:tab pos="3361054" algn="l"/>
              </a:tabLst>
            </a:pPr>
            <a:r>
              <a:rPr sz="1800" spc="5" dirty="0">
                <a:latin typeface="Tahoma"/>
                <a:cs typeface="Tahoma"/>
              </a:rPr>
              <a:t>i	</a:t>
            </a:r>
            <a:r>
              <a:rPr sz="1800" spc="10" dirty="0">
                <a:latin typeface="Tahoma"/>
                <a:cs typeface="Tahoma"/>
              </a:rPr>
              <a:t>F	</a:t>
            </a:r>
            <a:r>
              <a:rPr sz="1800" spc="5" dirty="0">
                <a:latin typeface="Tahoma"/>
                <a:cs typeface="Tahoma"/>
              </a:rPr>
              <a:t>i</a:t>
            </a:r>
            <a:endParaRPr sz="1800" dirty="0">
              <a:latin typeface="Tahoma"/>
              <a:cs typeface="Tahoma"/>
            </a:endParaRPr>
          </a:p>
          <a:p>
            <a:pPr marL="241300" indent="-228600">
              <a:lnSpc>
                <a:spcPts val="2835"/>
              </a:lnSpc>
              <a:buClr>
                <a:srgbClr val="CC00CC"/>
              </a:buClr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宋体"/>
                <a:cs typeface="宋体"/>
              </a:rPr>
              <a:t>检查函数依赖</a:t>
            </a:r>
            <a:r>
              <a:rPr sz="2400" dirty="0">
                <a:latin typeface="Tahoma"/>
                <a:cs typeface="Tahoma"/>
              </a:rPr>
              <a:t>AB→C</a:t>
            </a:r>
          </a:p>
        </p:txBody>
      </p:sp>
      <p:sp>
        <p:nvSpPr>
          <p:cNvPr id="6" name="object 6"/>
          <p:cNvSpPr txBox="1"/>
          <p:nvPr/>
        </p:nvSpPr>
        <p:spPr>
          <a:xfrm>
            <a:off x="2110739" y="5468746"/>
            <a:ext cx="499872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02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=A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={BD}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AB→C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>
              <a:latin typeface="宋体"/>
              <a:cs typeface="宋体"/>
            </a:endParaRPr>
          </a:p>
          <a:p>
            <a:pPr marL="266700" indent="-228600">
              <a:lnSpc>
                <a:spcPct val="100000"/>
              </a:lnSpc>
              <a:spcBef>
                <a:spcPts val="2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40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=B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A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={A}</a:t>
            </a:r>
            <a:r>
              <a:rPr sz="2000" spc="47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AB→C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例（续</a:t>
            </a:r>
            <a:r>
              <a:rPr spc="5" dirty="0"/>
              <a:t>）</a:t>
            </a: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294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/>
              <a:t>，</a:t>
            </a:r>
            <a:r>
              <a:rPr sz="2800" dirty="0"/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>
              <a:latin typeface="Tahoma"/>
              <a:cs typeface="Tahoma"/>
            </a:endParaRPr>
          </a:p>
          <a:p>
            <a:pPr marL="781050">
              <a:lnSpc>
                <a:spcPts val="3110"/>
              </a:lnSpc>
            </a:pPr>
            <a:r>
              <a:rPr sz="2800" spc="-5" dirty="0"/>
              <a:t>。</a:t>
            </a:r>
            <a:endParaRPr sz="2800"/>
          </a:p>
          <a:p>
            <a:pPr marL="4400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dirty="0"/>
              <a:t>解（续</a:t>
            </a:r>
            <a:r>
              <a:rPr spc="5" dirty="0"/>
              <a:t>）</a:t>
            </a:r>
          </a:p>
          <a:p>
            <a:pPr marL="781050" lvl="1" indent="-285750">
              <a:lnSpc>
                <a:spcPct val="100000"/>
              </a:lnSpc>
              <a:spcBef>
                <a:spcPts val="49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检查形如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1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2</a:t>
            </a:r>
            <a:r>
              <a:rPr sz="2800" dirty="0">
                <a:latin typeface="Arial"/>
                <a:cs typeface="Arial"/>
              </a:rPr>
              <a:t>…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→A</a:t>
            </a:r>
            <a:r>
              <a:rPr sz="2800" dirty="0">
                <a:latin typeface="宋体"/>
                <a:cs typeface="宋体"/>
              </a:rPr>
              <a:t>的函数依</a:t>
            </a:r>
            <a:r>
              <a:rPr sz="2800" spc="-5" dirty="0">
                <a:latin typeface="宋体"/>
                <a:cs typeface="宋体"/>
              </a:rPr>
              <a:t>赖</a:t>
            </a:r>
            <a:r>
              <a:rPr sz="2800" spc="-8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宋体"/>
                <a:cs typeface="宋体"/>
              </a:rPr>
              <a:t>若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482089" y="4657725"/>
            <a:ext cx="4921885" cy="451484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95"/>
              </a:spcBef>
            </a:pP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∈(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spc="-5" dirty="0">
                <a:latin typeface="宋体"/>
                <a:cs typeface="宋体"/>
              </a:rPr>
              <a:t>)</a:t>
            </a:r>
            <a:r>
              <a:rPr sz="2800" spc="-480" dirty="0">
                <a:latin typeface="宋体"/>
                <a:cs typeface="宋体"/>
              </a:rPr>
              <a:t> </a:t>
            </a:r>
            <a:r>
              <a:rPr sz="2700" spc="7" baseline="21604" dirty="0">
                <a:latin typeface="Tahoma"/>
                <a:cs typeface="Tahoma"/>
              </a:rPr>
              <a:t>+</a:t>
            </a:r>
            <a:r>
              <a:rPr sz="2800" spc="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则以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-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47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取代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1678939" y="4852034"/>
            <a:ext cx="3427729" cy="657860"/>
          </a:xfrm>
          <a:prstGeom prst="rect">
            <a:avLst/>
          </a:prstGeom>
        </p:spPr>
        <p:txBody>
          <a:bodyPr vert="horz" wrap="square" lIns="0" tIns="15875" rIns="0" bIns="0" rtlCol="0">
            <a:spAutoFit/>
          </a:bodyPr>
          <a:lstStyle/>
          <a:p>
            <a:pPr marL="1181735">
              <a:lnSpc>
                <a:spcPts val="2120"/>
              </a:lnSpc>
              <a:spcBef>
                <a:spcPts val="125"/>
              </a:spcBef>
              <a:tabLst>
                <a:tab pos="1411605" algn="l"/>
                <a:tab pos="3361054" algn="l"/>
              </a:tabLst>
            </a:pPr>
            <a:r>
              <a:rPr sz="1800" spc="5" dirty="0">
                <a:latin typeface="Tahoma"/>
                <a:cs typeface="Tahoma"/>
              </a:rPr>
              <a:t>i	</a:t>
            </a:r>
            <a:r>
              <a:rPr sz="1800" spc="10" dirty="0">
                <a:latin typeface="Tahoma"/>
                <a:cs typeface="Tahoma"/>
              </a:rPr>
              <a:t>F	</a:t>
            </a:r>
            <a:r>
              <a:rPr sz="1800" spc="5" dirty="0">
                <a:latin typeface="Tahoma"/>
                <a:cs typeface="Tahoma"/>
              </a:rPr>
              <a:t>i</a:t>
            </a:r>
            <a:endParaRPr sz="1800">
              <a:latin typeface="Tahoma"/>
              <a:cs typeface="Tahoma"/>
            </a:endParaRPr>
          </a:p>
          <a:p>
            <a:pPr marL="241300" indent="-228600">
              <a:lnSpc>
                <a:spcPts val="2835"/>
              </a:lnSpc>
              <a:buClr>
                <a:srgbClr val="CC00CC"/>
              </a:buClr>
              <a:buFont typeface="Tahoma"/>
              <a:buChar char="•"/>
              <a:tabLst>
                <a:tab pos="241300" algn="l"/>
              </a:tabLst>
            </a:pPr>
            <a:r>
              <a:rPr sz="2400" dirty="0">
                <a:latin typeface="宋体"/>
                <a:cs typeface="宋体"/>
              </a:rPr>
              <a:t>检查函数依赖</a:t>
            </a:r>
            <a:r>
              <a:rPr sz="2400" spc="-5" dirty="0">
                <a:latin typeface="Tahoma"/>
                <a:cs typeface="Tahoma"/>
              </a:rPr>
              <a:t>EC→B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2110739" y="5468746"/>
            <a:ext cx="6239510" cy="695960"/>
          </a:xfrm>
          <a:prstGeom prst="rect">
            <a:avLst/>
          </a:prstGeom>
        </p:spPr>
        <p:txBody>
          <a:bodyPr vert="horz" wrap="square" lIns="0" tIns="43180" rIns="0" bIns="0" rtlCol="0">
            <a:spAutoFit/>
          </a:bodyPr>
          <a:lstStyle/>
          <a:p>
            <a:pPr marL="266700" indent="-228600">
              <a:lnSpc>
                <a:spcPct val="100000"/>
              </a:lnSpc>
              <a:spcBef>
                <a:spcPts val="3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32" baseline="-17094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=E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={CEB}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EC→B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2000" dirty="0">
                <a:latin typeface="宋体"/>
                <a:cs typeface="宋体"/>
              </a:rPr>
              <a:t>可以去掉（包含</a:t>
            </a:r>
            <a:r>
              <a:rPr sz="2000" dirty="0">
                <a:latin typeface="Times New Roman"/>
                <a:cs typeface="Times New Roman"/>
              </a:rPr>
              <a:t>B</a:t>
            </a:r>
            <a:r>
              <a:rPr sz="2000" dirty="0">
                <a:latin typeface="宋体"/>
                <a:cs typeface="宋体"/>
              </a:rPr>
              <a:t>）</a:t>
            </a:r>
          </a:p>
          <a:p>
            <a:pPr marL="266700" indent="-228600">
              <a:lnSpc>
                <a:spcPct val="100000"/>
              </a:lnSpc>
              <a:spcBef>
                <a:spcPts val="240"/>
              </a:spcBef>
              <a:buFont typeface="Times New Roman"/>
              <a:buChar char="–"/>
              <a:tabLst>
                <a:tab pos="266700" algn="l"/>
              </a:tabLst>
            </a:pPr>
            <a:r>
              <a:rPr sz="2000" dirty="0">
                <a:latin typeface="宋体"/>
                <a:cs typeface="宋体"/>
              </a:rPr>
              <a:t>令</a:t>
            </a:r>
            <a:r>
              <a:rPr sz="2000" spc="-5" dirty="0">
                <a:latin typeface="Times New Roman"/>
                <a:cs typeface="Times New Roman"/>
              </a:rPr>
              <a:t>B</a:t>
            </a:r>
            <a:r>
              <a:rPr sz="1950" spc="-7" baseline="-17094" dirty="0">
                <a:latin typeface="Times New Roman"/>
                <a:cs typeface="Times New Roman"/>
              </a:rPr>
              <a:t>i</a:t>
            </a:r>
            <a:r>
              <a:rPr sz="1950" spc="254" baseline="-17094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=C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505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</a:t>
            </a:r>
            <a:r>
              <a:rPr sz="1950" spc="-7" baseline="-17094" dirty="0">
                <a:latin typeface="Times New Roman"/>
                <a:cs typeface="Times New Roman"/>
              </a:rPr>
              <a:t>F</a:t>
            </a:r>
            <a:r>
              <a:rPr sz="1950" spc="-7" baseline="21367" dirty="0">
                <a:latin typeface="Times New Roman"/>
                <a:cs typeface="Times New Roman"/>
              </a:rPr>
              <a:t>+</a:t>
            </a:r>
            <a:r>
              <a:rPr sz="2000" spc="-5" dirty="0">
                <a:latin typeface="Times New Roman"/>
                <a:cs typeface="Times New Roman"/>
              </a:rPr>
              <a:t>={E}</a:t>
            </a:r>
            <a:r>
              <a:rPr sz="2000" spc="-1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宋体"/>
                <a:cs typeface="宋体"/>
              </a:rPr>
              <a:t>：</a:t>
            </a:r>
            <a:r>
              <a:rPr sz="2000" spc="-5" dirty="0">
                <a:latin typeface="Times New Roman"/>
                <a:cs typeface="Times New Roman"/>
              </a:rPr>
              <a:t>EC→B</a:t>
            </a:r>
            <a:r>
              <a:rPr sz="2000" dirty="0">
                <a:latin typeface="宋体"/>
                <a:cs typeface="宋体"/>
              </a:rPr>
              <a:t>中</a:t>
            </a:r>
            <a:r>
              <a:rPr sz="2000" spc="-5" dirty="0">
                <a:latin typeface="Times New Roman"/>
                <a:cs typeface="Times New Roman"/>
              </a:rPr>
              <a:t>C</a:t>
            </a:r>
            <a:r>
              <a:rPr sz="2000" dirty="0">
                <a:latin typeface="宋体"/>
                <a:cs typeface="宋体"/>
              </a:rPr>
              <a:t>不能去</a:t>
            </a:r>
            <a:r>
              <a:rPr sz="2000" spc="5" dirty="0">
                <a:latin typeface="宋体"/>
                <a:cs typeface="宋体"/>
              </a:rPr>
              <a:t>掉</a:t>
            </a:r>
            <a:endParaRPr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FC13B965-6ED6-F6C9-72EF-542AE550C48A}"/>
                  </a:ext>
                </a:extLst>
              </p14:cNvPr>
              <p14:cNvContentPartPr/>
              <p14:nvPr/>
            </p14:nvContentPartPr>
            <p14:xfrm>
              <a:off x="2569764" y="5580569"/>
              <a:ext cx="585000" cy="2520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FC13B965-6ED6-F6C9-72EF-542AE550C48A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515764" y="5472569"/>
                <a:ext cx="692640" cy="467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EA911FF0-D60C-F66C-2E22-7CC36B7E9C21}"/>
                  </a:ext>
                </a:extLst>
              </p14:cNvPr>
              <p14:cNvContentPartPr/>
              <p14:nvPr/>
            </p14:nvContentPartPr>
            <p14:xfrm>
              <a:off x="3664524" y="5287529"/>
              <a:ext cx="999720" cy="7632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EA911FF0-D60C-F66C-2E22-7CC36B7E9C2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3610524" y="5179889"/>
                <a:ext cx="1107360" cy="2919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4895B504-C261-CA74-19C4-45B933EA743D}"/>
                  </a:ext>
                </a:extLst>
              </p14:cNvPr>
              <p14:cNvContentPartPr/>
              <p14:nvPr/>
            </p14:nvContentPartPr>
            <p14:xfrm>
              <a:off x="3487404" y="5648249"/>
              <a:ext cx="1143360" cy="5256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4895B504-C261-CA74-19C4-45B933EA743D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3433404" y="5540249"/>
                <a:ext cx="1251000" cy="268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3E757327-4433-1A46-71E1-DF1C41C6E491}"/>
                  </a:ext>
                </a:extLst>
              </p14:cNvPr>
              <p14:cNvContentPartPr/>
              <p14:nvPr/>
            </p14:nvContentPartPr>
            <p14:xfrm>
              <a:off x="6031884" y="5684609"/>
              <a:ext cx="50760" cy="1476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3E757327-4433-1A46-71E1-DF1C41C6E491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977884" y="5576969"/>
                <a:ext cx="158400" cy="2304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70F4BFD6-C57B-3C4D-07EB-550F29D0BE89}"/>
                  </a:ext>
                </a:extLst>
              </p14:cNvPr>
              <p14:cNvContentPartPr/>
              <p14:nvPr/>
            </p14:nvContentPartPr>
            <p14:xfrm>
              <a:off x="6017844" y="5478689"/>
              <a:ext cx="2099160" cy="3434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70F4BFD6-C57B-3C4D-07EB-550F29D0BE8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963844" y="5370689"/>
                <a:ext cx="2206800" cy="5590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64450" cy="456438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U={A,B,C,D,E}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Tahoma"/>
                <a:cs typeface="Tahoma"/>
              </a:rPr>
              <a:t>F={AB→C,B→D,C→E,EC→B,AC→B}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endParaRPr sz="2700" baseline="-16975">
              <a:latin typeface="Tahoma"/>
              <a:cs typeface="Tahoma"/>
            </a:endParaRPr>
          </a:p>
          <a:p>
            <a:pPr marL="781050">
              <a:lnSpc>
                <a:spcPts val="3285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⑶得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={AB→C,B→D,C→E,C→B}</a:t>
            </a:r>
            <a:endParaRPr sz="2800">
              <a:latin typeface="Tahoma"/>
              <a:cs typeface="Tahoma"/>
            </a:endParaRPr>
          </a:p>
          <a:p>
            <a:pPr marL="11811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81100" algn="l"/>
              </a:tabLst>
            </a:pPr>
            <a:r>
              <a:rPr sz="2400" dirty="0">
                <a:latin typeface="宋体"/>
                <a:cs typeface="宋体"/>
              </a:rPr>
              <a:t>仅得到一个</a:t>
            </a:r>
            <a:r>
              <a:rPr sz="2400" dirty="0">
                <a:latin typeface="Tahoma"/>
                <a:cs typeface="Tahoma"/>
              </a:rPr>
              <a:t>F</a:t>
            </a:r>
            <a:r>
              <a:rPr sz="2325" baseline="-17921" dirty="0">
                <a:latin typeface="Tahoma"/>
                <a:cs typeface="Tahoma"/>
              </a:rPr>
              <a:t>m</a:t>
            </a:r>
            <a:r>
              <a:rPr sz="2325" spc="-142" baseline="-17921" dirty="0">
                <a:latin typeface="Tahoma"/>
                <a:cs typeface="Tahoma"/>
              </a:rPr>
              <a:t> </a:t>
            </a:r>
            <a:r>
              <a:rPr sz="2400" dirty="0">
                <a:latin typeface="宋体"/>
                <a:cs typeface="宋体"/>
              </a:rPr>
              <a:t>，不需要继续运算</a:t>
            </a:r>
            <a:endParaRPr sz="24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⑷</a:t>
            </a:r>
            <a:r>
              <a:rPr sz="2800" spc="-545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={AB→C,B→D,C→E,C→B}</a:t>
            </a:r>
            <a:endParaRPr sz="2800">
              <a:latin typeface="Tahoma"/>
              <a:cs typeface="Tahoma"/>
            </a:endParaRPr>
          </a:p>
          <a:p>
            <a:pPr marL="7810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解毕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FB2D702-BD4B-B2AC-873C-F12EAE80872D}"/>
                  </a:ext>
                </a:extLst>
              </p14:cNvPr>
              <p14:cNvContentPartPr/>
              <p14:nvPr/>
            </p14:nvContentPartPr>
            <p14:xfrm>
              <a:off x="1906644" y="5137409"/>
              <a:ext cx="4486680" cy="1800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FB2D702-BD4B-B2AC-873C-F12EAE80872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853004" y="5029769"/>
                <a:ext cx="4594320" cy="395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26949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⑴</a:t>
            </a:r>
            <a:r>
              <a:rPr sz="2800" spc="-535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右部仅含有一个属性，得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</a:t>
            </a:r>
            <a:r>
              <a:rPr sz="2800" dirty="0">
                <a:latin typeface="Tahoma"/>
                <a:cs typeface="Tahoma"/>
              </a:rPr>
              <a:t>=F</a:t>
            </a:r>
            <a:r>
              <a:rPr sz="2800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00950" cy="448564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38100">
              <a:lnSpc>
                <a:spcPct val="100000"/>
              </a:lnSpc>
              <a:spcBef>
                <a:spcPts val="1075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例</a:t>
            </a:r>
            <a:endParaRPr sz="3200">
              <a:latin typeface="宋体"/>
              <a:cs typeface="宋体"/>
            </a:endParaRPr>
          </a:p>
          <a:p>
            <a:pPr marL="78105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38100">
              <a:lnSpc>
                <a:spcPct val="100000"/>
              </a:lnSpc>
              <a:spcBef>
                <a:spcPts val="590"/>
              </a:spcBef>
            </a:pPr>
            <a:r>
              <a:rPr sz="3200" spc="-10" dirty="0">
                <a:solidFill>
                  <a:srgbClr val="CC00CC"/>
                </a:solidFill>
                <a:latin typeface="Wingdings"/>
                <a:cs typeface="Wingdings"/>
              </a:rPr>
              <a:t></a:t>
            </a:r>
            <a:r>
              <a:rPr sz="3200" spc="5" dirty="0">
                <a:latin typeface="宋体"/>
                <a:cs typeface="宋体"/>
              </a:rPr>
              <a:t>解</a:t>
            </a:r>
            <a:endParaRPr sz="3200">
              <a:latin typeface="宋体"/>
              <a:cs typeface="宋体"/>
            </a:endParaRPr>
          </a:p>
          <a:p>
            <a:pPr marL="781050" marR="30480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61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分别去掉一个函数依赖</a:t>
            </a:r>
            <a:r>
              <a:rPr sz="2800" spc="-5" dirty="0">
                <a:latin typeface="Tahoma"/>
                <a:cs typeface="Tahoma"/>
              </a:rPr>
              <a:t>X→A</a:t>
            </a:r>
            <a:r>
              <a:rPr sz="2800" dirty="0">
                <a:latin typeface="宋体"/>
                <a:cs typeface="宋体"/>
              </a:rPr>
              <a:t>后求关于</a:t>
            </a:r>
            <a:r>
              <a:rPr sz="2800" spc="-5" dirty="0">
                <a:latin typeface="Tahoma"/>
                <a:cs typeface="Tahoma"/>
              </a:rPr>
              <a:t>X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闭包，得</a:t>
            </a:r>
            <a:r>
              <a:rPr sz="2800" spc="-5" dirty="0">
                <a:latin typeface="Tahoma"/>
                <a:cs typeface="Tahoma"/>
              </a:rPr>
              <a:t>AC,ABC,ABC,ABC,C</a:t>
            </a:r>
            <a:r>
              <a:rPr sz="2800" spc="-5" dirty="0">
                <a:latin typeface="宋体"/>
                <a:cs typeface="宋体"/>
              </a:rPr>
              <a:t>，得</a:t>
            </a:r>
            <a:endParaRPr sz="2800">
              <a:latin typeface="宋体"/>
              <a:cs typeface="宋体"/>
            </a:endParaRPr>
          </a:p>
          <a:p>
            <a:pPr marL="951865" marR="1623695" indent="-457200">
              <a:lnSpc>
                <a:spcPct val="100000"/>
              </a:lnSpc>
              <a:spcBef>
                <a:spcPts val="66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{A→B,B→A,B→C,C→A}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446722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354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⑵</a:t>
            </a:r>
            <a:r>
              <a:rPr sz="2800" spc="-54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对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宋体"/>
                <a:cs typeface="宋体"/>
              </a:rPr>
              <a:t>、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宋体"/>
                <a:cs typeface="宋体"/>
              </a:rPr>
              <a:t>继续进行运算，</a:t>
            </a:r>
            <a:r>
              <a:rPr sz="2800" spc="-5" dirty="0">
                <a:latin typeface="宋体"/>
                <a:cs typeface="宋体"/>
              </a:rPr>
              <a:t>得</a:t>
            </a:r>
            <a:endParaRPr sz="2800" dirty="0">
              <a:latin typeface="宋体"/>
              <a:cs typeface="宋体"/>
            </a:endParaRPr>
          </a:p>
          <a:p>
            <a:pPr marL="951865" marR="1157605">
              <a:lnSpc>
                <a:spcPts val="3360"/>
              </a:lnSpc>
              <a:spcBef>
                <a:spcPts val="110"/>
              </a:spcBef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m3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5" dirty="0">
                <a:latin typeface="Tahoma"/>
                <a:cs typeface="Tahoma"/>
              </a:rPr>
              <a:t> {A→B,B→C,C→A}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409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继续运算仍然是这个结果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134859" cy="354711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例（续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由关系模式</a:t>
            </a:r>
            <a:r>
              <a:rPr sz="2800" spc="-5" dirty="0">
                <a:latin typeface="Tahoma"/>
                <a:cs typeface="Tahoma"/>
              </a:rPr>
              <a:t>R(U,F),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U={A,B,C}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 dirty="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F={A→B,B→A,B→C,A→C,C→A},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5" dirty="0">
                <a:latin typeface="Tahoma"/>
                <a:cs typeface="Tahoma"/>
              </a:rPr>
              <a:t>F</a:t>
            </a:r>
            <a:r>
              <a:rPr sz="2700" spc="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440055" indent="-402590">
              <a:lnSpc>
                <a:spcPct val="100000"/>
              </a:lnSpc>
              <a:spcBef>
                <a:spcPts val="5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解（续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81050" lvl="1" indent="-285750">
              <a:lnSpc>
                <a:spcPts val="3354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宋体"/>
                <a:cs typeface="宋体"/>
              </a:rPr>
              <a:t>⑶</a:t>
            </a:r>
            <a:r>
              <a:rPr sz="2800" spc="-560" dirty="0">
                <a:latin typeface="宋体"/>
                <a:cs typeface="宋体"/>
              </a:rPr>
              <a:t> </a:t>
            </a:r>
            <a:r>
              <a:rPr sz="2800" dirty="0">
                <a:latin typeface="宋体"/>
                <a:cs typeface="宋体"/>
              </a:rPr>
              <a:t>不需要左简化。得到两个最小依赖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 dirty="0">
              <a:latin typeface="宋体"/>
              <a:cs typeface="宋体"/>
            </a:endParaRPr>
          </a:p>
          <a:p>
            <a:pPr marL="951865" marR="1157605">
              <a:lnSpc>
                <a:spcPts val="3360"/>
              </a:lnSpc>
              <a:spcBef>
                <a:spcPts val="110"/>
              </a:spcBef>
            </a:pP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m1</a:t>
            </a:r>
            <a:r>
              <a:rPr sz="2800" dirty="0">
                <a:latin typeface="Tahoma"/>
                <a:cs typeface="Tahoma"/>
              </a:rPr>
              <a:t>= </a:t>
            </a:r>
            <a:r>
              <a:rPr sz="2800" spc="-5" dirty="0">
                <a:latin typeface="Tahoma"/>
                <a:cs typeface="Tahoma"/>
              </a:rPr>
              <a:t>{A→B,B→C,C→A}</a:t>
            </a:r>
            <a:r>
              <a:rPr sz="2800" spc="-5" dirty="0">
                <a:latin typeface="宋体"/>
                <a:cs typeface="宋体"/>
              </a:rPr>
              <a:t>；  </a:t>
            </a:r>
            <a:r>
              <a:rPr sz="2800" dirty="0">
                <a:latin typeface="Tahoma"/>
                <a:cs typeface="Tahoma"/>
              </a:rPr>
              <a:t>F</a:t>
            </a:r>
            <a:r>
              <a:rPr sz="2700" baseline="-16975" dirty="0">
                <a:latin typeface="Tahoma"/>
                <a:cs typeface="Tahoma"/>
              </a:rPr>
              <a:t>m2</a:t>
            </a:r>
            <a:r>
              <a:rPr sz="2800" dirty="0">
                <a:latin typeface="Tahoma"/>
                <a:cs typeface="Tahoma"/>
              </a:rPr>
              <a:t>=</a:t>
            </a:r>
            <a:r>
              <a:rPr sz="2800" spc="-3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{A→B,B→A,A→C,C→A}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888E202-357D-03F9-9BD7-C31F9F1C3BE7}"/>
                  </a:ext>
                </a:extLst>
              </p14:cNvPr>
              <p14:cNvContentPartPr/>
              <p14:nvPr/>
            </p14:nvContentPartPr>
            <p14:xfrm>
              <a:off x="5244204" y="4219769"/>
              <a:ext cx="2458080" cy="2361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888E202-357D-03F9-9BD7-C31F9F1C3BE7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5190564" y="4112129"/>
                <a:ext cx="2565720" cy="451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数据依赖的公理系</a:t>
            </a:r>
            <a:r>
              <a:rPr spc="5" dirty="0"/>
              <a:t>统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3695"/>
            <a:ext cx="7564755" cy="2638425"/>
          </a:xfrm>
          <a:prstGeom prst="rect">
            <a:avLst/>
          </a:prstGeom>
        </p:spPr>
        <p:txBody>
          <a:bodyPr vert="horz" wrap="square" lIns="0" tIns="14033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10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等价依赖集的讨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 dirty="0">
              <a:latin typeface="宋体"/>
              <a:cs typeface="宋体"/>
            </a:endParaRPr>
          </a:p>
          <a:p>
            <a:pPr marL="1155065" marR="52069" lvl="1" indent="-228600">
              <a:lnSpc>
                <a:spcPct val="100000"/>
              </a:lnSpc>
              <a:spcBef>
                <a:spcPts val="75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两个关系模式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1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），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spc="-5" dirty="0">
                <a:latin typeface="Tahoma"/>
                <a:cs typeface="Tahoma"/>
              </a:rPr>
              <a:t>2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），如果  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与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等价，那么</a:t>
            </a:r>
            <a:r>
              <a:rPr sz="2400" spc="-5" dirty="0">
                <a:latin typeface="Tahoma"/>
                <a:cs typeface="Tahoma"/>
              </a:rPr>
              <a:t>R1</a:t>
            </a:r>
            <a:r>
              <a:rPr sz="2400" dirty="0">
                <a:latin typeface="宋体"/>
                <a:cs typeface="宋体"/>
              </a:rPr>
              <a:t>的关系一定是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的关系，同 样，</a:t>
            </a:r>
            <a:r>
              <a:rPr sz="2400" spc="-455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的关系一定是</a:t>
            </a:r>
            <a:r>
              <a:rPr sz="2400" spc="-5" dirty="0">
                <a:latin typeface="Tahoma"/>
                <a:cs typeface="Tahoma"/>
              </a:rPr>
              <a:t>R2</a:t>
            </a:r>
            <a:r>
              <a:rPr sz="2400" dirty="0">
                <a:latin typeface="宋体"/>
                <a:cs typeface="宋体"/>
              </a:rPr>
              <a:t>的关系。</a:t>
            </a:r>
          </a:p>
          <a:p>
            <a:pPr marL="1155700" lvl="1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所以在</a:t>
            </a:r>
            <a:r>
              <a:rPr sz="2400" dirty="0">
                <a:latin typeface="Tahoma"/>
                <a:cs typeface="Tahoma"/>
              </a:rPr>
              <a:t>R</a:t>
            </a:r>
            <a:r>
              <a:rPr sz="2400" dirty="0">
                <a:latin typeface="宋体"/>
                <a:cs typeface="宋体"/>
              </a:rPr>
              <a:t>（</a:t>
            </a:r>
            <a:r>
              <a:rPr sz="2400" dirty="0">
                <a:latin typeface="Tahoma"/>
                <a:cs typeface="Tahoma"/>
              </a:rPr>
              <a:t>U</a:t>
            </a:r>
            <a:r>
              <a:rPr sz="2400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）中用与</a:t>
            </a: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等价的依赖集</a:t>
            </a:r>
            <a:r>
              <a:rPr sz="2400" spc="-5" dirty="0">
                <a:latin typeface="Tahoma"/>
                <a:cs typeface="Tahoma"/>
              </a:rPr>
              <a:t>G</a:t>
            </a:r>
            <a:r>
              <a:rPr sz="2400" dirty="0">
                <a:latin typeface="宋体"/>
                <a:cs typeface="宋体"/>
              </a:rPr>
              <a:t>来取代</a:t>
            </a:r>
          </a:p>
          <a:p>
            <a:pPr marL="11550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F</a:t>
            </a:r>
            <a:r>
              <a:rPr sz="2400" dirty="0">
                <a:latin typeface="宋体"/>
                <a:cs typeface="宋体"/>
              </a:rPr>
              <a:t>是允许的。</a:t>
            </a:r>
          </a:p>
        </p:txBody>
      </p:sp>
      <p:sp>
        <p:nvSpPr>
          <p:cNvPr id="4" name="object 4"/>
          <p:cNvSpPr/>
          <p:nvPr/>
        </p:nvSpPr>
        <p:spPr>
          <a:xfrm>
            <a:off x="8182356" y="5811011"/>
            <a:ext cx="961644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354BF9A-0D9A-6FA7-4C8F-18A4B59D0AA7}"/>
                  </a:ext>
                </a:extLst>
              </p14:cNvPr>
              <p14:cNvContentPartPr/>
              <p14:nvPr/>
            </p14:nvContentPartPr>
            <p14:xfrm>
              <a:off x="1949484" y="3097649"/>
              <a:ext cx="1210680" cy="435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354BF9A-0D9A-6FA7-4C8F-18A4B59D0AA7}"/>
                  </a:ext>
                </a:extLst>
              </p:cNvPr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1895484" y="2989649"/>
                <a:ext cx="1318320" cy="259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5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B4D23D30-0526-6307-0D01-1A6753D9F803}"/>
                  </a:ext>
                </a:extLst>
              </p14:cNvPr>
              <p14:cNvContentPartPr/>
              <p14:nvPr/>
            </p14:nvContentPartPr>
            <p14:xfrm>
              <a:off x="4153404" y="3102689"/>
              <a:ext cx="3538080" cy="8820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B4D23D30-0526-6307-0D01-1A6753D9F803}"/>
                  </a:ext>
                </a:extLst>
              </p:cNvPr>
              <p:cNvPicPr/>
              <p:nvPr/>
            </p:nvPicPr>
            <p:blipFill>
              <a:blip r:embed="rId6"/>
              <a:stretch>
                <a:fillRect/>
              </a:stretch>
            </p:blipFill>
            <p:spPr>
              <a:xfrm>
                <a:off x="4099764" y="2994689"/>
                <a:ext cx="3645720" cy="3038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912870" y="829944"/>
            <a:ext cx="149288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pc="5" dirty="0"/>
              <a:t>小</a:t>
            </a:r>
            <a:r>
              <a:rPr spc="445" dirty="0"/>
              <a:t> </a:t>
            </a:r>
            <a:r>
              <a:rPr spc="5" dirty="0"/>
              <a:t>结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37941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规范化程度讨</a:t>
            </a:r>
            <a:r>
              <a:rPr sz="3200" spc="5" dirty="0">
                <a:latin typeface="宋体"/>
                <a:cs typeface="宋体"/>
              </a:rPr>
              <a:t>论</a:t>
            </a:r>
            <a:endParaRPr sz="32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规范化理论为数据库设计提供了理论的指</a:t>
            </a:r>
            <a:r>
              <a:rPr sz="2800" spc="-5" dirty="0">
                <a:latin typeface="宋体"/>
                <a:cs typeface="宋体"/>
              </a:rPr>
              <a:t>南 </a:t>
            </a:r>
            <a:r>
              <a:rPr sz="2800" dirty="0">
                <a:latin typeface="宋体"/>
                <a:cs typeface="宋体"/>
              </a:rPr>
              <a:t>和工具，但仅仅是指南和工具。并不是规</a:t>
            </a:r>
            <a:r>
              <a:rPr sz="2800" spc="-5" dirty="0">
                <a:latin typeface="宋体"/>
                <a:cs typeface="宋体"/>
              </a:rPr>
              <a:t>范 </a:t>
            </a:r>
            <a:r>
              <a:rPr sz="2800" dirty="0">
                <a:latin typeface="宋体"/>
                <a:cs typeface="宋体"/>
              </a:rPr>
              <a:t>化程度越高，模式就越好，而必须结合应</a:t>
            </a:r>
            <a:r>
              <a:rPr sz="2800" spc="-5" dirty="0">
                <a:latin typeface="宋体"/>
                <a:cs typeface="宋体"/>
              </a:rPr>
              <a:t>用 </a:t>
            </a:r>
            <a:r>
              <a:rPr sz="2800" dirty="0">
                <a:latin typeface="宋体"/>
                <a:cs typeface="宋体"/>
              </a:rPr>
              <a:t>环境和现实世界的具体情况合理的选择数</a:t>
            </a:r>
            <a:r>
              <a:rPr sz="2800" spc="-5" dirty="0">
                <a:latin typeface="宋体"/>
                <a:cs typeface="宋体"/>
              </a:rPr>
              <a:t>据 </a:t>
            </a:r>
            <a:r>
              <a:rPr sz="2800" dirty="0">
                <a:latin typeface="宋体"/>
                <a:cs typeface="宋体"/>
              </a:rPr>
              <a:t>库模式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8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一般的，数据库关系模式规范化到</a:t>
            </a:r>
            <a:r>
              <a:rPr sz="2800" spc="-5" dirty="0">
                <a:latin typeface="Tahoma"/>
                <a:cs typeface="Tahoma"/>
              </a:rPr>
              <a:t>3NF</a:t>
            </a:r>
            <a:r>
              <a:rPr sz="2800" spc="-5" dirty="0">
                <a:latin typeface="宋体"/>
                <a:cs typeface="宋体"/>
              </a:rPr>
              <a:t>或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BCNF</a:t>
            </a:r>
            <a:r>
              <a:rPr sz="2800" dirty="0">
                <a:latin typeface="宋体"/>
                <a:cs typeface="宋体"/>
              </a:rPr>
              <a:t>就可以了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F937EEB-A57B-CCA5-C2E0-27192530A3EE}"/>
                  </a:ext>
                </a:extLst>
              </p14:cNvPr>
              <p14:cNvContentPartPr/>
              <p14:nvPr/>
            </p14:nvContentPartPr>
            <p14:xfrm>
              <a:off x="6769164" y="5033729"/>
              <a:ext cx="1325880" cy="842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F937EEB-A57B-CCA5-C2E0-27192530A3EE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715524" y="4926089"/>
                <a:ext cx="1433520" cy="2998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9EE4A2A2-1B7E-05CA-2C69-DA33026815C7}"/>
                  </a:ext>
                </a:extLst>
              </p14:cNvPr>
              <p14:cNvContentPartPr/>
              <p14:nvPr/>
            </p14:nvContentPartPr>
            <p14:xfrm>
              <a:off x="1580484" y="5380049"/>
              <a:ext cx="1438200" cy="1069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9EE4A2A2-1B7E-05CA-2C69-DA33026815C7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526484" y="5272049"/>
                <a:ext cx="1545840" cy="322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39363241-078A-684D-2C28-9FB13425E081}"/>
                  </a:ext>
                </a:extLst>
              </p14:cNvPr>
              <p14:cNvContentPartPr/>
              <p14:nvPr/>
            </p14:nvContentPartPr>
            <p14:xfrm>
              <a:off x="2174124" y="5478329"/>
              <a:ext cx="1570320" cy="17424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39363241-078A-684D-2C28-9FB13425E081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120484" y="5370329"/>
                <a:ext cx="1677960" cy="389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294068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一</a:t>
            </a:r>
            <a:endParaRPr sz="320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分析下面的函数依赖集中，哪些是完全函</a:t>
            </a:r>
            <a:r>
              <a:rPr sz="2800" spc="-5" dirty="0">
                <a:latin typeface="宋体"/>
                <a:cs typeface="宋体"/>
              </a:rPr>
              <a:t>数 </a:t>
            </a:r>
            <a:r>
              <a:rPr sz="2800" dirty="0">
                <a:latin typeface="宋体"/>
                <a:cs typeface="宋体"/>
              </a:rPr>
              <a:t>依赖，哪些是部分函数依赖，哪些是传递</a:t>
            </a:r>
            <a:r>
              <a:rPr sz="2800" spc="-5" dirty="0">
                <a:latin typeface="宋体"/>
                <a:cs typeface="宋体"/>
              </a:rPr>
              <a:t>函 </a:t>
            </a:r>
            <a:r>
              <a:rPr sz="2800" dirty="0">
                <a:latin typeface="宋体"/>
                <a:cs typeface="宋体"/>
              </a:rPr>
              <a:t>数依赖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marR="441959" lvl="1" indent="-285750">
              <a:lnSpc>
                <a:spcPct val="100000"/>
              </a:lnSpc>
              <a:spcBef>
                <a:spcPts val="82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F={ABC→D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BC→D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D→BC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E→BC}</a:t>
            </a:r>
            <a:endParaRPr sz="2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1555750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二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1678939" y="3439795"/>
            <a:ext cx="1737995" cy="1780539"/>
          </a:xfrm>
          <a:prstGeom prst="rect">
            <a:avLst/>
          </a:prstGeom>
        </p:spPr>
        <p:txBody>
          <a:bodyPr vert="horz" wrap="square" lIns="0" tIns="85725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6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1.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2.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3.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  <a:p>
            <a:pPr marL="241300" indent="-228600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241300" algn="l"/>
              </a:tabLst>
            </a:pPr>
            <a:r>
              <a:rPr sz="2400" spc="-5" dirty="0">
                <a:latin typeface="Tahoma"/>
                <a:cs typeface="Tahoma"/>
              </a:rPr>
              <a:t>4.</a:t>
            </a:r>
            <a:r>
              <a:rPr sz="2400" spc="-7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4058284" y="3439795"/>
            <a:ext cx="3020060" cy="178053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20000"/>
              </a:lnSpc>
              <a:spcBef>
                <a:spcPts val="95"/>
              </a:spcBef>
            </a:pPr>
            <a:r>
              <a:rPr sz="2400" spc="-5" dirty="0">
                <a:latin typeface="Tahoma"/>
                <a:cs typeface="Tahoma"/>
              </a:rPr>
              <a:t>F={XY→Z}  F={Y→Z,XZ→Y}  F=</a:t>
            </a:r>
            <a:r>
              <a:rPr sz="2400" dirty="0">
                <a:latin typeface="Tahoma"/>
                <a:cs typeface="Tahoma"/>
              </a:rPr>
              <a:t>{Y→</a:t>
            </a:r>
            <a:r>
              <a:rPr sz="2400" spc="-5" dirty="0">
                <a:latin typeface="Tahoma"/>
                <a:cs typeface="Tahoma"/>
              </a:rPr>
              <a:t>Z,</a:t>
            </a:r>
            <a:r>
              <a:rPr sz="2400" dirty="0">
                <a:latin typeface="Tahoma"/>
                <a:cs typeface="Tahoma"/>
              </a:rPr>
              <a:t>Y→X</a:t>
            </a:r>
            <a:r>
              <a:rPr sz="2400" spc="-5" dirty="0">
                <a:latin typeface="Tahoma"/>
                <a:cs typeface="Tahoma"/>
              </a:rPr>
              <a:t>,</a:t>
            </a:r>
            <a:r>
              <a:rPr sz="2400" dirty="0">
                <a:latin typeface="Tahoma"/>
                <a:cs typeface="Tahoma"/>
              </a:rPr>
              <a:t>X→Y</a:t>
            </a:r>
            <a:r>
              <a:rPr sz="2400" spc="-5" dirty="0">
                <a:latin typeface="Tahoma"/>
                <a:cs typeface="Tahoma"/>
              </a:rPr>
              <a:t>Z</a:t>
            </a:r>
            <a:r>
              <a:rPr sz="2400" dirty="0">
                <a:latin typeface="Tahoma"/>
                <a:cs typeface="Tahoma"/>
              </a:rPr>
              <a:t>}  </a:t>
            </a:r>
            <a:r>
              <a:rPr sz="2400" spc="-5" dirty="0">
                <a:latin typeface="Tahoma"/>
                <a:cs typeface="Tahoma"/>
              </a:rPr>
              <a:t>F={X→Y,X→Z}</a:t>
            </a:r>
            <a:endParaRPr sz="2400">
              <a:latin typeface="Tahoma"/>
              <a:cs typeface="Tahoma"/>
            </a:endParaRPr>
          </a:p>
        </p:txBody>
      </p:sp>
      <p:sp>
        <p:nvSpPr>
          <p:cNvPr id="6" name="object 6"/>
          <p:cNvSpPr txBox="1"/>
          <p:nvPr/>
        </p:nvSpPr>
        <p:spPr>
          <a:xfrm>
            <a:off x="1678939" y="5267959"/>
            <a:ext cx="4646295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241300" indent="-228600">
              <a:lnSpc>
                <a:spcPct val="100000"/>
              </a:lnSpc>
              <a:spcBef>
                <a:spcPts val="100"/>
              </a:spcBef>
              <a:buClr>
                <a:srgbClr val="CC00CC"/>
              </a:buClr>
              <a:buChar char="•"/>
              <a:tabLst>
                <a:tab pos="241300" algn="l"/>
                <a:tab pos="2282190" algn="l"/>
              </a:tabLst>
            </a:pPr>
            <a:r>
              <a:rPr sz="2400" spc="-5" dirty="0">
                <a:latin typeface="Tahoma"/>
                <a:cs typeface="Tahoma"/>
              </a:rPr>
              <a:t>5.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R(W,X,Y,Z)	F={X→Z,WX→Y}</a:t>
            </a:r>
            <a:endParaRPr sz="24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470775" cy="4150360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三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ts val="3020"/>
              </a:lnSpc>
              <a:spcBef>
                <a:spcPts val="8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P}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E→A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CE→D}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3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3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四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T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S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F={C→T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S→N}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1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867085"/>
            <a:ext cx="7496175" cy="354076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273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279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五</a:t>
            </a:r>
            <a:endParaRPr sz="3200">
              <a:latin typeface="宋体"/>
              <a:cs typeface="宋体"/>
            </a:endParaRPr>
          </a:p>
          <a:p>
            <a:pPr marL="768350" marR="177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B→D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E→A}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spcBef>
                <a:spcPts val="25"/>
              </a:spcBef>
              <a:buClr>
                <a:srgbClr val="CC00CC"/>
              </a:buClr>
              <a:buFont typeface="Wingdings"/>
              <a:buChar char=""/>
            </a:pPr>
            <a:endParaRPr sz="3650">
              <a:latin typeface="宋体"/>
              <a:cs typeface="宋体"/>
            </a:endParaRPr>
          </a:p>
          <a:p>
            <a:pPr marL="768350" lvl="1" indent="-285750">
              <a:lnSpc>
                <a:spcPts val="1390"/>
              </a:lnSpc>
              <a:buClr>
                <a:srgbClr val="CC00CC"/>
              </a:buClr>
              <a:buFont typeface="Wingdings"/>
              <a:buChar char=""/>
              <a:tabLst>
                <a:tab pos="768350" algn="l"/>
                <a:tab pos="1981200" algn="l"/>
                <a:tab pos="2835275" algn="l"/>
                <a:tab pos="3693160" algn="l"/>
                <a:tab pos="4537075" algn="l"/>
              </a:tabLst>
            </a:pPr>
            <a:r>
              <a:rPr sz="2800" dirty="0">
                <a:latin typeface="宋体"/>
                <a:cs typeface="宋体"/>
              </a:rPr>
              <a:t>计算</a:t>
            </a:r>
            <a:r>
              <a:rPr sz="2800" spc="5" dirty="0">
                <a:latin typeface="Tahoma"/>
                <a:cs typeface="Tahoma"/>
              </a:rPr>
              <a:t>A</a:t>
            </a:r>
            <a:r>
              <a:rPr sz="2700" spc="7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B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C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dirty="0">
                <a:latin typeface="Tahoma"/>
                <a:cs typeface="Tahoma"/>
              </a:rPr>
              <a:t>E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813560">
              <a:lnSpc>
                <a:spcPts val="1070"/>
              </a:lnSpc>
              <a:tabLst>
                <a:tab pos="2667000" algn="l"/>
                <a:tab pos="3524885" algn="l"/>
                <a:tab pos="4368800" algn="l"/>
              </a:tabLst>
            </a:pPr>
            <a:r>
              <a:rPr sz="1800" spc="15" dirty="0">
                <a:latin typeface="Tahoma"/>
                <a:cs typeface="Tahoma"/>
              </a:rPr>
              <a:t>+	+	+	+</a:t>
            </a:r>
            <a:endParaRPr sz="1800">
              <a:latin typeface="Tahoma"/>
              <a:cs typeface="Tahoma"/>
            </a:endParaRPr>
          </a:p>
          <a:p>
            <a:pPr marL="768350" lvl="1" indent="-285750">
              <a:lnSpc>
                <a:spcPct val="100000"/>
              </a:lnSpc>
              <a:spcBef>
                <a:spcPts val="141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76687"/>
            <a:ext cx="7606665" cy="455358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六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设有函数依赖集</a:t>
            </a:r>
            <a:r>
              <a:rPr sz="2800" spc="-5" dirty="0">
                <a:latin typeface="Tahoma"/>
                <a:cs typeface="Tahoma"/>
              </a:rPr>
              <a:t>F={AB→CE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A→C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GP→B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ts val="3020"/>
              </a:lnSpc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EP→A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CDE→P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HB→P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D→HG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ABC→PG}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33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1666239" algn="l"/>
              </a:tabLst>
            </a:pPr>
            <a:r>
              <a:rPr sz="2800" dirty="0">
                <a:latin typeface="宋体"/>
                <a:cs typeface="宋体"/>
              </a:rPr>
              <a:t>求</a:t>
            </a:r>
            <a:r>
              <a:rPr sz="2800" dirty="0">
                <a:latin typeface="Tahoma"/>
                <a:cs typeface="Tahoma"/>
              </a:rPr>
              <a:t>D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497965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  <a:p>
            <a:pPr marL="440055" indent="-402590">
              <a:lnSpc>
                <a:spcPct val="100000"/>
              </a:lnSpc>
              <a:spcBef>
                <a:spcPts val="111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七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3190"/>
              </a:lnSpc>
              <a:spcBef>
                <a:spcPts val="50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设有函数依赖集</a:t>
            </a:r>
            <a:r>
              <a:rPr sz="2800" spc="-5" dirty="0">
                <a:latin typeface="Tahoma"/>
                <a:cs typeface="Tahoma"/>
              </a:rPr>
              <a:t>F={AB→C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BC→D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ts val="3020"/>
              </a:lnSpc>
            </a:pP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ACD→B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D→EG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BE→C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CG→BD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ts val="3190"/>
              </a:lnSpc>
            </a:pPr>
            <a:r>
              <a:rPr sz="2800" spc="-5" dirty="0">
                <a:latin typeface="Tahoma"/>
                <a:cs typeface="Tahoma"/>
              </a:rPr>
              <a:t>CE→AG}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33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2586990" algn="l"/>
              </a:tabLst>
            </a:pPr>
            <a:r>
              <a:rPr sz="2800" dirty="0">
                <a:latin typeface="宋体"/>
                <a:cs typeface="宋体"/>
              </a:rPr>
              <a:t>求（</a:t>
            </a:r>
            <a:r>
              <a:rPr sz="2800" dirty="0">
                <a:latin typeface="Tahoma"/>
                <a:cs typeface="Tahoma"/>
              </a:rPr>
              <a:t>BD</a:t>
            </a:r>
            <a:r>
              <a:rPr sz="2800" dirty="0">
                <a:latin typeface="宋体"/>
                <a:cs typeface="宋体"/>
              </a:rPr>
              <a:t>）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2419350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441700" y="800099"/>
            <a:ext cx="22612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</a:t>
            </a:r>
            <a:r>
              <a:rPr spc="5" dirty="0"/>
              <a:t>习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483475" cy="253682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H→EG</a:t>
            </a:r>
            <a:endParaRPr sz="2800">
              <a:latin typeface="Tahoma"/>
              <a:cs typeface="Tahoma"/>
            </a:endParaRPr>
          </a:p>
          <a:p>
            <a:pPr marL="781050">
              <a:lnSpc>
                <a:spcPct val="100000"/>
              </a:lnSpc>
            </a:pP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22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8182356" y="5811011"/>
            <a:ext cx="961644" cy="1046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914456"/>
            <a:ext cx="7569200" cy="4547235"/>
          </a:xfrm>
          <a:prstGeom prst="rect">
            <a:avLst/>
          </a:prstGeom>
        </p:spPr>
        <p:txBody>
          <a:bodyPr vert="horz" wrap="square" lIns="0" tIns="56515" rIns="0" bIns="0" rtlCol="0">
            <a:spAutoFit/>
          </a:bodyPr>
          <a:lstStyle/>
          <a:p>
            <a:pPr marL="363220" indent="-351155">
              <a:lnSpc>
                <a:spcPct val="100000"/>
              </a:lnSpc>
              <a:spcBef>
                <a:spcPts val="445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63855" algn="l"/>
              </a:tabLst>
            </a:pPr>
            <a:r>
              <a:rPr sz="2800" dirty="0">
                <a:latin typeface="宋体"/>
                <a:cs typeface="宋体"/>
              </a:rPr>
              <a:t>练习</a:t>
            </a:r>
            <a:r>
              <a:rPr sz="2800" spc="-5" dirty="0">
                <a:latin typeface="宋体"/>
                <a:cs typeface="宋体"/>
              </a:rPr>
              <a:t>一</a:t>
            </a:r>
            <a:endParaRPr sz="2800">
              <a:latin typeface="宋体"/>
              <a:cs typeface="宋体"/>
            </a:endParaRPr>
          </a:p>
          <a:p>
            <a:pPr marL="1155700" lvl="1" indent="-229235">
              <a:lnSpc>
                <a:spcPts val="2735"/>
              </a:lnSpc>
              <a:spcBef>
                <a:spcPts val="30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分析下面的函数依赖集中，哪些是完全函数依赖</a:t>
            </a:r>
            <a:endParaRPr sz="2400">
              <a:latin typeface="宋体"/>
              <a:cs typeface="宋体"/>
            </a:endParaRPr>
          </a:p>
          <a:p>
            <a:pPr marL="1155065">
              <a:lnSpc>
                <a:spcPts val="2735"/>
              </a:lnSpc>
            </a:pPr>
            <a:r>
              <a:rPr sz="2400" dirty="0">
                <a:latin typeface="宋体"/>
                <a:cs typeface="宋体"/>
              </a:rPr>
              <a:t>，哪些是部分函数依赖，哪些是传递函数依赖。</a:t>
            </a:r>
            <a:endParaRPr sz="240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24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9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F={ABC→D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CD→E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D→BC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E→BC}</a:t>
            </a:r>
            <a:endParaRPr sz="2000">
              <a:latin typeface="Times New Roman"/>
              <a:cs typeface="Times New Roman"/>
            </a:endParaRPr>
          </a:p>
          <a:p>
            <a:pPr marL="755650" indent="-285750">
              <a:lnSpc>
                <a:spcPct val="100000"/>
              </a:lnSpc>
              <a:spcBef>
                <a:spcPts val="29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600" dirty="0">
                <a:latin typeface="宋体"/>
                <a:cs typeface="宋体"/>
              </a:rPr>
              <a:t>结</a:t>
            </a:r>
            <a:r>
              <a:rPr sz="2600" spc="5" dirty="0">
                <a:latin typeface="宋体"/>
                <a:cs typeface="宋体"/>
              </a:rPr>
              <a:t>论</a:t>
            </a:r>
            <a:endParaRPr sz="260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9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完全函数依赖：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CD→E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BC→D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D→BC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</a:t>
            </a:r>
            <a:endParaRPr sz="2000">
              <a:latin typeface="Times New Roman"/>
              <a:cs typeface="Times New Roman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部分函数依赖：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ABC→D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09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BC→D</a:t>
            </a:r>
            <a:r>
              <a:rPr sz="2000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155700" lvl="1" indent="-229235">
              <a:lnSpc>
                <a:spcPct val="100000"/>
              </a:lnSpc>
              <a:spcBef>
                <a:spcPts val="28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传递函数依赖：</a:t>
            </a:r>
            <a:endParaRPr sz="24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5"/>
              </a:spcBef>
              <a:buChar char="–"/>
              <a:tabLst>
                <a:tab pos="1612900" algn="l"/>
              </a:tabLst>
            </a:pPr>
            <a:r>
              <a:rPr sz="2000" dirty="0">
                <a:latin typeface="Times New Roman"/>
                <a:cs typeface="Times New Roman"/>
              </a:rPr>
              <a:t>E→D</a:t>
            </a:r>
            <a:r>
              <a:rPr sz="2000" dirty="0">
                <a:latin typeface="宋体"/>
                <a:cs typeface="宋体"/>
              </a:rPr>
              <a:t>（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E→BC 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dirty="0">
                <a:latin typeface="Times New Roman"/>
                <a:cs typeface="Times New Roman"/>
              </a:rPr>
              <a:t>BC→D 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  <a:p>
            <a:pPr marL="1612900" lvl="2" indent="-229235">
              <a:lnSpc>
                <a:spcPct val="100000"/>
              </a:lnSpc>
              <a:spcBef>
                <a:spcPts val="240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CD→BC</a:t>
            </a:r>
            <a:r>
              <a:rPr sz="2000" spc="-5" dirty="0">
                <a:latin typeface="宋体"/>
                <a:cs typeface="宋体"/>
              </a:rPr>
              <a:t>（</a:t>
            </a:r>
            <a:r>
              <a:rPr sz="2000" spc="-515" dirty="0">
                <a:latin typeface="宋体"/>
                <a:cs typeface="宋体"/>
              </a:rPr>
              <a:t> </a:t>
            </a:r>
            <a:r>
              <a:rPr sz="2000" dirty="0">
                <a:latin typeface="Times New Roman"/>
                <a:cs typeface="Times New Roman"/>
              </a:rPr>
              <a:t>CD→E 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E→BC </a:t>
            </a:r>
            <a:r>
              <a:rPr sz="2000" spc="5" dirty="0">
                <a:latin typeface="宋体"/>
                <a:cs typeface="宋体"/>
              </a:rPr>
              <a:t>）</a:t>
            </a:r>
            <a:endParaRPr sz="20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616A9EE4-45D1-B767-46DF-2125DEE6109B}"/>
                  </a:ext>
                </a:extLst>
              </p14:cNvPr>
              <p14:cNvContentPartPr/>
              <p14:nvPr/>
            </p14:nvContentPartPr>
            <p14:xfrm>
              <a:off x="1955964" y="4819889"/>
              <a:ext cx="736200" cy="13140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616A9EE4-45D1-B767-46DF-2125DEE6109B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902324" y="4711889"/>
                <a:ext cx="843840" cy="3470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77662B2-C9A5-E222-970B-489F8DA438EF}"/>
                  </a:ext>
                </a:extLst>
              </p14:cNvPr>
              <p14:cNvContentPartPr/>
              <p14:nvPr/>
            </p14:nvContentPartPr>
            <p14:xfrm>
              <a:off x="2211204" y="5018969"/>
              <a:ext cx="2482560" cy="2512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77662B2-C9A5-E222-970B-489F8DA438EF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157564" y="4910969"/>
                <a:ext cx="2590200" cy="466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F4E67016-AECA-76A1-9B1B-7A159B25B7E3}"/>
                  </a:ext>
                </a:extLst>
              </p14:cNvPr>
              <p14:cNvContentPartPr/>
              <p14:nvPr/>
            </p14:nvContentPartPr>
            <p14:xfrm>
              <a:off x="1991604" y="5513609"/>
              <a:ext cx="506520" cy="381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F4E67016-AECA-76A1-9B1B-7A159B25B7E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937604" y="5405969"/>
                <a:ext cx="614160" cy="253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7A5DEF90-61FC-03D2-8650-D337933DB67F}"/>
                  </a:ext>
                </a:extLst>
              </p14:cNvPr>
              <p14:cNvContentPartPr/>
              <p14:nvPr/>
            </p14:nvContentPartPr>
            <p14:xfrm>
              <a:off x="1927884" y="5565809"/>
              <a:ext cx="606240" cy="1879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7A5DEF90-61FC-03D2-8650-D337933DB67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1874244" y="5457809"/>
                <a:ext cx="713880" cy="4035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750" cy="4084954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二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1.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F={XY→Z}</a:t>
            </a:r>
            <a:endParaRPr sz="2400">
              <a:latin typeface="Tahoma"/>
              <a:cs typeface="Tahoma"/>
            </a:endParaRPr>
          </a:p>
          <a:p>
            <a:pPr marL="1612265" marR="47625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dirty="0">
                <a:latin typeface="宋体"/>
                <a:cs typeface="宋体"/>
              </a:rPr>
              <a:t>，只有一个函数依赖且左部包含 了候选码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2.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F={Y→Z,XZ→Y}</a:t>
            </a:r>
            <a:endParaRPr sz="2400">
              <a:latin typeface="Tahoma"/>
              <a:cs typeface="Tahoma"/>
            </a:endParaRPr>
          </a:p>
          <a:p>
            <a:pPr marL="1612265" marR="508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3N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XY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spc="-5" dirty="0">
                <a:latin typeface="Times New Roman"/>
                <a:cs typeface="Times New Roman"/>
              </a:rPr>
              <a:t>XZ</a:t>
            </a:r>
            <a:r>
              <a:rPr sz="2000" dirty="0">
                <a:latin typeface="宋体"/>
                <a:cs typeface="宋体"/>
              </a:rPr>
              <a:t>，</a:t>
            </a:r>
            <a:r>
              <a:rPr sz="2000" spc="-5" dirty="0">
                <a:latin typeface="Times New Roman"/>
                <a:cs typeface="Times New Roman"/>
              </a:rPr>
              <a:t>R</a:t>
            </a:r>
            <a:r>
              <a:rPr sz="2000" dirty="0">
                <a:latin typeface="宋体"/>
                <a:cs typeface="宋体"/>
              </a:rPr>
              <a:t>中所有属性都是主属性， 不存在非主属性对候选码的传递依赖，但函数依</a:t>
            </a:r>
            <a:r>
              <a:rPr sz="2000" spc="5" dirty="0">
                <a:latin typeface="宋体"/>
                <a:cs typeface="宋体"/>
              </a:rPr>
              <a:t>赖 </a:t>
            </a:r>
            <a:r>
              <a:rPr sz="2000" spc="-5" dirty="0">
                <a:latin typeface="Times New Roman"/>
                <a:cs typeface="Times New Roman"/>
              </a:rPr>
              <a:t>Y→Z</a:t>
            </a:r>
            <a:r>
              <a:rPr sz="2000" dirty="0">
                <a:latin typeface="宋体"/>
                <a:cs typeface="宋体"/>
              </a:rPr>
              <a:t>的左部不包含码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2D414DE-8F13-AE32-BF5F-A5E2C38F5BA3}"/>
                  </a:ext>
                </a:extLst>
              </p14:cNvPr>
              <p14:cNvContentPartPr/>
              <p14:nvPr/>
            </p14:nvContentPartPr>
            <p14:xfrm>
              <a:off x="2409924" y="4075409"/>
              <a:ext cx="282240" cy="8604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2D414DE-8F13-AE32-BF5F-A5E2C38F5BA3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355924" y="3967769"/>
                <a:ext cx="389880" cy="3016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A47E7A4B-261C-86F7-D338-53E75CB09115}"/>
                  </a:ext>
                </a:extLst>
              </p14:cNvPr>
              <p14:cNvContentPartPr/>
              <p14:nvPr/>
            </p14:nvContentPartPr>
            <p14:xfrm>
              <a:off x="2570844" y="4063529"/>
              <a:ext cx="614880" cy="35892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A47E7A4B-261C-86F7-D338-53E75CB09115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16844" y="3955529"/>
                <a:ext cx="722520" cy="574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E6FDD112-6A30-41CE-2826-3AF69064E0A4}"/>
                  </a:ext>
                </a:extLst>
              </p14:cNvPr>
              <p14:cNvContentPartPr/>
              <p14:nvPr/>
            </p14:nvContentPartPr>
            <p14:xfrm>
              <a:off x="3019404" y="4018889"/>
              <a:ext cx="1735920" cy="20016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E6FDD112-6A30-41CE-2826-3AF69064E0A4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965764" y="3911249"/>
                <a:ext cx="1843560" cy="415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45C2DBDB-A210-2822-D405-895DA122E42E}"/>
                  </a:ext>
                </a:extLst>
              </p14:cNvPr>
              <p14:cNvContentPartPr/>
              <p14:nvPr/>
            </p14:nvContentPartPr>
            <p14:xfrm>
              <a:off x="4777284" y="3863009"/>
              <a:ext cx="2296800" cy="31212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45C2DBDB-A210-2822-D405-895DA122E42E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723284" y="3755369"/>
                <a:ext cx="2404440" cy="527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BC5A7266-083E-90BD-594C-A2B70F173109}"/>
                  </a:ext>
                </a:extLst>
              </p14:cNvPr>
              <p14:cNvContentPartPr/>
              <p14:nvPr/>
            </p14:nvContentPartPr>
            <p14:xfrm>
              <a:off x="5188404" y="3987209"/>
              <a:ext cx="3476520" cy="3520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BC5A7266-083E-90BD-594C-A2B70F173109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5134404" y="3879569"/>
                <a:ext cx="3584160" cy="56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A1BD4709-3BA1-AC31-6C78-D340DCB3167B}"/>
                  </a:ext>
                </a:extLst>
              </p14:cNvPr>
              <p14:cNvContentPartPr/>
              <p14:nvPr/>
            </p14:nvContentPartPr>
            <p14:xfrm>
              <a:off x="2411004" y="4142009"/>
              <a:ext cx="1750680" cy="3949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A1BD4709-3BA1-AC31-6C78-D340DCB3167B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2357004" y="4034009"/>
                <a:ext cx="1858320" cy="6105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097EED63-867C-F56C-A955-90B2CF43E90B}"/>
                  </a:ext>
                </a:extLst>
              </p14:cNvPr>
              <p14:cNvContentPartPr/>
              <p14:nvPr/>
            </p14:nvContentPartPr>
            <p14:xfrm>
              <a:off x="3249444" y="4335689"/>
              <a:ext cx="1572120" cy="21528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097EED63-867C-F56C-A955-90B2CF43E90B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3195804" y="4228049"/>
                <a:ext cx="1679760" cy="4309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B67153F9-3023-F9B8-A007-31257464526C}"/>
                  </a:ext>
                </a:extLst>
              </p14:cNvPr>
              <p14:cNvContentPartPr/>
              <p14:nvPr/>
            </p14:nvContentPartPr>
            <p14:xfrm>
              <a:off x="3735084" y="4248569"/>
              <a:ext cx="1629720" cy="16056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B67153F9-3023-F9B8-A007-31257464526C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681444" y="4140569"/>
                <a:ext cx="1737360" cy="37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20DF398F-6C3D-ADA7-3426-7B602E639F13}"/>
                  </a:ext>
                </a:extLst>
              </p14:cNvPr>
              <p14:cNvContentPartPr/>
              <p14:nvPr/>
            </p14:nvContentPartPr>
            <p14:xfrm>
              <a:off x="2374644" y="5097089"/>
              <a:ext cx="464040" cy="8100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20DF398F-6C3D-ADA7-3426-7B602E639F1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2320644" y="4989449"/>
                <a:ext cx="571680" cy="296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A8450619-B7E7-3304-4383-D231615FFE91}"/>
                  </a:ext>
                </a:extLst>
              </p14:cNvPr>
              <p14:cNvContentPartPr/>
              <p14:nvPr/>
            </p14:nvContentPartPr>
            <p14:xfrm>
              <a:off x="2473644" y="5195729"/>
              <a:ext cx="441000" cy="6120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A8450619-B7E7-3304-4383-D231615FFE91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2420004" y="5087729"/>
                <a:ext cx="548640" cy="276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D586A37B-FA54-A8BE-EEB0-69D606C47956}"/>
                  </a:ext>
                </a:extLst>
              </p14:cNvPr>
              <p14:cNvContentPartPr/>
              <p14:nvPr/>
            </p14:nvContentPartPr>
            <p14:xfrm>
              <a:off x="2402724" y="5824289"/>
              <a:ext cx="617040" cy="8280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D586A37B-FA54-A8BE-EEB0-69D606C4795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2348724" y="5716649"/>
                <a:ext cx="724680" cy="298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D176CF50-A37A-500F-7214-FF5C512B5515}"/>
                  </a:ext>
                </a:extLst>
              </p14:cNvPr>
              <p14:cNvContentPartPr/>
              <p14:nvPr/>
            </p14:nvContentPartPr>
            <p14:xfrm>
              <a:off x="2648244" y="5776769"/>
              <a:ext cx="2106000" cy="1558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D176CF50-A37A-500F-7214-FF5C512B5515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2594244" y="5668769"/>
                <a:ext cx="2213640" cy="3715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53325" cy="3781425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练习二（续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3.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F={Y→Z,Y→X,X→YZ}</a:t>
            </a:r>
            <a:endParaRPr sz="2400">
              <a:latin typeface="Tahoma"/>
              <a:cs typeface="Tahoma"/>
            </a:endParaRPr>
          </a:p>
          <a:p>
            <a:pPr marL="1612265" marR="7620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宋体"/>
                <a:cs typeface="宋体"/>
              </a:rPr>
              <a:t>和</a:t>
            </a:r>
            <a:r>
              <a:rPr sz="2000" spc="-5" dirty="0">
                <a:latin typeface="Times New Roman"/>
                <a:cs typeface="Times New Roman"/>
              </a:rPr>
              <a:t>Y</a:t>
            </a:r>
            <a:r>
              <a:rPr sz="2000" dirty="0">
                <a:latin typeface="宋体"/>
                <a:cs typeface="宋体"/>
              </a:rPr>
              <a:t>，不存在非主属性对候选码的 传递依赖，函数依赖左部均是码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Char char="•"/>
              <a:tabLst>
                <a:tab pos="1155700" algn="l"/>
                <a:tab pos="2829560" algn="l"/>
              </a:tabLst>
            </a:pPr>
            <a:r>
              <a:rPr sz="2400" spc="-5" dirty="0">
                <a:latin typeface="Tahoma"/>
                <a:cs typeface="Tahoma"/>
              </a:rPr>
              <a:t>4.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R(X,Y,Z)	F={X→Y,X→Z}</a:t>
            </a:r>
            <a:endParaRPr sz="2400">
              <a:latin typeface="Tahoma"/>
              <a:cs typeface="Tahoma"/>
            </a:endParaRPr>
          </a:p>
          <a:p>
            <a:pPr marL="1612265" marR="5080" lvl="3" indent="-228600">
              <a:lnSpc>
                <a:spcPct val="100000"/>
              </a:lnSpc>
              <a:spcBef>
                <a:spcPts val="365"/>
              </a:spcBef>
              <a:buChar char="–"/>
              <a:tabLst>
                <a:tab pos="1612900" algn="l"/>
              </a:tabLst>
            </a:pPr>
            <a:r>
              <a:rPr sz="2000" spc="-5" dirty="0">
                <a:latin typeface="Times New Roman"/>
                <a:cs typeface="Times New Roman"/>
              </a:rPr>
              <a:t>BCN</a:t>
            </a:r>
            <a:r>
              <a:rPr sz="2000" spc="-10" dirty="0">
                <a:latin typeface="Times New Roman"/>
                <a:cs typeface="Times New Roman"/>
              </a:rPr>
              <a:t>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X</a:t>
            </a:r>
            <a:r>
              <a:rPr sz="2000" dirty="0">
                <a:latin typeface="宋体"/>
                <a:cs typeface="宋体"/>
              </a:rPr>
              <a:t>，不存在非主属性对候选码的传递 依赖，函数依赖左部均是码</a:t>
            </a:r>
            <a:r>
              <a:rPr sz="2000" spc="5" dirty="0">
                <a:latin typeface="宋体"/>
                <a:cs typeface="宋体"/>
              </a:rPr>
              <a:t>。</a:t>
            </a:r>
            <a:endParaRPr sz="20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0A54E8BB-7512-7C74-A960-317B39264BEF}"/>
                  </a:ext>
                </a:extLst>
              </p14:cNvPr>
              <p14:cNvContentPartPr/>
              <p14:nvPr/>
            </p14:nvContentPartPr>
            <p14:xfrm>
              <a:off x="2972244" y="3946889"/>
              <a:ext cx="1999800" cy="4060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0A54E8BB-7512-7C74-A960-317B39264BEF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918244" y="3839249"/>
                <a:ext cx="210744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DCC746DA-1A8B-7D56-E2A4-3C547EF6D0D0}"/>
                  </a:ext>
                </a:extLst>
              </p14:cNvPr>
              <p14:cNvContentPartPr/>
              <p14:nvPr/>
            </p14:nvContentPartPr>
            <p14:xfrm>
              <a:off x="2537724" y="5386889"/>
              <a:ext cx="360" cy="36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DCC746DA-1A8B-7D56-E2A4-3C547EF6D0D0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483724" y="5278889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91B5BB8-F081-A881-682C-2C54E886E06B}"/>
                  </a:ext>
                </a:extLst>
              </p14:cNvPr>
              <p14:cNvContentPartPr/>
              <p14:nvPr/>
            </p14:nvContentPartPr>
            <p14:xfrm>
              <a:off x="2303364" y="5144969"/>
              <a:ext cx="842040" cy="2988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91B5BB8-F081-A881-682C-2C54E886E06B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2249364" y="5036969"/>
                <a:ext cx="949680" cy="245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689C3D9-8EA8-7895-211C-80D64950028F}"/>
                  </a:ext>
                </a:extLst>
              </p14:cNvPr>
              <p14:cNvContentPartPr/>
              <p14:nvPr/>
            </p14:nvContentPartPr>
            <p14:xfrm>
              <a:off x="2445204" y="4011689"/>
              <a:ext cx="1141560" cy="561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689C3D9-8EA8-7895-211C-80D64950028F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2391564" y="3904049"/>
                <a:ext cx="1249200" cy="271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542EEFE4-3EEB-C8D2-D163-A089431BF324}"/>
                  </a:ext>
                </a:extLst>
              </p14:cNvPr>
              <p14:cNvContentPartPr/>
              <p14:nvPr/>
            </p14:nvContentPartPr>
            <p14:xfrm>
              <a:off x="4663884" y="4364129"/>
              <a:ext cx="1774080" cy="7344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542EEFE4-3EEB-C8D2-D163-A089431BF324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4610244" y="4256129"/>
                <a:ext cx="1881720" cy="2890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7B172AE9-1A90-28A6-9AE4-1D4CC1C57259}"/>
                  </a:ext>
                </a:extLst>
              </p14:cNvPr>
              <p14:cNvContentPartPr/>
              <p14:nvPr/>
            </p14:nvContentPartPr>
            <p14:xfrm>
              <a:off x="5089044" y="4034369"/>
              <a:ext cx="3153240" cy="1771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7B172AE9-1A90-28A6-9AE4-1D4CC1C57259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5035404" y="3926369"/>
                <a:ext cx="3260880" cy="3927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A8F73CDF-B428-9102-4AE1-D00B3BEAD05F}"/>
                  </a:ext>
                </a:extLst>
              </p14:cNvPr>
              <p14:cNvContentPartPr/>
              <p14:nvPr/>
            </p14:nvContentPartPr>
            <p14:xfrm>
              <a:off x="1895844" y="4126889"/>
              <a:ext cx="1820520" cy="37872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A8F73CDF-B428-9102-4AE1-D00B3BEAD05F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1842204" y="4018889"/>
                <a:ext cx="1928160" cy="5943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62CCDEC9-8CFD-D79E-C5DD-072462EE7023}"/>
                  </a:ext>
                </a:extLst>
              </p14:cNvPr>
              <p14:cNvContentPartPr/>
              <p14:nvPr/>
            </p14:nvContentPartPr>
            <p14:xfrm>
              <a:off x="3473004" y="5180609"/>
              <a:ext cx="1371240" cy="3564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62CCDEC9-8CFD-D79E-C5DD-072462EE7023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3419364" y="5072969"/>
                <a:ext cx="1478880" cy="25128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D671E979-CB01-FC81-9AB5-BC153EA381FB}"/>
                  </a:ext>
                </a:extLst>
              </p14:cNvPr>
              <p14:cNvContentPartPr/>
              <p14:nvPr/>
            </p14:nvContentPartPr>
            <p14:xfrm>
              <a:off x="3196524" y="5259449"/>
              <a:ext cx="1288080" cy="669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D671E979-CB01-FC81-9AB5-BC153EA381FB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3142884" y="5151809"/>
                <a:ext cx="1395720" cy="2826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0">
            <p14:nvContentPartPr>
              <p14:cNvPr id="13" name="墨迹 12">
                <a:extLst>
                  <a:ext uri="{FF2B5EF4-FFF2-40B4-BE49-F238E27FC236}">
                    <a16:creationId xmlns:a16="http://schemas.microsoft.com/office/drawing/2014/main" id="{28515EEB-0383-2F96-7550-1F0F8EE55D46}"/>
                  </a:ext>
                </a:extLst>
              </p14:cNvPr>
              <p14:cNvContentPartPr/>
              <p14:nvPr/>
            </p14:nvContentPartPr>
            <p14:xfrm>
              <a:off x="4110924" y="5394089"/>
              <a:ext cx="1417680" cy="79200"/>
            </p14:xfrm>
          </p:contentPart>
        </mc:Choice>
        <mc:Fallback>
          <p:pic>
            <p:nvPicPr>
              <p:cNvPr id="13" name="墨迹 12">
                <a:extLst>
                  <a:ext uri="{FF2B5EF4-FFF2-40B4-BE49-F238E27FC236}">
                    <a16:creationId xmlns:a16="http://schemas.microsoft.com/office/drawing/2014/main" id="{28515EEB-0383-2F96-7550-1F0F8EE55D46}"/>
                  </a:ext>
                </a:extLst>
              </p:cNvPr>
              <p:cNvPicPr/>
              <p:nvPr/>
            </p:nvPicPr>
            <p:blipFill>
              <a:blip r:embed="rId21"/>
              <a:stretch>
                <a:fillRect/>
              </a:stretch>
            </p:blipFill>
            <p:spPr>
              <a:xfrm>
                <a:off x="4057284" y="5286449"/>
                <a:ext cx="1525320" cy="2948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2">
            <p14:nvContentPartPr>
              <p14:cNvPr id="14" name="墨迹 13">
                <a:extLst>
                  <a:ext uri="{FF2B5EF4-FFF2-40B4-BE49-F238E27FC236}">
                    <a16:creationId xmlns:a16="http://schemas.microsoft.com/office/drawing/2014/main" id="{A9F93048-9CA6-DC84-6E41-3F2F7EA19576}"/>
                  </a:ext>
                </a:extLst>
              </p14:cNvPr>
              <p14:cNvContentPartPr/>
              <p14:nvPr/>
            </p14:nvContentPartPr>
            <p14:xfrm>
              <a:off x="4657044" y="5153609"/>
              <a:ext cx="4525560" cy="164160"/>
            </p14:xfrm>
          </p:contentPart>
        </mc:Choice>
        <mc:Fallback>
          <p:pic>
            <p:nvPicPr>
              <p:cNvPr id="14" name="墨迹 13">
                <a:extLst>
                  <a:ext uri="{FF2B5EF4-FFF2-40B4-BE49-F238E27FC236}">
                    <a16:creationId xmlns:a16="http://schemas.microsoft.com/office/drawing/2014/main" id="{A9F93048-9CA6-DC84-6E41-3F2F7EA19576}"/>
                  </a:ext>
                </a:extLst>
              </p:cNvPr>
              <p:cNvPicPr/>
              <p:nvPr/>
            </p:nvPicPr>
            <p:blipFill>
              <a:blip r:embed="rId23"/>
              <a:stretch>
                <a:fillRect/>
              </a:stretch>
            </p:blipFill>
            <p:spPr>
              <a:xfrm>
                <a:off x="4603404" y="5045969"/>
                <a:ext cx="4633200" cy="3798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4">
            <p14:nvContentPartPr>
              <p14:cNvPr id="15" name="墨迹 14">
                <a:extLst>
                  <a:ext uri="{FF2B5EF4-FFF2-40B4-BE49-F238E27FC236}">
                    <a16:creationId xmlns:a16="http://schemas.microsoft.com/office/drawing/2014/main" id="{AEAE5E06-8D8D-6826-4775-BD7C3AC948E1}"/>
                  </a:ext>
                </a:extLst>
              </p14:cNvPr>
              <p14:cNvContentPartPr/>
              <p14:nvPr/>
            </p14:nvContentPartPr>
            <p14:xfrm>
              <a:off x="1669044" y="5327489"/>
              <a:ext cx="4139280" cy="406080"/>
            </p14:xfrm>
          </p:contentPart>
        </mc:Choice>
        <mc:Fallback>
          <p:pic>
            <p:nvPicPr>
              <p:cNvPr id="15" name="墨迹 14">
                <a:extLst>
                  <a:ext uri="{FF2B5EF4-FFF2-40B4-BE49-F238E27FC236}">
                    <a16:creationId xmlns:a16="http://schemas.microsoft.com/office/drawing/2014/main" id="{AEAE5E06-8D8D-6826-4775-BD7C3AC948E1}"/>
                  </a:ext>
                </a:extLst>
              </p:cNvPr>
              <p:cNvPicPr/>
              <p:nvPr/>
            </p:nvPicPr>
            <p:blipFill>
              <a:blip r:embed="rId25"/>
              <a:stretch>
                <a:fillRect/>
              </a:stretch>
            </p:blipFill>
            <p:spPr>
              <a:xfrm>
                <a:off x="1615044" y="5219489"/>
                <a:ext cx="4246920" cy="621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26">
            <p14:nvContentPartPr>
              <p14:cNvPr id="16" name="墨迹 15">
                <a:extLst>
                  <a:ext uri="{FF2B5EF4-FFF2-40B4-BE49-F238E27FC236}">
                    <a16:creationId xmlns:a16="http://schemas.microsoft.com/office/drawing/2014/main" id="{9EDB8F24-B900-14F3-BD8E-3106BC36FE3B}"/>
                  </a:ext>
                </a:extLst>
              </p14:cNvPr>
              <p14:cNvContentPartPr/>
              <p14:nvPr/>
            </p14:nvContentPartPr>
            <p14:xfrm>
              <a:off x="4032084" y="5351609"/>
              <a:ext cx="1929240" cy="22680"/>
            </p14:xfrm>
          </p:contentPart>
        </mc:Choice>
        <mc:Fallback>
          <p:pic>
            <p:nvPicPr>
              <p:cNvPr id="16" name="墨迹 15">
                <a:extLst>
                  <a:ext uri="{FF2B5EF4-FFF2-40B4-BE49-F238E27FC236}">
                    <a16:creationId xmlns:a16="http://schemas.microsoft.com/office/drawing/2014/main" id="{9EDB8F24-B900-14F3-BD8E-3106BC36FE3B}"/>
                  </a:ext>
                </a:extLst>
              </p:cNvPr>
              <p:cNvPicPr/>
              <p:nvPr/>
            </p:nvPicPr>
            <p:blipFill>
              <a:blip r:embed="rId27"/>
              <a:stretch>
                <a:fillRect/>
              </a:stretch>
            </p:blipFill>
            <p:spPr>
              <a:xfrm>
                <a:off x="3978444" y="5243609"/>
                <a:ext cx="2036880" cy="238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89657"/>
            <a:ext cx="7524115" cy="3044423"/>
          </a:xfrm>
          <a:prstGeom prst="rect">
            <a:avLst/>
          </a:prstGeom>
        </p:spPr>
        <p:txBody>
          <a:bodyPr vert="horz" wrap="square" lIns="0" tIns="11430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90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练习二（续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 dirty="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69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指出下面关系模式是第几范式？并说明理</a:t>
            </a:r>
            <a:r>
              <a:rPr sz="2800" spc="-5" dirty="0">
                <a:latin typeface="宋体"/>
                <a:cs typeface="宋体"/>
              </a:rPr>
              <a:t>由</a:t>
            </a:r>
            <a:endParaRPr sz="2800" dirty="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Char char="•"/>
              <a:tabLst>
                <a:tab pos="1155700" algn="l"/>
                <a:tab pos="3196590" algn="l"/>
              </a:tabLst>
            </a:pPr>
            <a:r>
              <a:rPr sz="2400" spc="-5" dirty="0">
                <a:latin typeface="Tahoma"/>
                <a:cs typeface="Tahoma"/>
              </a:rPr>
              <a:t>5.</a:t>
            </a:r>
            <a:r>
              <a:rPr sz="2400" spc="5" dirty="0">
                <a:latin typeface="Tahoma"/>
                <a:cs typeface="Tahoma"/>
              </a:rPr>
              <a:t> </a:t>
            </a:r>
            <a:r>
              <a:rPr sz="2400" spc="-5" dirty="0">
                <a:latin typeface="Tahoma"/>
                <a:cs typeface="Tahoma"/>
              </a:rPr>
              <a:t>R(W,X,Y,Z)	F={X→Z,WX→Y}</a:t>
            </a:r>
            <a:endParaRPr sz="2400" dirty="0">
              <a:latin typeface="Tahoma"/>
              <a:cs typeface="Tahoma"/>
            </a:endParaRPr>
          </a:p>
          <a:p>
            <a:pPr marL="1383665">
              <a:lnSpc>
                <a:spcPct val="100000"/>
              </a:lnSpc>
              <a:spcBef>
                <a:spcPts val="365"/>
              </a:spcBef>
            </a:pPr>
            <a:r>
              <a:rPr sz="2000" dirty="0">
                <a:latin typeface="Times New Roman"/>
                <a:cs typeface="Times New Roman"/>
              </a:rPr>
              <a:t>–</a:t>
            </a:r>
            <a:r>
              <a:rPr sz="2000" spc="2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Times New Roman"/>
                <a:cs typeface="Times New Roman"/>
              </a:rPr>
              <a:t>1NF</a:t>
            </a:r>
            <a:r>
              <a:rPr sz="2000" dirty="0">
                <a:latin typeface="宋体"/>
                <a:cs typeface="宋体"/>
              </a:rPr>
              <a:t>。候选码为</a:t>
            </a:r>
            <a:r>
              <a:rPr sz="2000" spc="-5" dirty="0">
                <a:latin typeface="Times New Roman"/>
                <a:cs typeface="Times New Roman"/>
              </a:rPr>
              <a:t>WX</a:t>
            </a:r>
            <a:r>
              <a:rPr sz="2000" spc="-5" dirty="0">
                <a:latin typeface="宋体"/>
                <a:cs typeface="宋体"/>
              </a:rPr>
              <a:t>，</a:t>
            </a:r>
            <a:r>
              <a:rPr sz="2000" dirty="0">
                <a:latin typeface="宋体"/>
                <a:cs typeface="宋体"/>
              </a:rPr>
              <a:t>非主属性</a:t>
            </a:r>
            <a:r>
              <a:rPr sz="2000" spc="-5" dirty="0">
                <a:latin typeface="Times New Roman"/>
                <a:cs typeface="Times New Roman"/>
              </a:rPr>
              <a:t>Z</a:t>
            </a:r>
            <a:r>
              <a:rPr sz="2000" dirty="0">
                <a:latin typeface="宋体"/>
                <a:cs typeface="宋体"/>
              </a:rPr>
              <a:t>对候选码为传递</a:t>
            </a:r>
            <a:r>
              <a:rPr lang="zh-CN" altLang="en-US" sz="2000" dirty="0">
                <a:latin typeface="宋体"/>
                <a:cs typeface="宋体"/>
              </a:rPr>
              <a:t>依</a:t>
            </a:r>
            <a:r>
              <a:rPr lang="zh-CN" altLang="en-US" sz="2000" spc="5" dirty="0">
                <a:latin typeface="宋体"/>
                <a:cs typeface="宋体"/>
              </a:rPr>
              <a:t>赖。</a:t>
            </a:r>
            <a:endParaRPr lang="en-US" altLang="zh-CN" sz="2000" spc="5" dirty="0">
              <a:latin typeface="宋体"/>
              <a:cs typeface="宋体"/>
            </a:endParaRPr>
          </a:p>
          <a:p>
            <a:pPr marL="1383665">
              <a:lnSpc>
                <a:spcPct val="100000"/>
              </a:lnSpc>
              <a:spcBef>
                <a:spcPts val="365"/>
              </a:spcBef>
            </a:pPr>
            <a:r>
              <a:rPr lang="zh-CN" altLang="en-US" sz="2000" spc="5" dirty="0">
                <a:latin typeface="宋体"/>
                <a:cs typeface="宋体"/>
              </a:rPr>
              <a:t>非主属性</a:t>
            </a:r>
            <a:r>
              <a:rPr lang="en-US" altLang="zh-CN" sz="2000" spc="5" dirty="0">
                <a:latin typeface="宋体"/>
                <a:cs typeface="宋体"/>
              </a:rPr>
              <a:t>Y Z</a:t>
            </a:r>
            <a:r>
              <a:rPr lang="zh-CN" altLang="en-US" sz="2000" spc="5" dirty="0">
                <a:latin typeface="宋体"/>
                <a:cs typeface="宋体"/>
              </a:rPr>
              <a:t>，</a:t>
            </a:r>
            <a:r>
              <a:rPr lang="en-US" altLang="zh-CN" sz="2000" spc="5" dirty="0">
                <a:latin typeface="宋体"/>
                <a:cs typeface="宋体"/>
              </a:rPr>
              <a:t>Z</a:t>
            </a:r>
            <a:r>
              <a:rPr lang="zh-CN" altLang="en-US" sz="2000" spc="5" dirty="0">
                <a:latin typeface="宋体"/>
                <a:cs typeface="宋体"/>
              </a:rPr>
              <a:t>对</a:t>
            </a:r>
            <a:r>
              <a:rPr lang="en-US" altLang="zh-CN" sz="2000" spc="5" dirty="0">
                <a:latin typeface="宋体"/>
                <a:cs typeface="宋体"/>
              </a:rPr>
              <a:t>WX</a:t>
            </a:r>
            <a:r>
              <a:rPr lang="zh-CN" altLang="en-US" sz="2000" spc="5" dirty="0">
                <a:latin typeface="宋体"/>
                <a:cs typeface="宋体"/>
              </a:rPr>
              <a:t>有部分依赖</a:t>
            </a:r>
            <a:br>
              <a:rPr lang="en-US" altLang="zh-CN" sz="2000" spc="5" dirty="0">
                <a:latin typeface="宋体"/>
                <a:cs typeface="宋体"/>
              </a:rPr>
            </a:br>
            <a:endParaRPr lang="zh-CN" altLang="en-US" sz="20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3B244D29-6B2A-D352-58E5-80EF0981F43C}"/>
                  </a:ext>
                </a:extLst>
              </p14:cNvPr>
              <p14:cNvContentPartPr/>
              <p14:nvPr/>
            </p14:nvContentPartPr>
            <p14:xfrm>
              <a:off x="2310564" y="3449729"/>
              <a:ext cx="863280" cy="2505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3B244D29-6B2A-D352-58E5-80EF0981F43C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256924" y="3341729"/>
                <a:ext cx="970920" cy="4662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59BAECF7-2218-B91C-C75E-9FE22E00595B}"/>
                  </a:ext>
                </a:extLst>
              </p14:cNvPr>
              <p14:cNvContentPartPr/>
              <p14:nvPr/>
            </p14:nvContentPartPr>
            <p14:xfrm>
              <a:off x="2445204" y="3623249"/>
              <a:ext cx="1378800" cy="1836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59BAECF7-2218-B91C-C75E-9FE22E00595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391564" y="3515609"/>
                <a:ext cx="1486440" cy="399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1E3E0422-CC8D-6090-CAAE-C09D746D7A63}"/>
                  </a:ext>
                </a:extLst>
              </p14:cNvPr>
              <p14:cNvContentPartPr/>
              <p14:nvPr/>
            </p14:nvContentPartPr>
            <p14:xfrm>
              <a:off x="4479924" y="3640889"/>
              <a:ext cx="1860480" cy="1170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1E3E0422-CC8D-6090-CAAE-C09D746D7A63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4425924" y="3532889"/>
                <a:ext cx="1968120" cy="3326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25976826-7B16-291B-37A7-9A18B710F17C}"/>
                  </a:ext>
                </a:extLst>
              </p14:cNvPr>
              <p14:cNvContentPartPr/>
              <p14:nvPr/>
            </p14:nvContentPartPr>
            <p14:xfrm>
              <a:off x="4599804" y="3671849"/>
              <a:ext cx="1751760" cy="8208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25976826-7B16-291B-37A7-9A18B710F17C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4545804" y="3563849"/>
                <a:ext cx="1859400" cy="297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0">
            <p14:nvContentPartPr>
              <p14:cNvPr id="8" name="墨迹 7">
                <a:extLst>
                  <a:ext uri="{FF2B5EF4-FFF2-40B4-BE49-F238E27FC236}">
                    <a16:creationId xmlns:a16="http://schemas.microsoft.com/office/drawing/2014/main" id="{3B921FFB-C93C-76BC-6515-A66D4512BE38}"/>
                  </a:ext>
                </a:extLst>
              </p14:cNvPr>
              <p14:cNvContentPartPr/>
              <p14:nvPr/>
            </p14:nvContentPartPr>
            <p14:xfrm>
              <a:off x="2194644" y="3933929"/>
              <a:ext cx="1015560" cy="249480"/>
            </p14:xfrm>
          </p:contentPart>
        </mc:Choice>
        <mc:Fallback>
          <p:pic>
            <p:nvPicPr>
              <p:cNvPr id="8" name="墨迹 7">
                <a:extLst>
                  <a:ext uri="{FF2B5EF4-FFF2-40B4-BE49-F238E27FC236}">
                    <a16:creationId xmlns:a16="http://schemas.microsoft.com/office/drawing/2014/main" id="{3B921FFB-C93C-76BC-6515-A66D4512BE38}"/>
                  </a:ext>
                </a:extLst>
              </p:cNvPr>
              <p:cNvPicPr/>
              <p:nvPr/>
            </p:nvPicPr>
            <p:blipFill>
              <a:blip r:embed="rId11"/>
              <a:stretch>
                <a:fillRect/>
              </a:stretch>
            </p:blipFill>
            <p:spPr>
              <a:xfrm>
                <a:off x="2140644" y="3826289"/>
                <a:ext cx="1123200" cy="465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2">
            <p14:nvContentPartPr>
              <p14:cNvPr id="9" name="墨迹 8">
                <a:extLst>
                  <a:ext uri="{FF2B5EF4-FFF2-40B4-BE49-F238E27FC236}">
                    <a16:creationId xmlns:a16="http://schemas.microsoft.com/office/drawing/2014/main" id="{B3C58B02-424A-6107-643C-FEDCD8C795BA}"/>
                  </a:ext>
                </a:extLst>
              </p14:cNvPr>
              <p14:cNvContentPartPr/>
              <p14:nvPr/>
            </p14:nvContentPartPr>
            <p14:xfrm>
              <a:off x="4082844" y="4054169"/>
              <a:ext cx="462240" cy="128520"/>
            </p14:xfrm>
          </p:contentPart>
        </mc:Choice>
        <mc:Fallback>
          <p:pic>
            <p:nvPicPr>
              <p:cNvPr id="9" name="墨迹 8">
                <a:extLst>
                  <a:ext uri="{FF2B5EF4-FFF2-40B4-BE49-F238E27FC236}">
                    <a16:creationId xmlns:a16="http://schemas.microsoft.com/office/drawing/2014/main" id="{B3C58B02-424A-6107-643C-FEDCD8C795BA}"/>
                  </a:ext>
                </a:extLst>
              </p:cNvPr>
              <p:cNvPicPr/>
              <p:nvPr/>
            </p:nvPicPr>
            <p:blipFill>
              <a:blip r:embed="rId13"/>
              <a:stretch>
                <a:fillRect/>
              </a:stretch>
            </p:blipFill>
            <p:spPr>
              <a:xfrm>
                <a:off x="4028844" y="3946169"/>
                <a:ext cx="569880" cy="34416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4">
            <p14:nvContentPartPr>
              <p14:cNvPr id="10" name="墨迹 9">
                <a:extLst>
                  <a:ext uri="{FF2B5EF4-FFF2-40B4-BE49-F238E27FC236}">
                    <a16:creationId xmlns:a16="http://schemas.microsoft.com/office/drawing/2014/main" id="{EB90F228-EED0-93E5-0D1B-58716B06864A}"/>
                  </a:ext>
                </a:extLst>
              </p14:cNvPr>
              <p14:cNvContentPartPr/>
              <p14:nvPr/>
            </p14:nvContentPartPr>
            <p14:xfrm>
              <a:off x="5797884" y="4096649"/>
              <a:ext cx="128160" cy="73800"/>
            </p14:xfrm>
          </p:contentPart>
        </mc:Choice>
        <mc:Fallback>
          <p:pic>
            <p:nvPicPr>
              <p:cNvPr id="10" name="墨迹 9">
                <a:extLst>
                  <a:ext uri="{FF2B5EF4-FFF2-40B4-BE49-F238E27FC236}">
                    <a16:creationId xmlns:a16="http://schemas.microsoft.com/office/drawing/2014/main" id="{EB90F228-EED0-93E5-0D1B-58716B06864A}"/>
                  </a:ext>
                </a:extLst>
              </p:cNvPr>
              <p:cNvPicPr/>
              <p:nvPr/>
            </p:nvPicPr>
            <p:blipFill>
              <a:blip r:embed="rId15"/>
              <a:stretch>
                <a:fillRect/>
              </a:stretch>
            </p:blipFill>
            <p:spPr>
              <a:xfrm>
                <a:off x="5744244" y="3989009"/>
                <a:ext cx="235800" cy="289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6">
            <p14:nvContentPartPr>
              <p14:cNvPr id="11" name="墨迹 10">
                <a:extLst>
                  <a:ext uri="{FF2B5EF4-FFF2-40B4-BE49-F238E27FC236}">
                    <a16:creationId xmlns:a16="http://schemas.microsoft.com/office/drawing/2014/main" id="{805985D0-D073-C379-335D-A8A9174D0F00}"/>
                  </a:ext>
                </a:extLst>
              </p14:cNvPr>
              <p14:cNvContentPartPr/>
              <p14:nvPr/>
            </p14:nvContentPartPr>
            <p14:xfrm>
              <a:off x="4115604" y="3926009"/>
              <a:ext cx="1773000" cy="200880"/>
            </p14:xfrm>
          </p:contentPart>
        </mc:Choice>
        <mc:Fallback>
          <p:pic>
            <p:nvPicPr>
              <p:cNvPr id="11" name="墨迹 10">
                <a:extLst>
                  <a:ext uri="{FF2B5EF4-FFF2-40B4-BE49-F238E27FC236}">
                    <a16:creationId xmlns:a16="http://schemas.microsoft.com/office/drawing/2014/main" id="{805985D0-D073-C379-335D-A8A9174D0F00}"/>
                  </a:ext>
                </a:extLst>
              </p:cNvPr>
              <p:cNvPicPr/>
              <p:nvPr/>
            </p:nvPicPr>
            <p:blipFill>
              <a:blip r:embed="rId17"/>
              <a:stretch>
                <a:fillRect/>
              </a:stretch>
            </p:blipFill>
            <p:spPr>
              <a:xfrm>
                <a:off x="4061604" y="3818009"/>
                <a:ext cx="1880640" cy="416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18">
            <p14:nvContentPartPr>
              <p14:cNvPr id="12" name="墨迹 11">
                <a:extLst>
                  <a:ext uri="{FF2B5EF4-FFF2-40B4-BE49-F238E27FC236}">
                    <a16:creationId xmlns:a16="http://schemas.microsoft.com/office/drawing/2014/main" id="{4B664EE4-E065-5E57-B9CB-95F8595299F3}"/>
                  </a:ext>
                </a:extLst>
              </p14:cNvPr>
              <p14:cNvContentPartPr/>
              <p14:nvPr/>
            </p14:nvContentPartPr>
            <p14:xfrm>
              <a:off x="5755764" y="3927089"/>
              <a:ext cx="152640" cy="39960"/>
            </p14:xfrm>
          </p:contentPart>
        </mc:Choice>
        <mc:Fallback>
          <p:pic>
            <p:nvPicPr>
              <p:cNvPr id="12" name="墨迹 11">
                <a:extLst>
                  <a:ext uri="{FF2B5EF4-FFF2-40B4-BE49-F238E27FC236}">
                    <a16:creationId xmlns:a16="http://schemas.microsoft.com/office/drawing/2014/main" id="{4B664EE4-E065-5E57-B9CB-95F8595299F3}"/>
                  </a:ext>
                </a:extLst>
              </p:cNvPr>
              <p:cNvPicPr/>
              <p:nvPr/>
            </p:nvPicPr>
            <p:blipFill>
              <a:blip r:embed="rId19"/>
              <a:stretch>
                <a:fillRect/>
              </a:stretch>
            </p:blipFill>
            <p:spPr>
              <a:xfrm>
                <a:off x="5702124" y="3819089"/>
                <a:ext cx="260280" cy="2556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76687"/>
            <a:ext cx="7524115" cy="4467225"/>
          </a:xfrm>
          <a:prstGeom prst="rect">
            <a:avLst/>
          </a:prstGeom>
        </p:spPr>
        <p:txBody>
          <a:bodyPr vert="horz" wrap="square" lIns="0" tIns="86360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68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三</a:t>
            </a:r>
            <a:endParaRPr sz="3200" dirty="0">
              <a:latin typeface="宋体"/>
              <a:cs typeface="宋体"/>
            </a:endParaRPr>
          </a:p>
          <a:p>
            <a:pPr marL="755650" marR="58419" lvl="1" indent="-285750">
              <a:lnSpc>
                <a:spcPts val="3020"/>
              </a:lnSpc>
              <a:spcBef>
                <a:spcPts val="88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P}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C→P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E→A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CE→D}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10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求所有的候选码。</a:t>
            </a:r>
          </a:p>
          <a:p>
            <a:pPr marL="414655" indent="-402590">
              <a:lnSpc>
                <a:spcPct val="100000"/>
              </a:lnSpc>
              <a:spcBef>
                <a:spcPts val="35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解</a:t>
            </a:r>
            <a:r>
              <a:rPr sz="3200" spc="5" dirty="0">
                <a:latin typeface="宋体"/>
                <a:cs typeface="宋体"/>
              </a:rPr>
              <a:t>答</a:t>
            </a:r>
            <a:endParaRPr sz="3200" dirty="0">
              <a:latin typeface="宋体"/>
              <a:cs typeface="宋体"/>
            </a:endParaRPr>
          </a:p>
          <a:p>
            <a:pPr marL="755650" marR="5080" lvl="1" indent="-285750" algn="just">
              <a:lnSpc>
                <a:spcPct val="92200"/>
              </a:lnSpc>
              <a:spcBef>
                <a:spcPts val="61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根据关键字的定义，其闭包必能包含所有</a:t>
            </a:r>
            <a:r>
              <a:rPr sz="2800" spc="-5" dirty="0">
                <a:latin typeface="宋体"/>
                <a:cs typeface="宋体"/>
              </a:rPr>
              <a:t>的 </a:t>
            </a:r>
            <a:r>
              <a:rPr sz="2800" dirty="0">
                <a:latin typeface="宋体"/>
                <a:cs typeface="宋体"/>
              </a:rPr>
              <a:t>属性。可能的关键字为</a:t>
            </a:r>
            <a:r>
              <a:rPr sz="2800" spc="-5" dirty="0">
                <a:latin typeface="Tahoma"/>
                <a:cs typeface="Tahoma"/>
              </a:rPr>
              <a:t>A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dirty="0">
                <a:latin typeface="宋体"/>
                <a:cs typeface="宋体"/>
              </a:rPr>
              <a:t>求</a:t>
            </a:r>
            <a:r>
              <a:rPr sz="2800" spc="-5" dirty="0">
                <a:latin typeface="宋体"/>
                <a:cs typeface="宋体"/>
              </a:rPr>
              <a:t>各 </a:t>
            </a:r>
            <a:r>
              <a:rPr sz="2800" dirty="0">
                <a:latin typeface="宋体"/>
                <a:cs typeface="宋体"/>
              </a:rPr>
              <a:t>自闭包，得候选码为</a:t>
            </a:r>
            <a:r>
              <a:rPr sz="2800" spc="-5" dirty="0">
                <a:latin typeface="Tahoma"/>
                <a:cs typeface="Tahoma"/>
              </a:rPr>
              <a:t>CE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  <a:p>
            <a:pPr marL="755650" lvl="1" indent="-285750" algn="just">
              <a:lnSpc>
                <a:spcPct val="100000"/>
              </a:lnSpc>
              <a:spcBef>
                <a:spcPts val="17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具体解题过程略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 dirty="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9E009EC8-222D-465B-0C2B-EA9E68000E51}"/>
                  </a:ext>
                </a:extLst>
              </p14:cNvPr>
              <p14:cNvContentPartPr/>
              <p14:nvPr/>
            </p14:nvContentPartPr>
            <p14:xfrm>
              <a:off x="2519019" y="5121205"/>
              <a:ext cx="4690080" cy="2224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9E009EC8-222D-465B-0C2B-EA9E68000E51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2465019" y="5013565"/>
                <a:ext cx="4797720" cy="4381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7AEF9C97-740A-0B31-2040-0EB7862CE8DC}"/>
                  </a:ext>
                </a:extLst>
              </p14:cNvPr>
              <p14:cNvContentPartPr/>
              <p14:nvPr/>
            </p14:nvContentPartPr>
            <p14:xfrm>
              <a:off x="7637859" y="5224885"/>
              <a:ext cx="738360" cy="3888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7AEF9C97-740A-0B31-2040-0EB7862CE8DC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7584219" y="5116885"/>
                <a:ext cx="846000" cy="2545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8BD35D8E-CCD5-3429-054F-21734BAB973E}"/>
                  </a:ext>
                </a:extLst>
              </p14:cNvPr>
              <p14:cNvContentPartPr/>
              <p14:nvPr/>
            </p14:nvContentPartPr>
            <p14:xfrm>
              <a:off x="1481139" y="5510365"/>
              <a:ext cx="1364040" cy="3186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8BD35D8E-CCD5-3429-054F-21734BAB973E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1427499" y="5402365"/>
                <a:ext cx="1471680" cy="534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6139517A-CA6D-3DB5-3023-861534185C22}"/>
                  </a:ext>
                </a:extLst>
              </p14:cNvPr>
              <p14:cNvContentPartPr/>
              <p14:nvPr/>
            </p14:nvContentPartPr>
            <p14:xfrm>
              <a:off x="3388419" y="5723125"/>
              <a:ext cx="1656360" cy="6624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6139517A-CA6D-3DB5-3023-861534185C22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3334779" y="5615485"/>
                <a:ext cx="1764000" cy="28188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5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68870" cy="4125595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四</a:t>
            </a:r>
            <a:endParaRPr sz="32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spc="-5" dirty="0">
                <a:latin typeface="Tahoma"/>
                <a:cs typeface="Tahoma"/>
              </a:rPr>
              <a:t>R</a:t>
            </a:r>
            <a:r>
              <a:rPr sz="2800" spc="-5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spc="-5" dirty="0">
                <a:latin typeface="宋体"/>
                <a:cs typeface="宋体"/>
              </a:rPr>
              <a:t>），</a:t>
            </a:r>
            <a:r>
              <a:rPr sz="2800" dirty="0">
                <a:latin typeface="宋体"/>
                <a:cs typeface="宋体"/>
              </a:rPr>
              <a:t>其中</a:t>
            </a:r>
            <a:r>
              <a:rPr sz="2800" spc="-5" dirty="0">
                <a:latin typeface="Tahoma"/>
                <a:cs typeface="Tahoma"/>
              </a:rPr>
              <a:t>U={C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T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S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N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F={C→T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S→N}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414655" indent="-402590">
              <a:lnSpc>
                <a:spcPct val="100000"/>
              </a:lnSpc>
              <a:spcBef>
                <a:spcPts val="74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解</a:t>
            </a:r>
            <a:r>
              <a:rPr sz="3200" spc="5" dirty="0">
                <a:latin typeface="宋体"/>
                <a:cs typeface="宋体"/>
              </a:rPr>
              <a:t>答</a:t>
            </a:r>
            <a:endParaRPr sz="3200">
              <a:latin typeface="宋体"/>
              <a:cs typeface="宋体"/>
            </a:endParaRPr>
          </a:p>
          <a:p>
            <a:pPr marL="755650" marR="193675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可能的关键字为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S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CS</a:t>
            </a:r>
            <a:r>
              <a:rPr sz="2800" dirty="0">
                <a:latin typeface="宋体"/>
                <a:cs typeface="宋体"/>
              </a:rPr>
              <a:t>，求各自闭包</a:t>
            </a:r>
            <a:r>
              <a:rPr sz="2800" spc="-5" dirty="0">
                <a:latin typeface="宋体"/>
                <a:cs typeface="宋体"/>
              </a:rPr>
              <a:t>， </a:t>
            </a:r>
            <a:r>
              <a:rPr sz="2800" dirty="0">
                <a:latin typeface="宋体"/>
                <a:cs typeface="宋体"/>
              </a:rPr>
              <a:t>得候选码为</a:t>
            </a:r>
            <a:r>
              <a:rPr sz="2800" spc="-5" dirty="0">
                <a:latin typeface="Tahoma"/>
                <a:cs typeface="Tahoma"/>
              </a:rPr>
              <a:t>CS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spcBef>
                <a:spcPts val="51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具体解题过程略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51840" y="1889476"/>
            <a:ext cx="7546975" cy="4884420"/>
          </a:xfrm>
          <a:prstGeom prst="rect">
            <a:avLst/>
          </a:prstGeom>
        </p:spPr>
        <p:txBody>
          <a:bodyPr vert="horz" wrap="square" lIns="0" tIns="116839" rIns="0" bIns="0" rtlCol="0">
            <a:spAutoFit/>
          </a:bodyPr>
          <a:lstStyle/>
          <a:p>
            <a:pPr marL="375920" indent="-351155">
              <a:lnSpc>
                <a:spcPct val="100000"/>
              </a:lnSpc>
              <a:spcBef>
                <a:spcPts val="919"/>
              </a:spcBef>
              <a:buClr>
                <a:srgbClr val="CC00CC"/>
              </a:buClr>
              <a:buSzPct val="96428"/>
              <a:buFont typeface="Wingdings"/>
              <a:buChar char=""/>
              <a:tabLst>
                <a:tab pos="376555" algn="l"/>
              </a:tabLst>
            </a:pPr>
            <a:r>
              <a:rPr sz="2800" dirty="0">
                <a:latin typeface="宋体"/>
                <a:cs typeface="宋体"/>
              </a:rPr>
              <a:t>练习</a:t>
            </a:r>
            <a:r>
              <a:rPr sz="2800" spc="-5" dirty="0">
                <a:latin typeface="宋体"/>
                <a:cs typeface="宋体"/>
              </a:rPr>
              <a:t>五</a:t>
            </a:r>
            <a:endParaRPr sz="2800">
              <a:latin typeface="宋体"/>
              <a:cs typeface="宋体"/>
            </a:endParaRPr>
          </a:p>
          <a:p>
            <a:pPr marL="768350" lvl="1" indent="-285750">
              <a:lnSpc>
                <a:spcPct val="100000"/>
              </a:lnSpc>
              <a:spcBef>
                <a:spcPts val="775"/>
              </a:spcBef>
              <a:buClr>
                <a:srgbClr val="CC00CC"/>
              </a:buClr>
              <a:buFont typeface="Wingdings"/>
              <a:buChar char=""/>
              <a:tabLst>
                <a:tab pos="768350" algn="l"/>
              </a:tabLst>
            </a:pPr>
            <a:r>
              <a:rPr sz="2600" dirty="0">
                <a:latin typeface="宋体"/>
                <a:cs typeface="宋体"/>
              </a:rPr>
              <a:t>设有关系模式</a:t>
            </a:r>
            <a:r>
              <a:rPr sz="2600" spc="-5" dirty="0">
                <a:latin typeface="Tahoma"/>
                <a:cs typeface="Tahoma"/>
              </a:rPr>
              <a:t>R</a:t>
            </a:r>
            <a:r>
              <a:rPr sz="2600" spc="-5" dirty="0">
                <a:latin typeface="宋体"/>
                <a:cs typeface="宋体"/>
              </a:rPr>
              <a:t>（</a:t>
            </a:r>
            <a:r>
              <a:rPr sz="2600" spc="-5" dirty="0">
                <a:latin typeface="Tahoma"/>
                <a:cs typeface="Tahoma"/>
              </a:rPr>
              <a:t>U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F</a:t>
            </a:r>
            <a:r>
              <a:rPr sz="2600" spc="-5" dirty="0">
                <a:latin typeface="宋体"/>
                <a:cs typeface="宋体"/>
              </a:rPr>
              <a:t>），</a:t>
            </a:r>
            <a:r>
              <a:rPr sz="2600" dirty="0">
                <a:latin typeface="宋体"/>
                <a:cs typeface="宋体"/>
              </a:rPr>
              <a:t>其中</a:t>
            </a:r>
            <a:r>
              <a:rPr sz="2600" spc="-5" dirty="0">
                <a:latin typeface="Tahoma"/>
                <a:cs typeface="Tahoma"/>
              </a:rPr>
              <a:t>U={A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</a:t>
            </a:r>
            <a:r>
              <a:rPr sz="2600" spc="-5" dirty="0">
                <a:latin typeface="宋体"/>
                <a:cs typeface="宋体"/>
              </a:rPr>
              <a:t>，</a:t>
            </a:r>
            <a:endParaRPr sz="2600">
              <a:latin typeface="宋体"/>
              <a:cs typeface="宋体"/>
            </a:endParaRPr>
          </a:p>
          <a:p>
            <a:pPr marL="768350">
              <a:lnSpc>
                <a:spcPct val="100000"/>
              </a:lnSpc>
            </a:pPr>
            <a:r>
              <a:rPr sz="2600" spc="-5" dirty="0">
                <a:latin typeface="Tahoma"/>
                <a:cs typeface="Tahoma"/>
              </a:rPr>
              <a:t>D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E}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F={A→BC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CD→E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B→D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E→A}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3400">
              <a:latin typeface="宋体"/>
              <a:cs typeface="宋体"/>
            </a:endParaRPr>
          </a:p>
          <a:p>
            <a:pPr marL="768350" lvl="1" indent="-285750">
              <a:lnSpc>
                <a:spcPts val="1275"/>
              </a:lnSpc>
              <a:buClr>
                <a:srgbClr val="CC00CC"/>
              </a:buClr>
              <a:buFont typeface="Wingdings"/>
              <a:buChar char=""/>
              <a:tabLst>
                <a:tab pos="768350" algn="l"/>
                <a:tab pos="1894205" algn="l"/>
                <a:tab pos="2686685" algn="l"/>
                <a:tab pos="3482975" algn="l"/>
                <a:tab pos="4266565" algn="l"/>
              </a:tabLst>
            </a:pPr>
            <a:r>
              <a:rPr sz="2600" dirty="0">
                <a:latin typeface="宋体"/>
                <a:cs typeface="宋体"/>
              </a:rPr>
              <a:t>计算</a:t>
            </a:r>
            <a:r>
              <a:rPr sz="2600" spc="-5" dirty="0">
                <a:latin typeface="Tahoma"/>
                <a:cs typeface="Tahoma"/>
              </a:rPr>
              <a:t>A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B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C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-5" dirty="0">
                <a:latin typeface="宋体"/>
                <a:cs typeface="宋体"/>
              </a:rPr>
              <a:t>，</a:t>
            </a:r>
            <a:r>
              <a:rPr sz="2600" spc="-5" dirty="0">
                <a:latin typeface="Tahoma"/>
                <a:cs typeface="Tahoma"/>
              </a:rPr>
              <a:t>E</a:t>
            </a:r>
            <a:r>
              <a:rPr sz="2550" spc="-7" baseline="-16339" dirty="0">
                <a:latin typeface="Tahoma"/>
                <a:cs typeface="Tahoma"/>
              </a:rPr>
              <a:t>F	</a:t>
            </a:r>
            <a:r>
              <a:rPr sz="2600" spc="5" dirty="0">
                <a:latin typeface="宋体"/>
                <a:cs typeface="宋体"/>
              </a:rPr>
              <a:t>。</a:t>
            </a:r>
            <a:endParaRPr sz="2600">
              <a:latin typeface="宋体"/>
              <a:cs typeface="宋体"/>
            </a:endParaRPr>
          </a:p>
          <a:p>
            <a:pPr marL="1737995">
              <a:lnSpc>
                <a:spcPts val="1015"/>
              </a:lnSpc>
              <a:tabLst>
                <a:tab pos="2530475" algn="l"/>
                <a:tab pos="3326765" algn="l"/>
                <a:tab pos="4110354" algn="l"/>
              </a:tabLst>
            </a:pPr>
            <a:r>
              <a:rPr sz="1700" spc="-10" dirty="0">
                <a:latin typeface="Tahoma"/>
                <a:cs typeface="Tahoma"/>
              </a:rPr>
              <a:t>+	+	+	+</a:t>
            </a:r>
            <a:endParaRPr sz="1700">
              <a:latin typeface="Tahoma"/>
              <a:cs typeface="Tahoma"/>
            </a:endParaRPr>
          </a:p>
          <a:p>
            <a:pPr marL="1168400" lvl="2" indent="-229235">
              <a:lnSpc>
                <a:spcPct val="100000"/>
              </a:lnSpc>
              <a:spcBef>
                <a:spcPts val="1405"/>
              </a:spcBef>
              <a:buClr>
                <a:srgbClr val="CC00CC"/>
              </a:buClr>
              <a:buFont typeface="Tahoma"/>
              <a:buChar char="•"/>
              <a:tabLst>
                <a:tab pos="1168400" algn="l"/>
              </a:tabLst>
            </a:pPr>
            <a:r>
              <a:rPr sz="2400" dirty="0">
                <a:latin typeface="宋体"/>
                <a:cs typeface="宋体"/>
              </a:rPr>
              <a:t>令</a:t>
            </a:r>
            <a:r>
              <a:rPr sz="2400" spc="-5" dirty="0">
                <a:latin typeface="Tahoma"/>
                <a:cs typeface="Tahoma"/>
              </a:rPr>
              <a:t>X={A}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X(0)={A}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X(1)={ABC}</a:t>
            </a:r>
            <a:r>
              <a:rPr sz="2400" spc="-5" dirty="0">
                <a:latin typeface="宋体"/>
                <a:cs typeface="宋体"/>
              </a:rPr>
              <a:t>，</a:t>
            </a:r>
            <a:endParaRPr sz="2400">
              <a:latin typeface="宋体"/>
              <a:cs typeface="宋体"/>
            </a:endParaRPr>
          </a:p>
          <a:p>
            <a:pPr marL="11677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X(2)={ABCD}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450" dirty="0">
                <a:latin typeface="宋体"/>
                <a:cs typeface="宋体"/>
              </a:rPr>
              <a:t> </a:t>
            </a:r>
            <a:r>
              <a:rPr sz="2400" spc="-5" dirty="0">
                <a:latin typeface="Tahoma"/>
                <a:cs typeface="Tahoma"/>
              </a:rPr>
              <a:t>X(3)={ABCDE}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dirty="0">
                <a:latin typeface="宋体"/>
                <a:cs typeface="宋体"/>
              </a:rPr>
              <a:t>则</a:t>
            </a:r>
            <a:r>
              <a:rPr sz="2400" dirty="0">
                <a:latin typeface="Tahoma"/>
                <a:cs typeface="Tahoma"/>
              </a:rPr>
              <a:t>A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</a:t>
            </a:r>
            <a:endParaRPr sz="2325" baseline="21505">
              <a:latin typeface="Tahoma"/>
              <a:cs typeface="Tahoma"/>
            </a:endParaRPr>
          </a:p>
          <a:p>
            <a:pPr marL="1167765">
              <a:lnSpc>
                <a:spcPct val="100000"/>
              </a:lnSpc>
            </a:pPr>
            <a:r>
              <a:rPr sz="2400" spc="-5" dirty="0">
                <a:latin typeface="Tahoma"/>
                <a:cs typeface="Tahoma"/>
              </a:rPr>
              <a:t>={ABCDE}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B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={BD}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C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={C}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  <a:p>
            <a:pPr marL="11684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Char char="•"/>
              <a:tabLst>
                <a:tab pos="1168400" algn="l"/>
              </a:tabLst>
            </a:pPr>
            <a:r>
              <a:rPr sz="2400" dirty="0">
                <a:latin typeface="Tahoma"/>
                <a:cs typeface="Tahoma"/>
              </a:rPr>
              <a:t>E</a:t>
            </a:r>
            <a:r>
              <a:rPr sz="2325" baseline="-17921" dirty="0">
                <a:latin typeface="Tahoma"/>
                <a:cs typeface="Tahoma"/>
              </a:rPr>
              <a:t>F</a:t>
            </a:r>
            <a:r>
              <a:rPr sz="2325" baseline="21505" dirty="0">
                <a:latin typeface="Tahoma"/>
                <a:cs typeface="Tahoma"/>
              </a:rPr>
              <a:t>+ </a:t>
            </a:r>
            <a:r>
              <a:rPr sz="2400" spc="-5" dirty="0">
                <a:latin typeface="Tahoma"/>
                <a:cs typeface="Tahoma"/>
              </a:rPr>
              <a:t>={ABCDE}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slides/slide5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7085"/>
            <a:ext cx="7470775" cy="43649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练习五（续</a:t>
            </a:r>
            <a:r>
              <a:rPr sz="3200" spc="5" dirty="0">
                <a:latin typeface="宋体"/>
                <a:cs typeface="宋体"/>
              </a:rPr>
              <a:t>）</a:t>
            </a:r>
            <a:endParaRPr sz="3200">
              <a:latin typeface="宋体"/>
              <a:cs typeface="宋体"/>
            </a:endParaRPr>
          </a:p>
          <a:p>
            <a:pPr marL="755650" marR="5080" lvl="1" indent="-285750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设有关系模式</a:t>
            </a:r>
            <a:r>
              <a:rPr sz="2800" dirty="0">
                <a:latin typeface="Tahoma"/>
                <a:cs typeface="Tahoma"/>
              </a:rPr>
              <a:t>R</a:t>
            </a:r>
            <a:r>
              <a:rPr sz="2800" dirty="0">
                <a:latin typeface="宋体"/>
                <a:cs typeface="宋体"/>
              </a:rPr>
              <a:t>（</a:t>
            </a:r>
            <a:r>
              <a:rPr sz="2800" spc="-5" dirty="0">
                <a:latin typeface="Tahoma"/>
                <a:cs typeface="Tahoma"/>
              </a:rPr>
              <a:t>U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宋体"/>
                <a:cs typeface="宋体"/>
              </a:rPr>
              <a:t>），其中</a:t>
            </a:r>
            <a:r>
              <a:rPr sz="2800" spc="-5" dirty="0">
                <a:latin typeface="Tahoma"/>
                <a:cs typeface="Tahoma"/>
              </a:rPr>
              <a:t>U={A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D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E}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F={A→BC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CD→E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B→D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E→A}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lvl="1">
              <a:lnSpc>
                <a:spcPct val="100000"/>
              </a:lnSpc>
              <a:buClr>
                <a:srgbClr val="CC00CC"/>
              </a:buClr>
              <a:buFont typeface="Wingdings"/>
              <a:buChar char=""/>
            </a:pPr>
            <a:endParaRPr sz="3550">
              <a:latin typeface="宋体"/>
              <a:cs typeface="宋体"/>
            </a:endParaRPr>
          </a:p>
          <a:p>
            <a:pPr marL="755650" lvl="1" indent="-285750">
              <a:lnSpc>
                <a:spcPct val="100000"/>
              </a:lnSpc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dirty="0">
                <a:latin typeface="宋体"/>
                <a:cs typeface="宋体"/>
              </a:rPr>
              <a:t>求所有的候选码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730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在前一问，已知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宋体"/>
                <a:cs typeface="宋体"/>
              </a:rPr>
              <a:t>为候选码。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计算</a:t>
            </a:r>
            <a:r>
              <a:rPr sz="2400" spc="-5" dirty="0">
                <a:latin typeface="Tahoma"/>
                <a:cs typeface="Tahoma"/>
              </a:rPr>
              <a:t>BC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CD</a:t>
            </a:r>
            <a:r>
              <a:rPr sz="2400" dirty="0">
                <a:latin typeface="宋体"/>
                <a:cs typeface="宋体"/>
              </a:rPr>
              <a:t>的闭包知其也是候选码。</a:t>
            </a:r>
            <a:endParaRPr sz="2400">
              <a:latin typeface="宋体"/>
              <a:cs typeface="宋体"/>
            </a:endParaRPr>
          </a:p>
          <a:p>
            <a:pPr marL="1155700" lvl="2" indent="-229235">
              <a:lnSpc>
                <a:spcPct val="100000"/>
              </a:lnSpc>
              <a:spcBef>
                <a:spcPts val="575"/>
              </a:spcBef>
              <a:buClr>
                <a:srgbClr val="CC00CC"/>
              </a:buClr>
              <a:buFont typeface="Tahoma"/>
              <a:buChar char="•"/>
              <a:tabLst>
                <a:tab pos="1155700" algn="l"/>
              </a:tabLst>
            </a:pPr>
            <a:r>
              <a:rPr sz="2400" dirty="0">
                <a:latin typeface="宋体"/>
                <a:cs typeface="宋体"/>
              </a:rPr>
              <a:t>所有的候选码为</a:t>
            </a:r>
            <a:r>
              <a:rPr sz="2400" spc="-5" dirty="0">
                <a:latin typeface="Tahoma"/>
                <a:cs typeface="Tahoma"/>
              </a:rPr>
              <a:t>A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BC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CD</a:t>
            </a:r>
            <a:r>
              <a:rPr sz="2400" spc="-5" dirty="0">
                <a:latin typeface="宋体"/>
                <a:cs typeface="宋体"/>
              </a:rPr>
              <a:t>，</a:t>
            </a:r>
            <a:r>
              <a:rPr sz="2400" spc="-5" dirty="0">
                <a:latin typeface="Tahoma"/>
                <a:cs typeface="Tahoma"/>
              </a:rPr>
              <a:t>E</a:t>
            </a:r>
            <a:r>
              <a:rPr sz="2400" dirty="0">
                <a:latin typeface="宋体"/>
                <a:cs typeface="宋体"/>
              </a:rPr>
              <a:t>。</a:t>
            </a:r>
            <a:endParaRPr sz="24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1DE66EC5-68E5-6A55-CA80-E5393255DF35}"/>
                  </a:ext>
                </a:extLst>
              </p14:cNvPr>
              <p14:cNvContentPartPr/>
              <p14:nvPr/>
            </p14:nvContentPartPr>
            <p14:xfrm>
              <a:off x="4114899" y="5063245"/>
              <a:ext cx="2256840" cy="16308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1DE66EC5-68E5-6A55-CA80-E5393255DF35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4060899" y="4955605"/>
                <a:ext cx="2364480" cy="37872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21B21105-3ECA-CC63-25FB-C2F82B6DF9FB}"/>
                  </a:ext>
                </a:extLst>
              </p14:cNvPr>
              <p14:cNvContentPartPr/>
              <p14:nvPr/>
            </p14:nvContentPartPr>
            <p14:xfrm>
              <a:off x="2581659" y="5468605"/>
              <a:ext cx="1010160" cy="1620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21B21105-3ECA-CC63-25FB-C2F82B6DF9FB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2527659" y="5360605"/>
                <a:ext cx="1117800" cy="37764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4257040" cy="226822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六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1383030" algn="l"/>
              </a:tabLst>
            </a:pPr>
            <a:r>
              <a:rPr sz="2800" dirty="0">
                <a:latin typeface="Tahoma"/>
                <a:cs typeface="Tahoma"/>
              </a:rPr>
              <a:t>D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Tahoma"/>
                <a:cs typeface="Tahoma"/>
              </a:rPr>
              <a:t>={DGH}</a:t>
            </a:r>
            <a:endParaRPr sz="2800">
              <a:latin typeface="Tahoma"/>
              <a:cs typeface="Tahoma"/>
            </a:endParaRPr>
          </a:p>
          <a:p>
            <a:pPr marL="1142365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  <a:p>
            <a:pPr marL="440055" indent="-402590">
              <a:lnSpc>
                <a:spcPct val="100000"/>
              </a:lnSpc>
              <a:spcBef>
                <a:spcPts val="1490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七</a:t>
            </a:r>
            <a:endParaRPr sz="3200">
              <a:latin typeface="宋体"/>
              <a:cs typeface="宋体"/>
            </a:endParaRPr>
          </a:p>
          <a:p>
            <a:pPr marL="781050" lvl="1" indent="-285750">
              <a:lnSpc>
                <a:spcPts val="139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  <a:tab pos="2303780" algn="l"/>
              </a:tabLst>
            </a:pPr>
            <a:r>
              <a:rPr sz="2800" dirty="0">
                <a:latin typeface="宋体"/>
                <a:cs typeface="宋体"/>
              </a:rPr>
              <a:t>（</a:t>
            </a:r>
            <a:r>
              <a:rPr sz="2800" dirty="0">
                <a:latin typeface="Tahoma"/>
                <a:cs typeface="Tahoma"/>
              </a:rPr>
              <a:t>BD</a:t>
            </a:r>
            <a:r>
              <a:rPr sz="2800" dirty="0">
                <a:latin typeface="宋体"/>
                <a:cs typeface="宋体"/>
              </a:rPr>
              <a:t>）</a:t>
            </a:r>
            <a:r>
              <a:rPr sz="2700" baseline="-16975" dirty="0">
                <a:latin typeface="Tahoma"/>
                <a:cs typeface="Tahoma"/>
              </a:rPr>
              <a:t>F	</a:t>
            </a:r>
            <a:r>
              <a:rPr sz="2800" spc="-5" dirty="0">
                <a:latin typeface="Tahoma"/>
                <a:cs typeface="Tahoma"/>
              </a:rPr>
              <a:t>={ABCDEG}</a:t>
            </a:r>
            <a:endParaRPr sz="2800">
              <a:latin typeface="Tahoma"/>
              <a:cs typeface="Tahoma"/>
            </a:endParaRPr>
          </a:p>
          <a:p>
            <a:pPr marL="38735" algn="ctr">
              <a:lnSpc>
                <a:spcPts val="1070"/>
              </a:lnSpc>
            </a:pPr>
            <a:r>
              <a:rPr sz="1800" spc="15" dirty="0">
                <a:latin typeface="Tahoma"/>
                <a:cs typeface="Tahoma"/>
              </a:rPr>
              <a:t>+</a:t>
            </a:r>
            <a:endParaRPr sz="1800">
              <a:latin typeface="Tahoma"/>
              <a:cs typeface="Tahoma"/>
            </a:endParaRPr>
          </a:p>
        </p:txBody>
      </p:sp>
    </p:spTree>
  </p:cSld>
  <p:clrMapOvr>
    <a:masterClrMapping/>
  </p:clrMapOvr>
</p:sld>
</file>

<file path=ppt/slides/slide6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39140" y="1867085"/>
            <a:ext cx="7632700" cy="3882390"/>
          </a:xfrm>
          <a:prstGeom prst="rect">
            <a:avLst/>
          </a:prstGeom>
        </p:spPr>
        <p:txBody>
          <a:bodyPr vert="horz" wrap="square" lIns="0" tIns="136525" rIns="0" bIns="0" rtlCol="0">
            <a:spAutoFit/>
          </a:bodyPr>
          <a:lstStyle/>
          <a:p>
            <a:pPr marL="440055" indent="-402590">
              <a:lnSpc>
                <a:spcPct val="100000"/>
              </a:lnSpc>
              <a:spcBef>
                <a:spcPts val="107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406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844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1.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右部属性单一化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700" spc="-7" baseline="-16975" dirty="0">
                <a:latin typeface="Tahoma"/>
                <a:cs typeface="Tahoma"/>
              </a:rPr>
              <a:t>m</a:t>
            </a:r>
            <a:r>
              <a:rPr sz="2800" spc="-5" dirty="0">
                <a:latin typeface="Tahoma"/>
                <a:cs typeface="Tahoma"/>
              </a:rPr>
              <a:t>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endParaRPr sz="2800">
              <a:latin typeface="宋体"/>
              <a:cs typeface="宋体"/>
            </a:endParaRPr>
          </a:p>
          <a:p>
            <a:pPr marL="781050" algn="just">
              <a:lnSpc>
                <a:spcPct val="100000"/>
              </a:lnSpc>
            </a:pP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30" dirty="0">
                <a:latin typeface="宋体"/>
                <a:cs typeface="宋体"/>
              </a:rPr>
              <a:t> </a:t>
            </a:r>
            <a:r>
              <a:rPr sz="2800" spc="-5" dirty="0">
                <a:latin typeface="Tahoma"/>
                <a:cs typeface="Tahoma"/>
              </a:rPr>
              <a:t>FH→E}</a:t>
            </a:r>
            <a:r>
              <a:rPr sz="2800" spc="-5" dirty="0">
                <a:latin typeface="宋体"/>
                <a:cs typeface="宋体"/>
              </a:rPr>
              <a:t>；</a:t>
            </a:r>
            <a:endParaRPr sz="28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2.</a:t>
            </a:r>
            <a:r>
              <a:rPr sz="2800" spc="-10" dirty="0">
                <a:latin typeface="Tahoma"/>
                <a:cs typeface="Tahoma"/>
              </a:rPr>
              <a:t> </a:t>
            </a:r>
            <a:r>
              <a:rPr sz="2800" spc="-5" dirty="0">
                <a:latin typeface="Tahoma"/>
                <a:cs typeface="Tahoma"/>
              </a:rPr>
              <a:t>FH→E</a:t>
            </a:r>
            <a:r>
              <a:rPr sz="2800" dirty="0">
                <a:latin typeface="宋体"/>
                <a:cs typeface="宋体"/>
              </a:rPr>
              <a:t>已经为</a:t>
            </a:r>
            <a:r>
              <a:rPr sz="2800" spc="-5" dirty="0">
                <a:latin typeface="Tahoma"/>
                <a:cs typeface="Tahoma"/>
              </a:rPr>
              <a:t>H→E</a:t>
            </a:r>
            <a:r>
              <a:rPr sz="2800" dirty="0">
                <a:latin typeface="宋体"/>
                <a:cs typeface="宋体"/>
              </a:rPr>
              <a:t>所蕴含，去除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81050" lvl="1" indent="-285750" algn="just">
              <a:lnSpc>
                <a:spcPct val="100000"/>
              </a:lnSpc>
              <a:spcBef>
                <a:spcPts val="670"/>
              </a:spcBef>
              <a:buClr>
                <a:srgbClr val="CC00CC"/>
              </a:buClr>
              <a:buFont typeface="Wingdings"/>
              <a:buChar char=""/>
              <a:tabLst>
                <a:tab pos="781050" algn="l"/>
              </a:tabLst>
            </a:pPr>
            <a:r>
              <a:rPr sz="2800" spc="-5" dirty="0">
                <a:latin typeface="Tahoma"/>
                <a:cs typeface="Tahoma"/>
              </a:rPr>
              <a:t>3.</a:t>
            </a:r>
            <a:r>
              <a:rPr sz="2800" spc="-70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逐一去掉一个函数依赖后求其左部的闭</a:t>
            </a:r>
            <a:r>
              <a:rPr sz="2800" spc="-5" dirty="0">
                <a:latin typeface="宋体"/>
                <a:cs typeface="宋体"/>
              </a:rPr>
              <a:t>包</a:t>
            </a:r>
            <a:endParaRPr sz="2800">
              <a:latin typeface="宋体"/>
              <a:cs typeface="宋体"/>
            </a:endParaRPr>
          </a:p>
          <a:p>
            <a:pPr marL="781050" marR="263525" algn="just">
              <a:lnSpc>
                <a:spcPct val="97700"/>
              </a:lnSpc>
              <a:spcBef>
                <a:spcPts val="80"/>
              </a:spcBef>
            </a:pPr>
            <a:r>
              <a:rPr sz="2800" dirty="0">
                <a:latin typeface="宋体"/>
                <a:cs typeface="宋体"/>
              </a:rPr>
              <a:t>，可以去掉函数依赖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spc="-5" dirty="0">
                <a:latin typeface="宋体"/>
                <a:cs typeface="宋体"/>
              </a:rPr>
              <a:t>，  </a:t>
            </a:r>
            <a:r>
              <a:rPr sz="2800" spc="-5" dirty="0">
                <a:latin typeface="Tahoma"/>
                <a:cs typeface="Tahoma"/>
              </a:rPr>
              <a:t>H→G</a:t>
            </a:r>
            <a:r>
              <a:rPr sz="2800" dirty="0">
                <a:latin typeface="宋体"/>
                <a:cs typeface="宋体"/>
              </a:rPr>
              <a:t>中的一个，进行第二轮计算，又可</a:t>
            </a:r>
            <a:r>
              <a:rPr sz="2800" spc="-5" dirty="0">
                <a:latin typeface="宋体"/>
                <a:cs typeface="宋体"/>
              </a:rPr>
              <a:t>以 </a:t>
            </a:r>
            <a:r>
              <a:rPr sz="2800" dirty="0">
                <a:latin typeface="宋体"/>
                <a:cs typeface="宋体"/>
              </a:rPr>
              <a:t>去掉第二个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2">
            <p14:nvContentPartPr>
              <p14:cNvPr id="4" name="墨迹 3">
                <a:extLst>
                  <a:ext uri="{FF2B5EF4-FFF2-40B4-BE49-F238E27FC236}">
                    <a16:creationId xmlns:a16="http://schemas.microsoft.com/office/drawing/2014/main" id="{DDF67716-C219-6C06-3C07-50EF4AF1B25D}"/>
                  </a:ext>
                </a:extLst>
              </p14:cNvPr>
              <p14:cNvContentPartPr/>
              <p14:nvPr/>
            </p14:nvContentPartPr>
            <p14:xfrm>
              <a:off x="6373539" y="-44795"/>
              <a:ext cx="360" cy="360"/>
            </p14:xfrm>
          </p:contentPart>
        </mc:Choice>
        <mc:Fallback>
          <p:pic>
            <p:nvPicPr>
              <p:cNvPr id="4" name="墨迹 3">
                <a:extLst>
                  <a:ext uri="{FF2B5EF4-FFF2-40B4-BE49-F238E27FC236}">
                    <a16:creationId xmlns:a16="http://schemas.microsoft.com/office/drawing/2014/main" id="{DDF67716-C219-6C06-3C07-50EF4AF1B25D}"/>
                  </a:ext>
                </a:extLst>
              </p:cNvPr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6319539" y="-152795"/>
                <a:ext cx="108000" cy="21600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5" name="墨迹 4">
                <a:extLst>
                  <a:ext uri="{FF2B5EF4-FFF2-40B4-BE49-F238E27FC236}">
                    <a16:creationId xmlns:a16="http://schemas.microsoft.com/office/drawing/2014/main" id="{86AF3F91-12B1-DD08-4C49-8559C579C451}"/>
                  </a:ext>
                </a:extLst>
              </p14:cNvPr>
              <p14:cNvContentPartPr/>
              <p14:nvPr/>
            </p14:nvContentPartPr>
            <p14:xfrm>
              <a:off x="2003859" y="2526325"/>
              <a:ext cx="2465280" cy="316800"/>
            </p14:xfrm>
          </p:contentPart>
        </mc:Choice>
        <mc:Fallback>
          <p:pic>
            <p:nvPicPr>
              <p:cNvPr id="5" name="墨迹 4">
                <a:extLst>
                  <a:ext uri="{FF2B5EF4-FFF2-40B4-BE49-F238E27FC236}">
                    <a16:creationId xmlns:a16="http://schemas.microsoft.com/office/drawing/2014/main" id="{86AF3F91-12B1-DD08-4C49-8559C579C451}"/>
                  </a:ext>
                </a:extLst>
              </p:cNvPr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949859" y="2418325"/>
                <a:ext cx="2572920" cy="5324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6">
            <p14:nvContentPartPr>
              <p14:cNvPr id="6" name="墨迹 5">
                <a:extLst>
                  <a:ext uri="{FF2B5EF4-FFF2-40B4-BE49-F238E27FC236}">
                    <a16:creationId xmlns:a16="http://schemas.microsoft.com/office/drawing/2014/main" id="{D3C6B5B4-85F5-52C6-3BA3-E153B8F74EEF}"/>
                  </a:ext>
                </a:extLst>
              </p14:cNvPr>
              <p14:cNvContentPartPr/>
              <p14:nvPr/>
            </p14:nvContentPartPr>
            <p14:xfrm>
              <a:off x="5154579" y="3653845"/>
              <a:ext cx="2395080" cy="57600"/>
            </p14:xfrm>
          </p:contentPart>
        </mc:Choice>
        <mc:Fallback>
          <p:pic>
            <p:nvPicPr>
              <p:cNvPr id="6" name="墨迹 5">
                <a:extLst>
                  <a:ext uri="{FF2B5EF4-FFF2-40B4-BE49-F238E27FC236}">
                    <a16:creationId xmlns:a16="http://schemas.microsoft.com/office/drawing/2014/main" id="{D3C6B5B4-85F5-52C6-3BA3-E153B8F74EEF}"/>
                  </a:ext>
                </a:extLst>
              </p:cNvPr>
              <p:cNvPicPr/>
              <p:nvPr/>
            </p:nvPicPr>
            <p:blipFill>
              <a:blip r:embed="rId7"/>
              <a:stretch>
                <a:fillRect/>
              </a:stretch>
            </p:blipFill>
            <p:spPr>
              <a:xfrm>
                <a:off x="5100939" y="3545845"/>
                <a:ext cx="2502720" cy="273240"/>
              </a:xfrm>
              <a:prstGeom prst="rect">
                <a:avLst/>
              </a:prstGeom>
            </p:spPr>
          </p:pic>
        </mc:Fallback>
      </mc:AlternateContent>
      <mc:AlternateContent xmlns:mc="http://schemas.openxmlformats.org/markup-compatibility/2006">
        <mc:Choice xmlns:p14="http://schemas.microsoft.com/office/powerpoint/2010/main" Requires="p14">
          <p:contentPart p14:bwMode="auto" r:id="rId8">
            <p14:nvContentPartPr>
              <p14:cNvPr id="7" name="墨迹 6">
                <a:extLst>
                  <a:ext uri="{FF2B5EF4-FFF2-40B4-BE49-F238E27FC236}">
                    <a16:creationId xmlns:a16="http://schemas.microsoft.com/office/drawing/2014/main" id="{5417955F-E06C-D448-45A3-48201A2B14D9}"/>
                  </a:ext>
                </a:extLst>
              </p14:cNvPr>
              <p14:cNvContentPartPr/>
              <p14:nvPr/>
            </p14:nvContentPartPr>
            <p14:xfrm>
              <a:off x="5163219" y="3789565"/>
              <a:ext cx="1784880" cy="110160"/>
            </p14:xfrm>
          </p:contentPart>
        </mc:Choice>
        <mc:Fallback>
          <p:pic>
            <p:nvPicPr>
              <p:cNvPr id="7" name="墨迹 6">
                <a:extLst>
                  <a:ext uri="{FF2B5EF4-FFF2-40B4-BE49-F238E27FC236}">
                    <a16:creationId xmlns:a16="http://schemas.microsoft.com/office/drawing/2014/main" id="{5417955F-E06C-D448-45A3-48201A2B14D9}"/>
                  </a:ext>
                </a:extLst>
              </p:cNvPr>
              <p:cNvPicPr/>
              <p:nvPr/>
            </p:nvPicPr>
            <p:blipFill>
              <a:blip r:embed="rId9"/>
              <a:stretch>
                <a:fillRect/>
              </a:stretch>
            </p:blipFill>
            <p:spPr>
              <a:xfrm>
                <a:off x="5109579" y="3681925"/>
                <a:ext cx="1892520" cy="32580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</p:sld>
</file>

<file path=ppt/slides/slide6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82900" y="800099"/>
            <a:ext cx="3378835" cy="69723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dirty="0"/>
              <a:t>课堂练习答</a:t>
            </a:r>
            <a:r>
              <a:rPr spc="5" dirty="0"/>
              <a:t>案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764540" y="1868541"/>
            <a:ext cx="7420609" cy="3796029"/>
          </a:xfrm>
          <a:prstGeom prst="rect">
            <a:avLst/>
          </a:prstGeom>
        </p:spPr>
        <p:txBody>
          <a:bodyPr vert="horz" wrap="square" lIns="0" tIns="135255" rIns="0" bIns="0" rtlCol="0">
            <a:spAutoFit/>
          </a:bodyPr>
          <a:lstStyle/>
          <a:p>
            <a:pPr marL="414655" indent="-402590">
              <a:lnSpc>
                <a:spcPct val="100000"/>
              </a:lnSpc>
              <a:spcBef>
                <a:spcPts val="1065"/>
              </a:spcBef>
              <a:buClr>
                <a:srgbClr val="CC00CC"/>
              </a:buClr>
              <a:buSzPct val="96875"/>
              <a:buFont typeface="Wingdings"/>
              <a:buChar char=""/>
              <a:tabLst>
                <a:tab pos="415290" algn="l"/>
              </a:tabLst>
            </a:pPr>
            <a:r>
              <a:rPr sz="3200" dirty="0">
                <a:latin typeface="宋体"/>
                <a:cs typeface="宋体"/>
              </a:rPr>
              <a:t>练习</a:t>
            </a:r>
            <a:r>
              <a:rPr sz="3200" spc="5" dirty="0">
                <a:latin typeface="宋体"/>
                <a:cs typeface="宋体"/>
              </a:rPr>
              <a:t>八</a:t>
            </a:r>
            <a:endParaRPr sz="3200">
              <a:latin typeface="宋体"/>
              <a:cs typeface="宋体"/>
            </a:endParaRPr>
          </a:p>
          <a:p>
            <a:pPr marL="926465" marR="589280" lvl="1" indent="-457200">
              <a:lnSpc>
                <a:spcPct val="100000"/>
              </a:lnSpc>
              <a:spcBef>
                <a:spcPts val="835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4. </a:t>
            </a:r>
            <a:r>
              <a:rPr sz="2800" dirty="0">
                <a:latin typeface="宋体"/>
                <a:cs typeface="宋体"/>
              </a:rPr>
              <a:t>得 到 下 面 的 依 赖 集 </a:t>
            </a:r>
            <a:r>
              <a:rPr sz="2800" spc="-5" dirty="0">
                <a:latin typeface="宋体"/>
                <a:cs typeface="宋体"/>
              </a:rPr>
              <a:t>：  </a:t>
            </a:r>
            <a:r>
              <a:rPr sz="2800" spc="-5" dirty="0">
                <a:latin typeface="Tahoma"/>
                <a:cs typeface="Tahoma"/>
              </a:rPr>
              <a:t>Fm1={E→G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Fm2={E→G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H→G}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Fm3={E→G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G→E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F→G</a:t>
            </a:r>
            <a:r>
              <a:rPr sz="2800" spc="-5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H→E}</a:t>
            </a:r>
            <a:r>
              <a:rPr sz="2800" spc="-5" dirty="0">
                <a:latin typeface="宋体"/>
                <a:cs typeface="宋体"/>
              </a:rPr>
              <a:t>、 </a:t>
            </a:r>
            <a:r>
              <a:rPr sz="2800" spc="-5" dirty="0">
                <a:latin typeface="Tahoma"/>
                <a:cs typeface="Tahoma"/>
              </a:rPr>
              <a:t>Fm4={E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E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F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</a:t>
            </a:r>
            <a:r>
              <a:rPr sz="2800" dirty="0">
                <a:latin typeface="宋体"/>
                <a:cs typeface="宋体"/>
              </a:rPr>
              <a:t>，</a:t>
            </a:r>
            <a:r>
              <a:rPr sz="2800" spc="-5" dirty="0">
                <a:latin typeface="Tahoma"/>
                <a:cs typeface="Tahoma"/>
              </a:rPr>
              <a:t>H</a:t>
            </a:r>
            <a:r>
              <a:rPr sz="2800" dirty="0">
                <a:latin typeface="Tahoma"/>
                <a:cs typeface="Tahoma"/>
              </a:rPr>
              <a:t>→</a:t>
            </a:r>
            <a:r>
              <a:rPr sz="2800" spc="-5" dirty="0">
                <a:latin typeface="Tahoma"/>
                <a:cs typeface="Tahoma"/>
              </a:rPr>
              <a:t>G}</a:t>
            </a: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  <a:p>
            <a:pPr marL="755650" lvl="1" indent="-285750">
              <a:lnSpc>
                <a:spcPts val="3279"/>
              </a:lnSpc>
              <a:spcBef>
                <a:spcPts val="680"/>
              </a:spcBef>
              <a:buClr>
                <a:srgbClr val="CC00CC"/>
              </a:buClr>
              <a:buFont typeface="Wingdings"/>
              <a:buChar char=""/>
              <a:tabLst>
                <a:tab pos="755650" algn="l"/>
              </a:tabLst>
            </a:pPr>
            <a:r>
              <a:rPr sz="2800" spc="-5" dirty="0">
                <a:latin typeface="Tahoma"/>
                <a:cs typeface="Tahoma"/>
              </a:rPr>
              <a:t>5.</a:t>
            </a:r>
            <a:r>
              <a:rPr sz="2800" spc="-85" dirty="0">
                <a:latin typeface="Tahoma"/>
                <a:cs typeface="Tahoma"/>
              </a:rPr>
              <a:t> </a:t>
            </a:r>
            <a:r>
              <a:rPr sz="2800" dirty="0">
                <a:latin typeface="宋体"/>
                <a:cs typeface="宋体"/>
              </a:rPr>
              <a:t>不需要左简化。可以得到</a:t>
            </a:r>
            <a:r>
              <a:rPr sz="2800" spc="-5" dirty="0">
                <a:latin typeface="Tahoma"/>
                <a:cs typeface="Tahoma"/>
              </a:rPr>
              <a:t>4</a:t>
            </a:r>
            <a:r>
              <a:rPr sz="2800" dirty="0">
                <a:latin typeface="宋体"/>
                <a:cs typeface="宋体"/>
              </a:rPr>
              <a:t>个最小依赖</a:t>
            </a:r>
            <a:r>
              <a:rPr sz="2800" spc="-5" dirty="0">
                <a:latin typeface="宋体"/>
                <a:cs typeface="宋体"/>
              </a:rPr>
              <a:t>集</a:t>
            </a:r>
            <a:endParaRPr sz="2800">
              <a:latin typeface="宋体"/>
              <a:cs typeface="宋体"/>
            </a:endParaRPr>
          </a:p>
          <a:p>
            <a:pPr marL="755650">
              <a:lnSpc>
                <a:spcPts val="3279"/>
              </a:lnSpc>
            </a:pPr>
            <a:r>
              <a:rPr sz="2800" spc="-5" dirty="0">
                <a:latin typeface="宋体"/>
                <a:cs typeface="宋体"/>
              </a:rPr>
              <a:t>。</a:t>
            </a:r>
            <a:endParaRPr sz="2800">
              <a:latin typeface="宋体"/>
              <a:cs typeface="宋体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97</TotalTime>
  <Words>4372</Words>
  <Application>Microsoft Office PowerPoint</Application>
  <PresentationFormat>全屏显示(4:3)</PresentationFormat>
  <Paragraphs>477</Paragraphs>
  <Slides>62</Slides>
  <Notes>0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62</vt:i4>
      </vt:variant>
    </vt:vector>
  </HeadingPairs>
  <TitlesOfParts>
    <vt:vector size="72" baseType="lpstr">
      <vt:lpstr>MS UI Gothic</vt:lpstr>
      <vt:lpstr>宋体</vt:lpstr>
      <vt:lpstr>Arial</vt:lpstr>
      <vt:lpstr>Calibri</vt:lpstr>
      <vt:lpstr>Lucida Sans Unicode</vt:lpstr>
      <vt:lpstr>Symbol</vt:lpstr>
      <vt:lpstr>Tahoma</vt:lpstr>
      <vt:lpstr>Times New Roman</vt:lpstr>
      <vt:lpstr>Wingdings</vt:lpstr>
      <vt:lpstr>Office Theme</vt:lpstr>
      <vt:lpstr>Functional Dependencies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数据依赖的公理系统</vt:lpstr>
      <vt:lpstr>小 结</vt:lpstr>
      <vt:lpstr>课堂练习</vt:lpstr>
      <vt:lpstr>课堂练习</vt:lpstr>
      <vt:lpstr>课堂练习</vt:lpstr>
      <vt:lpstr>课堂练习</vt:lpstr>
      <vt:lpstr>课堂练习</vt:lpstr>
      <vt:lpstr>课堂练习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  <vt:lpstr>课堂练习答案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- Vel</cp:lastModifiedBy>
  <cp:revision>1</cp:revision>
  <dcterms:created xsi:type="dcterms:W3CDTF">2024-06-16T04:45:39Z</dcterms:created>
  <dcterms:modified xsi:type="dcterms:W3CDTF">2024-06-16T09:16:17Z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2020-09-23T00:00:00Z</vt:filetime>
  </property>
  <property fmtid="{D5CDD505-2E9C-101B-9397-08002B2CF9AE}" pid="3" name="Creator">
    <vt:lpwstr>WPS 演示</vt:lpwstr>
  </property>
  <property fmtid="{D5CDD505-2E9C-101B-9397-08002B2CF9AE}" pid="4" name="LastSaved">
    <vt:filetime>2024-06-16T00:00:00Z</vt:filetime>
  </property>
</Properties>
</file>
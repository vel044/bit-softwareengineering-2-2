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09369" y="829944"/>
            <a:ext cx="65252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012949"/>
            <a:ext cx="7097395" cy="2848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nford.edu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435" y="2506344"/>
            <a:ext cx="7517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Database-Connection</a:t>
            </a:r>
            <a:r>
              <a:rPr spc="-20" dirty="0"/>
              <a:t> </a:t>
            </a:r>
            <a:r>
              <a:rPr spc="-15" dirty="0"/>
              <a:t>Libraries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113279" y="3821557"/>
            <a:ext cx="491744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009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Call-Level </a:t>
            </a:r>
            <a:r>
              <a:rPr sz="3200" spc="-10" dirty="0">
                <a:latin typeface="Tahoma"/>
                <a:cs typeface="Tahoma"/>
              </a:rPr>
              <a:t>Interface  </a:t>
            </a:r>
            <a:r>
              <a:rPr sz="3200" spc="-25" dirty="0">
                <a:latin typeface="Tahoma"/>
                <a:cs typeface="Tahoma"/>
              </a:rPr>
              <a:t>Java </a:t>
            </a:r>
            <a:r>
              <a:rPr sz="3200" spc="-5" dirty="0">
                <a:latin typeface="Tahoma"/>
                <a:cs typeface="Tahoma"/>
              </a:rPr>
              <a:t>Database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Connectivity</a:t>
            </a:r>
            <a:endParaRPr sz="3200" dirty="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PHP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7189" y="829944"/>
            <a:ext cx="5850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366FF"/>
                </a:solidFill>
              </a:rPr>
              <a:t>An </a:t>
            </a:r>
            <a:r>
              <a:rPr spc="-5" dirty="0">
                <a:solidFill>
                  <a:srgbClr val="3366FF"/>
                </a:solidFill>
              </a:rPr>
              <a:t>Aside</a:t>
            </a:r>
            <a:r>
              <a:rPr spc="-5" dirty="0"/>
              <a:t>: SQL</a:t>
            </a:r>
            <a:r>
              <a:rPr spc="-35" dirty="0"/>
              <a:t> </a:t>
            </a:r>
            <a:r>
              <a:rPr spc="-10" dirty="0"/>
              <a:t>Injection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6175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10209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queries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often constructed by  </a:t>
            </a:r>
            <a:r>
              <a:rPr sz="3200" spc="-10" dirty="0">
                <a:latin typeface="Tahoma"/>
                <a:cs typeface="Tahoma"/>
              </a:rPr>
              <a:t>programs.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These queries </a:t>
            </a:r>
            <a:r>
              <a:rPr sz="3200" spc="-10" dirty="0">
                <a:latin typeface="Tahoma"/>
                <a:cs typeface="Tahoma"/>
              </a:rPr>
              <a:t>may take </a:t>
            </a:r>
            <a:r>
              <a:rPr sz="3200" spc="-5" dirty="0">
                <a:latin typeface="Tahoma"/>
                <a:cs typeface="Tahoma"/>
              </a:rPr>
              <a:t>constants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user input.</a:t>
            </a:r>
            <a:endParaRPr sz="3200" dirty="0">
              <a:latin typeface="Tahoma"/>
              <a:cs typeface="Tahoma"/>
            </a:endParaRPr>
          </a:p>
          <a:p>
            <a:pPr marL="355600" marR="37084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Careless code can allow </a:t>
            </a:r>
            <a:r>
              <a:rPr sz="3200" spc="-15" dirty="0">
                <a:latin typeface="Tahoma"/>
                <a:cs typeface="Tahoma"/>
              </a:rPr>
              <a:t>rather  </a:t>
            </a:r>
            <a:r>
              <a:rPr sz="3200" spc="-5" dirty="0">
                <a:latin typeface="Tahoma"/>
                <a:cs typeface="Tahoma"/>
              </a:rPr>
              <a:t>unexpected queries to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constructed  and</a:t>
            </a:r>
            <a:r>
              <a:rPr sz="3200" spc="-10" dirty="0">
                <a:latin typeface="Tahoma"/>
                <a:cs typeface="Tahoma"/>
              </a:rPr>
              <a:t> executed.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3860" y="829944"/>
            <a:ext cx="5796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SQL</a:t>
            </a:r>
            <a:r>
              <a:rPr spc="-25" dirty="0"/>
              <a:t> </a:t>
            </a:r>
            <a:r>
              <a:rPr spc="-10" dirty="0"/>
              <a:t>Injection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724775" cy="32873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Relation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Accounts(name, passwd,</a:t>
            </a:r>
            <a:r>
              <a:rPr sz="3200" spc="-30" dirty="0">
                <a:solidFill>
                  <a:srgbClr val="CC66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acct)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5" dirty="0">
                <a:solidFill>
                  <a:srgbClr val="33CC33"/>
                </a:solidFill>
                <a:latin typeface="Tahoma"/>
                <a:cs typeface="Tahoma"/>
              </a:rPr>
              <a:t>Web 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interface</a:t>
            </a:r>
            <a:r>
              <a:rPr sz="3200" spc="-10" dirty="0">
                <a:latin typeface="Tahoma"/>
                <a:cs typeface="Tahoma"/>
              </a:rPr>
              <a:t>: </a:t>
            </a:r>
            <a:r>
              <a:rPr sz="3200" spc="-5" dirty="0">
                <a:latin typeface="Tahoma"/>
                <a:cs typeface="Tahoma"/>
              </a:rPr>
              <a:t>get name and password 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90" dirty="0">
                <a:latin typeface="Tahoma"/>
                <a:cs typeface="Tahoma"/>
              </a:rPr>
              <a:t>user, </a:t>
            </a:r>
            <a:r>
              <a:rPr sz="3200" spc="-5" dirty="0">
                <a:latin typeface="Tahoma"/>
                <a:cs typeface="Tahoma"/>
              </a:rPr>
              <a:t>store in strings </a:t>
            </a:r>
            <a:r>
              <a:rPr sz="3350" i="1" spc="-85" dirty="0">
                <a:solidFill>
                  <a:srgbClr val="CC6600"/>
                </a:solidFill>
                <a:latin typeface="Tahoma"/>
                <a:cs typeface="Tahoma"/>
              </a:rPr>
              <a:t>n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555" dirty="0">
                <a:solidFill>
                  <a:srgbClr val="CC6600"/>
                </a:solidFill>
                <a:latin typeface="Tahoma"/>
                <a:cs typeface="Tahoma"/>
              </a:rPr>
              <a:t>p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issue  </a:t>
            </a:r>
            <a:r>
              <a:rPr sz="3200" spc="-50" dirty="0">
                <a:latin typeface="Tahoma"/>
                <a:cs typeface="Tahoma"/>
              </a:rPr>
              <a:t>query, </a:t>
            </a:r>
            <a:r>
              <a:rPr sz="3200" spc="-10" dirty="0">
                <a:latin typeface="Tahoma"/>
                <a:cs typeface="Tahoma"/>
              </a:rPr>
              <a:t>display </a:t>
            </a:r>
            <a:r>
              <a:rPr sz="3200" spc="-5" dirty="0">
                <a:latin typeface="Tahoma"/>
                <a:cs typeface="Tahoma"/>
              </a:rPr>
              <a:t>account</a:t>
            </a:r>
            <a:r>
              <a:rPr sz="3200" spc="35" dirty="0">
                <a:latin typeface="Tahoma"/>
                <a:cs typeface="Tahoma"/>
              </a:rPr>
              <a:t> </a:t>
            </a:r>
            <a:r>
              <a:rPr sz="3200" spc="-65" dirty="0">
                <a:latin typeface="Tahoma"/>
                <a:cs typeface="Tahoma"/>
              </a:rPr>
              <a:t>number.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3200" spc="-5" dirty="0">
                <a:latin typeface="Courier New"/>
                <a:cs typeface="Courier New"/>
              </a:rPr>
              <a:t>SELECT acct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Accounts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name </a:t>
            </a:r>
            <a:r>
              <a:rPr sz="3200" dirty="0">
                <a:latin typeface="Courier New"/>
                <a:cs typeface="Courier New"/>
              </a:rPr>
              <a:t>= :n </a:t>
            </a:r>
            <a:r>
              <a:rPr sz="3200" spc="-5" dirty="0">
                <a:latin typeface="Courier New"/>
                <a:cs typeface="Courier New"/>
              </a:rPr>
              <a:t>AND passwd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:p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59" y="829944"/>
            <a:ext cx="8564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User </a:t>
            </a:r>
            <a:r>
              <a:rPr spc="-5" dirty="0">
                <a:solidFill>
                  <a:srgbClr val="CC6600"/>
                </a:solidFill>
              </a:rPr>
              <a:t>(Who </a:t>
            </a:r>
            <a:r>
              <a:rPr spc="-25" dirty="0">
                <a:solidFill>
                  <a:srgbClr val="CC6600"/>
                </a:solidFill>
              </a:rPr>
              <a:t>Is </a:t>
            </a:r>
            <a:r>
              <a:rPr spc="-5" dirty="0">
                <a:solidFill>
                  <a:srgbClr val="CC6600"/>
                </a:solidFill>
              </a:rPr>
              <a:t>Not </a:t>
            </a:r>
            <a:r>
              <a:rPr spc="5" dirty="0">
                <a:solidFill>
                  <a:srgbClr val="CC6600"/>
                </a:solidFill>
              </a:rPr>
              <a:t>Bill </a:t>
            </a:r>
            <a:r>
              <a:rPr spc="-5" dirty="0">
                <a:solidFill>
                  <a:srgbClr val="CC6600"/>
                </a:solidFill>
              </a:rPr>
              <a:t>Gates)</a:t>
            </a:r>
            <a:r>
              <a:rPr spc="-30" dirty="0">
                <a:solidFill>
                  <a:srgbClr val="CC6600"/>
                </a:solidFill>
              </a:rPr>
              <a:t> </a:t>
            </a:r>
            <a:r>
              <a:rPr spc="-85" dirty="0"/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2590800" y="2438400"/>
            <a:ext cx="3352800" cy="609600"/>
          </a:xfrm>
          <a:custGeom>
            <a:avLst/>
            <a:gdLst/>
            <a:ahLst/>
            <a:cxnLst/>
            <a:rect l="l" t="t" r="r" b="b"/>
            <a:pathLst>
              <a:path w="3352800" h="609600">
                <a:moveTo>
                  <a:pt x="0" y="0"/>
                </a:moveTo>
                <a:lnTo>
                  <a:pt x="3352800" y="0"/>
                </a:lnTo>
                <a:lnTo>
                  <a:pt x="3352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86037" y="2433637"/>
            <a:ext cx="3362325" cy="619125"/>
          </a:xfrm>
          <a:custGeom>
            <a:avLst/>
            <a:gdLst/>
            <a:ahLst/>
            <a:cxnLst/>
            <a:rect l="l" t="t" r="r" b="b"/>
            <a:pathLst>
              <a:path w="3362325" h="619125">
                <a:moveTo>
                  <a:pt x="3362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3362325" y="0"/>
                </a:lnTo>
                <a:lnTo>
                  <a:pt x="3362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3362325" y="614362"/>
                </a:lnTo>
                <a:lnTo>
                  <a:pt x="3362325" y="619125"/>
                </a:lnTo>
                <a:close/>
              </a:path>
              <a:path w="3362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62325" h="619125">
                <a:moveTo>
                  <a:pt x="3352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52800" y="4762"/>
                </a:lnTo>
                <a:lnTo>
                  <a:pt x="3352800" y="9525"/>
                </a:lnTo>
                <a:close/>
              </a:path>
              <a:path w="3362325" h="619125">
                <a:moveTo>
                  <a:pt x="3352800" y="614362"/>
                </a:moveTo>
                <a:lnTo>
                  <a:pt x="3352800" y="4762"/>
                </a:lnTo>
                <a:lnTo>
                  <a:pt x="3357562" y="9525"/>
                </a:lnTo>
                <a:lnTo>
                  <a:pt x="3362325" y="9525"/>
                </a:lnTo>
                <a:lnTo>
                  <a:pt x="3362325" y="609600"/>
                </a:lnTo>
                <a:lnTo>
                  <a:pt x="3357562" y="609600"/>
                </a:lnTo>
                <a:lnTo>
                  <a:pt x="3352800" y="614362"/>
                </a:lnTo>
                <a:close/>
              </a:path>
              <a:path w="3362325" h="619125">
                <a:moveTo>
                  <a:pt x="3362325" y="9525"/>
                </a:moveTo>
                <a:lnTo>
                  <a:pt x="3357562" y="9525"/>
                </a:lnTo>
                <a:lnTo>
                  <a:pt x="3352800" y="4762"/>
                </a:lnTo>
                <a:lnTo>
                  <a:pt x="3362325" y="4762"/>
                </a:lnTo>
                <a:lnTo>
                  <a:pt x="3362325" y="9525"/>
                </a:lnTo>
                <a:close/>
              </a:path>
              <a:path w="3362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3362325" h="619125">
                <a:moveTo>
                  <a:pt x="3352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3352800" y="609600"/>
                </a:lnTo>
                <a:lnTo>
                  <a:pt x="3352800" y="614362"/>
                </a:lnTo>
                <a:close/>
              </a:path>
              <a:path w="3362325" h="619125">
                <a:moveTo>
                  <a:pt x="3362325" y="614362"/>
                </a:moveTo>
                <a:lnTo>
                  <a:pt x="3352800" y="614362"/>
                </a:lnTo>
                <a:lnTo>
                  <a:pt x="3357562" y="609600"/>
                </a:lnTo>
                <a:lnTo>
                  <a:pt x="3362325" y="609600"/>
                </a:lnTo>
                <a:lnTo>
                  <a:pt x="3362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90800" y="3581400"/>
            <a:ext cx="3352800" cy="609600"/>
          </a:xfrm>
          <a:custGeom>
            <a:avLst/>
            <a:gdLst/>
            <a:ahLst/>
            <a:cxnLst/>
            <a:rect l="l" t="t" r="r" b="b"/>
            <a:pathLst>
              <a:path w="3352800" h="609600">
                <a:moveTo>
                  <a:pt x="0" y="0"/>
                </a:moveTo>
                <a:lnTo>
                  <a:pt x="3352800" y="0"/>
                </a:lnTo>
                <a:lnTo>
                  <a:pt x="3352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6037" y="3576637"/>
            <a:ext cx="3362325" cy="619125"/>
          </a:xfrm>
          <a:custGeom>
            <a:avLst/>
            <a:gdLst/>
            <a:ahLst/>
            <a:cxnLst/>
            <a:rect l="l" t="t" r="r" b="b"/>
            <a:pathLst>
              <a:path w="3362325" h="619125">
                <a:moveTo>
                  <a:pt x="33623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3362325" y="0"/>
                </a:lnTo>
                <a:lnTo>
                  <a:pt x="3362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3362325" y="614362"/>
                </a:lnTo>
                <a:lnTo>
                  <a:pt x="3362325" y="619125"/>
                </a:lnTo>
                <a:close/>
              </a:path>
              <a:path w="33623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362325" h="619125">
                <a:moveTo>
                  <a:pt x="3352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52800" y="4762"/>
                </a:lnTo>
                <a:lnTo>
                  <a:pt x="3352800" y="9525"/>
                </a:lnTo>
                <a:close/>
              </a:path>
              <a:path w="3362325" h="619125">
                <a:moveTo>
                  <a:pt x="3352800" y="614362"/>
                </a:moveTo>
                <a:lnTo>
                  <a:pt x="3352800" y="4762"/>
                </a:lnTo>
                <a:lnTo>
                  <a:pt x="3357562" y="9525"/>
                </a:lnTo>
                <a:lnTo>
                  <a:pt x="3362325" y="9525"/>
                </a:lnTo>
                <a:lnTo>
                  <a:pt x="3362325" y="609600"/>
                </a:lnTo>
                <a:lnTo>
                  <a:pt x="3357562" y="609600"/>
                </a:lnTo>
                <a:lnTo>
                  <a:pt x="3352800" y="614362"/>
                </a:lnTo>
                <a:close/>
              </a:path>
              <a:path w="3362325" h="619125">
                <a:moveTo>
                  <a:pt x="3362325" y="9525"/>
                </a:moveTo>
                <a:lnTo>
                  <a:pt x="3357562" y="9525"/>
                </a:lnTo>
                <a:lnTo>
                  <a:pt x="3352800" y="4762"/>
                </a:lnTo>
                <a:lnTo>
                  <a:pt x="3362325" y="4762"/>
                </a:lnTo>
                <a:lnTo>
                  <a:pt x="3362325" y="9525"/>
                </a:lnTo>
                <a:close/>
              </a:path>
              <a:path w="33623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3362325" h="619125">
                <a:moveTo>
                  <a:pt x="33528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3352800" y="609600"/>
                </a:lnTo>
                <a:lnTo>
                  <a:pt x="3352800" y="614362"/>
                </a:lnTo>
                <a:close/>
              </a:path>
              <a:path w="3362325" h="619125">
                <a:moveTo>
                  <a:pt x="3362325" y="614362"/>
                </a:moveTo>
                <a:lnTo>
                  <a:pt x="3352800" y="614362"/>
                </a:lnTo>
                <a:lnTo>
                  <a:pt x="3357562" y="609600"/>
                </a:lnTo>
                <a:lnTo>
                  <a:pt x="3362325" y="609600"/>
                </a:lnTo>
                <a:lnTo>
                  <a:pt x="33623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05864" y="2478087"/>
            <a:ext cx="1209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Name</a:t>
            </a:r>
            <a:r>
              <a:rPr sz="320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613150"/>
            <a:ext cx="18522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>
                <a:latin typeface="Tahoma"/>
                <a:cs typeface="Tahoma"/>
              </a:rPr>
              <a:t>Password: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39" y="4984750"/>
            <a:ext cx="6089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0" dirty="0">
                <a:latin typeface="Tahoma"/>
                <a:cs typeface="Tahoma"/>
              </a:rPr>
              <a:t>Your </a:t>
            </a:r>
            <a:r>
              <a:rPr sz="3200" spc="-5" dirty="0">
                <a:latin typeface="Tahoma"/>
                <a:cs typeface="Tahoma"/>
              </a:rPr>
              <a:t>account number is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1234-567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98139" y="2414269"/>
            <a:ext cx="14890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urier New"/>
                <a:cs typeface="Courier New"/>
              </a:rPr>
              <a:t>gates</a:t>
            </a:r>
            <a:r>
              <a:rPr sz="3200" dirty="0"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7720" y="2495140"/>
            <a:ext cx="48831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-</a:t>
            </a:r>
            <a:r>
              <a:rPr sz="3200" dirty="0">
                <a:latin typeface="Courier New"/>
                <a:cs typeface="Courier New"/>
              </a:rPr>
              <a:t>-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0800" y="3560445"/>
            <a:ext cx="33528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urier New"/>
                <a:cs typeface="Courier New"/>
              </a:rPr>
              <a:t>who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cares?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0" y="2514600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67237" y="2509837"/>
            <a:ext cx="619125" cy="390525"/>
          </a:xfrm>
          <a:custGeom>
            <a:avLst/>
            <a:gdLst/>
            <a:ahLst/>
            <a:cxnLst/>
            <a:rect l="l" t="t" r="r" b="b"/>
            <a:pathLst>
              <a:path w="619125" h="390525">
                <a:moveTo>
                  <a:pt x="6191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619125" y="385762"/>
                </a:lnTo>
                <a:lnTo>
                  <a:pt x="619125" y="390525"/>
                </a:lnTo>
                <a:close/>
              </a:path>
              <a:path w="6191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3905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390525">
                <a:moveTo>
                  <a:pt x="609600" y="3857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381000"/>
                </a:lnTo>
                <a:lnTo>
                  <a:pt x="614362" y="381000"/>
                </a:lnTo>
                <a:lnTo>
                  <a:pt x="609600" y="385762"/>
                </a:lnTo>
                <a:close/>
              </a:path>
              <a:path w="619125" h="3905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619125" h="390525">
                <a:moveTo>
                  <a:pt x="6096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609600" y="381000"/>
                </a:lnTo>
                <a:lnTo>
                  <a:pt x="609600" y="385762"/>
                </a:lnTo>
                <a:close/>
              </a:path>
              <a:path w="619125" h="390525">
                <a:moveTo>
                  <a:pt x="619125" y="385762"/>
                </a:moveTo>
                <a:lnTo>
                  <a:pt x="609600" y="385762"/>
                </a:lnTo>
                <a:lnTo>
                  <a:pt x="614362" y="381000"/>
                </a:lnTo>
                <a:lnTo>
                  <a:pt x="619125" y="381000"/>
                </a:lnTo>
                <a:lnTo>
                  <a:pt x="6191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11265" y="1894522"/>
            <a:ext cx="1318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</a:t>
            </a:r>
            <a:r>
              <a:rPr sz="2400" spc="-5" dirty="0">
                <a:latin typeface="Tahoma"/>
                <a:cs typeface="Tahoma"/>
              </a:rPr>
              <a:t>mm</a:t>
            </a:r>
            <a:r>
              <a:rPr sz="2400" dirty="0">
                <a:latin typeface="Tahoma"/>
                <a:cs typeface="Tahoma"/>
              </a:rPr>
              <a:t>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11265" y="2260282"/>
            <a:ext cx="1211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Oracle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81600" y="2281364"/>
            <a:ext cx="991869" cy="253365"/>
          </a:xfrm>
          <a:custGeom>
            <a:avLst/>
            <a:gdLst/>
            <a:ahLst/>
            <a:cxnLst/>
            <a:rect l="l" t="t" r="r" b="b"/>
            <a:pathLst>
              <a:path w="991870" h="253364">
                <a:moveTo>
                  <a:pt x="75322" y="220746"/>
                </a:moveTo>
                <a:lnTo>
                  <a:pt x="73179" y="211462"/>
                </a:lnTo>
                <a:lnTo>
                  <a:pt x="989533" y="0"/>
                </a:lnTo>
                <a:lnTo>
                  <a:pt x="991666" y="9271"/>
                </a:lnTo>
                <a:lnTo>
                  <a:pt x="75322" y="220746"/>
                </a:lnTo>
                <a:close/>
              </a:path>
              <a:path w="991870" h="253364">
                <a:moveTo>
                  <a:pt x="82816" y="253225"/>
                </a:moveTo>
                <a:lnTo>
                  <a:pt x="0" y="233235"/>
                </a:lnTo>
                <a:lnTo>
                  <a:pt x="65684" y="178981"/>
                </a:lnTo>
                <a:lnTo>
                  <a:pt x="73179" y="211462"/>
                </a:lnTo>
                <a:lnTo>
                  <a:pt x="54610" y="215747"/>
                </a:lnTo>
                <a:lnTo>
                  <a:pt x="56756" y="225031"/>
                </a:lnTo>
                <a:lnTo>
                  <a:pt x="76310" y="225031"/>
                </a:lnTo>
                <a:lnTo>
                  <a:pt x="82816" y="253225"/>
                </a:lnTo>
                <a:close/>
              </a:path>
              <a:path w="991870" h="253364">
                <a:moveTo>
                  <a:pt x="56756" y="225031"/>
                </a:moveTo>
                <a:lnTo>
                  <a:pt x="54610" y="215747"/>
                </a:lnTo>
                <a:lnTo>
                  <a:pt x="73179" y="211462"/>
                </a:lnTo>
                <a:lnTo>
                  <a:pt x="75322" y="220746"/>
                </a:lnTo>
                <a:lnTo>
                  <a:pt x="56756" y="225031"/>
                </a:lnTo>
                <a:close/>
              </a:path>
              <a:path w="991870" h="253364">
                <a:moveTo>
                  <a:pt x="76310" y="225031"/>
                </a:moveTo>
                <a:lnTo>
                  <a:pt x="56756" y="225031"/>
                </a:lnTo>
                <a:lnTo>
                  <a:pt x="75322" y="220746"/>
                </a:lnTo>
                <a:lnTo>
                  <a:pt x="76310" y="2250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39" y="829944"/>
            <a:ext cx="50247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Query</a:t>
            </a:r>
            <a:r>
              <a:rPr spc="-65" dirty="0"/>
              <a:t> </a:t>
            </a:r>
            <a:r>
              <a:rPr spc="-10" dirty="0"/>
              <a:t>Executed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851"/>
            <a:ext cx="612203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  <a:tabLst>
                <a:tab pos="5376545" algn="l"/>
              </a:tabLst>
            </a:pPr>
            <a:r>
              <a:rPr sz="3200" spc="-5" dirty="0">
                <a:latin typeface="Courier New"/>
                <a:cs typeface="Courier New"/>
              </a:rPr>
              <a:t>SELECT acct FROM Accounts  WHERE name</a:t>
            </a:r>
            <a:r>
              <a:rPr sz="3200" spc="2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</a:t>
            </a:r>
            <a:r>
              <a:rPr sz="3200" spc="-5" dirty="0">
                <a:solidFill>
                  <a:srgbClr val="FF0066"/>
                </a:solidFill>
                <a:latin typeface="Courier New"/>
                <a:cs typeface="Courier New"/>
              </a:rPr>
              <a:t>gates’	</a:t>
            </a:r>
            <a:r>
              <a:rPr sz="3200" dirty="0">
                <a:solidFill>
                  <a:srgbClr val="FF0066"/>
                </a:solidFill>
                <a:latin typeface="Courier New"/>
                <a:cs typeface="Courier New"/>
              </a:rPr>
              <a:t>--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29400" y="2625950"/>
            <a:ext cx="121983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dirty="0">
                <a:latin typeface="Courier New"/>
                <a:cs typeface="Courier New"/>
              </a:rPr>
              <a:t>’</a:t>
            </a:r>
            <a:r>
              <a:rPr sz="3200" spc="-9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AND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39" y="3224755"/>
            <a:ext cx="512127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passwd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</a:t>
            </a:r>
            <a:r>
              <a:rPr sz="3200" spc="-5" dirty="0">
                <a:solidFill>
                  <a:srgbClr val="FF0066"/>
                </a:solidFill>
                <a:latin typeface="Courier New"/>
                <a:cs typeface="Courier New"/>
              </a:rPr>
              <a:t>who</a:t>
            </a:r>
            <a:r>
              <a:rPr sz="3200" spc="-45" dirty="0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sz="3200" spc="-5" dirty="0">
                <a:solidFill>
                  <a:srgbClr val="FF0066"/>
                </a:solidFill>
                <a:latin typeface="Courier New"/>
                <a:cs typeface="Courier New"/>
              </a:rPr>
              <a:t>cares?</a:t>
            </a:r>
            <a:r>
              <a:rPr sz="3200" spc="-5" dirty="0">
                <a:latin typeface="Courier New"/>
                <a:cs typeface="Courier New"/>
              </a:rPr>
              <a:t>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0" y="259080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0"/>
                </a:moveTo>
                <a:lnTo>
                  <a:pt x="1295400" y="0"/>
                </a:lnTo>
                <a:lnTo>
                  <a:pt x="1295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24637" y="2586037"/>
            <a:ext cx="1304925" cy="542925"/>
          </a:xfrm>
          <a:custGeom>
            <a:avLst/>
            <a:gdLst/>
            <a:ahLst/>
            <a:cxnLst/>
            <a:rect l="l" t="t" r="r" b="b"/>
            <a:pathLst>
              <a:path w="1304925" h="542925">
                <a:moveTo>
                  <a:pt x="13049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304925" y="538162"/>
                </a:lnTo>
                <a:lnTo>
                  <a:pt x="1304925" y="542925"/>
                </a:lnTo>
                <a:close/>
              </a:path>
              <a:path w="13049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5429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542925">
                <a:moveTo>
                  <a:pt x="1295400" y="5381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533400"/>
                </a:lnTo>
                <a:lnTo>
                  <a:pt x="1300162" y="533400"/>
                </a:lnTo>
                <a:lnTo>
                  <a:pt x="1295400" y="538162"/>
                </a:lnTo>
                <a:close/>
              </a:path>
              <a:path w="1304925" h="5429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304925" h="542925">
                <a:moveTo>
                  <a:pt x="12954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295400" y="533400"/>
                </a:lnTo>
                <a:lnTo>
                  <a:pt x="1295400" y="538162"/>
                </a:lnTo>
                <a:close/>
              </a:path>
              <a:path w="1304925" h="542925">
                <a:moveTo>
                  <a:pt x="1304925" y="538162"/>
                </a:moveTo>
                <a:lnTo>
                  <a:pt x="1295400" y="538162"/>
                </a:lnTo>
                <a:lnTo>
                  <a:pt x="1300162" y="533400"/>
                </a:lnTo>
                <a:lnTo>
                  <a:pt x="1304925" y="533400"/>
                </a:lnTo>
                <a:lnTo>
                  <a:pt x="13049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0600" y="3200400"/>
            <a:ext cx="5257800" cy="533400"/>
          </a:xfrm>
          <a:custGeom>
            <a:avLst/>
            <a:gdLst/>
            <a:ahLst/>
            <a:cxnLst/>
            <a:rect l="l" t="t" r="r" b="b"/>
            <a:pathLst>
              <a:path w="5257800" h="533400">
                <a:moveTo>
                  <a:pt x="0" y="0"/>
                </a:moveTo>
                <a:lnTo>
                  <a:pt x="5257800" y="0"/>
                </a:lnTo>
                <a:lnTo>
                  <a:pt x="52578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85837" y="3195637"/>
            <a:ext cx="5267325" cy="542925"/>
          </a:xfrm>
          <a:custGeom>
            <a:avLst/>
            <a:gdLst/>
            <a:ahLst/>
            <a:cxnLst/>
            <a:rect l="l" t="t" r="r" b="b"/>
            <a:pathLst>
              <a:path w="5267325" h="542925">
                <a:moveTo>
                  <a:pt x="52673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5267325" y="0"/>
                </a:lnTo>
                <a:lnTo>
                  <a:pt x="5267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5267325" y="538162"/>
                </a:lnTo>
                <a:lnTo>
                  <a:pt x="5267325" y="542925"/>
                </a:lnTo>
                <a:close/>
              </a:path>
              <a:path w="52673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267325" h="542925">
                <a:moveTo>
                  <a:pt x="5257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257800" y="4762"/>
                </a:lnTo>
                <a:lnTo>
                  <a:pt x="5257800" y="9525"/>
                </a:lnTo>
                <a:close/>
              </a:path>
              <a:path w="5267325" h="542925">
                <a:moveTo>
                  <a:pt x="5257800" y="538162"/>
                </a:moveTo>
                <a:lnTo>
                  <a:pt x="5257800" y="4762"/>
                </a:lnTo>
                <a:lnTo>
                  <a:pt x="5262562" y="9525"/>
                </a:lnTo>
                <a:lnTo>
                  <a:pt x="5267325" y="9525"/>
                </a:lnTo>
                <a:lnTo>
                  <a:pt x="5267325" y="533400"/>
                </a:lnTo>
                <a:lnTo>
                  <a:pt x="5262562" y="533400"/>
                </a:lnTo>
                <a:lnTo>
                  <a:pt x="5257800" y="538162"/>
                </a:lnTo>
                <a:close/>
              </a:path>
              <a:path w="5267325" h="542925">
                <a:moveTo>
                  <a:pt x="5267325" y="9525"/>
                </a:moveTo>
                <a:lnTo>
                  <a:pt x="5262562" y="9525"/>
                </a:lnTo>
                <a:lnTo>
                  <a:pt x="5257800" y="4762"/>
                </a:lnTo>
                <a:lnTo>
                  <a:pt x="5267325" y="4762"/>
                </a:lnTo>
                <a:lnTo>
                  <a:pt x="5267325" y="9525"/>
                </a:lnTo>
                <a:close/>
              </a:path>
              <a:path w="52673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5267325" h="542925">
                <a:moveTo>
                  <a:pt x="52578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5257800" y="533400"/>
                </a:lnTo>
                <a:lnTo>
                  <a:pt x="5257800" y="538162"/>
                </a:lnTo>
                <a:close/>
              </a:path>
              <a:path w="5267325" h="542925">
                <a:moveTo>
                  <a:pt x="5267325" y="538162"/>
                </a:moveTo>
                <a:lnTo>
                  <a:pt x="5257800" y="538162"/>
                </a:lnTo>
                <a:lnTo>
                  <a:pt x="5262562" y="533400"/>
                </a:lnTo>
                <a:lnTo>
                  <a:pt x="5267325" y="533400"/>
                </a:lnTo>
                <a:lnTo>
                  <a:pt x="52673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87064" y="4485322"/>
            <a:ext cx="3398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All </a:t>
            </a:r>
            <a:r>
              <a:rPr sz="2400" spc="-5" dirty="0">
                <a:latin typeface="Tahoma"/>
                <a:cs typeface="Tahoma"/>
              </a:rPr>
              <a:t>treated </a:t>
            </a:r>
            <a:r>
              <a:rPr sz="2400" dirty="0">
                <a:latin typeface="Tahoma"/>
                <a:cs typeface="Tahoma"/>
              </a:rPr>
              <a:t>as a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comment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85348" y="3733800"/>
            <a:ext cx="110489" cy="686435"/>
          </a:xfrm>
          <a:custGeom>
            <a:avLst/>
            <a:gdLst/>
            <a:ahLst/>
            <a:cxnLst/>
            <a:rect l="l" t="t" r="r" b="b"/>
            <a:pathLst>
              <a:path w="110489" h="686435">
                <a:moveTo>
                  <a:pt x="0" y="79946"/>
                </a:moveTo>
                <a:lnTo>
                  <a:pt x="29451" y="0"/>
                </a:lnTo>
                <a:lnTo>
                  <a:pt x="65861" y="56273"/>
                </a:lnTo>
                <a:lnTo>
                  <a:pt x="40500" y="56273"/>
                </a:lnTo>
                <a:lnTo>
                  <a:pt x="31026" y="57327"/>
                </a:lnTo>
                <a:lnTo>
                  <a:pt x="33130" y="76262"/>
                </a:lnTo>
                <a:lnTo>
                  <a:pt x="0" y="79946"/>
                </a:lnTo>
                <a:close/>
              </a:path>
              <a:path w="110489" h="686435">
                <a:moveTo>
                  <a:pt x="33130" y="76262"/>
                </a:moveTo>
                <a:lnTo>
                  <a:pt x="31026" y="57327"/>
                </a:lnTo>
                <a:lnTo>
                  <a:pt x="40500" y="56273"/>
                </a:lnTo>
                <a:lnTo>
                  <a:pt x="42604" y="75209"/>
                </a:lnTo>
                <a:lnTo>
                  <a:pt x="33130" y="76262"/>
                </a:lnTo>
                <a:close/>
              </a:path>
              <a:path w="110489" h="686435">
                <a:moveTo>
                  <a:pt x="42604" y="75209"/>
                </a:moveTo>
                <a:lnTo>
                  <a:pt x="40500" y="56273"/>
                </a:lnTo>
                <a:lnTo>
                  <a:pt x="65861" y="56273"/>
                </a:lnTo>
                <a:lnTo>
                  <a:pt x="75730" y="71526"/>
                </a:lnTo>
                <a:lnTo>
                  <a:pt x="42604" y="75209"/>
                </a:lnTo>
                <a:close/>
              </a:path>
              <a:path w="110489" h="686435">
                <a:moveTo>
                  <a:pt x="100914" y="686320"/>
                </a:moveTo>
                <a:lnTo>
                  <a:pt x="33130" y="76262"/>
                </a:lnTo>
                <a:lnTo>
                  <a:pt x="42604" y="75209"/>
                </a:lnTo>
                <a:lnTo>
                  <a:pt x="110388" y="685279"/>
                </a:lnTo>
                <a:lnTo>
                  <a:pt x="100914" y="6863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07418" y="3124200"/>
            <a:ext cx="1908175" cy="1376045"/>
          </a:xfrm>
          <a:custGeom>
            <a:avLst/>
            <a:gdLst/>
            <a:ahLst/>
            <a:cxnLst/>
            <a:rect l="l" t="t" r="r" b="b"/>
            <a:pathLst>
              <a:path w="1908175" h="1376045">
                <a:moveTo>
                  <a:pt x="1843162" y="40656"/>
                </a:moveTo>
                <a:lnTo>
                  <a:pt x="1823681" y="13601"/>
                </a:lnTo>
                <a:lnTo>
                  <a:pt x="1907781" y="0"/>
                </a:lnTo>
                <a:lnTo>
                  <a:pt x="1892291" y="29527"/>
                </a:lnTo>
                <a:lnTo>
                  <a:pt x="1858619" y="29527"/>
                </a:lnTo>
                <a:lnTo>
                  <a:pt x="1843162" y="40656"/>
                </a:lnTo>
                <a:close/>
              </a:path>
              <a:path w="1908175" h="1376045">
                <a:moveTo>
                  <a:pt x="1848729" y="48387"/>
                </a:moveTo>
                <a:lnTo>
                  <a:pt x="1843162" y="40656"/>
                </a:lnTo>
                <a:lnTo>
                  <a:pt x="1858619" y="29527"/>
                </a:lnTo>
                <a:lnTo>
                  <a:pt x="1864182" y="37261"/>
                </a:lnTo>
                <a:lnTo>
                  <a:pt x="1848729" y="48387"/>
                </a:lnTo>
                <a:close/>
              </a:path>
              <a:path w="1908175" h="1376045">
                <a:moveTo>
                  <a:pt x="1868208" y="75437"/>
                </a:moveTo>
                <a:lnTo>
                  <a:pt x="1848729" y="48387"/>
                </a:lnTo>
                <a:lnTo>
                  <a:pt x="1864182" y="37261"/>
                </a:lnTo>
                <a:lnTo>
                  <a:pt x="1858619" y="29527"/>
                </a:lnTo>
                <a:lnTo>
                  <a:pt x="1892291" y="29527"/>
                </a:lnTo>
                <a:lnTo>
                  <a:pt x="1868208" y="75437"/>
                </a:lnTo>
                <a:close/>
              </a:path>
              <a:path w="1908175" h="1376045">
                <a:moveTo>
                  <a:pt x="5562" y="1375460"/>
                </a:moveTo>
                <a:lnTo>
                  <a:pt x="0" y="1367739"/>
                </a:lnTo>
                <a:lnTo>
                  <a:pt x="1843162" y="40656"/>
                </a:lnTo>
                <a:lnTo>
                  <a:pt x="1848729" y="48387"/>
                </a:lnTo>
                <a:lnTo>
                  <a:pt x="5562" y="1375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7344" y="495299"/>
            <a:ext cx="590931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18970" marR="5080" indent="-190627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Host/SQL </a:t>
            </a:r>
            <a:r>
              <a:rPr spc="-15" dirty="0"/>
              <a:t>Interfaces </a:t>
            </a:r>
            <a:r>
              <a:rPr spc="-5" dirty="0"/>
              <a:t>Via  </a:t>
            </a:r>
            <a:r>
              <a:rPr spc="-15" dirty="0"/>
              <a:t>Libraries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47890" cy="302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 third approach to connecting  databases to </a:t>
            </a:r>
            <a:r>
              <a:rPr sz="3200" spc="-10" dirty="0">
                <a:latin typeface="Tahoma"/>
                <a:cs typeface="Tahoma"/>
              </a:rPr>
              <a:t>conventional </a:t>
            </a:r>
            <a:r>
              <a:rPr sz="3200" spc="-5" dirty="0">
                <a:latin typeface="Tahoma"/>
                <a:cs typeface="Tahoma"/>
              </a:rPr>
              <a:t>languages  is to use </a:t>
            </a:r>
            <a:r>
              <a:rPr sz="3200" spc="-10" dirty="0">
                <a:latin typeface="Tahoma"/>
                <a:cs typeface="Tahoma"/>
              </a:rPr>
              <a:t>library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calls.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C +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CLI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25" dirty="0">
                <a:latin typeface="Tahoma"/>
                <a:cs typeface="Tahoma"/>
              </a:rPr>
              <a:t>Java </a:t>
            </a:r>
            <a:r>
              <a:rPr sz="2800" spc="-5" dirty="0">
                <a:latin typeface="Tahoma"/>
                <a:cs typeface="Tahoma"/>
              </a:rPr>
              <a:t>+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JDBC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PHP +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PEAR/DB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2754" y="829944"/>
            <a:ext cx="5698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Three-Tier</a:t>
            </a:r>
            <a:r>
              <a:rPr spc="-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160260" cy="39613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6032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common </a:t>
            </a:r>
            <a:r>
              <a:rPr sz="3200" spc="-10" dirty="0">
                <a:latin typeface="Tahoma"/>
                <a:cs typeface="Tahoma"/>
              </a:rPr>
              <a:t>environment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database has three tiers of  processors:</a:t>
            </a:r>
            <a:endParaRPr sz="3200" dirty="0">
              <a:latin typeface="Tahoma"/>
              <a:cs typeface="Tahoma"/>
            </a:endParaRPr>
          </a:p>
          <a:p>
            <a:pPr marL="979805" lvl="1" indent="-534035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Webservers</a:t>
            </a:r>
            <a:r>
              <a:rPr sz="2800" spc="-725" dirty="0">
                <a:latin typeface="Tahoma"/>
                <a:cs typeface="Tahoma"/>
              </a:rPr>
              <a:t>-- </a:t>
            </a:r>
            <a:r>
              <a:rPr sz="2800" spc="-5" dirty="0">
                <a:latin typeface="Tahoma"/>
                <a:cs typeface="Tahoma"/>
              </a:rPr>
              <a:t>talk to the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user.</a:t>
            </a:r>
            <a:endParaRPr sz="2800" dirty="0">
              <a:latin typeface="Tahoma"/>
              <a:cs typeface="Tahoma"/>
            </a:endParaRPr>
          </a:p>
          <a:p>
            <a:pPr marL="1002665" marR="615315" lvl="1" indent="-556895">
              <a:lnSpc>
                <a:spcPts val="3360"/>
              </a:lnSpc>
              <a:spcBef>
                <a:spcPts val="76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 err="1">
                <a:effectLst/>
              </a:rPr>
              <a:t>Applicationservers</a:t>
            </a:r>
            <a:r>
              <a:rPr sz="2800" spc="-800" dirty="0">
                <a:latin typeface="Tahoma"/>
                <a:cs typeface="Tahoma"/>
              </a:rPr>
              <a:t>-- </a:t>
            </a:r>
            <a:r>
              <a:rPr sz="2800" spc="-10" dirty="0">
                <a:latin typeface="Tahoma"/>
                <a:cs typeface="Tahoma"/>
              </a:rPr>
              <a:t>execute </a:t>
            </a:r>
            <a:r>
              <a:rPr sz="2800" spc="-5" dirty="0">
                <a:latin typeface="Tahoma"/>
                <a:cs typeface="Tahoma"/>
              </a:rPr>
              <a:t>the  business logic.</a:t>
            </a:r>
            <a:endParaRPr sz="2800" dirty="0">
              <a:latin typeface="Tahoma"/>
              <a:cs typeface="Tahoma"/>
            </a:endParaRPr>
          </a:p>
          <a:p>
            <a:pPr marL="1002665" marR="5080" lvl="1" indent="-556895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 err="1">
                <a:effectLst/>
              </a:rPr>
              <a:t>Databaseservers</a:t>
            </a:r>
            <a:r>
              <a:rPr sz="2800" spc="-825" dirty="0">
                <a:latin typeface="Tahoma"/>
                <a:cs typeface="Tahoma"/>
              </a:rPr>
              <a:t>-- </a:t>
            </a:r>
            <a:r>
              <a:rPr sz="2800" spc="-5" dirty="0">
                <a:latin typeface="Tahoma"/>
                <a:cs typeface="Tahoma"/>
              </a:rPr>
              <a:t>get what the app  </a:t>
            </a:r>
            <a:r>
              <a:rPr sz="2800" spc="-10" dirty="0">
                <a:latin typeface="Tahoma"/>
                <a:cs typeface="Tahoma"/>
              </a:rPr>
              <a:t>servers </a:t>
            </a:r>
            <a:r>
              <a:rPr sz="2800" spc="-5" dirty="0">
                <a:latin typeface="Tahoma"/>
                <a:cs typeface="Tahoma"/>
              </a:rPr>
              <a:t>need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database.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039" y="829944"/>
            <a:ext cx="4439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0" dirty="0"/>
              <a:t>Amazon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00315" cy="3500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1084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Database holds the information about  products, customers,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etc.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Business logic includes things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“what  </a:t>
            </a:r>
            <a:r>
              <a:rPr sz="3200" dirty="0">
                <a:latin typeface="Tahoma"/>
                <a:cs typeface="Tahoma"/>
              </a:rPr>
              <a:t>do I do </a:t>
            </a:r>
            <a:r>
              <a:rPr sz="3200" spc="-5" dirty="0">
                <a:latin typeface="Tahoma"/>
                <a:cs typeface="Tahoma"/>
              </a:rPr>
              <a:t>after someone clicks  ‘checkout’?”</a:t>
            </a:r>
            <a:endParaRPr sz="3200" dirty="0">
              <a:latin typeface="Tahoma"/>
              <a:cs typeface="Tahoma"/>
            </a:endParaRPr>
          </a:p>
          <a:p>
            <a:pPr marL="755650" marR="56451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CC6600"/>
                </a:solidFill>
                <a:latin typeface="Tahoma"/>
                <a:cs typeface="Tahoma"/>
              </a:rPr>
              <a:t>Answer</a:t>
            </a:r>
            <a:r>
              <a:rPr sz="2800" spc="-5" dirty="0">
                <a:latin typeface="Tahoma"/>
                <a:cs typeface="Tahoma"/>
              </a:rPr>
              <a:t>: Show the “how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15" dirty="0">
                <a:latin typeface="Tahoma"/>
                <a:cs typeface="Tahoma"/>
              </a:rPr>
              <a:t>you </a:t>
            </a:r>
            <a:r>
              <a:rPr sz="2800" spc="-10" dirty="0">
                <a:latin typeface="Tahoma"/>
                <a:cs typeface="Tahoma"/>
              </a:rPr>
              <a:t>pay </a:t>
            </a:r>
            <a:r>
              <a:rPr sz="2800" spc="-15" dirty="0">
                <a:latin typeface="Tahoma"/>
                <a:cs typeface="Tahoma"/>
              </a:rPr>
              <a:t>for  </a:t>
            </a:r>
            <a:r>
              <a:rPr sz="2800" spc="-5" dirty="0">
                <a:latin typeface="Tahoma"/>
                <a:cs typeface="Tahoma"/>
              </a:rPr>
              <a:t>this?” screen.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45" y="829944"/>
            <a:ext cx="8931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Environments, </a:t>
            </a:r>
            <a:r>
              <a:rPr spc="-5" dirty="0"/>
              <a:t>Connections,</a:t>
            </a:r>
            <a:r>
              <a:rPr spc="-10" dirty="0"/>
              <a:t> </a:t>
            </a:r>
            <a:r>
              <a:rPr spc="-5" dirty="0"/>
              <a:t>Queries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771765" cy="423577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893444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database is, in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DB-access  languages,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environment</a:t>
            </a:r>
            <a:r>
              <a:rPr sz="3200" spc="-112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Database servers maintain some number  of </a:t>
            </a:r>
            <a:r>
              <a:rPr lang="en-US" altLang="zh-CN" sz="3600" dirty="0">
                <a:effectLst/>
              </a:rPr>
              <a:t>connections</a:t>
            </a:r>
            <a:r>
              <a:rPr sz="3200" spc="-1115" dirty="0">
                <a:latin typeface="Tahoma"/>
                <a:cs typeface="Tahoma"/>
              </a:rPr>
              <a:t>,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so </a:t>
            </a:r>
            <a:r>
              <a:rPr sz="3200" spc="-5" dirty="0">
                <a:latin typeface="Tahoma"/>
                <a:cs typeface="Tahoma"/>
              </a:rPr>
              <a:t>app servers can ask  queries or </a:t>
            </a:r>
            <a:r>
              <a:rPr sz="3200" spc="-10" dirty="0">
                <a:latin typeface="Tahoma"/>
                <a:cs typeface="Tahoma"/>
              </a:rPr>
              <a:t>perform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modifications.</a:t>
            </a:r>
            <a:endParaRPr sz="3200" dirty="0">
              <a:latin typeface="Tahoma"/>
              <a:cs typeface="Tahoma"/>
            </a:endParaRPr>
          </a:p>
          <a:p>
            <a:pPr marL="355600" marR="106934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app </a:t>
            </a:r>
            <a:r>
              <a:rPr sz="3200" spc="-10" dirty="0">
                <a:latin typeface="Tahoma"/>
                <a:cs typeface="Tahoma"/>
              </a:rPr>
              <a:t>server </a:t>
            </a:r>
            <a:r>
              <a:rPr sz="3200" spc="-5" dirty="0">
                <a:latin typeface="Tahoma"/>
                <a:cs typeface="Tahoma"/>
              </a:rPr>
              <a:t>issues</a:t>
            </a:r>
            <a:r>
              <a:rPr lang="zh-CN" altLang="en-US" sz="3200" spc="-5" dirty="0">
                <a:latin typeface="Tahoma"/>
                <a:cs typeface="Tahoma"/>
              </a:rPr>
              <a:t>发布语句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statements</a:t>
            </a:r>
            <a:r>
              <a:rPr sz="3200" spc="-1040" dirty="0">
                <a:latin typeface="Tahoma"/>
                <a:cs typeface="Tahoma"/>
              </a:rPr>
              <a:t>: </a:t>
            </a:r>
            <a:endParaRPr lang="en-US" sz="3200" spc="-990" dirty="0">
              <a:latin typeface="Tahoma"/>
              <a:cs typeface="Tahoma"/>
            </a:endParaRPr>
          </a:p>
          <a:p>
            <a:pPr marL="355600" marR="1069340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queries and modifications, </a:t>
            </a:r>
            <a:r>
              <a:rPr sz="3200" spc="-40" dirty="0">
                <a:latin typeface="Tahoma"/>
                <a:cs typeface="Tahoma"/>
              </a:rPr>
              <a:t>usually.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825" y="829944"/>
            <a:ext cx="55949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Diagram </a:t>
            </a:r>
            <a:r>
              <a:rPr spc="-5" dirty="0"/>
              <a:t>to</a:t>
            </a:r>
            <a:r>
              <a:rPr spc="-45" dirty="0"/>
              <a:t> </a:t>
            </a:r>
            <a:r>
              <a:rPr spc="-15" dirty="0"/>
              <a:t>Remember</a:t>
            </a:r>
          </a:p>
        </p:txBody>
      </p:sp>
      <p:sp>
        <p:nvSpPr>
          <p:cNvPr id="3" name="object 3"/>
          <p:cNvSpPr/>
          <p:nvPr/>
        </p:nvSpPr>
        <p:spPr>
          <a:xfrm>
            <a:off x="1519237" y="1824037"/>
            <a:ext cx="5800725" cy="41195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60190" y="2044052"/>
            <a:ext cx="1717675" cy="184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n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ent</a:t>
            </a:r>
          </a:p>
          <a:p>
            <a:pPr marL="167005" marR="158750" indent="-133985">
              <a:lnSpc>
                <a:spcPts val="5930"/>
              </a:lnSpc>
              <a:spcBef>
                <a:spcPts val="295"/>
              </a:spcBef>
            </a:pPr>
            <a:r>
              <a:rPr sz="2400" spc="-5" dirty="0">
                <a:latin typeface="Tahoma"/>
                <a:cs typeface="Tahoma"/>
              </a:rPr>
              <a:t>Connection  S</a:t>
            </a:r>
            <a:r>
              <a:rPr sz="2400" dirty="0">
                <a:latin typeface="Tahoma"/>
                <a:cs typeface="Tahoma"/>
              </a:rPr>
              <a:t>tate</a:t>
            </a:r>
            <a:r>
              <a:rPr sz="2400" spc="-5" dirty="0">
                <a:latin typeface="Tahoma"/>
                <a:cs typeface="Tahoma"/>
              </a:rPr>
              <a:t>m</a:t>
            </a:r>
            <a:r>
              <a:rPr sz="2400" dirty="0">
                <a:latin typeface="Tahoma"/>
                <a:cs typeface="Tahoma"/>
              </a:rPr>
              <a:t>ent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9015" y="829944"/>
            <a:ext cx="2046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SQL/CLI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78090" cy="38350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Instead of using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preprocessor (as in  embedded </a:t>
            </a:r>
            <a:r>
              <a:rPr lang="zh-CN" altLang="en-US" sz="3200" spc="-5" dirty="0">
                <a:latin typeface="Tahoma"/>
                <a:cs typeface="Tahoma"/>
              </a:rPr>
              <a:t>嵌入式</a:t>
            </a:r>
            <a:r>
              <a:rPr sz="3200" spc="-5" dirty="0">
                <a:latin typeface="Tahoma"/>
                <a:cs typeface="Tahoma"/>
              </a:rPr>
              <a:t>SQL),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library </a:t>
            </a:r>
            <a:r>
              <a:rPr sz="3200" spc="-5" dirty="0">
                <a:latin typeface="Tahoma"/>
                <a:cs typeface="Tahoma"/>
              </a:rPr>
              <a:t>of  </a:t>
            </a:r>
            <a:r>
              <a:rPr sz="3200" spc="-10" dirty="0">
                <a:latin typeface="Tahoma"/>
                <a:cs typeface="Tahoma"/>
              </a:rPr>
              <a:t>functions.</a:t>
            </a:r>
            <a:endParaRPr sz="3200" dirty="0">
              <a:latin typeface="Tahoma"/>
              <a:cs typeface="Tahoma"/>
            </a:endParaRPr>
          </a:p>
          <a:p>
            <a:pPr marL="732155" marR="83820" lvl="1" indent="-26289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library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C is called SQL/CLI = </a:t>
            </a:r>
            <a:r>
              <a:rPr lang="en-US" altLang="zh-CN" sz="2800" dirty="0">
                <a:effectLst/>
              </a:rPr>
              <a:t>“Call-Level Interface</a:t>
            </a:r>
            <a:r>
              <a:rPr lang="zh-CN" altLang="en-US" sz="2800" dirty="0">
                <a:effectLst/>
              </a:rPr>
              <a:t>调用级 接口</a:t>
            </a:r>
            <a:r>
              <a:rPr lang="en-US" altLang="zh-CN" sz="2800" dirty="0">
                <a:effectLst/>
              </a:rPr>
              <a:t>.”</a:t>
            </a:r>
          </a:p>
          <a:p>
            <a:pPr marL="732155" marR="83820" lvl="1" indent="-26289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Embedded </a:t>
            </a:r>
            <a:r>
              <a:rPr sz="2800" spc="-65" dirty="0">
                <a:latin typeface="Tahoma"/>
                <a:cs typeface="Tahoma"/>
              </a:rPr>
              <a:t>SQL’s </a:t>
            </a:r>
            <a:r>
              <a:rPr sz="2800" spc="-5" dirty="0">
                <a:latin typeface="Tahoma"/>
                <a:cs typeface="Tahoma"/>
              </a:rPr>
              <a:t>preprocessor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10" dirty="0">
                <a:latin typeface="Tahoma"/>
                <a:cs typeface="Tahoma"/>
              </a:rPr>
              <a:t>translate  </a:t>
            </a:r>
            <a:r>
              <a:rPr sz="2800" spc="-5" dirty="0">
                <a:latin typeface="Tahoma"/>
                <a:cs typeface="Tahoma"/>
              </a:rPr>
              <a:t>the EXEC SQL … statements into CLI or  similar calls,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anyway.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0964" y="829944"/>
            <a:ext cx="3862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Data</a:t>
            </a:r>
            <a:r>
              <a:rPr spc="-80" dirty="0"/>
              <a:t> </a:t>
            </a:r>
            <a:r>
              <a:rPr spc="-5" dirty="0"/>
              <a:t>Structures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72310"/>
            <a:ext cx="7618730" cy="406329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22300" marR="225425" indent="-6096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C </a:t>
            </a:r>
            <a:r>
              <a:rPr sz="3200" spc="-5" dirty="0">
                <a:latin typeface="Tahoma"/>
                <a:cs typeface="Tahoma"/>
              </a:rPr>
              <a:t>connects to the database by structs  of the </a:t>
            </a:r>
            <a:r>
              <a:rPr sz="3200" spc="-10" dirty="0">
                <a:latin typeface="Tahoma"/>
                <a:cs typeface="Tahoma"/>
              </a:rPr>
              <a:t>following types:</a:t>
            </a:r>
            <a:endParaRPr sz="3200" dirty="0">
              <a:latin typeface="Tahoma"/>
              <a:cs typeface="Tahoma"/>
            </a:endParaRPr>
          </a:p>
          <a:p>
            <a:pPr marL="1002665" marR="991235" lvl="1" indent="-556895">
              <a:lnSpc>
                <a:spcPts val="3020"/>
              </a:lnSpc>
              <a:spcBef>
                <a:spcPts val="66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Environments</a:t>
            </a:r>
            <a:r>
              <a:rPr sz="2800" spc="-919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represent </a:t>
            </a:r>
            <a:r>
              <a:rPr sz="2800" spc="-5" dirty="0">
                <a:latin typeface="Tahoma"/>
                <a:cs typeface="Tahoma"/>
              </a:rPr>
              <a:t>the DBMS  installation.</a:t>
            </a:r>
            <a:endParaRPr sz="2800" dirty="0">
              <a:latin typeface="Tahoma"/>
              <a:cs typeface="Tahoma"/>
            </a:endParaRPr>
          </a:p>
          <a:p>
            <a:pPr marL="979805" lvl="1" indent="-534035">
              <a:lnSpc>
                <a:spcPct val="100000"/>
              </a:lnSpc>
              <a:spcBef>
                <a:spcPts val="19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Connections</a:t>
            </a:r>
            <a:r>
              <a:rPr sz="2800" spc="-900" dirty="0">
                <a:latin typeface="Tahoma"/>
                <a:cs typeface="Tahoma"/>
              </a:rPr>
              <a:t>:</a:t>
            </a:r>
            <a:r>
              <a:rPr sz="2800" spc="-5" dirty="0">
                <a:latin typeface="Tahoma"/>
                <a:cs typeface="Tahoma"/>
              </a:rPr>
              <a:t> logins to 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database.</a:t>
            </a:r>
            <a:endParaRPr sz="2800" dirty="0">
              <a:latin typeface="Tahoma"/>
              <a:cs typeface="Tahoma"/>
            </a:endParaRPr>
          </a:p>
          <a:p>
            <a:pPr marL="1002665" marR="1101090" lvl="1" indent="-556895">
              <a:lnSpc>
                <a:spcPts val="3020"/>
              </a:lnSpc>
              <a:spcBef>
                <a:spcPts val="69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Statements</a:t>
            </a:r>
            <a:r>
              <a:rPr sz="2800" spc="-894" dirty="0">
                <a:latin typeface="Tahoma"/>
                <a:cs typeface="Tahoma"/>
              </a:rPr>
              <a:t>:</a:t>
            </a:r>
            <a:r>
              <a:rPr sz="2800" spc="-5" dirty="0">
                <a:latin typeface="Tahoma"/>
                <a:cs typeface="Tahoma"/>
              </a:rPr>
              <a:t> SQL statements to be  passed to a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connection.</a:t>
            </a:r>
            <a:endParaRPr sz="2800" dirty="0">
              <a:latin typeface="Tahoma"/>
              <a:cs typeface="Tahoma"/>
            </a:endParaRPr>
          </a:p>
          <a:p>
            <a:pPr marL="1002665" marR="5080" lvl="1" indent="-556895">
              <a:lnSpc>
                <a:spcPts val="302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 err="1">
                <a:effectLst/>
              </a:rPr>
              <a:t>Descriptions</a:t>
            </a:r>
            <a:r>
              <a:rPr sz="2800" spc="-875" dirty="0" err="1">
                <a:latin typeface="Tahoma"/>
                <a:cs typeface="Tahoma"/>
              </a:rPr>
              <a:t>:</a:t>
            </a:r>
            <a:r>
              <a:rPr sz="2800" spc="-10" dirty="0" err="1">
                <a:latin typeface="Tahoma"/>
                <a:cs typeface="Tahoma"/>
              </a:rPr>
              <a:t>records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about tuples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a  </a:t>
            </a:r>
            <a:r>
              <a:rPr sz="2800" spc="-45" dirty="0">
                <a:latin typeface="Tahoma"/>
                <a:cs typeface="Tahoma"/>
              </a:rPr>
              <a:t>query, </a:t>
            </a:r>
            <a:r>
              <a:rPr sz="2800" spc="-5" dirty="0">
                <a:latin typeface="Tahoma"/>
                <a:cs typeface="Tahoma"/>
              </a:rPr>
              <a:t>or </a:t>
            </a:r>
            <a:r>
              <a:rPr sz="2800" spc="-10" dirty="0">
                <a:latin typeface="Tahoma"/>
                <a:cs typeface="Tahoma"/>
              </a:rPr>
              <a:t>parameters </a:t>
            </a:r>
            <a:r>
              <a:rPr sz="2800" spc="-5" dirty="0">
                <a:latin typeface="Tahoma"/>
                <a:cs typeface="Tahoma"/>
              </a:rPr>
              <a:t>of a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statement.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8225" y="829944"/>
            <a:ext cx="1988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Handle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917180" cy="39427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01625" marR="5080" indent="-28956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Function </a:t>
            </a:r>
            <a:r>
              <a:rPr sz="3200" spc="-25" dirty="0">
                <a:solidFill>
                  <a:srgbClr val="CC6600"/>
                </a:solidFill>
                <a:latin typeface="Tahoma"/>
                <a:cs typeface="Tahoma"/>
              </a:rPr>
              <a:t>SQLAllocHandle(T,I,O) </a:t>
            </a:r>
            <a:r>
              <a:rPr sz="3200" spc="-5" dirty="0">
                <a:latin typeface="Tahoma"/>
                <a:cs typeface="Tahoma"/>
              </a:rPr>
              <a:t>is used to  create these structs, which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called  </a:t>
            </a:r>
            <a:r>
              <a:rPr sz="3200" spc="-10" dirty="0">
                <a:latin typeface="Tahoma"/>
                <a:cs typeface="Tahoma"/>
              </a:rPr>
              <a:t>environment, </a:t>
            </a:r>
            <a:r>
              <a:rPr sz="3200" spc="-5" dirty="0">
                <a:latin typeface="Tahoma"/>
                <a:cs typeface="Tahoma"/>
              </a:rPr>
              <a:t>connection, and statement </a:t>
            </a:r>
            <a:r>
              <a:rPr lang="en-US" altLang="zh-CN" sz="3200" dirty="0">
                <a:effectLst/>
              </a:rPr>
              <a:t>handles</a:t>
            </a:r>
            <a:r>
              <a:rPr sz="3200" spc="-103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32155" lvl="1" indent="-26289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sz="2900" i="1" spc="-45" dirty="0">
                <a:latin typeface="Tahoma"/>
                <a:cs typeface="Tahoma"/>
              </a:rPr>
              <a:t>T</a:t>
            </a:r>
            <a:r>
              <a:rPr sz="2800" spc="-45" dirty="0">
                <a:latin typeface="Tahoma"/>
                <a:cs typeface="Tahoma"/>
              </a:rPr>
              <a:t>= </a:t>
            </a:r>
            <a:r>
              <a:rPr sz="2800" spc="-10" dirty="0">
                <a:latin typeface="Tahoma"/>
                <a:cs typeface="Tahoma"/>
              </a:rPr>
              <a:t>type, </a:t>
            </a:r>
            <a:r>
              <a:rPr sz="2800" spc="-40" dirty="0">
                <a:latin typeface="Tahoma"/>
                <a:cs typeface="Tahoma"/>
              </a:rPr>
              <a:t>e.g.,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30" dirty="0">
                <a:latin typeface="Tahoma"/>
                <a:cs typeface="Tahoma"/>
              </a:rPr>
              <a:t>SQL_HANDLE_STMT.</a:t>
            </a:r>
            <a:endParaRPr sz="2800" dirty="0">
              <a:latin typeface="Tahoma"/>
              <a:cs typeface="Tahoma"/>
            </a:endParaRPr>
          </a:p>
          <a:p>
            <a:pPr marL="755650" marR="88900" lvl="1" indent="-285750">
              <a:lnSpc>
                <a:spcPts val="3360"/>
              </a:lnSpc>
              <a:spcBef>
                <a:spcPts val="76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sz="2900" i="1" spc="-35" dirty="0">
                <a:latin typeface="Tahoma"/>
                <a:cs typeface="Tahoma"/>
              </a:rPr>
              <a:t>I</a:t>
            </a:r>
            <a:r>
              <a:rPr sz="2800" spc="-35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input handle = struct at next higher </a:t>
            </a:r>
            <a:r>
              <a:rPr sz="2800" spc="-10" dirty="0">
                <a:latin typeface="Tahoma"/>
                <a:cs typeface="Tahoma"/>
              </a:rPr>
              <a:t>level  </a:t>
            </a:r>
            <a:r>
              <a:rPr sz="2800" spc="-5" dirty="0">
                <a:latin typeface="Tahoma"/>
                <a:cs typeface="Tahoma"/>
              </a:rPr>
              <a:t>(statement &lt; connection &lt;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environment).</a:t>
            </a:r>
            <a:endParaRPr sz="2800" dirty="0">
              <a:latin typeface="Tahoma"/>
              <a:cs typeface="Tahoma"/>
            </a:endParaRPr>
          </a:p>
          <a:p>
            <a:pPr marL="732155" lvl="1" indent="-262890">
              <a:lnSpc>
                <a:spcPct val="100000"/>
              </a:lnSpc>
              <a:spcBef>
                <a:spcPts val="459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sz="2900" i="1" spc="-50" dirty="0">
                <a:latin typeface="Tahoma"/>
                <a:cs typeface="Tahoma"/>
              </a:rPr>
              <a:t>O</a:t>
            </a:r>
            <a:r>
              <a:rPr sz="2800" spc="-5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(address </a:t>
            </a:r>
            <a:r>
              <a:rPr sz="2800" spc="40" dirty="0">
                <a:latin typeface="Tahoma"/>
                <a:cs typeface="Tahoma"/>
              </a:rPr>
              <a:t>of) </a:t>
            </a:r>
            <a:r>
              <a:rPr sz="2800" spc="-5" dirty="0">
                <a:latin typeface="Tahoma"/>
                <a:cs typeface="Tahoma"/>
              </a:rPr>
              <a:t>output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handle.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605" y="829944"/>
            <a:ext cx="6320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10" dirty="0"/>
              <a:t>SQLAllocHandle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49882"/>
            <a:ext cx="7585075" cy="3406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22800"/>
              </a:lnSpc>
              <a:spcBef>
                <a:spcPts val="95"/>
              </a:spcBef>
            </a:pPr>
            <a:r>
              <a:rPr sz="3200" spc="-5" dirty="0">
                <a:latin typeface="Courier New"/>
                <a:cs typeface="Courier New"/>
              </a:rPr>
              <a:t>SQLAllocHandle(SQL_HANDLE_STMT,  myCon,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&amp;myStat);</a:t>
            </a:r>
            <a:endParaRPr sz="3200" dirty="0">
              <a:latin typeface="Courier New"/>
              <a:cs typeface="Courier New"/>
            </a:endParaRPr>
          </a:p>
          <a:p>
            <a:pPr marL="355600" marR="1812289" indent="-342900">
              <a:lnSpc>
                <a:spcPct val="103899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Courier New"/>
                <a:cs typeface="Courier New"/>
              </a:rPr>
              <a:t>myCon</a:t>
            </a:r>
            <a:r>
              <a:rPr sz="3200" spc="-98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previously created  connection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handle.</a:t>
            </a:r>
            <a:endParaRPr sz="3200" dirty="0">
              <a:latin typeface="Tahoma"/>
              <a:cs typeface="Tahoma"/>
            </a:endParaRPr>
          </a:p>
          <a:p>
            <a:pPr marL="355600" marR="365760" indent="-342900">
              <a:lnSpc>
                <a:spcPct val="103899"/>
              </a:lnSpc>
              <a:spcBef>
                <a:spcPts val="4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Courier New"/>
                <a:cs typeface="Courier New"/>
              </a:rPr>
              <a:t>myStat</a:t>
            </a:r>
            <a:r>
              <a:rPr sz="3200" spc="-919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Tahoma"/>
                <a:cs typeface="Tahoma"/>
              </a:rPr>
              <a:t>is the name of the statement  handle that will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created.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0830" y="829944"/>
            <a:ext cx="6022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Preparing and</a:t>
            </a:r>
            <a:r>
              <a:rPr spc="-75" dirty="0"/>
              <a:t> </a:t>
            </a:r>
            <a:r>
              <a:rPr spc="-10" dirty="0"/>
              <a:t>Executing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02805" cy="40290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28295" marR="5080" indent="-31623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SQLPrepare(H, </a:t>
            </a:r>
            <a:r>
              <a:rPr sz="3200" spc="-20" dirty="0">
                <a:solidFill>
                  <a:srgbClr val="CC6600"/>
                </a:solidFill>
                <a:latin typeface="Tahoma"/>
                <a:cs typeface="Tahoma"/>
              </a:rPr>
              <a:t>S,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L) </a:t>
            </a:r>
            <a:r>
              <a:rPr sz="3200" spc="-5" dirty="0">
                <a:latin typeface="Tahoma"/>
                <a:cs typeface="Tahoma"/>
              </a:rPr>
              <a:t>causes the string  </a:t>
            </a:r>
            <a:r>
              <a:rPr sz="3350" i="1" spc="-555" dirty="0">
                <a:latin typeface="Tahoma"/>
                <a:cs typeface="Tahoma"/>
              </a:rPr>
              <a:t>S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of length </a:t>
            </a:r>
            <a:r>
              <a:rPr sz="3350" i="1" spc="-555" dirty="0">
                <a:latin typeface="Tahoma"/>
                <a:cs typeface="Tahoma"/>
              </a:rPr>
              <a:t>L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interpreted as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SQL statement and optimized; the  </a:t>
            </a:r>
            <a:r>
              <a:rPr sz="3200" spc="-10" dirty="0">
                <a:latin typeface="Tahoma"/>
                <a:cs typeface="Tahoma"/>
              </a:rPr>
              <a:t>executable </a:t>
            </a:r>
            <a:r>
              <a:rPr sz="3200" spc="-5" dirty="0">
                <a:latin typeface="Tahoma"/>
                <a:cs typeface="Tahoma"/>
              </a:rPr>
              <a:t>statement is placed in  statement handle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70" dirty="0">
                <a:latin typeface="Tahoma"/>
                <a:cs typeface="Tahoma"/>
              </a:rPr>
              <a:t>H</a:t>
            </a:r>
            <a:r>
              <a:rPr sz="3200" spc="-57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295275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SQLExecute(H) </a:t>
            </a:r>
            <a:r>
              <a:rPr sz="3200" spc="-5" dirty="0">
                <a:latin typeface="Tahoma"/>
                <a:cs typeface="Tahoma"/>
              </a:rPr>
              <a:t>causes the SQL  statement represented by statement  handle </a:t>
            </a:r>
            <a:r>
              <a:rPr sz="3350" i="1" spc="-100" dirty="0">
                <a:latin typeface="Tahoma"/>
                <a:cs typeface="Tahoma"/>
              </a:rPr>
              <a:t>H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20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executed.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8669" y="829944"/>
            <a:ext cx="75666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Prepare </a:t>
            </a:r>
            <a:r>
              <a:rPr spc="-5" dirty="0"/>
              <a:t>and</a:t>
            </a:r>
            <a:r>
              <a:rPr spc="-50" dirty="0"/>
              <a:t> </a:t>
            </a:r>
            <a:r>
              <a:rPr spc="-10" dirty="0"/>
              <a:t>Execute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0139" y="3712435"/>
            <a:ext cx="1707514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SQL_NT</a:t>
            </a:r>
            <a:r>
              <a:rPr sz="3200" dirty="0">
                <a:latin typeface="Courier New"/>
                <a:cs typeface="Courier New"/>
              </a:rPr>
              <a:t>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960244"/>
            <a:ext cx="6708775" cy="2756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47980" indent="-3429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urier New"/>
                <a:cs typeface="Courier New"/>
              </a:rPr>
              <a:t>SQLPrepare(myStat, ”SELECT  beer, price FROM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875"/>
              </a:spcBef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Bar’”,</a:t>
            </a:r>
            <a:endParaRPr sz="3200" dirty="0">
              <a:latin typeface="Courier New"/>
              <a:cs typeface="Courier New"/>
            </a:endParaRPr>
          </a:p>
          <a:p>
            <a:pPr marR="2087880" algn="ctr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ourier New"/>
                <a:cs typeface="Courier New"/>
              </a:rPr>
              <a:t>);</a:t>
            </a:r>
          </a:p>
          <a:p>
            <a:pPr marR="2042160" algn="ctr">
              <a:lnSpc>
                <a:spcPct val="100000"/>
              </a:lnSpc>
              <a:spcBef>
                <a:spcPts val="655"/>
              </a:spcBef>
            </a:pPr>
            <a:r>
              <a:rPr sz="3200" spc="-5" dirty="0">
                <a:latin typeface="Courier New"/>
                <a:cs typeface="Courier New"/>
              </a:rPr>
              <a:t>SQLExecute(myStat);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800" y="3581400"/>
            <a:ext cx="1752600" cy="533400"/>
          </a:xfrm>
          <a:custGeom>
            <a:avLst/>
            <a:gdLst/>
            <a:ahLst/>
            <a:cxnLst/>
            <a:rect l="l" t="t" r="r" b="b"/>
            <a:pathLst>
              <a:path w="1752600" h="533400">
                <a:moveTo>
                  <a:pt x="0" y="0"/>
                </a:moveTo>
                <a:lnTo>
                  <a:pt x="1752600" y="0"/>
                </a:lnTo>
                <a:lnTo>
                  <a:pt x="17526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2037" y="3576637"/>
            <a:ext cx="1762125" cy="542925"/>
          </a:xfrm>
          <a:custGeom>
            <a:avLst/>
            <a:gdLst/>
            <a:ahLst/>
            <a:cxnLst/>
            <a:rect l="l" t="t" r="r" b="b"/>
            <a:pathLst>
              <a:path w="1762125" h="542925">
                <a:moveTo>
                  <a:pt x="17621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1762125" y="0"/>
                </a:lnTo>
                <a:lnTo>
                  <a:pt x="1762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1762125" y="538162"/>
                </a:lnTo>
                <a:lnTo>
                  <a:pt x="1762125" y="542925"/>
                </a:lnTo>
                <a:close/>
              </a:path>
              <a:path w="17621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762125" h="542925">
                <a:moveTo>
                  <a:pt x="1752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752600" y="4762"/>
                </a:lnTo>
                <a:lnTo>
                  <a:pt x="1752600" y="9525"/>
                </a:lnTo>
                <a:close/>
              </a:path>
              <a:path w="1762125" h="542925">
                <a:moveTo>
                  <a:pt x="1752600" y="538162"/>
                </a:moveTo>
                <a:lnTo>
                  <a:pt x="1752600" y="4762"/>
                </a:lnTo>
                <a:lnTo>
                  <a:pt x="1757362" y="9525"/>
                </a:lnTo>
                <a:lnTo>
                  <a:pt x="1762125" y="9525"/>
                </a:lnTo>
                <a:lnTo>
                  <a:pt x="1762125" y="533400"/>
                </a:lnTo>
                <a:lnTo>
                  <a:pt x="1757362" y="533400"/>
                </a:lnTo>
                <a:lnTo>
                  <a:pt x="1752600" y="538162"/>
                </a:lnTo>
                <a:close/>
              </a:path>
              <a:path w="1762125" h="542925">
                <a:moveTo>
                  <a:pt x="1762125" y="9525"/>
                </a:moveTo>
                <a:lnTo>
                  <a:pt x="1757362" y="9525"/>
                </a:lnTo>
                <a:lnTo>
                  <a:pt x="1752600" y="4762"/>
                </a:lnTo>
                <a:lnTo>
                  <a:pt x="1762125" y="4762"/>
                </a:lnTo>
                <a:lnTo>
                  <a:pt x="1762125" y="9525"/>
                </a:lnTo>
                <a:close/>
              </a:path>
              <a:path w="17621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1762125" h="542925">
                <a:moveTo>
                  <a:pt x="17526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1752600" y="533400"/>
                </a:lnTo>
                <a:lnTo>
                  <a:pt x="1752600" y="538162"/>
                </a:lnTo>
                <a:close/>
              </a:path>
              <a:path w="1762125" h="542925">
                <a:moveTo>
                  <a:pt x="1762125" y="538162"/>
                </a:moveTo>
                <a:lnTo>
                  <a:pt x="1752600" y="538162"/>
                </a:lnTo>
                <a:lnTo>
                  <a:pt x="1757362" y="533400"/>
                </a:lnTo>
                <a:lnTo>
                  <a:pt x="1762125" y="533400"/>
                </a:lnTo>
                <a:lnTo>
                  <a:pt x="17621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06064" y="5219700"/>
            <a:ext cx="48533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This constant says the second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argument</a:t>
            </a:r>
            <a:endParaRPr sz="2000" dirty="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is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“null-terminated string”; </a:t>
            </a:r>
            <a:r>
              <a:rPr sz="2000" spc="-30" dirty="0">
                <a:latin typeface="Tahoma"/>
                <a:cs typeface="Tahoma"/>
              </a:rPr>
              <a:t>i.e., </a:t>
            </a:r>
            <a:r>
              <a:rPr sz="2000" spc="-5" dirty="0">
                <a:latin typeface="Tahoma"/>
                <a:cs typeface="Tahoma"/>
              </a:rPr>
              <a:t>figure out  the length by counting </a:t>
            </a:r>
            <a:r>
              <a:rPr sz="2000" spc="-10" dirty="0">
                <a:latin typeface="Tahoma"/>
                <a:cs typeface="Tahoma"/>
              </a:rPr>
              <a:t>characters.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62200" y="4114800"/>
            <a:ext cx="1070610" cy="994410"/>
          </a:xfrm>
          <a:custGeom>
            <a:avLst/>
            <a:gdLst/>
            <a:ahLst/>
            <a:cxnLst/>
            <a:rect l="l" t="t" r="r" b="b"/>
            <a:pathLst>
              <a:path w="1070610" h="994410">
                <a:moveTo>
                  <a:pt x="29908" y="79768"/>
                </a:moveTo>
                <a:lnTo>
                  <a:pt x="0" y="0"/>
                </a:lnTo>
                <a:lnTo>
                  <a:pt x="81762" y="23926"/>
                </a:lnTo>
                <a:lnTo>
                  <a:pt x="71113" y="35394"/>
                </a:lnTo>
                <a:lnTo>
                  <a:pt x="45123" y="35394"/>
                </a:lnTo>
                <a:lnTo>
                  <a:pt x="38633" y="42379"/>
                </a:lnTo>
                <a:lnTo>
                  <a:pt x="52591" y="55341"/>
                </a:lnTo>
                <a:lnTo>
                  <a:pt x="29908" y="79768"/>
                </a:lnTo>
                <a:close/>
              </a:path>
              <a:path w="1070610" h="994410">
                <a:moveTo>
                  <a:pt x="52591" y="55341"/>
                </a:moveTo>
                <a:lnTo>
                  <a:pt x="38633" y="42379"/>
                </a:lnTo>
                <a:lnTo>
                  <a:pt x="45123" y="35394"/>
                </a:lnTo>
                <a:lnTo>
                  <a:pt x="59079" y="48354"/>
                </a:lnTo>
                <a:lnTo>
                  <a:pt x="52591" y="55341"/>
                </a:lnTo>
                <a:close/>
              </a:path>
              <a:path w="1070610" h="994410">
                <a:moveTo>
                  <a:pt x="59079" y="48354"/>
                </a:moveTo>
                <a:lnTo>
                  <a:pt x="45123" y="35394"/>
                </a:lnTo>
                <a:lnTo>
                  <a:pt x="71113" y="35394"/>
                </a:lnTo>
                <a:lnTo>
                  <a:pt x="59079" y="48354"/>
                </a:lnTo>
                <a:close/>
              </a:path>
              <a:path w="1070610" h="994410">
                <a:moveTo>
                  <a:pt x="1063561" y="994092"/>
                </a:moveTo>
                <a:lnTo>
                  <a:pt x="52591" y="55341"/>
                </a:lnTo>
                <a:lnTo>
                  <a:pt x="59079" y="48354"/>
                </a:lnTo>
                <a:lnTo>
                  <a:pt x="1070038" y="987107"/>
                </a:lnTo>
                <a:lnTo>
                  <a:pt x="1063561" y="994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1589" y="829944"/>
            <a:ext cx="4020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Direct</a:t>
            </a:r>
            <a:r>
              <a:rPr spc="-60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17434" cy="30365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shall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statement </a:t>
            </a:r>
            <a:r>
              <a:rPr sz="3350" i="1" spc="-85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only  once,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combine </a:t>
            </a:r>
            <a:r>
              <a:rPr sz="3200" spc="-15" dirty="0">
                <a:latin typeface="Tahoma"/>
                <a:cs typeface="Tahoma"/>
              </a:rPr>
              <a:t>PREPARE </a:t>
            </a:r>
            <a:r>
              <a:rPr sz="3200" spc="-5" dirty="0">
                <a:latin typeface="Tahoma"/>
                <a:cs typeface="Tahoma"/>
              </a:rPr>
              <a:t>and  EXECUTE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with: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SQLExecuteDirect(H,S,L)</a:t>
            </a:r>
            <a:r>
              <a:rPr sz="3200" spc="-10" dirty="0">
                <a:latin typeface="Tahoma"/>
                <a:cs typeface="Tahoma"/>
              </a:rPr>
              <a:t>;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420"/>
              </a:lnSpc>
              <a:spcBef>
                <a:spcPts val="5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As </a:t>
            </a:r>
            <a:r>
              <a:rPr sz="2800" spc="-10" dirty="0">
                <a:latin typeface="Tahoma"/>
                <a:cs typeface="Tahoma"/>
              </a:rPr>
              <a:t>before, </a:t>
            </a:r>
            <a:r>
              <a:rPr sz="2900" i="1" spc="-75" dirty="0">
                <a:latin typeface="Tahoma"/>
                <a:cs typeface="Tahoma"/>
              </a:rPr>
              <a:t>H </a:t>
            </a:r>
            <a:r>
              <a:rPr sz="2800" spc="-5" dirty="0">
                <a:latin typeface="Tahoma"/>
                <a:cs typeface="Tahoma"/>
              </a:rPr>
              <a:t>is a statement handle and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900" i="1" spc="-55" dirty="0">
                <a:latin typeface="Tahoma"/>
                <a:cs typeface="Tahoma"/>
              </a:rPr>
              <a:t>L</a:t>
            </a:r>
            <a:endParaRPr sz="2900" dirty="0">
              <a:latin typeface="Tahoma"/>
              <a:cs typeface="Tahoma"/>
            </a:endParaRPr>
          </a:p>
          <a:p>
            <a:pPr marL="755650">
              <a:lnSpc>
                <a:spcPts val="3420"/>
              </a:lnSpc>
            </a:pPr>
            <a:r>
              <a:rPr sz="2800" spc="-5" dirty="0">
                <a:latin typeface="Tahoma"/>
                <a:cs typeface="Tahoma"/>
              </a:rPr>
              <a:t>is the length of string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S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489" y="829944"/>
            <a:ext cx="3843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Fetching</a:t>
            </a:r>
            <a:r>
              <a:rPr spc="-35" dirty="0"/>
              <a:t> </a:t>
            </a:r>
            <a:r>
              <a:rPr spc="-75" dirty="0"/>
              <a:t>Tuples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19390" cy="3992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74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the SQL statement </a:t>
            </a:r>
            <a:r>
              <a:rPr sz="3200" spc="-10" dirty="0">
                <a:latin typeface="Tahoma"/>
                <a:cs typeface="Tahoma"/>
              </a:rPr>
              <a:t>executed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0" dirty="0">
                <a:latin typeface="Tahoma"/>
                <a:cs typeface="Tahoma"/>
              </a:rPr>
              <a:t>query,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</a:t>
            </a:r>
            <a:r>
              <a:rPr sz="3200" spc="-10" dirty="0">
                <a:latin typeface="Tahoma"/>
                <a:cs typeface="Tahoma"/>
              </a:rPr>
              <a:t>fetch </a:t>
            </a:r>
            <a:r>
              <a:rPr sz="3200" spc="-5" dirty="0">
                <a:latin typeface="Tahoma"/>
                <a:cs typeface="Tahoma"/>
              </a:rPr>
              <a:t>the tuples of the  result.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 cursor is implied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fact </a:t>
            </a:r>
            <a:r>
              <a:rPr sz="2800" spc="-5" dirty="0">
                <a:latin typeface="Tahoma"/>
                <a:cs typeface="Tahoma"/>
              </a:rPr>
              <a:t>we </a:t>
            </a:r>
            <a:r>
              <a:rPr sz="2800" spc="-10" dirty="0">
                <a:latin typeface="Tahoma"/>
                <a:cs typeface="Tahoma"/>
              </a:rPr>
              <a:t>executed </a:t>
            </a:r>
            <a:r>
              <a:rPr sz="2800" spc="-5" dirty="0">
                <a:latin typeface="Tahoma"/>
                <a:cs typeface="Tahoma"/>
              </a:rPr>
              <a:t>a  query; the cursor need not be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declared.</a:t>
            </a:r>
            <a:endParaRPr sz="2800">
              <a:latin typeface="Tahoma"/>
              <a:cs typeface="Tahoma"/>
            </a:endParaRPr>
          </a:p>
          <a:p>
            <a:pPr marL="328295" marR="439420" indent="-31623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SQLFetch(H) </a:t>
            </a:r>
            <a:r>
              <a:rPr sz="3200" spc="-5" dirty="0">
                <a:latin typeface="Tahoma"/>
                <a:cs typeface="Tahoma"/>
              </a:rPr>
              <a:t>gets the next tuple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the result of the statement with handle  </a:t>
            </a:r>
            <a:r>
              <a:rPr sz="3350" i="1" spc="-570" dirty="0">
                <a:latin typeface="Tahoma"/>
                <a:cs typeface="Tahoma"/>
              </a:rPr>
              <a:t>H</a:t>
            </a:r>
            <a:r>
              <a:rPr sz="3200" spc="-57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989" y="829944"/>
            <a:ext cx="6002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Accessing Query</a:t>
            </a:r>
            <a:r>
              <a:rPr spc="-60" dirty="0"/>
              <a:t> </a:t>
            </a:r>
            <a:r>
              <a:rPr spc="-15" dirty="0"/>
              <a:t>Results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12380" cy="4328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67183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fetch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 put the components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somewhere.</a:t>
            </a:r>
            <a:endParaRPr sz="320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Each component is bound 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variable  </a:t>
            </a:r>
            <a:r>
              <a:rPr sz="3200" spc="-5" dirty="0">
                <a:latin typeface="Tahoma"/>
                <a:cs typeface="Tahoma"/>
              </a:rPr>
              <a:t>by the </a:t>
            </a:r>
            <a:r>
              <a:rPr sz="3200" spc="-10" dirty="0">
                <a:latin typeface="Tahoma"/>
                <a:cs typeface="Tahoma"/>
              </a:rPr>
              <a:t>function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SQLBindCol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1002665" marR="30099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This </a:t>
            </a:r>
            <a:r>
              <a:rPr sz="2800" spc="-10" dirty="0">
                <a:latin typeface="Tahoma"/>
                <a:cs typeface="Tahoma"/>
              </a:rPr>
              <a:t>function </a:t>
            </a:r>
            <a:r>
              <a:rPr sz="2800" spc="-5" dirty="0">
                <a:latin typeface="Tahoma"/>
                <a:cs typeface="Tahoma"/>
              </a:rPr>
              <a:t>has 6 arguments, of which  we shall show only 1, 2, and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4:</a:t>
            </a:r>
            <a:endParaRPr sz="2800">
              <a:latin typeface="Tahoma"/>
              <a:cs typeface="Tahoma"/>
            </a:endParaRPr>
          </a:p>
          <a:p>
            <a:pPr marL="926465" marR="1919605">
              <a:lnSpc>
                <a:spcPts val="3460"/>
              </a:lnSpc>
              <a:spcBef>
                <a:spcPts val="204"/>
              </a:spcBef>
            </a:pPr>
            <a:r>
              <a:rPr sz="2400" dirty="0">
                <a:latin typeface="Tahoma"/>
                <a:cs typeface="Tahoma"/>
              </a:rPr>
              <a:t>1 = </a:t>
            </a:r>
            <a:r>
              <a:rPr sz="2400" spc="-5" dirty="0">
                <a:latin typeface="Tahoma"/>
                <a:cs typeface="Tahoma"/>
              </a:rPr>
              <a:t>handle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5" dirty="0">
                <a:latin typeface="Tahoma"/>
                <a:cs typeface="Tahoma"/>
              </a:rPr>
              <a:t>query statement.  </a:t>
            </a:r>
            <a:r>
              <a:rPr sz="2400" dirty="0">
                <a:latin typeface="Tahoma"/>
                <a:cs typeface="Tahoma"/>
              </a:rPr>
              <a:t>2 = </a:t>
            </a:r>
            <a:r>
              <a:rPr sz="2400" spc="-5" dirty="0">
                <a:latin typeface="Tahoma"/>
                <a:cs typeface="Tahoma"/>
              </a:rPr>
              <a:t>column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number.</a:t>
            </a:r>
            <a:endParaRPr sz="24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360"/>
              </a:spcBef>
            </a:pPr>
            <a:r>
              <a:rPr sz="2400" dirty="0">
                <a:latin typeface="Tahoma"/>
                <a:cs typeface="Tahoma"/>
              </a:rPr>
              <a:t>4 = </a:t>
            </a:r>
            <a:r>
              <a:rPr sz="2400" spc="-5" dirty="0">
                <a:latin typeface="Tahoma"/>
                <a:cs typeface="Tahoma"/>
              </a:rPr>
              <a:t>address </a:t>
            </a:r>
            <a:r>
              <a:rPr sz="2400" dirty="0">
                <a:latin typeface="Tahoma"/>
                <a:cs typeface="Tahoma"/>
              </a:rPr>
              <a:t>of the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variable.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7445" y="525144"/>
            <a:ext cx="43097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dirty="0"/>
              <a:t>Binding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708149"/>
            <a:ext cx="7545705" cy="4413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893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just done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CC6600"/>
                </a:solidFill>
                <a:latin typeface="Tahoma"/>
                <a:cs typeface="Tahoma"/>
              </a:rPr>
              <a:t>SQLExecute(myStat)</a:t>
            </a:r>
            <a:r>
              <a:rPr sz="3200" spc="-1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10" dirty="0">
                <a:latin typeface="Tahoma"/>
                <a:cs typeface="Tahoma"/>
              </a:rPr>
              <a:t>myStat </a:t>
            </a:r>
            <a:r>
              <a:rPr sz="3200" spc="-5" dirty="0">
                <a:latin typeface="Tahoma"/>
                <a:cs typeface="Tahoma"/>
              </a:rPr>
              <a:t>is  the handle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5" dirty="0">
                <a:latin typeface="Tahoma"/>
                <a:cs typeface="Tahoma"/>
              </a:rPr>
              <a:t> query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SELECT beer, price 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Bar’</a:t>
            </a:r>
            <a:endParaRPr sz="3200">
              <a:latin typeface="Courier New"/>
              <a:cs typeface="Courier New"/>
            </a:endParaRPr>
          </a:p>
          <a:p>
            <a:pPr marL="12700" marR="5080">
              <a:lnSpc>
                <a:spcPct val="119900"/>
              </a:lnSpc>
              <a:spcBef>
                <a:spcPts val="4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Bind </a:t>
            </a:r>
            <a:r>
              <a:rPr sz="3200" spc="-5" dirty="0">
                <a:latin typeface="Tahoma"/>
                <a:cs typeface="Tahoma"/>
              </a:rPr>
              <a:t>the result to </a:t>
            </a:r>
            <a:r>
              <a:rPr sz="3200" dirty="0">
                <a:latin typeface="Tahoma"/>
                <a:cs typeface="Tahoma"/>
              </a:rPr>
              <a:t>theBeer </a:t>
            </a:r>
            <a:r>
              <a:rPr sz="3200" spc="-5" dirty="0">
                <a:latin typeface="Tahoma"/>
                <a:cs typeface="Tahoma"/>
              </a:rPr>
              <a:t>and thePrice:  SQLBindCol(myStat, 1, </a:t>
            </a:r>
            <a:r>
              <a:rPr sz="3200" dirty="0">
                <a:latin typeface="Tahoma"/>
                <a:cs typeface="Tahoma"/>
              </a:rPr>
              <a:t>, &amp;theBeer, , </a:t>
            </a:r>
            <a:r>
              <a:rPr sz="3200" spc="-5" dirty="0">
                <a:latin typeface="Tahoma"/>
                <a:cs typeface="Tahoma"/>
              </a:rPr>
              <a:t>);  SQLBindCol(myStat, 2, </a:t>
            </a:r>
            <a:r>
              <a:rPr sz="320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&amp;thePrice, </a:t>
            </a:r>
            <a:r>
              <a:rPr sz="3200" dirty="0">
                <a:latin typeface="Tahoma"/>
                <a:cs typeface="Tahoma"/>
              </a:rPr>
              <a:t>,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);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2985" y="829944"/>
            <a:ext cx="4558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0" dirty="0"/>
              <a:t> </a:t>
            </a:r>
            <a:r>
              <a:rPr spc="-20" dirty="0"/>
              <a:t>Fetching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564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Now,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0" dirty="0">
                <a:latin typeface="Tahoma"/>
                <a:cs typeface="Tahoma"/>
              </a:rPr>
              <a:t>fetch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tuples of the  answer by: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834" y="3097966"/>
            <a:ext cx="267398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SQL_NO_D</a:t>
            </a:r>
            <a:r>
              <a:rPr sz="3200" spc="-185" dirty="0">
                <a:latin typeface="Tahoma"/>
                <a:cs typeface="Tahoma"/>
              </a:rPr>
              <a:t>AT</a:t>
            </a:r>
            <a:r>
              <a:rPr sz="3200" dirty="0">
                <a:latin typeface="Tahoma"/>
                <a:cs typeface="Tahoma"/>
              </a:rPr>
              <a:t>A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06484" y="3085464"/>
            <a:ext cx="1816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990342"/>
            <a:ext cx="5167630" cy="11925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spc="-5" dirty="0">
                <a:latin typeface="Tahoma"/>
                <a:cs typeface="Tahoma"/>
              </a:rPr>
              <a:t>while </a:t>
            </a:r>
            <a:r>
              <a:rPr sz="3200" dirty="0">
                <a:latin typeface="Tahoma"/>
                <a:cs typeface="Tahoma"/>
              </a:rPr>
              <a:t>( </a:t>
            </a:r>
            <a:r>
              <a:rPr sz="3200" spc="-10" dirty="0">
                <a:latin typeface="Tahoma"/>
                <a:cs typeface="Tahoma"/>
              </a:rPr>
              <a:t>SQLFetch(myStat)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!=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dirty="0">
                <a:latin typeface="Tahoma"/>
                <a:cs typeface="Tahoma"/>
              </a:rPr>
              <a:t>{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439" y="5423534"/>
            <a:ext cx="22097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}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43600" y="3124200"/>
            <a:ext cx="2819400" cy="533400"/>
          </a:xfrm>
          <a:custGeom>
            <a:avLst/>
            <a:gdLst/>
            <a:ahLst/>
            <a:cxnLst/>
            <a:rect l="l" t="t" r="r" b="b"/>
            <a:pathLst>
              <a:path w="2819400" h="533400">
                <a:moveTo>
                  <a:pt x="0" y="0"/>
                </a:moveTo>
                <a:lnTo>
                  <a:pt x="2819400" y="0"/>
                </a:lnTo>
                <a:lnTo>
                  <a:pt x="2819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38837" y="3119437"/>
            <a:ext cx="2828925" cy="542925"/>
          </a:xfrm>
          <a:custGeom>
            <a:avLst/>
            <a:gdLst/>
            <a:ahLst/>
            <a:cxnLst/>
            <a:rect l="l" t="t" r="r" b="b"/>
            <a:pathLst>
              <a:path w="2828925" h="542925">
                <a:moveTo>
                  <a:pt x="28289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2828925" y="0"/>
                </a:lnTo>
                <a:lnTo>
                  <a:pt x="2828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2828925" y="538162"/>
                </a:lnTo>
                <a:lnTo>
                  <a:pt x="2828925" y="542925"/>
                </a:lnTo>
                <a:close/>
              </a:path>
              <a:path w="28289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28925" h="542925">
                <a:moveTo>
                  <a:pt x="2819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19400" y="4762"/>
                </a:lnTo>
                <a:lnTo>
                  <a:pt x="2819400" y="9525"/>
                </a:lnTo>
                <a:close/>
              </a:path>
              <a:path w="2828925" h="542925">
                <a:moveTo>
                  <a:pt x="2819400" y="538162"/>
                </a:moveTo>
                <a:lnTo>
                  <a:pt x="2819400" y="4762"/>
                </a:lnTo>
                <a:lnTo>
                  <a:pt x="2824162" y="9525"/>
                </a:lnTo>
                <a:lnTo>
                  <a:pt x="2828925" y="9525"/>
                </a:lnTo>
                <a:lnTo>
                  <a:pt x="2828925" y="533400"/>
                </a:lnTo>
                <a:lnTo>
                  <a:pt x="2824162" y="533400"/>
                </a:lnTo>
                <a:lnTo>
                  <a:pt x="2819400" y="538162"/>
                </a:lnTo>
                <a:close/>
              </a:path>
              <a:path w="2828925" h="542925">
                <a:moveTo>
                  <a:pt x="2828925" y="9525"/>
                </a:moveTo>
                <a:lnTo>
                  <a:pt x="2824162" y="9525"/>
                </a:lnTo>
                <a:lnTo>
                  <a:pt x="2819400" y="4762"/>
                </a:lnTo>
                <a:lnTo>
                  <a:pt x="2828925" y="4762"/>
                </a:lnTo>
                <a:lnTo>
                  <a:pt x="2828925" y="9525"/>
                </a:lnTo>
                <a:close/>
              </a:path>
              <a:path w="28289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2828925" h="542925">
                <a:moveTo>
                  <a:pt x="28194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2819400" y="533400"/>
                </a:lnTo>
                <a:lnTo>
                  <a:pt x="2819400" y="538162"/>
                </a:lnTo>
                <a:close/>
              </a:path>
              <a:path w="2828925" h="542925">
                <a:moveTo>
                  <a:pt x="2828925" y="538162"/>
                </a:moveTo>
                <a:lnTo>
                  <a:pt x="2819400" y="538162"/>
                </a:lnTo>
                <a:lnTo>
                  <a:pt x="2824162" y="533400"/>
                </a:lnTo>
                <a:lnTo>
                  <a:pt x="2828925" y="533400"/>
                </a:lnTo>
                <a:lnTo>
                  <a:pt x="28289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78939" y="4157471"/>
            <a:ext cx="6749415" cy="2078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marR="590550" indent="-50800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/*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something with </a:t>
            </a:r>
            <a:r>
              <a:rPr sz="3200" dirty="0">
                <a:latin typeface="Tahoma"/>
                <a:cs typeface="Tahoma"/>
              </a:rPr>
              <a:t>theBeer </a:t>
            </a:r>
            <a:r>
              <a:rPr sz="3200" spc="-5" dirty="0">
                <a:latin typeface="Tahoma"/>
                <a:cs typeface="Tahoma"/>
              </a:rPr>
              <a:t>and  thePrice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*/</a:t>
            </a:r>
            <a:endParaRPr sz="3200">
              <a:latin typeface="Tahoma"/>
              <a:cs typeface="Tahoma"/>
            </a:endParaRPr>
          </a:p>
          <a:p>
            <a:pPr marL="3502025">
              <a:lnSpc>
                <a:spcPts val="2160"/>
              </a:lnSpc>
            </a:pPr>
            <a:r>
              <a:rPr sz="2000" spc="-5" dirty="0">
                <a:latin typeface="Tahoma"/>
                <a:cs typeface="Tahoma"/>
              </a:rPr>
              <a:t>CLI macro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representing</a:t>
            </a:r>
            <a:endParaRPr sz="2000">
              <a:latin typeface="Tahoma"/>
              <a:cs typeface="Tahoma"/>
            </a:endParaRPr>
          </a:p>
          <a:p>
            <a:pPr marL="3502025">
              <a:lnSpc>
                <a:spcPct val="100000"/>
              </a:lnSpc>
            </a:pPr>
            <a:r>
              <a:rPr sz="2000" spc="-35" dirty="0">
                <a:latin typeface="Tahoma"/>
                <a:cs typeface="Tahoma"/>
              </a:rPr>
              <a:t>SQLSTATE </a:t>
            </a:r>
            <a:r>
              <a:rPr sz="2000" dirty="0">
                <a:latin typeface="Tahoma"/>
                <a:cs typeface="Tahoma"/>
              </a:rPr>
              <a:t>= </a:t>
            </a:r>
            <a:r>
              <a:rPr sz="2000" spc="-5" dirty="0">
                <a:latin typeface="Tahoma"/>
                <a:cs typeface="Tahoma"/>
              </a:rPr>
              <a:t>02000 </a:t>
            </a:r>
            <a:r>
              <a:rPr sz="2000" dirty="0">
                <a:latin typeface="Tahoma"/>
                <a:cs typeface="Tahoma"/>
              </a:rPr>
              <a:t>=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“failed</a:t>
            </a:r>
            <a:endParaRPr sz="2000">
              <a:latin typeface="Tahoma"/>
              <a:cs typeface="Tahoma"/>
            </a:endParaRPr>
          </a:p>
          <a:p>
            <a:pPr marL="3502025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to find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tuple.”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77240" y="3657600"/>
            <a:ext cx="476884" cy="1525905"/>
          </a:xfrm>
          <a:custGeom>
            <a:avLst/>
            <a:gdLst/>
            <a:ahLst/>
            <a:cxnLst/>
            <a:rect l="l" t="t" r="r" b="b"/>
            <a:pathLst>
              <a:path w="476884" h="1525904">
                <a:moveTo>
                  <a:pt x="435302" y="71620"/>
                </a:moveTo>
                <a:lnTo>
                  <a:pt x="403364" y="62039"/>
                </a:lnTo>
                <a:lnTo>
                  <a:pt x="461759" y="0"/>
                </a:lnTo>
                <a:lnTo>
                  <a:pt x="471037" y="53365"/>
                </a:lnTo>
                <a:lnTo>
                  <a:pt x="440778" y="53365"/>
                </a:lnTo>
                <a:lnTo>
                  <a:pt x="435302" y="71620"/>
                </a:lnTo>
                <a:close/>
              </a:path>
              <a:path w="476884" h="1525904">
                <a:moveTo>
                  <a:pt x="444423" y="74356"/>
                </a:moveTo>
                <a:lnTo>
                  <a:pt x="435302" y="71620"/>
                </a:lnTo>
                <a:lnTo>
                  <a:pt x="440778" y="53365"/>
                </a:lnTo>
                <a:lnTo>
                  <a:pt x="449897" y="56108"/>
                </a:lnTo>
                <a:lnTo>
                  <a:pt x="444423" y="74356"/>
                </a:lnTo>
                <a:close/>
              </a:path>
              <a:path w="476884" h="1525904">
                <a:moveTo>
                  <a:pt x="476351" y="83934"/>
                </a:moveTo>
                <a:lnTo>
                  <a:pt x="444423" y="74356"/>
                </a:lnTo>
                <a:lnTo>
                  <a:pt x="449897" y="56108"/>
                </a:lnTo>
                <a:lnTo>
                  <a:pt x="440778" y="53365"/>
                </a:lnTo>
                <a:lnTo>
                  <a:pt x="471037" y="53365"/>
                </a:lnTo>
                <a:lnTo>
                  <a:pt x="476351" y="83934"/>
                </a:lnTo>
                <a:close/>
              </a:path>
              <a:path w="476884" h="1525904">
                <a:moveTo>
                  <a:pt x="9118" y="1525371"/>
                </a:moveTo>
                <a:lnTo>
                  <a:pt x="0" y="1522628"/>
                </a:lnTo>
                <a:lnTo>
                  <a:pt x="435302" y="71620"/>
                </a:lnTo>
                <a:lnTo>
                  <a:pt x="444423" y="74356"/>
                </a:lnTo>
                <a:lnTo>
                  <a:pt x="9118" y="15253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9220" y="829944"/>
            <a:ext cx="13061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</a:t>
            </a:r>
            <a:r>
              <a:rPr spc="-5" dirty="0"/>
              <a:t>D</a:t>
            </a:r>
            <a:r>
              <a:rPr spc="15" dirty="0"/>
              <a:t>B</a:t>
            </a:r>
            <a:r>
              <a:rPr dirty="0"/>
              <a:t>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86650" cy="25825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 algn="just">
              <a:lnSpc>
                <a:spcPts val="3840"/>
              </a:lnSpc>
              <a:spcBef>
                <a:spcPts val="390"/>
              </a:spcBef>
            </a:pPr>
            <a:r>
              <a:rPr sz="3200" spc="-87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 err="1">
                <a:effectLst/>
              </a:rPr>
              <a:t>JavaDatabaseConnectivity</a:t>
            </a:r>
            <a:r>
              <a:rPr lang="zh-CN" altLang="en-US" sz="3600" dirty="0"/>
              <a:t>（</a:t>
            </a:r>
            <a:r>
              <a:rPr lang="en-US" altLang="zh-CN" sz="3600" dirty="0"/>
              <a:t>JBDC</a:t>
            </a:r>
            <a:r>
              <a:rPr lang="zh-CN" altLang="en-US" sz="3600" dirty="0"/>
              <a:t>）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0" dirty="0">
                <a:latin typeface="Tahoma"/>
                <a:cs typeface="Tahoma"/>
              </a:rPr>
              <a:t>library </a:t>
            </a:r>
            <a:r>
              <a:rPr sz="3200" spc="-5" dirty="0">
                <a:latin typeface="Tahoma"/>
                <a:cs typeface="Tahoma"/>
              </a:rPr>
              <a:t>similar to SQL/CLI, but with </a:t>
            </a:r>
            <a:r>
              <a:rPr sz="3200" spc="-25" dirty="0">
                <a:latin typeface="Tahoma"/>
                <a:cs typeface="Tahoma"/>
              </a:rPr>
              <a:t>Java  </a:t>
            </a:r>
            <a:r>
              <a:rPr sz="3200" spc="-5" dirty="0">
                <a:latin typeface="Tahoma"/>
                <a:cs typeface="Tahoma"/>
              </a:rPr>
              <a:t>as the host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language.</a:t>
            </a:r>
            <a:endParaRPr sz="3200" dirty="0">
              <a:latin typeface="Tahoma"/>
              <a:cs typeface="Tahoma"/>
            </a:endParaRPr>
          </a:p>
          <a:p>
            <a:pPr marL="355600" marR="104775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CLI, but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few </a:t>
            </a:r>
            <a:r>
              <a:rPr sz="3200" spc="-10" dirty="0">
                <a:latin typeface="Tahoma"/>
                <a:cs typeface="Tahoma"/>
              </a:rPr>
              <a:t>differences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85" dirty="0">
                <a:latin typeface="Tahoma"/>
                <a:cs typeface="Tahoma"/>
              </a:rPr>
              <a:t>cover.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725" y="829944"/>
            <a:ext cx="5163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Making </a:t>
            </a:r>
            <a:r>
              <a:rPr dirty="0"/>
              <a:t>a</a:t>
            </a:r>
            <a:r>
              <a:rPr spc="-50" dirty="0"/>
              <a:t> </a:t>
            </a:r>
            <a:r>
              <a:rPr spc="-5" dirty="0"/>
              <a:t>Connection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5960" y="2551824"/>
            <a:ext cx="213360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5"/>
              </a:lnSpc>
            </a:pPr>
            <a:r>
              <a:rPr sz="2800" spc="-5" dirty="0">
                <a:latin typeface="Courier New"/>
                <a:cs typeface="Courier New"/>
              </a:rPr>
              <a:t>java.sql.*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2991485"/>
            <a:ext cx="30124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Class.forName(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9479" y="3063634"/>
            <a:ext cx="448056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5"/>
              </a:lnSpc>
            </a:pPr>
            <a:r>
              <a:rPr sz="2800" spc="-5" dirty="0">
                <a:latin typeface="Courier New"/>
                <a:cs typeface="Courier New"/>
              </a:rPr>
              <a:t>com.mysql.jdbc.Driver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27340" y="2991485"/>
            <a:ext cx="4521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339" y="4099954"/>
            <a:ext cx="277368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5"/>
              </a:lnSpc>
            </a:pPr>
            <a:r>
              <a:rPr sz="2800" spc="-5" dirty="0">
                <a:latin typeface="Courier New"/>
                <a:cs typeface="Courier New"/>
              </a:rPr>
              <a:t>DriverManager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6059" y="4099954"/>
            <a:ext cx="426720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85"/>
              </a:lnSpc>
            </a:pPr>
            <a:r>
              <a:rPr sz="2800" spc="-5" dirty="0">
                <a:latin typeface="Courier New"/>
                <a:cs typeface="Courier New"/>
              </a:rPr>
              <a:t>(…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" y="3404742"/>
            <a:ext cx="6982459" cy="10744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800" spc="-5" dirty="0">
                <a:latin typeface="Courier New"/>
                <a:cs typeface="Courier New"/>
              </a:rPr>
              <a:t>Connection myCon =</a:t>
            </a:r>
            <a:endParaRPr sz="2800">
              <a:latin typeface="Courier New"/>
              <a:cs typeface="Courier New"/>
            </a:endParaRPr>
          </a:p>
          <a:p>
            <a:pPr marL="3129280">
              <a:lnSpc>
                <a:spcPct val="100000"/>
              </a:lnSpc>
              <a:spcBef>
                <a:spcPts val="770"/>
              </a:spcBef>
              <a:tabLst>
                <a:tab pos="6542405" algn="l"/>
              </a:tabLst>
            </a:pPr>
            <a:r>
              <a:rPr sz="2800" spc="-5" dirty="0">
                <a:latin typeface="Courier New"/>
                <a:cs typeface="Courier New"/>
              </a:rPr>
              <a:t>.getConnection	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05000" y="2404872"/>
            <a:ext cx="2362200" cy="533400"/>
          </a:xfrm>
          <a:custGeom>
            <a:avLst/>
            <a:gdLst/>
            <a:ahLst/>
            <a:cxnLst/>
            <a:rect l="l" t="t" r="r" b="b"/>
            <a:pathLst>
              <a:path w="2362200" h="533400">
                <a:moveTo>
                  <a:pt x="0" y="0"/>
                </a:moveTo>
                <a:lnTo>
                  <a:pt x="2362200" y="0"/>
                </a:lnTo>
                <a:lnTo>
                  <a:pt x="23622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237" y="2400300"/>
            <a:ext cx="2371725" cy="542925"/>
          </a:xfrm>
          <a:custGeom>
            <a:avLst/>
            <a:gdLst/>
            <a:ahLst/>
            <a:cxnLst/>
            <a:rect l="l" t="t" r="r" b="b"/>
            <a:pathLst>
              <a:path w="2371725" h="542925">
                <a:moveTo>
                  <a:pt x="23717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2371725" y="538162"/>
                </a:lnTo>
                <a:lnTo>
                  <a:pt x="2371725" y="542925"/>
                </a:lnTo>
                <a:close/>
              </a:path>
              <a:path w="23717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542925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542925">
                <a:moveTo>
                  <a:pt x="2362200" y="538162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533400"/>
                </a:lnTo>
                <a:lnTo>
                  <a:pt x="2366962" y="533400"/>
                </a:lnTo>
                <a:lnTo>
                  <a:pt x="2362200" y="538162"/>
                </a:lnTo>
                <a:close/>
              </a:path>
              <a:path w="2371725" h="542925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2371725" h="542925">
                <a:moveTo>
                  <a:pt x="23622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2362200" y="533400"/>
                </a:lnTo>
                <a:lnTo>
                  <a:pt x="2362200" y="538162"/>
                </a:lnTo>
                <a:close/>
              </a:path>
              <a:path w="2371725" h="542925">
                <a:moveTo>
                  <a:pt x="2371725" y="538162"/>
                </a:moveTo>
                <a:lnTo>
                  <a:pt x="2362200" y="538162"/>
                </a:lnTo>
                <a:lnTo>
                  <a:pt x="2366962" y="533400"/>
                </a:lnTo>
                <a:lnTo>
                  <a:pt x="2371725" y="533400"/>
                </a:lnTo>
                <a:lnTo>
                  <a:pt x="23717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9740" y="2069064"/>
            <a:ext cx="7222490" cy="8623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JDBC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classes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  <a:tabLst>
                <a:tab pos="3639185" algn="l"/>
              </a:tabLst>
            </a:pPr>
            <a:r>
              <a:rPr sz="2800" spc="-5" dirty="0">
                <a:latin typeface="Courier New"/>
                <a:cs typeface="Courier New"/>
              </a:rPr>
              <a:t>import	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67200" y="2248268"/>
            <a:ext cx="916305" cy="391795"/>
          </a:xfrm>
          <a:custGeom>
            <a:avLst/>
            <a:gdLst/>
            <a:ahLst/>
            <a:cxnLst/>
            <a:rect l="l" t="t" r="r" b="b"/>
            <a:pathLst>
              <a:path w="916304" h="391794">
                <a:moveTo>
                  <a:pt x="72167" y="360478"/>
                </a:moveTo>
                <a:lnTo>
                  <a:pt x="68507" y="351691"/>
                </a:lnTo>
                <a:lnTo>
                  <a:pt x="912571" y="0"/>
                </a:lnTo>
                <a:lnTo>
                  <a:pt x="916228" y="8788"/>
                </a:lnTo>
                <a:lnTo>
                  <a:pt x="72167" y="360478"/>
                </a:lnTo>
                <a:close/>
              </a:path>
              <a:path w="916304" h="391794">
                <a:moveTo>
                  <a:pt x="84988" y="391261"/>
                </a:moveTo>
                <a:lnTo>
                  <a:pt x="0" y="385394"/>
                </a:lnTo>
                <a:lnTo>
                  <a:pt x="55689" y="320916"/>
                </a:lnTo>
                <a:lnTo>
                  <a:pt x="68507" y="351691"/>
                </a:lnTo>
                <a:lnTo>
                  <a:pt x="50926" y="359016"/>
                </a:lnTo>
                <a:lnTo>
                  <a:pt x="54584" y="367804"/>
                </a:lnTo>
                <a:lnTo>
                  <a:pt x="75218" y="367804"/>
                </a:lnTo>
                <a:lnTo>
                  <a:pt x="84988" y="391261"/>
                </a:lnTo>
                <a:close/>
              </a:path>
              <a:path w="916304" h="391794">
                <a:moveTo>
                  <a:pt x="54584" y="367804"/>
                </a:moveTo>
                <a:lnTo>
                  <a:pt x="50926" y="359016"/>
                </a:lnTo>
                <a:lnTo>
                  <a:pt x="68507" y="351691"/>
                </a:lnTo>
                <a:lnTo>
                  <a:pt x="72167" y="360478"/>
                </a:lnTo>
                <a:lnTo>
                  <a:pt x="54584" y="367804"/>
                </a:lnTo>
                <a:close/>
              </a:path>
              <a:path w="916304" h="391794">
                <a:moveTo>
                  <a:pt x="75218" y="367804"/>
                </a:moveTo>
                <a:lnTo>
                  <a:pt x="54584" y="367804"/>
                </a:lnTo>
                <a:lnTo>
                  <a:pt x="72167" y="360478"/>
                </a:lnTo>
                <a:lnTo>
                  <a:pt x="75218" y="3678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9000" y="3048000"/>
            <a:ext cx="4572000" cy="533400"/>
          </a:xfrm>
          <a:custGeom>
            <a:avLst/>
            <a:gdLst/>
            <a:ahLst/>
            <a:cxnLst/>
            <a:rect l="l" t="t" r="r" b="b"/>
            <a:pathLst>
              <a:path w="4572000" h="533400">
                <a:moveTo>
                  <a:pt x="0" y="0"/>
                </a:moveTo>
                <a:lnTo>
                  <a:pt x="4572000" y="0"/>
                </a:lnTo>
                <a:lnTo>
                  <a:pt x="4572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99CC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4237" y="3043237"/>
            <a:ext cx="4581525" cy="542925"/>
          </a:xfrm>
          <a:custGeom>
            <a:avLst/>
            <a:gdLst/>
            <a:ahLst/>
            <a:cxnLst/>
            <a:rect l="l" t="t" r="r" b="b"/>
            <a:pathLst>
              <a:path w="4581525" h="542925">
                <a:moveTo>
                  <a:pt x="45815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4581525" y="0"/>
                </a:lnTo>
                <a:lnTo>
                  <a:pt x="458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4581525" y="538162"/>
                </a:lnTo>
                <a:lnTo>
                  <a:pt x="4581525" y="542925"/>
                </a:lnTo>
                <a:close/>
              </a:path>
              <a:path w="45815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81525" h="542925">
                <a:moveTo>
                  <a:pt x="457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0" y="4762"/>
                </a:lnTo>
                <a:lnTo>
                  <a:pt x="4572000" y="9525"/>
                </a:lnTo>
                <a:close/>
              </a:path>
              <a:path w="4581525" h="542925">
                <a:moveTo>
                  <a:pt x="4572000" y="538162"/>
                </a:moveTo>
                <a:lnTo>
                  <a:pt x="4572000" y="4762"/>
                </a:lnTo>
                <a:lnTo>
                  <a:pt x="4576762" y="9525"/>
                </a:lnTo>
                <a:lnTo>
                  <a:pt x="4581525" y="9525"/>
                </a:lnTo>
                <a:lnTo>
                  <a:pt x="4581525" y="533400"/>
                </a:lnTo>
                <a:lnTo>
                  <a:pt x="4576762" y="533400"/>
                </a:lnTo>
                <a:lnTo>
                  <a:pt x="4572000" y="538162"/>
                </a:lnTo>
                <a:close/>
              </a:path>
              <a:path w="4581525" h="542925">
                <a:moveTo>
                  <a:pt x="4581525" y="9525"/>
                </a:moveTo>
                <a:lnTo>
                  <a:pt x="4576762" y="9525"/>
                </a:lnTo>
                <a:lnTo>
                  <a:pt x="4572000" y="4762"/>
                </a:lnTo>
                <a:lnTo>
                  <a:pt x="4581525" y="4762"/>
                </a:lnTo>
                <a:lnTo>
                  <a:pt x="4581525" y="9525"/>
                </a:lnTo>
                <a:close/>
              </a:path>
              <a:path w="45815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4581525" h="542925">
                <a:moveTo>
                  <a:pt x="45720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4572000" y="533400"/>
                </a:lnTo>
                <a:lnTo>
                  <a:pt x="4572000" y="538162"/>
                </a:lnTo>
                <a:close/>
              </a:path>
              <a:path w="4581525" h="542925">
                <a:moveTo>
                  <a:pt x="4581525" y="538162"/>
                </a:moveTo>
                <a:lnTo>
                  <a:pt x="4572000" y="538162"/>
                </a:lnTo>
                <a:lnTo>
                  <a:pt x="4576762" y="533400"/>
                </a:lnTo>
                <a:lnTo>
                  <a:pt x="4581525" y="533400"/>
                </a:lnTo>
                <a:lnTo>
                  <a:pt x="45815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8065" y="4942522"/>
            <a:ext cx="15849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The driver  </a:t>
            </a:r>
            <a:r>
              <a:rPr sz="2400" spc="-10" dirty="0">
                <a:latin typeface="Tahoma"/>
                <a:cs typeface="Tahoma"/>
              </a:rPr>
              <a:t>for mySql;  </a:t>
            </a:r>
            <a:r>
              <a:rPr sz="2400" dirty="0">
                <a:latin typeface="Tahoma"/>
                <a:cs typeface="Tahoma"/>
              </a:rPr>
              <a:t>others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exist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62800" y="3581400"/>
            <a:ext cx="918844" cy="1298575"/>
          </a:xfrm>
          <a:custGeom>
            <a:avLst/>
            <a:gdLst/>
            <a:ahLst/>
            <a:cxnLst/>
            <a:rect l="l" t="t" r="r" b="b"/>
            <a:pathLst>
              <a:path w="918845" h="1298575">
                <a:moveTo>
                  <a:pt x="12814" y="84226"/>
                </a:moveTo>
                <a:lnTo>
                  <a:pt x="0" y="0"/>
                </a:lnTo>
                <a:lnTo>
                  <a:pt x="75069" y="40284"/>
                </a:lnTo>
                <a:lnTo>
                  <a:pt x="69887" y="43941"/>
                </a:lnTo>
                <a:lnTo>
                  <a:pt x="36842" y="43941"/>
                </a:lnTo>
                <a:lnTo>
                  <a:pt x="29070" y="49441"/>
                </a:lnTo>
                <a:lnTo>
                  <a:pt x="40053" y="65000"/>
                </a:lnTo>
                <a:lnTo>
                  <a:pt x="12814" y="84226"/>
                </a:lnTo>
                <a:close/>
              </a:path>
              <a:path w="918845" h="1298575">
                <a:moveTo>
                  <a:pt x="40053" y="65000"/>
                </a:moveTo>
                <a:lnTo>
                  <a:pt x="29070" y="49441"/>
                </a:lnTo>
                <a:lnTo>
                  <a:pt x="36842" y="43941"/>
                </a:lnTo>
                <a:lnTo>
                  <a:pt x="47831" y="59509"/>
                </a:lnTo>
                <a:lnTo>
                  <a:pt x="40053" y="65000"/>
                </a:lnTo>
                <a:close/>
              </a:path>
              <a:path w="918845" h="1298575">
                <a:moveTo>
                  <a:pt x="47831" y="59509"/>
                </a:moveTo>
                <a:lnTo>
                  <a:pt x="36842" y="43941"/>
                </a:lnTo>
                <a:lnTo>
                  <a:pt x="69887" y="43941"/>
                </a:lnTo>
                <a:lnTo>
                  <a:pt x="47831" y="59509"/>
                </a:lnTo>
                <a:close/>
              </a:path>
              <a:path w="918845" h="1298575">
                <a:moveTo>
                  <a:pt x="910513" y="1298143"/>
                </a:moveTo>
                <a:lnTo>
                  <a:pt x="40053" y="65000"/>
                </a:lnTo>
                <a:lnTo>
                  <a:pt x="47831" y="59509"/>
                </a:lnTo>
                <a:lnTo>
                  <a:pt x="918286" y="1292656"/>
                </a:lnTo>
                <a:lnTo>
                  <a:pt x="910513" y="1298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01264" y="5094922"/>
            <a:ext cx="35121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URL of 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400" spc="-10" dirty="0">
                <a:latin typeface="Tahoma"/>
                <a:cs typeface="Tahoma"/>
              </a:rPr>
              <a:t>your </a:t>
            </a:r>
            <a:r>
              <a:rPr sz="2400" spc="-5" dirty="0">
                <a:latin typeface="Tahoma"/>
                <a:cs typeface="Tahoma"/>
              </a:rPr>
              <a:t>name,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password  go here.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77000" y="4038600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0" y="0"/>
                </a:moveTo>
                <a:lnTo>
                  <a:pt x="685800" y="0"/>
                </a:lnTo>
                <a:lnTo>
                  <a:pt x="6858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72237" y="4033837"/>
            <a:ext cx="695325" cy="466725"/>
          </a:xfrm>
          <a:custGeom>
            <a:avLst/>
            <a:gdLst/>
            <a:ahLst/>
            <a:cxnLst/>
            <a:rect l="l" t="t" r="r" b="b"/>
            <a:pathLst>
              <a:path w="695325" h="466725">
                <a:moveTo>
                  <a:pt x="6953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695325" y="0"/>
                </a:lnTo>
                <a:lnTo>
                  <a:pt x="695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695325" y="461962"/>
                </a:lnTo>
                <a:lnTo>
                  <a:pt x="695325" y="466725"/>
                </a:lnTo>
                <a:close/>
              </a:path>
              <a:path w="6953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95325" h="466725">
                <a:moveTo>
                  <a:pt x="685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85800" y="4762"/>
                </a:lnTo>
                <a:lnTo>
                  <a:pt x="685800" y="9525"/>
                </a:lnTo>
                <a:close/>
              </a:path>
              <a:path w="695325" h="466725">
                <a:moveTo>
                  <a:pt x="685800" y="461962"/>
                </a:moveTo>
                <a:lnTo>
                  <a:pt x="685800" y="4762"/>
                </a:lnTo>
                <a:lnTo>
                  <a:pt x="690562" y="9525"/>
                </a:lnTo>
                <a:lnTo>
                  <a:pt x="695325" y="9525"/>
                </a:lnTo>
                <a:lnTo>
                  <a:pt x="695325" y="457200"/>
                </a:lnTo>
                <a:lnTo>
                  <a:pt x="690562" y="457200"/>
                </a:lnTo>
                <a:lnTo>
                  <a:pt x="685800" y="461962"/>
                </a:lnTo>
                <a:close/>
              </a:path>
              <a:path w="695325" h="466725">
                <a:moveTo>
                  <a:pt x="695325" y="9525"/>
                </a:moveTo>
                <a:lnTo>
                  <a:pt x="690562" y="9525"/>
                </a:lnTo>
                <a:lnTo>
                  <a:pt x="685800" y="4762"/>
                </a:lnTo>
                <a:lnTo>
                  <a:pt x="695325" y="4762"/>
                </a:lnTo>
                <a:lnTo>
                  <a:pt x="695325" y="9525"/>
                </a:lnTo>
                <a:close/>
              </a:path>
              <a:path w="6953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695325" h="466725">
                <a:moveTo>
                  <a:pt x="6858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685800" y="457200"/>
                </a:lnTo>
                <a:lnTo>
                  <a:pt x="685800" y="461962"/>
                </a:lnTo>
                <a:close/>
              </a:path>
              <a:path w="695325" h="466725">
                <a:moveTo>
                  <a:pt x="695325" y="461962"/>
                </a:moveTo>
                <a:lnTo>
                  <a:pt x="685800" y="461962"/>
                </a:lnTo>
                <a:lnTo>
                  <a:pt x="690562" y="457200"/>
                </a:lnTo>
                <a:lnTo>
                  <a:pt x="695325" y="457200"/>
                </a:lnTo>
                <a:lnTo>
                  <a:pt x="6953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59387" y="4495800"/>
            <a:ext cx="918210" cy="842010"/>
          </a:xfrm>
          <a:custGeom>
            <a:avLst/>
            <a:gdLst/>
            <a:ahLst/>
            <a:cxnLst/>
            <a:rect l="l" t="t" r="r" b="b"/>
            <a:pathLst>
              <a:path w="918210" h="842010">
                <a:moveTo>
                  <a:pt x="858218" y="47976"/>
                </a:moveTo>
                <a:lnTo>
                  <a:pt x="835698" y="23406"/>
                </a:lnTo>
                <a:lnTo>
                  <a:pt x="917613" y="0"/>
                </a:lnTo>
                <a:lnTo>
                  <a:pt x="904190" y="35102"/>
                </a:lnTo>
                <a:lnTo>
                  <a:pt x="872261" y="35102"/>
                </a:lnTo>
                <a:lnTo>
                  <a:pt x="858218" y="47976"/>
                </a:lnTo>
                <a:close/>
              </a:path>
              <a:path w="918210" h="842010">
                <a:moveTo>
                  <a:pt x="864655" y="54999"/>
                </a:moveTo>
                <a:lnTo>
                  <a:pt x="858218" y="47976"/>
                </a:lnTo>
                <a:lnTo>
                  <a:pt x="872261" y="35102"/>
                </a:lnTo>
                <a:lnTo>
                  <a:pt x="878700" y="42125"/>
                </a:lnTo>
                <a:lnTo>
                  <a:pt x="864655" y="54999"/>
                </a:lnTo>
                <a:close/>
              </a:path>
              <a:path w="918210" h="842010">
                <a:moveTo>
                  <a:pt x="887183" y="79578"/>
                </a:moveTo>
                <a:lnTo>
                  <a:pt x="864655" y="54999"/>
                </a:lnTo>
                <a:lnTo>
                  <a:pt x="878700" y="42125"/>
                </a:lnTo>
                <a:lnTo>
                  <a:pt x="872261" y="35102"/>
                </a:lnTo>
                <a:lnTo>
                  <a:pt x="904190" y="35102"/>
                </a:lnTo>
                <a:lnTo>
                  <a:pt x="887183" y="79578"/>
                </a:lnTo>
                <a:close/>
              </a:path>
              <a:path w="918210" h="842010">
                <a:moveTo>
                  <a:pt x="6426" y="841705"/>
                </a:moveTo>
                <a:lnTo>
                  <a:pt x="0" y="834694"/>
                </a:lnTo>
                <a:lnTo>
                  <a:pt x="858218" y="47976"/>
                </a:lnTo>
                <a:lnTo>
                  <a:pt x="864655" y="54999"/>
                </a:lnTo>
                <a:lnTo>
                  <a:pt x="6426" y="841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1140" y="5213984"/>
            <a:ext cx="1415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Loaded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by  forName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2000" y="4038600"/>
            <a:ext cx="2819400" cy="533400"/>
          </a:xfrm>
          <a:custGeom>
            <a:avLst/>
            <a:gdLst/>
            <a:ahLst/>
            <a:cxnLst/>
            <a:rect l="l" t="t" r="r" b="b"/>
            <a:pathLst>
              <a:path w="2819400" h="533400">
                <a:moveTo>
                  <a:pt x="0" y="0"/>
                </a:moveTo>
                <a:lnTo>
                  <a:pt x="2819400" y="0"/>
                </a:lnTo>
                <a:lnTo>
                  <a:pt x="2819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7237" y="4033837"/>
            <a:ext cx="2828925" cy="542925"/>
          </a:xfrm>
          <a:custGeom>
            <a:avLst/>
            <a:gdLst/>
            <a:ahLst/>
            <a:cxnLst/>
            <a:rect l="l" t="t" r="r" b="b"/>
            <a:pathLst>
              <a:path w="2828925" h="542925">
                <a:moveTo>
                  <a:pt x="28289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2828925" y="0"/>
                </a:lnTo>
                <a:lnTo>
                  <a:pt x="2828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2828925" y="538162"/>
                </a:lnTo>
                <a:lnTo>
                  <a:pt x="2828925" y="542925"/>
                </a:lnTo>
                <a:close/>
              </a:path>
              <a:path w="28289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828925" h="542925">
                <a:moveTo>
                  <a:pt x="2819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819400" y="4762"/>
                </a:lnTo>
                <a:lnTo>
                  <a:pt x="2819400" y="9525"/>
                </a:lnTo>
                <a:close/>
              </a:path>
              <a:path w="2828925" h="542925">
                <a:moveTo>
                  <a:pt x="2819400" y="538162"/>
                </a:moveTo>
                <a:lnTo>
                  <a:pt x="2819400" y="4762"/>
                </a:lnTo>
                <a:lnTo>
                  <a:pt x="2824162" y="9525"/>
                </a:lnTo>
                <a:lnTo>
                  <a:pt x="2828925" y="9525"/>
                </a:lnTo>
                <a:lnTo>
                  <a:pt x="2828925" y="533400"/>
                </a:lnTo>
                <a:lnTo>
                  <a:pt x="2824162" y="533400"/>
                </a:lnTo>
                <a:lnTo>
                  <a:pt x="2819400" y="538162"/>
                </a:lnTo>
                <a:close/>
              </a:path>
              <a:path w="2828925" h="542925">
                <a:moveTo>
                  <a:pt x="2828925" y="9525"/>
                </a:moveTo>
                <a:lnTo>
                  <a:pt x="2824162" y="9525"/>
                </a:lnTo>
                <a:lnTo>
                  <a:pt x="2819400" y="4762"/>
                </a:lnTo>
                <a:lnTo>
                  <a:pt x="2828925" y="4762"/>
                </a:lnTo>
                <a:lnTo>
                  <a:pt x="2828925" y="9525"/>
                </a:lnTo>
                <a:close/>
              </a:path>
              <a:path w="28289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2828925" h="542925">
                <a:moveTo>
                  <a:pt x="28194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2819400" y="533400"/>
                </a:lnTo>
                <a:lnTo>
                  <a:pt x="2819400" y="538162"/>
                </a:lnTo>
                <a:close/>
              </a:path>
              <a:path w="2828925" h="542925">
                <a:moveTo>
                  <a:pt x="2828925" y="538162"/>
                </a:moveTo>
                <a:lnTo>
                  <a:pt x="2819400" y="538162"/>
                </a:lnTo>
                <a:lnTo>
                  <a:pt x="2824162" y="533400"/>
                </a:lnTo>
                <a:lnTo>
                  <a:pt x="2828925" y="533400"/>
                </a:lnTo>
                <a:lnTo>
                  <a:pt x="28289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15326" y="4572000"/>
            <a:ext cx="385445" cy="536575"/>
          </a:xfrm>
          <a:custGeom>
            <a:avLst/>
            <a:gdLst/>
            <a:ahLst/>
            <a:cxnLst/>
            <a:rect l="l" t="t" r="r" b="b"/>
            <a:pathLst>
              <a:path w="385444" h="536575">
                <a:moveTo>
                  <a:pt x="336705" y="59239"/>
                </a:moveTo>
                <a:lnTo>
                  <a:pt x="309575" y="39865"/>
                </a:lnTo>
                <a:lnTo>
                  <a:pt x="384873" y="0"/>
                </a:lnTo>
                <a:lnTo>
                  <a:pt x="377968" y="43738"/>
                </a:lnTo>
                <a:lnTo>
                  <a:pt x="347776" y="43738"/>
                </a:lnTo>
                <a:lnTo>
                  <a:pt x="336705" y="59239"/>
                </a:lnTo>
                <a:close/>
              </a:path>
              <a:path w="385444" h="536575">
                <a:moveTo>
                  <a:pt x="344462" y="64778"/>
                </a:moveTo>
                <a:lnTo>
                  <a:pt x="336705" y="59239"/>
                </a:lnTo>
                <a:lnTo>
                  <a:pt x="347776" y="43738"/>
                </a:lnTo>
                <a:lnTo>
                  <a:pt x="355536" y="49275"/>
                </a:lnTo>
                <a:lnTo>
                  <a:pt x="344462" y="64778"/>
                </a:lnTo>
                <a:close/>
              </a:path>
              <a:path w="385444" h="536575">
                <a:moveTo>
                  <a:pt x="371589" y="84150"/>
                </a:moveTo>
                <a:lnTo>
                  <a:pt x="344462" y="64778"/>
                </a:lnTo>
                <a:lnTo>
                  <a:pt x="355536" y="49275"/>
                </a:lnTo>
                <a:lnTo>
                  <a:pt x="347776" y="43738"/>
                </a:lnTo>
                <a:lnTo>
                  <a:pt x="377968" y="43738"/>
                </a:lnTo>
                <a:lnTo>
                  <a:pt x="371589" y="84150"/>
                </a:lnTo>
                <a:close/>
              </a:path>
              <a:path w="385444" h="536575">
                <a:moveTo>
                  <a:pt x="7747" y="536168"/>
                </a:moveTo>
                <a:lnTo>
                  <a:pt x="0" y="530631"/>
                </a:lnTo>
                <a:lnTo>
                  <a:pt x="336705" y="59239"/>
                </a:lnTo>
                <a:lnTo>
                  <a:pt x="344462" y="64778"/>
                </a:lnTo>
                <a:lnTo>
                  <a:pt x="7747" y="536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7379" y="829944"/>
            <a:ext cx="2809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38830"/>
            <a:ext cx="7494270" cy="331851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68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JDBC </a:t>
            </a:r>
            <a:r>
              <a:rPr sz="3200" spc="-10" dirty="0">
                <a:latin typeface="Tahoma"/>
                <a:cs typeface="Tahoma"/>
              </a:rPr>
              <a:t>provides </a:t>
            </a:r>
            <a:r>
              <a:rPr sz="3200" spc="-5" dirty="0">
                <a:latin typeface="Tahoma"/>
                <a:cs typeface="Tahoma"/>
              </a:rPr>
              <a:t>two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classes:</a:t>
            </a:r>
            <a:endParaRPr sz="3200">
              <a:latin typeface="Tahoma"/>
              <a:cs typeface="Tahoma"/>
            </a:endParaRPr>
          </a:p>
          <a:p>
            <a:pPr marL="1002665" marR="5080" lvl="1" indent="-556895">
              <a:lnSpc>
                <a:spcPts val="3360"/>
              </a:lnSpc>
              <a:spcBef>
                <a:spcPts val="785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sz="2900" i="1" spc="-985" dirty="0">
                <a:solidFill>
                  <a:srgbClr val="33CC33"/>
                </a:solidFill>
                <a:latin typeface="Tahoma"/>
                <a:cs typeface="Tahoma"/>
              </a:rPr>
              <a:t>Statement</a:t>
            </a:r>
            <a:r>
              <a:rPr sz="2900" i="1" spc="-6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an object that can accept a  string that is a SQL statement and can  </a:t>
            </a:r>
            <a:r>
              <a:rPr sz="2800" spc="-10" dirty="0">
                <a:latin typeface="Tahoma"/>
                <a:cs typeface="Tahoma"/>
              </a:rPr>
              <a:t>execute </a:t>
            </a:r>
            <a:r>
              <a:rPr sz="2800" spc="-5" dirty="0">
                <a:latin typeface="Tahoma"/>
                <a:cs typeface="Tahoma"/>
              </a:rPr>
              <a:t>such a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string.</a:t>
            </a:r>
            <a:endParaRPr sz="2800">
              <a:latin typeface="Tahoma"/>
              <a:cs typeface="Tahoma"/>
            </a:endParaRPr>
          </a:p>
          <a:p>
            <a:pPr marL="1002665" marR="30480" lvl="1" indent="-556895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sz="2900" i="1" spc="-1045" dirty="0">
                <a:solidFill>
                  <a:srgbClr val="33CC33"/>
                </a:solidFill>
                <a:latin typeface="Tahoma"/>
                <a:cs typeface="Tahoma"/>
              </a:rPr>
              <a:t>PreparedStatement</a:t>
            </a:r>
            <a:r>
              <a:rPr sz="2900" i="1" spc="-6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an object that has  an associated SQL statement ready to  </a:t>
            </a:r>
            <a:r>
              <a:rPr sz="2800" spc="-10" dirty="0">
                <a:latin typeface="Tahoma"/>
                <a:cs typeface="Tahoma"/>
              </a:rPr>
              <a:t>execute.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2320" y="829944"/>
            <a:ext cx="5039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Creating</a:t>
            </a:r>
            <a:r>
              <a:rPr spc="-35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4904" y="2965276"/>
            <a:ext cx="2418715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20" dirty="0">
                <a:latin typeface="Tahoma"/>
                <a:cs typeface="Tahoma"/>
              </a:rPr>
              <a:t>r</a:t>
            </a:r>
            <a:r>
              <a:rPr sz="2800" spc="-5" dirty="0">
                <a:latin typeface="Tahoma"/>
                <a:cs typeface="Tahoma"/>
              </a:rPr>
              <a:t>eateStatement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2650" y="3987626"/>
            <a:ext cx="246380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20" dirty="0">
                <a:latin typeface="Tahoma"/>
                <a:cs typeface="Tahoma"/>
              </a:rPr>
              <a:t>r</a:t>
            </a:r>
            <a:r>
              <a:rPr sz="2800" spc="-5" dirty="0">
                <a:latin typeface="Tahoma"/>
                <a:cs typeface="Tahoma"/>
              </a:rPr>
              <a:t>eateStatemen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014219"/>
            <a:ext cx="7306945" cy="2412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The Connection class has methods to create  Statements and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PreparedStatements.</a:t>
            </a:r>
            <a:endParaRPr sz="2800">
              <a:latin typeface="Tahoma"/>
              <a:cs typeface="Tahoma"/>
            </a:endParaRPr>
          </a:p>
          <a:p>
            <a:pPr marL="12700" marR="139700">
              <a:lnSpc>
                <a:spcPct val="119900"/>
              </a:lnSpc>
              <a:tabLst>
                <a:tab pos="6760845" algn="l"/>
              </a:tabLst>
            </a:pPr>
            <a:r>
              <a:rPr sz="2800" spc="-5" dirty="0">
                <a:latin typeface="Tahoma"/>
                <a:cs typeface="Tahoma"/>
              </a:rPr>
              <a:t>Statement stat1 = </a:t>
            </a:r>
            <a:r>
              <a:rPr sz="2800" spc="-30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yCon.c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" dirty="0">
                <a:latin typeface="Tahoma"/>
                <a:cs typeface="Tahoma"/>
              </a:rPr>
              <a:t>();  PreparedStatement stat2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endParaRPr sz="28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660"/>
              </a:spcBef>
              <a:tabLst>
                <a:tab pos="4003675" algn="l"/>
              </a:tabLst>
            </a:pPr>
            <a:r>
              <a:rPr sz="2800" spc="-10" dirty="0">
                <a:latin typeface="Tahoma"/>
                <a:cs typeface="Tahoma"/>
              </a:rPr>
              <a:t>myCon.	</a:t>
            </a:r>
            <a:r>
              <a:rPr sz="2800" spc="-5" dirty="0">
                <a:latin typeface="Tahoma"/>
                <a:cs typeface="Tahoma"/>
              </a:rPr>
              <a:t>t(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5039" y="5510529"/>
            <a:ext cx="2870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);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0600" y="3048000"/>
            <a:ext cx="2590800" cy="381000"/>
          </a:xfrm>
          <a:custGeom>
            <a:avLst/>
            <a:gdLst/>
            <a:ahLst/>
            <a:cxnLst/>
            <a:rect l="l" t="t" r="r" b="b"/>
            <a:pathLst>
              <a:path w="2590800" h="381000">
                <a:moveTo>
                  <a:pt x="0" y="0"/>
                </a:moveTo>
                <a:lnTo>
                  <a:pt x="2590800" y="0"/>
                </a:lnTo>
                <a:lnTo>
                  <a:pt x="2590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95837" y="3043237"/>
            <a:ext cx="2600325" cy="390525"/>
          </a:xfrm>
          <a:custGeom>
            <a:avLst/>
            <a:gdLst/>
            <a:ahLst/>
            <a:cxnLst/>
            <a:rect l="l" t="t" r="r" b="b"/>
            <a:pathLst>
              <a:path w="2600325" h="390525">
                <a:moveTo>
                  <a:pt x="26003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600325" y="385762"/>
                </a:lnTo>
                <a:lnTo>
                  <a:pt x="2600325" y="390525"/>
                </a:lnTo>
                <a:close/>
              </a:path>
              <a:path w="26003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3905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390525">
                <a:moveTo>
                  <a:pt x="2590800" y="3857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381000"/>
                </a:lnTo>
                <a:lnTo>
                  <a:pt x="2595562" y="381000"/>
                </a:lnTo>
                <a:lnTo>
                  <a:pt x="2590800" y="385762"/>
                </a:lnTo>
                <a:close/>
              </a:path>
              <a:path w="2600325" h="3905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600325" h="390525">
                <a:moveTo>
                  <a:pt x="25908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590800" y="381000"/>
                </a:lnTo>
                <a:lnTo>
                  <a:pt x="2590800" y="385762"/>
                </a:lnTo>
                <a:close/>
              </a:path>
              <a:path w="2600325" h="390525">
                <a:moveTo>
                  <a:pt x="2600325" y="385762"/>
                </a:moveTo>
                <a:lnTo>
                  <a:pt x="2590800" y="385762"/>
                </a:lnTo>
                <a:lnTo>
                  <a:pt x="2595562" y="381000"/>
                </a:lnTo>
                <a:lnTo>
                  <a:pt x="2600325" y="381000"/>
                </a:lnTo>
                <a:lnTo>
                  <a:pt x="26003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3600" y="4038600"/>
            <a:ext cx="2590800" cy="381000"/>
          </a:xfrm>
          <a:custGeom>
            <a:avLst/>
            <a:gdLst/>
            <a:ahLst/>
            <a:cxnLst/>
            <a:rect l="l" t="t" r="r" b="b"/>
            <a:pathLst>
              <a:path w="2590800" h="381000">
                <a:moveTo>
                  <a:pt x="0" y="0"/>
                </a:moveTo>
                <a:lnTo>
                  <a:pt x="2590800" y="0"/>
                </a:lnTo>
                <a:lnTo>
                  <a:pt x="2590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28837" y="4033837"/>
            <a:ext cx="2600325" cy="390525"/>
          </a:xfrm>
          <a:custGeom>
            <a:avLst/>
            <a:gdLst/>
            <a:ahLst/>
            <a:cxnLst/>
            <a:rect l="l" t="t" r="r" b="b"/>
            <a:pathLst>
              <a:path w="2600325" h="390525">
                <a:moveTo>
                  <a:pt x="26003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2600325" y="385762"/>
                </a:lnTo>
                <a:lnTo>
                  <a:pt x="2600325" y="390525"/>
                </a:lnTo>
                <a:close/>
              </a:path>
              <a:path w="26003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3905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390525">
                <a:moveTo>
                  <a:pt x="2590800" y="3857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381000"/>
                </a:lnTo>
                <a:lnTo>
                  <a:pt x="2595562" y="381000"/>
                </a:lnTo>
                <a:lnTo>
                  <a:pt x="2590800" y="385762"/>
                </a:lnTo>
                <a:close/>
              </a:path>
              <a:path w="2600325" h="3905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2600325" h="390525">
                <a:moveTo>
                  <a:pt x="25908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2590800" y="381000"/>
                </a:lnTo>
                <a:lnTo>
                  <a:pt x="2590800" y="385762"/>
                </a:lnTo>
                <a:close/>
              </a:path>
              <a:path w="2600325" h="390525">
                <a:moveTo>
                  <a:pt x="2600325" y="385762"/>
                </a:moveTo>
                <a:lnTo>
                  <a:pt x="2590800" y="385762"/>
                </a:lnTo>
                <a:lnTo>
                  <a:pt x="2595562" y="381000"/>
                </a:lnTo>
                <a:lnTo>
                  <a:pt x="2600325" y="381000"/>
                </a:lnTo>
                <a:lnTo>
                  <a:pt x="26003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26539" y="4401058"/>
            <a:ext cx="6937375" cy="183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54455">
              <a:lnSpc>
                <a:spcPct val="1199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”SELECT </a:t>
            </a:r>
            <a:r>
              <a:rPr sz="2800" spc="-80" dirty="0">
                <a:latin typeface="Tahoma"/>
                <a:cs typeface="Tahoma"/>
              </a:rPr>
              <a:t>beer, </a:t>
            </a:r>
            <a:r>
              <a:rPr sz="2800" spc="-5" dirty="0">
                <a:latin typeface="Tahoma"/>
                <a:cs typeface="Tahoma"/>
              </a:rPr>
              <a:t>price FROM </a:t>
            </a:r>
            <a:r>
              <a:rPr sz="2800" dirty="0">
                <a:latin typeface="Tahoma"/>
                <a:cs typeface="Tahoma"/>
              </a:rPr>
              <a:t>Sells </a:t>
            </a:r>
            <a:r>
              <a:rPr sz="2800" spc="-5" dirty="0">
                <a:latin typeface="Tahoma"/>
                <a:cs typeface="Tahoma"/>
              </a:rPr>
              <a:t>” +  </a:t>
            </a:r>
            <a:r>
              <a:rPr sz="2800" spc="10" dirty="0">
                <a:latin typeface="Tahoma"/>
                <a:cs typeface="Tahoma"/>
              </a:rPr>
              <a:t>”WHERE </a:t>
            </a:r>
            <a:r>
              <a:rPr sz="2800" spc="-5" dirty="0">
                <a:latin typeface="Tahoma"/>
                <a:cs typeface="Tahoma"/>
              </a:rPr>
              <a:t>bar = ’Joe’ </a:t>
            </a:r>
            <a:r>
              <a:rPr sz="2800" spc="-50" dirty="0">
                <a:latin typeface="Tahoma"/>
                <a:cs typeface="Tahoma"/>
              </a:rPr>
              <a:t>’s </a:t>
            </a:r>
            <a:r>
              <a:rPr sz="2800" spc="5" dirty="0">
                <a:latin typeface="Tahoma"/>
                <a:cs typeface="Tahoma"/>
              </a:rPr>
              <a:t>Bar’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”</a:t>
            </a:r>
            <a:endParaRPr sz="2800">
              <a:latin typeface="Tahoma"/>
              <a:cs typeface="Tahoma"/>
            </a:endParaRPr>
          </a:p>
          <a:p>
            <a:pPr marL="2130425" marR="5080">
              <a:lnSpc>
                <a:spcPct val="100000"/>
              </a:lnSpc>
              <a:spcBef>
                <a:spcPts val="1390"/>
              </a:spcBef>
            </a:pPr>
            <a:r>
              <a:rPr sz="2000" spc="-5" dirty="0">
                <a:solidFill>
                  <a:srgbClr val="CC6600"/>
                </a:solidFill>
                <a:latin typeface="Tahoma"/>
                <a:cs typeface="Tahoma"/>
              </a:rPr>
              <a:t>createStatement </a:t>
            </a:r>
            <a:r>
              <a:rPr sz="2000" spc="-5" dirty="0">
                <a:latin typeface="Tahoma"/>
                <a:cs typeface="Tahoma"/>
              </a:rPr>
              <a:t>with </a:t>
            </a:r>
            <a:r>
              <a:rPr sz="2000" dirty="0">
                <a:latin typeface="Tahoma"/>
                <a:cs typeface="Tahoma"/>
              </a:rPr>
              <a:t>no </a:t>
            </a:r>
            <a:r>
              <a:rPr sz="2000" spc="-5" dirty="0">
                <a:latin typeface="Tahoma"/>
                <a:cs typeface="Tahoma"/>
              </a:rPr>
              <a:t>argument returns  </a:t>
            </a:r>
            <a:r>
              <a:rPr sz="2000" dirty="0">
                <a:latin typeface="Tahoma"/>
                <a:cs typeface="Tahoma"/>
              </a:rPr>
              <a:t>a </a:t>
            </a:r>
            <a:r>
              <a:rPr sz="2000" spc="-5" dirty="0">
                <a:latin typeface="Tahoma"/>
                <a:cs typeface="Tahoma"/>
              </a:rPr>
              <a:t>Statement; with one argument it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returns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4265" y="6210300"/>
            <a:ext cx="24714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a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PreparedStatement.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18102" y="4419600"/>
            <a:ext cx="325120" cy="1068705"/>
          </a:xfrm>
          <a:custGeom>
            <a:avLst/>
            <a:gdLst/>
            <a:ahLst/>
            <a:cxnLst/>
            <a:rect l="l" t="t" r="r" b="b"/>
            <a:pathLst>
              <a:path w="325120" h="1068704">
                <a:moveTo>
                  <a:pt x="0" y="83731"/>
                </a:moveTo>
                <a:lnTo>
                  <a:pt x="15697" y="0"/>
                </a:lnTo>
                <a:lnTo>
                  <a:pt x="64872" y="53644"/>
                </a:lnTo>
                <a:lnTo>
                  <a:pt x="35979" y="53644"/>
                </a:lnTo>
                <a:lnTo>
                  <a:pt x="26822" y="56261"/>
                </a:lnTo>
                <a:lnTo>
                  <a:pt x="32054" y="74574"/>
                </a:lnTo>
                <a:lnTo>
                  <a:pt x="0" y="83731"/>
                </a:lnTo>
                <a:close/>
              </a:path>
              <a:path w="325120" h="1068704">
                <a:moveTo>
                  <a:pt x="32054" y="74574"/>
                </a:moveTo>
                <a:lnTo>
                  <a:pt x="26822" y="56261"/>
                </a:lnTo>
                <a:lnTo>
                  <a:pt x="35979" y="53644"/>
                </a:lnTo>
                <a:lnTo>
                  <a:pt x="41211" y="71958"/>
                </a:lnTo>
                <a:lnTo>
                  <a:pt x="32054" y="74574"/>
                </a:lnTo>
                <a:close/>
              </a:path>
              <a:path w="325120" h="1068704">
                <a:moveTo>
                  <a:pt x="41211" y="71958"/>
                </a:moveTo>
                <a:lnTo>
                  <a:pt x="35979" y="53644"/>
                </a:lnTo>
                <a:lnTo>
                  <a:pt x="64872" y="53644"/>
                </a:lnTo>
                <a:lnTo>
                  <a:pt x="73266" y="62801"/>
                </a:lnTo>
                <a:lnTo>
                  <a:pt x="41211" y="71958"/>
                </a:lnTo>
                <a:close/>
              </a:path>
              <a:path w="325120" h="1068704">
                <a:moveTo>
                  <a:pt x="315912" y="1068108"/>
                </a:moveTo>
                <a:lnTo>
                  <a:pt x="32054" y="74574"/>
                </a:lnTo>
                <a:lnTo>
                  <a:pt x="41211" y="71958"/>
                </a:lnTo>
                <a:lnTo>
                  <a:pt x="325081" y="1065491"/>
                </a:lnTo>
                <a:lnTo>
                  <a:pt x="315912" y="1068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1837" y="3429000"/>
            <a:ext cx="1376045" cy="2060575"/>
          </a:xfrm>
          <a:custGeom>
            <a:avLst/>
            <a:gdLst/>
            <a:ahLst/>
            <a:cxnLst/>
            <a:rect l="l" t="t" r="r" b="b"/>
            <a:pathLst>
              <a:path w="1376045" h="2060575">
                <a:moveTo>
                  <a:pt x="1329334" y="60756"/>
                </a:moveTo>
                <a:lnTo>
                  <a:pt x="1301597" y="42265"/>
                </a:lnTo>
                <a:lnTo>
                  <a:pt x="1375562" y="0"/>
                </a:lnTo>
                <a:lnTo>
                  <a:pt x="1369949" y="44907"/>
                </a:lnTo>
                <a:lnTo>
                  <a:pt x="1339900" y="44907"/>
                </a:lnTo>
                <a:lnTo>
                  <a:pt x="1329334" y="60756"/>
                </a:lnTo>
                <a:close/>
              </a:path>
              <a:path w="1376045" h="2060575">
                <a:moveTo>
                  <a:pt x="1337259" y="66039"/>
                </a:moveTo>
                <a:lnTo>
                  <a:pt x="1329334" y="60756"/>
                </a:lnTo>
                <a:lnTo>
                  <a:pt x="1339900" y="44907"/>
                </a:lnTo>
                <a:lnTo>
                  <a:pt x="1347825" y="50190"/>
                </a:lnTo>
                <a:lnTo>
                  <a:pt x="1337259" y="66039"/>
                </a:lnTo>
                <a:close/>
              </a:path>
              <a:path w="1376045" h="2060575">
                <a:moveTo>
                  <a:pt x="1364996" y="84531"/>
                </a:moveTo>
                <a:lnTo>
                  <a:pt x="1337259" y="66039"/>
                </a:lnTo>
                <a:lnTo>
                  <a:pt x="1347825" y="50190"/>
                </a:lnTo>
                <a:lnTo>
                  <a:pt x="1339900" y="44907"/>
                </a:lnTo>
                <a:lnTo>
                  <a:pt x="1369949" y="44907"/>
                </a:lnTo>
                <a:lnTo>
                  <a:pt x="1364996" y="84531"/>
                </a:lnTo>
                <a:close/>
              </a:path>
              <a:path w="1376045" h="2060575">
                <a:moveTo>
                  <a:pt x="7924" y="2060041"/>
                </a:moveTo>
                <a:lnTo>
                  <a:pt x="0" y="2054758"/>
                </a:lnTo>
                <a:lnTo>
                  <a:pt x="1329334" y="60756"/>
                </a:lnTo>
                <a:lnTo>
                  <a:pt x="1337259" y="66039"/>
                </a:lnTo>
                <a:lnTo>
                  <a:pt x="7924" y="2060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Executing </a:t>
            </a:r>
            <a:r>
              <a:rPr spc="-5" dirty="0"/>
              <a:t>SQL</a:t>
            </a:r>
            <a:r>
              <a:rPr spc="-4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7758430" cy="40119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384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JDBC </a:t>
            </a:r>
            <a:r>
              <a:rPr sz="3200" spc="-5" dirty="0">
                <a:latin typeface="Tahoma"/>
                <a:cs typeface="Tahoma"/>
              </a:rPr>
              <a:t>distinguishes queries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modifications, which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calls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35" dirty="0">
                <a:latin typeface="Tahoma"/>
                <a:cs typeface="Tahoma"/>
              </a:rPr>
              <a:t>“updates.”</a:t>
            </a:r>
            <a:endParaRPr sz="3200">
              <a:latin typeface="Tahoma"/>
              <a:cs typeface="Tahoma"/>
            </a:endParaRPr>
          </a:p>
          <a:p>
            <a:pPr marL="355600" marR="15811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Statement and PreparedStatement each 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methods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executeQuery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 executeUpdate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Statements: one argument: the query or  modification to be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executed.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PreparedStatements: no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argument.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2370" y="829944"/>
            <a:ext cx="4239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Update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16556"/>
            <a:ext cx="8415655" cy="348170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stat1 is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use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to insert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</a:t>
            </a:r>
            <a:r>
              <a:rPr sz="3200" spc="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as: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stat1.executeUpdate(</a:t>
            </a:r>
            <a:endParaRPr sz="3200">
              <a:latin typeface="Courier New"/>
              <a:cs typeface="Courier New"/>
            </a:endParaRPr>
          </a:p>
          <a:p>
            <a:pPr marL="355600" marR="5080">
              <a:lnSpc>
                <a:spcPct val="119900"/>
              </a:lnSpc>
              <a:spcBef>
                <a:spcPts val="110"/>
              </a:spcBef>
            </a:pPr>
            <a:r>
              <a:rPr sz="3200" spc="-5" dirty="0">
                <a:latin typeface="Courier New"/>
                <a:cs typeface="Courier New"/>
              </a:rPr>
              <a:t>”INSERT INTO Sells </a:t>
            </a:r>
            <a:r>
              <a:rPr sz="3200" dirty="0">
                <a:latin typeface="Courier New"/>
                <a:cs typeface="Courier New"/>
              </a:rPr>
              <a:t>” +  </a:t>
            </a:r>
            <a:r>
              <a:rPr sz="3200" spc="-5" dirty="0">
                <a:latin typeface="Courier New"/>
                <a:cs typeface="Courier New"/>
              </a:rPr>
              <a:t>”VALUES(’Brass</a:t>
            </a:r>
            <a:r>
              <a:rPr sz="320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Rail’,’Bud’,3.00)”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3200" dirty="0">
                <a:latin typeface="Courier New"/>
                <a:cs typeface="Courier New"/>
              </a:rPr>
              <a:t>);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829944"/>
            <a:ext cx="3962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0" dirty="0"/>
              <a:t> </a:t>
            </a:r>
            <a:r>
              <a:rPr spc="-5" dirty="0"/>
              <a:t>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47609" cy="3731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8450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stat2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PreparedStatement holding  the query ”SELECT </a:t>
            </a:r>
            <a:r>
              <a:rPr sz="3200" spc="-90" dirty="0">
                <a:latin typeface="Tahoma"/>
                <a:cs typeface="Tahoma"/>
              </a:rPr>
              <a:t>beer, </a:t>
            </a:r>
            <a:r>
              <a:rPr sz="3200" spc="-5" dirty="0">
                <a:latin typeface="Tahoma"/>
                <a:cs typeface="Tahoma"/>
              </a:rPr>
              <a:t>price FROM  </a:t>
            </a:r>
            <a:r>
              <a:rPr sz="3200" dirty="0"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 </a:t>
            </a:r>
            <a:r>
              <a:rPr sz="3200" spc="10" dirty="0">
                <a:latin typeface="Tahoma"/>
                <a:cs typeface="Tahoma"/>
              </a:rPr>
              <a:t>Bar’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”.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executeQuery </a:t>
            </a:r>
            <a:r>
              <a:rPr sz="3200" spc="-5" dirty="0">
                <a:latin typeface="Tahoma"/>
                <a:cs typeface="Tahoma"/>
              </a:rPr>
              <a:t>returns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object of class  </a:t>
            </a:r>
            <a:r>
              <a:rPr sz="3200" spc="-10" dirty="0">
                <a:latin typeface="Tahoma"/>
                <a:cs typeface="Tahoma"/>
              </a:rPr>
              <a:t>ResultSet </a:t>
            </a:r>
            <a:r>
              <a:rPr sz="3200" dirty="0">
                <a:latin typeface="Tahoma"/>
                <a:cs typeface="Tahoma"/>
              </a:rPr>
              <a:t>– </a:t>
            </a:r>
            <a:r>
              <a:rPr sz="3200" spc="10" dirty="0">
                <a:latin typeface="Tahoma"/>
                <a:cs typeface="Tahoma"/>
              </a:rPr>
              <a:t>we’ll </a:t>
            </a:r>
            <a:r>
              <a:rPr sz="3200" spc="-5" dirty="0">
                <a:latin typeface="Tahoma"/>
                <a:cs typeface="Tahoma"/>
              </a:rPr>
              <a:t>examine </a:t>
            </a:r>
            <a:r>
              <a:rPr sz="3200" dirty="0">
                <a:latin typeface="Tahoma"/>
                <a:cs typeface="Tahoma"/>
              </a:rPr>
              <a:t>it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later.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query: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latin typeface="Tahoma"/>
                <a:cs typeface="Tahoma"/>
              </a:rPr>
              <a:t>ResultSet </a:t>
            </a:r>
            <a:r>
              <a:rPr sz="3200" spc="-5" dirty="0">
                <a:latin typeface="Tahoma"/>
                <a:cs typeface="Tahoma"/>
              </a:rPr>
              <a:t>menu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stat2.executeQuery();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3379" y="829944"/>
            <a:ext cx="5857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Accessing the</a:t>
            </a:r>
            <a:r>
              <a:rPr spc="-80" dirty="0"/>
              <a:t> </a:t>
            </a:r>
            <a:r>
              <a:rPr spc="-10" dirty="0"/>
              <a:t>ResultSet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7130" cy="395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8211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object of </a:t>
            </a:r>
            <a:r>
              <a:rPr sz="3200" spc="-15" dirty="0">
                <a:latin typeface="Tahoma"/>
                <a:cs typeface="Tahoma"/>
              </a:rPr>
              <a:t>type </a:t>
            </a:r>
            <a:r>
              <a:rPr sz="3200" spc="-10" dirty="0">
                <a:latin typeface="Tahoma"/>
                <a:cs typeface="Tahoma"/>
              </a:rPr>
              <a:t>ResultSet </a:t>
            </a:r>
            <a:r>
              <a:rPr sz="3200" spc="-5" dirty="0">
                <a:latin typeface="Tahoma"/>
                <a:cs typeface="Tahoma"/>
              </a:rPr>
              <a:t>is  something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65" dirty="0">
                <a:latin typeface="Tahoma"/>
                <a:cs typeface="Tahoma"/>
              </a:rPr>
              <a:t>cursor.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Method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next() </a:t>
            </a:r>
            <a:r>
              <a:rPr sz="3200" spc="-10" dirty="0">
                <a:latin typeface="Tahoma"/>
                <a:cs typeface="Tahoma"/>
              </a:rPr>
              <a:t>advances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“cursor” </a:t>
            </a:r>
            <a:r>
              <a:rPr sz="3200" spc="-5" dirty="0">
                <a:latin typeface="Tahoma"/>
                <a:cs typeface="Tahoma"/>
              </a:rPr>
              <a:t>to  the next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tuple.</a:t>
            </a:r>
            <a:endParaRPr sz="3200">
              <a:latin typeface="Tahoma"/>
              <a:cs typeface="Tahoma"/>
            </a:endParaRPr>
          </a:p>
          <a:p>
            <a:pPr marL="755650" marR="19177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first time </a:t>
            </a:r>
            <a:r>
              <a:rPr sz="2800" spc="-5" dirty="0">
                <a:solidFill>
                  <a:srgbClr val="CC6600"/>
                </a:solidFill>
                <a:latin typeface="Tahoma"/>
                <a:cs typeface="Tahoma"/>
              </a:rPr>
              <a:t>next() </a:t>
            </a:r>
            <a:r>
              <a:rPr sz="2800" spc="-5" dirty="0">
                <a:latin typeface="Tahoma"/>
                <a:cs typeface="Tahoma"/>
              </a:rPr>
              <a:t>is applied, </a:t>
            </a:r>
            <a:r>
              <a:rPr sz="2800" dirty="0">
                <a:latin typeface="Tahoma"/>
                <a:cs typeface="Tahoma"/>
              </a:rPr>
              <a:t>it </a:t>
            </a:r>
            <a:r>
              <a:rPr sz="2800" spc="-5" dirty="0">
                <a:latin typeface="Tahoma"/>
                <a:cs typeface="Tahoma"/>
              </a:rPr>
              <a:t>gets the  first tuple.</a:t>
            </a:r>
            <a:endParaRPr sz="2800">
              <a:latin typeface="Tahoma"/>
              <a:cs typeface="Tahoma"/>
            </a:endParaRPr>
          </a:p>
          <a:p>
            <a:pPr marL="755650" marR="9842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</a:t>
            </a:r>
            <a:r>
              <a:rPr sz="2800" spc="-10" dirty="0">
                <a:latin typeface="Tahoma"/>
                <a:cs typeface="Tahoma"/>
              </a:rPr>
              <a:t>there are </a:t>
            </a:r>
            <a:r>
              <a:rPr sz="2800" spc="-5" dirty="0">
                <a:latin typeface="Tahoma"/>
                <a:cs typeface="Tahoma"/>
              </a:rPr>
              <a:t>no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tuples, </a:t>
            </a:r>
            <a:r>
              <a:rPr sz="2800" spc="-5" dirty="0">
                <a:solidFill>
                  <a:srgbClr val="CC6600"/>
                </a:solidFill>
                <a:latin typeface="Tahoma"/>
                <a:cs typeface="Tahoma"/>
              </a:rPr>
              <a:t>next() </a:t>
            </a:r>
            <a:r>
              <a:rPr sz="2800" spc="-5" dirty="0">
                <a:latin typeface="Tahoma"/>
                <a:cs typeface="Tahoma"/>
              </a:rPr>
              <a:t>returns  the </a:t>
            </a:r>
            <a:r>
              <a:rPr sz="2800" spc="-15" dirty="0">
                <a:latin typeface="Tahoma"/>
                <a:cs typeface="Tahoma"/>
              </a:rPr>
              <a:t>value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CC6600"/>
                </a:solidFill>
                <a:latin typeface="Tahoma"/>
                <a:cs typeface="Tahoma"/>
              </a:rPr>
              <a:t>false</a:t>
            </a:r>
            <a:r>
              <a:rPr sz="2800" spc="-10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019" y="829944"/>
            <a:ext cx="80619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Accessing Components of</a:t>
            </a:r>
            <a:r>
              <a:rPr spc="-25" dirty="0"/>
              <a:t> </a:t>
            </a:r>
            <a:r>
              <a:rPr spc="-75" dirty="0"/>
              <a:t>Tuples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00595" cy="4052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ResultSet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referring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tuple,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get the components of  that tuple by applying certain methods  to the</a:t>
            </a:r>
            <a:r>
              <a:rPr sz="3200" spc="-10" dirty="0">
                <a:latin typeface="Tahoma"/>
                <a:cs typeface="Tahoma"/>
              </a:rPr>
              <a:t> ResultSet.</a:t>
            </a:r>
            <a:endParaRPr sz="3200" dirty="0">
              <a:latin typeface="Tahoma"/>
              <a:cs typeface="Tahoma"/>
            </a:endParaRPr>
          </a:p>
          <a:p>
            <a:pPr marL="355600" marR="95885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Method </a:t>
            </a:r>
            <a:r>
              <a:rPr sz="3200" spc="-80" dirty="0">
                <a:solidFill>
                  <a:srgbClr val="CC6600"/>
                </a:solidFill>
                <a:latin typeface="Tahoma"/>
                <a:cs typeface="Tahoma"/>
              </a:rPr>
              <a:t>get</a:t>
            </a:r>
            <a:r>
              <a:rPr sz="3350" i="1" spc="-80" dirty="0">
                <a:solidFill>
                  <a:srgbClr val="CC6600"/>
                </a:solidFill>
                <a:latin typeface="Tahoma"/>
                <a:cs typeface="Tahoma"/>
              </a:rPr>
              <a:t>X</a:t>
            </a:r>
            <a:r>
              <a:rPr sz="3200" spc="-80" dirty="0">
                <a:solidFill>
                  <a:srgbClr val="CC6600"/>
                </a:solidFill>
                <a:latin typeface="Tahoma"/>
                <a:cs typeface="Tahoma"/>
              </a:rPr>
              <a:t>(</a:t>
            </a:r>
            <a:r>
              <a:rPr sz="3350" i="1" spc="-80" dirty="0">
                <a:solidFill>
                  <a:srgbClr val="CC6600"/>
                </a:solidFill>
                <a:latin typeface="Tahoma"/>
                <a:cs typeface="Tahoma"/>
              </a:rPr>
              <a:t>i</a:t>
            </a:r>
            <a:r>
              <a:rPr sz="3200" spc="-80" dirty="0">
                <a:solidFill>
                  <a:srgbClr val="CC6600"/>
                </a:solidFill>
                <a:latin typeface="Tahoma"/>
                <a:cs typeface="Tahoma"/>
              </a:rPr>
              <a:t>)</a:t>
            </a:r>
            <a:r>
              <a:rPr sz="3200" spc="-8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where </a:t>
            </a:r>
            <a:r>
              <a:rPr sz="3350" i="1" spc="-8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is some  </a:t>
            </a:r>
            <a:r>
              <a:rPr sz="3200" spc="-10" dirty="0">
                <a:latin typeface="Tahoma"/>
                <a:cs typeface="Tahoma"/>
              </a:rPr>
              <a:t>type,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35" dirty="0">
                <a:latin typeface="Tahoma"/>
                <a:cs typeface="Tahoma"/>
              </a:rPr>
              <a:t>i </a:t>
            </a:r>
            <a:r>
              <a:rPr sz="3200" spc="-5" dirty="0">
                <a:latin typeface="Tahoma"/>
                <a:cs typeface="Tahoma"/>
              </a:rPr>
              <a:t>is the component </a:t>
            </a:r>
            <a:r>
              <a:rPr sz="3200" spc="-65" dirty="0">
                <a:latin typeface="Tahoma"/>
                <a:cs typeface="Tahoma"/>
              </a:rPr>
              <a:t>number,  </a:t>
            </a:r>
            <a:r>
              <a:rPr sz="3200" spc="-5" dirty="0">
                <a:latin typeface="Tahoma"/>
                <a:cs typeface="Tahoma"/>
              </a:rPr>
              <a:t>returns 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that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component.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must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10" dirty="0">
                <a:latin typeface="Tahoma"/>
                <a:cs typeface="Tahoma"/>
              </a:rPr>
              <a:t>type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X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809" y="448944"/>
            <a:ext cx="8121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Accessing</a:t>
            </a:r>
            <a:r>
              <a:rPr spc="-35" dirty="0"/>
              <a:t> </a:t>
            </a:r>
            <a:r>
              <a:rPr spc="-5" dirty="0"/>
              <a:t>Components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708149"/>
            <a:ext cx="8449310" cy="437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Menu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ResultSet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query “SELECT </a:t>
            </a:r>
            <a:r>
              <a:rPr sz="3200" spc="-90" dirty="0">
                <a:latin typeface="Tahoma"/>
                <a:cs typeface="Tahoma"/>
              </a:rPr>
              <a:t>beer,  </a:t>
            </a:r>
            <a:r>
              <a:rPr sz="3200" spc="-5" dirty="0">
                <a:latin typeface="Tahoma"/>
                <a:cs typeface="Tahoma"/>
              </a:rPr>
              <a:t>price FROM </a:t>
            </a:r>
            <a:r>
              <a:rPr sz="3200" dirty="0">
                <a:latin typeface="Tahoma"/>
                <a:cs typeface="Tahoma"/>
              </a:rPr>
              <a:t>Sells </a:t>
            </a: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’Joe’ </a:t>
            </a:r>
            <a:r>
              <a:rPr sz="3200" spc="-60" dirty="0">
                <a:latin typeface="Tahoma"/>
                <a:cs typeface="Tahoma"/>
              </a:rPr>
              <a:t>’s </a:t>
            </a:r>
            <a:r>
              <a:rPr sz="3200" spc="10" dirty="0">
                <a:latin typeface="Tahoma"/>
                <a:cs typeface="Tahoma"/>
              </a:rPr>
              <a:t>Bar’</a:t>
            </a:r>
            <a:r>
              <a:rPr sz="3200" spc="65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”.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Access beer and price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each tuple by: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while </a:t>
            </a:r>
            <a:r>
              <a:rPr sz="3200" dirty="0">
                <a:latin typeface="Courier New"/>
                <a:cs typeface="Courier New"/>
              </a:rPr>
              <a:t>( </a:t>
            </a:r>
            <a:r>
              <a:rPr sz="3200" spc="-5" dirty="0">
                <a:latin typeface="Courier New"/>
                <a:cs typeface="Courier New"/>
              </a:rPr>
              <a:t>menu.next() </a:t>
            </a:r>
            <a:r>
              <a:rPr sz="3200" dirty="0">
                <a:latin typeface="Courier New"/>
                <a:cs typeface="Courier New"/>
              </a:rPr>
              <a:t>)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endParaRPr sz="3200">
              <a:latin typeface="Courier New"/>
              <a:cs typeface="Courier New"/>
            </a:endParaRPr>
          </a:p>
          <a:p>
            <a:pPr marL="355600" marR="1257300">
              <a:lnSpc>
                <a:spcPct val="119900"/>
              </a:lnSpc>
              <a:spcBef>
                <a:spcPts val="110"/>
              </a:spcBef>
            </a:pPr>
            <a:r>
              <a:rPr sz="3200" spc="-5" dirty="0">
                <a:latin typeface="Courier New"/>
                <a:cs typeface="Courier New"/>
              </a:rPr>
              <a:t>theBeer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Menu.getString(1);  thePrice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Menu.getFloat(2);</a:t>
            </a:r>
            <a:endParaRPr sz="3200">
              <a:latin typeface="Courier New"/>
              <a:cs typeface="Courier New"/>
            </a:endParaRPr>
          </a:p>
          <a:p>
            <a:pPr marL="1414780" marR="685800" indent="-48768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/*something with theBeer and  thePrice*/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6139815"/>
            <a:ext cx="2698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2729" y="829944"/>
            <a:ext cx="1019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PH</a:t>
            </a:r>
            <a:r>
              <a:rPr dirty="0"/>
              <a:t>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62495" cy="3154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0391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language to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actions  within HTML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text.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Indicated by </a:t>
            </a:r>
            <a:r>
              <a:rPr sz="3200" dirty="0">
                <a:latin typeface="Tahoma"/>
                <a:cs typeface="Tahoma"/>
              </a:rPr>
              <a:t>&lt;? </a:t>
            </a:r>
            <a:r>
              <a:rPr sz="3200" spc="-5" dirty="0">
                <a:latin typeface="Tahoma"/>
                <a:cs typeface="Tahoma"/>
              </a:rPr>
              <a:t>PHP code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?&gt;.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DB </a:t>
            </a:r>
            <a:r>
              <a:rPr sz="3200" spc="-10" dirty="0">
                <a:latin typeface="Tahoma"/>
                <a:cs typeface="Tahoma"/>
              </a:rPr>
              <a:t>library </a:t>
            </a:r>
            <a:r>
              <a:rPr sz="3200" spc="-5" dirty="0">
                <a:latin typeface="Tahoma"/>
                <a:cs typeface="Tahoma"/>
              </a:rPr>
              <a:t>exists within </a:t>
            </a:r>
            <a:r>
              <a:rPr sz="3350" i="1" spc="-965" dirty="0">
                <a:solidFill>
                  <a:srgbClr val="FF0066"/>
                </a:solidFill>
                <a:latin typeface="Tahoma"/>
                <a:cs typeface="Tahoma"/>
              </a:rPr>
              <a:t>PEAR </a:t>
            </a:r>
            <a:r>
              <a:rPr sz="3200" spc="-5" dirty="0">
                <a:latin typeface="Tahoma"/>
                <a:cs typeface="Tahoma"/>
              </a:rPr>
              <a:t>(PHP  Extension and Application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Repository).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Include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include(DB.php)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6670" y="829944"/>
            <a:ext cx="40106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Variables </a:t>
            </a:r>
            <a:r>
              <a:rPr spc="-5" dirty="0"/>
              <a:t>in</a:t>
            </a:r>
            <a:r>
              <a:rPr spc="-60" dirty="0"/>
              <a:t> </a:t>
            </a:r>
            <a:r>
              <a:rPr spc="-5" dirty="0"/>
              <a:t>PHP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7551420" cy="27552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Must begin with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OK </a:t>
            </a:r>
            <a:r>
              <a:rPr sz="3200" spc="-5" dirty="0">
                <a:latin typeface="Tahoma"/>
                <a:cs typeface="Tahoma"/>
              </a:rPr>
              <a:t>not to declare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type for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variable.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10" dirty="0">
                <a:latin typeface="Tahoma"/>
                <a:cs typeface="Tahoma"/>
              </a:rPr>
              <a:t>you give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variable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that  belongs 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45" dirty="0">
                <a:latin typeface="Tahoma"/>
                <a:cs typeface="Tahoma"/>
              </a:rPr>
              <a:t>“class,” </a:t>
            </a:r>
            <a:r>
              <a:rPr sz="3200" spc="-5" dirty="0">
                <a:latin typeface="Tahoma"/>
                <a:cs typeface="Tahoma"/>
              </a:rPr>
              <a:t>in which case,  methods of that class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15" dirty="0">
                <a:latin typeface="Tahoma"/>
                <a:cs typeface="Tahoma"/>
              </a:rPr>
              <a:t>available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560" y="829944"/>
            <a:ext cx="3231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String</a:t>
            </a:r>
            <a:r>
              <a:rPr spc="-60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1095" cy="3927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303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PHP </a:t>
            </a:r>
            <a:r>
              <a:rPr sz="3200" spc="-10" dirty="0">
                <a:latin typeface="Tahoma"/>
                <a:cs typeface="Tahoma"/>
              </a:rPr>
              <a:t>solves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very </a:t>
            </a:r>
            <a:r>
              <a:rPr sz="3200" spc="-5" dirty="0">
                <a:latin typeface="Tahoma"/>
                <a:cs typeface="Tahoma"/>
              </a:rPr>
              <a:t>important problem 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languages that commonly construct  strings 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values: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How do I tell whether a substring needs to  be interpreted as a </a:t>
            </a:r>
            <a:r>
              <a:rPr sz="2800" spc="-10" dirty="0">
                <a:latin typeface="Tahoma"/>
                <a:cs typeface="Tahoma"/>
              </a:rPr>
              <a:t>variable </a:t>
            </a:r>
            <a:r>
              <a:rPr sz="2800" spc="-5" dirty="0">
                <a:latin typeface="Tahoma"/>
                <a:cs typeface="Tahoma"/>
              </a:rPr>
              <a:t>and replaced 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dirty="0">
                <a:latin typeface="Tahoma"/>
                <a:cs typeface="Tahoma"/>
              </a:rPr>
              <a:t>its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value?</a:t>
            </a:r>
            <a:endParaRPr sz="2800">
              <a:latin typeface="Tahoma"/>
              <a:cs typeface="Tahoma"/>
            </a:endParaRPr>
          </a:p>
          <a:p>
            <a:pPr marL="355600" marR="66103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PHP solution: Double quotes means  replace; single quotes means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5" dirty="0">
                <a:latin typeface="Tahoma"/>
                <a:cs typeface="Tahoma"/>
              </a:rPr>
              <a:t>don’t.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300" y="829944"/>
            <a:ext cx="6375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Replace </a:t>
            </a:r>
            <a:r>
              <a:rPr spc="-5" dirty="0"/>
              <a:t>or</a:t>
            </a:r>
            <a:r>
              <a:rPr spc="-40" dirty="0"/>
              <a:t> </a:t>
            </a:r>
            <a:r>
              <a:rPr spc="-5" dirty="0"/>
              <a:t>Not?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5490" y="2041115"/>
          <a:ext cx="7145020" cy="16307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0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964">
                <a:tc>
                  <a:txBody>
                    <a:bodyPr/>
                    <a:lstStyle/>
                    <a:p>
                      <a:pPr marL="31750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$100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10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”one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hundre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dollars”;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$sue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795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’You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 marR="317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owe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me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$100.’;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964">
                <a:tc>
                  <a:txBody>
                    <a:bodyPr/>
                    <a:lstStyle/>
                    <a:p>
                      <a:pPr marL="31750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$joe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795"/>
                        </a:lnSpc>
                      </a:pPr>
                      <a:r>
                        <a:rPr sz="3200" dirty="0"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”You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 marR="317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owe</a:t>
                      </a:r>
                      <a:r>
                        <a:rPr sz="3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me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$100.”;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64540" y="3767454"/>
            <a:ext cx="728154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$sue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’You </a:t>
            </a:r>
            <a:r>
              <a:rPr sz="3200" spc="-5" dirty="0">
                <a:latin typeface="Tahoma"/>
                <a:cs typeface="Tahoma"/>
              </a:rPr>
              <a:t>owe </a:t>
            </a:r>
            <a:r>
              <a:rPr sz="3200" dirty="0">
                <a:latin typeface="Tahoma"/>
                <a:cs typeface="Tahoma"/>
              </a:rPr>
              <a:t>me </a:t>
            </a:r>
            <a:r>
              <a:rPr sz="3200" spc="-55" dirty="0">
                <a:latin typeface="Tahoma"/>
                <a:cs typeface="Tahoma"/>
              </a:rPr>
              <a:t>$100’,  </a:t>
            </a:r>
            <a:r>
              <a:rPr sz="3200" spc="-5" dirty="0">
                <a:latin typeface="Tahoma"/>
                <a:cs typeface="Tahoma"/>
              </a:rPr>
              <a:t>while the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$joe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’You </a:t>
            </a:r>
            <a:r>
              <a:rPr sz="3200" spc="-5" dirty="0">
                <a:latin typeface="Tahoma"/>
                <a:cs typeface="Tahoma"/>
              </a:rPr>
              <a:t>owe </a:t>
            </a:r>
            <a:r>
              <a:rPr sz="3200" dirty="0">
                <a:latin typeface="Tahoma"/>
                <a:cs typeface="Tahoma"/>
              </a:rPr>
              <a:t>me  </a:t>
            </a:r>
            <a:r>
              <a:rPr sz="3200" spc="-5" dirty="0">
                <a:latin typeface="Tahoma"/>
                <a:cs typeface="Tahoma"/>
              </a:rPr>
              <a:t>one hundred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dollars’.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2939" y="829944"/>
            <a:ext cx="2738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PHP</a:t>
            </a:r>
            <a:r>
              <a:rPr spc="-65" dirty="0"/>
              <a:t> </a:t>
            </a:r>
            <a:r>
              <a:rPr spc="-25" dirty="0"/>
              <a:t>Arrays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95678"/>
            <a:ext cx="7414259" cy="344677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kinds: </a:t>
            </a:r>
            <a:r>
              <a:rPr sz="3350" i="1" spc="-1025" dirty="0">
                <a:solidFill>
                  <a:srgbClr val="FF0066"/>
                </a:solidFill>
                <a:latin typeface="Tahoma"/>
                <a:cs typeface="Tahoma"/>
              </a:rPr>
              <a:t>numeric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spc="-535" dirty="0">
                <a:latin typeface="Tahoma"/>
                <a:cs typeface="Tahoma"/>
              </a:rPr>
              <a:t> </a:t>
            </a:r>
            <a:r>
              <a:rPr sz="3350" i="1" spc="-1085" dirty="0">
                <a:solidFill>
                  <a:srgbClr val="FF0066"/>
                </a:solidFill>
                <a:latin typeface="Tahoma"/>
                <a:cs typeface="Tahoma"/>
              </a:rPr>
              <a:t>associative</a:t>
            </a:r>
            <a:r>
              <a:rPr sz="3200" spc="-108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355600" marR="386715" indent="-34290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Numeric </a:t>
            </a:r>
            <a:r>
              <a:rPr sz="3200" spc="-15" dirty="0">
                <a:latin typeface="Tahoma"/>
                <a:cs typeface="Tahoma"/>
              </a:rPr>
              <a:t>arrays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35" dirty="0">
                <a:latin typeface="Tahoma"/>
                <a:cs typeface="Tahoma"/>
              </a:rPr>
              <a:t>ordinary, </a:t>
            </a:r>
            <a:r>
              <a:rPr sz="3200" spc="-10" dirty="0">
                <a:latin typeface="Tahoma"/>
                <a:cs typeface="Tahoma"/>
              </a:rPr>
              <a:t>indexed  </a:t>
            </a:r>
            <a:r>
              <a:rPr sz="3200" spc="-5" dirty="0">
                <a:latin typeface="Tahoma"/>
                <a:cs typeface="Tahoma"/>
              </a:rPr>
              <a:t>0,1,…</a:t>
            </a:r>
            <a:endParaRPr sz="3200">
              <a:latin typeface="Tahoma"/>
              <a:cs typeface="Tahoma"/>
            </a:endParaRPr>
          </a:p>
          <a:p>
            <a:pPr marL="755650" marR="68135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2800" spc="-5" dirty="0">
                <a:latin typeface="Tahoma"/>
                <a:cs typeface="Tahoma"/>
              </a:rPr>
              <a:t>: $a = </a:t>
            </a:r>
            <a:r>
              <a:rPr sz="2800" spc="-35" dirty="0">
                <a:latin typeface="Tahoma"/>
                <a:cs typeface="Tahoma"/>
              </a:rPr>
              <a:t>array(”Paul”, ”George”,  </a:t>
            </a:r>
            <a:r>
              <a:rPr sz="2800" spc="-45" dirty="0">
                <a:latin typeface="Tahoma"/>
                <a:cs typeface="Tahoma"/>
              </a:rPr>
              <a:t>”John”,</a:t>
            </a:r>
            <a:r>
              <a:rPr sz="2800" spc="-5" dirty="0">
                <a:latin typeface="Tahoma"/>
                <a:cs typeface="Tahoma"/>
              </a:rPr>
              <a:t> ”Ringo”);</a:t>
            </a:r>
            <a:endParaRPr sz="2800">
              <a:latin typeface="Tahoma"/>
              <a:cs typeface="Tahoma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spc="-5" dirty="0">
                <a:latin typeface="Tahoma"/>
                <a:cs typeface="Tahoma"/>
              </a:rPr>
              <a:t>Then $a[0]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45" dirty="0">
                <a:latin typeface="Tahoma"/>
                <a:cs typeface="Tahoma"/>
              </a:rPr>
              <a:t>”Paul”, </a:t>
            </a:r>
            <a:r>
              <a:rPr sz="2400" spc="-5" dirty="0">
                <a:latin typeface="Tahoma"/>
                <a:cs typeface="Tahoma"/>
              </a:rPr>
              <a:t>$a[1]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30" dirty="0">
                <a:latin typeface="Tahoma"/>
                <a:cs typeface="Tahoma"/>
              </a:rPr>
              <a:t>”George”,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so  </a:t>
            </a:r>
            <a:r>
              <a:rPr sz="2400" dirty="0">
                <a:latin typeface="Tahoma"/>
                <a:cs typeface="Tahoma"/>
              </a:rPr>
              <a:t>on.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0135" y="829944"/>
            <a:ext cx="4443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Associative</a:t>
            </a:r>
            <a:r>
              <a:rPr spc="-30" dirty="0"/>
              <a:t> </a:t>
            </a:r>
            <a:r>
              <a:rPr spc="-25" dirty="0"/>
              <a:t>Arrays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65695" cy="25660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Elements of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associative </a:t>
            </a:r>
            <a:r>
              <a:rPr sz="3200" spc="-20" dirty="0">
                <a:latin typeface="Tahoma"/>
                <a:cs typeface="Tahoma"/>
              </a:rPr>
              <a:t>array </a:t>
            </a:r>
            <a:r>
              <a:rPr sz="3200" dirty="0">
                <a:latin typeface="Tahoma"/>
                <a:cs typeface="Tahoma"/>
              </a:rPr>
              <a:t>$a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pairs </a:t>
            </a:r>
            <a:r>
              <a:rPr sz="3200" dirty="0">
                <a:latin typeface="Tahoma"/>
                <a:cs typeface="Tahoma"/>
              </a:rPr>
              <a:t>x =&gt; </a:t>
            </a:r>
            <a:r>
              <a:rPr sz="3200" spc="-145" dirty="0">
                <a:latin typeface="Tahoma"/>
                <a:cs typeface="Tahoma"/>
              </a:rPr>
              <a:t>y, </a:t>
            </a:r>
            <a:r>
              <a:rPr sz="3200" spc="-5" dirty="0">
                <a:latin typeface="Tahoma"/>
                <a:cs typeface="Tahoma"/>
              </a:rPr>
              <a:t>where </a:t>
            </a:r>
            <a:r>
              <a:rPr sz="3350" i="1" spc="-75" dirty="0">
                <a:latin typeface="Tahoma"/>
                <a:cs typeface="Tahoma"/>
              </a:rPr>
              <a:t>x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string  and </a:t>
            </a:r>
            <a:r>
              <a:rPr sz="3350" i="1" spc="-75" dirty="0">
                <a:latin typeface="Tahoma"/>
                <a:cs typeface="Tahoma"/>
              </a:rPr>
              <a:t>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any</a:t>
            </a:r>
            <a:r>
              <a:rPr sz="3200" spc="-225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value.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ts val="3765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x =&gt; 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element of $a,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then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ts val="3945"/>
              </a:lnSpc>
            </a:pPr>
            <a:r>
              <a:rPr sz="3200" spc="-5" dirty="0">
                <a:latin typeface="Tahoma"/>
                <a:cs typeface="Tahoma"/>
              </a:rPr>
              <a:t>$a[x] is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y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680" y="829944"/>
            <a:ext cx="68992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Associative </a:t>
            </a:r>
            <a:r>
              <a:rPr spc="-25" dirty="0"/>
              <a:t>Arrays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4219"/>
            <a:ext cx="7409180" cy="3915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60095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An </a:t>
            </a:r>
            <a:r>
              <a:rPr sz="2800" spc="-10" dirty="0">
                <a:latin typeface="Tahoma"/>
                <a:cs typeface="Tahoma"/>
              </a:rPr>
              <a:t>environment </a:t>
            </a:r>
            <a:r>
              <a:rPr sz="2800" spc="-5" dirty="0">
                <a:latin typeface="Tahoma"/>
                <a:cs typeface="Tahoma"/>
              </a:rPr>
              <a:t>can be expressed as an  associative </a:t>
            </a:r>
            <a:r>
              <a:rPr sz="2800" spc="-60" dirty="0">
                <a:latin typeface="Tahoma"/>
                <a:cs typeface="Tahoma"/>
              </a:rPr>
              <a:t>array,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e.g.: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800" spc="-5" dirty="0">
                <a:latin typeface="Courier New"/>
                <a:cs typeface="Courier New"/>
              </a:rPr>
              <a:t>$myEnv = array(</a:t>
            </a:r>
            <a:endParaRPr sz="2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ourier New"/>
                <a:cs typeface="Courier New"/>
              </a:rPr>
              <a:t>”phptype” =&gt; ”oracle”,</a:t>
            </a:r>
            <a:endParaRPr sz="2800">
              <a:latin typeface="Courier New"/>
              <a:cs typeface="Courier New"/>
            </a:endParaRPr>
          </a:p>
          <a:p>
            <a:pPr marL="355600" marR="5080">
              <a:lnSpc>
                <a:spcPct val="119900"/>
              </a:lnSpc>
            </a:pPr>
            <a:r>
              <a:rPr sz="2800" spc="-5" dirty="0">
                <a:latin typeface="Courier New"/>
                <a:cs typeface="Courier New"/>
              </a:rPr>
              <a:t>”hostspec” =&gt; </a:t>
            </a:r>
            <a:r>
              <a:rPr sz="2800" spc="-5" dirty="0">
                <a:latin typeface="Courier New"/>
                <a:cs typeface="Courier New"/>
                <a:hlinkClick r:id="rId2"/>
              </a:rPr>
              <a:t>”www.stanford.edu</a:t>
            </a:r>
            <a:r>
              <a:rPr sz="2800" spc="-5" dirty="0">
                <a:latin typeface="Courier New"/>
                <a:cs typeface="Courier New"/>
              </a:rPr>
              <a:t>”,  ”database” =&gt; ”cs145db”,  ”username” =&gt; ”ullman”,  ”password” =&gt;</a:t>
            </a:r>
            <a:r>
              <a:rPr sz="2800" spc="-1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”notMyPW”);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3</a:t>
            </a:r>
            <a:r>
              <a:rPr sz="1400" dirty="0"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0725" y="829944"/>
            <a:ext cx="5163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Making </a:t>
            </a:r>
            <a:r>
              <a:rPr dirty="0"/>
              <a:t>a</a:t>
            </a:r>
            <a:r>
              <a:rPr spc="-50" dirty="0"/>
              <a:t> </a:t>
            </a:r>
            <a:r>
              <a:rPr spc="-5" dirty="0"/>
              <a:t>Connection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71800" y="3113630"/>
            <a:ext cx="268287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DB::connec</a:t>
            </a:r>
            <a:r>
              <a:rPr sz="3200" dirty="0">
                <a:latin typeface="Courier New"/>
                <a:cs typeface="Courier New"/>
              </a:rPr>
              <a:t>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445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pc="-5" dirty="0"/>
              <a:t>With the </a:t>
            </a:r>
            <a:r>
              <a:rPr dirty="0"/>
              <a:t>DB </a:t>
            </a:r>
            <a:r>
              <a:rPr spc="-10" dirty="0"/>
              <a:t>library </a:t>
            </a:r>
            <a:r>
              <a:rPr spc="-5" dirty="0"/>
              <a:t>imported and the  </a:t>
            </a:r>
            <a:r>
              <a:rPr spc="-20" dirty="0"/>
              <a:t>array </a:t>
            </a:r>
            <a:r>
              <a:rPr spc="-15" dirty="0"/>
              <a:t>$myEnv</a:t>
            </a:r>
            <a:r>
              <a:rPr spc="5" dirty="0"/>
              <a:t> </a:t>
            </a:r>
            <a:r>
              <a:rPr spc="-15" dirty="0"/>
              <a:t>available:</a:t>
            </a:r>
          </a:p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4888865" algn="l"/>
              </a:tabLst>
            </a:pPr>
            <a:r>
              <a:rPr spc="-5" dirty="0">
                <a:latin typeface="Courier New"/>
                <a:cs typeface="Courier New"/>
              </a:rPr>
              <a:t>$myCon</a:t>
            </a:r>
            <a:r>
              <a:rPr spc="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	</a:t>
            </a:r>
            <a:r>
              <a:rPr spc="-5" dirty="0">
                <a:latin typeface="Courier New"/>
                <a:cs typeface="Courier New"/>
              </a:rPr>
              <a:t>($myEnv);</a:t>
            </a:r>
          </a:p>
          <a:p>
            <a:pPr>
              <a:lnSpc>
                <a:spcPct val="100000"/>
              </a:lnSpc>
            </a:pPr>
            <a:endParaRPr sz="4050">
              <a:latin typeface="Courier New"/>
              <a:cs typeface="Courier New"/>
            </a:endParaRPr>
          </a:p>
          <a:p>
            <a:pPr marL="1291590" marR="3505200">
              <a:lnSpc>
                <a:spcPct val="100000"/>
              </a:lnSpc>
              <a:spcBef>
                <a:spcPts val="5"/>
              </a:spcBef>
            </a:pPr>
            <a:r>
              <a:rPr sz="2400" spc="-5" dirty="0"/>
              <a:t>Function</a:t>
            </a:r>
            <a:r>
              <a:rPr sz="2400" spc="-45" dirty="0"/>
              <a:t> </a:t>
            </a:r>
            <a:r>
              <a:rPr sz="2400" spc="-5" dirty="0"/>
              <a:t>connect  </a:t>
            </a:r>
            <a:r>
              <a:rPr sz="2400" dirty="0"/>
              <a:t>in the DB</a:t>
            </a:r>
            <a:r>
              <a:rPr sz="2400" spc="-60" dirty="0"/>
              <a:t> </a:t>
            </a:r>
            <a:r>
              <a:rPr sz="2400" spc="-10" dirty="0"/>
              <a:t>library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971800" y="3124200"/>
            <a:ext cx="2743200" cy="457200"/>
          </a:xfrm>
          <a:custGeom>
            <a:avLst/>
            <a:gdLst/>
            <a:ahLst/>
            <a:cxnLst/>
            <a:rect l="l" t="t" r="r" b="b"/>
            <a:pathLst>
              <a:path w="2743200" h="457200">
                <a:moveTo>
                  <a:pt x="0" y="0"/>
                </a:moveTo>
                <a:lnTo>
                  <a:pt x="2743200" y="0"/>
                </a:lnTo>
                <a:lnTo>
                  <a:pt x="2743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C99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67037" y="3119437"/>
            <a:ext cx="2752725" cy="466725"/>
          </a:xfrm>
          <a:custGeom>
            <a:avLst/>
            <a:gdLst/>
            <a:ahLst/>
            <a:cxnLst/>
            <a:rect l="l" t="t" r="r" b="b"/>
            <a:pathLst>
              <a:path w="2752725" h="466725">
                <a:moveTo>
                  <a:pt x="2752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2752725" y="0"/>
                </a:lnTo>
                <a:lnTo>
                  <a:pt x="2752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2752725" y="461962"/>
                </a:lnTo>
                <a:lnTo>
                  <a:pt x="2752725" y="466725"/>
                </a:lnTo>
                <a:close/>
              </a:path>
              <a:path w="2752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752725" h="466725">
                <a:moveTo>
                  <a:pt x="2743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743200" y="4762"/>
                </a:lnTo>
                <a:lnTo>
                  <a:pt x="2743200" y="9525"/>
                </a:lnTo>
                <a:close/>
              </a:path>
              <a:path w="2752725" h="466725">
                <a:moveTo>
                  <a:pt x="2743200" y="461962"/>
                </a:moveTo>
                <a:lnTo>
                  <a:pt x="2743200" y="4762"/>
                </a:lnTo>
                <a:lnTo>
                  <a:pt x="2747962" y="9525"/>
                </a:lnTo>
                <a:lnTo>
                  <a:pt x="2752725" y="9525"/>
                </a:lnTo>
                <a:lnTo>
                  <a:pt x="2752725" y="457200"/>
                </a:lnTo>
                <a:lnTo>
                  <a:pt x="2747962" y="457200"/>
                </a:lnTo>
                <a:lnTo>
                  <a:pt x="2743200" y="461962"/>
                </a:lnTo>
                <a:close/>
              </a:path>
              <a:path w="2752725" h="466725">
                <a:moveTo>
                  <a:pt x="2752725" y="9525"/>
                </a:moveTo>
                <a:lnTo>
                  <a:pt x="2747962" y="9525"/>
                </a:lnTo>
                <a:lnTo>
                  <a:pt x="2743200" y="4762"/>
                </a:lnTo>
                <a:lnTo>
                  <a:pt x="2752725" y="4762"/>
                </a:lnTo>
                <a:lnTo>
                  <a:pt x="2752725" y="9525"/>
                </a:lnTo>
                <a:close/>
              </a:path>
              <a:path w="2752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2752725" h="466725">
                <a:moveTo>
                  <a:pt x="2743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2743200" y="457200"/>
                </a:lnTo>
                <a:lnTo>
                  <a:pt x="2743200" y="461962"/>
                </a:lnTo>
                <a:close/>
              </a:path>
              <a:path w="2752725" h="466725">
                <a:moveTo>
                  <a:pt x="2752725" y="461962"/>
                </a:moveTo>
                <a:lnTo>
                  <a:pt x="2743200" y="461962"/>
                </a:lnTo>
                <a:lnTo>
                  <a:pt x="2747962" y="457200"/>
                </a:lnTo>
                <a:lnTo>
                  <a:pt x="2752725" y="457200"/>
                </a:lnTo>
                <a:lnTo>
                  <a:pt x="2752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3637" y="3581400"/>
            <a:ext cx="309245" cy="460375"/>
          </a:xfrm>
          <a:custGeom>
            <a:avLst/>
            <a:gdLst/>
            <a:ahLst/>
            <a:cxnLst/>
            <a:rect l="l" t="t" r="r" b="b"/>
            <a:pathLst>
              <a:path w="309245" h="460375">
                <a:moveTo>
                  <a:pt x="262534" y="60756"/>
                </a:moveTo>
                <a:lnTo>
                  <a:pt x="234797" y="42265"/>
                </a:lnTo>
                <a:lnTo>
                  <a:pt x="308762" y="0"/>
                </a:lnTo>
                <a:lnTo>
                  <a:pt x="303149" y="44907"/>
                </a:lnTo>
                <a:lnTo>
                  <a:pt x="273100" y="44907"/>
                </a:lnTo>
                <a:lnTo>
                  <a:pt x="262534" y="60756"/>
                </a:lnTo>
                <a:close/>
              </a:path>
              <a:path w="309245" h="460375">
                <a:moveTo>
                  <a:pt x="270459" y="66039"/>
                </a:moveTo>
                <a:lnTo>
                  <a:pt x="262534" y="60756"/>
                </a:lnTo>
                <a:lnTo>
                  <a:pt x="273100" y="44907"/>
                </a:lnTo>
                <a:lnTo>
                  <a:pt x="281025" y="50190"/>
                </a:lnTo>
                <a:lnTo>
                  <a:pt x="270459" y="66039"/>
                </a:lnTo>
                <a:close/>
              </a:path>
              <a:path w="309245" h="460375">
                <a:moveTo>
                  <a:pt x="298196" y="84531"/>
                </a:moveTo>
                <a:lnTo>
                  <a:pt x="270459" y="66039"/>
                </a:lnTo>
                <a:lnTo>
                  <a:pt x="281025" y="50190"/>
                </a:lnTo>
                <a:lnTo>
                  <a:pt x="273100" y="44907"/>
                </a:lnTo>
                <a:lnTo>
                  <a:pt x="303149" y="44907"/>
                </a:lnTo>
                <a:lnTo>
                  <a:pt x="298196" y="84531"/>
                </a:lnTo>
                <a:close/>
              </a:path>
              <a:path w="309245" h="460375">
                <a:moveTo>
                  <a:pt x="7924" y="459841"/>
                </a:moveTo>
                <a:lnTo>
                  <a:pt x="0" y="454558"/>
                </a:lnTo>
                <a:lnTo>
                  <a:pt x="262534" y="60756"/>
                </a:lnTo>
                <a:lnTo>
                  <a:pt x="270459" y="66039"/>
                </a:lnTo>
                <a:lnTo>
                  <a:pt x="7924" y="4598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1064" y="5323522"/>
            <a:ext cx="29356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Class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Connection  because </a:t>
            </a:r>
            <a:r>
              <a:rPr sz="2400" dirty="0">
                <a:latin typeface="Tahoma"/>
                <a:cs typeface="Tahoma"/>
              </a:rPr>
              <a:t>it is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returned  by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DB::connect().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38300" y="3581400"/>
            <a:ext cx="76200" cy="1676400"/>
          </a:xfrm>
          <a:custGeom>
            <a:avLst/>
            <a:gdLst/>
            <a:ahLst/>
            <a:cxnLst/>
            <a:rect l="l" t="t" r="r" b="b"/>
            <a:pathLst>
              <a:path w="76200" h="16764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1676400">
                <a:moveTo>
                  <a:pt x="42862" y="1676400"/>
                </a:moveTo>
                <a:lnTo>
                  <a:pt x="33337" y="167640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1676400"/>
                </a:lnTo>
                <a:close/>
              </a:path>
              <a:path w="76200" h="167640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Executing </a:t>
            </a:r>
            <a:r>
              <a:rPr spc="-5" dirty="0"/>
              <a:t>SQL</a:t>
            </a:r>
            <a:r>
              <a:rPr spc="-4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7309484" cy="301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207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Method </a:t>
            </a:r>
            <a:r>
              <a:rPr sz="3200" spc="-5" dirty="0">
                <a:solidFill>
                  <a:srgbClr val="CC6600"/>
                </a:solidFill>
                <a:latin typeface="Tahoma"/>
                <a:cs typeface="Tahoma"/>
              </a:rPr>
              <a:t>query </a:t>
            </a:r>
            <a:r>
              <a:rPr sz="3200" spc="-5" dirty="0">
                <a:latin typeface="Tahoma"/>
                <a:cs typeface="Tahoma"/>
              </a:rPr>
              <a:t>applies 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Connection  object.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It </a:t>
            </a:r>
            <a:r>
              <a:rPr sz="3200" spc="-10" dirty="0">
                <a:latin typeface="Tahoma"/>
                <a:cs typeface="Tahoma"/>
              </a:rPr>
              <a:t>takes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string argument and returns 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>
              <a:latin typeface="Tahoma"/>
              <a:cs typeface="Tahoma"/>
            </a:endParaRPr>
          </a:p>
          <a:p>
            <a:pPr marL="755650" marR="61341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Could be an </a:t>
            </a:r>
            <a:r>
              <a:rPr sz="2800" spc="-10" dirty="0">
                <a:latin typeface="Tahoma"/>
                <a:cs typeface="Tahoma"/>
              </a:rPr>
              <a:t>error </a:t>
            </a:r>
            <a:r>
              <a:rPr sz="2800" spc="-5" dirty="0">
                <a:latin typeface="Tahoma"/>
                <a:cs typeface="Tahoma"/>
              </a:rPr>
              <a:t>code or the relation  returned </a:t>
            </a:r>
            <a:r>
              <a:rPr sz="2800" spc="-10" dirty="0">
                <a:latin typeface="Tahoma"/>
                <a:cs typeface="Tahoma"/>
              </a:rPr>
              <a:t>by </a:t>
            </a: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query.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8864" y="829944"/>
            <a:ext cx="6986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Executing </a:t>
            </a:r>
            <a:r>
              <a:rPr dirty="0"/>
              <a:t>a</a:t>
            </a:r>
            <a:r>
              <a:rPr spc="-40" dirty="0"/>
              <a:t> </a:t>
            </a:r>
            <a:r>
              <a:rPr spc="-5" dirty="0"/>
              <a:t>Query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3032760"/>
            <a:ext cx="34397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ourier New"/>
                <a:cs typeface="Courier New"/>
              </a:rPr>
              <a:t>$beer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6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78679" y="3698465"/>
            <a:ext cx="48831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-</a:t>
            </a:r>
            <a:r>
              <a:rPr sz="3200" dirty="0">
                <a:latin typeface="Courier New"/>
                <a:cs typeface="Courier New"/>
              </a:rPr>
              <a:t>&gt;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3521201"/>
            <a:ext cx="612203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marR="5080" indent="-487680">
              <a:lnSpc>
                <a:spcPct val="119900"/>
              </a:lnSpc>
              <a:spcBef>
                <a:spcPts val="100"/>
              </a:spcBef>
              <a:tabLst>
                <a:tab pos="4401185" algn="l"/>
              </a:tabLst>
            </a:pPr>
            <a:r>
              <a:rPr sz="3200" spc="-5" dirty="0">
                <a:latin typeface="Courier New"/>
                <a:cs typeface="Courier New"/>
              </a:rPr>
              <a:t>$result</a:t>
            </a:r>
            <a:r>
              <a:rPr sz="3200" spc="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$myCon	query(  ”SELECT bar FROM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Sells”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7080" y="4283300"/>
            <a:ext cx="24447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dirty="0">
                <a:latin typeface="Courier New"/>
                <a:cs typeface="Courier New"/>
              </a:rPr>
              <a:t>.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8679" y="4868135"/>
            <a:ext cx="1219835" cy="461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10"/>
              </a:lnSpc>
            </a:pPr>
            <a:r>
              <a:rPr sz="3200" spc="-5" dirty="0">
                <a:latin typeface="Courier New"/>
                <a:cs typeface="Courier New"/>
              </a:rPr>
              <a:t>$bee</a:t>
            </a:r>
            <a:r>
              <a:rPr sz="3200" dirty="0">
                <a:latin typeface="Courier New"/>
                <a:cs typeface="Courier New"/>
              </a:rPr>
              <a:t>r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866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81837" y="441483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314325" y="314325"/>
                </a:moveTo>
                <a:lnTo>
                  <a:pt x="0" y="3143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04800"/>
                </a:lnTo>
                <a:lnTo>
                  <a:pt x="4762" y="304800"/>
                </a:lnTo>
                <a:lnTo>
                  <a:pt x="9525" y="309562"/>
                </a:lnTo>
                <a:lnTo>
                  <a:pt x="314325" y="309562"/>
                </a:lnTo>
                <a:lnTo>
                  <a:pt x="314325" y="314325"/>
                </a:lnTo>
                <a:close/>
              </a:path>
              <a:path w="314325" h="314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3143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314325">
                <a:moveTo>
                  <a:pt x="304800" y="3095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304800"/>
                </a:lnTo>
                <a:lnTo>
                  <a:pt x="309562" y="304800"/>
                </a:lnTo>
                <a:lnTo>
                  <a:pt x="304800" y="309562"/>
                </a:lnTo>
                <a:close/>
              </a:path>
              <a:path w="314325" h="3143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314325">
                <a:moveTo>
                  <a:pt x="9525" y="309562"/>
                </a:moveTo>
                <a:lnTo>
                  <a:pt x="4762" y="304800"/>
                </a:lnTo>
                <a:lnTo>
                  <a:pt x="9525" y="304800"/>
                </a:lnTo>
                <a:lnTo>
                  <a:pt x="9525" y="309562"/>
                </a:lnTo>
                <a:close/>
              </a:path>
              <a:path w="314325" h="314325">
                <a:moveTo>
                  <a:pt x="304800" y="309562"/>
                </a:moveTo>
                <a:lnTo>
                  <a:pt x="9525" y="309562"/>
                </a:lnTo>
                <a:lnTo>
                  <a:pt x="9525" y="304800"/>
                </a:lnTo>
                <a:lnTo>
                  <a:pt x="304800" y="304800"/>
                </a:lnTo>
                <a:lnTo>
                  <a:pt x="304800" y="309562"/>
                </a:lnTo>
                <a:close/>
              </a:path>
              <a:path w="314325" h="314325">
                <a:moveTo>
                  <a:pt x="314325" y="309562"/>
                </a:moveTo>
                <a:lnTo>
                  <a:pt x="304800" y="309562"/>
                </a:lnTo>
                <a:lnTo>
                  <a:pt x="309562" y="304800"/>
                </a:lnTo>
                <a:lnTo>
                  <a:pt x="314325" y="304800"/>
                </a:lnTo>
                <a:lnTo>
                  <a:pt x="314325" y="309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36740" y="2775584"/>
            <a:ext cx="194563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atenation  in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PHP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91400" y="3578847"/>
            <a:ext cx="537845" cy="841375"/>
          </a:xfrm>
          <a:custGeom>
            <a:avLst/>
            <a:gdLst/>
            <a:ahLst/>
            <a:cxnLst/>
            <a:rect l="l" t="t" r="r" b="b"/>
            <a:pathLst>
              <a:path w="537845" h="841375">
                <a:moveTo>
                  <a:pt x="44924" y="779022"/>
                </a:moveTo>
                <a:lnTo>
                  <a:pt x="36894" y="773911"/>
                </a:lnTo>
                <a:lnTo>
                  <a:pt x="529386" y="0"/>
                </a:lnTo>
                <a:lnTo>
                  <a:pt x="537413" y="5105"/>
                </a:lnTo>
                <a:lnTo>
                  <a:pt x="44924" y="779022"/>
                </a:lnTo>
                <a:close/>
              </a:path>
              <a:path w="537845" h="841375">
                <a:moveTo>
                  <a:pt x="0" y="840752"/>
                </a:moveTo>
                <a:lnTo>
                  <a:pt x="8763" y="756005"/>
                </a:lnTo>
                <a:lnTo>
                  <a:pt x="36894" y="773911"/>
                </a:lnTo>
                <a:lnTo>
                  <a:pt x="26670" y="789978"/>
                </a:lnTo>
                <a:lnTo>
                  <a:pt x="34696" y="795096"/>
                </a:lnTo>
                <a:lnTo>
                  <a:pt x="70177" y="795096"/>
                </a:lnTo>
                <a:lnTo>
                  <a:pt x="73050" y="796925"/>
                </a:lnTo>
                <a:lnTo>
                  <a:pt x="0" y="840752"/>
                </a:lnTo>
                <a:close/>
              </a:path>
              <a:path w="537845" h="841375">
                <a:moveTo>
                  <a:pt x="34696" y="795096"/>
                </a:moveTo>
                <a:lnTo>
                  <a:pt x="26670" y="789978"/>
                </a:lnTo>
                <a:lnTo>
                  <a:pt x="36894" y="773911"/>
                </a:lnTo>
                <a:lnTo>
                  <a:pt x="44924" y="779022"/>
                </a:lnTo>
                <a:lnTo>
                  <a:pt x="34696" y="795096"/>
                </a:lnTo>
                <a:close/>
              </a:path>
              <a:path w="537845" h="841375">
                <a:moveTo>
                  <a:pt x="70177" y="795096"/>
                </a:moveTo>
                <a:lnTo>
                  <a:pt x="34696" y="795096"/>
                </a:lnTo>
                <a:lnTo>
                  <a:pt x="44924" y="779022"/>
                </a:lnTo>
                <a:lnTo>
                  <a:pt x="70177" y="795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48200" y="4800600"/>
            <a:ext cx="1295400" cy="609600"/>
          </a:xfrm>
          <a:custGeom>
            <a:avLst/>
            <a:gdLst/>
            <a:ahLst/>
            <a:cxnLst/>
            <a:rect l="l" t="t" r="r" b="b"/>
            <a:pathLst>
              <a:path w="1295400" h="609600">
                <a:moveTo>
                  <a:pt x="0" y="0"/>
                </a:moveTo>
                <a:lnTo>
                  <a:pt x="1295400" y="0"/>
                </a:lnTo>
                <a:lnTo>
                  <a:pt x="1295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43437" y="4795837"/>
            <a:ext cx="1304925" cy="619125"/>
          </a:xfrm>
          <a:custGeom>
            <a:avLst/>
            <a:gdLst/>
            <a:ahLst/>
            <a:cxnLst/>
            <a:rect l="l" t="t" r="r" b="b"/>
            <a:pathLst>
              <a:path w="1304925" h="619125">
                <a:moveTo>
                  <a:pt x="1304925" y="619125"/>
                </a:moveTo>
                <a:lnTo>
                  <a:pt x="0" y="619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09600"/>
                </a:lnTo>
                <a:lnTo>
                  <a:pt x="4762" y="609600"/>
                </a:lnTo>
                <a:lnTo>
                  <a:pt x="9525" y="614362"/>
                </a:lnTo>
                <a:lnTo>
                  <a:pt x="1304925" y="614362"/>
                </a:lnTo>
                <a:lnTo>
                  <a:pt x="1304925" y="619125"/>
                </a:lnTo>
                <a:close/>
              </a:path>
              <a:path w="1304925" h="619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619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619125">
                <a:moveTo>
                  <a:pt x="1295400" y="614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609600"/>
                </a:lnTo>
                <a:lnTo>
                  <a:pt x="1300162" y="609600"/>
                </a:lnTo>
                <a:lnTo>
                  <a:pt x="1295400" y="614362"/>
                </a:lnTo>
                <a:close/>
              </a:path>
              <a:path w="1304925" h="619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619125">
                <a:moveTo>
                  <a:pt x="9525" y="614362"/>
                </a:moveTo>
                <a:lnTo>
                  <a:pt x="4762" y="609600"/>
                </a:lnTo>
                <a:lnTo>
                  <a:pt x="9525" y="609600"/>
                </a:lnTo>
                <a:lnTo>
                  <a:pt x="9525" y="614362"/>
                </a:lnTo>
                <a:close/>
              </a:path>
              <a:path w="1304925" h="619125">
                <a:moveTo>
                  <a:pt x="1295400" y="614362"/>
                </a:moveTo>
                <a:lnTo>
                  <a:pt x="9525" y="614362"/>
                </a:lnTo>
                <a:lnTo>
                  <a:pt x="9525" y="609600"/>
                </a:lnTo>
                <a:lnTo>
                  <a:pt x="1295400" y="609600"/>
                </a:lnTo>
                <a:lnTo>
                  <a:pt x="1295400" y="614362"/>
                </a:lnTo>
                <a:close/>
              </a:path>
              <a:path w="1304925" h="619125">
                <a:moveTo>
                  <a:pt x="1304925" y="614362"/>
                </a:moveTo>
                <a:lnTo>
                  <a:pt x="1295400" y="614362"/>
                </a:lnTo>
                <a:lnTo>
                  <a:pt x="1300162" y="609600"/>
                </a:lnTo>
                <a:lnTo>
                  <a:pt x="1304925" y="609600"/>
                </a:lnTo>
                <a:lnTo>
                  <a:pt x="1304925" y="614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52219" y="4787265"/>
            <a:ext cx="5878195" cy="1854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88865" algn="l"/>
              </a:tabLst>
            </a:pPr>
            <a:r>
              <a:rPr sz="3200" spc="-5" dirty="0">
                <a:latin typeface="Courier New"/>
                <a:cs typeface="Courier New"/>
              </a:rPr>
              <a:t>”WHER</a:t>
            </a:r>
            <a:r>
              <a:rPr sz="3200" dirty="0">
                <a:latin typeface="Courier New"/>
                <a:cs typeface="Courier New"/>
              </a:rPr>
              <a:t>E</a:t>
            </a:r>
            <a:r>
              <a:rPr sz="3200" spc="-5" dirty="0">
                <a:latin typeface="Courier New"/>
                <a:cs typeface="Courier New"/>
              </a:rPr>
              <a:t> bee</a:t>
            </a:r>
            <a:r>
              <a:rPr sz="3200" dirty="0">
                <a:latin typeface="Courier New"/>
                <a:cs typeface="Courier New"/>
              </a:rPr>
              <a:t>r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	</a:t>
            </a:r>
            <a:r>
              <a:rPr sz="3200" spc="-5" dirty="0">
                <a:latin typeface="Courier New"/>
                <a:cs typeface="Courier New"/>
              </a:rPr>
              <a:t>;”)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  <a:p>
            <a:pPr marL="895985" marR="2397125">
              <a:lnSpc>
                <a:spcPct val="100000"/>
              </a:lnSpc>
              <a:spcBef>
                <a:spcPts val="1914"/>
              </a:spcBef>
            </a:pPr>
            <a:r>
              <a:rPr sz="2400" spc="-10" dirty="0">
                <a:latin typeface="Tahoma"/>
                <a:cs typeface="Tahoma"/>
              </a:rPr>
              <a:t>Remember </a:t>
            </a:r>
            <a:r>
              <a:rPr sz="2400" dirty="0">
                <a:latin typeface="Tahoma"/>
                <a:cs typeface="Tahoma"/>
              </a:rPr>
              <a:t>this  </a:t>
            </a:r>
            <a:r>
              <a:rPr sz="2400" spc="-10" dirty="0">
                <a:latin typeface="Tahoma"/>
                <a:cs typeface="Tahoma"/>
              </a:rPr>
              <a:t>variable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replaced  by </a:t>
            </a:r>
            <a:r>
              <a:rPr sz="2400" dirty="0">
                <a:latin typeface="Tahoma"/>
                <a:cs typeface="Tahoma"/>
              </a:rPr>
              <a:t>its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value.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15510" y="5410200"/>
            <a:ext cx="233045" cy="383540"/>
          </a:xfrm>
          <a:custGeom>
            <a:avLst/>
            <a:gdLst/>
            <a:ahLst/>
            <a:cxnLst/>
            <a:rect l="l" t="t" r="r" b="b"/>
            <a:pathLst>
              <a:path w="233045" h="383539">
                <a:moveTo>
                  <a:pt x="189404" y="62883"/>
                </a:moveTo>
                <a:lnTo>
                  <a:pt x="160820" y="45732"/>
                </a:lnTo>
                <a:lnTo>
                  <a:pt x="232689" y="0"/>
                </a:lnTo>
                <a:lnTo>
                  <a:pt x="229111" y="46558"/>
                </a:lnTo>
                <a:lnTo>
                  <a:pt x="199199" y="46558"/>
                </a:lnTo>
                <a:lnTo>
                  <a:pt x="189404" y="62883"/>
                </a:lnTo>
                <a:close/>
              </a:path>
              <a:path w="233045" h="383539">
                <a:moveTo>
                  <a:pt x="197571" y="67783"/>
                </a:moveTo>
                <a:lnTo>
                  <a:pt x="189404" y="62883"/>
                </a:lnTo>
                <a:lnTo>
                  <a:pt x="199199" y="46558"/>
                </a:lnTo>
                <a:lnTo>
                  <a:pt x="207365" y="51460"/>
                </a:lnTo>
                <a:lnTo>
                  <a:pt x="197571" y="67783"/>
                </a:lnTo>
                <a:close/>
              </a:path>
              <a:path w="233045" h="383539">
                <a:moveTo>
                  <a:pt x="226161" y="84937"/>
                </a:moveTo>
                <a:lnTo>
                  <a:pt x="197571" y="67783"/>
                </a:lnTo>
                <a:lnTo>
                  <a:pt x="207365" y="51460"/>
                </a:lnTo>
                <a:lnTo>
                  <a:pt x="199199" y="46558"/>
                </a:lnTo>
                <a:lnTo>
                  <a:pt x="229111" y="46558"/>
                </a:lnTo>
                <a:lnTo>
                  <a:pt x="226161" y="84937"/>
                </a:lnTo>
                <a:close/>
              </a:path>
              <a:path w="233045" h="383539">
                <a:moveTo>
                  <a:pt x="8178" y="383451"/>
                </a:moveTo>
                <a:lnTo>
                  <a:pt x="0" y="378548"/>
                </a:lnTo>
                <a:lnTo>
                  <a:pt x="189404" y="62883"/>
                </a:lnTo>
                <a:lnTo>
                  <a:pt x="197571" y="67783"/>
                </a:lnTo>
                <a:lnTo>
                  <a:pt x="8178" y="3834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48200" y="37338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0"/>
                </a:moveTo>
                <a:lnTo>
                  <a:pt x="533400" y="0"/>
                </a:lnTo>
                <a:lnTo>
                  <a:pt x="533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43437" y="3729037"/>
            <a:ext cx="542925" cy="466725"/>
          </a:xfrm>
          <a:custGeom>
            <a:avLst/>
            <a:gdLst/>
            <a:ahLst/>
            <a:cxnLst/>
            <a:rect l="l" t="t" r="r" b="b"/>
            <a:pathLst>
              <a:path w="542925" h="466725">
                <a:moveTo>
                  <a:pt x="542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542925" y="461962"/>
                </a:lnTo>
                <a:lnTo>
                  <a:pt x="542925" y="466725"/>
                </a:lnTo>
                <a:close/>
              </a:path>
              <a:path w="542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466725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457200"/>
                </a:lnTo>
                <a:lnTo>
                  <a:pt x="538162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542925" h="466725">
                <a:moveTo>
                  <a:pt x="533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533400" y="457200"/>
                </a:lnTo>
                <a:lnTo>
                  <a:pt x="533400" y="461962"/>
                </a:lnTo>
                <a:close/>
              </a:path>
              <a:path w="542925" h="466725">
                <a:moveTo>
                  <a:pt x="542925" y="461962"/>
                </a:moveTo>
                <a:lnTo>
                  <a:pt x="533400" y="461962"/>
                </a:lnTo>
                <a:lnTo>
                  <a:pt x="538162" y="457200"/>
                </a:lnTo>
                <a:lnTo>
                  <a:pt x="542925" y="457200"/>
                </a:lnTo>
                <a:lnTo>
                  <a:pt x="542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4540" y="2012949"/>
            <a:ext cx="72053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  <a:tab pos="4415790" algn="l"/>
              </a:tabLst>
            </a:pPr>
            <a:r>
              <a:rPr sz="3200" spc="-5" dirty="0">
                <a:latin typeface="Tahoma"/>
                <a:cs typeface="Tahoma"/>
              </a:rPr>
              <a:t>Find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bars that sell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spc="-10" dirty="0">
                <a:latin typeface="Tahoma"/>
                <a:cs typeface="Tahoma"/>
              </a:rPr>
              <a:t>given  </a:t>
            </a:r>
            <a:r>
              <a:rPr sz="3200" spc="-5" dirty="0">
                <a:latin typeface="Tahoma"/>
                <a:cs typeface="Tahoma"/>
              </a:rPr>
              <a:t>by the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variable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$beer.	</a:t>
            </a:r>
            <a:r>
              <a:rPr sz="3600" baseline="4629" dirty="0">
                <a:latin typeface="Tahoma"/>
                <a:cs typeface="Tahoma"/>
              </a:rPr>
              <a:t>Method</a:t>
            </a:r>
            <a:endParaRPr sz="3600" baseline="4629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8265" y="2946082"/>
            <a:ext cx="1470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application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53000" y="3349434"/>
            <a:ext cx="384810" cy="384810"/>
          </a:xfrm>
          <a:custGeom>
            <a:avLst/>
            <a:gdLst/>
            <a:ahLst/>
            <a:cxnLst/>
            <a:rect l="l" t="t" r="r" b="b"/>
            <a:pathLst>
              <a:path w="384810" h="384810">
                <a:moveTo>
                  <a:pt x="57245" y="333851"/>
                </a:moveTo>
                <a:lnTo>
                  <a:pt x="50514" y="327120"/>
                </a:lnTo>
                <a:lnTo>
                  <a:pt x="377634" y="0"/>
                </a:lnTo>
                <a:lnTo>
                  <a:pt x="384365" y="6730"/>
                </a:lnTo>
                <a:lnTo>
                  <a:pt x="57245" y="333851"/>
                </a:lnTo>
                <a:close/>
              </a:path>
              <a:path w="384810" h="384810">
                <a:moveTo>
                  <a:pt x="0" y="384365"/>
                </a:moveTo>
                <a:lnTo>
                  <a:pt x="26936" y="303542"/>
                </a:lnTo>
                <a:lnTo>
                  <a:pt x="50514" y="327120"/>
                </a:lnTo>
                <a:lnTo>
                  <a:pt x="37045" y="340588"/>
                </a:lnTo>
                <a:lnTo>
                  <a:pt x="43776" y="347319"/>
                </a:lnTo>
                <a:lnTo>
                  <a:pt x="70713" y="347319"/>
                </a:lnTo>
                <a:lnTo>
                  <a:pt x="80822" y="357428"/>
                </a:lnTo>
                <a:lnTo>
                  <a:pt x="0" y="384365"/>
                </a:lnTo>
                <a:close/>
              </a:path>
              <a:path w="384810" h="384810">
                <a:moveTo>
                  <a:pt x="43776" y="347319"/>
                </a:moveTo>
                <a:lnTo>
                  <a:pt x="37045" y="340588"/>
                </a:lnTo>
                <a:lnTo>
                  <a:pt x="50514" y="327120"/>
                </a:lnTo>
                <a:lnTo>
                  <a:pt x="57245" y="333851"/>
                </a:lnTo>
                <a:lnTo>
                  <a:pt x="43776" y="347319"/>
                </a:lnTo>
                <a:close/>
              </a:path>
              <a:path w="384810" h="384810">
                <a:moveTo>
                  <a:pt x="70713" y="347319"/>
                </a:moveTo>
                <a:lnTo>
                  <a:pt x="43776" y="347319"/>
                </a:lnTo>
                <a:lnTo>
                  <a:pt x="57245" y="333851"/>
                </a:lnTo>
                <a:lnTo>
                  <a:pt x="70713" y="3473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1929" y="829944"/>
            <a:ext cx="3660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Cursors in</a:t>
            </a:r>
            <a:r>
              <a:rPr spc="-60" dirty="0"/>
              <a:t> </a:t>
            </a:r>
            <a:r>
              <a:rPr spc="-5" dirty="0"/>
              <a:t>PHP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254240" cy="25825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638175" indent="-342900" algn="just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result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</a:t>
            </a:r>
            <a:r>
              <a:rPr sz="3350" i="1" spc="-42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the tuples  returned.</a:t>
            </a:r>
            <a:endParaRPr sz="3200">
              <a:latin typeface="Tahoma"/>
              <a:cs typeface="Tahom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Method </a:t>
            </a:r>
            <a:r>
              <a:rPr sz="3200" spc="-15" dirty="0">
                <a:solidFill>
                  <a:srgbClr val="CC6600"/>
                </a:solidFill>
                <a:latin typeface="Tahoma"/>
                <a:cs typeface="Tahoma"/>
              </a:rPr>
              <a:t>fetchRow </a:t>
            </a:r>
            <a:r>
              <a:rPr sz="3200" spc="-5" dirty="0">
                <a:latin typeface="Tahoma"/>
                <a:cs typeface="Tahoma"/>
              </a:rPr>
              <a:t>applies to the result  and returns the next tuple, or </a:t>
            </a:r>
            <a:r>
              <a:rPr sz="3200" spc="-35" dirty="0">
                <a:latin typeface="Tahoma"/>
                <a:cs typeface="Tahoma"/>
              </a:rPr>
              <a:t>FALSE </a:t>
            </a:r>
            <a:r>
              <a:rPr sz="3200" dirty="0">
                <a:latin typeface="Tahoma"/>
                <a:cs typeface="Tahoma"/>
              </a:rPr>
              <a:t>if  </a:t>
            </a:r>
            <a:r>
              <a:rPr sz="3200" spc="-5" dirty="0">
                <a:latin typeface="Tahoma"/>
                <a:cs typeface="Tahoma"/>
              </a:rPr>
              <a:t>there 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none.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745" y="829944"/>
            <a:ext cx="4334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Cursors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849882"/>
            <a:ext cx="6464935" cy="237871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R="3261360" algn="ctr">
              <a:lnSpc>
                <a:spcPct val="100000"/>
              </a:lnSpc>
              <a:spcBef>
                <a:spcPts val="969"/>
              </a:spcBef>
            </a:pPr>
            <a:r>
              <a:rPr sz="3200" spc="-5" dirty="0">
                <a:latin typeface="Courier New"/>
                <a:cs typeface="Courier New"/>
              </a:rPr>
              <a:t>while ($bar</a:t>
            </a:r>
            <a:r>
              <a:rPr sz="3200" spc="-6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endParaRPr sz="3200">
              <a:latin typeface="Courier New"/>
              <a:cs typeface="Courier New"/>
            </a:endParaRPr>
          </a:p>
          <a:p>
            <a:pPr marL="753745" algn="ctr">
              <a:lnSpc>
                <a:spcPct val="100000"/>
              </a:lnSpc>
              <a:spcBef>
                <a:spcPts val="875"/>
              </a:spcBef>
            </a:pPr>
            <a:r>
              <a:rPr sz="3200" spc="-5" dirty="0">
                <a:latin typeface="Courier New"/>
                <a:cs typeface="Courier New"/>
              </a:rPr>
              <a:t>$result-&gt;fetchRow())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endParaRPr sz="3200">
              <a:latin typeface="Courier New"/>
              <a:cs typeface="Courier New"/>
            </a:endParaRPr>
          </a:p>
          <a:p>
            <a:pPr marL="342900" algn="ctr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Courier New"/>
                <a:cs typeface="Courier New"/>
              </a:rPr>
              <a:t>// do </a:t>
            </a:r>
            <a:r>
              <a:rPr sz="3200" spc="-5" dirty="0">
                <a:latin typeface="Courier New"/>
                <a:cs typeface="Courier New"/>
              </a:rPr>
              <a:t>something with</a:t>
            </a:r>
            <a:r>
              <a:rPr sz="3200" spc="-5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$bar</a:t>
            </a:r>
            <a:endParaRPr sz="3200">
              <a:latin typeface="Courier New"/>
              <a:cs typeface="Courier New"/>
            </a:endParaRPr>
          </a:p>
          <a:p>
            <a:pPr marR="6188075" algn="ctr">
              <a:lnSpc>
                <a:spcPct val="100000"/>
              </a:lnSpc>
              <a:spcBef>
                <a:spcPts val="655"/>
              </a:spcBef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2049</Words>
  <Application>Microsoft Office PowerPoint</Application>
  <PresentationFormat>全屏显示(4:3)</PresentationFormat>
  <Paragraphs>290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Calibri</vt:lpstr>
      <vt:lpstr>Courier New</vt:lpstr>
      <vt:lpstr>Tahoma</vt:lpstr>
      <vt:lpstr>Times New Roman</vt:lpstr>
      <vt:lpstr>Wingdings</vt:lpstr>
      <vt:lpstr>Office Theme</vt:lpstr>
      <vt:lpstr>Database-Connection Libraries</vt:lpstr>
      <vt:lpstr>An Aside: SQL Injection</vt:lpstr>
      <vt:lpstr>Example: SQL Injection</vt:lpstr>
      <vt:lpstr>User (Who Is Not Bill Gates) Types</vt:lpstr>
      <vt:lpstr>The Query Executed</vt:lpstr>
      <vt:lpstr>Host/SQL Interfaces Via  Libraries</vt:lpstr>
      <vt:lpstr>Three-Tier Architecture</vt:lpstr>
      <vt:lpstr>Example: Amazon</vt:lpstr>
      <vt:lpstr>Environments, Connections, Queries</vt:lpstr>
      <vt:lpstr>Diagram to Remember</vt:lpstr>
      <vt:lpstr>SQL/CLI</vt:lpstr>
      <vt:lpstr>Data Structures</vt:lpstr>
      <vt:lpstr>Handles</vt:lpstr>
      <vt:lpstr>Example: SQLAllocHandle</vt:lpstr>
      <vt:lpstr>Preparing and Executing</vt:lpstr>
      <vt:lpstr>Example: Prepare and Execute</vt:lpstr>
      <vt:lpstr>Direct Execution</vt:lpstr>
      <vt:lpstr>Fetching Tuples</vt:lpstr>
      <vt:lpstr>Accessing Query Results</vt:lpstr>
      <vt:lpstr>Example: Binding</vt:lpstr>
      <vt:lpstr>Example: Fetching</vt:lpstr>
      <vt:lpstr>JDBC</vt:lpstr>
      <vt:lpstr>Making a Connection</vt:lpstr>
      <vt:lpstr>Statements</vt:lpstr>
      <vt:lpstr>Creating Statements</vt:lpstr>
      <vt:lpstr>Executing SQL Statements</vt:lpstr>
      <vt:lpstr>Example: Update</vt:lpstr>
      <vt:lpstr>Example: Query</vt:lpstr>
      <vt:lpstr>Accessing the ResultSet</vt:lpstr>
      <vt:lpstr>Accessing Components of Tuples</vt:lpstr>
      <vt:lpstr>Example: Accessing Components</vt:lpstr>
      <vt:lpstr>PHP</vt:lpstr>
      <vt:lpstr>Variables in PHP</vt:lpstr>
      <vt:lpstr>String Values</vt:lpstr>
      <vt:lpstr>Example: Replace or Not?</vt:lpstr>
      <vt:lpstr>PHP Arrays</vt:lpstr>
      <vt:lpstr>Associative Arrays</vt:lpstr>
      <vt:lpstr>Example: Associative Arrays</vt:lpstr>
      <vt:lpstr>Making a Connection</vt:lpstr>
      <vt:lpstr>Executing SQL Statements</vt:lpstr>
      <vt:lpstr>Example: Executing a Query</vt:lpstr>
      <vt:lpstr>Cursors in PHP</vt:lpstr>
      <vt:lpstr>Example: Cursors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2024-06-16T09:18:19Z</dcterms:created>
  <dcterms:modified xsi:type="dcterms:W3CDTF">2024-06-19T09:17:28Z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2024-06-16T00:00:00Z</vt:filetime>
  </property>
</Properties>
</file>
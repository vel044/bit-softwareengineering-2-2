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68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2T07:34:05.08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5,'0'0,"0"-1,0 1,0 0,0 0,0 0,0-1,1 1,-1 0,0 0,0-1,0 1,1 0,-1 0,0 0,0 0,1 0,-1-1,0 1,0 0,1 0,-1 0,0 0,0 0,1 0,-1 0,0 0,0 0,1 0,-1 0,0 0,0 0,1 0,-1 0,0 0,1 0,-1 0,21 4,-5-1,237 35,-23-6,69 8,-13-1,1168 161,-1213-163,-110-16,319 45,-255-44,59 1,80-3,68-5,72-2,1047 16,-695-6,625 8,-839-59,-11-36,-583 62,762-102,-680 92,1 6,0 3,0 5,109 17,640 64,-487-52,-164-15,320 42,-481-51,52 10,98 4,512 26,515 48,-122-37,-125-59,-340-9,495 0,-1009 14,-94 1,-20-5,0 0,0 1,0-1,0 0,0 1,0-1,0 0,0 0,0 1,0-1,-1 0,1 0,0 1,0-1,0 0,0 0,0 1,-1-1,1 0,0 0,0 1,0-1,-1 0,1 0,0 0,0 0,-1 0,1 1,0-1,0 0,-1 0,1 0,0 0,0 0,-1 0,1 0,0 0,-1 0,1 0,0 0,-1 0,-24 7,-46 8,-115 10,-70 1,-74 1,-1247 51,-11-72,1584-6,-519-21,376-1,3 0,-540 5,73 7,-261-62,95 7,-4 24,271 25,-1023-18,1444 34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64540" y="891540"/>
            <a:ext cx="761491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11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11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11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11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11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3577" y="438276"/>
            <a:ext cx="6650355" cy="11798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4540" y="2014219"/>
            <a:ext cx="7544434" cy="4302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64540" y="6280698"/>
            <a:ext cx="579119" cy="241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210050" y="6280698"/>
            <a:ext cx="723900" cy="241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11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134350" y="6280698"/>
            <a:ext cx="271145" cy="241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8847" y="2683827"/>
            <a:ext cx="4424045" cy="1243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0695" marR="5080" indent="-46863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latin typeface="Tahoma"/>
                <a:cs typeface="Tahoma"/>
              </a:rPr>
              <a:t>Chapter 15:</a:t>
            </a:r>
            <a:r>
              <a:rPr sz="4000" b="1" spc="-65" dirty="0">
                <a:latin typeface="Tahoma"/>
                <a:cs typeface="Tahoma"/>
              </a:rPr>
              <a:t> </a:t>
            </a:r>
            <a:r>
              <a:rPr sz="4000" b="1" spc="-5" dirty="0">
                <a:latin typeface="Tahoma"/>
                <a:cs typeface="Tahoma"/>
              </a:rPr>
              <a:t>View  Serializability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11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</a:t>
            </a:fld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37274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dirty="0">
                <a:uFill>
                  <a:solidFill>
                    <a:srgbClr val="000000"/>
                  </a:solidFill>
                </a:uFill>
              </a:rPr>
              <a:t>View</a:t>
            </a:r>
            <a:r>
              <a:rPr sz="3600" u="heavy" spc="-6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Serializability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64540" y="2011680"/>
            <a:ext cx="3441700" cy="16840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Conflict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equivalent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4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200" spc="-5" dirty="0">
                <a:latin typeface="Tahoma"/>
                <a:cs typeface="Tahoma"/>
              </a:rPr>
              <a:t>Conflict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serializable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6540" y="2011680"/>
            <a:ext cx="2962910" cy="16840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View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equivalent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4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200" spc="-5" dirty="0">
                <a:latin typeface="Tahoma"/>
                <a:cs typeface="Tahoma"/>
              </a:rPr>
              <a:t>View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serializable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616450" y="1981200"/>
            <a:ext cx="0" cy="2286000"/>
          </a:xfrm>
          <a:custGeom>
            <a:avLst/>
            <a:gdLst/>
            <a:ahLst/>
            <a:cxnLst/>
            <a:rect l="l" t="t" r="r" b="b"/>
            <a:pathLst>
              <a:path h="2286000">
                <a:moveTo>
                  <a:pt x="0" y="0"/>
                </a:moveTo>
                <a:lnTo>
                  <a:pt x="0" y="22860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48200" y="1981200"/>
            <a:ext cx="0" cy="2286000"/>
          </a:xfrm>
          <a:custGeom>
            <a:avLst/>
            <a:gdLst/>
            <a:ahLst/>
            <a:cxnLst/>
            <a:rect l="l" t="t" r="r" b="b"/>
            <a:pathLst>
              <a:path h="2286000">
                <a:moveTo>
                  <a:pt x="0" y="0"/>
                </a:moveTo>
                <a:lnTo>
                  <a:pt x="0" y="22860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79950" y="1981200"/>
            <a:ext cx="0" cy="2286000"/>
          </a:xfrm>
          <a:custGeom>
            <a:avLst/>
            <a:gdLst/>
            <a:ahLst/>
            <a:cxnLst/>
            <a:rect l="l" t="t" r="r" b="b"/>
            <a:pathLst>
              <a:path h="2286000">
                <a:moveTo>
                  <a:pt x="0" y="0"/>
                </a:moveTo>
                <a:lnTo>
                  <a:pt x="0" y="22860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11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</a:t>
            </a:fld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39401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spc="-10" dirty="0">
                <a:uFill>
                  <a:solidFill>
                    <a:srgbClr val="000000"/>
                  </a:solidFill>
                </a:uFill>
              </a:rPr>
              <a:t>Motivating</a:t>
            </a:r>
            <a:r>
              <a:rPr sz="3600" u="heavy" spc="-4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example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17826"/>
            <a:ext cx="2054225" cy="1192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9700"/>
              </a:lnSpc>
              <a:spcBef>
                <a:spcPts val="95"/>
              </a:spcBef>
            </a:pP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Schedule</a:t>
            </a:r>
            <a:r>
              <a:rPr sz="3200" u="heavy" spc="-7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3200" u="heavy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Q 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22140" y="2596514"/>
            <a:ext cx="4298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65340" y="2596514"/>
            <a:ext cx="4298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7240" y="3081654"/>
            <a:ext cx="6804659" cy="0"/>
          </a:xfrm>
          <a:custGeom>
            <a:avLst/>
            <a:gdLst/>
            <a:ahLst/>
            <a:cxnLst/>
            <a:rect l="l" t="t" r="r" b="b"/>
            <a:pathLst>
              <a:path w="6804659">
                <a:moveTo>
                  <a:pt x="0" y="0"/>
                </a:moveTo>
                <a:lnTo>
                  <a:pt x="6804659" y="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64540" y="3087496"/>
            <a:ext cx="7524115" cy="236220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3200" spc="-15" dirty="0">
                <a:latin typeface="Tahoma"/>
                <a:cs typeface="Tahoma"/>
              </a:rPr>
              <a:t>Read(A)</a:t>
            </a:r>
            <a:endParaRPr sz="3200">
              <a:latin typeface="Tahoma"/>
              <a:cs typeface="Tahoma"/>
            </a:endParaRPr>
          </a:p>
          <a:p>
            <a:pPr marL="3136900">
              <a:lnSpc>
                <a:spcPct val="100000"/>
              </a:lnSpc>
              <a:spcBef>
                <a:spcPts val="755"/>
              </a:spcBef>
            </a:pPr>
            <a:r>
              <a:rPr sz="3200" spc="-10" dirty="0">
                <a:latin typeface="Tahoma"/>
                <a:cs typeface="Tahoma"/>
              </a:rPr>
              <a:t>Write(A)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spc="-10" dirty="0">
                <a:latin typeface="Tahoma"/>
                <a:cs typeface="Tahoma"/>
              </a:rPr>
              <a:t>Write(A)</a:t>
            </a:r>
            <a:endParaRPr sz="3200">
              <a:latin typeface="Tahoma"/>
              <a:cs typeface="Tahoma"/>
            </a:endParaRPr>
          </a:p>
          <a:p>
            <a:pPr marL="6007100">
              <a:lnSpc>
                <a:spcPct val="100000"/>
              </a:lnSpc>
              <a:spcBef>
                <a:spcPts val="765"/>
              </a:spcBef>
            </a:pPr>
            <a:r>
              <a:rPr sz="3200" spc="-70" dirty="0">
                <a:latin typeface="Tahoma"/>
                <a:cs typeface="Tahoma"/>
              </a:rPr>
              <a:t>W</a:t>
            </a:r>
            <a:r>
              <a:rPr sz="3200" dirty="0">
                <a:latin typeface="Tahoma"/>
                <a:cs typeface="Tahoma"/>
              </a:rPr>
              <a:t>ri</a:t>
            </a:r>
            <a:r>
              <a:rPr sz="3200" spc="-5" dirty="0">
                <a:latin typeface="Tahoma"/>
                <a:cs typeface="Tahoma"/>
              </a:rPr>
              <a:t>te(A</a:t>
            </a:r>
            <a:r>
              <a:rPr sz="3200" dirty="0">
                <a:latin typeface="Tahoma"/>
                <a:cs typeface="Tahoma"/>
              </a:rPr>
              <a:t>)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52762" y="1900237"/>
            <a:ext cx="0" cy="2962275"/>
          </a:xfrm>
          <a:custGeom>
            <a:avLst/>
            <a:gdLst/>
            <a:ahLst/>
            <a:cxnLst/>
            <a:rect l="l" t="t" r="r" b="b"/>
            <a:pathLst>
              <a:path h="2962275">
                <a:moveTo>
                  <a:pt x="0" y="0"/>
                </a:moveTo>
                <a:lnTo>
                  <a:pt x="0" y="2962275"/>
                </a:lnTo>
              </a:path>
            </a:pathLst>
          </a:custGeom>
          <a:ln w="9525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48362" y="1900237"/>
            <a:ext cx="0" cy="2962275"/>
          </a:xfrm>
          <a:custGeom>
            <a:avLst/>
            <a:gdLst/>
            <a:ahLst/>
            <a:cxnLst/>
            <a:rect l="l" t="t" r="r" b="b"/>
            <a:pathLst>
              <a:path h="2962275">
                <a:moveTo>
                  <a:pt x="0" y="0"/>
                </a:moveTo>
                <a:lnTo>
                  <a:pt x="0" y="2962275"/>
                </a:lnTo>
              </a:path>
            </a:pathLst>
          </a:custGeom>
          <a:ln w="9525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11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</a:t>
            </a:fld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15624" y="3520020"/>
            <a:ext cx="309245" cy="460375"/>
          </a:xfrm>
          <a:custGeom>
            <a:avLst/>
            <a:gdLst/>
            <a:ahLst/>
            <a:cxnLst/>
            <a:rect l="l" t="t" r="r" b="b"/>
            <a:pathLst>
              <a:path w="309245" h="460375">
                <a:moveTo>
                  <a:pt x="262534" y="399084"/>
                </a:moveTo>
                <a:lnTo>
                  <a:pt x="0" y="5283"/>
                </a:lnTo>
                <a:lnTo>
                  <a:pt x="7924" y="0"/>
                </a:lnTo>
                <a:lnTo>
                  <a:pt x="270459" y="393801"/>
                </a:lnTo>
                <a:lnTo>
                  <a:pt x="262534" y="399084"/>
                </a:lnTo>
                <a:close/>
              </a:path>
              <a:path w="309245" h="460375">
                <a:moveTo>
                  <a:pt x="303149" y="414934"/>
                </a:moveTo>
                <a:lnTo>
                  <a:pt x="273100" y="414934"/>
                </a:lnTo>
                <a:lnTo>
                  <a:pt x="281025" y="409651"/>
                </a:lnTo>
                <a:lnTo>
                  <a:pt x="270459" y="393801"/>
                </a:lnTo>
                <a:lnTo>
                  <a:pt x="298196" y="375310"/>
                </a:lnTo>
                <a:lnTo>
                  <a:pt x="303149" y="414934"/>
                </a:lnTo>
                <a:close/>
              </a:path>
              <a:path w="309245" h="460375">
                <a:moveTo>
                  <a:pt x="273100" y="414934"/>
                </a:moveTo>
                <a:lnTo>
                  <a:pt x="262534" y="399084"/>
                </a:lnTo>
                <a:lnTo>
                  <a:pt x="270459" y="393801"/>
                </a:lnTo>
                <a:lnTo>
                  <a:pt x="281025" y="409651"/>
                </a:lnTo>
                <a:lnTo>
                  <a:pt x="273100" y="414934"/>
                </a:lnTo>
                <a:close/>
              </a:path>
              <a:path w="309245" h="460375">
                <a:moveTo>
                  <a:pt x="308762" y="459841"/>
                </a:moveTo>
                <a:lnTo>
                  <a:pt x="234797" y="417576"/>
                </a:lnTo>
                <a:lnTo>
                  <a:pt x="262534" y="399084"/>
                </a:lnTo>
                <a:lnTo>
                  <a:pt x="273100" y="414934"/>
                </a:lnTo>
                <a:lnTo>
                  <a:pt x="303149" y="414934"/>
                </a:lnTo>
                <a:lnTo>
                  <a:pt x="308762" y="4598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937125" y="3490340"/>
            <a:ext cx="266700" cy="516890"/>
          </a:xfrm>
          <a:custGeom>
            <a:avLst/>
            <a:gdLst/>
            <a:ahLst/>
            <a:cxnLst/>
            <a:rect l="l" t="t" r="r" b="b"/>
            <a:pathLst>
              <a:path w="266700" h="516889">
                <a:moveTo>
                  <a:pt x="38818" y="450769"/>
                </a:moveTo>
                <a:lnTo>
                  <a:pt x="30335" y="446449"/>
                </a:lnTo>
                <a:lnTo>
                  <a:pt x="257695" y="0"/>
                </a:lnTo>
                <a:lnTo>
                  <a:pt x="266179" y="4318"/>
                </a:lnTo>
                <a:lnTo>
                  <a:pt x="38818" y="450769"/>
                </a:lnTo>
                <a:close/>
              </a:path>
              <a:path w="266700" h="516889">
                <a:moveTo>
                  <a:pt x="0" y="516509"/>
                </a:moveTo>
                <a:lnTo>
                  <a:pt x="622" y="431317"/>
                </a:lnTo>
                <a:lnTo>
                  <a:pt x="30335" y="446449"/>
                </a:lnTo>
                <a:lnTo>
                  <a:pt x="21691" y="463423"/>
                </a:lnTo>
                <a:lnTo>
                  <a:pt x="30175" y="467741"/>
                </a:lnTo>
                <a:lnTo>
                  <a:pt x="66035" y="467741"/>
                </a:lnTo>
                <a:lnTo>
                  <a:pt x="0" y="516509"/>
                </a:lnTo>
                <a:close/>
              </a:path>
              <a:path w="266700" h="516889">
                <a:moveTo>
                  <a:pt x="30175" y="467741"/>
                </a:moveTo>
                <a:lnTo>
                  <a:pt x="21691" y="463423"/>
                </a:lnTo>
                <a:lnTo>
                  <a:pt x="30335" y="446449"/>
                </a:lnTo>
                <a:lnTo>
                  <a:pt x="38818" y="450769"/>
                </a:lnTo>
                <a:lnTo>
                  <a:pt x="30175" y="467741"/>
                </a:lnTo>
                <a:close/>
              </a:path>
              <a:path w="266700" h="516889">
                <a:moveTo>
                  <a:pt x="66035" y="467741"/>
                </a:moveTo>
                <a:lnTo>
                  <a:pt x="30175" y="467741"/>
                </a:lnTo>
                <a:lnTo>
                  <a:pt x="38818" y="450769"/>
                </a:lnTo>
                <a:lnTo>
                  <a:pt x="68529" y="465899"/>
                </a:lnTo>
                <a:lnTo>
                  <a:pt x="66035" y="4677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32286" y="3288982"/>
            <a:ext cx="381635" cy="76200"/>
          </a:xfrm>
          <a:custGeom>
            <a:avLst/>
            <a:gdLst/>
            <a:ahLst/>
            <a:cxnLst/>
            <a:rect l="l" t="t" r="r" b="b"/>
            <a:pathLst>
              <a:path w="381635" h="76200">
                <a:moveTo>
                  <a:pt x="371888" y="42938"/>
                </a:moveTo>
                <a:lnTo>
                  <a:pt x="323850" y="42938"/>
                </a:lnTo>
                <a:lnTo>
                  <a:pt x="323900" y="33413"/>
                </a:lnTo>
                <a:lnTo>
                  <a:pt x="304851" y="33334"/>
                </a:lnTo>
                <a:lnTo>
                  <a:pt x="304990" y="0"/>
                </a:lnTo>
                <a:lnTo>
                  <a:pt x="381025" y="38417"/>
                </a:lnTo>
                <a:lnTo>
                  <a:pt x="371888" y="42938"/>
                </a:lnTo>
                <a:close/>
              </a:path>
              <a:path w="381635" h="76200">
                <a:moveTo>
                  <a:pt x="304811" y="42859"/>
                </a:moveTo>
                <a:lnTo>
                  <a:pt x="0" y="41592"/>
                </a:lnTo>
                <a:lnTo>
                  <a:pt x="50" y="32067"/>
                </a:lnTo>
                <a:lnTo>
                  <a:pt x="304851" y="33334"/>
                </a:lnTo>
                <a:lnTo>
                  <a:pt x="304811" y="42859"/>
                </a:lnTo>
                <a:close/>
              </a:path>
              <a:path w="381635" h="76200">
                <a:moveTo>
                  <a:pt x="323850" y="42938"/>
                </a:moveTo>
                <a:lnTo>
                  <a:pt x="304811" y="42859"/>
                </a:lnTo>
                <a:lnTo>
                  <a:pt x="304851" y="33334"/>
                </a:lnTo>
                <a:lnTo>
                  <a:pt x="323900" y="33413"/>
                </a:lnTo>
                <a:lnTo>
                  <a:pt x="323850" y="42938"/>
                </a:lnTo>
                <a:close/>
              </a:path>
              <a:path w="381635" h="76200">
                <a:moveTo>
                  <a:pt x="304673" y="76200"/>
                </a:moveTo>
                <a:lnTo>
                  <a:pt x="304811" y="42859"/>
                </a:lnTo>
                <a:lnTo>
                  <a:pt x="371888" y="42938"/>
                </a:lnTo>
                <a:lnTo>
                  <a:pt x="304673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5950" y="3120758"/>
            <a:ext cx="457834" cy="76200"/>
          </a:xfrm>
          <a:custGeom>
            <a:avLst/>
            <a:gdLst/>
            <a:ahLst/>
            <a:cxnLst/>
            <a:rect l="l" t="t" r="r" b="b"/>
            <a:pathLst>
              <a:path w="457835" h="76200">
                <a:moveTo>
                  <a:pt x="76326" y="76199"/>
                </a:moveTo>
                <a:lnTo>
                  <a:pt x="0" y="38366"/>
                </a:lnTo>
                <a:lnTo>
                  <a:pt x="76073" y="0"/>
                </a:lnTo>
                <a:lnTo>
                  <a:pt x="76184" y="33335"/>
                </a:lnTo>
                <a:lnTo>
                  <a:pt x="57137" y="33400"/>
                </a:lnTo>
                <a:lnTo>
                  <a:pt x="57162" y="42925"/>
                </a:lnTo>
                <a:lnTo>
                  <a:pt x="76216" y="42925"/>
                </a:lnTo>
                <a:lnTo>
                  <a:pt x="76326" y="76199"/>
                </a:lnTo>
                <a:close/>
              </a:path>
              <a:path w="457835" h="76200">
                <a:moveTo>
                  <a:pt x="76215" y="42860"/>
                </a:moveTo>
                <a:lnTo>
                  <a:pt x="76184" y="33335"/>
                </a:lnTo>
                <a:lnTo>
                  <a:pt x="457187" y="32016"/>
                </a:lnTo>
                <a:lnTo>
                  <a:pt x="457212" y="41541"/>
                </a:lnTo>
                <a:lnTo>
                  <a:pt x="76215" y="42860"/>
                </a:lnTo>
                <a:close/>
              </a:path>
              <a:path w="457835" h="76200">
                <a:moveTo>
                  <a:pt x="57162" y="42925"/>
                </a:moveTo>
                <a:lnTo>
                  <a:pt x="57137" y="33400"/>
                </a:lnTo>
                <a:lnTo>
                  <a:pt x="76184" y="33335"/>
                </a:lnTo>
                <a:lnTo>
                  <a:pt x="76215" y="42860"/>
                </a:lnTo>
                <a:lnTo>
                  <a:pt x="57162" y="42925"/>
                </a:lnTo>
                <a:close/>
              </a:path>
              <a:path w="457835" h="76200">
                <a:moveTo>
                  <a:pt x="76216" y="42925"/>
                </a:moveTo>
                <a:lnTo>
                  <a:pt x="57162" y="42925"/>
                </a:lnTo>
                <a:lnTo>
                  <a:pt x="76215" y="428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4540" y="1535556"/>
            <a:ext cx="6013450" cy="396621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Same</a:t>
            </a:r>
            <a:r>
              <a:rPr sz="3200" u="heavy" spc="-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as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dirty="0">
                <a:latin typeface="Tahoma"/>
                <a:cs typeface="Tahoma"/>
              </a:rPr>
              <a:t>Q = </a:t>
            </a:r>
            <a:r>
              <a:rPr sz="3200" spc="-5" dirty="0">
                <a:latin typeface="Tahoma"/>
                <a:cs typeface="Tahoma"/>
              </a:rPr>
              <a:t>r</a:t>
            </a:r>
            <a:r>
              <a:rPr sz="24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(A) w</a:t>
            </a:r>
            <a:r>
              <a:rPr sz="24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(A) w</a:t>
            </a:r>
            <a:r>
              <a:rPr sz="24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(A)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w</a:t>
            </a:r>
            <a:r>
              <a:rPr sz="2400" spc="-5" dirty="0">
                <a:latin typeface="Tahoma"/>
                <a:cs typeface="Tahoma"/>
              </a:rPr>
              <a:t>3</a:t>
            </a:r>
            <a:r>
              <a:rPr sz="3200" spc="-5" dirty="0">
                <a:latin typeface="Tahoma"/>
                <a:cs typeface="Tahoma"/>
              </a:rPr>
              <a:t>(A)</a:t>
            </a:r>
            <a:endParaRPr sz="3200">
              <a:latin typeface="Tahoma"/>
              <a:cs typeface="Tahoma"/>
            </a:endParaRPr>
          </a:p>
          <a:p>
            <a:pPr marL="570865" algn="ctr">
              <a:lnSpc>
                <a:spcPct val="100000"/>
              </a:lnSpc>
              <a:spcBef>
                <a:spcPts val="1955"/>
              </a:spcBef>
              <a:tabLst>
                <a:tab pos="1791335" algn="l"/>
                <a:tab pos="2830195" algn="l"/>
              </a:tabLst>
            </a:pPr>
            <a:r>
              <a:rPr sz="3200" spc="-5" dirty="0">
                <a:latin typeface="Tahoma"/>
                <a:cs typeface="Tahoma"/>
              </a:rPr>
              <a:t>P(Q):	T</a:t>
            </a:r>
            <a:r>
              <a:rPr sz="2400" spc="-5" dirty="0">
                <a:latin typeface="Tahoma"/>
                <a:cs typeface="Tahoma"/>
              </a:rPr>
              <a:t>1	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450">
              <a:latin typeface="Tahoma"/>
              <a:cs typeface="Tahoma"/>
            </a:endParaRPr>
          </a:p>
          <a:p>
            <a:pPr marL="3884295">
              <a:lnSpc>
                <a:spcPct val="100000"/>
              </a:lnSpc>
              <a:spcBef>
                <a:spcPts val="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3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400">
              <a:latin typeface="Tahoma"/>
              <a:cs typeface="Tahoma"/>
            </a:endParaRPr>
          </a:p>
          <a:p>
            <a:pPr marL="1750695">
              <a:lnSpc>
                <a:spcPct val="100000"/>
              </a:lnSpc>
            </a:pPr>
            <a:r>
              <a:rPr sz="3200" spc="-5" dirty="0">
                <a:latin typeface="Tahoma"/>
                <a:cs typeface="Tahoma"/>
              </a:rPr>
              <a:t>Not conflict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serializable!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11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</a:t>
            </a:fld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678815"/>
            <a:ext cx="614489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/>
              <a:t>But </a:t>
            </a:r>
            <a:r>
              <a:rPr spc="-5" dirty="0"/>
              <a:t>now compare </a:t>
            </a:r>
            <a:r>
              <a:rPr dirty="0"/>
              <a:t>Q </a:t>
            </a:r>
            <a:r>
              <a:rPr spc="-5" dirty="0"/>
              <a:t>to Ss, </a:t>
            </a:r>
            <a:r>
              <a:rPr dirty="0"/>
              <a:t>a </a:t>
            </a:r>
            <a:r>
              <a:rPr spc="-5" dirty="0"/>
              <a:t>serial  schedule: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31035"/>
            <a:ext cx="40874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26465" algn="l"/>
                <a:tab pos="3669665" algn="l"/>
              </a:tabLst>
            </a:pPr>
            <a:r>
              <a:rPr sz="3200" dirty="0">
                <a:latin typeface="Tahoma"/>
                <a:cs typeface="Tahoma"/>
              </a:rPr>
              <a:t>Q	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1	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65340" y="1931035"/>
            <a:ext cx="4298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40" y="2416175"/>
            <a:ext cx="6804659" cy="0"/>
          </a:xfrm>
          <a:custGeom>
            <a:avLst/>
            <a:gdLst/>
            <a:ahLst/>
            <a:cxnLst/>
            <a:rect l="l" t="t" r="r" b="b"/>
            <a:pathLst>
              <a:path w="6804659">
                <a:moveTo>
                  <a:pt x="0" y="0"/>
                </a:moveTo>
                <a:lnTo>
                  <a:pt x="6804659" y="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93189" y="2415540"/>
            <a:ext cx="6487795" cy="1413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z="2400" spc="-10" dirty="0">
                <a:latin typeface="Tahoma"/>
                <a:cs typeface="Tahoma"/>
              </a:rPr>
              <a:t>Read(A)</a:t>
            </a:r>
            <a:endParaRPr sz="2400">
              <a:latin typeface="Tahoma"/>
              <a:cs typeface="Tahoma"/>
            </a:endParaRPr>
          </a:p>
          <a:p>
            <a:pPr marL="2603500">
              <a:lnSpc>
                <a:spcPts val="2875"/>
              </a:lnSpc>
            </a:pPr>
            <a:r>
              <a:rPr sz="2400" spc="-10" dirty="0">
                <a:latin typeface="Tahoma"/>
                <a:cs typeface="Tahoma"/>
              </a:rPr>
              <a:t>Write(A)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ts val="2585"/>
              </a:lnSpc>
            </a:pPr>
            <a:r>
              <a:rPr sz="2400" spc="-10" dirty="0">
                <a:latin typeface="Tahoma"/>
                <a:cs typeface="Tahoma"/>
              </a:rPr>
              <a:t>Write(A)</a:t>
            </a:r>
            <a:endParaRPr sz="2400">
              <a:latin typeface="Tahoma"/>
              <a:cs typeface="Tahoma"/>
            </a:endParaRPr>
          </a:p>
          <a:p>
            <a:pPr marL="5346700">
              <a:lnSpc>
                <a:spcPts val="2590"/>
              </a:lnSpc>
            </a:pPr>
            <a:r>
              <a:rPr sz="2400" spc="-10" dirty="0">
                <a:latin typeface="Tahoma"/>
                <a:cs typeface="Tahoma"/>
              </a:rPr>
              <a:t>Write(A)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4540" y="4170679"/>
            <a:ext cx="13442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26465" algn="l"/>
              </a:tabLst>
            </a:pPr>
            <a:r>
              <a:rPr sz="3200" spc="-5" dirty="0">
                <a:latin typeface="Tahoma"/>
                <a:cs typeface="Tahoma"/>
              </a:rPr>
              <a:t>S</a:t>
            </a:r>
            <a:r>
              <a:rPr sz="3200" dirty="0">
                <a:latin typeface="Tahoma"/>
                <a:cs typeface="Tahoma"/>
              </a:rPr>
              <a:t>s	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22140" y="4170679"/>
            <a:ext cx="4298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65340" y="4170679"/>
            <a:ext cx="4298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77240" y="4655820"/>
            <a:ext cx="6804659" cy="0"/>
          </a:xfrm>
          <a:custGeom>
            <a:avLst/>
            <a:gdLst/>
            <a:ahLst/>
            <a:cxnLst/>
            <a:rect l="l" t="t" r="r" b="b"/>
            <a:pathLst>
              <a:path w="6804659">
                <a:moveTo>
                  <a:pt x="0" y="0"/>
                </a:moveTo>
                <a:lnTo>
                  <a:pt x="6804659" y="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393189" y="4655184"/>
            <a:ext cx="6487795" cy="1413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33908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ahoma"/>
                <a:cs typeface="Tahoma"/>
              </a:rPr>
              <a:t>Read(A)  </a:t>
            </a:r>
            <a:r>
              <a:rPr sz="2400" spc="-45" dirty="0">
                <a:latin typeface="Tahoma"/>
                <a:cs typeface="Tahoma"/>
              </a:rPr>
              <a:t>W</a:t>
            </a:r>
            <a:r>
              <a:rPr sz="2400" dirty="0">
                <a:latin typeface="Tahoma"/>
                <a:cs typeface="Tahoma"/>
              </a:rPr>
              <a:t>rite(A)</a:t>
            </a:r>
            <a:endParaRPr sz="2400">
              <a:latin typeface="Tahoma"/>
              <a:cs typeface="Tahoma"/>
            </a:endParaRPr>
          </a:p>
          <a:p>
            <a:pPr marL="2603500">
              <a:lnSpc>
                <a:spcPts val="2580"/>
              </a:lnSpc>
            </a:pPr>
            <a:r>
              <a:rPr sz="2400" spc="-10" dirty="0">
                <a:latin typeface="Tahoma"/>
                <a:cs typeface="Tahoma"/>
              </a:rPr>
              <a:t>Write(A)</a:t>
            </a:r>
            <a:endParaRPr sz="2400">
              <a:latin typeface="Tahoma"/>
              <a:cs typeface="Tahoma"/>
            </a:endParaRPr>
          </a:p>
          <a:p>
            <a:pPr marL="5346700">
              <a:lnSpc>
                <a:spcPts val="2590"/>
              </a:lnSpc>
            </a:pPr>
            <a:r>
              <a:rPr sz="2400" spc="-10" dirty="0">
                <a:latin typeface="Tahoma"/>
                <a:cs typeface="Tahoma"/>
              </a:rPr>
              <a:t>Write(A)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11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</a:t>
            </a:fld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1916556"/>
            <a:ext cx="7138670" cy="294068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  <a:tab pos="1165860" algn="l"/>
              </a:tabLst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1	</a:t>
            </a:r>
            <a:r>
              <a:rPr sz="3200" spc="-5" dirty="0">
                <a:latin typeface="Tahoma"/>
                <a:cs typeface="Tahoma"/>
              </a:rPr>
              <a:t>reads same thing in </a:t>
            </a:r>
            <a:r>
              <a:rPr sz="3200" spc="-25" dirty="0">
                <a:latin typeface="Tahoma"/>
                <a:cs typeface="Tahoma"/>
              </a:rPr>
              <a:t>Q, </a:t>
            </a:r>
            <a:r>
              <a:rPr sz="3200" dirty="0">
                <a:latin typeface="Tahoma"/>
                <a:cs typeface="Tahoma"/>
              </a:rPr>
              <a:t>Ss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  <a:tab pos="1788160" algn="l"/>
              </a:tabLst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,</a:t>
            </a:r>
            <a:r>
              <a:rPr sz="3200" spc="-25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3	</a:t>
            </a:r>
            <a:r>
              <a:rPr sz="3200" spc="-5" dirty="0">
                <a:latin typeface="Tahoma"/>
                <a:cs typeface="Tahoma"/>
              </a:rPr>
              <a:t>read samething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(nothing?)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After </a:t>
            </a:r>
            <a:r>
              <a:rPr sz="3200" dirty="0">
                <a:latin typeface="Tahoma"/>
                <a:cs typeface="Tahoma"/>
              </a:rPr>
              <a:t>Q </a:t>
            </a:r>
            <a:r>
              <a:rPr sz="3200" spc="-5" dirty="0">
                <a:latin typeface="Tahoma"/>
                <a:cs typeface="Tahoma"/>
              </a:rPr>
              <a:t>or Ss, </a:t>
            </a:r>
            <a:r>
              <a:rPr sz="3200" dirty="0">
                <a:latin typeface="Tahoma"/>
                <a:cs typeface="Tahoma"/>
              </a:rPr>
              <a:t>DB </a:t>
            </a:r>
            <a:r>
              <a:rPr sz="3200" spc="-5" dirty="0">
                <a:latin typeface="Tahoma"/>
                <a:cs typeface="Tahoma"/>
              </a:rPr>
              <a:t>is left in same state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4350">
              <a:latin typeface="Tahoma"/>
              <a:cs typeface="Tahoma"/>
            </a:endParaRPr>
          </a:p>
          <a:p>
            <a:pPr marL="546100">
              <a:lnSpc>
                <a:spcPct val="100000"/>
              </a:lnSpc>
            </a:pPr>
            <a:r>
              <a:rPr sz="3200" dirty="0">
                <a:latin typeface="Tahoma"/>
                <a:cs typeface="Tahoma"/>
              </a:rPr>
              <a:t>So </a:t>
            </a:r>
            <a:r>
              <a:rPr sz="3200" spc="-5" dirty="0">
                <a:latin typeface="Tahoma"/>
                <a:cs typeface="Tahoma"/>
              </a:rPr>
              <a:t>what is wrong with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Q?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11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6</a:t>
            </a:fld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617854"/>
            <a:ext cx="6791325" cy="1121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315"/>
              </a:lnSpc>
              <a:spcBef>
                <a:spcPts val="100"/>
              </a:spcBef>
              <a:tabLst>
                <a:tab pos="2219325" algn="l"/>
              </a:tabLst>
            </a:pP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Definition</a:t>
            </a:r>
            <a:r>
              <a:rPr sz="3600" spc="-5" dirty="0"/>
              <a:t>	Schedules S</a:t>
            </a:r>
            <a:r>
              <a:rPr sz="2800" spc="-5" dirty="0"/>
              <a:t>1</a:t>
            </a:r>
            <a:r>
              <a:rPr sz="3600" spc="-5" dirty="0"/>
              <a:t>,S</a:t>
            </a:r>
            <a:r>
              <a:rPr sz="2800" spc="-5" dirty="0"/>
              <a:t>2</a:t>
            </a:r>
            <a:r>
              <a:rPr sz="2800" spc="229" dirty="0"/>
              <a:t> </a:t>
            </a:r>
            <a:r>
              <a:rPr sz="3600" spc="-10" dirty="0"/>
              <a:t>are</a:t>
            </a:r>
            <a:endParaRPr sz="3600"/>
          </a:p>
          <a:p>
            <a:pPr marL="2898775">
              <a:lnSpc>
                <a:spcPts val="4315"/>
              </a:lnSpc>
              <a:tabLst>
                <a:tab pos="6365240" algn="l"/>
              </a:tabLst>
            </a:pPr>
            <a:r>
              <a:rPr sz="3600" u="heavy" dirty="0">
                <a:uFill>
                  <a:solidFill>
                    <a:srgbClr val="000000"/>
                  </a:solidFill>
                </a:uFill>
              </a:rPr>
              <a:t>View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Eq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u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i</a:t>
            </a:r>
            <a:r>
              <a:rPr sz="3600" u="heavy" spc="-70" dirty="0">
                <a:uFill>
                  <a:solidFill>
                    <a:srgbClr val="000000"/>
                  </a:solidFill>
                </a:uFill>
              </a:rPr>
              <a:t>v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ale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n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t</a:t>
            </a:r>
            <a:r>
              <a:rPr sz="3600" dirty="0"/>
              <a:t>	</a:t>
            </a:r>
            <a:r>
              <a:rPr sz="3600" spc="5" dirty="0"/>
              <a:t>i</a:t>
            </a:r>
            <a:r>
              <a:rPr sz="3600" spc="-5" dirty="0"/>
              <a:t>f</a:t>
            </a:r>
            <a:r>
              <a:rPr sz="3600" dirty="0"/>
              <a:t>: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64540" y="1914651"/>
            <a:ext cx="5123815" cy="1195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6600" marR="5080" indent="-723900">
              <a:lnSpc>
                <a:spcPct val="119900"/>
              </a:lnSpc>
              <a:spcBef>
                <a:spcPts val="100"/>
              </a:spcBef>
            </a:pPr>
            <a:r>
              <a:rPr sz="3200" spc="-5" dirty="0">
                <a:latin typeface="Tahoma"/>
                <a:cs typeface="Tahoma"/>
              </a:rPr>
              <a:t>(1) If in S</a:t>
            </a:r>
            <a:r>
              <a:rPr sz="2400" spc="-5" dirty="0">
                <a:latin typeface="Tahoma"/>
                <a:cs typeface="Tahoma"/>
              </a:rPr>
              <a:t>1: </a:t>
            </a:r>
            <a:r>
              <a:rPr sz="3200" spc="-5" dirty="0">
                <a:latin typeface="Tahoma"/>
                <a:cs typeface="Tahoma"/>
              </a:rPr>
              <a:t>w</a:t>
            </a:r>
            <a:r>
              <a:rPr sz="2400" spc="-5" dirty="0">
                <a:latin typeface="Tahoma"/>
                <a:cs typeface="Tahoma"/>
              </a:rPr>
              <a:t>j</a:t>
            </a:r>
            <a:r>
              <a:rPr sz="3200" spc="-5" dirty="0">
                <a:latin typeface="Tahoma"/>
                <a:cs typeface="Tahoma"/>
              </a:rPr>
              <a:t>(A) </a:t>
            </a:r>
            <a:r>
              <a:rPr sz="3200" dirty="0">
                <a:latin typeface="Symbol"/>
                <a:cs typeface="Symbol"/>
              </a:rPr>
              <a:t>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ahoma"/>
                <a:cs typeface="Tahoma"/>
              </a:rPr>
              <a:t>r</a:t>
            </a:r>
            <a:r>
              <a:rPr sz="2400" spc="-5" dirty="0">
                <a:latin typeface="Tahoma"/>
                <a:cs typeface="Tahoma"/>
              </a:rPr>
              <a:t>i</a:t>
            </a:r>
            <a:r>
              <a:rPr sz="3200" spc="-5" dirty="0">
                <a:latin typeface="Tahoma"/>
                <a:cs typeface="Tahoma"/>
              </a:rPr>
              <a:t>(A)  then in S</a:t>
            </a:r>
            <a:r>
              <a:rPr sz="2400" spc="-5" dirty="0">
                <a:latin typeface="Tahoma"/>
                <a:cs typeface="Tahoma"/>
              </a:rPr>
              <a:t>2: </a:t>
            </a:r>
            <a:r>
              <a:rPr sz="3200" spc="-5" dirty="0">
                <a:latin typeface="Tahoma"/>
                <a:cs typeface="Tahoma"/>
              </a:rPr>
              <a:t>w</a:t>
            </a:r>
            <a:r>
              <a:rPr sz="2400" spc="-5" dirty="0">
                <a:latin typeface="Tahoma"/>
                <a:cs typeface="Tahoma"/>
              </a:rPr>
              <a:t>j</a:t>
            </a:r>
            <a:r>
              <a:rPr sz="3200" spc="-5" dirty="0">
                <a:latin typeface="Tahoma"/>
                <a:cs typeface="Tahoma"/>
              </a:rPr>
              <a:t>(A) </a:t>
            </a:r>
            <a:r>
              <a:rPr sz="3200" dirty="0">
                <a:latin typeface="Symbol"/>
                <a:cs typeface="Symbol"/>
              </a:rPr>
              <a:t></a:t>
            </a:r>
            <a:r>
              <a:rPr sz="3200" spc="-3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ahoma"/>
                <a:cs typeface="Tahoma"/>
              </a:rPr>
              <a:t>r</a:t>
            </a:r>
            <a:r>
              <a:rPr sz="2400" spc="-5" dirty="0">
                <a:latin typeface="Tahoma"/>
                <a:cs typeface="Tahoma"/>
              </a:rPr>
              <a:t>i</a:t>
            </a:r>
            <a:r>
              <a:rPr sz="3200" spc="-5" dirty="0">
                <a:latin typeface="Tahoma"/>
                <a:cs typeface="Tahoma"/>
              </a:rPr>
              <a:t>(A)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3087496"/>
            <a:ext cx="7421880" cy="2849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09600" marR="401955" indent="-596900">
              <a:lnSpc>
                <a:spcPct val="119700"/>
              </a:lnSpc>
              <a:spcBef>
                <a:spcPts val="95"/>
              </a:spcBef>
              <a:buFont typeface="Tahoma"/>
              <a:buAutoNum type="arabicParenBoth" startAt="2"/>
              <a:tabLst>
                <a:tab pos="672465" algn="l"/>
              </a:tabLst>
            </a:pPr>
            <a:r>
              <a:rPr dirty="0"/>
              <a:t>	</a:t>
            </a:r>
            <a:r>
              <a:rPr sz="3200" spc="-5" dirty="0">
                <a:latin typeface="Tahoma"/>
                <a:cs typeface="Tahoma"/>
              </a:rPr>
              <a:t>If in S</a:t>
            </a:r>
            <a:r>
              <a:rPr sz="2400" spc="-5" dirty="0">
                <a:latin typeface="Tahoma"/>
                <a:cs typeface="Tahoma"/>
              </a:rPr>
              <a:t>1: </a:t>
            </a:r>
            <a:r>
              <a:rPr sz="3200" spc="-5" dirty="0">
                <a:latin typeface="Tahoma"/>
                <a:cs typeface="Tahoma"/>
              </a:rPr>
              <a:t>r</a:t>
            </a:r>
            <a:r>
              <a:rPr sz="2400" spc="-5" dirty="0">
                <a:latin typeface="Tahoma"/>
                <a:cs typeface="Tahoma"/>
              </a:rPr>
              <a:t>i</a:t>
            </a:r>
            <a:r>
              <a:rPr sz="3200" spc="-5" dirty="0">
                <a:latin typeface="Tahoma"/>
                <a:cs typeface="Tahoma"/>
              </a:rPr>
              <a:t>(A) reads initial </a:t>
            </a:r>
            <a:r>
              <a:rPr sz="3200" dirty="0">
                <a:latin typeface="Tahoma"/>
                <a:cs typeface="Tahoma"/>
              </a:rPr>
              <a:t>DB </a:t>
            </a:r>
            <a:r>
              <a:rPr sz="3200" spc="-15" dirty="0">
                <a:latin typeface="Tahoma"/>
                <a:cs typeface="Tahoma"/>
              </a:rPr>
              <a:t>value,  </a:t>
            </a:r>
            <a:r>
              <a:rPr sz="3200" spc="-5" dirty="0">
                <a:latin typeface="Tahoma"/>
                <a:cs typeface="Tahoma"/>
              </a:rPr>
              <a:t>then in S</a:t>
            </a:r>
            <a:r>
              <a:rPr sz="2400" spc="-5" dirty="0">
                <a:latin typeface="Tahoma"/>
                <a:cs typeface="Tahoma"/>
              </a:rPr>
              <a:t>2: </a:t>
            </a:r>
            <a:r>
              <a:rPr sz="3200" spc="-5" dirty="0">
                <a:latin typeface="Tahoma"/>
                <a:cs typeface="Tahoma"/>
              </a:rPr>
              <a:t>r</a:t>
            </a:r>
            <a:r>
              <a:rPr sz="2400" spc="-5" dirty="0">
                <a:latin typeface="Tahoma"/>
                <a:cs typeface="Tahoma"/>
              </a:rPr>
              <a:t>i</a:t>
            </a:r>
            <a:r>
              <a:rPr sz="3200" spc="-5" dirty="0">
                <a:latin typeface="Tahoma"/>
                <a:cs typeface="Tahoma"/>
              </a:rPr>
              <a:t>(A) also reads initial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DB</a:t>
            </a:r>
            <a:endParaRPr sz="32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10"/>
              </a:spcBef>
            </a:pPr>
            <a:r>
              <a:rPr sz="3200" spc="-15" dirty="0">
                <a:latin typeface="Tahoma"/>
                <a:cs typeface="Tahoma"/>
              </a:rPr>
              <a:t>value</a:t>
            </a:r>
            <a:endParaRPr sz="3200">
              <a:latin typeface="Tahoma"/>
              <a:cs typeface="Tahoma"/>
            </a:endParaRPr>
          </a:p>
          <a:p>
            <a:pPr marL="672465" indent="-659765">
              <a:lnSpc>
                <a:spcPct val="100000"/>
              </a:lnSpc>
              <a:spcBef>
                <a:spcPts val="765"/>
              </a:spcBef>
              <a:buAutoNum type="arabicParenBoth" startAt="3"/>
              <a:tabLst>
                <a:tab pos="672465" algn="l"/>
              </a:tabLst>
            </a:pPr>
            <a:r>
              <a:rPr sz="3200" spc="-5" dirty="0">
                <a:latin typeface="Tahoma"/>
                <a:cs typeface="Tahoma"/>
              </a:rPr>
              <a:t>If in S</a:t>
            </a:r>
            <a:r>
              <a:rPr sz="2400" spc="-5" dirty="0">
                <a:latin typeface="Tahoma"/>
                <a:cs typeface="Tahoma"/>
              </a:rPr>
              <a:t>1: 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i </a:t>
            </a:r>
            <a:r>
              <a:rPr sz="3200" spc="-5" dirty="0">
                <a:latin typeface="Tahoma"/>
                <a:cs typeface="Tahoma"/>
              </a:rPr>
              <a:t>does last </a:t>
            </a:r>
            <a:r>
              <a:rPr sz="3200" dirty="0">
                <a:latin typeface="Tahoma"/>
                <a:cs typeface="Tahoma"/>
              </a:rPr>
              <a:t>write on</a:t>
            </a:r>
            <a:r>
              <a:rPr sz="3200" spc="-509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A,</a:t>
            </a:r>
            <a:endParaRPr sz="3200">
              <a:latin typeface="Tahoma"/>
              <a:cs typeface="Tahoma"/>
            </a:endParaRPr>
          </a:p>
          <a:p>
            <a:pPr marL="609600">
              <a:lnSpc>
                <a:spcPct val="100000"/>
              </a:lnSpc>
              <a:spcBef>
                <a:spcPts val="755"/>
              </a:spcBef>
            </a:pPr>
            <a:r>
              <a:rPr sz="3200" spc="-5" dirty="0">
                <a:latin typeface="Tahoma"/>
                <a:cs typeface="Tahoma"/>
              </a:rPr>
              <a:t>then in S</a:t>
            </a:r>
            <a:r>
              <a:rPr sz="2400" spc="-5" dirty="0">
                <a:latin typeface="Tahoma"/>
                <a:cs typeface="Tahoma"/>
              </a:rPr>
              <a:t>2: 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i </a:t>
            </a:r>
            <a:r>
              <a:rPr sz="3200" spc="-5" dirty="0">
                <a:latin typeface="Tahoma"/>
                <a:cs typeface="Tahoma"/>
              </a:rPr>
              <a:t>also does last </a:t>
            </a:r>
            <a:r>
              <a:rPr sz="3200" dirty="0">
                <a:latin typeface="Tahoma"/>
                <a:cs typeface="Tahoma"/>
              </a:rPr>
              <a:t>write on</a:t>
            </a:r>
            <a:r>
              <a:rPr sz="3200" spc="-509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19850" y="2022475"/>
            <a:ext cx="2052955" cy="717550"/>
          </a:xfrm>
          <a:custGeom>
            <a:avLst/>
            <a:gdLst/>
            <a:ahLst/>
            <a:cxnLst/>
            <a:rect l="l" t="t" r="r" b="b"/>
            <a:pathLst>
              <a:path w="2052954" h="717550">
                <a:moveTo>
                  <a:pt x="2052637" y="717550"/>
                </a:moveTo>
                <a:lnTo>
                  <a:pt x="0" y="717550"/>
                </a:lnTo>
                <a:lnTo>
                  <a:pt x="0" y="0"/>
                </a:lnTo>
                <a:lnTo>
                  <a:pt x="2052637" y="0"/>
                </a:lnTo>
                <a:lnTo>
                  <a:pt x="2052637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708025"/>
                </a:lnTo>
                <a:lnTo>
                  <a:pt x="4762" y="708025"/>
                </a:lnTo>
                <a:lnTo>
                  <a:pt x="9525" y="712787"/>
                </a:lnTo>
                <a:lnTo>
                  <a:pt x="2052637" y="712787"/>
                </a:lnTo>
                <a:lnTo>
                  <a:pt x="2052637" y="717550"/>
                </a:lnTo>
                <a:close/>
              </a:path>
              <a:path w="2052954" h="71755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052954" h="717550">
                <a:moveTo>
                  <a:pt x="2043112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043112" y="4762"/>
                </a:lnTo>
                <a:lnTo>
                  <a:pt x="2043112" y="9525"/>
                </a:lnTo>
                <a:close/>
              </a:path>
              <a:path w="2052954" h="717550">
                <a:moveTo>
                  <a:pt x="2043112" y="712787"/>
                </a:moveTo>
                <a:lnTo>
                  <a:pt x="2043112" y="4762"/>
                </a:lnTo>
                <a:lnTo>
                  <a:pt x="2047875" y="9525"/>
                </a:lnTo>
                <a:lnTo>
                  <a:pt x="2052637" y="9525"/>
                </a:lnTo>
                <a:lnTo>
                  <a:pt x="2052637" y="708025"/>
                </a:lnTo>
                <a:lnTo>
                  <a:pt x="2047875" y="708025"/>
                </a:lnTo>
                <a:lnTo>
                  <a:pt x="2043112" y="712787"/>
                </a:lnTo>
                <a:close/>
              </a:path>
              <a:path w="2052954" h="717550">
                <a:moveTo>
                  <a:pt x="2052637" y="9525"/>
                </a:moveTo>
                <a:lnTo>
                  <a:pt x="2047875" y="9525"/>
                </a:lnTo>
                <a:lnTo>
                  <a:pt x="2043112" y="4762"/>
                </a:lnTo>
                <a:lnTo>
                  <a:pt x="2052637" y="4762"/>
                </a:lnTo>
                <a:lnTo>
                  <a:pt x="2052637" y="9525"/>
                </a:lnTo>
                <a:close/>
              </a:path>
              <a:path w="2052954" h="717550">
                <a:moveTo>
                  <a:pt x="9525" y="712787"/>
                </a:moveTo>
                <a:lnTo>
                  <a:pt x="4762" y="708025"/>
                </a:lnTo>
                <a:lnTo>
                  <a:pt x="9525" y="708025"/>
                </a:lnTo>
                <a:lnTo>
                  <a:pt x="9525" y="712787"/>
                </a:lnTo>
                <a:close/>
              </a:path>
              <a:path w="2052954" h="717550">
                <a:moveTo>
                  <a:pt x="2043112" y="712787"/>
                </a:moveTo>
                <a:lnTo>
                  <a:pt x="9525" y="712787"/>
                </a:lnTo>
                <a:lnTo>
                  <a:pt x="9525" y="708025"/>
                </a:lnTo>
                <a:lnTo>
                  <a:pt x="2043112" y="708025"/>
                </a:lnTo>
                <a:lnTo>
                  <a:pt x="2043112" y="712787"/>
                </a:lnTo>
                <a:close/>
              </a:path>
              <a:path w="2052954" h="717550">
                <a:moveTo>
                  <a:pt x="2052637" y="712787"/>
                </a:moveTo>
                <a:lnTo>
                  <a:pt x="2043112" y="712787"/>
                </a:lnTo>
                <a:lnTo>
                  <a:pt x="2047875" y="708025"/>
                </a:lnTo>
                <a:lnTo>
                  <a:pt x="2052637" y="708025"/>
                </a:lnTo>
                <a:lnTo>
                  <a:pt x="2052637" y="7127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503352" y="2060257"/>
            <a:ext cx="1884680" cy="636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195" marR="5080" indent="-2413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Symbol"/>
                <a:cs typeface="Symbol"/>
              </a:rPr>
              <a:t>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ahoma"/>
                <a:cs typeface="Tahoma"/>
              </a:rPr>
              <a:t>means “reads  </a:t>
            </a:r>
            <a:r>
              <a:rPr sz="2000" spc="-10" dirty="0">
                <a:latin typeface="Tahoma"/>
                <a:cs typeface="Tahoma"/>
              </a:rPr>
              <a:t>value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produced”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11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7</a:t>
            </a:fld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891540"/>
            <a:ext cx="19475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Definition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11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473950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Schedule S</a:t>
            </a:r>
            <a:r>
              <a:rPr sz="2400" spc="-5" dirty="0">
                <a:latin typeface="Tahoma"/>
                <a:cs typeface="Tahoma"/>
              </a:rPr>
              <a:t>1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View Serializable</a:t>
            </a:r>
            <a:r>
              <a:rPr sz="3200" spc="-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if it </a:t>
            </a:r>
            <a:r>
              <a:rPr sz="3200" spc="-5" dirty="0">
                <a:latin typeface="Tahoma"/>
                <a:cs typeface="Tahoma"/>
              </a:rPr>
              <a:t>is  view </a:t>
            </a:r>
            <a:r>
              <a:rPr sz="3200" spc="-10" dirty="0">
                <a:latin typeface="Tahoma"/>
                <a:cs typeface="Tahoma"/>
              </a:rPr>
              <a:t>equivalent </a:t>
            </a:r>
            <a:r>
              <a:rPr sz="3200" spc="-5" dirty="0">
                <a:latin typeface="Tahoma"/>
                <a:cs typeface="Tahoma"/>
              </a:rPr>
              <a:t>to some serial schedule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742124"/>
            <a:ext cx="2030730" cy="1195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900"/>
              </a:lnSpc>
              <a:spcBef>
                <a:spcPts val="100"/>
              </a:spcBef>
            </a:pPr>
            <a:r>
              <a:rPr sz="3200" spc="-5" dirty="0">
                <a:latin typeface="Tahoma"/>
                <a:cs typeface="Tahoma"/>
              </a:rPr>
              <a:t>View  </a:t>
            </a:r>
            <a:r>
              <a:rPr sz="3200" dirty="0">
                <a:latin typeface="Tahoma"/>
                <a:cs typeface="Tahoma"/>
              </a:rPr>
              <a:t>S</a:t>
            </a:r>
            <a:r>
              <a:rPr sz="3200" spc="-5" dirty="0">
                <a:latin typeface="Tahoma"/>
                <a:cs typeface="Tahoma"/>
              </a:rPr>
              <a:t>e</a:t>
            </a:r>
            <a:r>
              <a:rPr sz="3200" dirty="0">
                <a:latin typeface="Tahoma"/>
                <a:cs typeface="Tahoma"/>
              </a:rPr>
              <a:t>r</a:t>
            </a:r>
            <a:r>
              <a:rPr sz="3200" spc="-5" dirty="0">
                <a:latin typeface="Tahoma"/>
                <a:cs typeface="Tahoma"/>
              </a:rPr>
              <a:t>ializabl</a:t>
            </a:r>
            <a:r>
              <a:rPr sz="3200" dirty="0">
                <a:latin typeface="Tahoma"/>
                <a:cs typeface="Tahoma"/>
              </a:rPr>
              <a:t>e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63540" y="742124"/>
            <a:ext cx="2030730" cy="1195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900"/>
              </a:lnSpc>
              <a:spcBef>
                <a:spcPts val="100"/>
              </a:spcBef>
            </a:pPr>
            <a:r>
              <a:rPr sz="3200" spc="-5" dirty="0">
                <a:latin typeface="Tahoma"/>
                <a:cs typeface="Tahoma"/>
              </a:rPr>
              <a:t>Conflict  </a:t>
            </a:r>
            <a:r>
              <a:rPr sz="3200" dirty="0">
                <a:latin typeface="Tahoma"/>
                <a:cs typeface="Tahoma"/>
              </a:rPr>
              <a:t>S</a:t>
            </a:r>
            <a:r>
              <a:rPr sz="3200" spc="-5" dirty="0">
                <a:latin typeface="Tahoma"/>
                <a:cs typeface="Tahoma"/>
              </a:rPr>
              <a:t>e</a:t>
            </a:r>
            <a:r>
              <a:rPr sz="3200" dirty="0">
                <a:latin typeface="Tahoma"/>
                <a:cs typeface="Tahoma"/>
              </a:rPr>
              <a:t>r</a:t>
            </a:r>
            <a:r>
              <a:rPr sz="3200" spc="-5" dirty="0">
                <a:latin typeface="Tahoma"/>
                <a:cs typeface="Tahoma"/>
              </a:rPr>
              <a:t>ializabl</a:t>
            </a:r>
            <a:r>
              <a:rPr sz="3200" dirty="0">
                <a:latin typeface="Tahoma"/>
                <a:cs typeface="Tahoma"/>
              </a:rPr>
              <a:t>e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36402" y="1029335"/>
            <a:ext cx="2184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ahoma"/>
                <a:cs typeface="Tahoma"/>
              </a:rPr>
              <a:t>?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14662" y="1265237"/>
            <a:ext cx="685800" cy="76200"/>
          </a:xfrm>
          <a:custGeom>
            <a:avLst/>
            <a:gdLst/>
            <a:ahLst/>
            <a:cxnLst/>
            <a:rect l="l" t="t" r="r" b="b"/>
            <a:pathLst>
              <a:path w="6858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  <a:lnTo>
                  <a:pt x="76200" y="33337"/>
                </a:lnTo>
                <a:lnTo>
                  <a:pt x="57150" y="33337"/>
                </a:lnTo>
                <a:lnTo>
                  <a:pt x="57150" y="42862"/>
                </a:lnTo>
                <a:lnTo>
                  <a:pt x="76200" y="42862"/>
                </a:lnTo>
                <a:lnTo>
                  <a:pt x="76200" y="76200"/>
                </a:lnTo>
                <a:close/>
              </a:path>
              <a:path w="685800" h="76200">
                <a:moveTo>
                  <a:pt x="76200" y="42862"/>
                </a:moveTo>
                <a:lnTo>
                  <a:pt x="57150" y="42862"/>
                </a:lnTo>
                <a:lnTo>
                  <a:pt x="57150" y="33337"/>
                </a:lnTo>
                <a:lnTo>
                  <a:pt x="76200" y="33337"/>
                </a:lnTo>
                <a:lnTo>
                  <a:pt x="76200" y="42862"/>
                </a:lnTo>
                <a:close/>
              </a:path>
              <a:path w="685800" h="76200">
                <a:moveTo>
                  <a:pt x="685800" y="42862"/>
                </a:moveTo>
                <a:lnTo>
                  <a:pt x="76200" y="42862"/>
                </a:lnTo>
                <a:lnTo>
                  <a:pt x="76200" y="33337"/>
                </a:lnTo>
                <a:lnTo>
                  <a:pt x="685800" y="33337"/>
                </a:lnTo>
                <a:lnTo>
                  <a:pt x="685800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38662" y="1265237"/>
            <a:ext cx="685800" cy="76200"/>
          </a:xfrm>
          <a:custGeom>
            <a:avLst/>
            <a:gdLst/>
            <a:ahLst/>
            <a:cxnLst/>
            <a:rect l="l" t="t" r="r" b="b"/>
            <a:pathLst>
              <a:path w="685800" h="76200">
                <a:moveTo>
                  <a:pt x="609600" y="76200"/>
                </a:moveTo>
                <a:lnTo>
                  <a:pt x="609600" y="0"/>
                </a:lnTo>
                <a:lnTo>
                  <a:pt x="676275" y="33337"/>
                </a:lnTo>
                <a:lnTo>
                  <a:pt x="628650" y="33337"/>
                </a:lnTo>
                <a:lnTo>
                  <a:pt x="628650" y="42862"/>
                </a:lnTo>
                <a:lnTo>
                  <a:pt x="676275" y="42862"/>
                </a:lnTo>
                <a:lnTo>
                  <a:pt x="609600" y="76200"/>
                </a:lnTo>
                <a:close/>
              </a:path>
              <a:path w="685800" h="76200">
                <a:moveTo>
                  <a:pt x="609600" y="42862"/>
                </a:moveTo>
                <a:lnTo>
                  <a:pt x="0" y="42862"/>
                </a:lnTo>
                <a:lnTo>
                  <a:pt x="0" y="33337"/>
                </a:lnTo>
                <a:lnTo>
                  <a:pt x="609600" y="33337"/>
                </a:lnTo>
                <a:lnTo>
                  <a:pt x="609600" y="42862"/>
                </a:lnTo>
                <a:close/>
              </a:path>
              <a:path w="685800" h="76200">
                <a:moveTo>
                  <a:pt x="676275" y="42862"/>
                </a:moveTo>
                <a:lnTo>
                  <a:pt x="628650" y="42862"/>
                </a:lnTo>
                <a:lnTo>
                  <a:pt x="628650" y="33337"/>
                </a:lnTo>
                <a:lnTo>
                  <a:pt x="676275" y="33337"/>
                </a:lnTo>
                <a:lnTo>
                  <a:pt x="685800" y="38100"/>
                </a:lnTo>
                <a:lnTo>
                  <a:pt x="676275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032872" y="2670987"/>
            <a:ext cx="313690" cy="538480"/>
          </a:xfrm>
          <a:custGeom>
            <a:avLst/>
            <a:gdLst/>
            <a:ahLst/>
            <a:cxnLst/>
            <a:rect l="l" t="t" r="r" b="b"/>
            <a:pathLst>
              <a:path w="313689" h="538480">
                <a:moveTo>
                  <a:pt x="8280" y="538124"/>
                </a:moveTo>
                <a:lnTo>
                  <a:pt x="0" y="533400"/>
                </a:lnTo>
                <a:lnTo>
                  <a:pt x="304800" y="0"/>
                </a:lnTo>
                <a:lnTo>
                  <a:pt x="313080" y="4724"/>
                </a:lnTo>
                <a:lnTo>
                  <a:pt x="8280" y="5381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53390" y="2563304"/>
            <a:ext cx="7696834" cy="2365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9100" marR="170180" indent="-419100">
              <a:lnSpc>
                <a:spcPct val="120100"/>
              </a:lnSpc>
              <a:spcBef>
                <a:spcPts val="95"/>
              </a:spcBef>
              <a:buChar char="•"/>
              <a:tabLst>
                <a:tab pos="419100" algn="l"/>
              </a:tabLst>
            </a:pPr>
            <a:r>
              <a:rPr sz="3200" spc="-5" dirty="0">
                <a:latin typeface="Tahoma"/>
                <a:cs typeface="Tahoma"/>
              </a:rPr>
              <a:t>View Serializable </a:t>
            </a:r>
            <a:r>
              <a:rPr sz="3200" dirty="0">
                <a:latin typeface="Symbol"/>
                <a:cs typeface="Symbol"/>
              </a:rPr>
              <a:t>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ahoma"/>
                <a:cs typeface="Tahoma"/>
              </a:rPr>
              <a:t>Conflict Serializable  </a:t>
            </a:r>
            <a:r>
              <a:rPr sz="3200" spc="-45" dirty="0">
                <a:latin typeface="Tahoma"/>
                <a:cs typeface="Tahoma"/>
              </a:rPr>
              <a:t>e.g., </a:t>
            </a:r>
            <a:r>
              <a:rPr sz="3200" dirty="0">
                <a:latin typeface="Tahoma"/>
                <a:cs typeface="Tahoma"/>
              </a:rPr>
              <a:t>See </a:t>
            </a:r>
            <a:r>
              <a:rPr sz="3200" spc="-5" dirty="0">
                <a:latin typeface="Tahoma"/>
                <a:cs typeface="Tahoma"/>
              </a:rPr>
              <a:t>Schedule</a:t>
            </a:r>
            <a:r>
              <a:rPr sz="3200" spc="2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Q</a:t>
            </a:r>
          </a:p>
          <a:p>
            <a:pPr>
              <a:lnSpc>
                <a:spcPct val="100000"/>
              </a:lnSpc>
              <a:spcBef>
                <a:spcPts val="55"/>
              </a:spcBef>
              <a:buFont typeface="Tahoma"/>
              <a:buChar char="•"/>
            </a:pPr>
            <a:endParaRPr sz="4400" dirty="0">
              <a:latin typeface="Tahoma"/>
              <a:cs typeface="Tahoma"/>
            </a:endParaRPr>
          </a:p>
          <a:p>
            <a:pPr marL="419100" indent="-342900">
              <a:lnSpc>
                <a:spcPts val="1920"/>
              </a:lnSpc>
              <a:buChar char="•"/>
              <a:tabLst>
                <a:tab pos="419100" algn="l"/>
                <a:tab pos="4074795" algn="l"/>
                <a:tab pos="4662170" algn="l"/>
              </a:tabLst>
            </a:pPr>
            <a:r>
              <a:rPr sz="3200" spc="-5" dirty="0">
                <a:latin typeface="Tahoma"/>
                <a:cs typeface="Tahoma"/>
              </a:rPr>
              <a:t>Conflict</a:t>
            </a:r>
            <a:r>
              <a:rPr sz="3200" spc="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Serializable	</a:t>
            </a:r>
            <a:r>
              <a:rPr sz="4800" baseline="34722" dirty="0">
                <a:latin typeface="Tahoma"/>
                <a:cs typeface="Tahoma"/>
              </a:rPr>
              <a:t>?	</a:t>
            </a:r>
            <a:r>
              <a:rPr sz="3200" spc="-5" dirty="0">
                <a:latin typeface="Tahoma"/>
                <a:cs typeface="Tahoma"/>
              </a:rPr>
              <a:t>View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Serializable</a:t>
            </a:r>
            <a:endParaRPr sz="3200" dirty="0">
              <a:latin typeface="Tahoma"/>
              <a:cs typeface="Tahoma"/>
            </a:endParaRPr>
          </a:p>
          <a:p>
            <a:pPr marL="720090" algn="ctr">
              <a:lnSpc>
                <a:spcPts val="1920"/>
              </a:lnSpc>
            </a:pPr>
            <a:r>
              <a:rPr sz="3200" dirty="0">
                <a:latin typeface="Symbol"/>
                <a:cs typeface="Symbol"/>
              </a:rPr>
              <a:t>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11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9</a:t>
            </a:fld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15017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L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emma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11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1044"/>
            <a:ext cx="7303770" cy="3392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Conflict Serializable </a:t>
            </a:r>
            <a:r>
              <a:rPr sz="3200" dirty="0">
                <a:latin typeface="Symbol"/>
                <a:cs typeface="Symbol"/>
              </a:rPr>
              <a:t>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ahoma"/>
                <a:cs typeface="Tahoma"/>
              </a:rPr>
              <a:t>View</a:t>
            </a:r>
            <a:r>
              <a:rPr sz="3200" spc="20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Serializable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4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36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Proof:</a:t>
            </a:r>
            <a:endParaRPr sz="3600">
              <a:latin typeface="Tahoma"/>
              <a:cs typeface="Tahoma"/>
            </a:endParaRPr>
          </a:p>
          <a:p>
            <a:pPr marL="355600" marR="5080" indent="-342900" algn="just">
              <a:lnSpc>
                <a:spcPct val="103400"/>
              </a:lnSpc>
              <a:spcBef>
                <a:spcPts val="955"/>
              </a:spcBef>
            </a:pPr>
            <a:r>
              <a:rPr sz="32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3200" u="heavy" spc="29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ahoma"/>
                <a:cs typeface="Tahoma"/>
              </a:rPr>
              <a:t>Swapping </a:t>
            </a:r>
            <a:r>
              <a:rPr sz="3200" spc="-5" dirty="0">
                <a:latin typeface="Tahoma"/>
                <a:cs typeface="Tahoma"/>
              </a:rPr>
              <a:t>non-conflicting actions does  not change what </a:t>
            </a:r>
            <a:r>
              <a:rPr sz="3200" spc="-10" dirty="0">
                <a:latin typeface="Tahoma"/>
                <a:cs typeface="Tahoma"/>
              </a:rPr>
              <a:t>transactions </a:t>
            </a:r>
            <a:r>
              <a:rPr sz="3200" spc="-5" dirty="0">
                <a:latin typeface="Tahoma"/>
                <a:cs typeface="Tahoma"/>
              </a:rPr>
              <a:t>read nor  final </a:t>
            </a:r>
            <a:r>
              <a:rPr sz="3200" dirty="0">
                <a:latin typeface="Tahoma"/>
                <a:cs typeface="Tahoma"/>
              </a:rPr>
              <a:t>DB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state</a:t>
            </a:r>
            <a:endParaRPr sz="3200">
              <a:latin typeface="Tahoma"/>
              <a:cs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0CF4A49D-1476-D743-BD59-6C000056B28B}"/>
                  </a:ext>
                </a:extLst>
              </p14:cNvPr>
              <p14:cNvContentPartPr/>
              <p14:nvPr/>
            </p14:nvContentPartPr>
            <p14:xfrm>
              <a:off x="786684" y="2117729"/>
              <a:ext cx="7048440" cy="38556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0CF4A49D-1476-D743-BD59-6C000056B2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3044" y="2010089"/>
                <a:ext cx="7156080" cy="601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19200" y="1828800"/>
            <a:ext cx="6172200" cy="4114800"/>
          </a:xfrm>
          <a:custGeom>
            <a:avLst/>
            <a:gdLst/>
            <a:ahLst/>
            <a:cxnLst/>
            <a:rect l="l" t="t" r="r" b="b"/>
            <a:pathLst>
              <a:path w="6172200" h="4114800">
                <a:moveTo>
                  <a:pt x="0" y="0"/>
                </a:moveTo>
                <a:lnTo>
                  <a:pt x="6172200" y="0"/>
                </a:lnTo>
                <a:lnTo>
                  <a:pt x="6172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14437" y="1824037"/>
            <a:ext cx="6181725" cy="4124325"/>
          </a:xfrm>
          <a:custGeom>
            <a:avLst/>
            <a:gdLst/>
            <a:ahLst/>
            <a:cxnLst/>
            <a:rect l="l" t="t" r="r" b="b"/>
            <a:pathLst>
              <a:path w="6181725" h="4124325">
                <a:moveTo>
                  <a:pt x="6181725" y="4124325"/>
                </a:moveTo>
                <a:lnTo>
                  <a:pt x="0" y="4124325"/>
                </a:lnTo>
                <a:lnTo>
                  <a:pt x="0" y="0"/>
                </a:lnTo>
                <a:lnTo>
                  <a:pt x="6181725" y="0"/>
                </a:lnTo>
                <a:lnTo>
                  <a:pt x="6181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114800"/>
                </a:lnTo>
                <a:lnTo>
                  <a:pt x="4762" y="4114800"/>
                </a:lnTo>
                <a:lnTo>
                  <a:pt x="9525" y="4119562"/>
                </a:lnTo>
                <a:lnTo>
                  <a:pt x="6181725" y="4119562"/>
                </a:lnTo>
                <a:lnTo>
                  <a:pt x="6181725" y="4124325"/>
                </a:lnTo>
                <a:close/>
              </a:path>
              <a:path w="6181725" h="41243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181725" h="4124325">
                <a:moveTo>
                  <a:pt x="6172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172200" y="4762"/>
                </a:lnTo>
                <a:lnTo>
                  <a:pt x="6172200" y="9525"/>
                </a:lnTo>
                <a:close/>
              </a:path>
              <a:path w="6181725" h="4124325">
                <a:moveTo>
                  <a:pt x="6172200" y="4119562"/>
                </a:moveTo>
                <a:lnTo>
                  <a:pt x="6172200" y="4762"/>
                </a:lnTo>
                <a:lnTo>
                  <a:pt x="6176962" y="9525"/>
                </a:lnTo>
                <a:lnTo>
                  <a:pt x="6181725" y="9525"/>
                </a:lnTo>
                <a:lnTo>
                  <a:pt x="6181725" y="4114800"/>
                </a:lnTo>
                <a:lnTo>
                  <a:pt x="6176962" y="4114800"/>
                </a:lnTo>
                <a:lnTo>
                  <a:pt x="6172200" y="4119562"/>
                </a:lnTo>
                <a:close/>
              </a:path>
              <a:path w="6181725" h="4124325">
                <a:moveTo>
                  <a:pt x="6181725" y="9525"/>
                </a:moveTo>
                <a:lnTo>
                  <a:pt x="6176962" y="9525"/>
                </a:lnTo>
                <a:lnTo>
                  <a:pt x="6172200" y="4762"/>
                </a:lnTo>
                <a:lnTo>
                  <a:pt x="6181725" y="4762"/>
                </a:lnTo>
                <a:lnTo>
                  <a:pt x="6181725" y="9525"/>
                </a:lnTo>
                <a:close/>
              </a:path>
              <a:path w="6181725" h="4124325">
                <a:moveTo>
                  <a:pt x="9525" y="4119562"/>
                </a:moveTo>
                <a:lnTo>
                  <a:pt x="4762" y="4114800"/>
                </a:lnTo>
                <a:lnTo>
                  <a:pt x="9525" y="4114800"/>
                </a:lnTo>
                <a:lnTo>
                  <a:pt x="9525" y="4119562"/>
                </a:lnTo>
                <a:close/>
              </a:path>
              <a:path w="6181725" h="4124325">
                <a:moveTo>
                  <a:pt x="6172200" y="4119562"/>
                </a:moveTo>
                <a:lnTo>
                  <a:pt x="9525" y="4119562"/>
                </a:lnTo>
                <a:lnTo>
                  <a:pt x="9525" y="4114800"/>
                </a:lnTo>
                <a:lnTo>
                  <a:pt x="6172200" y="4114800"/>
                </a:lnTo>
                <a:lnTo>
                  <a:pt x="6172200" y="4119562"/>
                </a:lnTo>
                <a:close/>
              </a:path>
              <a:path w="6181725" h="4124325">
                <a:moveTo>
                  <a:pt x="6181725" y="4119562"/>
                </a:moveTo>
                <a:lnTo>
                  <a:pt x="6172200" y="4119562"/>
                </a:lnTo>
                <a:lnTo>
                  <a:pt x="6176962" y="4114800"/>
                </a:lnTo>
                <a:lnTo>
                  <a:pt x="6181725" y="4114800"/>
                </a:lnTo>
                <a:lnTo>
                  <a:pt x="6181725" y="41195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09800" y="2895600"/>
            <a:ext cx="4191000" cy="2667000"/>
          </a:xfrm>
          <a:custGeom>
            <a:avLst/>
            <a:gdLst/>
            <a:ahLst/>
            <a:cxnLst/>
            <a:rect l="l" t="t" r="r" b="b"/>
            <a:pathLst>
              <a:path w="4191000" h="2667000">
                <a:moveTo>
                  <a:pt x="0" y="0"/>
                </a:moveTo>
                <a:lnTo>
                  <a:pt x="4191000" y="0"/>
                </a:lnTo>
                <a:lnTo>
                  <a:pt x="4191000" y="2667000"/>
                </a:lnTo>
                <a:lnTo>
                  <a:pt x="0" y="2667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05037" y="2890837"/>
            <a:ext cx="4200525" cy="2676525"/>
          </a:xfrm>
          <a:custGeom>
            <a:avLst/>
            <a:gdLst/>
            <a:ahLst/>
            <a:cxnLst/>
            <a:rect l="l" t="t" r="r" b="b"/>
            <a:pathLst>
              <a:path w="4200525" h="2676525">
                <a:moveTo>
                  <a:pt x="4200525" y="2676525"/>
                </a:moveTo>
                <a:lnTo>
                  <a:pt x="0" y="2676525"/>
                </a:lnTo>
                <a:lnTo>
                  <a:pt x="0" y="0"/>
                </a:lnTo>
                <a:lnTo>
                  <a:pt x="4200525" y="0"/>
                </a:lnTo>
                <a:lnTo>
                  <a:pt x="4200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667000"/>
                </a:lnTo>
                <a:lnTo>
                  <a:pt x="4762" y="2667000"/>
                </a:lnTo>
                <a:lnTo>
                  <a:pt x="9525" y="2671762"/>
                </a:lnTo>
                <a:lnTo>
                  <a:pt x="4200525" y="2671762"/>
                </a:lnTo>
                <a:lnTo>
                  <a:pt x="4200525" y="2676525"/>
                </a:lnTo>
                <a:close/>
              </a:path>
              <a:path w="4200525" h="2676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200525" h="2676525">
                <a:moveTo>
                  <a:pt x="4191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191000" y="4762"/>
                </a:lnTo>
                <a:lnTo>
                  <a:pt x="4191000" y="9525"/>
                </a:lnTo>
                <a:close/>
              </a:path>
              <a:path w="4200525" h="2676525">
                <a:moveTo>
                  <a:pt x="4191000" y="2671762"/>
                </a:moveTo>
                <a:lnTo>
                  <a:pt x="4191000" y="4762"/>
                </a:lnTo>
                <a:lnTo>
                  <a:pt x="4195762" y="9525"/>
                </a:lnTo>
                <a:lnTo>
                  <a:pt x="4200525" y="9525"/>
                </a:lnTo>
                <a:lnTo>
                  <a:pt x="4200525" y="2667000"/>
                </a:lnTo>
                <a:lnTo>
                  <a:pt x="4195762" y="2667000"/>
                </a:lnTo>
                <a:lnTo>
                  <a:pt x="4191000" y="2671762"/>
                </a:lnTo>
                <a:close/>
              </a:path>
              <a:path w="4200525" h="2676525">
                <a:moveTo>
                  <a:pt x="4200525" y="9525"/>
                </a:moveTo>
                <a:lnTo>
                  <a:pt x="4195762" y="9525"/>
                </a:lnTo>
                <a:lnTo>
                  <a:pt x="4191000" y="4762"/>
                </a:lnTo>
                <a:lnTo>
                  <a:pt x="4200525" y="4762"/>
                </a:lnTo>
                <a:lnTo>
                  <a:pt x="4200525" y="9525"/>
                </a:lnTo>
                <a:close/>
              </a:path>
              <a:path w="4200525" h="2676525">
                <a:moveTo>
                  <a:pt x="9525" y="2671762"/>
                </a:moveTo>
                <a:lnTo>
                  <a:pt x="4762" y="2667000"/>
                </a:lnTo>
                <a:lnTo>
                  <a:pt x="9525" y="2667000"/>
                </a:lnTo>
                <a:lnTo>
                  <a:pt x="9525" y="2671762"/>
                </a:lnTo>
                <a:close/>
              </a:path>
              <a:path w="4200525" h="2676525">
                <a:moveTo>
                  <a:pt x="4191000" y="2671762"/>
                </a:moveTo>
                <a:lnTo>
                  <a:pt x="9525" y="2671762"/>
                </a:lnTo>
                <a:lnTo>
                  <a:pt x="9525" y="2667000"/>
                </a:lnTo>
                <a:lnTo>
                  <a:pt x="4191000" y="2667000"/>
                </a:lnTo>
                <a:lnTo>
                  <a:pt x="4191000" y="2671762"/>
                </a:lnTo>
                <a:close/>
              </a:path>
              <a:path w="4200525" h="2676525">
                <a:moveTo>
                  <a:pt x="4200525" y="2671762"/>
                </a:moveTo>
                <a:lnTo>
                  <a:pt x="4191000" y="2671762"/>
                </a:lnTo>
                <a:lnTo>
                  <a:pt x="4195762" y="2667000"/>
                </a:lnTo>
                <a:lnTo>
                  <a:pt x="4200525" y="2667000"/>
                </a:lnTo>
                <a:lnTo>
                  <a:pt x="4200525" y="2671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24200" y="3733800"/>
            <a:ext cx="2438400" cy="1219200"/>
          </a:xfrm>
          <a:custGeom>
            <a:avLst/>
            <a:gdLst/>
            <a:ahLst/>
            <a:cxnLst/>
            <a:rect l="l" t="t" r="r" b="b"/>
            <a:pathLst>
              <a:path w="2438400" h="1219200">
                <a:moveTo>
                  <a:pt x="0" y="0"/>
                </a:moveTo>
                <a:lnTo>
                  <a:pt x="2438400" y="0"/>
                </a:lnTo>
                <a:lnTo>
                  <a:pt x="24384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119437" y="3729037"/>
            <a:ext cx="2447925" cy="1228725"/>
          </a:xfrm>
          <a:custGeom>
            <a:avLst/>
            <a:gdLst/>
            <a:ahLst/>
            <a:cxnLst/>
            <a:rect l="l" t="t" r="r" b="b"/>
            <a:pathLst>
              <a:path w="2447925" h="1228725">
                <a:moveTo>
                  <a:pt x="2447925" y="1228725"/>
                </a:moveTo>
                <a:lnTo>
                  <a:pt x="0" y="1228725"/>
                </a:lnTo>
                <a:lnTo>
                  <a:pt x="0" y="0"/>
                </a:lnTo>
                <a:lnTo>
                  <a:pt x="2447925" y="0"/>
                </a:lnTo>
                <a:lnTo>
                  <a:pt x="2447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219200"/>
                </a:lnTo>
                <a:lnTo>
                  <a:pt x="4762" y="1219200"/>
                </a:lnTo>
                <a:lnTo>
                  <a:pt x="9525" y="1223962"/>
                </a:lnTo>
                <a:lnTo>
                  <a:pt x="2447925" y="1223962"/>
                </a:lnTo>
                <a:lnTo>
                  <a:pt x="2447925" y="1228725"/>
                </a:lnTo>
                <a:close/>
              </a:path>
              <a:path w="2447925" h="1228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447925" h="1228725">
                <a:moveTo>
                  <a:pt x="2438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438400" y="4762"/>
                </a:lnTo>
                <a:lnTo>
                  <a:pt x="2438400" y="9525"/>
                </a:lnTo>
                <a:close/>
              </a:path>
              <a:path w="2447925" h="1228725">
                <a:moveTo>
                  <a:pt x="2438400" y="1223962"/>
                </a:moveTo>
                <a:lnTo>
                  <a:pt x="2438400" y="4762"/>
                </a:lnTo>
                <a:lnTo>
                  <a:pt x="2443162" y="9525"/>
                </a:lnTo>
                <a:lnTo>
                  <a:pt x="2447925" y="9525"/>
                </a:lnTo>
                <a:lnTo>
                  <a:pt x="2447925" y="1219200"/>
                </a:lnTo>
                <a:lnTo>
                  <a:pt x="2443162" y="1219200"/>
                </a:lnTo>
                <a:lnTo>
                  <a:pt x="2438400" y="1223962"/>
                </a:lnTo>
                <a:close/>
              </a:path>
              <a:path w="2447925" h="1228725">
                <a:moveTo>
                  <a:pt x="2447925" y="9525"/>
                </a:moveTo>
                <a:lnTo>
                  <a:pt x="2443162" y="9525"/>
                </a:lnTo>
                <a:lnTo>
                  <a:pt x="2438400" y="4762"/>
                </a:lnTo>
                <a:lnTo>
                  <a:pt x="2447925" y="4762"/>
                </a:lnTo>
                <a:lnTo>
                  <a:pt x="2447925" y="9525"/>
                </a:lnTo>
                <a:close/>
              </a:path>
              <a:path w="2447925" h="1228725">
                <a:moveTo>
                  <a:pt x="9525" y="1223962"/>
                </a:moveTo>
                <a:lnTo>
                  <a:pt x="4762" y="1219200"/>
                </a:lnTo>
                <a:lnTo>
                  <a:pt x="9525" y="1219200"/>
                </a:lnTo>
                <a:lnTo>
                  <a:pt x="9525" y="1223962"/>
                </a:lnTo>
                <a:close/>
              </a:path>
              <a:path w="2447925" h="1228725">
                <a:moveTo>
                  <a:pt x="2438400" y="1223962"/>
                </a:moveTo>
                <a:lnTo>
                  <a:pt x="9525" y="1223962"/>
                </a:lnTo>
                <a:lnTo>
                  <a:pt x="9525" y="1219200"/>
                </a:lnTo>
                <a:lnTo>
                  <a:pt x="2438400" y="1219200"/>
                </a:lnTo>
                <a:lnTo>
                  <a:pt x="2438400" y="1223962"/>
                </a:lnTo>
                <a:close/>
              </a:path>
              <a:path w="2447925" h="1228725">
                <a:moveTo>
                  <a:pt x="2447925" y="1223962"/>
                </a:moveTo>
                <a:lnTo>
                  <a:pt x="2438400" y="1223962"/>
                </a:lnTo>
                <a:lnTo>
                  <a:pt x="2443162" y="1219200"/>
                </a:lnTo>
                <a:lnTo>
                  <a:pt x="2447925" y="1219200"/>
                </a:lnTo>
                <a:lnTo>
                  <a:pt x="2447925" y="1223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05802" y="538797"/>
            <a:ext cx="25450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heavy" spc="-40" dirty="0">
                <a:uFill>
                  <a:solidFill>
                    <a:srgbClr val="000000"/>
                  </a:solidFill>
                </a:uFill>
              </a:rPr>
              <a:t>Venn</a:t>
            </a:r>
            <a:r>
              <a:rPr u="heavy" spc="-8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spc="-10" dirty="0">
                <a:uFill>
                  <a:solidFill>
                    <a:srgbClr val="000000"/>
                  </a:solidFill>
                </a:uFill>
              </a:rPr>
              <a:t>Diagram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11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1219200" y="2000059"/>
            <a:ext cx="6172200" cy="2745740"/>
          </a:xfrm>
          <a:prstGeom prst="rect">
            <a:avLst/>
          </a:prstGeom>
        </p:spPr>
        <p:txBody>
          <a:bodyPr vert="horz" wrap="square" lIns="0" tIns="254635" rIns="0" bIns="0" rtlCol="0">
            <a:spAutoFit/>
          </a:bodyPr>
          <a:lstStyle/>
          <a:p>
            <a:pPr marL="320040">
              <a:lnSpc>
                <a:spcPct val="100000"/>
              </a:lnSpc>
              <a:spcBef>
                <a:spcPts val="2005"/>
              </a:spcBef>
            </a:pPr>
            <a:r>
              <a:rPr sz="3200" dirty="0">
                <a:latin typeface="Tahoma"/>
                <a:cs typeface="Tahoma"/>
              </a:rPr>
              <a:t>All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schedules</a:t>
            </a:r>
            <a:endParaRPr sz="3200">
              <a:latin typeface="Tahoma"/>
              <a:cs typeface="Tahoma"/>
            </a:endParaRPr>
          </a:p>
          <a:p>
            <a:pPr marL="1233805">
              <a:lnSpc>
                <a:spcPct val="100000"/>
              </a:lnSpc>
              <a:spcBef>
                <a:spcPts val="1910"/>
              </a:spcBef>
            </a:pPr>
            <a:r>
              <a:rPr sz="3200" spc="-5" dirty="0">
                <a:latin typeface="Tahoma"/>
                <a:cs typeface="Tahoma"/>
              </a:rPr>
              <a:t>View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Serializable</a:t>
            </a:r>
            <a:endParaRPr sz="3200">
              <a:latin typeface="Tahoma"/>
              <a:cs typeface="Tahoma"/>
            </a:endParaRPr>
          </a:p>
          <a:p>
            <a:pPr marL="2148840" marR="2010410">
              <a:lnSpc>
                <a:spcPct val="108300"/>
              </a:lnSpc>
              <a:spcBef>
                <a:spcPts val="1605"/>
              </a:spcBef>
            </a:pPr>
            <a:r>
              <a:rPr sz="3200" spc="-5" dirty="0">
                <a:latin typeface="Tahoma"/>
                <a:cs typeface="Tahoma"/>
              </a:rPr>
              <a:t>Conflict  </a:t>
            </a:r>
            <a:r>
              <a:rPr sz="3200" dirty="0">
                <a:latin typeface="Tahoma"/>
                <a:cs typeface="Tahoma"/>
              </a:rPr>
              <a:t>S</a:t>
            </a:r>
            <a:r>
              <a:rPr sz="3200" spc="-5" dirty="0">
                <a:latin typeface="Tahoma"/>
                <a:cs typeface="Tahoma"/>
              </a:rPr>
              <a:t>e</a:t>
            </a:r>
            <a:r>
              <a:rPr sz="3200" dirty="0">
                <a:latin typeface="Tahoma"/>
                <a:cs typeface="Tahoma"/>
              </a:rPr>
              <a:t>r</a:t>
            </a:r>
            <a:r>
              <a:rPr sz="3200" spc="-5" dirty="0">
                <a:latin typeface="Tahoma"/>
                <a:cs typeface="Tahoma"/>
              </a:rPr>
              <a:t>ializabl</a:t>
            </a:r>
            <a:r>
              <a:rPr sz="3200" dirty="0">
                <a:latin typeface="Tahoma"/>
                <a:cs typeface="Tahoma"/>
              </a:rPr>
              <a:t>e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747712"/>
            <a:ext cx="7307580" cy="1489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Note: </a:t>
            </a:r>
            <a:r>
              <a:rPr dirty="0"/>
              <a:t>All </a:t>
            </a:r>
            <a:r>
              <a:rPr spc="-5" dirty="0"/>
              <a:t>view serializable schedules that  </a:t>
            </a:r>
            <a:r>
              <a:rPr spc="-10" dirty="0"/>
              <a:t>are </a:t>
            </a:r>
            <a:r>
              <a:rPr u="heavy" spc="-5" dirty="0">
                <a:uFill>
                  <a:solidFill>
                    <a:srgbClr val="000000"/>
                  </a:solidFill>
                </a:uFill>
              </a:rPr>
              <a:t>not</a:t>
            </a:r>
            <a:r>
              <a:rPr spc="-5" dirty="0"/>
              <a:t> conflict serializable, </a:t>
            </a:r>
            <a:r>
              <a:rPr spc="-15" dirty="0"/>
              <a:t>involve  </a:t>
            </a:r>
            <a:r>
              <a:rPr u="heavy" spc="-5" dirty="0">
                <a:uFill>
                  <a:solidFill>
                    <a:srgbClr val="000000"/>
                  </a:solidFill>
                </a:uFill>
              </a:rPr>
              <a:t>useless</a:t>
            </a:r>
            <a:r>
              <a:rPr u="heavy" spc="-1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000000"/>
                  </a:solidFill>
                </a:uFill>
              </a:rPr>
              <a:t>write</a:t>
            </a:r>
          </a:p>
        </p:txBody>
      </p:sp>
      <p:sp>
        <p:nvSpPr>
          <p:cNvPr id="3" name="object 3"/>
          <p:cNvSpPr/>
          <p:nvPr/>
        </p:nvSpPr>
        <p:spPr>
          <a:xfrm>
            <a:off x="3116262" y="3425825"/>
            <a:ext cx="909955" cy="76200"/>
          </a:xfrm>
          <a:custGeom>
            <a:avLst/>
            <a:gdLst/>
            <a:ahLst/>
            <a:cxnLst/>
            <a:rect l="l" t="t" r="r" b="b"/>
            <a:pathLst>
              <a:path w="909954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  <a:lnTo>
                  <a:pt x="76200" y="33337"/>
                </a:lnTo>
                <a:lnTo>
                  <a:pt x="57150" y="33337"/>
                </a:lnTo>
                <a:lnTo>
                  <a:pt x="57150" y="42862"/>
                </a:lnTo>
                <a:lnTo>
                  <a:pt x="76200" y="42862"/>
                </a:lnTo>
                <a:lnTo>
                  <a:pt x="76200" y="76200"/>
                </a:lnTo>
                <a:close/>
              </a:path>
              <a:path w="909954" h="76200">
                <a:moveTo>
                  <a:pt x="833437" y="76200"/>
                </a:moveTo>
                <a:lnTo>
                  <a:pt x="833437" y="0"/>
                </a:lnTo>
                <a:lnTo>
                  <a:pt x="900112" y="33337"/>
                </a:lnTo>
                <a:lnTo>
                  <a:pt x="852487" y="33337"/>
                </a:lnTo>
                <a:lnTo>
                  <a:pt x="852487" y="42862"/>
                </a:lnTo>
                <a:lnTo>
                  <a:pt x="900112" y="42862"/>
                </a:lnTo>
                <a:lnTo>
                  <a:pt x="833437" y="76200"/>
                </a:lnTo>
                <a:close/>
              </a:path>
              <a:path w="909954" h="76200">
                <a:moveTo>
                  <a:pt x="76200" y="42862"/>
                </a:moveTo>
                <a:lnTo>
                  <a:pt x="57150" y="42862"/>
                </a:lnTo>
                <a:lnTo>
                  <a:pt x="57150" y="33337"/>
                </a:lnTo>
                <a:lnTo>
                  <a:pt x="76200" y="33337"/>
                </a:lnTo>
                <a:lnTo>
                  <a:pt x="76200" y="42862"/>
                </a:lnTo>
                <a:close/>
              </a:path>
              <a:path w="909954" h="76200">
                <a:moveTo>
                  <a:pt x="833437" y="42862"/>
                </a:moveTo>
                <a:lnTo>
                  <a:pt x="76200" y="42862"/>
                </a:lnTo>
                <a:lnTo>
                  <a:pt x="76200" y="33337"/>
                </a:lnTo>
                <a:lnTo>
                  <a:pt x="833437" y="33337"/>
                </a:lnTo>
                <a:lnTo>
                  <a:pt x="833437" y="42862"/>
                </a:lnTo>
                <a:close/>
              </a:path>
              <a:path w="909954" h="76200">
                <a:moveTo>
                  <a:pt x="900112" y="42862"/>
                </a:moveTo>
                <a:lnTo>
                  <a:pt x="852487" y="42862"/>
                </a:lnTo>
                <a:lnTo>
                  <a:pt x="852487" y="33337"/>
                </a:lnTo>
                <a:lnTo>
                  <a:pt x="900112" y="33337"/>
                </a:lnTo>
                <a:lnTo>
                  <a:pt x="909637" y="38100"/>
                </a:lnTo>
                <a:lnTo>
                  <a:pt x="900112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51840" y="2629187"/>
            <a:ext cx="7390130" cy="2569845"/>
          </a:xfrm>
          <a:prstGeom prst="rect">
            <a:avLst/>
          </a:prstGeom>
        </p:spPr>
        <p:txBody>
          <a:bodyPr vert="horz" wrap="square" lIns="0" tIns="27686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180"/>
              </a:spcBef>
              <a:tabLst>
                <a:tab pos="1309370" algn="l"/>
                <a:tab pos="2651125" algn="l"/>
                <a:tab pos="3364229" algn="l"/>
              </a:tabLst>
            </a:pPr>
            <a:r>
              <a:rPr sz="3200" dirty="0">
                <a:latin typeface="Tahoma"/>
                <a:cs typeface="Tahoma"/>
              </a:rPr>
              <a:t>S</a:t>
            </a:r>
            <a:r>
              <a:rPr sz="3200" spc="-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=	</a:t>
            </a:r>
            <a:r>
              <a:rPr sz="3200" spc="-5" dirty="0">
                <a:latin typeface="Tahoma"/>
                <a:cs typeface="Tahoma"/>
              </a:rPr>
              <a:t>W</a:t>
            </a:r>
            <a:r>
              <a:rPr sz="24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(A)	</a:t>
            </a:r>
            <a:r>
              <a:rPr sz="3200" dirty="0">
                <a:latin typeface="Tahoma"/>
                <a:cs typeface="Tahoma"/>
              </a:rPr>
              <a:t>…	</a:t>
            </a:r>
            <a:r>
              <a:rPr sz="3200" spc="-5" dirty="0">
                <a:latin typeface="Tahoma"/>
                <a:cs typeface="Tahoma"/>
              </a:rPr>
              <a:t>W</a:t>
            </a:r>
            <a:r>
              <a:rPr sz="2400" spc="-5" dirty="0">
                <a:latin typeface="Tahoma"/>
                <a:cs typeface="Tahoma"/>
              </a:rPr>
              <a:t>3</a:t>
            </a:r>
            <a:r>
              <a:rPr sz="3200" spc="-5" dirty="0">
                <a:latin typeface="Tahoma"/>
                <a:cs typeface="Tahoma"/>
              </a:rPr>
              <a:t>(A)…..</a:t>
            </a:r>
            <a:endParaRPr sz="3200">
              <a:latin typeface="Tahoma"/>
              <a:cs typeface="Tahoma"/>
            </a:endParaRPr>
          </a:p>
          <a:p>
            <a:pPr marL="2235200">
              <a:lnSpc>
                <a:spcPct val="100000"/>
              </a:lnSpc>
              <a:spcBef>
                <a:spcPts val="1555"/>
              </a:spcBef>
            </a:pPr>
            <a:r>
              <a:rPr sz="2400" dirty="0">
                <a:latin typeface="Tahoma"/>
                <a:cs typeface="Tahoma"/>
              </a:rPr>
              <a:t>no</a:t>
            </a:r>
            <a:r>
              <a:rPr sz="2400" spc="-5" dirty="0">
                <a:latin typeface="Tahoma"/>
                <a:cs typeface="Tahoma"/>
              </a:rPr>
              <a:t> reads</a:t>
            </a:r>
            <a:endParaRPr sz="2400">
              <a:latin typeface="Tahoma"/>
              <a:cs typeface="Tahoma"/>
            </a:endParaRPr>
          </a:p>
          <a:p>
            <a:pPr marL="118745" marR="17780">
              <a:lnSpc>
                <a:spcPct val="100000"/>
              </a:lnSpc>
              <a:spcBef>
                <a:spcPts val="1995"/>
              </a:spcBef>
            </a:pPr>
            <a:r>
              <a:rPr sz="3200" spc="-30" dirty="0">
                <a:latin typeface="Tahoma"/>
                <a:cs typeface="Tahoma"/>
              </a:rPr>
              <a:t>FALSE: </a:t>
            </a:r>
            <a:r>
              <a:rPr sz="3200" spc="-5" dirty="0">
                <a:latin typeface="Tahoma"/>
                <a:cs typeface="Tahoma"/>
              </a:rPr>
              <a:t>Counterexample </a:t>
            </a:r>
            <a:r>
              <a:rPr sz="3200" spc="-15" dirty="0">
                <a:latin typeface="Tahoma"/>
                <a:cs typeface="Tahoma"/>
              </a:rPr>
              <a:t>(Sorav </a:t>
            </a:r>
            <a:r>
              <a:rPr sz="3200" spc="-5" dirty="0">
                <a:latin typeface="Tahoma"/>
                <a:cs typeface="Tahoma"/>
              </a:rPr>
              <a:t>Bansal):  </a:t>
            </a:r>
            <a:r>
              <a:rPr sz="3200" dirty="0">
                <a:latin typeface="Tahoma"/>
                <a:cs typeface="Tahoma"/>
              </a:rPr>
              <a:t>w</a:t>
            </a:r>
            <a:r>
              <a:rPr sz="3075" baseline="-17615" dirty="0">
                <a:latin typeface="Tahoma"/>
                <a:cs typeface="Tahoma"/>
              </a:rPr>
              <a:t>3</a:t>
            </a:r>
            <a:r>
              <a:rPr sz="3200" dirty="0">
                <a:latin typeface="Tahoma"/>
                <a:cs typeface="Tahoma"/>
              </a:rPr>
              <a:t>(Y) r</a:t>
            </a:r>
            <a:r>
              <a:rPr sz="3075" baseline="-17615" dirty="0">
                <a:latin typeface="Tahoma"/>
                <a:cs typeface="Tahoma"/>
              </a:rPr>
              <a:t>2</a:t>
            </a:r>
            <a:r>
              <a:rPr sz="3200" dirty="0">
                <a:latin typeface="Tahoma"/>
                <a:cs typeface="Tahoma"/>
              </a:rPr>
              <a:t>(Y) w</a:t>
            </a:r>
            <a:r>
              <a:rPr sz="3075" baseline="-17615" dirty="0">
                <a:latin typeface="Tahoma"/>
                <a:cs typeface="Tahoma"/>
              </a:rPr>
              <a:t>1</a:t>
            </a:r>
            <a:r>
              <a:rPr sz="3200" dirty="0">
                <a:latin typeface="Tahoma"/>
                <a:cs typeface="Tahoma"/>
              </a:rPr>
              <a:t>(X) r</a:t>
            </a:r>
            <a:r>
              <a:rPr sz="3075" baseline="-17615" dirty="0">
                <a:latin typeface="Tahoma"/>
                <a:cs typeface="Tahoma"/>
              </a:rPr>
              <a:t>2</a:t>
            </a:r>
            <a:r>
              <a:rPr sz="3200" dirty="0">
                <a:latin typeface="Tahoma"/>
                <a:cs typeface="Tahoma"/>
              </a:rPr>
              <a:t>(X) w</a:t>
            </a:r>
            <a:r>
              <a:rPr sz="3075" baseline="-17615" dirty="0">
                <a:latin typeface="Tahoma"/>
                <a:cs typeface="Tahoma"/>
              </a:rPr>
              <a:t>3</a:t>
            </a:r>
            <a:r>
              <a:rPr sz="3200" dirty="0">
                <a:latin typeface="Tahoma"/>
                <a:cs typeface="Tahoma"/>
              </a:rPr>
              <a:t>(X) r</a:t>
            </a:r>
            <a:r>
              <a:rPr sz="3075" baseline="-17615" dirty="0">
                <a:latin typeface="Tahoma"/>
                <a:cs typeface="Tahoma"/>
              </a:rPr>
              <a:t>4</a:t>
            </a:r>
            <a:r>
              <a:rPr sz="3200" dirty="0">
                <a:latin typeface="Tahoma"/>
                <a:cs typeface="Tahoma"/>
              </a:rPr>
              <a:t>(X)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w</a:t>
            </a:r>
            <a:r>
              <a:rPr sz="3075" baseline="-17615" dirty="0">
                <a:latin typeface="Tahoma"/>
                <a:cs typeface="Tahoma"/>
              </a:rPr>
              <a:t>5</a:t>
            </a:r>
            <a:r>
              <a:rPr sz="3200" dirty="0">
                <a:latin typeface="Tahoma"/>
                <a:cs typeface="Tahoma"/>
              </a:rPr>
              <a:t>(X)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11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12</a:t>
            </a:fld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617854"/>
            <a:ext cx="509460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2417445" algn="l"/>
              </a:tabLst>
            </a:pPr>
            <a:r>
              <a:rPr sz="36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How</a:t>
            </a:r>
            <a:r>
              <a:rPr sz="3600" u="heavy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do</a:t>
            </a:r>
            <a:r>
              <a:rPr sz="3600" u="heavy" spc="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we	test </a:t>
            </a:r>
            <a:r>
              <a:rPr sz="3600" u="heavy" spc="-1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for</a:t>
            </a:r>
            <a:r>
              <a:rPr sz="3600" u="heavy" spc="-7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3600" u="heavy" spc="-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view- </a:t>
            </a:r>
            <a:r>
              <a:rPr sz="3600" spc="-10" dirty="0">
                <a:latin typeface="Tahoma"/>
                <a:cs typeface="Tahoma"/>
              </a:rPr>
              <a:t> 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serializability?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11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424939" y="2004060"/>
            <a:ext cx="4316095" cy="101091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710565" marR="5080" indent="-698500">
              <a:lnSpc>
                <a:spcPct val="101800"/>
              </a:lnSpc>
              <a:spcBef>
                <a:spcPts val="35"/>
              </a:spcBef>
            </a:pPr>
            <a:r>
              <a:rPr sz="3200" spc="-5" dirty="0">
                <a:latin typeface="Tahoma"/>
                <a:cs typeface="Tahoma"/>
              </a:rPr>
              <a:t>P(S) not good enough…  (see schedule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Q)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585787"/>
            <a:ext cx="6902450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One problem: some </a:t>
            </a:r>
            <a:r>
              <a:rPr sz="3200" spc="-10" dirty="0">
                <a:latin typeface="Tahoma"/>
                <a:cs typeface="Tahoma"/>
              </a:rPr>
              <a:t>swaps involving  </a:t>
            </a:r>
            <a:r>
              <a:rPr sz="3200" spc="-5" dirty="0">
                <a:latin typeface="Tahoma"/>
                <a:cs typeface="Tahoma"/>
              </a:rPr>
              <a:t>conflicting actions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dirty="0">
                <a:latin typeface="Tahoma"/>
                <a:cs typeface="Tahoma"/>
              </a:rPr>
              <a:t>OK…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e.g.: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50075" y="2255837"/>
            <a:ext cx="10490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FF0000"/>
                </a:solidFill>
                <a:latin typeface="Tahoma"/>
                <a:cs typeface="Tahoma"/>
              </a:rPr>
              <a:t>w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4</a:t>
            </a:r>
            <a:r>
              <a:rPr sz="3200" spc="-5" dirty="0">
                <a:solidFill>
                  <a:srgbClr val="FF0000"/>
                </a:solidFill>
                <a:latin typeface="Tahoma"/>
                <a:cs typeface="Tahoma"/>
              </a:rPr>
              <a:t>(A</a:t>
            </a:r>
            <a:r>
              <a:rPr sz="3200" dirty="0">
                <a:solidFill>
                  <a:srgbClr val="FF0000"/>
                </a:solidFill>
                <a:latin typeface="Tahoma"/>
                <a:cs typeface="Tahoma"/>
              </a:rPr>
              <a:t>)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74825" y="2165743"/>
            <a:ext cx="5679859" cy="14712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64540" y="2243137"/>
            <a:ext cx="5788025" cy="15284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ahoma"/>
                <a:cs typeface="Tahoma"/>
              </a:rPr>
              <a:t>S = </a:t>
            </a:r>
            <a:r>
              <a:rPr sz="3200" spc="-5" dirty="0">
                <a:latin typeface="Tahoma"/>
                <a:cs typeface="Tahoma"/>
              </a:rPr>
              <a:t>….w</a:t>
            </a:r>
            <a:r>
              <a:rPr sz="24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(A)……r</a:t>
            </a:r>
            <a:r>
              <a:rPr sz="24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(A)....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w</a:t>
            </a:r>
            <a:r>
              <a:rPr sz="2400" spc="-5" dirty="0">
                <a:latin typeface="Tahoma"/>
                <a:cs typeface="Tahoma"/>
              </a:rPr>
              <a:t>3</a:t>
            </a:r>
            <a:r>
              <a:rPr sz="3200" spc="-5" dirty="0">
                <a:latin typeface="Tahoma"/>
                <a:cs typeface="Tahoma"/>
              </a:rPr>
              <a:t>(A)…</a:t>
            </a:r>
            <a:endParaRPr sz="3200">
              <a:latin typeface="Tahoma"/>
              <a:cs typeface="Tahoma"/>
            </a:endParaRPr>
          </a:p>
          <a:p>
            <a:pPr marL="2582545" marR="633730" indent="-208279">
              <a:lnSpc>
                <a:spcPct val="100000"/>
              </a:lnSpc>
              <a:spcBef>
                <a:spcPts val="2230"/>
              </a:spcBef>
            </a:pP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this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action can</a:t>
            </a:r>
            <a:r>
              <a:rPr sz="2400" spc="-5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15" dirty="0">
                <a:solidFill>
                  <a:srgbClr val="FF0000"/>
                </a:solidFill>
                <a:latin typeface="Tahoma"/>
                <a:cs typeface="Tahoma"/>
              </a:rPr>
              <a:t>move 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if this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write</a:t>
            </a:r>
            <a:r>
              <a:rPr sz="24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exists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11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14</a:t>
            </a:fld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2012949"/>
            <a:ext cx="6194425" cy="2246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Another problem: useless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writes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4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200" dirty="0">
                <a:latin typeface="Tahoma"/>
                <a:cs typeface="Tahoma"/>
              </a:rPr>
              <a:t>S = </a:t>
            </a:r>
            <a:r>
              <a:rPr sz="3200" spc="-5" dirty="0">
                <a:latin typeface="Tahoma"/>
                <a:cs typeface="Tahoma"/>
              </a:rPr>
              <a:t>…..W</a:t>
            </a:r>
            <a:r>
              <a:rPr sz="24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(A)……..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W</a:t>
            </a:r>
            <a:r>
              <a:rPr sz="24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(A)…..</a:t>
            </a:r>
            <a:endParaRPr sz="3200">
              <a:latin typeface="Tahoma"/>
              <a:cs typeface="Tahoma"/>
            </a:endParaRPr>
          </a:p>
          <a:p>
            <a:pPr marR="44450" algn="ctr">
              <a:lnSpc>
                <a:spcPct val="100000"/>
              </a:lnSpc>
              <a:spcBef>
                <a:spcPts val="1555"/>
              </a:spcBef>
            </a:pPr>
            <a:r>
              <a:rPr sz="2400" dirty="0">
                <a:latin typeface="Tahoma"/>
                <a:cs typeface="Tahoma"/>
              </a:rPr>
              <a:t>no A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reads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4825" y="2589212"/>
            <a:ext cx="1111250" cy="76200"/>
          </a:xfrm>
          <a:custGeom>
            <a:avLst/>
            <a:gdLst/>
            <a:ahLst/>
            <a:cxnLst/>
            <a:rect l="l" t="t" r="r" b="b"/>
            <a:pathLst>
              <a:path w="111125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  <a:lnTo>
                  <a:pt x="76200" y="33337"/>
                </a:lnTo>
                <a:lnTo>
                  <a:pt x="57150" y="33337"/>
                </a:lnTo>
                <a:lnTo>
                  <a:pt x="57150" y="42862"/>
                </a:lnTo>
                <a:lnTo>
                  <a:pt x="76200" y="42862"/>
                </a:lnTo>
                <a:lnTo>
                  <a:pt x="76200" y="76200"/>
                </a:lnTo>
                <a:close/>
              </a:path>
              <a:path w="1111250" h="76200">
                <a:moveTo>
                  <a:pt x="1035050" y="76200"/>
                </a:moveTo>
                <a:lnTo>
                  <a:pt x="1035050" y="0"/>
                </a:lnTo>
                <a:lnTo>
                  <a:pt x="1101725" y="33337"/>
                </a:lnTo>
                <a:lnTo>
                  <a:pt x="1054100" y="33337"/>
                </a:lnTo>
                <a:lnTo>
                  <a:pt x="1054100" y="42862"/>
                </a:lnTo>
                <a:lnTo>
                  <a:pt x="1101725" y="42862"/>
                </a:lnTo>
                <a:lnTo>
                  <a:pt x="1035050" y="76200"/>
                </a:lnTo>
                <a:close/>
              </a:path>
              <a:path w="1111250" h="76200">
                <a:moveTo>
                  <a:pt x="76200" y="42862"/>
                </a:moveTo>
                <a:lnTo>
                  <a:pt x="57150" y="42862"/>
                </a:lnTo>
                <a:lnTo>
                  <a:pt x="57150" y="33337"/>
                </a:lnTo>
                <a:lnTo>
                  <a:pt x="76200" y="33337"/>
                </a:lnTo>
                <a:lnTo>
                  <a:pt x="76200" y="42862"/>
                </a:lnTo>
                <a:close/>
              </a:path>
              <a:path w="1111250" h="76200">
                <a:moveTo>
                  <a:pt x="1035050" y="42862"/>
                </a:moveTo>
                <a:lnTo>
                  <a:pt x="76200" y="42862"/>
                </a:lnTo>
                <a:lnTo>
                  <a:pt x="76200" y="33337"/>
                </a:lnTo>
                <a:lnTo>
                  <a:pt x="1035050" y="33337"/>
                </a:lnTo>
                <a:lnTo>
                  <a:pt x="1035050" y="42862"/>
                </a:lnTo>
                <a:close/>
              </a:path>
              <a:path w="1111250" h="76200">
                <a:moveTo>
                  <a:pt x="1101725" y="42862"/>
                </a:moveTo>
                <a:lnTo>
                  <a:pt x="1054100" y="42862"/>
                </a:lnTo>
                <a:lnTo>
                  <a:pt x="1054100" y="33337"/>
                </a:lnTo>
                <a:lnTo>
                  <a:pt x="1101725" y="33337"/>
                </a:lnTo>
                <a:lnTo>
                  <a:pt x="1111250" y="38100"/>
                </a:lnTo>
                <a:lnTo>
                  <a:pt x="1101725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11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15</a:t>
            </a:fld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526415"/>
            <a:ext cx="65233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spc="-190" dirty="0">
                <a:uFill>
                  <a:solidFill>
                    <a:srgbClr val="000000"/>
                  </a:solidFill>
                </a:uFill>
              </a:rPr>
              <a:t>To 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check </a:t>
            </a:r>
            <a:r>
              <a:rPr sz="3600" u="heavy" dirty="0">
                <a:uFill>
                  <a:solidFill>
                    <a:srgbClr val="000000"/>
                  </a:solidFill>
                </a:uFill>
              </a:rPr>
              <a:t>if S is View</a:t>
            </a:r>
            <a:r>
              <a:rPr sz="3600" u="heavy" spc="15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Serializable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64540" y="1368424"/>
            <a:ext cx="7294245" cy="1459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(1) Add final </a:t>
            </a:r>
            <a:r>
              <a:rPr sz="3200" spc="-10" dirty="0">
                <a:latin typeface="Tahoma"/>
                <a:cs typeface="Tahoma"/>
              </a:rPr>
              <a:t>transaction 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f </a:t>
            </a:r>
            <a:r>
              <a:rPr sz="3200" spc="-5" dirty="0">
                <a:latin typeface="Tahoma"/>
                <a:cs typeface="Tahoma"/>
              </a:rPr>
              <a:t>that reads </a:t>
            </a:r>
            <a:r>
              <a:rPr sz="3200" dirty="0">
                <a:latin typeface="Tahoma"/>
                <a:cs typeface="Tahoma"/>
              </a:rPr>
              <a:t>all  DB</a:t>
            </a:r>
            <a:endParaRPr sz="3200">
              <a:latin typeface="Tahoma"/>
              <a:cs typeface="Tahoma"/>
            </a:endParaRPr>
          </a:p>
          <a:p>
            <a:pPr marL="989965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latin typeface="Tahoma"/>
                <a:cs typeface="Tahoma"/>
              </a:rPr>
              <a:t>(eliminates condition </a:t>
            </a:r>
            <a:r>
              <a:rPr sz="2000" dirty="0">
                <a:latin typeface="Tahoma"/>
                <a:cs typeface="Tahoma"/>
              </a:rPr>
              <a:t>3 </a:t>
            </a:r>
            <a:r>
              <a:rPr sz="2000" spc="-5" dirty="0">
                <a:latin typeface="Tahoma"/>
                <a:cs typeface="Tahoma"/>
              </a:rPr>
              <a:t>of </a:t>
            </a:r>
            <a:r>
              <a:rPr sz="2000" spc="-25" dirty="0">
                <a:latin typeface="Tahoma"/>
                <a:cs typeface="Tahoma"/>
              </a:rPr>
              <a:t>V-S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definition)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3513454"/>
            <a:ext cx="8686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E.g.</a:t>
            </a:r>
            <a:r>
              <a:rPr sz="3200" dirty="0">
                <a:latin typeface="Tahoma"/>
                <a:cs typeface="Tahoma"/>
              </a:rPr>
              <a:t>: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69480" y="3513454"/>
            <a:ext cx="8248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ahoma"/>
                <a:cs typeface="Tahoma"/>
              </a:rPr>
              <a:t>r</a:t>
            </a:r>
            <a:r>
              <a:rPr sz="2400" dirty="0">
                <a:latin typeface="Tahoma"/>
                <a:cs typeface="Tahoma"/>
              </a:rPr>
              <a:t>f</a:t>
            </a:r>
            <a:r>
              <a:rPr sz="3200" spc="-5" dirty="0">
                <a:latin typeface="Tahoma"/>
                <a:cs typeface="Tahoma"/>
              </a:rPr>
              <a:t>(A</a:t>
            </a:r>
            <a:r>
              <a:rPr sz="3200" dirty="0">
                <a:latin typeface="Tahoma"/>
                <a:cs typeface="Tahoma"/>
              </a:rPr>
              <a:t>)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67921" y="4059237"/>
            <a:ext cx="99695" cy="306070"/>
          </a:xfrm>
          <a:custGeom>
            <a:avLst/>
            <a:gdLst/>
            <a:ahLst/>
            <a:cxnLst/>
            <a:rect l="l" t="t" r="r" b="b"/>
            <a:pathLst>
              <a:path w="99695" h="306070">
                <a:moveTo>
                  <a:pt x="0" y="83159"/>
                </a:moveTo>
                <a:lnTo>
                  <a:pt x="18478" y="0"/>
                </a:lnTo>
                <a:lnTo>
                  <a:pt x="65021" y="54292"/>
                </a:lnTo>
                <a:lnTo>
                  <a:pt x="36956" y="54292"/>
                </a:lnTo>
                <a:lnTo>
                  <a:pt x="27724" y="56603"/>
                </a:lnTo>
                <a:lnTo>
                  <a:pt x="32341" y="75075"/>
                </a:lnTo>
                <a:lnTo>
                  <a:pt x="0" y="83159"/>
                </a:lnTo>
                <a:close/>
              </a:path>
              <a:path w="99695" h="306070">
                <a:moveTo>
                  <a:pt x="32341" y="75075"/>
                </a:moveTo>
                <a:lnTo>
                  <a:pt x="27724" y="56603"/>
                </a:lnTo>
                <a:lnTo>
                  <a:pt x="36956" y="54292"/>
                </a:lnTo>
                <a:lnTo>
                  <a:pt x="41576" y="72767"/>
                </a:lnTo>
                <a:lnTo>
                  <a:pt x="32341" y="75075"/>
                </a:lnTo>
                <a:close/>
              </a:path>
              <a:path w="99695" h="306070">
                <a:moveTo>
                  <a:pt x="41576" y="72767"/>
                </a:moveTo>
                <a:lnTo>
                  <a:pt x="36956" y="54292"/>
                </a:lnTo>
                <a:lnTo>
                  <a:pt x="65021" y="54292"/>
                </a:lnTo>
                <a:lnTo>
                  <a:pt x="73926" y="64681"/>
                </a:lnTo>
                <a:lnTo>
                  <a:pt x="41576" y="72767"/>
                </a:lnTo>
                <a:close/>
              </a:path>
              <a:path w="99695" h="306070">
                <a:moveTo>
                  <a:pt x="90055" y="305955"/>
                </a:moveTo>
                <a:lnTo>
                  <a:pt x="32341" y="75075"/>
                </a:lnTo>
                <a:lnTo>
                  <a:pt x="41576" y="72767"/>
                </a:lnTo>
                <a:lnTo>
                  <a:pt x="99301" y="303644"/>
                </a:lnTo>
                <a:lnTo>
                  <a:pt x="90055" y="3059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619296" y="3371850"/>
            <a:ext cx="2065655" cy="182880"/>
          </a:xfrm>
          <a:custGeom>
            <a:avLst/>
            <a:gdLst/>
            <a:ahLst/>
            <a:cxnLst/>
            <a:rect l="l" t="t" r="r" b="b"/>
            <a:pathLst>
              <a:path w="2065654" h="182879">
                <a:moveTo>
                  <a:pt x="6756" y="182752"/>
                </a:moveTo>
                <a:lnTo>
                  <a:pt x="31229" y="147180"/>
                </a:lnTo>
                <a:lnTo>
                  <a:pt x="66408" y="121259"/>
                </a:lnTo>
                <a:lnTo>
                  <a:pt x="104863" y="98132"/>
                </a:lnTo>
                <a:lnTo>
                  <a:pt x="145884" y="77647"/>
                </a:lnTo>
                <a:lnTo>
                  <a:pt x="188934" y="59639"/>
                </a:lnTo>
                <a:lnTo>
                  <a:pt x="232918" y="44145"/>
                </a:lnTo>
                <a:lnTo>
                  <a:pt x="277558" y="30886"/>
                </a:lnTo>
                <a:lnTo>
                  <a:pt x="322033" y="19812"/>
                </a:lnTo>
                <a:lnTo>
                  <a:pt x="365658" y="10782"/>
                </a:lnTo>
                <a:lnTo>
                  <a:pt x="407695" y="3721"/>
                </a:lnTo>
                <a:lnTo>
                  <a:pt x="435254" y="0"/>
                </a:lnTo>
                <a:lnTo>
                  <a:pt x="951332" y="9486"/>
                </a:lnTo>
                <a:lnTo>
                  <a:pt x="435800" y="9486"/>
                </a:lnTo>
                <a:lnTo>
                  <a:pt x="435102" y="9525"/>
                </a:lnTo>
                <a:lnTo>
                  <a:pt x="435466" y="9530"/>
                </a:lnTo>
                <a:lnTo>
                  <a:pt x="422516" y="11226"/>
                </a:lnTo>
                <a:lnTo>
                  <a:pt x="409092" y="13144"/>
                </a:lnTo>
                <a:lnTo>
                  <a:pt x="395377" y="15278"/>
                </a:lnTo>
                <a:lnTo>
                  <a:pt x="381182" y="17665"/>
                </a:lnTo>
                <a:lnTo>
                  <a:pt x="338638" y="25908"/>
                </a:lnTo>
                <a:lnTo>
                  <a:pt x="294757" y="36195"/>
                </a:lnTo>
                <a:lnTo>
                  <a:pt x="249707" y="48856"/>
                </a:lnTo>
                <a:lnTo>
                  <a:pt x="206552" y="63233"/>
                </a:lnTo>
                <a:lnTo>
                  <a:pt x="163693" y="80175"/>
                </a:lnTo>
                <a:lnTo>
                  <a:pt x="122548" y="99529"/>
                </a:lnTo>
                <a:lnTo>
                  <a:pt x="83803" y="121412"/>
                </a:lnTo>
                <a:lnTo>
                  <a:pt x="48334" y="145796"/>
                </a:lnTo>
                <a:lnTo>
                  <a:pt x="16396" y="173075"/>
                </a:lnTo>
                <a:lnTo>
                  <a:pt x="6756" y="182752"/>
                </a:lnTo>
                <a:close/>
              </a:path>
              <a:path w="2065654" h="182879">
                <a:moveTo>
                  <a:pt x="435466" y="9530"/>
                </a:moveTo>
                <a:lnTo>
                  <a:pt x="435102" y="9525"/>
                </a:lnTo>
                <a:lnTo>
                  <a:pt x="435800" y="9486"/>
                </a:lnTo>
                <a:lnTo>
                  <a:pt x="435466" y="9530"/>
                </a:lnTo>
                <a:close/>
              </a:path>
              <a:path w="2065654" h="182879">
                <a:moveTo>
                  <a:pt x="895375" y="17665"/>
                </a:moveTo>
                <a:lnTo>
                  <a:pt x="818134" y="16027"/>
                </a:lnTo>
                <a:lnTo>
                  <a:pt x="643674" y="12865"/>
                </a:lnTo>
                <a:lnTo>
                  <a:pt x="435466" y="9530"/>
                </a:lnTo>
                <a:lnTo>
                  <a:pt x="435800" y="9486"/>
                </a:lnTo>
                <a:lnTo>
                  <a:pt x="951332" y="9486"/>
                </a:lnTo>
                <a:lnTo>
                  <a:pt x="1163904" y="16268"/>
                </a:lnTo>
                <a:lnTo>
                  <a:pt x="1196182" y="17652"/>
                </a:lnTo>
                <a:lnTo>
                  <a:pt x="895362" y="17652"/>
                </a:lnTo>
                <a:close/>
              </a:path>
              <a:path w="2065654" h="182879">
                <a:moveTo>
                  <a:pt x="422554" y="11226"/>
                </a:moveTo>
                <a:close/>
              </a:path>
              <a:path w="2065654" h="182879">
                <a:moveTo>
                  <a:pt x="395389" y="15278"/>
                </a:moveTo>
                <a:close/>
              </a:path>
              <a:path w="2065654" h="182879">
                <a:moveTo>
                  <a:pt x="381469" y="17614"/>
                </a:moveTo>
                <a:close/>
              </a:path>
              <a:path w="2065654" h="182879">
                <a:moveTo>
                  <a:pt x="1647089" y="53920"/>
                </a:moveTo>
                <a:lnTo>
                  <a:pt x="1566214" y="48336"/>
                </a:lnTo>
                <a:lnTo>
                  <a:pt x="1490700" y="43332"/>
                </a:lnTo>
                <a:lnTo>
                  <a:pt x="1420037" y="38887"/>
                </a:lnTo>
                <a:lnTo>
                  <a:pt x="1353096" y="34963"/>
                </a:lnTo>
                <a:lnTo>
                  <a:pt x="1288770" y="31508"/>
                </a:lnTo>
                <a:lnTo>
                  <a:pt x="1225956" y="28460"/>
                </a:lnTo>
                <a:lnTo>
                  <a:pt x="1163523" y="25780"/>
                </a:lnTo>
                <a:lnTo>
                  <a:pt x="1100366" y="23418"/>
                </a:lnTo>
                <a:lnTo>
                  <a:pt x="1035354" y="21297"/>
                </a:lnTo>
                <a:lnTo>
                  <a:pt x="967397" y="19405"/>
                </a:lnTo>
                <a:lnTo>
                  <a:pt x="895362" y="17652"/>
                </a:lnTo>
                <a:lnTo>
                  <a:pt x="1196182" y="17652"/>
                </a:lnTo>
                <a:lnTo>
                  <a:pt x="1306474" y="22923"/>
                </a:lnTo>
                <a:lnTo>
                  <a:pt x="1648358" y="44462"/>
                </a:lnTo>
                <a:lnTo>
                  <a:pt x="1649501" y="44678"/>
                </a:lnTo>
                <a:lnTo>
                  <a:pt x="1662225" y="48831"/>
                </a:lnTo>
                <a:lnTo>
                  <a:pt x="1675028" y="52730"/>
                </a:lnTo>
                <a:lnTo>
                  <a:pt x="1678662" y="53746"/>
                </a:lnTo>
                <a:lnTo>
                  <a:pt x="1646555" y="53746"/>
                </a:lnTo>
                <a:lnTo>
                  <a:pt x="1647089" y="53920"/>
                </a:lnTo>
                <a:close/>
              </a:path>
              <a:path w="2065654" h="182879">
                <a:moveTo>
                  <a:pt x="367347" y="20167"/>
                </a:moveTo>
                <a:close/>
              </a:path>
              <a:path w="2065654" h="182879">
                <a:moveTo>
                  <a:pt x="353091" y="22917"/>
                </a:moveTo>
                <a:close/>
              </a:path>
              <a:path w="2065654" h="182879">
                <a:moveTo>
                  <a:pt x="353062" y="22923"/>
                </a:moveTo>
                <a:close/>
              </a:path>
              <a:path w="2065654" h="182879">
                <a:moveTo>
                  <a:pt x="338638" y="25908"/>
                </a:moveTo>
                <a:close/>
              </a:path>
              <a:path w="2065654" h="182879">
                <a:moveTo>
                  <a:pt x="324091" y="29108"/>
                </a:moveTo>
                <a:close/>
              </a:path>
              <a:path w="2065654" h="182879">
                <a:moveTo>
                  <a:pt x="309460" y="32537"/>
                </a:moveTo>
                <a:close/>
              </a:path>
              <a:path w="2065654" h="182879">
                <a:moveTo>
                  <a:pt x="294757" y="36195"/>
                </a:moveTo>
                <a:close/>
              </a:path>
              <a:path w="2065654" h="182879">
                <a:moveTo>
                  <a:pt x="280015" y="40093"/>
                </a:moveTo>
                <a:close/>
              </a:path>
              <a:path w="2065654" h="182879">
                <a:moveTo>
                  <a:pt x="265239" y="44234"/>
                </a:moveTo>
                <a:close/>
              </a:path>
              <a:path w="2065654" h="182879">
                <a:moveTo>
                  <a:pt x="250517" y="48602"/>
                </a:moveTo>
                <a:close/>
              </a:path>
              <a:path w="2065654" h="182879">
                <a:moveTo>
                  <a:pt x="235775" y="53225"/>
                </a:moveTo>
                <a:close/>
              </a:path>
              <a:path w="2065654" h="182879">
                <a:moveTo>
                  <a:pt x="1647698" y="53962"/>
                </a:moveTo>
                <a:lnTo>
                  <a:pt x="1647089" y="53920"/>
                </a:lnTo>
                <a:lnTo>
                  <a:pt x="1646555" y="53746"/>
                </a:lnTo>
                <a:lnTo>
                  <a:pt x="1647698" y="53962"/>
                </a:lnTo>
                <a:close/>
              </a:path>
              <a:path w="2065654" h="182879">
                <a:moveTo>
                  <a:pt x="1679424" y="53962"/>
                </a:moveTo>
                <a:lnTo>
                  <a:pt x="1647698" y="53962"/>
                </a:lnTo>
                <a:lnTo>
                  <a:pt x="1646555" y="53746"/>
                </a:lnTo>
                <a:lnTo>
                  <a:pt x="1678662" y="53746"/>
                </a:lnTo>
                <a:lnTo>
                  <a:pt x="1679424" y="53962"/>
                </a:lnTo>
                <a:close/>
              </a:path>
              <a:path w="2065654" h="182879">
                <a:moveTo>
                  <a:pt x="1989340" y="96826"/>
                </a:moveTo>
                <a:lnTo>
                  <a:pt x="1932813" y="96164"/>
                </a:lnTo>
                <a:lnTo>
                  <a:pt x="1880273" y="94272"/>
                </a:lnTo>
                <a:lnTo>
                  <a:pt x="1841030" y="91655"/>
                </a:lnTo>
                <a:lnTo>
                  <a:pt x="1801863" y="87731"/>
                </a:lnTo>
                <a:lnTo>
                  <a:pt x="1762417" y="82156"/>
                </a:lnTo>
                <a:lnTo>
                  <a:pt x="1723633" y="74841"/>
                </a:lnTo>
                <a:lnTo>
                  <a:pt x="1685175" y="65493"/>
                </a:lnTo>
                <a:lnTo>
                  <a:pt x="1647089" y="53920"/>
                </a:lnTo>
                <a:lnTo>
                  <a:pt x="1647698" y="53962"/>
                </a:lnTo>
                <a:lnTo>
                  <a:pt x="1679469" y="53975"/>
                </a:lnTo>
                <a:lnTo>
                  <a:pt x="1726057" y="65620"/>
                </a:lnTo>
                <a:lnTo>
                  <a:pt x="1751580" y="70637"/>
                </a:lnTo>
                <a:lnTo>
                  <a:pt x="1764400" y="72834"/>
                </a:lnTo>
                <a:lnTo>
                  <a:pt x="1777341" y="74853"/>
                </a:lnTo>
                <a:lnTo>
                  <a:pt x="1790203" y="76657"/>
                </a:lnTo>
                <a:lnTo>
                  <a:pt x="1803057" y="78282"/>
                </a:lnTo>
                <a:lnTo>
                  <a:pt x="1815947" y="79730"/>
                </a:lnTo>
                <a:lnTo>
                  <a:pt x="1828863" y="81025"/>
                </a:lnTo>
                <a:lnTo>
                  <a:pt x="1841804" y="82169"/>
                </a:lnTo>
                <a:lnTo>
                  <a:pt x="1854771" y="83159"/>
                </a:lnTo>
                <a:lnTo>
                  <a:pt x="1867750" y="84023"/>
                </a:lnTo>
                <a:lnTo>
                  <a:pt x="1880755" y="84759"/>
                </a:lnTo>
                <a:lnTo>
                  <a:pt x="1906854" y="85890"/>
                </a:lnTo>
                <a:lnTo>
                  <a:pt x="1933028" y="86652"/>
                </a:lnTo>
                <a:lnTo>
                  <a:pt x="1959305" y="87096"/>
                </a:lnTo>
                <a:lnTo>
                  <a:pt x="1985695" y="87299"/>
                </a:lnTo>
                <a:lnTo>
                  <a:pt x="1989340" y="87301"/>
                </a:lnTo>
                <a:lnTo>
                  <a:pt x="1989340" y="96826"/>
                </a:lnTo>
                <a:close/>
              </a:path>
              <a:path w="2065654" h="182879">
                <a:moveTo>
                  <a:pt x="2056015" y="96837"/>
                </a:moveTo>
                <a:lnTo>
                  <a:pt x="2008390" y="96837"/>
                </a:lnTo>
                <a:lnTo>
                  <a:pt x="2008390" y="87312"/>
                </a:lnTo>
                <a:lnTo>
                  <a:pt x="1989340" y="87301"/>
                </a:lnTo>
                <a:lnTo>
                  <a:pt x="1989340" y="53975"/>
                </a:lnTo>
                <a:lnTo>
                  <a:pt x="2065540" y="92075"/>
                </a:lnTo>
                <a:lnTo>
                  <a:pt x="2056015" y="96837"/>
                </a:lnTo>
                <a:close/>
              </a:path>
              <a:path w="2065654" h="182879">
                <a:moveTo>
                  <a:pt x="221207" y="58077"/>
                </a:moveTo>
                <a:close/>
              </a:path>
              <a:path w="2065654" h="182879">
                <a:moveTo>
                  <a:pt x="221136" y="58102"/>
                </a:moveTo>
                <a:close/>
              </a:path>
              <a:path w="2065654" h="182879">
                <a:moveTo>
                  <a:pt x="206578" y="63233"/>
                </a:moveTo>
                <a:close/>
              </a:path>
              <a:path w="2065654" h="182879">
                <a:moveTo>
                  <a:pt x="192125" y="68618"/>
                </a:moveTo>
                <a:close/>
              </a:path>
              <a:path w="2065654" h="182879">
                <a:moveTo>
                  <a:pt x="177825" y="74256"/>
                </a:moveTo>
                <a:close/>
              </a:path>
              <a:path w="2065654" h="182879">
                <a:moveTo>
                  <a:pt x="163742" y="80153"/>
                </a:moveTo>
                <a:close/>
              </a:path>
              <a:path w="2065654" h="182879">
                <a:moveTo>
                  <a:pt x="163693" y="80175"/>
                </a:moveTo>
                <a:close/>
              </a:path>
              <a:path w="2065654" h="182879">
                <a:moveTo>
                  <a:pt x="149766" y="86347"/>
                </a:moveTo>
                <a:close/>
              </a:path>
              <a:path w="2065654" h="182879">
                <a:moveTo>
                  <a:pt x="2008390" y="96837"/>
                </a:moveTo>
                <a:lnTo>
                  <a:pt x="1989340" y="96826"/>
                </a:lnTo>
                <a:lnTo>
                  <a:pt x="1989340" y="87301"/>
                </a:lnTo>
                <a:lnTo>
                  <a:pt x="2008390" y="87312"/>
                </a:lnTo>
                <a:lnTo>
                  <a:pt x="2008390" y="96837"/>
                </a:lnTo>
                <a:close/>
              </a:path>
              <a:path w="2065654" h="182879">
                <a:moveTo>
                  <a:pt x="136017" y="92811"/>
                </a:moveTo>
                <a:close/>
              </a:path>
              <a:path w="2065654" h="182879">
                <a:moveTo>
                  <a:pt x="1989340" y="130175"/>
                </a:moveTo>
                <a:lnTo>
                  <a:pt x="1989340" y="96826"/>
                </a:lnTo>
                <a:lnTo>
                  <a:pt x="2056015" y="96837"/>
                </a:lnTo>
                <a:lnTo>
                  <a:pt x="1989340" y="130175"/>
                </a:lnTo>
                <a:close/>
              </a:path>
              <a:path w="2065654" h="182879">
                <a:moveTo>
                  <a:pt x="122548" y="99529"/>
                </a:moveTo>
                <a:close/>
              </a:path>
              <a:path w="2065654" h="182879">
                <a:moveTo>
                  <a:pt x="109350" y="106524"/>
                </a:moveTo>
                <a:close/>
              </a:path>
              <a:path w="2065654" h="182879">
                <a:moveTo>
                  <a:pt x="109323" y="106540"/>
                </a:moveTo>
                <a:close/>
              </a:path>
              <a:path w="2065654" h="182879">
                <a:moveTo>
                  <a:pt x="96414" y="113830"/>
                </a:moveTo>
                <a:close/>
              </a:path>
              <a:path w="2065654" h="182879">
                <a:moveTo>
                  <a:pt x="83807" y="121412"/>
                </a:moveTo>
                <a:close/>
              </a:path>
              <a:path w="2065654" h="182879">
                <a:moveTo>
                  <a:pt x="71551" y="129286"/>
                </a:moveTo>
                <a:lnTo>
                  <a:pt x="71690" y="129197"/>
                </a:lnTo>
                <a:lnTo>
                  <a:pt x="71551" y="129286"/>
                </a:lnTo>
                <a:close/>
              </a:path>
              <a:path w="2065654" h="182879">
                <a:moveTo>
                  <a:pt x="59770" y="137375"/>
                </a:moveTo>
                <a:close/>
              </a:path>
              <a:path w="2065654" h="182879">
                <a:moveTo>
                  <a:pt x="59683" y="137439"/>
                </a:moveTo>
                <a:close/>
              </a:path>
              <a:path w="2065654" h="182879">
                <a:moveTo>
                  <a:pt x="48196" y="145897"/>
                </a:moveTo>
                <a:lnTo>
                  <a:pt x="48334" y="145796"/>
                </a:lnTo>
                <a:lnTo>
                  <a:pt x="48196" y="145897"/>
                </a:lnTo>
                <a:close/>
              </a:path>
              <a:path w="2065654" h="182879">
                <a:moveTo>
                  <a:pt x="37215" y="154596"/>
                </a:moveTo>
                <a:close/>
              </a:path>
              <a:path w="2065654" h="182879">
                <a:moveTo>
                  <a:pt x="37140" y="154660"/>
                </a:moveTo>
                <a:close/>
              </a:path>
              <a:path w="2065654" h="182879">
                <a:moveTo>
                  <a:pt x="26558" y="163691"/>
                </a:moveTo>
                <a:close/>
              </a:path>
              <a:path w="2065654" h="182879">
                <a:moveTo>
                  <a:pt x="26532" y="163715"/>
                </a:moveTo>
                <a:close/>
              </a:path>
              <a:path w="2065654" h="182879">
                <a:moveTo>
                  <a:pt x="16402" y="173069"/>
                </a:moveTo>
                <a:lnTo>
                  <a:pt x="16535" y="172935"/>
                </a:lnTo>
                <a:lnTo>
                  <a:pt x="16402" y="173069"/>
                </a:lnTo>
                <a:close/>
              </a:path>
              <a:path w="2065654" h="182879">
                <a:moveTo>
                  <a:pt x="16396" y="173075"/>
                </a:move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988185" y="3022294"/>
            <a:ext cx="4926330" cy="1689735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241300" algn="ctr">
              <a:lnSpc>
                <a:spcPct val="100000"/>
              </a:lnSpc>
              <a:spcBef>
                <a:spcPts val="665"/>
              </a:spcBef>
            </a:pPr>
            <a:r>
              <a:rPr sz="2000" dirty="0">
                <a:latin typeface="Tahoma"/>
                <a:cs typeface="Tahoma"/>
              </a:rPr>
              <a:t>?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3200" dirty="0">
                <a:latin typeface="Tahoma"/>
                <a:cs typeface="Tahoma"/>
              </a:rPr>
              <a:t>S = </a:t>
            </a:r>
            <a:r>
              <a:rPr sz="3200" spc="-5" dirty="0">
                <a:latin typeface="Tahoma"/>
                <a:cs typeface="Tahoma"/>
              </a:rPr>
              <a:t>…..W</a:t>
            </a:r>
            <a:r>
              <a:rPr sz="24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(A)……..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W</a:t>
            </a:r>
            <a:r>
              <a:rPr sz="24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(A)…</a:t>
            </a:r>
            <a:endParaRPr sz="3200">
              <a:latin typeface="Tahoma"/>
              <a:cs typeface="Tahoma"/>
            </a:endParaRPr>
          </a:p>
          <a:p>
            <a:pPr marL="2827020">
              <a:lnSpc>
                <a:spcPct val="100000"/>
              </a:lnSpc>
              <a:spcBef>
                <a:spcPts val="2510"/>
              </a:spcBef>
            </a:pPr>
            <a:r>
              <a:rPr sz="2400" spc="-5" dirty="0">
                <a:latin typeface="Tahoma"/>
                <a:cs typeface="Tahoma"/>
              </a:rPr>
              <a:t>Last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write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12952" y="4449445"/>
            <a:ext cx="5226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a</a:t>
            </a:r>
            <a:r>
              <a:rPr sz="2400" spc="-5" dirty="0">
                <a:latin typeface="Tahoma"/>
                <a:cs typeface="Tahoma"/>
              </a:rPr>
              <a:t>d</a:t>
            </a:r>
            <a:r>
              <a:rPr sz="2400" dirty="0">
                <a:latin typeface="Tahoma"/>
                <a:cs typeface="Tahoma"/>
              </a:rPr>
              <a:t>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341984" y="4070350"/>
            <a:ext cx="76200" cy="361315"/>
          </a:xfrm>
          <a:custGeom>
            <a:avLst/>
            <a:gdLst/>
            <a:ahLst/>
            <a:cxnLst/>
            <a:rect l="l" t="t" r="r" b="b"/>
            <a:pathLst>
              <a:path w="76200" h="361314">
                <a:moveTo>
                  <a:pt x="0" y="78968"/>
                </a:moveTo>
                <a:lnTo>
                  <a:pt x="31953" y="0"/>
                </a:lnTo>
                <a:lnTo>
                  <a:pt x="66091" y="56591"/>
                </a:lnTo>
                <a:lnTo>
                  <a:pt x="41224" y="56591"/>
                </a:lnTo>
                <a:lnTo>
                  <a:pt x="31724" y="57353"/>
                </a:lnTo>
                <a:lnTo>
                  <a:pt x="33229" y="76335"/>
                </a:lnTo>
                <a:lnTo>
                  <a:pt x="0" y="78968"/>
                </a:lnTo>
                <a:close/>
              </a:path>
              <a:path w="76200" h="361314">
                <a:moveTo>
                  <a:pt x="33229" y="76335"/>
                </a:moveTo>
                <a:lnTo>
                  <a:pt x="31724" y="57353"/>
                </a:lnTo>
                <a:lnTo>
                  <a:pt x="41224" y="56591"/>
                </a:lnTo>
                <a:lnTo>
                  <a:pt x="42729" y="75582"/>
                </a:lnTo>
                <a:lnTo>
                  <a:pt x="33229" y="76335"/>
                </a:lnTo>
                <a:close/>
              </a:path>
              <a:path w="76200" h="361314">
                <a:moveTo>
                  <a:pt x="42729" y="75582"/>
                </a:moveTo>
                <a:lnTo>
                  <a:pt x="41224" y="56591"/>
                </a:lnTo>
                <a:lnTo>
                  <a:pt x="66091" y="56591"/>
                </a:lnTo>
                <a:lnTo>
                  <a:pt x="75958" y="72948"/>
                </a:lnTo>
                <a:lnTo>
                  <a:pt x="42729" y="75582"/>
                </a:lnTo>
                <a:close/>
              </a:path>
              <a:path w="76200" h="361314">
                <a:moveTo>
                  <a:pt x="55778" y="360743"/>
                </a:moveTo>
                <a:lnTo>
                  <a:pt x="33229" y="76335"/>
                </a:lnTo>
                <a:lnTo>
                  <a:pt x="42729" y="75582"/>
                </a:lnTo>
                <a:lnTo>
                  <a:pt x="65277" y="359981"/>
                </a:lnTo>
                <a:lnTo>
                  <a:pt x="55778" y="3607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11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16</a:t>
            </a:fld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913891"/>
            <a:ext cx="5087620" cy="1097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36600" marR="5080" indent="-723900">
              <a:lnSpc>
                <a:spcPct val="109900"/>
              </a:lnSpc>
              <a:spcBef>
                <a:spcPts val="95"/>
              </a:spcBef>
            </a:pPr>
            <a:r>
              <a:rPr spc="-5" dirty="0"/>
              <a:t>(2) Add initial </a:t>
            </a:r>
            <a:r>
              <a:rPr spc="-10" dirty="0"/>
              <a:t>transaction </a:t>
            </a:r>
            <a:r>
              <a:rPr spc="-5" dirty="0"/>
              <a:t>T</a:t>
            </a:r>
            <a:r>
              <a:rPr sz="2400" spc="-5" dirty="0"/>
              <a:t>b  </a:t>
            </a:r>
            <a:r>
              <a:rPr spc="-5" dirty="0"/>
              <a:t>that writes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DB</a:t>
            </a:r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2811259" y="3695700"/>
            <a:ext cx="76200" cy="361315"/>
          </a:xfrm>
          <a:custGeom>
            <a:avLst/>
            <a:gdLst/>
            <a:ahLst/>
            <a:cxnLst/>
            <a:rect l="l" t="t" r="r" b="b"/>
            <a:pathLst>
              <a:path w="76200" h="361314">
                <a:moveTo>
                  <a:pt x="0" y="78968"/>
                </a:moveTo>
                <a:lnTo>
                  <a:pt x="31953" y="0"/>
                </a:lnTo>
                <a:lnTo>
                  <a:pt x="66091" y="56591"/>
                </a:lnTo>
                <a:lnTo>
                  <a:pt x="41224" y="56591"/>
                </a:lnTo>
                <a:lnTo>
                  <a:pt x="31724" y="57353"/>
                </a:lnTo>
                <a:lnTo>
                  <a:pt x="33229" y="76335"/>
                </a:lnTo>
                <a:lnTo>
                  <a:pt x="0" y="78968"/>
                </a:lnTo>
                <a:close/>
              </a:path>
              <a:path w="76200" h="361314">
                <a:moveTo>
                  <a:pt x="33229" y="76335"/>
                </a:moveTo>
                <a:lnTo>
                  <a:pt x="31724" y="57353"/>
                </a:lnTo>
                <a:lnTo>
                  <a:pt x="41224" y="56591"/>
                </a:lnTo>
                <a:lnTo>
                  <a:pt x="42729" y="75582"/>
                </a:lnTo>
                <a:lnTo>
                  <a:pt x="33229" y="76335"/>
                </a:lnTo>
                <a:close/>
              </a:path>
              <a:path w="76200" h="361314">
                <a:moveTo>
                  <a:pt x="42729" y="75582"/>
                </a:moveTo>
                <a:lnTo>
                  <a:pt x="41224" y="56591"/>
                </a:lnTo>
                <a:lnTo>
                  <a:pt x="66091" y="56591"/>
                </a:lnTo>
                <a:lnTo>
                  <a:pt x="75958" y="72948"/>
                </a:lnTo>
                <a:lnTo>
                  <a:pt x="42729" y="75582"/>
                </a:lnTo>
                <a:close/>
              </a:path>
              <a:path w="76200" h="361314">
                <a:moveTo>
                  <a:pt x="55778" y="360743"/>
                </a:moveTo>
                <a:lnTo>
                  <a:pt x="33229" y="76335"/>
                </a:lnTo>
                <a:lnTo>
                  <a:pt x="42729" y="75582"/>
                </a:lnTo>
                <a:lnTo>
                  <a:pt x="65277" y="359981"/>
                </a:lnTo>
                <a:lnTo>
                  <a:pt x="55778" y="3607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011612" y="2893275"/>
            <a:ext cx="2024380" cy="358775"/>
          </a:xfrm>
          <a:custGeom>
            <a:avLst/>
            <a:gdLst/>
            <a:ahLst/>
            <a:cxnLst/>
            <a:rect l="l" t="t" r="r" b="b"/>
            <a:pathLst>
              <a:path w="2024379" h="358775">
                <a:moveTo>
                  <a:pt x="75768" y="76187"/>
                </a:moveTo>
                <a:lnTo>
                  <a:pt x="0" y="37249"/>
                </a:lnTo>
                <a:lnTo>
                  <a:pt x="76619" y="0"/>
                </a:lnTo>
                <a:lnTo>
                  <a:pt x="76249" y="33121"/>
                </a:lnTo>
                <a:lnTo>
                  <a:pt x="57226" y="33121"/>
                </a:lnTo>
                <a:lnTo>
                  <a:pt x="57073" y="42646"/>
                </a:lnTo>
                <a:lnTo>
                  <a:pt x="76139" y="42955"/>
                </a:lnTo>
                <a:lnTo>
                  <a:pt x="75768" y="76187"/>
                </a:lnTo>
                <a:close/>
              </a:path>
              <a:path w="2024379" h="358775">
                <a:moveTo>
                  <a:pt x="76139" y="42955"/>
                </a:moveTo>
                <a:lnTo>
                  <a:pt x="57073" y="42646"/>
                </a:lnTo>
                <a:lnTo>
                  <a:pt x="57226" y="33121"/>
                </a:lnTo>
                <a:lnTo>
                  <a:pt x="76245" y="33429"/>
                </a:lnTo>
                <a:lnTo>
                  <a:pt x="76139" y="42955"/>
                </a:lnTo>
                <a:close/>
              </a:path>
              <a:path w="2024379" h="358775">
                <a:moveTo>
                  <a:pt x="76245" y="33429"/>
                </a:moveTo>
                <a:lnTo>
                  <a:pt x="57226" y="33121"/>
                </a:lnTo>
                <a:lnTo>
                  <a:pt x="76249" y="33121"/>
                </a:lnTo>
                <a:lnTo>
                  <a:pt x="76245" y="33429"/>
                </a:lnTo>
                <a:close/>
              </a:path>
              <a:path w="2024379" h="358775">
                <a:moveTo>
                  <a:pt x="227075" y="48755"/>
                </a:moveTo>
                <a:lnTo>
                  <a:pt x="182054" y="46469"/>
                </a:lnTo>
                <a:lnTo>
                  <a:pt x="136880" y="44602"/>
                </a:lnTo>
                <a:lnTo>
                  <a:pt x="114236" y="43840"/>
                </a:lnTo>
                <a:lnTo>
                  <a:pt x="91528" y="43205"/>
                </a:lnTo>
                <a:lnTo>
                  <a:pt x="76139" y="42955"/>
                </a:lnTo>
                <a:lnTo>
                  <a:pt x="76245" y="33429"/>
                </a:lnTo>
                <a:lnTo>
                  <a:pt x="91732" y="33680"/>
                </a:lnTo>
                <a:lnTo>
                  <a:pt x="137236" y="35090"/>
                </a:lnTo>
                <a:lnTo>
                  <a:pt x="227596" y="39243"/>
                </a:lnTo>
                <a:lnTo>
                  <a:pt x="372258" y="48742"/>
                </a:lnTo>
                <a:lnTo>
                  <a:pt x="227037" y="48742"/>
                </a:lnTo>
                <a:close/>
              </a:path>
              <a:path w="2024379" h="358775">
                <a:moveTo>
                  <a:pt x="271932" y="51384"/>
                </a:moveTo>
                <a:lnTo>
                  <a:pt x="227037" y="48742"/>
                </a:lnTo>
                <a:lnTo>
                  <a:pt x="372258" y="48742"/>
                </a:lnTo>
                <a:lnTo>
                  <a:pt x="407320" y="51371"/>
                </a:lnTo>
                <a:lnTo>
                  <a:pt x="271907" y="51371"/>
                </a:lnTo>
                <a:close/>
              </a:path>
              <a:path w="2024379" h="358775">
                <a:moveTo>
                  <a:pt x="988402" y="96570"/>
                </a:moveTo>
                <a:lnTo>
                  <a:pt x="940142" y="95808"/>
                </a:lnTo>
                <a:lnTo>
                  <a:pt x="855637" y="92405"/>
                </a:lnTo>
                <a:lnTo>
                  <a:pt x="758708" y="87045"/>
                </a:lnTo>
                <a:lnTo>
                  <a:pt x="406107" y="60832"/>
                </a:lnTo>
                <a:lnTo>
                  <a:pt x="361391" y="57480"/>
                </a:lnTo>
                <a:lnTo>
                  <a:pt x="316674" y="54305"/>
                </a:lnTo>
                <a:lnTo>
                  <a:pt x="271907" y="51371"/>
                </a:lnTo>
                <a:lnTo>
                  <a:pt x="407320" y="51371"/>
                </a:lnTo>
                <a:lnTo>
                  <a:pt x="541299" y="61963"/>
                </a:lnTo>
                <a:lnTo>
                  <a:pt x="631545" y="68961"/>
                </a:lnTo>
                <a:lnTo>
                  <a:pt x="676960" y="72262"/>
                </a:lnTo>
                <a:lnTo>
                  <a:pt x="722629" y="75361"/>
                </a:lnTo>
                <a:lnTo>
                  <a:pt x="796353" y="79743"/>
                </a:lnTo>
                <a:lnTo>
                  <a:pt x="856145" y="82892"/>
                </a:lnTo>
                <a:lnTo>
                  <a:pt x="903617" y="85013"/>
                </a:lnTo>
                <a:lnTo>
                  <a:pt x="940409" y="86296"/>
                </a:lnTo>
                <a:lnTo>
                  <a:pt x="968121" y="86906"/>
                </a:lnTo>
                <a:lnTo>
                  <a:pt x="988344" y="87045"/>
                </a:lnTo>
                <a:lnTo>
                  <a:pt x="1032832" y="87045"/>
                </a:lnTo>
                <a:lnTo>
                  <a:pt x="1035926" y="87299"/>
                </a:lnTo>
                <a:lnTo>
                  <a:pt x="1045845" y="88569"/>
                </a:lnTo>
                <a:lnTo>
                  <a:pt x="1092251" y="96037"/>
                </a:lnTo>
                <a:lnTo>
                  <a:pt x="1020889" y="96037"/>
                </a:lnTo>
                <a:lnTo>
                  <a:pt x="1013307" y="96189"/>
                </a:lnTo>
                <a:lnTo>
                  <a:pt x="1002995" y="96418"/>
                </a:lnTo>
                <a:lnTo>
                  <a:pt x="988402" y="96570"/>
                </a:lnTo>
                <a:close/>
              </a:path>
              <a:path w="2024379" h="358775">
                <a:moveTo>
                  <a:pt x="1032832" y="87045"/>
                </a:moveTo>
                <a:lnTo>
                  <a:pt x="988344" y="87045"/>
                </a:lnTo>
                <a:lnTo>
                  <a:pt x="1002842" y="86893"/>
                </a:lnTo>
                <a:lnTo>
                  <a:pt x="1020902" y="86512"/>
                </a:lnTo>
                <a:lnTo>
                  <a:pt x="1028191" y="86664"/>
                </a:lnTo>
                <a:lnTo>
                  <a:pt x="1032832" y="87045"/>
                </a:lnTo>
                <a:close/>
              </a:path>
              <a:path w="2024379" h="358775">
                <a:moveTo>
                  <a:pt x="1020982" y="96039"/>
                </a:moveTo>
                <a:close/>
              </a:path>
              <a:path w="2024379" h="358775">
                <a:moveTo>
                  <a:pt x="1027543" y="96173"/>
                </a:moveTo>
                <a:lnTo>
                  <a:pt x="1020982" y="96039"/>
                </a:lnTo>
                <a:lnTo>
                  <a:pt x="1092263" y="96039"/>
                </a:lnTo>
                <a:lnTo>
                  <a:pt x="1093024" y="96164"/>
                </a:lnTo>
                <a:lnTo>
                  <a:pt x="1027429" y="96164"/>
                </a:lnTo>
                <a:close/>
              </a:path>
              <a:path w="2024379" h="358775">
                <a:moveTo>
                  <a:pt x="1096654" y="96761"/>
                </a:moveTo>
                <a:lnTo>
                  <a:pt x="1034875" y="96754"/>
                </a:lnTo>
                <a:lnTo>
                  <a:pt x="1027543" y="96173"/>
                </a:lnTo>
                <a:lnTo>
                  <a:pt x="1093178" y="96189"/>
                </a:lnTo>
                <a:lnTo>
                  <a:pt x="1096654" y="96761"/>
                </a:lnTo>
                <a:close/>
              </a:path>
              <a:path w="2024379" h="358775">
                <a:moveTo>
                  <a:pt x="1104222" y="98005"/>
                </a:moveTo>
                <a:lnTo>
                  <a:pt x="1044413" y="97993"/>
                </a:lnTo>
                <a:lnTo>
                  <a:pt x="1034851" y="96754"/>
                </a:lnTo>
                <a:lnTo>
                  <a:pt x="1096654" y="96761"/>
                </a:lnTo>
                <a:lnTo>
                  <a:pt x="1104222" y="98005"/>
                </a:lnTo>
                <a:close/>
              </a:path>
              <a:path w="2024379" h="358775">
                <a:moveTo>
                  <a:pt x="1306626" y="125310"/>
                </a:moveTo>
                <a:lnTo>
                  <a:pt x="1249146" y="121081"/>
                </a:lnTo>
                <a:lnTo>
                  <a:pt x="1139494" y="113436"/>
                </a:lnTo>
                <a:lnTo>
                  <a:pt x="1139050" y="113385"/>
                </a:lnTo>
                <a:lnTo>
                  <a:pt x="1077353" y="103238"/>
                </a:lnTo>
                <a:lnTo>
                  <a:pt x="1058087" y="100088"/>
                </a:lnTo>
                <a:lnTo>
                  <a:pt x="1044397" y="97993"/>
                </a:lnTo>
                <a:lnTo>
                  <a:pt x="1104222" y="98005"/>
                </a:lnTo>
                <a:lnTo>
                  <a:pt x="1140290" y="103936"/>
                </a:lnTo>
                <a:lnTo>
                  <a:pt x="1140155" y="103936"/>
                </a:lnTo>
                <a:lnTo>
                  <a:pt x="1140599" y="103987"/>
                </a:lnTo>
                <a:lnTo>
                  <a:pt x="1140883" y="103987"/>
                </a:lnTo>
                <a:lnTo>
                  <a:pt x="1336573" y="118160"/>
                </a:lnTo>
                <a:lnTo>
                  <a:pt x="1395806" y="123558"/>
                </a:lnTo>
                <a:lnTo>
                  <a:pt x="1412448" y="125298"/>
                </a:lnTo>
                <a:lnTo>
                  <a:pt x="1306588" y="125298"/>
                </a:lnTo>
                <a:close/>
              </a:path>
              <a:path w="2024379" h="358775">
                <a:moveTo>
                  <a:pt x="1140883" y="103987"/>
                </a:moveTo>
                <a:lnTo>
                  <a:pt x="1140599" y="103987"/>
                </a:lnTo>
                <a:lnTo>
                  <a:pt x="1140390" y="103953"/>
                </a:lnTo>
                <a:lnTo>
                  <a:pt x="1140883" y="103987"/>
                </a:lnTo>
                <a:close/>
              </a:path>
              <a:path w="2024379" h="358775">
                <a:moveTo>
                  <a:pt x="1597992" y="152311"/>
                </a:moveTo>
                <a:lnTo>
                  <a:pt x="1544332" y="152298"/>
                </a:lnTo>
                <a:lnTo>
                  <a:pt x="1514436" y="147624"/>
                </a:lnTo>
                <a:lnTo>
                  <a:pt x="1484490" y="143395"/>
                </a:lnTo>
                <a:lnTo>
                  <a:pt x="1454543" y="139585"/>
                </a:lnTo>
                <a:lnTo>
                  <a:pt x="1424647" y="136144"/>
                </a:lnTo>
                <a:lnTo>
                  <a:pt x="1394866" y="133032"/>
                </a:lnTo>
                <a:lnTo>
                  <a:pt x="1365224" y="130225"/>
                </a:lnTo>
                <a:lnTo>
                  <a:pt x="1335786" y="127660"/>
                </a:lnTo>
                <a:lnTo>
                  <a:pt x="1306588" y="125298"/>
                </a:lnTo>
                <a:lnTo>
                  <a:pt x="1412569" y="125310"/>
                </a:lnTo>
                <a:lnTo>
                  <a:pt x="1455686" y="130136"/>
                </a:lnTo>
                <a:lnTo>
                  <a:pt x="1515897" y="138214"/>
                </a:lnTo>
                <a:lnTo>
                  <a:pt x="1575904" y="148107"/>
                </a:lnTo>
                <a:lnTo>
                  <a:pt x="1590840" y="150901"/>
                </a:lnTo>
                <a:lnTo>
                  <a:pt x="1597992" y="152311"/>
                </a:lnTo>
                <a:close/>
              </a:path>
              <a:path w="2024379" h="358775">
                <a:moveTo>
                  <a:pt x="1699879" y="176301"/>
                </a:moveTo>
                <a:lnTo>
                  <a:pt x="1662455" y="176288"/>
                </a:lnTo>
                <a:lnTo>
                  <a:pt x="1647888" y="172770"/>
                </a:lnTo>
                <a:lnTo>
                  <a:pt x="1633245" y="169418"/>
                </a:lnTo>
                <a:lnTo>
                  <a:pt x="1618551" y="166217"/>
                </a:lnTo>
                <a:lnTo>
                  <a:pt x="1603794" y="163156"/>
                </a:lnTo>
                <a:lnTo>
                  <a:pt x="1588998" y="160248"/>
                </a:lnTo>
                <a:lnTo>
                  <a:pt x="1574152" y="157467"/>
                </a:lnTo>
                <a:lnTo>
                  <a:pt x="1544378" y="152306"/>
                </a:lnTo>
                <a:lnTo>
                  <a:pt x="1597992" y="152311"/>
                </a:lnTo>
                <a:lnTo>
                  <a:pt x="1620583" y="156908"/>
                </a:lnTo>
                <a:lnTo>
                  <a:pt x="1664792" y="167055"/>
                </a:lnTo>
                <a:lnTo>
                  <a:pt x="1693926" y="174637"/>
                </a:lnTo>
                <a:lnTo>
                  <a:pt x="1699879" y="176301"/>
                </a:lnTo>
                <a:close/>
              </a:path>
              <a:path w="2024379" h="358775">
                <a:moveTo>
                  <a:pt x="1712774" y="179971"/>
                </a:moveTo>
                <a:lnTo>
                  <a:pt x="1676946" y="179958"/>
                </a:lnTo>
                <a:lnTo>
                  <a:pt x="1662492" y="176297"/>
                </a:lnTo>
                <a:lnTo>
                  <a:pt x="1699879" y="176301"/>
                </a:lnTo>
                <a:lnTo>
                  <a:pt x="1708378" y="178676"/>
                </a:lnTo>
                <a:lnTo>
                  <a:pt x="1712774" y="179971"/>
                </a:lnTo>
                <a:close/>
              </a:path>
              <a:path w="2024379" h="358775">
                <a:moveTo>
                  <a:pt x="1725688" y="183819"/>
                </a:moveTo>
                <a:lnTo>
                  <a:pt x="1691363" y="183807"/>
                </a:lnTo>
                <a:lnTo>
                  <a:pt x="1676946" y="179958"/>
                </a:lnTo>
                <a:lnTo>
                  <a:pt x="1712774" y="179971"/>
                </a:lnTo>
                <a:lnTo>
                  <a:pt x="1722729" y="182905"/>
                </a:lnTo>
                <a:lnTo>
                  <a:pt x="1725688" y="183819"/>
                </a:lnTo>
                <a:close/>
              </a:path>
              <a:path w="2024379" h="358775">
                <a:moveTo>
                  <a:pt x="1738591" y="187832"/>
                </a:moveTo>
                <a:lnTo>
                  <a:pt x="1705704" y="187820"/>
                </a:lnTo>
                <a:lnTo>
                  <a:pt x="1691360" y="183807"/>
                </a:lnTo>
                <a:lnTo>
                  <a:pt x="1725688" y="183819"/>
                </a:lnTo>
                <a:lnTo>
                  <a:pt x="1736991" y="187312"/>
                </a:lnTo>
                <a:lnTo>
                  <a:pt x="1738591" y="187832"/>
                </a:lnTo>
                <a:close/>
              </a:path>
              <a:path w="2024379" h="358775">
                <a:moveTo>
                  <a:pt x="1751450" y="192024"/>
                </a:moveTo>
                <a:lnTo>
                  <a:pt x="1719930" y="192011"/>
                </a:lnTo>
                <a:lnTo>
                  <a:pt x="1705686" y="187820"/>
                </a:lnTo>
                <a:lnTo>
                  <a:pt x="1738591" y="187832"/>
                </a:lnTo>
                <a:lnTo>
                  <a:pt x="1751450" y="192024"/>
                </a:lnTo>
                <a:close/>
              </a:path>
              <a:path w="2024379" h="358775">
                <a:moveTo>
                  <a:pt x="1764278" y="196392"/>
                </a:moveTo>
                <a:lnTo>
                  <a:pt x="1734067" y="196380"/>
                </a:lnTo>
                <a:lnTo>
                  <a:pt x="1719922" y="192011"/>
                </a:lnTo>
                <a:lnTo>
                  <a:pt x="1751450" y="192024"/>
                </a:lnTo>
                <a:lnTo>
                  <a:pt x="1764278" y="196392"/>
                </a:lnTo>
                <a:close/>
              </a:path>
              <a:path w="2024379" h="358775">
                <a:moveTo>
                  <a:pt x="1777021" y="200952"/>
                </a:moveTo>
                <a:lnTo>
                  <a:pt x="1748103" y="200939"/>
                </a:lnTo>
                <a:lnTo>
                  <a:pt x="1734045" y="196380"/>
                </a:lnTo>
                <a:lnTo>
                  <a:pt x="1764278" y="196392"/>
                </a:lnTo>
                <a:lnTo>
                  <a:pt x="1765211" y="196710"/>
                </a:lnTo>
                <a:lnTo>
                  <a:pt x="1777021" y="200952"/>
                </a:lnTo>
                <a:close/>
              </a:path>
              <a:path w="2024379" h="358775">
                <a:moveTo>
                  <a:pt x="1815040" y="215798"/>
                </a:moveTo>
                <a:lnTo>
                  <a:pt x="1789531" y="215798"/>
                </a:lnTo>
                <a:lnTo>
                  <a:pt x="1775790" y="210629"/>
                </a:lnTo>
                <a:lnTo>
                  <a:pt x="1761998" y="205676"/>
                </a:lnTo>
                <a:lnTo>
                  <a:pt x="1748078" y="200939"/>
                </a:lnTo>
                <a:lnTo>
                  <a:pt x="1777021" y="200952"/>
                </a:lnTo>
                <a:lnTo>
                  <a:pt x="1779142" y="201714"/>
                </a:lnTo>
                <a:lnTo>
                  <a:pt x="1792960" y="206908"/>
                </a:lnTo>
                <a:lnTo>
                  <a:pt x="1806651" y="212318"/>
                </a:lnTo>
                <a:lnTo>
                  <a:pt x="1815040" y="215798"/>
                </a:lnTo>
                <a:close/>
              </a:path>
              <a:path w="2024379" h="358775">
                <a:moveTo>
                  <a:pt x="1827568" y="221145"/>
                </a:moveTo>
                <a:lnTo>
                  <a:pt x="1803082" y="221145"/>
                </a:lnTo>
                <a:lnTo>
                  <a:pt x="1789455" y="215772"/>
                </a:lnTo>
                <a:lnTo>
                  <a:pt x="1815040" y="215798"/>
                </a:lnTo>
                <a:lnTo>
                  <a:pt x="1820214" y="217944"/>
                </a:lnTo>
                <a:lnTo>
                  <a:pt x="1827568" y="221145"/>
                </a:lnTo>
                <a:close/>
              </a:path>
              <a:path w="2024379" h="358775">
                <a:moveTo>
                  <a:pt x="1840024" y="226707"/>
                </a:moveTo>
                <a:lnTo>
                  <a:pt x="1816480" y="226707"/>
                </a:lnTo>
                <a:lnTo>
                  <a:pt x="1803006" y="221119"/>
                </a:lnTo>
                <a:lnTo>
                  <a:pt x="1827568" y="221145"/>
                </a:lnTo>
                <a:lnTo>
                  <a:pt x="1833638" y="223786"/>
                </a:lnTo>
                <a:lnTo>
                  <a:pt x="1840024" y="226707"/>
                </a:lnTo>
                <a:close/>
              </a:path>
              <a:path w="2024379" h="358775">
                <a:moveTo>
                  <a:pt x="1864636" y="238480"/>
                </a:moveTo>
                <a:lnTo>
                  <a:pt x="1842871" y="238480"/>
                </a:lnTo>
                <a:lnTo>
                  <a:pt x="1829676" y="232448"/>
                </a:lnTo>
                <a:lnTo>
                  <a:pt x="1816404" y="226682"/>
                </a:lnTo>
                <a:lnTo>
                  <a:pt x="1840024" y="226707"/>
                </a:lnTo>
                <a:lnTo>
                  <a:pt x="1846910" y="229857"/>
                </a:lnTo>
                <a:lnTo>
                  <a:pt x="1860029" y="236156"/>
                </a:lnTo>
                <a:lnTo>
                  <a:pt x="1864636" y="238480"/>
                </a:lnTo>
                <a:close/>
              </a:path>
              <a:path w="2024379" h="358775">
                <a:moveTo>
                  <a:pt x="1876783" y="244703"/>
                </a:moveTo>
                <a:lnTo>
                  <a:pt x="1855825" y="244703"/>
                </a:lnTo>
                <a:lnTo>
                  <a:pt x="1842782" y="238442"/>
                </a:lnTo>
                <a:lnTo>
                  <a:pt x="1864636" y="238480"/>
                </a:lnTo>
                <a:lnTo>
                  <a:pt x="1872996" y="242696"/>
                </a:lnTo>
                <a:lnTo>
                  <a:pt x="1876783" y="244703"/>
                </a:lnTo>
                <a:close/>
              </a:path>
              <a:path w="2024379" h="358775">
                <a:moveTo>
                  <a:pt x="1888813" y="251155"/>
                </a:moveTo>
                <a:lnTo>
                  <a:pt x="1868627" y="251155"/>
                </a:lnTo>
                <a:lnTo>
                  <a:pt x="1855813" y="244697"/>
                </a:lnTo>
                <a:lnTo>
                  <a:pt x="1876783" y="244703"/>
                </a:lnTo>
                <a:lnTo>
                  <a:pt x="1885797" y="249478"/>
                </a:lnTo>
                <a:lnTo>
                  <a:pt x="1888813" y="251155"/>
                </a:lnTo>
                <a:close/>
              </a:path>
              <a:path w="2024379" h="358775">
                <a:moveTo>
                  <a:pt x="1924164" y="271945"/>
                </a:moveTo>
                <a:lnTo>
                  <a:pt x="1905990" y="271945"/>
                </a:lnTo>
                <a:lnTo>
                  <a:pt x="1893633" y="264718"/>
                </a:lnTo>
                <a:lnTo>
                  <a:pt x="1881174" y="257797"/>
                </a:lnTo>
                <a:lnTo>
                  <a:pt x="1868538" y="251117"/>
                </a:lnTo>
                <a:lnTo>
                  <a:pt x="1888813" y="251155"/>
                </a:lnTo>
                <a:lnTo>
                  <a:pt x="1898434" y="256501"/>
                </a:lnTo>
                <a:lnTo>
                  <a:pt x="1910880" y="263766"/>
                </a:lnTo>
                <a:lnTo>
                  <a:pt x="1923161" y="271297"/>
                </a:lnTo>
                <a:lnTo>
                  <a:pt x="1924164" y="271945"/>
                </a:lnTo>
                <a:close/>
              </a:path>
              <a:path w="2024379" h="358775">
                <a:moveTo>
                  <a:pt x="1935632" y="279361"/>
                </a:moveTo>
                <a:lnTo>
                  <a:pt x="1918080" y="279361"/>
                </a:lnTo>
                <a:lnTo>
                  <a:pt x="1905901" y="271894"/>
                </a:lnTo>
                <a:lnTo>
                  <a:pt x="1924164" y="271945"/>
                </a:lnTo>
                <a:lnTo>
                  <a:pt x="1935632" y="279361"/>
                </a:lnTo>
                <a:close/>
              </a:path>
              <a:path w="2024379" h="358775">
                <a:moveTo>
                  <a:pt x="1946957" y="287032"/>
                </a:moveTo>
                <a:lnTo>
                  <a:pt x="1929980" y="287032"/>
                </a:lnTo>
                <a:lnTo>
                  <a:pt x="1917992" y="279311"/>
                </a:lnTo>
                <a:lnTo>
                  <a:pt x="1935632" y="279361"/>
                </a:lnTo>
                <a:lnTo>
                  <a:pt x="1946957" y="287032"/>
                </a:lnTo>
                <a:close/>
              </a:path>
              <a:path w="2024379" h="358775">
                <a:moveTo>
                  <a:pt x="1969043" y="303161"/>
                </a:moveTo>
                <a:lnTo>
                  <a:pt x="1953183" y="303161"/>
                </a:lnTo>
                <a:lnTo>
                  <a:pt x="1941601" y="294906"/>
                </a:lnTo>
                <a:lnTo>
                  <a:pt x="1929891" y="286981"/>
                </a:lnTo>
                <a:lnTo>
                  <a:pt x="1946957" y="287032"/>
                </a:lnTo>
                <a:lnTo>
                  <a:pt x="1958809" y="295478"/>
                </a:lnTo>
                <a:lnTo>
                  <a:pt x="1969043" y="303161"/>
                </a:lnTo>
                <a:close/>
              </a:path>
              <a:path w="2024379" h="358775">
                <a:moveTo>
                  <a:pt x="2000848" y="329387"/>
                </a:moveTo>
                <a:lnTo>
                  <a:pt x="1986407" y="329387"/>
                </a:lnTo>
                <a:lnTo>
                  <a:pt x="1975459" y="320294"/>
                </a:lnTo>
                <a:lnTo>
                  <a:pt x="1964385" y="311556"/>
                </a:lnTo>
                <a:lnTo>
                  <a:pt x="1953098" y="303101"/>
                </a:lnTo>
                <a:lnTo>
                  <a:pt x="1969043" y="303161"/>
                </a:lnTo>
                <a:lnTo>
                  <a:pt x="1970277" y="304088"/>
                </a:lnTo>
                <a:lnTo>
                  <a:pt x="1981542" y="312966"/>
                </a:lnTo>
                <a:lnTo>
                  <a:pt x="1992579" y="322148"/>
                </a:lnTo>
                <a:lnTo>
                  <a:pt x="2000848" y="329387"/>
                </a:lnTo>
                <a:close/>
              </a:path>
              <a:path w="2024379" h="358775">
                <a:moveTo>
                  <a:pt x="2011059" y="338683"/>
                </a:moveTo>
                <a:lnTo>
                  <a:pt x="1997024" y="338683"/>
                </a:lnTo>
                <a:lnTo>
                  <a:pt x="1986305" y="329311"/>
                </a:lnTo>
                <a:lnTo>
                  <a:pt x="2000848" y="329387"/>
                </a:lnTo>
                <a:lnTo>
                  <a:pt x="2003386" y="331609"/>
                </a:lnTo>
                <a:lnTo>
                  <a:pt x="2011059" y="338683"/>
                </a:lnTo>
                <a:close/>
              </a:path>
              <a:path w="2024379" h="358775">
                <a:moveTo>
                  <a:pt x="2017560" y="358165"/>
                </a:moveTo>
                <a:lnTo>
                  <a:pt x="2007323" y="348195"/>
                </a:lnTo>
                <a:lnTo>
                  <a:pt x="1996935" y="338607"/>
                </a:lnTo>
                <a:lnTo>
                  <a:pt x="2011059" y="338683"/>
                </a:lnTo>
                <a:lnTo>
                  <a:pt x="2013965" y="341363"/>
                </a:lnTo>
                <a:lnTo>
                  <a:pt x="2024214" y="351332"/>
                </a:lnTo>
                <a:lnTo>
                  <a:pt x="2017560" y="3581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64540" y="2135504"/>
            <a:ext cx="6610984" cy="2330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996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(eliminates condition </a:t>
            </a:r>
            <a:r>
              <a:rPr sz="2400" dirty="0">
                <a:latin typeface="Tahoma"/>
                <a:cs typeface="Tahoma"/>
              </a:rPr>
              <a:t>2 of </a:t>
            </a:r>
            <a:r>
              <a:rPr sz="2400" spc="-35" dirty="0">
                <a:latin typeface="Tahoma"/>
                <a:cs typeface="Tahoma"/>
              </a:rPr>
              <a:t>V-S</a:t>
            </a:r>
            <a:r>
              <a:rPr sz="2400" spc="2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definition)</a:t>
            </a:r>
            <a:endParaRPr sz="2400">
              <a:latin typeface="Tahoma"/>
              <a:cs typeface="Tahoma"/>
            </a:endParaRPr>
          </a:p>
          <a:p>
            <a:pPr marR="1957070" algn="r">
              <a:lnSpc>
                <a:spcPct val="100000"/>
              </a:lnSpc>
              <a:spcBef>
                <a:spcPts val="1595"/>
              </a:spcBef>
            </a:pPr>
            <a:r>
              <a:rPr sz="2000" dirty="0">
                <a:latin typeface="Tahoma"/>
                <a:cs typeface="Tahoma"/>
              </a:rPr>
              <a:t>?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  <a:tabLst>
                <a:tab pos="1235710" algn="l"/>
              </a:tabLst>
            </a:pPr>
            <a:r>
              <a:rPr sz="3200" spc="-5" dirty="0">
                <a:latin typeface="Tahoma"/>
                <a:cs typeface="Tahoma"/>
              </a:rPr>
              <a:t>E.g.:	</a:t>
            </a:r>
            <a:r>
              <a:rPr sz="3200" dirty="0">
                <a:latin typeface="Tahoma"/>
                <a:cs typeface="Tahoma"/>
              </a:rPr>
              <a:t>S = </a:t>
            </a:r>
            <a:r>
              <a:rPr sz="3200" spc="-5" dirty="0">
                <a:latin typeface="Tahoma"/>
                <a:cs typeface="Tahoma"/>
              </a:rPr>
              <a:t>w</a:t>
            </a:r>
            <a:r>
              <a:rPr sz="2400" spc="-5" dirty="0">
                <a:latin typeface="Tahoma"/>
                <a:cs typeface="Tahoma"/>
              </a:rPr>
              <a:t>b</a:t>
            </a:r>
            <a:r>
              <a:rPr sz="3200" spc="-5" dirty="0">
                <a:latin typeface="Tahoma"/>
                <a:cs typeface="Tahoma"/>
              </a:rPr>
              <a:t>(A) ... r</a:t>
            </a:r>
            <a:r>
              <a:rPr sz="24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(A) </a:t>
            </a:r>
            <a:r>
              <a:rPr sz="3200" dirty="0">
                <a:latin typeface="Tahoma"/>
                <a:cs typeface="Tahoma"/>
              </a:rPr>
              <a:t>… </a:t>
            </a:r>
            <a:r>
              <a:rPr sz="3200" spc="-5" dirty="0">
                <a:latin typeface="Tahoma"/>
                <a:cs typeface="Tahoma"/>
              </a:rPr>
              <a:t>w</a:t>
            </a:r>
            <a:r>
              <a:rPr sz="24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(A)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…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900">
              <a:latin typeface="Tahoma"/>
              <a:cs typeface="Tahoma"/>
            </a:endParaRPr>
          </a:p>
          <a:p>
            <a:pPr marL="183007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Tahoma"/>
                <a:cs typeface="Tahoma"/>
              </a:rPr>
              <a:t>add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11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17</a:t>
            </a:fld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1918461"/>
            <a:ext cx="7563484" cy="1191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500"/>
              </a:lnSpc>
              <a:spcBef>
                <a:spcPts val="100"/>
              </a:spcBef>
            </a:pPr>
            <a:r>
              <a:rPr spc="-5" dirty="0"/>
              <a:t>(3) Create labeled precedence </a:t>
            </a:r>
            <a:r>
              <a:rPr spc="-15" dirty="0"/>
              <a:t>graph </a:t>
            </a:r>
            <a:r>
              <a:rPr spc="-5" dirty="0"/>
              <a:t>of S:  (3a) If w</a:t>
            </a:r>
            <a:r>
              <a:rPr sz="2400" spc="-5" dirty="0"/>
              <a:t>i</a:t>
            </a:r>
            <a:r>
              <a:rPr spc="-5" dirty="0"/>
              <a:t>(A) </a:t>
            </a:r>
            <a:r>
              <a:rPr dirty="0">
                <a:latin typeface="Symbol"/>
                <a:cs typeface="Symbol"/>
              </a:rPr>
              <a:t>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spc="-5" dirty="0"/>
              <a:t>r</a:t>
            </a:r>
            <a:r>
              <a:rPr sz="2400" spc="-5" dirty="0"/>
              <a:t>j</a:t>
            </a:r>
            <a:r>
              <a:rPr spc="-5" dirty="0"/>
              <a:t>(A) in </a:t>
            </a:r>
            <a:r>
              <a:rPr spc="-20" dirty="0"/>
              <a:t>S, </a:t>
            </a:r>
            <a:r>
              <a:rPr spc="-5" dirty="0"/>
              <a:t>add T</a:t>
            </a:r>
            <a:r>
              <a:rPr sz="2400" spc="-5" dirty="0"/>
              <a:t>i </a:t>
            </a:r>
            <a:r>
              <a:rPr dirty="0">
                <a:latin typeface="Symbol"/>
                <a:cs typeface="Symbol"/>
              </a:rPr>
              <a:t></a:t>
            </a:r>
            <a:r>
              <a:rPr spc="420" dirty="0">
                <a:latin typeface="Times New Roman"/>
                <a:cs typeface="Times New Roman"/>
              </a:rPr>
              <a:t> </a:t>
            </a:r>
            <a:r>
              <a:rPr spc="-5" dirty="0"/>
              <a:t>T</a:t>
            </a:r>
            <a:r>
              <a:rPr sz="2400" spc="-5" dirty="0"/>
              <a:t>j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11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689090" y="1390332"/>
            <a:ext cx="1644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ahoma"/>
                <a:cs typeface="Tahoma"/>
              </a:rPr>
              <a:t>0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07465" marR="5080" indent="-1295400">
              <a:lnSpc>
                <a:spcPct val="118400"/>
              </a:lnSpc>
              <a:spcBef>
                <a:spcPts val="95"/>
              </a:spcBef>
            </a:pPr>
            <a:r>
              <a:rPr spc="-5" dirty="0"/>
              <a:t>(3b) </a:t>
            </a:r>
            <a:r>
              <a:rPr spc="-30" dirty="0"/>
              <a:t>For </a:t>
            </a:r>
            <a:r>
              <a:rPr spc="-5" dirty="0"/>
              <a:t>each w</a:t>
            </a:r>
            <a:r>
              <a:rPr sz="2400" spc="-5" dirty="0"/>
              <a:t>i</a:t>
            </a:r>
            <a:r>
              <a:rPr spc="-5" dirty="0"/>
              <a:t>(A) </a:t>
            </a:r>
            <a:r>
              <a:rPr dirty="0">
                <a:latin typeface="Symbol"/>
                <a:cs typeface="Symbol"/>
              </a:rPr>
              <a:t>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spc="-5" dirty="0"/>
              <a:t>r</a:t>
            </a:r>
            <a:r>
              <a:rPr sz="2400" spc="-5" dirty="0"/>
              <a:t>j</a:t>
            </a:r>
            <a:r>
              <a:rPr spc="-5" dirty="0"/>
              <a:t>(A) </a:t>
            </a:r>
            <a:r>
              <a:rPr dirty="0"/>
              <a:t>do  </a:t>
            </a:r>
            <a:r>
              <a:rPr spc="-5" dirty="0"/>
              <a:t>consider each w</a:t>
            </a:r>
            <a:r>
              <a:rPr sz="2400" spc="-5" dirty="0"/>
              <a:t>k</a:t>
            </a:r>
            <a:r>
              <a:rPr spc="-5" dirty="0"/>
              <a:t>(A): </a:t>
            </a:r>
            <a:r>
              <a:rPr spc="5" dirty="0"/>
              <a:t>[T</a:t>
            </a:r>
            <a:r>
              <a:rPr sz="2400" spc="5" dirty="0"/>
              <a:t>k</a:t>
            </a:r>
            <a:r>
              <a:rPr sz="2400" spc="225" dirty="0"/>
              <a:t> </a:t>
            </a:r>
            <a:r>
              <a:rPr spc="-5" dirty="0">
                <a:latin typeface="Symbol"/>
                <a:cs typeface="Symbol"/>
              </a:rPr>
              <a:t></a:t>
            </a:r>
            <a:r>
              <a:rPr spc="-5" dirty="0"/>
              <a:t>T</a:t>
            </a:r>
            <a:r>
              <a:rPr sz="2400" spc="-5" dirty="0"/>
              <a:t>b</a:t>
            </a:r>
            <a:r>
              <a:rPr spc="-5" dirty="0"/>
              <a:t>]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12377" y="1672589"/>
            <a:ext cx="324866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948814" algn="l"/>
              </a:tabLst>
            </a:pPr>
            <a:r>
              <a:rPr sz="3200" dirty="0">
                <a:latin typeface="Tahoma"/>
                <a:cs typeface="Tahoma"/>
              </a:rPr>
              <a:t>- </a:t>
            </a:r>
            <a:r>
              <a:rPr sz="3200" spc="-5" dirty="0">
                <a:latin typeface="Tahoma"/>
                <a:cs typeface="Tahoma"/>
              </a:rPr>
              <a:t>If</a:t>
            </a:r>
            <a:r>
              <a:rPr sz="3200" spc="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i</a:t>
            </a:r>
            <a:r>
              <a:rPr sz="2400" spc="254" dirty="0">
                <a:latin typeface="Tahoma"/>
                <a:cs typeface="Tahoma"/>
              </a:rPr>
              <a:t> </a:t>
            </a:r>
            <a:r>
              <a:rPr sz="3200" spc="-5" dirty="0">
                <a:latin typeface="Symbol"/>
                <a:cs typeface="Symbol"/>
              </a:rPr>
              <a:t>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b	</a:t>
            </a:r>
            <a:r>
              <a:rPr sz="2400" dirty="0">
                <a:latin typeface="Symbol"/>
                <a:cs typeface="Symbol"/>
              </a:rPr>
              <a:t>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j</a:t>
            </a:r>
            <a:r>
              <a:rPr sz="2400" spc="315" dirty="0">
                <a:latin typeface="Tahoma"/>
                <a:cs typeface="Tahoma"/>
              </a:rPr>
              <a:t> </a:t>
            </a:r>
            <a:r>
              <a:rPr sz="3200" spc="-5" dirty="0">
                <a:latin typeface="Symbol"/>
                <a:cs typeface="Symbol"/>
              </a:rPr>
              <a:t>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f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21387" y="1429386"/>
            <a:ext cx="1953895" cy="1304925"/>
          </a:xfrm>
          <a:prstGeom prst="rect">
            <a:avLst/>
          </a:prstGeom>
        </p:spPr>
        <p:txBody>
          <a:bodyPr vert="horz" wrap="square" lIns="0" tIns="256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20"/>
              </a:spcBef>
            </a:pPr>
            <a:r>
              <a:rPr sz="3200" spc="-5" dirty="0">
                <a:latin typeface="Tahoma"/>
                <a:cs typeface="Tahoma"/>
              </a:rPr>
              <a:t>then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insert</a:t>
            </a:r>
            <a:endParaRPr sz="3200">
              <a:latin typeface="Tahoma"/>
              <a:cs typeface="Tahoma"/>
            </a:endParaRPr>
          </a:p>
          <a:p>
            <a:pPr marL="160655">
              <a:lnSpc>
                <a:spcPct val="100000"/>
              </a:lnSpc>
              <a:spcBef>
                <a:spcPts val="1435"/>
              </a:spcBef>
            </a:pPr>
            <a:r>
              <a:rPr sz="2400" spc="-5" dirty="0">
                <a:latin typeface="Tahoma"/>
                <a:cs typeface="Tahoma"/>
              </a:rPr>
              <a:t>some </a:t>
            </a:r>
            <a:r>
              <a:rPr sz="2400" dirty="0">
                <a:latin typeface="Tahoma"/>
                <a:cs typeface="Tahoma"/>
              </a:rPr>
              <a:t>new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94412" y="3377565"/>
            <a:ext cx="19538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then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insert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94412" y="4514215"/>
            <a:ext cx="19538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then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insert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83927" y="2161032"/>
            <a:ext cx="1393825" cy="116205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730"/>
              </a:spcBef>
              <a:tabLst>
                <a:tab pos="1031240" algn="l"/>
              </a:tabLst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k </a:t>
            </a:r>
            <a:r>
              <a:rPr sz="3200" spc="-1425" dirty="0">
                <a:latin typeface="Symbol"/>
                <a:cs typeface="Symbol"/>
              </a:rPr>
              <a:t></a:t>
            </a:r>
            <a:r>
              <a:rPr sz="3000" spc="-2137" baseline="31944" dirty="0">
                <a:latin typeface="Tahoma"/>
                <a:cs typeface="Tahoma"/>
              </a:rPr>
              <a:t>p	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i</a:t>
            </a:r>
            <a:endParaRPr sz="24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635"/>
              </a:spcBef>
              <a:tabLst>
                <a:tab pos="965200" algn="l"/>
              </a:tabLst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j </a:t>
            </a:r>
            <a:r>
              <a:rPr sz="3200" spc="-1335" dirty="0">
                <a:latin typeface="Symbol"/>
                <a:cs typeface="Symbol"/>
              </a:rPr>
              <a:t></a:t>
            </a:r>
            <a:r>
              <a:rPr sz="3000" spc="-2002" baseline="37500" dirty="0">
                <a:latin typeface="Tahoma"/>
                <a:cs typeface="Tahoma"/>
              </a:rPr>
              <a:t>p	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k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92538" y="2390775"/>
            <a:ext cx="81280" cy="847090"/>
          </a:xfrm>
          <a:custGeom>
            <a:avLst/>
            <a:gdLst/>
            <a:ahLst/>
            <a:cxnLst/>
            <a:rect l="l" t="t" r="r" b="b"/>
            <a:pathLst>
              <a:path w="81279" h="847089">
                <a:moveTo>
                  <a:pt x="81114" y="8889"/>
                </a:moveTo>
                <a:lnTo>
                  <a:pt x="59588" y="8889"/>
                </a:lnTo>
                <a:lnTo>
                  <a:pt x="62915" y="6350"/>
                </a:lnTo>
                <a:lnTo>
                  <a:pt x="63411" y="5080"/>
                </a:lnTo>
                <a:lnTo>
                  <a:pt x="66916" y="3810"/>
                </a:lnTo>
                <a:lnTo>
                  <a:pt x="67373" y="2539"/>
                </a:lnTo>
                <a:lnTo>
                  <a:pt x="69176" y="2539"/>
                </a:lnTo>
                <a:lnTo>
                  <a:pt x="71361" y="1269"/>
                </a:lnTo>
                <a:lnTo>
                  <a:pt x="71742" y="1269"/>
                </a:lnTo>
                <a:lnTo>
                  <a:pt x="74015" y="0"/>
                </a:lnTo>
                <a:lnTo>
                  <a:pt x="80683" y="0"/>
                </a:lnTo>
                <a:lnTo>
                  <a:pt x="81114" y="8889"/>
                </a:lnTo>
                <a:close/>
              </a:path>
              <a:path w="81279" h="847089">
                <a:moveTo>
                  <a:pt x="68719" y="13969"/>
                </a:moveTo>
                <a:lnTo>
                  <a:pt x="69214" y="12700"/>
                </a:lnTo>
                <a:lnTo>
                  <a:pt x="56057" y="12700"/>
                </a:lnTo>
                <a:lnTo>
                  <a:pt x="59194" y="8889"/>
                </a:lnTo>
                <a:lnTo>
                  <a:pt x="76581" y="8889"/>
                </a:lnTo>
                <a:lnTo>
                  <a:pt x="74701" y="10160"/>
                </a:lnTo>
                <a:lnTo>
                  <a:pt x="73571" y="10160"/>
                </a:lnTo>
                <a:lnTo>
                  <a:pt x="71767" y="11430"/>
                </a:lnTo>
                <a:lnTo>
                  <a:pt x="72224" y="11430"/>
                </a:lnTo>
                <a:lnTo>
                  <a:pt x="68719" y="13969"/>
                </a:lnTo>
                <a:close/>
              </a:path>
              <a:path w="81279" h="847089">
                <a:moveTo>
                  <a:pt x="76174" y="10160"/>
                </a:moveTo>
                <a:lnTo>
                  <a:pt x="76581" y="8889"/>
                </a:lnTo>
                <a:lnTo>
                  <a:pt x="78079" y="8889"/>
                </a:lnTo>
                <a:lnTo>
                  <a:pt x="76174" y="10160"/>
                </a:lnTo>
                <a:close/>
              </a:path>
              <a:path w="81279" h="847089">
                <a:moveTo>
                  <a:pt x="43213" y="386080"/>
                </a:moveTo>
                <a:lnTo>
                  <a:pt x="33591" y="386080"/>
                </a:lnTo>
                <a:lnTo>
                  <a:pt x="35204" y="379730"/>
                </a:lnTo>
                <a:lnTo>
                  <a:pt x="36410" y="373380"/>
                </a:lnTo>
                <a:lnTo>
                  <a:pt x="37312" y="367030"/>
                </a:lnTo>
                <a:lnTo>
                  <a:pt x="37858" y="360680"/>
                </a:lnTo>
                <a:lnTo>
                  <a:pt x="38036" y="353060"/>
                </a:lnTo>
                <a:lnTo>
                  <a:pt x="38036" y="73660"/>
                </a:lnTo>
                <a:lnTo>
                  <a:pt x="38252" y="66039"/>
                </a:lnTo>
                <a:lnTo>
                  <a:pt x="47231" y="27939"/>
                </a:lnTo>
                <a:lnTo>
                  <a:pt x="49872" y="21589"/>
                </a:lnTo>
                <a:lnTo>
                  <a:pt x="52577" y="17780"/>
                </a:lnTo>
                <a:lnTo>
                  <a:pt x="52819" y="17780"/>
                </a:lnTo>
                <a:lnTo>
                  <a:pt x="55752" y="12700"/>
                </a:lnTo>
                <a:lnTo>
                  <a:pt x="69214" y="12700"/>
                </a:lnTo>
                <a:lnTo>
                  <a:pt x="66996" y="15239"/>
                </a:lnTo>
                <a:lnTo>
                  <a:pt x="66281" y="15239"/>
                </a:lnTo>
                <a:lnTo>
                  <a:pt x="63144" y="19050"/>
                </a:lnTo>
                <a:lnTo>
                  <a:pt x="63449" y="19050"/>
                </a:lnTo>
                <a:lnTo>
                  <a:pt x="60515" y="22860"/>
                </a:lnTo>
                <a:lnTo>
                  <a:pt x="60744" y="22860"/>
                </a:lnTo>
                <a:lnTo>
                  <a:pt x="58038" y="26669"/>
                </a:lnTo>
                <a:lnTo>
                  <a:pt x="58229" y="26669"/>
                </a:lnTo>
                <a:lnTo>
                  <a:pt x="55765" y="31750"/>
                </a:lnTo>
                <a:lnTo>
                  <a:pt x="55905" y="31750"/>
                </a:lnTo>
                <a:lnTo>
                  <a:pt x="53721" y="36830"/>
                </a:lnTo>
                <a:lnTo>
                  <a:pt x="51917" y="41910"/>
                </a:lnTo>
                <a:lnTo>
                  <a:pt x="50393" y="48260"/>
                </a:lnTo>
                <a:lnTo>
                  <a:pt x="49443" y="53339"/>
                </a:lnTo>
                <a:lnTo>
                  <a:pt x="49225" y="53339"/>
                </a:lnTo>
                <a:lnTo>
                  <a:pt x="48442" y="59689"/>
                </a:lnTo>
                <a:lnTo>
                  <a:pt x="47751" y="67310"/>
                </a:lnTo>
                <a:lnTo>
                  <a:pt x="47561" y="73660"/>
                </a:lnTo>
                <a:lnTo>
                  <a:pt x="47561" y="353060"/>
                </a:lnTo>
                <a:lnTo>
                  <a:pt x="47345" y="360680"/>
                </a:lnTo>
                <a:lnTo>
                  <a:pt x="46774" y="368300"/>
                </a:lnTo>
                <a:lnTo>
                  <a:pt x="45808" y="374650"/>
                </a:lnTo>
                <a:lnTo>
                  <a:pt x="44411" y="382269"/>
                </a:lnTo>
                <a:lnTo>
                  <a:pt x="43213" y="386080"/>
                </a:lnTo>
                <a:close/>
              </a:path>
              <a:path w="81279" h="847089">
                <a:moveTo>
                  <a:pt x="65887" y="16510"/>
                </a:moveTo>
                <a:lnTo>
                  <a:pt x="66281" y="15239"/>
                </a:lnTo>
                <a:lnTo>
                  <a:pt x="66996" y="15239"/>
                </a:lnTo>
                <a:lnTo>
                  <a:pt x="65887" y="16510"/>
                </a:lnTo>
                <a:close/>
              </a:path>
              <a:path w="81279" h="847089">
                <a:moveTo>
                  <a:pt x="49187" y="54610"/>
                </a:moveTo>
                <a:lnTo>
                  <a:pt x="49225" y="53339"/>
                </a:lnTo>
                <a:lnTo>
                  <a:pt x="49443" y="53339"/>
                </a:lnTo>
                <a:lnTo>
                  <a:pt x="49187" y="54610"/>
                </a:lnTo>
                <a:close/>
              </a:path>
              <a:path w="81279" h="847089">
                <a:moveTo>
                  <a:pt x="48285" y="60960"/>
                </a:moveTo>
                <a:lnTo>
                  <a:pt x="48323" y="59689"/>
                </a:lnTo>
                <a:lnTo>
                  <a:pt x="48285" y="60960"/>
                </a:lnTo>
                <a:close/>
              </a:path>
              <a:path w="81279" h="847089">
                <a:moveTo>
                  <a:pt x="35725" y="405130"/>
                </a:moveTo>
                <a:lnTo>
                  <a:pt x="24853" y="405130"/>
                </a:lnTo>
                <a:lnTo>
                  <a:pt x="27559" y="400050"/>
                </a:lnTo>
                <a:lnTo>
                  <a:pt x="27368" y="400050"/>
                </a:lnTo>
                <a:lnTo>
                  <a:pt x="29832" y="396239"/>
                </a:lnTo>
                <a:lnTo>
                  <a:pt x="29692" y="396239"/>
                </a:lnTo>
                <a:lnTo>
                  <a:pt x="31876" y="391160"/>
                </a:lnTo>
                <a:lnTo>
                  <a:pt x="33680" y="384810"/>
                </a:lnTo>
                <a:lnTo>
                  <a:pt x="33591" y="386080"/>
                </a:lnTo>
                <a:lnTo>
                  <a:pt x="43213" y="386080"/>
                </a:lnTo>
                <a:lnTo>
                  <a:pt x="40817" y="393700"/>
                </a:lnTo>
                <a:lnTo>
                  <a:pt x="38366" y="400050"/>
                </a:lnTo>
                <a:lnTo>
                  <a:pt x="35725" y="405130"/>
                </a:lnTo>
                <a:close/>
              </a:path>
              <a:path w="81279" h="847089">
                <a:moveTo>
                  <a:pt x="33696" y="408939"/>
                </a:moveTo>
                <a:lnTo>
                  <a:pt x="22148" y="408939"/>
                </a:lnTo>
                <a:lnTo>
                  <a:pt x="25082" y="403860"/>
                </a:lnTo>
                <a:lnTo>
                  <a:pt x="24853" y="405130"/>
                </a:lnTo>
                <a:lnTo>
                  <a:pt x="35725" y="405130"/>
                </a:lnTo>
                <a:lnTo>
                  <a:pt x="33696" y="408939"/>
                </a:lnTo>
                <a:close/>
              </a:path>
              <a:path w="81279" h="847089">
                <a:moveTo>
                  <a:pt x="29845" y="414019"/>
                </a:moveTo>
                <a:lnTo>
                  <a:pt x="16383" y="414019"/>
                </a:lnTo>
                <a:lnTo>
                  <a:pt x="19710" y="411480"/>
                </a:lnTo>
                <a:lnTo>
                  <a:pt x="19316" y="411480"/>
                </a:lnTo>
                <a:lnTo>
                  <a:pt x="22453" y="407669"/>
                </a:lnTo>
                <a:lnTo>
                  <a:pt x="22148" y="408939"/>
                </a:lnTo>
                <a:lnTo>
                  <a:pt x="33696" y="408939"/>
                </a:lnTo>
                <a:lnTo>
                  <a:pt x="33020" y="410210"/>
                </a:lnTo>
                <a:lnTo>
                  <a:pt x="32778" y="410210"/>
                </a:lnTo>
                <a:lnTo>
                  <a:pt x="29845" y="414019"/>
                </a:lnTo>
                <a:close/>
              </a:path>
              <a:path w="81279" h="847089">
                <a:moveTo>
                  <a:pt x="26403" y="417830"/>
                </a:moveTo>
                <a:lnTo>
                  <a:pt x="10528" y="417830"/>
                </a:lnTo>
                <a:lnTo>
                  <a:pt x="12369" y="416560"/>
                </a:lnTo>
                <a:lnTo>
                  <a:pt x="13373" y="416560"/>
                </a:lnTo>
                <a:lnTo>
                  <a:pt x="16878" y="414019"/>
                </a:lnTo>
                <a:lnTo>
                  <a:pt x="29540" y="414019"/>
                </a:lnTo>
                <a:lnTo>
                  <a:pt x="26403" y="417830"/>
                </a:lnTo>
                <a:close/>
              </a:path>
              <a:path w="81279" h="847089">
                <a:moveTo>
                  <a:pt x="13373" y="416560"/>
                </a:moveTo>
                <a:lnTo>
                  <a:pt x="12026" y="416560"/>
                </a:lnTo>
                <a:lnTo>
                  <a:pt x="13830" y="415289"/>
                </a:lnTo>
                <a:lnTo>
                  <a:pt x="13373" y="416560"/>
                </a:lnTo>
                <a:close/>
              </a:path>
              <a:path w="81279" h="847089">
                <a:moveTo>
                  <a:pt x="22682" y="421639"/>
                </a:moveTo>
                <a:lnTo>
                  <a:pt x="16421" y="421639"/>
                </a:lnTo>
                <a:lnTo>
                  <a:pt x="14236" y="420369"/>
                </a:lnTo>
                <a:lnTo>
                  <a:pt x="11988" y="419100"/>
                </a:lnTo>
                <a:lnTo>
                  <a:pt x="4483" y="419100"/>
                </a:lnTo>
                <a:lnTo>
                  <a:pt x="6438" y="417830"/>
                </a:lnTo>
                <a:lnTo>
                  <a:pt x="26009" y="417830"/>
                </a:lnTo>
                <a:lnTo>
                  <a:pt x="22682" y="421639"/>
                </a:lnTo>
                <a:close/>
              </a:path>
              <a:path w="81279" h="847089">
                <a:moveTo>
                  <a:pt x="4914" y="427989"/>
                </a:moveTo>
                <a:lnTo>
                  <a:pt x="2908" y="427989"/>
                </a:lnTo>
                <a:lnTo>
                  <a:pt x="1549" y="426719"/>
                </a:lnTo>
                <a:lnTo>
                  <a:pt x="533" y="425450"/>
                </a:lnTo>
                <a:lnTo>
                  <a:pt x="0" y="424180"/>
                </a:lnTo>
                <a:lnTo>
                  <a:pt x="0" y="422910"/>
                </a:lnTo>
                <a:lnTo>
                  <a:pt x="533" y="420369"/>
                </a:lnTo>
                <a:lnTo>
                  <a:pt x="1549" y="419100"/>
                </a:lnTo>
                <a:lnTo>
                  <a:pt x="4914" y="419100"/>
                </a:lnTo>
                <a:lnTo>
                  <a:pt x="4914" y="427989"/>
                </a:lnTo>
                <a:close/>
              </a:path>
              <a:path w="81279" h="847089">
                <a:moveTo>
                  <a:pt x="9677" y="427989"/>
                </a:moveTo>
                <a:lnTo>
                  <a:pt x="4914" y="427989"/>
                </a:lnTo>
                <a:lnTo>
                  <a:pt x="4914" y="419100"/>
                </a:lnTo>
                <a:lnTo>
                  <a:pt x="11988" y="419100"/>
                </a:lnTo>
                <a:lnTo>
                  <a:pt x="14236" y="420369"/>
                </a:lnTo>
                <a:lnTo>
                  <a:pt x="16421" y="421639"/>
                </a:lnTo>
                <a:lnTo>
                  <a:pt x="18224" y="421639"/>
                </a:lnTo>
                <a:lnTo>
                  <a:pt x="18681" y="422910"/>
                </a:lnTo>
                <a:lnTo>
                  <a:pt x="19850" y="423333"/>
                </a:lnTo>
                <a:lnTo>
                  <a:pt x="18681" y="424180"/>
                </a:lnTo>
                <a:lnTo>
                  <a:pt x="18224" y="424180"/>
                </a:lnTo>
                <a:lnTo>
                  <a:pt x="16421" y="425450"/>
                </a:lnTo>
                <a:lnTo>
                  <a:pt x="14236" y="426719"/>
                </a:lnTo>
                <a:lnTo>
                  <a:pt x="11582" y="426719"/>
                </a:lnTo>
                <a:lnTo>
                  <a:pt x="9677" y="427989"/>
                </a:lnTo>
                <a:close/>
              </a:path>
              <a:path w="81279" h="847089">
                <a:moveTo>
                  <a:pt x="19850" y="423333"/>
                </a:moveTo>
                <a:lnTo>
                  <a:pt x="18681" y="422910"/>
                </a:lnTo>
                <a:lnTo>
                  <a:pt x="18224" y="421639"/>
                </a:lnTo>
                <a:lnTo>
                  <a:pt x="22186" y="421639"/>
                </a:lnTo>
                <a:lnTo>
                  <a:pt x="19850" y="423333"/>
                </a:lnTo>
                <a:close/>
              </a:path>
              <a:path w="81279" h="847089">
                <a:moveTo>
                  <a:pt x="26009" y="427989"/>
                </a:moveTo>
                <a:lnTo>
                  <a:pt x="9677" y="427989"/>
                </a:lnTo>
                <a:lnTo>
                  <a:pt x="11582" y="426719"/>
                </a:lnTo>
                <a:lnTo>
                  <a:pt x="14236" y="426719"/>
                </a:lnTo>
                <a:lnTo>
                  <a:pt x="16421" y="425450"/>
                </a:lnTo>
                <a:lnTo>
                  <a:pt x="18224" y="424180"/>
                </a:lnTo>
                <a:lnTo>
                  <a:pt x="18681" y="424180"/>
                </a:lnTo>
                <a:lnTo>
                  <a:pt x="19850" y="423333"/>
                </a:lnTo>
                <a:lnTo>
                  <a:pt x="22186" y="424180"/>
                </a:lnTo>
                <a:lnTo>
                  <a:pt x="22682" y="425450"/>
                </a:lnTo>
                <a:lnTo>
                  <a:pt x="26009" y="427989"/>
                </a:lnTo>
                <a:close/>
              </a:path>
              <a:path w="81279" h="847089">
                <a:moveTo>
                  <a:pt x="9423" y="429260"/>
                </a:moveTo>
                <a:lnTo>
                  <a:pt x="7518" y="427989"/>
                </a:lnTo>
                <a:lnTo>
                  <a:pt x="9016" y="427989"/>
                </a:lnTo>
                <a:lnTo>
                  <a:pt x="9423" y="429260"/>
                </a:lnTo>
                <a:close/>
              </a:path>
              <a:path w="81279" h="847089">
                <a:moveTo>
                  <a:pt x="16878" y="433069"/>
                </a:moveTo>
                <a:lnTo>
                  <a:pt x="13373" y="430530"/>
                </a:lnTo>
                <a:lnTo>
                  <a:pt x="13830" y="430530"/>
                </a:lnTo>
                <a:lnTo>
                  <a:pt x="12026" y="429260"/>
                </a:lnTo>
                <a:lnTo>
                  <a:pt x="10896" y="429260"/>
                </a:lnTo>
                <a:lnTo>
                  <a:pt x="9016" y="427989"/>
                </a:lnTo>
                <a:lnTo>
                  <a:pt x="26403" y="427989"/>
                </a:lnTo>
                <a:lnTo>
                  <a:pt x="29540" y="431800"/>
                </a:lnTo>
                <a:lnTo>
                  <a:pt x="16383" y="431800"/>
                </a:lnTo>
                <a:lnTo>
                  <a:pt x="16878" y="433069"/>
                </a:lnTo>
                <a:close/>
              </a:path>
              <a:path w="81279" h="847089">
                <a:moveTo>
                  <a:pt x="19710" y="435610"/>
                </a:moveTo>
                <a:lnTo>
                  <a:pt x="16383" y="431800"/>
                </a:lnTo>
                <a:lnTo>
                  <a:pt x="29845" y="431800"/>
                </a:lnTo>
                <a:lnTo>
                  <a:pt x="31311" y="434339"/>
                </a:lnTo>
                <a:lnTo>
                  <a:pt x="19316" y="434339"/>
                </a:lnTo>
                <a:lnTo>
                  <a:pt x="19710" y="435610"/>
                </a:lnTo>
                <a:close/>
              </a:path>
              <a:path w="81279" h="847089">
                <a:moveTo>
                  <a:pt x="36410" y="473710"/>
                </a:moveTo>
                <a:lnTo>
                  <a:pt x="35140" y="467360"/>
                </a:lnTo>
                <a:lnTo>
                  <a:pt x="33591" y="461010"/>
                </a:lnTo>
                <a:lnTo>
                  <a:pt x="31775" y="455930"/>
                </a:lnTo>
                <a:lnTo>
                  <a:pt x="29692" y="450850"/>
                </a:lnTo>
                <a:lnTo>
                  <a:pt x="29832" y="450850"/>
                </a:lnTo>
                <a:lnTo>
                  <a:pt x="27368" y="445769"/>
                </a:lnTo>
                <a:lnTo>
                  <a:pt x="27559" y="445769"/>
                </a:lnTo>
                <a:lnTo>
                  <a:pt x="24853" y="441960"/>
                </a:lnTo>
                <a:lnTo>
                  <a:pt x="25082" y="441960"/>
                </a:lnTo>
                <a:lnTo>
                  <a:pt x="22148" y="438150"/>
                </a:lnTo>
                <a:lnTo>
                  <a:pt x="22453" y="438150"/>
                </a:lnTo>
                <a:lnTo>
                  <a:pt x="19316" y="434339"/>
                </a:lnTo>
                <a:lnTo>
                  <a:pt x="31311" y="434339"/>
                </a:lnTo>
                <a:lnTo>
                  <a:pt x="32778" y="436880"/>
                </a:lnTo>
                <a:lnTo>
                  <a:pt x="33020" y="436880"/>
                </a:lnTo>
                <a:lnTo>
                  <a:pt x="35725" y="440689"/>
                </a:lnTo>
                <a:lnTo>
                  <a:pt x="38366" y="447039"/>
                </a:lnTo>
                <a:lnTo>
                  <a:pt x="40817" y="452119"/>
                </a:lnTo>
                <a:lnTo>
                  <a:pt x="42811" y="458469"/>
                </a:lnTo>
                <a:lnTo>
                  <a:pt x="44475" y="464819"/>
                </a:lnTo>
                <a:lnTo>
                  <a:pt x="45808" y="471169"/>
                </a:lnTo>
                <a:lnTo>
                  <a:pt x="45969" y="472439"/>
                </a:lnTo>
                <a:lnTo>
                  <a:pt x="36372" y="472439"/>
                </a:lnTo>
                <a:lnTo>
                  <a:pt x="36410" y="473710"/>
                </a:lnTo>
                <a:close/>
              </a:path>
              <a:path w="81279" h="847089">
                <a:moveTo>
                  <a:pt x="69214" y="833119"/>
                </a:moveTo>
                <a:lnTo>
                  <a:pt x="55752" y="833119"/>
                </a:lnTo>
                <a:lnTo>
                  <a:pt x="52819" y="829310"/>
                </a:lnTo>
                <a:lnTo>
                  <a:pt x="52577" y="829310"/>
                </a:lnTo>
                <a:lnTo>
                  <a:pt x="38823" y="787400"/>
                </a:lnTo>
                <a:lnTo>
                  <a:pt x="38036" y="772160"/>
                </a:lnTo>
                <a:lnTo>
                  <a:pt x="38036" y="492760"/>
                </a:lnTo>
                <a:lnTo>
                  <a:pt x="37846" y="486410"/>
                </a:lnTo>
                <a:lnTo>
                  <a:pt x="37274" y="478789"/>
                </a:lnTo>
                <a:lnTo>
                  <a:pt x="36372" y="472439"/>
                </a:lnTo>
                <a:lnTo>
                  <a:pt x="45969" y="472439"/>
                </a:lnTo>
                <a:lnTo>
                  <a:pt x="46774" y="478789"/>
                </a:lnTo>
                <a:lnTo>
                  <a:pt x="47358" y="486410"/>
                </a:lnTo>
                <a:lnTo>
                  <a:pt x="47561" y="492760"/>
                </a:lnTo>
                <a:lnTo>
                  <a:pt x="47561" y="772160"/>
                </a:lnTo>
                <a:lnTo>
                  <a:pt x="47751" y="779780"/>
                </a:lnTo>
                <a:lnTo>
                  <a:pt x="48323" y="786130"/>
                </a:lnTo>
                <a:lnTo>
                  <a:pt x="49225" y="792480"/>
                </a:lnTo>
                <a:lnTo>
                  <a:pt x="50469" y="798830"/>
                </a:lnTo>
                <a:lnTo>
                  <a:pt x="52006" y="805180"/>
                </a:lnTo>
                <a:lnTo>
                  <a:pt x="52298" y="805180"/>
                </a:lnTo>
                <a:lnTo>
                  <a:pt x="53822" y="810260"/>
                </a:lnTo>
                <a:lnTo>
                  <a:pt x="55905" y="815339"/>
                </a:lnTo>
                <a:lnTo>
                  <a:pt x="55765" y="815339"/>
                </a:lnTo>
                <a:lnTo>
                  <a:pt x="58229" y="819150"/>
                </a:lnTo>
                <a:lnTo>
                  <a:pt x="58038" y="819150"/>
                </a:lnTo>
                <a:lnTo>
                  <a:pt x="60744" y="824230"/>
                </a:lnTo>
                <a:lnTo>
                  <a:pt x="61248" y="824230"/>
                </a:lnTo>
                <a:lnTo>
                  <a:pt x="63449" y="828039"/>
                </a:lnTo>
                <a:lnTo>
                  <a:pt x="64190" y="828039"/>
                </a:lnTo>
                <a:lnTo>
                  <a:pt x="66281" y="830580"/>
                </a:lnTo>
                <a:lnTo>
                  <a:pt x="65887" y="830580"/>
                </a:lnTo>
                <a:lnTo>
                  <a:pt x="69214" y="833119"/>
                </a:lnTo>
                <a:close/>
              </a:path>
              <a:path w="81279" h="847089">
                <a:moveTo>
                  <a:pt x="37312" y="480060"/>
                </a:moveTo>
                <a:lnTo>
                  <a:pt x="37155" y="478789"/>
                </a:lnTo>
                <a:lnTo>
                  <a:pt x="37312" y="480060"/>
                </a:lnTo>
                <a:close/>
              </a:path>
              <a:path w="81279" h="847089">
                <a:moveTo>
                  <a:pt x="52298" y="805180"/>
                </a:moveTo>
                <a:lnTo>
                  <a:pt x="52006" y="805180"/>
                </a:lnTo>
                <a:lnTo>
                  <a:pt x="51917" y="803910"/>
                </a:lnTo>
                <a:lnTo>
                  <a:pt x="52298" y="805180"/>
                </a:lnTo>
                <a:close/>
              </a:path>
              <a:path w="81279" h="847089">
                <a:moveTo>
                  <a:pt x="61248" y="824230"/>
                </a:moveTo>
                <a:lnTo>
                  <a:pt x="60744" y="824230"/>
                </a:lnTo>
                <a:lnTo>
                  <a:pt x="60515" y="822960"/>
                </a:lnTo>
                <a:lnTo>
                  <a:pt x="61248" y="824230"/>
                </a:lnTo>
                <a:close/>
              </a:path>
              <a:path w="81279" h="847089">
                <a:moveTo>
                  <a:pt x="64190" y="828039"/>
                </a:moveTo>
                <a:lnTo>
                  <a:pt x="63449" y="828039"/>
                </a:lnTo>
                <a:lnTo>
                  <a:pt x="63144" y="826769"/>
                </a:lnTo>
                <a:lnTo>
                  <a:pt x="64190" y="828039"/>
                </a:lnTo>
                <a:close/>
              </a:path>
              <a:path w="81279" h="847089">
                <a:moveTo>
                  <a:pt x="75069" y="836930"/>
                </a:moveTo>
                <a:lnTo>
                  <a:pt x="59194" y="836930"/>
                </a:lnTo>
                <a:lnTo>
                  <a:pt x="56057" y="833119"/>
                </a:lnTo>
                <a:lnTo>
                  <a:pt x="68719" y="833119"/>
                </a:lnTo>
                <a:lnTo>
                  <a:pt x="72224" y="835660"/>
                </a:lnTo>
                <a:lnTo>
                  <a:pt x="73228" y="835660"/>
                </a:lnTo>
                <a:lnTo>
                  <a:pt x="75069" y="836930"/>
                </a:lnTo>
                <a:close/>
              </a:path>
              <a:path w="81279" h="847089">
                <a:moveTo>
                  <a:pt x="73571" y="835660"/>
                </a:moveTo>
                <a:lnTo>
                  <a:pt x="72224" y="835660"/>
                </a:lnTo>
                <a:lnTo>
                  <a:pt x="71767" y="834389"/>
                </a:lnTo>
                <a:lnTo>
                  <a:pt x="73571" y="835660"/>
                </a:lnTo>
                <a:close/>
              </a:path>
              <a:path w="81279" h="847089">
                <a:moveTo>
                  <a:pt x="80683" y="847089"/>
                </a:moveTo>
                <a:lnTo>
                  <a:pt x="75920" y="847089"/>
                </a:lnTo>
                <a:lnTo>
                  <a:pt x="74015" y="845819"/>
                </a:lnTo>
                <a:lnTo>
                  <a:pt x="71361" y="845819"/>
                </a:lnTo>
                <a:lnTo>
                  <a:pt x="69176" y="844550"/>
                </a:lnTo>
                <a:lnTo>
                  <a:pt x="67373" y="843280"/>
                </a:lnTo>
                <a:lnTo>
                  <a:pt x="66916" y="843280"/>
                </a:lnTo>
                <a:lnTo>
                  <a:pt x="63411" y="840739"/>
                </a:lnTo>
                <a:lnTo>
                  <a:pt x="62915" y="840739"/>
                </a:lnTo>
                <a:lnTo>
                  <a:pt x="59588" y="836930"/>
                </a:lnTo>
                <a:lnTo>
                  <a:pt x="79159" y="836930"/>
                </a:lnTo>
                <a:lnTo>
                  <a:pt x="81114" y="838200"/>
                </a:lnTo>
                <a:lnTo>
                  <a:pt x="80683" y="8470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486977" y="3297682"/>
            <a:ext cx="3372485" cy="116205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30"/>
              </a:spcBef>
              <a:tabLst>
                <a:tab pos="2047239" algn="l"/>
              </a:tabLst>
            </a:pPr>
            <a:r>
              <a:rPr sz="3200" dirty="0">
                <a:latin typeface="Tahoma"/>
                <a:cs typeface="Tahoma"/>
              </a:rPr>
              <a:t>- </a:t>
            </a:r>
            <a:r>
              <a:rPr sz="3200" spc="-5" dirty="0">
                <a:latin typeface="Tahoma"/>
                <a:cs typeface="Tahoma"/>
              </a:rPr>
              <a:t>If</a:t>
            </a:r>
            <a:r>
              <a:rPr sz="3200" spc="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i</a:t>
            </a:r>
            <a:r>
              <a:rPr sz="2400" spc="254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=T</a:t>
            </a:r>
            <a:r>
              <a:rPr sz="2400" spc="-5" dirty="0">
                <a:latin typeface="Tahoma"/>
                <a:cs typeface="Tahoma"/>
              </a:rPr>
              <a:t>b	</a:t>
            </a:r>
            <a:r>
              <a:rPr sz="2400" dirty="0">
                <a:latin typeface="Symbol"/>
                <a:cs typeface="Symbol"/>
              </a:rPr>
              <a:t>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j</a:t>
            </a:r>
            <a:r>
              <a:rPr sz="2400" spc="325" dirty="0">
                <a:latin typeface="Tahoma"/>
                <a:cs typeface="Tahoma"/>
              </a:rPr>
              <a:t> </a:t>
            </a:r>
            <a:r>
              <a:rPr sz="3200" spc="-5" dirty="0">
                <a:latin typeface="Symbol"/>
                <a:cs typeface="Symbol"/>
              </a:rPr>
              <a:t>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f</a:t>
            </a:r>
            <a:endParaRPr sz="2400">
              <a:latin typeface="Tahoma"/>
              <a:cs typeface="Tahoma"/>
            </a:endParaRPr>
          </a:p>
          <a:p>
            <a:pPr marL="1143000">
              <a:lnSpc>
                <a:spcPct val="100000"/>
              </a:lnSpc>
              <a:spcBef>
                <a:spcPts val="635"/>
              </a:spcBef>
              <a:tabLst>
                <a:tab pos="2057400" algn="l"/>
              </a:tabLst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j </a:t>
            </a:r>
            <a:r>
              <a:rPr sz="3200" spc="-1455" dirty="0">
                <a:latin typeface="Symbol"/>
                <a:cs typeface="Symbol"/>
              </a:rPr>
              <a:t></a:t>
            </a:r>
            <a:r>
              <a:rPr sz="3000" spc="-2182" baseline="50000" dirty="0">
                <a:latin typeface="Tahoma"/>
                <a:cs typeface="Tahoma"/>
              </a:rPr>
              <a:t>0	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k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11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2486977" y="4434332"/>
            <a:ext cx="3372485" cy="116205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35"/>
              </a:spcBef>
              <a:tabLst>
                <a:tab pos="1974214" algn="l"/>
              </a:tabLst>
            </a:pPr>
            <a:r>
              <a:rPr sz="3200" dirty="0">
                <a:latin typeface="Tahoma"/>
                <a:cs typeface="Tahoma"/>
              </a:rPr>
              <a:t>- </a:t>
            </a:r>
            <a:r>
              <a:rPr sz="3200" spc="-5" dirty="0">
                <a:latin typeface="Tahoma"/>
                <a:cs typeface="Tahoma"/>
              </a:rPr>
              <a:t>If</a:t>
            </a:r>
            <a:r>
              <a:rPr sz="3200" spc="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i</a:t>
            </a:r>
            <a:r>
              <a:rPr sz="2400" spc="254" dirty="0">
                <a:latin typeface="Tahoma"/>
                <a:cs typeface="Tahoma"/>
              </a:rPr>
              <a:t> </a:t>
            </a:r>
            <a:r>
              <a:rPr sz="3200" spc="-5" dirty="0">
                <a:latin typeface="Symbol"/>
                <a:cs typeface="Symbol"/>
              </a:rPr>
              <a:t>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b	</a:t>
            </a:r>
            <a:r>
              <a:rPr sz="2400" dirty="0">
                <a:latin typeface="Symbol"/>
                <a:cs typeface="Symbol"/>
              </a:rPr>
              <a:t>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j</a:t>
            </a:r>
            <a:r>
              <a:rPr sz="2400" spc="32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=T</a:t>
            </a:r>
            <a:r>
              <a:rPr sz="2400" spc="-5" dirty="0">
                <a:latin typeface="Tahoma"/>
                <a:cs typeface="Tahoma"/>
              </a:rPr>
              <a:t>f</a:t>
            </a:r>
            <a:endParaRPr sz="2400">
              <a:latin typeface="Tahoma"/>
              <a:cs typeface="Tahoma"/>
            </a:endParaRPr>
          </a:p>
          <a:p>
            <a:pPr marL="1206500">
              <a:lnSpc>
                <a:spcPct val="100000"/>
              </a:lnSpc>
              <a:spcBef>
                <a:spcPts val="635"/>
              </a:spcBef>
              <a:tabLst>
                <a:tab pos="2186940" algn="l"/>
              </a:tabLst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k </a:t>
            </a:r>
            <a:r>
              <a:rPr sz="3200" spc="-1435" dirty="0">
                <a:latin typeface="Symbol"/>
                <a:cs typeface="Symbol"/>
              </a:rPr>
              <a:t></a:t>
            </a:r>
            <a:r>
              <a:rPr sz="3000" spc="-2152" baseline="59722" dirty="0">
                <a:latin typeface="Tahoma"/>
                <a:cs typeface="Tahoma"/>
              </a:rPr>
              <a:t>0	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i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2012949"/>
            <a:ext cx="7122795" cy="2170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(4) Check </a:t>
            </a:r>
            <a:r>
              <a:rPr dirty="0"/>
              <a:t>if </a:t>
            </a:r>
            <a:r>
              <a:rPr spc="-5" dirty="0"/>
              <a:t>LP(S) is </a:t>
            </a:r>
            <a:r>
              <a:rPr spc="-10" dirty="0"/>
              <a:t>“acyclic” </a:t>
            </a:r>
            <a:r>
              <a:rPr spc="-5" dirty="0"/>
              <a:t>(if </a:t>
            </a:r>
            <a:r>
              <a:rPr spc="-20" dirty="0"/>
              <a:t>so, </a:t>
            </a:r>
            <a:r>
              <a:rPr dirty="0"/>
              <a:t>S </a:t>
            </a:r>
            <a:r>
              <a:rPr spc="-5" dirty="0"/>
              <a:t>is  </a:t>
            </a:r>
            <a:r>
              <a:rPr spc="-30" dirty="0"/>
              <a:t>V-S)</a:t>
            </a:r>
          </a:p>
          <a:p>
            <a:pPr marL="1053465" marR="266065" indent="-317500">
              <a:lnSpc>
                <a:spcPts val="4610"/>
              </a:lnSpc>
              <a:spcBef>
                <a:spcPts val="260"/>
              </a:spcBef>
            </a:pPr>
            <a:r>
              <a:rPr dirty="0"/>
              <a:t>- </a:t>
            </a:r>
            <a:r>
              <a:rPr spc="-30" dirty="0"/>
              <a:t>For </a:t>
            </a:r>
            <a:r>
              <a:rPr spc="-5" dirty="0"/>
              <a:t>each pair of “p” </a:t>
            </a:r>
            <a:r>
              <a:rPr spc="-10" dirty="0"/>
              <a:t>arcs </a:t>
            </a:r>
            <a:r>
              <a:rPr spc="-5" dirty="0"/>
              <a:t>(p </a:t>
            </a:r>
            <a:r>
              <a:rPr dirty="0">
                <a:latin typeface="Symbol"/>
                <a:cs typeface="Symbol"/>
              </a:rPr>
              <a:t>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spc="-5" dirty="0"/>
              <a:t>0),  choose</a:t>
            </a:r>
            <a:r>
              <a:rPr spc="-10" dirty="0"/>
              <a:t> </a:t>
            </a:r>
            <a:r>
              <a:rPr spc="-5" dirty="0"/>
              <a:t>one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11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20</a:t>
            </a:fld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8952" y="387794"/>
            <a:ext cx="5181600" cy="1195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900"/>
              </a:lnSpc>
              <a:spcBef>
                <a:spcPts val="100"/>
              </a:spcBef>
            </a:pPr>
            <a:r>
              <a:rPr u="heavy" spc="-5" dirty="0">
                <a:uFill>
                  <a:solidFill>
                    <a:srgbClr val="000000"/>
                  </a:solidFill>
                </a:uFill>
              </a:rPr>
              <a:t>Example:</a:t>
            </a:r>
            <a:r>
              <a:rPr spc="-5" dirty="0"/>
              <a:t> check </a:t>
            </a:r>
            <a:r>
              <a:rPr dirty="0"/>
              <a:t>if Q </a:t>
            </a:r>
            <a:r>
              <a:rPr spc="-5" dirty="0"/>
              <a:t>is </a:t>
            </a:r>
            <a:r>
              <a:rPr spc="-30" dirty="0"/>
              <a:t>V-S:  </a:t>
            </a:r>
            <a:r>
              <a:rPr dirty="0"/>
              <a:t>Q = </a:t>
            </a:r>
            <a:r>
              <a:rPr spc="-5" dirty="0"/>
              <a:t>r</a:t>
            </a:r>
            <a:r>
              <a:rPr sz="2400" spc="-5" dirty="0"/>
              <a:t>1</a:t>
            </a:r>
            <a:r>
              <a:rPr spc="-5" dirty="0"/>
              <a:t>(A) w</a:t>
            </a:r>
            <a:r>
              <a:rPr sz="2400" spc="-5" dirty="0"/>
              <a:t>2</a:t>
            </a:r>
            <a:r>
              <a:rPr spc="-5" dirty="0"/>
              <a:t>(A) w</a:t>
            </a:r>
            <a:r>
              <a:rPr sz="2400" spc="-5" dirty="0"/>
              <a:t>1</a:t>
            </a:r>
            <a:r>
              <a:rPr spc="-5" dirty="0"/>
              <a:t>(A)</a:t>
            </a:r>
            <a:r>
              <a:rPr spc="-45" dirty="0"/>
              <a:t> </a:t>
            </a:r>
            <a:r>
              <a:rPr spc="-5" dirty="0"/>
              <a:t>w</a:t>
            </a:r>
            <a:r>
              <a:rPr sz="2400" spc="-5" dirty="0"/>
              <a:t>3</a:t>
            </a:r>
            <a:r>
              <a:rPr spc="-5" dirty="0"/>
              <a:t>(A)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3462654" y="5415597"/>
            <a:ext cx="4298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07990" y="4104322"/>
            <a:ext cx="3600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f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3217" y="4112260"/>
            <a:ext cx="4318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b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6252" y="1653857"/>
            <a:ext cx="80054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  <a:tabLst>
                <a:tab pos="652145" algn="l"/>
              </a:tabLst>
            </a:pPr>
            <a:r>
              <a:rPr sz="3200" spc="-5" dirty="0">
                <a:latin typeface="Tahoma"/>
                <a:cs typeface="Tahoma"/>
              </a:rPr>
              <a:t>Q’	</a:t>
            </a:r>
            <a:r>
              <a:rPr sz="3200" dirty="0">
                <a:latin typeface="Tahoma"/>
                <a:cs typeface="Tahoma"/>
              </a:rPr>
              <a:t>= </a:t>
            </a:r>
            <a:r>
              <a:rPr sz="3200" spc="-15" dirty="0">
                <a:latin typeface="Tahoma"/>
                <a:cs typeface="Tahoma"/>
              </a:rPr>
              <a:t>w</a:t>
            </a:r>
            <a:r>
              <a:rPr sz="2400" spc="-15" dirty="0">
                <a:latin typeface="Tahoma"/>
                <a:cs typeface="Tahoma"/>
              </a:rPr>
              <a:t>b</a:t>
            </a:r>
            <a:r>
              <a:rPr sz="3200" spc="-15" dirty="0">
                <a:latin typeface="Tahoma"/>
                <a:cs typeface="Tahoma"/>
              </a:rPr>
              <a:t>(A)</a:t>
            </a:r>
            <a:r>
              <a:rPr sz="3600" spc="-22" baseline="4629" dirty="0">
                <a:solidFill>
                  <a:srgbClr val="FF0000"/>
                </a:solidFill>
                <a:latin typeface="Symbol"/>
                <a:cs typeface="Symbol"/>
              </a:rPr>
              <a:t></a:t>
            </a:r>
            <a:r>
              <a:rPr sz="3600" spc="-22" baseline="462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ahoma"/>
                <a:cs typeface="Tahoma"/>
              </a:rPr>
              <a:t>r</a:t>
            </a:r>
            <a:r>
              <a:rPr sz="24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(A) w</a:t>
            </a:r>
            <a:r>
              <a:rPr sz="24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(A) w</a:t>
            </a:r>
            <a:r>
              <a:rPr sz="24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(A) </a:t>
            </a:r>
            <a:r>
              <a:rPr sz="3200" dirty="0">
                <a:latin typeface="Tahoma"/>
                <a:cs typeface="Tahoma"/>
              </a:rPr>
              <a:t>w</a:t>
            </a:r>
            <a:r>
              <a:rPr sz="2400" dirty="0">
                <a:latin typeface="Tahoma"/>
                <a:cs typeface="Tahoma"/>
              </a:rPr>
              <a:t>3</a:t>
            </a:r>
            <a:r>
              <a:rPr sz="3200" dirty="0">
                <a:latin typeface="Tahoma"/>
                <a:cs typeface="Tahoma"/>
              </a:rPr>
              <a:t>(A)</a:t>
            </a:r>
            <a:r>
              <a:rPr sz="3600" baseline="5787" dirty="0">
                <a:solidFill>
                  <a:srgbClr val="FF0000"/>
                </a:solidFill>
                <a:latin typeface="Symbol"/>
                <a:cs typeface="Symbol"/>
              </a:rPr>
              <a:t></a:t>
            </a:r>
            <a:r>
              <a:rPr sz="3600" spc="157" baseline="5787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ahoma"/>
                <a:cs typeface="Tahoma"/>
              </a:rPr>
              <a:t>r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3200" spc="-5" dirty="0">
                <a:latin typeface="Tahoma"/>
                <a:cs typeface="Tahoma"/>
              </a:rPr>
              <a:t>(A)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985264" y="3146425"/>
            <a:ext cx="1405890" cy="989330"/>
          </a:xfrm>
          <a:custGeom>
            <a:avLst/>
            <a:gdLst/>
            <a:ahLst/>
            <a:cxnLst/>
            <a:rect l="l" t="t" r="r" b="b"/>
            <a:pathLst>
              <a:path w="1405889" h="989329">
                <a:moveTo>
                  <a:pt x="1337766" y="35921"/>
                </a:moveTo>
                <a:lnTo>
                  <a:pt x="1321371" y="12522"/>
                </a:lnTo>
                <a:lnTo>
                  <a:pt x="1405636" y="0"/>
                </a:lnTo>
                <a:lnTo>
                  <a:pt x="1392114" y="24993"/>
                </a:lnTo>
                <a:lnTo>
                  <a:pt x="1353362" y="24993"/>
                </a:lnTo>
                <a:lnTo>
                  <a:pt x="1337766" y="35921"/>
                </a:lnTo>
                <a:close/>
              </a:path>
              <a:path w="1405889" h="989329">
                <a:moveTo>
                  <a:pt x="1348701" y="51529"/>
                </a:moveTo>
                <a:lnTo>
                  <a:pt x="1337766" y="35921"/>
                </a:lnTo>
                <a:lnTo>
                  <a:pt x="1353362" y="24993"/>
                </a:lnTo>
                <a:lnTo>
                  <a:pt x="1364297" y="40601"/>
                </a:lnTo>
                <a:lnTo>
                  <a:pt x="1348701" y="51529"/>
                </a:lnTo>
                <a:close/>
              </a:path>
              <a:path w="1405889" h="989329">
                <a:moveTo>
                  <a:pt x="1365097" y="74930"/>
                </a:moveTo>
                <a:lnTo>
                  <a:pt x="1348701" y="51529"/>
                </a:lnTo>
                <a:lnTo>
                  <a:pt x="1364297" y="40601"/>
                </a:lnTo>
                <a:lnTo>
                  <a:pt x="1353362" y="24993"/>
                </a:lnTo>
                <a:lnTo>
                  <a:pt x="1392114" y="24993"/>
                </a:lnTo>
                <a:lnTo>
                  <a:pt x="1365097" y="74930"/>
                </a:lnTo>
                <a:close/>
              </a:path>
              <a:path w="1405889" h="989329">
                <a:moveTo>
                  <a:pt x="10922" y="988872"/>
                </a:moveTo>
                <a:lnTo>
                  <a:pt x="0" y="973277"/>
                </a:lnTo>
                <a:lnTo>
                  <a:pt x="1337766" y="35921"/>
                </a:lnTo>
                <a:lnTo>
                  <a:pt x="1348701" y="51529"/>
                </a:lnTo>
                <a:lnTo>
                  <a:pt x="10922" y="98887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17505" y="4503737"/>
            <a:ext cx="1507490" cy="989330"/>
          </a:xfrm>
          <a:custGeom>
            <a:avLst/>
            <a:gdLst/>
            <a:ahLst/>
            <a:cxnLst/>
            <a:rect l="l" t="t" r="r" b="b"/>
            <a:pathLst>
              <a:path w="1507489" h="989329">
                <a:moveTo>
                  <a:pt x="1437976" y="33695"/>
                </a:moveTo>
                <a:lnTo>
                  <a:pt x="1422349" y="9778"/>
                </a:lnTo>
                <a:lnTo>
                  <a:pt x="1506982" y="0"/>
                </a:lnTo>
                <a:lnTo>
                  <a:pt x="1493391" y="23279"/>
                </a:lnTo>
                <a:lnTo>
                  <a:pt x="1453921" y="23279"/>
                </a:lnTo>
                <a:lnTo>
                  <a:pt x="1437976" y="33695"/>
                </a:lnTo>
                <a:close/>
              </a:path>
              <a:path w="1507489" h="989329">
                <a:moveTo>
                  <a:pt x="1448399" y="49648"/>
                </a:moveTo>
                <a:lnTo>
                  <a:pt x="1437976" y="33695"/>
                </a:lnTo>
                <a:lnTo>
                  <a:pt x="1453921" y="23279"/>
                </a:lnTo>
                <a:lnTo>
                  <a:pt x="1464348" y="39230"/>
                </a:lnTo>
                <a:lnTo>
                  <a:pt x="1448399" y="49648"/>
                </a:lnTo>
                <a:close/>
              </a:path>
              <a:path w="1507489" h="989329">
                <a:moveTo>
                  <a:pt x="1464030" y="73571"/>
                </a:moveTo>
                <a:lnTo>
                  <a:pt x="1448399" y="49648"/>
                </a:lnTo>
                <a:lnTo>
                  <a:pt x="1464348" y="39230"/>
                </a:lnTo>
                <a:lnTo>
                  <a:pt x="1453921" y="23279"/>
                </a:lnTo>
                <a:lnTo>
                  <a:pt x="1493391" y="23279"/>
                </a:lnTo>
                <a:lnTo>
                  <a:pt x="1464030" y="73571"/>
                </a:lnTo>
                <a:close/>
              </a:path>
              <a:path w="1507489" h="989329">
                <a:moveTo>
                  <a:pt x="10414" y="989050"/>
                </a:moveTo>
                <a:lnTo>
                  <a:pt x="0" y="973099"/>
                </a:lnTo>
                <a:lnTo>
                  <a:pt x="1437976" y="33695"/>
                </a:lnTo>
                <a:lnTo>
                  <a:pt x="1448399" y="49648"/>
                </a:lnTo>
                <a:lnTo>
                  <a:pt x="10414" y="9890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766627" y="4552950"/>
            <a:ext cx="1644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  <a:latin typeface="Tahoma"/>
                <a:cs typeface="Tahoma"/>
              </a:rPr>
              <a:t>0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93314" y="3465512"/>
            <a:ext cx="1644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  <a:latin typeface="Tahoma"/>
                <a:cs typeface="Tahoma"/>
              </a:rPr>
              <a:t>0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564472" y="2151062"/>
            <a:ext cx="148564" cy="246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598862" y="3248025"/>
            <a:ext cx="76200" cy="822325"/>
          </a:xfrm>
          <a:custGeom>
            <a:avLst/>
            <a:gdLst/>
            <a:ahLst/>
            <a:cxnLst/>
            <a:rect l="l" t="t" r="r" b="b"/>
            <a:pathLst>
              <a:path w="76200" h="822325">
                <a:moveTo>
                  <a:pt x="47625" y="765175"/>
                </a:moveTo>
                <a:lnTo>
                  <a:pt x="28575" y="765175"/>
                </a:lnTo>
                <a:lnTo>
                  <a:pt x="28575" y="0"/>
                </a:lnTo>
                <a:lnTo>
                  <a:pt x="47625" y="0"/>
                </a:lnTo>
                <a:lnTo>
                  <a:pt x="47625" y="765175"/>
                </a:lnTo>
                <a:close/>
              </a:path>
              <a:path w="76200" h="822325">
                <a:moveTo>
                  <a:pt x="38100" y="822325"/>
                </a:moveTo>
                <a:lnTo>
                  <a:pt x="0" y="746125"/>
                </a:lnTo>
                <a:lnTo>
                  <a:pt x="28575" y="746125"/>
                </a:lnTo>
                <a:lnTo>
                  <a:pt x="28575" y="765175"/>
                </a:lnTo>
                <a:lnTo>
                  <a:pt x="66675" y="765175"/>
                </a:lnTo>
                <a:lnTo>
                  <a:pt x="38100" y="822325"/>
                </a:lnTo>
                <a:close/>
              </a:path>
              <a:path w="76200" h="822325">
                <a:moveTo>
                  <a:pt x="66675" y="765175"/>
                </a:moveTo>
                <a:lnTo>
                  <a:pt x="47625" y="765175"/>
                </a:lnTo>
                <a:lnTo>
                  <a:pt x="47625" y="746125"/>
                </a:lnTo>
                <a:lnTo>
                  <a:pt x="76200" y="746125"/>
                </a:lnTo>
                <a:lnTo>
                  <a:pt x="66675" y="765175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070047" y="3256394"/>
            <a:ext cx="444500" cy="2260600"/>
          </a:xfrm>
          <a:custGeom>
            <a:avLst/>
            <a:gdLst/>
            <a:ahLst/>
            <a:cxnLst/>
            <a:rect l="l" t="t" r="r" b="b"/>
            <a:pathLst>
              <a:path w="444500" h="2260600">
                <a:moveTo>
                  <a:pt x="250088" y="2200923"/>
                </a:moveTo>
                <a:lnTo>
                  <a:pt x="242658" y="2184400"/>
                </a:lnTo>
                <a:lnTo>
                  <a:pt x="222415" y="2133600"/>
                </a:lnTo>
                <a:lnTo>
                  <a:pt x="202463" y="2095500"/>
                </a:lnTo>
                <a:lnTo>
                  <a:pt x="182918" y="2044700"/>
                </a:lnTo>
                <a:lnTo>
                  <a:pt x="163855" y="2006600"/>
                </a:lnTo>
                <a:lnTo>
                  <a:pt x="145389" y="1955800"/>
                </a:lnTo>
                <a:lnTo>
                  <a:pt x="136410" y="1930400"/>
                </a:lnTo>
                <a:lnTo>
                  <a:pt x="127622" y="1917700"/>
                </a:lnTo>
                <a:lnTo>
                  <a:pt x="119024" y="1892300"/>
                </a:lnTo>
                <a:lnTo>
                  <a:pt x="110642" y="1866900"/>
                </a:lnTo>
                <a:lnTo>
                  <a:pt x="102489" y="1841500"/>
                </a:lnTo>
                <a:lnTo>
                  <a:pt x="94564" y="1828800"/>
                </a:lnTo>
                <a:lnTo>
                  <a:pt x="86893" y="1803400"/>
                </a:lnTo>
                <a:lnTo>
                  <a:pt x="79476" y="1778000"/>
                </a:lnTo>
                <a:lnTo>
                  <a:pt x="72339" y="1752600"/>
                </a:lnTo>
                <a:lnTo>
                  <a:pt x="65493" y="1739900"/>
                </a:lnTo>
                <a:lnTo>
                  <a:pt x="58940" y="1714500"/>
                </a:lnTo>
                <a:lnTo>
                  <a:pt x="52692" y="1689100"/>
                </a:lnTo>
                <a:lnTo>
                  <a:pt x="46786" y="1663700"/>
                </a:lnTo>
                <a:lnTo>
                  <a:pt x="41211" y="1651000"/>
                </a:lnTo>
                <a:lnTo>
                  <a:pt x="35979" y="1625600"/>
                </a:lnTo>
                <a:lnTo>
                  <a:pt x="31115" y="1600200"/>
                </a:lnTo>
                <a:lnTo>
                  <a:pt x="26631" y="1587500"/>
                </a:lnTo>
                <a:lnTo>
                  <a:pt x="22542" y="1562100"/>
                </a:lnTo>
                <a:lnTo>
                  <a:pt x="18821" y="1536700"/>
                </a:lnTo>
                <a:lnTo>
                  <a:pt x="15481" y="1511300"/>
                </a:lnTo>
                <a:lnTo>
                  <a:pt x="12496" y="1498600"/>
                </a:lnTo>
                <a:lnTo>
                  <a:pt x="9855" y="1473200"/>
                </a:lnTo>
                <a:lnTo>
                  <a:pt x="7543" y="1447800"/>
                </a:lnTo>
                <a:lnTo>
                  <a:pt x="5562" y="1422400"/>
                </a:lnTo>
                <a:lnTo>
                  <a:pt x="3898" y="1409700"/>
                </a:lnTo>
                <a:lnTo>
                  <a:pt x="2540" y="1384300"/>
                </a:lnTo>
                <a:lnTo>
                  <a:pt x="1485" y="1358900"/>
                </a:lnTo>
                <a:lnTo>
                  <a:pt x="711" y="1346200"/>
                </a:lnTo>
                <a:lnTo>
                  <a:pt x="215" y="1320800"/>
                </a:lnTo>
                <a:lnTo>
                  <a:pt x="0" y="1295400"/>
                </a:lnTo>
                <a:lnTo>
                  <a:pt x="25" y="1270000"/>
                </a:lnTo>
                <a:lnTo>
                  <a:pt x="825" y="1231900"/>
                </a:lnTo>
                <a:lnTo>
                  <a:pt x="1574" y="1206500"/>
                </a:lnTo>
                <a:lnTo>
                  <a:pt x="2540" y="1193800"/>
                </a:lnTo>
                <a:lnTo>
                  <a:pt x="3721" y="1168400"/>
                </a:lnTo>
                <a:lnTo>
                  <a:pt x="5105" y="1143000"/>
                </a:lnTo>
                <a:lnTo>
                  <a:pt x="6667" y="1117600"/>
                </a:lnTo>
                <a:lnTo>
                  <a:pt x="8420" y="1104900"/>
                </a:lnTo>
                <a:lnTo>
                  <a:pt x="10337" y="1079500"/>
                </a:lnTo>
                <a:lnTo>
                  <a:pt x="12420" y="1054100"/>
                </a:lnTo>
                <a:lnTo>
                  <a:pt x="14655" y="1041400"/>
                </a:lnTo>
                <a:lnTo>
                  <a:pt x="17030" y="1016000"/>
                </a:lnTo>
                <a:lnTo>
                  <a:pt x="19532" y="1003300"/>
                </a:lnTo>
                <a:lnTo>
                  <a:pt x="22161" y="977900"/>
                </a:lnTo>
                <a:lnTo>
                  <a:pt x="24904" y="952500"/>
                </a:lnTo>
                <a:lnTo>
                  <a:pt x="30695" y="914400"/>
                </a:lnTo>
                <a:lnTo>
                  <a:pt x="36830" y="876300"/>
                </a:lnTo>
                <a:lnTo>
                  <a:pt x="40144" y="863600"/>
                </a:lnTo>
                <a:lnTo>
                  <a:pt x="43776" y="838200"/>
                </a:lnTo>
                <a:lnTo>
                  <a:pt x="47726" y="812800"/>
                </a:lnTo>
                <a:lnTo>
                  <a:pt x="51955" y="800100"/>
                </a:lnTo>
                <a:lnTo>
                  <a:pt x="56464" y="774700"/>
                </a:lnTo>
                <a:lnTo>
                  <a:pt x="61226" y="762000"/>
                </a:lnTo>
                <a:lnTo>
                  <a:pt x="66243" y="736600"/>
                </a:lnTo>
                <a:lnTo>
                  <a:pt x="71488" y="723900"/>
                </a:lnTo>
                <a:lnTo>
                  <a:pt x="76936" y="698500"/>
                </a:lnTo>
                <a:lnTo>
                  <a:pt x="82588" y="685800"/>
                </a:lnTo>
                <a:lnTo>
                  <a:pt x="88430" y="660400"/>
                </a:lnTo>
                <a:lnTo>
                  <a:pt x="94424" y="647700"/>
                </a:lnTo>
                <a:lnTo>
                  <a:pt x="100584" y="622300"/>
                </a:lnTo>
                <a:lnTo>
                  <a:pt x="106883" y="609600"/>
                </a:lnTo>
                <a:lnTo>
                  <a:pt x="113296" y="584200"/>
                </a:lnTo>
                <a:lnTo>
                  <a:pt x="119837" y="571500"/>
                </a:lnTo>
                <a:lnTo>
                  <a:pt x="133146" y="533400"/>
                </a:lnTo>
                <a:lnTo>
                  <a:pt x="146697" y="495300"/>
                </a:lnTo>
                <a:lnTo>
                  <a:pt x="160375" y="469900"/>
                </a:lnTo>
                <a:lnTo>
                  <a:pt x="174066" y="431800"/>
                </a:lnTo>
                <a:lnTo>
                  <a:pt x="187642" y="406400"/>
                </a:lnTo>
                <a:lnTo>
                  <a:pt x="200977" y="368300"/>
                </a:lnTo>
                <a:lnTo>
                  <a:pt x="226453" y="317500"/>
                </a:lnTo>
                <a:lnTo>
                  <a:pt x="232600" y="304800"/>
                </a:lnTo>
                <a:lnTo>
                  <a:pt x="238798" y="292100"/>
                </a:lnTo>
                <a:lnTo>
                  <a:pt x="251104" y="266700"/>
                </a:lnTo>
                <a:lnTo>
                  <a:pt x="276212" y="215900"/>
                </a:lnTo>
                <a:lnTo>
                  <a:pt x="301459" y="165100"/>
                </a:lnTo>
                <a:lnTo>
                  <a:pt x="314147" y="152400"/>
                </a:lnTo>
                <a:lnTo>
                  <a:pt x="326872" y="127000"/>
                </a:lnTo>
                <a:lnTo>
                  <a:pt x="339636" y="114300"/>
                </a:lnTo>
                <a:lnTo>
                  <a:pt x="352425" y="88900"/>
                </a:lnTo>
                <a:lnTo>
                  <a:pt x="378040" y="63500"/>
                </a:lnTo>
                <a:lnTo>
                  <a:pt x="390855" y="38100"/>
                </a:lnTo>
                <a:lnTo>
                  <a:pt x="429272" y="0"/>
                </a:lnTo>
                <a:lnTo>
                  <a:pt x="444207" y="0"/>
                </a:lnTo>
                <a:lnTo>
                  <a:pt x="418604" y="38100"/>
                </a:lnTo>
                <a:lnTo>
                  <a:pt x="405866" y="50800"/>
                </a:lnTo>
                <a:lnTo>
                  <a:pt x="393141" y="76200"/>
                </a:lnTo>
                <a:lnTo>
                  <a:pt x="380453" y="88900"/>
                </a:lnTo>
                <a:lnTo>
                  <a:pt x="367804" y="101600"/>
                </a:lnTo>
                <a:lnTo>
                  <a:pt x="355180" y="127000"/>
                </a:lnTo>
                <a:lnTo>
                  <a:pt x="342607" y="139700"/>
                </a:lnTo>
                <a:lnTo>
                  <a:pt x="330073" y="165100"/>
                </a:lnTo>
                <a:lnTo>
                  <a:pt x="317588" y="177800"/>
                </a:lnTo>
                <a:lnTo>
                  <a:pt x="305155" y="203200"/>
                </a:lnTo>
                <a:lnTo>
                  <a:pt x="292760" y="228600"/>
                </a:lnTo>
                <a:lnTo>
                  <a:pt x="280428" y="241300"/>
                </a:lnTo>
                <a:lnTo>
                  <a:pt x="268147" y="266700"/>
                </a:lnTo>
                <a:lnTo>
                  <a:pt x="255943" y="292100"/>
                </a:lnTo>
                <a:lnTo>
                  <a:pt x="249872" y="304800"/>
                </a:lnTo>
                <a:lnTo>
                  <a:pt x="243801" y="317500"/>
                </a:lnTo>
                <a:lnTo>
                  <a:pt x="218401" y="381000"/>
                </a:lnTo>
                <a:lnTo>
                  <a:pt x="205130" y="406400"/>
                </a:lnTo>
                <a:lnTo>
                  <a:pt x="191604" y="444500"/>
                </a:lnTo>
                <a:lnTo>
                  <a:pt x="177990" y="469900"/>
                </a:lnTo>
                <a:lnTo>
                  <a:pt x="164388" y="508000"/>
                </a:lnTo>
                <a:lnTo>
                  <a:pt x="150914" y="546100"/>
                </a:lnTo>
                <a:lnTo>
                  <a:pt x="137693" y="584200"/>
                </a:lnTo>
                <a:lnTo>
                  <a:pt x="131229" y="596900"/>
                </a:lnTo>
                <a:lnTo>
                  <a:pt x="124866" y="609600"/>
                </a:lnTo>
                <a:lnTo>
                  <a:pt x="118630" y="635000"/>
                </a:lnTo>
                <a:lnTo>
                  <a:pt x="112522" y="647700"/>
                </a:lnTo>
                <a:lnTo>
                  <a:pt x="106578" y="673100"/>
                </a:lnTo>
                <a:lnTo>
                  <a:pt x="100799" y="685800"/>
                </a:lnTo>
                <a:lnTo>
                  <a:pt x="95199" y="711200"/>
                </a:lnTo>
                <a:lnTo>
                  <a:pt x="89801" y="723900"/>
                </a:lnTo>
                <a:lnTo>
                  <a:pt x="84620" y="749300"/>
                </a:lnTo>
                <a:lnTo>
                  <a:pt x="79667" y="762000"/>
                </a:lnTo>
                <a:lnTo>
                  <a:pt x="74968" y="787400"/>
                </a:lnTo>
                <a:lnTo>
                  <a:pt x="70510" y="800100"/>
                </a:lnTo>
                <a:lnTo>
                  <a:pt x="66332" y="825500"/>
                </a:lnTo>
                <a:lnTo>
                  <a:pt x="62445" y="838200"/>
                </a:lnTo>
                <a:lnTo>
                  <a:pt x="58864" y="863600"/>
                </a:lnTo>
                <a:lnTo>
                  <a:pt x="55600" y="876300"/>
                </a:lnTo>
                <a:lnTo>
                  <a:pt x="49517" y="914400"/>
                </a:lnTo>
                <a:lnTo>
                  <a:pt x="43764" y="965200"/>
                </a:lnTo>
                <a:lnTo>
                  <a:pt x="41046" y="977900"/>
                </a:lnTo>
                <a:lnTo>
                  <a:pt x="38430" y="1003300"/>
                </a:lnTo>
                <a:lnTo>
                  <a:pt x="35941" y="1016000"/>
                </a:lnTo>
                <a:lnTo>
                  <a:pt x="33578" y="1041400"/>
                </a:lnTo>
                <a:lnTo>
                  <a:pt x="31356" y="1066800"/>
                </a:lnTo>
                <a:lnTo>
                  <a:pt x="29298" y="1079500"/>
                </a:lnTo>
                <a:lnTo>
                  <a:pt x="27393" y="1104900"/>
                </a:lnTo>
                <a:lnTo>
                  <a:pt x="25654" y="1130300"/>
                </a:lnTo>
                <a:lnTo>
                  <a:pt x="24104" y="1143000"/>
                </a:lnTo>
                <a:lnTo>
                  <a:pt x="22733" y="1168400"/>
                </a:lnTo>
                <a:lnTo>
                  <a:pt x="21564" y="1193800"/>
                </a:lnTo>
                <a:lnTo>
                  <a:pt x="20612" y="1206500"/>
                </a:lnTo>
                <a:lnTo>
                  <a:pt x="19862" y="1231900"/>
                </a:lnTo>
                <a:lnTo>
                  <a:pt x="19075" y="1270000"/>
                </a:lnTo>
                <a:lnTo>
                  <a:pt x="19050" y="1295400"/>
                </a:lnTo>
                <a:lnTo>
                  <a:pt x="19265" y="1320800"/>
                </a:lnTo>
                <a:lnTo>
                  <a:pt x="19761" y="1346200"/>
                </a:lnTo>
                <a:lnTo>
                  <a:pt x="20523" y="1358900"/>
                </a:lnTo>
                <a:lnTo>
                  <a:pt x="21577" y="1384300"/>
                </a:lnTo>
                <a:lnTo>
                  <a:pt x="22910" y="1409700"/>
                </a:lnTo>
                <a:lnTo>
                  <a:pt x="24561" y="1422400"/>
                </a:lnTo>
                <a:lnTo>
                  <a:pt x="26517" y="1447800"/>
                </a:lnTo>
                <a:lnTo>
                  <a:pt x="28790" y="1473200"/>
                </a:lnTo>
                <a:lnTo>
                  <a:pt x="31407" y="1498600"/>
                </a:lnTo>
                <a:lnTo>
                  <a:pt x="32867" y="1498600"/>
                </a:lnTo>
                <a:lnTo>
                  <a:pt x="34353" y="1511300"/>
                </a:lnTo>
                <a:lnTo>
                  <a:pt x="37655" y="1536700"/>
                </a:lnTo>
                <a:lnTo>
                  <a:pt x="41313" y="1562100"/>
                </a:lnTo>
                <a:lnTo>
                  <a:pt x="45351" y="1574800"/>
                </a:lnTo>
                <a:lnTo>
                  <a:pt x="49784" y="1600200"/>
                </a:lnTo>
                <a:lnTo>
                  <a:pt x="54571" y="1625600"/>
                </a:lnTo>
                <a:lnTo>
                  <a:pt x="59740" y="1638300"/>
                </a:lnTo>
                <a:lnTo>
                  <a:pt x="65239" y="1663700"/>
                </a:lnTo>
                <a:lnTo>
                  <a:pt x="71094" y="1689100"/>
                </a:lnTo>
                <a:lnTo>
                  <a:pt x="77266" y="1701800"/>
                </a:lnTo>
                <a:lnTo>
                  <a:pt x="83743" y="1727200"/>
                </a:lnTo>
                <a:lnTo>
                  <a:pt x="90525" y="1752600"/>
                </a:lnTo>
                <a:lnTo>
                  <a:pt x="97599" y="1778000"/>
                </a:lnTo>
                <a:lnTo>
                  <a:pt x="104952" y="1790700"/>
                </a:lnTo>
                <a:lnTo>
                  <a:pt x="112560" y="1816100"/>
                </a:lnTo>
                <a:lnTo>
                  <a:pt x="120421" y="1841500"/>
                </a:lnTo>
                <a:lnTo>
                  <a:pt x="128524" y="1866900"/>
                </a:lnTo>
                <a:lnTo>
                  <a:pt x="136842" y="1879600"/>
                </a:lnTo>
                <a:lnTo>
                  <a:pt x="145389" y="1905000"/>
                </a:lnTo>
                <a:lnTo>
                  <a:pt x="154127" y="1930400"/>
                </a:lnTo>
                <a:lnTo>
                  <a:pt x="163055" y="1955800"/>
                </a:lnTo>
                <a:lnTo>
                  <a:pt x="167633" y="1955800"/>
                </a:lnTo>
                <a:lnTo>
                  <a:pt x="181444" y="1993900"/>
                </a:lnTo>
                <a:lnTo>
                  <a:pt x="200431" y="2032000"/>
                </a:lnTo>
                <a:lnTo>
                  <a:pt x="219913" y="2082800"/>
                </a:lnTo>
                <a:lnTo>
                  <a:pt x="239814" y="2120900"/>
                </a:lnTo>
                <a:lnTo>
                  <a:pt x="260007" y="2171700"/>
                </a:lnTo>
                <a:lnTo>
                  <a:pt x="269866" y="2193670"/>
                </a:lnTo>
                <a:lnTo>
                  <a:pt x="250088" y="2200923"/>
                </a:lnTo>
                <a:close/>
              </a:path>
              <a:path w="444500" h="2260600">
                <a:moveTo>
                  <a:pt x="32867" y="1498600"/>
                </a:moveTo>
                <a:lnTo>
                  <a:pt x="31407" y="1498600"/>
                </a:lnTo>
                <a:lnTo>
                  <a:pt x="31381" y="1485900"/>
                </a:lnTo>
                <a:lnTo>
                  <a:pt x="32867" y="1498600"/>
                </a:lnTo>
                <a:close/>
              </a:path>
              <a:path w="444500" h="2260600">
                <a:moveTo>
                  <a:pt x="167633" y="1955800"/>
                </a:moveTo>
                <a:lnTo>
                  <a:pt x="163055" y="1955800"/>
                </a:lnTo>
                <a:lnTo>
                  <a:pt x="163029" y="1943100"/>
                </a:lnTo>
                <a:lnTo>
                  <a:pt x="167633" y="1955800"/>
                </a:lnTo>
                <a:close/>
              </a:path>
              <a:path w="444500" h="2260600">
                <a:moveTo>
                  <a:pt x="293712" y="2222500"/>
                </a:moveTo>
                <a:lnTo>
                  <a:pt x="259791" y="2222500"/>
                </a:lnTo>
                <a:lnTo>
                  <a:pt x="277113" y="2209800"/>
                </a:lnTo>
                <a:lnTo>
                  <a:pt x="269866" y="2193670"/>
                </a:lnTo>
                <a:lnTo>
                  <a:pt x="295148" y="2184400"/>
                </a:lnTo>
                <a:lnTo>
                  <a:pt x="293712" y="2222500"/>
                </a:lnTo>
                <a:close/>
              </a:path>
              <a:path w="444500" h="2260600">
                <a:moveTo>
                  <a:pt x="259791" y="2222500"/>
                </a:moveTo>
                <a:lnTo>
                  <a:pt x="250088" y="2200923"/>
                </a:lnTo>
                <a:lnTo>
                  <a:pt x="269866" y="2193670"/>
                </a:lnTo>
                <a:lnTo>
                  <a:pt x="277113" y="2209800"/>
                </a:lnTo>
                <a:lnTo>
                  <a:pt x="259791" y="2222500"/>
                </a:lnTo>
                <a:close/>
              </a:path>
              <a:path w="444500" h="2260600">
                <a:moveTo>
                  <a:pt x="292277" y="2260600"/>
                </a:moveTo>
                <a:lnTo>
                  <a:pt x="225882" y="2209800"/>
                </a:lnTo>
                <a:lnTo>
                  <a:pt x="250088" y="2200923"/>
                </a:lnTo>
                <a:lnTo>
                  <a:pt x="259791" y="2222500"/>
                </a:lnTo>
                <a:lnTo>
                  <a:pt x="293712" y="2222500"/>
                </a:lnTo>
                <a:lnTo>
                  <a:pt x="292277" y="226060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386454" y="2696210"/>
            <a:ext cx="455930" cy="1172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  <a:p>
            <a:pPr marR="5080" algn="r">
              <a:lnSpc>
                <a:spcPct val="100000"/>
              </a:lnSpc>
              <a:spcBef>
                <a:spcPts val="2780"/>
              </a:spcBef>
            </a:pPr>
            <a:r>
              <a:rPr sz="2000" dirty="0">
                <a:solidFill>
                  <a:srgbClr val="3333CC"/>
                </a:solidFill>
                <a:latin typeface="Tahoma"/>
                <a:cs typeface="Tahoma"/>
              </a:rPr>
              <a:t>0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09252" y="4367212"/>
            <a:ext cx="1644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3333CC"/>
                </a:solidFill>
                <a:latin typeface="Tahoma"/>
                <a:cs typeface="Tahoma"/>
              </a:rPr>
              <a:t>0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78612" y="2581592"/>
            <a:ext cx="1239520" cy="1119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069" marR="5080" indent="-40005">
              <a:lnSpc>
                <a:spcPct val="1496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rule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3(a)  </a:t>
            </a:r>
            <a:r>
              <a:rPr sz="2400" dirty="0">
                <a:solidFill>
                  <a:srgbClr val="3333CC"/>
                </a:solidFill>
                <a:latin typeface="Tahoma"/>
                <a:cs typeface="Tahoma"/>
              </a:rPr>
              <a:t>rule</a:t>
            </a:r>
            <a:r>
              <a:rPr sz="2400" spc="-90" dirty="0">
                <a:solidFill>
                  <a:srgbClr val="3333CC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Tahoma"/>
                <a:cs typeface="Tahoma"/>
              </a:rPr>
              <a:t>3(b)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18940" y="3889375"/>
            <a:ext cx="1644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8000"/>
                </a:solidFill>
                <a:latin typeface="Tahoma"/>
                <a:cs typeface="Tahoma"/>
              </a:rPr>
              <a:t>0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627437" y="4618037"/>
            <a:ext cx="76200" cy="808355"/>
          </a:xfrm>
          <a:custGeom>
            <a:avLst/>
            <a:gdLst/>
            <a:ahLst/>
            <a:cxnLst/>
            <a:rect l="l" t="t" r="r" b="b"/>
            <a:pathLst>
              <a:path w="76200" h="808354">
                <a:moveTo>
                  <a:pt x="47625" y="750887"/>
                </a:moveTo>
                <a:lnTo>
                  <a:pt x="28575" y="750887"/>
                </a:lnTo>
                <a:lnTo>
                  <a:pt x="28575" y="0"/>
                </a:lnTo>
                <a:lnTo>
                  <a:pt x="47625" y="0"/>
                </a:lnTo>
                <a:lnTo>
                  <a:pt x="47625" y="750887"/>
                </a:lnTo>
                <a:close/>
              </a:path>
              <a:path w="76200" h="808354">
                <a:moveTo>
                  <a:pt x="38100" y="808037"/>
                </a:moveTo>
                <a:lnTo>
                  <a:pt x="0" y="731837"/>
                </a:lnTo>
                <a:lnTo>
                  <a:pt x="28575" y="731837"/>
                </a:lnTo>
                <a:lnTo>
                  <a:pt x="28575" y="750887"/>
                </a:lnTo>
                <a:lnTo>
                  <a:pt x="66675" y="750887"/>
                </a:lnTo>
                <a:lnTo>
                  <a:pt x="38100" y="808037"/>
                </a:lnTo>
                <a:close/>
              </a:path>
              <a:path w="76200" h="808354">
                <a:moveTo>
                  <a:pt x="66675" y="750887"/>
                </a:moveTo>
                <a:lnTo>
                  <a:pt x="47625" y="750887"/>
                </a:lnTo>
                <a:lnTo>
                  <a:pt x="47625" y="731837"/>
                </a:lnTo>
                <a:lnTo>
                  <a:pt x="76200" y="731837"/>
                </a:lnTo>
                <a:lnTo>
                  <a:pt x="66675" y="750887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790086" y="3181604"/>
            <a:ext cx="433070" cy="2235200"/>
          </a:xfrm>
          <a:custGeom>
            <a:avLst/>
            <a:gdLst/>
            <a:ahLst/>
            <a:cxnLst/>
            <a:rect l="l" t="t" r="r" b="b"/>
            <a:pathLst>
              <a:path w="433070" h="2235200">
                <a:moveTo>
                  <a:pt x="403529" y="406400"/>
                </a:moveTo>
                <a:lnTo>
                  <a:pt x="382765" y="406400"/>
                </a:lnTo>
                <a:lnTo>
                  <a:pt x="379641" y="393700"/>
                </a:lnTo>
                <a:lnTo>
                  <a:pt x="373062" y="381000"/>
                </a:lnTo>
                <a:lnTo>
                  <a:pt x="373214" y="381000"/>
                </a:lnTo>
                <a:lnTo>
                  <a:pt x="365975" y="368300"/>
                </a:lnTo>
                <a:lnTo>
                  <a:pt x="366140" y="368300"/>
                </a:lnTo>
                <a:lnTo>
                  <a:pt x="358355" y="355600"/>
                </a:lnTo>
                <a:lnTo>
                  <a:pt x="358520" y="355600"/>
                </a:lnTo>
                <a:lnTo>
                  <a:pt x="350227" y="330200"/>
                </a:lnTo>
                <a:lnTo>
                  <a:pt x="350392" y="330200"/>
                </a:lnTo>
                <a:lnTo>
                  <a:pt x="341591" y="317500"/>
                </a:lnTo>
                <a:lnTo>
                  <a:pt x="341756" y="317500"/>
                </a:lnTo>
                <a:lnTo>
                  <a:pt x="332473" y="304800"/>
                </a:lnTo>
                <a:lnTo>
                  <a:pt x="332638" y="304800"/>
                </a:lnTo>
                <a:lnTo>
                  <a:pt x="322884" y="292100"/>
                </a:lnTo>
                <a:lnTo>
                  <a:pt x="323049" y="292100"/>
                </a:lnTo>
                <a:lnTo>
                  <a:pt x="312864" y="279400"/>
                </a:lnTo>
                <a:lnTo>
                  <a:pt x="313016" y="279400"/>
                </a:lnTo>
                <a:lnTo>
                  <a:pt x="302399" y="266700"/>
                </a:lnTo>
                <a:lnTo>
                  <a:pt x="302552" y="266700"/>
                </a:lnTo>
                <a:lnTo>
                  <a:pt x="291528" y="254000"/>
                </a:lnTo>
                <a:lnTo>
                  <a:pt x="291668" y="254000"/>
                </a:lnTo>
                <a:lnTo>
                  <a:pt x="280250" y="241300"/>
                </a:lnTo>
                <a:lnTo>
                  <a:pt x="280390" y="241300"/>
                </a:lnTo>
                <a:lnTo>
                  <a:pt x="268604" y="228600"/>
                </a:lnTo>
                <a:lnTo>
                  <a:pt x="268744" y="228600"/>
                </a:lnTo>
                <a:lnTo>
                  <a:pt x="256603" y="215900"/>
                </a:lnTo>
                <a:lnTo>
                  <a:pt x="244246" y="203200"/>
                </a:lnTo>
                <a:lnTo>
                  <a:pt x="231584" y="190500"/>
                </a:lnTo>
                <a:lnTo>
                  <a:pt x="218605" y="177800"/>
                </a:lnTo>
                <a:lnTo>
                  <a:pt x="205346" y="165100"/>
                </a:lnTo>
                <a:lnTo>
                  <a:pt x="191820" y="152400"/>
                </a:lnTo>
                <a:lnTo>
                  <a:pt x="178041" y="139700"/>
                </a:lnTo>
                <a:lnTo>
                  <a:pt x="164109" y="139700"/>
                </a:lnTo>
                <a:lnTo>
                  <a:pt x="149809" y="127000"/>
                </a:lnTo>
                <a:lnTo>
                  <a:pt x="120764" y="101600"/>
                </a:lnTo>
                <a:lnTo>
                  <a:pt x="120891" y="101600"/>
                </a:lnTo>
                <a:lnTo>
                  <a:pt x="91147" y="76200"/>
                </a:lnTo>
                <a:lnTo>
                  <a:pt x="61048" y="50800"/>
                </a:lnTo>
                <a:lnTo>
                  <a:pt x="0" y="12700"/>
                </a:lnTo>
                <a:lnTo>
                  <a:pt x="11252" y="0"/>
                </a:lnTo>
                <a:lnTo>
                  <a:pt x="72440" y="38100"/>
                </a:lnTo>
                <a:lnTo>
                  <a:pt x="102717" y="63500"/>
                </a:lnTo>
                <a:lnTo>
                  <a:pt x="132575" y="88900"/>
                </a:lnTo>
                <a:lnTo>
                  <a:pt x="161836" y="101600"/>
                </a:lnTo>
                <a:lnTo>
                  <a:pt x="190398" y="127000"/>
                </a:lnTo>
                <a:lnTo>
                  <a:pt x="231597" y="165100"/>
                </a:lnTo>
                <a:lnTo>
                  <a:pt x="270344" y="203200"/>
                </a:lnTo>
                <a:lnTo>
                  <a:pt x="306133" y="241300"/>
                </a:lnTo>
                <a:lnTo>
                  <a:pt x="338442" y="279400"/>
                </a:lnTo>
                <a:lnTo>
                  <a:pt x="357797" y="317500"/>
                </a:lnTo>
                <a:lnTo>
                  <a:pt x="366750" y="330200"/>
                </a:lnTo>
                <a:lnTo>
                  <a:pt x="390512" y="368300"/>
                </a:lnTo>
                <a:lnTo>
                  <a:pt x="400481" y="393700"/>
                </a:lnTo>
                <a:lnTo>
                  <a:pt x="403529" y="406400"/>
                </a:lnTo>
                <a:close/>
              </a:path>
              <a:path w="433070" h="2235200">
                <a:moveTo>
                  <a:pt x="411670" y="431800"/>
                </a:moveTo>
                <a:lnTo>
                  <a:pt x="393433" y="431800"/>
                </a:lnTo>
                <a:lnTo>
                  <a:pt x="390944" y="419100"/>
                </a:lnTo>
                <a:lnTo>
                  <a:pt x="388416" y="419100"/>
                </a:lnTo>
                <a:lnTo>
                  <a:pt x="385597" y="406400"/>
                </a:lnTo>
                <a:lnTo>
                  <a:pt x="406412" y="406400"/>
                </a:lnTo>
                <a:lnTo>
                  <a:pt x="409130" y="419100"/>
                </a:lnTo>
                <a:lnTo>
                  <a:pt x="411670" y="431800"/>
                </a:lnTo>
                <a:close/>
              </a:path>
              <a:path w="433070" h="2235200">
                <a:moveTo>
                  <a:pt x="418325" y="457200"/>
                </a:moveTo>
                <a:lnTo>
                  <a:pt x="399795" y="457200"/>
                </a:lnTo>
                <a:lnTo>
                  <a:pt x="397776" y="444500"/>
                </a:lnTo>
                <a:lnTo>
                  <a:pt x="395706" y="444500"/>
                </a:lnTo>
                <a:lnTo>
                  <a:pt x="393369" y="431800"/>
                </a:lnTo>
                <a:lnTo>
                  <a:pt x="414045" y="431800"/>
                </a:lnTo>
                <a:lnTo>
                  <a:pt x="416267" y="444500"/>
                </a:lnTo>
                <a:lnTo>
                  <a:pt x="418325" y="457200"/>
                </a:lnTo>
                <a:close/>
              </a:path>
              <a:path w="433070" h="2235200">
                <a:moveTo>
                  <a:pt x="423608" y="482600"/>
                </a:moveTo>
                <a:lnTo>
                  <a:pt x="404863" y="482600"/>
                </a:lnTo>
                <a:lnTo>
                  <a:pt x="403275" y="469900"/>
                </a:lnTo>
                <a:lnTo>
                  <a:pt x="401624" y="469900"/>
                </a:lnTo>
                <a:lnTo>
                  <a:pt x="399757" y="457200"/>
                </a:lnTo>
                <a:lnTo>
                  <a:pt x="420242" y="457200"/>
                </a:lnTo>
                <a:lnTo>
                  <a:pt x="421995" y="469900"/>
                </a:lnTo>
                <a:lnTo>
                  <a:pt x="423608" y="482600"/>
                </a:lnTo>
                <a:close/>
              </a:path>
              <a:path w="433070" h="2235200">
                <a:moveTo>
                  <a:pt x="406273" y="495300"/>
                </a:moveTo>
                <a:lnTo>
                  <a:pt x="404825" y="482600"/>
                </a:lnTo>
                <a:lnTo>
                  <a:pt x="406247" y="482600"/>
                </a:lnTo>
                <a:lnTo>
                  <a:pt x="406273" y="495300"/>
                </a:lnTo>
                <a:close/>
              </a:path>
              <a:path w="433070" h="2235200">
                <a:moveTo>
                  <a:pt x="86097" y="2173756"/>
                </a:moveTo>
                <a:lnTo>
                  <a:pt x="71309" y="2168324"/>
                </a:lnTo>
                <a:lnTo>
                  <a:pt x="99237" y="2108200"/>
                </a:lnTo>
                <a:lnTo>
                  <a:pt x="113855" y="2070100"/>
                </a:lnTo>
                <a:lnTo>
                  <a:pt x="128320" y="2044700"/>
                </a:lnTo>
                <a:lnTo>
                  <a:pt x="142570" y="2006600"/>
                </a:lnTo>
                <a:lnTo>
                  <a:pt x="156590" y="1968500"/>
                </a:lnTo>
                <a:lnTo>
                  <a:pt x="170319" y="1943100"/>
                </a:lnTo>
                <a:lnTo>
                  <a:pt x="183718" y="1905000"/>
                </a:lnTo>
                <a:lnTo>
                  <a:pt x="196761" y="1866900"/>
                </a:lnTo>
                <a:lnTo>
                  <a:pt x="209410" y="1841500"/>
                </a:lnTo>
                <a:lnTo>
                  <a:pt x="215557" y="1816100"/>
                </a:lnTo>
                <a:lnTo>
                  <a:pt x="221602" y="1803400"/>
                </a:lnTo>
                <a:lnTo>
                  <a:pt x="227533" y="1778000"/>
                </a:lnTo>
                <a:lnTo>
                  <a:pt x="233337" y="1765300"/>
                </a:lnTo>
                <a:lnTo>
                  <a:pt x="239001" y="1739900"/>
                </a:lnTo>
                <a:lnTo>
                  <a:pt x="244551" y="1727200"/>
                </a:lnTo>
                <a:lnTo>
                  <a:pt x="249948" y="1701800"/>
                </a:lnTo>
                <a:lnTo>
                  <a:pt x="255206" y="1689100"/>
                </a:lnTo>
                <a:lnTo>
                  <a:pt x="260337" y="1663700"/>
                </a:lnTo>
                <a:lnTo>
                  <a:pt x="265366" y="1651000"/>
                </a:lnTo>
                <a:lnTo>
                  <a:pt x="270306" y="1625600"/>
                </a:lnTo>
                <a:lnTo>
                  <a:pt x="275145" y="1612900"/>
                </a:lnTo>
                <a:lnTo>
                  <a:pt x="279869" y="1587500"/>
                </a:lnTo>
                <a:lnTo>
                  <a:pt x="284505" y="1562100"/>
                </a:lnTo>
                <a:lnTo>
                  <a:pt x="289039" y="1549400"/>
                </a:lnTo>
                <a:lnTo>
                  <a:pt x="293484" y="1524000"/>
                </a:lnTo>
                <a:lnTo>
                  <a:pt x="302069" y="1485900"/>
                </a:lnTo>
                <a:lnTo>
                  <a:pt x="310248" y="1435100"/>
                </a:lnTo>
                <a:lnTo>
                  <a:pt x="318033" y="1397000"/>
                </a:lnTo>
                <a:lnTo>
                  <a:pt x="325437" y="1346200"/>
                </a:lnTo>
                <a:lnTo>
                  <a:pt x="332447" y="1295400"/>
                </a:lnTo>
                <a:lnTo>
                  <a:pt x="339064" y="1257300"/>
                </a:lnTo>
                <a:lnTo>
                  <a:pt x="345313" y="1206500"/>
                </a:lnTo>
                <a:lnTo>
                  <a:pt x="351167" y="1168400"/>
                </a:lnTo>
                <a:lnTo>
                  <a:pt x="356641" y="1117600"/>
                </a:lnTo>
                <a:lnTo>
                  <a:pt x="361734" y="1079500"/>
                </a:lnTo>
                <a:lnTo>
                  <a:pt x="366458" y="1041400"/>
                </a:lnTo>
                <a:lnTo>
                  <a:pt x="370801" y="1003300"/>
                </a:lnTo>
                <a:lnTo>
                  <a:pt x="372986" y="977900"/>
                </a:lnTo>
                <a:lnTo>
                  <a:pt x="375323" y="952500"/>
                </a:lnTo>
                <a:lnTo>
                  <a:pt x="380377" y="914400"/>
                </a:lnTo>
                <a:lnTo>
                  <a:pt x="391147" y="838200"/>
                </a:lnTo>
                <a:lnTo>
                  <a:pt x="396468" y="800100"/>
                </a:lnTo>
                <a:lnTo>
                  <a:pt x="401446" y="762000"/>
                </a:lnTo>
                <a:lnTo>
                  <a:pt x="403720" y="736600"/>
                </a:lnTo>
                <a:lnTo>
                  <a:pt x="405853" y="723900"/>
                </a:lnTo>
                <a:lnTo>
                  <a:pt x="407771" y="698500"/>
                </a:lnTo>
                <a:lnTo>
                  <a:pt x="409486" y="685800"/>
                </a:lnTo>
                <a:lnTo>
                  <a:pt x="410946" y="660400"/>
                </a:lnTo>
                <a:lnTo>
                  <a:pt x="412140" y="647700"/>
                </a:lnTo>
                <a:lnTo>
                  <a:pt x="413029" y="622300"/>
                </a:lnTo>
                <a:lnTo>
                  <a:pt x="413588" y="609600"/>
                </a:lnTo>
                <a:lnTo>
                  <a:pt x="413804" y="596900"/>
                </a:lnTo>
                <a:lnTo>
                  <a:pt x="413638" y="571500"/>
                </a:lnTo>
                <a:lnTo>
                  <a:pt x="413067" y="558800"/>
                </a:lnTo>
                <a:lnTo>
                  <a:pt x="412064" y="533400"/>
                </a:lnTo>
                <a:lnTo>
                  <a:pt x="410616" y="520700"/>
                </a:lnTo>
                <a:lnTo>
                  <a:pt x="408673" y="508000"/>
                </a:lnTo>
                <a:lnTo>
                  <a:pt x="407530" y="495300"/>
                </a:lnTo>
                <a:lnTo>
                  <a:pt x="406247" y="482600"/>
                </a:lnTo>
                <a:lnTo>
                  <a:pt x="425068" y="482600"/>
                </a:lnTo>
                <a:lnTo>
                  <a:pt x="426402" y="495300"/>
                </a:lnTo>
                <a:lnTo>
                  <a:pt x="427608" y="508000"/>
                </a:lnTo>
                <a:lnTo>
                  <a:pt x="429590" y="520700"/>
                </a:lnTo>
                <a:lnTo>
                  <a:pt x="431088" y="533400"/>
                </a:lnTo>
                <a:lnTo>
                  <a:pt x="432104" y="558800"/>
                </a:lnTo>
                <a:lnTo>
                  <a:pt x="432688" y="571500"/>
                </a:lnTo>
                <a:lnTo>
                  <a:pt x="432625" y="609600"/>
                </a:lnTo>
                <a:lnTo>
                  <a:pt x="431152" y="647700"/>
                </a:lnTo>
                <a:lnTo>
                  <a:pt x="429945" y="660400"/>
                </a:lnTo>
                <a:lnTo>
                  <a:pt x="428459" y="685800"/>
                </a:lnTo>
                <a:lnTo>
                  <a:pt x="426732" y="698500"/>
                </a:lnTo>
                <a:lnTo>
                  <a:pt x="424776" y="723900"/>
                </a:lnTo>
                <a:lnTo>
                  <a:pt x="422643" y="736600"/>
                </a:lnTo>
                <a:lnTo>
                  <a:pt x="420331" y="762000"/>
                </a:lnTo>
                <a:lnTo>
                  <a:pt x="415353" y="800100"/>
                </a:lnTo>
                <a:lnTo>
                  <a:pt x="399249" y="914400"/>
                </a:lnTo>
                <a:lnTo>
                  <a:pt x="394233" y="965200"/>
                </a:lnTo>
                <a:lnTo>
                  <a:pt x="391909" y="977900"/>
                </a:lnTo>
                <a:lnTo>
                  <a:pt x="389750" y="1003300"/>
                </a:lnTo>
                <a:lnTo>
                  <a:pt x="385381" y="1041400"/>
                </a:lnTo>
                <a:lnTo>
                  <a:pt x="380657" y="1079500"/>
                </a:lnTo>
                <a:lnTo>
                  <a:pt x="375538" y="1130300"/>
                </a:lnTo>
                <a:lnTo>
                  <a:pt x="370052" y="1168400"/>
                </a:lnTo>
                <a:lnTo>
                  <a:pt x="364172" y="1219200"/>
                </a:lnTo>
                <a:lnTo>
                  <a:pt x="357911" y="1257300"/>
                </a:lnTo>
                <a:lnTo>
                  <a:pt x="351269" y="1308100"/>
                </a:lnTo>
                <a:lnTo>
                  <a:pt x="344233" y="1346200"/>
                </a:lnTo>
                <a:lnTo>
                  <a:pt x="336803" y="1397000"/>
                </a:lnTo>
                <a:lnTo>
                  <a:pt x="328980" y="1435100"/>
                </a:lnTo>
                <a:lnTo>
                  <a:pt x="320751" y="1485900"/>
                </a:lnTo>
                <a:lnTo>
                  <a:pt x="312140" y="1524000"/>
                </a:lnTo>
                <a:lnTo>
                  <a:pt x="307682" y="1549400"/>
                </a:lnTo>
                <a:lnTo>
                  <a:pt x="303110" y="1574800"/>
                </a:lnTo>
                <a:lnTo>
                  <a:pt x="298450" y="1587500"/>
                </a:lnTo>
                <a:lnTo>
                  <a:pt x="293674" y="1612900"/>
                </a:lnTo>
                <a:lnTo>
                  <a:pt x="288810" y="1638300"/>
                </a:lnTo>
                <a:lnTo>
                  <a:pt x="283832" y="1651000"/>
                </a:lnTo>
                <a:lnTo>
                  <a:pt x="278752" y="1676400"/>
                </a:lnTo>
                <a:lnTo>
                  <a:pt x="273570" y="1689100"/>
                </a:lnTo>
                <a:lnTo>
                  <a:pt x="268262" y="1714500"/>
                </a:lnTo>
                <a:lnTo>
                  <a:pt x="262813" y="1727200"/>
                </a:lnTo>
                <a:lnTo>
                  <a:pt x="257225" y="1752600"/>
                </a:lnTo>
                <a:lnTo>
                  <a:pt x="251498" y="1765300"/>
                </a:lnTo>
                <a:lnTo>
                  <a:pt x="245643" y="1790700"/>
                </a:lnTo>
                <a:lnTo>
                  <a:pt x="239661" y="1803400"/>
                </a:lnTo>
                <a:lnTo>
                  <a:pt x="233565" y="1828800"/>
                </a:lnTo>
                <a:lnTo>
                  <a:pt x="227342" y="1841500"/>
                </a:lnTo>
                <a:lnTo>
                  <a:pt x="214591" y="1879600"/>
                </a:lnTo>
                <a:lnTo>
                  <a:pt x="201460" y="1917700"/>
                </a:lnTo>
                <a:lnTo>
                  <a:pt x="187960" y="1943100"/>
                </a:lnTo>
                <a:lnTo>
                  <a:pt x="174155" y="1981200"/>
                </a:lnTo>
                <a:lnTo>
                  <a:pt x="160070" y="2019300"/>
                </a:lnTo>
                <a:lnTo>
                  <a:pt x="145745" y="2044700"/>
                </a:lnTo>
                <a:lnTo>
                  <a:pt x="131229" y="2082800"/>
                </a:lnTo>
                <a:lnTo>
                  <a:pt x="116547" y="2108200"/>
                </a:lnTo>
                <a:lnTo>
                  <a:pt x="86097" y="2173756"/>
                </a:lnTo>
                <a:close/>
              </a:path>
              <a:path w="433070" h="2235200">
                <a:moveTo>
                  <a:pt x="48488" y="2235200"/>
                </a:moveTo>
                <a:lnTo>
                  <a:pt x="45923" y="2159000"/>
                </a:lnTo>
                <a:lnTo>
                  <a:pt x="71309" y="2168324"/>
                </a:lnTo>
                <a:lnTo>
                  <a:pt x="63842" y="2184400"/>
                </a:lnTo>
                <a:lnTo>
                  <a:pt x="115074" y="2184400"/>
                </a:lnTo>
                <a:lnTo>
                  <a:pt x="48488" y="2235200"/>
                </a:lnTo>
                <a:close/>
              </a:path>
              <a:path w="433070" h="2235200">
                <a:moveTo>
                  <a:pt x="81152" y="2184400"/>
                </a:moveTo>
                <a:lnTo>
                  <a:pt x="63842" y="2184400"/>
                </a:lnTo>
                <a:lnTo>
                  <a:pt x="71309" y="2168324"/>
                </a:lnTo>
                <a:lnTo>
                  <a:pt x="86097" y="2173756"/>
                </a:lnTo>
                <a:lnTo>
                  <a:pt x="81152" y="2184400"/>
                </a:lnTo>
                <a:close/>
              </a:path>
              <a:path w="433070" h="2235200">
                <a:moveTo>
                  <a:pt x="115074" y="2184400"/>
                </a:moveTo>
                <a:lnTo>
                  <a:pt x="81152" y="2184400"/>
                </a:lnTo>
                <a:lnTo>
                  <a:pt x="86097" y="2173756"/>
                </a:lnTo>
                <a:lnTo>
                  <a:pt x="115074" y="218440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464242" y="3917691"/>
            <a:ext cx="429895" cy="1120775"/>
          </a:xfrm>
          <a:prstGeom prst="rect">
            <a:avLst/>
          </a:prstGeom>
        </p:spPr>
        <p:txBody>
          <a:bodyPr vert="horz" wrap="square" lIns="0" tIns="198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  <a:p>
            <a:pPr marL="241935">
              <a:lnSpc>
                <a:spcPct val="100000"/>
              </a:lnSpc>
              <a:spcBef>
                <a:spcPts val="920"/>
              </a:spcBef>
            </a:pPr>
            <a:r>
              <a:rPr sz="2000" dirty="0">
                <a:solidFill>
                  <a:srgbClr val="008000"/>
                </a:solidFill>
                <a:latin typeface="Tahoma"/>
                <a:cs typeface="Tahoma"/>
              </a:rPr>
              <a:t>0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378700" y="1428750"/>
            <a:ext cx="76200" cy="390525"/>
          </a:xfrm>
          <a:custGeom>
            <a:avLst/>
            <a:gdLst/>
            <a:ahLst/>
            <a:cxnLst/>
            <a:rect l="l" t="t" r="r" b="b"/>
            <a:pathLst>
              <a:path w="76200" h="390525">
                <a:moveTo>
                  <a:pt x="38100" y="390525"/>
                </a:moveTo>
                <a:lnTo>
                  <a:pt x="0" y="314325"/>
                </a:lnTo>
                <a:lnTo>
                  <a:pt x="76200" y="314325"/>
                </a:lnTo>
                <a:lnTo>
                  <a:pt x="38100" y="390525"/>
                </a:lnTo>
                <a:close/>
              </a:path>
              <a:path w="76200" h="390525">
                <a:moveTo>
                  <a:pt x="42862" y="38100"/>
                </a:moveTo>
                <a:lnTo>
                  <a:pt x="33337" y="38100"/>
                </a:lnTo>
                <a:lnTo>
                  <a:pt x="33337" y="0"/>
                </a:lnTo>
                <a:lnTo>
                  <a:pt x="42862" y="0"/>
                </a:lnTo>
                <a:lnTo>
                  <a:pt x="42862" y="38100"/>
                </a:lnTo>
                <a:close/>
              </a:path>
              <a:path w="76200" h="390525">
                <a:moveTo>
                  <a:pt x="42862" y="104775"/>
                </a:moveTo>
                <a:lnTo>
                  <a:pt x="33337" y="104775"/>
                </a:lnTo>
                <a:lnTo>
                  <a:pt x="33337" y="66675"/>
                </a:lnTo>
                <a:lnTo>
                  <a:pt x="42862" y="66675"/>
                </a:lnTo>
                <a:lnTo>
                  <a:pt x="42862" y="104775"/>
                </a:lnTo>
                <a:close/>
              </a:path>
              <a:path w="76200" h="390525">
                <a:moveTo>
                  <a:pt x="42862" y="171450"/>
                </a:moveTo>
                <a:lnTo>
                  <a:pt x="33337" y="171450"/>
                </a:lnTo>
                <a:lnTo>
                  <a:pt x="33337" y="133350"/>
                </a:lnTo>
                <a:lnTo>
                  <a:pt x="42862" y="133350"/>
                </a:lnTo>
                <a:lnTo>
                  <a:pt x="42862" y="171450"/>
                </a:lnTo>
                <a:close/>
              </a:path>
              <a:path w="76200" h="390525">
                <a:moveTo>
                  <a:pt x="42862" y="238125"/>
                </a:moveTo>
                <a:lnTo>
                  <a:pt x="33337" y="238125"/>
                </a:lnTo>
                <a:lnTo>
                  <a:pt x="33337" y="200025"/>
                </a:lnTo>
                <a:lnTo>
                  <a:pt x="42862" y="200025"/>
                </a:lnTo>
                <a:lnTo>
                  <a:pt x="42862" y="238125"/>
                </a:lnTo>
                <a:close/>
              </a:path>
              <a:path w="76200" h="390525">
                <a:moveTo>
                  <a:pt x="42862" y="304800"/>
                </a:moveTo>
                <a:lnTo>
                  <a:pt x="33337" y="304800"/>
                </a:lnTo>
                <a:lnTo>
                  <a:pt x="33337" y="266700"/>
                </a:lnTo>
                <a:lnTo>
                  <a:pt x="42862" y="266700"/>
                </a:lnTo>
                <a:lnTo>
                  <a:pt x="42862" y="30480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718300" y="3888422"/>
            <a:ext cx="11995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8000"/>
                </a:solidFill>
                <a:latin typeface="Tahoma"/>
                <a:cs typeface="Tahoma"/>
              </a:rPr>
              <a:t>rule</a:t>
            </a:r>
            <a:r>
              <a:rPr sz="2400" spc="-80" dirty="0">
                <a:solidFill>
                  <a:srgbClr val="008000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008000"/>
                </a:solidFill>
                <a:latin typeface="Tahoma"/>
                <a:cs typeface="Tahoma"/>
              </a:rPr>
              <a:t>3(b)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461000" y="5057775"/>
            <a:ext cx="2713355" cy="1085850"/>
          </a:xfrm>
          <a:custGeom>
            <a:avLst/>
            <a:gdLst/>
            <a:ahLst/>
            <a:cxnLst/>
            <a:rect l="l" t="t" r="r" b="b"/>
            <a:pathLst>
              <a:path w="2713354" h="1085850">
                <a:moveTo>
                  <a:pt x="2713037" y="1085850"/>
                </a:moveTo>
                <a:lnTo>
                  <a:pt x="0" y="1085850"/>
                </a:lnTo>
                <a:lnTo>
                  <a:pt x="0" y="0"/>
                </a:lnTo>
                <a:lnTo>
                  <a:pt x="2713037" y="0"/>
                </a:lnTo>
                <a:lnTo>
                  <a:pt x="2713037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076325"/>
                </a:lnTo>
                <a:lnTo>
                  <a:pt x="4762" y="1076325"/>
                </a:lnTo>
                <a:lnTo>
                  <a:pt x="9525" y="1081087"/>
                </a:lnTo>
                <a:lnTo>
                  <a:pt x="2713037" y="1081087"/>
                </a:lnTo>
                <a:lnTo>
                  <a:pt x="2713037" y="1085850"/>
                </a:lnTo>
                <a:close/>
              </a:path>
              <a:path w="2713354" h="108585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713354" h="1085850">
                <a:moveTo>
                  <a:pt x="2703512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703512" y="4762"/>
                </a:lnTo>
                <a:lnTo>
                  <a:pt x="2703512" y="9525"/>
                </a:lnTo>
                <a:close/>
              </a:path>
              <a:path w="2713354" h="1085850">
                <a:moveTo>
                  <a:pt x="2703512" y="1081087"/>
                </a:moveTo>
                <a:lnTo>
                  <a:pt x="2703512" y="4762"/>
                </a:lnTo>
                <a:lnTo>
                  <a:pt x="2708275" y="9525"/>
                </a:lnTo>
                <a:lnTo>
                  <a:pt x="2713037" y="9525"/>
                </a:lnTo>
                <a:lnTo>
                  <a:pt x="2713037" y="1076325"/>
                </a:lnTo>
                <a:lnTo>
                  <a:pt x="2708275" y="1076325"/>
                </a:lnTo>
                <a:lnTo>
                  <a:pt x="2703512" y="1081087"/>
                </a:lnTo>
                <a:close/>
              </a:path>
              <a:path w="2713354" h="1085850">
                <a:moveTo>
                  <a:pt x="2713037" y="9525"/>
                </a:moveTo>
                <a:lnTo>
                  <a:pt x="2708275" y="9525"/>
                </a:lnTo>
                <a:lnTo>
                  <a:pt x="2703512" y="4762"/>
                </a:lnTo>
                <a:lnTo>
                  <a:pt x="2713037" y="4762"/>
                </a:lnTo>
                <a:lnTo>
                  <a:pt x="2713037" y="9525"/>
                </a:lnTo>
                <a:close/>
              </a:path>
              <a:path w="2713354" h="1085850">
                <a:moveTo>
                  <a:pt x="9525" y="1081087"/>
                </a:moveTo>
                <a:lnTo>
                  <a:pt x="4762" y="1076325"/>
                </a:lnTo>
                <a:lnTo>
                  <a:pt x="9525" y="1076325"/>
                </a:lnTo>
                <a:lnTo>
                  <a:pt x="9525" y="1081087"/>
                </a:lnTo>
                <a:close/>
              </a:path>
              <a:path w="2713354" h="1085850">
                <a:moveTo>
                  <a:pt x="2703512" y="1081087"/>
                </a:moveTo>
                <a:lnTo>
                  <a:pt x="9525" y="1081087"/>
                </a:lnTo>
                <a:lnTo>
                  <a:pt x="9525" y="1076325"/>
                </a:lnTo>
                <a:lnTo>
                  <a:pt x="2703512" y="1076325"/>
                </a:lnTo>
                <a:lnTo>
                  <a:pt x="2703512" y="1081087"/>
                </a:lnTo>
                <a:close/>
              </a:path>
              <a:path w="2713354" h="1085850">
                <a:moveTo>
                  <a:pt x="2713037" y="1081087"/>
                </a:moveTo>
                <a:lnTo>
                  <a:pt x="2703512" y="1081087"/>
                </a:lnTo>
                <a:lnTo>
                  <a:pt x="2708275" y="1076325"/>
                </a:lnTo>
                <a:lnTo>
                  <a:pt x="2713037" y="1076325"/>
                </a:lnTo>
                <a:lnTo>
                  <a:pt x="2713037" y="10810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543867" y="5098097"/>
            <a:ext cx="254698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LP(S)</a:t>
            </a:r>
            <a:r>
              <a:rPr sz="3200" spc="-8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acyclic!!</a:t>
            </a:r>
            <a:endParaRPr sz="32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3200" dirty="0">
                <a:latin typeface="Tahoma"/>
                <a:cs typeface="Tahoma"/>
              </a:rPr>
              <a:t>S </a:t>
            </a:r>
            <a:r>
              <a:rPr sz="3200" spc="-5" dirty="0">
                <a:latin typeface="Tahoma"/>
                <a:cs typeface="Tahoma"/>
              </a:rPr>
              <a:t>is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35" dirty="0">
                <a:latin typeface="Tahoma"/>
                <a:cs typeface="Tahoma"/>
              </a:rPr>
              <a:t>V-S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11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21</a:t>
            </a:fld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78542" y="4937759"/>
            <a:ext cx="4298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23877" y="3626485"/>
            <a:ext cx="3600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f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29104" y="3634422"/>
            <a:ext cx="4318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b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0365" y="422719"/>
            <a:ext cx="8371840" cy="119507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65"/>
              </a:spcBef>
            </a:pPr>
            <a:r>
              <a:rPr spc="-5" dirty="0"/>
              <a:t>Another example:</a:t>
            </a:r>
          </a:p>
          <a:p>
            <a:pPr marL="38100">
              <a:lnSpc>
                <a:spcPct val="100000"/>
              </a:lnSpc>
              <a:spcBef>
                <a:spcPts val="765"/>
              </a:spcBef>
            </a:pPr>
            <a:r>
              <a:rPr dirty="0"/>
              <a:t>Z=w</a:t>
            </a:r>
            <a:r>
              <a:rPr sz="2400" dirty="0"/>
              <a:t>b</a:t>
            </a:r>
            <a:r>
              <a:rPr dirty="0"/>
              <a:t>(A)</a:t>
            </a:r>
            <a:r>
              <a:rPr sz="3000" baseline="11111" dirty="0">
                <a:solidFill>
                  <a:srgbClr val="FF0000"/>
                </a:solidFill>
                <a:latin typeface="Symbol"/>
                <a:cs typeface="Symbol"/>
              </a:rPr>
              <a:t></a:t>
            </a:r>
            <a:r>
              <a:rPr sz="3200" dirty="0"/>
              <a:t>r</a:t>
            </a:r>
            <a:r>
              <a:rPr sz="2400" dirty="0"/>
              <a:t>1</a:t>
            </a:r>
            <a:r>
              <a:rPr sz="3200" dirty="0"/>
              <a:t>(A) w</a:t>
            </a:r>
            <a:r>
              <a:rPr sz="2400" dirty="0"/>
              <a:t>2</a:t>
            </a:r>
            <a:r>
              <a:rPr sz="3200" dirty="0"/>
              <a:t>(A)</a:t>
            </a:r>
            <a:r>
              <a:rPr sz="3000" baseline="11111" dirty="0">
                <a:solidFill>
                  <a:srgbClr val="FF0000"/>
                </a:solidFill>
                <a:latin typeface="Symbol"/>
                <a:cs typeface="Symbol"/>
              </a:rPr>
              <a:t></a:t>
            </a:r>
            <a:r>
              <a:rPr sz="3200" dirty="0"/>
              <a:t>r</a:t>
            </a:r>
            <a:r>
              <a:rPr sz="2400" dirty="0"/>
              <a:t>3</a:t>
            </a:r>
            <a:r>
              <a:rPr sz="3200" dirty="0"/>
              <a:t>(A) </a:t>
            </a:r>
            <a:r>
              <a:rPr sz="3200" spc="-5" dirty="0"/>
              <a:t>w</a:t>
            </a:r>
            <a:r>
              <a:rPr sz="2400" spc="-5" dirty="0"/>
              <a:t>1</a:t>
            </a:r>
            <a:r>
              <a:rPr sz="3200" spc="-5" dirty="0"/>
              <a:t>(A)</a:t>
            </a:r>
            <a:r>
              <a:rPr sz="3200" spc="-80" dirty="0"/>
              <a:t> </a:t>
            </a:r>
            <a:r>
              <a:rPr sz="3200" dirty="0"/>
              <a:t>w</a:t>
            </a:r>
            <a:r>
              <a:rPr sz="2400" dirty="0"/>
              <a:t>3</a:t>
            </a:r>
            <a:r>
              <a:rPr sz="3200" dirty="0"/>
              <a:t>(A)</a:t>
            </a:r>
            <a:r>
              <a:rPr sz="3000" baseline="9722" dirty="0">
                <a:solidFill>
                  <a:srgbClr val="FF0000"/>
                </a:solidFill>
                <a:latin typeface="Symbol"/>
                <a:cs typeface="Symbol"/>
              </a:rPr>
              <a:t></a:t>
            </a:r>
            <a:r>
              <a:rPr sz="3200" dirty="0"/>
              <a:t>r</a:t>
            </a:r>
            <a:r>
              <a:rPr sz="2400" dirty="0"/>
              <a:t>f</a:t>
            </a:r>
            <a:r>
              <a:rPr sz="3200" dirty="0"/>
              <a:t>(A)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743325" y="4113212"/>
            <a:ext cx="76200" cy="909955"/>
          </a:xfrm>
          <a:custGeom>
            <a:avLst/>
            <a:gdLst/>
            <a:ahLst/>
            <a:cxnLst/>
            <a:rect l="l" t="t" r="r" b="b"/>
            <a:pathLst>
              <a:path w="76200" h="909954">
                <a:moveTo>
                  <a:pt x="47625" y="852487"/>
                </a:moveTo>
                <a:lnTo>
                  <a:pt x="28575" y="852487"/>
                </a:lnTo>
                <a:lnTo>
                  <a:pt x="28575" y="0"/>
                </a:lnTo>
                <a:lnTo>
                  <a:pt x="47625" y="0"/>
                </a:lnTo>
                <a:lnTo>
                  <a:pt x="47625" y="852487"/>
                </a:lnTo>
                <a:close/>
              </a:path>
              <a:path w="76200" h="909954">
                <a:moveTo>
                  <a:pt x="38100" y="909637"/>
                </a:moveTo>
                <a:lnTo>
                  <a:pt x="0" y="833437"/>
                </a:lnTo>
                <a:lnTo>
                  <a:pt x="28575" y="833437"/>
                </a:lnTo>
                <a:lnTo>
                  <a:pt x="28575" y="852487"/>
                </a:lnTo>
                <a:lnTo>
                  <a:pt x="66675" y="852487"/>
                </a:lnTo>
                <a:lnTo>
                  <a:pt x="38100" y="909637"/>
                </a:lnTo>
                <a:close/>
              </a:path>
              <a:path w="76200" h="909954">
                <a:moveTo>
                  <a:pt x="66675" y="852487"/>
                </a:moveTo>
                <a:lnTo>
                  <a:pt x="47625" y="852487"/>
                </a:lnTo>
                <a:lnTo>
                  <a:pt x="47625" y="833437"/>
                </a:lnTo>
                <a:lnTo>
                  <a:pt x="76200" y="833437"/>
                </a:lnTo>
                <a:lnTo>
                  <a:pt x="66675" y="85248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149215" y="4259262"/>
            <a:ext cx="1644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  <a:latin typeface="Tahoma"/>
                <a:cs typeface="Tahoma"/>
              </a:rPr>
              <a:t>0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058060" y="2655887"/>
            <a:ext cx="1537030" cy="25447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828289" y="2787649"/>
            <a:ext cx="1644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  <a:latin typeface="Tahoma"/>
                <a:cs typeface="Tahoma"/>
              </a:rPr>
              <a:t>0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713162" y="2741612"/>
            <a:ext cx="76200" cy="968375"/>
          </a:xfrm>
          <a:custGeom>
            <a:avLst/>
            <a:gdLst/>
            <a:ahLst/>
            <a:cxnLst/>
            <a:rect l="l" t="t" r="r" b="b"/>
            <a:pathLst>
              <a:path w="76200" h="968375">
                <a:moveTo>
                  <a:pt x="47625" y="911225"/>
                </a:moveTo>
                <a:lnTo>
                  <a:pt x="28575" y="911225"/>
                </a:lnTo>
                <a:lnTo>
                  <a:pt x="28575" y="0"/>
                </a:lnTo>
                <a:lnTo>
                  <a:pt x="47625" y="0"/>
                </a:lnTo>
                <a:lnTo>
                  <a:pt x="47625" y="911225"/>
                </a:lnTo>
                <a:close/>
              </a:path>
              <a:path w="76200" h="968375">
                <a:moveTo>
                  <a:pt x="38100" y="968375"/>
                </a:moveTo>
                <a:lnTo>
                  <a:pt x="0" y="892175"/>
                </a:lnTo>
                <a:lnTo>
                  <a:pt x="28575" y="892175"/>
                </a:lnTo>
                <a:lnTo>
                  <a:pt x="28575" y="911225"/>
                </a:lnTo>
                <a:lnTo>
                  <a:pt x="66675" y="911225"/>
                </a:lnTo>
                <a:lnTo>
                  <a:pt x="38100" y="968375"/>
                </a:lnTo>
                <a:close/>
              </a:path>
              <a:path w="76200" h="968375">
                <a:moveTo>
                  <a:pt x="66675" y="911225"/>
                </a:moveTo>
                <a:lnTo>
                  <a:pt x="47625" y="911225"/>
                </a:lnTo>
                <a:lnTo>
                  <a:pt x="47625" y="892175"/>
                </a:lnTo>
                <a:lnTo>
                  <a:pt x="76200" y="892175"/>
                </a:lnTo>
                <a:lnTo>
                  <a:pt x="66675" y="911225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91012" y="881062"/>
            <a:ext cx="76200" cy="431800"/>
          </a:xfrm>
          <a:custGeom>
            <a:avLst/>
            <a:gdLst/>
            <a:ahLst/>
            <a:cxnLst/>
            <a:rect l="l" t="t" r="r" b="b"/>
            <a:pathLst>
              <a:path w="76200" h="431800">
                <a:moveTo>
                  <a:pt x="42862" y="371475"/>
                </a:moveTo>
                <a:lnTo>
                  <a:pt x="33337" y="371475"/>
                </a:lnTo>
                <a:lnTo>
                  <a:pt x="33337" y="333375"/>
                </a:lnTo>
                <a:lnTo>
                  <a:pt x="42862" y="333375"/>
                </a:lnTo>
                <a:lnTo>
                  <a:pt x="42862" y="371475"/>
                </a:lnTo>
                <a:close/>
              </a:path>
              <a:path w="76200" h="431800">
                <a:moveTo>
                  <a:pt x="38100" y="431800"/>
                </a:moveTo>
                <a:lnTo>
                  <a:pt x="0" y="355600"/>
                </a:lnTo>
                <a:lnTo>
                  <a:pt x="33337" y="355600"/>
                </a:lnTo>
                <a:lnTo>
                  <a:pt x="33337" y="371475"/>
                </a:lnTo>
                <a:lnTo>
                  <a:pt x="68262" y="371475"/>
                </a:lnTo>
                <a:lnTo>
                  <a:pt x="38100" y="431800"/>
                </a:lnTo>
                <a:close/>
              </a:path>
              <a:path w="76200" h="431800">
                <a:moveTo>
                  <a:pt x="68262" y="371475"/>
                </a:moveTo>
                <a:lnTo>
                  <a:pt x="42862" y="371475"/>
                </a:lnTo>
                <a:lnTo>
                  <a:pt x="42862" y="355600"/>
                </a:lnTo>
                <a:lnTo>
                  <a:pt x="76200" y="355600"/>
                </a:lnTo>
                <a:lnTo>
                  <a:pt x="68262" y="371475"/>
                </a:lnTo>
                <a:close/>
              </a:path>
              <a:path w="76200" h="431800">
                <a:moveTo>
                  <a:pt x="42862" y="38100"/>
                </a:moveTo>
                <a:lnTo>
                  <a:pt x="33337" y="38100"/>
                </a:lnTo>
                <a:lnTo>
                  <a:pt x="33337" y="0"/>
                </a:lnTo>
                <a:lnTo>
                  <a:pt x="42862" y="0"/>
                </a:lnTo>
                <a:lnTo>
                  <a:pt x="42862" y="38100"/>
                </a:lnTo>
                <a:close/>
              </a:path>
              <a:path w="76200" h="431800">
                <a:moveTo>
                  <a:pt x="42862" y="104775"/>
                </a:moveTo>
                <a:lnTo>
                  <a:pt x="33337" y="104775"/>
                </a:lnTo>
                <a:lnTo>
                  <a:pt x="33337" y="66675"/>
                </a:lnTo>
                <a:lnTo>
                  <a:pt x="42862" y="66675"/>
                </a:lnTo>
                <a:lnTo>
                  <a:pt x="42862" y="104775"/>
                </a:lnTo>
                <a:close/>
              </a:path>
              <a:path w="76200" h="431800">
                <a:moveTo>
                  <a:pt x="42862" y="171450"/>
                </a:moveTo>
                <a:lnTo>
                  <a:pt x="33337" y="171450"/>
                </a:lnTo>
                <a:lnTo>
                  <a:pt x="33337" y="133350"/>
                </a:lnTo>
                <a:lnTo>
                  <a:pt x="42862" y="133350"/>
                </a:lnTo>
                <a:lnTo>
                  <a:pt x="42862" y="171450"/>
                </a:lnTo>
                <a:close/>
              </a:path>
              <a:path w="76200" h="431800">
                <a:moveTo>
                  <a:pt x="42862" y="238125"/>
                </a:moveTo>
                <a:lnTo>
                  <a:pt x="33337" y="238125"/>
                </a:lnTo>
                <a:lnTo>
                  <a:pt x="33337" y="200025"/>
                </a:lnTo>
                <a:lnTo>
                  <a:pt x="42862" y="200025"/>
                </a:lnTo>
                <a:lnTo>
                  <a:pt x="42862" y="238125"/>
                </a:lnTo>
                <a:close/>
              </a:path>
              <a:path w="76200" h="431800">
                <a:moveTo>
                  <a:pt x="42862" y="304800"/>
                </a:moveTo>
                <a:lnTo>
                  <a:pt x="33337" y="304800"/>
                </a:lnTo>
                <a:lnTo>
                  <a:pt x="33337" y="266700"/>
                </a:lnTo>
                <a:lnTo>
                  <a:pt x="42862" y="266700"/>
                </a:lnTo>
                <a:lnTo>
                  <a:pt x="42862" y="30480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502342" y="2218372"/>
            <a:ext cx="449580" cy="11404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  <a:p>
            <a:pPr marL="297180">
              <a:lnSpc>
                <a:spcPct val="100000"/>
              </a:lnSpc>
              <a:spcBef>
                <a:spcPts val="2530"/>
              </a:spcBef>
            </a:pPr>
            <a:r>
              <a:rPr sz="2000" dirty="0">
                <a:solidFill>
                  <a:srgbClr val="3333CC"/>
                </a:solidFill>
                <a:latin typeface="Tahoma"/>
                <a:cs typeface="Tahoma"/>
              </a:rPr>
              <a:t>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42589" y="4014787"/>
            <a:ext cx="1644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3333CC"/>
                </a:solidFill>
                <a:latin typeface="Tahoma"/>
                <a:cs typeface="Tahoma"/>
              </a:rPr>
              <a:t>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12602" y="4013200"/>
            <a:ext cx="1644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8000"/>
                </a:solidFill>
                <a:latin typeface="Tahoma"/>
                <a:cs typeface="Tahoma"/>
              </a:rPr>
              <a:t>0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895648" y="2444165"/>
            <a:ext cx="1732038" cy="26439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191952" y="2982912"/>
            <a:ext cx="1644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8000"/>
                </a:solidFill>
                <a:latin typeface="Tahoma"/>
                <a:cs typeface="Tahoma"/>
              </a:rPr>
              <a:t>0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997075" y="1501775"/>
            <a:ext cx="76200" cy="431800"/>
          </a:xfrm>
          <a:custGeom>
            <a:avLst/>
            <a:gdLst/>
            <a:ahLst/>
            <a:cxnLst/>
            <a:rect l="l" t="t" r="r" b="b"/>
            <a:pathLst>
              <a:path w="76200" h="431800">
                <a:moveTo>
                  <a:pt x="33337" y="76200"/>
                </a:moveTo>
                <a:lnTo>
                  <a:pt x="0" y="76200"/>
                </a:lnTo>
                <a:lnTo>
                  <a:pt x="38100" y="0"/>
                </a:lnTo>
                <a:lnTo>
                  <a:pt x="68262" y="60325"/>
                </a:lnTo>
                <a:lnTo>
                  <a:pt x="33337" y="60325"/>
                </a:lnTo>
                <a:lnTo>
                  <a:pt x="33337" y="76200"/>
                </a:lnTo>
                <a:close/>
              </a:path>
              <a:path w="76200" h="431800">
                <a:moveTo>
                  <a:pt x="42862" y="98425"/>
                </a:moveTo>
                <a:lnTo>
                  <a:pt x="33337" y="98425"/>
                </a:lnTo>
                <a:lnTo>
                  <a:pt x="33337" y="60325"/>
                </a:lnTo>
                <a:lnTo>
                  <a:pt x="42862" y="60325"/>
                </a:lnTo>
                <a:lnTo>
                  <a:pt x="42862" y="98425"/>
                </a:lnTo>
                <a:close/>
              </a:path>
              <a:path w="76200" h="431800">
                <a:moveTo>
                  <a:pt x="76200" y="76200"/>
                </a:moveTo>
                <a:lnTo>
                  <a:pt x="42862" y="76200"/>
                </a:lnTo>
                <a:lnTo>
                  <a:pt x="42862" y="60325"/>
                </a:lnTo>
                <a:lnTo>
                  <a:pt x="68262" y="60325"/>
                </a:lnTo>
                <a:lnTo>
                  <a:pt x="76200" y="76200"/>
                </a:lnTo>
                <a:close/>
              </a:path>
              <a:path w="76200" h="431800">
                <a:moveTo>
                  <a:pt x="42862" y="431800"/>
                </a:moveTo>
                <a:lnTo>
                  <a:pt x="33337" y="431800"/>
                </a:lnTo>
                <a:lnTo>
                  <a:pt x="33337" y="393700"/>
                </a:lnTo>
                <a:lnTo>
                  <a:pt x="42862" y="393700"/>
                </a:lnTo>
                <a:lnTo>
                  <a:pt x="42862" y="431800"/>
                </a:lnTo>
                <a:close/>
              </a:path>
              <a:path w="76200" h="431800">
                <a:moveTo>
                  <a:pt x="42862" y="365125"/>
                </a:moveTo>
                <a:lnTo>
                  <a:pt x="33337" y="365125"/>
                </a:lnTo>
                <a:lnTo>
                  <a:pt x="33337" y="327025"/>
                </a:lnTo>
                <a:lnTo>
                  <a:pt x="42862" y="327025"/>
                </a:lnTo>
                <a:lnTo>
                  <a:pt x="42862" y="365125"/>
                </a:lnTo>
                <a:close/>
              </a:path>
              <a:path w="76200" h="431800">
                <a:moveTo>
                  <a:pt x="42862" y="298450"/>
                </a:moveTo>
                <a:lnTo>
                  <a:pt x="33337" y="298450"/>
                </a:lnTo>
                <a:lnTo>
                  <a:pt x="33337" y="260350"/>
                </a:lnTo>
                <a:lnTo>
                  <a:pt x="42862" y="260350"/>
                </a:lnTo>
                <a:lnTo>
                  <a:pt x="42862" y="298450"/>
                </a:lnTo>
                <a:close/>
              </a:path>
              <a:path w="76200" h="431800">
                <a:moveTo>
                  <a:pt x="42862" y="231775"/>
                </a:moveTo>
                <a:lnTo>
                  <a:pt x="33337" y="231775"/>
                </a:lnTo>
                <a:lnTo>
                  <a:pt x="33337" y="193675"/>
                </a:lnTo>
                <a:lnTo>
                  <a:pt x="42862" y="193675"/>
                </a:lnTo>
                <a:lnTo>
                  <a:pt x="42862" y="231775"/>
                </a:lnTo>
                <a:close/>
              </a:path>
              <a:path w="76200" h="431800">
                <a:moveTo>
                  <a:pt x="42862" y="165100"/>
                </a:moveTo>
                <a:lnTo>
                  <a:pt x="33337" y="165100"/>
                </a:lnTo>
                <a:lnTo>
                  <a:pt x="33337" y="127000"/>
                </a:lnTo>
                <a:lnTo>
                  <a:pt x="42862" y="127000"/>
                </a:lnTo>
                <a:lnTo>
                  <a:pt x="42862" y="16510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255327" y="3424628"/>
            <a:ext cx="779780" cy="1145540"/>
          </a:xfrm>
          <a:prstGeom prst="rect">
            <a:avLst/>
          </a:prstGeom>
        </p:spPr>
        <p:txBody>
          <a:bodyPr vert="horz" wrap="square" lIns="0" tIns="2133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680"/>
              </a:spcBef>
              <a:tabLst>
                <a:tab pos="299085" algn="l"/>
              </a:tabLst>
            </a:pPr>
            <a:r>
              <a:rPr sz="3000" baseline="-18055" dirty="0">
                <a:solidFill>
                  <a:srgbClr val="FF00FF"/>
                </a:solidFill>
                <a:latin typeface="Tahoma"/>
                <a:cs typeface="Tahoma"/>
              </a:rPr>
              <a:t>0	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  <a:p>
            <a:pPr marL="73660" algn="ctr">
              <a:lnSpc>
                <a:spcPct val="100000"/>
              </a:lnSpc>
              <a:spcBef>
                <a:spcPts val="995"/>
              </a:spcBef>
            </a:pPr>
            <a:r>
              <a:rPr sz="2000" dirty="0">
                <a:solidFill>
                  <a:srgbClr val="FF0000"/>
                </a:solidFill>
                <a:latin typeface="Tahoma"/>
                <a:cs typeface="Tahoma"/>
              </a:rPr>
              <a:t>0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696200" y="779462"/>
            <a:ext cx="76200" cy="504825"/>
          </a:xfrm>
          <a:custGeom>
            <a:avLst/>
            <a:gdLst/>
            <a:ahLst/>
            <a:cxnLst/>
            <a:rect l="l" t="t" r="r" b="b"/>
            <a:pathLst>
              <a:path w="76200" h="504825">
                <a:moveTo>
                  <a:pt x="42862" y="438150"/>
                </a:moveTo>
                <a:lnTo>
                  <a:pt x="33337" y="438150"/>
                </a:lnTo>
                <a:lnTo>
                  <a:pt x="33337" y="400050"/>
                </a:lnTo>
                <a:lnTo>
                  <a:pt x="42862" y="400050"/>
                </a:lnTo>
                <a:lnTo>
                  <a:pt x="42862" y="438150"/>
                </a:lnTo>
                <a:close/>
              </a:path>
              <a:path w="76200" h="504825">
                <a:moveTo>
                  <a:pt x="38100" y="504825"/>
                </a:moveTo>
                <a:lnTo>
                  <a:pt x="0" y="428625"/>
                </a:lnTo>
                <a:lnTo>
                  <a:pt x="33337" y="428625"/>
                </a:lnTo>
                <a:lnTo>
                  <a:pt x="33337" y="438150"/>
                </a:lnTo>
                <a:lnTo>
                  <a:pt x="71437" y="438150"/>
                </a:lnTo>
                <a:lnTo>
                  <a:pt x="38100" y="504825"/>
                </a:lnTo>
                <a:close/>
              </a:path>
              <a:path w="76200" h="504825">
                <a:moveTo>
                  <a:pt x="71437" y="438150"/>
                </a:moveTo>
                <a:lnTo>
                  <a:pt x="42862" y="438150"/>
                </a:lnTo>
                <a:lnTo>
                  <a:pt x="42862" y="428625"/>
                </a:lnTo>
                <a:lnTo>
                  <a:pt x="76200" y="428625"/>
                </a:lnTo>
                <a:lnTo>
                  <a:pt x="71437" y="438150"/>
                </a:lnTo>
                <a:close/>
              </a:path>
              <a:path w="76200" h="504825">
                <a:moveTo>
                  <a:pt x="42862" y="38100"/>
                </a:moveTo>
                <a:lnTo>
                  <a:pt x="33337" y="38100"/>
                </a:lnTo>
                <a:lnTo>
                  <a:pt x="33337" y="0"/>
                </a:lnTo>
                <a:lnTo>
                  <a:pt x="42862" y="0"/>
                </a:lnTo>
                <a:lnTo>
                  <a:pt x="42862" y="38100"/>
                </a:lnTo>
                <a:close/>
              </a:path>
              <a:path w="76200" h="504825">
                <a:moveTo>
                  <a:pt x="42862" y="104775"/>
                </a:moveTo>
                <a:lnTo>
                  <a:pt x="33337" y="104775"/>
                </a:lnTo>
                <a:lnTo>
                  <a:pt x="33337" y="66675"/>
                </a:lnTo>
                <a:lnTo>
                  <a:pt x="42862" y="66675"/>
                </a:lnTo>
                <a:lnTo>
                  <a:pt x="42862" y="104775"/>
                </a:lnTo>
                <a:close/>
              </a:path>
              <a:path w="76200" h="504825">
                <a:moveTo>
                  <a:pt x="42862" y="171450"/>
                </a:moveTo>
                <a:lnTo>
                  <a:pt x="33337" y="171450"/>
                </a:lnTo>
                <a:lnTo>
                  <a:pt x="33337" y="133350"/>
                </a:lnTo>
                <a:lnTo>
                  <a:pt x="42862" y="133350"/>
                </a:lnTo>
                <a:lnTo>
                  <a:pt x="42862" y="171450"/>
                </a:lnTo>
                <a:close/>
              </a:path>
              <a:path w="76200" h="504825">
                <a:moveTo>
                  <a:pt x="42862" y="238125"/>
                </a:moveTo>
                <a:lnTo>
                  <a:pt x="33337" y="238125"/>
                </a:lnTo>
                <a:lnTo>
                  <a:pt x="33337" y="200025"/>
                </a:lnTo>
                <a:lnTo>
                  <a:pt x="42862" y="200025"/>
                </a:lnTo>
                <a:lnTo>
                  <a:pt x="42862" y="238125"/>
                </a:lnTo>
                <a:close/>
              </a:path>
              <a:path w="76200" h="504825">
                <a:moveTo>
                  <a:pt x="42862" y="304800"/>
                </a:moveTo>
                <a:lnTo>
                  <a:pt x="33337" y="304800"/>
                </a:lnTo>
                <a:lnTo>
                  <a:pt x="33337" y="266700"/>
                </a:lnTo>
                <a:lnTo>
                  <a:pt x="42862" y="266700"/>
                </a:lnTo>
                <a:lnTo>
                  <a:pt x="42862" y="304800"/>
                </a:lnTo>
                <a:close/>
              </a:path>
              <a:path w="76200" h="504825">
                <a:moveTo>
                  <a:pt x="42862" y="371475"/>
                </a:moveTo>
                <a:lnTo>
                  <a:pt x="33337" y="371475"/>
                </a:lnTo>
                <a:lnTo>
                  <a:pt x="33337" y="333375"/>
                </a:lnTo>
                <a:lnTo>
                  <a:pt x="42862" y="333375"/>
                </a:lnTo>
                <a:lnTo>
                  <a:pt x="42862" y="371475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846002" y="3579812"/>
            <a:ext cx="1644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FF"/>
                </a:solidFill>
                <a:latin typeface="Tahoma"/>
                <a:cs typeface="Tahoma"/>
              </a:rPr>
              <a:t>0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25437" y="4560887"/>
            <a:ext cx="2738755" cy="841375"/>
          </a:xfrm>
          <a:custGeom>
            <a:avLst/>
            <a:gdLst/>
            <a:ahLst/>
            <a:cxnLst/>
            <a:rect l="l" t="t" r="r" b="b"/>
            <a:pathLst>
              <a:path w="2738755" h="841375">
                <a:moveTo>
                  <a:pt x="2738437" y="841375"/>
                </a:moveTo>
                <a:lnTo>
                  <a:pt x="0" y="841375"/>
                </a:lnTo>
                <a:lnTo>
                  <a:pt x="0" y="0"/>
                </a:lnTo>
                <a:lnTo>
                  <a:pt x="2738437" y="0"/>
                </a:lnTo>
                <a:lnTo>
                  <a:pt x="2738437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831850"/>
                </a:lnTo>
                <a:lnTo>
                  <a:pt x="4762" y="831850"/>
                </a:lnTo>
                <a:lnTo>
                  <a:pt x="9525" y="836612"/>
                </a:lnTo>
                <a:lnTo>
                  <a:pt x="2738437" y="836612"/>
                </a:lnTo>
                <a:lnTo>
                  <a:pt x="2738437" y="841375"/>
                </a:lnTo>
                <a:close/>
              </a:path>
              <a:path w="2738755" h="84137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738755" h="841375">
                <a:moveTo>
                  <a:pt x="2728912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728912" y="4762"/>
                </a:lnTo>
                <a:lnTo>
                  <a:pt x="2728912" y="9525"/>
                </a:lnTo>
                <a:close/>
              </a:path>
              <a:path w="2738755" h="841375">
                <a:moveTo>
                  <a:pt x="2728912" y="836612"/>
                </a:moveTo>
                <a:lnTo>
                  <a:pt x="2728912" y="4762"/>
                </a:lnTo>
                <a:lnTo>
                  <a:pt x="2733675" y="9525"/>
                </a:lnTo>
                <a:lnTo>
                  <a:pt x="2738437" y="9525"/>
                </a:lnTo>
                <a:lnTo>
                  <a:pt x="2738437" y="831850"/>
                </a:lnTo>
                <a:lnTo>
                  <a:pt x="2733675" y="831850"/>
                </a:lnTo>
                <a:lnTo>
                  <a:pt x="2728912" y="836612"/>
                </a:lnTo>
                <a:close/>
              </a:path>
              <a:path w="2738755" h="841375">
                <a:moveTo>
                  <a:pt x="2738437" y="9525"/>
                </a:moveTo>
                <a:lnTo>
                  <a:pt x="2733675" y="9525"/>
                </a:lnTo>
                <a:lnTo>
                  <a:pt x="2728912" y="4762"/>
                </a:lnTo>
                <a:lnTo>
                  <a:pt x="2738437" y="4762"/>
                </a:lnTo>
                <a:lnTo>
                  <a:pt x="2738437" y="9525"/>
                </a:lnTo>
                <a:close/>
              </a:path>
              <a:path w="2738755" h="841375">
                <a:moveTo>
                  <a:pt x="9525" y="836612"/>
                </a:moveTo>
                <a:lnTo>
                  <a:pt x="4762" y="831850"/>
                </a:lnTo>
                <a:lnTo>
                  <a:pt x="9525" y="831850"/>
                </a:lnTo>
                <a:lnTo>
                  <a:pt x="9525" y="836612"/>
                </a:lnTo>
                <a:close/>
              </a:path>
              <a:path w="2738755" h="841375">
                <a:moveTo>
                  <a:pt x="2728912" y="836612"/>
                </a:moveTo>
                <a:lnTo>
                  <a:pt x="9525" y="836612"/>
                </a:lnTo>
                <a:lnTo>
                  <a:pt x="9525" y="831850"/>
                </a:lnTo>
                <a:lnTo>
                  <a:pt x="2728912" y="831850"/>
                </a:lnTo>
                <a:lnTo>
                  <a:pt x="2728912" y="836612"/>
                </a:lnTo>
                <a:close/>
              </a:path>
              <a:path w="2738755" h="841375">
                <a:moveTo>
                  <a:pt x="2738437" y="836612"/>
                </a:moveTo>
                <a:lnTo>
                  <a:pt x="2728912" y="836612"/>
                </a:lnTo>
                <a:lnTo>
                  <a:pt x="2733675" y="831850"/>
                </a:lnTo>
                <a:lnTo>
                  <a:pt x="2738437" y="831850"/>
                </a:lnTo>
                <a:lnTo>
                  <a:pt x="2738437" y="8366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12750" y="4601845"/>
            <a:ext cx="25634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2260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do </a:t>
            </a:r>
            <a:r>
              <a:rPr sz="2400" dirty="0">
                <a:latin typeface="Tahoma"/>
                <a:cs typeface="Tahoma"/>
              </a:rPr>
              <a:t>not </a:t>
            </a:r>
            <a:r>
              <a:rPr sz="2400" spc="-5" dirty="0">
                <a:latin typeface="Tahoma"/>
                <a:cs typeface="Tahoma"/>
              </a:rPr>
              <a:t>pick  </a:t>
            </a:r>
            <a:r>
              <a:rPr sz="2400" dirty="0">
                <a:latin typeface="Tahoma"/>
                <a:cs typeface="Tahoma"/>
              </a:rPr>
              <a:t>this one of </a:t>
            </a:r>
            <a:r>
              <a:rPr sz="2400" spc="-5" dirty="0">
                <a:latin typeface="Tahoma"/>
                <a:cs typeface="Tahoma"/>
              </a:rPr>
              <a:t>“1”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pair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549775" y="5168900"/>
            <a:ext cx="4124325" cy="841375"/>
          </a:xfrm>
          <a:custGeom>
            <a:avLst/>
            <a:gdLst/>
            <a:ahLst/>
            <a:cxnLst/>
            <a:rect l="l" t="t" r="r" b="b"/>
            <a:pathLst>
              <a:path w="4124325" h="841375">
                <a:moveTo>
                  <a:pt x="4124325" y="841375"/>
                </a:moveTo>
                <a:lnTo>
                  <a:pt x="0" y="841375"/>
                </a:lnTo>
                <a:lnTo>
                  <a:pt x="0" y="0"/>
                </a:lnTo>
                <a:lnTo>
                  <a:pt x="4124325" y="0"/>
                </a:lnTo>
                <a:lnTo>
                  <a:pt x="4124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831850"/>
                </a:lnTo>
                <a:lnTo>
                  <a:pt x="4762" y="831850"/>
                </a:lnTo>
                <a:lnTo>
                  <a:pt x="9525" y="836612"/>
                </a:lnTo>
                <a:lnTo>
                  <a:pt x="4124325" y="836612"/>
                </a:lnTo>
                <a:lnTo>
                  <a:pt x="4124325" y="841375"/>
                </a:lnTo>
                <a:close/>
              </a:path>
              <a:path w="4124325" h="84137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124325" h="841375">
                <a:moveTo>
                  <a:pt x="4114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114800" y="4762"/>
                </a:lnTo>
                <a:lnTo>
                  <a:pt x="4114800" y="9525"/>
                </a:lnTo>
                <a:close/>
              </a:path>
              <a:path w="4124325" h="841375">
                <a:moveTo>
                  <a:pt x="4114800" y="836612"/>
                </a:moveTo>
                <a:lnTo>
                  <a:pt x="4114800" y="4762"/>
                </a:lnTo>
                <a:lnTo>
                  <a:pt x="4119562" y="9525"/>
                </a:lnTo>
                <a:lnTo>
                  <a:pt x="4124325" y="9525"/>
                </a:lnTo>
                <a:lnTo>
                  <a:pt x="4124325" y="831850"/>
                </a:lnTo>
                <a:lnTo>
                  <a:pt x="4119562" y="831850"/>
                </a:lnTo>
                <a:lnTo>
                  <a:pt x="4114800" y="836612"/>
                </a:lnTo>
                <a:close/>
              </a:path>
              <a:path w="4124325" h="841375">
                <a:moveTo>
                  <a:pt x="4124325" y="9525"/>
                </a:moveTo>
                <a:lnTo>
                  <a:pt x="4119562" y="9525"/>
                </a:lnTo>
                <a:lnTo>
                  <a:pt x="4114800" y="4762"/>
                </a:lnTo>
                <a:lnTo>
                  <a:pt x="4124325" y="4762"/>
                </a:lnTo>
                <a:lnTo>
                  <a:pt x="4124325" y="9525"/>
                </a:lnTo>
                <a:close/>
              </a:path>
              <a:path w="4124325" h="841375">
                <a:moveTo>
                  <a:pt x="9525" y="836612"/>
                </a:moveTo>
                <a:lnTo>
                  <a:pt x="4762" y="831850"/>
                </a:lnTo>
                <a:lnTo>
                  <a:pt x="9525" y="831850"/>
                </a:lnTo>
                <a:lnTo>
                  <a:pt x="9525" y="836612"/>
                </a:lnTo>
                <a:close/>
              </a:path>
              <a:path w="4124325" h="841375">
                <a:moveTo>
                  <a:pt x="4114800" y="836612"/>
                </a:moveTo>
                <a:lnTo>
                  <a:pt x="9525" y="836612"/>
                </a:lnTo>
                <a:lnTo>
                  <a:pt x="9525" y="831850"/>
                </a:lnTo>
                <a:lnTo>
                  <a:pt x="4114800" y="831850"/>
                </a:lnTo>
                <a:lnTo>
                  <a:pt x="4114800" y="836612"/>
                </a:lnTo>
                <a:close/>
              </a:path>
              <a:path w="4124325" h="841375">
                <a:moveTo>
                  <a:pt x="4124325" y="836612"/>
                </a:moveTo>
                <a:lnTo>
                  <a:pt x="4114800" y="836612"/>
                </a:lnTo>
                <a:lnTo>
                  <a:pt x="4119562" y="831850"/>
                </a:lnTo>
                <a:lnTo>
                  <a:pt x="4124325" y="831850"/>
                </a:lnTo>
                <a:lnTo>
                  <a:pt x="4124325" y="8366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642167" y="5209857"/>
            <a:ext cx="39395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64160">
              <a:lnSpc>
                <a:spcPct val="100000"/>
              </a:lnSpc>
              <a:spcBef>
                <a:spcPts val="100"/>
              </a:spcBef>
              <a:tabLst>
                <a:tab pos="2247900" algn="l"/>
              </a:tabLst>
            </a:pPr>
            <a:r>
              <a:rPr sz="2400" spc="-5" dirty="0">
                <a:latin typeface="Tahoma"/>
                <a:cs typeface="Tahoma"/>
              </a:rPr>
              <a:t>LP(Z)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acyclic,	so </a:t>
            </a:r>
            <a:r>
              <a:rPr sz="2400" dirty="0">
                <a:latin typeface="Tahoma"/>
                <a:cs typeface="Tahoma"/>
              </a:rPr>
              <a:t>Z is </a:t>
            </a:r>
            <a:r>
              <a:rPr sz="2400" spc="-35" dirty="0">
                <a:latin typeface="Tahoma"/>
                <a:cs typeface="Tahoma"/>
              </a:rPr>
              <a:t>V-S  </a:t>
            </a:r>
            <a:r>
              <a:rPr sz="2400" spc="-10" dirty="0">
                <a:latin typeface="Tahoma"/>
                <a:cs typeface="Tahoma"/>
              </a:rPr>
              <a:t>(equivalent </a:t>
            </a:r>
            <a:r>
              <a:rPr sz="2400" dirty="0">
                <a:latin typeface="Tahoma"/>
                <a:cs typeface="Tahoma"/>
              </a:rPr>
              <a:t>to </a:t>
            </a:r>
            <a:r>
              <a:rPr sz="2400" spc="-5" dirty="0">
                <a:latin typeface="Tahoma"/>
                <a:cs typeface="Tahoma"/>
              </a:rPr>
              <a:t>T</a:t>
            </a:r>
            <a:r>
              <a:rPr sz="1800" spc="-5" dirty="0">
                <a:latin typeface="Tahoma"/>
                <a:cs typeface="Tahoma"/>
              </a:rPr>
              <a:t>b </a:t>
            </a:r>
            <a:r>
              <a:rPr sz="2400" spc="-5" dirty="0">
                <a:latin typeface="Tahoma"/>
                <a:cs typeface="Tahoma"/>
              </a:rPr>
              <a:t>T</a:t>
            </a:r>
            <a:r>
              <a:rPr sz="1800" spc="-5" dirty="0">
                <a:latin typeface="Tahoma"/>
                <a:cs typeface="Tahoma"/>
              </a:rPr>
              <a:t>1 </a:t>
            </a:r>
            <a:r>
              <a:rPr sz="2400" spc="-5" dirty="0">
                <a:latin typeface="Tahoma"/>
                <a:cs typeface="Tahoma"/>
              </a:rPr>
              <a:t>T</a:t>
            </a:r>
            <a:r>
              <a:rPr sz="1800" spc="-5" dirty="0">
                <a:latin typeface="Tahoma"/>
                <a:cs typeface="Tahoma"/>
              </a:rPr>
              <a:t>2 </a:t>
            </a:r>
            <a:r>
              <a:rPr sz="2400" spc="-5" dirty="0">
                <a:latin typeface="Tahoma"/>
                <a:cs typeface="Tahoma"/>
              </a:rPr>
              <a:t>T</a:t>
            </a:r>
            <a:r>
              <a:rPr sz="1800" spc="-5" dirty="0">
                <a:latin typeface="Tahoma"/>
                <a:cs typeface="Tahoma"/>
              </a:rPr>
              <a:t>3</a:t>
            </a:r>
            <a:r>
              <a:rPr sz="1800" spc="18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</a:t>
            </a:r>
            <a:r>
              <a:rPr sz="1800" spc="-5" dirty="0">
                <a:latin typeface="Tahoma"/>
                <a:cs typeface="Tahoma"/>
              </a:rPr>
              <a:t>f</a:t>
            </a:r>
            <a:r>
              <a:rPr sz="2400" spc="-5" dirty="0"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556675" y="4330712"/>
            <a:ext cx="666750" cy="497840"/>
          </a:xfrm>
          <a:custGeom>
            <a:avLst/>
            <a:gdLst/>
            <a:ahLst/>
            <a:cxnLst/>
            <a:rect l="l" t="t" r="r" b="b"/>
            <a:pathLst>
              <a:path w="666750" h="497839">
                <a:moveTo>
                  <a:pt x="620941" y="45720"/>
                </a:moveTo>
                <a:lnTo>
                  <a:pt x="616546" y="43179"/>
                </a:lnTo>
                <a:lnTo>
                  <a:pt x="617093" y="43179"/>
                </a:lnTo>
                <a:lnTo>
                  <a:pt x="612508" y="41910"/>
                </a:lnTo>
                <a:lnTo>
                  <a:pt x="612978" y="41910"/>
                </a:lnTo>
                <a:lnTo>
                  <a:pt x="608241" y="39370"/>
                </a:lnTo>
                <a:lnTo>
                  <a:pt x="608761" y="39370"/>
                </a:lnTo>
                <a:lnTo>
                  <a:pt x="599020" y="36829"/>
                </a:lnTo>
                <a:lnTo>
                  <a:pt x="599465" y="36829"/>
                </a:lnTo>
                <a:lnTo>
                  <a:pt x="589635" y="33020"/>
                </a:lnTo>
                <a:lnTo>
                  <a:pt x="581180" y="30112"/>
                </a:lnTo>
                <a:lnTo>
                  <a:pt x="587133" y="21589"/>
                </a:lnTo>
                <a:lnTo>
                  <a:pt x="551789" y="21589"/>
                </a:lnTo>
                <a:lnTo>
                  <a:pt x="557949" y="13970"/>
                </a:lnTo>
                <a:lnTo>
                  <a:pt x="557771" y="13970"/>
                </a:lnTo>
                <a:lnTo>
                  <a:pt x="563791" y="5079"/>
                </a:lnTo>
                <a:lnTo>
                  <a:pt x="565467" y="3810"/>
                </a:lnTo>
                <a:lnTo>
                  <a:pt x="567474" y="1270"/>
                </a:lnTo>
                <a:lnTo>
                  <a:pt x="569734" y="0"/>
                </a:lnTo>
                <a:lnTo>
                  <a:pt x="579831" y="0"/>
                </a:lnTo>
                <a:lnTo>
                  <a:pt x="598512" y="6350"/>
                </a:lnTo>
                <a:lnTo>
                  <a:pt x="608774" y="8889"/>
                </a:lnTo>
                <a:lnTo>
                  <a:pt x="618515" y="12700"/>
                </a:lnTo>
                <a:lnTo>
                  <a:pt x="623760" y="15239"/>
                </a:lnTo>
                <a:lnTo>
                  <a:pt x="633755" y="20320"/>
                </a:lnTo>
                <a:lnTo>
                  <a:pt x="634415" y="20320"/>
                </a:lnTo>
                <a:lnTo>
                  <a:pt x="638581" y="22860"/>
                </a:lnTo>
                <a:lnTo>
                  <a:pt x="639343" y="22860"/>
                </a:lnTo>
                <a:lnTo>
                  <a:pt x="643242" y="25400"/>
                </a:lnTo>
                <a:lnTo>
                  <a:pt x="644105" y="26670"/>
                </a:lnTo>
                <a:lnTo>
                  <a:pt x="647700" y="29210"/>
                </a:lnTo>
                <a:lnTo>
                  <a:pt x="648652" y="29210"/>
                </a:lnTo>
                <a:lnTo>
                  <a:pt x="651891" y="33020"/>
                </a:lnTo>
                <a:lnTo>
                  <a:pt x="652919" y="34289"/>
                </a:lnTo>
                <a:lnTo>
                  <a:pt x="655764" y="36829"/>
                </a:lnTo>
                <a:lnTo>
                  <a:pt x="656793" y="38100"/>
                </a:lnTo>
                <a:lnTo>
                  <a:pt x="659218" y="41910"/>
                </a:lnTo>
                <a:lnTo>
                  <a:pt x="660184" y="43179"/>
                </a:lnTo>
                <a:lnTo>
                  <a:pt x="660831" y="44450"/>
                </a:lnTo>
                <a:lnTo>
                  <a:pt x="620293" y="44450"/>
                </a:lnTo>
                <a:lnTo>
                  <a:pt x="620941" y="45720"/>
                </a:lnTo>
                <a:close/>
              </a:path>
              <a:path w="666750" h="497839">
                <a:moveTo>
                  <a:pt x="465725" y="129560"/>
                </a:moveTo>
                <a:lnTo>
                  <a:pt x="500659" y="83820"/>
                </a:lnTo>
                <a:lnTo>
                  <a:pt x="526808" y="53339"/>
                </a:lnTo>
                <a:lnTo>
                  <a:pt x="539610" y="38100"/>
                </a:lnTo>
                <a:lnTo>
                  <a:pt x="539394" y="38100"/>
                </a:lnTo>
                <a:lnTo>
                  <a:pt x="552018" y="21589"/>
                </a:lnTo>
                <a:lnTo>
                  <a:pt x="587133" y="21589"/>
                </a:lnTo>
                <a:lnTo>
                  <a:pt x="571093" y="26670"/>
                </a:lnTo>
                <a:lnTo>
                  <a:pt x="581180" y="30112"/>
                </a:lnTo>
                <a:lnTo>
                  <a:pt x="574548" y="39370"/>
                </a:lnTo>
                <a:lnTo>
                  <a:pt x="561695" y="55879"/>
                </a:lnTo>
                <a:lnTo>
                  <a:pt x="548665" y="71120"/>
                </a:lnTo>
                <a:lnTo>
                  <a:pt x="522516" y="102870"/>
                </a:lnTo>
                <a:lnTo>
                  <a:pt x="509714" y="118110"/>
                </a:lnTo>
                <a:lnTo>
                  <a:pt x="509930" y="118110"/>
                </a:lnTo>
                <a:lnTo>
                  <a:pt x="502161" y="128270"/>
                </a:lnTo>
                <a:lnTo>
                  <a:pt x="468833" y="128270"/>
                </a:lnTo>
                <a:lnTo>
                  <a:pt x="465725" y="129560"/>
                </a:lnTo>
                <a:close/>
              </a:path>
              <a:path w="666750" h="497839">
                <a:moveTo>
                  <a:pt x="581180" y="30112"/>
                </a:moveTo>
                <a:lnTo>
                  <a:pt x="571093" y="26670"/>
                </a:lnTo>
                <a:lnTo>
                  <a:pt x="587133" y="21589"/>
                </a:lnTo>
                <a:lnTo>
                  <a:pt x="581180" y="30112"/>
                </a:lnTo>
                <a:close/>
              </a:path>
              <a:path w="666750" h="497839">
                <a:moveTo>
                  <a:pt x="627608" y="49529"/>
                </a:moveTo>
                <a:lnTo>
                  <a:pt x="623709" y="46989"/>
                </a:lnTo>
                <a:lnTo>
                  <a:pt x="624459" y="46989"/>
                </a:lnTo>
                <a:lnTo>
                  <a:pt x="620293" y="44450"/>
                </a:lnTo>
                <a:lnTo>
                  <a:pt x="660831" y="44450"/>
                </a:lnTo>
                <a:lnTo>
                  <a:pt x="662127" y="46989"/>
                </a:lnTo>
                <a:lnTo>
                  <a:pt x="662927" y="48260"/>
                </a:lnTo>
                <a:lnTo>
                  <a:pt x="626745" y="48260"/>
                </a:lnTo>
                <a:lnTo>
                  <a:pt x="627608" y="49529"/>
                </a:lnTo>
                <a:close/>
              </a:path>
              <a:path w="666750" h="497839">
                <a:moveTo>
                  <a:pt x="630339" y="52070"/>
                </a:moveTo>
                <a:lnTo>
                  <a:pt x="626745" y="48260"/>
                </a:lnTo>
                <a:lnTo>
                  <a:pt x="662927" y="48260"/>
                </a:lnTo>
                <a:lnTo>
                  <a:pt x="663875" y="50800"/>
                </a:lnTo>
                <a:lnTo>
                  <a:pt x="629386" y="50800"/>
                </a:lnTo>
                <a:lnTo>
                  <a:pt x="630339" y="52070"/>
                </a:lnTo>
                <a:close/>
              </a:path>
              <a:path w="666750" h="497839">
                <a:moveTo>
                  <a:pt x="633943" y="55424"/>
                </a:moveTo>
                <a:lnTo>
                  <a:pt x="631609" y="53339"/>
                </a:lnTo>
                <a:lnTo>
                  <a:pt x="632625" y="53339"/>
                </a:lnTo>
                <a:lnTo>
                  <a:pt x="629386" y="50800"/>
                </a:lnTo>
                <a:lnTo>
                  <a:pt x="663875" y="50800"/>
                </a:lnTo>
                <a:lnTo>
                  <a:pt x="664349" y="52070"/>
                </a:lnTo>
                <a:lnTo>
                  <a:pt x="664794" y="54610"/>
                </a:lnTo>
                <a:lnTo>
                  <a:pt x="633425" y="54610"/>
                </a:lnTo>
                <a:lnTo>
                  <a:pt x="633943" y="55424"/>
                </a:lnTo>
                <a:close/>
              </a:path>
              <a:path w="666750" h="497839">
                <a:moveTo>
                  <a:pt x="634453" y="55879"/>
                </a:moveTo>
                <a:lnTo>
                  <a:pt x="633943" y="55424"/>
                </a:lnTo>
                <a:lnTo>
                  <a:pt x="633425" y="54610"/>
                </a:lnTo>
                <a:lnTo>
                  <a:pt x="634453" y="55879"/>
                </a:lnTo>
                <a:close/>
              </a:path>
              <a:path w="666750" h="497839">
                <a:moveTo>
                  <a:pt x="665873" y="59689"/>
                </a:moveTo>
                <a:lnTo>
                  <a:pt x="636828" y="59689"/>
                </a:lnTo>
                <a:lnTo>
                  <a:pt x="634885" y="55879"/>
                </a:lnTo>
                <a:lnTo>
                  <a:pt x="634453" y="55879"/>
                </a:lnTo>
                <a:lnTo>
                  <a:pt x="633425" y="54610"/>
                </a:lnTo>
                <a:lnTo>
                  <a:pt x="664794" y="54610"/>
                </a:lnTo>
                <a:lnTo>
                  <a:pt x="665302" y="55879"/>
                </a:lnTo>
                <a:lnTo>
                  <a:pt x="665873" y="59689"/>
                </a:lnTo>
                <a:close/>
              </a:path>
              <a:path w="666750" h="497839">
                <a:moveTo>
                  <a:pt x="635850" y="58420"/>
                </a:moveTo>
                <a:lnTo>
                  <a:pt x="633943" y="55424"/>
                </a:lnTo>
                <a:lnTo>
                  <a:pt x="634453" y="55879"/>
                </a:lnTo>
                <a:lnTo>
                  <a:pt x="634885" y="55879"/>
                </a:lnTo>
                <a:lnTo>
                  <a:pt x="635850" y="58420"/>
                </a:lnTo>
                <a:close/>
              </a:path>
              <a:path w="666750" h="497839">
                <a:moveTo>
                  <a:pt x="666292" y="68579"/>
                </a:moveTo>
                <a:lnTo>
                  <a:pt x="637692" y="68579"/>
                </a:lnTo>
                <a:lnTo>
                  <a:pt x="637755" y="67310"/>
                </a:lnTo>
                <a:lnTo>
                  <a:pt x="637781" y="66039"/>
                </a:lnTo>
                <a:lnTo>
                  <a:pt x="637717" y="64770"/>
                </a:lnTo>
                <a:lnTo>
                  <a:pt x="637565" y="63500"/>
                </a:lnTo>
                <a:lnTo>
                  <a:pt x="637471" y="63153"/>
                </a:lnTo>
                <a:lnTo>
                  <a:pt x="637324" y="62229"/>
                </a:lnTo>
                <a:lnTo>
                  <a:pt x="637463" y="62229"/>
                </a:lnTo>
                <a:lnTo>
                  <a:pt x="637019" y="60960"/>
                </a:lnTo>
                <a:lnTo>
                  <a:pt x="636028" y="58420"/>
                </a:lnTo>
                <a:lnTo>
                  <a:pt x="636828" y="59689"/>
                </a:lnTo>
                <a:lnTo>
                  <a:pt x="665873" y="59689"/>
                </a:lnTo>
                <a:lnTo>
                  <a:pt x="666033" y="61151"/>
                </a:lnTo>
                <a:lnTo>
                  <a:pt x="666216" y="62229"/>
                </a:lnTo>
                <a:lnTo>
                  <a:pt x="666311" y="64770"/>
                </a:lnTo>
                <a:lnTo>
                  <a:pt x="666292" y="68579"/>
                </a:lnTo>
                <a:close/>
              </a:path>
              <a:path w="666750" h="497839">
                <a:moveTo>
                  <a:pt x="637057" y="61151"/>
                </a:moveTo>
                <a:lnTo>
                  <a:pt x="636985" y="60960"/>
                </a:lnTo>
                <a:lnTo>
                  <a:pt x="637057" y="61151"/>
                </a:lnTo>
                <a:close/>
              </a:path>
              <a:path w="666750" h="497839">
                <a:moveTo>
                  <a:pt x="637463" y="62229"/>
                </a:moveTo>
                <a:lnTo>
                  <a:pt x="637057" y="61151"/>
                </a:lnTo>
                <a:lnTo>
                  <a:pt x="637019" y="60960"/>
                </a:lnTo>
                <a:lnTo>
                  <a:pt x="637463" y="62229"/>
                </a:lnTo>
                <a:close/>
              </a:path>
              <a:path w="666750" h="497839">
                <a:moveTo>
                  <a:pt x="637463" y="62229"/>
                </a:moveTo>
                <a:lnTo>
                  <a:pt x="637273" y="62229"/>
                </a:lnTo>
                <a:lnTo>
                  <a:pt x="637057" y="61151"/>
                </a:lnTo>
                <a:lnTo>
                  <a:pt x="637463" y="62229"/>
                </a:lnTo>
                <a:close/>
              </a:path>
              <a:path w="666750" h="497839">
                <a:moveTo>
                  <a:pt x="637458" y="63153"/>
                </a:moveTo>
                <a:lnTo>
                  <a:pt x="637273" y="62229"/>
                </a:lnTo>
                <a:lnTo>
                  <a:pt x="637458" y="63153"/>
                </a:lnTo>
                <a:close/>
              </a:path>
              <a:path w="666750" h="497839">
                <a:moveTo>
                  <a:pt x="637527" y="63500"/>
                </a:moveTo>
                <a:lnTo>
                  <a:pt x="637458" y="63153"/>
                </a:lnTo>
                <a:lnTo>
                  <a:pt x="637324" y="62229"/>
                </a:lnTo>
                <a:lnTo>
                  <a:pt x="637527" y="63500"/>
                </a:lnTo>
                <a:close/>
              </a:path>
              <a:path w="666750" h="497839">
                <a:moveTo>
                  <a:pt x="637527" y="63500"/>
                </a:moveTo>
                <a:lnTo>
                  <a:pt x="637458" y="63153"/>
                </a:lnTo>
                <a:lnTo>
                  <a:pt x="637527" y="63500"/>
                </a:lnTo>
                <a:close/>
              </a:path>
              <a:path w="666750" h="497839">
                <a:moveTo>
                  <a:pt x="637692" y="64770"/>
                </a:moveTo>
                <a:lnTo>
                  <a:pt x="637508" y="63500"/>
                </a:lnTo>
                <a:lnTo>
                  <a:pt x="637692" y="64770"/>
                </a:lnTo>
                <a:close/>
              </a:path>
              <a:path w="666750" h="497839">
                <a:moveTo>
                  <a:pt x="637762" y="66569"/>
                </a:moveTo>
                <a:lnTo>
                  <a:pt x="637749" y="66039"/>
                </a:lnTo>
                <a:lnTo>
                  <a:pt x="637762" y="66569"/>
                </a:lnTo>
                <a:close/>
              </a:path>
              <a:path w="666750" h="497839">
                <a:moveTo>
                  <a:pt x="637781" y="67310"/>
                </a:moveTo>
                <a:lnTo>
                  <a:pt x="637762" y="66569"/>
                </a:lnTo>
                <a:lnTo>
                  <a:pt x="637781" y="67310"/>
                </a:lnTo>
                <a:close/>
              </a:path>
              <a:path w="666750" h="497839">
                <a:moveTo>
                  <a:pt x="637727" y="67582"/>
                </a:moveTo>
                <a:lnTo>
                  <a:pt x="637736" y="67310"/>
                </a:lnTo>
                <a:lnTo>
                  <a:pt x="637727" y="67582"/>
                </a:lnTo>
                <a:close/>
              </a:path>
              <a:path w="666750" h="497839">
                <a:moveTo>
                  <a:pt x="666242" y="69850"/>
                </a:moveTo>
                <a:lnTo>
                  <a:pt x="637489" y="69850"/>
                </a:lnTo>
                <a:lnTo>
                  <a:pt x="637727" y="67582"/>
                </a:lnTo>
                <a:lnTo>
                  <a:pt x="637692" y="68579"/>
                </a:lnTo>
                <a:lnTo>
                  <a:pt x="666292" y="68579"/>
                </a:lnTo>
                <a:lnTo>
                  <a:pt x="666242" y="69850"/>
                </a:lnTo>
                <a:close/>
              </a:path>
              <a:path w="666750" h="497839">
                <a:moveTo>
                  <a:pt x="665797" y="73660"/>
                </a:moveTo>
                <a:lnTo>
                  <a:pt x="636727" y="73660"/>
                </a:lnTo>
                <a:lnTo>
                  <a:pt x="637336" y="71120"/>
                </a:lnTo>
                <a:lnTo>
                  <a:pt x="637184" y="71120"/>
                </a:lnTo>
                <a:lnTo>
                  <a:pt x="637616" y="68579"/>
                </a:lnTo>
                <a:lnTo>
                  <a:pt x="637489" y="69850"/>
                </a:lnTo>
                <a:lnTo>
                  <a:pt x="666178" y="69850"/>
                </a:lnTo>
                <a:lnTo>
                  <a:pt x="665797" y="73660"/>
                </a:lnTo>
                <a:close/>
              </a:path>
              <a:path w="666750" h="497839">
                <a:moveTo>
                  <a:pt x="665111" y="77470"/>
                </a:moveTo>
                <a:lnTo>
                  <a:pt x="635266" y="77470"/>
                </a:lnTo>
                <a:lnTo>
                  <a:pt x="635736" y="76200"/>
                </a:lnTo>
                <a:lnTo>
                  <a:pt x="637032" y="72389"/>
                </a:lnTo>
                <a:lnTo>
                  <a:pt x="636727" y="73660"/>
                </a:lnTo>
                <a:lnTo>
                  <a:pt x="665797" y="73660"/>
                </a:lnTo>
                <a:lnTo>
                  <a:pt x="665365" y="76200"/>
                </a:lnTo>
                <a:lnTo>
                  <a:pt x="665111" y="77470"/>
                </a:lnTo>
                <a:close/>
              </a:path>
              <a:path w="666750" h="497839">
                <a:moveTo>
                  <a:pt x="635511" y="76765"/>
                </a:moveTo>
                <a:lnTo>
                  <a:pt x="635708" y="76200"/>
                </a:lnTo>
                <a:lnTo>
                  <a:pt x="635511" y="76765"/>
                </a:lnTo>
                <a:close/>
              </a:path>
              <a:path w="666750" h="497839">
                <a:moveTo>
                  <a:pt x="635266" y="77470"/>
                </a:moveTo>
                <a:lnTo>
                  <a:pt x="635511" y="76765"/>
                </a:lnTo>
                <a:lnTo>
                  <a:pt x="635736" y="76200"/>
                </a:lnTo>
                <a:lnTo>
                  <a:pt x="635266" y="77470"/>
                </a:lnTo>
                <a:close/>
              </a:path>
              <a:path w="666750" h="497839">
                <a:moveTo>
                  <a:pt x="663860" y="82550"/>
                </a:moveTo>
                <a:lnTo>
                  <a:pt x="633209" y="82550"/>
                </a:lnTo>
                <a:lnTo>
                  <a:pt x="635511" y="76765"/>
                </a:lnTo>
                <a:lnTo>
                  <a:pt x="635266" y="77470"/>
                </a:lnTo>
                <a:lnTo>
                  <a:pt x="665111" y="77470"/>
                </a:lnTo>
                <a:lnTo>
                  <a:pt x="664603" y="80010"/>
                </a:lnTo>
                <a:lnTo>
                  <a:pt x="664298" y="81279"/>
                </a:lnTo>
                <a:lnTo>
                  <a:pt x="663860" y="82550"/>
                </a:lnTo>
                <a:close/>
              </a:path>
              <a:path w="666750" h="497839">
                <a:moveTo>
                  <a:pt x="659580" y="93979"/>
                </a:moveTo>
                <a:lnTo>
                  <a:pt x="626719" y="93979"/>
                </a:lnTo>
                <a:lnTo>
                  <a:pt x="630885" y="87629"/>
                </a:lnTo>
                <a:lnTo>
                  <a:pt x="630389" y="87629"/>
                </a:lnTo>
                <a:lnTo>
                  <a:pt x="633704" y="81279"/>
                </a:lnTo>
                <a:lnTo>
                  <a:pt x="633209" y="82550"/>
                </a:lnTo>
                <a:lnTo>
                  <a:pt x="663860" y="82550"/>
                </a:lnTo>
                <a:lnTo>
                  <a:pt x="662546" y="86360"/>
                </a:lnTo>
                <a:lnTo>
                  <a:pt x="662089" y="87629"/>
                </a:lnTo>
                <a:lnTo>
                  <a:pt x="659580" y="93979"/>
                </a:lnTo>
                <a:close/>
              </a:path>
              <a:path w="666750" h="497839">
                <a:moveTo>
                  <a:pt x="651797" y="107950"/>
                </a:moveTo>
                <a:lnTo>
                  <a:pt x="616610" y="107950"/>
                </a:lnTo>
                <a:lnTo>
                  <a:pt x="622579" y="100329"/>
                </a:lnTo>
                <a:lnTo>
                  <a:pt x="622147" y="100329"/>
                </a:lnTo>
                <a:lnTo>
                  <a:pt x="627189" y="92710"/>
                </a:lnTo>
                <a:lnTo>
                  <a:pt x="626719" y="93979"/>
                </a:lnTo>
                <a:lnTo>
                  <a:pt x="659580" y="93979"/>
                </a:lnTo>
                <a:lnTo>
                  <a:pt x="659079" y="95250"/>
                </a:lnTo>
                <a:lnTo>
                  <a:pt x="655751" y="101600"/>
                </a:lnTo>
                <a:lnTo>
                  <a:pt x="655269" y="101600"/>
                </a:lnTo>
                <a:lnTo>
                  <a:pt x="651797" y="107950"/>
                </a:lnTo>
                <a:close/>
              </a:path>
              <a:path w="666750" h="497839">
                <a:moveTo>
                  <a:pt x="646072" y="115570"/>
                </a:moveTo>
                <a:lnTo>
                  <a:pt x="610082" y="115570"/>
                </a:lnTo>
                <a:lnTo>
                  <a:pt x="617016" y="106679"/>
                </a:lnTo>
                <a:lnTo>
                  <a:pt x="616610" y="107950"/>
                </a:lnTo>
                <a:lnTo>
                  <a:pt x="651797" y="107950"/>
                </a:lnTo>
                <a:lnTo>
                  <a:pt x="651103" y="109220"/>
                </a:lnTo>
                <a:lnTo>
                  <a:pt x="650633" y="109220"/>
                </a:lnTo>
                <a:lnTo>
                  <a:pt x="646072" y="115570"/>
                </a:lnTo>
                <a:close/>
              </a:path>
              <a:path w="666750" h="497839">
                <a:moveTo>
                  <a:pt x="627933" y="138429"/>
                </a:moveTo>
                <a:lnTo>
                  <a:pt x="582447" y="138429"/>
                </a:lnTo>
                <a:lnTo>
                  <a:pt x="585343" y="137160"/>
                </a:lnTo>
                <a:lnTo>
                  <a:pt x="586079" y="137160"/>
                </a:lnTo>
                <a:lnTo>
                  <a:pt x="588797" y="135889"/>
                </a:lnTo>
                <a:lnTo>
                  <a:pt x="589241" y="135889"/>
                </a:lnTo>
                <a:lnTo>
                  <a:pt x="591756" y="134620"/>
                </a:lnTo>
                <a:lnTo>
                  <a:pt x="590689" y="134620"/>
                </a:lnTo>
                <a:lnTo>
                  <a:pt x="593102" y="133350"/>
                </a:lnTo>
                <a:lnTo>
                  <a:pt x="592112" y="133350"/>
                </a:lnTo>
                <a:lnTo>
                  <a:pt x="594398" y="132079"/>
                </a:lnTo>
                <a:lnTo>
                  <a:pt x="593864" y="132079"/>
                </a:lnTo>
                <a:lnTo>
                  <a:pt x="602843" y="123189"/>
                </a:lnTo>
                <a:lnTo>
                  <a:pt x="602513" y="123189"/>
                </a:lnTo>
                <a:lnTo>
                  <a:pt x="610450" y="114300"/>
                </a:lnTo>
                <a:lnTo>
                  <a:pt x="610082" y="115570"/>
                </a:lnTo>
                <a:lnTo>
                  <a:pt x="646072" y="115570"/>
                </a:lnTo>
                <a:lnTo>
                  <a:pt x="645160" y="116839"/>
                </a:lnTo>
                <a:lnTo>
                  <a:pt x="639191" y="125729"/>
                </a:lnTo>
                <a:lnTo>
                  <a:pt x="631482" y="134620"/>
                </a:lnTo>
                <a:lnTo>
                  <a:pt x="627933" y="138429"/>
                </a:lnTo>
                <a:close/>
              </a:path>
              <a:path w="666750" h="497839">
                <a:moveTo>
                  <a:pt x="462191" y="134620"/>
                </a:moveTo>
                <a:lnTo>
                  <a:pt x="465725" y="129560"/>
                </a:lnTo>
                <a:lnTo>
                  <a:pt x="468833" y="128270"/>
                </a:lnTo>
                <a:lnTo>
                  <a:pt x="462191" y="134620"/>
                </a:lnTo>
                <a:close/>
              </a:path>
              <a:path w="666750" h="497839">
                <a:moveTo>
                  <a:pt x="496655" y="134620"/>
                </a:moveTo>
                <a:lnTo>
                  <a:pt x="462191" y="134620"/>
                </a:lnTo>
                <a:lnTo>
                  <a:pt x="468833" y="128270"/>
                </a:lnTo>
                <a:lnTo>
                  <a:pt x="502161" y="128270"/>
                </a:lnTo>
                <a:lnTo>
                  <a:pt x="498277" y="133350"/>
                </a:lnTo>
                <a:lnTo>
                  <a:pt x="497535" y="133350"/>
                </a:lnTo>
                <a:lnTo>
                  <a:pt x="496655" y="134620"/>
                </a:lnTo>
                <a:close/>
              </a:path>
              <a:path w="666750" h="497839">
                <a:moveTo>
                  <a:pt x="604405" y="160020"/>
                </a:moveTo>
                <a:lnTo>
                  <a:pt x="526351" y="160020"/>
                </a:lnTo>
                <a:lnTo>
                  <a:pt x="519480" y="158750"/>
                </a:lnTo>
                <a:lnTo>
                  <a:pt x="519925" y="158750"/>
                </a:lnTo>
                <a:lnTo>
                  <a:pt x="513168" y="157479"/>
                </a:lnTo>
                <a:lnTo>
                  <a:pt x="513854" y="157479"/>
                </a:lnTo>
                <a:lnTo>
                  <a:pt x="507263" y="156210"/>
                </a:lnTo>
                <a:lnTo>
                  <a:pt x="502132" y="156210"/>
                </a:lnTo>
                <a:lnTo>
                  <a:pt x="502742" y="128270"/>
                </a:lnTo>
                <a:lnTo>
                  <a:pt x="510349" y="128270"/>
                </a:lnTo>
                <a:lnTo>
                  <a:pt x="516940" y="129539"/>
                </a:lnTo>
                <a:lnTo>
                  <a:pt x="524370" y="129539"/>
                </a:lnTo>
                <a:lnTo>
                  <a:pt x="531964" y="132079"/>
                </a:lnTo>
                <a:lnTo>
                  <a:pt x="545896" y="134620"/>
                </a:lnTo>
                <a:lnTo>
                  <a:pt x="552754" y="135889"/>
                </a:lnTo>
                <a:lnTo>
                  <a:pt x="552437" y="135889"/>
                </a:lnTo>
                <a:lnTo>
                  <a:pt x="559333" y="137160"/>
                </a:lnTo>
                <a:lnTo>
                  <a:pt x="558812" y="137160"/>
                </a:lnTo>
                <a:lnTo>
                  <a:pt x="565594" y="138429"/>
                </a:lnTo>
                <a:lnTo>
                  <a:pt x="627933" y="138429"/>
                </a:lnTo>
                <a:lnTo>
                  <a:pt x="623201" y="143510"/>
                </a:lnTo>
                <a:lnTo>
                  <a:pt x="614210" y="152400"/>
                </a:lnTo>
                <a:lnTo>
                  <a:pt x="611390" y="154939"/>
                </a:lnTo>
                <a:lnTo>
                  <a:pt x="610387" y="156210"/>
                </a:lnTo>
                <a:lnTo>
                  <a:pt x="607987" y="157479"/>
                </a:lnTo>
                <a:lnTo>
                  <a:pt x="606920" y="158750"/>
                </a:lnTo>
                <a:lnTo>
                  <a:pt x="604405" y="160020"/>
                </a:lnTo>
                <a:close/>
              </a:path>
              <a:path w="666750" h="497839">
                <a:moveTo>
                  <a:pt x="426529" y="185420"/>
                </a:moveTo>
                <a:lnTo>
                  <a:pt x="380403" y="185420"/>
                </a:lnTo>
                <a:lnTo>
                  <a:pt x="393547" y="175260"/>
                </a:lnTo>
                <a:lnTo>
                  <a:pt x="393319" y="175260"/>
                </a:lnTo>
                <a:lnTo>
                  <a:pt x="426364" y="149860"/>
                </a:lnTo>
                <a:lnTo>
                  <a:pt x="441248" y="140970"/>
                </a:lnTo>
                <a:lnTo>
                  <a:pt x="441896" y="140970"/>
                </a:lnTo>
                <a:lnTo>
                  <a:pt x="449770" y="137160"/>
                </a:lnTo>
                <a:lnTo>
                  <a:pt x="450481" y="135889"/>
                </a:lnTo>
                <a:lnTo>
                  <a:pt x="465725" y="129560"/>
                </a:lnTo>
                <a:lnTo>
                  <a:pt x="462191" y="134620"/>
                </a:lnTo>
                <a:lnTo>
                  <a:pt x="496655" y="134620"/>
                </a:lnTo>
                <a:lnTo>
                  <a:pt x="491375" y="142239"/>
                </a:lnTo>
                <a:lnTo>
                  <a:pt x="491553" y="142239"/>
                </a:lnTo>
                <a:lnTo>
                  <a:pt x="485533" y="149860"/>
                </a:lnTo>
                <a:lnTo>
                  <a:pt x="483666" y="152400"/>
                </a:lnTo>
                <a:lnTo>
                  <a:pt x="481431" y="154939"/>
                </a:lnTo>
                <a:lnTo>
                  <a:pt x="478891" y="156210"/>
                </a:lnTo>
                <a:lnTo>
                  <a:pt x="469734" y="158750"/>
                </a:lnTo>
                <a:lnTo>
                  <a:pt x="470484" y="158750"/>
                </a:lnTo>
                <a:lnTo>
                  <a:pt x="462026" y="162560"/>
                </a:lnTo>
                <a:lnTo>
                  <a:pt x="462737" y="162560"/>
                </a:lnTo>
                <a:lnTo>
                  <a:pt x="454875" y="166370"/>
                </a:lnTo>
                <a:lnTo>
                  <a:pt x="455523" y="166370"/>
                </a:lnTo>
                <a:lnTo>
                  <a:pt x="448157" y="170179"/>
                </a:lnTo>
                <a:lnTo>
                  <a:pt x="448716" y="170179"/>
                </a:lnTo>
                <a:lnTo>
                  <a:pt x="441769" y="173989"/>
                </a:lnTo>
                <a:lnTo>
                  <a:pt x="442226" y="173989"/>
                </a:lnTo>
                <a:lnTo>
                  <a:pt x="437254" y="177800"/>
                </a:lnTo>
                <a:lnTo>
                  <a:pt x="436054" y="177800"/>
                </a:lnTo>
                <a:lnTo>
                  <a:pt x="426529" y="185420"/>
                </a:lnTo>
                <a:close/>
              </a:path>
              <a:path w="666750" h="497839">
                <a:moveTo>
                  <a:pt x="497306" y="134620"/>
                </a:moveTo>
                <a:lnTo>
                  <a:pt x="497535" y="133350"/>
                </a:lnTo>
                <a:lnTo>
                  <a:pt x="498277" y="133350"/>
                </a:lnTo>
                <a:lnTo>
                  <a:pt x="497306" y="134620"/>
                </a:lnTo>
                <a:close/>
              </a:path>
              <a:path w="666750" h="497839">
                <a:moveTo>
                  <a:pt x="589241" y="135889"/>
                </a:moveTo>
                <a:lnTo>
                  <a:pt x="587705" y="135889"/>
                </a:lnTo>
                <a:lnTo>
                  <a:pt x="590334" y="134620"/>
                </a:lnTo>
                <a:lnTo>
                  <a:pt x="589241" y="135889"/>
                </a:lnTo>
                <a:close/>
              </a:path>
              <a:path w="666750" h="497839">
                <a:moveTo>
                  <a:pt x="582447" y="138429"/>
                </a:moveTo>
                <a:lnTo>
                  <a:pt x="580402" y="138429"/>
                </a:lnTo>
                <a:lnTo>
                  <a:pt x="583374" y="137160"/>
                </a:lnTo>
                <a:lnTo>
                  <a:pt x="582447" y="138429"/>
                </a:lnTo>
                <a:close/>
              </a:path>
              <a:path w="666750" h="497839">
                <a:moveTo>
                  <a:pt x="588187" y="166370"/>
                </a:moveTo>
                <a:lnTo>
                  <a:pt x="561594" y="166370"/>
                </a:lnTo>
                <a:lnTo>
                  <a:pt x="526084" y="160020"/>
                </a:lnTo>
                <a:lnTo>
                  <a:pt x="603313" y="160020"/>
                </a:lnTo>
                <a:lnTo>
                  <a:pt x="600697" y="161289"/>
                </a:lnTo>
                <a:lnTo>
                  <a:pt x="599605" y="162560"/>
                </a:lnTo>
                <a:lnTo>
                  <a:pt x="596887" y="163829"/>
                </a:lnTo>
                <a:lnTo>
                  <a:pt x="595820" y="163829"/>
                </a:lnTo>
                <a:lnTo>
                  <a:pt x="593013" y="165100"/>
                </a:lnTo>
                <a:lnTo>
                  <a:pt x="589114" y="165100"/>
                </a:lnTo>
                <a:lnTo>
                  <a:pt x="588187" y="166370"/>
                </a:lnTo>
                <a:close/>
              </a:path>
              <a:path w="666750" h="497839">
                <a:moveTo>
                  <a:pt x="576745" y="167639"/>
                </a:moveTo>
                <a:lnTo>
                  <a:pt x="573557" y="167639"/>
                </a:lnTo>
                <a:lnTo>
                  <a:pt x="568985" y="166370"/>
                </a:lnTo>
                <a:lnTo>
                  <a:pt x="580542" y="166370"/>
                </a:lnTo>
                <a:lnTo>
                  <a:pt x="576745" y="167639"/>
                </a:lnTo>
                <a:close/>
              </a:path>
              <a:path w="666750" h="497839">
                <a:moveTo>
                  <a:pt x="435597" y="179070"/>
                </a:moveTo>
                <a:lnTo>
                  <a:pt x="436054" y="177800"/>
                </a:lnTo>
                <a:lnTo>
                  <a:pt x="437254" y="177800"/>
                </a:lnTo>
                <a:lnTo>
                  <a:pt x="435597" y="179070"/>
                </a:lnTo>
                <a:close/>
              </a:path>
              <a:path w="666750" h="497839">
                <a:moveTo>
                  <a:pt x="23799" y="497839"/>
                </a:moveTo>
                <a:lnTo>
                  <a:pt x="0" y="482600"/>
                </a:lnTo>
                <a:lnTo>
                  <a:pt x="6832" y="471170"/>
                </a:lnTo>
                <a:lnTo>
                  <a:pt x="14211" y="461010"/>
                </a:lnTo>
                <a:lnTo>
                  <a:pt x="39344" y="430529"/>
                </a:lnTo>
                <a:lnTo>
                  <a:pt x="68364" y="400050"/>
                </a:lnTo>
                <a:lnTo>
                  <a:pt x="78765" y="391160"/>
                </a:lnTo>
                <a:lnTo>
                  <a:pt x="89496" y="381000"/>
                </a:lnTo>
                <a:lnTo>
                  <a:pt x="100533" y="370839"/>
                </a:lnTo>
                <a:lnTo>
                  <a:pt x="111823" y="360679"/>
                </a:lnTo>
                <a:lnTo>
                  <a:pt x="123355" y="351789"/>
                </a:lnTo>
                <a:lnTo>
                  <a:pt x="135102" y="341629"/>
                </a:lnTo>
                <a:lnTo>
                  <a:pt x="159131" y="323850"/>
                </a:lnTo>
                <a:lnTo>
                  <a:pt x="171361" y="313689"/>
                </a:lnTo>
                <a:lnTo>
                  <a:pt x="196075" y="295910"/>
                </a:lnTo>
                <a:lnTo>
                  <a:pt x="208584" y="288289"/>
                </a:lnTo>
                <a:lnTo>
                  <a:pt x="233514" y="270510"/>
                </a:lnTo>
                <a:lnTo>
                  <a:pt x="282727" y="240029"/>
                </a:lnTo>
                <a:lnTo>
                  <a:pt x="306578" y="226060"/>
                </a:lnTo>
                <a:lnTo>
                  <a:pt x="329628" y="213360"/>
                </a:lnTo>
                <a:lnTo>
                  <a:pt x="351358" y="203200"/>
                </a:lnTo>
                <a:lnTo>
                  <a:pt x="359879" y="198120"/>
                </a:lnTo>
                <a:lnTo>
                  <a:pt x="359308" y="198120"/>
                </a:lnTo>
                <a:lnTo>
                  <a:pt x="367284" y="194310"/>
                </a:lnTo>
                <a:lnTo>
                  <a:pt x="366776" y="194310"/>
                </a:lnTo>
                <a:lnTo>
                  <a:pt x="374243" y="189229"/>
                </a:lnTo>
                <a:lnTo>
                  <a:pt x="373811" y="189229"/>
                </a:lnTo>
                <a:lnTo>
                  <a:pt x="380847" y="184150"/>
                </a:lnTo>
                <a:lnTo>
                  <a:pt x="380403" y="185420"/>
                </a:lnTo>
                <a:lnTo>
                  <a:pt x="426529" y="185420"/>
                </a:lnTo>
                <a:lnTo>
                  <a:pt x="423354" y="187960"/>
                </a:lnTo>
                <a:lnTo>
                  <a:pt x="423595" y="187960"/>
                </a:lnTo>
                <a:lnTo>
                  <a:pt x="410806" y="198120"/>
                </a:lnTo>
                <a:lnTo>
                  <a:pt x="397217" y="208279"/>
                </a:lnTo>
                <a:lnTo>
                  <a:pt x="390194" y="213360"/>
                </a:lnTo>
                <a:lnTo>
                  <a:pt x="381800" y="218439"/>
                </a:lnTo>
                <a:lnTo>
                  <a:pt x="373824" y="223520"/>
                </a:lnTo>
                <a:lnTo>
                  <a:pt x="364591" y="227329"/>
                </a:lnTo>
                <a:lnTo>
                  <a:pt x="342861" y="238760"/>
                </a:lnTo>
                <a:lnTo>
                  <a:pt x="343154" y="238760"/>
                </a:lnTo>
                <a:lnTo>
                  <a:pt x="320382" y="251460"/>
                </a:lnTo>
                <a:lnTo>
                  <a:pt x="320649" y="251460"/>
                </a:lnTo>
                <a:lnTo>
                  <a:pt x="297065" y="265429"/>
                </a:lnTo>
                <a:lnTo>
                  <a:pt x="297319" y="265429"/>
                </a:lnTo>
                <a:lnTo>
                  <a:pt x="273151" y="279400"/>
                </a:lnTo>
                <a:lnTo>
                  <a:pt x="273405" y="279400"/>
                </a:lnTo>
                <a:lnTo>
                  <a:pt x="248869" y="294639"/>
                </a:lnTo>
                <a:lnTo>
                  <a:pt x="249123" y="294639"/>
                </a:lnTo>
                <a:lnTo>
                  <a:pt x="224459" y="311150"/>
                </a:lnTo>
                <a:lnTo>
                  <a:pt x="224650" y="311150"/>
                </a:lnTo>
                <a:lnTo>
                  <a:pt x="212331" y="320039"/>
                </a:lnTo>
                <a:lnTo>
                  <a:pt x="212471" y="320039"/>
                </a:lnTo>
                <a:lnTo>
                  <a:pt x="200202" y="328929"/>
                </a:lnTo>
                <a:lnTo>
                  <a:pt x="200342" y="328929"/>
                </a:lnTo>
                <a:lnTo>
                  <a:pt x="189892" y="336550"/>
                </a:lnTo>
                <a:lnTo>
                  <a:pt x="188290" y="336550"/>
                </a:lnTo>
                <a:lnTo>
                  <a:pt x="177722" y="345439"/>
                </a:lnTo>
                <a:lnTo>
                  <a:pt x="176364" y="345439"/>
                </a:lnTo>
                <a:lnTo>
                  <a:pt x="164414" y="355600"/>
                </a:lnTo>
                <a:lnTo>
                  <a:pt x="164566" y="355600"/>
                </a:lnTo>
                <a:lnTo>
                  <a:pt x="152781" y="364489"/>
                </a:lnTo>
                <a:lnTo>
                  <a:pt x="152933" y="364489"/>
                </a:lnTo>
                <a:lnTo>
                  <a:pt x="141351" y="373379"/>
                </a:lnTo>
                <a:lnTo>
                  <a:pt x="141516" y="373379"/>
                </a:lnTo>
                <a:lnTo>
                  <a:pt x="131559" y="382270"/>
                </a:lnTo>
                <a:lnTo>
                  <a:pt x="130314" y="382270"/>
                </a:lnTo>
                <a:lnTo>
                  <a:pt x="119189" y="392429"/>
                </a:lnTo>
                <a:lnTo>
                  <a:pt x="119367" y="392429"/>
                </a:lnTo>
                <a:lnTo>
                  <a:pt x="108521" y="401320"/>
                </a:lnTo>
                <a:lnTo>
                  <a:pt x="108699" y="401320"/>
                </a:lnTo>
                <a:lnTo>
                  <a:pt x="98158" y="411479"/>
                </a:lnTo>
                <a:lnTo>
                  <a:pt x="98361" y="411479"/>
                </a:lnTo>
                <a:lnTo>
                  <a:pt x="89415" y="420370"/>
                </a:lnTo>
                <a:lnTo>
                  <a:pt x="88353" y="420370"/>
                </a:lnTo>
                <a:lnTo>
                  <a:pt x="78498" y="430529"/>
                </a:lnTo>
                <a:lnTo>
                  <a:pt x="78714" y="430529"/>
                </a:lnTo>
                <a:lnTo>
                  <a:pt x="69253" y="440689"/>
                </a:lnTo>
                <a:lnTo>
                  <a:pt x="69481" y="440689"/>
                </a:lnTo>
                <a:lnTo>
                  <a:pt x="60439" y="449579"/>
                </a:lnTo>
                <a:lnTo>
                  <a:pt x="60680" y="449579"/>
                </a:lnTo>
                <a:lnTo>
                  <a:pt x="52082" y="459739"/>
                </a:lnTo>
                <a:lnTo>
                  <a:pt x="52336" y="459739"/>
                </a:lnTo>
                <a:lnTo>
                  <a:pt x="45224" y="468629"/>
                </a:lnTo>
                <a:lnTo>
                  <a:pt x="44488" y="468629"/>
                </a:lnTo>
                <a:lnTo>
                  <a:pt x="36855" y="478789"/>
                </a:lnTo>
                <a:lnTo>
                  <a:pt x="37134" y="478789"/>
                </a:lnTo>
                <a:lnTo>
                  <a:pt x="30934" y="487679"/>
                </a:lnTo>
                <a:lnTo>
                  <a:pt x="30340" y="487679"/>
                </a:lnTo>
                <a:lnTo>
                  <a:pt x="23799" y="497839"/>
                </a:lnTo>
                <a:close/>
              </a:path>
              <a:path w="666750" h="497839">
                <a:moveTo>
                  <a:pt x="188150" y="337820"/>
                </a:moveTo>
                <a:lnTo>
                  <a:pt x="188290" y="336550"/>
                </a:lnTo>
                <a:lnTo>
                  <a:pt x="189892" y="336550"/>
                </a:lnTo>
                <a:lnTo>
                  <a:pt x="188150" y="337820"/>
                </a:lnTo>
                <a:close/>
              </a:path>
              <a:path w="666750" h="497839">
                <a:moveTo>
                  <a:pt x="176212" y="346710"/>
                </a:moveTo>
                <a:lnTo>
                  <a:pt x="176364" y="345439"/>
                </a:lnTo>
                <a:lnTo>
                  <a:pt x="177722" y="345439"/>
                </a:lnTo>
                <a:lnTo>
                  <a:pt x="176212" y="346710"/>
                </a:lnTo>
                <a:close/>
              </a:path>
              <a:path w="666750" h="497839">
                <a:moveTo>
                  <a:pt x="130136" y="383539"/>
                </a:moveTo>
                <a:lnTo>
                  <a:pt x="130314" y="382270"/>
                </a:lnTo>
                <a:lnTo>
                  <a:pt x="131559" y="382270"/>
                </a:lnTo>
                <a:lnTo>
                  <a:pt x="130136" y="383539"/>
                </a:lnTo>
                <a:close/>
              </a:path>
              <a:path w="666750" h="497839">
                <a:moveTo>
                  <a:pt x="88137" y="421639"/>
                </a:moveTo>
                <a:lnTo>
                  <a:pt x="88353" y="420370"/>
                </a:lnTo>
                <a:lnTo>
                  <a:pt x="89415" y="420370"/>
                </a:lnTo>
                <a:lnTo>
                  <a:pt x="88137" y="421639"/>
                </a:lnTo>
                <a:close/>
              </a:path>
              <a:path w="666750" h="497839">
                <a:moveTo>
                  <a:pt x="44208" y="469900"/>
                </a:moveTo>
                <a:lnTo>
                  <a:pt x="44488" y="468629"/>
                </a:lnTo>
                <a:lnTo>
                  <a:pt x="45224" y="468629"/>
                </a:lnTo>
                <a:lnTo>
                  <a:pt x="44208" y="469900"/>
                </a:lnTo>
                <a:close/>
              </a:path>
              <a:path w="666750" h="497839">
                <a:moveTo>
                  <a:pt x="30048" y="488950"/>
                </a:moveTo>
                <a:lnTo>
                  <a:pt x="30340" y="487679"/>
                </a:lnTo>
                <a:lnTo>
                  <a:pt x="30934" y="487679"/>
                </a:lnTo>
                <a:lnTo>
                  <a:pt x="30048" y="4889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11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22</a:t>
            </a:fld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679576"/>
            <a:ext cx="7291070" cy="2720340"/>
          </a:xfrm>
          <a:prstGeom prst="rect">
            <a:avLst/>
          </a:prstGeom>
        </p:spPr>
        <p:txBody>
          <a:bodyPr vert="horz" wrap="square" lIns="0" tIns="270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30"/>
              </a:spcBef>
            </a:pPr>
            <a:r>
              <a:rPr sz="3200" spc="-5" dirty="0">
                <a:latin typeface="Tahoma"/>
                <a:cs typeface="Tahoma"/>
              </a:rPr>
              <a:t>S</a:t>
            </a:r>
            <a:r>
              <a:rPr sz="2000" spc="-5" dirty="0">
                <a:latin typeface="Tahoma"/>
                <a:cs typeface="Tahoma"/>
              </a:rPr>
              <a:t>s</a:t>
            </a:r>
            <a:r>
              <a:rPr sz="3200" spc="-5" dirty="0">
                <a:latin typeface="Tahoma"/>
                <a:cs typeface="Tahoma"/>
              </a:rPr>
              <a:t>=w</a:t>
            </a:r>
            <a:r>
              <a:rPr sz="2400" spc="-5" dirty="0">
                <a:latin typeface="Tahoma"/>
                <a:cs typeface="Tahoma"/>
              </a:rPr>
              <a:t>b</a:t>
            </a:r>
            <a:r>
              <a:rPr sz="3200" spc="-5" dirty="0">
                <a:latin typeface="Tahoma"/>
                <a:cs typeface="Tahoma"/>
              </a:rPr>
              <a:t>(A)r</a:t>
            </a:r>
            <a:r>
              <a:rPr sz="24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(A)w</a:t>
            </a:r>
            <a:r>
              <a:rPr sz="24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(A)w</a:t>
            </a:r>
            <a:r>
              <a:rPr sz="24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(A)r</a:t>
            </a:r>
            <a:r>
              <a:rPr sz="2400" spc="-5" dirty="0">
                <a:latin typeface="Tahoma"/>
                <a:cs typeface="Tahoma"/>
              </a:rPr>
              <a:t>3</a:t>
            </a:r>
            <a:r>
              <a:rPr sz="3200" spc="-5" dirty="0">
                <a:latin typeface="Tahoma"/>
                <a:cs typeface="Tahoma"/>
              </a:rPr>
              <a:t>(A)w</a:t>
            </a:r>
            <a:r>
              <a:rPr sz="2400" spc="-5" dirty="0">
                <a:latin typeface="Tahoma"/>
                <a:cs typeface="Tahoma"/>
              </a:rPr>
              <a:t>3</a:t>
            </a:r>
            <a:r>
              <a:rPr sz="3200" spc="-5" dirty="0">
                <a:latin typeface="Tahoma"/>
                <a:cs typeface="Tahoma"/>
              </a:rPr>
              <a:t>(A)r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3200" spc="-5" dirty="0">
                <a:latin typeface="Tahoma"/>
                <a:cs typeface="Tahoma"/>
              </a:rPr>
              <a:t>(A)</a:t>
            </a:r>
            <a:endParaRPr sz="3200">
              <a:latin typeface="Tahoma"/>
              <a:cs typeface="Tahoma"/>
            </a:endParaRPr>
          </a:p>
          <a:p>
            <a:pPr marL="808990" algn="ctr">
              <a:lnSpc>
                <a:spcPct val="100000"/>
              </a:lnSpc>
              <a:spcBef>
                <a:spcPts val="2030"/>
              </a:spcBef>
              <a:tabLst>
                <a:tab pos="2256790" algn="l"/>
                <a:tab pos="3552190" algn="l"/>
              </a:tabLst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1	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2	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3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latin typeface="Tahoma"/>
                <a:cs typeface="Tahoma"/>
              </a:rPr>
              <a:t>Z + </a:t>
            </a:r>
            <a:r>
              <a:rPr sz="3200" spc="-5" dirty="0">
                <a:latin typeface="Tahoma"/>
                <a:cs typeface="Tahoma"/>
              </a:rPr>
              <a:t>S</a:t>
            </a:r>
            <a:r>
              <a:rPr sz="2400" spc="-5" dirty="0">
                <a:latin typeface="Tahoma"/>
                <a:cs typeface="Tahoma"/>
              </a:rPr>
              <a:t>s </a:t>
            </a:r>
            <a:r>
              <a:rPr sz="3200" spc="-5" dirty="0">
                <a:latin typeface="Tahoma"/>
                <a:cs typeface="Tahoma"/>
              </a:rPr>
              <a:t>indeed </a:t>
            </a:r>
            <a:r>
              <a:rPr sz="3200" dirty="0">
                <a:latin typeface="Tahoma"/>
                <a:cs typeface="Tahoma"/>
              </a:rPr>
              <a:t>do </a:t>
            </a:r>
            <a:r>
              <a:rPr sz="3200" spc="-5" dirty="0">
                <a:latin typeface="Tahoma"/>
                <a:cs typeface="Tahoma"/>
              </a:rPr>
              <a:t>same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thing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460625" y="1460347"/>
            <a:ext cx="1685925" cy="232410"/>
          </a:xfrm>
          <a:custGeom>
            <a:avLst/>
            <a:gdLst/>
            <a:ahLst/>
            <a:cxnLst/>
            <a:rect l="l" t="t" r="r" b="b"/>
            <a:pathLst>
              <a:path w="1685925" h="232410">
                <a:moveTo>
                  <a:pt x="825157" y="181610"/>
                </a:moveTo>
                <a:lnTo>
                  <a:pt x="822071" y="176530"/>
                </a:lnTo>
                <a:lnTo>
                  <a:pt x="822210" y="176530"/>
                </a:lnTo>
                <a:lnTo>
                  <a:pt x="818857" y="171450"/>
                </a:lnTo>
                <a:lnTo>
                  <a:pt x="818997" y="171450"/>
                </a:lnTo>
                <a:lnTo>
                  <a:pt x="815365" y="167639"/>
                </a:lnTo>
                <a:lnTo>
                  <a:pt x="815517" y="167639"/>
                </a:lnTo>
                <a:lnTo>
                  <a:pt x="811631" y="162559"/>
                </a:lnTo>
                <a:lnTo>
                  <a:pt x="811784" y="162559"/>
                </a:lnTo>
                <a:lnTo>
                  <a:pt x="807643" y="158750"/>
                </a:lnTo>
                <a:lnTo>
                  <a:pt x="807808" y="158750"/>
                </a:lnTo>
                <a:lnTo>
                  <a:pt x="803414" y="154940"/>
                </a:lnTo>
                <a:lnTo>
                  <a:pt x="803592" y="154940"/>
                </a:lnTo>
                <a:lnTo>
                  <a:pt x="798969" y="151130"/>
                </a:lnTo>
                <a:lnTo>
                  <a:pt x="799134" y="151130"/>
                </a:lnTo>
                <a:lnTo>
                  <a:pt x="794283" y="147319"/>
                </a:lnTo>
                <a:lnTo>
                  <a:pt x="794461" y="147319"/>
                </a:lnTo>
                <a:lnTo>
                  <a:pt x="789393" y="143509"/>
                </a:lnTo>
                <a:lnTo>
                  <a:pt x="789571" y="143509"/>
                </a:lnTo>
                <a:lnTo>
                  <a:pt x="784301" y="140969"/>
                </a:lnTo>
                <a:lnTo>
                  <a:pt x="784479" y="140969"/>
                </a:lnTo>
                <a:lnTo>
                  <a:pt x="779005" y="137159"/>
                </a:lnTo>
                <a:lnTo>
                  <a:pt x="779195" y="137159"/>
                </a:lnTo>
                <a:lnTo>
                  <a:pt x="773531" y="134619"/>
                </a:lnTo>
                <a:lnTo>
                  <a:pt x="773709" y="134619"/>
                </a:lnTo>
                <a:lnTo>
                  <a:pt x="767867" y="132080"/>
                </a:lnTo>
                <a:lnTo>
                  <a:pt x="768045" y="132080"/>
                </a:lnTo>
                <a:lnTo>
                  <a:pt x="762025" y="129540"/>
                </a:lnTo>
                <a:lnTo>
                  <a:pt x="762215" y="129540"/>
                </a:lnTo>
                <a:lnTo>
                  <a:pt x="756031" y="127000"/>
                </a:lnTo>
                <a:lnTo>
                  <a:pt x="756221" y="127000"/>
                </a:lnTo>
                <a:lnTo>
                  <a:pt x="749884" y="125730"/>
                </a:lnTo>
                <a:lnTo>
                  <a:pt x="750074" y="125730"/>
                </a:lnTo>
                <a:lnTo>
                  <a:pt x="743585" y="123190"/>
                </a:lnTo>
                <a:lnTo>
                  <a:pt x="743775" y="123190"/>
                </a:lnTo>
                <a:lnTo>
                  <a:pt x="737158" y="121919"/>
                </a:lnTo>
                <a:lnTo>
                  <a:pt x="737349" y="121919"/>
                </a:lnTo>
                <a:lnTo>
                  <a:pt x="730592" y="120650"/>
                </a:lnTo>
                <a:lnTo>
                  <a:pt x="730796" y="120650"/>
                </a:lnTo>
                <a:lnTo>
                  <a:pt x="723912" y="119380"/>
                </a:lnTo>
                <a:lnTo>
                  <a:pt x="717321" y="119380"/>
                </a:lnTo>
                <a:lnTo>
                  <a:pt x="710234" y="118109"/>
                </a:lnTo>
                <a:lnTo>
                  <a:pt x="129616" y="118109"/>
                </a:lnTo>
                <a:lnTo>
                  <a:pt x="94919" y="111759"/>
                </a:lnTo>
                <a:lnTo>
                  <a:pt x="88569" y="109219"/>
                </a:lnTo>
                <a:lnTo>
                  <a:pt x="82016" y="106680"/>
                </a:lnTo>
                <a:lnTo>
                  <a:pt x="75806" y="104140"/>
                </a:lnTo>
                <a:lnTo>
                  <a:pt x="69773" y="101600"/>
                </a:lnTo>
                <a:lnTo>
                  <a:pt x="63919" y="97790"/>
                </a:lnTo>
                <a:lnTo>
                  <a:pt x="58267" y="95250"/>
                </a:lnTo>
                <a:lnTo>
                  <a:pt x="52819" y="91440"/>
                </a:lnTo>
                <a:lnTo>
                  <a:pt x="47574" y="87630"/>
                </a:lnTo>
                <a:lnTo>
                  <a:pt x="42722" y="83819"/>
                </a:lnTo>
                <a:lnTo>
                  <a:pt x="37757" y="80009"/>
                </a:lnTo>
                <a:lnTo>
                  <a:pt x="33210" y="74930"/>
                </a:lnTo>
                <a:lnTo>
                  <a:pt x="28905" y="71119"/>
                </a:lnTo>
                <a:lnTo>
                  <a:pt x="24853" y="66040"/>
                </a:lnTo>
                <a:lnTo>
                  <a:pt x="21221" y="62230"/>
                </a:lnTo>
                <a:lnTo>
                  <a:pt x="17576" y="57150"/>
                </a:lnTo>
                <a:lnTo>
                  <a:pt x="14490" y="52069"/>
                </a:lnTo>
                <a:lnTo>
                  <a:pt x="11442" y="45719"/>
                </a:lnTo>
                <a:lnTo>
                  <a:pt x="8839" y="40640"/>
                </a:lnTo>
                <a:lnTo>
                  <a:pt x="0" y="0"/>
                </a:lnTo>
                <a:lnTo>
                  <a:pt x="9525" y="0"/>
                </a:lnTo>
                <a:lnTo>
                  <a:pt x="9702" y="5080"/>
                </a:lnTo>
                <a:lnTo>
                  <a:pt x="10223" y="10159"/>
                </a:lnTo>
                <a:lnTo>
                  <a:pt x="11074" y="16509"/>
                </a:lnTo>
                <a:lnTo>
                  <a:pt x="12255" y="21590"/>
                </a:lnTo>
                <a:lnTo>
                  <a:pt x="13741" y="26669"/>
                </a:lnTo>
                <a:lnTo>
                  <a:pt x="15544" y="31750"/>
                </a:lnTo>
                <a:lnTo>
                  <a:pt x="17640" y="36830"/>
                </a:lnTo>
                <a:lnTo>
                  <a:pt x="20027" y="41909"/>
                </a:lnTo>
                <a:lnTo>
                  <a:pt x="22694" y="46990"/>
                </a:lnTo>
                <a:lnTo>
                  <a:pt x="22567" y="46990"/>
                </a:lnTo>
                <a:lnTo>
                  <a:pt x="25654" y="52069"/>
                </a:lnTo>
                <a:lnTo>
                  <a:pt x="26355" y="52069"/>
                </a:lnTo>
                <a:lnTo>
                  <a:pt x="28879" y="55880"/>
                </a:lnTo>
                <a:lnTo>
                  <a:pt x="28727" y="55880"/>
                </a:lnTo>
                <a:lnTo>
                  <a:pt x="32359" y="60959"/>
                </a:lnTo>
                <a:lnTo>
                  <a:pt x="33178" y="60959"/>
                </a:lnTo>
                <a:lnTo>
                  <a:pt x="36093" y="64769"/>
                </a:lnTo>
                <a:lnTo>
                  <a:pt x="35941" y="64769"/>
                </a:lnTo>
                <a:lnTo>
                  <a:pt x="40081" y="68580"/>
                </a:lnTo>
                <a:lnTo>
                  <a:pt x="39916" y="68580"/>
                </a:lnTo>
                <a:lnTo>
                  <a:pt x="44310" y="72390"/>
                </a:lnTo>
                <a:lnTo>
                  <a:pt x="44132" y="72390"/>
                </a:lnTo>
                <a:lnTo>
                  <a:pt x="48755" y="76200"/>
                </a:lnTo>
                <a:lnTo>
                  <a:pt x="48590" y="76200"/>
                </a:lnTo>
                <a:lnTo>
                  <a:pt x="53441" y="80009"/>
                </a:lnTo>
                <a:lnTo>
                  <a:pt x="53263" y="80009"/>
                </a:lnTo>
                <a:lnTo>
                  <a:pt x="58331" y="83819"/>
                </a:lnTo>
                <a:lnTo>
                  <a:pt x="58153" y="83819"/>
                </a:lnTo>
                <a:lnTo>
                  <a:pt x="63423" y="87630"/>
                </a:lnTo>
                <a:lnTo>
                  <a:pt x="63245" y="87630"/>
                </a:lnTo>
                <a:lnTo>
                  <a:pt x="68719" y="90169"/>
                </a:lnTo>
                <a:lnTo>
                  <a:pt x="68529" y="90169"/>
                </a:lnTo>
                <a:lnTo>
                  <a:pt x="74193" y="92709"/>
                </a:lnTo>
                <a:lnTo>
                  <a:pt x="74015" y="92709"/>
                </a:lnTo>
                <a:lnTo>
                  <a:pt x="79857" y="95250"/>
                </a:lnTo>
                <a:lnTo>
                  <a:pt x="79679" y="95250"/>
                </a:lnTo>
                <a:lnTo>
                  <a:pt x="85699" y="97790"/>
                </a:lnTo>
                <a:lnTo>
                  <a:pt x="85509" y="97790"/>
                </a:lnTo>
                <a:lnTo>
                  <a:pt x="91693" y="100330"/>
                </a:lnTo>
                <a:lnTo>
                  <a:pt x="91503" y="100330"/>
                </a:lnTo>
                <a:lnTo>
                  <a:pt x="97840" y="102869"/>
                </a:lnTo>
                <a:lnTo>
                  <a:pt x="97650" y="102869"/>
                </a:lnTo>
                <a:lnTo>
                  <a:pt x="104139" y="104140"/>
                </a:lnTo>
                <a:lnTo>
                  <a:pt x="103949" y="104140"/>
                </a:lnTo>
                <a:lnTo>
                  <a:pt x="110566" y="105409"/>
                </a:lnTo>
                <a:lnTo>
                  <a:pt x="110375" y="105409"/>
                </a:lnTo>
                <a:lnTo>
                  <a:pt x="117132" y="106680"/>
                </a:lnTo>
                <a:lnTo>
                  <a:pt x="116928" y="106680"/>
                </a:lnTo>
                <a:lnTo>
                  <a:pt x="123812" y="107950"/>
                </a:lnTo>
                <a:lnTo>
                  <a:pt x="130403" y="107950"/>
                </a:lnTo>
                <a:lnTo>
                  <a:pt x="137490" y="109219"/>
                </a:lnTo>
                <a:lnTo>
                  <a:pt x="718108" y="109219"/>
                </a:lnTo>
                <a:lnTo>
                  <a:pt x="746137" y="114300"/>
                </a:lnTo>
                <a:lnTo>
                  <a:pt x="752805" y="116840"/>
                </a:lnTo>
                <a:lnTo>
                  <a:pt x="759155" y="118109"/>
                </a:lnTo>
                <a:lnTo>
                  <a:pt x="765708" y="120650"/>
                </a:lnTo>
                <a:lnTo>
                  <a:pt x="771918" y="123190"/>
                </a:lnTo>
                <a:lnTo>
                  <a:pt x="777951" y="125730"/>
                </a:lnTo>
                <a:lnTo>
                  <a:pt x="783805" y="129540"/>
                </a:lnTo>
                <a:lnTo>
                  <a:pt x="789457" y="132080"/>
                </a:lnTo>
                <a:lnTo>
                  <a:pt x="794905" y="135890"/>
                </a:lnTo>
                <a:lnTo>
                  <a:pt x="800150" y="139700"/>
                </a:lnTo>
                <a:lnTo>
                  <a:pt x="805002" y="143509"/>
                </a:lnTo>
                <a:lnTo>
                  <a:pt x="809967" y="147319"/>
                </a:lnTo>
                <a:lnTo>
                  <a:pt x="814514" y="152400"/>
                </a:lnTo>
                <a:lnTo>
                  <a:pt x="818819" y="156209"/>
                </a:lnTo>
                <a:lnTo>
                  <a:pt x="822871" y="161290"/>
                </a:lnTo>
                <a:lnTo>
                  <a:pt x="830148" y="171450"/>
                </a:lnTo>
                <a:lnTo>
                  <a:pt x="833234" y="176530"/>
                </a:lnTo>
                <a:lnTo>
                  <a:pt x="835520" y="180339"/>
                </a:lnTo>
                <a:lnTo>
                  <a:pt x="825030" y="180339"/>
                </a:lnTo>
                <a:lnTo>
                  <a:pt x="825157" y="181610"/>
                </a:lnTo>
                <a:close/>
              </a:path>
              <a:path w="1685925" h="232410">
                <a:moveTo>
                  <a:pt x="1671434" y="52069"/>
                </a:moveTo>
                <a:lnTo>
                  <a:pt x="1660271" y="52069"/>
                </a:lnTo>
                <a:lnTo>
                  <a:pt x="1663357" y="46990"/>
                </a:lnTo>
                <a:lnTo>
                  <a:pt x="1666024" y="41909"/>
                </a:lnTo>
                <a:lnTo>
                  <a:pt x="1668399" y="36830"/>
                </a:lnTo>
                <a:lnTo>
                  <a:pt x="1670481" y="31750"/>
                </a:lnTo>
                <a:lnTo>
                  <a:pt x="1672272" y="26669"/>
                </a:lnTo>
                <a:lnTo>
                  <a:pt x="1673745" y="21590"/>
                </a:lnTo>
                <a:lnTo>
                  <a:pt x="1674901" y="16509"/>
                </a:lnTo>
                <a:lnTo>
                  <a:pt x="1675739" y="10159"/>
                </a:lnTo>
                <a:lnTo>
                  <a:pt x="1676234" y="5080"/>
                </a:lnTo>
                <a:lnTo>
                  <a:pt x="1676400" y="0"/>
                </a:lnTo>
                <a:lnTo>
                  <a:pt x="1685925" y="0"/>
                </a:lnTo>
                <a:lnTo>
                  <a:pt x="1681264" y="29209"/>
                </a:lnTo>
                <a:lnTo>
                  <a:pt x="1679282" y="35559"/>
                </a:lnTo>
                <a:lnTo>
                  <a:pt x="1676984" y="40640"/>
                </a:lnTo>
                <a:lnTo>
                  <a:pt x="1674482" y="45719"/>
                </a:lnTo>
                <a:lnTo>
                  <a:pt x="1671434" y="52069"/>
                </a:lnTo>
                <a:close/>
              </a:path>
              <a:path w="1685925" h="232410">
                <a:moveTo>
                  <a:pt x="26355" y="52069"/>
                </a:moveTo>
                <a:lnTo>
                  <a:pt x="25654" y="52069"/>
                </a:lnTo>
                <a:lnTo>
                  <a:pt x="25514" y="50800"/>
                </a:lnTo>
                <a:lnTo>
                  <a:pt x="26355" y="52069"/>
                </a:lnTo>
                <a:close/>
              </a:path>
              <a:path w="1685925" h="232410">
                <a:moveTo>
                  <a:pt x="1665579" y="60959"/>
                </a:moveTo>
                <a:lnTo>
                  <a:pt x="1653565" y="60959"/>
                </a:lnTo>
                <a:lnTo>
                  <a:pt x="1657197" y="55880"/>
                </a:lnTo>
                <a:lnTo>
                  <a:pt x="1657057" y="55880"/>
                </a:lnTo>
                <a:lnTo>
                  <a:pt x="1660410" y="50800"/>
                </a:lnTo>
                <a:lnTo>
                  <a:pt x="1660271" y="52069"/>
                </a:lnTo>
                <a:lnTo>
                  <a:pt x="1671434" y="52069"/>
                </a:lnTo>
                <a:lnTo>
                  <a:pt x="1668208" y="57150"/>
                </a:lnTo>
                <a:lnTo>
                  <a:pt x="1665579" y="60959"/>
                </a:lnTo>
                <a:close/>
              </a:path>
              <a:path w="1685925" h="232410">
                <a:moveTo>
                  <a:pt x="33178" y="60959"/>
                </a:moveTo>
                <a:lnTo>
                  <a:pt x="32359" y="60959"/>
                </a:lnTo>
                <a:lnTo>
                  <a:pt x="32207" y="59690"/>
                </a:lnTo>
                <a:lnTo>
                  <a:pt x="33178" y="60959"/>
                </a:lnTo>
                <a:close/>
              </a:path>
              <a:path w="1685925" h="232410">
                <a:moveTo>
                  <a:pt x="847725" y="228600"/>
                </a:moveTo>
                <a:lnTo>
                  <a:pt x="842991" y="197702"/>
                </a:lnTo>
                <a:lnTo>
                  <a:pt x="844842" y="191769"/>
                </a:lnTo>
                <a:lnTo>
                  <a:pt x="867270" y="156209"/>
                </a:lnTo>
                <a:lnTo>
                  <a:pt x="871410" y="152400"/>
                </a:lnTo>
                <a:lnTo>
                  <a:pt x="876134" y="147319"/>
                </a:lnTo>
                <a:lnTo>
                  <a:pt x="902309" y="129540"/>
                </a:lnTo>
                <a:lnTo>
                  <a:pt x="908151" y="125730"/>
                </a:lnTo>
                <a:lnTo>
                  <a:pt x="968019" y="109219"/>
                </a:lnTo>
                <a:lnTo>
                  <a:pt x="1548434" y="109219"/>
                </a:lnTo>
                <a:lnTo>
                  <a:pt x="1555521" y="107950"/>
                </a:lnTo>
                <a:lnTo>
                  <a:pt x="1562112" y="107950"/>
                </a:lnTo>
                <a:lnTo>
                  <a:pt x="1568996" y="106680"/>
                </a:lnTo>
                <a:lnTo>
                  <a:pt x="1568792" y="106680"/>
                </a:lnTo>
                <a:lnTo>
                  <a:pt x="1575549" y="105409"/>
                </a:lnTo>
                <a:lnTo>
                  <a:pt x="1575358" y="105409"/>
                </a:lnTo>
                <a:lnTo>
                  <a:pt x="1581975" y="104140"/>
                </a:lnTo>
                <a:lnTo>
                  <a:pt x="1581785" y="104140"/>
                </a:lnTo>
                <a:lnTo>
                  <a:pt x="1588274" y="102869"/>
                </a:lnTo>
                <a:lnTo>
                  <a:pt x="1588084" y="102869"/>
                </a:lnTo>
                <a:lnTo>
                  <a:pt x="1594421" y="100330"/>
                </a:lnTo>
                <a:lnTo>
                  <a:pt x="1594230" y="100330"/>
                </a:lnTo>
                <a:lnTo>
                  <a:pt x="1600415" y="97790"/>
                </a:lnTo>
                <a:lnTo>
                  <a:pt x="1600225" y="97790"/>
                </a:lnTo>
                <a:lnTo>
                  <a:pt x="1606257" y="95250"/>
                </a:lnTo>
                <a:lnTo>
                  <a:pt x="1606067" y="95250"/>
                </a:lnTo>
                <a:lnTo>
                  <a:pt x="1611909" y="92709"/>
                </a:lnTo>
                <a:lnTo>
                  <a:pt x="1611731" y="92709"/>
                </a:lnTo>
                <a:lnTo>
                  <a:pt x="1617395" y="90169"/>
                </a:lnTo>
                <a:lnTo>
                  <a:pt x="1617205" y="90169"/>
                </a:lnTo>
                <a:lnTo>
                  <a:pt x="1622678" y="87630"/>
                </a:lnTo>
                <a:lnTo>
                  <a:pt x="1622501" y="87630"/>
                </a:lnTo>
                <a:lnTo>
                  <a:pt x="1627771" y="83819"/>
                </a:lnTo>
                <a:lnTo>
                  <a:pt x="1627593" y="83819"/>
                </a:lnTo>
                <a:lnTo>
                  <a:pt x="1632661" y="80009"/>
                </a:lnTo>
                <a:lnTo>
                  <a:pt x="1632483" y="80009"/>
                </a:lnTo>
                <a:lnTo>
                  <a:pt x="1637334" y="76200"/>
                </a:lnTo>
                <a:lnTo>
                  <a:pt x="1637169" y="76200"/>
                </a:lnTo>
                <a:lnTo>
                  <a:pt x="1641792" y="72390"/>
                </a:lnTo>
                <a:lnTo>
                  <a:pt x="1641614" y="72390"/>
                </a:lnTo>
                <a:lnTo>
                  <a:pt x="1646008" y="68580"/>
                </a:lnTo>
                <a:lnTo>
                  <a:pt x="1645843" y="68580"/>
                </a:lnTo>
                <a:lnTo>
                  <a:pt x="1649984" y="64769"/>
                </a:lnTo>
                <a:lnTo>
                  <a:pt x="1649831" y="64769"/>
                </a:lnTo>
                <a:lnTo>
                  <a:pt x="1653717" y="59690"/>
                </a:lnTo>
                <a:lnTo>
                  <a:pt x="1653565" y="60959"/>
                </a:lnTo>
                <a:lnTo>
                  <a:pt x="1665579" y="60959"/>
                </a:lnTo>
                <a:lnTo>
                  <a:pt x="1664703" y="62230"/>
                </a:lnTo>
                <a:lnTo>
                  <a:pt x="1660918" y="66040"/>
                </a:lnTo>
                <a:lnTo>
                  <a:pt x="1656854" y="71119"/>
                </a:lnTo>
                <a:lnTo>
                  <a:pt x="1652714" y="74930"/>
                </a:lnTo>
                <a:lnTo>
                  <a:pt x="1621815" y="99059"/>
                </a:lnTo>
                <a:lnTo>
                  <a:pt x="1577314" y="114300"/>
                </a:lnTo>
                <a:lnTo>
                  <a:pt x="1570367" y="116840"/>
                </a:lnTo>
                <a:lnTo>
                  <a:pt x="1563293" y="116840"/>
                </a:lnTo>
                <a:lnTo>
                  <a:pt x="1556118" y="118109"/>
                </a:lnTo>
                <a:lnTo>
                  <a:pt x="975690" y="118109"/>
                </a:lnTo>
                <a:lnTo>
                  <a:pt x="968603" y="119380"/>
                </a:lnTo>
                <a:lnTo>
                  <a:pt x="962012" y="119380"/>
                </a:lnTo>
                <a:lnTo>
                  <a:pt x="955128" y="120650"/>
                </a:lnTo>
                <a:lnTo>
                  <a:pt x="955332" y="120650"/>
                </a:lnTo>
                <a:lnTo>
                  <a:pt x="948575" y="121919"/>
                </a:lnTo>
                <a:lnTo>
                  <a:pt x="948766" y="121919"/>
                </a:lnTo>
                <a:lnTo>
                  <a:pt x="942149" y="123190"/>
                </a:lnTo>
                <a:lnTo>
                  <a:pt x="942339" y="123190"/>
                </a:lnTo>
                <a:lnTo>
                  <a:pt x="935850" y="125730"/>
                </a:lnTo>
                <a:lnTo>
                  <a:pt x="936040" y="125730"/>
                </a:lnTo>
                <a:lnTo>
                  <a:pt x="929703" y="127000"/>
                </a:lnTo>
                <a:lnTo>
                  <a:pt x="929894" y="127000"/>
                </a:lnTo>
                <a:lnTo>
                  <a:pt x="923709" y="129540"/>
                </a:lnTo>
                <a:lnTo>
                  <a:pt x="923899" y="129540"/>
                </a:lnTo>
                <a:lnTo>
                  <a:pt x="917879" y="132080"/>
                </a:lnTo>
                <a:lnTo>
                  <a:pt x="918057" y="132080"/>
                </a:lnTo>
                <a:lnTo>
                  <a:pt x="912215" y="134619"/>
                </a:lnTo>
                <a:lnTo>
                  <a:pt x="912393" y="134619"/>
                </a:lnTo>
                <a:lnTo>
                  <a:pt x="906729" y="137159"/>
                </a:lnTo>
                <a:lnTo>
                  <a:pt x="906919" y="137159"/>
                </a:lnTo>
                <a:lnTo>
                  <a:pt x="901446" y="140969"/>
                </a:lnTo>
                <a:lnTo>
                  <a:pt x="901623" y="140969"/>
                </a:lnTo>
                <a:lnTo>
                  <a:pt x="896353" y="143509"/>
                </a:lnTo>
                <a:lnTo>
                  <a:pt x="896531" y="143509"/>
                </a:lnTo>
                <a:lnTo>
                  <a:pt x="891463" y="147319"/>
                </a:lnTo>
                <a:lnTo>
                  <a:pt x="891641" y="147319"/>
                </a:lnTo>
                <a:lnTo>
                  <a:pt x="886790" y="151130"/>
                </a:lnTo>
                <a:lnTo>
                  <a:pt x="886955" y="151130"/>
                </a:lnTo>
                <a:lnTo>
                  <a:pt x="882332" y="154940"/>
                </a:lnTo>
                <a:lnTo>
                  <a:pt x="882510" y="154940"/>
                </a:lnTo>
                <a:lnTo>
                  <a:pt x="878116" y="158750"/>
                </a:lnTo>
                <a:lnTo>
                  <a:pt x="878281" y="158750"/>
                </a:lnTo>
                <a:lnTo>
                  <a:pt x="874140" y="162559"/>
                </a:lnTo>
                <a:lnTo>
                  <a:pt x="874293" y="162559"/>
                </a:lnTo>
                <a:lnTo>
                  <a:pt x="870407" y="167639"/>
                </a:lnTo>
                <a:lnTo>
                  <a:pt x="870559" y="167639"/>
                </a:lnTo>
                <a:lnTo>
                  <a:pt x="866927" y="171450"/>
                </a:lnTo>
                <a:lnTo>
                  <a:pt x="867067" y="171450"/>
                </a:lnTo>
                <a:lnTo>
                  <a:pt x="863714" y="176530"/>
                </a:lnTo>
                <a:lnTo>
                  <a:pt x="863853" y="176530"/>
                </a:lnTo>
                <a:lnTo>
                  <a:pt x="861539" y="180339"/>
                </a:lnTo>
                <a:lnTo>
                  <a:pt x="860894" y="180339"/>
                </a:lnTo>
                <a:lnTo>
                  <a:pt x="858100" y="185419"/>
                </a:lnTo>
                <a:lnTo>
                  <a:pt x="855726" y="190500"/>
                </a:lnTo>
                <a:lnTo>
                  <a:pt x="853643" y="195580"/>
                </a:lnTo>
                <a:lnTo>
                  <a:pt x="851852" y="200660"/>
                </a:lnTo>
                <a:lnTo>
                  <a:pt x="850691" y="205739"/>
                </a:lnTo>
                <a:lnTo>
                  <a:pt x="850455" y="205739"/>
                </a:lnTo>
                <a:lnTo>
                  <a:pt x="849469" y="210819"/>
                </a:lnTo>
                <a:lnTo>
                  <a:pt x="849274" y="210819"/>
                </a:lnTo>
                <a:lnTo>
                  <a:pt x="848385" y="217169"/>
                </a:lnTo>
                <a:lnTo>
                  <a:pt x="847890" y="222250"/>
                </a:lnTo>
                <a:lnTo>
                  <a:pt x="847725" y="228600"/>
                </a:lnTo>
                <a:close/>
              </a:path>
              <a:path w="1685925" h="232410">
                <a:moveTo>
                  <a:pt x="835545" y="207010"/>
                </a:moveTo>
                <a:lnTo>
                  <a:pt x="833983" y="200660"/>
                </a:lnTo>
                <a:lnTo>
                  <a:pt x="832180" y="195580"/>
                </a:lnTo>
                <a:lnTo>
                  <a:pt x="830084" y="190500"/>
                </a:lnTo>
                <a:lnTo>
                  <a:pt x="827697" y="185419"/>
                </a:lnTo>
                <a:lnTo>
                  <a:pt x="825030" y="180339"/>
                </a:lnTo>
                <a:lnTo>
                  <a:pt x="835520" y="180339"/>
                </a:lnTo>
                <a:lnTo>
                  <a:pt x="836282" y="181610"/>
                </a:lnTo>
                <a:lnTo>
                  <a:pt x="838885" y="186689"/>
                </a:lnTo>
                <a:lnTo>
                  <a:pt x="841184" y="193039"/>
                </a:lnTo>
                <a:lnTo>
                  <a:pt x="842991" y="197702"/>
                </a:lnTo>
                <a:lnTo>
                  <a:pt x="841209" y="203200"/>
                </a:lnTo>
                <a:lnTo>
                  <a:pt x="840691" y="205739"/>
                </a:lnTo>
                <a:lnTo>
                  <a:pt x="835469" y="205739"/>
                </a:lnTo>
                <a:lnTo>
                  <a:pt x="835545" y="207010"/>
                </a:lnTo>
                <a:close/>
              </a:path>
              <a:path w="1685925" h="232410">
                <a:moveTo>
                  <a:pt x="860767" y="181610"/>
                </a:moveTo>
                <a:lnTo>
                  <a:pt x="860894" y="180339"/>
                </a:lnTo>
                <a:lnTo>
                  <a:pt x="861539" y="180339"/>
                </a:lnTo>
                <a:lnTo>
                  <a:pt x="860767" y="181610"/>
                </a:lnTo>
                <a:close/>
              </a:path>
              <a:path w="1685925" h="232410">
                <a:moveTo>
                  <a:pt x="845299" y="232410"/>
                </a:moveTo>
                <a:lnTo>
                  <a:pt x="840625" y="232410"/>
                </a:lnTo>
                <a:lnTo>
                  <a:pt x="839368" y="231139"/>
                </a:lnTo>
                <a:lnTo>
                  <a:pt x="838530" y="229869"/>
                </a:lnTo>
                <a:lnTo>
                  <a:pt x="838200" y="228600"/>
                </a:lnTo>
                <a:lnTo>
                  <a:pt x="838377" y="222250"/>
                </a:lnTo>
                <a:lnTo>
                  <a:pt x="838974" y="215900"/>
                </a:lnTo>
                <a:lnTo>
                  <a:pt x="839914" y="209550"/>
                </a:lnTo>
                <a:lnTo>
                  <a:pt x="841209" y="203200"/>
                </a:lnTo>
                <a:lnTo>
                  <a:pt x="842991" y="197702"/>
                </a:lnTo>
                <a:lnTo>
                  <a:pt x="843152" y="198119"/>
                </a:lnTo>
                <a:lnTo>
                  <a:pt x="847725" y="228600"/>
                </a:lnTo>
                <a:lnTo>
                  <a:pt x="847394" y="229869"/>
                </a:lnTo>
                <a:lnTo>
                  <a:pt x="846556" y="231139"/>
                </a:lnTo>
                <a:lnTo>
                  <a:pt x="845299" y="232410"/>
                </a:lnTo>
                <a:close/>
              </a:path>
              <a:path w="1685925" h="232410">
                <a:moveTo>
                  <a:pt x="836701" y="212089"/>
                </a:moveTo>
                <a:lnTo>
                  <a:pt x="835469" y="205739"/>
                </a:lnTo>
                <a:lnTo>
                  <a:pt x="840691" y="205739"/>
                </a:lnTo>
                <a:lnTo>
                  <a:pt x="839914" y="209550"/>
                </a:lnTo>
                <a:lnTo>
                  <a:pt x="839726" y="210819"/>
                </a:lnTo>
                <a:lnTo>
                  <a:pt x="836650" y="210819"/>
                </a:lnTo>
                <a:lnTo>
                  <a:pt x="836701" y="212089"/>
                </a:lnTo>
                <a:close/>
              </a:path>
              <a:path w="1685925" h="232410">
                <a:moveTo>
                  <a:pt x="850379" y="207010"/>
                </a:moveTo>
                <a:lnTo>
                  <a:pt x="850455" y="205739"/>
                </a:lnTo>
                <a:lnTo>
                  <a:pt x="850691" y="205739"/>
                </a:lnTo>
                <a:lnTo>
                  <a:pt x="850379" y="207010"/>
                </a:lnTo>
                <a:close/>
              </a:path>
              <a:path w="1685925" h="232410">
                <a:moveTo>
                  <a:pt x="838200" y="228600"/>
                </a:moveTo>
                <a:lnTo>
                  <a:pt x="838022" y="222250"/>
                </a:lnTo>
                <a:lnTo>
                  <a:pt x="837501" y="217169"/>
                </a:lnTo>
                <a:lnTo>
                  <a:pt x="836650" y="210819"/>
                </a:lnTo>
                <a:lnTo>
                  <a:pt x="839726" y="210819"/>
                </a:lnTo>
                <a:lnTo>
                  <a:pt x="838974" y="215900"/>
                </a:lnTo>
                <a:lnTo>
                  <a:pt x="838377" y="222250"/>
                </a:lnTo>
                <a:lnTo>
                  <a:pt x="838200" y="228600"/>
                </a:lnTo>
                <a:close/>
              </a:path>
              <a:path w="1685925" h="232410">
                <a:moveTo>
                  <a:pt x="849223" y="212089"/>
                </a:moveTo>
                <a:lnTo>
                  <a:pt x="849274" y="210819"/>
                </a:lnTo>
                <a:lnTo>
                  <a:pt x="849469" y="210819"/>
                </a:lnTo>
                <a:lnTo>
                  <a:pt x="849223" y="2120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354637" y="1460347"/>
            <a:ext cx="1685925" cy="232410"/>
          </a:xfrm>
          <a:custGeom>
            <a:avLst/>
            <a:gdLst/>
            <a:ahLst/>
            <a:cxnLst/>
            <a:rect l="l" t="t" r="r" b="b"/>
            <a:pathLst>
              <a:path w="1685925" h="232410">
                <a:moveTo>
                  <a:pt x="825157" y="181610"/>
                </a:moveTo>
                <a:lnTo>
                  <a:pt x="822071" y="176530"/>
                </a:lnTo>
                <a:lnTo>
                  <a:pt x="822210" y="176530"/>
                </a:lnTo>
                <a:lnTo>
                  <a:pt x="818857" y="171450"/>
                </a:lnTo>
                <a:lnTo>
                  <a:pt x="818997" y="171450"/>
                </a:lnTo>
                <a:lnTo>
                  <a:pt x="815365" y="167639"/>
                </a:lnTo>
                <a:lnTo>
                  <a:pt x="815517" y="167639"/>
                </a:lnTo>
                <a:lnTo>
                  <a:pt x="811631" y="162559"/>
                </a:lnTo>
                <a:lnTo>
                  <a:pt x="811784" y="162559"/>
                </a:lnTo>
                <a:lnTo>
                  <a:pt x="807643" y="158750"/>
                </a:lnTo>
                <a:lnTo>
                  <a:pt x="807808" y="158750"/>
                </a:lnTo>
                <a:lnTo>
                  <a:pt x="803414" y="154940"/>
                </a:lnTo>
                <a:lnTo>
                  <a:pt x="803592" y="154940"/>
                </a:lnTo>
                <a:lnTo>
                  <a:pt x="798969" y="151130"/>
                </a:lnTo>
                <a:lnTo>
                  <a:pt x="799134" y="151130"/>
                </a:lnTo>
                <a:lnTo>
                  <a:pt x="794283" y="147319"/>
                </a:lnTo>
                <a:lnTo>
                  <a:pt x="794461" y="147319"/>
                </a:lnTo>
                <a:lnTo>
                  <a:pt x="789393" y="143509"/>
                </a:lnTo>
                <a:lnTo>
                  <a:pt x="789571" y="143509"/>
                </a:lnTo>
                <a:lnTo>
                  <a:pt x="784301" y="140969"/>
                </a:lnTo>
                <a:lnTo>
                  <a:pt x="784478" y="140969"/>
                </a:lnTo>
                <a:lnTo>
                  <a:pt x="779005" y="137159"/>
                </a:lnTo>
                <a:lnTo>
                  <a:pt x="779195" y="137159"/>
                </a:lnTo>
                <a:lnTo>
                  <a:pt x="773531" y="134619"/>
                </a:lnTo>
                <a:lnTo>
                  <a:pt x="773709" y="134619"/>
                </a:lnTo>
                <a:lnTo>
                  <a:pt x="767867" y="132080"/>
                </a:lnTo>
                <a:lnTo>
                  <a:pt x="768045" y="132080"/>
                </a:lnTo>
                <a:lnTo>
                  <a:pt x="762025" y="129540"/>
                </a:lnTo>
                <a:lnTo>
                  <a:pt x="762215" y="129540"/>
                </a:lnTo>
                <a:lnTo>
                  <a:pt x="756030" y="127000"/>
                </a:lnTo>
                <a:lnTo>
                  <a:pt x="756221" y="127000"/>
                </a:lnTo>
                <a:lnTo>
                  <a:pt x="749884" y="125730"/>
                </a:lnTo>
                <a:lnTo>
                  <a:pt x="750074" y="125730"/>
                </a:lnTo>
                <a:lnTo>
                  <a:pt x="743585" y="123190"/>
                </a:lnTo>
                <a:lnTo>
                  <a:pt x="743775" y="123190"/>
                </a:lnTo>
                <a:lnTo>
                  <a:pt x="737158" y="121919"/>
                </a:lnTo>
                <a:lnTo>
                  <a:pt x="737349" y="121919"/>
                </a:lnTo>
                <a:lnTo>
                  <a:pt x="730592" y="120650"/>
                </a:lnTo>
                <a:lnTo>
                  <a:pt x="730796" y="120650"/>
                </a:lnTo>
                <a:lnTo>
                  <a:pt x="723912" y="119380"/>
                </a:lnTo>
                <a:lnTo>
                  <a:pt x="717321" y="119380"/>
                </a:lnTo>
                <a:lnTo>
                  <a:pt x="710234" y="118109"/>
                </a:lnTo>
                <a:lnTo>
                  <a:pt x="129616" y="118109"/>
                </a:lnTo>
                <a:lnTo>
                  <a:pt x="94919" y="111759"/>
                </a:lnTo>
                <a:lnTo>
                  <a:pt x="88569" y="109219"/>
                </a:lnTo>
                <a:lnTo>
                  <a:pt x="82016" y="106680"/>
                </a:lnTo>
                <a:lnTo>
                  <a:pt x="75806" y="104140"/>
                </a:lnTo>
                <a:lnTo>
                  <a:pt x="69773" y="101600"/>
                </a:lnTo>
                <a:lnTo>
                  <a:pt x="63919" y="97790"/>
                </a:lnTo>
                <a:lnTo>
                  <a:pt x="58267" y="95250"/>
                </a:lnTo>
                <a:lnTo>
                  <a:pt x="52819" y="91440"/>
                </a:lnTo>
                <a:lnTo>
                  <a:pt x="47574" y="87630"/>
                </a:lnTo>
                <a:lnTo>
                  <a:pt x="42722" y="83819"/>
                </a:lnTo>
                <a:lnTo>
                  <a:pt x="37757" y="80009"/>
                </a:lnTo>
                <a:lnTo>
                  <a:pt x="33210" y="74930"/>
                </a:lnTo>
                <a:lnTo>
                  <a:pt x="28905" y="71119"/>
                </a:lnTo>
                <a:lnTo>
                  <a:pt x="24853" y="66040"/>
                </a:lnTo>
                <a:lnTo>
                  <a:pt x="21221" y="62230"/>
                </a:lnTo>
                <a:lnTo>
                  <a:pt x="17576" y="57150"/>
                </a:lnTo>
                <a:lnTo>
                  <a:pt x="14490" y="52069"/>
                </a:lnTo>
                <a:lnTo>
                  <a:pt x="11442" y="45719"/>
                </a:lnTo>
                <a:lnTo>
                  <a:pt x="8839" y="40640"/>
                </a:lnTo>
                <a:lnTo>
                  <a:pt x="0" y="0"/>
                </a:lnTo>
                <a:lnTo>
                  <a:pt x="9525" y="0"/>
                </a:lnTo>
                <a:lnTo>
                  <a:pt x="9702" y="5080"/>
                </a:lnTo>
                <a:lnTo>
                  <a:pt x="10223" y="10159"/>
                </a:lnTo>
                <a:lnTo>
                  <a:pt x="11074" y="16509"/>
                </a:lnTo>
                <a:lnTo>
                  <a:pt x="12255" y="21590"/>
                </a:lnTo>
                <a:lnTo>
                  <a:pt x="13741" y="26669"/>
                </a:lnTo>
                <a:lnTo>
                  <a:pt x="15544" y="31750"/>
                </a:lnTo>
                <a:lnTo>
                  <a:pt x="17640" y="36830"/>
                </a:lnTo>
                <a:lnTo>
                  <a:pt x="20027" y="41909"/>
                </a:lnTo>
                <a:lnTo>
                  <a:pt x="22694" y="46990"/>
                </a:lnTo>
                <a:lnTo>
                  <a:pt x="25653" y="52069"/>
                </a:lnTo>
                <a:lnTo>
                  <a:pt x="26352" y="52069"/>
                </a:lnTo>
                <a:lnTo>
                  <a:pt x="28867" y="55880"/>
                </a:lnTo>
                <a:lnTo>
                  <a:pt x="28727" y="55880"/>
                </a:lnTo>
                <a:lnTo>
                  <a:pt x="32359" y="60959"/>
                </a:lnTo>
                <a:lnTo>
                  <a:pt x="33178" y="60959"/>
                </a:lnTo>
                <a:lnTo>
                  <a:pt x="36093" y="64769"/>
                </a:lnTo>
                <a:lnTo>
                  <a:pt x="35940" y="64769"/>
                </a:lnTo>
                <a:lnTo>
                  <a:pt x="40081" y="68580"/>
                </a:lnTo>
                <a:lnTo>
                  <a:pt x="39916" y="68580"/>
                </a:lnTo>
                <a:lnTo>
                  <a:pt x="44310" y="72390"/>
                </a:lnTo>
                <a:lnTo>
                  <a:pt x="44132" y="72390"/>
                </a:lnTo>
                <a:lnTo>
                  <a:pt x="48755" y="76200"/>
                </a:lnTo>
                <a:lnTo>
                  <a:pt x="48590" y="76200"/>
                </a:lnTo>
                <a:lnTo>
                  <a:pt x="53441" y="80009"/>
                </a:lnTo>
                <a:lnTo>
                  <a:pt x="53263" y="80009"/>
                </a:lnTo>
                <a:lnTo>
                  <a:pt x="58331" y="83819"/>
                </a:lnTo>
                <a:lnTo>
                  <a:pt x="58153" y="83819"/>
                </a:lnTo>
                <a:lnTo>
                  <a:pt x="63423" y="87630"/>
                </a:lnTo>
                <a:lnTo>
                  <a:pt x="63246" y="87630"/>
                </a:lnTo>
                <a:lnTo>
                  <a:pt x="68719" y="90169"/>
                </a:lnTo>
                <a:lnTo>
                  <a:pt x="68529" y="90169"/>
                </a:lnTo>
                <a:lnTo>
                  <a:pt x="74193" y="92709"/>
                </a:lnTo>
                <a:lnTo>
                  <a:pt x="74015" y="92709"/>
                </a:lnTo>
                <a:lnTo>
                  <a:pt x="79857" y="95250"/>
                </a:lnTo>
                <a:lnTo>
                  <a:pt x="79679" y="95250"/>
                </a:lnTo>
                <a:lnTo>
                  <a:pt x="85699" y="97790"/>
                </a:lnTo>
                <a:lnTo>
                  <a:pt x="85509" y="97790"/>
                </a:lnTo>
                <a:lnTo>
                  <a:pt x="91694" y="100330"/>
                </a:lnTo>
                <a:lnTo>
                  <a:pt x="91503" y="100330"/>
                </a:lnTo>
                <a:lnTo>
                  <a:pt x="97840" y="102869"/>
                </a:lnTo>
                <a:lnTo>
                  <a:pt x="97650" y="102869"/>
                </a:lnTo>
                <a:lnTo>
                  <a:pt x="104139" y="104140"/>
                </a:lnTo>
                <a:lnTo>
                  <a:pt x="103949" y="104140"/>
                </a:lnTo>
                <a:lnTo>
                  <a:pt x="110566" y="105409"/>
                </a:lnTo>
                <a:lnTo>
                  <a:pt x="110375" y="105409"/>
                </a:lnTo>
                <a:lnTo>
                  <a:pt x="117132" y="106680"/>
                </a:lnTo>
                <a:lnTo>
                  <a:pt x="116928" y="106680"/>
                </a:lnTo>
                <a:lnTo>
                  <a:pt x="123812" y="107950"/>
                </a:lnTo>
                <a:lnTo>
                  <a:pt x="130403" y="107950"/>
                </a:lnTo>
                <a:lnTo>
                  <a:pt x="137490" y="109219"/>
                </a:lnTo>
                <a:lnTo>
                  <a:pt x="718108" y="109219"/>
                </a:lnTo>
                <a:lnTo>
                  <a:pt x="746125" y="114300"/>
                </a:lnTo>
                <a:lnTo>
                  <a:pt x="752805" y="116840"/>
                </a:lnTo>
                <a:lnTo>
                  <a:pt x="759155" y="118109"/>
                </a:lnTo>
                <a:lnTo>
                  <a:pt x="765708" y="120650"/>
                </a:lnTo>
                <a:lnTo>
                  <a:pt x="771918" y="123190"/>
                </a:lnTo>
                <a:lnTo>
                  <a:pt x="777951" y="125730"/>
                </a:lnTo>
                <a:lnTo>
                  <a:pt x="783805" y="129540"/>
                </a:lnTo>
                <a:lnTo>
                  <a:pt x="789457" y="132080"/>
                </a:lnTo>
                <a:lnTo>
                  <a:pt x="794905" y="135890"/>
                </a:lnTo>
                <a:lnTo>
                  <a:pt x="800150" y="139700"/>
                </a:lnTo>
                <a:lnTo>
                  <a:pt x="805002" y="143509"/>
                </a:lnTo>
                <a:lnTo>
                  <a:pt x="809967" y="147319"/>
                </a:lnTo>
                <a:lnTo>
                  <a:pt x="814514" y="152400"/>
                </a:lnTo>
                <a:lnTo>
                  <a:pt x="818819" y="156209"/>
                </a:lnTo>
                <a:lnTo>
                  <a:pt x="822871" y="161290"/>
                </a:lnTo>
                <a:lnTo>
                  <a:pt x="830148" y="171450"/>
                </a:lnTo>
                <a:lnTo>
                  <a:pt x="833234" y="176530"/>
                </a:lnTo>
                <a:lnTo>
                  <a:pt x="835520" y="180339"/>
                </a:lnTo>
                <a:lnTo>
                  <a:pt x="825030" y="180339"/>
                </a:lnTo>
                <a:lnTo>
                  <a:pt x="825157" y="181610"/>
                </a:lnTo>
                <a:close/>
              </a:path>
              <a:path w="1685925" h="232410">
                <a:moveTo>
                  <a:pt x="1671434" y="52069"/>
                </a:moveTo>
                <a:lnTo>
                  <a:pt x="1660271" y="52069"/>
                </a:lnTo>
                <a:lnTo>
                  <a:pt x="1663357" y="46990"/>
                </a:lnTo>
                <a:lnTo>
                  <a:pt x="1666024" y="41909"/>
                </a:lnTo>
                <a:lnTo>
                  <a:pt x="1668399" y="36830"/>
                </a:lnTo>
                <a:lnTo>
                  <a:pt x="1670481" y="31750"/>
                </a:lnTo>
                <a:lnTo>
                  <a:pt x="1672272" y="26669"/>
                </a:lnTo>
                <a:lnTo>
                  <a:pt x="1673745" y="21590"/>
                </a:lnTo>
                <a:lnTo>
                  <a:pt x="1674901" y="16509"/>
                </a:lnTo>
                <a:lnTo>
                  <a:pt x="1675739" y="10159"/>
                </a:lnTo>
                <a:lnTo>
                  <a:pt x="1676234" y="5080"/>
                </a:lnTo>
                <a:lnTo>
                  <a:pt x="1676400" y="0"/>
                </a:lnTo>
                <a:lnTo>
                  <a:pt x="1685925" y="0"/>
                </a:lnTo>
                <a:lnTo>
                  <a:pt x="1681264" y="29209"/>
                </a:lnTo>
                <a:lnTo>
                  <a:pt x="1679282" y="35559"/>
                </a:lnTo>
                <a:lnTo>
                  <a:pt x="1676984" y="40640"/>
                </a:lnTo>
                <a:lnTo>
                  <a:pt x="1674482" y="45719"/>
                </a:lnTo>
                <a:lnTo>
                  <a:pt x="1671434" y="52069"/>
                </a:lnTo>
                <a:close/>
              </a:path>
              <a:path w="1685925" h="232410">
                <a:moveTo>
                  <a:pt x="26352" y="52069"/>
                </a:moveTo>
                <a:lnTo>
                  <a:pt x="25653" y="52069"/>
                </a:lnTo>
                <a:lnTo>
                  <a:pt x="25514" y="50800"/>
                </a:lnTo>
                <a:lnTo>
                  <a:pt x="26352" y="52069"/>
                </a:lnTo>
                <a:close/>
              </a:path>
              <a:path w="1685925" h="232410">
                <a:moveTo>
                  <a:pt x="1665579" y="60959"/>
                </a:moveTo>
                <a:lnTo>
                  <a:pt x="1653565" y="60959"/>
                </a:lnTo>
                <a:lnTo>
                  <a:pt x="1657197" y="55880"/>
                </a:lnTo>
                <a:lnTo>
                  <a:pt x="1657057" y="55880"/>
                </a:lnTo>
                <a:lnTo>
                  <a:pt x="1660410" y="50800"/>
                </a:lnTo>
                <a:lnTo>
                  <a:pt x="1660271" y="52069"/>
                </a:lnTo>
                <a:lnTo>
                  <a:pt x="1671434" y="52069"/>
                </a:lnTo>
                <a:lnTo>
                  <a:pt x="1668208" y="57150"/>
                </a:lnTo>
                <a:lnTo>
                  <a:pt x="1665579" y="60959"/>
                </a:lnTo>
                <a:close/>
              </a:path>
              <a:path w="1685925" h="232410">
                <a:moveTo>
                  <a:pt x="33178" y="60959"/>
                </a:moveTo>
                <a:lnTo>
                  <a:pt x="32359" y="60959"/>
                </a:lnTo>
                <a:lnTo>
                  <a:pt x="32207" y="59690"/>
                </a:lnTo>
                <a:lnTo>
                  <a:pt x="33178" y="60959"/>
                </a:lnTo>
                <a:close/>
              </a:path>
              <a:path w="1685925" h="232410">
                <a:moveTo>
                  <a:pt x="847725" y="228600"/>
                </a:moveTo>
                <a:lnTo>
                  <a:pt x="842991" y="197702"/>
                </a:lnTo>
                <a:lnTo>
                  <a:pt x="844842" y="191769"/>
                </a:lnTo>
                <a:lnTo>
                  <a:pt x="867270" y="156209"/>
                </a:lnTo>
                <a:lnTo>
                  <a:pt x="871410" y="152400"/>
                </a:lnTo>
                <a:lnTo>
                  <a:pt x="876134" y="147319"/>
                </a:lnTo>
                <a:lnTo>
                  <a:pt x="902309" y="129540"/>
                </a:lnTo>
                <a:lnTo>
                  <a:pt x="908151" y="125730"/>
                </a:lnTo>
                <a:lnTo>
                  <a:pt x="968006" y="109219"/>
                </a:lnTo>
                <a:lnTo>
                  <a:pt x="1548434" y="109219"/>
                </a:lnTo>
                <a:lnTo>
                  <a:pt x="1555521" y="107950"/>
                </a:lnTo>
                <a:lnTo>
                  <a:pt x="1562112" y="107950"/>
                </a:lnTo>
                <a:lnTo>
                  <a:pt x="1568996" y="106680"/>
                </a:lnTo>
                <a:lnTo>
                  <a:pt x="1568792" y="106680"/>
                </a:lnTo>
                <a:lnTo>
                  <a:pt x="1575549" y="105409"/>
                </a:lnTo>
                <a:lnTo>
                  <a:pt x="1575358" y="105409"/>
                </a:lnTo>
                <a:lnTo>
                  <a:pt x="1581975" y="104140"/>
                </a:lnTo>
                <a:lnTo>
                  <a:pt x="1581784" y="104140"/>
                </a:lnTo>
                <a:lnTo>
                  <a:pt x="1588274" y="102869"/>
                </a:lnTo>
                <a:lnTo>
                  <a:pt x="1588084" y="102869"/>
                </a:lnTo>
                <a:lnTo>
                  <a:pt x="1594421" y="100330"/>
                </a:lnTo>
                <a:lnTo>
                  <a:pt x="1594230" y="100330"/>
                </a:lnTo>
                <a:lnTo>
                  <a:pt x="1600415" y="97790"/>
                </a:lnTo>
                <a:lnTo>
                  <a:pt x="1600225" y="97790"/>
                </a:lnTo>
                <a:lnTo>
                  <a:pt x="1606245" y="95250"/>
                </a:lnTo>
                <a:lnTo>
                  <a:pt x="1606067" y="95250"/>
                </a:lnTo>
                <a:lnTo>
                  <a:pt x="1611909" y="92709"/>
                </a:lnTo>
                <a:lnTo>
                  <a:pt x="1611731" y="92709"/>
                </a:lnTo>
                <a:lnTo>
                  <a:pt x="1617395" y="90169"/>
                </a:lnTo>
                <a:lnTo>
                  <a:pt x="1617205" y="90169"/>
                </a:lnTo>
                <a:lnTo>
                  <a:pt x="1622678" y="87630"/>
                </a:lnTo>
                <a:lnTo>
                  <a:pt x="1622501" y="87630"/>
                </a:lnTo>
                <a:lnTo>
                  <a:pt x="1627771" y="83819"/>
                </a:lnTo>
                <a:lnTo>
                  <a:pt x="1627593" y="83819"/>
                </a:lnTo>
                <a:lnTo>
                  <a:pt x="1632661" y="80009"/>
                </a:lnTo>
                <a:lnTo>
                  <a:pt x="1632483" y="80009"/>
                </a:lnTo>
                <a:lnTo>
                  <a:pt x="1637334" y="76200"/>
                </a:lnTo>
                <a:lnTo>
                  <a:pt x="1637169" y="76200"/>
                </a:lnTo>
                <a:lnTo>
                  <a:pt x="1641792" y="72390"/>
                </a:lnTo>
                <a:lnTo>
                  <a:pt x="1641614" y="72390"/>
                </a:lnTo>
                <a:lnTo>
                  <a:pt x="1646008" y="68580"/>
                </a:lnTo>
                <a:lnTo>
                  <a:pt x="1645843" y="68580"/>
                </a:lnTo>
                <a:lnTo>
                  <a:pt x="1649983" y="64769"/>
                </a:lnTo>
                <a:lnTo>
                  <a:pt x="1649831" y="64769"/>
                </a:lnTo>
                <a:lnTo>
                  <a:pt x="1653717" y="59690"/>
                </a:lnTo>
                <a:lnTo>
                  <a:pt x="1653565" y="60959"/>
                </a:lnTo>
                <a:lnTo>
                  <a:pt x="1665579" y="60959"/>
                </a:lnTo>
                <a:lnTo>
                  <a:pt x="1664703" y="62230"/>
                </a:lnTo>
                <a:lnTo>
                  <a:pt x="1660918" y="66040"/>
                </a:lnTo>
                <a:lnTo>
                  <a:pt x="1656854" y="71119"/>
                </a:lnTo>
                <a:lnTo>
                  <a:pt x="1652714" y="74930"/>
                </a:lnTo>
                <a:lnTo>
                  <a:pt x="1621815" y="99059"/>
                </a:lnTo>
                <a:lnTo>
                  <a:pt x="1577314" y="114300"/>
                </a:lnTo>
                <a:lnTo>
                  <a:pt x="1570367" y="116840"/>
                </a:lnTo>
                <a:lnTo>
                  <a:pt x="1563293" y="116840"/>
                </a:lnTo>
                <a:lnTo>
                  <a:pt x="1556118" y="118109"/>
                </a:lnTo>
                <a:lnTo>
                  <a:pt x="975690" y="118109"/>
                </a:lnTo>
                <a:lnTo>
                  <a:pt x="968603" y="119380"/>
                </a:lnTo>
                <a:lnTo>
                  <a:pt x="962012" y="119380"/>
                </a:lnTo>
                <a:lnTo>
                  <a:pt x="955128" y="120650"/>
                </a:lnTo>
                <a:lnTo>
                  <a:pt x="955332" y="120650"/>
                </a:lnTo>
                <a:lnTo>
                  <a:pt x="948575" y="121919"/>
                </a:lnTo>
                <a:lnTo>
                  <a:pt x="948766" y="121919"/>
                </a:lnTo>
                <a:lnTo>
                  <a:pt x="942149" y="123190"/>
                </a:lnTo>
                <a:lnTo>
                  <a:pt x="942339" y="123190"/>
                </a:lnTo>
                <a:lnTo>
                  <a:pt x="935850" y="125730"/>
                </a:lnTo>
                <a:lnTo>
                  <a:pt x="936040" y="125730"/>
                </a:lnTo>
                <a:lnTo>
                  <a:pt x="929703" y="127000"/>
                </a:lnTo>
                <a:lnTo>
                  <a:pt x="929894" y="127000"/>
                </a:lnTo>
                <a:lnTo>
                  <a:pt x="923709" y="129540"/>
                </a:lnTo>
                <a:lnTo>
                  <a:pt x="923899" y="129540"/>
                </a:lnTo>
                <a:lnTo>
                  <a:pt x="917879" y="132080"/>
                </a:lnTo>
                <a:lnTo>
                  <a:pt x="918057" y="132080"/>
                </a:lnTo>
                <a:lnTo>
                  <a:pt x="912215" y="134619"/>
                </a:lnTo>
                <a:lnTo>
                  <a:pt x="912393" y="134619"/>
                </a:lnTo>
                <a:lnTo>
                  <a:pt x="906729" y="137159"/>
                </a:lnTo>
                <a:lnTo>
                  <a:pt x="906919" y="137159"/>
                </a:lnTo>
                <a:lnTo>
                  <a:pt x="901446" y="140969"/>
                </a:lnTo>
                <a:lnTo>
                  <a:pt x="901623" y="140969"/>
                </a:lnTo>
                <a:lnTo>
                  <a:pt x="896353" y="143509"/>
                </a:lnTo>
                <a:lnTo>
                  <a:pt x="896531" y="143509"/>
                </a:lnTo>
                <a:lnTo>
                  <a:pt x="891463" y="147319"/>
                </a:lnTo>
                <a:lnTo>
                  <a:pt x="891641" y="147319"/>
                </a:lnTo>
                <a:lnTo>
                  <a:pt x="886790" y="151130"/>
                </a:lnTo>
                <a:lnTo>
                  <a:pt x="886955" y="151130"/>
                </a:lnTo>
                <a:lnTo>
                  <a:pt x="882332" y="154940"/>
                </a:lnTo>
                <a:lnTo>
                  <a:pt x="882510" y="154940"/>
                </a:lnTo>
                <a:lnTo>
                  <a:pt x="878116" y="158750"/>
                </a:lnTo>
                <a:lnTo>
                  <a:pt x="878281" y="158750"/>
                </a:lnTo>
                <a:lnTo>
                  <a:pt x="874140" y="162559"/>
                </a:lnTo>
                <a:lnTo>
                  <a:pt x="874293" y="162559"/>
                </a:lnTo>
                <a:lnTo>
                  <a:pt x="870407" y="167639"/>
                </a:lnTo>
                <a:lnTo>
                  <a:pt x="870559" y="167639"/>
                </a:lnTo>
                <a:lnTo>
                  <a:pt x="866927" y="171450"/>
                </a:lnTo>
                <a:lnTo>
                  <a:pt x="867067" y="171450"/>
                </a:lnTo>
                <a:lnTo>
                  <a:pt x="863714" y="176530"/>
                </a:lnTo>
                <a:lnTo>
                  <a:pt x="863853" y="176530"/>
                </a:lnTo>
                <a:lnTo>
                  <a:pt x="861539" y="180339"/>
                </a:lnTo>
                <a:lnTo>
                  <a:pt x="860894" y="180339"/>
                </a:lnTo>
                <a:lnTo>
                  <a:pt x="858100" y="185419"/>
                </a:lnTo>
                <a:lnTo>
                  <a:pt x="855726" y="190500"/>
                </a:lnTo>
                <a:lnTo>
                  <a:pt x="853643" y="195580"/>
                </a:lnTo>
                <a:lnTo>
                  <a:pt x="851852" y="200660"/>
                </a:lnTo>
                <a:lnTo>
                  <a:pt x="850691" y="205739"/>
                </a:lnTo>
                <a:lnTo>
                  <a:pt x="850455" y="205739"/>
                </a:lnTo>
                <a:lnTo>
                  <a:pt x="849469" y="210819"/>
                </a:lnTo>
                <a:lnTo>
                  <a:pt x="849274" y="210819"/>
                </a:lnTo>
                <a:lnTo>
                  <a:pt x="848385" y="217169"/>
                </a:lnTo>
                <a:lnTo>
                  <a:pt x="847890" y="222250"/>
                </a:lnTo>
                <a:lnTo>
                  <a:pt x="847725" y="228600"/>
                </a:lnTo>
                <a:close/>
              </a:path>
              <a:path w="1685925" h="232410">
                <a:moveTo>
                  <a:pt x="835545" y="207010"/>
                </a:moveTo>
                <a:lnTo>
                  <a:pt x="833983" y="200660"/>
                </a:lnTo>
                <a:lnTo>
                  <a:pt x="832180" y="195580"/>
                </a:lnTo>
                <a:lnTo>
                  <a:pt x="830084" y="190500"/>
                </a:lnTo>
                <a:lnTo>
                  <a:pt x="827697" y="185419"/>
                </a:lnTo>
                <a:lnTo>
                  <a:pt x="825030" y="180339"/>
                </a:lnTo>
                <a:lnTo>
                  <a:pt x="835520" y="180339"/>
                </a:lnTo>
                <a:lnTo>
                  <a:pt x="836282" y="181610"/>
                </a:lnTo>
                <a:lnTo>
                  <a:pt x="838885" y="186689"/>
                </a:lnTo>
                <a:lnTo>
                  <a:pt x="841184" y="193039"/>
                </a:lnTo>
                <a:lnTo>
                  <a:pt x="842991" y="197702"/>
                </a:lnTo>
                <a:lnTo>
                  <a:pt x="841209" y="203200"/>
                </a:lnTo>
                <a:lnTo>
                  <a:pt x="840691" y="205739"/>
                </a:lnTo>
                <a:lnTo>
                  <a:pt x="835469" y="205739"/>
                </a:lnTo>
                <a:lnTo>
                  <a:pt x="835545" y="207010"/>
                </a:lnTo>
                <a:close/>
              </a:path>
              <a:path w="1685925" h="232410">
                <a:moveTo>
                  <a:pt x="860767" y="181610"/>
                </a:moveTo>
                <a:lnTo>
                  <a:pt x="860894" y="180339"/>
                </a:lnTo>
                <a:lnTo>
                  <a:pt x="861539" y="180339"/>
                </a:lnTo>
                <a:lnTo>
                  <a:pt x="860767" y="181610"/>
                </a:lnTo>
                <a:close/>
              </a:path>
              <a:path w="1685925" h="232410">
                <a:moveTo>
                  <a:pt x="845299" y="232410"/>
                </a:moveTo>
                <a:lnTo>
                  <a:pt x="840625" y="232410"/>
                </a:lnTo>
                <a:lnTo>
                  <a:pt x="839368" y="231139"/>
                </a:lnTo>
                <a:lnTo>
                  <a:pt x="838530" y="229869"/>
                </a:lnTo>
                <a:lnTo>
                  <a:pt x="838200" y="228600"/>
                </a:lnTo>
                <a:lnTo>
                  <a:pt x="838377" y="222250"/>
                </a:lnTo>
                <a:lnTo>
                  <a:pt x="838974" y="215900"/>
                </a:lnTo>
                <a:lnTo>
                  <a:pt x="839914" y="209550"/>
                </a:lnTo>
                <a:lnTo>
                  <a:pt x="841209" y="203200"/>
                </a:lnTo>
                <a:lnTo>
                  <a:pt x="842991" y="197702"/>
                </a:lnTo>
                <a:lnTo>
                  <a:pt x="843152" y="198119"/>
                </a:lnTo>
                <a:lnTo>
                  <a:pt x="847725" y="228600"/>
                </a:lnTo>
                <a:lnTo>
                  <a:pt x="847394" y="229869"/>
                </a:lnTo>
                <a:lnTo>
                  <a:pt x="846556" y="231139"/>
                </a:lnTo>
                <a:lnTo>
                  <a:pt x="845299" y="232410"/>
                </a:lnTo>
                <a:close/>
              </a:path>
              <a:path w="1685925" h="232410">
                <a:moveTo>
                  <a:pt x="836701" y="212089"/>
                </a:moveTo>
                <a:lnTo>
                  <a:pt x="835469" y="205739"/>
                </a:lnTo>
                <a:lnTo>
                  <a:pt x="840691" y="205739"/>
                </a:lnTo>
                <a:lnTo>
                  <a:pt x="839914" y="209550"/>
                </a:lnTo>
                <a:lnTo>
                  <a:pt x="839726" y="210819"/>
                </a:lnTo>
                <a:lnTo>
                  <a:pt x="836650" y="210819"/>
                </a:lnTo>
                <a:lnTo>
                  <a:pt x="836701" y="212089"/>
                </a:lnTo>
                <a:close/>
              </a:path>
              <a:path w="1685925" h="232410">
                <a:moveTo>
                  <a:pt x="850379" y="207010"/>
                </a:moveTo>
                <a:lnTo>
                  <a:pt x="850455" y="205739"/>
                </a:lnTo>
                <a:lnTo>
                  <a:pt x="850691" y="205739"/>
                </a:lnTo>
                <a:lnTo>
                  <a:pt x="850379" y="207010"/>
                </a:lnTo>
                <a:close/>
              </a:path>
              <a:path w="1685925" h="232410">
                <a:moveTo>
                  <a:pt x="838200" y="228600"/>
                </a:moveTo>
                <a:lnTo>
                  <a:pt x="838022" y="222250"/>
                </a:lnTo>
                <a:lnTo>
                  <a:pt x="837501" y="217169"/>
                </a:lnTo>
                <a:lnTo>
                  <a:pt x="836650" y="210819"/>
                </a:lnTo>
                <a:lnTo>
                  <a:pt x="839726" y="210819"/>
                </a:lnTo>
                <a:lnTo>
                  <a:pt x="838974" y="215900"/>
                </a:lnTo>
                <a:lnTo>
                  <a:pt x="838377" y="222250"/>
                </a:lnTo>
                <a:lnTo>
                  <a:pt x="838200" y="228600"/>
                </a:lnTo>
                <a:close/>
              </a:path>
              <a:path w="1685925" h="232410">
                <a:moveTo>
                  <a:pt x="849223" y="212089"/>
                </a:moveTo>
                <a:lnTo>
                  <a:pt x="849274" y="210819"/>
                </a:lnTo>
                <a:lnTo>
                  <a:pt x="849469" y="210819"/>
                </a:lnTo>
                <a:lnTo>
                  <a:pt x="849223" y="2120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06887" y="1507883"/>
            <a:ext cx="923925" cy="810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11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23</a:t>
            </a:fld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2597785"/>
            <a:ext cx="6122035" cy="15868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34988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Checking view serializability is  expensive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Still, </a:t>
            </a:r>
            <a:r>
              <a:rPr sz="3200" spc="-35" dirty="0">
                <a:latin typeface="Tahoma"/>
                <a:cs typeface="Tahoma"/>
              </a:rPr>
              <a:t>V-S </a:t>
            </a:r>
            <a:r>
              <a:rPr sz="3200" spc="-10" dirty="0">
                <a:latin typeface="Tahoma"/>
                <a:cs typeface="Tahoma"/>
              </a:rPr>
              <a:t>useful </a:t>
            </a:r>
            <a:r>
              <a:rPr sz="3200" spc="-5" dirty="0">
                <a:latin typeface="Tahoma"/>
                <a:cs typeface="Tahoma"/>
              </a:rPr>
              <a:t>in some</a:t>
            </a:r>
            <a:r>
              <a:rPr sz="3200" spc="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cases...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11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24</a:t>
            </a:fld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891540"/>
            <a:ext cx="66992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59914" algn="l"/>
              </a:tabLst>
            </a:pPr>
            <a:r>
              <a:rPr sz="36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Example	</a:t>
            </a:r>
            <a:r>
              <a:rPr sz="3600" u="heavy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on </a:t>
            </a:r>
            <a:r>
              <a:rPr sz="36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useless</a:t>
            </a:r>
            <a:r>
              <a:rPr sz="3600" u="heavy" spc="-5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3600" u="heavy" spc="-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transactions: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11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252334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ahoma"/>
                <a:cs typeface="Tahoma"/>
              </a:rPr>
              <a:t>S = </a:t>
            </a:r>
            <a:r>
              <a:rPr sz="3200" spc="-5" dirty="0">
                <a:latin typeface="Tahoma"/>
                <a:cs typeface="Tahoma"/>
              </a:rPr>
              <a:t>w</a:t>
            </a:r>
            <a:r>
              <a:rPr sz="24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(A) r</a:t>
            </a:r>
            <a:r>
              <a:rPr sz="24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(A) w</a:t>
            </a:r>
            <a:r>
              <a:rPr sz="2400" spc="-5" dirty="0">
                <a:latin typeface="Tahoma"/>
                <a:cs typeface="Tahoma"/>
              </a:rPr>
              <a:t>2</a:t>
            </a:r>
            <a:r>
              <a:rPr sz="3200" spc="-5" dirty="0">
                <a:latin typeface="Tahoma"/>
                <a:cs typeface="Tahoma"/>
              </a:rPr>
              <a:t>(B) r</a:t>
            </a:r>
            <a:r>
              <a:rPr sz="24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Tahoma"/>
                <a:cs typeface="Tahoma"/>
              </a:rPr>
              <a:t>(B) w</a:t>
            </a:r>
            <a:r>
              <a:rPr sz="2400" spc="-5" dirty="0">
                <a:latin typeface="Tahoma"/>
                <a:cs typeface="Tahoma"/>
              </a:rPr>
              <a:t>3</a:t>
            </a:r>
            <a:r>
              <a:rPr sz="3200" spc="-5" dirty="0">
                <a:latin typeface="Tahoma"/>
                <a:cs typeface="Tahoma"/>
              </a:rPr>
              <a:t>(A)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w</a:t>
            </a:r>
            <a:r>
              <a:rPr sz="2400" spc="-5" dirty="0">
                <a:latin typeface="Tahoma"/>
                <a:cs typeface="Tahoma"/>
              </a:rPr>
              <a:t>3</a:t>
            </a:r>
            <a:r>
              <a:rPr sz="3200" spc="-5" dirty="0">
                <a:latin typeface="Tahoma"/>
                <a:cs typeface="Tahoma"/>
              </a:rPr>
              <a:t>(B)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0865" y="987424"/>
            <a:ext cx="78644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</a:t>
            </a:r>
            <a:r>
              <a:rPr sz="2400" spc="-5" dirty="0"/>
              <a:t>b </a:t>
            </a:r>
            <a:r>
              <a:rPr spc="-5" dirty="0"/>
              <a:t>w</a:t>
            </a:r>
            <a:r>
              <a:rPr sz="2400" spc="-5" dirty="0"/>
              <a:t>1</a:t>
            </a:r>
            <a:r>
              <a:rPr spc="-5" dirty="0"/>
              <a:t>(A)</a:t>
            </a:r>
            <a:r>
              <a:rPr sz="2400" spc="-5" dirty="0">
                <a:latin typeface="Symbol"/>
                <a:cs typeface="Symbol"/>
              </a:rPr>
              <a:t></a:t>
            </a:r>
            <a:r>
              <a:rPr spc="-5" dirty="0"/>
              <a:t>r</a:t>
            </a:r>
            <a:r>
              <a:rPr sz="2400" spc="-5" dirty="0"/>
              <a:t>2</a:t>
            </a:r>
            <a:r>
              <a:rPr spc="-5" dirty="0"/>
              <a:t>(A)w</a:t>
            </a:r>
            <a:r>
              <a:rPr sz="2400" spc="-5" dirty="0"/>
              <a:t>2</a:t>
            </a:r>
            <a:r>
              <a:rPr spc="-5" dirty="0"/>
              <a:t>(B)</a:t>
            </a:r>
            <a:r>
              <a:rPr sz="2400" spc="-5" dirty="0">
                <a:latin typeface="Symbol"/>
                <a:cs typeface="Symbol"/>
              </a:rPr>
              <a:t></a:t>
            </a:r>
            <a:r>
              <a:rPr spc="-5" dirty="0"/>
              <a:t>r</a:t>
            </a:r>
            <a:r>
              <a:rPr sz="2400" spc="-5" dirty="0"/>
              <a:t>1</a:t>
            </a:r>
            <a:r>
              <a:rPr spc="-5" dirty="0"/>
              <a:t>(B) w</a:t>
            </a:r>
            <a:r>
              <a:rPr sz="2400" spc="-5" dirty="0"/>
              <a:t>3</a:t>
            </a:r>
            <a:r>
              <a:rPr spc="-5" dirty="0"/>
              <a:t>(A)w</a:t>
            </a:r>
            <a:r>
              <a:rPr sz="2400" spc="-5" dirty="0"/>
              <a:t>3</a:t>
            </a:r>
            <a:r>
              <a:rPr spc="-5" dirty="0"/>
              <a:t>(B)</a:t>
            </a:r>
            <a:r>
              <a:rPr spc="-495" dirty="0"/>
              <a:t> </a:t>
            </a:r>
            <a:r>
              <a:rPr sz="2400" spc="-5" dirty="0">
                <a:latin typeface="Symbol"/>
                <a:cs typeface="Symbol"/>
              </a:rPr>
              <a:t></a:t>
            </a:r>
            <a:r>
              <a:rPr spc="-5" dirty="0"/>
              <a:t>T</a:t>
            </a:r>
            <a:r>
              <a:rPr sz="2400" spc="-5" dirty="0"/>
              <a:t>f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286213" y="2747962"/>
            <a:ext cx="237490" cy="840740"/>
          </a:xfrm>
          <a:custGeom>
            <a:avLst/>
            <a:gdLst/>
            <a:ahLst/>
            <a:cxnLst/>
            <a:rect l="l" t="t" r="r" b="b"/>
            <a:pathLst>
              <a:path w="237489" h="840739">
                <a:moveTo>
                  <a:pt x="181614" y="56208"/>
                </a:moveTo>
                <a:lnTo>
                  <a:pt x="155663" y="35128"/>
                </a:lnTo>
                <a:lnTo>
                  <a:pt x="233273" y="0"/>
                </a:lnTo>
                <a:lnTo>
                  <a:pt x="224087" y="41376"/>
                </a:lnTo>
                <a:lnTo>
                  <a:pt x="193535" y="41376"/>
                </a:lnTo>
                <a:lnTo>
                  <a:pt x="181614" y="56208"/>
                </a:lnTo>
                <a:close/>
              </a:path>
              <a:path w="237489" h="840739">
                <a:moveTo>
                  <a:pt x="189004" y="62211"/>
                </a:moveTo>
                <a:lnTo>
                  <a:pt x="181614" y="56208"/>
                </a:lnTo>
                <a:lnTo>
                  <a:pt x="193535" y="41376"/>
                </a:lnTo>
                <a:lnTo>
                  <a:pt x="200952" y="47345"/>
                </a:lnTo>
                <a:lnTo>
                  <a:pt x="189004" y="62211"/>
                </a:lnTo>
                <a:close/>
              </a:path>
              <a:path w="237489" h="840739">
                <a:moveTo>
                  <a:pt x="214807" y="83172"/>
                </a:moveTo>
                <a:lnTo>
                  <a:pt x="189004" y="62211"/>
                </a:lnTo>
                <a:lnTo>
                  <a:pt x="200952" y="47345"/>
                </a:lnTo>
                <a:lnTo>
                  <a:pt x="193535" y="41376"/>
                </a:lnTo>
                <a:lnTo>
                  <a:pt x="224087" y="41376"/>
                </a:lnTo>
                <a:lnTo>
                  <a:pt x="214807" y="83172"/>
                </a:lnTo>
                <a:close/>
              </a:path>
              <a:path w="237489" h="840739">
                <a:moveTo>
                  <a:pt x="220197" y="808634"/>
                </a:moveTo>
                <a:lnTo>
                  <a:pt x="208635" y="808634"/>
                </a:lnTo>
                <a:lnTo>
                  <a:pt x="194157" y="788327"/>
                </a:lnTo>
                <a:lnTo>
                  <a:pt x="177634" y="765695"/>
                </a:lnTo>
                <a:lnTo>
                  <a:pt x="140309" y="714489"/>
                </a:lnTo>
                <a:lnTo>
                  <a:pt x="110604" y="672134"/>
                </a:lnTo>
                <a:lnTo>
                  <a:pt x="81292" y="627519"/>
                </a:lnTo>
                <a:lnTo>
                  <a:pt x="54089" y="581685"/>
                </a:lnTo>
                <a:lnTo>
                  <a:pt x="30670" y="535609"/>
                </a:lnTo>
                <a:lnTo>
                  <a:pt x="15303" y="497789"/>
                </a:lnTo>
                <a:lnTo>
                  <a:pt x="4749" y="460997"/>
                </a:lnTo>
                <a:lnTo>
                  <a:pt x="0" y="412495"/>
                </a:lnTo>
                <a:lnTo>
                  <a:pt x="253" y="405701"/>
                </a:lnTo>
                <a:lnTo>
                  <a:pt x="5156" y="365721"/>
                </a:lnTo>
                <a:lnTo>
                  <a:pt x="15379" y="325894"/>
                </a:lnTo>
                <a:lnTo>
                  <a:pt x="30327" y="286181"/>
                </a:lnTo>
                <a:lnTo>
                  <a:pt x="49415" y="246557"/>
                </a:lnTo>
                <a:lnTo>
                  <a:pt x="72072" y="207022"/>
                </a:lnTo>
                <a:lnTo>
                  <a:pt x="97726" y="167551"/>
                </a:lnTo>
                <a:lnTo>
                  <a:pt x="125806" y="128104"/>
                </a:lnTo>
                <a:lnTo>
                  <a:pt x="166027" y="75603"/>
                </a:lnTo>
                <a:lnTo>
                  <a:pt x="181614" y="56208"/>
                </a:lnTo>
                <a:lnTo>
                  <a:pt x="189004" y="62211"/>
                </a:lnTo>
                <a:lnTo>
                  <a:pt x="173445" y="81572"/>
                </a:lnTo>
                <a:lnTo>
                  <a:pt x="153098" y="107695"/>
                </a:lnTo>
                <a:lnTo>
                  <a:pt x="123890" y="146875"/>
                </a:lnTo>
                <a:lnTo>
                  <a:pt x="96783" y="186016"/>
                </a:lnTo>
                <a:lnTo>
                  <a:pt x="72333" y="225094"/>
                </a:lnTo>
                <a:lnTo>
                  <a:pt x="51100" y="264121"/>
                </a:lnTo>
                <a:lnTo>
                  <a:pt x="33653" y="303047"/>
                </a:lnTo>
                <a:lnTo>
                  <a:pt x="20540" y="341883"/>
                </a:lnTo>
                <a:lnTo>
                  <a:pt x="12303" y="380555"/>
                </a:lnTo>
                <a:lnTo>
                  <a:pt x="9440" y="419201"/>
                </a:lnTo>
                <a:lnTo>
                  <a:pt x="9563" y="425411"/>
                </a:lnTo>
                <a:lnTo>
                  <a:pt x="9958" y="431926"/>
                </a:lnTo>
                <a:lnTo>
                  <a:pt x="10639" y="438708"/>
                </a:lnTo>
                <a:lnTo>
                  <a:pt x="11523" y="445274"/>
                </a:lnTo>
                <a:lnTo>
                  <a:pt x="12674" y="452081"/>
                </a:lnTo>
                <a:lnTo>
                  <a:pt x="14088" y="459117"/>
                </a:lnTo>
                <a:lnTo>
                  <a:pt x="26941" y="501916"/>
                </a:lnTo>
                <a:lnTo>
                  <a:pt x="32794" y="516699"/>
                </a:lnTo>
                <a:lnTo>
                  <a:pt x="39339" y="531660"/>
                </a:lnTo>
                <a:lnTo>
                  <a:pt x="46503" y="546722"/>
                </a:lnTo>
                <a:lnTo>
                  <a:pt x="54215" y="561873"/>
                </a:lnTo>
                <a:lnTo>
                  <a:pt x="62423" y="577062"/>
                </a:lnTo>
                <a:lnTo>
                  <a:pt x="71101" y="592327"/>
                </a:lnTo>
                <a:lnTo>
                  <a:pt x="80107" y="607466"/>
                </a:lnTo>
                <a:lnTo>
                  <a:pt x="89397" y="622515"/>
                </a:lnTo>
                <a:lnTo>
                  <a:pt x="98913" y="637400"/>
                </a:lnTo>
                <a:lnTo>
                  <a:pt x="108636" y="652183"/>
                </a:lnTo>
                <a:lnTo>
                  <a:pt x="118504" y="666800"/>
                </a:lnTo>
                <a:lnTo>
                  <a:pt x="128361" y="681101"/>
                </a:lnTo>
                <a:lnTo>
                  <a:pt x="148084" y="708977"/>
                </a:lnTo>
                <a:lnTo>
                  <a:pt x="167226" y="735393"/>
                </a:lnTo>
                <a:lnTo>
                  <a:pt x="189427" y="765708"/>
                </a:lnTo>
                <a:lnTo>
                  <a:pt x="201904" y="782789"/>
                </a:lnTo>
                <a:lnTo>
                  <a:pt x="216395" y="803097"/>
                </a:lnTo>
                <a:lnTo>
                  <a:pt x="220197" y="808634"/>
                </a:lnTo>
                <a:close/>
              </a:path>
              <a:path w="237489" h="840739">
                <a:moveTo>
                  <a:pt x="173487" y="81518"/>
                </a:moveTo>
                <a:close/>
              </a:path>
              <a:path w="237489" h="840739">
                <a:moveTo>
                  <a:pt x="173445" y="81572"/>
                </a:moveTo>
                <a:close/>
              </a:path>
              <a:path w="237489" h="840739">
                <a:moveTo>
                  <a:pt x="153098" y="107695"/>
                </a:moveTo>
                <a:close/>
              </a:path>
              <a:path w="237489" h="840739">
                <a:moveTo>
                  <a:pt x="133446" y="133788"/>
                </a:moveTo>
                <a:close/>
              </a:path>
              <a:path w="237489" h="840739">
                <a:moveTo>
                  <a:pt x="133414" y="133832"/>
                </a:moveTo>
                <a:close/>
              </a:path>
              <a:path w="237489" h="840739">
                <a:moveTo>
                  <a:pt x="123890" y="146875"/>
                </a:moveTo>
                <a:close/>
              </a:path>
              <a:path w="237489" h="840739">
                <a:moveTo>
                  <a:pt x="114594" y="159931"/>
                </a:moveTo>
                <a:close/>
              </a:path>
              <a:path w="237489" h="840739">
                <a:moveTo>
                  <a:pt x="105553" y="172974"/>
                </a:moveTo>
                <a:close/>
              </a:path>
              <a:path w="237489" h="840739">
                <a:moveTo>
                  <a:pt x="96783" y="186016"/>
                </a:moveTo>
                <a:close/>
              </a:path>
              <a:path w="237489" h="840739">
                <a:moveTo>
                  <a:pt x="88314" y="199047"/>
                </a:moveTo>
                <a:close/>
              </a:path>
              <a:path w="237489" h="840739">
                <a:moveTo>
                  <a:pt x="80154" y="212077"/>
                </a:moveTo>
                <a:close/>
              </a:path>
              <a:path w="237489" h="840739">
                <a:moveTo>
                  <a:pt x="72333" y="225094"/>
                </a:moveTo>
                <a:close/>
              </a:path>
              <a:path w="237489" h="840739">
                <a:moveTo>
                  <a:pt x="64919" y="238029"/>
                </a:moveTo>
                <a:close/>
              </a:path>
              <a:path w="237489" h="840739">
                <a:moveTo>
                  <a:pt x="64873" y="238112"/>
                </a:moveTo>
                <a:close/>
              </a:path>
              <a:path w="237489" h="840739">
                <a:moveTo>
                  <a:pt x="57785" y="251117"/>
                </a:moveTo>
                <a:close/>
              </a:path>
              <a:path w="237489" h="840739">
                <a:moveTo>
                  <a:pt x="51104" y="264121"/>
                </a:moveTo>
                <a:close/>
              </a:path>
              <a:path w="237489" h="840739">
                <a:moveTo>
                  <a:pt x="44843" y="277101"/>
                </a:moveTo>
                <a:close/>
              </a:path>
              <a:path w="237489" h="840739">
                <a:moveTo>
                  <a:pt x="39025" y="290080"/>
                </a:moveTo>
                <a:lnTo>
                  <a:pt x="39077" y="289953"/>
                </a:lnTo>
                <a:lnTo>
                  <a:pt x="39025" y="290080"/>
                </a:lnTo>
                <a:close/>
              </a:path>
              <a:path w="237489" h="840739">
                <a:moveTo>
                  <a:pt x="33654" y="303047"/>
                </a:moveTo>
                <a:lnTo>
                  <a:pt x="33705" y="302907"/>
                </a:lnTo>
                <a:lnTo>
                  <a:pt x="33654" y="303047"/>
                </a:lnTo>
                <a:close/>
              </a:path>
              <a:path w="237489" h="840739">
                <a:moveTo>
                  <a:pt x="28778" y="316001"/>
                </a:moveTo>
                <a:lnTo>
                  <a:pt x="28828" y="315849"/>
                </a:lnTo>
                <a:lnTo>
                  <a:pt x="28778" y="316001"/>
                </a:lnTo>
                <a:close/>
              </a:path>
              <a:path w="237489" h="840739">
                <a:moveTo>
                  <a:pt x="24409" y="328917"/>
                </a:moveTo>
                <a:lnTo>
                  <a:pt x="24447" y="328790"/>
                </a:lnTo>
                <a:lnTo>
                  <a:pt x="24409" y="328917"/>
                </a:lnTo>
                <a:close/>
              </a:path>
              <a:path w="237489" h="840739">
                <a:moveTo>
                  <a:pt x="24398" y="328955"/>
                </a:moveTo>
                <a:close/>
              </a:path>
              <a:path w="237489" h="840739">
                <a:moveTo>
                  <a:pt x="20572" y="341761"/>
                </a:moveTo>
                <a:close/>
              </a:path>
              <a:path w="237489" h="840739">
                <a:moveTo>
                  <a:pt x="20540" y="341883"/>
                </a:moveTo>
                <a:close/>
              </a:path>
              <a:path w="237489" h="840739">
                <a:moveTo>
                  <a:pt x="17231" y="354799"/>
                </a:moveTo>
                <a:lnTo>
                  <a:pt x="17272" y="354609"/>
                </a:lnTo>
                <a:lnTo>
                  <a:pt x="17231" y="354799"/>
                </a:lnTo>
                <a:close/>
              </a:path>
              <a:path w="237489" h="840739">
                <a:moveTo>
                  <a:pt x="14466" y="367697"/>
                </a:moveTo>
                <a:lnTo>
                  <a:pt x="14490" y="367563"/>
                </a:lnTo>
                <a:lnTo>
                  <a:pt x="14466" y="367697"/>
                </a:lnTo>
                <a:close/>
              </a:path>
              <a:path w="237489" h="840739">
                <a:moveTo>
                  <a:pt x="14465" y="367703"/>
                </a:moveTo>
                <a:close/>
              </a:path>
              <a:path w="237489" h="840739">
                <a:moveTo>
                  <a:pt x="13318" y="374103"/>
                </a:moveTo>
                <a:close/>
              </a:path>
              <a:path w="237489" h="840739">
                <a:moveTo>
                  <a:pt x="12303" y="380555"/>
                </a:moveTo>
                <a:close/>
              </a:path>
              <a:path w="237489" h="840739">
                <a:moveTo>
                  <a:pt x="11430" y="386991"/>
                </a:moveTo>
                <a:close/>
              </a:path>
              <a:path w="237489" h="840739">
                <a:moveTo>
                  <a:pt x="11430" y="386994"/>
                </a:moveTo>
                <a:close/>
              </a:path>
              <a:path w="237489" h="840739">
                <a:moveTo>
                  <a:pt x="10721" y="393433"/>
                </a:moveTo>
                <a:close/>
              </a:path>
              <a:path w="237489" h="840739">
                <a:moveTo>
                  <a:pt x="10165" y="399872"/>
                </a:moveTo>
                <a:close/>
              </a:path>
              <a:path w="237489" h="840739">
                <a:moveTo>
                  <a:pt x="9761" y="406298"/>
                </a:moveTo>
                <a:close/>
              </a:path>
              <a:path w="237489" h="840739">
                <a:moveTo>
                  <a:pt x="9523" y="412737"/>
                </a:moveTo>
                <a:close/>
              </a:path>
              <a:path w="237489" h="840739">
                <a:moveTo>
                  <a:pt x="177634" y="765708"/>
                </a:moveTo>
                <a:close/>
              </a:path>
              <a:path w="237489" h="840739">
                <a:moveTo>
                  <a:pt x="226312" y="817740"/>
                </a:moveTo>
                <a:lnTo>
                  <a:pt x="214896" y="817740"/>
                </a:lnTo>
                <a:lnTo>
                  <a:pt x="208584" y="808570"/>
                </a:lnTo>
                <a:lnTo>
                  <a:pt x="220197" y="808634"/>
                </a:lnTo>
                <a:lnTo>
                  <a:pt x="222796" y="812419"/>
                </a:lnTo>
                <a:lnTo>
                  <a:pt x="226312" y="817740"/>
                </a:lnTo>
                <a:close/>
              </a:path>
              <a:path w="237489" h="840739">
                <a:moveTo>
                  <a:pt x="236222" y="833780"/>
                </a:moveTo>
                <a:lnTo>
                  <a:pt x="225234" y="833780"/>
                </a:lnTo>
                <a:lnTo>
                  <a:pt x="220395" y="826046"/>
                </a:lnTo>
                <a:lnTo>
                  <a:pt x="214845" y="817676"/>
                </a:lnTo>
                <a:lnTo>
                  <a:pt x="226312" y="817740"/>
                </a:lnTo>
                <a:lnTo>
                  <a:pt x="228460" y="820991"/>
                </a:lnTo>
                <a:lnTo>
                  <a:pt x="233387" y="828865"/>
                </a:lnTo>
                <a:lnTo>
                  <a:pt x="236222" y="833780"/>
                </a:lnTo>
                <a:close/>
              </a:path>
              <a:path w="237489" h="840739">
                <a:moveTo>
                  <a:pt x="229146" y="840574"/>
                </a:moveTo>
                <a:lnTo>
                  <a:pt x="225220" y="833757"/>
                </a:lnTo>
                <a:lnTo>
                  <a:pt x="236222" y="833780"/>
                </a:lnTo>
                <a:lnTo>
                  <a:pt x="237401" y="835825"/>
                </a:lnTo>
                <a:lnTo>
                  <a:pt x="229146" y="8405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005897" y="2697327"/>
            <a:ext cx="237490" cy="843915"/>
          </a:xfrm>
          <a:custGeom>
            <a:avLst/>
            <a:gdLst/>
            <a:ahLst/>
            <a:cxnLst/>
            <a:rect l="l" t="t" r="r" b="b"/>
            <a:pathLst>
              <a:path w="237489" h="843914">
                <a:moveTo>
                  <a:pt x="55258" y="58407"/>
                </a:moveTo>
                <a:lnTo>
                  <a:pt x="43078" y="58407"/>
                </a:lnTo>
                <a:lnTo>
                  <a:pt x="431" y="6019"/>
                </a:lnTo>
                <a:lnTo>
                  <a:pt x="7823" y="0"/>
                </a:lnTo>
                <a:lnTo>
                  <a:pt x="50457" y="52387"/>
                </a:lnTo>
                <a:lnTo>
                  <a:pt x="55258" y="58407"/>
                </a:lnTo>
                <a:close/>
              </a:path>
              <a:path w="237489" h="843914">
                <a:moveTo>
                  <a:pt x="76005" y="84556"/>
                </a:moveTo>
                <a:lnTo>
                  <a:pt x="63944" y="84556"/>
                </a:lnTo>
                <a:lnTo>
                  <a:pt x="43040" y="58369"/>
                </a:lnTo>
                <a:lnTo>
                  <a:pt x="55258" y="58407"/>
                </a:lnTo>
                <a:lnTo>
                  <a:pt x="71386" y="78625"/>
                </a:lnTo>
                <a:lnTo>
                  <a:pt x="76005" y="84556"/>
                </a:lnTo>
                <a:close/>
              </a:path>
              <a:path w="237489" h="843914">
                <a:moveTo>
                  <a:pt x="96221" y="110705"/>
                </a:moveTo>
                <a:lnTo>
                  <a:pt x="84315" y="110705"/>
                </a:lnTo>
                <a:lnTo>
                  <a:pt x="63906" y="84518"/>
                </a:lnTo>
                <a:lnTo>
                  <a:pt x="76005" y="84556"/>
                </a:lnTo>
                <a:lnTo>
                  <a:pt x="91820" y="104863"/>
                </a:lnTo>
                <a:lnTo>
                  <a:pt x="96221" y="110705"/>
                </a:lnTo>
                <a:close/>
              </a:path>
              <a:path w="237489" h="843914">
                <a:moveTo>
                  <a:pt x="115780" y="136842"/>
                </a:moveTo>
                <a:lnTo>
                  <a:pt x="103987" y="136842"/>
                </a:lnTo>
                <a:lnTo>
                  <a:pt x="84264" y="110655"/>
                </a:lnTo>
                <a:lnTo>
                  <a:pt x="96221" y="110705"/>
                </a:lnTo>
                <a:lnTo>
                  <a:pt x="111594" y="131114"/>
                </a:lnTo>
                <a:lnTo>
                  <a:pt x="115780" y="136842"/>
                </a:lnTo>
                <a:close/>
              </a:path>
              <a:path w="237489" h="843914">
                <a:moveTo>
                  <a:pt x="125209" y="149885"/>
                </a:moveTo>
                <a:lnTo>
                  <a:pt x="113512" y="149885"/>
                </a:lnTo>
                <a:lnTo>
                  <a:pt x="103954" y="136798"/>
                </a:lnTo>
                <a:lnTo>
                  <a:pt x="115780" y="136842"/>
                </a:lnTo>
                <a:lnTo>
                  <a:pt x="121208" y="144271"/>
                </a:lnTo>
                <a:lnTo>
                  <a:pt x="125209" y="149885"/>
                </a:lnTo>
                <a:close/>
              </a:path>
              <a:path w="237489" h="843914">
                <a:moveTo>
                  <a:pt x="134406" y="162940"/>
                </a:moveTo>
                <a:lnTo>
                  <a:pt x="122809" y="162940"/>
                </a:lnTo>
                <a:lnTo>
                  <a:pt x="113474" y="149834"/>
                </a:lnTo>
                <a:lnTo>
                  <a:pt x="125209" y="149885"/>
                </a:lnTo>
                <a:lnTo>
                  <a:pt x="130568" y="157403"/>
                </a:lnTo>
                <a:lnTo>
                  <a:pt x="134406" y="162940"/>
                </a:lnTo>
                <a:close/>
              </a:path>
              <a:path w="237489" h="843914">
                <a:moveTo>
                  <a:pt x="143334" y="175983"/>
                </a:moveTo>
                <a:lnTo>
                  <a:pt x="131851" y="175983"/>
                </a:lnTo>
                <a:lnTo>
                  <a:pt x="122770" y="162890"/>
                </a:lnTo>
                <a:lnTo>
                  <a:pt x="134406" y="162940"/>
                </a:lnTo>
                <a:lnTo>
                  <a:pt x="139687" y="170560"/>
                </a:lnTo>
                <a:lnTo>
                  <a:pt x="143334" y="175983"/>
                </a:lnTo>
                <a:close/>
              </a:path>
              <a:path w="237489" h="843914">
                <a:moveTo>
                  <a:pt x="151988" y="189026"/>
                </a:moveTo>
                <a:lnTo>
                  <a:pt x="140627" y="189026"/>
                </a:lnTo>
                <a:lnTo>
                  <a:pt x="131813" y="175933"/>
                </a:lnTo>
                <a:lnTo>
                  <a:pt x="143334" y="175983"/>
                </a:lnTo>
                <a:lnTo>
                  <a:pt x="148526" y="183705"/>
                </a:lnTo>
                <a:lnTo>
                  <a:pt x="151988" y="189026"/>
                </a:lnTo>
                <a:close/>
              </a:path>
              <a:path w="237489" h="843914">
                <a:moveTo>
                  <a:pt x="160337" y="202056"/>
                </a:moveTo>
                <a:lnTo>
                  <a:pt x="149098" y="202056"/>
                </a:lnTo>
                <a:lnTo>
                  <a:pt x="140576" y="188963"/>
                </a:lnTo>
                <a:lnTo>
                  <a:pt x="151988" y="189026"/>
                </a:lnTo>
                <a:lnTo>
                  <a:pt x="157086" y="196862"/>
                </a:lnTo>
                <a:lnTo>
                  <a:pt x="160337" y="202056"/>
                </a:lnTo>
                <a:close/>
              </a:path>
              <a:path w="237489" h="843914">
                <a:moveTo>
                  <a:pt x="176050" y="228104"/>
                </a:moveTo>
                <a:lnTo>
                  <a:pt x="165074" y="228104"/>
                </a:lnTo>
                <a:lnTo>
                  <a:pt x="157213" y="215010"/>
                </a:lnTo>
                <a:lnTo>
                  <a:pt x="149047" y="201993"/>
                </a:lnTo>
                <a:lnTo>
                  <a:pt x="160337" y="202056"/>
                </a:lnTo>
                <a:lnTo>
                  <a:pt x="165328" y="210032"/>
                </a:lnTo>
                <a:lnTo>
                  <a:pt x="173240" y="223202"/>
                </a:lnTo>
                <a:lnTo>
                  <a:pt x="176050" y="228104"/>
                </a:lnTo>
                <a:close/>
              </a:path>
              <a:path w="237489" h="843914">
                <a:moveTo>
                  <a:pt x="183380" y="241122"/>
                </a:moveTo>
                <a:lnTo>
                  <a:pt x="172529" y="241122"/>
                </a:lnTo>
                <a:lnTo>
                  <a:pt x="165023" y="228028"/>
                </a:lnTo>
                <a:lnTo>
                  <a:pt x="176050" y="228104"/>
                </a:lnTo>
                <a:lnTo>
                  <a:pt x="180797" y="236385"/>
                </a:lnTo>
                <a:lnTo>
                  <a:pt x="183380" y="241122"/>
                </a:lnTo>
                <a:close/>
              </a:path>
              <a:path w="237489" h="843914">
                <a:moveTo>
                  <a:pt x="208687" y="293090"/>
                </a:moveTo>
                <a:lnTo>
                  <a:pt x="198386" y="293090"/>
                </a:lnTo>
                <a:lnTo>
                  <a:pt x="192506" y="279996"/>
                </a:lnTo>
                <a:lnTo>
                  <a:pt x="186245" y="267017"/>
                </a:lnTo>
                <a:lnTo>
                  <a:pt x="179565" y="254025"/>
                </a:lnTo>
                <a:lnTo>
                  <a:pt x="172481" y="241038"/>
                </a:lnTo>
                <a:lnTo>
                  <a:pt x="183380" y="241122"/>
                </a:lnTo>
                <a:lnTo>
                  <a:pt x="187985" y="249567"/>
                </a:lnTo>
                <a:lnTo>
                  <a:pt x="194830" y="262877"/>
                </a:lnTo>
                <a:lnTo>
                  <a:pt x="201142" y="275970"/>
                </a:lnTo>
                <a:lnTo>
                  <a:pt x="207073" y="289191"/>
                </a:lnTo>
                <a:lnTo>
                  <a:pt x="208687" y="293090"/>
                </a:lnTo>
                <a:close/>
              </a:path>
              <a:path w="237489" h="843914">
                <a:moveTo>
                  <a:pt x="222947" y="331965"/>
                </a:moveTo>
                <a:lnTo>
                  <a:pt x="213004" y="331965"/>
                </a:lnTo>
                <a:lnTo>
                  <a:pt x="208572" y="318858"/>
                </a:lnTo>
                <a:lnTo>
                  <a:pt x="203695" y="305917"/>
                </a:lnTo>
                <a:lnTo>
                  <a:pt x="198323" y="292963"/>
                </a:lnTo>
                <a:lnTo>
                  <a:pt x="198386" y="293090"/>
                </a:lnTo>
                <a:lnTo>
                  <a:pt x="208687" y="293090"/>
                </a:lnTo>
                <a:lnTo>
                  <a:pt x="212547" y="302412"/>
                </a:lnTo>
                <a:lnTo>
                  <a:pt x="217538" y="315658"/>
                </a:lnTo>
                <a:lnTo>
                  <a:pt x="222084" y="329069"/>
                </a:lnTo>
                <a:lnTo>
                  <a:pt x="222947" y="331965"/>
                </a:lnTo>
                <a:close/>
              </a:path>
              <a:path w="237489" h="843914">
                <a:moveTo>
                  <a:pt x="226686" y="344893"/>
                </a:moveTo>
                <a:lnTo>
                  <a:pt x="216865" y="344893"/>
                </a:lnTo>
                <a:lnTo>
                  <a:pt x="212991" y="331927"/>
                </a:lnTo>
                <a:lnTo>
                  <a:pt x="222947" y="331965"/>
                </a:lnTo>
                <a:lnTo>
                  <a:pt x="225983" y="342163"/>
                </a:lnTo>
                <a:lnTo>
                  <a:pt x="226686" y="344893"/>
                </a:lnTo>
                <a:close/>
              </a:path>
              <a:path w="237489" h="843914">
                <a:moveTo>
                  <a:pt x="229908" y="357809"/>
                </a:moveTo>
                <a:lnTo>
                  <a:pt x="220179" y="357809"/>
                </a:lnTo>
                <a:lnTo>
                  <a:pt x="216828" y="344771"/>
                </a:lnTo>
                <a:lnTo>
                  <a:pt x="226686" y="344893"/>
                </a:lnTo>
                <a:lnTo>
                  <a:pt x="229400" y="355434"/>
                </a:lnTo>
                <a:lnTo>
                  <a:pt x="229908" y="357809"/>
                </a:lnTo>
                <a:close/>
              </a:path>
              <a:path w="237489" h="843914">
                <a:moveTo>
                  <a:pt x="232605" y="370712"/>
                </a:moveTo>
                <a:lnTo>
                  <a:pt x="222935" y="370712"/>
                </a:lnTo>
                <a:lnTo>
                  <a:pt x="220129" y="357619"/>
                </a:lnTo>
                <a:lnTo>
                  <a:pt x="220179" y="357809"/>
                </a:lnTo>
                <a:lnTo>
                  <a:pt x="229908" y="357809"/>
                </a:lnTo>
                <a:lnTo>
                  <a:pt x="232244" y="368731"/>
                </a:lnTo>
                <a:lnTo>
                  <a:pt x="232605" y="370712"/>
                </a:lnTo>
                <a:close/>
              </a:path>
              <a:path w="237489" h="843914">
                <a:moveTo>
                  <a:pt x="233731" y="377113"/>
                </a:moveTo>
                <a:lnTo>
                  <a:pt x="224091" y="377113"/>
                </a:lnTo>
                <a:lnTo>
                  <a:pt x="222934" y="370707"/>
                </a:lnTo>
                <a:lnTo>
                  <a:pt x="232605" y="370712"/>
                </a:lnTo>
                <a:lnTo>
                  <a:pt x="233464" y="375424"/>
                </a:lnTo>
                <a:lnTo>
                  <a:pt x="233731" y="377113"/>
                </a:lnTo>
                <a:close/>
              </a:path>
              <a:path w="237489" h="843914">
                <a:moveTo>
                  <a:pt x="234716" y="383565"/>
                </a:moveTo>
                <a:lnTo>
                  <a:pt x="225107" y="383565"/>
                </a:lnTo>
                <a:lnTo>
                  <a:pt x="224066" y="377012"/>
                </a:lnTo>
                <a:lnTo>
                  <a:pt x="233731" y="377113"/>
                </a:lnTo>
                <a:lnTo>
                  <a:pt x="234518" y="382079"/>
                </a:lnTo>
                <a:lnTo>
                  <a:pt x="234716" y="383565"/>
                </a:lnTo>
                <a:close/>
              </a:path>
              <a:path w="237489" h="843914">
                <a:moveTo>
                  <a:pt x="235547" y="390004"/>
                </a:moveTo>
                <a:lnTo>
                  <a:pt x="225971" y="390004"/>
                </a:lnTo>
                <a:lnTo>
                  <a:pt x="225082" y="383451"/>
                </a:lnTo>
                <a:lnTo>
                  <a:pt x="234716" y="383565"/>
                </a:lnTo>
                <a:lnTo>
                  <a:pt x="235407" y="388734"/>
                </a:lnTo>
                <a:lnTo>
                  <a:pt x="235547" y="390004"/>
                </a:lnTo>
                <a:close/>
              </a:path>
              <a:path w="237489" h="843914">
                <a:moveTo>
                  <a:pt x="236236" y="396443"/>
                </a:moveTo>
                <a:lnTo>
                  <a:pt x="226682" y="396443"/>
                </a:lnTo>
                <a:lnTo>
                  <a:pt x="225970" y="390001"/>
                </a:lnTo>
                <a:lnTo>
                  <a:pt x="235547" y="390004"/>
                </a:lnTo>
                <a:lnTo>
                  <a:pt x="236143" y="395389"/>
                </a:lnTo>
                <a:lnTo>
                  <a:pt x="236236" y="396443"/>
                </a:lnTo>
                <a:close/>
              </a:path>
              <a:path w="237489" h="843914">
                <a:moveTo>
                  <a:pt x="236779" y="402882"/>
                </a:moveTo>
                <a:lnTo>
                  <a:pt x="227241" y="402882"/>
                </a:lnTo>
                <a:lnTo>
                  <a:pt x="226669" y="396328"/>
                </a:lnTo>
                <a:lnTo>
                  <a:pt x="236236" y="396443"/>
                </a:lnTo>
                <a:lnTo>
                  <a:pt x="236727" y="402056"/>
                </a:lnTo>
                <a:lnTo>
                  <a:pt x="236779" y="402882"/>
                </a:lnTo>
                <a:close/>
              </a:path>
              <a:path w="237489" h="843914">
                <a:moveTo>
                  <a:pt x="237169" y="409308"/>
                </a:moveTo>
                <a:lnTo>
                  <a:pt x="227647" y="409308"/>
                </a:lnTo>
                <a:lnTo>
                  <a:pt x="227228" y="402767"/>
                </a:lnTo>
                <a:lnTo>
                  <a:pt x="236779" y="402882"/>
                </a:lnTo>
                <a:lnTo>
                  <a:pt x="237147" y="408711"/>
                </a:lnTo>
                <a:lnTo>
                  <a:pt x="237169" y="409308"/>
                </a:lnTo>
                <a:close/>
              </a:path>
              <a:path w="237489" h="843914">
                <a:moveTo>
                  <a:pt x="237404" y="415747"/>
                </a:moveTo>
                <a:lnTo>
                  <a:pt x="227888" y="415747"/>
                </a:lnTo>
                <a:lnTo>
                  <a:pt x="227634" y="409193"/>
                </a:lnTo>
                <a:lnTo>
                  <a:pt x="237169" y="409308"/>
                </a:lnTo>
                <a:lnTo>
                  <a:pt x="237404" y="415747"/>
                </a:lnTo>
                <a:close/>
              </a:path>
              <a:path w="237489" h="843914">
                <a:moveTo>
                  <a:pt x="237489" y="422173"/>
                </a:moveTo>
                <a:lnTo>
                  <a:pt x="227964" y="422173"/>
                </a:lnTo>
                <a:lnTo>
                  <a:pt x="227876" y="415620"/>
                </a:lnTo>
                <a:lnTo>
                  <a:pt x="237404" y="415747"/>
                </a:lnTo>
                <a:lnTo>
                  <a:pt x="237489" y="422173"/>
                </a:lnTo>
                <a:close/>
              </a:path>
              <a:path w="237489" h="843914">
                <a:moveTo>
                  <a:pt x="236966" y="435114"/>
                </a:moveTo>
                <a:lnTo>
                  <a:pt x="227431" y="435114"/>
                </a:lnTo>
                <a:lnTo>
                  <a:pt x="227444" y="434936"/>
                </a:lnTo>
                <a:lnTo>
                  <a:pt x="227837" y="428421"/>
                </a:lnTo>
                <a:lnTo>
                  <a:pt x="227963" y="422072"/>
                </a:lnTo>
                <a:lnTo>
                  <a:pt x="237489" y="422173"/>
                </a:lnTo>
                <a:lnTo>
                  <a:pt x="237350" y="428802"/>
                </a:lnTo>
                <a:lnTo>
                  <a:pt x="236966" y="435114"/>
                </a:lnTo>
                <a:close/>
              </a:path>
              <a:path w="237489" h="843914">
                <a:moveTo>
                  <a:pt x="227825" y="428612"/>
                </a:moveTo>
                <a:lnTo>
                  <a:pt x="227829" y="428421"/>
                </a:lnTo>
                <a:lnTo>
                  <a:pt x="227825" y="428612"/>
                </a:lnTo>
                <a:close/>
              </a:path>
              <a:path w="237489" h="843914">
                <a:moveTo>
                  <a:pt x="227439" y="434986"/>
                </a:moveTo>
                <a:close/>
              </a:path>
              <a:path w="237489" h="843914">
                <a:moveTo>
                  <a:pt x="236338" y="441718"/>
                </a:moveTo>
                <a:lnTo>
                  <a:pt x="226771" y="441718"/>
                </a:lnTo>
                <a:lnTo>
                  <a:pt x="227439" y="434986"/>
                </a:lnTo>
                <a:lnTo>
                  <a:pt x="227431" y="435114"/>
                </a:lnTo>
                <a:lnTo>
                  <a:pt x="236966" y="435114"/>
                </a:lnTo>
                <a:lnTo>
                  <a:pt x="236931" y="435698"/>
                </a:lnTo>
                <a:lnTo>
                  <a:pt x="236338" y="441718"/>
                </a:lnTo>
                <a:close/>
              </a:path>
              <a:path w="237489" h="843914">
                <a:moveTo>
                  <a:pt x="235470" y="448436"/>
                </a:moveTo>
                <a:lnTo>
                  <a:pt x="225856" y="448436"/>
                </a:lnTo>
                <a:lnTo>
                  <a:pt x="225882" y="448284"/>
                </a:lnTo>
                <a:lnTo>
                  <a:pt x="226783" y="441553"/>
                </a:lnTo>
                <a:lnTo>
                  <a:pt x="226771" y="441718"/>
                </a:lnTo>
                <a:lnTo>
                  <a:pt x="236338" y="441718"/>
                </a:lnTo>
                <a:lnTo>
                  <a:pt x="236245" y="442658"/>
                </a:lnTo>
                <a:lnTo>
                  <a:pt x="235470" y="448436"/>
                </a:lnTo>
                <a:close/>
              </a:path>
              <a:path w="237489" h="843914">
                <a:moveTo>
                  <a:pt x="225858" y="448423"/>
                </a:moveTo>
                <a:lnTo>
                  <a:pt x="225877" y="448284"/>
                </a:lnTo>
                <a:lnTo>
                  <a:pt x="225858" y="448423"/>
                </a:lnTo>
                <a:close/>
              </a:path>
              <a:path w="237489" h="843914">
                <a:moveTo>
                  <a:pt x="233029" y="462127"/>
                </a:moveTo>
                <a:lnTo>
                  <a:pt x="223316" y="462127"/>
                </a:lnTo>
                <a:lnTo>
                  <a:pt x="224739" y="455091"/>
                </a:lnTo>
                <a:lnTo>
                  <a:pt x="225858" y="448423"/>
                </a:lnTo>
                <a:lnTo>
                  <a:pt x="235470" y="448436"/>
                </a:lnTo>
                <a:lnTo>
                  <a:pt x="235280" y="449859"/>
                </a:lnTo>
                <a:lnTo>
                  <a:pt x="234099" y="456818"/>
                </a:lnTo>
                <a:lnTo>
                  <a:pt x="233029" y="462127"/>
                </a:lnTo>
                <a:close/>
              </a:path>
              <a:path w="237489" h="843914">
                <a:moveTo>
                  <a:pt x="224701" y="455244"/>
                </a:moveTo>
                <a:lnTo>
                  <a:pt x="224726" y="455091"/>
                </a:lnTo>
                <a:lnTo>
                  <a:pt x="224701" y="455244"/>
                </a:lnTo>
                <a:close/>
              </a:path>
              <a:path w="237489" h="843914">
                <a:moveTo>
                  <a:pt x="231471" y="469112"/>
                </a:moveTo>
                <a:lnTo>
                  <a:pt x="221703" y="469112"/>
                </a:lnTo>
                <a:lnTo>
                  <a:pt x="223342" y="462000"/>
                </a:lnTo>
                <a:lnTo>
                  <a:pt x="223316" y="462127"/>
                </a:lnTo>
                <a:lnTo>
                  <a:pt x="233029" y="462127"/>
                </a:lnTo>
                <a:lnTo>
                  <a:pt x="232651" y="464007"/>
                </a:lnTo>
                <a:lnTo>
                  <a:pt x="231471" y="469112"/>
                </a:lnTo>
                <a:close/>
              </a:path>
              <a:path w="237489" h="843914">
                <a:moveTo>
                  <a:pt x="229696" y="476161"/>
                </a:moveTo>
                <a:lnTo>
                  <a:pt x="219862" y="476161"/>
                </a:lnTo>
                <a:lnTo>
                  <a:pt x="221729" y="468985"/>
                </a:lnTo>
                <a:lnTo>
                  <a:pt x="231471" y="469112"/>
                </a:lnTo>
                <a:lnTo>
                  <a:pt x="230974" y="471258"/>
                </a:lnTo>
                <a:lnTo>
                  <a:pt x="229696" y="476161"/>
                </a:lnTo>
                <a:close/>
              </a:path>
              <a:path w="237489" h="843914">
                <a:moveTo>
                  <a:pt x="227717" y="483285"/>
                </a:moveTo>
                <a:lnTo>
                  <a:pt x="217804" y="483285"/>
                </a:lnTo>
                <a:lnTo>
                  <a:pt x="219887" y="476046"/>
                </a:lnTo>
                <a:lnTo>
                  <a:pt x="229696" y="476161"/>
                </a:lnTo>
                <a:lnTo>
                  <a:pt x="229069" y="478561"/>
                </a:lnTo>
                <a:lnTo>
                  <a:pt x="227717" y="483285"/>
                </a:lnTo>
                <a:close/>
              </a:path>
              <a:path w="237489" h="843914">
                <a:moveTo>
                  <a:pt x="225525" y="490486"/>
                </a:moveTo>
                <a:lnTo>
                  <a:pt x="215544" y="490486"/>
                </a:lnTo>
                <a:lnTo>
                  <a:pt x="217830" y="483184"/>
                </a:lnTo>
                <a:lnTo>
                  <a:pt x="227717" y="483285"/>
                </a:lnTo>
                <a:lnTo>
                  <a:pt x="226961" y="485927"/>
                </a:lnTo>
                <a:lnTo>
                  <a:pt x="225525" y="490486"/>
                </a:lnTo>
                <a:close/>
              </a:path>
              <a:path w="237489" h="843914">
                <a:moveTo>
                  <a:pt x="223135" y="497738"/>
                </a:moveTo>
                <a:lnTo>
                  <a:pt x="213080" y="497738"/>
                </a:lnTo>
                <a:lnTo>
                  <a:pt x="215569" y="490385"/>
                </a:lnTo>
                <a:lnTo>
                  <a:pt x="225525" y="490486"/>
                </a:lnTo>
                <a:lnTo>
                  <a:pt x="224624" y="493344"/>
                </a:lnTo>
                <a:lnTo>
                  <a:pt x="223135" y="497738"/>
                </a:lnTo>
                <a:close/>
              </a:path>
              <a:path w="237489" h="843914">
                <a:moveTo>
                  <a:pt x="214791" y="519861"/>
                </a:moveTo>
                <a:lnTo>
                  <a:pt x="204546" y="519861"/>
                </a:lnTo>
                <a:lnTo>
                  <a:pt x="204609" y="519709"/>
                </a:lnTo>
                <a:lnTo>
                  <a:pt x="210464" y="504926"/>
                </a:lnTo>
                <a:lnTo>
                  <a:pt x="213105" y="497649"/>
                </a:lnTo>
                <a:lnTo>
                  <a:pt x="223135" y="497738"/>
                </a:lnTo>
                <a:lnTo>
                  <a:pt x="222097" y="500799"/>
                </a:lnTo>
                <a:lnTo>
                  <a:pt x="219367" y="508304"/>
                </a:lnTo>
                <a:lnTo>
                  <a:pt x="214791" y="519861"/>
                </a:lnTo>
                <a:close/>
              </a:path>
              <a:path w="237489" h="843914">
                <a:moveTo>
                  <a:pt x="210413" y="505053"/>
                </a:moveTo>
                <a:lnTo>
                  <a:pt x="210459" y="504926"/>
                </a:lnTo>
                <a:lnTo>
                  <a:pt x="210413" y="505053"/>
                </a:lnTo>
                <a:close/>
              </a:path>
              <a:path w="237489" h="843914">
                <a:moveTo>
                  <a:pt x="204576" y="519784"/>
                </a:moveTo>
                <a:close/>
              </a:path>
              <a:path w="237489" h="843914">
                <a:moveTo>
                  <a:pt x="177264" y="595337"/>
                </a:moveTo>
                <a:lnTo>
                  <a:pt x="166306" y="595337"/>
                </a:lnTo>
                <a:lnTo>
                  <a:pt x="174980" y="580072"/>
                </a:lnTo>
                <a:lnTo>
                  <a:pt x="183197" y="564883"/>
                </a:lnTo>
                <a:lnTo>
                  <a:pt x="190906" y="549732"/>
                </a:lnTo>
                <a:lnTo>
                  <a:pt x="198069" y="534669"/>
                </a:lnTo>
                <a:lnTo>
                  <a:pt x="204576" y="519784"/>
                </a:lnTo>
                <a:lnTo>
                  <a:pt x="214791" y="519861"/>
                </a:lnTo>
                <a:lnTo>
                  <a:pt x="191630" y="569315"/>
                </a:lnTo>
                <a:lnTo>
                  <a:pt x="183311" y="584695"/>
                </a:lnTo>
                <a:lnTo>
                  <a:pt x="177264" y="595337"/>
                </a:lnTo>
                <a:close/>
              </a:path>
              <a:path w="237489" h="843914">
                <a:moveTo>
                  <a:pt x="198005" y="534796"/>
                </a:moveTo>
                <a:close/>
              </a:path>
              <a:path w="237489" h="843914">
                <a:moveTo>
                  <a:pt x="190842" y="549846"/>
                </a:moveTo>
                <a:close/>
              </a:path>
              <a:path w="237489" h="843914">
                <a:moveTo>
                  <a:pt x="183134" y="564984"/>
                </a:moveTo>
                <a:close/>
              </a:path>
              <a:path w="237489" h="843914">
                <a:moveTo>
                  <a:pt x="174929" y="580161"/>
                </a:moveTo>
                <a:close/>
              </a:path>
              <a:path w="237489" h="843914">
                <a:moveTo>
                  <a:pt x="168386" y="610476"/>
                </a:moveTo>
                <a:lnTo>
                  <a:pt x="157302" y="610476"/>
                </a:lnTo>
                <a:lnTo>
                  <a:pt x="166344" y="595261"/>
                </a:lnTo>
                <a:lnTo>
                  <a:pt x="177264" y="595337"/>
                </a:lnTo>
                <a:lnTo>
                  <a:pt x="174586" y="600049"/>
                </a:lnTo>
                <a:lnTo>
                  <a:pt x="168386" y="610476"/>
                </a:lnTo>
                <a:close/>
              </a:path>
              <a:path w="237489" h="843914">
                <a:moveTo>
                  <a:pt x="159200" y="625525"/>
                </a:moveTo>
                <a:lnTo>
                  <a:pt x="148005" y="625525"/>
                </a:lnTo>
                <a:lnTo>
                  <a:pt x="157340" y="610400"/>
                </a:lnTo>
                <a:lnTo>
                  <a:pt x="168386" y="610476"/>
                </a:lnTo>
                <a:lnTo>
                  <a:pt x="165493" y="615340"/>
                </a:lnTo>
                <a:lnTo>
                  <a:pt x="159200" y="625525"/>
                </a:lnTo>
                <a:close/>
              </a:path>
              <a:path w="237489" h="843914">
                <a:moveTo>
                  <a:pt x="140140" y="655231"/>
                </a:moveTo>
                <a:lnTo>
                  <a:pt x="128739" y="655231"/>
                </a:lnTo>
                <a:lnTo>
                  <a:pt x="138493" y="640410"/>
                </a:lnTo>
                <a:lnTo>
                  <a:pt x="148043" y="625462"/>
                </a:lnTo>
                <a:lnTo>
                  <a:pt x="159200" y="625525"/>
                </a:lnTo>
                <a:lnTo>
                  <a:pt x="156108" y="630529"/>
                </a:lnTo>
                <a:lnTo>
                  <a:pt x="146481" y="645591"/>
                </a:lnTo>
                <a:lnTo>
                  <a:pt x="140140" y="655231"/>
                </a:lnTo>
                <a:close/>
              </a:path>
              <a:path w="237489" h="843914">
                <a:moveTo>
                  <a:pt x="138455" y="640460"/>
                </a:moveTo>
                <a:close/>
              </a:path>
              <a:path w="237489" h="843914">
                <a:moveTo>
                  <a:pt x="128752" y="655212"/>
                </a:moveTo>
                <a:close/>
              </a:path>
              <a:path w="237489" h="843914">
                <a:moveTo>
                  <a:pt x="130394" y="669810"/>
                </a:moveTo>
                <a:lnTo>
                  <a:pt x="118897" y="669810"/>
                </a:lnTo>
                <a:lnTo>
                  <a:pt x="128752" y="655212"/>
                </a:lnTo>
                <a:lnTo>
                  <a:pt x="140140" y="655231"/>
                </a:lnTo>
                <a:lnTo>
                  <a:pt x="136690" y="660476"/>
                </a:lnTo>
                <a:lnTo>
                  <a:pt x="130394" y="669810"/>
                </a:lnTo>
                <a:close/>
              </a:path>
              <a:path w="237489" h="843914">
                <a:moveTo>
                  <a:pt x="100989" y="711987"/>
                </a:moveTo>
                <a:lnTo>
                  <a:pt x="89319" y="711987"/>
                </a:lnTo>
                <a:lnTo>
                  <a:pt x="109042" y="684110"/>
                </a:lnTo>
                <a:lnTo>
                  <a:pt x="118922" y="669772"/>
                </a:lnTo>
                <a:lnTo>
                  <a:pt x="130394" y="669810"/>
                </a:lnTo>
                <a:lnTo>
                  <a:pt x="126796" y="675144"/>
                </a:lnTo>
                <a:lnTo>
                  <a:pt x="116852" y="689559"/>
                </a:lnTo>
                <a:lnTo>
                  <a:pt x="100989" y="711987"/>
                </a:lnTo>
                <a:close/>
              </a:path>
              <a:path w="237489" h="843914">
                <a:moveTo>
                  <a:pt x="109004" y="684161"/>
                </a:moveTo>
                <a:close/>
              </a:path>
              <a:path w="237489" h="843914">
                <a:moveTo>
                  <a:pt x="81939" y="738403"/>
                </a:moveTo>
                <a:lnTo>
                  <a:pt x="70180" y="738403"/>
                </a:lnTo>
                <a:lnTo>
                  <a:pt x="89344" y="711949"/>
                </a:lnTo>
                <a:lnTo>
                  <a:pt x="100989" y="711987"/>
                </a:lnTo>
                <a:lnTo>
                  <a:pt x="97091" y="717499"/>
                </a:lnTo>
                <a:lnTo>
                  <a:pt x="81939" y="738403"/>
                </a:lnTo>
                <a:close/>
              </a:path>
              <a:path w="237489" h="843914">
                <a:moveTo>
                  <a:pt x="8254" y="843584"/>
                </a:moveTo>
                <a:lnTo>
                  <a:pt x="0" y="838834"/>
                </a:lnTo>
                <a:lnTo>
                  <a:pt x="4013" y="831875"/>
                </a:lnTo>
                <a:lnTo>
                  <a:pt x="8940" y="824001"/>
                </a:lnTo>
                <a:lnTo>
                  <a:pt x="35496" y="785799"/>
                </a:lnTo>
                <a:lnTo>
                  <a:pt x="70192" y="738377"/>
                </a:lnTo>
                <a:lnTo>
                  <a:pt x="81939" y="738403"/>
                </a:lnTo>
                <a:lnTo>
                  <a:pt x="77889" y="743991"/>
                </a:lnTo>
                <a:lnTo>
                  <a:pt x="59756" y="768718"/>
                </a:lnTo>
                <a:lnTo>
                  <a:pt x="43216" y="791375"/>
                </a:lnTo>
                <a:lnTo>
                  <a:pt x="28772" y="811644"/>
                </a:lnTo>
                <a:lnTo>
                  <a:pt x="22513" y="820750"/>
                </a:lnTo>
                <a:lnTo>
                  <a:pt x="16941" y="829157"/>
                </a:lnTo>
                <a:lnTo>
                  <a:pt x="12167" y="836790"/>
                </a:lnTo>
                <a:lnTo>
                  <a:pt x="8254" y="843584"/>
                </a:lnTo>
                <a:close/>
              </a:path>
              <a:path w="237489" h="843914">
                <a:moveTo>
                  <a:pt x="43218" y="791375"/>
                </a:moveTo>
                <a:close/>
              </a:path>
              <a:path w="237489" h="843914">
                <a:moveTo>
                  <a:pt x="28772" y="811644"/>
                </a:moveTo>
                <a:close/>
              </a:path>
              <a:path w="237489" h="843914">
                <a:moveTo>
                  <a:pt x="22513" y="820750"/>
                </a:moveTo>
                <a:close/>
              </a:path>
              <a:path w="237489" h="843914">
                <a:moveTo>
                  <a:pt x="16941" y="829157"/>
                </a:moveTo>
                <a:close/>
              </a:path>
              <a:path w="237489" h="843914">
                <a:moveTo>
                  <a:pt x="12180" y="836767"/>
                </a:moveTo>
                <a:lnTo>
                  <a:pt x="12255" y="836637"/>
                </a:lnTo>
                <a:lnTo>
                  <a:pt x="12180" y="836767"/>
                </a:lnTo>
                <a:close/>
              </a:path>
              <a:path w="237489" h="843914">
                <a:moveTo>
                  <a:pt x="12167" y="836790"/>
                </a:move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33825" y="3533914"/>
            <a:ext cx="80822" cy="808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76937" y="3382962"/>
            <a:ext cx="755650" cy="76200"/>
          </a:xfrm>
          <a:custGeom>
            <a:avLst/>
            <a:gdLst/>
            <a:ahLst/>
            <a:cxnLst/>
            <a:rect l="l" t="t" r="r" b="b"/>
            <a:pathLst>
              <a:path w="755650" h="76200">
                <a:moveTo>
                  <a:pt x="679450" y="76200"/>
                </a:moveTo>
                <a:lnTo>
                  <a:pt x="679450" y="0"/>
                </a:lnTo>
                <a:lnTo>
                  <a:pt x="746125" y="33337"/>
                </a:lnTo>
                <a:lnTo>
                  <a:pt x="698500" y="33337"/>
                </a:lnTo>
                <a:lnTo>
                  <a:pt x="698500" y="42862"/>
                </a:lnTo>
                <a:lnTo>
                  <a:pt x="746125" y="42862"/>
                </a:lnTo>
                <a:lnTo>
                  <a:pt x="679450" y="76200"/>
                </a:lnTo>
                <a:close/>
              </a:path>
              <a:path w="755650" h="76200">
                <a:moveTo>
                  <a:pt x="679450" y="42862"/>
                </a:moveTo>
                <a:lnTo>
                  <a:pt x="0" y="42862"/>
                </a:lnTo>
                <a:lnTo>
                  <a:pt x="0" y="33337"/>
                </a:lnTo>
                <a:lnTo>
                  <a:pt x="679450" y="33337"/>
                </a:lnTo>
                <a:lnTo>
                  <a:pt x="679450" y="42862"/>
                </a:lnTo>
                <a:close/>
              </a:path>
              <a:path w="755650" h="76200">
                <a:moveTo>
                  <a:pt x="746125" y="42862"/>
                </a:moveTo>
                <a:lnTo>
                  <a:pt x="698500" y="42862"/>
                </a:lnTo>
                <a:lnTo>
                  <a:pt x="698500" y="33337"/>
                </a:lnTo>
                <a:lnTo>
                  <a:pt x="746125" y="33337"/>
                </a:lnTo>
                <a:lnTo>
                  <a:pt x="755650" y="38100"/>
                </a:lnTo>
                <a:lnTo>
                  <a:pt x="746125" y="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189027" y="3106419"/>
            <a:ext cx="1644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ahoma"/>
                <a:cs typeface="Tahoma"/>
              </a:rPr>
              <a:t>0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11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26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485140" y="405447"/>
            <a:ext cx="7613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S’</a:t>
            </a:r>
            <a:r>
              <a:rPr sz="3200" spc="-8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=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99417" y="3162935"/>
            <a:ext cx="4298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80129" y="3624897"/>
            <a:ext cx="4298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02342" y="2218372"/>
            <a:ext cx="4298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77990" y="3135947"/>
            <a:ext cx="3600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f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14805" y="2927985"/>
            <a:ext cx="4318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T</a:t>
            </a:r>
            <a:r>
              <a:rPr sz="2400" dirty="0">
                <a:latin typeface="Tahoma"/>
                <a:cs typeface="Tahoma"/>
              </a:rPr>
              <a:t>b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77677" y="2969894"/>
            <a:ext cx="1644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ahoma"/>
                <a:cs typeface="Tahoma"/>
              </a:rPr>
              <a:t>0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01339" y="3036569"/>
            <a:ext cx="1644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ahoma"/>
                <a:cs typeface="Tahoma"/>
              </a:rPr>
              <a:t>0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2004060"/>
            <a:ext cx="6647180" cy="305879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55600" marR="5080" indent="-342900">
              <a:lnSpc>
                <a:spcPct val="100899"/>
              </a:lnSpc>
              <a:spcBef>
                <a:spcPts val="7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  <a:tab pos="3107055" algn="l"/>
                <a:tab pos="3882390" algn="l"/>
              </a:tabLst>
            </a:pPr>
            <a:r>
              <a:rPr sz="3200" spc="-5" dirty="0">
                <a:latin typeface="Tahoma"/>
                <a:cs typeface="Tahoma"/>
              </a:rPr>
              <a:t>If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only </a:t>
            </a:r>
            <a:r>
              <a:rPr sz="3200" spc="-10" dirty="0">
                <a:latin typeface="Tahoma"/>
                <a:cs typeface="Tahoma"/>
              </a:rPr>
              <a:t>care </a:t>
            </a:r>
            <a:r>
              <a:rPr sz="3200" spc="-5" dirty="0">
                <a:latin typeface="Tahoma"/>
                <a:cs typeface="Tahoma"/>
              </a:rPr>
              <a:t>about final state  </a:t>
            </a:r>
            <a:r>
              <a:rPr sz="3200" spc="-15" dirty="0">
                <a:latin typeface="Tahoma"/>
                <a:cs typeface="Tahoma"/>
              </a:rPr>
              <a:t>remove</a:t>
            </a:r>
            <a:r>
              <a:rPr sz="3200" spc="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1,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2;	</a:t>
            </a:r>
            <a:r>
              <a:rPr sz="2800" spc="-40" dirty="0">
                <a:latin typeface="Tahoma"/>
                <a:cs typeface="Tahoma"/>
              </a:rPr>
              <a:t>i.e.,	</a:t>
            </a:r>
            <a:r>
              <a:rPr sz="3200" spc="-15" dirty="0">
                <a:latin typeface="Tahoma"/>
                <a:cs typeface="Tahoma"/>
              </a:rPr>
              <a:t>remove </a:t>
            </a:r>
            <a:r>
              <a:rPr sz="3200" spc="-5" dirty="0">
                <a:latin typeface="Tahoma"/>
                <a:cs typeface="Tahoma"/>
              </a:rPr>
              <a:t>useless  </a:t>
            </a:r>
            <a:r>
              <a:rPr sz="3200" spc="-10" dirty="0">
                <a:latin typeface="Tahoma"/>
                <a:cs typeface="Tahoma"/>
              </a:rPr>
              <a:t>transactions</a:t>
            </a:r>
            <a:endParaRPr sz="3200">
              <a:latin typeface="Tahoma"/>
              <a:cs typeface="Tahoma"/>
            </a:endParaRPr>
          </a:p>
          <a:p>
            <a:pPr marL="355600" marR="231140" indent="-342900" algn="just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If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10" dirty="0">
                <a:latin typeface="Tahoma"/>
                <a:cs typeface="Tahoma"/>
              </a:rPr>
              <a:t>care </a:t>
            </a:r>
            <a:r>
              <a:rPr sz="3200" spc="-5" dirty="0">
                <a:latin typeface="Tahoma"/>
                <a:cs typeface="Tahoma"/>
              </a:rPr>
              <a:t>what T</a:t>
            </a:r>
            <a:r>
              <a:rPr sz="2400" spc="-5" dirty="0">
                <a:latin typeface="Tahoma"/>
                <a:cs typeface="Tahoma"/>
              </a:rPr>
              <a:t>1, 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2 </a:t>
            </a:r>
            <a:r>
              <a:rPr sz="3200" spc="-5" dirty="0">
                <a:latin typeface="Tahoma"/>
                <a:cs typeface="Tahoma"/>
              </a:rPr>
              <a:t>read (view  </a:t>
            </a:r>
            <a:r>
              <a:rPr sz="3200" spc="-10" dirty="0">
                <a:latin typeface="Tahoma"/>
                <a:cs typeface="Tahoma"/>
              </a:rPr>
              <a:t>equivalence), </a:t>
            </a:r>
            <a:r>
              <a:rPr sz="3200" spc="-5" dirty="0">
                <a:latin typeface="Tahoma"/>
                <a:cs typeface="Tahoma"/>
              </a:rPr>
              <a:t>then </a:t>
            </a:r>
            <a:r>
              <a:rPr sz="3200" dirty="0">
                <a:latin typeface="Tahoma"/>
                <a:cs typeface="Tahoma"/>
              </a:rPr>
              <a:t>do </a:t>
            </a: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not</a:t>
            </a:r>
            <a:r>
              <a:rPr sz="3200" spc="-5" dirty="0">
                <a:latin typeface="Tahoma"/>
                <a:cs typeface="Tahoma"/>
              </a:rPr>
              <a:t> </a:t>
            </a:r>
            <a:r>
              <a:rPr sz="3200" spc="-15" dirty="0">
                <a:latin typeface="Tahoma"/>
                <a:cs typeface="Tahoma"/>
              </a:rPr>
              <a:t>remove  </a:t>
            </a:r>
            <a:r>
              <a:rPr sz="3200" spc="-5" dirty="0">
                <a:latin typeface="Tahoma"/>
                <a:cs typeface="Tahoma"/>
              </a:rPr>
              <a:t>useless</a:t>
            </a:r>
            <a:r>
              <a:rPr sz="3200" spc="-10" dirty="0">
                <a:latin typeface="Tahoma"/>
                <a:cs typeface="Tahoma"/>
              </a:rPr>
              <a:t> transactions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11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27</a:t>
            </a:fld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2012949"/>
            <a:ext cx="7553959" cy="39274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604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If </a:t>
            </a:r>
            <a:r>
              <a:rPr sz="3200" dirty="0">
                <a:latin typeface="Tahoma"/>
                <a:cs typeface="Tahoma"/>
              </a:rPr>
              <a:t>all </a:t>
            </a:r>
            <a:r>
              <a:rPr sz="3200" spc="-10" dirty="0">
                <a:latin typeface="Tahoma"/>
                <a:cs typeface="Tahoma"/>
              </a:rPr>
              <a:t>transactions </a:t>
            </a:r>
            <a:r>
              <a:rPr sz="3200" spc="-5" dirty="0">
                <a:latin typeface="Tahoma"/>
                <a:cs typeface="Tahoma"/>
              </a:rPr>
              <a:t>read what they write,  </a:t>
            </a:r>
            <a:r>
              <a:rPr sz="3200" spc="-40" dirty="0">
                <a:latin typeface="Tahoma"/>
                <a:cs typeface="Tahoma"/>
              </a:rPr>
              <a:t>(I.e., </a:t>
            </a:r>
            <a:r>
              <a:rPr sz="3200" spc="-5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j=... </a:t>
            </a:r>
            <a:r>
              <a:rPr sz="3200" spc="-5" dirty="0">
                <a:latin typeface="Tahoma"/>
                <a:cs typeface="Tahoma"/>
              </a:rPr>
              <a:t>R</a:t>
            </a:r>
            <a:r>
              <a:rPr sz="2400" spc="-5" dirty="0">
                <a:latin typeface="Tahoma"/>
                <a:cs typeface="Tahoma"/>
              </a:rPr>
              <a:t>j</a:t>
            </a:r>
            <a:r>
              <a:rPr sz="3200" spc="-5" dirty="0">
                <a:latin typeface="Tahoma"/>
                <a:cs typeface="Tahoma"/>
              </a:rPr>
              <a:t>(A) </a:t>
            </a:r>
            <a:r>
              <a:rPr sz="3200" dirty="0">
                <a:latin typeface="Tahoma"/>
                <a:cs typeface="Tahoma"/>
              </a:rPr>
              <a:t>… </a:t>
            </a:r>
            <a:r>
              <a:rPr sz="3200" spc="-5" dirty="0">
                <a:latin typeface="Tahoma"/>
                <a:cs typeface="Tahoma"/>
              </a:rPr>
              <a:t>W</a:t>
            </a:r>
            <a:r>
              <a:rPr sz="2400" spc="-5" dirty="0">
                <a:latin typeface="Tahoma"/>
                <a:cs typeface="Tahoma"/>
              </a:rPr>
              <a:t>j </a:t>
            </a:r>
            <a:r>
              <a:rPr sz="3200" spc="-5" dirty="0">
                <a:latin typeface="Tahoma"/>
                <a:cs typeface="Tahoma"/>
              </a:rPr>
              <a:t>(A)…)</a:t>
            </a:r>
            <a:r>
              <a:rPr sz="3200" spc="-23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then</a:t>
            </a:r>
            <a:endParaRPr sz="3200">
              <a:latin typeface="Tahoma"/>
              <a:cs typeface="Tahoma"/>
            </a:endParaRPr>
          </a:p>
          <a:p>
            <a:pPr marL="482600">
              <a:lnSpc>
                <a:spcPct val="100000"/>
              </a:lnSpc>
            </a:pPr>
            <a:r>
              <a:rPr sz="3200" spc="-5" dirty="0">
                <a:latin typeface="Tahoma"/>
                <a:cs typeface="Tahoma"/>
              </a:rPr>
              <a:t>view serializability </a:t>
            </a:r>
            <a:r>
              <a:rPr sz="3200" dirty="0">
                <a:latin typeface="Tahoma"/>
                <a:cs typeface="Tahoma"/>
              </a:rPr>
              <a:t>= </a:t>
            </a:r>
            <a:r>
              <a:rPr sz="3200" spc="-50" dirty="0">
                <a:latin typeface="Tahoma"/>
                <a:cs typeface="Tahoma"/>
              </a:rPr>
              <a:t>conf.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serializability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38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3085"/>
              </a:spcBef>
            </a:pPr>
            <a:r>
              <a:rPr sz="3200" spc="-5" dirty="0">
                <a:latin typeface="Tahoma"/>
                <a:cs typeface="Tahoma"/>
              </a:rPr>
              <a:t>[Another </a:t>
            </a:r>
            <a:r>
              <a:rPr sz="3200" spc="-20" dirty="0">
                <a:latin typeface="Tahoma"/>
                <a:cs typeface="Tahoma"/>
              </a:rPr>
              <a:t>way </a:t>
            </a:r>
            <a:r>
              <a:rPr sz="3200" spc="-5" dirty="0">
                <a:latin typeface="Tahoma"/>
                <a:cs typeface="Tahoma"/>
              </a:rPr>
              <a:t>of </a:t>
            </a:r>
            <a:r>
              <a:rPr sz="3200" spc="-10" dirty="0">
                <a:latin typeface="Tahoma"/>
                <a:cs typeface="Tahoma"/>
              </a:rPr>
              <a:t>saying: </a:t>
            </a:r>
            <a:r>
              <a:rPr sz="3200" spc="-5" dirty="0">
                <a:latin typeface="Tahoma"/>
                <a:cs typeface="Tahoma"/>
              </a:rPr>
              <a:t>blind writes  appear in </a:t>
            </a:r>
            <a:r>
              <a:rPr sz="3200" spc="-15" dirty="0">
                <a:latin typeface="Tahoma"/>
                <a:cs typeface="Tahoma"/>
              </a:rPr>
              <a:t>any </a:t>
            </a:r>
            <a:r>
              <a:rPr sz="3200" spc="-5" dirty="0">
                <a:latin typeface="Tahoma"/>
                <a:cs typeface="Tahoma"/>
              </a:rPr>
              <a:t>view-serializable schedule  that is not conflict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serializable]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</a:t>
            </a:r>
            <a:r>
              <a:rPr spc="-75" dirty="0"/>
              <a:t> </a:t>
            </a:r>
            <a:r>
              <a:rPr spc="-5" dirty="0"/>
              <a:t>245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Notes</a:t>
            </a:r>
            <a:r>
              <a:rPr spc="-65" dirty="0"/>
              <a:t> </a:t>
            </a:r>
            <a:r>
              <a:rPr dirty="0"/>
              <a:t>11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28</a:t>
            </a:fld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10050" y="6280784"/>
            <a:ext cx="417004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961765" algn="l"/>
              </a:tabLst>
            </a:pPr>
            <a:r>
              <a:rPr sz="1400" spc="-5" dirty="0">
                <a:latin typeface="Tahoma"/>
                <a:cs typeface="Tahoma"/>
              </a:rPr>
              <a:t>No</a:t>
            </a:r>
            <a:r>
              <a:rPr sz="1400" dirty="0">
                <a:latin typeface="Tahoma"/>
                <a:cs typeface="Tahoma"/>
              </a:rPr>
              <a:t>t</a:t>
            </a:r>
            <a:r>
              <a:rPr sz="1400" spc="-5" dirty="0">
                <a:latin typeface="Tahoma"/>
                <a:cs typeface="Tahoma"/>
              </a:rPr>
              <a:t>e</a:t>
            </a:r>
            <a:r>
              <a:rPr sz="1400" dirty="0">
                <a:latin typeface="Tahoma"/>
                <a:cs typeface="Tahoma"/>
              </a:rPr>
              <a:t>s </a:t>
            </a:r>
            <a:r>
              <a:rPr sz="1400" spc="-5" dirty="0">
                <a:latin typeface="Tahoma"/>
                <a:cs typeface="Tahoma"/>
              </a:rPr>
              <a:t>1</a:t>
            </a:r>
            <a:r>
              <a:rPr sz="1400" dirty="0">
                <a:latin typeface="Tahoma"/>
                <a:cs typeface="Tahoma"/>
              </a:rPr>
              <a:t>1	</a:t>
            </a:r>
            <a:r>
              <a:rPr sz="1400" spc="-5" dirty="0">
                <a:latin typeface="Tahoma"/>
                <a:cs typeface="Tahoma"/>
              </a:rPr>
              <a:t>2</a:t>
            </a:r>
            <a:r>
              <a:rPr sz="1400" dirty="0">
                <a:latin typeface="Tahoma"/>
                <a:cs typeface="Tahoma"/>
              </a:rPr>
              <a:t>9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4540" y="678815"/>
            <a:ext cx="7271384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1918970" algn="l"/>
              </a:tabLst>
            </a:pPr>
            <a:r>
              <a:rPr spc="-5" dirty="0"/>
              <a:t>Proof(?): </a:t>
            </a:r>
            <a:r>
              <a:rPr spc="-10" dirty="0"/>
              <a:t>say </a:t>
            </a:r>
            <a:r>
              <a:rPr spc="-5" dirty="0"/>
              <a:t>S</a:t>
            </a:r>
            <a:r>
              <a:rPr sz="2400" spc="-5" dirty="0"/>
              <a:t>1 </a:t>
            </a:r>
            <a:r>
              <a:rPr spc="-5" dirty="0"/>
              <a:t>is </a:t>
            </a:r>
            <a:r>
              <a:rPr spc="-55" dirty="0"/>
              <a:t>view-ser. </a:t>
            </a:r>
            <a:r>
              <a:rPr spc="-5" dirty="0"/>
              <a:t>and </a:t>
            </a:r>
            <a:r>
              <a:rPr dirty="0"/>
              <a:t>no </a:t>
            </a:r>
            <a:r>
              <a:rPr spc="-5" dirty="0"/>
              <a:t>blind  writes.</a:t>
            </a:r>
            <a:r>
              <a:rPr spc="5" dirty="0"/>
              <a:t> </a:t>
            </a:r>
            <a:r>
              <a:rPr spc="-5" dirty="0"/>
              <a:t>S</a:t>
            </a:r>
            <a:r>
              <a:rPr sz="2400" spc="-5" dirty="0"/>
              <a:t>1	</a:t>
            </a:r>
            <a:r>
              <a:rPr spc="-15" dirty="0"/>
              <a:t>V-equiv </a:t>
            </a:r>
            <a:r>
              <a:rPr spc="-5" dirty="0"/>
              <a:t>to S</a:t>
            </a:r>
            <a:r>
              <a:rPr sz="2400" spc="-5" dirty="0"/>
              <a:t>s</a:t>
            </a:r>
            <a:r>
              <a:rPr spc="-5" dirty="0"/>
              <a:t>, serial</a:t>
            </a:r>
            <a:r>
              <a:rPr spc="-254" dirty="0"/>
              <a:t> </a:t>
            </a:r>
            <a:r>
              <a:rPr spc="-5" dirty="0"/>
              <a:t>schedule.</a:t>
            </a:r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89915" indent="-577215">
              <a:lnSpc>
                <a:spcPts val="3354"/>
              </a:lnSpc>
              <a:spcBef>
                <a:spcPts val="95"/>
              </a:spcBef>
              <a:buAutoNum type="arabicParenBoth"/>
              <a:tabLst>
                <a:tab pos="589915" algn="l"/>
              </a:tabLst>
            </a:pPr>
            <a:r>
              <a:rPr spc="-5" dirty="0"/>
              <a:t>Goal: Show</a:t>
            </a:r>
            <a:r>
              <a:rPr spc="5" dirty="0"/>
              <a:t> </a:t>
            </a:r>
            <a:r>
              <a:rPr spc="-5" dirty="0"/>
              <a:t>that</a:t>
            </a:r>
          </a:p>
          <a:p>
            <a:pPr marL="688975">
              <a:lnSpc>
                <a:spcPts val="3354"/>
              </a:lnSpc>
            </a:pPr>
            <a:r>
              <a:rPr spc="-5" dirty="0"/>
              <a:t>T</a:t>
            </a:r>
            <a:r>
              <a:rPr sz="2000" spc="-5" dirty="0"/>
              <a:t>1 </a:t>
            </a:r>
            <a:r>
              <a:rPr spc="-5" dirty="0">
                <a:latin typeface="Symbol"/>
                <a:cs typeface="Symbol"/>
              </a:rPr>
              <a:t>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spc="-5" dirty="0"/>
              <a:t>T</a:t>
            </a:r>
            <a:r>
              <a:rPr sz="2000" spc="-5" dirty="0"/>
              <a:t>2 </a:t>
            </a:r>
            <a:r>
              <a:rPr spc="-5" dirty="0"/>
              <a:t>in P(S</a:t>
            </a:r>
            <a:r>
              <a:rPr sz="2000" spc="-5" dirty="0"/>
              <a:t>1</a:t>
            </a:r>
            <a:r>
              <a:rPr spc="-5" dirty="0"/>
              <a:t>) </a:t>
            </a:r>
            <a:r>
              <a:rPr spc="-5" dirty="0">
                <a:latin typeface="Symbol"/>
                <a:cs typeface="Symbol"/>
              </a:rPr>
              <a:t>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spc="-5" dirty="0"/>
              <a:t>T</a:t>
            </a:r>
            <a:r>
              <a:rPr sz="2000" spc="-5" dirty="0"/>
              <a:t>1</a:t>
            </a:r>
            <a:r>
              <a:rPr sz="2000" spc="-260" dirty="0"/>
              <a:t> </a:t>
            </a:r>
            <a:r>
              <a:rPr dirty="0"/>
              <a:t>&lt;</a:t>
            </a:r>
            <a:r>
              <a:rPr sz="2000" dirty="0"/>
              <a:t>ss</a:t>
            </a:r>
            <a:r>
              <a:rPr dirty="0"/>
              <a:t>T</a:t>
            </a:r>
            <a:r>
              <a:rPr sz="2000" dirty="0"/>
              <a:t>2</a:t>
            </a:r>
            <a:endParaRPr sz="2000">
              <a:latin typeface="Times New Roman"/>
              <a:cs typeface="Times New Roman"/>
            </a:endParaRPr>
          </a:p>
          <a:p>
            <a:pPr marL="589915" indent="-577215">
              <a:lnSpc>
                <a:spcPct val="100000"/>
              </a:lnSpc>
              <a:spcBef>
                <a:spcPts val="390"/>
              </a:spcBef>
              <a:buAutoNum type="arabicParenBoth" startAt="2"/>
              <a:tabLst>
                <a:tab pos="589915" algn="l"/>
              </a:tabLst>
            </a:pPr>
            <a:r>
              <a:rPr spc="-5" dirty="0"/>
              <a:t>Assume T</a:t>
            </a:r>
            <a:r>
              <a:rPr sz="2000" spc="-5" dirty="0"/>
              <a:t>1 </a:t>
            </a:r>
            <a:r>
              <a:rPr spc="-5" dirty="0">
                <a:latin typeface="Symbol"/>
                <a:cs typeface="Symbol"/>
              </a:rPr>
              <a:t></a:t>
            </a:r>
            <a:r>
              <a:rPr spc="-70" dirty="0">
                <a:latin typeface="Times New Roman"/>
                <a:cs typeface="Times New Roman"/>
              </a:rPr>
              <a:t> </a:t>
            </a:r>
            <a:r>
              <a:rPr spc="-5" dirty="0"/>
              <a:t>T</a:t>
            </a:r>
            <a:r>
              <a:rPr sz="2000" spc="-5" dirty="0"/>
              <a:t>2</a:t>
            </a:r>
            <a:endParaRPr sz="2000">
              <a:latin typeface="Times New Roman"/>
              <a:cs typeface="Times New Roman"/>
            </a:endParaRPr>
          </a:p>
          <a:p>
            <a:pPr marL="488950">
              <a:lnSpc>
                <a:spcPct val="100000"/>
              </a:lnSpc>
              <a:spcBef>
                <a:spcPts val="340"/>
              </a:spcBef>
            </a:pPr>
            <a:r>
              <a:rPr dirty="0"/>
              <a:t>if S</a:t>
            </a:r>
            <a:r>
              <a:rPr sz="2000" dirty="0"/>
              <a:t>1 </a:t>
            </a:r>
            <a:r>
              <a:rPr spc="-5" dirty="0"/>
              <a:t>= …w</a:t>
            </a:r>
            <a:r>
              <a:rPr sz="2000" spc="-5" dirty="0"/>
              <a:t>1</a:t>
            </a:r>
            <a:r>
              <a:rPr spc="-5" dirty="0"/>
              <a:t>(A) …</a:t>
            </a:r>
            <a:r>
              <a:rPr spc="-375" dirty="0"/>
              <a:t> </a:t>
            </a:r>
            <a:r>
              <a:rPr spc="-5" dirty="0"/>
              <a:t>r</a:t>
            </a:r>
            <a:r>
              <a:rPr sz="2000" spc="-5" dirty="0"/>
              <a:t>2</a:t>
            </a:r>
            <a:r>
              <a:rPr spc="-5" dirty="0"/>
              <a:t>(A)…</a:t>
            </a:r>
            <a:endParaRPr sz="2000"/>
          </a:p>
          <a:p>
            <a:pPr marL="488950" marR="1005205" indent="1352550">
              <a:lnSpc>
                <a:spcPct val="100000"/>
              </a:lnSpc>
              <a:spcBef>
                <a:spcPts val="45"/>
              </a:spcBef>
              <a:tabLst>
                <a:tab pos="5134610" algn="l"/>
              </a:tabLst>
            </a:pPr>
            <a:r>
              <a:rPr spc="-5" dirty="0"/>
              <a:t>(direct</a:t>
            </a:r>
            <a:r>
              <a:rPr spc="5" dirty="0"/>
              <a:t> </a:t>
            </a:r>
            <a:r>
              <a:rPr spc="-5" dirty="0"/>
              <a:t>read)</a:t>
            </a:r>
            <a:r>
              <a:rPr spc="10" dirty="0"/>
              <a:t> </a:t>
            </a:r>
            <a:r>
              <a:rPr spc="-5" dirty="0"/>
              <a:t>clearly	T</a:t>
            </a:r>
            <a:r>
              <a:rPr sz="2000" spc="-5" dirty="0"/>
              <a:t>1 </a:t>
            </a:r>
            <a:r>
              <a:rPr dirty="0"/>
              <a:t>&lt;</a:t>
            </a:r>
            <a:r>
              <a:rPr sz="2000" dirty="0"/>
              <a:t>ss</a:t>
            </a:r>
            <a:r>
              <a:rPr dirty="0"/>
              <a:t>T</a:t>
            </a:r>
            <a:r>
              <a:rPr sz="2000" dirty="0"/>
              <a:t>2  </a:t>
            </a:r>
            <a:r>
              <a:rPr dirty="0"/>
              <a:t>if S</a:t>
            </a:r>
            <a:r>
              <a:rPr sz="2000" dirty="0"/>
              <a:t>1 </a:t>
            </a:r>
            <a:r>
              <a:rPr spc="-5" dirty="0"/>
              <a:t>= …w</a:t>
            </a:r>
            <a:r>
              <a:rPr sz="2000" spc="-5" dirty="0"/>
              <a:t>1</a:t>
            </a:r>
            <a:r>
              <a:rPr spc="-5" dirty="0"/>
              <a:t>(A)… </a:t>
            </a:r>
            <a:r>
              <a:rPr spc="-5" dirty="0">
                <a:solidFill>
                  <a:srgbClr val="FFFFFF"/>
                </a:solidFill>
              </a:rPr>
              <a:t>r</a:t>
            </a:r>
            <a:r>
              <a:rPr sz="2000" spc="-5" dirty="0">
                <a:solidFill>
                  <a:srgbClr val="FFFFFF"/>
                </a:solidFill>
              </a:rPr>
              <a:t>3</a:t>
            </a:r>
            <a:r>
              <a:rPr spc="-5" dirty="0">
                <a:solidFill>
                  <a:srgbClr val="FFFFFF"/>
                </a:solidFill>
              </a:rPr>
              <a:t>(A) </a:t>
            </a:r>
            <a:r>
              <a:rPr spc="-5" dirty="0"/>
              <a:t>w</a:t>
            </a:r>
            <a:r>
              <a:rPr sz="2000" spc="-5" dirty="0"/>
              <a:t>3</a:t>
            </a:r>
            <a:r>
              <a:rPr spc="-5" dirty="0"/>
              <a:t>(A) ...</a:t>
            </a:r>
            <a:r>
              <a:rPr spc="-375" dirty="0"/>
              <a:t> </a:t>
            </a:r>
            <a:r>
              <a:rPr spc="-5" dirty="0"/>
              <a:t>r</a:t>
            </a:r>
            <a:r>
              <a:rPr sz="2000" spc="-5" dirty="0"/>
              <a:t>2</a:t>
            </a:r>
            <a:r>
              <a:rPr spc="-5" dirty="0"/>
              <a:t>(A)…</a:t>
            </a:r>
            <a:endParaRPr sz="2000"/>
          </a:p>
          <a:p>
            <a:pPr marL="2755900">
              <a:lnSpc>
                <a:spcPts val="3350"/>
              </a:lnSpc>
            </a:pPr>
            <a:r>
              <a:rPr spc="-5" dirty="0"/>
              <a:t>also T</a:t>
            </a:r>
            <a:r>
              <a:rPr sz="2000" spc="-5" dirty="0"/>
              <a:t>1 </a:t>
            </a:r>
            <a:r>
              <a:rPr dirty="0"/>
              <a:t>&lt;</a:t>
            </a:r>
            <a:r>
              <a:rPr sz="2000" dirty="0"/>
              <a:t>ss</a:t>
            </a:r>
            <a:r>
              <a:rPr dirty="0"/>
              <a:t>T</a:t>
            </a:r>
            <a:r>
              <a:rPr sz="2000" dirty="0"/>
              <a:t>2</a:t>
            </a:r>
            <a:endParaRPr sz="2000"/>
          </a:p>
          <a:p>
            <a:pPr marL="514350">
              <a:lnSpc>
                <a:spcPts val="3354"/>
              </a:lnSpc>
              <a:spcBef>
                <a:spcPts val="5"/>
              </a:spcBef>
            </a:pPr>
            <a:r>
              <a:rPr dirty="0"/>
              <a:t>if S</a:t>
            </a:r>
            <a:r>
              <a:rPr sz="2000" dirty="0"/>
              <a:t>1 </a:t>
            </a:r>
            <a:r>
              <a:rPr spc="-5" dirty="0"/>
              <a:t>=...</a:t>
            </a:r>
            <a:r>
              <a:rPr spc="-5" dirty="0">
                <a:solidFill>
                  <a:srgbClr val="FFFFFF"/>
                </a:solidFill>
              </a:rPr>
              <a:t>r</a:t>
            </a:r>
            <a:r>
              <a:rPr sz="2000" spc="-5" dirty="0">
                <a:solidFill>
                  <a:srgbClr val="FFFFFF"/>
                </a:solidFill>
              </a:rPr>
              <a:t>1</a:t>
            </a:r>
            <a:r>
              <a:rPr spc="-5" dirty="0">
                <a:solidFill>
                  <a:srgbClr val="FFFFFF"/>
                </a:solidFill>
              </a:rPr>
              <a:t>(A) r</a:t>
            </a:r>
            <a:r>
              <a:rPr sz="2000" spc="-5" dirty="0">
                <a:solidFill>
                  <a:srgbClr val="FFFFFF"/>
                </a:solidFill>
              </a:rPr>
              <a:t>3</a:t>
            </a:r>
            <a:r>
              <a:rPr spc="-5" dirty="0">
                <a:solidFill>
                  <a:srgbClr val="FFFFFF"/>
                </a:solidFill>
              </a:rPr>
              <a:t>(A) </a:t>
            </a:r>
            <a:r>
              <a:rPr spc="-5" dirty="0"/>
              <a:t>… w</a:t>
            </a:r>
            <a:r>
              <a:rPr sz="2000" spc="-5" dirty="0"/>
              <a:t>1</a:t>
            </a:r>
            <a:r>
              <a:rPr spc="-5" dirty="0"/>
              <a:t>(A) … w</a:t>
            </a:r>
            <a:r>
              <a:rPr sz="2000" spc="-5" dirty="0"/>
              <a:t>3</a:t>
            </a:r>
            <a:r>
              <a:rPr spc="-5" dirty="0"/>
              <a:t>(A) …</a:t>
            </a:r>
            <a:r>
              <a:rPr spc="-345" dirty="0"/>
              <a:t> </a:t>
            </a:r>
            <a:r>
              <a:rPr spc="-5" dirty="0"/>
              <a:t>r</a:t>
            </a:r>
            <a:r>
              <a:rPr sz="2000" spc="-5" dirty="0"/>
              <a:t>2</a:t>
            </a:r>
            <a:r>
              <a:rPr spc="-5" dirty="0"/>
              <a:t>(A)</a:t>
            </a:r>
            <a:endParaRPr sz="2000"/>
          </a:p>
          <a:p>
            <a:pPr marL="2755900">
              <a:lnSpc>
                <a:spcPts val="3020"/>
              </a:lnSpc>
            </a:pPr>
            <a:r>
              <a:rPr spc="-5" dirty="0"/>
              <a:t>not possible: T</a:t>
            </a:r>
            <a:r>
              <a:rPr sz="2000" spc="-5" dirty="0"/>
              <a:t>1,</a:t>
            </a:r>
            <a:r>
              <a:rPr spc="-5" dirty="0"/>
              <a:t>T</a:t>
            </a:r>
            <a:r>
              <a:rPr sz="2000" spc="-5" dirty="0"/>
              <a:t>3 </a:t>
            </a:r>
            <a:r>
              <a:rPr spc="-5" dirty="0"/>
              <a:t>not</a:t>
            </a:r>
            <a:endParaRPr sz="2000"/>
          </a:p>
          <a:p>
            <a:pPr marL="355600">
              <a:lnSpc>
                <a:spcPts val="3025"/>
              </a:lnSpc>
            </a:pPr>
            <a:r>
              <a:rPr spc="-5" dirty="0"/>
              <a:t>serializable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39140" y="6290945"/>
            <a:ext cx="3329304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100" spc="-997" baseline="57539" dirty="0">
                <a:latin typeface="Tahoma"/>
                <a:cs typeface="Tahoma"/>
              </a:rPr>
              <a:t>C</a:t>
            </a:r>
            <a:r>
              <a:rPr sz="2800" spc="-665" dirty="0">
                <a:latin typeface="Tahoma"/>
                <a:cs typeface="Tahoma"/>
              </a:rPr>
              <a:t>O</a:t>
            </a:r>
            <a:r>
              <a:rPr sz="2100" spc="-997" baseline="57539" dirty="0">
                <a:latin typeface="Tahoma"/>
                <a:cs typeface="Tahoma"/>
              </a:rPr>
              <a:t>S</a:t>
            </a:r>
            <a:r>
              <a:rPr sz="2100" spc="-142" baseline="57539" dirty="0">
                <a:latin typeface="Tahoma"/>
                <a:cs typeface="Tahoma"/>
              </a:rPr>
              <a:t> </a:t>
            </a:r>
            <a:r>
              <a:rPr sz="2800" spc="-335" dirty="0">
                <a:latin typeface="Tahoma"/>
                <a:cs typeface="Tahoma"/>
              </a:rPr>
              <a:t>t</a:t>
            </a:r>
            <a:r>
              <a:rPr sz="2100" spc="-502" baseline="57539" dirty="0">
                <a:latin typeface="Tahoma"/>
                <a:cs typeface="Tahoma"/>
              </a:rPr>
              <a:t>24</a:t>
            </a:r>
            <a:r>
              <a:rPr sz="2800" spc="-335" dirty="0">
                <a:latin typeface="Tahoma"/>
                <a:cs typeface="Tahoma"/>
              </a:rPr>
              <a:t>h</a:t>
            </a:r>
            <a:r>
              <a:rPr sz="2100" spc="-502" baseline="57539" dirty="0">
                <a:latin typeface="Tahoma"/>
                <a:cs typeface="Tahoma"/>
              </a:rPr>
              <a:t>5</a:t>
            </a:r>
            <a:r>
              <a:rPr sz="2800" spc="-335" dirty="0">
                <a:latin typeface="Tahoma"/>
                <a:cs typeface="Tahoma"/>
              </a:rPr>
              <a:t>er </a:t>
            </a:r>
            <a:r>
              <a:rPr sz="2800" spc="-5" dirty="0">
                <a:latin typeface="Tahoma"/>
                <a:cs typeface="Tahoma"/>
              </a:rPr>
              <a:t>cases</a:t>
            </a:r>
            <a:r>
              <a:rPr sz="2800" spc="-229" dirty="0">
                <a:latin typeface="Tahoma"/>
                <a:cs typeface="Tahoma"/>
              </a:rPr>
              <a:t> </a:t>
            </a:r>
            <a:r>
              <a:rPr sz="2800" spc="-40" dirty="0">
                <a:latin typeface="Tahoma"/>
                <a:cs typeface="Tahoma"/>
              </a:rPr>
              <a:t>similar...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6280784"/>
            <a:ext cx="57912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Tahoma"/>
                <a:cs typeface="Tahoma"/>
              </a:rPr>
              <a:t>CS</a:t>
            </a:r>
            <a:r>
              <a:rPr sz="1400" spc="-7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245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10050" y="6280784"/>
            <a:ext cx="72390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ahoma"/>
                <a:cs typeface="Tahoma"/>
              </a:rPr>
              <a:t>Notes</a:t>
            </a:r>
            <a:r>
              <a:rPr sz="1400" spc="-6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11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59750" y="6280784"/>
            <a:ext cx="22034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ahoma"/>
                <a:cs typeface="Tahoma"/>
              </a:rPr>
              <a:t>3</a:t>
            </a:r>
            <a:r>
              <a:rPr sz="1400" dirty="0">
                <a:latin typeface="Tahoma"/>
                <a:cs typeface="Tahoma"/>
              </a:rPr>
              <a:t>0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64540" y="891540"/>
            <a:ext cx="26174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heavy" spc="-5" dirty="0">
                <a:uFill>
                  <a:solidFill>
                    <a:srgbClr val="000000"/>
                  </a:solidFill>
                </a:uFill>
              </a:rPr>
              <a:t>Implications: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764540" y="2011044"/>
            <a:ext cx="7315200" cy="21723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If </a:t>
            </a:r>
            <a:r>
              <a:rPr sz="3200" dirty="0">
                <a:latin typeface="Tahoma"/>
                <a:cs typeface="Tahoma"/>
              </a:rPr>
              <a:t>no </a:t>
            </a:r>
            <a:r>
              <a:rPr sz="3200" spc="-5" dirty="0">
                <a:latin typeface="Tahoma"/>
                <a:cs typeface="Tahoma"/>
              </a:rPr>
              <a:t>blind writes, </a:t>
            </a:r>
            <a:r>
              <a:rPr sz="3200" spc="-10" dirty="0">
                <a:latin typeface="Tahoma"/>
                <a:cs typeface="Tahoma"/>
              </a:rPr>
              <a:t>view-ser </a:t>
            </a:r>
            <a:r>
              <a:rPr sz="3200" dirty="0">
                <a:latin typeface="Symbol"/>
                <a:cs typeface="Symbol"/>
              </a:rPr>
              <a:t></a:t>
            </a:r>
            <a:r>
              <a:rPr sz="3200" spc="229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ahoma"/>
                <a:cs typeface="Tahoma"/>
              </a:rPr>
              <a:t>conf-ser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4400">
              <a:latin typeface="Tahoma"/>
              <a:cs typeface="Tahoma"/>
            </a:endParaRPr>
          </a:p>
          <a:p>
            <a:pPr marL="926465" marR="280670" indent="-914400">
              <a:lnSpc>
                <a:spcPct val="100000"/>
              </a:lnSpc>
              <a:spcBef>
                <a:spcPts val="5"/>
              </a:spcBef>
            </a:pPr>
            <a:r>
              <a:rPr sz="3200" spc="-5" dirty="0">
                <a:latin typeface="Tahoma"/>
                <a:cs typeface="Tahoma"/>
              </a:rPr>
              <a:t>P(S) </a:t>
            </a:r>
            <a:r>
              <a:rPr sz="3200" spc="-10" dirty="0">
                <a:latin typeface="Tahoma"/>
                <a:cs typeface="Tahoma"/>
              </a:rPr>
              <a:t>acyclic </a:t>
            </a:r>
            <a:r>
              <a:rPr sz="3200" dirty="0">
                <a:latin typeface="Symbol"/>
                <a:cs typeface="Symbol"/>
              </a:rPr>
              <a:t>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ahoma"/>
                <a:cs typeface="Tahoma"/>
              </a:rPr>
              <a:t>all </a:t>
            </a:r>
            <a:r>
              <a:rPr sz="3200" spc="-10" dirty="0">
                <a:latin typeface="Tahoma"/>
                <a:cs typeface="Tahoma"/>
              </a:rPr>
              <a:t>transactions </a:t>
            </a:r>
            <a:r>
              <a:rPr sz="3200" spc="-5" dirty="0">
                <a:latin typeface="Tahoma"/>
                <a:cs typeface="Tahoma"/>
              </a:rPr>
              <a:t>read the  same as in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serial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schedule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1413</Words>
  <Application>Microsoft Office PowerPoint</Application>
  <PresentationFormat>全屏显示(4:3)</PresentationFormat>
  <Paragraphs>273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6" baseType="lpstr">
      <vt:lpstr>Calibri</vt:lpstr>
      <vt:lpstr>Symbol</vt:lpstr>
      <vt:lpstr>Tahoma</vt:lpstr>
      <vt:lpstr>Times New Roman</vt:lpstr>
      <vt:lpstr>Wingdings</vt:lpstr>
      <vt:lpstr>Office Theme</vt:lpstr>
      <vt:lpstr>Chapter 15: View  Serializability</vt:lpstr>
      <vt:lpstr>View Serializability</vt:lpstr>
      <vt:lpstr>Motivating example</vt:lpstr>
      <vt:lpstr>PowerPoint 演示文稿</vt:lpstr>
      <vt:lpstr>But now compare Q to Ss, a serial  schedule:</vt:lpstr>
      <vt:lpstr>PowerPoint 演示文稿</vt:lpstr>
      <vt:lpstr>Definition Schedules S1,S2 are View Equivalent if:</vt:lpstr>
      <vt:lpstr>PowerPoint 演示文稿</vt:lpstr>
      <vt:lpstr>PowerPoint 演示文稿</vt:lpstr>
      <vt:lpstr>Lemma</vt:lpstr>
      <vt:lpstr>Venn Diagram</vt:lpstr>
      <vt:lpstr>Note: All view serializable schedules that  are not conflict serializable, involve  useless write</vt:lpstr>
      <vt:lpstr>PowerPoint 演示文稿</vt:lpstr>
      <vt:lpstr>PowerPoint 演示文稿</vt:lpstr>
      <vt:lpstr>PowerPoint 演示文稿</vt:lpstr>
      <vt:lpstr>To check if S is View Serializable</vt:lpstr>
      <vt:lpstr>(2) Add initial transaction Tb  that writes all DB</vt:lpstr>
      <vt:lpstr>(3) Create labeled precedence graph of S:  (3a) If wi(A)  rj(A) in S, add Ti  Tj</vt:lpstr>
      <vt:lpstr>(3b) For each wi(A)  rj(A) do  consider each wk(A): [Tk Tb]</vt:lpstr>
      <vt:lpstr>(4) Check if LP(S) is “acyclic” (if so, S is  V-S) - For each pair of “p” arcs (p  0),  choose one</vt:lpstr>
      <vt:lpstr>Example: check if Q is V-S:  Q = r1(A) w2(A) w1(A) w3(A)</vt:lpstr>
      <vt:lpstr>Another example: Z=wb(A)r1(A) w2(A)r3(A) w1(A) w3(A)rf(A)</vt:lpstr>
      <vt:lpstr>PowerPoint 演示文稿</vt:lpstr>
      <vt:lpstr>PowerPoint 演示文稿</vt:lpstr>
      <vt:lpstr>PowerPoint 演示文稿</vt:lpstr>
      <vt:lpstr>Tb w1(A)r2(A)w2(B)r1(B) w3(A)w3(B) Tf</vt:lpstr>
      <vt:lpstr>PowerPoint 演示文稿</vt:lpstr>
      <vt:lpstr>PowerPoint 演示文稿</vt:lpstr>
      <vt:lpstr>Proof(?): say S1 is view-ser. and no blind  writes. S1 V-equiv to Ss, serial schedule.</vt:lpstr>
      <vt:lpstr>Implications: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- Vel</cp:lastModifiedBy>
  <cp:revision>1</cp:revision>
  <dcterms:created xsi:type="dcterms:W3CDTF">2024-06-19T09:23:49Z</dcterms:created>
  <dcterms:modified xsi:type="dcterms:W3CDTF">2024-06-22T07:34:21Z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2020-09-23T00:00:00Z</vt:filetime>
  </property>
  <property fmtid="{D5CDD505-2E9C-101B-9397-08002B2CF9AE}" pid="3" name="Creator">
    <vt:lpwstr>WPS 演示</vt:lpwstr>
  </property>
  <property fmtid="{D5CDD505-2E9C-101B-9397-08002B2CF9AE}" pid="4" name="LastSaved">
    <vt:filetime>2024-06-19T00:00:00Z</vt:filetime>
  </property>
</Properties>
</file>
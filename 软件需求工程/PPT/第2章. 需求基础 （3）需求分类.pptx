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</p:sldIdLst>
  <p:sldSz cx="9144000" cy="6858000" type="screen4x3"/>
  <p:notesSz cx="9144000" cy="6858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0" d="100"/>
          <a:sy n="90" d="100"/>
        </p:scale>
        <p:origin x="1680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41700" y="269747"/>
            <a:ext cx="2260600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00663C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00663C"/>
                </a:solidFill>
                <a:latin typeface="华文行楷"/>
                <a:cs typeface="华文行楷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4/25/2024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Garamond"/>
                <a:cs typeface="Garamond"/>
              </a:defRPr>
            </a:lvl1pPr>
          </a:lstStyle>
          <a:p>
            <a:pPr marL="38100">
              <a:lnSpc>
                <a:spcPts val="137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00663C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00663C"/>
                </a:solidFill>
                <a:latin typeface="华文行楷"/>
                <a:cs typeface="华文行楷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4/25/2024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Garamond"/>
                <a:cs typeface="Garamond"/>
              </a:defRPr>
            </a:lvl1pPr>
          </a:lstStyle>
          <a:p>
            <a:pPr marL="38100">
              <a:lnSpc>
                <a:spcPts val="137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00663C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00663C"/>
                </a:solidFill>
                <a:latin typeface="华文行楷"/>
                <a:cs typeface="华文行楷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4/25/2024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Garamond"/>
                <a:cs typeface="Garamond"/>
              </a:defRPr>
            </a:lvl1pPr>
          </a:lstStyle>
          <a:p>
            <a:pPr marL="38100">
              <a:lnSpc>
                <a:spcPts val="137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00663C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00663C"/>
                </a:solidFill>
                <a:latin typeface="华文行楷"/>
                <a:cs typeface="华文行楷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4/25/2024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Garamond"/>
                <a:cs typeface="Garamond"/>
              </a:defRPr>
            </a:lvl1pPr>
          </a:lstStyle>
          <a:p>
            <a:pPr marL="38100">
              <a:lnSpc>
                <a:spcPts val="137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00663C"/>
                </a:solidFill>
                <a:latin typeface="华文行楷"/>
                <a:cs typeface="华文行楷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4/25/2024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Garamond"/>
                <a:cs typeface="Garamond"/>
              </a:defRPr>
            </a:lvl1pPr>
          </a:lstStyle>
          <a:p>
            <a:pPr marL="38100">
              <a:lnSpc>
                <a:spcPts val="137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6308725"/>
            <a:ext cx="9144000" cy="1905"/>
          </a:xfrm>
          <a:custGeom>
            <a:avLst/>
            <a:gdLst/>
            <a:ahLst/>
            <a:cxnLst/>
            <a:rect l="l" t="t" r="r" b="b"/>
            <a:pathLst>
              <a:path w="9144000" h="1904">
                <a:moveTo>
                  <a:pt x="0" y="0"/>
                </a:moveTo>
                <a:lnTo>
                  <a:pt x="9144000" y="1588"/>
                </a:lnTo>
              </a:path>
            </a:pathLst>
          </a:custGeom>
          <a:ln w="12700">
            <a:solidFill>
              <a:srgbClr val="00663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89379" y="138683"/>
            <a:ext cx="6365240" cy="13544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00663C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46709" y="1184147"/>
            <a:ext cx="8450580" cy="3921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21220" y="6432367"/>
            <a:ext cx="2243455" cy="2781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rgbClr val="00663C"/>
                </a:solidFill>
                <a:latin typeface="华文行楷"/>
                <a:cs typeface="华文行楷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4/25/2024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606540" y="6467071"/>
            <a:ext cx="147954" cy="1968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Garamond"/>
                <a:cs typeface="Garamond"/>
              </a:defRPr>
            </a:lvl1pPr>
          </a:lstStyle>
          <a:p>
            <a:pPr marL="38100">
              <a:lnSpc>
                <a:spcPts val="137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7700" y="269747"/>
            <a:ext cx="78486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从功能需求的层次性看需求过程</a:t>
            </a:r>
          </a:p>
        </p:txBody>
      </p:sp>
      <p:sp>
        <p:nvSpPr>
          <p:cNvPr id="3" name="object 3"/>
          <p:cNvSpPr/>
          <p:nvPr/>
        </p:nvSpPr>
        <p:spPr>
          <a:xfrm>
            <a:off x="2412000" y="876300"/>
            <a:ext cx="4319998" cy="541611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87650" y="181356"/>
            <a:ext cx="35687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需求的分类</a:t>
            </a:r>
            <a:r>
              <a:rPr spc="-1290" dirty="0"/>
              <a:t> </a:t>
            </a:r>
            <a:r>
              <a:rPr spc="-5" dirty="0">
                <a:latin typeface="Calibri"/>
                <a:cs typeface="Calibri"/>
              </a:rPr>
              <a:t>(1)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77212" y="1093724"/>
            <a:ext cx="8997950" cy="4874895"/>
          </a:xfrm>
          <a:prstGeom prst="rect">
            <a:avLst/>
          </a:prstGeom>
        </p:spPr>
        <p:txBody>
          <a:bodyPr vert="horz" wrap="square" lIns="0" tIns="10414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20"/>
              </a:spcBef>
              <a:buClr>
                <a:srgbClr val="00663C"/>
              </a:buClr>
              <a:buSzPct val="7916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400" dirty="0">
                <a:solidFill>
                  <a:srgbClr val="D9D9D9"/>
                </a:solidFill>
                <a:latin typeface="宋体"/>
                <a:cs typeface="宋体"/>
              </a:rPr>
              <a:t>功能需求</a:t>
            </a:r>
            <a:r>
              <a:rPr sz="2400" spc="-5" dirty="0">
                <a:solidFill>
                  <a:srgbClr val="D9D9D9"/>
                </a:solidFill>
                <a:latin typeface="宋体"/>
                <a:cs typeface="宋体"/>
              </a:rPr>
              <a:t>（</a:t>
            </a:r>
            <a:r>
              <a:rPr sz="2400" spc="-5" dirty="0">
                <a:solidFill>
                  <a:srgbClr val="D9D9D9"/>
                </a:solidFill>
                <a:latin typeface="Calibri"/>
                <a:cs typeface="Calibri"/>
              </a:rPr>
              <a:t>Functional</a:t>
            </a:r>
            <a:r>
              <a:rPr sz="2400" spc="-15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D9D9D9"/>
                </a:solidFill>
                <a:latin typeface="Calibri"/>
                <a:cs typeface="Calibri"/>
              </a:rPr>
              <a:t>Requirement</a:t>
            </a:r>
            <a:r>
              <a:rPr sz="2400" spc="-5" dirty="0">
                <a:solidFill>
                  <a:srgbClr val="D9D9D9"/>
                </a:solidFill>
                <a:latin typeface="宋体"/>
                <a:cs typeface="宋体"/>
              </a:rPr>
              <a:t>）：</a:t>
            </a:r>
            <a:endParaRPr sz="2400" dirty="0">
              <a:latin typeface="宋体"/>
              <a:cs typeface="宋体"/>
            </a:endParaRPr>
          </a:p>
          <a:p>
            <a:pPr marL="755015" marR="5080" lvl="1" indent="-285750">
              <a:lnSpc>
                <a:spcPct val="97100"/>
              </a:lnSpc>
              <a:spcBef>
                <a:spcPts val="800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sz="2400" dirty="0">
                <a:solidFill>
                  <a:srgbClr val="D9D9D9"/>
                </a:solidFill>
                <a:latin typeface="宋体"/>
                <a:cs typeface="宋体"/>
              </a:rPr>
              <a:t>和系统主要工作相关的需求，即在不考虑物理约束的情况下， 用户希望系统所能够执行的活动，这些活动可以帮助用户完 成任务。功能需求主要表现为系统和环境之间的行为交互。</a:t>
            </a:r>
            <a:endParaRPr sz="2400" dirty="0">
              <a:latin typeface="宋体"/>
              <a:cs typeface="宋体"/>
            </a:endParaRPr>
          </a:p>
          <a:p>
            <a:pPr lvl="1">
              <a:lnSpc>
                <a:spcPct val="100000"/>
              </a:lnSpc>
              <a:spcBef>
                <a:spcPts val="15"/>
              </a:spcBef>
              <a:buClr>
                <a:srgbClr val="C00000"/>
              </a:buClr>
              <a:buFont typeface="Wingdings"/>
              <a:buChar char=""/>
            </a:pPr>
            <a:endParaRPr sz="2650" dirty="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buClr>
                <a:srgbClr val="00663C"/>
              </a:buClr>
              <a:buSzPct val="7916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400" dirty="0">
                <a:latin typeface="宋体"/>
                <a:cs typeface="宋体"/>
              </a:rPr>
              <a:t>性能需求</a:t>
            </a:r>
            <a:r>
              <a:rPr sz="2400" spc="-5" dirty="0">
                <a:latin typeface="宋体"/>
                <a:cs typeface="宋体"/>
              </a:rPr>
              <a:t>（</a:t>
            </a:r>
            <a:r>
              <a:rPr sz="2400" spc="-5" dirty="0">
                <a:latin typeface="Calibri"/>
                <a:cs typeface="Calibri"/>
              </a:rPr>
              <a:t>Performance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Requirement</a:t>
            </a:r>
            <a:r>
              <a:rPr sz="2400" spc="-5" dirty="0">
                <a:latin typeface="宋体"/>
                <a:cs typeface="宋体"/>
              </a:rPr>
              <a:t>）：</a:t>
            </a:r>
            <a:endParaRPr sz="2400" dirty="0">
              <a:latin typeface="宋体"/>
              <a:cs typeface="宋体"/>
            </a:endParaRPr>
          </a:p>
          <a:p>
            <a:pPr marL="755015" marR="405130" lvl="1" indent="-285750">
              <a:lnSpc>
                <a:spcPct val="100800"/>
              </a:lnSpc>
              <a:spcBef>
                <a:spcPts val="600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sz="2400" dirty="0">
                <a:latin typeface="宋体"/>
                <a:cs typeface="宋体"/>
              </a:rPr>
              <a:t>系统整体或系统组成部分应该拥有的性能特征，例如</a:t>
            </a:r>
            <a:r>
              <a:rPr sz="2400" spc="-5" dirty="0">
                <a:latin typeface="Calibri"/>
                <a:cs typeface="Calibri"/>
              </a:rPr>
              <a:t>CP</a:t>
            </a:r>
            <a:r>
              <a:rPr sz="2400" dirty="0">
                <a:latin typeface="Calibri"/>
                <a:cs typeface="Calibri"/>
              </a:rPr>
              <a:t>U</a:t>
            </a:r>
            <a:r>
              <a:rPr sz="2400" dirty="0">
                <a:latin typeface="宋体"/>
                <a:cs typeface="宋体"/>
              </a:rPr>
              <a:t>使 用率、内存使用率等。</a:t>
            </a:r>
          </a:p>
          <a:p>
            <a:pPr lvl="1">
              <a:lnSpc>
                <a:spcPct val="100000"/>
              </a:lnSpc>
              <a:spcBef>
                <a:spcPts val="35"/>
              </a:spcBef>
              <a:buClr>
                <a:srgbClr val="C00000"/>
              </a:buClr>
              <a:buFont typeface="Wingdings"/>
              <a:buChar char=""/>
            </a:pPr>
            <a:endParaRPr sz="2650" dirty="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buClr>
                <a:srgbClr val="00663C"/>
              </a:buClr>
              <a:buSzPct val="7916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400" dirty="0">
                <a:solidFill>
                  <a:srgbClr val="D9D9D9"/>
                </a:solidFill>
                <a:latin typeface="宋体"/>
                <a:cs typeface="宋体"/>
              </a:rPr>
              <a:t>质量属性</a:t>
            </a:r>
            <a:r>
              <a:rPr sz="2400" spc="-5" dirty="0">
                <a:solidFill>
                  <a:srgbClr val="D9D9D9"/>
                </a:solidFill>
                <a:latin typeface="宋体"/>
                <a:cs typeface="宋体"/>
              </a:rPr>
              <a:t>（</a:t>
            </a:r>
            <a:r>
              <a:rPr sz="2400" spc="-5" dirty="0">
                <a:solidFill>
                  <a:srgbClr val="D9D9D9"/>
                </a:solidFill>
                <a:latin typeface="Calibri"/>
                <a:cs typeface="Calibri"/>
              </a:rPr>
              <a:t>Quality</a:t>
            </a:r>
            <a:r>
              <a:rPr sz="2400" spc="-10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D9D9D9"/>
                </a:solidFill>
                <a:latin typeface="Calibri"/>
                <a:cs typeface="Calibri"/>
              </a:rPr>
              <a:t>Attribute</a:t>
            </a:r>
            <a:r>
              <a:rPr sz="2400" spc="-5" dirty="0">
                <a:solidFill>
                  <a:srgbClr val="D9D9D9"/>
                </a:solidFill>
                <a:latin typeface="宋体"/>
                <a:cs typeface="宋体"/>
              </a:rPr>
              <a:t>）：</a:t>
            </a:r>
            <a:endParaRPr sz="2400" dirty="0">
              <a:latin typeface="宋体"/>
              <a:cs typeface="宋体"/>
            </a:endParaRPr>
          </a:p>
          <a:p>
            <a:pPr marL="755015" marR="309880" lvl="1" indent="-285750">
              <a:lnSpc>
                <a:spcPts val="2690"/>
              </a:lnSpc>
              <a:spcBef>
                <a:spcPts val="1065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sz="2400" dirty="0">
                <a:solidFill>
                  <a:srgbClr val="D9D9D9"/>
                </a:solidFill>
                <a:latin typeface="宋体"/>
                <a:cs typeface="宋体"/>
              </a:rPr>
              <a:t>系统完成工作的质量，即系统需要在一个“好的程度”上实 现功能需求，例如可靠性程度、可维护性程度等。</a:t>
            </a:r>
            <a:endParaRPr sz="2400" dirty="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41700" y="269747"/>
            <a:ext cx="22606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性能需求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349756"/>
            <a:ext cx="7894955" cy="4112895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584200" indent="-571500">
              <a:lnSpc>
                <a:spcPct val="100000"/>
              </a:lnSpc>
              <a:spcBef>
                <a:spcPts val="600"/>
              </a:spcBef>
              <a:buClr>
                <a:srgbClr val="00663C"/>
              </a:buClr>
              <a:buSzPct val="79166"/>
              <a:buFont typeface="Wingdings"/>
              <a:buChar char=""/>
              <a:tabLst>
                <a:tab pos="583565" algn="l"/>
                <a:tab pos="584200" algn="l"/>
              </a:tabLst>
            </a:pPr>
            <a:r>
              <a:rPr sz="2400" dirty="0">
                <a:latin typeface="宋体"/>
                <a:cs typeface="宋体"/>
              </a:rPr>
              <a:t>速度（</a:t>
            </a:r>
            <a:r>
              <a:rPr sz="2400" dirty="0">
                <a:latin typeface="Calibri"/>
                <a:cs typeface="Calibri"/>
              </a:rPr>
              <a:t>Speed</a:t>
            </a:r>
            <a:r>
              <a:rPr sz="2400" dirty="0">
                <a:latin typeface="宋体"/>
                <a:cs typeface="宋体"/>
              </a:rPr>
              <a:t>），系统的响应时间。</a:t>
            </a:r>
            <a:endParaRPr sz="2400">
              <a:latin typeface="宋体"/>
              <a:cs typeface="宋体"/>
            </a:endParaRPr>
          </a:p>
          <a:p>
            <a:pPr marL="852805" lvl="1" indent="-495934">
              <a:lnSpc>
                <a:spcPct val="100000"/>
              </a:lnSpc>
              <a:spcBef>
                <a:spcPts val="505"/>
              </a:spcBef>
              <a:buClr>
                <a:srgbClr val="C00000"/>
              </a:buClr>
              <a:buSzPct val="59574"/>
              <a:buFont typeface="Wingdings"/>
              <a:buChar char=""/>
              <a:tabLst>
                <a:tab pos="852169" algn="l"/>
                <a:tab pos="852805" algn="l"/>
              </a:tabLst>
            </a:pPr>
            <a:r>
              <a:rPr sz="3525" b="1" spc="127" baseline="1182" dirty="0">
                <a:latin typeface="宋体"/>
                <a:cs typeface="宋体"/>
              </a:rPr>
              <a:t>例</a:t>
            </a:r>
            <a:r>
              <a:rPr sz="3525" b="1" spc="135" baseline="1182" dirty="0">
                <a:latin typeface="宋体"/>
                <a:cs typeface="宋体"/>
              </a:rPr>
              <a:t>子</a:t>
            </a:r>
            <a:r>
              <a:rPr sz="2400" dirty="0">
                <a:latin typeface="宋体"/>
                <a:cs typeface="宋体"/>
              </a:rPr>
              <a:t>：所有的用户查询都必须在</a:t>
            </a:r>
            <a:r>
              <a:rPr sz="2400" spc="-5" dirty="0">
                <a:latin typeface="Calibri"/>
                <a:cs typeface="Calibri"/>
              </a:rPr>
              <a:t>10</a:t>
            </a:r>
            <a:r>
              <a:rPr sz="2400" dirty="0">
                <a:latin typeface="宋体"/>
                <a:cs typeface="宋体"/>
              </a:rPr>
              <a:t>秒内完成。</a:t>
            </a:r>
            <a:endParaRPr sz="2400">
              <a:latin typeface="宋体"/>
              <a:cs typeface="宋体"/>
            </a:endParaRPr>
          </a:p>
          <a:p>
            <a:pPr lvl="1">
              <a:lnSpc>
                <a:spcPct val="100000"/>
              </a:lnSpc>
              <a:spcBef>
                <a:spcPts val="5"/>
              </a:spcBef>
              <a:buClr>
                <a:srgbClr val="C00000"/>
              </a:buClr>
              <a:buFont typeface="Wingdings"/>
              <a:buChar char=""/>
            </a:pPr>
            <a:endParaRPr sz="2750">
              <a:latin typeface="宋体"/>
              <a:cs typeface="宋体"/>
            </a:endParaRPr>
          </a:p>
          <a:p>
            <a:pPr marL="584200" indent="-571500">
              <a:lnSpc>
                <a:spcPct val="100000"/>
              </a:lnSpc>
              <a:buClr>
                <a:srgbClr val="00663C"/>
              </a:buClr>
              <a:buSzPct val="79166"/>
              <a:buFont typeface="Wingdings"/>
              <a:buChar char=""/>
              <a:tabLst>
                <a:tab pos="583565" algn="l"/>
                <a:tab pos="584200" algn="l"/>
              </a:tabLst>
            </a:pPr>
            <a:r>
              <a:rPr sz="2400" dirty="0">
                <a:latin typeface="宋体"/>
                <a:cs typeface="宋体"/>
              </a:rPr>
              <a:t>容量</a:t>
            </a:r>
            <a:r>
              <a:rPr sz="2400" spc="-5" dirty="0">
                <a:latin typeface="宋体"/>
                <a:cs typeface="宋体"/>
              </a:rPr>
              <a:t>（</a:t>
            </a:r>
            <a:r>
              <a:rPr sz="2400" spc="-5" dirty="0">
                <a:latin typeface="Calibri"/>
                <a:cs typeface="Calibri"/>
              </a:rPr>
              <a:t>Capacity</a:t>
            </a:r>
            <a:r>
              <a:rPr sz="2400" spc="-5" dirty="0">
                <a:latin typeface="宋体"/>
                <a:cs typeface="宋体"/>
              </a:rPr>
              <a:t>），</a:t>
            </a:r>
            <a:r>
              <a:rPr sz="2400" dirty="0">
                <a:latin typeface="宋体"/>
                <a:cs typeface="宋体"/>
              </a:rPr>
              <a:t>系统所能存储的数据量。</a:t>
            </a:r>
            <a:endParaRPr sz="2400">
              <a:latin typeface="宋体"/>
              <a:cs typeface="宋体"/>
            </a:endParaRPr>
          </a:p>
          <a:p>
            <a:pPr marL="852805" lvl="1" indent="-495934">
              <a:lnSpc>
                <a:spcPct val="100000"/>
              </a:lnSpc>
              <a:spcBef>
                <a:spcPts val="530"/>
              </a:spcBef>
              <a:buClr>
                <a:srgbClr val="C00000"/>
              </a:buClr>
              <a:buSzPct val="59574"/>
              <a:buFont typeface="Wingdings"/>
              <a:buChar char=""/>
              <a:tabLst>
                <a:tab pos="852169" algn="l"/>
                <a:tab pos="852805" algn="l"/>
              </a:tabLst>
            </a:pPr>
            <a:r>
              <a:rPr sz="3525" b="1" spc="127" baseline="1182" dirty="0">
                <a:latin typeface="宋体"/>
                <a:cs typeface="宋体"/>
              </a:rPr>
              <a:t>例</a:t>
            </a:r>
            <a:r>
              <a:rPr sz="3525" b="1" spc="135" baseline="1182" dirty="0">
                <a:latin typeface="宋体"/>
                <a:cs typeface="宋体"/>
              </a:rPr>
              <a:t>子</a:t>
            </a:r>
            <a:r>
              <a:rPr sz="2400" dirty="0">
                <a:latin typeface="宋体"/>
                <a:cs typeface="宋体"/>
              </a:rPr>
              <a:t>：系统应该能够存储至少</a:t>
            </a:r>
            <a:r>
              <a:rPr sz="2400" spc="-5" dirty="0">
                <a:latin typeface="Calibri"/>
                <a:cs typeface="Calibri"/>
              </a:rPr>
              <a:t>10</a:t>
            </a:r>
            <a:r>
              <a:rPr sz="2400" dirty="0">
                <a:latin typeface="宋体"/>
                <a:cs typeface="宋体"/>
              </a:rPr>
              <a:t>万条销售记录。</a:t>
            </a:r>
            <a:endParaRPr sz="2400">
              <a:latin typeface="宋体"/>
              <a:cs typeface="宋体"/>
            </a:endParaRPr>
          </a:p>
          <a:p>
            <a:pPr lvl="1">
              <a:lnSpc>
                <a:spcPct val="100000"/>
              </a:lnSpc>
              <a:spcBef>
                <a:spcPts val="20"/>
              </a:spcBef>
              <a:buClr>
                <a:srgbClr val="C00000"/>
              </a:buClr>
              <a:buFont typeface="Wingdings"/>
              <a:buChar char=""/>
            </a:pPr>
            <a:endParaRPr sz="2700">
              <a:latin typeface="宋体"/>
              <a:cs typeface="宋体"/>
            </a:endParaRPr>
          </a:p>
          <a:p>
            <a:pPr marL="584200" marR="49530" indent="-571500">
              <a:lnSpc>
                <a:spcPct val="100800"/>
              </a:lnSpc>
              <a:buClr>
                <a:srgbClr val="00663C"/>
              </a:buClr>
              <a:buSzPct val="79166"/>
              <a:buFont typeface="Wingdings"/>
              <a:buChar char=""/>
              <a:tabLst>
                <a:tab pos="583565" algn="l"/>
                <a:tab pos="584200" algn="l"/>
              </a:tabLst>
            </a:pPr>
            <a:r>
              <a:rPr sz="2400" dirty="0">
                <a:latin typeface="宋体"/>
                <a:cs typeface="宋体"/>
              </a:rPr>
              <a:t>吞吐量（</a:t>
            </a:r>
            <a:r>
              <a:rPr sz="2400" spc="5" dirty="0">
                <a:latin typeface="Calibri"/>
                <a:cs typeface="Calibri"/>
              </a:rPr>
              <a:t>T</a:t>
            </a:r>
            <a:r>
              <a:rPr sz="2400" dirty="0">
                <a:latin typeface="Calibri"/>
                <a:cs typeface="Calibri"/>
              </a:rPr>
              <a:t>hr</a:t>
            </a:r>
            <a:r>
              <a:rPr sz="2400" spc="-5" dirty="0">
                <a:latin typeface="Calibri"/>
                <a:cs typeface="Calibri"/>
              </a:rPr>
              <a:t>o</a:t>
            </a:r>
            <a:r>
              <a:rPr sz="2400" dirty="0">
                <a:latin typeface="Calibri"/>
                <a:cs typeface="Calibri"/>
              </a:rPr>
              <a:t>u</a:t>
            </a:r>
            <a:r>
              <a:rPr sz="2400" spc="-5" dirty="0">
                <a:latin typeface="Calibri"/>
                <a:cs typeface="Calibri"/>
              </a:rPr>
              <a:t>g</a:t>
            </a:r>
            <a:r>
              <a:rPr sz="2400" dirty="0">
                <a:latin typeface="Calibri"/>
                <a:cs typeface="Calibri"/>
              </a:rPr>
              <a:t>hpu</a:t>
            </a:r>
            <a:r>
              <a:rPr sz="2400" spc="-5" dirty="0">
                <a:latin typeface="Calibri"/>
                <a:cs typeface="Calibri"/>
              </a:rPr>
              <a:t>t</a:t>
            </a:r>
            <a:r>
              <a:rPr sz="2400" dirty="0">
                <a:latin typeface="宋体"/>
                <a:cs typeface="宋体"/>
              </a:rPr>
              <a:t>），系统在连续的时间内完成的事 务数量。</a:t>
            </a:r>
            <a:endParaRPr sz="2400">
              <a:latin typeface="宋体"/>
              <a:cs typeface="宋体"/>
            </a:endParaRPr>
          </a:p>
          <a:p>
            <a:pPr marL="852169" marR="5080" lvl="1" indent="-495300">
              <a:lnSpc>
                <a:spcPct val="100800"/>
              </a:lnSpc>
              <a:spcBef>
                <a:spcPts val="505"/>
              </a:spcBef>
              <a:buClr>
                <a:srgbClr val="C00000"/>
              </a:buClr>
              <a:buSzPct val="59574"/>
              <a:buFont typeface="Wingdings"/>
              <a:buChar char=""/>
              <a:tabLst>
                <a:tab pos="852169" algn="l"/>
                <a:tab pos="852805" algn="l"/>
              </a:tabLst>
            </a:pPr>
            <a:r>
              <a:rPr sz="3525" b="1" spc="127" baseline="1182" dirty="0">
                <a:latin typeface="宋体"/>
                <a:cs typeface="宋体"/>
              </a:rPr>
              <a:t>例</a:t>
            </a:r>
            <a:r>
              <a:rPr sz="3525" b="1" spc="135" baseline="1182" dirty="0">
                <a:latin typeface="宋体"/>
                <a:cs typeface="宋体"/>
              </a:rPr>
              <a:t>子</a:t>
            </a:r>
            <a:r>
              <a:rPr sz="2400" dirty="0">
                <a:latin typeface="宋体"/>
                <a:cs typeface="宋体"/>
              </a:rPr>
              <a:t>：解释器每分钟应该至少解析</a:t>
            </a:r>
            <a:r>
              <a:rPr sz="2400" spc="-5" dirty="0">
                <a:latin typeface="Calibri"/>
                <a:cs typeface="Calibri"/>
              </a:rPr>
              <a:t>5000</a:t>
            </a:r>
            <a:r>
              <a:rPr sz="2400" dirty="0">
                <a:latin typeface="宋体"/>
                <a:cs typeface="宋体"/>
              </a:rPr>
              <a:t>条没有错误的 语句。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41700" y="269747"/>
            <a:ext cx="22606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性能需求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480820"/>
            <a:ext cx="8046084" cy="2500630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584200" indent="-571500">
              <a:lnSpc>
                <a:spcPct val="100000"/>
              </a:lnSpc>
              <a:spcBef>
                <a:spcPts val="600"/>
              </a:spcBef>
              <a:buClr>
                <a:srgbClr val="00663C"/>
              </a:buClr>
              <a:buSzPct val="79166"/>
              <a:buFont typeface="Wingdings"/>
              <a:buChar char=""/>
              <a:tabLst>
                <a:tab pos="583565" algn="l"/>
                <a:tab pos="584200" algn="l"/>
              </a:tabLst>
            </a:pPr>
            <a:r>
              <a:rPr sz="2400" dirty="0">
                <a:latin typeface="宋体"/>
                <a:cs typeface="宋体"/>
              </a:rPr>
              <a:t>负载</a:t>
            </a:r>
            <a:r>
              <a:rPr sz="2400" spc="-5" dirty="0">
                <a:latin typeface="宋体"/>
                <a:cs typeface="宋体"/>
              </a:rPr>
              <a:t>（</a:t>
            </a:r>
            <a:r>
              <a:rPr sz="2400" spc="-5" dirty="0">
                <a:latin typeface="Calibri"/>
                <a:cs typeface="Calibri"/>
              </a:rPr>
              <a:t>Load</a:t>
            </a:r>
            <a:r>
              <a:rPr sz="2400" spc="-5" dirty="0">
                <a:latin typeface="宋体"/>
                <a:cs typeface="宋体"/>
              </a:rPr>
              <a:t>），</a:t>
            </a:r>
            <a:r>
              <a:rPr sz="2400" dirty="0">
                <a:latin typeface="宋体"/>
                <a:cs typeface="宋体"/>
              </a:rPr>
              <a:t>系统可以承载的并发工作量。</a:t>
            </a:r>
            <a:endParaRPr sz="2400">
              <a:latin typeface="宋体"/>
              <a:cs typeface="宋体"/>
            </a:endParaRPr>
          </a:p>
          <a:p>
            <a:pPr marL="852805" lvl="1" indent="-495934">
              <a:lnSpc>
                <a:spcPct val="100000"/>
              </a:lnSpc>
              <a:spcBef>
                <a:spcPts val="505"/>
              </a:spcBef>
              <a:buClr>
                <a:srgbClr val="C00000"/>
              </a:buClr>
              <a:buSzPct val="59574"/>
              <a:buFont typeface="Wingdings"/>
              <a:buChar char=""/>
              <a:tabLst>
                <a:tab pos="852169" algn="l"/>
                <a:tab pos="852805" algn="l"/>
              </a:tabLst>
            </a:pPr>
            <a:r>
              <a:rPr sz="3525" b="1" spc="127" baseline="1182" dirty="0">
                <a:latin typeface="宋体"/>
                <a:cs typeface="宋体"/>
              </a:rPr>
              <a:t>例</a:t>
            </a:r>
            <a:r>
              <a:rPr sz="3525" b="1" spc="135" baseline="1182" dirty="0">
                <a:latin typeface="宋体"/>
                <a:cs typeface="宋体"/>
              </a:rPr>
              <a:t>子</a:t>
            </a:r>
            <a:r>
              <a:rPr sz="2400" dirty="0">
                <a:latin typeface="宋体"/>
                <a:cs typeface="宋体"/>
              </a:rPr>
              <a:t>：系统应该允许</a:t>
            </a:r>
            <a:r>
              <a:rPr sz="2400" spc="-5" dirty="0">
                <a:latin typeface="Calibri"/>
                <a:cs typeface="Calibri"/>
              </a:rPr>
              <a:t>200</a:t>
            </a:r>
            <a:r>
              <a:rPr sz="2400" dirty="0">
                <a:latin typeface="宋体"/>
                <a:cs typeface="宋体"/>
              </a:rPr>
              <a:t>个用户同时进行正常的工作。</a:t>
            </a:r>
            <a:endParaRPr sz="2400">
              <a:latin typeface="宋体"/>
              <a:cs typeface="宋体"/>
            </a:endParaRPr>
          </a:p>
          <a:p>
            <a:pPr lvl="1">
              <a:lnSpc>
                <a:spcPct val="100000"/>
              </a:lnSpc>
              <a:spcBef>
                <a:spcPts val="5"/>
              </a:spcBef>
              <a:buClr>
                <a:srgbClr val="C00000"/>
              </a:buClr>
              <a:buFont typeface="Wingdings"/>
              <a:buChar char=""/>
            </a:pPr>
            <a:endParaRPr sz="2750">
              <a:latin typeface="宋体"/>
              <a:cs typeface="宋体"/>
            </a:endParaRPr>
          </a:p>
          <a:p>
            <a:pPr marL="584200" indent="-571500">
              <a:lnSpc>
                <a:spcPct val="100000"/>
              </a:lnSpc>
              <a:buClr>
                <a:srgbClr val="00663C"/>
              </a:buClr>
              <a:buSzPct val="79166"/>
              <a:buFont typeface="Wingdings"/>
              <a:buChar char=""/>
              <a:tabLst>
                <a:tab pos="583565" algn="l"/>
                <a:tab pos="584200" algn="l"/>
              </a:tabLst>
            </a:pPr>
            <a:r>
              <a:rPr sz="2400" dirty="0">
                <a:latin typeface="宋体"/>
                <a:cs typeface="宋体"/>
              </a:rPr>
              <a:t>实时性</a:t>
            </a:r>
            <a:r>
              <a:rPr sz="2400" spc="-5" dirty="0">
                <a:latin typeface="宋体"/>
                <a:cs typeface="宋体"/>
              </a:rPr>
              <a:t>（</a:t>
            </a:r>
            <a:r>
              <a:rPr sz="2400" spc="-5" dirty="0">
                <a:latin typeface="Calibri"/>
                <a:cs typeface="Calibri"/>
              </a:rPr>
              <a:t>Time-Critical</a:t>
            </a:r>
            <a:r>
              <a:rPr sz="2400" spc="-5" dirty="0">
                <a:latin typeface="宋体"/>
                <a:cs typeface="宋体"/>
              </a:rPr>
              <a:t>），</a:t>
            </a:r>
            <a:r>
              <a:rPr sz="2400" dirty="0">
                <a:latin typeface="宋体"/>
                <a:cs typeface="宋体"/>
              </a:rPr>
              <a:t>严格的实时要求。</a:t>
            </a:r>
            <a:endParaRPr sz="2400">
              <a:latin typeface="宋体"/>
              <a:cs typeface="宋体"/>
            </a:endParaRPr>
          </a:p>
          <a:p>
            <a:pPr marL="852169" marR="82550" lvl="1" indent="-495300">
              <a:lnSpc>
                <a:spcPct val="100800"/>
              </a:lnSpc>
              <a:spcBef>
                <a:spcPts val="505"/>
              </a:spcBef>
              <a:buClr>
                <a:srgbClr val="C00000"/>
              </a:buClr>
              <a:buSzPct val="59574"/>
              <a:buFont typeface="Wingdings"/>
              <a:buChar char=""/>
              <a:tabLst>
                <a:tab pos="852169" algn="l"/>
                <a:tab pos="852805" algn="l"/>
              </a:tabLst>
            </a:pPr>
            <a:r>
              <a:rPr sz="3525" b="1" spc="127" baseline="1182" dirty="0">
                <a:latin typeface="宋体"/>
                <a:cs typeface="宋体"/>
              </a:rPr>
              <a:t>例</a:t>
            </a:r>
            <a:r>
              <a:rPr sz="3525" b="1" spc="135" baseline="1182" dirty="0">
                <a:latin typeface="宋体"/>
                <a:cs typeface="宋体"/>
              </a:rPr>
              <a:t>子</a:t>
            </a:r>
            <a:r>
              <a:rPr sz="2400" dirty="0">
                <a:latin typeface="宋体"/>
                <a:cs typeface="宋体"/>
              </a:rPr>
              <a:t>：监测到病人异常后，监控器必须在</a:t>
            </a:r>
            <a:r>
              <a:rPr sz="2400" spc="-5" dirty="0">
                <a:latin typeface="Calibri"/>
                <a:cs typeface="Calibri"/>
              </a:rPr>
              <a:t>0.</a:t>
            </a:r>
            <a:r>
              <a:rPr sz="2400" spc="-10" dirty="0">
                <a:latin typeface="Calibri"/>
                <a:cs typeface="Calibri"/>
              </a:rPr>
              <a:t>5</a:t>
            </a:r>
            <a:r>
              <a:rPr sz="2400" dirty="0">
                <a:latin typeface="宋体"/>
                <a:cs typeface="宋体"/>
              </a:rPr>
              <a:t>秒内发出 警报。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性能需求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75"/>
              </a:lnSpc>
            </a:pPr>
            <a:fld id="{81D60167-4931-47E6-BA6A-407CBD079E47}" type="slidenum">
              <a:rPr dirty="0"/>
              <a:t>5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086611"/>
            <a:ext cx="8213725" cy="222313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473075" marR="5080" indent="-460375" algn="just">
              <a:lnSpc>
                <a:spcPct val="149700"/>
              </a:lnSpc>
              <a:spcBef>
                <a:spcPts val="160"/>
              </a:spcBef>
            </a:pPr>
            <a:r>
              <a:rPr sz="3100" b="1" u="heavy" spc="145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示例</a:t>
            </a:r>
            <a:r>
              <a:rPr sz="3200" b="1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.</a:t>
            </a:r>
            <a:r>
              <a:rPr sz="3200" b="1" u="heavy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3100" b="1" u="heavy" spc="145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文字处理系统非功能需求（性能需求）  </a:t>
            </a:r>
            <a:r>
              <a:rPr sz="3200" dirty="0">
                <a:latin typeface="宋体"/>
                <a:cs typeface="宋体"/>
              </a:rPr>
              <a:t>检查单词的速度快，准确率要求达到</a:t>
            </a:r>
            <a:r>
              <a:rPr sz="3200" dirty="0">
                <a:latin typeface="Calibri"/>
                <a:cs typeface="Calibri"/>
              </a:rPr>
              <a:t>99</a:t>
            </a:r>
            <a:r>
              <a:rPr sz="3200" dirty="0">
                <a:latin typeface="宋体"/>
                <a:cs typeface="宋体"/>
              </a:rPr>
              <a:t>％， 系统的有效性和可靠性要高等。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41700" y="269747"/>
            <a:ext cx="22606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性能需求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75"/>
              </a:lnSpc>
            </a:pPr>
            <a:fld id="{81D60167-4931-47E6-BA6A-407CBD079E47}" type="slidenum">
              <a:rPr dirty="0"/>
              <a:t>6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16280" indent="-514350">
              <a:lnSpc>
                <a:spcPts val="3820"/>
              </a:lnSpc>
              <a:spcBef>
                <a:spcPts val="100"/>
              </a:spcBef>
              <a:buClr>
                <a:srgbClr val="00663C"/>
              </a:buClr>
              <a:buSzPct val="81250"/>
              <a:buFont typeface="Wingdings"/>
              <a:buChar char=""/>
              <a:tabLst>
                <a:tab pos="715645" algn="l"/>
                <a:tab pos="716280" algn="l"/>
              </a:tabLst>
            </a:pPr>
            <a:r>
              <a:rPr dirty="0"/>
              <a:t>性能需求的定义要适合于</a:t>
            </a:r>
            <a:r>
              <a:rPr dirty="0">
                <a:solidFill>
                  <a:srgbClr val="FF0000"/>
                </a:solidFill>
              </a:rPr>
              <a:t>运行环境</a:t>
            </a:r>
            <a:r>
              <a:rPr dirty="0"/>
              <a:t>。</a:t>
            </a:r>
          </a:p>
          <a:p>
            <a:pPr marL="1116330" lvl="1" indent="-514350">
              <a:lnSpc>
                <a:spcPts val="2860"/>
              </a:lnSpc>
              <a:buClr>
                <a:srgbClr val="C00000"/>
              </a:buClr>
              <a:buSzPct val="58333"/>
              <a:buFont typeface="Wingdings"/>
              <a:buChar char=""/>
              <a:tabLst>
                <a:tab pos="1115695" algn="l"/>
                <a:tab pos="1116330" algn="l"/>
              </a:tabLst>
            </a:pPr>
            <a:r>
              <a:rPr sz="2400" dirty="0">
                <a:latin typeface="宋体"/>
                <a:cs typeface="宋体"/>
              </a:rPr>
              <a:t>过于宽松的性能要求会带来用户的不满</a:t>
            </a:r>
            <a:endParaRPr sz="2400">
              <a:latin typeface="宋体"/>
              <a:cs typeface="宋体"/>
            </a:endParaRPr>
          </a:p>
          <a:p>
            <a:pPr marL="1116330" marR="316865" lvl="1" indent="-514350">
              <a:lnSpc>
                <a:spcPts val="2710"/>
              </a:lnSpc>
              <a:spcBef>
                <a:spcPts val="445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1115695" algn="l"/>
                <a:tab pos="1116330" algn="l"/>
              </a:tabLst>
            </a:pPr>
            <a:r>
              <a:rPr sz="2400" dirty="0">
                <a:latin typeface="宋体"/>
                <a:cs typeface="宋体"/>
              </a:rPr>
              <a:t>过于苛刻的性能要求会给系统的设计造成不必要的负 担</a:t>
            </a:r>
            <a:endParaRPr sz="2400">
              <a:latin typeface="宋体"/>
              <a:cs typeface="宋体"/>
            </a:endParaRPr>
          </a:p>
          <a:p>
            <a:pPr marL="716280" indent="-514350">
              <a:lnSpc>
                <a:spcPts val="3700"/>
              </a:lnSpc>
              <a:buClr>
                <a:srgbClr val="00663C"/>
              </a:buClr>
              <a:buSzPct val="81250"/>
              <a:buFont typeface="Wingdings"/>
              <a:buChar char=""/>
              <a:tabLst>
                <a:tab pos="715645" algn="l"/>
                <a:tab pos="716280" algn="l"/>
              </a:tabLst>
            </a:pPr>
            <a:r>
              <a:rPr dirty="0"/>
              <a:t>在限定性能目标的同时给出一定的</a:t>
            </a:r>
            <a:r>
              <a:rPr dirty="0">
                <a:solidFill>
                  <a:srgbClr val="FF0000"/>
                </a:solidFill>
              </a:rPr>
              <a:t>灵活性。</a:t>
            </a:r>
          </a:p>
          <a:p>
            <a:pPr marL="1116330" lvl="1" indent="-514350">
              <a:lnSpc>
                <a:spcPct val="100000"/>
              </a:lnSpc>
              <a:spcBef>
                <a:spcPts val="60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1115695" algn="l"/>
                <a:tab pos="1116330" algn="l"/>
              </a:tabLst>
            </a:pPr>
            <a:r>
              <a:rPr sz="2400" spc="-5" dirty="0">
                <a:latin typeface="Calibri"/>
                <a:cs typeface="Calibri"/>
              </a:rPr>
              <a:t>98%</a:t>
            </a:r>
            <a:r>
              <a:rPr sz="2400" dirty="0">
                <a:latin typeface="宋体"/>
                <a:cs typeface="宋体"/>
              </a:rPr>
              <a:t>的查询不能超过</a:t>
            </a:r>
            <a:r>
              <a:rPr sz="2400" spc="-5" dirty="0">
                <a:latin typeface="Calibri"/>
                <a:cs typeface="Calibri"/>
              </a:rPr>
              <a:t>10s</a:t>
            </a:r>
            <a:r>
              <a:rPr sz="2400" dirty="0">
                <a:latin typeface="宋体"/>
                <a:cs typeface="宋体"/>
              </a:rPr>
              <a:t>。</a:t>
            </a:r>
            <a:endParaRPr sz="2400">
              <a:latin typeface="宋体"/>
              <a:cs typeface="宋体"/>
            </a:endParaRPr>
          </a:p>
          <a:p>
            <a:pPr marL="1116330" marR="198755" lvl="1" indent="-514350">
              <a:lnSpc>
                <a:spcPct val="99400"/>
              </a:lnSpc>
              <a:spcBef>
                <a:spcPts val="40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1115695" algn="l"/>
                <a:tab pos="1116330" algn="l"/>
              </a:tabLst>
            </a:pPr>
            <a:r>
              <a:rPr sz="2400" spc="-5" dirty="0">
                <a:latin typeface="Calibri"/>
                <a:cs typeface="Calibri"/>
              </a:rPr>
              <a:t>(</a:t>
            </a:r>
            <a:r>
              <a:rPr sz="2400" dirty="0">
                <a:latin typeface="宋体"/>
                <a:cs typeface="宋体"/>
              </a:rPr>
              <a:t>最低标准</a:t>
            </a:r>
            <a:r>
              <a:rPr sz="2400" dirty="0">
                <a:latin typeface="Calibri"/>
                <a:cs typeface="Calibri"/>
              </a:rPr>
              <a:t>)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宋体"/>
                <a:cs typeface="宋体"/>
              </a:rPr>
              <a:t>在</a:t>
            </a:r>
            <a:r>
              <a:rPr sz="2400" spc="-5" dirty="0">
                <a:latin typeface="Calibri"/>
                <a:cs typeface="Calibri"/>
              </a:rPr>
              <a:t>200</a:t>
            </a:r>
            <a:r>
              <a:rPr sz="2400" dirty="0">
                <a:latin typeface="宋体"/>
                <a:cs typeface="宋体"/>
              </a:rPr>
              <a:t>个用户并发时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dirty="0">
                <a:latin typeface="宋体"/>
                <a:cs typeface="宋体"/>
              </a:rPr>
              <a:t>系统不能崩溃</a:t>
            </a:r>
            <a:r>
              <a:rPr sz="2400" dirty="0">
                <a:latin typeface="Calibri"/>
                <a:cs typeface="Calibri"/>
              </a:rPr>
              <a:t>;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(</a:t>
            </a:r>
            <a:r>
              <a:rPr sz="2400" dirty="0">
                <a:latin typeface="宋体"/>
                <a:cs typeface="宋体"/>
              </a:rPr>
              <a:t>一般标 准</a:t>
            </a:r>
            <a:r>
              <a:rPr sz="2400" spc="-5" dirty="0">
                <a:latin typeface="Calibri"/>
                <a:cs typeface="Calibri"/>
              </a:rPr>
              <a:t>)</a:t>
            </a:r>
            <a:r>
              <a:rPr sz="2400" dirty="0">
                <a:latin typeface="宋体"/>
                <a:cs typeface="宋体"/>
              </a:rPr>
              <a:t>在</a:t>
            </a:r>
            <a:r>
              <a:rPr sz="2400" spc="-5" dirty="0">
                <a:latin typeface="Calibri"/>
                <a:cs typeface="Calibri"/>
              </a:rPr>
              <a:t>200</a:t>
            </a:r>
            <a:r>
              <a:rPr sz="2400" dirty="0">
                <a:latin typeface="宋体"/>
                <a:cs typeface="宋体"/>
              </a:rPr>
              <a:t>个用户并发时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dirty="0">
                <a:latin typeface="宋体"/>
                <a:cs typeface="宋体"/>
              </a:rPr>
              <a:t>系统应该在</a:t>
            </a:r>
            <a:r>
              <a:rPr sz="2400" spc="-5" dirty="0">
                <a:latin typeface="Calibri"/>
                <a:cs typeface="Calibri"/>
              </a:rPr>
              <a:t>80%</a:t>
            </a:r>
            <a:r>
              <a:rPr sz="2400" dirty="0">
                <a:latin typeface="宋体"/>
                <a:cs typeface="宋体"/>
              </a:rPr>
              <a:t>的时间内能正 常工作</a:t>
            </a:r>
            <a:r>
              <a:rPr sz="2400" dirty="0">
                <a:latin typeface="Calibri"/>
                <a:cs typeface="Calibri"/>
              </a:rPr>
              <a:t>;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(</a:t>
            </a:r>
            <a:r>
              <a:rPr sz="2400" dirty="0">
                <a:latin typeface="宋体"/>
                <a:cs typeface="宋体"/>
              </a:rPr>
              <a:t>理想标准</a:t>
            </a:r>
            <a:r>
              <a:rPr sz="2400" dirty="0">
                <a:latin typeface="Calibri"/>
                <a:cs typeface="Calibri"/>
              </a:rPr>
              <a:t>)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宋体"/>
                <a:cs typeface="宋体"/>
              </a:rPr>
              <a:t>在</a:t>
            </a:r>
            <a:r>
              <a:rPr sz="2400" spc="-5" dirty="0">
                <a:latin typeface="Calibri"/>
                <a:cs typeface="Calibri"/>
              </a:rPr>
              <a:t>200</a:t>
            </a:r>
            <a:r>
              <a:rPr sz="2400" dirty="0">
                <a:latin typeface="宋体"/>
                <a:cs typeface="宋体"/>
              </a:rPr>
              <a:t>个用户并发时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dirty="0">
                <a:latin typeface="宋体"/>
                <a:cs typeface="宋体"/>
              </a:rPr>
              <a:t>系统应该能保 持正常的工作状态。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87650" y="181356"/>
            <a:ext cx="35687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需求的分类</a:t>
            </a:r>
            <a:r>
              <a:rPr spc="-1290" dirty="0"/>
              <a:t> </a:t>
            </a:r>
            <a:r>
              <a:rPr spc="-5" dirty="0">
                <a:latin typeface="Calibri"/>
                <a:cs typeface="Calibri"/>
              </a:rPr>
              <a:t>(1)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77212" y="1093724"/>
            <a:ext cx="8997950" cy="4874895"/>
          </a:xfrm>
          <a:prstGeom prst="rect">
            <a:avLst/>
          </a:prstGeom>
        </p:spPr>
        <p:txBody>
          <a:bodyPr vert="horz" wrap="square" lIns="0" tIns="10414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20"/>
              </a:spcBef>
              <a:buClr>
                <a:srgbClr val="00663C"/>
              </a:buClr>
              <a:buSzPct val="7916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400" dirty="0">
                <a:solidFill>
                  <a:srgbClr val="D9D9D9"/>
                </a:solidFill>
                <a:latin typeface="宋体"/>
                <a:cs typeface="宋体"/>
              </a:rPr>
              <a:t>功能需求</a:t>
            </a:r>
            <a:r>
              <a:rPr sz="2400" spc="-5" dirty="0">
                <a:solidFill>
                  <a:srgbClr val="D9D9D9"/>
                </a:solidFill>
                <a:latin typeface="宋体"/>
                <a:cs typeface="宋体"/>
              </a:rPr>
              <a:t>（</a:t>
            </a:r>
            <a:r>
              <a:rPr sz="2400" spc="-5" dirty="0">
                <a:solidFill>
                  <a:srgbClr val="D9D9D9"/>
                </a:solidFill>
                <a:latin typeface="Calibri"/>
                <a:cs typeface="Calibri"/>
              </a:rPr>
              <a:t>Functional</a:t>
            </a:r>
            <a:r>
              <a:rPr sz="2400" spc="-15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D9D9D9"/>
                </a:solidFill>
                <a:latin typeface="Calibri"/>
                <a:cs typeface="Calibri"/>
              </a:rPr>
              <a:t>Requirement</a:t>
            </a:r>
            <a:r>
              <a:rPr sz="2400" spc="-5" dirty="0">
                <a:solidFill>
                  <a:srgbClr val="D9D9D9"/>
                </a:solidFill>
                <a:latin typeface="宋体"/>
                <a:cs typeface="宋体"/>
              </a:rPr>
              <a:t>）：</a:t>
            </a:r>
            <a:endParaRPr sz="2400">
              <a:latin typeface="宋体"/>
              <a:cs typeface="宋体"/>
            </a:endParaRPr>
          </a:p>
          <a:p>
            <a:pPr marL="755015" marR="5080" lvl="1" indent="-285750">
              <a:lnSpc>
                <a:spcPct val="97100"/>
              </a:lnSpc>
              <a:spcBef>
                <a:spcPts val="800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sz="2400" dirty="0">
                <a:solidFill>
                  <a:srgbClr val="D9D9D9"/>
                </a:solidFill>
                <a:latin typeface="宋体"/>
                <a:cs typeface="宋体"/>
              </a:rPr>
              <a:t>和系统主要工作相关的需求，即在不考虑物理约束的情况下， 用户希望系统所能够执行的活动，这些活动可以帮助用户完 成任务。功能需求主要表现为系统和环境之间的行为交互。</a:t>
            </a:r>
            <a:endParaRPr sz="2400">
              <a:latin typeface="宋体"/>
              <a:cs typeface="宋体"/>
            </a:endParaRPr>
          </a:p>
          <a:p>
            <a:pPr lvl="1">
              <a:lnSpc>
                <a:spcPct val="100000"/>
              </a:lnSpc>
              <a:spcBef>
                <a:spcPts val="15"/>
              </a:spcBef>
              <a:buClr>
                <a:srgbClr val="C00000"/>
              </a:buClr>
              <a:buFont typeface="Wingdings"/>
              <a:buChar char=""/>
            </a:pPr>
            <a:endParaRPr sz="265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buClr>
                <a:srgbClr val="00663C"/>
              </a:buClr>
              <a:buSzPct val="7916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400" dirty="0">
                <a:solidFill>
                  <a:srgbClr val="D9D9D9"/>
                </a:solidFill>
                <a:latin typeface="宋体"/>
                <a:cs typeface="宋体"/>
              </a:rPr>
              <a:t>性能需求</a:t>
            </a:r>
            <a:r>
              <a:rPr sz="2400" spc="-5" dirty="0">
                <a:solidFill>
                  <a:srgbClr val="D9D9D9"/>
                </a:solidFill>
                <a:latin typeface="宋体"/>
                <a:cs typeface="宋体"/>
              </a:rPr>
              <a:t>（</a:t>
            </a:r>
            <a:r>
              <a:rPr sz="2400" spc="-5" dirty="0">
                <a:solidFill>
                  <a:srgbClr val="D9D9D9"/>
                </a:solidFill>
                <a:latin typeface="Calibri"/>
                <a:cs typeface="Calibri"/>
              </a:rPr>
              <a:t>Performance</a:t>
            </a:r>
            <a:r>
              <a:rPr sz="2400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D9D9D9"/>
                </a:solidFill>
                <a:latin typeface="Calibri"/>
                <a:cs typeface="Calibri"/>
              </a:rPr>
              <a:t>Requirement</a:t>
            </a:r>
            <a:r>
              <a:rPr sz="2400" spc="-5" dirty="0">
                <a:solidFill>
                  <a:srgbClr val="D9D9D9"/>
                </a:solidFill>
                <a:latin typeface="宋体"/>
                <a:cs typeface="宋体"/>
              </a:rPr>
              <a:t>）：</a:t>
            </a:r>
            <a:endParaRPr sz="2400">
              <a:latin typeface="宋体"/>
              <a:cs typeface="宋体"/>
            </a:endParaRPr>
          </a:p>
          <a:p>
            <a:pPr marL="755015" marR="405130" lvl="1" indent="-285750">
              <a:lnSpc>
                <a:spcPct val="100800"/>
              </a:lnSpc>
              <a:spcBef>
                <a:spcPts val="600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sz="2400" dirty="0">
                <a:solidFill>
                  <a:srgbClr val="D9D9D9"/>
                </a:solidFill>
                <a:latin typeface="宋体"/>
                <a:cs typeface="宋体"/>
              </a:rPr>
              <a:t>系统整体或系统组成部分应该拥有的性能特征，例如</a:t>
            </a:r>
            <a:r>
              <a:rPr sz="2400" spc="-5" dirty="0">
                <a:solidFill>
                  <a:srgbClr val="D9D9D9"/>
                </a:solidFill>
                <a:latin typeface="Calibri"/>
                <a:cs typeface="Calibri"/>
              </a:rPr>
              <a:t>CP</a:t>
            </a:r>
            <a:r>
              <a:rPr sz="2400" dirty="0">
                <a:solidFill>
                  <a:srgbClr val="D9D9D9"/>
                </a:solidFill>
                <a:latin typeface="Calibri"/>
                <a:cs typeface="Calibri"/>
              </a:rPr>
              <a:t>U</a:t>
            </a:r>
            <a:r>
              <a:rPr sz="2400" dirty="0">
                <a:solidFill>
                  <a:srgbClr val="D9D9D9"/>
                </a:solidFill>
                <a:latin typeface="宋体"/>
                <a:cs typeface="宋体"/>
              </a:rPr>
              <a:t>使 用率、内存使用率等。</a:t>
            </a:r>
            <a:endParaRPr sz="2400">
              <a:latin typeface="宋体"/>
              <a:cs typeface="宋体"/>
            </a:endParaRPr>
          </a:p>
          <a:p>
            <a:pPr lvl="1">
              <a:lnSpc>
                <a:spcPct val="100000"/>
              </a:lnSpc>
              <a:spcBef>
                <a:spcPts val="35"/>
              </a:spcBef>
              <a:buClr>
                <a:srgbClr val="C00000"/>
              </a:buClr>
              <a:buFont typeface="Wingdings"/>
              <a:buChar char=""/>
            </a:pPr>
            <a:endParaRPr sz="265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buClr>
                <a:srgbClr val="00663C"/>
              </a:buClr>
              <a:buSzPct val="7916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400" dirty="0">
                <a:latin typeface="宋体"/>
                <a:cs typeface="宋体"/>
              </a:rPr>
              <a:t>质量属性</a:t>
            </a:r>
            <a:r>
              <a:rPr sz="2400" spc="-5" dirty="0">
                <a:latin typeface="宋体"/>
                <a:cs typeface="宋体"/>
              </a:rPr>
              <a:t>（</a:t>
            </a:r>
            <a:r>
              <a:rPr sz="2400" spc="-5" dirty="0">
                <a:latin typeface="Calibri"/>
                <a:cs typeface="Calibri"/>
              </a:rPr>
              <a:t>Quality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Attribute</a:t>
            </a:r>
            <a:r>
              <a:rPr sz="2400" spc="-5" dirty="0">
                <a:latin typeface="宋体"/>
                <a:cs typeface="宋体"/>
              </a:rPr>
              <a:t>）：</a:t>
            </a:r>
            <a:endParaRPr sz="2400">
              <a:latin typeface="宋体"/>
              <a:cs typeface="宋体"/>
            </a:endParaRPr>
          </a:p>
          <a:p>
            <a:pPr marL="755015" marR="309880" lvl="1" indent="-285750">
              <a:lnSpc>
                <a:spcPts val="2690"/>
              </a:lnSpc>
              <a:spcBef>
                <a:spcPts val="1065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sz="2400" dirty="0">
                <a:latin typeface="宋体"/>
                <a:cs typeface="宋体"/>
              </a:rPr>
              <a:t>系统完成工作的质量，即系统需要在一个“好的程度”上实 现功能需求，例如可靠性程度、可维护性程度等。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41700" y="156971"/>
            <a:ext cx="22606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质量属性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208532"/>
            <a:ext cx="8032750" cy="4983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ts val="3010"/>
              </a:lnSpc>
              <a:spcBef>
                <a:spcPts val="100"/>
              </a:spcBef>
              <a:buClr>
                <a:srgbClr val="00663C"/>
              </a:buClr>
              <a:buSzPct val="80769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600" dirty="0">
                <a:latin typeface="宋体"/>
                <a:cs typeface="宋体"/>
              </a:rPr>
              <a:t>系统为了满足</a:t>
            </a:r>
            <a:r>
              <a:rPr sz="3825" b="1" spc="127" baseline="1089" dirty="0">
                <a:solidFill>
                  <a:srgbClr val="009257"/>
                </a:solidFill>
                <a:latin typeface="宋体"/>
                <a:cs typeface="宋体"/>
              </a:rPr>
              <a:t>规定的及隐含的所有要</a:t>
            </a:r>
            <a:r>
              <a:rPr sz="3825" b="1" spc="135" baseline="1089" dirty="0">
                <a:solidFill>
                  <a:srgbClr val="009257"/>
                </a:solidFill>
                <a:latin typeface="宋体"/>
                <a:cs typeface="宋体"/>
              </a:rPr>
              <a:t>求</a:t>
            </a:r>
            <a:r>
              <a:rPr sz="2600" dirty="0">
                <a:latin typeface="宋体"/>
                <a:cs typeface="宋体"/>
              </a:rPr>
              <a:t>而需要具备的</a:t>
            </a:r>
            <a:endParaRPr sz="2600">
              <a:latin typeface="宋体"/>
              <a:cs typeface="宋体"/>
            </a:endParaRPr>
          </a:p>
          <a:p>
            <a:pPr marL="355600">
              <a:lnSpc>
                <a:spcPts val="3010"/>
              </a:lnSpc>
            </a:pPr>
            <a:r>
              <a:rPr sz="3825" b="1" spc="127" baseline="1089" dirty="0">
                <a:solidFill>
                  <a:srgbClr val="009257"/>
                </a:solidFill>
                <a:latin typeface="宋体"/>
                <a:cs typeface="宋体"/>
              </a:rPr>
              <a:t>要</a:t>
            </a:r>
            <a:r>
              <a:rPr sz="3825" b="1" spc="135" baseline="1089" dirty="0">
                <a:solidFill>
                  <a:srgbClr val="009257"/>
                </a:solidFill>
                <a:latin typeface="宋体"/>
                <a:cs typeface="宋体"/>
              </a:rPr>
              <a:t>素</a:t>
            </a:r>
            <a:r>
              <a:rPr sz="2600" dirty="0">
                <a:latin typeface="宋体"/>
                <a:cs typeface="宋体"/>
              </a:rPr>
              <a:t>称为质量</a:t>
            </a:r>
            <a:endParaRPr sz="26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1270"/>
              </a:spcBef>
              <a:buClr>
                <a:srgbClr val="00663C"/>
              </a:buClr>
              <a:buSzPct val="80769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600" dirty="0">
                <a:latin typeface="宋体"/>
                <a:cs typeface="宋体"/>
              </a:rPr>
              <a:t>质量属性是为了度量质量要素而选用的特征</a:t>
            </a:r>
            <a:endParaRPr sz="2600">
              <a:latin typeface="宋体"/>
              <a:cs typeface="宋体"/>
            </a:endParaRPr>
          </a:p>
          <a:p>
            <a:pPr marL="355600" marR="74930" indent="-342900">
              <a:lnSpc>
                <a:spcPts val="2900"/>
              </a:lnSpc>
              <a:spcBef>
                <a:spcPts val="1770"/>
              </a:spcBef>
              <a:buClr>
                <a:srgbClr val="00663C"/>
              </a:buClr>
              <a:buSzPct val="80769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600" dirty="0">
                <a:latin typeface="宋体"/>
                <a:cs typeface="宋体"/>
              </a:rPr>
              <a:t>质量模型就是能够为质量需求的描述和评价提供工作 基础的特征集及特征之间的联系</a:t>
            </a:r>
            <a:endParaRPr sz="26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00663C"/>
              </a:buClr>
              <a:buFont typeface="Wingdings"/>
              <a:buChar char=""/>
            </a:pPr>
            <a:endParaRPr sz="24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buClr>
                <a:srgbClr val="00663C"/>
              </a:buClr>
              <a:buSzPct val="80769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600" dirty="0">
                <a:latin typeface="宋体"/>
                <a:cs typeface="宋体"/>
              </a:rPr>
              <a:t>质量属性的重要性</a:t>
            </a:r>
            <a:endParaRPr sz="2600">
              <a:latin typeface="宋体"/>
              <a:cs typeface="宋体"/>
            </a:endParaRPr>
          </a:p>
          <a:p>
            <a:pPr marL="755650" lvl="1" indent="-285750">
              <a:lnSpc>
                <a:spcPct val="100000"/>
              </a:lnSpc>
              <a:spcBef>
                <a:spcPts val="590"/>
              </a:spcBef>
              <a:buClr>
                <a:srgbClr val="C00000"/>
              </a:buClr>
              <a:buSzPct val="59090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sz="2200" dirty="0">
                <a:latin typeface="宋体"/>
                <a:cs typeface="宋体"/>
              </a:rPr>
              <a:t>对设计的影响很大</a:t>
            </a:r>
            <a:endParaRPr sz="2200">
              <a:latin typeface="宋体"/>
              <a:cs typeface="宋体"/>
            </a:endParaRPr>
          </a:p>
          <a:p>
            <a:pPr marL="755650" lvl="1" indent="-285750">
              <a:lnSpc>
                <a:spcPct val="100000"/>
              </a:lnSpc>
              <a:spcBef>
                <a:spcPts val="459"/>
              </a:spcBef>
              <a:buClr>
                <a:srgbClr val="C00000"/>
              </a:buClr>
              <a:buSzPct val="59090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sz="2200" dirty="0">
                <a:latin typeface="宋体"/>
                <a:cs typeface="宋体"/>
              </a:rPr>
              <a:t>对越复杂的系统越为重要</a:t>
            </a:r>
            <a:endParaRPr sz="2200">
              <a:latin typeface="宋体"/>
              <a:cs typeface="宋体"/>
            </a:endParaRPr>
          </a:p>
          <a:p>
            <a:pPr marL="755650" marR="5080" lvl="1" indent="-285750">
              <a:lnSpc>
                <a:spcPct val="100499"/>
              </a:lnSpc>
              <a:spcBef>
                <a:spcPts val="535"/>
              </a:spcBef>
              <a:buClr>
                <a:srgbClr val="C00000"/>
              </a:buClr>
              <a:buSzPct val="59090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sz="2200" spc="-5" dirty="0">
                <a:latin typeface="Calibri"/>
                <a:cs typeface="Calibri"/>
              </a:rPr>
              <a:t>[Robert19901]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宋体"/>
                <a:cs typeface="宋体"/>
              </a:rPr>
              <a:t>：真实的现实系统中，在决定系统的成功或 失败的因素中，</a:t>
            </a:r>
            <a:r>
              <a:rPr sz="2200" dirty="0">
                <a:solidFill>
                  <a:srgbClr val="FF0000"/>
                </a:solidFill>
                <a:latin typeface="宋体"/>
                <a:cs typeface="宋体"/>
              </a:rPr>
              <a:t>满足非功能属性往往比满足功能性需求更为 重要。</a:t>
            </a:r>
            <a:endParaRPr sz="2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85131" y="269747"/>
            <a:ext cx="577469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质量模型</a:t>
            </a:r>
            <a:r>
              <a:rPr spc="-5" dirty="0"/>
              <a:t>：</a:t>
            </a:r>
            <a:r>
              <a:rPr spc="-5" dirty="0">
                <a:latin typeface="Calibri"/>
                <a:cs typeface="Calibri"/>
              </a:rPr>
              <a:t>ISO/IEC</a:t>
            </a:r>
            <a:r>
              <a:rPr spc="-50" dirty="0">
                <a:latin typeface="Calibri"/>
                <a:cs typeface="Calibri"/>
              </a:rPr>
              <a:t> </a:t>
            </a:r>
            <a:r>
              <a:rPr spc="-5" dirty="0">
                <a:latin typeface="Calibri"/>
                <a:cs typeface="Calibri"/>
              </a:rPr>
              <a:t>9126</a:t>
            </a:r>
          </a:p>
        </p:txBody>
      </p:sp>
      <p:sp>
        <p:nvSpPr>
          <p:cNvPr id="3" name="object 3"/>
          <p:cNvSpPr/>
          <p:nvPr/>
        </p:nvSpPr>
        <p:spPr>
          <a:xfrm>
            <a:off x="1595357" y="1373378"/>
            <a:ext cx="5565066" cy="447778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103599" y="981075"/>
            <a:ext cx="6459044" cy="532536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65020">
              <a:lnSpc>
                <a:spcPts val="5230"/>
              </a:lnSpc>
              <a:spcBef>
                <a:spcPts val="100"/>
              </a:spcBef>
            </a:pPr>
            <a:r>
              <a:rPr dirty="0"/>
              <a:t>质量属性</a:t>
            </a:r>
          </a:p>
          <a:p>
            <a:pPr marL="928369">
              <a:lnSpc>
                <a:spcPts val="5230"/>
              </a:lnSpc>
            </a:pPr>
            <a:r>
              <a:rPr dirty="0">
                <a:latin typeface="Calibri"/>
                <a:cs typeface="Calibri"/>
              </a:rPr>
              <a:t>— IEEE</a:t>
            </a:r>
            <a:r>
              <a:rPr spc="-80" dirty="0">
                <a:latin typeface="Calibri"/>
                <a:cs typeface="Calibri"/>
              </a:rPr>
              <a:t> </a:t>
            </a:r>
            <a:r>
              <a:rPr spc="-5" dirty="0">
                <a:latin typeface="Calibri"/>
                <a:cs typeface="Calibri"/>
              </a:rPr>
              <a:t>1061-1992,1998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50850" y="1593850"/>
          <a:ext cx="8230235" cy="465391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04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47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105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3725">
                <a:tc>
                  <a:txBody>
                    <a:bodyPr/>
                    <a:lstStyle/>
                    <a:p>
                      <a:pPr marL="293370">
                        <a:lnSpc>
                          <a:spcPct val="100000"/>
                        </a:lnSpc>
                        <a:spcBef>
                          <a:spcPts val="1165"/>
                        </a:spcBef>
                      </a:pPr>
                      <a:r>
                        <a:rPr sz="1950" b="1" spc="75" dirty="0">
                          <a:latin typeface="宋体"/>
                          <a:cs typeface="宋体"/>
                        </a:rPr>
                        <a:t>因素</a:t>
                      </a:r>
                      <a:endParaRPr sz="1950">
                        <a:latin typeface="宋体"/>
                        <a:cs typeface="宋体"/>
                      </a:endParaRPr>
                    </a:p>
                  </a:txBody>
                  <a:tcPr marL="0" marR="0" marT="14795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218440">
                        <a:lnSpc>
                          <a:spcPct val="100000"/>
                        </a:lnSpc>
                        <a:spcBef>
                          <a:spcPts val="1165"/>
                        </a:spcBef>
                      </a:pPr>
                      <a:r>
                        <a:rPr sz="1950" b="1" spc="75" dirty="0">
                          <a:latin typeface="宋体"/>
                          <a:cs typeface="宋体"/>
                        </a:rPr>
                        <a:t>子因素</a:t>
                      </a:r>
                      <a:endParaRPr sz="1950">
                        <a:latin typeface="宋体"/>
                        <a:cs typeface="宋体"/>
                      </a:endParaRPr>
                    </a:p>
                  </a:txBody>
                  <a:tcPr marL="0" marR="0" marT="14795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65"/>
                        </a:spcBef>
                      </a:pPr>
                      <a:r>
                        <a:rPr sz="1950" b="1" spc="75" dirty="0">
                          <a:latin typeface="宋体"/>
                          <a:cs typeface="宋体"/>
                        </a:rPr>
                        <a:t>简要描述</a:t>
                      </a:r>
                      <a:endParaRPr sz="1950" dirty="0">
                        <a:latin typeface="宋体"/>
                        <a:cs typeface="宋体"/>
                      </a:endParaRPr>
                    </a:p>
                  </a:txBody>
                  <a:tcPr marL="0" marR="0" marT="14795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1063">
                <a:tc row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235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2000" dirty="0">
                          <a:latin typeface="微软雅黑"/>
                          <a:cs typeface="微软雅黑"/>
                        </a:rPr>
                        <a:t>功能性</a:t>
                      </a:r>
                      <a:endParaRPr sz="20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155"/>
                        </a:spcBef>
                      </a:pPr>
                      <a:r>
                        <a:rPr sz="2000" dirty="0">
                          <a:latin typeface="微软雅黑"/>
                          <a:cs typeface="微软雅黑"/>
                        </a:rPr>
                        <a:t>完备性</a:t>
                      </a:r>
                      <a:endParaRPr sz="2000">
                        <a:latin typeface="微软雅黑"/>
                        <a:cs typeface="微软雅黑"/>
                      </a:endParaRPr>
                    </a:p>
                  </a:txBody>
                  <a:tcPr marL="0" marR="0" marT="27368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3705" marR="245110" indent="-342900">
                        <a:lnSpc>
                          <a:spcPct val="102600"/>
                        </a:lnSpc>
                        <a:spcBef>
                          <a:spcPts val="1135"/>
                        </a:spcBef>
                      </a:pPr>
                      <a:r>
                        <a:rPr sz="1950" b="1" spc="75" dirty="0">
                          <a:latin typeface="宋体"/>
                          <a:cs typeface="宋体"/>
                        </a:rPr>
                        <a:t>软件具有必要和充分功能的程度</a:t>
                      </a:r>
                      <a:r>
                        <a:rPr sz="1950" b="1" spc="50" dirty="0">
                          <a:latin typeface="宋体"/>
                          <a:cs typeface="宋体"/>
                        </a:rPr>
                        <a:t>,</a:t>
                      </a:r>
                      <a:r>
                        <a:rPr sz="1950" b="1" spc="75" dirty="0">
                          <a:latin typeface="宋体"/>
                          <a:cs typeface="宋体"/>
                        </a:rPr>
                        <a:t>这些功能将满足 用户需要</a:t>
                      </a:r>
                      <a:endParaRPr sz="1950">
                        <a:latin typeface="宋体"/>
                        <a:cs typeface="宋体"/>
                      </a:endParaRPr>
                    </a:p>
                  </a:txBody>
                  <a:tcPr marL="0" marR="0" marT="14414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548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1555"/>
                        </a:spcBef>
                      </a:pPr>
                      <a:r>
                        <a:rPr sz="2000" dirty="0">
                          <a:latin typeface="微软雅黑"/>
                          <a:cs typeface="微软雅黑"/>
                        </a:rPr>
                        <a:t>正确性</a:t>
                      </a:r>
                      <a:endParaRPr sz="2000">
                        <a:latin typeface="微软雅黑"/>
                        <a:cs typeface="微软雅黑"/>
                      </a:endParaRPr>
                    </a:p>
                  </a:txBody>
                  <a:tcPr marL="0" marR="0" marT="19748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1950" b="1" spc="75" dirty="0">
                          <a:latin typeface="宋体"/>
                          <a:cs typeface="宋体"/>
                        </a:rPr>
                        <a:t>所有的软件功能被精确确定的程度</a:t>
                      </a:r>
                      <a:endParaRPr sz="1950">
                        <a:latin typeface="宋体"/>
                        <a:cs typeface="宋体"/>
                      </a:endParaRPr>
                    </a:p>
                  </a:txBody>
                  <a:tcPr marL="0" marR="0" marT="571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39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1555"/>
                        </a:spcBef>
                      </a:pPr>
                      <a:r>
                        <a:rPr sz="2000" dirty="0">
                          <a:latin typeface="微软雅黑"/>
                          <a:cs typeface="微软雅黑"/>
                        </a:rPr>
                        <a:t>安全性</a:t>
                      </a:r>
                      <a:endParaRPr sz="2000">
                        <a:latin typeface="微软雅黑"/>
                        <a:cs typeface="微软雅黑"/>
                      </a:endParaRPr>
                    </a:p>
                  </a:txBody>
                  <a:tcPr marL="0" marR="0" marT="19748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3705" marR="118110" indent="-342900">
                        <a:lnSpc>
                          <a:spcPct val="102600"/>
                        </a:lnSpc>
                        <a:spcBef>
                          <a:spcPts val="509"/>
                        </a:spcBef>
                      </a:pPr>
                      <a:r>
                        <a:rPr sz="1950" b="1" spc="75" dirty="0">
                          <a:latin typeface="宋体"/>
                          <a:cs typeface="宋体"/>
                        </a:rPr>
                        <a:t>软件能够检测和阻止信息泄露、信息丢失、非法使 用、系统资源破坏的程度</a:t>
                      </a:r>
                      <a:endParaRPr sz="1950">
                        <a:latin typeface="宋体"/>
                        <a:cs typeface="宋体"/>
                      </a:endParaRPr>
                    </a:p>
                  </a:txBody>
                  <a:tcPr marL="0" marR="0" marT="6476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0584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2000" dirty="0">
                          <a:latin typeface="微软雅黑"/>
                          <a:cs typeface="微软雅黑"/>
                        </a:rPr>
                        <a:t>兼容性</a:t>
                      </a:r>
                      <a:endParaRPr sz="2000">
                        <a:latin typeface="微软雅黑"/>
                        <a:cs typeface="微软雅黑"/>
                      </a:endParaRPr>
                    </a:p>
                  </a:txBody>
                  <a:tcPr marL="0" marR="0" marT="31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3705" marR="118110" indent="-342900">
                        <a:lnSpc>
                          <a:spcPct val="102600"/>
                        </a:lnSpc>
                        <a:spcBef>
                          <a:spcPts val="425"/>
                        </a:spcBef>
                      </a:pPr>
                      <a:r>
                        <a:rPr sz="1950" b="1" spc="75" dirty="0">
                          <a:latin typeface="宋体"/>
                          <a:cs typeface="宋体"/>
                        </a:rPr>
                        <a:t>在不需要改变环境和条件的情况下新软件就可以被 安装的程度。这些环境和条件是为之前被替代 软件所准备的</a:t>
                      </a:r>
                      <a:endParaRPr sz="1950">
                        <a:latin typeface="宋体"/>
                        <a:cs typeface="宋体"/>
                      </a:endParaRPr>
                    </a:p>
                  </a:txBody>
                  <a:tcPr marL="0" marR="0" marT="539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39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1540"/>
                        </a:spcBef>
                      </a:pPr>
                      <a:r>
                        <a:rPr sz="2000" dirty="0">
                          <a:latin typeface="微软雅黑"/>
                          <a:cs typeface="微软雅黑"/>
                        </a:rPr>
                        <a:t>互操作性</a:t>
                      </a:r>
                      <a:endParaRPr sz="2000">
                        <a:latin typeface="微软雅黑"/>
                        <a:cs typeface="微软雅黑"/>
                      </a:endParaRPr>
                    </a:p>
                  </a:txBody>
                  <a:tcPr marL="0" marR="0" marT="1955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50" dirty="0">
                        <a:latin typeface="Times New Roman"/>
                        <a:cs typeface="Times New Roman"/>
                      </a:endParaRPr>
                    </a:p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1950" b="1" spc="75" dirty="0">
                          <a:latin typeface="宋体"/>
                          <a:cs typeface="宋体"/>
                        </a:rPr>
                        <a:t>软件可以很容易地与其他系统连接与操作的程度</a:t>
                      </a:r>
                      <a:endParaRPr sz="1950" dirty="0">
                        <a:latin typeface="宋体"/>
                        <a:cs typeface="宋体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65020">
              <a:lnSpc>
                <a:spcPts val="5230"/>
              </a:lnSpc>
              <a:spcBef>
                <a:spcPts val="100"/>
              </a:spcBef>
            </a:pPr>
            <a:r>
              <a:rPr dirty="0"/>
              <a:t>质量属性</a:t>
            </a:r>
          </a:p>
          <a:p>
            <a:pPr marL="928369">
              <a:lnSpc>
                <a:spcPts val="5230"/>
              </a:lnSpc>
            </a:pPr>
            <a:r>
              <a:rPr dirty="0">
                <a:latin typeface="Calibri"/>
                <a:cs typeface="Calibri"/>
              </a:rPr>
              <a:t>— IEEE</a:t>
            </a:r>
            <a:r>
              <a:rPr spc="-80" dirty="0">
                <a:latin typeface="Calibri"/>
                <a:cs typeface="Calibri"/>
              </a:rPr>
              <a:t> </a:t>
            </a:r>
            <a:r>
              <a:rPr spc="-5" dirty="0">
                <a:latin typeface="Calibri"/>
                <a:cs typeface="Calibri"/>
              </a:rPr>
              <a:t>1061-1992,1998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529003" y="2164374"/>
          <a:ext cx="8321675" cy="350996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04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47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020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20763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3050">
                        <a:latin typeface="Times New Roman"/>
                        <a:cs typeface="Times New Roman"/>
                      </a:endParaRPr>
                    </a:p>
                    <a:p>
                      <a:pPr marL="9080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000" dirty="0">
                          <a:latin typeface="微软雅黑"/>
                          <a:cs typeface="微软雅黑"/>
                        </a:rPr>
                        <a:t>可靠性</a:t>
                      </a:r>
                      <a:endParaRPr sz="20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2350">
                        <a:latin typeface="Times New Roman"/>
                        <a:cs typeface="Times New Roman"/>
                      </a:endParaRPr>
                    </a:p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2000" dirty="0">
                          <a:latin typeface="微软雅黑"/>
                          <a:cs typeface="微软雅黑"/>
                        </a:rPr>
                        <a:t>无缺陷性</a:t>
                      </a:r>
                      <a:endParaRPr sz="2000">
                        <a:latin typeface="微软雅黑"/>
                        <a:cs typeface="微软雅黑"/>
                      </a:endParaRPr>
                    </a:p>
                  </a:txBody>
                  <a:tcPr marL="0" marR="0" marT="25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509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2350">
                        <a:latin typeface="Times New Roman"/>
                        <a:cs typeface="Times New Roman"/>
                      </a:endParaRPr>
                    </a:p>
                    <a:p>
                      <a:pPr marL="90805" marR="85090">
                        <a:lnSpc>
                          <a:spcPct val="100000"/>
                        </a:lnSpc>
                      </a:pPr>
                      <a:r>
                        <a:rPr sz="2000" dirty="0">
                          <a:latin typeface="微软雅黑"/>
                          <a:cs typeface="微软雅黑"/>
                        </a:rPr>
                        <a:t>软件不包含未发现错误的程度</a:t>
                      </a:r>
                      <a:endParaRPr sz="2000">
                        <a:latin typeface="微软雅黑"/>
                        <a:cs typeface="微软雅黑"/>
                      </a:endParaRPr>
                    </a:p>
                  </a:txBody>
                  <a:tcPr marL="0" marR="0" marT="25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446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3100">
                        <a:latin typeface="Times New Roman"/>
                        <a:cs typeface="Times New Roman"/>
                      </a:endParaRPr>
                    </a:p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2000" dirty="0">
                          <a:latin typeface="微软雅黑"/>
                          <a:cs typeface="微软雅黑"/>
                        </a:rPr>
                        <a:t>容错性</a:t>
                      </a:r>
                      <a:endParaRPr sz="2000">
                        <a:latin typeface="微软雅黑"/>
                        <a:cs typeface="微软雅黑"/>
                      </a:endParaRPr>
                    </a:p>
                  </a:txBody>
                  <a:tcPr marL="0" marR="0" marT="31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3705" indent="-342900">
                        <a:lnSpc>
                          <a:spcPct val="100000"/>
                        </a:lnSpc>
                        <a:spcBef>
                          <a:spcPts val="1190"/>
                        </a:spcBef>
                      </a:pPr>
                      <a:r>
                        <a:rPr sz="2000" dirty="0">
                          <a:latin typeface="微软雅黑"/>
                          <a:cs typeface="微软雅黑"/>
                        </a:rPr>
                        <a:t>软件持续工作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sz="2000" dirty="0">
                          <a:latin typeface="微软雅黑"/>
                          <a:cs typeface="微软雅黑"/>
                        </a:rPr>
                        <a:t>不会发生有损用户的系统故障的程度。 也包括软件含有降级操作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(degraded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operation)</a:t>
                      </a:r>
                      <a:r>
                        <a:rPr sz="2000" dirty="0">
                          <a:latin typeface="微软雅黑"/>
                          <a:cs typeface="微软雅黑"/>
                        </a:rPr>
                        <a:t>和</a:t>
                      </a:r>
                      <a:endParaRPr sz="2000">
                        <a:latin typeface="微软雅黑"/>
                        <a:cs typeface="微软雅黑"/>
                      </a:endParaRPr>
                    </a:p>
                    <a:p>
                      <a:pPr marL="433705" marR="85090">
                        <a:lnSpc>
                          <a:spcPct val="100000"/>
                        </a:lnSpc>
                      </a:pPr>
                      <a:r>
                        <a:rPr sz="2000" dirty="0">
                          <a:latin typeface="微软雅黑"/>
                          <a:cs typeface="微软雅黑"/>
                        </a:rPr>
                        <a:t>恢复功能的程度</a:t>
                      </a:r>
                      <a:endParaRPr sz="2000">
                        <a:latin typeface="微软雅黑"/>
                        <a:cs typeface="微软雅黑"/>
                      </a:endParaRPr>
                    </a:p>
                  </a:txBody>
                  <a:tcPr marL="0" marR="0" marT="15113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446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3100">
                        <a:latin typeface="Times New Roman"/>
                        <a:cs typeface="Times New Roman"/>
                      </a:endParaRPr>
                    </a:p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2000" dirty="0">
                          <a:latin typeface="微软雅黑"/>
                          <a:cs typeface="微软雅黑"/>
                        </a:rPr>
                        <a:t>可用性</a:t>
                      </a:r>
                      <a:endParaRPr sz="2000">
                        <a:latin typeface="微软雅黑"/>
                        <a:cs typeface="微软雅黑"/>
                      </a:endParaRPr>
                    </a:p>
                  </a:txBody>
                  <a:tcPr marL="0" marR="0" marT="50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509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3100">
                        <a:latin typeface="Times New Roman"/>
                        <a:cs typeface="Times New Roman"/>
                      </a:endParaRPr>
                    </a:p>
                    <a:p>
                      <a:pPr marL="90805" marR="85090">
                        <a:lnSpc>
                          <a:spcPct val="100000"/>
                        </a:lnSpc>
                      </a:pPr>
                      <a:r>
                        <a:rPr sz="2000" dirty="0">
                          <a:latin typeface="微软雅黑"/>
                          <a:cs typeface="微软雅黑"/>
                        </a:rPr>
                        <a:t>软件在出现系统故障后保持运行的能力</a:t>
                      </a:r>
                      <a:endParaRPr sz="2000">
                        <a:latin typeface="微软雅黑"/>
                        <a:cs typeface="微软雅黑"/>
                      </a:endParaRPr>
                    </a:p>
                  </a:txBody>
                  <a:tcPr marL="0" marR="0" marT="50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65020">
              <a:lnSpc>
                <a:spcPts val="5230"/>
              </a:lnSpc>
              <a:spcBef>
                <a:spcPts val="100"/>
              </a:spcBef>
            </a:pPr>
            <a:r>
              <a:rPr dirty="0"/>
              <a:t>质量属性</a:t>
            </a:r>
          </a:p>
          <a:p>
            <a:pPr marL="928369">
              <a:lnSpc>
                <a:spcPts val="5230"/>
              </a:lnSpc>
            </a:pPr>
            <a:r>
              <a:rPr dirty="0">
                <a:latin typeface="Calibri"/>
                <a:cs typeface="Calibri"/>
              </a:rPr>
              <a:t>— IEEE</a:t>
            </a:r>
            <a:r>
              <a:rPr spc="-80" dirty="0">
                <a:latin typeface="Calibri"/>
                <a:cs typeface="Calibri"/>
              </a:rPr>
              <a:t> </a:t>
            </a:r>
            <a:r>
              <a:rPr spc="-5" dirty="0">
                <a:latin typeface="Calibri"/>
                <a:cs typeface="Calibri"/>
              </a:rPr>
              <a:t>1061-1992,1998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50850" y="2047143"/>
          <a:ext cx="8230235" cy="362426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04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47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105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06463"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345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2000" dirty="0">
                          <a:latin typeface="微软雅黑"/>
                          <a:cs typeface="微软雅黑"/>
                        </a:rPr>
                        <a:t>易用性</a:t>
                      </a:r>
                      <a:endParaRPr sz="20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275"/>
                        </a:spcBef>
                      </a:pPr>
                      <a:r>
                        <a:rPr sz="2000" dirty="0">
                          <a:latin typeface="微软雅黑"/>
                          <a:cs typeface="微软雅黑"/>
                        </a:rPr>
                        <a:t>可理解性</a:t>
                      </a:r>
                      <a:endParaRPr sz="2000">
                        <a:latin typeface="微软雅黑"/>
                        <a:cs typeface="微软雅黑"/>
                      </a:endParaRPr>
                    </a:p>
                  </a:txBody>
                  <a:tcPr marL="0" marR="0" marT="2889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275"/>
                        </a:spcBef>
                      </a:pPr>
                      <a:r>
                        <a:rPr sz="2000" dirty="0">
                          <a:latin typeface="微软雅黑"/>
                          <a:cs typeface="微软雅黑"/>
                        </a:rPr>
                        <a:t>用户理解软件需要花费的精力</a:t>
                      </a:r>
                      <a:endParaRPr sz="2000">
                        <a:latin typeface="微软雅黑"/>
                        <a:cs typeface="微软雅黑"/>
                      </a:endParaRPr>
                    </a:p>
                  </a:txBody>
                  <a:tcPr marL="0" marR="0" marT="2889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6463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270"/>
                        </a:spcBef>
                      </a:pPr>
                      <a:r>
                        <a:rPr sz="2000" dirty="0">
                          <a:latin typeface="微软雅黑"/>
                          <a:cs typeface="微软雅黑"/>
                        </a:rPr>
                        <a:t>易学习性</a:t>
                      </a:r>
                      <a:endParaRPr sz="2000">
                        <a:latin typeface="微软雅黑"/>
                        <a:cs typeface="微软雅黑"/>
                      </a:endParaRPr>
                    </a:p>
                  </a:txBody>
                  <a:tcPr marL="0" marR="0" marT="2882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270"/>
                        </a:spcBef>
                      </a:pPr>
                      <a:r>
                        <a:rPr sz="2000" dirty="0">
                          <a:latin typeface="微软雅黑"/>
                          <a:cs typeface="微软雅黑"/>
                        </a:rPr>
                        <a:t>用户理解软件时所花费精力的最小化程度</a:t>
                      </a:r>
                      <a:endParaRPr sz="2000">
                        <a:latin typeface="微软雅黑"/>
                        <a:cs typeface="微软雅黑"/>
                      </a:endParaRPr>
                    </a:p>
                  </a:txBody>
                  <a:tcPr marL="0" marR="0" marT="2882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487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260"/>
                        </a:spcBef>
                      </a:pPr>
                      <a:r>
                        <a:rPr sz="2000" dirty="0">
                          <a:latin typeface="微软雅黑"/>
                          <a:cs typeface="微软雅黑"/>
                        </a:rPr>
                        <a:t>可操作性</a:t>
                      </a:r>
                      <a:endParaRPr sz="2000">
                        <a:latin typeface="微软雅黑"/>
                        <a:cs typeface="微软雅黑"/>
                      </a:endParaRPr>
                    </a:p>
                  </a:txBody>
                  <a:tcPr marL="0" marR="0" marT="2870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3705" marR="222885" indent="-342900">
                        <a:lnSpc>
                          <a:spcPct val="100000"/>
                        </a:lnSpc>
                        <a:spcBef>
                          <a:spcPts val="1060"/>
                        </a:spcBef>
                      </a:pPr>
                      <a:r>
                        <a:rPr sz="2000" dirty="0">
                          <a:latin typeface="微软雅黑"/>
                          <a:cs typeface="微软雅黑"/>
                        </a:rPr>
                        <a:t>软件操作与目的、环境、用户生理特征相匹配的程 度</a:t>
                      </a:r>
                      <a:endParaRPr sz="2000">
                        <a:latin typeface="微软雅黑"/>
                        <a:cs typeface="微软雅黑"/>
                      </a:endParaRPr>
                    </a:p>
                  </a:txBody>
                  <a:tcPr marL="0" marR="0" marT="1346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06463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260"/>
                        </a:spcBef>
                      </a:pPr>
                      <a:r>
                        <a:rPr sz="2000" dirty="0">
                          <a:latin typeface="微软雅黑"/>
                          <a:cs typeface="微软雅黑"/>
                        </a:rPr>
                        <a:t>通信性</a:t>
                      </a:r>
                      <a:endParaRPr sz="2000">
                        <a:latin typeface="微软雅黑"/>
                        <a:cs typeface="微软雅黑"/>
                      </a:endParaRPr>
                    </a:p>
                  </a:txBody>
                  <a:tcPr marL="0" marR="0" marT="2870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260"/>
                        </a:spcBef>
                      </a:pPr>
                      <a:r>
                        <a:rPr sz="2000" dirty="0">
                          <a:latin typeface="微软雅黑"/>
                          <a:cs typeface="微软雅黑"/>
                        </a:rPr>
                        <a:t>软件被设计成与用户生理特征相一致的程度</a:t>
                      </a:r>
                      <a:endParaRPr sz="2000">
                        <a:latin typeface="微软雅黑"/>
                        <a:cs typeface="微软雅黑"/>
                      </a:endParaRPr>
                    </a:p>
                  </a:txBody>
                  <a:tcPr marL="0" marR="0" marT="2870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65020">
              <a:lnSpc>
                <a:spcPts val="5230"/>
              </a:lnSpc>
              <a:spcBef>
                <a:spcPts val="100"/>
              </a:spcBef>
            </a:pPr>
            <a:r>
              <a:rPr dirty="0"/>
              <a:t>质量属性</a:t>
            </a:r>
          </a:p>
          <a:p>
            <a:pPr marL="928369">
              <a:lnSpc>
                <a:spcPts val="5230"/>
              </a:lnSpc>
            </a:pPr>
            <a:r>
              <a:rPr dirty="0">
                <a:latin typeface="Calibri"/>
                <a:cs typeface="Calibri"/>
              </a:rPr>
              <a:t>— IEEE</a:t>
            </a:r>
            <a:r>
              <a:rPr spc="-80" dirty="0">
                <a:latin typeface="Calibri"/>
                <a:cs typeface="Calibri"/>
              </a:rPr>
              <a:t> </a:t>
            </a:r>
            <a:r>
              <a:rPr spc="-5" dirty="0">
                <a:latin typeface="Calibri"/>
                <a:cs typeface="Calibri"/>
              </a:rPr>
              <a:t>1061-1992,1998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568081" y="2476987"/>
          <a:ext cx="8229600" cy="302101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04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611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635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09713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  <a:p>
                      <a:pPr marL="297815">
                        <a:lnSpc>
                          <a:spcPct val="100000"/>
                        </a:lnSpc>
                        <a:spcBef>
                          <a:spcPts val="1610"/>
                        </a:spcBef>
                      </a:pPr>
                      <a:r>
                        <a:rPr sz="2000" dirty="0">
                          <a:latin typeface="微软雅黑"/>
                          <a:cs typeface="微软雅黑"/>
                        </a:rPr>
                        <a:t>效率</a:t>
                      </a:r>
                      <a:endParaRPr sz="20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665"/>
                        </a:spcBef>
                      </a:pPr>
                      <a:r>
                        <a:rPr sz="2000" dirty="0">
                          <a:latin typeface="微软雅黑"/>
                          <a:cs typeface="微软雅黑"/>
                        </a:rPr>
                        <a:t>时间经济性</a:t>
                      </a:r>
                      <a:endParaRPr sz="20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0">
                        <a:latin typeface="Times New Roman"/>
                        <a:cs typeface="Times New Roman"/>
                      </a:endParaRPr>
                    </a:p>
                    <a:p>
                      <a:pPr marL="433705" marR="274955" indent="-34290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000" dirty="0">
                          <a:latin typeface="微软雅黑"/>
                          <a:cs typeface="微软雅黑"/>
                        </a:rPr>
                        <a:t>在指明或隐含的条件下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sz="2000" dirty="0">
                          <a:latin typeface="微软雅黑"/>
                          <a:cs typeface="微软雅黑"/>
                        </a:rPr>
                        <a:t>软件于适当的时间限 度内执行指定功能的能力</a:t>
                      </a:r>
                      <a:endParaRPr sz="20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113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655"/>
                        </a:spcBef>
                      </a:pPr>
                      <a:r>
                        <a:rPr sz="2000" dirty="0">
                          <a:latin typeface="微软雅黑"/>
                          <a:cs typeface="微软雅黑"/>
                        </a:rPr>
                        <a:t>资源经济性</a:t>
                      </a:r>
                      <a:endParaRPr sz="20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2950">
                        <a:latin typeface="Times New Roman"/>
                        <a:cs typeface="Times New Roman"/>
                      </a:endParaRPr>
                    </a:p>
                    <a:p>
                      <a:pPr marL="433705" marR="274955" indent="-34290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000" dirty="0">
                          <a:latin typeface="微软雅黑"/>
                          <a:cs typeface="微软雅黑"/>
                        </a:rPr>
                        <a:t>在指明或隐含的条件下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sz="2000" dirty="0">
                          <a:latin typeface="微软雅黑"/>
                          <a:cs typeface="微软雅黑"/>
                        </a:rPr>
                        <a:t>软件使用适当数量的 资源执行指定功能的能力</a:t>
                      </a:r>
                      <a:endParaRPr sz="2000">
                        <a:latin typeface="微软雅黑"/>
                        <a:cs typeface="微软雅黑"/>
                      </a:endParaRPr>
                    </a:p>
                  </a:txBody>
                  <a:tcPr marL="0" marR="0" marT="63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65020">
              <a:lnSpc>
                <a:spcPts val="5230"/>
              </a:lnSpc>
              <a:spcBef>
                <a:spcPts val="100"/>
              </a:spcBef>
            </a:pPr>
            <a:r>
              <a:rPr dirty="0"/>
              <a:t>质量属性</a:t>
            </a:r>
          </a:p>
          <a:p>
            <a:pPr marL="928369">
              <a:lnSpc>
                <a:spcPts val="5230"/>
              </a:lnSpc>
            </a:pPr>
            <a:r>
              <a:rPr dirty="0">
                <a:latin typeface="Calibri"/>
                <a:cs typeface="Calibri"/>
              </a:rPr>
              <a:t>— IEEE</a:t>
            </a:r>
            <a:r>
              <a:rPr spc="-80" dirty="0">
                <a:latin typeface="Calibri"/>
                <a:cs typeface="Calibri"/>
              </a:rPr>
              <a:t> </a:t>
            </a:r>
            <a:r>
              <a:rPr spc="-5" dirty="0">
                <a:latin typeface="Calibri"/>
                <a:cs typeface="Calibri"/>
              </a:rPr>
              <a:t>1061-1992,1998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50850" y="2539512"/>
          <a:ext cx="8230235" cy="279400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671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9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231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57275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  <a:p>
                      <a:pPr marL="274955">
                        <a:lnSpc>
                          <a:spcPct val="100000"/>
                        </a:lnSpc>
                      </a:pPr>
                      <a:r>
                        <a:rPr sz="2000" dirty="0">
                          <a:latin typeface="微软雅黑"/>
                          <a:cs typeface="微软雅黑"/>
                        </a:rPr>
                        <a:t>可维护性</a:t>
                      </a:r>
                      <a:endParaRPr sz="20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24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000" dirty="0">
                          <a:latin typeface="微软雅黑"/>
                          <a:cs typeface="微软雅黑"/>
                        </a:rPr>
                        <a:t>可修正性</a:t>
                      </a:r>
                      <a:endParaRPr sz="2000">
                        <a:latin typeface="微软雅黑"/>
                        <a:cs typeface="微软雅黑"/>
                      </a:endParaRPr>
                    </a:p>
                  </a:txBody>
                  <a:tcPr marL="0" marR="0" marT="571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3705" marR="197485" indent="-342900">
                        <a:lnSpc>
                          <a:spcPct val="100000"/>
                        </a:lnSpc>
                        <a:spcBef>
                          <a:spcPts val="1664"/>
                        </a:spcBef>
                      </a:pPr>
                      <a:r>
                        <a:rPr sz="2000" dirty="0">
                          <a:latin typeface="微软雅黑"/>
                          <a:cs typeface="微软雅黑"/>
                        </a:rPr>
                        <a:t>修正软件错误和处理用户意见需要花费的精 力</a:t>
                      </a:r>
                      <a:endParaRPr sz="2000">
                        <a:latin typeface="微软雅黑"/>
                        <a:cs typeface="微软雅黑"/>
                      </a:endParaRPr>
                    </a:p>
                  </a:txBody>
                  <a:tcPr marL="0" marR="0" marT="21145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363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25"/>
                        </a:spcBef>
                      </a:pPr>
                      <a:r>
                        <a:rPr sz="2000" dirty="0">
                          <a:latin typeface="微软雅黑"/>
                          <a:cs typeface="微软雅黑"/>
                        </a:rPr>
                        <a:t>扩展性</a:t>
                      </a:r>
                      <a:endParaRPr sz="2000">
                        <a:latin typeface="微软雅黑"/>
                        <a:cs typeface="微软雅黑"/>
                      </a:endParaRPr>
                    </a:p>
                  </a:txBody>
                  <a:tcPr marL="0" marR="0" marT="2698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125"/>
                        </a:spcBef>
                      </a:pPr>
                      <a:r>
                        <a:rPr sz="2000" dirty="0">
                          <a:latin typeface="微软雅黑"/>
                          <a:cs typeface="微软雅黑"/>
                        </a:rPr>
                        <a:t>改进或修改软件效率与功能需要花费的精力</a:t>
                      </a:r>
                      <a:endParaRPr sz="2000">
                        <a:latin typeface="微软雅黑"/>
                        <a:cs typeface="微软雅黑"/>
                      </a:endParaRPr>
                    </a:p>
                  </a:txBody>
                  <a:tcPr marL="0" marR="0" marT="2698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363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25"/>
                        </a:spcBef>
                      </a:pPr>
                      <a:r>
                        <a:rPr sz="2000" dirty="0">
                          <a:latin typeface="微软雅黑"/>
                          <a:cs typeface="微软雅黑"/>
                        </a:rPr>
                        <a:t>可测试性</a:t>
                      </a:r>
                      <a:endParaRPr sz="2000">
                        <a:latin typeface="微软雅黑"/>
                        <a:cs typeface="微软雅黑"/>
                      </a:endParaRPr>
                    </a:p>
                  </a:txBody>
                  <a:tcPr marL="0" marR="0" marT="2698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125"/>
                        </a:spcBef>
                      </a:pPr>
                      <a:r>
                        <a:rPr sz="2000" dirty="0">
                          <a:latin typeface="微软雅黑"/>
                          <a:cs typeface="微软雅黑"/>
                        </a:rPr>
                        <a:t>测试软件需要花费的精力</a:t>
                      </a:r>
                      <a:endParaRPr sz="2000">
                        <a:latin typeface="微软雅黑"/>
                        <a:cs typeface="微软雅黑"/>
                      </a:endParaRPr>
                    </a:p>
                  </a:txBody>
                  <a:tcPr marL="0" marR="0" marT="2698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65020">
              <a:lnSpc>
                <a:spcPts val="5230"/>
              </a:lnSpc>
              <a:spcBef>
                <a:spcPts val="100"/>
              </a:spcBef>
            </a:pPr>
            <a:r>
              <a:rPr dirty="0"/>
              <a:t>质量属性</a:t>
            </a:r>
          </a:p>
          <a:p>
            <a:pPr marL="928369">
              <a:lnSpc>
                <a:spcPts val="5230"/>
              </a:lnSpc>
            </a:pPr>
            <a:r>
              <a:rPr dirty="0">
                <a:latin typeface="Calibri"/>
                <a:cs typeface="Calibri"/>
              </a:rPr>
              <a:t>— IEEE</a:t>
            </a:r>
            <a:r>
              <a:rPr spc="-80" dirty="0">
                <a:latin typeface="Calibri"/>
                <a:cs typeface="Calibri"/>
              </a:rPr>
              <a:t> </a:t>
            </a:r>
            <a:r>
              <a:rPr spc="-5" dirty="0">
                <a:latin typeface="Calibri"/>
                <a:cs typeface="Calibri"/>
              </a:rPr>
              <a:t>1061-1992,1998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39834" y="1984618"/>
          <a:ext cx="8631555" cy="366236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57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3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438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68363"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3600">
                        <a:latin typeface="Times New Roman"/>
                        <a:cs typeface="Times New Roman"/>
                      </a:endParaRPr>
                    </a:p>
                    <a:p>
                      <a:pPr marL="220345">
                        <a:lnSpc>
                          <a:spcPct val="100000"/>
                        </a:lnSpc>
                      </a:pPr>
                      <a:r>
                        <a:rPr sz="2000" dirty="0">
                          <a:latin typeface="微软雅黑"/>
                          <a:cs typeface="微软雅黑"/>
                        </a:rPr>
                        <a:t>可移植性</a:t>
                      </a:r>
                      <a:endParaRPr sz="20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20"/>
                        </a:spcBef>
                      </a:pPr>
                      <a:r>
                        <a:rPr sz="2000" dirty="0">
                          <a:latin typeface="微软雅黑"/>
                          <a:cs typeface="微软雅黑"/>
                        </a:rPr>
                        <a:t>硬件独立性</a:t>
                      </a:r>
                      <a:endParaRPr sz="2000">
                        <a:latin typeface="微软雅黑"/>
                        <a:cs typeface="微软雅黑"/>
                      </a:endParaRPr>
                    </a:p>
                  </a:txBody>
                  <a:tcPr marL="0" marR="0" marT="2692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120"/>
                        </a:spcBef>
                      </a:pPr>
                      <a:r>
                        <a:rPr sz="2000" dirty="0">
                          <a:latin typeface="微软雅黑"/>
                          <a:cs typeface="微软雅黑"/>
                        </a:rPr>
                        <a:t>软件独立于特定硬件环境的程度</a:t>
                      </a:r>
                      <a:endParaRPr sz="2000">
                        <a:latin typeface="微软雅黑"/>
                        <a:cs typeface="微软雅黑"/>
                      </a:endParaRPr>
                    </a:p>
                  </a:txBody>
                  <a:tcPr marL="0" marR="0" marT="2692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363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25"/>
                        </a:spcBef>
                      </a:pPr>
                      <a:r>
                        <a:rPr sz="2000" dirty="0">
                          <a:latin typeface="微软雅黑"/>
                          <a:cs typeface="微软雅黑"/>
                        </a:rPr>
                        <a:t>软件独立性</a:t>
                      </a:r>
                      <a:endParaRPr sz="2000">
                        <a:latin typeface="微软雅黑"/>
                        <a:cs typeface="微软雅黑"/>
                      </a:endParaRPr>
                    </a:p>
                  </a:txBody>
                  <a:tcPr marL="0" marR="0" marT="2698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125"/>
                        </a:spcBef>
                      </a:pPr>
                      <a:r>
                        <a:rPr sz="2000" dirty="0">
                          <a:latin typeface="微软雅黑"/>
                          <a:cs typeface="微软雅黑"/>
                        </a:rPr>
                        <a:t>软件独立于特定软件环境的程度</a:t>
                      </a:r>
                      <a:endParaRPr sz="2000">
                        <a:latin typeface="微软雅黑"/>
                        <a:cs typeface="微软雅黑"/>
                      </a:endParaRPr>
                    </a:p>
                  </a:txBody>
                  <a:tcPr marL="0" marR="0" marT="2698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363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25"/>
                        </a:spcBef>
                      </a:pPr>
                      <a:r>
                        <a:rPr sz="2000" dirty="0">
                          <a:latin typeface="微软雅黑"/>
                          <a:cs typeface="微软雅黑"/>
                        </a:rPr>
                        <a:t>可安装性</a:t>
                      </a:r>
                      <a:endParaRPr sz="2000">
                        <a:latin typeface="微软雅黑"/>
                        <a:cs typeface="微软雅黑"/>
                      </a:endParaRPr>
                    </a:p>
                  </a:txBody>
                  <a:tcPr marL="0" marR="0" marT="2698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125"/>
                        </a:spcBef>
                      </a:pPr>
                      <a:r>
                        <a:rPr sz="2000" dirty="0">
                          <a:latin typeface="微软雅黑"/>
                          <a:cs typeface="微软雅黑"/>
                        </a:rPr>
                        <a:t>使软件适用于新环境需要花费的精力</a:t>
                      </a:r>
                      <a:endParaRPr sz="2000">
                        <a:latin typeface="微软雅黑"/>
                        <a:cs typeface="微软雅黑"/>
                      </a:endParaRPr>
                    </a:p>
                  </a:txBody>
                  <a:tcPr marL="0" marR="0" marT="2698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727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24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000" dirty="0">
                          <a:latin typeface="微软雅黑"/>
                          <a:cs typeface="微软雅黑"/>
                        </a:rPr>
                        <a:t>可复用性</a:t>
                      </a:r>
                      <a:endParaRPr sz="2000">
                        <a:latin typeface="微软雅黑"/>
                        <a:cs typeface="微软雅黑"/>
                      </a:endParaRPr>
                    </a:p>
                  </a:txBody>
                  <a:tcPr marL="0" marR="0" marT="381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4340" marR="318770" indent="-342900">
                        <a:lnSpc>
                          <a:spcPct val="100000"/>
                        </a:lnSpc>
                        <a:spcBef>
                          <a:spcPts val="1650"/>
                        </a:spcBef>
                      </a:pPr>
                      <a:r>
                        <a:rPr sz="2000" dirty="0">
                          <a:latin typeface="微软雅黑"/>
                          <a:cs typeface="微软雅黑"/>
                        </a:rPr>
                        <a:t>软件可以在原始应用之外的应用中被复用的 程度</a:t>
                      </a:r>
                      <a:endParaRPr sz="2000">
                        <a:latin typeface="微软雅黑"/>
                        <a:cs typeface="微软雅黑"/>
                      </a:endParaRPr>
                    </a:p>
                  </a:txBody>
                  <a:tcPr marL="0" marR="0" marT="2095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03500" y="385571"/>
            <a:ext cx="39370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质量属性的开发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24334" y="1421552"/>
            <a:ext cx="8083550" cy="2977515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355600" indent="-342900" algn="just">
              <a:lnSpc>
                <a:spcPct val="100000"/>
              </a:lnSpc>
              <a:spcBef>
                <a:spcPts val="955"/>
              </a:spcBef>
              <a:buClr>
                <a:srgbClr val="00663C"/>
              </a:buClr>
              <a:buSzPct val="78571"/>
              <a:buFont typeface="Wingdings"/>
              <a:buChar char=""/>
              <a:tabLst>
                <a:tab pos="355600" algn="l"/>
              </a:tabLst>
            </a:pPr>
            <a:r>
              <a:rPr sz="2800" dirty="0">
                <a:latin typeface="宋体"/>
                <a:cs typeface="宋体"/>
              </a:rPr>
              <a:t>用户</a:t>
            </a:r>
            <a:r>
              <a:rPr sz="2800" dirty="0">
                <a:solidFill>
                  <a:srgbClr val="FF0000"/>
                </a:solidFill>
                <a:latin typeface="宋体"/>
                <a:cs typeface="宋体"/>
              </a:rPr>
              <a:t>并不能明确地</a:t>
            </a:r>
            <a:r>
              <a:rPr sz="2800" dirty="0">
                <a:latin typeface="宋体"/>
                <a:cs typeface="宋体"/>
              </a:rPr>
              <a:t>提出他们对产品质量的期望</a:t>
            </a:r>
          </a:p>
          <a:p>
            <a:pPr marL="755015" marR="5080" lvl="1" indent="-285750" algn="just">
              <a:lnSpc>
                <a:spcPct val="97500"/>
              </a:lnSpc>
              <a:spcBef>
                <a:spcPts val="810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755650" algn="l"/>
              </a:tabLst>
            </a:pPr>
            <a:r>
              <a:rPr sz="2400" dirty="0">
                <a:latin typeface="宋体"/>
                <a:cs typeface="宋体"/>
              </a:rPr>
              <a:t>并不了解软件系统的开发过程，也就无从判断哪些质量 属性会在怎样的程度上给设计带来多大的影响，也</a:t>
            </a:r>
            <a:r>
              <a:rPr sz="2400" dirty="0">
                <a:solidFill>
                  <a:srgbClr val="FF0000"/>
                </a:solidFill>
                <a:latin typeface="宋体"/>
                <a:cs typeface="宋体"/>
              </a:rPr>
              <a:t>无法 将他们对软件系统的质量要求细化成可量化的质量属性</a:t>
            </a:r>
            <a:endParaRPr sz="2400" dirty="0">
              <a:latin typeface="宋体"/>
              <a:cs typeface="宋体"/>
            </a:endParaRPr>
          </a:p>
          <a:p>
            <a:pPr lvl="1">
              <a:lnSpc>
                <a:spcPct val="100000"/>
              </a:lnSpc>
              <a:spcBef>
                <a:spcPts val="50"/>
              </a:spcBef>
              <a:buClr>
                <a:srgbClr val="C00000"/>
              </a:buClr>
              <a:buFont typeface="Wingdings"/>
              <a:buChar char=""/>
            </a:pPr>
            <a:endParaRPr sz="3450" dirty="0">
              <a:latin typeface="宋体"/>
              <a:cs typeface="宋体"/>
            </a:endParaRPr>
          </a:p>
          <a:p>
            <a:pPr marL="755015" marR="5080" lvl="1" indent="-285750" algn="just">
              <a:lnSpc>
                <a:spcPts val="2690"/>
              </a:lnSpc>
              <a:buClr>
                <a:srgbClr val="C00000"/>
              </a:buClr>
              <a:buSzPct val="58333"/>
              <a:buFont typeface="Wingdings"/>
              <a:buChar char=""/>
              <a:tabLst>
                <a:tab pos="755650" algn="l"/>
              </a:tabLst>
            </a:pPr>
            <a:r>
              <a:rPr sz="2400" dirty="0">
                <a:latin typeface="宋体"/>
                <a:cs typeface="宋体"/>
              </a:rPr>
              <a:t>北京市交通管理系统：具体表现各级警员无法明确并准 确的提出对该系统功能期望。</a:t>
            </a:r>
          </a:p>
        </p:txBody>
      </p:sp>
      <p:sp>
        <p:nvSpPr>
          <p:cNvPr id="4" name="object 4"/>
          <p:cNvSpPr/>
          <p:nvPr/>
        </p:nvSpPr>
        <p:spPr>
          <a:xfrm>
            <a:off x="6380162" y="4356098"/>
            <a:ext cx="1800000" cy="175152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03500" y="129539"/>
            <a:ext cx="39370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质量属性的开发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0156" y="1400217"/>
            <a:ext cx="8134350" cy="2974340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355600" indent="-342900" algn="just">
              <a:lnSpc>
                <a:spcPct val="100000"/>
              </a:lnSpc>
              <a:spcBef>
                <a:spcPts val="955"/>
              </a:spcBef>
              <a:buClr>
                <a:srgbClr val="00663C"/>
              </a:buClr>
              <a:buSzPct val="78571"/>
              <a:buFont typeface="Wingdings"/>
              <a:buChar char=""/>
              <a:tabLst>
                <a:tab pos="355600" algn="l"/>
              </a:tabLst>
            </a:pPr>
            <a:r>
              <a:rPr sz="2800" dirty="0">
                <a:latin typeface="宋体"/>
                <a:cs typeface="宋体"/>
              </a:rPr>
              <a:t>需求工程师</a:t>
            </a:r>
            <a:endParaRPr sz="2800">
              <a:latin typeface="宋体"/>
              <a:cs typeface="宋体"/>
            </a:endParaRPr>
          </a:p>
          <a:p>
            <a:pPr marL="755650" marR="5080" lvl="1" indent="-285750" algn="just">
              <a:lnSpc>
                <a:spcPct val="97100"/>
              </a:lnSpc>
              <a:spcBef>
                <a:spcPts val="819"/>
              </a:spcBef>
              <a:buClr>
                <a:srgbClr val="C00000"/>
              </a:buClr>
              <a:buSzPct val="59574"/>
              <a:buFont typeface="Wingdings"/>
              <a:buChar char=""/>
              <a:tabLst>
                <a:tab pos="755650" algn="l"/>
              </a:tabLst>
            </a:pPr>
            <a:r>
              <a:rPr sz="3525" b="1" spc="127" baseline="1182" dirty="0">
                <a:latin typeface="宋体"/>
                <a:cs typeface="宋体"/>
              </a:rPr>
              <a:t>质量属</a:t>
            </a:r>
            <a:r>
              <a:rPr sz="3525" b="1" spc="135" baseline="1182" dirty="0">
                <a:latin typeface="宋体"/>
                <a:cs typeface="宋体"/>
              </a:rPr>
              <a:t>性</a:t>
            </a:r>
            <a:r>
              <a:rPr sz="2400" dirty="0">
                <a:latin typeface="宋体"/>
                <a:cs typeface="宋体"/>
              </a:rPr>
              <a:t>大都是和</a:t>
            </a:r>
            <a:r>
              <a:rPr sz="3525" b="1" spc="127" baseline="1182" dirty="0">
                <a:solidFill>
                  <a:srgbClr val="009257"/>
                </a:solidFill>
                <a:latin typeface="宋体"/>
                <a:cs typeface="宋体"/>
              </a:rPr>
              <a:t>功能需</a:t>
            </a:r>
            <a:r>
              <a:rPr sz="3525" b="1" spc="135" baseline="1182" dirty="0">
                <a:solidFill>
                  <a:srgbClr val="009257"/>
                </a:solidFill>
                <a:latin typeface="宋体"/>
                <a:cs typeface="宋体"/>
              </a:rPr>
              <a:t>求</a:t>
            </a:r>
            <a:r>
              <a:rPr sz="2400" dirty="0">
                <a:latin typeface="宋体"/>
                <a:cs typeface="宋体"/>
              </a:rPr>
              <a:t>联系在一起的，因此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需要对</a:t>
            </a:r>
            <a:r>
              <a:rPr sz="2400" u="sng" spc="-2410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照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软件的质量属性检查每一项功能需求</a:t>
            </a:r>
            <a:r>
              <a:rPr sz="2400" dirty="0">
                <a:latin typeface="宋体"/>
                <a:cs typeface="宋体"/>
              </a:rPr>
              <a:t>，尽力去判断质 量属性存在的可能性</a:t>
            </a:r>
            <a:endParaRPr sz="2400">
              <a:latin typeface="宋体"/>
              <a:cs typeface="宋体"/>
            </a:endParaRPr>
          </a:p>
          <a:p>
            <a:pPr marL="1155700" lvl="2" indent="-228600" algn="just">
              <a:lnSpc>
                <a:spcPct val="100000"/>
              </a:lnSpc>
              <a:spcBef>
                <a:spcPts val="530"/>
              </a:spcBef>
              <a:buFont typeface="Arial"/>
              <a:buChar char="•"/>
              <a:tabLst>
                <a:tab pos="1155700" algn="l"/>
              </a:tabLst>
            </a:pPr>
            <a:r>
              <a:rPr sz="2400" dirty="0">
                <a:solidFill>
                  <a:srgbClr val="FF0000"/>
                </a:solidFill>
                <a:latin typeface="宋体"/>
                <a:cs typeface="宋体"/>
              </a:rPr>
              <a:t>形容词</a:t>
            </a:r>
            <a:r>
              <a:rPr sz="2400" dirty="0">
                <a:latin typeface="宋体"/>
                <a:cs typeface="宋体"/>
              </a:rPr>
              <a:t>和</a:t>
            </a:r>
            <a:r>
              <a:rPr sz="2400" dirty="0">
                <a:solidFill>
                  <a:srgbClr val="FF0000"/>
                </a:solidFill>
                <a:latin typeface="宋体"/>
                <a:cs typeface="宋体"/>
              </a:rPr>
              <a:t>副词</a:t>
            </a:r>
            <a:r>
              <a:rPr sz="2400" dirty="0">
                <a:latin typeface="宋体"/>
                <a:cs typeface="宋体"/>
              </a:rPr>
              <a:t>通常意味着质量属性的存在</a:t>
            </a:r>
            <a:endParaRPr sz="2400">
              <a:latin typeface="宋体"/>
              <a:cs typeface="宋体"/>
            </a:endParaRPr>
          </a:p>
          <a:p>
            <a:pPr marL="755650" marR="56515" lvl="1" indent="-285750" algn="just">
              <a:lnSpc>
                <a:spcPts val="2690"/>
              </a:lnSpc>
              <a:spcBef>
                <a:spcPts val="1065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755650" algn="l"/>
              </a:tabLst>
            </a:pPr>
            <a:r>
              <a:rPr sz="2400" dirty="0">
                <a:latin typeface="宋体"/>
                <a:cs typeface="宋体"/>
              </a:rPr>
              <a:t>对于一些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不和任何功能需求相联系</a:t>
            </a:r>
            <a:r>
              <a:rPr sz="2400" dirty="0">
                <a:latin typeface="宋体"/>
                <a:cs typeface="宋体"/>
              </a:rPr>
              <a:t>的全局性质量属性， 需求工程师要在碰到特定的实例时意识到它们的存在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62300" y="269747"/>
            <a:ext cx="28194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需求的分类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262379"/>
            <a:ext cx="7880350" cy="3378200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40"/>
              </a:spcBef>
              <a:buClr>
                <a:srgbClr val="00663C"/>
              </a:buClr>
              <a:buSzPct val="78571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dirty="0">
                <a:latin typeface="宋体"/>
                <a:cs typeface="宋体"/>
              </a:rPr>
              <a:t>对外接口</a:t>
            </a:r>
            <a:r>
              <a:rPr sz="2800" spc="-5" dirty="0">
                <a:latin typeface="宋体"/>
                <a:cs typeface="宋体"/>
              </a:rPr>
              <a:t>（</a:t>
            </a:r>
            <a:r>
              <a:rPr sz="2800" spc="-5" dirty="0">
                <a:latin typeface="Calibri"/>
                <a:cs typeface="Calibri"/>
              </a:rPr>
              <a:t>External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Interface</a:t>
            </a:r>
            <a:r>
              <a:rPr sz="2800" spc="-5" dirty="0">
                <a:latin typeface="宋体"/>
                <a:cs typeface="宋体"/>
              </a:rPr>
              <a:t>）：</a:t>
            </a:r>
            <a:endParaRPr sz="2800" dirty="0">
              <a:latin typeface="宋体"/>
              <a:cs typeface="宋体"/>
            </a:endParaRPr>
          </a:p>
          <a:p>
            <a:pPr marL="755650" marR="5080" lvl="1" indent="-285750">
              <a:lnSpc>
                <a:spcPts val="3190"/>
              </a:lnSpc>
              <a:spcBef>
                <a:spcPts val="1085"/>
              </a:spcBef>
              <a:buClr>
                <a:srgbClr val="C00000"/>
              </a:buClr>
              <a:buSzPct val="60714"/>
              <a:buFont typeface="Wingdings"/>
              <a:buChar char=""/>
              <a:tabLst>
                <a:tab pos="755650" algn="l"/>
              </a:tabLst>
            </a:pPr>
            <a:r>
              <a:rPr sz="2800" dirty="0">
                <a:latin typeface="宋体"/>
                <a:cs typeface="宋体"/>
              </a:rPr>
              <a:t>系统和环境中其他系统之间需要建立的接口， 包括硬件接口、软件接口、数据库接口等等。</a:t>
            </a:r>
          </a:p>
          <a:p>
            <a:pPr lvl="1">
              <a:lnSpc>
                <a:spcPct val="100000"/>
              </a:lnSpc>
              <a:spcBef>
                <a:spcPts val="10"/>
              </a:spcBef>
              <a:buClr>
                <a:srgbClr val="C00000"/>
              </a:buClr>
              <a:buFont typeface="Wingdings"/>
              <a:buChar char=""/>
            </a:pPr>
            <a:endParaRPr sz="3100" dirty="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buClr>
                <a:srgbClr val="00663C"/>
              </a:buClr>
              <a:buSzPct val="78571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dirty="0">
                <a:solidFill>
                  <a:srgbClr val="D9D9D9"/>
                </a:solidFill>
                <a:latin typeface="宋体"/>
                <a:cs typeface="宋体"/>
              </a:rPr>
              <a:t>约束</a:t>
            </a:r>
            <a:endParaRPr sz="2800" dirty="0">
              <a:latin typeface="宋体"/>
              <a:cs typeface="宋体"/>
            </a:endParaRPr>
          </a:p>
          <a:p>
            <a:pPr marL="755650" marR="5080" lvl="1" indent="-285750">
              <a:lnSpc>
                <a:spcPts val="3190"/>
              </a:lnSpc>
              <a:spcBef>
                <a:spcPts val="1090"/>
              </a:spcBef>
              <a:buClr>
                <a:srgbClr val="C00000"/>
              </a:buClr>
              <a:buSzPct val="60714"/>
              <a:buFont typeface="Wingdings"/>
              <a:buChar char=""/>
              <a:tabLst>
                <a:tab pos="755650" algn="l"/>
              </a:tabLst>
            </a:pPr>
            <a:r>
              <a:rPr sz="2800" dirty="0">
                <a:solidFill>
                  <a:srgbClr val="D9D9D9"/>
                </a:solidFill>
                <a:latin typeface="宋体"/>
                <a:cs typeface="宋体"/>
              </a:rPr>
              <a:t>进行系统构造时需要遵守的约束，例如编程语 言、硬件设施等</a:t>
            </a:r>
            <a:endParaRPr sz="2800" dirty="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41700" y="269747"/>
            <a:ext cx="22606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对外接口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087773"/>
            <a:ext cx="6870700" cy="4674870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55"/>
              </a:spcBef>
              <a:buClr>
                <a:srgbClr val="0066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sz="3200" dirty="0">
                <a:latin typeface="宋体"/>
                <a:cs typeface="宋体"/>
              </a:rPr>
              <a:t>解系统和其他系统之间的软硬件接口</a:t>
            </a:r>
            <a:endParaRPr sz="3200">
              <a:latin typeface="宋体"/>
              <a:cs typeface="宋体"/>
            </a:endParaRPr>
          </a:p>
          <a:p>
            <a:pPr marL="755650" lvl="1" indent="-285750">
              <a:lnSpc>
                <a:spcPct val="100000"/>
              </a:lnSpc>
              <a:spcBef>
                <a:spcPts val="665"/>
              </a:spcBef>
              <a:buClr>
                <a:srgbClr val="C00000"/>
              </a:buClr>
              <a:buSzPct val="60714"/>
              <a:buFont typeface="Wingdings"/>
              <a:buChar char=""/>
              <a:tabLst>
                <a:tab pos="755650" algn="l"/>
              </a:tabLst>
            </a:pPr>
            <a:r>
              <a:rPr sz="2800" dirty="0">
                <a:latin typeface="宋体"/>
                <a:cs typeface="宋体"/>
              </a:rPr>
              <a:t>接口的用途</a:t>
            </a:r>
            <a:endParaRPr sz="2800">
              <a:latin typeface="宋体"/>
              <a:cs typeface="宋体"/>
            </a:endParaRPr>
          </a:p>
          <a:p>
            <a:pPr marL="755650" lvl="1" indent="-285750">
              <a:lnSpc>
                <a:spcPct val="100000"/>
              </a:lnSpc>
              <a:spcBef>
                <a:spcPts val="625"/>
              </a:spcBef>
              <a:buClr>
                <a:srgbClr val="C00000"/>
              </a:buClr>
              <a:buSzPct val="60714"/>
              <a:buFont typeface="Wingdings"/>
              <a:buChar char=""/>
              <a:tabLst>
                <a:tab pos="755650" algn="l"/>
              </a:tabLst>
            </a:pPr>
            <a:r>
              <a:rPr sz="2800" dirty="0">
                <a:latin typeface="宋体"/>
                <a:cs typeface="宋体"/>
              </a:rPr>
              <a:t>接口的输入输出</a:t>
            </a:r>
            <a:endParaRPr sz="2800">
              <a:latin typeface="宋体"/>
              <a:cs typeface="宋体"/>
            </a:endParaRPr>
          </a:p>
          <a:p>
            <a:pPr marL="755650" lvl="1" indent="-285750">
              <a:lnSpc>
                <a:spcPct val="100000"/>
              </a:lnSpc>
              <a:spcBef>
                <a:spcPts val="745"/>
              </a:spcBef>
              <a:buClr>
                <a:srgbClr val="C00000"/>
              </a:buClr>
              <a:buSzPct val="60714"/>
              <a:buFont typeface="Wingdings"/>
              <a:buChar char=""/>
              <a:tabLst>
                <a:tab pos="755650" algn="l"/>
              </a:tabLst>
            </a:pPr>
            <a:r>
              <a:rPr sz="2800" dirty="0">
                <a:latin typeface="宋体"/>
                <a:cs typeface="宋体"/>
              </a:rPr>
              <a:t>数据格式</a:t>
            </a:r>
            <a:endParaRPr sz="2800">
              <a:latin typeface="宋体"/>
              <a:cs typeface="宋体"/>
            </a:endParaRPr>
          </a:p>
          <a:p>
            <a:pPr marL="755650" lvl="1" indent="-285750">
              <a:lnSpc>
                <a:spcPct val="100000"/>
              </a:lnSpc>
              <a:spcBef>
                <a:spcPts val="645"/>
              </a:spcBef>
              <a:buClr>
                <a:srgbClr val="C00000"/>
              </a:buClr>
              <a:buSzPct val="60714"/>
              <a:buFont typeface="Wingdings"/>
              <a:buChar char=""/>
              <a:tabLst>
                <a:tab pos="755650" algn="l"/>
              </a:tabLst>
            </a:pPr>
            <a:r>
              <a:rPr sz="2800" dirty="0">
                <a:latin typeface="宋体"/>
                <a:cs typeface="宋体"/>
              </a:rPr>
              <a:t>命令格式</a:t>
            </a:r>
            <a:endParaRPr sz="2800">
              <a:latin typeface="宋体"/>
              <a:cs typeface="宋体"/>
            </a:endParaRPr>
          </a:p>
          <a:p>
            <a:pPr marL="755650" lvl="1" indent="-285750">
              <a:lnSpc>
                <a:spcPct val="100000"/>
              </a:lnSpc>
              <a:spcBef>
                <a:spcPts val="650"/>
              </a:spcBef>
              <a:buClr>
                <a:srgbClr val="C00000"/>
              </a:buClr>
              <a:buSzPct val="60714"/>
              <a:buFont typeface="Wingdings"/>
              <a:buChar char=""/>
              <a:tabLst>
                <a:tab pos="755650" algn="l"/>
              </a:tabLst>
            </a:pPr>
            <a:r>
              <a:rPr sz="2800" dirty="0">
                <a:latin typeface="宋体"/>
                <a:cs typeface="宋体"/>
              </a:rPr>
              <a:t>异常处理要求</a:t>
            </a:r>
            <a:endParaRPr sz="2800">
              <a:latin typeface="宋体"/>
              <a:cs typeface="宋体"/>
            </a:endParaRPr>
          </a:p>
          <a:p>
            <a:pPr lvl="1">
              <a:lnSpc>
                <a:spcPct val="100000"/>
              </a:lnSpc>
              <a:spcBef>
                <a:spcPts val="5"/>
              </a:spcBef>
              <a:buClr>
                <a:srgbClr val="C00000"/>
              </a:buClr>
              <a:buFont typeface="Wingdings"/>
              <a:buChar char=""/>
            </a:pPr>
            <a:endParaRPr sz="315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buClr>
                <a:srgbClr val="0066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sz="3200" dirty="0">
                <a:latin typeface="宋体"/>
                <a:cs typeface="宋体"/>
              </a:rPr>
              <a:t>用户界面</a:t>
            </a:r>
            <a:endParaRPr sz="3200">
              <a:latin typeface="宋体"/>
              <a:cs typeface="宋体"/>
            </a:endParaRPr>
          </a:p>
          <a:p>
            <a:pPr marL="755650" lvl="1" indent="-285750">
              <a:lnSpc>
                <a:spcPct val="100000"/>
              </a:lnSpc>
              <a:spcBef>
                <a:spcPts val="640"/>
              </a:spcBef>
              <a:buClr>
                <a:srgbClr val="C00000"/>
              </a:buClr>
              <a:buSzPct val="60714"/>
              <a:buFont typeface="Wingdings"/>
              <a:buChar char=""/>
              <a:tabLst>
                <a:tab pos="755650" algn="l"/>
              </a:tabLst>
            </a:pPr>
            <a:r>
              <a:rPr sz="2800" dirty="0">
                <a:latin typeface="宋体"/>
                <a:cs typeface="宋体"/>
              </a:rPr>
              <a:t>利用专门的人机交互设计文档记录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41700" y="269747"/>
            <a:ext cx="22606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对外接口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183131"/>
            <a:ext cx="7943850" cy="4173854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355600" marR="5080" indent="-342900">
              <a:lnSpc>
                <a:spcPts val="3310"/>
              </a:lnSpc>
              <a:spcBef>
                <a:spcPts val="250"/>
              </a:spcBef>
              <a:buClr>
                <a:srgbClr val="00663C"/>
              </a:buClr>
              <a:buSzPct val="78571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dirty="0">
                <a:latin typeface="宋体"/>
                <a:cs typeface="宋体"/>
              </a:rPr>
              <a:t>例：客户端在每个工作日的</a:t>
            </a:r>
            <a:r>
              <a:rPr sz="2800" spc="5" dirty="0">
                <a:latin typeface="Calibri"/>
                <a:cs typeface="Calibri"/>
              </a:rPr>
              <a:t>20</a:t>
            </a:r>
            <a:r>
              <a:rPr sz="2800" dirty="0">
                <a:latin typeface="Calibri"/>
                <a:cs typeface="Calibri"/>
              </a:rPr>
              <a:t>:</a:t>
            </a:r>
            <a:r>
              <a:rPr sz="2800" spc="5" dirty="0">
                <a:latin typeface="Calibri"/>
                <a:cs typeface="Calibri"/>
              </a:rPr>
              <a:t>00</a:t>
            </a:r>
            <a:r>
              <a:rPr sz="2800" dirty="0">
                <a:latin typeface="宋体"/>
                <a:cs typeface="宋体"/>
              </a:rPr>
              <a:t>向服务器端发送 数据包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dirty="0">
                <a:latin typeface="宋体"/>
                <a:cs typeface="宋体"/>
              </a:rPr>
              <a:t>更新商品数据。</a:t>
            </a:r>
            <a:endParaRPr sz="2800">
              <a:latin typeface="宋体"/>
              <a:cs typeface="宋体"/>
            </a:endParaRPr>
          </a:p>
          <a:p>
            <a:pPr marL="755650" lvl="1" indent="-285750">
              <a:lnSpc>
                <a:spcPts val="3285"/>
              </a:lnSpc>
              <a:buClr>
                <a:srgbClr val="C00000"/>
              </a:buClr>
              <a:buSzPct val="60714"/>
              <a:buFont typeface="Wingdings"/>
              <a:buChar char=""/>
              <a:tabLst>
                <a:tab pos="755650" algn="l"/>
              </a:tabLst>
            </a:pPr>
            <a:r>
              <a:rPr sz="2800" dirty="0">
                <a:latin typeface="宋体"/>
                <a:cs typeface="宋体"/>
              </a:rPr>
              <a:t>数据包使用</a:t>
            </a:r>
            <a:r>
              <a:rPr sz="2800" spc="-5" dirty="0">
                <a:latin typeface="Calibri"/>
                <a:cs typeface="Calibri"/>
              </a:rPr>
              <a:t>XML</a:t>
            </a:r>
            <a:r>
              <a:rPr sz="2800" dirty="0">
                <a:latin typeface="宋体"/>
                <a:cs typeface="宋体"/>
              </a:rPr>
              <a:t>格式。</a:t>
            </a:r>
            <a:r>
              <a:rPr sz="2800" spc="-5" dirty="0">
                <a:latin typeface="Calibri"/>
                <a:cs typeface="Calibri"/>
              </a:rPr>
              <a:t>XML</a:t>
            </a:r>
            <a:r>
              <a:rPr sz="2800" dirty="0">
                <a:latin typeface="宋体"/>
                <a:cs typeface="宋体"/>
              </a:rPr>
              <a:t>文件包括</a:t>
            </a:r>
            <a:r>
              <a:rPr sz="2800" spc="-5" dirty="0">
                <a:latin typeface="Calibri"/>
                <a:cs typeface="Calibri"/>
              </a:rPr>
              <a:t>Message</a:t>
            </a:r>
            <a:endParaRPr sz="2800">
              <a:latin typeface="Calibri"/>
              <a:cs typeface="Calibri"/>
            </a:endParaRPr>
          </a:p>
          <a:p>
            <a:pPr marL="755650">
              <a:lnSpc>
                <a:spcPts val="3335"/>
              </a:lnSpc>
              <a:spcBef>
                <a:spcPts val="50"/>
              </a:spcBef>
            </a:pPr>
            <a:r>
              <a:rPr sz="2800" spc="-5" dirty="0">
                <a:latin typeface="Calibri"/>
                <a:cs typeface="Calibri"/>
              </a:rPr>
              <a:t>Header</a:t>
            </a:r>
            <a:r>
              <a:rPr sz="2800" dirty="0">
                <a:latin typeface="宋体"/>
                <a:cs typeface="宋体"/>
              </a:rPr>
              <a:t>和</a:t>
            </a:r>
            <a:r>
              <a:rPr sz="2800" spc="-5" dirty="0">
                <a:latin typeface="Calibri"/>
                <a:cs typeface="Calibri"/>
              </a:rPr>
              <a:t>Message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Content</a:t>
            </a:r>
            <a:r>
              <a:rPr sz="2800" dirty="0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755650" lvl="1" indent="-285750">
              <a:lnSpc>
                <a:spcPts val="3335"/>
              </a:lnSpc>
              <a:buClr>
                <a:srgbClr val="C00000"/>
              </a:buClr>
              <a:buSzPct val="60714"/>
              <a:buFont typeface="Wingdings"/>
              <a:buChar char=""/>
              <a:tabLst>
                <a:tab pos="755650" algn="l"/>
              </a:tabLst>
            </a:pPr>
            <a:r>
              <a:rPr sz="2800" spc="-5" dirty="0">
                <a:latin typeface="Calibri"/>
                <a:cs typeface="Calibri"/>
              </a:rPr>
              <a:t>Message Header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dirty="0">
                <a:latin typeface="宋体"/>
                <a:cs typeface="宋体"/>
              </a:rPr>
              <a:t>的</a:t>
            </a:r>
            <a:r>
              <a:rPr sz="2800" spc="-765" dirty="0">
                <a:latin typeface="宋体"/>
                <a:cs typeface="宋体"/>
              </a:rPr>
              <a:t> </a:t>
            </a:r>
            <a:r>
              <a:rPr sz="2800" spc="-5" dirty="0">
                <a:latin typeface="Calibri"/>
                <a:cs typeface="Calibri"/>
              </a:rPr>
              <a:t>Root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Tag</a:t>
            </a:r>
            <a:r>
              <a:rPr sz="2800" dirty="0">
                <a:latin typeface="宋体"/>
                <a:cs typeface="宋体"/>
              </a:rPr>
              <a:t>为</a:t>
            </a:r>
            <a:r>
              <a:rPr sz="2800" spc="-5" dirty="0">
                <a:latin typeface="宋体"/>
                <a:cs typeface="宋体"/>
              </a:rPr>
              <a:t>“</a:t>
            </a:r>
            <a:r>
              <a:rPr sz="2800" spc="-5" dirty="0">
                <a:latin typeface="Calibri"/>
                <a:cs typeface="Calibri"/>
              </a:rPr>
              <a:t>ShopProduct”,</a:t>
            </a:r>
            <a:endParaRPr sz="2800">
              <a:latin typeface="Calibri"/>
              <a:cs typeface="Calibri"/>
            </a:endParaRPr>
          </a:p>
          <a:p>
            <a:pPr marL="755650">
              <a:lnSpc>
                <a:spcPct val="100000"/>
              </a:lnSpc>
              <a:spcBef>
                <a:spcPts val="25"/>
              </a:spcBef>
            </a:pPr>
            <a:r>
              <a:rPr sz="2800" dirty="0">
                <a:latin typeface="宋体"/>
                <a:cs typeface="宋体"/>
              </a:rPr>
              <a:t>其各个字段如下所示。</a:t>
            </a:r>
            <a:endParaRPr sz="2800">
              <a:latin typeface="宋体"/>
              <a:cs typeface="宋体"/>
            </a:endParaRPr>
          </a:p>
          <a:p>
            <a:pPr marL="1155700" lvl="2" indent="-228600">
              <a:lnSpc>
                <a:spcPts val="2845"/>
              </a:lnSpc>
              <a:spcBef>
                <a:spcPts val="40"/>
              </a:spcBef>
              <a:buFont typeface="Arial"/>
              <a:buChar char="•"/>
              <a:tabLst>
                <a:tab pos="1155700" algn="l"/>
              </a:tabLst>
            </a:pPr>
            <a:r>
              <a:rPr sz="2400" spc="-5" dirty="0">
                <a:latin typeface="Calibri"/>
                <a:cs typeface="Calibri"/>
              </a:rPr>
              <a:t>ShopID:String,</a:t>
            </a:r>
            <a:r>
              <a:rPr sz="2400" dirty="0">
                <a:latin typeface="宋体"/>
                <a:cs typeface="宋体"/>
              </a:rPr>
              <a:t>店铺号</a:t>
            </a:r>
            <a:r>
              <a:rPr sz="2400" spc="-5" dirty="0">
                <a:latin typeface="Calibri"/>
                <a:cs typeface="Calibri"/>
              </a:rPr>
              <a:t>,2</a:t>
            </a:r>
            <a:r>
              <a:rPr sz="2400" dirty="0">
                <a:latin typeface="宋体"/>
                <a:cs typeface="宋体"/>
              </a:rPr>
              <a:t>位区位码</a:t>
            </a:r>
            <a:r>
              <a:rPr sz="2400" spc="-5" dirty="0">
                <a:latin typeface="Calibri"/>
                <a:cs typeface="Calibri"/>
              </a:rPr>
              <a:t>+3</a:t>
            </a:r>
            <a:r>
              <a:rPr sz="2400" dirty="0">
                <a:latin typeface="宋体"/>
                <a:cs typeface="宋体"/>
              </a:rPr>
              <a:t>位店铺码；</a:t>
            </a:r>
            <a:endParaRPr sz="2400">
              <a:latin typeface="宋体"/>
              <a:cs typeface="宋体"/>
            </a:endParaRPr>
          </a:p>
          <a:p>
            <a:pPr marL="1155700" lvl="2" indent="-228600">
              <a:lnSpc>
                <a:spcPts val="2845"/>
              </a:lnSpc>
              <a:buFont typeface="Arial"/>
              <a:buChar char="•"/>
              <a:tabLst>
                <a:tab pos="1155700" algn="l"/>
              </a:tabLst>
            </a:pPr>
            <a:r>
              <a:rPr sz="2400" spc="-5" dirty="0">
                <a:latin typeface="Calibri"/>
                <a:cs typeface="Calibri"/>
              </a:rPr>
              <a:t>Date:DateTime,</a:t>
            </a:r>
            <a:r>
              <a:rPr sz="2400" dirty="0">
                <a:latin typeface="宋体"/>
                <a:cs typeface="宋体"/>
              </a:rPr>
              <a:t>日期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dirty="0">
                <a:latin typeface="宋体"/>
                <a:cs typeface="宋体"/>
              </a:rPr>
              <a:t>当天日期时间。</a:t>
            </a:r>
            <a:endParaRPr sz="2400">
              <a:latin typeface="宋体"/>
              <a:cs typeface="宋体"/>
            </a:endParaRPr>
          </a:p>
          <a:p>
            <a:pPr marL="755650" marR="68580" lvl="1" indent="-285750">
              <a:lnSpc>
                <a:spcPts val="3410"/>
              </a:lnSpc>
              <a:spcBef>
                <a:spcPts val="80"/>
              </a:spcBef>
              <a:buClr>
                <a:srgbClr val="C00000"/>
              </a:buClr>
              <a:buSzPct val="60714"/>
              <a:buFont typeface="Wingdings"/>
              <a:buChar char=""/>
              <a:tabLst>
                <a:tab pos="755650" algn="l"/>
              </a:tabLst>
            </a:pPr>
            <a:r>
              <a:rPr sz="2800" spc="-5" dirty="0">
                <a:latin typeface="Calibri"/>
                <a:cs typeface="Calibri"/>
              </a:rPr>
              <a:t>Message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Content</a:t>
            </a:r>
            <a:r>
              <a:rPr sz="2800" dirty="0">
                <a:latin typeface="宋体"/>
                <a:cs typeface="宋体"/>
              </a:rPr>
              <a:t>的父标签为</a:t>
            </a:r>
            <a:r>
              <a:rPr sz="2800" spc="-5" dirty="0">
                <a:latin typeface="宋体"/>
                <a:cs typeface="宋体"/>
              </a:rPr>
              <a:t>“</a:t>
            </a:r>
            <a:r>
              <a:rPr sz="2800" spc="-5" dirty="0">
                <a:latin typeface="Calibri"/>
                <a:cs typeface="Calibri"/>
              </a:rPr>
              <a:t>ShopProduct”,</a:t>
            </a:r>
            <a:r>
              <a:rPr sz="2800" dirty="0">
                <a:latin typeface="宋体"/>
                <a:cs typeface="宋体"/>
              </a:rPr>
              <a:t>其 字段如</a:t>
            </a:r>
            <a:r>
              <a:rPr sz="2800" dirty="0">
                <a:latin typeface="Calibri"/>
                <a:cs typeface="Calibri"/>
              </a:rPr>
              <a:t>……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00500" y="160019"/>
            <a:ext cx="11430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约束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208532"/>
            <a:ext cx="7912100" cy="3975735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584200" marR="5080" indent="-571500">
              <a:lnSpc>
                <a:spcPts val="3600"/>
              </a:lnSpc>
              <a:spcBef>
                <a:spcPts val="420"/>
              </a:spcBef>
              <a:buClr>
                <a:srgbClr val="00663C"/>
              </a:buClr>
              <a:buSzPct val="81250"/>
              <a:buFont typeface="Wingdings"/>
              <a:buChar char=""/>
              <a:tabLst>
                <a:tab pos="583565" algn="l"/>
                <a:tab pos="584200" algn="l"/>
              </a:tabLst>
            </a:pPr>
            <a:r>
              <a:rPr sz="3200" dirty="0">
                <a:latin typeface="宋体"/>
                <a:cs typeface="宋体"/>
              </a:rPr>
              <a:t>总体上限制了开发人员设计和构建系统时 的选择范围</a:t>
            </a:r>
            <a:endParaRPr sz="3200">
              <a:latin typeface="宋体"/>
              <a:cs typeface="宋体"/>
            </a:endParaRPr>
          </a:p>
          <a:p>
            <a:pPr marL="852805" lvl="1" indent="-495934">
              <a:lnSpc>
                <a:spcPct val="100000"/>
              </a:lnSpc>
              <a:spcBef>
                <a:spcPts val="585"/>
              </a:spcBef>
              <a:buClr>
                <a:srgbClr val="C00000"/>
              </a:buClr>
              <a:buSzPct val="60714"/>
              <a:buFont typeface="Wingdings"/>
              <a:buChar char=""/>
              <a:tabLst>
                <a:tab pos="852169" algn="l"/>
                <a:tab pos="852805" algn="l"/>
              </a:tabLst>
            </a:pPr>
            <a:r>
              <a:rPr sz="2800" dirty="0">
                <a:latin typeface="宋体"/>
                <a:cs typeface="宋体"/>
              </a:rPr>
              <a:t>系统开发及运行的环境。</a:t>
            </a:r>
            <a:endParaRPr sz="2800">
              <a:latin typeface="宋体"/>
              <a:cs typeface="宋体"/>
            </a:endParaRPr>
          </a:p>
          <a:p>
            <a:pPr marL="1102995" marR="95885" lvl="2" indent="-419100">
              <a:lnSpc>
                <a:spcPts val="2710"/>
              </a:lnSpc>
              <a:spcBef>
                <a:spcPts val="1060"/>
              </a:spcBef>
              <a:buFont typeface="Arial"/>
              <a:buChar char="•"/>
              <a:tabLst>
                <a:tab pos="1102995" algn="l"/>
                <a:tab pos="1103630" algn="l"/>
              </a:tabLst>
            </a:pPr>
            <a:r>
              <a:rPr sz="2400" dirty="0">
                <a:latin typeface="宋体"/>
                <a:cs typeface="宋体"/>
              </a:rPr>
              <a:t>包括目标机器、操作系统、网络环境、编程语言、 数据库管理系统等。</a:t>
            </a:r>
            <a:endParaRPr sz="2400">
              <a:latin typeface="宋体"/>
              <a:cs typeface="宋体"/>
            </a:endParaRPr>
          </a:p>
          <a:p>
            <a:pPr marL="1560830" lvl="3" indent="-419734">
              <a:lnSpc>
                <a:spcPct val="100000"/>
              </a:lnSpc>
              <a:spcBef>
                <a:spcPts val="365"/>
              </a:spcBef>
              <a:buFont typeface="Arial"/>
              <a:buChar char="–"/>
              <a:tabLst>
                <a:tab pos="1560195" algn="l"/>
                <a:tab pos="1560830" algn="l"/>
              </a:tabLst>
            </a:pPr>
            <a:r>
              <a:rPr sz="2000" dirty="0">
                <a:latin typeface="宋体"/>
                <a:cs typeface="宋体"/>
              </a:rPr>
              <a:t>例：系统要能够在</a:t>
            </a:r>
            <a:r>
              <a:rPr sz="2000" spc="-5" dirty="0">
                <a:latin typeface="Calibri"/>
                <a:cs typeface="Calibri"/>
              </a:rPr>
              <a:t>Windows</a:t>
            </a:r>
            <a:r>
              <a:rPr sz="2000" dirty="0">
                <a:latin typeface="宋体"/>
                <a:cs typeface="宋体"/>
              </a:rPr>
              <a:t>和</a:t>
            </a:r>
            <a:r>
              <a:rPr sz="2000" spc="-5" dirty="0">
                <a:latin typeface="Calibri"/>
                <a:cs typeface="Calibri"/>
              </a:rPr>
              <a:t>Linux</a:t>
            </a:r>
            <a:r>
              <a:rPr sz="2000" dirty="0">
                <a:latin typeface="宋体"/>
                <a:cs typeface="宋体"/>
              </a:rPr>
              <a:t>两种操作系统上运行。</a:t>
            </a:r>
            <a:endParaRPr sz="2000">
              <a:latin typeface="宋体"/>
              <a:cs typeface="宋体"/>
            </a:endParaRPr>
          </a:p>
          <a:p>
            <a:pPr marL="852805" lvl="1" indent="-495934">
              <a:lnSpc>
                <a:spcPct val="100000"/>
              </a:lnSpc>
              <a:spcBef>
                <a:spcPts val="690"/>
              </a:spcBef>
              <a:buClr>
                <a:srgbClr val="C00000"/>
              </a:buClr>
              <a:buSzPct val="60714"/>
              <a:buFont typeface="Wingdings"/>
              <a:buChar char=""/>
              <a:tabLst>
                <a:tab pos="852169" algn="l"/>
                <a:tab pos="852805" algn="l"/>
              </a:tabLst>
            </a:pPr>
            <a:r>
              <a:rPr sz="2800" dirty="0">
                <a:latin typeface="宋体"/>
                <a:cs typeface="宋体"/>
              </a:rPr>
              <a:t>问题域内的相关标准。</a:t>
            </a:r>
            <a:endParaRPr sz="2800">
              <a:latin typeface="宋体"/>
              <a:cs typeface="宋体"/>
            </a:endParaRPr>
          </a:p>
          <a:p>
            <a:pPr marL="1103630" lvl="2" indent="-419734">
              <a:lnSpc>
                <a:spcPct val="100000"/>
              </a:lnSpc>
              <a:spcBef>
                <a:spcPts val="540"/>
              </a:spcBef>
              <a:buFont typeface="Arial"/>
              <a:buChar char="•"/>
              <a:tabLst>
                <a:tab pos="1102995" algn="l"/>
                <a:tab pos="1103630" algn="l"/>
              </a:tabLst>
            </a:pPr>
            <a:r>
              <a:rPr sz="2400" dirty="0">
                <a:latin typeface="宋体"/>
                <a:cs typeface="宋体"/>
              </a:rPr>
              <a:t>包括法律法规、行业协定、企业规章等。</a:t>
            </a:r>
            <a:endParaRPr sz="2400">
              <a:latin typeface="宋体"/>
              <a:cs typeface="宋体"/>
            </a:endParaRPr>
          </a:p>
          <a:p>
            <a:pPr marL="1560830" lvl="3" indent="-419734">
              <a:lnSpc>
                <a:spcPct val="100000"/>
              </a:lnSpc>
              <a:spcBef>
                <a:spcPts val="520"/>
              </a:spcBef>
              <a:buFont typeface="Arial"/>
              <a:buChar char="–"/>
              <a:tabLst>
                <a:tab pos="1560195" algn="l"/>
                <a:tab pos="1560830" algn="l"/>
              </a:tabLst>
            </a:pPr>
            <a:r>
              <a:rPr sz="2000" dirty="0">
                <a:latin typeface="宋体"/>
                <a:cs typeface="宋体"/>
              </a:rPr>
              <a:t>系统的保密性能要符合</a:t>
            </a:r>
            <a:r>
              <a:rPr sz="2000" spc="-5" dirty="0">
                <a:latin typeface="Calibri"/>
                <a:cs typeface="Calibri"/>
              </a:rPr>
              <a:t>xxx</a:t>
            </a:r>
            <a:r>
              <a:rPr sz="2000" dirty="0">
                <a:latin typeface="宋体"/>
                <a:cs typeface="宋体"/>
              </a:rPr>
              <a:t>法律第</a:t>
            </a:r>
            <a:r>
              <a:rPr sz="2000" spc="-5" dirty="0">
                <a:latin typeface="Calibri"/>
                <a:cs typeface="Calibri"/>
              </a:rPr>
              <a:t>xxx</a:t>
            </a:r>
            <a:r>
              <a:rPr sz="2000" dirty="0">
                <a:latin typeface="宋体"/>
                <a:cs typeface="宋体"/>
              </a:rPr>
              <a:t>条的要求。</a:t>
            </a:r>
            <a:endParaRPr sz="2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00500" y="160019"/>
            <a:ext cx="11430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约束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208532"/>
            <a:ext cx="7912100" cy="323596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584200" marR="5080" indent="-571500">
              <a:lnSpc>
                <a:spcPts val="3600"/>
              </a:lnSpc>
              <a:spcBef>
                <a:spcPts val="420"/>
              </a:spcBef>
              <a:buClr>
                <a:srgbClr val="00663C"/>
              </a:buClr>
              <a:buSzPct val="81250"/>
              <a:buFont typeface="Wingdings"/>
              <a:buChar char=""/>
              <a:tabLst>
                <a:tab pos="583565" algn="l"/>
                <a:tab pos="584200" algn="l"/>
              </a:tabLst>
            </a:pPr>
            <a:r>
              <a:rPr sz="3200" dirty="0">
                <a:latin typeface="宋体"/>
                <a:cs typeface="宋体"/>
              </a:rPr>
              <a:t>总体上限制了开发人员设计和构建系统时 的选择范围</a:t>
            </a:r>
            <a:endParaRPr sz="3200">
              <a:latin typeface="宋体"/>
              <a:cs typeface="宋体"/>
            </a:endParaRPr>
          </a:p>
          <a:p>
            <a:pPr marL="852805" lvl="1" indent="-495934">
              <a:lnSpc>
                <a:spcPct val="100000"/>
              </a:lnSpc>
              <a:spcBef>
                <a:spcPts val="585"/>
              </a:spcBef>
              <a:buClr>
                <a:srgbClr val="C00000"/>
              </a:buClr>
              <a:buSzPct val="60714"/>
              <a:buFont typeface="Wingdings"/>
              <a:buChar char=""/>
              <a:tabLst>
                <a:tab pos="852169" algn="l"/>
                <a:tab pos="852805" algn="l"/>
              </a:tabLst>
            </a:pPr>
            <a:r>
              <a:rPr sz="2800" dirty="0">
                <a:latin typeface="宋体"/>
                <a:cs typeface="宋体"/>
              </a:rPr>
              <a:t>商业规则。</a:t>
            </a:r>
            <a:endParaRPr sz="2800">
              <a:latin typeface="宋体"/>
              <a:cs typeface="宋体"/>
            </a:endParaRPr>
          </a:p>
          <a:p>
            <a:pPr marL="1102995" marR="95885" lvl="2" indent="-419100">
              <a:lnSpc>
                <a:spcPts val="2710"/>
              </a:lnSpc>
              <a:spcBef>
                <a:spcPts val="1060"/>
              </a:spcBef>
              <a:buFont typeface="Arial"/>
              <a:buChar char="•"/>
              <a:tabLst>
                <a:tab pos="1102995" algn="l"/>
                <a:tab pos="1103630" algn="l"/>
              </a:tabLst>
            </a:pPr>
            <a:r>
              <a:rPr sz="2400" dirty="0">
                <a:latin typeface="宋体"/>
                <a:cs typeface="宋体"/>
              </a:rPr>
              <a:t>用户在任务执行中的一些潜在规则也会限制开发人 员设计和构建系统的选择范围。</a:t>
            </a:r>
            <a:endParaRPr sz="2400">
              <a:latin typeface="宋体"/>
              <a:cs typeface="宋体"/>
            </a:endParaRPr>
          </a:p>
          <a:p>
            <a:pPr marL="852805" lvl="1" indent="-495934">
              <a:lnSpc>
                <a:spcPct val="100000"/>
              </a:lnSpc>
              <a:spcBef>
                <a:spcPts val="550"/>
              </a:spcBef>
              <a:buClr>
                <a:srgbClr val="C00000"/>
              </a:buClr>
              <a:buSzPct val="60714"/>
              <a:buFont typeface="Wingdings"/>
              <a:buChar char=""/>
              <a:tabLst>
                <a:tab pos="852169" algn="l"/>
                <a:tab pos="852805" algn="l"/>
              </a:tabLst>
            </a:pPr>
            <a:r>
              <a:rPr sz="2800" dirty="0">
                <a:latin typeface="宋体"/>
                <a:cs typeface="宋体"/>
              </a:rPr>
              <a:t>社会性因素。</a:t>
            </a:r>
            <a:endParaRPr sz="2800">
              <a:latin typeface="宋体"/>
              <a:cs typeface="宋体"/>
            </a:endParaRPr>
          </a:p>
          <a:p>
            <a:pPr marL="1252855" lvl="2" indent="-495934">
              <a:lnSpc>
                <a:spcPct val="100000"/>
              </a:lnSpc>
              <a:spcBef>
                <a:spcPts val="545"/>
              </a:spcBef>
              <a:buFont typeface="Arial"/>
              <a:buChar char="•"/>
              <a:tabLst>
                <a:tab pos="1252220" algn="l"/>
                <a:tab pos="1252855" algn="l"/>
              </a:tabLst>
            </a:pPr>
            <a:r>
              <a:rPr sz="2400" dirty="0">
                <a:latin typeface="宋体"/>
                <a:cs typeface="宋体"/>
              </a:rPr>
              <a:t>文化、信仰等社会性因素。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62300" y="166115"/>
            <a:ext cx="28194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约束与限制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631940" y="6467071"/>
            <a:ext cx="168275" cy="196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75"/>
              </a:lnSpc>
            </a:pPr>
            <a:r>
              <a:rPr sz="1200" spc="-5" dirty="0">
                <a:latin typeface="Garamond"/>
                <a:cs typeface="Garamond"/>
              </a:rPr>
              <a:t>24</a:t>
            </a:r>
            <a:endParaRPr sz="1200">
              <a:latin typeface="Garamond"/>
              <a:cs typeface="Garamond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184147"/>
            <a:ext cx="8070850" cy="1973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100" b="1" u="heavy" spc="145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示例</a:t>
            </a:r>
            <a:r>
              <a:rPr sz="3200" b="1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.</a:t>
            </a:r>
            <a:r>
              <a:rPr sz="3200" b="1" u="heavy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3100" b="1" u="heavy" spc="145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文字处理系统约束与限制</a:t>
            </a:r>
            <a:endParaRPr sz="3100">
              <a:latin typeface="宋体"/>
              <a:cs typeface="宋体"/>
            </a:endParaRPr>
          </a:p>
          <a:p>
            <a:pPr>
              <a:lnSpc>
                <a:spcPct val="100000"/>
              </a:lnSpc>
            </a:pPr>
            <a:endParaRPr sz="2900">
              <a:latin typeface="宋体"/>
              <a:cs typeface="宋体"/>
            </a:endParaRPr>
          </a:p>
          <a:p>
            <a:pPr marL="282575" marR="5080" indent="6350">
              <a:lnSpc>
                <a:spcPct val="101299"/>
              </a:lnSpc>
            </a:pPr>
            <a:r>
              <a:rPr sz="3200" dirty="0">
                <a:latin typeface="宋体"/>
                <a:cs typeface="宋体"/>
              </a:rPr>
              <a:t>文件内部格式要与</a:t>
            </a:r>
            <a:r>
              <a:rPr sz="3200" spc="-5" dirty="0">
                <a:latin typeface="Calibri"/>
                <a:cs typeface="Calibri"/>
              </a:rPr>
              <a:t>w</a:t>
            </a:r>
            <a:r>
              <a:rPr sz="3200" dirty="0">
                <a:latin typeface="Calibri"/>
                <a:cs typeface="Calibri"/>
              </a:rPr>
              <a:t>o</a:t>
            </a:r>
            <a:r>
              <a:rPr sz="3200" spc="-5" dirty="0">
                <a:latin typeface="Calibri"/>
                <a:cs typeface="Calibri"/>
              </a:rPr>
              <a:t>r</a:t>
            </a:r>
            <a:r>
              <a:rPr sz="3200" dirty="0">
                <a:latin typeface="Calibri"/>
                <a:cs typeface="Calibri"/>
              </a:rPr>
              <a:t>d</a:t>
            </a:r>
            <a:r>
              <a:rPr sz="3200" dirty="0">
                <a:latin typeface="宋体"/>
                <a:cs typeface="宋体"/>
              </a:rPr>
              <a:t>系统一致。开发平台 为</a:t>
            </a:r>
            <a:r>
              <a:rPr sz="3200" dirty="0">
                <a:latin typeface="Calibri"/>
                <a:cs typeface="Calibri"/>
              </a:rPr>
              <a:t>Linux</a:t>
            </a:r>
            <a:r>
              <a:rPr sz="3200" dirty="0">
                <a:latin typeface="宋体"/>
                <a:cs typeface="宋体"/>
              </a:rPr>
              <a:t>系统，以及使用</a:t>
            </a:r>
            <a:r>
              <a:rPr sz="3200" spc="5" dirty="0">
                <a:latin typeface="Calibri"/>
                <a:cs typeface="Calibri"/>
              </a:rPr>
              <a:t>C</a:t>
            </a:r>
            <a:r>
              <a:rPr sz="3200" dirty="0">
                <a:latin typeface="宋体"/>
                <a:cs typeface="宋体"/>
              </a:rPr>
              <a:t>语言等。</a:t>
            </a:r>
            <a:endParaRPr sz="3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308725"/>
            <a:ext cx="9144000" cy="1905"/>
          </a:xfrm>
          <a:custGeom>
            <a:avLst/>
            <a:gdLst/>
            <a:ahLst/>
            <a:cxnLst/>
            <a:rect l="l" t="t" r="r" b="b"/>
            <a:pathLst>
              <a:path w="9144000" h="1904">
                <a:moveTo>
                  <a:pt x="0" y="0"/>
                </a:moveTo>
                <a:lnTo>
                  <a:pt x="9144000" y="1588"/>
                </a:lnTo>
              </a:path>
            </a:pathLst>
          </a:custGeom>
          <a:ln w="12700">
            <a:solidFill>
              <a:srgbClr val="00663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1220" y="6422644"/>
            <a:ext cx="224345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00663C"/>
                </a:solidFill>
                <a:latin typeface="华文行楷"/>
                <a:cs typeface="华文行楷"/>
              </a:rPr>
              <a:t>软件需求工程与</a:t>
            </a:r>
            <a:r>
              <a:rPr sz="1600" spc="-5" dirty="0">
                <a:solidFill>
                  <a:srgbClr val="00663C"/>
                </a:solidFill>
                <a:latin typeface="Calibri"/>
                <a:cs typeface="Calibri"/>
              </a:rPr>
              <a:t>UM</a:t>
            </a:r>
            <a:r>
              <a:rPr sz="1600" dirty="0">
                <a:solidFill>
                  <a:srgbClr val="00663C"/>
                </a:solidFill>
                <a:latin typeface="Calibri"/>
                <a:cs typeface="Calibri"/>
              </a:rPr>
              <a:t>L</a:t>
            </a:r>
            <a:r>
              <a:rPr sz="1600" dirty="0">
                <a:solidFill>
                  <a:srgbClr val="00663C"/>
                </a:solidFill>
                <a:latin typeface="华文行楷"/>
                <a:cs typeface="华文行楷"/>
              </a:rPr>
              <a:t>建模</a:t>
            </a:r>
            <a:endParaRPr sz="1600">
              <a:latin typeface="华文行楷"/>
              <a:cs typeface="华文行楷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33400" y="157162"/>
            <a:ext cx="7696200" cy="6095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57198" y="157162"/>
            <a:ext cx="4959985" cy="5474335"/>
          </a:xfrm>
          <a:custGeom>
            <a:avLst/>
            <a:gdLst/>
            <a:ahLst/>
            <a:cxnLst/>
            <a:rect l="l" t="t" r="r" b="b"/>
            <a:pathLst>
              <a:path w="4959985" h="5474335">
                <a:moveTo>
                  <a:pt x="0" y="826613"/>
                </a:moveTo>
                <a:lnTo>
                  <a:pt x="1403" y="778044"/>
                </a:lnTo>
                <a:lnTo>
                  <a:pt x="5561" y="730213"/>
                </a:lnTo>
                <a:lnTo>
                  <a:pt x="12396" y="683199"/>
                </a:lnTo>
                <a:lnTo>
                  <a:pt x="21831" y="637078"/>
                </a:lnTo>
                <a:lnTo>
                  <a:pt x="33788" y="591930"/>
                </a:lnTo>
                <a:lnTo>
                  <a:pt x="48190" y="547831"/>
                </a:lnTo>
                <a:lnTo>
                  <a:pt x="64959" y="504858"/>
                </a:lnTo>
                <a:lnTo>
                  <a:pt x="84018" y="463090"/>
                </a:lnTo>
                <a:lnTo>
                  <a:pt x="105288" y="422603"/>
                </a:lnTo>
                <a:lnTo>
                  <a:pt x="128693" y="383475"/>
                </a:lnTo>
                <a:lnTo>
                  <a:pt x="154156" y="345785"/>
                </a:lnTo>
                <a:lnTo>
                  <a:pt x="181597" y="309609"/>
                </a:lnTo>
                <a:lnTo>
                  <a:pt x="210941" y="275024"/>
                </a:lnTo>
                <a:lnTo>
                  <a:pt x="242109" y="242109"/>
                </a:lnTo>
                <a:lnTo>
                  <a:pt x="275024" y="210941"/>
                </a:lnTo>
                <a:lnTo>
                  <a:pt x="309609" y="181597"/>
                </a:lnTo>
                <a:lnTo>
                  <a:pt x="345785" y="154156"/>
                </a:lnTo>
                <a:lnTo>
                  <a:pt x="383476" y="128693"/>
                </a:lnTo>
                <a:lnTo>
                  <a:pt x="422603" y="105288"/>
                </a:lnTo>
                <a:lnTo>
                  <a:pt x="463090" y="84017"/>
                </a:lnTo>
                <a:lnTo>
                  <a:pt x="504858" y="64959"/>
                </a:lnTo>
                <a:lnTo>
                  <a:pt x="547831" y="48190"/>
                </a:lnTo>
                <a:lnTo>
                  <a:pt x="591930" y="33788"/>
                </a:lnTo>
                <a:lnTo>
                  <a:pt x="637079" y="21831"/>
                </a:lnTo>
                <a:lnTo>
                  <a:pt x="683199" y="12396"/>
                </a:lnTo>
                <a:lnTo>
                  <a:pt x="730213" y="5561"/>
                </a:lnTo>
                <a:lnTo>
                  <a:pt x="778044" y="1403"/>
                </a:lnTo>
                <a:lnTo>
                  <a:pt x="826614" y="0"/>
                </a:lnTo>
                <a:lnTo>
                  <a:pt x="4132977" y="0"/>
                </a:lnTo>
                <a:lnTo>
                  <a:pt x="4181546" y="1403"/>
                </a:lnTo>
                <a:lnTo>
                  <a:pt x="4229377" y="5561"/>
                </a:lnTo>
                <a:lnTo>
                  <a:pt x="4276392" y="12396"/>
                </a:lnTo>
                <a:lnTo>
                  <a:pt x="4322512" y="21831"/>
                </a:lnTo>
                <a:lnTo>
                  <a:pt x="4367660" y="33788"/>
                </a:lnTo>
                <a:lnTo>
                  <a:pt x="4411760" y="48190"/>
                </a:lnTo>
                <a:lnTo>
                  <a:pt x="4454732" y="64959"/>
                </a:lnTo>
                <a:lnTo>
                  <a:pt x="4496501" y="84017"/>
                </a:lnTo>
                <a:lnTo>
                  <a:pt x="4536988" y="105288"/>
                </a:lnTo>
                <a:lnTo>
                  <a:pt x="4576115" y="128693"/>
                </a:lnTo>
                <a:lnTo>
                  <a:pt x="4613806" y="154156"/>
                </a:lnTo>
                <a:lnTo>
                  <a:pt x="4649982" y="181597"/>
                </a:lnTo>
                <a:lnTo>
                  <a:pt x="4684567" y="210941"/>
                </a:lnTo>
                <a:lnTo>
                  <a:pt x="4717482" y="242109"/>
                </a:lnTo>
                <a:lnTo>
                  <a:pt x="4748650" y="275024"/>
                </a:lnTo>
                <a:lnTo>
                  <a:pt x="4777994" y="309609"/>
                </a:lnTo>
                <a:lnTo>
                  <a:pt x="4805435" y="345785"/>
                </a:lnTo>
                <a:lnTo>
                  <a:pt x="4830898" y="383475"/>
                </a:lnTo>
                <a:lnTo>
                  <a:pt x="4854303" y="422603"/>
                </a:lnTo>
                <a:lnTo>
                  <a:pt x="4875573" y="463090"/>
                </a:lnTo>
                <a:lnTo>
                  <a:pt x="4894632" y="504858"/>
                </a:lnTo>
                <a:lnTo>
                  <a:pt x="4911401" y="547831"/>
                </a:lnTo>
                <a:lnTo>
                  <a:pt x="4925803" y="591930"/>
                </a:lnTo>
                <a:lnTo>
                  <a:pt x="4937760" y="637078"/>
                </a:lnTo>
                <a:lnTo>
                  <a:pt x="4947195" y="683199"/>
                </a:lnTo>
                <a:lnTo>
                  <a:pt x="4954030" y="730213"/>
                </a:lnTo>
                <a:lnTo>
                  <a:pt x="4958188" y="778044"/>
                </a:lnTo>
                <a:lnTo>
                  <a:pt x="4959592" y="826613"/>
                </a:lnTo>
                <a:lnTo>
                  <a:pt x="4959592" y="4647349"/>
                </a:lnTo>
                <a:lnTo>
                  <a:pt x="4958188" y="4695918"/>
                </a:lnTo>
                <a:lnTo>
                  <a:pt x="4954030" y="4743749"/>
                </a:lnTo>
                <a:lnTo>
                  <a:pt x="4947195" y="4790763"/>
                </a:lnTo>
                <a:lnTo>
                  <a:pt x="4937760" y="4836883"/>
                </a:lnTo>
                <a:lnTo>
                  <a:pt x="4925803" y="4882032"/>
                </a:lnTo>
                <a:lnTo>
                  <a:pt x="4911401" y="4926131"/>
                </a:lnTo>
                <a:lnTo>
                  <a:pt x="4894632" y="4969104"/>
                </a:lnTo>
                <a:lnTo>
                  <a:pt x="4875573" y="5010872"/>
                </a:lnTo>
                <a:lnTo>
                  <a:pt x="4854303" y="5051359"/>
                </a:lnTo>
                <a:lnTo>
                  <a:pt x="4830898" y="5090486"/>
                </a:lnTo>
                <a:lnTo>
                  <a:pt x="4805435" y="5128177"/>
                </a:lnTo>
                <a:lnTo>
                  <a:pt x="4777994" y="5164353"/>
                </a:lnTo>
                <a:lnTo>
                  <a:pt x="4748650" y="5198938"/>
                </a:lnTo>
                <a:lnTo>
                  <a:pt x="4717482" y="5231853"/>
                </a:lnTo>
                <a:lnTo>
                  <a:pt x="4684567" y="5263021"/>
                </a:lnTo>
                <a:lnTo>
                  <a:pt x="4649982" y="5292365"/>
                </a:lnTo>
                <a:lnTo>
                  <a:pt x="4613806" y="5319806"/>
                </a:lnTo>
                <a:lnTo>
                  <a:pt x="4576115" y="5345269"/>
                </a:lnTo>
                <a:lnTo>
                  <a:pt x="4536988" y="5368674"/>
                </a:lnTo>
                <a:lnTo>
                  <a:pt x="4496501" y="5389945"/>
                </a:lnTo>
                <a:lnTo>
                  <a:pt x="4454732" y="5409003"/>
                </a:lnTo>
                <a:lnTo>
                  <a:pt x="4411760" y="5425772"/>
                </a:lnTo>
                <a:lnTo>
                  <a:pt x="4367660" y="5440174"/>
                </a:lnTo>
                <a:lnTo>
                  <a:pt x="4322512" y="5452131"/>
                </a:lnTo>
                <a:lnTo>
                  <a:pt x="4276392" y="5461566"/>
                </a:lnTo>
                <a:lnTo>
                  <a:pt x="4229377" y="5468401"/>
                </a:lnTo>
                <a:lnTo>
                  <a:pt x="4181546" y="5472559"/>
                </a:lnTo>
                <a:lnTo>
                  <a:pt x="4132977" y="5473963"/>
                </a:lnTo>
                <a:lnTo>
                  <a:pt x="826614" y="5473963"/>
                </a:lnTo>
                <a:lnTo>
                  <a:pt x="778044" y="5472559"/>
                </a:lnTo>
                <a:lnTo>
                  <a:pt x="730213" y="5468401"/>
                </a:lnTo>
                <a:lnTo>
                  <a:pt x="683199" y="5461566"/>
                </a:lnTo>
                <a:lnTo>
                  <a:pt x="637079" y="5452131"/>
                </a:lnTo>
                <a:lnTo>
                  <a:pt x="591930" y="5440174"/>
                </a:lnTo>
                <a:lnTo>
                  <a:pt x="547831" y="5425772"/>
                </a:lnTo>
                <a:lnTo>
                  <a:pt x="504858" y="5409003"/>
                </a:lnTo>
                <a:lnTo>
                  <a:pt x="463090" y="5389945"/>
                </a:lnTo>
                <a:lnTo>
                  <a:pt x="422603" y="5368674"/>
                </a:lnTo>
                <a:lnTo>
                  <a:pt x="383476" y="5345269"/>
                </a:lnTo>
                <a:lnTo>
                  <a:pt x="345785" y="5319806"/>
                </a:lnTo>
                <a:lnTo>
                  <a:pt x="309609" y="5292365"/>
                </a:lnTo>
                <a:lnTo>
                  <a:pt x="275024" y="5263021"/>
                </a:lnTo>
                <a:lnTo>
                  <a:pt x="242109" y="5231853"/>
                </a:lnTo>
                <a:lnTo>
                  <a:pt x="210941" y="5198938"/>
                </a:lnTo>
                <a:lnTo>
                  <a:pt x="181597" y="5164353"/>
                </a:lnTo>
                <a:lnTo>
                  <a:pt x="154156" y="5128177"/>
                </a:lnTo>
                <a:lnTo>
                  <a:pt x="128693" y="5090486"/>
                </a:lnTo>
                <a:lnTo>
                  <a:pt x="105288" y="5051359"/>
                </a:lnTo>
                <a:lnTo>
                  <a:pt x="84018" y="5010872"/>
                </a:lnTo>
                <a:lnTo>
                  <a:pt x="64959" y="4969104"/>
                </a:lnTo>
                <a:lnTo>
                  <a:pt x="48190" y="4926131"/>
                </a:lnTo>
                <a:lnTo>
                  <a:pt x="33788" y="4882032"/>
                </a:lnTo>
                <a:lnTo>
                  <a:pt x="21831" y="4836883"/>
                </a:lnTo>
                <a:lnTo>
                  <a:pt x="12396" y="4790763"/>
                </a:lnTo>
                <a:lnTo>
                  <a:pt x="5561" y="4743749"/>
                </a:lnTo>
                <a:lnTo>
                  <a:pt x="1403" y="4695918"/>
                </a:lnTo>
                <a:lnTo>
                  <a:pt x="0" y="4647349"/>
                </a:lnTo>
                <a:lnTo>
                  <a:pt x="0" y="826613"/>
                </a:lnTo>
                <a:close/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572583" y="2785631"/>
            <a:ext cx="1880870" cy="1198880"/>
          </a:xfrm>
          <a:custGeom>
            <a:avLst/>
            <a:gdLst/>
            <a:ahLst/>
            <a:cxnLst/>
            <a:rect l="l" t="t" r="r" b="b"/>
            <a:pathLst>
              <a:path w="1880870" h="1198879">
                <a:moveTo>
                  <a:pt x="0" y="199741"/>
                </a:moveTo>
                <a:lnTo>
                  <a:pt x="5275" y="153942"/>
                </a:lnTo>
                <a:lnTo>
                  <a:pt x="20301" y="111900"/>
                </a:lnTo>
                <a:lnTo>
                  <a:pt x="43880" y="74813"/>
                </a:lnTo>
                <a:lnTo>
                  <a:pt x="74813" y="43880"/>
                </a:lnTo>
                <a:lnTo>
                  <a:pt x="111900" y="20301"/>
                </a:lnTo>
                <a:lnTo>
                  <a:pt x="153942" y="5275"/>
                </a:lnTo>
                <a:lnTo>
                  <a:pt x="199741" y="0"/>
                </a:lnTo>
                <a:lnTo>
                  <a:pt x="1680988" y="0"/>
                </a:lnTo>
                <a:lnTo>
                  <a:pt x="1726786" y="5275"/>
                </a:lnTo>
                <a:lnTo>
                  <a:pt x="1768829" y="20301"/>
                </a:lnTo>
                <a:lnTo>
                  <a:pt x="1805915" y="43880"/>
                </a:lnTo>
                <a:lnTo>
                  <a:pt x="1836848" y="74813"/>
                </a:lnTo>
                <a:lnTo>
                  <a:pt x="1860427" y="111900"/>
                </a:lnTo>
                <a:lnTo>
                  <a:pt x="1875453" y="153942"/>
                </a:lnTo>
                <a:lnTo>
                  <a:pt x="1880729" y="199741"/>
                </a:lnTo>
                <a:lnTo>
                  <a:pt x="1880729" y="998676"/>
                </a:lnTo>
                <a:lnTo>
                  <a:pt x="1875453" y="1044475"/>
                </a:lnTo>
                <a:lnTo>
                  <a:pt x="1860427" y="1086518"/>
                </a:lnTo>
                <a:lnTo>
                  <a:pt x="1836848" y="1123604"/>
                </a:lnTo>
                <a:lnTo>
                  <a:pt x="1805915" y="1154537"/>
                </a:lnTo>
                <a:lnTo>
                  <a:pt x="1768829" y="1178116"/>
                </a:lnTo>
                <a:lnTo>
                  <a:pt x="1726786" y="1193142"/>
                </a:lnTo>
                <a:lnTo>
                  <a:pt x="1680988" y="1198418"/>
                </a:lnTo>
                <a:lnTo>
                  <a:pt x="199741" y="1198418"/>
                </a:lnTo>
                <a:lnTo>
                  <a:pt x="153942" y="1193142"/>
                </a:lnTo>
                <a:lnTo>
                  <a:pt x="111900" y="1178116"/>
                </a:lnTo>
                <a:lnTo>
                  <a:pt x="74813" y="1154537"/>
                </a:lnTo>
                <a:lnTo>
                  <a:pt x="43880" y="1123604"/>
                </a:lnTo>
                <a:lnTo>
                  <a:pt x="20301" y="1086518"/>
                </a:lnTo>
                <a:lnTo>
                  <a:pt x="5275" y="1044475"/>
                </a:lnTo>
                <a:lnTo>
                  <a:pt x="0" y="998676"/>
                </a:lnTo>
                <a:lnTo>
                  <a:pt x="0" y="199741"/>
                </a:lnTo>
                <a:close/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520068" y="1967346"/>
            <a:ext cx="1880870" cy="1198880"/>
          </a:xfrm>
          <a:custGeom>
            <a:avLst/>
            <a:gdLst/>
            <a:ahLst/>
            <a:cxnLst/>
            <a:rect l="l" t="t" r="r" b="b"/>
            <a:pathLst>
              <a:path w="1880870" h="1198880">
                <a:moveTo>
                  <a:pt x="0" y="199741"/>
                </a:moveTo>
                <a:lnTo>
                  <a:pt x="5275" y="153942"/>
                </a:lnTo>
                <a:lnTo>
                  <a:pt x="20301" y="111900"/>
                </a:lnTo>
                <a:lnTo>
                  <a:pt x="43880" y="74813"/>
                </a:lnTo>
                <a:lnTo>
                  <a:pt x="74813" y="43880"/>
                </a:lnTo>
                <a:lnTo>
                  <a:pt x="111900" y="20301"/>
                </a:lnTo>
                <a:lnTo>
                  <a:pt x="153942" y="5275"/>
                </a:lnTo>
                <a:lnTo>
                  <a:pt x="199741" y="0"/>
                </a:lnTo>
                <a:lnTo>
                  <a:pt x="1680988" y="0"/>
                </a:lnTo>
                <a:lnTo>
                  <a:pt x="1726786" y="5275"/>
                </a:lnTo>
                <a:lnTo>
                  <a:pt x="1768829" y="20301"/>
                </a:lnTo>
                <a:lnTo>
                  <a:pt x="1805915" y="43880"/>
                </a:lnTo>
                <a:lnTo>
                  <a:pt x="1836848" y="74813"/>
                </a:lnTo>
                <a:lnTo>
                  <a:pt x="1860427" y="111900"/>
                </a:lnTo>
                <a:lnTo>
                  <a:pt x="1875453" y="153942"/>
                </a:lnTo>
                <a:lnTo>
                  <a:pt x="1880729" y="199741"/>
                </a:lnTo>
                <a:lnTo>
                  <a:pt x="1880729" y="998676"/>
                </a:lnTo>
                <a:lnTo>
                  <a:pt x="1875453" y="1044475"/>
                </a:lnTo>
                <a:lnTo>
                  <a:pt x="1860427" y="1086518"/>
                </a:lnTo>
                <a:lnTo>
                  <a:pt x="1836848" y="1123604"/>
                </a:lnTo>
                <a:lnTo>
                  <a:pt x="1805915" y="1154537"/>
                </a:lnTo>
                <a:lnTo>
                  <a:pt x="1768829" y="1178116"/>
                </a:lnTo>
                <a:lnTo>
                  <a:pt x="1726786" y="1193142"/>
                </a:lnTo>
                <a:lnTo>
                  <a:pt x="1680988" y="1198418"/>
                </a:lnTo>
                <a:lnTo>
                  <a:pt x="199741" y="1198418"/>
                </a:lnTo>
                <a:lnTo>
                  <a:pt x="153942" y="1193142"/>
                </a:lnTo>
                <a:lnTo>
                  <a:pt x="111900" y="1178116"/>
                </a:lnTo>
                <a:lnTo>
                  <a:pt x="74813" y="1154537"/>
                </a:lnTo>
                <a:lnTo>
                  <a:pt x="43880" y="1123604"/>
                </a:lnTo>
                <a:lnTo>
                  <a:pt x="20301" y="1086518"/>
                </a:lnTo>
                <a:lnTo>
                  <a:pt x="5275" y="1044475"/>
                </a:lnTo>
                <a:lnTo>
                  <a:pt x="0" y="998676"/>
                </a:lnTo>
                <a:lnTo>
                  <a:pt x="0" y="199741"/>
                </a:lnTo>
                <a:close/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553200" y="3754582"/>
            <a:ext cx="1880870" cy="1198880"/>
          </a:xfrm>
          <a:custGeom>
            <a:avLst/>
            <a:gdLst/>
            <a:ahLst/>
            <a:cxnLst/>
            <a:rect l="l" t="t" r="r" b="b"/>
            <a:pathLst>
              <a:path w="1880870" h="1198879">
                <a:moveTo>
                  <a:pt x="0" y="199741"/>
                </a:moveTo>
                <a:lnTo>
                  <a:pt x="5275" y="153942"/>
                </a:lnTo>
                <a:lnTo>
                  <a:pt x="20301" y="111900"/>
                </a:lnTo>
                <a:lnTo>
                  <a:pt x="43880" y="74813"/>
                </a:lnTo>
                <a:lnTo>
                  <a:pt x="74813" y="43880"/>
                </a:lnTo>
                <a:lnTo>
                  <a:pt x="111900" y="20301"/>
                </a:lnTo>
                <a:lnTo>
                  <a:pt x="153942" y="5275"/>
                </a:lnTo>
                <a:lnTo>
                  <a:pt x="199741" y="0"/>
                </a:lnTo>
                <a:lnTo>
                  <a:pt x="1680988" y="0"/>
                </a:lnTo>
                <a:lnTo>
                  <a:pt x="1726786" y="5275"/>
                </a:lnTo>
                <a:lnTo>
                  <a:pt x="1768829" y="20301"/>
                </a:lnTo>
                <a:lnTo>
                  <a:pt x="1805915" y="43880"/>
                </a:lnTo>
                <a:lnTo>
                  <a:pt x="1836848" y="74813"/>
                </a:lnTo>
                <a:lnTo>
                  <a:pt x="1860427" y="111900"/>
                </a:lnTo>
                <a:lnTo>
                  <a:pt x="1875453" y="153942"/>
                </a:lnTo>
                <a:lnTo>
                  <a:pt x="1880729" y="199741"/>
                </a:lnTo>
                <a:lnTo>
                  <a:pt x="1880729" y="998676"/>
                </a:lnTo>
                <a:lnTo>
                  <a:pt x="1875453" y="1044475"/>
                </a:lnTo>
                <a:lnTo>
                  <a:pt x="1860427" y="1086518"/>
                </a:lnTo>
                <a:lnTo>
                  <a:pt x="1836848" y="1123604"/>
                </a:lnTo>
                <a:lnTo>
                  <a:pt x="1805915" y="1154537"/>
                </a:lnTo>
                <a:lnTo>
                  <a:pt x="1768829" y="1178116"/>
                </a:lnTo>
                <a:lnTo>
                  <a:pt x="1726786" y="1193142"/>
                </a:lnTo>
                <a:lnTo>
                  <a:pt x="1680988" y="1198418"/>
                </a:lnTo>
                <a:lnTo>
                  <a:pt x="199741" y="1198418"/>
                </a:lnTo>
                <a:lnTo>
                  <a:pt x="153942" y="1193142"/>
                </a:lnTo>
                <a:lnTo>
                  <a:pt x="111900" y="1178116"/>
                </a:lnTo>
                <a:lnTo>
                  <a:pt x="74813" y="1154537"/>
                </a:lnTo>
                <a:lnTo>
                  <a:pt x="43880" y="1123604"/>
                </a:lnTo>
                <a:lnTo>
                  <a:pt x="20301" y="1086518"/>
                </a:lnTo>
                <a:lnTo>
                  <a:pt x="5275" y="1044475"/>
                </a:lnTo>
                <a:lnTo>
                  <a:pt x="0" y="998676"/>
                </a:lnTo>
                <a:lnTo>
                  <a:pt x="0" y="199741"/>
                </a:lnTo>
                <a:close/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Words>633</Words>
  <Application>Microsoft Office PowerPoint</Application>
  <PresentationFormat>全屏显示(4:3)</PresentationFormat>
  <Paragraphs>235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3" baseType="lpstr">
      <vt:lpstr>华文行楷</vt:lpstr>
      <vt:lpstr>宋体</vt:lpstr>
      <vt:lpstr>微软雅黑</vt:lpstr>
      <vt:lpstr>Arial</vt:lpstr>
      <vt:lpstr>Calibri</vt:lpstr>
      <vt:lpstr>Garamond</vt:lpstr>
      <vt:lpstr>Times New Roman</vt:lpstr>
      <vt:lpstr>Wingdings</vt:lpstr>
      <vt:lpstr>Office Theme</vt:lpstr>
      <vt:lpstr>从功能需求的层次性看需求过程</vt:lpstr>
      <vt:lpstr>需求的分类 (1)</vt:lpstr>
      <vt:lpstr>性能需求</vt:lpstr>
      <vt:lpstr>性能需求</vt:lpstr>
      <vt:lpstr>性能需求</vt:lpstr>
      <vt:lpstr>性能需求</vt:lpstr>
      <vt:lpstr>需求的分类 (1)</vt:lpstr>
      <vt:lpstr>质量属性</vt:lpstr>
      <vt:lpstr>质量模型：ISO/IEC 9126</vt:lpstr>
      <vt:lpstr>质量属性 — IEEE 1061-1992,1998</vt:lpstr>
      <vt:lpstr>质量属性 — IEEE 1061-1992,1998</vt:lpstr>
      <vt:lpstr>质量属性 — IEEE 1061-1992,1998</vt:lpstr>
      <vt:lpstr>质量属性 — IEEE 1061-1992,1998</vt:lpstr>
      <vt:lpstr>质量属性 — IEEE 1061-1992,1998</vt:lpstr>
      <vt:lpstr>质量属性 — IEEE 1061-1992,1998</vt:lpstr>
      <vt:lpstr>质量属性的开发</vt:lpstr>
      <vt:lpstr>质量属性的开发</vt:lpstr>
      <vt:lpstr>需求的分类</vt:lpstr>
      <vt:lpstr>对外接口</vt:lpstr>
      <vt:lpstr>对外接口</vt:lpstr>
      <vt:lpstr>约束</vt:lpstr>
      <vt:lpstr>约束</vt:lpstr>
      <vt:lpstr>约束与限制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从功能需求的层次性看需求过程</dc:title>
  <cp:lastModifiedBy>- Vel</cp:lastModifiedBy>
  <cp:revision>1</cp:revision>
  <dcterms:created xsi:type="dcterms:W3CDTF">2024-04-25T07:37:23Z</dcterms:created>
  <dcterms:modified xsi:type="dcterms:W3CDTF">2024-04-25T08:03:23Z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2024-03-05T00:00:00Z</vt:filetime>
  </property>
  <property fmtid="{D5CDD505-2E9C-101B-9397-08002B2CF9AE}" pid="3" name="LastSaved">
    <vt:filetime>2024-04-25T00:00:00Z</vt:filetime>
  </property>
</Properties>
</file>
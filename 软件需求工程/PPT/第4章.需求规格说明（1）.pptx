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9359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23"/>
                </a:lnTo>
              </a:path>
            </a:pathLst>
          </a:custGeom>
          <a:ln w="127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47375" y="2403005"/>
            <a:ext cx="1228725" cy="666115"/>
          </a:xfrm>
          <a:custGeom>
            <a:avLst/>
            <a:gdLst/>
            <a:ahLst/>
            <a:cxnLst/>
            <a:rect l="l" t="t" r="r" b="b"/>
            <a:pathLst>
              <a:path w="1228725" h="666114">
                <a:moveTo>
                  <a:pt x="1228261" y="332930"/>
                </a:moveTo>
                <a:lnTo>
                  <a:pt x="1215784" y="265826"/>
                </a:lnTo>
                <a:lnTo>
                  <a:pt x="1179999" y="203328"/>
                </a:lnTo>
                <a:lnTo>
                  <a:pt x="1154137" y="174225"/>
                </a:lnTo>
                <a:lnTo>
                  <a:pt x="1123375" y="146774"/>
                </a:lnTo>
                <a:lnTo>
                  <a:pt x="1088021" y="121145"/>
                </a:lnTo>
                <a:lnTo>
                  <a:pt x="1048383" y="97503"/>
                </a:lnTo>
                <a:lnTo>
                  <a:pt x="1004771" y="76017"/>
                </a:lnTo>
                <a:lnTo>
                  <a:pt x="957493" y="56852"/>
                </a:lnTo>
                <a:lnTo>
                  <a:pt x="906858" y="40177"/>
                </a:lnTo>
                <a:lnTo>
                  <a:pt x="853174" y="26159"/>
                </a:lnTo>
                <a:lnTo>
                  <a:pt x="796751" y="14965"/>
                </a:lnTo>
                <a:lnTo>
                  <a:pt x="737897" y="6762"/>
                </a:lnTo>
                <a:lnTo>
                  <a:pt x="676920" y="1718"/>
                </a:lnTo>
                <a:lnTo>
                  <a:pt x="614130" y="0"/>
                </a:lnTo>
                <a:lnTo>
                  <a:pt x="551338" y="1718"/>
                </a:lnTo>
                <a:lnTo>
                  <a:pt x="490359" y="6762"/>
                </a:lnTo>
                <a:lnTo>
                  <a:pt x="431503" y="14965"/>
                </a:lnTo>
                <a:lnTo>
                  <a:pt x="375079" y="26159"/>
                </a:lnTo>
                <a:lnTo>
                  <a:pt x="321395" y="40177"/>
                </a:lnTo>
                <a:lnTo>
                  <a:pt x="270760" y="56852"/>
                </a:lnTo>
                <a:lnTo>
                  <a:pt x="223483" y="76017"/>
                </a:lnTo>
                <a:lnTo>
                  <a:pt x="179871" y="97503"/>
                </a:lnTo>
                <a:lnTo>
                  <a:pt x="140234" y="121145"/>
                </a:lnTo>
                <a:lnTo>
                  <a:pt x="104881" y="146774"/>
                </a:lnTo>
                <a:lnTo>
                  <a:pt x="74120" y="174225"/>
                </a:lnTo>
                <a:lnTo>
                  <a:pt x="48260" y="203328"/>
                </a:lnTo>
                <a:lnTo>
                  <a:pt x="12476" y="265826"/>
                </a:lnTo>
                <a:lnTo>
                  <a:pt x="0" y="332930"/>
                </a:lnTo>
                <a:lnTo>
                  <a:pt x="3170" y="366943"/>
                </a:lnTo>
                <a:lnTo>
                  <a:pt x="27609" y="431859"/>
                </a:lnTo>
                <a:lnTo>
                  <a:pt x="74120" y="491514"/>
                </a:lnTo>
                <a:lnTo>
                  <a:pt x="104881" y="518949"/>
                </a:lnTo>
                <a:lnTo>
                  <a:pt x="140234" y="544567"/>
                </a:lnTo>
                <a:lnTo>
                  <a:pt x="179871" y="568199"/>
                </a:lnTo>
                <a:lnTo>
                  <a:pt x="223483" y="589678"/>
                </a:lnTo>
                <a:lnTo>
                  <a:pt x="270760" y="608837"/>
                </a:lnTo>
                <a:lnTo>
                  <a:pt x="321395" y="625508"/>
                </a:lnTo>
                <a:lnTo>
                  <a:pt x="375079" y="639523"/>
                </a:lnTo>
                <a:lnTo>
                  <a:pt x="431503" y="650716"/>
                </a:lnTo>
                <a:lnTo>
                  <a:pt x="490359" y="658918"/>
                </a:lnTo>
                <a:lnTo>
                  <a:pt x="551338" y="663962"/>
                </a:lnTo>
                <a:lnTo>
                  <a:pt x="614130" y="665680"/>
                </a:lnTo>
                <a:lnTo>
                  <a:pt x="676920" y="663962"/>
                </a:lnTo>
                <a:lnTo>
                  <a:pt x="737896" y="658918"/>
                </a:lnTo>
                <a:lnTo>
                  <a:pt x="796749" y="650716"/>
                </a:lnTo>
                <a:lnTo>
                  <a:pt x="853171" y="639523"/>
                </a:lnTo>
                <a:lnTo>
                  <a:pt x="906853" y="625508"/>
                </a:lnTo>
                <a:lnTo>
                  <a:pt x="957487" y="608837"/>
                </a:lnTo>
                <a:lnTo>
                  <a:pt x="1004763" y="589678"/>
                </a:lnTo>
                <a:lnTo>
                  <a:pt x="1048374" y="568199"/>
                </a:lnTo>
                <a:lnTo>
                  <a:pt x="1088010" y="544567"/>
                </a:lnTo>
                <a:lnTo>
                  <a:pt x="1123363" y="518949"/>
                </a:lnTo>
                <a:lnTo>
                  <a:pt x="1154123" y="491514"/>
                </a:lnTo>
                <a:lnTo>
                  <a:pt x="1179983" y="462428"/>
                </a:lnTo>
                <a:lnTo>
                  <a:pt x="1215767" y="399975"/>
                </a:lnTo>
                <a:lnTo>
                  <a:pt x="1228243" y="332930"/>
                </a:lnTo>
                <a:close/>
              </a:path>
            </a:pathLst>
          </a:custGeom>
          <a:ln w="43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9359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23"/>
                </a:lnTo>
              </a:path>
            </a:pathLst>
          </a:custGeom>
          <a:ln w="127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46096" y="137287"/>
            <a:ext cx="5051806" cy="136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17562"/>
            <a:ext cx="7173595" cy="2053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107" y="6474033"/>
            <a:ext cx="2239645" cy="238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129997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78813"/>
            <a:ext cx="5657215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需求规格说明概述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需求规格说明文档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模版的选择与裁剪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文档写作技巧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优秀需求规格说明文档</a:t>
            </a:r>
            <a:r>
              <a:rPr sz="3200" spc="-15" dirty="0">
                <a:latin typeface="宋体"/>
                <a:cs typeface="宋体"/>
              </a:rPr>
              <a:t>的</a:t>
            </a:r>
            <a:r>
              <a:rPr sz="3200" dirty="0">
                <a:latin typeface="宋体"/>
                <a:cs typeface="宋体"/>
              </a:rPr>
              <a:t>特性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需求规格说明的实践调查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6294" y="23317"/>
            <a:ext cx="717042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468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1.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/>
              <a:t>需求规格说明概述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获取</a:t>
            </a:r>
            <a:r>
              <a:rPr spc="-1220" dirty="0"/>
              <a:t> </a:t>
            </a:r>
            <a:r>
              <a:rPr spc="-5" dirty="0">
                <a:latin typeface="Calibri"/>
                <a:cs typeface="Calibri"/>
              </a:rPr>
              <a:t>VS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/>
              <a:t>分析</a:t>
            </a:r>
            <a:r>
              <a:rPr spc="-1225" dirty="0"/>
              <a:t> </a:t>
            </a:r>
            <a:r>
              <a:rPr spc="-5" dirty="0">
                <a:latin typeface="Calibri"/>
                <a:cs typeface="Calibri"/>
              </a:rPr>
              <a:t>VS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/>
              <a:t>规格说明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5556" y="1582466"/>
            <a:ext cx="8163559" cy="41763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需求获取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目标是得到用户需</a:t>
            </a:r>
            <a:r>
              <a:rPr sz="2800" spc="-5" dirty="0">
                <a:latin typeface="宋体"/>
                <a:cs typeface="宋体"/>
              </a:rPr>
              <a:t>求</a:t>
            </a:r>
            <a:r>
              <a:rPr sz="2800" spc="-10" dirty="0">
                <a:latin typeface="Calibri"/>
                <a:cs typeface="Calibri"/>
              </a:rPr>
              <a:t>——</a:t>
            </a:r>
            <a:r>
              <a:rPr sz="2800" spc="-5" dirty="0">
                <a:latin typeface="宋体"/>
                <a:cs typeface="宋体"/>
              </a:rPr>
              <a:t>收集需求信息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需求分析</a:t>
            </a:r>
            <a:endParaRPr sz="3200">
              <a:latin typeface="宋体"/>
              <a:cs typeface="宋体"/>
            </a:endParaRPr>
          </a:p>
          <a:p>
            <a:pPr marL="756285" marR="5715" lvl="1" indent="-287020">
              <a:lnSpc>
                <a:spcPct val="100000"/>
              </a:lnSpc>
              <a:spcBef>
                <a:spcPts val="68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目标是更深刻的理解用户需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-5" dirty="0">
                <a:latin typeface="Calibri"/>
                <a:cs typeface="Calibri"/>
              </a:rPr>
              <a:t>—</a:t>
            </a:r>
            <a:r>
              <a:rPr sz="2800" spc="5" dirty="0">
                <a:latin typeface="Calibri"/>
                <a:cs typeface="Calibri"/>
              </a:rPr>
              <a:t>—</a:t>
            </a:r>
            <a:r>
              <a:rPr sz="2800" spc="-5" dirty="0">
                <a:latin typeface="宋体"/>
                <a:cs typeface="宋体"/>
              </a:rPr>
              <a:t>界定</a:t>
            </a:r>
            <a:r>
              <a:rPr sz="2800" dirty="0">
                <a:latin typeface="宋体"/>
                <a:cs typeface="宋体"/>
              </a:rPr>
              <a:t>能</a:t>
            </a:r>
            <a:r>
              <a:rPr sz="2800" spc="-5" dirty="0">
                <a:latin typeface="宋体"/>
                <a:cs typeface="宋体"/>
              </a:rPr>
              <a:t>够让用 </a:t>
            </a:r>
            <a:r>
              <a:rPr sz="2800" spc="-10" dirty="0">
                <a:latin typeface="宋体"/>
                <a:cs typeface="宋体"/>
              </a:rPr>
              <a:t>户满意的解决方案准则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需求规格说明（活动）</a:t>
            </a:r>
            <a:endParaRPr sz="3200">
              <a:latin typeface="宋体"/>
              <a:cs typeface="宋体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目标是定义和文档化用户需求和解</a:t>
            </a:r>
            <a:r>
              <a:rPr sz="2800" dirty="0">
                <a:latin typeface="宋体"/>
                <a:cs typeface="宋体"/>
              </a:rPr>
              <a:t>决</a:t>
            </a:r>
            <a:r>
              <a:rPr sz="2800" spc="-5" dirty="0">
                <a:latin typeface="宋体"/>
                <a:cs typeface="宋体"/>
              </a:rPr>
              <a:t>方</a:t>
            </a:r>
            <a:r>
              <a:rPr sz="2800" spc="5" dirty="0">
                <a:latin typeface="宋体"/>
                <a:cs typeface="宋体"/>
              </a:rPr>
              <a:t>案</a:t>
            </a:r>
            <a:r>
              <a:rPr sz="2800" spc="5" dirty="0">
                <a:latin typeface="Calibri"/>
                <a:cs typeface="Calibri"/>
              </a:rPr>
              <a:t>—</a:t>
            </a:r>
            <a:r>
              <a:rPr sz="2800" spc="-5" dirty="0">
                <a:latin typeface="Calibri"/>
                <a:cs typeface="Calibri"/>
              </a:rPr>
              <a:t>—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传 </a:t>
            </a:r>
            <a:r>
              <a:rPr sz="2800" spc="-10" dirty="0">
                <a:solidFill>
                  <a:srgbClr val="FF0000"/>
                </a:solidFill>
                <a:latin typeface="宋体"/>
                <a:cs typeface="宋体"/>
              </a:rPr>
              <a:t>递信息给开发人员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7113" y="137287"/>
            <a:ext cx="57378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1.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/>
              <a:t>需求规格说明概述</a:t>
            </a:r>
          </a:p>
          <a:p>
            <a:pPr marL="23812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需求规格说明活动</a:t>
            </a:r>
          </a:p>
        </p:txBody>
      </p:sp>
      <p:sp>
        <p:nvSpPr>
          <p:cNvPr id="3" name="object 3"/>
          <p:cNvSpPr/>
          <p:nvPr/>
        </p:nvSpPr>
        <p:spPr>
          <a:xfrm>
            <a:off x="1568363" y="4195353"/>
            <a:ext cx="1014730" cy="0"/>
          </a:xfrm>
          <a:custGeom>
            <a:avLst/>
            <a:gdLst/>
            <a:ahLst/>
            <a:cxnLst/>
            <a:rect l="l" t="t" r="r" b="b"/>
            <a:pathLst>
              <a:path w="1014730">
                <a:moveTo>
                  <a:pt x="0" y="0"/>
                </a:moveTo>
                <a:lnTo>
                  <a:pt x="1014680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68363" y="3687773"/>
            <a:ext cx="1014730" cy="0"/>
          </a:xfrm>
          <a:custGeom>
            <a:avLst/>
            <a:gdLst/>
            <a:ahLst/>
            <a:cxnLst/>
            <a:rect l="l" t="t" r="r" b="b"/>
            <a:pathLst>
              <a:path w="1014730">
                <a:moveTo>
                  <a:pt x="0" y="0"/>
                </a:moveTo>
                <a:lnTo>
                  <a:pt x="1014680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04852" y="3807971"/>
            <a:ext cx="74295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>
                <a:latin typeface="宋体"/>
                <a:cs typeface="宋体"/>
              </a:rPr>
              <a:t>系统模型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12643" y="5412125"/>
            <a:ext cx="1014730" cy="0"/>
          </a:xfrm>
          <a:custGeom>
            <a:avLst/>
            <a:gdLst/>
            <a:ahLst/>
            <a:cxnLst/>
            <a:rect l="l" t="t" r="r" b="b"/>
            <a:pathLst>
              <a:path w="1014729">
                <a:moveTo>
                  <a:pt x="0" y="0"/>
                </a:moveTo>
                <a:lnTo>
                  <a:pt x="1014700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12643" y="4904527"/>
            <a:ext cx="1014730" cy="0"/>
          </a:xfrm>
          <a:custGeom>
            <a:avLst/>
            <a:gdLst/>
            <a:ahLst/>
            <a:cxnLst/>
            <a:rect l="l" t="t" r="r" b="b"/>
            <a:pathLst>
              <a:path w="1014729">
                <a:moveTo>
                  <a:pt x="0" y="0"/>
                </a:moveTo>
                <a:lnTo>
                  <a:pt x="1014700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3028" y="2420720"/>
            <a:ext cx="1015365" cy="506730"/>
          </a:xfrm>
          <a:custGeom>
            <a:avLst/>
            <a:gdLst/>
            <a:ahLst/>
            <a:cxnLst/>
            <a:rect l="l" t="t" r="r" b="b"/>
            <a:pathLst>
              <a:path w="1015365" h="506730">
                <a:moveTo>
                  <a:pt x="0" y="506138"/>
                </a:moveTo>
                <a:lnTo>
                  <a:pt x="1014740" y="506138"/>
                </a:lnTo>
                <a:lnTo>
                  <a:pt x="1014740" y="0"/>
                </a:lnTo>
                <a:lnTo>
                  <a:pt x="0" y="0"/>
                </a:lnTo>
                <a:lnTo>
                  <a:pt x="0" y="506138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3028" y="2420720"/>
            <a:ext cx="1015365" cy="506730"/>
          </a:xfrm>
          <a:custGeom>
            <a:avLst/>
            <a:gdLst/>
            <a:ahLst/>
            <a:cxnLst/>
            <a:rect l="l" t="t" r="r" b="b"/>
            <a:pathLst>
              <a:path w="1015365" h="506730">
                <a:moveTo>
                  <a:pt x="0" y="506138"/>
                </a:moveTo>
                <a:lnTo>
                  <a:pt x="1014740" y="506138"/>
                </a:lnTo>
                <a:lnTo>
                  <a:pt x="1014740" y="0"/>
                </a:lnTo>
                <a:lnTo>
                  <a:pt x="0" y="0"/>
                </a:lnTo>
                <a:lnTo>
                  <a:pt x="0" y="506138"/>
                </a:lnTo>
                <a:close/>
              </a:path>
            </a:pathLst>
          </a:custGeom>
          <a:ln w="4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3028" y="2540918"/>
            <a:ext cx="101536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10"/>
              </a:spcBef>
            </a:pPr>
            <a:r>
              <a:rPr sz="1400" spc="5" dirty="0">
                <a:latin typeface="宋体"/>
                <a:cs typeface="宋体"/>
              </a:rPr>
              <a:t>标准模版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82050" y="2167423"/>
            <a:ext cx="1014730" cy="1014094"/>
          </a:xfrm>
          <a:custGeom>
            <a:avLst/>
            <a:gdLst/>
            <a:ahLst/>
            <a:cxnLst/>
            <a:rect l="l" t="t" r="r" b="b"/>
            <a:pathLst>
              <a:path w="1014729" h="1014094">
                <a:moveTo>
                  <a:pt x="532549" y="0"/>
                </a:moveTo>
                <a:lnTo>
                  <a:pt x="481159" y="0"/>
                </a:lnTo>
                <a:lnTo>
                  <a:pt x="429571" y="5330"/>
                </a:lnTo>
                <a:lnTo>
                  <a:pt x="380562" y="15990"/>
                </a:lnTo>
                <a:lnTo>
                  <a:pt x="332942" y="30993"/>
                </a:lnTo>
                <a:lnTo>
                  <a:pt x="286711" y="49352"/>
                </a:lnTo>
                <a:lnTo>
                  <a:pt x="223416" y="87057"/>
                </a:lnTo>
                <a:lnTo>
                  <a:pt x="185122" y="116076"/>
                </a:lnTo>
                <a:lnTo>
                  <a:pt x="148216" y="147859"/>
                </a:lnTo>
                <a:lnTo>
                  <a:pt x="116073" y="184577"/>
                </a:lnTo>
                <a:lnTo>
                  <a:pt x="85914" y="223270"/>
                </a:lnTo>
                <a:lnTo>
                  <a:pt x="61112" y="264923"/>
                </a:lnTo>
                <a:lnTo>
                  <a:pt x="39881" y="308945"/>
                </a:lnTo>
                <a:lnTo>
                  <a:pt x="22817" y="356324"/>
                </a:lnTo>
                <a:lnTo>
                  <a:pt x="16468" y="380013"/>
                </a:lnTo>
                <a:lnTo>
                  <a:pt x="9722" y="404689"/>
                </a:lnTo>
                <a:lnTo>
                  <a:pt x="5754" y="429168"/>
                </a:lnTo>
                <a:lnTo>
                  <a:pt x="2380" y="454831"/>
                </a:lnTo>
                <a:lnTo>
                  <a:pt x="0" y="480494"/>
                </a:lnTo>
                <a:lnTo>
                  <a:pt x="0" y="533203"/>
                </a:lnTo>
                <a:lnTo>
                  <a:pt x="2380" y="558866"/>
                </a:lnTo>
                <a:lnTo>
                  <a:pt x="5754" y="583542"/>
                </a:lnTo>
                <a:lnTo>
                  <a:pt x="9722" y="609600"/>
                </a:lnTo>
                <a:lnTo>
                  <a:pt x="16468" y="633289"/>
                </a:lnTo>
                <a:lnTo>
                  <a:pt x="22817" y="657966"/>
                </a:lnTo>
                <a:lnTo>
                  <a:pt x="49604" y="726467"/>
                </a:lnTo>
                <a:lnTo>
                  <a:pt x="85914" y="789835"/>
                </a:lnTo>
                <a:lnTo>
                  <a:pt x="116073" y="829515"/>
                </a:lnTo>
                <a:lnTo>
                  <a:pt x="148216" y="864851"/>
                </a:lnTo>
                <a:lnTo>
                  <a:pt x="185122" y="898213"/>
                </a:lnTo>
                <a:lnTo>
                  <a:pt x="223416" y="927232"/>
                </a:lnTo>
                <a:lnTo>
                  <a:pt x="265282" y="952895"/>
                </a:lnTo>
                <a:lnTo>
                  <a:pt x="309529" y="974018"/>
                </a:lnTo>
                <a:lnTo>
                  <a:pt x="356752" y="991390"/>
                </a:lnTo>
                <a:lnTo>
                  <a:pt x="404769" y="1003038"/>
                </a:lnTo>
                <a:lnTo>
                  <a:pt x="455365" y="1010736"/>
                </a:lnTo>
                <a:lnTo>
                  <a:pt x="506754" y="1013698"/>
                </a:lnTo>
                <a:lnTo>
                  <a:pt x="532549" y="1012711"/>
                </a:lnTo>
                <a:lnTo>
                  <a:pt x="584137" y="1007381"/>
                </a:lnTo>
                <a:lnTo>
                  <a:pt x="633741" y="997707"/>
                </a:lnTo>
                <a:lnTo>
                  <a:pt x="704575" y="974018"/>
                </a:lnTo>
                <a:lnTo>
                  <a:pt x="748425" y="952895"/>
                </a:lnTo>
                <a:lnTo>
                  <a:pt x="790688" y="927232"/>
                </a:lnTo>
                <a:lnTo>
                  <a:pt x="829974" y="898213"/>
                </a:lnTo>
                <a:lnTo>
                  <a:pt x="865491" y="864851"/>
                </a:lnTo>
                <a:lnTo>
                  <a:pt x="899023" y="829514"/>
                </a:lnTo>
                <a:lnTo>
                  <a:pt x="927794" y="789835"/>
                </a:lnTo>
                <a:lnTo>
                  <a:pt x="953389" y="748774"/>
                </a:lnTo>
                <a:lnTo>
                  <a:pt x="983549" y="681062"/>
                </a:lnTo>
                <a:lnTo>
                  <a:pt x="998628" y="633289"/>
                </a:lnTo>
                <a:lnTo>
                  <a:pt x="1008351" y="583542"/>
                </a:lnTo>
                <a:lnTo>
                  <a:pt x="1013708" y="533203"/>
                </a:lnTo>
                <a:lnTo>
                  <a:pt x="1014700" y="506552"/>
                </a:lnTo>
                <a:lnTo>
                  <a:pt x="1013708" y="480494"/>
                </a:lnTo>
                <a:lnTo>
                  <a:pt x="1008351" y="429168"/>
                </a:lnTo>
                <a:lnTo>
                  <a:pt x="998628" y="380013"/>
                </a:lnTo>
                <a:lnTo>
                  <a:pt x="983549" y="332635"/>
                </a:lnTo>
                <a:lnTo>
                  <a:pt x="964104" y="287625"/>
                </a:lnTo>
                <a:lnTo>
                  <a:pt x="927794" y="223270"/>
                </a:lnTo>
                <a:lnTo>
                  <a:pt x="899023" y="184577"/>
                </a:lnTo>
                <a:lnTo>
                  <a:pt x="865491" y="147859"/>
                </a:lnTo>
                <a:lnTo>
                  <a:pt x="829974" y="116076"/>
                </a:lnTo>
                <a:lnTo>
                  <a:pt x="790688" y="87057"/>
                </a:lnTo>
                <a:lnTo>
                  <a:pt x="748425" y="61394"/>
                </a:lnTo>
                <a:lnTo>
                  <a:pt x="704575" y="39679"/>
                </a:lnTo>
                <a:lnTo>
                  <a:pt x="658543" y="22702"/>
                </a:lnTo>
                <a:lnTo>
                  <a:pt x="608939" y="9673"/>
                </a:lnTo>
                <a:lnTo>
                  <a:pt x="558343" y="1974"/>
                </a:lnTo>
                <a:lnTo>
                  <a:pt x="532549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82050" y="2167423"/>
            <a:ext cx="1014730" cy="1014094"/>
          </a:xfrm>
          <a:custGeom>
            <a:avLst/>
            <a:gdLst/>
            <a:ahLst/>
            <a:cxnLst/>
            <a:rect l="l" t="t" r="r" b="b"/>
            <a:pathLst>
              <a:path w="1014729" h="1014094">
                <a:moveTo>
                  <a:pt x="0" y="506552"/>
                </a:moveTo>
                <a:lnTo>
                  <a:pt x="0" y="480494"/>
                </a:lnTo>
                <a:lnTo>
                  <a:pt x="2380" y="454831"/>
                </a:lnTo>
                <a:lnTo>
                  <a:pt x="5754" y="429168"/>
                </a:lnTo>
                <a:lnTo>
                  <a:pt x="9722" y="404689"/>
                </a:lnTo>
                <a:lnTo>
                  <a:pt x="16468" y="380013"/>
                </a:lnTo>
                <a:lnTo>
                  <a:pt x="22817" y="356324"/>
                </a:lnTo>
                <a:lnTo>
                  <a:pt x="39881" y="308945"/>
                </a:lnTo>
                <a:lnTo>
                  <a:pt x="61112" y="264923"/>
                </a:lnTo>
                <a:lnTo>
                  <a:pt x="85914" y="223270"/>
                </a:lnTo>
                <a:lnTo>
                  <a:pt x="116073" y="184577"/>
                </a:lnTo>
                <a:lnTo>
                  <a:pt x="148216" y="147859"/>
                </a:lnTo>
                <a:lnTo>
                  <a:pt x="185122" y="116076"/>
                </a:lnTo>
                <a:lnTo>
                  <a:pt x="223416" y="87057"/>
                </a:lnTo>
                <a:lnTo>
                  <a:pt x="265282" y="61394"/>
                </a:lnTo>
                <a:lnTo>
                  <a:pt x="309529" y="39679"/>
                </a:lnTo>
                <a:lnTo>
                  <a:pt x="356752" y="22702"/>
                </a:lnTo>
                <a:lnTo>
                  <a:pt x="404769" y="9673"/>
                </a:lnTo>
                <a:lnTo>
                  <a:pt x="455365" y="1974"/>
                </a:lnTo>
                <a:lnTo>
                  <a:pt x="506754" y="0"/>
                </a:lnTo>
                <a:lnTo>
                  <a:pt x="532549" y="0"/>
                </a:lnTo>
                <a:lnTo>
                  <a:pt x="558343" y="1974"/>
                </a:lnTo>
                <a:lnTo>
                  <a:pt x="608939" y="9673"/>
                </a:lnTo>
                <a:lnTo>
                  <a:pt x="658543" y="22702"/>
                </a:lnTo>
                <a:lnTo>
                  <a:pt x="704575" y="39679"/>
                </a:lnTo>
                <a:lnTo>
                  <a:pt x="748425" y="61394"/>
                </a:lnTo>
                <a:lnTo>
                  <a:pt x="790688" y="87057"/>
                </a:lnTo>
                <a:lnTo>
                  <a:pt x="829974" y="116076"/>
                </a:lnTo>
                <a:lnTo>
                  <a:pt x="865491" y="147859"/>
                </a:lnTo>
                <a:lnTo>
                  <a:pt x="899023" y="184577"/>
                </a:lnTo>
                <a:lnTo>
                  <a:pt x="927794" y="223270"/>
                </a:lnTo>
                <a:lnTo>
                  <a:pt x="953389" y="264923"/>
                </a:lnTo>
                <a:lnTo>
                  <a:pt x="973826" y="308945"/>
                </a:lnTo>
                <a:lnTo>
                  <a:pt x="991287" y="356324"/>
                </a:lnTo>
                <a:lnTo>
                  <a:pt x="1003985" y="404689"/>
                </a:lnTo>
                <a:lnTo>
                  <a:pt x="1011724" y="454831"/>
                </a:lnTo>
                <a:lnTo>
                  <a:pt x="1014700" y="506552"/>
                </a:lnTo>
                <a:lnTo>
                  <a:pt x="1011724" y="558866"/>
                </a:lnTo>
                <a:lnTo>
                  <a:pt x="1003985" y="609600"/>
                </a:lnTo>
                <a:lnTo>
                  <a:pt x="991287" y="657966"/>
                </a:lnTo>
                <a:lnTo>
                  <a:pt x="973826" y="703765"/>
                </a:lnTo>
                <a:lnTo>
                  <a:pt x="953389" y="748774"/>
                </a:lnTo>
                <a:lnTo>
                  <a:pt x="927794" y="789835"/>
                </a:lnTo>
                <a:lnTo>
                  <a:pt x="899023" y="829514"/>
                </a:lnTo>
                <a:lnTo>
                  <a:pt x="865491" y="864851"/>
                </a:lnTo>
                <a:lnTo>
                  <a:pt x="829974" y="898213"/>
                </a:lnTo>
                <a:lnTo>
                  <a:pt x="790688" y="927232"/>
                </a:lnTo>
                <a:lnTo>
                  <a:pt x="748425" y="952895"/>
                </a:lnTo>
                <a:lnTo>
                  <a:pt x="704575" y="974018"/>
                </a:lnTo>
                <a:lnTo>
                  <a:pt x="658543" y="991390"/>
                </a:lnTo>
                <a:lnTo>
                  <a:pt x="608939" y="1003038"/>
                </a:lnTo>
                <a:lnTo>
                  <a:pt x="558343" y="1010736"/>
                </a:lnTo>
                <a:lnTo>
                  <a:pt x="506754" y="1013698"/>
                </a:lnTo>
                <a:lnTo>
                  <a:pt x="481159" y="1012711"/>
                </a:lnTo>
                <a:lnTo>
                  <a:pt x="429571" y="1007381"/>
                </a:lnTo>
                <a:lnTo>
                  <a:pt x="380562" y="997707"/>
                </a:lnTo>
                <a:lnTo>
                  <a:pt x="332942" y="982704"/>
                </a:lnTo>
                <a:lnTo>
                  <a:pt x="286711" y="963358"/>
                </a:lnTo>
                <a:lnTo>
                  <a:pt x="223416" y="927232"/>
                </a:lnTo>
                <a:lnTo>
                  <a:pt x="185122" y="898213"/>
                </a:lnTo>
                <a:lnTo>
                  <a:pt x="148216" y="864851"/>
                </a:lnTo>
                <a:lnTo>
                  <a:pt x="116073" y="829515"/>
                </a:lnTo>
                <a:lnTo>
                  <a:pt x="85914" y="789835"/>
                </a:lnTo>
                <a:lnTo>
                  <a:pt x="61112" y="748774"/>
                </a:lnTo>
                <a:lnTo>
                  <a:pt x="39881" y="703765"/>
                </a:lnTo>
                <a:lnTo>
                  <a:pt x="22817" y="657966"/>
                </a:lnTo>
                <a:lnTo>
                  <a:pt x="16468" y="633289"/>
                </a:lnTo>
                <a:lnTo>
                  <a:pt x="9722" y="609600"/>
                </a:lnTo>
                <a:lnTo>
                  <a:pt x="5754" y="583542"/>
                </a:lnTo>
                <a:lnTo>
                  <a:pt x="2380" y="558866"/>
                </a:lnTo>
                <a:lnTo>
                  <a:pt x="0" y="533203"/>
                </a:lnTo>
                <a:lnTo>
                  <a:pt x="0" y="506552"/>
                </a:lnTo>
              </a:path>
            </a:pathLst>
          </a:custGeom>
          <a:ln w="4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28676" y="2404000"/>
            <a:ext cx="922655" cy="485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770" marR="5080" indent="-179705">
              <a:lnSpc>
                <a:spcPct val="107700"/>
              </a:lnSpc>
              <a:spcBef>
                <a:spcPts val="95"/>
              </a:spcBef>
            </a:pPr>
            <a:r>
              <a:rPr sz="1400" spc="5" dirty="0">
                <a:latin typeface="宋体"/>
                <a:cs typeface="宋体"/>
              </a:rPr>
              <a:t>模版的选择 与裁剪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12643" y="2928240"/>
            <a:ext cx="1014730" cy="0"/>
          </a:xfrm>
          <a:custGeom>
            <a:avLst/>
            <a:gdLst/>
            <a:ahLst/>
            <a:cxnLst/>
            <a:rect l="l" t="t" r="r" b="b"/>
            <a:pathLst>
              <a:path w="1014729">
                <a:moveTo>
                  <a:pt x="0" y="0"/>
                </a:moveTo>
                <a:lnTo>
                  <a:pt x="1014700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12643" y="2420700"/>
            <a:ext cx="1014730" cy="0"/>
          </a:xfrm>
          <a:custGeom>
            <a:avLst/>
            <a:gdLst/>
            <a:ahLst/>
            <a:cxnLst/>
            <a:rect l="l" t="t" r="r" b="b"/>
            <a:pathLst>
              <a:path w="1014729">
                <a:moveTo>
                  <a:pt x="0" y="0"/>
                </a:moveTo>
                <a:lnTo>
                  <a:pt x="1014700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60063" y="2404000"/>
            <a:ext cx="922655" cy="485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700"/>
              </a:lnSpc>
              <a:spcBef>
                <a:spcPts val="95"/>
              </a:spcBef>
            </a:pPr>
            <a:r>
              <a:rPr sz="1400" spc="5" dirty="0">
                <a:latin typeface="宋体"/>
                <a:cs typeface="宋体"/>
              </a:rPr>
              <a:t>需求规格说 明文档模版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12643" y="3434398"/>
            <a:ext cx="1014730" cy="1014730"/>
          </a:xfrm>
          <a:custGeom>
            <a:avLst/>
            <a:gdLst/>
            <a:ahLst/>
            <a:cxnLst/>
            <a:rect l="l" t="t" r="r" b="b"/>
            <a:pathLst>
              <a:path w="1014729" h="1014729">
                <a:moveTo>
                  <a:pt x="506754" y="0"/>
                </a:moveTo>
                <a:lnTo>
                  <a:pt x="455365" y="3355"/>
                </a:lnTo>
                <a:lnTo>
                  <a:pt x="404769" y="10660"/>
                </a:lnTo>
                <a:lnTo>
                  <a:pt x="356157" y="22781"/>
                </a:lnTo>
                <a:lnTo>
                  <a:pt x="332743" y="31467"/>
                </a:lnTo>
                <a:lnTo>
                  <a:pt x="309926" y="39699"/>
                </a:lnTo>
                <a:lnTo>
                  <a:pt x="287703" y="50813"/>
                </a:lnTo>
                <a:lnTo>
                  <a:pt x="265282" y="61453"/>
                </a:lnTo>
                <a:lnTo>
                  <a:pt x="223019" y="87077"/>
                </a:lnTo>
                <a:lnTo>
                  <a:pt x="184527" y="116076"/>
                </a:lnTo>
                <a:lnTo>
                  <a:pt x="149208" y="149439"/>
                </a:lnTo>
                <a:lnTo>
                  <a:pt x="115676" y="184716"/>
                </a:lnTo>
                <a:lnTo>
                  <a:pt x="86906" y="223388"/>
                </a:lnTo>
                <a:lnTo>
                  <a:pt x="61112" y="264963"/>
                </a:lnTo>
                <a:lnTo>
                  <a:pt x="39683" y="310406"/>
                </a:lnTo>
                <a:lnTo>
                  <a:pt x="22222" y="356344"/>
                </a:lnTo>
                <a:lnTo>
                  <a:pt x="10516" y="404669"/>
                </a:lnTo>
                <a:lnTo>
                  <a:pt x="2777" y="454950"/>
                </a:lnTo>
                <a:lnTo>
                  <a:pt x="0" y="507638"/>
                </a:lnTo>
                <a:lnTo>
                  <a:pt x="793" y="533262"/>
                </a:lnTo>
                <a:lnTo>
                  <a:pt x="6150" y="584983"/>
                </a:lnTo>
                <a:lnTo>
                  <a:pt x="15873" y="634296"/>
                </a:lnTo>
                <a:lnTo>
                  <a:pt x="30952" y="681674"/>
                </a:lnTo>
                <a:lnTo>
                  <a:pt x="50397" y="726644"/>
                </a:lnTo>
                <a:lnTo>
                  <a:pt x="86906" y="790921"/>
                </a:lnTo>
                <a:lnTo>
                  <a:pt x="115676" y="829593"/>
                </a:lnTo>
                <a:lnTo>
                  <a:pt x="148216" y="865858"/>
                </a:lnTo>
                <a:lnTo>
                  <a:pt x="184527" y="898253"/>
                </a:lnTo>
                <a:lnTo>
                  <a:pt x="223019" y="927252"/>
                </a:lnTo>
                <a:lnTo>
                  <a:pt x="265282" y="952876"/>
                </a:lnTo>
                <a:lnTo>
                  <a:pt x="309926" y="974137"/>
                </a:lnTo>
                <a:lnTo>
                  <a:pt x="356157" y="991548"/>
                </a:lnTo>
                <a:lnTo>
                  <a:pt x="404769" y="1003156"/>
                </a:lnTo>
                <a:lnTo>
                  <a:pt x="455365" y="1010894"/>
                </a:lnTo>
                <a:lnTo>
                  <a:pt x="506754" y="1014270"/>
                </a:lnTo>
                <a:lnTo>
                  <a:pt x="533541" y="1012829"/>
                </a:lnTo>
                <a:lnTo>
                  <a:pt x="584137" y="1007499"/>
                </a:lnTo>
                <a:lnTo>
                  <a:pt x="634535" y="997826"/>
                </a:lnTo>
                <a:lnTo>
                  <a:pt x="681758" y="982842"/>
                </a:lnTo>
                <a:lnTo>
                  <a:pt x="726996" y="963516"/>
                </a:lnTo>
                <a:lnTo>
                  <a:pt x="791085" y="927252"/>
                </a:lnTo>
                <a:lnTo>
                  <a:pt x="829974" y="898252"/>
                </a:lnTo>
                <a:lnTo>
                  <a:pt x="866483" y="865858"/>
                </a:lnTo>
                <a:lnTo>
                  <a:pt x="898428" y="829593"/>
                </a:lnTo>
                <a:lnTo>
                  <a:pt x="927595" y="790921"/>
                </a:lnTo>
                <a:lnTo>
                  <a:pt x="953389" y="748873"/>
                </a:lnTo>
                <a:lnTo>
                  <a:pt x="974818" y="703923"/>
                </a:lnTo>
                <a:lnTo>
                  <a:pt x="991882" y="657985"/>
                </a:lnTo>
                <a:lnTo>
                  <a:pt x="1003985" y="609640"/>
                </a:lnTo>
                <a:lnTo>
                  <a:pt x="1011327" y="559379"/>
                </a:lnTo>
                <a:lnTo>
                  <a:pt x="1014700" y="507638"/>
                </a:lnTo>
                <a:lnTo>
                  <a:pt x="1013113" y="481047"/>
                </a:lnTo>
                <a:lnTo>
                  <a:pt x="1007755" y="430293"/>
                </a:lnTo>
                <a:lnTo>
                  <a:pt x="998628" y="380980"/>
                </a:lnTo>
                <a:lnTo>
                  <a:pt x="983549" y="332654"/>
                </a:lnTo>
                <a:lnTo>
                  <a:pt x="953389" y="264963"/>
                </a:lnTo>
                <a:lnTo>
                  <a:pt x="927595" y="223388"/>
                </a:lnTo>
                <a:lnTo>
                  <a:pt x="898428" y="184716"/>
                </a:lnTo>
                <a:lnTo>
                  <a:pt x="866483" y="149439"/>
                </a:lnTo>
                <a:lnTo>
                  <a:pt x="829974" y="116076"/>
                </a:lnTo>
                <a:lnTo>
                  <a:pt x="791085" y="87077"/>
                </a:lnTo>
                <a:lnTo>
                  <a:pt x="749219" y="61453"/>
                </a:lnTo>
                <a:lnTo>
                  <a:pt x="704179" y="39699"/>
                </a:lnTo>
                <a:lnTo>
                  <a:pt x="657948" y="22781"/>
                </a:lnTo>
                <a:lnTo>
                  <a:pt x="609732" y="10660"/>
                </a:lnTo>
                <a:lnTo>
                  <a:pt x="559335" y="3355"/>
                </a:lnTo>
                <a:lnTo>
                  <a:pt x="533541" y="987"/>
                </a:lnTo>
                <a:lnTo>
                  <a:pt x="506754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12643" y="3434398"/>
            <a:ext cx="1014730" cy="1014730"/>
          </a:xfrm>
          <a:custGeom>
            <a:avLst/>
            <a:gdLst/>
            <a:ahLst/>
            <a:cxnLst/>
            <a:rect l="l" t="t" r="r" b="b"/>
            <a:pathLst>
              <a:path w="1014729" h="1014729">
                <a:moveTo>
                  <a:pt x="0" y="507638"/>
                </a:moveTo>
                <a:lnTo>
                  <a:pt x="2777" y="454950"/>
                </a:lnTo>
                <a:lnTo>
                  <a:pt x="10516" y="404669"/>
                </a:lnTo>
                <a:lnTo>
                  <a:pt x="22222" y="356344"/>
                </a:lnTo>
                <a:lnTo>
                  <a:pt x="39683" y="310406"/>
                </a:lnTo>
                <a:lnTo>
                  <a:pt x="50397" y="287684"/>
                </a:lnTo>
                <a:lnTo>
                  <a:pt x="61112" y="264963"/>
                </a:lnTo>
                <a:lnTo>
                  <a:pt x="86906" y="223388"/>
                </a:lnTo>
                <a:lnTo>
                  <a:pt x="115676" y="184716"/>
                </a:lnTo>
                <a:lnTo>
                  <a:pt x="149208" y="149439"/>
                </a:lnTo>
                <a:lnTo>
                  <a:pt x="184527" y="116076"/>
                </a:lnTo>
                <a:lnTo>
                  <a:pt x="223019" y="87077"/>
                </a:lnTo>
                <a:lnTo>
                  <a:pt x="265282" y="61453"/>
                </a:lnTo>
                <a:lnTo>
                  <a:pt x="287703" y="50813"/>
                </a:lnTo>
                <a:lnTo>
                  <a:pt x="309926" y="39699"/>
                </a:lnTo>
                <a:lnTo>
                  <a:pt x="332743" y="31467"/>
                </a:lnTo>
                <a:lnTo>
                  <a:pt x="356157" y="22781"/>
                </a:lnTo>
                <a:lnTo>
                  <a:pt x="379967" y="15990"/>
                </a:lnTo>
                <a:lnTo>
                  <a:pt x="430563" y="6909"/>
                </a:lnTo>
                <a:lnTo>
                  <a:pt x="480960" y="987"/>
                </a:lnTo>
                <a:lnTo>
                  <a:pt x="506754" y="0"/>
                </a:lnTo>
                <a:lnTo>
                  <a:pt x="533541" y="987"/>
                </a:lnTo>
                <a:lnTo>
                  <a:pt x="584137" y="6909"/>
                </a:lnTo>
                <a:lnTo>
                  <a:pt x="634535" y="15990"/>
                </a:lnTo>
                <a:lnTo>
                  <a:pt x="681758" y="31467"/>
                </a:lnTo>
                <a:lnTo>
                  <a:pt x="726996" y="50813"/>
                </a:lnTo>
                <a:lnTo>
                  <a:pt x="749219" y="61453"/>
                </a:lnTo>
                <a:lnTo>
                  <a:pt x="791085" y="87077"/>
                </a:lnTo>
                <a:lnTo>
                  <a:pt x="829974" y="116076"/>
                </a:lnTo>
                <a:lnTo>
                  <a:pt x="866483" y="149439"/>
                </a:lnTo>
                <a:lnTo>
                  <a:pt x="898428" y="184716"/>
                </a:lnTo>
                <a:lnTo>
                  <a:pt x="927595" y="223388"/>
                </a:lnTo>
                <a:lnTo>
                  <a:pt x="953389" y="264963"/>
                </a:lnTo>
                <a:lnTo>
                  <a:pt x="974818" y="310406"/>
                </a:lnTo>
                <a:lnTo>
                  <a:pt x="991882" y="356343"/>
                </a:lnTo>
                <a:lnTo>
                  <a:pt x="1003985" y="404669"/>
                </a:lnTo>
                <a:lnTo>
                  <a:pt x="1011327" y="454950"/>
                </a:lnTo>
                <a:lnTo>
                  <a:pt x="1014700" y="507638"/>
                </a:lnTo>
                <a:lnTo>
                  <a:pt x="1011327" y="559379"/>
                </a:lnTo>
                <a:lnTo>
                  <a:pt x="1003985" y="609640"/>
                </a:lnTo>
                <a:lnTo>
                  <a:pt x="991882" y="657985"/>
                </a:lnTo>
                <a:lnTo>
                  <a:pt x="974818" y="703923"/>
                </a:lnTo>
                <a:lnTo>
                  <a:pt x="953389" y="748873"/>
                </a:lnTo>
                <a:lnTo>
                  <a:pt x="927595" y="790921"/>
                </a:lnTo>
                <a:lnTo>
                  <a:pt x="898428" y="829593"/>
                </a:lnTo>
                <a:lnTo>
                  <a:pt x="866483" y="865858"/>
                </a:lnTo>
                <a:lnTo>
                  <a:pt x="829974" y="898253"/>
                </a:lnTo>
                <a:lnTo>
                  <a:pt x="791085" y="927252"/>
                </a:lnTo>
                <a:lnTo>
                  <a:pt x="749219" y="952876"/>
                </a:lnTo>
                <a:lnTo>
                  <a:pt x="704179" y="974137"/>
                </a:lnTo>
                <a:lnTo>
                  <a:pt x="657948" y="991548"/>
                </a:lnTo>
                <a:lnTo>
                  <a:pt x="609732" y="1003156"/>
                </a:lnTo>
                <a:lnTo>
                  <a:pt x="559335" y="1010894"/>
                </a:lnTo>
                <a:lnTo>
                  <a:pt x="506754" y="1014270"/>
                </a:lnTo>
                <a:lnTo>
                  <a:pt x="480960" y="1012829"/>
                </a:lnTo>
                <a:lnTo>
                  <a:pt x="430563" y="1007499"/>
                </a:lnTo>
                <a:lnTo>
                  <a:pt x="379967" y="997826"/>
                </a:lnTo>
                <a:lnTo>
                  <a:pt x="332743" y="982843"/>
                </a:lnTo>
                <a:lnTo>
                  <a:pt x="287703" y="963516"/>
                </a:lnTo>
                <a:lnTo>
                  <a:pt x="265282" y="952876"/>
                </a:lnTo>
                <a:lnTo>
                  <a:pt x="223019" y="927252"/>
                </a:lnTo>
                <a:lnTo>
                  <a:pt x="184527" y="898253"/>
                </a:lnTo>
                <a:lnTo>
                  <a:pt x="148216" y="865858"/>
                </a:lnTo>
                <a:lnTo>
                  <a:pt x="115676" y="829593"/>
                </a:lnTo>
                <a:lnTo>
                  <a:pt x="86906" y="790921"/>
                </a:lnTo>
                <a:lnTo>
                  <a:pt x="61112" y="748873"/>
                </a:lnTo>
                <a:lnTo>
                  <a:pt x="39683" y="703923"/>
                </a:lnTo>
                <a:lnTo>
                  <a:pt x="22222" y="657985"/>
                </a:lnTo>
                <a:lnTo>
                  <a:pt x="10516" y="609640"/>
                </a:lnTo>
                <a:lnTo>
                  <a:pt x="2777" y="559379"/>
                </a:lnTo>
                <a:lnTo>
                  <a:pt x="793" y="533262"/>
                </a:lnTo>
                <a:lnTo>
                  <a:pt x="0" y="507638"/>
                </a:lnTo>
              </a:path>
            </a:pathLst>
          </a:custGeom>
          <a:ln w="4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749151" y="3807971"/>
            <a:ext cx="74295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>
                <a:latin typeface="宋体"/>
                <a:cs typeface="宋体"/>
              </a:rPr>
              <a:t>文档写作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56347" y="4195352"/>
            <a:ext cx="1014730" cy="0"/>
          </a:xfrm>
          <a:custGeom>
            <a:avLst/>
            <a:gdLst/>
            <a:ahLst/>
            <a:cxnLst/>
            <a:rect l="l" t="t" r="r" b="b"/>
            <a:pathLst>
              <a:path w="1014729">
                <a:moveTo>
                  <a:pt x="0" y="0"/>
                </a:moveTo>
                <a:lnTo>
                  <a:pt x="1014700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656347" y="3687773"/>
            <a:ext cx="1014730" cy="0"/>
          </a:xfrm>
          <a:custGeom>
            <a:avLst/>
            <a:gdLst/>
            <a:ahLst/>
            <a:cxnLst/>
            <a:rect l="l" t="t" r="r" b="b"/>
            <a:pathLst>
              <a:path w="1014729">
                <a:moveTo>
                  <a:pt x="0" y="0"/>
                </a:moveTo>
                <a:lnTo>
                  <a:pt x="1014700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702775" y="3671290"/>
            <a:ext cx="922655" cy="485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95"/>
              </a:spcBef>
            </a:pPr>
            <a:r>
              <a:rPr sz="1400" spc="5" dirty="0">
                <a:latin typeface="宋体"/>
                <a:cs typeface="宋体"/>
              </a:rPr>
              <a:t>软件需求规 格说明文档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27463" y="2673976"/>
            <a:ext cx="53975" cy="0"/>
          </a:xfrm>
          <a:custGeom>
            <a:avLst/>
            <a:gdLst/>
            <a:ahLst/>
            <a:cxnLst/>
            <a:rect l="l" t="t" r="r" b="b"/>
            <a:pathLst>
              <a:path w="53975">
                <a:moveTo>
                  <a:pt x="0" y="0"/>
                </a:moveTo>
                <a:lnTo>
                  <a:pt x="53949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467766" y="267397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3851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72663" y="2637258"/>
            <a:ext cx="109855" cy="73660"/>
          </a:xfrm>
          <a:custGeom>
            <a:avLst/>
            <a:gdLst/>
            <a:ahLst/>
            <a:cxnLst/>
            <a:rect l="l" t="t" r="r" b="b"/>
            <a:pathLst>
              <a:path w="109855" h="73660">
                <a:moveTo>
                  <a:pt x="0" y="0"/>
                </a:moveTo>
                <a:lnTo>
                  <a:pt x="0" y="73041"/>
                </a:lnTo>
                <a:lnTo>
                  <a:pt x="109386" y="367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604255" y="2540918"/>
            <a:ext cx="74295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>
                <a:latin typeface="宋体"/>
                <a:cs typeface="宋体"/>
              </a:rPr>
              <a:t>模版结构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496750" y="2673976"/>
            <a:ext cx="1014730" cy="0"/>
          </a:xfrm>
          <a:custGeom>
            <a:avLst/>
            <a:gdLst/>
            <a:ahLst/>
            <a:cxnLst/>
            <a:rect l="l" t="t" r="r" b="b"/>
            <a:pathLst>
              <a:path w="1014729">
                <a:moveTo>
                  <a:pt x="0" y="0"/>
                </a:moveTo>
                <a:lnTo>
                  <a:pt x="1014700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02720" y="2637258"/>
            <a:ext cx="110489" cy="73660"/>
          </a:xfrm>
          <a:custGeom>
            <a:avLst/>
            <a:gdLst/>
            <a:ahLst/>
            <a:cxnLst/>
            <a:rect l="l" t="t" r="r" b="b"/>
            <a:pathLst>
              <a:path w="110489" h="73660">
                <a:moveTo>
                  <a:pt x="0" y="0"/>
                </a:moveTo>
                <a:lnTo>
                  <a:pt x="0" y="73041"/>
                </a:lnTo>
                <a:lnTo>
                  <a:pt x="109922" y="367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119398" y="2928240"/>
            <a:ext cx="0" cy="407034"/>
          </a:xfrm>
          <a:custGeom>
            <a:avLst/>
            <a:gdLst/>
            <a:ahLst/>
            <a:cxnLst/>
            <a:rect l="l" t="t" r="r" b="b"/>
            <a:pathLst>
              <a:path h="407035">
                <a:moveTo>
                  <a:pt x="0" y="0"/>
                </a:moveTo>
                <a:lnTo>
                  <a:pt x="0" y="406663"/>
                </a:lnTo>
              </a:path>
            </a:pathLst>
          </a:custGeom>
          <a:ln w="4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083088" y="3325231"/>
            <a:ext cx="73025" cy="109220"/>
          </a:xfrm>
          <a:custGeom>
            <a:avLst/>
            <a:gdLst/>
            <a:ahLst/>
            <a:cxnLst/>
            <a:rect l="l" t="t" r="r" b="b"/>
            <a:pathLst>
              <a:path w="73025" h="109220">
                <a:moveTo>
                  <a:pt x="72818" y="0"/>
                </a:moveTo>
                <a:lnTo>
                  <a:pt x="0" y="0"/>
                </a:lnTo>
                <a:lnTo>
                  <a:pt x="36310" y="109167"/>
                </a:lnTo>
                <a:lnTo>
                  <a:pt x="728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771874" y="3941069"/>
            <a:ext cx="739775" cy="0"/>
          </a:xfrm>
          <a:custGeom>
            <a:avLst/>
            <a:gdLst/>
            <a:ahLst/>
            <a:cxnLst/>
            <a:rect l="l" t="t" r="r" b="b"/>
            <a:pathLst>
              <a:path w="739775">
                <a:moveTo>
                  <a:pt x="0" y="0"/>
                </a:moveTo>
                <a:lnTo>
                  <a:pt x="739576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83043" y="3941069"/>
            <a:ext cx="830580" cy="0"/>
          </a:xfrm>
          <a:custGeom>
            <a:avLst/>
            <a:gdLst/>
            <a:ahLst/>
            <a:cxnLst/>
            <a:rect l="l" t="t" r="r" b="b"/>
            <a:pathLst>
              <a:path w="830579">
                <a:moveTo>
                  <a:pt x="0" y="0"/>
                </a:moveTo>
                <a:lnTo>
                  <a:pt x="830173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502720" y="3904331"/>
            <a:ext cx="110489" cy="73025"/>
          </a:xfrm>
          <a:custGeom>
            <a:avLst/>
            <a:gdLst/>
            <a:ahLst/>
            <a:cxnLst/>
            <a:rect l="l" t="t" r="r" b="b"/>
            <a:pathLst>
              <a:path w="110489" h="73025">
                <a:moveTo>
                  <a:pt x="0" y="0"/>
                </a:moveTo>
                <a:lnTo>
                  <a:pt x="0" y="73002"/>
                </a:lnTo>
                <a:lnTo>
                  <a:pt x="109922" y="3673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405874" y="3807971"/>
            <a:ext cx="38417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>
                <a:latin typeface="宋体"/>
                <a:cs typeface="宋体"/>
              </a:rPr>
              <a:t>知识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119398" y="4793839"/>
            <a:ext cx="0" cy="111125"/>
          </a:xfrm>
          <a:custGeom>
            <a:avLst/>
            <a:gdLst/>
            <a:ahLst/>
            <a:cxnLst/>
            <a:rect l="l" t="t" r="r" b="b"/>
            <a:pathLst>
              <a:path h="111125">
                <a:moveTo>
                  <a:pt x="0" y="0"/>
                </a:moveTo>
                <a:lnTo>
                  <a:pt x="0" y="110687"/>
                </a:lnTo>
              </a:path>
            </a:pathLst>
          </a:custGeom>
          <a:ln w="4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083088" y="4448669"/>
            <a:ext cx="73025" cy="109855"/>
          </a:xfrm>
          <a:custGeom>
            <a:avLst/>
            <a:gdLst/>
            <a:ahLst/>
            <a:cxnLst/>
            <a:rect l="l" t="t" r="r" b="b"/>
            <a:pathLst>
              <a:path w="73025" h="109854">
                <a:moveTo>
                  <a:pt x="36310" y="0"/>
                </a:moveTo>
                <a:lnTo>
                  <a:pt x="0" y="109246"/>
                </a:lnTo>
                <a:lnTo>
                  <a:pt x="72818" y="109246"/>
                </a:lnTo>
                <a:lnTo>
                  <a:pt x="363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49151" y="4542769"/>
            <a:ext cx="742950" cy="7226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400" spc="5" dirty="0">
                <a:latin typeface="宋体"/>
                <a:cs typeface="宋体"/>
              </a:rPr>
              <a:t>知识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5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</a:pPr>
            <a:r>
              <a:rPr sz="1400" spc="5" dirty="0">
                <a:latin typeface="宋体"/>
                <a:cs typeface="宋体"/>
              </a:rPr>
              <a:t>系统需求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627343" y="3942036"/>
            <a:ext cx="1928495" cy="0"/>
          </a:xfrm>
          <a:custGeom>
            <a:avLst/>
            <a:gdLst/>
            <a:ahLst/>
            <a:cxnLst/>
            <a:rect l="l" t="t" r="r" b="b"/>
            <a:pathLst>
              <a:path w="1928495">
                <a:moveTo>
                  <a:pt x="0" y="0"/>
                </a:moveTo>
                <a:lnTo>
                  <a:pt x="1928407" y="0"/>
                </a:lnTo>
              </a:path>
            </a:pathLst>
          </a:custGeom>
          <a:ln w="4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547020" y="3905792"/>
            <a:ext cx="109855" cy="73025"/>
          </a:xfrm>
          <a:custGeom>
            <a:avLst/>
            <a:gdLst/>
            <a:ahLst/>
            <a:cxnLst/>
            <a:rect l="l" t="t" r="r" b="b"/>
            <a:pathLst>
              <a:path w="109854" h="73025">
                <a:moveTo>
                  <a:pt x="0" y="0"/>
                </a:moveTo>
                <a:lnTo>
                  <a:pt x="0" y="72508"/>
                </a:lnTo>
                <a:lnTo>
                  <a:pt x="109327" y="362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472566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5829300" cy="353822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需求规格说明概述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需求规格说明文档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模版的选择与裁剪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文档写作技巧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优秀需求规格说明文档</a:t>
            </a:r>
            <a:r>
              <a:rPr sz="3200" spc="-15" dirty="0">
                <a:latin typeface="宋体"/>
                <a:cs typeface="宋体"/>
              </a:rPr>
              <a:t>的</a:t>
            </a:r>
            <a:r>
              <a:rPr sz="3200" dirty="0">
                <a:latin typeface="宋体"/>
                <a:cs typeface="宋体"/>
              </a:rPr>
              <a:t>特性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65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需求规格说明的实践调查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需求规格说明文档</a:t>
            </a:r>
          </a:p>
          <a:p>
            <a:pPr marL="913765" algn="ctr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作用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22093"/>
            <a:ext cx="8190230" cy="38392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367030" indent="-343535">
              <a:lnSpc>
                <a:spcPts val="3150"/>
              </a:lnSpc>
              <a:spcBef>
                <a:spcPts val="37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更好的传递软件系统的需求信息和</a:t>
            </a:r>
            <a:r>
              <a:rPr sz="2800" dirty="0">
                <a:latin typeface="宋体"/>
                <a:cs typeface="宋体"/>
              </a:rPr>
              <a:t>解</a:t>
            </a:r>
            <a:r>
              <a:rPr sz="2800" spc="-5" dirty="0">
                <a:latin typeface="宋体"/>
                <a:cs typeface="宋体"/>
              </a:rPr>
              <a:t>决方</a:t>
            </a:r>
            <a:r>
              <a:rPr sz="2800" dirty="0">
                <a:latin typeface="宋体"/>
                <a:cs typeface="宋体"/>
              </a:rPr>
              <a:t>案</a:t>
            </a:r>
            <a:r>
              <a:rPr sz="2800" spc="-5" dirty="0">
                <a:latin typeface="宋体"/>
                <a:cs typeface="宋体"/>
              </a:rPr>
              <a:t>给所 有的开发者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作为合同协议的重要部分（基准）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作</a:t>
            </a:r>
            <a:r>
              <a:rPr sz="2800" spc="-10" dirty="0">
                <a:latin typeface="宋体"/>
                <a:cs typeface="宋体"/>
              </a:rPr>
              <a:t>为</a:t>
            </a:r>
            <a:r>
              <a:rPr sz="2800" spc="-5" dirty="0">
                <a:latin typeface="宋体"/>
                <a:cs typeface="宋体"/>
              </a:rPr>
              <a:t>项</a:t>
            </a:r>
            <a:r>
              <a:rPr sz="2800" dirty="0">
                <a:latin typeface="宋体"/>
                <a:cs typeface="宋体"/>
              </a:rPr>
              <a:t>目</a:t>
            </a:r>
            <a:r>
              <a:rPr sz="2800" spc="-5" dirty="0">
                <a:latin typeface="宋体"/>
                <a:cs typeface="宋体"/>
              </a:rPr>
              <a:t>开发活</a:t>
            </a:r>
            <a:r>
              <a:rPr sz="2800" dirty="0">
                <a:latin typeface="宋体"/>
                <a:cs typeface="宋体"/>
              </a:rPr>
              <a:t>动</a:t>
            </a:r>
            <a:r>
              <a:rPr sz="2800" spc="-5" dirty="0">
                <a:latin typeface="宋体"/>
                <a:cs typeface="宋体"/>
              </a:rPr>
              <a:t>的一个</a:t>
            </a:r>
            <a:r>
              <a:rPr sz="2800" dirty="0">
                <a:latin typeface="宋体"/>
                <a:cs typeface="宋体"/>
              </a:rPr>
              <a:t>重</a:t>
            </a:r>
            <a:r>
              <a:rPr sz="2800" spc="-5" dirty="0">
                <a:latin typeface="宋体"/>
                <a:cs typeface="宋体"/>
              </a:rPr>
              <a:t>要依</a:t>
            </a:r>
            <a:r>
              <a:rPr sz="2800" spc="10" dirty="0">
                <a:latin typeface="宋体"/>
                <a:cs typeface="宋体"/>
              </a:rPr>
              <a:t>据</a:t>
            </a:r>
            <a:r>
              <a:rPr sz="2800" spc="5" dirty="0">
                <a:latin typeface="宋体"/>
                <a:cs typeface="宋体"/>
              </a:rPr>
              <a:t>（</a:t>
            </a:r>
            <a:r>
              <a:rPr sz="2800" spc="-5" dirty="0">
                <a:latin typeface="宋体"/>
                <a:cs typeface="宋体"/>
              </a:rPr>
              <a:t>进度、</a:t>
            </a:r>
            <a:r>
              <a:rPr sz="2800" spc="10" dirty="0">
                <a:latin typeface="宋体"/>
                <a:cs typeface="宋体"/>
              </a:rPr>
              <a:t>成</a:t>
            </a:r>
            <a:r>
              <a:rPr sz="2800" spc="-5" dirty="0">
                <a:latin typeface="宋体"/>
                <a:cs typeface="宋体"/>
              </a:rPr>
              <a:t>本）</a:t>
            </a:r>
            <a:endParaRPr sz="2800">
              <a:latin typeface="宋体"/>
              <a:cs typeface="宋体"/>
            </a:endParaRPr>
          </a:p>
          <a:p>
            <a:pPr marL="355600" marR="366395" indent="-343535">
              <a:lnSpc>
                <a:spcPts val="3140"/>
              </a:lnSpc>
              <a:spcBef>
                <a:spcPts val="118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发现和减少可能的需求错误，减少</a:t>
            </a:r>
            <a:r>
              <a:rPr sz="2800" dirty="0">
                <a:latin typeface="宋体"/>
                <a:cs typeface="宋体"/>
              </a:rPr>
              <a:t>项</a:t>
            </a:r>
            <a:r>
              <a:rPr sz="2800" spc="-5" dirty="0">
                <a:latin typeface="宋体"/>
                <a:cs typeface="宋体"/>
              </a:rPr>
              <a:t>目的</a:t>
            </a:r>
            <a:r>
              <a:rPr sz="2800" dirty="0">
                <a:latin typeface="宋体"/>
                <a:cs typeface="宋体"/>
              </a:rPr>
              <a:t>返</a:t>
            </a:r>
            <a:r>
              <a:rPr sz="2800" spc="-5" dirty="0">
                <a:latin typeface="宋体"/>
                <a:cs typeface="宋体"/>
              </a:rPr>
              <a:t>工， 降低项目的工作量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0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拓展人</a:t>
            </a:r>
            <a:r>
              <a:rPr sz="2800" dirty="0">
                <a:latin typeface="宋体"/>
                <a:cs typeface="宋体"/>
              </a:rPr>
              <a:t>们</a:t>
            </a:r>
            <a:r>
              <a:rPr sz="2800" spc="-5" dirty="0">
                <a:latin typeface="宋体"/>
                <a:cs typeface="宋体"/>
              </a:rPr>
              <a:t>的知识</a:t>
            </a:r>
            <a:r>
              <a:rPr sz="2800" dirty="0">
                <a:latin typeface="宋体"/>
                <a:cs typeface="宋体"/>
              </a:rPr>
              <a:t>记</a:t>
            </a:r>
            <a:r>
              <a:rPr sz="2800" spc="-5" dirty="0">
                <a:latin typeface="宋体"/>
                <a:cs typeface="宋体"/>
              </a:rPr>
              <a:t>忆能</a:t>
            </a:r>
            <a:r>
              <a:rPr sz="2800" spc="5" dirty="0">
                <a:latin typeface="宋体"/>
                <a:cs typeface="宋体"/>
              </a:rPr>
              <a:t>力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宋体"/>
                <a:cs typeface="宋体"/>
              </a:rPr>
              <a:t>弥补人</a:t>
            </a:r>
            <a:r>
              <a:rPr sz="2800" dirty="0">
                <a:latin typeface="宋体"/>
                <a:cs typeface="宋体"/>
              </a:rPr>
              <a:t>记</a:t>
            </a:r>
            <a:r>
              <a:rPr sz="2800" spc="-5" dirty="0">
                <a:latin typeface="宋体"/>
                <a:cs typeface="宋体"/>
              </a:rPr>
              <a:t>忆能力</a:t>
            </a:r>
            <a:r>
              <a:rPr sz="2800" dirty="0">
                <a:latin typeface="宋体"/>
                <a:cs typeface="宋体"/>
              </a:rPr>
              <a:t>不</a:t>
            </a:r>
            <a:r>
              <a:rPr sz="2800" spc="-5" dirty="0">
                <a:latin typeface="宋体"/>
                <a:cs typeface="宋体"/>
              </a:rPr>
              <a:t>足）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作</a:t>
            </a:r>
            <a:r>
              <a:rPr sz="2800" spc="-10" dirty="0">
                <a:latin typeface="宋体"/>
                <a:cs typeface="宋体"/>
              </a:rPr>
              <a:t>为</a:t>
            </a:r>
            <a:r>
              <a:rPr sz="2800" spc="-5" dirty="0">
                <a:latin typeface="宋体"/>
                <a:cs typeface="宋体"/>
              </a:rPr>
              <a:t>有</a:t>
            </a:r>
            <a:r>
              <a:rPr sz="2800" dirty="0">
                <a:latin typeface="宋体"/>
                <a:cs typeface="宋体"/>
              </a:rPr>
              <a:t>效</a:t>
            </a:r>
            <a:r>
              <a:rPr sz="2800" spc="-5" dirty="0">
                <a:latin typeface="宋体"/>
                <a:cs typeface="宋体"/>
              </a:rPr>
              <a:t>的智力</a:t>
            </a:r>
            <a:r>
              <a:rPr sz="2800" dirty="0">
                <a:latin typeface="宋体"/>
                <a:cs typeface="宋体"/>
              </a:rPr>
              <a:t>资</a:t>
            </a:r>
            <a:r>
              <a:rPr sz="2800" spc="5" dirty="0">
                <a:latin typeface="宋体"/>
                <a:cs typeface="宋体"/>
              </a:rPr>
              <a:t>产</a:t>
            </a:r>
            <a:r>
              <a:rPr sz="2800" spc="-5" dirty="0">
                <a:latin typeface="宋体"/>
                <a:cs typeface="宋体"/>
              </a:rPr>
              <a:t>（新</a:t>
            </a:r>
            <a:r>
              <a:rPr sz="2800" dirty="0">
                <a:latin typeface="宋体"/>
                <a:cs typeface="宋体"/>
              </a:rPr>
              <a:t>人</a:t>
            </a:r>
            <a:r>
              <a:rPr sz="2800" spc="-5" dirty="0">
                <a:latin typeface="宋体"/>
                <a:cs typeface="宋体"/>
              </a:rPr>
              <a:t>、新客</a:t>
            </a:r>
            <a:r>
              <a:rPr sz="2800" dirty="0">
                <a:latin typeface="宋体"/>
                <a:cs typeface="宋体"/>
              </a:rPr>
              <a:t>户</a:t>
            </a:r>
            <a:r>
              <a:rPr sz="2800" spc="-5" dirty="0">
                <a:latin typeface="宋体"/>
                <a:cs typeface="宋体"/>
              </a:rPr>
              <a:t>、后续</a:t>
            </a:r>
            <a:r>
              <a:rPr sz="2800" dirty="0">
                <a:latin typeface="宋体"/>
                <a:cs typeface="宋体"/>
              </a:rPr>
              <a:t>项</a:t>
            </a:r>
            <a:r>
              <a:rPr sz="2800" spc="-5" dirty="0">
                <a:latin typeface="宋体"/>
                <a:cs typeface="宋体"/>
              </a:rPr>
              <a:t>目）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marR="5080" algn="r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/>
              <a:t>需求规格说明文档</a:t>
            </a:r>
          </a:p>
          <a:p>
            <a:pPr marL="635" marR="154305" algn="r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忽视的原因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3362325"/>
            <a:ext cx="1022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sz="2800" spc="-5" dirty="0">
                <a:latin typeface="宋体"/>
                <a:cs typeface="宋体"/>
              </a:rPr>
              <a:t>敏捷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18185" y="4013578"/>
            <a:ext cx="2343785" cy="946150"/>
          </a:xfrm>
          <a:custGeom>
            <a:avLst/>
            <a:gdLst/>
            <a:ahLst/>
            <a:cxnLst/>
            <a:rect l="l" t="t" r="r" b="b"/>
            <a:pathLst>
              <a:path w="2343785" h="946150">
                <a:moveTo>
                  <a:pt x="0" y="946038"/>
                </a:moveTo>
                <a:lnTo>
                  <a:pt x="2343755" y="946038"/>
                </a:lnTo>
                <a:lnTo>
                  <a:pt x="2343755" y="0"/>
                </a:lnTo>
                <a:lnTo>
                  <a:pt x="0" y="0"/>
                </a:lnTo>
                <a:lnTo>
                  <a:pt x="0" y="94603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18185" y="4013578"/>
            <a:ext cx="2343785" cy="946150"/>
          </a:xfrm>
          <a:custGeom>
            <a:avLst/>
            <a:gdLst/>
            <a:ahLst/>
            <a:cxnLst/>
            <a:rect l="l" t="t" r="r" b="b"/>
            <a:pathLst>
              <a:path w="2343785" h="946150">
                <a:moveTo>
                  <a:pt x="0" y="946038"/>
                </a:moveTo>
                <a:lnTo>
                  <a:pt x="2343755" y="946038"/>
                </a:lnTo>
                <a:lnTo>
                  <a:pt x="2343755" y="0"/>
                </a:lnTo>
                <a:lnTo>
                  <a:pt x="0" y="0"/>
                </a:lnTo>
                <a:lnTo>
                  <a:pt x="0" y="946038"/>
                </a:lnTo>
                <a:close/>
              </a:path>
            </a:pathLst>
          </a:custGeom>
          <a:ln w="15965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02481" y="4021556"/>
            <a:ext cx="995680" cy="304800"/>
          </a:xfrm>
          <a:custGeom>
            <a:avLst/>
            <a:gdLst/>
            <a:ahLst/>
            <a:cxnLst/>
            <a:rect l="l" t="t" r="r" b="b"/>
            <a:pathLst>
              <a:path w="995679" h="304800">
                <a:moveTo>
                  <a:pt x="995461" y="0"/>
                </a:moveTo>
                <a:lnTo>
                  <a:pt x="674413" y="0"/>
                </a:lnTo>
                <a:lnTo>
                  <a:pt x="610311" y="15955"/>
                </a:lnTo>
                <a:lnTo>
                  <a:pt x="529381" y="15955"/>
                </a:lnTo>
                <a:lnTo>
                  <a:pt x="481304" y="31911"/>
                </a:lnTo>
                <a:lnTo>
                  <a:pt x="417201" y="31911"/>
                </a:lnTo>
                <a:lnTo>
                  <a:pt x="369124" y="47867"/>
                </a:lnTo>
                <a:lnTo>
                  <a:pt x="321047" y="47867"/>
                </a:lnTo>
                <a:lnTo>
                  <a:pt x="256945" y="64487"/>
                </a:lnTo>
                <a:lnTo>
                  <a:pt x="208867" y="80443"/>
                </a:lnTo>
                <a:lnTo>
                  <a:pt x="160256" y="80443"/>
                </a:lnTo>
                <a:lnTo>
                  <a:pt x="64102" y="112354"/>
                </a:lnTo>
                <a:lnTo>
                  <a:pt x="0" y="144265"/>
                </a:lnTo>
                <a:lnTo>
                  <a:pt x="995461" y="304487"/>
                </a:lnTo>
                <a:lnTo>
                  <a:pt x="995461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02481" y="4021556"/>
            <a:ext cx="995680" cy="304800"/>
          </a:xfrm>
          <a:custGeom>
            <a:avLst/>
            <a:gdLst/>
            <a:ahLst/>
            <a:cxnLst/>
            <a:rect l="l" t="t" r="r" b="b"/>
            <a:pathLst>
              <a:path w="995679" h="304800">
                <a:moveTo>
                  <a:pt x="0" y="144265"/>
                </a:moveTo>
                <a:lnTo>
                  <a:pt x="32051" y="128310"/>
                </a:lnTo>
                <a:lnTo>
                  <a:pt x="64102" y="112354"/>
                </a:lnTo>
                <a:lnTo>
                  <a:pt x="112179" y="96398"/>
                </a:lnTo>
                <a:lnTo>
                  <a:pt x="160256" y="80443"/>
                </a:lnTo>
                <a:lnTo>
                  <a:pt x="208867" y="80443"/>
                </a:lnTo>
                <a:lnTo>
                  <a:pt x="256945" y="64487"/>
                </a:lnTo>
                <a:lnTo>
                  <a:pt x="321047" y="47867"/>
                </a:lnTo>
                <a:lnTo>
                  <a:pt x="369124" y="47867"/>
                </a:lnTo>
                <a:lnTo>
                  <a:pt x="417201" y="31911"/>
                </a:lnTo>
                <a:lnTo>
                  <a:pt x="481304" y="31911"/>
                </a:lnTo>
                <a:lnTo>
                  <a:pt x="529381" y="15955"/>
                </a:lnTo>
                <a:lnTo>
                  <a:pt x="610311" y="15955"/>
                </a:lnTo>
                <a:lnTo>
                  <a:pt x="674413" y="0"/>
                </a:lnTo>
                <a:lnTo>
                  <a:pt x="995461" y="0"/>
                </a:lnTo>
                <a:lnTo>
                  <a:pt x="995461" y="304487"/>
                </a:lnTo>
                <a:lnTo>
                  <a:pt x="0" y="144265"/>
                </a:lnTo>
                <a:close/>
              </a:path>
            </a:pathLst>
          </a:custGeom>
          <a:ln w="159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97942" y="4021556"/>
            <a:ext cx="1172210" cy="304800"/>
          </a:xfrm>
          <a:custGeom>
            <a:avLst/>
            <a:gdLst/>
            <a:ahLst/>
            <a:cxnLst/>
            <a:rect l="l" t="t" r="r" b="b"/>
            <a:pathLst>
              <a:path w="1172210" h="304800">
                <a:moveTo>
                  <a:pt x="321314" y="0"/>
                </a:moveTo>
                <a:lnTo>
                  <a:pt x="0" y="0"/>
                </a:lnTo>
                <a:lnTo>
                  <a:pt x="0" y="304487"/>
                </a:lnTo>
                <a:lnTo>
                  <a:pt x="1172011" y="272576"/>
                </a:lnTo>
                <a:lnTo>
                  <a:pt x="1155985" y="256620"/>
                </a:lnTo>
                <a:lnTo>
                  <a:pt x="1155985" y="240664"/>
                </a:lnTo>
                <a:lnTo>
                  <a:pt x="1123934" y="208753"/>
                </a:lnTo>
                <a:lnTo>
                  <a:pt x="1091882" y="192132"/>
                </a:lnTo>
                <a:lnTo>
                  <a:pt x="1075857" y="176177"/>
                </a:lnTo>
                <a:lnTo>
                  <a:pt x="1043805" y="160221"/>
                </a:lnTo>
                <a:lnTo>
                  <a:pt x="1027780" y="160221"/>
                </a:lnTo>
                <a:lnTo>
                  <a:pt x="978901" y="128310"/>
                </a:lnTo>
                <a:lnTo>
                  <a:pt x="946850" y="128310"/>
                </a:lnTo>
                <a:lnTo>
                  <a:pt x="898773" y="112354"/>
                </a:lnTo>
                <a:lnTo>
                  <a:pt x="866722" y="96398"/>
                </a:lnTo>
                <a:lnTo>
                  <a:pt x="770567" y="64487"/>
                </a:lnTo>
                <a:lnTo>
                  <a:pt x="722490" y="64487"/>
                </a:lnTo>
                <a:lnTo>
                  <a:pt x="674413" y="47867"/>
                </a:lnTo>
                <a:lnTo>
                  <a:pt x="609777" y="47867"/>
                </a:lnTo>
                <a:lnTo>
                  <a:pt x="561699" y="31911"/>
                </a:lnTo>
                <a:lnTo>
                  <a:pt x="497597" y="31911"/>
                </a:lnTo>
                <a:lnTo>
                  <a:pt x="433494" y="15955"/>
                </a:lnTo>
                <a:lnTo>
                  <a:pt x="385417" y="15955"/>
                </a:lnTo>
                <a:lnTo>
                  <a:pt x="321314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97942" y="4021556"/>
            <a:ext cx="1172210" cy="304800"/>
          </a:xfrm>
          <a:custGeom>
            <a:avLst/>
            <a:gdLst/>
            <a:ahLst/>
            <a:cxnLst/>
            <a:rect l="l" t="t" r="r" b="b"/>
            <a:pathLst>
              <a:path w="1172210" h="304800">
                <a:moveTo>
                  <a:pt x="0" y="0"/>
                </a:moveTo>
                <a:lnTo>
                  <a:pt x="0" y="0"/>
                </a:lnTo>
                <a:lnTo>
                  <a:pt x="321314" y="0"/>
                </a:lnTo>
                <a:lnTo>
                  <a:pt x="385417" y="15955"/>
                </a:lnTo>
                <a:lnTo>
                  <a:pt x="433494" y="15955"/>
                </a:lnTo>
                <a:lnTo>
                  <a:pt x="497597" y="31911"/>
                </a:lnTo>
                <a:lnTo>
                  <a:pt x="561699" y="31911"/>
                </a:lnTo>
                <a:lnTo>
                  <a:pt x="609777" y="47867"/>
                </a:lnTo>
                <a:lnTo>
                  <a:pt x="674413" y="47867"/>
                </a:lnTo>
                <a:lnTo>
                  <a:pt x="722490" y="64487"/>
                </a:lnTo>
                <a:lnTo>
                  <a:pt x="770567" y="64487"/>
                </a:lnTo>
                <a:lnTo>
                  <a:pt x="818644" y="80443"/>
                </a:lnTo>
                <a:lnTo>
                  <a:pt x="866722" y="96398"/>
                </a:lnTo>
                <a:lnTo>
                  <a:pt x="898773" y="112354"/>
                </a:lnTo>
                <a:lnTo>
                  <a:pt x="946850" y="128310"/>
                </a:lnTo>
                <a:lnTo>
                  <a:pt x="978901" y="128310"/>
                </a:lnTo>
                <a:lnTo>
                  <a:pt x="1027780" y="160221"/>
                </a:lnTo>
                <a:lnTo>
                  <a:pt x="1043805" y="160221"/>
                </a:lnTo>
                <a:lnTo>
                  <a:pt x="1075857" y="176177"/>
                </a:lnTo>
                <a:lnTo>
                  <a:pt x="1091882" y="192132"/>
                </a:lnTo>
                <a:lnTo>
                  <a:pt x="1123934" y="208753"/>
                </a:lnTo>
                <a:lnTo>
                  <a:pt x="1139959" y="224709"/>
                </a:lnTo>
                <a:lnTo>
                  <a:pt x="1155985" y="240664"/>
                </a:lnTo>
                <a:lnTo>
                  <a:pt x="1155985" y="256620"/>
                </a:lnTo>
                <a:lnTo>
                  <a:pt x="1172011" y="272576"/>
                </a:lnTo>
                <a:lnTo>
                  <a:pt x="0" y="304487"/>
                </a:lnTo>
                <a:lnTo>
                  <a:pt x="0" y="0"/>
                </a:lnTo>
                <a:close/>
              </a:path>
            </a:pathLst>
          </a:custGeom>
          <a:ln w="159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88382" y="4341999"/>
            <a:ext cx="481965" cy="545465"/>
          </a:xfrm>
          <a:custGeom>
            <a:avLst/>
            <a:gdLst/>
            <a:ahLst/>
            <a:cxnLst/>
            <a:rect l="l" t="t" r="r" b="b"/>
            <a:pathLst>
              <a:path w="481964" h="545464">
                <a:moveTo>
                  <a:pt x="481571" y="0"/>
                </a:moveTo>
                <a:lnTo>
                  <a:pt x="465545" y="15955"/>
                </a:lnTo>
                <a:lnTo>
                  <a:pt x="465545" y="32576"/>
                </a:lnTo>
                <a:lnTo>
                  <a:pt x="401443" y="96398"/>
                </a:lnTo>
                <a:lnTo>
                  <a:pt x="369391" y="96398"/>
                </a:lnTo>
                <a:lnTo>
                  <a:pt x="353366" y="112354"/>
                </a:lnTo>
                <a:lnTo>
                  <a:pt x="321314" y="128310"/>
                </a:lnTo>
                <a:lnTo>
                  <a:pt x="288462" y="144265"/>
                </a:lnTo>
                <a:lnTo>
                  <a:pt x="256410" y="160886"/>
                </a:lnTo>
                <a:lnTo>
                  <a:pt x="208333" y="176842"/>
                </a:lnTo>
                <a:lnTo>
                  <a:pt x="176282" y="176842"/>
                </a:lnTo>
                <a:lnTo>
                  <a:pt x="128205" y="192797"/>
                </a:lnTo>
                <a:lnTo>
                  <a:pt x="96154" y="208753"/>
                </a:lnTo>
                <a:lnTo>
                  <a:pt x="48077" y="224709"/>
                </a:lnTo>
                <a:lnTo>
                  <a:pt x="0" y="224709"/>
                </a:lnTo>
                <a:lnTo>
                  <a:pt x="0" y="545152"/>
                </a:lnTo>
                <a:lnTo>
                  <a:pt x="48077" y="545152"/>
                </a:lnTo>
                <a:lnTo>
                  <a:pt x="96154" y="529196"/>
                </a:lnTo>
                <a:lnTo>
                  <a:pt x="128205" y="513240"/>
                </a:lnTo>
                <a:lnTo>
                  <a:pt x="176282" y="497285"/>
                </a:lnTo>
                <a:lnTo>
                  <a:pt x="208333" y="497285"/>
                </a:lnTo>
                <a:lnTo>
                  <a:pt x="256410" y="481329"/>
                </a:lnTo>
                <a:lnTo>
                  <a:pt x="288462" y="465373"/>
                </a:lnTo>
                <a:lnTo>
                  <a:pt x="321314" y="449418"/>
                </a:lnTo>
                <a:lnTo>
                  <a:pt x="353366" y="433462"/>
                </a:lnTo>
                <a:lnTo>
                  <a:pt x="369391" y="416842"/>
                </a:lnTo>
                <a:lnTo>
                  <a:pt x="401443" y="416842"/>
                </a:lnTo>
                <a:lnTo>
                  <a:pt x="465545" y="353019"/>
                </a:lnTo>
                <a:lnTo>
                  <a:pt x="465545" y="337063"/>
                </a:lnTo>
                <a:lnTo>
                  <a:pt x="481571" y="321107"/>
                </a:lnTo>
                <a:lnTo>
                  <a:pt x="481571" y="0"/>
                </a:lnTo>
                <a:close/>
              </a:path>
            </a:pathLst>
          </a:custGeom>
          <a:solidFill>
            <a:srgbClr val="4D1A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88382" y="4326043"/>
            <a:ext cx="481965" cy="561340"/>
          </a:xfrm>
          <a:custGeom>
            <a:avLst/>
            <a:gdLst/>
            <a:ahLst/>
            <a:cxnLst/>
            <a:rect l="l" t="t" r="r" b="b"/>
            <a:pathLst>
              <a:path w="481964" h="561339">
                <a:moveTo>
                  <a:pt x="481571" y="0"/>
                </a:moveTo>
                <a:lnTo>
                  <a:pt x="481571" y="15955"/>
                </a:lnTo>
                <a:lnTo>
                  <a:pt x="465545" y="31911"/>
                </a:lnTo>
                <a:lnTo>
                  <a:pt x="465545" y="48531"/>
                </a:lnTo>
                <a:lnTo>
                  <a:pt x="449520" y="64487"/>
                </a:lnTo>
                <a:lnTo>
                  <a:pt x="433494" y="80443"/>
                </a:lnTo>
                <a:lnTo>
                  <a:pt x="417468" y="96398"/>
                </a:lnTo>
                <a:lnTo>
                  <a:pt x="401443" y="112354"/>
                </a:lnTo>
                <a:lnTo>
                  <a:pt x="369391" y="112354"/>
                </a:lnTo>
                <a:lnTo>
                  <a:pt x="353366" y="128310"/>
                </a:lnTo>
                <a:lnTo>
                  <a:pt x="321314" y="144265"/>
                </a:lnTo>
                <a:lnTo>
                  <a:pt x="288462" y="160221"/>
                </a:lnTo>
                <a:lnTo>
                  <a:pt x="256410" y="176842"/>
                </a:lnTo>
                <a:lnTo>
                  <a:pt x="208333" y="192797"/>
                </a:lnTo>
                <a:lnTo>
                  <a:pt x="176282" y="192797"/>
                </a:lnTo>
                <a:lnTo>
                  <a:pt x="128205" y="208753"/>
                </a:lnTo>
                <a:lnTo>
                  <a:pt x="96154" y="224709"/>
                </a:lnTo>
                <a:lnTo>
                  <a:pt x="48077" y="240664"/>
                </a:lnTo>
                <a:lnTo>
                  <a:pt x="0" y="240664"/>
                </a:lnTo>
                <a:lnTo>
                  <a:pt x="0" y="561107"/>
                </a:lnTo>
                <a:lnTo>
                  <a:pt x="48077" y="561107"/>
                </a:lnTo>
                <a:lnTo>
                  <a:pt x="96154" y="545152"/>
                </a:lnTo>
                <a:lnTo>
                  <a:pt x="128205" y="529196"/>
                </a:lnTo>
                <a:lnTo>
                  <a:pt x="176282" y="513240"/>
                </a:lnTo>
                <a:lnTo>
                  <a:pt x="208333" y="513240"/>
                </a:lnTo>
                <a:lnTo>
                  <a:pt x="256410" y="497285"/>
                </a:lnTo>
                <a:lnTo>
                  <a:pt x="288462" y="481329"/>
                </a:lnTo>
                <a:lnTo>
                  <a:pt x="321314" y="465373"/>
                </a:lnTo>
                <a:lnTo>
                  <a:pt x="353366" y="449418"/>
                </a:lnTo>
                <a:lnTo>
                  <a:pt x="369391" y="432797"/>
                </a:lnTo>
                <a:lnTo>
                  <a:pt x="401443" y="432797"/>
                </a:lnTo>
                <a:lnTo>
                  <a:pt x="417468" y="416842"/>
                </a:lnTo>
                <a:lnTo>
                  <a:pt x="433494" y="400886"/>
                </a:lnTo>
                <a:lnTo>
                  <a:pt x="449520" y="384930"/>
                </a:lnTo>
                <a:lnTo>
                  <a:pt x="465545" y="368975"/>
                </a:lnTo>
                <a:lnTo>
                  <a:pt x="465545" y="353019"/>
                </a:lnTo>
                <a:lnTo>
                  <a:pt x="481571" y="337063"/>
                </a:lnTo>
                <a:lnTo>
                  <a:pt x="481571" y="321107"/>
                </a:lnTo>
                <a:lnTo>
                  <a:pt x="481571" y="0"/>
                </a:lnTo>
                <a:close/>
              </a:path>
            </a:pathLst>
          </a:custGeom>
          <a:ln w="159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97942" y="4294132"/>
            <a:ext cx="1172210" cy="273050"/>
          </a:xfrm>
          <a:custGeom>
            <a:avLst/>
            <a:gdLst/>
            <a:ahLst/>
            <a:cxnLst/>
            <a:rect l="l" t="t" r="r" b="b"/>
            <a:pathLst>
              <a:path w="1172210" h="273050">
                <a:moveTo>
                  <a:pt x="1172011" y="0"/>
                </a:moveTo>
                <a:lnTo>
                  <a:pt x="0" y="31911"/>
                </a:lnTo>
                <a:lnTo>
                  <a:pt x="690439" y="272576"/>
                </a:lnTo>
                <a:lnTo>
                  <a:pt x="738516" y="272576"/>
                </a:lnTo>
                <a:lnTo>
                  <a:pt x="882747" y="224709"/>
                </a:lnTo>
                <a:lnTo>
                  <a:pt x="914799" y="208753"/>
                </a:lnTo>
                <a:lnTo>
                  <a:pt x="962876" y="208753"/>
                </a:lnTo>
                <a:lnTo>
                  <a:pt x="994927" y="192132"/>
                </a:lnTo>
                <a:lnTo>
                  <a:pt x="1027780" y="176177"/>
                </a:lnTo>
                <a:lnTo>
                  <a:pt x="1059831" y="160221"/>
                </a:lnTo>
                <a:lnTo>
                  <a:pt x="1075857" y="144265"/>
                </a:lnTo>
                <a:lnTo>
                  <a:pt x="1107908" y="128310"/>
                </a:lnTo>
                <a:lnTo>
                  <a:pt x="1155985" y="80443"/>
                </a:lnTo>
                <a:lnTo>
                  <a:pt x="1155985" y="63822"/>
                </a:lnTo>
                <a:lnTo>
                  <a:pt x="1172011" y="31911"/>
                </a:lnTo>
                <a:lnTo>
                  <a:pt x="1172011" y="0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197942" y="4294132"/>
            <a:ext cx="1172210" cy="273050"/>
          </a:xfrm>
          <a:custGeom>
            <a:avLst/>
            <a:gdLst/>
            <a:ahLst/>
            <a:cxnLst/>
            <a:rect l="l" t="t" r="r" b="b"/>
            <a:pathLst>
              <a:path w="1172210" h="273050">
                <a:moveTo>
                  <a:pt x="1172011" y="0"/>
                </a:moveTo>
                <a:lnTo>
                  <a:pt x="1172011" y="15955"/>
                </a:lnTo>
                <a:lnTo>
                  <a:pt x="1172011" y="31911"/>
                </a:lnTo>
                <a:lnTo>
                  <a:pt x="1155985" y="63822"/>
                </a:lnTo>
                <a:lnTo>
                  <a:pt x="1155985" y="80443"/>
                </a:lnTo>
                <a:lnTo>
                  <a:pt x="1139959" y="96398"/>
                </a:lnTo>
                <a:lnTo>
                  <a:pt x="1123934" y="112354"/>
                </a:lnTo>
                <a:lnTo>
                  <a:pt x="1107908" y="128310"/>
                </a:lnTo>
                <a:lnTo>
                  <a:pt x="1075857" y="144265"/>
                </a:lnTo>
                <a:lnTo>
                  <a:pt x="1059831" y="160221"/>
                </a:lnTo>
                <a:lnTo>
                  <a:pt x="1027780" y="176177"/>
                </a:lnTo>
                <a:lnTo>
                  <a:pt x="994927" y="192132"/>
                </a:lnTo>
                <a:lnTo>
                  <a:pt x="962876" y="208753"/>
                </a:lnTo>
                <a:lnTo>
                  <a:pt x="914799" y="208753"/>
                </a:lnTo>
                <a:lnTo>
                  <a:pt x="882747" y="224709"/>
                </a:lnTo>
                <a:lnTo>
                  <a:pt x="834670" y="240664"/>
                </a:lnTo>
                <a:lnTo>
                  <a:pt x="786593" y="256620"/>
                </a:lnTo>
                <a:lnTo>
                  <a:pt x="738516" y="272576"/>
                </a:lnTo>
                <a:lnTo>
                  <a:pt x="690439" y="272576"/>
                </a:lnTo>
                <a:lnTo>
                  <a:pt x="0" y="31911"/>
                </a:lnTo>
                <a:lnTo>
                  <a:pt x="1172011" y="0"/>
                </a:lnTo>
                <a:close/>
              </a:path>
            </a:pathLst>
          </a:custGeom>
          <a:ln w="159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26198" y="4357954"/>
            <a:ext cx="1862455" cy="593725"/>
          </a:xfrm>
          <a:custGeom>
            <a:avLst/>
            <a:gdLst/>
            <a:ahLst/>
            <a:cxnLst/>
            <a:rect l="l" t="t" r="r" b="b"/>
            <a:pathLst>
              <a:path w="1862454" h="593725">
                <a:moveTo>
                  <a:pt x="1364052" y="577728"/>
                </a:moveTo>
                <a:lnTo>
                  <a:pt x="930824" y="577728"/>
                </a:lnTo>
                <a:lnTo>
                  <a:pt x="978901" y="593684"/>
                </a:lnTo>
                <a:lnTo>
                  <a:pt x="1315975" y="593684"/>
                </a:lnTo>
                <a:lnTo>
                  <a:pt x="1364052" y="577728"/>
                </a:lnTo>
                <a:close/>
              </a:path>
              <a:path w="1862454" h="593725">
                <a:moveTo>
                  <a:pt x="1621264" y="561772"/>
                </a:moveTo>
                <a:lnTo>
                  <a:pt x="722490" y="561772"/>
                </a:lnTo>
                <a:lnTo>
                  <a:pt x="786593" y="577728"/>
                </a:lnTo>
                <a:lnTo>
                  <a:pt x="1573187" y="577728"/>
                </a:lnTo>
                <a:lnTo>
                  <a:pt x="1621264" y="561772"/>
                </a:lnTo>
                <a:close/>
              </a:path>
              <a:path w="1862454" h="593725">
                <a:moveTo>
                  <a:pt x="1749469" y="545152"/>
                </a:moveTo>
                <a:lnTo>
                  <a:pt x="593484" y="545152"/>
                </a:lnTo>
                <a:lnTo>
                  <a:pt x="673612" y="561772"/>
                </a:lnTo>
                <a:lnTo>
                  <a:pt x="1685367" y="561772"/>
                </a:lnTo>
                <a:lnTo>
                  <a:pt x="1749469" y="545152"/>
                </a:lnTo>
                <a:close/>
              </a:path>
              <a:path w="1862454" h="593725">
                <a:moveTo>
                  <a:pt x="0" y="0"/>
                </a:moveTo>
                <a:lnTo>
                  <a:pt x="0" y="321107"/>
                </a:lnTo>
                <a:lnTo>
                  <a:pt x="64102" y="384930"/>
                </a:lnTo>
                <a:lnTo>
                  <a:pt x="96154" y="400886"/>
                </a:lnTo>
                <a:lnTo>
                  <a:pt x="112179" y="417506"/>
                </a:lnTo>
                <a:lnTo>
                  <a:pt x="176282" y="449418"/>
                </a:lnTo>
                <a:lnTo>
                  <a:pt x="224359" y="465373"/>
                </a:lnTo>
                <a:lnTo>
                  <a:pt x="256410" y="481329"/>
                </a:lnTo>
                <a:lnTo>
                  <a:pt x="288462" y="481329"/>
                </a:lnTo>
                <a:lnTo>
                  <a:pt x="385150" y="513240"/>
                </a:lnTo>
                <a:lnTo>
                  <a:pt x="449253" y="529196"/>
                </a:lnTo>
                <a:lnTo>
                  <a:pt x="497330" y="529196"/>
                </a:lnTo>
                <a:lnTo>
                  <a:pt x="545407" y="545152"/>
                </a:lnTo>
                <a:lnTo>
                  <a:pt x="1814106" y="545152"/>
                </a:lnTo>
                <a:lnTo>
                  <a:pt x="1862183" y="529196"/>
                </a:lnTo>
                <a:lnTo>
                  <a:pt x="1862183" y="272576"/>
                </a:lnTo>
                <a:lnTo>
                  <a:pt x="978901" y="272576"/>
                </a:lnTo>
                <a:lnTo>
                  <a:pt x="930824" y="256620"/>
                </a:lnTo>
                <a:lnTo>
                  <a:pt x="786593" y="256620"/>
                </a:lnTo>
                <a:lnTo>
                  <a:pt x="722490" y="240664"/>
                </a:lnTo>
                <a:lnTo>
                  <a:pt x="673612" y="240664"/>
                </a:lnTo>
                <a:lnTo>
                  <a:pt x="593484" y="224709"/>
                </a:lnTo>
                <a:lnTo>
                  <a:pt x="545407" y="224709"/>
                </a:lnTo>
                <a:lnTo>
                  <a:pt x="497330" y="208753"/>
                </a:lnTo>
                <a:lnTo>
                  <a:pt x="449253" y="208753"/>
                </a:lnTo>
                <a:lnTo>
                  <a:pt x="385150" y="192797"/>
                </a:lnTo>
                <a:lnTo>
                  <a:pt x="288462" y="160886"/>
                </a:lnTo>
                <a:lnTo>
                  <a:pt x="256410" y="160886"/>
                </a:lnTo>
                <a:lnTo>
                  <a:pt x="224359" y="144930"/>
                </a:lnTo>
                <a:lnTo>
                  <a:pt x="176282" y="128310"/>
                </a:lnTo>
                <a:lnTo>
                  <a:pt x="112179" y="96398"/>
                </a:lnTo>
                <a:lnTo>
                  <a:pt x="96154" y="80443"/>
                </a:lnTo>
                <a:lnTo>
                  <a:pt x="64102" y="64487"/>
                </a:lnTo>
                <a:lnTo>
                  <a:pt x="16025" y="16620"/>
                </a:lnTo>
                <a:lnTo>
                  <a:pt x="0" y="0"/>
                </a:lnTo>
                <a:close/>
              </a:path>
              <a:path w="1862454" h="593725">
                <a:moveTo>
                  <a:pt x="1862183" y="208753"/>
                </a:moveTo>
                <a:lnTo>
                  <a:pt x="1814106" y="224709"/>
                </a:lnTo>
                <a:lnTo>
                  <a:pt x="1749469" y="224709"/>
                </a:lnTo>
                <a:lnTo>
                  <a:pt x="1685367" y="240664"/>
                </a:lnTo>
                <a:lnTo>
                  <a:pt x="1621264" y="240664"/>
                </a:lnTo>
                <a:lnTo>
                  <a:pt x="1573187" y="256620"/>
                </a:lnTo>
                <a:lnTo>
                  <a:pt x="1364052" y="256620"/>
                </a:lnTo>
                <a:lnTo>
                  <a:pt x="1315975" y="272576"/>
                </a:lnTo>
                <a:lnTo>
                  <a:pt x="1862183" y="272576"/>
                </a:lnTo>
                <a:lnTo>
                  <a:pt x="1862183" y="208753"/>
                </a:lnTo>
                <a:close/>
              </a:path>
            </a:pathLst>
          </a:custGeom>
          <a:solidFill>
            <a:srgbClr val="808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26198" y="4326043"/>
            <a:ext cx="1862455" cy="626110"/>
          </a:xfrm>
          <a:custGeom>
            <a:avLst/>
            <a:gdLst/>
            <a:ahLst/>
            <a:cxnLst/>
            <a:rect l="l" t="t" r="r" b="b"/>
            <a:pathLst>
              <a:path w="1862454" h="626110">
                <a:moveTo>
                  <a:pt x="1862183" y="240664"/>
                </a:moveTo>
                <a:lnTo>
                  <a:pt x="1814106" y="256620"/>
                </a:lnTo>
                <a:lnTo>
                  <a:pt x="1749469" y="256620"/>
                </a:lnTo>
                <a:lnTo>
                  <a:pt x="1685367" y="272576"/>
                </a:lnTo>
                <a:lnTo>
                  <a:pt x="1621264" y="272576"/>
                </a:lnTo>
                <a:lnTo>
                  <a:pt x="1573187" y="288531"/>
                </a:lnTo>
                <a:lnTo>
                  <a:pt x="1509084" y="288531"/>
                </a:lnTo>
                <a:lnTo>
                  <a:pt x="1428154" y="288531"/>
                </a:lnTo>
                <a:lnTo>
                  <a:pt x="1364052" y="288531"/>
                </a:lnTo>
                <a:lnTo>
                  <a:pt x="1315975" y="304487"/>
                </a:lnTo>
                <a:lnTo>
                  <a:pt x="978901" y="304487"/>
                </a:lnTo>
                <a:lnTo>
                  <a:pt x="930824" y="288531"/>
                </a:lnTo>
                <a:lnTo>
                  <a:pt x="850696" y="288531"/>
                </a:lnTo>
                <a:lnTo>
                  <a:pt x="786593" y="288531"/>
                </a:lnTo>
                <a:lnTo>
                  <a:pt x="722490" y="272576"/>
                </a:lnTo>
                <a:lnTo>
                  <a:pt x="673612" y="272576"/>
                </a:lnTo>
                <a:lnTo>
                  <a:pt x="593484" y="256620"/>
                </a:lnTo>
                <a:lnTo>
                  <a:pt x="545407" y="256620"/>
                </a:lnTo>
                <a:lnTo>
                  <a:pt x="497330" y="240664"/>
                </a:lnTo>
                <a:lnTo>
                  <a:pt x="449253" y="240664"/>
                </a:lnTo>
                <a:lnTo>
                  <a:pt x="385150" y="224709"/>
                </a:lnTo>
                <a:lnTo>
                  <a:pt x="336539" y="208753"/>
                </a:lnTo>
                <a:lnTo>
                  <a:pt x="288462" y="192797"/>
                </a:lnTo>
                <a:lnTo>
                  <a:pt x="256410" y="192797"/>
                </a:lnTo>
                <a:lnTo>
                  <a:pt x="224359" y="176842"/>
                </a:lnTo>
                <a:lnTo>
                  <a:pt x="176282" y="160221"/>
                </a:lnTo>
                <a:lnTo>
                  <a:pt x="144231" y="144265"/>
                </a:lnTo>
                <a:lnTo>
                  <a:pt x="112179" y="128310"/>
                </a:lnTo>
                <a:lnTo>
                  <a:pt x="96154" y="112354"/>
                </a:lnTo>
                <a:lnTo>
                  <a:pt x="64102" y="96398"/>
                </a:lnTo>
                <a:lnTo>
                  <a:pt x="48077" y="80443"/>
                </a:lnTo>
                <a:lnTo>
                  <a:pt x="32051" y="64487"/>
                </a:lnTo>
                <a:lnTo>
                  <a:pt x="16025" y="48531"/>
                </a:lnTo>
                <a:lnTo>
                  <a:pt x="0" y="31911"/>
                </a:lnTo>
                <a:lnTo>
                  <a:pt x="0" y="15955"/>
                </a:lnTo>
                <a:lnTo>
                  <a:pt x="0" y="0"/>
                </a:lnTo>
                <a:lnTo>
                  <a:pt x="0" y="321107"/>
                </a:lnTo>
                <a:lnTo>
                  <a:pt x="0" y="337063"/>
                </a:lnTo>
                <a:lnTo>
                  <a:pt x="0" y="353019"/>
                </a:lnTo>
                <a:lnTo>
                  <a:pt x="16025" y="368975"/>
                </a:lnTo>
                <a:lnTo>
                  <a:pt x="32051" y="384930"/>
                </a:lnTo>
                <a:lnTo>
                  <a:pt x="48077" y="400886"/>
                </a:lnTo>
                <a:lnTo>
                  <a:pt x="64102" y="416842"/>
                </a:lnTo>
                <a:lnTo>
                  <a:pt x="96154" y="432797"/>
                </a:lnTo>
                <a:lnTo>
                  <a:pt x="112179" y="449418"/>
                </a:lnTo>
                <a:lnTo>
                  <a:pt x="144231" y="465373"/>
                </a:lnTo>
                <a:lnTo>
                  <a:pt x="176282" y="481329"/>
                </a:lnTo>
                <a:lnTo>
                  <a:pt x="224359" y="497285"/>
                </a:lnTo>
                <a:lnTo>
                  <a:pt x="256410" y="513240"/>
                </a:lnTo>
                <a:lnTo>
                  <a:pt x="288462" y="513240"/>
                </a:lnTo>
                <a:lnTo>
                  <a:pt x="336539" y="529196"/>
                </a:lnTo>
                <a:lnTo>
                  <a:pt x="385150" y="545152"/>
                </a:lnTo>
                <a:lnTo>
                  <a:pt x="449253" y="561107"/>
                </a:lnTo>
                <a:lnTo>
                  <a:pt x="497330" y="561107"/>
                </a:lnTo>
                <a:lnTo>
                  <a:pt x="545407" y="577063"/>
                </a:lnTo>
                <a:lnTo>
                  <a:pt x="593484" y="577063"/>
                </a:lnTo>
                <a:lnTo>
                  <a:pt x="673612" y="593684"/>
                </a:lnTo>
                <a:lnTo>
                  <a:pt x="722490" y="593684"/>
                </a:lnTo>
                <a:lnTo>
                  <a:pt x="786593" y="609639"/>
                </a:lnTo>
                <a:lnTo>
                  <a:pt x="850696" y="609639"/>
                </a:lnTo>
                <a:lnTo>
                  <a:pt x="930824" y="609639"/>
                </a:lnTo>
                <a:lnTo>
                  <a:pt x="978901" y="625595"/>
                </a:lnTo>
                <a:lnTo>
                  <a:pt x="1043004" y="625595"/>
                </a:lnTo>
                <a:lnTo>
                  <a:pt x="1107641" y="625595"/>
                </a:lnTo>
                <a:lnTo>
                  <a:pt x="1171744" y="625595"/>
                </a:lnTo>
                <a:lnTo>
                  <a:pt x="1251872" y="625595"/>
                </a:lnTo>
                <a:lnTo>
                  <a:pt x="1315975" y="625595"/>
                </a:lnTo>
                <a:lnTo>
                  <a:pt x="1364052" y="609639"/>
                </a:lnTo>
                <a:lnTo>
                  <a:pt x="1428154" y="609639"/>
                </a:lnTo>
                <a:lnTo>
                  <a:pt x="1509084" y="609639"/>
                </a:lnTo>
                <a:lnTo>
                  <a:pt x="1573187" y="609639"/>
                </a:lnTo>
                <a:lnTo>
                  <a:pt x="1621264" y="593684"/>
                </a:lnTo>
                <a:lnTo>
                  <a:pt x="1685367" y="593684"/>
                </a:lnTo>
                <a:lnTo>
                  <a:pt x="1749469" y="577063"/>
                </a:lnTo>
                <a:lnTo>
                  <a:pt x="1814106" y="577063"/>
                </a:lnTo>
                <a:lnTo>
                  <a:pt x="1862183" y="561107"/>
                </a:lnTo>
                <a:lnTo>
                  <a:pt x="1862183" y="240664"/>
                </a:lnTo>
                <a:close/>
              </a:path>
            </a:pathLst>
          </a:custGeom>
          <a:ln w="159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26198" y="4165822"/>
            <a:ext cx="1862455" cy="464820"/>
          </a:xfrm>
          <a:custGeom>
            <a:avLst/>
            <a:gdLst/>
            <a:ahLst/>
            <a:cxnLst/>
            <a:rect l="l" t="t" r="r" b="b"/>
            <a:pathLst>
              <a:path w="1862454" h="464820">
                <a:moveTo>
                  <a:pt x="1364052" y="448753"/>
                </a:moveTo>
                <a:lnTo>
                  <a:pt x="962876" y="448753"/>
                </a:lnTo>
                <a:lnTo>
                  <a:pt x="1026978" y="464709"/>
                </a:lnTo>
                <a:lnTo>
                  <a:pt x="1283923" y="464709"/>
                </a:lnTo>
                <a:lnTo>
                  <a:pt x="1364052" y="448753"/>
                </a:lnTo>
                <a:close/>
              </a:path>
              <a:path w="1862454" h="464820">
                <a:moveTo>
                  <a:pt x="1621264" y="432797"/>
                </a:moveTo>
                <a:lnTo>
                  <a:pt x="705663" y="432797"/>
                </a:lnTo>
                <a:lnTo>
                  <a:pt x="770567" y="448753"/>
                </a:lnTo>
                <a:lnTo>
                  <a:pt x="1573187" y="448753"/>
                </a:lnTo>
                <a:lnTo>
                  <a:pt x="1621264" y="432797"/>
                </a:lnTo>
                <a:close/>
              </a:path>
              <a:path w="1862454" h="464820">
                <a:moveTo>
                  <a:pt x="1733444" y="416842"/>
                </a:moveTo>
                <a:lnTo>
                  <a:pt x="577458" y="416842"/>
                </a:lnTo>
                <a:lnTo>
                  <a:pt x="641561" y="432797"/>
                </a:lnTo>
                <a:lnTo>
                  <a:pt x="1685367" y="432797"/>
                </a:lnTo>
                <a:lnTo>
                  <a:pt x="1733444" y="416842"/>
                </a:lnTo>
                <a:close/>
              </a:path>
              <a:path w="1862454" h="464820">
                <a:moveTo>
                  <a:pt x="176282" y="0"/>
                </a:moveTo>
                <a:lnTo>
                  <a:pt x="80128" y="47867"/>
                </a:lnTo>
                <a:lnTo>
                  <a:pt x="64102" y="64487"/>
                </a:lnTo>
                <a:lnTo>
                  <a:pt x="48077" y="80443"/>
                </a:lnTo>
                <a:lnTo>
                  <a:pt x="16025" y="96398"/>
                </a:lnTo>
                <a:lnTo>
                  <a:pt x="16025" y="112354"/>
                </a:lnTo>
                <a:lnTo>
                  <a:pt x="0" y="128310"/>
                </a:lnTo>
                <a:lnTo>
                  <a:pt x="0" y="192132"/>
                </a:lnTo>
                <a:lnTo>
                  <a:pt x="16025" y="208753"/>
                </a:lnTo>
                <a:lnTo>
                  <a:pt x="80128" y="272576"/>
                </a:lnTo>
                <a:lnTo>
                  <a:pt x="96154" y="272576"/>
                </a:lnTo>
                <a:lnTo>
                  <a:pt x="128205" y="288531"/>
                </a:lnTo>
                <a:lnTo>
                  <a:pt x="160256" y="320443"/>
                </a:lnTo>
                <a:lnTo>
                  <a:pt x="192308" y="320443"/>
                </a:lnTo>
                <a:lnTo>
                  <a:pt x="224359" y="337063"/>
                </a:lnTo>
                <a:lnTo>
                  <a:pt x="369124" y="384930"/>
                </a:lnTo>
                <a:lnTo>
                  <a:pt x="417201" y="384930"/>
                </a:lnTo>
                <a:lnTo>
                  <a:pt x="481304" y="400886"/>
                </a:lnTo>
                <a:lnTo>
                  <a:pt x="529381" y="416842"/>
                </a:lnTo>
                <a:lnTo>
                  <a:pt x="1814106" y="416842"/>
                </a:lnTo>
                <a:lnTo>
                  <a:pt x="1862183" y="400886"/>
                </a:lnTo>
                <a:lnTo>
                  <a:pt x="1171744" y="160221"/>
                </a:lnTo>
                <a:lnTo>
                  <a:pt x="176282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26198" y="4165822"/>
            <a:ext cx="1862455" cy="464820"/>
          </a:xfrm>
          <a:custGeom>
            <a:avLst/>
            <a:gdLst/>
            <a:ahLst/>
            <a:cxnLst/>
            <a:rect l="l" t="t" r="r" b="b"/>
            <a:pathLst>
              <a:path w="1862454" h="464820">
                <a:moveTo>
                  <a:pt x="1862183" y="400886"/>
                </a:moveTo>
                <a:lnTo>
                  <a:pt x="1814106" y="416842"/>
                </a:lnTo>
                <a:lnTo>
                  <a:pt x="1733444" y="416842"/>
                </a:lnTo>
                <a:lnTo>
                  <a:pt x="1685367" y="432797"/>
                </a:lnTo>
                <a:lnTo>
                  <a:pt x="1621264" y="432797"/>
                </a:lnTo>
                <a:lnTo>
                  <a:pt x="1573187" y="448753"/>
                </a:lnTo>
                <a:lnTo>
                  <a:pt x="1493058" y="448753"/>
                </a:lnTo>
                <a:lnTo>
                  <a:pt x="1428154" y="448753"/>
                </a:lnTo>
                <a:lnTo>
                  <a:pt x="1364052" y="448753"/>
                </a:lnTo>
                <a:lnTo>
                  <a:pt x="1283923" y="464709"/>
                </a:lnTo>
                <a:lnTo>
                  <a:pt x="1235846" y="464709"/>
                </a:lnTo>
                <a:lnTo>
                  <a:pt x="1171744" y="464709"/>
                </a:lnTo>
                <a:lnTo>
                  <a:pt x="1091615" y="464709"/>
                </a:lnTo>
                <a:lnTo>
                  <a:pt x="1026978" y="464709"/>
                </a:lnTo>
                <a:lnTo>
                  <a:pt x="962876" y="448753"/>
                </a:lnTo>
                <a:lnTo>
                  <a:pt x="898773" y="448753"/>
                </a:lnTo>
                <a:lnTo>
                  <a:pt x="818644" y="448753"/>
                </a:lnTo>
                <a:lnTo>
                  <a:pt x="770567" y="448753"/>
                </a:lnTo>
                <a:lnTo>
                  <a:pt x="705663" y="432797"/>
                </a:lnTo>
                <a:lnTo>
                  <a:pt x="641561" y="432797"/>
                </a:lnTo>
                <a:lnTo>
                  <a:pt x="577458" y="416842"/>
                </a:lnTo>
                <a:lnTo>
                  <a:pt x="529381" y="416842"/>
                </a:lnTo>
                <a:lnTo>
                  <a:pt x="481304" y="400886"/>
                </a:lnTo>
                <a:lnTo>
                  <a:pt x="417201" y="384930"/>
                </a:lnTo>
                <a:lnTo>
                  <a:pt x="369124" y="384930"/>
                </a:lnTo>
                <a:lnTo>
                  <a:pt x="320513" y="368975"/>
                </a:lnTo>
                <a:lnTo>
                  <a:pt x="272436" y="353019"/>
                </a:lnTo>
                <a:lnTo>
                  <a:pt x="224359" y="337063"/>
                </a:lnTo>
                <a:lnTo>
                  <a:pt x="192308" y="320443"/>
                </a:lnTo>
                <a:lnTo>
                  <a:pt x="160256" y="320443"/>
                </a:lnTo>
                <a:lnTo>
                  <a:pt x="128205" y="288531"/>
                </a:lnTo>
                <a:lnTo>
                  <a:pt x="96154" y="272576"/>
                </a:lnTo>
                <a:lnTo>
                  <a:pt x="80128" y="272576"/>
                </a:lnTo>
                <a:lnTo>
                  <a:pt x="48077" y="240664"/>
                </a:lnTo>
                <a:lnTo>
                  <a:pt x="32051" y="224709"/>
                </a:lnTo>
                <a:lnTo>
                  <a:pt x="16025" y="208753"/>
                </a:lnTo>
                <a:lnTo>
                  <a:pt x="0" y="192132"/>
                </a:lnTo>
                <a:lnTo>
                  <a:pt x="0" y="176177"/>
                </a:lnTo>
                <a:lnTo>
                  <a:pt x="0" y="160221"/>
                </a:lnTo>
                <a:lnTo>
                  <a:pt x="0" y="144265"/>
                </a:lnTo>
                <a:lnTo>
                  <a:pt x="0" y="128310"/>
                </a:lnTo>
                <a:lnTo>
                  <a:pt x="16025" y="112354"/>
                </a:lnTo>
                <a:lnTo>
                  <a:pt x="16025" y="96398"/>
                </a:lnTo>
                <a:lnTo>
                  <a:pt x="48077" y="80443"/>
                </a:lnTo>
                <a:lnTo>
                  <a:pt x="64102" y="64487"/>
                </a:lnTo>
                <a:lnTo>
                  <a:pt x="80128" y="47867"/>
                </a:lnTo>
                <a:lnTo>
                  <a:pt x="112179" y="31911"/>
                </a:lnTo>
                <a:lnTo>
                  <a:pt x="144231" y="15955"/>
                </a:lnTo>
                <a:lnTo>
                  <a:pt x="176282" y="0"/>
                </a:lnTo>
                <a:lnTo>
                  <a:pt x="1171744" y="160221"/>
                </a:lnTo>
                <a:lnTo>
                  <a:pt x="1862183" y="400886"/>
                </a:lnTo>
                <a:close/>
              </a:path>
            </a:pathLst>
          </a:custGeom>
          <a:ln w="159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00896" y="4561986"/>
            <a:ext cx="1697989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-10" dirty="0">
                <a:latin typeface="宋体"/>
                <a:cs typeface="宋体"/>
              </a:rPr>
              <a:t>非正式的需求规格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18365" y="4817941"/>
            <a:ext cx="861694" cy="532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650" spc="-10" dirty="0">
                <a:latin typeface="宋体"/>
                <a:cs typeface="宋体"/>
              </a:rPr>
              <a:t>说明文档</a:t>
            </a:r>
            <a:endParaRPr sz="1650">
              <a:latin typeface="宋体"/>
              <a:cs typeface="宋体"/>
            </a:endParaRPr>
          </a:p>
          <a:p>
            <a:pPr marL="13970" algn="ctr">
              <a:lnSpc>
                <a:spcPct val="100000"/>
              </a:lnSpc>
              <a:spcBef>
                <a:spcPts val="45"/>
              </a:spcBef>
            </a:pPr>
            <a:r>
              <a:rPr sz="1650" spc="55" dirty="0">
                <a:latin typeface="宋体"/>
                <a:cs typeface="宋体"/>
              </a:rPr>
              <a:t>16%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56524" y="4882429"/>
            <a:ext cx="1697989" cy="7893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ctr">
              <a:lnSpc>
                <a:spcPct val="102099"/>
              </a:lnSpc>
              <a:spcBef>
                <a:spcPts val="50"/>
              </a:spcBef>
            </a:pPr>
            <a:r>
              <a:rPr sz="1650" spc="-10" dirty="0">
                <a:latin typeface="宋体"/>
                <a:cs typeface="宋体"/>
              </a:rPr>
              <a:t>正式的需求规格说 明文档</a:t>
            </a:r>
            <a:endParaRPr sz="1650">
              <a:latin typeface="宋体"/>
              <a:cs typeface="宋体"/>
            </a:endParaRPr>
          </a:p>
          <a:p>
            <a:pPr marL="12700" algn="ctr">
              <a:lnSpc>
                <a:spcPct val="100000"/>
              </a:lnSpc>
              <a:spcBef>
                <a:spcPts val="40"/>
              </a:spcBef>
            </a:pPr>
            <a:r>
              <a:rPr sz="1650" spc="55" dirty="0">
                <a:latin typeface="宋体"/>
                <a:cs typeface="宋体"/>
              </a:rPr>
              <a:t>44%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32247" y="3487637"/>
            <a:ext cx="861694" cy="532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650" spc="-10" dirty="0">
                <a:latin typeface="宋体"/>
                <a:cs typeface="宋体"/>
              </a:rPr>
              <a:t>语言交流</a:t>
            </a:r>
            <a:endParaRPr sz="1650">
              <a:latin typeface="宋体"/>
              <a:cs typeface="宋体"/>
            </a:endParaRPr>
          </a:p>
          <a:p>
            <a:pPr marL="13335" algn="ctr">
              <a:lnSpc>
                <a:spcPct val="100000"/>
              </a:lnSpc>
              <a:spcBef>
                <a:spcPts val="45"/>
              </a:spcBef>
            </a:pPr>
            <a:r>
              <a:rPr sz="1650" spc="55" dirty="0">
                <a:latin typeface="宋体"/>
                <a:cs typeface="宋体"/>
              </a:rPr>
              <a:t>16%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dirty="0"/>
              <a:t>交流途径</a:t>
            </a: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dirty="0"/>
              <a:t>时间压力</a:t>
            </a: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dirty="0"/>
              <a:t>迭代式开发</a:t>
            </a:r>
          </a:p>
          <a:p>
            <a:pPr marR="5080" algn="r">
              <a:lnSpc>
                <a:spcPct val="100000"/>
              </a:lnSpc>
              <a:spcBef>
                <a:spcPts val="155"/>
              </a:spcBef>
            </a:pPr>
            <a:r>
              <a:rPr sz="1650" spc="-10" dirty="0"/>
              <a:t>文档结合语言的非</a:t>
            </a:r>
            <a:endParaRPr sz="1650"/>
          </a:p>
        </p:txBody>
      </p:sp>
      <p:sp>
        <p:nvSpPr>
          <p:cNvPr id="23" name="object 23"/>
          <p:cNvSpPr txBox="1"/>
          <p:nvPr/>
        </p:nvSpPr>
        <p:spPr>
          <a:xfrm>
            <a:off x="6429369" y="3551459"/>
            <a:ext cx="861694" cy="532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650" spc="-10" dirty="0">
                <a:latin typeface="宋体"/>
                <a:cs typeface="宋体"/>
              </a:rPr>
              <a:t>正式交流</a:t>
            </a:r>
            <a:endParaRPr sz="1650">
              <a:latin typeface="宋体"/>
              <a:cs typeface="宋体"/>
            </a:endParaRPr>
          </a:p>
          <a:p>
            <a:pPr marL="13970" algn="ctr">
              <a:lnSpc>
                <a:spcPct val="100000"/>
              </a:lnSpc>
              <a:spcBef>
                <a:spcPts val="45"/>
              </a:spcBef>
            </a:pPr>
            <a:r>
              <a:rPr sz="1650" spc="55" dirty="0">
                <a:latin typeface="宋体"/>
                <a:cs typeface="宋体"/>
              </a:rPr>
              <a:t>24%</a:t>
            </a:r>
            <a:endParaRPr sz="16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8659" y="77470"/>
            <a:ext cx="67284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/>
              <a:t>需求规格说明文档：定位</a:t>
            </a:r>
          </a:p>
        </p:txBody>
      </p:sp>
      <p:sp>
        <p:nvSpPr>
          <p:cNvPr id="3" name="object 3"/>
          <p:cNvSpPr/>
          <p:nvPr/>
        </p:nvSpPr>
        <p:spPr>
          <a:xfrm>
            <a:off x="1101636" y="3348013"/>
            <a:ext cx="5420058" cy="214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1636" y="2357980"/>
            <a:ext cx="5420058" cy="4068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43348" y="995617"/>
            <a:ext cx="533400" cy="4927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ctr">
              <a:lnSpc>
                <a:spcPct val="103499"/>
              </a:lnSpc>
              <a:spcBef>
                <a:spcPts val="50"/>
              </a:spcBef>
            </a:pPr>
            <a:r>
              <a:rPr sz="1000" spc="-5" dirty="0">
                <a:latin typeface="宋体"/>
                <a:cs typeface="宋体"/>
              </a:rPr>
              <a:t>项目前景 和范围文 档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93672" y="1180886"/>
            <a:ext cx="1625600" cy="4445"/>
          </a:xfrm>
          <a:custGeom>
            <a:avLst/>
            <a:gdLst/>
            <a:ahLst/>
            <a:cxnLst/>
            <a:rect l="l" t="t" r="r" b="b"/>
            <a:pathLst>
              <a:path w="1625600" h="4444">
                <a:moveTo>
                  <a:pt x="29254" y="0"/>
                </a:moveTo>
                <a:lnTo>
                  <a:pt x="0" y="0"/>
                </a:lnTo>
                <a:lnTo>
                  <a:pt x="0" y="2639"/>
                </a:lnTo>
                <a:lnTo>
                  <a:pt x="1586" y="3871"/>
                </a:lnTo>
                <a:lnTo>
                  <a:pt x="28373" y="3871"/>
                </a:lnTo>
                <a:lnTo>
                  <a:pt x="29254" y="2639"/>
                </a:lnTo>
                <a:lnTo>
                  <a:pt x="30135" y="1759"/>
                </a:lnTo>
                <a:lnTo>
                  <a:pt x="29254" y="0"/>
                </a:lnTo>
                <a:close/>
              </a:path>
              <a:path w="1625600" h="4444">
                <a:moveTo>
                  <a:pt x="75073" y="0"/>
                </a:moveTo>
                <a:lnTo>
                  <a:pt x="45643" y="0"/>
                </a:lnTo>
                <a:lnTo>
                  <a:pt x="45643" y="2639"/>
                </a:lnTo>
                <a:lnTo>
                  <a:pt x="47405" y="3871"/>
                </a:lnTo>
                <a:lnTo>
                  <a:pt x="74192" y="3871"/>
                </a:lnTo>
                <a:lnTo>
                  <a:pt x="75073" y="2639"/>
                </a:lnTo>
                <a:lnTo>
                  <a:pt x="75955" y="1759"/>
                </a:lnTo>
                <a:lnTo>
                  <a:pt x="75073" y="0"/>
                </a:lnTo>
                <a:close/>
              </a:path>
              <a:path w="1625600" h="4444">
                <a:moveTo>
                  <a:pt x="120717" y="0"/>
                </a:moveTo>
                <a:lnTo>
                  <a:pt x="91463" y="0"/>
                </a:lnTo>
                <a:lnTo>
                  <a:pt x="91463" y="2639"/>
                </a:lnTo>
                <a:lnTo>
                  <a:pt x="93225" y="3871"/>
                </a:lnTo>
                <a:lnTo>
                  <a:pt x="120012" y="3871"/>
                </a:lnTo>
                <a:lnTo>
                  <a:pt x="120717" y="2639"/>
                </a:lnTo>
                <a:lnTo>
                  <a:pt x="121598" y="1759"/>
                </a:lnTo>
                <a:lnTo>
                  <a:pt x="120717" y="0"/>
                </a:lnTo>
                <a:close/>
              </a:path>
              <a:path w="1625600" h="4444">
                <a:moveTo>
                  <a:pt x="166537" y="0"/>
                </a:moveTo>
                <a:lnTo>
                  <a:pt x="137106" y="0"/>
                </a:lnTo>
                <a:lnTo>
                  <a:pt x="137106" y="2639"/>
                </a:lnTo>
                <a:lnTo>
                  <a:pt x="138869" y="3871"/>
                </a:lnTo>
                <a:lnTo>
                  <a:pt x="165656" y="3871"/>
                </a:lnTo>
                <a:lnTo>
                  <a:pt x="166537" y="2639"/>
                </a:lnTo>
                <a:lnTo>
                  <a:pt x="167770" y="1759"/>
                </a:lnTo>
                <a:lnTo>
                  <a:pt x="166537" y="0"/>
                </a:lnTo>
                <a:close/>
              </a:path>
              <a:path w="1625600" h="4444">
                <a:moveTo>
                  <a:pt x="212357" y="0"/>
                </a:moveTo>
                <a:lnTo>
                  <a:pt x="182926" y="0"/>
                </a:lnTo>
                <a:lnTo>
                  <a:pt x="182926" y="2639"/>
                </a:lnTo>
                <a:lnTo>
                  <a:pt x="184688" y="3871"/>
                </a:lnTo>
                <a:lnTo>
                  <a:pt x="211475" y="3871"/>
                </a:lnTo>
                <a:lnTo>
                  <a:pt x="212357" y="2639"/>
                </a:lnTo>
                <a:lnTo>
                  <a:pt x="213590" y="1759"/>
                </a:lnTo>
                <a:lnTo>
                  <a:pt x="212357" y="0"/>
                </a:lnTo>
                <a:close/>
              </a:path>
              <a:path w="1625600" h="4444">
                <a:moveTo>
                  <a:pt x="258000" y="0"/>
                </a:moveTo>
                <a:lnTo>
                  <a:pt x="228746" y="0"/>
                </a:lnTo>
                <a:lnTo>
                  <a:pt x="228746" y="2639"/>
                </a:lnTo>
                <a:lnTo>
                  <a:pt x="230508" y="3871"/>
                </a:lnTo>
                <a:lnTo>
                  <a:pt x="257119" y="3871"/>
                </a:lnTo>
                <a:lnTo>
                  <a:pt x="258000" y="2639"/>
                </a:lnTo>
                <a:lnTo>
                  <a:pt x="259410" y="1759"/>
                </a:lnTo>
                <a:lnTo>
                  <a:pt x="258000" y="0"/>
                </a:lnTo>
                <a:close/>
              </a:path>
              <a:path w="1625600" h="4444">
                <a:moveTo>
                  <a:pt x="304172" y="0"/>
                </a:moveTo>
                <a:lnTo>
                  <a:pt x="274389" y="0"/>
                </a:lnTo>
                <a:lnTo>
                  <a:pt x="274389" y="2639"/>
                </a:lnTo>
                <a:lnTo>
                  <a:pt x="276152" y="3871"/>
                </a:lnTo>
                <a:lnTo>
                  <a:pt x="302939" y="3871"/>
                </a:lnTo>
                <a:lnTo>
                  <a:pt x="305053" y="1759"/>
                </a:lnTo>
                <a:lnTo>
                  <a:pt x="304172" y="0"/>
                </a:lnTo>
                <a:close/>
              </a:path>
              <a:path w="1625600" h="4444">
                <a:moveTo>
                  <a:pt x="349992" y="0"/>
                </a:moveTo>
                <a:lnTo>
                  <a:pt x="320209" y="0"/>
                </a:lnTo>
                <a:lnTo>
                  <a:pt x="320209" y="2639"/>
                </a:lnTo>
                <a:lnTo>
                  <a:pt x="321971" y="3871"/>
                </a:lnTo>
                <a:lnTo>
                  <a:pt x="348758" y="3871"/>
                </a:lnTo>
                <a:lnTo>
                  <a:pt x="350873" y="1759"/>
                </a:lnTo>
                <a:lnTo>
                  <a:pt x="349992" y="0"/>
                </a:lnTo>
                <a:close/>
              </a:path>
              <a:path w="1625600" h="4444">
                <a:moveTo>
                  <a:pt x="395812" y="0"/>
                </a:moveTo>
                <a:lnTo>
                  <a:pt x="366029" y="0"/>
                </a:lnTo>
                <a:lnTo>
                  <a:pt x="366029" y="2639"/>
                </a:lnTo>
                <a:lnTo>
                  <a:pt x="368144" y="3871"/>
                </a:lnTo>
                <a:lnTo>
                  <a:pt x="394402" y="3871"/>
                </a:lnTo>
                <a:lnTo>
                  <a:pt x="395812" y="2639"/>
                </a:lnTo>
                <a:lnTo>
                  <a:pt x="396693" y="1759"/>
                </a:lnTo>
                <a:lnTo>
                  <a:pt x="395812" y="0"/>
                </a:lnTo>
                <a:close/>
              </a:path>
              <a:path w="1625600" h="4444">
                <a:moveTo>
                  <a:pt x="441455" y="0"/>
                </a:moveTo>
                <a:lnTo>
                  <a:pt x="411673" y="0"/>
                </a:lnTo>
                <a:lnTo>
                  <a:pt x="411673" y="2639"/>
                </a:lnTo>
                <a:lnTo>
                  <a:pt x="413787" y="3871"/>
                </a:lnTo>
                <a:lnTo>
                  <a:pt x="440222" y="3871"/>
                </a:lnTo>
                <a:lnTo>
                  <a:pt x="442337" y="1759"/>
                </a:lnTo>
                <a:lnTo>
                  <a:pt x="441455" y="0"/>
                </a:lnTo>
                <a:close/>
              </a:path>
              <a:path w="1625600" h="4444">
                <a:moveTo>
                  <a:pt x="487275" y="0"/>
                </a:moveTo>
                <a:lnTo>
                  <a:pt x="457492" y="0"/>
                </a:lnTo>
                <a:lnTo>
                  <a:pt x="457492" y="2639"/>
                </a:lnTo>
                <a:lnTo>
                  <a:pt x="459607" y="3871"/>
                </a:lnTo>
                <a:lnTo>
                  <a:pt x="486394" y="3871"/>
                </a:lnTo>
                <a:lnTo>
                  <a:pt x="487275" y="2639"/>
                </a:lnTo>
                <a:lnTo>
                  <a:pt x="488156" y="1759"/>
                </a:lnTo>
                <a:lnTo>
                  <a:pt x="487275" y="0"/>
                </a:lnTo>
                <a:close/>
              </a:path>
              <a:path w="1625600" h="4444">
                <a:moveTo>
                  <a:pt x="532919" y="0"/>
                </a:moveTo>
                <a:lnTo>
                  <a:pt x="503136" y="0"/>
                </a:lnTo>
                <a:lnTo>
                  <a:pt x="503136" y="2639"/>
                </a:lnTo>
                <a:lnTo>
                  <a:pt x="505427" y="3871"/>
                </a:lnTo>
                <a:lnTo>
                  <a:pt x="532214" y="3871"/>
                </a:lnTo>
                <a:lnTo>
                  <a:pt x="532919" y="2639"/>
                </a:lnTo>
                <a:lnTo>
                  <a:pt x="533800" y="1759"/>
                </a:lnTo>
                <a:lnTo>
                  <a:pt x="532919" y="0"/>
                </a:lnTo>
                <a:close/>
              </a:path>
              <a:path w="1625600" h="4444">
                <a:moveTo>
                  <a:pt x="578738" y="0"/>
                </a:moveTo>
                <a:lnTo>
                  <a:pt x="548956" y="0"/>
                </a:lnTo>
                <a:lnTo>
                  <a:pt x="548956" y="2639"/>
                </a:lnTo>
                <a:lnTo>
                  <a:pt x="551070" y="3871"/>
                </a:lnTo>
                <a:lnTo>
                  <a:pt x="577857" y="3871"/>
                </a:lnTo>
                <a:lnTo>
                  <a:pt x="578738" y="2639"/>
                </a:lnTo>
                <a:lnTo>
                  <a:pt x="579620" y="1759"/>
                </a:lnTo>
                <a:lnTo>
                  <a:pt x="578738" y="0"/>
                </a:lnTo>
                <a:close/>
              </a:path>
              <a:path w="1625600" h="4444">
                <a:moveTo>
                  <a:pt x="624558" y="0"/>
                </a:moveTo>
                <a:lnTo>
                  <a:pt x="594775" y="0"/>
                </a:lnTo>
                <a:lnTo>
                  <a:pt x="594775" y="2639"/>
                </a:lnTo>
                <a:lnTo>
                  <a:pt x="596890" y="3871"/>
                </a:lnTo>
                <a:lnTo>
                  <a:pt x="623677" y="3871"/>
                </a:lnTo>
                <a:lnTo>
                  <a:pt x="624558" y="2639"/>
                </a:lnTo>
                <a:lnTo>
                  <a:pt x="625439" y="1759"/>
                </a:lnTo>
                <a:lnTo>
                  <a:pt x="624558" y="0"/>
                </a:lnTo>
                <a:close/>
              </a:path>
              <a:path w="1625600" h="4444">
                <a:moveTo>
                  <a:pt x="670202" y="0"/>
                </a:moveTo>
                <a:lnTo>
                  <a:pt x="640948" y="0"/>
                </a:lnTo>
                <a:lnTo>
                  <a:pt x="640948" y="2639"/>
                </a:lnTo>
                <a:lnTo>
                  <a:pt x="642710" y="3871"/>
                </a:lnTo>
                <a:lnTo>
                  <a:pt x="669321" y="3871"/>
                </a:lnTo>
                <a:lnTo>
                  <a:pt x="670202" y="2639"/>
                </a:lnTo>
                <a:lnTo>
                  <a:pt x="671083" y="1759"/>
                </a:lnTo>
                <a:lnTo>
                  <a:pt x="670202" y="0"/>
                </a:lnTo>
                <a:close/>
              </a:path>
              <a:path w="1625600" h="4444">
                <a:moveTo>
                  <a:pt x="716022" y="0"/>
                </a:moveTo>
                <a:lnTo>
                  <a:pt x="686591" y="0"/>
                </a:lnTo>
                <a:lnTo>
                  <a:pt x="686591" y="2639"/>
                </a:lnTo>
                <a:lnTo>
                  <a:pt x="688353" y="3871"/>
                </a:lnTo>
                <a:lnTo>
                  <a:pt x="715140" y="3871"/>
                </a:lnTo>
                <a:lnTo>
                  <a:pt x="716022" y="2639"/>
                </a:lnTo>
                <a:lnTo>
                  <a:pt x="716903" y="1759"/>
                </a:lnTo>
                <a:lnTo>
                  <a:pt x="716022" y="0"/>
                </a:lnTo>
                <a:close/>
              </a:path>
              <a:path w="1625600" h="4444">
                <a:moveTo>
                  <a:pt x="761841" y="0"/>
                </a:moveTo>
                <a:lnTo>
                  <a:pt x="732411" y="0"/>
                </a:lnTo>
                <a:lnTo>
                  <a:pt x="732411" y="2639"/>
                </a:lnTo>
                <a:lnTo>
                  <a:pt x="734173" y="3871"/>
                </a:lnTo>
                <a:lnTo>
                  <a:pt x="760960" y="3871"/>
                </a:lnTo>
                <a:lnTo>
                  <a:pt x="761841" y="2639"/>
                </a:lnTo>
                <a:lnTo>
                  <a:pt x="762722" y="1759"/>
                </a:lnTo>
                <a:lnTo>
                  <a:pt x="761841" y="0"/>
                </a:lnTo>
                <a:close/>
              </a:path>
              <a:path w="1625600" h="4444">
                <a:moveTo>
                  <a:pt x="807485" y="0"/>
                </a:moveTo>
                <a:lnTo>
                  <a:pt x="778231" y="0"/>
                </a:lnTo>
                <a:lnTo>
                  <a:pt x="778231" y="2639"/>
                </a:lnTo>
                <a:lnTo>
                  <a:pt x="779993" y="3871"/>
                </a:lnTo>
                <a:lnTo>
                  <a:pt x="806604" y="3871"/>
                </a:lnTo>
                <a:lnTo>
                  <a:pt x="807485" y="2639"/>
                </a:lnTo>
                <a:lnTo>
                  <a:pt x="808366" y="1759"/>
                </a:lnTo>
                <a:lnTo>
                  <a:pt x="807485" y="0"/>
                </a:lnTo>
                <a:close/>
              </a:path>
              <a:path w="1625600" h="4444">
                <a:moveTo>
                  <a:pt x="853305" y="0"/>
                </a:moveTo>
                <a:lnTo>
                  <a:pt x="823874" y="0"/>
                </a:lnTo>
                <a:lnTo>
                  <a:pt x="823874" y="2639"/>
                </a:lnTo>
                <a:lnTo>
                  <a:pt x="825636" y="3871"/>
                </a:lnTo>
                <a:lnTo>
                  <a:pt x="852423" y="3871"/>
                </a:lnTo>
                <a:lnTo>
                  <a:pt x="853305" y="2639"/>
                </a:lnTo>
                <a:lnTo>
                  <a:pt x="854186" y="1759"/>
                </a:lnTo>
                <a:lnTo>
                  <a:pt x="853305" y="0"/>
                </a:lnTo>
                <a:close/>
              </a:path>
              <a:path w="1625600" h="4444">
                <a:moveTo>
                  <a:pt x="899124" y="0"/>
                </a:moveTo>
                <a:lnTo>
                  <a:pt x="869694" y="0"/>
                </a:lnTo>
                <a:lnTo>
                  <a:pt x="869694" y="2639"/>
                </a:lnTo>
                <a:lnTo>
                  <a:pt x="871456" y="3871"/>
                </a:lnTo>
                <a:lnTo>
                  <a:pt x="898243" y="3871"/>
                </a:lnTo>
                <a:lnTo>
                  <a:pt x="899124" y="2639"/>
                </a:lnTo>
                <a:lnTo>
                  <a:pt x="900358" y="1759"/>
                </a:lnTo>
                <a:lnTo>
                  <a:pt x="899124" y="0"/>
                </a:lnTo>
                <a:close/>
              </a:path>
              <a:path w="1625600" h="4444">
                <a:moveTo>
                  <a:pt x="944768" y="0"/>
                </a:moveTo>
                <a:lnTo>
                  <a:pt x="915514" y="0"/>
                </a:lnTo>
                <a:lnTo>
                  <a:pt x="915514" y="2639"/>
                </a:lnTo>
                <a:lnTo>
                  <a:pt x="917100" y="3871"/>
                </a:lnTo>
                <a:lnTo>
                  <a:pt x="943887" y="3871"/>
                </a:lnTo>
                <a:lnTo>
                  <a:pt x="944768" y="2639"/>
                </a:lnTo>
                <a:lnTo>
                  <a:pt x="946002" y="1759"/>
                </a:lnTo>
                <a:lnTo>
                  <a:pt x="944768" y="0"/>
                </a:lnTo>
                <a:close/>
              </a:path>
              <a:path w="1625600" h="4444">
                <a:moveTo>
                  <a:pt x="990588" y="0"/>
                </a:moveTo>
                <a:lnTo>
                  <a:pt x="961157" y="0"/>
                </a:lnTo>
                <a:lnTo>
                  <a:pt x="961157" y="2639"/>
                </a:lnTo>
                <a:lnTo>
                  <a:pt x="962920" y="3871"/>
                </a:lnTo>
                <a:lnTo>
                  <a:pt x="989707" y="3871"/>
                </a:lnTo>
                <a:lnTo>
                  <a:pt x="990588" y="2639"/>
                </a:lnTo>
                <a:lnTo>
                  <a:pt x="991821" y="1759"/>
                </a:lnTo>
                <a:lnTo>
                  <a:pt x="990588" y="0"/>
                </a:lnTo>
                <a:close/>
              </a:path>
              <a:path w="1625600" h="4444">
                <a:moveTo>
                  <a:pt x="1036760" y="0"/>
                </a:moveTo>
                <a:lnTo>
                  <a:pt x="1006977" y="0"/>
                </a:lnTo>
                <a:lnTo>
                  <a:pt x="1006977" y="2639"/>
                </a:lnTo>
                <a:lnTo>
                  <a:pt x="1008739" y="3871"/>
                </a:lnTo>
                <a:lnTo>
                  <a:pt x="1035350" y="3871"/>
                </a:lnTo>
                <a:lnTo>
                  <a:pt x="1036760" y="2639"/>
                </a:lnTo>
                <a:lnTo>
                  <a:pt x="1037641" y="1759"/>
                </a:lnTo>
                <a:lnTo>
                  <a:pt x="1036760" y="0"/>
                </a:lnTo>
                <a:close/>
              </a:path>
              <a:path w="1625600" h="4444">
                <a:moveTo>
                  <a:pt x="1082403" y="0"/>
                </a:moveTo>
                <a:lnTo>
                  <a:pt x="1052621" y="0"/>
                </a:lnTo>
                <a:lnTo>
                  <a:pt x="1052621" y="2639"/>
                </a:lnTo>
                <a:lnTo>
                  <a:pt x="1054912" y="3871"/>
                </a:lnTo>
                <a:lnTo>
                  <a:pt x="1081170" y="3871"/>
                </a:lnTo>
                <a:lnTo>
                  <a:pt x="1083285" y="1759"/>
                </a:lnTo>
                <a:lnTo>
                  <a:pt x="1082403" y="0"/>
                </a:lnTo>
                <a:close/>
              </a:path>
              <a:path w="1625600" h="4444">
                <a:moveTo>
                  <a:pt x="1128223" y="0"/>
                </a:moveTo>
                <a:lnTo>
                  <a:pt x="1098440" y="0"/>
                </a:lnTo>
                <a:lnTo>
                  <a:pt x="1098440" y="2639"/>
                </a:lnTo>
                <a:lnTo>
                  <a:pt x="1100555" y="3871"/>
                </a:lnTo>
                <a:lnTo>
                  <a:pt x="1126990" y="3871"/>
                </a:lnTo>
                <a:lnTo>
                  <a:pt x="1129104" y="1759"/>
                </a:lnTo>
                <a:lnTo>
                  <a:pt x="1128223" y="0"/>
                </a:lnTo>
                <a:close/>
              </a:path>
              <a:path w="1625600" h="4444">
                <a:moveTo>
                  <a:pt x="1174043" y="0"/>
                </a:moveTo>
                <a:lnTo>
                  <a:pt x="1144260" y="0"/>
                </a:lnTo>
                <a:lnTo>
                  <a:pt x="1144260" y="2639"/>
                </a:lnTo>
                <a:lnTo>
                  <a:pt x="1146375" y="3871"/>
                </a:lnTo>
                <a:lnTo>
                  <a:pt x="1172633" y="3871"/>
                </a:lnTo>
                <a:lnTo>
                  <a:pt x="1174043" y="2639"/>
                </a:lnTo>
                <a:lnTo>
                  <a:pt x="1174924" y="1759"/>
                </a:lnTo>
                <a:lnTo>
                  <a:pt x="1174043" y="0"/>
                </a:lnTo>
                <a:close/>
              </a:path>
              <a:path w="1625600" h="4444">
                <a:moveTo>
                  <a:pt x="1219687" y="0"/>
                </a:moveTo>
                <a:lnTo>
                  <a:pt x="1189904" y="0"/>
                </a:lnTo>
                <a:lnTo>
                  <a:pt x="1189904" y="2639"/>
                </a:lnTo>
                <a:lnTo>
                  <a:pt x="1192195" y="3871"/>
                </a:lnTo>
                <a:lnTo>
                  <a:pt x="1218805" y="3871"/>
                </a:lnTo>
                <a:lnTo>
                  <a:pt x="1219687" y="2639"/>
                </a:lnTo>
                <a:lnTo>
                  <a:pt x="1220568" y="1759"/>
                </a:lnTo>
                <a:lnTo>
                  <a:pt x="1219687" y="0"/>
                </a:lnTo>
                <a:close/>
              </a:path>
              <a:path w="1625600" h="4444">
                <a:moveTo>
                  <a:pt x="1265506" y="0"/>
                </a:moveTo>
                <a:lnTo>
                  <a:pt x="1235723" y="0"/>
                </a:lnTo>
                <a:lnTo>
                  <a:pt x="1235723" y="2639"/>
                </a:lnTo>
                <a:lnTo>
                  <a:pt x="1237838" y="3871"/>
                </a:lnTo>
                <a:lnTo>
                  <a:pt x="1264625" y="3871"/>
                </a:lnTo>
                <a:lnTo>
                  <a:pt x="1265506" y="2639"/>
                </a:lnTo>
                <a:lnTo>
                  <a:pt x="1266387" y="1759"/>
                </a:lnTo>
                <a:lnTo>
                  <a:pt x="1265506" y="0"/>
                </a:lnTo>
                <a:close/>
              </a:path>
              <a:path w="1625600" h="4444">
                <a:moveTo>
                  <a:pt x="1311326" y="0"/>
                </a:moveTo>
                <a:lnTo>
                  <a:pt x="1281543" y="0"/>
                </a:lnTo>
                <a:lnTo>
                  <a:pt x="1281543" y="2639"/>
                </a:lnTo>
                <a:lnTo>
                  <a:pt x="1283658" y="3871"/>
                </a:lnTo>
                <a:lnTo>
                  <a:pt x="1310445" y="3871"/>
                </a:lnTo>
                <a:lnTo>
                  <a:pt x="1311326" y="2639"/>
                </a:lnTo>
                <a:lnTo>
                  <a:pt x="1312207" y="1759"/>
                </a:lnTo>
                <a:lnTo>
                  <a:pt x="1311326" y="0"/>
                </a:lnTo>
                <a:close/>
              </a:path>
              <a:path w="1625600" h="4444">
                <a:moveTo>
                  <a:pt x="1356970" y="0"/>
                </a:moveTo>
                <a:lnTo>
                  <a:pt x="1327187" y="0"/>
                </a:lnTo>
                <a:lnTo>
                  <a:pt x="1327187" y="2639"/>
                </a:lnTo>
                <a:lnTo>
                  <a:pt x="1329302" y="3871"/>
                </a:lnTo>
                <a:lnTo>
                  <a:pt x="1356088" y="3871"/>
                </a:lnTo>
                <a:lnTo>
                  <a:pt x="1356970" y="2639"/>
                </a:lnTo>
                <a:lnTo>
                  <a:pt x="1357851" y="1759"/>
                </a:lnTo>
                <a:lnTo>
                  <a:pt x="1356970" y="0"/>
                </a:lnTo>
                <a:close/>
              </a:path>
              <a:path w="1625600" h="4444">
                <a:moveTo>
                  <a:pt x="1402789" y="0"/>
                </a:moveTo>
                <a:lnTo>
                  <a:pt x="1373359" y="0"/>
                </a:lnTo>
                <a:lnTo>
                  <a:pt x="1373359" y="2639"/>
                </a:lnTo>
                <a:lnTo>
                  <a:pt x="1375121" y="3871"/>
                </a:lnTo>
                <a:lnTo>
                  <a:pt x="1401908" y="3871"/>
                </a:lnTo>
                <a:lnTo>
                  <a:pt x="1402789" y="2639"/>
                </a:lnTo>
                <a:lnTo>
                  <a:pt x="1403671" y="1759"/>
                </a:lnTo>
                <a:lnTo>
                  <a:pt x="1402789" y="0"/>
                </a:lnTo>
                <a:close/>
              </a:path>
              <a:path w="1625600" h="4444">
                <a:moveTo>
                  <a:pt x="1448433" y="0"/>
                </a:moveTo>
                <a:lnTo>
                  <a:pt x="1419179" y="0"/>
                </a:lnTo>
                <a:lnTo>
                  <a:pt x="1419179" y="2639"/>
                </a:lnTo>
                <a:lnTo>
                  <a:pt x="1420941" y="3871"/>
                </a:lnTo>
                <a:lnTo>
                  <a:pt x="1447728" y="3871"/>
                </a:lnTo>
                <a:lnTo>
                  <a:pt x="1448433" y="2639"/>
                </a:lnTo>
                <a:lnTo>
                  <a:pt x="1449314" y="1759"/>
                </a:lnTo>
                <a:lnTo>
                  <a:pt x="1448433" y="0"/>
                </a:lnTo>
                <a:close/>
              </a:path>
              <a:path w="1625600" h="4444">
                <a:moveTo>
                  <a:pt x="1494253" y="0"/>
                </a:moveTo>
                <a:lnTo>
                  <a:pt x="1464999" y="0"/>
                </a:lnTo>
                <a:lnTo>
                  <a:pt x="1464999" y="2639"/>
                </a:lnTo>
                <a:lnTo>
                  <a:pt x="1466585" y="3871"/>
                </a:lnTo>
                <a:lnTo>
                  <a:pt x="1493372" y="3871"/>
                </a:lnTo>
                <a:lnTo>
                  <a:pt x="1494253" y="2639"/>
                </a:lnTo>
                <a:lnTo>
                  <a:pt x="1495134" y="1759"/>
                </a:lnTo>
                <a:lnTo>
                  <a:pt x="1494253" y="0"/>
                </a:lnTo>
                <a:close/>
              </a:path>
              <a:path w="1625600" h="4444">
                <a:moveTo>
                  <a:pt x="1540072" y="0"/>
                </a:moveTo>
                <a:lnTo>
                  <a:pt x="1510642" y="0"/>
                </a:lnTo>
                <a:lnTo>
                  <a:pt x="1510642" y="2639"/>
                </a:lnTo>
                <a:lnTo>
                  <a:pt x="1512404" y="3871"/>
                </a:lnTo>
                <a:lnTo>
                  <a:pt x="1539191" y="3871"/>
                </a:lnTo>
                <a:lnTo>
                  <a:pt x="1540072" y="2639"/>
                </a:lnTo>
                <a:lnTo>
                  <a:pt x="1540954" y="1759"/>
                </a:lnTo>
                <a:lnTo>
                  <a:pt x="1540072" y="0"/>
                </a:lnTo>
                <a:close/>
              </a:path>
              <a:path w="1625600" h="4444">
                <a:moveTo>
                  <a:pt x="1585716" y="0"/>
                </a:moveTo>
                <a:lnTo>
                  <a:pt x="1556462" y="0"/>
                </a:lnTo>
                <a:lnTo>
                  <a:pt x="1556462" y="2639"/>
                </a:lnTo>
                <a:lnTo>
                  <a:pt x="1558224" y="3871"/>
                </a:lnTo>
                <a:lnTo>
                  <a:pt x="1584835" y="3871"/>
                </a:lnTo>
                <a:lnTo>
                  <a:pt x="1585716" y="2639"/>
                </a:lnTo>
                <a:lnTo>
                  <a:pt x="1586597" y="1759"/>
                </a:lnTo>
                <a:lnTo>
                  <a:pt x="1585716" y="0"/>
                </a:lnTo>
                <a:close/>
              </a:path>
              <a:path w="1625600" h="4444">
                <a:moveTo>
                  <a:pt x="1625015" y="0"/>
                </a:moveTo>
                <a:lnTo>
                  <a:pt x="1602105" y="0"/>
                </a:lnTo>
                <a:lnTo>
                  <a:pt x="1602105" y="2639"/>
                </a:lnTo>
                <a:lnTo>
                  <a:pt x="1603868" y="3871"/>
                </a:lnTo>
                <a:lnTo>
                  <a:pt x="1622900" y="3871"/>
                </a:lnTo>
                <a:lnTo>
                  <a:pt x="1625015" y="2639"/>
                </a:lnTo>
                <a:lnTo>
                  <a:pt x="16250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2440" y="1182822"/>
            <a:ext cx="1627505" cy="0"/>
          </a:xfrm>
          <a:custGeom>
            <a:avLst/>
            <a:gdLst/>
            <a:ahLst/>
            <a:cxnLst/>
            <a:rect l="l" t="t" r="r" b="b"/>
            <a:pathLst>
              <a:path w="1627504">
                <a:moveTo>
                  <a:pt x="0" y="0"/>
                </a:moveTo>
                <a:lnTo>
                  <a:pt x="1627479" y="0"/>
                </a:lnTo>
              </a:path>
            </a:pathLst>
          </a:custGeom>
          <a:ln w="633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78128" y="1093561"/>
            <a:ext cx="635635" cy="166370"/>
          </a:xfrm>
          <a:custGeom>
            <a:avLst/>
            <a:gdLst/>
            <a:ahLst/>
            <a:cxnLst/>
            <a:rect l="l" t="t" r="r" b="b"/>
            <a:pathLst>
              <a:path w="635635" h="166369">
                <a:moveTo>
                  <a:pt x="0" y="166338"/>
                </a:moveTo>
                <a:lnTo>
                  <a:pt x="635379" y="166338"/>
                </a:lnTo>
                <a:lnTo>
                  <a:pt x="635379" y="0"/>
                </a:lnTo>
                <a:lnTo>
                  <a:pt x="0" y="0"/>
                </a:lnTo>
                <a:lnTo>
                  <a:pt x="0" y="1663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98026" y="960883"/>
            <a:ext cx="2132330" cy="432434"/>
          </a:xfrm>
          <a:prstGeom prst="rect">
            <a:avLst/>
          </a:prstGeom>
          <a:ln w="3880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85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tabLst>
                <a:tab pos="1484630" algn="l"/>
              </a:tabLst>
            </a:pPr>
            <a:r>
              <a:rPr sz="1000" spc="-5" dirty="0">
                <a:latin typeface="宋体"/>
                <a:cs typeface="宋体"/>
              </a:rPr>
              <a:t>业务需求	需要的特性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93972" y="1393112"/>
            <a:ext cx="0" cy="443865"/>
          </a:xfrm>
          <a:custGeom>
            <a:avLst/>
            <a:gdLst/>
            <a:ahLst/>
            <a:cxnLst/>
            <a:rect l="l" t="t" r="r" b="b"/>
            <a:pathLst>
              <a:path h="443864">
                <a:moveTo>
                  <a:pt x="0" y="0"/>
                </a:moveTo>
                <a:lnTo>
                  <a:pt x="0" y="443455"/>
                </a:lnTo>
              </a:path>
            </a:pathLst>
          </a:custGeom>
          <a:ln w="38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61598" y="1828824"/>
            <a:ext cx="64769" cy="97155"/>
          </a:xfrm>
          <a:custGeom>
            <a:avLst/>
            <a:gdLst/>
            <a:ahLst/>
            <a:cxnLst/>
            <a:rect l="l" t="t" r="r" b="b"/>
            <a:pathLst>
              <a:path w="64769" h="97155">
                <a:moveTo>
                  <a:pt x="64746" y="0"/>
                </a:moveTo>
                <a:lnTo>
                  <a:pt x="0" y="0"/>
                </a:lnTo>
                <a:lnTo>
                  <a:pt x="32373" y="96961"/>
                </a:lnTo>
                <a:lnTo>
                  <a:pt x="647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2440" y="2058957"/>
            <a:ext cx="1635233" cy="1663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98026" y="1925751"/>
            <a:ext cx="2139315" cy="432434"/>
          </a:xfrm>
          <a:prstGeom prst="rect">
            <a:avLst/>
          </a:prstGeom>
          <a:ln w="3880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85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tabLst>
                <a:tab pos="1491615" algn="l"/>
              </a:tabLst>
            </a:pPr>
            <a:r>
              <a:rPr sz="1000" spc="-5" dirty="0">
                <a:latin typeface="宋体"/>
                <a:cs typeface="宋体"/>
              </a:rPr>
              <a:t>用户需求	具体的需求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43348" y="1848390"/>
            <a:ext cx="534035" cy="492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3200"/>
              </a:lnSpc>
              <a:spcBef>
                <a:spcPts val="55"/>
              </a:spcBef>
            </a:pPr>
            <a:r>
              <a:rPr sz="1000" spc="-5" dirty="0">
                <a:latin typeface="宋体"/>
                <a:cs typeface="宋体"/>
              </a:rPr>
              <a:t>用户需求 文</a:t>
            </a:r>
            <a:r>
              <a:rPr sz="1000" spc="5" dirty="0">
                <a:latin typeface="宋体"/>
                <a:cs typeface="宋体"/>
              </a:rPr>
              <a:t>档</a:t>
            </a:r>
            <a:r>
              <a:rPr sz="1000" spc="-5" dirty="0">
                <a:latin typeface="宋体"/>
                <a:cs typeface="宋体"/>
              </a:rPr>
              <a:t>（用 例文</a:t>
            </a:r>
            <a:r>
              <a:rPr sz="1000" dirty="0">
                <a:latin typeface="宋体"/>
                <a:cs typeface="宋体"/>
              </a:rPr>
              <a:t>档</a:t>
            </a:r>
            <a:r>
              <a:rPr sz="1000" spc="-5" dirty="0">
                <a:latin typeface="宋体"/>
                <a:cs typeface="宋体"/>
              </a:rPr>
              <a:t>）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43348" y="2689900"/>
            <a:ext cx="533400" cy="4927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ctr">
              <a:lnSpc>
                <a:spcPct val="103499"/>
              </a:lnSpc>
              <a:spcBef>
                <a:spcPts val="50"/>
              </a:spcBef>
            </a:pPr>
            <a:r>
              <a:rPr sz="1000" spc="-5" dirty="0">
                <a:latin typeface="宋体"/>
                <a:cs typeface="宋体"/>
              </a:rPr>
              <a:t>系统需求 规格说明 文档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43348" y="3576460"/>
            <a:ext cx="533400" cy="4914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3200"/>
              </a:lnSpc>
              <a:spcBef>
                <a:spcPts val="55"/>
              </a:spcBef>
            </a:pPr>
            <a:r>
              <a:rPr sz="1000" spc="-5" dirty="0">
                <a:latin typeface="宋体"/>
                <a:cs typeface="宋体"/>
              </a:rPr>
              <a:t>软件需求 规格说明 文档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43348" y="5023903"/>
            <a:ext cx="533400" cy="492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3200"/>
              </a:lnSpc>
              <a:spcBef>
                <a:spcPts val="55"/>
              </a:spcBef>
            </a:pPr>
            <a:r>
              <a:rPr sz="1000" spc="-5" dirty="0">
                <a:latin typeface="宋体"/>
                <a:cs typeface="宋体"/>
              </a:rPr>
              <a:t>硬件需求 规格说明 文档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43348" y="5807180"/>
            <a:ext cx="533400" cy="350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marR="5080" indent="-128270">
              <a:lnSpc>
                <a:spcPct val="106600"/>
              </a:lnSpc>
              <a:spcBef>
                <a:spcPts val="100"/>
              </a:spcBef>
            </a:pPr>
            <a:r>
              <a:rPr sz="1000" spc="-5" dirty="0">
                <a:latin typeface="宋体"/>
                <a:cs typeface="宋体"/>
              </a:rPr>
              <a:t>人机交互 文档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43348" y="4282294"/>
            <a:ext cx="533400" cy="4927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ctr">
              <a:lnSpc>
                <a:spcPct val="103499"/>
              </a:lnSpc>
              <a:spcBef>
                <a:spcPts val="50"/>
              </a:spcBef>
            </a:pPr>
            <a:r>
              <a:rPr sz="1000" spc="-5" dirty="0">
                <a:latin typeface="宋体"/>
                <a:cs typeface="宋体"/>
              </a:rPr>
              <a:t>接口需求 规格说明 文档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51521" y="3630945"/>
            <a:ext cx="992505" cy="432434"/>
          </a:xfrm>
          <a:prstGeom prst="rect">
            <a:avLst/>
          </a:prstGeom>
          <a:ln w="3880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8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000" spc="-5" dirty="0">
                <a:latin typeface="宋体"/>
                <a:cs typeface="宋体"/>
              </a:rPr>
              <a:t>软件需求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20900" y="5111595"/>
            <a:ext cx="991235" cy="432434"/>
          </a:xfrm>
          <a:custGeom>
            <a:avLst/>
            <a:gdLst/>
            <a:ahLst/>
            <a:cxnLst/>
            <a:rect l="l" t="t" r="r" b="b"/>
            <a:pathLst>
              <a:path w="991235" h="432435">
                <a:moveTo>
                  <a:pt x="0" y="432228"/>
                </a:moveTo>
                <a:lnTo>
                  <a:pt x="991046" y="432228"/>
                </a:lnTo>
                <a:lnTo>
                  <a:pt x="991046" y="0"/>
                </a:lnTo>
                <a:lnTo>
                  <a:pt x="0" y="0"/>
                </a:lnTo>
                <a:lnTo>
                  <a:pt x="0" y="432228"/>
                </a:lnTo>
                <a:close/>
              </a:path>
            </a:pathLst>
          </a:custGeom>
          <a:ln w="38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120900" y="5111595"/>
            <a:ext cx="991235" cy="432434"/>
          </a:xfrm>
          <a:prstGeom prst="rect">
            <a:avLst/>
          </a:prstGeom>
          <a:ln w="3880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850">
              <a:latin typeface="Times New Roman"/>
              <a:cs typeface="Times New Roman"/>
            </a:endParaRPr>
          </a:p>
          <a:p>
            <a:pPr marL="557530">
              <a:lnSpc>
                <a:spcPct val="100000"/>
              </a:lnSpc>
            </a:pPr>
            <a:r>
              <a:rPr sz="1000" spc="-5" dirty="0">
                <a:latin typeface="宋体"/>
                <a:cs typeface="宋体"/>
              </a:rPr>
              <a:t>需求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98293" y="5260781"/>
            <a:ext cx="381000" cy="126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</a:pPr>
            <a:r>
              <a:rPr sz="1000" spc="-5" dirty="0">
                <a:latin typeface="宋体"/>
                <a:cs typeface="宋体"/>
              </a:rPr>
              <a:t>硬件件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96751" y="5838577"/>
            <a:ext cx="992505" cy="432434"/>
          </a:xfrm>
          <a:prstGeom prst="rect">
            <a:avLst/>
          </a:prstGeom>
          <a:ln w="3880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85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</a:pPr>
            <a:r>
              <a:rPr sz="1000" spc="-5" dirty="0">
                <a:latin typeface="宋体"/>
                <a:cs typeface="宋体"/>
              </a:rPr>
              <a:t>用户界面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593972" y="3197027"/>
            <a:ext cx="676910" cy="434340"/>
          </a:xfrm>
          <a:custGeom>
            <a:avLst/>
            <a:gdLst/>
            <a:ahLst/>
            <a:cxnLst/>
            <a:rect l="l" t="t" r="r" b="b"/>
            <a:pathLst>
              <a:path w="676910" h="434339">
                <a:moveTo>
                  <a:pt x="0" y="0"/>
                </a:moveTo>
                <a:lnTo>
                  <a:pt x="0" y="263609"/>
                </a:lnTo>
                <a:lnTo>
                  <a:pt x="676458" y="263609"/>
                </a:lnTo>
                <a:lnTo>
                  <a:pt x="676458" y="433953"/>
                </a:lnTo>
              </a:path>
            </a:pathLst>
          </a:custGeom>
          <a:ln w="38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593972" y="3197027"/>
            <a:ext cx="0" cy="1915160"/>
          </a:xfrm>
          <a:custGeom>
            <a:avLst/>
            <a:gdLst/>
            <a:ahLst/>
            <a:cxnLst/>
            <a:rect l="l" t="t" r="r" b="b"/>
            <a:pathLst>
              <a:path h="1915160">
                <a:moveTo>
                  <a:pt x="0" y="1914585"/>
                </a:moveTo>
                <a:lnTo>
                  <a:pt x="0" y="0"/>
                </a:lnTo>
              </a:path>
            </a:pathLst>
          </a:custGeom>
          <a:ln w="38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47811" y="3460637"/>
            <a:ext cx="946785" cy="2378075"/>
          </a:xfrm>
          <a:custGeom>
            <a:avLst/>
            <a:gdLst/>
            <a:ahLst/>
            <a:cxnLst/>
            <a:rect l="l" t="t" r="r" b="b"/>
            <a:pathLst>
              <a:path w="946785" h="2378075">
                <a:moveTo>
                  <a:pt x="0" y="2377944"/>
                </a:moveTo>
                <a:lnTo>
                  <a:pt x="0" y="0"/>
                </a:lnTo>
                <a:lnTo>
                  <a:pt x="946160" y="0"/>
                </a:lnTo>
              </a:path>
            </a:pathLst>
          </a:custGeom>
          <a:ln w="38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113940" y="2888853"/>
            <a:ext cx="1635409" cy="1663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120900" y="2764798"/>
            <a:ext cx="2139315" cy="432434"/>
          </a:xfrm>
          <a:prstGeom prst="rect">
            <a:avLst/>
          </a:prstGeom>
          <a:ln w="3880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85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tabLst>
                <a:tab pos="1491615" algn="l"/>
              </a:tabLst>
            </a:pPr>
            <a:r>
              <a:rPr sz="1000" spc="-5" dirty="0">
                <a:latin typeface="宋体"/>
                <a:cs typeface="宋体"/>
              </a:rPr>
              <a:t>系统需求	</a:t>
            </a:r>
            <a:r>
              <a:rPr sz="1500" spc="-7" baseline="2777" dirty="0">
                <a:latin typeface="宋体"/>
                <a:cs typeface="宋体"/>
              </a:rPr>
              <a:t>细化的需求</a:t>
            </a:r>
            <a:endParaRPr sz="1500" baseline="2777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745371" y="3871713"/>
            <a:ext cx="989703" cy="63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113940" y="5331651"/>
            <a:ext cx="1589590" cy="63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912860" y="4065108"/>
            <a:ext cx="1807940" cy="10522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192326" y="6049962"/>
            <a:ext cx="2541905" cy="4445"/>
          </a:xfrm>
          <a:custGeom>
            <a:avLst/>
            <a:gdLst/>
            <a:ahLst/>
            <a:cxnLst/>
            <a:rect l="l" t="t" r="r" b="b"/>
            <a:pathLst>
              <a:path w="2541904" h="4445">
                <a:moveTo>
                  <a:pt x="29359" y="0"/>
                </a:moveTo>
                <a:lnTo>
                  <a:pt x="0" y="0"/>
                </a:lnTo>
                <a:lnTo>
                  <a:pt x="0" y="3009"/>
                </a:lnTo>
                <a:lnTo>
                  <a:pt x="1727" y="3871"/>
                </a:lnTo>
                <a:lnTo>
                  <a:pt x="28496" y="3871"/>
                </a:lnTo>
                <a:lnTo>
                  <a:pt x="29359" y="3009"/>
                </a:lnTo>
                <a:lnTo>
                  <a:pt x="30223" y="1724"/>
                </a:lnTo>
                <a:lnTo>
                  <a:pt x="29359" y="0"/>
                </a:lnTo>
                <a:close/>
              </a:path>
              <a:path w="2541904" h="4445">
                <a:moveTo>
                  <a:pt x="75109" y="0"/>
                </a:moveTo>
                <a:lnTo>
                  <a:pt x="45766" y="0"/>
                </a:lnTo>
                <a:lnTo>
                  <a:pt x="45766" y="3009"/>
                </a:lnTo>
                <a:lnTo>
                  <a:pt x="47493" y="3871"/>
                </a:lnTo>
                <a:lnTo>
                  <a:pt x="74245" y="3871"/>
                </a:lnTo>
                <a:lnTo>
                  <a:pt x="75109" y="3009"/>
                </a:lnTo>
                <a:lnTo>
                  <a:pt x="75972" y="1724"/>
                </a:lnTo>
                <a:lnTo>
                  <a:pt x="75109" y="0"/>
                </a:lnTo>
                <a:close/>
              </a:path>
              <a:path w="2541904" h="4445">
                <a:moveTo>
                  <a:pt x="120858" y="0"/>
                </a:moveTo>
                <a:lnTo>
                  <a:pt x="91516" y="0"/>
                </a:lnTo>
                <a:lnTo>
                  <a:pt x="91516" y="3009"/>
                </a:lnTo>
                <a:lnTo>
                  <a:pt x="93243" y="3871"/>
                </a:lnTo>
                <a:lnTo>
                  <a:pt x="119994" y="3871"/>
                </a:lnTo>
                <a:lnTo>
                  <a:pt x="120858" y="3009"/>
                </a:lnTo>
                <a:lnTo>
                  <a:pt x="121721" y="1724"/>
                </a:lnTo>
                <a:lnTo>
                  <a:pt x="120858" y="0"/>
                </a:lnTo>
                <a:close/>
              </a:path>
              <a:path w="2541904" h="4445">
                <a:moveTo>
                  <a:pt x="166625" y="0"/>
                </a:moveTo>
                <a:lnTo>
                  <a:pt x="137265" y="0"/>
                </a:lnTo>
                <a:lnTo>
                  <a:pt x="137265" y="3009"/>
                </a:lnTo>
                <a:lnTo>
                  <a:pt x="138992" y="3871"/>
                </a:lnTo>
                <a:lnTo>
                  <a:pt x="165761" y="3871"/>
                </a:lnTo>
                <a:lnTo>
                  <a:pt x="166625" y="3009"/>
                </a:lnTo>
                <a:lnTo>
                  <a:pt x="167488" y="1724"/>
                </a:lnTo>
                <a:lnTo>
                  <a:pt x="166625" y="0"/>
                </a:lnTo>
                <a:close/>
              </a:path>
              <a:path w="2541904" h="4445">
                <a:moveTo>
                  <a:pt x="212374" y="0"/>
                </a:moveTo>
                <a:lnTo>
                  <a:pt x="183014" y="0"/>
                </a:lnTo>
                <a:lnTo>
                  <a:pt x="183014" y="3009"/>
                </a:lnTo>
                <a:lnTo>
                  <a:pt x="184741" y="3871"/>
                </a:lnTo>
                <a:lnTo>
                  <a:pt x="211511" y="3871"/>
                </a:lnTo>
                <a:lnTo>
                  <a:pt x="212374" y="3009"/>
                </a:lnTo>
                <a:lnTo>
                  <a:pt x="213238" y="1724"/>
                </a:lnTo>
                <a:lnTo>
                  <a:pt x="212374" y="0"/>
                </a:lnTo>
                <a:close/>
              </a:path>
              <a:path w="2541904" h="4445">
                <a:moveTo>
                  <a:pt x="258123" y="0"/>
                </a:moveTo>
                <a:lnTo>
                  <a:pt x="228781" y="0"/>
                </a:lnTo>
                <a:lnTo>
                  <a:pt x="228781" y="3009"/>
                </a:lnTo>
                <a:lnTo>
                  <a:pt x="230508" y="3871"/>
                </a:lnTo>
                <a:lnTo>
                  <a:pt x="257260" y="3871"/>
                </a:lnTo>
                <a:lnTo>
                  <a:pt x="259428" y="1724"/>
                </a:lnTo>
                <a:lnTo>
                  <a:pt x="258123" y="0"/>
                </a:lnTo>
                <a:close/>
              </a:path>
              <a:path w="2541904" h="4445">
                <a:moveTo>
                  <a:pt x="303873" y="0"/>
                </a:moveTo>
                <a:lnTo>
                  <a:pt x="274530" y="0"/>
                </a:lnTo>
                <a:lnTo>
                  <a:pt x="274530" y="3009"/>
                </a:lnTo>
                <a:lnTo>
                  <a:pt x="276257" y="3871"/>
                </a:lnTo>
                <a:lnTo>
                  <a:pt x="303027" y="3871"/>
                </a:lnTo>
                <a:lnTo>
                  <a:pt x="305177" y="1724"/>
                </a:lnTo>
                <a:lnTo>
                  <a:pt x="303873" y="0"/>
                </a:lnTo>
                <a:close/>
              </a:path>
              <a:path w="2541904" h="4445">
                <a:moveTo>
                  <a:pt x="349640" y="0"/>
                </a:moveTo>
                <a:lnTo>
                  <a:pt x="320280" y="0"/>
                </a:lnTo>
                <a:lnTo>
                  <a:pt x="320280" y="3009"/>
                </a:lnTo>
                <a:lnTo>
                  <a:pt x="322007" y="3871"/>
                </a:lnTo>
                <a:lnTo>
                  <a:pt x="348776" y="3871"/>
                </a:lnTo>
                <a:lnTo>
                  <a:pt x="350926" y="1724"/>
                </a:lnTo>
                <a:lnTo>
                  <a:pt x="349640" y="0"/>
                </a:lnTo>
                <a:close/>
              </a:path>
              <a:path w="2541904" h="4445">
                <a:moveTo>
                  <a:pt x="395829" y="0"/>
                </a:moveTo>
                <a:lnTo>
                  <a:pt x="366047" y="0"/>
                </a:lnTo>
                <a:lnTo>
                  <a:pt x="366047" y="3009"/>
                </a:lnTo>
                <a:lnTo>
                  <a:pt x="367756" y="3871"/>
                </a:lnTo>
                <a:lnTo>
                  <a:pt x="394525" y="3871"/>
                </a:lnTo>
                <a:lnTo>
                  <a:pt x="395829" y="3009"/>
                </a:lnTo>
                <a:lnTo>
                  <a:pt x="396693" y="1724"/>
                </a:lnTo>
                <a:lnTo>
                  <a:pt x="395829" y="0"/>
                </a:lnTo>
                <a:close/>
              </a:path>
              <a:path w="2541904" h="4445">
                <a:moveTo>
                  <a:pt x="441579" y="0"/>
                </a:moveTo>
                <a:lnTo>
                  <a:pt x="411796" y="0"/>
                </a:lnTo>
                <a:lnTo>
                  <a:pt x="411796" y="3009"/>
                </a:lnTo>
                <a:lnTo>
                  <a:pt x="413523" y="3871"/>
                </a:lnTo>
                <a:lnTo>
                  <a:pt x="440275" y="3871"/>
                </a:lnTo>
                <a:lnTo>
                  <a:pt x="441579" y="3009"/>
                </a:lnTo>
                <a:lnTo>
                  <a:pt x="442442" y="1724"/>
                </a:lnTo>
                <a:lnTo>
                  <a:pt x="441579" y="0"/>
                </a:lnTo>
                <a:close/>
              </a:path>
              <a:path w="2541904" h="4445">
                <a:moveTo>
                  <a:pt x="487328" y="0"/>
                </a:moveTo>
                <a:lnTo>
                  <a:pt x="457545" y="0"/>
                </a:lnTo>
                <a:lnTo>
                  <a:pt x="457545" y="3009"/>
                </a:lnTo>
                <a:lnTo>
                  <a:pt x="459713" y="3871"/>
                </a:lnTo>
                <a:lnTo>
                  <a:pt x="486042" y="3871"/>
                </a:lnTo>
                <a:lnTo>
                  <a:pt x="487328" y="3009"/>
                </a:lnTo>
                <a:lnTo>
                  <a:pt x="488192" y="1724"/>
                </a:lnTo>
                <a:lnTo>
                  <a:pt x="487328" y="0"/>
                </a:lnTo>
                <a:close/>
              </a:path>
              <a:path w="2541904" h="4445">
                <a:moveTo>
                  <a:pt x="533077" y="0"/>
                </a:moveTo>
                <a:lnTo>
                  <a:pt x="503294" y="0"/>
                </a:lnTo>
                <a:lnTo>
                  <a:pt x="503294" y="3009"/>
                </a:lnTo>
                <a:lnTo>
                  <a:pt x="505462" y="3871"/>
                </a:lnTo>
                <a:lnTo>
                  <a:pt x="531791" y="3871"/>
                </a:lnTo>
                <a:lnTo>
                  <a:pt x="533077" y="3009"/>
                </a:lnTo>
                <a:lnTo>
                  <a:pt x="533941" y="1724"/>
                </a:lnTo>
                <a:lnTo>
                  <a:pt x="533077" y="0"/>
                </a:lnTo>
                <a:close/>
              </a:path>
              <a:path w="2541904" h="4445">
                <a:moveTo>
                  <a:pt x="578844" y="0"/>
                </a:moveTo>
                <a:lnTo>
                  <a:pt x="549061" y="0"/>
                </a:lnTo>
                <a:lnTo>
                  <a:pt x="549061" y="3009"/>
                </a:lnTo>
                <a:lnTo>
                  <a:pt x="551211" y="3871"/>
                </a:lnTo>
                <a:lnTo>
                  <a:pt x="577981" y="3871"/>
                </a:lnTo>
                <a:lnTo>
                  <a:pt x="578844" y="3009"/>
                </a:lnTo>
                <a:lnTo>
                  <a:pt x="579708" y="1724"/>
                </a:lnTo>
                <a:lnTo>
                  <a:pt x="578844" y="0"/>
                </a:lnTo>
                <a:close/>
              </a:path>
              <a:path w="2541904" h="4445">
                <a:moveTo>
                  <a:pt x="624593" y="0"/>
                </a:moveTo>
                <a:lnTo>
                  <a:pt x="594811" y="0"/>
                </a:lnTo>
                <a:lnTo>
                  <a:pt x="594811" y="3009"/>
                </a:lnTo>
                <a:lnTo>
                  <a:pt x="596961" y="3871"/>
                </a:lnTo>
                <a:lnTo>
                  <a:pt x="623730" y="3871"/>
                </a:lnTo>
                <a:lnTo>
                  <a:pt x="624593" y="3009"/>
                </a:lnTo>
                <a:lnTo>
                  <a:pt x="625457" y="1724"/>
                </a:lnTo>
                <a:lnTo>
                  <a:pt x="624593" y="0"/>
                </a:lnTo>
                <a:close/>
              </a:path>
              <a:path w="2541904" h="4445">
                <a:moveTo>
                  <a:pt x="670307" y="0"/>
                </a:moveTo>
                <a:lnTo>
                  <a:pt x="640525" y="0"/>
                </a:lnTo>
                <a:lnTo>
                  <a:pt x="640525" y="3009"/>
                </a:lnTo>
                <a:lnTo>
                  <a:pt x="642639" y="3871"/>
                </a:lnTo>
                <a:lnTo>
                  <a:pt x="669426" y="3871"/>
                </a:lnTo>
                <a:lnTo>
                  <a:pt x="670307" y="3009"/>
                </a:lnTo>
                <a:lnTo>
                  <a:pt x="671189" y="1724"/>
                </a:lnTo>
                <a:lnTo>
                  <a:pt x="670307" y="0"/>
                </a:lnTo>
                <a:close/>
              </a:path>
              <a:path w="2541904" h="4445">
                <a:moveTo>
                  <a:pt x="716127" y="0"/>
                </a:moveTo>
                <a:lnTo>
                  <a:pt x="686344" y="0"/>
                </a:lnTo>
                <a:lnTo>
                  <a:pt x="686344" y="3009"/>
                </a:lnTo>
                <a:lnTo>
                  <a:pt x="688459" y="3871"/>
                </a:lnTo>
                <a:lnTo>
                  <a:pt x="715246" y="3871"/>
                </a:lnTo>
                <a:lnTo>
                  <a:pt x="716127" y="3009"/>
                </a:lnTo>
                <a:lnTo>
                  <a:pt x="717008" y="1724"/>
                </a:lnTo>
                <a:lnTo>
                  <a:pt x="716127" y="0"/>
                </a:lnTo>
                <a:close/>
              </a:path>
              <a:path w="2541904" h="4445">
                <a:moveTo>
                  <a:pt x="761771" y="0"/>
                </a:moveTo>
                <a:lnTo>
                  <a:pt x="732517" y="0"/>
                </a:lnTo>
                <a:lnTo>
                  <a:pt x="732517" y="3009"/>
                </a:lnTo>
                <a:lnTo>
                  <a:pt x="734279" y="3871"/>
                </a:lnTo>
                <a:lnTo>
                  <a:pt x="761066" y="3871"/>
                </a:lnTo>
                <a:lnTo>
                  <a:pt x="761771" y="3009"/>
                </a:lnTo>
                <a:lnTo>
                  <a:pt x="762652" y="1724"/>
                </a:lnTo>
                <a:lnTo>
                  <a:pt x="761771" y="0"/>
                </a:lnTo>
                <a:close/>
              </a:path>
              <a:path w="2541904" h="4445">
                <a:moveTo>
                  <a:pt x="807591" y="0"/>
                </a:moveTo>
                <a:lnTo>
                  <a:pt x="778336" y="0"/>
                </a:lnTo>
                <a:lnTo>
                  <a:pt x="778336" y="3009"/>
                </a:lnTo>
                <a:lnTo>
                  <a:pt x="779922" y="3871"/>
                </a:lnTo>
                <a:lnTo>
                  <a:pt x="806709" y="3871"/>
                </a:lnTo>
                <a:lnTo>
                  <a:pt x="807591" y="3009"/>
                </a:lnTo>
                <a:lnTo>
                  <a:pt x="808472" y="1724"/>
                </a:lnTo>
                <a:lnTo>
                  <a:pt x="807591" y="0"/>
                </a:lnTo>
                <a:close/>
              </a:path>
              <a:path w="2541904" h="4445">
                <a:moveTo>
                  <a:pt x="853410" y="0"/>
                </a:moveTo>
                <a:lnTo>
                  <a:pt x="823980" y="0"/>
                </a:lnTo>
                <a:lnTo>
                  <a:pt x="823980" y="3009"/>
                </a:lnTo>
                <a:lnTo>
                  <a:pt x="825742" y="3871"/>
                </a:lnTo>
                <a:lnTo>
                  <a:pt x="852529" y="3871"/>
                </a:lnTo>
                <a:lnTo>
                  <a:pt x="853410" y="3009"/>
                </a:lnTo>
                <a:lnTo>
                  <a:pt x="854291" y="1724"/>
                </a:lnTo>
                <a:lnTo>
                  <a:pt x="853410" y="0"/>
                </a:lnTo>
                <a:close/>
              </a:path>
              <a:path w="2541904" h="4445">
                <a:moveTo>
                  <a:pt x="899054" y="0"/>
                </a:moveTo>
                <a:lnTo>
                  <a:pt x="869800" y="0"/>
                </a:lnTo>
                <a:lnTo>
                  <a:pt x="869800" y="3009"/>
                </a:lnTo>
                <a:lnTo>
                  <a:pt x="871562" y="3871"/>
                </a:lnTo>
                <a:lnTo>
                  <a:pt x="898173" y="3871"/>
                </a:lnTo>
                <a:lnTo>
                  <a:pt x="899054" y="3009"/>
                </a:lnTo>
                <a:lnTo>
                  <a:pt x="899935" y="1724"/>
                </a:lnTo>
                <a:lnTo>
                  <a:pt x="899054" y="0"/>
                </a:lnTo>
                <a:close/>
              </a:path>
              <a:path w="2541904" h="4445">
                <a:moveTo>
                  <a:pt x="944874" y="0"/>
                </a:moveTo>
                <a:lnTo>
                  <a:pt x="915443" y="0"/>
                </a:lnTo>
                <a:lnTo>
                  <a:pt x="915443" y="3009"/>
                </a:lnTo>
                <a:lnTo>
                  <a:pt x="917206" y="3871"/>
                </a:lnTo>
                <a:lnTo>
                  <a:pt x="943992" y="3871"/>
                </a:lnTo>
                <a:lnTo>
                  <a:pt x="944874" y="3009"/>
                </a:lnTo>
                <a:lnTo>
                  <a:pt x="945755" y="1724"/>
                </a:lnTo>
                <a:lnTo>
                  <a:pt x="944874" y="0"/>
                </a:lnTo>
                <a:close/>
              </a:path>
              <a:path w="2541904" h="4445">
                <a:moveTo>
                  <a:pt x="990693" y="0"/>
                </a:moveTo>
                <a:lnTo>
                  <a:pt x="961263" y="0"/>
                </a:lnTo>
                <a:lnTo>
                  <a:pt x="961263" y="3009"/>
                </a:lnTo>
                <a:lnTo>
                  <a:pt x="963025" y="3871"/>
                </a:lnTo>
                <a:lnTo>
                  <a:pt x="989812" y="3871"/>
                </a:lnTo>
                <a:lnTo>
                  <a:pt x="990693" y="3009"/>
                </a:lnTo>
                <a:lnTo>
                  <a:pt x="991927" y="1724"/>
                </a:lnTo>
                <a:lnTo>
                  <a:pt x="990693" y="0"/>
                </a:lnTo>
                <a:close/>
              </a:path>
              <a:path w="2541904" h="4445">
                <a:moveTo>
                  <a:pt x="1036337" y="0"/>
                </a:moveTo>
                <a:lnTo>
                  <a:pt x="1007083" y="0"/>
                </a:lnTo>
                <a:lnTo>
                  <a:pt x="1007083" y="3009"/>
                </a:lnTo>
                <a:lnTo>
                  <a:pt x="1008669" y="3871"/>
                </a:lnTo>
                <a:lnTo>
                  <a:pt x="1035456" y="3871"/>
                </a:lnTo>
                <a:lnTo>
                  <a:pt x="1036337" y="3009"/>
                </a:lnTo>
                <a:lnTo>
                  <a:pt x="1037747" y="1724"/>
                </a:lnTo>
                <a:lnTo>
                  <a:pt x="1036337" y="0"/>
                </a:lnTo>
                <a:close/>
              </a:path>
              <a:path w="2541904" h="4445">
                <a:moveTo>
                  <a:pt x="1082157" y="0"/>
                </a:moveTo>
                <a:lnTo>
                  <a:pt x="1052726" y="0"/>
                </a:lnTo>
                <a:lnTo>
                  <a:pt x="1052726" y="3009"/>
                </a:lnTo>
                <a:lnTo>
                  <a:pt x="1054489" y="3871"/>
                </a:lnTo>
                <a:lnTo>
                  <a:pt x="1081276" y="3871"/>
                </a:lnTo>
                <a:lnTo>
                  <a:pt x="1082157" y="3009"/>
                </a:lnTo>
                <a:lnTo>
                  <a:pt x="1083390" y="1724"/>
                </a:lnTo>
                <a:lnTo>
                  <a:pt x="1082157" y="0"/>
                </a:lnTo>
                <a:close/>
              </a:path>
              <a:path w="2541904" h="4445">
                <a:moveTo>
                  <a:pt x="1128329" y="0"/>
                </a:moveTo>
                <a:lnTo>
                  <a:pt x="1098546" y="0"/>
                </a:lnTo>
                <a:lnTo>
                  <a:pt x="1098546" y="3009"/>
                </a:lnTo>
                <a:lnTo>
                  <a:pt x="1100308" y="3871"/>
                </a:lnTo>
                <a:lnTo>
                  <a:pt x="1127095" y="3871"/>
                </a:lnTo>
                <a:lnTo>
                  <a:pt x="1128329" y="3009"/>
                </a:lnTo>
                <a:lnTo>
                  <a:pt x="1129210" y="1724"/>
                </a:lnTo>
                <a:lnTo>
                  <a:pt x="1128329" y="0"/>
                </a:lnTo>
                <a:close/>
              </a:path>
              <a:path w="2541904" h="4445">
                <a:moveTo>
                  <a:pt x="1174149" y="0"/>
                </a:moveTo>
                <a:lnTo>
                  <a:pt x="1144366" y="0"/>
                </a:lnTo>
                <a:lnTo>
                  <a:pt x="1144366" y="3009"/>
                </a:lnTo>
                <a:lnTo>
                  <a:pt x="1146481" y="3871"/>
                </a:lnTo>
                <a:lnTo>
                  <a:pt x="1172739" y="3871"/>
                </a:lnTo>
                <a:lnTo>
                  <a:pt x="1174149" y="3009"/>
                </a:lnTo>
                <a:lnTo>
                  <a:pt x="1174854" y="1724"/>
                </a:lnTo>
                <a:lnTo>
                  <a:pt x="1174149" y="0"/>
                </a:lnTo>
                <a:close/>
              </a:path>
              <a:path w="2541904" h="4445">
                <a:moveTo>
                  <a:pt x="1219792" y="0"/>
                </a:moveTo>
                <a:lnTo>
                  <a:pt x="1190009" y="0"/>
                </a:lnTo>
                <a:lnTo>
                  <a:pt x="1190009" y="3009"/>
                </a:lnTo>
                <a:lnTo>
                  <a:pt x="1192124" y="3871"/>
                </a:lnTo>
                <a:lnTo>
                  <a:pt x="1218559" y="3871"/>
                </a:lnTo>
                <a:lnTo>
                  <a:pt x="1219792" y="3009"/>
                </a:lnTo>
                <a:lnTo>
                  <a:pt x="1220673" y="1724"/>
                </a:lnTo>
                <a:lnTo>
                  <a:pt x="1219792" y="0"/>
                </a:lnTo>
                <a:close/>
              </a:path>
              <a:path w="2541904" h="4445">
                <a:moveTo>
                  <a:pt x="1265612" y="0"/>
                </a:moveTo>
                <a:lnTo>
                  <a:pt x="1235829" y="0"/>
                </a:lnTo>
                <a:lnTo>
                  <a:pt x="1235829" y="3009"/>
                </a:lnTo>
                <a:lnTo>
                  <a:pt x="1237944" y="3871"/>
                </a:lnTo>
                <a:lnTo>
                  <a:pt x="1264731" y="3871"/>
                </a:lnTo>
                <a:lnTo>
                  <a:pt x="1265612" y="3009"/>
                </a:lnTo>
                <a:lnTo>
                  <a:pt x="1266493" y="1724"/>
                </a:lnTo>
                <a:lnTo>
                  <a:pt x="1265612" y="0"/>
                </a:lnTo>
                <a:close/>
              </a:path>
              <a:path w="2541904" h="4445">
                <a:moveTo>
                  <a:pt x="1311256" y="0"/>
                </a:moveTo>
                <a:lnTo>
                  <a:pt x="1281473" y="0"/>
                </a:lnTo>
                <a:lnTo>
                  <a:pt x="1281473" y="3009"/>
                </a:lnTo>
                <a:lnTo>
                  <a:pt x="1283764" y="3871"/>
                </a:lnTo>
                <a:lnTo>
                  <a:pt x="1310551" y="3871"/>
                </a:lnTo>
                <a:lnTo>
                  <a:pt x="1311256" y="3009"/>
                </a:lnTo>
                <a:lnTo>
                  <a:pt x="1312137" y="1724"/>
                </a:lnTo>
                <a:lnTo>
                  <a:pt x="1311256" y="0"/>
                </a:lnTo>
                <a:close/>
              </a:path>
              <a:path w="2541904" h="4445">
                <a:moveTo>
                  <a:pt x="1357075" y="0"/>
                </a:moveTo>
                <a:lnTo>
                  <a:pt x="1327292" y="0"/>
                </a:lnTo>
                <a:lnTo>
                  <a:pt x="1327292" y="3009"/>
                </a:lnTo>
                <a:lnTo>
                  <a:pt x="1329407" y="3871"/>
                </a:lnTo>
                <a:lnTo>
                  <a:pt x="1356194" y="3871"/>
                </a:lnTo>
                <a:lnTo>
                  <a:pt x="1357075" y="3009"/>
                </a:lnTo>
                <a:lnTo>
                  <a:pt x="1357956" y="1724"/>
                </a:lnTo>
                <a:lnTo>
                  <a:pt x="1357075" y="0"/>
                </a:lnTo>
                <a:close/>
              </a:path>
              <a:path w="2541904" h="4445">
                <a:moveTo>
                  <a:pt x="1402895" y="0"/>
                </a:moveTo>
                <a:lnTo>
                  <a:pt x="1373112" y="0"/>
                </a:lnTo>
                <a:lnTo>
                  <a:pt x="1373112" y="3009"/>
                </a:lnTo>
                <a:lnTo>
                  <a:pt x="1375227" y="3871"/>
                </a:lnTo>
                <a:lnTo>
                  <a:pt x="1402014" y="3871"/>
                </a:lnTo>
                <a:lnTo>
                  <a:pt x="1402895" y="3009"/>
                </a:lnTo>
                <a:lnTo>
                  <a:pt x="1403776" y="1724"/>
                </a:lnTo>
                <a:lnTo>
                  <a:pt x="1402895" y="0"/>
                </a:lnTo>
                <a:close/>
              </a:path>
              <a:path w="2541904" h="4445">
                <a:moveTo>
                  <a:pt x="1448539" y="0"/>
                </a:moveTo>
                <a:lnTo>
                  <a:pt x="1418756" y="0"/>
                </a:lnTo>
                <a:lnTo>
                  <a:pt x="1418756" y="3009"/>
                </a:lnTo>
                <a:lnTo>
                  <a:pt x="1421047" y="3871"/>
                </a:lnTo>
                <a:lnTo>
                  <a:pt x="1447657" y="3871"/>
                </a:lnTo>
                <a:lnTo>
                  <a:pt x="1448539" y="3009"/>
                </a:lnTo>
                <a:lnTo>
                  <a:pt x="1449420" y="1724"/>
                </a:lnTo>
                <a:lnTo>
                  <a:pt x="1448539" y="0"/>
                </a:lnTo>
                <a:close/>
              </a:path>
              <a:path w="2541904" h="4445">
                <a:moveTo>
                  <a:pt x="1494358" y="0"/>
                </a:moveTo>
                <a:lnTo>
                  <a:pt x="1464928" y="0"/>
                </a:lnTo>
                <a:lnTo>
                  <a:pt x="1464928" y="3009"/>
                </a:lnTo>
                <a:lnTo>
                  <a:pt x="1466690" y="3871"/>
                </a:lnTo>
                <a:lnTo>
                  <a:pt x="1493477" y="3871"/>
                </a:lnTo>
                <a:lnTo>
                  <a:pt x="1494358" y="3009"/>
                </a:lnTo>
                <a:lnTo>
                  <a:pt x="1495240" y="1724"/>
                </a:lnTo>
                <a:lnTo>
                  <a:pt x="1494358" y="0"/>
                </a:lnTo>
                <a:close/>
              </a:path>
              <a:path w="2541904" h="4445">
                <a:moveTo>
                  <a:pt x="1540178" y="0"/>
                </a:moveTo>
                <a:lnTo>
                  <a:pt x="1510748" y="0"/>
                </a:lnTo>
                <a:lnTo>
                  <a:pt x="1510748" y="3009"/>
                </a:lnTo>
                <a:lnTo>
                  <a:pt x="1512510" y="3871"/>
                </a:lnTo>
                <a:lnTo>
                  <a:pt x="1539297" y="3871"/>
                </a:lnTo>
                <a:lnTo>
                  <a:pt x="1540178" y="3009"/>
                </a:lnTo>
                <a:lnTo>
                  <a:pt x="1540883" y="1724"/>
                </a:lnTo>
                <a:lnTo>
                  <a:pt x="1540178" y="0"/>
                </a:lnTo>
                <a:close/>
              </a:path>
              <a:path w="2541904" h="4445">
                <a:moveTo>
                  <a:pt x="1585822" y="0"/>
                </a:moveTo>
                <a:lnTo>
                  <a:pt x="1556568" y="0"/>
                </a:lnTo>
                <a:lnTo>
                  <a:pt x="1556568" y="3009"/>
                </a:lnTo>
                <a:lnTo>
                  <a:pt x="1558154" y="3871"/>
                </a:lnTo>
                <a:lnTo>
                  <a:pt x="1584941" y="3871"/>
                </a:lnTo>
                <a:lnTo>
                  <a:pt x="1585822" y="3009"/>
                </a:lnTo>
                <a:lnTo>
                  <a:pt x="1586703" y="1724"/>
                </a:lnTo>
                <a:lnTo>
                  <a:pt x="1585822" y="0"/>
                </a:lnTo>
                <a:close/>
              </a:path>
              <a:path w="2541904" h="4445">
                <a:moveTo>
                  <a:pt x="1631641" y="0"/>
                </a:moveTo>
                <a:lnTo>
                  <a:pt x="1602211" y="0"/>
                </a:lnTo>
                <a:lnTo>
                  <a:pt x="1602211" y="3009"/>
                </a:lnTo>
                <a:lnTo>
                  <a:pt x="1603973" y="3871"/>
                </a:lnTo>
                <a:lnTo>
                  <a:pt x="1630760" y="3871"/>
                </a:lnTo>
                <a:lnTo>
                  <a:pt x="1631641" y="3009"/>
                </a:lnTo>
                <a:lnTo>
                  <a:pt x="1632523" y="1724"/>
                </a:lnTo>
                <a:lnTo>
                  <a:pt x="1631641" y="0"/>
                </a:lnTo>
                <a:close/>
              </a:path>
              <a:path w="2541904" h="4445">
                <a:moveTo>
                  <a:pt x="1677285" y="0"/>
                </a:moveTo>
                <a:lnTo>
                  <a:pt x="1648031" y="0"/>
                </a:lnTo>
                <a:lnTo>
                  <a:pt x="1648031" y="3009"/>
                </a:lnTo>
                <a:lnTo>
                  <a:pt x="1649793" y="3871"/>
                </a:lnTo>
                <a:lnTo>
                  <a:pt x="1676580" y="3871"/>
                </a:lnTo>
                <a:lnTo>
                  <a:pt x="1677285" y="3009"/>
                </a:lnTo>
                <a:lnTo>
                  <a:pt x="1678166" y="1724"/>
                </a:lnTo>
                <a:lnTo>
                  <a:pt x="1677285" y="0"/>
                </a:lnTo>
                <a:close/>
              </a:path>
              <a:path w="2541904" h="4445">
                <a:moveTo>
                  <a:pt x="1723105" y="0"/>
                </a:moveTo>
                <a:lnTo>
                  <a:pt x="1693851" y="0"/>
                </a:lnTo>
                <a:lnTo>
                  <a:pt x="1693851" y="3009"/>
                </a:lnTo>
                <a:lnTo>
                  <a:pt x="1695437" y="3871"/>
                </a:lnTo>
                <a:lnTo>
                  <a:pt x="1722224" y="3871"/>
                </a:lnTo>
                <a:lnTo>
                  <a:pt x="1723105" y="3009"/>
                </a:lnTo>
                <a:lnTo>
                  <a:pt x="1724338" y="1724"/>
                </a:lnTo>
                <a:lnTo>
                  <a:pt x="1723105" y="0"/>
                </a:lnTo>
                <a:close/>
              </a:path>
              <a:path w="2541904" h="4445">
                <a:moveTo>
                  <a:pt x="1768925" y="0"/>
                </a:moveTo>
                <a:lnTo>
                  <a:pt x="1739494" y="0"/>
                </a:lnTo>
                <a:lnTo>
                  <a:pt x="1739494" y="3009"/>
                </a:lnTo>
                <a:lnTo>
                  <a:pt x="1741256" y="3871"/>
                </a:lnTo>
                <a:lnTo>
                  <a:pt x="1768043" y="3871"/>
                </a:lnTo>
                <a:lnTo>
                  <a:pt x="1768925" y="3009"/>
                </a:lnTo>
                <a:lnTo>
                  <a:pt x="1770158" y="1724"/>
                </a:lnTo>
                <a:lnTo>
                  <a:pt x="1768925" y="0"/>
                </a:lnTo>
                <a:close/>
              </a:path>
              <a:path w="2541904" h="4445">
                <a:moveTo>
                  <a:pt x="1814568" y="0"/>
                </a:moveTo>
                <a:lnTo>
                  <a:pt x="1785314" y="0"/>
                </a:lnTo>
                <a:lnTo>
                  <a:pt x="1785314" y="3009"/>
                </a:lnTo>
                <a:lnTo>
                  <a:pt x="1787076" y="3871"/>
                </a:lnTo>
                <a:lnTo>
                  <a:pt x="1813687" y="3871"/>
                </a:lnTo>
                <a:lnTo>
                  <a:pt x="1814568" y="3009"/>
                </a:lnTo>
                <a:lnTo>
                  <a:pt x="1815978" y="1724"/>
                </a:lnTo>
                <a:lnTo>
                  <a:pt x="1814568" y="0"/>
                </a:lnTo>
                <a:close/>
              </a:path>
              <a:path w="2541904" h="4445">
                <a:moveTo>
                  <a:pt x="1860740" y="0"/>
                </a:moveTo>
                <a:lnTo>
                  <a:pt x="1830957" y="0"/>
                </a:lnTo>
                <a:lnTo>
                  <a:pt x="1830957" y="3009"/>
                </a:lnTo>
                <a:lnTo>
                  <a:pt x="1832720" y="3871"/>
                </a:lnTo>
                <a:lnTo>
                  <a:pt x="1859507" y="3871"/>
                </a:lnTo>
                <a:lnTo>
                  <a:pt x="1860740" y="3009"/>
                </a:lnTo>
                <a:lnTo>
                  <a:pt x="1861621" y="1724"/>
                </a:lnTo>
                <a:lnTo>
                  <a:pt x="1860740" y="0"/>
                </a:lnTo>
                <a:close/>
              </a:path>
              <a:path w="2541904" h="4445">
                <a:moveTo>
                  <a:pt x="1906560" y="0"/>
                </a:moveTo>
                <a:lnTo>
                  <a:pt x="1876777" y="0"/>
                </a:lnTo>
                <a:lnTo>
                  <a:pt x="1876777" y="3009"/>
                </a:lnTo>
                <a:lnTo>
                  <a:pt x="1878892" y="3871"/>
                </a:lnTo>
                <a:lnTo>
                  <a:pt x="1905326" y="3871"/>
                </a:lnTo>
                <a:lnTo>
                  <a:pt x="1906560" y="3009"/>
                </a:lnTo>
                <a:lnTo>
                  <a:pt x="1907441" y="1724"/>
                </a:lnTo>
                <a:lnTo>
                  <a:pt x="1906560" y="0"/>
                </a:lnTo>
                <a:close/>
              </a:path>
              <a:path w="2541904" h="4445">
                <a:moveTo>
                  <a:pt x="1952380" y="0"/>
                </a:moveTo>
                <a:lnTo>
                  <a:pt x="1922597" y="0"/>
                </a:lnTo>
                <a:lnTo>
                  <a:pt x="1922597" y="3009"/>
                </a:lnTo>
                <a:lnTo>
                  <a:pt x="1924712" y="3871"/>
                </a:lnTo>
                <a:lnTo>
                  <a:pt x="1950970" y="3871"/>
                </a:lnTo>
                <a:lnTo>
                  <a:pt x="1952380" y="3009"/>
                </a:lnTo>
                <a:lnTo>
                  <a:pt x="1953261" y="1724"/>
                </a:lnTo>
                <a:lnTo>
                  <a:pt x="1952380" y="0"/>
                </a:lnTo>
                <a:close/>
              </a:path>
              <a:path w="2541904" h="4445">
                <a:moveTo>
                  <a:pt x="1998023" y="0"/>
                </a:moveTo>
                <a:lnTo>
                  <a:pt x="1968241" y="0"/>
                </a:lnTo>
                <a:lnTo>
                  <a:pt x="1968241" y="3009"/>
                </a:lnTo>
                <a:lnTo>
                  <a:pt x="1970532" y="3871"/>
                </a:lnTo>
                <a:lnTo>
                  <a:pt x="1997142" y="3871"/>
                </a:lnTo>
                <a:lnTo>
                  <a:pt x="1998023" y="3009"/>
                </a:lnTo>
                <a:lnTo>
                  <a:pt x="1998905" y="1724"/>
                </a:lnTo>
                <a:lnTo>
                  <a:pt x="1998023" y="0"/>
                </a:lnTo>
                <a:close/>
              </a:path>
              <a:path w="2541904" h="4445">
                <a:moveTo>
                  <a:pt x="2043843" y="0"/>
                </a:moveTo>
                <a:lnTo>
                  <a:pt x="2014060" y="0"/>
                </a:lnTo>
                <a:lnTo>
                  <a:pt x="2014060" y="3009"/>
                </a:lnTo>
                <a:lnTo>
                  <a:pt x="2016175" y="3871"/>
                </a:lnTo>
                <a:lnTo>
                  <a:pt x="2042962" y="3871"/>
                </a:lnTo>
                <a:lnTo>
                  <a:pt x="2043843" y="3009"/>
                </a:lnTo>
                <a:lnTo>
                  <a:pt x="2044724" y="1724"/>
                </a:lnTo>
                <a:lnTo>
                  <a:pt x="2043843" y="0"/>
                </a:lnTo>
                <a:close/>
              </a:path>
              <a:path w="2541904" h="4445">
                <a:moveTo>
                  <a:pt x="2089663" y="0"/>
                </a:moveTo>
                <a:lnTo>
                  <a:pt x="2059880" y="0"/>
                </a:lnTo>
                <a:lnTo>
                  <a:pt x="2059880" y="3009"/>
                </a:lnTo>
                <a:lnTo>
                  <a:pt x="2061995" y="3871"/>
                </a:lnTo>
                <a:lnTo>
                  <a:pt x="2088782" y="3871"/>
                </a:lnTo>
                <a:lnTo>
                  <a:pt x="2089663" y="3009"/>
                </a:lnTo>
                <a:lnTo>
                  <a:pt x="2090368" y="1724"/>
                </a:lnTo>
                <a:lnTo>
                  <a:pt x="2089663" y="0"/>
                </a:lnTo>
                <a:close/>
              </a:path>
              <a:path w="2541904" h="4445">
                <a:moveTo>
                  <a:pt x="2135306" y="0"/>
                </a:moveTo>
                <a:lnTo>
                  <a:pt x="2105524" y="0"/>
                </a:lnTo>
                <a:lnTo>
                  <a:pt x="2105524" y="3009"/>
                </a:lnTo>
                <a:lnTo>
                  <a:pt x="2107638" y="3871"/>
                </a:lnTo>
                <a:lnTo>
                  <a:pt x="2134425" y="3871"/>
                </a:lnTo>
                <a:lnTo>
                  <a:pt x="2135306" y="3009"/>
                </a:lnTo>
                <a:lnTo>
                  <a:pt x="2136188" y="1724"/>
                </a:lnTo>
                <a:lnTo>
                  <a:pt x="2135306" y="0"/>
                </a:lnTo>
                <a:close/>
              </a:path>
              <a:path w="2541904" h="4445">
                <a:moveTo>
                  <a:pt x="2181126" y="0"/>
                </a:moveTo>
                <a:lnTo>
                  <a:pt x="2151343" y="0"/>
                </a:lnTo>
                <a:lnTo>
                  <a:pt x="2151343" y="3009"/>
                </a:lnTo>
                <a:lnTo>
                  <a:pt x="2153458" y="3871"/>
                </a:lnTo>
                <a:lnTo>
                  <a:pt x="2180245" y="3871"/>
                </a:lnTo>
                <a:lnTo>
                  <a:pt x="2181126" y="3009"/>
                </a:lnTo>
                <a:lnTo>
                  <a:pt x="2182007" y="1724"/>
                </a:lnTo>
                <a:lnTo>
                  <a:pt x="2181126" y="0"/>
                </a:lnTo>
                <a:close/>
              </a:path>
              <a:path w="2541904" h="4445">
                <a:moveTo>
                  <a:pt x="2226770" y="0"/>
                </a:moveTo>
                <a:lnTo>
                  <a:pt x="2197516" y="0"/>
                </a:lnTo>
                <a:lnTo>
                  <a:pt x="2197516" y="3009"/>
                </a:lnTo>
                <a:lnTo>
                  <a:pt x="2199278" y="3871"/>
                </a:lnTo>
                <a:lnTo>
                  <a:pt x="2226065" y="3871"/>
                </a:lnTo>
                <a:lnTo>
                  <a:pt x="2226770" y="3009"/>
                </a:lnTo>
                <a:lnTo>
                  <a:pt x="2227651" y="1724"/>
                </a:lnTo>
                <a:lnTo>
                  <a:pt x="2226770" y="0"/>
                </a:lnTo>
                <a:close/>
              </a:path>
              <a:path w="2541904" h="4445">
                <a:moveTo>
                  <a:pt x="2272590" y="0"/>
                </a:moveTo>
                <a:lnTo>
                  <a:pt x="2243335" y="0"/>
                </a:lnTo>
                <a:lnTo>
                  <a:pt x="2243335" y="3009"/>
                </a:lnTo>
                <a:lnTo>
                  <a:pt x="2244921" y="3871"/>
                </a:lnTo>
                <a:lnTo>
                  <a:pt x="2271708" y="3871"/>
                </a:lnTo>
                <a:lnTo>
                  <a:pt x="2272590" y="3009"/>
                </a:lnTo>
                <a:lnTo>
                  <a:pt x="2273471" y="1724"/>
                </a:lnTo>
                <a:lnTo>
                  <a:pt x="2272590" y="0"/>
                </a:lnTo>
                <a:close/>
              </a:path>
              <a:path w="2541904" h="4445">
                <a:moveTo>
                  <a:pt x="2318409" y="0"/>
                </a:moveTo>
                <a:lnTo>
                  <a:pt x="2288979" y="0"/>
                </a:lnTo>
                <a:lnTo>
                  <a:pt x="2288979" y="3009"/>
                </a:lnTo>
                <a:lnTo>
                  <a:pt x="2290741" y="3871"/>
                </a:lnTo>
                <a:lnTo>
                  <a:pt x="2317528" y="3871"/>
                </a:lnTo>
                <a:lnTo>
                  <a:pt x="2318409" y="3009"/>
                </a:lnTo>
                <a:lnTo>
                  <a:pt x="2319290" y="1724"/>
                </a:lnTo>
                <a:lnTo>
                  <a:pt x="2318409" y="0"/>
                </a:lnTo>
                <a:close/>
              </a:path>
              <a:path w="2541904" h="4445">
                <a:moveTo>
                  <a:pt x="2364053" y="0"/>
                </a:moveTo>
                <a:lnTo>
                  <a:pt x="2334799" y="0"/>
                </a:lnTo>
                <a:lnTo>
                  <a:pt x="2334799" y="3009"/>
                </a:lnTo>
                <a:lnTo>
                  <a:pt x="2336561" y="3871"/>
                </a:lnTo>
                <a:lnTo>
                  <a:pt x="2363172" y="3871"/>
                </a:lnTo>
                <a:lnTo>
                  <a:pt x="2364053" y="3009"/>
                </a:lnTo>
                <a:lnTo>
                  <a:pt x="2364934" y="1724"/>
                </a:lnTo>
                <a:lnTo>
                  <a:pt x="2364053" y="0"/>
                </a:lnTo>
                <a:close/>
              </a:path>
              <a:path w="2541904" h="4445">
                <a:moveTo>
                  <a:pt x="2409873" y="0"/>
                </a:moveTo>
                <a:lnTo>
                  <a:pt x="2380442" y="0"/>
                </a:lnTo>
                <a:lnTo>
                  <a:pt x="2380442" y="3009"/>
                </a:lnTo>
                <a:lnTo>
                  <a:pt x="2382205" y="3871"/>
                </a:lnTo>
                <a:lnTo>
                  <a:pt x="2408991" y="3871"/>
                </a:lnTo>
                <a:lnTo>
                  <a:pt x="2409873" y="3009"/>
                </a:lnTo>
                <a:lnTo>
                  <a:pt x="2411106" y="1724"/>
                </a:lnTo>
                <a:lnTo>
                  <a:pt x="2409873" y="0"/>
                </a:lnTo>
                <a:close/>
              </a:path>
              <a:path w="2541904" h="4445">
                <a:moveTo>
                  <a:pt x="2455692" y="0"/>
                </a:moveTo>
                <a:lnTo>
                  <a:pt x="2426262" y="0"/>
                </a:lnTo>
                <a:lnTo>
                  <a:pt x="2426262" y="3009"/>
                </a:lnTo>
                <a:lnTo>
                  <a:pt x="2428024" y="3871"/>
                </a:lnTo>
                <a:lnTo>
                  <a:pt x="2454811" y="3871"/>
                </a:lnTo>
                <a:lnTo>
                  <a:pt x="2455692" y="3009"/>
                </a:lnTo>
                <a:lnTo>
                  <a:pt x="2456926" y="1724"/>
                </a:lnTo>
                <a:lnTo>
                  <a:pt x="2455692" y="0"/>
                </a:lnTo>
                <a:close/>
              </a:path>
              <a:path w="2541904" h="4445">
                <a:moveTo>
                  <a:pt x="2501336" y="0"/>
                </a:moveTo>
                <a:lnTo>
                  <a:pt x="2472082" y="0"/>
                </a:lnTo>
                <a:lnTo>
                  <a:pt x="2472082" y="3009"/>
                </a:lnTo>
                <a:lnTo>
                  <a:pt x="2473668" y="3871"/>
                </a:lnTo>
                <a:lnTo>
                  <a:pt x="2500455" y="3871"/>
                </a:lnTo>
                <a:lnTo>
                  <a:pt x="2501336" y="3009"/>
                </a:lnTo>
                <a:lnTo>
                  <a:pt x="2502746" y="1724"/>
                </a:lnTo>
                <a:lnTo>
                  <a:pt x="2501336" y="0"/>
                </a:lnTo>
                <a:close/>
              </a:path>
              <a:path w="2541904" h="4445">
                <a:moveTo>
                  <a:pt x="2541516" y="0"/>
                </a:moveTo>
                <a:lnTo>
                  <a:pt x="2517725" y="0"/>
                </a:lnTo>
                <a:lnTo>
                  <a:pt x="2517725" y="3009"/>
                </a:lnTo>
                <a:lnTo>
                  <a:pt x="2519488" y="3871"/>
                </a:lnTo>
                <a:lnTo>
                  <a:pt x="2539754" y="3871"/>
                </a:lnTo>
                <a:lnTo>
                  <a:pt x="2541516" y="3009"/>
                </a:lnTo>
                <a:lnTo>
                  <a:pt x="25415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191094" y="6051897"/>
            <a:ext cx="2544445" cy="0"/>
          </a:xfrm>
          <a:custGeom>
            <a:avLst/>
            <a:gdLst/>
            <a:ahLst/>
            <a:cxnLst/>
            <a:rect l="l" t="t" r="r" b="b"/>
            <a:pathLst>
              <a:path w="2544445">
                <a:moveTo>
                  <a:pt x="0" y="0"/>
                </a:moveTo>
                <a:lnTo>
                  <a:pt x="2543980" y="0"/>
                </a:lnTo>
              </a:path>
            </a:pathLst>
          </a:custGeom>
          <a:ln w="633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773764" y="2270297"/>
            <a:ext cx="407034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" dirty="0">
                <a:latin typeface="宋体"/>
                <a:cs typeface="宋体"/>
              </a:rPr>
              <a:t>招标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743981" y="3347613"/>
            <a:ext cx="407034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" dirty="0">
                <a:latin typeface="宋体"/>
                <a:cs typeface="宋体"/>
              </a:rPr>
              <a:t>签约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514117" y="975172"/>
            <a:ext cx="0" cy="1436370"/>
          </a:xfrm>
          <a:custGeom>
            <a:avLst/>
            <a:gdLst/>
            <a:ahLst/>
            <a:cxnLst/>
            <a:rect l="l" t="t" r="r" b="b"/>
            <a:pathLst>
              <a:path h="1436370">
                <a:moveTo>
                  <a:pt x="0" y="0"/>
                </a:moveTo>
                <a:lnTo>
                  <a:pt x="0" y="1436304"/>
                </a:lnTo>
              </a:path>
            </a:pathLst>
          </a:custGeom>
          <a:ln w="1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514117" y="2679837"/>
            <a:ext cx="0" cy="3591560"/>
          </a:xfrm>
          <a:custGeom>
            <a:avLst/>
            <a:gdLst/>
            <a:ahLst/>
            <a:cxnLst/>
            <a:rect l="l" t="t" r="r" b="b"/>
            <a:pathLst>
              <a:path h="3591560">
                <a:moveTo>
                  <a:pt x="0" y="0"/>
                </a:moveTo>
                <a:lnTo>
                  <a:pt x="0" y="3590968"/>
                </a:lnTo>
              </a:path>
            </a:pathLst>
          </a:custGeom>
          <a:ln w="1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607155" y="1114849"/>
            <a:ext cx="215900" cy="9544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2099"/>
              </a:lnSpc>
              <a:spcBef>
                <a:spcPts val="55"/>
              </a:spcBef>
            </a:pPr>
            <a:r>
              <a:rPr sz="1500" spc="-5" dirty="0">
                <a:latin typeface="宋体"/>
                <a:cs typeface="宋体"/>
              </a:rPr>
              <a:t>用 户 文 档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607155" y="4155513"/>
            <a:ext cx="215900" cy="955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2200"/>
              </a:lnSpc>
              <a:spcBef>
                <a:spcPts val="55"/>
              </a:spcBef>
            </a:pPr>
            <a:r>
              <a:rPr sz="1500" spc="-5" dirty="0">
                <a:latin typeface="宋体"/>
                <a:cs typeface="宋体"/>
              </a:rPr>
              <a:t>开 发 文 档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91247" y="1403985"/>
            <a:ext cx="1242060" cy="49593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789"/>
              </a:lnSpc>
              <a:spcBef>
                <a:spcPts val="260"/>
              </a:spcBef>
            </a:pPr>
            <a:r>
              <a:rPr sz="1600" spc="-5" dirty="0">
                <a:latin typeface="宋体"/>
                <a:cs typeface="宋体"/>
              </a:rPr>
              <a:t>重点都是用户 的现实世界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91247" y="4417314"/>
            <a:ext cx="8362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系统角度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023872" y="4980432"/>
            <a:ext cx="655319" cy="6537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529839" y="4096511"/>
            <a:ext cx="178307" cy="104546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需求规格说明文档</a:t>
            </a:r>
          </a:p>
          <a:p>
            <a:pPr marL="913765" algn="ctr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类型</a:t>
            </a:r>
          </a:p>
        </p:txBody>
      </p:sp>
      <p:sp>
        <p:nvSpPr>
          <p:cNvPr id="3" name="object 3"/>
          <p:cNvSpPr/>
          <p:nvPr/>
        </p:nvSpPr>
        <p:spPr>
          <a:xfrm>
            <a:off x="5076856" y="3656957"/>
            <a:ext cx="1885314" cy="0"/>
          </a:xfrm>
          <a:custGeom>
            <a:avLst/>
            <a:gdLst/>
            <a:ahLst/>
            <a:cxnLst/>
            <a:rect l="l" t="t" r="r" b="b"/>
            <a:pathLst>
              <a:path w="1885315">
                <a:moveTo>
                  <a:pt x="0" y="0"/>
                </a:moveTo>
                <a:lnTo>
                  <a:pt x="1885197" y="0"/>
                </a:lnTo>
              </a:path>
            </a:pathLst>
          </a:custGeom>
          <a:ln w="25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9951" y="3656957"/>
            <a:ext cx="2046605" cy="0"/>
          </a:xfrm>
          <a:custGeom>
            <a:avLst/>
            <a:gdLst/>
            <a:ahLst/>
            <a:cxnLst/>
            <a:rect l="l" t="t" r="r" b="b"/>
            <a:pathLst>
              <a:path w="2046604">
                <a:moveTo>
                  <a:pt x="0" y="0"/>
                </a:moveTo>
                <a:lnTo>
                  <a:pt x="2046584" y="0"/>
                </a:lnTo>
              </a:path>
            </a:pathLst>
          </a:custGeom>
          <a:ln w="25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46217" y="3593950"/>
            <a:ext cx="190500" cy="126364"/>
          </a:xfrm>
          <a:custGeom>
            <a:avLst/>
            <a:gdLst/>
            <a:ahLst/>
            <a:cxnLst/>
            <a:rect l="l" t="t" r="r" b="b"/>
            <a:pathLst>
              <a:path w="190500" h="126364">
                <a:moveTo>
                  <a:pt x="0" y="0"/>
                </a:moveTo>
                <a:lnTo>
                  <a:pt x="0" y="126014"/>
                </a:lnTo>
                <a:lnTo>
                  <a:pt x="190040" y="6300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50169" y="3517423"/>
            <a:ext cx="154622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45" dirty="0">
                <a:latin typeface="宋体"/>
                <a:cs typeface="宋体"/>
              </a:rPr>
              <a:t>对解决方案的约束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76856" y="4014168"/>
            <a:ext cx="2059939" cy="0"/>
          </a:xfrm>
          <a:custGeom>
            <a:avLst/>
            <a:gdLst/>
            <a:ahLst/>
            <a:cxnLst/>
            <a:rect l="l" t="t" r="r" b="b"/>
            <a:pathLst>
              <a:path w="2059940">
                <a:moveTo>
                  <a:pt x="0" y="0"/>
                </a:moveTo>
                <a:lnTo>
                  <a:pt x="2059401" y="0"/>
                </a:lnTo>
              </a:path>
            </a:pathLst>
          </a:custGeom>
          <a:ln w="25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84154" y="4014168"/>
            <a:ext cx="1872614" cy="0"/>
          </a:xfrm>
          <a:custGeom>
            <a:avLst/>
            <a:gdLst/>
            <a:ahLst/>
            <a:cxnLst/>
            <a:rect l="l" t="t" r="r" b="b"/>
            <a:pathLst>
              <a:path w="1872614">
                <a:moveTo>
                  <a:pt x="0" y="0"/>
                </a:moveTo>
                <a:lnTo>
                  <a:pt x="1872380" y="0"/>
                </a:lnTo>
              </a:path>
            </a:pathLst>
          </a:custGeom>
          <a:ln w="25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09951" y="3951160"/>
            <a:ext cx="190500" cy="126364"/>
          </a:xfrm>
          <a:custGeom>
            <a:avLst/>
            <a:gdLst/>
            <a:ahLst/>
            <a:cxnLst/>
            <a:rect l="l" t="t" r="r" b="b"/>
            <a:pathLst>
              <a:path w="190500" h="126364">
                <a:moveTo>
                  <a:pt x="190040" y="0"/>
                </a:moveTo>
                <a:lnTo>
                  <a:pt x="0" y="63007"/>
                </a:lnTo>
                <a:lnTo>
                  <a:pt x="190040" y="126014"/>
                </a:lnTo>
                <a:lnTo>
                  <a:pt x="1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50169" y="3874634"/>
            <a:ext cx="154622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45" dirty="0">
                <a:latin typeface="宋体"/>
                <a:cs typeface="宋体"/>
              </a:rPr>
              <a:t>需求表达的真实度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66895" y="4341597"/>
            <a:ext cx="1869439" cy="0"/>
          </a:xfrm>
          <a:custGeom>
            <a:avLst/>
            <a:gdLst/>
            <a:ahLst/>
            <a:cxnLst/>
            <a:rect l="l" t="t" r="r" b="b"/>
            <a:pathLst>
              <a:path w="1869440">
                <a:moveTo>
                  <a:pt x="0" y="0"/>
                </a:moveTo>
                <a:lnTo>
                  <a:pt x="1869360" y="0"/>
                </a:lnTo>
              </a:path>
            </a:pathLst>
          </a:custGeom>
          <a:ln w="25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84154" y="4341597"/>
            <a:ext cx="1682750" cy="0"/>
          </a:xfrm>
          <a:custGeom>
            <a:avLst/>
            <a:gdLst/>
            <a:ahLst/>
            <a:cxnLst/>
            <a:rect l="l" t="t" r="r" b="b"/>
            <a:pathLst>
              <a:path w="1682750">
                <a:moveTo>
                  <a:pt x="0" y="0"/>
                </a:moveTo>
                <a:lnTo>
                  <a:pt x="1682340" y="0"/>
                </a:lnTo>
              </a:path>
            </a:pathLst>
          </a:custGeom>
          <a:ln w="25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09951" y="4278589"/>
            <a:ext cx="190500" cy="126364"/>
          </a:xfrm>
          <a:custGeom>
            <a:avLst/>
            <a:gdLst/>
            <a:ahLst/>
            <a:cxnLst/>
            <a:rect l="l" t="t" r="r" b="b"/>
            <a:pathLst>
              <a:path w="190500" h="126364">
                <a:moveTo>
                  <a:pt x="190040" y="0"/>
                </a:moveTo>
                <a:lnTo>
                  <a:pt x="0" y="63007"/>
                </a:lnTo>
                <a:lnTo>
                  <a:pt x="190040" y="126014"/>
                </a:lnTo>
                <a:lnTo>
                  <a:pt x="1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60129" y="4202062"/>
            <a:ext cx="192595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45" dirty="0">
                <a:latin typeface="宋体"/>
                <a:cs typeface="宋体"/>
              </a:rPr>
              <a:t>需求的丰富性和模糊性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86815" y="4639286"/>
            <a:ext cx="2249805" cy="0"/>
          </a:xfrm>
          <a:custGeom>
            <a:avLst/>
            <a:gdLst/>
            <a:ahLst/>
            <a:cxnLst/>
            <a:rect l="l" t="t" r="r" b="b"/>
            <a:pathLst>
              <a:path w="2249804">
                <a:moveTo>
                  <a:pt x="0" y="0"/>
                </a:moveTo>
                <a:lnTo>
                  <a:pt x="2249441" y="0"/>
                </a:lnTo>
              </a:path>
            </a:pathLst>
          </a:custGeom>
          <a:ln w="25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84154" y="4639286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79">
                <a:moveTo>
                  <a:pt x="0" y="0"/>
                </a:moveTo>
                <a:lnTo>
                  <a:pt x="2062420" y="0"/>
                </a:lnTo>
              </a:path>
            </a:pathLst>
          </a:custGeom>
          <a:ln w="25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09951" y="4576279"/>
            <a:ext cx="190500" cy="126364"/>
          </a:xfrm>
          <a:custGeom>
            <a:avLst/>
            <a:gdLst/>
            <a:ahLst/>
            <a:cxnLst/>
            <a:rect l="l" t="t" r="r" b="b"/>
            <a:pathLst>
              <a:path w="190500" h="126364">
                <a:moveTo>
                  <a:pt x="190040" y="0"/>
                </a:moveTo>
                <a:lnTo>
                  <a:pt x="0" y="63007"/>
                </a:lnTo>
                <a:lnTo>
                  <a:pt x="190040" y="126014"/>
                </a:lnTo>
                <a:lnTo>
                  <a:pt x="1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40209" y="4499752"/>
            <a:ext cx="116586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45" dirty="0">
                <a:latin typeface="宋体"/>
                <a:cs typeface="宋体"/>
              </a:rPr>
              <a:t>用户的理解度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66895" y="4936954"/>
            <a:ext cx="1869439" cy="0"/>
          </a:xfrm>
          <a:custGeom>
            <a:avLst/>
            <a:gdLst/>
            <a:ahLst/>
            <a:cxnLst/>
            <a:rect l="l" t="t" r="r" b="b"/>
            <a:pathLst>
              <a:path w="1869440">
                <a:moveTo>
                  <a:pt x="0" y="0"/>
                </a:moveTo>
                <a:lnTo>
                  <a:pt x="1869360" y="0"/>
                </a:lnTo>
              </a:path>
            </a:pathLst>
          </a:custGeom>
          <a:ln w="25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84154" y="4936954"/>
            <a:ext cx="1682750" cy="0"/>
          </a:xfrm>
          <a:custGeom>
            <a:avLst/>
            <a:gdLst/>
            <a:ahLst/>
            <a:cxnLst/>
            <a:rect l="l" t="t" r="r" b="b"/>
            <a:pathLst>
              <a:path w="1682750">
                <a:moveTo>
                  <a:pt x="0" y="0"/>
                </a:moveTo>
                <a:lnTo>
                  <a:pt x="1682340" y="0"/>
                </a:lnTo>
              </a:path>
            </a:pathLst>
          </a:custGeom>
          <a:ln w="25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09951" y="4873947"/>
            <a:ext cx="190500" cy="126364"/>
          </a:xfrm>
          <a:custGeom>
            <a:avLst/>
            <a:gdLst/>
            <a:ahLst/>
            <a:cxnLst/>
            <a:rect l="l" t="t" r="r" b="b"/>
            <a:pathLst>
              <a:path w="190500" h="126364">
                <a:moveTo>
                  <a:pt x="190040" y="0"/>
                </a:moveTo>
                <a:lnTo>
                  <a:pt x="0" y="63007"/>
                </a:lnTo>
                <a:lnTo>
                  <a:pt x="190040" y="126014"/>
                </a:lnTo>
                <a:lnTo>
                  <a:pt x="1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360129" y="4797420"/>
            <a:ext cx="192595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45" dirty="0">
                <a:latin typeface="宋体"/>
                <a:cs typeface="宋体"/>
              </a:rPr>
              <a:t>对非专业读者的可读性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456935" y="5264384"/>
            <a:ext cx="1505585" cy="0"/>
          </a:xfrm>
          <a:custGeom>
            <a:avLst/>
            <a:gdLst/>
            <a:ahLst/>
            <a:cxnLst/>
            <a:rect l="l" t="t" r="r" b="b"/>
            <a:pathLst>
              <a:path w="1505584">
                <a:moveTo>
                  <a:pt x="0" y="0"/>
                </a:moveTo>
                <a:lnTo>
                  <a:pt x="1505117" y="0"/>
                </a:lnTo>
              </a:path>
            </a:pathLst>
          </a:custGeom>
          <a:ln w="25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09951" y="5264384"/>
            <a:ext cx="1666875" cy="0"/>
          </a:xfrm>
          <a:custGeom>
            <a:avLst/>
            <a:gdLst/>
            <a:ahLst/>
            <a:cxnLst/>
            <a:rect l="l" t="t" r="r" b="b"/>
            <a:pathLst>
              <a:path w="1666875">
                <a:moveTo>
                  <a:pt x="0" y="0"/>
                </a:moveTo>
                <a:lnTo>
                  <a:pt x="1666503" y="0"/>
                </a:lnTo>
              </a:path>
            </a:pathLst>
          </a:custGeom>
          <a:ln w="25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46217" y="5201376"/>
            <a:ext cx="190500" cy="126364"/>
          </a:xfrm>
          <a:custGeom>
            <a:avLst/>
            <a:gdLst/>
            <a:ahLst/>
            <a:cxnLst/>
            <a:rect l="l" t="t" r="r" b="b"/>
            <a:pathLst>
              <a:path w="190500" h="126364">
                <a:moveTo>
                  <a:pt x="0" y="0"/>
                </a:moveTo>
                <a:lnTo>
                  <a:pt x="0" y="126021"/>
                </a:lnTo>
                <a:lnTo>
                  <a:pt x="190040" y="6300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812684" y="2245232"/>
          <a:ext cx="7204074" cy="9854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5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6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004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AD4745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D4745"/>
                      </a:solidFill>
                      <a:prstDash val="solid"/>
                    </a:lnL>
                    <a:lnR w="19050">
                      <a:solidFill>
                        <a:srgbClr val="AD4745"/>
                      </a:solidFill>
                      <a:prstDash val="solid"/>
                    </a:lnR>
                    <a:lnT w="19050">
                      <a:solidFill>
                        <a:srgbClr val="AD4745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80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300" spc="30" dirty="0">
                          <a:latin typeface="宋体"/>
                          <a:cs typeface="宋体"/>
                        </a:rPr>
                        <a:t>项目前景和范围文档</a:t>
                      </a:r>
                      <a:endParaRPr sz="13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9116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300" spc="30" dirty="0">
                          <a:latin typeface="宋体"/>
                          <a:cs typeface="宋体"/>
                        </a:rPr>
                        <a:t>用户需求文档</a:t>
                      </a:r>
                      <a:endParaRPr sz="13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300" spc="30" dirty="0">
                          <a:latin typeface="宋体"/>
                          <a:cs typeface="宋体"/>
                        </a:rPr>
                        <a:t>系统需求规格说明文档</a:t>
                      </a:r>
                      <a:endParaRPr sz="13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AD4745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365"/>
                        </a:lnSpc>
                      </a:pPr>
                      <a:r>
                        <a:rPr sz="1300" spc="30" dirty="0">
                          <a:latin typeface="宋体"/>
                          <a:cs typeface="宋体"/>
                        </a:rPr>
                        <a:t>软件需求规格说明文档</a:t>
                      </a:r>
                      <a:endParaRPr sz="13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6350">
                      <a:solidFill>
                        <a:srgbClr val="AD4745"/>
                      </a:solidFill>
                      <a:prstDash val="solid"/>
                    </a:lnL>
                    <a:lnR w="19050">
                      <a:solidFill>
                        <a:srgbClr val="AD4745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AD474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AD4745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00"/>
                        </a:lnSpc>
                      </a:pPr>
                      <a:r>
                        <a:rPr sz="1300" spc="30" dirty="0">
                          <a:latin typeface="宋体"/>
                          <a:cs typeface="宋体"/>
                        </a:rPr>
                        <a:t>硬件需求规格说明文档</a:t>
                      </a:r>
                      <a:endParaRPr sz="1300">
                        <a:latin typeface="宋体"/>
                        <a:cs typeface="宋体"/>
                      </a:endParaRPr>
                    </a:p>
                    <a:p>
                      <a:pPr marL="391160" marR="66040" indent="-338455">
                        <a:lnSpc>
                          <a:spcPct val="111600"/>
                        </a:lnSpc>
                      </a:pPr>
                      <a:r>
                        <a:rPr sz="1300" dirty="0">
                          <a:latin typeface="宋体"/>
                          <a:cs typeface="宋体"/>
                        </a:rPr>
                        <a:t>接口需求规格说明文档 </a:t>
                      </a:r>
                      <a:r>
                        <a:rPr sz="1300" spc="30" dirty="0">
                          <a:latin typeface="宋体"/>
                          <a:cs typeface="宋体"/>
                        </a:rPr>
                        <a:t>人机交互文档</a:t>
                      </a:r>
                      <a:endParaRPr sz="13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AD4745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170089" y="5124858"/>
            <a:ext cx="23063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45" dirty="0">
                <a:latin typeface="宋体"/>
                <a:cs typeface="宋体"/>
              </a:rPr>
              <a:t>系统化和形式化方法的应用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6183" y="3796994"/>
            <a:ext cx="321310" cy="1109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95"/>
              </a:spcBef>
            </a:pPr>
            <a:r>
              <a:rPr sz="2300" spc="20" dirty="0">
                <a:latin typeface="宋体"/>
                <a:cs typeface="宋体"/>
              </a:rPr>
              <a:t>问 题</a:t>
            </a:r>
            <a:endParaRPr sz="2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300" spc="25" dirty="0">
                <a:latin typeface="宋体"/>
                <a:cs typeface="宋体"/>
              </a:rPr>
              <a:t>域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91513" y="3725586"/>
            <a:ext cx="321310" cy="146240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algn="just">
              <a:lnSpc>
                <a:spcPct val="103099"/>
              </a:lnSpc>
              <a:spcBef>
                <a:spcPts val="30"/>
              </a:spcBef>
            </a:pPr>
            <a:r>
              <a:rPr sz="2300" spc="20" dirty="0">
                <a:latin typeface="宋体"/>
                <a:cs typeface="宋体"/>
              </a:rPr>
              <a:t>解 决 方 案</a:t>
            </a:r>
            <a:endParaRPr sz="23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需求规格说明文档</a:t>
            </a:r>
          </a:p>
          <a:p>
            <a:pPr marL="913765" algn="ctr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3847"/>
            <a:ext cx="2545080" cy="266636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内容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前景和范围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问题域信息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解决方案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需求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7113" y="74421"/>
            <a:ext cx="5050790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需求规格说明文档</a:t>
            </a:r>
          </a:p>
          <a:p>
            <a:pPr marL="913130" algn="ctr">
              <a:lnSpc>
                <a:spcPct val="100000"/>
              </a:lnSpc>
              <a:spcBef>
                <a:spcPts val="5"/>
              </a:spcBef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作者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3847"/>
            <a:ext cx="6450965" cy="442214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项目管理者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组织安排、提供条件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需求工程师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负责人、主导人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文档写作人员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有时会采用，节省需求工程师的时间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涉众（用户）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验证人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3455" y="2514228"/>
            <a:ext cx="1627505" cy="4064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270"/>
              </a:spcBef>
              <a:tabLst>
                <a:tab pos="1129665" algn="l"/>
                <a:tab pos="1614170" algn="l"/>
              </a:tabLst>
            </a:pPr>
            <a:r>
              <a:rPr sz="1100" spc="35" dirty="0">
                <a:latin typeface="宋体"/>
                <a:cs typeface="宋体"/>
              </a:rPr>
              <a:t>体系结构设计	</a:t>
            </a:r>
            <a:r>
              <a:rPr sz="11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100" spc="35" dirty="0">
                <a:latin typeface="宋体"/>
                <a:cs typeface="宋体"/>
              </a:rPr>
              <a:t>（体系架构师）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2964" y="3836793"/>
            <a:ext cx="1177290" cy="666115"/>
          </a:xfrm>
          <a:custGeom>
            <a:avLst/>
            <a:gdLst/>
            <a:ahLst/>
            <a:cxnLst/>
            <a:rect l="l" t="t" r="r" b="b"/>
            <a:pathLst>
              <a:path w="1177289" h="666114">
                <a:moveTo>
                  <a:pt x="1177072" y="332876"/>
                </a:moveTo>
                <a:lnTo>
                  <a:pt x="1165115" y="265795"/>
                </a:lnTo>
                <a:lnTo>
                  <a:pt x="1130822" y="203313"/>
                </a:lnTo>
                <a:lnTo>
                  <a:pt x="1106039" y="174215"/>
                </a:lnTo>
                <a:lnTo>
                  <a:pt x="1076559" y="146769"/>
                </a:lnTo>
                <a:lnTo>
                  <a:pt x="1042678" y="121143"/>
                </a:lnTo>
                <a:lnTo>
                  <a:pt x="1004693" y="97503"/>
                </a:lnTo>
                <a:lnTo>
                  <a:pt x="962899" y="76018"/>
                </a:lnTo>
                <a:lnTo>
                  <a:pt x="917592" y="56854"/>
                </a:lnTo>
                <a:lnTo>
                  <a:pt x="869068" y="40179"/>
                </a:lnTo>
                <a:lnTo>
                  <a:pt x="817622" y="26161"/>
                </a:lnTo>
                <a:lnTo>
                  <a:pt x="763551" y="14966"/>
                </a:lnTo>
                <a:lnTo>
                  <a:pt x="707150" y="6763"/>
                </a:lnTo>
                <a:lnTo>
                  <a:pt x="648715" y="1718"/>
                </a:lnTo>
                <a:lnTo>
                  <a:pt x="588542" y="0"/>
                </a:lnTo>
                <a:lnTo>
                  <a:pt x="528366" y="1718"/>
                </a:lnTo>
                <a:lnTo>
                  <a:pt x="469929" y="6763"/>
                </a:lnTo>
                <a:lnTo>
                  <a:pt x="413526" y="14966"/>
                </a:lnTo>
                <a:lnTo>
                  <a:pt x="359453" y="26161"/>
                </a:lnTo>
                <a:lnTo>
                  <a:pt x="308006" y="40179"/>
                </a:lnTo>
                <a:lnTo>
                  <a:pt x="259481" y="56854"/>
                </a:lnTo>
                <a:lnTo>
                  <a:pt x="214173" y="76018"/>
                </a:lnTo>
                <a:lnTo>
                  <a:pt x="172378" y="97503"/>
                </a:lnTo>
                <a:lnTo>
                  <a:pt x="134393" y="121143"/>
                </a:lnTo>
                <a:lnTo>
                  <a:pt x="100512" y="146769"/>
                </a:lnTo>
                <a:lnTo>
                  <a:pt x="71033" y="174215"/>
                </a:lnTo>
                <a:lnTo>
                  <a:pt x="46250" y="203313"/>
                </a:lnTo>
                <a:lnTo>
                  <a:pt x="11956" y="265795"/>
                </a:lnTo>
                <a:lnTo>
                  <a:pt x="0" y="332876"/>
                </a:lnTo>
                <a:lnTo>
                  <a:pt x="3038" y="366907"/>
                </a:lnTo>
                <a:lnTo>
                  <a:pt x="26459" y="431854"/>
                </a:lnTo>
                <a:lnTo>
                  <a:pt x="71033" y="491529"/>
                </a:lnTo>
                <a:lnTo>
                  <a:pt x="100512" y="518971"/>
                </a:lnTo>
                <a:lnTo>
                  <a:pt x="134393" y="544595"/>
                </a:lnTo>
                <a:lnTo>
                  <a:pt x="172378" y="568231"/>
                </a:lnTo>
                <a:lnTo>
                  <a:pt x="214173" y="589713"/>
                </a:lnTo>
                <a:lnTo>
                  <a:pt x="259481" y="608873"/>
                </a:lnTo>
                <a:lnTo>
                  <a:pt x="308006" y="625545"/>
                </a:lnTo>
                <a:lnTo>
                  <a:pt x="359453" y="639561"/>
                </a:lnTo>
                <a:lnTo>
                  <a:pt x="413526" y="650753"/>
                </a:lnTo>
                <a:lnTo>
                  <a:pt x="469929" y="658954"/>
                </a:lnTo>
                <a:lnTo>
                  <a:pt x="528366" y="663998"/>
                </a:lnTo>
                <a:lnTo>
                  <a:pt x="588542" y="665716"/>
                </a:lnTo>
                <a:lnTo>
                  <a:pt x="648715" y="663998"/>
                </a:lnTo>
                <a:lnTo>
                  <a:pt x="707150" y="658954"/>
                </a:lnTo>
                <a:lnTo>
                  <a:pt x="763551" y="650753"/>
                </a:lnTo>
                <a:lnTo>
                  <a:pt x="817622" y="639561"/>
                </a:lnTo>
                <a:lnTo>
                  <a:pt x="869068" y="625545"/>
                </a:lnTo>
                <a:lnTo>
                  <a:pt x="917592" y="608873"/>
                </a:lnTo>
                <a:lnTo>
                  <a:pt x="962899" y="589713"/>
                </a:lnTo>
                <a:lnTo>
                  <a:pt x="1004693" y="568231"/>
                </a:lnTo>
                <a:lnTo>
                  <a:pt x="1042678" y="544595"/>
                </a:lnTo>
                <a:lnTo>
                  <a:pt x="1076559" y="518971"/>
                </a:lnTo>
                <a:lnTo>
                  <a:pt x="1106039" y="491529"/>
                </a:lnTo>
                <a:lnTo>
                  <a:pt x="1130822" y="462434"/>
                </a:lnTo>
                <a:lnTo>
                  <a:pt x="1165115" y="399956"/>
                </a:lnTo>
                <a:lnTo>
                  <a:pt x="1177072" y="332876"/>
                </a:lnTo>
                <a:close/>
              </a:path>
            </a:pathLst>
          </a:custGeom>
          <a:ln w="43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3313" y="3948143"/>
            <a:ext cx="1036955" cy="40576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100" spc="35" dirty="0">
                <a:latin typeface="宋体"/>
                <a:cs typeface="宋体"/>
              </a:rPr>
              <a:t>需求工程</a:t>
            </a:r>
            <a:endParaRPr sz="11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100" spc="35" dirty="0">
                <a:latin typeface="宋体"/>
                <a:cs typeface="宋体"/>
              </a:rPr>
              <a:t>（需求工程师）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49156" y="1647724"/>
            <a:ext cx="1330960" cy="666115"/>
          </a:xfrm>
          <a:custGeom>
            <a:avLst/>
            <a:gdLst/>
            <a:ahLst/>
            <a:cxnLst/>
            <a:rect l="l" t="t" r="r" b="b"/>
            <a:pathLst>
              <a:path w="1330959" h="666114">
                <a:moveTo>
                  <a:pt x="1330773" y="332930"/>
                </a:moveTo>
                <a:lnTo>
                  <a:pt x="1318775" y="269659"/>
                </a:lnTo>
                <a:lnTo>
                  <a:pt x="1284268" y="210398"/>
                </a:lnTo>
                <a:lnTo>
                  <a:pt x="1229482" y="156263"/>
                </a:lnTo>
                <a:lnTo>
                  <a:pt x="1195181" y="131467"/>
                </a:lnTo>
                <a:lnTo>
                  <a:pt x="1156646" y="108370"/>
                </a:lnTo>
                <a:lnTo>
                  <a:pt x="1114156" y="87113"/>
                </a:lnTo>
                <a:lnTo>
                  <a:pt x="1067990" y="67835"/>
                </a:lnTo>
                <a:lnTo>
                  <a:pt x="1018426" y="50674"/>
                </a:lnTo>
                <a:lnTo>
                  <a:pt x="965742" y="35771"/>
                </a:lnTo>
                <a:lnTo>
                  <a:pt x="910219" y="23265"/>
                </a:lnTo>
                <a:lnTo>
                  <a:pt x="852134" y="13296"/>
                </a:lnTo>
                <a:lnTo>
                  <a:pt x="791766" y="6002"/>
                </a:lnTo>
                <a:lnTo>
                  <a:pt x="729394" y="1523"/>
                </a:lnTo>
                <a:lnTo>
                  <a:pt x="665296" y="0"/>
                </a:lnTo>
                <a:lnTo>
                  <a:pt x="601228" y="1523"/>
                </a:lnTo>
                <a:lnTo>
                  <a:pt x="538883" y="6002"/>
                </a:lnTo>
                <a:lnTo>
                  <a:pt x="478538" y="13296"/>
                </a:lnTo>
                <a:lnTo>
                  <a:pt x="420473" y="23265"/>
                </a:lnTo>
                <a:lnTo>
                  <a:pt x="364967" y="35771"/>
                </a:lnTo>
                <a:lnTo>
                  <a:pt x="312298" y="50674"/>
                </a:lnTo>
                <a:lnTo>
                  <a:pt x="262746" y="67835"/>
                </a:lnTo>
                <a:lnTo>
                  <a:pt x="216590" y="87113"/>
                </a:lnTo>
                <a:lnTo>
                  <a:pt x="174107" y="108370"/>
                </a:lnTo>
                <a:lnTo>
                  <a:pt x="135579" y="131467"/>
                </a:lnTo>
                <a:lnTo>
                  <a:pt x="101282" y="156263"/>
                </a:lnTo>
                <a:lnTo>
                  <a:pt x="71497" y="182620"/>
                </a:lnTo>
                <a:lnTo>
                  <a:pt x="26575" y="239457"/>
                </a:lnTo>
                <a:lnTo>
                  <a:pt x="3045" y="300863"/>
                </a:lnTo>
                <a:lnTo>
                  <a:pt x="0" y="332930"/>
                </a:lnTo>
                <a:lnTo>
                  <a:pt x="3045" y="364968"/>
                </a:lnTo>
                <a:lnTo>
                  <a:pt x="26575" y="426323"/>
                </a:lnTo>
                <a:lnTo>
                  <a:pt x="71497" y="483123"/>
                </a:lnTo>
                <a:lnTo>
                  <a:pt x="101282" y="509465"/>
                </a:lnTo>
                <a:lnTo>
                  <a:pt x="135579" y="534250"/>
                </a:lnTo>
                <a:lnTo>
                  <a:pt x="174107" y="557336"/>
                </a:lnTo>
                <a:lnTo>
                  <a:pt x="216590" y="578585"/>
                </a:lnTo>
                <a:lnTo>
                  <a:pt x="262746" y="597858"/>
                </a:lnTo>
                <a:lnTo>
                  <a:pt x="312298" y="615014"/>
                </a:lnTo>
                <a:lnTo>
                  <a:pt x="364967" y="629913"/>
                </a:lnTo>
                <a:lnTo>
                  <a:pt x="420473" y="642417"/>
                </a:lnTo>
                <a:lnTo>
                  <a:pt x="478538" y="652385"/>
                </a:lnTo>
                <a:lnTo>
                  <a:pt x="538883" y="659678"/>
                </a:lnTo>
                <a:lnTo>
                  <a:pt x="601228" y="664156"/>
                </a:lnTo>
                <a:lnTo>
                  <a:pt x="665296" y="665680"/>
                </a:lnTo>
                <a:lnTo>
                  <a:pt x="729394" y="664156"/>
                </a:lnTo>
                <a:lnTo>
                  <a:pt x="791766" y="659678"/>
                </a:lnTo>
                <a:lnTo>
                  <a:pt x="852134" y="652385"/>
                </a:lnTo>
                <a:lnTo>
                  <a:pt x="910219" y="642417"/>
                </a:lnTo>
                <a:lnTo>
                  <a:pt x="965742" y="629913"/>
                </a:lnTo>
                <a:lnTo>
                  <a:pt x="1018426" y="615014"/>
                </a:lnTo>
                <a:lnTo>
                  <a:pt x="1067990" y="597858"/>
                </a:lnTo>
                <a:lnTo>
                  <a:pt x="1114156" y="578585"/>
                </a:lnTo>
                <a:lnTo>
                  <a:pt x="1156646" y="557336"/>
                </a:lnTo>
                <a:lnTo>
                  <a:pt x="1195181" y="534250"/>
                </a:lnTo>
                <a:lnTo>
                  <a:pt x="1229482" y="509465"/>
                </a:lnTo>
                <a:lnTo>
                  <a:pt x="1259271" y="483123"/>
                </a:lnTo>
                <a:lnTo>
                  <a:pt x="1304196" y="426323"/>
                </a:lnTo>
                <a:lnTo>
                  <a:pt x="1327727" y="364968"/>
                </a:lnTo>
                <a:lnTo>
                  <a:pt x="1330773" y="332930"/>
                </a:lnTo>
                <a:close/>
              </a:path>
            </a:pathLst>
          </a:custGeom>
          <a:ln w="4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24019" y="1689038"/>
            <a:ext cx="1181100" cy="562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100" spc="35" dirty="0">
                <a:latin typeface="宋体"/>
                <a:cs typeface="宋体"/>
              </a:rPr>
              <a:t>并行开发</a:t>
            </a:r>
            <a:r>
              <a:rPr sz="1100" spc="1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 marL="12700" marR="5080" algn="ctr">
              <a:lnSpc>
                <a:spcPts val="1460"/>
              </a:lnSpc>
              <a:spcBef>
                <a:spcPts val="15"/>
              </a:spcBef>
            </a:pPr>
            <a:r>
              <a:rPr sz="1100" spc="35" dirty="0">
                <a:latin typeface="宋体"/>
                <a:cs typeface="宋体"/>
              </a:rPr>
              <a:t>（设计人员、程序 员）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49156" y="3055860"/>
            <a:ext cx="1330960" cy="666115"/>
          </a:xfrm>
          <a:custGeom>
            <a:avLst/>
            <a:gdLst/>
            <a:ahLst/>
            <a:cxnLst/>
            <a:rect l="l" t="t" r="r" b="b"/>
            <a:pathLst>
              <a:path w="1330959" h="666114">
                <a:moveTo>
                  <a:pt x="1330773" y="332930"/>
                </a:moveTo>
                <a:lnTo>
                  <a:pt x="1318775" y="269659"/>
                </a:lnTo>
                <a:lnTo>
                  <a:pt x="1284268" y="210398"/>
                </a:lnTo>
                <a:lnTo>
                  <a:pt x="1229482" y="156263"/>
                </a:lnTo>
                <a:lnTo>
                  <a:pt x="1195181" y="131467"/>
                </a:lnTo>
                <a:lnTo>
                  <a:pt x="1156646" y="108370"/>
                </a:lnTo>
                <a:lnTo>
                  <a:pt x="1114156" y="87113"/>
                </a:lnTo>
                <a:lnTo>
                  <a:pt x="1067990" y="67835"/>
                </a:lnTo>
                <a:lnTo>
                  <a:pt x="1018426" y="50674"/>
                </a:lnTo>
                <a:lnTo>
                  <a:pt x="965742" y="35771"/>
                </a:lnTo>
                <a:lnTo>
                  <a:pt x="910219" y="23265"/>
                </a:lnTo>
                <a:lnTo>
                  <a:pt x="852134" y="13296"/>
                </a:lnTo>
                <a:lnTo>
                  <a:pt x="791766" y="6002"/>
                </a:lnTo>
                <a:lnTo>
                  <a:pt x="729394" y="1523"/>
                </a:lnTo>
                <a:lnTo>
                  <a:pt x="665296" y="0"/>
                </a:lnTo>
                <a:lnTo>
                  <a:pt x="601228" y="1523"/>
                </a:lnTo>
                <a:lnTo>
                  <a:pt x="538883" y="6002"/>
                </a:lnTo>
                <a:lnTo>
                  <a:pt x="478538" y="13296"/>
                </a:lnTo>
                <a:lnTo>
                  <a:pt x="420473" y="23265"/>
                </a:lnTo>
                <a:lnTo>
                  <a:pt x="364967" y="35771"/>
                </a:lnTo>
                <a:lnTo>
                  <a:pt x="312298" y="50674"/>
                </a:lnTo>
                <a:lnTo>
                  <a:pt x="262746" y="67835"/>
                </a:lnTo>
                <a:lnTo>
                  <a:pt x="216590" y="87113"/>
                </a:lnTo>
                <a:lnTo>
                  <a:pt x="174107" y="108370"/>
                </a:lnTo>
                <a:lnTo>
                  <a:pt x="135579" y="131467"/>
                </a:lnTo>
                <a:lnTo>
                  <a:pt x="101282" y="156263"/>
                </a:lnTo>
                <a:lnTo>
                  <a:pt x="71497" y="182620"/>
                </a:lnTo>
                <a:lnTo>
                  <a:pt x="26575" y="239457"/>
                </a:lnTo>
                <a:lnTo>
                  <a:pt x="3045" y="300863"/>
                </a:lnTo>
                <a:lnTo>
                  <a:pt x="0" y="332930"/>
                </a:lnTo>
                <a:lnTo>
                  <a:pt x="3045" y="364968"/>
                </a:lnTo>
                <a:lnTo>
                  <a:pt x="26575" y="426323"/>
                </a:lnTo>
                <a:lnTo>
                  <a:pt x="71497" y="483123"/>
                </a:lnTo>
                <a:lnTo>
                  <a:pt x="101282" y="509465"/>
                </a:lnTo>
                <a:lnTo>
                  <a:pt x="135579" y="534250"/>
                </a:lnTo>
                <a:lnTo>
                  <a:pt x="174107" y="557336"/>
                </a:lnTo>
                <a:lnTo>
                  <a:pt x="216590" y="578585"/>
                </a:lnTo>
                <a:lnTo>
                  <a:pt x="262746" y="597858"/>
                </a:lnTo>
                <a:lnTo>
                  <a:pt x="312298" y="615014"/>
                </a:lnTo>
                <a:lnTo>
                  <a:pt x="364967" y="629913"/>
                </a:lnTo>
                <a:lnTo>
                  <a:pt x="420473" y="642417"/>
                </a:lnTo>
                <a:lnTo>
                  <a:pt x="478538" y="652385"/>
                </a:lnTo>
                <a:lnTo>
                  <a:pt x="538883" y="659678"/>
                </a:lnTo>
                <a:lnTo>
                  <a:pt x="601228" y="664156"/>
                </a:lnTo>
                <a:lnTo>
                  <a:pt x="665296" y="665680"/>
                </a:lnTo>
                <a:lnTo>
                  <a:pt x="729394" y="664156"/>
                </a:lnTo>
                <a:lnTo>
                  <a:pt x="791766" y="659678"/>
                </a:lnTo>
                <a:lnTo>
                  <a:pt x="852134" y="652385"/>
                </a:lnTo>
                <a:lnTo>
                  <a:pt x="910219" y="642417"/>
                </a:lnTo>
                <a:lnTo>
                  <a:pt x="965742" y="629913"/>
                </a:lnTo>
                <a:lnTo>
                  <a:pt x="1018426" y="615014"/>
                </a:lnTo>
                <a:lnTo>
                  <a:pt x="1067990" y="597858"/>
                </a:lnTo>
                <a:lnTo>
                  <a:pt x="1114156" y="578585"/>
                </a:lnTo>
                <a:lnTo>
                  <a:pt x="1156646" y="557336"/>
                </a:lnTo>
                <a:lnTo>
                  <a:pt x="1195181" y="534250"/>
                </a:lnTo>
                <a:lnTo>
                  <a:pt x="1229482" y="509465"/>
                </a:lnTo>
                <a:lnTo>
                  <a:pt x="1259271" y="483123"/>
                </a:lnTo>
                <a:lnTo>
                  <a:pt x="1304196" y="426323"/>
                </a:lnTo>
                <a:lnTo>
                  <a:pt x="1327727" y="364968"/>
                </a:lnTo>
                <a:lnTo>
                  <a:pt x="1330773" y="332930"/>
                </a:lnTo>
                <a:close/>
              </a:path>
            </a:pathLst>
          </a:custGeom>
          <a:ln w="4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224019" y="3097355"/>
            <a:ext cx="1181100" cy="562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100" spc="35" dirty="0">
                <a:latin typeface="宋体"/>
                <a:cs typeface="宋体"/>
              </a:rPr>
              <a:t>并行开发</a:t>
            </a:r>
            <a:r>
              <a:rPr sz="1100" spc="15" dirty="0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  <a:p>
            <a:pPr marL="12700" marR="5080" algn="ctr">
              <a:lnSpc>
                <a:spcPts val="1470"/>
              </a:lnSpc>
              <a:spcBef>
                <a:spcPts val="5"/>
              </a:spcBef>
            </a:pPr>
            <a:r>
              <a:rPr sz="1100" spc="35" dirty="0">
                <a:latin typeface="宋体"/>
                <a:cs typeface="宋体"/>
              </a:rPr>
              <a:t>（设计人员、程序 员）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92705" y="3836793"/>
            <a:ext cx="1330960" cy="666115"/>
          </a:xfrm>
          <a:custGeom>
            <a:avLst/>
            <a:gdLst/>
            <a:ahLst/>
            <a:cxnLst/>
            <a:rect l="l" t="t" r="r" b="b"/>
            <a:pathLst>
              <a:path w="1330960" h="666114">
                <a:moveTo>
                  <a:pt x="1330592" y="332876"/>
                </a:moveTo>
                <a:lnTo>
                  <a:pt x="1318595" y="269626"/>
                </a:lnTo>
                <a:lnTo>
                  <a:pt x="1284090" y="210381"/>
                </a:lnTo>
                <a:lnTo>
                  <a:pt x="1229310" y="156257"/>
                </a:lnTo>
                <a:lnTo>
                  <a:pt x="1195013" y="131464"/>
                </a:lnTo>
                <a:lnTo>
                  <a:pt x="1156484" y="108370"/>
                </a:lnTo>
                <a:lnTo>
                  <a:pt x="1114002" y="87114"/>
                </a:lnTo>
                <a:lnTo>
                  <a:pt x="1067846" y="67836"/>
                </a:lnTo>
                <a:lnTo>
                  <a:pt x="1018294" y="50676"/>
                </a:lnTo>
                <a:lnTo>
                  <a:pt x="965625" y="35773"/>
                </a:lnTo>
                <a:lnTo>
                  <a:pt x="910119" y="23267"/>
                </a:lnTo>
                <a:lnTo>
                  <a:pt x="852054" y="13297"/>
                </a:lnTo>
                <a:lnTo>
                  <a:pt x="791709" y="6002"/>
                </a:lnTo>
                <a:lnTo>
                  <a:pt x="729364" y="1523"/>
                </a:lnTo>
                <a:lnTo>
                  <a:pt x="665296" y="0"/>
                </a:lnTo>
                <a:lnTo>
                  <a:pt x="601228" y="1523"/>
                </a:lnTo>
                <a:lnTo>
                  <a:pt x="538883" y="6002"/>
                </a:lnTo>
                <a:lnTo>
                  <a:pt x="478538" y="13297"/>
                </a:lnTo>
                <a:lnTo>
                  <a:pt x="420473" y="23267"/>
                </a:lnTo>
                <a:lnTo>
                  <a:pt x="364967" y="35773"/>
                </a:lnTo>
                <a:lnTo>
                  <a:pt x="312298" y="50676"/>
                </a:lnTo>
                <a:lnTo>
                  <a:pt x="262746" y="67836"/>
                </a:lnTo>
                <a:lnTo>
                  <a:pt x="216590" y="87114"/>
                </a:lnTo>
                <a:lnTo>
                  <a:pt x="174107" y="108370"/>
                </a:lnTo>
                <a:lnTo>
                  <a:pt x="135579" y="131464"/>
                </a:lnTo>
                <a:lnTo>
                  <a:pt x="101282" y="156257"/>
                </a:lnTo>
                <a:lnTo>
                  <a:pt x="71497" y="182609"/>
                </a:lnTo>
                <a:lnTo>
                  <a:pt x="26575" y="239434"/>
                </a:lnTo>
                <a:lnTo>
                  <a:pt x="3045" y="300820"/>
                </a:lnTo>
                <a:lnTo>
                  <a:pt x="0" y="332876"/>
                </a:lnTo>
                <a:lnTo>
                  <a:pt x="3045" y="364931"/>
                </a:lnTo>
                <a:lnTo>
                  <a:pt x="26575" y="426316"/>
                </a:lnTo>
                <a:lnTo>
                  <a:pt x="71497" y="483135"/>
                </a:lnTo>
                <a:lnTo>
                  <a:pt x="101282" y="509485"/>
                </a:lnTo>
                <a:lnTo>
                  <a:pt x="135579" y="534275"/>
                </a:lnTo>
                <a:lnTo>
                  <a:pt x="174107" y="557366"/>
                </a:lnTo>
                <a:lnTo>
                  <a:pt x="216590" y="578618"/>
                </a:lnTo>
                <a:lnTo>
                  <a:pt x="262746" y="597893"/>
                </a:lnTo>
                <a:lnTo>
                  <a:pt x="312298" y="615050"/>
                </a:lnTo>
                <a:lnTo>
                  <a:pt x="364967" y="629950"/>
                </a:lnTo>
                <a:lnTo>
                  <a:pt x="420473" y="642454"/>
                </a:lnTo>
                <a:lnTo>
                  <a:pt x="478538" y="652422"/>
                </a:lnTo>
                <a:lnTo>
                  <a:pt x="538883" y="659715"/>
                </a:lnTo>
                <a:lnTo>
                  <a:pt x="601228" y="664193"/>
                </a:lnTo>
                <a:lnTo>
                  <a:pt x="665296" y="665716"/>
                </a:lnTo>
                <a:lnTo>
                  <a:pt x="729364" y="664193"/>
                </a:lnTo>
                <a:lnTo>
                  <a:pt x="791709" y="659715"/>
                </a:lnTo>
                <a:lnTo>
                  <a:pt x="852054" y="652422"/>
                </a:lnTo>
                <a:lnTo>
                  <a:pt x="910119" y="642454"/>
                </a:lnTo>
                <a:lnTo>
                  <a:pt x="965625" y="629950"/>
                </a:lnTo>
                <a:lnTo>
                  <a:pt x="1018294" y="615050"/>
                </a:lnTo>
                <a:lnTo>
                  <a:pt x="1067846" y="597893"/>
                </a:lnTo>
                <a:lnTo>
                  <a:pt x="1114002" y="578618"/>
                </a:lnTo>
                <a:lnTo>
                  <a:pt x="1156484" y="557366"/>
                </a:lnTo>
                <a:lnTo>
                  <a:pt x="1195013" y="534275"/>
                </a:lnTo>
                <a:lnTo>
                  <a:pt x="1229310" y="509485"/>
                </a:lnTo>
                <a:lnTo>
                  <a:pt x="1259095" y="483135"/>
                </a:lnTo>
                <a:lnTo>
                  <a:pt x="1304017" y="426316"/>
                </a:lnTo>
                <a:lnTo>
                  <a:pt x="1327547" y="364931"/>
                </a:lnTo>
                <a:lnTo>
                  <a:pt x="1330592" y="332876"/>
                </a:lnTo>
                <a:close/>
              </a:path>
            </a:pathLst>
          </a:custGeom>
          <a:ln w="4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12001" y="3948143"/>
            <a:ext cx="892175" cy="40576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100" spc="35" dirty="0">
                <a:latin typeface="宋体"/>
                <a:cs typeface="宋体"/>
              </a:rPr>
              <a:t>测试计划</a:t>
            </a:r>
            <a:endParaRPr sz="11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100" spc="35" dirty="0">
                <a:latin typeface="宋体"/>
                <a:cs typeface="宋体"/>
              </a:rPr>
              <a:t>（测试人员）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92705" y="5065782"/>
            <a:ext cx="1330960" cy="666115"/>
          </a:xfrm>
          <a:custGeom>
            <a:avLst/>
            <a:gdLst/>
            <a:ahLst/>
            <a:cxnLst/>
            <a:rect l="l" t="t" r="r" b="b"/>
            <a:pathLst>
              <a:path w="1330960" h="666114">
                <a:moveTo>
                  <a:pt x="1330592" y="332840"/>
                </a:moveTo>
                <a:lnTo>
                  <a:pt x="1318595" y="269592"/>
                </a:lnTo>
                <a:lnTo>
                  <a:pt x="1284090" y="210350"/>
                </a:lnTo>
                <a:lnTo>
                  <a:pt x="1229310" y="156231"/>
                </a:lnTo>
                <a:lnTo>
                  <a:pt x="1195013" y="131441"/>
                </a:lnTo>
                <a:lnTo>
                  <a:pt x="1156484" y="108350"/>
                </a:lnTo>
                <a:lnTo>
                  <a:pt x="1114002" y="87097"/>
                </a:lnTo>
                <a:lnTo>
                  <a:pt x="1067846" y="67823"/>
                </a:lnTo>
                <a:lnTo>
                  <a:pt x="1018294" y="50666"/>
                </a:lnTo>
                <a:lnTo>
                  <a:pt x="965625" y="35766"/>
                </a:lnTo>
                <a:lnTo>
                  <a:pt x="910119" y="23262"/>
                </a:lnTo>
                <a:lnTo>
                  <a:pt x="852054" y="13294"/>
                </a:lnTo>
                <a:lnTo>
                  <a:pt x="791709" y="6001"/>
                </a:lnTo>
                <a:lnTo>
                  <a:pt x="729364" y="1523"/>
                </a:lnTo>
                <a:lnTo>
                  <a:pt x="665296" y="0"/>
                </a:lnTo>
                <a:lnTo>
                  <a:pt x="601228" y="1523"/>
                </a:lnTo>
                <a:lnTo>
                  <a:pt x="538883" y="6001"/>
                </a:lnTo>
                <a:lnTo>
                  <a:pt x="478538" y="13294"/>
                </a:lnTo>
                <a:lnTo>
                  <a:pt x="420473" y="23262"/>
                </a:lnTo>
                <a:lnTo>
                  <a:pt x="364967" y="35766"/>
                </a:lnTo>
                <a:lnTo>
                  <a:pt x="312298" y="50666"/>
                </a:lnTo>
                <a:lnTo>
                  <a:pt x="262746" y="67823"/>
                </a:lnTo>
                <a:lnTo>
                  <a:pt x="216590" y="87097"/>
                </a:lnTo>
                <a:lnTo>
                  <a:pt x="174107" y="108350"/>
                </a:lnTo>
                <a:lnTo>
                  <a:pt x="135579" y="131441"/>
                </a:lnTo>
                <a:lnTo>
                  <a:pt x="101282" y="156231"/>
                </a:lnTo>
                <a:lnTo>
                  <a:pt x="71497" y="182581"/>
                </a:lnTo>
                <a:lnTo>
                  <a:pt x="26575" y="239400"/>
                </a:lnTo>
                <a:lnTo>
                  <a:pt x="3045" y="300785"/>
                </a:lnTo>
                <a:lnTo>
                  <a:pt x="0" y="332840"/>
                </a:lnTo>
                <a:lnTo>
                  <a:pt x="3045" y="364895"/>
                </a:lnTo>
                <a:lnTo>
                  <a:pt x="26575" y="426280"/>
                </a:lnTo>
                <a:lnTo>
                  <a:pt x="71497" y="483101"/>
                </a:lnTo>
                <a:lnTo>
                  <a:pt x="101282" y="509451"/>
                </a:lnTo>
                <a:lnTo>
                  <a:pt x="135579" y="534242"/>
                </a:lnTo>
                <a:lnTo>
                  <a:pt x="174107" y="557334"/>
                </a:lnTo>
                <a:lnTo>
                  <a:pt x="216590" y="578587"/>
                </a:lnTo>
                <a:lnTo>
                  <a:pt x="262746" y="597863"/>
                </a:lnTo>
                <a:lnTo>
                  <a:pt x="312298" y="615020"/>
                </a:lnTo>
                <a:lnTo>
                  <a:pt x="364967" y="629921"/>
                </a:lnTo>
                <a:lnTo>
                  <a:pt x="420473" y="642426"/>
                </a:lnTo>
                <a:lnTo>
                  <a:pt x="478538" y="652394"/>
                </a:lnTo>
                <a:lnTo>
                  <a:pt x="538883" y="659687"/>
                </a:lnTo>
                <a:lnTo>
                  <a:pt x="601228" y="664166"/>
                </a:lnTo>
                <a:lnTo>
                  <a:pt x="665296" y="665689"/>
                </a:lnTo>
                <a:lnTo>
                  <a:pt x="729364" y="664166"/>
                </a:lnTo>
                <a:lnTo>
                  <a:pt x="791709" y="659687"/>
                </a:lnTo>
                <a:lnTo>
                  <a:pt x="852054" y="652394"/>
                </a:lnTo>
                <a:lnTo>
                  <a:pt x="910119" y="642426"/>
                </a:lnTo>
                <a:lnTo>
                  <a:pt x="965625" y="629921"/>
                </a:lnTo>
                <a:lnTo>
                  <a:pt x="1018294" y="615020"/>
                </a:lnTo>
                <a:lnTo>
                  <a:pt x="1067846" y="597863"/>
                </a:lnTo>
                <a:lnTo>
                  <a:pt x="1114002" y="578587"/>
                </a:lnTo>
                <a:lnTo>
                  <a:pt x="1156484" y="557334"/>
                </a:lnTo>
                <a:lnTo>
                  <a:pt x="1195013" y="534242"/>
                </a:lnTo>
                <a:lnTo>
                  <a:pt x="1229310" y="509451"/>
                </a:lnTo>
                <a:lnTo>
                  <a:pt x="1259095" y="483101"/>
                </a:lnTo>
                <a:lnTo>
                  <a:pt x="1304017" y="426280"/>
                </a:lnTo>
                <a:lnTo>
                  <a:pt x="1327547" y="364895"/>
                </a:lnTo>
                <a:lnTo>
                  <a:pt x="1330592" y="332840"/>
                </a:lnTo>
                <a:close/>
              </a:path>
            </a:pathLst>
          </a:custGeom>
          <a:ln w="4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767567" y="5081985"/>
            <a:ext cx="118110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6845" marR="149225" indent="144145">
              <a:lnSpc>
                <a:spcPct val="113500"/>
              </a:lnSpc>
              <a:spcBef>
                <a:spcPts val="90"/>
              </a:spcBef>
            </a:pPr>
            <a:r>
              <a:rPr sz="1100" spc="35" dirty="0">
                <a:latin typeface="宋体"/>
                <a:cs typeface="宋体"/>
              </a:rPr>
              <a:t>用户使用 手册编写计划</a:t>
            </a:r>
            <a:endParaRPr sz="11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00" spc="35" dirty="0">
                <a:latin typeface="宋体"/>
                <a:cs typeface="宋体"/>
              </a:rPr>
              <a:t>（文档编写人员）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92705" y="2377353"/>
            <a:ext cx="1330960" cy="666115"/>
          </a:xfrm>
          <a:custGeom>
            <a:avLst/>
            <a:gdLst/>
            <a:ahLst/>
            <a:cxnLst/>
            <a:rect l="l" t="t" r="r" b="b"/>
            <a:pathLst>
              <a:path w="1330960" h="666114">
                <a:moveTo>
                  <a:pt x="1330592" y="332930"/>
                </a:moveTo>
                <a:lnTo>
                  <a:pt x="1318595" y="269659"/>
                </a:lnTo>
                <a:lnTo>
                  <a:pt x="1284090" y="210398"/>
                </a:lnTo>
                <a:lnTo>
                  <a:pt x="1229310" y="156263"/>
                </a:lnTo>
                <a:lnTo>
                  <a:pt x="1195013" y="131467"/>
                </a:lnTo>
                <a:lnTo>
                  <a:pt x="1156484" y="108370"/>
                </a:lnTo>
                <a:lnTo>
                  <a:pt x="1114002" y="87113"/>
                </a:lnTo>
                <a:lnTo>
                  <a:pt x="1067846" y="67835"/>
                </a:lnTo>
                <a:lnTo>
                  <a:pt x="1018294" y="50674"/>
                </a:lnTo>
                <a:lnTo>
                  <a:pt x="965625" y="35771"/>
                </a:lnTo>
                <a:lnTo>
                  <a:pt x="910119" y="23265"/>
                </a:lnTo>
                <a:lnTo>
                  <a:pt x="852054" y="13296"/>
                </a:lnTo>
                <a:lnTo>
                  <a:pt x="791709" y="6002"/>
                </a:lnTo>
                <a:lnTo>
                  <a:pt x="729364" y="1523"/>
                </a:lnTo>
                <a:lnTo>
                  <a:pt x="665296" y="0"/>
                </a:lnTo>
                <a:lnTo>
                  <a:pt x="601228" y="1523"/>
                </a:lnTo>
                <a:lnTo>
                  <a:pt x="538883" y="6002"/>
                </a:lnTo>
                <a:lnTo>
                  <a:pt x="478538" y="13296"/>
                </a:lnTo>
                <a:lnTo>
                  <a:pt x="420473" y="23265"/>
                </a:lnTo>
                <a:lnTo>
                  <a:pt x="364967" y="35771"/>
                </a:lnTo>
                <a:lnTo>
                  <a:pt x="312298" y="50674"/>
                </a:lnTo>
                <a:lnTo>
                  <a:pt x="262746" y="67835"/>
                </a:lnTo>
                <a:lnTo>
                  <a:pt x="216590" y="87113"/>
                </a:lnTo>
                <a:lnTo>
                  <a:pt x="174107" y="108370"/>
                </a:lnTo>
                <a:lnTo>
                  <a:pt x="135579" y="131467"/>
                </a:lnTo>
                <a:lnTo>
                  <a:pt x="101282" y="156263"/>
                </a:lnTo>
                <a:lnTo>
                  <a:pt x="71497" y="182620"/>
                </a:lnTo>
                <a:lnTo>
                  <a:pt x="26575" y="239457"/>
                </a:lnTo>
                <a:lnTo>
                  <a:pt x="3045" y="300863"/>
                </a:lnTo>
                <a:lnTo>
                  <a:pt x="0" y="332930"/>
                </a:lnTo>
                <a:lnTo>
                  <a:pt x="3045" y="364996"/>
                </a:lnTo>
                <a:lnTo>
                  <a:pt x="26575" y="426388"/>
                </a:lnTo>
                <a:lnTo>
                  <a:pt x="71497" y="483203"/>
                </a:lnTo>
                <a:lnTo>
                  <a:pt x="101282" y="509545"/>
                </a:lnTo>
                <a:lnTo>
                  <a:pt x="135579" y="534327"/>
                </a:lnTo>
                <a:lnTo>
                  <a:pt x="174107" y="557408"/>
                </a:lnTo>
                <a:lnTo>
                  <a:pt x="216590" y="578649"/>
                </a:lnTo>
                <a:lnTo>
                  <a:pt x="262746" y="597912"/>
                </a:lnTo>
                <a:lnTo>
                  <a:pt x="312298" y="615057"/>
                </a:lnTo>
                <a:lnTo>
                  <a:pt x="364967" y="629946"/>
                </a:lnTo>
                <a:lnTo>
                  <a:pt x="420473" y="642440"/>
                </a:lnTo>
                <a:lnTo>
                  <a:pt x="478538" y="652399"/>
                </a:lnTo>
                <a:lnTo>
                  <a:pt x="538883" y="659685"/>
                </a:lnTo>
                <a:lnTo>
                  <a:pt x="601228" y="664158"/>
                </a:lnTo>
                <a:lnTo>
                  <a:pt x="665296" y="665680"/>
                </a:lnTo>
                <a:lnTo>
                  <a:pt x="729364" y="664158"/>
                </a:lnTo>
                <a:lnTo>
                  <a:pt x="791709" y="659685"/>
                </a:lnTo>
                <a:lnTo>
                  <a:pt x="852054" y="652399"/>
                </a:lnTo>
                <a:lnTo>
                  <a:pt x="910119" y="642440"/>
                </a:lnTo>
                <a:lnTo>
                  <a:pt x="965625" y="629946"/>
                </a:lnTo>
                <a:lnTo>
                  <a:pt x="1018294" y="615057"/>
                </a:lnTo>
                <a:lnTo>
                  <a:pt x="1067846" y="597912"/>
                </a:lnTo>
                <a:lnTo>
                  <a:pt x="1114002" y="578649"/>
                </a:lnTo>
                <a:lnTo>
                  <a:pt x="1156484" y="557408"/>
                </a:lnTo>
                <a:lnTo>
                  <a:pt x="1195013" y="534327"/>
                </a:lnTo>
                <a:lnTo>
                  <a:pt x="1229310" y="509545"/>
                </a:lnTo>
                <a:lnTo>
                  <a:pt x="1259095" y="483203"/>
                </a:lnTo>
                <a:lnTo>
                  <a:pt x="1304017" y="426388"/>
                </a:lnTo>
                <a:lnTo>
                  <a:pt x="1327547" y="364996"/>
                </a:lnTo>
                <a:lnTo>
                  <a:pt x="1330592" y="332930"/>
                </a:lnTo>
                <a:close/>
              </a:path>
            </a:pathLst>
          </a:custGeom>
          <a:ln w="4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67567" y="2488576"/>
            <a:ext cx="1699895" cy="3981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  <a:tabLst>
                <a:tab pos="1686560" algn="l"/>
              </a:tabLst>
            </a:pPr>
            <a:r>
              <a:rPr sz="1100" spc="35" dirty="0">
                <a:latin typeface="宋体"/>
                <a:cs typeface="宋体"/>
              </a:rPr>
              <a:t>软件估算与进度安</a:t>
            </a:r>
            <a:r>
              <a:rPr sz="1100" spc="110" dirty="0">
                <a:latin typeface="宋体"/>
                <a:cs typeface="宋体"/>
              </a:rPr>
              <a:t> </a:t>
            </a:r>
            <a:r>
              <a:rPr sz="11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100" spc="35" dirty="0">
                <a:latin typeface="宋体"/>
                <a:cs typeface="宋体"/>
              </a:rPr>
              <a:t>排（项目管理者）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6945" y="3169847"/>
            <a:ext cx="635" cy="568325"/>
          </a:xfrm>
          <a:custGeom>
            <a:avLst/>
            <a:gdLst/>
            <a:ahLst/>
            <a:cxnLst/>
            <a:rect l="l" t="t" r="r" b="b"/>
            <a:pathLst>
              <a:path w="634" h="568325">
                <a:moveTo>
                  <a:pt x="0" y="0"/>
                </a:moveTo>
                <a:lnTo>
                  <a:pt x="126" y="567770"/>
                </a:lnTo>
              </a:path>
            </a:pathLst>
          </a:custGeom>
          <a:ln w="43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50114" y="3068505"/>
            <a:ext cx="73660" cy="111125"/>
          </a:xfrm>
          <a:custGeom>
            <a:avLst/>
            <a:gdLst/>
            <a:ahLst/>
            <a:cxnLst/>
            <a:rect l="l" t="t" r="r" b="b"/>
            <a:pathLst>
              <a:path w="73659" h="111125">
                <a:moveTo>
                  <a:pt x="36812" y="0"/>
                </a:moveTo>
                <a:lnTo>
                  <a:pt x="0" y="110555"/>
                </a:lnTo>
                <a:lnTo>
                  <a:pt x="73661" y="110555"/>
                </a:lnTo>
                <a:lnTo>
                  <a:pt x="36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50241" y="3728405"/>
            <a:ext cx="73660" cy="111125"/>
          </a:xfrm>
          <a:custGeom>
            <a:avLst/>
            <a:gdLst/>
            <a:ahLst/>
            <a:cxnLst/>
            <a:rect l="l" t="t" r="r" b="b"/>
            <a:pathLst>
              <a:path w="73659" h="111125">
                <a:moveTo>
                  <a:pt x="73661" y="0"/>
                </a:moveTo>
                <a:lnTo>
                  <a:pt x="0" y="0"/>
                </a:lnTo>
                <a:lnTo>
                  <a:pt x="36848" y="110555"/>
                </a:lnTo>
                <a:lnTo>
                  <a:pt x="736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34870" y="2699987"/>
            <a:ext cx="111125" cy="74295"/>
          </a:xfrm>
          <a:custGeom>
            <a:avLst/>
            <a:gdLst/>
            <a:ahLst/>
            <a:cxnLst/>
            <a:rect l="l" t="t" r="r" b="b"/>
            <a:pathLst>
              <a:path w="111125" h="74294">
                <a:moveTo>
                  <a:pt x="0" y="0"/>
                </a:moveTo>
                <a:lnTo>
                  <a:pt x="541" y="73703"/>
                </a:lnTo>
                <a:lnTo>
                  <a:pt x="110852" y="359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49531" y="4155778"/>
            <a:ext cx="769620" cy="12700"/>
          </a:xfrm>
          <a:custGeom>
            <a:avLst/>
            <a:gdLst/>
            <a:ahLst/>
            <a:cxnLst/>
            <a:rect l="l" t="t" r="r" b="b"/>
            <a:pathLst>
              <a:path w="769619" h="12700">
                <a:moveTo>
                  <a:pt x="0" y="0"/>
                </a:moveTo>
                <a:lnTo>
                  <a:pt x="769270" y="12265"/>
                </a:lnTo>
              </a:path>
            </a:pathLst>
          </a:custGeom>
          <a:ln w="4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09052" y="4131065"/>
            <a:ext cx="111125" cy="74295"/>
          </a:xfrm>
          <a:custGeom>
            <a:avLst/>
            <a:gdLst/>
            <a:ahLst/>
            <a:cxnLst/>
            <a:rect l="l" t="t" r="r" b="b"/>
            <a:pathLst>
              <a:path w="111125" h="74295">
                <a:moveTo>
                  <a:pt x="1083" y="0"/>
                </a:moveTo>
                <a:lnTo>
                  <a:pt x="0" y="73685"/>
                </a:lnTo>
                <a:lnTo>
                  <a:pt x="111033" y="38604"/>
                </a:lnTo>
                <a:lnTo>
                  <a:pt x="10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82213" y="2699084"/>
            <a:ext cx="110489" cy="74295"/>
          </a:xfrm>
          <a:custGeom>
            <a:avLst/>
            <a:gdLst/>
            <a:ahLst/>
            <a:cxnLst/>
            <a:rect l="l" t="t" r="r" b="b"/>
            <a:pathLst>
              <a:path w="110489" h="74294">
                <a:moveTo>
                  <a:pt x="0" y="0"/>
                </a:moveTo>
                <a:lnTo>
                  <a:pt x="0" y="73703"/>
                </a:lnTo>
                <a:lnTo>
                  <a:pt x="110491" y="368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675374" y="2652604"/>
            <a:ext cx="278765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35" dirty="0">
                <a:latin typeface="宋体"/>
                <a:cs typeface="宋体"/>
              </a:rPr>
              <a:t>…</a:t>
            </a:r>
            <a:r>
              <a:rPr sz="1100" spc="5" dirty="0">
                <a:latin typeface="Times New Roman"/>
                <a:cs typeface="Times New Roman"/>
              </a:rPr>
              <a:t>...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42235" y="1955003"/>
            <a:ext cx="307340" cy="0"/>
          </a:xfrm>
          <a:custGeom>
            <a:avLst/>
            <a:gdLst/>
            <a:ahLst/>
            <a:cxnLst/>
            <a:rect l="l" t="t" r="r" b="b"/>
            <a:pathLst>
              <a:path w="307340">
                <a:moveTo>
                  <a:pt x="0" y="0"/>
                </a:moveTo>
                <a:lnTo>
                  <a:pt x="306921" y="0"/>
                </a:lnTo>
              </a:path>
            </a:pathLst>
          </a:custGeom>
          <a:ln w="4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42235" y="3388791"/>
            <a:ext cx="307340" cy="0"/>
          </a:xfrm>
          <a:custGeom>
            <a:avLst/>
            <a:gdLst/>
            <a:ahLst/>
            <a:cxnLst/>
            <a:rect l="l" t="t" r="r" b="b"/>
            <a:pathLst>
              <a:path w="307340">
                <a:moveTo>
                  <a:pt x="0" y="0"/>
                </a:moveTo>
                <a:lnTo>
                  <a:pt x="306921" y="0"/>
                </a:lnTo>
              </a:path>
            </a:pathLst>
          </a:custGeom>
          <a:ln w="4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42235" y="1955003"/>
            <a:ext cx="0" cy="1433830"/>
          </a:xfrm>
          <a:custGeom>
            <a:avLst/>
            <a:gdLst/>
            <a:ahLst/>
            <a:cxnLst/>
            <a:rect l="l" t="t" r="r" b="b"/>
            <a:pathLst>
              <a:path h="1433829">
                <a:moveTo>
                  <a:pt x="0" y="0"/>
                </a:moveTo>
                <a:lnTo>
                  <a:pt x="0" y="1433787"/>
                </a:lnTo>
              </a:path>
            </a:pathLst>
          </a:custGeom>
          <a:ln w="43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731382" y="2698181"/>
            <a:ext cx="111125" cy="74295"/>
          </a:xfrm>
          <a:custGeom>
            <a:avLst/>
            <a:gdLst/>
            <a:ahLst/>
            <a:cxnLst/>
            <a:rect l="l" t="t" r="r" b="b"/>
            <a:pathLst>
              <a:path w="111125" h="74294">
                <a:moveTo>
                  <a:pt x="541" y="0"/>
                </a:moveTo>
                <a:lnTo>
                  <a:pt x="0" y="73703"/>
                </a:lnTo>
                <a:lnTo>
                  <a:pt x="110852" y="37755"/>
                </a:lnTo>
                <a:lnTo>
                  <a:pt x="5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82213" y="4132817"/>
            <a:ext cx="110489" cy="74295"/>
          </a:xfrm>
          <a:custGeom>
            <a:avLst/>
            <a:gdLst/>
            <a:ahLst/>
            <a:cxnLst/>
            <a:rect l="l" t="t" r="r" b="b"/>
            <a:pathLst>
              <a:path w="110489" h="74295">
                <a:moveTo>
                  <a:pt x="0" y="0"/>
                </a:moveTo>
                <a:lnTo>
                  <a:pt x="0" y="73703"/>
                </a:lnTo>
                <a:lnTo>
                  <a:pt x="110491" y="368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2630736" y="2452033"/>
          <a:ext cx="1957705" cy="29482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1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73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1100" spc="35" dirty="0">
                          <a:latin typeface="宋体"/>
                          <a:cs typeface="宋体"/>
                        </a:rPr>
                        <a:t>软件体系结构</a:t>
                      </a:r>
                      <a:endParaRPr sz="1100">
                        <a:latin typeface="宋体"/>
                        <a:cs typeface="宋体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3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28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096">
                <a:tc rowSpan="4">
                  <a:txBody>
                    <a:bodyPr/>
                    <a:lstStyle/>
                    <a:p>
                      <a:pPr marL="358775" marR="62230" indent="-288925">
                        <a:lnSpc>
                          <a:spcPct val="111000"/>
                        </a:lnSpc>
                        <a:spcBef>
                          <a:spcPts val="270"/>
                        </a:spcBef>
                      </a:pPr>
                      <a:r>
                        <a:rPr sz="1100" dirty="0">
                          <a:latin typeface="宋体"/>
                          <a:cs typeface="宋体"/>
                        </a:rPr>
                        <a:t>软件需求规格说 </a:t>
                      </a:r>
                      <a:r>
                        <a:rPr sz="1100" spc="35" dirty="0">
                          <a:latin typeface="宋体"/>
                          <a:cs typeface="宋体"/>
                        </a:rPr>
                        <a:t>明文档</a:t>
                      </a:r>
                      <a:endParaRPr sz="1100">
                        <a:latin typeface="宋体"/>
                        <a:cs typeface="宋体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0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4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4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388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" name="object 29"/>
          <p:cNvSpPr/>
          <p:nvPr/>
        </p:nvSpPr>
        <p:spPr>
          <a:xfrm>
            <a:off x="4582033" y="5369231"/>
            <a:ext cx="111760" cy="74295"/>
          </a:xfrm>
          <a:custGeom>
            <a:avLst/>
            <a:gdLst/>
            <a:ahLst/>
            <a:cxnLst/>
            <a:rect l="l" t="t" r="r" b="b"/>
            <a:pathLst>
              <a:path w="111760" h="74295">
                <a:moveTo>
                  <a:pt x="1805" y="0"/>
                </a:moveTo>
                <a:lnTo>
                  <a:pt x="0" y="73685"/>
                </a:lnTo>
                <a:lnTo>
                  <a:pt x="111394" y="39579"/>
                </a:lnTo>
                <a:lnTo>
                  <a:pt x="18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需求规格说明文档</a:t>
            </a:r>
          </a:p>
          <a:p>
            <a:pPr marL="913765" algn="ctr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读者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083297" y="4788153"/>
            <a:ext cx="112268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还可能有：</a:t>
            </a:r>
            <a:endParaRPr sz="1600">
              <a:latin typeface="宋体"/>
              <a:cs typeface="宋体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宋体"/>
                <a:cs typeface="宋体"/>
              </a:rPr>
              <a:t>维护人员</a:t>
            </a:r>
            <a:endParaRPr sz="1600">
              <a:latin typeface="宋体"/>
              <a:cs typeface="宋体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宋体"/>
                <a:cs typeface="宋体"/>
              </a:rPr>
              <a:t>培训人员</a:t>
            </a:r>
            <a:endParaRPr sz="1600">
              <a:latin typeface="宋体"/>
              <a:cs typeface="宋体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宋体"/>
                <a:cs typeface="宋体"/>
              </a:rPr>
              <a:t>律师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258180" y="2895980"/>
            <a:ext cx="203454" cy="1744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926705" y="2085213"/>
            <a:ext cx="203453" cy="1760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926705" y="3531489"/>
            <a:ext cx="203453" cy="1744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258180" y="4355972"/>
            <a:ext cx="203454" cy="1744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58180" y="5803772"/>
            <a:ext cx="203454" cy="1760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需求规格说明文档</a:t>
            </a:r>
          </a:p>
          <a:p>
            <a:pPr marL="913765" algn="ctr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——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/>
              <a:t>手段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5067"/>
            <a:ext cx="8025765" cy="451421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55"/>
              </a:spcBef>
              <a:buClr>
                <a:srgbClr val="00663B"/>
              </a:buClr>
              <a:buSzPct val="7884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600" dirty="0">
                <a:latin typeface="宋体"/>
                <a:cs typeface="宋体"/>
              </a:rPr>
              <a:t>非形式化</a:t>
            </a:r>
            <a:endParaRPr sz="26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5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200" spc="-5" dirty="0">
                <a:latin typeface="宋体"/>
                <a:cs typeface="宋体"/>
              </a:rPr>
              <a:t>自然语言</a:t>
            </a:r>
            <a:endParaRPr sz="2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200" spc="-5" dirty="0">
                <a:latin typeface="宋体"/>
                <a:cs typeface="宋体"/>
              </a:rPr>
              <a:t>限制性文本（松散、模糊、歧义等）</a:t>
            </a:r>
            <a:endParaRPr sz="2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10"/>
              </a:spcBef>
              <a:buClr>
                <a:srgbClr val="00663B"/>
              </a:buClr>
              <a:buSzPct val="7884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600" dirty="0">
                <a:latin typeface="宋体"/>
                <a:cs typeface="宋体"/>
              </a:rPr>
              <a:t>半形式化</a:t>
            </a:r>
            <a:endParaRPr sz="26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4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200" spc="-10" dirty="0">
                <a:latin typeface="宋体"/>
                <a:cs typeface="宋体"/>
              </a:rPr>
              <a:t>结构化文本</a:t>
            </a:r>
            <a:endParaRPr sz="22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latin typeface="宋体"/>
                <a:cs typeface="宋体"/>
              </a:rPr>
              <a:t>伪码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dirty="0">
                <a:latin typeface="宋体"/>
                <a:cs typeface="宋体"/>
              </a:rPr>
              <a:t>结构化语言</a:t>
            </a:r>
            <a:r>
              <a:rPr sz="1800" spc="-5" dirty="0">
                <a:latin typeface="宋体"/>
                <a:cs typeface="宋体"/>
              </a:rPr>
              <a:t>：</a:t>
            </a:r>
            <a:r>
              <a:rPr sz="1800" spc="-5" dirty="0">
                <a:latin typeface="Calibri"/>
                <a:cs typeface="Calibri"/>
              </a:rPr>
              <a:t>UML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09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200" spc="-5" dirty="0">
                <a:latin typeface="宋体"/>
                <a:cs typeface="宋体"/>
              </a:rPr>
              <a:t>模型语言</a:t>
            </a:r>
            <a:endParaRPr sz="22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latin typeface="宋体"/>
                <a:cs typeface="宋体"/>
              </a:rPr>
              <a:t>图、表</a:t>
            </a: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95"/>
              </a:spcBef>
              <a:buClr>
                <a:srgbClr val="00663B"/>
              </a:buClr>
              <a:buSzPct val="7884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600" dirty="0">
                <a:latin typeface="宋体"/>
                <a:cs typeface="宋体"/>
              </a:rPr>
              <a:t>形式化</a:t>
            </a:r>
            <a:endParaRPr sz="26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4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200" spc="-5" dirty="0">
                <a:latin typeface="宋体"/>
                <a:cs typeface="宋体"/>
              </a:rPr>
              <a:t>形式化语言</a:t>
            </a:r>
            <a:endParaRPr sz="22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latin typeface="宋体"/>
                <a:cs typeface="宋体"/>
              </a:rPr>
              <a:t>数学语言</a:t>
            </a:r>
            <a:r>
              <a:rPr sz="1800" spc="-5" dirty="0">
                <a:latin typeface="宋体"/>
                <a:cs typeface="宋体"/>
              </a:rPr>
              <a:t>：</a:t>
            </a:r>
            <a:r>
              <a:rPr sz="2100" spc="-5" dirty="0">
                <a:latin typeface="Calibri"/>
                <a:cs typeface="Calibri"/>
              </a:rPr>
              <a:t>VDM</a:t>
            </a:r>
            <a:r>
              <a:rPr sz="2100" spc="-5" dirty="0">
                <a:latin typeface="宋体"/>
                <a:cs typeface="宋体"/>
              </a:rPr>
              <a:t>，</a:t>
            </a:r>
            <a:r>
              <a:rPr sz="2100" spc="-5" dirty="0">
                <a:latin typeface="Calibri"/>
                <a:cs typeface="Calibri"/>
              </a:rPr>
              <a:t>Z…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宋体"/>
                <a:cs typeface="宋体"/>
              </a:rPr>
              <a:t>可以进行推导和证明，进而保证正确性</a:t>
            </a:r>
            <a:endParaRPr sz="2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472566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5829300" cy="353822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需求规格说明概述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需求规格说明文档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模版的选择与裁剪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文档写作技巧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优秀需求规格说明文档</a:t>
            </a:r>
            <a:r>
              <a:rPr sz="3200" spc="-15" dirty="0">
                <a:latin typeface="宋体"/>
                <a:cs typeface="宋体"/>
              </a:rPr>
              <a:t>的</a:t>
            </a:r>
            <a:r>
              <a:rPr sz="3200" dirty="0">
                <a:latin typeface="宋体"/>
                <a:cs typeface="宋体"/>
              </a:rPr>
              <a:t>特性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65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需求规格说明的实践调查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模版的选择与裁剪</a:t>
            </a:r>
          </a:p>
          <a:p>
            <a:pPr marL="913765" algn="ctr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动机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3847"/>
            <a:ext cx="2898775" cy="325564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优秀的文档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结构组织</a:t>
            </a:r>
            <a:endParaRPr sz="28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复用：模版</a:t>
            </a:r>
            <a:endParaRPr sz="2400">
              <a:latin typeface="宋体"/>
              <a:cs typeface="宋体"/>
            </a:endParaRPr>
          </a:p>
          <a:p>
            <a:pPr marL="1612900" lvl="3" indent="-229235">
              <a:lnSpc>
                <a:spcPct val="100000"/>
              </a:lnSpc>
              <a:spcBef>
                <a:spcPts val="495"/>
              </a:spcBef>
              <a:buFont typeface="Arial"/>
              <a:buChar char="–"/>
              <a:tabLst>
                <a:tab pos="1613535" algn="l"/>
              </a:tabLst>
            </a:pPr>
            <a:r>
              <a:rPr sz="2000" dirty="0">
                <a:latin typeface="宋体"/>
                <a:cs typeface="宋体"/>
              </a:rPr>
              <a:t>选择与裁剪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文字写作</a:t>
            </a:r>
            <a:endParaRPr sz="2800">
              <a:latin typeface="宋体"/>
              <a:cs typeface="宋体"/>
            </a:endParaRPr>
          </a:p>
          <a:p>
            <a:pPr marL="228600" marR="211454" lvl="2" indent="-228600" algn="r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228600" algn="l"/>
              </a:tabLst>
            </a:pPr>
            <a:r>
              <a:rPr sz="2400" dirty="0">
                <a:latin typeface="宋体"/>
                <a:cs typeface="宋体"/>
              </a:rPr>
              <a:t>字词、句法</a:t>
            </a:r>
            <a:endParaRPr sz="2400">
              <a:latin typeface="宋体"/>
              <a:cs typeface="宋体"/>
            </a:endParaRPr>
          </a:p>
          <a:p>
            <a:pPr marL="228600" marR="259079" lvl="3" indent="-228600" algn="r">
              <a:lnSpc>
                <a:spcPct val="100000"/>
              </a:lnSpc>
              <a:spcBef>
                <a:spcPts val="495"/>
              </a:spcBef>
              <a:buFont typeface="Arial"/>
              <a:buChar char="–"/>
              <a:tabLst>
                <a:tab pos="228600" algn="l"/>
              </a:tabLst>
            </a:pPr>
            <a:r>
              <a:rPr sz="2000" dirty="0">
                <a:latin typeface="宋体"/>
                <a:cs typeface="宋体"/>
              </a:rPr>
              <a:t>写作技巧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68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模版的选择与裁剪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952" y="3288935"/>
            <a:ext cx="1363345" cy="626110"/>
          </a:xfrm>
          <a:prstGeom prst="rect">
            <a:avLst/>
          </a:prstGeom>
          <a:ln w="4412">
            <a:solidFill>
              <a:srgbClr val="000000"/>
            </a:solidFill>
          </a:ln>
        </p:spPr>
        <p:txBody>
          <a:bodyPr vert="horz" wrap="square" lIns="0" tIns="169545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1335"/>
              </a:spcBef>
            </a:pPr>
            <a:r>
              <a:rPr sz="1700" spc="35" dirty="0">
                <a:latin typeface="宋体"/>
                <a:cs typeface="宋体"/>
              </a:rPr>
              <a:t>标准模版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3148" y="3288935"/>
            <a:ext cx="1353820" cy="621665"/>
          </a:xfrm>
          <a:prstGeom prst="rect">
            <a:avLst/>
          </a:prstGeom>
          <a:ln w="4412">
            <a:solidFill>
              <a:srgbClr val="000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1315"/>
              </a:spcBef>
            </a:pPr>
            <a:r>
              <a:rPr sz="1700" spc="35" dirty="0">
                <a:latin typeface="宋体"/>
                <a:cs typeface="宋体"/>
              </a:rPr>
              <a:t>组织模版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3817" y="3288935"/>
            <a:ext cx="1353820" cy="621665"/>
          </a:xfrm>
          <a:prstGeom prst="rect">
            <a:avLst/>
          </a:prstGeom>
          <a:ln w="4412">
            <a:solidFill>
              <a:srgbClr val="000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1315"/>
              </a:spcBef>
            </a:pPr>
            <a:r>
              <a:rPr sz="1700" spc="35" dirty="0">
                <a:latin typeface="宋体"/>
                <a:cs typeface="宋体"/>
              </a:rPr>
              <a:t>项目模版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02771" y="2976154"/>
            <a:ext cx="312420" cy="0"/>
          </a:xfrm>
          <a:custGeom>
            <a:avLst/>
            <a:gdLst/>
            <a:ahLst/>
            <a:cxnLst/>
            <a:rect l="l" t="t" r="r" b="b"/>
            <a:pathLst>
              <a:path w="312420">
                <a:moveTo>
                  <a:pt x="0" y="0"/>
                </a:moveTo>
                <a:lnTo>
                  <a:pt x="312205" y="0"/>
                </a:lnTo>
              </a:path>
            </a:pathLst>
          </a:custGeom>
          <a:ln w="44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02771" y="4227278"/>
            <a:ext cx="416559" cy="0"/>
          </a:xfrm>
          <a:custGeom>
            <a:avLst/>
            <a:gdLst/>
            <a:ahLst/>
            <a:cxnLst/>
            <a:rect l="l" t="t" r="r" b="b"/>
            <a:pathLst>
              <a:path w="416559">
                <a:moveTo>
                  <a:pt x="0" y="0"/>
                </a:moveTo>
                <a:lnTo>
                  <a:pt x="416335" y="0"/>
                </a:lnTo>
              </a:path>
            </a:pathLst>
          </a:custGeom>
          <a:ln w="44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19106" y="4227278"/>
            <a:ext cx="624840" cy="0"/>
          </a:xfrm>
          <a:custGeom>
            <a:avLst/>
            <a:gdLst/>
            <a:ahLst/>
            <a:cxnLst/>
            <a:rect l="l" t="t" r="r" b="b"/>
            <a:pathLst>
              <a:path w="624840">
                <a:moveTo>
                  <a:pt x="0" y="0"/>
                </a:moveTo>
                <a:lnTo>
                  <a:pt x="624778" y="0"/>
                </a:lnTo>
              </a:path>
            </a:pathLst>
          </a:custGeom>
          <a:ln w="4413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02771" y="2976154"/>
            <a:ext cx="0" cy="1251585"/>
          </a:xfrm>
          <a:custGeom>
            <a:avLst/>
            <a:gdLst/>
            <a:ahLst/>
            <a:cxnLst/>
            <a:rect l="l" t="t" r="r" b="b"/>
            <a:pathLst>
              <a:path h="1251585">
                <a:moveTo>
                  <a:pt x="0" y="1251124"/>
                </a:moveTo>
                <a:lnTo>
                  <a:pt x="0" y="0"/>
                </a:lnTo>
              </a:path>
            </a:pathLst>
          </a:custGeom>
          <a:ln w="440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46484" y="2819780"/>
            <a:ext cx="1353820" cy="1564005"/>
          </a:xfrm>
          <a:prstGeom prst="rect">
            <a:avLst/>
          </a:prstGeom>
          <a:ln w="13230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Times New Roman"/>
              <a:cs typeface="Times New Roman"/>
            </a:endParaRPr>
          </a:p>
          <a:p>
            <a:pPr marL="229235" marR="13970" algn="just">
              <a:lnSpc>
                <a:spcPct val="112100"/>
              </a:lnSpc>
            </a:pPr>
            <a:r>
              <a:rPr sz="1700" spc="30" dirty="0">
                <a:latin typeface="宋体"/>
                <a:cs typeface="宋体"/>
              </a:rPr>
              <a:t>项目的软件 需求规格说 </a:t>
            </a:r>
            <a:r>
              <a:rPr sz="1700" spc="35" dirty="0">
                <a:latin typeface="宋体"/>
                <a:cs typeface="宋体"/>
              </a:rPr>
              <a:t>明文档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58103" y="3601716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>
                <a:moveTo>
                  <a:pt x="0" y="0"/>
                </a:moveTo>
                <a:lnTo>
                  <a:pt x="85654" y="0"/>
                </a:lnTo>
              </a:path>
            </a:pathLst>
          </a:custGeom>
          <a:ln w="44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2930" y="3601716"/>
            <a:ext cx="214629" cy="0"/>
          </a:xfrm>
          <a:custGeom>
            <a:avLst/>
            <a:gdLst/>
            <a:ahLst/>
            <a:cxnLst/>
            <a:rect l="l" t="t" r="r" b="b"/>
            <a:pathLst>
              <a:path w="214630">
                <a:moveTo>
                  <a:pt x="0" y="0"/>
                </a:moveTo>
                <a:lnTo>
                  <a:pt x="214411" y="0"/>
                </a:lnTo>
              </a:path>
            </a:pathLst>
          </a:custGeom>
          <a:ln w="44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31085" y="3550959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52400" h="101600">
                <a:moveTo>
                  <a:pt x="0" y="0"/>
                </a:moveTo>
                <a:lnTo>
                  <a:pt x="0" y="101514"/>
                </a:lnTo>
                <a:lnTo>
                  <a:pt x="152062" y="5075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10152" y="3270112"/>
            <a:ext cx="466725" cy="606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90"/>
              </a:spcBef>
            </a:pPr>
            <a:r>
              <a:rPr sz="1700" spc="30" dirty="0">
                <a:latin typeface="宋体"/>
                <a:cs typeface="宋体"/>
              </a:rPr>
              <a:t>裁剪 定制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19829" y="3601716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5">
                <a:moveTo>
                  <a:pt x="0" y="0"/>
                </a:moveTo>
                <a:lnTo>
                  <a:pt x="114597" y="0"/>
                </a:lnTo>
              </a:path>
            </a:pathLst>
          </a:custGeom>
          <a:ln w="44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36650" y="3601716"/>
            <a:ext cx="242570" cy="0"/>
          </a:xfrm>
          <a:custGeom>
            <a:avLst/>
            <a:gdLst/>
            <a:ahLst/>
            <a:cxnLst/>
            <a:rect l="l" t="t" r="r" b="b"/>
            <a:pathLst>
              <a:path w="242570">
                <a:moveTo>
                  <a:pt x="0" y="0"/>
                </a:moveTo>
                <a:lnTo>
                  <a:pt x="242418" y="0"/>
                </a:lnTo>
              </a:path>
            </a:pathLst>
          </a:custGeom>
          <a:ln w="44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21755" y="3550959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52400" h="101600">
                <a:moveTo>
                  <a:pt x="0" y="0"/>
                </a:moveTo>
                <a:lnTo>
                  <a:pt x="0" y="101514"/>
                </a:lnTo>
                <a:lnTo>
                  <a:pt x="152062" y="5075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71878" y="3270112"/>
            <a:ext cx="466725" cy="606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90"/>
              </a:spcBef>
            </a:pPr>
            <a:r>
              <a:rPr sz="1700" spc="30" dirty="0">
                <a:latin typeface="宋体"/>
                <a:cs typeface="宋体"/>
              </a:rPr>
              <a:t>裁剪 定制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14629" y="3601716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0" y="0"/>
                </a:moveTo>
                <a:lnTo>
                  <a:pt x="218543" y="0"/>
                </a:lnTo>
              </a:path>
            </a:pathLst>
          </a:custGeom>
          <a:ln w="44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27320" y="3601716"/>
            <a:ext cx="346710" cy="0"/>
          </a:xfrm>
          <a:custGeom>
            <a:avLst/>
            <a:gdLst/>
            <a:ahLst/>
            <a:cxnLst/>
            <a:rect l="l" t="t" r="r" b="b"/>
            <a:pathLst>
              <a:path w="346710">
                <a:moveTo>
                  <a:pt x="0" y="0"/>
                </a:moveTo>
                <a:lnTo>
                  <a:pt x="346548" y="0"/>
                </a:lnTo>
              </a:path>
            </a:pathLst>
          </a:custGeom>
          <a:ln w="44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20501" y="3550959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52400" h="101600">
                <a:moveTo>
                  <a:pt x="0" y="0"/>
                </a:moveTo>
                <a:lnTo>
                  <a:pt x="0" y="101514"/>
                </a:lnTo>
                <a:lnTo>
                  <a:pt x="152062" y="5075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466677" y="3270112"/>
            <a:ext cx="466725" cy="606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90"/>
              </a:spcBef>
            </a:pPr>
            <a:r>
              <a:rPr sz="1700" spc="30" dirty="0">
                <a:latin typeface="宋体"/>
                <a:cs typeface="宋体"/>
              </a:rPr>
              <a:t>内容 写作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6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模版的选择与裁剪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8672" y="995164"/>
            <a:ext cx="738505" cy="480059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59385" indent="-147320">
              <a:lnSpc>
                <a:spcPct val="100000"/>
              </a:lnSpc>
              <a:spcBef>
                <a:spcPts val="210"/>
              </a:spcBef>
              <a:buFont typeface="Times New Roman"/>
              <a:buAutoNum type="arabicPeriod"/>
              <a:tabLst>
                <a:tab pos="160020" algn="l"/>
              </a:tabLst>
            </a:pPr>
            <a:r>
              <a:rPr sz="900" b="1" spc="20" dirty="0">
                <a:latin typeface="宋体"/>
                <a:cs typeface="宋体"/>
              </a:rPr>
              <a:t>引言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15"/>
              </a:spcBef>
              <a:buFont typeface="Times New Roman"/>
              <a:buAutoNum type="arabicPeriod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目的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范围</a:t>
            </a:r>
            <a:endParaRPr sz="9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8672" y="1450217"/>
            <a:ext cx="2065655" cy="483362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490855" lvl="1" indent="-205740">
              <a:lnSpc>
                <a:spcPct val="100000"/>
              </a:lnSpc>
              <a:spcBef>
                <a:spcPts val="204"/>
              </a:spcBef>
              <a:buFont typeface="Times New Roman"/>
              <a:buAutoNum type="arabicPeriod" startAt="3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定义、首</a:t>
            </a:r>
            <a:r>
              <a:rPr sz="900" spc="10" dirty="0">
                <a:latin typeface="宋体"/>
                <a:cs typeface="宋体"/>
              </a:rPr>
              <a:t>字</a:t>
            </a:r>
            <a:r>
              <a:rPr sz="900" spc="20" dirty="0">
                <a:latin typeface="宋体"/>
                <a:cs typeface="宋体"/>
              </a:rPr>
              <a:t>母缩写和缩略语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 startAt="3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参考文献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 startAt="3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文档组织</a:t>
            </a:r>
            <a:endParaRPr sz="900">
              <a:latin typeface="宋体"/>
              <a:cs typeface="宋体"/>
            </a:endParaRPr>
          </a:p>
          <a:p>
            <a:pPr marL="159385" indent="-147320">
              <a:lnSpc>
                <a:spcPct val="100000"/>
              </a:lnSpc>
              <a:spcBef>
                <a:spcPts val="110"/>
              </a:spcBef>
              <a:buFont typeface="Times New Roman"/>
              <a:buAutoNum type="arabicPeriod" startAt="2"/>
              <a:tabLst>
                <a:tab pos="160020" algn="l"/>
              </a:tabLst>
            </a:pPr>
            <a:r>
              <a:rPr sz="900" b="1" spc="20" dirty="0">
                <a:latin typeface="宋体"/>
                <a:cs typeface="宋体"/>
              </a:rPr>
              <a:t>总体</a:t>
            </a:r>
            <a:r>
              <a:rPr sz="900" b="1" spc="15" dirty="0">
                <a:latin typeface="宋体"/>
                <a:cs typeface="宋体"/>
              </a:rPr>
              <a:t>描述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产品前景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10"/>
              </a:spcBef>
              <a:buFont typeface="Times New Roman"/>
              <a:buAutoNum type="arabicPeriod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产品功能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15"/>
              </a:spcBef>
              <a:buFont typeface="Times New Roman"/>
              <a:buAutoNum type="arabicPeriod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用户特征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约束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假设和依赖</a:t>
            </a:r>
            <a:endParaRPr sz="900">
              <a:latin typeface="宋体"/>
              <a:cs typeface="宋体"/>
            </a:endParaRPr>
          </a:p>
          <a:p>
            <a:pPr marL="159385" indent="-147320">
              <a:lnSpc>
                <a:spcPct val="100000"/>
              </a:lnSpc>
              <a:spcBef>
                <a:spcPts val="110"/>
              </a:spcBef>
              <a:buFont typeface="Times New Roman"/>
              <a:buAutoNum type="arabicPeriod" startAt="2"/>
              <a:tabLst>
                <a:tab pos="160020" algn="l"/>
              </a:tabLst>
            </a:pPr>
            <a:r>
              <a:rPr sz="900" b="1" spc="20" dirty="0">
                <a:latin typeface="宋体"/>
                <a:cs typeface="宋体"/>
              </a:rPr>
              <a:t>详细</a:t>
            </a:r>
            <a:r>
              <a:rPr sz="900" b="1" spc="15" dirty="0">
                <a:latin typeface="宋体"/>
                <a:cs typeface="宋体"/>
              </a:rPr>
              <a:t>需</a:t>
            </a:r>
            <a:r>
              <a:rPr sz="900" b="1" spc="20" dirty="0">
                <a:latin typeface="宋体"/>
                <a:cs typeface="宋体"/>
              </a:rPr>
              <a:t>求</a:t>
            </a:r>
            <a:r>
              <a:rPr sz="900" b="1" spc="15" dirty="0">
                <a:latin typeface="宋体"/>
                <a:cs typeface="宋体"/>
              </a:rPr>
              <a:t>描述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15"/>
              </a:spcBef>
              <a:buFont typeface="Times New Roman"/>
              <a:buAutoNum type="arabicPeriod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对外接口</a:t>
            </a:r>
            <a:r>
              <a:rPr sz="900" spc="10" dirty="0">
                <a:latin typeface="宋体"/>
                <a:cs typeface="宋体"/>
              </a:rPr>
              <a:t>需</a:t>
            </a:r>
            <a:r>
              <a:rPr sz="900" spc="20" dirty="0">
                <a:latin typeface="宋体"/>
                <a:cs typeface="宋体"/>
              </a:rPr>
              <a:t>求</a:t>
            </a:r>
            <a:endParaRPr sz="900">
              <a:latin typeface="宋体"/>
              <a:cs typeface="宋体"/>
            </a:endParaRPr>
          </a:p>
          <a:p>
            <a:pPr marL="852805" lvl="2" indent="-294640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  <a:tabLst>
                <a:tab pos="853440" algn="l"/>
              </a:tabLst>
            </a:pPr>
            <a:r>
              <a:rPr sz="900" spc="20" dirty="0">
                <a:latin typeface="宋体"/>
                <a:cs typeface="宋体"/>
              </a:rPr>
              <a:t>用户界面</a:t>
            </a:r>
            <a:endParaRPr sz="900">
              <a:latin typeface="宋体"/>
              <a:cs typeface="宋体"/>
            </a:endParaRPr>
          </a:p>
          <a:p>
            <a:pPr marL="852805" lvl="2" indent="-294640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853440" algn="l"/>
              </a:tabLst>
            </a:pPr>
            <a:r>
              <a:rPr sz="900" spc="20" dirty="0">
                <a:latin typeface="宋体"/>
                <a:cs typeface="宋体"/>
              </a:rPr>
              <a:t>硬件接口</a:t>
            </a:r>
            <a:endParaRPr sz="900">
              <a:latin typeface="宋体"/>
              <a:cs typeface="宋体"/>
            </a:endParaRPr>
          </a:p>
          <a:p>
            <a:pPr marL="852805" lvl="2" indent="-294640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853440" algn="l"/>
              </a:tabLst>
            </a:pPr>
            <a:r>
              <a:rPr sz="900" spc="20" dirty="0">
                <a:latin typeface="宋体"/>
                <a:cs typeface="宋体"/>
              </a:rPr>
              <a:t>软件接口</a:t>
            </a:r>
            <a:endParaRPr sz="900">
              <a:latin typeface="宋体"/>
              <a:cs typeface="宋体"/>
            </a:endParaRPr>
          </a:p>
          <a:p>
            <a:pPr marL="852805" lvl="2" indent="-294640">
              <a:lnSpc>
                <a:spcPct val="100000"/>
              </a:lnSpc>
              <a:spcBef>
                <a:spcPts val="110"/>
              </a:spcBef>
              <a:buFont typeface="Times New Roman"/>
              <a:buAutoNum type="arabicPeriod"/>
              <a:tabLst>
                <a:tab pos="853440" algn="l"/>
              </a:tabLst>
            </a:pPr>
            <a:r>
              <a:rPr sz="900" spc="20" dirty="0">
                <a:latin typeface="宋体"/>
                <a:cs typeface="宋体"/>
              </a:rPr>
              <a:t>通信接口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15"/>
              </a:spcBef>
              <a:buFont typeface="Times New Roman"/>
              <a:buAutoNum type="arabicPeriod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功能需求</a:t>
            </a:r>
            <a:endParaRPr sz="900">
              <a:latin typeface="宋体"/>
              <a:cs typeface="宋体"/>
            </a:endParaRPr>
          </a:p>
          <a:p>
            <a:pPr marL="852805" lvl="2" indent="-294640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  <a:tabLst>
                <a:tab pos="853440" algn="l"/>
              </a:tabLst>
            </a:pPr>
            <a:r>
              <a:rPr sz="900" spc="20" dirty="0">
                <a:latin typeface="宋体"/>
                <a:cs typeface="宋体"/>
              </a:rPr>
              <a:t>系统特</a:t>
            </a:r>
            <a:r>
              <a:rPr sz="900" spc="10" dirty="0">
                <a:latin typeface="宋体"/>
                <a:cs typeface="宋体"/>
              </a:rPr>
              <a:t>性</a:t>
            </a:r>
            <a:r>
              <a:rPr sz="900" spc="10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1213485" lvl="3" indent="-381635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1214120" algn="l"/>
              </a:tabLst>
            </a:pPr>
            <a:r>
              <a:rPr sz="900" spc="20" dirty="0">
                <a:latin typeface="宋体"/>
                <a:cs typeface="宋体"/>
              </a:rPr>
              <a:t>特性</a:t>
            </a:r>
            <a:r>
              <a:rPr sz="900" spc="10" dirty="0">
                <a:latin typeface="宋体"/>
                <a:cs typeface="宋体"/>
              </a:rPr>
              <a:t>描</a:t>
            </a:r>
            <a:r>
              <a:rPr sz="900" spc="20" dirty="0">
                <a:latin typeface="宋体"/>
                <a:cs typeface="宋体"/>
              </a:rPr>
              <a:t>述</a:t>
            </a:r>
            <a:endParaRPr sz="900">
              <a:latin typeface="宋体"/>
              <a:cs typeface="宋体"/>
            </a:endParaRPr>
          </a:p>
          <a:p>
            <a:pPr marL="1213485" lvl="3" indent="-381635">
              <a:lnSpc>
                <a:spcPct val="100000"/>
              </a:lnSpc>
              <a:spcBef>
                <a:spcPts val="110"/>
              </a:spcBef>
              <a:buFont typeface="Times New Roman"/>
              <a:buAutoNum type="arabicPeriod"/>
              <a:tabLst>
                <a:tab pos="1214120" algn="l"/>
              </a:tabLst>
            </a:pPr>
            <a:r>
              <a:rPr sz="900" spc="20" dirty="0">
                <a:latin typeface="宋体"/>
                <a:cs typeface="宋体"/>
              </a:rPr>
              <a:t>刺激</a:t>
            </a:r>
            <a:r>
              <a:rPr sz="900" spc="5" dirty="0">
                <a:latin typeface="Times New Roman"/>
                <a:cs typeface="Times New Roman"/>
              </a:rPr>
              <a:t>/</a:t>
            </a:r>
            <a:r>
              <a:rPr sz="900" spc="10" dirty="0">
                <a:latin typeface="宋体"/>
                <a:cs typeface="宋体"/>
              </a:rPr>
              <a:t>响</a:t>
            </a:r>
            <a:r>
              <a:rPr sz="900" spc="20" dirty="0">
                <a:latin typeface="宋体"/>
                <a:cs typeface="宋体"/>
              </a:rPr>
              <a:t>应序列</a:t>
            </a:r>
            <a:endParaRPr sz="900">
              <a:latin typeface="宋体"/>
              <a:cs typeface="宋体"/>
            </a:endParaRPr>
          </a:p>
          <a:p>
            <a:pPr marL="1213485" lvl="3" indent="-381635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1214120" algn="l"/>
              </a:tabLst>
            </a:pPr>
            <a:r>
              <a:rPr sz="900" spc="20" dirty="0">
                <a:latin typeface="宋体"/>
                <a:cs typeface="宋体"/>
              </a:rPr>
              <a:t>相关</a:t>
            </a:r>
            <a:r>
              <a:rPr sz="900" spc="10" dirty="0">
                <a:latin typeface="宋体"/>
                <a:cs typeface="宋体"/>
              </a:rPr>
              <a:t>功</a:t>
            </a:r>
            <a:r>
              <a:rPr sz="900" spc="20" dirty="0">
                <a:latin typeface="宋体"/>
                <a:cs typeface="宋体"/>
              </a:rPr>
              <a:t>能需求</a:t>
            </a:r>
            <a:endParaRPr sz="900">
              <a:latin typeface="宋体"/>
              <a:cs typeface="宋体"/>
            </a:endParaRPr>
          </a:p>
          <a:p>
            <a:pPr marL="1438275" lvl="4" indent="-469900">
              <a:lnSpc>
                <a:spcPct val="100000"/>
              </a:lnSpc>
              <a:spcBef>
                <a:spcPts val="110"/>
              </a:spcBef>
              <a:buFont typeface="Times New Roman"/>
              <a:buAutoNum type="arabicPeriod"/>
              <a:tabLst>
                <a:tab pos="1438910" algn="l"/>
              </a:tabLst>
            </a:pPr>
            <a:r>
              <a:rPr sz="900" spc="20" dirty="0">
                <a:latin typeface="宋体"/>
                <a:cs typeface="宋体"/>
              </a:rPr>
              <a:t>功</a:t>
            </a:r>
            <a:r>
              <a:rPr sz="900" spc="10" dirty="0">
                <a:latin typeface="宋体"/>
                <a:cs typeface="宋体"/>
              </a:rPr>
              <a:t>能</a:t>
            </a:r>
            <a:r>
              <a:rPr sz="900" spc="20" dirty="0">
                <a:latin typeface="宋体"/>
                <a:cs typeface="宋体"/>
              </a:rPr>
              <a:t>需求</a:t>
            </a:r>
            <a:r>
              <a:rPr sz="900" spc="5" dirty="0">
                <a:latin typeface="Times New Roman"/>
                <a:cs typeface="Times New Roman"/>
              </a:rPr>
              <a:t>1.1</a:t>
            </a:r>
            <a:endParaRPr sz="900">
              <a:latin typeface="Times New Roman"/>
              <a:cs typeface="Times New Roman"/>
            </a:endParaRPr>
          </a:p>
          <a:p>
            <a:pPr marL="969010">
              <a:lnSpc>
                <a:spcPct val="100000"/>
              </a:lnSpc>
              <a:spcBef>
                <a:spcPts val="25"/>
              </a:spcBef>
            </a:pPr>
            <a:r>
              <a:rPr sz="900" spc="20" dirty="0">
                <a:latin typeface="Times New Roman"/>
                <a:cs typeface="Times New Roman"/>
              </a:rPr>
              <a:t>…</a:t>
            </a:r>
            <a:endParaRPr sz="900">
              <a:latin typeface="Times New Roman"/>
              <a:cs typeface="Times New Roman"/>
            </a:endParaRPr>
          </a:p>
          <a:p>
            <a:pPr marL="969010">
              <a:lnSpc>
                <a:spcPct val="100000"/>
              </a:lnSpc>
              <a:spcBef>
                <a:spcPts val="60"/>
              </a:spcBef>
            </a:pPr>
            <a:r>
              <a:rPr sz="900" spc="5" dirty="0">
                <a:latin typeface="Times New Roman"/>
                <a:cs typeface="Times New Roman"/>
              </a:rPr>
              <a:t>3.2.1.3.</a:t>
            </a:r>
            <a:r>
              <a:rPr sz="900" i="1" spc="5" dirty="0">
                <a:latin typeface="Times New Roman"/>
                <a:cs typeface="Times New Roman"/>
              </a:rPr>
              <a:t>n</a:t>
            </a:r>
            <a:r>
              <a:rPr sz="900" i="1" spc="18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宋体"/>
                <a:cs typeface="宋体"/>
              </a:rPr>
              <a:t>功</a:t>
            </a:r>
            <a:r>
              <a:rPr sz="900" spc="10" dirty="0">
                <a:latin typeface="宋体"/>
                <a:cs typeface="宋体"/>
              </a:rPr>
              <a:t>能</a:t>
            </a:r>
            <a:r>
              <a:rPr sz="900" spc="20" dirty="0">
                <a:latin typeface="宋体"/>
                <a:cs typeface="宋体"/>
              </a:rPr>
              <a:t>需求</a:t>
            </a:r>
            <a:r>
              <a:rPr sz="900" spc="5" dirty="0">
                <a:latin typeface="Times New Roman"/>
                <a:cs typeface="Times New Roman"/>
              </a:rPr>
              <a:t>1.</a:t>
            </a:r>
            <a:r>
              <a:rPr sz="900" i="1" spc="5" dirty="0">
                <a:latin typeface="Times New Roman"/>
                <a:cs typeface="Times New Roman"/>
              </a:rPr>
              <a:t>n</a:t>
            </a:r>
            <a:endParaRPr sz="900">
              <a:latin typeface="Times New Roman"/>
              <a:cs typeface="Times New Roman"/>
            </a:endParaRPr>
          </a:p>
          <a:p>
            <a:pPr marL="558800">
              <a:lnSpc>
                <a:spcPct val="100000"/>
              </a:lnSpc>
              <a:spcBef>
                <a:spcPts val="114"/>
              </a:spcBef>
            </a:pPr>
            <a:r>
              <a:rPr sz="900" spc="5" dirty="0">
                <a:latin typeface="Times New Roman"/>
                <a:cs typeface="Times New Roman"/>
              </a:rPr>
              <a:t>3.2.2</a:t>
            </a:r>
            <a:r>
              <a:rPr sz="900" spc="229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宋体"/>
                <a:cs typeface="宋体"/>
              </a:rPr>
              <a:t>系统特</a:t>
            </a:r>
            <a:r>
              <a:rPr sz="900" spc="10" dirty="0">
                <a:latin typeface="宋体"/>
                <a:cs typeface="宋体"/>
              </a:rPr>
              <a:t>性</a:t>
            </a:r>
            <a:r>
              <a:rPr sz="900" spc="10" dirty="0"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  <a:p>
            <a:pPr marL="558800">
              <a:lnSpc>
                <a:spcPct val="100000"/>
              </a:lnSpc>
              <a:spcBef>
                <a:spcPts val="25"/>
              </a:spcBef>
            </a:pPr>
            <a:r>
              <a:rPr sz="900" spc="20" dirty="0">
                <a:latin typeface="Times New Roman"/>
                <a:cs typeface="Times New Roman"/>
              </a:rPr>
              <a:t>…</a:t>
            </a:r>
            <a:endParaRPr sz="900">
              <a:latin typeface="Times New Roman"/>
              <a:cs typeface="Times New Roman"/>
            </a:endParaRPr>
          </a:p>
          <a:p>
            <a:pPr marL="558800">
              <a:lnSpc>
                <a:spcPct val="100000"/>
              </a:lnSpc>
              <a:spcBef>
                <a:spcPts val="65"/>
              </a:spcBef>
            </a:pPr>
            <a:r>
              <a:rPr sz="900" spc="5" dirty="0">
                <a:latin typeface="Times New Roman"/>
                <a:cs typeface="Times New Roman"/>
              </a:rPr>
              <a:t>3.2.</a:t>
            </a:r>
            <a:r>
              <a:rPr sz="900" i="1" spc="5" dirty="0">
                <a:latin typeface="Times New Roman"/>
                <a:cs typeface="Times New Roman"/>
              </a:rPr>
              <a:t>m</a:t>
            </a:r>
            <a:r>
              <a:rPr sz="900" i="1" spc="165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宋体"/>
                <a:cs typeface="宋体"/>
              </a:rPr>
              <a:t>系统特</a:t>
            </a:r>
            <a:r>
              <a:rPr sz="900" spc="10" dirty="0">
                <a:latin typeface="宋体"/>
                <a:cs typeface="宋体"/>
              </a:rPr>
              <a:t>性</a:t>
            </a:r>
            <a:r>
              <a:rPr sz="900" i="1" spc="15" dirty="0">
                <a:latin typeface="Times New Roman"/>
                <a:cs typeface="Times New Roman"/>
              </a:rPr>
              <a:t>m</a:t>
            </a:r>
            <a:endParaRPr sz="900">
              <a:latin typeface="Times New Roman"/>
              <a:cs typeface="Times New Roman"/>
            </a:endParaRPr>
          </a:p>
          <a:p>
            <a:pPr marL="490855" lvl="1" indent="-205740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 startAt="3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性能需求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 startAt="3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约束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10"/>
              </a:spcBef>
              <a:buFont typeface="Times New Roman"/>
              <a:buAutoNum type="arabicPeriod" startAt="3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质量属性</a:t>
            </a:r>
            <a:endParaRPr sz="900">
              <a:latin typeface="宋体"/>
              <a:cs typeface="宋体"/>
            </a:endParaRPr>
          </a:p>
          <a:p>
            <a:pPr marL="490855" lvl="1" indent="-205740">
              <a:lnSpc>
                <a:spcPct val="100000"/>
              </a:lnSpc>
              <a:spcBef>
                <a:spcPts val="115"/>
              </a:spcBef>
              <a:buFont typeface="Times New Roman"/>
              <a:buAutoNum type="arabicPeriod" startAt="3"/>
              <a:tabLst>
                <a:tab pos="491490" algn="l"/>
              </a:tabLst>
            </a:pPr>
            <a:r>
              <a:rPr sz="900" spc="20" dirty="0">
                <a:latin typeface="宋体"/>
                <a:cs typeface="宋体"/>
              </a:rPr>
              <a:t>其他需求</a:t>
            </a:r>
            <a:endParaRPr sz="900">
              <a:latin typeface="宋体"/>
              <a:cs typeface="宋体"/>
            </a:endParaRPr>
          </a:p>
          <a:p>
            <a:pPr marL="12700" marR="1809114">
              <a:lnSpc>
                <a:spcPts val="1190"/>
              </a:lnSpc>
              <a:spcBef>
                <a:spcPts val="55"/>
              </a:spcBef>
            </a:pPr>
            <a:r>
              <a:rPr sz="900" b="1" spc="20" dirty="0">
                <a:latin typeface="宋体"/>
                <a:cs typeface="宋体"/>
              </a:rPr>
              <a:t>附录 索引</a:t>
            </a:r>
            <a:endParaRPr sz="9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25644" y="993817"/>
            <a:ext cx="815975" cy="3625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75260" indent="-163195">
              <a:lnSpc>
                <a:spcPct val="100000"/>
              </a:lnSpc>
              <a:spcBef>
                <a:spcPts val="220"/>
              </a:spcBef>
              <a:buFont typeface="Times New Roman"/>
              <a:buAutoNum type="arabicPeriod"/>
              <a:tabLst>
                <a:tab pos="175895" algn="l"/>
              </a:tabLst>
            </a:pPr>
            <a:r>
              <a:rPr sz="1000" b="1" spc="20" dirty="0">
                <a:latin typeface="宋体"/>
                <a:cs typeface="宋体"/>
              </a:rPr>
              <a:t>引言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30"/>
              </a:spcBef>
              <a:buFont typeface="Times New Roman"/>
              <a:buAutoNum type="arabicPeriod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目的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5644" y="1329839"/>
            <a:ext cx="1772285" cy="490474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542925" lvl="1" indent="-227965">
              <a:lnSpc>
                <a:spcPct val="100000"/>
              </a:lnSpc>
              <a:spcBef>
                <a:spcPts val="225"/>
              </a:spcBef>
              <a:buFont typeface="Times New Roman"/>
              <a:buAutoNum type="arabicPeriod" startAt="2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文档约定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30"/>
              </a:spcBef>
              <a:buFont typeface="Times New Roman"/>
              <a:buAutoNum type="arabicPeriod" startAt="2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读者对象</a:t>
            </a:r>
            <a:r>
              <a:rPr sz="1000" spc="10" dirty="0">
                <a:latin typeface="宋体"/>
                <a:cs typeface="宋体"/>
              </a:rPr>
              <a:t>和</a:t>
            </a:r>
            <a:r>
              <a:rPr sz="1000" spc="20" dirty="0">
                <a:latin typeface="宋体"/>
                <a:cs typeface="宋体"/>
              </a:rPr>
              <a:t>阅读建议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20"/>
              </a:spcBef>
              <a:buFont typeface="Times New Roman"/>
              <a:buAutoNum type="arabicPeriod" startAt="2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项目范围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 startAt="2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参考文献</a:t>
            </a:r>
            <a:endParaRPr sz="1000">
              <a:latin typeface="宋体"/>
              <a:cs typeface="宋体"/>
            </a:endParaRPr>
          </a:p>
          <a:p>
            <a:pPr marL="175260" indent="-163195"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 startAt="2"/>
              <a:tabLst>
                <a:tab pos="175895" algn="l"/>
              </a:tabLst>
            </a:pPr>
            <a:r>
              <a:rPr sz="1000" b="1" spc="20" dirty="0">
                <a:latin typeface="宋体"/>
                <a:cs typeface="宋体"/>
              </a:rPr>
              <a:t>总体</a:t>
            </a:r>
            <a:r>
              <a:rPr sz="1000" b="1" spc="15" dirty="0">
                <a:latin typeface="宋体"/>
                <a:cs typeface="宋体"/>
              </a:rPr>
              <a:t>描述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产品前景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20"/>
              </a:spcBef>
              <a:buFont typeface="Times New Roman"/>
              <a:buAutoNum type="arabicPeriod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产品特性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30"/>
              </a:spcBef>
              <a:buFont typeface="Times New Roman"/>
              <a:buAutoNum type="arabicPeriod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用户类及</a:t>
            </a:r>
            <a:r>
              <a:rPr sz="1000" spc="10" dirty="0">
                <a:latin typeface="宋体"/>
                <a:cs typeface="宋体"/>
              </a:rPr>
              <a:t>其</a:t>
            </a:r>
            <a:r>
              <a:rPr sz="1000" spc="20" dirty="0">
                <a:latin typeface="宋体"/>
                <a:cs typeface="宋体"/>
              </a:rPr>
              <a:t>特征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20"/>
              </a:spcBef>
              <a:buFont typeface="Times New Roman"/>
              <a:buAutoNum type="arabicPeriod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运行环境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30"/>
              </a:spcBef>
              <a:buFont typeface="Times New Roman"/>
              <a:buAutoNum type="arabicPeriod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设计和实</a:t>
            </a:r>
            <a:r>
              <a:rPr sz="1000" spc="10" dirty="0">
                <a:latin typeface="宋体"/>
                <a:cs typeface="宋体"/>
              </a:rPr>
              <a:t>现</a:t>
            </a:r>
            <a:r>
              <a:rPr sz="1000" spc="20" dirty="0">
                <a:latin typeface="宋体"/>
                <a:cs typeface="宋体"/>
              </a:rPr>
              <a:t>上的约束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20"/>
              </a:spcBef>
              <a:buFont typeface="Times New Roman"/>
              <a:buAutoNum type="arabicPeriod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用户文档</a:t>
            </a:r>
            <a:endParaRPr sz="1000">
              <a:latin typeface="宋体"/>
              <a:cs typeface="宋体"/>
            </a:endParaRPr>
          </a:p>
          <a:p>
            <a:pPr marL="175260" indent="-163195"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 startAt="2"/>
              <a:tabLst>
                <a:tab pos="175895" algn="l"/>
              </a:tabLst>
            </a:pPr>
            <a:r>
              <a:rPr sz="1000" b="1" spc="20" dirty="0">
                <a:latin typeface="宋体"/>
                <a:cs typeface="宋体"/>
              </a:rPr>
              <a:t>系统</a:t>
            </a:r>
            <a:r>
              <a:rPr sz="1000" b="1" spc="15" dirty="0">
                <a:latin typeface="宋体"/>
                <a:cs typeface="宋体"/>
              </a:rPr>
              <a:t>特性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20"/>
              </a:spcBef>
              <a:buFont typeface="Times New Roman"/>
              <a:buAutoNum type="arabicPeriod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系统特性</a:t>
            </a:r>
            <a:r>
              <a:rPr sz="1000" spc="15" dirty="0">
                <a:latin typeface="Times New Roman"/>
                <a:cs typeface="Times New Roman"/>
              </a:rPr>
              <a:t>X</a:t>
            </a:r>
            <a:endParaRPr sz="1000">
              <a:latin typeface="Times New Roman"/>
              <a:cs typeface="Times New Roman"/>
            </a:endParaRPr>
          </a:p>
          <a:p>
            <a:pPr marL="618490">
              <a:lnSpc>
                <a:spcPct val="100000"/>
              </a:lnSpc>
              <a:spcBef>
                <a:spcPts val="130"/>
              </a:spcBef>
            </a:pPr>
            <a:r>
              <a:rPr sz="1000" spc="5" dirty="0">
                <a:latin typeface="Times New Roman"/>
                <a:cs typeface="Times New Roman"/>
              </a:rPr>
              <a:t>3.x.1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宋体"/>
                <a:cs typeface="宋体"/>
              </a:rPr>
              <a:t>描述和</a:t>
            </a:r>
            <a:r>
              <a:rPr sz="1000" spc="10" dirty="0">
                <a:latin typeface="宋体"/>
                <a:cs typeface="宋体"/>
              </a:rPr>
              <a:t>优</a:t>
            </a:r>
            <a:r>
              <a:rPr sz="1000" spc="20" dirty="0">
                <a:latin typeface="宋体"/>
                <a:cs typeface="宋体"/>
              </a:rPr>
              <a:t>先级</a:t>
            </a:r>
            <a:endParaRPr sz="1000">
              <a:latin typeface="宋体"/>
              <a:cs typeface="宋体"/>
            </a:endParaRPr>
          </a:p>
          <a:p>
            <a:pPr marL="618490">
              <a:lnSpc>
                <a:spcPct val="100000"/>
              </a:lnSpc>
              <a:spcBef>
                <a:spcPts val="125"/>
              </a:spcBef>
            </a:pPr>
            <a:r>
              <a:rPr sz="1000" spc="5" dirty="0">
                <a:latin typeface="Times New Roman"/>
                <a:cs typeface="Times New Roman"/>
              </a:rPr>
              <a:t>3.x.1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宋体"/>
                <a:cs typeface="宋体"/>
              </a:rPr>
              <a:t>刺激</a:t>
            </a:r>
            <a:r>
              <a:rPr sz="1000" spc="5" dirty="0">
                <a:latin typeface="Times New Roman"/>
                <a:cs typeface="Times New Roman"/>
              </a:rPr>
              <a:t>/</a:t>
            </a:r>
            <a:r>
              <a:rPr sz="1000" spc="20" dirty="0">
                <a:latin typeface="宋体"/>
                <a:cs typeface="宋体"/>
              </a:rPr>
              <a:t>响</a:t>
            </a:r>
            <a:r>
              <a:rPr sz="1000" spc="10" dirty="0">
                <a:latin typeface="宋体"/>
                <a:cs typeface="宋体"/>
              </a:rPr>
              <a:t>应</a:t>
            </a:r>
            <a:r>
              <a:rPr sz="1000" spc="20" dirty="0">
                <a:latin typeface="宋体"/>
                <a:cs typeface="宋体"/>
              </a:rPr>
              <a:t>序列</a:t>
            </a:r>
            <a:endParaRPr sz="1000">
              <a:latin typeface="宋体"/>
              <a:cs typeface="宋体"/>
            </a:endParaRPr>
          </a:p>
          <a:p>
            <a:pPr marL="618490">
              <a:lnSpc>
                <a:spcPct val="100000"/>
              </a:lnSpc>
              <a:spcBef>
                <a:spcPts val="125"/>
              </a:spcBef>
            </a:pPr>
            <a:r>
              <a:rPr sz="1000" spc="5" dirty="0">
                <a:latin typeface="Times New Roman"/>
                <a:cs typeface="Times New Roman"/>
              </a:rPr>
              <a:t>3.x.3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宋体"/>
                <a:cs typeface="宋体"/>
              </a:rPr>
              <a:t>功能需求</a:t>
            </a:r>
            <a:endParaRPr sz="1000">
              <a:latin typeface="宋体"/>
              <a:cs typeface="宋体"/>
            </a:endParaRPr>
          </a:p>
          <a:p>
            <a:pPr marL="175260" indent="-163195">
              <a:lnSpc>
                <a:spcPct val="100000"/>
              </a:lnSpc>
              <a:spcBef>
                <a:spcPts val="130"/>
              </a:spcBef>
              <a:buFont typeface="Times New Roman"/>
              <a:buAutoNum type="arabicPeriod" startAt="4"/>
              <a:tabLst>
                <a:tab pos="175895" algn="l"/>
              </a:tabLst>
            </a:pPr>
            <a:r>
              <a:rPr sz="1000" b="1" spc="20" dirty="0">
                <a:latin typeface="宋体"/>
                <a:cs typeface="宋体"/>
              </a:rPr>
              <a:t>对外</a:t>
            </a:r>
            <a:r>
              <a:rPr sz="1000" b="1" spc="15" dirty="0">
                <a:latin typeface="宋体"/>
                <a:cs typeface="宋体"/>
              </a:rPr>
              <a:t>接</a:t>
            </a:r>
            <a:r>
              <a:rPr sz="1000" b="1" spc="20" dirty="0">
                <a:latin typeface="宋体"/>
                <a:cs typeface="宋体"/>
              </a:rPr>
              <a:t>口</a:t>
            </a:r>
            <a:r>
              <a:rPr sz="1000" b="1" spc="15" dirty="0">
                <a:latin typeface="宋体"/>
                <a:cs typeface="宋体"/>
              </a:rPr>
              <a:t>需求</a:t>
            </a:r>
            <a:endParaRPr sz="1000">
              <a:latin typeface="宋体"/>
              <a:cs typeface="宋体"/>
            </a:endParaRPr>
          </a:p>
          <a:p>
            <a:pPr marL="227965" marR="701040" lvl="1" indent="-227965" algn="r">
              <a:lnSpc>
                <a:spcPct val="100000"/>
              </a:lnSpc>
              <a:spcBef>
                <a:spcPts val="120"/>
              </a:spcBef>
              <a:buFont typeface="Times New Roman"/>
              <a:buAutoNum type="arabicPeriod"/>
              <a:tabLst>
                <a:tab pos="227965" algn="l"/>
              </a:tabLst>
            </a:pPr>
            <a:r>
              <a:rPr sz="1000" spc="20" dirty="0">
                <a:latin typeface="宋体"/>
                <a:cs typeface="宋体"/>
              </a:rPr>
              <a:t>用户界面</a:t>
            </a:r>
            <a:endParaRPr sz="1000">
              <a:latin typeface="宋体"/>
              <a:cs typeface="宋体"/>
            </a:endParaRPr>
          </a:p>
          <a:p>
            <a:pPr marL="227965" marR="701040" lvl="1" indent="-227965" algn="r"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  <a:tabLst>
                <a:tab pos="227965" algn="l"/>
              </a:tabLst>
            </a:pPr>
            <a:r>
              <a:rPr sz="1000" spc="20" dirty="0">
                <a:latin typeface="宋体"/>
                <a:cs typeface="宋体"/>
              </a:rPr>
              <a:t>硬件接口</a:t>
            </a:r>
            <a:endParaRPr sz="1000">
              <a:latin typeface="宋体"/>
              <a:cs typeface="宋体"/>
            </a:endParaRPr>
          </a:p>
          <a:p>
            <a:pPr marL="227965" marR="701040" lvl="1" indent="-227965" algn="r">
              <a:lnSpc>
                <a:spcPct val="100000"/>
              </a:lnSpc>
              <a:spcBef>
                <a:spcPts val="120"/>
              </a:spcBef>
              <a:buFont typeface="Times New Roman"/>
              <a:buAutoNum type="arabicPeriod"/>
              <a:tabLst>
                <a:tab pos="227965" algn="l"/>
              </a:tabLst>
            </a:pPr>
            <a:r>
              <a:rPr sz="1000" spc="20" dirty="0">
                <a:latin typeface="宋体"/>
                <a:cs typeface="宋体"/>
              </a:rPr>
              <a:t>软件接口</a:t>
            </a:r>
            <a:endParaRPr sz="1000">
              <a:latin typeface="宋体"/>
              <a:cs typeface="宋体"/>
            </a:endParaRPr>
          </a:p>
          <a:p>
            <a:pPr marL="227965" marR="701040" lvl="1" indent="-227965" algn="r">
              <a:lnSpc>
                <a:spcPct val="100000"/>
              </a:lnSpc>
              <a:spcBef>
                <a:spcPts val="130"/>
              </a:spcBef>
              <a:buFont typeface="Times New Roman"/>
              <a:buAutoNum type="arabicPeriod"/>
              <a:tabLst>
                <a:tab pos="227965" algn="l"/>
              </a:tabLst>
            </a:pPr>
            <a:r>
              <a:rPr sz="1000" spc="20" dirty="0">
                <a:latin typeface="宋体"/>
                <a:cs typeface="宋体"/>
              </a:rPr>
              <a:t>通信接口</a:t>
            </a:r>
            <a:endParaRPr sz="1000">
              <a:latin typeface="宋体"/>
              <a:cs typeface="宋体"/>
            </a:endParaRPr>
          </a:p>
          <a:p>
            <a:pPr marL="175260" marR="676275" indent="-175895" algn="r">
              <a:lnSpc>
                <a:spcPct val="100000"/>
              </a:lnSpc>
              <a:spcBef>
                <a:spcPts val="120"/>
              </a:spcBef>
              <a:buFont typeface="Times New Roman"/>
              <a:buAutoNum type="arabicPeriod" startAt="4"/>
              <a:tabLst>
                <a:tab pos="175895" algn="l"/>
              </a:tabLst>
            </a:pPr>
            <a:r>
              <a:rPr sz="1000" b="1" spc="20" dirty="0">
                <a:latin typeface="宋体"/>
                <a:cs typeface="宋体"/>
              </a:rPr>
              <a:t>其他</a:t>
            </a:r>
            <a:r>
              <a:rPr sz="1000" b="1" spc="15" dirty="0">
                <a:latin typeface="宋体"/>
                <a:cs typeface="宋体"/>
              </a:rPr>
              <a:t>非</a:t>
            </a:r>
            <a:r>
              <a:rPr sz="1000" b="1" spc="20" dirty="0">
                <a:latin typeface="宋体"/>
                <a:cs typeface="宋体"/>
              </a:rPr>
              <a:t>功</a:t>
            </a:r>
            <a:r>
              <a:rPr sz="1000" b="1" spc="15" dirty="0">
                <a:latin typeface="宋体"/>
                <a:cs typeface="宋体"/>
              </a:rPr>
              <a:t>能</a:t>
            </a:r>
            <a:r>
              <a:rPr sz="1000" b="1" spc="20" dirty="0">
                <a:latin typeface="宋体"/>
                <a:cs typeface="宋体"/>
              </a:rPr>
              <a:t>需</a:t>
            </a:r>
            <a:r>
              <a:rPr sz="1000" b="1" spc="15" dirty="0">
                <a:latin typeface="宋体"/>
                <a:cs typeface="宋体"/>
              </a:rPr>
              <a:t>求</a:t>
            </a:r>
            <a:endParaRPr sz="1000">
              <a:latin typeface="宋体"/>
              <a:cs typeface="宋体"/>
            </a:endParaRPr>
          </a:p>
          <a:p>
            <a:pPr marL="227965" marR="701040" lvl="1" indent="-227965" algn="r"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  <a:tabLst>
                <a:tab pos="227965" algn="l"/>
              </a:tabLst>
            </a:pPr>
            <a:r>
              <a:rPr sz="1000" spc="20" dirty="0">
                <a:latin typeface="宋体"/>
                <a:cs typeface="宋体"/>
              </a:rPr>
              <a:t>性能需求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安全性需求</a:t>
            </a:r>
            <a:endParaRPr sz="1000">
              <a:latin typeface="宋体"/>
              <a:cs typeface="宋体"/>
            </a:endParaRPr>
          </a:p>
          <a:p>
            <a:pPr marL="542925" lvl="1" indent="-227965"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  <a:tabLst>
                <a:tab pos="543560" algn="l"/>
              </a:tabLst>
            </a:pPr>
            <a:r>
              <a:rPr sz="1000" spc="20" dirty="0">
                <a:latin typeface="宋体"/>
                <a:cs typeface="宋体"/>
              </a:rPr>
              <a:t>软件质量</a:t>
            </a:r>
            <a:r>
              <a:rPr sz="1000" spc="10" dirty="0">
                <a:latin typeface="宋体"/>
                <a:cs typeface="宋体"/>
              </a:rPr>
              <a:t>属性</a:t>
            </a:r>
            <a:endParaRPr sz="1000">
              <a:latin typeface="宋体"/>
              <a:cs typeface="宋体"/>
            </a:endParaRPr>
          </a:p>
          <a:p>
            <a:pPr marL="175260" indent="-163195"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 startAt="4"/>
              <a:tabLst>
                <a:tab pos="175895" algn="l"/>
              </a:tabLst>
            </a:pPr>
            <a:r>
              <a:rPr sz="1000" b="1" spc="20" dirty="0">
                <a:latin typeface="宋体"/>
                <a:cs typeface="宋体"/>
              </a:rPr>
              <a:t>其他</a:t>
            </a:r>
            <a:r>
              <a:rPr sz="1000" b="1" spc="15" dirty="0">
                <a:latin typeface="宋体"/>
                <a:cs typeface="宋体"/>
              </a:rPr>
              <a:t>需求</a:t>
            </a:r>
            <a:endParaRPr sz="1000">
              <a:latin typeface="宋体"/>
              <a:cs typeface="宋体"/>
            </a:endParaRPr>
          </a:p>
          <a:p>
            <a:pPr marL="163830" marR="535305">
              <a:lnSpc>
                <a:spcPct val="110100"/>
              </a:lnSpc>
              <a:spcBef>
                <a:spcPts val="5"/>
              </a:spcBef>
            </a:pPr>
            <a:r>
              <a:rPr sz="1000" b="1" spc="20" dirty="0">
                <a:latin typeface="宋体"/>
                <a:cs typeface="宋体"/>
              </a:rPr>
              <a:t>附录</a:t>
            </a:r>
            <a:r>
              <a:rPr sz="1000" b="1" spc="10" dirty="0">
                <a:latin typeface="Times New Roman"/>
                <a:cs typeface="Times New Roman"/>
              </a:rPr>
              <a:t>A</a:t>
            </a:r>
            <a:r>
              <a:rPr sz="1000" b="1" spc="10" dirty="0">
                <a:latin typeface="宋体"/>
                <a:cs typeface="宋体"/>
              </a:rPr>
              <a:t>：</a:t>
            </a:r>
            <a:r>
              <a:rPr sz="1000" b="1" spc="-10" dirty="0">
                <a:latin typeface="宋体"/>
                <a:cs typeface="宋体"/>
              </a:rPr>
              <a:t> </a:t>
            </a:r>
            <a:r>
              <a:rPr sz="1000" b="1" spc="20" dirty="0">
                <a:latin typeface="宋体"/>
                <a:cs typeface="宋体"/>
              </a:rPr>
              <a:t>术</a:t>
            </a:r>
            <a:r>
              <a:rPr sz="1000" b="1" spc="15" dirty="0">
                <a:latin typeface="宋体"/>
                <a:cs typeface="宋体"/>
              </a:rPr>
              <a:t>语表 </a:t>
            </a:r>
            <a:r>
              <a:rPr sz="1000" b="1" spc="20" dirty="0">
                <a:latin typeface="宋体"/>
                <a:cs typeface="宋体"/>
              </a:rPr>
              <a:t>附录</a:t>
            </a:r>
            <a:r>
              <a:rPr sz="1000" b="1" spc="10" dirty="0">
                <a:latin typeface="Times New Roman"/>
                <a:cs typeface="Times New Roman"/>
              </a:rPr>
              <a:t>B</a:t>
            </a:r>
            <a:r>
              <a:rPr sz="1000" b="1" spc="10" dirty="0">
                <a:latin typeface="宋体"/>
                <a:cs typeface="宋体"/>
              </a:rPr>
              <a:t>：</a:t>
            </a:r>
            <a:r>
              <a:rPr sz="1000" b="1" spc="-55" dirty="0">
                <a:latin typeface="宋体"/>
                <a:cs typeface="宋体"/>
              </a:rPr>
              <a:t> </a:t>
            </a:r>
            <a:r>
              <a:rPr sz="1000" b="1" spc="15" dirty="0">
                <a:latin typeface="宋体"/>
                <a:cs typeface="宋体"/>
              </a:rPr>
              <a:t>分析</a:t>
            </a:r>
            <a:r>
              <a:rPr sz="1000" b="1" spc="20" dirty="0">
                <a:latin typeface="宋体"/>
                <a:cs typeface="宋体"/>
              </a:rPr>
              <a:t>模</a:t>
            </a:r>
            <a:r>
              <a:rPr sz="1000" b="1" spc="15" dirty="0">
                <a:latin typeface="宋体"/>
                <a:cs typeface="宋体"/>
              </a:rPr>
              <a:t>型</a:t>
            </a:r>
            <a:endParaRPr sz="1000">
              <a:latin typeface="宋体"/>
              <a:cs typeface="宋体"/>
            </a:endParaRPr>
          </a:p>
          <a:p>
            <a:pPr marL="163830">
              <a:lnSpc>
                <a:spcPct val="100000"/>
              </a:lnSpc>
              <a:spcBef>
                <a:spcPts val="125"/>
              </a:spcBef>
            </a:pPr>
            <a:r>
              <a:rPr sz="1000" b="1" spc="20" dirty="0">
                <a:latin typeface="宋体"/>
                <a:cs typeface="宋体"/>
              </a:rPr>
              <a:t>附录</a:t>
            </a:r>
            <a:r>
              <a:rPr sz="1000" b="1" spc="10" dirty="0">
                <a:latin typeface="Times New Roman"/>
                <a:cs typeface="Times New Roman"/>
              </a:rPr>
              <a:t>C</a:t>
            </a:r>
            <a:r>
              <a:rPr sz="1000" b="1" spc="10" dirty="0">
                <a:latin typeface="宋体"/>
                <a:cs typeface="宋体"/>
              </a:rPr>
              <a:t>：</a:t>
            </a:r>
            <a:r>
              <a:rPr sz="1000" b="1" spc="-5" dirty="0">
                <a:latin typeface="宋体"/>
                <a:cs typeface="宋体"/>
              </a:rPr>
              <a:t> </a:t>
            </a:r>
            <a:r>
              <a:rPr sz="1000" b="1" spc="20" dirty="0">
                <a:latin typeface="宋体"/>
                <a:cs typeface="宋体"/>
              </a:rPr>
              <a:t>待</a:t>
            </a:r>
            <a:r>
              <a:rPr sz="1000" b="1" spc="15" dirty="0">
                <a:latin typeface="宋体"/>
                <a:cs typeface="宋体"/>
              </a:rPr>
              <a:t>确</a:t>
            </a:r>
            <a:r>
              <a:rPr sz="1000" b="1" spc="20" dirty="0">
                <a:latin typeface="宋体"/>
                <a:cs typeface="宋体"/>
              </a:rPr>
              <a:t>定问</a:t>
            </a:r>
            <a:r>
              <a:rPr sz="1000" b="1" spc="15" dirty="0">
                <a:latin typeface="宋体"/>
                <a:cs typeface="宋体"/>
              </a:rPr>
              <a:t>题</a:t>
            </a:r>
            <a:r>
              <a:rPr sz="1000" b="1" spc="20" dirty="0">
                <a:latin typeface="宋体"/>
                <a:cs typeface="宋体"/>
              </a:rPr>
              <a:t>清</a:t>
            </a:r>
            <a:r>
              <a:rPr sz="1000" b="1" spc="15" dirty="0">
                <a:latin typeface="宋体"/>
                <a:cs typeface="宋体"/>
              </a:rPr>
              <a:t>单</a:t>
            </a:r>
            <a:endParaRPr sz="1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472566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5829300" cy="353822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需求规格说明概述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需求规格说明文档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模版的选择与裁剪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文档写作技巧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优秀需求规格说明文档</a:t>
            </a:r>
            <a:r>
              <a:rPr sz="3200" spc="-15" dirty="0">
                <a:latin typeface="宋体"/>
                <a:cs typeface="宋体"/>
              </a:rPr>
              <a:t>的</a:t>
            </a:r>
            <a:r>
              <a:rPr sz="3200" dirty="0">
                <a:latin typeface="宋体"/>
                <a:cs typeface="宋体"/>
              </a:rPr>
              <a:t>特性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65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需求规格说明的实践调查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6801" y="0"/>
            <a:ext cx="3931920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4.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/>
              <a:t>文档写作技巧</a:t>
            </a:r>
          </a:p>
          <a:p>
            <a:pPr marL="912494" algn="ctr">
              <a:lnSpc>
                <a:spcPct val="100000"/>
              </a:lnSpc>
              <a:spcBef>
                <a:spcPts val="5"/>
              </a:spcBef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原则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0154" y="1169662"/>
            <a:ext cx="5741035" cy="50063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写作是一门艺术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没有什么固定的规律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有一些效用有限的经验原则</a:t>
            </a:r>
            <a:endParaRPr sz="2800">
              <a:latin typeface="宋体"/>
              <a:cs typeface="宋体"/>
            </a:endParaRPr>
          </a:p>
          <a:p>
            <a:pPr marL="1155065" lvl="2" indent="-22860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文档的组织方式；</a:t>
            </a:r>
            <a:endParaRPr sz="2400">
              <a:latin typeface="宋体"/>
              <a:cs typeface="宋体"/>
            </a:endParaRPr>
          </a:p>
          <a:p>
            <a:pPr marL="115506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常见情景的处理；</a:t>
            </a:r>
            <a:endParaRPr sz="2400">
              <a:latin typeface="宋体"/>
              <a:cs typeface="宋体"/>
            </a:endParaRPr>
          </a:p>
          <a:p>
            <a:pPr marL="115506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5700" algn="l"/>
              </a:tabLst>
            </a:pPr>
            <a:r>
              <a:rPr sz="2400" spc="-5" dirty="0">
                <a:latin typeface="宋体"/>
                <a:cs typeface="宋体"/>
              </a:rPr>
              <a:t>常用的写作技巧；</a:t>
            </a:r>
            <a:endParaRPr sz="2400">
              <a:latin typeface="宋体"/>
              <a:cs typeface="宋体"/>
            </a:endParaRPr>
          </a:p>
          <a:p>
            <a:pPr marL="115506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容易出错的地方</a:t>
            </a:r>
            <a:r>
              <a:rPr sz="2400" spc="5" dirty="0">
                <a:latin typeface="宋体"/>
                <a:cs typeface="宋体"/>
              </a:rPr>
              <a:t>等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3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5600" algn="l"/>
              </a:tabLst>
            </a:pPr>
            <a:r>
              <a:rPr sz="3200" b="1" dirty="0">
                <a:latin typeface="宋体"/>
                <a:cs typeface="宋体"/>
              </a:rPr>
              <a:t>文档化的目标是交流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920" algn="l"/>
                <a:tab pos="3223895" algn="l"/>
              </a:tabLst>
            </a:pPr>
            <a:r>
              <a:rPr sz="2800" spc="-10" dirty="0">
                <a:latin typeface="宋体"/>
                <a:cs typeface="宋体"/>
              </a:rPr>
              <a:t>简洁、易</a:t>
            </a:r>
            <a:r>
              <a:rPr sz="2800" spc="-5" dirty="0">
                <a:latin typeface="宋体"/>
                <a:cs typeface="宋体"/>
              </a:rPr>
              <a:t>读</a:t>
            </a:r>
            <a:r>
              <a:rPr sz="2800" spc="-90" dirty="0">
                <a:latin typeface="宋体"/>
                <a:cs typeface="宋体"/>
              </a:rPr>
              <a:t> </a:t>
            </a:r>
            <a:r>
              <a:rPr sz="2800" spc="-5" dirty="0">
                <a:latin typeface="Calibri"/>
                <a:cs typeface="Calibri"/>
              </a:rPr>
              <a:t>VS	</a:t>
            </a:r>
            <a:r>
              <a:rPr sz="2800" spc="-5" dirty="0">
                <a:latin typeface="宋体"/>
                <a:cs typeface="宋体"/>
              </a:rPr>
              <a:t>严格、准确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不</a:t>
            </a:r>
            <a:r>
              <a:rPr sz="2800" spc="-10" dirty="0">
                <a:latin typeface="宋体"/>
                <a:cs typeface="宋体"/>
              </a:rPr>
              <a:t>要</a:t>
            </a:r>
            <a:r>
              <a:rPr sz="2800" spc="-5" dirty="0">
                <a:latin typeface="宋体"/>
                <a:cs typeface="宋体"/>
              </a:rPr>
              <a:t>机械的照搬某些标</a:t>
            </a:r>
            <a:r>
              <a:rPr sz="2800" spc="-20" dirty="0">
                <a:latin typeface="宋体"/>
                <a:cs typeface="宋体"/>
              </a:rPr>
              <a:t>准</a:t>
            </a:r>
            <a:r>
              <a:rPr sz="2800" spc="-5" dirty="0">
                <a:latin typeface="宋体"/>
                <a:cs typeface="宋体"/>
              </a:rPr>
              <a:t>和规则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6801" y="0"/>
            <a:ext cx="3931920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4.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/>
              <a:t>文档写作技巧</a:t>
            </a:r>
          </a:p>
          <a:p>
            <a:pPr marL="912494" algn="ctr">
              <a:lnSpc>
                <a:spcPct val="100000"/>
              </a:lnSpc>
              <a:spcBef>
                <a:spcPts val="5"/>
              </a:spcBef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思考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0154" y="1169745"/>
            <a:ext cx="7708265" cy="489775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思考的问题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45"/>
              </a:spcBef>
              <a:buClr>
                <a:srgbClr val="C00000"/>
              </a:buClr>
              <a:buSzPct val="59615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600" dirty="0">
                <a:latin typeface="宋体"/>
                <a:cs typeface="宋体"/>
              </a:rPr>
              <a:t>有没有另外一种更容易</a:t>
            </a:r>
            <a:r>
              <a:rPr sz="2600" spc="-15" dirty="0">
                <a:latin typeface="宋体"/>
                <a:cs typeface="宋体"/>
              </a:rPr>
              <a:t>理</a:t>
            </a:r>
            <a:r>
              <a:rPr sz="2600" dirty="0">
                <a:latin typeface="宋体"/>
                <a:cs typeface="宋体"/>
              </a:rPr>
              <a:t>解的</a:t>
            </a:r>
            <a:r>
              <a:rPr sz="2600" spc="-15" dirty="0">
                <a:latin typeface="宋体"/>
                <a:cs typeface="宋体"/>
              </a:rPr>
              <a:t>表</a:t>
            </a:r>
            <a:r>
              <a:rPr sz="2600" dirty="0">
                <a:latin typeface="宋体"/>
                <a:cs typeface="宋体"/>
              </a:rPr>
              <a:t>达方</a:t>
            </a:r>
            <a:r>
              <a:rPr sz="2600" spc="-15" dirty="0">
                <a:latin typeface="宋体"/>
                <a:cs typeface="宋体"/>
              </a:rPr>
              <a:t>式</a:t>
            </a:r>
            <a:r>
              <a:rPr sz="2600" dirty="0">
                <a:latin typeface="宋体"/>
                <a:cs typeface="宋体"/>
              </a:rPr>
              <a:t>？</a:t>
            </a:r>
            <a:endParaRPr sz="26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9615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600" dirty="0">
                <a:latin typeface="宋体"/>
                <a:cs typeface="宋体"/>
              </a:rPr>
              <a:t>是否一次性提供了太多</a:t>
            </a:r>
            <a:r>
              <a:rPr sz="2600" spc="-15" dirty="0">
                <a:latin typeface="宋体"/>
                <a:cs typeface="宋体"/>
              </a:rPr>
              <a:t>的</a:t>
            </a:r>
            <a:r>
              <a:rPr sz="2600" dirty="0">
                <a:latin typeface="宋体"/>
                <a:cs typeface="宋体"/>
              </a:rPr>
              <a:t>信息？</a:t>
            </a:r>
            <a:endParaRPr sz="26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9615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600" dirty="0">
                <a:latin typeface="宋体"/>
                <a:cs typeface="宋体"/>
              </a:rPr>
              <a:t>对读者来说什么是重要</a:t>
            </a:r>
            <a:r>
              <a:rPr sz="2600" spc="-15" dirty="0">
                <a:latin typeface="宋体"/>
                <a:cs typeface="宋体"/>
              </a:rPr>
              <a:t>的</a:t>
            </a:r>
            <a:r>
              <a:rPr sz="2600" dirty="0">
                <a:latin typeface="宋体"/>
                <a:cs typeface="宋体"/>
              </a:rPr>
              <a:t>，什</a:t>
            </a:r>
            <a:r>
              <a:rPr sz="2600" spc="-15" dirty="0">
                <a:latin typeface="宋体"/>
                <a:cs typeface="宋体"/>
              </a:rPr>
              <a:t>么</a:t>
            </a:r>
            <a:r>
              <a:rPr sz="2600" dirty="0">
                <a:latin typeface="宋体"/>
                <a:cs typeface="宋体"/>
              </a:rPr>
              <a:t>是不</a:t>
            </a:r>
            <a:r>
              <a:rPr sz="2600" spc="-15" dirty="0">
                <a:latin typeface="宋体"/>
                <a:cs typeface="宋体"/>
              </a:rPr>
              <a:t>重</a:t>
            </a:r>
            <a:r>
              <a:rPr sz="2600" dirty="0">
                <a:latin typeface="宋体"/>
                <a:cs typeface="宋体"/>
              </a:rPr>
              <a:t>要的？</a:t>
            </a:r>
            <a:endParaRPr sz="26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9615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600" dirty="0">
                <a:latin typeface="宋体"/>
                <a:cs typeface="宋体"/>
              </a:rPr>
              <a:t>是否太抽象了？需不需</a:t>
            </a:r>
            <a:r>
              <a:rPr sz="2600" spc="-15" dirty="0">
                <a:latin typeface="宋体"/>
                <a:cs typeface="宋体"/>
              </a:rPr>
              <a:t>要</a:t>
            </a:r>
            <a:r>
              <a:rPr sz="2600" dirty="0">
                <a:latin typeface="宋体"/>
                <a:cs typeface="宋体"/>
              </a:rPr>
              <a:t>举例</a:t>
            </a:r>
            <a:r>
              <a:rPr sz="2600" spc="-15" dirty="0">
                <a:latin typeface="宋体"/>
                <a:cs typeface="宋体"/>
              </a:rPr>
              <a:t>说</a:t>
            </a:r>
            <a:r>
              <a:rPr sz="2600" dirty="0">
                <a:latin typeface="宋体"/>
                <a:cs typeface="宋体"/>
              </a:rPr>
              <a:t>明？</a:t>
            </a:r>
            <a:endParaRPr sz="26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9615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600" dirty="0">
                <a:latin typeface="宋体"/>
                <a:cs typeface="宋体"/>
              </a:rPr>
              <a:t>是否太专业了？需不需</a:t>
            </a:r>
            <a:r>
              <a:rPr sz="2600" spc="-15" dirty="0">
                <a:latin typeface="宋体"/>
                <a:cs typeface="宋体"/>
              </a:rPr>
              <a:t>要</a:t>
            </a:r>
            <a:r>
              <a:rPr sz="2600" dirty="0">
                <a:latin typeface="宋体"/>
                <a:cs typeface="宋体"/>
              </a:rPr>
              <a:t>解释</a:t>
            </a:r>
            <a:r>
              <a:rPr sz="2600" spc="-15" dirty="0">
                <a:latin typeface="宋体"/>
                <a:cs typeface="宋体"/>
              </a:rPr>
              <a:t>原</a:t>
            </a:r>
            <a:r>
              <a:rPr sz="2600" dirty="0">
                <a:latin typeface="宋体"/>
                <a:cs typeface="宋体"/>
              </a:rPr>
              <a:t>理？</a:t>
            </a:r>
            <a:endParaRPr sz="26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9615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600" dirty="0">
                <a:latin typeface="宋体"/>
                <a:cs typeface="宋体"/>
              </a:rPr>
              <a:t>会不会引起读者对内容</a:t>
            </a:r>
            <a:r>
              <a:rPr sz="2600" spc="-15" dirty="0">
                <a:latin typeface="宋体"/>
                <a:cs typeface="宋体"/>
              </a:rPr>
              <a:t>的</a:t>
            </a:r>
            <a:r>
              <a:rPr sz="2600" dirty="0">
                <a:latin typeface="宋体"/>
                <a:cs typeface="宋体"/>
              </a:rPr>
              <a:t>错误</a:t>
            </a:r>
            <a:r>
              <a:rPr sz="2600" spc="-15" dirty="0">
                <a:latin typeface="宋体"/>
                <a:cs typeface="宋体"/>
              </a:rPr>
              <a:t>解</a:t>
            </a:r>
            <a:r>
              <a:rPr sz="2600" dirty="0">
                <a:latin typeface="宋体"/>
                <a:cs typeface="宋体"/>
              </a:rPr>
              <a:t>释？</a:t>
            </a:r>
            <a:endParaRPr sz="26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9615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600" dirty="0">
                <a:latin typeface="宋体"/>
                <a:cs typeface="宋体"/>
              </a:rPr>
              <a:t>哪些内容有益于读者？</a:t>
            </a:r>
            <a:r>
              <a:rPr sz="2600" spc="-15" dirty="0">
                <a:latin typeface="宋体"/>
                <a:cs typeface="宋体"/>
              </a:rPr>
              <a:t>有</a:t>
            </a:r>
            <a:r>
              <a:rPr sz="2600" dirty="0">
                <a:latin typeface="宋体"/>
                <a:cs typeface="宋体"/>
              </a:rPr>
              <a:t>益于</a:t>
            </a:r>
            <a:r>
              <a:rPr sz="2600" spc="-15" dirty="0">
                <a:latin typeface="宋体"/>
                <a:cs typeface="宋体"/>
              </a:rPr>
              <a:t>哪</a:t>
            </a:r>
            <a:r>
              <a:rPr sz="2600" dirty="0">
                <a:latin typeface="宋体"/>
                <a:cs typeface="宋体"/>
              </a:rPr>
              <a:t>些读</a:t>
            </a:r>
            <a:r>
              <a:rPr sz="2600" spc="-15" dirty="0">
                <a:latin typeface="宋体"/>
                <a:cs typeface="宋体"/>
              </a:rPr>
              <a:t>者</a:t>
            </a:r>
            <a:r>
              <a:rPr sz="2600" dirty="0">
                <a:latin typeface="宋体"/>
                <a:cs typeface="宋体"/>
              </a:rPr>
              <a:t>？</a:t>
            </a:r>
            <a:endParaRPr sz="26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9615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600" dirty="0">
                <a:latin typeface="宋体"/>
                <a:cs typeface="宋体"/>
              </a:rPr>
              <a:t>文档在整体上是不是过</a:t>
            </a:r>
            <a:r>
              <a:rPr sz="2600" spc="-15" dirty="0">
                <a:latin typeface="宋体"/>
                <a:cs typeface="宋体"/>
              </a:rPr>
              <a:t>于</a:t>
            </a:r>
            <a:r>
              <a:rPr sz="2600" dirty="0">
                <a:latin typeface="宋体"/>
                <a:cs typeface="宋体"/>
              </a:rPr>
              <a:t>机械</a:t>
            </a:r>
            <a:r>
              <a:rPr sz="2600" spc="-15" dirty="0">
                <a:latin typeface="宋体"/>
                <a:cs typeface="宋体"/>
              </a:rPr>
              <a:t>、</a:t>
            </a:r>
            <a:r>
              <a:rPr sz="2600" dirty="0">
                <a:latin typeface="宋体"/>
                <a:cs typeface="宋体"/>
              </a:rPr>
              <a:t>乏味</a:t>
            </a:r>
            <a:r>
              <a:rPr sz="2600" spc="-15" dirty="0">
                <a:latin typeface="宋体"/>
                <a:cs typeface="宋体"/>
              </a:rPr>
              <a:t>或</a:t>
            </a:r>
            <a:r>
              <a:rPr sz="2600" dirty="0">
                <a:latin typeface="宋体"/>
                <a:cs typeface="宋体"/>
              </a:rPr>
              <a:t>者松</a:t>
            </a:r>
            <a:r>
              <a:rPr sz="2600" spc="-15" dirty="0">
                <a:latin typeface="宋体"/>
                <a:cs typeface="宋体"/>
              </a:rPr>
              <a:t>散</a:t>
            </a:r>
            <a:r>
              <a:rPr sz="2600" spc="5" dirty="0">
                <a:latin typeface="宋体"/>
                <a:cs typeface="宋体"/>
              </a:rPr>
              <a:t>？</a:t>
            </a:r>
            <a:endParaRPr sz="26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9615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600" dirty="0">
                <a:latin typeface="宋体"/>
                <a:cs typeface="宋体"/>
              </a:rPr>
              <a:t>文档枯燥吗？令人厌烦</a:t>
            </a:r>
            <a:r>
              <a:rPr sz="2600" spc="-15" dirty="0">
                <a:latin typeface="宋体"/>
                <a:cs typeface="宋体"/>
              </a:rPr>
              <a:t>吗</a:t>
            </a:r>
            <a:r>
              <a:rPr sz="2600" dirty="0">
                <a:latin typeface="宋体"/>
                <a:cs typeface="宋体"/>
              </a:rPr>
              <a:t>？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6801" y="0"/>
            <a:ext cx="4060825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3985" algn="r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4.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/>
              <a:t>文档写作技巧</a:t>
            </a: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Calibri"/>
                <a:cs typeface="Calibri"/>
              </a:rPr>
              <a:t>——</a:t>
            </a:r>
            <a:r>
              <a:rPr spc="5" dirty="0"/>
              <a:t>结构组织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3847"/>
            <a:ext cx="5030470" cy="32512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所有内容位置得当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借鉴和使用标准的文档模版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引用或强化，但不重复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引用而不是复制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强化与重复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引言与冗余元文本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6801" y="0"/>
            <a:ext cx="4060825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3985" algn="r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4.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/>
              <a:t>文档写作技巧</a:t>
            </a: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Calibri"/>
                <a:cs typeface="Calibri"/>
              </a:rPr>
              <a:t>——</a:t>
            </a:r>
            <a:r>
              <a:rPr spc="5" dirty="0"/>
              <a:t>表达方式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3847"/>
            <a:ext cx="7874634" cy="39122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形式依赖于内容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根据需要表达的内容，选择合适的</a:t>
            </a:r>
            <a:r>
              <a:rPr sz="2800" dirty="0">
                <a:latin typeface="宋体"/>
                <a:cs typeface="宋体"/>
              </a:rPr>
              <a:t>表</a:t>
            </a:r>
            <a:r>
              <a:rPr sz="2800" spc="-5" dirty="0">
                <a:latin typeface="宋体"/>
                <a:cs typeface="宋体"/>
              </a:rPr>
              <a:t>达方式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使用系统的表达方式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人们倾向</a:t>
            </a:r>
            <a:r>
              <a:rPr sz="2800" spc="-5" dirty="0">
                <a:latin typeface="宋体"/>
                <a:cs typeface="宋体"/>
              </a:rPr>
              <a:t>于</a:t>
            </a:r>
            <a:r>
              <a:rPr sz="2800" spc="-10" dirty="0">
                <a:solidFill>
                  <a:srgbClr val="FF0000"/>
                </a:solidFill>
                <a:latin typeface="宋体"/>
                <a:cs typeface="宋体"/>
              </a:rPr>
              <a:t>系统的</a:t>
            </a:r>
            <a:r>
              <a:rPr sz="2800" spc="-10" dirty="0">
                <a:latin typeface="宋体"/>
                <a:cs typeface="宋体"/>
              </a:rPr>
              <a:t>表达方式</a:t>
            </a:r>
            <a:endParaRPr sz="28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使用相同的语句格式来描述所有的细节需求。</a:t>
            </a:r>
            <a:endParaRPr sz="24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使用列表或者表格来组织独立、并列的信息。</a:t>
            </a:r>
            <a:endParaRPr sz="2400">
              <a:latin typeface="宋体"/>
              <a:cs typeface="宋体"/>
            </a:endParaRPr>
          </a:p>
          <a:p>
            <a:pPr marL="1155700" lvl="2" indent="-229235">
              <a:lnSpc>
                <a:spcPts val="2790"/>
              </a:lnSpc>
              <a:spcBef>
                <a:spcPts val="75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宋体"/>
                <a:cs typeface="宋体"/>
              </a:rPr>
              <a:t>使用编号来表达繁杂信息之间的关系，包括顺序关</a:t>
            </a:r>
            <a:endParaRPr sz="2400">
              <a:latin typeface="宋体"/>
              <a:cs typeface="宋体"/>
            </a:endParaRPr>
          </a:p>
          <a:p>
            <a:pPr marL="1155700">
              <a:lnSpc>
                <a:spcPts val="2790"/>
              </a:lnSpc>
            </a:pPr>
            <a:r>
              <a:rPr sz="2400" dirty="0">
                <a:latin typeface="宋体"/>
                <a:cs typeface="宋体"/>
              </a:rPr>
              <a:t>系、嵌套关系和层次关系。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6801" y="26365"/>
            <a:ext cx="406082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33985" algn="r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4.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dirty="0"/>
              <a:t>文档写作技巧</a:t>
            </a:r>
          </a:p>
          <a:p>
            <a:pPr marR="5080" algn="r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细节描述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8765"/>
            <a:ext cx="7849870" cy="419989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8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定义术语表或数据字典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术语不一致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“方言”问题，例“客户”，“顾客”，</a:t>
            </a:r>
            <a:r>
              <a:rPr sz="2400" spc="-74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“投资人”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错误术语和冗余术语</a:t>
            </a:r>
            <a:endParaRPr sz="24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5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避免干扰文本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“这一段的意思是</a:t>
            </a:r>
            <a:r>
              <a:rPr sz="2400" spc="-5" dirty="0">
                <a:latin typeface="Calibri"/>
                <a:cs typeface="Calibri"/>
              </a:rPr>
              <a:t>…</a:t>
            </a:r>
            <a:r>
              <a:rPr sz="2400" spc="-5" dirty="0">
                <a:latin typeface="宋体"/>
                <a:cs typeface="宋体"/>
              </a:rPr>
              <a:t>”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宋体"/>
                <a:cs typeface="宋体"/>
              </a:rPr>
              <a:t>“上一句话是</a:t>
            </a:r>
            <a:r>
              <a:rPr sz="2400" dirty="0">
                <a:latin typeface="宋体"/>
                <a:cs typeface="宋体"/>
              </a:rPr>
              <a:t>指</a:t>
            </a:r>
            <a:r>
              <a:rPr sz="2400" spc="-5" dirty="0">
                <a:latin typeface="Calibri"/>
                <a:cs typeface="Calibri"/>
              </a:rPr>
              <a:t>…</a:t>
            </a:r>
            <a:r>
              <a:rPr sz="2400" spc="-5" dirty="0">
                <a:latin typeface="宋体"/>
                <a:cs typeface="宋体"/>
              </a:rPr>
              <a:t>”</a:t>
            </a:r>
            <a:endParaRPr sz="24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6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避免歧义词汇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表</a:t>
            </a:r>
            <a:r>
              <a:rPr sz="2400" spc="-5" dirty="0">
                <a:latin typeface="Calibri"/>
                <a:cs typeface="Calibri"/>
              </a:rPr>
              <a:t>15</a:t>
            </a:r>
            <a:r>
              <a:rPr sz="2400" spc="-5" dirty="0">
                <a:latin typeface="宋体"/>
                <a:cs typeface="宋体"/>
              </a:rPr>
              <a:t>－</a:t>
            </a:r>
            <a:r>
              <a:rPr sz="2400" spc="-5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09359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23"/>
                </a:lnTo>
              </a:path>
            </a:pathLst>
          </a:custGeom>
          <a:ln w="127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7962" y="75946"/>
          <a:ext cx="8716009" cy="61896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1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874"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歧义词汇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2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改进方法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可接受的、足够的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具体定义可接受的内容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，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说明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系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统怎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样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判断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“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可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接受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”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或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“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足够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”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大概可行的、差不多可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行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的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00"/>
                        </a:lnSpc>
                      </a:pPr>
                      <a:r>
                        <a:rPr sz="1400" spc="35" dirty="0">
                          <a:latin typeface="微软雅黑"/>
                          <a:cs typeface="微软雅黑"/>
                        </a:rPr>
                        <a:t>不要让开发人员</a:t>
                      </a:r>
                      <a:r>
                        <a:rPr sz="1400" spc="20" dirty="0">
                          <a:latin typeface="微软雅黑"/>
                          <a:cs typeface="微软雅黑"/>
                        </a:rPr>
                        <a:t>来</a:t>
                      </a:r>
                      <a:r>
                        <a:rPr sz="1400" spc="35" dirty="0">
                          <a:latin typeface="微软雅黑"/>
                          <a:cs typeface="微软雅黑"/>
                        </a:rPr>
                        <a:t>判断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“</a:t>
                      </a:r>
                      <a:r>
                        <a:rPr sz="1400" spc="35" dirty="0">
                          <a:latin typeface="微软雅黑"/>
                          <a:cs typeface="微软雅黑"/>
                        </a:rPr>
                        <a:t>大概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”</a:t>
                      </a:r>
                      <a:r>
                        <a:rPr sz="1400" spc="35" dirty="0">
                          <a:latin typeface="微软雅黑"/>
                          <a:cs typeface="微软雅黑"/>
                        </a:rPr>
                        <a:t>和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“</a:t>
                      </a:r>
                      <a:r>
                        <a:rPr sz="1400" spc="35" dirty="0">
                          <a:latin typeface="微软雅黑"/>
                          <a:cs typeface="微软雅黑"/>
                        </a:rPr>
                        <a:t>差不多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”</a:t>
                      </a:r>
                      <a:r>
                        <a:rPr sz="1400" spc="35" dirty="0">
                          <a:latin typeface="微软雅黑"/>
                          <a:cs typeface="微软雅黑"/>
                        </a:rPr>
                        <a:t>到底是否成立</a:t>
                      </a:r>
                      <a:r>
                        <a:rPr sz="1400" spc="20" dirty="0">
                          <a:latin typeface="微软雅黑"/>
                          <a:cs typeface="微软雅黑"/>
                        </a:rPr>
                        <a:t>。</a:t>
                      </a:r>
                      <a:r>
                        <a:rPr sz="1400" spc="35" dirty="0">
                          <a:latin typeface="微软雅黑"/>
                          <a:cs typeface="微软雅黑"/>
                        </a:rPr>
                        <a:t>应将其标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ts val="1635"/>
                        </a:lnSpc>
                        <a:spcBef>
                          <a:spcPts val="25"/>
                        </a:spcBef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记为待确定问题并标明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解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决日期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至少、最小、不多于、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不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超过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2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明确指定能够接受的最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大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值和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最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小值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874"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在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……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之间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2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明确说明两个端点是否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在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范围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之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内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6794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依赖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描述依赖的原因，数据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依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赖？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服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务依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赖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？还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是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资源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依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赖？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等等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有效的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明确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“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有效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”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所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意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味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的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具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体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实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际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情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况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874"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快的、迅速的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2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明确指定系统在时间或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速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度上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可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接受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的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最小值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6794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灵活的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描述系统为了响应条件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变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化或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需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求变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化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而可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能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发生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的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变更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方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式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874">
                <a:tc>
                  <a:txBody>
                    <a:bodyPr/>
                    <a:lstStyle/>
                    <a:p>
                      <a:pPr marL="6794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改进的、更好的、更快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的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、优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越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的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定量说明在一个专门的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功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能领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域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内，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充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分改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进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的程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度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和效果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6794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包括、包括但不限于、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等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等、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诸如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应该列举所有的可能性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，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否则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就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无法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进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行设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计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和测试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001">
                <a:tc>
                  <a:txBody>
                    <a:bodyPr/>
                    <a:lstStyle/>
                    <a:p>
                      <a:pPr marL="6794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最大化、最小化、最优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说明对某些参数所能接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受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的最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大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值和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最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小值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873">
                <a:tc>
                  <a:txBody>
                    <a:bodyPr/>
                    <a:lstStyle/>
                    <a:p>
                      <a:pPr marL="6794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一般情况下、理想情况下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需要增加描述系统在异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常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和非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理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想情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况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下的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行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为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6794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可选择地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具体说明是系统选择、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用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户选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择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还是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开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发人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员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选择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874">
                <a:tc>
                  <a:txBody>
                    <a:bodyPr/>
                    <a:lstStyle/>
                    <a:p>
                      <a:pPr marL="6794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合理的、在必要的时候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、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在适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当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的地方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明确怎样判断合理、必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要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和适当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6794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健壮的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显式定义系统如何处理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异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常和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如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何响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应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预料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之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外的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操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作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6794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无缝的、透明的、优雅的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将词汇里面所反映的用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户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期望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转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化成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能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够观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察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到的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产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品特性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874">
                <a:tc>
                  <a:txBody>
                    <a:bodyPr/>
                    <a:lstStyle/>
                    <a:p>
                      <a:pPr marL="6794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若干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声明具体是多少，或提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供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某一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范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围内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的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最小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边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界值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和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最大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边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界值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不应该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试着以肯定的方式陈述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需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求，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描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述系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统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应该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做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什么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1874">
                <a:tc>
                  <a:txBody>
                    <a:bodyPr/>
                    <a:lstStyle/>
                    <a:p>
                      <a:pPr marL="67945">
                        <a:lnSpc>
                          <a:spcPts val="163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最新技术水平的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1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定义其具体含义，即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“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最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新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技术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水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平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”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意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味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什么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2013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充分的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1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说明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“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充分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”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具体包括哪些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内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容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61950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支持、允许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精确地定义系统的功能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，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这些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功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能组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合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起来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支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持某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些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能力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61950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用户友好的、简单的、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容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易的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5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描述系统特性，用这些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特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性说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明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词汇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所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代表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的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用户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期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望的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实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质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472566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5829300" cy="353822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需求规格说明概述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需求规格说明文档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模版的选择与裁剪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文档写作技巧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优秀需求规格说明文档</a:t>
            </a:r>
            <a:r>
              <a:rPr sz="3200" spc="-15" dirty="0">
                <a:solidFill>
                  <a:srgbClr val="FF0000"/>
                </a:solidFill>
                <a:latin typeface="宋体"/>
                <a:cs typeface="宋体"/>
              </a:rPr>
              <a:t>的</a:t>
            </a: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特性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65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需求规格说明的实践调查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630" y="163779"/>
            <a:ext cx="7846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5.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/>
              <a:t>优秀需求规格说明文档的特性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92809"/>
            <a:ext cx="8179434" cy="456819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b="1" spc="-5" dirty="0">
                <a:latin typeface="宋体"/>
                <a:cs typeface="宋体"/>
              </a:rPr>
              <a:t>完备性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标准</a:t>
            </a:r>
            <a:endParaRPr sz="2800">
              <a:latin typeface="宋体"/>
              <a:cs typeface="宋体"/>
            </a:endParaRPr>
          </a:p>
          <a:p>
            <a:pPr marL="1155700" marR="5080" lvl="2" indent="-228600">
              <a:lnSpc>
                <a:spcPts val="2700"/>
              </a:lnSpc>
              <a:spcBef>
                <a:spcPts val="101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描述了用户的所有有意义的需求，包括功能、性能、 约束、质量属性和对外接口。</a:t>
            </a:r>
            <a:endParaRPr sz="2400">
              <a:latin typeface="宋体"/>
              <a:cs typeface="宋体"/>
            </a:endParaRPr>
          </a:p>
          <a:p>
            <a:pPr marL="1155700" lvl="2" indent="-229235">
              <a:lnSpc>
                <a:spcPts val="2790"/>
              </a:lnSpc>
              <a:spcBef>
                <a:spcPts val="69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宋体"/>
                <a:cs typeface="宋体"/>
              </a:rPr>
              <a:t>定义了软件对所有情况的所有实际输入（无论有效</a:t>
            </a:r>
            <a:endParaRPr sz="2400">
              <a:latin typeface="宋体"/>
              <a:cs typeface="宋体"/>
            </a:endParaRPr>
          </a:p>
          <a:p>
            <a:pPr marL="1155700">
              <a:lnSpc>
                <a:spcPts val="2790"/>
              </a:lnSpc>
            </a:pPr>
            <a:r>
              <a:rPr sz="2400" dirty="0">
                <a:latin typeface="宋体"/>
                <a:cs typeface="宋体"/>
              </a:rPr>
              <a:t>输入还是无效输入）的响应。</a:t>
            </a:r>
            <a:endParaRPr sz="2400">
              <a:latin typeface="宋体"/>
              <a:cs typeface="宋体"/>
            </a:endParaRPr>
          </a:p>
          <a:p>
            <a:pPr marL="1155700" marR="309880" lvl="2" indent="-228600">
              <a:lnSpc>
                <a:spcPts val="2700"/>
              </a:lnSpc>
              <a:spcBef>
                <a:spcPts val="100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为文档中的所有插图、图、表和术语、度量单位的 定义提供了完整的引用和标记。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前景和范围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TBD</a:t>
            </a:r>
            <a:r>
              <a:rPr sz="2800" spc="-5" dirty="0">
                <a:latin typeface="宋体"/>
                <a:cs typeface="宋体"/>
              </a:rPr>
              <a:t>问题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7805" y="163779"/>
            <a:ext cx="61690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案</a:t>
            </a:r>
            <a:r>
              <a:rPr spc="5" dirty="0"/>
              <a:t>例</a:t>
            </a:r>
            <a:r>
              <a:rPr dirty="0">
                <a:latin typeface="Calibri"/>
                <a:cs typeface="Calibri"/>
              </a:rPr>
              <a:t>1.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/>
              <a:t>校园支线任务平台</a:t>
            </a:r>
          </a:p>
        </p:txBody>
      </p:sp>
      <p:sp>
        <p:nvSpPr>
          <p:cNvPr id="3" name="object 3"/>
          <p:cNvSpPr/>
          <p:nvPr/>
        </p:nvSpPr>
        <p:spPr>
          <a:xfrm>
            <a:off x="1435822" y="1995912"/>
            <a:ext cx="7214329" cy="36957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4441" y="1373886"/>
            <a:ext cx="44634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00663B"/>
              </a:buClr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5" dirty="0">
                <a:latin typeface="宋体"/>
                <a:cs typeface="宋体"/>
              </a:rPr>
              <a:t>具有明确的项目范围和发展</a:t>
            </a:r>
            <a:r>
              <a:rPr sz="2000" b="1" spc="-5" dirty="0">
                <a:latin typeface="宋体"/>
                <a:cs typeface="宋体"/>
              </a:rPr>
              <a:t>前</a:t>
            </a:r>
            <a:r>
              <a:rPr sz="2000" b="1" spc="5" dirty="0">
                <a:latin typeface="宋体"/>
                <a:cs typeface="宋体"/>
              </a:rPr>
              <a:t>景描述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630" y="334721"/>
            <a:ext cx="7846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5.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/>
              <a:t>优秀需求规格说明文档的特性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68280"/>
            <a:ext cx="8031480" cy="444690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b="1" spc="-10" dirty="0">
                <a:latin typeface="宋体"/>
                <a:cs typeface="宋体"/>
              </a:rPr>
              <a:t>根据重要性和稳定性分级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建立需求的优先级</a:t>
            </a:r>
            <a:endParaRPr sz="2400">
              <a:latin typeface="宋体"/>
              <a:cs typeface="宋体"/>
            </a:endParaRPr>
          </a:p>
          <a:p>
            <a:pPr marL="342900" marR="6597650" indent="-342900" algn="r">
              <a:lnSpc>
                <a:spcPct val="100000"/>
              </a:lnSpc>
              <a:spcBef>
                <a:spcPts val="65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42900" algn="l"/>
                <a:tab pos="356235" algn="l"/>
              </a:tabLst>
            </a:pPr>
            <a:r>
              <a:rPr sz="2800" b="1" spc="-5" dirty="0">
                <a:latin typeface="宋体"/>
                <a:cs typeface="宋体"/>
              </a:rPr>
              <a:t>可修改</a:t>
            </a:r>
            <a:endParaRPr sz="2800">
              <a:latin typeface="宋体"/>
              <a:cs typeface="宋体"/>
            </a:endParaRPr>
          </a:p>
          <a:p>
            <a:pPr marL="286385" marR="6656705" lvl="1" indent="-286385" algn="r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286385" algn="l"/>
                <a:tab pos="287020" algn="l"/>
              </a:tabLst>
            </a:pPr>
            <a:r>
              <a:rPr sz="2400" dirty="0">
                <a:latin typeface="宋体"/>
                <a:cs typeface="宋体"/>
              </a:rPr>
              <a:t>标准</a:t>
            </a:r>
            <a:endParaRPr sz="2400">
              <a:latin typeface="宋体"/>
              <a:cs typeface="宋体"/>
            </a:endParaRPr>
          </a:p>
          <a:p>
            <a:pPr marL="1155700" marR="5080" lvl="2" indent="-228600">
              <a:lnSpc>
                <a:spcPts val="2240"/>
              </a:lnSpc>
              <a:spcBef>
                <a:spcPts val="86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宋体"/>
                <a:cs typeface="宋体"/>
              </a:rPr>
              <a:t>它的结构和风格使得人</a:t>
            </a:r>
            <a:r>
              <a:rPr sz="2000" spc="-15" dirty="0">
                <a:latin typeface="宋体"/>
                <a:cs typeface="宋体"/>
              </a:rPr>
              <a:t>们</a:t>
            </a:r>
            <a:r>
              <a:rPr sz="2000" dirty="0">
                <a:latin typeface="宋体"/>
                <a:cs typeface="宋体"/>
              </a:rPr>
              <a:t>可以</a:t>
            </a:r>
            <a:r>
              <a:rPr sz="2000" spc="-15" dirty="0">
                <a:latin typeface="宋体"/>
                <a:cs typeface="宋体"/>
              </a:rPr>
              <a:t>对</a:t>
            </a:r>
            <a:r>
              <a:rPr sz="2000" dirty="0">
                <a:latin typeface="宋体"/>
                <a:cs typeface="宋体"/>
              </a:rPr>
              <a:t>其中</a:t>
            </a:r>
            <a:r>
              <a:rPr sz="2000" spc="-15" dirty="0">
                <a:latin typeface="宋体"/>
                <a:cs typeface="宋体"/>
              </a:rPr>
              <a:t>任</a:t>
            </a:r>
            <a:r>
              <a:rPr sz="2000" dirty="0">
                <a:latin typeface="宋体"/>
                <a:cs typeface="宋体"/>
              </a:rPr>
              <a:t>一需</a:t>
            </a:r>
            <a:r>
              <a:rPr sz="2000" spc="-15" dirty="0">
                <a:latin typeface="宋体"/>
                <a:cs typeface="宋体"/>
              </a:rPr>
              <a:t>求</a:t>
            </a:r>
            <a:r>
              <a:rPr sz="2000" dirty="0">
                <a:latin typeface="宋体"/>
                <a:cs typeface="宋体"/>
              </a:rPr>
              <a:t>进行</a:t>
            </a:r>
            <a:r>
              <a:rPr sz="2000" spc="-15" dirty="0">
                <a:latin typeface="宋体"/>
                <a:cs typeface="宋体"/>
              </a:rPr>
              <a:t>容</a:t>
            </a:r>
            <a:r>
              <a:rPr sz="2000" dirty="0">
                <a:latin typeface="宋体"/>
                <a:cs typeface="宋体"/>
              </a:rPr>
              <a:t>易地</a:t>
            </a:r>
            <a:r>
              <a:rPr sz="2000" spc="-15" dirty="0">
                <a:latin typeface="宋体"/>
                <a:cs typeface="宋体"/>
              </a:rPr>
              <a:t>、</a:t>
            </a:r>
            <a:r>
              <a:rPr sz="2000" dirty="0">
                <a:latin typeface="宋体"/>
                <a:cs typeface="宋体"/>
              </a:rPr>
              <a:t>完 整地、一致地修改，同</a:t>
            </a:r>
            <a:r>
              <a:rPr sz="2000" spc="-15" dirty="0">
                <a:latin typeface="宋体"/>
                <a:cs typeface="宋体"/>
              </a:rPr>
              <a:t>时</a:t>
            </a:r>
            <a:r>
              <a:rPr sz="2000" dirty="0">
                <a:latin typeface="宋体"/>
                <a:cs typeface="宋体"/>
              </a:rPr>
              <a:t>还不</a:t>
            </a:r>
            <a:r>
              <a:rPr sz="2000" spc="-15" dirty="0">
                <a:latin typeface="宋体"/>
                <a:cs typeface="宋体"/>
              </a:rPr>
              <a:t>会</a:t>
            </a:r>
            <a:r>
              <a:rPr sz="2000" dirty="0">
                <a:latin typeface="宋体"/>
                <a:cs typeface="宋体"/>
              </a:rPr>
              <a:t>影响</a:t>
            </a:r>
            <a:r>
              <a:rPr sz="2000" spc="-15" dirty="0">
                <a:latin typeface="宋体"/>
                <a:cs typeface="宋体"/>
              </a:rPr>
              <a:t>文</a:t>
            </a:r>
            <a:r>
              <a:rPr sz="2000" dirty="0">
                <a:latin typeface="宋体"/>
                <a:cs typeface="宋体"/>
              </a:rPr>
              <a:t>档现</a:t>
            </a:r>
            <a:r>
              <a:rPr sz="2000" spc="-15" dirty="0">
                <a:latin typeface="宋体"/>
                <a:cs typeface="宋体"/>
              </a:rPr>
              <a:t>有</a:t>
            </a:r>
            <a:r>
              <a:rPr sz="2000" dirty="0">
                <a:latin typeface="宋体"/>
                <a:cs typeface="宋体"/>
              </a:rPr>
              <a:t>的结</a:t>
            </a:r>
            <a:r>
              <a:rPr sz="2000" spc="-15" dirty="0">
                <a:latin typeface="宋体"/>
                <a:cs typeface="宋体"/>
              </a:rPr>
              <a:t>构</a:t>
            </a:r>
            <a:r>
              <a:rPr sz="2000" dirty="0">
                <a:latin typeface="宋体"/>
                <a:cs typeface="宋体"/>
              </a:rPr>
              <a:t>和风格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文档的可修改性要求：</a:t>
            </a:r>
            <a:endParaRPr sz="2400">
              <a:latin typeface="宋体"/>
              <a:cs typeface="宋体"/>
            </a:endParaRPr>
          </a:p>
          <a:p>
            <a:pPr marL="1155700" lvl="2" indent="-229235">
              <a:lnSpc>
                <a:spcPts val="2320"/>
              </a:lnSpc>
              <a:spcBef>
                <a:spcPts val="65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宋体"/>
                <a:cs typeface="宋体"/>
              </a:rPr>
              <a:t>有着条理分明并且易于</a:t>
            </a:r>
            <a:r>
              <a:rPr sz="2000" spc="-15" dirty="0">
                <a:latin typeface="宋体"/>
                <a:cs typeface="宋体"/>
              </a:rPr>
              <a:t>使</a:t>
            </a:r>
            <a:r>
              <a:rPr sz="2000" dirty="0">
                <a:latin typeface="宋体"/>
                <a:cs typeface="宋体"/>
              </a:rPr>
              <a:t>用的</a:t>
            </a:r>
            <a:r>
              <a:rPr sz="2000" spc="-15" dirty="0">
                <a:latin typeface="宋体"/>
                <a:cs typeface="宋体"/>
              </a:rPr>
              <a:t>组</a:t>
            </a:r>
            <a:r>
              <a:rPr sz="2000" dirty="0">
                <a:latin typeface="宋体"/>
                <a:cs typeface="宋体"/>
              </a:rPr>
              <a:t>织方</a:t>
            </a:r>
            <a:r>
              <a:rPr sz="2000" spc="-15" dirty="0">
                <a:latin typeface="宋体"/>
                <a:cs typeface="宋体"/>
              </a:rPr>
              <a:t>式</a:t>
            </a:r>
            <a:r>
              <a:rPr sz="2000" dirty="0">
                <a:latin typeface="宋体"/>
                <a:cs typeface="宋体"/>
              </a:rPr>
              <a:t>，包</a:t>
            </a:r>
            <a:r>
              <a:rPr sz="2000" spc="-15" dirty="0">
                <a:latin typeface="宋体"/>
                <a:cs typeface="宋体"/>
              </a:rPr>
              <a:t>括</a:t>
            </a:r>
            <a:r>
              <a:rPr sz="2000" dirty="0">
                <a:latin typeface="宋体"/>
                <a:cs typeface="宋体"/>
              </a:rPr>
              <a:t>目录</a:t>
            </a:r>
            <a:r>
              <a:rPr sz="2000" spc="-15" dirty="0">
                <a:latin typeface="宋体"/>
                <a:cs typeface="宋体"/>
              </a:rPr>
              <a:t>、</a:t>
            </a:r>
            <a:r>
              <a:rPr sz="2000" dirty="0">
                <a:latin typeface="宋体"/>
                <a:cs typeface="宋体"/>
              </a:rPr>
              <a:t>索引</a:t>
            </a:r>
            <a:r>
              <a:rPr sz="2000" spc="-15" dirty="0">
                <a:latin typeface="宋体"/>
                <a:cs typeface="宋体"/>
              </a:rPr>
              <a:t>和</a:t>
            </a:r>
            <a:r>
              <a:rPr sz="2000" dirty="0">
                <a:latin typeface="宋体"/>
                <a:cs typeface="宋体"/>
              </a:rPr>
              <a:t>显</a:t>
            </a:r>
            <a:endParaRPr sz="2000">
              <a:latin typeface="宋体"/>
              <a:cs typeface="宋体"/>
            </a:endParaRPr>
          </a:p>
          <a:p>
            <a:pPr marL="1155700">
              <a:lnSpc>
                <a:spcPts val="2320"/>
              </a:lnSpc>
            </a:pPr>
            <a:r>
              <a:rPr sz="2000" dirty="0">
                <a:latin typeface="宋体"/>
                <a:cs typeface="宋体"/>
              </a:rPr>
              <a:t>式的交叉引用。</a:t>
            </a:r>
            <a:endParaRPr sz="20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宋体"/>
                <a:cs typeface="宋体"/>
              </a:rPr>
              <a:t>没有重复冗余。</a:t>
            </a:r>
            <a:endParaRPr sz="20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宋体"/>
                <a:cs typeface="宋体"/>
              </a:rPr>
              <a:t>独立表达每个需求，而</a:t>
            </a:r>
            <a:r>
              <a:rPr sz="2000" spc="-15" dirty="0">
                <a:latin typeface="宋体"/>
                <a:cs typeface="宋体"/>
              </a:rPr>
              <a:t>不</a:t>
            </a:r>
            <a:r>
              <a:rPr sz="2000" dirty="0">
                <a:latin typeface="宋体"/>
                <a:cs typeface="宋体"/>
              </a:rPr>
              <a:t>是和</a:t>
            </a:r>
            <a:r>
              <a:rPr sz="2000" spc="-15" dirty="0">
                <a:latin typeface="宋体"/>
                <a:cs typeface="宋体"/>
              </a:rPr>
              <a:t>其</a:t>
            </a:r>
            <a:r>
              <a:rPr sz="2000" dirty="0">
                <a:latin typeface="宋体"/>
                <a:cs typeface="宋体"/>
              </a:rPr>
              <a:t>他需</a:t>
            </a:r>
            <a:r>
              <a:rPr sz="2000" spc="-15" dirty="0">
                <a:latin typeface="宋体"/>
                <a:cs typeface="宋体"/>
              </a:rPr>
              <a:t>求</a:t>
            </a:r>
            <a:r>
              <a:rPr sz="2000" dirty="0">
                <a:latin typeface="宋体"/>
                <a:cs typeface="宋体"/>
              </a:rPr>
              <a:t>混在</a:t>
            </a:r>
            <a:r>
              <a:rPr sz="2000" spc="-15" dirty="0">
                <a:latin typeface="宋体"/>
                <a:cs typeface="宋体"/>
              </a:rPr>
              <a:t>一</a:t>
            </a:r>
            <a:r>
              <a:rPr sz="2000" dirty="0">
                <a:latin typeface="宋体"/>
                <a:cs typeface="宋体"/>
              </a:rPr>
              <a:t>起。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630" y="305181"/>
            <a:ext cx="7846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5.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/>
              <a:t>优秀需求规格说明文档的特性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52354"/>
            <a:ext cx="8179434" cy="3253104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b="1" spc="-5" dirty="0">
                <a:latin typeface="宋体"/>
                <a:cs typeface="宋体"/>
              </a:rPr>
              <a:t>可跟踪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后向跟踪（</a:t>
            </a:r>
            <a:r>
              <a:rPr sz="2800" spc="-5" dirty="0">
                <a:latin typeface="Calibri"/>
                <a:cs typeface="Calibri"/>
              </a:rPr>
              <a:t>Backward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traceability</a:t>
            </a:r>
            <a:r>
              <a:rPr sz="2800" spc="-5" dirty="0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能找到需求的来源，例如和更早期文档的显式关联。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5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前向跟踪</a:t>
            </a: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Calibri"/>
                <a:cs typeface="Calibri"/>
              </a:rPr>
              <a:t>Forward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traceability</a:t>
            </a:r>
            <a:r>
              <a:rPr sz="2800" spc="-5" dirty="0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155700" marR="309880" lvl="2" indent="-228600" algn="just">
              <a:lnSpc>
                <a:spcPct val="96900"/>
              </a:lnSpc>
              <a:spcBef>
                <a:spcPts val="86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能找到需求所对应的设计单元、实现源代码和测试 用例等，它要求每个需求都要有唯一的标识或者可 供引用的名称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946</Words>
  <Application>Microsoft Office PowerPoint</Application>
  <PresentationFormat>全屏显示(4:3)</PresentationFormat>
  <Paragraphs>420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宋体</vt:lpstr>
      <vt:lpstr>微软雅黑</vt:lpstr>
      <vt:lpstr>Arial</vt:lpstr>
      <vt:lpstr>Calibri</vt:lpstr>
      <vt:lpstr>Times New Roman</vt:lpstr>
      <vt:lpstr>Wingdings</vt:lpstr>
      <vt:lpstr>Office Theme</vt:lpstr>
      <vt:lpstr>主要内容</vt:lpstr>
      <vt:lpstr>1. 需求规格说明概述 ——获取 VS 分析 VS 规格说明</vt:lpstr>
      <vt:lpstr>1. 需求规格说明概述 ——需求规格说明活动</vt:lpstr>
      <vt:lpstr>主要内容</vt:lpstr>
      <vt:lpstr>2. 需求规格说明文档 ——作用</vt:lpstr>
      <vt:lpstr>2. 需求规格说明文档 ——忽视的原因</vt:lpstr>
      <vt:lpstr>2. 需求规格说明文档：定位</vt:lpstr>
      <vt:lpstr>2. 需求规格说明文档 ——类型</vt:lpstr>
      <vt:lpstr>2. 需求规格说明文档 ——内容</vt:lpstr>
      <vt:lpstr>2. 需求规格说明文档 ——作者</vt:lpstr>
      <vt:lpstr>2. 需求规格说明文档 ——读者</vt:lpstr>
      <vt:lpstr>2. 需求规格说明文档 —— 手段</vt:lpstr>
      <vt:lpstr>主要内容</vt:lpstr>
      <vt:lpstr>3. 模版的选择与裁剪 ——动机</vt:lpstr>
      <vt:lpstr>3. 模版的选择与裁剪</vt:lpstr>
      <vt:lpstr>3. 模版的选择与裁剪</vt:lpstr>
      <vt:lpstr>主要内容</vt:lpstr>
      <vt:lpstr>4. 文档写作技巧 ——原则</vt:lpstr>
      <vt:lpstr>4. 文档写作技巧 ——思考</vt:lpstr>
      <vt:lpstr>4. 文档写作技巧 ——结构组织</vt:lpstr>
      <vt:lpstr>4. 文档写作技巧 ——表达方式</vt:lpstr>
      <vt:lpstr>4. 文档写作技巧 ——细节描述</vt:lpstr>
      <vt:lpstr>PowerPoint 演示文稿</vt:lpstr>
      <vt:lpstr>主要内容</vt:lpstr>
      <vt:lpstr>5. 优秀需求规格说明文档的特性</vt:lpstr>
      <vt:lpstr>案例1. 校园支线任务平台</vt:lpstr>
      <vt:lpstr>5. 优秀需求规格说明文档的特性</vt:lpstr>
      <vt:lpstr>5. 优秀需求规格说明文档的特性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BigDataBench</dc:title>
  <dc:creator>wanling gao</dc:creator>
  <cp:lastModifiedBy>- Vel</cp:lastModifiedBy>
  <cp:revision>1</cp:revision>
  <dcterms:created xsi:type="dcterms:W3CDTF">2024-04-25T08:27:08Z</dcterms:created>
  <dcterms:modified xsi:type="dcterms:W3CDTF">2024-04-25T08:31:36Z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2024-04-25T00:00:00Z</vt:filetime>
  </property>
</Properties>
</file>
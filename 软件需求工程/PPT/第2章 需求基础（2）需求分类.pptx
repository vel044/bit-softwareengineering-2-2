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549E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00" y="473963"/>
            <a:ext cx="67310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4509" y="1512993"/>
            <a:ext cx="8094980" cy="3776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yuxiazh@bit.edu.cn" TargetMode="External"/><Relationship Id="rId3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08918" y="2790444"/>
            <a:ext cx="61264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软件需求工程与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UM</a:t>
            </a:r>
            <a:r>
              <a:rPr dirty="0" spc="-5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dirty="0">
                <a:solidFill>
                  <a:srgbClr val="000000"/>
                </a:solidFill>
              </a:rPr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58978" y="3944620"/>
            <a:ext cx="4114800" cy="1720214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algn="ctr" marL="184150">
              <a:lnSpc>
                <a:spcPct val="100000"/>
              </a:lnSpc>
              <a:spcBef>
                <a:spcPts val="1465"/>
              </a:spcBef>
            </a:pPr>
            <a:r>
              <a:rPr dirty="0" sz="2800">
                <a:latin typeface="宋体"/>
                <a:cs typeface="宋体"/>
              </a:rPr>
              <a:t>张宇霞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dirty="0" sz="2800">
                <a:latin typeface="宋体"/>
                <a:cs typeface="宋体"/>
              </a:rPr>
              <a:t>北京理工大学</a:t>
            </a:r>
            <a:r>
              <a:rPr dirty="0" sz="2800" spc="-100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计算机学院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2800" spc="-5">
                <a:latin typeface="Times New Roman"/>
                <a:cs typeface="Times New Roman"/>
              </a:rPr>
              <a:t>Email: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  <a:hlinkClick r:id="rId2"/>
              </a:rPr>
              <a:t>yuxiazh@bit.edu.cn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2000" y="505477"/>
            <a:ext cx="1439999" cy="14445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5651500" cy="391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ts val="3829"/>
              </a:lnSpc>
              <a:spcBef>
                <a:spcPts val="10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需求的定义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理解需求内涵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宋体"/>
                <a:cs typeface="宋体"/>
              </a:rPr>
              <a:t>需求分类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spcBef>
                <a:spcPts val="4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需求工程的路线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优秀需求特性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spcBef>
                <a:spcPts val="5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常见需求错误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练习题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软件需求与软件开发过程模型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370332"/>
            <a:ext cx="35687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  <a:r>
              <a:rPr dirty="0" spc="-1290"/>
              <a:t> </a:t>
            </a:r>
            <a:r>
              <a:rPr dirty="0" spc="-5">
                <a:latin typeface="Calibri"/>
                <a:cs typeface="Calibri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1907"/>
            <a:ext cx="8083550" cy="523176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功能需求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Functional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Requirement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algn="just" lvl="1" marL="755650" marR="309880" indent="-285750">
              <a:lnSpc>
                <a:spcPct val="98300"/>
              </a:lnSpc>
              <a:spcBef>
                <a:spcPts val="7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和系统主要工作相关的需求，即在不考虑物理约束的 情况下，用户希望系统所能够执行的活动，这些活动 可以帮助用户完成任务。功能需求主要表现为系统和 环境之间的行为交互。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性能需求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Performance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Requirement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ts val="2785"/>
              </a:lnSpc>
              <a:spcBef>
                <a:spcPts val="8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系统整体或系统组成部分应该拥有的性能特征，例如</a:t>
            </a:r>
            <a:endParaRPr sz="2400">
              <a:latin typeface="宋体"/>
              <a:cs typeface="宋体"/>
            </a:endParaRPr>
          </a:p>
          <a:p>
            <a:pPr marL="755650">
              <a:lnSpc>
                <a:spcPts val="2785"/>
              </a:lnSpc>
            </a:pPr>
            <a:r>
              <a:rPr dirty="0" sz="2400" spc="-5">
                <a:latin typeface="Calibri"/>
                <a:cs typeface="Calibri"/>
              </a:rPr>
              <a:t>CPU</a:t>
            </a:r>
            <a:r>
              <a:rPr dirty="0" sz="2400">
                <a:latin typeface="宋体"/>
                <a:cs typeface="宋体"/>
              </a:rPr>
              <a:t>使用率、内存使用率等。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质量属性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Quality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Attribute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755650" marR="5080" indent="-285750">
              <a:lnSpc>
                <a:spcPts val="2690"/>
              </a:lnSpc>
              <a:spcBef>
                <a:spcPts val="96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系统完成工作的质量，即系统需要在一个“好的程度” 上实现功能需求，例如可靠性程度、可维护性程度等。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403859"/>
            <a:ext cx="35687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  <a:r>
              <a:rPr dirty="0" spc="-1290"/>
              <a:t> </a:t>
            </a:r>
            <a:r>
              <a:rPr dirty="0" spc="-5">
                <a:latin typeface="Calibri"/>
                <a:cs typeface="Calibri"/>
              </a:rPr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2116"/>
            <a:ext cx="7861300" cy="396557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对外接口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External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Interface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755650" marR="88265" indent="-285750">
              <a:lnSpc>
                <a:spcPts val="2710"/>
              </a:lnSpc>
              <a:spcBef>
                <a:spcPts val="95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系统和环境中其他系统之间需要建立的接口，包括硬 件接口、软件接口、数据库接口等等。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约束</a:t>
            </a:r>
            <a:endParaRPr sz="2400">
              <a:latin typeface="宋体"/>
              <a:cs typeface="宋体"/>
            </a:endParaRPr>
          </a:p>
          <a:p>
            <a:pPr lvl="1" marL="755650" marR="88265" indent="-285750">
              <a:lnSpc>
                <a:spcPts val="2710"/>
              </a:lnSpc>
              <a:spcBef>
                <a:spcPts val="95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进行系统构造时需要遵守的约束，例如编程语言、硬 件设施等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"/>
            </a:pPr>
            <a:endParaRPr sz="2750">
              <a:latin typeface="宋体"/>
              <a:cs typeface="宋体"/>
            </a:endParaRPr>
          </a:p>
          <a:p>
            <a:pPr marL="355600" marR="5080" indent="-342900">
              <a:lnSpc>
                <a:spcPct val="100000"/>
              </a:lnSpc>
              <a:buClr>
                <a:srgbClr val="00653C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000">
                <a:latin typeface="楷体"/>
                <a:cs typeface="楷体"/>
              </a:rPr>
              <a:t>除功能需求外的其他4种类别需求又被成为</a:t>
            </a:r>
            <a:r>
              <a:rPr dirty="0" sz="2000">
                <a:solidFill>
                  <a:srgbClr val="C00000"/>
                </a:solidFill>
                <a:latin typeface="楷体"/>
                <a:cs typeface="楷体"/>
              </a:rPr>
              <a:t>非功能需求</a:t>
            </a:r>
            <a:r>
              <a:rPr dirty="0" sz="2000">
                <a:latin typeface="楷体"/>
                <a:cs typeface="楷体"/>
              </a:rPr>
              <a:t>，其中质量属 性对系统成败影响极大。有时非功能需求又被用来特指质量属性。</a:t>
            </a:r>
            <a:endParaRPr sz="20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北京交管局实例：需求分类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9588"/>
            <a:ext cx="8253730" cy="443293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功能需求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Functional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Requirement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algn="just" lvl="1" marL="755650" marR="479425" indent="-285750">
              <a:lnSpc>
                <a:spcPct val="97100"/>
              </a:lnSpc>
              <a:spcBef>
                <a:spcPts val="8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北京交管局实例中，该系统的功能需求就有基础岗位 设置，岗位审批，警情级别发布，警情分配，岗位分 配情况和系统管理等功能。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性能需求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Performance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Requirement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755650" marR="479425" indent="-285750">
              <a:lnSpc>
                <a:spcPts val="2690"/>
              </a:lnSpc>
              <a:spcBef>
                <a:spcPts val="10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北京交管局实例中，性能需求如要保证系统稳定性以 及响应时间不超过</a:t>
            </a:r>
            <a:r>
              <a:rPr dirty="0" sz="2400" spc="-5">
                <a:latin typeface="Calibri"/>
                <a:cs typeface="Calibri"/>
              </a:rPr>
              <a:t>1s</a:t>
            </a:r>
            <a:r>
              <a:rPr dirty="0" sz="2400">
                <a:latin typeface="宋体"/>
                <a:cs typeface="宋体"/>
              </a:rPr>
              <a:t>等。</a:t>
            </a:r>
            <a:endParaRPr sz="2400">
              <a:latin typeface="宋体"/>
              <a:cs typeface="宋体"/>
            </a:endParaRPr>
          </a:p>
          <a:p>
            <a:pPr lvl="1" marL="755650" marR="5080" indent="-285750">
              <a:lnSpc>
                <a:spcPct val="1008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要满足约有</a:t>
            </a:r>
            <a:r>
              <a:rPr dirty="0" sz="2400" spc="-5">
                <a:latin typeface="Calibri"/>
                <a:cs typeface="Calibri"/>
              </a:rPr>
              <a:t>6000</a:t>
            </a:r>
            <a:r>
              <a:rPr dirty="0" sz="2400">
                <a:latin typeface="宋体"/>
                <a:cs typeface="宋体"/>
              </a:rPr>
              <a:t>名使用</a:t>
            </a:r>
            <a:r>
              <a:rPr dirty="0" sz="2400" spc="-5">
                <a:latin typeface="Calibri"/>
                <a:cs typeface="Calibri"/>
              </a:rPr>
              <a:t>APP</a:t>
            </a:r>
            <a:r>
              <a:rPr dirty="0" sz="2400">
                <a:latin typeface="宋体"/>
                <a:cs typeface="宋体"/>
              </a:rPr>
              <a:t>的执勤警力，在线用户约为 </a:t>
            </a:r>
            <a:r>
              <a:rPr dirty="0" sz="2400" spc="-5">
                <a:latin typeface="Calibri"/>
                <a:cs typeface="Calibri"/>
              </a:rPr>
              <a:t>4000</a:t>
            </a:r>
            <a:r>
              <a:rPr dirty="0" sz="2400">
                <a:latin typeface="宋体"/>
                <a:cs typeface="宋体"/>
              </a:rPr>
              <a:t>人，系统处理能力每分钟</a:t>
            </a:r>
            <a:r>
              <a:rPr dirty="0" sz="2400" spc="-5">
                <a:latin typeface="Calibri"/>
                <a:cs typeface="Calibri"/>
              </a:rPr>
              <a:t>4000</a:t>
            </a:r>
            <a:r>
              <a:rPr dirty="0" sz="2400">
                <a:latin typeface="宋体"/>
                <a:cs typeface="宋体"/>
              </a:rPr>
              <a:t>条，一天约</a:t>
            </a:r>
            <a:r>
              <a:rPr dirty="0" sz="2400" spc="-5">
                <a:latin typeface="Calibri"/>
                <a:cs typeface="Calibri"/>
              </a:rPr>
              <a:t>192</a:t>
            </a:r>
            <a:r>
              <a:rPr dirty="0" sz="2400">
                <a:latin typeface="宋体"/>
                <a:cs typeface="宋体"/>
              </a:rPr>
              <a:t>万条， 一年</a:t>
            </a:r>
            <a:r>
              <a:rPr dirty="0" sz="2400" spc="-5">
                <a:latin typeface="Calibri"/>
                <a:cs typeface="Calibri"/>
              </a:rPr>
              <a:t>7</a:t>
            </a:r>
            <a:r>
              <a:rPr dirty="0" sz="2400">
                <a:latin typeface="宋体"/>
                <a:cs typeface="宋体"/>
              </a:rPr>
              <a:t>亿条。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北京交管局实例：需求分类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9588"/>
            <a:ext cx="7964805" cy="377190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对外接口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External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Interface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755650" marR="5080" indent="-285750">
              <a:lnSpc>
                <a:spcPct val="97100"/>
              </a:lnSpc>
              <a:spcBef>
                <a:spcPts val="8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在本章实例中，系统除了自身功能外还要实现为手机 端的</a:t>
            </a:r>
            <a:r>
              <a:rPr dirty="0" sz="2400" spc="-5">
                <a:latin typeface="Calibri"/>
                <a:cs typeface="Calibri"/>
              </a:rPr>
              <a:t>APP</a:t>
            </a:r>
            <a:r>
              <a:rPr dirty="0" sz="2400">
                <a:latin typeface="宋体"/>
                <a:cs typeface="宋体"/>
              </a:rPr>
              <a:t>提供业务接口以及与多个业务系统进行接口对 接。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约束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系统安全性和保密性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连接专网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特定平台运行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428244"/>
            <a:ext cx="35687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  <a:r>
              <a:rPr dirty="0" spc="-1290"/>
              <a:t> </a:t>
            </a:r>
            <a:r>
              <a:rPr dirty="0" spc="-5">
                <a:latin typeface="Calibri"/>
                <a:cs typeface="Calibri"/>
              </a:rPr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9050" y="1093724"/>
            <a:ext cx="9182100" cy="52349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910590" indent="-342900">
              <a:lnSpc>
                <a:spcPct val="100000"/>
              </a:lnSpc>
              <a:spcBef>
                <a:spcPts val="820"/>
              </a:spcBef>
              <a:buClr>
                <a:srgbClr val="00653C"/>
              </a:buClr>
              <a:buSzPct val="80851"/>
              <a:buFont typeface="Wingdings"/>
              <a:buChar char=""/>
              <a:tabLst>
                <a:tab pos="909955" algn="l"/>
                <a:tab pos="910590" algn="l"/>
              </a:tabLst>
            </a:pPr>
            <a:r>
              <a:rPr dirty="0" baseline="1182" sz="3525" spc="127" b="1">
                <a:solidFill>
                  <a:srgbClr val="C00000"/>
                </a:solidFill>
                <a:latin typeface="宋体"/>
                <a:cs typeface="宋体"/>
              </a:rPr>
              <a:t>功能需求</a:t>
            </a:r>
            <a:r>
              <a:rPr dirty="0" baseline="1182" sz="3525" spc="7" b="1">
                <a:solidFill>
                  <a:srgbClr val="C00000"/>
                </a:solidFill>
                <a:latin typeface="宋体"/>
                <a:cs typeface="宋体"/>
              </a:rPr>
              <a:t>（</a:t>
            </a:r>
            <a:r>
              <a:rPr dirty="0" sz="2400" spc="5" b="1">
                <a:solidFill>
                  <a:srgbClr val="C00000"/>
                </a:solidFill>
                <a:latin typeface="Calibri"/>
                <a:cs typeface="Calibri"/>
              </a:rPr>
              <a:t>Functional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5" b="1">
                <a:solidFill>
                  <a:srgbClr val="C00000"/>
                </a:solidFill>
                <a:latin typeface="Calibri"/>
                <a:cs typeface="Calibri"/>
              </a:rPr>
              <a:t>Requirement</a:t>
            </a:r>
            <a:r>
              <a:rPr dirty="0" baseline="1182" sz="3525" spc="7" b="1">
                <a:solidFill>
                  <a:srgbClr val="C00000"/>
                </a:solidFill>
                <a:latin typeface="宋体"/>
                <a:cs typeface="宋体"/>
              </a:rPr>
              <a:t>）</a:t>
            </a:r>
            <a:r>
              <a:rPr dirty="0" sz="2400" spc="5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algn="just" lvl="1" marL="1310640" marR="854075" indent="-285750">
              <a:lnSpc>
                <a:spcPct val="98600"/>
              </a:lnSpc>
              <a:spcBef>
                <a:spcPts val="76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310640" algn="l"/>
              </a:tabLst>
            </a:pPr>
            <a:r>
              <a:rPr dirty="0" sz="2400">
                <a:latin typeface="宋体"/>
                <a:cs typeface="宋体"/>
              </a:rPr>
              <a:t>和系统主要工作相关的需求，即在不考虑物理约束的 情况下，用户希望系统所能够执行的活动，这些活动 可以帮助用户完成任务。功能需求主要表现为系统和 环境之间的行为交互。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91059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909955" algn="l"/>
                <a:tab pos="910590" algn="l"/>
              </a:tabLst>
            </a:pPr>
            <a:r>
              <a:rPr dirty="0" sz="2400">
                <a:latin typeface="宋体"/>
                <a:cs typeface="宋体"/>
              </a:rPr>
              <a:t>性能需求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Performance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Requirement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1310640" indent="-285750">
              <a:lnSpc>
                <a:spcPts val="2795"/>
              </a:lnSpc>
              <a:spcBef>
                <a:spcPts val="8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310005" algn="l"/>
                <a:tab pos="1310640" algn="l"/>
              </a:tabLst>
            </a:pPr>
            <a:r>
              <a:rPr dirty="0" sz="2400">
                <a:latin typeface="宋体"/>
                <a:cs typeface="宋体"/>
              </a:rPr>
              <a:t>系统整体或系统组成部分应该拥有的性能特征，例如</a:t>
            </a:r>
            <a:endParaRPr sz="2400">
              <a:latin typeface="宋体"/>
              <a:cs typeface="宋体"/>
            </a:endParaRPr>
          </a:p>
          <a:p>
            <a:pPr marL="1310640">
              <a:lnSpc>
                <a:spcPts val="2795"/>
              </a:lnSpc>
            </a:pPr>
            <a:r>
              <a:rPr dirty="0" sz="2400" spc="-5">
                <a:latin typeface="Calibri"/>
                <a:cs typeface="Calibri"/>
              </a:rPr>
              <a:t>CPU</a:t>
            </a:r>
            <a:r>
              <a:rPr dirty="0" sz="2400">
                <a:latin typeface="宋体"/>
                <a:cs typeface="宋体"/>
              </a:rPr>
              <a:t>使用率、内存使用率等。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宋体"/>
              <a:cs typeface="宋体"/>
            </a:endParaRPr>
          </a:p>
          <a:p>
            <a:pPr marL="910590" indent="-342900">
              <a:lnSpc>
                <a:spcPct val="100000"/>
              </a:lnSpc>
              <a:buClr>
                <a:srgbClr val="00653C"/>
              </a:buClr>
              <a:buSzPct val="79166"/>
              <a:buFont typeface="Wingdings"/>
              <a:buChar char=""/>
              <a:tabLst>
                <a:tab pos="909955" algn="l"/>
                <a:tab pos="910590" algn="l"/>
              </a:tabLst>
            </a:pPr>
            <a:r>
              <a:rPr dirty="0" sz="2400">
                <a:latin typeface="宋体"/>
                <a:cs typeface="宋体"/>
              </a:rPr>
              <a:t>质量属性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Quality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Attribute</a:t>
            </a:r>
            <a:r>
              <a:rPr dirty="0" sz="2400" spc="-5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lvl="1" marL="1310640" indent="-285750">
              <a:lnSpc>
                <a:spcPts val="2795"/>
              </a:lnSpc>
              <a:spcBef>
                <a:spcPts val="7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310005" algn="l"/>
                <a:tab pos="1310640" algn="l"/>
              </a:tabLst>
            </a:pPr>
            <a:r>
              <a:rPr dirty="0" sz="2400">
                <a:latin typeface="宋体"/>
                <a:cs typeface="宋体"/>
              </a:rPr>
              <a:t>系统完成工作的质量，即系统需要在一个“好的程度”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795"/>
              </a:lnSpc>
              <a:tabLst>
                <a:tab pos="1310005" algn="l"/>
                <a:tab pos="9168765" algn="l"/>
              </a:tabLst>
            </a:pPr>
            <a:r>
              <a:rPr dirty="0" u="heavy" sz="2400">
                <a:uFill>
                  <a:solidFill>
                    <a:srgbClr val="549E39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2400">
                <a:uFill>
                  <a:solidFill>
                    <a:srgbClr val="549E39"/>
                  </a:solidFill>
                </a:uFill>
                <a:latin typeface="宋体"/>
                <a:cs typeface="宋体"/>
              </a:rPr>
              <a:t>上实现功能需求，例如可靠性程度、可维护性程度等。	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4100" y="473963"/>
            <a:ext cx="44958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功能需求的层次性</a:t>
            </a:r>
          </a:p>
        </p:txBody>
      </p:sp>
      <p:sp>
        <p:nvSpPr>
          <p:cNvPr id="3" name="object 3"/>
          <p:cNvSpPr/>
          <p:nvPr/>
        </p:nvSpPr>
        <p:spPr>
          <a:xfrm>
            <a:off x="337538" y="2270302"/>
            <a:ext cx="3542029" cy="2914650"/>
          </a:xfrm>
          <a:custGeom>
            <a:avLst/>
            <a:gdLst/>
            <a:ahLst/>
            <a:cxnLst/>
            <a:rect l="l" t="t" r="r" b="b"/>
            <a:pathLst>
              <a:path w="3542029" h="2914650">
                <a:moveTo>
                  <a:pt x="1770742" y="0"/>
                </a:moveTo>
                <a:lnTo>
                  <a:pt x="0" y="2914257"/>
                </a:lnTo>
                <a:lnTo>
                  <a:pt x="3541469" y="2914257"/>
                </a:lnTo>
                <a:lnTo>
                  <a:pt x="177074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7538" y="2270301"/>
            <a:ext cx="3542029" cy="2914650"/>
          </a:xfrm>
          <a:custGeom>
            <a:avLst/>
            <a:gdLst/>
            <a:ahLst/>
            <a:cxnLst/>
            <a:rect l="l" t="t" r="r" b="b"/>
            <a:pathLst>
              <a:path w="3542029" h="2914650">
                <a:moveTo>
                  <a:pt x="3541469" y="2914258"/>
                </a:moveTo>
                <a:lnTo>
                  <a:pt x="1770742" y="0"/>
                </a:lnTo>
                <a:lnTo>
                  <a:pt x="0" y="2914258"/>
                </a:lnTo>
                <a:lnTo>
                  <a:pt x="3541469" y="2914258"/>
                </a:lnTo>
                <a:close/>
              </a:path>
            </a:pathLst>
          </a:custGeom>
          <a:ln w="64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07652" y="3231278"/>
            <a:ext cx="1167130" cy="2540"/>
          </a:xfrm>
          <a:custGeom>
            <a:avLst/>
            <a:gdLst/>
            <a:ahLst/>
            <a:cxnLst/>
            <a:rect l="l" t="t" r="r" b="b"/>
            <a:pathLst>
              <a:path w="1167130" h="2539">
                <a:moveTo>
                  <a:pt x="0" y="0"/>
                </a:moveTo>
                <a:lnTo>
                  <a:pt x="1166932" y="1916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30529" y="4172169"/>
            <a:ext cx="2366645" cy="17780"/>
          </a:xfrm>
          <a:custGeom>
            <a:avLst/>
            <a:gdLst/>
            <a:ahLst/>
            <a:cxnLst/>
            <a:rect l="l" t="t" r="r" b="b"/>
            <a:pathLst>
              <a:path w="2366645" h="17779">
                <a:moveTo>
                  <a:pt x="0" y="0"/>
                </a:moveTo>
                <a:lnTo>
                  <a:pt x="2366108" y="17574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34285" y="3712445"/>
            <a:ext cx="4584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MS Gothic"/>
                <a:cs typeface="MS Gothic"/>
              </a:rPr>
              <a:t>任</a:t>
            </a:r>
            <a:r>
              <a:rPr dirty="0" sz="1700">
                <a:latin typeface="宋体"/>
                <a:cs typeface="宋体"/>
              </a:rPr>
              <a:t>务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3631" y="4619672"/>
            <a:ext cx="8915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MS Gothic"/>
                <a:cs typeface="MS Gothic"/>
              </a:rPr>
              <a:t>系</a:t>
            </a:r>
            <a:r>
              <a:rPr dirty="0" sz="1700">
                <a:latin typeface="宋体"/>
                <a:cs typeface="宋体"/>
              </a:rPr>
              <a:t>统</a:t>
            </a:r>
            <a:r>
              <a:rPr dirty="0" sz="1700">
                <a:latin typeface="MS Gothic"/>
                <a:cs typeface="MS Gothic"/>
              </a:rPr>
              <a:t>行</a:t>
            </a:r>
            <a:r>
              <a:rPr dirty="0" sz="1700">
                <a:latin typeface="宋体"/>
                <a:cs typeface="宋体"/>
              </a:rPr>
              <a:t>为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8281" y="2270301"/>
            <a:ext cx="626745" cy="6985"/>
          </a:xfrm>
          <a:custGeom>
            <a:avLst/>
            <a:gdLst/>
            <a:ahLst/>
            <a:cxnLst/>
            <a:rect l="l" t="t" r="r" b="b"/>
            <a:pathLst>
              <a:path w="626744" h="6985">
                <a:moveTo>
                  <a:pt x="0" y="0"/>
                </a:moveTo>
                <a:lnTo>
                  <a:pt x="626163" y="6479"/>
                </a:lnTo>
              </a:path>
            </a:pathLst>
          </a:custGeom>
          <a:ln w="647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83186" y="3233195"/>
            <a:ext cx="626745" cy="0"/>
          </a:xfrm>
          <a:custGeom>
            <a:avLst/>
            <a:gdLst/>
            <a:ahLst/>
            <a:cxnLst/>
            <a:rect l="l" t="t" r="r" b="b"/>
            <a:pathLst>
              <a:path w="626745" h="0">
                <a:moveTo>
                  <a:pt x="626434" y="0"/>
                </a:moveTo>
                <a:lnTo>
                  <a:pt x="0" y="0"/>
                </a:lnTo>
              </a:path>
            </a:pathLst>
          </a:custGeom>
          <a:ln w="647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77973" y="4195251"/>
            <a:ext cx="626110" cy="13970"/>
          </a:xfrm>
          <a:custGeom>
            <a:avLst/>
            <a:gdLst/>
            <a:ahLst/>
            <a:cxnLst/>
            <a:rect l="l" t="t" r="r" b="b"/>
            <a:pathLst>
              <a:path w="626110" h="13970">
                <a:moveTo>
                  <a:pt x="625649" y="13632"/>
                </a:moveTo>
                <a:lnTo>
                  <a:pt x="625649" y="0"/>
                </a:lnTo>
                <a:lnTo>
                  <a:pt x="0" y="0"/>
                </a:lnTo>
              </a:path>
            </a:pathLst>
          </a:custGeom>
          <a:ln w="647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87333" y="2281889"/>
            <a:ext cx="323215" cy="946150"/>
          </a:xfrm>
          <a:custGeom>
            <a:avLst/>
            <a:gdLst/>
            <a:ahLst/>
            <a:cxnLst/>
            <a:rect l="l" t="t" r="r" b="b"/>
            <a:pathLst>
              <a:path w="323214" h="946150">
                <a:moveTo>
                  <a:pt x="0" y="0"/>
                </a:moveTo>
                <a:lnTo>
                  <a:pt x="62906" y="6194"/>
                </a:lnTo>
                <a:lnTo>
                  <a:pt x="114275" y="23087"/>
                </a:lnTo>
                <a:lnTo>
                  <a:pt x="148907" y="48139"/>
                </a:lnTo>
                <a:lnTo>
                  <a:pt x="161606" y="78812"/>
                </a:lnTo>
                <a:lnTo>
                  <a:pt x="161606" y="394062"/>
                </a:lnTo>
                <a:lnTo>
                  <a:pt x="174306" y="424741"/>
                </a:lnTo>
                <a:lnTo>
                  <a:pt x="208938" y="449792"/>
                </a:lnTo>
                <a:lnTo>
                  <a:pt x="260306" y="466681"/>
                </a:lnTo>
                <a:lnTo>
                  <a:pt x="323213" y="472874"/>
                </a:lnTo>
                <a:lnTo>
                  <a:pt x="260306" y="479069"/>
                </a:lnTo>
                <a:lnTo>
                  <a:pt x="208938" y="495961"/>
                </a:lnTo>
                <a:lnTo>
                  <a:pt x="174306" y="521013"/>
                </a:lnTo>
                <a:lnTo>
                  <a:pt x="161606" y="551687"/>
                </a:lnTo>
                <a:lnTo>
                  <a:pt x="161606" y="866939"/>
                </a:lnTo>
                <a:lnTo>
                  <a:pt x="148907" y="897615"/>
                </a:lnTo>
                <a:lnTo>
                  <a:pt x="114275" y="922666"/>
                </a:lnTo>
                <a:lnTo>
                  <a:pt x="62906" y="939558"/>
                </a:lnTo>
                <a:lnTo>
                  <a:pt x="0" y="945752"/>
                </a:lnTo>
              </a:path>
            </a:pathLst>
          </a:custGeom>
          <a:ln w="191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43574" y="3238438"/>
            <a:ext cx="323215" cy="946150"/>
          </a:xfrm>
          <a:custGeom>
            <a:avLst/>
            <a:gdLst/>
            <a:ahLst/>
            <a:cxnLst/>
            <a:rect l="l" t="t" r="r" b="b"/>
            <a:pathLst>
              <a:path w="323214" h="946150">
                <a:moveTo>
                  <a:pt x="0" y="0"/>
                </a:moveTo>
                <a:lnTo>
                  <a:pt x="62906" y="6194"/>
                </a:lnTo>
                <a:lnTo>
                  <a:pt x="114275" y="23087"/>
                </a:lnTo>
                <a:lnTo>
                  <a:pt x="148907" y="48139"/>
                </a:lnTo>
                <a:lnTo>
                  <a:pt x="161606" y="78812"/>
                </a:lnTo>
                <a:lnTo>
                  <a:pt x="161606" y="394062"/>
                </a:lnTo>
                <a:lnTo>
                  <a:pt x="174306" y="424741"/>
                </a:lnTo>
                <a:lnTo>
                  <a:pt x="208938" y="449792"/>
                </a:lnTo>
                <a:lnTo>
                  <a:pt x="260306" y="466681"/>
                </a:lnTo>
                <a:lnTo>
                  <a:pt x="323213" y="472874"/>
                </a:lnTo>
                <a:lnTo>
                  <a:pt x="260306" y="479069"/>
                </a:lnTo>
                <a:lnTo>
                  <a:pt x="208938" y="495961"/>
                </a:lnTo>
                <a:lnTo>
                  <a:pt x="174306" y="521013"/>
                </a:lnTo>
                <a:lnTo>
                  <a:pt x="161606" y="551687"/>
                </a:lnTo>
                <a:lnTo>
                  <a:pt x="161606" y="866939"/>
                </a:lnTo>
                <a:lnTo>
                  <a:pt x="148907" y="897615"/>
                </a:lnTo>
                <a:lnTo>
                  <a:pt x="114275" y="922666"/>
                </a:lnTo>
                <a:lnTo>
                  <a:pt x="62906" y="939558"/>
                </a:lnTo>
                <a:lnTo>
                  <a:pt x="0" y="945752"/>
                </a:lnTo>
              </a:path>
            </a:pathLst>
          </a:custGeom>
          <a:ln w="191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5715" y="4214126"/>
            <a:ext cx="323215" cy="946150"/>
          </a:xfrm>
          <a:custGeom>
            <a:avLst/>
            <a:gdLst/>
            <a:ahLst/>
            <a:cxnLst/>
            <a:rect l="l" t="t" r="r" b="b"/>
            <a:pathLst>
              <a:path w="323214" h="946150">
                <a:moveTo>
                  <a:pt x="0" y="0"/>
                </a:moveTo>
                <a:lnTo>
                  <a:pt x="62906" y="6194"/>
                </a:lnTo>
                <a:lnTo>
                  <a:pt x="114275" y="23087"/>
                </a:lnTo>
                <a:lnTo>
                  <a:pt x="148907" y="48139"/>
                </a:lnTo>
                <a:lnTo>
                  <a:pt x="161606" y="78812"/>
                </a:lnTo>
                <a:lnTo>
                  <a:pt x="161606" y="394062"/>
                </a:lnTo>
                <a:lnTo>
                  <a:pt x="174306" y="424741"/>
                </a:lnTo>
                <a:lnTo>
                  <a:pt x="208938" y="449792"/>
                </a:lnTo>
                <a:lnTo>
                  <a:pt x="260306" y="466681"/>
                </a:lnTo>
                <a:lnTo>
                  <a:pt x="323213" y="472874"/>
                </a:lnTo>
                <a:lnTo>
                  <a:pt x="260306" y="479069"/>
                </a:lnTo>
                <a:lnTo>
                  <a:pt x="208938" y="495961"/>
                </a:lnTo>
                <a:lnTo>
                  <a:pt x="174306" y="521013"/>
                </a:lnTo>
                <a:lnTo>
                  <a:pt x="161606" y="551687"/>
                </a:lnTo>
                <a:lnTo>
                  <a:pt x="161606" y="866939"/>
                </a:lnTo>
                <a:lnTo>
                  <a:pt x="148907" y="897615"/>
                </a:lnTo>
                <a:lnTo>
                  <a:pt x="114275" y="922666"/>
                </a:lnTo>
                <a:lnTo>
                  <a:pt x="62906" y="939558"/>
                </a:lnTo>
                <a:lnTo>
                  <a:pt x="0" y="945752"/>
                </a:lnTo>
              </a:path>
            </a:pathLst>
          </a:custGeom>
          <a:ln w="191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79457" y="2458640"/>
            <a:ext cx="2245995" cy="67945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367155">
              <a:lnSpc>
                <a:spcPct val="100000"/>
              </a:lnSpc>
              <a:spcBef>
                <a:spcPts val="630"/>
              </a:spcBef>
            </a:pPr>
            <a:r>
              <a:rPr dirty="0" sz="1700">
                <a:latin typeface="宋体"/>
                <a:cs typeface="宋体"/>
              </a:rPr>
              <a:t>业务需求</a:t>
            </a:r>
            <a:endParaRPr sz="1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700">
                <a:latin typeface="MS Gothic"/>
                <a:cs typeface="MS Gothic"/>
              </a:rPr>
              <a:t>目</a:t>
            </a:r>
            <a:r>
              <a:rPr dirty="0" sz="1700">
                <a:latin typeface="宋体"/>
                <a:cs typeface="宋体"/>
              </a:rPr>
              <a:t>标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45397" y="3573010"/>
            <a:ext cx="8915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MS Gothic"/>
                <a:cs typeface="MS Gothic"/>
              </a:rPr>
              <a:t>用</a:t>
            </a:r>
            <a:r>
              <a:rPr dirty="0" sz="1700">
                <a:latin typeface="宋体"/>
                <a:cs typeface="宋体"/>
              </a:rPr>
              <a:t>户</a:t>
            </a:r>
            <a:r>
              <a:rPr dirty="0" sz="1700">
                <a:latin typeface="MS Gothic"/>
                <a:cs typeface="MS Gothic"/>
              </a:rPr>
              <a:t>需求</a:t>
            </a:r>
            <a:endParaRPr sz="1700">
              <a:latin typeface="MS Gothic"/>
              <a:cs typeface="MS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2284" y="4504912"/>
            <a:ext cx="8915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MS Gothic"/>
                <a:cs typeface="MS Gothic"/>
              </a:rPr>
              <a:t>系</a:t>
            </a:r>
            <a:r>
              <a:rPr dirty="0" sz="1700">
                <a:latin typeface="宋体"/>
                <a:cs typeface="宋体"/>
              </a:rPr>
              <a:t>统</a:t>
            </a:r>
            <a:r>
              <a:rPr dirty="0" sz="1700">
                <a:latin typeface="MS Gothic"/>
                <a:cs typeface="MS Gothic"/>
              </a:rPr>
              <a:t>需求</a:t>
            </a:r>
            <a:endParaRPr sz="1700">
              <a:latin typeface="MS Gothic"/>
              <a:cs typeface="MS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19344" y="1746504"/>
            <a:ext cx="3081528" cy="3499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608819" y="5595620"/>
            <a:ext cx="2997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不同抽象层次需求之间的联系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268" y="473963"/>
            <a:ext cx="2811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业务需求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6803"/>
            <a:ext cx="7835900" cy="39452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ts val="3085"/>
              </a:lnSpc>
              <a:spcBef>
                <a:spcPts val="10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系统建立的</a:t>
            </a:r>
            <a:r>
              <a:rPr dirty="0" baseline="1010" sz="4125" spc="127" b="1">
                <a:solidFill>
                  <a:srgbClr val="549E39"/>
                </a:solidFill>
                <a:latin typeface="宋体"/>
                <a:cs typeface="宋体"/>
              </a:rPr>
              <a:t>战略出发</a:t>
            </a:r>
            <a:r>
              <a:rPr dirty="0" baseline="1010" sz="4125" spc="120" b="1">
                <a:solidFill>
                  <a:srgbClr val="549E39"/>
                </a:solidFill>
                <a:latin typeface="宋体"/>
                <a:cs typeface="宋体"/>
              </a:rPr>
              <a:t>点</a:t>
            </a:r>
            <a:r>
              <a:rPr dirty="0" sz="2800">
                <a:latin typeface="宋体"/>
                <a:cs typeface="宋体"/>
              </a:rPr>
              <a:t>，表现为高层次的目标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ts val="3085"/>
              </a:lnSpc>
            </a:pPr>
            <a:r>
              <a:rPr dirty="0" sz="2800" spc="-5">
                <a:latin typeface="宋体"/>
                <a:cs typeface="宋体"/>
              </a:rPr>
              <a:t>（</a:t>
            </a:r>
            <a:r>
              <a:rPr dirty="0" sz="2800" spc="-5">
                <a:latin typeface="Calibri"/>
                <a:cs typeface="Calibri"/>
              </a:rPr>
              <a:t>Objective</a:t>
            </a:r>
            <a:r>
              <a:rPr dirty="0" sz="2800" spc="-5">
                <a:latin typeface="宋体"/>
                <a:cs typeface="宋体"/>
              </a:rPr>
              <a:t>），</a:t>
            </a:r>
            <a:r>
              <a:rPr dirty="0" sz="2800">
                <a:latin typeface="宋体"/>
                <a:cs typeface="宋体"/>
              </a:rPr>
              <a:t>它描述了组织为什么要开发系统</a:t>
            </a:r>
            <a:endParaRPr sz="2800">
              <a:latin typeface="宋体"/>
              <a:cs typeface="宋体"/>
            </a:endParaRPr>
          </a:p>
          <a:p>
            <a:pPr algn="just" marL="355600" marR="5080" indent="-342900">
              <a:lnSpc>
                <a:spcPct val="86400"/>
              </a:lnSpc>
              <a:spcBef>
                <a:spcPts val="148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为了满足用户的业务需求，需求工程师需要描述 </a:t>
            </a:r>
            <a:r>
              <a:rPr dirty="0" sz="2800">
                <a:solidFill>
                  <a:srgbClr val="549E39"/>
                </a:solidFill>
                <a:latin typeface="宋体"/>
                <a:cs typeface="宋体"/>
              </a:rPr>
              <a:t>系统高层次的解决方案</a:t>
            </a:r>
            <a:r>
              <a:rPr dirty="0" sz="2800">
                <a:latin typeface="宋体"/>
                <a:cs typeface="宋体"/>
              </a:rPr>
              <a:t>，定义系统应该具备的特 性</a:t>
            </a:r>
            <a:r>
              <a:rPr dirty="0" sz="2800" spc="-5">
                <a:latin typeface="宋体"/>
                <a:cs typeface="宋体"/>
              </a:rPr>
              <a:t>（</a:t>
            </a:r>
            <a:r>
              <a:rPr dirty="0" sz="2800" spc="-5">
                <a:latin typeface="Calibri"/>
                <a:cs typeface="Calibri"/>
              </a:rPr>
              <a:t>Feature</a:t>
            </a:r>
            <a:r>
              <a:rPr dirty="0" sz="2800" spc="-5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algn="just" marL="355600" marR="5080" indent="-342900">
              <a:lnSpc>
                <a:spcPts val="2780"/>
              </a:lnSpc>
              <a:spcBef>
                <a:spcPts val="173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参与各方必须要对高层次的解决方案达成一致， 以建立一个共同的前景</a:t>
            </a:r>
            <a:r>
              <a:rPr dirty="0" sz="2800" spc="-5">
                <a:latin typeface="宋体"/>
                <a:cs typeface="宋体"/>
              </a:rPr>
              <a:t>（</a:t>
            </a:r>
            <a:r>
              <a:rPr dirty="0" sz="2800" spc="-5">
                <a:latin typeface="Calibri"/>
                <a:cs typeface="Calibri"/>
              </a:rPr>
              <a:t>Vision</a:t>
            </a:r>
            <a:r>
              <a:rPr dirty="0" sz="2800" spc="-5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algn="just" marL="355600" marR="5080" indent="-342900">
              <a:lnSpc>
                <a:spcPts val="2780"/>
              </a:lnSpc>
              <a:spcBef>
                <a:spcPts val="1639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特性说明了系统为用户提供的各项功能，它限定 了系统的范围</a:t>
            </a:r>
            <a:r>
              <a:rPr dirty="0" sz="2800" spc="-5">
                <a:latin typeface="宋体"/>
                <a:cs typeface="宋体"/>
              </a:rPr>
              <a:t>（</a:t>
            </a:r>
            <a:r>
              <a:rPr dirty="0" sz="2800" spc="-5">
                <a:latin typeface="Calibri"/>
                <a:cs typeface="Calibri"/>
              </a:rPr>
              <a:t>Scope</a:t>
            </a:r>
            <a:r>
              <a:rPr dirty="0" sz="2800" spc="-5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0086" y="473963"/>
            <a:ext cx="52038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业务需求</a:t>
            </a:r>
            <a:r>
              <a:rPr dirty="0" spc="-5">
                <a:latin typeface="Calibri"/>
                <a:cs typeface="Calibri"/>
              </a:rPr>
              <a:t>:</a:t>
            </a:r>
            <a:r>
              <a:rPr dirty="0"/>
              <a:t>目标性功能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9050" y="1265578"/>
            <a:ext cx="9182100" cy="520763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721360">
              <a:lnSpc>
                <a:spcPct val="100000"/>
              </a:lnSpc>
              <a:spcBef>
                <a:spcPts val="1000"/>
              </a:spcBef>
            </a:pPr>
            <a:r>
              <a:rPr dirty="0" sz="2350" spc="85" b="1">
                <a:latin typeface="宋体"/>
                <a:cs typeface="宋体"/>
              </a:rPr>
              <a:t>某系统需求这样写道：</a:t>
            </a:r>
            <a:endParaRPr sz="2350">
              <a:latin typeface="宋体"/>
              <a:cs typeface="宋体"/>
            </a:endParaRPr>
          </a:p>
          <a:p>
            <a:pPr marL="721360" marR="514984" indent="1066800">
              <a:lnSpc>
                <a:spcPts val="3790"/>
              </a:lnSpc>
              <a:spcBef>
                <a:spcPts val="215"/>
              </a:spcBef>
            </a:pPr>
            <a:r>
              <a:rPr dirty="0" sz="2350" spc="85" b="1">
                <a:latin typeface="宋体"/>
                <a:cs typeface="宋体"/>
              </a:rPr>
              <a:t>根据详细调研和需求分析，系统功能必须满足：  </a:t>
            </a:r>
            <a:r>
              <a:rPr dirty="0" sz="2350" spc="75" b="1">
                <a:latin typeface="宋体"/>
                <a:cs typeface="宋体"/>
              </a:rPr>
              <a:t>1）</a:t>
            </a:r>
            <a:r>
              <a:rPr dirty="0" sz="2350" spc="85" b="1">
                <a:latin typeface="宋体"/>
                <a:cs typeface="宋体"/>
              </a:rPr>
              <a:t>编制计划、工程拨款管理，……工程批复、进度统计；</a:t>
            </a:r>
            <a:endParaRPr sz="2350">
              <a:latin typeface="宋体"/>
              <a:cs typeface="宋体"/>
            </a:endParaRPr>
          </a:p>
          <a:p>
            <a:pPr marL="1191260" indent="-470534">
              <a:lnSpc>
                <a:spcPct val="100000"/>
              </a:lnSpc>
              <a:spcBef>
                <a:spcPts val="590"/>
              </a:spcBef>
              <a:buSzPct val="95744"/>
              <a:buAutoNum type="arabicPlain" startAt="2"/>
              <a:tabLst>
                <a:tab pos="1191895" algn="l"/>
              </a:tabLst>
            </a:pPr>
            <a:r>
              <a:rPr dirty="0" sz="2350" spc="85" b="1">
                <a:latin typeface="宋体"/>
                <a:cs typeface="宋体"/>
              </a:rPr>
              <a:t>工程项目管理</a:t>
            </a:r>
            <a:endParaRPr sz="2350">
              <a:latin typeface="宋体"/>
              <a:cs typeface="宋体"/>
            </a:endParaRPr>
          </a:p>
          <a:p>
            <a:pPr marL="1191260" indent="-470534">
              <a:lnSpc>
                <a:spcPct val="100000"/>
              </a:lnSpc>
              <a:spcBef>
                <a:spcPts val="975"/>
              </a:spcBef>
              <a:buSzPct val="95744"/>
              <a:buAutoNum type="arabicPlain" startAt="2"/>
              <a:tabLst>
                <a:tab pos="1191895" algn="l"/>
              </a:tabLst>
            </a:pPr>
            <a:r>
              <a:rPr dirty="0" sz="2350" spc="85" b="1">
                <a:latin typeface="宋体"/>
                <a:cs typeface="宋体"/>
              </a:rPr>
              <a:t>计划拨款、征费收缴信息及其他收拨款信息查询统计；</a:t>
            </a:r>
            <a:endParaRPr sz="2350">
              <a:latin typeface="宋体"/>
              <a:cs typeface="宋体"/>
            </a:endParaRPr>
          </a:p>
          <a:p>
            <a:pPr marL="1191260" indent="-470534">
              <a:lnSpc>
                <a:spcPct val="100000"/>
              </a:lnSpc>
              <a:spcBef>
                <a:spcPts val="900"/>
              </a:spcBef>
              <a:buSzPct val="95744"/>
              <a:buAutoNum type="arabicPlain" startAt="2"/>
              <a:tabLst>
                <a:tab pos="1191895" algn="l"/>
              </a:tabLst>
            </a:pPr>
            <a:r>
              <a:rPr dirty="0" sz="2350" spc="85" b="1">
                <a:latin typeface="宋体"/>
                <a:cs typeface="宋体"/>
              </a:rPr>
              <a:t>路产信息，违章建筑信息，工程材料、进度信息管理；</a:t>
            </a:r>
            <a:endParaRPr sz="2350">
              <a:latin typeface="宋体"/>
              <a:cs typeface="宋体"/>
            </a:endParaRPr>
          </a:p>
          <a:p>
            <a:pPr marL="1191260" indent="-470534">
              <a:lnSpc>
                <a:spcPct val="100000"/>
              </a:lnSpc>
              <a:spcBef>
                <a:spcPts val="875"/>
              </a:spcBef>
              <a:buSzPct val="95744"/>
              <a:buAutoNum type="arabicPlain" startAt="2"/>
              <a:tabLst>
                <a:tab pos="1191895" algn="l"/>
              </a:tabLst>
            </a:pPr>
            <a:r>
              <a:rPr dirty="0" sz="2350" spc="85" b="1">
                <a:latin typeface="宋体"/>
                <a:cs typeface="宋体"/>
              </a:rPr>
              <a:t>养征信息管理，收费站信息管理；</a:t>
            </a:r>
            <a:endParaRPr sz="2350">
              <a:latin typeface="宋体"/>
              <a:cs typeface="宋体"/>
            </a:endParaRPr>
          </a:p>
          <a:p>
            <a:pPr marL="1191260" indent="-470534">
              <a:lnSpc>
                <a:spcPct val="100000"/>
              </a:lnSpc>
              <a:spcBef>
                <a:spcPts val="969"/>
              </a:spcBef>
              <a:buSzPct val="95744"/>
              <a:buAutoNum type="arabicPlain" startAt="2"/>
              <a:tabLst>
                <a:tab pos="1191895" algn="l"/>
              </a:tabLst>
            </a:pPr>
            <a:r>
              <a:rPr dirty="0" sz="2350" spc="85" b="1">
                <a:latin typeface="宋体"/>
                <a:cs typeface="宋体"/>
              </a:rPr>
              <a:t>养护信息管理，公路维护预警；</a:t>
            </a:r>
            <a:endParaRPr sz="2350">
              <a:latin typeface="宋体"/>
              <a:cs typeface="宋体"/>
            </a:endParaRPr>
          </a:p>
          <a:p>
            <a:pPr marL="721360">
              <a:lnSpc>
                <a:spcPct val="100000"/>
              </a:lnSpc>
              <a:spcBef>
                <a:spcPts val="875"/>
              </a:spcBef>
            </a:pPr>
            <a:r>
              <a:rPr dirty="0" sz="2350" spc="85" b="1">
                <a:latin typeface="宋体"/>
                <a:cs typeface="宋体"/>
              </a:rPr>
              <a:t>……</a:t>
            </a:r>
            <a:endParaRPr sz="2350">
              <a:latin typeface="宋体"/>
              <a:cs typeface="宋体"/>
            </a:endParaRPr>
          </a:p>
          <a:p>
            <a:pPr marL="361315">
              <a:lnSpc>
                <a:spcPts val="3260"/>
              </a:lnSpc>
              <a:spcBef>
                <a:spcPts val="665"/>
              </a:spcBef>
            </a:pPr>
            <a:r>
              <a:rPr dirty="0" sz="2750" spc="85" b="1">
                <a:solidFill>
                  <a:srgbClr val="FF0000"/>
                </a:solidFill>
                <a:latin typeface="宋体"/>
                <a:cs typeface="宋体"/>
              </a:rPr>
              <a:t>目标性需求不具体，缺少必要的条件限定和执行过</a:t>
            </a:r>
            <a:endParaRPr sz="2750">
              <a:latin typeface="宋体"/>
              <a:cs typeface="宋体"/>
            </a:endParaRPr>
          </a:p>
          <a:p>
            <a:pPr marL="12700">
              <a:lnSpc>
                <a:spcPts val="3260"/>
              </a:lnSpc>
              <a:tabLst>
                <a:tab pos="360680" algn="l"/>
                <a:tab pos="9168765" algn="l"/>
              </a:tabLst>
            </a:pPr>
            <a:r>
              <a:rPr dirty="0" sz="2750" spc="10" b="1" strike="sngStrike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10" b="1" strike="sngStrike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750" spc="85" b="1" strike="sngStrike">
                <a:solidFill>
                  <a:srgbClr val="FF0000"/>
                </a:solidFill>
                <a:latin typeface="宋体"/>
                <a:cs typeface="宋体"/>
              </a:rPr>
              <a:t>程</a:t>
            </a:r>
            <a:r>
              <a:rPr dirty="0" sz="2750" spc="35" b="1" strike="sngStrike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sz="2750" b="1" strike="sngStrike">
                <a:solidFill>
                  <a:srgbClr val="FF0000"/>
                </a:solidFill>
                <a:latin typeface="宋体"/>
                <a:cs typeface="宋体"/>
              </a:rPr>
              <a:t>	</a:t>
            </a:r>
            <a:endParaRPr sz="27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5987" y="473963"/>
            <a:ext cx="47720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业务需求</a:t>
            </a:r>
            <a:r>
              <a:rPr dirty="0">
                <a:latin typeface="Calibri"/>
                <a:cs typeface="Calibri"/>
              </a:rPr>
              <a:t>:</a:t>
            </a:r>
            <a:r>
              <a:rPr dirty="0" spc="-95">
                <a:latin typeface="Calibri"/>
                <a:cs typeface="Calibri"/>
              </a:rPr>
              <a:t> </a:t>
            </a:r>
            <a:r>
              <a:rPr dirty="0"/>
              <a:t>无二义性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302003"/>
            <a:ext cx="8204200" cy="36068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688975">
              <a:lnSpc>
                <a:spcPts val="3290"/>
              </a:lnSpc>
              <a:spcBef>
                <a:spcPts val="265"/>
              </a:spcBef>
            </a:pPr>
            <a:r>
              <a:rPr dirty="0" sz="2800">
                <a:latin typeface="宋体"/>
                <a:cs typeface="宋体"/>
              </a:rPr>
              <a:t>通常给出的需求，都会给出必要的条件限定和 执行描述，但对于它们的理解，并不一定只有一种。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宋体"/>
                <a:cs typeface="宋体"/>
              </a:rPr>
              <a:t>例如：</a:t>
            </a:r>
            <a:endParaRPr sz="2800">
              <a:latin typeface="宋体"/>
              <a:cs typeface="宋体"/>
            </a:endParaRPr>
          </a:p>
          <a:p>
            <a:pPr marL="745490" marR="210820" indent="-590550">
              <a:lnSpc>
                <a:spcPct val="152000"/>
              </a:lnSpc>
              <a:spcBef>
                <a:spcPts val="1395"/>
              </a:spcBef>
            </a:pPr>
            <a:r>
              <a:rPr dirty="0" sz="2750" spc="85" b="1">
                <a:latin typeface="宋体"/>
                <a:cs typeface="宋体"/>
              </a:rPr>
              <a:t>下 面 的 问 题 具 有 二 义 性 ：  </a:t>
            </a:r>
            <a:r>
              <a:rPr dirty="0" sz="2750" spc="85" b="1">
                <a:latin typeface="宋体"/>
                <a:cs typeface="宋体"/>
              </a:rPr>
              <a:t>“发现不友好的并且带有未知任务的或者有可</a:t>
            </a:r>
            <a:endParaRPr sz="2750">
              <a:latin typeface="宋体"/>
              <a:cs typeface="宋体"/>
            </a:endParaRPr>
          </a:p>
          <a:p>
            <a:pPr marL="155575">
              <a:lnSpc>
                <a:spcPct val="100000"/>
              </a:lnSpc>
              <a:spcBef>
                <a:spcPts val="70"/>
              </a:spcBef>
            </a:pPr>
            <a:r>
              <a:rPr dirty="0" baseline="1010" sz="4125" spc="127" b="1">
                <a:latin typeface="宋体"/>
                <a:cs typeface="宋体"/>
              </a:rPr>
              <a:t>能</a:t>
            </a:r>
            <a:r>
              <a:rPr dirty="0" baseline="1010" sz="4125" spc="120" b="1">
                <a:latin typeface="宋体"/>
                <a:cs typeface="宋体"/>
              </a:rPr>
              <a:t>在</a:t>
            </a:r>
            <a:r>
              <a:rPr dirty="0" sz="2800" spc="5" b="1">
                <a:latin typeface="Arial"/>
                <a:cs typeface="Arial"/>
              </a:rPr>
              <a:t>5</a:t>
            </a:r>
            <a:r>
              <a:rPr dirty="0" baseline="1010" sz="4125" spc="127" b="1">
                <a:latin typeface="宋体"/>
                <a:cs typeface="宋体"/>
              </a:rPr>
              <a:t>分钟内飞入禁区的飞机时鸣响警报</a:t>
            </a:r>
            <a:r>
              <a:rPr dirty="0" baseline="1010" sz="4125" spc="120" b="1">
                <a:latin typeface="宋体"/>
                <a:cs typeface="宋体"/>
              </a:rPr>
              <a:t>。</a:t>
            </a:r>
            <a:r>
              <a:rPr dirty="0" sz="2800" b="1">
                <a:latin typeface="Arial"/>
                <a:cs typeface="Arial"/>
              </a:rPr>
              <a:t>……</a:t>
            </a:r>
            <a:r>
              <a:rPr dirty="0" baseline="1010" sz="4125" spc="52" b="1">
                <a:latin typeface="宋体"/>
                <a:cs typeface="宋体"/>
              </a:rPr>
              <a:t>”</a:t>
            </a:r>
            <a:endParaRPr baseline="1010" sz="4125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无二义性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577" y="979384"/>
            <a:ext cx="7988934" cy="376872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2750" spc="85" b="1">
                <a:latin typeface="宋体"/>
                <a:cs typeface="宋体"/>
              </a:rPr>
              <a:t>第一种解释：</a:t>
            </a:r>
            <a:endParaRPr sz="2750">
              <a:latin typeface="宋体"/>
              <a:cs typeface="宋体"/>
            </a:endParaRPr>
          </a:p>
          <a:p>
            <a:pPr marL="12700" marR="5080">
              <a:lnSpc>
                <a:spcPct val="87200"/>
              </a:lnSpc>
              <a:spcBef>
                <a:spcPts val="1615"/>
              </a:spcBef>
            </a:pPr>
            <a:r>
              <a:rPr dirty="0" sz="2750" spc="85" b="1">
                <a:latin typeface="宋体"/>
                <a:cs typeface="宋体"/>
              </a:rPr>
              <a:t>不友好的、带有未知任务的飞机要鸣响警报；或者 </a:t>
            </a:r>
            <a:r>
              <a:rPr dirty="0" sz="2750" spc="65" b="1">
                <a:latin typeface="宋体"/>
                <a:cs typeface="宋体"/>
              </a:rPr>
              <a:t> </a:t>
            </a:r>
            <a:r>
              <a:rPr dirty="0" sz="2800" spc="5" b="1">
                <a:latin typeface="Arial"/>
                <a:cs typeface="Arial"/>
              </a:rPr>
              <a:t>5</a:t>
            </a:r>
            <a:r>
              <a:rPr dirty="0" baseline="1010" sz="4125" spc="127" b="1">
                <a:latin typeface="宋体"/>
                <a:cs typeface="宋体"/>
              </a:rPr>
              <a:t>分钟内飞入禁区的飞机要鸣响警报（无论是否友 </a:t>
            </a:r>
            <a:r>
              <a:rPr dirty="0" sz="2750" spc="85" b="1">
                <a:latin typeface="宋体"/>
                <a:cs typeface="宋体"/>
              </a:rPr>
              <a:t>好？无论是否带有未知任务？）。</a:t>
            </a:r>
            <a:endParaRPr sz="27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750" spc="85" b="1">
                <a:latin typeface="宋体"/>
                <a:cs typeface="宋体"/>
              </a:rPr>
              <a:t>第二种解释：</a:t>
            </a:r>
            <a:endParaRPr sz="2750">
              <a:latin typeface="宋体"/>
              <a:cs typeface="宋体"/>
            </a:endParaRPr>
          </a:p>
          <a:p>
            <a:pPr marL="12700" marR="5080">
              <a:lnSpc>
                <a:spcPct val="90300"/>
              </a:lnSpc>
              <a:spcBef>
                <a:spcPts val="1305"/>
              </a:spcBef>
            </a:pPr>
            <a:r>
              <a:rPr dirty="0" baseline="1010" sz="4125" spc="127" b="1">
                <a:latin typeface="宋体"/>
                <a:cs typeface="宋体"/>
              </a:rPr>
              <a:t>不友好的飞机，如果带有未知任务或</a:t>
            </a:r>
            <a:r>
              <a:rPr dirty="0" baseline="1010" sz="4125" spc="120" b="1">
                <a:latin typeface="宋体"/>
                <a:cs typeface="宋体"/>
              </a:rPr>
              <a:t>者</a:t>
            </a:r>
            <a:r>
              <a:rPr dirty="0" sz="2800" spc="5" b="1">
                <a:latin typeface="Arial"/>
                <a:cs typeface="Arial"/>
              </a:rPr>
              <a:t>5</a:t>
            </a:r>
            <a:r>
              <a:rPr dirty="0" baseline="1010" sz="4125" spc="127" b="1">
                <a:latin typeface="宋体"/>
                <a:cs typeface="宋体"/>
              </a:rPr>
              <a:t>分钟内会 </a:t>
            </a:r>
            <a:r>
              <a:rPr dirty="0" sz="2750" spc="85" b="1">
                <a:latin typeface="宋体"/>
                <a:cs typeface="宋体"/>
              </a:rPr>
              <a:t>飞入禁区，则要鸣响警报（友好的飞机无论怎样都 </a:t>
            </a:r>
            <a:r>
              <a:rPr dirty="0" sz="2750" spc="85" b="1">
                <a:latin typeface="宋体"/>
                <a:cs typeface="宋体"/>
              </a:rPr>
              <a:t>不鸣响警报？）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577" y="4864806"/>
            <a:ext cx="2197735" cy="443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85" b="1">
                <a:latin typeface="宋体"/>
                <a:cs typeface="宋体"/>
              </a:rPr>
              <a:t>第三种解释：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577" y="5407659"/>
            <a:ext cx="736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……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26143" y="4989512"/>
            <a:ext cx="5029200" cy="953135"/>
          </a:xfrm>
          <a:custGeom>
            <a:avLst/>
            <a:gdLst/>
            <a:ahLst/>
            <a:cxnLst/>
            <a:rect l="l" t="t" r="r" b="b"/>
            <a:pathLst>
              <a:path w="5029200" h="953135">
                <a:moveTo>
                  <a:pt x="0" y="0"/>
                </a:moveTo>
                <a:lnTo>
                  <a:pt x="5029200" y="0"/>
                </a:lnTo>
                <a:lnTo>
                  <a:pt x="5029200" y="953134"/>
                </a:lnTo>
                <a:lnTo>
                  <a:pt x="0" y="953134"/>
                </a:lnTo>
                <a:lnTo>
                  <a:pt x="0" y="0"/>
                </a:lnTo>
                <a:close/>
              </a:path>
            </a:pathLst>
          </a:custGeom>
          <a:solidFill>
            <a:srgbClr val="AFC5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39662" y="5023611"/>
            <a:ext cx="4602480" cy="86423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852805" marR="5080" indent="-840740">
              <a:lnSpc>
                <a:spcPts val="3250"/>
              </a:lnSpc>
              <a:spcBef>
                <a:spcPts val="300"/>
              </a:spcBef>
            </a:pPr>
            <a:r>
              <a:rPr dirty="0" baseline="1010" sz="4125" spc="127" b="1">
                <a:latin typeface="宋体"/>
                <a:cs typeface="宋体"/>
              </a:rPr>
              <a:t>无二义性需</a:t>
            </a:r>
            <a:r>
              <a:rPr dirty="0" baseline="1010" sz="4125" spc="120" b="1">
                <a:latin typeface="宋体"/>
                <a:cs typeface="宋体"/>
              </a:rPr>
              <a:t>求</a:t>
            </a:r>
            <a:r>
              <a:rPr dirty="0" sz="2800" spc="5" b="1">
                <a:latin typeface="Arial"/>
                <a:cs typeface="Arial"/>
              </a:rPr>
              <a:t>-----</a:t>
            </a:r>
            <a:r>
              <a:rPr dirty="0" baseline="1010" sz="4125" spc="127" b="1">
                <a:latin typeface="宋体"/>
                <a:cs typeface="宋体"/>
              </a:rPr>
              <a:t>陈述的问题 </a:t>
            </a:r>
            <a:r>
              <a:rPr dirty="0" sz="2750" spc="85" b="1">
                <a:latin typeface="宋体"/>
                <a:cs typeface="宋体"/>
              </a:rPr>
              <a:t>有且仅有一种解释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400" y="3155950"/>
            <a:ext cx="8280400" cy="3106420"/>
          </a:xfrm>
          <a:custGeom>
            <a:avLst/>
            <a:gdLst/>
            <a:ahLst/>
            <a:cxnLst/>
            <a:rect l="l" t="t" r="r" b="b"/>
            <a:pathLst>
              <a:path w="8280400" h="3106420">
                <a:moveTo>
                  <a:pt x="0" y="0"/>
                </a:moveTo>
                <a:lnTo>
                  <a:pt x="8280400" y="0"/>
                </a:lnTo>
                <a:lnTo>
                  <a:pt x="8280400" y="3106419"/>
                </a:lnTo>
                <a:lnTo>
                  <a:pt x="0" y="3106419"/>
                </a:lnTo>
                <a:lnTo>
                  <a:pt x="0" y="0"/>
                </a:lnTo>
                <a:close/>
              </a:path>
            </a:pathLst>
          </a:custGeom>
          <a:solidFill>
            <a:srgbClr val="C1EE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5140" y="1035662"/>
            <a:ext cx="8085455" cy="51600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r" marR="4083050">
              <a:lnSpc>
                <a:spcPct val="100000"/>
              </a:lnSpc>
              <a:spcBef>
                <a:spcPts val="770"/>
              </a:spcBef>
            </a:pPr>
            <a:r>
              <a:rPr dirty="0" sz="2750" spc="85" b="1">
                <a:latin typeface="宋体"/>
                <a:cs typeface="宋体"/>
              </a:rPr>
              <a:t>二义性缺陷的原因在于：</a:t>
            </a:r>
            <a:endParaRPr sz="2750">
              <a:latin typeface="宋体"/>
              <a:cs typeface="宋体"/>
            </a:endParaRPr>
          </a:p>
          <a:p>
            <a:pPr algn="r" marL="554990" marR="4015104" indent="-554990">
              <a:lnSpc>
                <a:spcPct val="100000"/>
              </a:lnSpc>
              <a:spcBef>
                <a:spcPts val="695"/>
              </a:spcBef>
              <a:buSzPct val="96428"/>
              <a:buFont typeface="Arial"/>
              <a:buAutoNum type="arabicPlain"/>
              <a:tabLst>
                <a:tab pos="554990" algn="l"/>
              </a:tabLst>
            </a:pPr>
            <a:r>
              <a:rPr dirty="0" sz="2800">
                <a:latin typeface="宋体"/>
                <a:cs typeface="宋体"/>
              </a:rPr>
              <a:t>对问题的理解不深入</a:t>
            </a:r>
            <a:endParaRPr sz="2800">
              <a:latin typeface="宋体"/>
              <a:cs typeface="宋体"/>
            </a:endParaRPr>
          </a:p>
          <a:p>
            <a:pPr marL="862330" indent="-554990">
              <a:lnSpc>
                <a:spcPct val="100000"/>
              </a:lnSpc>
              <a:spcBef>
                <a:spcPts val="645"/>
              </a:spcBef>
              <a:buSzPct val="96428"/>
              <a:buFont typeface="Arial"/>
              <a:buAutoNum type="arabicPlain"/>
              <a:tabLst>
                <a:tab pos="862965" algn="l"/>
              </a:tabLst>
            </a:pPr>
            <a:r>
              <a:rPr dirty="0" sz="2800">
                <a:latin typeface="宋体"/>
                <a:cs typeface="宋体"/>
              </a:rPr>
              <a:t>表述不具体和严谨</a:t>
            </a:r>
            <a:endParaRPr sz="2800">
              <a:latin typeface="宋体"/>
              <a:cs typeface="宋体"/>
            </a:endParaRPr>
          </a:p>
          <a:p>
            <a:pPr marL="862330" indent="-554990">
              <a:lnSpc>
                <a:spcPct val="100000"/>
              </a:lnSpc>
              <a:spcBef>
                <a:spcPts val="625"/>
              </a:spcBef>
              <a:buSzPct val="96428"/>
              <a:buFont typeface="Arial"/>
              <a:buAutoNum type="arabicPlain"/>
              <a:tabLst>
                <a:tab pos="862965" algn="l"/>
              </a:tabLst>
            </a:pPr>
            <a:r>
              <a:rPr dirty="0" sz="2800">
                <a:latin typeface="宋体"/>
                <a:cs typeface="宋体"/>
              </a:rPr>
              <a:t>自然语言本身的丰富语义表现力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baseline="1010" sz="4125" spc="127" b="1">
                <a:latin typeface="宋体"/>
                <a:cs typeface="宋体"/>
              </a:rPr>
              <a:t>解决二义性问题的途</a:t>
            </a:r>
            <a:r>
              <a:rPr dirty="0" baseline="1010" sz="4125" spc="120" b="1">
                <a:latin typeface="宋体"/>
                <a:cs typeface="宋体"/>
              </a:rPr>
              <a:t>径</a:t>
            </a:r>
            <a:r>
              <a:rPr dirty="0" sz="2800" spc="5" b="1">
                <a:latin typeface="Arial"/>
                <a:cs typeface="Arial"/>
              </a:rPr>
              <a:t>----</a:t>
            </a:r>
            <a:r>
              <a:rPr dirty="0" baseline="1010" sz="4125" spc="127" b="1">
                <a:latin typeface="宋体"/>
                <a:cs typeface="宋体"/>
              </a:rPr>
              <a:t>建立系统模型</a:t>
            </a:r>
            <a:endParaRPr baseline="1010" sz="4125">
              <a:latin typeface="宋体"/>
              <a:cs typeface="宋体"/>
            </a:endParaRPr>
          </a:p>
          <a:p>
            <a:pPr lvl="1" marL="960755" indent="-554990">
              <a:lnSpc>
                <a:spcPct val="100000"/>
              </a:lnSpc>
              <a:spcBef>
                <a:spcPts val="650"/>
              </a:spcBef>
              <a:buSzPct val="96428"/>
              <a:buFont typeface="Arial"/>
              <a:buAutoNum type="arabicPlain"/>
              <a:tabLst>
                <a:tab pos="961390" algn="l"/>
              </a:tabLst>
            </a:pPr>
            <a:r>
              <a:rPr dirty="0" sz="2800">
                <a:latin typeface="宋体"/>
                <a:cs typeface="宋体"/>
              </a:rPr>
              <a:t>系统模型可以抽象表示问题，使问题简单清晰</a:t>
            </a:r>
            <a:endParaRPr sz="2800">
              <a:latin typeface="宋体"/>
              <a:cs typeface="宋体"/>
            </a:endParaRPr>
          </a:p>
          <a:p>
            <a:pPr lvl="1" marL="960755" indent="-554990">
              <a:lnSpc>
                <a:spcPct val="100000"/>
              </a:lnSpc>
              <a:spcBef>
                <a:spcPts val="625"/>
              </a:spcBef>
              <a:buSzPct val="96428"/>
              <a:buFont typeface="Arial"/>
              <a:buAutoNum type="arabicPlain"/>
              <a:tabLst>
                <a:tab pos="961390" algn="l"/>
              </a:tabLst>
            </a:pPr>
            <a:r>
              <a:rPr dirty="0" sz="2800">
                <a:latin typeface="宋体"/>
                <a:cs typeface="宋体"/>
              </a:rPr>
              <a:t>模型可以提高对问题的准确性理解</a:t>
            </a:r>
            <a:endParaRPr sz="2800">
              <a:latin typeface="宋体"/>
              <a:cs typeface="宋体"/>
            </a:endParaRPr>
          </a:p>
          <a:p>
            <a:pPr lvl="1" marL="960755" indent="-554990">
              <a:lnSpc>
                <a:spcPct val="100000"/>
              </a:lnSpc>
              <a:spcBef>
                <a:spcPts val="645"/>
              </a:spcBef>
              <a:buSzPct val="96428"/>
              <a:buFont typeface="Arial"/>
              <a:buAutoNum type="arabicPlain"/>
              <a:tabLst>
                <a:tab pos="961390" algn="l"/>
              </a:tabLst>
            </a:pPr>
            <a:r>
              <a:rPr dirty="0" sz="2800">
                <a:latin typeface="宋体"/>
                <a:cs typeface="宋体"/>
              </a:rPr>
              <a:t>容易沟通并达成一致的理解</a:t>
            </a:r>
            <a:endParaRPr sz="2800">
              <a:latin typeface="宋体"/>
              <a:cs typeface="宋体"/>
            </a:endParaRPr>
          </a:p>
          <a:p>
            <a:pPr lvl="1" marL="960755" indent="-554990">
              <a:lnSpc>
                <a:spcPct val="100000"/>
              </a:lnSpc>
              <a:spcBef>
                <a:spcPts val="745"/>
              </a:spcBef>
              <a:buSzPct val="96428"/>
              <a:buFont typeface="Arial"/>
              <a:buAutoNum type="arabicPlain"/>
              <a:tabLst>
                <a:tab pos="961390" algn="l"/>
              </a:tabLst>
            </a:pPr>
            <a:r>
              <a:rPr dirty="0" sz="2800">
                <a:latin typeface="宋体"/>
                <a:cs typeface="宋体"/>
              </a:rPr>
              <a:t>容易检查宏观上的完整性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>
                <a:latin typeface="宋体"/>
                <a:cs typeface="宋体"/>
              </a:rPr>
              <a:t>随着问题的复杂，模型也会变得复杂。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2500" y="199644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无二义性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220" y="6422644"/>
            <a:ext cx="22434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dirty="0" sz="1600" spc="-5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dirty="0" sz="160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dirty="0" sz="160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业务需求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22043"/>
            <a:ext cx="7943850" cy="30035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5600" marR="5080" indent="-342900">
              <a:lnSpc>
                <a:spcPts val="3290"/>
              </a:lnSpc>
              <a:spcBef>
                <a:spcPts val="265"/>
              </a:spcBef>
            </a:pPr>
            <a:r>
              <a:rPr dirty="0" sz="2800">
                <a:latin typeface="宋体"/>
                <a:cs typeface="宋体"/>
              </a:rPr>
              <a:t>示例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>
                <a:latin typeface="宋体"/>
                <a:cs typeface="宋体"/>
              </a:rPr>
              <a:t>下面我们通过与</a:t>
            </a:r>
            <a:r>
              <a:rPr dirty="0" u="sng" sz="2800">
                <a:solidFill>
                  <a:srgbClr val="549E39"/>
                </a:solidFill>
                <a:uFill>
                  <a:solidFill>
                    <a:srgbClr val="549E39"/>
                  </a:solidFill>
                </a:uFill>
                <a:latin typeface="宋体"/>
                <a:cs typeface="宋体"/>
              </a:rPr>
              <a:t>文字处理系统</a:t>
            </a:r>
            <a:r>
              <a:rPr dirty="0" sz="2800">
                <a:latin typeface="宋体"/>
                <a:cs typeface="宋体"/>
              </a:rPr>
              <a:t>相关的</a:t>
            </a:r>
            <a:r>
              <a:rPr dirty="0" sz="2800">
                <a:solidFill>
                  <a:srgbClr val="549E39"/>
                </a:solidFill>
                <a:latin typeface="宋体"/>
                <a:cs typeface="宋体"/>
              </a:rPr>
              <a:t>部分需求 </a:t>
            </a:r>
            <a:r>
              <a:rPr dirty="0" sz="2800">
                <a:latin typeface="宋体"/>
                <a:cs typeface="宋体"/>
              </a:rPr>
              <a:t>来说明需求的分类</a:t>
            </a:r>
            <a:r>
              <a:rPr dirty="0" sz="2800" spc="-770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ts val="3335"/>
              </a:lnSpc>
            </a:pPr>
            <a:r>
              <a:rPr dirty="0" u="sng" baseline="1010" sz="4125" spc="127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</a:t>
            </a:r>
            <a:r>
              <a:rPr dirty="0" u="sng" baseline="1010" sz="4125" spc="12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例</a:t>
            </a:r>
            <a:r>
              <a:rPr dirty="0" u="sng" sz="2800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sng" baseline="1010" sz="4125" spc="127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文字处理系统业务需</a:t>
            </a:r>
            <a:r>
              <a:rPr dirty="0" u="sng" baseline="1010" sz="4125" spc="12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求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336550">
              <a:lnSpc>
                <a:spcPts val="3335"/>
              </a:lnSpc>
            </a:pPr>
            <a:r>
              <a:rPr dirty="0" sz="2800">
                <a:latin typeface="宋体"/>
                <a:cs typeface="宋体"/>
              </a:rPr>
              <a:t>用户使用系统能有效地纠正文档中的拼写错误，</a:t>
            </a:r>
            <a:endParaRPr sz="2800">
              <a:latin typeface="宋体"/>
              <a:cs typeface="宋体"/>
            </a:endParaRPr>
          </a:p>
          <a:p>
            <a:pPr marL="355600" marR="113664">
              <a:lnSpc>
                <a:spcPts val="3100"/>
              </a:lnSpc>
              <a:spcBef>
                <a:spcPts val="560"/>
              </a:spcBef>
            </a:pPr>
            <a:r>
              <a:rPr dirty="0" sz="2800">
                <a:latin typeface="宋体"/>
                <a:cs typeface="宋体"/>
              </a:rPr>
              <a:t>并且系统能满足用户的业务要求以及提高用户的 工作效率。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9140" y="6446011"/>
            <a:ext cx="168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Garamond"/>
                <a:cs typeface="Garamond"/>
              </a:rPr>
              <a:t>14</a:t>
            </a:r>
            <a:endParaRPr sz="12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北京交管局实例：业务需求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7866380" cy="39198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72834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宋体"/>
                <a:cs typeface="宋体"/>
              </a:rPr>
              <a:t>北京交管局系统实例中，岗位管理与警情处理 系统是面向局、支队、大队等各级岗位管理人员、 监控人员的内部系统。两大需求岗位管理和警情处 理，可分为三个业务流程，分别是：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岗位管理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设置基础岗位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选择局控岗位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修改</a:t>
            </a:r>
            <a:r>
              <a:rPr dirty="0" sz="2400" spc="-5">
                <a:latin typeface="Calibri"/>
                <a:cs typeface="Calibri"/>
              </a:rPr>
              <a:t>/</a:t>
            </a:r>
            <a:r>
              <a:rPr dirty="0" sz="2400">
                <a:latin typeface="宋体"/>
                <a:cs typeface="宋体"/>
              </a:rPr>
              <a:t>撤销岗位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审批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88790" y="3484245"/>
            <a:ext cx="4041775" cy="2607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北京交管局实例：业务需求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3206750" cy="265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警情级别管理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spcBef>
                <a:spcPts val="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设置警情级别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查看岗位情况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增加自主岗位任务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分配警情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查看报备情况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接受岗位任务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91279" y="1597025"/>
            <a:ext cx="4518660" cy="2790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北京交管局实例：业务需求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4635500" cy="228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岗位任务和警情分配与执行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spcBef>
                <a:spcPts val="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反映到上级部门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ts val="2830"/>
              </a:lnSpc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事故指派给民警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接警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处警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填写出警报告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1690" y="2669539"/>
            <a:ext cx="3745865" cy="31756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42155" y="4043436"/>
            <a:ext cx="3144644" cy="1981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6268" y="473963"/>
            <a:ext cx="2811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2.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用户需求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26971"/>
            <a:ext cx="7835900" cy="46939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marR="5080" indent="-342900">
              <a:lnSpc>
                <a:spcPts val="2780"/>
              </a:lnSpc>
              <a:spcBef>
                <a:spcPts val="67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执行实际工作的用户对</a:t>
            </a:r>
            <a:r>
              <a:rPr dirty="0" sz="2800">
                <a:solidFill>
                  <a:srgbClr val="549E39"/>
                </a:solidFill>
                <a:latin typeface="宋体"/>
                <a:cs typeface="宋体"/>
              </a:rPr>
              <a:t>系统所能完成的具体任务 </a:t>
            </a:r>
            <a:r>
              <a:rPr dirty="0" sz="2800">
                <a:latin typeface="宋体"/>
                <a:cs typeface="宋体"/>
              </a:rPr>
              <a:t>的期望，描述了系统能够帮助用户做些什么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直接用户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3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间接用户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"/>
            </a:pPr>
            <a:endParaRPr sz="2750">
              <a:latin typeface="宋体"/>
              <a:cs typeface="宋体"/>
            </a:endParaRPr>
          </a:p>
          <a:p>
            <a:pPr marL="355600" marR="5080" indent="-342900">
              <a:lnSpc>
                <a:spcPts val="2810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对所有的用户需求，都应该有充分的问题域知识 作为背景支持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23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特性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35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模糊、不清晰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3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多特性混杂（功能非功能混在一起）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多逻辑混杂</a:t>
            </a:r>
            <a:r>
              <a:rPr dirty="0" sz="2400" spc="-67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（多次交互）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用户需求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8007350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325"/>
              </a:lnSpc>
              <a:spcBef>
                <a:spcPts val="100"/>
              </a:spcBef>
            </a:pPr>
            <a:r>
              <a:rPr dirty="0" u="sng" baseline="1010" sz="4125" spc="127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</a:t>
            </a:r>
            <a:r>
              <a:rPr dirty="0" u="sng" baseline="1010" sz="4125" spc="120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例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 </a:t>
            </a:r>
            <a:r>
              <a:rPr dirty="0" u="sng" baseline="1010" sz="4125" spc="127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文字处理系统用户需求</a:t>
            </a:r>
            <a:endParaRPr baseline="1010" sz="4125">
              <a:latin typeface="宋体"/>
              <a:cs typeface="宋体"/>
            </a:endParaRPr>
          </a:p>
          <a:p>
            <a:pPr marL="498475">
              <a:lnSpc>
                <a:spcPts val="3325"/>
              </a:lnSpc>
            </a:pPr>
            <a:r>
              <a:rPr dirty="0" sz="2800">
                <a:latin typeface="宋体"/>
                <a:cs typeface="宋体"/>
              </a:rPr>
              <a:t>当找到文档中的拼写错误时，通过一个可供选择</a:t>
            </a:r>
            <a:endParaRPr sz="2800">
              <a:latin typeface="宋体"/>
              <a:cs typeface="宋体"/>
            </a:endParaRPr>
          </a:p>
          <a:p>
            <a:pPr marL="527050" marR="5080">
              <a:lnSpc>
                <a:spcPts val="3190"/>
              </a:lnSpc>
              <a:spcBef>
                <a:spcPts val="484"/>
              </a:spcBef>
            </a:pPr>
            <a:r>
              <a:rPr dirty="0" sz="2800">
                <a:latin typeface="宋体"/>
                <a:cs typeface="宋体"/>
              </a:rPr>
              <a:t>的单词表，并在选择单词表中的某一个单词后替 换掉原来的单词。</a:t>
            </a:r>
            <a:r>
              <a:rPr dirty="0" sz="2800" spc="-140">
                <a:latin typeface="宋体"/>
                <a:cs typeface="宋体"/>
              </a:rPr>
              <a:t> </a:t>
            </a:r>
            <a:r>
              <a:rPr dirty="0" sz="2800">
                <a:latin typeface="Calibri"/>
                <a:cs typeface="Calibri"/>
              </a:rPr>
              <a:t>(</a:t>
            </a:r>
            <a:r>
              <a:rPr dirty="0" sz="2800">
                <a:latin typeface="宋体"/>
                <a:cs typeface="宋体"/>
              </a:rPr>
              <a:t>从用户角度的描述</a:t>
            </a:r>
            <a:r>
              <a:rPr dirty="0" sz="280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北京交管局实例：用户需求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7866380" cy="38658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 indent="728345">
              <a:lnSpc>
                <a:spcPct val="99600"/>
              </a:lnSpc>
              <a:spcBef>
                <a:spcPts val="110"/>
              </a:spcBef>
            </a:pPr>
            <a:r>
              <a:rPr dirty="0" sz="2800">
                <a:latin typeface="宋体"/>
                <a:cs typeface="宋体"/>
              </a:rPr>
              <a:t>北京交管局系统实例中，用户需求就是需要满 足各级警员的实际需求，具体的用户需求则可以从 业务流程中提炼得到。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宋体"/>
              <a:cs typeface="宋体"/>
            </a:endParaRPr>
          </a:p>
          <a:p>
            <a:pPr marL="12700" marR="2647950">
              <a:lnSpc>
                <a:spcPct val="100400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solidFill>
                  <a:srgbClr val="549E39"/>
                </a:solidFill>
                <a:latin typeface="宋体"/>
                <a:cs typeface="宋体"/>
              </a:rPr>
              <a:t>警长</a:t>
            </a:r>
            <a:r>
              <a:rPr dirty="0" sz="2800" spc="5">
                <a:latin typeface="Calibri"/>
                <a:cs typeface="Calibri"/>
              </a:rPr>
              <a:t>AP</a:t>
            </a:r>
            <a:r>
              <a:rPr dirty="0" sz="2800">
                <a:latin typeface="Calibri"/>
                <a:cs typeface="Calibri"/>
              </a:rPr>
              <a:t>P</a:t>
            </a:r>
            <a:r>
              <a:rPr dirty="0" sz="2800">
                <a:latin typeface="宋体"/>
                <a:cs typeface="宋体"/>
              </a:rPr>
              <a:t>：主要需要满足警长的 日常任务需求，因此警长</a:t>
            </a:r>
            <a:r>
              <a:rPr dirty="0" sz="2800" spc="5">
                <a:latin typeface="Calibri"/>
                <a:cs typeface="Calibri"/>
              </a:rPr>
              <a:t>AP</a:t>
            </a:r>
            <a:r>
              <a:rPr dirty="0" sz="2800">
                <a:latin typeface="Calibri"/>
                <a:cs typeface="Calibri"/>
              </a:rPr>
              <a:t>P</a:t>
            </a:r>
            <a:r>
              <a:rPr dirty="0" sz="2800">
                <a:latin typeface="宋体"/>
                <a:cs typeface="宋体"/>
              </a:rPr>
              <a:t>需要 提供安排岗位任务、当日岗位执 行情况、自主岗位安排和审批等 功能。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29959" y="2519679"/>
            <a:ext cx="2276474" cy="3720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北京交管局实例：用户需求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8996"/>
            <a:ext cx="4279900" cy="2156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99800"/>
              </a:lnSpc>
              <a:spcBef>
                <a:spcPts val="10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solidFill>
                  <a:srgbClr val="549E39"/>
                </a:solidFill>
                <a:latin typeface="宋体"/>
                <a:cs typeface="宋体"/>
              </a:rPr>
              <a:t>警员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>
                <a:latin typeface="宋体"/>
                <a:cs typeface="宋体"/>
              </a:rPr>
              <a:t>：主要需要满足 警员的日常任务需求，因 此警员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>
                <a:latin typeface="宋体"/>
                <a:cs typeface="宋体"/>
              </a:rPr>
              <a:t>需要提供执行 当日岗位任务、当日警情 等功能。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7809" y="1348739"/>
            <a:ext cx="2633980" cy="4787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268" y="473963"/>
            <a:ext cx="2811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3.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7444"/>
            <a:ext cx="7988300" cy="34442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395"/>
              </a:spcBef>
              <a:buClr>
                <a:srgbClr val="0065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用户对</a:t>
            </a:r>
            <a:r>
              <a:rPr dirty="0" baseline="1089" sz="3825" spc="127" b="1">
                <a:solidFill>
                  <a:srgbClr val="455F51"/>
                </a:solidFill>
                <a:latin typeface="宋体"/>
                <a:cs typeface="宋体"/>
              </a:rPr>
              <a:t>系统行</a:t>
            </a:r>
            <a:r>
              <a:rPr dirty="0" baseline="1089" sz="3825" spc="135" b="1">
                <a:solidFill>
                  <a:srgbClr val="455F51"/>
                </a:solidFill>
                <a:latin typeface="宋体"/>
                <a:cs typeface="宋体"/>
              </a:rPr>
              <a:t>为</a:t>
            </a:r>
            <a:r>
              <a:rPr dirty="0" sz="2600">
                <a:latin typeface="宋体"/>
                <a:cs typeface="宋体"/>
              </a:rPr>
              <a:t>的期望，一系列的系统行为联系在一 起可以帮助用户完成任务，满足业务需求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53C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marR="31115" indent="-342900">
              <a:lnSpc>
                <a:spcPts val="3000"/>
              </a:lnSpc>
              <a:buClr>
                <a:srgbClr val="0065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系统需求可以直接映射为系统行为，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定义了系统中需 要实现的功能，描述了开发人员需要实现什么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53C"/>
              </a:buClr>
              <a:buFont typeface="Wingdings"/>
              <a:buChar char=""/>
            </a:pPr>
            <a:endParaRPr sz="2300">
              <a:latin typeface="宋体"/>
              <a:cs typeface="宋体"/>
            </a:endParaRPr>
          </a:p>
          <a:p>
            <a:pPr marL="355600" indent="-342900">
              <a:lnSpc>
                <a:spcPts val="3115"/>
              </a:lnSpc>
              <a:buClr>
                <a:srgbClr val="0065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系统需求的典型形式</a:t>
            </a:r>
            <a:r>
              <a:rPr dirty="0" sz="2600" spc="-720">
                <a:latin typeface="宋体"/>
                <a:cs typeface="宋体"/>
              </a:rPr>
              <a:t> </a:t>
            </a:r>
            <a:r>
              <a:rPr dirty="0" sz="260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  <a:p>
            <a:pPr lvl="1" marL="755650" indent="-285750">
              <a:lnSpc>
                <a:spcPts val="2635"/>
              </a:lnSpc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“系统可以</a:t>
            </a:r>
            <a:r>
              <a:rPr dirty="0" sz="2200" spc="-5">
                <a:latin typeface="Calibri"/>
                <a:cs typeface="Calibri"/>
              </a:rPr>
              <a:t>xxx</a:t>
            </a:r>
            <a:r>
              <a:rPr dirty="0" sz="2200" spc="-5">
                <a:latin typeface="宋体"/>
                <a:cs typeface="宋体"/>
              </a:rPr>
              <a:t>”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“在</a:t>
            </a:r>
            <a:r>
              <a:rPr dirty="0" sz="2200" spc="-5">
                <a:latin typeface="Calibri"/>
                <a:cs typeface="Calibri"/>
              </a:rPr>
              <a:t>xx</a:t>
            </a:r>
            <a:r>
              <a:rPr dirty="0" sz="2200">
                <a:latin typeface="宋体"/>
                <a:cs typeface="宋体"/>
              </a:rPr>
              <a:t>用户提出</a:t>
            </a:r>
            <a:r>
              <a:rPr dirty="0" sz="2200" spc="-5">
                <a:latin typeface="Calibri"/>
                <a:cs typeface="Calibri"/>
              </a:rPr>
              <a:t>xx</a:t>
            </a:r>
            <a:r>
              <a:rPr dirty="0" sz="2200">
                <a:latin typeface="宋体"/>
                <a:cs typeface="宋体"/>
              </a:rPr>
              <a:t>请求时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>
                <a:latin typeface="宋体"/>
                <a:cs typeface="宋体"/>
              </a:rPr>
              <a:t>系统应该</a:t>
            </a:r>
            <a:r>
              <a:rPr dirty="0" sz="2200" spc="-5">
                <a:latin typeface="Calibri"/>
                <a:cs typeface="Calibri"/>
              </a:rPr>
              <a:t>xxx</a:t>
            </a:r>
            <a:r>
              <a:rPr dirty="0" sz="2200" spc="-5">
                <a:latin typeface="宋体"/>
                <a:cs typeface="宋体"/>
              </a:rPr>
              <a:t>”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268" y="473963"/>
            <a:ext cx="2811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3.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系统需求</a:t>
            </a:r>
          </a:p>
        </p:txBody>
      </p:sp>
      <p:sp>
        <p:nvSpPr>
          <p:cNvPr id="3" name="object 3"/>
          <p:cNvSpPr/>
          <p:nvPr/>
        </p:nvSpPr>
        <p:spPr>
          <a:xfrm>
            <a:off x="4194047" y="3828288"/>
            <a:ext cx="3496055" cy="633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516749"/>
            <a:ext cx="8032750" cy="306959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Clr>
                <a:srgbClr val="0065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将</a:t>
            </a:r>
            <a:r>
              <a:rPr dirty="0" baseline="1089" sz="3825" spc="127" b="1">
                <a:solidFill>
                  <a:srgbClr val="455F51"/>
                </a:solidFill>
                <a:latin typeface="宋体"/>
                <a:cs typeface="宋体"/>
              </a:rPr>
              <a:t>用户需</a:t>
            </a:r>
            <a:r>
              <a:rPr dirty="0" baseline="1089" sz="3825" spc="135" b="1">
                <a:solidFill>
                  <a:srgbClr val="455F51"/>
                </a:solidFill>
                <a:latin typeface="宋体"/>
                <a:cs typeface="宋体"/>
              </a:rPr>
              <a:t>求</a:t>
            </a:r>
            <a:r>
              <a:rPr dirty="0" sz="2600">
                <a:latin typeface="宋体"/>
                <a:cs typeface="宋体"/>
              </a:rPr>
              <a:t>转化为</a:t>
            </a:r>
            <a:r>
              <a:rPr dirty="0" baseline="1089" sz="3825" spc="127" b="1">
                <a:solidFill>
                  <a:srgbClr val="455F51"/>
                </a:solidFill>
                <a:latin typeface="宋体"/>
                <a:cs typeface="宋体"/>
              </a:rPr>
              <a:t>系统需</a:t>
            </a:r>
            <a:r>
              <a:rPr dirty="0" baseline="1089" sz="3825" spc="135" b="1">
                <a:solidFill>
                  <a:srgbClr val="455F51"/>
                </a:solidFill>
                <a:latin typeface="宋体"/>
                <a:cs typeface="宋体"/>
              </a:rPr>
              <a:t>求</a:t>
            </a:r>
            <a:r>
              <a:rPr dirty="0" sz="2600">
                <a:latin typeface="宋体"/>
                <a:cs typeface="宋体"/>
              </a:rPr>
              <a:t>的过程是一个复杂的过程</a:t>
            </a:r>
            <a:endParaRPr sz="2600">
              <a:latin typeface="宋体"/>
              <a:cs typeface="宋体"/>
            </a:endParaRPr>
          </a:p>
          <a:p>
            <a:pPr algn="just" lvl="1" marL="755650" marR="5080" indent="-285750">
              <a:lnSpc>
                <a:spcPts val="2500"/>
              </a:lnSpc>
              <a:spcBef>
                <a:spcPts val="89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首先需要分析</a:t>
            </a:r>
            <a:r>
              <a:rPr dirty="0" sz="2200">
                <a:solidFill>
                  <a:srgbClr val="549E39"/>
                </a:solidFill>
                <a:latin typeface="宋体"/>
                <a:cs typeface="宋体"/>
              </a:rPr>
              <a:t>问题领域</a:t>
            </a:r>
            <a:r>
              <a:rPr dirty="0" sz="2200">
                <a:latin typeface="宋体"/>
                <a:cs typeface="宋体"/>
              </a:rPr>
              <a:t>及其</a:t>
            </a:r>
            <a:r>
              <a:rPr dirty="0" sz="2200">
                <a:solidFill>
                  <a:srgbClr val="549E39"/>
                </a:solidFill>
                <a:latin typeface="宋体"/>
                <a:cs typeface="宋体"/>
              </a:rPr>
              <a:t>特性</a:t>
            </a:r>
            <a:r>
              <a:rPr dirty="0" sz="2200">
                <a:latin typeface="宋体"/>
                <a:cs typeface="宋体"/>
              </a:rPr>
              <a:t>，从中发现问题域和计算机 系统的共享知识，建立系统的知识模型；</a:t>
            </a:r>
            <a:endParaRPr sz="2200">
              <a:latin typeface="宋体"/>
              <a:cs typeface="宋体"/>
            </a:endParaRPr>
          </a:p>
          <a:p>
            <a:pPr algn="just" lvl="1" marL="755650" marR="5080" indent="-285750">
              <a:lnSpc>
                <a:spcPct val="96400"/>
              </a:lnSpc>
              <a:spcBef>
                <a:spcPts val="70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然后将</a:t>
            </a:r>
            <a:r>
              <a:rPr dirty="0" sz="2200">
                <a:solidFill>
                  <a:srgbClr val="549E39"/>
                </a:solidFill>
                <a:latin typeface="宋体"/>
                <a:cs typeface="宋体"/>
              </a:rPr>
              <a:t>用户需求</a:t>
            </a:r>
            <a:r>
              <a:rPr dirty="0" sz="2200">
                <a:latin typeface="宋体"/>
                <a:cs typeface="宋体"/>
              </a:rPr>
              <a:t>部署到系统模型当中，即定义系列的系统行 为，让它们联合起来实现用户需求，每一个系统行为即为一 个系统需求。</a:t>
            </a:r>
            <a:endParaRPr sz="2200">
              <a:latin typeface="宋体"/>
              <a:cs typeface="宋体"/>
            </a:endParaRPr>
          </a:p>
          <a:p>
            <a:pPr algn="just" lvl="1" marL="755650" marR="231775" indent="-285750">
              <a:lnSpc>
                <a:spcPts val="2400"/>
              </a:lnSpc>
              <a:spcBef>
                <a:spcPts val="104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该过程就是需求工程当中</a:t>
            </a:r>
            <a:r>
              <a:rPr dirty="0" baseline="1291" sz="3225" spc="112" b="1">
                <a:solidFill>
                  <a:srgbClr val="FF0000"/>
                </a:solidFill>
                <a:latin typeface="宋体"/>
                <a:cs typeface="宋体"/>
              </a:rPr>
              <a:t>最为重要的需求分析活动</a:t>
            </a:r>
            <a:r>
              <a:rPr dirty="0" sz="2200">
                <a:latin typeface="宋体"/>
                <a:cs typeface="宋体"/>
              </a:rPr>
              <a:t>，又称 建模与分析活动。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89140" y="6467071"/>
            <a:ext cx="16827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5"/>
              </a:lnSpc>
            </a:pPr>
            <a:r>
              <a:rPr dirty="0" sz="1200" spc="-5">
                <a:latin typeface="Garamond"/>
                <a:cs typeface="Garamond"/>
              </a:rPr>
              <a:t>24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8261350" cy="2458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u="heavy" sz="3100" spc="14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示例</a:t>
            </a:r>
            <a:r>
              <a:rPr dirty="0" u="heavy" sz="32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heavy" sz="3100" spc="145" b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文字处理系统需求</a:t>
            </a:r>
            <a:endParaRPr sz="3100">
              <a:latin typeface="宋体"/>
              <a:cs typeface="宋体"/>
            </a:endParaRPr>
          </a:p>
          <a:p>
            <a:pPr marL="565150">
              <a:lnSpc>
                <a:spcPts val="3829"/>
              </a:lnSpc>
            </a:pPr>
            <a:r>
              <a:rPr dirty="0" sz="3200">
                <a:latin typeface="宋体"/>
                <a:cs typeface="宋体"/>
              </a:rPr>
              <a:t>查找文档中的单词，并高亮度地显示出错</a:t>
            </a:r>
            <a:endParaRPr sz="3200">
              <a:latin typeface="宋体"/>
              <a:cs typeface="宋体"/>
            </a:endParaRPr>
          </a:p>
          <a:p>
            <a:pPr marL="527050" marR="5080">
              <a:lnSpc>
                <a:spcPct val="96600"/>
              </a:lnSpc>
              <a:spcBef>
                <a:spcPts val="370"/>
              </a:spcBef>
            </a:pPr>
            <a:r>
              <a:rPr dirty="0" sz="3200">
                <a:latin typeface="宋体"/>
                <a:cs typeface="宋体"/>
              </a:rPr>
              <a:t>的单词。用对话框显示可供选择的单词表。 实现整个文档范围内的替换。</a:t>
            </a:r>
            <a:r>
              <a:rPr dirty="0" sz="3200" spc="-900">
                <a:latin typeface="宋体"/>
                <a:cs typeface="宋体"/>
              </a:rPr>
              <a:t> </a:t>
            </a:r>
            <a:r>
              <a:rPr dirty="0" sz="3200">
                <a:latin typeface="宋体"/>
                <a:cs typeface="宋体"/>
              </a:rPr>
              <a:t>（从开发人 员角度的描述）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8029575" cy="3865879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265"/>
              </a:spcBef>
            </a:pPr>
            <a:r>
              <a:rPr dirty="0" sz="2800">
                <a:latin typeface="宋体"/>
                <a:cs typeface="宋体"/>
              </a:rPr>
              <a:t>北京交管局系统实例中，核心的系统需求有以下</a:t>
            </a:r>
            <a:r>
              <a:rPr dirty="0" sz="2800" spc="5">
                <a:latin typeface="Calibri"/>
                <a:cs typeface="Calibri"/>
              </a:rPr>
              <a:t>7</a:t>
            </a:r>
            <a:r>
              <a:rPr dirty="0" sz="2800">
                <a:latin typeface="宋体"/>
                <a:cs typeface="宋体"/>
              </a:rPr>
              <a:t>个 部分：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ts val="3310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基础岗位设置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ts val="3335"/>
              </a:lnSpc>
              <a:spcBef>
                <a:spcPts val="2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岗位审批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ts val="3335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警情级别发布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ts val="3325"/>
              </a:lnSpc>
              <a:spcBef>
                <a:spcPts val="5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警情分配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ts val="3325"/>
              </a:lnSpc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岗位分配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4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大屏展示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系统管理等支撑功能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marL="295275" indent="-271780">
              <a:lnSpc>
                <a:spcPct val="100000"/>
              </a:lnSpc>
              <a:spcBef>
                <a:spcPts val="955"/>
              </a:spcBef>
              <a:buSzPct val="96428"/>
              <a:buFont typeface="Calibri"/>
              <a:buAutoNum type="arabicPeriod"/>
              <a:tabLst>
                <a:tab pos="295910" algn="l"/>
              </a:tabLst>
            </a:pPr>
            <a:r>
              <a:rPr dirty="0"/>
              <a:t>基础岗位设置：</a:t>
            </a:r>
          </a:p>
          <a:p>
            <a:pPr lvl="1" marL="767080" marR="309880" indent="-285750">
              <a:lnSpc>
                <a:spcPts val="2690"/>
              </a:lnSpc>
              <a:spcBef>
                <a:spcPts val="9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66445" algn="l"/>
                <a:tab pos="767080" algn="l"/>
              </a:tabLst>
            </a:pPr>
            <a:r>
              <a:rPr dirty="0" sz="2400">
                <a:latin typeface="宋体"/>
                <a:cs typeface="宋体"/>
              </a:rPr>
              <a:t>基础岗位设置功能，由大队用户使用。大队对管辖范 围内的各警区，设置基础岗位。</a:t>
            </a:r>
            <a:endParaRPr sz="2400">
              <a:latin typeface="宋体"/>
              <a:cs typeface="宋体"/>
            </a:endParaRPr>
          </a:p>
          <a:p>
            <a:pPr lvl="1" marL="767080" marR="5080" indent="-285750">
              <a:lnSpc>
                <a:spcPts val="2710"/>
              </a:lnSpc>
              <a:spcBef>
                <a:spcPts val="89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66445" algn="l"/>
                <a:tab pos="767080" algn="l"/>
              </a:tabLst>
            </a:pPr>
            <a:r>
              <a:rPr dirty="0" sz="2400">
                <a:latin typeface="宋体"/>
                <a:cs typeface="宋体"/>
              </a:rPr>
              <a:t>上级单位（支队、局）能够看到大队设置的基础岗位， 设为管控。</a:t>
            </a:r>
            <a:endParaRPr sz="2400">
              <a:latin typeface="宋体"/>
              <a:cs typeface="宋体"/>
            </a:endParaRPr>
          </a:p>
          <a:p>
            <a:pPr lvl="1" marL="767080" marR="309880" indent="-285750">
              <a:lnSpc>
                <a:spcPts val="2690"/>
              </a:lnSpc>
              <a:spcBef>
                <a:spcPts val="10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66445" algn="l"/>
                <a:tab pos="767080" algn="l"/>
              </a:tabLst>
            </a:pPr>
            <a:r>
              <a:rPr dirty="0" sz="2400">
                <a:latin typeface="宋体"/>
                <a:cs typeface="宋体"/>
              </a:rPr>
              <a:t>基础岗位被管控后，后续的修改、撤销等，都需要相 应管控级别进行审批。</a:t>
            </a:r>
            <a:endParaRPr sz="2400">
              <a:latin typeface="宋体"/>
              <a:cs typeface="宋体"/>
            </a:endParaRPr>
          </a:p>
          <a:p>
            <a:pPr lvl="1" marL="767080" marR="123825" indent="-285750">
              <a:lnSpc>
                <a:spcPct val="1008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66445" algn="l"/>
                <a:tab pos="767080" algn="l"/>
              </a:tabLst>
            </a:pPr>
            <a:r>
              <a:rPr dirty="0" sz="2400">
                <a:latin typeface="宋体"/>
                <a:cs typeface="宋体"/>
              </a:rPr>
              <a:t>基础岗位设置后，还作用于警长</a:t>
            </a:r>
            <a:r>
              <a:rPr dirty="0" sz="2400" spc="-5">
                <a:latin typeface="Calibri"/>
                <a:cs typeface="Calibri"/>
              </a:rPr>
              <a:t>APP</a:t>
            </a:r>
            <a:r>
              <a:rPr dirty="0" sz="2400">
                <a:latin typeface="宋体"/>
                <a:cs typeface="宋体"/>
              </a:rPr>
              <a:t>，用于进行每日岗 位任务安排。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4997"/>
            <a:ext cx="7473950" cy="228409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705"/>
              </a:spcBef>
              <a:buSzPct val="96428"/>
              <a:buFont typeface="Calibri"/>
              <a:buAutoNum type="arabicPeriod" startAt="2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岗位审批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将大队上报的基础岗位，设置为支队控、或局控。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对已经支队控、局控的基础岗位，取消控制。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对支队控、局控的岗位的缺岗报备情况进行审批。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能岗位设置情况，向下级单位发出调整要求。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7825" y="3866515"/>
            <a:ext cx="3392804" cy="2259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8083550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100"/>
              </a:spcBef>
              <a:buSzPct val="96428"/>
              <a:buFont typeface="Calibri"/>
              <a:buAutoNum type="arabicPeriod" startAt="3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警情级别发布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ts val="2785"/>
              </a:lnSpc>
              <a:spcBef>
                <a:spcPts val="13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警情级别发布是由上至下的发布方式，由局级发布后，</a:t>
            </a:r>
            <a:endParaRPr sz="2400">
              <a:latin typeface="宋体"/>
              <a:cs typeface="宋体"/>
            </a:endParaRPr>
          </a:p>
          <a:p>
            <a:pPr marL="755650">
              <a:lnSpc>
                <a:spcPts val="2785"/>
              </a:lnSpc>
            </a:pPr>
            <a:r>
              <a:rPr dirty="0" sz="2400">
                <a:latin typeface="宋体"/>
                <a:cs typeface="宋体"/>
              </a:rPr>
              <a:t>支队、大队只可逐级加严，不可降低。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6775" y="2893060"/>
            <a:ext cx="4871084" cy="3298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4997"/>
            <a:ext cx="8241030" cy="366776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705"/>
              </a:spcBef>
              <a:buSzPct val="96428"/>
              <a:buFont typeface="Calibri"/>
              <a:buAutoNum type="arabicPeriod" startAt="4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警情分配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ct val="108300"/>
              </a:lnSpc>
              <a:spcBef>
                <a:spcPts val="28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从</a:t>
            </a:r>
            <a:r>
              <a:rPr dirty="0" sz="2400" spc="-5">
                <a:latin typeface="Calibri"/>
                <a:cs typeface="Calibri"/>
              </a:rPr>
              <a:t>122</a:t>
            </a:r>
            <a:r>
              <a:rPr dirty="0" sz="2400">
                <a:latin typeface="宋体"/>
                <a:cs typeface="宋体"/>
              </a:rPr>
              <a:t>警情系统中同步的警情，分为事故和反映两大类。 反映类主要在大队指挥中心处理，事故要分配给警员</a:t>
            </a:r>
            <a:endParaRPr sz="2400">
              <a:latin typeface="宋体"/>
              <a:cs typeface="宋体"/>
            </a:endParaRPr>
          </a:p>
          <a:p>
            <a:pPr marL="755650">
              <a:lnSpc>
                <a:spcPts val="2795"/>
              </a:lnSpc>
            </a:pPr>
            <a:r>
              <a:rPr dirty="0" sz="2400">
                <a:latin typeface="宋体"/>
                <a:cs typeface="宋体"/>
              </a:rPr>
              <a:t>到现场处理。有可能确定了处理事故的警员、或者没</a:t>
            </a:r>
            <a:endParaRPr sz="2400">
              <a:latin typeface="宋体"/>
              <a:cs typeface="宋体"/>
            </a:endParaRPr>
          </a:p>
          <a:p>
            <a:pPr marL="755650">
              <a:lnSpc>
                <a:spcPts val="2795"/>
              </a:lnSpc>
            </a:pPr>
            <a:r>
              <a:rPr dirty="0" sz="2400">
                <a:latin typeface="宋体"/>
                <a:cs typeface="宋体"/>
              </a:rPr>
              <a:t>有确定。</a:t>
            </a:r>
            <a:endParaRPr sz="2400">
              <a:latin typeface="宋体"/>
              <a:cs typeface="宋体"/>
            </a:endParaRPr>
          </a:p>
          <a:p>
            <a:pPr lvl="1" marL="755650" marR="281305" indent="-285750">
              <a:lnSpc>
                <a:spcPct val="97100"/>
              </a:lnSpc>
              <a:spcBef>
                <a:spcPts val="80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同步过来的事故，如果已经分配了警员的，自动推送 到警员</a:t>
            </a:r>
            <a:r>
              <a:rPr dirty="0" sz="2400" spc="-5">
                <a:latin typeface="Calibri"/>
                <a:cs typeface="Calibri"/>
              </a:rPr>
              <a:t>APP</a:t>
            </a:r>
            <a:r>
              <a:rPr dirty="0" sz="2400">
                <a:latin typeface="宋体"/>
                <a:cs typeface="宋体"/>
              </a:rPr>
              <a:t>中。如果没有分配的，可以在这里分配给警 员。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可以查看警员对事故的处理情况。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993"/>
            <a:ext cx="7778750" cy="26847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955"/>
              </a:spcBef>
              <a:buSzPct val="96428"/>
              <a:buFont typeface="Calibri"/>
              <a:buAutoNum type="arabicPeriod" startAt="5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岗位分配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ts val="2690"/>
              </a:lnSpc>
              <a:spcBef>
                <a:spcPts val="9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按指定日期查看当日的岗位情况。包括：警情级别、 岗位性质统计、警情级别岗位统计。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结合地图技术展现岗位分配情况。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查看缺岗报备情况。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对大队、支队、局级自已的岗位，进行排岗。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7539" y="4217034"/>
            <a:ext cx="2788285" cy="201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043"/>
            <a:ext cx="7883525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100"/>
              </a:spcBef>
              <a:buSzPct val="96428"/>
              <a:buFont typeface="Calibri"/>
              <a:buAutoNum type="arabicPeriod" startAt="6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大屏展示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ts val="278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结合大数据平台实时处理技术、互联网地图</a:t>
            </a:r>
            <a:r>
              <a:rPr dirty="0" sz="2400" spc="-5">
                <a:latin typeface="Calibri"/>
                <a:cs typeface="Calibri"/>
              </a:rPr>
              <a:t>AP</a:t>
            </a:r>
            <a:r>
              <a:rPr dirty="0" sz="2400" spc="-10">
                <a:latin typeface="Calibri"/>
                <a:cs typeface="Calibri"/>
              </a:rPr>
              <a:t>I</a:t>
            </a:r>
            <a:r>
              <a:rPr dirty="0" sz="2400">
                <a:latin typeface="宋体"/>
                <a:cs typeface="宋体"/>
              </a:rPr>
              <a:t>、前端 图表技术等，进行大屏展示页面的设计与开发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97100" y="3121025"/>
            <a:ext cx="4749800" cy="2796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北京交管局实例：系统需求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993"/>
            <a:ext cx="7778750" cy="180721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83845" indent="-271780">
              <a:lnSpc>
                <a:spcPct val="100000"/>
              </a:lnSpc>
              <a:spcBef>
                <a:spcPts val="955"/>
              </a:spcBef>
              <a:buSzPct val="96428"/>
              <a:buFont typeface="Calibri"/>
              <a:buAutoNum type="arabicPeriod" startAt="7"/>
              <a:tabLst>
                <a:tab pos="284480" algn="l"/>
              </a:tabLst>
            </a:pPr>
            <a:r>
              <a:rPr dirty="0" sz="2800">
                <a:latin typeface="宋体"/>
                <a:cs typeface="宋体"/>
              </a:rPr>
              <a:t>系统管理等支撑功能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ts val="2690"/>
              </a:lnSpc>
              <a:spcBef>
                <a:spcPts val="9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系统管理功能，包括基础的部门管理、角色与权限管 理、用户管理等。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还包括大屏设置、顶部任务提醒等功能。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6529" y="3482340"/>
            <a:ext cx="56114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354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Q</a:t>
            </a:r>
            <a:r>
              <a:rPr dirty="0" sz="4400" spc="-720" b="1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&amp;</a:t>
            </a:r>
            <a:r>
              <a:rPr dirty="0" sz="4400" spc="-715" b="1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A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3829" y="2666160"/>
            <a:ext cx="5636895" cy="2383155"/>
          </a:xfrm>
          <a:custGeom>
            <a:avLst/>
            <a:gdLst/>
            <a:ahLst/>
            <a:cxnLst/>
            <a:rect l="l" t="t" r="r" b="b"/>
            <a:pathLst>
              <a:path w="5636895" h="2383154">
                <a:moveTo>
                  <a:pt x="0" y="0"/>
                </a:moveTo>
                <a:lnTo>
                  <a:pt x="5636342" y="0"/>
                </a:lnTo>
                <a:lnTo>
                  <a:pt x="5636342" y="2382838"/>
                </a:lnTo>
                <a:lnTo>
                  <a:pt x="0" y="238283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7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0416" y="2047035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0" y="0"/>
                </a:moveTo>
                <a:lnTo>
                  <a:pt x="769937" y="0"/>
                </a:lnTo>
                <a:lnTo>
                  <a:pt x="769937" y="769937"/>
                </a:lnTo>
                <a:lnTo>
                  <a:pt x="0" y="769937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5791" y="1870823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799" y="0"/>
                </a:lnTo>
                <a:lnTo>
                  <a:pt x="558799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6653" y="244391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67140" y="4951366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4" h="770254">
                <a:moveTo>
                  <a:pt x="0" y="0"/>
                </a:moveTo>
                <a:lnTo>
                  <a:pt x="769937" y="0"/>
                </a:lnTo>
                <a:lnTo>
                  <a:pt x="769937" y="769938"/>
                </a:lnTo>
                <a:lnTo>
                  <a:pt x="0" y="769938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2515" y="4775154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43378" y="5348241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78371" y="744588"/>
            <a:ext cx="1079999" cy="1083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413115" y="62326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898989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2024-04-25T07:37:08Z</dcterms:created>
  <dcterms:modified xsi:type="dcterms:W3CDTF">2024-04-25T07:37:08Z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2024-03-05T00:00:00Z</vt:filetime>
  </property>
  <property fmtid="{D5CDD505-2E9C-101B-9397-08002B2CF9AE}" pid="3" name="LastSaved">
    <vt:filetime>2024-04-25T00:00:00Z</vt:filetime>
  </property>
</Properties>
</file>
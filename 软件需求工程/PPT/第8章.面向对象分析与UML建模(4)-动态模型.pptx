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9359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23"/>
                </a:lnTo>
              </a:path>
            </a:pathLst>
          </a:custGeom>
          <a:ln w="127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39495" y="1951182"/>
            <a:ext cx="5545836" cy="1527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634740" y="3500628"/>
            <a:ext cx="4538471" cy="33146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33929" y="216788"/>
            <a:ext cx="467614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9359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23"/>
                </a:lnTo>
              </a:path>
            </a:pathLst>
          </a:custGeom>
          <a:ln w="127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08225" y="48895"/>
            <a:ext cx="5527548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15249" y="1717548"/>
            <a:ext cx="6048375" cy="447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107" y="6465723"/>
            <a:ext cx="2239645" cy="24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55152" y="6441350"/>
            <a:ext cx="178434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</a:t>
            </a:r>
            <a:r>
              <a:rPr spc="5" dirty="0"/>
              <a:t>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</a:t>
            </a:r>
            <a:r>
              <a:rPr spc="-5" dirty="0"/>
              <a:t>模</a:t>
            </a:r>
            <a:r>
              <a:rPr spc="-5" dirty="0">
                <a:latin typeface="Calibri"/>
                <a:cs typeface="Calibri"/>
              </a:rPr>
              <a:t>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107" y="665603"/>
            <a:ext cx="3528060" cy="602869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632460" indent="-343535">
              <a:lnSpc>
                <a:spcPct val="100000"/>
              </a:lnSpc>
              <a:spcBef>
                <a:spcPts val="6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latin typeface="Times New Roman"/>
                <a:cs typeface="Times New Roman"/>
              </a:rPr>
              <a:t>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动态模型</a:t>
            </a:r>
            <a:endParaRPr sz="2400">
              <a:latin typeface="宋体"/>
              <a:cs typeface="宋体"/>
            </a:endParaRPr>
          </a:p>
          <a:p>
            <a:pPr marL="632460" indent="-343535">
              <a:lnSpc>
                <a:spcPct val="100000"/>
              </a:lnSpc>
              <a:spcBef>
                <a:spcPts val="58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latin typeface="Times New Roman"/>
                <a:cs typeface="Times New Roman"/>
              </a:rPr>
              <a:t>2.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宋体"/>
                <a:cs typeface="宋体"/>
              </a:rPr>
              <a:t>顺序图</a:t>
            </a:r>
            <a:endParaRPr sz="24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2.1.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顺序图概念与表示</a:t>
            </a:r>
            <a:endParaRPr sz="20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2.2.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顺序图的建立</a:t>
            </a:r>
            <a:endParaRPr sz="2000">
              <a:latin typeface="宋体"/>
              <a:cs typeface="宋体"/>
            </a:endParaRPr>
          </a:p>
          <a:p>
            <a:pPr marL="632460" indent="-343535">
              <a:lnSpc>
                <a:spcPct val="100000"/>
              </a:lnSpc>
              <a:spcBef>
                <a:spcPts val="5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latin typeface="Times New Roman"/>
                <a:cs typeface="Times New Roman"/>
              </a:rPr>
              <a:t>3.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协作图</a:t>
            </a:r>
            <a:endParaRPr sz="24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3.1.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协作图概念与表示</a:t>
            </a:r>
            <a:endParaRPr sz="20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3.2.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协作图的用途</a:t>
            </a:r>
            <a:endParaRPr sz="2000">
              <a:latin typeface="宋体"/>
              <a:cs typeface="宋体"/>
            </a:endParaRPr>
          </a:p>
          <a:p>
            <a:pPr marL="632460" indent="-343535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latin typeface="Times New Roman"/>
                <a:cs typeface="Times New Roman"/>
              </a:rPr>
              <a:t>4.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状态图</a:t>
            </a:r>
            <a:endParaRPr sz="24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4.1.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状态图概念与表示</a:t>
            </a:r>
            <a:endParaRPr sz="20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4.2.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状态图的建立</a:t>
            </a:r>
            <a:endParaRPr sz="2000">
              <a:latin typeface="宋体"/>
              <a:cs typeface="宋体"/>
            </a:endParaRPr>
          </a:p>
          <a:p>
            <a:pPr marL="632460" indent="-343535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latin typeface="Times New Roman"/>
                <a:cs typeface="Times New Roman"/>
              </a:rPr>
              <a:t>5.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活动图</a:t>
            </a:r>
            <a:endParaRPr sz="24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5.1.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活动图概念与表示</a:t>
            </a:r>
            <a:endParaRPr sz="20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5.2.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活动图应用</a:t>
            </a:r>
            <a:endParaRPr sz="2000">
              <a:latin typeface="宋体"/>
              <a:cs typeface="宋体"/>
            </a:endParaRPr>
          </a:p>
          <a:p>
            <a:pPr marL="632460" indent="-343535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latin typeface="Times New Roman"/>
                <a:cs typeface="Times New Roman"/>
              </a:rPr>
              <a:t>6.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建立动态模型示例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00" spc="-5" dirty="0">
                <a:solidFill>
                  <a:srgbClr val="00663B"/>
                </a:solidFill>
                <a:latin typeface="华文行楷"/>
                <a:cs typeface="华文行楷"/>
              </a:rPr>
              <a:t>软件需求工程</a:t>
            </a:r>
            <a:r>
              <a:rPr sz="1600" spc="-20" dirty="0">
                <a:solidFill>
                  <a:srgbClr val="00663B"/>
                </a:solidFill>
                <a:latin typeface="华文行楷"/>
                <a:cs typeface="华文行楷"/>
              </a:rPr>
              <a:t>与</a:t>
            </a:r>
            <a:r>
              <a:rPr sz="1600" spc="-5" dirty="0">
                <a:solidFill>
                  <a:srgbClr val="00663B"/>
                </a:solidFill>
                <a:latin typeface="Calibri"/>
                <a:cs typeface="Calibri"/>
              </a:rPr>
              <a:t>UML</a:t>
            </a:r>
            <a:r>
              <a:rPr sz="1600" spc="-5" dirty="0">
                <a:solidFill>
                  <a:srgbClr val="00663B"/>
                </a:solidFill>
                <a:latin typeface="华文行楷"/>
                <a:cs typeface="华文行楷"/>
              </a:rPr>
              <a:t>建模</a:t>
            </a:r>
            <a:endParaRPr sz="1600">
              <a:latin typeface="华文行楷"/>
              <a:cs typeface="华文行楷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107" y="6425590"/>
            <a:ext cx="2239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663B"/>
                </a:solidFill>
                <a:latin typeface="华文行楷"/>
                <a:cs typeface="华文行楷"/>
              </a:rPr>
              <a:t>软件需求工程</a:t>
            </a:r>
            <a:r>
              <a:rPr sz="1600" spc="-20" dirty="0">
                <a:solidFill>
                  <a:srgbClr val="00663B"/>
                </a:solidFill>
                <a:latin typeface="华文行楷"/>
                <a:cs typeface="华文行楷"/>
              </a:rPr>
              <a:t>与</a:t>
            </a:r>
            <a:r>
              <a:rPr sz="1600" spc="-5" dirty="0">
                <a:solidFill>
                  <a:srgbClr val="00663B"/>
                </a:solidFill>
                <a:latin typeface="Calibri"/>
                <a:cs typeface="Calibri"/>
              </a:rPr>
              <a:t>UM</a:t>
            </a:r>
            <a:r>
              <a:rPr sz="1600" spc="-10" dirty="0">
                <a:solidFill>
                  <a:srgbClr val="00663B"/>
                </a:solidFill>
                <a:latin typeface="Calibri"/>
                <a:cs typeface="Calibri"/>
              </a:rPr>
              <a:t>L</a:t>
            </a:r>
            <a:r>
              <a:rPr sz="1600" spc="-5" dirty="0">
                <a:solidFill>
                  <a:srgbClr val="00663B"/>
                </a:solidFill>
                <a:latin typeface="华文行楷"/>
                <a:cs typeface="华文行楷"/>
              </a:rPr>
              <a:t>建模</a:t>
            </a:r>
            <a:endParaRPr sz="1600">
              <a:latin typeface="华文行楷"/>
              <a:cs typeface="华文行楷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0552" y="6456679"/>
            <a:ext cx="127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Black"/>
                <a:cs typeface="Arial Black"/>
              </a:rPr>
              <a:t>3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58770" y="2706370"/>
            <a:ext cx="5208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协作</a:t>
            </a:r>
            <a:r>
              <a:rPr sz="2400" spc="-5" dirty="0">
                <a:latin typeface="宋体"/>
                <a:cs typeface="宋体"/>
              </a:rPr>
              <a:t>图</a:t>
            </a:r>
            <a:r>
              <a:rPr sz="2400" dirty="0">
                <a:latin typeface="Times New Roman"/>
                <a:cs typeface="Times New Roman"/>
              </a:rPr>
              <a:t>---</a:t>
            </a:r>
            <a:r>
              <a:rPr sz="2400" dirty="0">
                <a:latin typeface="宋体"/>
                <a:cs typeface="宋体"/>
              </a:rPr>
              <a:t>强调对象收发消息的组织结构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55748" y="2564892"/>
            <a:ext cx="152400" cy="685800"/>
          </a:xfrm>
          <a:custGeom>
            <a:avLst/>
            <a:gdLst/>
            <a:ahLst/>
            <a:cxnLst/>
            <a:rect l="l" t="t" r="r" b="b"/>
            <a:pathLst>
              <a:path w="152400" h="685800">
                <a:moveTo>
                  <a:pt x="152400" y="685800"/>
                </a:moveTo>
                <a:lnTo>
                  <a:pt x="122759" y="681317"/>
                </a:lnTo>
                <a:lnTo>
                  <a:pt x="98536" y="669083"/>
                </a:lnTo>
                <a:lnTo>
                  <a:pt x="82194" y="650920"/>
                </a:lnTo>
                <a:lnTo>
                  <a:pt x="76200" y="628650"/>
                </a:lnTo>
                <a:lnTo>
                  <a:pt x="76200" y="400050"/>
                </a:lnTo>
                <a:lnTo>
                  <a:pt x="70205" y="377779"/>
                </a:lnTo>
                <a:lnTo>
                  <a:pt x="53863" y="359616"/>
                </a:lnTo>
                <a:lnTo>
                  <a:pt x="29640" y="347382"/>
                </a:lnTo>
                <a:lnTo>
                  <a:pt x="0" y="342900"/>
                </a:lnTo>
                <a:lnTo>
                  <a:pt x="29640" y="338417"/>
                </a:lnTo>
                <a:lnTo>
                  <a:pt x="53863" y="326183"/>
                </a:lnTo>
                <a:lnTo>
                  <a:pt x="70205" y="308020"/>
                </a:lnTo>
                <a:lnTo>
                  <a:pt x="76200" y="285750"/>
                </a:lnTo>
                <a:lnTo>
                  <a:pt x="76200" y="57150"/>
                </a:lnTo>
                <a:lnTo>
                  <a:pt x="82194" y="34879"/>
                </a:lnTo>
                <a:lnTo>
                  <a:pt x="98536" y="16716"/>
                </a:lnTo>
                <a:lnTo>
                  <a:pt x="122759" y="4482"/>
                </a:lnTo>
                <a:lnTo>
                  <a:pt x="152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7217" y="911860"/>
            <a:ext cx="7950200" cy="1783714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400" dirty="0">
                <a:latin typeface="宋体"/>
                <a:cs typeface="宋体"/>
              </a:rPr>
              <a:t>交互图</a:t>
            </a:r>
            <a:r>
              <a:rPr sz="1800" spc="-5" dirty="0">
                <a:latin typeface="Arial"/>
                <a:cs typeface="Arial"/>
              </a:rPr>
              <a:t>Interaction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760"/>
              </a:lnSpc>
              <a:spcBef>
                <a:spcPts val="1635"/>
              </a:spcBef>
            </a:pPr>
            <a:r>
              <a:rPr sz="2400" dirty="0">
                <a:latin typeface="宋体"/>
                <a:cs typeface="宋体"/>
              </a:rPr>
              <a:t>描述对象间以及对象与参与者间动态交互过程的次序，通常 对应一个用例。</a:t>
            </a:r>
            <a:endParaRPr sz="2400">
              <a:latin typeface="宋体"/>
              <a:cs typeface="宋体"/>
            </a:endParaRPr>
          </a:p>
          <a:p>
            <a:pPr marL="2324100">
              <a:lnSpc>
                <a:spcPts val="2365"/>
              </a:lnSpc>
            </a:pPr>
            <a:r>
              <a:rPr sz="2400" dirty="0">
                <a:latin typeface="宋体"/>
                <a:cs typeface="宋体"/>
              </a:rPr>
              <a:t>顺序</a:t>
            </a:r>
            <a:r>
              <a:rPr sz="2400" spc="-5" dirty="0">
                <a:latin typeface="宋体"/>
                <a:cs typeface="宋体"/>
              </a:rPr>
              <a:t>图</a:t>
            </a:r>
            <a:r>
              <a:rPr sz="2400" dirty="0">
                <a:latin typeface="Times New Roman"/>
                <a:cs typeface="Times New Roman"/>
              </a:rPr>
              <a:t>---</a:t>
            </a:r>
            <a:r>
              <a:rPr sz="2400" dirty="0">
                <a:latin typeface="宋体"/>
                <a:cs typeface="宋体"/>
              </a:rPr>
              <a:t>强调消息交互的时序；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93466" y="147015"/>
            <a:ext cx="2813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Calibri"/>
                <a:cs typeface="Calibri"/>
              </a:rPr>
              <a:t>1.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/>
              <a:t>动态模型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5346" y="2665857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包括：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540" y="3072129"/>
            <a:ext cx="7950200" cy="1546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49275" algn="ctr">
              <a:lnSpc>
                <a:spcPts val="2385"/>
              </a:lnSpc>
              <a:spcBef>
                <a:spcPts val="100"/>
              </a:spcBef>
            </a:pP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Times New Roman"/>
                <a:cs typeface="Times New Roman"/>
              </a:rPr>
              <a:t>UML2.0</a:t>
            </a:r>
            <a:r>
              <a:rPr sz="2400" dirty="0">
                <a:latin typeface="宋体"/>
                <a:cs typeface="宋体"/>
              </a:rPr>
              <a:t>称为通信图）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ts val="2385"/>
              </a:lnSpc>
              <a:tabLst>
                <a:tab pos="2322830" algn="l"/>
              </a:tabLst>
            </a:pPr>
            <a:r>
              <a:rPr sz="2400" spc="-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400" dirty="0">
                <a:latin typeface="宋体"/>
                <a:cs typeface="宋体"/>
              </a:rPr>
              <a:t>状态</a:t>
            </a:r>
            <a:r>
              <a:rPr sz="2400" spc="-5" dirty="0">
                <a:latin typeface="宋体"/>
                <a:cs typeface="宋体"/>
              </a:rPr>
              <a:t>图</a:t>
            </a:r>
            <a:r>
              <a:rPr sz="1800" spc="-5" dirty="0">
                <a:latin typeface="Arial"/>
                <a:cs typeface="Arial"/>
              </a:rPr>
              <a:t>Statechart	Diagram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760"/>
              </a:lnSpc>
              <a:spcBef>
                <a:spcPts val="1750"/>
              </a:spcBef>
            </a:pPr>
            <a:r>
              <a:rPr sz="2400" dirty="0">
                <a:latin typeface="宋体"/>
                <a:cs typeface="宋体"/>
              </a:rPr>
              <a:t>描述一个对象在其生存期中的状态序列，表现引起状态变换 的事件和状态变化的动作。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540" y="4896992"/>
            <a:ext cx="1168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400" dirty="0">
                <a:latin typeface="宋体"/>
                <a:cs typeface="宋体"/>
              </a:rPr>
              <a:t>活动</a:t>
            </a:r>
            <a:r>
              <a:rPr sz="2400" spc="-550" dirty="0">
                <a:latin typeface="宋体"/>
                <a:cs typeface="宋体"/>
              </a:rPr>
              <a:t>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29510" y="4973192"/>
            <a:ext cx="1673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Activity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540" y="5445658"/>
            <a:ext cx="459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描述系统的工作流程和并发行为。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</a:t>
            </a:r>
            <a:r>
              <a:rPr spc="5" dirty="0"/>
              <a:t>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</a:t>
            </a:r>
            <a:r>
              <a:rPr spc="-5" dirty="0"/>
              <a:t>模</a:t>
            </a:r>
            <a:r>
              <a:rPr spc="-5" dirty="0">
                <a:latin typeface="Calibri"/>
                <a:cs typeface="Calibri"/>
              </a:rPr>
              <a:t>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107" y="665603"/>
            <a:ext cx="3528060" cy="602869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632460" indent="-343535">
              <a:lnSpc>
                <a:spcPct val="100000"/>
              </a:lnSpc>
              <a:spcBef>
                <a:spcPts val="6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latin typeface="Times New Roman"/>
                <a:cs typeface="Times New Roman"/>
              </a:rPr>
              <a:t>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动态模型</a:t>
            </a:r>
            <a:endParaRPr sz="2400">
              <a:latin typeface="宋体"/>
              <a:cs typeface="宋体"/>
            </a:endParaRPr>
          </a:p>
          <a:p>
            <a:pPr marL="632460" indent="-343535">
              <a:lnSpc>
                <a:spcPct val="100000"/>
              </a:lnSpc>
              <a:spcBef>
                <a:spcPts val="58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2.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宋体"/>
                <a:cs typeface="宋体"/>
              </a:rPr>
              <a:t>顺序图</a:t>
            </a:r>
            <a:endParaRPr sz="24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2.1.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顺序图概念与表示</a:t>
            </a:r>
            <a:endParaRPr sz="20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2.2.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顺序图的建立</a:t>
            </a:r>
            <a:endParaRPr sz="2000">
              <a:latin typeface="宋体"/>
              <a:cs typeface="宋体"/>
            </a:endParaRPr>
          </a:p>
          <a:p>
            <a:pPr marL="632460" indent="-343535">
              <a:lnSpc>
                <a:spcPct val="100000"/>
              </a:lnSpc>
              <a:spcBef>
                <a:spcPts val="5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latin typeface="Times New Roman"/>
                <a:cs typeface="Times New Roman"/>
              </a:rPr>
              <a:t>3.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协作图</a:t>
            </a:r>
            <a:endParaRPr sz="24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3.1.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协作图概念与表示</a:t>
            </a:r>
            <a:endParaRPr sz="20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3.2.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协作图的用途</a:t>
            </a:r>
            <a:endParaRPr sz="2000">
              <a:latin typeface="宋体"/>
              <a:cs typeface="宋体"/>
            </a:endParaRPr>
          </a:p>
          <a:p>
            <a:pPr marL="632460" indent="-343535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latin typeface="Times New Roman"/>
                <a:cs typeface="Times New Roman"/>
              </a:rPr>
              <a:t>4.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状态图</a:t>
            </a:r>
            <a:endParaRPr sz="24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4.1.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状态图概念与表示</a:t>
            </a:r>
            <a:endParaRPr sz="20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4.2.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状态图的建立</a:t>
            </a:r>
            <a:endParaRPr sz="2000">
              <a:latin typeface="宋体"/>
              <a:cs typeface="宋体"/>
            </a:endParaRPr>
          </a:p>
          <a:p>
            <a:pPr marL="632460" indent="-343535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latin typeface="Times New Roman"/>
                <a:cs typeface="Times New Roman"/>
              </a:rPr>
              <a:t>5.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活动图</a:t>
            </a:r>
            <a:endParaRPr sz="24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5.1.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活动图概念与表示</a:t>
            </a:r>
            <a:endParaRPr sz="2000">
              <a:latin typeface="宋体"/>
              <a:cs typeface="宋体"/>
            </a:endParaRPr>
          </a:p>
          <a:p>
            <a:pPr marL="1033780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1033780" algn="l"/>
                <a:tab pos="1034415" algn="l"/>
              </a:tabLst>
            </a:pPr>
            <a:r>
              <a:rPr sz="2000" dirty="0">
                <a:latin typeface="Times New Roman"/>
                <a:cs typeface="Times New Roman"/>
              </a:rPr>
              <a:t>5.2.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活动图应用</a:t>
            </a:r>
            <a:endParaRPr sz="2000">
              <a:latin typeface="宋体"/>
              <a:cs typeface="宋体"/>
            </a:endParaRPr>
          </a:p>
          <a:p>
            <a:pPr marL="632460" indent="-343535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632460" algn="l"/>
                <a:tab pos="633095" algn="l"/>
              </a:tabLst>
            </a:pPr>
            <a:r>
              <a:rPr sz="2400" dirty="0">
                <a:latin typeface="Times New Roman"/>
                <a:cs typeface="Times New Roman"/>
              </a:rPr>
              <a:t>6.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建立动态模型示例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00" spc="-5" dirty="0">
                <a:solidFill>
                  <a:srgbClr val="00663B"/>
                </a:solidFill>
                <a:latin typeface="华文行楷"/>
                <a:cs typeface="华文行楷"/>
              </a:rPr>
              <a:t>软件需求工程</a:t>
            </a:r>
            <a:r>
              <a:rPr sz="1600" spc="-20" dirty="0">
                <a:solidFill>
                  <a:srgbClr val="00663B"/>
                </a:solidFill>
                <a:latin typeface="华文行楷"/>
                <a:cs typeface="华文行楷"/>
              </a:rPr>
              <a:t>与</a:t>
            </a:r>
            <a:r>
              <a:rPr sz="1600" spc="-5" dirty="0">
                <a:solidFill>
                  <a:srgbClr val="00663B"/>
                </a:solidFill>
                <a:latin typeface="Calibri"/>
                <a:cs typeface="Calibri"/>
              </a:rPr>
              <a:t>UML</a:t>
            </a:r>
            <a:r>
              <a:rPr sz="1600" spc="-5" dirty="0">
                <a:solidFill>
                  <a:srgbClr val="00663B"/>
                </a:solidFill>
                <a:latin typeface="华文行楷"/>
                <a:cs typeface="华文行楷"/>
              </a:rPr>
              <a:t>建模</a:t>
            </a:r>
            <a:endParaRPr sz="1600">
              <a:latin typeface="华文行楷"/>
              <a:cs typeface="华文行楷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6275" y="159765"/>
            <a:ext cx="54756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Calibri"/>
                <a:cs typeface="Calibri"/>
              </a:rPr>
              <a:t>2.1.</a:t>
            </a:r>
            <a:r>
              <a:rPr sz="4400" spc="-65" dirty="0">
                <a:latin typeface="Calibri"/>
                <a:cs typeface="Calibri"/>
              </a:rPr>
              <a:t> </a:t>
            </a:r>
            <a:r>
              <a:rPr sz="4400" dirty="0"/>
              <a:t>顺序图概念与表示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989" y="1625497"/>
            <a:ext cx="8168005" cy="3980179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800" b="1" spc="-5" dirty="0">
                <a:latin typeface="宋体"/>
                <a:cs typeface="宋体"/>
              </a:rPr>
              <a:t>顺序图</a:t>
            </a:r>
            <a:r>
              <a:rPr sz="1800" b="1" spc="-5" dirty="0">
                <a:latin typeface="Times New Roman"/>
                <a:cs typeface="Times New Roman"/>
              </a:rPr>
              <a:t>Sequence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Diagram</a:t>
            </a:r>
            <a:r>
              <a:rPr sz="1800" b="1" spc="254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作用：</a:t>
            </a:r>
            <a:endParaRPr sz="2800">
              <a:latin typeface="宋体"/>
              <a:cs typeface="宋体"/>
            </a:endParaRPr>
          </a:p>
          <a:p>
            <a:pPr marL="97155" marR="389255">
              <a:lnSpc>
                <a:spcPct val="100000"/>
              </a:lnSpc>
              <a:spcBef>
                <a:spcPts val="730"/>
              </a:spcBef>
              <a:buFont typeface="Times New Roman"/>
              <a:buChar char="•"/>
              <a:tabLst>
                <a:tab pos="311150" algn="l"/>
              </a:tabLst>
            </a:pPr>
            <a:r>
              <a:rPr sz="2800" spc="-5" dirty="0">
                <a:latin typeface="宋体"/>
                <a:cs typeface="宋体"/>
              </a:rPr>
              <a:t>在给定的语境中，通过对象之间的消</a:t>
            </a:r>
            <a:r>
              <a:rPr sz="2800" dirty="0">
                <a:latin typeface="宋体"/>
                <a:cs typeface="宋体"/>
              </a:rPr>
              <a:t>息</a:t>
            </a:r>
            <a:r>
              <a:rPr sz="2800" spc="-5" dirty="0">
                <a:latin typeface="宋体"/>
                <a:cs typeface="宋体"/>
              </a:rPr>
              <a:t>通信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展 现对象的行为；用以发现对象的操</a:t>
            </a:r>
            <a:r>
              <a:rPr sz="2800" dirty="0">
                <a:latin typeface="宋体"/>
                <a:cs typeface="宋体"/>
              </a:rPr>
              <a:t>作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10515" indent="-213995">
              <a:lnSpc>
                <a:spcPct val="100000"/>
              </a:lnSpc>
              <a:spcBef>
                <a:spcPts val="335"/>
              </a:spcBef>
              <a:buFont typeface="Times New Roman"/>
              <a:buChar char="•"/>
              <a:tabLst>
                <a:tab pos="311150" algn="l"/>
              </a:tabLst>
            </a:pPr>
            <a:r>
              <a:rPr sz="2800" spc="-10" dirty="0">
                <a:latin typeface="宋体"/>
                <a:cs typeface="宋体"/>
              </a:rPr>
              <a:t>顺序图可协助发现主动对象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250">
              <a:latin typeface="宋体"/>
              <a:cs typeface="宋体"/>
            </a:endParaRPr>
          </a:p>
          <a:p>
            <a:pPr marL="97155">
              <a:lnSpc>
                <a:spcPct val="100000"/>
              </a:lnSpc>
            </a:pPr>
            <a:r>
              <a:rPr sz="2800" b="1" spc="-5" dirty="0">
                <a:solidFill>
                  <a:srgbClr val="00A361"/>
                </a:solidFill>
                <a:latin typeface="宋体"/>
                <a:cs typeface="宋体"/>
              </a:rPr>
              <a:t>表示</a:t>
            </a:r>
            <a:r>
              <a:rPr sz="2800" spc="-5" dirty="0">
                <a:latin typeface="宋体"/>
                <a:cs typeface="宋体"/>
              </a:rPr>
              <a:t>：对象</a:t>
            </a:r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sz="2800" spc="-5" dirty="0">
                <a:latin typeface="宋体"/>
                <a:cs typeface="宋体"/>
              </a:rPr>
              <a:t>与参与者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r>
              <a:rPr sz="2800" spc="-5" dirty="0">
                <a:latin typeface="宋体"/>
                <a:cs typeface="宋体"/>
              </a:rPr>
              <a:t>之间的交互</a:t>
            </a:r>
            <a:endParaRPr sz="2800">
              <a:latin typeface="宋体"/>
              <a:cs typeface="宋体"/>
            </a:endParaRPr>
          </a:p>
          <a:p>
            <a:pPr marL="97155" marR="5080">
              <a:lnSpc>
                <a:spcPct val="105000"/>
              </a:lnSpc>
            </a:pPr>
            <a:r>
              <a:rPr sz="2800" b="1" spc="-5" dirty="0">
                <a:solidFill>
                  <a:srgbClr val="00A361"/>
                </a:solidFill>
                <a:latin typeface="宋体"/>
                <a:cs typeface="宋体"/>
              </a:rPr>
              <a:t>元素</a:t>
            </a:r>
            <a:r>
              <a:rPr sz="2800" spc="-5" dirty="0">
                <a:latin typeface="宋体"/>
                <a:cs typeface="宋体"/>
              </a:rPr>
              <a:t>：一组协作的对象</a:t>
            </a:r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sz="2800" spc="-5" dirty="0">
                <a:latin typeface="宋体"/>
                <a:cs typeface="宋体"/>
              </a:rPr>
              <a:t>与参与者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r>
              <a:rPr sz="2800" dirty="0">
                <a:latin typeface="宋体"/>
                <a:cs typeface="宋体"/>
              </a:rPr>
              <a:t>和</a:t>
            </a:r>
            <a:r>
              <a:rPr sz="2800" spc="-5" dirty="0">
                <a:latin typeface="宋体"/>
                <a:cs typeface="宋体"/>
              </a:rPr>
              <a:t>之间</a:t>
            </a:r>
            <a:r>
              <a:rPr sz="2800" dirty="0">
                <a:latin typeface="宋体"/>
                <a:cs typeface="宋体"/>
              </a:rPr>
              <a:t>发</a:t>
            </a:r>
            <a:r>
              <a:rPr sz="2800" spc="-5" dirty="0">
                <a:latin typeface="宋体"/>
                <a:cs typeface="宋体"/>
              </a:rPr>
              <a:t>送的</a:t>
            </a:r>
            <a:r>
              <a:rPr sz="2800" dirty="0">
                <a:latin typeface="宋体"/>
                <a:cs typeface="宋体"/>
              </a:rPr>
              <a:t>消</a:t>
            </a:r>
            <a:r>
              <a:rPr sz="2800" spc="-5" dirty="0">
                <a:latin typeface="宋体"/>
                <a:cs typeface="宋体"/>
              </a:rPr>
              <a:t>息 </a:t>
            </a:r>
            <a:r>
              <a:rPr sz="2800" b="1" spc="-10" dirty="0">
                <a:solidFill>
                  <a:srgbClr val="00A361"/>
                </a:solidFill>
                <a:latin typeface="宋体"/>
                <a:cs typeface="宋体"/>
              </a:rPr>
              <a:t>强调</a:t>
            </a:r>
            <a:r>
              <a:rPr sz="2800" spc="-10" dirty="0">
                <a:latin typeface="宋体"/>
                <a:cs typeface="宋体"/>
              </a:rPr>
              <a:t>：消息之间的顺序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7400" y="1219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33600" y="1371600"/>
            <a:ext cx="1905" cy="76200"/>
          </a:xfrm>
          <a:custGeom>
            <a:avLst/>
            <a:gdLst/>
            <a:ahLst/>
            <a:cxnLst/>
            <a:rect l="l" t="t" r="r" b="b"/>
            <a:pathLst>
              <a:path w="1905" h="76200">
                <a:moveTo>
                  <a:pt x="762" y="-4762"/>
                </a:moveTo>
                <a:lnTo>
                  <a:pt x="762" y="80962"/>
                </a:lnTo>
              </a:path>
            </a:pathLst>
          </a:custGeom>
          <a:ln w="11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81200" y="1447800"/>
            <a:ext cx="304800" cy="1905"/>
          </a:xfrm>
          <a:custGeom>
            <a:avLst/>
            <a:gdLst/>
            <a:ahLst/>
            <a:cxnLst/>
            <a:rect l="l" t="t" r="r" b="b"/>
            <a:pathLst>
              <a:path w="304800" h="1905">
                <a:moveTo>
                  <a:pt x="0" y="0"/>
                </a:moveTo>
                <a:lnTo>
                  <a:pt x="304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57400" y="1447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33600" y="14478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7400" y="1752600"/>
            <a:ext cx="152400" cy="4724400"/>
          </a:xfrm>
          <a:custGeom>
            <a:avLst/>
            <a:gdLst/>
            <a:ahLst/>
            <a:cxnLst/>
            <a:rect l="l" t="t" r="r" b="b"/>
            <a:pathLst>
              <a:path w="152400" h="4724400">
                <a:moveTo>
                  <a:pt x="0" y="4724400"/>
                </a:moveTo>
                <a:lnTo>
                  <a:pt x="152400" y="4724400"/>
                </a:lnTo>
                <a:lnTo>
                  <a:pt x="152400" y="0"/>
                </a:lnTo>
                <a:lnTo>
                  <a:pt x="0" y="0"/>
                </a:lnTo>
                <a:lnTo>
                  <a:pt x="0" y="4724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71800" y="2016251"/>
            <a:ext cx="114300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ob1</a:t>
            </a: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：</a:t>
            </a: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8600" y="1219200"/>
            <a:ext cx="114300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ob3</a:t>
            </a: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：</a:t>
            </a: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5400" y="2702051"/>
            <a:ext cx="114300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Times New Roman"/>
                <a:cs typeface="Times New Roman"/>
              </a:rPr>
              <a:t>ob2</a:t>
            </a:r>
            <a:r>
              <a:rPr sz="1600" b="1" spc="-5" dirty="0">
                <a:latin typeface="宋体"/>
                <a:cs typeface="宋体"/>
              </a:rPr>
              <a:t>：</a:t>
            </a:r>
            <a:r>
              <a:rPr sz="1600" b="1" spc="-5" dirty="0">
                <a:latin typeface="Times New Roman"/>
                <a:cs typeface="Times New Roman"/>
              </a:rPr>
              <a:t>C2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77000" y="1178052"/>
            <a:ext cx="76200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：</a:t>
            </a: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8794" y="1932558"/>
            <a:ext cx="4826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Op(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09800" y="21717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685800" y="0"/>
                </a:moveTo>
                <a:lnTo>
                  <a:pt x="685800" y="76200"/>
                </a:lnTo>
                <a:lnTo>
                  <a:pt x="749300" y="44450"/>
                </a:lnTo>
                <a:lnTo>
                  <a:pt x="698500" y="44450"/>
                </a:lnTo>
                <a:lnTo>
                  <a:pt x="698500" y="31750"/>
                </a:lnTo>
                <a:lnTo>
                  <a:pt x="749300" y="31750"/>
                </a:lnTo>
                <a:lnTo>
                  <a:pt x="685800" y="0"/>
                </a:lnTo>
                <a:close/>
              </a:path>
              <a:path w="762000" h="76200">
                <a:moveTo>
                  <a:pt x="685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85800" y="44450"/>
                </a:lnTo>
                <a:lnTo>
                  <a:pt x="685800" y="31750"/>
                </a:lnTo>
                <a:close/>
              </a:path>
              <a:path w="762000" h="76200">
                <a:moveTo>
                  <a:pt x="749300" y="31750"/>
                </a:moveTo>
                <a:lnTo>
                  <a:pt x="698500" y="31750"/>
                </a:lnTo>
                <a:lnTo>
                  <a:pt x="698500" y="44450"/>
                </a:lnTo>
                <a:lnTo>
                  <a:pt x="749300" y="44450"/>
                </a:lnTo>
                <a:lnTo>
                  <a:pt x="762000" y="38100"/>
                </a:lnTo>
                <a:lnTo>
                  <a:pt x="749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52800" y="2362200"/>
            <a:ext cx="152400" cy="3733800"/>
          </a:xfrm>
          <a:custGeom>
            <a:avLst/>
            <a:gdLst/>
            <a:ahLst/>
            <a:cxnLst/>
            <a:rect l="l" t="t" r="r" b="b"/>
            <a:pathLst>
              <a:path w="152400" h="3733800">
                <a:moveTo>
                  <a:pt x="0" y="3733800"/>
                </a:moveTo>
                <a:lnTo>
                  <a:pt x="152400" y="3733800"/>
                </a:lnTo>
                <a:lnTo>
                  <a:pt x="152400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5800" y="3276600"/>
            <a:ext cx="152400" cy="1371600"/>
          </a:xfrm>
          <a:custGeom>
            <a:avLst/>
            <a:gdLst/>
            <a:ahLst/>
            <a:cxnLst/>
            <a:rect l="l" t="t" r="r" b="b"/>
            <a:pathLst>
              <a:path w="152400" h="1371600">
                <a:moveTo>
                  <a:pt x="0" y="1371600"/>
                </a:moveTo>
                <a:lnTo>
                  <a:pt x="152400" y="1371600"/>
                </a:lnTo>
                <a:lnTo>
                  <a:pt x="152400" y="0"/>
                </a:lnTo>
                <a:lnTo>
                  <a:pt x="0" y="0"/>
                </a:lnTo>
                <a:lnTo>
                  <a:pt x="0" y="1371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736975" y="2464079"/>
            <a:ext cx="12414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[x&gt;0]c</a:t>
            </a:r>
            <a:r>
              <a:rPr sz="1600" b="1" spc="-35" dirty="0">
                <a:latin typeface="Times New Roman"/>
                <a:cs typeface="Times New Roman"/>
              </a:rPr>
              <a:t>r</a:t>
            </a:r>
            <a:r>
              <a:rPr sz="1600" b="1" spc="-5" dirty="0">
                <a:latin typeface="Times New Roman"/>
                <a:cs typeface="Times New Roman"/>
              </a:rPr>
              <a:t>eate</a:t>
            </a:r>
            <a:r>
              <a:rPr sz="1600" b="1" spc="-15" dirty="0">
                <a:latin typeface="Times New Roman"/>
                <a:cs typeface="Times New Roman"/>
              </a:rPr>
              <a:t>(</a:t>
            </a:r>
            <a:r>
              <a:rPr sz="1600" b="1" spc="-5" dirty="0">
                <a:latin typeface="Times New Roman"/>
                <a:cs typeface="Times New Roman"/>
              </a:rPr>
              <a:t>x)  [x&lt;0]bar(x)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05200" y="2857500"/>
            <a:ext cx="1600200" cy="76200"/>
          </a:xfrm>
          <a:custGeom>
            <a:avLst/>
            <a:gdLst/>
            <a:ahLst/>
            <a:cxnLst/>
            <a:rect l="l" t="t" r="r" b="b"/>
            <a:pathLst>
              <a:path w="1600200" h="76200">
                <a:moveTo>
                  <a:pt x="1524000" y="0"/>
                </a:moveTo>
                <a:lnTo>
                  <a:pt x="1524000" y="76200"/>
                </a:lnTo>
                <a:lnTo>
                  <a:pt x="1587500" y="44450"/>
                </a:lnTo>
                <a:lnTo>
                  <a:pt x="1536700" y="44450"/>
                </a:lnTo>
                <a:lnTo>
                  <a:pt x="1536700" y="31750"/>
                </a:lnTo>
                <a:lnTo>
                  <a:pt x="1587500" y="31750"/>
                </a:lnTo>
                <a:lnTo>
                  <a:pt x="1524000" y="0"/>
                </a:lnTo>
                <a:close/>
              </a:path>
              <a:path w="1600200" h="76200">
                <a:moveTo>
                  <a:pt x="15240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524000" y="44450"/>
                </a:lnTo>
                <a:lnTo>
                  <a:pt x="1524000" y="31750"/>
                </a:lnTo>
                <a:close/>
              </a:path>
              <a:path w="1600200" h="76200">
                <a:moveTo>
                  <a:pt x="1587500" y="31750"/>
                </a:moveTo>
                <a:lnTo>
                  <a:pt x="1536700" y="31750"/>
                </a:lnTo>
                <a:lnTo>
                  <a:pt x="1536700" y="44450"/>
                </a:lnTo>
                <a:lnTo>
                  <a:pt x="1587500" y="44450"/>
                </a:lnTo>
                <a:lnTo>
                  <a:pt x="1600200" y="38100"/>
                </a:lnTo>
                <a:lnTo>
                  <a:pt x="15875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5200" y="2895600"/>
            <a:ext cx="228600" cy="381000"/>
          </a:xfrm>
          <a:custGeom>
            <a:avLst/>
            <a:gdLst/>
            <a:ahLst/>
            <a:cxnLst/>
            <a:rect l="l" t="t" r="r" b="b"/>
            <a:pathLst>
              <a:path w="228600" h="381000">
                <a:moveTo>
                  <a:pt x="0" y="0"/>
                </a:moveTo>
                <a:lnTo>
                  <a:pt x="22860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33800" y="32385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685800" y="0"/>
                </a:moveTo>
                <a:lnTo>
                  <a:pt x="685800" y="76200"/>
                </a:lnTo>
                <a:lnTo>
                  <a:pt x="749300" y="44450"/>
                </a:lnTo>
                <a:lnTo>
                  <a:pt x="698500" y="44450"/>
                </a:lnTo>
                <a:lnTo>
                  <a:pt x="698500" y="31750"/>
                </a:lnTo>
                <a:lnTo>
                  <a:pt x="749300" y="31750"/>
                </a:lnTo>
                <a:lnTo>
                  <a:pt x="685800" y="0"/>
                </a:lnTo>
                <a:close/>
              </a:path>
              <a:path w="762000" h="76200">
                <a:moveTo>
                  <a:pt x="685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85800" y="44450"/>
                </a:lnTo>
                <a:lnTo>
                  <a:pt x="685800" y="31750"/>
                </a:lnTo>
                <a:close/>
              </a:path>
              <a:path w="762000" h="76200">
                <a:moveTo>
                  <a:pt x="749300" y="31750"/>
                </a:moveTo>
                <a:lnTo>
                  <a:pt x="698500" y="31750"/>
                </a:lnTo>
                <a:lnTo>
                  <a:pt x="698500" y="44450"/>
                </a:lnTo>
                <a:lnTo>
                  <a:pt x="749300" y="44450"/>
                </a:lnTo>
                <a:lnTo>
                  <a:pt x="762000" y="38100"/>
                </a:lnTo>
                <a:lnTo>
                  <a:pt x="749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562600" y="3048000"/>
            <a:ext cx="152400" cy="1905000"/>
          </a:xfrm>
          <a:custGeom>
            <a:avLst/>
            <a:gdLst/>
            <a:ahLst/>
            <a:cxnLst/>
            <a:rect l="l" t="t" r="r" b="b"/>
            <a:pathLst>
              <a:path w="152400" h="1905000">
                <a:moveTo>
                  <a:pt x="0" y="1905000"/>
                </a:moveTo>
                <a:lnTo>
                  <a:pt x="152400" y="1905000"/>
                </a:lnTo>
                <a:lnTo>
                  <a:pt x="152400" y="0"/>
                </a:lnTo>
                <a:lnTo>
                  <a:pt x="0" y="0"/>
                </a:lnTo>
                <a:lnTo>
                  <a:pt x="0" y="1905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86600" y="3352800"/>
            <a:ext cx="152400" cy="1371600"/>
          </a:xfrm>
          <a:custGeom>
            <a:avLst/>
            <a:gdLst/>
            <a:ahLst/>
            <a:cxnLst/>
            <a:rect l="l" t="t" r="r" b="b"/>
            <a:pathLst>
              <a:path w="152400" h="1371600">
                <a:moveTo>
                  <a:pt x="0" y="1371600"/>
                </a:moveTo>
                <a:lnTo>
                  <a:pt x="152400" y="1371600"/>
                </a:lnTo>
                <a:lnTo>
                  <a:pt x="152400" y="0"/>
                </a:lnTo>
                <a:lnTo>
                  <a:pt x="0" y="0"/>
                </a:lnTo>
                <a:lnTo>
                  <a:pt x="0" y="1371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629400" y="3505200"/>
            <a:ext cx="152400" cy="990600"/>
          </a:xfrm>
          <a:custGeom>
            <a:avLst/>
            <a:gdLst/>
            <a:ahLst/>
            <a:cxnLst/>
            <a:rect l="l" t="t" r="r" b="b"/>
            <a:pathLst>
              <a:path w="152400" h="990600">
                <a:moveTo>
                  <a:pt x="0" y="990600"/>
                </a:moveTo>
                <a:lnTo>
                  <a:pt x="152400" y="990600"/>
                </a:lnTo>
                <a:lnTo>
                  <a:pt x="15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48200" y="3467100"/>
            <a:ext cx="1981200" cy="76200"/>
          </a:xfrm>
          <a:custGeom>
            <a:avLst/>
            <a:gdLst/>
            <a:ahLst/>
            <a:cxnLst/>
            <a:rect l="l" t="t" r="r" b="b"/>
            <a:pathLst>
              <a:path w="1981200" h="76200">
                <a:moveTo>
                  <a:pt x="1905000" y="0"/>
                </a:moveTo>
                <a:lnTo>
                  <a:pt x="1905000" y="76200"/>
                </a:lnTo>
                <a:lnTo>
                  <a:pt x="1968500" y="44450"/>
                </a:lnTo>
                <a:lnTo>
                  <a:pt x="1917700" y="44450"/>
                </a:lnTo>
                <a:lnTo>
                  <a:pt x="1917700" y="31750"/>
                </a:lnTo>
                <a:lnTo>
                  <a:pt x="1968500" y="31750"/>
                </a:lnTo>
                <a:lnTo>
                  <a:pt x="1905000" y="0"/>
                </a:lnTo>
                <a:close/>
              </a:path>
              <a:path w="1981200" h="76200">
                <a:moveTo>
                  <a:pt x="19050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905000" y="44450"/>
                </a:lnTo>
                <a:lnTo>
                  <a:pt x="1905000" y="31750"/>
                </a:lnTo>
                <a:close/>
              </a:path>
              <a:path w="1981200" h="76200">
                <a:moveTo>
                  <a:pt x="1968500" y="31750"/>
                </a:moveTo>
                <a:lnTo>
                  <a:pt x="1917700" y="31750"/>
                </a:lnTo>
                <a:lnTo>
                  <a:pt x="1917700" y="44450"/>
                </a:lnTo>
                <a:lnTo>
                  <a:pt x="1968500" y="44450"/>
                </a:lnTo>
                <a:lnTo>
                  <a:pt x="1981200" y="38100"/>
                </a:lnTo>
                <a:lnTo>
                  <a:pt x="19685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804028" y="3196208"/>
            <a:ext cx="6477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doit(w)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648200" y="4457700"/>
            <a:ext cx="1981200" cy="76200"/>
          </a:xfrm>
          <a:custGeom>
            <a:avLst/>
            <a:gdLst/>
            <a:ahLst/>
            <a:cxnLst/>
            <a:rect l="l" t="t" r="r" b="b"/>
            <a:pathLst>
              <a:path w="1981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9812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981200" h="76200">
                <a:moveTo>
                  <a:pt x="1143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14300" y="44450"/>
                </a:lnTo>
                <a:lnTo>
                  <a:pt x="114300" y="31750"/>
                </a:lnTo>
                <a:close/>
              </a:path>
              <a:path w="1981200" h="76200">
                <a:moveTo>
                  <a:pt x="203200" y="31750"/>
                </a:moveTo>
                <a:lnTo>
                  <a:pt x="152400" y="31750"/>
                </a:lnTo>
                <a:lnTo>
                  <a:pt x="152400" y="44450"/>
                </a:lnTo>
                <a:lnTo>
                  <a:pt x="203200" y="44450"/>
                </a:lnTo>
                <a:lnTo>
                  <a:pt x="203200" y="31750"/>
                </a:lnTo>
                <a:close/>
              </a:path>
              <a:path w="19812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292100" y="31750"/>
                </a:lnTo>
                <a:close/>
              </a:path>
              <a:path w="1981200" h="76200">
                <a:moveTo>
                  <a:pt x="381000" y="31750"/>
                </a:moveTo>
                <a:lnTo>
                  <a:pt x="330200" y="31750"/>
                </a:lnTo>
                <a:lnTo>
                  <a:pt x="330200" y="44450"/>
                </a:lnTo>
                <a:lnTo>
                  <a:pt x="381000" y="44450"/>
                </a:lnTo>
                <a:lnTo>
                  <a:pt x="381000" y="31750"/>
                </a:lnTo>
                <a:close/>
              </a:path>
              <a:path w="1981200" h="76200">
                <a:moveTo>
                  <a:pt x="469900" y="31750"/>
                </a:moveTo>
                <a:lnTo>
                  <a:pt x="419100" y="31750"/>
                </a:lnTo>
                <a:lnTo>
                  <a:pt x="419100" y="44450"/>
                </a:lnTo>
                <a:lnTo>
                  <a:pt x="469900" y="44450"/>
                </a:lnTo>
                <a:lnTo>
                  <a:pt x="469900" y="31750"/>
                </a:lnTo>
                <a:close/>
              </a:path>
              <a:path w="1981200" h="76200">
                <a:moveTo>
                  <a:pt x="558800" y="31750"/>
                </a:moveTo>
                <a:lnTo>
                  <a:pt x="508000" y="31750"/>
                </a:lnTo>
                <a:lnTo>
                  <a:pt x="508000" y="44450"/>
                </a:lnTo>
                <a:lnTo>
                  <a:pt x="558800" y="44450"/>
                </a:lnTo>
                <a:lnTo>
                  <a:pt x="558800" y="31750"/>
                </a:lnTo>
                <a:close/>
              </a:path>
              <a:path w="1981200" h="76200">
                <a:moveTo>
                  <a:pt x="647700" y="31750"/>
                </a:moveTo>
                <a:lnTo>
                  <a:pt x="596900" y="31750"/>
                </a:lnTo>
                <a:lnTo>
                  <a:pt x="596900" y="44450"/>
                </a:lnTo>
                <a:lnTo>
                  <a:pt x="647700" y="44450"/>
                </a:lnTo>
                <a:lnTo>
                  <a:pt x="647700" y="31750"/>
                </a:lnTo>
                <a:close/>
              </a:path>
              <a:path w="1981200" h="76200">
                <a:moveTo>
                  <a:pt x="736600" y="31750"/>
                </a:moveTo>
                <a:lnTo>
                  <a:pt x="685800" y="31750"/>
                </a:lnTo>
                <a:lnTo>
                  <a:pt x="685800" y="44450"/>
                </a:lnTo>
                <a:lnTo>
                  <a:pt x="736600" y="44450"/>
                </a:lnTo>
                <a:lnTo>
                  <a:pt x="736600" y="31750"/>
                </a:lnTo>
                <a:close/>
              </a:path>
              <a:path w="1981200" h="76200">
                <a:moveTo>
                  <a:pt x="825500" y="31750"/>
                </a:moveTo>
                <a:lnTo>
                  <a:pt x="774700" y="31750"/>
                </a:lnTo>
                <a:lnTo>
                  <a:pt x="774700" y="44450"/>
                </a:lnTo>
                <a:lnTo>
                  <a:pt x="825500" y="44450"/>
                </a:lnTo>
                <a:lnTo>
                  <a:pt x="825500" y="31750"/>
                </a:lnTo>
                <a:close/>
              </a:path>
              <a:path w="1981200" h="76200">
                <a:moveTo>
                  <a:pt x="914400" y="31750"/>
                </a:moveTo>
                <a:lnTo>
                  <a:pt x="863600" y="31750"/>
                </a:lnTo>
                <a:lnTo>
                  <a:pt x="863600" y="44450"/>
                </a:lnTo>
                <a:lnTo>
                  <a:pt x="914400" y="44450"/>
                </a:lnTo>
                <a:lnTo>
                  <a:pt x="914400" y="31750"/>
                </a:lnTo>
                <a:close/>
              </a:path>
              <a:path w="1981200" h="76200">
                <a:moveTo>
                  <a:pt x="1003300" y="31750"/>
                </a:moveTo>
                <a:lnTo>
                  <a:pt x="952500" y="31750"/>
                </a:lnTo>
                <a:lnTo>
                  <a:pt x="952500" y="44450"/>
                </a:lnTo>
                <a:lnTo>
                  <a:pt x="1003300" y="44450"/>
                </a:lnTo>
                <a:lnTo>
                  <a:pt x="1003300" y="31750"/>
                </a:lnTo>
                <a:close/>
              </a:path>
              <a:path w="1981200" h="76200">
                <a:moveTo>
                  <a:pt x="1092200" y="31750"/>
                </a:moveTo>
                <a:lnTo>
                  <a:pt x="1041400" y="31750"/>
                </a:lnTo>
                <a:lnTo>
                  <a:pt x="1041400" y="44450"/>
                </a:lnTo>
                <a:lnTo>
                  <a:pt x="1092200" y="44450"/>
                </a:lnTo>
                <a:lnTo>
                  <a:pt x="1092200" y="31750"/>
                </a:lnTo>
                <a:close/>
              </a:path>
              <a:path w="1981200" h="76200">
                <a:moveTo>
                  <a:pt x="1181100" y="31750"/>
                </a:moveTo>
                <a:lnTo>
                  <a:pt x="1130300" y="31750"/>
                </a:lnTo>
                <a:lnTo>
                  <a:pt x="1130300" y="44450"/>
                </a:lnTo>
                <a:lnTo>
                  <a:pt x="1181100" y="44450"/>
                </a:lnTo>
                <a:lnTo>
                  <a:pt x="1181100" y="31750"/>
                </a:lnTo>
                <a:close/>
              </a:path>
              <a:path w="1981200" h="76200">
                <a:moveTo>
                  <a:pt x="1270000" y="31750"/>
                </a:moveTo>
                <a:lnTo>
                  <a:pt x="1219200" y="31750"/>
                </a:lnTo>
                <a:lnTo>
                  <a:pt x="1219200" y="44450"/>
                </a:lnTo>
                <a:lnTo>
                  <a:pt x="1270000" y="44450"/>
                </a:lnTo>
                <a:lnTo>
                  <a:pt x="1270000" y="31750"/>
                </a:lnTo>
                <a:close/>
              </a:path>
              <a:path w="1981200" h="76200">
                <a:moveTo>
                  <a:pt x="1358900" y="31750"/>
                </a:moveTo>
                <a:lnTo>
                  <a:pt x="1308100" y="31750"/>
                </a:lnTo>
                <a:lnTo>
                  <a:pt x="1308100" y="44450"/>
                </a:lnTo>
                <a:lnTo>
                  <a:pt x="1358900" y="44450"/>
                </a:lnTo>
                <a:lnTo>
                  <a:pt x="1358900" y="31750"/>
                </a:lnTo>
                <a:close/>
              </a:path>
              <a:path w="1981200" h="76200">
                <a:moveTo>
                  <a:pt x="1447800" y="31750"/>
                </a:moveTo>
                <a:lnTo>
                  <a:pt x="1397000" y="31750"/>
                </a:lnTo>
                <a:lnTo>
                  <a:pt x="1397000" y="44450"/>
                </a:lnTo>
                <a:lnTo>
                  <a:pt x="1447800" y="44450"/>
                </a:lnTo>
                <a:lnTo>
                  <a:pt x="1447800" y="31750"/>
                </a:lnTo>
                <a:close/>
              </a:path>
              <a:path w="1981200" h="76200">
                <a:moveTo>
                  <a:pt x="1536700" y="31750"/>
                </a:moveTo>
                <a:lnTo>
                  <a:pt x="1485900" y="31750"/>
                </a:lnTo>
                <a:lnTo>
                  <a:pt x="1485900" y="44450"/>
                </a:lnTo>
                <a:lnTo>
                  <a:pt x="1536700" y="44450"/>
                </a:lnTo>
                <a:lnTo>
                  <a:pt x="1536700" y="31750"/>
                </a:lnTo>
                <a:close/>
              </a:path>
              <a:path w="1981200" h="76200">
                <a:moveTo>
                  <a:pt x="1625600" y="31750"/>
                </a:moveTo>
                <a:lnTo>
                  <a:pt x="1574800" y="31750"/>
                </a:lnTo>
                <a:lnTo>
                  <a:pt x="1574800" y="44450"/>
                </a:lnTo>
                <a:lnTo>
                  <a:pt x="1625600" y="44450"/>
                </a:lnTo>
                <a:lnTo>
                  <a:pt x="1625600" y="31750"/>
                </a:lnTo>
                <a:close/>
              </a:path>
              <a:path w="1981200" h="76200">
                <a:moveTo>
                  <a:pt x="1714500" y="31750"/>
                </a:moveTo>
                <a:lnTo>
                  <a:pt x="1663700" y="31750"/>
                </a:lnTo>
                <a:lnTo>
                  <a:pt x="1663700" y="44450"/>
                </a:lnTo>
                <a:lnTo>
                  <a:pt x="1714500" y="44450"/>
                </a:lnTo>
                <a:lnTo>
                  <a:pt x="1714500" y="31750"/>
                </a:lnTo>
                <a:close/>
              </a:path>
              <a:path w="1981200" h="76200">
                <a:moveTo>
                  <a:pt x="1803400" y="31750"/>
                </a:moveTo>
                <a:lnTo>
                  <a:pt x="1752600" y="31750"/>
                </a:lnTo>
                <a:lnTo>
                  <a:pt x="1752600" y="44450"/>
                </a:lnTo>
                <a:lnTo>
                  <a:pt x="1803400" y="44450"/>
                </a:lnTo>
                <a:lnTo>
                  <a:pt x="1803400" y="31750"/>
                </a:lnTo>
                <a:close/>
              </a:path>
              <a:path w="1981200" h="76200">
                <a:moveTo>
                  <a:pt x="1892300" y="31750"/>
                </a:moveTo>
                <a:lnTo>
                  <a:pt x="1841500" y="31750"/>
                </a:lnTo>
                <a:lnTo>
                  <a:pt x="1841500" y="44450"/>
                </a:lnTo>
                <a:lnTo>
                  <a:pt x="1892300" y="44450"/>
                </a:lnTo>
                <a:lnTo>
                  <a:pt x="1892300" y="31750"/>
                </a:lnTo>
                <a:close/>
              </a:path>
              <a:path w="1981200" h="76200">
                <a:moveTo>
                  <a:pt x="1981200" y="31750"/>
                </a:moveTo>
                <a:lnTo>
                  <a:pt x="1930400" y="31750"/>
                </a:lnTo>
                <a:lnTo>
                  <a:pt x="1930400" y="44450"/>
                </a:lnTo>
                <a:lnTo>
                  <a:pt x="1981200" y="44450"/>
                </a:lnTo>
                <a:lnTo>
                  <a:pt x="19812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15000" y="3301110"/>
            <a:ext cx="1371600" cy="103505"/>
          </a:xfrm>
          <a:custGeom>
            <a:avLst/>
            <a:gdLst/>
            <a:ahLst/>
            <a:cxnLst/>
            <a:rect l="l" t="t" r="r" b="b"/>
            <a:pathLst>
              <a:path w="1371600" h="103504">
                <a:moveTo>
                  <a:pt x="1346490" y="51688"/>
                </a:moveTo>
                <a:lnTo>
                  <a:pt x="1276603" y="92455"/>
                </a:lnTo>
                <a:lnTo>
                  <a:pt x="1275588" y="96265"/>
                </a:lnTo>
                <a:lnTo>
                  <a:pt x="1279144" y="102362"/>
                </a:lnTo>
                <a:lnTo>
                  <a:pt x="1282953" y="103377"/>
                </a:lnTo>
                <a:lnTo>
                  <a:pt x="1360709" y="58038"/>
                </a:lnTo>
                <a:lnTo>
                  <a:pt x="1359027" y="58038"/>
                </a:lnTo>
                <a:lnTo>
                  <a:pt x="1359027" y="57150"/>
                </a:lnTo>
                <a:lnTo>
                  <a:pt x="1355852" y="57150"/>
                </a:lnTo>
                <a:lnTo>
                  <a:pt x="1346490" y="51688"/>
                </a:lnTo>
                <a:close/>
              </a:path>
              <a:path w="1371600" h="103504">
                <a:moveTo>
                  <a:pt x="13356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335604" y="58038"/>
                </a:lnTo>
                <a:lnTo>
                  <a:pt x="1346490" y="51688"/>
                </a:lnTo>
                <a:lnTo>
                  <a:pt x="1335604" y="45338"/>
                </a:lnTo>
                <a:close/>
              </a:path>
              <a:path w="1371600" h="103504">
                <a:moveTo>
                  <a:pt x="1360709" y="45338"/>
                </a:moveTo>
                <a:lnTo>
                  <a:pt x="1359027" y="45338"/>
                </a:lnTo>
                <a:lnTo>
                  <a:pt x="1359027" y="58038"/>
                </a:lnTo>
                <a:lnTo>
                  <a:pt x="1360709" y="58038"/>
                </a:lnTo>
                <a:lnTo>
                  <a:pt x="1371600" y="51688"/>
                </a:lnTo>
                <a:lnTo>
                  <a:pt x="1360709" y="45338"/>
                </a:lnTo>
                <a:close/>
              </a:path>
              <a:path w="1371600" h="103504">
                <a:moveTo>
                  <a:pt x="1355852" y="46227"/>
                </a:moveTo>
                <a:lnTo>
                  <a:pt x="1346490" y="51688"/>
                </a:lnTo>
                <a:lnTo>
                  <a:pt x="1355852" y="57150"/>
                </a:lnTo>
                <a:lnTo>
                  <a:pt x="1355852" y="46227"/>
                </a:lnTo>
                <a:close/>
              </a:path>
              <a:path w="1371600" h="103504">
                <a:moveTo>
                  <a:pt x="1359027" y="46227"/>
                </a:moveTo>
                <a:lnTo>
                  <a:pt x="1355852" y="46227"/>
                </a:lnTo>
                <a:lnTo>
                  <a:pt x="1355852" y="57150"/>
                </a:lnTo>
                <a:lnTo>
                  <a:pt x="1359027" y="57150"/>
                </a:lnTo>
                <a:lnTo>
                  <a:pt x="1359027" y="46227"/>
                </a:lnTo>
                <a:close/>
              </a:path>
              <a:path w="1371600" h="103504">
                <a:moveTo>
                  <a:pt x="1282953" y="0"/>
                </a:moveTo>
                <a:lnTo>
                  <a:pt x="1279144" y="1015"/>
                </a:lnTo>
                <a:lnTo>
                  <a:pt x="1275588" y="7112"/>
                </a:lnTo>
                <a:lnTo>
                  <a:pt x="1276603" y="10922"/>
                </a:lnTo>
                <a:lnTo>
                  <a:pt x="1346490" y="51688"/>
                </a:lnTo>
                <a:lnTo>
                  <a:pt x="1355852" y="46227"/>
                </a:lnTo>
                <a:lnTo>
                  <a:pt x="1359027" y="46227"/>
                </a:lnTo>
                <a:lnTo>
                  <a:pt x="1359027" y="45338"/>
                </a:lnTo>
                <a:lnTo>
                  <a:pt x="1360709" y="45338"/>
                </a:lnTo>
                <a:lnTo>
                  <a:pt x="12829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023228" y="3075558"/>
            <a:ext cx="5867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doit(z)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429000" y="5334000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0" y="457200"/>
                </a:moveTo>
                <a:lnTo>
                  <a:pt x="152400" y="457200"/>
                </a:lnTo>
                <a:lnTo>
                  <a:pt x="152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9000" y="5334000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0" y="457200"/>
                </a:moveTo>
                <a:lnTo>
                  <a:pt x="152400" y="457200"/>
                </a:lnTo>
                <a:lnTo>
                  <a:pt x="152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81400" y="4914900"/>
            <a:ext cx="1981200" cy="76200"/>
          </a:xfrm>
          <a:custGeom>
            <a:avLst/>
            <a:gdLst/>
            <a:ahLst/>
            <a:cxnLst/>
            <a:rect l="l" t="t" r="r" b="b"/>
            <a:pathLst>
              <a:path w="1981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9812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981200" h="76200">
                <a:moveTo>
                  <a:pt x="1143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14300" y="44450"/>
                </a:lnTo>
                <a:lnTo>
                  <a:pt x="114300" y="31750"/>
                </a:lnTo>
                <a:close/>
              </a:path>
              <a:path w="1981200" h="76200">
                <a:moveTo>
                  <a:pt x="203200" y="31750"/>
                </a:moveTo>
                <a:lnTo>
                  <a:pt x="152400" y="31750"/>
                </a:lnTo>
                <a:lnTo>
                  <a:pt x="152400" y="44450"/>
                </a:lnTo>
                <a:lnTo>
                  <a:pt x="203200" y="44450"/>
                </a:lnTo>
                <a:lnTo>
                  <a:pt x="203200" y="31750"/>
                </a:lnTo>
                <a:close/>
              </a:path>
              <a:path w="19812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292100" y="31750"/>
                </a:lnTo>
                <a:close/>
              </a:path>
              <a:path w="1981200" h="76200">
                <a:moveTo>
                  <a:pt x="381000" y="31750"/>
                </a:moveTo>
                <a:lnTo>
                  <a:pt x="330200" y="31750"/>
                </a:lnTo>
                <a:lnTo>
                  <a:pt x="330200" y="44450"/>
                </a:lnTo>
                <a:lnTo>
                  <a:pt x="381000" y="44450"/>
                </a:lnTo>
                <a:lnTo>
                  <a:pt x="381000" y="31750"/>
                </a:lnTo>
                <a:close/>
              </a:path>
              <a:path w="1981200" h="76200">
                <a:moveTo>
                  <a:pt x="469900" y="31750"/>
                </a:moveTo>
                <a:lnTo>
                  <a:pt x="419100" y="31750"/>
                </a:lnTo>
                <a:lnTo>
                  <a:pt x="419100" y="44450"/>
                </a:lnTo>
                <a:lnTo>
                  <a:pt x="469900" y="44450"/>
                </a:lnTo>
                <a:lnTo>
                  <a:pt x="469900" y="31750"/>
                </a:lnTo>
                <a:close/>
              </a:path>
              <a:path w="1981200" h="76200">
                <a:moveTo>
                  <a:pt x="558800" y="31750"/>
                </a:moveTo>
                <a:lnTo>
                  <a:pt x="508000" y="31750"/>
                </a:lnTo>
                <a:lnTo>
                  <a:pt x="508000" y="44450"/>
                </a:lnTo>
                <a:lnTo>
                  <a:pt x="558800" y="44450"/>
                </a:lnTo>
                <a:lnTo>
                  <a:pt x="558800" y="31750"/>
                </a:lnTo>
                <a:close/>
              </a:path>
              <a:path w="1981200" h="76200">
                <a:moveTo>
                  <a:pt x="647700" y="31750"/>
                </a:moveTo>
                <a:lnTo>
                  <a:pt x="596900" y="31750"/>
                </a:lnTo>
                <a:lnTo>
                  <a:pt x="596900" y="44450"/>
                </a:lnTo>
                <a:lnTo>
                  <a:pt x="647700" y="44450"/>
                </a:lnTo>
                <a:lnTo>
                  <a:pt x="647700" y="31750"/>
                </a:lnTo>
                <a:close/>
              </a:path>
              <a:path w="1981200" h="76200">
                <a:moveTo>
                  <a:pt x="736600" y="31750"/>
                </a:moveTo>
                <a:lnTo>
                  <a:pt x="685800" y="31750"/>
                </a:lnTo>
                <a:lnTo>
                  <a:pt x="685800" y="44450"/>
                </a:lnTo>
                <a:lnTo>
                  <a:pt x="736600" y="44450"/>
                </a:lnTo>
                <a:lnTo>
                  <a:pt x="736600" y="31750"/>
                </a:lnTo>
                <a:close/>
              </a:path>
              <a:path w="1981200" h="76200">
                <a:moveTo>
                  <a:pt x="825500" y="31750"/>
                </a:moveTo>
                <a:lnTo>
                  <a:pt x="774700" y="31750"/>
                </a:lnTo>
                <a:lnTo>
                  <a:pt x="774700" y="44450"/>
                </a:lnTo>
                <a:lnTo>
                  <a:pt x="825500" y="44450"/>
                </a:lnTo>
                <a:lnTo>
                  <a:pt x="825500" y="31750"/>
                </a:lnTo>
                <a:close/>
              </a:path>
              <a:path w="1981200" h="76200">
                <a:moveTo>
                  <a:pt x="914400" y="31750"/>
                </a:moveTo>
                <a:lnTo>
                  <a:pt x="863600" y="31750"/>
                </a:lnTo>
                <a:lnTo>
                  <a:pt x="863600" y="44450"/>
                </a:lnTo>
                <a:lnTo>
                  <a:pt x="914400" y="44450"/>
                </a:lnTo>
                <a:lnTo>
                  <a:pt x="914400" y="31750"/>
                </a:lnTo>
                <a:close/>
              </a:path>
              <a:path w="1981200" h="76200">
                <a:moveTo>
                  <a:pt x="1003300" y="31750"/>
                </a:moveTo>
                <a:lnTo>
                  <a:pt x="952500" y="31750"/>
                </a:lnTo>
                <a:lnTo>
                  <a:pt x="952500" y="44450"/>
                </a:lnTo>
                <a:lnTo>
                  <a:pt x="1003300" y="44450"/>
                </a:lnTo>
                <a:lnTo>
                  <a:pt x="1003300" y="31750"/>
                </a:lnTo>
                <a:close/>
              </a:path>
              <a:path w="1981200" h="76200">
                <a:moveTo>
                  <a:pt x="1092200" y="31750"/>
                </a:moveTo>
                <a:lnTo>
                  <a:pt x="1041400" y="31750"/>
                </a:lnTo>
                <a:lnTo>
                  <a:pt x="1041400" y="44450"/>
                </a:lnTo>
                <a:lnTo>
                  <a:pt x="1092200" y="44450"/>
                </a:lnTo>
                <a:lnTo>
                  <a:pt x="1092200" y="31750"/>
                </a:lnTo>
                <a:close/>
              </a:path>
              <a:path w="1981200" h="76200">
                <a:moveTo>
                  <a:pt x="1181100" y="31750"/>
                </a:moveTo>
                <a:lnTo>
                  <a:pt x="1130300" y="31750"/>
                </a:lnTo>
                <a:lnTo>
                  <a:pt x="1130300" y="44450"/>
                </a:lnTo>
                <a:lnTo>
                  <a:pt x="1181100" y="44450"/>
                </a:lnTo>
                <a:lnTo>
                  <a:pt x="1181100" y="31750"/>
                </a:lnTo>
                <a:close/>
              </a:path>
              <a:path w="1981200" h="76200">
                <a:moveTo>
                  <a:pt x="1270000" y="31750"/>
                </a:moveTo>
                <a:lnTo>
                  <a:pt x="1219200" y="31750"/>
                </a:lnTo>
                <a:lnTo>
                  <a:pt x="1219200" y="44450"/>
                </a:lnTo>
                <a:lnTo>
                  <a:pt x="1270000" y="44450"/>
                </a:lnTo>
                <a:lnTo>
                  <a:pt x="1270000" y="31750"/>
                </a:lnTo>
                <a:close/>
              </a:path>
              <a:path w="1981200" h="76200">
                <a:moveTo>
                  <a:pt x="1358900" y="31750"/>
                </a:moveTo>
                <a:lnTo>
                  <a:pt x="1308100" y="31750"/>
                </a:lnTo>
                <a:lnTo>
                  <a:pt x="1308100" y="44450"/>
                </a:lnTo>
                <a:lnTo>
                  <a:pt x="1358900" y="44450"/>
                </a:lnTo>
                <a:lnTo>
                  <a:pt x="1358900" y="31750"/>
                </a:lnTo>
                <a:close/>
              </a:path>
              <a:path w="1981200" h="76200">
                <a:moveTo>
                  <a:pt x="1447800" y="31750"/>
                </a:moveTo>
                <a:lnTo>
                  <a:pt x="1397000" y="31750"/>
                </a:lnTo>
                <a:lnTo>
                  <a:pt x="1397000" y="44450"/>
                </a:lnTo>
                <a:lnTo>
                  <a:pt x="1447800" y="44450"/>
                </a:lnTo>
                <a:lnTo>
                  <a:pt x="1447800" y="31750"/>
                </a:lnTo>
                <a:close/>
              </a:path>
              <a:path w="1981200" h="76200">
                <a:moveTo>
                  <a:pt x="1536700" y="31750"/>
                </a:moveTo>
                <a:lnTo>
                  <a:pt x="1485900" y="31750"/>
                </a:lnTo>
                <a:lnTo>
                  <a:pt x="1485900" y="44450"/>
                </a:lnTo>
                <a:lnTo>
                  <a:pt x="1536700" y="44450"/>
                </a:lnTo>
                <a:lnTo>
                  <a:pt x="1536700" y="31750"/>
                </a:lnTo>
                <a:close/>
              </a:path>
              <a:path w="1981200" h="76200">
                <a:moveTo>
                  <a:pt x="1625600" y="31750"/>
                </a:moveTo>
                <a:lnTo>
                  <a:pt x="1574800" y="31750"/>
                </a:lnTo>
                <a:lnTo>
                  <a:pt x="1574800" y="44450"/>
                </a:lnTo>
                <a:lnTo>
                  <a:pt x="1625600" y="44450"/>
                </a:lnTo>
                <a:lnTo>
                  <a:pt x="1625600" y="31750"/>
                </a:lnTo>
                <a:close/>
              </a:path>
              <a:path w="1981200" h="76200">
                <a:moveTo>
                  <a:pt x="1714500" y="31750"/>
                </a:moveTo>
                <a:lnTo>
                  <a:pt x="1663700" y="31750"/>
                </a:lnTo>
                <a:lnTo>
                  <a:pt x="1663700" y="44450"/>
                </a:lnTo>
                <a:lnTo>
                  <a:pt x="1714500" y="44450"/>
                </a:lnTo>
                <a:lnTo>
                  <a:pt x="1714500" y="31750"/>
                </a:lnTo>
                <a:close/>
              </a:path>
              <a:path w="1981200" h="76200">
                <a:moveTo>
                  <a:pt x="1803400" y="31750"/>
                </a:moveTo>
                <a:lnTo>
                  <a:pt x="1752600" y="31750"/>
                </a:lnTo>
                <a:lnTo>
                  <a:pt x="1752600" y="44450"/>
                </a:lnTo>
                <a:lnTo>
                  <a:pt x="1803400" y="44450"/>
                </a:lnTo>
                <a:lnTo>
                  <a:pt x="1803400" y="31750"/>
                </a:lnTo>
                <a:close/>
              </a:path>
              <a:path w="1981200" h="76200">
                <a:moveTo>
                  <a:pt x="1892300" y="31750"/>
                </a:moveTo>
                <a:lnTo>
                  <a:pt x="1841500" y="31750"/>
                </a:lnTo>
                <a:lnTo>
                  <a:pt x="1841500" y="44450"/>
                </a:lnTo>
                <a:lnTo>
                  <a:pt x="1892300" y="44450"/>
                </a:lnTo>
                <a:lnTo>
                  <a:pt x="1892300" y="31750"/>
                </a:lnTo>
                <a:close/>
              </a:path>
              <a:path w="1981200" h="76200">
                <a:moveTo>
                  <a:pt x="1981200" y="31750"/>
                </a:moveTo>
                <a:lnTo>
                  <a:pt x="1930400" y="31750"/>
                </a:lnTo>
                <a:lnTo>
                  <a:pt x="1930400" y="44450"/>
                </a:lnTo>
                <a:lnTo>
                  <a:pt x="1981200" y="44450"/>
                </a:lnTo>
                <a:lnTo>
                  <a:pt x="19812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14800" y="464820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05200" y="4642484"/>
            <a:ext cx="612775" cy="310515"/>
          </a:xfrm>
          <a:custGeom>
            <a:avLst/>
            <a:gdLst/>
            <a:ahLst/>
            <a:cxnLst/>
            <a:rect l="l" t="t" r="r" b="b"/>
            <a:pathLst>
              <a:path w="612775" h="310514">
                <a:moveTo>
                  <a:pt x="606805" y="0"/>
                </a:moveTo>
                <a:lnTo>
                  <a:pt x="561339" y="22732"/>
                </a:lnTo>
                <a:lnTo>
                  <a:pt x="567054" y="34162"/>
                </a:lnTo>
                <a:lnTo>
                  <a:pt x="612394" y="11429"/>
                </a:lnTo>
                <a:lnTo>
                  <a:pt x="606805" y="0"/>
                </a:lnTo>
                <a:close/>
              </a:path>
              <a:path w="612775" h="310514">
                <a:moveTo>
                  <a:pt x="527303" y="39750"/>
                </a:moveTo>
                <a:lnTo>
                  <a:pt x="481838" y="62483"/>
                </a:lnTo>
                <a:lnTo>
                  <a:pt x="487425" y="73913"/>
                </a:lnTo>
                <a:lnTo>
                  <a:pt x="532891" y="51181"/>
                </a:lnTo>
                <a:lnTo>
                  <a:pt x="527303" y="39750"/>
                </a:lnTo>
                <a:close/>
              </a:path>
              <a:path w="612775" h="310514">
                <a:moveTo>
                  <a:pt x="447675" y="79501"/>
                </a:moveTo>
                <a:lnTo>
                  <a:pt x="402336" y="102234"/>
                </a:lnTo>
                <a:lnTo>
                  <a:pt x="407924" y="113664"/>
                </a:lnTo>
                <a:lnTo>
                  <a:pt x="453389" y="90931"/>
                </a:lnTo>
                <a:lnTo>
                  <a:pt x="447675" y="79501"/>
                </a:lnTo>
                <a:close/>
              </a:path>
              <a:path w="612775" h="310514">
                <a:moveTo>
                  <a:pt x="368173" y="119252"/>
                </a:moveTo>
                <a:lnTo>
                  <a:pt x="322834" y="141985"/>
                </a:lnTo>
                <a:lnTo>
                  <a:pt x="328422" y="153415"/>
                </a:lnTo>
                <a:lnTo>
                  <a:pt x="373888" y="130682"/>
                </a:lnTo>
                <a:lnTo>
                  <a:pt x="368173" y="119252"/>
                </a:lnTo>
                <a:close/>
              </a:path>
              <a:path w="612775" h="310514">
                <a:moveTo>
                  <a:pt x="288671" y="159003"/>
                </a:moveTo>
                <a:lnTo>
                  <a:pt x="243204" y="181737"/>
                </a:lnTo>
                <a:lnTo>
                  <a:pt x="248920" y="193166"/>
                </a:lnTo>
                <a:lnTo>
                  <a:pt x="294386" y="170433"/>
                </a:lnTo>
                <a:lnTo>
                  <a:pt x="288671" y="159003"/>
                </a:lnTo>
                <a:close/>
              </a:path>
              <a:path w="612775" h="310514">
                <a:moveTo>
                  <a:pt x="209169" y="198881"/>
                </a:moveTo>
                <a:lnTo>
                  <a:pt x="163702" y="221487"/>
                </a:lnTo>
                <a:lnTo>
                  <a:pt x="169417" y="232917"/>
                </a:lnTo>
                <a:lnTo>
                  <a:pt x="214884" y="210184"/>
                </a:lnTo>
                <a:lnTo>
                  <a:pt x="209169" y="198881"/>
                </a:lnTo>
                <a:close/>
              </a:path>
              <a:path w="612775" h="310514">
                <a:moveTo>
                  <a:pt x="51053" y="242315"/>
                </a:moveTo>
                <a:lnTo>
                  <a:pt x="0" y="310514"/>
                </a:lnTo>
                <a:lnTo>
                  <a:pt x="85216" y="310514"/>
                </a:lnTo>
                <a:lnTo>
                  <a:pt x="51053" y="242315"/>
                </a:lnTo>
                <a:close/>
              </a:path>
              <a:path w="612775" h="310514">
                <a:moveTo>
                  <a:pt x="129666" y="238632"/>
                </a:moveTo>
                <a:lnTo>
                  <a:pt x="84200" y="261238"/>
                </a:lnTo>
                <a:lnTo>
                  <a:pt x="89915" y="272669"/>
                </a:lnTo>
                <a:lnTo>
                  <a:pt x="135382" y="249935"/>
                </a:lnTo>
                <a:lnTo>
                  <a:pt x="129666" y="2386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03803" y="5251577"/>
            <a:ext cx="544195" cy="264160"/>
          </a:xfrm>
          <a:custGeom>
            <a:avLst/>
            <a:gdLst/>
            <a:ahLst/>
            <a:cxnLst/>
            <a:rect l="l" t="t" r="r" b="b"/>
            <a:pathLst>
              <a:path w="544195" h="264160">
                <a:moveTo>
                  <a:pt x="132207" y="188214"/>
                </a:moveTo>
                <a:lnTo>
                  <a:pt x="60579" y="234442"/>
                </a:lnTo>
                <a:lnTo>
                  <a:pt x="140588" y="263906"/>
                </a:lnTo>
                <a:lnTo>
                  <a:pt x="137241" y="233680"/>
                </a:lnTo>
                <a:lnTo>
                  <a:pt x="124460" y="233680"/>
                </a:lnTo>
                <a:lnTo>
                  <a:pt x="123062" y="221107"/>
                </a:lnTo>
                <a:lnTo>
                  <a:pt x="135699" y="219753"/>
                </a:lnTo>
                <a:lnTo>
                  <a:pt x="132207" y="188214"/>
                </a:lnTo>
                <a:close/>
              </a:path>
              <a:path w="544195" h="264160">
                <a:moveTo>
                  <a:pt x="135699" y="219753"/>
                </a:moveTo>
                <a:lnTo>
                  <a:pt x="123062" y="221107"/>
                </a:lnTo>
                <a:lnTo>
                  <a:pt x="124460" y="233680"/>
                </a:lnTo>
                <a:lnTo>
                  <a:pt x="137096" y="232370"/>
                </a:lnTo>
                <a:lnTo>
                  <a:pt x="135699" y="219753"/>
                </a:lnTo>
                <a:close/>
              </a:path>
              <a:path w="544195" h="264160">
                <a:moveTo>
                  <a:pt x="137096" y="232370"/>
                </a:moveTo>
                <a:lnTo>
                  <a:pt x="124460" y="233680"/>
                </a:lnTo>
                <a:lnTo>
                  <a:pt x="137241" y="233680"/>
                </a:lnTo>
                <a:lnTo>
                  <a:pt x="137096" y="232370"/>
                </a:lnTo>
                <a:close/>
              </a:path>
              <a:path w="544195" h="264160">
                <a:moveTo>
                  <a:pt x="526080" y="163610"/>
                </a:moveTo>
                <a:lnTo>
                  <a:pt x="476631" y="178562"/>
                </a:lnTo>
                <a:lnTo>
                  <a:pt x="410718" y="189865"/>
                </a:lnTo>
                <a:lnTo>
                  <a:pt x="331724" y="199898"/>
                </a:lnTo>
                <a:lnTo>
                  <a:pt x="289941" y="204470"/>
                </a:lnTo>
                <a:lnTo>
                  <a:pt x="151511" y="218059"/>
                </a:lnTo>
                <a:lnTo>
                  <a:pt x="135699" y="219753"/>
                </a:lnTo>
                <a:lnTo>
                  <a:pt x="137096" y="232370"/>
                </a:lnTo>
                <a:lnTo>
                  <a:pt x="152654" y="230759"/>
                </a:lnTo>
                <a:lnTo>
                  <a:pt x="291338" y="217170"/>
                </a:lnTo>
                <a:lnTo>
                  <a:pt x="333248" y="212598"/>
                </a:lnTo>
                <a:lnTo>
                  <a:pt x="374014" y="207645"/>
                </a:lnTo>
                <a:lnTo>
                  <a:pt x="412623" y="202438"/>
                </a:lnTo>
                <a:lnTo>
                  <a:pt x="464312" y="194056"/>
                </a:lnTo>
                <a:lnTo>
                  <a:pt x="505460" y="184785"/>
                </a:lnTo>
                <a:lnTo>
                  <a:pt x="532638" y="174498"/>
                </a:lnTo>
                <a:lnTo>
                  <a:pt x="532892" y="174371"/>
                </a:lnTo>
                <a:lnTo>
                  <a:pt x="533146" y="174117"/>
                </a:lnTo>
                <a:lnTo>
                  <a:pt x="537972" y="170688"/>
                </a:lnTo>
                <a:lnTo>
                  <a:pt x="538226" y="170434"/>
                </a:lnTo>
                <a:lnTo>
                  <a:pt x="538607" y="170180"/>
                </a:lnTo>
                <a:lnTo>
                  <a:pt x="540512" y="168275"/>
                </a:lnTo>
                <a:lnTo>
                  <a:pt x="540766" y="167894"/>
                </a:lnTo>
                <a:lnTo>
                  <a:pt x="541147" y="167386"/>
                </a:lnTo>
                <a:lnTo>
                  <a:pt x="541401" y="167005"/>
                </a:lnTo>
                <a:lnTo>
                  <a:pt x="542289" y="165227"/>
                </a:lnTo>
                <a:lnTo>
                  <a:pt x="542544" y="164846"/>
                </a:lnTo>
                <a:lnTo>
                  <a:pt x="542798" y="164338"/>
                </a:lnTo>
                <a:lnTo>
                  <a:pt x="542925" y="163830"/>
                </a:lnTo>
                <a:lnTo>
                  <a:pt x="525780" y="163830"/>
                </a:lnTo>
                <a:lnTo>
                  <a:pt x="526080" y="163610"/>
                </a:lnTo>
                <a:close/>
              </a:path>
              <a:path w="544195" h="264160">
                <a:moveTo>
                  <a:pt x="526669" y="163322"/>
                </a:moveTo>
                <a:lnTo>
                  <a:pt x="526080" y="163610"/>
                </a:lnTo>
                <a:lnTo>
                  <a:pt x="525780" y="163830"/>
                </a:lnTo>
                <a:lnTo>
                  <a:pt x="526669" y="163322"/>
                </a:lnTo>
                <a:close/>
              </a:path>
              <a:path w="544195" h="264160">
                <a:moveTo>
                  <a:pt x="543081" y="163322"/>
                </a:moveTo>
                <a:lnTo>
                  <a:pt x="526669" y="163322"/>
                </a:lnTo>
                <a:lnTo>
                  <a:pt x="525780" y="163830"/>
                </a:lnTo>
                <a:lnTo>
                  <a:pt x="542925" y="163830"/>
                </a:lnTo>
                <a:lnTo>
                  <a:pt x="543081" y="163322"/>
                </a:lnTo>
                <a:close/>
              </a:path>
              <a:path w="544195" h="264160">
                <a:moveTo>
                  <a:pt x="530009" y="160743"/>
                </a:moveTo>
                <a:lnTo>
                  <a:pt x="526080" y="163610"/>
                </a:lnTo>
                <a:lnTo>
                  <a:pt x="526669" y="163322"/>
                </a:lnTo>
                <a:lnTo>
                  <a:pt x="543081" y="163322"/>
                </a:lnTo>
                <a:lnTo>
                  <a:pt x="543433" y="162179"/>
                </a:lnTo>
                <a:lnTo>
                  <a:pt x="543589" y="161163"/>
                </a:lnTo>
                <a:lnTo>
                  <a:pt x="529589" y="161163"/>
                </a:lnTo>
                <a:lnTo>
                  <a:pt x="530009" y="160743"/>
                </a:lnTo>
                <a:close/>
              </a:path>
              <a:path w="544195" h="264160">
                <a:moveTo>
                  <a:pt x="530479" y="160401"/>
                </a:moveTo>
                <a:lnTo>
                  <a:pt x="529971" y="160782"/>
                </a:lnTo>
                <a:lnTo>
                  <a:pt x="529589" y="161163"/>
                </a:lnTo>
                <a:lnTo>
                  <a:pt x="530479" y="160401"/>
                </a:lnTo>
                <a:close/>
              </a:path>
              <a:path w="544195" h="264160">
                <a:moveTo>
                  <a:pt x="530542" y="160401"/>
                </a:moveTo>
                <a:lnTo>
                  <a:pt x="529589" y="161163"/>
                </a:lnTo>
                <a:lnTo>
                  <a:pt x="531241" y="161163"/>
                </a:lnTo>
                <a:lnTo>
                  <a:pt x="531186" y="161036"/>
                </a:lnTo>
                <a:lnTo>
                  <a:pt x="530987" y="161036"/>
                </a:lnTo>
                <a:lnTo>
                  <a:pt x="530950" y="160782"/>
                </a:lnTo>
                <a:lnTo>
                  <a:pt x="530351" y="160782"/>
                </a:lnTo>
                <a:lnTo>
                  <a:pt x="530542" y="160401"/>
                </a:lnTo>
                <a:close/>
              </a:path>
              <a:path w="544195" h="264160">
                <a:moveTo>
                  <a:pt x="531024" y="160352"/>
                </a:moveTo>
                <a:lnTo>
                  <a:pt x="531061" y="160743"/>
                </a:lnTo>
                <a:lnTo>
                  <a:pt x="531241" y="161163"/>
                </a:lnTo>
                <a:lnTo>
                  <a:pt x="531024" y="160352"/>
                </a:lnTo>
                <a:close/>
              </a:path>
              <a:path w="544195" h="264160">
                <a:moveTo>
                  <a:pt x="543541" y="159512"/>
                </a:moveTo>
                <a:lnTo>
                  <a:pt x="531241" y="159512"/>
                </a:lnTo>
                <a:lnTo>
                  <a:pt x="531129" y="160743"/>
                </a:lnTo>
                <a:lnTo>
                  <a:pt x="531241" y="161163"/>
                </a:lnTo>
                <a:lnTo>
                  <a:pt x="543589" y="161163"/>
                </a:lnTo>
                <a:lnTo>
                  <a:pt x="543541" y="159512"/>
                </a:lnTo>
                <a:close/>
              </a:path>
              <a:path w="544195" h="264160">
                <a:moveTo>
                  <a:pt x="531009" y="160623"/>
                </a:moveTo>
                <a:lnTo>
                  <a:pt x="530987" y="161036"/>
                </a:lnTo>
                <a:lnTo>
                  <a:pt x="531186" y="161036"/>
                </a:lnTo>
                <a:lnTo>
                  <a:pt x="531009" y="160623"/>
                </a:lnTo>
                <a:close/>
              </a:path>
              <a:path w="544195" h="264160">
                <a:moveTo>
                  <a:pt x="530745" y="160007"/>
                </a:moveTo>
                <a:lnTo>
                  <a:pt x="530351" y="160782"/>
                </a:lnTo>
                <a:lnTo>
                  <a:pt x="530779" y="160171"/>
                </a:lnTo>
                <a:lnTo>
                  <a:pt x="530745" y="160007"/>
                </a:lnTo>
                <a:close/>
              </a:path>
              <a:path w="544195" h="264160">
                <a:moveTo>
                  <a:pt x="530816" y="160171"/>
                </a:moveTo>
                <a:lnTo>
                  <a:pt x="530733" y="160401"/>
                </a:lnTo>
                <a:lnTo>
                  <a:pt x="530351" y="160782"/>
                </a:lnTo>
                <a:lnTo>
                  <a:pt x="530950" y="160782"/>
                </a:lnTo>
                <a:lnTo>
                  <a:pt x="530887" y="160337"/>
                </a:lnTo>
                <a:lnTo>
                  <a:pt x="530816" y="160171"/>
                </a:lnTo>
                <a:close/>
              </a:path>
              <a:path w="544195" h="264160">
                <a:moveTo>
                  <a:pt x="530733" y="160020"/>
                </a:moveTo>
                <a:lnTo>
                  <a:pt x="530009" y="160743"/>
                </a:lnTo>
                <a:lnTo>
                  <a:pt x="530479" y="160401"/>
                </a:lnTo>
                <a:lnTo>
                  <a:pt x="530733" y="160020"/>
                </a:lnTo>
                <a:close/>
              </a:path>
              <a:path w="544195" h="264160">
                <a:moveTo>
                  <a:pt x="530922" y="159967"/>
                </a:moveTo>
                <a:lnTo>
                  <a:pt x="530887" y="160337"/>
                </a:lnTo>
                <a:lnTo>
                  <a:pt x="531009" y="160623"/>
                </a:lnTo>
                <a:lnTo>
                  <a:pt x="530922" y="159967"/>
                </a:lnTo>
                <a:close/>
              </a:path>
              <a:path w="544195" h="264160">
                <a:moveTo>
                  <a:pt x="530789" y="160157"/>
                </a:moveTo>
                <a:lnTo>
                  <a:pt x="530618" y="160401"/>
                </a:lnTo>
                <a:lnTo>
                  <a:pt x="530789" y="160157"/>
                </a:lnTo>
                <a:close/>
              </a:path>
              <a:path w="544195" h="264160">
                <a:moveTo>
                  <a:pt x="530136" y="158586"/>
                </a:moveTo>
                <a:lnTo>
                  <a:pt x="530742" y="160000"/>
                </a:lnTo>
                <a:lnTo>
                  <a:pt x="530733" y="159258"/>
                </a:lnTo>
                <a:lnTo>
                  <a:pt x="530996" y="159258"/>
                </a:lnTo>
                <a:lnTo>
                  <a:pt x="530606" y="159131"/>
                </a:lnTo>
                <a:lnTo>
                  <a:pt x="530136" y="158586"/>
                </a:lnTo>
                <a:close/>
              </a:path>
              <a:path w="544195" h="264160">
                <a:moveTo>
                  <a:pt x="531061" y="159691"/>
                </a:moveTo>
                <a:lnTo>
                  <a:pt x="530922" y="159967"/>
                </a:lnTo>
                <a:lnTo>
                  <a:pt x="531047" y="159788"/>
                </a:lnTo>
                <a:close/>
              </a:path>
              <a:path w="544195" h="264160">
                <a:moveTo>
                  <a:pt x="531082" y="159321"/>
                </a:moveTo>
                <a:lnTo>
                  <a:pt x="531011" y="159462"/>
                </a:lnTo>
                <a:lnTo>
                  <a:pt x="530893" y="159859"/>
                </a:lnTo>
                <a:lnTo>
                  <a:pt x="530991" y="159691"/>
                </a:lnTo>
                <a:lnTo>
                  <a:pt x="531082" y="159321"/>
                </a:lnTo>
                <a:close/>
              </a:path>
              <a:path w="544195" h="264160">
                <a:moveTo>
                  <a:pt x="531241" y="159512"/>
                </a:moveTo>
                <a:lnTo>
                  <a:pt x="531061" y="159691"/>
                </a:lnTo>
                <a:lnTo>
                  <a:pt x="531241" y="159512"/>
                </a:lnTo>
                <a:close/>
              </a:path>
              <a:path w="544195" h="264160">
                <a:moveTo>
                  <a:pt x="530996" y="159258"/>
                </a:moveTo>
                <a:lnTo>
                  <a:pt x="530733" y="159258"/>
                </a:lnTo>
                <a:lnTo>
                  <a:pt x="530865" y="159754"/>
                </a:lnTo>
                <a:lnTo>
                  <a:pt x="530996" y="159258"/>
                </a:lnTo>
                <a:close/>
              </a:path>
              <a:path w="544195" h="264160">
                <a:moveTo>
                  <a:pt x="531113" y="158750"/>
                </a:moveTo>
                <a:lnTo>
                  <a:pt x="530896" y="159693"/>
                </a:lnTo>
                <a:lnTo>
                  <a:pt x="531011" y="159462"/>
                </a:lnTo>
                <a:lnTo>
                  <a:pt x="531113" y="158750"/>
                </a:lnTo>
                <a:close/>
              </a:path>
              <a:path w="544195" h="264160">
                <a:moveTo>
                  <a:pt x="543505" y="159004"/>
                </a:moveTo>
                <a:lnTo>
                  <a:pt x="531241" y="159004"/>
                </a:lnTo>
                <a:lnTo>
                  <a:pt x="531148" y="159258"/>
                </a:lnTo>
                <a:lnTo>
                  <a:pt x="531061" y="159691"/>
                </a:lnTo>
                <a:lnTo>
                  <a:pt x="531241" y="159512"/>
                </a:lnTo>
                <a:lnTo>
                  <a:pt x="543541" y="159512"/>
                </a:lnTo>
                <a:lnTo>
                  <a:pt x="543505" y="159004"/>
                </a:lnTo>
                <a:close/>
              </a:path>
              <a:path w="544195" h="264160">
                <a:moveTo>
                  <a:pt x="531241" y="159004"/>
                </a:moveTo>
                <a:lnTo>
                  <a:pt x="531177" y="159131"/>
                </a:lnTo>
                <a:lnTo>
                  <a:pt x="531074" y="159462"/>
                </a:lnTo>
                <a:lnTo>
                  <a:pt x="531241" y="159004"/>
                </a:lnTo>
                <a:close/>
              </a:path>
              <a:path w="544195" h="264160">
                <a:moveTo>
                  <a:pt x="543487" y="158750"/>
                </a:moveTo>
                <a:lnTo>
                  <a:pt x="531113" y="158750"/>
                </a:lnTo>
                <a:lnTo>
                  <a:pt x="531082" y="159321"/>
                </a:lnTo>
                <a:lnTo>
                  <a:pt x="531241" y="159004"/>
                </a:lnTo>
                <a:lnTo>
                  <a:pt x="543505" y="159004"/>
                </a:lnTo>
                <a:lnTo>
                  <a:pt x="543487" y="158750"/>
                </a:lnTo>
                <a:close/>
              </a:path>
              <a:path w="544195" h="264160">
                <a:moveTo>
                  <a:pt x="529717" y="157607"/>
                </a:moveTo>
                <a:lnTo>
                  <a:pt x="530136" y="158586"/>
                </a:lnTo>
                <a:lnTo>
                  <a:pt x="530606" y="159131"/>
                </a:lnTo>
                <a:lnTo>
                  <a:pt x="529717" y="157607"/>
                </a:lnTo>
                <a:close/>
              </a:path>
              <a:path w="544195" h="264160">
                <a:moveTo>
                  <a:pt x="543363" y="157607"/>
                </a:moveTo>
                <a:lnTo>
                  <a:pt x="529717" y="157607"/>
                </a:lnTo>
                <a:lnTo>
                  <a:pt x="530606" y="159131"/>
                </a:lnTo>
                <a:lnTo>
                  <a:pt x="531026" y="159131"/>
                </a:lnTo>
                <a:lnTo>
                  <a:pt x="531113" y="158750"/>
                </a:lnTo>
                <a:lnTo>
                  <a:pt x="543487" y="158750"/>
                </a:lnTo>
                <a:lnTo>
                  <a:pt x="543363" y="157607"/>
                </a:lnTo>
                <a:close/>
              </a:path>
              <a:path w="544195" h="264160">
                <a:moveTo>
                  <a:pt x="527431" y="155448"/>
                </a:moveTo>
                <a:lnTo>
                  <a:pt x="530136" y="158586"/>
                </a:lnTo>
                <a:lnTo>
                  <a:pt x="529717" y="157607"/>
                </a:lnTo>
                <a:lnTo>
                  <a:pt x="543363" y="157607"/>
                </a:lnTo>
                <a:lnTo>
                  <a:pt x="543179" y="156591"/>
                </a:lnTo>
                <a:lnTo>
                  <a:pt x="542925" y="156083"/>
                </a:lnTo>
                <a:lnTo>
                  <a:pt x="528193" y="156083"/>
                </a:lnTo>
                <a:lnTo>
                  <a:pt x="527431" y="155448"/>
                </a:lnTo>
                <a:close/>
              </a:path>
              <a:path w="544195" h="264160">
                <a:moveTo>
                  <a:pt x="2794" y="0"/>
                </a:moveTo>
                <a:lnTo>
                  <a:pt x="0" y="12446"/>
                </a:lnTo>
                <a:lnTo>
                  <a:pt x="146304" y="44450"/>
                </a:lnTo>
                <a:lnTo>
                  <a:pt x="282321" y="75692"/>
                </a:lnTo>
                <a:lnTo>
                  <a:pt x="343535" y="90805"/>
                </a:lnTo>
                <a:lnTo>
                  <a:pt x="380873" y="100584"/>
                </a:lnTo>
                <a:lnTo>
                  <a:pt x="430784" y="114808"/>
                </a:lnTo>
                <a:lnTo>
                  <a:pt x="472313" y="128397"/>
                </a:lnTo>
                <a:lnTo>
                  <a:pt x="512063" y="145161"/>
                </a:lnTo>
                <a:lnTo>
                  <a:pt x="528193" y="156083"/>
                </a:lnTo>
                <a:lnTo>
                  <a:pt x="542925" y="156083"/>
                </a:lnTo>
                <a:lnTo>
                  <a:pt x="536448" y="146558"/>
                </a:lnTo>
                <a:lnTo>
                  <a:pt x="531368" y="142113"/>
                </a:lnTo>
                <a:lnTo>
                  <a:pt x="488442" y="120904"/>
                </a:lnTo>
                <a:lnTo>
                  <a:pt x="449325" y="107315"/>
                </a:lnTo>
                <a:lnTo>
                  <a:pt x="384175" y="88265"/>
                </a:lnTo>
                <a:lnTo>
                  <a:pt x="346583" y="78486"/>
                </a:lnTo>
                <a:lnTo>
                  <a:pt x="285242" y="63246"/>
                </a:lnTo>
                <a:lnTo>
                  <a:pt x="148971" y="32004"/>
                </a:lnTo>
                <a:lnTo>
                  <a:pt x="27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660775" y="5438343"/>
            <a:ext cx="6597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more(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572000" y="1600200"/>
            <a:ext cx="0" cy="1676400"/>
          </a:xfrm>
          <a:custGeom>
            <a:avLst/>
            <a:gdLst/>
            <a:ahLst/>
            <a:cxnLst/>
            <a:rect l="l" t="t" r="r" b="b"/>
            <a:pathLst>
              <a:path h="1676400">
                <a:moveTo>
                  <a:pt x="0" y="0"/>
                </a:moveTo>
                <a:lnTo>
                  <a:pt x="0" y="1676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05600" y="1524000"/>
            <a:ext cx="0" cy="1981200"/>
          </a:xfrm>
          <a:custGeom>
            <a:avLst/>
            <a:gdLst/>
            <a:ahLst/>
            <a:cxnLst/>
            <a:rect l="l" t="t" r="r" b="b"/>
            <a:pathLst>
              <a:path h="1981200">
                <a:moveTo>
                  <a:pt x="0" y="0"/>
                </a:moveTo>
                <a:lnTo>
                  <a:pt x="0" y="19812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705600" y="2819400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0" y="0"/>
                </a:moveTo>
                <a:lnTo>
                  <a:pt x="457200" y="533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705600" y="4495800"/>
            <a:ext cx="0" cy="1676400"/>
          </a:xfrm>
          <a:custGeom>
            <a:avLst/>
            <a:gdLst/>
            <a:ahLst/>
            <a:cxnLst/>
            <a:rect l="l" t="t" r="r" b="b"/>
            <a:pathLst>
              <a:path h="1676400">
                <a:moveTo>
                  <a:pt x="0" y="0"/>
                </a:moveTo>
                <a:lnTo>
                  <a:pt x="0" y="1676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05600" y="4724400"/>
            <a:ext cx="457200" cy="685800"/>
          </a:xfrm>
          <a:custGeom>
            <a:avLst/>
            <a:gdLst/>
            <a:ahLst/>
            <a:cxnLst/>
            <a:rect l="l" t="t" r="r" b="b"/>
            <a:pathLst>
              <a:path w="457200" h="685800">
                <a:moveTo>
                  <a:pt x="457200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72000" y="46482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209800" y="6057900"/>
            <a:ext cx="1181100" cy="76200"/>
          </a:xfrm>
          <a:custGeom>
            <a:avLst/>
            <a:gdLst/>
            <a:ahLst/>
            <a:cxnLst/>
            <a:rect l="l" t="t" r="r" b="b"/>
            <a:pathLst>
              <a:path w="11811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1811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181100" h="76200">
                <a:moveTo>
                  <a:pt x="1143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14300" y="44450"/>
                </a:lnTo>
                <a:lnTo>
                  <a:pt x="114300" y="31750"/>
                </a:lnTo>
                <a:close/>
              </a:path>
              <a:path w="1181100" h="76200">
                <a:moveTo>
                  <a:pt x="203200" y="31750"/>
                </a:moveTo>
                <a:lnTo>
                  <a:pt x="152400" y="31750"/>
                </a:lnTo>
                <a:lnTo>
                  <a:pt x="152400" y="44450"/>
                </a:lnTo>
                <a:lnTo>
                  <a:pt x="203200" y="44450"/>
                </a:lnTo>
                <a:lnTo>
                  <a:pt x="203200" y="31750"/>
                </a:lnTo>
                <a:close/>
              </a:path>
              <a:path w="11811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292100" y="31750"/>
                </a:lnTo>
                <a:close/>
              </a:path>
              <a:path w="1181100" h="76200">
                <a:moveTo>
                  <a:pt x="381000" y="31750"/>
                </a:moveTo>
                <a:lnTo>
                  <a:pt x="330200" y="31750"/>
                </a:lnTo>
                <a:lnTo>
                  <a:pt x="330200" y="44450"/>
                </a:lnTo>
                <a:lnTo>
                  <a:pt x="381000" y="44450"/>
                </a:lnTo>
                <a:lnTo>
                  <a:pt x="381000" y="31750"/>
                </a:lnTo>
                <a:close/>
              </a:path>
              <a:path w="1181100" h="76200">
                <a:moveTo>
                  <a:pt x="469900" y="31750"/>
                </a:moveTo>
                <a:lnTo>
                  <a:pt x="419100" y="31750"/>
                </a:lnTo>
                <a:lnTo>
                  <a:pt x="419100" y="44450"/>
                </a:lnTo>
                <a:lnTo>
                  <a:pt x="469900" y="44450"/>
                </a:lnTo>
                <a:lnTo>
                  <a:pt x="469900" y="31750"/>
                </a:lnTo>
                <a:close/>
              </a:path>
              <a:path w="1181100" h="76200">
                <a:moveTo>
                  <a:pt x="558800" y="31750"/>
                </a:moveTo>
                <a:lnTo>
                  <a:pt x="508000" y="31750"/>
                </a:lnTo>
                <a:lnTo>
                  <a:pt x="508000" y="44450"/>
                </a:lnTo>
                <a:lnTo>
                  <a:pt x="558800" y="44450"/>
                </a:lnTo>
                <a:lnTo>
                  <a:pt x="558800" y="31750"/>
                </a:lnTo>
                <a:close/>
              </a:path>
              <a:path w="1181100" h="76200">
                <a:moveTo>
                  <a:pt x="647700" y="31750"/>
                </a:moveTo>
                <a:lnTo>
                  <a:pt x="596900" y="31750"/>
                </a:lnTo>
                <a:lnTo>
                  <a:pt x="596900" y="44450"/>
                </a:lnTo>
                <a:lnTo>
                  <a:pt x="647700" y="44450"/>
                </a:lnTo>
                <a:lnTo>
                  <a:pt x="647700" y="31750"/>
                </a:lnTo>
                <a:close/>
              </a:path>
              <a:path w="1181100" h="76200">
                <a:moveTo>
                  <a:pt x="736600" y="31750"/>
                </a:moveTo>
                <a:lnTo>
                  <a:pt x="685800" y="31750"/>
                </a:lnTo>
                <a:lnTo>
                  <a:pt x="685800" y="44450"/>
                </a:lnTo>
                <a:lnTo>
                  <a:pt x="736600" y="44450"/>
                </a:lnTo>
                <a:lnTo>
                  <a:pt x="736600" y="31750"/>
                </a:lnTo>
                <a:close/>
              </a:path>
              <a:path w="1181100" h="76200">
                <a:moveTo>
                  <a:pt x="825500" y="31750"/>
                </a:moveTo>
                <a:lnTo>
                  <a:pt x="774700" y="31750"/>
                </a:lnTo>
                <a:lnTo>
                  <a:pt x="774700" y="44450"/>
                </a:lnTo>
                <a:lnTo>
                  <a:pt x="825500" y="44450"/>
                </a:lnTo>
                <a:lnTo>
                  <a:pt x="825500" y="31750"/>
                </a:lnTo>
                <a:close/>
              </a:path>
              <a:path w="1181100" h="76200">
                <a:moveTo>
                  <a:pt x="914400" y="31750"/>
                </a:moveTo>
                <a:lnTo>
                  <a:pt x="863600" y="31750"/>
                </a:lnTo>
                <a:lnTo>
                  <a:pt x="863600" y="44450"/>
                </a:lnTo>
                <a:lnTo>
                  <a:pt x="914400" y="44450"/>
                </a:lnTo>
                <a:lnTo>
                  <a:pt x="914400" y="31750"/>
                </a:lnTo>
                <a:close/>
              </a:path>
              <a:path w="1181100" h="76200">
                <a:moveTo>
                  <a:pt x="1003300" y="31750"/>
                </a:moveTo>
                <a:lnTo>
                  <a:pt x="952500" y="31750"/>
                </a:lnTo>
                <a:lnTo>
                  <a:pt x="952500" y="44450"/>
                </a:lnTo>
                <a:lnTo>
                  <a:pt x="1003300" y="44450"/>
                </a:lnTo>
                <a:lnTo>
                  <a:pt x="1003300" y="31750"/>
                </a:lnTo>
                <a:close/>
              </a:path>
              <a:path w="1181100" h="76200">
                <a:moveTo>
                  <a:pt x="1092200" y="31750"/>
                </a:moveTo>
                <a:lnTo>
                  <a:pt x="1041400" y="31750"/>
                </a:lnTo>
                <a:lnTo>
                  <a:pt x="1041400" y="44450"/>
                </a:lnTo>
                <a:lnTo>
                  <a:pt x="1092200" y="44450"/>
                </a:lnTo>
                <a:lnTo>
                  <a:pt x="1092200" y="31750"/>
                </a:lnTo>
                <a:close/>
              </a:path>
              <a:path w="1181100" h="76200">
                <a:moveTo>
                  <a:pt x="1181100" y="31750"/>
                </a:moveTo>
                <a:lnTo>
                  <a:pt x="1130300" y="31750"/>
                </a:lnTo>
                <a:lnTo>
                  <a:pt x="1130300" y="44450"/>
                </a:lnTo>
                <a:lnTo>
                  <a:pt x="1181100" y="44450"/>
                </a:lnTo>
                <a:lnTo>
                  <a:pt x="1181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486400" y="480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410200" y="48006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276600" y="6019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8100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276600" y="5943600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0" y="0"/>
                </a:moveTo>
                <a:lnTo>
                  <a:pt x="30480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772275" y="5448300"/>
            <a:ext cx="1228725" cy="495300"/>
          </a:xfrm>
          <a:custGeom>
            <a:avLst/>
            <a:gdLst/>
            <a:ahLst/>
            <a:cxnLst/>
            <a:rect l="l" t="t" r="r" b="b"/>
            <a:pathLst>
              <a:path w="1228725" h="495300">
                <a:moveTo>
                  <a:pt x="238125" y="177800"/>
                </a:moveTo>
                <a:lnTo>
                  <a:pt x="243117" y="153085"/>
                </a:lnTo>
                <a:lnTo>
                  <a:pt x="256730" y="132900"/>
                </a:lnTo>
                <a:lnTo>
                  <a:pt x="276915" y="119290"/>
                </a:lnTo>
                <a:lnTo>
                  <a:pt x="301625" y="114300"/>
                </a:lnTo>
                <a:lnTo>
                  <a:pt x="403225" y="114300"/>
                </a:lnTo>
                <a:lnTo>
                  <a:pt x="0" y="0"/>
                </a:lnTo>
                <a:lnTo>
                  <a:pt x="650875" y="114300"/>
                </a:lnTo>
                <a:lnTo>
                  <a:pt x="1165225" y="114300"/>
                </a:lnTo>
                <a:lnTo>
                  <a:pt x="1189934" y="119290"/>
                </a:lnTo>
                <a:lnTo>
                  <a:pt x="1210119" y="132900"/>
                </a:lnTo>
                <a:lnTo>
                  <a:pt x="1223732" y="153085"/>
                </a:lnTo>
                <a:lnTo>
                  <a:pt x="1228725" y="177800"/>
                </a:lnTo>
                <a:lnTo>
                  <a:pt x="1228725" y="273050"/>
                </a:lnTo>
                <a:lnTo>
                  <a:pt x="1228725" y="431800"/>
                </a:lnTo>
                <a:lnTo>
                  <a:pt x="1223732" y="456514"/>
                </a:lnTo>
                <a:lnTo>
                  <a:pt x="1210119" y="476699"/>
                </a:lnTo>
                <a:lnTo>
                  <a:pt x="1189934" y="490309"/>
                </a:lnTo>
                <a:lnTo>
                  <a:pt x="1165225" y="495300"/>
                </a:lnTo>
                <a:lnTo>
                  <a:pt x="650875" y="495300"/>
                </a:lnTo>
                <a:lnTo>
                  <a:pt x="403225" y="495300"/>
                </a:lnTo>
                <a:lnTo>
                  <a:pt x="301625" y="495300"/>
                </a:lnTo>
                <a:lnTo>
                  <a:pt x="276915" y="490309"/>
                </a:lnTo>
                <a:lnTo>
                  <a:pt x="256730" y="476699"/>
                </a:lnTo>
                <a:lnTo>
                  <a:pt x="243117" y="456514"/>
                </a:lnTo>
                <a:lnTo>
                  <a:pt x="238125" y="431800"/>
                </a:lnTo>
                <a:lnTo>
                  <a:pt x="238125" y="273050"/>
                </a:lnTo>
                <a:lnTo>
                  <a:pt x="238125" y="177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148830" y="5610859"/>
            <a:ext cx="716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生命线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85800" y="4584700"/>
            <a:ext cx="1311275" cy="825500"/>
          </a:xfrm>
          <a:custGeom>
            <a:avLst/>
            <a:gdLst/>
            <a:ahLst/>
            <a:cxnLst/>
            <a:rect l="l" t="t" r="r" b="b"/>
            <a:pathLst>
              <a:path w="1311275" h="825500">
                <a:moveTo>
                  <a:pt x="0" y="317500"/>
                </a:moveTo>
                <a:lnTo>
                  <a:pt x="7984" y="277943"/>
                </a:lnTo>
                <a:lnTo>
                  <a:pt x="29759" y="245649"/>
                </a:lnTo>
                <a:lnTo>
                  <a:pt x="62054" y="223881"/>
                </a:lnTo>
                <a:lnTo>
                  <a:pt x="101600" y="215900"/>
                </a:lnTo>
                <a:lnTo>
                  <a:pt x="711200" y="215900"/>
                </a:lnTo>
                <a:lnTo>
                  <a:pt x="1311275" y="0"/>
                </a:lnTo>
                <a:lnTo>
                  <a:pt x="1016000" y="215900"/>
                </a:lnTo>
                <a:lnTo>
                  <a:pt x="1117600" y="215900"/>
                </a:lnTo>
                <a:lnTo>
                  <a:pt x="1157156" y="223881"/>
                </a:lnTo>
                <a:lnTo>
                  <a:pt x="1189450" y="245649"/>
                </a:lnTo>
                <a:lnTo>
                  <a:pt x="1211218" y="277943"/>
                </a:lnTo>
                <a:lnTo>
                  <a:pt x="1219200" y="317500"/>
                </a:lnTo>
                <a:lnTo>
                  <a:pt x="1219200" y="469900"/>
                </a:lnTo>
                <a:lnTo>
                  <a:pt x="1219200" y="723900"/>
                </a:lnTo>
                <a:lnTo>
                  <a:pt x="1211218" y="763456"/>
                </a:lnTo>
                <a:lnTo>
                  <a:pt x="1189450" y="795750"/>
                </a:lnTo>
                <a:lnTo>
                  <a:pt x="1157156" y="817518"/>
                </a:lnTo>
                <a:lnTo>
                  <a:pt x="1117600" y="825500"/>
                </a:lnTo>
                <a:lnTo>
                  <a:pt x="1016000" y="825500"/>
                </a:lnTo>
                <a:lnTo>
                  <a:pt x="711200" y="825500"/>
                </a:lnTo>
                <a:lnTo>
                  <a:pt x="101600" y="825500"/>
                </a:lnTo>
                <a:lnTo>
                  <a:pt x="62054" y="817518"/>
                </a:lnTo>
                <a:lnTo>
                  <a:pt x="29759" y="795750"/>
                </a:lnTo>
                <a:lnTo>
                  <a:pt x="7984" y="763456"/>
                </a:lnTo>
                <a:lnTo>
                  <a:pt x="0" y="723900"/>
                </a:lnTo>
                <a:lnTo>
                  <a:pt x="0" y="469900"/>
                </a:lnTo>
                <a:lnTo>
                  <a:pt x="0" y="317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809955" y="4859782"/>
            <a:ext cx="971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6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激活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ts val="1920"/>
              </a:lnSpc>
            </a:pPr>
            <a:r>
              <a:rPr sz="1600" spc="-10" dirty="0">
                <a:latin typeface="Times New Roman"/>
                <a:cs typeface="Times New Roman"/>
              </a:rPr>
              <a:t>(</a:t>
            </a:r>
            <a:r>
              <a:rPr sz="1600" spc="-10" dirty="0">
                <a:latin typeface="宋体"/>
                <a:cs typeface="宋体"/>
              </a:rPr>
              <a:t>控制焦</a:t>
            </a:r>
            <a:r>
              <a:rPr sz="1600" spc="-5" dirty="0">
                <a:latin typeface="宋体"/>
                <a:cs typeface="宋体"/>
              </a:rPr>
              <a:t>点</a:t>
            </a:r>
            <a:r>
              <a:rPr sz="1600" spc="-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581400" y="3365500"/>
            <a:ext cx="762000" cy="825500"/>
          </a:xfrm>
          <a:custGeom>
            <a:avLst/>
            <a:gdLst/>
            <a:ahLst/>
            <a:cxnLst/>
            <a:rect l="l" t="t" r="r" b="b"/>
            <a:pathLst>
              <a:path w="762000" h="825500">
                <a:moveTo>
                  <a:pt x="0" y="508000"/>
                </a:moveTo>
                <a:lnTo>
                  <a:pt x="4992" y="483290"/>
                </a:lnTo>
                <a:lnTo>
                  <a:pt x="18605" y="463105"/>
                </a:lnTo>
                <a:lnTo>
                  <a:pt x="38790" y="449492"/>
                </a:lnTo>
                <a:lnTo>
                  <a:pt x="63500" y="444500"/>
                </a:lnTo>
                <a:lnTo>
                  <a:pt x="444500" y="444500"/>
                </a:lnTo>
                <a:lnTo>
                  <a:pt x="561975" y="0"/>
                </a:lnTo>
                <a:lnTo>
                  <a:pt x="635000" y="444500"/>
                </a:lnTo>
                <a:lnTo>
                  <a:pt x="698500" y="444500"/>
                </a:lnTo>
                <a:lnTo>
                  <a:pt x="723209" y="449492"/>
                </a:lnTo>
                <a:lnTo>
                  <a:pt x="743394" y="463105"/>
                </a:lnTo>
                <a:lnTo>
                  <a:pt x="757007" y="483290"/>
                </a:lnTo>
                <a:lnTo>
                  <a:pt x="762000" y="508000"/>
                </a:lnTo>
                <a:lnTo>
                  <a:pt x="762000" y="603250"/>
                </a:lnTo>
                <a:lnTo>
                  <a:pt x="762000" y="762000"/>
                </a:lnTo>
                <a:lnTo>
                  <a:pt x="757007" y="786709"/>
                </a:lnTo>
                <a:lnTo>
                  <a:pt x="743394" y="806894"/>
                </a:lnTo>
                <a:lnTo>
                  <a:pt x="723209" y="820507"/>
                </a:lnTo>
                <a:lnTo>
                  <a:pt x="698500" y="825500"/>
                </a:lnTo>
                <a:lnTo>
                  <a:pt x="635000" y="825500"/>
                </a:lnTo>
                <a:lnTo>
                  <a:pt x="444500" y="825500"/>
                </a:lnTo>
                <a:lnTo>
                  <a:pt x="63500" y="825500"/>
                </a:lnTo>
                <a:lnTo>
                  <a:pt x="38790" y="820507"/>
                </a:lnTo>
                <a:lnTo>
                  <a:pt x="18605" y="806894"/>
                </a:lnTo>
                <a:lnTo>
                  <a:pt x="4992" y="786709"/>
                </a:lnTo>
                <a:lnTo>
                  <a:pt x="0" y="762000"/>
                </a:lnTo>
                <a:lnTo>
                  <a:pt x="0" y="603250"/>
                </a:lnTo>
                <a:lnTo>
                  <a:pt x="0" y="508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719321" y="3858005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消息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153275" y="1587500"/>
            <a:ext cx="1304925" cy="774700"/>
          </a:xfrm>
          <a:custGeom>
            <a:avLst/>
            <a:gdLst/>
            <a:ahLst/>
            <a:cxnLst/>
            <a:rect l="l" t="t" r="r" b="b"/>
            <a:pathLst>
              <a:path w="1304925" h="774700">
                <a:moveTo>
                  <a:pt x="85725" y="457200"/>
                </a:moveTo>
                <a:lnTo>
                  <a:pt x="90717" y="432490"/>
                </a:lnTo>
                <a:lnTo>
                  <a:pt x="104330" y="412305"/>
                </a:lnTo>
                <a:lnTo>
                  <a:pt x="124515" y="398692"/>
                </a:lnTo>
                <a:lnTo>
                  <a:pt x="149225" y="393700"/>
                </a:lnTo>
                <a:lnTo>
                  <a:pt x="288925" y="393700"/>
                </a:lnTo>
                <a:lnTo>
                  <a:pt x="0" y="0"/>
                </a:lnTo>
                <a:lnTo>
                  <a:pt x="593725" y="393700"/>
                </a:lnTo>
                <a:lnTo>
                  <a:pt x="1241425" y="393700"/>
                </a:lnTo>
                <a:lnTo>
                  <a:pt x="1266134" y="398692"/>
                </a:lnTo>
                <a:lnTo>
                  <a:pt x="1286319" y="412305"/>
                </a:lnTo>
                <a:lnTo>
                  <a:pt x="1299932" y="432490"/>
                </a:lnTo>
                <a:lnTo>
                  <a:pt x="1304925" y="457200"/>
                </a:lnTo>
                <a:lnTo>
                  <a:pt x="1304925" y="552450"/>
                </a:lnTo>
                <a:lnTo>
                  <a:pt x="1304925" y="711200"/>
                </a:lnTo>
                <a:lnTo>
                  <a:pt x="1299932" y="735909"/>
                </a:lnTo>
                <a:lnTo>
                  <a:pt x="1286319" y="756094"/>
                </a:lnTo>
                <a:lnTo>
                  <a:pt x="1266134" y="769707"/>
                </a:lnTo>
                <a:lnTo>
                  <a:pt x="1241425" y="774700"/>
                </a:lnTo>
                <a:lnTo>
                  <a:pt x="593725" y="774700"/>
                </a:lnTo>
                <a:lnTo>
                  <a:pt x="288925" y="774700"/>
                </a:lnTo>
                <a:lnTo>
                  <a:pt x="149225" y="774700"/>
                </a:lnTo>
                <a:lnTo>
                  <a:pt x="124515" y="769707"/>
                </a:lnTo>
                <a:lnTo>
                  <a:pt x="104330" y="756094"/>
                </a:lnTo>
                <a:lnTo>
                  <a:pt x="90717" y="735909"/>
                </a:lnTo>
                <a:lnTo>
                  <a:pt x="85725" y="711200"/>
                </a:lnTo>
                <a:lnTo>
                  <a:pt x="85725" y="552450"/>
                </a:lnTo>
                <a:lnTo>
                  <a:pt x="85725" y="457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375906" y="2028825"/>
            <a:ext cx="94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匿名对象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19675" y="1587500"/>
            <a:ext cx="771525" cy="546100"/>
          </a:xfrm>
          <a:custGeom>
            <a:avLst/>
            <a:gdLst/>
            <a:ahLst/>
            <a:cxnLst/>
            <a:rect l="l" t="t" r="r" b="b"/>
            <a:pathLst>
              <a:path w="771525" h="546100">
                <a:moveTo>
                  <a:pt x="9525" y="228600"/>
                </a:moveTo>
                <a:lnTo>
                  <a:pt x="14517" y="203890"/>
                </a:lnTo>
                <a:lnTo>
                  <a:pt x="28130" y="183705"/>
                </a:lnTo>
                <a:lnTo>
                  <a:pt x="48315" y="170092"/>
                </a:lnTo>
                <a:lnTo>
                  <a:pt x="73025" y="165100"/>
                </a:lnTo>
                <a:lnTo>
                  <a:pt x="136525" y="165100"/>
                </a:lnTo>
                <a:lnTo>
                  <a:pt x="0" y="0"/>
                </a:lnTo>
                <a:lnTo>
                  <a:pt x="327025" y="165100"/>
                </a:lnTo>
                <a:lnTo>
                  <a:pt x="708025" y="165100"/>
                </a:lnTo>
                <a:lnTo>
                  <a:pt x="732734" y="170092"/>
                </a:lnTo>
                <a:lnTo>
                  <a:pt x="752919" y="183705"/>
                </a:lnTo>
                <a:lnTo>
                  <a:pt x="766532" y="203890"/>
                </a:lnTo>
                <a:lnTo>
                  <a:pt x="771525" y="228600"/>
                </a:lnTo>
                <a:lnTo>
                  <a:pt x="771525" y="323850"/>
                </a:lnTo>
                <a:lnTo>
                  <a:pt x="771525" y="482600"/>
                </a:lnTo>
                <a:lnTo>
                  <a:pt x="766532" y="507309"/>
                </a:lnTo>
                <a:lnTo>
                  <a:pt x="752919" y="527494"/>
                </a:lnTo>
                <a:lnTo>
                  <a:pt x="732734" y="541107"/>
                </a:lnTo>
                <a:lnTo>
                  <a:pt x="708025" y="546100"/>
                </a:lnTo>
                <a:lnTo>
                  <a:pt x="327025" y="546100"/>
                </a:lnTo>
                <a:lnTo>
                  <a:pt x="136525" y="546100"/>
                </a:lnTo>
                <a:lnTo>
                  <a:pt x="73025" y="546100"/>
                </a:lnTo>
                <a:lnTo>
                  <a:pt x="48315" y="541107"/>
                </a:lnTo>
                <a:lnTo>
                  <a:pt x="28130" y="527494"/>
                </a:lnTo>
                <a:lnTo>
                  <a:pt x="14517" y="507309"/>
                </a:lnTo>
                <a:lnTo>
                  <a:pt x="9525" y="482600"/>
                </a:lnTo>
                <a:lnTo>
                  <a:pt x="9525" y="323850"/>
                </a:lnTo>
                <a:lnTo>
                  <a:pt x="9525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5167376" y="1799666"/>
            <a:ext cx="4857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对象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57200" y="2667000"/>
            <a:ext cx="3216275" cy="609600"/>
          </a:xfrm>
          <a:custGeom>
            <a:avLst/>
            <a:gdLst/>
            <a:ahLst/>
            <a:cxnLst/>
            <a:rect l="l" t="t" r="r" b="b"/>
            <a:pathLst>
              <a:path w="3216275" h="609600">
                <a:moveTo>
                  <a:pt x="0" y="101600"/>
                </a:moveTo>
                <a:lnTo>
                  <a:pt x="7984" y="62043"/>
                </a:lnTo>
                <a:lnTo>
                  <a:pt x="29759" y="29749"/>
                </a:lnTo>
                <a:lnTo>
                  <a:pt x="62054" y="7981"/>
                </a:lnTo>
                <a:lnTo>
                  <a:pt x="101600" y="0"/>
                </a:lnTo>
                <a:lnTo>
                  <a:pt x="800100" y="0"/>
                </a:lnTo>
                <a:lnTo>
                  <a:pt x="1143000" y="0"/>
                </a:lnTo>
                <a:lnTo>
                  <a:pt x="1270000" y="0"/>
                </a:lnTo>
                <a:lnTo>
                  <a:pt x="1309556" y="7981"/>
                </a:lnTo>
                <a:lnTo>
                  <a:pt x="1341850" y="29749"/>
                </a:lnTo>
                <a:lnTo>
                  <a:pt x="1363618" y="62043"/>
                </a:lnTo>
                <a:lnTo>
                  <a:pt x="1371600" y="101600"/>
                </a:lnTo>
                <a:lnTo>
                  <a:pt x="3216275" y="63500"/>
                </a:lnTo>
                <a:lnTo>
                  <a:pt x="1371600" y="254000"/>
                </a:lnTo>
                <a:lnTo>
                  <a:pt x="1371600" y="508000"/>
                </a:lnTo>
                <a:lnTo>
                  <a:pt x="1363618" y="547556"/>
                </a:lnTo>
                <a:lnTo>
                  <a:pt x="1341850" y="579850"/>
                </a:lnTo>
                <a:lnTo>
                  <a:pt x="1309556" y="601618"/>
                </a:lnTo>
                <a:lnTo>
                  <a:pt x="1270000" y="609600"/>
                </a:lnTo>
                <a:lnTo>
                  <a:pt x="1143000" y="609600"/>
                </a:lnTo>
                <a:lnTo>
                  <a:pt x="800100" y="609600"/>
                </a:lnTo>
                <a:lnTo>
                  <a:pt x="101600" y="609600"/>
                </a:lnTo>
                <a:lnTo>
                  <a:pt x="62054" y="601618"/>
                </a:lnTo>
                <a:lnTo>
                  <a:pt x="29759" y="579850"/>
                </a:lnTo>
                <a:lnTo>
                  <a:pt x="7984" y="547556"/>
                </a:lnTo>
                <a:lnTo>
                  <a:pt x="0" y="508000"/>
                </a:lnTo>
                <a:lnTo>
                  <a:pt x="0" y="254000"/>
                </a:lnTo>
                <a:lnTo>
                  <a:pt x="0" y="101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619455" y="2725927"/>
            <a:ext cx="10464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0383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消息名 条件和参数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638800" y="5165852"/>
            <a:ext cx="762000" cy="889000"/>
          </a:xfrm>
          <a:custGeom>
            <a:avLst/>
            <a:gdLst/>
            <a:ahLst/>
            <a:cxnLst/>
            <a:rect l="l" t="t" r="r" b="b"/>
            <a:pathLst>
              <a:path w="762000" h="889000">
                <a:moveTo>
                  <a:pt x="0" y="571500"/>
                </a:moveTo>
                <a:lnTo>
                  <a:pt x="4992" y="546785"/>
                </a:lnTo>
                <a:lnTo>
                  <a:pt x="18605" y="526600"/>
                </a:lnTo>
                <a:lnTo>
                  <a:pt x="38790" y="512990"/>
                </a:lnTo>
                <a:lnTo>
                  <a:pt x="63500" y="508000"/>
                </a:lnTo>
                <a:lnTo>
                  <a:pt x="127000" y="508000"/>
                </a:lnTo>
                <a:lnTo>
                  <a:pt x="15875" y="0"/>
                </a:lnTo>
                <a:lnTo>
                  <a:pt x="317500" y="508000"/>
                </a:lnTo>
                <a:lnTo>
                  <a:pt x="698500" y="508000"/>
                </a:lnTo>
                <a:lnTo>
                  <a:pt x="723209" y="512990"/>
                </a:lnTo>
                <a:lnTo>
                  <a:pt x="743394" y="526600"/>
                </a:lnTo>
                <a:lnTo>
                  <a:pt x="757007" y="546785"/>
                </a:lnTo>
                <a:lnTo>
                  <a:pt x="762000" y="571500"/>
                </a:lnTo>
                <a:lnTo>
                  <a:pt x="762000" y="666750"/>
                </a:lnTo>
                <a:lnTo>
                  <a:pt x="762000" y="825500"/>
                </a:lnTo>
                <a:lnTo>
                  <a:pt x="757007" y="850214"/>
                </a:lnTo>
                <a:lnTo>
                  <a:pt x="743394" y="870399"/>
                </a:lnTo>
                <a:lnTo>
                  <a:pt x="723209" y="884009"/>
                </a:lnTo>
                <a:lnTo>
                  <a:pt x="698500" y="889000"/>
                </a:lnTo>
                <a:lnTo>
                  <a:pt x="317500" y="889000"/>
                </a:lnTo>
                <a:lnTo>
                  <a:pt x="127000" y="889000"/>
                </a:lnTo>
                <a:lnTo>
                  <a:pt x="63500" y="889000"/>
                </a:lnTo>
                <a:lnTo>
                  <a:pt x="38790" y="884009"/>
                </a:lnTo>
                <a:lnTo>
                  <a:pt x="18605" y="870399"/>
                </a:lnTo>
                <a:lnTo>
                  <a:pt x="4992" y="850214"/>
                </a:lnTo>
                <a:lnTo>
                  <a:pt x="0" y="825500"/>
                </a:lnTo>
                <a:lnTo>
                  <a:pt x="0" y="666750"/>
                </a:lnTo>
                <a:lnTo>
                  <a:pt x="0" y="571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776976" y="5722111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销毁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362200" y="4953000"/>
            <a:ext cx="1108075" cy="584200"/>
          </a:xfrm>
          <a:custGeom>
            <a:avLst/>
            <a:gdLst/>
            <a:ahLst/>
            <a:cxnLst/>
            <a:rect l="l" t="t" r="r" b="b"/>
            <a:pathLst>
              <a:path w="1108075" h="584200">
                <a:moveTo>
                  <a:pt x="0" y="63500"/>
                </a:moveTo>
                <a:lnTo>
                  <a:pt x="4992" y="38790"/>
                </a:lnTo>
                <a:lnTo>
                  <a:pt x="18605" y="18605"/>
                </a:lnTo>
                <a:lnTo>
                  <a:pt x="38790" y="4992"/>
                </a:lnTo>
                <a:lnTo>
                  <a:pt x="63500" y="0"/>
                </a:lnTo>
                <a:lnTo>
                  <a:pt x="488950" y="0"/>
                </a:lnTo>
                <a:lnTo>
                  <a:pt x="698500" y="0"/>
                </a:lnTo>
                <a:lnTo>
                  <a:pt x="774700" y="0"/>
                </a:lnTo>
                <a:lnTo>
                  <a:pt x="799409" y="4992"/>
                </a:lnTo>
                <a:lnTo>
                  <a:pt x="819594" y="18605"/>
                </a:lnTo>
                <a:lnTo>
                  <a:pt x="833207" y="38790"/>
                </a:lnTo>
                <a:lnTo>
                  <a:pt x="838200" y="63500"/>
                </a:lnTo>
                <a:lnTo>
                  <a:pt x="838200" y="222250"/>
                </a:lnTo>
                <a:lnTo>
                  <a:pt x="838200" y="317500"/>
                </a:lnTo>
                <a:lnTo>
                  <a:pt x="833207" y="342209"/>
                </a:lnTo>
                <a:lnTo>
                  <a:pt x="819594" y="362394"/>
                </a:lnTo>
                <a:lnTo>
                  <a:pt x="799409" y="376007"/>
                </a:lnTo>
                <a:lnTo>
                  <a:pt x="774700" y="381000"/>
                </a:lnTo>
                <a:lnTo>
                  <a:pt x="698500" y="381000"/>
                </a:lnTo>
                <a:lnTo>
                  <a:pt x="1108075" y="584200"/>
                </a:lnTo>
                <a:lnTo>
                  <a:pt x="488950" y="381000"/>
                </a:lnTo>
                <a:lnTo>
                  <a:pt x="63500" y="381000"/>
                </a:lnTo>
                <a:lnTo>
                  <a:pt x="38790" y="376007"/>
                </a:lnTo>
                <a:lnTo>
                  <a:pt x="18605" y="362394"/>
                </a:lnTo>
                <a:lnTo>
                  <a:pt x="4992" y="342209"/>
                </a:lnTo>
                <a:lnTo>
                  <a:pt x="0" y="317500"/>
                </a:lnTo>
                <a:lnTo>
                  <a:pt x="0" y="222250"/>
                </a:lnTo>
                <a:lnTo>
                  <a:pt x="0" y="63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2423922" y="5001259"/>
            <a:ext cx="716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自调用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85800" y="1562100"/>
            <a:ext cx="1235075" cy="495300"/>
          </a:xfrm>
          <a:custGeom>
            <a:avLst/>
            <a:gdLst/>
            <a:ahLst/>
            <a:cxnLst/>
            <a:rect l="l" t="t" r="r" b="b"/>
            <a:pathLst>
              <a:path w="1235075" h="495300">
                <a:moveTo>
                  <a:pt x="0" y="177800"/>
                </a:moveTo>
                <a:lnTo>
                  <a:pt x="4990" y="153090"/>
                </a:lnTo>
                <a:lnTo>
                  <a:pt x="18600" y="132905"/>
                </a:lnTo>
                <a:lnTo>
                  <a:pt x="38785" y="119292"/>
                </a:lnTo>
                <a:lnTo>
                  <a:pt x="63500" y="114300"/>
                </a:lnTo>
                <a:lnTo>
                  <a:pt x="577850" y="114300"/>
                </a:lnTo>
                <a:lnTo>
                  <a:pt x="1235075" y="0"/>
                </a:lnTo>
                <a:lnTo>
                  <a:pt x="825500" y="114300"/>
                </a:lnTo>
                <a:lnTo>
                  <a:pt x="927100" y="114300"/>
                </a:lnTo>
                <a:lnTo>
                  <a:pt x="951809" y="119292"/>
                </a:lnTo>
                <a:lnTo>
                  <a:pt x="971994" y="132905"/>
                </a:lnTo>
                <a:lnTo>
                  <a:pt x="985607" y="153090"/>
                </a:lnTo>
                <a:lnTo>
                  <a:pt x="990600" y="177800"/>
                </a:lnTo>
                <a:lnTo>
                  <a:pt x="990600" y="273050"/>
                </a:lnTo>
                <a:lnTo>
                  <a:pt x="990600" y="431800"/>
                </a:lnTo>
                <a:lnTo>
                  <a:pt x="985607" y="456509"/>
                </a:lnTo>
                <a:lnTo>
                  <a:pt x="971994" y="476694"/>
                </a:lnTo>
                <a:lnTo>
                  <a:pt x="951809" y="490307"/>
                </a:lnTo>
                <a:lnTo>
                  <a:pt x="927100" y="495300"/>
                </a:lnTo>
                <a:lnTo>
                  <a:pt x="825500" y="495300"/>
                </a:lnTo>
                <a:lnTo>
                  <a:pt x="577850" y="495300"/>
                </a:lnTo>
                <a:lnTo>
                  <a:pt x="63500" y="495300"/>
                </a:lnTo>
                <a:lnTo>
                  <a:pt x="38785" y="490307"/>
                </a:lnTo>
                <a:lnTo>
                  <a:pt x="18600" y="476694"/>
                </a:lnTo>
                <a:lnTo>
                  <a:pt x="4990" y="456509"/>
                </a:lnTo>
                <a:lnTo>
                  <a:pt x="0" y="431800"/>
                </a:lnTo>
                <a:lnTo>
                  <a:pt x="0" y="273050"/>
                </a:lnTo>
                <a:lnTo>
                  <a:pt x="0" y="177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823061" y="1723466"/>
            <a:ext cx="716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宋体"/>
                <a:cs typeface="宋体"/>
              </a:rPr>
              <a:t>参与者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315075" y="2667000"/>
            <a:ext cx="2219325" cy="381000"/>
          </a:xfrm>
          <a:custGeom>
            <a:avLst/>
            <a:gdLst/>
            <a:ahLst/>
            <a:cxnLst/>
            <a:rect l="l" t="t" r="r" b="b"/>
            <a:pathLst>
              <a:path w="2219325" h="381000">
                <a:moveTo>
                  <a:pt x="1000125" y="63500"/>
                </a:moveTo>
                <a:lnTo>
                  <a:pt x="1005117" y="38790"/>
                </a:lnTo>
                <a:lnTo>
                  <a:pt x="1018730" y="18605"/>
                </a:lnTo>
                <a:lnTo>
                  <a:pt x="1038915" y="4992"/>
                </a:lnTo>
                <a:lnTo>
                  <a:pt x="1063625" y="0"/>
                </a:lnTo>
                <a:lnTo>
                  <a:pt x="1203325" y="0"/>
                </a:lnTo>
                <a:lnTo>
                  <a:pt x="1508125" y="0"/>
                </a:lnTo>
                <a:lnTo>
                  <a:pt x="2155825" y="0"/>
                </a:lnTo>
                <a:lnTo>
                  <a:pt x="2180534" y="4992"/>
                </a:lnTo>
                <a:lnTo>
                  <a:pt x="2200719" y="18605"/>
                </a:lnTo>
                <a:lnTo>
                  <a:pt x="2214332" y="38790"/>
                </a:lnTo>
                <a:lnTo>
                  <a:pt x="2219325" y="63500"/>
                </a:lnTo>
                <a:lnTo>
                  <a:pt x="2219325" y="158750"/>
                </a:lnTo>
                <a:lnTo>
                  <a:pt x="2219325" y="317500"/>
                </a:lnTo>
                <a:lnTo>
                  <a:pt x="2214332" y="342209"/>
                </a:lnTo>
                <a:lnTo>
                  <a:pt x="2200719" y="362394"/>
                </a:lnTo>
                <a:lnTo>
                  <a:pt x="2180534" y="376007"/>
                </a:lnTo>
                <a:lnTo>
                  <a:pt x="2155825" y="381000"/>
                </a:lnTo>
                <a:lnTo>
                  <a:pt x="1508125" y="381000"/>
                </a:lnTo>
                <a:lnTo>
                  <a:pt x="1203325" y="381000"/>
                </a:lnTo>
                <a:lnTo>
                  <a:pt x="1063625" y="381000"/>
                </a:lnTo>
                <a:lnTo>
                  <a:pt x="1038915" y="376007"/>
                </a:lnTo>
                <a:lnTo>
                  <a:pt x="1018730" y="362394"/>
                </a:lnTo>
                <a:lnTo>
                  <a:pt x="1005117" y="342209"/>
                </a:lnTo>
                <a:lnTo>
                  <a:pt x="1000125" y="317500"/>
                </a:lnTo>
                <a:lnTo>
                  <a:pt x="1000125" y="158750"/>
                </a:lnTo>
                <a:lnTo>
                  <a:pt x="0" y="165100"/>
                </a:lnTo>
                <a:lnTo>
                  <a:pt x="1000125" y="63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452106" y="2714625"/>
            <a:ext cx="94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创建对象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85800" y="2921000"/>
            <a:ext cx="2797175" cy="1270000"/>
          </a:xfrm>
          <a:custGeom>
            <a:avLst/>
            <a:gdLst/>
            <a:ahLst/>
            <a:cxnLst/>
            <a:rect l="l" t="t" r="r" b="b"/>
            <a:pathLst>
              <a:path w="2797175" h="1270000">
                <a:moveTo>
                  <a:pt x="0" y="952500"/>
                </a:moveTo>
                <a:lnTo>
                  <a:pt x="4990" y="927790"/>
                </a:lnTo>
                <a:lnTo>
                  <a:pt x="18600" y="907605"/>
                </a:lnTo>
                <a:lnTo>
                  <a:pt x="38785" y="893992"/>
                </a:lnTo>
                <a:lnTo>
                  <a:pt x="63500" y="889000"/>
                </a:lnTo>
                <a:lnTo>
                  <a:pt x="711200" y="889000"/>
                </a:lnTo>
                <a:lnTo>
                  <a:pt x="2797175" y="0"/>
                </a:lnTo>
                <a:lnTo>
                  <a:pt x="1016000" y="889000"/>
                </a:lnTo>
                <a:lnTo>
                  <a:pt x="1155700" y="889000"/>
                </a:lnTo>
                <a:lnTo>
                  <a:pt x="1180409" y="893992"/>
                </a:lnTo>
                <a:lnTo>
                  <a:pt x="1200594" y="907605"/>
                </a:lnTo>
                <a:lnTo>
                  <a:pt x="1214207" y="927790"/>
                </a:lnTo>
                <a:lnTo>
                  <a:pt x="1219200" y="952500"/>
                </a:lnTo>
                <a:lnTo>
                  <a:pt x="1219200" y="1047750"/>
                </a:lnTo>
                <a:lnTo>
                  <a:pt x="1219200" y="1206500"/>
                </a:lnTo>
                <a:lnTo>
                  <a:pt x="1214207" y="1231209"/>
                </a:lnTo>
                <a:lnTo>
                  <a:pt x="1200594" y="1251394"/>
                </a:lnTo>
                <a:lnTo>
                  <a:pt x="1180409" y="1265007"/>
                </a:lnTo>
                <a:lnTo>
                  <a:pt x="1155700" y="1270000"/>
                </a:lnTo>
                <a:lnTo>
                  <a:pt x="1016000" y="1270000"/>
                </a:lnTo>
                <a:lnTo>
                  <a:pt x="711200" y="1270000"/>
                </a:lnTo>
                <a:lnTo>
                  <a:pt x="63500" y="1270000"/>
                </a:lnTo>
                <a:lnTo>
                  <a:pt x="38785" y="1265007"/>
                </a:lnTo>
                <a:lnTo>
                  <a:pt x="18600" y="1251394"/>
                </a:lnTo>
                <a:lnTo>
                  <a:pt x="4990" y="1231209"/>
                </a:lnTo>
                <a:lnTo>
                  <a:pt x="0" y="1206500"/>
                </a:lnTo>
                <a:lnTo>
                  <a:pt x="0" y="1047750"/>
                </a:lnTo>
                <a:lnTo>
                  <a:pt x="0" y="952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821842" y="3858005"/>
            <a:ext cx="94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分支条件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70" name="object 7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title"/>
          </p:nvPr>
        </p:nvSpPr>
        <p:spPr>
          <a:xfrm>
            <a:off x="3272409" y="159765"/>
            <a:ext cx="28238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顺序图示例</a:t>
            </a:r>
            <a:endParaRPr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7916" y="1267967"/>
            <a:ext cx="1230629" cy="37459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58745" y="212216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顺序图的主要元素</a:t>
            </a:r>
            <a:endParaRPr sz="4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7217" y="1269906"/>
            <a:ext cx="5821680" cy="416242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80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b="1" spc="-10" dirty="0">
                <a:solidFill>
                  <a:srgbClr val="00A361"/>
                </a:solidFill>
                <a:latin typeface="宋体"/>
                <a:cs typeface="宋体"/>
              </a:rPr>
              <a:t>对象与</a:t>
            </a:r>
            <a:r>
              <a:rPr sz="2800" b="1" dirty="0">
                <a:solidFill>
                  <a:srgbClr val="00A361"/>
                </a:solidFill>
                <a:latin typeface="宋体"/>
                <a:cs typeface="宋体"/>
              </a:rPr>
              <a:t>角</a:t>
            </a:r>
            <a:r>
              <a:rPr sz="2800" b="1" spc="10" dirty="0">
                <a:solidFill>
                  <a:srgbClr val="00A361"/>
                </a:solidFill>
                <a:latin typeface="宋体"/>
                <a:cs typeface="宋体"/>
              </a:rPr>
              <a:t>色</a:t>
            </a:r>
            <a:r>
              <a:rPr sz="2800" spc="-5" dirty="0">
                <a:latin typeface="宋体"/>
                <a:cs typeface="宋体"/>
              </a:rPr>
              <a:t>：最顶上一排矩形框。</a:t>
            </a:r>
            <a:endParaRPr sz="2800">
              <a:latin typeface="宋体"/>
              <a:cs typeface="宋体"/>
            </a:endParaRPr>
          </a:p>
          <a:p>
            <a:pPr marL="469265" marR="372110" indent="-457200">
              <a:lnSpc>
                <a:spcPct val="125000"/>
              </a:lnSpc>
              <a:spcBef>
                <a:spcPts val="340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参与交互的对象既可以是具体的 事物，又可以是原型化的事物。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"/>
            </a:pPr>
            <a:endParaRPr sz="3800">
              <a:latin typeface="宋体"/>
              <a:cs typeface="宋体"/>
            </a:endParaRPr>
          </a:p>
          <a:p>
            <a:pPr marL="354965" marR="240665" indent="-342900">
              <a:lnSpc>
                <a:spcPct val="125000"/>
              </a:lnSpc>
              <a:buClr>
                <a:srgbClr val="00663B"/>
              </a:buClr>
              <a:buFont typeface="Wingdings"/>
              <a:buChar char=""/>
              <a:tabLst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例如，</a:t>
            </a:r>
            <a:r>
              <a:rPr sz="2400" spc="-5" dirty="0">
                <a:latin typeface="Times New Roman"/>
                <a:cs typeface="Times New Roman"/>
              </a:rPr>
              <a:t>aO</a:t>
            </a:r>
            <a:r>
              <a:rPr sz="2400" dirty="0">
                <a:latin typeface="Times New Roman"/>
                <a:cs typeface="Times New Roman"/>
              </a:rPr>
              <a:t>rder</a:t>
            </a:r>
            <a:r>
              <a:rPr sz="2400" dirty="0">
                <a:latin typeface="宋体"/>
                <a:cs typeface="宋体"/>
              </a:rPr>
              <a:t>作为类</a:t>
            </a:r>
            <a:r>
              <a:rPr sz="2400" spc="-5" dirty="0">
                <a:latin typeface="Times New Roman"/>
                <a:cs typeface="Times New Roman"/>
              </a:rPr>
              <a:t>Ord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宋体"/>
                <a:cs typeface="宋体"/>
              </a:rPr>
              <a:t>的一个实例， 可以代表一个特定的订单；而如果作为 </a:t>
            </a:r>
            <a:r>
              <a:rPr sz="2400" spc="-5" dirty="0">
                <a:latin typeface="宋体"/>
                <a:cs typeface="宋体"/>
              </a:rPr>
              <a:t>一个原型化的事件，</a:t>
            </a:r>
            <a:r>
              <a:rPr sz="2400" dirty="0">
                <a:latin typeface="宋体"/>
                <a:cs typeface="宋体"/>
              </a:rPr>
              <a:t>则</a:t>
            </a:r>
            <a:r>
              <a:rPr sz="2400" dirty="0">
                <a:latin typeface="Times New Roman"/>
                <a:cs typeface="Times New Roman"/>
              </a:rPr>
              <a:t>aOrder</a:t>
            </a:r>
            <a:r>
              <a:rPr sz="2400" spc="-5" dirty="0">
                <a:latin typeface="宋体"/>
                <a:cs typeface="宋体"/>
              </a:rPr>
              <a:t>可以代表 </a:t>
            </a:r>
            <a:r>
              <a:rPr sz="2400" dirty="0">
                <a:latin typeface="宋体"/>
                <a:cs typeface="宋体"/>
              </a:rPr>
              <a:t>类</a:t>
            </a:r>
            <a:r>
              <a:rPr sz="2400" dirty="0">
                <a:latin typeface="Times New Roman"/>
                <a:cs typeface="Times New Roman"/>
              </a:rPr>
              <a:t>Order</a:t>
            </a:r>
            <a:r>
              <a:rPr sz="2400" dirty="0">
                <a:latin typeface="宋体"/>
                <a:cs typeface="宋体"/>
              </a:rPr>
              <a:t>的任何一个实例。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217" y="1321181"/>
            <a:ext cx="7815580" cy="436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25000"/>
              </a:lnSpc>
              <a:spcBef>
                <a:spcPts val="100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</a:tabLst>
            </a:pPr>
            <a:r>
              <a:rPr sz="2400" b="1" dirty="0">
                <a:solidFill>
                  <a:srgbClr val="00A361"/>
                </a:solidFill>
                <a:latin typeface="宋体"/>
                <a:cs typeface="宋体"/>
              </a:rPr>
              <a:t>生命线与控制焦点</a:t>
            </a:r>
            <a:r>
              <a:rPr sz="2400" dirty="0">
                <a:latin typeface="宋体"/>
                <a:cs typeface="宋体"/>
              </a:rPr>
              <a:t>：每个对象都有自己的生命线，对象 生命线是一条垂直的虚线，用来表示一个对象在一段时 间内存在。</a:t>
            </a:r>
            <a:endParaRPr sz="2400">
              <a:latin typeface="宋体"/>
              <a:cs typeface="宋体"/>
            </a:endParaRPr>
          </a:p>
          <a:p>
            <a:pPr marL="469265" marR="12065" indent="-457200" algn="just">
              <a:lnSpc>
                <a:spcPct val="125000"/>
              </a:lnSpc>
              <a:spcBef>
                <a:spcPts val="575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</a:tabLst>
            </a:pPr>
            <a:r>
              <a:rPr sz="2400" b="1" dirty="0">
                <a:solidFill>
                  <a:srgbClr val="00A361"/>
                </a:solidFill>
                <a:latin typeface="宋体"/>
                <a:cs typeface="宋体"/>
              </a:rPr>
              <a:t>消息</a:t>
            </a:r>
            <a:r>
              <a:rPr sz="2400" dirty="0">
                <a:latin typeface="宋体"/>
                <a:cs typeface="宋体"/>
              </a:rPr>
              <a:t>：用来描述对象之间所进行的通信的，该信息带有 对将要发生的活动的期望。当传送一个消息时，它所引 起的动用是一个通过对计算过程的抽象而得到的可执行 语句。</a:t>
            </a:r>
            <a:endParaRPr sz="2400">
              <a:latin typeface="宋体"/>
              <a:cs typeface="宋体"/>
            </a:endParaRPr>
          </a:p>
          <a:p>
            <a:pPr marL="469900" indent="-457200" algn="just">
              <a:lnSpc>
                <a:spcPct val="100000"/>
              </a:lnSpc>
              <a:spcBef>
                <a:spcPts val="1300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消息分为五种：调用、返回、发送、创建和销毁</a:t>
            </a:r>
            <a:endParaRPr sz="2400">
              <a:latin typeface="宋体"/>
              <a:cs typeface="宋体"/>
            </a:endParaRPr>
          </a:p>
          <a:p>
            <a:pPr marL="469900" indent="-457200" algn="just">
              <a:lnSpc>
                <a:spcPct val="100000"/>
              </a:lnSpc>
              <a:spcBef>
                <a:spcPts val="1295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调用：表示调用某个对象一个操作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5357" y="187909"/>
            <a:ext cx="4502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/>
              <a:t>顺序图的主要元素</a:t>
            </a:r>
            <a:endParaRPr sz="4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0683" y="2267443"/>
            <a:ext cx="7217333" cy="2488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35353" y="230251"/>
            <a:ext cx="58928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顺序图的主要元</a:t>
            </a:r>
            <a:r>
              <a:rPr sz="4400" spc="5" dirty="0"/>
              <a:t>素</a:t>
            </a:r>
            <a:r>
              <a:rPr sz="4400" dirty="0">
                <a:latin typeface="Calibri"/>
                <a:cs typeface="Calibri"/>
              </a:rPr>
              <a:t>: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/>
              <a:t>调用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495" y="3284220"/>
            <a:ext cx="4680204" cy="3121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36108" y="3788664"/>
            <a:ext cx="3384803" cy="1851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36470" y="142747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顺序图的主要元素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2742" y="1139616"/>
            <a:ext cx="780605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 algn="just">
              <a:lnSpc>
                <a:spcPct val="125000"/>
              </a:lnSpc>
              <a:spcBef>
                <a:spcPts val="105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</a:tabLst>
            </a:pPr>
            <a:r>
              <a:rPr sz="2400" b="1" spc="-5" dirty="0">
                <a:solidFill>
                  <a:srgbClr val="00A361"/>
                </a:solidFill>
                <a:latin typeface="宋体"/>
                <a:cs typeface="宋体"/>
              </a:rPr>
              <a:t>顺序编</a:t>
            </a:r>
            <a:r>
              <a:rPr sz="2400" b="1" dirty="0">
                <a:solidFill>
                  <a:srgbClr val="00A361"/>
                </a:solidFill>
                <a:latin typeface="宋体"/>
                <a:cs typeface="宋体"/>
              </a:rPr>
              <a:t>号</a:t>
            </a:r>
            <a:r>
              <a:rPr sz="2400" spc="-5" dirty="0">
                <a:solidFill>
                  <a:srgbClr val="4F81BC"/>
                </a:solidFill>
                <a:latin typeface="宋体"/>
                <a:cs typeface="宋体"/>
              </a:rPr>
              <a:t>：</a:t>
            </a:r>
            <a:r>
              <a:rPr sz="2400" spc="-5" dirty="0">
                <a:latin typeface="宋体"/>
                <a:cs typeface="宋体"/>
              </a:rPr>
              <a:t>整个消息的传递过程就形成了一</a:t>
            </a:r>
            <a:r>
              <a:rPr sz="2400" dirty="0">
                <a:latin typeface="宋体"/>
                <a:cs typeface="宋体"/>
              </a:rPr>
              <a:t>个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完整的序 列</a:t>
            </a:r>
            <a:r>
              <a:rPr sz="2400" dirty="0">
                <a:latin typeface="宋体"/>
                <a:cs typeface="宋体"/>
              </a:rPr>
              <a:t>，因此通过在每个消息的前面加上一个用冒号隔开的 顺序号来表示其顺序。除了顺序编号之外，还可以采用 </a:t>
            </a:r>
            <a:r>
              <a:rPr sz="2400" spc="-5" dirty="0">
                <a:latin typeface="宋体"/>
                <a:cs typeface="宋体"/>
              </a:rPr>
              <a:t>嵌套方案：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00"/>
              </a:spcBef>
            </a:pPr>
            <a:r>
              <a:rPr dirty="0"/>
              <a:t>顺序图的主要元素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17" y="1409776"/>
            <a:ext cx="1549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宋体"/>
                <a:cs typeface="宋体"/>
              </a:rPr>
              <a:t>循环与分支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107" y="6425590"/>
            <a:ext cx="2239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663B"/>
                </a:solidFill>
                <a:latin typeface="华文行楷"/>
                <a:cs typeface="华文行楷"/>
              </a:rPr>
              <a:t>软件需求工程</a:t>
            </a:r>
            <a:r>
              <a:rPr sz="1600" spc="-20" dirty="0">
                <a:solidFill>
                  <a:srgbClr val="00663B"/>
                </a:solidFill>
                <a:latin typeface="华文行楷"/>
                <a:cs typeface="华文行楷"/>
              </a:rPr>
              <a:t>与</a:t>
            </a:r>
            <a:r>
              <a:rPr sz="1600" spc="-5" dirty="0">
                <a:solidFill>
                  <a:srgbClr val="00663B"/>
                </a:solidFill>
                <a:latin typeface="Calibri"/>
                <a:cs typeface="Calibri"/>
              </a:rPr>
              <a:t>UM</a:t>
            </a:r>
            <a:r>
              <a:rPr sz="1600" spc="-10" dirty="0">
                <a:solidFill>
                  <a:srgbClr val="00663B"/>
                </a:solidFill>
                <a:latin typeface="Calibri"/>
                <a:cs typeface="Calibri"/>
              </a:rPr>
              <a:t>L</a:t>
            </a:r>
            <a:r>
              <a:rPr sz="1600" spc="-5" dirty="0">
                <a:solidFill>
                  <a:srgbClr val="00663B"/>
                </a:solidFill>
                <a:latin typeface="华文行楷"/>
                <a:cs typeface="华文行楷"/>
              </a:rPr>
              <a:t>建模</a:t>
            </a:r>
            <a:endParaRPr sz="1600">
              <a:latin typeface="华文行楷"/>
              <a:cs typeface="华文行楷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8443" y="6456679"/>
            <a:ext cx="229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Black"/>
                <a:cs typeface="Arial Black"/>
              </a:rPr>
              <a:t>12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7" y="944626"/>
            <a:ext cx="8255000" cy="50742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宋体"/>
                <a:cs typeface="宋体"/>
              </a:rPr>
              <a:t>过程和步骤：</a:t>
            </a:r>
            <a:endParaRPr sz="24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575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根据具体用况中的对象或参与者的交互语境，设置交互；</a:t>
            </a:r>
            <a:endParaRPr sz="24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580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在顺序图上部列出所选的一组对象或参与者；</a:t>
            </a:r>
            <a:endParaRPr sz="24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575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为每个对象和参与者设置生命线。</a:t>
            </a:r>
            <a:endParaRPr sz="24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575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用消息箭线显式地标出交互中将被创建和撤消的对象；</a:t>
            </a:r>
            <a:endParaRPr sz="2400">
              <a:latin typeface="宋体"/>
              <a:cs typeface="宋体"/>
            </a:endParaRPr>
          </a:p>
          <a:p>
            <a:pPr marL="470534" indent="-458470">
              <a:lnSpc>
                <a:spcPct val="100000"/>
              </a:lnSpc>
              <a:spcBef>
                <a:spcPts val="575"/>
              </a:spcBef>
              <a:buSzPct val="95833"/>
              <a:buFont typeface="Times New Roman"/>
              <a:buAutoNum type="arabicPlain"/>
              <a:tabLst>
                <a:tab pos="471170" algn="l"/>
              </a:tabLst>
            </a:pPr>
            <a:r>
              <a:rPr sz="2400" spc="-5" dirty="0">
                <a:latin typeface="宋体"/>
                <a:cs typeface="宋体"/>
              </a:rPr>
              <a:t>在对象之间，标出消息进行传递的序列；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580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在对象生命线上，按对象操作的次序，排列各操作的激活 区间，若两个对象的操作执行属于同一控制线程，则接收者操 作的执行应在发送者发出消息之后开始，并在发送者结束之前 结束；</a:t>
            </a:r>
            <a:endParaRPr sz="24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575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描述对象执行的操作功能、时间、范围约束；</a:t>
            </a:r>
            <a:endParaRPr sz="24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575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可显式地表示消息的迭代或分支。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01723" y="128396"/>
            <a:ext cx="43567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Calibri"/>
                <a:cs typeface="Calibri"/>
              </a:rPr>
              <a:t>2.2.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/>
              <a:t>顺序图的建立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0651" y="1339596"/>
            <a:ext cx="193675" cy="4953000"/>
          </a:xfrm>
          <a:custGeom>
            <a:avLst/>
            <a:gdLst/>
            <a:ahLst/>
            <a:cxnLst/>
            <a:rect l="l" t="t" r="r" b="b"/>
            <a:pathLst>
              <a:path w="193675" h="4953000">
                <a:moveTo>
                  <a:pt x="0" y="4953000"/>
                </a:moveTo>
                <a:lnTo>
                  <a:pt x="193548" y="4953000"/>
                </a:lnTo>
                <a:lnTo>
                  <a:pt x="193548" y="0"/>
                </a:lnTo>
                <a:lnTo>
                  <a:pt x="0" y="0"/>
                </a:lnTo>
                <a:lnTo>
                  <a:pt x="0" y="495300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62200" y="765048"/>
            <a:ext cx="160020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6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1600" u="sng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：打电话的人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4255" y="765048"/>
            <a:ext cx="1228725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600" spc="-5" dirty="0">
                <a:latin typeface="宋体"/>
                <a:cs typeface="宋体"/>
              </a:rPr>
              <a:t>：</a:t>
            </a:r>
            <a:r>
              <a:rPr sz="1600" u="sng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交换机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3600" y="3810000"/>
            <a:ext cx="106680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宋体"/>
                <a:cs typeface="宋体"/>
              </a:rPr>
              <a:t>：</a:t>
            </a:r>
            <a:r>
              <a:rPr sz="1600" u="sng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会话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5056" y="841247"/>
            <a:ext cx="1685925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600" spc="-10" dirty="0">
                <a:latin typeface="Times New Roman"/>
                <a:cs typeface="Times New Roman"/>
              </a:rPr>
              <a:t>r</a:t>
            </a:r>
            <a:r>
              <a:rPr sz="1600" spc="-10" dirty="0">
                <a:latin typeface="宋体"/>
                <a:cs typeface="宋体"/>
              </a:rPr>
              <a:t>：</a:t>
            </a:r>
            <a:r>
              <a:rPr sz="1600" spc="-5" dirty="0">
                <a:latin typeface="宋体"/>
                <a:cs typeface="宋体"/>
              </a:rPr>
              <a:t>接电话的人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91455" y="1110996"/>
            <a:ext cx="161925" cy="5181600"/>
          </a:xfrm>
          <a:custGeom>
            <a:avLst/>
            <a:gdLst/>
            <a:ahLst/>
            <a:cxnLst/>
            <a:rect l="l" t="t" r="r" b="b"/>
            <a:pathLst>
              <a:path w="161925" h="5181600">
                <a:moveTo>
                  <a:pt x="0" y="5181600"/>
                </a:moveTo>
                <a:lnTo>
                  <a:pt x="161544" y="5181600"/>
                </a:lnTo>
                <a:lnTo>
                  <a:pt x="161544" y="0"/>
                </a:lnTo>
                <a:lnTo>
                  <a:pt x="0" y="0"/>
                </a:lnTo>
                <a:lnTo>
                  <a:pt x="0" y="5181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59652" y="4311396"/>
            <a:ext cx="193675" cy="1905000"/>
          </a:xfrm>
          <a:custGeom>
            <a:avLst/>
            <a:gdLst/>
            <a:ahLst/>
            <a:cxnLst/>
            <a:rect l="l" t="t" r="r" b="b"/>
            <a:pathLst>
              <a:path w="193675" h="1905000">
                <a:moveTo>
                  <a:pt x="0" y="1904999"/>
                </a:moveTo>
                <a:lnTo>
                  <a:pt x="193548" y="1904999"/>
                </a:lnTo>
                <a:lnTo>
                  <a:pt x="193548" y="0"/>
                </a:lnTo>
                <a:lnTo>
                  <a:pt x="0" y="0"/>
                </a:lnTo>
                <a:lnTo>
                  <a:pt x="0" y="19049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31252" y="3244595"/>
            <a:ext cx="193675" cy="2895600"/>
          </a:xfrm>
          <a:custGeom>
            <a:avLst/>
            <a:gdLst/>
            <a:ahLst/>
            <a:cxnLst/>
            <a:rect l="l" t="t" r="r" b="b"/>
            <a:pathLst>
              <a:path w="193675" h="2895600">
                <a:moveTo>
                  <a:pt x="0" y="2895599"/>
                </a:moveTo>
                <a:lnTo>
                  <a:pt x="193548" y="2895599"/>
                </a:lnTo>
                <a:lnTo>
                  <a:pt x="193548" y="0"/>
                </a:lnTo>
                <a:lnTo>
                  <a:pt x="0" y="0"/>
                </a:lnTo>
                <a:lnTo>
                  <a:pt x="0" y="28955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67655" y="3244595"/>
            <a:ext cx="193675" cy="457200"/>
          </a:xfrm>
          <a:custGeom>
            <a:avLst/>
            <a:gdLst/>
            <a:ahLst/>
            <a:cxnLst/>
            <a:rect l="l" t="t" r="r" b="b"/>
            <a:pathLst>
              <a:path w="193675" h="457200">
                <a:moveTo>
                  <a:pt x="0" y="457199"/>
                </a:moveTo>
                <a:lnTo>
                  <a:pt x="193548" y="457199"/>
                </a:lnTo>
                <a:lnTo>
                  <a:pt x="193548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7655" y="3244595"/>
            <a:ext cx="193675" cy="457200"/>
          </a:xfrm>
          <a:custGeom>
            <a:avLst/>
            <a:gdLst/>
            <a:ahLst/>
            <a:cxnLst/>
            <a:rect l="l" t="t" r="r" b="b"/>
            <a:pathLst>
              <a:path w="193675" h="457200">
                <a:moveTo>
                  <a:pt x="0" y="457199"/>
                </a:moveTo>
                <a:lnTo>
                  <a:pt x="193548" y="457199"/>
                </a:lnTo>
                <a:lnTo>
                  <a:pt x="193548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48600" y="1187196"/>
            <a:ext cx="0" cy="2057400"/>
          </a:xfrm>
          <a:custGeom>
            <a:avLst/>
            <a:gdLst/>
            <a:ahLst/>
            <a:cxnLst/>
            <a:rect l="l" t="t" r="r" b="b"/>
            <a:pathLst>
              <a:path h="2057400">
                <a:moveTo>
                  <a:pt x="0" y="0"/>
                </a:moveTo>
                <a:lnTo>
                  <a:pt x="0" y="2057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8000" y="1110996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7340" y="1749679"/>
            <a:ext cx="25412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{b.receive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Time-a.send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Time&lt;1</a:t>
            </a:r>
            <a:r>
              <a:rPr sz="1400" dirty="0">
                <a:latin typeface="宋体"/>
                <a:cs typeface="宋体"/>
              </a:rPr>
              <a:t>秒</a:t>
            </a:r>
            <a:r>
              <a:rPr sz="140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55975" y="1717929"/>
            <a:ext cx="9829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spc="-5" dirty="0">
                <a:latin typeface="宋体"/>
                <a:cs typeface="宋体"/>
              </a:rPr>
              <a:t>拿起话筒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24200" y="1897507"/>
            <a:ext cx="1676400" cy="103505"/>
          </a:xfrm>
          <a:custGeom>
            <a:avLst/>
            <a:gdLst/>
            <a:ahLst/>
            <a:cxnLst/>
            <a:rect l="l" t="t" r="r" b="b"/>
            <a:pathLst>
              <a:path w="1676400" h="103505">
                <a:moveTo>
                  <a:pt x="1651290" y="51688"/>
                </a:moveTo>
                <a:lnTo>
                  <a:pt x="1581403" y="92455"/>
                </a:lnTo>
                <a:lnTo>
                  <a:pt x="1580388" y="96265"/>
                </a:lnTo>
                <a:lnTo>
                  <a:pt x="1583944" y="102362"/>
                </a:lnTo>
                <a:lnTo>
                  <a:pt x="1587753" y="103377"/>
                </a:lnTo>
                <a:lnTo>
                  <a:pt x="1665509" y="58038"/>
                </a:lnTo>
                <a:lnTo>
                  <a:pt x="1663827" y="58038"/>
                </a:lnTo>
                <a:lnTo>
                  <a:pt x="1663827" y="57150"/>
                </a:lnTo>
                <a:lnTo>
                  <a:pt x="1660652" y="57150"/>
                </a:lnTo>
                <a:lnTo>
                  <a:pt x="1651290" y="51688"/>
                </a:lnTo>
                <a:close/>
              </a:path>
              <a:path w="1676400" h="103505">
                <a:moveTo>
                  <a:pt x="1640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640404" y="58038"/>
                </a:lnTo>
                <a:lnTo>
                  <a:pt x="1651290" y="51688"/>
                </a:lnTo>
                <a:lnTo>
                  <a:pt x="1640404" y="45338"/>
                </a:lnTo>
                <a:close/>
              </a:path>
              <a:path w="1676400" h="103505">
                <a:moveTo>
                  <a:pt x="1665509" y="45338"/>
                </a:moveTo>
                <a:lnTo>
                  <a:pt x="1663827" y="45338"/>
                </a:lnTo>
                <a:lnTo>
                  <a:pt x="1663827" y="58038"/>
                </a:lnTo>
                <a:lnTo>
                  <a:pt x="1665509" y="58038"/>
                </a:lnTo>
                <a:lnTo>
                  <a:pt x="1676400" y="51688"/>
                </a:lnTo>
                <a:lnTo>
                  <a:pt x="1665509" y="45338"/>
                </a:lnTo>
                <a:close/>
              </a:path>
              <a:path w="1676400" h="103505">
                <a:moveTo>
                  <a:pt x="1660652" y="46227"/>
                </a:moveTo>
                <a:lnTo>
                  <a:pt x="1651290" y="51688"/>
                </a:lnTo>
                <a:lnTo>
                  <a:pt x="1660652" y="57150"/>
                </a:lnTo>
                <a:lnTo>
                  <a:pt x="1660652" y="46227"/>
                </a:lnTo>
                <a:close/>
              </a:path>
              <a:path w="1676400" h="103505">
                <a:moveTo>
                  <a:pt x="1663827" y="46227"/>
                </a:moveTo>
                <a:lnTo>
                  <a:pt x="1660652" y="46227"/>
                </a:lnTo>
                <a:lnTo>
                  <a:pt x="1660652" y="57150"/>
                </a:lnTo>
                <a:lnTo>
                  <a:pt x="1663827" y="57150"/>
                </a:lnTo>
                <a:lnTo>
                  <a:pt x="1663827" y="46227"/>
                </a:lnTo>
                <a:close/>
              </a:path>
              <a:path w="1676400" h="103505">
                <a:moveTo>
                  <a:pt x="1587753" y="0"/>
                </a:moveTo>
                <a:lnTo>
                  <a:pt x="1583944" y="1015"/>
                </a:lnTo>
                <a:lnTo>
                  <a:pt x="1580388" y="7112"/>
                </a:lnTo>
                <a:lnTo>
                  <a:pt x="1581403" y="10921"/>
                </a:lnTo>
                <a:lnTo>
                  <a:pt x="1651290" y="51688"/>
                </a:lnTo>
                <a:lnTo>
                  <a:pt x="1660652" y="46227"/>
                </a:lnTo>
                <a:lnTo>
                  <a:pt x="1663827" y="46227"/>
                </a:lnTo>
                <a:lnTo>
                  <a:pt x="1663827" y="45338"/>
                </a:lnTo>
                <a:lnTo>
                  <a:pt x="1665509" y="45338"/>
                </a:lnTo>
                <a:lnTo>
                  <a:pt x="15877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24200" y="2368295"/>
            <a:ext cx="1676400" cy="76200"/>
          </a:xfrm>
          <a:custGeom>
            <a:avLst/>
            <a:gdLst/>
            <a:ahLst/>
            <a:cxnLst/>
            <a:rect l="l" t="t" r="r" b="b"/>
            <a:pathLst>
              <a:path w="16764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6764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676400" h="76200">
                <a:moveTo>
                  <a:pt x="16764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76400" y="44450"/>
                </a:lnTo>
                <a:lnTo>
                  <a:pt x="16764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24200" y="2735707"/>
            <a:ext cx="1676400" cy="103505"/>
          </a:xfrm>
          <a:custGeom>
            <a:avLst/>
            <a:gdLst/>
            <a:ahLst/>
            <a:cxnLst/>
            <a:rect l="l" t="t" r="r" b="b"/>
            <a:pathLst>
              <a:path w="1676400" h="103505">
                <a:moveTo>
                  <a:pt x="1651290" y="51688"/>
                </a:moveTo>
                <a:lnTo>
                  <a:pt x="1581403" y="92455"/>
                </a:lnTo>
                <a:lnTo>
                  <a:pt x="1580388" y="96265"/>
                </a:lnTo>
                <a:lnTo>
                  <a:pt x="1583944" y="102362"/>
                </a:lnTo>
                <a:lnTo>
                  <a:pt x="1587753" y="103377"/>
                </a:lnTo>
                <a:lnTo>
                  <a:pt x="1665509" y="58038"/>
                </a:lnTo>
                <a:lnTo>
                  <a:pt x="1663827" y="58038"/>
                </a:lnTo>
                <a:lnTo>
                  <a:pt x="1663827" y="57150"/>
                </a:lnTo>
                <a:lnTo>
                  <a:pt x="1660652" y="57150"/>
                </a:lnTo>
                <a:lnTo>
                  <a:pt x="1651290" y="51688"/>
                </a:lnTo>
                <a:close/>
              </a:path>
              <a:path w="1676400" h="103505">
                <a:moveTo>
                  <a:pt x="1640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640404" y="58038"/>
                </a:lnTo>
                <a:lnTo>
                  <a:pt x="1651290" y="51688"/>
                </a:lnTo>
                <a:lnTo>
                  <a:pt x="1640404" y="45338"/>
                </a:lnTo>
                <a:close/>
              </a:path>
              <a:path w="1676400" h="103505">
                <a:moveTo>
                  <a:pt x="1665509" y="45338"/>
                </a:moveTo>
                <a:lnTo>
                  <a:pt x="1663827" y="45338"/>
                </a:lnTo>
                <a:lnTo>
                  <a:pt x="1663827" y="58038"/>
                </a:lnTo>
                <a:lnTo>
                  <a:pt x="1665509" y="58038"/>
                </a:lnTo>
                <a:lnTo>
                  <a:pt x="1676400" y="51688"/>
                </a:lnTo>
                <a:lnTo>
                  <a:pt x="1665509" y="45338"/>
                </a:lnTo>
                <a:close/>
              </a:path>
              <a:path w="1676400" h="103505">
                <a:moveTo>
                  <a:pt x="1660652" y="46227"/>
                </a:moveTo>
                <a:lnTo>
                  <a:pt x="1651290" y="51688"/>
                </a:lnTo>
                <a:lnTo>
                  <a:pt x="1660652" y="57150"/>
                </a:lnTo>
                <a:lnTo>
                  <a:pt x="1660652" y="46227"/>
                </a:lnTo>
                <a:close/>
              </a:path>
              <a:path w="1676400" h="103505">
                <a:moveTo>
                  <a:pt x="1663827" y="46227"/>
                </a:moveTo>
                <a:lnTo>
                  <a:pt x="1660652" y="46227"/>
                </a:lnTo>
                <a:lnTo>
                  <a:pt x="1660652" y="57150"/>
                </a:lnTo>
                <a:lnTo>
                  <a:pt x="1663827" y="57150"/>
                </a:lnTo>
                <a:lnTo>
                  <a:pt x="1663827" y="46227"/>
                </a:lnTo>
                <a:close/>
              </a:path>
              <a:path w="1676400" h="103505">
                <a:moveTo>
                  <a:pt x="1587753" y="0"/>
                </a:moveTo>
                <a:lnTo>
                  <a:pt x="1583944" y="1015"/>
                </a:lnTo>
                <a:lnTo>
                  <a:pt x="1580388" y="7112"/>
                </a:lnTo>
                <a:lnTo>
                  <a:pt x="1581403" y="10921"/>
                </a:lnTo>
                <a:lnTo>
                  <a:pt x="1651290" y="51688"/>
                </a:lnTo>
                <a:lnTo>
                  <a:pt x="1660652" y="46227"/>
                </a:lnTo>
                <a:lnTo>
                  <a:pt x="1663827" y="46227"/>
                </a:lnTo>
                <a:lnTo>
                  <a:pt x="1663827" y="45338"/>
                </a:lnTo>
                <a:lnTo>
                  <a:pt x="1665509" y="45338"/>
                </a:lnTo>
                <a:lnTo>
                  <a:pt x="15877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53000" y="301599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10200" y="3015995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05400" y="3435096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3048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304800" h="76200">
                <a:moveTo>
                  <a:pt x="3048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304800" y="44450"/>
                </a:lnTo>
                <a:lnTo>
                  <a:pt x="3048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489828" y="3013710"/>
            <a:ext cx="8362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接通线路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53000" y="4000500"/>
            <a:ext cx="990600" cy="76200"/>
          </a:xfrm>
          <a:custGeom>
            <a:avLst/>
            <a:gdLst/>
            <a:ahLst/>
            <a:cxnLst/>
            <a:rect l="l" t="t" r="r" b="b"/>
            <a:pathLst>
              <a:path w="990600" h="76200">
                <a:moveTo>
                  <a:pt x="914400" y="0"/>
                </a:moveTo>
                <a:lnTo>
                  <a:pt x="914400" y="76200"/>
                </a:lnTo>
                <a:lnTo>
                  <a:pt x="977900" y="44450"/>
                </a:lnTo>
                <a:lnTo>
                  <a:pt x="927100" y="44450"/>
                </a:lnTo>
                <a:lnTo>
                  <a:pt x="927100" y="31750"/>
                </a:lnTo>
                <a:lnTo>
                  <a:pt x="977900" y="31750"/>
                </a:lnTo>
                <a:lnTo>
                  <a:pt x="914400" y="0"/>
                </a:lnTo>
                <a:close/>
              </a:path>
              <a:path w="990600" h="76200">
                <a:moveTo>
                  <a:pt x="9144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14400" y="44450"/>
                </a:lnTo>
                <a:lnTo>
                  <a:pt x="914400" y="31750"/>
                </a:lnTo>
                <a:close/>
              </a:path>
              <a:path w="990600" h="76200">
                <a:moveTo>
                  <a:pt x="977900" y="31750"/>
                </a:moveTo>
                <a:lnTo>
                  <a:pt x="927100" y="31750"/>
                </a:lnTo>
                <a:lnTo>
                  <a:pt x="927100" y="44450"/>
                </a:lnTo>
                <a:lnTo>
                  <a:pt x="977900" y="44450"/>
                </a:lnTo>
                <a:lnTo>
                  <a:pt x="990600" y="38100"/>
                </a:lnTo>
                <a:lnTo>
                  <a:pt x="9779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261228" y="3731514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创建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477000" y="4158996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399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861809" y="4385564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阵铃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553200" y="4654296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1066800" y="0"/>
                </a:moveTo>
                <a:lnTo>
                  <a:pt x="1066800" y="76199"/>
                </a:lnTo>
                <a:lnTo>
                  <a:pt x="1130300" y="44449"/>
                </a:lnTo>
                <a:lnTo>
                  <a:pt x="1079500" y="44449"/>
                </a:lnTo>
                <a:lnTo>
                  <a:pt x="1079500" y="31749"/>
                </a:lnTo>
                <a:lnTo>
                  <a:pt x="1130300" y="31749"/>
                </a:lnTo>
                <a:lnTo>
                  <a:pt x="1066800" y="0"/>
                </a:lnTo>
                <a:close/>
              </a:path>
              <a:path w="1143000" h="76200">
                <a:moveTo>
                  <a:pt x="1066800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1066800" y="44449"/>
                </a:lnTo>
                <a:lnTo>
                  <a:pt x="1066800" y="31749"/>
                </a:lnTo>
                <a:close/>
              </a:path>
              <a:path w="1143000" h="76200">
                <a:moveTo>
                  <a:pt x="1130300" y="31749"/>
                </a:moveTo>
                <a:lnTo>
                  <a:pt x="1079500" y="31749"/>
                </a:lnTo>
                <a:lnTo>
                  <a:pt x="1079500" y="44449"/>
                </a:lnTo>
                <a:lnTo>
                  <a:pt x="1130300" y="44449"/>
                </a:lnTo>
                <a:lnTo>
                  <a:pt x="1143000" y="38099"/>
                </a:lnTo>
                <a:lnTo>
                  <a:pt x="113030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53200" y="5174107"/>
            <a:ext cx="1143000" cy="103505"/>
          </a:xfrm>
          <a:custGeom>
            <a:avLst/>
            <a:gdLst/>
            <a:ahLst/>
            <a:cxnLst/>
            <a:rect l="l" t="t" r="r" b="b"/>
            <a:pathLst>
              <a:path w="1143000" h="103504">
                <a:moveTo>
                  <a:pt x="88646" y="0"/>
                </a:moveTo>
                <a:lnTo>
                  <a:pt x="0" y="51689"/>
                </a:lnTo>
                <a:lnTo>
                  <a:pt x="88646" y="103378"/>
                </a:lnTo>
                <a:lnTo>
                  <a:pt x="92455" y="102362"/>
                </a:lnTo>
                <a:lnTo>
                  <a:pt x="96011" y="96266"/>
                </a:lnTo>
                <a:lnTo>
                  <a:pt x="94996" y="92456"/>
                </a:lnTo>
                <a:lnTo>
                  <a:pt x="35995" y="58039"/>
                </a:lnTo>
                <a:lnTo>
                  <a:pt x="12573" y="58039"/>
                </a:lnTo>
                <a:lnTo>
                  <a:pt x="12573" y="45339"/>
                </a:lnTo>
                <a:lnTo>
                  <a:pt x="35995" y="45339"/>
                </a:lnTo>
                <a:lnTo>
                  <a:pt x="94996" y="10922"/>
                </a:lnTo>
                <a:lnTo>
                  <a:pt x="96011" y="7112"/>
                </a:lnTo>
                <a:lnTo>
                  <a:pt x="92455" y="1016"/>
                </a:lnTo>
                <a:lnTo>
                  <a:pt x="88646" y="0"/>
                </a:lnTo>
                <a:close/>
              </a:path>
              <a:path w="1143000" h="103504">
                <a:moveTo>
                  <a:pt x="35995" y="45339"/>
                </a:moveTo>
                <a:lnTo>
                  <a:pt x="12573" y="45339"/>
                </a:lnTo>
                <a:lnTo>
                  <a:pt x="12573" y="58039"/>
                </a:lnTo>
                <a:lnTo>
                  <a:pt x="35995" y="58039"/>
                </a:lnTo>
                <a:lnTo>
                  <a:pt x="34471" y="57150"/>
                </a:lnTo>
                <a:lnTo>
                  <a:pt x="15748" y="57150"/>
                </a:lnTo>
                <a:lnTo>
                  <a:pt x="15748" y="46228"/>
                </a:lnTo>
                <a:lnTo>
                  <a:pt x="34471" y="46228"/>
                </a:lnTo>
                <a:lnTo>
                  <a:pt x="35995" y="45339"/>
                </a:lnTo>
                <a:close/>
              </a:path>
              <a:path w="1143000" h="103504">
                <a:moveTo>
                  <a:pt x="1143000" y="45339"/>
                </a:moveTo>
                <a:lnTo>
                  <a:pt x="35995" y="45339"/>
                </a:lnTo>
                <a:lnTo>
                  <a:pt x="25109" y="51689"/>
                </a:lnTo>
                <a:lnTo>
                  <a:pt x="35995" y="58039"/>
                </a:lnTo>
                <a:lnTo>
                  <a:pt x="1143000" y="58039"/>
                </a:lnTo>
                <a:lnTo>
                  <a:pt x="1143000" y="45339"/>
                </a:lnTo>
                <a:close/>
              </a:path>
              <a:path w="1143000" h="103504">
                <a:moveTo>
                  <a:pt x="15748" y="46228"/>
                </a:moveTo>
                <a:lnTo>
                  <a:pt x="15748" y="57150"/>
                </a:lnTo>
                <a:lnTo>
                  <a:pt x="25109" y="51689"/>
                </a:lnTo>
                <a:lnTo>
                  <a:pt x="15748" y="46228"/>
                </a:lnTo>
                <a:close/>
              </a:path>
              <a:path w="1143000" h="103504">
                <a:moveTo>
                  <a:pt x="25109" y="51689"/>
                </a:moveTo>
                <a:lnTo>
                  <a:pt x="15748" y="57150"/>
                </a:lnTo>
                <a:lnTo>
                  <a:pt x="34471" y="57150"/>
                </a:lnTo>
                <a:lnTo>
                  <a:pt x="25109" y="51689"/>
                </a:lnTo>
                <a:close/>
              </a:path>
              <a:path w="1143000" h="103504">
                <a:moveTo>
                  <a:pt x="34471" y="46228"/>
                </a:moveTo>
                <a:lnTo>
                  <a:pt x="15748" y="46228"/>
                </a:lnTo>
                <a:lnTo>
                  <a:pt x="25109" y="51689"/>
                </a:lnTo>
                <a:lnTo>
                  <a:pt x="34471" y="462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53000" y="5492496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4449"/>
                </a:lnTo>
                <a:lnTo>
                  <a:pt x="63500" y="44449"/>
                </a:lnTo>
                <a:lnTo>
                  <a:pt x="63500" y="31749"/>
                </a:lnTo>
                <a:lnTo>
                  <a:pt x="76200" y="31749"/>
                </a:lnTo>
                <a:lnTo>
                  <a:pt x="76200" y="0"/>
                </a:lnTo>
                <a:close/>
              </a:path>
              <a:path w="1371600" h="76200">
                <a:moveTo>
                  <a:pt x="76200" y="31749"/>
                </a:moveTo>
                <a:lnTo>
                  <a:pt x="63500" y="31749"/>
                </a:lnTo>
                <a:lnTo>
                  <a:pt x="63500" y="44449"/>
                </a:lnTo>
                <a:lnTo>
                  <a:pt x="76200" y="44449"/>
                </a:lnTo>
                <a:lnTo>
                  <a:pt x="76200" y="31749"/>
                </a:lnTo>
                <a:close/>
              </a:path>
              <a:path w="1371600" h="76200">
                <a:moveTo>
                  <a:pt x="1371600" y="31749"/>
                </a:moveTo>
                <a:lnTo>
                  <a:pt x="76200" y="31749"/>
                </a:lnTo>
                <a:lnTo>
                  <a:pt x="76200" y="44449"/>
                </a:lnTo>
                <a:lnTo>
                  <a:pt x="1371600" y="44449"/>
                </a:lnTo>
                <a:lnTo>
                  <a:pt x="137160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53000" y="5987796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53200" y="5949696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1066800" y="0"/>
                </a:moveTo>
                <a:lnTo>
                  <a:pt x="1066800" y="76199"/>
                </a:lnTo>
                <a:lnTo>
                  <a:pt x="1130300" y="44449"/>
                </a:lnTo>
                <a:lnTo>
                  <a:pt x="1079500" y="44449"/>
                </a:lnTo>
                <a:lnTo>
                  <a:pt x="1079500" y="31749"/>
                </a:lnTo>
                <a:lnTo>
                  <a:pt x="1130300" y="31749"/>
                </a:lnTo>
                <a:lnTo>
                  <a:pt x="1066800" y="0"/>
                </a:lnTo>
                <a:close/>
              </a:path>
              <a:path w="1143000" h="76200">
                <a:moveTo>
                  <a:pt x="1066800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1066800" y="44449"/>
                </a:lnTo>
                <a:lnTo>
                  <a:pt x="1066800" y="31749"/>
                </a:lnTo>
                <a:close/>
              </a:path>
              <a:path w="1143000" h="76200">
                <a:moveTo>
                  <a:pt x="1130300" y="31749"/>
                </a:moveTo>
                <a:lnTo>
                  <a:pt x="1079500" y="31749"/>
                </a:lnTo>
                <a:lnTo>
                  <a:pt x="1079500" y="44449"/>
                </a:lnTo>
                <a:lnTo>
                  <a:pt x="1130300" y="44449"/>
                </a:lnTo>
                <a:lnTo>
                  <a:pt x="1143000" y="38099"/>
                </a:lnTo>
                <a:lnTo>
                  <a:pt x="113030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124200" y="5949696"/>
            <a:ext cx="1676400" cy="76200"/>
          </a:xfrm>
          <a:custGeom>
            <a:avLst/>
            <a:gdLst/>
            <a:ahLst/>
            <a:cxnLst/>
            <a:rect l="l" t="t" r="r" b="b"/>
            <a:pathLst>
              <a:path w="167640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4449"/>
                </a:lnTo>
                <a:lnTo>
                  <a:pt x="63500" y="44449"/>
                </a:lnTo>
                <a:lnTo>
                  <a:pt x="63500" y="31749"/>
                </a:lnTo>
                <a:lnTo>
                  <a:pt x="76200" y="31749"/>
                </a:lnTo>
                <a:lnTo>
                  <a:pt x="76200" y="0"/>
                </a:lnTo>
                <a:close/>
              </a:path>
              <a:path w="1676400" h="76200">
                <a:moveTo>
                  <a:pt x="76200" y="31749"/>
                </a:moveTo>
                <a:lnTo>
                  <a:pt x="63500" y="31749"/>
                </a:lnTo>
                <a:lnTo>
                  <a:pt x="63500" y="44449"/>
                </a:lnTo>
                <a:lnTo>
                  <a:pt x="76200" y="44449"/>
                </a:lnTo>
                <a:lnTo>
                  <a:pt x="76200" y="31749"/>
                </a:lnTo>
                <a:close/>
              </a:path>
              <a:path w="1676400" h="76200">
                <a:moveTo>
                  <a:pt x="1676400" y="31749"/>
                </a:moveTo>
                <a:lnTo>
                  <a:pt x="76200" y="31749"/>
                </a:lnTo>
                <a:lnTo>
                  <a:pt x="76200" y="44449"/>
                </a:lnTo>
                <a:lnTo>
                  <a:pt x="1676400" y="44449"/>
                </a:lnTo>
                <a:lnTo>
                  <a:pt x="167640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584575" y="5712967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连接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61809" y="5712967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连接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048000" y="6368796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00600" y="6292596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77000" y="6216396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0999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848600" y="6140196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0999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3059938" y="54990"/>
            <a:ext cx="28740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打电话的顺序图</a:t>
            </a:r>
            <a:endParaRPr sz="3200"/>
          </a:p>
        </p:txBody>
      </p:sp>
      <p:sp>
        <p:nvSpPr>
          <p:cNvPr id="40" name="object 40"/>
          <p:cNvSpPr/>
          <p:nvPr/>
        </p:nvSpPr>
        <p:spPr>
          <a:xfrm>
            <a:off x="8001000" y="5225796"/>
            <a:ext cx="76200" cy="762000"/>
          </a:xfrm>
          <a:custGeom>
            <a:avLst/>
            <a:gdLst/>
            <a:ahLst/>
            <a:cxnLst/>
            <a:rect l="l" t="t" r="r" b="b"/>
            <a:pathLst>
              <a:path w="76200" h="762000">
                <a:moveTo>
                  <a:pt x="0" y="0"/>
                </a:moveTo>
                <a:lnTo>
                  <a:pt x="14847" y="4992"/>
                </a:lnTo>
                <a:lnTo>
                  <a:pt x="26955" y="18605"/>
                </a:lnTo>
                <a:lnTo>
                  <a:pt x="35111" y="38790"/>
                </a:lnTo>
                <a:lnTo>
                  <a:pt x="38100" y="63499"/>
                </a:lnTo>
                <a:lnTo>
                  <a:pt x="38100" y="317499"/>
                </a:lnTo>
                <a:lnTo>
                  <a:pt x="41088" y="342209"/>
                </a:lnTo>
                <a:lnTo>
                  <a:pt x="49244" y="362394"/>
                </a:lnTo>
                <a:lnTo>
                  <a:pt x="61352" y="376007"/>
                </a:lnTo>
                <a:lnTo>
                  <a:pt x="76200" y="380999"/>
                </a:lnTo>
                <a:lnTo>
                  <a:pt x="61352" y="385990"/>
                </a:lnTo>
                <a:lnTo>
                  <a:pt x="49244" y="399600"/>
                </a:lnTo>
                <a:lnTo>
                  <a:pt x="41088" y="419785"/>
                </a:lnTo>
                <a:lnTo>
                  <a:pt x="38100" y="444499"/>
                </a:lnTo>
                <a:lnTo>
                  <a:pt x="38100" y="698499"/>
                </a:lnTo>
                <a:lnTo>
                  <a:pt x="35111" y="723214"/>
                </a:lnTo>
                <a:lnTo>
                  <a:pt x="26955" y="743399"/>
                </a:lnTo>
                <a:lnTo>
                  <a:pt x="14847" y="757009"/>
                </a:lnTo>
                <a:lnTo>
                  <a:pt x="0" y="7619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185028" y="4857791"/>
            <a:ext cx="3442970" cy="8661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536700">
              <a:lnSpc>
                <a:spcPct val="100000"/>
              </a:lnSpc>
              <a:spcBef>
                <a:spcPts val="575"/>
              </a:spcBef>
            </a:pPr>
            <a:r>
              <a:rPr sz="1600" spc="-5" dirty="0">
                <a:latin typeface="宋体"/>
                <a:cs typeface="宋体"/>
              </a:rPr>
              <a:t>拿起话筒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10" dirty="0">
                <a:latin typeface="宋体"/>
                <a:cs typeface="宋体"/>
              </a:rPr>
              <a:t>连接</a:t>
            </a: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spc="-10" dirty="0">
                <a:latin typeface="宋体"/>
                <a:cs typeface="宋体"/>
              </a:rPr>
              <a:t>与</a:t>
            </a:r>
            <a:r>
              <a:rPr sz="1600" spc="-5" dirty="0">
                <a:latin typeface="Times New Roman"/>
                <a:cs typeface="Times New Roman"/>
              </a:rPr>
              <a:t>r</a:t>
            </a:r>
            <a:endParaRPr sz="16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latin typeface="Times New Roman"/>
                <a:cs typeface="Times New Roman"/>
              </a:rPr>
              <a:t>&lt;</a:t>
            </a:r>
            <a:r>
              <a:rPr sz="1400" spc="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宋体"/>
                <a:cs typeface="宋体"/>
              </a:rPr>
              <a:t>秒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81000" y="1960372"/>
            <a:ext cx="2133600" cy="1360805"/>
          </a:xfrm>
          <a:custGeom>
            <a:avLst/>
            <a:gdLst/>
            <a:ahLst/>
            <a:cxnLst/>
            <a:rect l="l" t="t" r="r" b="b"/>
            <a:pathLst>
              <a:path w="2133600" h="1360804">
                <a:moveTo>
                  <a:pt x="0" y="852424"/>
                </a:moveTo>
                <a:lnTo>
                  <a:pt x="7984" y="812867"/>
                </a:lnTo>
                <a:lnTo>
                  <a:pt x="29759" y="780573"/>
                </a:lnTo>
                <a:lnTo>
                  <a:pt x="62054" y="758805"/>
                </a:lnTo>
                <a:lnTo>
                  <a:pt x="101600" y="750824"/>
                </a:lnTo>
                <a:lnTo>
                  <a:pt x="355600" y="750824"/>
                </a:lnTo>
                <a:lnTo>
                  <a:pt x="212763" y="0"/>
                </a:lnTo>
                <a:lnTo>
                  <a:pt x="889000" y="750824"/>
                </a:lnTo>
                <a:lnTo>
                  <a:pt x="2032000" y="750824"/>
                </a:lnTo>
                <a:lnTo>
                  <a:pt x="2071556" y="758805"/>
                </a:lnTo>
                <a:lnTo>
                  <a:pt x="2103850" y="780573"/>
                </a:lnTo>
                <a:lnTo>
                  <a:pt x="2125618" y="812867"/>
                </a:lnTo>
                <a:lnTo>
                  <a:pt x="2133600" y="852424"/>
                </a:lnTo>
                <a:lnTo>
                  <a:pt x="2133600" y="1004824"/>
                </a:lnTo>
                <a:lnTo>
                  <a:pt x="2133600" y="1258824"/>
                </a:lnTo>
                <a:lnTo>
                  <a:pt x="2125618" y="1298380"/>
                </a:lnTo>
                <a:lnTo>
                  <a:pt x="2103850" y="1330674"/>
                </a:lnTo>
                <a:lnTo>
                  <a:pt x="2071556" y="1352442"/>
                </a:lnTo>
                <a:lnTo>
                  <a:pt x="2032000" y="1360424"/>
                </a:lnTo>
                <a:lnTo>
                  <a:pt x="889000" y="1360424"/>
                </a:lnTo>
                <a:lnTo>
                  <a:pt x="355600" y="1360424"/>
                </a:lnTo>
                <a:lnTo>
                  <a:pt x="101600" y="1360424"/>
                </a:lnTo>
                <a:lnTo>
                  <a:pt x="62054" y="1352442"/>
                </a:lnTo>
                <a:lnTo>
                  <a:pt x="29759" y="1330674"/>
                </a:lnTo>
                <a:lnTo>
                  <a:pt x="7984" y="1298380"/>
                </a:lnTo>
                <a:lnTo>
                  <a:pt x="0" y="1258824"/>
                </a:lnTo>
                <a:lnTo>
                  <a:pt x="0" y="1004824"/>
                </a:lnTo>
                <a:lnTo>
                  <a:pt x="0" y="8524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23443" y="2175129"/>
            <a:ext cx="4231005" cy="876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08305" algn="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b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spc="-5" dirty="0">
                <a:latin typeface="宋体"/>
                <a:cs typeface="宋体"/>
              </a:rPr>
              <a:t>发拨号声</a:t>
            </a:r>
            <a:endParaRPr sz="1600">
              <a:latin typeface="宋体"/>
              <a:cs typeface="宋体"/>
            </a:endParaRPr>
          </a:p>
          <a:p>
            <a:pPr marL="2616200">
              <a:lnSpc>
                <a:spcPct val="100000"/>
              </a:lnSpc>
              <a:spcBef>
                <a:spcPts val="1075"/>
              </a:spcBef>
            </a:pPr>
            <a:r>
              <a:rPr sz="1400" dirty="0">
                <a:latin typeface="宋体"/>
                <a:cs typeface="宋体"/>
              </a:rPr>
              <a:t>c:*</a:t>
            </a:r>
            <a:r>
              <a:rPr sz="1400" spc="-15" dirty="0">
                <a:latin typeface="宋体"/>
                <a:cs typeface="宋体"/>
              </a:rPr>
              <a:t>拨</a:t>
            </a:r>
            <a:r>
              <a:rPr sz="1400" dirty="0">
                <a:latin typeface="宋体"/>
                <a:cs typeface="宋体"/>
              </a:rPr>
              <a:t>号</a:t>
            </a:r>
            <a:r>
              <a:rPr sz="1400" spc="-10" dirty="0">
                <a:latin typeface="宋体"/>
                <a:cs typeface="宋体"/>
              </a:rPr>
              <a:t>{</a:t>
            </a:r>
            <a:r>
              <a:rPr sz="1400" dirty="0">
                <a:latin typeface="宋体"/>
                <a:cs typeface="宋体"/>
              </a:rPr>
              <a:t>时</a:t>
            </a:r>
            <a:r>
              <a:rPr sz="1400" spc="-15" dirty="0">
                <a:latin typeface="宋体"/>
                <a:cs typeface="宋体"/>
              </a:rPr>
              <a:t>间</a:t>
            </a:r>
            <a:r>
              <a:rPr sz="1400" dirty="0">
                <a:latin typeface="宋体"/>
                <a:cs typeface="宋体"/>
              </a:rPr>
              <a:t>&lt;30</a:t>
            </a:r>
            <a:r>
              <a:rPr sz="1400" spc="-10" dirty="0">
                <a:latin typeface="宋体"/>
                <a:cs typeface="宋体"/>
              </a:rPr>
              <a:t>秒</a:t>
            </a:r>
            <a:r>
              <a:rPr sz="1400" dirty="0">
                <a:latin typeface="宋体"/>
                <a:cs typeface="宋体"/>
              </a:rPr>
              <a:t>}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latin typeface="宋体"/>
                <a:cs typeface="宋体"/>
              </a:rPr>
              <a:t>设置标记，显式地表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6135" y="3026410"/>
            <a:ext cx="1444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示时间差的数值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077200" y="3701796"/>
            <a:ext cx="762000" cy="1675130"/>
          </a:xfrm>
          <a:custGeom>
            <a:avLst/>
            <a:gdLst/>
            <a:ahLst/>
            <a:cxnLst/>
            <a:rect l="l" t="t" r="r" b="b"/>
            <a:pathLst>
              <a:path w="762000" h="1675129">
                <a:moveTo>
                  <a:pt x="0" y="126999"/>
                </a:moveTo>
                <a:lnTo>
                  <a:pt x="9985" y="77581"/>
                </a:lnTo>
                <a:lnTo>
                  <a:pt x="37210" y="37210"/>
                </a:lnTo>
                <a:lnTo>
                  <a:pt x="77581" y="9985"/>
                </a:lnTo>
                <a:lnTo>
                  <a:pt x="127000" y="0"/>
                </a:lnTo>
                <a:lnTo>
                  <a:pt x="317500" y="0"/>
                </a:lnTo>
                <a:lnTo>
                  <a:pt x="635000" y="0"/>
                </a:lnTo>
                <a:lnTo>
                  <a:pt x="684418" y="9985"/>
                </a:lnTo>
                <a:lnTo>
                  <a:pt x="724789" y="37210"/>
                </a:lnTo>
                <a:lnTo>
                  <a:pt x="752014" y="77581"/>
                </a:lnTo>
                <a:lnTo>
                  <a:pt x="762000" y="126999"/>
                </a:lnTo>
                <a:lnTo>
                  <a:pt x="762000" y="800099"/>
                </a:lnTo>
                <a:lnTo>
                  <a:pt x="762000" y="1142999"/>
                </a:lnTo>
                <a:lnTo>
                  <a:pt x="762000" y="1244599"/>
                </a:lnTo>
                <a:lnTo>
                  <a:pt x="752014" y="1294018"/>
                </a:lnTo>
                <a:lnTo>
                  <a:pt x="724789" y="1334389"/>
                </a:lnTo>
                <a:lnTo>
                  <a:pt x="684418" y="1361614"/>
                </a:lnTo>
                <a:lnTo>
                  <a:pt x="635000" y="1371599"/>
                </a:lnTo>
                <a:lnTo>
                  <a:pt x="317500" y="1371599"/>
                </a:lnTo>
                <a:lnTo>
                  <a:pt x="263525" y="1674748"/>
                </a:lnTo>
                <a:lnTo>
                  <a:pt x="127000" y="1371599"/>
                </a:lnTo>
                <a:lnTo>
                  <a:pt x="77581" y="1361614"/>
                </a:lnTo>
                <a:lnTo>
                  <a:pt x="37210" y="1334388"/>
                </a:lnTo>
                <a:lnTo>
                  <a:pt x="9985" y="1294018"/>
                </a:lnTo>
                <a:lnTo>
                  <a:pt x="0" y="1244599"/>
                </a:lnTo>
                <a:lnTo>
                  <a:pt x="0" y="1142999"/>
                </a:lnTo>
                <a:lnTo>
                  <a:pt x="0" y="800099"/>
                </a:lnTo>
                <a:lnTo>
                  <a:pt x="0" y="1269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268461" y="3777741"/>
            <a:ext cx="382270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宋体"/>
                <a:cs typeface="宋体"/>
              </a:rPr>
              <a:t>使用 约束 指示 时间 间隔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368675" y="2688970"/>
            <a:ext cx="974725" cy="860425"/>
          </a:xfrm>
          <a:custGeom>
            <a:avLst/>
            <a:gdLst/>
            <a:ahLst/>
            <a:cxnLst/>
            <a:rect l="l" t="t" r="r" b="b"/>
            <a:pathLst>
              <a:path w="974725" h="860425">
                <a:moveTo>
                  <a:pt x="212725" y="542925"/>
                </a:moveTo>
                <a:lnTo>
                  <a:pt x="217717" y="518215"/>
                </a:lnTo>
                <a:lnTo>
                  <a:pt x="231330" y="498030"/>
                </a:lnTo>
                <a:lnTo>
                  <a:pt x="251515" y="484417"/>
                </a:lnTo>
                <a:lnTo>
                  <a:pt x="276225" y="479425"/>
                </a:lnTo>
                <a:lnTo>
                  <a:pt x="339725" y="479425"/>
                </a:lnTo>
                <a:lnTo>
                  <a:pt x="0" y="0"/>
                </a:lnTo>
                <a:lnTo>
                  <a:pt x="530225" y="479425"/>
                </a:lnTo>
                <a:lnTo>
                  <a:pt x="911225" y="479425"/>
                </a:lnTo>
                <a:lnTo>
                  <a:pt x="935934" y="484417"/>
                </a:lnTo>
                <a:lnTo>
                  <a:pt x="956119" y="498030"/>
                </a:lnTo>
                <a:lnTo>
                  <a:pt x="969732" y="518215"/>
                </a:lnTo>
                <a:lnTo>
                  <a:pt x="974725" y="542925"/>
                </a:lnTo>
                <a:lnTo>
                  <a:pt x="974725" y="638175"/>
                </a:lnTo>
                <a:lnTo>
                  <a:pt x="974725" y="796925"/>
                </a:lnTo>
                <a:lnTo>
                  <a:pt x="969732" y="821634"/>
                </a:lnTo>
                <a:lnTo>
                  <a:pt x="956119" y="841819"/>
                </a:lnTo>
                <a:lnTo>
                  <a:pt x="935934" y="855432"/>
                </a:lnTo>
                <a:lnTo>
                  <a:pt x="911225" y="860425"/>
                </a:lnTo>
                <a:lnTo>
                  <a:pt x="530225" y="860425"/>
                </a:lnTo>
                <a:lnTo>
                  <a:pt x="339725" y="860425"/>
                </a:lnTo>
                <a:lnTo>
                  <a:pt x="276225" y="860425"/>
                </a:lnTo>
                <a:lnTo>
                  <a:pt x="251515" y="855432"/>
                </a:lnTo>
                <a:lnTo>
                  <a:pt x="231330" y="841819"/>
                </a:lnTo>
                <a:lnTo>
                  <a:pt x="217717" y="821634"/>
                </a:lnTo>
                <a:lnTo>
                  <a:pt x="212725" y="796925"/>
                </a:lnTo>
                <a:lnTo>
                  <a:pt x="212725" y="638175"/>
                </a:lnTo>
                <a:lnTo>
                  <a:pt x="212725" y="5429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720846" y="3216402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迭代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0902" y="103758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顺序图示例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647700" y="1062227"/>
            <a:ext cx="7731252" cy="5155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217" y="1321181"/>
            <a:ext cx="7869555" cy="3830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495">
              <a:lnSpc>
                <a:spcPct val="125000"/>
              </a:lnSpc>
              <a:spcBef>
                <a:spcPts val="100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在</a:t>
            </a:r>
            <a:r>
              <a:rPr sz="2400" spc="-5" dirty="0">
                <a:latin typeface="Times New Roman"/>
                <a:cs typeface="Times New Roman"/>
              </a:rPr>
              <a:t>dispatchForm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dirty="0">
                <a:latin typeface="宋体"/>
                <a:cs typeface="宋体"/>
              </a:rPr>
              <a:t>分发窗体）中，对于某个已支付的 </a:t>
            </a:r>
            <a:r>
              <a:rPr sz="2400" dirty="0">
                <a:latin typeface="Times New Roman"/>
                <a:cs typeface="Times New Roman"/>
              </a:rPr>
              <a:t>Orde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宋体"/>
                <a:cs typeface="宋体"/>
              </a:rPr>
              <a:t>进行分发时，就会调用该订单（一</a:t>
            </a:r>
            <a:r>
              <a:rPr sz="2400" spc="5" dirty="0">
                <a:latin typeface="宋体"/>
                <a:cs typeface="宋体"/>
              </a:rPr>
              <a:t>个</a:t>
            </a:r>
            <a:r>
              <a:rPr sz="2400" dirty="0">
                <a:latin typeface="Times New Roman"/>
                <a:cs typeface="Times New Roman"/>
              </a:rPr>
              <a:t>Orde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宋体"/>
                <a:cs typeface="宋体"/>
              </a:rPr>
              <a:t>类的实例对 象</a:t>
            </a:r>
            <a:r>
              <a:rPr sz="2400" dirty="0">
                <a:latin typeface="Times New Roman"/>
                <a:cs typeface="Times New Roman"/>
              </a:rPr>
              <a:t>aOrder</a:t>
            </a:r>
            <a:r>
              <a:rPr sz="2400" dirty="0">
                <a:latin typeface="宋体"/>
                <a:cs typeface="宋体"/>
              </a:rPr>
              <a:t>）</a:t>
            </a:r>
            <a:r>
              <a:rPr sz="2400" spc="-5" dirty="0">
                <a:latin typeface="宋体"/>
                <a:cs typeface="宋体"/>
              </a:rPr>
              <a:t>的</a:t>
            </a:r>
            <a:r>
              <a:rPr sz="2400" dirty="0">
                <a:latin typeface="Times New Roman"/>
                <a:cs typeface="Times New Roman"/>
              </a:rPr>
              <a:t>dispatch()</a:t>
            </a:r>
            <a:r>
              <a:rPr sz="2400" dirty="0">
                <a:latin typeface="宋体"/>
                <a:cs typeface="宋体"/>
              </a:rPr>
              <a:t>方法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63B"/>
              </a:buClr>
              <a:buFont typeface="Wingdings"/>
              <a:buChar char=""/>
            </a:pPr>
            <a:endParaRPr sz="3700">
              <a:latin typeface="宋体"/>
              <a:cs typeface="宋体"/>
            </a:endParaRPr>
          </a:p>
          <a:p>
            <a:pPr marL="12700" marR="5080">
              <a:lnSpc>
                <a:spcPct val="125000"/>
              </a:lnSpc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dispatch()</a:t>
            </a:r>
            <a:r>
              <a:rPr sz="2400" dirty="0">
                <a:latin typeface="宋体"/>
                <a:cs typeface="宋体"/>
              </a:rPr>
              <a:t>方法将逐个调用该</a:t>
            </a:r>
            <a:r>
              <a:rPr sz="2400" dirty="0">
                <a:latin typeface="Times New Roman"/>
                <a:cs typeface="Times New Roman"/>
              </a:rPr>
              <a:t>Order</a:t>
            </a:r>
            <a:r>
              <a:rPr sz="2400" dirty="0">
                <a:latin typeface="宋体"/>
                <a:cs typeface="宋体"/>
              </a:rPr>
              <a:t>对应的所</a:t>
            </a:r>
            <a:r>
              <a:rPr sz="2400" spc="-10" dirty="0">
                <a:latin typeface="宋体"/>
                <a:cs typeface="宋体"/>
              </a:rPr>
              <a:t>有</a:t>
            </a:r>
            <a:r>
              <a:rPr sz="2400" dirty="0">
                <a:latin typeface="Times New Roman"/>
                <a:cs typeface="Times New Roman"/>
              </a:rPr>
              <a:t>OrderItem  </a:t>
            </a:r>
            <a:r>
              <a:rPr sz="2400" dirty="0">
                <a:latin typeface="宋体"/>
                <a:cs typeface="宋体"/>
              </a:rPr>
              <a:t>对象的</a:t>
            </a:r>
            <a:r>
              <a:rPr sz="2400" dirty="0">
                <a:latin typeface="Times New Roman"/>
                <a:cs typeface="Times New Roman"/>
              </a:rPr>
              <a:t>getPedd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er</a:t>
            </a:r>
            <a:r>
              <a:rPr sz="2400" spc="5" dirty="0">
                <a:latin typeface="Times New Roman"/>
                <a:cs typeface="Times New Roman"/>
              </a:rPr>
              <a:t>y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1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宋体"/>
                <a:cs typeface="宋体"/>
              </a:rPr>
              <a:t>方法还获取供应</a:t>
            </a:r>
            <a:r>
              <a:rPr sz="2400" spc="-15" dirty="0">
                <a:latin typeface="宋体"/>
                <a:cs typeface="宋体"/>
              </a:rPr>
              <a:t>商</a:t>
            </a:r>
            <a:r>
              <a:rPr sz="2400" spc="-5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imes New Roman"/>
                <a:cs typeface="Times New Roman"/>
              </a:rPr>
              <a:t>PeddleryI</a:t>
            </a:r>
            <a:r>
              <a:rPr sz="2400" spc="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宋体"/>
                <a:cs typeface="宋体"/>
              </a:rPr>
              <a:t>）， 而</a:t>
            </a:r>
            <a:r>
              <a:rPr sz="2400" spc="-5" dirty="0">
                <a:latin typeface="Times New Roman"/>
                <a:cs typeface="Times New Roman"/>
              </a:rPr>
              <a:t>OrderItem</a:t>
            </a:r>
            <a:r>
              <a:rPr sz="2400" dirty="0">
                <a:latin typeface="宋体"/>
                <a:cs typeface="宋体"/>
              </a:rPr>
              <a:t>对象则是通过其所对应的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dirty="0">
                <a:latin typeface="宋体"/>
                <a:cs typeface="宋体"/>
              </a:rPr>
              <a:t>对象来的 </a:t>
            </a:r>
            <a:r>
              <a:rPr sz="2400" dirty="0">
                <a:latin typeface="Times New Roman"/>
                <a:cs typeface="Times New Roman"/>
              </a:rPr>
              <a:t>getPeddleryId()</a:t>
            </a:r>
            <a:r>
              <a:rPr sz="2400" dirty="0">
                <a:latin typeface="宋体"/>
                <a:cs typeface="宋体"/>
              </a:rPr>
              <a:t>方法来获取供应商</a:t>
            </a:r>
            <a:r>
              <a:rPr sz="2400" spc="-5" dirty="0">
                <a:latin typeface="Times New Roman"/>
                <a:cs typeface="Times New Roman"/>
              </a:rPr>
              <a:t>ID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0902" y="103758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顺序图示例</a:t>
            </a:r>
            <a:endParaRPr sz="4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217" y="1312615"/>
            <a:ext cx="7766684" cy="3227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5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10" dirty="0">
                <a:latin typeface="宋体"/>
                <a:cs typeface="宋体"/>
              </a:rPr>
              <a:t>当</a:t>
            </a:r>
            <a:r>
              <a:rPr sz="2800" spc="-5" dirty="0">
                <a:latin typeface="Times New Roman"/>
                <a:cs typeface="Times New Roman"/>
              </a:rPr>
              <a:t>Order</a:t>
            </a:r>
            <a:r>
              <a:rPr sz="2800" spc="-10" dirty="0">
                <a:latin typeface="宋体"/>
                <a:cs typeface="宋体"/>
              </a:rPr>
              <a:t>的实例对</a:t>
            </a:r>
            <a:r>
              <a:rPr sz="2800" spc="-5" dirty="0">
                <a:latin typeface="宋体"/>
                <a:cs typeface="宋体"/>
              </a:rPr>
              <a:t>象</a:t>
            </a:r>
            <a:r>
              <a:rPr sz="2800" spc="-5" dirty="0">
                <a:latin typeface="Times New Roman"/>
                <a:cs typeface="Times New Roman"/>
              </a:rPr>
              <a:t>aOrder</a:t>
            </a:r>
            <a:r>
              <a:rPr sz="2800" spc="-10" dirty="0">
                <a:latin typeface="宋体"/>
                <a:cs typeface="宋体"/>
              </a:rPr>
              <a:t>得到返回</a:t>
            </a:r>
            <a:r>
              <a:rPr sz="2800" spc="5" dirty="0">
                <a:latin typeface="宋体"/>
                <a:cs typeface="宋体"/>
              </a:rPr>
              <a:t>的</a:t>
            </a:r>
            <a:r>
              <a:rPr sz="2800" spc="-5" dirty="0">
                <a:latin typeface="Times New Roman"/>
                <a:cs typeface="Times New Roman"/>
              </a:rPr>
              <a:t>PeddleryId  </a:t>
            </a:r>
            <a:r>
              <a:rPr sz="2800" spc="-5" dirty="0">
                <a:latin typeface="宋体"/>
                <a:cs typeface="宋体"/>
              </a:rPr>
              <a:t>后，根据该值判断是否已经有相对</a:t>
            </a:r>
            <a:r>
              <a:rPr sz="2800" dirty="0">
                <a:latin typeface="宋体"/>
                <a:cs typeface="宋体"/>
              </a:rPr>
              <a:t>应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spc="-5" dirty="0">
                <a:latin typeface="Times New Roman"/>
                <a:cs typeface="Times New Roman"/>
              </a:rPr>
              <a:t>DeliverOrder</a:t>
            </a:r>
            <a:r>
              <a:rPr sz="2800" spc="-5" dirty="0">
                <a:latin typeface="宋体"/>
                <a:cs typeface="宋体"/>
              </a:rPr>
              <a:t>对象，如果没有就创建它（调用 </a:t>
            </a:r>
            <a:r>
              <a:rPr sz="2800" spc="-5" dirty="0">
                <a:latin typeface="Times New Roman"/>
                <a:cs typeface="Times New Roman"/>
              </a:rPr>
              <a:t>create(PeddleryId)</a:t>
            </a:r>
            <a:r>
              <a:rPr sz="2800" spc="-5" dirty="0">
                <a:latin typeface="宋体"/>
                <a:cs typeface="宋体"/>
              </a:rPr>
              <a:t>），</a:t>
            </a:r>
            <a:r>
              <a:rPr sz="2800" spc="-10" dirty="0">
                <a:latin typeface="宋体"/>
                <a:cs typeface="宋体"/>
              </a:rPr>
              <a:t>然后再将对应</a:t>
            </a:r>
            <a:r>
              <a:rPr sz="2800" spc="-5" dirty="0">
                <a:latin typeface="宋体"/>
                <a:cs typeface="宋体"/>
              </a:rPr>
              <a:t>的</a:t>
            </a:r>
            <a:r>
              <a:rPr sz="2800" dirty="0">
                <a:latin typeface="Times New Roman"/>
                <a:cs typeface="Times New Roman"/>
              </a:rPr>
              <a:t>Product</a:t>
            </a:r>
            <a:r>
              <a:rPr sz="2800" spc="-10" dirty="0">
                <a:latin typeface="宋体"/>
                <a:cs typeface="宋体"/>
              </a:rPr>
              <a:t>添加 </a:t>
            </a:r>
            <a:r>
              <a:rPr sz="2800" spc="-5" dirty="0">
                <a:latin typeface="宋体"/>
                <a:cs typeface="宋体"/>
              </a:rPr>
              <a:t>到这个</a:t>
            </a:r>
            <a:r>
              <a:rPr sz="2800" spc="-5" dirty="0">
                <a:latin typeface="Times New Roman"/>
                <a:cs typeface="Times New Roman"/>
              </a:rPr>
              <a:t>DeliverOrder</a:t>
            </a:r>
            <a:r>
              <a:rPr sz="2800" spc="-5" dirty="0">
                <a:latin typeface="宋体"/>
                <a:cs typeface="宋体"/>
              </a:rPr>
              <a:t>对象中。否则就直接添</a:t>
            </a:r>
            <a:r>
              <a:rPr sz="2800" spc="5" dirty="0">
                <a:latin typeface="宋体"/>
                <a:cs typeface="宋体"/>
              </a:rPr>
              <a:t>加</a:t>
            </a:r>
            <a:r>
              <a:rPr sz="2800" spc="-5" dirty="0">
                <a:latin typeface="宋体"/>
                <a:cs typeface="宋体"/>
              </a:rPr>
              <a:t>到相 应的</a:t>
            </a:r>
            <a:r>
              <a:rPr sz="2800" spc="-5" dirty="0">
                <a:latin typeface="Times New Roman"/>
                <a:cs typeface="Times New Roman"/>
              </a:rPr>
              <a:t>DeliverOrder</a:t>
            </a:r>
            <a:r>
              <a:rPr sz="2800" spc="-5" dirty="0">
                <a:latin typeface="宋体"/>
                <a:cs typeface="宋体"/>
              </a:rPr>
              <a:t>对象中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0902" y="103758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顺序图示例</a:t>
            </a:r>
            <a:endParaRPr sz="4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</a:t>
            </a:r>
            <a:r>
              <a:rPr spc="5" dirty="0"/>
              <a:t>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</a:t>
            </a:r>
            <a:r>
              <a:rPr spc="-5" dirty="0"/>
              <a:t>模</a:t>
            </a:r>
            <a:r>
              <a:rPr spc="-5" dirty="0">
                <a:latin typeface="Calibri"/>
                <a:cs typeface="Calibri"/>
              </a:rPr>
              <a:t>(4)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75" y="665603"/>
            <a:ext cx="3250565" cy="55860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动态模型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2.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宋体"/>
                <a:cs typeface="宋体"/>
              </a:rPr>
              <a:t>顺序图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2.1.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顺序图概念与表示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2.2.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顺序图的建立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3.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协作图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3.1.</a:t>
            </a:r>
            <a:r>
              <a:rPr sz="2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协作图概念与表示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3.2.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协作图的用途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4.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状态图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4.1.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状态图概念与表示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4.2.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状态图的建立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5.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活动图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5.1.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活动图概念与表示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5.2.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活动图应用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6.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建立动态模型示例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3752" y="79324"/>
            <a:ext cx="54756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Calibri"/>
                <a:cs typeface="Calibri"/>
              </a:rPr>
              <a:t>3.1.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/>
              <a:t>协作图概念与表示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496" y="1221993"/>
            <a:ext cx="8414385" cy="479361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118110">
              <a:lnSpc>
                <a:spcPts val="3200"/>
              </a:lnSpc>
              <a:spcBef>
                <a:spcPts val="335"/>
              </a:spcBef>
            </a:pPr>
            <a:r>
              <a:rPr sz="2800" spc="-5" dirty="0">
                <a:latin typeface="宋体"/>
                <a:cs typeface="宋体"/>
              </a:rPr>
              <a:t>协作</a:t>
            </a:r>
            <a:r>
              <a:rPr sz="2800" spc="-10" dirty="0">
                <a:latin typeface="宋体"/>
                <a:cs typeface="宋体"/>
              </a:rPr>
              <a:t>图</a:t>
            </a:r>
            <a:r>
              <a:rPr sz="1600" spc="-5" dirty="0">
                <a:latin typeface="Times New Roman"/>
                <a:cs typeface="Times New Roman"/>
              </a:rPr>
              <a:t>Collaboration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Diagram</a:t>
            </a:r>
            <a:r>
              <a:rPr sz="2800" spc="-5" dirty="0">
                <a:latin typeface="宋体"/>
                <a:cs typeface="宋体"/>
              </a:rPr>
              <a:t>表示</a:t>
            </a:r>
            <a:r>
              <a:rPr sz="2800" dirty="0">
                <a:latin typeface="宋体"/>
                <a:cs typeface="宋体"/>
              </a:rPr>
              <a:t>协</a:t>
            </a:r>
            <a:r>
              <a:rPr sz="2800" spc="-5" dirty="0">
                <a:latin typeface="宋体"/>
                <a:cs typeface="宋体"/>
              </a:rPr>
              <a:t>同完</a:t>
            </a:r>
            <a:r>
              <a:rPr sz="2800" dirty="0">
                <a:latin typeface="宋体"/>
                <a:cs typeface="宋体"/>
              </a:rPr>
              <a:t>成</a:t>
            </a:r>
            <a:r>
              <a:rPr sz="2800" spc="-5" dirty="0">
                <a:latin typeface="宋体"/>
                <a:cs typeface="宋体"/>
              </a:rPr>
              <a:t>某行</a:t>
            </a:r>
            <a:r>
              <a:rPr sz="2800" dirty="0">
                <a:latin typeface="宋体"/>
                <a:cs typeface="宋体"/>
              </a:rPr>
              <a:t>为</a:t>
            </a:r>
            <a:r>
              <a:rPr sz="2800" spc="-5" dirty="0">
                <a:latin typeface="宋体"/>
                <a:cs typeface="宋体"/>
              </a:rPr>
              <a:t>对象</a:t>
            </a:r>
            <a:r>
              <a:rPr sz="2800" dirty="0">
                <a:latin typeface="宋体"/>
                <a:cs typeface="宋体"/>
              </a:rPr>
              <a:t>之</a:t>
            </a:r>
            <a:r>
              <a:rPr sz="2800" spc="-5" dirty="0">
                <a:latin typeface="宋体"/>
                <a:cs typeface="宋体"/>
              </a:rPr>
              <a:t>间的交 互，强</a:t>
            </a:r>
            <a:r>
              <a:rPr sz="2800" spc="-10" dirty="0">
                <a:latin typeface="宋体"/>
                <a:cs typeface="宋体"/>
              </a:rPr>
              <a:t>调</a:t>
            </a:r>
            <a:r>
              <a:rPr sz="2800" spc="-5" dirty="0">
                <a:solidFill>
                  <a:srgbClr val="00A361"/>
                </a:solidFill>
                <a:latin typeface="宋体"/>
                <a:cs typeface="宋体"/>
              </a:rPr>
              <a:t>对象的消息结</a:t>
            </a:r>
            <a:r>
              <a:rPr sz="2800" spc="-15" dirty="0">
                <a:solidFill>
                  <a:srgbClr val="00A361"/>
                </a:solidFill>
                <a:latin typeface="宋体"/>
                <a:cs typeface="宋体"/>
              </a:rPr>
              <a:t>构</a:t>
            </a:r>
            <a:r>
              <a:rPr sz="2800" spc="-5" dirty="0">
                <a:latin typeface="宋体"/>
                <a:cs typeface="宋体"/>
              </a:rPr>
              <a:t>，而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忽略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时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间顺</a:t>
            </a:r>
            <a:r>
              <a:rPr sz="2800" u="heavy" spc="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序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2800" spc="-10" dirty="0">
                <a:latin typeface="宋体"/>
                <a:cs typeface="宋体"/>
              </a:rPr>
              <a:t>协作图由对象，消息，链等构成。</a:t>
            </a:r>
            <a:endParaRPr sz="2800">
              <a:latin typeface="宋体"/>
              <a:cs typeface="宋体"/>
            </a:endParaRPr>
          </a:p>
          <a:p>
            <a:pPr marL="469900" marR="8890" indent="-457200" algn="just">
              <a:lnSpc>
                <a:spcPts val="2760"/>
              </a:lnSpc>
              <a:spcBef>
                <a:spcPts val="1770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</a:tabLst>
            </a:pPr>
            <a:r>
              <a:rPr sz="2400" b="1" dirty="0">
                <a:latin typeface="宋体"/>
                <a:cs typeface="宋体"/>
              </a:rPr>
              <a:t>对象</a:t>
            </a:r>
            <a:r>
              <a:rPr sz="2400" dirty="0">
                <a:latin typeface="宋体"/>
                <a:cs typeface="宋体"/>
              </a:rPr>
              <a:t>：类的实例。对象是角色所属类的直接或间接实例，在 协作图中，一个类的对象可能充当多个角色。</a:t>
            </a:r>
            <a:endParaRPr sz="2400">
              <a:latin typeface="宋体"/>
              <a:cs typeface="宋体"/>
            </a:endParaRPr>
          </a:p>
          <a:p>
            <a:pPr marL="469900" marR="5080" indent="-457200" algn="just">
              <a:lnSpc>
                <a:spcPct val="97900"/>
              </a:lnSpc>
              <a:spcBef>
                <a:spcPts val="1550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</a:tabLst>
            </a:pPr>
            <a:r>
              <a:rPr sz="2400" b="1" dirty="0">
                <a:latin typeface="宋体"/>
                <a:cs typeface="宋体"/>
              </a:rPr>
              <a:t>消息</a:t>
            </a:r>
            <a:r>
              <a:rPr sz="2400" dirty="0">
                <a:latin typeface="宋体"/>
                <a:cs typeface="宋体"/>
              </a:rPr>
              <a:t>：消息用来描述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系统动态行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为</a:t>
            </a:r>
            <a:r>
              <a:rPr sz="2400" dirty="0">
                <a:latin typeface="宋体"/>
                <a:cs typeface="宋体"/>
              </a:rPr>
              <a:t>，它是从一个对象向另一 个或几个对象发送信息，或由一个对象调用另一个对象的操 作。</a:t>
            </a:r>
            <a:endParaRPr sz="2400">
              <a:latin typeface="宋体"/>
              <a:cs typeface="宋体"/>
            </a:endParaRPr>
          </a:p>
          <a:p>
            <a:pPr marL="1383665" lvl="1" indent="-457200">
              <a:lnSpc>
                <a:spcPct val="100000"/>
              </a:lnSpc>
              <a:spcBef>
                <a:spcPts val="1440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1383665" algn="l"/>
                <a:tab pos="1384300" algn="l"/>
              </a:tabLst>
            </a:pPr>
            <a:r>
              <a:rPr sz="2400" dirty="0">
                <a:latin typeface="宋体"/>
                <a:cs typeface="宋体"/>
              </a:rPr>
              <a:t>由三部分组成：发送者，接收者，活动。</a:t>
            </a:r>
            <a:endParaRPr sz="24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445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b="1" dirty="0">
                <a:latin typeface="宋体"/>
                <a:cs typeface="宋体"/>
              </a:rPr>
              <a:t>链</a:t>
            </a:r>
            <a:r>
              <a:rPr sz="2400" dirty="0">
                <a:latin typeface="宋体"/>
                <a:cs typeface="宋体"/>
              </a:rPr>
              <a:t>：表示两个或多个对象间的独立连接，是关联的实例。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538" y="79324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协作图示例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136648" y="1770888"/>
            <a:ext cx="1066800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latin typeface="Times New Roman"/>
                <a:cs typeface="Times New Roman"/>
              </a:rPr>
              <a:t>c:Client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0323" y="3547871"/>
            <a:ext cx="1655445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1800" spc="-5" dirty="0">
                <a:latin typeface="Times New Roman"/>
                <a:cs typeface="Times New Roman"/>
              </a:rPr>
              <a:t>t:Transaction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447" y="3599688"/>
            <a:ext cx="1937385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Times New Roman"/>
                <a:cs typeface="Times New Roman"/>
              </a:rPr>
              <a:t>p: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ODBCProxy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5222" y="2067513"/>
            <a:ext cx="1678939" cy="1261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5"/>
              </a:spcBef>
            </a:pPr>
            <a:r>
              <a:rPr sz="1800" dirty="0">
                <a:latin typeface="Times New Roman"/>
                <a:cs typeface="Times New Roman"/>
              </a:rPr>
              <a:t>1:create  </a:t>
            </a:r>
            <a:r>
              <a:rPr sz="1800" spc="-5" dirty="0">
                <a:latin typeface="Times New Roman"/>
                <a:cs typeface="Times New Roman"/>
              </a:rPr>
              <a:t>2:se</a:t>
            </a:r>
            <a:r>
              <a:rPr sz="1800" spc="5" dirty="0">
                <a:latin typeface="Times New Roman"/>
                <a:cs typeface="Times New Roman"/>
              </a:rPr>
              <a:t>t</a:t>
            </a:r>
            <a:r>
              <a:rPr sz="1800" spc="-5" dirty="0">
                <a:latin typeface="Times New Roman"/>
                <a:cs typeface="Times New Roman"/>
              </a:rPr>
              <a:t>Act</a:t>
            </a:r>
            <a:r>
              <a:rPr sz="1800" spc="5" dirty="0">
                <a:latin typeface="Times New Roman"/>
                <a:cs typeface="Times New Roman"/>
              </a:rPr>
              <a:t>i</a:t>
            </a:r>
            <a:r>
              <a:rPr sz="1800" spc="-5" dirty="0">
                <a:latin typeface="Times New Roman"/>
                <a:cs typeface="Times New Roman"/>
              </a:rPr>
              <a:t>on(a,d,o)  </a:t>
            </a:r>
            <a:r>
              <a:rPr sz="1800" dirty="0">
                <a:latin typeface="Times New Roman"/>
                <a:cs typeface="Times New Roman"/>
              </a:rPr>
              <a:t>3:destroy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70048" y="2151888"/>
            <a:ext cx="0" cy="1371600"/>
          </a:xfrm>
          <a:custGeom>
            <a:avLst/>
            <a:gdLst/>
            <a:ahLst/>
            <a:cxnLst/>
            <a:rect l="l" t="t" r="r" b="b"/>
            <a:pathLst>
              <a:path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12948" y="2380488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31750" y="609600"/>
                </a:moveTo>
                <a:lnTo>
                  <a:pt x="0" y="609600"/>
                </a:lnTo>
                <a:lnTo>
                  <a:pt x="38100" y="685800"/>
                </a:lnTo>
                <a:lnTo>
                  <a:pt x="69850" y="622300"/>
                </a:lnTo>
                <a:lnTo>
                  <a:pt x="31750" y="622300"/>
                </a:lnTo>
                <a:lnTo>
                  <a:pt x="31750" y="609600"/>
                </a:lnTo>
                <a:close/>
              </a:path>
              <a:path w="76200" h="685800">
                <a:moveTo>
                  <a:pt x="44450" y="0"/>
                </a:moveTo>
                <a:lnTo>
                  <a:pt x="31750" y="0"/>
                </a:lnTo>
                <a:lnTo>
                  <a:pt x="31750" y="622300"/>
                </a:lnTo>
                <a:lnTo>
                  <a:pt x="44450" y="622300"/>
                </a:lnTo>
                <a:lnTo>
                  <a:pt x="44450" y="0"/>
                </a:lnTo>
                <a:close/>
              </a:path>
              <a:path w="76200" h="685800">
                <a:moveTo>
                  <a:pt x="76200" y="609600"/>
                </a:moveTo>
                <a:lnTo>
                  <a:pt x="44450" y="609600"/>
                </a:lnTo>
                <a:lnTo>
                  <a:pt x="44450" y="622300"/>
                </a:lnTo>
                <a:lnTo>
                  <a:pt x="69850" y="622300"/>
                </a:lnTo>
                <a:lnTo>
                  <a:pt x="76200" y="609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08247" y="3752088"/>
            <a:ext cx="2362200" cy="0"/>
          </a:xfrm>
          <a:custGeom>
            <a:avLst/>
            <a:gdLst/>
            <a:ahLst/>
            <a:cxnLst/>
            <a:rect l="l" t="t" r="r" b="b"/>
            <a:pathLst>
              <a:path w="2362200">
                <a:moveTo>
                  <a:pt x="0" y="0"/>
                </a:moveTo>
                <a:lnTo>
                  <a:pt x="2362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65447" y="3866388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1066800" y="0"/>
                </a:moveTo>
                <a:lnTo>
                  <a:pt x="1066800" y="76200"/>
                </a:lnTo>
                <a:lnTo>
                  <a:pt x="1130300" y="44450"/>
                </a:lnTo>
                <a:lnTo>
                  <a:pt x="1079500" y="44450"/>
                </a:lnTo>
                <a:lnTo>
                  <a:pt x="1079500" y="31750"/>
                </a:lnTo>
                <a:lnTo>
                  <a:pt x="1130300" y="31750"/>
                </a:lnTo>
                <a:lnTo>
                  <a:pt x="1066800" y="0"/>
                </a:lnTo>
                <a:close/>
              </a:path>
              <a:path w="1143000" h="76200">
                <a:moveTo>
                  <a:pt x="1066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066800" y="44450"/>
                </a:lnTo>
                <a:lnTo>
                  <a:pt x="1066800" y="31750"/>
                </a:lnTo>
                <a:close/>
              </a:path>
              <a:path w="1143000" h="76200">
                <a:moveTo>
                  <a:pt x="1130300" y="31750"/>
                </a:moveTo>
                <a:lnTo>
                  <a:pt x="1079500" y="31750"/>
                </a:lnTo>
                <a:lnTo>
                  <a:pt x="1079500" y="44450"/>
                </a:lnTo>
                <a:lnTo>
                  <a:pt x="1130300" y="44450"/>
                </a:lnTo>
                <a:lnTo>
                  <a:pt x="1143000" y="38100"/>
                </a:lnTo>
                <a:lnTo>
                  <a:pt x="1130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19347" y="3948810"/>
            <a:ext cx="184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2.1</a:t>
            </a:r>
            <a:r>
              <a:rPr sz="1800" spc="-5" dirty="0">
                <a:latin typeface="Times New Roman"/>
                <a:cs typeface="Times New Roman"/>
              </a:rPr>
              <a:t>:se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215"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ues(d</a:t>
            </a:r>
            <a:r>
              <a:rPr sz="1800" spc="5" dirty="0">
                <a:latin typeface="Times New Roman"/>
                <a:cs typeface="Times New Roman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3.4)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19347" y="4363592"/>
            <a:ext cx="2263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2.2</a:t>
            </a:r>
            <a:r>
              <a:rPr sz="1800" spc="-5" dirty="0">
                <a:latin typeface="Times New Roman"/>
                <a:cs typeface="Times New Roman"/>
              </a:rPr>
              <a:t>set</a:t>
            </a:r>
            <a:r>
              <a:rPr sz="1800" spc="-210"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ues(a</a:t>
            </a:r>
            <a:r>
              <a:rPr sz="1800" spc="10" dirty="0">
                <a:latin typeface="Times New Roman"/>
                <a:cs typeface="Times New Roman"/>
              </a:rPr>
              <a:t>,</a:t>
            </a:r>
            <a:r>
              <a:rPr sz="1800" dirty="0">
                <a:latin typeface="宋体"/>
                <a:cs typeface="宋体"/>
              </a:rPr>
              <a:t>”</a:t>
            </a:r>
            <a:r>
              <a:rPr sz="1800" spc="-10" dirty="0">
                <a:latin typeface="Times New Roman"/>
                <a:cs typeface="Times New Roman"/>
              </a:rPr>
              <a:t>CO</a:t>
            </a:r>
            <a:r>
              <a:rPr sz="1800" dirty="0">
                <a:latin typeface="宋体"/>
                <a:cs typeface="宋体"/>
              </a:rPr>
              <a:t>”</a:t>
            </a:r>
            <a:r>
              <a:rPr sz="180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79448" y="2736088"/>
            <a:ext cx="892175" cy="482600"/>
          </a:xfrm>
          <a:custGeom>
            <a:avLst/>
            <a:gdLst/>
            <a:ahLst/>
            <a:cxnLst/>
            <a:rect l="l" t="t" r="r" b="b"/>
            <a:pathLst>
              <a:path w="892175" h="482600">
                <a:moveTo>
                  <a:pt x="0" y="165100"/>
                </a:moveTo>
                <a:lnTo>
                  <a:pt x="4992" y="140390"/>
                </a:lnTo>
                <a:lnTo>
                  <a:pt x="18605" y="120205"/>
                </a:lnTo>
                <a:lnTo>
                  <a:pt x="38790" y="106592"/>
                </a:lnTo>
                <a:lnTo>
                  <a:pt x="63500" y="101600"/>
                </a:lnTo>
                <a:lnTo>
                  <a:pt x="266700" y="101600"/>
                </a:lnTo>
                <a:lnTo>
                  <a:pt x="381000" y="101600"/>
                </a:lnTo>
                <a:lnTo>
                  <a:pt x="393700" y="101600"/>
                </a:lnTo>
                <a:lnTo>
                  <a:pt x="418409" y="106592"/>
                </a:lnTo>
                <a:lnTo>
                  <a:pt x="438594" y="120205"/>
                </a:lnTo>
                <a:lnTo>
                  <a:pt x="452207" y="140390"/>
                </a:lnTo>
                <a:lnTo>
                  <a:pt x="457200" y="165100"/>
                </a:lnTo>
                <a:lnTo>
                  <a:pt x="892175" y="0"/>
                </a:lnTo>
                <a:lnTo>
                  <a:pt x="457200" y="260350"/>
                </a:lnTo>
                <a:lnTo>
                  <a:pt x="457200" y="419100"/>
                </a:lnTo>
                <a:lnTo>
                  <a:pt x="452207" y="443809"/>
                </a:lnTo>
                <a:lnTo>
                  <a:pt x="438594" y="463994"/>
                </a:lnTo>
                <a:lnTo>
                  <a:pt x="418409" y="477607"/>
                </a:lnTo>
                <a:lnTo>
                  <a:pt x="393700" y="482600"/>
                </a:lnTo>
                <a:lnTo>
                  <a:pt x="381000" y="482600"/>
                </a:lnTo>
                <a:lnTo>
                  <a:pt x="266700" y="482600"/>
                </a:lnTo>
                <a:lnTo>
                  <a:pt x="63500" y="482600"/>
                </a:lnTo>
                <a:lnTo>
                  <a:pt x="38790" y="477607"/>
                </a:lnTo>
                <a:lnTo>
                  <a:pt x="18605" y="463994"/>
                </a:lnTo>
                <a:lnTo>
                  <a:pt x="4992" y="443809"/>
                </a:lnTo>
                <a:lnTo>
                  <a:pt x="0" y="419100"/>
                </a:lnTo>
                <a:lnTo>
                  <a:pt x="0" y="260350"/>
                </a:lnTo>
                <a:lnTo>
                  <a:pt x="0" y="165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80413" y="2885947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链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73190" y="4483608"/>
            <a:ext cx="1089025" cy="381000"/>
          </a:xfrm>
          <a:custGeom>
            <a:avLst/>
            <a:gdLst/>
            <a:ahLst/>
            <a:cxnLst/>
            <a:rect l="l" t="t" r="r" b="b"/>
            <a:pathLst>
              <a:path w="1089025" h="381000">
                <a:moveTo>
                  <a:pt x="327025" y="63500"/>
                </a:moveTo>
                <a:lnTo>
                  <a:pt x="332017" y="38790"/>
                </a:lnTo>
                <a:lnTo>
                  <a:pt x="345630" y="18605"/>
                </a:lnTo>
                <a:lnTo>
                  <a:pt x="365815" y="4992"/>
                </a:lnTo>
                <a:lnTo>
                  <a:pt x="390525" y="0"/>
                </a:lnTo>
                <a:lnTo>
                  <a:pt x="454025" y="0"/>
                </a:lnTo>
                <a:lnTo>
                  <a:pt x="644525" y="0"/>
                </a:lnTo>
                <a:lnTo>
                  <a:pt x="1025525" y="0"/>
                </a:lnTo>
                <a:lnTo>
                  <a:pt x="1050234" y="4992"/>
                </a:lnTo>
                <a:lnTo>
                  <a:pt x="1070419" y="18605"/>
                </a:lnTo>
                <a:lnTo>
                  <a:pt x="1084032" y="38790"/>
                </a:lnTo>
                <a:lnTo>
                  <a:pt x="1089025" y="63500"/>
                </a:lnTo>
                <a:lnTo>
                  <a:pt x="1089025" y="158750"/>
                </a:lnTo>
                <a:lnTo>
                  <a:pt x="1089025" y="317500"/>
                </a:lnTo>
                <a:lnTo>
                  <a:pt x="1084032" y="342209"/>
                </a:lnTo>
                <a:lnTo>
                  <a:pt x="1070419" y="362394"/>
                </a:lnTo>
                <a:lnTo>
                  <a:pt x="1050234" y="376007"/>
                </a:lnTo>
                <a:lnTo>
                  <a:pt x="1025525" y="381000"/>
                </a:lnTo>
                <a:lnTo>
                  <a:pt x="644525" y="381000"/>
                </a:lnTo>
                <a:lnTo>
                  <a:pt x="454025" y="381000"/>
                </a:lnTo>
                <a:lnTo>
                  <a:pt x="390525" y="381000"/>
                </a:lnTo>
                <a:lnTo>
                  <a:pt x="365815" y="376007"/>
                </a:lnTo>
                <a:lnTo>
                  <a:pt x="345630" y="362394"/>
                </a:lnTo>
                <a:lnTo>
                  <a:pt x="332017" y="342209"/>
                </a:lnTo>
                <a:lnTo>
                  <a:pt x="327025" y="317500"/>
                </a:lnTo>
                <a:lnTo>
                  <a:pt x="327025" y="158750"/>
                </a:lnTo>
                <a:lnTo>
                  <a:pt x="0" y="47625"/>
                </a:lnTo>
                <a:lnTo>
                  <a:pt x="327025" y="6350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40551" y="4531867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消息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57422" y="1694688"/>
            <a:ext cx="1089025" cy="381000"/>
          </a:xfrm>
          <a:custGeom>
            <a:avLst/>
            <a:gdLst/>
            <a:ahLst/>
            <a:cxnLst/>
            <a:rect l="l" t="t" r="r" b="b"/>
            <a:pathLst>
              <a:path w="1089025" h="381000">
                <a:moveTo>
                  <a:pt x="327025" y="63500"/>
                </a:moveTo>
                <a:lnTo>
                  <a:pt x="332017" y="38790"/>
                </a:lnTo>
                <a:lnTo>
                  <a:pt x="345630" y="18605"/>
                </a:lnTo>
                <a:lnTo>
                  <a:pt x="365815" y="4992"/>
                </a:lnTo>
                <a:lnTo>
                  <a:pt x="390525" y="0"/>
                </a:lnTo>
                <a:lnTo>
                  <a:pt x="454025" y="0"/>
                </a:lnTo>
                <a:lnTo>
                  <a:pt x="644525" y="0"/>
                </a:lnTo>
                <a:lnTo>
                  <a:pt x="1025525" y="0"/>
                </a:lnTo>
                <a:lnTo>
                  <a:pt x="1050234" y="4992"/>
                </a:lnTo>
                <a:lnTo>
                  <a:pt x="1070419" y="18605"/>
                </a:lnTo>
                <a:lnTo>
                  <a:pt x="1084032" y="38790"/>
                </a:lnTo>
                <a:lnTo>
                  <a:pt x="1089025" y="63500"/>
                </a:lnTo>
                <a:lnTo>
                  <a:pt x="1089025" y="222250"/>
                </a:lnTo>
                <a:lnTo>
                  <a:pt x="1089025" y="317500"/>
                </a:lnTo>
                <a:lnTo>
                  <a:pt x="1084032" y="342209"/>
                </a:lnTo>
                <a:lnTo>
                  <a:pt x="1070419" y="362394"/>
                </a:lnTo>
                <a:lnTo>
                  <a:pt x="1050234" y="376007"/>
                </a:lnTo>
                <a:lnTo>
                  <a:pt x="1025525" y="381000"/>
                </a:lnTo>
                <a:lnTo>
                  <a:pt x="644525" y="381000"/>
                </a:lnTo>
                <a:lnTo>
                  <a:pt x="454025" y="381000"/>
                </a:lnTo>
                <a:lnTo>
                  <a:pt x="390525" y="381000"/>
                </a:lnTo>
                <a:lnTo>
                  <a:pt x="365815" y="376007"/>
                </a:lnTo>
                <a:lnTo>
                  <a:pt x="345630" y="362394"/>
                </a:lnTo>
                <a:lnTo>
                  <a:pt x="332017" y="342209"/>
                </a:lnTo>
                <a:lnTo>
                  <a:pt x="327025" y="317500"/>
                </a:lnTo>
                <a:lnTo>
                  <a:pt x="0" y="342900"/>
                </a:lnTo>
                <a:lnTo>
                  <a:pt x="327025" y="222250"/>
                </a:lnTo>
                <a:lnTo>
                  <a:pt x="327025" y="63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23894" y="1742389"/>
            <a:ext cx="482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对象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9200" y="934211"/>
            <a:ext cx="1066800" cy="37528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1800" dirty="0">
                <a:latin typeface="Times New Roman"/>
                <a:cs typeface="Times New Roman"/>
              </a:rPr>
              <a:t>c:Client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0" y="1620011"/>
            <a:ext cx="1769745" cy="37528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1800" spc="-5" dirty="0">
                <a:latin typeface="Times New Roman"/>
                <a:cs typeface="Times New Roman"/>
              </a:rPr>
              <a:t>t:Transaction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0" y="928116"/>
            <a:ext cx="1676400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1800" spc="-5" dirty="0">
                <a:latin typeface="Times New Roman"/>
                <a:cs typeface="Times New Roman"/>
              </a:rPr>
              <a:t>p:ODBCProxy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76400" y="1842516"/>
            <a:ext cx="152400" cy="2667000"/>
          </a:xfrm>
          <a:custGeom>
            <a:avLst/>
            <a:gdLst/>
            <a:ahLst/>
            <a:cxnLst/>
            <a:rect l="l" t="t" r="r" b="b"/>
            <a:pathLst>
              <a:path w="152400" h="2667000">
                <a:moveTo>
                  <a:pt x="0" y="2666999"/>
                </a:moveTo>
                <a:lnTo>
                  <a:pt x="152400" y="2666999"/>
                </a:lnTo>
                <a:lnTo>
                  <a:pt x="152400" y="0"/>
                </a:lnTo>
                <a:lnTo>
                  <a:pt x="0" y="0"/>
                </a:lnTo>
                <a:lnTo>
                  <a:pt x="0" y="26669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800" y="2337816"/>
            <a:ext cx="2590800" cy="76200"/>
          </a:xfrm>
          <a:custGeom>
            <a:avLst/>
            <a:gdLst/>
            <a:ahLst/>
            <a:cxnLst/>
            <a:rect l="l" t="t" r="r" b="b"/>
            <a:pathLst>
              <a:path w="2590800" h="76200">
                <a:moveTo>
                  <a:pt x="2514600" y="0"/>
                </a:moveTo>
                <a:lnTo>
                  <a:pt x="2514600" y="76200"/>
                </a:lnTo>
                <a:lnTo>
                  <a:pt x="2578100" y="44450"/>
                </a:lnTo>
                <a:lnTo>
                  <a:pt x="2527300" y="44450"/>
                </a:lnTo>
                <a:lnTo>
                  <a:pt x="2527300" y="31750"/>
                </a:lnTo>
                <a:lnTo>
                  <a:pt x="2578100" y="31750"/>
                </a:lnTo>
                <a:lnTo>
                  <a:pt x="2514600" y="0"/>
                </a:lnTo>
                <a:close/>
              </a:path>
              <a:path w="2590800" h="76200">
                <a:moveTo>
                  <a:pt x="2514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514600" y="44450"/>
                </a:lnTo>
                <a:lnTo>
                  <a:pt x="2514600" y="31750"/>
                </a:lnTo>
                <a:close/>
              </a:path>
              <a:path w="2590800" h="76200">
                <a:moveTo>
                  <a:pt x="2578100" y="31750"/>
                </a:moveTo>
                <a:lnTo>
                  <a:pt x="2527300" y="31750"/>
                </a:lnTo>
                <a:lnTo>
                  <a:pt x="2527300" y="44450"/>
                </a:lnTo>
                <a:lnTo>
                  <a:pt x="2578100" y="44450"/>
                </a:lnTo>
                <a:lnTo>
                  <a:pt x="2590800" y="38100"/>
                </a:lnTo>
                <a:lnTo>
                  <a:pt x="2578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28800" y="1880616"/>
            <a:ext cx="1981200" cy="76200"/>
          </a:xfrm>
          <a:custGeom>
            <a:avLst/>
            <a:gdLst/>
            <a:ahLst/>
            <a:cxnLst/>
            <a:rect l="l" t="t" r="r" b="b"/>
            <a:pathLst>
              <a:path w="1981200" h="76200">
                <a:moveTo>
                  <a:pt x="1905000" y="0"/>
                </a:moveTo>
                <a:lnTo>
                  <a:pt x="1905000" y="76200"/>
                </a:lnTo>
                <a:lnTo>
                  <a:pt x="1968500" y="44450"/>
                </a:lnTo>
                <a:lnTo>
                  <a:pt x="1917700" y="44450"/>
                </a:lnTo>
                <a:lnTo>
                  <a:pt x="1917700" y="31750"/>
                </a:lnTo>
                <a:lnTo>
                  <a:pt x="1968500" y="31750"/>
                </a:lnTo>
                <a:lnTo>
                  <a:pt x="1905000" y="0"/>
                </a:lnTo>
                <a:close/>
              </a:path>
              <a:path w="1981200" h="76200">
                <a:moveTo>
                  <a:pt x="19050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905000" y="44450"/>
                </a:lnTo>
                <a:lnTo>
                  <a:pt x="1905000" y="31750"/>
                </a:lnTo>
                <a:close/>
              </a:path>
              <a:path w="1981200" h="76200">
                <a:moveTo>
                  <a:pt x="1968500" y="31750"/>
                </a:moveTo>
                <a:lnTo>
                  <a:pt x="1917700" y="31750"/>
                </a:lnTo>
                <a:lnTo>
                  <a:pt x="1917700" y="44450"/>
                </a:lnTo>
                <a:lnTo>
                  <a:pt x="1968500" y="44450"/>
                </a:lnTo>
                <a:lnTo>
                  <a:pt x="1981200" y="38100"/>
                </a:lnTo>
                <a:lnTo>
                  <a:pt x="19685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41194" y="1564385"/>
            <a:ext cx="98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&lt;&lt;cr</a:t>
            </a:r>
            <a:r>
              <a:rPr sz="1600" spc="-10" dirty="0">
                <a:latin typeface="Times New Roman"/>
                <a:cs typeface="Times New Roman"/>
              </a:rPr>
              <a:t>e</a:t>
            </a:r>
            <a:r>
              <a:rPr sz="1600" spc="-5" dirty="0">
                <a:latin typeface="Times New Roman"/>
                <a:cs typeface="Times New Roman"/>
              </a:rPr>
              <a:t>ate&gt;</a:t>
            </a:r>
            <a:r>
              <a:rPr sz="1800" dirty="0">
                <a:latin typeface="Times New Roman"/>
                <a:cs typeface="Times New Roman"/>
              </a:rPr>
              <a:t>&gt;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19600" y="2375916"/>
            <a:ext cx="152400" cy="1828800"/>
          </a:xfrm>
          <a:custGeom>
            <a:avLst/>
            <a:gdLst/>
            <a:ahLst/>
            <a:cxnLst/>
            <a:rect l="l" t="t" r="r" b="b"/>
            <a:pathLst>
              <a:path w="152400" h="1828800">
                <a:moveTo>
                  <a:pt x="0" y="1828799"/>
                </a:moveTo>
                <a:lnTo>
                  <a:pt x="152400" y="1828799"/>
                </a:lnTo>
                <a:lnTo>
                  <a:pt x="152400" y="0"/>
                </a:lnTo>
                <a:lnTo>
                  <a:pt x="0" y="0"/>
                </a:lnTo>
                <a:lnTo>
                  <a:pt x="0" y="18287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34200" y="2680716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0" y="457200"/>
                </a:moveTo>
                <a:lnTo>
                  <a:pt x="152400" y="457200"/>
                </a:lnTo>
                <a:lnTo>
                  <a:pt x="152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4200" y="3518915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0" y="457199"/>
                </a:moveTo>
                <a:lnTo>
                  <a:pt x="152400" y="457199"/>
                </a:lnTo>
                <a:lnTo>
                  <a:pt x="1524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2000" y="2642616"/>
            <a:ext cx="2362200" cy="76200"/>
          </a:xfrm>
          <a:custGeom>
            <a:avLst/>
            <a:gdLst/>
            <a:ahLst/>
            <a:cxnLst/>
            <a:rect l="l" t="t" r="r" b="b"/>
            <a:pathLst>
              <a:path w="2362200" h="76200">
                <a:moveTo>
                  <a:pt x="2286000" y="0"/>
                </a:moveTo>
                <a:lnTo>
                  <a:pt x="2286000" y="76200"/>
                </a:lnTo>
                <a:lnTo>
                  <a:pt x="2349500" y="44450"/>
                </a:lnTo>
                <a:lnTo>
                  <a:pt x="2298700" y="44450"/>
                </a:lnTo>
                <a:lnTo>
                  <a:pt x="2298700" y="31750"/>
                </a:lnTo>
                <a:lnTo>
                  <a:pt x="2349500" y="31750"/>
                </a:lnTo>
                <a:lnTo>
                  <a:pt x="2286000" y="0"/>
                </a:lnTo>
                <a:close/>
              </a:path>
              <a:path w="2362200" h="76200">
                <a:moveTo>
                  <a:pt x="22860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6000" y="44450"/>
                </a:lnTo>
                <a:lnTo>
                  <a:pt x="2286000" y="31750"/>
                </a:lnTo>
                <a:close/>
              </a:path>
              <a:path w="2362200" h="76200">
                <a:moveTo>
                  <a:pt x="2349500" y="31750"/>
                </a:moveTo>
                <a:lnTo>
                  <a:pt x="2298700" y="31750"/>
                </a:lnTo>
                <a:lnTo>
                  <a:pt x="2298700" y="44450"/>
                </a:lnTo>
                <a:lnTo>
                  <a:pt x="2349500" y="44450"/>
                </a:lnTo>
                <a:lnTo>
                  <a:pt x="2362200" y="38100"/>
                </a:lnTo>
                <a:lnTo>
                  <a:pt x="23495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48200" y="3480815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2209800" y="0"/>
                </a:moveTo>
                <a:lnTo>
                  <a:pt x="2209800" y="76200"/>
                </a:lnTo>
                <a:lnTo>
                  <a:pt x="2273300" y="44450"/>
                </a:lnTo>
                <a:lnTo>
                  <a:pt x="2222500" y="44450"/>
                </a:lnTo>
                <a:lnTo>
                  <a:pt x="2222500" y="31750"/>
                </a:lnTo>
                <a:lnTo>
                  <a:pt x="2273300" y="31750"/>
                </a:lnTo>
                <a:lnTo>
                  <a:pt x="2209800" y="0"/>
                </a:lnTo>
                <a:close/>
              </a:path>
              <a:path w="2286000" h="76200">
                <a:moveTo>
                  <a:pt x="2209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09800" y="44450"/>
                </a:lnTo>
                <a:lnTo>
                  <a:pt x="2209800" y="31750"/>
                </a:lnTo>
                <a:close/>
              </a:path>
              <a:path w="2286000" h="76200">
                <a:moveTo>
                  <a:pt x="2273300" y="31750"/>
                </a:moveTo>
                <a:lnTo>
                  <a:pt x="2222500" y="31750"/>
                </a:lnTo>
                <a:lnTo>
                  <a:pt x="2222500" y="44450"/>
                </a:lnTo>
                <a:lnTo>
                  <a:pt x="2273300" y="44450"/>
                </a:lnTo>
                <a:lnTo>
                  <a:pt x="2286000" y="38100"/>
                </a:lnTo>
                <a:lnTo>
                  <a:pt x="2273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8800" y="4090415"/>
            <a:ext cx="2590800" cy="76200"/>
          </a:xfrm>
          <a:custGeom>
            <a:avLst/>
            <a:gdLst/>
            <a:ahLst/>
            <a:cxnLst/>
            <a:rect l="l" t="t" r="r" b="b"/>
            <a:pathLst>
              <a:path w="2590800" h="76200">
                <a:moveTo>
                  <a:pt x="2514600" y="0"/>
                </a:moveTo>
                <a:lnTo>
                  <a:pt x="2514600" y="76199"/>
                </a:lnTo>
                <a:lnTo>
                  <a:pt x="2578100" y="44449"/>
                </a:lnTo>
                <a:lnTo>
                  <a:pt x="2527300" y="44449"/>
                </a:lnTo>
                <a:lnTo>
                  <a:pt x="2527300" y="31749"/>
                </a:lnTo>
                <a:lnTo>
                  <a:pt x="2578100" y="31749"/>
                </a:lnTo>
                <a:lnTo>
                  <a:pt x="2514600" y="0"/>
                </a:lnTo>
                <a:close/>
              </a:path>
              <a:path w="2590800" h="76200">
                <a:moveTo>
                  <a:pt x="2514600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2514600" y="44449"/>
                </a:lnTo>
                <a:lnTo>
                  <a:pt x="2514600" y="31749"/>
                </a:lnTo>
                <a:close/>
              </a:path>
              <a:path w="2590800" h="76200">
                <a:moveTo>
                  <a:pt x="2578100" y="31749"/>
                </a:moveTo>
                <a:lnTo>
                  <a:pt x="2527300" y="31749"/>
                </a:lnTo>
                <a:lnTo>
                  <a:pt x="2527300" y="44449"/>
                </a:lnTo>
                <a:lnTo>
                  <a:pt x="2578100" y="44449"/>
                </a:lnTo>
                <a:lnTo>
                  <a:pt x="2590800" y="38099"/>
                </a:lnTo>
                <a:lnTo>
                  <a:pt x="257810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83994" y="2069490"/>
            <a:ext cx="4958715" cy="208978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600" spc="-5" dirty="0">
                <a:latin typeface="Times New Roman"/>
                <a:cs typeface="Times New Roman"/>
              </a:rPr>
              <a:t>&lt;&lt; setAction(a,d,o)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&gt;&gt;</a:t>
            </a:r>
            <a:endParaRPr sz="1600">
              <a:latin typeface="Times New Roman"/>
              <a:cs typeface="Times New Roman"/>
            </a:endParaRPr>
          </a:p>
          <a:p>
            <a:pPr marL="2729865" algn="ctr">
              <a:lnSpc>
                <a:spcPct val="100000"/>
              </a:lnSpc>
              <a:spcBef>
                <a:spcPts val="229"/>
              </a:spcBef>
            </a:pPr>
            <a:r>
              <a:rPr sz="1600" spc="-5" dirty="0">
                <a:latin typeface="Times New Roman"/>
                <a:cs typeface="Times New Roman"/>
              </a:rPr>
              <a:t>&lt;&lt; </a:t>
            </a:r>
            <a:r>
              <a:rPr sz="1600" spc="-15" dirty="0">
                <a:latin typeface="Times New Roman"/>
                <a:cs typeface="Times New Roman"/>
              </a:rPr>
              <a:t>setValues(d,3.4)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&gt;&gt;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Times New Roman"/>
              <a:cs typeface="Times New Roman"/>
            </a:endParaRPr>
          </a:p>
          <a:p>
            <a:pPr marL="2743200" algn="ctr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&lt;&lt;setValues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(a</a:t>
            </a:r>
            <a:r>
              <a:rPr sz="1600" spc="-5" dirty="0">
                <a:latin typeface="宋体"/>
                <a:cs typeface="宋体"/>
              </a:rPr>
              <a:t>”</a:t>
            </a:r>
            <a:r>
              <a:rPr sz="1600" spc="-5" dirty="0">
                <a:latin typeface="Times New Roman"/>
                <a:cs typeface="Times New Roman"/>
              </a:rPr>
              <a:t>CO</a:t>
            </a:r>
            <a:r>
              <a:rPr sz="1600" spc="-5" dirty="0">
                <a:latin typeface="宋体"/>
                <a:cs typeface="宋体"/>
              </a:rPr>
              <a:t>”</a:t>
            </a:r>
            <a:r>
              <a:rPr sz="1600" spc="-5" dirty="0">
                <a:latin typeface="Times New Roman"/>
                <a:cs typeface="Times New Roman"/>
              </a:rPr>
              <a:t>)&gt;&gt;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  <a:spcBef>
                <a:spcPts val="1510"/>
              </a:spcBef>
            </a:pPr>
            <a:r>
              <a:rPr sz="1600" spc="-5" dirty="0">
                <a:latin typeface="Times New Roman"/>
                <a:cs typeface="Times New Roman"/>
              </a:rPr>
              <a:t>&lt;&lt;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destroy&gt;&gt;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52600" y="1309116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52600" y="450951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43400" y="4128515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81000" y="0"/>
                </a:moveTo>
                <a:lnTo>
                  <a:pt x="0" y="3047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67200" y="4128515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0"/>
                </a:moveTo>
                <a:lnTo>
                  <a:pt x="457200" y="3047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95800" y="1994916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10400" y="1309116"/>
            <a:ext cx="0" cy="1371600"/>
          </a:xfrm>
          <a:custGeom>
            <a:avLst/>
            <a:gdLst/>
            <a:ahLst/>
            <a:cxnLst/>
            <a:rect l="l" t="t" r="r" b="b"/>
            <a:pathLst>
              <a:path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34200" y="3137916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10400" y="3976115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599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754176" y="106426"/>
            <a:ext cx="7340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与前页协作图在语义上等价的顺序图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64540" y="4995417"/>
            <a:ext cx="73482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顺序图和协作图表示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相同的模型语义</a:t>
            </a:r>
            <a:r>
              <a:rPr sz="2400" dirty="0">
                <a:latin typeface="宋体"/>
                <a:cs typeface="宋体"/>
              </a:rPr>
              <a:t>，可以把顺序 图和协作图从一种形式转换为另一中形式。但它们都可 以表示对方不能表示的某些内容。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294" y="1975484"/>
            <a:ext cx="9398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插卡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储蓄密码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宋体"/>
                <a:cs typeface="宋体"/>
              </a:rPr>
              <a:t>撤消</a:t>
            </a:r>
            <a:endParaRPr sz="18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储蓄金额 终止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79875" y="2010283"/>
            <a:ext cx="13970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367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确认的身份 确认操作 撤消请求 储蓄请求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宋体"/>
                <a:cs typeface="宋体"/>
              </a:rPr>
              <a:t>帐户信息请求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7294" y="3793617"/>
            <a:ext cx="93980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确认状态 储蓄状态 分配现金 </a:t>
            </a:r>
            <a:r>
              <a:rPr sz="1800" spc="-5" dirty="0">
                <a:latin typeface="宋体"/>
                <a:cs typeface="宋体"/>
              </a:rPr>
              <a:t>打印帐 </a:t>
            </a:r>
            <a:r>
              <a:rPr sz="1800" dirty="0">
                <a:latin typeface="宋体"/>
                <a:cs typeface="宋体"/>
              </a:rPr>
              <a:t>读卡信息 获得现金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4675" y="3717417"/>
            <a:ext cx="9410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打开帐户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4675" y="3991736"/>
            <a:ext cx="11703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储蓄初始化 认可卡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未认可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关闭帐户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37528" y="3793617"/>
            <a:ext cx="941069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权限限制 帐户类型 余额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撤消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储蓄关闭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23709" y="2826511"/>
            <a:ext cx="939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确认帐号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宋体"/>
                <a:cs typeface="宋体"/>
              </a:rPr>
              <a:t>确认身份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300" y="3069335"/>
            <a:ext cx="1143000" cy="9785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49554">
              <a:lnSpc>
                <a:spcPct val="100000"/>
              </a:lnSpc>
              <a:spcBef>
                <a:spcPts val="300"/>
              </a:spcBef>
            </a:pPr>
            <a:r>
              <a:rPr sz="1800" spc="-70" dirty="0">
                <a:latin typeface="Times New Roman"/>
                <a:cs typeface="Times New Roman"/>
              </a:rPr>
              <a:t>ATM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宋体"/>
                <a:cs typeface="宋体"/>
              </a:rPr>
              <a:t>用户界面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7500" y="3012948"/>
            <a:ext cx="1143000" cy="9804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250190">
              <a:lnSpc>
                <a:spcPct val="100000"/>
              </a:lnSpc>
            </a:pPr>
            <a:r>
              <a:rPr sz="1800" spc="-75" dirty="0">
                <a:latin typeface="Times New Roman"/>
                <a:cs typeface="Times New Roman"/>
              </a:rPr>
              <a:t>ATM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24500" y="2784348"/>
            <a:ext cx="1143000" cy="9804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206375" marR="242570" indent="55880">
              <a:lnSpc>
                <a:spcPct val="110000"/>
              </a:lnSpc>
              <a:spcBef>
                <a:spcPts val="114"/>
              </a:spcBef>
            </a:pPr>
            <a:r>
              <a:rPr sz="1800" dirty="0">
                <a:latin typeface="宋体"/>
                <a:cs typeface="宋体"/>
              </a:rPr>
              <a:t>银行 分理处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9500" y="5288279"/>
            <a:ext cx="1143000" cy="9804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350">
              <a:latin typeface="Times New Roman"/>
              <a:cs typeface="Times New Roman"/>
            </a:endParaRPr>
          </a:p>
          <a:p>
            <a:pPr marL="262255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柜员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24500" y="5288279"/>
            <a:ext cx="1143000" cy="9804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35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帐户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19900" y="5288279"/>
            <a:ext cx="1219200" cy="9804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3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确认信息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67500" y="3438144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67600" y="3438144"/>
            <a:ext cx="76200" cy="1850389"/>
          </a:xfrm>
          <a:custGeom>
            <a:avLst/>
            <a:gdLst/>
            <a:ahLst/>
            <a:cxnLst/>
            <a:rect l="l" t="t" r="r" b="b"/>
            <a:pathLst>
              <a:path w="76200" h="1850389">
                <a:moveTo>
                  <a:pt x="31750" y="1773935"/>
                </a:moveTo>
                <a:lnTo>
                  <a:pt x="0" y="1773935"/>
                </a:lnTo>
                <a:lnTo>
                  <a:pt x="38100" y="1850135"/>
                </a:lnTo>
                <a:lnTo>
                  <a:pt x="69850" y="1786635"/>
                </a:lnTo>
                <a:lnTo>
                  <a:pt x="31750" y="1786635"/>
                </a:lnTo>
                <a:lnTo>
                  <a:pt x="31750" y="1773935"/>
                </a:lnTo>
                <a:close/>
              </a:path>
              <a:path w="76200" h="1850389">
                <a:moveTo>
                  <a:pt x="44450" y="0"/>
                </a:moveTo>
                <a:lnTo>
                  <a:pt x="31750" y="0"/>
                </a:lnTo>
                <a:lnTo>
                  <a:pt x="31750" y="1786635"/>
                </a:lnTo>
                <a:lnTo>
                  <a:pt x="44450" y="1786635"/>
                </a:lnTo>
                <a:lnTo>
                  <a:pt x="44450" y="0"/>
                </a:lnTo>
                <a:close/>
              </a:path>
              <a:path w="76200" h="1850389">
                <a:moveTo>
                  <a:pt x="76200" y="1773935"/>
                </a:moveTo>
                <a:lnTo>
                  <a:pt x="44450" y="1773935"/>
                </a:lnTo>
                <a:lnTo>
                  <a:pt x="44450" y="1786635"/>
                </a:lnTo>
                <a:lnTo>
                  <a:pt x="69850" y="1786635"/>
                </a:lnTo>
                <a:lnTo>
                  <a:pt x="76200" y="17739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19800" y="3764279"/>
            <a:ext cx="76200" cy="1524000"/>
          </a:xfrm>
          <a:custGeom>
            <a:avLst/>
            <a:gdLst/>
            <a:ahLst/>
            <a:cxnLst/>
            <a:rect l="l" t="t" r="r" b="b"/>
            <a:pathLst>
              <a:path w="76200" h="1524000">
                <a:moveTo>
                  <a:pt x="31750" y="1447800"/>
                </a:moveTo>
                <a:lnTo>
                  <a:pt x="0" y="1447800"/>
                </a:lnTo>
                <a:lnTo>
                  <a:pt x="38100" y="1524000"/>
                </a:lnTo>
                <a:lnTo>
                  <a:pt x="69850" y="1460500"/>
                </a:lnTo>
                <a:lnTo>
                  <a:pt x="31750" y="1460500"/>
                </a:lnTo>
                <a:lnTo>
                  <a:pt x="31750" y="1447800"/>
                </a:lnTo>
                <a:close/>
              </a:path>
              <a:path w="76200" h="1524000">
                <a:moveTo>
                  <a:pt x="44450" y="0"/>
                </a:moveTo>
                <a:lnTo>
                  <a:pt x="31750" y="0"/>
                </a:lnTo>
                <a:lnTo>
                  <a:pt x="31750" y="1460500"/>
                </a:lnTo>
                <a:lnTo>
                  <a:pt x="44450" y="1460500"/>
                </a:lnTo>
                <a:lnTo>
                  <a:pt x="44450" y="0"/>
                </a:lnTo>
                <a:close/>
              </a:path>
              <a:path w="76200" h="1524000">
                <a:moveTo>
                  <a:pt x="76200" y="1447800"/>
                </a:moveTo>
                <a:lnTo>
                  <a:pt x="44450" y="1447800"/>
                </a:lnTo>
                <a:lnTo>
                  <a:pt x="44450" y="1460500"/>
                </a:lnTo>
                <a:lnTo>
                  <a:pt x="69850" y="1460500"/>
                </a:lnTo>
                <a:lnTo>
                  <a:pt x="76200" y="1447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05300" y="3611879"/>
            <a:ext cx="0" cy="1676400"/>
          </a:xfrm>
          <a:custGeom>
            <a:avLst/>
            <a:gdLst/>
            <a:ahLst/>
            <a:cxnLst/>
            <a:rect l="l" t="t" r="r" b="b"/>
            <a:pathLst>
              <a:path h="1676400">
                <a:moveTo>
                  <a:pt x="0" y="0"/>
                </a:moveTo>
                <a:lnTo>
                  <a:pt x="0" y="1676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05300" y="3573779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143000" y="0"/>
                </a:moveTo>
                <a:lnTo>
                  <a:pt x="1143000" y="76200"/>
                </a:lnTo>
                <a:lnTo>
                  <a:pt x="1206500" y="44450"/>
                </a:lnTo>
                <a:lnTo>
                  <a:pt x="1155700" y="44450"/>
                </a:lnTo>
                <a:lnTo>
                  <a:pt x="1155700" y="31750"/>
                </a:lnTo>
                <a:lnTo>
                  <a:pt x="1206499" y="31750"/>
                </a:lnTo>
                <a:lnTo>
                  <a:pt x="1143000" y="0"/>
                </a:lnTo>
                <a:close/>
              </a:path>
              <a:path w="1219200" h="76200">
                <a:moveTo>
                  <a:pt x="11430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43000" y="44450"/>
                </a:lnTo>
                <a:lnTo>
                  <a:pt x="1143000" y="31750"/>
                </a:lnTo>
                <a:close/>
              </a:path>
              <a:path w="1219200" h="76200">
                <a:moveTo>
                  <a:pt x="1206499" y="31750"/>
                </a:moveTo>
                <a:lnTo>
                  <a:pt x="1155700" y="31750"/>
                </a:lnTo>
                <a:lnTo>
                  <a:pt x="1155700" y="44450"/>
                </a:lnTo>
                <a:lnTo>
                  <a:pt x="1206500" y="44450"/>
                </a:lnTo>
                <a:lnTo>
                  <a:pt x="1219200" y="38100"/>
                </a:lnTo>
                <a:lnTo>
                  <a:pt x="1206499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00500" y="3421379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1447800" y="0"/>
                </a:moveTo>
                <a:lnTo>
                  <a:pt x="1447800" y="76200"/>
                </a:lnTo>
                <a:lnTo>
                  <a:pt x="1511300" y="44450"/>
                </a:lnTo>
                <a:lnTo>
                  <a:pt x="1460500" y="44450"/>
                </a:lnTo>
                <a:lnTo>
                  <a:pt x="1460500" y="31750"/>
                </a:lnTo>
                <a:lnTo>
                  <a:pt x="1511300" y="31750"/>
                </a:lnTo>
                <a:lnTo>
                  <a:pt x="1447800" y="0"/>
                </a:lnTo>
                <a:close/>
              </a:path>
              <a:path w="1524000" h="76200">
                <a:moveTo>
                  <a:pt x="1447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47800" y="44450"/>
                </a:lnTo>
                <a:lnTo>
                  <a:pt x="1447800" y="31750"/>
                </a:lnTo>
                <a:close/>
              </a:path>
              <a:path w="1524000" h="76200">
                <a:moveTo>
                  <a:pt x="1511300" y="31750"/>
                </a:moveTo>
                <a:lnTo>
                  <a:pt x="1460500" y="31750"/>
                </a:lnTo>
                <a:lnTo>
                  <a:pt x="1460500" y="44450"/>
                </a:lnTo>
                <a:lnTo>
                  <a:pt x="1511300" y="44450"/>
                </a:lnTo>
                <a:lnTo>
                  <a:pt x="1524000" y="38100"/>
                </a:lnTo>
                <a:lnTo>
                  <a:pt x="1511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38300" y="3400044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143000" y="0"/>
                </a:moveTo>
                <a:lnTo>
                  <a:pt x="1143000" y="76200"/>
                </a:lnTo>
                <a:lnTo>
                  <a:pt x="1206500" y="44450"/>
                </a:lnTo>
                <a:lnTo>
                  <a:pt x="1155700" y="44450"/>
                </a:lnTo>
                <a:lnTo>
                  <a:pt x="1155700" y="31750"/>
                </a:lnTo>
                <a:lnTo>
                  <a:pt x="1206500" y="31750"/>
                </a:lnTo>
                <a:lnTo>
                  <a:pt x="1143000" y="0"/>
                </a:lnTo>
                <a:close/>
              </a:path>
              <a:path w="1219200" h="76200">
                <a:moveTo>
                  <a:pt x="11430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43000" y="44450"/>
                </a:lnTo>
                <a:lnTo>
                  <a:pt x="1143000" y="31750"/>
                </a:lnTo>
                <a:close/>
              </a:path>
              <a:path w="1219200" h="76200">
                <a:moveTo>
                  <a:pt x="1206500" y="31750"/>
                </a:moveTo>
                <a:lnTo>
                  <a:pt x="1155700" y="31750"/>
                </a:lnTo>
                <a:lnTo>
                  <a:pt x="1155700" y="44450"/>
                </a:lnTo>
                <a:lnTo>
                  <a:pt x="1206500" y="44450"/>
                </a:lnTo>
                <a:lnTo>
                  <a:pt x="1219200" y="38100"/>
                </a:lnTo>
                <a:lnTo>
                  <a:pt x="12065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38300" y="3704844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4449"/>
                </a:lnTo>
                <a:lnTo>
                  <a:pt x="63500" y="44449"/>
                </a:lnTo>
                <a:lnTo>
                  <a:pt x="63500" y="31749"/>
                </a:lnTo>
                <a:lnTo>
                  <a:pt x="76200" y="31749"/>
                </a:lnTo>
                <a:lnTo>
                  <a:pt x="76200" y="0"/>
                </a:lnTo>
                <a:close/>
              </a:path>
              <a:path w="1219200" h="76200">
                <a:moveTo>
                  <a:pt x="76200" y="31749"/>
                </a:moveTo>
                <a:lnTo>
                  <a:pt x="63500" y="31749"/>
                </a:lnTo>
                <a:lnTo>
                  <a:pt x="63500" y="44449"/>
                </a:lnTo>
                <a:lnTo>
                  <a:pt x="76200" y="44449"/>
                </a:lnTo>
                <a:lnTo>
                  <a:pt x="76200" y="31749"/>
                </a:lnTo>
                <a:close/>
              </a:path>
              <a:path w="1219200" h="76200">
                <a:moveTo>
                  <a:pt x="1219200" y="31749"/>
                </a:moveTo>
                <a:lnTo>
                  <a:pt x="76200" y="31749"/>
                </a:lnTo>
                <a:lnTo>
                  <a:pt x="76200" y="44449"/>
                </a:lnTo>
                <a:lnTo>
                  <a:pt x="1219200" y="44449"/>
                </a:lnTo>
                <a:lnTo>
                  <a:pt x="121920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2288285" y="64973"/>
            <a:ext cx="43567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Calibri"/>
                <a:cs typeface="Calibri"/>
              </a:rPr>
              <a:t>3.2.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/>
              <a:t>协作图的用途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64947" y="691706"/>
            <a:ext cx="7950200" cy="1343660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50"/>
              </a:spcBef>
            </a:pPr>
            <a:r>
              <a:rPr sz="2400" dirty="0">
                <a:latin typeface="宋体"/>
                <a:cs typeface="宋体"/>
              </a:rPr>
              <a:t>可用于分析对象行为的控制线程，规划系统分布及测试用例</a:t>
            </a:r>
            <a:endParaRPr sz="2400">
              <a:latin typeface="宋体"/>
              <a:cs typeface="宋体"/>
            </a:endParaRPr>
          </a:p>
          <a:p>
            <a:pPr marR="3559175" algn="ctr">
              <a:lnSpc>
                <a:spcPct val="100000"/>
              </a:lnSpc>
              <a:spcBef>
                <a:spcPts val="1215"/>
              </a:spcBef>
            </a:pPr>
            <a:r>
              <a:rPr sz="2000" dirty="0">
                <a:latin typeface="宋体"/>
                <a:cs typeface="宋体"/>
              </a:rPr>
              <a:t>例：用协作图规划储蓄</a:t>
            </a:r>
            <a:r>
              <a:rPr sz="2000" spc="-15" dirty="0">
                <a:latin typeface="宋体"/>
                <a:cs typeface="宋体"/>
              </a:rPr>
              <a:t>应</a:t>
            </a:r>
            <a:r>
              <a:rPr sz="2000" dirty="0">
                <a:latin typeface="宋体"/>
                <a:cs typeface="宋体"/>
              </a:rPr>
              <a:t>用的</a:t>
            </a:r>
            <a:r>
              <a:rPr sz="2000" spc="-15" dirty="0">
                <a:latin typeface="宋体"/>
                <a:cs typeface="宋体"/>
              </a:rPr>
              <a:t>行</a:t>
            </a:r>
            <a:r>
              <a:rPr sz="2000" dirty="0">
                <a:latin typeface="宋体"/>
                <a:cs typeface="宋体"/>
              </a:rPr>
              <a:t>为：</a:t>
            </a:r>
            <a:endParaRPr sz="2000">
              <a:latin typeface="宋体"/>
              <a:cs typeface="宋体"/>
            </a:endParaRPr>
          </a:p>
          <a:p>
            <a:pPr marL="647700" algn="ctr">
              <a:lnSpc>
                <a:spcPct val="100000"/>
              </a:lnSpc>
              <a:spcBef>
                <a:spcPts val="275"/>
              </a:spcBef>
            </a:pPr>
            <a:r>
              <a:rPr sz="1800" spc="-5" dirty="0">
                <a:latin typeface="宋体"/>
                <a:cs typeface="宋体"/>
              </a:rPr>
              <a:t>确认的帐号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412191"/>
            <a:ext cx="4902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00"/>
                </a:solidFill>
              </a:rPr>
              <a:t>例：用协作图规划储蓄应用的行为：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337817" y="1084325"/>
            <a:ext cx="202120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Verdana"/>
                <a:cs typeface="Verdana"/>
              </a:rPr>
              <a:t>1:card </a:t>
            </a:r>
            <a:r>
              <a:rPr sz="1600" spc="-10" dirty="0">
                <a:latin typeface="Verdana"/>
                <a:cs typeface="Verdana"/>
              </a:rPr>
              <a:t>inserted  </a:t>
            </a:r>
            <a:r>
              <a:rPr sz="1600" spc="-5" dirty="0">
                <a:latin typeface="Verdana"/>
                <a:cs typeface="Verdana"/>
              </a:rPr>
              <a:t>2:password </a:t>
            </a:r>
            <a:r>
              <a:rPr sz="1600" spc="-10" dirty="0">
                <a:latin typeface="Verdana"/>
                <a:cs typeface="Verdana"/>
              </a:rPr>
              <a:t>deposit  3:withdraw  4:accntStatus  5:terminate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0777" y="939799"/>
            <a:ext cx="183007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Verdana"/>
                <a:cs typeface="Verdana"/>
              </a:rPr>
              <a:t>2.1:verify </a:t>
            </a:r>
            <a:r>
              <a:rPr sz="1600" spc="-5" dirty="0">
                <a:latin typeface="Verdana"/>
                <a:cs typeface="Verdana"/>
              </a:rPr>
              <a:t>accnt  </a:t>
            </a:r>
            <a:r>
              <a:rPr sz="1600" spc="-10" dirty="0">
                <a:latin typeface="Verdana"/>
                <a:cs typeface="Verdana"/>
              </a:rPr>
              <a:t>2.2:verity </a:t>
            </a:r>
            <a:r>
              <a:rPr sz="1600" spc="-5" dirty="0">
                <a:latin typeface="Verdana"/>
                <a:cs typeface="Verdana"/>
              </a:rPr>
              <a:t>PIN  </a:t>
            </a:r>
            <a:r>
              <a:rPr sz="1600" spc="-10" dirty="0">
                <a:latin typeface="Verdana"/>
                <a:cs typeface="Verdana"/>
              </a:rPr>
              <a:t>2.3verity policy  3.1:with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drawReq  </a:t>
            </a:r>
            <a:r>
              <a:rPr sz="1600" spc="-10" dirty="0">
                <a:latin typeface="Verdana"/>
                <a:cs typeface="Verdana"/>
              </a:rPr>
              <a:t>4.1:deppositReq  4.2:acctInfoReq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0969" y="3461384"/>
            <a:ext cx="170053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Verdana"/>
                <a:cs typeface="Verdana"/>
              </a:rPr>
              <a:t>verity </a:t>
            </a:r>
            <a:r>
              <a:rPr sz="1600" spc="-5" dirty="0">
                <a:latin typeface="Verdana"/>
                <a:cs typeface="Verdana"/>
              </a:rPr>
              <a:t>Status  </a:t>
            </a:r>
            <a:r>
              <a:rPr sz="1600" spc="-10" dirty="0">
                <a:latin typeface="Verdana"/>
                <a:cs typeface="Verdana"/>
              </a:rPr>
              <a:t>deposit </a:t>
            </a:r>
            <a:r>
              <a:rPr sz="1600" spc="-5" dirty="0">
                <a:latin typeface="Verdana"/>
                <a:cs typeface="Verdana"/>
              </a:rPr>
              <a:t>Status  </a:t>
            </a:r>
            <a:r>
              <a:rPr sz="1600" spc="-10" dirty="0">
                <a:latin typeface="Verdana"/>
                <a:cs typeface="Verdana"/>
              </a:rPr>
              <a:t>disppoense </a:t>
            </a:r>
            <a:r>
              <a:rPr sz="1600" spc="-5" dirty="0">
                <a:latin typeface="Verdana"/>
                <a:cs typeface="Verdana"/>
              </a:rPr>
              <a:t>cash  </a:t>
            </a:r>
            <a:r>
              <a:rPr sz="1600" spc="-10" dirty="0">
                <a:latin typeface="Verdana"/>
                <a:cs typeface="Verdana"/>
              </a:rPr>
              <a:t>print </a:t>
            </a:r>
            <a:r>
              <a:rPr sz="1600" spc="-5" dirty="0">
                <a:latin typeface="Verdana"/>
                <a:cs typeface="Verdana"/>
              </a:rPr>
              <a:t>AccntStar  read CardInfo  </a:t>
            </a:r>
            <a:r>
              <a:rPr sz="1600" spc="-10" dirty="0">
                <a:latin typeface="Verdana"/>
                <a:cs typeface="Verdana"/>
              </a:rPr>
              <a:t>getCashAmnt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5303" y="3245357"/>
            <a:ext cx="167195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Verdana"/>
                <a:cs typeface="Verdana"/>
              </a:rPr>
              <a:t>2:open </a:t>
            </a:r>
            <a:r>
              <a:rPr sz="1600" spc="-5" dirty="0">
                <a:latin typeface="Verdana"/>
                <a:cs typeface="Verdana"/>
              </a:rPr>
              <a:t>accnt  </a:t>
            </a:r>
            <a:r>
              <a:rPr sz="1600" spc="-10" dirty="0">
                <a:latin typeface="Verdana"/>
                <a:cs typeface="Verdana"/>
              </a:rPr>
              <a:t>3:initialDeposit  </a:t>
            </a:r>
            <a:r>
              <a:rPr sz="1600" spc="-5" dirty="0">
                <a:latin typeface="Verdana"/>
                <a:cs typeface="Verdana"/>
              </a:rPr>
              <a:t>1:a</a:t>
            </a:r>
            <a:r>
              <a:rPr sz="1600" spc="-15" dirty="0">
                <a:latin typeface="Verdana"/>
                <a:cs typeface="Verdana"/>
              </a:rPr>
              <a:t>ut</a:t>
            </a:r>
            <a:r>
              <a:rPr sz="1600" spc="-5" dirty="0">
                <a:latin typeface="Verdana"/>
                <a:cs typeface="Verdana"/>
              </a:rPr>
              <a:t>hori</a:t>
            </a:r>
            <a:r>
              <a:rPr sz="1600" spc="-20" dirty="0">
                <a:latin typeface="Verdana"/>
                <a:cs typeface="Verdana"/>
              </a:rPr>
              <a:t>z</a:t>
            </a:r>
            <a:r>
              <a:rPr sz="1600" spc="-5" dirty="0">
                <a:latin typeface="Verdana"/>
                <a:cs typeface="Verdana"/>
              </a:rPr>
              <a:t>eC</a:t>
            </a:r>
            <a:r>
              <a:rPr sz="1600" spc="-10" dirty="0">
                <a:latin typeface="Verdana"/>
                <a:cs typeface="Verdana"/>
              </a:rPr>
              <a:t>a</a:t>
            </a:r>
            <a:r>
              <a:rPr sz="1600" spc="-5" dirty="0">
                <a:latin typeface="Verdana"/>
                <a:cs typeface="Verdana"/>
              </a:rPr>
              <a:t>rd  </a:t>
            </a:r>
            <a:r>
              <a:rPr sz="1600" spc="-10" dirty="0">
                <a:latin typeface="Verdana"/>
                <a:cs typeface="Verdana"/>
              </a:rPr>
              <a:t>4:deauthorize  5:close</a:t>
            </a:r>
            <a:r>
              <a:rPr sz="1600" spc="-5" dirty="0">
                <a:latin typeface="Verdana"/>
                <a:cs typeface="Verdana"/>
              </a:rPr>
              <a:t> accnt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4707" y="3461384"/>
            <a:ext cx="197485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Verdana"/>
                <a:cs typeface="Verdana"/>
              </a:rPr>
              <a:t>4.1.1:deposit  4.2.1:creditLimit  </a:t>
            </a:r>
            <a:r>
              <a:rPr sz="1600" spc="-20" dirty="0">
                <a:latin typeface="Verdana"/>
                <a:cs typeface="Verdana"/>
              </a:rPr>
              <a:t>4.2.2:accntType  </a:t>
            </a:r>
            <a:r>
              <a:rPr sz="1600" spc="-10" dirty="0">
                <a:latin typeface="Verdana"/>
                <a:cs typeface="Verdana"/>
              </a:rPr>
              <a:t>4.2.3:balance  4.2.4:withdraw  </a:t>
            </a:r>
            <a:r>
              <a:rPr sz="1600" spc="-5" dirty="0">
                <a:latin typeface="Verdana"/>
                <a:cs typeface="Verdana"/>
              </a:rPr>
              <a:t>4.2.5:deposit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close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12406" y="2375154"/>
            <a:ext cx="17418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Verdana"/>
                <a:cs typeface="Verdana"/>
              </a:rPr>
              <a:t>2.1.1:valid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accnt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2.2.1:valid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PIN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831" y="2491739"/>
            <a:ext cx="1259205" cy="88391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50"/>
              </a:spcBef>
            </a:pPr>
            <a:r>
              <a:rPr sz="1600" spc="-40" dirty="0">
                <a:latin typeface="Verdana"/>
                <a:cs typeface="Verdana"/>
              </a:rPr>
              <a:t>ATM</a:t>
            </a:r>
            <a:endParaRPr sz="1600">
              <a:latin typeface="Verdana"/>
              <a:cs typeface="Verdana"/>
            </a:endParaRPr>
          </a:p>
          <a:p>
            <a:pPr marL="90805">
              <a:lnSpc>
                <a:spcPct val="100000"/>
              </a:lnSpc>
              <a:spcBef>
                <a:spcPts val="195"/>
              </a:spcBef>
            </a:pPr>
            <a:r>
              <a:rPr sz="1600" spc="-5" dirty="0">
                <a:latin typeface="Verdana"/>
                <a:cs typeface="Verdana"/>
              </a:rPr>
              <a:t>user</a:t>
            </a:r>
            <a:endParaRPr sz="1600">
              <a:latin typeface="Verdana"/>
              <a:cs typeface="Verdana"/>
            </a:endParaRPr>
          </a:p>
          <a:p>
            <a:pPr marL="90805">
              <a:lnSpc>
                <a:spcPct val="100000"/>
              </a:lnSpc>
              <a:spcBef>
                <a:spcPts val="190"/>
              </a:spcBef>
            </a:pPr>
            <a:r>
              <a:rPr sz="1600" spc="-10" dirty="0">
                <a:latin typeface="Verdana"/>
                <a:cs typeface="Verdana"/>
              </a:rPr>
              <a:t>interface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7039" y="2491739"/>
            <a:ext cx="866140" cy="88391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Times New Roman"/>
              <a:cs typeface="Times New Roman"/>
            </a:endParaRPr>
          </a:p>
          <a:p>
            <a:pPr marL="163830">
              <a:lnSpc>
                <a:spcPct val="100000"/>
              </a:lnSpc>
            </a:pPr>
            <a:r>
              <a:rPr sz="1600" spc="-40" dirty="0">
                <a:latin typeface="Verdana"/>
                <a:cs typeface="Verdana"/>
              </a:rPr>
              <a:t>ATM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5771" y="2401823"/>
            <a:ext cx="937260" cy="8826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Times New Roman"/>
              <a:cs typeface="Times New Roman"/>
            </a:endParaRPr>
          </a:p>
          <a:p>
            <a:pPr marL="235585">
              <a:lnSpc>
                <a:spcPct val="100000"/>
              </a:lnSpc>
            </a:pPr>
            <a:r>
              <a:rPr sz="1600" spc="-5" dirty="0">
                <a:latin typeface="Verdana"/>
                <a:cs typeface="Verdana"/>
              </a:rPr>
              <a:t>Bank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48228" y="4652771"/>
            <a:ext cx="1188720" cy="8826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Cashier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92852" y="5225796"/>
            <a:ext cx="1341120" cy="6146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5"/>
              </a:spcBef>
            </a:pPr>
            <a:r>
              <a:rPr sz="1600" spc="-5" dirty="0">
                <a:latin typeface="Verdana"/>
                <a:cs typeface="Verdana"/>
              </a:rPr>
              <a:t>Account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29856" y="5228844"/>
            <a:ext cx="1440180" cy="6146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5"/>
              </a:spcBef>
            </a:pPr>
            <a:r>
              <a:rPr sz="1600" spc="-15" dirty="0">
                <a:latin typeface="Verdana"/>
                <a:cs typeface="Verdana"/>
              </a:rPr>
              <a:t>Validation</a:t>
            </a:r>
            <a:endParaRPr sz="1600">
              <a:latin typeface="Verdana"/>
              <a:cs typeface="Verdana"/>
            </a:endParaRPr>
          </a:p>
          <a:p>
            <a:pPr marL="448945">
              <a:lnSpc>
                <a:spcPct val="100000"/>
              </a:lnSpc>
              <a:spcBef>
                <a:spcPts val="190"/>
              </a:spcBef>
            </a:pPr>
            <a:r>
              <a:rPr sz="1600" dirty="0">
                <a:latin typeface="Verdana"/>
                <a:cs typeface="Verdana"/>
              </a:rPr>
              <a:t>Info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33031" y="2924555"/>
            <a:ext cx="1655445" cy="0"/>
          </a:xfrm>
          <a:custGeom>
            <a:avLst/>
            <a:gdLst/>
            <a:ahLst/>
            <a:cxnLst/>
            <a:rect l="l" t="t" r="r" b="b"/>
            <a:pathLst>
              <a:path w="1655445">
                <a:moveTo>
                  <a:pt x="0" y="0"/>
                </a:moveTo>
                <a:lnTo>
                  <a:pt x="165506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49995" y="2924555"/>
            <a:ext cx="76200" cy="2304415"/>
          </a:xfrm>
          <a:custGeom>
            <a:avLst/>
            <a:gdLst/>
            <a:ahLst/>
            <a:cxnLst/>
            <a:rect l="l" t="t" r="r" b="b"/>
            <a:pathLst>
              <a:path w="76200" h="2304415">
                <a:moveTo>
                  <a:pt x="31750" y="2228088"/>
                </a:moveTo>
                <a:lnTo>
                  <a:pt x="0" y="2228088"/>
                </a:lnTo>
                <a:lnTo>
                  <a:pt x="38100" y="2304288"/>
                </a:lnTo>
                <a:lnTo>
                  <a:pt x="69850" y="2240788"/>
                </a:lnTo>
                <a:lnTo>
                  <a:pt x="31750" y="2240788"/>
                </a:lnTo>
                <a:lnTo>
                  <a:pt x="31750" y="2228088"/>
                </a:lnTo>
                <a:close/>
              </a:path>
              <a:path w="76200" h="2304415">
                <a:moveTo>
                  <a:pt x="44450" y="0"/>
                </a:moveTo>
                <a:lnTo>
                  <a:pt x="31750" y="0"/>
                </a:lnTo>
                <a:lnTo>
                  <a:pt x="31750" y="2240788"/>
                </a:lnTo>
                <a:lnTo>
                  <a:pt x="44450" y="2240788"/>
                </a:lnTo>
                <a:lnTo>
                  <a:pt x="44450" y="0"/>
                </a:lnTo>
                <a:close/>
              </a:path>
              <a:path w="76200" h="2304415">
                <a:moveTo>
                  <a:pt x="76200" y="2228088"/>
                </a:moveTo>
                <a:lnTo>
                  <a:pt x="44450" y="2228088"/>
                </a:lnTo>
                <a:lnTo>
                  <a:pt x="44450" y="2240788"/>
                </a:lnTo>
                <a:lnTo>
                  <a:pt x="69850" y="2240788"/>
                </a:lnTo>
                <a:lnTo>
                  <a:pt x="76200" y="2228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47232" y="3284220"/>
            <a:ext cx="76200" cy="1945005"/>
          </a:xfrm>
          <a:custGeom>
            <a:avLst/>
            <a:gdLst/>
            <a:ahLst/>
            <a:cxnLst/>
            <a:rect l="l" t="t" r="r" b="b"/>
            <a:pathLst>
              <a:path w="76200" h="1945004">
                <a:moveTo>
                  <a:pt x="31750" y="1868423"/>
                </a:moveTo>
                <a:lnTo>
                  <a:pt x="0" y="1868423"/>
                </a:lnTo>
                <a:lnTo>
                  <a:pt x="38100" y="1944623"/>
                </a:lnTo>
                <a:lnTo>
                  <a:pt x="69850" y="1881123"/>
                </a:lnTo>
                <a:lnTo>
                  <a:pt x="31750" y="1881123"/>
                </a:lnTo>
                <a:lnTo>
                  <a:pt x="31750" y="1868423"/>
                </a:lnTo>
                <a:close/>
              </a:path>
              <a:path w="76200" h="1945004">
                <a:moveTo>
                  <a:pt x="44450" y="0"/>
                </a:moveTo>
                <a:lnTo>
                  <a:pt x="31750" y="0"/>
                </a:lnTo>
                <a:lnTo>
                  <a:pt x="31750" y="1881123"/>
                </a:lnTo>
                <a:lnTo>
                  <a:pt x="44450" y="1881123"/>
                </a:lnTo>
                <a:lnTo>
                  <a:pt x="44450" y="0"/>
                </a:lnTo>
                <a:close/>
              </a:path>
              <a:path w="76200" h="1945004">
                <a:moveTo>
                  <a:pt x="76200" y="1868423"/>
                </a:moveTo>
                <a:lnTo>
                  <a:pt x="44450" y="1868423"/>
                </a:lnTo>
                <a:lnTo>
                  <a:pt x="44450" y="1881123"/>
                </a:lnTo>
                <a:lnTo>
                  <a:pt x="69850" y="1881123"/>
                </a:lnTo>
                <a:lnTo>
                  <a:pt x="76200" y="18684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95928" y="2852927"/>
            <a:ext cx="0" cy="1800225"/>
          </a:xfrm>
          <a:custGeom>
            <a:avLst/>
            <a:gdLst/>
            <a:ahLst/>
            <a:cxnLst/>
            <a:rect l="l" t="t" r="r" b="b"/>
            <a:pathLst>
              <a:path h="1800225">
                <a:moveTo>
                  <a:pt x="0" y="1799844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95928" y="2814827"/>
            <a:ext cx="1800225" cy="76200"/>
          </a:xfrm>
          <a:custGeom>
            <a:avLst/>
            <a:gdLst/>
            <a:ahLst/>
            <a:cxnLst/>
            <a:rect l="l" t="t" r="r" b="b"/>
            <a:pathLst>
              <a:path w="1800225" h="76200">
                <a:moveTo>
                  <a:pt x="1723644" y="0"/>
                </a:moveTo>
                <a:lnTo>
                  <a:pt x="1723644" y="76200"/>
                </a:lnTo>
                <a:lnTo>
                  <a:pt x="1787144" y="44450"/>
                </a:lnTo>
                <a:lnTo>
                  <a:pt x="1736344" y="44450"/>
                </a:lnTo>
                <a:lnTo>
                  <a:pt x="1736344" y="31750"/>
                </a:lnTo>
                <a:lnTo>
                  <a:pt x="1787144" y="31750"/>
                </a:lnTo>
                <a:lnTo>
                  <a:pt x="1723644" y="0"/>
                </a:lnTo>
                <a:close/>
              </a:path>
              <a:path w="1800225" h="76200">
                <a:moveTo>
                  <a:pt x="172364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723644" y="44450"/>
                </a:lnTo>
                <a:lnTo>
                  <a:pt x="1723644" y="31750"/>
                </a:lnTo>
                <a:close/>
              </a:path>
              <a:path w="1800225" h="76200">
                <a:moveTo>
                  <a:pt x="1787144" y="31750"/>
                </a:moveTo>
                <a:lnTo>
                  <a:pt x="1736344" y="31750"/>
                </a:lnTo>
                <a:lnTo>
                  <a:pt x="1736344" y="44450"/>
                </a:lnTo>
                <a:lnTo>
                  <a:pt x="1787144" y="44450"/>
                </a:lnTo>
                <a:lnTo>
                  <a:pt x="1799844" y="38100"/>
                </a:lnTo>
                <a:lnTo>
                  <a:pt x="178714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51147" y="2670048"/>
            <a:ext cx="1945005" cy="76200"/>
          </a:xfrm>
          <a:custGeom>
            <a:avLst/>
            <a:gdLst/>
            <a:ahLst/>
            <a:cxnLst/>
            <a:rect l="l" t="t" r="r" b="b"/>
            <a:pathLst>
              <a:path w="1945004" h="76200">
                <a:moveTo>
                  <a:pt x="1868424" y="0"/>
                </a:moveTo>
                <a:lnTo>
                  <a:pt x="1868424" y="76200"/>
                </a:lnTo>
                <a:lnTo>
                  <a:pt x="1931924" y="44450"/>
                </a:lnTo>
                <a:lnTo>
                  <a:pt x="1881124" y="44450"/>
                </a:lnTo>
                <a:lnTo>
                  <a:pt x="1881124" y="31750"/>
                </a:lnTo>
                <a:lnTo>
                  <a:pt x="1931924" y="31750"/>
                </a:lnTo>
                <a:lnTo>
                  <a:pt x="1868424" y="0"/>
                </a:lnTo>
                <a:close/>
              </a:path>
              <a:path w="1945004" h="76200">
                <a:moveTo>
                  <a:pt x="186842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868424" y="44450"/>
                </a:lnTo>
                <a:lnTo>
                  <a:pt x="1868424" y="31750"/>
                </a:lnTo>
                <a:close/>
              </a:path>
              <a:path w="1945004" h="76200">
                <a:moveTo>
                  <a:pt x="1931924" y="31750"/>
                </a:moveTo>
                <a:lnTo>
                  <a:pt x="1881124" y="31750"/>
                </a:lnTo>
                <a:lnTo>
                  <a:pt x="1881124" y="44450"/>
                </a:lnTo>
                <a:lnTo>
                  <a:pt x="1931924" y="44450"/>
                </a:lnTo>
                <a:lnTo>
                  <a:pt x="1944624" y="38100"/>
                </a:lnTo>
                <a:lnTo>
                  <a:pt x="193192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75232" y="2814827"/>
            <a:ext cx="1511935" cy="76200"/>
          </a:xfrm>
          <a:custGeom>
            <a:avLst/>
            <a:gdLst/>
            <a:ahLst/>
            <a:cxnLst/>
            <a:rect l="l" t="t" r="r" b="b"/>
            <a:pathLst>
              <a:path w="1511935" h="76200">
                <a:moveTo>
                  <a:pt x="1435608" y="0"/>
                </a:moveTo>
                <a:lnTo>
                  <a:pt x="1435608" y="76200"/>
                </a:lnTo>
                <a:lnTo>
                  <a:pt x="1499108" y="44450"/>
                </a:lnTo>
                <a:lnTo>
                  <a:pt x="1448308" y="44450"/>
                </a:lnTo>
                <a:lnTo>
                  <a:pt x="1448308" y="31750"/>
                </a:lnTo>
                <a:lnTo>
                  <a:pt x="1499108" y="31750"/>
                </a:lnTo>
                <a:lnTo>
                  <a:pt x="1435608" y="0"/>
                </a:lnTo>
                <a:close/>
              </a:path>
              <a:path w="1511935" h="76200">
                <a:moveTo>
                  <a:pt x="143560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35608" y="44450"/>
                </a:lnTo>
                <a:lnTo>
                  <a:pt x="1435608" y="31750"/>
                </a:lnTo>
                <a:close/>
              </a:path>
              <a:path w="1511935" h="76200">
                <a:moveTo>
                  <a:pt x="1499108" y="31750"/>
                </a:moveTo>
                <a:lnTo>
                  <a:pt x="1448308" y="31750"/>
                </a:lnTo>
                <a:lnTo>
                  <a:pt x="1448308" y="44450"/>
                </a:lnTo>
                <a:lnTo>
                  <a:pt x="1499108" y="44450"/>
                </a:lnTo>
                <a:lnTo>
                  <a:pt x="1511808" y="38100"/>
                </a:lnTo>
                <a:lnTo>
                  <a:pt x="149910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76755" y="3031235"/>
            <a:ext cx="1440180" cy="76200"/>
          </a:xfrm>
          <a:custGeom>
            <a:avLst/>
            <a:gdLst/>
            <a:ahLst/>
            <a:cxnLst/>
            <a:rect l="l" t="t" r="r" b="b"/>
            <a:pathLst>
              <a:path w="144018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44018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440180" h="76200">
                <a:moveTo>
                  <a:pt x="144018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440180" y="44450"/>
                </a:lnTo>
                <a:lnTo>
                  <a:pt x="144018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</a:t>
            </a:r>
            <a:r>
              <a:rPr spc="5" dirty="0"/>
              <a:t>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</a:t>
            </a:r>
            <a:r>
              <a:rPr spc="-5" dirty="0"/>
              <a:t>模</a:t>
            </a:r>
            <a:r>
              <a:rPr spc="-5" dirty="0">
                <a:latin typeface="Calibri"/>
                <a:cs typeface="Calibri"/>
              </a:rPr>
              <a:t>(4)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75" y="665603"/>
            <a:ext cx="3250565" cy="55860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动态模型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2.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宋体"/>
                <a:cs typeface="宋体"/>
              </a:rPr>
              <a:t>顺序图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2.1.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顺序图概念与表示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2.2.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顺序图的建立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3.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协作图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3.1.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协作图概念与表示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3.2.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协作图的用途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4.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状态图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4.1.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状态图概念与表示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4.2.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状态图的建立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5.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活动图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5.1.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活动图概念与表示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5.2.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活动图应用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6.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建立动态模型示例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1595" y="113233"/>
            <a:ext cx="4085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状态图概念与表示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763267" y="4456176"/>
            <a:ext cx="1447800" cy="762000"/>
          </a:xfrm>
          <a:custGeom>
            <a:avLst/>
            <a:gdLst/>
            <a:ahLst/>
            <a:cxnLst/>
            <a:rect l="l" t="t" r="r" b="b"/>
            <a:pathLst>
              <a:path w="1447800" h="762000">
                <a:moveTo>
                  <a:pt x="0" y="127000"/>
                </a:moveTo>
                <a:lnTo>
                  <a:pt x="9985" y="77581"/>
                </a:lnTo>
                <a:lnTo>
                  <a:pt x="37211" y="37211"/>
                </a:lnTo>
                <a:lnTo>
                  <a:pt x="77581" y="9985"/>
                </a:lnTo>
                <a:lnTo>
                  <a:pt x="127000" y="0"/>
                </a:lnTo>
                <a:lnTo>
                  <a:pt x="1320800" y="0"/>
                </a:lnTo>
                <a:lnTo>
                  <a:pt x="1370218" y="9985"/>
                </a:lnTo>
                <a:lnTo>
                  <a:pt x="1410589" y="37211"/>
                </a:lnTo>
                <a:lnTo>
                  <a:pt x="1437814" y="77581"/>
                </a:lnTo>
                <a:lnTo>
                  <a:pt x="1447800" y="127000"/>
                </a:lnTo>
                <a:lnTo>
                  <a:pt x="1447800" y="635000"/>
                </a:lnTo>
                <a:lnTo>
                  <a:pt x="1437814" y="684418"/>
                </a:lnTo>
                <a:lnTo>
                  <a:pt x="1410589" y="724789"/>
                </a:lnTo>
                <a:lnTo>
                  <a:pt x="1370218" y="752014"/>
                </a:lnTo>
                <a:lnTo>
                  <a:pt x="1320800" y="762000"/>
                </a:lnTo>
                <a:lnTo>
                  <a:pt x="127000" y="762000"/>
                </a:lnTo>
                <a:lnTo>
                  <a:pt x="77581" y="752014"/>
                </a:lnTo>
                <a:lnTo>
                  <a:pt x="37210" y="724788"/>
                </a:lnTo>
                <a:lnTo>
                  <a:pt x="9985" y="684418"/>
                </a:lnTo>
                <a:lnTo>
                  <a:pt x="0" y="635000"/>
                </a:lnTo>
                <a:lnTo>
                  <a:pt x="0" y="127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76982" y="4511421"/>
            <a:ext cx="4222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5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45152" y="4456176"/>
            <a:ext cx="1447800" cy="762000"/>
          </a:xfrm>
          <a:custGeom>
            <a:avLst/>
            <a:gdLst/>
            <a:ahLst/>
            <a:cxnLst/>
            <a:rect l="l" t="t" r="r" b="b"/>
            <a:pathLst>
              <a:path w="1447800" h="762000">
                <a:moveTo>
                  <a:pt x="0" y="127000"/>
                </a:moveTo>
                <a:lnTo>
                  <a:pt x="9985" y="77581"/>
                </a:lnTo>
                <a:lnTo>
                  <a:pt x="37211" y="37211"/>
                </a:lnTo>
                <a:lnTo>
                  <a:pt x="77581" y="9985"/>
                </a:lnTo>
                <a:lnTo>
                  <a:pt x="127000" y="0"/>
                </a:lnTo>
                <a:lnTo>
                  <a:pt x="1320800" y="0"/>
                </a:lnTo>
                <a:lnTo>
                  <a:pt x="1370218" y="9985"/>
                </a:lnTo>
                <a:lnTo>
                  <a:pt x="1410589" y="37211"/>
                </a:lnTo>
                <a:lnTo>
                  <a:pt x="1437814" y="77581"/>
                </a:lnTo>
                <a:lnTo>
                  <a:pt x="1447800" y="127000"/>
                </a:lnTo>
                <a:lnTo>
                  <a:pt x="1447800" y="635000"/>
                </a:lnTo>
                <a:lnTo>
                  <a:pt x="1437814" y="684418"/>
                </a:lnTo>
                <a:lnTo>
                  <a:pt x="1410589" y="724789"/>
                </a:lnTo>
                <a:lnTo>
                  <a:pt x="1370218" y="752014"/>
                </a:lnTo>
                <a:lnTo>
                  <a:pt x="1320800" y="762000"/>
                </a:lnTo>
                <a:lnTo>
                  <a:pt x="127000" y="762000"/>
                </a:lnTo>
                <a:lnTo>
                  <a:pt x="77581" y="752014"/>
                </a:lnTo>
                <a:lnTo>
                  <a:pt x="37211" y="724788"/>
                </a:lnTo>
                <a:lnTo>
                  <a:pt x="9985" y="684418"/>
                </a:lnTo>
                <a:lnTo>
                  <a:pt x="0" y="635000"/>
                </a:lnTo>
                <a:lnTo>
                  <a:pt x="0" y="127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16551" y="4511421"/>
            <a:ext cx="9036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Ru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ning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55975" y="4025265"/>
            <a:ext cx="892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Ke</a:t>
            </a:r>
            <a:r>
              <a:rPr sz="1800" spc="15" dirty="0">
                <a:latin typeface="Times New Roman"/>
                <a:cs typeface="Times New Roman"/>
              </a:rPr>
              <a:t>y</a:t>
            </a:r>
            <a:r>
              <a:rPr sz="1800" spc="-5" dirty="0">
                <a:latin typeface="Times New Roman"/>
                <a:cs typeface="Times New Roman"/>
              </a:rPr>
              <a:t>Press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8553" y="3953332"/>
            <a:ext cx="10052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ShutDown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25697" y="5393537"/>
            <a:ext cx="813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Finished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27213" y="4306633"/>
            <a:ext cx="161925" cy="161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23441" y="3761041"/>
            <a:ext cx="161925" cy="161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52004" y="368960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2946" y="4420615"/>
            <a:ext cx="290830" cy="221615"/>
          </a:xfrm>
          <a:custGeom>
            <a:avLst/>
            <a:gdLst/>
            <a:ahLst/>
            <a:cxnLst/>
            <a:rect l="l" t="t" r="r" b="b"/>
            <a:pathLst>
              <a:path w="290830" h="221614">
                <a:moveTo>
                  <a:pt x="225656" y="180648"/>
                </a:moveTo>
                <a:lnTo>
                  <a:pt x="206502" y="205993"/>
                </a:lnTo>
                <a:lnTo>
                  <a:pt x="290322" y="221487"/>
                </a:lnTo>
                <a:lnTo>
                  <a:pt x="273886" y="188340"/>
                </a:lnTo>
                <a:lnTo>
                  <a:pt x="235839" y="188340"/>
                </a:lnTo>
                <a:lnTo>
                  <a:pt x="225656" y="180648"/>
                </a:lnTo>
                <a:close/>
              </a:path>
              <a:path w="290830" h="221614">
                <a:moveTo>
                  <a:pt x="233313" y="170516"/>
                </a:moveTo>
                <a:lnTo>
                  <a:pt x="225656" y="180648"/>
                </a:lnTo>
                <a:lnTo>
                  <a:pt x="235839" y="188340"/>
                </a:lnTo>
                <a:lnTo>
                  <a:pt x="243459" y="178180"/>
                </a:lnTo>
                <a:lnTo>
                  <a:pt x="233313" y="170516"/>
                </a:lnTo>
                <a:close/>
              </a:path>
              <a:path w="290830" h="221614">
                <a:moveTo>
                  <a:pt x="252476" y="145160"/>
                </a:moveTo>
                <a:lnTo>
                  <a:pt x="233313" y="170516"/>
                </a:lnTo>
                <a:lnTo>
                  <a:pt x="243459" y="178180"/>
                </a:lnTo>
                <a:lnTo>
                  <a:pt x="235839" y="188340"/>
                </a:lnTo>
                <a:lnTo>
                  <a:pt x="273886" y="188340"/>
                </a:lnTo>
                <a:lnTo>
                  <a:pt x="252476" y="145160"/>
                </a:lnTo>
                <a:close/>
              </a:path>
              <a:path w="290830" h="221614">
                <a:moveTo>
                  <a:pt x="7619" y="0"/>
                </a:moveTo>
                <a:lnTo>
                  <a:pt x="0" y="10159"/>
                </a:lnTo>
                <a:lnTo>
                  <a:pt x="225656" y="180648"/>
                </a:lnTo>
                <a:lnTo>
                  <a:pt x="233313" y="170516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03448" y="4425696"/>
            <a:ext cx="649605" cy="216535"/>
          </a:xfrm>
          <a:custGeom>
            <a:avLst/>
            <a:gdLst/>
            <a:ahLst/>
            <a:cxnLst/>
            <a:rect l="l" t="t" r="r" b="b"/>
            <a:pathLst>
              <a:path w="649604" h="216535">
                <a:moveTo>
                  <a:pt x="0" y="216407"/>
                </a:moveTo>
                <a:lnTo>
                  <a:pt x="64922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51021" y="4419600"/>
            <a:ext cx="794385" cy="239395"/>
          </a:xfrm>
          <a:custGeom>
            <a:avLst/>
            <a:gdLst/>
            <a:ahLst/>
            <a:cxnLst/>
            <a:rect l="l" t="t" r="r" b="b"/>
            <a:pathLst>
              <a:path w="794385" h="239395">
                <a:moveTo>
                  <a:pt x="718907" y="208621"/>
                </a:moveTo>
                <a:lnTo>
                  <a:pt x="710564" y="239141"/>
                </a:lnTo>
                <a:lnTo>
                  <a:pt x="794130" y="222504"/>
                </a:lnTo>
                <a:lnTo>
                  <a:pt x="782340" y="211962"/>
                </a:lnTo>
                <a:lnTo>
                  <a:pt x="731138" y="211962"/>
                </a:lnTo>
                <a:lnTo>
                  <a:pt x="718907" y="208621"/>
                </a:lnTo>
                <a:close/>
              </a:path>
              <a:path w="794385" h="239395">
                <a:moveTo>
                  <a:pt x="722278" y="196288"/>
                </a:moveTo>
                <a:lnTo>
                  <a:pt x="718907" y="208621"/>
                </a:lnTo>
                <a:lnTo>
                  <a:pt x="731138" y="211962"/>
                </a:lnTo>
                <a:lnTo>
                  <a:pt x="734567" y="199644"/>
                </a:lnTo>
                <a:lnTo>
                  <a:pt x="722278" y="196288"/>
                </a:lnTo>
                <a:close/>
              </a:path>
              <a:path w="794385" h="239395">
                <a:moveTo>
                  <a:pt x="730630" y="165735"/>
                </a:moveTo>
                <a:lnTo>
                  <a:pt x="722278" y="196288"/>
                </a:lnTo>
                <a:lnTo>
                  <a:pt x="734567" y="199644"/>
                </a:lnTo>
                <a:lnTo>
                  <a:pt x="731138" y="211962"/>
                </a:lnTo>
                <a:lnTo>
                  <a:pt x="782340" y="211962"/>
                </a:lnTo>
                <a:lnTo>
                  <a:pt x="730630" y="165735"/>
                </a:lnTo>
                <a:close/>
              </a:path>
              <a:path w="794385" h="239395">
                <a:moveTo>
                  <a:pt x="3301" y="0"/>
                </a:moveTo>
                <a:lnTo>
                  <a:pt x="0" y="12192"/>
                </a:lnTo>
                <a:lnTo>
                  <a:pt x="718907" y="208621"/>
                </a:lnTo>
                <a:lnTo>
                  <a:pt x="722278" y="196288"/>
                </a:lnTo>
                <a:lnTo>
                  <a:pt x="33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24300" y="5073396"/>
            <a:ext cx="721360" cy="289560"/>
          </a:xfrm>
          <a:custGeom>
            <a:avLst/>
            <a:gdLst/>
            <a:ahLst/>
            <a:cxnLst/>
            <a:rect l="l" t="t" r="r" b="b"/>
            <a:pathLst>
              <a:path w="721360" h="289560">
                <a:moveTo>
                  <a:pt x="720851" y="0"/>
                </a:moveTo>
                <a:lnTo>
                  <a:pt x="0" y="28955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03448" y="5130546"/>
            <a:ext cx="722630" cy="238760"/>
          </a:xfrm>
          <a:custGeom>
            <a:avLst/>
            <a:gdLst/>
            <a:ahLst/>
            <a:cxnLst/>
            <a:rect l="l" t="t" r="r" b="b"/>
            <a:pathLst>
              <a:path w="722629" h="238760">
                <a:moveTo>
                  <a:pt x="74778" y="30474"/>
                </a:moveTo>
                <a:lnTo>
                  <a:pt x="71108" y="42670"/>
                </a:lnTo>
                <a:lnTo>
                  <a:pt x="719074" y="238505"/>
                </a:lnTo>
                <a:lnTo>
                  <a:pt x="722629" y="226313"/>
                </a:lnTo>
                <a:lnTo>
                  <a:pt x="74778" y="30474"/>
                </a:lnTo>
                <a:close/>
              </a:path>
              <a:path w="722629" h="238760">
                <a:moveTo>
                  <a:pt x="83947" y="0"/>
                </a:moveTo>
                <a:lnTo>
                  <a:pt x="0" y="14477"/>
                </a:lnTo>
                <a:lnTo>
                  <a:pt x="61975" y="73024"/>
                </a:lnTo>
                <a:lnTo>
                  <a:pt x="71108" y="42670"/>
                </a:lnTo>
                <a:lnTo>
                  <a:pt x="58927" y="38988"/>
                </a:lnTo>
                <a:lnTo>
                  <a:pt x="62611" y="26796"/>
                </a:lnTo>
                <a:lnTo>
                  <a:pt x="75884" y="26796"/>
                </a:lnTo>
                <a:lnTo>
                  <a:pt x="83947" y="0"/>
                </a:lnTo>
                <a:close/>
              </a:path>
              <a:path w="722629" h="238760">
                <a:moveTo>
                  <a:pt x="62611" y="26796"/>
                </a:moveTo>
                <a:lnTo>
                  <a:pt x="58927" y="38988"/>
                </a:lnTo>
                <a:lnTo>
                  <a:pt x="71108" y="42670"/>
                </a:lnTo>
                <a:lnTo>
                  <a:pt x="74778" y="30474"/>
                </a:lnTo>
                <a:lnTo>
                  <a:pt x="62611" y="26796"/>
                </a:lnTo>
                <a:close/>
              </a:path>
              <a:path w="722629" h="238760">
                <a:moveTo>
                  <a:pt x="75884" y="26796"/>
                </a:moveTo>
                <a:lnTo>
                  <a:pt x="62611" y="26796"/>
                </a:lnTo>
                <a:lnTo>
                  <a:pt x="74778" y="30474"/>
                </a:lnTo>
                <a:lnTo>
                  <a:pt x="75884" y="267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82665" y="3918203"/>
            <a:ext cx="1586230" cy="730250"/>
          </a:xfrm>
          <a:custGeom>
            <a:avLst/>
            <a:gdLst/>
            <a:ahLst/>
            <a:cxnLst/>
            <a:rect l="l" t="t" r="r" b="b"/>
            <a:pathLst>
              <a:path w="1586229" h="730250">
                <a:moveTo>
                  <a:pt x="1514125" y="28868"/>
                </a:moveTo>
                <a:lnTo>
                  <a:pt x="0" y="718058"/>
                </a:lnTo>
                <a:lnTo>
                  <a:pt x="5334" y="729742"/>
                </a:lnTo>
                <a:lnTo>
                  <a:pt x="1519389" y="40457"/>
                </a:lnTo>
                <a:lnTo>
                  <a:pt x="1514125" y="28868"/>
                </a:lnTo>
                <a:close/>
              </a:path>
              <a:path w="1586229" h="730250">
                <a:moveTo>
                  <a:pt x="1569470" y="23622"/>
                </a:moveTo>
                <a:lnTo>
                  <a:pt x="1525651" y="23622"/>
                </a:lnTo>
                <a:lnTo>
                  <a:pt x="1530985" y="35179"/>
                </a:lnTo>
                <a:lnTo>
                  <a:pt x="1519389" y="40457"/>
                </a:lnTo>
                <a:lnTo>
                  <a:pt x="1532509" y="69342"/>
                </a:lnTo>
                <a:lnTo>
                  <a:pt x="1569470" y="23622"/>
                </a:lnTo>
                <a:close/>
              </a:path>
              <a:path w="1586229" h="730250">
                <a:moveTo>
                  <a:pt x="1525651" y="23622"/>
                </a:moveTo>
                <a:lnTo>
                  <a:pt x="1514125" y="28868"/>
                </a:lnTo>
                <a:lnTo>
                  <a:pt x="1519389" y="40457"/>
                </a:lnTo>
                <a:lnTo>
                  <a:pt x="1530985" y="35179"/>
                </a:lnTo>
                <a:lnTo>
                  <a:pt x="1525651" y="23622"/>
                </a:lnTo>
                <a:close/>
              </a:path>
              <a:path w="1586229" h="730250">
                <a:moveTo>
                  <a:pt x="1501013" y="0"/>
                </a:moveTo>
                <a:lnTo>
                  <a:pt x="1514125" y="28868"/>
                </a:lnTo>
                <a:lnTo>
                  <a:pt x="1525651" y="23622"/>
                </a:lnTo>
                <a:lnTo>
                  <a:pt x="1569470" y="23622"/>
                </a:lnTo>
                <a:lnTo>
                  <a:pt x="1586103" y="3048"/>
                </a:lnTo>
                <a:lnTo>
                  <a:pt x="15010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63016" y="1031660"/>
            <a:ext cx="7487284" cy="274002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25"/>
              </a:spcBef>
            </a:pPr>
            <a:r>
              <a:rPr sz="2800" spc="-5" dirty="0">
                <a:latin typeface="宋体"/>
                <a:cs typeface="宋体"/>
              </a:rPr>
              <a:t>状态图</a:t>
            </a:r>
            <a:r>
              <a:rPr sz="2000" spc="-5" dirty="0">
                <a:latin typeface="Arial"/>
                <a:cs typeface="Arial"/>
              </a:rPr>
              <a:t>State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Transition</a:t>
            </a:r>
            <a:r>
              <a:rPr sz="2800" spc="-10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2700" marR="5080" algn="just">
              <a:lnSpc>
                <a:spcPct val="97700"/>
              </a:lnSpc>
              <a:spcBef>
                <a:spcPts val="905"/>
              </a:spcBef>
            </a:pPr>
            <a:r>
              <a:rPr sz="2800" spc="-10" dirty="0">
                <a:latin typeface="宋体"/>
                <a:cs typeface="宋体"/>
              </a:rPr>
              <a:t>表示对象事物的行为，描述了一个</a:t>
            </a:r>
            <a:r>
              <a:rPr sz="2800" dirty="0">
                <a:latin typeface="宋体"/>
                <a:cs typeface="宋体"/>
              </a:rPr>
              <a:t>对</a:t>
            </a:r>
            <a:r>
              <a:rPr sz="2800" spc="-10" dirty="0">
                <a:latin typeface="宋体"/>
                <a:cs typeface="宋体"/>
              </a:rPr>
              <a:t>象</a:t>
            </a:r>
            <a:r>
              <a:rPr sz="2800" spc="5" dirty="0">
                <a:latin typeface="宋体"/>
                <a:cs typeface="宋体"/>
              </a:rPr>
              <a:t>在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其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生命 期内</a:t>
            </a:r>
            <a:r>
              <a:rPr sz="2800" spc="-5" dirty="0">
                <a:latin typeface="宋体"/>
                <a:cs typeface="宋体"/>
              </a:rPr>
              <a:t>响应事件所经历的状态序列以</a:t>
            </a:r>
            <a:r>
              <a:rPr sz="2800" dirty="0">
                <a:latin typeface="宋体"/>
                <a:cs typeface="宋体"/>
              </a:rPr>
              <a:t>及</a:t>
            </a:r>
            <a:r>
              <a:rPr sz="2800" spc="-5" dirty="0">
                <a:latin typeface="宋体"/>
                <a:cs typeface="宋体"/>
              </a:rPr>
              <a:t>对这</a:t>
            </a:r>
            <a:r>
              <a:rPr sz="2800" dirty="0">
                <a:latin typeface="宋体"/>
                <a:cs typeface="宋体"/>
              </a:rPr>
              <a:t>些</a:t>
            </a:r>
            <a:r>
              <a:rPr sz="2800" spc="-5" dirty="0">
                <a:latin typeface="宋体"/>
                <a:cs typeface="宋体"/>
              </a:rPr>
              <a:t>事件 所做出的反应。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宋体"/>
              <a:cs typeface="宋体"/>
            </a:endParaRPr>
          </a:p>
          <a:p>
            <a:pPr marL="660400">
              <a:lnSpc>
                <a:spcPct val="100000"/>
              </a:lnSpc>
            </a:pPr>
            <a:r>
              <a:rPr sz="2400" spc="-5" dirty="0">
                <a:latin typeface="宋体"/>
                <a:cs typeface="宋体"/>
              </a:rPr>
              <a:t>状态图例：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4891" y="228727"/>
            <a:ext cx="6115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状态图遵循事物转换的规律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0603" y="1345463"/>
            <a:ext cx="6951980" cy="386651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546735" indent="-534670">
              <a:lnSpc>
                <a:spcPct val="100000"/>
              </a:lnSpc>
              <a:spcBef>
                <a:spcPts val="1780"/>
              </a:spcBef>
              <a:buSzPct val="96428"/>
              <a:buAutoNum type="arabicPlain"/>
              <a:tabLst>
                <a:tab pos="547370" algn="l"/>
              </a:tabLst>
            </a:pPr>
            <a:r>
              <a:rPr sz="2800" spc="-5" dirty="0">
                <a:latin typeface="宋体"/>
                <a:cs typeface="宋体"/>
              </a:rPr>
              <a:t>事物在生命期中都经历不同的状态；</a:t>
            </a:r>
            <a:endParaRPr sz="2800">
              <a:latin typeface="宋体"/>
              <a:cs typeface="宋体"/>
            </a:endParaRPr>
          </a:p>
          <a:p>
            <a:pPr marL="546735" indent="-534670">
              <a:lnSpc>
                <a:spcPct val="100000"/>
              </a:lnSpc>
              <a:spcBef>
                <a:spcPts val="1680"/>
              </a:spcBef>
              <a:buSzPct val="96428"/>
              <a:buAutoNum type="arabicPlain"/>
              <a:tabLst>
                <a:tab pos="547370" algn="l"/>
              </a:tabLst>
            </a:pPr>
            <a:r>
              <a:rPr sz="2800" spc="-5" dirty="0">
                <a:latin typeface="宋体"/>
                <a:cs typeface="宋体"/>
              </a:rPr>
              <a:t>事物在特定时刻总处于某确定的状</a:t>
            </a:r>
            <a:r>
              <a:rPr sz="2800" dirty="0">
                <a:latin typeface="宋体"/>
                <a:cs typeface="宋体"/>
              </a:rPr>
              <a:t>态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546735" indent="-534670">
              <a:lnSpc>
                <a:spcPct val="100000"/>
              </a:lnSpc>
              <a:spcBef>
                <a:spcPts val="1680"/>
              </a:spcBef>
              <a:buSzPct val="96428"/>
              <a:buAutoNum type="arabicPlain"/>
              <a:tabLst>
                <a:tab pos="547370" algn="l"/>
              </a:tabLst>
            </a:pPr>
            <a:r>
              <a:rPr sz="2800" spc="-5" dirty="0">
                <a:latin typeface="宋体"/>
                <a:cs typeface="宋体"/>
              </a:rPr>
              <a:t>事物的状态变化总是由事件引起的；</a:t>
            </a:r>
            <a:endParaRPr sz="2800">
              <a:latin typeface="宋体"/>
              <a:cs typeface="宋体"/>
            </a:endParaRPr>
          </a:p>
          <a:p>
            <a:pPr marL="546735" indent="-534670">
              <a:lnSpc>
                <a:spcPct val="100000"/>
              </a:lnSpc>
              <a:spcBef>
                <a:spcPts val="1680"/>
              </a:spcBef>
              <a:buSzPct val="96428"/>
              <a:buAutoNum type="arabicPlain"/>
              <a:tabLst>
                <a:tab pos="547370" algn="l"/>
              </a:tabLst>
            </a:pPr>
            <a:r>
              <a:rPr sz="2800" spc="-5" dirty="0">
                <a:latin typeface="宋体"/>
                <a:cs typeface="宋体"/>
              </a:rPr>
              <a:t>事物状态的转化是即时的；</a:t>
            </a:r>
            <a:endParaRPr sz="2800">
              <a:latin typeface="宋体"/>
              <a:cs typeface="宋体"/>
            </a:endParaRPr>
          </a:p>
          <a:p>
            <a:pPr marL="546735" indent="-534670">
              <a:lnSpc>
                <a:spcPct val="100000"/>
              </a:lnSpc>
              <a:spcBef>
                <a:spcPts val="1685"/>
              </a:spcBef>
              <a:buSzPct val="96428"/>
              <a:buAutoNum type="arabicPlain"/>
              <a:tabLst>
                <a:tab pos="547370" algn="l"/>
              </a:tabLst>
            </a:pPr>
            <a:r>
              <a:rPr sz="2800" spc="-5" dirty="0">
                <a:latin typeface="宋体"/>
                <a:cs typeface="宋体"/>
              </a:rPr>
              <a:t>事件发生时事物需要采取相应的动</a:t>
            </a:r>
            <a:r>
              <a:rPr sz="2800" dirty="0">
                <a:latin typeface="宋体"/>
                <a:cs typeface="宋体"/>
              </a:rPr>
              <a:t>作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546735" indent="-534670">
              <a:lnSpc>
                <a:spcPct val="100000"/>
              </a:lnSpc>
              <a:spcBef>
                <a:spcPts val="1680"/>
              </a:spcBef>
              <a:buSzPct val="96428"/>
              <a:buAutoNum type="arabicPlain"/>
              <a:tabLst>
                <a:tab pos="547370" algn="l"/>
              </a:tabLst>
            </a:pPr>
            <a:r>
              <a:rPr sz="2800" spc="-5" dirty="0">
                <a:latin typeface="宋体"/>
                <a:cs typeface="宋体"/>
              </a:rPr>
              <a:t>事物的状态转换总会遵照一定的规</a:t>
            </a:r>
            <a:r>
              <a:rPr sz="2800" dirty="0">
                <a:latin typeface="宋体"/>
                <a:cs typeface="宋体"/>
              </a:rPr>
              <a:t>律</a:t>
            </a:r>
            <a:r>
              <a:rPr sz="2800" spc="-5" dirty="0">
                <a:latin typeface="宋体"/>
                <a:cs typeface="宋体"/>
              </a:rPr>
              <a:t>的。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7077" y="123824"/>
            <a:ext cx="3070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状态图的作用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303" y="1280922"/>
            <a:ext cx="7878445" cy="480377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43180">
              <a:lnSpc>
                <a:spcPts val="3200"/>
              </a:lnSpc>
              <a:spcBef>
                <a:spcPts val="335"/>
              </a:spcBef>
            </a:pPr>
            <a:r>
              <a:rPr sz="2800" spc="-5" dirty="0">
                <a:latin typeface="宋体"/>
                <a:cs typeface="宋体"/>
              </a:rPr>
              <a:t>分析对象上的所有状态，确定状态</a:t>
            </a:r>
            <a:r>
              <a:rPr sz="2800" dirty="0">
                <a:latin typeface="宋体"/>
                <a:cs typeface="宋体"/>
              </a:rPr>
              <a:t>值</a:t>
            </a:r>
            <a:r>
              <a:rPr sz="2800" spc="-5" dirty="0">
                <a:latin typeface="宋体"/>
                <a:cs typeface="宋体"/>
              </a:rPr>
              <a:t>（行</a:t>
            </a:r>
            <a:r>
              <a:rPr sz="2800" dirty="0">
                <a:latin typeface="宋体"/>
                <a:cs typeface="宋体"/>
              </a:rPr>
              <a:t>为</a:t>
            </a:r>
            <a:r>
              <a:rPr sz="2800" spc="-5" dirty="0">
                <a:latin typeface="宋体"/>
                <a:cs typeface="宋体"/>
              </a:rPr>
              <a:t>属性） 的范围，以及对应的操作，包</a:t>
            </a:r>
            <a:r>
              <a:rPr sz="2800" dirty="0">
                <a:latin typeface="宋体"/>
                <a:cs typeface="宋体"/>
              </a:rPr>
              <a:t>括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332740" indent="-220979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332740" algn="l"/>
              </a:tabLst>
            </a:pPr>
            <a:r>
              <a:rPr sz="2800" spc="-5" dirty="0">
                <a:latin typeface="宋体"/>
                <a:cs typeface="宋体"/>
              </a:rPr>
              <a:t>对象具有的稳定状态</a:t>
            </a:r>
            <a:endParaRPr sz="2800">
              <a:latin typeface="宋体"/>
              <a:cs typeface="宋体"/>
            </a:endParaRPr>
          </a:p>
          <a:p>
            <a:pPr marL="332740" indent="-220979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32740" algn="l"/>
              </a:tabLst>
            </a:pPr>
            <a:r>
              <a:rPr sz="2800" spc="-5" dirty="0">
                <a:latin typeface="宋体"/>
                <a:cs typeface="宋体"/>
              </a:rPr>
              <a:t>保持稳定状态的动作行为</a:t>
            </a:r>
            <a:endParaRPr sz="2800">
              <a:latin typeface="宋体"/>
              <a:cs typeface="宋体"/>
            </a:endParaRPr>
          </a:p>
          <a:p>
            <a:pPr marL="332740" indent="-220979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332740" algn="l"/>
              </a:tabLst>
            </a:pPr>
            <a:r>
              <a:rPr sz="2800" spc="-5" dirty="0">
                <a:latin typeface="宋体"/>
                <a:cs typeface="宋体"/>
              </a:rPr>
              <a:t>状态转换的触发事件</a:t>
            </a:r>
            <a:endParaRPr sz="2800">
              <a:latin typeface="宋体"/>
              <a:cs typeface="宋体"/>
            </a:endParaRPr>
          </a:p>
          <a:p>
            <a:pPr marL="332740" indent="-220979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332740" algn="l"/>
              </a:tabLst>
            </a:pPr>
            <a:r>
              <a:rPr sz="2800" spc="-5" dirty="0">
                <a:latin typeface="宋体"/>
                <a:cs typeface="宋体"/>
              </a:rPr>
              <a:t>状态改变时发生的动作</a:t>
            </a:r>
            <a:endParaRPr sz="2800">
              <a:latin typeface="宋体"/>
              <a:cs typeface="宋体"/>
            </a:endParaRPr>
          </a:p>
          <a:p>
            <a:pPr marL="332740" indent="-220979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32740" algn="l"/>
              </a:tabLst>
            </a:pPr>
            <a:r>
              <a:rPr sz="2800" spc="-5" dirty="0">
                <a:latin typeface="宋体"/>
                <a:cs typeface="宋体"/>
              </a:rPr>
              <a:t>对象的创建和消亡（必要时）</a:t>
            </a:r>
            <a:endParaRPr sz="2800">
              <a:latin typeface="宋体"/>
              <a:cs typeface="宋体"/>
            </a:endParaRPr>
          </a:p>
          <a:p>
            <a:pPr marL="48895">
              <a:lnSpc>
                <a:spcPct val="100000"/>
              </a:lnSpc>
              <a:spcBef>
                <a:spcPts val="1810"/>
              </a:spcBef>
            </a:pPr>
            <a:r>
              <a:rPr sz="2800" b="1" spc="-5" dirty="0">
                <a:latin typeface="宋体"/>
                <a:cs typeface="宋体"/>
              </a:rPr>
              <a:t>要点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48895" marR="5080">
              <a:lnSpc>
                <a:spcPts val="3210"/>
              </a:lnSpc>
              <a:spcBef>
                <a:spcPts val="1060"/>
              </a:spcBef>
            </a:pPr>
            <a:r>
              <a:rPr sz="2800" spc="-10" dirty="0">
                <a:latin typeface="宋体"/>
                <a:cs typeface="宋体"/>
              </a:rPr>
              <a:t>针对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有明确生命阶段和复杂行为的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对</a:t>
            </a:r>
            <a:r>
              <a:rPr sz="2800" u="heavy" spc="-3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，才有必要 建立状态图，用以分析行为属性和</a:t>
            </a:r>
            <a:r>
              <a:rPr sz="2800" dirty="0">
                <a:latin typeface="宋体"/>
                <a:cs typeface="宋体"/>
              </a:rPr>
              <a:t>值</a:t>
            </a:r>
            <a:r>
              <a:rPr sz="2800" spc="-5" dirty="0">
                <a:latin typeface="宋体"/>
                <a:cs typeface="宋体"/>
              </a:rPr>
              <a:t>域范</a:t>
            </a:r>
            <a:r>
              <a:rPr sz="2800" dirty="0">
                <a:latin typeface="宋体"/>
                <a:cs typeface="宋体"/>
              </a:rPr>
              <a:t>围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891054"/>
            <a:ext cx="748665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状态图可以</a:t>
            </a:r>
            <a:r>
              <a:rPr sz="2800" spc="-15" dirty="0">
                <a:latin typeface="宋体"/>
                <a:cs typeface="宋体"/>
              </a:rPr>
              <a:t>用</a:t>
            </a:r>
            <a:r>
              <a:rPr sz="2800" spc="-5" dirty="0">
                <a:solidFill>
                  <a:srgbClr val="00A361"/>
                </a:solidFill>
                <a:latin typeface="宋体"/>
                <a:cs typeface="宋体"/>
              </a:rPr>
              <a:t>组合状态</a:t>
            </a:r>
            <a:r>
              <a:rPr sz="2800" spc="-5" dirty="0">
                <a:latin typeface="宋体"/>
                <a:cs typeface="宋体"/>
              </a:rPr>
              <a:t>表示</a:t>
            </a:r>
            <a:r>
              <a:rPr sz="2800" spc="-10" dirty="0">
                <a:latin typeface="宋体"/>
                <a:cs typeface="宋体"/>
              </a:rPr>
              <a:t>其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组织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结构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表</a:t>
            </a:r>
            <a:r>
              <a:rPr sz="2800" spc="-5" dirty="0">
                <a:latin typeface="宋体"/>
                <a:cs typeface="宋体"/>
              </a:rPr>
              <a:t>明由 两个或多个子状态构成的状态。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0122" y="152780"/>
            <a:ext cx="40881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状态图的结构表示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3889375" y="2284221"/>
            <a:ext cx="15494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顺序子状态 并发子状态 嵌套子状态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9194" y="2573782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子状态包括：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81400" y="2470404"/>
            <a:ext cx="152400" cy="838200"/>
          </a:xfrm>
          <a:custGeom>
            <a:avLst/>
            <a:gdLst/>
            <a:ahLst/>
            <a:cxnLst/>
            <a:rect l="l" t="t" r="r" b="b"/>
            <a:pathLst>
              <a:path w="152400" h="838200">
                <a:moveTo>
                  <a:pt x="152400" y="838200"/>
                </a:moveTo>
                <a:lnTo>
                  <a:pt x="122759" y="832715"/>
                </a:lnTo>
                <a:lnTo>
                  <a:pt x="98536" y="817752"/>
                </a:lnTo>
                <a:lnTo>
                  <a:pt x="82194" y="795551"/>
                </a:lnTo>
                <a:lnTo>
                  <a:pt x="76200" y="768350"/>
                </a:lnTo>
                <a:lnTo>
                  <a:pt x="76200" y="488950"/>
                </a:lnTo>
                <a:lnTo>
                  <a:pt x="70205" y="461748"/>
                </a:lnTo>
                <a:lnTo>
                  <a:pt x="53863" y="439547"/>
                </a:lnTo>
                <a:lnTo>
                  <a:pt x="29640" y="424584"/>
                </a:lnTo>
                <a:lnTo>
                  <a:pt x="0" y="419100"/>
                </a:lnTo>
                <a:lnTo>
                  <a:pt x="29640" y="413615"/>
                </a:lnTo>
                <a:lnTo>
                  <a:pt x="53863" y="398652"/>
                </a:lnTo>
                <a:lnTo>
                  <a:pt x="70205" y="376451"/>
                </a:lnTo>
                <a:lnTo>
                  <a:pt x="76200" y="349250"/>
                </a:lnTo>
                <a:lnTo>
                  <a:pt x="76200" y="69850"/>
                </a:lnTo>
                <a:lnTo>
                  <a:pt x="82194" y="42648"/>
                </a:lnTo>
                <a:lnTo>
                  <a:pt x="98536" y="20447"/>
                </a:lnTo>
                <a:lnTo>
                  <a:pt x="122759" y="5484"/>
                </a:lnTo>
                <a:lnTo>
                  <a:pt x="152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57600" y="4038600"/>
            <a:ext cx="1676400" cy="3962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815"/>
              </a:spcBef>
            </a:pPr>
            <a:r>
              <a:rPr sz="1600" spc="-10" dirty="0">
                <a:latin typeface="宋体"/>
                <a:cs typeface="宋体"/>
              </a:rPr>
              <a:t>汽车驾驶状态图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1600" y="5265801"/>
            <a:ext cx="1371600" cy="3917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815"/>
              </a:spcBef>
            </a:pPr>
            <a:r>
              <a:rPr sz="1600" spc="-5" dirty="0">
                <a:latin typeface="宋体"/>
                <a:cs typeface="宋体"/>
              </a:rPr>
              <a:t>点火状态图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5600" y="5265801"/>
            <a:ext cx="1371600" cy="9067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865"/>
              </a:spcBef>
            </a:pPr>
            <a:r>
              <a:rPr sz="1600" spc="-5" dirty="0">
                <a:latin typeface="宋体"/>
                <a:cs typeface="宋体"/>
              </a:rPr>
              <a:t>传动状态图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5800" y="5265801"/>
            <a:ext cx="1371600" cy="3892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55"/>
              </a:spcBef>
            </a:pPr>
            <a:r>
              <a:rPr sz="1600" spc="-5" dirty="0">
                <a:latin typeface="宋体"/>
                <a:cs typeface="宋体"/>
              </a:rPr>
              <a:t>加速状态图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19800" y="5265801"/>
            <a:ext cx="1219200" cy="3892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55"/>
              </a:spcBef>
            </a:pPr>
            <a:r>
              <a:rPr sz="1600" spc="-5" dirty="0">
                <a:latin typeface="宋体"/>
                <a:cs typeface="宋体"/>
              </a:rPr>
              <a:t>刹车状态图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43400" y="441960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76200" y="3048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19600" y="4724400"/>
            <a:ext cx="3175" cy="216535"/>
          </a:xfrm>
          <a:custGeom>
            <a:avLst/>
            <a:gdLst/>
            <a:ahLst/>
            <a:cxnLst/>
            <a:rect l="l" t="t" r="r" b="b"/>
            <a:pathLst>
              <a:path w="3175" h="216535">
                <a:moveTo>
                  <a:pt x="0" y="0"/>
                </a:moveTo>
                <a:lnTo>
                  <a:pt x="3048" y="21640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57400" y="4953000"/>
            <a:ext cx="4495800" cy="1905"/>
          </a:xfrm>
          <a:custGeom>
            <a:avLst/>
            <a:gdLst/>
            <a:ahLst/>
            <a:cxnLst/>
            <a:rect l="l" t="t" r="r" b="b"/>
            <a:pathLst>
              <a:path w="4495800" h="1904">
                <a:moveTo>
                  <a:pt x="0" y="1524"/>
                </a:moveTo>
                <a:lnTo>
                  <a:pt x="449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54351" y="4939284"/>
            <a:ext cx="3175" cy="323215"/>
          </a:xfrm>
          <a:custGeom>
            <a:avLst/>
            <a:gdLst/>
            <a:ahLst/>
            <a:cxnLst/>
            <a:rect l="l" t="t" r="r" b="b"/>
            <a:pathLst>
              <a:path w="3175" h="323214">
                <a:moveTo>
                  <a:pt x="0" y="0"/>
                </a:moveTo>
                <a:lnTo>
                  <a:pt x="3048" y="32308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57600" y="4939284"/>
            <a:ext cx="1905" cy="323215"/>
          </a:xfrm>
          <a:custGeom>
            <a:avLst/>
            <a:gdLst/>
            <a:ahLst/>
            <a:cxnLst/>
            <a:rect l="l" t="t" r="r" b="b"/>
            <a:pathLst>
              <a:path w="1904" h="323214">
                <a:moveTo>
                  <a:pt x="0" y="0"/>
                </a:moveTo>
                <a:lnTo>
                  <a:pt x="1524" y="32308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53200" y="4953000"/>
            <a:ext cx="1905" cy="304800"/>
          </a:xfrm>
          <a:custGeom>
            <a:avLst/>
            <a:gdLst/>
            <a:ahLst/>
            <a:cxnLst/>
            <a:rect l="l" t="t" r="r" b="b"/>
            <a:pathLst>
              <a:path w="1904" h="304800">
                <a:moveTo>
                  <a:pt x="0" y="0"/>
                </a:moveTo>
                <a:lnTo>
                  <a:pt x="1524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181600" y="4953000"/>
            <a:ext cx="1905" cy="304800"/>
          </a:xfrm>
          <a:custGeom>
            <a:avLst/>
            <a:gdLst/>
            <a:ahLst/>
            <a:cxnLst/>
            <a:rect l="l" t="t" r="r" b="b"/>
            <a:pathLst>
              <a:path w="1904" h="304800">
                <a:moveTo>
                  <a:pt x="0" y="0"/>
                </a:moveTo>
                <a:lnTo>
                  <a:pt x="1524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124200" y="5769864"/>
            <a:ext cx="914400" cy="3263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259"/>
              </a:spcBef>
            </a:pPr>
            <a:r>
              <a:rPr sz="1600" spc="-5" dirty="0">
                <a:latin typeface="宋体"/>
                <a:cs typeface="宋体"/>
              </a:rPr>
              <a:t>前进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69644" y="3761613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状态图结构例：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95500" y="1028700"/>
            <a:ext cx="6858000" cy="2743200"/>
          </a:xfrm>
          <a:custGeom>
            <a:avLst/>
            <a:gdLst/>
            <a:ahLst/>
            <a:cxnLst/>
            <a:rect l="l" t="t" r="r" b="b"/>
            <a:pathLst>
              <a:path w="6858000" h="2743200">
                <a:moveTo>
                  <a:pt x="0" y="457200"/>
                </a:moveTo>
                <a:lnTo>
                  <a:pt x="2360" y="410458"/>
                </a:lnTo>
                <a:lnTo>
                  <a:pt x="9289" y="365066"/>
                </a:lnTo>
                <a:lnTo>
                  <a:pt x="20557" y="321253"/>
                </a:lnTo>
                <a:lnTo>
                  <a:pt x="35933" y="279249"/>
                </a:lnTo>
                <a:lnTo>
                  <a:pt x="55187" y="239283"/>
                </a:lnTo>
                <a:lnTo>
                  <a:pt x="78090" y="201587"/>
                </a:lnTo>
                <a:lnTo>
                  <a:pt x="104411" y="166390"/>
                </a:lnTo>
                <a:lnTo>
                  <a:pt x="133921" y="133921"/>
                </a:lnTo>
                <a:lnTo>
                  <a:pt x="166390" y="104411"/>
                </a:lnTo>
                <a:lnTo>
                  <a:pt x="201587" y="78090"/>
                </a:lnTo>
                <a:lnTo>
                  <a:pt x="239283" y="55187"/>
                </a:lnTo>
                <a:lnTo>
                  <a:pt x="279249" y="35933"/>
                </a:lnTo>
                <a:lnTo>
                  <a:pt x="321253" y="20557"/>
                </a:lnTo>
                <a:lnTo>
                  <a:pt x="365066" y="9289"/>
                </a:lnTo>
                <a:lnTo>
                  <a:pt x="410458" y="2360"/>
                </a:lnTo>
                <a:lnTo>
                  <a:pt x="457200" y="0"/>
                </a:lnTo>
                <a:lnTo>
                  <a:pt x="6400800" y="0"/>
                </a:lnTo>
                <a:lnTo>
                  <a:pt x="6447541" y="2360"/>
                </a:lnTo>
                <a:lnTo>
                  <a:pt x="6492933" y="9289"/>
                </a:lnTo>
                <a:lnTo>
                  <a:pt x="6536746" y="20557"/>
                </a:lnTo>
                <a:lnTo>
                  <a:pt x="6578750" y="35933"/>
                </a:lnTo>
                <a:lnTo>
                  <a:pt x="6618716" y="55187"/>
                </a:lnTo>
                <a:lnTo>
                  <a:pt x="6656412" y="78090"/>
                </a:lnTo>
                <a:lnTo>
                  <a:pt x="6691609" y="104411"/>
                </a:lnTo>
                <a:lnTo>
                  <a:pt x="6724078" y="133921"/>
                </a:lnTo>
                <a:lnTo>
                  <a:pt x="6753588" y="166390"/>
                </a:lnTo>
                <a:lnTo>
                  <a:pt x="6779909" y="201587"/>
                </a:lnTo>
                <a:lnTo>
                  <a:pt x="6802812" y="239283"/>
                </a:lnTo>
                <a:lnTo>
                  <a:pt x="6822066" y="279249"/>
                </a:lnTo>
                <a:lnTo>
                  <a:pt x="6837442" y="321253"/>
                </a:lnTo>
                <a:lnTo>
                  <a:pt x="6848710" y="365066"/>
                </a:lnTo>
                <a:lnTo>
                  <a:pt x="6855639" y="410458"/>
                </a:lnTo>
                <a:lnTo>
                  <a:pt x="6858000" y="457200"/>
                </a:lnTo>
                <a:lnTo>
                  <a:pt x="6858000" y="2286000"/>
                </a:lnTo>
                <a:lnTo>
                  <a:pt x="6855639" y="2332741"/>
                </a:lnTo>
                <a:lnTo>
                  <a:pt x="6848710" y="2378133"/>
                </a:lnTo>
                <a:lnTo>
                  <a:pt x="6837442" y="2421946"/>
                </a:lnTo>
                <a:lnTo>
                  <a:pt x="6822066" y="2463950"/>
                </a:lnTo>
                <a:lnTo>
                  <a:pt x="6802812" y="2503916"/>
                </a:lnTo>
                <a:lnTo>
                  <a:pt x="6779909" y="2541612"/>
                </a:lnTo>
                <a:lnTo>
                  <a:pt x="6753588" y="2576809"/>
                </a:lnTo>
                <a:lnTo>
                  <a:pt x="6724078" y="2609278"/>
                </a:lnTo>
                <a:lnTo>
                  <a:pt x="6691609" y="2638788"/>
                </a:lnTo>
                <a:lnTo>
                  <a:pt x="6656412" y="2665109"/>
                </a:lnTo>
                <a:lnTo>
                  <a:pt x="6618716" y="2688012"/>
                </a:lnTo>
                <a:lnTo>
                  <a:pt x="6578750" y="2707266"/>
                </a:lnTo>
                <a:lnTo>
                  <a:pt x="6536746" y="2722642"/>
                </a:lnTo>
                <a:lnTo>
                  <a:pt x="6492933" y="2733910"/>
                </a:lnTo>
                <a:lnTo>
                  <a:pt x="6447541" y="2740839"/>
                </a:lnTo>
                <a:lnTo>
                  <a:pt x="6400800" y="2743200"/>
                </a:lnTo>
                <a:lnTo>
                  <a:pt x="457200" y="2743200"/>
                </a:lnTo>
                <a:lnTo>
                  <a:pt x="410458" y="2740839"/>
                </a:lnTo>
                <a:lnTo>
                  <a:pt x="365066" y="2733910"/>
                </a:lnTo>
                <a:lnTo>
                  <a:pt x="321253" y="2722642"/>
                </a:lnTo>
                <a:lnTo>
                  <a:pt x="279249" y="2707266"/>
                </a:lnTo>
                <a:lnTo>
                  <a:pt x="239283" y="2688012"/>
                </a:lnTo>
                <a:lnTo>
                  <a:pt x="201587" y="2665109"/>
                </a:lnTo>
                <a:lnTo>
                  <a:pt x="166390" y="2638788"/>
                </a:lnTo>
                <a:lnTo>
                  <a:pt x="133921" y="2609278"/>
                </a:lnTo>
                <a:lnTo>
                  <a:pt x="104411" y="2576809"/>
                </a:lnTo>
                <a:lnTo>
                  <a:pt x="78090" y="2541612"/>
                </a:lnTo>
                <a:lnTo>
                  <a:pt x="55187" y="2503916"/>
                </a:lnTo>
                <a:lnTo>
                  <a:pt x="35933" y="2463950"/>
                </a:lnTo>
                <a:lnTo>
                  <a:pt x="20557" y="2421946"/>
                </a:lnTo>
                <a:lnTo>
                  <a:pt x="9289" y="2378133"/>
                </a:lnTo>
                <a:lnTo>
                  <a:pt x="2360" y="2332741"/>
                </a:lnTo>
                <a:lnTo>
                  <a:pt x="0" y="2286000"/>
                </a:lnTo>
                <a:lnTo>
                  <a:pt x="0" y="457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00300" y="2628900"/>
            <a:ext cx="6286500" cy="978535"/>
          </a:xfrm>
          <a:custGeom>
            <a:avLst/>
            <a:gdLst/>
            <a:ahLst/>
            <a:cxnLst/>
            <a:rect l="l" t="t" r="r" b="b"/>
            <a:pathLst>
              <a:path w="6286500" h="978535">
                <a:moveTo>
                  <a:pt x="0" y="163067"/>
                </a:moveTo>
                <a:lnTo>
                  <a:pt x="5826" y="119723"/>
                </a:lnTo>
                <a:lnTo>
                  <a:pt x="22267" y="80772"/>
                </a:lnTo>
                <a:lnTo>
                  <a:pt x="47767" y="47767"/>
                </a:lnTo>
                <a:lnTo>
                  <a:pt x="80771" y="22267"/>
                </a:lnTo>
                <a:lnTo>
                  <a:pt x="119723" y="5826"/>
                </a:lnTo>
                <a:lnTo>
                  <a:pt x="163068" y="0"/>
                </a:lnTo>
                <a:lnTo>
                  <a:pt x="6123432" y="0"/>
                </a:lnTo>
                <a:lnTo>
                  <a:pt x="6166776" y="5826"/>
                </a:lnTo>
                <a:lnTo>
                  <a:pt x="6205728" y="22267"/>
                </a:lnTo>
                <a:lnTo>
                  <a:pt x="6238732" y="47767"/>
                </a:lnTo>
                <a:lnTo>
                  <a:pt x="6264232" y="80772"/>
                </a:lnTo>
                <a:lnTo>
                  <a:pt x="6280673" y="119723"/>
                </a:lnTo>
                <a:lnTo>
                  <a:pt x="6286500" y="163067"/>
                </a:lnTo>
                <a:lnTo>
                  <a:pt x="6286500" y="815339"/>
                </a:lnTo>
                <a:lnTo>
                  <a:pt x="6280673" y="858684"/>
                </a:lnTo>
                <a:lnTo>
                  <a:pt x="6264232" y="897636"/>
                </a:lnTo>
                <a:lnTo>
                  <a:pt x="6238732" y="930640"/>
                </a:lnTo>
                <a:lnTo>
                  <a:pt x="6205728" y="956140"/>
                </a:lnTo>
                <a:lnTo>
                  <a:pt x="6166776" y="972581"/>
                </a:lnTo>
                <a:lnTo>
                  <a:pt x="6123432" y="978407"/>
                </a:lnTo>
                <a:lnTo>
                  <a:pt x="163068" y="978407"/>
                </a:lnTo>
                <a:lnTo>
                  <a:pt x="119723" y="972581"/>
                </a:lnTo>
                <a:lnTo>
                  <a:pt x="80772" y="956140"/>
                </a:lnTo>
                <a:lnTo>
                  <a:pt x="47767" y="930640"/>
                </a:lnTo>
                <a:lnTo>
                  <a:pt x="22267" y="897636"/>
                </a:lnTo>
                <a:lnTo>
                  <a:pt x="5826" y="858684"/>
                </a:lnTo>
                <a:lnTo>
                  <a:pt x="0" y="815339"/>
                </a:lnTo>
                <a:lnTo>
                  <a:pt x="0" y="16306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19500" y="1333500"/>
            <a:ext cx="858519" cy="367665"/>
          </a:xfrm>
          <a:custGeom>
            <a:avLst/>
            <a:gdLst/>
            <a:ahLst/>
            <a:cxnLst/>
            <a:rect l="l" t="t" r="r" b="b"/>
            <a:pathLst>
              <a:path w="858520" h="367664">
                <a:moveTo>
                  <a:pt x="0" y="61213"/>
                </a:moveTo>
                <a:lnTo>
                  <a:pt x="4814" y="37397"/>
                </a:lnTo>
                <a:lnTo>
                  <a:pt x="17938" y="17938"/>
                </a:lnTo>
                <a:lnTo>
                  <a:pt x="37397" y="4814"/>
                </a:lnTo>
                <a:lnTo>
                  <a:pt x="61213" y="0"/>
                </a:lnTo>
                <a:lnTo>
                  <a:pt x="796798" y="0"/>
                </a:lnTo>
                <a:lnTo>
                  <a:pt x="820614" y="4814"/>
                </a:lnTo>
                <a:lnTo>
                  <a:pt x="840073" y="17938"/>
                </a:lnTo>
                <a:lnTo>
                  <a:pt x="853197" y="37397"/>
                </a:lnTo>
                <a:lnTo>
                  <a:pt x="858012" y="61213"/>
                </a:lnTo>
                <a:lnTo>
                  <a:pt x="858012" y="306070"/>
                </a:lnTo>
                <a:lnTo>
                  <a:pt x="853197" y="329886"/>
                </a:lnTo>
                <a:lnTo>
                  <a:pt x="840073" y="349345"/>
                </a:lnTo>
                <a:lnTo>
                  <a:pt x="820614" y="362469"/>
                </a:lnTo>
                <a:lnTo>
                  <a:pt x="796798" y="367284"/>
                </a:lnTo>
                <a:lnTo>
                  <a:pt x="61213" y="367284"/>
                </a:lnTo>
                <a:lnTo>
                  <a:pt x="37397" y="362469"/>
                </a:lnTo>
                <a:lnTo>
                  <a:pt x="17938" y="349345"/>
                </a:lnTo>
                <a:lnTo>
                  <a:pt x="4814" y="329886"/>
                </a:lnTo>
                <a:lnTo>
                  <a:pt x="0" y="306070"/>
                </a:lnTo>
                <a:lnTo>
                  <a:pt x="0" y="6121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67454" y="1334516"/>
            <a:ext cx="434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空挡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00900" y="1333500"/>
            <a:ext cx="858519" cy="367665"/>
          </a:xfrm>
          <a:custGeom>
            <a:avLst/>
            <a:gdLst/>
            <a:ahLst/>
            <a:cxnLst/>
            <a:rect l="l" t="t" r="r" b="b"/>
            <a:pathLst>
              <a:path w="858520" h="367664">
                <a:moveTo>
                  <a:pt x="0" y="61213"/>
                </a:moveTo>
                <a:lnTo>
                  <a:pt x="4814" y="37397"/>
                </a:lnTo>
                <a:lnTo>
                  <a:pt x="17938" y="17938"/>
                </a:lnTo>
                <a:lnTo>
                  <a:pt x="37397" y="4814"/>
                </a:lnTo>
                <a:lnTo>
                  <a:pt x="61214" y="0"/>
                </a:lnTo>
                <a:lnTo>
                  <a:pt x="796798" y="0"/>
                </a:lnTo>
                <a:lnTo>
                  <a:pt x="820614" y="4814"/>
                </a:lnTo>
                <a:lnTo>
                  <a:pt x="840073" y="17938"/>
                </a:lnTo>
                <a:lnTo>
                  <a:pt x="853197" y="37397"/>
                </a:lnTo>
                <a:lnTo>
                  <a:pt x="858011" y="61213"/>
                </a:lnTo>
                <a:lnTo>
                  <a:pt x="858011" y="306070"/>
                </a:lnTo>
                <a:lnTo>
                  <a:pt x="853197" y="329886"/>
                </a:lnTo>
                <a:lnTo>
                  <a:pt x="840073" y="349345"/>
                </a:lnTo>
                <a:lnTo>
                  <a:pt x="820614" y="362469"/>
                </a:lnTo>
                <a:lnTo>
                  <a:pt x="796798" y="367284"/>
                </a:lnTo>
                <a:lnTo>
                  <a:pt x="61214" y="367284"/>
                </a:lnTo>
                <a:lnTo>
                  <a:pt x="37397" y="362469"/>
                </a:lnTo>
                <a:lnTo>
                  <a:pt x="17938" y="349345"/>
                </a:lnTo>
                <a:lnTo>
                  <a:pt x="4814" y="329886"/>
                </a:lnTo>
                <a:lnTo>
                  <a:pt x="0" y="306070"/>
                </a:lnTo>
                <a:lnTo>
                  <a:pt x="0" y="6121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49490" y="1334516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倒车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0000" y="2933700"/>
            <a:ext cx="858519" cy="367665"/>
          </a:xfrm>
          <a:custGeom>
            <a:avLst/>
            <a:gdLst/>
            <a:ahLst/>
            <a:cxnLst/>
            <a:rect l="l" t="t" r="r" b="b"/>
            <a:pathLst>
              <a:path w="858520" h="367664">
                <a:moveTo>
                  <a:pt x="0" y="61213"/>
                </a:moveTo>
                <a:lnTo>
                  <a:pt x="4814" y="37397"/>
                </a:lnTo>
                <a:lnTo>
                  <a:pt x="17938" y="17938"/>
                </a:lnTo>
                <a:lnTo>
                  <a:pt x="37397" y="4814"/>
                </a:lnTo>
                <a:lnTo>
                  <a:pt x="61213" y="0"/>
                </a:lnTo>
                <a:lnTo>
                  <a:pt x="796798" y="0"/>
                </a:lnTo>
                <a:lnTo>
                  <a:pt x="820614" y="4814"/>
                </a:lnTo>
                <a:lnTo>
                  <a:pt x="840073" y="17938"/>
                </a:lnTo>
                <a:lnTo>
                  <a:pt x="853197" y="37397"/>
                </a:lnTo>
                <a:lnTo>
                  <a:pt x="858012" y="61213"/>
                </a:lnTo>
                <a:lnTo>
                  <a:pt x="858012" y="306070"/>
                </a:lnTo>
                <a:lnTo>
                  <a:pt x="853197" y="329886"/>
                </a:lnTo>
                <a:lnTo>
                  <a:pt x="840073" y="349345"/>
                </a:lnTo>
                <a:lnTo>
                  <a:pt x="820614" y="362469"/>
                </a:lnTo>
                <a:lnTo>
                  <a:pt x="796798" y="367284"/>
                </a:lnTo>
                <a:lnTo>
                  <a:pt x="61213" y="367284"/>
                </a:lnTo>
                <a:lnTo>
                  <a:pt x="37397" y="362469"/>
                </a:lnTo>
                <a:lnTo>
                  <a:pt x="17938" y="349345"/>
                </a:lnTo>
                <a:lnTo>
                  <a:pt x="4814" y="329886"/>
                </a:lnTo>
                <a:lnTo>
                  <a:pt x="0" y="306070"/>
                </a:lnTo>
                <a:lnTo>
                  <a:pt x="0" y="6121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58209" y="2934969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一档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76900" y="2933700"/>
            <a:ext cx="858519" cy="367665"/>
          </a:xfrm>
          <a:custGeom>
            <a:avLst/>
            <a:gdLst/>
            <a:ahLst/>
            <a:cxnLst/>
            <a:rect l="l" t="t" r="r" b="b"/>
            <a:pathLst>
              <a:path w="858520" h="367664">
                <a:moveTo>
                  <a:pt x="0" y="61213"/>
                </a:moveTo>
                <a:lnTo>
                  <a:pt x="4814" y="37397"/>
                </a:lnTo>
                <a:lnTo>
                  <a:pt x="17938" y="17938"/>
                </a:lnTo>
                <a:lnTo>
                  <a:pt x="37397" y="4814"/>
                </a:lnTo>
                <a:lnTo>
                  <a:pt x="61213" y="0"/>
                </a:lnTo>
                <a:lnTo>
                  <a:pt x="796798" y="0"/>
                </a:lnTo>
                <a:lnTo>
                  <a:pt x="820614" y="4814"/>
                </a:lnTo>
                <a:lnTo>
                  <a:pt x="840073" y="17938"/>
                </a:lnTo>
                <a:lnTo>
                  <a:pt x="853197" y="37397"/>
                </a:lnTo>
                <a:lnTo>
                  <a:pt x="858011" y="61213"/>
                </a:lnTo>
                <a:lnTo>
                  <a:pt x="858011" y="306070"/>
                </a:lnTo>
                <a:lnTo>
                  <a:pt x="853197" y="329886"/>
                </a:lnTo>
                <a:lnTo>
                  <a:pt x="840073" y="349345"/>
                </a:lnTo>
                <a:lnTo>
                  <a:pt x="820614" y="362469"/>
                </a:lnTo>
                <a:lnTo>
                  <a:pt x="796798" y="367284"/>
                </a:lnTo>
                <a:lnTo>
                  <a:pt x="61213" y="367284"/>
                </a:lnTo>
                <a:lnTo>
                  <a:pt x="37397" y="362469"/>
                </a:lnTo>
                <a:lnTo>
                  <a:pt x="17938" y="349345"/>
                </a:lnTo>
                <a:lnTo>
                  <a:pt x="4814" y="329886"/>
                </a:lnTo>
                <a:lnTo>
                  <a:pt x="0" y="306070"/>
                </a:lnTo>
                <a:lnTo>
                  <a:pt x="0" y="6121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25490" y="2934969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二档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63611" y="2933700"/>
            <a:ext cx="856615" cy="367665"/>
          </a:xfrm>
          <a:custGeom>
            <a:avLst/>
            <a:gdLst/>
            <a:ahLst/>
            <a:cxnLst/>
            <a:rect l="l" t="t" r="r" b="b"/>
            <a:pathLst>
              <a:path w="856615" h="367664">
                <a:moveTo>
                  <a:pt x="0" y="61213"/>
                </a:moveTo>
                <a:lnTo>
                  <a:pt x="4814" y="37397"/>
                </a:lnTo>
                <a:lnTo>
                  <a:pt x="17938" y="17938"/>
                </a:lnTo>
                <a:lnTo>
                  <a:pt x="37397" y="4814"/>
                </a:lnTo>
                <a:lnTo>
                  <a:pt x="61214" y="0"/>
                </a:lnTo>
                <a:lnTo>
                  <a:pt x="795274" y="0"/>
                </a:lnTo>
                <a:lnTo>
                  <a:pt x="819090" y="4814"/>
                </a:lnTo>
                <a:lnTo>
                  <a:pt x="838549" y="17938"/>
                </a:lnTo>
                <a:lnTo>
                  <a:pt x="851673" y="37397"/>
                </a:lnTo>
                <a:lnTo>
                  <a:pt x="856488" y="61213"/>
                </a:lnTo>
                <a:lnTo>
                  <a:pt x="856488" y="306070"/>
                </a:lnTo>
                <a:lnTo>
                  <a:pt x="851673" y="329886"/>
                </a:lnTo>
                <a:lnTo>
                  <a:pt x="838549" y="349345"/>
                </a:lnTo>
                <a:lnTo>
                  <a:pt x="819090" y="362469"/>
                </a:lnTo>
                <a:lnTo>
                  <a:pt x="795274" y="367284"/>
                </a:lnTo>
                <a:lnTo>
                  <a:pt x="61214" y="367284"/>
                </a:lnTo>
                <a:lnTo>
                  <a:pt x="37397" y="362469"/>
                </a:lnTo>
                <a:lnTo>
                  <a:pt x="17938" y="349345"/>
                </a:lnTo>
                <a:lnTo>
                  <a:pt x="4814" y="329886"/>
                </a:lnTo>
                <a:lnTo>
                  <a:pt x="0" y="306070"/>
                </a:lnTo>
                <a:lnTo>
                  <a:pt x="0" y="6121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711567" y="2934969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三档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74135" y="2988310"/>
            <a:ext cx="428625" cy="76200"/>
          </a:xfrm>
          <a:custGeom>
            <a:avLst/>
            <a:gdLst/>
            <a:ahLst/>
            <a:cxnLst/>
            <a:rect l="l" t="t" r="r" b="b"/>
            <a:pathLst>
              <a:path w="428625" h="76200">
                <a:moveTo>
                  <a:pt x="352022" y="44405"/>
                </a:moveTo>
                <a:lnTo>
                  <a:pt x="351916" y="76200"/>
                </a:lnTo>
                <a:lnTo>
                  <a:pt x="415949" y="44450"/>
                </a:lnTo>
                <a:lnTo>
                  <a:pt x="364743" y="44450"/>
                </a:lnTo>
                <a:lnTo>
                  <a:pt x="352022" y="44405"/>
                </a:lnTo>
                <a:close/>
              </a:path>
              <a:path w="428625" h="76200">
                <a:moveTo>
                  <a:pt x="352065" y="31705"/>
                </a:moveTo>
                <a:lnTo>
                  <a:pt x="352022" y="44405"/>
                </a:lnTo>
                <a:lnTo>
                  <a:pt x="364743" y="44450"/>
                </a:lnTo>
                <a:lnTo>
                  <a:pt x="364743" y="31750"/>
                </a:lnTo>
                <a:lnTo>
                  <a:pt x="352065" y="31705"/>
                </a:lnTo>
                <a:close/>
              </a:path>
              <a:path w="428625" h="76200">
                <a:moveTo>
                  <a:pt x="352171" y="0"/>
                </a:moveTo>
                <a:lnTo>
                  <a:pt x="352065" y="31705"/>
                </a:lnTo>
                <a:lnTo>
                  <a:pt x="364743" y="31750"/>
                </a:lnTo>
                <a:lnTo>
                  <a:pt x="364743" y="44450"/>
                </a:lnTo>
                <a:lnTo>
                  <a:pt x="415949" y="44450"/>
                </a:lnTo>
                <a:lnTo>
                  <a:pt x="428243" y="38353"/>
                </a:lnTo>
                <a:lnTo>
                  <a:pt x="352171" y="0"/>
                </a:lnTo>
                <a:close/>
              </a:path>
              <a:path w="428625" h="76200">
                <a:moveTo>
                  <a:pt x="0" y="30479"/>
                </a:moveTo>
                <a:lnTo>
                  <a:pt x="0" y="43179"/>
                </a:lnTo>
                <a:lnTo>
                  <a:pt x="352022" y="44405"/>
                </a:lnTo>
                <a:lnTo>
                  <a:pt x="352065" y="31705"/>
                </a:lnTo>
                <a:lnTo>
                  <a:pt x="0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68011" y="2973197"/>
            <a:ext cx="1000125" cy="76200"/>
          </a:xfrm>
          <a:custGeom>
            <a:avLst/>
            <a:gdLst/>
            <a:ahLst/>
            <a:cxnLst/>
            <a:rect l="l" t="t" r="r" b="b"/>
            <a:pathLst>
              <a:path w="1000125" h="76200">
                <a:moveTo>
                  <a:pt x="923543" y="44431"/>
                </a:moveTo>
                <a:lnTo>
                  <a:pt x="923543" y="76200"/>
                </a:lnTo>
                <a:lnTo>
                  <a:pt x="987256" y="44450"/>
                </a:lnTo>
                <a:lnTo>
                  <a:pt x="936243" y="44450"/>
                </a:lnTo>
                <a:lnTo>
                  <a:pt x="923543" y="44431"/>
                </a:lnTo>
                <a:close/>
              </a:path>
              <a:path w="1000125" h="76200">
                <a:moveTo>
                  <a:pt x="923543" y="31731"/>
                </a:moveTo>
                <a:lnTo>
                  <a:pt x="923543" y="44431"/>
                </a:lnTo>
                <a:lnTo>
                  <a:pt x="936243" y="44450"/>
                </a:lnTo>
                <a:lnTo>
                  <a:pt x="936243" y="31750"/>
                </a:lnTo>
                <a:lnTo>
                  <a:pt x="923543" y="31731"/>
                </a:lnTo>
                <a:close/>
              </a:path>
              <a:path w="1000125" h="76200">
                <a:moveTo>
                  <a:pt x="923543" y="0"/>
                </a:moveTo>
                <a:lnTo>
                  <a:pt x="923543" y="31731"/>
                </a:lnTo>
                <a:lnTo>
                  <a:pt x="936243" y="31750"/>
                </a:lnTo>
                <a:lnTo>
                  <a:pt x="936243" y="44450"/>
                </a:lnTo>
                <a:lnTo>
                  <a:pt x="987256" y="44450"/>
                </a:lnTo>
                <a:lnTo>
                  <a:pt x="999743" y="38226"/>
                </a:lnTo>
                <a:lnTo>
                  <a:pt x="923543" y="0"/>
                </a:lnTo>
                <a:close/>
              </a:path>
              <a:path w="1000125" h="76200">
                <a:moveTo>
                  <a:pt x="0" y="30352"/>
                </a:moveTo>
                <a:lnTo>
                  <a:pt x="0" y="43052"/>
                </a:lnTo>
                <a:lnTo>
                  <a:pt x="923543" y="44431"/>
                </a:lnTo>
                <a:lnTo>
                  <a:pt x="923543" y="31731"/>
                </a:lnTo>
                <a:lnTo>
                  <a:pt x="0" y="30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34911" y="2971800"/>
            <a:ext cx="1047115" cy="76200"/>
          </a:xfrm>
          <a:custGeom>
            <a:avLst/>
            <a:gdLst/>
            <a:ahLst/>
            <a:cxnLst/>
            <a:rect l="l" t="t" r="r" b="b"/>
            <a:pathLst>
              <a:path w="1047115" h="76200">
                <a:moveTo>
                  <a:pt x="970788" y="0"/>
                </a:moveTo>
                <a:lnTo>
                  <a:pt x="970788" y="76200"/>
                </a:lnTo>
                <a:lnTo>
                  <a:pt x="1034288" y="44450"/>
                </a:lnTo>
                <a:lnTo>
                  <a:pt x="983488" y="44450"/>
                </a:lnTo>
                <a:lnTo>
                  <a:pt x="983488" y="31750"/>
                </a:lnTo>
                <a:lnTo>
                  <a:pt x="1034288" y="31750"/>
                </a:lnTo>
                <a:lnTo>
                  <a:pt x="970788" y="0"/>
                </a:lnTo>
                <a:close/>
              </a:path>
              <a:path w="1047115" h="76200">
                <a:moveTo>
                  <a:pt x="97078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70788" y="44450"/>
                </a:lnTo>
                <a:lnTo>
                  <a:pt x="970788" y="31750"/>
                </a:lnTo>
                <a:close/>
              </a:path>
              <a:path w="1047115" h="76200">
                <a:moveTo>
                  <a:pt x="1034288" y="31750"/>
                </a:moveTo>
                <a:lnTo>
                  <a:pt x="983488" y="31750"/>
                </a:lnTo>
                <a:lnTo>
                  <a:pt x="983488" y="44450"/>
                </a:lnTo>
                <a:lnTo>
                  <a:pt x="1034288" y="44450"/>
                </a:lnTo>
                <a:lnTo>
                  <a:pt x="1046988" y="38100"/>
                </a:lnTo>
                <a:lnTo>
                  <a:pt x="103428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34511" y="3089148"/>
            <a:ext cx="466725" cy="77470"/>
          </a:xfrm>
          <a:custGeom>
            <a:avLst/>
            <a:gdLst/>
            <a:ahLst/>
            <a:cxnLst/>
            <a:rect l="l" t="t" r="r" b="b"/>
            <a:pathLst>
              <a:path w="466725" h="77469">
                <a:moveTo>
                  <a:pt x="390122" y="45675"/>
                </a:moveTo>
                <a:lnTo>
                  <a:pt x="390016" y="77469"/>
                </a:lnTo>
                <a:lnTo>
                  <a:pt x="454049" y="45719"/>
                </a:lnTo>
                <a:lnTo>
                  <a:pt x="402843" y="45719"/>
                </a:lnTo>
                <a:lnTo>
                  <a:pt x="390122" y="45675"/>
                </a:lnTo>
                <a:close/>
              </a:path>
              <a:path w="466725" h="77469">
                <a:moveTo>
                  <a:pt x="38226" y="0"/>
                </a:moveTo>
                <a:lnTo>
                  <a:pt x="23377" y="2915"/>
                </a:lnTo>
                <a:lnTo>
                  <a:pt x="11255" y="11033"/>
                </a:lnTo>
                <a:lnTo>
                  <a:pt x="3061" y="23127"/>
                </a:lnTo>
                <a:lnTo>
                  <a:pt x="0" y="37973"/>
                </a:lnTo>
                <a:lnTo>
                  <a:pt x="2915" y="52822"/>
                </a:lnTo>
                <a:lnTo>
                  <a:pt x="11033" y="64944"/>
                </a:lnTo>
                <a:lnTo>
                  <a:pt x="23127" y="73138"/>
                </a:lnTo>
                <a:lnTo>
                  <a:pt x="37973" y="76200"/>
                </a:lnTo>
                <a:lnTo>
                  <a:pt x="52822" y="73284"/>
                </a:lnTo>
                <a:lnTo>
                  <a:pt x="64944" y="65166"/>
                </a:lnTo>
                <a:lnTo>
                  <a:pt x="73138" y="53072"/>
                </a:lnTo>
                <a:lnTo>
                  <a:pt x="74890" y="44578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8" y="31750"/>
                </a:lnTo>
                <a:lnTo>
                  <a:pt x="73284" y="23377"/>
                </a:lnTo>
                <a:lnTo>
                  <a:pt x="65166" y="11255"/>
                </a:lnTo>
                <a:lnTo>
                  <a:pt x="53072" y="3061"/>
                </a:lnTo>
                <a:lnTo>
                  <a:pt x="38226" y="0"/>
                </a:lnTo>
                <a:close/>
              </a:path>
              <a:path w="466725" h="77469">
                <a:moveTo>
                  <a:pt x="390165" y="32975"/>
                </a:moveTo>
                <a:lnTo>
                  <a:pt x="390122" y="45675"/>
                </a:lnTo>
                <a:lnTo>
                  <a:pt x="402843" y="45719"/>
                </a:lnTo>
                <a:lnTo>
                  <a:pt x="402843" y="33019"/>
                </a:lnTo>
                <a:lnTo>
                  <a:pt x="390165" y="32975"/>
                </a:lnTo>
                <a:close/>
              </a:path>
              <a:path w="466725" h="77469">
                <a:moveTo>
                  <a:pt x="390271" y="1269"/>
                </a:moveTo>
                <a:lnTo>
                  <a:pt x="390165" y="32975"/>
                </a:lnTo>
                <a:lnTo>
                  <a:pt x="402843" y="33019"/>
                </a:lnTo>
                <a:lnTo>
                  <a:pt x="402843" y="45719"/>
                </a:lnTo>
                <a:lnTo>
                  <a:pt x="454049" y="45719"/>
                </a:lnTo>
                <a:lnTo>
                  <a:pt x="466343" y="39624"/>
                </a:lnTo>
                <a:lnTo>
                  <a:pt x="390271" y="1269"/>
                </a:lnTo>
                <a:close/>
              </a:path>
              <a:path w="466725" h="77469">
                <a:moveTo>
                  <a:pt x="74953" y="31878"/>
                </a:moveTo>
                <a:lnTo>
                  <a:pt x="76200" y="38226"/>
                </a:lnTo>
                <a:lnTo>
                  <a:pt x="74890" y="44578"/>
                </a:lnTo>
                <a:lnTo>
                  <a:pt x="390122" y="45675"/>
                </a:lnTo>
                <a:lnTo>
                  <a:pt x="390165" y="32975"/>
                </a:lnTo>
                <a:lnTo>
                  <a:pt x="74953" y="31878"/>
                </a:lnTo>
                <a:close/>
              </a:path>
              <a:path w="466725" h="77469">
                <a:moveTo>
                  <a:pt x="38100" y="31750"/>
                </a:moveTo>
                <a:lnTo>
                  <a:pt x="38100" y="44450"/>
                </a:lnTo>
                <a:lnTo>
                  <a:pt x="74890" y="44578"/>
                </a:lnTo>
                <a:lnTo>
                  <a:pt x="76200" y="38226"/>
                </a:lnTo>
                <a:lnTo>
                  <a:pt x="74953" y="31878"/>
                </a:lnTo>
                <a:lnTo>
                  <a:pt x="38100" y="31750"/>
                </a:lnTo>
                <a:close/>
              </a:path>
              <a:path w="466725" h="77469">
                <a:moveTo>
                  <a:pt x="74928" y="31750"/>
                </a:moveTo>
                <a:lnTo>
                  <a:pt x="38100" y="31750"/>
                </a:lnTo>
                <a:lnTo>
                  <a:pt x="74953" y="31878"/>
                </a:lnTo>
                <a:lnTo>
                  <a:pt x="7492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32045" y="3145662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降档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77155" y="3124326"/>
            <a:ext cx="1000125" cy="76200"/>
          </a:xfrm>
          <a:custGeom>
            <a:avLst/>
            <a:gdLst/>
            <a:ahLst/>
            <a:cxnLst/>
            <a:rect l="l" t="t" r="r" b="b"/>
            <a:pathLst>
              <a:path w="1000125" h="76200">
                <a:moveTo>
                  <a:pt x="76200" y="0"/>
                </a:moveTo>
                <a:lnTo>
                  <a:pt x="0" y="37973"/>
                </a:lnTo>
                <a:lnTo>
                  <a:pt x="76200" y="76200"/>
                </a:lnTo>
                <a:lnTo>
                  <a:pt x="76200" y="44468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000125" h="76200">
                <a:moveTo>
                  <a:pt x="76200" y="31768"/>
                </a:moveTo>
                <a:lnTo>
                  <a:pt x="76200" y="44468"/>
                </a:lnTo>
                <a:lnTo>
                  <a:pt x="999744" y="45847"/>
                </a:lnTo>
                <a:lnTo>
                  <a:pt x="999744" y="33147"/>
                </a:lnTo>
                <a:lnTo>
                  <a:pt x="76200" y="31768"/>
                </a:lnTo>
                <a:close/>
              </a:path>
              <a:path w="1000125" h="76200">
                <a:moveTo>
                  <a:pt x="63500" y="31750"/>
                </a:moveTo>
                <a:lnTo>
                  <a:pt x="63500" y="44450"/>
                </a:lnTo>
                <a:lnTo>
                  <a:pt x="76200" y="44468"/>
                </a:lnTo>
                <a:lnTo>
                  <a:pt x="76200" y="31768"/>
                </a:lnTo>
                <a:lnTo>
                  <a:pt x="63500" y="31750"/>
                </a:lnTo>
                <a:close/>
              </a:path>
              <a:path w="1000125" h="76200">
                <a:moveTo>
                  <a:pt x="76200" y="31750"/>
                </a:moveTo>
                <a:lnTo>
                  <a:pt x="63500" y="31750"/>
                </a:lnTo>
                <a:lnTo>
                  <a:pt x="76200" y="31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34911" y="3124200"/>
            <a:ext cx="1047115" cy="76200"/>
          </a:xfrm>
          <a:custGeom>
            <a:avLst/>
            <a:gdLst/>
            <a:ahLst/>
            <a:cxnLst/>
            <a:rect l="l" t="t" r="r" b="b"/>
            <a:pathLst>
              <a:path w="104711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04711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047115" h="76200">
                <a:moveTo>
                  <a:pt x="1046988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046988" y="44450"/>
                </a:lnTo>
                <a:lnTo>
                  <a:pt x="104698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95600" y="1447800"/>
            <a:ext cx="753110" cy="78105"/>
          </a:xfrm>
          <a:custGeom>
            <a:avLst/>
            <a:gdLst/>
            <a:ahLst/>
            <a:cxnLst/>
            <a:rect l="l" t="t" r="r" b="b"/>
            <a:pathLst>
              <a:path w="753110" h="78105">
                <a:moveTo>
                  <a:pt x="676634" y="45819"/>
                </a:moveTo>
                <a:lnTo>
                  <a:pt x="676528" y="77597"/>
                </a:lnTo>
                <a:lnTo>
                  <a:pt x="740347" y="45847"/>
                </a:lnTo>
                <a:lnTo>
                  <a:pt x="689355" y="45847"/>
                </a:lnTo>
                <a:lnTo>
                  <a:pt x="676634" y="45819"/>
                </a:lnTo>
                <a:close/>
              </a:path>
              <a:path w="753110" h="78105">
                <a:moveTo>
                  <a:pt x="38226" y="0"/>
                </a:moveTo>
                <a:lnTo>
                  <a:pt x="23360" y="2986"/>
                </a:lnTo>
                <a:lnTo>
                  <a:pt x="11207" y="11128"/>
                </a:lnTo>
                <a:lnTo>
                  <a:pt x="3008" y="23199"/>
                </a:lnTo>
                <a:lnTo>
                  <a:pt x="0" y="37973"/>
                </a:lnTo>
                <a:lnTo>
                  <a:pt x="2986" y="52839"/>
                </a:lnTo>
                <a:lnTo>
                  <a:pt x="11128" y="64992"/>
                </a:lnTo>
                <a:lnTo>
                  <a:pt x="23199" y="73191"/>
                </a:lnTo>
                <a:lnTo>
                  <a:pt x="37973" y="76200"/>
                </a:lnTo>
                <a:lnTo>
                  <a:pt x="52839" y="73213"/>
                </a:lnTo>
                <a:lnTo>
                  <a:pt x="64992" y="65071"/>
                </a:lnTo>
                <a:lnTo>
                  <a:pt x="73191" y="53000"/>
                </a:lnTo>
                <a:lnTo>
                  <a:pt x="74916" y="44528"/>
                </a:lnTo>
                <a:lnTo>
                  <a:pt x="38100" y="44450"/>
                </a:lnTo>
                <a:lnTo>
                  <a:pt x="38100" y="31750"/>
                </a:lnTo>
                <a:lnTo>
                  <a:pt x="74898" y="31750"/>
                </a:lnTo>
                <a:lnTo>
                  <a:pt x="73213" y="23360"/>
                </a:lnTo>
                <a:lnTo>
                  <a:pt x="65071" y="11207"/>
                </a:lnTo>
                <a:lnTo>
                  <a:pt x="53000" y="3008"/>
                </a:lnTo>
                <a:lnTo>
                  <a:pt x="38226" y="0"/>
                </a:lnTo>
                <a:close/>
              </a:path>
              <a:path w="753110" h="78105">
                <a:moveTo>
                  <a:pt x="676677" y="33119"/>
                </a:moveTo>
                <a:lnTo>
                  <a:pt x="676634" y="45819"/>
                </a:lnTo>
                <a:lnTo>
                  <a:pt x="689355" y="45847"/>
                </a:lnTo>
                <a:lnTo>
                  <a:pt x="689355" y="33147"/>
                </a:lnTo>
                <a:lnTo>
                  <a:pt x="676677" y="33119"/>
                </a:lnTo>
                <a:close/>
              </a:path>
              <a:path w="753110" h="78105">
                <a:moveTo>
                  <a:pt x="676783" y="1397"/>
                </a:moveTo>
                <a:lnTo>
                  <a:pt x="676677" y="33119"/>
                </a:lnTo>
                <a:lnTo>
                  <a:pt x="689355" y="33147"/>
                </a:lnTo>
                <a:lnTo>
                  <a:pt x="689355" y="45847"/>
                </a:lnTo>
                <a:lnTo>
                  <a:pt x="740347" y="45847"/>
                </a:lnTo>
                <a:lnTo>
                  <a:pt x="752855" y="39624"/>
                </a:lnTo>
                <a:lnTo>
                  <a:pt x="676783" y="1397"/>
                </a:lnTo>
                <a:close/>
              </a:path>
              <a:path w="753110" h="78105">
                <a:moveTo>
                  <a:pt x="74914" y="31828"/>
                </a:moveTo>
                <a:lnTo>
                  <a:pt x="76200" y="38226"/>
                </a:lnTo>
                <a:lnTo>
                  <a:pt x="74916" y="44528"/>
                </a:lnTo>
                <a:lnTo>
                  <a:pt x="676634" y="45819"/>
                </a:lnTo>
                <a:lnTo>
                  <a:pt x="676677" y="33119"/>
                </a:lnTo>
                <a:lnTo>
                  <a:pt x="74914" y="31828"/>
                </a:lnTo>
                <a:close/>
              </a:path>
              <a:path w="753110" h="78105">
                <a:moveTo>
                  <a:pt x="38100" y="31750"/>
                </a:moveTo>
                <a:lnTo>
                  <a:pt x="38100" y="44450"/>
                </a:lnTo>
                <a:lnTo>
                  <a:pt x="74916" y="44528"/>
                </a:lnTo>
                <a:lnTo>
                  <a:pt x="76200" y="38226"/>
                </a:lnTo>
                <a:lnTo>
                  <a:pt x="74914" y="31828"/>
                </a:lnTo>
                <a:lnTo>
                  <a:pt x="38100" y="31750"/>
                </a:lnTo>
                <a:close/>
              </a:path>
              <a:path w="753110" h="78105">
                <a:moveTo>
                  <a:pt x="74898" y="31750"/>
                </a:moveTo>
                <a:lnTo>
                  <a:pt x="38100" y="31750"/>
                </a:lnTo>
                <a:lnTo>
                  <a:pt x="74914" y="318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57700" y="1600200"/>
            <a:ext cx="2743200" cy="76200"/>
          </a:xfrm>
          <a:custGeom>
            <a:avLst/>
            <a:gdLst/>
            <a:ahLst/>
            <a:cxnLst/>
            <a:rect l="l" t="t" r="r" b="b"/>
            <a:pathLst>
              <a:path w="2743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27432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2743200" h="76200">
                <a:moveTo>
                  <a:pt x="27432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2743200" y="44450"/>
                </a:lnTo>
                <a:lnTo>
                  <a:pt x="27432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10000" y="17145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44450" y="63500"/>
                </a:moveTo>
                <a:lnTo>
                  <a:pt x="31750" y="63500"/>
                </a:lnTo>
                <a:lnTo>
                  <a:pt x="31750" y="914400"/>
                </a:lnTo>
                <a:lnTo>
                  <a:pt x="44450" y="914400"/>
                </a:lnTo>
                <a:lnTo>
                  <a:pt x="44450" y="63500"/>
                </a:lnTo>
                <a:close/>
              </a:path>
              <a:path w="76200" h="9144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144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114800" y="17145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31750" y="838200"/>
                </a:moveTo>
                <a:lnTo>
                  <a:pt x="0" y="838200"/>
                </a:lnTo>
                <a:lnTo>
                  <a:pt x="38100" y="914400"/>
                </a:lnTo>
                <a:lnTo>
                  <a:pt x="69850" y="850900"/>
                </a:lnTo>
                <a:lnTo>
                  <a:pt x="31750" y="850900"/>
                </a:lnTo>
                <a:lnTo>
                  <a:pt x="31750" y="838200"/>
                </a:lnTo>
                <a:close/>
              </a:path>
              <a:path w="76200" h="914400">
                <a:moveTo>
                  <a:pt x="44450" y="0"/>
                </a:moveTo>
                <a:lnTo>
                  <a:pt x="31750" y="0"/>
                </a:lnTo>
                <a:lnTo>
                  <a:pt x="31750" y="850900"/>
                </a:lnTo>
                <a:lnTo>
                  <a:pt x="44450" y="850900"/>
                </a:lnTo>
                <a:lnTo>
                  <a:pt x="44450" y="0"/>
                </a:lnTo>
                <a:close/>
              </a:path>
              <a:path w="76200" h="914400">
                <a:moveTo>
                  <a:pt x="76200" y="838200"/>
                </a:moveTo>
                <a:lnTo>
                  <a:pt x="44450" y="838200"/>
                </a:lnTo>
                <a:lnTo>
                  <a:pt x="44450" y="850900"/>
                </a:lnTo>
                <a:lnTo>
                  <a:pt x="69850" y="850900"/>
                </a:lnTo>
                <a:lnTo>
                  <a:pt x="76200" y="838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57700" y="1447800"/>
            <a:ext cx="2743200" cy="76200"/>
          </a:xfrm>
          <a:custGeom>
            <a:avLst/>
            <a:gdLst/>
            <a:ahLst/>
            <a:cxnLst/>
            <a:rect l="l" t="t" r="r" b="b"/>
            <a:pathLst>
              <a:path w="2743200" h="76200">
                <a:moveTo>
                  <a:pt x="2667000" y="0"/>
                </a:moveTo>
                <a:lnTo>
                  <a:pt x="2667000" y="76200"/>
                </a:lnTo>
                <a:lnTo>
                  <a:pt x="2730500" y="44450"/>
                </a:lnTo>
                <a:lnTo>
                  <a:pt x="2679700" y="44450"/>
                </a:lnTo>
                <a:lnTo>
                  <a:pt x="2679700" y="31750"/>
                </a:lnTo>
                <a:lnTo>
                  <a:pt x="2730500" y="31750"/>
                </a:lnTo>
                <a:lnTo>
                  <a:pt x="2667000" y="0"/>
                </a:lnTo>
                <a:close/>
              </a:path>
              <a:path w="2743200" h="76200">
                <a:moveTo>
                  <a:pt x="26670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667000" y="44450"/>
                </a:lnTo>
                <a:lnTo>
                  <a:pt x="2667000" y="31750"/>
                </a:lnTo>
                <a:close/>
              </a:path>
              <a:path w="2743200" h="76200">
                <a:moveTo>
                  <a:pt x="2730500" y="31750"/>
                </a:moveTo>
                <a:lnTo>
                  <a:pt x="2679700" y="31750"/>
                </a:lnTo>
                <a:lnTo>
                  <a:pt x="2679700" y="44450"/>
                </a:lnTo>
                <a:lnTo>
                  <a:pt x="2730500" y="44450"/>
                </a:lnTo>
                <a:lnTo>
                  <a:pt x="2743200" y="38100"/>
                </a:lnTo>
                <a:lnTo>
                  <a:pt x="27305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960746" y="2764662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升档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89801" y="2641734"/>
            <a:ext cx="452755" cy="75882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宋体"/>
                <a:cs typeface="宋体"/>
              </a:rPr>
              <a:t>升档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600" b="1" spc="-5" dirty="0">
                <a:latin typeface="宋体"/>
                <a:cs typeface="宋体"/>
              </a:rPr>
              <a:t>降档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74289" y="2917062"/>
            <a:ext cx="2286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宋体"/>
                <a:cs typeface="宋体"/>
              </a:rPr>
              <a:t>停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60923" y="1102512"/>
            <a:ext cx="65659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0">
              <a:lnSpc>
                <a:spcPct val="156300"/>
              </a:lnSpc>
              <a:spcBef>
                <a:spcPts val="100"/>
              </a:spcBef>
            </a:pPr>
            <a:r>
              <a:rPr sz="1600" b="1" spc="-5" dirty="0">
                <a:latin typeface="宋体"/>
                <a:cs typeface="宋体"/>
              </a:rPr>
              <a:t>推至</a:t>
            </a:r>
            <a:r>
              <a:rPr sz="1600" b="1" spc="-5" dirty="0">
                <a:latin typeface="Times New Roman"/>
                <a:cs typeface="Times New Roman"/>
              </a:rPr>
              <a:t>R </a:t>
            </a:r>
            <a:r>
              <a:rPr sz="1600" b="1" spc="-5" dirty="0">
                <a:latin typeface="宋体"/>
                <a:cs typeface="宋体"/>
              </a:rPr>
              <a:t>推至</a:t>
            </a:r>
            <a:r>
              <a:rPr sz="1600" b="1" spc="-5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26689" y="2078862"/>
            <a:ext cx="5810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推至</a:t>
            </a:r>
            <a:r>
              <a:rPr sz="1600" b="1" spc="-5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17670" y="2078862"/>
            <a:ext cx="558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推至</a:t>
            </a:r>
            <a:r>
              <a:rPr sz="1600" b="1" spc="-5" dirty="0">
                <a:latin typeface="Times New Roman"/>
                <a:cs typeface="Times New Roman"/>
              </a:rPr>
              <a:t>F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79929" y="2657982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前进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011167" y="4066032"/>
            <a:ext cx="2743200" cy="2133600"/>
          </a:xfrm>
          <a:custGeom>
            <a:avLst/>
            <a:gdLst/>
            <a:ahLst/>
            <a:cxnLst/>
            <a:rect l="l" t="t" r="r" b="b"/>
            <a:pathLst>
              <a:path w="2743200" h="2133600">
                <a:moveTo>
                  <a:pt x="0" y="355600"/>
                </a:moveTo>
                <a:lnTo>
                  <a:pt x="3247" y="307357"/>
                </a:lnTo>
                <a:lnTo>
                  <a:pt x="12705" y="261084"/>
                </a:lnTo>
                <a:lnTo>
                  <a:pt x="27951" y="217205"/>
                </a:lnTo>
                <a:lnTo>
                  <a:pt x="48561" y="176144"/>
                </a:lnTo>
                <a:lnTo>
                  <a:pt x="74109" y="138324"/>
                </a:lnTo>
                <a:lnTo>
                  <a:pt x="104171" y="104171"/>
                </a:lnTo>
                <a:lnTo>
                  <a:pt x="138324" y="74109"/>
                </a:lnTo>
                <a:lnTo>
                  <a:pt x="176144" y="48561"/>
                </a:lnTo>
                <a:lnTo>
                  <a:pt x="217205" y="27951"/>
                </a:lnTo>
                <a:lnTo>
                  <a:pt x="261084" y="12705"/>
                </a:lnTo>
                <a:lnTo>
                  <a:pt x="307357" y="3247"/>
                </a:lnTo>
                <a:lnTo>
                  <a:pt x="355600" y="0"/>
                </a:lnTo>
                <a:lnTo>
                  <a:pt x="2387600" y="0"/>
                </a:lnTo>
                <a:lnTo>
                  <a:pt x="2435842" y="3247"/>
                </a:lnTo>
                <a:lnTo>
                  <a:pt x="2482115" y="12705"/>
                </a:lnTo>
                <a:lnTo>
                  <a:pt x="2525994" y="27951"/>
                </a:lnTo>
                <a:lnTo>
                  <a:pt x="2567055" y="48561"/>
                </a:lnTo>
                <a:lnTo>
                  <a:pt x="2604875" y="74109"/>
                </a:lnTo>
                <a:lnTo>
                  <a:pt x="2639028" y="104171"/>
                </a:lnTo>
                <a:lnTo>
                  <a:pt x="2669090" y="138324"/>
                </a:lnTo>
                <a:lnTo>
                  <a:pt x="2694638" y="176144"/>
                </a:lnTo>
                <a:lnTo>
                  <a:pt x="2715248" y="217205"/>
                </a:lnTo>
                <a:lnTo>
                  <a:pt x="2730494" y="261084"/>
                </a:lnTo>
                <a:lnTo>
                  <a:pt x="2739952" y="307357"/>
                </a:lnTo>
                <a:lnTo>
                  <a:pt x="2743200" y="355600"/>
                </a:lnTo>
                <a:lnTo>
                  <a:pt x="2743200" y="1777987"/>
                </a:lnTo>
                <a:lnTo>
                  <a:pt x="2739952" y="1826243"/>
                </a:lnTo>
                <a:lnTo>
                  <a:pt x="2730494" y="1872525"/>
                </a:lnTo>
                <a:lnTo>
                  <a:pt x="2715248" y="1916410"/>
                </a:lnTo>
                <a:lnTo>
                  <a:pt x="2694638" y="1957474"/>
                </a:lnTo>
                <a:lnTo>
                  <a:pt x="2669090" y="1995294"/>
                </a:lnTo>
                <a:lnTo>
                  <a:pt x="2639028" y="2029445"/>
                </a:lnTo>
                <a:lnTo>
                  <a:pt x="2604875" y="2059505"/>
                </a:lnTo>
                <a:lnTo>
                  <a:pt x="2567055" y="2085049"/>
                </a:lnTo>
                <a:lnTo>
                  <a:pt x="2525994" y="2105655"/>
                </a:lnTo>
                <a:lnTo>
                  <a:pt x="2482115" y="2120897"/>
                </a:lnTo>
                <a:lnTo>
                  <a:pt x="2435842" y="2130353"/>
                </a:lnTo>
                <a:lnTo>
                  <a:pt x="2387600" y="2133600"/>
                </a:lnTo>
                <a:lnTo>
                  <a:pt x="355600" y="2133600"/>
                </a:lnTo>
                <a:lnTo>
                  <a:pt x="307357" y="2130353"/>
                </a:lnTo>
                <a:lnTo>
                  <a:pt x="261084" y="2120897"/>
                </a:lnTo>
                <a:lnTo>
                  <a:pt x="217205" y="2105655"/>
                </a:lnTo>
                <a:lnTo>
                  <a:pt x="176144" y="2085049"/>
                </a:lnTo>
                <a:lnTo>
                  <a:pt x="138324" y="2059505"/>
                </a:lnTo>
                <a:lnTo>
                  <a:pt x="104171" y="2029445"/>
                </a:lnTo>
                <a:lnTo>
                  <a:pt x="74109" y="1995294"/>
                </a:lnTo>
                <a:lnTo>
                  <a:pt x="48561" y="1957474"/>
                </a:lnTo>
                <a:lnTo>
                  <a:pt x="27951" y="1916410"/>
                </a:lnTo>
                <a:lnTo>
                  <a:pt x="12705" y="1872525"/>
                </a:lnTo>
                <a:lnTo>
                  <a:pt x="3247" y="1826243"/>
                </a:lnTo>
                <a:lnTo>
                  <a:pt x="0" y="1777987"/>
                </a:lnTo>
                <a:lnTo>
                  <a:pt x="0" y="35560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34767" y="4751832"/>
            <a:ext cx="685800" cy="457200"/>
          </a:xfrm>
          <a:custGeom>
            <a:avLst/>
            <a:gdLst/>
            <a:ahLst/>
            <a:cxnLst/>
            <a:rect l="l" t="t" r="r" b="b"/>
            <a:pathLst>
              <a:path w="6858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609600" y="0"/>
                </a:lnTo>
                <a:lnTo>
                  <a:pt x="639240" y="5994"/>
                </a:lnTo>
                <a:lnTo>
                  <a:pt x="663463" y="22336"/>
                </a:lnTo>
                <a:lnTo>
                  <a:pt x="679805" y="46559"/>
                </a:lnTo>
                <a:lnTo>
                  <a:pt x="685800" y="76200"/>
                </a:lnTo>
                <a:lnTo>
                  <a:pt x="685800" y="381000"/>
                </a:lnTo>
                <a:lnTo>
                  <a:pt x="679805" y="410640"/>
                </a:lnTo>
                <a:lnTo>
                  <a:pt x="663463" y="434863"/>
                </a:lnTo>
                <a:lnTo>
                  <a:pt x="639240" y="451205"/>
                </a:lnTo>
                <a:lnTo>
                  <a:pt x="6096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435479" y="4803140"/>
            <a:ext cx="434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设置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592568" y="4904232"/>
            <a:ext cx="685800" cy="457200"/>
          </a:xfrm>
          <a:custGeom>
            <a:avLst/>
            <a:gdLst/>
            <a:ahLst/>
            <a:cxnLst/>
            <a:rect l="l" t="t" r="r" b="b"/>
            <a:pathLst>
              <a:path w="6858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609600" y="0"/>
                </a:lnTo>
                <a:lnTo>
                  <a:pt x="639240" y="5994"/>
                </a:lnTo>
                <a:lnTo>
                  <a:pt x="663463" y="22336"/>
                </a:lnTo>
                <a:lnTo>
                  <a:pt x="679805" y="46559"/>
                </a:lnTo>
                <a:lnTo>
                  <a:pt x="685800" y="76200"/>
                </a:lnTo>
                <a:lnTo>
                  <a:pt x="685800" y="381000"/>
                </a:lnTo>
                <a:lnTo>
                  <a:pt x="679805" y="410640"/>
                </a:lnTo>
                <a:lnTo>
                  <a:pt x="663463" y="434863"/>
                </a:lnTo>
                <a:lnTo>
                  <a:pt x="639240" y="451205"/>
                </a:lnTo>
                <a:lnTo>
                  <a:pt x="6096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694168" y="4955540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复位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620767" y="4523232"/>
            <a:ext cx="1524000" cy="457200"/>
          </a:xfrm>
          <a:custGeom>
            <a:avLst/>
            <a:gdLst/>
            <a:ahLst/>
            <a:cxnLst/>
            <a:rect l="l" t="t" r="r" b="b"/>
            <a:pathLst>
              <a:path w="15240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447800" y="0"/>
                </a:lnTo>
                <a:lnTo>
                  <a:pt x="1477440" y="5994"/>
                </a:lnTo>
                <a:lnTo>
                  <a:pt x="1501663" y="22336"/>
                </a:lnTo>
                <a:lnTo>
                  <a:pt x="1518005" y="46559"/>
                </a:lnTo>
                <a:lnTo>
                  <a:pt x="1524000" y="76200"/>
                </a:lnTo>
                <a:lnTo>
                  <a:pt x="1524000" y="381000"/>
                </a:lnTo>
                <a:lnTo>
                  <a:pt x="1518005" y="410640"/>
                </a:lnTo>
                <a:lnTo>
                  <a:pt x="1501663" y="434863"/>
                </a:lnTo>
                <a:lnTo>
                  <a:pt x="1477440" y="451205"/>
                </a:lnTo>
                <a:lnTo>
                  <a:pt x="14478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722114" y="4574540"/>
            <a:ext cx="1261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d</a:t>
            </a:r>
            <a:r>
              <a:rPr sz="1600" b="1" dirty="0">
                <a:latin typeface="Times New Roman"/>
                <a:cs typeface="Times New Roman"/>
              </a:rPr>
              <a:t>o</a:t>
            </a:r>
            <a:r>
              <a:rPr sz="1600" b="1" spc="-5" dirty="0">
                <a:latin typeface="宋体"/>
                <a:cs typeface="宋体"/>
              </a:rPr>
              <a:t>：支付现金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620767" y="5437632"/>
            <a:ext cx="1447800" cy="457200"/>
          </a:xfrm>
          <a:custGeom>
            <a:avLst/>
            <a:gdLst/>
            <a:ahLst/>
            <a:cxnLst/>
            <a:rect l="l" t="t" r="r" b="b"/>
            <a:pathLst>
              <a:path w="14478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371600" y="0"/>
                </a:lnTo>
                <a:lnTo>
                  <a:pt x="1401240" y="5994"/>
                </a:lnTo>
                <a:lnTo>
                  <a:pt x="1425463" y="22336"/>
                </a:lnTo>
                <a:lnTo>
                  <a:pt x="1441805" y="46559"/>
                </a:lnTo>
                <a:lnTo>
                  <a:pt x="1447800" y="76200"/>
                </a:lnTo>
                <a:lnTo>
                  <a:pt x="1447800" y="381000"/>
                </a:lnTo>
                <a:lnTo>
                  <a:pt x="1441805" y="410662"/>
                </a:lnTo>
                <a:lnTo>
                  <a:pt x="1425463" y="434882"/>
                </a:lnTo>
                <a:lnTo>
                  <a:pt x="1401240" y="451212"/>
                </a:lnTo>
                <a:lnTo>
                  <a:pt x="1371600" y="457200"/>
                </a:lnTo>
                <a:lnTo>
                  <a:pt x="76200" y="457200"/>
                </a:lnTo>
                <a:lnTo>
                  <a:pt x="46559" y="451212"/>
                </a:lnTo>
                <a:lnTo>
                  <a:pt x="22336" y="434882"/>
                </a:lnTo>
                <a:lnTo>
                  <a:pt x="5994" y="410662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020567" y="4980432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04335" y="4663566"/>
            <a:ext cx="916940" cy="323215"/>
          </a:xfrm>
          <a:custGeom>
            <a:avLst/>
            <a:gdLst/>
            <a:ahLst/>
            <a:cxnLst/>
            <a:rect l="l" t="t" r="r" b="b"/>
            <a:pathLst>
              <a:path w="916939" h="323214">
                <a:moveTo>
                  <a:pt x="842178" y="30169"/>
                </a:moveTo>
                <a:lnTo>
                  <a:pt x="0" y="310895"/>
                </a:lnTo>
                <a:lnTo>
                  <a:pt x="4063" y="322833"/>
                </a:lnTo>
                <a:lnTo>
                  <a:pt x="846197" y="42206"/>
                </a:lnTo>
                <a:lnTo>
                  <a:pt x="842178" y="30169"/>
                </a:lnTo>
                <a:close/>
              </a:path>
              <a:path w="916939" h="323214">
                <a:moveTo>
                  <a:pt x="902334" y="26161"/>
                </a:moveTo>
                <a:lnTo>
                  <a:pt x="854201" y="26161"/>
                </a:lnTo>
                <a:lnTo>
                  <a:pt x="858138" y="38226"/>
                </a:lnTo>
                <a:lnTo>
                  <a:pt x="846197" y="42206"/>
                </a:lnTo>
                <a:lnTo>
                  <a:pt x="856234" y="72262"/>
                </a:lnTo>
                <a:lnTo>
                  <a:pt x="902334" y="26161"/>
                </a:lnTo>
                <a:close/>
              </a:path>
              <a:path w="916939" h="323214">
                <a:moveTo>
                  <a:pt x="854201" y="26161"/>
                </a:moveTo>
                <a:lnTo>
                  <a:pt x="842178" y="30169"/>
                </a:lnTo>
                <a:lnTo>
                  <a:pt x="846197" y="42206"/>
                </a:lnTo>
                <a:lnTo>
                  <a:pt x="858138" y="38226"/>
                </a:lnTo>
                <a:lnTo>
                  <a:pt x="854201" y="26161"/>
                </a:lnTo>
                <a:close/>
              </a:path>
              <a:path w="916939" h="323214">
                <a:moveTo>
                  <a:pt x="832103" y="0"/>
                </a:moveTo>
                <a:lnTo>
                  <a:pt x="842178" y="30169"/>
                </a:lnTo>
                <a:lnTo>
                  <a:pt x="854201" y="26161"/>
                </a:lnTo>
                <a:lnTo>
                  <a:pt x="902334" y="26161"/>
                </a:lnTo>
                <a:lnTo>
                  <a:pt x="916431" y="12064"/>
                </a:lnTo>
                <a:lnTo>
                  <a:pt x="8321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702558" y="4975352"/>
            <a:ext cx="918210" cy="690880"/>
          </a:xfrm>
          <a:custGeom>
            <a:avLst/>
            <a:gdLst/>
            <a:ahLst/>
            <a:cxnLst/>
            <a:rect l="l" t="t" r="r" b="b"/>
            <a:pathLst>
              <a:path w="918210" h="690879">
                <a:moveTo>
                  <a:pt x="853439" y="650240"/>
                </a:moveTo>
                <a:lnTo>
                  <a:pt x="834389" y="675640"/>
                </a:lnTo>
                <a:lnTo>
                  <a:pt x="918209" y="690880"/>
                </a:lnTo>
                <a:lnTo>
                  <a:pt x="901699" y="657860"/>
                </a:lnTo>
                <a:lnTo>
                  <a:pt x="863600" y="657860"/>
                </a:lnTo>
                <a:lnTo>
                  <a:pt x="853439" y="650240"/>
                </a:lnTo>
                <a:close/>
              </a:path>
              <a:path w="918210" h="690879">
                <a:moveTo>
                  <a:pt x="861059" y="640080"/>
                </a:moveTo>
                <a:lnTo>
                  <a:pt x="853439" y="650240"/>
                </a:lnTo>
                <a:lnTo>
                  <a:pt x="863600" y="657860"/>
                </a:lnTo>
                <a:lnTo>
                  <a:pt x="871219" y="647700"/>
                </a:lnTo>
                <a:lnTo>
                  <a:pt x="861059" y="640080"/>
                </a:lnTo>
                <a:close/>
              </a:path>
              <a:path w="918210" h="690879">
                <a:moveTo>
                  <a:pt x="880109" y="614680"/>
                </a:moveTo>
                <a:lnTo>
                  <a:pt x="861059" y="640080"/>
                </a:lnTo>
                <a:lnTo>
                  <a:pt x="871219" y="647700"/>
                </a:lnTo>
                <a:lnTo>
                  <a:pt x="863600" y="657860"/>
                </a:lnTo>
                <a:lnTo>
                  <a:pt x="901699" y="657860"/>
                </a:lnTo>
                <a:lnTo>
                  <a:pt x="880109" y="614680"/>
                </a:lnTo>
                <a:close/>
              </a:path>
              <a:path w="918210" h="690879">
                <a:moveTo>
                  <a:pt x="7619" y="0"/>
                </a:moveTo>
                <a:lnTo>
                  <a:pt x="0" y="10160"/>
                </a:lnTo>
                <a:lnTo>
                  <a:pt x="853439" y="650240"/>
                </a:lnTo>
                <a:lnTo>
                  <a:pt x="861059" y="640080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906768" y="5094732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09600" y="0"/>
                </a:moveTo>
                <a:lnTo>
                  <a:pt x="609600" y="76200"/>
                </a:lnTo>
                <a:lnTo>
                  <a:pt x="673100" y="44450"/>
                </a:lnTo>
                <a:lnTo>
                  <a:pt x="622300" y="44450"/>
                </a:lnTo>
                <a:lnTo>
                  <a:pt x="622300" y="31750"/>
                </a:lnTo>
                <a:lnTo>
                  <a:pt x="673100" y="31750"/>
                </a:lnTo>
                <a:lnTo>
                  <a:pt x="609600" y="0"/>
                </a:lnTo>
                <a:close/>
              </a:path>
              <a:path w="685800" h="76200">
                <a:moveTo>
                  <a:pt x="609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09600" y="44450"/>
                </a:lnTo>
                <a:lnTo>
                  <a:pt x="609600" y="31750"/>
                </a:lnTo>
                <a:close/>
              </a:path>
              <a:path w="685800" h="76200">
                <a:moveTo>
                  <a:pt x="673100" y="31750"/>
                </a:moveTo>
                <a:lnTo>
                  <a:pt x="622300" y="31750"/>
                </a:lnTo>
                <a:lnTo>
                  <a:pt x="622300" y="44450"/>
                </a:lnTo>
                <a:lnTo>
                  <a:pt x="673100" y="44450"/>
                </a:lnTo>
                <a:lnTo>
                  <a:pt x="685800" y="38100"/>
                </a:lnTo>
                <a:lnTo>
                  <a:pt x="673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44767" y="4751832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0"/>
                </a:moveTo>
                <a:lnTo>
                  <a:pt x="76200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068567" y="5132832"/>
            <a:ext cx="838200" cy="533400"/>
          </a:xfrm>
          <a:custGeom>
            <a:avLst/>
            <a:gdLst/>
            <a:ahLst/>
            <a:cxnLst/>
            <a:rect l="l" t="t" r="r" b="b"/>
            <a:pathLst>
              <a:path w="838200" h="533400">
                <a:moveTo>
                  <a:pt x="0" y="53340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011167" y="5132832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011167" y="4370832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318508" y="4094734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分发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6833743" y="4627829"/>
            <a:ext cx="8426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取走现金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722114" y="5314315"/>
            <a:ext cx="2826385" cy="443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0275">
              <a:lnSpc>
                <a:spcPts val="1645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取走卡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ts val="1650"/>
              </a:lnSpc>
            </a:pPr>
            <a:r>
              <a:rPr sz="1600" b="1" dirty="0">
                <a:latin typeface="Times New Roman"/>
                <a:cs typeface="Times New Roman"/>
              </a:rPr>
              <a:t>do</a:t>
            </a:r>
            <a:r>
              <a:rPr sz="1600" b="1" dirty="0">
                <a:latin typeface="宋体"/>
                <a:cs typeface="宋体"/>
              </a:rPr>
              <a:t>：</a:t>
            </a:r>
            <a:r>
              <a:rPr sz="1600" b="1" spc="-5" dirty="0">
                <a:latin typeface="宋体"/>
                <a:cs typeface="宋体"/>
              </a:rPr>
              <a:t>弹出卡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099307" y="4704029"/>
            <a:ext cx="638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准备好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339" y="974216"/>
            <a:ext cx="2733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顺序子状态例：</a:t>
            </a:r>
            <a:r>
              <a:rPr sz="2400" spc="-365" dirty="0">
                <a:latin typeface="宋体"/>
                <a:cs typeface="宋体"/>
              </a:rPr>
              <a:t> </a:t>
            </a:r>
            <a:r>
              <a:rPr sz="2400" b="1" spc="-7" baseline="-15625" dirty="0">
                <a:latin typeface="宋体"/>
                <a:cs typeface="宋体"/>
              </a:rPr>
              <a:t>传动</a:t>
            </a:r>
            <a:endParaRPr sz="2400" baseline="-15625">
              <a:latin typeface="宋体"/>
              <a:cs typeface="宋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6171" y="3990213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并发子状态例：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xfrm>
            <a:off x="2081910" y="89738"/>
            <a:ext cx="5100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状态图的结构表示示例</a:t>
            </a:r>
            <a:endParaRPr sz="4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644" y="935841"/>
            <a:ext cx="7189470" cy="5059680"/>
          </a:xfrm>
          <a:prstGeom prst="rect">
            <a:avLst/>
          </a:prstGeom>
        </p:spPr>
        <p:txBody>
          <a:bodyPr vert="horz" wrap="square" lIns="0" tIns="2273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2800" spc="-5" dirty="0">
                <a:latin typeface="宋体"/>
                <a:cs typeface="宋体"/>
              </a:rPr>
              <a:t>建立策略：</a:t>
            </a:r>
            <a:endParaRPr sz="28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1460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考虑某对象在特定语境中的交互行为；</a:t>
            </a:r>
            <a:endParaRPr sz="24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建立初始状态和终止状态；</a:t>
            </a:r>
            <a:endParaRPr sz="24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从属性值的范围和条件考虑对象所在的稳定状态；</a:t>
            </a:r>
            <a:endParaRPr sz="2400">
              <a:latin typeface="宋体"/>
              <a:cs typeface="宋体"/>
            </a:endParaRPr>
          </a:p>
          <a:p>
            <a:pPr marL="470534" indent="-458470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rabicPlain"/>
              <a:tabLst>
                <a:tab pos="471170" algn="l"/>
              </a:tabLst>
            </a:pPr>
            <a:r>
              <a:rPr sz="2400" spc="-5" dirty="0">
                <a:latin typeface="宋体"/>
                <a:cs typeface="宋体"/>
              </a:rPr>
              <a:t>从对象的生命期开始，确定状态转换；</a:t>
            </a:r>
            <a:endParaRPr sz="24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决定对象可能响应的事件；</a:t>
            </a:r>
            <a:endParaRPr sz="24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用事件连接状态，给出事件名称、条件和动作。</a:t>
            </a:r>
            <a:endParaRPr sz="2400">
              <a:latin typeface="宋体"/>
              <a:cs typeface="宋体"/>
            </a:endParaRPr>
          </a:p>
          <a:p>
            <a:pPr marL="470534" indent="-458470">
              <a:lnSpc>
                <a:spcPct val="100000"/>
              </a:lnSpc>
              <a:spcBef>
                <a:spcPts val="1440"/>
              </a:spcBef>
              <a:buSzPct val="95833"/>
              <a:buFont typeface="Times New Roman"/>
              <a:buAutoNum type="arabicPlain"/>
              <a:tabLst>
                <a:tab pos="471170" algn="l"/>
              </a:tabLst>
            </a:pPr>
            <a:r>
              <a:rPr sz="2400" spc="-5" dirty="0">
                <a:latin typeface="宋体"/>
                <a:cs typeface="宋体"/>
              </a:rPr>
              <a:t>描绘各状态进入或退出的动作及保持状态的动作。</a:t>
            </a:r>
            <a:endParaRPr sz="24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1445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从对象高层状态描绘可能的子状态</a:t>
            </a:r>
            <a:r>
              <a:rPr sz="2400" spc="5" dirty="0">
                <a:latin typeface="宋体"/>
                <a:cs typeface="宋体"/>
              </a:rPr>
              <a:t>（</a:t>
            </a:r>
            <a:r>
              <a:rPr sz="2400" dirty="0">
                <a:latin typeface="宋体"/>
                <a:cs typeface="宋体"/>
              </a:rPr>
              <a:t>必要的时候）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0500" y="76961"/>
            <a:ext cx="368490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状态图的建立</a:t>
            </a:r>
            <a:endParaRPr sz="4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</a:t>
            </a:r>
            <a:r>
              <a:rPr spc="5" dirty="0"/>
              <a:t>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</a:t>
            </a:r>
            <a:r>
              <a:rPr spc="-5" dirty="0"/>
              <a:t>模</a:t>
            </a:r>
            <a:r>
              <a:rPr spc="-5" dirty="0">
                <a:latin typeface="Calibri"/>
                <a:cs typeface="Calibri"/>
              </a:rPr>
              <a:t>(4)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75" y="665603"/>
            <a:ext cx="3250565" cy="55860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动态模型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2.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宋体"/>
                <a:cs typeface="宋体"/>
              </a:rPr>
              <a:t>顺序图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2.1.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顺序图概念与表示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2.2.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顺序图的建立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3.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协作图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3.1.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协作图概念与表示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3.2.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协作图的用途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4.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状态图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4.1.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状态图概念与表示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4.2.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状态图的建立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5.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活动图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5.1.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活动图概念与表示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5.2.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活动图应用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6.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建立动态模型示例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950" y="114045"/>
            <a:ext cx="45027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活动图概念与表示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260800"/>
            <a:ext cx="7587615" cy="473392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930"/>
              </a:spcBef>
            </a:pPr>
            <a:r>
              <a:rPr sz="2800" b="1" spc="-10" dirty="0">
                <a:latin typeface="宋体"/>
                <a:cs typeface="宋体"/>
              </a:rPr>
              <a:t>活动</a:t>
            </a:r>
            <a:r>
              <a:rPr sz="2800" b="1" spc="-5" dirty="0">
                <a:latin typeface="宋体"/>
                <a:cs typeface="宋体"/>
              </a:rPr>
              <a:t>图</a:t>
            </a:r>
            <a:r>
              <a:rPr sz="2000" b="1" spc="-5" dirty="0">
                <a:latin typeface="Arial"/>
                <a:cs typeface="Arial"/>
              </a:rPr>
              <a:t>Activity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Diagram</a:t>
            </a:r>
            <a:r>
              <a:rPr sz="2800" b="1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48895" marR="70485">
              <a:lnSpc>
                <a:spcPts val="3200"/>
              </a:lnSpc>
              <a:spcBef>
                <a:spcPts val="1070"/>
              </a:spcBef>
            </a:pPr>
            <a:r>
              <a:rPr sz="2800" spc="-5" dirty="0">
                <a:latin typeface="宋体"/>
                <a:cs typeface="宋体"/>
              </a:rPr>
              <a:t>描述系统的工作流程和并发行为，</a:t>
            </a:r>
            <a:r>
              <a:rPr sz="2800" dirty="0">
                <a:latin typeface="宋体"/>
                <a:cs typeface="宋体"/>
              </a:rPr>
              <a:t>与</a:t>
            </a:r>
            <a:r>
              <a:rPr sz="2800" spc="-5" dirty="0">
                <a:latin typeface="宋体"/>
                <a:cs typeface="宋体"/>
              </a:rPr>
              <a:t>状态</a:t>
            </a:r>
            <a:r>
              <a:rPr sz="2800" dirty="0">
                <a:latin typeface="宋体"/>
                <a:cs typeface="宋体"/>
              </a:rPr>
              <a:t>图</a:t>
            </a:r>
            <a:r>
              <a:rPr sz="2800" spc="-5" dirty="0">
                <a:latin typeface="宋体"/>
                <a:cs typeface="宋体"/>
              </a:rPr>
              <a:t>相比 它强调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流程的控制</a:t>
            </a:r>
            <a:r>
              <a:rPr sz="2800" spc="-5" dirty="0">
                <a:latin typeface="宋体"/>
                <a:cs typeface="宋体"/>
              </a:rPr>
              <a:t>而不是状态在事</a:t>
            </a:r>
            <a:r>
              <a:rPr sz="2800" dirty="0">
                <a:latin typeface="宋体"/>
                <a:cs typeface="宋体"/>
              </a:rPr>
              <a:t>件</a:t>
            </a:r>
            <a:r>
              <a:rPr sz="2800" spc="-5" dirty="0">
                <a:latin typeface="宋体"/>
                <a:cs typeface="宋体"/>
              </a:rPr>
              <a:t>下的</a:t>
            </a:r>
            <a:r>
              <a:rPr sz="2800" dirty="0">
                <a:latin typeface="宋体"/>
                <a:cs typeface="宋体"/>
              </a:rPr>
              <a:t>变</a:t>
            </a:r>
            <a:r>
              <a:rPr sz="2800" spc="-5" dirty="0">
                <a:latin typeface="宋体"/>
                <a:cs typeface="宋体"/>
              </a:rPr>
              <a:t>化。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latin typeface="宋体"/>
                <a:cs typeface="宋体"/>
              </a:rPr>
              <a:t>活动图的作</a:t>
            </a:r>
            <a:r>
              <a:rPr sz="2800" b="1" spc="-15" dirty="0">
                <a:latin typeface="宋体"/>
                <a:cs typeface="宋体"/>
              </a:rPr>
              <a:t>用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469900" marR="5080" indent="-457834">
              <a:lnSpc>
                <a:spcPts val="3220"/>
              </a:lnSpc>
              <a:spcBef>
                <a:spcPts val="2050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2800" spc="-5" dirty="0">
                <a:latin typeface="宋体"/>
                <a:cs typeface="宋体"/>
              </a:rPr>
              <a:t>描</a:t>
            </a:r>
            <a:r>
              <a:rPr sz="2800" spc="-10" dirty="0">
                <a:latin typeface="宋体"/>
                <a:cs typeface="宋体"/>
              </a:rPr>
              <a:t>述</a:t>
            </a:r>
            <a:r>
              <a:rPr sz="2800" spc="-5" dirty="0">
                <a:solidFill>
                  <a:srgbClr val="00A361"/>
                </a:solidFill>
                <a:latin typeface="宋体"/>
                <a:cs typeface="宋体"/>
              </a:rPr>
              <a:t>业务过程</a:t>
            </a:r>
            <a:r>
              <a:rPr sz="2800" spc="-5" dirty="0">
                <a:latin typeface="宋体"/>
                <a:cs typeface="宋体"/>
              </a:rPr>
              <a:t>，特别能较好地表示</a:t>
            </a:r>
            <a:r>
              <a:rPr sz="2800" dirty="0">
                <a:latin typeface="宋体"/>
                <a:cs typeface="宋体"/>
              </a:rPr>
              <a:t>并</a:t>
            </a:r>
            <a:r>
              <a:rPr sz="2800" spc="-5" dirty="0">
                <a:latin typeface="宋体"/>
                <a:cs typeface="宋体"/>
              </a:rPr>
              <a:t>发流</a:t>
            </a:r>
            <a:r>
              <a:rPr sz="2800" dirty="0">
                <a:latin typeface="宋体"/>
                <a:cs typeface="宋体"/>
              </a:rPr>
              <a:t>程</a:t>
            </a:r>
            <a:r>
              <a:rPr sz="2800" spc="-5" dirty="0">
                <a:latin typeface="宋体"/>
                <a:cs typeface="宋体"/>
              </a:rPr>
              <a:t>， 帮助理解涉及多个用况的工作流程</a:t>
            </a:r>
            <a:endParaRPr sz="2800">
              <a:latin typeface="宋体"/>
              <a:cs typeface="宋体"/>
            </a:endParaRPr>
          </a:p>
          <a:p>
            <a:pPr marL="469900" indent="-457834">
              <a:lnSpc>
                <a:spcPct val="100000"/>
              </a:lnSpc>
              <a:spcBef>
                <a:spcPts val="1595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2800" spc="-5" dirty="0">
                <a:latin typeface="宋体"/>
                <a:cs typeface="宋体"/>
              </a:rPr>
              <a:t>描</a:t>
            </a:r>
            <a:r>
              <a:rPr sz="2800" spc="-10" dirty="0">
                <a:latin typeface="宋体"/>
                <a:cs typeface="宋体"/>
              </a:rPr>
              <a:t>述</a:t>
            </a:r>
            <a:r>
              <a:rPr sz="2800" spc="-5" dirty="0">
                <a:solidFill>
                  <a:srgbClr val="00A361"/>
                </a:solidFill>
                <a:latin typeface="宋体"/>
                <a:cs typeface="宋体"/>
              </a:rPr>
              <a:t>具体操作算法</a:t>
            </a:r>
            <a:r>
              <a:rPr sz="2800" spc="-5" dirty="0">
                <a:latin typeface="宋体"/>
                <a:cs typeface="宋体"/>
              </a:rPr>
              <a:t>，与程序框图有</a:t>
            </a:r>
            <a:r>
              <a:rPr sz="2800" dirty="0">
                <a:latin typeface="宋体"/>
                <a:cs typeface="宋体"/>
              </a:rPr>
              <a:t>相</a:t>
            </a:r>
            <a:r>
              <a:rPr sz="2800" spc="-5" dirty="0">
                <a:latin typeface="宋体"/>
                <a:cs typeface="宋体"/>
              </a:rPr>
              <a:t>同的</a:t>
            </a:r>
            <a:r>
              <a:rPr sz="2800" dirty="0">
                <a:latin typeface="宋体"/>
                <a:cs typeface="宋体"/>
              </a:rPr>
              <a:t>作</a:t>
            </a:r>
            <a:r>
              <a:rPr sz="2800" spc="-5" dirty="0">
                <a:latin typeface="宋体"/>
                <a:cs typeface="宋体"/>
              </a:rPr>
              <a:t>用</a:t>
            </a:r>
            <a:endParaRPr sz="2800">
              <a:latin typeface="宋体"/>
              <a:cs typeface="宋体"/>
            </a:endParaRPr>
          </a:p>
          <a:p>
            <a:pPr marL="48895">
              <a:lnSpc>
                <a:spcPct val="100000"/>
              </a:lnSpc>
              <a:spcBef>
                <a:spcPts val="2655"/>
              </a:spcBef>
            </a:pPr>
            <a:r>
              <a:rPr sz="2800" spc="-5" dirty="0">
                <a:latin typeface="宋体"/>
                <a:cs typeface="宋体"/>
              </a:rPr>
              <a:t>活动图的概念接近结构化方法的流</a:t>
            </a:r>
            <a:r>
              <a:rPr sz="2800" dirty="0">
                <a:latin typeface="宋体"/>
                <a:cs typeface="宋体"/>
              </a:rPr>
              <a:t>程</a:t>
            </a:r>
            <a:r>
              <a:rPr sz="2800" spc="-5" dirty="0">
                <a:latin typeface="宋体"/>
                <a:cs typeface="宋体"/>
              </a:rPr>
              <a:t>图思</a:t>
            </a:r>
            <a:r>
              <a:rPr sz="2800" dirty="0">
                <a:latin typeface="宋体"/>
                <a:cs typeface="宋体"/>
              </a:rPr>
              <a:t>想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5967" y="937412"/>
            <a:ext cx="5177155" cy="450659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800" spc="-5" dirty="0">
                <a:latin typeface="宋体"/>
                <a:cs typeface="宋体"/>
              </a:rPr>
              <a:t>包括：</a:t>
            </a:r>
            <a:endParaRPr sz="2800">
              <a:latin typeface="宋体"/>
              <a:cs typeface="宋体"/>
            </a:endParaRPr>
          </a:p>
          <a:p>
            <a:pPr marL="546735" indent="-534035">
              <a:lnSpc>
                <a:spcPct val="100000"/>
              </a:lnSpc>
              <a:spcBef>
                <a:spcPts val="1680"/>
              </a:spcBef>
              <a:buSzPct val="96428"/>
              <a:buFont typeface="Times New Roman"/>
              <a:buAutoNum type="arabicPlain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活动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spc="-5" dirty="0">
                <a:latin typeface="宋体"/>
                <a:cs typeface="宋体"/>
              </a:rPr>
              <a:t>流程中的任务执行单元</a:t>
            </a:r>
            <a:endParaRPr sz="2800">
              <a:latin typeface="宋体"/>
              <a:cs typeface="宋体"/>
            </a:endParaRPr>
          </a:p>
          <a:p>
            <a:pPr marL="546735" indent="-534035">
              <a:lnSpc>
                <a:spcPct val="100000"/>
              </a:lnSpc>
              <a:spcBef>
                <a:spcPts val="1680"/>
              </a:spcBef>
              <a:buSzPct val="96428"/>
              <a:buFont typeface="Times New Roman"/>
              <a:buAutoNum type="arabicPlain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泳道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spc="-5" dirty="0">
                <a:latin typeface="宋体"/>
                <a:cs typeface="宋体"/>
              </a:rPr>
              <a:t>活动的区域划分</a:t>
            </a:r>
            <a:endParaRPr sz="2800">
              <a:latin typeface="宋体"/>
              <a:cs typeface="宋体"/>
            </a:endParaRPr>
          </a:p>
          <a:p>
            <a:pPr marL="546735" indent="-534035">
              <a:lnSpc>
                <a:spcPct val="100000"/>
              </a:lnSpc>
              <a:spcBef>
                <a:spcPts val="1680"/>
              </a:spcBef>
              <a:buSzPct val="96428"/>
              <a:buFont typeface="Times New Roman"/>
              <a:buAutoNum type="arabicPlain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分支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spc="-5" dirty="0">
                <a:latin typeface="宋体"/>
                <a:cs typeface="宋体"/>
              </a:rPr>
              <a:t>活动转向的分支</a:t>
            </a:r>
            <a:endParaRPr sz="2800">
              <a:latin typeface="宋体"/>
              <a:cs typeface="宋体"/>
            </a:endParaRPr>
          </a:p>
          <a:p>
            <a:pPr marL="546735" indent="-534035">
              <a:lnSpc>
                <a:spcPct val="100000"/>
              </a:lnSpc>
              <a:spcBef>
                <a:spcPts val="1685"/>
              </a:spcBef>
              <a:buSzPct val="96428"/>
              <a:buFont typeface="Times New Roman"/>
              <a:buAutoNum type="arabicPlain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分叉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宋体"/>
                <a:cs typeface="宋体"/>
              </a:rPr>
              <a:t>并发控制流的分支</a:t>
            </a:r>
            <a:endParaRPr sz="2800">
              <a:latin typeface="宋体"/>
              <a:cs typeface="宋体"/>
            </a:endParaRPr>
          </a:p>
          <a:p>
            <a:pPr marL="546735" indent="-534035">
              <a:lnSpc>
                <a:spcPct val="100000"/>
              </a:lnSpc>
              <a:spcBef>
                <a:spcPts val="1680"/>
              </a:spcBef>
              <a:buSzPct val="96428"/>
              <a:buFont typeface="Times New Roman"/>
              <a:buAutoNum type="arabicPlain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汇合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spc="-5" dirty="0">
                <a:latin typeface="宋体"/>
                <a:cs typeface="宋体"/>
              </a:rPr>
              <a:t>分叉后的合并</a:t>
            </a:r>
            <a:endParaRPr sz="2800">
              <a:latin typeface="宋体"/>
              <a:cs typeface="宋体"/>
            </a:endParaRPr>
          </a:p>
          <a:p>
            <a:pPr marL="546735" indent="-534670">
              <a:lnSpc>
                <a:spcPct val="100000"/>
              </a:lnSpc>
              <a:spcBef>
                <a:spcPts val="1680"/>
              </a:spcBef>
              <a:buSzPct val="96428"/>
              <a:buFont typeface="Times New Roman"/>
              <a:buAutoNum type="arabicPlain"/>
              <a:tabLst>
                <a:tab pos="547370" algn="l"/>
              </a:tabLst>
            </a:pPr>
            <a:r>
              <a:rPr sz="2800" spc="-10" dirty="0">
                <a:latin typeface="宋体"/>
                <a:cs typeface="宋体"/>
              </a:rPr>
              <a:t>对象</a:t>
            </a:r>
            <a:r>
              <a:rPr sz="2800" spc="-5" dirty="0">
                <a:latin typeface="宋体"/>
                <a:cs typeface="宋体"/>
              </a:rPr>
              <a:t>流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spc="-10" dirty="0">
                <a:latin typeface="宋体"/>
                <a:cs typeface="宋体"/>
              </a:rPr>
              <a:t>活动图中的控制流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05352" y="179958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活动图元素</a:t>
            </a:r>
            <a:endParaRPr sz="4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48553" y="2250185"/>
            <a:ext cx="1377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Calculate </a:t>
            </a:r>
            <a:r>
              <a:rPr sz="1200" spc="-25" dirty="0">
                <a:latin typeface="Arial"/>
                <a:cs typeface="Arial"/>
              </a:rPr>
              <a:t>Total</a:t>
            </a:r>
            <a:r>
              <a:rPr sz="1200" spc="-1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1692" y="1312874"/>
            <a:ext cx="4394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800" spc="-10" dirty="0">
                <a:latin typeface="宋体"/>
                <a:cs typeface="宋体"/>
              </a:rPr>
              <a:t>活动图中的“活动</a:t>
            </a:r>
            <a:r>
              <a:rPr sz="2800" spc="-5" dirty="0">
                <a:latin typeface="宋体"/>
                <a:cs typeface="宋体"/>
              </a:rPr>
              <a:t>”</a:t>
            </a:r>
            <a:r>
              <a:rPr sz="2800" spc="-605" dirty="0">
                <a:latin typeface="宋体"/>
                <a:cs typeface="宋体"/>
              </a:rPr>
              <a:t> </a:t>
            </a:r>
            <a:r>
              <a:rPr sz="2000" spc="-85" dirty="0">
                <a:latin typeface="Arial"/>
                <a:cs typeface="Arial"/>
              </a:rPr>
              <a:t>Activity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1692" y="1776592"/>
            <a:ext cx="3998595" cy="1268730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2800" spc="-5" dirty="0">
                <a:latin typeface="宋体"/>
                <a:cs typeface="宋体"/>
              </a:rPr>
              <a:t>包括：动作状态</a:t>
            </a:r>
            <a:r>
              <a:rPr sz="2000" dirty="0">
                <a:latin typeface="Arial"/>
                <a:cs typeface="Arial"/>
              </a:rPr>
              <a:t>Action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State</a:t>
            </a:r>
            <a:endParaRPr sz="2000">
              <a:latin typeface="Arial"/>
              <a:cs typeface="Arial"/>
            </a:endParaRPr>
          </a:p>
          <a:p>
            <a:pPr marL="1094105">
              <a:lnSpc>
                <a:spcPct val="100000"/>
              </a:lnSpc>
              <a:spcBef>
                <a:spcPts val="1540"/>
              </a:spcBef>
            </a:pPr>
            <a:r>
              <a:rPr sz="2800" spc="-5" dirty="0">
                <a:latin typeface="宋体"/>
                <a:cs typeface="宋体"/>
              </a:rPr>
              <a:t>活动状</a:t>
            </a:r>
            <a:r>
              <a:rPr sz="2800" spc="-15" dirty="0">
                <a:latin typeface="宋体"/>
                <a:cs typeface="宋体"/>
              </a:rPr>
              <a:t>态</a:t>
            </a:r>
            <a:r>
              <a:rPr sz="2000" spc="-5" dirty="0">
                <a:latin typeface="Arial"/>
                <a:cs typeface="Arial"/>
              </a:rPr>
              <a:t>Activity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State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68923" y="2150364"/>
            <a:ext cx="288290" cy="431800"/>
          </a:xfrm>
          <a:custGeom>
            <a:avLst/>
            <a:gdLst/>
            <a:ahLst/>
            <a:cxnLst/>
            <a:rect l="l" t="t" r="r" b="b"/>
            <a:pathLst>
              <a:path w="288289" h="431800">
                <a:moveTo>
                  <a:pt x="288036" y="0"/>
                </a:moveTo>
                <a:lnTo>
                  <a:pt x="236247" y="3477"/>
                </a:lnTo>
                <a:lnTo>
                  <a:pt x="187509" y="13505"/>
                </a:lnTo>
                <a:lnTo>
                  <a:pt x="142635" y="29473"/>
                </a:lnTo>
                <a:lnTo>
                  <a:pt x="102436" y="50772"/>
                </a:lnTo>
                <a:lnTo>
                  <a:pt x="67724" y="76792"/>
                </a:lnTo>
                <a:lnTo>
                  <a:pt x="39313" y="106924"/>
                </a:lnTo>
                <a:lnTo>
                  <a:pt x="18014" y="140559"/>
                </a:lnTo>
                <a:lnTo>
                  <a:pt x="4638" y="177087"/>
                </a:lnTo>
                <a:lnTo>
                  <a:pt x="0" y="215900"/>
                </a:lnTo>
                <a:lnTo>
                  <a:pt x="5275" y="257216"/>
                </a:lnTo>
                <a:lnTo>
                  <a:pt x="20462" y="295971"/>
                </a:lnTo>
                <a:lnTo>
                  <a:pt x="44603" y="331389"/>
                </a:lnTo>
                <a:lnTo>
                  <a:pt x="76739" y="362696"/>
                </a:lnTo>
                <a:lnTo>
                  <a:pt x="115912" y="389114"/>
                </a:lnTo>
                <a:lnTo>
                  <a:pt x="161162" y="409870"/>
                </a:lnTo>
                <a:lnTo>
                  <a:pt x="211533" y="424188"/>
                </a:lnTo>
                <a:lnTo>
                  <a:pt x="266064" y="4312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56959" y="2150364"/>
            <a:ext cx="935990" cy="0"/>
          </a:xfrm>
          <a:custGeom>
            <a:avLst/>
            <a:gdLst/>
            <a:ahLst/>
            <a:cxnLst/>
            <a:rect l="l" t="t" r="r" b="b"/>
            <a:pathLst>
              <a:path w="935990">
                <a:moveTo>
                  <a:pt x="0" y="0"/>
                </a:moveTo>
                <a:lnTo>
                  <a:pt x="9357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5332" y="2581655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5">
                <a:moveTo>
                  <a:pt x="0" y="0"/>
                </a:moveTo>
                <a:lnTo>
                  <a:pt x="10073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65264" y="2151888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29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1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6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1692" y="3347669"/>
            <a:ext cx="7484745" cy="2534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SzPct val="96428"/>
              <a:buFont typeface="Arial"/>
              <a:buChar char="•"/>
              <a:tabLst>
                <a:tab pos="137795" algn="l"/>
              </a:tabLst>
            </a:pPr>
            <a:r>
              <a:rPr sz="2800" spc="-10" dirty="0">
                <a:solidFill>
                  <a:srgbClr val="00663B"/>
                </a:solidFill>
                <a:latin typeface="宋体"/>
                <a:cs typeface="宋体"/>
              </a:rPr>
              <a:t>动作状</a:t>
            </a:r>
            <a:r>
              <a:rPr sz="2800" spc="-5" dirty="0">
                <a:solidFill>
                  <a:srgbClr val="00663B"/>
                </a:solidFill>
                <a:latin typeface="宋体"/>
                <a:cs typeface="宋体"/>
              </a:rPr>
              <a:t>态</a:t>
            </a:r>
            <a:r>
              <a:rPr sz="2800" spc="-10" dirty="0">
                <a:latin typeface="宋体"/>
                <a:cs typeface="宋体"/>
              </a:rPr>
              <a:t>：没有内部转移和内部活</a:t>
            </a:r>
            <a:r>
              <a:rPr sz="2800" dirty="0">
                <a:latin typeface="宋体"/>
                <a:cs typeface="宋体"/>
              </a:rPr>
              <a:t>动</a:t>
            </a:r>
            <a:r>
              <a:rPr sz="2800" spc="-10" dirty="0">
                <a:latin typeface="宋体"/>
                <a:cs typeface="宋体"/>
              </a:rPr>
              <a:t>，是</a:t>
            </a:r>
            <a:r>
              <a:rPr sz="2800" dirty="0">
                <a:latin typeface="宋体"/>
                <a:cs typeface="宋体"/>
              </a:rPr>
              <a:t>原</a:t>
            </a:r>
            <a:r>
              <a:rPr sz="2800" spc="-5" dirty="0">
                <a:latin typeface="宋体"/>
                <a:cs typeface="宋体"/>
              </a:rPr>
              <a:t>子 的最小执行单元，作用是表示执行</a:t>
            </a:r>
            <a:r>
              <a:rPr sz="2800" dirty="0">
                <a:latin typeface="宋体"/>
                <a:cs typeface="宋体"/>
              </a:rPr>
              <a:t>进</a:t>
            </a:r>
            <a:r>
              <a:rPr sz="2800" spc="-5" dirty="0">
                <a:latin typeface="宋体"/>
                <a:cs typeface="宋体"/>
              </a:rPr>
              <a:t>入动</a:t>
            </a:r>
            <a:r>
              <a:rPr sz="2800" dirty="0">
                <a:latin typeface="宋体"/>
                <a:cs typeface="宋体"/>
              </a:rPr>
              <a:t>作</a:t>
            </a:r>
            <a:r>
              <a:rPr sz="2800" spc="-5" dirty="0">
                <a:latin typeface="宋体"/>
                <a:cs typeface="宋体"/>
              </a:rPr>
              <a:t>后转 向的状态，执行时间可以被忽略。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63B"/>
              </a:buClr>
              <a:buFont typeface="Arial"/>
              <a:buChar char="•"/>
            </a:pPr>
            <a:endParaRPr sz="2300">
              <a:latin typeface="宋体"/>
              <a:cs typeface="宋体"/>
            </a:endParaRPr>
          </a:p>
          <a:p>
            <a:pPr marL="12700" marR="236220">
              <a:lnSpc>
                <a:spcPct val="100000"/>
              </a:lnSpc>
              <a:buSzPct val="96428"/>
              <a:buFont typeface="Arial"/>
              <a:buChar char="•"/>
              <a:tabLst>
                <a:tab pos="137795" algn="l"/>
              </a:tabLst>
            </a:pPr>
            <a:r>
              <a:rPr sz="2800" spc="-5" dirty="0">
                <a:solidFill>
                  <a:srgbClr val="00663B"/>
                </a:solidFill>
                <a:latin typeface="宋体"/>
                <a:cs typeface="宋体"/>
              </a:rPr>
              <a:t>活动状态</a:t>
            </a:r>
            <a:r>
              <a:rPr sz="2800" spc="-5" dirty="0">
                <a:latin typeface="宋体"/>
                <a:cs typeface="宋体"/>
              </a:rPr>
              <a:t>：可分解的、非原子的，</a:t>
            </a:r>
            <a:r>
              <a:rPr sz="2800" dirty="0">
                <a:latin typeface="宋体"/>
                <a:cs typeface="宋体"/>
              </a:rPr>
              <a:t>并</a:t>
            </a:r>
            <a:r>
              <a:rPr sz="2800" spc="-5" dirty="0">
                <a:latin typeface="宋体"/>
                <a:cs typeface="宋体"/>
              </a:rPr>
              <a:t>有一</a:t>
            </a:r>
            <a:r>
              <a:rPr sz="2800" dirty="0">
                <a:latin typeface="宋体"/>
                <a:cs typeface="宋体"/>
              </a:rPr>
              <a:t>定</a:t>
            </a:r>
            <a:r>
              <a:rPr sz="2800" spc="-5" dirty="0">
                <a:latin typeface="宋体"/>
                <a:cs typeface="宋体"/>
              </a:rPr>
              <a:t>持 续时间的执行单元。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08885" y="179958"/>
            <a:ext cx="42164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活动图元素</a:t>
            </a:r>
            <a:r>
              <a:rPr sz="4400" dirty="0">
                <a:latin typeface="Calibri"/>
                <a:cs typeface="Calibri"/>
              </a:rPr>
              <a:t>: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/>
              <a:t>活动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062685"/>
            <a:ext cx="8800465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宋体"/>
                <a:cs typeface="宋体"/>
              </a:rPr>
              <a:t>“泳道”</a:t>
            </a:r>
            <a:r>
              <a:rPr sz="1600" spc="-5" dirty="0">
                <a:latin typeface="Arial"/>
                <a:cs typeface="Arial"/>
              </a:rPr>
              <a:t>swimlane</a:t>
            </a:r>
            <a:r>
              <a:rPr sz="2400" spc="-5" dirty="0">
                <a:latin typeface="宋体"/>
                <a:cs typeface="宋体"/>
              </a:rPr>
              <a:t>：根据每项活动</a:t>
            </a:r>
            <a:r>
              <a:rPr sz="2400" dirty="0">
                <a:latin typeface="宋体"/>
                <a:cs typeface="宋体"/>
              </a:rPr>
              <a:t>的</a:t>
            </a:r>
            <a:r>
              <a:rPr sz="2400" b="1" spc="-5" dirty="0">
                <a:solidFill>
                  <a:srgbClr val="00A361"/>
                </a:solidFill>
                <a:latin typeface="宋体"/>
                <a:cs typeface="宋体"/>
              </a:rPr>
              <a:t>职责</a:t>
            </a:r>
            <a:r>
              <a:rPr sz="2400" spc="-5" dirty="0">
                <a:latin typeface="宋体"/>
                <a:cs typeface="宋体"/>
              </a:rPr>
              <a:t>，划分所有活动的责任区域</a:t>
            </a:r>
            <a:endParaRPr sz="2400">
              <a:latin typeface="宋体"/>
              <a:cs typeface="宋体"/>
            </a:endParaRPr>
          </a:p>
          <a:p>
            <a:pPr marL="839469">
              <a:lnSpc>
                <a:spcPct val="100000"/>
              </a:lnSpc>
              <a:spcBef>
                <a:spcPts val="2035"/>
              </a:spcBef>
            </a:pPr>
            <a:r>
              <a:rPr sz="2000" b="1" spc="5" dirty="0">
                <a:latin typeface="宋体"/>
                <a:cs typeface="宋体"/>
              </a:rPr>
              <a:t>例：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06523" y="2295144"/>
            <a:ext cx="288290" cy="431800"/>
          </a:xfrm>
          <a:custGeom>
            <a:avLst/>
            <a:gdLst/>
            <a:ahLst/>
            <a:cxnLst/>
            <a:rect l="l" t="t" r="r" b="b"/>
            <a:pathLst>
              <a:path w="288289" h="431800">
                <a:moveTo>
                  <a:pt x="288036" y="0"/>
                </a:moveTo>
                <a:lnTo>
                  <a:pt x="236247" y="3477"/>
                </a:lnTo>
                <a:lnTo>
                  <a:pt x="187509" y="13505"/>
                </a:lnTo>
                <a:lnTo>
                  <a:pt x="142635" y="29473"/>
                </a:lnTo>
                <a:lnTo>
                  <a:pt x="102436" y="50772"/>
                </a:lnTo>
                <a:lnTo>
                  <a:pt x="67724" y="76792"/>
                </a:lnTo>
                <a:lnTo>
                  <a:pt x="39313" y="106924"/>
                </a:lnTo>
                <a:lnTo>
                  <a:pt x="18014" y="140559"/>
                </a:lnTo>
                <a:lnTo>
                  <a:pt x="4638" y="177087"/>
                </a:lnTo>
                <a:lnTo>
                  <a:pt x="0" y="215900"/>
                </a:lnTo>
                <a:lnTo>
                  <a:pt x="5275" y="257216"/>
                </a:lnTo>
                <a:lnTo>
                  <a:pt x="20462" y="295971"/>
                </a:lnTo>
                <a:lnTo>
                  <a:pt x="44603" y="331389"/>
                </a:lnTo>
                <a:lnTo>
                  <a:pt x="76739" y="362696"/>
                </a:lnTo>
                <a:lnTo>
                  <a:pt x="115912" y="389114"/>
                </a:lnTo>
                <a:lnTo>
                  <a:pt x="161162" y="409870"/>
                </a:lnTo>
                <a:lnTo>
                  <a:pt x="211533" y="424188"/>
                </a:lnTo>
                <a:lnTo>
                  <a:pt x="266064" y="4312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94560" y="2295144"/>
            <a:ext cx="935990" cy="0"/>
          </a:xfrm>
          <a:custGeom>
            <a:avLst/>
            <a:gdLst/>
            <a:ahLst/>
            <a:cxnLst/>
            <a:rect l="l" t="t" r="r" b="b"/>
            <a:pathLst>
              <a:path w="935989">
                <a:moveTo>
                  <a:pt x="0" y="0"/>
                </a:moveTo>
                <a:lnTo>
                  <a:pt x="9357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24455" y="2726435"/>
            <a:ext cx="1005840" cy="0"/>
          </a:xfrm>
          <a:custGeom>
            <a:avLst/>
            <a:gdLst/>
            <a:ahLst/>
            <a:cxnLst/>
            <a:rect l="l" t="t" r="r" b="b"/>
            <a:pathLst>
              <a:path w="1005839">
                <a:moveTo>
                  <a:pt x="0" y="0"/>
                </a:moveTo>
                <a:lnTo>
                  <a:pt x="10058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02864" y="2296667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30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2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6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06523" y="3300984"/>
            <a:ext cx="288290" cy="431800"/>
          </a:xfrm>
          <a:custGeom>
            <a:avLst/>
            <a:gdLst/>
            <a:ahLst/>
            <a:cxnLst/>
            <a:rect l="l" t="t" r="r" b="b"/>
            <a:pathLst>
              <a:path w="288289" h="431800">
                <a:moveTo>
                  <a:pt x="288036" y="0"/>
                </a:moveTo>
                <a:lnTo>
                  <a:pt x="236247" y="3477"/>
                </a:lnTo>
                <a:lnTo>
                  <a:pt x="187509" y="13505"/>
                </a:lnTo>
                <a:lnTo>
                  <a:pt x="142635" y="29473"/>
                </a:lnTo>
                <a:lnTo>
                  <a:pt x="102436" y="50772"/>
                </a:lnTo>
                <a:lnTo>
                  <a:pt x="67724" y="76792"/>
                </a:lnTo>
                <a:lnTo>
                  <a:pt x="39313" y="106924"/>
                </a:lnTo>
                <a:lnTo>
                  <a:pt x="18014" y="140559"/>
                </a:lnTo>
                <a:lnTo>
                  <a:pt x="4638" y="177087"/>
                </a:lnTo>
                <a:lnTo>
                  <a:pt x="0" y="215900"/>
                </a:lnTo>
                <a:lnTo>
                  <a:pt x="5275" y="257216"/>
                </a:lnTo>
                <a:lnTo>
                  <a:pt x="20462" y="295971"/>
                </a:lnTo>
                <a:lnTo>
                  <a:pt x="44603" y="331389"/>
                </a:lnTo>
                <a:lnTo>
                  <a:pt x="76739" y="362696"/>
                </a:lnTo>
                <a:lnTo>
                  <a:pt x="115912" y="389114"/>
                </a:lnTo>
                <a:lnTo>
                  <a:pt x="161162" y="409870"/>
                </a:lnTo>
                <a:lnTo>
                  <a:pt x="211533" y="424188"/>
                </a:lnTo>
                <a:lnTo>
                  <a:pt x="266064" y="4312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94560" y="3300984"/>
            <a:ext cx="935990" cy="0"/>
          </a:xfrm>
          <a:custGeom>
            <a:avLst/>
            <a:gdLst/>
            <a:ahLst/>
            <a:cxnLst/>
            <a:rect l="l" t="t" r="r" b="b"/>
            <a:pathLst>
              <a:path w="935989">
                <a:moveTo>
                  <a:pt x="0" y="0"/>
                </a:moveTo>
                <a:lnTo>
                  <a:pt x="9357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24455" y="3732276"/>
            <a:ext cx="1005840" cy="1905"/>
          </a:xfrm>
          <a:custGeom>
            <a:avLst/>
            <a:gdLst/>
            <a:ahLst/>
            <a:cxnLst/>
            <a:rect l="l" t="t" r="r" b="b"/>
            <a:pathLst>
              <a:path w="1005839" h="1904">
                <a:moveTo>
                  <a:pt x="0" y="1524"/>
                </a:moveTo>
                <a:lnTo>
                  <a:pt x="10058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02864" y="3302508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29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1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5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95928" y="3300984"/>
            <a:ext cx="287020" cy="431800"/>
          </a:xfrm>
          <a:custGeom>
            <a:avLst/>
            <a:gdLst/>
            <a:ahLst/>
            <a:cxnLst/>
            <a:rect l="l" t="t" r="r" b="b"/>
            <a:pathLst>
              <a:path w="287020" h="431800">
                <a:moveTo>
                  <a:pt x="286512" y="0"/>
                </a:moveTo>
                <a:lnTo>
                  <a:pt x="235009" y="3477"/>
                </a:lnTo>
                <a:lnTo>
                  <a:pt x="186536" y="13505"/>
                </a:lnTo>
                <a:lnTo>
                  <a:pt x="141901" y="29473"/>
                </a:lnTo>
                <a:lnTo>
                  <a:pt x="101913" y="50772"/>
                </a:lnTo>
                <a:lnTo>
                  <a:pt x="67382" y="76792"/>
                </a:lnTo>
                <a:lnTo>
                  <a:pt x="39116" y="106924"/>
                </a:lnTo>
                <a:lnTo>
                  <a:pt x="17924" y="140559"/>
                </a:lnTo>
                <a:lnTo>
                  <a:pt x="4615" y="177087"/>
                </a:lnTo>
                <a:lnTo>
                  <a:pt x="0" y="215900"/>
                </a:lnTo>
                <a:lnTo>
                  <a:pt x="5246" y="257216"/>
                </a:lnTo>
                <a:lnTo>
                  <a:pt x="20349" y="295971"/>
                </a:lnTo>
                <a:lnTo>
                  <a:pt x="44355" y="331389"/>
                </a:lnTo>
                <a:lnTo>
                  <a:pt x="76311" y="362696"/>
                </a:lnTo>
                <a:lnTo>
                  <a:pt x="115261" y="389114"/>
                </a:lnTo>
                <a:lnTo>
                  <a:pt x="160252" y="409870"/>
                </a:lnTo>
                <a:lnTo>
                  <a:pt x="210330" y="424188"/>
                </a:lnTo>
                <a:lnTo>
                  <a:pt x="264541" y="4312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82440" y="3300984"/>
            <a:ext cx="937260" cy="0"/>
          </a:xfrm>
          <a:custGeom>
            <a:avLst/>
            <a:gdLst/>
            <a:ahLst/>
            <a:cxnLst/>
            <a:rect l="l" t="t" r="r" b="b"/>
            <a:pathLst>
              <a:path w="937260">
                <a:moveTo>
                  <a:pt x="0" y="0"/>
                </a:moveTo>
                <a:lnTo>
                  <a:pt x="93726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12335" y="3732276"/>
            <a:ext cx="1007744" cy="1905"/>
          </a:xfrm>
          <a:custGeom>
            <a:avLst/>
            <a:gdLst/>
            <a:ahLst/>
            <a:cxnLst/>
            <a:rect l="l" t="t" r="r" b="b"/>
            <a:pathLst>
              <a:path w="1007745" h="1904">
                <a:moveTo>
                  <a:pt x="0" y="1524"/>
                </a:moveTo>
                <a:lnTo>
                  <a:pt x="10073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92267" y="3302508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29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1" y="431291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8" y="215645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12179" y="3733800"/>
            <a:ext cx="287020" cy="433070"/>
          </a:xfrm>
          <a:custGeom>
            <a:avLst/>
            <a:gdLst/>
            <a:ahLst/>
            <a:cxnLst/>
            <a:rect l="l" t="t" r="r" b="b"/>
            <a:pathLst>
              <a:path w="287020" h="433070">
                <a:moveTo>
                  <a:pt x="286512" y="0"/>
                </a:moveTo>
                <a:lnTo>
                  <a:pt x="235009" y="3491"/>
                </a:lnTo>
                <a:lnTo>
                  <a:pt x="186536" y="13557"/>
                </a:lnTo>
                <a:lnTo>
                  <a:pt x="141901" y="29586"/>
                </a:lnTo>
                <a:lnTo>
                  <a:pt x="101913" y="50964"/>
                </a:lnTo>
                <a:lnTo>
                  <a:pt x="67382" y="77079"/>
                </a:lnTo>
                <a:lnTo>
                  <a:pt x="39116" y="107319"/>
                </a:lnTo>
                <a:lnTo>
                  <a:pt x="17924" y="141071"/>
                </a:lnTo>
                <a:lnTo>
                  <a:pt x="4615" y="177723"/>
                </a:lnTo>
                <a:lnTo>
                  <a:pt x="0" y="216662"/>
                </a:lnTo>
                <a:lnTo>
                  <a:pt x="5246" y="258120"/>
                </a:lnTo>
                <a:lnTo>
                  <a:pt x="20349" y="297013"/>
                </a:lnTo>
                <a:lnTo>
                  <a:pt x="44355" y="332560"/>
                </a:lnTo>
                <a:lnTo>
                  <a:pt x="76311" y="363981"/>
                </a:lnTo>
                <a:lnTo>
                  <a:pt x="115261" y="390498"/>
                </a:lnTo>
                <a:lnTo>
                  <a:pt x="160252" y="411329"/>
                </a:lnTo>
                <a:lnTo>
                  <a:pt x="210330" y="425695"/>
                </a:lnTo>
                <a:lnTo>
                  <a:pt x="264541" y="43281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98691" y="3733800"/>
            <a:ext cx="937260" cy="0"/>
          </a:xfrm>
          <a:custGeom>
            <a:avLst/>
            <a:gdLst/>
            <a:ahLst/>
            <a:cxnLst/>
            <a:rect l="l" t="t" r="r" b="b"/>
            <a:pathLst>
              <a:path w="937259">
                <a:moveTo>
                  <a:pt x="0" y="0"/>
                </a:moveTo>
                <a:lnTo>
                  <a:pt x="93726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27064" y="4166615"/>
            <a:ext cx="1009015" cy="0"/>
          </a:xfrm>
          <a:custGeom>
            <a:avLst/>
            <a:gdLst/>
            <a:ahLst/>
            <a:cxnLst/>
            <a:rect l="l" t="t" r="r" b="b"/>
            <a:pathLst>
              <a:path w="1009015">
                <a:moveTo>
                  <a:pt x="0" y="0"/>
                </a:moveTo>
                <a:lnTo>
                  <a:pt x="100888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08519" y="3735323"/>
            <a:ext cx="338455" cy="433070"/>
          </a:xfrm>
          <a:custGeom>
            <a:avLst/>
            <a:gdLst/>
            <a:ahLst/>
            <a:cxnLst/>
            <a:rect l="l" t="t" r="r" b="b"/>
            <a:pathLst>
              <a:path w="338454" h="433070">
                <a:moveTo>
                  <a:pt x="0" y="432053"/>
                </a:moveTo>
                <a:lnTo>
                  <a:pt x="6762" y="432387"/>
                </a:lnTo>
                <a:lnTo>
                  <a:pt x="13525" y="432625"/>
                </a:lnTo>
                <a:lnTo>
                  <a:pt x="20288" y="432768"/>
                </a:lnTo>
                <a:lnTo>
                  <a:pt x="27050" y="432815"/>
                </a:lnTo>
                <a:lnTo>
                  <a:pt x="83015" y="429328"/>
                </a:lnTo>
                <a:lnTo>
                  <a:pt x="135683" y="419275"/>
                </a:lnTo>
                <a:lnTo>
                  <a:pt x="184178" y="403267"/>
                </a:lnTo>
                <a:lnTo>
                  <a:pt x="227621" y="381915"/>
                </a:lnTo>
                <a:lnTo>
                  <a:pt x="265134" y="355832"/>
                </a:lnTo>
                <a:lnTo>
                  <a:pt x="295839" y="325627"/>
                </a:lnTo>
                <a:lnTo>
                  <a:pt x="318858" y="291914"/>
                </a:lnTo>
                <a:lnTo>
                  <a:pt x="333314" y="255304"/>
                </a:lnTo>
                <a:lnTo>
                  <a:pt x="338327" y="216407"/>
                </a:lnTo>
                <a:lnTo>
                  <a:pt x="333488" y="178180"/>
                </a:lnTo>
                <a:lnTo>
                  <a:pt x="319520" y="142122"/>
                </a:lnTo>
                <a:lnTo>
                  <a:pt x="297245" y="108824"/>
                </a:lnTo>
                <a:lnTo>
                  <a:pt x="267489" y="78875"/>
                </a:lnTo>
                <a:lnTo>
                  <a:pt x="231074" y="52865"/>
                </a:lnTo>
                <a:lnTo>
                  <a:pt x="188825" y="31383"/>
                </a:lnTo>
                <a:lnTo>
                  <a:pt x="141565" y="15018"/>
                </a:lnTo>
                <a:lnTo>
                  <a:pt x="90117" y="4360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22776" y="4741164"/>
            <a:ext cx="288290" cy="431800"/>
          </a:xfrm>
          <a:custGeom>
            <a:avLst/>
            <a:gdLst/>
            <a:ahLst/>
            <a:cxnLst/>
            <a:rect l="l" t="t" r="r" b="b"/>
            <a:pathLst>
              <a:path w="288289" h="431800">
                <a:moveTo>
                  <a:pt x="288036" y="0"/>
                </a:moveTo>
                <a:lnTo>
                  <a:pt x="236247" y="3477"/>
                </a:lnTo>
                <a:lnTo>
                  <a:pt x="187509" y="13505"/>
                </a:lnTo>
                <a:lnTo>
                  <a:pt x="142635" y="29473"/>
                </a:lnTo>
                <a:lnTo>
                  <a:pt x="102436" y="50772"/>
                </a:lnTo>
                <a:lnTo>
                  <a:pt x="67724" y="76792"/>
                </a:lnTo>
                <a:lnTo>
                  <a:pt x="39313" y="106924"/>
                </a:lnTo>
                <a:lnTo>
                  <a:pt x="18014" y="140559"/>
                </a:lnTo>
                <a:lnTo>
                  <a:pt x="4638" y="177087"/>
                </a:lnTo>
                <a:lnTo>
                  <a:pt x="0" y="215900"/>
                </a:lnTo>
                <a:lnTo>
                  <a:pt x="5275" y="257216"/>
                </a:lnTo>
                <a:lnTo>
                  <a:pt x="20462" y="295971"/>
                </a:lnTo>
                <a:lnTo>
                  <a:pt x="44603" y="331389"/>
                </a:lnTo>
                <a:lnTo>
                  <a:pt x="76739" y="362696"/>
                </a:lnTo>
                <a:lnTo>
                  <a:pt x="115912" y="389114"/>
                </a:lnTo>
                <a:lnTo>
                  <a:pt x="161162" y="409870"/>
                </a:lnTo>
                <a:lnTo>
                  <a:pt x="211533" y="424188"/>
                </a:lnTo>
                <a:lnTo>
                  <a:pt x="266064" y="43129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10811" y="4741164"/>
            <a:ext cx="935990" cy="0"/>
          </a:xfrm>
          <a:custGeom>
            <a:avLst/>
            <a:gdLst/>
            <a:ahLst/>
            <a:cxnLst/>
            <a:rect l="l" t="t" r="r" b="b"/>
            <a:pathLst>
              <a:path w="935989">
                <a:moveTo>
                  <a:pt x="0" y="0"/>
                </a:moveTo>
                <a:lnTo>
                  <a:pt x="9357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40708" y="5172455"/>
            <a:ext cx="1005840" cy="1905"/>
          </a:xfrm>
          <a:custGeom>
            <a:avLst/>
            <a:gdLst/>
            <a:ahLst/>
            <a:cxnLst/>
            <a:rect l="l" t="t" r="r" b="b"/>
            <a:pathLst>
              <a:path w="1005839" h="1904">
                <a:moveTo>
                  <a:pt x="0" y="1524"/>
                </a:moveTo>
                <a:lnTo>
                  <a:pt x="10058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119115" y="4742688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30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2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8" y="215645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06523" y="5245608"/>
            <a:ext cx="288290" cy="431800"/>
          </a:xfrm>
          <a:custGeom>
            <a:avLst/>
            <a:gdLst/>
            <a:ahLst/>
            <a:cxnLst/>
            <a:rect l="l" t="t" r="r" b="b"/>
            <a:pathLst>
              <a:path w="288289" h="431800">
                <a:moveTo>
                  <a:pt x="288036" y="0"/>
                </a:moveTo>
                <a:lnTo>
                  <a:pt x="236247" y="3477"/>
                </a:lnTo>
                <a:lnTo>
                  <a:pt x="187509" y="13505"/>
                </a:lnTo>
                <a:lnTo>
                  <a:pt x="142635" y="29473"/>
                </a:lnTo>
                <a:lnTo>
                  <a:pt x="102436" y="50772"/>
                </a:lnTo>
                <a:lnTo>
                  <a:pt x="67724" y="76792"/>
                </a:lnTo>
                <a:lnTo>
                  <a:pt x="39313" y="106924"/>
                </a:lnTo>
                <a:lnTo>
                  <a:pt x="18014" y="140559"/>
                </a:lnTo>
                <a:lnTo>
                  <a:pt x="4638" y="177087"/>
                </a:lnTo>
                <a:lnTo>
                  <a:pt x="0" y="215899"/>
                </a:lnTo>
                <a:lnTo>
                  <a:pt x="5275" y="257215"/>
                </a:lnTo>
                <a:lnTo>
                  <a:pt x="20462" y="295969"/>
                </a:lnTo>
                <a:lnTo>
                  <a:pt x="44603" y="331385"/>
                </a:lnTo>
                <a:lnTo>
                  <a:pt x="76739" y="362689"/>
                </a:lnTo>
                <a:lnTo>
                  <a:pt x="115912" y="389106"/>
                </a:lnTo>
                <a:lnTo>
                  <a:pt x="161162" y="409859"/>
                </a:lnTo>
                <a:lnTo>
                  <a:pt x="211533" y="424176"/>
                </a:lnTo>
                <a:lnTo>
                  <a:pt x="266064" y="43127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94560" y="5245608"/>
            <a:ext cx="935990" cy="0"/>
          </a:xfrm>
          <a:custGeom>
            <a:avLst/>
            <a:gdLst/>
            <a:ahLst/>
            <a:cxnLst/>
            <a:rect l="l" t="t" r="r" b="b"/>
            <a:pathLst>
              <a:path w="935989">
                <a:moveTo>
                  <a:pt x="0" y="0"/>
                </a:moveTo>
                <a:lnTo>
                  <a:pt x="9357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24455" y="5676900"/>
            <a:ext cx="1005840" cy="1905"/>
          </a:xfrm>
          <a:custGeom>
            <a:avLst/>
            <a:gdLst/>
            <a:ahLst/>
            <a:cxnLst/>
            <a:rect l="l" t="t" r="r" b="b"/>
            <a:pathLst>
              <a:path w="1005839" h="1904">
                <a:moveTo>
                  <a:pt x="0" y="1524"/>
                </a:moveTo>
                <a:lnTo>
                  <a:pt x="10058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02864" y="5247132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479"/>
                </a:moveTo>
                <a:lnTo>
                  <a:pt x="6762" y="430829"/>
                </a:lnTo>
                <a:lnTo>
                  <a:pt x="13525" y="431079"/>
                </a:lnTo>
                <a:lnTo>
                  <a:pt x="20288" y="431229"/>
                </a:lnTo>
                <a:lnTo>
                  <a:pt x="27050" y="431279"/>
                </a:lnTo>
                <a:lnTo>
                  <a:pt x="83015" y="427809"/>
                </a:lnTo>
                <a:lnTo>
                  <a:pt x="135683" y="417797"/>
                </a:lnTo>
                <a:lnTo>
                  <a:pt x="184178" y="401852"/>
                </a:lnTo>
                <a:lnTo>
                  <a:pt x="227621" y="380581"/>
                </a:lnTo>
                <a:lnTo>
                  <a:pt x="265134" y="354594"/>
                </a:lnTo>
                <a:lnTo>
                  <a:pt x="295839" y="324498"/>
                </a:lnTo>
                <a:lnTo>
                  <a:pt x="318858" y="290903"/>
                </a:lnTo>
                <a:lnTo>
                  <a:pt x="333314" y="254415"/>
                </a:lnTo>
                <a:lnTo>
                  <a:pt x="338327" y="215646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549461" y="1929193"/>
            <a:ext cx="161925" cy="161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549461" y="5961697"/>
            <a:ext cx="161925" cy="1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78023" y="58902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99"/>
                </a:moveTo>
                <a:lnTo>
                  <a:pt x="7766" y="104231"/>
                </a:lnTo>
                <a:lnTo>
                  <a:pt x="29394" y="62396"/>
                </a:lnTo>
                <a:lnTo>
                  <a:pt x="62380" y="29405"/>
                </a:lnTo>
                <a:lnTo>
                  <a:pt x="104217" y="7769"/>
                </a:lnTo>
                <a:lnTo>
                  <a:pt x="152400" y="0"/>
                </a:lnTo>
                <a:lnTo>
                  <a:pt x="200582" y="7769"/>
                </a:lnTo>
                <a:lnTo>
                  <a:pt x="242419" y="29405"/>
                </a:lnTo>
                <a:lnTo>
                  <a:pt x="275405" y="62396"/>
                </a:lnTo>
                <a:lnTo>
                  <a:pt x="297033" y="104231"/>
                </a:lnTo>
                <a:lnTo>
                  <a:pt x="304800" y="152399"/>
                </a:lnTo>
                <a:lnTo>
                  <a:pt x="297033" y="200568"/>
                </a:lnTo>
                <a:lnTo>
                  <a:pt x="275405" y="242403"/>
                </a:lnTo>
                <a:lnTo>
                  <a:pt x="242419" y="275394"/>
                </a:lnTo>
                <a:lnTo>
                  <a:pt x="200582" y="297030"/>
                </a:lnTo>
                <a:lnTo>
                  <a:pt x="152400" y="304799"/>
                </a:lnTo>
                <a:lnTo>
                  <a:pt x="104217" y="297030"/>
                </a:lnTo>
                <a:lnTo>
                  <a:pt x="62380" y="275394"/>
                </a:lnTo>
                <a:lnTo>
                  <a:pt x="29394" y="242403"/>
                </a:lnTo>
                <a:lnTo>
                  <a:pt x="7766" y="200568"/>
                </a:lnTo>
                <a:lnTo>
                  <a:pt x="0" y="1523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56764" y="2078735"/>
            <a:ext cx="141224" cy="2164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56764" y="2726435"/>
            <a:ext cx="141224" cy="2164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196845" y="2943605"/>
            <a:ext cx="862965" cy="0"/>
          </a:xfrm>
          <a:custGeom>
            <a:avLst/>
            <a:gdLst/>
            <a:ahLst/>
            <a:cxnLst/>
            <a:rect l="l" t="t" r="r" b="b"/>
            <a:pathLst>
              <a:path w="862964">
                <a:moveTo>
                  <a:pt x="0" y="0"/>
                </a:moveTo>
                <a:lnTo>
                  <a:pt x="862584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56764" y="2942844"/>
            <a:ext cx="141605" cy="360045"/>
          </a:xfrm>
          <a:custGeom>
            <a:avLst/>
            <a:gdLst/>
            <a:ahLst/>
            <a:cxnLst/>
            <a:rect l="l" t="t" r="r" b="b"/>
            <a:pathLst>
              <a:path w="141605" h="360045">
                <a:moveTo>
                  <a:pt x="5715" y="266445"/>
                </a:moveTo>
                <a:lnTo>
                  <a:pt x="3048" y="268731"/>
                </a:lnTo>
                <a:lnTo>
                  <a:pt x="381" y="270890"/>
                </a:lnTo>
                <a:lnTo>
                  <a:pt x="0" y="274954"/>
                </a:lnTo>
                <a:lnTo>
                  <a:pt x="2286" y="277621"/>
                </a:lnTo>
                <a:lnTo>
                  <a:pt x="70612" y="359663"/>
                </a:lnTo>
                <a:lnTo>
                  <a:pt x="78861" y="349757"/>
                </a:lnTo>
                <a:lnTo>
                  <a:pt x="64262" y="349757"/>
                </a:lnTo>
                <a:lnTo>
                  <a:pt x="64262" y="332282"/>
                </a:lnTo>
                <a:lnTo>
                  <a:pt x="11937" y="269493"/>
                </a:lnTo>
                <a:lnTo>
                  <a:pt x="9779" y="266826"/>
                </a:lnTo>
                <a:lnTo>
                  <a:pt x="5715" y="266445"/>
                </a:lnTo>
                <a:close/>
              </a:path>
              <a:path w="141605" h="360045">
                <a:moveTo>
                  <a:pt x="64262" y="332282"/>
                </a:moveTo>
                <a:lnTo>
                  <a:pt x="64262" y="349757"/>
                </a:lnTo>
                <a:lnTo>
                  <a:pt x="76962" y="349757"/>
                </a:lnTo>
                <a:lnTo>
                  <a:pt x="76962" y="345693"/>
                </a:lnTo>
                <a:lnTo>
                  <a:pt x="65786" y="345693"/>
                </a:lnTo>
                <a:lnTo>
                  <a:pt x="70612" y="339902"/>
                </a:lnTo>
                <a:lnTo>
                  <a:pt x="64262" y="332282"/>
                </a:lnTo>
                <a:close/>
              </a:path>
              <a:path w="141605" h="360045">
                <a:moveTo>
                  <a:pt x="135509" y="266445"/>
                </a:moveTo>
                <a:lnTo>
                  <a:pt x="131444" y="266826"/>
                </a:lnTo>
                <a:lnTo>
                  <a:pt x="129286" y="269493"/>
                </a:lnTo>
                <a:lnTo>
                  <a:pt x="76962" y="332282"/>
                </a:lnTo>
                <a:lnTo>
                  <a:pt x="76962" y="349757"/>
                </a:lnTo>
                <a:lnTo>
                  <a:pt x="78861" y="349757"/>
                </a:lnTo>
                <a:lnTo>
                  <a:pt x="138937" y="277621"/>
                </a:lnTo>
                <a:lnTo>
                  <a:pt x="141224" y="274954"/>
                </a:lnTo>
                <a:lnTo>
                  <a:pt x="140843" y="270890"/>
                </a:lnTo>
                <a:lnTo>
                  <a:pt x="138175" y="268731"/>
                </a:lnTo>
                <a:lnTo>
                  <a:pt x="135509" y="266445"/>
                </a:lnTo>
                <a:close/>
              </a:path>
              <a:path w="141605" h="360045">
                <a:moveTo>
                  <a:pt x="70612" y="339902"/>
                </a:moveTo>
                <a:lnTo>
                  <a:pt x="65786" y="345693"/>
                </a:lnTo>
                <a:lnTo>
                  <a:pt x="75437" y="345693"/>
                </a:lnTo>
                <a:lnTo>
                  <a:pt x="70612" y="339902"/>
                </a:lnTo>
                <a:close/>
              </a:path>
              <a:path w="141605" h="360045">
                <a:moveTo>
                  <a:pt x="76962" y="332282"/>
                </a:moveTo>
                <a:lnTo>
                  <a:pt x="70612" y="339902"/>
                </a:lnTo>
                <a:lnTo>
                  <a:pt x="75437" y="345693"/>
                </a:lnTo>
                <a:lnTo>
                  <a:pt x="76962" y="345693"/>
                </a:lnTo>
                <a:lnTo>
                  <a:pt x="76962" y="332282"/>
                </a:lnTo>
                <a:close/>
              </a:path>
              <a:path w="141605" h="360045">
                <a:moveTo>
                  <a:pt x="76962" y="0"/>
                </a:moveTo>
                <a:lnTo>
                  <a:pt x="64262" y="0"/>
                </a:lnTo>
                <a:lnTo>
                  <a:pt x="64262" y="332282"/>
                </a:lnTo>
                <a:lnTo>
                  <a:pt x="70612" y="339902"/>
                </a:lnTo>
                <a:lnTo>
                  <a:pt x="76962" y="332282"/>
                </a:lnTo>
                <a:lnTo>
                  <a:pt x="769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697098" y="2936748"/>
            <a:ext cx="1370965" cy="479425"/>
          </a:xfrm>
          <a:custGeom>
            <a:avLst/>
            <a:gdLst/>
            <a:ahLst/>
            <a:cxnLst/>
            <a:rect l="l" t="t" r="r" b="b"/>
            <a:pathLst>
              <a:path w="1370964" h="479425">
                <a:moveTo>
                  <a:pt x="1342420" y="435163"/>
                </a:moveTo>
                <a:lnTo>
                  <a:pt x="1266825" y="466216"/>
                </a:lnTo>
                <a:lnTo>
                  <a:pt x="1263650" y="467487"/>
                </a:lnTo>
                <a:lnTo>
                  <a:pt x="1261999" y="471297"/>
                </a:lnTo>
                <a:lnTo>
                  <a:pt x="1263396" y="474472"/>
                </a:lnTo>
                <a:lnTo>
                  <a:pt x="1264665" y="477774"/>
                </a:lnTo>
                <a:lnTo>
                  <a:pt x="1268349" y="479298"/>
                </a:lnTo>
                <a:lnTo>
                  <a:pt x="1271651" y="477900"/>
                </a:lnTo>
                <a:lnTo>
                  <a:pt x="1363023" y="440436"/>
                </a:lnTo>
                <a:lnTo>
                  <a:pt x="1359153" y="440436"/>
                </a:lnTo>
                <a:lnTo>
                  <a:pt x="1342420" y="435163"/>
                </a:lnTo>
                <a:close/>
              </a:path>
              <a:path w="1370964" h="479425">
                <a:moveTo>
                  <a:pt x="1351563" y="431407"/>
                </a:moveTo>
                <a:lnTo>
                  <a:pt x="1342420" y="435163"/>
                </a:lnTo>
                <a:lnTo>
                  <a:pt x="1359153" y="440436"/>
                </a:lnTo>
                <a:lnTo>
                  <a:pt x="1359956" y="437896"/>
                </a:lnTo>
                <a:lnTo>
                  <a:pt x="1355725" y="437896"/>
                </a:lnTo>
                <a:lnTo>
                  <a:pt x="1351563" y="431407"/>
                </a:lnTo>
                <a:close/>
              </a:path>
              <a:path w="1370964" h="479425">
                <a:moveTo>
                  <a:pt x="1306956" y="343662"/>
                </a:moveTo>
                <a:lnTo>
                  <a:pt x="1304036" y="345566"/>
                </a:lnTo>
                <a:lnTo>
                  <a:pt x="1300988" y="347472"/>
                </a:lnTo>
                <a:lnTo>
                  <a:pt x="1300226" y="351409"/>
                </a:lnTo>
                <a:lnTo>
                  <a:pt x="1302130" y="354329"/>
                </a:lnTo>
                <a:lnTo>
                  <a:pt x="1346234" y="423098"/>
                </a:lnTo>
                <a:lnTo>
                  <a:pt x="1362964" y="428371"/>
                </a:lnTo>
                <a:lnTo>
                  <a:pt x="1359153" y="440436"/>
                </a:lnTo>
                <a:lnTo>
                  <a:pt x="1363023" y="440436"/>
                </a:lnTo>
                <a:lnTo>
                  <a:pt x="1370456" y="437388"/>
                </a:lnTo>
                <a:lnTo>
                  <a:pt x="1312799" y="347472"/>
                </a:lnTo>
                <a:lnTo>
                  <a:pt x="1310893" y="344550"/>
                </a:lnTo>
                <a:lnTo>
                  <a:pt x="1306956" y="343662"/>
                </a:lnTo>
                <a:close/>
              </a:path>
              <a:path w="1370964" h="479425">
                <a:moveTo>
                  <a:pt x="1358646" y="428498"/>
                </a:moveTo>
                <a:lnTo>
                  <a:pt x="1351563" y="431407"/>
                </a:lnTo>
                <a:lnTo>
                  <a:pt x="1355725" y="437896"/>
                </a:lnTo>
                <a:lnTo>
                  <a:pt x="1358646" y="428498"/>
                </a:lnTo>
                <a:close/>
              </a:path>
              <a:path w="1370964" h="479425">
                <a:moveTo>
                  <a:pt x="1362923" y="428498"/>
                </a:moveTo>
                <a:lnTo>
                  <a:pt x="1358646" y="428498"/>
                </a:lnTo>
                <a:lnTo>
                  <a:pt x="1355725" y="437896"/>
                </a:lnTo>
                <a:lnTo>
                  <a:pt x="1359956" y="437896"/>
                </a:lnTo>
                <a:lnTo>
                  <a:pt x="1362923" y="428498"/>
                </a:lnTo>
                <a:close/>
              </a:path>
              <a:path w="1370964" h="479425">
                <a:moveTo>
                  <a:pt x="3809" y="0"/>
                </a:moveTo>
                <a:lnTo>
                  <a:pt x="0" y="12191"/>
                </a:lnTo>
                <a:lnTo>
                  <a:pt x="1342420" y="435163"/>
                </a:lnTo>
                <a:lnTo>
                  <a:pt x="1351563" y="431407"/>
                </a:lnTo>
                <a:lnTo>
                  <a:pt x="1346234" y="423098"/>
                </a:lnTo>
                <a:lnTo>
                  <a:pt x="3809" y="0"/>
                </a:lnTo>
                <a:close/>
              </a:path>
              <a:path w="1370964" h="479425">
                <a:moveTo>
                  <a:pt x="1346234" y="423098"/>
                </a:moveTo>
                <a:lnTo>
                  <a:pt x="1351563" y="431407"/>
                </a:lnTo>
                <a:lnTo>
                  <a:pt x="1358646" y="428498"/>
                </a:lnTo>
                <a:lnTo>
                  <a:pt x="1362923" y="428498"/>
                </a:lnTo>
                <a:lnTo>
                  <a:pt x="1346234" y="423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068317" y="4527041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45278" y="4526279"/>
            <a:ext cx="141224" cy="2148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55620" y="3728211"/>
            <a:ext cx="1300480" cy="746125"/>
          </a:xfrm>
          <a:custGeom>
            <a:avLst/>
            <a:gdLst/>
            <a:ahLst/>
            <a:cxnLst/>
            <a:rect l="l" t="t" r="r" b="b"/>
            <a:pathLst>
              <a:path w="1300479" h="746125">
                <a:moveTo>
                  <a:pt x="1272887" y="717136"/>
                </a:moveTo>
                <a:lnTo>
                  <a:pt x="1189228" y="733044"/>
                </a:lnTo>
                <a:lnTo>
                  <a:pt x="1186942" y="736473"/>
                </a:lnTo>
                <a:lnTo>
                  <a:pt x="1187577" y="739901"/>
                </a:lnTo>
                <a:lnTo>
                  <a:pt x="1188339" y="743331"/>
                </a:lnTo>
                <a:lnTo>
                  <a:pt x="1191641" y="745617"/>
                </a:lnTo>
                <a:lnTo>
                  <a:pt x="1195070" y="744855"/>
                </a:lnTo>
                <a:lnTo>
                  <a:pt x="1295963" y="725677"/>
                </a:lnTo>
                <a:lnTo>
                  <a:pt x="1288288" y="725677"/>
                </a:lnTo>
                <a:lnTo>
                  <a:pt x="1272887" y="717136"/>
                </a:lnTo>
                <a:close/>
              </a:path>
              <a:path w="1300479" h="746125">
                <a:moveTo>
                  <a:pt x="1282620" y="715284"/>
                </a:moveTo>
                <a:lnTo>
                  <a:pt x="1272887" y="717136"/>
                </a:lnTo>
                <a:lnTo>
                  <a:pt x="1288288" y="725677"/>
                </a:lnTo>
                <a:lnTo>
                  <a:pt x="1290109" y="722376"/>
                </a:lnTo>
                <a:lnTo>
                  <a:pt x="1285367" y="722376"/>
                </a:lnTo>
                <a:lnTo>
                  <a:pt x="1282620" y="715284"/>
                </a:lnTo>
                <a:close/>
              </a:path>
              <a:path w="1300479" h="746125">
                <a:moveTo>
                  <a:pt x="1256410" y="620394"/>
                </a:moveTo>
                <a:lnTo>
                  <a:pt x="1253235" y="621664"/>
                </a:lnTo>
                <a:lnTo>
                  <a:pt x="1249933" y="622935"/>
                </a:lnTo>
                <a:lnTo>
                  <a:pt x="1248283" y="626618"/>
                </a:lnTo>
                <a:lnTo>
                  <a:pt x="1279078" y="706139"/>
                </a:lnTo>
                <a:lnTo>
                  <a:pt x="1294383" y="714629"/>
                </a:lnTo>
                <a:lnTo>
                  <a:pt x="1288288" y="725677"/>
                </a:lnTo>
                <a:lnTo>
                  <a:pt x="1295963" y="725677"/>
                </a:lnTo>
                <a:lnTo>
                  <a:pt x="1299971" y="724915"/>
                </a:lnTo>
                <a:lnTo>
                  <a:pt x="1260094" y="622045"/>
                </a:lnTo>
                <a:lnTo>
                  <a:pt x="1256410" y="620394"/>
                </a:lnTo>
                <a:close/>
              </a:path>
              <a:path w="1300479" h="746125">
                <a:moveTo>
                  <a:pt x="1290066" y="713867"/>
                </a:moveTo>
                <a:lnTo>
                  <a:pt x="1282620" y="715284"/>
                </a:lnTo>
                <a:lnTo>
                  <a:pt x="1285367" y="722376"/>
                </a:lnTo>
                <a:lnTo>
                  <a:pt x="1290066" y="713867"/>
                </a:lnTo>
                <a:close/>
              </a:path>
              <a:path w="1300479" h="746125">
                <a:moveTo>
                  <a:pt x="1293010" y="713867"/>
                </a:moveTo>
                <a:lnTo>
                  <a:pt x="1290066" y="713867"/>
                </a:lnTo>
                <a:lnTo>
                  <a:pt x="1285367" y="722376"/>
                </a:lnTo>
                <a:lnTo>
                  <a:pt x="1290109" y="722376"/>
                </a:lnTo>
                <a:lnTo>
                  <a:pt x="1294383" y="714629"/>
                </a:lnTo>
                <a:lnTo>
                  <a:pt x="1293010" y="713867"/>
                </a:lnTo>
                <a:close/>
              </a:path>
              <a:path w="1300479" h="746125">
                <a:moveTo>
                  <a:pt x="6096" y="0"/>
                </a:moveTo>
                <a:lnTo>
                  <a:pt x="0" y="11175"/>
                </a:lnTo>
                <a:lnTo>
                  <a:pt x="1272887" y="717136"/>
                </a:lnTo>
                <a:lnTo>
                  <a:pt x="1282620" y="715284"/>
                </a:lnTo>
                <a:lnTo>
                  <a:pt x="1279078" y="706139"/>
                </a:lnTo>
                <a:lnTo>
                  <a:pt x="6096" y="0"/>
                </a:lnTo>
                <a:close/>
              </a:path>
              <a:path w="1300479" h="746125">
                <a:moveTo>
                  <a:pt x="1279078" y="706139"/>
                </a:moveTo>
                <a:lnTo>
                  <a:pt x="1282620" y="715284"/>
                </a:lnTo>
                <a:lnTo>
                  <a:pt x="1290066" y="713867"/>
                </a:lnTo>
                <a:lnTo>
                  <a:pt x="1293010" y="713867"/>
                </a:lnTo>
                <a:lnTo>
                  <a:pt x="1279078" y="7061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05577" y="3584575"/>
            <a:ext cx="579755" cy="257810"/>
          </a:xfrm>
          <a:custGeom>
            <a:avLst/>
            <a:gdLst/>
            <a:ahLst/>
            <a:cxnLst/>
            <a:rect l="l" t="t" r="r" b="b"/>
            <a:pathLst>
              <a:path w="579754" h="257810">
                <a:moveTo>
                  <a:pt x="551771" y="217280"/>
                </a:moveTo>
                <a:lnTo>
                  <a:pt x="471550" y="245491"/>
                </a:lnTo>
                <a:lnTo>
                  <a:pt x="469773" y="249174"/>
                </a:lnTo>
                <a:lnTo>
                  <a:pt x="472059" y="255777"/>
                </a:lnTo>
                <a:lnTo>
                  <a:pt x="475742" y="257556"/>
                </a:lnTo>
                <a:lnTo>
                  <a:pt x="479044" y="256286"/>
                </a:lnTo>
                <a:lnTo>
                  <a:pt x="572535" y="223393"/>
                </a:lnTo>
                <a:lnTo>
                  <a:pt x="568198" y="223393"/>
                </a:lnTo>
                <a:lnTo>
                  <a:pt x="551771" y="217280"/>
                </a:lnTo>
                <a:close/>
              </a:path>
              <a:path w="579754" h="257810">
                <a:moveTo>
                  <a:pt x="561115" y="213992"/>
                </a:moveTo>
                <a:lnTo>
                  <a:pt x="551771" y="217280"/>
                </a:lnTo>
                <a:lnTo>
                  <a:pt x="568198" y="223393"/>
                </a:lnTo>
                <a:lnTo>
                  <a:pt x="569238" y="220599"/>
                </a:lnTo>
                <a:lnTo>
                  <a:pt x="564896" y="220599"/>
                </a:lnTo>
                <a:lnTo>
                  <a:pt x="561115" y="213992"/>
                </a:lnTo>
                <a:close/>
              </a:path>
              <a:path w="579754" h="257810">
                <a:moveTo>
                  <a:pt x="521081" y="124079"/>
                </a:moveTo>
                <a:lnTo>
                  <a:pt x="518033" y="125856"/>
                </a:lnTo>
                <a:lnTo>
                  <a:pt x="514985" y="127507"/>
                </a:lnTo>
                <a:lnTo>
                  <a:pt x="513969" y="131444"/>
                </a:lnTo>
                <a:lnTo>
                  <a:pt x="515620" y="134493"/>
                </a:lnTo>
                <a:lnTo>
                  <a:pt x="556151" y="205319"/>
                </a:lnTo>
                <a:lnTo>
                  <a:pt x="572643" y="211455"/>
                </a:lnTo>
                <a:lnTo>
                  <a:pt x="568198" y="223393"/>
                </a:lnTo>
                <a:lnTo>
                  <a:pt x="572535" y="223393"/>
                </a:lnTo>
                <a:lnTo>
                  <a:pt x="579755" y="220852"/>
                </a:lnTo>
                <a:lnTo>
                  <a:pt x="526669" y="128143"/>
                </a:lnTo>
                <a:lnTo>
                  <a:pt x="525018" y="125094"/>
                </a:lnTo>
                <a:lnTo>
                  <a:pt x="521081" y="124079"/>
                </a:lnTo>
                <a:close/>
              </a:path>
              <a:path w="579754" h="257810">
                <a:moveTo>
                  <a:pt x="568325" y="211455"/>
                </a:moveTo>
                <a:lnTo>
                  <a:pt x="561115" y="213992"/>
                </a:lnTo>
                <a:lnTo>
                  <a:pt x="564896" y="220599"/>
                </a:lnTo>
                <a:lnTo>
                  <a:pt x="568325" y="211455"/>
                </a:lnTo>
                <a:close/>
              </a:path>
              <a:path w="579754" h="257810">
                <a:moveTo>
                  <a:pt x="572643" y="211455"/>
                </a:moveTo>
                <a:lnTo>
                  <a:pt x="568325" y="211455"/>
                </a:lnTo>
                <a:lnTo>
                  <a:pt x="564896" y="220599"/>
                </a:lnTo>
                <a:lnTo>
                  <a:pt x="569238" y="220599"/>
                </a:lnTo>
                <a:lnTo>
                  <a:pt x="572643" y="211455"/>
                </a:lnTo>
                <a:close/>
              </a:path>
              <a:path w="579754" h="257810">
                <a:moveTo>
                  <a:pt x="4318" y="0"/>
                </a:moveTo>
                <a:lnTo>
                  <a:pt x="0" y="11937"/>
                </a:lnTo>
                <a:lnTo>
                  <a:pt x="551771" y="217280"/>
                </a:lnTo>
                <a:lnTo>
                  <a:pt x="561115" y="213992"/>
                </a:lnTo>
                <a:lnTo>
                  <a:pt x="556151" y="205319"/>
                </a:lnTo>
                <a:lnTo>
                  <a:pt x="4318" y="0"/>
                </a:lnTo>
                <a:close/>
              </a:path>
              <a:path w="579754" h="257810">
                <a:moveTo>
                  <a:pt x="556151" y="205319"/>
                </a:moveTo>
                <a:lnTo>
                  <a:pt x="561115" y="213992"/>
                </a:lnTo>
                <a:lnTo>
                  <a:pt x="568325" y="211455"/>
                </a:lnTo>
                <a:lnTo>
                  <a:pt x="572643" y="211455"/>
                </a:lnTo>
                <a:lnTo>
                  <a:pt x="556151" y="2053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31664" y="4088891"/>
            <a:ext cx="1155700" cy="407034"/>
          </a:xfrm>
          <a:custGeom>
            <a:avLst/>
            <a:gdLst/>
            <a:ahLst/>
            <a:cxnLst/>
            <a:rect l="l" t="t" r="r" b="b"/>
            <a:pathLst>
              <a:path w="1155700" h="407035">
                <a:moveTo>
                  <a:pt x="63881" y="270763"/>
                </a:moveTo>
                <a:lnTo>
                  <a:pt x="59944" y="271652"/>
                </a:lnTo>
                <a:lnTo>
                  <a:pt x="0" y="364235"/>
                </a:lnTo>
                <a:lnTo>
                  <a:pt x="98678" y="405256"/>
                </a:lnTo>
                <a:lnTo>
                  <a:pt x="101853" y="406526"/>
                </a:lnTo>
                <a:lnTo>
                  <a:pt x="105537" y="405002"/>
                </a:lnTo>
                <a:lnTo>
                  <a:pt x="106934" y="401827"/>
                </a:lnTo>
                <a:lnTo>
                  <a:pt x="108331" y="398525"/>
                </a:lnTo>
                <a:lnTo>
                  <a:pt x="106680" y="394842"/>
                </a:lnTo>
                <a:lnTo>
                  <a:pt x="103505" y="393445"/>
                </a:lnTo>
                <a:lnTo>
                  <a:pt x="40724" y="367410"/>
                </a:lnTo>
                <a:lnTo>
                  <a:pt x="11302" y="367410"/>
                </a:lnTo>
                <a:lnTo>
                  <a:pt x="7620" y="355218"/>
                </a:lnTo>
                <a:lnTo>
                  <a:pt x="24265" y="350051"/>
                </a:lnTo>
                <a:lnTo>
                  <a:pt x="68707" y="281558"/>
                </a:lnTo>
                <a:lnTo>
                  <a:pt x="70612" y="278510"/>
                </a:lnTo>
                <a:lnTo>
                  <a:pt x="69850" y="274700"/>
                </a:lnTo>
                <a:lnTo>
                  <a:pt x="66801" y="272668"/>
                </a:lnTo>
                <a:lnTo>
                  <a:pt x="63881" y="270763"/>
                </a:lnTo>
                <a:close/>
              </a:path>
              <a:path w="1155700" h="407035">
                <a:moveTo>
                  <a:pt x="24265" y="350051"/>
                </a:moveTo>
                <a:lnTo>
                  <a:pt x="7620" y="355218"/>
                </a:lnTo>
                <a:lnTo>
                  <a:pt x="11302" y="367410"/>
                </a:lnTo>
                <a:lnTo>
                  <a:pt x="19894" y="364743"/>
                </a:lnTo>
                <a:lnTo>
                  <a:pt x="14732" y="364743"/>
                </a:lnTo>
                <a:lnTo>
                  <a:pt x="11937" y="355472"/>
                </a:lnTo>
                <a:lnTo>
                  <a:pt x="20747" y="355472"/>
                </a:lnTo>
                <a:lnTo>
                  <a:pt x="24265" y="350051"/>
                </a:lnTo>
                <a:close/>
              </a:path>
              <a:path w="1155700" h="407035">
                <a:moveTo>
                  <a:pt x="28129" y="362187"/>
                </a:moveTo>
                <a:lnTo>
                  <a:pt x="11302" y="367410"/>
                </a:lnTo>
                <a:lnTo>
                  <a:pt x="40724" y="367410"/>
                </a:lnTo>
                <a:lnTo>
                  <a:pt x="28129" y="362187"/>
                </a:lnTo>
                <a:close/>
              </a:path>
              <a:path w="1155700" h="407035">
                <a:moveTo>
                  <a:pt x="11937" y="355472"/>
                </a:moveTo>
                <a:lnTo>
                  <a:pt x="14732" y="364743"/>
                </a:lnTo>
                <a:lnTo>
                  <a:pt x="18879" y="358351"/>
                </a:lnTo>
                <a:lnTo>
                  <a:pt x="11937" y="355472"/>
                </a:lnTo>
                <a:close/>
              </a:path>
              <a:path w="1155700" h="407035">
                <a:moveTo>
                  <a:pt x="18879" y="358351"/>
                </a:moveTo>
                <a:lnTo>
                  <a:pt x="14732" y="364743"/>
                </a:lnTo>
                <a:lnTo>
                  <a:pt x="19894" y="364743"/>
                </a:lnTo>
                <a:lnTo>
                  <a:pt x="28129" y="362187"/>
                </a:lnTo>
                <a:lnTo>
                  <a:pt x="18879" y="358351"/>
                </a:lnTo>
                <a:close/>
              </a:path>
              <a:path w="1155700" h="407035">
                <a:moveTo>
                  <a:pt x="1151763" y="0"/>
                </a:moveTo>
                <a:lnTo>
                  <a:pt x="24265" y="350051"/>
                </a:lnTo>
                <a:lnTo>
                  <a:pt x="18879" y="358351"/>
                </a:lnTo>
                <a:lnTo>
                  <a:pt x="28129" y="362187"/>
                </a:lnTo>
                <a:lnTo>
                  <a:pt x="1155573" y="12191"/>
                </a:lnTo>
                <a:lnTo>
                  <a:pt x="1151763" y="0"/>
                </a:lnTo>
                <a:close/>
              </a:path>
              <a:path w="1155700" h="407035">
                <a:moveTo>
                  <a:pt x="20747" y="355472"/>
                </a:moveTo>
                <a:lnTo>
                  <a:pt x="11937" y="355472"/>
                </a:lnTo>
                <a:lnTo>
                  <a:pt x="18879" y="358351"/>
                </a:lnTo>
                <a:lnTo>
                  <a:pt x="20747" y="3554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276600" y="5096128"/>
            <a:ext cx="720725" cy="202565"/>
          </a:xfrm>
          <a:custGeom>
            <a:avLst/>
            <a:gdLst/>
            <a:ahLst/>
            <a:cxnLst/>
            <a:rect l="l" t="t" r="r" b="b"/>
            <a:pathLst>
              <a:path w="720725" h="202564">
                <a:moveTo>
                  <a:pt x="73278" y="63246"/>
                </a:moveTo>
                <a:lnTo>
                  <a:pt x="69341" y="63627"/>
                </a:lnTo>
                <a:lnTo>
                  <a:pt x="67055" y="66421"/>
                </a:lnTo>
                <a:lnTo>
                  <a:pt x="0" y="149479"/>
                </a:lnTo>
                <a:lnTo>
                  <a:pt x="96900" y="202184"/>
                </a:lnTo>
                <a:lnTo>
                  <a:pt x="100711" y="201041"/>
                </a:lnTo>
                <a:lnTo>
                  <a:pt x="102488" y="197993"/>
                </a:lnTo>
                <a:lnTo>
                  <a:pt x="104139" y="194945"/>
                </a:lnTo>
                <a:lnTo>
                  <a:pt x="102997" y="191008"/>
                </a:lnTo>
                <a:lnTo>
                  <a:pt x="99822" y="189357"/>
                </a:lnTo>
                <a:lnTo>
                  <a:pt x="34422" y="153797"/>
                </a:lnTo>
                <a:lnTo>
                  <a:pt x="10922" y="153797"/>
                </a:lnTo>
                <a:lnTo>
                  <a:pt x="8509" y="141351"/>
                </a:lnTo>
                <a:lnTo>
                  <a:pt x="25573" y="137951"/>
                </a:lnTo>
                <a:lnTo>
                  <a:pt x="76962" y="74422"/>
                </a:lnTo>
                <a:lnTo>
                  <a:pt x="79248" y="71628"/>
                </a:lnTo>
                <a:lnTo>
                  <a:pt x="78739" y="67691"/>
                </a:lnTo>
                <a:lnTo>
                  <a:pt x="76073" y="65405"/>
                </a:lnTo>
                <a:lnTo>
                  <a:pt x="73278" y="63246"/>
                </a:lnTo>
                <a:close/>
              </a:path>
              <a:path w="720725" h="202564">
                <a:moveTo>
                  <a:pt x="25573" y="137951"/>
                </a:moveTo>
                <a:lnTo>
                  <a:pt x="8509" y="141351"/>
                </a:lnTo>
                <a:lnTo>
                  <a:pt x="10922" y="153797"/>
                </a:lnTo>
                <a:lnTo>
                  <a:pt x="22399" y="151511"/>
                </a:lnTo>
                <a:lnTo>
                  <a:pt x="14604" y="151511"/>
                </a:lnTo>
                <a:lnTo>
                  <a:pt x="12700" y="141986"/>
                </a:lnTo>
                <a:lnTo>
                  <a:pt x="22309" y="141986"/>
                </a:lnTo>
                <a:lnTo>
                  <a:pt x="25573" y="137951"/>
                </a:lnTo>
                <a:close/>
              </a:path>
              <a:path w="720725" h="202564">
                <a:moveTo>
                  <a:pt x="28121" y="150371"/>
                </a:moveTo>
                <a:lnTo>
                  <a:pt x="10922" y="153797"/>
                </a:lnTo>
                <a:lnTo>
                  <a:pt x="34422" y="153797"/>
                </a:lnTo>
                <a:lnTo>
                  <a:pt x="28121" y="150371"/>
                </a:lnTo>
                <a:close/>
              </a:path>
              <a:path w="720725" h="202564">
                <a:moveTo>
                  <a:pt x="12700" y="141986"/>
                </a:moveTo>
                <a:lnTo>
                  <a:pt x="14604" y="151511"/>
                </a:lnTo>
                <a:lnTo>
                  <a:pt x="19374" y="145615"/>
                </a:lnTo>
                <a:lnTo>
                  <a:pt x="12700" y="141986"/>
                </a:lnTo>
                <a:close/>
              </a:path>
              <a:path w="720725" h="202564">
                <a:moveTo>
                  <a:pt x="19374" y="145615"/>
                </a:moveTo>
                <a:lnTo>
                  <a:pt x="14604" y="151511"/>
                </a:lnTo>
                <a:lnTo>
                  <a:pt x="22399" y="151511"/>
                </a:lnTo>
                <a:lnTo>
                  <a:pt x="28121" y="150371"/>
                </a:lnTo>
                <a:lnTo>
                  <a:pt x="19374" y="145615"/>
                </a:lnTo>
                <a:close/>
              </a:path>
              <a:path w="720725" h="202564">
                <a:moveTo>
                  <a:pt x="718058" y="0"/>
                </a:moveTo>
                <a:lnTo>
                  <a:pt x="25573" y="137951"/>
                </a:lnTo>
                <a:lnTo>
                  <a:pt x="19374" y="145615"/>
                </a:lnTo>
                <a:lnTo>
                  <a:pt x="28121" y="150371"/>
                </a:lnTo>
                <a:lnTo>
                  <a:pt x="720598" y="12446"/>
                </a:lnTo>
                <a:lnTo>
                  <a:pt x="718058" y="0"/>
                </a:lnTo>
                <a:close/>
              </a:path>
              <a:path w="720725" h="202564">
                <a:moveTo>
                  <a:pt x="22309" y="141986"/>
                </a:moveTo>
                <a:lnTo>
                  <a:pt x="12700" y="141986"/>
                </a:lnTo>
                <a:lnTo>
                  <a:pt x="19374" y="145615"/>
                </a:lnTo>
                <a:lnTo>
                  <a:pt x="22309" y="1419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556764" y="5678423"/>
            <a:ext cx="141224" cy="2164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1615249" y="1717548"/>
          <a:ext cx="6033133" cy="4465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4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79">
                <a:tc>
                  <a:txBody>
                    <a:bodyPr/>
                    <a:lstStyle/>
                    <a:p>
                      <a:pPr marL="650875">
                        <a:lnSpc>
                          <a:spcPts val="1270"/>
                        </a:lnSpc>
                        <a:spcBef>
                          <a:spcPts val="7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Customer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Sales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R="587375" algn="r">
                        <a:lnSpc>
                          <a:spcPts val="134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St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ro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Request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Service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3495" algn="ctr">
                        <a:lnSpc>
                          <a:spcPct val="10000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Pay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595630">
                        <a:lnSpc>
                          <a:spcPct val="10000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Collect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Order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R="473075" algn="r">
                        <a:lnSpc>
                          <a:spcPct val="10000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Take</a:t>
                      </a:r>
                      <a:r>
                        <a:rPr sz="1200" b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Order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519430" algn="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Deliver</a:t>
                      </a:r>
                      <a:r>
                        <a:rPr sz="12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Order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573405" algn="r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Fill</a:t>
                      </a:r>
                      <a:r>
                        <a:rPr sz="12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Order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2505201" y="36652"/>
            <a:ext cx="4215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活动图元</a:t>
            </a:r>
            <a:r>
              <a:rPr sz="4400" spc="5" dirty="0"/>
              <a:t>素</a:t>
            </a:r>
            <a:r>
              <a:rPr sz="4400" dirty="0">
                <a:latin typeface="Calibri"/>
                <a:cs typeface="Calibri"/>
              </a:rPr>
              <a:t>:</a:t>
            </a:r>
            <a:r>
              <a:rPr sz="4400" spc="-95" dirty="0">
                <a:latin typeface="Calibri"/>
                <a:cs typeface="Calibri"/>
              </a:rPr>
              <a:t> </a:t>
            </a:r>
            <a:r>
              <a:rPr sz="4400" dirty="0"/>
              <a:t>泳道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945159"/>
            <a:ext cx="7491095" cy="200278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800" spc="-5" dirty="0">
                <a:latin typeface="宋体"/>
                <a:cs typeface="宋体"/>
              </a:rPr>
              <a:t>活动图中的“分支”</a:t>
            </a:r>
            <a:r>
              <a:rPr sz="2000" spc="-5" dirty="0">
                <a:latin typeface="Arial"/>
                <a:cs typeface="Arial"/>
              </a:rPr>
              <a:t>branch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ts val="3220"/>
              </a:lnSpc>
              <a:spcBef>
                <a:spcPts val="900"/>
              </a:spcBef>
            </a:pPr>
            <a:r>
              <a:rPr sz="2800" spc="-5" dirty="0">
                <a:latin typeface="宋体"/>
                <a:cs typeface="宋体"/>
              </a:rPr>
              <a:t>在活动图中同一触发事件，可根据</a:t>
            </a:r>
            <a:r>
              <a:rPr sz="2800" spc="5" dirty="0">
                <a:latin typeface="宋体"/>
                <a:cs typeface="宋体"/>
              </a:rPr>
              <a:t>警</a:t>
            </a:r>
            <a:r>
              <a:rPr sz="2800" spc="-5" dirty="0">
                <a:latin typeface="宋体"/>
                <a:cs typeface="宋体"/>
              </a:rPr>
              <a:t>戒条</a:t>
            </a:r>
            <a:r>
              <a:rPr sz="2800" spc="5" dirty="0">
                <a:latin typeface="宋体"/>
                <a:cs typeface="宋体"/>
              </a:rPr>
              <a:t>件</a:t>
            </a:r>
            <a:r>
              <a:rPr sz="2800" spc="-5" dirty="0">
                <a:latin typeface="宋体"/>
                <a:cs typeface="宋体"/>
              </a:rPr>
              <a:t>转向 不同的活动，</a:t>
            </a:r>
            <a:r>
              <a:rPr sz="2800" spc="-15" dirty="0">
                <a:latin typeface="宋体"/>
                <a:cs typeface="宋体"/>
              </a:rPr>
              <a:t>有</a:t>
            </a:r>
            <a:r>
              <a:rPr sz="2800" spc="-5" dirty="0">
                <a:solidFill>
                  <a:srgbClr val="00A361"/>
                </a:solidFill>
                <a:latin typeface="宋体"/>
                <a:cs typeface="宋体"/>
              </a:rPr>
              <a:t>两种表示方法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03505">
              <a:lnSpc>
                <a:spcPct val="100000"/>
              </a:lnSpc>
              <a:spcBef>
                <a:spcPts val="1789"/>
              </a:spcBef>
            </a:pPr>
            <a:r>
              <a:rPr sz="2000" b="1" spc="5" dirty="0">
                <a:latin typeface="宋体"/>
                <a:cs typeface="宋体"/>
              </a:rPr>
              <a:t>例：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91639" y="2983992"/>
            <a:ext cx="288290" cy="433070"/>
          </a:xfrm>
          <a:custGeom>
            <a:avLst/>
            <a:gdLst/>
            <a:ahLst/>
            <a:cxnLst/>
            <a:rect l="l" t="t" r="r" b="b"/>
            <a:pathLst>
              <a:path w="288289" h="433070">
                <a:moveTo>
                  <a:pt x="288036" y="0"/>
                </a:moveTo>
                <a:lnTo>
                  <a:pt x="236247" y="3491"/>
                </a:lnTo>
                <a:lnTo>
                  <a:pt x="187509" y="13557"/>
                </a:lnTo>
                <a:lnTo>
                  <a:pt x="142635" y="29586"/>
                </a:lnTo>
                <a:lnTo>
                  <a:pt x="102436" y="50964"/>
                </a:lnTo>
                <a:lnTo>
                  <a:pt x="67724" y="77079"/>
                </a:lnTo>
                <a:lnTo>
                  <a:pt x="39313" y="107319"/>
                </a:lnTo>
                <a:lnTo>
                  <a:pt x="18014" y="141071"/>
                </a:lnTo>
                <a:lnTo>
                  <a:pt x="4638" y="177723"/>
                </a:lnTo>
                <a:lnTo>
                  <a:pt x="0" y="216662"/>
                </a:lnTo>
                <a:lnTo>
                  <a:pt x="5275" y="258120"/>
                </a:lnTo>
                <a:lnTo>
                  <a:pt x="20462" y="297013"/>
                </a:lnTo>
                <a:lnTo>
                  <a:pt x="44603" y="332560"/>
                </a:lnTo>
                <a:lnTo>
                  <a:pt x="76739" y="363982"/>
                </a:lnTo>
                <a:lnTo>
                  <a:pt x="115912" y="390498"/>
                </a:lnTo>
                <a:lnTo>
                  <a:pt x="161163" y="411329"/>
                </a:lnTo>
                <a:lnTo>
                  <a:pt x="211533" y="425695"/>
                </a:lnTo>
                <a:lnTo>
                  <a:pt x="266065" y="43281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9676" y="2983992"/>
            <a:ext cx="937260" cy="0"/>
          </a:xfrm>
          <a:custGeom>
            <a:avLst/>
            <a:gdLst/>
            <a:ahLst/>
            <a:cxnLst/>
            <a:rect l="l" t="t" r="r" b="b"/>
            <a:pathLst>
              <a:path w="937260">
                <a:moveTo>
                  <a:pt x="0" y="0"/>
                </a:moveTo>
                <a:lnTo>
                  <a:pt x="93726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9572" y="3416808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>
                <a:moveTo>
                  <a:pt x="0" y="0"/>
                </a:moveTo>
                <a:lnTo>
                  <a:pt x="10073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89504" y="2985516"/>
            <a:ext cx="338455" cy="433070"/>
          </a:xfrm>
          <a:custGeom>
            <a:avLst/>
            <a:gdLst/>
            <a:ahLst/>
            <a:cxnLst/>
            <a:rect l="l" t="t" r="r" b="b"/>
            <a:pathLst>
              <a:path w="338455" h="433070">
                <a:moveTo>
                  <a:pt x="0" y="432054"/>
                </a:moveTo>
                <a:lnTo>
                  <a:pt x="6762" y="432387"/>
                </a:lnTo>
                <a:lnTo>
                  <a:pt x="13525" y="432625"/>
                </a:lnTo>
                <a:lnTo>
                  <a:pt x="20288" y="432768"/>
                </a:lnTo>
                <a:lnTo>
                  <a:pt x="27050" y="432816"/>
                </a:lnTo>
                <a:lnTo>
                  <a:pt x="83015" y="429328"/>
                </a:lnTo>
                <a:lnTo>
                  <a:pt x="135683" y="419275"/>
                </a:lnTo>
                <a:lnTo>
                  <a:pt x="184178" y="403267"/>
                </a:lnTo>
                <a:lnTo>
                  <a:pt x="227621" y="381915"/>
                </a:lnTo>
                <a:lnTo>
                  <a:pt x="265134" y="355832"/>
                </a:lnTo>
                <a:lnTo>
                  <a:pt x="295839" y="325628"/>
                </a:lnTo>
                <a:lnTo>
                  <a:pt x="318858" y="291914"/>
                </a:lnTo>
                <a:lnTo>
                  <a:pt x="333314" y="255304"/>
                </a:lnTo>
                <a:lnTo>
                  <a:pt x="338327" y="216408"/>
                </a:lnTo>
                <a:lnTo>
                  <a:pt x="333488" y="178180"/>
                </a:lnTo>
                <a:lnTo>
                  <a:pt x="319520" y="142122"/>
                </a:lnTo>
                <a:lnTo>
                  <a:pt x="297245" y="108824"/>
                </a:lnTo>
                <a:lnTo>
                  <a:pt x="267489" y="78875"/>
                </a:lnTo>
                <a:lnTo>
                  <a:pt x="231074" y="52865"/>
                </a:lnTo>
                <a:lnTo>
                  <a:pt x="188825" y="31383"/>
                </a:lnTo>
                <a:lnTo>
                  <a:pt x="141565" y="15018"/>
                </a:lnTo>
                <a:lnTo>
                  <a:pt x="90117" y="4360"/>
                </a:lnTo>
                <a:lnTo>
                  <a:pt x="353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1453" y="4034790"/>
            <a:ext cx="1414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290" marR="5080" indent="-403225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Charge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customer`s  </a:t>
            </a:r>
            <a:r>
              <a:rPr sz="1200" b="1" dirty="0">
                <a:latin typeface="Arial"/>
                <a:cs typeface="Arial"/>
              </a:rPr>
              <a:t>account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7532" y="4005071"/>
            <a:ext cx="287020" cy="431800"/>
          </a:xfrm>
          <a:custGeom>
            <a:avLst/>
            <a:gdLst/>
            <a:ahLst/>
            <a:cxnLst/>
            <a:rect l="l" t="t" r="r" b="b"/>
            <a:pathLst>
              <a:path w="287019" h="431800">
                <a:moveTo>
                  <a:pt x="286512" y="0"/>
                </a:moveTo>
                <a:lnTo>
                  <a:pt x="235012" y="3477"/>
                </a:lnTo>
                <a:lnTo>
                  <a:pt x="186541" y="13505"/>
                </a:lnTo>
                <a:lnTo>
                  <a:pt x="141906" y="29473"/>
                </a:lnTo>
                <a:lnTo>
                  <a:pt x="101918" y="50772"/>
                </a:lnTo>
                <a:lnTo>
                  <a:pt x="67386" y="76792"/>
                </a:lnTo>
                <a:lnTo>
                  <a:pt x="39118" y="106924"/>
                </a:lnTo>
                <a:lnTo>
                  <a:pt x="17925" y="140559"/>
                </a:lnTo>
                <a:lnTo>
                  <a:pt x="4616" y="177087"/>
                </a:lnTo>
                <a:lnTo>
                  <a:pt x="0" y="215900"/>
                </a:lnTo>
                <a:lnTo>
                  <a:pt x="5245" y="257216"/>
                </a:lnTo>
                <a:lnTo>
                  <a:pt x="20347" y="295971"/>
                </a:lnTo>
                <a:lnTo>
                  <a:pt x="44352" y="331389"/>
                </a:lnTo>
                <a:lnTo>
                  <a:pt x="76309" y="362696"/>
                </a:lnTo>
                <a:lnTo>
                  <a:pt x="115265" y="389114"/>
                </a:lnTo>
                <a:lnTo>
                  <a:pt x="160268" y="409870"/>
                </a:lnTo>
                <a:lnTo>
                  <a:pt x="210365" y="424188"/>
                </a:lnTo>
                <a:lnTo>
                  <a:pt x="264604" y="4312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14044" y="4005071"/>
            <a:ext cx="937260" cy="0"/>
          </a:xfrm>
          <a:custGeom>
            <a:avLst/>
            <a:gdLst/>
            <a:ahLst/>
            <a:cxnLst/>
            <a:rect l="l" t="t" r="r" b="b"/>
            <a:pathLst>
              <a:path w="937260">
                <a:moveTo>
                  <a:pt x="0" y="0"/>
                </a:moveTo>
                <a:lnTo>
                  <a:pt x="93726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3939" y="4436364"/>
            <a:ext cx="1007744" cy="3175"/>
          </a:xfrm>
          <a:custGeom>
            <a:avLst/>
            <a:gdLst/>
            <a:ahLst/>
            <a:cxnLst/>
            <a:rect l="l" t="t" r="r" b="b"/>
            <a:pathLst>
              <a:path w="1007744" h="3175">
                <a:moveTo>
                  <a:pt x="0" y="3048"/>
                </a:moveTo>
                <a:lnTo>
                  <a:pt x="100736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23872" y="4006596"/>
            <a:ext cx="338455" cy="433070"/>
          </a:xfrm>
          <a:custGeom>
            <a:avLst/>
            <a:gdLst/>
            <a:ahLst/>
            <a:cxnLst/>
            <a:rect l="l" t="t" r="r" b="b"/>
            <a:pathLst>
              <a:path w="338455" h="433070">
                <a:moveTo>
                  <a:pt x="0" y="432053"/>
                </a:moveTo>
                <a:lnTo>
                  <a:pt x="6762" y="432387"/>
                </a:lnTo>
                <a:lnTo>
                  <a:pt x="13525" y="432625"/>
                </a:lnTo>
                <a:lnTo>
                  <a:pt x="20288" y="432768"/>
                </a:lnTo>
                <a:lnTo>
                  <a:pt x="27050" y="432815"/>
                </a:lnTo>
                <a:lnTo>
                  <a:pt x="83015" y="429328"/>
                </a:lnTo>
                <a:lnTo>
                  <a:pt x="135683" y="419275"/>
                </a:lnTo>
                <a:lnTo>
                  <a:pt x="184178" y="403267"/>
                </a:lnTo>
                <a:lnTo>
                  <a:pt x="227621" y="381915"/>
                </a:lnTo>
                <a:lnTo>
                  <a:pt x="265134" y="355832"/>
                </a:lnTo>
                <a:lnTo>
                  <a:pt x="295839" y="325627"/>
                </a:lnTo>
                <a:lnTo>
                  <a:pt x="318858" y="291914"/>
                </a:lnTo>
                <a:lnTo>
                  <a:pt x="333314" y="255304"/>
                </a:lnTo>
                <a:lnTo>
                  <a:pt x="338327" y="216407"/>
                </a:lnTo>
                <a:lnTo>
                  <a:pt x="333488" y="178180"/>
                </a:lnTo>
                <a:lnTo>
                  <a:pt x="319520" y="142122"/>
                </a:lnTo>
                <a:lnTo>
                  <a:pt x="297245" y="108824"/>
                </a:lnTo>
                <a:lnTo>
                  <a:pt x="267489" y="78875"/>
                </a:lnTo>
                <a:lnTo>
                  <a:pt x="231074" y="52865"/>
                </a:lnTo>
                <a:lnTo>
                  <a:pt x="188825" y="31383"/>
                </a:lnTo>
                <a:lnTo>
                  <a:pt x="141565" y="15018"/>
                </a:lnTo>
                <a:lnTo>
                  <a:pt x="90117" y="4360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88408" y="2849879"/>
            <a:ext cx="287020" cy="431800"/>
          </a:xfrm>
          <a:custGeom>
            <a:avLst/>
            <a:gdLst/>
            <a:ahLst/>
            <a:cxnLst/>
            <a:rect l="l" t="t" r="r" b="b"/>
            <a:pathLst>
              <a:path w="287020" h="431800">
                <a:moveTo>
                  <a:pt x="286512" y="0"/>
                </a:moveTo>
                <a:lnTo>
                  <a:pt x="235009" y="3477"/>
                </a:lnTo>
                <a:lnTo>
                  <a:pt x="186536" y="13505"/>
                </a:lnTo>
                <a:lnTo>
                  <a:pt x="141901" y="29473"/>
                </a:lnTo>
                <a:lnTo>
                  <a:pt x="101913" y="50772"/>
                </a:lnTo>
                <a:lnTo>
                  <a:pt x="67382" y="76792"/>
                </a:lnTo>
                <a:lnTo>
                  <a:pt x="39116" y="106924"/>
                </a:lnTo>
                <a:lnTo>
                  <a:pt x="17924" y="140559"/>
                </a:lnTo>
                <a:lnTo>
                  <a:pt x="4615" y="177087"/>
                </a:lnTo>
                <a:lnTo>
                  <a:pt x="0" y="215900"/>
                </a:lnTo>
                <a:lnTo>
                  <a:pt x="5246" y="257216"/>
                </a:lnTo>
                <a:lnTo>
                  <a:pt x="20349" y="295971"/>
                </a:lnTo>
                <a:lnTo>
                  <a:pt x="44355" y="331389"/>
                </a:lnTo>
                <a:lnTo>
                  <a:pt x="76311" y="362696"/>
                </a:lnTo>
                <a:lnTo>
                  <a:pt x="115261" y="389114"/>
                </a:lnTo>
                <a:lnTo>
                  <a:pt x="160252" y="409870"/>
                </a:lnTo>
                <a:lnTo>
                  <a:pt x="210330" y="424188"/>
                </a:lnTo>
                <a:lnTo>
                  <a:pt x="264540" y="43129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94732" y="2849879"/>
            <a:ext cx="935990" cy="0"/>
          </a:xfrm>
          <a:custGeom>
            <a:avLst/>
            <a:gdLst/>
            <a:ahLst/>
            <a:cxnLst/>
            <a:rect l="l" t="t" r="r" b="b"/>
            <a:pathLst>
              <a:path w="935989">
                <a:moveTo>
                  <a:pt x="0" y="0"/>
                </a:moveTo>
                <a:lnTo>
                  <a:pt x="9357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03291" y="3281171"/>
            <a:ext cx="1009015" cy="1905"/>
          </a:xfrm>
          <a:custGeom>
            <a:avLst/>
            <a:gdLst/>
            <a:ahLst/>
            <a:cxnLst/>
            <a:rect l="l" t="t" r="r" b="b"/>
            <a:pathLst>
              <a:path w="1009014" h="1904">
                <a:moveTo>
                  <a:pt x="0" y="1524"/>
                </a:moveTo>
                <a:lnTo>
                  <a:pt x="100888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84747" y="2851404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30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2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6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41007" y="4293108"/>
            <a:ext cx="287020" cy="431800"/>
          </a:xfrm>
          <a:custGeom>
            <a:avLst/>
            <a:gdLst/>
            <a:ahLst/>
            <a:cxnLst/>
            <a:rect l="l" t="t" r="r" b="b"/>
            <a:pathLst>
              <a:path w="287020" h="431800">
                <a:moveTo>
                  <a:pt x="286512" y="0"/>
                </a:moveTo>
                <a:lnTo>
                  <a:pt x="235009" y="3477"/>
                </a:lnTo>
                <a:lnTo>
                  <a:pt x="186536" y="13505"/>
                </a:lnTo>
                <a:lnTo>
                  <a:pt x="141901" y="29473"/>
                </a:lnTo>
                <a:lnTo>
                  <a:pt x="101913" y="50772"/>
                </a:lnTo>
                <a:lnTo>
                  <a:pt x="67382" y="76792"/>
                </a:lnTo>
                <a:lnTo>
                  <a:pt x="39115" y="106924"/>
                </a:lnTo>
                <a:lnTo>
                  <a:pt x="17924" y="140559"/>
                </a:lnTo>
                <a:lnTo>
                  <a:pt x="4615" y="177087"/>
                </a:lnTo>
                <a:lnTo>
                  <a:pt x="0" y="215900"/>
                </a:lnTo>
                <a:lnTo>
                  <a:pt x="5246" y="257216"/>
                </a:lnTo>
                <a:lnTo>
                  <a:pt x="20349" y="295971"/>
                </a:lnTo>
                <a:lnTo>
                  <a:pt x="44355" y="331389"/>
                </a:lnTo>
                <a:lnTo>
                  <a:pt x="76311" y="362696"/>
                </a:lnTo>
                <a:lnTo>
                  <a:pt x="115261" y="389114"/>
                </a:lnTo>
                <a:lnTo>
                  <a:pt x="160252" y="409870"/>
                </a:lnTo>
                <a:lnTo>
                  <a:pt x="210330" y="424188"/>
                </a:lnTo>
                <a:lnTo>
                  <a:pt x="264541" y="43129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27519" y="4293108"/>
            <a:ext cx="937260" cy="0"/>
          </a:xfrm>
          <a:custGeom>
            <a:avLst/>
            <a:gdLst/>
            <a:ahLst/>
            <a:cxnLst/>
            <a:rect l="l" t="t" r="r" b="b"/>
            <a:pathLst>
              <a:path w="937259">
                <a:moveTo>
                  <a:pt x="0" y="0"/>
                </a:moveTo>
                <a:lnTo>
                  <a:pt x="93725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755892" y="4724400"/>
            <a:ext cx="1009015" cy="0"/>
          </a:xfrm>
          <a:custGeom>
            <a:avLst/>
            <a:gdLst/>
            <a:ahLst/>
            <a:cxnLst/>
            <a:rect l="l" t="t" r="r" b="b"/>
            <a:pathLst>
              <a:path w="1009015">
                <a:moveTo>
                  <a:pt x="0" y="0"/>
                </a:moveTo>
                <a:lnTo>
                  <a:pt x="100888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37347" y="4294632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30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2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6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92240" y="3500628"/>
            <a:ext cx="288290" cy="431800"/>
          </a:xfrm>
          <a:custGeom>
            <a:avLst/>
            <a:gdLst/>
            <a:ahLst/>
            <a:cxnLst/>
            <a:rect l="l" t="t" r="r" b="b"/>
            <a:pathLst>
              <a:path w="288290" h="431800">
                <a:moveTo>
                  <a:pt x="288036" y="0"/>
                </a:moveTo>
                <a:lnTo>
                  <a:pt x="236247" y="3477"/>
                </a:lnTo>
                <a:lnTo>
                  <a:pt x="187509" y="13505"/>
                </a:lnTo>
                <a:lnTo>
                  <a:pt x="142635" y="29473"/>
                </a:lnTo>
                <a:lnTo>
                  <a:pt x="102436" y="50772"/>
                </a:lnTo>
                <a:lnTo>
                  <a:pt x="67724" y="76792"/>
                </a:lnTo>
                <a:lnTo>
                  <a:pt x="39313" y="106924"/>
                </a:lnTo>
                <a:lnTo>
                  <a:pt x="18014" y="140559"/>
                </a:lnTo>
                <a:lnTo>
                  <a:pt x="4638" y="177087"/>
                </a:lnTo>
                <a:lnTo>
                  <a:pt x="0" y="215900"/>
                </a:lnTo>
                <a:lnTo>
                  <a:pt x="5275" y="257216"/>
                </a:lnTo>
                <a:lnTo>
                  <a:pt x="20462" y="295971"/>
                </a:lnTo>
                <a:lnTo>
                  <a:pt x="44603" y="331389"/>
                </a:lnTo>
                <a:lnTo>
                  <a:pt x="76739" y="362696"/>
                </a:lnTo>
                <a:lnTo>
                  <a:pt x="115912" y="389114"/>
                </a:lnTo>
                <a:lnTo>
                  <a:pt x="161162" y="409870"/>
                </a:lnTo>
                <a:lnTo>
                  <a:pt x="211533" y="424188"/>
                </a:lnTo>
                <a:lnTo>
                  <a:pt x="266064" y="43129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780276" y="3500628"/>
            <a:ext cx="937260" cy="0"/>
          </a:xfrm>
          <a:custGeom>
            <a:avLst/>
            <a:gdLst/>
            <a:ahLst/>
            <a:cxnLst/>
            <a:rect l="l" t="t" r="r" b="b"/>
            <a:pathLst>
              <a:path w="937259">
                <a:moveTo>
                  <a:pt x="0" y="0"/>
                </a:moveTo>
                <a:lnTo>
                  <a:pt x="93725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710171" y="3931920"/>
            <a:ext cx="1007744" cy="1905"/>
          </a:xfrm>
          <a:custGeom>
            <a:avLst/>
            <a:gdLst/>
            <a:ahLst/>
            <a:cxnLst/>
            <a:rect l="l" t="t" r="r" b="b"/>
            <a:pathLst>
              <a:path w="1007745" h="1904">
                <a:moveTo>
                  <a:pt x="0" y="1523"/>
                </a:moveTo>
                <a:lnTo>
                  <a:pt x="10073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690104" y="3502152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30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2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6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635123" y="4118864"/>
            <a:ext cx="1280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Get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authorization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484120" y="4003547"/>
            <a:ext cx="288290" cy="431800"/>
          </a:xfrm>
          <a:custGeom>
            <a:avLst/>
            <a:gdLst/>
            <a:ahLst/>
            <a:cxnLst/>
            <a:rect l="l" t="t" r="r" b="b"/>
            <a:pathLst>
              <a:path w="288289" h="431800">
                <a:moveTo>
                  <a:pt x="288036" y="0"/>
                </a:moveTo>
                <a:lnTo>
                  <a:pt x="236247" y="3477"/>
                </a:lnTo>
                <a:lnTo>
                  <a:pt x="187509" y="13505"/>
                </a:lnTo>
                <a:lnTo>
                  <a:pt x="142635" y="29473"/>
                </a:lnTo>
                <a:lnTo>
                  <a:pt x="102436" y="50772"/>
                </a:lnTo>
                <a:lnTo>
                  <a:pt x="67724" y="76792"/>
                </a:lnTo>
                <a:lnTo>
                  <a:pt x="39313" y="106924"/>
                </a:lnTo>
                <a:lnTo>
                  <a:pt x="18014" y="140559"/>
                </a:lnTo>
                <a:lnTo>
                  <a:pt x="4638" y="177087"/>
                </a:lnTo>
                <a:lnTo>
                  <a:pt x="0" y="215900"/>
                </a:lnTo>
                <a:lnTo>
                  <a:pt x="5275" y="257216"/>
                </a:lnTo>
                <a:lnTo>
                  <a:pt x="20462" y="295971"/>
                </a:lnTo>
                <a:lnTo>
                  <a:pt x="44603" y="331389"/>
                </a:lnTo>
                <a:lnTo>
                  <a:pt x="76739" y="362696"/>
                </a:lnTo>
                <a:lnTo>
                  <a:pt x="115912" y="389114"/>
                </a:lnTo>
                <a:lnTo>
                  <a:pt x="161162" y="409870"/>
                </a:lnTo>
                <a:lnTo>
                  <a:pt x="211533" y="424188"/>
                </a:lnTo>
                <a:lnTo>
                  <a:pt x="266065" y="4312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72155" y="4003547"/>
            <a:ext cx="935990" cy="0"/>
          </a:xfrm>
          <a:custGeom>
            <a:avLst/>
            <a:gdLst/>
            <a:ahLst/>
            <a:cxnLst/>
            <a:rect l="l" t="t" r="r" b="b"/>
            <a:pathLst>
              <a:path w="935989">
                <a:moveTo>
                  <a:pt x="0" y="0"/>
                </a:moveTo>
                <a:lnTo>
                  <a:pt x="9357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702051" y="4434840"/>
            <a:ext cx="1005840" cy="1905"/>
          </a:xfrm>
          <a:custGeom>
            <a:avLst/>
            <a:gdLst/>
            <a:ahLst/>
            <a:cxnLst/>
            <a:rect l="l" t="t" r="r" b="b"/>
            <a:pathLst>
              <a:path w="1005839" h="1904">
                <a:moveTo>
                  <a:pt x="0" y="1524"/>
                </a:moveTo>
                <a:lnTo>
                  <a:pt x="10058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681984" y="4005071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29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1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5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56352" y="3282696"/>
            <a:ext cx="141605" cy="361315"/>
          </a:xfrm>
          <a:custGeom>
            <a:avLst/>
            <a:gdLst/>
            <a:ahLst/>
            <a:cxnLst/>
            <a:rect l="l" t="t" r="r" b="b"/>
            <a:pathLst>
              <a:path w="141604" h="361314">
                <a:moveTo>
                  <a:pt x="5714" y="267969"/>
                </a:moveTo>
                <a:lnTo>
                  <a:pt x="3048" y="270255"/>
                </a:lnTo>
                <a:lnTo>
                  <a:pt x="381" y="272414"/>
                </a:lnTo>
                <a:lnTo>
                  <a:pt x="0" y="276478"/>
                </a:lnTo>
                <a:lnTo>
                  <a:pt x="2286" y="279145"/>
                </a:lnTo>
                <a:lnTo>
                  <a:pt x="70612" y="361187"/>
                </a:lnTo>
                <a:lnTo>
                  <a:pt x="78861" y="351281"/>
                </a:lnTo>
                <a:lnTo>
                  <a:pt x="64262" y="351281"/>
                </a:lnTo>
                <a:lnTo>
                  <a:pt x="64262" y="333806"/>
                </a:lnTo>
                <a:lnTo>
                  <a:pt x="11937" y="271017"/>
                </a:lnTo>
                <a:lnTo>
                  <a:pt x="9778" y="268350"/>
                </a:lnTo>
                <a:lnTo>
                  <a:pt x="5714" y="267969"/>
                </a:lnTo>
                <a:close/>
              </a:path>
              <a:path w="141604" h="361314">
                <a:moveTo>
                  <a:pt x="64262" y="333806"/>
                </a:moveTo>
                <a:lnTo>
                  <a:pt x="64262" y="351281"/>
                </a:lnTo>
                <a:lnTo>
                  <a:pt x="76962" y="351281"/>
                </a:lnTo>
                <a:lnTo>
                  <a:pt x="76962" y="347217"/>
                </a:lnTo>
                <a:lnTo>
                  <a:pt x="65786" y="347217"/>
                </a:lnTo>
                <a:lnTo>
                  <a:pt x="70612" y="341426"/>
                </a:lnTo>
                <a:lnTo>
                  <a:pt x="64262" y="333806"/>
                </a:lnTo>
                <a:close/>
              </a:path>
              <a:path w="141604" h="361314">
                <a:moveTo>
                  <a:pt x="135509" y="267969"/>
                </a:moveTo>
                <a:lnTo>
                  <a:pt x="131445" y="268350"/>
                </a:lnTo>
                <a:lnTo>
                  <a:pt x="129286" y="271017"/>
                </a:lnTo>
                <a:lnTo>
                  <a:pt x="76962" y="333806"/>
                </a:lnTo>
                <a:lnTo>
                  <a:pt x="76962" y="351281"/>
                </a:lnTo>
                <a:lnTo>
                  <a:pt x="78861" y="351281"/>
                </a:lnTo>
                <a:lnTo>
                  <a:pt x="138937" y="279145"/>
                </a:lnTo>
                <a:lnTo>
                  <a:pt x="141224" y="276478"/>
                </a:lnTo>
                <a:lnTo>
                  <a:pt x="140843" y="272414"/>
                </a:lnTo>
                <a:lnTo>
                  <a:pt x="138175" y="270255"/>
                </a:lnTo>
                <a:lnTo>
                  <a:pt x="135509" y="267969"/>
                </a:lnTo>
                <a:close/>
              </a:path>
              <a:path w="141604" h="361314">
                <a:moveTo>
                  <a:pt x="70612" y="341426"/>
                </a:moveTo>
                <a:lnTo>
                  <a:pt x="65786" y="347217"/>
                </a:lnTo>
                <a:lnTo>
                  <a:pt x="75437" y="347217"/>
                </a:lnTo>
                <a:lnTo>
                  <a:pt x="70612" y="341426"/>
                </a:lnTo>
                <a:close/>
              </a:path>
              <a:path w="141604" h="361314">
                <a:moveTo>
                  <a:pt x="76962" y="333806"/>
                </a:moveTo>
                <a:lnTo>
                  <a:pt x="70612" y="341426"/>
                </a:lnTo>
                <a:lnTo>
                  <a:pt x="75437" y="347217"/>
                </a:lnTo>
                <a:lnTo>
                  <a:pt x="76962" y="347217"/>
                </a:lnTo>
                <a:lnTo>
                  <a:pt x="76962" y="333806"/>
                </a:lnTo>
                <a:close/>
              </a:path>
              <a:path w="141604" h="361314">
                <a:moveTo>
                  <a:pt x="76962" y="0"/>
                </a:moveTo>
                <a:lnTo>
                  <a:pt x="64262" y="0"/>
                </a:lnTo>
                <a:lnTo>
                  <a:pt x="64262" y="333806"/>
                </a:lnTo>
                <a:lnTo>
                  <a:pt x="70612" y="341426"/>
                </a:lnTo>
                <a:lnTo>
                  <a:pt x="76962" y="333806"/>
                </a:lnTo>
                <a:lnTo>
                  <a:pt x="769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14297" y="3425190"/>
            <a:ext cx="442595" cy="580390"/>
          </a:xfrm>
          <a:custGeom>
            <a:avLst/>
            <a:gdLst/>
            <a:ahLst/>
            <a:cxnLst/>
            <a:rect l="l" t="t" r="r" b="b"/>
            <a:pathLst>
              <a:path w="442594" h="580389">
                <a:moveTo>
                  <a:pt x="9652" y="466344"/>
                </a:moveTo>
                <a:lnTo>
                  <a:pt x="6096" y="466598"/>
                </a:lnTo>
                <a:lnTo>
                  <a:pt x="2666" y="466725"/>
                </a:lnTo>
                <a:lnTo>
                  <a:pt x="0" y="469773"/>
                </a:lnTo>
                <a:lnTo>
                  <a:pt x="127" y="473202"/>
                </a:lnTo>
                <a:lnTo>
                  <a:pt x="5715" y="579882"/>
                </a:lnTo>
                <a:lnTo>
                  <a:pt x="22850" y="575818"/>
                </a:lnTo>
                <a:lnTo>
                  <a:pt x="16764" y="575818"/>
                </a:lnTo>
                <a:lnTo>
                  <a:pt x="6603" y="568198"/>
                </a:lnTo>
                <a:lnTo>
                  <a:pt x="17115" y="554155"/>
                </a:lnTo>
                <a:lnTo>
                  <a:pt x="12827" y="472567"/>
                </a:lnTo>
                <a:lnTo>
                  <a:pt x="12700" y="469011"/>
                </a:lnTo>
                <a:lnTo>
                  <a:pt x="9652" y="466344"/>
                </a:lnTo>
                <a:close/>
              </a:path>
              <a:path w="442594" h="580389">
                <a:moveTo>
                  <a:pt x="17115" y="554155"/>
                </a:moveTo>
                <a:lnTo>
                  <a:pt x="6603" y="568198"/>
                </a:lnTo>
                <a:lnTo>
                  <a:pt x="16764" y="575818"/>
                </a:lnTo>
                <a:lnTo>
                  <a:pt x="19901" y="571627"/>
                </a:lnTo>
                <a:lnTo>
                  <a:pt x="18034" y="571627"/>
                </a:lnTo>
                <a:lnTo>
                  <a:pt x="10159" y="565785"/>
                </a:lnTo>
                <a:lnTo>
                  <a:pt x="17633" y="564005"/>
                </a:lnTo>
                <a:lnTo>
                  <a:pt x="17115" y="554155"/>
                </a:lnTo>
                <a:close/>
              </a:path>
              <a:path w="442594" h="580389">
                <a:moveTo>
                  <a:pt x="110109" y="542036"/>
                </a:moveTo>
                <a:lnTo>
                  <a:pt x="106679" y="542798"/>
                </a:lnTo>
                <a:lnTo>
                  <a:pt x="27336" y="561694"/>
                </a:lnTo>
                <a:lnTo>
                  <a:pt x="16764" y="575818"/>
                </a:lnTo>
                <a:lnTo>
                  <a:pt x="22850" y="575818"/>
                </a:lnTo>
                <a:lnTo>
                  <a:pt x="109601" y="555244"/>
                </a:lnTo>
                <a:lnTo>
                  <a:pt x="113029" y="554355"/>
                </a:lnTo>
                <a:lnTo>
                  <a:pt x="115189" y="550926"/>
                </a:lnTo>
                <a:lnTo>
                  <a:pt x="114300" y="547497"/>
                </a:lnTo>
                <a:lnTo>
                  <a:pt x="113538" y="544068"/>
                </a:lnTo>
                <a:lnTo>
                  <a:pt x="110109" y="542036"/>
                </a:lnTo>
                <a:close/>
              </a:path>
              <a:path w="442594" h="580389">
                <a:moveTo>
                  <a:pt x="17633" y="564005"/>
                </a:moveTo>
                <a:lnTo>
                  <a:pt x="10159" y="565785"/>
                </a:lnTo>
                <a:lnTo>
                  <a:pt x="18034" y="571627"/>
                </a:lnTo>
                <a:lnTo>
                  <a:pt x="17633" y="564005"/>
                </a:lnTo>
                <a:close/>
              </a:path>
              <a:path w="442594" h="580389">
                <a:moveTo>
                  <a:pt x="27336" y="561694"/>
                </a:moveTo>
                <a:lnTo>
                  <a:pt x="17633" y="564005"/>
                </a:lnTo>
                <a:lnTo>
                  <a:pt x="18034" y="571627"/>
                </a:lnTo>
                <a:lnTo>
                  <a:pt x="19901" y="571627"/>
                </a:lnTo>
                <a:lnTo>
                  <a:pt x="27336" y="561694"/>
                </a:lnTo>
                <a:close/>
              </a:path>
              <a:path w="442594" h="580389">
                <a:moveTo>
                  <a:pt x="431927" y="0"/>
                </a:moveTo>
                <a:lnTo>
                  <a:pt x="17115" y="554155"/>
                </a:lnTo>
                <a:lnTo>
                  <a:pt x="17633" y="564005"/>
                </a:lnTo>
                <a:lnTo>
                  <a:pt x="27336" y="561694"/>
                </a:lnTo>
                <a:lnTo>
                  <a:pt x="442086" y="7620"/>
                </a:lnTo>
                <a:lnTo>
                  <a:pt x="4319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767329" y="3424809"/>
            <a:ext cx="509270" cy="580390"/>
          </a:xfrm>
          <a:custGeom>
            <a:avLst/>
            <a:gdLst/>
            <a:ahLst/>
            <a:cxnLst/>
            <a:rect l="l" t="t" r="r" b="b"/>
            <a:pathLst>
              <a:path w="509270" h="580389">
                <a:moveTo>
                  <a:pt x="402336" y="550544"/>
                </a:moveTo>
                <a:lnTo>
                  <a:pt x="399033" y="552830"/>
                </a:lnTo>
                <a:lnTo>
                  <a:pt x="398525" y="556259"/>
                </a:lnTo>
                <a:lnTo>
                  <a:pt x="397890" y="559815"/>
                </a:lnTo>
                <a:lnTo>
                  <a:pt x="400303" y="562990"/>
                </a:lnTo>
                <a:lnTo>
                  <a:pt x="403732" y="563626"/>
                </a:lnTo>
                <a:lnTo>
                  <a:pt x="509269" y="580263"/>
                </a:lnTo>
                <a:lnTo>
                  <a:pt x="509187" y="576960"/>
                </a:lnTo>
                <a:lnTo>
                  <a:pt x="497967" y="576960"/>
                </a:lnTo>
                <a:lnTo>
                  <a:pt x="486459" y="563821"/>
                </a:lnTo>
                <a:lnTo>
                  <a:pt x="405764" y="551052"/>
                </a:lnTo>
                <a:lnTo>
                  <a:pt x="402336" y="550544"/>
                </a:lnTo>
                <a:close/>
              </a:path>
              <a:path w="509270" h="580389">
                <a:moveTo>
                  <a:pt x="486459" y="563821"/>
                </a:moveTo>
                <a:lnTo>
                  <a:pt x="497967" y="576960"/>
                </a:lnTo>
                <a:lnTo>
                  <a:pt x="502440" y="573023"/>
                </a:lnTo>
                <a:lnTo>
                  <a:pt x="496443" y="573023"/>
                </a:lnTo>
                <a:lnTo>
                  <a:pt x="496256" y="565372"/>
                </a:lnTo>
                <a:lnTo>
                  <a:pt x="486459" y="563821"/>
                </a:lnTo>
                <a:close/>
              </a:path>
              <a:path w="509270" h="580389">
                <a:moveTo>
                  <a:pt x="503681" y="467232"/>
                </a:moveTo>
                <a:lnTo>
                  <a:pt x="500125" y="467359"/>
                </a:lnTo>
                <a:lnTo>
                  <a:pt x="496696" y="467359"/>
                </a:lnTo>
                <a:lnTo>
                  <a:pt x="494145" y="470026"/>
                </a:lnTo>
                <a:lnTo>
                  <a:pt x="494030" y="473836"/>
                </a:lnTo>
                <a:lnTo>
                  <a:pt x="496016" y="555472"/>
                </a:lnTo>
                <a:lnTo>
                  <a:pt x="507492" y="568578"/>
                </a:lnTo>
                <a:lnTo>
                  <a:pt x="497967" y="576960"/>
                </a:lnTo>
                <a:lnTo>
                  <a:pt x="509187" y="576960"/>
                </a:lnTo>
                <a:lnTo>
                  <a:pt x="506612" y="473836"/>
                </a:lnTo>
                <a:lnTo>
                  <a:pt x="506603" y="470026"/>
                </a:lnTo>
                <a:lnTo>
                  <a:pt x="503681" y="467232"/>
                </a:lnTo>
                <a:close/>
              </a:path>
              <a:path w="509270" h="580389">
                <a:moveTo>
                  <a:pt x="496256" y="565372"/>
                </a:moveTo>
                <a:lnTo>
                  <a:pt x="496443" y="573023"/>
                </a:lnTo>
                <a:lnTo>
                  <a:pt x="503681" y="566546"/>
                </a:lnTo>
                <a:lnTo>
                  <a:pt x="496256" y="565372"/>
                </a:lnTo>
                <a:close/>
              </a:path>
              <a:path w="509270" h="580389">
                <a:moveTo>
                  <a:pt x="496016" y="555472"/>
                </a:moveTo>
                <a:lnTo>
                  <a:pt x="496256" y="565372"/>
                </a:lnTo>
                <a:lnTo>
                  <a:pt x="503681" y="566546"/>
                </a:lnTo>
                <a:lnTo>
                  <a:pt x="496443" y="573023"/>
                </a:lnTo>
                <a:lnTo>
                  <a:pt x="502440" y="573023"/>
                </a:lnTo>
                <a:lnTo>
                  <a:pt x="507492" y="568578"/>
                </a:lnTo>
                <a:lnTo>
                  <a:pt x="496016" y="555472"/>
                </a:lnTo>
                <a:close/>
              </a:path>
              <a:path w="509270" h="580389">
                <a:moveTo>
                  <a:pt x="9651" y="0"/>
                </a:moveTo>
                <a:lnTo>
                  <a:pt x="0" y="8381"/>
                </a:lnTo>
                <a:lnTo>
                  <a:pt x="486459" y="563821"/>
                </a:lnTo>
                <a:lnTo>
                  <a:pt x="496256" y="565372"/>
                </a:lnTo>
                <a:lnTo>
                  <a:pt x="496016" y="555472"/>
                </a:lnTo>
                <a:lnTo>
                  <a:pt x="9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82411" y="3646296"/>
            <a:ext cx="934719" cy="141605"/>
          </a:xfrm>
          <a:custGeom>
            <a:avLst/>
            <a:gdLst/>
            <a:ahLst/>
            <a:cxnLst/>
            <a:rect l="l" t="t" r="r" b="b"/>
            <a:pathLst>
              <a:path w="934720" h="141604">
                <a:moveTo>
                  <a:pt x="849629" y="0"/>
                </a:moveTo>
                <a:lnTo>
                  <a:pt x="845565" y="380"/>
                </a:lnTo>
                <a:lnTo>
                  <a:pt x="843279" y="3047"/>
                </a:lnTo>
                <a:lnTo>
                  <a:pt x="841121" y="5714"/>
                </a:lnTo>
                <a:lnTo>
                  <a:pt x="841501" y="9778"/>
                </a:lnTo>
                <a:lnTo>
                  <a:pt x="844168" y="11937"/>
                </a:lnTo>
                <a:lnTo>
                  <a:pt x="906845" y="64360"/>
                </a:lnTo>
                <a:lnTo>
                  <a:pt x="924306" y="64388"/>
                </a:lnTo>
                <a:lnTo>
                  <a:pt x="924306" y="77088"/>
                </a:lnTo>
                <a:lnTo>
                  <a:pt x="906628" y="77088"/>
                </a:lnTo>
                <a:lnTo>
                  <a:pt x="843914" y="129158"/>
                </a:lnTo>
                <a:lnTo>
                  <a:pt x="841248" y="131444"/>
                </a:lnTo>
                <a:lnTo>
                  <a:pt x="840866" y="135508"/>
                </a:lnTo>
                <a:lnTo>
                  <a:pt x="843152" y="138175"/>
                </a:lnTo>
                <a:lnTo>
                  <a:pt x="845312" y="140842"/>
                </a:lnTo>
                <a:lnTo>
                  <a:pt x="849376" y="141223"/>
                </a:lnTo>
                <a:lnTo>
                  <a:pt x="852042" y="138937"/>
                </a:lnTo>
                <a:lnTo>
                  <a:pt x="926561" y="77088"/>
                </a:lnTo>
                <a:lnTo>
                  <a:pt x="924306" y="77088"/>
                </a:lnTo>
                <a:lnTo>
                  <a:pt x="926596" y="77059"/>
                </a:lnTo>
                <a:lnTo>
                  <a:pt x="934212" y="70738"/>
                </a:lnTo>
                <a:lnTo>
                  <a:pt x="852297" y="2285"/>
                </a:lnTo>
                <a:lnTo>
                  <a:pt x="849629" y="0"/>
                </a:lnTo>
                <a:close/>
              </a:path>
              <a:path w="934720" h="141604">
                <a:moveTo>
                  <a:pt x="914374" y="70657"/>
                </a:moveTo>
                <a:lnTo>
                  <a:pt x="906663" y="77059"/>
                </a:lnTo>
                <a:lnTo>
                  <a:pt x="924306" y="77088"/>
                </a:lnTo>
                <a:lnTo>
                  <a:pt x="924306" y="75564"/>
                </a:lnTo>
                <a:lnTo>
                  <a:pt x="920241" y="75564"/>
                </a:lnTo>
                <a:lnTo>
                  <a:pt x="914374" y="70657"/>
                </a:lnTo>
                <a:close/>
              </a:path>
              <a:path w="934720" h="141604">
                <a:moveTo>
                  <a:pt x="0" y="62864"/>
                </a:moveTo>
                <a:lnTo>
                  <a:pt x="0" y="75564"/>
                </a:lnTo>
                <a:lnTo>
                  <a:pt x="906663" y="77059"/>
                </a:lnTo>
                <a:lnTo>
                  <a:pt x="914374" y="70657"/>
                </a:lnTo>
                <a:lnTo>
                  <a:pt x="906845" y="64360"/>
                </a:lnTo>
                <a:lnTo>
                  <a:pt x="0" y="62864"/>
                </a:lnTo>
                <a:close/>
              </a:path>
              <a:path w="934720" h="141604">
                <a:moveTo>
                  <a:pt x="920241" y="65785"/>
                </a:moveTo>
                <a:lnTo>
                  <a:pt x="914374" y="70657"/>
                </a:lnTo>
                <a:lnTo>
                  <a:pt x="920241" y="75564"/>
                </a:lnTo>
                <a:lnTo>
                  <a:pt x="920241" y="65785"/>
                </a:lnTo>
                <a:close/>
              </a:path>
              <a:path w="934720" h="141604">
                <a:moveTo>
                  <a:pt x="924306" y="65785"/>
                </a:moveTo>
                <a:lnTo>
                  <a:pt x="920241" y="65785"/>
                </a:lnTo>
                <a:lnTo>
                  <a:pt x="920241" y="75564"/>
                </a:lnTo>
                <a:lnTo>
                  <a:pt x="924306" y="75564"/>
                </a:lnTo>
                <a:lnTo>
                  <a:pt x="924306" y="65785"/>
                </a:lnTo>
                <a:close/>
              </a:path>
              <a:path w="934720" h="141604">
                <a:moveTo>
                  <a:pt x="906845" y="64360"/>
                </a:moveTo>
                <a:lnTo>
                  <a:pt x="914374" y="70657"/>
                </a:lnTo>
                <a:lnTo>
                  <a:pt x="920241" y="65785"/>
                </a:lnTo>
                <a:lnTo>
                  <a:pt x="924306" y="65785"/>
                </a:lnTo>
                <a:lnTo>
                  <a:pt x="924306" y="64388"/>
                </a:lnTo>
                <a:lnTo>
                  <a:pt x="906845" y="64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36108" y="4466335"/>
            <a:ext cx="1080770" cy="141605"/>
          </a:xfrm>
          <a:custGeom>
            <a:avLst/>
            <a:gdLst/>
            <a:ahLst/>
            <a:cxnLst/>
            <a:rect l="l" t="t" r="r" b="b"/>
            <a:pathLst>
              <a:path w="1080770" h="141604">
                <a:moveTo>
                  <a:pt x="1060754" y="70612"/>
                </a:moveTo>
                <a:lnTo>
                  <a:pt x="990345" y="129286"/>
                </a:lnTo>
                <a:lnTo>
                  <a:pt x="987678" y="131444"/>
                </a:lnTo>
                <a:lnTo>
                  <a:pt x="987297" y="135508"/>
                </a:lnTo>
                <a:lnTo>
                  <a:pt x="989583" y="138175"/>
                </a:lnTo>
                <a:lnTo>
                  <a:pt x="991742" y="140843"/>
                </a:lnTo>
                <a:lnTo>
                  <a:pt x="995806" y="141224"/>
                </a:lnTo>
                <a:lnTo>
                  <a:pt x="998474" y="138937"/>
                </a:lnTo>
                <a:lnTo>
                  <a:pt x="1072891" y="76962"/>
                </a:lnTo>
                <a:lnTo>
                  <a:pt x="1070610" y="76962"/>
                </a:lnTo>
                <a:lnTo>
                  <a:pt x="1070610" y="75437"/>
                </a:lnTo>
                <a:lnTo>
                  <a:pt x="1066545" y="75437"/>
                </a:lnTo>
                <a:lnTo>
                  <a:pt x="1060754" y="70612"/>
                </a:lnTo>
                <a:close/>
              </a:path>
              <a:path w="1080770" h="141604">
                <a:moveTo>
                  <a:pt x="1053134" y="64262"/>
                </a:moveTo>
                <a:lnTo>
                  <a:pt x="0" y="64262"/>
                </a:lnTo>
                <a:lnTo>
                  <a:pt x="0" y="76962"/>
                </a:lnTo>
                <a:lnTo>
                  <a:pt x="1053134" y="76962"/>
                </a:lnTo>
                <a:lnTo>
                  <a:pt x="1060754" y="70612"/>
                </a:lnTo>
                <a:lnTo>
                  <a:pt x="1053134" y="64262"/>
                </a:lnTo>
                <a:close/>
              </a:path>
              <a:path w="1080770" h="141604">
                <a:moveTo>
                  <a:pt x="1072891" y="64262"/>
                </a:moveTo>
                <a:lnTo>
                  <a:pt x="1070610" y="64262"/>
                </a:lnTo>
                <a:lnTo>
                  <a:pt x="1070610" y="76962"/>
                </a:lnTo>
                <a:lnTo>
                  <a:pt x="1072891" y="76962"/>
                </a:lnTo>
                <a:lnTo>
                  <a:pt x="1080515" y="70612"/>
                </a:lnTo>
                <a:lnTo>
                  <a:pt x="1072891" y="64262"/>
                </a:lnTo>
                <a:close/>
              </a:path>
              <a:path w="1080770" h="141604">
                <a:moveTo>
                  <a:pt x="1066545" y="65786"/>
                </a:moveTo>
                <a:lnTo>
                  <a:pt x="1060754" y="70612"/>
                </a:lnTo>
                <a:lnTo>
                  <a:pt x="1066545" y="75437"/>
                </a:lnTo>
                <a:lnTo>
                  <a:pt x="1066545" y="65786"/>
                </a:lnTo>
                <a:close/>
              </a:path>
              <a:path w="1080770" h="141604">
                <a:moveTo>
                  <a:pt x="1070610" y="65786"/>
                </a:moveTo>
                <a:lnTo>
                  <a:pt x="1066545" y="65786"/>
                </a:lnTo>
                <a:lnTo>
                  <a:pt x="1066545" y="75437"/>
                </a:lnTo>
                <a:lnTo>
                  <a:pt x="1070610" y="75437"/>
                </a:lnTo>
                <a:lnTo>
                  <a:pt x="1070610" y="65786"/>
                </a:lnTo>
                <a:close/>
              </a:path>
              <a:path w="1080770" h="141604">
                <a:moveTo>
                  <a:pt x="995806" y="0"/>
                </a:moveTo>
                <a:lnTo>
                  <a:pt x="991742" y="381"/>
                </a:lnTo>
                <a:lnTo>
                  <a:pt x="989583" y="3047"/>
                </a:lnTo>
                <a:lnTo>
                  <a:pt x="987297" y="5714"/>
                </a:lnTo>
                <a:lnTo>
                  <a:pt x="987678" y="9778"/>
                </a:lnTo>
                <a:lnTo>
                  <a:pt x="990345" y="11937"/>
                </a:lnTo>
                <a:lnTo>
                  <a:pt x="1060754" y="70612"/>
                </a:lnTo>
                <a:lnTo>
                  <a:pt x="1066545" y="65786"/>
                </a:lnTo>
                <a:lnTo>
                  <a:pt x="1070610" y="65786"/>
                </a:lnTo>
                <a:lnTo>
                  <a:pt x="1070610" y="64262"/>
                </a:lnTo>
                <a:lnTo>
                  <a:pt x="1072891" y="64262"/>
                </a:lnTo>
                <a:lnTo>
                  <a:pt x="998474" y="2286"/>
                </a:lnTo>
                <a:lnTo>
                  <a:pt x="9958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37632" y="3817620"/>
            <a:ext cx="0" cy="719455"/>
          </a:xfrm>
          <a:custGeom>
            <a:avLst/>
            <a:gdLst/>
            <a:ahLst/>
            <a:cxnLst/>
            <a:rect l="l" t="t" r="r" b="b"/>
            <a:pathLst>
              <a:path h="719454">
                <a:moveTo>
                  <a:pt x="0" y="0"/>
                </a:moveTo>
                <a:lnTo>
                  <a:pt x="0" y="71932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55591" y="2636520"/>
            <a:ext cx="0" cy="3167380"/>
          </a:xfrm>
          <a:custGeom>
            <a:avLst/>
            <a:gdLst/>
            <a:ahLst/>
            <a:cxnLst/>
            <a:rect l="l" t="t" r="r" b="b"/>
            <a:pathLst>
              <a:path h="3167379">
                <a:moveTo>
                  <a:pt x="0" y="0"/>
                </a:moveTo>
                <a:lnTo>
                  <a:pt x="0" y="3166871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50179" y="3614928"/>
            <a:ext cx="350520" cy="216535"/>
          </a:xfrm>
          <a:custGeom>
            <a:avLst/>
            <a:gdLst/>
            <a:ahLst/>
            <a:cxnLst/>
            <a:rect l="l" t="t" r="r" b="b"/>
            <a:pathLst>
              <a:path w="350520" h="216535">
                <a:moveTo>
                  <a:pt x="0" y="108204"/>
                </a:moveTo>
                <a:lnTo>
                  <a:pt x="175260" y="0"/>
                </a:lnTo>
                <a:lnTo>
                  <a:pt x="350520" y="108204"/>
                </a:lnTo>
                <a:lnTo>
                  <a:pt x="175260" y="216408"/>
                </a:lnTo>
                <a:lnTo>
                  <a:pt x="0" y="1082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103477" y="3084957"/>
            <a:ext cx="276923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Calculate </a:t>
            </a:r>
            <a:r>
              <a:rPr sz="1200" b="1" spc="-5" dirty="0">
                <a:latin typeface="Arial"/>
                <a:cs typeface="Arial"/>
              </a:rPr>
              <a:t>total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cost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1871980" algn="l"/>
              </a:tabLst>
            </a:pPr>
            <a:r>
              <a:rPr sz="1200" b="1" spc="-5" dirty="0">
                <a:latin typeface="Arial"/>
                <a:cs typeface="Arial"/>
              </a:rPr>
              <a:t>[Cost&lt;$50]	[Cost&gt;=$50]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5568188" y="3483991"/>
            <a:ext cx="897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[Cost&gt;=$50]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68188" y="4309617"/>
            <a:ext cx="808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[Cost&lt;$50]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68926" y="2953258"/>
            <a:ext cx="1423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Calculate </a:t>
            </a:r>
            <a:r>
              <a:rPr sz="1200" b="1" spc="-5" dirty="0">
                <a:latin typeface="Arial"/>
                <a:cs typeface="Arial"/>
              </a:rPr>
              <a:t>total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600570" y="4321505"/>
            <a:ext cx="141478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Charge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customer`s</a:t>
            </a:r>
            <a:endParaRPr sz="12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Arial"/>
                <a:cs typeface="Arial"/>
              </a:rPr>
              <a:t>account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67881" y="3602863"/>
            <a:ext cx="1280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Get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authorization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42897" y="5187441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表示法</a:t>
            </a:r>
            <a:r>
              <a:rPr sz="1800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07582" y="5187441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表示法</a:t>
            </a:r>
            <a:r>
              <a:rPr sz="1800" spc="-5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2505201" y="36652"/>
            <a:ext cx="4215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活动图元</a:t>
            </a:r>
            <a:r>
              <a:rPr sz="4400" spc="5" dirty="0"/>
              <a:t>素</a:t>
            </a:r>
            <a:r>
              <a:rPr sz="4400" dirty="0">
                <a:latin typeface="Calibri"/>
                <a:cs typeface="Calibri"/>
              </a:rPr>
              <a:t>:</a:t>
            </a:r>
            <a:r>
              <a:rPr sz="4400" spc="-95" dirty="0">
                <a:latin typeface="Calibri"/>
                <a:cs typeface="Calibri"/>
              </a:rPr>
              <a:t> </a:t>
            </a:r>
            <a:r>
              <a:rPr sz="4400" dirty="0"/>
              <a:t>分支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094" y="951128"/>
            <a:ext cx="7839709" cy="14585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800" spc="-5" dirty="0">
                <a:latin typeface="宋体"/>
                <a:cs typeface="宋体"/>
              </a:rPr>
              <a:t>活动图中的“分叉和汇合</a:t>
            </a:r>
            <a:r>
              <a:rPr sz="2800" dirty="0">
                <a:latin typeface="宋体"/>
                <a:cs typeface="宋体"/>
              </a:rPr>
              <a:t>”</a:t>
            </a:r>
            <a:r>
              <a:rPr sz="2000" dirty="0">
                <a:latin typeface="Arial"/>
                <a:cs typeface="Arial"/>
              </a:rPr>
              <a:t>fork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join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ts val="3220"/>
              </a:lnSpc>
              <a:spcBef>
                <a:spcPts val="894"/>
              </a:spcBef>
            </a:pPr>
            <a:r>
              <a:rPr sz="2800" spc="-5" dirty="0">
                <a:latin typeface="宋体"/>
                <a:cs typeface="宋体"/>
              </a:rPr>
              <a:t>在活动图中同一控制流被两个或多</a:t>
            </a:r>
            <a:r>
              <a:rPr sz="2800" dirty="0">
                <a:latin typeface="宋体"/>
                <a:cs typeface="宋体"/>
              </a:rPr>
              <a:t>个</a:t>
            </a:r>
            <a:r>
              <a:rPr sz="2800" spc="-5" dirty="0">
                <a:latin typeface="宋体"/>
                <a:cs typeface="宋体"/>
              </a:rPr>
              <a:t>控制</a:t>
            </a:r>
            <a:r>
              <a:rPr sz="2800" dirty="0">
                <a:latin typeface="宋体"/>
                <a:cs typeface="宋体"/>
              </a:rPr>
              <a:t>流</a:t>
            </a:r>
            <a:r>
              <a:rPr sz="2800" spc="-5" dirty="0">
                <a:latin typeface="宋体"/>
                <a:cs typeface="宋体"/>
              </a:rPr>
              <a:t>替代且 </a:t>
            </a:r>
            <a:r>
              <a:rPr sz="2800" spc="-10" dirty="0">
                <a:latin typeface="宋体"/>
                <a:cs typeface="宋体"/>
              </a:rPr>
              <a:t>并发，其转换点为分叉；汇合则与</a:t>
            </a:r>
            <a:r>
              <a:rPr sz="2800" dirty="0">
                <a:latin typeface="宋体"/>
                <a:cs typeface="宋体"/>
              </a:rPr>
              <a:t>此</a:t>
            </a:r>
            <a:r>
              <a:rPr sz="2800" spc="-10" dirty="0">
                <a:latin typeface="宋体"/>
                <a:cs typeface="宋体"/>
              </a:rPr>
              <a:t>过程</a:t>
            </a:r>
            <a:r>
              <a:rPr sz="2800" dirty="0">
                <a:latin typeface="宋体"/>
                <a:cs typeface="宋体"/>
              </a:rPr>
              <a:t>相</a:t>
            </a:r>
            <a:r>
              <a:rPr sz="2800" spc="-10" dirty="0">
                <a:latin typeface="宋体"/>
                <a:cs typeface="宋体"/>
              </a:rPr>
              <a:t>反。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2393" y="2811602"/>
            <a:ext cx="5378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宋体"/>
                <a:cs typeface="宋体"/>
              </a:rPr>
              <a:t>例：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2771" y="2941777"/>
            <a:ext cx="10782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Process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Order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30879" y="2842260"/>
            <a:ext cx="287020" cy="431800"/>
          </a:xfrm>
          <a:custGeom>
            <a:avLst/>
            <a:gdLst/>
            <a:ahLst/>
            <a:cxnLst/>
            <a:rect l="l" t="t" r="r" b="b"/>
            <a:pathLst>
              <a:path w="287020" h="431800">
                <a:moveTo>
                  <a:pt x="286511" y="0"/>
                </a:moveTo>
                <a:lnTo>
                  <a:pt x="235009" y="3477"/>
                </a:lnTo>
                <a:lnTo>
                  <a:pt x="186536" y="13505"/>
                </a:lnTo>
                <a:lnTo>
                  <a:pt x="141901" y="29473"/>
                </a:lnTo>
                <a:lnTo>
                  <a:pt x="101913" y="50772"/>
                </a:lnTo>
                <a:lnTo>
                  <a:pt x="67382" y="76792"/>
                </a:lnTo>
                <a:lnTo>
                  <a:pt x="39116" y="106924"/>
                </a:lnTo>
                <a:lnTo>
                  <a:pt x="17924" y="140559"/>
                </a:lnTo>
                <a:lnTo>
                  <a:pt x="4615" y="177087"/>
                </a:lnTo>
                <a:lnTo>
                  <a:pt x="0" y="215900"/>
                </a:lnTo>
                <a:lnTo>
                  <a:pt x="5246" y="257216"/>
                </a:lnTo>
                <a:lnTo>
                  <a:pt x="20349" y="295971"/>
                </a:lnTo>
                <a:lnTo>
                  <a:pt x="44355" y="331389"/>
                </a:lnTo>
                <a:lnTo>
                  <a:pt x="76311" y="362696"/>
                </a:lnTo>
                <a:lnTo>
                  <a:pt x="115261" y="389114"/>
                </a:lnTo>
                <a:lnTo>
                  <a:pt x="160252" y="409870"/>
                </a:lnTo>
                <a:lnTo>
                  <a:pt x="210330" y="424188"/>
                </a:lnTo>
                <a:lnTo>
                  <a:pt x="264541" y="4312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17391" y="2842260"/>
            <a:ext cx="937260" cy="0"/>
          </a:xfrm>
          <a:custGeom>
            <a:avLst/>
            <a:gdLst/>
            <a:ahLst/>
            <a:cxnLst/>
            <a:rect l="l" t="t" r="r" b="b"/>
            <a:pathLst>
              <a:path w="937260">
                <a:moveTo>
                  <a:pt x="0" y="0"/>
                </a:moveTo>
                <a:lnTo>
                  <a:pt x="93726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48811" y="3273552"/>
            <a:ext cx="1005840" cy="0"/>
          </a:xfrm>
          <a:custGeom>
            <a:avLst/>
            <a:gdLst/>
            <a:ahLst/>
            <a:cxnLst/>
            <a:rect l="l" t="t" r="r" b="b"/>
            <a:pathLst>
              <a:path w="1005839">
                <a:moveTo>
                  <a:pt x="0" y="0"/>
                </a:moveTo>
                <a:lnTo>
                  <a:pt x="10058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27220" y="2843783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29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1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5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63495" y="3963161"/>
            <a:ext cx="1110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Credit</a:t>
            </a:r>
            <a:r>
              <a:rPr sz="1200" b="1" spc="-114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Account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89632" y="3861815"/>
            <a:ext cx="287020" cy="433070"/>
          </a:xfrm>
          <a:custGeom>
            <a:avLst/>
            <a:gdLst/>
            <a:ahLst/>
            <a:cxnLst/>
            <a:rect l="l" t="t" r="r" b="b"/>
            <a:pathLst>
              <a:path w="287019" h="433070">
                <a:moveTo>
                  <a:pt x="286512" y="0"/>
                </a:moveTo>
                <a:lnTo>
                  <a:pt x="235009" y="3491"/>
                </a:lnTo>
                <a:lnTo>
                  <a:pt x="186536" y="13557"/>
                </a:lnTo>
                <a:lnTo>
                  <a:pt x="141901" y="29586"/>
                </a:lnTo>
                <a:lnTo>
                  <a:pt x="101913" y="50964"/>
                </a:lnTo>
                <a:lnTo>
                  <a:pt x="67382" y="77079"/>
                </a:lnTo>
                <a:lnTo>
                  <a:pt x="39116" y="107319"/>
                </a:lnTo>
                <a:lnTo>
                  <a:pt x="17924" y="141071"/>
                </a:lnTo>
                <a:lnTo>
                  <a:pt x="4615" y="177723"/>
                </a:lnTo>
                <a:lnTo>
                  <a:pt x="0" y="216661"/>
                </a:lnTo>
                <a:lnTo>
                  <a:pt x="5246" y="258120"/>
                </a:lnTo>
                <a:lnTo>
                  <a:pt x="20349" y="297013"/>
                </a:lnTo>
                <a:lnTo>
                  <a:pt x="44355" y="332560"/>
                </a:lnTo>
                <a:lnTo>
                  <a:pt x="76311" y="363981"/>
                </a:lnTo>
                <a:lnTo>
                  <a:pt x="115261" y="390498"/>
                </a:lnTo>
                <a:lnTo>
                  <a:pt x="160252" y="411329"/>
                </a:lnTo>
                <a:lnTo>
                  <a:pt x="210330" y="425695"/>
                </a:lnTo>
                <a:lnTo>
                  <a:pt x="264541" y="43281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76144" y="3861815"/>
            <a:ext cx="937260" cy="0"/>
          </a:xfrm>
          <a:custGeom>
            <a:avLst/>
            <a:gdLst/>
            <a:ahLst/>
            <a:cxnLst/>
            <a:rect l="l" t="t" r="r" b="b"/>
            <a:pathLst>
              <a:path w="937260">
                <a:moveTo>
                  <a:pt x="0" y="0"/>
                </a:moveTo>
                <a:lnTo>
                  <a:pt x="93725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06039" y="4294632"/>
            <a:ext cx="1007744" cy="1905"/>
          </a:xfrm>
          <a:custGeom>
            <a:avLst/>
            <a:gdLst/>
            <a:ahLst/>
            <a:cxnLst/>
            <a:rect l="l" t="t" r="r" b="b"/>
            <a:pathLst>
              <a:path w="1007745" h="1904">
                <a:moveTo>
                  <a:pt x="0" y="1524"/>
                </a:moveTo>
                <a:lnTo>
                  <a:pt x="10073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85971" y="3863340"/>
            <a:ext cx="338455" cy="433070"/>
          </a:xfrm>
          <a:custGeom>
            <a:avLst/>
            <a:gdLst/>
            <a:ahLst/>
            <a:cxnLst/>
            <a:rect l="l" t="t" r="r" b="b"/>
            <a:pathLst>
              <a:path w="338454" h="433070">
                <a:moveTo>
                  <a:pt x="0" y="432054"/>
                </a:moveTo>
                <a:lnTo>
                  <a:pt x="6762" y="432387"/>
                </a:lnTo>
                <a:lnTo>
                  <a:pt x="13525" y="432625"/>
                </a:lnTo>
                <a:lnTo>
                  <a:pt x="20288" y="432768"/>
                </a:lnTo>
                <a:lnTo>
                  <a:pt x="27050" y="432816"/>
                </a:lnTo>
                <a:lnTo>
                  <a:pt x="83015" y="429328"/>
                </a:lnTo>
                <a:lnTo>
                  <a:pt x="135683" y="419275"/>
                </a:lnTo>
                <a:lnTo>
                  <a:pt x="184178" y="403267"/>
                </a:lnTo>
                <a:lnTo>
                  <a:pt x="227621" y="381915"/>
                </a:lnTo>
                <a:lnTo>
                  <a:pt x="265134" y="355832"/>
                </a:lnTo>
                <a:lnTo>
                  <a:pt x="295839" y="325627"/>
                </a:lnTo>
                <a:lnTo>
                  <a:pt x="318858" y="291914"/>
                </a:lnTo>
                <a:lnTo>
                  <a:pt x="333314" y="255304"/>
                </a:lnTo>
                <a:lnTo>
                  <a:pt x="338327" y="216408"/>
                </a:lnTo>
                <a:lnTo>
                  <a:pt x="333488" y="178180"/>
                </a:lnTo>
                <a:lnTo>
                  <a:pt x="319520" y="142122"/>
                </a:lnTo>
                <a:lnTo>
                  <a:pt x="297245" y="108824"/>
                </a:lnTo>
                <a:lnTo>
                  <a:pt x="267489" y="78875"/>
                </a:lnTo>
                <a:lnTo>
                  <a:pt x="231074" y="52865"/>
                </a:lnTo>
                <a:lnTo>
                  <a:pt x="188825" y="31383"/>
                </a:lnTo>
                <a:lnTo>
                  <a:pt x="141565" y="15018"/>
                </a:lnTo>
                <a:lnTo>
                  <a:pt x="90117" y="4360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629403" y="3891788"/>
            <a:ext cx="815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Ship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Order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61103" y="3788664"/>
            <a:ext cx="287020" cy="433070"/>
          </a:xfrm>
          <a:custGeom>
            <a:avLst/>
            <a:gdLst/>
            <a:ahLst/>
            <a:cxnLst/>
            <a:rect l="l" t="t" r="r" b="b"/>
            <a:pathLst>
              <a:path w="287020" h="433070">
                <a:moveTo>
                  <a:pt x="286512" y="0"/>
                </a:moveTo>
                <a:lnTo>
                  <a:pt x="235009" y="3491"/>
                </a:lnTo>
                <a:lnTo>
                  <a:pt x="186536" y="13557"/>
                </a:lnTo>
                <a:lnTo>
                  <a:pt x="141901" y="29586"/>
                </a:lnTo>
                <a:lnTo>
                  <a:pt x="101913" y="50964"/>
                </a:lnTo>
                <a:lnTo>
                  <a:pt x="67382" y="77079"/>
                </a:lnTo>
                <a:lnTo>
                  <a:pt x="39116" y="107319"/>
                </a:lnTo>
                <a:lnTo>
                  <a:pt x="17924" y="141071"/>
                </a:lnTo>
                <a:lnTo>
                  <a:pt x="4615" y="177723"/>
                </a:lnTo>
                <a:lnTo>
                  <a:pt x="0" y="216662"/>
                </a:lnTo>
                <a:lnTo>
                  <a:pt x="5246" y="258120"/>
                </a:lnTo>
                <a:lnTo>
                  <a:pt x="20349" y="297013"/>
                </a:lnTo>
                <a:lnTo>
                  <a:pt x="44355" y="332560"/>
                </a:lnTo>
                <a:lnTo>
                  <a:pt x="76311" y="363982"/>
                </a:lnTo>
                <a:lnTo>
                  <a:pt x="115261" y="390498"/>
                </a:lnTo>
                <a:lnTo>
                  <a:pt x="160252" y="411329"/>
                </a:lnTo>
                <a:lnTo>
                  <a:pt x="210330" y="425695"/>
                </a:lnTo>
                <a:lnTo>
                  <a:pt x="264541" y="43281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47615" y="3788664"/>
            <a:ext cx="937260" cy="0"/>
          </a:xfrm>
          <a:custGeom>
            <a:avLst/>
            <a:gdLst/>
            <a:ahLst/>
            <a:cxnLst/>
            <a:rect l="l" t="t" r="r" b="b"/>
            <a:pathLst>
              <a:path w="937260">
                <a:moveTo>
                  <a:pt x="0" y="0"/>
                </a:moveTo>
                <a:lnTo>
                  <a:pt x="93726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77511" y="4221479"/>
            <a:ext cx="1007744" cy="1905"/>
          </a:xfrm>
          <a:custGeom>
            <a:avLst/>
            <a:gdLst/>
            <a:ahLst/>
            <a:cxnLst/>
            <a:rect l="l" t="t" r="r" b="b"/>
            <a:pathLst>
              <a:path w="1007745" h="1904">
                <a:moveTo>
                  <a:pt x="0" y="1524"/>
                </a:moveTo>
                <a:lnTo>
                  <a:pt x="10073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57444" y="3791711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30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2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5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25367" y="4940808"/>
            <a:ext cx="288290" cy="431800"/>
          </a:xfrm>
          <a:custGeom>
            <a:avLst/>
            <a:gdLst/>
            <a:ahLst/>
            <a:cxnLst/>
            <a:rect l="l" t="t" r="r" b="b"/>
            <a:pathLst>
              <a:path w="288289" h="431800">
                <a:moveTo>
                  <a:pt x="288036" y="0"/>
                </a:moveTo>
                <a:lnTo>
                  <a:pt x="236247" y="3477"/>
                </a:lnTo>
                <a:lnTo>
                  <a:pt x="187509" y="13505"/>
                </a:lnTo>
                <a:lnTo>
                  <a:pt x="142635" y="29473"/>
                </a:lnTo>
                <a:lnTo>
                  <a:pt x="102436" y="50772"/>
                </a:lnTo>
                <a:lnTo>
                  <a:pt x="67724" y="76792"/>
                </a:lnTo>
                <a:lnTo>
                  <a:pt x="39313" y="106924"/>
                </a:lnTo>
                <a:lnTo>
                  <a:pt x="18014" y="140559"/>
                </a:lnTo>
                <a:lnTo>
                  <a:pt x="4638" y="177087"/>
                </a:lnTo>
                <a:lnTo>
                  <a:pt x="0" y="215900"/>
                </a:lnTo>
                <a:lnTo>
                  <a:pt x="5275" y="257216"/>
                </a:lnTo>
                <a:lnTo>
                  <a:pt x="20462" y="295971"/>
                </a:lnTo>
                <a:lnTo>
                  <a:pt x="44603" y="331389"/>
                </a:lnTo>
                <a:lnTo>
                  <a:pt x="76739" y="362696"/>
                </a:lnTo>
                <a:lnTo>
                  <a:pt x="115912" y="389114"/>
                </a:lnTo>
                <a:lnTo>
                  <a:pt x="161162" y="409870"/>
                </a:lnTo>
                <a:lnTo>
                  <a:pt x="211533" y="424188"/>
                </a:lnTo>
                <a:lnTo>
                  <a:pt x="266065" y="43129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13403" y="4940808"/>
            <a:ext cx="935990" cy="0"/>
          </a:xfrm>
          <a:custGeom>
            <a:avLst/>
            <a:gdLst/>
            <a:ahLst/>
            <a:cxnLst/>
            <a:rect l="l" t="t" r="r" b="b"/>
            <a:pathLst>
              <a:path w="935989">
                <a:moveTo>
                  <a:pt x="0" y="0"/>
                </a:moveTo>
                <a:lnTo>
                  <a:pt x="9357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43300" y="5372100"/>
            <a:ext cx="1005840" cy="1905"/>
          </a:xfrm>
          <a:custGeom>
            <a:avLst/>
            <a:gdLst/>
            <a:ahLst/>
            <a:cxnLst/>
            <a:rect l="l" t="t" r="r" b="b"/>
            <a:pathLst>
              <a:path w="1005839" h="1904">
                <a:moveTo>
                  <a:pt x="0" y="1524"/>
                </a:moveTo>
                <a:lnTo>
                  <a:pt x="10058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23232" y="4942332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30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2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6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81120" y="3273552"/>
            <a:ext cx="141224" cy="21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19678" y="3490721"/>
            <a:ext cx="864235" cy="0"/>
          </a:xfrm>
          <a:custGeom>
            <a:avLst/>
            <a:gdLst/>
            <a:ahLst/>
            <a:cxnLst/>
            <a:rect l="l" t="t" r="r" b="b"/>
            <a:pathLst>
              <a:path w="864235">
                <a:moveTo>
                  <a:pt x="0" y="0"/>
                </a:moveTo>
                <a:lnTo>
                  <a:pt x="86410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82111" y="3484245"/>
            <a:ext cx="772795" cy="404495"/>
          </a:xfrm>
          <a:custGeom>
            <a:avLst/>
            <a:gdLst/>
            <a:ahLst/>
            <a:cxnLst/>
            <a:rect l="l" t="t" r="r" b="b"/>
            <a:pathLst>
              <a:path w="772795" h="404495">
                <a:moveTo>
                  <a:pt x="49275" y="275716"/>
                </a:moveTo>
                <a:lnTo>
                  <a:pt x="45593" y="277113"/>
                </a:lnTo>
                <a:lnTo>
                  <a:pt x="44068" y="280288"/>
                </a:lnTo>
                <a:lnTo>
                  <a:pt x="0" y="377570"/>
                </a:lnTo>
                <a:lnTo>
                  <a:pt x="103632" y="403478"/>
                </a:lnTo>
                <a:lnTo>
                  <a:pt x="107061" y="404240"/>
                </a:lnTo>
                <a:lnTo>
                  <a:pt x="110489" y="402208"/>
                </a:lnTo>
                <a:lnTo>
                  <a:pt x="111378" y="398779"/>
                </a:lnTo>
                <a:lnTo>
                  <a:pt x="112140" y="395477"/>
                </a:lnTo>
                <a:lnTo>
                  <a:pt x="110109" y="391921"/>
                </a:lnTo>
                <a:lnTo>
                  <a:pt x="106679" y="391159"/>
                </a:lnTo>
                <a:lnTo>
                  <a:pt x="57782" y="378967"/>
                </a:lnTo>
                <a:lnTo>
                  <a:pt x="11683" y="378967"/>
                </a:lnTo>
                <a:lnTo>
                  <a:pt x="6095" y="367537"/>
                </a:lnTo>
                <a:lnTo>
                  <a:pt x="21997" y="359855"/>
                </a:lnTo>
                <a:lnTo>
                  <a:pt x="55625" y="285495"/>
                </a:lnTo>
                <a:lnTo>
                  <a:pt x="57150" y="282320"/>
                </a:lnTo>
                <a:lnTo>
                  <a:pt x="55752" y="278637"/>
                </a:lnTo>
                <a:lnTo>
                  <a:pt x="52577" y="277113"/>
                </a:lnTo>
                <a:lnTo>
                  <a:pt x="49275" y="275716"/>
                </a:lnTo>
                <a:close/>
              </a:path>
              <a:path w="772795" h="404495">
                <a:moveTo>
                  <a:pt x="21997" y="359855"/>
                </a:moveTo>
                <a:lnTo>
                  <a:pt x="6095" y="367537"/>
                </a:lnTo>
                <a:lnTo>
                  <a:pt x="11683" y="378967"/>
                </a:lnTo>
                <a:lnTo>
                  <a:pt x="17992" y="375919"/>
                </a:lnTo>
                <a:lnTo>
                  <a:pt x="14731" y="375919"/>
                </a:lnTo>
                <a:lnTo>
                  <a:pt x="10413" y="367156"/>
                </a:lnTo>
                <a:lnTo>
                  <a:pt x="18695" y="367156"/>
                </a:lnTo>
                <a:lnTo>
                  <a:pt x="21997" y="359855"/>
                </a:lnTo>
                <a:close/>
              </a:path>
              <a:path w="772795" h="404495">
                <a:moveTo>
                  <a:pt x="27376" y="371386"/>
                </a:moveTo>
                <a:lnTo>
                  <a:pt x="11683" y="378967"/>
                </a:lnTo>
                <a:lnTo>
                  <a:pt x="57782" y="378967"/>
                </a:lnTo>
                <a:lnTo>
                  <a:pt x="27376" y="371386"/>
                </a:lnTo>
                <a:close/>
              </a:path>
              <a:path w="772795" h="404495">
                <a:moveTo>
                  <a:pt x="10413" y="367156"/>
                </a:moveTo>
                <a:lnTo>
                  <a:pt x="14731" y="375919"/>
                </a:lnTo>
                <a:lnTo>
                  <a:pt x="17855" y="369012"/>
                </a:lnTo>
                <a:lnTo>
                  <a:pt x="10413" y="367156"/>
                </a:lnTo>
                <a:close/>
              </a:path>
              <a:path w="772795" h="404495">
                <a:moveTo>
                  <a:pt x="17855" y="369012"/>
                </a:moveTo>
                <a:lnTo>
                  <a:pt x="14731" y="375919"/>
                </a:lnTo>
                <a:lnTo>
                  <a:pt x="17992" y="375919"/>
                </a:lnTo>
                <a:lnTo>
                  <a:pt x="27376" y="371386"/>
                </a:lnTo>
                <a:lnTo>
                  <a:pt x="17855" y="369012"/>
                </a:lnTo>
                <a:close/>
              </a:path>
              <a:path w="772795" h="404495">
                <a:moveTo>
                  <a:pt x="766826" y="0"/>
                </a:moveTo>
                <a:lnTo>
                  <a:pt x="21997" y="359855"/>
                </a:lnTo>
                <a:lnTo>
                  <a:pt x="17855" y="369012"/>
                </a:lnTo>
                <a:lnTo>
                  <a:pt x="27376" y="371386"/>
                </a:lnTo>
                <a:lnTo>
                  <a:pt x="772413" y="11429"/>
                </a:lnTo>
                <a:lnTo>
                  <a:pt x="766826" y="0"/>
                </a:lnTo>
                <a:close/>
              </a:path>
              <a:path w="772795" h="404495">
                <a:moveTo>
                  <a:pt x="18695" y="367156"/>
                </a:moveTo>
                <a:lnTo>
                  <a:pt x="10413" y="367156"/>
                </a:lnTo>
                <a:lnTo>
                  <a:pt x="17855" y="369012"/>
                </a:lnTo>
                <a:lnTo>
                  <a:pt x="18695" y="36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021454" y="3483864"/>
            <a:ext cx="960755" cy="349885"/>
          </a:xfrm>
          <a:custGeom>
            <a:avLst/>
            <a:gdLst/>
            <a:ahLst/>
            <a:cxnLst/>
            <a:rect l="l" t="t" r="r" b="b"/>
            <a:pathLst>
              <a:path w="960754" h="349885">
                <a:moveTo>
                  <a:pt x="932455" y="305627"/>
                </a:moveTo>
                <a:lnTo>
                  <a:pt x="856869" y="336677"/>
                </a:lnTo>
                <a:lnTo>
                  <a:pt x="853694" y="338074"/>
                </a:lnTo>
                <a:lnTo>
                  <a:pt x="852043" y="341756"/>
                </a:lnTo>
                <a:lnTo>
                  <a:pt x="853440" y="344931"/>
                </a:lnTo>
                <a:lnTo>
                  <a:pt x="854710" y="348234"/>
                </a:lnTo>
                <a:lnTo>
                  <a:pt x="858520" y="349758"/>
                </a:lnTo>
                <a:lnTo>
                  <a:pt x="861695" y="348488"/>
                </a:lnTo>
                <a:lnTo>
                  <a:pt x="953090" y="310896"/>
                </a:lnTo>
                <a:lnTo>
                  <a:pt x="949198" y="310896"/>
                </a:lnTo>
                <a:lnTo>
                  <a:pt x="932455" y="305627"/>
                </a:lnTo>
                <a:close/>
              </a:path>
              <a:path w="960754" h="349885">
                <a:moveTo>
                  <a:pt x="941594" y="301872"/>
                </a:moveTo>
                <a:lnTo>
                  <a:pt x="932455" y="305627"/>
                </a:lnTo>
                <a:lnTo>
                  <a:pt x="949198" y="310896"/>
                </a:lnTo>
                <a:lnTo>
                  <a:pt x="950000" y="308356"/>
                </a:lnTo>
                <a:lnTo>
                  <a:pt x="945769" y="308356"/>
                </a:lnTo>
                <a:lnTo>
                  <a:pt x="941594" y="301872"/>
                </a:lnTo>
                <a:close/>
              </a:path>
              <a:path w="960754" h="349885">
                <a:moveTo>
                  <a:pt x="897001" y="214122"/>
                </a:moveTo>
                <a:lnTo>
                  <a:pt x="893953" y="216027"/>
                </a:lnTo>
                <a:lnTo>
                  <a:pt x="891032" y="217931"/>
                </a:lnTo>
                <a:lnTo>
                  <a:pt x="890143" y="221869"/>
                </a:lnTo>
                <a:lnTo>
                  <a:pt x="892048" y="224917"/>
                </a:lnTo>
                <a:lnTo>
                  <a:pt x="936237" y="293551"/>
                </a:lnTo>
                <a:lnTo>
                  <a:pt x="953008" y="298831"/>
                </a:lnTo>
                <a:lnTo>
                  <a:pt x="949198" y="310896"/>
                </a:lnTo>
                <a:lnTo>
                  <a:pt x="953090" y="310896"/>
                </a:lnTo>
                <a:lnTo>
                  <a:pt x="960501" y="307848"/>
                </a:lnTo>
                <a:lnTo>
                  <a:pt x="902716" y="217931"/>
                </a:lnTo>
                <a:lnTo>
                  <a:pt x="900938" y="215011"/>
                </a:lnTo>
                <a:lnTo>
                  <a:pt x="897001" y="214122"/>
                </a:lnTo>
                <a:close/>
              </a:path>
              <a:path w="960754" h="349885">
                <a:moveTo>
                  <a:pt x="948690" y="298958"/>
                </a:moveTo>
                <a:lnTo>
                  <a:pt x="941594" y="301872"/>
                </a:lnTo>
                <a:lnTo>
                  <a:pt x="945769" y="308356"/>
                </a:lnTo>
                <a:lnTo>
                  <a:pt x="948690" y="298958"/>
                </a:lnTo>
                <a:close/>
              </a:path>
              <a:path w="960754" h="349885">
                <a:moveTo>
                  <a:pt x="952967" y="298958"/>
                </a:moveTo>
                <a:lnTo>
                  <a:pt x="948690" y="298958"/>
                </a:lnTo>
                <a:lnTo>
                  <a:pt x="945769" y="308356"/>
                </a:lnTo>
                <a:lnTo>
                  <a:pt x="950000" y="308356"/>
                </a:lnTo>
                <a:lnTo>
                  <a:pt x="952967" y="298958"/>
                </a:lnTo>
                <a:close/>
              </a:path>
              <a:path w="960754" h="349885">
                <a:moveTo>
                  <a:pt x="3810" y="0"/>
                </a:moveTo>
                <a:lnTo>
                  <a:pt x="0" y="12191"/>
                </a:lnTo>
                <a:lnTo>
                  <a:pt x="932455" y="305627"/>
                </a:lnTo>
                <a:lnTo>
                  <a:pt x="941594" y="301872"/>
                </a:lnTo>
                <a:lnTo>
                  <a:pt x="936237" y="293551"/>
                </a:lnTo>
                <a:lnTo>
                  <a:pt x="3810" y="0"/>
                </a:lnTo>
                <a:close/>
              </a:path>
              <a:path w="960754" h="349885">
                <a:moveTo>
                  <a:pt x="936237" y="293551"/>
                </a:moveTo>
                <a:lnTo>
                  <a:pt x="941594" y="301872"/>
                </a:lnTo>
                <a:lnTo>
                  <a:pt x="948690" y="298958"/>
                </a:lnTo>
                <a:lnTo>
                  <a:pt x="952967" y="298958"/>
                </a:lnTo>
                <a:lnTo>
                  <a:pt x="953008" y="298831"/>
                </a:lnTo>
                <a:lnTo>
                  <a:pt x="936237" y="2935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42538" y="4725161"/>
            <a:ext cx="1030605" cy="1905"/>
          </a:xfrm>
          <a:custGeom>
            <a:avLst/>
            <a:gdLst/>
            <a:ahLst/>
            <a:cxnLst/>
            <a:rect l="l" t="t" r="r" b="b"/>
            <a:pathLst>
              <a:path w="1030604" h="1904">
                <a:moveTo>
                  <a:pt x="0" y="1524"/>
                </a:moveTo>
                <a:lnTo>
                  <a:pt x="1030224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047871" y="4725923"/>
            <a:ext cx="141224" cy="2148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78555" y="4275709"/>
            <a:ext cx="652780" cy="461009"/>
          </a:xfrm>
          <a:custGeom>
            <a:avLst/>
            <a:gdLst/>
            <a:ahLst/>
            <a:cxnLst/>
            <a:rect l="l" t="t" r="r" b="b"/>
            <a:pathLst>
              <a:path w="652779" h="461010">
                <a:moveTo>
                  <a:pt x="626507" y="439919"/>
                </a:moveTo>
                <a:lnTo>
                  <a:pt x="545210" y="447548"/>
                </a:lnTo>
                <a:lnTo>
                  <a:pt x="541782" y="447929"/>
                </a:lnTo>
                <a:lnTo>
                  <a:pt x="539242" y="450977"/>
                </a:lnTo>
                <a:lnTo>
                  <a:pt x="539495" y="454533"/>
                </a:lnTo>
                <a:lnTo>
                  <a:pt x="539877" y="457962"/>
                </a:lnTo>
                <a:lnTo>
                  <a:pt x="542924" y="460502"/>
                </a:lnTo>
                <a:lnTo>
                  <a:pt x="546481" y="460248"/>
                </a:lnTo>
                <a:lnTo>
                  <a:pt x="652780" y="450215"/>
                </a:lnTo>
                <a:lnTo>
                  <a:pt x="652672" y="449834"/>
                </a:lnTo>
                <a:lnTo>
                  <a:pt x="640969" y="449834"/>
                </a:lnTo>
                <a:lnTo>
                  <a:pt x="626507" y="439919"/>
                </a:lnTo>
                <a:close/>
              </a:path>
              <a:path w="652779" h="461010">
                <a:moveTo>
                  <a:pt x="636487" y="438983"/>
                </a:moveTo>
                <a:lnTo>
                  <a:pt x="626507" y="439919"/>
                </a:lnTo>
                <a:lnTo>
                  <a:pt x="640969" y="449834"/>
                </a:lnTo>
                <a:lnTo>
                  <a:pt x="643440" y="446278"/>
                </a:lnTo>
                <a:lnTo>
                  <a:pt x="638556" y="446278"/>
                </a:lnTo>
                <a:lnTo>
                  <a:pt x="636487" y="438983"/>
                </a:lnTo>
                <a:close/>
              </a:path>
              <a:path w="652779" h="461010">
                <a:moveTo>
                  <a:pt x="619252" y="342138"/>
                </a:moveTo>
                <a:lnTo>
                  <a:pt x="615949" y="343027"/>
                </a:lnTo>
                <a:lnTo>
                  <a:pt x="612520" y="344043"/>
                </a:lnTo>
                <a:lnTo>
                  <a:pt x="610616" y="347472"/>
                </a:lnTo>
                <a:lnTo>
                  <a:pt x="611505" y="350901"/>
                </a:lnTo>
                <a:lnTo>
                  <a:pt x="633812" y="429552"/>
                </a:lnTo>
                <a:lnTo>
                  <a:pt x="648207" y="439420"/>
                </a:lnTo>
                <a:lnTo>
                  <a:pt x="640969" y="449834"/>
                </a:lnTo>
                <a:lnTo>
                  <a:pt x="652672" y="449834"/>
                </a:lnTo>
                <a:lnTo>
                  <a:pt x="623823" y="347472"/>
                </a:lnTo>
                <a:lnTo>
                  <a:pt x="622807" y="344043"/>
                </a:lnTo>
                <a:lnTo>
                  <a:pt x="619252" y="342138"/>
                </a:lnTo>
                <a:close/>
              </a:path>
              <a:path w="652779" h="461010">
                <a:moveTo>
                  <a:pt x="644017" y="438277"/>
                </a:moveTo>
                <a:lnTo>
                  <a:pt x="636487" y="438983"/>
                </a:lnTo>
                <a:lnTo>
                  <a:pt x="638556" y="446278"/>
                </a:lnTo>
                <a:lnTo>
                  <a:pt x="644017" y="438277"/>
                </a:lnTo>
                <a:close/>
              </a:path>
              <a:path w="652779" h="461010">
                <a:moveTo>
                  <a:pt x="646540" y="438277"/>
                </a:moveTo>
                <a:lnTo>
                  <a:pt x="644017" y="438277"/>
                </a:lnTo>
                <a:lnTo>
                  <a:pt x="638556" y="446278"/>
                </a:lnTo>
                <a:lnTo>
                  <a:pt x="643440" y="446278"/>
                </a:lnTo>
                <a:lnTo>
                  <a:pt x="648207" y="439420"/>
                </a:lnTo>
                <a:lnTo>
                  <a:pt x="646540" y="438277"/>
                </a:lnTo>
                <a:close/>
              </a:path>
              <a:path w="652779" h="461010">
                <a:moveTo>
                  <a:pt x="7112" y="0"/>
                </a:moveTo>
                <a:lnTo>
                  <a:pt x="0" y="10414"/>
                </a:lnTo>
                <a:lnTo>
                  <a:pt x="626507" y="439919"/>
                </a:lnTo>
                <a:lnTo>
                  <a:pt x="636487" y="438983"/>
                </a:lnTo>
                <a:lnTo>
                  <a:pt x="633812" y="429552"/>
                </a:lnTo>
                <a:lnTo>
                  <a:pt x="7112" y="0"/>
                </a:lnTo>
                <a:close/>
              </a:path>
              <a:path w="652779" h="461010">
                <a:moveTo>
                  <a:pt x="633812" y="429552"/>
                </a:moveTo>
                <a:lnTo>
                  <a:pt x="636487" y="438983"/>
                </a:lnTo>
                <a:lnTo>
                  <a:pt x="644017" y="438277"/>
                </a:lnTo>
                <a:lnTo>
                  <a:pt x="646540" y="438277"/>
                </a:lnTo>
                <a:lnTo>
                  <a:pt x="633812" y="429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334255" y="4217796"/>
            <a:ext cx="723265" cy="517525"/>
          </a:xfrm>
          <a:custGeom>
            <a:avLst/>
            <a:gdLst/>
            <a:ahLst/>
            <a:cxnLst/>
            <a:rect l="l" t="t" r="r" b="b"/>
            <a:pathLst>
              <a:path w="723264" h="517525">
                <a:moveTo>
                  <a:pt x="32512" y="399669"/>
                </a:moveTo>
                <a:lnTo>
                  <a:pt x="28956" y="401700"/>
                </a:lnTo>
                <a:lnTo>
                  <a:pt x="28067" y="405129"/>
                </a:lnTo>
                <a:lnTo>
                  <a:pt x="0" y="508126"/>
                </a:lnTo>
                <a:lnTo>
                  <a:pt x="106426" y="517144"/>
                </a:lnTo>
                <a:lnTo>
                  <a:pt x="109855" y="517397"/>
                </a:lnTo>
                <a:lnTo>
                  <a:pt x="113030" y="514857"/>
                </a:lnTo>
                <a:lnTo>
                  <a:pt x="113538" y="507872"/>
                </a:lnTo>
                <a:lnTo>
                  <a:pt x="113326" y="507619"/>
                </a:lnTo>
                <a:lnTo>
                  <a:pt x="11811" y="507619"/>
                </a:lnTo>
                <a:lnTo>
                  <a:pt x="4445" y="497204"/>
                </a:lnTo>
                <a:lnTo>
                  <a:pt x="18828" y="487149"/>
                </a:lnTo>
                <a:lnTo>
                  <a:pt x="40259" y="408431"/>
                </a:lnTo>
                <a:lnTo>
                  <a:pt x="41275" y="405002"/>
                </a:lnTo>
                <a:lnTo>
                  <a:pt x="39243" y="401573"/>
                </a:lnTo>
                <a:lnTo>
                  <a:pt x="35814" y="400557"/>
                </a:lnTo>
                <a:lnTo>
                  <a:pt x="32512" y="399669"/>
                </a:lnTo>
                <a:close/>
              </a:path>
              <a:path w="723264" h="517525">
                <a:moveTo>
                  <a:pt x="18828" y="487149"/>
                </a:moveTo>
                <a:lnTo>
                  <a:pt x="4445" y="497204"/>
                </a:lnTo>
                <a:lnTo>
                  <a:pt x="11811" y="507619"/>
                </a:lnTo>
                <a:lnTo>
                  <a:pt x="16897" y="504063"/>
                </a:lnTo>
                <a:lnTo>
                  <a:pt x="14224" y="504063"/>
                </a:lnTo>
                <a:lnTo>
                  <a:pt x="8636" y="496061"/>
                </a:lnTo>
                <a:lnTo>
                  <a:pt x="16402" y="496061"/>
                </a:lnTo>
                <a:lnTo>
                  <a:pt x="18828" y="487149"/>
                </a:lnTo>
                <a:close/>
              </a:path>
              <a:path w="723264" h="517525">
                <a:moveTo>
                  <a:pt x="26209" y="497552"/>
                </a:moveTo>
                <a:lnTo>
                  <a:pt x="11811" y="507619"/>
                </a:lnTo>
                <a:lnTo>
                  <a:pt x="113326" y="507619"/>
                </a:lnTo>
                <a:lnTo>
                  <a:pt x="110998" y="504825"/>
                </a:lnTo>
                <a:lnTo>
                  <a:pt x="107442" y="504444"/>
                </a:lnTo>
                <a:lnTo>
                  <a:pt x="26209" y="497552"/>
                </a:lnTo>
                <a:close/>
              </a:path>
              <a:path w="723264" h="517525">
                <a:moveTo>
                  <a:pt x="8636" y="496061"/>
                </a:moveTo>
                <a:lnTo>
                  <a:pt x="14224" y="504063"/>
                </a:lnTo>
                <a:lnTo>
                  <a:pt x="16226" y="496705"/>
                </a:lnTo>
                <a:lnTo>
                  <a:pt x="8636" y="496061"/>
                </a:lnTo>
                <a:close/>
              </a:path>
              <a:path w="723264" h="517525">
                <a:moveTo>
                  <a:pt x="16226" y="496705"/>
                </a:moveTo>
                <a:lnTo>
                  <a:pt x="14224" y="504063"/>
                </a:lnTo>
                <a:lnTo>
                  <a:pt x="16897" y="504063"/>
                </a:lnTo>
                <a:lnTo>
                  <a:pt x="26209" y="497552"/>
                </a:lnTo>
                <a:lnTo>
                  <a:pt x="16226" y="496705"/>
                </a:lnTo>
                <a:close/>
              </a:path>
              <a:path w="723264" h="517525">
                <a:moveTo>
                  <a:pt x="715645" y="0"/>
                </a:moveTo>
                <a:lnTo>
                  <a:pt x="18828" y="487149"/>
                </a:lnTo>
                <a:lnTo>
                  <a:pt x="16226" y="496705"/>
                </a:lnTo>
                <a:lnTo>
                  <a:pt x="26209" y="497552"/>
                </a:lnTo>
                <a:lnTo>
                  <a:pt x="723011" y="10413"/>
                </a:lnTo>
                <a:lnTo>
                  <a:pt x="715645" y="0"/>
                </a:lnTo>
                <a:close/>
              </a:path>
              <a:path w="723264" h="517525">
                <a:moveTo>
                  <a:pt x="16402" y="496061"/>
                </a:moveTo>
                <a:lnTo>
                  <a:pt x="8636" y="496061"/>
                </a:lnTo>
                <a:lnTo>
                  <a:pt x="16226" y="496705"/>
                </a:lnTo>
                <a:lnTo>
                  <a:pt x="16402" y="4960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209925" y="3388233"/>
            <a:ext cx="333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宋体"/>
                <a:cs typeface="宋体"/>
              </a:rPr>
              <a:t>分叉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211448" y="4553839"/>
            <a:ext cx="14979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宋体"/>
                <a:cs typeface="宋体"/>
              </a:rPr>
              <a:t>汇合</a:t>
            </a:r>
            <a:endParaRPr sz="1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200">
              <a:latin typeface="宋体"/>
              <a:cs typeface="宋体"/>
            </a:endParaRPr>
          </a:p>
          <a:p>
            <a:pPr marL="299720">
              <a:lnSpc>
                <a:spcPct val="100000"/>
              </a:lnSpc>
              <a:spcBef>
                <a:spcPts val="860"/>
              </a:spcBef>
            </a:pPr>
            <a:r>
              <a:rPr sz="1200" b="1" spc="-5" dirty="0">
                <a:latin typeface="Arial"/>
                <a:cs typeface="Arial"/>
              </a:rPr>
              <a:t>Notify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Customer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505201" y="36652"/>
            <a:ext cx="4215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活动图元</a:t>
            </a:r>
            <a:r>
              <a:rPr sz="4400" spc="5" dirty="0"/>
              <a:t>素</a:t>
            </a:r>
            <a:r>
              <a:rPr sz="4400" dirty="0">
                <a:latin typeface="Calibri"/>
                <a:cs typeface="Calibri"/>
              </a:rPr>
              <a:t>:</a:t>
            </a:r>
            <a:r>
              <a:rPr sz="4400" spc="-95" dirty="0">
                <a:latin typeface="Calibri"/>
                <a:cs typeface="Calibri"/>
              </a:rPr>
              <a:t> </a:t>
            </a:r>
            <a:r>
              <a:rPr sz="4400" dirty="0"/>
              <a:t>汇合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318" y="879500"/>
            <a:ext cx="7840980" cy="149479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800" spc="-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800" spc="-5" dirty="0">
                <a:latin typeface="宋体"/>
                <a:cs typeface="宋体"/>
              </a:rPr>
              <a:t>活动图中的“对象流”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ts val="3220"/>
              </a:lnSpc>
              <a:spcBef>
                <a:spcPts val="1040"/>
              </a:spcBef>
            </a:pPr>
            <a:r>
              <a:rPr sz="2800" spc="-5" dirty="0">
                <a:latin typeface="宋体"/>
                <a:cs typeface="宋体"/>
              </a:rPr>
              <a:t>对象作为活动的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输入</a:t>
            </a:r>
            <a:r>
              <a:rPr sz="2800" spc="-5" dirty="0">
                <a:latin typeface="宋体"/>
                <a:cs typeface="宋体"/>
              </a:rPr>
              <a:t>或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输出</a:t>
            </a:r>
            <a:r>
              <a:rPr sz="2800" spc="-5" dirty="0">
                <a:latin typeface="宋体"/>
                <a:cs typeface="宋体"/>
              </a:rPr>
              <a:t>，对象</a:t>
            </a:r>
            <a:r>
              <a:rPr sz="2800" dirty="0">
                <a:latin typeface="宋体"/>
                <a:cs typeface="宋体"/>
              </a:rPr>
              <a:t>流可</a:t>
            </a:r>
            <a:r>
              <a:rPr sz="2800" spc="-5" dirty="0">
                <a:solidFill>
                  <a:srgbClr val="00A361"/>
                </a:solidFill>
                <a:latin typeface="宋体"/>
                <a:cs typeface="宋体"/>
              </a:rPr>
              <a:t>表</a:t>
            </a:r>
            <a:r>
              <a:rPr sz="2800" dirty="0">
                <a:solidFill>
                  <a:srgbClr val="00A361"/>
                </a:solidFill>
                <a:latin typeface="宋体"/>
                <a:cs typeface="宋体"/>
              </a:rPr>
              <a:t>示</a:t>
            </a:r>
            <a:r>
              <a:rPr sz="2800" spc="-5" dirty="0">
                <a:solidFill>
                  <a:srgbClr val="00A361"/>
                </a:solidFill>
                <a:latin typeface="宋体"/>
                <a:cs typeface="宋体"/>
              </a:rPr>
              <a:t>对象与 </a:t>
            </a:r>
            <a:r>
              <a:rPr sz="2800" spc="-10" dirty="0">
                <a:solidFill>
                  <a:srgbClr val="00A361"/>
                </a:solidFill>
                <a:latin typeface="宋体"/>
                <a:cs typeface="宋体"/>
              </a:rPr>
              <a:t>活动之间的行</a:t>
            </a:r>
            <a:r>
              <a:rPr sz="2800" spc="-5" dirty="0">
                <a:solidFill>
                  <a:srgbClr val="00A361"/>
                </a:solidFill>
                <a:latin typeface="宋体"/>
                <a:cs typeface="宋体"/>
              </a:rPr>
              <a:t>为</a:t>
            </a:r>
            <a:r>
              <a:rPr sz="2800" spc="-10" dirty="0">
                <a:latin typeface="宋体"/>
                <a:cs typeface="宋体"/>
              </a:rPr>
              <a:t>，对象流属于控制</a:t>
            </a:r>
            <a:r>
              <a:rPr sz="2800" dirty="0">
                <a:latin typeface="宋体"/>
                <a:cs typeface="宋体"/>
              </a:rPr>
              <a:t>流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03575" y="3511422"/>
            <a:ext cx="1052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Submit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Defect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51048" y="3410711"/>
            <a:ext cx="288290" cy="431800"/>
          </a:xfrm>
          <a:custGeom>
            <a:avLst/>
            <a:gdLst/>
            <a:ahLst/>
            <a:cxnLst/>
            <a:rect l="l" t="t" r="r" b="b"/>
            <a:pathLst>
              <a:path w="288289" h="431800">
                <a:moveTo>
                  <a:pt x="288036" y="0"/>
                </a:moveTo>
                <a:lnTo>
                  <a:pt x="236247" y="3477"/>
                </a:lnTo>
                <a:lnTo>
                  <a:pt x="187509" y="13505"/>
                </a:lnTo>
                <a:lnTo>
                  <a:pt x="142635" y="29473"/>
                </a:lnTo>
                <a:lnTo>
                  <a:pt x="102436" y="50772"/>
                </a:lnTo>
                <a:lnTo>
                  <a:pt x="67724" y="76792"/>
                </a:lnTo>
                <a:lnTo>
                  <a:pt x="39313" y="106924"/>
                </a:lnTo>
                <a:lnTo>
                  <a:pt x="18014" y="140559"/>
                </a:lnTo>
                <a:lnTo>
                  <a:pt x="4638" y="177087"/>
                </a:lnTo>
                <a:lnTo>
                  <a:pt x="0" y="215900"/>
                </a:lnTo>
                <a:lnTo>
                  <a:pt x="5275" y="257216"/>
                </a:lnTo>
                <a:lnTo>
                  <a:pt x="20462" y="295971"/>
                </a:lnTo>
                <a:lnTo>
                  <a:pt x="44603" y="331389"/>
                </a:lnTo>
                <a:lnTo>
                  <a:pt x="76739" y="362696"/>
                </a:lnTo>
                <a:lnTo>
                  <a:pt x="115912" y="389114"/>
                </a:lnTo>
                <a:lnTo>
                  <a:pt x="161162" y="409870"/>
                </a:lnTo>
                <a:lnTo>
                  <a:pt x="211533" y="424188"/>
                </a:lnTo>
                <a:lnTo>
                  <a:pt x="266064" y="43129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39084" y="3410711"/>
            <a:ext cx="935990" cy="0"/>
          </a:xfrm>
          <a:custGeom>
            <a:avLst/>
            <a:gdLst/>
            <a:ahLst/>
            <a:cxnLst/>
            <a:rect l="l" t="t" r="r" b="b"/>
            <a:pathLst>
              <a:path w="935989">
                <a:moveTo>
                  <a:pt x="0" y="0"/>
                </a:moveTo>
                <a:lnTo>
                  <a:pt x="9357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68979" y="3842003"/>
            <a:ext cx="1005840" cy="0"/>
          </a:xfrm>
          <a:custGeom>
            <a:avLst/>
            <a:gdLst/>
            <a:ahLst/>
            <a:cxnLst/>
            <a:rect l="l" t="t" r="r" b="b"/>
            <a:pathLst>
              <a:path w="1005839">
                <a:moveTo>
                  <a:pt x="0" y="0"/>
                </a:moveTo>
                <a:lnTo>
                  <a:pt x="100584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48911" y="3412235"/>
            <a:ext cx="337185" cy="431800"/>
          </a:xfrm>
          <a:custGeom>
            <a:avLst/>
            <a:gdLst/>
            <a:ahLst/>
            <a:cxnLst/>
            <a:rect l="l" t="t" r="r" b="b"/>
            <a:pathLst>
              <a:path w="337185" h="431800">
                <a:moveTo>
                  <a:pt x="0" y="430530"/>
                </a:moveTo>
                <a:lnTo>
                  <a:pt x="6760" y="430863"/>
                </a:lnTo>
                <a:lnTo>
                  <a:pt x="13509" y="431101"/>
                </a:lnTo>
                <a:lnTo>
                  <a:pt x="20234" y="431244"/>
                </a:lnTo>
                <a:lnTo>
                  <a:pt x="26924" y="431291"/>
                </a:lnTo>
                <a:lnTo>
                  <a:pt x="82639" y="427818"/>
                </a:lnTo>
                <a:lnTo>
                  <a:pt x="135072" y="417803"/>
                </a:lnTo>
                <a:lnTo>
                  <a:pt x="183350" y="401856"/>
                </a:lnTo>
                <a:lnTo>
                  <a:pt x="226597" y="380583"/>
                </a:lnTo>
                <a:lnTo>
                  <a:pt x="263941" y="354595"/>
                </a:lnTo>
                <a:lnTo>
                  <a:pt x="294508" y="324499"/>
                </a:lnTo>
                <a:lnTo>
                  <a:pt x="317423" y="290903"/>
                </a:lnTo>
                <a:lnTo>
                  <a:pt x="331813" y="254416"/>
                </a:lnTo>
                <a:lnTo>
                  <a:pt x="336803" y="215645"/>
                </a:lnTo>
                <a:lnTo>
                  <a:pt x="331987" y="177544"/>
                </a:lnTo>
                <a:lnTo>
                  <a:pt x="318084" y="141610"/>
                </a:lnTo>
                <a:lnTo>
                  <a:pt x="295914" y="108429"/>
                </a:lnTo>
                <a:lnTo>
                  <a:pt x="266297" y="78588"/>
                </a:lnTo>
                <a:lnTo>
                  <a:pt x="230051" y="52673"/>
                </a:lnTo>
                <a:lnTo>
                  <a:pt x="187997" y="31270"/>
                </a:lnTo>
                <a:lnTo>
                  <a:pt x="140954" y="14966"/>
                </a:lnTo>
                <a:lnTo>
                  <a:pt x="89741" y="4347"/>
                </a:lnTo>
                <a:lnTo>
                  <a:pt x="3517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37428" y="4530597"/>
            <a:ext cx="75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Fix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Defect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68240" y="4430267"/>
            <a:ext cx="288290" cy="431800"/>
          </a:xfrm>
          <a:custGeom>
            <a:avLst/>
            <a:gdLst/>
            <a:ahLst/>
            <a:cxnLst/>
            <a:rect l="l" t="t" r="r" b="b"/>
            <a:pathLst>
              <a:path w="288289" h="431800">
                <a:moveTo>
                  <a:pt x="288036" y="0"/>
                </a:moveTo>
                <a:lnTo>
                  <a:pt x="236247" y="3477"/>
                </a:lnTo>
                <a:lnTo>
                  <a:pt x="187509" y="13505"/>
                </a:lnTo>
                <a:lnTo>
                  <a:pt x="142635" y="29473"/>
                </a:lnTo>
                <a:lnTo>
                  <a:pt x="102436" y="50772"/>
                </a:lnTo>
                <a:lnTo>
                  <a:pt x="67724" y="76792"/>
                </a:lnTo>
                <a:lnTo>
                  <a:pt x="39313" y="106924"/>
                </a:lnTo>
                <a:lnTo>
                  <a:pt x="18014" y="140559"/>
                </a:lnTo>
                <a:lnTo>
                  <a:pt x="4638" y="177087"/>
                </a:lnTo>
                <a:lnTo>
                  <a:pt x="0" y="215899"/>
                </a:lnTo>
                <a:lnTo>
                  <a:pt x="5275" y="257216"/>
                </a:lnTo>
                <a:lnTo>
                  <a:pt x="20462" y="295971"/>
                </a:lnTo>
                <a:lnTo>
                  <a:pt x="44603" y="331389"/>
                </a:lnTo>
                <a:lnTo>
                  <a:pt x="76739" y="362696"/>
                </a:lnTo>
                <a:lnTo>
                  <a:pt x="115912" y="389114"/>
                </a:lnTo>
                <a:lnTo>
                  <a:pt x="161162" y="409870"/>
                </a:lnTo>
                <a:lnTo>
                  <a:pt x="211533" y="424188"/>
                </a:lnTo>
                <a:lnTo>
                  <a:pt x="266064" y="43129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56276" y="4430267"/>
            <a:ext cx="937260" cy="0"/>
          </a:xfrm>
          <a:custGeom>
            <a:avLst/>
            <a:gdLst/>
            <a:ahLst/>
            <a:cxnLst/>
            <a:rect l="l" t="t" r="r" b="b"/>
            <a:pathLst>
              <a:path w="937260">
                <a:moveTo>
                  <a:pt x="0" y="0"/>
                </a:moveTo>
                <a:lnTo>
                  <a:pt x="93726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86171" y="4861559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5">
                <a:moveTo>
                  <a:pt x="0" y="0"/>
                </a:moveTo>
                <a:lnTo>
                  <a:pt x="10073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66103" y="4431791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29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1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5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13176" y="4285488"/>
            <a:ext cx="1079500" cy="559435"/>
          </a:xfrm>
          <a:custGeom>
            <a:avLst/>
            <a:gdLst/>
            <a:ahLst/>
            <a:cxnLst/>
            <a:rect l="l" t="t" r="r" b="b"/>
            <a:pathLst>
              <a:path w="1079500" h="559435">
                <a:moveTo>
                  <a:pt x="0" y="559307"/>
                </a:moveTo>
                <a:lnTo>
                  <a:pt x="1078991" y="559307"/>
                </a:lnTo>
                <a:lnTo>
                  <a:pt x="1078991" y="0"/>
                </a:lnTo>
                <a:lnTo>
                  <a:pt x="0" y="0"/>
                </a:lnTo>
                <a:lnTo>
                  <a:pt x="0" y="55930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13176" y="4285488"/>
            <a:ext cx="1079500" cy="2870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330"/>
              </a:spcBef>
            </a:pPr>
            <a:r>
              <a:rPr sz="12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Defect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3176" y="4572000"/>
            <a:ext cx="1079500" cy="2730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235"/>
              </a:spcBef>
            </a:pPr>
            <a:r>
              <a:rPr sz="1200" b="1" spc="-5" dirty="0">
                <a:latin typeface="Arial"/>
                <a:cs typeface="Arial"/>
              </a:rPr>
              <a:t>[Submitted]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57800" y="5292852"/>
            <a:ext cx="1079500" cy="559435"/>
          </a:xfrm>
          <a:custGeom>
            <a:avLst/>
            <a:gdLst/>
            <a:ahLst/>
            <a:cxnLst/>
            <a:rect l="l" t="t" r="r" b="b"/>
            <a:pathLst>
              <a:path w="1079500" h="559435">
                <a:moveTo>
                  <a:pt x="0" y="559308"/>
                </a:moveTo>
                <a:lnTo>
                  <a:pt x="1078991" y="559308"/>
                </a:lnTo>
                <a:lnTo>
                  <a:pt x="1078991" y="0"/>
                </a:lnTo>
                <a:lnTo>
                  <a:pt x="0" y="0"/>
                </a:lnTo>
                <a:lnTo>
                  <a:pt x="0" y="5593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57800" y="5292852"/>
            <a:ext cx="1079500" cy="2882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335"/>
              </a:spcBef>
            </a:pPr>
            <a:r>
              <a:rPr sz="12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Defect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57800" y="5580888"/>
            <a:ext cx="1079500" cy="2717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290830">
              <a:lnSpc>
                <a:spcPct val="100000"/>
              </a:lnSpc>
              <a:spcBef>
                <a:spcPts val="229"/>
              </a:spcBef>
            </a:pPr>
            <a:r>
              <a:rPr sz="1200" b="1" dirty="0">
                <a:latin typeface="Arial"/>
                <a:cs typeface="Arial"/>
              </a:rPr>
              <a:t>[Fixed]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57800" y="5580888"/>
            <a:ext cx="1079500" cy="0"/>
          </a:xfrm>
          <a:custGeom>
            <a:avLst/>
            <a:gdLst/>
            <a:ahLst/>
            <a:cxnLst/>
            <a:rect l="l" t="t" r="r" b="b"/>
            <a:pathLst>
              <a:path w="1079500">
                <a:moveTo>
                  <a:pt x="0" y="0"/>
                </a:moveTo>
                <a:lnTo>
                  <a:pt x="107899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45484" y="3854196"/>
            <a:ext cx="141605" cy="431800"/>
          </a:xfrm>
          <a:custGeom>
            <a:avLst/>
            <a:gdLst/>
            <a:ahLst/>
            <a:cxnLst/>
            <a:rect l="l" t="t" r="r" b="b"/>
            <a:pathLst>
              <a:path w="141604" h="431800">
                <a:moveTo>
                  <a:pt x="76962" y="0"/>
                </a:moveTo>
                <a:lnTo>
                  <a:pt x="64262" y="0"/>
                </a:lnTo>
                <a:lnTo>
                  <a:pt x="64262" y="50799"/>
                </a:lnTo>
                <a:lnTo>
                  <a:pt x="76962" y="50799"/>
                </a:lnTo>
                <a:lnTo>
                  <a:pt x="76962" y="0"/>
                </a:lnTo>
                <a:close/>
              </a:path>
              <a:path w="141604" h="431800">
                <a:moveTo>
                  <a:pt x="76962" y="88899"/>
                </a:moveTo>
                <a:lnTo>
                  <a:pt x="64262" y="88899"/>
                </a:lnTo>
                <a:lnTo>
                  <a:pt x="64262" y="139699"/>
                </a:lnTo>
                <a:lnTo>
                  <a:pt x="76962" y="139699"/>
                </a:lnTo>
                <a:lnTo>
                  <a:pt x="76962" y="88899"/>
                </a:lnTo>
                <a:close/>
              </a:path>
              <a:path w="141604" h="431800">
                <a:moveTo>
                  <a:pt x="76962" y="177799"/>
                </a:moveTo>
                <a:lnTo>
                  <a:pt x="64262" y="177799"/>
                </a:lnTo>
                <a:lnTo>
                  <a:pt x="64262" y="228599"/>
                </a:lnTo>
                <a:lnTo>
                  <a:pt x="76962" y="228599"/>
                </a:lnTo>
                <a:lnTo>
                  <a:pt x="76962" y="177799"/>
                </a:lnTo>
                <a:close/>
              </a:path>
              <a:path w="141604" h="431800">
                <a:moveTo>
                  <a:pt x="76962" y="266699"/>
                </a:moveTo>
                <a:lnTo>
                  <a:pt x="64262" y="266699"/>
                </a:lnTo>
                <a:lnTo>
                  <a:pt x="64262" y="317499"/>
                </a:lnTo>
                <a:lnTo>
                  <a:pt x="76962" y="317499"/>
                </a:lnTo>
                <a:lnTo>
                  <a:pt x="76962" y="266699"/>
                </a:lnTo>
                <a:close/>
              </a:path>
              <a:path w="141604" h="431800">
                <a:moveTo>
                  <a:pt x="5714" y="338073"/>
                </a:moveTo>
                <a:lnTo>
                  <a:pt x="3048" y="340359"/>
                </a:lnTo>
                <a:lnTo>
                  <a:pt x="380" y="342518"/>
                </a:lnTo>
                <a:lnTo>
                  <a:pt x="0" y="346582"/>
                </a:lnTo>
                <a:lnTo>
                  <a:pt x="2286" y="349249"/>
                </a:lnTo>
                <a:lnTo>
                  <a:pt x="70612" y="431291"/>
                </a:lnTo>
                <a:lnTo>
                  <a:pt x="82246" y="417321"/>
                </a:lnTo>
                <a:lnTo>
                  <a:pt x="65786" y="417321"/>
                </a:lnTo>
                <a:lnTo>
                  <a:pt x="70612" y="411530"/>
                </a:lnTo>
                <a:lnTo>
                  <a:pt x="66336" y="406399"/>
                </a:lnTo>
                <a:lnTo>
                  <a:pt x="64262" y="406399"/>
                </a:lnTo>
                <a:lnTo>
                  <a:pt x="64262" y="403910"/>
                </a:lnTo>
                <a:lnTo>
                  <a:pt x="11937" y="341121"/>
                </a:lnTo>
                <a:lnTo>
                  <a:pt x="9778" y="338454"/>
                </a:lnTo>
                <a:lnTo>
                  <a:pt x="5714" y="338073"/>
                </a:lnTo>
                <a:close/>
              </a:path>
              <a:path w="141604" h="431800">
                <a:moveTo>
                  <a:pt x="70612" y="411530"/>
                </a:moveTo>
                <a:lnTo>
                  <a:pt x="65786" y="417321"/>
                </a:lnTo>
                <a:lnTo>
                  <a:pt x="75437" y="417321"/>
                </a:lnTo>
                <a:lnTo>
                  <a:pt x="70612" y="411530"/>
                </a:lnTo>
                <a:close/>
              </a:path>
              <a:path w="141604" h="431800">
                <a:moveTo>
                  <a:pt x="76962" y="403910"/>
                </a:moveTo>
                <a:lnTo>
                  <a:pt x="70612" y="411530"/>
                </a:lnTo>
                <a:lnTo>
                  <a:pt x="75437" y="417321"/>
                </a:lnTo>
                <a:lnTo>
                  <a:pt x="82246" y="417321"/>
                </a:lnTo>
                <a:lnTo>
                  <a:pt x="91342" y="406399"/>
                </a:lnTo>
                <a:lnTo>
                  <a:pt x="76962" y="406399"/>
                </a:lnTo>
                <a:lnTo>
                  <a:pt x="76962" y="403910"/>
                </a:lnTo>
                <a:close/>
              </a:path>
              <a:path w="141604" h="431800">
                <a:moveTo>
                  <a:pt x="64262" y="403910"/>
                </a:moveTo>
                <a:lnTo>
                  <a:pt x="64262" y="406399"/>
                </a:lnTo>
                <a:lnTo>
                  <a:pt x="66336" y="406399"/>
                </a:lnTo>
                <a:lnTo>
                  <a:pt x="64262" y="403910"/>
                </a:lnTo>
                <a:close/>
              </a:path>
              <a:path w="141604" h="431800">
                <a:moveTo>
                  <a:pt x="76962" y="355599"/>
                </a:moveTo>
                <a:lnTo>
                  <a:pt x="64262" y="355599"/>
                </a:lnTo>
                <a:lnTo>
                  <a:pt x="64262" y="403910"/>
                </a:lnTo>
                <a:lnTo>
                  <a:pt x="66336" y="406399"/>
                </a:lnTo>
                <a:lnTo>
                  <a:pt x="74887" y="406399"/>
                </a:lnTo>
                <a:lnTo>
                  <a:pt x="76962" y="403910"/>
                </a:lnTo>
                <a:lnTo>
                  <a:pt x="76962" y="355599"/>
                </a:lnTo>
                <a:close/>
              </a:path>
              <a:path w="141604" h="431800">
                <a:moveTo>
                  <a:pt x="135508" y="338073"/>
                </a:moveTo>
                <a:lnTo>
                  <a:pt x="131444" y="338454"/>
                </a:lnTo>
                <a:lnTo>
                  <a:pt x="129286" y="341121"/>
                </a:lnTo>
                <a:lnTo>
                  <a:pt x="76962" y="403910"/>
                </a:lnTo>
                <a:lnTo>
                  <a:pt x="76962" y="406399"/>
                </a:lnTo>
                <a:lnTo>
                  <a:pt x="91342" y="406399"/>
                </a:lnTo>
                <a:lnTo>
                  <a:pt x="138937" y="349249"/>
                </a:lnTo>
                <a:lnTo>
                  <a:pt x="141224" y="346582"/>
                </a:lnTo>
                <a:lnTo>
                  <a:pt x="140842" y="342518"/>
                </a:lnTo>
                <a:lnTo>
                  <a:pt x="138175" y="340359"/>
                </a:lnTo>
                <a:lnTo>
                  <a:pt x="135508" y="3380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92167" y="4574540"/>
            <a:ext cx="576580" cy="141605"/>
          </a:xfrm>
          <a:custGeom>
            <a:avLst/>
            <a:gdLst/>
            <a:ahLst/>
            <a:cxnLst/>
            <a:rect l="l" t="t" r="r" b="b"/>
            <a:pathLst>
              <a:path w="576579" h="141604">
                <a:moveTo>
                  <a:pt x="50800" y="64262"/>
                </a:moveTo>
                <a:lnTo>
                  <a:pt x="0" y="64262"/>
                </a:lnTo>
                <a:lnTo>
                  <a:pt x="0" y="76962"/>
                </a:lnTo>
                <a:lnTo>
                  <a:pt x="50800" y="76962"/>
                </a:lnTo>
                <a:lnTo>
                  <a:pt x="50800" y="64262"/>
                </a:lnTo>
                <a:close/>
              </a:path>
              <a:path w="576579" h="141604">
                <a:moveTo>
                  <a:pt x="139700" y="64262"/>
                </a:moveTo>
                <a:lnTo>
                  <a:pt x="88900" y="64262"/>
                </a:lnTo>
                <a:lnTo>
                  <a:pt x="88900" y="76962"/>
                </a:lnTo>
                <a:lnTo>
                  <a:pt x="139700" y="76962"/>
                </a:lnTo>
                <a:lnTo>
                  <a:pt x="139700" y="64262"/>
                </a:lnTo>
                <a:close/>
              </a:path>
              <a:path w="576579" h="141604">
                <a:moveTo>
                  <a:pt x="228600" y="64262"/>
                </a:moveTo>
                <a:lnTo>
                  <a:pt x="177800" y="64262"/>
                </a:lnTo>
                <a:lnTo>
                  <a:pt x="177800" y="76962"/>
                </a:lnTo>
                <a:lnTo>
                  <a:pt x="228600" y="76962"/>
                </a:lnTo>
                <a:lnTo>
                  <a:pt x="228600" y="64262"/>
                </a:lnTo>
                <a:close/>
              </a:path>
              <a:path w="576579" h="141604">
                <a:moveTo>
                  <a:pt x="317500" y="64262"/>
                </a:moveTo>
                <a:lnTo>
                  <a:pt x="266700" y="64262"/>
                </a:lnTo>
                <a:lnTo>
                  <a:pt x="266700" y="76962"/>
                </a:lnTo>
                <a:lnTo>
                  <a:pt x="317500" y="76962"/>
                </a:lnTo>
                <a:lnTo>
                  <a:pt x="317500" y="64262"/>
                </a:lnTo>
                <a:close/>
              </a:path>
              <a:path w="576579" h="141604">
                <a:moveTo>
                  <a:pt x="406400" y="64262"/>
                </a:moveTo>
                <a:lnTo>
                  <a:pt x="355600" y="64262"/>
                </a:lnTo>
                <a:lnTo>
                  <a:pt x="355600" y="76962"/>
                </a:lnTo>
                <a:lnTo>
                  <a:pt x="406400" y="76962"/>
                </a:lnTo>
                <a:lnTo>
                  <a:pt x="406400" y="64262"/>
                </a:lnTo>
                <a:close/>
              </a:path>
              <a:path w="576579" h="141604">
                <a:moveTo>
                  <a:pt x="556310" y="70612"/>
                </a:moveTo>
                <a:lnTo>
                  <a:pt x="485902" y="129286"/>
                </a:lnTo>
                <a:lnTo>
                  <a:pt x="483235" y="131445"/>
                </a:lnTo>
                <a:lnTo>
                  <a:pt x="482854" y="135509"/>
                </a:lnTo>
                <a:lnTo>
                  <a:pt x="485140" y="138176"/>
                </a:lnTo>
                <a:lnTo>
                  <a:pt x="487299" y="140843"/>
                </a:lnTo>
                <a:lnTo>
                  <a:pt x="491363" y="141224"/>
                </a:lnTo>
                <a:lnTo>
                  <a:pt x="494030" y="138937"/>
                </a:lnTo>
                <a:lnTo>
                  <a:pt x="568447" y="76962"/>
                </a:lnTo>
                <a:lnTo>
                  <a:pt x="566166" y="76962"/>
                </a:lnTo>
                <a:lnTo>
                  <a:pt x="566166" y="75437"/>
                </a:lnTo>
                <a:lnTo>
                  <a:pt x="562102" y="75437"/>
                </a:lnTo>
                <a:lnTo>
                  <a:pt x="556310" y="70612"/>
                </a:lnTo>
                <a:close/>
              </a:path>
              <a:path w="576579" h="141604">
                <a:moveTo>
                  <a:pt x="495300" y="64262"/>
                </a:moveTo>
                <a:lnTo>
                  <a:pt x="444500" y="64262"/>
                </a:lnTo>
                <a:lnTo>
                  <a:pt x="444500" y="76962"/>
                </a:lnTo>
                <a:lnTo>
                  <a:pt x="495300" y="76962"/>
                </a:lnTo>
                <a:lnTo>
                  <a:pt x="495300" y="64262"/>
                </a:lnTo>
                <a:close/>
              </a:path>
              <a:path w="576579" h="141604">
                <a:moveTo>
                  <a:pt x="548690" y="64262"/>
                </a:moveTo>
                <a:lnTo>
                  <a:pt x="533400" y="64262"/>
                </a:lnTo>
                <a:lnTo>
                  <a:pt x="533400" y="76962"/>
                </a:lnTo>
                <a:lnTo>
                  <a:pt x="548690" y="76962"/>
                </a:lnTo>
                <a:lnTo>
                  <a:pt x="556310" y="70612"/>
                </a:lnTo>
                <a:lnTo>
                  <a:pt x="548690" y="64262"/>
                </a:lnTo>
                <a:close/>
              </a:path>
              <a:path w="576579" h="141604">
                <a:moveTo>
                  <a:pt x="568447" y="64262"/>
                </a:moveTo>
                <a:lnTo>
                  <a:pt x="566166" y="64262"/>
                </a:lnTo>
                <a:lnTo>
                  <a:pt x="566166" y="76962"/>
                </a:lnTo>
                <a:lnTo>
                  <a:pt x="568447" y="76962"/>
                </a:lnTo>
                <a:lnTo>
                  <a:pt x="576072" y="70612"/>
                </a:lnTo>
                <a:lnTo>
                  <a:pt x="568447" y="64262"/>
                </a:lnTo>
                <a:close/>
              </a:path>
              <a:path w="576579" h="141604">
                <a:moveTo>
                  <a:pt x="562102" y="65786"/>
                </a:moveTo>
                <a:lnTo>
                  <a:pt x="556310" y="70612"/>
                </a:lnTo>
                <a:lnTo>
                  <a:pt x="562102" y="75437"/>
                </a:lnTo>
                <a:lnTo>
                  <a:pt x="562102" y="65786"/>
                </a:lnTo>
                <a:close/>
              </a:path>
              <a:path w="576579" h="141604">
                <a:moveTo>
                  <a:pt x="566166" y="65786"/>
                </a:moveTo>
                <a:lnTo>
                  <a:pt x="562102" y="65786"/>
                </a:lnTo>
                <a:lnTo>
                  <a:pt x="562102" y="75437"/>
                </a:lnTo>
                <a:lnTo>
                  <a:pt x="566166" y="75437"/>
                </a:lnTo>
                <a:lnTo>
                  <a:pt x="566166" y="65786"/>
                </a:lnTo>
                <a:close/>
              </a:path>
              <a:path w="576579" h="141604">
                <a:moveTo>
                  <a:pt x="491363" y="0"/>
                </a:moveTo>
                <a:lnTo>
                  <a:pt x="487299" y="381"/>
                </a:lnTo>
                <a:lnTo>
                  <a:pt x="485140" y="3048"/>
                </a:lnTo>
                <a:lnTo>
                  <a:pt x="482854" y="5715"/>
                </a:lnTo>
                <a:lnTo>
                  <a:pt x="483235" y="9779"/>
                </a:lnTo>
                <a:lnTo>
                  <a:pt x="485902" y="11937"/>
                </a:lnTo>
                <a:lnTo>
                  <a:pt x="556310" y="70612"/>
                </a:lnTo>
                <a:lnTo>
                  <a:pt x="562102" y="65786"/>
                </a:lnTo>
                <a:lnTo>
                  <a:pt x="566166" y="65786"/>
                </a:lnTo>
                <a:lnTo>
                  <a:pt x="566166" y="64262"/>
                </a:lnTo>
                <a:lnTo>
                  <a:pt x="568447" y="64262"/>
                </a:lnTo>
                <a:lnTo>
                  <a:pt x="494030" y="2286"/>
                </a:lnTo>
                <a:lnTo>
                  <a:pt x="4913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90108" y="4861559"/>
            <a:ext cx="141605" cy="431800"/>
          </a:xfrm>
          <a:custGeom>
            <a:avLst/>
            <a:gdLst/>
            <a:ahLst/>
            <a:cxnLst/>
            <a:rect l="l" t="t" r="r" b="b"/>
            <a:pathLst>
              <a:path w="141604" h="431800">
                <a:moveTo>
                  <a:pt x="76962" y="0"/>
                </a:moveTo>
                <a:lnTo>
                  <a:pt x="64262" y="0"/>
                </a:lnTo>
                <a:lnTo>
                  <a:pt x="64262" y="50800"/>
                </a:lnTo>
                <a:lnTo>
                  <a:pt x="76962" y="50800"/>
                </a:lnTo>
                <a:lnTo>
                  <a:pt x="76962" y="0"/>
                </a:lnTo>
                <a:close/>
              </a:path>
              <a:path w="141604" h="431800">
                <a:moveTo>
                  <a:pt x="76962" y="88900"/>
                </a:moveTo>
                <a:lnTo>
                  <a:pt x="64262" y="88900"/>
                </a:lnTo>
                <a:lnTo>
                  <a:pt x="64262" y="139700"/>
                </a:lnTo>
                <a:lnTo>
                  <a:pt x="76962" y="139700"/>
                </a:lnTo>
                <a:lnTo>
                  <a:pt x="76962" y="88900"/>
                </a:lnTo>
                <a:close/>
              </a:path>
              <a:path w="141604" h="431800">
                <a:moveTo>
                  <a:pt x="76962" y="177800"/>
                </a:moveTo>
                <a:lnTo>
                  <a:pt x="64262" y="177800"/>
                </a:lnTo>
                <a:lnTo>
                  <a:pt x="64262" y="228600"/>
                </a:lnTo>
                <a:lnTo>
                  <a:pt x="76962" y="228600"/>
                </a:lnTo>
                <a:lnTo>
                  <a:pt x="76962" y="177800"/>
                </a:lnTo>
                <a:close/>
              </a:path>
              <a:path w="141604" h="431800">
                <a:moveTo>
                  <a:pt x="76962" y="266700"/>
                </a:moveTo>
                <a:lnTo>
                  <a:pt x="64262" y="266700"/>
                </a:lnTo>
                <a:lnTo>
                  <a:pt x="64262" y="317500"/>
                </a:lnTo>
                <a:lnTo>
                  <a:pt x="76962" y="317500"/>
                </a:lnTo>
                <a:lnTo>
                  <a:pt x="76962" y="266700"/>
                </a:lnTo>
                <a:close/>
              </a:path>
              <a:path w="141604" h="431800">
                <a:moveTo>
                  <a:pt x="5714" y="338073"/>
                </a:moveTo>
                <a:lnTo>
                  <a:pt x="3047" y="340359"/>
                </a:lnTo>
                <a:lnTo>
                  <a:pt x="380" y="342519"/>
                </a:lnTo>
                <a:lnTo>
                  <a:pt x="0" y="346582"/>
                </a:lnTo>
                <a:lnTo>
                  <a:pt x="2286" y="349250"/>
                </a:lnTo>
                <a:lnTo>
                  <a:pt x="70612" y="431291"/>
                </a:lnTo>
                <a:lnTo>
                  <a:pt x="82246" y="417321"/>
                </a:lnTo>
                <a:lnTo>
                  <a:pt x="65786" y="417321"/>
                </a:lnTo>
                <a:lnTo>
                  <a:pt x="70612" y="411530"/>
                </a:lnTo>
                <a:lnTo>
                  <a:pt x="66336" y="406399"/>
                </a:lnTo>
                <a:lnTo>
                  <a:pt x="64262" y="406399"/>
                </a:lnTo>
                <a:lnTo>
                  <a:pt x="64262" y="403910"/>
                </a:lnTo>
                <a:lnTo>
                  <a:pt x="11937" y="341121"/>
                </a:lnTo>
                <a:lnTo>
                  <a:pt x="9778" y="338454"/>
                </a:lnTo>
                <a:lnTo>
                  <a:pt x="5714" y="338073"/>
                </a:lnTo>
                <a:close/>
              </a:path>
              <a:path w="141604" h="431800">
                <a:moveTo>
                  <a:pt x="70612" y="411530"/>
                </a:moveTo>
                <a:lnTo>
                  <a:pt x="65786" y="417321"/>
                </a:lnTo>
                <a:lnTo>
                  <a:pt x="75437" y="417321"/>
                </a:lnTo>
                <a:lnTo>
                  <a:pt x="70612" y="411530"/>
                </a:lnTo>
                <a:close/>
              </a:path>
              <a:path w="141604" h="431800">
                <a:moveTo>
                  <a:pt x="76962" y="403910"/>
                </a:moveTo>
                <a:lnTo>
                  <a:pt x="70612" y="411530"/>
                </a:lnTo>
                <a:lnTo>
                  <a:pt x="75437" y="417321"/>
                </a:lnTo>
                <a:lnTo>
                  <a:pt x="82246" y="417321"/>
                </a:lnTo>
                <a:lnTo>
                  <a:pt x="91342" y="406399"/>
                </a:lnTo>
                <a:lnTo>
                  <a:pt x="76962" y="406399"/>
                </a:lnTo>
                <a:lnTo>
                  <a:pt x="76962" y="403910"/>
                </a:lnTo>
                <a:close/>
              </a:path>
              <a:path w="141604" h="431800">
                <a:moveTo>
                  <a:pt x="64262" y="403910"/>
                </a:moveTo>
                <a:lnTo>
                  <a:pt x="64262" y="406399"/>
                </a:lnTo>
                <a:lnTo>
                  <a:pt x="66336" y="406399"/>
                </a:lnTo>
                <a:lnTo>
                  <a:pt x="64262" y="403910"/>
                </a:lnTo>
                <a:close/>
              </a:path>
              <a:path w="141604" h="431800">
                <a:moveTo>
                  <a:pt x="76962" y="355600"/>
                </a:moveTo>
                <a:lnTo>
                  <a:pt x="64262" y="355600"/>
                </a:lnTo>
                <a:lnTo>
                  <a:pt x="64262" y="403910"/>
                </a:lnTo>
                <a:lnTo>
                  <a:pt x="66336" y="406399"/>
                </a:lnTo>
                <a:lnTo>
                  <a:pt x="74887" y="406399"/>
                </a:lnTo>
                <a:lnTo>
                  <a:pt x="76962" y="403910"/>
                </a:lnTo>
                <a:lnTo>
                  <a:pt x="76962" y="355600"/>
                </a:lnTo>
                <a:close/>
              </a:path>
              <a:path w="141604" h="431800">
                <a:moveTo>
                  <a:pt x="135508" y="338073"/>
                </a:moveTo>
                <a:lnTo>
                  <a:pt x="131444" y="338454"/>
                </a:lnTo>
                <a:lnTo>
                  <a:pt x="129286" y="341121"/>
                </a:lnTo>
                <a:lnTo>
                  <a:pt x="76962" y="403910"/>
                </a:lnTo>
                <a:lnTo>
                  <a:pt x="76962" y="406399"/>
                </a:lnTo>
                <a:lnTo>
                  <a:pt x="91342" y="406399"/>
                </a:lnTo>
                <a:lnTo>
                  <a:pt x="138937" y="349250"/>
                </a:lnTo>
                <a:lnTo>
                  <a:pt x="141224" y="346582"/>
                </a:lnTo>
                <a:lnTo>
                  <a:pt x="140842" y="342519"/>
                </a:lnTo>
                <a:lnTo>
                  <a:pt x="138175" y="340359"/>
                </a:lnTo>
                <a:lnTo>
                  <a:pt x="135508" y="3380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813494" y="2685288"/>
            <a:ext cx="1978025" cy="182880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0" rIns="0" bIns="0" rtlCol="0">
            <a:spAutoFit/>
          </a:bodyPr>
          <a:lstStyle/>
          <a:p>
            <a:pPr marL="646430">
              <a:lnSpc>
                <a:spcPts val="1410"/>
              </a:lnSpc>
            </a:pPr>
            <a:r>
              <a:rPr sz="1200" b="1" spc="-5" dirty="0">
                <a:latin typeface="Arial"/>
                <a:cs typeface="Arial"/>
              </a:rPr>
              <a:t>Customer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00790" y="2685288"/>
            <a:ext cx="2035810" cy="182880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0" rIns="0" bIns="0" rtlCol="0">
            <a:spAutoFit/>
          </a:bodyPr>
          <a:lstStyle/>
          <a:p>
            <a:pPr marL="535305">
              <a:lnSpc>
                <a:spcPts val="1410"/>
              </a:lnSpc>
            </a:pPr>
            <a:r>
              <a:rPr sz="1200" b="1" spc="-5" dirty="0">
                <a:latin typeface="Arial"/>
                <a:cs typeface="Arial"/>
              </a:rPr>
              <a:t>Soft </a:t>
            </a:r>
            <a:r>
              <a:rPr sz="1200" b="1" dirty="0">
                <a:latin typeface="Arial"/>
                <a:cs typeface="Arial"/>
              </a:rPr>
              <a:t>Engineer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796028" y="2685288"/>
            <a:ext cx="0" cy="3385185"/>
          </a:xfrm>
          <a:custGeom>
            <a:avLst/>
            <a:gdLst/>
            <a:ahLst/>
            <a:cxnLst/>
            <a:rect l="l" t="t" r="r" b="b"/>
            <a:pathLst>
              <a:path h="3385185">
                <a:moveTo>
                  <a:pt x="0" y="0"/>
                </a:moveTo>
                <a:lnTo>
                  <a:pt x="0" y="338480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41235" y="2685288"/>
            <a:ext cx="0" cy="3385185"/>
          </a:xfrm>
          <a:custGeom>
            <a:avLst/>
            <a:gdLst/>
            <a:ahLst/>
            <a:cxnLst/>
            <a:rect l="l" t="t" r="r" b="b"/>
            <a:pathLst>
              <a:path h="3385185">
                <a:moveTo>
                  <a:pt x="0" y="0"/>
                </a:moveTo>
                <a:lnTo>
                  <a:pt x="0" y="338480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08732" y="2685288"/>
            <a:ext cx="0" cy="3385185"/>
          </a:xfrm>
          <a:custGeom>
            <a:avLst/>
            <a:gdLst/>
            <a:ahLst/>
            <a:cxnLst/>
            <a:rect l="l" t="t" r="r" b="b"/>
            <a:pathLst>
              <a:path h="3385185">
                <a:moveTo>
                  <a:pt x="0" y="0"/>
                </a:moveTo>
                <a:lnTo>
                  <a:pt x="0" y="338480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739705" y="3056953"/>
            <a:ext cx="161925" cy="3644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40180" y="3909059"/>
            <a:ext cx="2329180" cy="502920"/>
          </a:xfrm>
          <a:custGeom>
            <a:avLst/>
            <a:gdLst/>
            <a:ahLst/>
            <a:cxnLst/>
            <a:rect l="l" t="t" r="r" b="b"/>
            <a:pathLst>
              <a:path w="2329179" h="502920">
                <a:moveTo>
                  <a:pt x="923544" y="0"/>
                </a:moveTo>
                <a:lnTo>
                  <a:pt x="83819" y="0"/>
                </a:lnTo>
                <a:lnTo>
                  <a:pt x="51167" y="6578"/>
                </a:lnTo>
                <a:lnTo>
                  <a:pt x="24526" y="24526"/>
                </a:lnTo>
                <a:lnTo>
                  <a:pt x="6578" y="51167"/>
                </a:lnTo>
                <a:lnTo>
                  <a:pt x="0" y="83819"/>
                </a:lnTo>
                <a:lnTo>
                  <a:pt x="0" y="419100"/>
                </a:lnTo>
                <a:lnTo>
                  <a:pt x="6578" y="451752"/>
                </a:lnTo>
                <a:lnTo>
                  <a:pt x="24526" y="478393"/>
                </a:lnTo>
                <a:lnTo>
                  <a:pt x="51167" y="496341"/>
                </a:lnTo>
                <a:lnTo>
                  <a:pt x="83819" y="502919"/>
                </a:lnTo>
                <a:lnTo>
                  <a:pt x="923544" y="502919"/>
                </a:lnTo>
                <a:lnTo>
                  <a:pt x="956196" y="496341"/>
                </a:lnTo>
                <a:lnTo>
                  <a:pt x="982837" y="478393"/>
                </a:lnTo>
                <a:lnTo>
                  <a:pt x="1000785" y="451752"/>
                </a:lnTo>
                <a:lnTo>
                  <a:pt x="1007363" y="419100"/>
                </a:lnTo>
                <a:lnTo>
                  <a:pt x="1007363" y="209550"/>
                </a:lnTo>
                <a:lnTo>
                  <a:pt x="2328798" y="203072"/>
                </a:lnTo>
                <a:lnTo>
                  <a:pt x="1007363" y="83819"/>
                </a:lnTo>
                <a:lnTo>
                  <a:pt x="1000785" y="51167"/>
                </a:lnTo>
                <a:lnTo>
                  <a:pt x="982837" y="24526"/>
                </a:lnTo>
                <a:lnTo>
                  <a:pt x="956196" y="6578"/>
                </a:lnTo>
                <a:lnTo>
                  <a:pt x="92354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40180" y="3909059"/>
            <a:ext cx="2329180" cy="502920"/>
          </a:xfrm>
          <a:custGeom>
            <a:avLst/>
            <a:gdLst/>
            <a:ahLst/>
            <a:cxnLst/>
            <a:rect l="l" t="t" r="r" b="b"/>
            <a:pathLst>
              <a:path w="2329179" h="502920">
                <a:moveTo>
                  <a:pt x="0" y="83819"/>
                </a:moveTo>
                <a:lnTo>
                  <a:pt x="6578" y="51167"/>
                </a:lnTo>
                <a:lnTo>
                  <a:pt x="24526" y="24526"/>
                </a:lnTo>
                <a:lnTo>
                  <a:pt x="51167" y="6578"/>
                </a:lnTo>
                <a:lnTo>
                  <a:pt x="83819" y="0"/>
                </a:lnTo>
                <a:lnTo>
                  <a:pt x="587628" y="0"/>
                </a:lnTo>
                <a:lnTo>
                  <a:pt x="839469" y="0"/>
                </a:lnTo>
                <a:lnTo>
                  <a:pt x="923544" y="0"/>
                </a:lnTo>
                <a:lnTo>
                  <a:pt x="956196" y="6578"/>
                </a:lnTo>
                <a:lnTo>
                  <a:pt x="982837" y="24526"/>
                </a:lnTo>
                <a:lnTo>
                  <a:pt x="1000785" y="51167"/>
                </a:lnTo>
                <a:lnTo>
                  <a:pt x="1007363" y="83819"/>
                </a:lnTo>
                <a:lnTo>
                  <a:pt x="2328798" y="203072"/>
                </a:lnTo>
                <a:lnTo>
                  <a:pt x="1007363" y="209550"/>
                </a:lnTo>
                <a:lnTo>
                  <a:pt x="1007363" y="419100"/>
                </a:lnTo>
                <a:lnTo>
                  <a:pt x="1000785" y="451752"/>
                </a:lnTo>
                <a:lnTo>
                  <a:pt x="982837" y="478393"/>
                </a:lnTo>
                <a:lnTo>
                  <a:pt x="956196" y="496341"/>
                </a:lnTo>
                <a:lnTo>
                  <a:pt x="923544" y="502919"/>
                </a:lnTo>
                <a:lnTo>
                  <a:pt x="839469" y="502919"/>
                </a:lnTo>
                <a:lnTo>
                  <a:pt x="587628" y="502919"/>
                </a:lnTo>
                <a:lnTo>
                  <a:pt x="83819" y="502919"/>
                </a:lnTo>
                <a:lnTo>
                  <a:pt x="51167" y="496341"/>
                </a:lnTo>
                <a:lnTo>
                  <a:pt x="24526" y="478393"/>
                </a:lnTo>
                <a:lnTo>
                  <a:pt x="6578" y="451752"/>
                </a:lnTo>
                <a:lnTo>
                  <a:pt x="0" y="419100"/>
                </a:lnTo>
                <a:lnTo>
                  <a:pt x="0" y="209550"/>
                </a:lnTo>
                <a:lnTo>
                  <a:pt x="0" y="8381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702689" y="3963161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创建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822063" y="3477767"/>
            <a:ext cx="1155065" cy="1136015"/>
          </a:xfrm>
          <a:custGeom>
            <a:avLst/>
            <a:gdLst/>
            <a:ahLst/>
            <a:cxnLst/>
            <a:rect l="l" t="t" r="r" b="b"/>
            <a:pathLst>
              <a:path w="1155064" h="1136014">
                <a:moveTo>
                  <a:pt x="566547" y="502920"/>
                </a:moveTo>
                <a:lnTo>
                  <a:pt x="314325" y="502920"/>
                </a:lnTo>
                <a:lnTo>
                  <a:pt x="0" y="1135888"/>
                </a:lnTo>
                <a:lnTo>
                  <a:pt x="566547" y="502920"/>
                </a:lnTo>
                <a:close/>
              </a:path>
              <a:path w="1155064" h="1136014">
                <a:moveTo>
                  <a:pt x="1071245" y="0"/>
                </a:moveTo>
                <a:lnTo>
                  <a:pt x="229997" y="0"/>
                </a:lnTo>
                <a:lnTo>
                  <a:pt x="197344" y="6578"/>
                </a:lnTo>
                <a:lnTo>
                  <a:pt x="170703" y="24526"/>
                </a:lnTo>
                <a:lnTo>
                  <a:pt x="152755" y="51167"/>
                </a:lnTo>
                <a:lnTo>
                  <a:pt x="146176" y="83820"/>
                </a:lnTo>
                <a:lnTo>
                  <a:pt x="146176" y="419100"/>
                </a:lnTo>
                <a:lnTo>
                  <a:pt x="152755" y="451699"/>
                </a:lnTo>
                <a:lnTo>
                  <a:pt x="170703" y="478345"/>
                </a:lnTo>
                <a:lnTo>
                  <a:pt x="197344" y="496323"/>
                </a:lnTo>
                <a:lnTo>
                  <a:pt x="229997" y="502920"/>
                </a:lnTo>
                <a:lnTo>
                  <a:pt x="1071245" y="502920"/>
                </a:lnTo>
                <a:lnTo>
                  <a:pt x="1103897" y="496323"/>
                </a:lnTo>
                <a:lnTo>
                  <a:pt x="1130538" y="478345"/>
                </a:lnTo>
                <a:lnTo>
                  <a:pt x="1148486" y="451699"/>
                </a:lnTo>
                <a:lnTo>
                  <a:pt x="1155064" y="419100"/>
                </a:lnTo>
                <a:lnTo>
                  <a:pt x="1155064" y="83820"/>
                </a:lnTo>
                <a:lnTo>
                  <a:pt x="1148486" y="51167"/>
                </a:lnTo>
                <a:lnTo>
                  <a:pt x="1130538" y="24526"/>
                </a:lnTo>
                <a:lnTo>
                  <a:pt x="1103897" y="6578"/>
                </a:lnTo>
                <a:lnTo>
                  <a:pt x="1071245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822063" y="3477767"/>
            <a:ext cx="1155065" cy="1136015"/>
          </a:xfrm>
          <a:custGeom>
            <a:avLst/>
            <a:gdLst/>
            <a:ahLst/>
            <a:cxnLst/>
            <a:rect l="l" t="t" r="r" b="b"/>
            <a:pathLst>
              <a:path w="1155064" h="1136014">
                <a:moveTo>
                  <a:pt x="146176" y="83820"/>
                </a:moveTo>
                <a:lnTo>
                  <a:pt x="152755" y="51167"/>
                </a:lnTo>
                <a:lnTo>
                  <a:pt x="170703" y="24526"/>
                </a:lnTo>
                <a:lnTo>
                  <a:pt x="197344" y="6578"/>
                </a:lnTo>
                <a:lnTo>
                  <a:pt x="229997" y="0"/>
                </a:lnTo>
                <a:lnTo>
                  <a:pt x="314325" y="0"/>
                </a:lnTo>
                <a:lnTo>
                  <a:pt x="566547" y="0"/>
                </a:lnTo>
                <a:lnTo>
                  <a:pt x="1071245" y="0"/>
                </a:lnTo>
                <a:lnTo>
                  <a:pt x="1103897" y="6578"/>
                </a:lnTo>
                <a:lnTo>
                  <a:pt x="1130538" y="24526"/>
                </a:lnTo>
                <a:lnTo>
                  <a:pt x="1148486" y="51167"/>
                </a:lnTo>
                <a:lnTo>
                  <a:pt x="1155064" y="83820"/>
                </a:lnTo>
                <a:lnTo>
                  <a:pt x="1155064" y="293370"/>
                </a:lnTo>
                <a:lnTo>
                  <a:pt x="1155064" y="419100"/>
                </a:lnTo>
                <a:lnTo>
                  <a:pt x="1148486" y="451699"/>
                </a:lnTo>
                <a:lnTo>
                  <a:pt x="1130538" y="478345"/>
                </a:lnTo>
                <a:lnTo>
                  <a:pt x="1103897" y="496323"/>
                </a:lnTo>
                <a:lnTo>
                  <a:pt x="1071245" y="502920"/>
                </a:lnTo>
                <a:lnTo>
                  <a:pt x="566547" y="502920"/>
                </a:lnTo>
                <a:lnTo>
                  <a:pt x="0" y="1135888"/>
                </a:lnTo>
                <a:lnTo>
                  <a:pt x="314325" y="502920"/>
                </a:lnTo>
                <a:lnTo>
                  <a:pt x="229997" y="502920"/>
                </a:lnTo>
                <a:lnTo>
                  <a:pt x="197344" y="496323"/>
                </a:lnTo>
                <a:lnTo>
                  <a:pt x="170703" y="478345"/>
                </a:lnTo>
                <a:lnTo>
                  <a:pt x="152755" y="451699"/>
                </a:lnTo>
                <a:lnTo>
                  <a:pt x="146176" y="419100"/>
                </a:lnTo>
                <a:lnTo>
                  <a:pt x="146176" y="293370"/>
                </a:lnTo>
                <a:lnTo>
                  <a:pt x="146176" y="8382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232272" y="3525139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使用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80989" y="5099684"/>
            <a:ext cx="2327275" cy="681355"/>
          </a:xfrm>
          <a:custGeom>
            <a:avLst/>
            <a:gdLst/>
            <a:ahLst/>
            <a:cxnLst/>
            <a:rect l="l" t="t" r="r" b="b"/>
            <a:pathLst>
              <a:path w="2327275" h="681354">
                <a:moveTo>
                  <a:pt x="0" y="0"/>
                </a:moveTo>
                <a:lnTo>
                  <a:pt x="1319911" y="344804"/>
                </a:lnTo>
                <a:lnTo>
                  <a:pt x="1319911" y="584834"/>
                </a:lnTo>
                <a:lnTo>
                  <a:pt x="1327447" y="622205"/>
                </a:lnTo>
                <a:lnTo>
                  <a:pt x="1348009" y="652724"/>
                </a:lnTo>
                <a:lnTo>
                  <a:pt x="1378525" y="673301"/>
                </a:lnTo>
                <a:lnTo>
                  <a:pt x="1415922" y="680846"/>
                </a:lnTo>
                <a:lnTo>
                  <a:pt x="2231263" y="680846"/>
                </a:lnTo>
                <a:lnTo>
                  <a:pt x="2268660" y="673301"/>
                </a:lnTo>
                <a:lnTo>
                  <a:pt x="2299176" y="652724"/>
                </a:lnTo>
                <a:lnTo>
                  <a:pt x="2319738" y="622205"/>
                </a:lnTo>
                <a:lnTo>
                  <a:pt x="2327275" y="584834"/>
                </a:lnTo>
                <a:lnTo>
                  <a:pt x="2327275" y="200786"/>
                </a:lnTo>
                <a:lnTo>
                  <a:pt x="1319911" y="200786"/>
                </a:lnTo>
                <a:lnTo>
                  <a:pt x="0" y="0"/>
                </a:lnTo>
                <a:close/>
              </a:path>
              <a:path w="2327275" h="681354">
                <a:moveTo>
                  <a:pt x="2231263" y="104775"/>
                </a:moveTo>
                <a:lnTo>
                  <a:pt x="1415922" y="104775"/>
                </a:lnTo>
                <a:lnTo>
                  <a:pt x="1378525" y="112311"/>
                </a:lnTo>
                <a:lnTo>
                  <a:pt x="1348009" y="132873"/>
                </a:lnTo>
                <a:lnTo>
                  <a:pt x="1327447" y="163389"/>
                </a:lnTo>
                <a:lnTo>
                  <a:pt x="1319911" y="200786"/>
                </a:lnTo>
                <a:lnTo>
                  <a:pt x="2327275" y="200786"/>
                </a:lnTo>
                <a:lnTo>
                  <a:pt x="2319738" y="163389"/>
                </a:lnTo>
                <a:lnTo>
                  <a:pt x="2299176" y="132873"/>
                </a:lnTo>
                <a:lnTo>
                  <a:pt x="2268660" y="112311"/>
                </a:lnTo>
                <a:lnTo>
                  <a:pt x="2231263" y="104775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80989" y="5099684"/>
            <a:ext cx="2327275" cy="681355"/>
          </a:xfrm>
          <a:custGeom>
            <a:avLst/>
            <a:gdLst/>
            <a:ahLst/>
            <a:cxnLst/>
            <a:rect l="l" t="t" r="r" b="b"/>
            <a:pathLst>
              <a:path w="2327275" h="681354">
                <a:moveTo>
                  <a:pt x="1319911" y="200786"/>
                </a:moveTo>
                <a:lnTo>
                  <a:pt x="1327447" y="163389"/>
                </a:lnTo>
                <a:lnTo>
                  <a:pt x="1348009" y="132873"/>
                </a:lnTo>
                <a:lnTo>
                  <a:pt x="1378525" y="112311"/>
                </a:lnTo>
                <a:lnTo>
                  <a:pt x="1415922" y="104775"/>
                </a:lnTo>
                <a:lnTo>
                  <a:pt x="1487805" y="104775"/>
                </a:lnTo>
                <a:lnTo>
                  <a:pt x="1739645" y="104775"/>
                </a:lnTo>
                <a:lnTo>
                  <a:pt x="2231263" y="104775"/>
                </a:lnTo>
                <a:lnTo>
                  <a:pt x="2268660" y="112311"/>
                </a:lnTo>
                <a:lnTo>
                  <a:pt x="2299176" y="132873"/>
                </a:lnTo>
                <a:lnTo>
                  <a:pt x="2319738" y="163389"/>
                </a:lnTo>
                <a:lnTo>
                  <a:pt x="2327275" y="200786"/>
                </a:lnTo>
                <a:lnTo>
                  <a:pt x="2327275" y="344804"/>
                </a:lnTo>
                <a:lnTo>
                  <a:pt x="2327275" y="584834"/>
                </a:lnTo>
                <a:lnTo>
                  <a:pt x="2319738" y="622205"/>
                </a:lnTo>
                <a:lnTo>
                  <a:pt x="2299176" y="652724"/>
                </a:lnTo>
                <a:lnTo>
                  <a:pt x="2268660" y="673301"/>
                </a:lnTo>
                <a:lnTo>
                  <a:pt x="2231263" y="680846"/>
                </a:lnTo>
                <a:lnTo>
                  <a:pt x="1739645" y="680846"/>
                </a:lnTo>
                <a:lnTo>
                  <a:pt x="1487805" y="680846"/>
                </a:lnTo>
                <a:lnTo>
                  <a:pt x="1415922" y="680846"/>
                </a:lnTo>
                <a:lnTo>
                  <a:pt x="1378525" y="673301"/>
                </a:lnTo>
                <a:lnTo>
                  <a:pt x="1348009" y="652724"/>
                </a:lnTo>
                <a:lnTo>
                  <a:pt x="1327447" y="622205"/>
                </a:lnTo>
                <a:lnTo>
                  <a:pt x="1319911" y="584834"/>
                </a:lnTo>
                <a:lnTo>
                  <a:pt x="1319911" y="344804"/>
                </a:lnTo>
                <a:lnTo>
                  <a:pt x="0" y="0"/>
                </a:lnTo>
                <a:lnTo>
                  <a:pt x="1319911" y="2007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336663" y="5263641"/>
            <a:ext cx="73914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宋体"/>
                <a:cs typeface="宋体"/>
              </a:rPr>
              <a:t>改变了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宋体"/>
                <a:cs typeface="宋体"/>
              </a:rPr>
              <a:t>对象状态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472178" y="4371847"/>
            <a:ext cx="333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宋体"/>
                <a:cs typeface="宋体"/>
              </a:rPr>
              <a:t>输入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95725" y="3939920"/>
            <a:ext cx="333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宋体"/>
                <a:cs typeface="宋体"/>
              </a:rPr>
              <a:t>输出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408803" y="5019802"/>
            <a:ext cx="333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宋体"/>
                <a:cs typeface="宋体"/>
              </a:rPr>
              <a:t>输出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2226310" y="36652"/>
            <a:ext cx="47752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活动图元</a:t>
            </a:r>
            <a:r>
              <a:rPr sz="4400" spc="5" dirty="0"/>
              <a:t>素</a:t>
            </a:r>
            <a:r>
              <a:rPr sz="4400" dirty="0">
                <a:latin typeface="Calibri"/>
                <a:cs typeface="Calibri"/>
              </a:rPr>
              <a:t>:</a:t>
            </a:r>
            <a:r>
              <a:rPr sz="4400" spc="-95" dirty="0">
                <a:latin typeface="Calibri"/>
                <a:cs typeface="Calibri"/>
              </a:rPr>
              <a:t> </a:t>
            </a:r>
            <a:r>
              <a:rPr sz="4400" dirty="0"/>
              <a:t>对象流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8573" y="26365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活动图应用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400300" y="5602223"/>
            <a:ext cx="5080" cy="184785"/>
          </a:xfrm>
          <a:custGeom>
            <a:avLst/>
            <a:gdLst/>
            <a:ahLst/>
            <a:cxnLst/>
            <a:rect l="l" t="t" r="r" b="b"/>
            <a:pathLst>
              <a:path w="5080" h="184785">
                <a:moveTo>
                  <a:pt x="0" y="0"/>
                </a:moveTo>
                <a:lnTo>
                  <a:pt x="4572" y="184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2932" y="5673852"/>
            <a:ext cx="576580" cy="0"/>
          </a:xfrm>
          <a:custGeom>
            <a:avLst/>
            <a:gdLst/>
            <a:ahLst/>
            <a:cxnLst/>
            <a:rect l="l" t="t" r="r" b="b"/>
            <a:pathLst>
              <a:path w="576580">
                <a:moveTo>
                  <a:pt x="0" y="0"/>
                </a:moveTo>
                <a:lnTo>
                  <a:pt x="57607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64664" y="5745479"/>
            <a:ext cx="144780" cy="288290"/>
          </a:xfrm>
          <a:custGeom>
            <a:avLst/>
            <a:gdLst/>
            <a:ahLst/>
            <a:cxnLst/>
            <a:rect l="l" t="t" r="r" b="b"/>
            <a:pathLst>
              <a:path w="144780" h="288289">
                <a:moveTo>
                  <a:pt x="144780" y="0"/>
                </a:moveTo>
                <a:lnTo>
                  <a:pt x="0" y="28803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07920" y="5745479"/>
            <a:ext cx="146685" cy="288290"/>
          </a:xfrm>
          <a:custGeom>
            <a:avLst/>
            <a:gdLst/>
            <a:ahLst/>
            <a:cxnLst/>
            <a:rect l="l" t="t" r="r" b="b"/>
            <a:pathLst>
              <a:path w="146685" h="288289">
                <a:moveTo>
                  <a:pt x="0" y="0"/>
                </a:moveTo>
                <a:lnTo>
                  <a:pt x="146304" y="28803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64664" y="5279135"/>
            <a:ext cx="288290" cy="294640"/>
          </a:xfrm>
          <a:custGeom>
            <a:avLst/>
            <a:gdLst/>
            <a:ahLst/>
            <a:cxnLst/>
            <a:rect l="l" t="t" r="r" b="b"/>
            <a:pathLst>
              <a:path w="288289" h="294639">
                <a:moveTo>
                  <a:pt x="0" y="147065"/>
                </a:moveTo>
                <a:lnTo>
                  <a:pt x="7345" y="100559"/>
                </a:lnTo>
                <a:lnTo>
                  <a:pt x="27797" y="60185"/>
                </a:lnTo>
                <a:lnTo>
                  <a:pt x="58978" y="28358"/>
                </a:lnTo>
                <a:lnTo>
                  <a:pt x="98511" y="7491"/>
                </a:lnTo>
                <a:lnTo>
                  <a:pt x="144018" y="0"/>
                </a:lnTo>
                <a:lnTo>
                  <a:pt x="189524" y="7491"/>
                </a:lnTo>
                <a:lnTo>
                  <a:pt x="229057" y="28358"/>
                </a:lnTo>
                <a:lnTo>
                  <a:pt x="260238" y="60185"/>
                </a:lnTo>
                <a:lnTo>
                  <a:pt x="280690" y="100559"/>
                </a:lnTo>
                <a:lnTo>
                  <a:pt x="288036" y="147065"/>
                </a:lnTo>
                <a:lnTo>
                  <a:pt x="280690" y="193572"/>
                </a:lnTo>
                <a:lnTo>
                  <a:pt x="260238" y="233946"/>
                </a:lnTo>
                <a:lnTo>
                  <a:pt x="229057" y="265773"/>
                </a:lnTo>
                <a:lnTo>
                  <a:pt x="189524" y="286640"/>
                </a:lnTo>
                <a:lnTo>
                  <a:pt x="144018" y="294131"/>
                </a:lnTo>
                <a:lnTo>
                  <a:pt x="98511" y="286640"/>
                </a:lnTo>
                <a:lnTo>
                  <a:pt x="58978" y="265773"/>
                </a:lnTo>
                <a:lnTo>
                  <a:pt x="27797" y="233946"/>
                </a:lnTo>
                <a:lnTo>
                  <a:pt x="7345" y="193572"/>
                </a:lnTo>
                <a:lnTo>
                  <a:pt x="0" y="14706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89547" y="4636008"/>
            <a:ext cx="5080" cy="184785"/>
          </a:xfrm>
          <a:custGeom>
            <a:avLst/>
            <a:gdLst/>
            <a:ahLst/>
            <a:cxnLst/>
            <a:rect l="l" t="t" r="r" b="b"/>
            <a:pathLst>
              <a:path w="5079" h="184785">
                <a:moveTo>
                  <a:pt x="0" y="0"/>
                </a:moveTo>
                <a:lnTo>
                  <a:pt x="4572" y="18440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12179" y="4707635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>
                <a:moveTo>
                  <a:pt x="0" y="0"/>
                </a:moveTo>
                <a:lnTo>
                  <a:pt x="57607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55435" y="4777740"/>
            <a:ext cx="143510" cy="289560"/>
          </a:xfrm>
          <a:custGeom>
            <a:avLst/>
            <a:gdLst/>
            <a:ahLst/>
            <a:cxnLst/>
            <a:rect l="l" t="t" r="r" b="b"/>
            <a:pathLst>
              <a:path w="143510" h="289560">
                <a:moveTo>
                  <a:pt x="143255" y="0"/>
                </a:moveTo>
                <a:lnTo>
                  <a:pt x="0" y="2895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97167" y="4777740"/>
            <a:ext cx="146685" cy="289560"/>
          </a:xfrm>
          <a:custGeom>
            <a:avLst/>
            <a:gdLst/>
            <a:ahLst/>
            <a:cxnLst/>
            <a:rect l="l" t="t" r="r" b="b"/>
            <a:pathLst>
              <a:path w="146685" h="289560">
                <a:moveTo>
                  <a:pt x="0" y="0"/>
                </a:moveTo>
                <a:lnTo>
                  <a:pt x="146304" y="28956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55435" y="4311396"/>
            <a:ext cx="287020" cy="295910"/>
          </a:xfrm>
          <a:custGeom>
            <a:avLst/>
            <a:gdLst/>
            <a:ahLst/>
            <a:cxnLst/>
            <a:rect l="l" t="t" r="r" b="b"/>
            <a:pathLst>
              <a:path w="287020" h="295910">
                <a:moveTo>
                  <a:pt x="0" y="147827"/>
                </a:moveTo>
                <a:lnTo>
                  <a:pt x="7303" y="101096"/>
                </a:lnTo>
                <a:lnTo>
                  <a:pt x="27639" y="60514"/>
                </a:lnTo>
                <a:lnTo>
                  <a:pt x="58649" y="28517"/>
                </a:lnTo>
                <a:lnTo>
                  <a:pt x="97974" y="7534"/>
                </a:lnTo>
                <a:lnTo>
                  <a:pt x="143255" y="0"/>
                </a:lnTo>
                <a:lnTo>
                  <a:pt x="188537" y="7534"/>
                </a:lnTo>
                <a:lnTo>
                  <a:pt x="227862" y="28517"/>
                </a:lnTo>
                <a:lnTo>
                  <a:pt x="258872" y="60514"/>
                </a:lnTo>
                <a:lnTo>
                  <a:pt x="279208" y="101096"/>
                </a:lnTo>
                <a:lnTo>
                  <a:pt x="286512" y="147827"/>
                </a:lnTo>
                <a:lnTo>
                  <a:pt x="279208" y="194559"/>
                </a:lnTo>
                <a:lnTo>
                  <a:pt x="258872" y="235141"/>
                </a:lnTo>
                <a:lnTo>
                  <a:pt x="227862" y="267138"/>
                </a:lnTo>
                <a:lnTo>
                  <a:pt x="188537" y="288121"/>
                </a:lnTo>
                <a:lnTo>
                  <a:pt x="143255" y="295655"/>
                </a:lnTo>
                <a:lnTo>
                  <a:pt x="97974" y="288121"/>
                </a:lnTo>
                <a:lnTo>
                  <a:pt x="58649" y="267138"/>
                </a:lnTo>
                <a:lnTo>
                  <a:pt x="27639" y="235141"/>
                </a:lnTo>
                <a:lnTo>
                  <a:pt x="7303" y="194559"/>
                </a:lnTo>
                <a:lnTo>
                  <a:pt x="0" y="14782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99004" y="5530596"/>
            <a:ext cx="864235" cy="0"/>
          </a:xfrm>
          <a:custGeom>
            <a:avLst/>
            <a:gdLst/>
            <a:ahLst/>
            <a:cxnLst/>
            <a:rect l="l" t="t" r="r" b="b"/>
            <a:pathLst>
              <a:path w="864235">
                <a:moveTo>
                  <a:pt x="0" y="0"/>
                </a:moveTo>
                <a:lnTo>
                  <a:pt x="86410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63111" y="5242559"/>
            <a:ext cx="1338580" cy="487680"/>
          </a:xfrm>
          <a:custGeom>
            <a:avLst/>
            <a:gdLst/>
            <a:ahLst/>
            <a:cxnLst/>
            <a:rect l="l" t="t" r="r" b="b"/>
            <a:pathLst>
              <a:path w="1338579" h="487679">
                <a:moveTo>
                  <a:pt x="0" y="243839"/>
                </a:moveTo>
                <a:lnTo>
                  <a:pt x="13594" y="194711"/>
                </a:lnTo>
                <a:lnTo>
                  <a:pt x="52583" y="148947"/>
                </a:lnTo>
                <a:lnTo>
                  <a:pt x="114275" y="107528"/>
                </a:lnTo>
                <a:lnTo>
                  <a:pt x="152793" y="88755"/>
                </a:lnTo>
                <a:lnTo>
                  <a:pt x="195976" y="71437"/>
                </a:lnTo>
                <a:lnTo>
                  <a:pt x="243489" y="55697"/>
                </a:lnTo>
                <a:lnTo>
                  <a:pt x="294995" y="41656"/>
                </a:lnTo>
                <a:lnTo>
                  <a:pt x="350158" y="29440"/>
                </a:lnTo>
                <a:lnTo>
                  <a:pt x="408640" y="19169"/>
                </a:lnTo>
                <a:lnTo>
                  <a:pt x="470105" y="10966"/>
                </a:lnTo>
                <a:lnTo>
                  <a:pt x="534217" y="4955"/>
                </a:lnTo>
                <a:lnTo>
                  <a:pt x="600640" y="1259"/>
                </a:lnTo>
                <a:lnTo>
                  <a:pt x="669036" y="0"/>
                </a:lnTo>
                <a:lnTo>
                  <a:pt x="737431" y="1259"/>
                </a:lnTo>
                <a:lnTo>
                  <a:pt x="803854" y="4955"/>
                </a:lnTo>
                <a:lnTo>
                  <a:pt x="867966" y="10966"/>
                </a:lnTo>
                <a:lnTo>
                  <a:pt x="929431" y="19169"/>
                </a:lnTo>
                <a:lnTo>
                  <a:pt x="987913" y="29440"/>
                </a:lnTo>
                <a:lnTo>
                  <a:pt x="1043076" y="41656"/>
                </a:lnTo>
                <a:lnTo>
                  <a:pt x="1094582" y="55697"/>
                </a:lnTo>
                <a:lnTo>
                  <a:pt x="1142095" y="71437"/>
                </a:lnTo>
                <a:lnTo>
                  <a:pt x="1185278" y="88755"/>
                </a:lnTo>
                <a:lnTo>
                  <a:pt x="1223796" y="107528"/>
                </a:lnTo>
                <a:lnTo>
                  <a:pt x="1257311" y="127633"/>
                </a:lnTo>
                <a:lnTo>
                  <a:pt x="1307988" y="171347"/>
                </a:lnTo>
                <a:lnTo>
                  <a:pt x="1334617" y="218916"/>
                </a:lnTo>
                <a:lnTo>
                  <a:pt x="1338072" y="243839"/>
                </a:lnTo>
                <a:lnTo>
                  <a:pt x="1334617" y="268771"/>
                </a:lnTo>
                <a:lnTo>
                  <a:pt x="1307988" y="316351"/>
                </a:lnTo>
                <a:lnTo>
                  <a:pt x="1257311" y="360069"/>
                </a:lnTo>
                <a:lnTo>
                  <a:pt x="1223796" y="380174"/>
                </a:lnTo>
                <a:lnTo>
                  <a:pt x="1185278" y="398945"/>
                </a:lnTo>
                <a:lnTo>
                  <a:pt x="1142095" y="416261"/>
                </a:lnTo>
                <a:lnTo>
                  <a:pt x="1094582" y="431999"/>
                </a:lnTo>
                <a:lnTo>
                  <a:pt x="1043076" y="446036"/>
                </a:lnTo>
                <a:lnTo>
                  <a:pt x="987913" y="458250"/>
                </a:lnTo>
                <a:lnTo>
                  <a:pt x="929431" y="468518"/>
                </a:lnTo>
                <a:lnTo>
                  <a:pt x="867966" y="476717"/>
                </a:lnTo>
                <a:lnTo>
                  <a:pt x="803854" y="482726"/>
                </a:lnTo>
                <a:lnTo>
                  <a:pt x="737431" y="486421"/>
                </a:lnTo>
                <a:lnTo>
                  <a:pt x="669036" y="487679"/>
                </a:lnTo>
                <a:lnTo>
                  <a:pt x="600640" y="486421"/>
                </a:lnTo>
                <a:lnTo>
                  <a:pt x="534217" y="482726"/>
                </a:lnTo>
                <a:lnTo>
                  <a:pt x="470105" y="476717"/>
                </a:lnTo>
                <a:lnTo>
                  <a:pt x="408640" y="468518"/>
                </a:lnTo>
                <a:lnTo>
                  <a:pt x="350158" y="458250"/>
                </a:lnTo>
                <a:lnTo>
                  <a:pt x="294995" y="446036"/>
                </a:lnTo>
                <a:lnTo>
                  <a:pt x="243489" y="431999"/>
                </a:lnTo>
                <a:lnTo>
                  <a:pt x="195976" y="416261"/>
                </a:lnTo>
                <a:lnTo>
                  <a:pt x="152793" y="398945"/>
                </a:lnTo>
                <a:lnTo>
                  <a:pt x="114275" y="380174"/>
                </a:lnTo>
                <a:lnTo>
                  <a:pt x="80760" y="360069"/>
                </a:lnTo>
                <a:lnTo>
                  <a:pt x="30083" y="316351"/>
                </a:lnTo>
                <a:lnTo>
                  <a:pt x="3454" y="268771"/>
                </a:lnTo>
                <a:lnTo>
                  <a:pt x="0" y="24383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66159" y="4383023"/>
            <a:ext cx="1338580" cy="489584"/>
          </a:xfrm>
          <a:custGeom>
            <a:avLst/>
            <a:gdLst/>
            <a:ahLst/>
            <a:cxnLst/>
            <a:rect l="l" t="t" r="r" b="b"/>
            <a:pathLst>
              <a:path w="1338579" h="489585">
                <a:moveTo>
                  <a:pt x="0" y="244601"/>
                </a:moveTo>
                <a:lnTo>
                  <a:pt x="13594" y="195295"/>
                </a:lnTo>
                <a:lnTo>
                  <a:pt x="52583" y="149375"/>
                </a:lnTo>
                <a:lnTo>
                  <a:pt x="114275" y="107825"/>
                </a:lnTo>
                <a:lnTo>
                  <a:pt x="152793" y="88996"/>
                </a:lnTo>
                <a:lnTo>
                  <a:pt x="195976" y="71628"/>
                </a:lnTo>
                <a:lnTo>
                  <a:pt x="243489" y="55842"/>
                </a:lnTo>
                <a:lnTo>
                  <a:pt x="294995" y="41764"/>
                </a:lnTo>
                <a:lnTo>
                  <a:pt x="350158" y="29514"/>
                </a:lnTo>
                <a:lnTo>
                  <a:pt x="408640" y="19216"/>
                </a:lnTo>
                <a:lnTo>
                  <a:pt x="470105" y="10993"/>
                </a:lnTo>
                <a:lnTo>
                  <a:pt x="534217" y="4967"/>
                </a:lnTo>
                <a:lnTo>
                  <a:pt x="600640" y="1262"/>
                </a:lnTo>
                <a:lnTo>
                  <a:pt x="669036" y="0"/>
                </a:lnTo>
                <a:lnTo>
                  <a:pt x="737431" y="1262"/>
                </a:lnTo>
                <a:lnTo>
                  <a:pt x="803854" y="4967"/>
                </a:lnTo>
                <a:lnTo>
                  <a:pt x="867966" y="10993"/>
                </a:lnTo>
                <a:lnTo>
                  <a:pt x="929431" y="19216"/>
                </a:lnTo>
                <a:lnTo>
                  <a:pt x="987913" y="29514"/>
                </a:lnTo>
                <a:lnTo>
                  <a:pt x="1043076" y="41764"/>
                </a:lnTo>
                <a:lnTo>
                  <a:pt x="1094582" y="55842"/>
                </a:lnTo>
                <a:lnTo>
                  <a:pt x="1142095" y="71628"/>
                </a:lnTo>
                <a:lnTo>
                  <a:pt x="1185278" y="88996"/>
                </a:lnTo>
                <a:lnTo>
                  <a:pt x="1223796" y="107825"/>
                </a:lnTo>
                <a:lnTo>
                  <a:pt x="1257311" y="127993"/>
                </a:lnTo>
                <a:lnTo>
                  <a:pt x="1307988" y="171850"/>
                </a:lnTo>
                <a:lnTo>
                  <a:pt x="1334617" y="219586"/>
                </a:lnTo>
                <a:lnTo>
                  <a:pt x="1338072" y="244601"/>
                </a:lnTo>
                <a:lnTo>
                  <a:pt x="1334617" y="269617"/>
                </a:lnTo>
                <a:lnTo>
                  <a:pt x="1307988" y="317353"/>
                </a:lnTo>
                <a:lnTo>
                  <a:pt x="1257311" y="361210"/>
                </a:lnTo>
                <a:lnTo>
                  <a:pt x="1223796" y="381378"/>
                </a:lnTo>
                <a:lnTo>
                  <a:pt x="1185278" y="400207"/>
                </a:lnTo>
                <a:lnTo>
                  <a:pt x="1142095" y="417575"/>
                </a:lnTo>
                <a:lnTo>
                  <a:pt x="1094582" y="433361"/>
                </a:lnTo>
                <a:lnTo>
                  <a:pt x="1043076" y="447439"/>
                </a:lnTo>
                <a:lnTo>
                  <a:pt x="987913" y="459689"/>
                </a:lnTo>
                <a:lnTo>
                  <a:pt x="929431" y="469987"/>
                </a:lnTo>
                <a:lnTo>
                  <a:pt x="867966" y="478210"/>
                </a:lnTo>
                <a:lnTo>
                  <a:pt x="803854" y="484236"/>
                </a:lnTo>
                <a:lnTo>
                  <a:pt x="737431" y="487941"/>
                </a:lnTo>
                <a:lnTo>
                  <a:pt x="669036" y="489203"/>
                </a:lnTo>
                <a:lnTo>
                  <a:pt x="600640" y="487941"/>
                </a:lnTo>
                <a:lnTo>
                  <a:pt x="534217" y="484236"/>
                </a:lnTo>
                <a:lnTo>
                  <a:pt x="470105" y="478210"/>
                </a:lnTo>
                <a:lnTo>
                  <a:pt x="408640" y="469987"/>
                </a:lnTo>
                <a:lnTo>
                  <a:pt x="350158" y="459689"/>
                </a:lnTo>
                <a:lnTo>
                  <a:pt x="294995" y="447439"/>
                </a:lnTo>
                <a:lnTo>
                  <a:pt x="243489" y="433361"/>
                </a:lnTo>
                <a:lnTo>
                  <a:pt x="195976" y="417575"/>
                </a:lnTo>
                <a:lnTo>
                  <a:pt x="152793" y="400207"/>
                </a:lnTo>
                <a:lnTo>
                  <a:pt x="114275" y="381378"/>
                </a:lnTo>
                <a:lnTo>
                  <a:pt x="80760" y="361210"/>
                </a:lnTo>
                <a:lnTo>
                  <a:pt x="30083" y="317353"/>
                </a:lnTo>
                <a:lnTo>
                  <a:pt x="3454" y="269617"/>
                </a:lnTo>
                <a:lnTo>
                  <a:pt x="0" y="24460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31664" y="4600955"/>
            <a:ext cx="1009015" cy="0"/>
          </a:xfrm>
          <a:custGeom>
            <a:avLst/>
            <a:gdLst/>
            <a:ahLst/>
            <a:cxnLst/>
            <a:rect l="l" t="t" r="r" b="b"/>
            <a:pathLst>
              <a:path w="1009014">
                <a:moveTo>
                  <a:pt x="0" y="0"/>
                </a:moveTo>
                <a:lnTo>
                  <a:pt x="100888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94077" y="4883022"/>
            <a:ext cx="5186045" cy="1360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99109" algn="ctr">
              <a:lnSpc>
                <a:spcPts val="1875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Make </a:t>
            </a:r>
            <a:r>
              <a:rPr sz="1800" b="1" dirty="0">
                <a:latin typeface="Times New Roman"/>
                <a:cs typeface="Times New Roman"/>
              </a:rPr>
              <a:t>Part</a:t>
            </a:r>
            <a:endParaRPr sz="1800">
              <a:latin typeface="Times New Roman"/>
              <a:cs typeface="Times New Roman"/>
            </a:endParaRPr>
          </a:p>
          <a:p>
            <a:pPr marL="3674110" algn="ctr">
              <a:lnSpc>
                <a:spcPts val="1875"/>
              </a:lnSpc>
            </a:pPr>
            <a:r>
              <a:rPr sz="1800" b="1" spc="-5" dirty="0">
                <a:latin typeface="Times New Roman"/>
                <a:cs typeface="Times New Roman"/>
              </a:rPr>
              <a:t>Manufacturing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>
              <a:latin typeface="Times New Roman"/>
              <a:cs typeface="Times New Roman"/>
            </a:endParaRPr>
          </a:p>
          <a:p>
            <a:pPr marR="528955" algn="ctr">
              <a:lnSpc>
                <a:spcPts val="1855"/>
              </a:lnSpc>
            </a:pPr>
            <a:r>
              <a:rPr sz="1800" b="1" spc="-5" dirty="0">
                <a:latin typeface="Times New Roman"/>
                <a:cs typeface="Times New Roman"/>
              </a:rPr>
              <a:t>ShipPart</a:t>
            </a:r>
            <a:endParaRPr sz="1800">
              <a:latin typeface="Times New Roman"/>
              <a:cs typeface="Times New Roman"/>
            </a:endParaRPr>
          </a:p>
          <a:p>
            <a:pPr marR="4188460" algn="ctr">
              <a:lnSpc>
                <a:spcPts val="1855"/>
              </a:lnSpc>
            </a:pPr>
            <a:r>
              <a:rPr sz="1800" b="1" spc="-5" dirty="0">
                <a:latin typeface="Times New Roman"/>
                <a:cs typeface="Times New Roman"/>
              </a:rPr>
              <a:t>Customer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60035" y="4744211"/>
            <a:ext cx="1152525" cy="649605"/>
          </a:xfrm>
          <a:custGeom>
            <a:avLst/>
            <a:gdLst/>
            <a:ahLst/>
            <a:cxnLst/>
            <a:rect l="l" t="t" r="r" b="b"/>
            <a:pathLst>
              <a:path w="1152525" h="649604">
                <a:moveTo>
                  <a:pt x="0" y="649224"/>
                </a:moveTo>
                <a:lnTo>
                  <a:pt x="115214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7029" y="711712"/>
            <a:ext cx="7789545" cy="3406140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2800" spc="-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800" spc="-5" dirty="0">
                <a:latin typeface="宋体"/>
                <a:cs typeface="宋体"/>
              </a:rPr>
              <a:t>用活动图对工作流建模</a:t>
            </a:r>
            <a:endParaRPr sz="2800">
              <a:latin typeface="宋体"/>
              <a:cs typeface="宋体"/>
            </a:endParaRPr>
          </a:p>
          <a:p>
            <a:pPr marL="582295" indent="-427355" algn="just">
              <a:lnSpc>
                <a:spcPct val="100000"/>
              </a:lnSpc>
              <a:spcBef>
                <a:spcPts val="1380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582930" algn="l"/>
              </a:tabLst>
            </a:pPr>
            <a:r>
              <a:rPr sz="2400" dirty="0">
                <a:latin typeface="宋体"/>
                <a:cs typeface="宋体"/>
              </a:rPr>
              <a:t>工作流建模：系统的业务过程的描述</a:t>
            </a:r>
            <a:endParaRPr sz="2400">
              <a:latin typeface="宋体"/>
              <a:cs typeface="宋体"/>
            </a:endParaRPr>
          </a:p>
          <a:p>
            <a:pPr marL="582295" indent="-427355" algn="just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582930" algn="l"/>
              </a:tabLst>
            </a:pPr>
            <a:r>
              <a:rPr sz="2400" dirty="0">
                <a:latin typeface="宋体"/>
                <a:cs typeface="宋体"/>
              </a:rPr>
              <a:t>用例图的局限性：</a:t>
            </a:r>
            <a:endParaRPr sz="2400">
              <a:latin typeface="宋体"/>
              <a:cs typeface="宋体"/>
            </a:endParaRPr>
          </a:p>
          <a:p>
            <a:pPr marL="155575" marR="5080" algn="just">
              <a:lnSpc>
                <a:spcPct val="98200"/>
              </a:lnSpc>
              <a:spcBef>
                <a:spcPts val="735"/>
              </a:spcBef>
            </a:pPr>
            <a:r>
              <a:rPr sz="2400" spc="-5" dirty="0">
                <a:latin typeface="宋体"/>
                <a:cs typeface="宋体"/>
              </a:rPr>
              <a:t>用例图是以系统的各独立功能为单位描述的</a:t>
            </a:r>
            <a:r>
              <a:rPr sz="2400" spc="5" dirty="0">
                <a:latin typeface="宋体"/>
                <a:cs typeface="宋体"/>
              </a:rPr>
              <a:t>，</a:t>
            </a:r>
            <a:r>
              <a:rPr sz="2400" spc="-5" dirty="0">
                <a:solidFill>
                  <a:srgbClr val="FF0000"/>
                </a:solidFill>
                <a:latin typeface="宋体"/>
                <a:cs typeface="宋体"/>
              </a:rPr>
              <a:t>并不涉及到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整体业务过程</a:t>
            </a:r>
            <a:r>
              <a:rPr sz="2400" dirty="0">
                <a:latin typeface="宋体"/>
                <a:cs typeface="宋体"/>
              </a:rPr>
              <a:t>，在进行系统分析时，有时需要对业务过程 进行必要的描述。</a:t>
            </a:r>
            <a:endParaRPr sz="2400">
              <a:latin typeface="宋体"/>
              <a:cs typeface="宋体"/>
            </a:endParaRPr>
          </a:p>
          <a:p>
            <a:pPr marL="155575">
              <a:lnSpc>
                <a:spcPct val="100000"/>
              </a:lnSpc>
              <a:spcBef>
                <a:spcPts val="1835"/>
              </a:spcBef>
            </a:pPr>
            <a:r>
              <a:rPr sz="2400" dirty="0">
                <a:latin typeface="宋体"/>
                <a:cs typeface="宋体"/>
              </a:rPr>
              <a:t>例：产品制造和发货过程在用例图中无法表示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2841" y="2198573"/>
            <a:ext cx="11112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Part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Shipping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9586" y="2473578"/>
            <a:ext cx="1398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do/Vefiry </a:t>
            </a:r>
            <a:r>
              <a:rPr sz="1200" spc="-5" dirty="0">
                <a:latin typeface="Arial"/>
                <a:cs typeface="Arial"/>
              </a:rPr>
              <a:t>Quality  exit/Give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shipping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2311" y="2098548"/>
            <a:ext cx="287020" cy="786765"/>
          </a:xfrm>
          <a:custGeom>
            <a:avLst/>
            <a:gdLst/>
            <a:ahLst/>
            <a:cxnLst/>
            <a:rect l="l" t="t" r="r" b="b"/>
            <a:pathLst>
              <a:path w="287019" h="786764">
                <a:moveTo>
                  <a:pt x="286512" y="0"/>
                </a:moveTo>
                <a:lnTo>
                  <a:pt x="247635" y="3607"/>
                </a:lnTo>
                <a:lnTo>
                  <a:pt x="210348" y="14114"/>
                </a:lnTo>
                <a:lnTo>
                  <a:pt x="174991" y="31051"/>
                </a:lnTo>
                <a:lnTo>
                  <a:pt x="141906" y="53946"/>
                </a:lnTo>
                <a:lnTo>
                  <a:pt x="111435" y="82329"/>
                </a:lnTo>
                <a:lnTo>
                  <a:pt x="83920" y="115728"/>
                </a:lnTo>
                <a:lnTo>
                  <a:pt x="59700" y="153673"/>
                </a:lnTo>
                <a:lnTo>
                  <a:pt x="39118" y="195692"/>
                </a:lnTo>
                <a:lnTo>
                  <a:pt x="22516" y="241315"/>
                </a:lnTo>
                <a:lnTo>
                  <a:pt x="10234" y="290071"/>
                </a:lnTo>
                <a:lnTo>
                  <a:pt x="2615" y="341488"/>
                </a:lnTo>
                <a:lnTo>
                  <a:pt x="0" y="395097"/>
                </a:lnTo>
                <a:lnTo>
                  <a:pt x="2551" y="447955"/>
                </a:lnTo>
                <a:lnTo>
                  <a:pt x="9998" y="498829"/>
                </a:lnTo>
                <a:lnTo>
                  <a:pt x="22030" y="547229"/>
                </a:lnTo>
                <a:lnTo>
                  <a:pt x="38339" y="592662"/>
                </a:lnTo>
                <a:lnTo>
                  <a:pt x="58615" y="634638"/>
                </a:lnTo>
                <a:lnTo>
                  <a:pt x="82547" y="672666"/>
                </a:lnTo>
                <a:lnTo>
                  <a:pt x="109826" y="706254"/>
                </a:lnTo>
                <a:lnTo>
                  <a:pt x="140142" y="734911"/>
                </a:lnTo>
                <a:lnTo>
                  <a:pt x="173185" y="758145"/>
                </a:lnTo>
                <a:lnTo>
                  <a:pt x="208646" y="775467"/>
                </a:lnTo>
                <a:lnTo>
                  <a:pt x="246214" y="78638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60347" y="2093976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8719" y="2884932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4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21864" y="2093976"/>
            <a:ext cx="338455" cy="791210"/>
          </a:xfrm>
          <a:custGeom>
            <a:avLst/>
            <a:gdLst/>
            <a:ahLst/>
            <a:cxnLst/>
            <a:rect l="l" t="t" r="r" b="b"/>
            <a:pathLst>
              <a:path w="338455" h="791210">
                <a:moveTo>
                  <a:pt x="0" y="789432"/>
                </a:moveTo>
                <a:lnTo>
                  <a:pt x="6762" y="790098"/>
                </a:lnTo>
                <a:lnTo>
                  <a:pt x="13525" y="790575"/>
                </a:lnTo>
                <a:lnTo>
                  <a:pt x="20288" y="790860"/>
                </a:lnTo>
                <a:lnTo>
                  <a:pt x="27050" y="790956"/>
                </a:lnTo>
                <a:lnTo>
                  <a:pt x="69298" y="787346"/>
                </a:lnTo>
                <a:lnTo>
                  <a:pt x="109816" y="776830"/>
                </a:lnTo>
                <a:lnTo>
                  <a:pt x="148232" y="759878"/>
                </a:lnTo>
                <a:lnTo>
                  <a:pt x="184178" y="736962"/>
                </a:lnTo>
                <a:lnTo>
                  <a:pt x="217282" y="708551"/>
                </a:lnTo>
                <a:lnTo>
                  <a:pt x="247173" y="675116"/>
                </a:lnTo>
                <a:lnTo>
                  <a:pt x="273483" y="637127"/>
                </a:lnTo>
                <a:lnTo>
                  <a:pt x="295839" y="595056"/>
                </a:lnTo>
                <a:lnTo>
                  <a:pt x="313872" y="549372"/>
                </a:lnTo>
                <a:lnTo>
                  <a:pt x="327211" y="500546"/>
                </a:lnTo>
                <a:lnTo>
                  <a:pt x="335487" y="449049"/>
                </a:lnTo>
                <a:lnTo>
                  <a:pt x="338328" y="395350"/>
                </a:lnTo>
                <a:lnTo>
                  <a:pt x="335586" y="342644"/>
                </a:lnTo>
                <a:lnTo>
                  <a:pt x="327594" y="292017"/>
                </a:lnTo>
                <a:lnTo>
                  <a:pt x="314698" y="243923"/>
                </a:lnTo>
                <a:lnTo>
                  <a:pt x="297245" y="198816"/>
                </a:lnTo>
                <a:lnTo>
                  <a:pt x="275585" y="157150"/>
                </a:lnTo>
                <a:lnTo>
                  <a:pt x="250062" y="119379"/>
                </a:lnTo>
                <a:lnTo>
                  <a:pt x="221027" y="85959"/>
                </a:lnTo>
                <a:lnTo>
                  <a:pt x="188825" y="57342"/>
                </a:lnTo>
                <a:lnTo>
                  <a:pt x="153804" y="33984"/>
                </a:lnTo>
                <a:lnTo>
                  <a:pt x="116313" y="16338"/>
                </a:lnTo>
                <a:lnTo>
                  <a:pt x="76697" y="4858"/>
                </a:lnTo>
                <a:lnTo>
                  <a:pt x="35306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5904" y="1373124"/>
            <a:ext cx="2449195" cy="184785"/>
          </a:xfrm>
          <a:custGeom>
            <a:avLst/>
            <a:gdLst/>
            <a:ahLst/>
            <a:cxnLst/>
            <a:rect l="l" t="t" r="r" b="b"/>
            <a:pathLst>
              <a:path w="2449195" h="184784">
                <a:moveTo>
                  <a:pt x="0" y="184403"/>
                </a:moveTo>
                <a:lnTo>
                  <a:pt x="2449068" y="184403"/>
                </a:lnTo>
                <a:lnTo>
                  <a:pt x="2449068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4972" y="1373124"/>
            <a:ext cx="3888104" cy="184785"/>
          </a:xfrm>
          <a:custGeom>
            <a:avLst/>
            <a:gdLst/>
            <a:ahLst/>
            <a:cxnLst/>
            <a:rect l="l" t="t" r="r" b="b"/>
            <a:pathLst>
              <a:path w="3888104" h="184784">
                <a:moveTo>
                  <a:pt x="0" y="184403"/>
                </a:moveTo>
                <a:lnTo>
                  <a:pt x="3887724" y="184403"/>
                </a:lnTo>
                <a:lnTo>
                  <a:pt x="3887724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03448" y="1373124"/>
            <a:ext cx="1905" cy="4753610"/>
          </a:xfrm>
          <a:custGeom>
            <a:avLst/>
            <a:gdLst/>
            <a:ahLst/>
            <a:cxnLst/>
            <a:rect l="l" t="t" r="r" b="b"/>
            <a:pathLst>
              <a:path w="1905" h="4753610">
                <a:moveTo>
                  <a:pt x="1524" y="0"/>
                </a:moveTo>
                <a:lnTo>
                  <a:pt x="0" y="47533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92695" y="1373124"/>
            <a:ext cx="0" cy="4753610"/>
          </a:xfrm>
          <a:custGeom>
            <a:avLst/>
            <a:gdLst/>
            <a:ahLst/>
            <a:cxnLst/>
            <a:rect l="l" t="t" r="r" b="b"/>
            <a:pathLst>
              <a:path h="4753610">
                <a:moveTo>
                  <a:pt x="0" y="0"/>
                </a:moveTo>
                <a:lnTo>
                  <a:pt x="0" y="47533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5904" y="1373124"/>
            <a:ext cx="0" cy="4608830"/>
          </a:xfrm>
          <a:custGeom>
            <a:avLst/>
            <a:gdLst/>
            <a:ahLst/>
            <a:cxnLst/>
            <a:rect l="l" t="t" r="r" b="b"/>
            <a:pathLst>
              <a:path h="4608830">
                <a:moveTo>
                  <a:pt x="0" y="0"/>
                </a:moveTo>
                <a:lnTo>
                  <a:pt x="0" y="460857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10805" y="1656397"/>
            <a:ext cx="161925" cy="161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54328" y="1799970"/>
            <a:ext cx="294640" cy="294005"/>
          </a:xfrm>
          <a:custGeom>
            <a:avLst/>
            <a:gdLst/>
            <a:ahLst/>
            <a:cxnLst/>
            <a:rect l="l" t="t" r="r" b="b"/>
            <a:pathLst>
              <a:path w="294640" h="294005">
                <a:moveTo>
                  <a:pt x="185343" y="271399"/>
                </a:moveTo>
                <a:lnTo>
                  <a:pt x="182295" y="273938"/>
                </a:lnTo>
                <a:lnTo>
                  <a:pt x="181914" y="277494"/>
                </a:lnTo>
                <a:lnTo>
                  <a:pt x="181660" y="280924"/>
                </a:lnTo>
                <a:lnTo>
                  <a:pt x="184200" y="283971"/>
                </a:lnTo>
                <a:lnTo>
                  <a:pt x="187629" y="284352"/>
                </a:lnTo>
                <a:lnTo>
                  <a:pt x="294055" y="294004"/>
                </a:lnTo>
                <a:lnTo>
                  <a:pt x="293825" y="291464"/>
                </a:lnTo>
                <a:lnTo>
                  <a:pt x="282498" y="291464"/>
                </a:lnTo>
                <a:lnTo>
                  <a:pt x="270110" y="279073"/>
                </a:lnTo>
                <a:lnTo>
                  <a:pt x="188899" y="271652"/>
                </a:lnTo>
                <a:lnTo>
                  <a:pt x="185343" y="271399"/>
                </a:lnTo>
                <a:close/>
              </a:path>
              <a:path w="294640" h="294005">
                <a:moveTo>
                  <a:pt x="270110" y="279073"/>
                </a:moveTo>
                <a:lnTo>
                  <a:pt x="282498" y="291464"/>
                </a:lnTo>
                <a:lnTo>
                  <a:pt x="286435" y="287527"/>
                </a:lnTo>
                <a:lnTo>
                  <a:pt x="280720" y="287527"/>
                </a:lnTo>
                <a:lnTo>
                  <a:pt x="280031" y="279980"/>
                </a:lnTo>
                <a:lnTo>
                  <a:pt x="270110" y="279073"/>
                </a:lnTo>
                <a:close/>
              </a:path>
              <a:path w="294640" h="294005">
                <a:moveTo>
                  <a:pt x="280974" y="181609"/>
                </a:moveTo>
                <a:lnTo>
                  <a:pt x="277545" y="181863"/>
                </a:lnTo>
                <a:lnTo>
                  <a:pt x="273989" y="182244"/>
                </a:lnTo>
                <a:lnTo>
                  <a:pt x="271449" y="185292"/>
                </a:lnTo>
                <a:lnTo>
                  <a:pt x="271703" y="188849"/>
                </a:lnTo>
                <a:lnTo>
                  <a:pt x="279124" y="270060"/>
                </a:lnTo>
                <a:lnTo>
                  <a:pt x="291515" y="282448"/>
                </a:lnTo>
                <a:lnTo>
                  <a:pt x="282498" y="291464"/>
                </a:lnTo>
                <a:lnTo>
                  <a:pt x="293825" y="291464"/>
                </a:lnTo>
                <a:lnTo>
                  <a:pt x="284403" y="187578"/>
                </a:lnTo>
                <a:lnTo>
                  <a:pt x="284022" y="184150"/>
                </a:lnTo>
                <a:lnTo>
                  <a:pt x="280974" y="181609"/>
                </a:lnTo>
                <a:close/>
              </a:path>
              <a:path w="294640" h="294005">
                <a:moveTo>
                  <a:pt x="280031" y="279980"/>
                </a:moveTo>
                <a:lnTo>
                  <a:pt x="280720" y="287527"/>
                </a:lnTo>
                <a:lnTo>
                  <a:pt x="287578" y="280669"/>
                </a:lnTo>
                <a:lnTo>
                  <a:pt x="280031" y="279980"/>
                </a:lnTo>
                <a:close/>
              </a:path>
              <a:path w="294640" h="294005">
                <a:moveTo>
                  <a:pt x="279124" y="270060"/>
                </a:moveTo>
                <a:lnTo>
                  <a:pt x="280031" y="279980"/>
                </a:lnTo>
                <a:lnTo>
                  <a:pt x="287578" y="280669"/>
                </a:lnTo>
                <a:lnTo>
                  <a:pt x="280720" y="287527"/>
                </a:lnTo>
                <a:lnTo>
                  <a:pt x="286435" y="287527"/>
                </a:lnTo>
                <a:lnTo>
                  <a:pt x="291515" y="282448"/>
                </a:lnTo>
                <a:lnTo>
                  <a:pt x="279124" y="270060"/>
                </a:lnTo>
                <a:close/>
              </a:path>
              <a:path w="294640" h="294005">
                <a:moveTo>
                  <a:pt x="8991" y="0"/>
                </a:moveTo>
                <a:lnTo>
                  <a:pt x="0" y="8889"/>
                </a:lnTo>
                <a:lnTo>
                  <a:pt x="270110" y="279073"/>
                </a:lnTo>
                <a:lnTo>
                  <a:pt x="280031" y="279980"/>
                </a:lnTo>
                <a:lnTo>
                  <a:pt x="279124" y="270060"/>
                </a:lnTo>
                <a:lnTo>
                  <a:pt x="89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3939" y="2452116"/>
            <a:ext cx="1945005" cy="0"/>
          </a:xfrm>
          <a:custGeom>
            <a:avLst/>
            <a:gdLst/>
            <a:ahLst/>
            <a:cxnLst/>
            <a:rect l="l" t="t" r="r" b="b"/>
            <a:pathLst>
              <a:path w="1945005">
                <a:moveTo>
                  <a:pt x="0" y="0"/>
                </a:moveTo>
                <a:lnTo>
                  <a:pt x="194462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92695" y="1373124"/>
            <a:ext cx="1442085" cy="184785"/>
          </a:xfrm>
          <a:custGeom>
            <a:avLst/>
            <a:gdLst/>
            <a:ahLst/>
            <a:cxnLst/>
            <a:rect l="l" t="t" r="r" b="b"/>
            <a:pathLst>
              <a:path w="1442084" h="184784">
                <a:moveTo>
                  <a:pt x="0" y="184403"/>
                </a:moveTo>
                <a:lnTo>
                  <a:pt x="1441703" y="184403"/>
                </a:lnTo>
                <a:lnTo>
                  <a:pt x="1441703" y="0"/>
                </a:lnTo>
                <a:lnTo>
                  <a:pt x="0" y="0"/>
                </a:lnTo>
                <a:lnTo>
                  <a:pt x="0" y="184403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46391" y="1356105"/>
            <a:ext cx="737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Customer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532876" y="1373124"/>
            <a:ext cx="0" cy="4753610"/>
          </a:xfrm>
          <a:custGeom>
            <a:avLst/>
            <a:gdLst/>
            <a:ahLst/>
            <a:cxnLst/>
            <a:rect l="l" t="t" r="r" b="b"/>
            <a:pathLst>
              <a:path h="4753610">
                <a:moveTo>
                  <a:pt x="0" y="0"/>
                </a:moveTo>
                <a:lnTo>
                  <a:pt x="0" y="47533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009390" y="2145029"/>
            <a:ext cx="939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Package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Part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16426" y="2419603"/>
            <a:ext cx="112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54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enty/Wrap Part  </a:t>
            </a:r>
            <a:r>
              <a:rPr sz="1200" spc="-10" dirty="0">
                <a:latin typeface="Arial"/>
                <a:cs typeface="Arial"/>
              </a:rPr>
              <a:t>do/Verify</a:t>
            </a:r>
            <a:r>
              <a:rPr sz="1200" spc="-13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Adress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93008" y="2045207"/>
            <a:ext cx="287020" cy="784860"/>
          </a:xfrm>
          <a:custGeom>
            <a:avLst/>
            <a:gdLst/>
            <a:ahLst/>
            <a:cxnLst/>
            <a:rect l="l" t="t" r="r" b="b"/>
            <a:pathLst>
              <a:path w="287020" h="784860">
                <a:moveTo>
                  <a:pt x="286512" y="0"/>
                </a:moveTo>
                <a:lnTo>
                  <a:pt x="247632" y="3599"/>
                </a:lnTo>
                <a:lnTo>
                  <a:pt x="210343" y="14084"/>
                </a:lnTo>
                <a:lnTo>
                  <a:pt x="174986" y="30986"/>
                </a:lnTo>
                <a:lnTo>
                  <a:pt x="141901" y="53833"/>
                </a:lnTo>
                <a:lnTo>
                  <a:pt x="111430" y="82158"/>
                </a:lnTo>
                <a:lnTo>
                  <a:pt x="83915" y="115490"/>
                </a:lnTo>
                <a:lnTo>
                  <a:pt x="59696" y="153360"/>
                </a:lnTo>
                <a:lnTo>
                  <a:pt x="39116" y="195297"/>
                </a:lnTo>
                <a:lnTo>
                  <a:pt x="22514" y="240833"/>
                </a:lnTo>
                <a:lnTo>
                  <a:pt x="10234" y="289498"/>
                </a:lnTo>
                <a:lnTo>
                  <a:pt x="2615" y="340821"/>
                </a:lnTo>
                <a:lnTo>
                  <a:pt x="0" y="394334"/>
                </a:lnTo>
                <a:lnTo>
                  <a:pt x="2552" y="447089"/>
                </a:lnTo>
                <a:lnTo>
                  <a:pt x="10002" y="497862"/>
                </a:lnTo>
                <a:lnTo>
                  <a:pt x="22039" y="546163"/>
                </a:lnTo>
                <a:lnTo>
                  <a:pt x="38354" y="591503"/>
                </a:lnTo>
                <a:lnTo>
                  <a:pt x="58636" y="633393"/>
                </a:lnTo>
                <a:lnTo>
                  <a:pt x="82574" y="671342"/>
                </a:lnTo>
                <a:lnTo>
                  <a:pt x="109858" y="704863"/>
                </a:lnTo>
                <a:lnTo>
                  <a:pt x="140178" y="733464"/>
                </a:lnTo>
                <a:lnTo>
                  <a:pt x="173225" y="756657"/>
                </a:lnTo>
                <a:lnTo>
                  <a:pt x="208686" y="773952"/>
                </a:lnTo>
                <a:lnTo>
                  <a:pt x="246252" y="78485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81044" y="2040635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09415" y="2830067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89">
                <a:moveTo>
                  <a:pt x="0" y="0"/>
                </a:moveTo>
                <a:lnTo>
                  <a:pt x="15834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44084" y="2040635"/>
            <a:ext cx="338455" cy="789940"/>
          </a:xfrm>
          <a:custGeom>
            <a:avLst/>
            <a:gdLst/>
            <a:ahLst/>
            <a:cxnLst/>
            <a:rect l="l" t="t" r="r" b="b"/>
            <a:pathLst>
              <a:path w="338454" h="789939">
                <a:moveTo>
                  <a:pt x="0" y="787908"/>
                </a:moveTo>
                <a:lnTo>
                  <a:pt x="6762" y="788574"/>
                </a:lnTo>
                <a:lnTo>
                  <a:pt x="13525" y="789051"/>
                </a:lnTo>
                <a:lnTo>
                  <a:pt x="20288" y="789336"/>
                </a:lnTo>
                <a:lnTo>
                  <a:pt x="27050" y="789431"/>
                </a:lnTo>
                <a:lnTo>
                  <a:pt x="69298" y="785827"/>
                </a:lnTo>
                <a:lnTo>
                  <a:pt x="109816" y="775327"/>
                </a:lnTo>
                <a:lnTo>
                  <a:pt x="148232" y="758402"/>
                </a:lnTo>
                <a:lnTo>
                  <a:pt x="184178" y="735522"/>
                </a:lnTo>
                <a:lnTo>
                  <a:pt x="217282" y="707159"/>
                </a:lnTo>
                <a:lnTo>
                  <a:pt x="247173" y="673782"/>
                </a:lnTo>
                <a:lnTo>
                  <a:pt x="273483" y="635862"/>
                </a:lnTo>
                <a:lnTo>
                  <a:pt x="295839" y="593870"/>
                </a:lnTo>
                <a:lnTo>
                  <a:pt x="313872" y="548276"/>
                </a:lnTo>
                <a:lnTo>
                  <a:pt x="327211" y="499551"/>
                </a:lnTo>
                <a:lnTo>
                  <a:pt x="335487" y="448165"/>
                </a:lnTo>
                <a:lnTo>
                  <a:pt x="338327" y="394588"/>
                </a:lnTo>
                <a:lnTo>
                  <a:pt x="335586" y="342004"/>
                </a:lnTo>
                <a:lnTo>
                  <a:pt x="327594" y="291488"/>
                </a:lnTo>
                <a:lnTo>
                  <a:pt x="314698" y="243494"/>
                </a:lnTo>
                <a:lnTo>
                  <a:pt x="297245" y="198477"/>
                </a:lnTo>
                <a:lnTo>
                  <a:pt x="275585" y="156891"/>
                </a:lnTo>
                <a:lnTo>
                  <a:pt x="250062" y="119189"/>
                </a:lnTo>
                <a:lnTo>
                  <a:pt x="221027" y="85827"/>
                </a:lnTo>
                <a:lnTo>
                  <a:pt x="188825" y="57258"/>
                </a:lnTo>
                <a:lnTo>
                  <a:pt x="153804" y="33936"/>
                </a:lnTo>
                <a:lnTo>
                  <a:pt x="116313" y="16317"/>
                </a:lnTo>
                <a:lnTo>
                  <a:pt x="76697" y="4853"/>
                </a:lnTo>
                <a:lnTo>
                  <a:pt x="353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6159" y="2398776"/>
            <a:ext cx="1945005" cy="0"/>
          </a:xfrm>
          <a:custGeom>
            <a:avLst/>
            <a:gdLst/>
            <a:ahLst/>
            <a:cxnLst/>
            <a:rect l="l" t="t" r="r" b="b"/>
            <a:pathLst>
              <a:path w="1945004">
                <a:moveTo>
                  <a:pt x="0" y="0"/>
                </a:moveTo>
                <a:lnTo>
                  <a:pt x="194462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860035" y="4099559"/>
            <a:ext cx="287020" cy="784860"/>
          </a:xfrm>
          <a:custGeom>
            <a:avLst/>
            <a:gdLst/>
            <a:ahLst/>
            <a:cxnLst/>
            <a:rect l="l" t="t" r="r" b="b"/>
            <a:pathLst>
              <a:path w="287020" h="784860">
                <a:moveTo>
                  <a:pt x="286512" y="0"/>
                </a:moveTo>
                <a:lnTo>
                  <a:pt x="247632" y="3599"/>
                </a:lnTo>
                <a:lnTo>
                  <a:pt x="210343" y="14084"/>
                </a:lnTo>
                <a:lnTo>
                  <a:pt x="174986" y="30986"/>
                </a:lnTo>
                <a:lnTo>
                  <a:pt x="141901" y="53833"/>
                </a:lnTo>
                <a:lnTo>
                  <a:pt x="111430" y="82158"/>
                </a:lnTo>
                <a:lnTo>
                  <a:pt x="83915" y="115490"/>
                </a:lnTo>
                <a:lnTo>
                  <a:pt x="59696" y="153360"/>
                </a:lnTo>
                <a:lnTo>
                  <a:pt x="39116" y="195297"/>
                </a:lnTo>
                <a:lnTo>
                  <a:pt x="22514" y="240833"/>
                </a:lnTo>
                <a:lnTo>
                  <a:pt x="10234" y="289498"/>
                </a:lnTo>
                <a:lnTo>
                  <a:pt x="2615" y="340821"/>
                </a:lnTo>
                <a:lnTo>
                  <a:pt x="0" y="394334"/>
                </a:lnTo>
                <a:lnTo>
                  <a:pt x="2552" y="447089"/>
                </a:lnTo>
                <a:lnTo>
                  <a:pt x="10002" y="497862"/>
                </a:lnTo>
                <a:lnTo>
                  <a:pt x="22039" y="546163"/>
                </a:lnTo>
                <a:lnTo>
                  <a:pt x="38354" y="591503"/>
                </a:lnTo>
                <a:lnTo>
                  <a:pt x="58636" y="633393"/>
                </a:lnTo>
                <a:lnTo>
                  <a:pt x="82574" y="671342"/>
                </a:lnTo>
                <a:lnTo>
                  <a:pt x="109858" y="704863"/>
                </a:lnTo>
                <a:lnTo>
                  <a:pt x="140178" y="733464"/>
                </a:lnTo>
                <a:lnTo>
                  <a:pt x="173225" y="756657"/>
                </a:lnTo>
                <a:lnTo>
                  <a:pt x="208686" y="773952"/>
                </a:lnTo>
                <a:lnTo>
                  <a:pt x="246252" y="78485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48071" y="4093464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76444" y="4884420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90">
                <a:moveTo>
                  <a:pt x="0" y="0"/>
                </a:moveTo>
                <a:lnTo>
                  <a:pt x="15834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611111" y="4093464"/>
            <a:ext cx="337185" cy="791210"/>
          </a:xfrm>
          <a:custGeom>
            <a:avLst/>
            <a:gdLst/>
            <a:ahLst/>
            <a:cxnLst/>
            <a:rect l="l" t="t" r="r" b="b"/>
            <a:pathLst>
              <a:path w="337184" h="791210">
                <a:moveTo>
                  <a:pt x="0" y="789432"/>
                </a:moveTo>
                <a:lnTo>
                  <a:pt x="6760" y="790098"/>
                </a:lnTo>
                <a:lnTo>
                  <a:pt x="13509" y="790575"/>
                </a:lnTo>
                <a:lnTo>
                  <a:pt x="20234" y="790860"/>
                </a:lnTo>
                <a:lnTo>
                  <a:pt x="26924" y="790956"/>
                </a:lnTo>
                <a:lnTo>
                  <a:pt x="68984" y="787346"/>
                </a:lnTo>
                <a:lnTo>
                  <a:pt x="109321" y="776830"/>
                </a:lnTo>
                <a:lnTo>
                  <a:pt x="147566" y="759878"/>
                </a:lnTo>
                <a:lnTo>
                  <a:pt x="183350" y="736962"/>
                </a:lnTo>
                <a:lnTo>
                  <a:pt x="216305" y="708551"/>
                </a:lnTo>
                <a:lnTo>
                  <a:pt x="246062" y="675116"/>
                </a:lnTo>
                <a:lnTo>
                  <a:pt x="272253" y="637127"/>
                </a:lnTo>
                <a:lnTo>
                  <a:pt x="294508" y="595056"/>
                </a:lnTo>
                <a:lnTo>
                  <a:pt x="312459" y="549372"/>
                </a:lnTo>
                <a:lnTo>
                  <a:pt x="325738" y="500546"/>
                </a:lnTo>
                <a:lnTo>
                  <a:pt x="333976" y="449049"/>
                </a:lnTo>
                <a:lnTo>
                  <a:pt x="336804" y="395350"/>
                </a:lnTo>
                <a:lnTo>
                  <a:pt x="334075" y="342644"/>
                </a:lnTo>
                <a:lnTo>
                  <a:pt x="326120" y="292017"/>
                </a:lnTo>
                <a:lnTo>
                  <a:pt x="313285" y="243923"/>
                </a:lnTo>
                <a:lnTo>
                  <a:pt x="295914" y="198816"/>
                </a:lnTo>
                <a:lnTo>
                  <a:pt x="274354" y="157150"/>
                </a:lnTo>
                <a:lnTo>
                  <a:pt x="248951" y="119380"/>
                </a:lnTo>
                <a:lnTo>
                  <a:pt x="220050" y="85959"/>
                </a:lnTo>
                <a:lnTo>
                  <a:pt x="187997" y="57342"/>
                </a:lnTo>
                <a:lnTo>
                  <a:pt x="153138" y="33984"/>
                </a:lnTo>
                <a:lnTo>
                  <a:pt x="115818" y="16338"/>
                </a:lnTo>
                <a:lnTo>
                  <a:pt x="76383" y="4858"/>
                </a:lnTo>
                <a:lnTo>
                  <a:pt x="3517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31664" y="4453128"/>
            <a:ext cx="1946275" cy="0"/>
          </a:xfrm>
          <a:custGeom>
            <a:avLst/>
            <a:gdLst/>
            <a:ahLst/>
            <a:cxnLst/>
            <a:rect l="l" t="t" r="r" b="b"/>
            <a:pathLst>
              <a:path w="1946275">
                <a:moveTo>
                  <a:pt x="0" y="0"/>
                </a:moveTo>
                <a:lnTo>
                  <a:pt x="194614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99228" y="2836036"/>
            <a:ext cx="141605" cy="361315"/>
          </a:xfrm>
          <a:custGeom>
            <a:avLst/>
            <a:gdLst/>
            <a:ahLst/>
            <a:cxnLst/>
            <a:rect l="l" t="t" r="r" b="b"/>
            <a:pathLst>
              <a:path w="141604" h="361314">
                <a:moveTo>
                  <a:pt x="5587" y="269748"/>
                </a:moveTo>
                <a:lnTo>
                  <a:pt x="254" y="274320"/>
                </a:lnTo>
                <a:lnTo>
                  <a:pt x="0" y="278384"/>
                </a:lnTo>
                <a:lnTo>
                  <a:pt x="2286" y="281050"/>
                </a:lnTo>
                <a:lnTo>
                  <a:pt x="72771" y="361314"/>
                </a:lnTo>
                <a:lnTo>
                  <a:pt x="80517" y="351536"/>
                </a:lnTo>
                <a:lnTo>
                  <a:pt x="66167" y="351536"/>
                </a:lnTo>
                <a:lnTo>
                  <a:pt x="65722" y="333972"/>
                </a:lnTo>
                <a:lnTo>
                  <a:pt x="11937" y="272668"/>
                </a:lnTo>
                <a:lnTo>
                  <a:pt x="9525" y="270001"/>
                </a:lnTo>
                <a:lnTo>
                  <a:pt x="5587" y="269748"/>
                </a:lnTo>
                <a:close/>
              </a:path>
              <a:path w="141604" h="361314">
                <a:moveTo>
                  <a:pt x="65722" y="333972"/>
                </a:moveTo>
                <a:lnTo>
                  <a:pt x="66167" y="351536"/>
                </a:lnTo>
                <a:lnTo>
                  <a:pt x="78867" y="351282"/>
                </a:lnTo>
                <a:lnTo>
                  <a:pt x="78770" y="347472"/>
                </a:lnTo>
                <a:lnTo>
                  <a:pt x="67563" y="347472"/>
                </a:lnTo>
                <a:lnTo>
                  <a:pt x="72305" y="341476"/>
                </a:lnTo>
                <a:lnTo>
                  <a:pt x="65722" y="333972"/>
                </a:lnTo>
                <a:close/>
              </a:path>
              <a:path w="141604" h="361314">
                <a:moveTo>
                  <a:pt x="135255" y="266446"/>
                </a:moveTo>
                <a:lnTo>
                  <a:pt x="131318" y="266953"/>
                </a:lnTo>
                <a:lnTo>
                  <a:pt x="129032" y="269748"/>
                </a:lnTo>
                <a:lnTo>
                  <a:pt x="78423" y="333741"/>
                </a:lnTo>
                <a:lnTo>
                  <a:pt x="78867" y="351282"/>
                </a:lnTo>
                <a:lnTo>
                  <a:pt x="66167" y="351536"/>
                </a:lnTo>
                <a:lnTo>
                  <a:pt x="80517" y="351536"/>
                </a:lnTo>
                <a:lnTo>
                  <a:pt x="139065" y="277622"/>
                </a:lnTo>
                <a:lnTo>
                  <a:pt x="141224" y="274827"/>
                </a:lnTo>
                <a:lnTo>
                  <a:pt x="140716" y="270763"/>
                </a:lnTo>
                <a:lnTo>
                  <a:pt x="138049" y="268604"/>
                </a:lnTo>
                <a:lnTo>
                  <a:pt x="135255" y="266446"/>
                </a:lnTo>
                <a:close/>
              </a:path>
              <a:path w="141604" h="361314">
                <a:moveTo>
                  <a:pt x="72305" y="341476"/>
                </a:moveTo>
                <a:lnTo>
                  <a:pt x="67563" y="347472"/>
                </a:lnTo>
                <a:lnTo>
                  <a:pt x="77343" y="347217"/>
                </a:lnTo>
                <a:lnTo>
                  <a:pt x="72305" y="341476"/>
                </a:lnTo>
                <a:close/>
              </a:path>
              <a:path w="141604" h="361314">
                <a:moveTo>
                  <a:pt x="78423" y="333741"/>
                </a:moveTo>
                <a:lnTo>
                  <a:pt x="72305" y="341476"/>
                </a:lnTo>
                <a:lnTo>
                  <a:pt x="77343" y="347217"/>
                </a:lnTo>
                <a:lnTo>
                  <a:pt x="67563" y="347472"/>
                </a:lnTo>
                <a:lnTo>
                  <a:pt x="78770" y="347472"/>
                </a:lnTo>
                <a:lnTo>
                  <a:pt x="78423" y="333741"/>
                </a:lnTo>
                <a:close/>
              </a:path>
              <a:path w="141604" h="361314">
                <a:moveTo>
                  <a:pt x="69976" y="0"/>
                </a:moveTo>
                <a:lnTo>
                  <a:pt x="57276" y="253"/>
                </a:lnTo>
                <a:lnTo>
                  <a:pt x="65722" y="333972"/>
                </a:lnTo>
                <a:lnTo>
                  <a:pt x="72305" y="341476"/>
                </a:lnTo>
                <a:lnTo>
                  <a:pt x="78423" y="333741"/>
                </a:lnTo>
                <a:lnTo>
                  <a:pt x="69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712715" y="3312921"/>
            <a:ext cx="938530" cy="797560"/>
          </a:xfrm>
          <a:custGeom>
            <a:avLst/>
            <a:gdLst/>
            <a:ahLst/>
            <a:cxnLst/>
            <a:rect l="l" t="t" r="r" b="b"/>
            <a:pathLst>
              <a:path w="938529" h="797560">
                <a:moveTo>
                  <a:pt x="828039" y="783589"/>
                </a:moveTo>
                <a:lnTo>
                  <a:pt x="825246" y="786510"/>
                </a:lnTo>
                <a:lnTo>
                  <a:pt x="825119" y="793495"/>
                </a:lnTo>
                <a:lnTo>
                  <a:pt x="827913" y="796289"/>
                </a:lnTo>
                <a:lnTo>
                  <a:pt x="831469" y="796416"/>
                </a:lnTo>
                <a:lnTo>
                  <a:pt x="938276" y="797305"/>
                </a:lnTo>
                <a:lnTo>
                  <a:pt x="938010" y="795782"/>
                </a:lnTo>
                <a:lnTo>
                  <a:pt x="926592" y="795782"/>
                </a:lnTo>
                <a:lnTo>
                  <a:pt x="913233" y="784448"/>
                </a:lnTo>
                <a:lnTo>
                  <a:pt x="831596" y="783716"/>
                </a:lnTo>
                <a:lnTo>
                  <a:pt x="828039" y="783589"/>
                </a:lnTo>
                <a:close/>
              </a:path>
              <a:path w="938529" h="797560">
                <a:moveTo>
                  <a:pt x="913233" y="784448"/>
                </a:moveTo>
                <a:lnTo>
                  <a:pt x="926592" y="795782"/>
                </a:lnTo>
                <a:lnTo>
                  <a:pt x="929808" y="791971"/>
                </a:lnTo>
                <a:lnTo>
                  <a:pt x="924433" y="791971"/>
                </a:lnTo>
                <a:lnTo>
                  <a:pt x="923137" y="784537"/>
                </a:lnTo>
                <a:lnTo>
                  <a:pt x="913233" y="784448"/>
                </a:lnTo>
                <a:close/>
              </a:path>
              <a:path w="938529" h="797560">
                <a:moveTo>
                  <a:pt x="916051" y="686307"/>
                </a:moveTo>
                <a:lnTo>
                  <a:pt x="909193" y="687577"/>
                </a:lnTo>
                <a:lnTo>
                  <a:pt x="906780" y="690752"/>
                </a:lnTo>
                <a:lnTo>
                  <a:pt x="907414" y="694308"/>
                </a:lnTo>
                <a:lnTo>
                  <a:pt x="921406" y="774603"/>
                </a:lnTo>
                <a:lnTo>
                  <a:pt x="934847" y="786002"/>
                </a:lnTo>
                <a:lnTo>
                  <a:pt x="926592" y="795782"/>
                </a:lnTo>
                <a:lnTo>
                  <a:pt x="938010" y="795782"/>
                </a:lnTo>
                <a:lnTo>
                  <a:pt x="919988" y="692150"/>
                </a:lnTo>
                <a:lnTo>
                  <a:pt x="919353" y="688594"/>
                </a:lnTo>
                <a:lnTo>
                  <a:pt x="916051" y="686307"/>
                </a:lnTo>
                <a:close/>
              </a:path>
              <a:path w="938529" h="797560">
                <a:moveTo>
                  <a:pt x="923137" y="784537"/>
                </a:moveTo>
                <a:lnTo>
                  <a:pt x="924433" y="791971"/>
                </a:lnTo>
                <a:lnTo>
                  <a:pt x="930783" y="784605"/>
                </a:lnTo>
                <a:lnTo>
                  <a:pt x="923137" y="784537"/>
                </a:lnTo>
                <a:close/>
              </a:path>
              <a:path w="938529" h="797560">
                <a:moveTo>
                  <a:pt x="921406" y="774603"/>
                </a:moveTo>
                <a:lnTo>
                  <a:pt x="923137" y="784537"/>
                </a:lnTo>
                <a:lnTo>
                  <a:pt x="930783" y="784605"/>
                </a:lnTo>
                <a:lnTo>
                  <a:pt x="924433" y="791971"/>
                </a:lnTo>
                <a:lnTo>
                  <a:pt x="929808" y="791971"/>
                </a:lnTo>
                <a:lnTo>
                  <a:pt x="934847" y="786002"/>
                </a:lnTo>
                <a:lnTo>
                  <a:pt x="921406" y="774603"/>
                </a:lnTo>
                <a:close/>
              </a:path>
              <a:path w="938529" h="797560">
                <a:moveTo>
                  <a:pt x="8128" y="0"/>
                </a:moveTo>
                <a:lnTo>
                  <a:pt x="0" y="9651"/>
                </a:lnTo>
                <a:lnTo>
                  <a:pt x="913233" y="784448"/>
                </a:lnTo>
                <a:lnTo>
                  <a:pt x="923137" y="784537"/>
                </a:lnTo>
                <a:lnTo>
                  <a:pt x="921406" y="774603"/>
                </a:lnTo>
                <a:lnTo>
                  <a:pt x="8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92244" y="3389376"/>
            <a:ext cx="141605" cy="1800225"/>
          </a:xfrm>
          <a:custGeom>
            <a:avLst/>
            <a:gdLst/>
            <a:ahLst/>
            <a:cxnLst/>
            <a:rect l="l" t="t" r="r" b="b"/>
            <a:pathLst>
              <a:path w="141604" h="1800225">
                <a:moveTo>
                  <a:pt x="5714" y="1706626"/>
                </a:moveTo>
                <a:lnTo>
                  <a:pt x="3047" y="1708912"/>
                </a:lnTo>
                <a:lnTo>
                  <a:pt x="380" y="1711071"/>
                </a:lnTo>
                <a:lnTo>
                  <a:pt x="0" y="1715135"/>
                </a:lnTo>
                <a:lnTo>
                  <a:pt x="2285" y="1717802"/>
                </a:lnTo>
                <a:lnTo>
                  <a:pt x="70611" y="1799844"/>
                </a:lnTo>
                <a:lnTo>
                  <a:pt x="78861" y="1789938"/>
                </a:lnTo>
                <a:lnTo>
                  <a:pt x="64261" y="1789938"/>
                </a:lnTo>
                <a:lnTo>
                  <a:pt x="64261" y="1772462"/>
                </a:lnTo>
                <a:lnTo>
                  <a:pt x="11937" y="1709674"/>
                </a:lnTo>
                <a:lnTo>
                  <a:pt x="9778" y="1707007"/>
                </a:lnTo>
                <a:lnTo>
                  <a:pt x="5714" y="1706626"/>
                </a:lnTo>
                <a:close/>
              </a:path>
              <a:path w="141604" h="1800225">
                <a:moveTo>
                  <a:pt x="64262" y="1772462"/>
                </a:moveTo>
                <a:lnTo>
                  <a:pt x="64261" y="1789938"/>
                </a:lnTo>
                <a:lnTo>
                  <a:pt x="76961" y="1789938"/>
                </a:lnTo>
                <a:lnTo>
                  <a:pt x="76961" y="1785874"/>
                </a:lnTo>
                <a:lnTo>
                  <a:pt x="65785" y="1785874"/>
                </a:lnTo>
                <a:lnTo>
                  <a:pt x="70611" y="1780082"/>
                </a:lnTo>
                <a:lnTo>
                  <a:pt x="64262" y="1772462"/>
                </a:lnTo>
                <a:close/>
              </a:path>
              <a:path w="141604" h="1800225">
                <a:moveTo>
                  <a:pt x="135508" y="1706626"/>
                </a:moveTo>
                <a:lnTo>
                  <a:pt x="131444" y="1707007"/>
                </a:lnTo>
                <a:lnTo>
                  <a:pt x="129285" y="1709674"/>
                </a:lnTo>
                <a:lnTo>
                  <a:pt x="76961" y="1772462"/>
                </a:lnTo>
                <a:lnTo>
                  <a:pt x="76961" y="1789938"/>
                </a:lnTo>
                <a:lnTo>
                  <a:pt x="78861" y="1789938"/>
                </a:lnTo>
                <a:lnTo>
                  <a:pt x="138937" y="1717802"/>
                </a:lnTo>
                <a:lnTo>
                  <a:pt x="141223" y="1715135"/>
                </a:lnTo>
                <a:lnTo>
                  <a:pt x="140842" y="1711071"/>
                </a:lnTo>
                <a:lnTo>
                  <a:pt x="138175" y="1708912"/>
                </a:lnTo>
                <a:lnTo>
                  <a:pt x="135508" y="1706626"/>
                </a:lnTo>
                <a:close/>
              </a:path>
              <a:path w="141604" h="1800225">
                <a:moveTo>
                  <a:pt x="70611" y="1780082"/>
                </a:moveTo>
                <a:lnTo>
                  <a:pt x="65785" y="1785874"/>
                </a:lnTo>
                <a:lnTo>
                  <a:pt x="75437" y="1785874"/>
                </a:lnTo>
                <a:lnTo>
                  <a:pt x="70611" y="1780082"/>
                </a:lnTo>
                <a:close/>
              </a:path>
              <a:path w="141604" h="1800225">
                <a:moveTo>
                  <a:pt x="76961" y="1772462"/>
                </a:moveTo>
                <a:lnTo>
                  <a:pt x="70611" y="1780082"/>
                </a:lnTo>
                <a:lnTo>
                  <a:pt x="75437" y="1785874"/>
                </a:lnTo>
                <a:lnTo>
                  <a:pt x="76961" y="1785874"/>
                </a:lnTo>
                <a:lnTo>
                  <a:pt x="76961" y="1772462"/>
                </a:lnTo>
                <a:close/>
              </a:path>
              <a:path w="141604" h="1800225">
                <a:moveTo>
                  <a:pt x="76961" y="0"/>
                </a:moveTo>
                <a:lnTo>
                  <a:pt x="64261" y="0"/>
                </a:lnTo>
                <a:lnTo>
                  <a:pt x="64262" y="1772462"/>
                </a:lnTo>
                <a:lnTo>
                  <a:pt x="70611" y="1780082"/>
                </a:lnTo>
                <a:lnTo>
                  <a:pt x="76961" y="1772462"/>
                </a:lnTo>
                <a:lnTo>
                  <a:pt x="769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384547" y="3197351"/>
            <a:ext cx="350520" cy="216535"/>
          </a:xfrm>
          <a:custGeom>
            <a:avLst/>
            <a:gdLst/>
            <a:ahLst/>
            <a:cxnLst/>
            <a:rect l="l" t="t" r="r" b="b"/>
            <a:pathLst>
              <a:path w="350520" h="216535">
                <a:moveTo>
                  <a:pt x="0" y="108203"/>
                </a:moveTo>
                <a:lnTo>
                  <a:pt x="175260" y="0"/>
                </a:lnTo>
                <a:lnTo>
                  <a:pt x="350519" y="108203"/>
                </a:lnTo>
                <a:lnTo>
                  <a:pt x="175260" y="216408"/>
                </a:lnTo>
                <a:lnTo>
                  <a:pt x="0" y="10820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68288" y="4897373"/>
            <a:ext cx="1084580" cy="736600"/>
          </a:xfrm>
          <a:custGeom>
            <a:avLst/>
            <a:gdLst/>
            <a:ahLst/>
            <a:cxnLst/>
            <a:rect l="l" t="t" r="r" b="b"/>
            <a:pathLst>
              <a:path w="1084579" h="736600">
                <a:moveTo>
                  <a:pt x="1057661" y="714740"/>
                </a:moveTo>
                <a:lnTo>
                  <a:pt x="973073" y="723861"/>
                </a:lnTo>
                <a:lnTo>
                  <a:pt x="970534" y="726998"/>
                </a:lnTo>
                <a:lnTo>
                  <a:pt x="971295" y="733971"/>
                </a:lnTo>
                <a:lnTo>
                  <a:pt x="974343" y="736485"/>
                </a:lnTo>
                <a:lnTo>
                  <a:pt x="1084071" y="724662"/>
                </a:lnTo>
                <a:lnTo>
                  <a:pt x="1084011" y="724458"/>
                </a:lnTo>
                <a:lnTo>
                  <a:pt x="1072261" y="724458"/>
                </a:lnTo>
                <a:lnTo>
                  <a:pt x="1057661" y="714740"/>
                </a:lnTo>
                <a:close/>
              </a:path>
              <a:path w="1084579" h="736600">
                <a:moveTo>
                  <a:pt x="1067555" y="713673"/>
                </a:moveTo>
                <a:lnTo>
                  <a:pt x="1057661" y="714740"/>
                </a:lnTo>
                <a:lnTo>
                  <a:pt x="1072261" y="724458"/>
                </a:lnTo>
                <a:lnTo>
                  <a:pt x="1074603" y="720979"/>
                </a:lnTo>
                <a:lnTo>
                  <a:pt x="1069720" y="720979"/>
                </a:lnTo>
                <a:lnTo>
                  <a:pt x="1067555" y="713673"/>
                </a:lnTo>
                <a:close/>
              </a:path>
              <a:path w="1084579" h="736600">
                <a:moveTo>
                  <a:pt x="1049146" y="616966"/>
                </a:moveTo>
                <a:lnTo>
                  <a:pt x="1045717" y="617982"/>
                </a:lnTo>
                <a:lnTo>
                  <a:pt x="1042415" y="618997"/>
                </a:lnTo>
                <a:lnTo>
                  <a:pt x="1040511" y="622554"/>
                </a:lnTo>
                <a:lnTo>
                  <a:pt x="1041527" y="625856"/>
                </a:lnTo>
                <a:lnTo>
                  <a:pt x="1064731" y="704144"/>
                </a:lnTo>
                <a:lnTo>
                  <a:pt x="1079372" y="713892"/>
                </a:lnTo>
                <a:lnTo>
                  <a:pt x="1072261" y="724458"/>
                </a:lnTo>
                <a:lnTo>
                  <a:pt x="1084011" y="724458"/>
                </a:lnTo>
                <a:lnTo>
                  <a:pt x="1052703" y="618870"/>
                </a:lnTo>
                <a:lnTo>
                  <a:pt x="1049146" y="616966"/>
                </a:lnTo>
                <a:close/>
              </a:path>
              <a:path w="1084579" h="736600">
                <a:moveTo>
                  <a:pt x="1075182" y="712851"/>
                </a:moveTo>
                <a:lnTo>
                  <a:pt x="1067555" y="713673"/>
                </a:lnTo>
                <a:lnTo>
                  <a:pt x="1069720" y="720979"/>
                </a:lnTo>
                <a:lnTo>
                  <a:pt x="1075182" y="712851"/>
                </a:lnTo>
                <a:close/>
              </a:path>
              <a:path w="1084579" h="736600">
                <a:moveTo>
                  <a:pt x="1077808" y="712851"/>
                </a:moveTo>
                <a:lnTo>
                  <a:pt x="1075182" y="712851"/>
                </a:lnTo>
                <a:lnTo>
                  <a:pt x="1069720" y="720979"/>
                </a:lnTo>
                <a:lnTo>
                  <a:pt x="1074603" y="720979"/>
                </a:lnTo>
                <a:lnTo>
                  <a:pt x="1079372" y="713892"/>
                </a:lnTo>
                <a:lnTo>
                  <a:pt x="1077808" y="712851"/>
                </a:lnTo>
                <a:close/>
              </a:path>
              <a:path w="1084579" h="736600">
                <a:moveTo>
                  <a:pt x="7112" y="0"/>
                </a:moveTo>
                <a:lnTo>
                  <a:pt x="0" y="10668"/>
                </a:lnTo>
                <a:lnTo>
                  <a:pt x="1057661" y="714740"/>
                </a:lnTo>
                <a:lnTo>
                  <a:pt x="1067555" y="713673"/>
                </a:lnTo>
                <a:lnTo>
                  <a:pt x="1064731" y="704144"/>
                </a:lnTo>
                <a:lnTo>
                  <a:pt x="7112" y="0"/>
                </a:lnTo>
                <a:close/>
              </a:path>
              <a:path w="1084579" h="736600">
                <a:moveTo>
                  <a:pt x="1064731" y="704144"/>
                </a:moveTo>
                <a:lnTo>
                  <a:pt x="1067555" y="713673"/>
                </a:lnTo>
                <a:lnTo>
                  <a:pt x="1075182" y="712851"/>
                </a:lnTo>
                <a:lnTo>
                  <a:pt x="1077808" y="712851"/>
                </a:lnTo>
                <a:lnTo>
                  <a:pt x="1064731" y="704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50991" y="5623039"/>
            <a:ext cx="1801495" cy="141605"/>
          </a:xfrm>
          <a:custGeom>
            <a:avLst/>
            <a:gdLst/>
            <a:ahLst/>
            <a:cxnLst/>
            <a:rect l="l" t="t" r="r" b="b"/>
            <a:pathLst>
              <a:path w="1801495" h="141604">
                <a:moveTo>
                  <a:pt x="1781545" y="70624"/>
                </a:moveTo>
                <a:lnTo>
                  <a:pt x="1708531" y="131495"/>
                </a:lnTo>
                <a:lnTo>
                  <a:pt x="1708150" y="135496"/>
                </a:lnTo>
                <a:lnTo>
                  <a:pt x="1710436" y="138188"/>
                </a:lnTo>
                <a:lnTo>
                  <a:pt x="1712594" y="140881"/>
                </a:lnTo>
                <a:lnTo>
                  <a:pt x="1716659" y="141249"/>
                </a:lnTo>
                <a:lnTo>
                  <a:pt x="1793748" y="76974"/>
                </a:lnTo>
                <a:lnTo>
                  <a:pt x="1791462" y="76974"/>
                </a:lnTo>
                <a:lnTo>
                  <a:pt x="1791462" y="75501"/>
                </a:lnTo>
                <a:lnTo>
                  <a:pt x="1787398" y="75501"/>
                </a:lnTo>
                <a:lnTo>
                  <a:pt x="1781545" y="70624"/>
                </a:lnTo>
                <a:close/>
              </a:path>
              <a:path w="1801495" h="141604">
                <a:moveTo>
                  <a:pt x="1773925" y="64274"/>
                </a:moveTo>
                <a:lnTo>
                  <a:pt x="0" y="64274"/>
                </a:lnTo>
                <a:lnTo>
                  <a:pt x="0" y="76974"/>
                </a:lnTo>
                <a:lnTo>
                  <a:pt x="1773925" y="76974"/>
                </a:lnTo>
                <a:lnTo>
                  <a:pt x="1781545" y="70624"/>
                </a:lnTo>
                <a:lnTo>
                  <a:pt x="1773925" y="64274"/>
                </a:lnTo>
                <a:close/>
              </a:path>
              <a:path w="1801495" h="141604">
                <a:moveTo>
                  <a:pt x="1793748" y="64274"/>
                </a:moveTo>
                <a:lnTo>
                  <a:pt x="1791462" y="64274"/>
                </a:lnTo>
                <a:lnTo>
                  <a:pt x="1791462" y="76974"/>
                </a:lnTo>
                <a:lnTo>
                  <a:pt x="1793748" y="76974"/>
                </a:lnTo>
                <a:lnTo>
                  <a:pt x="1801367" y="70624"/>
                </a:lnTo>
                <a:lnTo>
                  <a:pt x="1793748" y="64274"/>
                </a:lnTo>
                <a:close/>
              </a:path>
              <a:path w="1801495" h="141604">
                <a:moveTo>
                  <a:pt x="1787398" y="65747"/>
                </a:moveTo>
                <a:lnTo>
                  <a:pt x="1781545" y="70624"/>
                </a:lnTo>
                <a:lnTo>
                  <a:pt x="1787398" y="75501"/>
                </a:lnTo>
                <a:lnTo>
                  <a:pt x="1787398" y="65747"/>
                </a:lnTo>
                <a:close/>
              </a:path>
              <a:path w="1801495" h="141604">
                <a:moveTo>
                  <a:pt x="1791462" y="65747"/>
                </a:moveTo>
                <a:lnTo>
                  <a:pt x="1787398" y="65747"/>
                </a:lnTo>
                <a:lnTo>
                  <a:pt x="1787398" y="75501"/>
                </a:lnTo>
                <a:lnTo>
                  <a:pt x="1791462" y="75501"/>
                </a:lnTo>
                <a:lnTo>
                  <a:pt x="1791462" y="65747"/>
                </a:lnTo>
                <a:close/>
              </a:path>
              <a:path w="1801495" h="141604">
                <a:moveTo>
                  <a:pt x="1716659" y="0"/>
                </a:moveTo>
                <a:lnTo>
                  <a:pt x="1712594" y="368"/>
                </a:lnTo>
                <a:lnTo>
                  <a:pt x="1710436" y="3060"/>
                </a:lnTo>
                <a:lnTo>
                  <a:pt x="1708150" y="5753"/>
                </a:lnTo>
                <a:lnTo>
                  <a:pt x="1708531" y="9753"/>
                </a:lnTo>
                <a:lnTo>
                  <a:pt x="1781545" y="70624"/>
                </a:lnTo>
                <a:lnTo>
                  <a:pt x="1787398" y="65747"/>
                </a:lnTo>
                <a:lnTo>
                  <a:pt x="1791462" y="65747"/>
                </a:lnTo>
                <a:lnTo>
                  <a:pt x="1791462" y="64274"/>
                </a:lnTo>
                <a:lnTo>
                  <a:pt x="1793748" y="64274"/>
                </a:lnTo>
                <a:lnTo>
                  <a:pt x="17166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58667" y="2454655"/>
            <a:ext cx="434340" cy="141605"/>
          </a:xfrm>
          <a:custGeom>
            <a:avLst/>
            <a:gdLst/>
            <a:ahLst/>
            <a:cxnLst/>
            <a:rect l="l" t="t" r="r" b="b"/>
            <a:pathLst>
              <a:path w="434339" h="141605">
                <a:moveTo>
                  <a:pt x="414578" y="70612"/>
                </a:moveTo>
                <a:lnTo>
                  <a:pt x="344169" y="129286"/>
                </a:lnTo>
                <a:lnTo>
                  <a:pt x="341503" y="131445"/>
                </a:lnTo>
                <a:lnTo>
                  <a:pt x="341121" y="135509"/>
                </a:lnTo>
                <a:lnTo>
                  <a:pt x="343407" y="138176"/>
                </a:lnTo>
                <a:lnTo>
                  <a:pt x="345567" y="140843"/>
                </a:lnTo>
                <a:lnTo>
                  <a:pt x="349631" y="141224"/>
                </a:lnTo>
                <a:lnTo>
                  <a:pt x="352297" y="138938"/>
                </a:lnTo>
                <a:lnTo>
                  <a:pt x="426715" y="76962"/>
                </a:lnTo>
                <a:lnTo>
                  <a:pt x="424433" y="76962"/>
                </a:lnTo>
                <a:lnTo>
                  <a:pt x="424433" y="75438"/>
                </a:lnTo>
                <a:lnTo>
                  <a:pt x="420369" y="75438"/>
                </a:lnTo>
                <a:lnTo>
                  <a:pt x="414578" y="70612"/>
                </a:lnTo>
                <a:close/>
              </a:path>
              <a:path w="434339" h="141605">
                <a:moveTo>
                  <a:pt x="406958" y="64262"/>
                </a:moveTo>
                <a:lnTo>
                  <a:pt x="0" y="64262"/>
                </a:lnTo>
                <a:lnTo>
                  <a:pt x="0" y="76962"/>
                </a:lnTo>
                <a:lnTo>
                  <a:pt x="406958" y="76962"/>
                </a:lnTo>
                <a:lnTo>
                  <a:pt x="414578" y="70612"/>
                </a:lnTo>
                <a:lnTo>
                  <a:pt x="406958" y="64262"/>
                </a:lnTo>
                <a:close/>
              </a:path>
              <a:path w="434339" h="141605">
                <a:moveTo>
                  <a:pt x="426715" y="64262"/>
                </a:moveTo>
                <a:lnTo>
                  <a:pt x="424433" y="64262"/>
                </a:lnTo>
                <a:lnTo>
                  <a:pt x="424433" y="76962"/>
                </a:lnTo>
                <a:lnTo>
                  <a:pt x="426715" y="76962"/>
                </a:lnTo>
                <a:lnTo>
                  <a:pt x="434339" y="70612"/>
                </a:lnTo>
                <a:lnTo>
                  <a:pt x="426715" y="64262"/>
                </a:lnTo>
                <a:close/>
              </a:path>
              <a:path w="434339" h="141605">
                <a:moveTo>
                  <a:pt x="420369" y="65786"/>
                </a:moveTo>
                <a:lnTo>
                  <a:pt x="414578" y="70612"/>
                </a:lnTo>
                <a:lnTo>
                  <a:pt x="420369" y="75438"/>
                </a:lnTo>
                <a:lnTo>
                  <a:pt x="420369" y="65786"/>
                </a:lnTo>
                <a:close/>
              </a:path>
              <a:path w="434339" h="141605">
                <a:moveTo>
                  <a:pt x="424433" y="65786"/>
                </a:moveTo>
                <a:lnTo>
                  <a:pt x="420369" y="65786"/>
                </a:lnTo>
                <a:lnTo>
                  <a:pt x="420369" y="75438"/>
                </a:lnTo>
                <a:lnTo>
                  <a:pt x="424433" y="75438"/>
                </a:lnTo>
                <a:lnTo>
                  <a:pt x="424433" y="65786"/>
                </a:lnTo>
                <a:close/>
              </a:path>
              <a:path w="434339" h="141605">
                <a:moveTo>
                  <a:pt x="349631" y="0"/>
                </a:moveTo>
                <a:lnTo>
                  <a:pt x="345567" y="381"/>
                </a:lnTo>
                <a:lnTo>
                  <a:pt x="343407" y="3048"/>
                </a:lnTo>
                <a:lnTo>
                  <a:pt x="341121" y="5715"/>
                </a:lnTo>
                <a:lnTo>
                  <a:pt x="341503" y="9779"/>
                </a:lnTo>
                <a:lnTo>
                  <a:pt x="344169" y="11938"/>
                </a:lnTo>
                <a:lnTo>
                  <a:pt x="414578" y="70612"/>
                </a:lnTo>
                <a:lnTo>
                  <a:pt x="420369" y="65786"/>
                </a:lnTo>
                <a:lnTo>
                  <a:pt x="424433" y="65786"/>
                </a:lnTo>
                <a:lnTo>
                  <a:pt x="424433" y="64262"/>
                </a:lnTo>
                <a:lnTo>
                  <a:pt x="426715" y="64262"/>
                </a:lnTo>
                <a:lnTo>
                  <a:pt x="352297" y="2286"/>
                </a:lnTo>
                <a:lnTo>
                  <a:pt x="3496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520749" y="5617273"/>
            <a:ext cx="161925" cy="1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449311" y="554583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6" y="104231"/>
                </a:lnTo>
                <a:lnTo>
                  <a:pt x="29394" y="62396"/>
                </a:lnTo>
                <a:lnTo>
                  <a:pt x="62380" y="29405"/>
                </a:lnTo>
                <a:lnTo>
                  <a:pt x="104217" y="7769"/>
                </a:lnTo>
                <a:lnTo>
                  <a:pt x="152400" y="0"/>
                </a:lnTo>
                <a:lnTo>
                  <a:pt x="200582" y="7769"/>
                </a:lnTo>
                <a:lnTo>
                  <a:pt x="242419" y="29405"/>
                </a:lnTo>
                <a:lnTo>
                  <a:pt x="275405" y="62396"/>
                </a:lnTo>
                <a:lnTo>
                  <a:pt x="297033" y="104231"/>
                </a:lnTo>
                <a:lnTo>
                  <a:pt x="304800" y="152400"/>
                </a:lnTo>
                <a:lnTo>
                  <a:pt x="297033" y="200568"/>
                </a:lnTo>
                <a:lnTo>
                  <a:pt x="275405" y="242403"/>
                </a:lnTo>
                <a:lnTo>
                  <a:pt x="242419" y="275394"/>
                </a:lnTo>
                <a:lnTo>
                  <a:pt x="200582" y="297030"/>
                </a:lnTo>
                <a:lnTo>
                  <a:pt x="152400" y="304800"/>
                </a:lnTo>
                <a:lnTo>
                  <a:pt x="104217" y="297030"/>
                </a:lnTo>
                <a:lnTo>
                  <a:pt x="62380" y="275394"/>
                </a:lnTo>
                <a:lnTo>
                  <a:pt x="29394" y="242403"/>
                </a:lnTo>
                <a:lnTo>
                  <a:pt x="7766" y="200568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408934" y="3080765"/>
            <a:ext cx="3364229" cy="288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9220" marR="138303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Weight  </a:t>
            </a:r>
            <a:r>
              <a:rPr sz="1200" dirty="0">
                <a:latin typeface="Arial"/>
                <a:cs typeface="Arial"/>
              </a:rPr>
              <a:t>P</a:t>
            </a:r>
            <a:r>
              <a:rPr sz="1200" spc="-5" dirty="0">
                <a:latin typeface="Arial"/>
                <a:cs typeface="Arial"/>
              </a:rPr>
              <a:t>acka</a:t>
            </a:r>
            <a:r>
              <a:rPr sz="1200" spc="-15" dirty="0">
                <a:latin typeface="Arial"/>
                <a:cs typeface="Arial"/>
              </a:rPr>
              <a:t>g</a:t>
            </a:r>
            <a:r>
              <a:rPr sz="1200" spc="-5" dirty="0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88468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[Weight </a:t>
            </a:r>
            <a:r>
              <a:rPr sz="1200" spc="-5" dirty="0">
                <a:latin typeface="Arial"/>
                <a:cs typeface="Arial"/>
              </a:rPr>
              <a:t>&gt;=5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lb]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Arial"/>
              <a:cs typeface="Arial"/>
            </a:endParaRPr>
          </a:p>
          <a:p>
            <a:pPr marL="1567180" marR="5080" indent="406400">
              <a:lnSpc>
                <a:spcPct val="150100"/>
              </a:lnSpc>
            </a:pPr>
            <a:r>
              <a:rPr sz="1200" spc="-5" dirty="0">
                <a:latin typeface="Arial"/>
                <a:cs typeface="Arial"/>
              </a:rPr>
              <a:t>Ship Next Day  entry/Apply </a:t>
            </a:r>
            <a:r>
              <a:rPr sz="1200" dirty="0">
                <a:latin typeface="Arial"/>
                <a:cs typeface="Arial"/>
              </a:rPr>
              <a:t>shipping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Label</a:t>
            </a:r>
            <a:endParaRPr sz="1200">
              <a:latin typeface="Arial"/>
              <a:cs typeface="Arial"/>
            </a:endParaRPr>
          </a:p>
          <a:p>
            <a:pPr marL="1704975">
              <a:lnSpc>
                <a:spcPts val="1335"/>
              </a:lnSpc>
            </a:pPr>
            <a:r>
              <a:rPr sz="1200" spc="-5" dirty="0">
                <a:latin typeface="Arial"/>
                <a:cs typeface="Arial"/>
              </a:rPr>
              <a:t>exit/Send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Customer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35"/>
              </a:lnSpc>
            </a:pPr>
            <a:r>
              <a:rPr sz="1200" dirty="0">
                <a:latin typeface="Arial"/>
                <a:cs typeface="Arial"/>
              </a:rPr>
              <a:t>[Weight </a:t>
            </a:r>
            <a:r>
              <a:rPr sz="1200" spc="-5" dirty="0">
                <a:latin typeface="Arial"/>
                <a:cs typeface="Arial"/>
              </a:rPr>
              <a:t>&lt;= 5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lb]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R="1172845" algn="ctr">
              <a:lnSpc>
                <a:spcPct val="100000"/>
              </a:lnSpc>
              <a:spcBef>
                <a:spcPts val="865"/>
              </a:spcBef>
            </a:pPr>
            <a:r>
              <a:rPr sz="1200" spc="-5" dirty="0">
                <a:latin typeface="Arial"/>
                <a:cs typeface="Arial"/>
              </a:rPr>
              <a:t>Ship Second Day</a:t>
            </a:r>
            <a:r>
              <a:rPr sz="1200" spc="-114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Air</a:t>
            </a:r>
            <a:endParaRPr sz="1200">
              <a:latin typeface="Arial"/>
              <a:cs typeface="Arial"/>
            </a:endParaRPr>
          </a:p>
          <a:p>
            <a:pPr marL="99060" marR="1271905" algn="ctr">
              <a:lnSpc>
                <a:spcPct val="100000"/>
              </a:lnSpc>
              <a:spcBef>
                <a:spcPts val="720"/>
              </a:spcBef>
            </a:pPr>
            <a:r>
              <a:rPr sz="1200" spc="-5" dirty="0">
                <a:latin typeface="Arial"/>
                <a:cs typeface="Arial"/>
              </a:rPr>
              <a:t>entry/Applying </a:t>
            </a:r>
            <a:r>
              <a:rPr sz="1200" dirty="0">
                <a:latin typeface="Arial"/>
                <a:cs typeface="Arial"/>
              </a:rPr>
              <a:t>shipping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Label  exit/Send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Customer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348228" y="5193791"/>
            <a:ext cx="287020" cy="786765"/>
          </a:xfrm>
          <a:custGeom>
            <a:avLst/>
            <a:gdLst/>
            <a:ahLst/>
            <a:cxnLst/>
            <a:rect l="l" t="t" r="r" b="b"/>
            <a:pathLst>
              <a:path w="287020" h="786764">
                <a:moveTo>
                  <a:pt x="286512" y="0"/>
                </a:moveTo>
                <a:lnTo>
                  <a:pt x="247632" y="3607"/>
                </a:lnTo>
                <a:lnTo>
                  <a:pt x="210343" y="14114"/>
                </a:lnTo>
                <a:lnTo>
                  <a:pt x="174986" y="31052"/>
                </a:lnTo>
                <a:lnTo>
                  <a:pt x="141901" y="53949"/>
                </a:lnTo>
                <a:lnTo>
                  <a:pt x="111430" y="82334"/>
                </a:lnTo>
                <a:lnTo>
                  <a:pt x="83915" y="115736"/>
                </a:lnTo>
                <a:lnTo>
                  <a:pt x="59696" y="153686"/>
                </a:lnTo>
                <a:lnTo>
                  <a:pt x="39116" y="195711"/>
                </a:lnTo>
                <a:lnTo>
                  <a:pt x="22514" y="241342"/>
                </a:lnTo>
                <a:lnTo>
                  <a:pt x="10234" y="290108"/>
                </a:lnTo>
                <a:lnTo>
                  <a:pt x="2615" y="341537"/>
                </a:lnTo>
                <a:lnTo>
                  <a:pt x="0" y="395160"/>
                </a:lnTo>
                <a:lnTo>
                  <a:pt x="2552" y="447994"/>
                </a:lnTo>
                <a:lnTo>
                  <a:pt x="10002" y="498850"/>
                </a:lnTo>
                <a:lnTo>
                  <a:pt x="22039" y="547237"/>
                </a:lnTo>
                <a:lnTo>
                  <a:pt x="38354" y="592662"/>
                </a:lnTo>
                <a:lnTo>
                  <a:pt x="58636" y="634633"/>
                </a:lnTo>
                <a:lnTo>
                  <a:pt x="82574" y="672659"/>
                </a:lnTo>
                <a:lnTo>
                  <a:pt x="109858" y="706247"/>
                </a:lnTo>
                <a:lnTo>
                  <a:pt x="140178" y="734906"/>
                </a:lnTo>
                <a:lnTo>
                  <a:pt x="173225" y="758143"/>
                </a:lnTo>
                <a:lnTo>
                  <a:pt x="208686" y="775466"/>
                </a:lnTo>
                <a:lnTo>
                  <a:pt x="246252" y="78638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636264" y="5189220"/>
            <a:ext cx="1728470" cy="0"/>
          </a:xfrm>
          <a:custGeom>
            <a:avLst/>
            <a:gdLst/>
            <a:ahLst/>
            <a:cxnLst/>
            <a:rect l="l" t="t" r="r" b="b"/>
            <a:pathLst>
              <a:path w="1728470">
                <a:moveTo>
                  <a:pt x="0" y="0"/>
                </a:moveTo>
                <a:lnTo>
                  <a:pt x="172821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66159" y="5980176"/>
            <a:ext cx="1798320" cy="1905"/>
          </a:xfrm>
          <a:custGeom>
            <a:avLst/>
            <a:gdLst/>
            <a:ahLst/>
            <a:cxnLst/>
            <a:rect l="l" t="t" r="r" b="b"/>
            <a:pathLst>
              <a:path w="1798320" h="1904">
                <a:moveTo>
                  <a:pt x="0" y="0"/>
                </a:moveTo>
                <a:lnTo>
                  <a:pt x="1798319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312664" y="5189220"/>
            <a:ext cx="338455" cy="791210"/>
          </a:xfrm>
          <a:custGeom>
            <a:avLst/>
            <a:gdLst/>
            <a:ahLst/>
            <a:cxnLst/>
            <a:rect l="l" t="t" r="r" b="b"/>
            <a:pathLst>
              <a:path w="338454" h="791210">
                <a:moveTo>
                  <a:pt x="0" y="789457"/>
                </a:moveTo>
                <a:lnTo>
                  <a:pt x="6762" y="790107"/>
                </a:lnTo>
                <a:lnTo>
                  <a:pt x="13525" y="790571"/>
                </a:lnTo>
                <a:lnTo>
                  <a:pt x="20288" y="790850"/>
                </a:lnTo>
                <a:lnTo>
                  <a:pt x="27050" y="790943"/>
                </a:lnTo>
                <a:lnTo>
                  <a:pt x="69298" y="787335"/>
                </a:lnTo>
                <a:lnTo>
                  <a:pt x="109816" y="776818"/>
                </a:lnTo>
                <a:lnTo>
                  <a:pt x="148232" y="759864"/>
                </a:lnTo>
                <a:lnTo>
                  <a:pt x="184178" y="736944"/>
                </a:lnTo>
                <a:lnTo>
                  <a:pt x="217282" y="708529"/>
                </a:lnTo>
                <a:lnTo>
                  <a:pt x="247173" y="675090"/>
                </a:lnTo>
                <a:lnTo>
                  <a:pt x="273483" y="637099"/>
                </a:lnTo>
                <a:lnTo>
                  <a:pt x="295839" y="595027"/>
                </a:lnTo>
                <a:lnTo>
                  <a:pt x="313872" y="549345"/>
                </a:lnTo>
                <a:lnTo>
                  <a:pt x="327211" y="500524"/>
                </a:lnTo>
                <a:lnTo>
                  <a:pt x="335487" y="449035"/>
                </a:lnTo>
                <a:lnTo>
                  <a:pt x="338327" y="395350"/>
                </a:lnTo>
                <a:lnTo>
                  <a:pt x="335586" y="342644"/>
                </a:lnTo>
                <a:lnTo>
                  <a:pt x="327594" y="292017"/>
                </a:lnTo>
                <a:lnTo>
                  <a:pt x="314698" y="243923"/>
                </a:lnTo>
                <a:lnTo>
                  <a:pt x="297245" y="198816"/>
                </a:lnTo>
                <a:lnTo>
                  <a:pt x="275585" y="157150"/>
                </a:lnTo>
                <a:lnTo>
                  <a:pt x="250062" y="119379"/>
                </a:lnTo>
                <a:lnTo>
                  <a:pt x="221027" y="85959"/>
                </a:lnTo>
                <a:lnTo>
                  <a:pt x="188825" y="57342"/>
                </a:lnTo>
                <a:lnTo>
                  <a:pt x="153804" y="33984"/>
                </a:lnTo>
                <a:lnTo>
                  <a:pt x="116313" y="16338"/>
                </a:lnTo>
                <a:lnTo>
                  <a:pt x="76697" y="4858"/>
                </a:lnTo>
                <a:lnTo>
                  <a:pt x="353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21379" y="5548884"/>
            <a:ext cx="2230120" cy="1905"/>
          </a:xfrm>
          <a:custGeom>
            <a:avLst/>
            <a:gdLst/>
            <a:ahLst/>
            <a:cxnLst/>
            <a:rect l="l" t="t" r="r" b="b"/>
            <a:pathLst>
              <a:path w="2230120" h="1904">
                <a:moveTo>
                  <a:pt x="0" y="0"/>
                </a:moveTo>
                <a:lnTo>
                  <a:pt x="2229612" y="152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81964" y="845565"/>
            <a:ext cx="5212715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例：用活动图描述产品制造和发货过程</a:t>
            </a:r>
            <a:endParaRPr sz="2400">
              <a:latin typeface="宋体"/>
              <a:cs typeface="宋体"/>
            </a:endParaRPr>
          </a:p>
          <a:p>
            <a:pPr marL="855344">
              <a:lnSpc>
                <a:spcPct val="100000"/>
              </a:lnSpc>
              <a:spcBef>
                <a:spcPts val="1140"/>
              </a:spcBef>
              <a:tabLst>
                <a:tab pos="4241165" algn="l"/>
              </a:tabLst>
            </a:pPr>
            <a:r>
              <a:rPr sz="1200" b="1" spc="-5" dirty="0">
                <a:latin typeface="Arial"/>
                <a:cs typeface="Arial"/>
              </a:rPr>
              <a:t>Manufactuning	</a:t>
            </a:r>
            <a:r>
              <a:rPr sz="1200" b="1" dirty="0">
                <a:latin typeface="Arial"/>
                <a:cs typeface="Arial"/>
              </a:rPr>
              <a:t>Shipping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3068573" y="26365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活动图示例</a:t>
            </a:r>
            <a:endParaRPr sz="4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3568" y="84582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用活动图对具体操作建模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65531" y="1037285"/>
            <a:ext cx="7491095" cy="150114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3220"/>
              </a:lnSpc>
              <a:spcBef>
                <a:spcPts val="320"/>
              </a:spcBef>
            </a:pPr>
            <a:r>
              <a:rPr sz="2800" spc="-5" dirty="0">
                <a:latin typeface="宋体"/>
                <a:cs typeface="宋体"/>
              </a:rPr>
              <a:t>用活动图描述具体算法，类似于结</a:t>
            </a:r>
            <a:r>
              <a:rPr sz="2800" dirty="0">
                <a:latin typeface="宋体"/>
                <a:cs typeface="宋体"/>
              </a:rPr>
              <a:t>构</a:t>
            </a:r>
            <a:r>
              <a:rPr sz="2800" spc="-5" dirty="0">
                <a:latin typeface="宋体"/>
                <a:cs typeface="宋体"/>
              </a:rPr>
              <a:t>化分</a:t>
            </a:r>
            <a:r>
              <a:rPr sz="2800" dirty="0">
                <a:latin typeface="宋体"/>
                <a:cs typeface="宋体"/>
              </a:rPr>
              <a:t>析</a:t>
            </a:r>
            <a:r>
              <a:rPr sz="2800" spc="-5" dirty="0">
                <a:latin typeface="宋体"/>
                <a:cs typeface="宋体"/>
              </a:rPr>
              <a:t>时的 流程图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2800" spc="-5" dirty="0">
                <a:latin typeface="宋体"/>
                <a:cs typeface="宋体"/>
              </a:rPr>
              <a:t>例</a:t>
            </a:r>
            <a:r>
              <a:rPr sz="2800" dirty="0">
                <a:latin typeface="宋体"/>
                <a:cs typeface="宋体"/>
              </a:rPr>
              <a:t>：</a:t>
            </a:r>
            <a:r>
              <a:rPr sz="2800" dirty="0">
                <a:latin typeface="Arial"/>
                <a:cs typeface="Arial"/>
              </a:rPr>
              <a:t>Line</a:t>
            </a:r>
            <a:r>
              <a:rPr sz="2800" spc="-5" dirty="0">
                <a:latin typeface="宋体"/>
                <a:cs typeface="宋体"/>
              </a:rPr>
              <a:t>类的求直线焦点的算法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5516" y="4270247"/>
            <a:ext cx="288290" cy="433070"/>
          </a:xfrm>
          <a:custGeom>
            <a:avLst/>
            <a:gdLst/>
            <a:ahLst/>
            <a:cxnLst/>
            <a:rect l="l" t="t" r="r" b="b"/>
            <a:pathLst>
              <a:path w="288289" h="433070">
                <a:moveTo>
                  <a:pt x="288035" y="0"/>
                </a:moveTo>
                <a:lnTo>
                  <a:pt x="236247" y="3491"/>
                </a:lnTo>
                <a:lnTo>
                  <a:pt x="187509" y="13557"/>
                </a:lnTo>
                <a:lnTo>
                  <a:pt x="142635" y="29586"/>
                </a:lnTo>
                <a:lnTo>
                  <a:pt x="102436" y="50964"/>
                </a:lnTo>
                <a:lnTo>
                  <a:pt x="67724" y="77079"/>
                </a:lnTo>
                <a:lnTo>
                  <a:pt x="39313" y="107319"/>
                </a:lnTo>
                <a:lnTo>
                  <a:pt x="18014" y="141071"/>
                </a:lnTo>
                <a:lnTo>
                  <a:pt x="4638" y="177723"/>
                </a:lnTo>
                <a:lnTo>
                  <a:pt x="0" y="216662"/>
                </a:lnTo>
                <a:lnTo>
                  <a:pt x="5275" y="258120"/>
                </a:lnTo>
                <a:lnTo>
                  <a:pt x="20462" y="297013"/>
                </a:lnTo>
                <a:lnTo>
                  <a:pt x="44603" y="332560"/>
                </a:lnTo>
                <a:lnTo>
                  <a:pt x="76739" y="363981"/>
                </a:lnTo>
                <a:lnTo>
                  <a:pt x="115912" y="390498"/>
                </a:lnTo>
                <a:lnTo>
                  <a:pt x="161162" y="411329"/>
                </a:lnTo>
                <a:lnTo>
                  <a:pt x="211533" y="425695"/>
                </a:lnTo>
                <a:lnTo>
                  <a:pt x="266064" y="43281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73552" y="4270247"/>
            <a:ext cx="937260" cy="0"/>
          </a:xfrm>
          <a:custGeom>
            <a:avLst/>
            <a:gdLst/>
            <a:ahLst/>
            <a:cxnLst/>
            <a:rect l="l" t="t" r="r" b="b"/>
            <a:pathLst>
              <a:path w="937260">
                <a:moveTo>
                  <a:pt x="0" y="0"/>
                </a:moveTo>
                <a:lnTo>
                  <a:pt x="93726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01923" y="4703064"/>
            <a:ext cx="1009015" cy="1905"/>
          </a:xfrm>
          <a:custGeom>
            <a:avLst/>
            <a:gdLst/>
            <a:ahLst/>
            <a:cxnLst/>
            <a:rect l="l" t="t" r="r" b="b"/>
            <a:pathLst>
              <a:path w="1009014" h="1904">
                <a:moveTo>
                  <a:pt x="0" y="1524"/>
                </a:moveTo>
                <a:lnTo>
                  <a:pt x="100888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83379" y="4271771"/>
            <a:ext cx="338455" cy="433070"/>
          </a:xfrm>
          <a:custGeom>
            <a:avLst/>
            <a:gdLst/>
            <a:ahLst/>
            <a:cxnLst/>
            <a:rect l="l" t="t" r="r" b="b"/>
            <a:pathLst>
              <a:path w="338454" h="433070">
                <a:moveTo>
                  <a:pt x="0" y="432053"/>
                </a:moveTo>
                <a:lnTo>
                  <a:pt x="6762" y="432387"/>
                </a:lnTo>
                <a:lnTo>
                  <a:pt x="13525" y="432625"/>
                </a:lnTo>
                <a:lnTo>
                  <a:pt x="20288" y="432768"/>
                </a:lnTo>
                <a:lnTo>
                  <a:pt x="27050" y="432815"/>
                </a:lnTo>
                <a:lnTo>
                  <a:pt x="83015" y="429328"/>
                </a:lnTo>
                <a:lnTo>
                  <a:pt x="135683" y="419275"/>
                </a:lnTo>
                <a:lnTo>
                  <a:pt x="184178" y="403267"/>
                </a:lnTo>
                <a:lnTo>
                  <a:pt x="227621" y="381915"/>
                </a:lnTo>
                <a:lnTo>
                  <a:pt x="265134" y="355832"/>
                </a:lnTo>
                <a:lnTo>
                  <a:pt x="295839" y="325627"/>
                </a:lnTo>
                <a:lnTo>
                  <a:pt x="318858" y="291914"/>
                </a:lnTo>
                <a:lnTo>
                  <a:pt x="333314" y="255304"/>
                </a:lnTo>
                <a:lnTo>
                  <a:pt x="338328" y="216407"/>
                </a:lnTo>
                <a:lnTo>
                  <a:pt x="333488" y="178180"/>
                </a:lnTo>
                <a:lnTo>
                  <a:pt x="319520" y="142122"/>
                </a:lnTo>
                <a:lnTo>
                  <a:pt x="297245" y="108824"/>
                </a:lnTo>
                <a:lnTo>
                  <a:pt x="267489" y="78875"/>
                </a:lnTo>
                <a:lnTo>
                  <a:pt x="231074" y="52865"/>
                </a:lnTo>
                <a:lnTo>
                  <a:pt x="188825" y="31383"/>
                </a:lnTo>
                <a:lnTo>
                  <a:pt x="141565" y="15018"/>
                </a:lnTo>
                <a:lnTo>
                  <a:pt x="90117" y="4360"/>
                </a:lnTo>
                <a:lnTo>
                  <a:pt x="35306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80132" y="3550920"/>
            <a:ext cx="287020" cy="433070"/>
          </a:xfrm>
          <a:custGeom>
            <a:avLst/>
            <a:gdLst/>
            <a:ahLst/>
            <a:cxnLst/>
            <a:rect l="l" t="t" r="r" b="b"/>
            <a:pathLst>
              <a:path w="287019" h="433070">
                <a:moveTo>
                  <a:pt x="286512" y="0"/>
                </a:moveTo>
                <a:lnTo>
                  <a:pt x="235009" y="3491"/>
                </a:lnTo>
                <a:lnTo>
                  <a:pt x="186536" y="13557"/>
                </a:lnTo>
                <a:lnTo>
                  <a:pt x="141901" y="29586"/>
                </a:lnTo>
                <a:lnTo>
                  <a:pt x="101913" y="50964"/>
                </a:lnTo>
                <a:lnTo>
                  <a:pt x="67382" y="77079"/>
                </a:lnTo>
                <a:lnTo>
                  <a:pt x="39116" y="107319"/>
                </a:lnTo>
                <a:lnTo>
                  <a:pt x="17924" y="141071"/>
                </a:lnTo>
                <a:lnTo>
                  <a:pt x="4615" y="177723"/>
                </a:lnTo>
                <a:lnTo>
                  <a:pt x="0" y="216661"/>
                </a:lnTo>
                <a:lnTo>
                  <a:pt x="5246" y="258120"/>
                </a:lnTo>
                <a:lnTo>
                  <a:pt x="20349" y="297013"/>
                </a:lnTo>
                <a:lnTo>
                  <a:pt x="44355" y="332560"/>
                </a:lnTo>
                <a:lnTo>
                  <a:pt x="76311" y="363981"/>
                </a:lnTo>
                <a:lnTo>
                  <a:pt x="115261" y="390498"/>
                </a:lnTo>
                <a:lnTo>
                  <a:pt x="160252" y="411329"/>
                </a:lnTo>
                <a:lnTo>
                  <a:pt x="210330" y="425695"/>
                </a:lnTo>
                <a:lnTo>
                  <a:pt x="264541" y="43281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66644" y="3549396"/>
            <a:ext cx="1849120" cy="1905"/>
          </a:xfrm>
          <a:custGeom>
            <a:avLst/>
            <a:gdLst/>
            <a:ahLst/>
            <a:cxnLst/>
            <a:rect l="l" t="t" r="r" b="b"/>
            <a:pathLst>
              <a:path w="1849120" h="1904">
                <a:moveTo>
                  <a:pt x="0" y="1524"/>
                </a:moveTo>
                <a:lnTo>
                  <a:pt x="184861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95016" y="3982211"/>
            <a:ext cx="1920239" cy="1905"/>
          </a:xfrm>
          <a:custGeom>
            <a:avLst/>
            <a:gdLst/>
            <a:ahLst/>
            <a:cxnLst/>
            <a:rect l="l" t="t" r="r" b="b"/>
            <a:pathLst>
              <a:path w="1920239" h="1904">
                <a:moveTo>
                  <a:pt x="0" y="1524"/>
                </a:moveTo>
                <a:lnTo>
                  <a:pt x="19202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63440" y="3553967"/>
            <a:ext cx="338455" cy="431800"/>
          </a:xfrm>
          <a:custGeom>
            <a:avLst/>
            <a:gdLst/>
            <a:ahLst/>
            <a:cxnLst/>
            <a:rect l="l" t="t" r="r" b="b"/>
            <a:pathLst>
              <a:path w="338454" h="431800">
                <a:moveTo>
                  <a:pt x="0" y="430530"/>
                </a:moveTo>
                <a:lnTo>
                  <a:pt x="6762" y="430863"/>
                </a:lnTo>
                <a:lnTo>
                  <a:pt x="13525" y="431101"/>
                </a:lnTo>
                <a:lnTo>
                  <a:pt x="20288" y="431244"/>
                </a:lnTo>
                <a:lnTo>
                  <a:pt x="27050" y="431292"/>
                </a:lnTo>
                <a:lnTo>
                  <a:pt x="83015" y="427818"/>
                </a:lnTo>
                <a:lnTo>
                  <a:pt x="135683" y="417803"/>
                </a:lnTo>
                <a:lnTo>
                  <a:pt x="184178" y="401856"/>
                </a:lnTo>
                <a:lnTo>
                  <a:pt x="227621" y="380583"/>
                </a:lnTo>
                <a:lnTo>
                  <a:pt x="265134" y="354595"/>
                </a:lnTo>
                <a:lnTo>
                  <a:pt x="295839" y="324499"/>
                </a:lnTo>
                <a:lnTo>
                  <a:pt x="318858" y="290903"/>
                </a:lnTo>
                <a:lnTo>
                  <a:pt x="333314" y="254416"/>
                </a:lnTo>
                <a:lnTo>
                  <a:pt x="338327" y="215646"/>
                </a:lnTo>
                <a:lnTo>
                  <a:pt x="333488" y="177544"/>
                </a:lnTo>
                <a:lnTo>
                  <a:pt x="319520" y="141610"/>
                </a:lnTo>
                <a:lnTo>
                  <a:pt x="297245" y="108429"/>
                </a:lnTo>
                <a:lnTo>
                  <a:pt x="267489" y="78588"/>
                </a:lnTo>
                <a:lnTo>
                  <a:pt x="231074" y="52673"/>
                </a:lnTo>
                <a:lnTo>
                  <a:pt x="188825" y="31270"/>
                </a:lnTo>
                <a:lnTo>
                  <a:pt x="141565" y="14966"/>
                </a:lnTo>
                <a:lnTo>
                  <a:pt x="90117" y="4347"/>
                </a:lnTo>
                <a:lnTo>
                  <a:pt x="353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96840" y="2901695"/>
            <a:ext cx="288290" cy="433070"/>
          </a:xfrm>
          <a:custGeom>
            <a:avLst/>
            <a:gdLst/>
            <a:ahLst/>
            <a:cxnLst/>
            <a:rect l="l" t="t" r="r" b="b"/>
            <a:pathLst>
              <a:path w="288289" h="433070">
                <a:moveTo>
                  <a:pt x="288036" y="0"/>
                </a:moveTo>
                <a:lnTo>
                  <a:pt x="236247" y="3491"/>
                </a:lnTo>
                <a:lnTo>
                  <a:pt x="187509" y="13557"/>
                </a:lnTo>
                <a:lnTo>
                  <a:pt x="142635" y="29586"/>
                </a:lnTo>
                <a:lnTo>
                  <a:pt x="102436" y="50964"/>
                </a:lnTo>
                <a:lnTo>
                  <a:pt x="67724" y="77079"/>
                </a:lnTo>
                <a:lnTo>
                  <a:pt x="39313" y="107319"/>
                </a:lnTo>
                <a:lnTo>
                  <a:pt x="18014" y="141071"/>
                </a:lnTo>
                <a:lnTo>
                  <a:pt x="4638" y="177723"/>
                </a:lnTo>
                <a:lnTo>
                  <a:pt x="0" y="216662"/>
                </a:lnTo>
                <a:lnTo>
                  <a:pt x="5275" y="258120"/>
                </a:lnTo>
                <a:lnTo>
                  <a:pt x="20462" y="297013"/>
                </a:lnTo>
                <a:lnTo>
                  <a:pt x="44603" y="332560"/>
                </a:lnTo>
                <a:lnTo>
                  <a:pt x="76739" y="363981"/>
                </a:lnTo>
                <a:lnTo>
                  <a:pt x="115912" y="390498"/>
                </a:lnTo>
                <a:lnTo>
                  <a:pt x="161162" y="411329"/>
                </a:lnTo>
                <a:lnTo>
                  <a:pt x="211533" y="425695"/>
                </a:lnTo>
                <a:lnTo>
                  <a:pt x="266064" y="432815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84876" y="2901695"/>
            <a:ext cx="937260" cy="0"/>
          </a:xfrm>
          <a:custGeom>
            <a:avLst/>
            <a:gdLst/>
            <a:ahLst/>
            <a:cxnLst/>
            <a:rect l="l" t="t" r="r" b="b"/>
            <a:pathLst>
              <a:path w="937260">
                <a:moveTo>
                  <a:pt x="0" y="0"/>
                </a:moveTo>
                <a:lnTo>
                  <a:pt x="93726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14771" y="3334511"/>
            <a:ext cx="1007744" cy="1905"/>
          </a:xfrm>
          <a:custGeom>
            <a:avLst/>
            <a:gdLst/>
            <a:ahLst/>
            <a:cxnLst/>
            <a:rect l="l" t="t" r="r" b="b"/>
            <a:pathLst>
              <a:path w="1007745" h="1904">
                <a:moveTo>
                  <a:pt x="0" y="1524"/>
                </a:moveTo>
                <a:lnTo>
                  <a:pt x="100736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94703" y="2903220"/>
            <a:ext cx="338455" cy="433070"/>
          </a:xfrm>
          <a:custGeom>
            <a:avLst/>
            <a:gdLst/>
            <a:ahLst/>
            <a:cxnLst/>
            <a:rect l="l" t="t" r="r" b="b"/>
            <a:pathLst>
              <a:path w="338454" h="433070">
                <a:moveTo>
                  <a:pt x="0" y="432053"/>
                </a:moveTo>
                <a:lnTo>
                  <a:pt x="6762" y="432387"/>
                </a:lnTo>
                <a:lnTo>
                  <a:pt x="13525" y="432625"/>
                </a:lnTo>
                <a:lnTo>
                  <a:pt x="20288" y="432768"/>
                </a:lnTo>
                <a:lnTo>
                  <a:pt x="27050" y="432815"/>
                </a:lnTo>
                <a:lnTo>
                  <a:pt x="83015" y="429328"/>
                </a:lnTo>
                <a:lnTo>
                  <a:pt x="135683" y="419275"/>
                </a:lnTo>
                <a:lnTo>
                  <a:pt x="184178" y="403267"/>
                </a:lnTo>
                <a:lnTo>
                  <a:pt x="227621" y="381915"/>
                </a:lnTo>
                <a:lnTo>
                  <a:pt x="265134" y="355832"/>
                </a:lnTo>
                <a:lnTo>
                  <a:pt x="295839" y="325627"/>
                </a:lnTo>
                <a:lnTo>
                  <a:pt x="318858" y="291914"/>
                </a:lnTo>
                <a:lnTo>
                  <a:pt x="333314" y="255304"/>
                </a:lnTo>
                <a:lnTo>
                  <a:pt x="338327" y="216407"/>
                </a:lnTo>
                <a:lnTo>
                  <a:pt x="333488" y="178180"/>
                </a:lnTo>
                <a:lnTo>
                  <a:pt x="319520" y="142122"/>
                </a:lnTo>
                <a:lnTo>
                  <a:pt x="297245" y="108824"/>
                </a:lnTo>
                <a:lnTo>
                  <a:pt x="267489" y="78875"/>
                </a:lnTo>
                <a:lnTo>
                  <a:pt x="231074" y="52865"/>
                </a:lnTo>
                <a:lnTo>
                  <a:pt x="188825" y="31383"/>
                </a:lnTo>
                <a:lnTo>
                  <a:pt x="141565" y="15018"/>
                </a:lnTo>
                <a:lnTo>
                  <a:pt x="90117" y="4360"/>
                </a:lnTo>
                <a:lnTo>
                  <a:pt x="353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04335" y="2829814"/>
            <a:ext cx="141097" cy="2151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25823" y="3047364"/>
            <a:ext cx="1294130" cy="141605"/>
          </a:xfrm>
          <a:custGeom>
            <a:avLst/>
            <a:gdLst/>
            <a:ahLst/>
            <a:cxnLst/>
            <a:rect l="l" t="t" r="r" b="b"/>
            <a:pathLst>
              <a:path w="1294129" h="141605">
                <a:moveTo>
                  <a:pt x="1209166" y="0"/>
                </a:moveTo>
                <a:lnTo>
                  <a:pt x="1205229" y="381"/>
                </a:lnTo>
                <a:lnTo>
                  <a:pt x="1200658" y="5714"/>
                </a:lnTo>
                <a:lnTo>
                  <a:pt x="1201039" y="9779"/>
                </a:lnTo>
                <a:lnTo>
                  <a:pt x="1203833" y="12064"/>
                </a:lnTo>
                <a:lnTo>
                  <a:pt x="1266492" y="64368"/>
                </a:lnTo>
                <a:lnTo>
                  <a:pt x="1283970" y="64388"/>
                </a:lnTo>
                <a:lnTo>
                  <a:pt x="1283970" y="77088"/>
                </a:lnTo>
                <a:lnTo>
                  <a:pt x="1266319" y="77088"/>
                </a:lnTo>
                <a:lnTo>
                  <a:pt x="1203578" y="129286"/>
                </a:lnTo>
                <a:lnTo>
                  <a:pt x="1200912" y="131445"/>
                </a:lnTo>
                <a:lnTo>
                  <a:pt x="1200530" y="135509"/>
                </a:lnTo>
                <a:lnTo>
                  <a:pt x="1205102" y="140843"/>
                </a:lnTo>
                <a:lnTo>
                  <a:pt x="1209039" y="141224"/>
                </a:lnTo>
                <a:lnTo>
                  <a:pt x="1211706" y="139064"/>
                </a:lnTo>
                <a:lnTo>
                  <a:pt x="1286239" y="77088"/>
                </a:lnTo>
                <a:lnTo>
                  <a:pt x="1283970" y="77088"/>
                </a:lnTo>
                <a:lnTo>
                  <a:pt x="1286264" y="77068"/>
                </a:lnTo>
                <a:lnTo>
                  <a:pt x="1293876" y="70738"/>
                </a:lnTo>
                <a:lnTo>
                  <a:pt x="1211961" y="2286"/>
                </a:lnTo>
                <a:lnTo>
                  <a:pt x="1209166" y="0"/>
                </a:lnTo>
                <a:close/>
              </a:path>
              <a:path w="1294129" h="141605">
                <a:moveTo>
                  <a:pt x="1274038" y="70667"/>
                </a:moveTo>
                <a:lnTo>
                  <a:pt x="1266344" y="77068"/>
                </a:lnTo>
                <a:lnTo>
                  <a:pt x="1283970" y="77088"/>
                </a:lnTo>
                <a:lnTo>
                  <a:pt x="1283970" y="75564"/>
                </a:lnTo>
                <a:lnTo>
                  <a:pt x="1279905" y="75564"/>
                </a:lnTo>
                <a:lnTo>
                  <a:pt x="1274038" y="70667"/>
                </a:lnTo>
                <a:close/>
              </a:path>
              <a:path w="1294129" h="141605">
                <a:moveTo>
                  <a:pt x="0" y="62864"/>
                </a:moveTo>
                <a:lnTo>
                  <a:pt x="0" y="75564"/>
                </a:lnTo>
                <a:lnTo>
                  <a:pt x="1266344" y="77068"/>
                </a:lnTo>
                <a:lnTo>
                  <a:pt x="1274038" y="70667"/>
                </a:lnTo>
                <a:lnTo>
                  <a:pt x="1266492" y="64368"/>
                </a:lnTo>
                <a:lnTo>
                  <a:pt x="0" y="62864"/>
                </a:lnTo>
                <a:close/>
              </a:path>
              <a:path w="1294129" h="141605">
                <a:moveTo>
                  <a:pt x="1279905" y="65786"/>
                </a:moveTo>
                <a:lnTo>
                  <a:pt x="1274038" y="70667"/>
                </a:lnTo>
                <a:lnTo>
                  <a:pt x="1279905" y="75564"/>
                </a:lnTo>
                <a:lnTo>
                  <a:pt x="1279905" y="65786"/>
                </a:lnTo>
                <a:close/>
              </a:path>
              <a:path w="1294129" h="141605">
                <a:moveTo>
                  <a:pt x="1283970" y="65786"/>
                </a:moveTo>
                <a:lnTo>
                  <a:pt x="1279905" y="65786"/>
                </a:lnTo>
                <a:lnTo>
                  <a:pt x="1279905" y="75564"/>
                </a:lnTo>
                <a:lnTo>
                  <a:pt x="1283970" y="75564"/>
                </a:lnTo>
                <a:lnTo>
                  <a:pt x="1283970" y="65786"/>
                </a:lnTo>
                <a:close/>
              </a:path>
              <a:path w="1294129" h="141605">
                <a:moveTo>
                  <a:pt x="1266492" y="64368"/>
                </a:moveTo>
                <a:lnTo>
                  <a:pt x="1274038" y="70667"/>
                </a:lnTo>
                <a:lnTo>
                  <a:pt x="1279905" y="65786"/>
                </a:lnTo>
                <a:lnTo>
                  <a:pt x="1283970" y="65786"/>
                </a:lnTo>
                <a:lnTo>
                  <a:pt x="1283970" y="64388"/>
                </a:lnTo>
                <a:lnTo>
                  <a:pt x="1266492" y="64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08908" y="3983735"/>
            <a:ext cx="141605" cy="287020"/>
          </a:xfrm>
          <a:custGeom>
            <a:avLst/>
            <a:gdLst/>
            <a:ahLst/>
            <a:cxnLst/>
            <a:rect l="l" t="t" r="r" b="b"/>
            <a:pathLst>
              <a:path w="141604" h="287020">
                <a:moveTo>
                  <a:pt x="5714" y="193294"/>
                </a:moveTo>
                <a:lnTo>
                  <a:pt x="3047" y="195580"/>
                </a:lnTo>
                <a:lnTo>
                  <a:pt x="380" y="197738"/>
                </a:lnTo>
                <a:lnTo>
                  <a:pt x="0" y="201802"/>
                </a:lnTo>
                <a:lnTo>
                  <a:pt x="2286" y="204469"/>
                </a:lnTo>
                <a:lnTo>
                  <a:pt x="70612" y="286512"/>
                </a:lnTo>
                <a:lnTo>
                  <a:pt x="78861" y="276606"/>
                </a:lnTo>
                <a:lnTo>
                  <a:pt x="64262" y="276606"/>
                </a:lnTo>
                <a:lnTo>
                  <a:pt x="64262" y="259130"/>
                </a:lnTo>
                <a:lnTo>
                  <a:pt x="11937" y="196341"/>
                </a:lnTo>
                <a:lnTo>
                  <a:pt x="9778" y="193675"/>
                </a:lnTo>
                <a:lnTo>
                  <a:pt x="5714" y="193294"/>
                </a:lnTo>
                <a:close/>
              </a:path>
              <a:path w="141604" h="287020">
                <a:moveTo>
                  <a:pt x="64262" y="259130"/>
                </a:moveTo>
                <a:lnTo>
                  <a:pt x="64262" y="276606"/>
                </a:lnTo>
                <a:lnTo>
                  <a:pt x="76962" y="276606"/>
                </a:lnTo>
                <a:lnTo>
                  <a:pt x="76962" y="272541"/>
                </a:lnTo>
                <a:lnTo>
                  <a:pt x="65786" y="272541"/>
                </a:lnTo>
                <a:lnTo>
                  <a:pt x="70612" y="266750"/>
                </a:lnTo>
                <a:lnTo>
                  <a:pt x="64262" y="259130"/>
                </a:lnTo>
                <a:close/>
              </a:path>
              <a:path w="141604" h="287020">
                <a:moveTo>
                  <a:pt x="135508" y="193294"/>
                </a:moveTo>
                <a:lnTo>
                  <a:pt x="131444" y="193675"/>
                </a:lnTo>
                <a:lnTo>
                  <a:pt x="129286" y="196341"/>
                </a:lnTo>
                <a:lnTo>
                  <a:pt x="76962" y="259130"/>
                </a:lnTo>
                <a:lnTo>
                  <a:pt x="76962" y="276606"/>
                </a:lnTo>
                <a:lnTo>
                  <a:pt x="78861" y="276606"/>
                </a:lnTo>
                <a:lnTo>
                  <a:pt x="138937" y="204469"/>
                </a:lnTo>
                <a:lnTo>
                  <a:pt x="141224" y="201802"/>
                </a:lnTo>
                <a:lnTo>
                  <a:pt x="140842" y="197738"/>
                </a:lnTo>
                <a:lnTo>
                  <a:pt x="138175" y="195580"/>
                </a:lnTo>
                <a:lnTo>
                  <a:pt x="135508" y="193294"/>
                </a:lnTo>
                <a:close/>
              </a:path>
              <a:path w="141604" h="287020">
                <a:moveTo>
                  <a:pt x="70612" y="266750"/>
                </a:moveTo>
                <a:lnTo>
                  <a:pt x="65786" y="272541"/>
                </a:lnTo>
                <a:lnTo>
                  <a:pt x="75437" y="272541"/>
                </a:lnTo>
                <a:lnTo>
                  <a:pt x="70612" y="266750"/>
                </a:lnTo>
                <a:close/>
              </a:path>
              <a:path w="141604" h="287020">
                <a:moveTo>
                  <a:pt x="76962" y="259130"/>
                </a:moveTo>
                <a:lnTo>
                  <a:pt x="70612" y="266750"/>
                </a:lnTo>
                <a:lnTo>
                  <a:pt x="75437" y="272541"/>
                </a:lnTo>
                <a:lnTo>
                  <a:pt x="76962" y="272541"/>
                </a:lnTo>
                <a:lnTo>
                  <a:pt x="76962" y="259130"/>
                </a:lnTo>
                <a:close/>
              </a:path>
              <a:path w="141604" h="287020">
                <a:moveTo>
                  <a:pt x="76962" y="0"/>
                </a:moveTo>
                <a:lnTo>
                  <a:pt x="64262" y="0"/>
                </a:lnTo>
                <a:lnTo>
                  <a:pt x="64262" y="259130"/>
                </a:lnTo>
                <a:lnTo>
                  <a:pt x="70612" y="266750"/>
                </a:lnTo>
                <a:lnTo>
                  <a:pt x="76962" y="259130"/>
                </a:lnTo>
                <a:lnTo>
                  <a:pt x="769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09289" y="3220211"/>
            <a:ext cx="141605" cy="330835"/>
          </a:xfrm>
          <a:custGeom>
            <a:avLst/>
            <a:gdLst/>
            <a:ahLst/>
            <a:cxnLst/>
            <a:rect l="l" t="t" r="r" b="b"/>
            <a:pathLst>
              <a:path w="141604" h="330835">
                <a:moveTo>
                  <a:pt x="5841" y="237236"/>
                </a:moveTo>
                <a:lnTo>
                  <a:pt x="3048" y="239395"/>
                </a:lnTo>
                <a:lnTo>
                  <a:pt x="381" y="241680"/>
                </a:lnTo>
                <a:lnTo>
                  <a:pt x="0" y="245617"/>
                </a:lnTo>
                <a:lnTo>
                  <a:pt x="2286" y="248412"/>
                </a:lnTo>
                <a:lnTo>
                  <a:pt x="70231" y="330708"/>
                </a:lnTo>
                <a:lnTo>
                  <a:pt x="78552" y="320801"/>
                </a:lnTo>
                <a:lnTo>
                  <a:pt x="63881" y="320801"/>
                </a:lnTo>
                <a:lnTo>
                  <a:pt x="63964" y="303148"/>
                </a:lnTo>
                <a:lnTo>
                  <a:pt x="12064" y="240284"/>
                </a:lnTo>
                <a:lnTo>
                  <a:pt x="9778" y="237616"/>
                </a:lnTo>
                <a:lnTo>
                  <a:pt x="5841" y="237236"/>
                </a:lnTo>
                <a:close/>
              </a:path>
              <a:path w="141604" h="330835">
                <a:moveTo>
                  <a:pt x="63964" y="303148"/>
                </a:moveTo>
                <a:lnTo>
                  <a:pt x="63881" y="320801"/>
                </a:lnTo>
                <a:lnTo>
                  <a:pt x="76581" y="320801"/>
                </a:lnTo>
                <a:lnTo>
                  <a:pt x="76600" y="316738"/>
                </a:lnTo>
                <a:lnTo>
                  <a:pt x="65405" y="316738"/>
                </a:lnTo>
                <a:lnTo>
                  <a:pt x="70340" y="310870"/>
                </a:lnTo>
                <a:lnTo>
                  <a:pt x="63964" y="303148"/>
                </a:lnTo>
                <a:close/>
              </a:path>
              <a:path w="141604" h="330835">
                <a:moveTo>
                  <a:pt x="135509" y="237743"/>
                </a:moveTo>
                <a:lnTo>
                  <a:pt x="131572" y="238125"/>
                </a:lnTo>
                <a:lnTo>
                  <a:pt x="129286" y="240791"/>
                </a:lnTo>
                <a:lnTo>
                  <a:pt x="76663" y="303352"/>
                </a:lnTo>
                <a:lnTo>
                  <a:pt x="76581" y="320801"/>
                </a:lnTo>
                <a:lnTo>
                  <a:pt x="78552" y="320801"/>
                </a:lnTo>
                <a:lnTo>
                  <a:pt x="138937" y="248920"/>
                </a:lnTo>
                <a:lnTo>
                  <a:pt x="141224" y="246252"/>
                </a:lnTo>
                <a:lnTo>
                  <a:pt x="140843" y="242315"/>
                </a:lnTo>
                <a:lnTo>
                  <a:pt x="135509" y="237743"/>
                </a:lnTo>
                <a:close/>
              </a:path>
              <a:path w="141604" h="330835">
                <a:moveTo>
                  <a:pt x="70340" y="310870"/>
                </a:moveTo>
                <a:lnTo>
                  <a:pt x="65405" y="316738"/>
                </a:lnTo>
                <a:lnTo>
                  <a:pt x="75184" y="316738"/>
                </a:lnTo>
                <a:lnTo>
                  <a:pt x="70340" y="310870"/>
                </a:lnTo>
                <a:close/>
              </a:path>
              <a:path w="141604" h="330835">
                <a:moveTo>
                  <a:pt x="76663" y="303352"/>
                </a:moveTo>
                <a:lnTo>
                  <a:pt x="70340" y="310870"/>
                </a:lnTo>
                <a:lnTo>
                  <a:pt x="75184" y="316738"/>
                </a:lnTo>
                <a:lnTo>
                  <a:pt x="76600" y="316738"/>
                </a:lnTo>
                <a:lnTo>
                  <a:pt x="76663" y="303352"/>
                </a:lnTo>
                <a:close/>
              </a:path>
              <a:path w="141604" h="330835">
                <a:moveTo>
                  <a:pt x="78105" y="0"/>
                </a:moveTo>
                <a:lnTo>
                  <a:pt x="65405" y="0"/>
                </a:lnTo>
                <a:lnTo>
                  <a:pt x="63964" y="303148"/>
                </a:lnTo>
                <a:lnTo>
                  <a:pt x="70340" y="310870"/>
                </a:lnTo>
                <a:lnTo>
                  <a:pt x="76663" y="303352"/>
                </a:lnTo>
                <a:lnTo>
                  <a:pt x="781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3591" y="3015995"/>
            <a:ext cx="352425" cy="216535"/>
          </a:xfrm>
          <a:custGeom>
            <a:avLst/>
            <a:gdLst/>
            <a:ahLst/>
            <a:cxnLst/>
            <a:rect l="l" t="t" r="r" b="b"/>
            <a:pathLst>
              <a:path w="352425" h="216535">
                <a:moveTo>
                  <a:pt x="0" y="108203"/>
                </a:moveTo>
                <a:lnTo>
                  <a:pt x="176022" y="0"/>
                </a:lnTo>
                <a:lnTo>
                  <a:pt x="352044" y="108203"/>
                </a:lnTo>
                <a:lnTo>
                  <a:pt x="176022" y="216407"/>
                </a:lnTo>
                <a:lnTo>
                  <a:pt x="0" y="10820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983863" y="2885694"/>
            <a:ext cx="1141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[slope</a:t>
            </a:r>
            <a:r>
              <a:rPr sz="1200" b="1" spc="-5" dirty="0">
                <a:latin typeface="Arial"/>
                <a:cs typeface="Arial"/>
              </a:rPr>
              <a:t>=1</a:t>
            </a:r>
            <a:r>
              <a:rPr sz="1200" b="1" dirty="0">
                <a:latin typeface="Arial"/>
                <a:cs typeface="Arial"/>
              </a:rPr>
              <a:t>.</a:t>
            </a:r>
            <a:r>
              <a:rPr sz="1200" b="1" spc="5" dirty="0">
                <a:latin typeface="Arial"/>
                <a:cs typeface="Arial"/>
              </a:rPr>
              <a:t>s</a:t>
            </a:r>
            <a:r>
              <a:rPr sz="1200" b="1" dirty="0">
                <a:latin typeface="Arial"/>
                <a:cs typeface="Arial"/>
              </a:rPr>
              <a:t>lope]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67050" y="4374895"/>
            <a:ext cx="12833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y=(slope*x)+delte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72480" y="3004565"/>
            <a:ext cx="1203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return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Point(0,0)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87039" y="4989576"/>
            <a:ext cx="288290" cy="433070"/>
          </a:xfrm>
          <a:custGeom>
            <a:avLst/>
            <a:gdLst/>
            <a:ahLst/>
            <a:cxnLst/>
            <a:rect l="l" t="t" r="r" b="b"/>
            <a:pathLst>
              <a:path w="288289" h="433070">
                <a:moveTo>
                  <a:pt x="288036" y="0"/>
                </a:moveTo>
                <a:lnTo>
                  <a:pt x="236247" y="3491"/>
                </a:lnTo>
                <a:lnTo>
                  <a:pt x="187509" y="13557"/>
                </a:lnTo>
                <a:lnTo>
                  <a:pt x="142635" y="29586"/>
                </a:lnTo>
                <a:lnTo>
                  <a:pt x="102436" y="50964"/>
                </a:lnTo>
                <a:lnTo>
                  <a:pt x="67724" y="77079"/>
                </a:lnTo>
                <a:lnTo>
                  <a:pt x="39313" y="107319"/>
                </a:lnTo>
                <a:lnTo>
                  <a:pt x="18014" y="141071"/>
                </a:lnTo>
                <a:lnTo>
                  <a:pt x="4638" y="177723"/>
                </a:lnTo>
                <a:lnTo>
                  <a:pt x="0" y="216662"/>
                </a:lnTo>
                <a:lnTo>
                  <a:pt x="5275" y="258120"/>
                </a:lnTo>
                <a:lnTo>
                  <a:pt x="20462" y="297013"/>
                </a:lnTo>
                <a:lnTo>
                  <a:pt x="44603" y="332560"/>
                </a:lnTo>
                <a:lnTo>
                  <a:pt x="76739" y="363982"/>
                </a:lnTo>
                <a:lnTo>
                  <a:pt x="115912" y="390498"/>
                </a:lnTo>
                <a:lnTo>
                  <a:pt x="161163" y="411329"/>
                </a:lnTo>
                <a:lnTo>
                  <a:pt x="211533" y="425695"/>
                </a:lnTo>
                <a:lnTo>
                  <a:pt x="266064" y="43281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75076" y="4989576"/>
            <a:ext cx="937260" cy="0"/>
          </a:xfrm>
          <a:custGeom>
            <a:avLst/>
            <a:gdLst/>
            <a:ahLst/>
            <a:cxnLst/>
            <a:rect l="l" t="t" r="r" b="b"/>
            <a:pathLst>
              <a:path w="937260">
                <a:moveTo>
                  <a:pt x="0" y="0"/>
                </a:moveTo>
                <a:lnTo>
                  <a:pt x="93726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03448" y="5422391"/>
            <a:ext cx="1009015" cy="1905"/>
          </a:xfrm>
          <a:custGeom>
            <a:avLst/>
            <a:gdLst/>
            <a:ahLst/>
            <a:cxnLst/>
            <a:rect l="l" t="t" r="r" b="b"/>
            <a:pathLst>
              <a:path w="1009014" h="1904">
                <a:moveTo>
                  <a:pt x="0" y="1524"/>
                </a:moveTo>
                <a:lnTo>
                  <a:pt x="100888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84903" y="4991100"/>
            <a:ext cx="338455" cy="433070"/>
          </a:xfrm>
          <a:custGeom>
            <a:avLst/>
            <a:gdLst/>
            <a:ahLst/>
            <a:cxnLst/>
            <a:rect l="l" t="t" r="r" b="b"/>
            <a:pathLst>
              <a:path w="338454" h="433070">
                <a:moveTo>
                  <a:pt x="0" y="432053"/>
                </a:moveTo>
                <a:lnTo>
                  <a:pt x="6762" y="432387"/>
                </a:lnTo>
                <a:lnTo>
                  <a:pt x="13525" y="432625"/>
                </a:lnTo>
                <a:lnTo>
                  <a:pt x="20288" y="432768"/>
                </a:lnTo>
                <a:lnTo>
                  <a:pt x="27050" y="432816"/>
                </a:lnTo>
                <a:lnTo>
                  <a:pt x="83015" y="429328"/>
                </a:lnTo>
                <a:lnTo>
                  <a:pt x="135683" y="419275"/>
                </a:lnTo>
                <a:lnTo>
                  <a:pt x="184178" y="403267"/>
                </a:lnTo>
                <a:lnTo>
                  <a:pt x="227621" y="381915"/>
                </a:lnTo>
                <a:lnTo>
                  <a:pt x="265134" y="355832"/>
                </a:lnTo>
                <a:lnTo>
                  <a:pt x="295839" y="325628"/>
                </a:lnTo>
                <a:lnTo>
                  <a:pt x="318858" y="291914"/>
                </a:lnTo>
                <a:lnTo>
                  <a:pt x="333314" y="255304"/>
                </a:lnTo>
                <a:lnTo>
                  <a:pt x="338328" y="216407"/>
                </a:lnTo>
                <a:lnTo>
                  <a:pt x="333488" y="178180"/>
                </a:lnTo>
                <a:lnTo>
                  <a:pt x="319520" y="142122"/>
                </a:lnTo>
                <a:lnTo>
                  <a:pt x="297245" y="108824"/>
                </a:lnTo>
                <a:lnTo>
                  <a:pt x="267489" y="78875"/>
                </a:lnTo>
                <a:lnTo>
                  <a:pt x="231074" y="52865"/>
                </a:lnTo>
                <a:lnTo>
                  <a:pt x="188825" y="31383"/>
                </a:lnTo>
                <a:lnTo>
                  <a:pt x="141565" y="15018"/>
                </a:lnTo>
                <a:lnTo>
                  <a:pt x="90117" y="4360"/>
                </a:lnTo>
                <a:lnTo>
                  <a:pt x="353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068573" y="5094223"/>
            <a:ext cx="1198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return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Point(x,y)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708908" y="4704588"/>
            <a:ext cx="141605" cy="287020"/>
          </a:xfrm>
          <a:custGeom>
            <a:avLst/>
            <a:gdLst/>
            <a:ahLst/>
            <a:cxnLst/>
            <a:rect l="l" t="t" r="r" b="b"/>
            <a:pathLst>
              <a:path w="141604" h="287020">
                <a:moveTo>
                  <a:pt x="5714" y="193294"/>
                </a:moveTo>
                <a:lnTo>
                  <a:pt x="3047" y="195580"/>
                </a:lnTo>
                <a:lnTo>
                  <a:pt x="380" y="197738"/>
                </a:lnTo>
                <a:lnTo>
                  <a:pt x="0" y="201803"/>
                </a:lnTo>
                <a:lnTo>
                  <a:pt x="2286" y="204469"/>
                </a:lnTo>
                <a:lnTo>
                  <a:pt x="70612" y="286512"/>
                </a:lnTo>
                <a:lnTo>
                  <a:pt x="78861" y="276606"/>
                </a:lnTo>
                <a:lnTo>
                  <a:pt x="64262" y="276606"/>
                </a:lnTo>
                <a:lnTo>
                  <a:pt x="64262" y="259130"/>
                </a:lnTo>
                <a:lnTo>
                  <a:pt x="11937" y="196342"/>
                </a:lnTo>
                <a:lnTo>
                  <a:pt x="9778" y="193675"/>
                </a:lnTo>
                <a:lnTo>
                  <a:pt x="5714" y="193294"/>
                </a:lnTo>
                <a:close/>
              </a:path>
              <a:path w="141604" h="287020">
                <a:moveTo>
                  <a:pt x="64262" y="259130"/>
                </a:moveTo>
                <a:lnTo>
                  <a:pt x="64262" y="276606"/>
                </a:lnTo>
                <a:lnTo>
                  <a:pt x="76962" y="276606"/>
                </a:lnTo>
                <a:lnTo>
                  <a:pt x="76962" y="272542"/>
                </a:lnTo>
                <a:lnTo>
                  <a:pt x="65786" y="272542"/>
                </a:lnTo>
                <a:lnTo>
                  <a:pt x="70612" y="266750"/>
                </a:lnTo>
                <a:lnTo>
                  <a:pt x="64262" y="259130"/>
                </a:lnTo>
                <a:close/>
              </a:path>
              <a:path w="141604" h="287020">
                <a:moveTo>
                  <a:pt x="135508" y="193294"/>
                </a:moveTo>
                <a:lnTo>
                  <a:pt x="131444" y="193675"/>
                </a:lnTo>
                <a:lnTo>
                  <a:pt x="129286" y="196342"/>
                </a:lnTo>
                <a:lnTo>
                  <a:pt x="76962" y="259130"/>
                </a:lnTo>
                <a:lnTo>
                  <a:pt x="76962" y="276606"/>
                </a:lnTo>
                <a:lnTo>
                  <a:pt x="78861" y="276606"/>
                </a:lnTo>
                <a:lnTo>
                  <a:pt x="138937" y="204469"/>
                </a:lnTo>
                <a:lnTo>
                  <a:pt x="141224" y="201803"/>
                </a:lnTo>
                <a:lnTo>
                  <a:pt x="140842" y="197738"/>
                </a:lnTo>
                <a:lnTo>
                  <a:pt x="138175" y="195580"/>
                </a:lnTo>
                <a:lnTo>
                  <a:pt x="135508" y="193294"/>
                </a:lnTo>
                <a:close/>
              </a:path>
              <a:path w="141604" h="287020">
                <a:moveTo>
                  <a:pt x="70612" y="266750"/>
                </a:moveTo>
                <a:lnTo>
                  <a:pt x="65786" y="272542"/>
                </a:lnTo>
                <a:lnTo>
                  <a:pt x="75437" y="272542"/>
                </a:lnTo>
                <a:lnTo>
                  <a:pt x="70612" y="266750"/>
                </a:lnTo>
                <a:close/>
              </a:path>
              <a:path w="141604" h="287020">
                <a:moveTo>
                  <a:pt x="76962" y="259130"/>
                </a:moveTo>
                <a:lnTo>
                  <a:pt x="70612" y="266750"/>
                </a:lnTo>
                <a:lnTo>
                  <a:pt x="75437" y="272542"/>
                </a:lnTo>
                <a:lnTo>
                  <a:pt x="76962" y="272542"/>
                </a:lnTo>
                <a:lnTo>
                  <a:pt x="76962" y="259130"/>
                </a:lnTo>
                <a:close/>
              </a:path>
              <a:path w="141604" h="287020">
                <a:moveTo>
                  <a:pt x="76962" y="0"/>
                </a:moveTo>
                <a:lnTo>
                  <a:pt x="64262" y="0"/>
                </a:lnTo>
                <a:lnTo>
                  <a:pt x="64262" y="259130"/>
                </a:lnTo>
                <a:lnTo>
                  <a:pt x="70612" y="266750"/>
                </a:lnTo>
                <a:lnTo>
                  <a:pt x="76962" y="259130"/>
                </a:lnTo>
                <a:lnTo>
                  <a:pt x="769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08908" y="5423915"/>
            <a:ext cx="141605" cy="287020"/>
          </a:xfrm>
          <a:custGeom>
            <a:avLst/>
            <a:gdLst/>
            <a:ahLst/>
            <a:cxnLst/>
            <a:rect l="l" t="t" r="r" b="b"/>
            <a:pathLst>
              <a:path w="141604" h="287020">
                <a:moveTo>
                  <a:pt x="5714" y="193281"/>
                </a:moveTo>
                <a:lnTo>
                  <a:pt x="380" y="197777"/>
                </a:lnTo>
                <a:lnTo>
                  <a:pt x="0" y="201777"/>
                </a:lnTo>
                <a:lnTo>
                  <a:pt x="2286" y="204470"/>
                </a:lnTo>
                <a:lnTo>
                  <a:pt x="70612" y="286524"/>
                </a:lnTo>
                <a:lnTo>
                  <a:pt x="78871" y="276606"/>
                </a:lnTo>
                <a:lnTo>
                  <a:pt x="64262" y="276606"/>
                </a:lnTo>
                <a:lnTo>
                  <a:pt x="64262" y="259130"/>
                </a:lnTo>
                <a:lnTo>
                  <a:pt x="11937" y="196342"/>
                </a:lnTo>
                <a:lnTo>
                  <a:pt x="9778" y="193649"/>
                </a:lnTo>
                <a:lnTo>
                  <a:pt x="5714" y="193281"/>
                </a:lnTo>
                <a:close/>
              </a:path>
              <a:path w="141604" h="287020">
                <a:moveTo>
                  <a:pt x="64262" y="259130"/>
                </a:moveTo>
                <a:lnTo>
                  <a:pt x="64262" y="276606"/>
                </a:lnTo>
                <a:lnTo>
                  <a:pt x="76962" y="276606"/>
                </a:lnTo>
                <a:lnTo>
                  <a:pt x="76962" y="272542"/>
                </a:lnTo>
                <a:lnTo>
                  <a:pt x="65786" y="272542"/>
                </a:lnTo>
                <a:lnTo>
                  <a:pt x="70612" y="266750"/>
                </a:lnTo>
                <a:lnTo>
                  <a:pt x="64262" y="259130"/>
                </a:lnTo>
                <a:close/>
              </a:path>
              <a:path w="141604" h="287020">
                <a:moveTo>
                  <a:pt x="135508" y="193281"/>
                </a:moveTo>
                <a:lnTo>
                  <a:pt x="131444" y="193649"/>
                </a:lnTo>
                <a:lnTo>
                  <a:pt x="129286" y="196342"/>
                </a:lnTo>
                <a:lnTo>
                  <a:pt x="76962" y="259130"/>
                </a:lnTo>
                <a:lnTo>
                  <a:pt x="76962" y="276606"/>
                </a:lnTo>
                <a:lnTo>
                  <a:pt x="78871" y="276606"/>
                </a:lnTo>
                <a:lnTo>
                  <a:pt x="138937" y="204470"/>
                </a:lnTo>
                <a:lnTo>
                  <a:pt x="141224" y="201777"/>
                </a:lnTo>
                <a:lnTo>
                  <a:pt x="140842" y="197764"/>
                </a:lnTo>
                <a:lnTo>
                  <a:pt x="135508" y="193281"/>
                </a:lnTo>
                <a:close/>
              </a:path>
              <a:path w="141604" h="287020">
                <a:moveTo>
                  <a:pt x="70612" y="266750"/>
                </a:moveTo>
                <a:lnTo>
                  <a:pt x="65786" y="272542"/>
                </a:lnTo>
                <a:lnTo>
                  <a:pt x="75437" y="272542"/>
                </a:lnTo>
                <a:lnTo>
                  <a:pt x="70612" y="266750"/>
                </a:lnTo>
                <a:close/>
              </a:path>
              <a:path w="141604" h="287020">
                <a:moveTo>
                  <a:pt x="76962" y="259130"/>
                </a:moveTo>
                <a:lnTo>
                  <a:pt x="70612" y="266750"/>
                </a:lnTo>
                <a:lnTo>
                  <a:pt x="75437" y="272542"/>
                </a:lnTo>
                <a:lnTo>
                  <a:pt x="76962" y="272542"/>
                </a:lnTo>
                <a:lnTo>
                  <a:pt x="76962" y="259130"/>
                </a:lnTo>
                <a:close/>
              </a:path>
              <a:path w="141604" h="287020">
                <a:moveTo>
                  <a:pt x="76962" y="0"/>
                </a:moveTo>
                <a:lnTo>
                  <a:pt x="64262" y="0"/>
                </a:lnTo>
                <a:lnTo>
                  <a:pt x="64262" y="259130"/>
                </a:lnTo>
                <a:lnTo>
                  <a:pt x="70612" y="266750"/>
                </a:lnTo>
                <a:lnTo>
                  <a:pt x="76962" y="259130"/>
                </a:lnTo>
                <a:lnTo>
                  <a:pt x="769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703129" y="5777293"/>
            <a:ext cx="161925" cy="16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31691" y="570585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6" y="104231"/>
                </a:lnTo>
                <a:lnTo>
                  <a:pt x="29394" y="62396"/>
                </a:lnTo>
                <a:lnTo>
                  <a:pt x="62380" y="29405"/>
                </a:lnTo>
                <a:lnTo>
                  <a:pt x="104217" y="7769"/>
                </a:lnTo>
                <a:lnTo>
                  <a:pt x="152400" y="0"/>
                </a:lnTo>
                <a:lnTo>
                  <a:pt x="200582" y="7769"/>
                </a:lnTo>
                <a:lnTo>
                  <a:pt x="242419" y="29405"/>
                </a:lnTo>
                <a:lnTo>
                  <a:pt x="275405" y="62396"/>
                </a:lnTo>
                <a:lnTo>
                  <a:pt x="297033" y="104231"/>
                </a:lnTo>
                <a:lnTo>
                  <a:pt x="304800" y="152400"/>
                </a:lnTo>
                <a:lnTo>
                  <a:pt x="297033" y="200568"/>
                </a:lnTo>
                <a:lnTo>
                  <a:pt x="275405" y="242403"/>
                </a:lnTo>
                <a:lnTo>
                  <a:pt x="242419" y="275394"/>
                </a:lnTo>
                <a:lnTo>
                  <a:pt x="200582" y="297030"/>
                </a:lnTo>
                <a:lnTo>
                  <a:pt x="152400" y="304800"/>
                </a:lnTo>
                <a:lnTo>
                  <a:pt x="104217" y="297030"/>
                </a:lnTo>
                <a:lnTo>
                  <a:pt x="62380" y="275394"/>
                </a:lnTo>
                <a:lnTo>
                  <a:pt x="29394" y="242403"/>
                </a:lnTo>
                <a:lnTo>
                  <a:pt x="7766" y="200568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703129" y="2682049"/>
            <a:ext cx="161925" cy="1619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399157" y="3246246"/>
            <a:ext cx="2536825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[slope!=1.slope]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Arial"/>
              <a:cs typeface="Arial"/>
            </a:endParaRPr>
          </a:p>
          <a:p>
            <a:pPr marL="23876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x=(1.delta-delta)/(slope-1.slope)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</a:t>
            </a:r>
            <a:r>
              <a:rPr spc="5" dirty="0"/>
              <a:t>与</a:t>
            </a:r>
            <a:r>
              <a:rPr dirty="0">
                <a:latin typeface="Calibri"/>
                <a:cs typeface="Calibri"/>
              </a:rPr>
              <a:t>UM</a:t>
            </a:r>
            <a:r>
              <a:rPr spc="-5" dirty="0">
                <a:latin typeface="Calibri"/>
                <a:cs typeface="Calibri"/>
              </a:rPr>
              <a:t>L</a:t>
            </a:r>
            <a:r>
              <a:rPr dirty="0"/>
              <a:t>建</a:t>
            </a:r>
            <a:r>
              <a:rPr spc="-5" dirty="0"/>
              <a:t>模</a:t>
            </a:r>
            <a:r>
              <a:rPr spc="-5" dirty="0">
                <a:latin typeface="Calibri"/>
                <a:cs typeface="Calibri"/>
              </a:rPr>
              <a:t>(4)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75" y="665603"/>
            <a:ext cx="3250565" cy="55860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动态模型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2.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宋体"/>
                <a:cs typeface="宋体"/>
              </a:rPr>
              <a:t>顺序图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2.1.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顺序图概念与表示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2.2.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顺序图的建立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3.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协作图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3.1.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协作图概念与表示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3.2.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协作图的用途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4.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状态图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4.1.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状态图概念与表示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4.2.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状态图的建立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5.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活动图</a:t>
            </a:r>
            <a:endParaRPr sz="24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5.1.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活动图概念与表示</a:t>
            </a:r>
            <a:endParaRPr sz="20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5.2.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活动图应用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6.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建立动态模型示例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702" y="207009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建立动态模型示例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47217" y="1424762"/>
            <a:ext cx="68389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从一个用例中抽取三类</a:t>
            </a:r>
            <a:r>
              <a:rPr sz="3200" spc="-15" dirty="0">
                <a:latin typeface="宋体"/>
                <a:cs typeface="宋体"/>
              </a:rPr>
              <a:t>对</a:t>
            </a:r>
            <a:r>
              <a:rPr sz="3200" dirty="0">
                <a:latin typeface="宋体"/>
                <a:cs typeface="宋体"/>
              </a:rPr>
              <a:t>象的</a:t>
            </a:r>
            <a:r>
              <a:rPr sz="3200" spc="-15" dirty="0">
                <a:latin typeface="宋体"/>
                <a:cs typeface="宋体"/>
              </a:rPr>
              <a:t>方</a:t>
            </a:r>
            <a:r>
              <a:rPr sz="3200" spc="10" dirty="0">
                <a:latin typeface="宋体"/>
                <a:cs typeface="宋体"/>
              </a:rPr>
              <a:t>法</a:t>
            </a:r>
            <a:r>
              <a:rPr sz="2000" spc="5" dirty="0"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0391" y="3131029"/>
            <a:ext cx="5478780" cy="2021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702" y="207009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建立动态模型示例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75640" y="1312615"/>
            <a:ext cx="4687570" cy="452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02260" indent="-457200">
              <a:lnSpc>
                <a:spcPct val="125099"/>
              </a:lnSpc>
              <a:spcBef>
                <a:spcPts val="100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10" dirty="0">
                <a:latin typeface="宋体"/>
                <a:cs typeface="宋体"/>
              </a:rPr>
              <a:t>将应</a:t>
            </a:r>
            <a:r>
              <a:rPr sz="2800" spc="-5" dirty="0">
                <a:latin typeface="宋体"/>
                <a:cs typeface="宋体"/>
              </a:rPr>
              <a:t>用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边界类</a:t>
            </a:r>
            <a:r>
              <a:rPr sz="2800" spc="-10" dirty="0">
                <a:latin typeface="宋体"/>
                <a:cs typeface="宋体"/>
              </a:rPr>
              <a:t>、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控制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和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实体类</a:t>
            </a:r>
            <a:endParaRPr sz="2800">
              <a:latin typeface="宋体"/>
              <a:cs typeface="宋体"/>
            </a:endParaRPr>
          </a:p>
          <a:p>
            <a:pPr marL="812165" marR="132715" lvl="1" indent="-342900" algn="just">
              <a:lnSpc>
                <a:spcPct val="125000"/>
              </a:lnSpc>
              <a:spcBef>
                <a:spcPts val="64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812800" algn="l"/>
              </a:tabLst>
            </a:pPr>
            <a:r>
              <a:rPr sz="2400" dirty="0">
                <a:latin typeface="宋体"/>
                <a:cs typeface="宋体"/>
              </a:rPr>
              <a:t>边界类</a:t>
            </a:r>
            <a:r>
              <a:rPr sz="2400" spc="-70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：描述外部参与者与 </a:t>
            </a:r>
            <a:r>
              <a:rPr sz="2400" spc="-5" dirty="0">
                <a:latin typeface="宋体"/>
                <a:cs typeface="宋体"/>
              </a:rPr>
              <a:t>系统之间的交互</a:t>
            </a:r>
            <a:endParaRPr sz="2400">
              <a:latin typeface="宋体"/>
              <a:cs typeface="宋体"/>
            </a:endParaRPr>
          </a:p>
          <a:p>
            <a:pPr marL="812165" marR="5080" lvl="1" indent="-342900" algn="just">
              <a:lnSpc>
                <a:spcPct val="125000"/>
              </a:lnSpc>
              <a:spcBef>
                <a:spcPts val="580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812800" algn="l"/>
              </a:tabLst>
            </a:pPr>
            <a:r>
              <a:rPr sz="2400" dirty="0">
                <a:latin typeface="宋体"/>
                <a:cs typeface="宋体"/>
              </a:rPr>
              <a:t>实体类：存储和管理系统内 部的信息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00A361"/>
                </a:solidFill>
                <a:latin typeface="宋体"/>
                <a:cs typeface="宋体"/>
              </a:rPr>
              <a:t>持久存储体</a:t>
            </a:r>
            <a:r>
              <a:rPr sz="2400" dirty="0">
                <a:latin typeface="宋体"/>
                <a:cs typeface="宋体"/>
              </a:rPr>
              <a:t>的信息</a:t>
            </a:r>
            <a:r>
              <a:rPr sz="240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812165" marR="208915" lvl="1" indent="-342900" algn="just">
              <a:lnSpc>
                <a:spcPct val="125000"/>
              </a:lnSpc>
              <a:spcBef>
                <a:spcPts val="575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812800" algn="l"/>
              </a:tabLst>
            </a:pPr>
            <a:r>
              <a:rPr sz="2400" spc="-5" dirty="0">
                <a:latin typeface="宋体"/>
                <a:cs typeface="宋体"/>
              </a:rPr>
              <a:t>控制类：描述一个用例所具 </a:t>
            </a:r>
            <a:r>
              <a:rPr sz="2400" dirty="0">
                <a:latin typeface="宋体"/>
                <a:cs typeface="宋体"/>
              </a:rPr>
              <a:t>有的事件流控制行为，控制 一个用例中的事件顺序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647" y="1906523"/>
            <a:ext cx="3531107" cy="3044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010" y="127762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从事件流开始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22538" y="1064107"/>
            <a:ext cx="6544454" cy="48920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0501" y="53467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寻找边界对象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99389" y="846836"/>
            <a:ext cx="7799070" cy="520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25000"/>
              </a:lnSpc>
              <a:spcBef>
                <a:spcPts val="100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图书管理员向系统发出“新增书籍信息”请</a:t>
            </a:r>
            <a:r>
              <a:rPr sz="2400" spc="5" dirty="0">
                <a:latin typeface="宋体"/>
                <a:cs typeface="宋体"/>
              </a:rPr>
              <a:t>求</a:t>
            </a:r>
            <a:r>
              <a:rPr sz="2400" dirty="0">
                <a:latin typeface="Times New Roman"/>
                <a:cs typeface="Times New Roman"/>
              </a:rPr>
              <a:t>——</a:t>
            </a:r>
            <a:r>
              <a:rPr sz="2400" dirty="0">
                <a:latin typeface="宋体"/>
                <a:cs typeface="宋体"/>
              </a:rPr>
              <a:t>主窗 口、“新增书籍信息”按钮</a:t>
            </a:r>
            <a:endParaRPr sz="2400">
              <a:latin typeface="宋体"/>
              <a:cs typeface="宋体"/>
            </a:endParaRPr>
          </a:p>
          <a:p>
            <a:pPr marL="469900" marR="5715" indent="-457834">
              <a:lnSpc>
                <a:spcPct val="125000"/>
              </a:lnSpc>
              <a:spcBef>
                <a:spcPts val="575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系统要求图书管理员选择要新增的书籍是计算机类还是 非计算机</a:t>
            </a:r>
            <a:r>
              <a:rPr sz="2400" spc="-5" dirty="0">
                <a:latin typeface="宋体"/>
                <a:cs typeface="宋体"/>
              </a:rPr>
              <a:t>类</a:t>
            </a:r>
            <a:r>
              <a:rPr sz="2400" dirty="0">
                <a:latin typeface="Times New Roman"/>
                <a:cs typeface="Times New Roman"/>
              </a:rPr>
              <a:t>——</a:t>
            </a:r>
            <a:r>
              <a:rPr sz="2400" dirty="0">
                <a:latin typeface="宋体"/>
                <a:cs typeface="宋体"/>
              </a:rPr>
              <a:t>书籍类别列表框。</a:t>
            </a:r>
            <a:endParaRPr sz="2400">
              <a:latin typeface="宋体"/>
              <a:cs typeface="宋体"/>
            </a:endParaRPr>
          </a:p>
          <a:p>
            <a:pPr marL="469900" marR="4272915" indent="-457834">
              <a:lnSpc>
                <a:spcPct val="125000"/>
              </a:lnSpc>
              <a:spcBef>
                <a:spcPts val="580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2400" spc="-5" dirty="0">
                <a:latin typeface="宋体"/>
                <a:cs typeface="宋体"/>
              </a:rPr>
              <a:t>图书管理员做出选择 </a:t>
            </a:r>
            <a:r>
              <a:rPr sz="2400" dirty="0">
                <a:latin typeface="宋体"/>
                <a:cs typeface="宋体"/>
              </a:rPr>
              <a:t>后，显示相应界面，  让图书管理员输入信 息，并自动根据书号 规则生成书号</a:t>
            </a:r>
            <a:r>
              <a:rPr sz="2400" dirty="0">
                <a:latin typeface="Times New Roman"/>
                <a:cs typeface="Times New Roman"/>
              </a:rPr>
              <a:t>——  </a:t>
            </a:r>
            <a:r>
              <a:rPr sz="2400" dirty="0">
                <a:latin typeface="宋体"/>
                <a:cs typeface="宋体"/>
              </a:rPr>
              <a:t>“新书信息录入”窗口 及辅助的“提交”按钮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52367" y="3191255"/>
            <a:ext cx="4520944" cy="27755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107" y="6425590"/>
            <a:ext cx="15748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663B"/>
                </a:solidFill>
                <a:latin typeface="华文行楷"/>
                <a:cs typeface="华文行楷"/>
              </a:rPr>
              <a:t>软件需求工程</a:t>
            </a:r>
            <a:r>
              <a:rPr sz="1600" spc="-20" dirty="0">
                <a:solidFill>
                  <a:srgbClr val="00663B"/>
                </a:solidFill>
                <a:latin typeface="华文行楷"/>
                <a:cs typeface="华文行楷"/>
              </a:rPr>
              <a:t>与</a:t>
            </a:r>
            <a:r>
              <a:rPr sz="1600" spc="-5" dirty="0">
                <a:solidFill>
                  <a:srgbClr val="00663B"/>
                </a:solidFill>
                <a:latin typeface="Calibri"/>
                <a:cs typeface="Calibri"/>
              </a:rPr>
              <a:t>U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3084" y="6478423"/>
            <a:ext cx="664845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600" spc="-5" dirty="0">
                <a:solidFill>
                  <a:srgbClr val="00663B"/>
                </a:solidFill>
                <a:latin typeface="Calibri"/>
                <a:cs typeface="Calibri"/>
              </a:rPr>
              <a:t>M</a:t>
            </a:r>
            <a:r>
              <a:rPr sz="1600" spc="-10" dirty="0">
                <a:solidFill>
                  <a:srgbClr val="00663B"/>
                </a:solidFill>
                <a:latin typeface="Calibri"/>
                <a:cs typeface="Calibri"/>
              </a:rPr>
              <a:t>L</a:t>
            </a:r>
            <a:r>
              <a:rPr sz="1600" spc="-5" dirty="0">
                <a:solidFill>
                  <a:srgbClr val="00663B"/>
                </a:solidFill>
                <a:latin typeface="华文行楷"/>
                <a:cs typeface="华文行楷"/>
              </a:rPr>
              <a:t>建模</a:t>
            </a:r>
            <a:endParaRPr sz="1600">
              <a:latin typeface="华文行楷"/>
              <a:cs typeface="华文行楷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62505" y="169290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寻找控制对象和实体对象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385063" y="948588"/>
            <a:ext cx="7764780" cy="162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25000"/>
              </a:lnSpc>
              <a:spcBef>
                <a:spcPts val="100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根据事件流中的步</a:t>
            </a:r>
            <a:r>
              <a:rPr sz="2800" dirty="0">
                <a:latin typeface="宋体"/>
                <a:cs typeface="宋体"/>
              </a:rPr>
              <a:t>骤</a:t>
            </a:r>
            <a:r>
              <a:rPr sz="2800" dirty="0">
                <a:latin typeface="Times New Roman"/>
                <a:cs typeface="Times New Roman"/>
              </a:rPr>
              <a:t>5</a:t>
            </a:r>
            <a:r>
              <a:rPr sz="2800" spc="-5" dirty="0">
                <a:latin typeface="宋体"/>
                <a:cs typeface="宋体"/>
              </a:rPr>
              <a:t>，以及扩展路径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描述， 就可以在原图上增加相应的控制对</a:t>
            </a:r>
            <a:r>
              <a:rPr sz="2800" dirty="0"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，得</a:t>
            </a:r>
            <a:r>
              <a:rPr sz="2800" dirty="0">
                <a:latin typeface="宋体"/>
                <a:cs typeface="宋体"/>
              </a:rPr>
              <a:t>到</a:t>
            </a:r>
            <a:r>
              <a:rPr sz="2800" spc="-5" dirty="0">
                <a:latin typeface="宋体"/>
                <a:cs typeface="宋体"/>
              </a:rPr>
              <a:t>更 进一步的分析图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20011" y="2781300"/>
            <a:ext cx="5971032" cy="388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76878" y="3751326"/>
            <a:ext cx="4231005" cy="2836545"/>
          </a:xfrm>
          <a:custGeom>
            <a:avLst/>
            <a:gdLst/>
            <a:ahLst/>
            <a:cxnLst/>
            <a:rect l="l" t="t" r="r" b="b"/>
            <a:pathLst>
              <a:path w="4231005" h="2836545">
                <a:moveTo>
                  <a:pt x="0" y="1418082"/>
                </a:moveTo>
                <a:lnTo>
                  <a:pt x="760" y="1379685"/>
                </a:lnTo>
                <a:lnTo>
                  <a:pt x="3028" y="1341540"/>
                </a:lnTo>
                <a:lnTo>
                  <a:pt x="12011" y="1266058"/>
                </a:lnTo>
                <a:lnTo>
                  <a:pt x="26796" y="1191739"/>
                </a:lnTo>
                <a:lnTo>
                  <a:pt x="47229" y="1118685"/>
                </a:lnTo>
                <a:lnTo>
                  <a:pt x="73155" y="1047000"/>
                </a:lnTo>
                <a:lnTo>
                  <a:pt x="88131" y="1011702"/>
                </a:lnTo>
                <a:lnTo>
                  <a:pt x="104423" y="976785"/>
                </a:lnTo>
                <a:lnTo>
                  <a:pt x="122012" y="942262"/>
                </a:lnTo>
                <a:lnTo>
                  <a:pt x="140878" y="908145"/>
                </a:lnTo>
                <a:lnTo>
                  <a:pt x="161003" y="874447"/>
                </a:lnTo>
                <a:lnTo>
                  <a:pt x="182367" y="841182"/>
                </a:lnTo>
                <a:lnTo>
                  <a:pt x="204951" y="808361"/>
                </a:lnTo>
                <a:lnTo>
                  <a:pt x="228736" y="775998"/>
                </a:lnTo>
                <a:lnTo>
                  <a:pt x="253703" y="744106"/>
                </a:lnTo>
                <a:lnTo>
                  <a:pt x="279833" y="712698"/>
                </a:lnTo>
                <a:lnTo>
                  <a:pt x="307105" y="681785"/>
                </a:lnTo>
                <a:lnTo>
                  <a:pt x="335502" y="651383"/>
                </a:lnTo>
                <a:lnTo>
                  <a:pt x="365004" y="621502"/>
                </a:lnTo>
                <a:lnTo>
                  <a:pt x="395592" y="592156"/>
                </a:lnTo>
                <a:lnTo>
                  <a:pt x="427246" y="563358"/>
                </a:lnTo>
                <a:lnTo>
                  <a:pt x="459948" y="535121"/>
                </a:lnTo>
                <a:lnTo>
                  <a:pt x="493678" y="507457"/>
                </a:lnTo>
                <a:lnTo>
                  <a:pt x="528417" y="480380"/>
                </a:lnTo>
                <a:lnTo>
                  <a:pt x="564146" y="453902"/>
                </a:lnTo>
                <a:lnTo>
                  <a:pt x="600845" y="428036"/>
                </a:lnTo>
                <a:lnTo>
                  <a:pt x="638496" y="402796"/>
                </a:lnTo>
                <a:lnTo>
                  <a:pt x="677080" y="378193"/>
                </a:lnTo>
                <a:lnTo>
                  <a:pt x="716576" y="354241"/>
                </a:lnTo>
                <a:lnTo>
                  <a:pt x="756967" y="330952"/>
                </a:lnTo>
                <a:lnTo>
                  <a:pt x="798232" y="308340"/>
                </a:lnTo>
                <a:lnTo>
                  <a:pt x="840353" y="286418"/>
                </a:lnTo>
                <a:lnTo>
                  <a:pt x="883310" y="265197"/>
                </a:lnTo>
                <a:lnTo>
                  <a:pt x="927084" y="244692"/>
                </a:lnTo>
                <a:lnTo>
                  <a:pt x="971656" y="224914"/>
                </a:lnTo>
                <a:lnTo>
                  <a:pt x="1017008" y="205877"/>
                </a:lnTo>
                <a:lnTo>
                  <a:pt x="1063118" y="187594"/>
                </a:lnTo>
                <a:lnTo>
                  <a:pt x="1109970" y="170077"/>
                </a:lnTo>
                <a:lnTo>
                  <a:pt x="1157542" y="153340"/>
                </a:lnTo>
                <a:lnTo>
                  <a:pt x="1205817" y="137395"/>
                </a:lnTo>
                <a:lnTo>
                  <a:pt x="1254774" y="122255"/>
                </a:lnTo>
                <a:lnTo>
                  <a:pt x="1304395" y="107933"/>
                </a:lnTo>
                <a:lnTo>
                  <a:pt x="1354661" y="94442"/>
                </a:lnTo>
                <a:lnTo>
                  <a:pt x="1405552" y="81794"/>
                </a:lnTo>
                <a:lnTo>
                  <a:pt x="1457049" y="70003"/>
                </a:lnTo>
                <a:lnTo>
                  <a:pt x="1509133" y="59081"/>
                </a:lnTo>
                <a:lnTo>
                  <a:pt x="1561785" y="49042"/>
                </a:lnTo>
                <a:lnTo>
                  <a:pt x="1614986" y="39897"/>
                </a:lnTo>
                <a:lnTo>
                  <a:pt x="1668716" y="31661"/>
                </a:lnTo>
                <a:lnTo>
                  <a:pt x="1722956" y="24345"/>
                </a:lnTo>
                <a:lnTo>
                  <a:pt x="1777687" y="17963"/>
                </a:lnTo>
                <a:lnTo>
                  <a:pt x="1832890" y="12528"/>
                </a:lnTo>
                <a:lnTo>
                  <a:pt x="1888546" y="8052"/>
                </a:lnTo>
                <a:lnTo>
                  <a:pt x="1944635" y="4548"/>
                </a:lnTo>
                <a:lnTo>
                  <a:pt x="2001138" y="2030"/>
                </a:lnTo>
                <a:lnTo>
                  <a:pt x="2058037" y="509"/>
                </a:lnTo>
                <a:lnTo>
                  <a:pt x="2115312" y="0"/>
                </a:lnTo>
                <a:lnTo>
                  <a:pt x="2172586" y="509"/>
                </a:lnTo>
                <a:lnTo>
                  <a:pt x="2229485" y="2030"/>
                </a:lnTo>
                <a:lnTo>
                  <a:pt x="2285988" y="4548"/>
                </a:lnTo>
                <a:lnTo>
                  <a:pt x="2342077" y="8052"/>
                </a:lnTo>
                <a:lnTo>
                  <a:pt x="2397733" y="12528"/>
                </a:lnTo>
                <a:lnTo>
                  <a:pt x="2452936" y="17963"/>
                </a:lnTo>
                <a:lnTo>
                  <a:pt x="2507667" y="24345"/>
                </a:lnTo>
                <a:lnTo>
                  <a:pt x="2561907" y="31661"/>
                </a:lnTo>
                <a:lnTo>
                  <a:pt x="2615637" y="39897"/>
                </a:lnTo>
                <a:lnTo>
                  <a:pt x="2668838" y="49042"/>
                </a:lnTo>
                <a:lnTo>
                  <a:pt x="2721490" y="59081"/>
                </a:lnTo>
                <a:lnTo>
                  <a:pt x="2773574" y="70003"/>
                </a:lnTo>
                <a:lnTo>
                  <a:pt x="2825071" y="81794"/>
                </a:lnTo>
                <a:lnTo>
                  <a:pt x="2875962" y="94442"/>
                </a:lnTo>
                <a:lnTo>
                  <a:pt x="2926228" y="107933"/>
                </a:lnTo>
                <a:lnTo>
                  <a:pt x="2975849" y="122255"/>
                </a:lnTo>
                <a:lnTo>
                  <a:pt x="3024806" y="137395"/>
                </a:lnTo>
                <a:lnTo>
                  <a:pt x="3073081" y="153340"/>
                </a:lnTo>
                <a:lnTo>
                  <a:pt x="3120653" y="170077"/>
                </a:lnTo>
                <a:lnTo>
                  <a:pt x="3167505" y="187594"/>
                </a:lnTo>
                <a:lnTo>
                  <a:pt x="3213615" y="205877"/>
                </a:lnTo>
                <a:lnTo>
                  <a:pt x="3258967" y="224914"/>
                </a:lnTo>
                <a:lnTo>
                  <a:pt x="3303539" y="244692"/>
                </a:lnTo>
                <a:lnTo>
                  <a:pt x="3347313" y="265197"/>
                </a:lnTo>
                <a:lnTo>
                  <a:pt x="3390270" y="286418"/>
                </a:lnTo>
                <a:lnTo>
                  <a:pt x="3432391" y="308340"/>
                </a:lnTo>
                <a:lnTo>
                  <a:pt x="3473656" y="330952"/>
                </a:lnTo>
                <a:lnTo>
                  <a:pt x="3514047" y="354241"/>
                </a:lnTo>
                <a:lnTo>
                  <a:pt x="3553543" y="378193"/>
                </a:lnTo>
                <a:lnTo>
                  <a:pt x="3592127" y="402796"/>
                </a:lnTo>
                <a:lnTo>
                  <a:pt x="3629778" y="428036"/>
                </a:lnTo>
                <a:lnTo>
                  <a:pt x="3666477" y="453902"/>
                </a:lnTo>
                <a:lnTo>
                  <a:pt x="3702206" y="480380"/>
                </a:lnTo>
                <a:lnTo>
                  <a:pt x="3736945" y="507457"/>
                </a:lnTo>
                <a:lnTo>
                  <a:pt x="3770675" y="535121"/>
                </a:lnTo>
                <a:lnTo>
                  <a:pt x="3803377" y="563358"/>
                </a:lnTo>
                <a:lnTo>
                  <a:pt x="3835031" y="592156"/>
                </a:lnTo>
                <a:lnTo>
                  <a:pt x="3865619" y="621502"/>
                </a:lnTo>
                <a:lnTo>
                  <a:pt x="3895121" y="651383"/>
                </a:lnTo>
                <a:lnTo>
                  <a:pt x="3923518" y="681785"/>
                </a:lnTo>
                <a:lnTo>
                  <a:pt x="3950790" y="712698"/>
                </a:lnTo>
                <a:lnTo>
                  <a:pt x="3976920" y="744106"/>
                </a:lnTo>
                <a:lnTo>
                  <a:pt x="4001887" y="775998"/>
                </a:lnTo>
                <a:lnTo>
                  <a:pt x="4025672" y="808361"/>
                </a:lnTo>
                <a:lnTo>
                  <a:pt x="4048256" y="841182"/>
                </a:lnTo>
                <a:lnTo>
                  <a:pt x="4069620" y="874447"/>
                </a:lnTo>
                <a:lnTo>
                  <a:pt x="4089745" y="908145"/>
                </a:lnTo>
                <a:lnTo>
                  <a:pt x="4108611" y="942262"/>
                </a:lnTo>
                <a:lnTo>
                  <a:pt x="4126200" y="976785"/>
                </a:lnTo>
                <a:lnTo>
                  <a:pt x="4142492" y="1011702"/>
                </a:lnTo>
                <a:lnTo>
                  <a:pt x="4157468" y="1047000"/>
                </a:lnTo>
                <a:lnTo>
                  <a:pt x="4171108" y="1082665"/>
                </a:lnTo>
                <a:lnTo>
                  <a:pt x="4194307" y="1155047"/>
                </a:lnTo>
                <a:lnTo>
                  <a:pt x="4211935" y="1228747"/>
                </a:lnTo>
                <a:lnTo>
                  <a:pt x="4223838" y="1303660"/>
                </a:lnTo>
                <a:lnTo>
                  <a:pt x="4229863" y="1379685"/>
                </a:lnTo>
                <a:lnTo>
                  <a:pt x="4230624" y="1418082"/>
                </a:lnTo>
                <a:lnTo>
                  <a:pt x="4229863" y="1456477"/>
                </a:lnTo>
                <a:lnTo>
                  <a:pt x="4227595" y="1494621"/>
                </a:lnTo>
                <a:lnTo>
                  <a:pt x="4218612" y="1570100"/>
                </a:lnTo>
                <a:lnTo>
                  <a:pt x="4203827" y="1644418"/>
                </a:lnTo>
                <a:lnTo>
                  <a:pt x="4183394" y="1717470"/>
                </a:lnTo>
                <a:lnTo>
                  <a:pt x="4157468" y="1789155"/>
                </a:lnTo>
                <a:lnTo>
                  <a:pt x="4142492" y="1824452"/>
                </a:lnTo>
                <a:lnTo>
                  <a:pt x="4126200" y="1859368"/>
                </a:lnTo>
                <a:lnTo>
                  <a:pt x="4108611" y="1893891"/>
                </a:lnTo>
                <a:lnTo>
                  <a:pt x="4089745" y="1928008"/>
                </a:lnTo>
                <a:lnTo>
                  <a:pt x="4069620" y="1961705"/>
                </a:lnTo>
                <a:lnTo>
                  <a:pt x="4048256" y="1994970"/>
                </a:lnTo>
                <a:lnTo>
                  <a:pt x="4025672" y="2027791"/>
                </a:lnTo>
                <a:lnTo>
                  <a:pt x="4001887" y="2060154"/>
                </a:lnTo>
                <a:lnTo>
                  <a:pt x="3976920" y="2092046"/>
                </a:lnTo>
                <a:lnTo>
                  <a:pt x="3950790" y="2123454"/>
                </a:lnTo>
                <a:lnTo>
                  <a:pt x="3923518" y="2154366"/>
                </a:lnTo>
                <a:lnTo>
                  <a:pt x="3895121" y="2184769"/>
                </a:lnTo>
                <a:lnTo>
                  <a:pt x="3865619" y="2214650"/>
                </a:lnTo>
                <a:lnTo>
                  <a:pt x="3835031" y="2243996"/>
                </a:lnTo>
                <a:lnTo>
                  <a:pt x="3803377" y="2272794"/>
                </a:lnTo>
                <a:lnTo>
                  <a:pt x="3770675" y="2301031"/>
                </a:lnTo>
                <a:lnTo>
                  <a:pt x="3736945" y="2328695"/>
                </a:lnTo>
                <a:lnTo>
                  <a:pt x="3702206" y="2355773"/>
                </a:lnTo>
                <a:lnTo>
                  <a:pt x="3666477" y="2382251"/>
                </a:lnTo>
                <a:lnTo>
                  <a:pt x="3629778" y="2408117"/>
                </a:lnTo>
                <a:lnTo>
                  <a:pt x="3592127" y="2433358"/>
                </a:lnTo>
                <a:lnTo>
                  <a:pt x="3553543" y="2457961"/>
                </a:lnTo>
                <a:lnTo>
                  <a:pt x="3514047" y="2481914"/>
                </a:lnTo>
                <a:lnTo>
                  <a:pt x="3473656" y="2505202"/>
                </a:lnTo>
                <a:lnTo>
                  <a:pt x="3432391" y="2527815"/>
                </a:lnTo>
                <a:lnTo>
                  <a:pt x="3390270" y="2549738"/>
                </a:lnTo>
                <a:lnTo>
                  <a:pt x="3347313" y="2570959"/>
                </a:lnTo>
                <a:lnTo>
                  <a:pt x="3303539" y="2591465"/>
                </a:lnTo>
                <a:lnTo>
                  <a:pt x="3258967" y="2611243"/>
                </a:lnTo>
                <a:lnTo>
                  <a:pt x="3213615" y="2630280"/>
                </a:lnTo>
                <a:lnTo>
                  <a:pt x="3167505" y="2648563"/>
                </a:lnTo>
                <a:lnTo>
                  <a:pt x="3120653" y="2666080"/>
                </a:lnTo>
                <a:lnTo>
                  <a:pt x="3073081" y="2682818"/>
                </a:lnTo>
                <a:lnTo>
                  <a:pt x="3024806" y="2698764"/>
                </a:lnTo>
                <a:lnTo>
                  <a:pt x="2975849" y="2713904"/>
                </a:lnTo>
                <a:lnTo>
                  <a:pt x="2926228" y="2728227"/>
                </a:lnTo>
                <a:lnTo>
                  <a:pt x="2875962" y="2741718"/>
                </a:lnTo>
                <a:lnTo>
                  <a:pt x="2825071" y="2754366"/>
                </a:lnTo>
                <a:lnTo>
                  <a:pt x="2773574" y="2766158"/>
                </a:lnTo>
                <a:lnTo>
                  <a:pt x="2721490" y="2777080"/>
                </a:lnTo>
                <a:lnTo>
                  <a:pt x="2668838" y="2787120"/>
                </a:lnTo>
                <a:lnTo>
                  <a:pt x="2615637" y="2796264"/>
                </a:lnTo>
                <a:lnTo>
                  <a:pt x="2561907" y="2804501"/>
                </a:lnTo>
                <a:lnTo>
                  <a:pt x="2507667" y="2811817"/>
                </a:lnTo>
                <a:lnTo>
                  <a:pt x="2452936" y="2818199"/>
                </a:lnTo>
                <a:lnTo>
                  <a:pt x="2397733" y="2823635"/>
                </a:lnTo>
                <a:lnTo>
                  <a:pt x="2342077" y="2828111"/>
                </a:lnTo>
                <a:lnTo>
                  <a:pt x="2285988" y="2831614"/>
                </a:lnTo>
                <a:lnTo>
                  <a:pt x="2229485" y="2834133"/>
                </a:lnTo>
                <a:lnTo>
                  <a:pt x="2172586" y="2835654"/>
                </a:lnTo>
                <a:lnTo>
                  <a:pt x="2115312" y="2836164"/>
                </a:lnTo>
                <a:lnTo>
                  <a:pt x="2058037" y="2835654"/>
                </a:lnTo>
                <a:lnTo>
                  <a:pt x="2001138" y="2834133"/>
                </a:lnTo>
                <a:lnTo>
                  <a:pt x="1944635" y="2831614"/>
                </a:lnTo>
                <a:lnTo>
                  <a:pt x="1888546" y="2828111"/>
                </a:lnTo>
                <a:lnTo>
                  <a:pt x="1832890" y="2823635"/>
                </a:lnTo>
                <a:lnTo>
                  <a:pt x="1777687" y="2818199"/>
                </a:lnTo>
                <a:lnTo>
                  <a:pt x="1722956" y="2811817"/>
                </a:lnTo>
                <a:lnTo>
                  <a:pt x="1668716" y="2804501"/>
                </a:lnTo>
                <a:lnTo>
                  <a:pt x="1614986" y="2796264"/>
                </a:lnTo>
                <a:lnTo>
                  <a:pt x="1561785" y="2787120"/>
                </a:lnTo>
                <a:lnTo>
                  <a:pt x="1509133" y="2777080"/>
                </a:lnTo>
                <a:lnTo>
                  <a:pt x="1457049" y="2766158"/>
                </a:lnTo>
                <a:lnTo>
                  <a:pt x="1405552" y="2754366"/>
                </a:lnTo>
                <a:lnTo>
                  <a:pt x="1354661" y="2741718"/>
                </a:lnTo>
                <a:lnTo>
                  <a:pt x="1304395" y="2728227"/>
                </a:lnTo>
                <a:lnTo>
                  <a:pt x="1254774" y="2713904"/>
                </a:lnTo>
                <a:lnTo>
                  <a:pt x="1205817" y="2698764"/>
                </a:lnTo>
                <a:lnTo>
                  <a:pt x="1157542" y="2682818"/>
                </a:lnTo>
                <a:lnTo>
                  <a:pt x="1109970" y="2666080"/>
                </a:lnTo>
                <a:lnTo>
                  <a:pt x="1063118" y="2648563"/>
                </a:lnTo>
                <a:lnTo>
                  <a:pt x="1017008" y="2630280"/>
                </a:lnTo>
                <a:lnTo>
                  <a:pt x="971656" y="2611243"/>
                </a:lnTo>
                <a:lnTo>
                  <a:pt x="927084" y="2591465"/>
                </a:lnTo>
                <a:lnTo>
                  <a:pt x="883310" y="2570959"/>
                </a:lnTo>
                <a:lnTo>
                  <a:pt x="840353" y="2549738"/>
                </a:lnTo>
                <a:lnTo>
                  <a:pt x="798232" y="2527815"/>
                </a:lnTo>
                <a:lnTo>
                  <a:pt x="756967" y="2505202"/>
                </a:lnTo>
                <a:lnTo>
                  <a:pt x="716576" y="2481914"/>
                </a:lnTo>
                <a:lnTo>
                  <a:pt x="677080" y="2457961"/>
                </a:lnTo>
                <a:lnTo>
                  <a:pt x="638496" y="2433358"/>
                </a:lnTo>
                <a:lnTo>
                  <a:pt x="600845" y="2408117"/>
                </a:lnTo>
                <a:lnTo>
                  <a:pt x="564146" y="2382251"/>
                </a:lnTo>
                <a:lnTo>
                  <a:pt x="528417" y="2355773"/>
                </a:lnTo>
                <a:lnTo>
                  <a:pt x="493678" y="2328695"/>
                </a:lnTo>
                <a:lnTo>
                  <a:pt x="459948" y="2301031"/>
                </a:lnTo>
                <a:lnTo>
                  <a:pt x="427246" y="2272794"/>
                </a:lnTo>
                <a:lnTo>
                  <a:pt x="395592" y="2243996"/>
                </a:lnTo>
                <a:lnTo>
                  <a:pt x="365004" y="2214650"/>
                </a:lnTo>
                <a:lnTo>
                  <a:pt x="335502" y="2184769"/>
                </a:lnTo>
                <a:lnTo>
                  <a:pt x="307105" y="2154366"/>
                </a:lnTo>
                <a:lnTo>
                  <a:pt x="279833" y="2123454"/>
                </a:lnTo>
                <a:lnTo>
                  <a:pt x="253703" y="2092046"/>
                </a:lnTo>
                <a:lnTo>
                  <a:pt x="228736" y="2060154"/>
                </a:lnTo>
                <a:lnTo>
                  <a:pt x="204951" y="2027791"/>
                </a:lnTo>
                <a:lnTo>
                  <a:pt x="182367" y="1994970"/>
                </a:lnTo>
                <a:lnTo>
                  <a:pt x="161003" y="1961705"/>
                </a:lnTo>
                <a:lnTo>
                  <a:pt x="140878" y="1928008"/>
                </a:lnTo>
                <a:lnTo>
                  <a:pt x="122012" y="1893891"/>
                </a:lnTo>
                <a:lnTo>
                  <a:pt x="104423" y="1859368"/>
                </a:lnTo>
                <a:lnTo>
                  <a:pt x="88131" y="1824452"/>
                </a:lnTo>
                <a:lnTo>
                  <a:pt x="73155" y="1789155"/>
                </a:lnTo>
                <a:lnTo>
                  <a:pt x="59515" y="1753490"/>
                </a:lnTo>
                <a:lnTo>
                  <a:pt x="36316" y="1681109"/>
                </a:lnTo>
                <a:lnTo>
                  <a:pt x="18688" y="1607411"/>
                </a:lnTo>
                <a:lnTo>
                  <a:pt x="6785" y="1532499"/>
                </a:lnTo>
                <a:lnTo>
                  <a:pt x="760" y="1456477"/>
                </a:lnTo>
                <a:lnTo>
                  <a:pt x="0" y="141808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3613" y="252476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寻找控制对象和实体对象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27126" y="1076116"/>
            <a:ext cx="7799070" cy="1398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834" algn="just">
              <a:lnSpc>
                <a:spcPct val="125000"/>
              </a:lnSpc>
              <a:spcBef>
                <a:spcPts val="105"/>
              </a:spcBef>
              <a:buClr>
                <a:srgbClr val="00663B"/>
              </a:buClr>
              <a:buFont typeface="Wingdings"/>
              <a:buChar char=""/>
              <a:tabLst>
                <a:tab pos="470534" algn="l"/>
              </a:tabLst>
            </a:pPr>
            <a:r>
              <a:rPr sz="2400" spc="-5" dirty="0">
                <a:latin typeface="宋体"/>
                <a:cs typeface="宋体"/>
              </a:rPr>
              <a:t>新添两个逻辑：一是基本事件流中的步</a:t>
            </a:r>
            <a:r>
              <a:rPr sz="2400" spc="5" dirty="0">
                <a:latin typeface="宋体"/>
                <a:cs typeface="宋体"/>
              </a:rPr>
              <a:t>骤</a:t>
            </a:r>
            <a:r>
              <a:rPr sz="2400" spc="-5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宋体"/>
                <a:cs typeface="宋体"/>
              </a:rPr>
              <a:t>、</a:t>
            </a:r>
            <a:r>
              <a:rPr sz="2400" spc="-5" dirty="0">
                <a:latin typeface="Times New Roman"/>
                <a:cs typeface="Times New Roman"/>
              </a:rPr>
              <a:t>3</a:t>
            </a:r>
            <a:r>
              <a:rPr sz="2400" spc="-5" dirty="0">
                <a:latin typeface="宋体"/>
                <a:cs typeface="宋体"/>
              </a:rPr>
              <a:t>要求根据 </a:t>
            </a:r>
            <a:r>
              <a:rPr sz="2400" dirty="0">
                <a:latin typeface="宋体"/>
                <a:cs typeface="宋体"/>
              </a:rPr>
              <a:t>用户选择的类别，自动获得书号；二是当书名重复性检 查没有通过（有重名），则应返回要求其重输入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6755" y="2446020"/>
            <a:ext cx="6079235" cy="3933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90109" y="2873501"/>
            <a:ext cx="4105910" cy="1231900"/>
          </a:xfrm>
          <a:custGeom>
            <a:avLst/>
            <a:gdLst/>
            <a:ahLst/>
            <a:cxnLst/>
            <a:rect l="l" t="t" r="r" b="b"/>
            <a:pathLst>
              <a:path w="4105909" h="1231900">
                <a:moveTo>
                  <a:pt x="0" y="615696"/>
                </a:moveTo>
                <a:lnTo>
                  <a:pt x="4736" y="573548"/>
                </a:lnTo>
                <a:lnTo>
                  <a:pt x="18740" y="532162"/>
                </a:lnTo>
                <a:lnTo>
                  <a:pt x="41706" y="491629"/>
                </a:lnTo>
                <a:lnTo>
                  <a:pt x="73330" y="452040"/>
                </a:lnTo>
                <a:lnTo>
                  <a:pt x="113304" y="413488"/>
                </a:lnTo>
                <a:lnTo>
                  <a:pt x="161323" y="376064"/>
                </a:lnTo>
                <a:lnTo>
                  <a:pt x="217082" y="339861"/>
                </a:lnTo>
                <a:lnTo>
                  <a:pt x="280274" y="304969"/>
                </a:lnTo>
                <a:lnTo>
                  <a:pt x="314563" y="288044"/>
                </a:lnTo>
                <a:lnTo>
                  <a:pt x="350595" y="271481"/>
                </a:lnTo>
                <a:lnTo>
                  <a:pt x="388332" y="255292"/>
                </a:lnTo>
                <a:lnTo>
                  <a:pt x="427737" y="239488"/>
                </a:lnTo>
                <a:lnTo>
                  <a:pt x="468771" y="224081"/>
                </a:lnTo>
                <a:lnTo>
                  <a:pt x="511396" y="209082"/>
                </a:lnTo>
                <a:lnTo>
                  <a:pt x="555573" y="194503"/>
                </a:lnTo>
                <a:lnTo>
                  <a:pt x="601265" y="180355"/>
                </a:lnTo>
                <a:lnTo>
                  <a:pt x="648433" y="166650"/>
                </a:lnTo>
                <a:lnTo>
                  <a:pt x="697039" y="153399"/>
                </a:lnTo>
                <a:lnTo>
                  <a:pt x="747045" y="140614"/>
                </a:lnTo>
                <a:lnTo>
                  <a:pt x="798413" y="128306"/>
                </a:lnTo>
                <a:lnTo>
                  <a:pt x="851103" y="116486"/>
                </a:lnTo>
                <a:lnTo>
                  <a:pt x="905079" y="105167"/>
                </a:lnTo>
                <a:lnTo>
                  <a:pt x="960302" y="94359"/>
                </a:lnTo>
                <a:lnTo>
                  <a:pt x="1016733" y="84074"/>
                </a:lnTo>
                <a:lnTo>
                  <a:pt x="1074335" y="74323"/>
                </a:lnTo>
                <a:lnTo>
                  <a:pt x="1133069" y="65118"/>
                </a:lnTo>
                <a:lnTo>
                  <a:pt x="1192897" y="56471"/>
                </a:lnTo>
                <a:lnTo>
                  <a:pt x="1253781" y="48392"/>
                </a:lnTo>
                <a:lnTo>
                  <a:pt x="1315683" y="40894"/>
                </a:lnTo>
                <a:lnTo>
                  <a:pt x="1378563" y="33988"/>
                </a:lnTo>
                <a:lnTo>
                  <a:pt x="1442385" y="27685"/>
                </a:lnTo>
                <a:lnTo>
                  <a:pt x="1507110" y="21997"/>
                </a:lnTo>
                <a:lnTo>
                  <a:pt x="1572700" y="16935"/>
                </a:lnTo>
                <a:lnTo>
                  <a:pt x="1639116" y="12511"/>
                </a:lnTo>
                <a:lnTo>
                  <a:pt x="1706320" y="8736"/>
                </a:lnTo>
                <a:lnTo>
                  <a:pt x="1774274" y="5621"/>
                </a:lnTo>
                <a:lnTo>
                  <a:pt x="1842940" y="3179"/>
                </a:lnTo>
                <a:lnTo>
                  <a:pt x="1912280" y="1420"/>
                </a:lnTo>
                <a:lnTo>
                  <a:pt x="1982255" y="357"/>
                </a:lnTo>
                <a:lnTo>
                  <a:pt x="2052828" y="0"/>
                </a:lnTo>
                <a:lnTo>
                  <a:pt x="2123400" y="357"/>
                </a:lnTo>
                <a:lnTo>
                  <a:pt x="2193375" y="1420"/>
                </a:lnTo>
                <a:lnTo>
                  <a:pt x="2262715" y="3179"/>
                </a:lnTo>
                <a:lnTo>
                  <a:pt x="2331381" y="5621"/>
                </a:lnTo>
                <a:lnTo>
                  <a:pt x="2399335" y="8736"/>
                </a:lnTo>
                <a:lnTo>
                  <a:pt x="2466539" y="12511"/>
                </a:lnTo>
                <a:lnTo>
                  <a:pt x="2532955" y="16935"/>
                </a:lnTo>
                <a:lnTo>
                  <a:pt x="2598545" y="21997"/>
                </a:lnTo>
                <a:lnTo>
                  <a:pt x="2663270" y="27685"/>
                </a:lnTo>
                <a:lnTo>
                  <a:pt x="2727092" y="33988"/>
                </a:lnTo>
                <a:lnTo>
                  <a:pt x="2789972" y="40894"/>
                </a:lnTo>
                <a:lnTo>
                  <a:pt x="2851874" y="48392"/>
                </a:lnTo>
                <a:lnTo>
                  <a:pt x="2912758" y="56471"/>
                </a:lnTo>
                <a:lnTo>
                  <a:pt x="2972586" y="65118"/>
                </a:lnTo>
                <a:lnTo>
                  <a:pt x="3031320" y="74323"/>
                </a:lnTo>
                <a:lnTo>
                  <a:pt x="3088922" y="84073"/>
                </a:lnTo>
                <a:lnTo>
                  <a:pt x="3145353" y="94359"/>
                </a:lnTo>
                <a:lnTo>
                  <a:pt x="3200576" y="105167"/>
                </a:lnTo>
                <a:lnTo>
                  <a:pt x="3254552" y="116486"/>
                </a:lnTo>
                <a:lnTo>
                  <a:pt x="3307242" y="128306"/>
                </a:lnTo>
                <a:lnTo>
                  <a:pt x="3358610" y="140614"/>
                </a:lnTo>
                <a:lnTo>
                  <a:pt x="3408616" y="153399"/>
                </a:lnTo>
                <a:lnTo>
                  <a:pt x="3457222" y="166650"/>
                </a:lnTo>
                <a:lnTo>
                  <a:pt x="3504390" y="180355"/>
                </a:lnTo>
                <a:lnTo>
                  <a:pt x="3550082" y="194503"/>
                </a:lnTo>
                <a:lnTo>
                  <a:pt x="3594259" y="209082"/>
                </a:lnTo>
                <a:lnTo>
                  <a:pt x="3636884" y="224081"/>
                </a:lnTo>
                <a:lnTo>
                  <a:pt x="3677918" y="239488"/>
                </a:lnTo>
                <a:lnTo>
                  <a:pt x="3717323" y="255292"/>
                </a:lnTo>
                <a:lnTo>
                  <a:pt x="3755060" y="271481"/>
                </a:lnTo>
                <a:lnTo>
                  <a:pt x="3791092" y="288044"/>
                </a:lnTo>
                <a:lnTo>
                  <a:pt x="3825381" y="304969"/>
                </a:lnTo>
                <a:lnTo>
                  <a:pt x="3888573" y="339861"/>
                </a:lnTo>
                <a:lnTo>
                  <a:pt x="3944332" y="376064"/>
                </a:lnTo>
                <a:lnTo>
                  <a:pt x="3992351" y="413488"/>
                </a:lnTo>
                <a:lnTo>
                  <a:pt x="4032325" y="452040"/>
                </a:lnTo>
                <a:lnTo>
                  <a:pt x="4063949" y="491629"/>
                </a:lnTo>
                <a:lnTo>
                  <a:pt x="4086915" y="532162"/>
                </a:lnTo>
                <a:lnTo>
                  <a:pt x="4100919" y="573548"/>
                </a:lnTo>
                <a:lnTo>
                  <a:pt x="4105656" y="615696"/>
                </a:lnTo>
                <a:lnTo>
                  <a:pt x="4104465" y="636859"/>
                </a:lnTo>
                <a:lnTo>
                  <a:pt x="4095057" y="678637"/>
                </a:lnTo>
                <a:lnTo>
                  <a:pt x="4076533" y="719608"/>
                </a:lnTo>
                <a:lnTo>
                  <a:pt x="4049200" y="759680"/>
                </a:lnTo>
                <a:lnTo>
                  <a:pt x="4013363" y="798762"/>
                </a:lnTo>
                <a:lnTo>
                  <a:pt x="3969328" y="836762"/>
                </a:lnTo>
                <a:lnTo>
                  <a:pt x="3917401" y="873587"/>
                </a:lnTo>
                <a:lnTo>
                  <a:pt x="3857887" y="909146"/>
                </a:lnTo>
                <a:lnTo>
                  <a:pt x="3791092" y="943347"/>
                </a:lnTo>
                <a:lnTo>
                  <a:pt x="3755060" y="959910"/>
                </a:lnTo>
                <a:lnTo>
                  <a:pt x="3717323" y="976099"/>
                </a:lnTo>
                <a:lnTo>
                  <a:pt x="3677918" y="991903"/>
                </a:lnTo>
                <a:lnTo>
                  <a:pt x="3636884" y="1007310"/>
                </a:lnTo>
                <a:lnTo>
                  <a:pt x="3594259" y="1022309"/>
                </a:lnTo>
                <a:lnTo>
                  <a:pt x="3550082" y="1036888"/>
                </a:lnTo>
                <a:lnTo>
                  <a:pt x="3504390" y="1051036"/>
                </a:lnTo>
                <a:lnTo>
                  <a:pt x="3457222" y="1064741"/>
                </a:lnTo>
                <a:lnTo>
                  <a:pt x="3408616" y="1077992"/>
                </a:lnTo>
                <a:lnTo>
                  <a:pt x="3358610" y="1090777"/>
                </a:lnTo>
                <a:lnTo>
                  <a:pt x="3307242" y="1103085"/>
                </a:lnTo>
                <a:lnTo>
                  <a:pt x="3254552" y="1114905"/>
                </a:lnTo>
                <a:lnTo>
                  <a:pt x="3200576" y="1126224"/>
                </a:lnTo>
                <a:lnTo>
                  <a:pt x="3145353" y="1137032"/>
                </a:lnTo>
                <a:lnTo>
                  <a:pt x="3088922" y="1147318"/>
                </a:lnTo>
                <a:lnTo>
                  <a:pt x="3031320" y="1157068"/>
                </a:lnTo>
                <a:lnTo>
                  <a:pt x="2972586" y="1166273"/>
                </a:lnTo>
                <a:lnTo>
                  <a:pt x="2912758" y="1174920"/>
                </a:lnTo>
                <a:lnTo>
                  <a:pt x="2851874" y="1182999"/>
                </a:lnTo>
                <a:lnTo>
                  <a:pt x="2789972" y="1190497"/>
                </a:lnTo>
                <a:lnTo>
                  <a:pt x="2727092" y="1197403"/>
                </a:lnTo>
                <a:lnTo>
                  <a:pt x="2663270" y="1203706"/>
                </a:lnTo>
                <a:lnTo>
                  <a:pt x="2598545" y="1209394"/>
                </a:lnTo>
                <a:lnTo>
                  <a:pt x="2532955" y="1214456"/>
                </a:lnTo>
                <a:lnTo>
                  <a:pt x="2466539" y="1218880"/>
                </a:lnTo>
                <a:lnTo>
                  <a:pt x="2399335" y="1222655"/>
                </a:lnTo>
                <a:lnTo>
                  <a:pt x="2331381" y="1225770"/>
                </a:lnTo>
                <a:lnTo>
                  <a:pt x="2262715" y="1228212"/>
                </a:lnTo>
                <a:lnTo>
                  <a:pt x="2193375" y="1229971"/>
                </a:lnTo>
                <a:lnTo>
                  <a:pt x="2123400" y="1231034"/>
                </a:lnTo>
                <a:lnTo>
                  <a:pt x="2052828" y="1231392"/>
                </a:lnTo>
                <a:lnTo>
                  <a:pt x="1982255" y="1231034"/>
                </a:lnTo>
                <a:lnTo>
                  <a:pt x="1912280" y="1229971"/>
                </a:lnTo>
                <a:lnTo>
                  <a:pt x="1842940" y="1228212"/>
                </a:lnTo>
                <a:lnTo>
                  <a:pt x="1774274" y="1225770"/>
                </a:lnTo>
                <a:lnTo>
                  <a:pt x="1706320" y="1222655"/>
                </a:lnTo>
                <a:lnTo>
                  <a:pt x="1639116" y="1218880"/>
                </a:lnTo>
                <a:lnTo>
                  <a:pt x="1572700" y="1214456"/>
                </a:lnTo>
                <a:lnTo>
                  <a:pt x="1507110" y="1209394"/>
                </a:lnTo>
                <a:lnTo>
                  <a:pt x="1442385" y="1203706"/>
                </a:lnTo>
                <a:lnTo>
                  <a:pt x="1378563" y="1197403"/>
                </a:lnTo>
                <a:lnTo>
                  <a:pt x="1315683" y="1190497"/>
                </a:lnTo>
                <a:lnTo>
                  <a:pt x="1253781" y="1182999"/>
                </a:lnTo>
                <a:lnTo>
                  <a:pt x="1192897" y="1174920"/>
                </a:lnTo>
                <a:lnTo>
                  <a:pt x="1133069" y="1166273"/>
                </a:lnTo>
                <a:lnTo>
                  <a:pt x="1074335" y="1157068"/>
                </a:lnTo>
                <a:lnTo>
                  <a:pt x="1016733" y="1147318"/>
                </a:lnTo>
                <a:lnTo>
                  <a:pt x="960302" y="1137032"/>
                </a:lnTo>
                <a:lnTo>
                  <a:pt x="905079" y="1126224"/>
                </a:lnTo>
                <a:lnTo>
                  <a:pt x="851103" y="1114905"/>
                </a:lnTo>
                <a:lnTo>
                  <a:pt x="798413" y="1103085"/>
                </a:lnTo>
                <a:lnTo>
                  <a:pt x="747045" y="1090777"/>
                </a:lnTo>
                <a:lnTo>
                  <a:pt x="697039" y="1077992"/>
                </a:lnTo>
                <a:lnTo>
                  <a:pt x="648433" y="1064741"/>
                </a:lnTo>
                <a:lnTo>
                  <a:pt x="601265" y="1051036"/>
                </a:lnTo>
                <a:lnTo>
                  <a:pt x="555573" y="1036888"/>
                </a:lnTo>
                <a:lnTo>
                  <a:pt x="511396" y="1022309"/>
                </a:lnTo>
                <a:lnTo>
                  <a:pt x="468771" y="1007310"/>
                </a:lnTo>
                <a:lnTo>
                  <a:pt x="427737" y="991903"/>
                </a:lnTo>
                <a:lnTo>
                  <a:pt x="388332" y="976099"/>
                </a:lnTo>
                <a:lnTo>
                  <a:pt x="350595" y="959910"/>
                </a:lnTo>
                <a:lnTo>
                  <a:pt x="314563" y="943347"/>
                </a:lnTo>
                <a:lnTo>
                  <a:pt x="280274" y="926422"/>
                </a:lnTo>
                <a:lnTo>
                  <a:pt x="217082" y="891530"/>
                </a:lnTo>
                <a:lnTo>
                  <a:pt x="161323" y="855327"/>
                </a:lnTo>
                <a:lnTo>
                  <a:pt x="113304" y="817903"/>
                </a:lnTo>
                <a:lnTo>
                  <a:pt x="73330" y="779351"/>
                </a:lnTo>
                <a:lnTo>
                  <a:pt x="41706" y="739762"/>
                </a:lnTo>
                <a:lnTo>
                  <a:pt x="18740" y="699229"/>
                </a:lnTo>
                <a:lnTo>
                  <a:pt x="4736" y="657843"/>
                </a:lnTo>
                <a:lnTo>
                  <a:pt x="0" y="615696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6016" y="206501"/>
            <a:ext cx="53340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构建交互模</a:t>
            </a:r>
            <a:r>
              <a:rPr sz="4400" spc="-10" dirty="0"/>
              <a:t>型</a:t>
            </a:r>
            <a:r>
              <a:rPr sz="4400" dirty="0">
                <a:latin typeface="Calibri"/>
                <a:cs typeface="Calibri"/>
              </a:rPr>
              <a:t>: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/>
              <a:t>顺序图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13816" y="1155191"/>
            <a:ext cx="7345680" cy="4850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2745" y="127762"/>
            <a:ext cx="33832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转换成协作图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822565" y="1110996"/>
            <a:ext cx="7628014" cy="49716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319" y="133350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本节小结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17" y="934948"/>
            <a:ext cx="2924175" cy="4092575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82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系统行为建模</a:t>
            </a:r>
            <a:endParaRPr sz="32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73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交互图</a:t>
            </a:r>
            <a:endParaRPr sz="3200">
              <a:latin typeface="宋体"/>
              <a:cs typeface="宋体"/>
            </a:endParaRPr>
          </a:p>
          <a:p>
            <a:pPr marL="756285" lvl="1" indent="-287655">
              <a:lnSpc>
                <a:spcPct val="100000"/>
              </a:lnSpc>
              <a:spcBef>
                <a:spcPts val="1585"/>
              </a:spcBef>
              <a:buClr>
                <a:srgbClr val="C00000"/>
              </a:buClr>
              <a:buSzPct val="73214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顺序图</a:t>
            </a:r>
            <a:endParaRPr sz="2800">
              <a:latin typeface="宋体"/>
              <a:cs typeface="宋体"/>
            </a:endParaRPr>
          </a:p>
          <a:p>
            <a:pPr marL="756285" lvl="1" indent="-287655">
              <a:lnSpc>
                <a:spcPct val="100000"/>
              </a:lnSpc>
              <a:spcBef>
                <a:spcPts val="1515"/>
              </a:spcBef>
              <a:buClr>
                <a:srgbClr val="C00000"/>
              </a:buClr>
              <a:buSzPct val="73214"/>
              <a:buFont typeface="Wingdings"/>
              <a:buChar char=""/>
              <a:tabLst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协作图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6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状态图</a:t>
            </a:r>
            <a:endParaRPr sz="32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730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活动图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1775</Words>
  <Application>Microsoft Office PowerPoint</Application>
  <PresentationFormat>全屏显示(4:3)</PresentationFormat>
  <Paragraphs>576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9" baseType="lpstr">
      <vt:lpstr>华文行楷</vt:lpstr>
      <vt:lpstr>宋体</vt:lpstr>
      <vt:lpstr>微软雅黑</vt:lpstr>
      <vt:lpstr>Arial</vt:lpstr>
      <vt:lpstr>Arial Black</vt:lpstr>
      <vt:lpstr>Calibri</vt:lpstr>
      <vt:lpstr>Times New Roman</vt:lpstr>
      <vt:lpstr>Verdana</vt:lpstr>
      <vt:lpstr>Wingdings</vt:lpstr>
      <vt:lpstr>Office Theme</vt:lpstr>
      <vt:lpstr>面向对象分析与UML建模(4)</vt:lpstr>
      <vt:lpstr>1. 动态模型</vt:lpstr>
      <vt:lpstr>面向对象分析与UML建模(4)</vt:lpstr>
      <vt:lpstr>2.1. 顺序图概念与表示</vt:lpstr>
      <vt:lpstr>顺序图示例</vt:lpstr>
      <vt:lpstr>顺序图的主要元素</vt:lpstr>
      <vt:lpstr>顺序图的主要元素</vt:lpstr>
      <vt:lpstr>顺序图的主要元素: 调用</vt:lpstr>
      <vt:lpstr>顺序图的主要元素</vt:lpstr>
      <vt:lpstr>顺序图的主要元素</vt:lpstr>
      <vt:lpstr>2.2. 顺序图的建立</vt:lpstr>
      <vt:lpstr>打电话的顺序图</vt:lpstr>
      <vt:lpstr>顺序图示例</vt:lpstr>
      <vt:lpstr>顺序图示例</vt:lpstr>
      <vt:lpstr>顺序图示例</vt:lpstr>
      <vt:lpstr>面向对象分析与UML建模(4)</vt:lpstr>
      <vt:lpstr>3.1. 协作图概念与表示</vt:lpstr>
      <vt:lpstr>协作图示例</vt:lpstr>
      <vt:lpstr>与前页协作图在语义上等价的顺序图</vt:lpstr>
      <vt:lpstr>3.2. 协作图的用途</vt:lpstr>
      <vt:lpstr>例：用协作图规划储蓄应用的行为：</vt:lpstr>
      <vt:lpstr>面向对象分析与UML建模(4)</vt:lpstr>
      <vt:lpstr>状态图概念与表示</vt:lpstr>
      <vt:lpstr>状态图遵循事物转换的规律</vt:lpstr>
      <vt:lpstr>状态图的作用</vt:lpstr>
      <vt:lpstr>状态图的结构表示</vt:lpstr>
      <vt:lpstr>状态图的结构表示示例</vt:lpstr>
      <vt:lpstr>状态图的建立</vt:lpstr>
      <vt:lpstr>面向对象分析与UML建模(4)</vt:lpstr>
      <vt:lpstr>活动图概念与表示</vt:lpstr>
      <vt:lpstr>活动图元素</vt:lpstr>
      <vt:lpstr>活动图元素: 活动</vt:lpstr>
      <vt:lpstr>活动图元素: 泳道</vt:lpstr>
      <vt:lpstr>活动图元素: 分支</vt:lpstr>
      <vt:lpstr>活动图元素: 汇合</vt:lpstr>
      <vt:lpstr>活动图元素: 对象流</vt:lpstr>
      <vt:lpstr>活动图应用</vt:lpstr>
      <vt:lpstr>活动图示例</vt:lpstr>
      <vt:lpstr>用活动图对具体操作建模</vt:lpstr>
      <vt:lpstr>面向对象分析与UML建模(4)</vt:lpstr>
      <vt:lpstr>建立动态模型示例</vt:lpstr>
      <vt:lpstr>建立动态模型示例</vt:lpstr>
      <vt:lpstr>从事件流开始</vt:lpstr>
      <vt:lpstr>寻找边界对象</vt:lpstr>
      <vt:lpstr>寻找控制对象和实体对象</vt:lpstr>
      <vt:lpstr>寻找控制对象和实体对象</vt:lpstr>
      <vt:lpstr>构建交互模型: 顺序图</vt:lpstr>
      <vt:lpstr>转换成协作图</vt:lpstr>
      <vt:lpstr>本节小结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BigDataBench</dc:title>
  <dc:creator>wanling gao</dc:creator>
  <cp:lastModifiedBy>- Vel</cp:lastModifiedBy>
  <cp:revision>1</cp:revision>
  <dcterms:created xsi:type="dcterms:W3CDTF">2024-04-24T13:04:48Z</dcterms:created>
  <dcterms:modified xsi:type="dcterms:W3CDTF">2024-04-24T13:48:33Z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2024-04-16T00:00:00Z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2024-04-24T00:00:00Z</vt:filetime>
  </property>
</Properties>
</file>
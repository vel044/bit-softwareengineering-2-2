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Default Extension="png" ContentType="image/png"/>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Default Extension="jpg" ContentType="image/jpg"/>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Lst>
  <p:sldSz cx="9144000" cy="6858000"/>
  <p:notesSz cx="9144000" cy="6858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idx="5" sz="quarter"/>
          </p:nvPr>
        </p:nvSpPr>
        <p:spPr/>
        <p:txBody>
          <a:bodyPr lIns="0" tIns="0" rIns="0" bIns="0"/>
          <a:lstStyle>
            <a:lvl1pPr>
              <a:defRPr sz="1600" b="0" i="0">
                <a:solidFill>
                  <a:srgbClr val="00663B"/>
                </a:solidFill>
                <a:latin typeface="华文行楷"/>
                <a:cs typeface="华文行楷"/>
              </a:defRPr>
            </a:lvl1p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0663B"/>
                </a:solidFill>
                <a:latin typeface="宋体"/>
                <a:cs typeface="宋体"/>
              </a:defRPr>
            </a:lvl1pPr>
          </a:lstStyle>
          <a:p/>
        </p:txBody>
      </p:sp>
      <p:sp>
        <p:nvSpPr>
          <p:cNvPr id="3" name="Holder 3"/>
          <p:cNvSpPr>
            <a:spLocks noGrp="1"/>
          </p:cNvSpPr>
          <p:nvPr>
            <p:ph type="body" idx="1"/>
          </p:nvPr>
        </p:nvSpPr>
        <p:spPr/>
        <p:txBody>
          <a:bodyPr lIns="0" tIns="0" rIns="0" bIns="0"/>
          <a:lstStyle>
            <a:lvl1pPr>
              <a:defRPr sz="3200" b="1" i="0">
                <a:solidFill>
                  <a:schemeClr val="tx1"/>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1600" b="0" i="0">
                <a:solidFill>
                  <a:srgbClr val="00663B"/>
                </a:solidFill>
                <a:latin typeface="华文行楷"/>
                <a:cs typeface="华文行楷"/>
              </a:defRPr>
            </a:lvl1p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0663B"/>
                </a:solidFill>
                <a:latin typeface="宋体"/>
                <a:cs typeface="宋体"/>
              </a:defRPr>
            </a:lvl1pPr>
          </a:lstStyle>
          <a:p/>
        </p:txBody>
      </p:sp>
      <p:sp>
        <p:nvSpPr>
          <p:cNvPr id="3" name="Holder 3"/>
          <p:cNvSpPr>
            <a:spLocks noGrp="1"/>
          </p:cNvSpPr>
          <p:nvPr>
            <p:ph idx="2" sz="half"/>
          </p:nvPr>
        </p:nvSpPr>
        <p:spPr>
          <a:xfrm>
            <a:off x="535940" y="1576781"/>
            <a:ext cx="3569335" cy="3849370"/>
          </a:xfrm>
          <a:prstGeom prst="rect">
            <a:avLst/>
          </a:prstGeom>
        </p:spPr>
        <p:txBody>
          <a:bodyPr wrap="square" lIns="0" tIns="0" rIns="0" bIns="0">
            <a:spAutoFit/>
          </a:bodyPr>
          <a:lstStyle>
            <a:lvl1pPr>
              <a:defRPr sz="2100" b="0" i="0">
                <a:solidFill>
                  <a:schemeClr val="tx1"/>
                </a:solidFill>
                <a:latin typeface="宋体"/>
                <a:cs typeface="宋体"/>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1600" b="0" i="0">
                <a:solidFill>
                  <a:srgbClr val="00663B"/>
                </a:solidFill>
                <a:latin typeface="华文行楷"/>
                <a:cs typeface="华文行楷"/>
              </a:defRPr>
            </a:lvl1p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00663B"/>
                </a:solidFill>
                <a:latin typeface="宋体"/>
                <a:cs typeface="宋体"/>
              </a:defRPr>
            </a:lvl1pPr>
          </a:lstStyle>
          <a:p/>
        </p:txBody>
      </p:sp>
      <p:sp>
        <p:nvSpPr>
          <p:cNvPr id="3" name="Holder 3"/>
          <p:cNvSpPr>
            <a:spLocks noGrp="1"/>
          </p:cNvSpPr>
          <p:nvPr>
            <p:ph type="ftr" idx="5" sz="quarter"/>
          </p:nvPr>
        </p:nvSpPr>
        <p:spPr/>
        <p:txBody>
          <a:bodyPr lIns="0" tIns="0" rIns="0" bIns="0"/>
          <a:lstStyle>
            <a:lvl1pPr>
              <a:defRPr sz="1600" b="0" i="0">
                <a:solidFill>
                  <a:srgbClr val="00663B"/>
                </a:solidFill>
                <a:latin typeface="华文行楷"/>
                <a:cs typeface="华文行楷"/>
              </a:defRPr>
            </a:lvl1p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1600" b="0" i="0">
                <a:solidFill>
                  <a:srgbClr val="00663B"/>
                </a:solidFill>
                <a:latin typeface="华文行楷"/>
                <a:cs typeface="华文行楷"/>
              </a:defRPr>
            </a:lvl1p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6309359"/>
            <a:ext cx="9144000" cy="1905"/>
          </a:xfrm>
          <a:custGeom>
            <a:avLst/>
            <a:gdLst/>
            <a:ahLst/>
            <a:cxnLst/>
            <a:rect l="l" t="t" r="r" b="b"/>
            <a:pathLst>
              <a:path w="9144000" h="1904">
                <a:moveTo>
                  <a:pt x="0" y="0"/>
                </a:moveTo>
                <a:lnTo>
                  <a:pt x="9144000" y="1523"/>
                </a:lnTo>
              </a:path>
            </a:pathLst>
          </a:custGeom>
          <a:ln w="12700">
            <a:solidFill>
              <a:srgbClr val="00663B"/>
            </a:solidFill>
          </a:ln>
        </p:spPr>
        <p:txBody>
          <a:bodyPr wrap="square" lIns="0" tIns="0" rIns="0" bIns="0" rtlCol="0"/>
          <a:lstStyle/>
          <a:p/>
        </p:txBody>
      </p:sp>
      <p:sp>
        <p:nvSpPr>
          <p:cNvPr id="2" name="Holder 2"/>
          <p:cNvSpPr>
            <a:spLocks noGrp="1"/>
          </p:cNvSpPr>
          <p:nvPr>
            <p:ph type="title"/>
          </p:nvPr>
        </p:nvSpPr>
        <p:spPr>
          <a:xfrm>
            <a:off x="3440429" y="129997"/>
            <a:ext cx="2263140" cy="697230"/>
          </a:xfrm>
          <a:prstGeom prst="rect">
            <a:avLst/>
          </a:prstGeom>
        </p:spPr>
        <p:txBody>
          <a:bodyPr wrap="square" lIns="0" tIns="0" rIns="0" bIns="0">
            <a:spAutoFit/>
          </a:bodyPr>
          <a:lstStyle>
            <a:lvl1pPr>
              <a:defRPr sz="4400" b="0" i="0">
                <a:solidFill>
                  <a:srgbClr val="00663B"/>
                </a:solidFill>
                <a:latin typeface="宋体"/>
                <a:cs typeface="宋体"/>
              </a:defRPr>
            </a:lvl1pPr>
          </a:lstStyle>
          <a:p/>
        </p:txBody>
      </p:sp>
      <p:sp>
        <p:nvSpPr>
          <p:cNvPr id="3" name="Holder 3"/>
          <p:cNvSpPr>
            <a:spLocks noGrp="1"/>
          </p:cNvSpPr>
          <p:nvPr>
            <p:ph type="body" idx="1"/>
          </p:nvPr>
        </p:nvSpPr>
        <p:spPr>
          <a:xfrm>
            <a:off x="379094" y="1078221"/>
            <a:ext cx="8385810" cy="4604385"/>
          </a:xfrm>
          <a:prstGeom prst="rect">
            <a:avLst/>
          </a:prstGeom>
        </p:spPr>
        <p:txBody>
          <a:bodyPr wrap="square" lIns="0" tIns="0" rIns="0" bIns="0">
            <a:spAutoFit/>
          </a:bodyPr>
          <a:lstStyle>
            <a:lvl1pPr>
              <a:defRPr sz="3200" b="1" i="0">
                <a:solidFill>
                  <a:schemeClr val="tx1"/>
                </a:solidFill>
                <a:latin typeface="Calibri"/>
                <a:cs typeface="Calibri"/>
              </a:defRPr>
            </a:lvl1pPr>
          </a:lstStyle>
          <a:p/>
        </p:txBody>
      </p:sp>
      <p:sp>
        <p:nvSpPr>
          <p:cNvPr id="4" name="Holder 4"/>
          <p:cNvSpPr>
            <a:spLocks noGrp="1"/>
          </p:cNvSpPr>
          <p:nvPr>
            <p:ph type="ftr" idx="5" sz="quarter"/>
          </p:nvPr>
        </p:nvSpPr>
        <p:spPr>
          <a:xfrm>
            <a:off x="121107" y="6465723"/>
            <a:ext cx="2239645" cy="247015"/>
          </a:xfrm>
          <a:prstGeom prst="rect">
            <a:avLst/>
          </a:prstGeom>
        </p:spPr>
        <p:txBody>
          <a:bodyPr wrap="square" lIns="0" tIns="0" rIns="0" bIns="0">
            <a:spAutoFit/>
          </a:bodyPr>
          <a:lstStyle>
            <a:lvl1pPr>
              <a:defRPr sz="1600" b="0" i="0">
                <a:solidFill>
                  <a:srgbClr val="00663B"/>
                </a:solidFill>
                <a:latin typeface="华文行楷"/>
                <a:cs typeface="华文行楷"/>
              </a:defRPr>
            </a:lvl1p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5" name="Holder 5"/>
          <p:cNvSpPr>
            <a:spLocks noGrp="1"/>
          </p:cNvSpPr>
          <p:nvPr>
            <p:ph type="dt" idx="6" sz="half"/>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yuxiazh@bit.edu.cn" TargetMode="Externa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360045"/>
          </a:xfrm>
          <a:custGeom>
            <a:avLst/>
            <a:gdLst/>
            <a:ahLst/>
            <a:cxnLst/>
            <a:rect l="l" t="t" r="r" b="b"/>
            <a:pathLst>
              <a:path w="9144000" h="360045">
                <a:moveTo>
                  <a:pt x="0" y="359663"/>
                </a:moveTo>
                <a:lnTo>
                  <a:pt x="9144000" y="359663"/>
                </a:lnTo>
                <a:lnTo>
                  <a:pt x="9144000" y="0"/>
                </a:lnTo>
                <a:lnTo>
                  <a:pt x="0" y="0"/>
                </a:lnTo>
                <a:lnTo>
                  <a:pt x="0" y="359663"/>
                </a:lnTo>
                <a:close/>
              </a:path>
            </a:pathLst>
          </a:custGeom>
          <a:solidFill>
            <a:srgbClr val="00663B"/>
          </a:solidFill>
        </p:spPr>
        <p:txBody>
          <a:bodyPr wrap="square" lIns="0" tIns="0" rIns="0" bIns="0" rtlCol="0"/>
          <a:lstStyle/>
          <a:p/>
        </p:txBody>
      </p:sp>
      <p:sp>
        <p:nvSpPr>
          <p:cNvPr id="3" name="object 3"/>
          <p:cNvSpPr/>
          <p:nvPr/>
        </p:nvSpPr>
        <p:spPr>
          <a:xfrm>
            <a:off x="0" y="6516623"/>
            <a:ext cx="9144000" cy="341630"/>
          </a:xfrm>
          <a:custGeom>
            <a:avLst/>
            <a:gdLst/>
            <a:ahLst/>
            <a:cxnLst/>
            <a:rect l="l" t="t" r="r" b="b"/>
            <a:pathLst>
              <a:path w="9144000" h="341629">
                <a:moveTo>
                  <a:pt x="9144000" y="341373"/>
                </a:moveTo>
                <a:lnTo>
                  <a:pt x="9144000" y="0"/>
                </a:lnTo>
                <a:lnTo>
                  <a:pt x="0" y="0"/>
                </a:lnTo>
                <a:lnTo>
                  <a:pt x="0" y="341373"/>
                </a:lnTo>
                <a:lnTo>
                  <a:pt x="9144000" y="341373"/>
                </a:lnTo>
                <a:close/>
              </a:path>
            </a:pathLst>
          </a:custGeom>
          <a:solidFill>
            <a:srgbClr val="00663B"/>
          </a:solidFill>
        </p:spPr>
        <p:txBody>
          <a:bodyPr wrap="square" lIns="0" tIns="0" rIns="0" bIns="0" rtlCol="0"/>
          <a:lstStyle/>
          <a:p/>
        </p:txBody>
      </p:sp>
      <p:sp>
        <p:nvSpPr>
          <p:cNvPr id="4" name="object 4"/>
          <p:cNvSpPr txBox="1">
            <a:spLocks noGrp="1"/>
          </p:cNvSpPr>
          <p:nvPr>
            <p:ph type="title"/>
          </p:nvPr>
        </p:nvSpPr>
        <p:spPr>
          <a:xfrm>
            <a:off x="2539745" y="2791713"/>
            <a:ext cx="4067175" cy="696595"/>
          </a:xfrm>
          <a:prstGeom prst="rect"/>
        </p:spPr>
        <p:txBody>
          <a:bodyPr wrap="square" lIns="0" tIns="13335" rIns="0" bIns="0" rtlCol="0" vert="horz">
            <a:spAutoFit/>
          </a:bodyPr>
          <a:lstStyle/>
          <a:p>
            <a:pPr marL="12700">
              <a:lnSpc>
                <a:spcPct val="100000"/>
              </a:lnSpc>
              <a:spcBef>
                <a:spcPts val="105"/>
              </a:spcBef>
            </a:pPr>
            <a:r>
              <a:rPr dirty="0">
                <a:solidFill>
                  <a:srgbClr val="000000"/>
                </a:solidFill>
              </a:rPr>
              <a:t>第五</a:t>
            </a:r>
            <a:r>
              <a:rPr dirty="0" spc="980">
                <a:solidFill>
                  <a:srgbClr val="000000"/>
                </a:solidFill>
              </a:rPr>
              <a:t>章</a:t>
            </a:r>
            <a:r>
              <a:rPr dirty="0">
                <a:solidFill>
                  <a:srgbClr val="000000"/>
                </a:solidFill>
              </a:rPr>
              <a:t>需求获取</a:t>
            </a:r>
          </a:p>
        </p:txBody>
      </p:sp>
      <p:sp>
        <p:nvSpPr>
          <p:cNvPr id="5" name="object 5"/>
          <p:cNvSpPr txBox="1"/>
          <p:nvPr/>
        </p:nvSpPr>
        <p:spPr>
          <a:xfrm>
            <a:off x="2660142" y="3949090"/>
            <a:ext cx="4113529" cy="1723389"/>
          </a:xfrm>
          <a:prstGeom prst="rect">
            <a:avLst/>
          </a:prstGeom>
        </p:spPr>
        <p:txBody>
          <a:bodyPr wrap="square" lIns="0" tIns="183515" rIns="0" bIns="0" rtlCol="0" vert="horz">
            <a:spAutoFit/>
          </a:bodyPr>
          <a:lstStyle/>
          <a:p>
            <a:pPr algn="ctr" marL="184785">
              <a:lnSpc>
                <a:spcPct val="100000"/>
              </a:lnSpc>
              <a:spcBef>
                <a:spcPts val="1445"/>
              </a:spcBef>
            </a:pPr>
            <a:r>
              <a:rPr dirty="0" sz="2800" spc="-5">
                <a:latin typeface="宋体"/>
                <a:cs typeface="宋体"/>
              </a:rPr>
              <a:t>张宇霞</a:t>
            </a:r>
            <a:endParaRPr sz="2800">
              <a:latin typeface="宋体"/>
              <a:cs typeface="宋体"/>
            </a:endParaRPr>
          </a:p>
          <a:p>
            <a:pPr algn="ctr">
              <a:lnSpc>
                <a:spcPct val="100000"/>
              </a:lnSpc>
              <a:spcBef>
                <a:spcPts val="1340"/>
              </a:spcBef>
            </a:pPr>
            <a:r>
              <a:rPr dirty="0" sz="2800" spc="-5">
                <a:latin typeface="宋体"/>
                <a:cs typeface="宋体"/>
              </a:rPr>
              <a:t>北京理工大学</a:t>
            </a:r>
            <a:r>
              <a:rPr dirty="0" sz="2800" spc="-55">
                <a:latin typeface="宋体"/>
                <a:cs typeface="宋体"/>
              </a:rPr>
              <a:t> </a:t>
            </a:r>
            <a:r>
              <a:rPr dirty="0" sz="2800" spc="-5">
                <a:latin typeface="宋体"/>
                <a:cs typeface="宋体"/>
              </a:rPr>
              <a:t>计算机学院</a:t>
            </a:r>
            <a:endParaRPr sz="2800">
              <a:latin typeface="宋体"/>
              <a:cs typeface="宋体"/>
            </a:endParaRPr>
          </a:p>
          <a:p>
            <a:pPr algn="ctr">
              <a:lnSpc>
                <a:spcPct val="100000"/>
              </a:lnSpc>
              <a:spcBef>
                <a:spcPts val="600"/>
              </a:spcBef>
            </a:pPr>
            <a:r>
              <a:rPr dirty="0" sz="2800" spc="-10">
                <a:latin typeface="Times New Roman"/>
                <a:cs typeface="Times New Roman"/>
              </a:rPr>
              <a:t>Email:</a:t>
            </a:r>
            <a:r>
              <a:rPr dirty="0" sz="2800" spc="5">
                <a:latin typeface="Times New Roman"/>
                <a:cs typeface="Times New Roman"/>
              </a:rPr>
              <a:t> </a:t>
            </a:r>
            <a:r>
              <a:rPr dirty="0" sz="2800" spc="-5">
                <a:latin typeface="Times New Roman"/>
                <a:cs typeface="Times New Roman"/>
                <a:hlinkClick r:id="rId2"/>
              </a:rPr>
              <a:t>yuxiazh@bit.edu.cn</a:t>
            </a:r>
            <a:endParaRPr sz="2800">
              <a:latin typeface="Times New Roman"/>
              <a:cs typeface="Times New Roman"/>
            </a:endParaRPr>
          </a:p>
        </p:txBody>
      </p:sp>
      <p:sp>
        <p:nvSpPr>
          <p:cNvPr id="6" name="object 6"/>
          <p:cNvSpPr/>
          <p:nvPr/>
        </p:nvSpPr>
        <p:spPr>
          <a:xfrm>
            <a:off x="3852671" y="505968"/>
            <a:ext cx="1438655" cy="1444752"/>
          </a:xfrm>
          <a:prstGeom prst="rect">
            <a:avLst/>
          </a:prstGeom>
          <a:blipFill>
            <a:blip r:embed="rId3" cstate="print"/>
            <a:stretch>
              <a:fillRect/>
            </a:stretch>
          </a:blipFill>
        </p:spPr>
        <p:txBody>
          <a:bodyPr wrap="square" lIns="0" tIns="0" rIns="0" bIns="0" rtlCol="0"/>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178813"/>
            <a:ext cx="4839970" cy="295275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687"/>
              <a:buFont typeface="Wingdings"/>
              <a:buChar char=""/>
              <a:tabLst>
                <a:tab pos="356235" algn="l"/>
              </a:tabLst>
            </a:pPr>
            <a:r>
              <a:rPr dirty="0" sz="3200">
                <a:latin typeface="Calibri"/>
                <a:cs typeface="Calibri"/>
              </a:rPr>
              <a:t>1.</a:t>
            </a:r>
            <a:r>
              <a:rPr dirty="0" sz="3200" spc="5">
                <a:latin typeface="Calibri"/>
                <a:cs typeface="Calibri"/>
              </a:rPr>
              <a:t> </a:t>
            </a:r>
            <a:r>
              <a:rPr dirty="0" sz="3200">
                <a:latin typeface="宋体"/>
                <a:cs typeface="宋体"/>
              </a:rPr>
              <a:t>需求获取概述</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2.</a:t>
            </a:r>
            <a:r>
              <a:rPr dirty="0" sz="3200" spc="-80">
                <a:latin typeface="Calibri"/>
                <a:cs typeface="Calibri"/>
              </a:rPr>
              <a:t> </a:t>
            </a:r>
            <a:r>
              <a:rPr dirty="0" sz="3200">
                <a:latin typeface="宋体"/>
                <a:cs typeface="宋体"/>
              </a:rPr>
              <a:t>确定项目的前景和范围</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3.</a:t>
            </a:r>
            <a:r>
              <a:rPr dirty="0" sz="3200" spc="-50">
                <a:latin typeface="Calibri"/>
                <a:cs typeface="Calibri"/>
              </a:rPr>
              <a:t> </a:t>
            </a:r>
            <a:r>
              <a:rPr dirty="0" sz="3200">
                <a:latin typeface="宋体"/>
                <a:cs typeface="宋体"/>
              </a:rPr>
              <a:t>涉众分析与硬数据采样</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4.</a:t>
            </a:r>
            <a:r>
              <a:rPr dirty="0" sz="3200" spc="-80">
                <a:latin typeface="Calibri"/>
                <a:cs typeface="Calibri"/>
              </a:rPr>
              <a:t> </a:t>
            </a:r>
            <a:r>
              <a:rPr dirty="0" sz="3200">
                <a:latin typeface="宋体"/>
                <a:cs typeface="宋体"/>
              </a:rPr>
              <a:t>面谈</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5.</a:t>
            </a:r>
            <a:r>
              <a:rPr dirty="0" sz="3200" spc="-90">
                <a:latin typeface="Calibri"/>
                <a:cs typeface="Calibri"/>
              </a:rPr>
              <a:t> </a:t>
            </a:r>
            <a:r>
              <a:rPr dirty="0" sz="3200">
                <a:latin typeface="宋体"/>
                <a:cs typeface="宋体"/>
              </a:rPr>
              <a:t>原型</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宋体"/>
                <a:cs typeface="宋体"/>
              </a:rPr>
              <a:t>本章小结</a:t>
            </a:r>
            <a:endParaRPr sz="3200">
              <a:latin typeface="宋体"/>
              <a:cs typeface="宋体"/>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4861" y="269239"/>
            <a:ext cx="603504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1.1.</a:t>
            </a:r>
            <a:r>
              <a:rPr dirty="0" spc="-60">
                <a:latin typeface="Calibri"/>
                <a:cs typeface="Calibri"/>
              </a:rPr>
              <a:t> </a:t>
            </a:r>
            <a:r>
              <a:rPr dirty="0"/>
              <a:t>需求获取的非平凡性</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426292"/>
            <a:ext cx="7874634" cy="3253104"/>
          </a:xfrm>
          <a:prstGeom prst="rect">
            <a:avLst/>
          </a:prstGeom>
        </p:spPr>
        <p:txBody>
          <a:bodyPr wrap="square" lIns="0" tIns="113664" rIns="0" bIns="0" rtlCol="0" vert="horz">
            <a:spAutoFit/>
          </a:bodyPr>
          <a:lstStyle/>
          <a:p>
            <a:pPr marL="355600" indent="-343535">
              <a:lnSpc>
                <a:spcPct val="100000"/>
              </a:lnSpc>
              <a:spcBef>
                <a:spcPts val="894"/>
              </a:spcBef>
              <a:buClr>
                <a:srgbClr val="00663B"/>
              </a:buClr>
              <a:buSzPct val="79687"/>
              <a:buFont typeface="Wingdings"/>
              <a:buChar char=""/>
              <a:tabLst>
                <a:tab pos="356235" algn="l"/>
              </a:tabLst>
            </a:pPr>
            <a:r>
              <a:rPr dirty="0" sz="3200">
                <a:latin typeface="宋体"/>
                <a:cs typeface="宋体"/>
              </a:rPr>
              <a:t>用户和开发人员的背景</a:t>
            </a:r>
            <a:r>
              <a:rPr dirty="0" sz="3200" spc="-15">
                <a:latin typeface="宋体"/>
                <a:cs typeface="宋体"/>
              </a:rPr>
              <a:t>不</a:t>
            </a:r>
            <a:r>
              <a:rPr dirty="0" sz="3200">
                <a:latin typeface="宋体"/>
                <a:cs typeface="宋体"/>
              </a:rPr>
              <a:t>同，</a:t>
            </a:r>
            <a:r>
              <a:rPr dirty="0" sz="3200" spc="-15">
                <a:latin typeface="宋体"/>
                <a:cs typeface="宋体"/>
              </a:rPr>
              <a:t>立</a:t>
            </a:r>
            <a:r>
              <a:rPr dirty="0" sz="3200">
                <a:latin typeface="宋体"/>
                <a:cs typeface="宋体"/>
              </a:rPr>
              <a:t>场不同</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首先是知识理解的困难。</a:t>
            </a:r>
            <a:endParaRPr sz="2800">
              <a:latin typeface="宋体"/>
              <a:cs typeface="宋体"/>
            </a:endParaRPr>
          </a:p>
          <a:p>
            <a:pPr lvl="2" marL="1155700" marR="5080" indent="-228600">
              <a:lnSpc>
                <a:spcPts val="2700"/>
              </a:lnSpc>
              <a:spcBef>
                <a:spcPts val="1015"/>
              </a:spcBef>
              <a:buFont typeface="Arial"/>
              <a:buChar char="•"/>
              <a:tabLst>
                <a:tab pos="1156335" algn="l"/>
              </a:tabLst>
            </a:pPr>
            <a:r>
              <a:rPr dirty="0" sz="2400">
                <a:latin typeface="宋体"/>
                <a:cs typeface="宋体"/>
              </a:rPr>
              <a:t>尽力去研究应用的背景，理解组织的状况，形成一 个能够和用户进行有效沟通的粗略的知识框架</a:t>
            </a:r>
            <a:endParaRPr sz="2400">
              <a:latin typeface="宋体"/>
              <a:cs typeface="宋体"/>
            </a:endParaRPr>
          </a:p>
          <a:p>
            <a:pPr lvl="1" marL="756285" indent="-287020">
              <a:lnSpc>
                <a:spcPct val="100000"/>
              </a:lnSpc>
              <a:spcBef>
                <a:spcPts val="595"/>
              </a:spcBef>
              <a:buClr>
                <a:srgbClr val="C00000"/>
              </a:buClr>
              <a:buSzPct val="58928"/>
              <a:buFont typeface="Wingdings"/>
              <a:buChar char=""/>
              <a:tabLst>
                <a:tab pos="756920" algn="l"/>
              </a:tabLst>
            </a:pPr>
            <a:r>
              <a:rPr dirty="0" sz="2800" spc="-10">
                <a:latin typeface="宋体"/>
                <a:cs typeface="宋体"/>
              </a:rPr>
              <a:t>默认</a:t>
            </a:r>
            <a:r>
              <a:rPr dirty="0" sz="2800" spc="-5">
                <a:latin typeface="宋体"/>
                <a:cs typeface="宋体"/>
              </a:rPr>
              <a:t>（</a:t>
            </a:r>
            <a:r>
              <a:rPr dirty="0" sz="2800" spc="-5">
                <a:latin typeface="Calibri"/>
                <a:cs typeface="Calibri"/>
              </a:rPr>
              <a:t>Tacit</a:t>
            </a:r>
            <a:r>
              <a:rPr dirty="0" sz="2800" spc="-5">
                <a:latin typeface="宋体"/>
                <a:cs typeface="宋体"/>
              </a:rPr>
              <a:t>）</a:t>
            </a:r>
            <a:r>
              <a:rPr dirty="0" sz="2800" spc="-10">
                <a:latin typeface="宋体"/>
                <a:cs typeface="宋体"/>
              </a:rPr>
              <a:t>知识现象</a:t>
            </a:r>
            <a:endParaRPr sz="2800">
              <a:latin typeface="宋体"/>
              <a:cs typeface="宋体"/>
            </a:endParaRPr>
          </a:p>
          <a:p>
            <a:pPr lvl="2" marL="1155700" marR="5080" indent="-228600">
              <a:lnSpc>
                <a:spcPts val="2700"/>
              </a:lnSpc>
              <a:spcBef>
                <a:spcPts val="1015"/>
              </a:spcBef>
              <a:buFont typeface="Arial"/>
              <a:buChar char="•"/>
              <a:tabLst>
                <a:tab pos="1156335" algn="l"/>
              </a:tabLst>
            </a:pPr>
            <a:r>
              <a:rPr dirty="0" sz="2400">
                <a:latin typeface="宋体"/>
                <a:cs typeface="宋体"/>
              </a:rPr>
              <a:t>利用有效的获取方法与技巧（角色扮演、观察等） 来发现并获取默认知识</a:t>
            </a:r>
            <a:endParaRPr sz="2400">
              <a:latin typeface="宋体"/>
              <a:cs typeface="宋体"/>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4861" y="269239"/>
            <a:ext cx="603504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1.1.</a:t>
            </a:r>
            <a:r>
              <a:rPr dirty="0" spc="-60">
                <a:latin typeface="Calibri"/>
                <a:cs typeface="Calibri"/>
              </a:rPr>
              <a:t> </a:t>
            </a:r>
            <a:r>
              <a:rPr dirty="0"/>
              <a:t>需求获取的非平凡性</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218947" y="1046786"/>
            <a:ext cx="8589010" cy="4769485"/>
          </a:xfrm>
          <a:prstGeom prst="rect">
            <a:avLst/>
          </a:prstGeom>
        </p:spPr>
        <p:txBody>
          <a:bodyPr wrap="square" lIns="0" tIns="144780" rIns="0" bIns="0" rtlCol="0" vert="horz">
            <a:spAutoFit/>
          </a:bodyPr>
          <a:lstStyle/>
          <a:p>
            <a:pPr algn="just" marL="355600" indent="-342900">
              <a:lnSpc>
                <a:spcPct val="100000"/>
              </a:lnSpc>
              <a:spcBef>
                <a:spcPts val="1140"/>
              </a:spcBef>
              <a:buClr>
                <a:srgbClr val="00663B"/>
              </a:buClr>
              <a:buSzPct val="79687"/>
              <a:buFont typeface="Wingdings"/>
              <a:buChar char=""/>
              <a:tabLst>
                <a:tab pos="355600" algn="l"/>
              </a:tabLst>
            </a:pPr>
            <a:r>
              <a:rPr dirty="0" sz="3200">
                <a:latin typeface="宋体"/>
                <a:cs typeface="宋体"/>
              </a:rPr>
              <a:t>普通用户缺乏概括性、</a:t>
            </a:r>
            <a:r>
              <a:rPr dirty="0" sz="3200" spc="-15">
                <a:latin typeface="宋体"/>
                <a:cs typeface="宋体"/>
              </a:rPr>
              <a:t>综</a:t>
            </a:r>
            <a:r>
              <a:rPr dirty="0" sz="3200">
                <a:latin typeface="宋体"/>
                <a:cs typeface="宋体"/>
              </a:rPr>
              <a:t>合性</a:t>
            </a:r>
            <a:r>
              <a:rPr dirty="0" sz="3200" spc="-15">
                <a:latin typeface="宋体"/>
                <a:cs typeface="宋体"/>
              </a:rPr>
              <a:t>的</a:t>
            </a:r>
            <a:r>
              <a:rPr dirty="0" sz="3200">
                <a:latin typeface="宋体"/>
                <a:cs typeface="宋体"/>
              </a:rPr>
              <a:t>表述</a:t>
            </a:r>
            <a:r>
              <a:rPr dirty="0" sz="3200" spc="-15">
                <a:latin typeface="宋体"/>
                <a:cs typeface="宋体"/>
              </a:rPr>
              <a:t>能</a:t>
            </a:r>
            <a:r>
              <a:rPr dirty="0" sz="3200">
                <a:latin typeface="宋体"/>
                <a:cs typeface="宋体"/>
              </a:rPr>
              <a:t>力</a:t>
            </a:r>
            <a:endParaRPr sz="3200">
              <a:latin typeface="宋体"/>
              <a:cs typeface="宋体"/>
            </a:endParaRPr>
          </a:p>
          <a:p>
            <a:pPr algn="just" lvl="1" marL="756285" marR="5080" indent="-287020">
              <a:lnSpc>
                <a:spcPts val="3150"/>
              </a:lnSpc>
              <a:spcBef>
                <a:spcPts val="1185"/>
              </a:spcBef>
              <a:buClr>
                <a:srgbClr val="C00000"/>
              </a:buClr>
              <a:buSzPct val="58928"/>
              <a:buFont typeface="Wingdings"/>
              <a:buChar char=""/>
              <a:tabLst>
                <a:tab pos="756920" algn="l"/>
              </a:tabLst>
            </a:pPr>
            <a:r>
              <a:rPr dirty="0" sz="2800" spc="-5">
                <a:solidFill>
                  <a:srgbClr val="00A15F"/>
                </a:solidFill>
                <a:latin typeface="宋体"/>
                <a:cs typeface="宋体"/>
              </a:rPr>
              <a:t>普通用</a:t>
            </a:r>
            <a:r>
              <a:rPr dirty="0" sz="2800" spc="-10">
                <a:solidFill>
                  <a:srgbClr val="00A15F"/>
                </a:solidFill>
                <a:latin typeface="宋体"/>
                <a:cs typeface="宋体"/>
              </a:rPr>
              <a:t>户</a:t>
            </a:r>
            <a:r>
              <a:rPr dirty="0" sz="2800" spc="-5">
                <a:latin typeface="宋体"/>
                <a:cs typeface="宋体"/>
              </a:rPr>
              <a:t>的知识结构就相对局限于</a:t>
            </a:r>
            <a:r>
              <a:rPr dirty="0" sz="2800" spc="5">
                <a:latin typeface="宋体"/>
                <a:cs typeface="宋体"/>
              </a:rPr>
              <a:t>一</a:t>
            </a:r>
            <a:r>
              <a:rPr dirty="0" sz="2800" spc="-5">
                <a:latin typeface="宋体"/>
                <a:cs typeface="宋体"/>
              </a:rPr>
              <a:t>些具</a:t>
            </a:r>
            <a:r>
              <a:rPr dirty="0" sz="2800" spc="5">
                <a:latin typeface="宋体"/>
                <a:cs typeface="宋体"/>
              </a:rPr>
              <a:t>体</a:t>
            </a:r>
            <a:r>
              <a:rPr dirty="0" sz="2800" spc="-5">
                <a:latin typeface="宋体"/>
                <a:cs typeface="宋体"/>
              </a:rPr>
              <a:t>的业务 </a:t>
            </a:r>
            <a:r>
              <a:rPr dirty="0" sz="2800" spc="-5">
                <a:latin typeface="宋体"/>
                <a:cs typeface="宋体"/>
              </a:rPr>
              <a:t>细节</a:t>
            </a:r>
            <a:endParaRPr sz="2800">
              <a:latin typeface="宋体"/>
              <a:cs typeface="宋体"/>
            </a:endParaRPr>
          </a:p>
          <a:p>
            <a:pPr algn="just" lvl="2" marL="1155700" indent="-229235">
              <a:lnSpc>
                <a:spcPct val="100000"/>
              </a:lnSpc>
              <a:spcBef>
                <a:spcPts val="520"/>
              </a:spcBef>
              <a:buFont typeface="Arial"/>
              <a:buChar char="•"/>
              <a:tabLst>
                <a:tab pos="1156335" algn="l"/>
              </a:tabLst>
            </a:pPr>
            <a:r>
              <a:rPr dirty="0" sz="2400">
                <a:latin typeface="宋体"/>
                <a:cs typeface="宋体"/>
              </a:rPr>
              <a:t>善于表达具体业务的细节问题</a:t>
            </a:r>
            <a:endParaRPr sz="2400">
              <a:latin typeface="宋体"/>
              <a:cs typeface="宋体"/>
            </a:endParaRPr>
          </a:p>
          <a:p>
            <a:pPr algn="just" lvl="1" marL="756285" marR="5080" indent="-287020">
              <a:lnSpc>
                <a:spcPts val="3140"/>
              </a:lnSpc>
              <a:spcBef>
                <a:spcPts val="1160"/>
              </a:spcBef>
              <a:buClr>
                <a:srgbClr val="C00000"/>
              </a:buClr>
              <a:buSzPct val="58928"/>
              <a:buFont typeface="Wingdings"/>
              <a:buChar char=""/>
              <a:tabLst>
                <a:tab pos="756920" algn="l"/>
              </a:tabLst>
            </a:pPr>
            <a:r>
              <a:rPr dirty="0" sz="2800" spc="-5">
                <a:solidFill>
                  <a:srgbClr val="00A15F"/>
                </a:solidFill>
                <a:latin typeface="宋体"/>
                <a:cs typeface="宋体"/>
              </a:rPr>
              <a:t>专家用</a:t>
            </a:r>
            <a:r>
              <a:rPr dirty="0" sz="2800" spc="-10">
                <a:solidFill>
                  <a:srgbClr val="00A15F"/>
                </a:solidFill>
                <a:latin typeface="宋体"/>
                <a:cs typeface="宋体"/>
              </a:rPr>
              <a:t>户</a:t>
            </a:r>
            <a:r>
              <a:rPr dirty="0" sz="2800" spc="-5">
                <a:latin typeface="宋体"/>
                <a:cs typeface="宋体"/>
              </a:rPr>
              <a:t>的知识结构因其渊博性而</a:t>
            </a:r>
            <a:r>
              <a:rPr dirty="0" sz="2800" spc="5">
                <a:latin typeface="宋体"/>
                <a:cs typeface="宋体"/>
              </a:rPr>
              <a:t>具</a:t>
            </a:r>
            <a:r>
              <a:rPr dirty="0" sz="2800" spc="-5">
                <a:latin typeface="宋体"/>
                <a:cs typeface="宋体"/>
              </a:rPr>
              <a:t>有概</a:t>
            </a:r>
            <a:r>
              <a:rPr dirty="0" sz="2800" spc="5">
                <a:latin typeface="宋体"/>
                <a:cs typeface="宋体"/>
              </a:rPr>
              <a:t>括</a:t>
            </a:r>
            <a:r>
              <a:rPr dirty="0" sz="2800" spc="-5">
                <a:latin typeface="宋体"/>
                <a:cs typeface="宋体"/>
              </a:rPr>
              <a:t>性和广 </a:t>
            </a:r>
            <a:r>
              <a:rPr dirty="0" sz="2800" spc="-10">
                <a:latin typeface="宋体"/>
                <a:cs typeface="宋体"/>
              </a:rPr>
              <a:t>泛性</a:t>
            </a:r>
            <a:endParaRPr sz="2800">
              <a:latin typeface="宋体"/>
              <a:cs typeface="宋体"/>
            </a:endParaRPr>
          </a:p>
          <a:p>
            <a:pPr algn="just" lvl="2" marL="1155700" indent="-229235">
              <a:lnSpc>
                <a:spcPct val="100000"/>
              </a:lnSpc>
              <a:spcBef>
                <a:spcPts val="530"/>
              </a:spcBef>
              <a:buFont typeface="Arial"/>
              <a:buChar char="•"/>
              <a:tabLst>
                <a:tab pos="1156335" algn="l"/>
              </a:tabLst>
            </a:pPr>
            <a:r>
              <a:rPr dirty="0" sz="2400">
                <a:latin typeface="宋体"/>
                <a:cs typeface="宋体"/>
              </a:rPr>
              <a:t>能够回答概括性和综合性的问题</a:t>
            </a:r>
            <a:endParaRPr sz="2400">
              <a:latin typeface="宋体"/>
              <a:cs typeface="宋体"/>
            </a:endParaRPr>
          </a:p>
          <a:p>
            <a:pPr algn="just" lvl="1" marL="756285" marR="5080" indent="-287020">
              <a:lnSpc>
                <a:spcPct val="96800"/>
              </a:lnSpc>
              <a:spcBef>
                <a:spcPts val="980"/>
              </a:spcBef>
              <a:buClr>
                <a:srgbClr val="C00000"/>
              </a:buClr>
              <a:buSzPct val="58928"/>
              <a:buFont typeface="Wingdings"/>
              <a:buChar char=""/>
              <a:tabLst>
                <a:tab pos="756920" algn="l"/>
              </a:tabLst>
            </a:pPr>
            <a:r>
              <a:rPr dirty="0" sz="2800" spc="-5">
                <a:solidFill>
                  <a:srgbClr val="00A15F"/>
                </a:solidFill>
                <a:latin typeface="宋体"/>
                <a:cs typeface="宋体"/>
              </a:rPr>
              <a:t>开发人</a:t>
            </a:r>
            <a:r>
              <a:rPr dirty="0" sz="2800" spc="-10">
                <a:solidFill>
                  <a:srgbClr val="00A15F"/>
                </a:solidFill>
                <a:latin typeface="宋体"/>
                <a:cs typeface="宋体"/>
              </a:rPr>
              <a:t>员</a:t>
            </a:r>
            <a:r>
              <a:rPr dirty="0" sz="2800" spc="-5">
                <a:latin typeface="宋体"/>
                <a:cs typeface="宋体"/>
              </a:rPr>
              <a:t>在与用户接触之前就先行</a:t>
            </a:r>
            <a:r>
              <a:rPr dirty="0" sz="2800" spc="5">
                <a:latin typeface="宋体"/>
                <a:cs typeface="宋体"/>
              </a:rPr>
              <a:t>确</a:t>
            </a:r>
            <a:r>
              <a:rPr dirty="0" sz="2800" spc="-5">
                <a:latin typeface="宋体"/>
                <a:cs typeface="宋体"/>
              </a:rPr>
              <a:t>定获</a:t>
            </a:r>
            <a:r>
              <a:rPr dirty="0" sz="2800" spc="5">
                <a:latin typeface="宋体"/>
                <a:cs typeface="宋体"/>
              </a:rPr>
              <a:t>取</a:t>
            </a:r>
            <a:r>
              <a:rPr dirty="0" sz="2800" spc="-5">
                <a:latin typeface="宋体"/>
                <a:cs typeface="宋体"/>
              </a:rPr>
              <a:t>的内容 </a:t>
            </a:r>
            <a:r>
              <a:rPr dirty="0" sz="2800" spc="-10">
                <a:latin typeface="宋体"/>
                <a:cs typeface="宋体"/>
              </a:rPr>
              <a:t>主题，然后设计具体的应用环境和</a:t>
            </a:r>
            <a:r>
              <a:rPr dirty="0" sz="2800">
                <a:latin typeface="宋体"/>
                <a:cs typeface="宋体"/>
              </a:rPr>
              <a:t>场</a:t>
            </a:r>
            <a:r>
              <a:rPr dirty="0" sz="2800" spc="-10">
                <a:latin typeface="宋体"/>
                <a:cs typeface="宋体"/>
              </a:rPr>
              <a:t>景条</a:t>
            </a:r>
            <a:r>
              <a:rPr dirty="0" sz="2800">
                <a:latin typeface="宋体"/>
                <a:cs typeface="宋体"/>
              </a:rPr>
              <a:t>件</a:t>
            </a:r>
            <a:r>
              <a:rPr dirty="0" sz="2800" spc="-10">
                <a:latin typeface="宋体"/>
                <a:cs typeface="宋体"/>
              </a:rPr>
              <a:t>，由用 </a:t>
            </a:r>
            <a:r>
              <a:rPr dirty="0" sz="2800" spc="-5">
                <a:latin typeface="宋体"/>
                <a:cs typeface="宋体"/>
              </a:rPr>
              <a:t>户根据细节业务的执行来描述问题</a:t>
            </a:r>
            <a:r>
              <a:rPr dirty="0" sz="2800">
                <a:latin typeface="宋体"/>
                <a:cs typeface="宋体"/>
              </a:rPr>
              <a:t>、</a:t>
            </a:r>
            <a:r>
              <a:rPr dirty="0" sz="2800" spc="-5">
                <a:latin typeface="宋体"/>
                <a:cs typeface="宋体"/>
              </a:rPr>
              <a:t>表达</a:t>
            </a:r>
            <a:r>
              <a:rPr dirty="0" sz="2800">
                <a:latin typeface="宋体"/>
                <a:cs typeface="宋体"/>
              </a:rPr>
              <a:t>期</a:t>
            </a:r>
            <a:r>
              <a:rPr dirty="0" sz="2800" spc="-5">
                <a:latin typeface="宋体"/>
                <a:cs typeface="宋体"/>
              </a:rPr>
              <a:t>望。</a:t>
            </a:r>
            <a:endParaRPr sz="2800">
              <a:latin typeface="宋体"/>
              <a:cs typeface="宋体"/>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4861" y="156463"/>
            <a:ext cx="603504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1.1.</a:t>
            </a:r>
            <a:r>
              <a:rPr dirty="0" spc="-60">
                <a:latin typeface="Calibri"/>
                <a:cs typeface="Calibri"/>
              </a:rPr>
              <a:t> </a:t>
            </a:r>
            <a:r>
              <a:rPr dirty="0"/>
              <a:t>需求获取的非平凡性</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078221"/>
            <a:ext cx="7265034" cy="4398645"/>
          </a:xfrm>
          <a:prstGeom prst="rect">
            <a:avLst/>
          </a:prstGeom>
        </p:spPr>
        <p:txBody>
          <a:bodyPr wrap="square" lIns="0" tIns="113664" rIns="0" bIns="0" rtlCol="0" vert="horz">
            <a:spAutoFit/>
          </a:bodyPr>
          <a:lstStyle/>
          <a:p>
            <a:pPr marL="355600" indent="-343535">
              <a:lnSpc>
                <a:spcPct val="100000"/>
              </a:lnSpc>
              <a:spcBef>
                <a:spcPts val="894"/>
              </a:spcBef>
              <a:buClr>
                <a:srgbClr val="00663B"/>
              </a:buClr>
              <a:buSzPct val="79687"/>
              <a:buFont typeface="Wingdings"/>
              <a:buChar char=""/>
              <a:tabLst>
                <a:tab pos="356235" algn="l"/>
              </a:tabLst>
            </a:pPr>
            <a:r>
              <a:rPr dirty="0" sz="3200">
                <a:latin typeface="宋体"/>
                <a:cs typeface="宋体"/>
              </a:rPr>
              <a:t>用户存在认知困境</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潜在（</a:t>
            </a:r>
            <a:r>
              <a:rPr dirty="0" sz="2800" spc="-5">
                <a:latin typeface="Calibri"/>
                <a:cs typeface="Calibri"/>
              </a:rPr>
              <a:t>Latency</a:t>
            </a:r>
            <a:r>
              <a:rPr dirty="0" sz="2800" spc="-5">
                <a:latin typeface="宋体"/>
                <a:cs typeface="宋体"/>
              </a:rPr>
              <a:t>）知识</a:t>
            </a:r>
            <a:endParaRPr sz="2800">
              <a:latin typeface="宋体"/>
              <a:cs typeface="宋体"/>
            </a:endParaRPr>
          </a:p>
          <a:p>
            <a:pPr lvl="2" marL="1155700" indent="-229235">
              <a:lnSpc>
                <a:spcPct val="100000"/>
              </a:lnSpc>
              <a:spcBef>
                <a:spcPts val="590"/>
              </a:spcBef>
              <a:buFont typeface="Arial"/>
              <a:buChar char="•"/>
              <a:tabLst>
                <a:tab pos="1156335" algn="l"/>
              </a:tabLst>
            </a:pPr>
            <a:r>
              <a:rPr dirty="0" sz="2400">
                <a:latin typeface="宋体"/>
                <a:cs typeface="宋体"/>
              </a:rPr>
              <a:t>需要利用各种有效的需求获取方法和技巧</a:t>
            </a:r>
            <a:endParaRPr sz="2400">
              <a:latin typeface="宋体"/>
              <a:cs typeface="宋体"/>
            </a:endParaRPr>
          </a:p>
          <a:p>
            <a:pPr lvl="2">
              <a:lnSpc>
                <a:spcPct val="100000"/>
              </a:lnSpc>
              <a:spcBef>
                <a:spcPts val="30"/>
              </a:spcBef>
              <a:buFont typeface="Arial"/>
              <a:buChar char="•"/>
            </a:pPr>
            <a:endParaRPr sz="265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宋体"/>
                <a:cs typeface="宋体"/>
              </a:rPr>
              <a:t>用户越俎代庖</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用户提出的不是需求，而是解决方案</a:t>
            </a:r>
            <a:endParaRPr sz="2800">
              <a:latin typeface="宋体"/>
              <a:cs typeface="宋体"/>
            </a:endParaRPr>
          </a:p>
          <a:p>
            <a:pPr lvl="2" marL="1155700" indent="-229235">
              <a:lnSpc>
                <a:spcPct val="100000"/>
              </a:lnSpc>
              <a:spcBef>
                <a:spcPts val="590"/>
              </a:spcBef>
              <a:buFont typeface="Arial"/>
              <a:buChar char="•"/>
              <a:tabLst>
                <a:tab pos="1156335" algn="l"/>
              </a:tabLst>
            </a:pPr>
            <a:r>
              <a:rPr dirty="0" sz="2400">
                <a:latin typeface="宋体"/>
                <a:cs typeface="宋体"/>
              </a:rPr>
              <a:t>注意保持业务领域和解决方案的区分界限</a:t>
            </a:r>
            <a:endParaRPr sz="2400">
              <a:latin typeface="宋体"/>
              <a:cs typeface="宋体"/>
            </a:endParaRPr>
          </a:p>
          <a:p>
            <a:pPr lvl="1" marL="756285" indent="-287020">
              <a:lnSpc>
                <a:spcPct val="100000"/>
              </a:lnSpc>
              <a:spcBef>
                <a:spcPts val="660"/>
              </a:spcBef>
              <a:buClr>
                <a:srgbClr val="C00000"/>
              </a:buClr>
              <a:buSzPct val="58928"/>
              <a:buFont typeface="Wingdings"/>
              <a:buChar char=""/>
              <a:tabLst>
                <a:tab pos="756285" algn="l"/>
                <a:tab pos="756920" algn="l"/>
              </a:tabLst>
            </a:pPr>
            <a:r>
              <a:rPr dirty="0" sz="2800" spc="-5">
                <a:latin typeface="宋体"/>
                <a:cs typeface="宋体"/>
              </a:rPr>
              <a:t>用户固执的坚持某些特征和功能</a:t>
            </a:r>
            <a:endParaRPr sz="2800">
              <a:latin typeface="宋体"/>
              <a:cs typeface="宋体"/>
            </a:endParaRPr>
          </a:p>
          <a:p>
            <a:pPr lvl="2" marL="1155700" indent="-229235">
              <a:lnSpc>
                <a:spcPct val="100000"/>
              </a:lnSpc>
              <a:spcBef>
                <a:spcPts val="590"/>
              </a:spcBef>
              <a:buFont typeface="Arial"/>
              <a:buChar char="•"/>
              <a:tabLst>
                <a:tab pos="1156335" algn="l"/>
              </a:tabLst>
            </a:pPr>
            <a:r>
              <a:rPr dirty="0" sz="2400" spc="-5">
                <a:latin typeface="宋体"/>
                <a:cs typeface="宋体"/>
              </a:rPr>
              <a:t>分析用户的深层目的，找到隐藏在背后的需求</a:t>
            </a:r>
            <a:endParaRPr sz="2400">
              <a:latin typeface="宋体"/>
              <a:cs typeface="宋体"/>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54861" y="129997"/>
            <a:ext cx="6035040"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1.1.</a:t>
            </a:r>
            <a:r>
              <a:rPr dirty="0" spc="-80">
                <a:latin typeface="Calibri"/>
                <a:cs typeface="Calibri"/>
              </a:rPr>
              <a:t> </a:t>
            </a:r>
            <a:r>
              <a:rPr dirty="0"/>
              <a:t>需求获取的非平凡性</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a:spLocks noGrp="1"/>
          </p:cNvSpPr>
          <p:nvPr>
            <p:ph type="body" idx="1"/>
          </p:nvPr>
        </p:nvSpPr>
        <p:spPr>
          <a:prstGeom prst="rect"/>
        </p:spPr>
        <p:txBody>
          <a:bodyPr wrap="square" lIns="0" tIns="113664" rIns="0" bIns="0" rtlCol="0" vert="horz">
            <a:spAutoFit/>
          </a:bodyPr>
          <a:lstStyle/>
          <a:p>
            <a:pPr marL="512445" indent="-343535">
              <a:lnSpc>
                <a:spcPct val="100000"/>
              </a:lnSpc>
              <a:spcBef>
                <a:spcPts val="894"/>
              </a:spcBef>
              <a:buClr>
                <a:srgbClr val="00663B"/>
              </a:buClr>
              <a:buSzPct val="79687"/>
              <a:buFont typeface="Wingdings"/>
              <a:buChar char=""/>
              <a:tabLst>
                <a:tab pos="513080" algn="l"/>
              </a:tabLst>
            </a:pPr>
            <a:r>
              <a:rPr dirty="0" b="0">
                <a:solidFill>
                  <a:srgbClr val="FF0000"/>
                </a:solidFill>
                <a:latin typeface="宋体"/>
                <a:cs typeface="宋体"/>
              </a:rPr>
              <a:t>缺乏用户参与</a:t>
            </a:r>
          </a:p>
          <a:p>
            <a:pPr lvl="1" marL="913130" indent="-287020">
              <a:lnSpc>
                <a:spcPct val="100000"/>
              </a:lnSpc>
              <a:spcBef>
                <a:spcPts val="690"/>
              </a:spcBef>
              <a:buClr>
                <a:srgbClr val="C00000"/>
              </a:buClr>
              <a:buSzPct val="58928"/>
              <a:buFont typeface="Wingdings"/>
              <a:buChar char=""/>
              <a:tabLst>
                <a:tab pos="913130" algn="l"/>
                <a:tab pos="913765" algn="l"/>
              </a:tabLst>
            </a:pPr>
            <a:r>
              <a:rPr dirty="0" sz="2800" spc="-5">
                <a:latin typeface="宋体"/>
                <a:cs typeface="宋体"/>
              </a:rPr>
              <a:t>用户数量太多，选择困难</a:t>
            </a:r>
            <a:endParaRPr sz="2800">
              <a:latin typeface="宋体"/>
              <a:cs typeface="宋体"/>
            </a:endParaRPr>
          </a:p>
          <a:p>
            <a:pPr lvl="1" marL="913130" indent="-287020">
              <a:lnSpc>
                <a:spcPct val="100000"/>
              </a:lnSpc>
              <a:spcBef>
                <a:spcPts val="670"/>
              </a:spcBef>
              <a:buClr>
                <a:srgbClr val="C00000"/>
              </a:buClr>
              <a:buSzPct val="58928"/>
              <a:buFont typeface="Wingdings"/>
              <a:buChar char=""/>
              <a:tabLst>
                <a:tab pos="913130" algn="l"/>
                <a:tab pos="913765" algn="l"/>
              </a:tabLst>
            </a:pPr>
            <a:r>
              <a:rPr dirty="0" sz="2800" spc="-5">
                <a:latin typeface="宋体"/>
                <a:cs typeface="宋体"/>
              </a:rPr>
              <a:t>用户认识不足，不愿参与</a:t>
            </a:r>
            <a:endParaRPr sz="2800">
              <a:latin typeface="宋体"/>
              <a:cs typeface="宋体"/>
            </a:endParaRPr>
          </a:p>
          <a:p>
            <a:pPr lvl="1" marL="913130" indent="-287020">
              <a:lnSpc>
                <a:spcPct val="100000"/>
              </a:lnSpc>
              <a:spcBef>
                <a:spcPts val="675"/>
              </a:spcBef>
              <a:buClr>
                <a:srgbClr val="C00000"/>
              </a:buClr>
              <a:buSzPct val="58928"/>
              <a:buFont typeface="Wingdings"/>
              <a:buChar char=""/>
              <a:tabLst>
                <a:tab pos="913130" algn="l"/>
                <a:tab pos="913765" algn="l"/>
              </a:tabLst>
            </a:pPr>
            <a:r>
              <a:rPr dirty="0" sz="2800" spc="-5">
                <a:latin typeface="宋体"/>
                <a:cs typeface="宋体"/>
              </a:rPr>
              <a:t>用户情绪抵制，消极参与</a:t>
            </a:r>
            <a:endParaRPr sz="2800">
              <a:latin typeface="宋体"/>
              <a:cs typeface="宋体"/>
            </a:endParaRPr>
          </a:p>
          <a:p>
            <a:pPr lvl="1" marL="913130" indent="-287020">
              <a:lnSpc>
                <a:spcPct val="100000"/>
              </a:lnSpc>
              <a:spcBef>
                <a:spcPts val="670"/>
              </a:spcBef>
              <a:buClr>
                <a:srgbClr val="C00000"/>
              </a:buClr>
              <a:buSzPct val="58928"/>
              <a:buFont typeface="Wingdings"/>
              <a:buChar char=""/>
              <a:tabLst>
                <a:tab pos="913130" algn="l"/>
                <a:tab pos="913765" algn="l"/>
              </a:tabLst>
            </a:pPr>
            <a:r>
              <a:rPr dirty="0" sz="2800" spc="-10">
                <a:latin typeface="宋体"/>
                <a:cs typeface="宋体"/>
              </a:rPr>
              <a:t>没有明确的用户</a:t>
            </a:r>
            <a:endParaRPr sz="2800">
              <a:latin typeface="宋体"/>
              <a:cs typeface="宋体"/>
            </a:endParaRPr>
          </a:p>
          <a:p>
            <a:pPr lvl="1" marL="913130" marR="5080" indent="-287020">
              <a:lnSpc>
                <a:spcPts val="3140"/>
              </a:lnSpc>
              <a:spcBef>
                <a:spcPts val="1180"/>
              </a:spcBef>
              <a:buClr>
                <a:srgbClr val="C00000"/>
              </a:buClr>
              <a:buSzPct val="58928"/>
              <a:buFont typeface="Wingdings"/>
              <a:buChar char=""/>
              <a:tabLst>
                <a:tab pos="913130" algn="l"/>
                <a:tab pos="913765" algn="l"/>
              </a:tabLst>
            </a:pPr>
            <a:r>
              <a:rPr dirty="0" sz="2800" spc="-5">
                <a:latin typeface="宋体"/>
                <a:cs typeface="宋体"/>
              </a:rPr>
              <a:t>对系统的用户以及用户的替代源等</a:t>
            </a:r>
            <a:r>
              <a:rPr dirty="0" sz="2800">
                <a:latin typeface="宋体"/>
                <a:cs typeface="宋体"/>
              </a:rPr>
              <a:t>相</a:t>
            </a:r>
            <a:r>
              <a:rPr dirty="0" sz="2800" spc="-5">
                <a:latin typeface="宋体"/>
                <a:cs typeface="宋体"/>
              </a:rPr>
              <a:t>关涉</a:t>
            </a:r>
            <a:r>
              <a:rPr dirty="0" sz="2800">
                <a:latin typeface="宋体"/>
                <a:cs typeface="宋体"/>
              </a:rPr>
              <a:t>众</a:t>
            </a:r>
            <a:r>
              <a:rPr dirty="0" sz="2800" spc="-5">
                <a:latin typeface="宋体"/>
                <a:cs typeface="宋体"/>
              </a:rPr>
              <a:t>进行 </a:t>
            </a:r>
            <a:r>
              <a:rPr dirty="0" sz="2800" spc="-5">
                <a:latin typeface="宋体"/>
                <a:cs typeface="宋体"/>
              </a:rPr>
              <a:t>分析</a:t>
            </a:r>
            <a:endParaRPr sz="2800">
              <a:latin typeface="宋体"/>
              <a:cs typeface="宋体"/>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93545" y="269239"/>
            <a:ext cx="575754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1.2.1</a:t>
            </a:r>
            <a:r>
              <a:rPr dirty="0" spc="-75">
                <a:latin typeface="Calibri"/>
                <a:cs typeface="Calibri"/>
              </a:rPr>
              <a:t> </a:t>
            </a:r>
            <a:r>
              <a:rPr dirty="0"/>
              <a:t>需求获取的子活动</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311491"/>
            <a:ext cx="8319770" cy="3470910"/>
          </a:xfrm>
          <a:prstGeom prst="rect">
            <a:avLst/>
          </a:prstGeom>
        </p:spPr>
        <p:txBody>
          <a:bodyPr wrap="square" lIns="0" tIns="43180" rIns="0" bIns="0" rtlCol="0" vert="horz">
            <a:spAutoFit/>
          </a:bodyPr>
          <a:lstStyle/>
          <a:p>
            <a:pPr marL="584200" indent="-572135">
              <a:lnSpc>
                <a:spcPct val="100000"/>
              </a:lnSpc>
              <a:spcBef>
                <a:spcPts val="340"/>
              </a:spcBef>
              <a:buClr>
                <a:srgbClr val="00663B"/>
              </a:buClr>
              <a:buSzPct val="79687"/>
              <a:buFont typeface="Wingdings"/>
              <a:buChar char=""/>
              <a:tabLst>
                <a:tab pos="584200" algn="l"/>
                <a:tab pos="584835" algn="l"/>
              </a:tabLst>
            </a:pPr>
            <a:r>
              <a:rPr dirty="0" sz="3200">
                <a:latin typeface="宋体"/>
                <a:cs typeface="宋体"/>
              </a:rPr>
              <a:t>研究应用背景，建立初</a:t>
            </a:r>
            <a:r>
              <a:rPr dirty="0" sz="3200" spc="-15">
                <a:latin typeface="宋体"/>
                <a:cs typeface="宋体"/>
              </a:rPr>
              <a:t>始</a:t>
            </a:r>
            <a:r>
              <a:rPr dirty="0" sz="3200">
                <a:latin typeface="宋体"/>
                <a:cs typeface="宋体"/>
              </a:rPr>
              <a:t>的知</a:t>
            </a:r>
            <a:r>
              <a:rPr dirty="0" sz="3200" spc="-15">
                <a:latin typeface="宋体"/>
                <a:cs typeface="宋体"/>
              </a:rPr>
              <a:t>识</a:t>
            </a:r>
            <a:r>
              <a:rPr dirty="0" sz="3200">
                <a:latin typeface="宋体"/>
                <a:cs typeface="宋体"/>
              </a:rPr>
              <a:t>框架；</a:t>
            </a:r>
            <a:endParaRPr sz="3200">
              <a:latin typeface="宋体"/>
              <a:cs typeface="宋体"/>
            </a:endParaRPr>
          </a:p>
          <a:p>
            <a:pPr marL="584200" marR="407670" indent="-572135">
              <a:lnSpc>
                <a:spcPts val="3600"/>
              </a:lnSpc>
              <a:spcBef>
                <a:spcPts val="565"/>
              </a:spcBef>
              <a:buClr>
                <a:srgbClr val="00663B"/>
              </a:buClr>
              <a:buSzPct val="79687"/>
              <a:buFont typeface="Wingdings"/>
              <a:buChar char=""/>
              <a:tabLst>
                <a:tab pos="584200" algn="l"/>
                <a:tab pos="584835" algn="l"/>
              </a:tabLst>
            </a:pPr>
            <a:r>
              <a:rPr dirty="0" sz="3200">
                <a:latin typeface="宋体"/>
                <a:cs typeface="宋体"/>
              </a:rPr>
              <a:t>根据获取的需要，采用</a:t>
            </a:r>
            <a:r>
              <a:rPr dirty="0" sz="3200" spc="-15">
                <a:latin typeface="宋体"/>
                <a:cs typeface="宋体"/>
              </a:rPr>
              <a:t>必</a:t>
            </a:r>
            <a:r>
              <a:rPr dirty="0" sz="3200">
                <a:latin typeface="宋体"/>
                <a:cs typeface="宋体"/>
              </a:rPr>
              <a:t>要的</a:t>
            </a:r>
            <a:r>
              <a:rPr dirty="0" sz="3200" spc="-15">
                <a:latin typeface="宋体"/>
                <a:cs typeface="宋体"/>
              </a:rPr>
              <a:t>获</a:t>
            </a:r>
            <a:r>
              <a:rPr dirty="0" sz="3200">
                <a:latin typeface="宋体"/>
                <a:cs typeface="宋体"/>
              </a:rPr>
              <a:t>取方</a:t>
            </a:r>
            <a:r>
              <a:rPr dirty="0" sz="3200" spc="-15">
                <a:latin typeface="宋体"/>
                <a:cs typeface="宋体"/>
              </a:rPr>
              <a:t>法</a:t>
            </a:r>
            <a:r>
              <a:rPr dirty="0" sz="3200">
                <a:latin typeface="宋体"/>
                <a:cs typeface="宋体"/>
              </a:rPr>
              <a:t>和 </a:t>
            </a:r>
            <a:r>
              <a:rPr dirty="0" sz="3200">
                <a:latin typeface="宋体"/>
                <a:cs typeface="宋体"/>
              </a:rPr>
              <a:t>技巧；</a:t>
            </a:r>
            <a:endParaRPr sz="3200">
              <a:latin typeface="宋体"/>
              <a:cs typeface="宋体"/>
            </a:endParaRPr>
          </a:p>
          <a:p>
            <a:pPr marL="584200" indent="-572135">
              <a:lnSpc>
                <a:spcPts val="3760"/>
              </a:lnSpc>
              <a:buClr>
                <a:srgbClr val="00663B"/>
              </a:buClr>
              <a:buSzPct val="79687"/>
              <a:buFont typeface="Wingdings"/>
              <a:buChar char=""/>
              <a:tabLst>
                <a:tab pos="584200" algn="l"/>
                <a:tab pos="584835" algn="l"/>
              </a:tabLst>
            </a:pPr>
            <a:r>
              <a:rPr dirty="0" sz="3200">
                <a:latin typeface="宋体"/>
                <a:cs typeface="宋体"/>
              </a:rPr>
              <a:t>先行确定获取的内容和</a:t>
            </a:r>
            <a:r>
              <a:rPr dirty="0" sz="3200" spc="-15">
                <a:latin typeface="宋体"/>
                <a:cs typeface="宋体"/>
              </a:rPr>
              <a:t>主</a:t>
            </a:r>
            <a:r>
              <a:rPr dirty="0" sz="3200">
                <a:latin typeface="宋体"/>
                <a:cs typeface="宋体"/>
              </a:rPr>
              <a:t>题，</a:t>
            </a:r>
            <a:r>
              <a:rPr dirty="0" sz="3200" spc="-15">
                <a:latin typeface="宋体"/>
                <a:cs typeface="宋体"/>
              </a:rPr>
              <a:t>设</a:t>
            </a:r>
            <a:r>
              <a:rPr dirty="0" sz="3200">
                <a:latin typeface="宋体"/>
                <a:cs typeface="宋体"/>
              </a:rPr>
              <a:t>定场</a:t>
            </a:r>
            <a:r>
              <a:rPr dirty="0" sz="3200" spc="-15">
                <a:latin typeface="宋体"/>
                <a:cs typeface="宋体"/>
              </a:rPr>
              <a:t>景</a:t>
            </a:r>
            <a:r>
              <a:rPr dirty="0" sz="3200" spc="5">
                <a:latin typeface="宋体"/>
                <a:cs typeface="宋体"/>
              </a:rPr>
              <a:t>；</a:t>
            </a:r>
            <a:endParaRPr sz="3200">
              <a:latin typeface="宋体"/>
              <a:cs typeface="宋体"/>
            </a:endParaRPr>
          </a:p>
          <a:p>
            <a:pPr marL="584200" marR="407670" indent="-572135">
              <a:lnSpc>
                <a:spcPts val="3600"/>
              </a:lnSpc>
              <a:spcBef>
                <a:spcPts val="560"/>
              </a:spcBef>
              <a:buClr>
                <a:srgbClr val="00663B"/>
              </a:buClr>
              <a:buSzPct val="79687"/>
              <a:buFont typeface="Wingdings"/>
              <a:buChar char=""/>
              <a:tabLst>
                <a:tab pos="584200" algn="l"/>
                <a:tab pos="584835" algn="l"/>
              </a:tabLst>
            </a:pPr>
            <a:r>
              <a:rPr dirty="0" sz="3200">
                <a:latin typeface="宋体"/>
                <a:cs typeface="宋体"/>
              </a:rPr>
              <a:t>分析用户的高（深）层</a:t>
            </a:r>
            <a:r>
              <a:rPr dirty="0" sz="3200" spc="-15">
                <a:latin typeface="宋体"/>
                <a:cs typeface="宋体"/>
              </a:rPr>
              <a:t>目</a:t>
            </a:r>
            <a:r>
              <a:rPr dirty="0" sz="3200">
                <a:latin typeface="宋体"/>
                <a:cs typeface="宋体"/>
              </a:rPr>
              <a:t>标，</a:t>
            </a:r>
            <a:r>
              <a:rPr dirty="0" sz="3200" spc="-15">
                <a:latin typeface="宋体"/>
                <a:cs typeface="宋体"/>
              </a:rPr>
              <a:t>理</a:t>
            </a:r>
            <a:r>
              <a:rPr dirty="0" sz="3200">
                <a:latin typeface="宋体"/>
                <a:cs typeface="宋体"/>
              </a:rPr>
              <a:t>解用</a:t>
            </a:r>
            <a:r>
              <a:rPr dirty="0" sz="3200" spc="-15">
                <a:latin typeface="宋体"/>
                <a:cs typeface="宋体"/>
              </a:rPr>
              <a:t>户</a:t>
            </a:r>
            <a:r>
              <a:rPr dirty="0" sz="3200">
                <a:latin typeface="宋体"/>
                <a:cs typeface="宋体"/>
              </a:rPr>
              <a:t>的 </a:t>
            </a:r>
            <a:r>
              <a:rPr dirty="0" sz="3200">
                <a:latin typeface="宋体"/>
                <a:cs typeface="宋体"/>
              </a:rPr>
              <a:t>意图；</a:t>
            </a:r>
            <a:endParaRPr sz="3200">
              <a:latin typeface="宋体"/>
              <a:cs typeface="宋体"/>
            </a:endParaRPr>
          </a:p>
          <a:p>
            <a:pPr marL="584200" indent="-572135">
              <a:lnSpc>
                <a:spcPts val="3760"/>
              </a:lnSpc>
              <a:buClr>
                <a:srgbClr val="00663B"/>
              </a:buClr>
              <a:buSzPct val="79687"/>
              <a:buFont typeface="Wingdings"/>
              <a:buChar char=""/>
              <a:tabLst>
                <a:tab pos="584200" algn="l"/>
                <a:tab pos="584835" algn="l"/>
              </a:tabLst>
            </a:pPr>
            <a:r>
              <a:rPr dirty="0" sz="3200" spc="5">
                <a:latin typeface="宋体"/>
                <a:cs typeface="宋体"/>
              </a:rPr>
              <a:t>进行</a:t>
            </a:r>
            <a:r>
              <a:rPr dirty="0" sz="3200" spc="-15">
                <a:latin typeface="宋体"/>
                <a:cs typeface="宋体"/>
              </a:rPr>
              <a:t>涉</a:t>
            </a:r>
            <a:r>
              <a:rPr dirty="0" sz="3200" spc="5">
                <a:latin typeface="宋体"/>
                <a:cs typeface="宋体"/>
              </a:rPr>
              <a:t>众分</a:t>
            </a:r>
            <a:r>
              <a:rPr dirty="0" sz="3200" spc="-15">
                <a:latin typeface="宋体"/>
                <a:cs typeface="宋体"/>
              </a:rPr>
              <a:t>析</a:t>
            </a:r>
            <a:r>
              <a:rPr dirty="0" sz="3200" spc="5">
                <a:latin typeface="宋体"/>
                <a:cs typeface="宋体"/>
              </a:rPr>
              <a:t>，针</a:t>
            </a:r>
            <a:r>
              <a:rPr dirty="0" sz="3200" spc="-15">
                <a:latin typeface="宋体"/>
                <a:cs typeface="宋体"/>
              </a:rPr>
              <a:t>对</a:t>
            </a:r>
            <a:r>
              <a:rPr dirty="0" sz="3200" spc="5">
                <a:latin typeface="宋体"/>
                <a:cs typeface="宋体"/>
              </a:rPr>
              <a:t>涉众</a:t>
            </a:r>
            <a:r>
              <a:rPr dirty="0" sz="3200" spc="-15">
                <a:latin typeface="宋体"/>
                <a:cs typeface="宋体"/>
              </a:rPr>
              <a:t>的</a:t>
            </a:r>
            <a:r>
              <a:rPr dirty="0" sz="3200" spc="5">
                <a:latin typeface="宋体"/>
                <a:cs typeface="宋体"/>
              </a:rPr>
              <a:t>特点</a:t>
            </a:r>
            <a:r>
              <a:rPr dirty="0" sz="3200" spc="-15">
                <a:latin typeface="宋体"/>
                <a:cs typeface="宋体"/>
              </a:rPr>
              <a:t>开</a:t>
            </a:r>
            <a:r>
              <a:rPr dirty="0" sz="3200" spc="5">
                <a:latin typeface="宋体"/>
                <a:cs typeface="宋体"/>
              </a:rPr>
              <a:t>展工</a:t>
            </a:r>
            <a:r>
              <a:rPr dirty="0" sz="3200" spc="-15">
                <a:latin typeface="宋体"/>
                <a:cs typeface="宋体"/>
              </a:rPr>
              <a:t>作</a:t>
            </a:r>
            <a:r>
              <a:rPr dirty="0" sz="3200" spc="5">
                <a:latin typeface="宋体"/>
                <a:cs typeface="宋体"/>
              </a:rPr>
              <a:t>。</a:t>
            </a:r>
            <a:endParaRPr sz="3200">
              <a:latin typeface="宋体"/>
              <a:cs typeface="宋体"/>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3128" y="129997"/>
            <a:ext cx="6316980"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1.2.2</a:t>
            </a:r>
            <a:r>
              <a:rPr dirty="0" spc="-95">
                <a:latin typeface="Calibri"/>
                <a:cs typeface="Calibri"/>
              </a:rPr>
              <a:t> </a:t>
            </a:r>
            <a:r>
              <a:rPr dirty="0"/>
              <a:t>需求获取的活动过程</a:t>
            </a:r>
          </a:p>
        </p:txBody>
      </p:sp>
      <p:sp>
        <p:nvSpPr>
          <p:cNvPr id="3" name="object 3"/>
          <p:cNvSpPr/>
          <p:nvPr/>
        </p:nvSpPr>
        <p:spPr>
          <a:xfrm>
            <a:off x="108831" y="3078373"/>
            <a:ext cx="858519" cy="857885"/>
          </a:xfrm>
          <a:custGeom>
            <a:avLst/>
            <a:gdLst/>
            <a:ahLst/>
            <a:cxnLst/>
            <a:rect l="l" t="t" r="r" b="b"/>
            <a:pathLst>
              <a:path w="858519" h="857885">
                <a:moveTo>
                  <a:pt x="429193" y="0"/>
                </a:moveTo>
                <a:lnTo>
                  <a:pt x="382426" y="2517"/>
                </a:lnTo>
                <a:lnTo>
                  <a:pt x="337119" y="9895"/>
                </a:lnTo>
                <a:lnTo>
                  <a:pt x="293532" y="21870"/>
                </a:lnTo>
                <a:lnTo>
                  <a:pt x="251927" y="38181"/>
                </a:lnTo>
                <a:lnTo>
                  <a:pt x="212567" y="58567"/>
                </a:lnTo>
                <a:lnTo>
                  <a:pt x="175714" y="82763"/>
                </a:lnTo>
                <a:lnTo>
                  <a:pt x="141628" y="110509"/>
                </a:lnTo>
                <a:lnTo>
                  <a:pt x="110571" y="141542"/>
                </a:lnTo>
                <a:lnTo>
                  <a:pt x="82807" y="175600"/>
                </a:lnTo>
                <a:lnTo>
                  <a:pt x="58595" y="212420"/>
                </a:lnTo>
                <a:lnTo>
                  <a:pt x="38199" y="251742"/>
                </a:lnTo>
                <a:lnTo>
                  <a:pt x="21879" y="293302"/>
                </a:lnTo>
                <a:lnTo>
                  <a:pt x="9898" y="336838"/>
                </a:lnTo>
                <a:lnTo>
                  <a:pt x="2518" y="382088"/>
                </a:lnTo>
                <a:lnTo>
                  <a:pt x="0" y="428791"/>
                </a:lnTo>
                <a:lnTo>
                  <a:pt x="2518" y="475519"/>
                </a:lnTo>
                <a:lnTo>
                  <a:pt x="9898" y="520789"/>
                </a:lnTo>
                <a:lnTo>
                  <a:pt x="21879" y="564338"/>
                </a:lnTo>
                <a:lnTo>
                  <a:pt x="38199" y="605905"/>
                </a:lnTo>
                <a:lnTo>
                  <a:pt x="58595" y="645228"/>
                </a:lnTo>
                <a:lnTo>
                  <a:pt x="82807" y="682047"/>
                </a:lnTo>
                <a:lnTo>
                  <a:pt x="110571" y="716100"/>
                </a:lnTo>
                <a:lnTo>
                  <a:pt x="141628" y="747125"/>
                </a:lnTo>
                <a:lnTo>
                  <a:pt x="175714" y="774862"/>
                </a:lnTo>
                <a:lnTo>
                  <a:pt x="212567" y="799048"/>
                </a:lnTo>
                <a:lnTo>
                  <a:pt x="251927" y="819423"/>
                </a:lnTo>
                <a:lnTo>
                  <a:pt x="293532" y="835726"/>
                </a:lnTo>
                <a:lnTo>
                  <a:pt x="337119" y="847694"/>
                </a:lnTo>
                <a:lnTo>
                  <a:pt x="382426" y="855066"/>
                </a:lnTo>
                <a:lnTo>
                  <a:pt x="429193" y="857582"/>
                </a:lnTo>
                <a:lnTo>
                  <a:pt x="475957" y="855066"/>
                </a:lnTo>
                <a:lnTo>
                  <a:pt x="521262" y="847694"/>
                </a:lnTo>
                <a:lnTo>
                  <a:pt x="564847" y="835726"/>
                </a:lnTo>
                <a:lnTo>
                  <a:pt x="606450" y="819423"/>
                </a:lnTo>
                <a:lnTo>
                  <a:pt x="645808" y="799048"/>
                </a:lnTo>
                <a:lnTo>
                  <a:pt x="682661" y="774862"/>
                </a:lnTo>
                <a:lnTo>
                  <a:pt x="716746" y="747125"/>
                </a:lnTo>
                <a:lnTo>
                  <a:pt x="747802" y="716100"/>
                </a:lnTo>
                <a:lnTo>
                  <a:pt x="775567" y="682047"/>
                </a:lnTo>
                <a:lnTo>
                  <a:pt x="799778" y="645228"/>
                </a:lnTo>
                <a:lnTo>
                  <a:pt x="820174" y="605905"/>
                </a:lnTo>
                <a:lnTo>
                  <a:pt x="836494" y="564338"/>
                </a:lnTo>
                <a:lnTo>
                  <a:pt x="848475" y="520789"/>
                </a:lnTo>
                <a:lnTo>
                  <a:pt x="855856" y="475519"/>
                </a:lnTo>
                <a:lnTo>
                  <a:pt x="858374" y="428791"/>
                </a:lnTo>
                <a:lnTo>
                  <a:pt x="855856" y="382088"/>
                </a:lnTo>
                <a:lnTo>
                  <a:pt x="848475" y="336838"/>
                </a:lnTo>
                <a:lnTo>
                  <a:pt x="836494" y="293302"/>
                </a:lnTo>
                <a:lnTo>
                  <a:pt x="820174" y="251742"/>
                </a:lnTo>
                <a:lnTo>
                  <a:pt x="799778" y="212420"/>
                </a:lnTo>
                <a:lnTo>
                  <a:pt x="775567" y="175600"/>
                </a:lnTo>
                <a:lnTo>
                  <a:pt x="747802" y="141542"/>
                </a:lnTo>
                <a:lnTo>
                  <a:pt x="716746" y="110509"/>
                </a:lnTo>
                <a:lnTo>
                  <a:pt x="682661" y="82763"/>
                </a:lnTo>
                <a:lnTo>
                  <a:pt x="645808" y="58567"/>
                </a:lnTo>
                <a:lnTo>
                  <a:pt x="606450" y="38181"/>
                </a:lnTo>
                <a:lnTo>
                  <a:pt x="564847" y="21870"/>
                </a:lnTo>
                <a:lnTo>
                  <a:pt x="521262" y="9895"/>
                </a:lnTo>
                <a:lnTo>
                  <a:pt x="475957" y="2517"/>
                </a:lnTo>
                <a:lnTo>
                  <a:pt x="429193" y="0"/>
                </a:lnTo>
                <a:close/>
              </a:path>
            </a:pathLst>
          </a:custGeom>
          <a:solidFill>
            <a:srgbClr val="E8EDF7"/>
          </a:solidFill>
        </p:spPr>
        <p:txBody>
          <a:bodyPr wrap="square" lIns="0" tIns="0" rIns="0" bIns="0" rtlCol="0"/>
          <a:lstStyle/>
          <a:p/>
        </p:txBody>
      </p:sp>
      <p:sp>
        <p:nvSpPr>
          <p:cNvPr id="4" name="object 4"/>
          <p:cNvSpPr/>
          <p:nvPr/>
        </p:nvSpPr>
        <p:spPr>
          <a:xfrm>
            <a:off x="108831" y="3078373"/>
            <a:ext cx="858519" cy="857885"/>
          </a:xfrm>
          <a:custGeom>
            <a:avLst/>
            <a:gdLst/>
            <a:ahLst/>
            <a:cxnLst/>
            <a:rect l="l" t="t" r="r" b="b"/>
            <a:pathLst>
              <a:path w="858519" h="857885">
                <a:moveTo>
                  <a:pt x="0" y="428791"/>
                </a:moveTo>
                <a:lnTo>
                  <a:pt x="2518" y="382088"/>
                </a:lnTo>
                <a:lnTo>
                  <a:pt x="9898" y="336838"/>
                </a:lnTo>
                <a:lnTo>
                  <a:pt x="21879" y="293302"/>
                </a:lnTo>
                <a:lnTo>
                  <a:pt x="38199" y="251742"/>
                </a:lnTo>
                <a:lnTo>
                  <a:pt x="58595" y="212420"/>
                </a:lnTo>
                <a:lnTo>
                  <a:pt x="82807" y="175600"/>
                </a:lnTo>
                <a:lnTo>
                  <a:pt x="110571" y="141542"/>
                </a:lnTo>
                <a:lnTo>
                  <a:pt x="141628" y="110509"/>
                </a:lnTo>
                <a:lnTo>
                  <a:pt x="175714" y="82763"/>
                </a:lnTo>
                <a:lnTo>
                  <a:pt x="212567" y="58567"/>
                </a:lnTo>
                <a:lnTo>
                  <a:pt x="251927" y="38181"/>
                </a:lnTo>
                <a:lnTo>
                  <a:pt x="293532" y="21870"/>
                </a:lnTo>
                <a:lnTo>
                  <a:pt x="337119" y="9895"/>
                </a:lnTo>
                <a:lnTo>
                  <a:pt x="382426" y="2517"/>
                </a:lnTo>
                <a:lnTo>
                  <a:pt x="429193" y="0"/>
                </a:lnTo>
                <a:lnTo>
                  <a:pt x="475957" y="2517"/>
                </a:lnTo>
                <a:lnTo>
                  <a:pt x="521262" y="9895"/>
                </a:lnTo>
                <a:lnTo>
                  <a:pt x="564847" y="21870"/>
                </a:lnTo>
                <a:lnTo>
                  <a:pt x="606450" y="38181"/>
                </a:lnTo>
                <a:lnTo>
                  <a:pt x="645808" y="58567"/>
                </a:lnTo>
                <a:lnTo>
                  <a:pt x="682661" y="82763"/>
                </a:lnTo>
                <a:lnTo>
                  <a:pt x="716746" y="110509"/>
                </a:lnTo>
                <a:lnTo>
                  <a:pt x="747802" y="141542"/>
                </a:lnTo>
                <a:lnTo>
                  <a:pt x="775567" y="175600"/>
                </a:lnTo>
                <a:lnTo>
                  <a:pt x="799778" y="212420"/>
                </a:lnTo>
                <a:lnTo>
                  <a:pt x="820174" y="251742"/>
                </a:lnTo>
                <a:lnTo>
                  <a:pt x="836494" y="293302"/>
                </a:lnTo>
                <a:lnTo>
                  <a:pt x="848475" y="336838"/>
                </a:lnTo>
                <a:lnTo>
                  <a:pt x="855856" y="382088"/>
                </a:lnTo>
                <a:lnTo>
                  <a:pt x="858374" y="428791"/>
                </a:lnTo>
                <a:lnTo>
                  <a:pt x="855856" y="475519"/>
                </a:lnTo>
                <a:lnTo>
                  <a:pt x="848475" y="520789"/>
                </a:lnTo>
                <a:lnTo>
                  <a:pt x="836494" y="564338"/>
                </a:lnTo>
                <a:lnTo>
                  <a:pt x="820174" y="605905"/>
                </a:lnTo>
                <a:lnTo>
                  <a:pt x="799778" y="645228"/>
                </a:lnTo>
                <a:lnTo>
                  <a:pt x="775567" y="682047"/>
                </a:lnTo>
                <a:lnTo>
                  <a:pt x="747802" y="716100"/>
                </a:lnTo>
                <a:lnTo>
                  <a:pt x="716746" y="747125"/>
                </a:lnTo>
                <a:lnTo>
                  <a:pt x="682661" y="774862"/>
                </a:lnTo>
                <a:lnTo>
                  <a:pt x="645808" y="799048"/>
                </a:lnTo>
                <a:lnTo>
                  <a:pt x="606450" y="819423"/>
                </a:lnTo>
                <a:lnTo>
                  <a:pt x="564847" y="835726"/>
                </a:lnTo>
                <a:lnTo>
                  <a:pt x="521262" y="847694"/>
                </a:lnTo>
                <a:lnTo>
                  <a:pt x="475957" y="855066"/>
                </a:lnTo>
                <a:lnTo>
                  <a:pt x="429193" y="857582"/>
                </a:lnTo>
                <a:lnTo>
                  <a:pt x="382426" y="855066"/>
                </a:lnTo>
                <a:lnTo>
                  <a:pt x="337119" y="847694"/>
                </a:lnTo>
                <a:lnTo>
                  <a:pt x="293532" y="835726"/>
                </a:lnTo>
                <a:lnTo>
                  <a:pt x="251927" y="819423"/>
                </a:lnTo>
                <a:lnTo>
                  <a:pt x="212567" y="799048"/>
                </a:lnTo>
                <a:lnTo>
                  <a:pt x="175714" y="774862"/>
                </a:lnTo>
                <a:lnTo>
                  <a:pt x="141628" y="747125"/>
                </a:lnTo>
                <a:lnTo>
                  <a:pt x="110571" y="716100"/>
                </a:lnTo>
                <a:lnTo>
                  <a:pt x="82807" y="682047"/>
                </a:lnTo>
                <a:lnTo>
                  <a:pt x="58595" y="645228"/>
                </a:lnTo>
                <a:lnTo>
                  <a:pt x="38199" y="605905"/>
                </a:lnTo>
                <a:lnTo>
                  <a:pt x="21879" y="564338"/>
                </a:lnTo>
                <a:lnTo>
                  <a:pt x="9898" y="520789"/>
                </a:lnTo>
                <a:lnTo>
                  <a:pt x="2518" y="475519"/>
                </a:lnTo>
                <a:lnTo>
                  <a:pt x="0" y="428791"/>
                </a:lnTo>
                <a:close/>
              </a:path>
            </a:pathLst>
          </a:custGeom>
          <a:ln w="3631">
            <a:solidFill>
              <a:srgbClr val="000000"/>
            </a:solidFill>
          </a:ln>
        </p:spPr>
        <p:txBody>
          <a:bodyPr wrap="square" lIns="0" tIns="0" rIns="0" bIns="0" rtlCol="0"/>
          <a:lstStyle/>
          <a:p/>
        </p:txBody>
      </p:sp>
      <p:sp>
        <p:nvSpPr>
          <p:cNvPr id="5" name="object 5"/>
          <p:cNvSpPr txBox="1"/>
          <p:nvPr/>
        </p:nvSpPr>
        <p:spPr>
          <a:xfrm>
            <a:off x="283117" y="3413245"/>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问题分析</a:t>
            </a:r>
            <a:endParaRPr sz="950">
              <a:latin typeface="宋体"/>
              <a:cs typeface="宋体"/>
            </a:endParaRPr>
          </a:p>
        </p:txBody>
      </p:sp>
      <p:sp>
        <p:nvSpPr>
          <p:cNvPr id="6" name="object 6"/>
          <p:cNvSpPr txBox="1"/>
          <p:nvPr/>
        </p:nvSpPr>
        <p:spPr>
          <a:xfrm>
            <a:off x="108831" y="1835166"/>
            <a:ext cx="858519" cy="429259"/>
          </a:xfrm>
          <a:prstGeom prst="rect">
            <a:avLst/>
          </a:prstGeom>
          <a:solidFill>
            <a:srgbClr val="E8EDF7"/>
          </a:solidFill>
          <a:ln w="3630">
            <a:solidFill>
              <a:srgbClr val="000000"/>
            </a:solidFill>
          </a:ln>
        </p:spPr>
        <p:txBody>
          <a:bodyPr wrap="square" lIns="0" tIns="1905" rIns="0" bIns="0" rtlCol="0" vert="horz">
            <a:spAutoFit/>
          </a:bodyPr>
          <a:lstStyle/>
          <a:p>
            <a:pPr>
              <a:lnSpc>
                <a:spcPct val="100000"/>
              </a:lnSpc>
              <a:spcBef>
                <a:spcPts val="15"/>
              </a:spcBef>
            </a:pPr>
            <a:endParaRPr sz="900">
              <a:latin typeface="Times New Roman"/>
              <a:cs typeface="Times New Roman"/>
            </a:endParaRPr>
          </a:p>
          <a:p>
            <a:pPr marL="247015">
              <a:lnSpc>
                <a:spcPct val="100000"/>
              </a:lnSpc>
            </a:pPr>
            <a:r>
              <a:rPr dirty="0" sz="950">
                <a:latin typeface="宋体"/>
                <a:cs typeface="宋体"/>
              </a:rPr>
              <a:t>问题域</a:t>
            </a:r>
            <a:endParaRPr sz="950">
              <a:latin typeface="宋体"/>
              <a:cs typeface="宋体"/>
            </a:endParaRPr>
          </a:p>
        </p:txBody>
      </p:sp>
      <p:sp>
        <p:nvSpPr>
          <p:cNvPr id="7" name="object 7"/>
          <p:cNvSpPr/>
          <p:nvPr/>
        </p:nvSpPr>
        <p:spPr>
          <a:xfrm>
            <a:off x="1267644" y="3721484"/>
            <a:ext cx="858519" cy="0"/>
          </a:xfrm>
          <a:custGeom>
            <a:avLst/>
            <a:gdLst/>
            <a:ahLst/>
            <a:cxnLst/>
            <a:rect l="l" t="t" r="r" b="b"/>
            <a:pathLst>
              <a:path w="858519" h="0">
                <a:moveTo>
                  <a:pt x="0" y="0"/>
                </a:moveTo>
                <a:lnTo>
                  <a:pt x="858316" y="0"/>
                </a:lnTo>
              </a:path>
            </a:pathLst>
          </a:custGeom>
          <a:ln w="3629">
            <a:solidFill>
              <a:srgbClr val="000000"/>
            </a:solidFill>
          </a:ln>
        </p:spPr>
        <p:txBody>
          <a:bodyPr wrap="square" lIns="0" tIns="0" rIns="0" bIns="0" rtlCol="0"/>
          <a:lstStyle/>
          <a:p/>
        </p:txBody>
      </p:sp>
      <p:sp>
        <p:nvSpPr>
          <p:cNvPr id="8" name="object 8"/>
          <p:cNvSpPr txBox="1"/>
          <p:nvPr/>
        </p:nvSpPr>
        <p:spPr>
          <a:xfrm>
            <a:off x="108831" y="5393618"/>
            <a:ext cx="858519" cy="429259"/>
          </a:xfrm>
          <a:prstGeom prst="rect">
            <a:avLst/>
          </a:prstGeom>
          <a:solidFill>
            <a:srgbClr val="E8EDF7"/>
          </a:solidFill>
          <a:ln w="3630">
            <a:solidFill>
              <a:srgbClr val="000000"/>
            </a:solidFill>
          </a:ln>
        </p:spPr>
        <p:txBody>
          <a:bodyPr wrap="square" lIns="0" tIns="1905" rIns="0" bIns="0" rtlCol="0" vert="horz">
            <a:spAutoFit/>
          </a:bodyPr>
          <a:lstStyle/>
          <a:p>
            <a:pPr>
              <a:lnSpc>
                <a:spcPct val="100000"/>
              </a:lnSpc>
              <a:spcBef>
                <a:spcPts val="15"/>
              </a:spcBef>
            </a:pPr>
            <a:endParaRPr sz="900">
              <a:latin typeface="Times New Roman"/>
              <a:cs typeface="Times New Roman"/>
            </a:endParaRPr>
          </a:p>
          <a:p>
            <a:pPr algn="ctr">
              <a:lnSpc>
                <a:spcPct val="100000"/>
              </a:lnSpc>
            </a:pPr>
            <a:r>
              <a:rPr dirty="0" sz="950">
                <a:latin typeface="宋体"/>
                <a:cs typeface="宋体"/>
              </a:rPr>
              <a:t>涉众</a:t>
            </a:r>
            <a:endParaRPr sz="950">
              <a:latin typeface="宋体"/>
              <a:cs typeface="宋体"/>
            </a:endParaRPr>
          </a:p>
        </p:txBody>
      </p:sp>
      <p:sp>
        <p:nvSpPr>
          <p:cNvPr id="9" name="object 9"/>
          <p:cNvSpPr/>
          <p:nvPr/>
        </p:nvSpPr>
        <p:spPr>
          <a:xfrm>
            <a:off x="538024" y="4009009"/>
            <a:ext cx="0" cy="576580"/>
          </a:xfrm>
          <a:custGeom>
            <a:avLst/>
            <a:gdLst/>
            <a:ahLst/>
            <a:cxnLst/>
            <a:rect l="l" t="t" r="r" b="b"/>
            <a:pathLst>
              <a:path w="0" h="576579">
                <a:moveTo>
                  <a:pt x="0" y="0"/>
                </a:moveTo>
                <a:lnTo>
                  <a:pt x="0" y="576137"/>
                </a:lnTo>
              </a:path>
            </a:pathLst>
          </a:custGeom>
          <a:ln w="3633">
            <a:solidFill>
              <a:srgbClr val="4677BE"/>
            </a:solidFill>
          </a:ln>
        </p:spPr>
        <p:txBody>
          <a:bodyPr wrap="square" lIns="0" tIns="0" rIns="0" bIns="0" rtlCol="0"/>
          <a:lstStyle/>
          <a:p/>
        </p:txBody>
      </p:sp>
      <p:sp>
        <p:nvSpPr>
          <p:cNvPr id="10" name="object 10"/>
          <p:cNvSpPr/>
          <p:nvPr/>
        </p:nvSpPr>
        <p:spPr>
          <a:xfrm>
            <a:off x="538024" y="4744397"/>
            <a:ext cx="0" cy="649605"/>
          </a:xfrm>
          <a:custGeom>
            <a:avLst/>
            <a:gdLst/>
            <a:ahLst/>
            <a:cxnLst/>
            <a:rect l="l" t="t" r="r" b="b"/>
            <a:pathLst>
              <a:path w="0" h="649604">
                <a:moveTo>
                  <a:pt x="0" y="0"/>
                </a:moveTo>
                <a:lnTo>
                  <a:pt x="0" y="649221"/>
                </a:lnTo>
              </a:path>
            </a:pathLst>
          </a:custGeom>
          <a:ln w="3633">
            <a:solidFill>
              <a:srgbClr val="4677BE"/>
            </a:solidFill>
          </a:ln>
        </p:spPr>
        <p:txBody>
          <a:bodyPr wrap="square" lIns="0" tIns="0" rIns="0" bIns="0" rtlCol="0"/>
          <a:lstStyle/>
          <a:p/>
        </p:txBody>
      </p:sp>
      <p:sp>
        <p:nvSpPr>
          <p:cNvPr id="11" name="object 11"/>
          <p:cNvSpPr/>
          <p:nvPr/>
        </p:nvSpPr>
        <p:spPr>
          <a:xfrm>
            <a:off x="496236" y="3935955"/>
            <a:ext cx="83820" cy="83820"/>
          </a:xfrm>
          <a:custGeom>
            <a:avLst/>
            <a:gdLst/>
            <a:ahLst/>
            <a:cxnLst/>
            <a:rect l="l" t="t" r="r" b="b"/>
            <a:pathLst>
              <a:path w="83820" h="83820">
                <a:moveTo>
                  <a:pt x="41788" y="0"/>
                </a:moveTo>
                <a:lnTo>
                  <a:pt x="0" y="83489"/>
                </a:lnTo>
                <a:lnTo>
                  <a:pt x="83577" y="83489"/>
                </a:lnTo>
                <a:lnTo>
                  <a:pt x="41788" y="0"/>
                </a:lnTo>
                <a:close/>
              </a:path>
            </a:pathLst>
          </a:custGeom>
          <a:solidFill>
            <a:srgbClr val="4677BE"/>
          </a:solidFill>
        </p:spPr>
        <p:txBody>
          <a:bodyPr wrap="square" lIns="0" tIns="0" rIns="0" bIns="0" rtlCol="0"/>
          <a:lstStyle/>
          <a:p/>
        </p:txBody>
      </p:sp>
      <p:sp>
        <p:nvSpPr>
          <p:cNvPr id="12" name="object 12"/>
          <p:cNvSpPr txBox="1"/>
          <p:nvPr/>
        </p:nvSpPr>
        <p:spPr>
          <a:xfrm>
            <a:off x="222478" y="4570875"/>
            <a:ext cx="631190"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高层次问题</a:t>
            </a:r>
            <a:endParaRPr sz="950">
              <a:latin typeface="宋体"/>
              <a:cs typeface="宋体"/>
            </a:endParaRPr>
          </a:p>
        </p:txBody>
      </p:sp>
      <p:sp>
        <p:nvSpPr>
          <p:cNvPr id="13" name="object 13"/>
          <p:cNvSpPr/>
          <p:nvPr/>
        </p:nvSpPr>
        <p:spPr>
          <a:xfrm>
            <a:off x="538024" y="2263897"/>
            <a:ext cx="0" cy="327660"/>
          </a:xfrm>
          <a:custGeom>
            <a:avLst/>
            <a:gdLst/>
            <a:ahLst/>
            <a:cxnLst/>
            <a:rect l="l" t="t" r="r" b="b"/>
            <a:pathLst>
              <a:path w="0" h="327660">
                <a:moveTo>
                  <a:pt x="0" y="0"/>
                </a:moveTo>
                <a:lnTo>
                  <a:pt x="0" y="327620"/>
                </a:lnTo>
              </a:path>
            </a:pathLst>
          </a:custGeom>
          <a:ln w="3633">
            <a:solidFill>
              <a:srgbClr val="4677BE"/>
            </a:solidFill>
          </a:ln>
        </p:spPr>
        <p:txBody>
          <a:bodyPr wrap="square" lIns="0" tIns="0" rIns="0" bIns="0" rtlCol="0"/>
          <a:lstStyle/>
          <a:p/>
        </p:txBody>
      </p:sp>
      <p:sp>
        <p:nvSpPr>
          <p:cNvPr id="14" name="object 14"/>
          <p:cNvSpPr/>
          <p:nvPr/>
        </p:nvSpPr>
        <p:spPr>
          <a:xfrm>
            <a:off x="538024" y="2750768"/>
            <a:ext cx="0" cy="254635"/>
          </a:xfrm>
          <a:custGeom>
            <a:avLst/>
            <a:gdLst/>
            <a:ahLst/>
            <a:cxnLst/>
            <a:rect l="l" t="t" r="r" b="b"/>
            <a:pathLst>
              <a:path w="0" h="254635">
                <a:moveTo>
                  <a:pt x="0" y="0"/>
                </a:moveTo>
                <a:lnTo>
                  <a:pt x="0" y="254552"/>
                </a:lnTo>
              </a:path>
            </a:pathLst>
          </a:custGeom>
          <a:ln w="3633">
            <a:solidFill>
              <a:srgbClr val="4677BE"/>
            </a:solidFill>
          </a:ln>
        </p:spPr>
        <p:txBody>
          <a:bodyPr wrap="square" lIns="0" tIns="0" rIns="0" bIns="0" rtlCol="0"/>
          <a:lstStyle/>
          <a:p/>
        </p:txBody>
      </p:sp>
      <p:sp>
        <p:nvSpPr>
          <p:cNvPr id="15" name="object 15"/>
          <p:cNvSpPr/>
          <p:nvPr/>
        </p:nvSpPr>
        <p:spPr>
          <a:xfrm>
            <a:off x="496236" y="2994884"/>
            <a:ext cx="83820" cy="83820"/>
          </a:xfrm>
          <a:custGeom>
            <a:avLst/>
            <a:gdLst/>
            <a:ahLst/>
            <a:cxnLst/>
            <a:rect l="l" t="t" r="r" b="b"/>
            <a:pathLst>
              <a:path w="83820" h="83819">
                <a:moveTo>
                  <a:pt x="83577" y="0"/>
                </a:moveTo>
                <a:lnTo>
                  <a:pt x="0" y="0"/>
                </a:lnTo>
                <a:lnTo>
                  <a:pt x="41788" y="83489"/>
                </a:lnTo>
                <a:lnTo>
                  <a:pt x="83577" y="0"/>
                </a:lnTo>
                <a:close/>
              </a:path>
            </a:pathLst>
          </a:custGeom>
          <a:solidFill>
            <a:srgbClr val="4677BE"/>
          </a:solidFill>
        </p:spPr>
        <p:txBody>
          <a:bodyPr wrap="square" lIns="0" tIns="0" rIns="0" bIns="0" rtlCol="0"/>
          <a:lstStyle/>
          <a:p/>
        </p:txBody>
      </p:sp>
      <p:sp>
        <p:nvSpPr>
          <p:cNvPr id="16" name="object 16"/>
          <p:cNvSpPr txBox="1"/>
          <p:nvPr/>
        </p:nvSpPr>
        <p:spPr>
          <a:xfrm>
            <a:off x="161916" y="2577291"/>
            <a:ext cx="75247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应用背景资料</a:t>
            </a:r>
            <a:endParaRPr sz="950">
              <a:latin typeface="宋体"/>
              <a:cs typeface="宋体"/>
            </a:endParaRPr>
          </a:p>
        </p:txBody>
      </p:sp>
      <p:sp>
        <p:nvSpPr>
          <p:cNvPr id="17" name="object 17"/>
          <p:cNvSpPr/>
          <p:nvPr/>
        </p:nvSpPr>
        <p:spPr>
          <a:xfrm>
            <a:off x="2426506" y="3078373"/>
            <a:ext cx="858519" cy="857885"/>
          </a:xfrm>
          <a:custGeom>
            <a:avLst/>
            <a:gdLst/>
            <a:ahLst/>
            <a:cxnLst/>
            <a:rect l="l" t="t" r="r" b="b"/>
            <a:pathLst>
              <a:path w="858520" h="857885">
                <a:moveTo>
                  <a:pt x="429090" y="0"/>
                </a:moveTo>
                <a:lnTo>
                  <a:pt x="382340" y="2517"/>
                </a:lnTo>
                <a:lnTo>
                  <a:pt x="337048" y="9895"/>
                </a:lnTo>
                <a:lnTo>
                  <a:pt x="293474" y="21870"/>
                </a:lnTo>
                <a:lnTo>
                  <a:pt x="251882" y="38181"/>
                </a:lnTo>
                <a:lnTo>
                  <a:pt x="212532" y="58567"/>
                </a:lnTo>
                <a:lnTo>
                  <a:pt x="175686" y="82763"/>
                </a:lnTo>
                <a:lnTo>
                  <a:pt x="141607" y="110509"/>
                </a:lnTo>
                <a:lnTo>
                  <a:pt x="110557" y="141542"/>
                </a:lnTo>
                <a:lnTo>
                  <a:pt x="82797" y="175600"/>
                </a:lnTo>
                <a:lnTo>
                  <a:pt x="58589" y="212420"/>
                </a:lnTo>
                <a:lnTo>
                  <a:pt x="38195" y="251742"/>
                </a:lnTo>
                <a:lnTo>
                  <a:pt x="21877" y="293302"/>
                </a:lnTo>
                <a:lnTo>
                  <a:pt x="9898" y="336838"/>
                </a:lnTo>
                <a:lnTo>
                  <a:pt x="2518" y="382088"/>
                </a:lnTo>
                <a:lnTo>
                  <a:pt x="0" y="428791"/>
                </a:lnTo>
                <a:lnTo>
                  <a:pt x="2518" y="475519"/>
                </a:lnTo>
                <a:lnTo>
                  <a:pt x="9898" y="520789"/>
                </a:lnTo>
                <a:lnTo>
                  <a:pt x="21877" y="564338"/>
                </a:lnTo>
                <a:lnTo>
                  <a:pt x="38195" y="605905"/>
                </a:lnTo>
                <a:lnTo>
                  <a:pt x="58589" y="645228"/>
                </a:lnTo>
                <a:lnTo>
                  <a:pt x="82797" y="682047"/>
                </a:lnTo>
                <a:lnTo>
                  <a:pt x="110557" y="716100"/>
                </a:lnTo>
                <a:lnTo>
                  <a:pt x="141607" y="747125"/>
                </a:lnTo>
                <a:lnTo>
                  <a:pt x="175686" y="774862"/>
                </a:lnTo>
                <a:lnTo>
                  <a:pt x="212532" y="799048"/>
                </a:lnTo>
                <a:lnTo>
                  <a:pt x="251882" y="819423"/>
                </a:lnTo>
                <a:lnTo>
                  <a:pt x="293474" y="835726"/>
                </a:lnTo>
                <a:lnTo>
                  <a:pt x="337048" y="847694"/>
                </a:lnTo>
                <a:lnTo>
                  <a:pt x="382340" y="855066"/>
                </a:lnTo>
                <a:lnTo>
                  <a:pt x="429090" y="857582"/>
                </a:lnTo>
                <a:lnTo>
                  <a:pt x="475868" y="855066"/>
                </a:lnTo>
                <a:lnTo>
                  <a:pt x="521185" y="847694"/>
                </a:lnTo>
                <a:lnTo>
                  <a:pt x="564779" y="835726"/>
                </a:lnTo>
                <a:lnTo>
                  <a:pt x="606390" y="819423"/>
                </a:lnTo>
                <a:lnTo>
                  <a:pt x="645755" y="799048"/>
                </a:lnTo>
                <a:lnTo>
                  <a:pt x="682612" y="774862"/>
                </a:lnTo>
                <a:lnTo>
                  <a:pt x="716701" y="747125"/>
                </a:lnTo>
                <a:lnTo>
                  <a:pt x="747759" y="716100"/>
                </a:lnTo>
                <a:lnTo>
                  <a:pt x="775525" y="682047"/>
                </a:lnTo>
                <a:lnTo>
                  <a:pt x="799737" y="645228"/>
                </a:lnTo>
                <a:lnTo>
                  <a:pt x="820133" y="605905"/>
                </a:lnTo>
                <a:lnTo>
                  <a:pt x="836453" y="564338"/>
                </a:lnTo>
                <a:lnTo>
                  <a:pt x="848433" y="520789"/>
                </a:lnTo>
                <a:lnTo>
                  <a:pt x="855813" y="475519"/>
                </a:lnTo>
                <a:lnTo>
                  <a:pt x="858332" y="428791"/>
                </a:lnTo>
                <a:lnTo>
                  <a:pt x="855813" y="382088"/>
                </a:lnTo>
                <a:lnTo>
                  <a:pt x="848433" y="336838"/>
                </a:lnTo>
                <a:lnTo>
                  <a:pt x="836453" y="293302"/>
                </a:lnTo>
                <a:lnTo>
                  <a:pt x="820133" y="251742"/>
                </a:lnTo>
                <a:lnTo>
                  <a:pt x="799737" y="212420"/>
                </a:lnTo>
                <a:lnTo>
                  <a:pt x="775525" y="175600"/>
                </a:lnTo>
                <a:lnTo>
                  <a:pt x="747759" y="141542"/>
                </a:lnTo>
                <a:lnTo>
                  <a:pt x="716701" y="110509"/>
                </a:lnTo>
                <a:lnTo>
                  <a:pt x="682612" y="82763"/>
                </a:lnTo>
                <a:lnTo>
                  <a:pt x="645755" y="58567"/>
                </a:lnTo>
                <a:lnTo>
                  <a:pt x="606390" y="38181"/>
                </a:lnTo>
                <a:lnTo>
                  <a:pt x="564779" y="21870"/>
                </a:lnTo>
                <a:lnTo>
                  <a:pt x="521185" y="9895"/>
                </a:lnTo>
                <a:lnTo>
                  <a:pt x="475868" y="2517"/>
                </a:lnTo>
                <a:lnTo>
                  <a:pt x="429090" y="0"/>
                </a:lnTo>
                <a:close/>
              </a:path>
            </a:pathLst>
          </a:custGeom>
          <a:solidFill>
            <a:srgbClr val="E8EDF7"/>
          </a:solidFill>
        </p:spPr>
        <p:txBody>
          <a:bodyPr wrap="square" lIns="0" tIns="0" rIns="0" bIns="0" rtlCol="0"/>
          <a:lstStyle/>
          <a:p/>
        </p:txBody>
      </p:sp>
      <p:sp>
        <p:nvSpPr>
          <p:cNvPr id="18" name="object 18"/>
          <p:cNvSpPr/>
          <p:nvPr/>
        </p:nvSpPr>
        <p:spPr>
          <a:xfrm>
            <a:off x="2426506" y="3078373"/>
            <a:ext cx="858519" cy="857885"/>
          </a:xfrm>
          <a:custGeom>
            <a:avLst/>
            <a:gdLst/>
            <a:ahLst/>
            <a:cxnLst/>
            <a:rect l="l" t="t" r="r" b="b"/>
            <a:pathLst>
              <a:path w="858520" h="857885">
                <a:moveTo>
                  <a:pt x="0" y="428791"/>
                </a:moveTo>
                <a:lnTo>
                  <a:pt x="2518" y="382088"/>
                </a:lnTo>
                <a:lnTo>
                  <a:pt x="9898" y="336838"/>
                </a:lnTo>
                <a:lnTo>
                  <a:pt x="21877" y="293302"/>
                </a:lnTo>
                <a:lnTo>
                  <a:pt x="38195" y="251742"/>
                </a:lnTo>
                <a:lnTo>
                  <a:pt x="58589" y="212420"/>
                </a:lnTo>
                <a:lnTo>
                  <a:pt x="82797" y="175600"/>
                </a:lnTo>
                <a:lnTo>
                  <a:pt x="110557" y="141542"/>
                </a:lnTo>
                <a:lnTo>
                  <a:pt x="141607" y="110509"/>
                </a:lnTo>
                <a:lnTo>
                  <a:pt x="175686" y="82763"/>
                </a:lnTo>
                <a:lnTo>
                  <a:pt x="212532" y="58567"/>
                </a:lnTo>
                <a:lnTo>
                  <a:pt x="251882" y="38181"/>
                </a:lnTo>
                <a:lnTo>
                  <a:pt x="293474" y="21870"/>
                </a:lnTo>
                <a:lnTo>
                  <a:pt x="337048" y="9895"/>
                </a:lnTo>
                <a:lnTo>
                  <a:pt x="382340" y="2517"/>
                </a:lnTo>
                <a:lnTo>
                  <a:pt x="429090" y="0"/>
                </a:lnTo>
                <a:lnTo>
                  <a:pt x="475868" y="2517"/>
                </a:lnTo>
                <a:lnTo>
                  <a:pt x="521185" y="9895"/>
                </a:lnTo>
                <a:lnTo>
                  <a:pt x="564779" y="21870"/>
                </a:lnTo>
                <a:lnTo>
                  <a:pt x="606390" y="38181"/>
                </a:lnTo>
                <a:lnTo>
                  <a:pt x="645755" y="58567"/>
                </a:lnTo>
                <a:lnTo>
                  <a:pt x="682612" y="82763"/>
                </a:lnTo>
                <a:lnTo>
                  <a:pt x="716701" y="110509"/>
                </a:lnTo>
                <a:lnTo>
                  <a:pt x="747759" y="141542"/>
                </a:lnTo>
                <a:lnTo>
                  <a:pt x="775525" y="175600"/>
                </a:lnTo>
                <a:lnTo>
                  <a:pt x="799737" y="212420"/>
                </a:lnTo>
                <a:lnTo>
                  <a:pt x="820133" y="251742"/>
                </a:lnTo>
                <a:lnTo>
                  <a:pt x="836453" y="293302"/>
                </a:lnTo>
                <a:lnTo>
                  <a:pt x="848433" y="336838"/>
                </a:lnTo>
                <a:lnTo>
                  <a:pt x="855813" y="382088"/>
                </a:lnTo>
                <a:lnTo>
                  <a:pt x="858332" y="428791"/>
                </a:lnTo>
                <a:lnTo>
                  <a:pt x="855813" y="475519"/>
                </a:lnTo>
                <a:lnTo>
                  <a:pt x="848433" y="520789"/>
                </a:lnTo>
                <a:lnTo>
                  <a:pt x="836453" y="564338"/>
                </a:lnTo>
                <a:lnTo>
                  <a:pt x="820133" y="605905"/>
                </a:lnTo>
                <a:lnTo>
                  <a:pt x="799737" y="645228"/>
                </a:lnTo>
                <a:lnTo>
                  <a:pt x="775525" y="682047"/>
                </a:lnTo>
                <a:lnTo>
                  <a:pt x="747759" y="716100"/>
                </a:lnTo>
                <a:lnTo>
                  <a:pt x="716701" y="747125"/>
                </a:lnTo>
                <a:lnTo>
                  <a:pt x="682612" y="774862"/>
                </a:lnTo>
                <a:lnTo>
                  <a:pt x="645755" y="799048"/>
                </a:lnTo>
                <a:lnTo>
                  <a:pt x="606390" y="819423"/>
                </a:lnTo>
                <a:lnTo>
                  <a:pt x="564779" y="835726"/>
                </a:lnTo>
                <a:lnTo>
                  <a:pt x="521185" y="847694"/>
                </a:lnTo>
                <a:lnTo>
                  <a:pt x="475868" y="855066"/>
                </a:lnTo>
                <a:lnTo>
                  <a:pt x="429090" y="857582"/>
                </a:lnTo>
                <a:lnTo>
                  <a:pt x="382340" y="855066"/>
                </a:lnTo>
                <a:lnTo>
                  <a:pt x="337048" y="847694"/>
                </a:lnTo>
                <a:lnTo>
                  <a:pt x="293474" y="835726"/>
                </a:lnTo>
                <a:lnTo>
                  <a:pt x="251882" y="819423"/>
                </a:lnTo>
                <a:lnTo>
                  <a:pt x="212532" y="799048"/>
                </a:lnTo>
                <a:lnTo>
                  <a:pt x="175686" y="774862"/>
                </a:lnTo>
                <a:lnTo>
                  <a:pt x="141607" y="747125"/>
                </a:lnTo>
                <a:lnTo>
                  <a:pt x="110557" y="716100"/>
                </a:lnTo>
                <a:lnTo>
                  <a:pt x="82797" y="682047"/>
                </a:lnTo>
                <a:lnTo>
                  <a:pt x="58589" y="645228"/>
                </a:lnTo>
                <a:lnTo>
                  <a:pt x="38195" y="605905"/>
                </a:lnTo>
                <a:lnTo>
                  <a:pt x="21877" y="564338"/>
                </a:lnTo>
                <a:lnTo>
                  <a:pt x="9898" y="520789"/>
                </a:lnTo>
                <a:lnTo>
                  <a:pt x="2518" y="475519"/>
                </a:lnTo>
                <a:lnTo>
                  <a:pt x="0" y="428791"/>
                </a:lnTo>
                <a:close/>
              </a:path>
            </a:pathLst>
          </a:custGeom>
          <a:ln w="3631">
            <a:solidFill>
              <a:srgbClr val="000000"/>
            </a:solidFill>
          </a:ln>
        </p:spPr>
        <p:txBody>
          <a:bodyPr wrap="square" lIns="0" tIns="0" rIns="0" bIns="0" rtlCol="0"/>
          <a:lstStyle/>
          <a:p/>
        </p:txBody>
      </p:sp>
      <p:sp>
        <p:nvSpPr>
          <p:cNvPr id="19" name="object 19"/>
          <p:cNvSpPr txBox="1"/>
          <p:nvPr/>
        </p:nvSpPr>
        <p:spPr>
          <a:xfrm>
            <a:off x="2479669" y="3319771"/>
            <a:ext cx="752475" cy="337185"/>
          </a:xfrm>
          <a:prstGeom prst="rect">
            <a:avLst/>
          </a:prstGeom>
        </p:spPr>
        <p:txBody>
          <a:bodyPr wrap="square" lIns="0" tIns="12700" rIns="0" bIns="0" rtlCol="0" vert="horz">
            <a:spAutoFit/>
          </a:bodyPr>
          <a:lstStyle/>
          <a:p>
            <a:pPr marL="194310" marR="5080" indent="-182245">
              <a:lnSpc>
                <a:spcPct val="107500"/>
              </a:lnSpc>
              <a:spcBef>
                <a:spcPts val="100"/>
              </a:spcBef>
            </a:pPr>
            <a:r>
              <a:rPr dirty="0" sz="950">
                <a:latin typeface="宋体"/>
                <a:cs typeface="宋体"/>
              </a:rPr>
              <a:t>定义项目前景 </a:t>
            </a:r>
            <a:r>
              <a:rPr dirty="0" sz="950">
                <a:latin typeface="宋体"/>
                <a:cs typeface="宋体"/>
              </a:rPr>
              <a:t>和范围</a:t>
            </a:r>
            <a:endParaRPr sz="950">
              <a:latin typeface="宋体"/>
              <a:cs typeface="宋体"/>
            </a:endParaRPr>
          </a:p>
        </p:txBody>
      </p:sp>
      <p:sp>
        <p:nvSpPr>
          <p:cNvPr id="20" name="object 20"/>
          <p:cNvSpPr/>
          <p:nvPr/>
        </p:nvSpPr>
        <p:spPr>
          <a:xfrm>
            <a:off x="4357867" y="3721484"/>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21" name="object 21"/>
          <p:cNvSpPr/>
          <p:nvPr/>
        </p:nvSpPr>
        <p:spPr>
          <a:xfrm>
            <a:off x="4357867" y="3292844"/>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22" name="object 22"/>
          <p:cNvSpPr txBox="1"/>
          <p:nvPr/>
        </p:nvSpPr>
        <p:spPr>
          <a:xfrm>
            <a:off x="4411030" y="3319771"/>
            <a:ext cx="752475" cy="337185"/>
          </a:xfrm>
          <a:prstGeom prst="rect">
            <a:avLst/>
          </a:prstGeom>
        </p:spPr>
        <p:txBody>
          <a:bodyPr wrap="square" lIns="0" tIns="12700" rIns="0" bIns="0" rtlCol="0" vert="horz">
            <a:spAutoFit/>
          </a:bodyPr>
          <a:lstStyle/>
          <a:p>
            <a:pPr marL="194310" marR="5080" indent="-182245">
              <a:lnSpc>
                <a:spcPct val="107500"/>
              </a:lnSpc>
              <a:spcBef>
                <a:spcPts val="100"/>
              </a:spcBef>
            </a:pPr>
            <a:r>
              <a:rPr dirty="0" sz="950">
                <a:latin typeface="宋体"/>
                <a:cs typeface="宋体"/>
              </a:rPr>
              <a:t>项目前景和范 </a:t>
            </a:r>
            <a:r>
              <a:rPr dirty="0" sz="950">
                <a:latin typeface="宋体"/>
                <a:cs typeface="宋体"/>
              </a:rPr>
              <a:t>围文档</a:t>
            </a:r>
            <a:endParaRPr sz="950">
              <a:latin typeface="宋体"/>
              <a:cs typeface="宋体"/>
            </a:endParaRPr>
          </a:p>
        </p:txBody>
      </p:sp>
      <p:sp>
        <p:nvSpPr>
          <p:cNvPr id="23" name="object 23"/>
          <p:cNvSpPr/>
          <p:nvPr/>
        </p:nvSpPr>
        <p:spPr>
          <a:xfrm>
            <a:off x="4357867" y="1620786"/>
            <a:ext cx="858519" cy="857885"/>
          </a:xfrm>
          <a:custGeom>
            <a:avLst/>
            <a:gdLst/>
            <a:ahLst/>
            <a:cxnLst/>
            <a:rect l="l" t="t" r="r" b="b"/>
            <a:pathLst>
              <a:path w="858520" h="857885">
                <a:moveTo>
                  <a:pt x="429090" y="0"/>
                </a:moveTo>
                <a:lnTo>
                  <a:pt x="382340" y="2515"/>
                </a:lnTo>
                <a:lnTo>
                  <a:pt x="337048" y="9887"/>
                </a:lnTo>
                <a:lnTo>
                  <a:pt x="293474" y="21854"/>
                </a:lnTo>
                <a:lnTo>
                  <a:pt x="251882" y="38155"/>
                </a:lnTo>
                <a:lnTo>
                  <a:pt x="212532" y="58527"/>
                </a:lnTo>
                <a:lnTo>
                  <a:pt x="175686" y="82710"/>
                </a:lnTo>
                <a:lnTo>
                  <a:pt x="141607" y="110441"/>
                </a:lnTo>
                <a:lnTo>
                  <a:pt x="110557" y="141459"/>
                </a:lnTo>
                <a:lnTo>
                  <a:pt x="82797" y="175502"/>
                </a:lnTo>
                <a:lnTo>
                  <a:pt x="58589" y="212308"/>
                </a:lnTo>
                <a:lnTo>
                  <a:pt x="38195" y="251617"/>
                </a:lnTo>
                <a:lnTo>
                  <a:pt x="21877" y="293166"/>
                </a:lnTo>
                <a:lnTo>
                  <a:pt x="9898" y="336694"/>
                </a:lnTo>
                <a:lnTo>
                  <a:pt x="2518" y="381939"/>
                </a:lnTo>
                <a:lnTo>
                  <a:pt x="0" y="428639"/>
                </a:lnTo>
                <a:lnTo>
                  <a:pt x="2518" y="475368"/>
                </a:lnTo>
                <a:lnTo>
                  <a:pt x="9898" y="520638"/>
                </a:lnTo>
                <a:lnTo>
                  <a:pt x="21877" y="564186"/>
                </a:lnTo>
                <a:lnTo>
                  <a:pt x="38195" y="605753"/>
                </a:lnTo>
                <a:lnTo>
                  <a:pt x="58589" y="645077"/>
                </a:lnTo>
                <a:lnTo>
                  <a:pt x="82797" y="681896"/>
                </a:lnTo>
                <a:lnTo>
                  <a:pt x="110557" y="715949"/>
                </a:lnTo>
                <a:lnTo>
                  <a:pt x="141607" y="746974"/>
                </a:lnTo>
                <a:lnTo>
                  <a:pt x="175686" y="774711"/>
                </a:lnTo>
                <a:lnTo>
                  <a:pt x="212532" y="798897"/>
                </a:lnTo>
                <a:lnTo>
                  <a:pt x="251882" y="819272"/>
                </a:lnTo>
                <a:lnTo>
                  <a:pt x="293474" y="835574"/>
                </a:lnTo>
                <a:lnTo>
                  <a:pt x="337048" y="847542"/>
                </a:lnTo>
                <a:lnTo>
                  <a:pt x="382340" y="854915"/>
                </a:lnTo>
                <a:lnTo>
                  <a:pt x="429090" y="857431"/>
                </a:lnTo>
                <a:lnTo>
                  <a:pt x="475868" y="854915"/>
                </a:lnTo>
                <a:lnTo>
                  <a:pt x="521185" y="847542"/>
                </a:lnTo>
                <a:lnTo>
                  <a:pt x="564779" y="835574"/>
                </a:lnTo>
                <a:lnTo>
                  <a:pt x="606390" y="819272"/>
                </a:lnTo>
                <a:lnTo>
                  <a:pt x="645755" y="798897"/>
                </a:lnTo>
                <a:lnTo>
                  <a:pt x="682612" y="774711"/>
                </a:lnTo>
                <a:lnTo>
                  <a:pt x="716701" y="746974"/>
                </a:lnTo>
                <a:lnTo>
                  <a:pt x="747759" y="715949"/>
                </a:lnTo>
                <a:lnTo>
                  <a:pt x="775525" y="681896"/>
                </a:lnTo>
                <a:lnTo>
                  <a:pt x="799737" y="645077"/>
                </a:lnTo>
                <a:lnTo>
                  <a:pt x="820133" y="605753"/>
                </a:lnTo>
                <a:lnTo>
                  <a:pt x="836453" y="564186"/>
                </a:lnTo>
                <a:lnTo>
                  <a:pt x="848433" y="520638"/>
                </a:lnTo>
                <a:lnTo>
                  <a:pt x="855813" y="475368"/>
                </a:lnTo>
                <a:lnTo>
                  <a:pt x="858332" y="428639"/>
                </a:lnTo>
                <a:lnTo>
                  <a:pt x="855813" y="381939"/>
                </a:lnTo>
                <a:lnTo>
                  <a:pt x="848433" y="336694"/>
                </a:lnTo>
                <a:lnTo>
                  <a:pt x="836453" y="293166"/>
                </a:lnTo>
                <a:lnTo>
                  <a:pt x="820133" y="251617"/>
                </a:lnTo>
                <a:lnTo>
                  <a:pt x="799737" y="212308"/>
                </a:lnTo>
                <a:lnTo>
                  <a:pt x="775525" y="175502"/>
                </a:lnTo>
                <a:lnTo>
                  <a:pt x="747759" y="141459"/>
                </a:lnTo>
                <a:lnTo>
                  <a:pt x="716701" y="110441"/>
                </a:lnTo>
                <a:lnTo>
                  <a:pt x="682612" y="82710"/>
                </a:lnTo>
                <a:lnTo>
                  <a:pt x="645755" y="58527"/>
                </a:lnTo>
                <a:lnTo>
                  <a:pt x="606390" y="38155"/>
                </a:lnTo>
                <a:lnTo>
                  <a:pt x="564779" y="21854"/>
                </a:lnTo>
                <a:lnTo>
                  <a:pt x="521185" y="9887"/>
                </a:lnTo>
                <a:lnTo>
                  <a:pt x="475868" y="2515"/>
                </a:lnTo>
                <a:lnTo>
                  <a:pt x="429090" y="0"/>
                </a:lnTo>
                <a:close/>
              </a:path>
            </a:pathLst>
          </a:custGeom>
          <a:solidFill>
            <a:srgbClr val="E8EDF7"/>
          </a:solidFill>
        </p:spPr>
        <p:txBody>
          <a:bodyPr wrap="square" lIns="0" tIns="0" rIns="0" bIns="0" rtlCol="0"/>
          <a:lstStyle/>
          <a:p/>
        </p:txBody>
      </p:sp>
      <p:sp>
        <p:nvSpPr>
          <p:cNvPr id="24" name="object 24"/>
          <p:cNvSpPr/>
          <p:nvPr/>
        </p:nvSpPr>
        <p:spPr>
          <a:xfrm>
            <a:off x="4357867" y="1620786"/>
            <a:ext cx="858519" cy="857885"/>
          </a:xfrm>
          <a:custGeom>
            <a:avLst/>
            <a:gdLst/>
            <a:ahLst/>
            <a:cxnLst/>
            <a:rect l="l" t="t" r="r" b="b"/>
            <a:pathLst>
              <a:path w="858520" h="857885">
                <a:moveTo>
                  <a:pt x="0" y="428639"/>
                </a:moveTo>
                <a:lnTo>
                  <a:pt x="2518" y="381939"/>
                </a:lnTo>
                <a:lnTo>
                  <a:pt x="9898" y="336694"/>
                </a:lnTo>
                <a:lnTo>
                  <a:pt x="21877" y="293166"/>
                </a:lnTo>
                <a:lnTo>
                  <a:pt x="38195" y="251617"/>
                </a:lnTo>
                <a:lnTo>
                  <a:pt x="58589" y="212308"/>
                </a:lnTo>
                <a:lnTo>
                  <a:pt x="82797" y="175502"/>
                </a:lnTo>
                <a:lnTo>
                  <a:pt x="110557" y="141459"/>
                </a:lnTo>
                <a:lnTo>
                  <a:pt x="141607" y="110441"/>
                </a:lnTo>
                <a:lnTo>
                  <a:pt x="175686" y="82710"/>
                </a:lnTo>
                <a:lnTo>
                  <a:pt x="212532" y="58527"/>
                </a:lnTo>
                <a:lnTo>
                  <a:pt x="251882" y="38155"/>
                </a:lnTo>
                <a:lnTo>
                  <a:pt x="293474" y="21854"/>
                </a:lnTo>
                <a:lnTo>
                  <a:pt x="337048" y="9887"/>
                </a:lnTo>
                <a:lnTo>
                  <a:pt x="382340" y="2515"/>
                </a:lnTo>
                <a:lnTo>
                  <a:pt x="429090" y="0"/>
                </a:lnTo>
                <a:lnTo>
                  <a:pt x="475868" y="2515"/>
                </a:lnTo>
                <a:lnTo>
                  <a:pt x="521185" y="9887"/>
                </a:lnTo>
                <a:lnTo>
                  <a:pt x="564779" y="21854"/>
                </a:lnTo>
                <a:lnTo>
                  <a:pt x="606390" y="38155"/>
                </a:lnTo>
                <a:lnTo>
                  <a:pt x="645755" y="58527"/>
                </a:lnTo>
                <a:lnTo>
                  <a:pt x="682612" y="82710"/>
                </a:lnTo>
                <a:lnTo>
                  <a:pt x="716701" y="110441"/>
                </a:lnTo>
                <a:lnTo>
                  <a:pt x="747759" y="141459"/>
                </a:lnTo>
                <a:lnTo>
                  <a:pt x="775525" y="175502"/>
                </a:lnTo>
                <a:lnTo>
                  <a:pt x="799737" y="212308"/>
                </a:lnTo>
                <a:lnTo>
                  <a:pt x="820133" y="251617"/>
                </a:lnTo>
                <a:lnTo>
                  <a:pt x="836453" y="293166"/>
                </a:lnTo>
                <a:lnTo>
                  <a:pt x="848433" y="336694"/>
                </a:lnTo>
                <a:lnTo>
                  <a:pt x="855813" y="381939"/>
                </a:lnTo>
                <a:lnTo>
                  <a:pt x="858332" y="428639"/>
                </a:lnTo>
                <a:lnTo>
                  <a:pt x="855813" y="475368"/>
                </a:lnTo>
                <a:lnTo>
                  <a:pt x="848433" y="520638"/>
                </a:lnTo>
                <a:lnTo>
                  <a:pt x="836453" y="564186"/>
                </a:lnTo>
                <a:lnTo>
                  <a:pt x="820133" y="605753"/>
                </a:lnTo>
                <a:lnTo>
                  <a:pt x="799737" y="645077"/>
                </a:lnTo>
                <a:lnTo>
                  <a:pt x="775525" y="681896"/>
                </a:lnTo>
                <a:lnTo>
                  <a:pt x="747759" y="715949"/>
                </a:lnTo>
                <a:lnTo>
                  <a:pt x="716701" y="746974"/>
                </a:lnTo>
                <a:lnTo>
                  <a:pt x="682612" y="774711"/>
                </a:lnTo>
                <a:lnTo>
                  <a:pt x="645755" y="798897"/>
                </a:lnTo>
                <a:lnTo>
                  <a:pt x="606390" y="819272"/>
                </a:lnTo>
                <a:lnTo>
                  <a:pt x="564779" y="835574"/>
                </a:lnTo>
                <a:lnTo>
                  <a:pt x="521185" y="847542"/>
                </a:lnTo>
                <a:lnTo>
                  <a:pt x="475868" y="854915"/>
                </a:lnTo>
                <a:lnTo>
                  <a:pt x="429090" y="857431"/>
                </a:lnTo>
                <a:lnTo>
                  <a:pt x="382340" y="854915"/>
                </a:lnTo>
                <a:lnTo>
                  <a:pt x="337048" y="847542"/>
                </a:lnTo>
                <a:lnTo>
                  <a:pt x="293474" y="835574"/>
                </a:lnTo>
                <a:lnTo>
                  <a:pt x="251882" y="819272"/>
                </a:lnTo>
                <a:lnTo>
                  <a:pt x="212532" y="798897"/>
                </a:lnTo>
                <a:lnTo>
                  <a:pt x="175686" y="774711"/>
                </a:lnTo>
                <a:lnTo>
                  <a:pt x="141607" y="746974"/>
                </a:lnTo>
                <a:lnTo>
                  <a:pt x="110557" y="715949"/>
                </a:lnTo>
                <a:lnTo>
                  <a:pt x="82797" y="681896"/>
                </a:lnTo>
                <a:lnTo>
                  <a:pt x="58589" y="645077"/>
                </a:lnTo>
                <a:lnTo>
                  <a:pt x="38195" y="605753"/>
                </a:lnTo>
                <a:lnTo>
                  <a:pt x="21877" y="564186"/>
                </a:lnTo>
                <a:lnTo>
                  <a:pt x="9898" y="520638"/>
                </a:lnTo>
                <a:lnTo>
                  <a:pt x="2518" y="475368"/>
                </a:lnTo>
                <a:lnTo>
                  <a:pt x="0" y="428639"/>
                </a:lnTo>
                <a:close/>
              </a:path>
            </a:pathLst>
          </a:custGeom>
          <a:ln w="3631">
            <a:solidFill>
              <a:srgbClr val="000000"/>
            </a:solidFill>
          </a:ln>
        </p:spPr>
        <p:txBody>
          <a:bodyPr wrap="square" lIns="0" tIns="0" rIns="0" bIns="0" rtlCol="0"/>
          <a:lstStyle/>
          <a:p/>
        </p:txBody>
      </p:sp>
      <p:sp>
        <p:nvSpPr>
          <p:cNvPr id="25" name="object 25"/>
          <p:cNvSpPr txBox="1"/>
          <p:nvPr/>
        </p:nvSpPr>
        <p:spPr>
          <a:xfrm>
            <a:off x="4471593" y="1955506"/>
            <a:ext cx="631190"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硬数据采样</a:t>
            </a:r>
            <a:endParaRPr sz="950">
              <a:latin typeface="宋体"/>
              <a:cs typeface="宋体"/>
            </a:endParaRPr>
          </a:p>
        </p:txBody>
      </p:sp>
      <p:sp>
        <p:nvSpPr>
          <p:cNvPr id="26" name="object 26"/>
          <p:cNvSpPr/>
          <p:nvPr/>
        </p:nvSpPr>
        <p:spPr>
          <a:xfrm>
            <a:off x="4357867" y="5179253"/>
            <a:ext cx="858519" cy="857885"/>
          </a:xfrm>
          <a:custGeom>
            <a:avLst/>
            <a:gdLst/>
            <a:ahLst/>
            <a:cxnLst/>
            <a:rect l="l" t="t" r="r" b="b"/>
            <a:pathLst>
              <a:path w="858520" h="857885">
                <a:moveTo>
                  <a:pt x="429090" y="0"/>
                </a:moveTo>
                <a:lnTo>
                  <a:pt x="382340" y="2515"/>
                </a:lnTo>
                <a:lnTo>
                  <a:pt x="337048" y="9888"/>
                </a:lnTo>
                <a:lnTo>
                  <a:pt x="293474" y="21857"/>
                </a:lnTo>
                <a:lnTo>
                  <a:pt x="251882" y="38159"/>
                </a:lnTo>
                <a:lnTo>
                  <a:pt x="212532" y="58534"/>
                </a:lnTo>
                <a:lnTo>
                  <a:pt x="175686" y="82720"/>
                </a:lnTo>
                <a:lnTo>
                  <a:pt x="141607" y="110455"/>
                </a:lnTo>
                <a:lnTo>
                  <a:pt x="110557" y="141478"/>
                </a:lnTo>
                <a:lnTo>
                  <a:pt x="82797" y="175528"/>
                </a:lnTo>
                <a:lnTo>
                  <a:pt x="58589" y="212342"/>
                </a:lnTo>
                <a:lnTo>
                  <a:pt x="38195" y="251659"/>
                </a:lnTo>
                <a:lnTo>
                  <a:pt x="21877" y="293218"/>
                </a:lnTo>
                <a:lnTo>
                  <a:pt x="9898" y="336758"/>
                </a:lnTo>
                <a:lnTo>
                  <a:pt x="2518" y="382015"/>
                </a:lnTo>
                <a:lnTo>
                  <a:pt x="0" y="428730"/>
                </a:lnTo>
                <a:lnTo>
                  <a:pt x="2518" y="475445"/>
                </a:lnTo>
                <a:lnTo>
                  <a:pt x="9898" y="520703"/>
                </a:lnTo>
                <a:lnTo>
                  <a:pt x="21877" y="564243"/>
                </a:lnTo>
                <a:lnTo>
                  <a:pt x="38195" y="605802"/>
                </a:lnTo>
                <a:lnTo>
                  <a:pt x="58589" y="645120"/>
                </a:lnTo>
                <a:lnTo>
                  <a:pt x="82797" y="681935"/>
                </a:lnTo>
                <a:lnTo>
                  <a:pt x="110557" y="715985"/>
                </a:lnTo>
                <a:lnTo>
                  <a:pt x="141607" y="747009"/>
                </a:lnTo>
                <a:lnTo>
                  <a:pt x="175686" y="774745"/>
                </a:lnTo>
                <a:lnTo>
                  <a:pt x="212532" y="798932"/>
                </a:lnTo>
                <a:lnTo>
                  <a:pt x="251882" y="819307"/>
                </a:lnTo>
                <a:lnTo>
                  <a:pt x="293474" y="835610"/>
                </a:lnTo>
                <a:lnTo>
                  <a:pt x="337048" y="847579"/>
                </a:lnTo>
                <a:lnTo>
                  <a:pt x="382340" y="854953"/>
                </a:lnTo>
                <a:lnTo>
                  <a:pt x="429090" y="857468"/>
                </a:lnTo>
                <a:lnTo>
                  <a:pt x="475868" y="854953"/>
                </a:lnTo>
                <a:lnTo>
                  <a:pt x="521185" y="847579"/>
                </a:lnTo>
                <a:lnTo>
                  <a:pt x="564779" y="835611"/>
                </a:lnTo>
                <a:lnTo>
                  <a:pt x="606390" y="819307"/>
                </a:lnTo>
                <a:lnTo>
                  <a:pt x="645755" y="798932"/>
                </a:lnTo>
                <a:lnTo>
                  <a:pt x="682612" y="774745"/>
                </a:lnTo>
                <a:lnTo>
                  <a:pt x="716701" y="747009"/>
                </a:lnTo>
                <a:lnTo>
                  <a:pt x="747759" y="715985"/>
                </a:lnTo>
                <a:lnTo>
                  <a:pt x="775525" y="681935"/>
                </a:lnTo>
                <a:lnTo>
                  <a:pt x="799737" y="645120"/>
                </a:lnTo>
                <a:lnTo>
                  <a:pt x="820133" y="605802"/>
                </a:lnTo>
                <a:lnTo>
                  <a:pt x="836453" y="564243"/>
                </a:lnTo>
                <a:lnTo>
                  <a:pt x="848433" y="520703"/>
                </a:lnTo>
                <a:lnTo>
                  <a:pt x="855813" y="475445"/>
                </a:lnTo>
                <a:lnTo>
                  <a:pt x="858332" y="428730"/>
                </a:lnTo>
                <a:lnTo>
                  <a:pt x="855813" y="382015"/>
                </a:lnTo>
                <a:lnTo>
                  <a:pt x="848433" y="336758"/>
                </a:lnTo>
                <a:lnTo>
                  <a:pt x="836453" y="293218"/>
                </a:lnTo>
                <a:lnTo>
                  <a:pt x="820133" y="251659"/>
                </a:lnTo>
                <a:lnTo>
                  <a:pt x="799737" y="212342"/>
                </a:lnTo>
                <a:lnTo>
                  <a:pt x="775525" y="175528"/>
                </a:lnTo>
                <a:lnTo>
                  <a:pt x="747759" y="141478"/>
                </a:lnTo>
                <a:lnTo>
                  <a:pt x="716701" y="110455"/>
                </a:lnTo>
                <a:lnTo>
                  <a:pt x="682612" y="82720"/>
                </a:lnTo>
                <a:lnTo>
                  <a:pt x="645755" y="58534"/>
                </a:lnTo>
                <a:lnTo>
                  <a:pt x="606390" y="38159"/>
                </a:lnTo>
                <a:lnTo>
                  <a:pt x="564779" y="21857"/>
                </a:lnTo>
                <a:lnTo>
                  <a:pt x="521185" y="9888"/>
                </a:lnTo>
                <a:lnTo>
                  <a:pt x="475868" y="2515"/>
                </a:lnTo>
                <a:lnTo>
                  <a:pt x="429090" y="0"/>
                </a:lnTo>
                <a:close/>
              </a:path>
            </a:pathLst>
          </a:custGeom>
          <a:solidFill>
            <a:srgbClr val="E8EDF7"/>
          </a:solidFill>
        </p:spPr>
        <p:txBody>
          <a:bodyPr wrap="square" lIns="0" tIns="0" rIns="0" bIns="0" rtlCol="0"/>
          <a:lstStyle/>
          <a:p/>
        </p:txBody>
      </p:sp>
      <p:sp>
        <p:nvSpPr>
          <p:cNvPr id="27" name="object 27"/>
          <p:cNvSpPr/>
          <p:nvPr/>
        </p:nvSpPr>
        <p:spPr>
          <a:xfrm>
            <a:off x="4357867" y="5179253"/>
            <a:ext cx="858519" cy="857885"/>
          </a:xfrm>
          <a:custGeom>
            <a:avLst/>
            <a:gdLst/>
            <a:ahLst/>
            <a:cxnLst/>
            <a:rect l="l" t="t" r="r" b="b"/>
            <a:pathLst>
              <a:path w="858520" h="857885">
                <a:moveTo>
                  <a:pt x="0" y="428730"/>
                </a:moveTo>
                <a:lnTo>
                  <a:pt x="2518" y="382015"/>
                </a:lnTo>
                <a:lnTo>
                  <a:pt x="9898" y="336758"/>
                </a:lnTo>
                <a:lnTo>
                  <a:pt x="21877" y="293218"/>
                </a:lnTo>
                <a:lnTo>
                  <a:pt x="38195" y="251659"/>
                </a:lnTo>
                <a:lnTo>
                  <a:pt x="58589" y="212342"/>
                </a:lnTo>
                <a:lnTo>
                  <a:pt x="82797" y="175528"/>
                </a:lnTo>
                <a:lnTo>
                  <a:pt x="110557" y="141478"/>
                </a:lnTo>
                <a:lnTo>
                  <a:pt x="141607" y="110455"/>
                </a:lnTo>
                <a:lnTo>
                  <a:pt x="175686" y="82720"/>
                </a:lnTo>
                <a:lnTo>
                  <a:pt x="212532" y="58534"/>
                </a:lnTo>
                <a:lnTo>
                  <a:pt x="251882" y="38159"/>
                </a:lnTo>
                <a:lnTo>
                  <a:pt x="293474" y="21857"/>
                </a:lnTo>
                <a:lnTo>
                  <a:pt x="337048" y="9888"/>
                </a:lnTo>
                <a:lnTo>
                  <a:pt x="382340" y="2515"/>
                </a:lnTo>
                <a:lnTo>
                  <a:pt x="429090" y="0"/>
                </a:lnTo>
                <a:lnTo>
                  <a:pt x="475868" y="2515"/>
                </a:lnTo>
                <a:lnTo>
                  <a:pt x="521185" y="9888"/>
                </a:lnTo>
                <a:lnTo>
                  <a:pt x="564779" y="21857"/>
                </a:lnTo>
                <a:lnTo>
                  <a:pt x="606390" y="38159"/>
                </a:lnTo>
                <a:lnTo>
                  <a:pt x="645755" y="58534"/>
                </a:lnTo>
                <a:lnTo>
                  <a:pt x="682612" y="82720"/>
                </a:lnTo>
                <a:lnTo>
                  <a:pt x="716701" y="110455"/>
                </a:lnTo>
                <a:lnTo>
                  <a:pt x="747759" y="141478"/>
                </a:lnTo>
                <a:lnTo>
                  <a:pt x="775525" y="175528"/>
                </a:lnTo>
                <a:lnTo>
                  <a:pt x="799737" y="212342"/>
                </a:lnTo>
                <a:lnTo>
                  <a:pt x="820133" y="251659"/>
                </a:lnTo>
                <a:lnTo>
                  <a:pt x="836453" y="293218"/>
                </a:lnTo>
                <a:lnTo>
                  <a:pt x="848433" y="336758"/>
                </a:lnTo>
                <a:lnTo>
                  <a:pt x="855813" y="382015"/>
                </a:lnTo>
                <a:lnTo>
                  <a:pt x="858332" y="428730"/>
                </a:lnTo>
                <a:lnTo>
                  <a:pt x="855813" y="475445"/>
                </a:lnTo>
                <a:lnTo>
                  <a:pt x="848433" y="520703"/>
                </a:lnTo>
                <a:lnTo>
                  <a:pt x="836453" y="564243"/>
                </a:lnTo>
                <a:lnTo>
                  <a:pt x="820133" y="605802"/>
                </a:lnTo>
                <a:lnTo>
                  <a:pt x="799737" y="645120"/>
                </a:lnTo>
                <a:lnTo>
                  <a:pt x="775525" y="681935"/>
                </a:lnTo>
                <a:lnTo>
                  <a:pt x="747759" y="715985"/>
                </a:lnTo>
                <a:lnTo>
                  <a:pt x="716701" y="747009"/>
                </a:lnTo>
                <a:lnTo>
                  <a:pt x="682612" y="774745"/>
                </a:lnTo>
                <a:lnTo>
                  <a:pt x="645755" y="798932"/>
                </a:lnTo>
                <a:lnTo>
                  <a:pt x="606390" y="819307"/>
                </a:lnTo>
                <a:lnTo>
                  <a:pt x="564779" y="835610"/>
                </a:lnTo>
                <a:lnTo>
                  <a:pt x="521185" y="847579"/>
                </a:lnTo>
                <a:lnTo>
                  <a:pt x="475868" y="854953"/>
                </a:lnTo>
                <a:lnTo>
                  <a:pt x="429090" y="857468"/>
                </a:lnTo>
                <a:lnTo>
                  <a:pt x="382340" y="854953"/>
                </a:lnTo>
                <a:lnTo>
                  <a:pt x="337048" y="847579"/>
                </a:lnTo>
                <a:lnTo>
                  <a:pt x="293474" y="835610"/>
                </a:lnTo>
                <a:lnTo>
                  <a:pt x="251882" y="819307"/>
                </a:lnTo>
                <a:lnTo>
                  <a:pt x="212532" y="798932"/>
                </a:lnTo>
                <a:lnTo>
                  <a:pt x="175686" y="774745"/>
                </a:lnTo>
                <a:lnTo>
                  <a:pt x="141607" y="747009"/>
                </a:lnTo>
                <a:lnTo>
                  <a:pt x="110557" y="715985"/>
                </a:lnTo>
                <a:lnTo>
                  <a:pt x="82797" y="681935"/>
                </a:lnTo>
                <a:lnTo>
                  <a:pt x="58589" y="645120"/>
                </a:lnTo>
                <a:lnTo>
                  <a:pt x="38195" y="605802"/>
                </a:lnTo>
                <a:lnTo>
                  <a:pt x="21877" y="564243"/>
                </a:lnTo>
                <a:lnTo>
                  <a:pt x="9898" y="520703"/>
                </a:lnTo>
                <a:lnTo>
                  <a:pt x="2518" y="475445"/>
                </a:lnTo>
                <a:lnTo>
                  <a:pt x="0" y="428730"/>
                </a:lnTo>
                <a:close/>
              </a:path>
            </a:pathLst>
          </a:custGeom>
          <a:ln w="3631">
            <a:solidFill>
              <a:srgbClr val="000000"/>
            </a:solidFill>
          </a:ln>
        </p:spPr>
        <p:txBody>
          <a:bodyPr wrap="square" lIns="0" tIns="0" rIns="0" bIns="0" rtlCol="0"/>
          <a:lstStyle/>
          <a:p/>
        </p:txBody>
      </p:sp>
      <p:sp>
        <p:nvSpPr>
          <p:cNvPr id="28" name="object 28"/>
          <p:cNvSpPr txBox="1"/>
          <p:nvPr/>
        </p:nvSpPr>
        <p:spPr>
          <a:xfrm>
            <a:off x="4532156" y="5514094"/>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涉众分析</a:t>
            </a:r>
            <a:endParaRPr sz="950">
              <a:latin typeface="宋体"/>
              <a:cs typeface="宋体"/>
            </a:endParaRPr>
          </a:p>
        </p:txBody>
      </p:sp>
      <p:sp>
        <p:nvSpPr>
          <p:cNvPr id="29" name="object 29"/>
          <p:cNvSpPr/>
          <p:nvPr/>
        </p:nvSpPr>
        <p:spPr>
          <a:xfrm>
            <a:off x="5988683" y="3078373"/>
            <a:ext cx="858519" cy="857885"/>
          </a:xfrm>
          <a:custGeom>
            <a:avLst/>
            <a:gdLst/>
            <a:ahLst/>
            <a:cxnLst/>
            <a:rect l="l" t="t" r="r" b="b"/>
            <a:pathLst>
              <a:path w="858520" h="857885">
                <a:moveTo>
                  <a:pt x="429241" y="0"/>
                </a:moveTo>
                <a:lnTo>
                  <a:pt x="382463" y="2517"/>
                </a:lnTo>
                <a:lnTo>
                  <a:pt x="337146" y="9895"/>
                </a:lnTo>
                <a:lnTo>
                  <a:pt x="293552" y="21870"/>
                </a:lnTo>
                <a:lnTo>
                  <a:pt x="251941" y="38181"/>
                </a:lnTo>
                <a:lnTo>
                  <a:pt x="212576" y="58567"/>
                </a:lnTo>
                <a:lnTo>
                  <a:pt x="175719" y="82763"/>
                </a:lnTo>
                <a:lnTo>
                  <a:pt x="141630" y="110509"/>
                </a:lnTo>
                <a:lnTo>
                  <a:pt x="110572" y="141542"/>
                </a:lnTo>
                <a:lnTo>
                  <a:pt x="82806" y="175600"/>
                </a:lnTo>
                <a:lnTo>
                  <a:pt x="58594" y="212420"/>
                </a:lnTo>
                <a:lnTo>
                  <a:pt x="38198" y="251742"/>
                </a:lnTo>
                <a:lnTo>
                  <a:pt x="21879" y="293302"/>
                </a:lnTo>
                <a:lnTo>
                  <a:pt x="9898" y="336838"/>
                </a:lnTo>
                <a:lnTo>
                  <a:pt x="2518" y="382088"/>
                </a:lnTo>
                <a:lnTo>
                  <a:pt x="0" y="428791"/>
                </a:lnTo>
                <a:lnTo>
                  <a:pt x="2518" y="475519"/>
                </a:lnTo>
                <a:lnTo>
                  <a:pt x="9898" y="520789"/>
                </a:lnTo>
                <a:lnTo>
                  <a:pt x="21879" y="564338"/>
                </a:lnTo>
                <a:lnTo>
                  <a:pt x="38198" y="605905"/>
                </a:lnTo>
                <a:lnTo>
                  <a:pt x="58594" y="645228"/>
                </a:lnTo>
                <a:lnTo>
                  <a:pt x="82806" y="682047"/>
                </a:lnTo>
                <a:lnTo>
                  <a:pt x="110572" y="716100"/>
                </a:lnTo>
                <a:lnTo>
                  <a:pt x="141630" y="747125"/>
                </a:lnTo>
                <a:lnTo>
                  <a:pt x="175719" y="774862"/>
                </a:lnTo>
                <a:lnTo>
                  <a:pt x="212576" y="799048"/>
                </a:lnTo>
                <a:lnTo>
                  <a:pt x="251941" y="819423"/>
                </a:lnTo>
                <a:lnTo>
                  <a:pt x="293552" y="835726"/>
                </a:lnTo>
                <a:lnTo>
                  <a:pt x="337146" y="847694"/>
                </a:lnTo>
                <a:lnTo>
                  <a:pt x="382463" y="855066"/>
                </a:lnTo>
                <a:lnTo>
                  <a:pt x="429241" y="857582"/>
                </a:lnTo>
                <a:lnTo>
                  <a:pt x="475991" y="855066"/>
                </a:lnTo>
                <a:lnTo>
                  <a:pt x="521283" y="847694"/>
                </a:lnTo>
                <a:lnTo>
                  <a:pt x="564857" y="835726"/>
                </a:lnTo>
                <a:lnTo>
                  <a:pt x="606450" y="819423"/>
                </a:lnTo>
                <a:lnTo>
                  <a:pt x="645800" y="799048"/>
                </a:lnTo>
                <a:lnTo>
                  <a:pt x="682645" y="774862"/>
                </a:lnTo>
                <a:lnTo>
                  <a:pt x="716724" y="747125"/>
                </a:lnTo>
                <a:lnTo>
                  <a:pt x="747774" y="716100"/>
                </a:lnTo>
                <a:lnTo>
                  <a:pt x="775534" y="682047"/>
                </a:lnTo>
                <a:lnTo>
                  <a:pt x="799742" y="645228"/>
                </a:lnTo>
                <a:lnTo>
                  <a:pt x="820136" y="605905"/>
                </a:lnTo>
                <a:lnTo>
                  <a:pt x="836454" y="564338"/>
                </a:lnTo>
                <a:lnTo>
                  <a:pt x="848434" y="520789"/>
                </a:lnTo>
                <a:lnTo>
                  <a:pt x="855813" y="475519"/>
                </a:lnTo>
                <a:lnTo>
                  <a:pt x="858332" y="428791"/>
                </a:lnTo>
                <a:lnTo>
                  <a:pt x="855813" y="382088"/>
                </a:lnTo>
                <a:lnTo>
                  <a:pt x="848434" y="336838"/>
                </a:lnTo>
                <a:lnTo>
                  <a:pt x="836454" y="293302"/>
                </a:lnTo>
                <a:lnTo>
                  <a:pt x="820136" y="251742"/>
                </a:lnTo>
                <a:lnTo>
                  <a:pt x="799742" y="212420"/>
                </a:lnTo>
                <a:lnTo>
                  <a:pt x="775534" y="175600"/>
                </a:lnTo>
                <a:lnTo>
                  <a:pt x="747774" y="141542"/>
                </a:lnTo>
                <a:lnTo>
                  <a:pt x="716724" y="110509"/>
                </a:lnTo>
                <a:lnTo>
                  <a:pt x="682645" y="82763"/>
                </a:lnTo>
                <a:lnTo>
                  <a:pt x="645800" y="58567"/>
                </a:lnTo>
                <a:lnTo>
                  <a:pt x="606450" y="38181"/>
                </a:lnTo>
                <a:lnTo>
                  <a:pt x="564857" y="21870"/>
                </a:lnTo>
                <a:lnTo>
                  <a:pt x="521283" y="9895"/>
                </a:lnTo>
                <a:lnTo>
                  <a:pt x="475991" y="2517"/>
                </a:lnTo>
                <a:lnTo>
                  <a:pt x="429241" y="0"/>
                </a:lnTo>
                <a:close/>
              </a:path>
            </a:pathLst>
          </a:custGeom>
          <a:solidFill>
            <a:srgbClr val="E8EDF7"/>
          </a:solidFill>
        </p:spPr>
        <p:txBody>
          <a:bodyPr wrap="square" lIns="0" tIns="0" rIns="0" bIns="0" rtlCol="0"/>
          <a:lstStyle/>
          <a:p/>
        </p:txBody>
      </p:sp>
      <p:sp>
        <p:nvSpPr>
          <p:cNvPr id="30" name="object 30"/>
          <p:cNvSpPr/>
          <p:nvPr/>
        </p:nvSpPr>
        <p:spPr>
          <a:xfrm>
            <a:off x="5988683" y="3078373"/>
            <a:ext cx="858519" cy="857885"/>
          </a:xfrm>
          <a:custGeom>
            <a:avLst/>
            <a:gdLst/>
            <a:ahLst/>
            <a:cxnLst/>
            <a:rect l="l" t="t" r="r" b="b"/>
            <a:pathLst>
              <a:path w="858520" h="857885">
                <a:moveTo>
                  <a:pt x="0" y="428791"/>
                </a:moveTo>
                <a:lnTo>
                  <a:pt x="2518" y="382088"/>
                </a:lnTo>
                <a:lnTo>
                  <a:pt x="9898" y="336838"/>
                </a:lnTo>
                <a:lnTo>
                  <a:pt x="21879" y="293302"/>
                </a:lnTo>
                <a:lnTo>
                  <a:pt x="38198" y="251742"/>
                </a:lnTo>
                <a:lnTo>
                  <a:pt x="58594" y="212420"/>
                </a:lnTo>
                <a:lnTo>
                  <a:pt x="82806" y="175600"/>
                </a:lnTo>
                <a:lnTo>
                  <a:pt x="110572" y="141542"/>
                </a:lnTo>
                <a:lnTo>
                  <a:pt x="141630" y="110509"/>
                </a:lnTo>
                <a:lnTo>
                  <a:pt x="175719" y="82763"/>
                </a:lnTo>
                <a:lnTo>
                  <a:pt x="212576" y="58567"/>
                </a:lnTo>
                <a:lnTo>
                  <a:pt x="251941" y="38181"/>
                </a:lnTo>
                <a:lnTo>
                  <a:pt x="293552" y="21870"/>
                </a:lnTo>
                <a:lnTo>
                  <a:pt x="337146" y="9895"/>
                </a:lnTo>
                <a:lnTo>
                  <a:pt x="382463" y="2517"/>
                </a:lnTo>
                <a:lnTo>
                  <a:pt x="429241" y="0"/>
                </a:lnTo>
                <a:lnTo>
                  <a:pt x="475991" y="2517"/>
                </a:lnTo>
                <a:lnTo>
                  <a:pt x="521283" y="9895"/>
                </a:lnTo>
                <a:lnTo>
                  <a:pt x="564857" y="21870"/>
                </a:lnTo>
                <a:lnTo>
                  <a:pt x="606450" y="38181"/>
                </a:lnTo>
                <a:lnTo>
                  <a:pt x="645800" y="58567"/>
                </a:lnTo>
                <a:lnTo>
                  <a:pt x="682645" y="82763"/>
                </a:lnTo>
                <a:lnTo>
                  <a:pt x="716724" y="110509"/>
                </a:lnTo>
                <a:lnTo>
                  <a:pt x="747774" y="141542"/>
                </a:lnTo>
                <a:lnTo>
                  <a:pt x="775534" y="175600"/>
                </a:lnTo>
                <a:lnTo>
                  <a:pt x="799742" y="212420"/>
                </a:lnTo>
                <a:lnTo>
                  <a:pt x="820136" y="251742"/>
                </a:lnTo>
                <a:lnTo>
                  <a:pt x="836454" y="293302"/>
                </a:lnTo>
                <a:lnTo>
                  <a:pt x="848434" y="336838"/>
                </a:lnTo>
                <a:lnTo>
                  <a:pt x="855813" y="382088"/>
                </a:lnTo>
                <a:lnTo>
                  <a:pt x="858332" y="428791"/>
                </a:lnTo>
                <a:lnTo>
                  <a:pt x="855813" y="475519"/>
                </a:lnTo>
                <a:lnTo>
                  <a:pt x="848434" y="520789"/>
                </a:lnTo>
                <a:lnTo>
                  <a:pt x="836454" y="564338"/>
                </a:lnTo>
                <a:lnTo>
                  <a:pt x="820136" y="605905"/>
                </a:lnTo>
                <a:lnTo>
                  <a:pt x="799742" y="645228"/>
                </a:lnTo>
                <a:lnTo>
                  <a:pt x="775534" y="682047"/>
                </a:lnTo>
                <a:lnTo>
                  <a:pt x="747774" y="716100"/>
                </a:lnTo>
                <a:lnTo>
                  <a:pt x="716724" y="747125"/>
                </a:lnTo>
                <a:lnTo>
                  <a:pt x="682645" y="774862"/>
                </a:lnTo>
                <a:lnTo>
                  <a:pt x="645800" y="799048"/>
                </a:lnTo>
                <a:lnTo>
                  <a:pt x="606450" y="819423"/>
                </a:lnTo>
                <a:lnTo>
                  <a:pt x="564857" y="835726"/>
                </a:lnTo>
                <a:lnTo>
                  <a:pt x="521283" y="847694"/>
                </a:lnTo>
                <a:lnTo>
                  <a:pt x="475991" y="855066"/>
                </a:lnTo>
                <a:lnTo>
                  <a:pt x="429241" y="857582"/>
                </a:lnTo>
                <a:lnTo>
                  <a:pt x="382463" y="855066"/>
                </a:lnTo>
                <a:lnTo>
                  <a:pt x="337146" y="847694"/>
                </a:lnTo>
                <a:lnTo>
                  <a:pt x="293552" y="835726"/>
                </a:lnTo>
                <a:lnTo>
                  <a:pt x="251941" y="819423"/>
                </a:lnTo>
                <a:lnTo>
                  <a:pt x="212576" y="799048"/>
                </a:lnTo>
                <a:lnTo>
                  <a:pt x="175719" y="774862"/>
                </a:lnTo>
                <a:lnTo>
                  <a:pt x="141630" y="747125"/>
                </a:lnTo>
                <a:lnTo>
                  <a:pt x="110572" y="716100"/>
                </a:lnTo>
                <a:lnTo>
                  <a:pt x="82806" y="682047"/>
                </a:lnTo>
                <a:lnTo>
                  <a:pt x="58594" y="645228"/>
                </a:lnTo>
                <a:lnTo>
                  <a:pt x="38198" y="605905"/>
                </a:lnTo>
                <a:lnTo>
                  <a:pt x="21879" y="564338"/>
                </a:lnTo>
                <a:lnTo>
                  <a:pt x="9898" y="520789"/>
                </a:lnTo>
                <a:lnTo>
                  <a:pt x="2518" y="475519"/>
                </a:lnTo>
                <a:lnTo>
                  <a:pt x="0" y="428791"/>
                </a:lnTo>
                <a:close/>
              </a:path>
            </a:pathLst>
          </a:custGeom>
          <a:ln w="3631">
            <a:solidFill>
              <a:srgbClr val="000000"/>
            </a:solidFill>
          </a:ln>
        </p:spPr>
        <p:txBody>
          <a:bodyPr wrap="square" lIns="0" tIns="0" rIns="0" bIns="0" rtlCol="0"/>
          <a:lstStyle/>
          <a:p/>
        </p:txBody>
      </p:sp>
      <p:sp>
        <p:nvSpPr>
          <p:cNvPr id="31" name="object 31"/>
          <p:cNvSpPr txBox="1"/>
          <p:nvPr/>
        </p:nvSpPr>
        <p:spPr>
          <a:xfrm>
            <a:off x="6041846" y="3319771"/>
            <a:ext cx="752475" cy="337185"/>
          </a:xfrm>
          <a:prstGeom prst="rect">
            <a:avLst/>
          </a:prstGeom>
        </p:spPr>
        <p:txBody>
          <a:bodyPr wrap="square" lIns="0" tIns="12700" rIns="0" bIns="0" rtlCol="0" vert="horz">
            <a:spAutoFit/>
          </a:bodyPr>
          <a:lstStyle/>
          <a:p>
            <a:pPr marL="12700" marR="5080" indent="60325">
              <a:lnSpc>
                <a:spcPct val="107500"/>
              </a:lnSpc>
              <a:spcBef>
                <a:spcPts val="100"/>
              </a:spcBef>
            </a:pPr>
            <a:r>
              <a:rPr dirty="0" sz="950">
                <a:latin typeface="宋体"/>
                <a:cs typeface="宋体"/>
              </a:rPr>
              <a:t>选择获取方 </a:t>
            </a:r>
            <a:r>
              <a:rPr dirty="0" sz="950">
                <a:latin typeface="宋体"/>
                <a:cs typeface="宋体"/>
              </a:rPr>
              <a:t>法、执行获取</a:t>
            </a:r>
            <a:endParaRPr sz="950">
              <a:latin typeface="宋体"/>
              <a:cs typeface="宋体"/>
            </a:endParaRPr>
          </a:p>
        </p:txBody>
      </p:sp>
      <p:sp>
        <p:nvSpPr>
          <p:cNvPr id="32" name="object 32"/>
          <p:cNvSpPr/>
          <p:nvPr/>
        </p:nvSpPr>
        <p:spPr>
          <a:xfrm>
            <a:off x="5988683" y="5822349"/>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33" name="object 33"/>
          <p:cNvSpPr/>
          <p:nvPr/>
        </p:nvSpPr>
        <p:spPr>
          <a:xfrm>
            <a:off x="5988683" y="5393619"/>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34" name="object 34"/>
          <p:cNvSpPr txBox="1"/>
          <p:nvPr/>
        </p:nvSpPr>
        <p:spPr>
          <a:xfrm>
            <a:off x="6162972" y="5514095"/>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涉众特征</a:t>
            </a:r>
            <a:endParaRPr sz="950">
              <a:latin typeface="宋体"/>
              <a:cs typeface="宋体"/>
            </a:endParaRPr>
          </a:p>
        </p:txBody>
      </p:sp>
      <p:sp>
        <p:nvSpPr>
          <p:cNvPr id="35" name="object 35"/>
          <p:cNvSpPr/>
          <p:nvPr/>
        </p:nvSpPr>
        <p:spPr>
          <a:xfrm>
            <a:off x="5988683" y="2263897"/>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36" name="object 36"/>
          <p:cNvSpPr/>
          <p:nvPr/>
        </p:nvSpPr>
        <p:spPr>
          <a:xfrm>
            <a:off x="5988683" y="1835106"/>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37" name="object 37"/>
          <p:cNvSpPr txBox="1"/>
          <p:nvPr/>
        </p:nvSpPr>
        <p:spPr>
          <a:xfrm>
            <a:off x="6162972" y="1955506"/>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文档资料</a:t>
            </a:r>
            <a:endParaRPr sz="950">
              <a:latin typeface="宋体"/>
              <a:cs typeface="宋体"/>
            </a:endParaRPr>
          </a:p>
        </p:txBody>
      </p:sp>
      <p:sp>
        <p:nvSpPr>
          <p:cNvPr id="38" name="object 38"/>
          <p:cNvSpPr txBox="1"/>
          <p:nvPr/>
        </p:nvSpPr>
        <p:spPr>
          <a:xfrm>
            <a:off x="8177589" y="1835166"/>
            <a:ext cx="858519" cy="429259"/>
          </a:xfrm>
          <a:prstGeom prst="rect">
            <a:avLst/>
          </a:prstGeom>
          <a:solidFill>
            <a:srgbClr val="E8EDF7"/>
          </a:solidFill>
          <a:ln w="3630">
            <a:solidFill>
              <a:srgbClr val="000000"/>
            </a:solidFill>
          </a:ln>
        </p:spPr>
        <p:txBody>
          <a:bodyPr wrap="square" lIns="0" tIns="1905" rIns="0" bIns="0" rtlCol="0" vert="horz">
            <a:spAutoFit/>
          </a:bodyPr>
          <a:lstStyle/>
          <a:p>
            <a:pPr>
              <a:lnSpc>
                <a:spcPct val="100000"/>
              </a:lnSpc>
              <a:spcBef>
                <a:spcPts val="15"/>
              </a:spcBef>
            </a:pPr>
            <a:endParaRPr sz="900">
              <a:latin typeface="Times New Roman"/>
              <a:cs typeface="Times New Roman"/>
            </a:endParaRPr>
          </a:p>
          <a:p>
            <a:pPr marL="186690">
              <a:lnSpc>
                <a:spcPct val="100000"/>
              </a:lnSpc>
            </a:pPr>
            <a:r>
              <a:rPr dirty="0" sz="950">
                <a:latin typeface="宋体"/>
                <a:cs typeface="宋体"/>
              </a:rPr>
              <a:t>系统环境</a:t>
            </a:r>
            <a:endParaRPr sz="950">
              <a:latin typeface="宋体"/>
              <a:cs typeface="宋体"/>
            </a:endParaRPr>
          </a:p>
        </p:txBody>
      </p:sp>
      <p:sp>
        <p:nvSpPr>
          <p:cNvPr id="39" name="object 39"/>
          <p:cNvSpPr/>
          <p:nvPr/>
        </p:nvSpPr>
        <p:spPr>
          <a:xfrm>
            <a:off x="3020177" y="2049426"/>
            <a:ext cx="1264920" cy="0"/>
          </a:xfrm>
          <a:custGeom>
            <a:avLst/>
            <a:gdLst/>
            <a:ahLst/>
            <a:cxnLst/>
            <a:rect l="l" t="t" r="r" b="b"/>
            <a:pathLst>
              <a:path w="1264920" h="0">
                <a:moveTo>
                  <a:pt x="0" y="0"/>
                </a:moveTo>
                <a:lnTo>
                  <a:pt x="1264559" y="0"/>
                </a:lnTo>
              </a:path>
            </a:pathLst>
          </a:custGeom>
          <a:ln w="3630">
            <a:solidFill>
              <a:srgbClr val="4677BE"/>
            </a:solidFill>
          </a:ln>
        </p:spPr>
        <p:txBody>
          <a:bodyPr wrap="square" lIns="0" tIns="0" rIns="0" bIns="0" rtlCol="0"/>
          <a:lstStyle/>
          <a:p/>
        </p:txBody>
      </p:sp>
      <p:sp>
        <p:nvSpPr>
          <p:cNvPr id="40" name="object 40"/>
          <p:cNvSpPr/>
          <p:nvPr/>
        </p:nvSpPr>
        <p:spPr>
          <a:xfrm>
            <a:off x="967205" y="2049426"/>
            <a:ext cx="1326515" cy="0"/>
          </a:xfrm>
          <a:custGeom>
            <a:avLst/>
            <a:gdLst/>
            <a:ahLst/>
            <a:cxnLst/>
            <a:rect l="l" t="t" r="r" b="b"/>
            <a:pathLst>
              <a:path w="1326514" h="0">
                <a:moveTo>
                  <a:pt x="0" y="0"/>
                </a:moveTo>
                <a:lnTo>
                  <a:pt x="1326213" y="0"/>
                </a:lnTo>
              </a:path>
            </a:pathLst>
          </a:custGeom>
          <a:ln w="3630">
            <a:solidFill>
              <a:srgbClr val="4677BE"/>
            </a:solidFill>
          </a:ln>
        </p:spPr>
        <p:txBody>
          <a:bodyPr wrap="square" lIns="0" tIns="0" rIns="0" bIns="0" rtlCol="0"/>
          <a:lstStyle/>
          <a:p/>
        </p:txBody>
      </p:sp>
      <p:sp>
        <p:nvSpPr>
          <p:cNvPr id="41" name="object 41"/>
          <p:cNvSpPr/>
          <p:nvPr/>
        </p:nvSpPr>
        <p:spPr>
          <a:xfrm>
            <a:off x="4274290" y="2007681"/>
            <a:ext cx="83820" cy="83820"/>
          </a:xfrm>
          <a:custGeom>
            <a:avLst/>
            <a:gdLst/>
            <a:ahLst/>
            <a:cxnLst/>
            <a:rect l="l" t="t" r="r" b="b"/>
            <a:pathLst>
              <a:path w="83820" h="83819">
                <a:moveTo>
                  <a:pt x="0" y="0"/>
                </a:moveTo>
                <a:lnTo>
                  <a:pt x="0" y="83489"/>
                </a:lnTo>
                <a:lnTo>
                  <a:pt x="83577" y="41744"/>
                </a:lnTo>
                <a:lnTo>
                  <a:pt x="0" y="0"/>
                </a:lnTo>
                <a:close/>
              </a:path>
            </a:pathLst>
          </a:custGeom>
          <a:solidFill>
            <a:srgbClr val="4677BE"/>
          </a:solidFill>
        </p:spPr>
        <p:txBody>
          <a:bodyPr wrap="square" lIns="0" tIns="0" rIns="0" bIns="0" rtlCol="0"/>
          <a:lstStyle/>
          <a:p/>
        </p:txBody>
      </p:sp>
      <p:sp>
        <p:nvSpPr>
          <p:cNvPr id="42" name="object 42"/>
          <p:cNvSpPr txBox="1"/>
          <p:nvPr/>
        </p:nvSpPr>
        <p:spPr>
          <a:xfrm>
            <a:off x="2286472" y="1955506"/>
            <a:ext cx="75247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业务数据资料</a:t>
            </a:r>
            <a:endParaRPr sz="950">
              <a:latin typeface="宋体"/>
              <a:cs typeface="宋体"/>
            </a:endParaRPr>
          </a:p>
        </p:txBody>
      </p:sp>
      <p:sp>
        <p:nvSpPr>
          <p:cNvPr id="43" name="object 43"/>
          <p:cNvSpPr/>
          <p:nvPr/>
        </p:nvSpPr>
        <p:spPr>
          <a:xfrm>
            <a:off x="4786958" y="2551270"/>
            <a:ext cx="0" cy="254635"/>
          </a:xfrm>
          <a:custGeom>
            <a:avLst/>
            <a:gdLst/>
            <a:ahLst/>
            <a:cxnLst/>
            <a:rect l="l" t="t" r="r" b="b"/>
            <a:pathLst>
              <a:path w="0" h="254635">
                <a:moveTo>
                  <a:pt x="0" y="0"/>
                </a:moveTo>
                <a:lnTo>
                  <a:pt x="0" y="254567"/>
                </a:lnTo>
              </a:path>
            </a:pathLst>
          </a:custGeom>
          <a:ln w="3633">
            <a:solidFill>
              <a:srgbClr val="4677BE"/>
            </a:solidFill>
          </a:ln>
        </p:spPr>
        <p:txBody>
          <a:bodyPr wrap="square" lIns="0" tIns="0" rIns="0" bIns="0" rtlCol="0"/>
          <a:lstStyle/>
          <a:p/>
        </p:txBody>
      </p:sp>
      <p:sp>
        <p:nvSpPr>
          <p:cNvPr id="44" name="object 44"/>
          <p:cNvSpPr/>
          <p:nvPr/>
        </p:nvSpPr>
        <p:spPr>
          <a:xfrm>
            <a:off x="4786958" y="2965088"/>
            <a:ext cx="0" cy="328295"/>
          </a:xfrm>
          <a:custGeom>
            <a:avLst/>
            <a:gdLst/>
            <a:ahLst/>
            <a:cxnLst/>
            <a:rect l="l" t="t" r="r" b="b"/>
            <a:pathLst>
              <a:path w="0" h="328295">
                <a:moveTo>
                  <a:pt x="0" y="0"/>
                </a:moveTo>
                <a:lnTo>
                  <a:pt x="0" y="327756"/>
                </a:lnTo>
              </a:path>
            </a:pathLst>
          </a:custGeom>
          <a:ln w="3633">
            <a:solidFill>
              <a:srgbClr val="4677BE"/>
            </a:solidFill>
          </a:ln>
        </p:spPr>
        <p:txBody>
          <a:bodyPr wrap="square" lIns="0" tIns="0" rIns="0" bIns="0" rtlCol="0"/>
          <a:lstStyle/>
          <a:p/>
        </p:txBody>
      </p:sp>
      <p:sp>
        <p:nvSpPr>
          <p:cNvPr id="45" name="object 45"/>
          <p:cNvSpPr/>
          <p:nvPr/>
        </p:nvSpPr>
        <p:spPr>
          <a:xfrm>
            <a:off x="4745169" y="2478217"/>
            <a:ext cx="83820" cy="83820"/>
          </a:xfrm>
          <a:custGeom>
            <a:avLst/>
            <a:gdLst/>
            <a:ahLst/>
            <a:cxnLst/>
            <a:rect l="l" t="t" r="r" b="b"/>
            <a:pathLst>
              <a:path w="83820" h="83819">
                <a:moveTo>
                  <a:pt x="41788" y="0"/>
                </a:moveTo>
                <a:lnTo>
                  <a:pt x="0" y="83489"/>
                </a:lnTo>
                <a:lnTo>
                  <a:pt x="83577" y="83489"/>
                </a:lnTo>
                <a:lnTo>
                  <a:pt x="41788" y="0"/>
                </a:lnTo>
                <a:close/>
              </a:path>
            </a:pathLst>
          </a:custGeom>
          <a:solidFill>
            <a:srgbClr val="4677BE"/>
          </a:solidFill>
        </p:spPr>
        <p:txBody>
          <a:bodyPr wrap="square" lIns="0" tIns="0" rIns="0" bIns="0" rtlCol="0"/>
          <a:lstStyle/>
          <a:p/>
        </p:txBody>
      </p:sp>
      <p:sp>
        <p:nvSpPr>
          <p:cNvPr id="46" name="object 46"/>
          <p:cNvSpPr txBox="1"/>
          <p:nvPr/>
        </p:nvSpPr>
        <p:spPr>
          <a:xfrm>
            <a:off x="4532005" y="2791611"/>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采集范围</a:t>
            </a:r>
            <a:endParaRPr sz="950">
              <a:latin typeface="宋体"/>
              <a:cs typeface="宋体"/>
            </a:endParaRPr>
          </a:p>
        </p:txBody>
      </p:sp>
      <p:sp>
        <p:nvSpPr>
          <p:cNvPr id="47" name="object 47"/>
          <p:cNvSpPr/>
          <p:nvPr/>
        </p:nvSpPr>
        <p:spPr>
          <a:xfrm>
            <a:off x="5838941" y="2049426"/>
            <a:ext cx="76835" cy="0"/>
          </a:xfrm>
          <a:custGeom>
            <a:avLst/>
            <a:gdLst/>
            <a:ahLst/>
            <a:cxnLst/>
            <a:rect l="l" t="t" r="r" b="b"/>
            <a:pathLst>
              <a:path w="76835" h="0">
                <a:moveTo>
                  <a:pt x="0" y="0"/>
                </a:moveTo>
                <a:lnTo>
                  <a:pt x="76612" y="0"/>
                </a:lnTo>
              </a:path>
            </a:pathLst>
          </a:custGeom>
          <a:ln w="3629">
            <a:solidFill>
              <a:srgbClr val="4677BE"/>
            </a:solidFill>
          </a:ln>
        </p:spPr>
        <p:txBody>
          <a:bodyPr wrap="square" lIns="0" tIns="0" rIns="0" bIns="0" rtlCol="0"/>
          <a:lstStyle/>
          <a:p/>
        </p:txBody>
      </p:sp>
      <p:sp>
        <p:nvSpPr>
          <p:cNvPr id="48" name="object 48"/>
          <p:cNvSpPr/>
          <p:nvPr/>
        </p:nvSpPr>
        <p:spPr>
          <a:xfrm>
            <a:off x="5216199" y="2049426"/>
            <a:ext cx="138430" cy="0"/>
          </a:xfrm>
          <a:custGeom>
            <a:avLst/>
            <a:gdLst/>
            <a:ahLst/>
            <a:cxnLst/>
            <a:rect l="l" t="t" r="r" b="b"/>
            <a:pathLst>
              <a:path w="138429" h="0">
                <a:moveTo>
                  <a:pt x="0" y="0"/>
                </a:moveTo>
                <a:lnTo>
                  <a:pt x="138235" y="0"/>
                </a:lnTo>
              </a:path>
            </a:pathLst>
          </a:custGeom>
          <a:ln w="3629">
            <a:solidFill>
              <a:srgbClr val="4677BE"/>
            </a:solidFill>
          </a:ln>
        </p:spPr>
        <p:txBody>
          <a:bodyPr wrap="square" lIns="0" tIns="0" rIns="0" bIns="0" rtlCol="0"/>
          <a:lstStyle/>
          <a:p/>
        </p:txBody>
      </p:sp>
      <p:sp>
        <p:nvSpPr>
          <p:cNvPr id="49" name="object 49"/>
          <p:cNvSpPr/>
          <p:nvPr/>
        </p:nvSpPr>
        <p:spPr>
          <a:xfrm>
            <a:off x="5905106" y="2007681"/>
            <a:ext cx="83820" cy="83820"/>
          </a:xfrm>
          <a:custGeom>
            <a:avLst/>
            <a:gdLst/>
            <a:ahLst/>
            <a:cxnLst/>
            <a:rect l="l" t="t" r="r" b="b"/>
            <a:pathLst>
              <a:path w="83820" h="83819">
                <a:moveTo>
                  <a:pt x="0" y="0"/>
                </a:moveTo>
                <a:lnTo>
                  <a:pt x="0" y="83489"/>
                </a:lnTo>
                <a:lnTo>
                  <a:pt x="83577" y="41744"/>
                </a:lnTo>
                <a:lnTo>
                  <a:pt x="0" y="0"/>
                </a:lnTo>
                <a:close/>
              </a:path>
            </a:pathLst>
          </a:custGeom>
          <a:solidFill>
            <a:srgbClr val="4677BE"/>
          </a:solidFill>
        </p:spPr>
        <p:txBody>
          <a:bodyPr wrap="square" lIns="0" tIns="0" rIns="0" bIns="0" rtlCol="0"/>
          <a:lstStyle/>
          <a:p/>
        </p:txBody>
      </p:sp>
      <p:sp>
        <p:nvSpPr>
          <p:cNvPr id="50" name="object 50"/>
          <p:cNvSpPr txBox="1"/>
          <p:nvPr/>
        </p:nvSpPr>
        <p:spPr>
          <a:xfrm>
            <a:off x="5347489" y="1955506"/>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样本数据</a:t>
            </a:r>
            <a:endParaRPr sz="950">
              <a:latin typeface="宋体"/>
              <a:cs typeface="宋体"/>
            </a:endParaRPr>
          </a:p>
        </p:txBody>
      </p:sp>
      <p:sp>
        <p:nvSpPr>
          <p:cNvPr id="51" name="object 51"/>
          <p:cNvSpPr/>
          <p:nvPr/>
        </p:nvSpPr>
        <p:spPr>
          <a:xfrm>
            <a:off x="4239617" y="3507164"/>
            <a:ext cx="45720" cy="0"/>
          </a:xfrm>
          <a:custGeom>
            <a:avLst/>
            <a:gdLst/>
            <a:ahLst/>
            <a:cxnLst/>
            <a:rect l="l" t="t" r="r" b="b"/>
            <a:pathLst>
              <a:path w="45720" h="0">
                <a:moveTo>
                  <a:pt x="0" y="0"/>
                </a:moveTo>
                <a:lnTo>
                  <a:pt x="45119" y="0"/>
                </a:lnTo>
              </a:path>
            </a:pathLst>
          </a:custGeom>
          <a:ln w="3629">
            <a:solidFill>
              <a:srgbClr val="4677BE"/>
            </a:solidFill>
          </a:ln>
        </p:spPr>
        <p:txBody>
          <a:bodyPr wrap="square" lIns="0" tIns="0" rIns="0" bIns="0" rtlCol="0"/>
          <a:lstStyle/>
          <a:p/>
        </p:txBody>
      </p:sp>
      <p:sp>
        <p:nvSpPr>
          <p:cNvPr id="52" name="object 52"/>
          <p:cNvSpPr/>
          <p:nvPr/>
        </p:nvSpPr>
        <p:spPr>
          <a:xfrm>
            <a:off x="3284839" y="3507164"/>
            <a:ext cx="107314" cy="0"/>
          </a:xfrm>
          <a:custGeom>
            <a:avLst/>
            <a:gdLst/>
            <a:ahLst/>
            <a:cxnLst/>
            <a:rect l="l" t="t" r="r" b="b"/>
            <a:pathLst>
              <a:path w="107314" h="0">
                <a:moveTo>
                  <a:pt x="0" y="0"/>
                </a:moveTo>
                <a:lnTo>
                  <a:pt x="106894" y="0"/>
                </a:lnTo>
              </a:path>
            </a:pathLst>
          </a:custGeom>
          <a:ln w="3629">
            <a:solidFill>
              <a:srgbClr val="4677BE"/>
            </a:solidFill>
          </a:ln>
        </p:spPr>
        <p:txBody>
          <a:bodyPr wrap="square" lIns="0" tIns="0" rIns="0" bIns="0" rtlCol="0"/>
          <a:lstStyle/>
          <a:p/>
        </p:txBody>
      </p:sp>
      <p:sp>
        <p:nvSpPr>
          <p:cNvPr id="53" name="object 53"/>
          <p:cNvSpPr/>
          <p:nvPr/>
        </p:nvSpPr>
        <p:spPr>
          <a:xfrm>
            <a:off x="4274290" y="3465420"/>
            <a:ext cx="83820" cy="83820"/>
          </a:xfrm>
          <a:custGeom>
            <a:avLst/>
            <a:gdLst/>
            <a:ahLst/>
            <a:cxnLst/>
            <a:rect l="l" t="t" r="r" b="b"/>
            <a:pathLst>
              <a:path w="83820" h="83820">
                <a:moveTo>
                  <a:pt x="0" y="0"/>
                </a:moveTo>
                <a:lnTo>
                  <a:pt x="0" y="83489"/>
                </a:lnTo>
                <a:lnTo>
                  <a:pt x="83577" y="41744"/>
                </a:lnTo>
                <a:lnTo>
                  <a:pt x="0" y="0"/>
                </a:lnTo>
                <a:close/>
              </a:path>
            </a:pathLst>
          </a:custGeom>
          <a:solidFill>
            <a:srgbClr val="4677BE"/>
          </a:solidFill>
        </p:spPr>
        <p:txBody>
          <a:bodyPr wrap="square" lIns="0" tIns="0" rIns="0" bIns="0" rtlCol="0"/>
          <a:lstStyle/>
          <a:p/>
        </p:txBody>
      </p:sp>
      <p:sp>
        <p:nvSpPr>
          <p:cNvPr id="54" name="object 54"/>
          <p:cNvSpPr txBox="1"/>
          <p:nvPr/>
        </p:nvSpPr>
        <p:spPr>
          <a:xfrm>
            <a:off x="3384635" y="3319620"/>
            <a:ext cx="873760" cy="344170"/>
          </a:xfrm>
          <a:prstGeom prst="rect">
            <a:avLst/>
          </a:prstGeom>
        </p:spPr>
        <p:txBody>
          <a:bodyPr wrap="square" lIns="0" tIns="12700" rIns="0" bIns="0" rtlCol="0" vert="horz">
            <a:spAutoFit/>
          </a:bodyPr>
          <a:lstStyle/>
          <a:p>
            <a:pPr marL="194310" marR="5080" indent="-182245">
              <a:lnSpc>
                <a:spcPct val="110000"/>
              </a:lnSpc>
              <a:spcBef>
                <a:spcPts val="100"/>
              </a:spcBef>
            </a:pPr>
            <a:r>
              <a:rPr dirty="0" sz="950">
                <a:latin typeface="宋体"/>
                <a:cs typeface="宋体"/>
              </a:rPr>
              <a:t>高层次解决方案 </a:t>
            </a:r>
            <a:r>
              <a:rPr dirty="0" sz="950">
                <a:latin typeface="宋体"/>
                <a:cs typeface="宋体"/>
              </a:rPr>
              <a:t>系统特性</a:t>
            </a:r>
            <a:endParaRPr sz="950">
              <a:latin typeface="宋体"/>
              <a:cs typeface="宋体"/>
            </a:endParaRPr>
          </a:p>
        </p:txBody>
      </p:sp>
      <p:sp>
        <p:nvSpPr>
          <p:cNvPr id="55" name="object 55"/>
          <p:cNvSpPr/>
          <p:nvPr/>
        </p:nvSpPr>
        <p:spPr>
          <a:xfrm>
            <a:off x="1172303" y="3507164"/>
            <a:ext cx="22225" cy="0"/>
          </a:xfrm>
          <a:custGeom>
            <a:avLst/>
            <a:gdLst/>
            <a:ahLst/>
            <a:cxnLst/>
            <a:rect l="l" t="t" r="r" b="b"/>
            <a:pathLst>
              <a:path w="22225" h="0">
                <a:moveTo>
                  <a:pt x="0" y="0"/>
                </a:moveTo>
                <a:lnTo>
                  <a:pt x="22211" y="0"/>
                </a:lnTo>
              </a:path>
            </a:pathLst>
          </a:custGeom>
          <a:ln w="3629">
            <a:solidFill>
              <a:srgbClr val="4677BE"/>
            </a:solidFill>
          </a:ln>
        </p:spPr>
        <p:txBody>
          <a:bodyPr wrap="square" lIns="0" tIns="0" rIns="0" bIns="0" rtlCol="0"/>
          <a:lstStyle/>
          <a:p/>
        </p:txBody>
      </p:sp>
      <p:sp>
        <p:nvSpPr>
          <p:cNvPr id="56" name="object 56"/>
          <p:cNvSpPr/>
          <p:nvPr/>
        </p:nvSpPr>
        <p:spPr>
          <a:xfrm>
            <a:off x="967205" y="3507164"/>
            <a:ext cx="84455" cy="0"/>
          </a:xfrm>
          <a:custGeom>
            <a:avLst/>
            <a:gdLst/>
            <a:ahLst/>
            <a:cxnLst/>
            <a:rect l="l" t="t" r="r" b="b"/>
            <a:pathLst>
              <a:path w="84455" h="0">
                <a:moveTo>
                  <a:pt x="0" y="0"/>
                </a:moveTo>
                <a:lnTo>
                  <a:pt x="83970" y="0"/>
                </a:lnTo>
              </a:path>
            </a:pathLst>
          </a:custGeom>
          <a:ln w="3629">
            <a:solidFill>
              <a:srgbClr val="4677BE"/>
            </a:solidFill>
          </a:ln>
        </p:spPr>
        <p:txBody>
          <a:bodyPr wrap="square" lIns="0" tIns="0" rIns="0" bIns="0" rtlCol="0"/>
          <a:lstStyle/>
          <a:p/>
        </p:txBody>
      </p:sp>
      <p:sp>
        <p:nvSpPr>
          <p:cNvPr id="57" name="object 57"/>
          <p:cNvSpPr/>
          <p:nvPr/>
        </p:nvSpPr>
        <p:spPr>
          <a:xfrm>
            <a:off x="1184067" y="3465420"/>
            <a:ext cx="83820" cy="83820"/>
          </a:xfrm>
          <a:custGeom>
            <a:avLst/>
            <a:gdLst/>
            <a:ahLst/>
            <a:cxnLst/>
            <a:rect l="l" t="t" r="r" b="b"/>
            <a:pathLst>
              <a:path w="83819" h="83820">
                <a:moveTo>
                  <a:pt x="0" y="0"/>
                </a:moveTo>
                <a:lnTo>
                  <a:pt x="0" y="83489"/>
                </a:lnTo>
                <a:lnTo>
                  <a:pt x="83577" y="41744"/>
                </a:lnTo>
                <a:lnTo>
                  <a:pt x="0" y="0"/>
                </a:lnTo>
                <a:close/>
              </a:path>
            </a:pathLst>
          </a:custGeom>
          <a:solidFill>
            <a:srgbClr val="4677BE"/>
          </a:solidFill>
        </p:spPr>
        <p:txBody>
          <a:bodyPr wrap="square" lIns="0" tIns="0" rIns="0" bIns="0" rtlCol="0"/>
          <a:lstStyle/>
          <a:p/>
        </p:txBody>
      </p:sp>
      <p:sp>
        <p:nvSpPr>
          <p:cNvPr id="58" name="object 58"/>
          <p:cNvSpPr txBox="1"/>
          <p:nvPr/>
        </p:nvSpPr>
        <p:spPr>
          <a:xfrm>
            <a:off x="1018754" y="2841824"/>
            <a:ext cx="958850" cy="1299845"/>
          </a:xfrm>
          <a:prstGeom prst="rect">
            <a:avLst/>
          </a:prstGeom>
        </p:spPr>
        <p:txBody>
          <a:bodyPr wrap="square" lIns="0" tIns="12700" rIns="0" bIns="0" rtlCol="0" vert="horz">
            <a:spAutoFit/>
          </a:bodyPr>
          <a:lstStyle/>
          <a:p>
            <a:pPr marL="38100" marR="791210">
              <a:lnSpc>
                <a:spcPct val="110000"/>
              </a:lnSpc>
              <a:spcBef>
                <a:spcPts val="100"/>
              </a:spcBef>
            </a:pPr>
            <a:r>
              <a:rPr dirty="0" sz="950">
                <a:latin typeface="宋体"/>
                <a:cs typeface="宋体"/>
              </a:rPr>
              <a:t>对 问</a:t>
            </a:r>
            <a:endParaRPr sz="950">
              <a:latin typeface="宋体"/>
              <a:cs typeface="宋体"/>
            </a:endParaRPr>
          </a:p>
          <a:p>
            <a:pPr marL="38100">
              <a:lnSpc>
                <a:spcPct val="100000"/>
              </a:lnSpc>
              <a:spcBef>
                <a:spcPts val="110"/>
              </a:spcBef>
              <a:tabLst>
                <a:tab pos="864869" algn="l"/>
              </a:tabLst>
            </a:pPr>
            <a:r>
              <a:rPr dirty="0" sz="950">
                <a:latin typeface="宋体"/>
                <a:cs typeface="宋体"/>
              </a:rPr>
              <a:t>题</a:t>
            </a:r>
            <a:r>
              <a:rPr dirty="0" sz="950" spc="229">
                <a:latin typeface="宋体"/>
                <a:cs typeface="宋体"/>
              </a:rPr>
              <a:t> </a:t>
            </a:r>
            <a:r>
              <a:rPr dirty="0" u="sng" sz="950">
                <a:uFill>
                  <a:solidFill>
                    <a:srgbClr val="000000"/>
                  </a:solidFill>
                </a:uFill>
                <a:latin typeface="Times New Roman"/>
                <a:cs typeface="Times New Roman"/>
              </a:rPr>
              <a:t> </a:t>
            </a:r>
            <a:r>
              <a:rPr dirty="0" u="sng" sz="950">
                <a:uFill>
                  <a:solidFill>
                    <a:srgbClr val="000000"/>
                  </a:solidFill>
                </a:uFill>
                <a:latin typeface="Times New Roman"/>
                <a:cs typeface="Times New Roman"/>
              </a:rPr>
              <a:t>	</a:t>
            </a:r>
            <a:endParaRPr sz="950">
              <a:latin typeface="Times New Roman"/>
              <a:cs typeface="Times New Roman"/>
            </a:endParaRPr>
          </a:p>
          <a:p>
            <a:pPr>
              <a:lnSpc>
                <a:spcPct val="100000"/>
              </a:lnSpc>
              <a:spcBef>
                <a:spcPts val="45"/>
              </a:spcBef>
            </a:pPr>
            <a:endParaRPr sz="1050">
              <a:latin typeface="Times New Roman"/>
              <a:cs typeface="Times New Roman"/>
            </a:endParaRPr>
          </a:p>
          <a:p>
            <a:pPr marL="38100" marR="30480">
              <a:lnSpc>
                <a:spcPct val="55100"/>
              </a:lnSpc>
              <a:tabLst>
                <a:tab pos="435609" algn="l"/>
              </a:tabLst>
            </a:pPr>
            <a:r>
              <a:rPr dirty="0" baseline="38011" sz="1425">
                <a:latin typeface="宋体"/>
                <a:cs typeface="宋体"/>
              </a:rPr>
              <a:t>解</a:t>
            </a:r>
            <a:r>
              <a:rPr dirty="0" baseline="38011" sz="1425">
                <a:latin typeface="宋体"/>
                <a:cs typeface="宋体"/>
              </a:rPr>
              <a:t>	</a:t>
            </a:r>
            <a:r>
              <a:rPr dirty="0" sz="950">
                <a:latin typeface="宋体"/>
                <a:cs typeface="宋体"/>
              </a:rPr>
              <a:t>业务需求 </a:t>
            </a:r>
            <a:r>
              <a:rPr dirty="0" sz="950">
                <a:latin typeface="宋体"/>
                <a:cs typeface="宋体"/>
              </a:rPr>
              <a:t>决</a:t>
            </a:r>
            <a:endParaRPr sz="950">
              <a:latin typeface="宋体"/>
              <a:cs typeface="宋体"/>
            </a:endParaRPr>
          </a:p>
          <a:p>
            <a:pPr algn="just" marL="38100" marR="791210">
              <a:lnSpc>
                <a:spcPct val="110000"/>
              </a:lnSpc>
            </a:pPr>
            <a:r>
              <a:rPr dirty="0" sz="950">
                <a:latin typeface="宋体"/>
                <a:cs typeface="宋体"/>
              </a:rPr>
              <a:t>的 期 望</a:t>
            </a:r>
            <a:endParaRPr sz="950">
              <a:latin typeface="宋体"/>
              <a:cs typeface="宋体"/>
            </a:endParaRPr>
          </a:p>
        </p:txBody>
      </p:sp>
      <p:sp>
        <p:nvSpPr>
          <p:cNvPr id="59" name="object 59"/>
          <p:cNvSpPr/>
          <p:nvPr/>
        </p:nvSpPr>
        <p:spPr>
          <a:xfrm>
            <a:off x="2777925" y="5607984"/>
            <a:ext cx="1506855" cy="0"/>
          </a:xfrm>
          <a:custGeom>
            <a:avLst/>
            <a:gdLst/>
            <a:ahLst/>
            <a:cxnLst/>
            <a:rect l="l" t="t" r="r" b="b"/>
            <a:pathLst>
              <a:path w="1506854" h="0">
                <a:moveTo>
                  <a:pt x="0" y="0"/>
                </a:moveTo>
                <a:lnTo>
                  <a:pt x="1506812" y="0"/>
                </a:lnTo>
              </a:path>
            </a:pathLst>
          </a:custGeom>
          <a:ln w="3630">
            <a:solidFill>
              <a:srgbClr val="4677BE"/>
            </a:solidFill>
          </a:ln>
        </p:spPr>
        <p:txBody>
          <a:bodyPr wrap="square" lIns="0" tIns="0" rIns="0" bIns="0" rtlCol="0"/>
          <a:lstStyle/>
          <a:p/>
        </p:txBody>
      </p:sp>
      <p:sp>
        <p:nvSpPr>
          <p:cNvPr id="60" name="object 60"/>
          <p:cNvSpPr/>
          <p:nvPr/>
        </p:nvSpPr>
        <p:spPr>
          <a:xfrm>
            <a:off x="967205" y="5607984"/>
            <a:ext cx="1569085" cy="0"/>
          </a:xfrm>
          <a:custGeom>
            <a:avLst/>
            <a:gdLst/>
            <a:ahLst/>
            <a:cxnLst/>
            <a:rect l="l" t="t" r="r" b="b"/>
            <a:pathLst>
              <a:path w="1569085" h="0">
                <a:moveTo>
                  <a:pt x="0" y="0"/>
                </a:moveTo>
                <a:lnTo>
                  <a:pt x="1568466" y="0"/>
                </a:lnTo>
              </a:path>
            </a:pathLst>
          </a:custGeom>
          <a:ln w="3630">
            <a:solidFill>
              <a:srgbClr val="4677BE"/>
            </a:solidFill>
          </a:ln>
        </p:spPr>
        <p:txBody>
          <a:bodyPr wrap="square" lIns="0" tIns="0" rIns="0" bIns="0" rtlCol="0"/>
          <a:lstStyle/>
          <a:p/>
        </p:txBody>
      </p:sp>
      <p:sp>
        <p:nvSpPr>
          <p:cNvPr id="61" name="object 61"/>
          <p:cNvSpPr/>
          <p:nvPr/>
        </p:nvSpPr>
        <p:spPr>
          <a:xfrm>
            <a:off x="4274290" y="5566239"/>
            <a:ext cx="83820" cy="83820"/>
          </a:xfrm>
          <a:custGeom>
            <a:avLst/>
            <a:gdLst/>
            <a:ahLst/>
            <a:cxnLst/>
            <a:rect l="l" t="t" r="r" b="b"/>
            <a:pathLst>
              <a:path w="83820" h="83820">
                <a:moveTo>
                  <a:pt x="0" y="0"/>
                </a:moveTo>
                <a:lnTo>
                  <a:pt x="0" y="83489"/>
                </a:lnTo>
                <a:lnTo>
                  <a:pt x="83577" y="41744"/>
                </a:lnTo>
                <a:lnTo>
                  <a:pt x="0" y="0"/>
                </a:lnTo>
                <a:close/>
              </a:path>
            </a:pathLst>
          </a:custGeom>
          <a:solidFill>
            <a:srgbClr val="4677BE"/>
          </a:solidFill>
        </p:spPr>
        <p:txBody>
          <a:bodyPr wrap="square" lIns="0" tIns="0" rIns="0" bIns="0" rtlCol="0"/>
          <a:lstStyle/>
          <a:p/>
        </p:txBody>
      </p:sp>
      <p:sp>
        <p:nvSpPr>
          <p:cNvPr id="62" name="object 62"/>
          <p:cNvSpPr txBox="1"/>
          <p:nvPr/>
        </p:nvSpPr>
        <p:spPr>
          <a:xfrm>
            <a:off x="2528725" y="5514109"/>
            <a:ext cx="267970"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特征</a:t>
            </a:r>
            <a:endParaRPr sz="950">
              <a:latin typeface="宋体"/>
              <a:cs typeface="宋体"/>
            </a:endParaRPr>
          </a:p>
        </p:txBody>
      </p:sp>
      <p:sp>
        <p:nvSpPr>
          <p:cNvPr id="63" name="object 63"/>
          <p:cNvSpPr/>
          <p:nvPr/>
        </p:nvSpPr>
        <p:spPr>
          <a:xfrm>
            <a:off x="4786958" y="3721484"/>
            <a:ext cx="0" cy="649605"/>
          </a:xfrm>
          <a:custGeom>
            <a:avLst/>
            <a:gdLst/>
            <a:ahLst/>
            <a:cxnLst/>
            <a:rect l="l" t="t" r="r" b="b"/>
            <a:pathLst>
              <a:path w="0" h="649604">
                <a:moveTo>
                  <a:pt x="0" y="0"/>
                </a:moveTo>
                <a:lnTo>
                  <a:pt x="0" y="649327"/>
                </a:lnTo>
              </a:path>
            </a:pathLst>
          </a:custGeom>
          <a:ln w="3633">
            <a:solidFill>
              <a:srgbClr val="4677BE"/>
            </a:solidFill>
          </a:ln>
        </p:spPr>
        <p:txBody>
          <a:bodyPr wrap="square" lIns="0" tIns="0" rIns="0" bIns="0" rtlCol="0"/>
          <a:lstStyle/>
          <a:p/>
        </p:txBody>
      </p:sp>
      <p:sp>
        <p:nvSpPr>
          <p:cNvPr id="64" name="object 64"/>
          <p:cNvSpPr/>
          <p:nvPr/>
        </p:nvSpPr>
        <p:spPr>
          <a:xfrm>
            <a:off x="4786958" y="4530062"/>
            <a:ext cx="0" cy="576580"/>
          </a:xfrm>
          <a:custGeom>
            <a:avLst/>
            <a:gdLst/>
            <a:ahLst/>
            <a:cxnLst/>
            <a:rect l="l" t="t" r="r" b="b"/>
            <a:pathLst>
              <a:path w="0" h="576579">
                <a:moveTo>
                  <a:pt x="0" y="0"/>
                </a:moveTo>
                <a:lnTo>
                  <a:pt x="0" y="576138"/>
                </a:lnTo>
              </a:path>
            </a:pathLst>
          </a:custGeom>
          <a:ln w="3633">
            <a:solidFill>
              <a:srgbClr val="4677BE"/>
            </a:solidFill>
          </a:ln>
        </p:spPr>
        <p:txBody>
          <a:bodyPr wrap="square" lIns="0" tIns="0" rIns="0" bIns="0" rtlCol="0"/>
          <a:lstStyle/>
          <a:p/>
        </p:txBody>
      </p:sp>
      <p:sp>
        <p:nvSpPr>
          <p:cNvPr id="65" name="object 65"/>
          <p:cNvSpPr/>
          <p:nvPr/>
        </p:nvSpPr>
        <p:spPr>
          <a:xfrm>
            <a:off x="4745169" y="5095764"/>
            <a:ext cx="83820" cy="83820"/>
          </a:xfrm>
          <a:custGeom>
            <a:avLst/>
            <a:gdLst/>
            <a:ahLst/>
            <a:cxnLst/>
            <a:rect l="l" t="t" r="r" b="b"/>
            <a:pathLst>
              <a:path w="83820" h="83820">
                <a:moveTo>
                  <a:pt x="83577" y="0"/>
                </a:moveTo>
                <a:lnTo>
                  <a:pt x="0" y="0"/>
                </a:lnTo>
                <a:lnTo>
                  <a:pt x="41788" y="83489"/>
                </a:lnTo>
                <a:lnTo>
                  <a:pt x="83577" y="0"/>
                </a:lnTo>
                <a:close/>
              </a:path>
            </a:pathLst>
          </a:custGeom>
          <a:solidFill>
            <a:srgbClr val="4677BE"/>
          </a:solidFill>
        </p:spPr>
        <p:txBody>
          <a:bodyPr wrap="square" lIns="0" tIns="0" rIns="0" bIns="0" rtlCol="0"/>
          <a:lstStyle/>
          <a:p/>
        </p:txBody>
      </p:sp>
      <p:sp>
        <p:nvSpPr>
          <p:cNvPr id="66" name="object 66"/>
          <p:cNvSpPr txBox="1"/>
          <p:nvPr/>
        </p:nvSpPr>
        <p:spPr>
          <a:xfrm>
            <a:off x="4532005" y="4356585"/>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业务范围</a:t>
            </a:r>
            <a:endParaRPr sz="950">
              <a:latin typeface="宋体"/>
              <a:cs typeface="宋体"/>
            </a:endParaRPr>
          </a:p>
        </p:txBody>
      </p:sp>
      <p:sp>
        <p:nvSpPr>
          <p:cNvPr id="67" name="object 67"/>
          <p:cNvSpPr/>
          <p:nvPr/>
        </p:nvSpPr>
        <p:spPr>
          <a:xfrm>
            <a:off x="5838941" y="5607984"/>
            <a:ext cx="76835" cy="0"/>
          </a:xfrm>
          <a:custGeom>
            <a:avLst/>
            <a:gdLst/>
            <a:ahLst/>
            <a:cxnLst/>
            <a:rect l="l" t="t" r="r" b="b"/>
            <a:pathLst>
              <a:path w="76835" h="0">
                <a:moveTo>
                  <a:pt x="0" y="0"/>
                </a:moveTo>
                <a:lnTo>
                  <a:pt x="76612" y="0"/>
                </a:lnTo>
              </a:path>
            </a:pathLst>
          </a:custGeom>
          <a:ln w="3629">
            <a:solidFill>
              <a:srgbClr val="4677BE"/>
            </a:solidFill>
          </a:ln>
        </p:spPr>
        <p:txBody>
          <a:bodyPr wrap="square" lIns="0" tIns="0" rIns="0" bIns="0" rtlCol="0"/>
          <a:lstStyle/>
          <a:p/>
        </p:txBody>
      </p:sp>
      <p:sp>
        <p:nvSpPr>
          <p:cNvPr id="68" name="object 68"/>
          <p:cNvSpPr/>
          <p:nvPr/>
        </p:nvSpPr>
        <p:spPr>
          <a:xfrm>
            <a:off x="5216199" y="5607984"/>
            <a:ext cx="138430" cy="0"/>
          </a:xfrm>
          <a:custGeom>
            <a:avLst/>
            <a:gdLst/>
            <a:ahLst/>
            <a:cxnLst/>
            <a:rect l="l" t="t" r="r" b="b"/>
            <a:pathLst>
              <a:path w="138429" h="0">
                <a:moveTo>
                  <a:pt x="0" y="0"/>
                </a:moveTo>
                <a:lnTo>
                  <a:pt x="138235" y="0"/>
                </a:lnTo>
              </a:path>
            </a:pathLst>
          </a:custGeom>
          <a:ln w="3629">
            <a:solidFill>
              <a:srgbClr val="4677BE"/>
            </a:solidFill>
          </a:ln>
        </p:spPr>
        <p:txBody>
          <a:bodyPr wrap="square" lIns="0" tIns="0" rIns="0" bIns="0" rtlCol="0"/>
          <a:lstStyle/>
          <a:p/>
        </p:txBody>
      </p:sp>
      <p:sp>
        <p:nvSpPr>
          <p:cNvPr id="69" name="object 69"/>
          <p:cNvSpPr/>
          <p:nvPr/>
        </p:nvSpPr>
        <p:spPr>
          <a:xfrm>
            <a:off x="5905106" y="5566239"/>
            <a:ext cx="83820" cy="83820"/>
          </a:xfrm>
          <a:custGeom>
            <a:avLst/>
            <a:gdLst/>
            <a:ahLst/>
            <a:cxnLst/>
            <a:rect l="l" t="t" r="r" b="b"/>
            <a:pathLst>
              <a:path w="83820" h="83820">
                <a:moveTo>
                  <a:pt x="0" y="0"/>
                </a:moveTo>
                <a:lnTo>
                  <a:pt x="0" y="83489"/>
                </a:lnTo>
                <a:lnTo>
                  <a:pt x="83577" y="41744"/>
                </a:lnTo>
                <a:lnTo>
                  <a:pt x="0" y="0"/>
                </a:lnTo>
                <a:close/>
              </a:path>
            </a:pathLst>
          </a:custGeom>
          <a:solidFill>
            <a:srgbClr val="4677BE"/>
          </a:solidFill>
        </p:spPr>
        <p:txBody>
          <a:bodyPr wrap="square" lIns="0" tIns="0" rIns="0" bIns="0" rtlCol="0"/>
          <a:lstStyle/>
          <a:p/>
        </p:txBody>
      </p:sp>
      <p:sp>
        <p:nvSpPr>
          <p:cNvPr id="70" name="object 70"/>
          <p:cNvSpPr txBox="1"/>
          <p:nvPr/>
        </p:nvSpPr>
        <p:spPr>
          <a:xfrm>
            <a:off x="5347489" y="5514110"/>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采样涉众</a:t>
            </a:r>
            <a:endParaRPr sz="950">
              <a:latin typeface="宋体"/>
              <a:cs typeface="宋体"/>
            </a:endParaRPr>
          </a:p>
        </p:txBody>
      </p:sp>
      <p:sp>
        <p:nvSpPr>
          <p:cNvPr id="71" name="object 71"/>
          <p:cNvSpPr/>
          <p:nvPr/>
        </p:nvSpPr>
        <p:spPr>
          <a:xfrm>
            <a:off x="8177589" y="4107472"/>
            <a:ext cx="858519" cy="857885"/>
          </a:xfrm>
          <a:custGeom>
            <a:avLst/>
            <a:gdLst/>
            <a:ahLst/>
            <a:cxnLst/>
            <a:rect l="l" t="t" r="r" b="b"/>
            <a:pathLst>
              <a:path w="858520" h="857885">
                <a:moveTo>
                  <a:pt x="429241" y="0"/>
                </a:moveTo>
                <a:lnTo>
                  <a:pt x="382463" y="2515"/>
                </a:lnTo>
                <a:lnTo>
                  <a:pt x="337146" y="9887"/>
                </a:lnTo>
                <a:lnTo>
                  <a:pt x="293552" y="21854"/>
                </a:lnTo>
                <a:lnTo>
                  <a:pt x="251941" y="38155"/>
                </a:lnTo>
                <a:lnTo>
                  <a:pt x="212576" y="58527"/>
                </a:lnTo>
                <a:lnTo>
                  <a:pt x="175719" y="82710"/>
                </a:lnTo>
                <a:lnTo>
                  <a:pt x="141630" y="110441"/>
                </a:lnTo>
                <a:lnTo>
                  <a:pt x="110572" y="141459"/>
                </a:lnTo>
                <a:lnTo>
                  <a:pt x="82806" y="175502"/>
                </a:lnTo>
                <a:lnTo>
                  <a:pt x="58594" y="212308"/>
                </a:lnTo>
                <a:lnTo>
                  <a:pt x="38198" y="251617"/>
                </a:lnTo>
                <a:lnTo>
                  <a:pt x="21879" y="293166"/>
                </a:lnTo>
                <a:lnTo>
                  <a:pt x="9898" y="336694"/>
                </a:lnTo>
                <a:lnTo>
                  <a:pt x="2518" y="381939"/>
                </a:lnTo>
                <a:lnTo>
                  <a:pt x="0" y="428639"/>
                </a:lnTo>
                <a:lnTo>
                  <a:pt x="2518" y="475360"/>
                </a:lnTo>
                <a:lnTo>
                  <a:pt x="9898" y="520622"/>
                </a:lnTo>
                <a:lnTo>
                  <a:pt x="21879" y="564166"/>
                </a:lnTo>
                <a:lnTo>
                  <a:pt x="38198" y="605728"/>
                </a:lnTo>
                <a:lnTo>
                  <a:pt x="58594" y="645049"/>
                </a:lnTo>
                <a:lnTo>
                  <a:pt x="82806" y="681865"/>
                </a:lnTo>
                <a:lnTo>
                  <a:pt x="110572" y="715917"/>
                </a:lnTo>
                <a:lnTo>
                  <a:pt x="141630" y="746941"/>
                </a:lnTo>
                <a:lnTo>
                  <a:pt x="175719" y="774678"/>
                </a:lnTo>
                <a:lnTo>
                  <a:pt x="212576" y="798865"/>
                </a:lnTo>
                <a:lnTo>
                  <a:pt x="251941" y="819240"/>
                </a:lnTo>
                <a:lnTo>
                  <a:pt x="293552" y="835543"/>
                </a:lnTo>
                <a:lnTo>
                  <a:pt x="337146" y="847512"/>
                </a:lnTo>
                <a:lnTo>
                  <a:pt x="382463" y="854885"/>
                </a:lnTo>
                <a:lnTo>
                  <a:pt x="429241" y="857400"/>
                </a:lnTo>
                <a:lnTo>
                  <a:pt x="475991" y="854885"/>
                </a:lnTo>
                <a:lnTo>
                  <a:pt x="521283" y="847512"/>
                </a:lnTo>
                <a:lnTo>
                  <a:pt x="564857" y="835543"/>
                </a:lnTo>
                <a:lnTo>
                  <a:pt x="606450" y="819240"/>
                </a:lnTo>
                <a:lnTo>
                  <a:pt x="645800" y="798865"/>
                </a:lnTo>
                <a:lnTo>
                  <a:pt x="682645" y="774678"/>
                </a:lnTo>
                <a:lnTo>
                  <a:pt x="716724" y="746941"/>
                </a:lnTo>
                <a:lnTo>
                  <a:pt x="747774" y="715917"/>
                </a:lnTo>
                <a:lnTo>
                  <a:pt x="775534" y="681865"/>
                </a:lnTo>
                <a:lnTo>
                  <a:pt x="799742" y="645049"/>
                </a:lnTo>
                <a:lnTo>
                  <a:pt x="820136" y="605728"/>
                </a:lnTo>
                <a:lnTo>
                  <a:pt x="836454" y="564166"/>
                </a:lnTo>
                <a:lnTo>
                  <a:pt x="848434" y="520622"/>
                </a:lnTo>
                <a:lnTo>
                  <a:pt x="855813" y="475360"/>
                </a:lnTo>
                <a:lnTo>
                  <a:pt x="858332" y="428639"/>
                </a:lnTo>
                <a:lnTo>
                  <a:pt x="855813" y="381939"/>
                </a:lnTo>
                <a:lnTo>
                  <a:pt x="848434" y="336694"/>
                </a:lnTo>
                <a:lnTo>
                  <a:pt x="836454" y="293166"/>
                </a:lnTo>
                <a:lnTo>
                  <a:pt x="820136" y="251617"/>
                </a:lnTo>
                <a:lnTo>
                  <a:pt x="799742" y="212308"/>
                </a:lnTo>
                <a:lnTo>
                  <a:pt x="775534" y="175502"/>
                </a:lnTo>
                <a:lnTo>
                  <a:pt x="747774" y="141459"/>
                </a:lnTo>
                <a:lnTo>
                  <a:pt x="716724" y="110441"/>
                </a:lnTo>
                <a:lnTo>
                  <a:pt x="682645" y="82710"/>
                </a:lnTo>
                <a:lnTo>
                  <a:pt x="645800" y="58527"/>
                </a:lnTo>
                <a:lnTo>
                  <a:pt x="606450" y="38155"/>
                </a:lnTo>
                <a:lnTo>
                  <a:pt x="564857" y="21854"/>
                </a:lnTo>
                <a:lnTo>
                  <a:pt x="521283" y="9887"/>
                </a:lnTo>
                <a:lnTo>
                  <a:pt x="475991" y="2515"/>
                </a:lnTo>
                <a:lnTo>
                  <a:pt x="429241" y="0"/>
                </a:lnTo>
                <a:close/>
              </a:path>
            </a:pathLst>
          </a:custGeom>
          <a:solidFill>
            <a:srgbClr val="E8EDF7"/>
          </a:solidFill>
        </p:spPr>
        <p:txBody>
          <a:bodyPr wrap="square" lIns="0" tIns="0" rIns="0" bIns="0" rtlCol="0"/>
          <a:lstStyle/>
          <a:p/>
        </p:txBody>
      </p:sp>
      <p:sp>
        <p:nvSpPr>
          <p:cNvPr id="72" name="object 72"/>
          <p:cNvSpPr/>
          <p:nvPr/>
        </p:nvSpPr>
        <p:spPr>
          <a:xfrm>
            <a:off x="8177589" y="4107472"/>
            <a:ext cx="858519" cy="857885"/>
          </a:xfrm>
          <a:custGeom>
            <a:avLst/>
            <a:gdLst/>
            <a:ahLst/>
            <a:cxnLst/>
            <a:rect l="l" t="t" r="r" b="b"/>
            <a:pathLst>
              <a:path w="858520" h="857885">
                <a:moveTo>
                  <a:pt x="0" y="428639"/>
                </a:moveTo>
                <a:lnTo>
                  <a:pt x="2518" y="381939"/>
                </a:lnTo>
                <a:lnTo>
                  <a:pt x="9898" y="336694"/>
                </a:lnTo>
                <a:lnTo>
                  <a:pt x="21879" y="293166"/>
                </a:lnTo>
                <a:lnTo>
                  <a:pt x="38198" y="251617"/>
                </a:lnTo>
                <a:lnTo>
                  <a:pt x="58594" y="212308"/>
                </a:lnTo>
                <a:lnTo>
                  <a:pt x="82806" y="175502"/>
                </a:lnTo>
                <a:lnTo>
                  <a:pt x="110572" y="141459"/>
                </a:lnTo>
                <a:lnTo>
                  <a:pt x="141630" y="110441"/>
                </a:lnTo>
                <a:lnTo>
                  <a:pt x="175719" y="82710"/>
                </a:lnTo>
                <a:lnTo>
                  <a:pt x="212576" y="58527"/>
                </a:lnTo>
                <a:lnTo>
                  <a:pt x="251941" y="38155"/>
                </a:lnTo>
                <a:lnTo>
                  <a:pt x="293552" y="21854"/>
                </a:lnTo>
                <a:lnTo>
                  <a:pt x="337146" y="9887"/>
                </a:lnTo>
                <a:lnTo>
                  <a:pt x="382463" y="2515"/>
                </a:lnTo>
                <a:lnTo>
                  <a:pt x="429241" y="0"/>
                </a:lnTo>
                <a:lnTo>
                  <a:pt x="475991" y="2515"/>
                </a:lnTo>
                <a:lnTo>
                  <a:pt x="521283" y="9887"/>
                </a:lnTo>
                <a:lnTo>
                  <a:pt x="564857" y="21854"/>
                </a:lnTo>
                <a:lnTo>
                  <a:pt x="606450" y="38155"/>
                </a:lnTo>
                <a:lnTo>
                  <a:pt x="645800" y="58527"/>
                </a:lnTo>
                <a:lnTo>
                  <a:pt x="682645" y="82710"/>
                </a:lnTo>
                <a:lnTo>
                  <a:pt x="716724" y="110441"/>
                </a:lnTo>
                <a:lnTo>
                  <a:pt x="747774" y="141459"/>
                </a:lnTo>
                <a:lnTo>
                  <a:pt x="775534" y="175502"/>
                </a:lnTo>
                <a:lnTo>
                  <a:pt x="799742" y="212308"/>
                </a:lnTo>
                <a:lnTo>
                  <a:pt x="820136" y="251617"/>
                </a:lnTo>
                <a:lnTo>
                  <a:pt x="836454" y="293166"/>
                </a:lnTo>
                <a:lnTo>
                  <a:pt x="848434" y="336694"/>
                </a:lnTo>
                <a:lnTo>
                  <a:pt x="855813" y="381939"/>
                </a:lnTo>
                <a:lnTo>
                  <a:pt x="858332" y="428639"/>
                </a:lnTo>
                <a:lnTo>
                  <a:pt x="855813" y="475360"/>
                </a:lnTo>
                <a:lnTo>
                  <a:pt x="848434" y="520622"/>
                </a:lnTo>
                <a:lnTo>
                  <a:pt x="836454" y="564166"/>
                </a:lnTo>
                <a:lnTo>
                  <a:pt x="820136" y="605728"/>
                </a:lnTo>
                <a:lnTo>
                  <a:pt x="799742" y="645049"/>
                </a:lnTo>
                <a:lnTo>
                  <a:pt x="775534" y="681865"/>
                </a:lnTo>
                <a:lnTo>
                  <a:pt x="747774" y="715917"/>
                </a:lnTo>
                <a:lnTo>
                  <a:pt x="716724" y="746941"/>
                </a:lnTo>
                <a:lnTo>
                  <a:pt x="682645" y="774678"/>
                </a:lnTo>
                <a:lnTo>
                  <a:pt x="645800" y="798865"/>
                </a:lnTo>
                <a:lnTo>
                  <a:pt x="606450" y="819240"/>
                </a:lnTo>
                <a:lnTo>
                  <a:pt x="564857" y="835543"/>
                </a:lnTo>
                <a:lnTo>
                  <a:pt x="521283" y="847512"/>
                </a:lnTo>
                <a:lnTo>
                  <a:pt x="475991" y="854885"/>
                </a:lnTo>
                <a:lnTo>
                  <a:pt x="429241" y="857400"/>
                </a:lnTo>
                <a:lnTo>
                  <a:pt x="382463" y="854885"/>
                </a:lnTo>
                <a:lnTo>
                  <a:pt x="337146" y="847512"/>
                </a:lnTo>
                <a:lnTo>
                  <a:pt x="293552" y="835543"/>
                </a:lnTo>
                <a:lnTo>
                  <a:pt x="251941" y="819240"/>
                </a:lnTo>
                <a:lnTo>
                  <a:pt x="212576" y="798865"/>
                </a:lnTo>
                <a:lnTo>
                  <a:pt x="175719" y="774678"/>
                </a:lnTo>
                <a:lnTo>
                  <a:pt x="141630" y="746941"/>
                </a:lnTo>
                <a:lnTo>
                  <a:pt x="110572" y="715917"/>
                </a:lnTo>
                <a:lnTo>
                  <a:pt x="82806" y="681865"/>
                </a:lnTo>
                <a:lnTo>
                  <a:pt x="58594" y="645049"/>
                </a:lnTo>
                <a:lnTo>
                  <a:pt x="38198" y="605728"/>
                </a:lnTo>
                <a:lnTo>
                  <a:pt x="21879" y="564166"/>
                </a:lnTo>
                <a:lnTo>
                  <a:pt x="9898" y="520622"/>
                </a:lnTo>
                <a:lnTo>
                  <a:pt x="2518" y="475360"/>
                </a:lnTo>
                <a:lnTo>
                  <a:pt x="0" y="428639"/>
                </a:lnTo>
                <a:close/>
              </a:path>
            </a:pathLst>
          </a:custGeom>
          <a:ln w="3631">
            <a:solidFill>
              <a:srgbClr val="000000"/>
            </a:solidFill>
          </a:ln>
        </p:spPr>
        <p:txBody>
          <a:bodyPr wrap="square" lIns="0" tIns="0" rIns="0" bIns="0" rtlCol="0"/>
          <a:lstStyle/>
          <a:p/>
        </p:txBody>
      </p:sp>
      <p:sp>
        <p:nvSpPr>
          <p:cNvPr id="73" name="object 73"/>
          <p:cNvSpPr txBox="1"/>
          <p:nvPr/>
        </p:nvSpPr>
        <p:spPr>
          <a:xfrm>
            <a:off x="8351878" y="4442253"/>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记录结果</a:t>
            </a:r>
            <a:endParaRPr sz="950">
              <a:latin typeface="宋体"/>
              <a:cs typeface="宋体"/>
            </a:endParaRPr>
          </a:p>
        </p:txBody>
      </p:sp>
      <p:sp>
        <p:nvSpPr>
          <p:cNvPr id="74" name="object 74"/>
          <p:cNvSpPr/>
          <p:nvPr/>
        </p:nvSpPr>
        <p:spPr>
          <a:xfrm>
            <a:off x="5838941" y="3507164"/>
            <a:ext cx="76835" cy="0"/>
          </a:xfrm>
          <a:custGeom>
            <a:avLst/>
            <a:gdLst/>
            <a:ahLst/>
            <a:cxnLst/>
            <a:rect l="l" t="t" r="r" b="b"/>
            <a:pathLst>
              <a:path w="76835" h="0">
                <a:moveTo>
                  <a:pt x="0" y="0"/>
                </a:moveTo>
                <a:lnTo>
                  <a:pt x="76612" y="0"/>
                </a:lnTo>
              </a:path>
            </a:pathLst>
          </a:custGeom>
          <a:ln w="3629">
            <a:solidFill>
              <a:srgbClr val="4677BE"/>
            </a:solidFill>
          </a:ln>
        </p:spPr>
        <p:txBody>
          <a:bodyPr wrap="square" lIns="0" tIns="0" rIns="0" bIns="0" rtlCol="0"/>
          <a:lstStyle/>
          <a:p/>
        </p:txBody>
      </p:sp>
      <p:sp>
        <p:nvSpPr>
          <p:cNvPr id="75" name="object 75"/>
          <p:cNvSpPr/>
          <p:nvPr/>
        </p:nvSpPr>
        <p:spPr>
          <a:xfrm>
            <a:off x="5216199" y="3507164"/>
            <a:ext cx="138430" cy="0"/>
          </a:xfrm>
          <a:custGeom>
            <a:avLst/>
            <a:gdLst/>
            <a:ahLst/>
            <a:cxnLst/>
            <a:rect l="l" t="t" r="r" b="b"/>
            <a:pathLst>
              <a:path w="138429" h="0">
                <a:moveTo>
                  <a:pt x="0" y="0"/>
                </a:moveTo>
                <a:lnTo>
                  <a:pt x="138235" y="0"/>
                </a:lnTo>
              </a:path>
            </a:pathLst>
          </a:custGeom>
          <a:ln w="3629">
            <a:solidFill>
              <a:srgbClr val="4677BE"/>
            </a:solidFill>
          </a:ln>
        </p:spPr>
        <p:txBody>
          <a:bodyPr wrap="square" lIns="0" tIns="0" rIns="0" bIns="0" rtlCol="0"/>
          <a:lstStyle/>
          <a:p/>
        </p:txBody>
      </p:sp>
      <p:sp>
        <p:nvSpPr>
          <p:cNvPr id="76" name="object 76"/>
          <p:cNvSpPr/>
          <p:nvPr/>
        </p:nvSpPr>
        <p:spPr>
          <a:xfrm>
            <a:off x="5905106" y="3465420"/>
            <a:ext cx="83820" cy="83820"/>
          </a:xfrm>
          <a:custGeom>
            <a:avLst/>
            <a:gdLst/>
            <a:ahLst/>
            <a:cxnLst/>
            <a:rect l="l" t="t" r="r" b="b"/>
            <a:pathLst>
              <a:path w="83820" h="83820">
                <a:moveTo>
                  <a:pt x="0" y="0"/>
                </a:moveTo>
                <a:lnTo>
                  <a:pt x="0" y="83489"/>
                </a:lnTo>
                <a:lnTo>
                  <a:pt x="83577" y="41744"/>
                </a:lnTo>
                <a:lnTo>
                  <a:pt x="0" y="0"/>
                </a:lnTo>
                <a:close/>
              </a:path>
            </a:pathLst>
          </a:custGeom>
          <a:solidFill>
            <a:srgbClr val="4677BE"/>
          </a:solidFill>
        </p:spPr>
        <p:txBody>
          <a:bodyPr wrap="square" lIns="0" tIns="0" rIns="0" bIns="0" rtlCol="0"/>
          <a:lstStyle/>
          <a:p/>
        </p:txBody>
      </p:sp>
      <p:sp>
        <p:nvSpPr>
          <p:cNvPr id="77" name="object 77"/>
          <p:cNvSpPr txBox="1"/>
          <p:nvPr/>
        </p:nvSpPr>
        <p:spPr>
          <a:xfrm>
            <a:off x="5347489" y="3413245"/>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获取内容</a:t>
            </a:r>
            <a:endParaRPr sz="950">
              <a:latin typeface="宋体"/>
              <a:cs typeface="宋体"/>
            </a:endParaRPr>
          </a:p>
        </p:txBody>
      </p:sp>
      <p:sp>
        <p:nvSpPr>
          <p:cNvPr id="78" name="object 78"/>
          <p:cNvSpPr/>
          <p:nvPr/>
        </p:nvSpPr>
        <p:spPr>
          <a:xfrm>
            <a:off x="6417925" y="4009009"/>
            <a:ext cx="0" cy="576580"/>
          </a:xfrm>
          <a:custGeom>
            <a:avLst/>
            <a:gdLst/>
            <a:ahLst/>
            <a:cxnLst/>
            <a:rect l="l" t="t" r="r" b="b"/>
            <a:pathLst>
              <a:path w="0" h="576579">
                <a:moveTo>
                  <a:pt x="0" y="0"/>
                </a:moveTo>
                <a:lnTo>
                  <a:pt x="0" y="576137"/>
                </a:lnTo>
              </a:path>
            </a:pathLst>
          </a:custGeom>
          <a:ln w="3633">
            <a:solidFill>
              <a:srgbClr val="4677BE"/>
            </a:solidFill>
          </a:ln>
        </p:spPr>
        <p:txBody>
          <a:bodyPr wrap="square" lIns="0" tIns="0" rIns="0" bIns="0" rtlCol="0"/>
          <a:lstStyle/>
          <a:p/>
        </p:txBody>
      </p:sp>
      <p:sp>
        <p:nvSpPr>
          <p:cNvPr id="79" name="object 79"/>
          <p:cNvSpPr/>
          <p:nvPr/>
        </p:nvSpPr>
        <p:spPr>
          <a:xfrm>
            <a:off x="6417925" y="4744397"/>
            <a:ext cx="0" cy="649605"/>
          </a:xfrm>
          <a:custGeom>
            <a:avLst/>
            <a:gdLst/>
            <a:ahLst/>
            <a:cxnLst/>
            <a:rect l="l" t="t" r="r" b="b"/>
            <a:pathLst>
              <a:path w="0" h="649604">
                <a:moveTo>
                  <a:pt x="0" y="0"/>
                </a:moveTo>
                <a:lnTo>
                  <a:pt x="0" y="649221"/>
                </a:lnTo>
              </a:path>
            </a:pathLst>
          </a:custGeom>
          <a:ln w="3633">
            <a:solidFill>
              <a:srgbClr val="4677BE"/>
            </a:solidFill>
          </a:ln>
        </p:spPr>
        <p:txBody>
          <a:bodyPr wrap="square" lIns="0" tIns="0" rIns="0" bIns="0" rtlCol="0"/>
          <a:lstStyle/>
          <a:p/>
        </p:txBody>
      </p:sp>
      <p:sp>
        <p:nvSpPr>
          <p:cNvPr id="80" name="object 80"/>
          <p:cNvSpPr/>
          <p:nvPr/>
        </p:nvSpPr>
        <p:spPr>
          <a:xfrm>
            <a:off x="6376136" y="3935955"/>
            <a:ext cx="83820" cy="83820"/>
          </a:xfrm>
          <a:custGeom>
            <a:avLst/>
            <a:gdLst/>
            <a:ahLst/>
            <a:cxnLst/>
            <a:rect l="l" t="t" r="r" b="b"/>
            <a:pathLst>
              <a:path w="83820" h="83820">
                <a:moveTo>
                  <a:pt x="41788" y="0"/>
                </a:moveTo>
                <a:lnTo>
                  <a:pt x="0" y="83489"/>
                </a:lnTo>
                <a:lnTo>
                  <a:pt x="83577" y="83489"/>
                </a:lnTo>
                <a:lnTo>
                  <a:pt x="41788" y="0"/>
                </a:lnTo>
                <a:close/>
              </a:path>
            </a:pathLst>
          </a:custGeom>
          <a:solidFill>
            <a:srgbClr val="4677BE"/>
          </a:solidFill>
        </p:spPr>
        <p:txBody>
          <a:bodyPr wrap="square" lIns="0" tIns="0" rIns="0" bIns="0" rtlCol="0"/>
          <a:lstStyle/>
          <a:p/>
        </p:txBody>
      </p:sp>
      <p:sp>
        <p:nvSpPr>
          <p:cNvPr id="81" name="object 81"/>
          <p:cNvSpPr txBox="1"/>
          <p:nvPr/>
        </p:nvSpPr>
        <p:spPr>
          <a:xfrm>
            <a:off x="6223536" y="4570875"/>
            <a:ext cx="38925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获取源</a:t>
            </a:r>
            <a:endParaRPr sz="950">
              <a:latin typeface="宋体"/>
              <a:cs typeface="宋体"/>
            </a:endParaRPr>
          </a:p>
        </p:txBody>
      </p:sp>
      <p:sp>
        <p:nvSpPr>
          <p:cNvPr id="82" name="object 82"/>
          <p:cNvSpPr/>
          <p:nvPr/>
        </p:nvSpPr>
        <p:spPr>
          <a:xfrm>
            <a:off x="6417925" y="2263897"/>
            <a:ext cx="0" cy="327660"/>
          </a:xfrm>
          <a:custGeom>
            <a:avLst/>
            <a:gdLst/>
            <a:ahLst/>
            <a:cxnLst/>
            <a:rect l="l" t="t" r="r" b="b"/>
            <a:pathLst>
              <a:path w="0" h="327660">
                <a:moveTo>
                  <a:pt x="0" y="0"/>
                </a:moveTo>
                <a:lnTo>
                  <a:pt x="0" y="327620"/>
                </a:lnTo>
              </a:path>
            </a:pathLst>
          </a:custGeom>
          <a:ln w="3633">
            <a:solidFill>
              <a:srgbClr val="4677BE"/>
            </a:solidFill>
          </a:ln>
        </p:spPr>
        <p:txBody>
          <a:bodyPr wrap="square" lIns="0" tIns="0" rIns="0" bIns="0" rtlCol="0"/>
          <a:lstStyle/>
          <a:p/>
        </p:txBody>
      </p:sp>
      <p:sp>
        <p:nvSpPr>
          <p:cNvPr id="83" name="object 83"/>
          <p:cNvSpPr/>
          <p:nvPr/>
        </p:nvSpPr>
        <p:spPr>
          <a:xfrm>
            <a:off x="6417925" y="2750768"/>
            <a:ext cx="0" cy="254635"/>
          </a:xfrm>
          <a:custGeom>
            <a:avLst/>
            <a:gdLst/>
            <a:ahLst/>
            <a:cxnLst/>
            <a:rect l="l" t="t" r="r" b="b"/>
            <a:pathLst>
              <a:path w="0" h="254635">
                <a:moveTo>
                  <a:pt x="0" y="0"/>
                </a:moveTo>
                <a:lnTo>
                  <a:pt x="0" y="254552"/>
                </a:lnTo>
              </a:path>
            </a:pathLst>
          </a:custGeom>
          <a:ln w="3633">
            <a:solidFill>
              <a:srgbClr val="4677BE"/>
            </a:solidFill>
          </a:ln>
        </p:spPr>
        <p:txBody>
          <a:bodyPr wrap="square" lIns="0" tIns="0" rIns="0" bIns="0" rtlCol="0"/>
          <a:lstStyle/>
          <a:p/>
        </p:txBody>
      </p:sp>
      <p:sp>
        <p:nvSpPr>
          <p:cNvPr id="84" name="object 84"/>
          <p:cNvSpPr/>
          <p:nvPr/>
        </p:nvSpPr>
        <p:spPr>
          <a:xfrm>
            <a:off x="6376136" y="2994884"/>
            <a:ext cx="83820" cy="83820"/>
          </a:xfrm>
          <a:custGeom>
            <a:avLst/>
            <a:gdLst/>
            <a:ahLst/>
            <a:cxnLst/>
            <a:rect l="l" t="t" r="r" b="b"/>
            <a:pathLst>
              <a:path w="83820" h="83819">
                <a:moveTo>
                  <a:pt x="83577" y="0"/>
                </a:moveTo>
                <a:lnTo>
                  <a:pt x="0" y="0"/>
                </a:lnTo>
                <a:lnTo>
                  <a:pt x="41788" y="83489"/>
                </a:lnTo>
                <a:lnTo>
                  <a:pt x="83577" y="0"/>
                </a:lnTo>
                <a:close/>
              </a:path>
            </a:pathLst>
          </a:custGeom>
          <a:solidFill>
            <a:srgbClr val="4677BE"/>
          </a:solidFill>
        </p:spPr>
        <p:txBody>
          <a:bodyPr wrap="square" lIns="0" tIns="0" rIns="0" bIns="0" rtlCol="0"/>
          <a:lstStyle/>
          <a:p/>
        </p:txBody>
      </p:sp>
      <p:sp>
        <p:nvSpPr>
          <p:cNvPr id="85" name="object 85"/>
          <p:cNvSpPr txBox="1"/>
          <p:nvPr/>
        </p:nvSpPr>
        <p:spPr>
          <a:xfrm>
            <a:off x="6223536" y="2577291"/>
            <a:ext cx="38925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获取源</a:t>
            </a:r>
            <a:endParaRPr sz="950">
              <a:latin typeface="宋体"/>
              <a:cs typeface="宋体"/>
            </a:endParaRPr>
          </a:p>
        </p:txBody>
      </p:sp>
      <p:sp>
        <p:nvSpPr>
          <p:cNvPr id="86" name="object 86"/>
          <p:cNvSpPr/>
          <p:nvPr/>
        </p:nvSpPr>
        <p:spPr>
          <a:xfrm>
            <a:off x="6481062" y="2049426"/>
            <a:ext cx="1696720" cy="992505"/>
          </a:xfrm>
          <a:custGeom>
            <a:avLst/>
            <a:gdLst/>
            <a:ahLst/>
            <a:cxnLst/>
            <a:rect l="l" t="t" r="r" b="b"/>
            <a:pathLst>
              <a:path w="1696720" h="992505">
                <a:moveTo>
                  <a:pt x="1696526" y="0"/>
                </a:moveTo>
                <a:lnTo>
                  <a:pt x="0" y="992042"/>
                </a:lnTo>
              </a:path>
            </a:pathLst>
          </a:custGeom>
          <a:ln w="3630">
            <a:solidFill>
              <a:srgbClr val="4677BE"/>
            </a:solidFill>
          </a:ln>
        </p:spPr>
        <p:txBody>
          <a:bodyPr wrap="square" lIns="0" tIns="0" rIns="0" bIns="0" rtlCol="0"/>
          <a:lstStyle/>
          <a:p/>
        </p:txBody>
      </p:sp>
      <p:sp>
        <p:nvSpPr>
          <p:cNvPr id="87" name="object 87"/>
          <p:cNvSpPr/>
          <p:nvPr/>
        </p:nvSpPr>
        <p:spPr>
          <a:xfrm>
            <a:off x="6417925" y="3000177"/>
            <a:ext cx="93345" cy="78740"/>
          </a:xfrm>
          <a:custGeom>
            <a:avLst/>
            <a:gdLst/>
            <a:ahLst/>
            <a:cxnLst/>
            <a:rect l="l" t="t" r="r" b="b"/>
            <a:pathLst>
              <a:path w="93345" h="78739">
                <a:moveTo>
                  <a:pt x="51024" y="0"/>
                </a:moveTo>
                <a:lnTo>
                  <a:pt x="0" y="78195"/>
                </a:lnTo>
                <a:lnTo>
                  <a:pt x="93267" y="72145"/>
                </a:lnTo>
                <a:lnTo>
                  <a:pt x="51024" y="0"/>
                </a:lnTo>
                <a:close/>
              </a:path>
            </a:pathLst>
          </a:custGeom>
          <a:solidFill>
            <a:srgbClr val="4677BE"/>
          </a:solidFill>
        </p:spPr>
        <p:txBody>
          <a:bodyPr wrap="square" lIns="0" tIns="0" rIns="0" bIns="0" rtlCol="0"/>
          <a:lstStyle/>
          <a:p/>
        </p:txBody>
      </p:sp>
      <p:sp>
        <p:nvSpPr>
          <p:cNvPr id="88" name="object 88"/>
          <p:cNvSpPr txBox="1"/>
          <p:nvPr/>
        </p:nvSpPr>
        <p:spPr>
          <a:xfrm>
            <a:off x="7042804" y="2470056"/>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获取环境</a:t>
            </a:r>
            <a:endParaRPr sz="950">
              <a:latin typeface="宋体"/>
              <a:cs typeface="宋体"/>
            </a:endParaRPr>
          </a:p>
        </p:txBody>
      </p:sp>
      <p:sp>
        <p:nvSpPr>
          <p:cNvPr id="89" name="object 89"/>
          <p:cNvSpPr/>
          <p:nvPr/>
        </p:nvSpPr>
        <p:spPr>
          <a:xfrm>
            <a:off x="8606831" y="3721484"/>
            <a:ext cx="0" cy="113664"/>
          </a:xfrm>
          <a:custGeom>
            <a:avLst/>
            <a:gdLst/>
            <a:ahLst/>
            <a:cxnLst/>
            <a:rect l="l" t="t" r="r" b="b"/>
            <a:pathLst>
              <a:path w="0" h="113664">
                <a:moveTo>
                  <a:pt x="0" y="0"/>
                </a:moveTo>
                <a:lnTo>
                  <a:pt x="0" y="113300"/>
                </a:lnTo>
              </a:path>
            </a:pathLst>
          </a:custGeom>
          <a:ln w="3633">
            <a:solidFill>
              <a:srgbClr val="4677BE"/>
            </a:solidFill>
          </a:ln>
        </p:spPr>
        <p:txBody>
          <a:bodyPr wrap="square" lIns="0" tIns="0" rIns="0" bIns="0" rtlCol="0"/>
          <a:lstStyle/>
          <a:p/>
        </p:txBody>
      </p:sp>
      <p:sp>
        <p:nvSpPr>
          <p:cNvPr id="90" name="object 90"/>
          <p:cNvSpPr/>
          <p:nvPr/>
        </p:nvSpPr>
        <p:spPr>
          <a:xfrm>
            <a:off x="8606831" y="3994035"/>
            <a:ext cx="0" cy="40640"/>
          </a:xfrm>
          <a:custGeom>
            <a:avLst/>
            <a:gdLst/>
            <a:ahLst/>
            <a:cxnLst/>
            <a:rect l="l" t="t" r="r" b="b"/>
            <a:pathLst>
              <a:path w="0" h="40639">
                <a:moveTo>
                  <a:pt x="0" y="0"/>
                </a:moveTo>
                <a:lnTo>
                  <a:pt x="0" y="40383"/>
                </a:lnTo>
              </a:path>
            </a:pathLst>
          </a:custGeom>
          <a:ln w="3633">
            <a:solidFill>
              <a:srgbClr val="4677BE"/>
            </a:solidFill>
          </a:ln>
        </p:spPr>
        <p:txBody>
          <a:bodyPr wrap="square" lIns="0" tIns="0" rIns="0" bIns="0" rtlCol="0"/>
          <a:lstStyle/>
          <a:p/>
        </p:txBody>
      </p:sp>
      <p:sp>
        <p:nvSpPr>
          <p:cNvPr id="91" name="object 91"/>
          <p:cNvSpPr/>
          <p:nvPr/>
        </p:nvSpPr>
        <p:spPr>
          <a:xfrm>
            <a:off x="8565043" y="4023983"/>
            <a:ext cx="83820" cy="83820"/>
          </a:xfrm>
          <a:custGeom>
            <a:avLst/>
            <a:gdLst/>
            <a:ahLst/>
            <a:cxnLst/>
            <a:rect l="l" t="t" r="r" b="b"/>
            <a:pathLst>
              <a:path w="83820" h="83820">
                <a:moveTo>
                  <a:pt x="83577" y="0"/>
                </a:moveTo>
                <a:lnTo>
                  <a:pt x="0" y="0"/>
                </a:lnTo>
                <a:lnTo>
                  <a:pt x="41788" y="83489"/>
                </a:lnTo>
                <a:lnTo>
                  <a:pt x="83577" y="0"/>
                </a:lnTo>
                <a:close/>
              </a:path>
            </a:pathLst>
          </a:custGeom>
          <a:solidFill>
            <a:srgbClr val="4677BE"/>
          </a:solidFill>
        </p:spPr>
        <p:txBody>
          <a:bodyPr wrap="square" lIns="0" tIns="0" rIns="0" bIns="0" rtlCol="0"/>
          <a:lstStyle/>
          <a:p/>
        </p:txBody>
      </p:sp>
      <p:sp>
        <p:nvSpPr>
          <p:cNvPr id="92" name="object 92"/>
          <p:cNvSpPr txBox="1"/>
          <p:nvPr/>
        </p:nvSpPr>
        <p:spPr>
          <a:xfrm>
            <a:off x="8473005" y="3820559"/>
            <a:ext cx="267970"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内容</a:t>
            </a:r>
            <a:endParaRPr sz="950">
              <a:latin typeface="宋体"/>
              <a:cs typeface="宋体"/>
            </a:endParaRPr>
          </a:p>
        </p:txBody>
      </p:sp>
      <p:sp>
        <p:nvSpPr>
          <p:cNvPr id="93" name="object 93"/>
          <p:cNvSpPr/>
          <p:nvPr/>
        </p:nvSpPr>
        <p:spPr>
          <a:xfrm>
            <a:off x="2331119" y="3507164"/>
            <a:ext cx="22860" cy="0"/>
          </a:xfrm>
          <a:custGeom>
            <a:avLst/>
            <a:gdLst/>
            <a:ahLst/>
            <a:cxnLst/>
            <a:rect l="l" t="t" r="r" b="b"/>
            <a:pathLst>
              <a:path w="22860" h="0">
                <a:moveTo>
                  <a:pt x="0" y="0"/>
                </a:moveTo>
                <a:lnTo>
                  <a:pt x="22256" y="0"/>
                </a:lnTo>
              </a:path>
            </a:pathLst>
          </a:custGeom>
          <a:ln w="3629">
            <a:solidFill>
              <a:srgbClr val="4677BE"/>
            </a:solidFill>
          </a:ln>
        </p:spPr>
        <p:txBody>
          <a:bodyPr wrap="square" lIns="0" tIns="0" rIns="0" bIns="0" rtlCol="0"/>
          <a:lstStyle/>
          <a:p/>
        </p:txBody>
      </p:sp>
      <p:sp>
        <p:nvSpPr>
          <p:cNvPr id="94" name="object 94"/>
          <p:cNvSpPr/>
          <p:nvPr/>
        </p:nvSpPr>
        <p:spPr>
          <a:xfrm>
            <a:off x="2125961" y="3507164"/>
            <a:ext cx="84455" cy="0"/>
          </a:xfrm>
          <a:custGeom>
            <a:avLst/>
            <a:gdLst/>
            <a:ahLst/>
            <a:cxnLst/>
            <a:rect l="l" t="t" r="r" b="b"/>
            <a:pathLst>
              <a:path w="84455" h="0">
                <a:moveTo>
                  <a:pt x="0" y="0"/>
                </a:moveTo>
                <a:lnTo>
                  <a:pt x="84031" y="0"/>
                </a:lnTo>
              </a:path>
            </a:pathLst>
          </a:custGeom>
          <a:ln w="3629">
            <a:solidFill>
              <a:srgbClr val="4677BE"/>
            </a:solidFill>
          </a:ln>
        </p:spPr>
        <p:txBody>
          <a:bodyPr wrap="square" lIns="0" tIns="0" rIns="0" bIns="0" rtlCol="0"/>
          <a:lstStyle/>
          <a:p/>
        </p:txBody>
      </p:sp>
      <p:sp>
        <p:nvSpPr>
          <p:cNvPr id="95" name="object 95"/>
          <p:cNvSpPr/>
          <p:nvPr/>
        </p:nvSpPr>
        <p:spPr>
          <a:xfrm>
            <a:off x="2342929" y="3465420"/>
            <a:ext cx="83820" cy="83820"/>
          </a:xfrm>
          <a:custGeom>
            <a:avLst/>
            <a:gdLst/>
            <a:ahLst/>
            <a:cxnLst/>
            <a:rect l="l" t="t" r="r" b="b"/>
            <a:pathLst>
              <a:path w="83819" h="83820">
                <a:moveTo>
                  <a:pt x="0" y="0"/>
                </a:moveTo>
                <a:lnTo>
                  <a:pt x="0" y="83489"/>
                </a:lnTo>
                <a:lnTo>
                  <a:pt x="83577" y="41744"/>
                </a:lnTo>
                <a:lnTo>
                  <a:pt x="0" y="0"/>
                </a:lnTo>
                <a:close/>
              </a:path>
            </a:pathLst>
          </a:custGeom>
          <a:solidFill>
            <a:srgbClr val="4677BE"/>
          </a:solidFill>
        </p:spPr>
        <p:txBody>
          <a:bodyPr wrap="square" lIns="0" tIns="0" rIns="0" bIns="0" rtlCol="0"/>
          <a:lstStyle/>
          <a:p/>
        </p:txBody>
      </p:sp>
      <p:sp>
        <p:nvSpPr>
          <p:cNvPr id="96" name="object 96"/>
          <p:cNvSpPr txBox="1"/>
          <p:nvPr/>
        </p:nvSpPr>
        <p:spPr>
          <a:xfrm>
            <a:off x="2202895" y="3319620"/>
            <a:ext cx="146685" cy="344170"/>
          </a:xfrm>
          <a:prstGeom prst="rect">
            <a:avLst/>
          </a:prstGeom>
        </p:spPr>
        <p:txBody>
          <a:bodyPr wrap="square" lIns="0" tIns="12700" rIns="0" bIns="0" rtlCol="0" vert="horz">
            <a:spAutoFit/>
          </a:bodyPr>
          <a:lstStyle/>
          <a:p>
            <a:pPr marL="12700" marR="5080">
              <a:lnSpc>
                <a:spcPct val="110000"/>
              </a:lnSpc>
              <a:spcBef>
                <a:spcPts val="100"/>
              </a:spcBef>
            </a:pPr>
            <a:r>
              <a:rPr dirty="0" sz="950">
                <a:latin typeface="宋体"/>
                <a:cs typeface="宋体"/>
              </a:rPr>
              <a:t>目 标</a:t>
            </a:r>
            <a:endParaRPr sz="950">
              <a:latin typeface="宋体"/>
              <a:cs typeface="宋体"/>
            </a:endParaRPr>
          </a:p>
        </p:txBody>
      </p:sp>
      <p:sp>
        <p:nvSpPr>
          <p:cNvPr id="97" name="object 97"/>
          <p:cNvSpPr/>
          <p:nvPr/>
        </p:nvSpPr>
        <p:spPr>
          <a:xfrm>
            <a:off x="8177589" y="3721484"/>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98" name="object 98"/>
          <p:cNvSpPr/>
          <p:nvPr/>
        </p:nvSpPr>
        <p:spPr>
          <a:xfrm>
            <a:off x="8177589" y="3292845"/>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99" name="object 99"/>
          <p:cNvSpPr txBox="1"/>
          <p:nvPr/>
        </p:nvSpPr>
        <p:spPr>
          <a:xfrm>
            <a:off x="8351878" y="3413245"/>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用户需求</a:t>
            </a:r>
            <a:endParaRPr sz="950">
              <a:latin typeface="宋体"/>
              <a:cs typeface="宋体"/>
            </a:endParaRPr>
          </a:p>
        </p:txBody>
      </p:sp>
      <p:sp>
        <p:nvSpPr>
          <p:cNvPr id="100" name="object 100"/>
          <p:cNvSpPr/>
          <p:nvPr/>
        </p:nvSpPr>
        <p:spPr>
          <a:xfrm>
            <a:off x="6847015" y="4750508"/>
            <a:ext cx="858519" cy="0"/>
          </a:xfrm>
          <a:custGeom>
            <a:avLst/>
            <a:gdLst/>
            <a:ahLst/>
            <a:cxnLst/>
            <a:rect l="l" t="t" r="r" b="b"/>
            <a:pathLst>
              <a:path w="858520" h="0">
                <a:moveTo>
                  <a:pt x="0" y="0"/>
                </a:moveTo>
                <a:lnTo>
                  <a:pt x="858483" y="0"/>
                </a:lnTo>
              </a:path>
            </a:pathLst>
          </a:custGeom>
          <a:ln w="3629">
            <a:solidFill>
              <a:srgbClr val="000000"/>
            </a:solidFill>
          </a:ln>
        </p:spPr>
        <p:txBody>
          <a:bodyPr wrap="square" lIns="0" tIns="0" rIns="0" bIns="0" rtlCol="0"/>
          <a:lstStyle/>
          <a:p/>
        </p:txBody>
      </p:sp>
      <p:sp>
        <p:nvSpPr>
          <p:cNvPr id="101" name="object 101"/>
          <p:cNvSpPr/>
          <p:nvPr/>
        </p:nvSpPr>
        <p:spPr>
          <a:xfrm>
            <a:off x="6847015" y="4321792"/>
            <a:ext cx="858519" cy="0"/>
          </a:xfrm>
          <a:custGeom>
            <a:avLst/>
            <a:gdLst/>
            <a:ahLst/>
            <a:cxnLst/>
            <a:rect l="l" t="t" r="r" b="b"/>
            <a:pathLst>
              <a:path w="858520" h="0">
                <a:moveTo>
                  <a:pt x="0" y="0"/>
                </a:moveTo>
                <a:lnTo>
                  <a:pt x="858483" y="0"/>
                </a:lnTo>
              </a:path>
            </a:pathLst>
          </a:custGeom>
          <a:ln w="3629">
            <a:solidFill>
              <a:srgbClr val="000000"/>
            </a:solidFill>
          </a:ln>
        </p:spPr>
        <p:txBody>
          <a:bodyPr wrap="square" lIns="0" tIns="0" rIns="0" bIns="0" rtlCol="0"/>
          <a:lstStyle/>
          <a:p/>
        </p:txBody>
      </p:sp>
      <p:sp>
        <p:nvSpPr>
          <p:cNvPr id="102" name="object 102"/>
          <p:cNvSpPr txBox="1"/>
          <p:nvPr/>
        </p:nvSpPr>
        <p:spPr>
          <a:xfrm>
            <a:off x="6960741" y="4442253"/>
            <a:ext cx="631190"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问题域特性</a:t>
            </a:r>
            <a:endParaRPr sz="950">
              <a:latin typeface="宋体"/>
              <a:cs typeface="宋体"/>
            </a:endParaRPr>
          </a:p>
        </p:txBody>
      </p:sp>
      <p:sp>
        <p:nvSpPr>
          <p:cNvPr id="103" name="object 103"/>
          <p:cNvSpPr/>
          <p:nvPr/>
        </p:nvSpPr>
        <p:spPr>
          <a:xfrm>
            <a:off x="7930643" y="3507164"/>
            <a:ext cx="173990" cy="0"/>
          </a:xfrm>
          <a:custGeom>
            <a:avLst/>
            <a:gdLst/>
            <a:ahLst/>
            <a:cxnLst/>
            <a:rect l="l" t="t" r="r" b="b"/>
            <a:pathLst>
              <a:path w="173990" h="0">
                <a:moveTo>
                  <a:pt x="0" y="0"/>
                </a:moveTo>
                <a:lnTo>
                  <a:pt x="173816" y="0"/>
                </a:lnTo>
              </a:path>
            </a:pathLst>
          </a:custGeom>
          <a:ln w="3629">
            <a:solidFill>
              <a:srgbClr val="4677BE"/>
            </a:solidFill>
          </a:ln>
        </p:spPr>
        <p:txBody>
          <a:bodyPr wrap="square" lIns="0" tIns="0" rIns="0" bIns="0" rtlCol="0"/>
          <a:lstStyle/>
          <a:p/>
        </p:txBody>
      </p:sp>
      <p:sp>
        <p:nvSpPr>
          <p:cNvPr id="104" name="object 104"/>
          <p:cNvSpPr/>
          <p:nvPr/>
        </p:nvSpPr>
        <p:spPr>
          <a:xfrm>
            <a:off x="6847015" y="3507164"/>
            <a:ext cx="236220" cy="0"/>
          </a:xfrm>
          <a:custGeom>
            <a:avLst/>
            <a:gdLst/>
            <a:ahLst/>
            <a:cxnLst/>
            <a:rect l="l" t="t" r="r" b="b"/>
            <a:pathLst>
              <a:path w="236220" h="0">
                <a:moveTo>
                  <a:pt x="0" y="0"/>
                </a:moveTo>
                <a:lnTo>
                  <a:pt x="235742" y="0"/>
                </a:lnTo>
              </a:path>
            </a:pathLst>
          </a:custGeom>
          <a:ln w="3629">
            <a:solidFill>
              <a:srgbClr val="4677BE"/>
            </a:solidFill>
          </a:ln>
        </p:spPr>
        <p:txBody>
          <a:bodyPr wrap="square" lIns="0" tIns="0" rIns="0" bIns="0" rtlCol="0"/>
          <a:lstStyle/>
          <a:p/>
        </p:txBody>
      </p:sp>
      <p:sp>
        <p:nvSpPr>
          <p:cNvPr id="105" name="object 105"/>
          <p:cNvSpPr/>
          <p:nvPr/>
        </p:nvSpPr>
        <p:spPr>
          <a:xfrm>
            <a:off x="8094012" y="3465420"/>
            <a:ext cx="83820" cy="83820"/>
          </a:xfrm>
          <a:custGeom>
            <a:avLst/>
            <a:gdLst/>
            <a:ahLst/>
            <a:cxnLst/>
            <a:rect l="l" t="t" r="r" b="b"/>
            <a:pathLst>
              <a:path w="83820" h="83820">
                <a:moveTo>
                  <a:pt x="0" y="0"/>
                </a:moveTo>
                <a:lnTo>
                  <a:pt x="0" y="83489"/>
                </a:lnTo>
                <a:lnTo>
                  <a:pt x="83577" y="41744"/>
                </a:lnTo>
                <a:lnTo>
                  <a:pt x="0" y="0"/>
                </a:lnTo>
                <a:close/>
              </a:path>
            </a:pathLst>
          </a:custGeom>
          <a:solidFill>
            <a:srgbClr val="4677BE"/>
          </a:solidFill>
        </p:spPr>
        <p:txBody>
          <a:bodyPr wrap="square" lIns="0" tIns="0" rIns="0" bIns="0" rtlCol="0"/>
          <a:lstStyle/>
          <a:p/>
        </p:txBody>
      </p:sp>
      <p:sp>
        <p:nvSpPr>
          <p:cNvPr id="106" name="object 106"/>
          <p:cNvSpPr txBox="1"/>
          <p:nvPr/>
        </p:nvSpPr>
        <p:spPr>
          <a:xfrm>
            <a:off x="7075660" y="3413245"/>
            <a:ext cx="873760"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业务问题的期望</a:t>
            </a:r>
            <a:endParaRPr sz="950">
              <a:latin typeface="宋体"/>
              <a:cs typeface="宋体"/>
            </a:endParaRPr>
          </a:p>
        </p:txBody>
      </p:sp>
      <p:sp>
        <p:nvSpPr>
          <p:cNvPr id="107" name="object 107"/>
          <p:cNvSpPr/>
          <p:nvPr/>
        </p:nvSpPr>
        <p:spPr>
          <a:xfrm>
            <a:off x="6847015" y="3507164"/>
            <a:ext cx="395605" cy="749935"/>
          </a:xfrm>
          <a:custGeom>
            <a:avLst/>
            <a:gdLst/>
            <a:ahLst/>
            <a:cxnLst/>
            <a:rect l="l" t="t" r="r" b="b"/>
            <a:pathLst>
              <a:path w="395604" h="749935">
                <a:moveTo>
                  <a:pt x="0" y="0"/>
                </a:moveTo>
                <a:lnTo>
                  <a:pt x="395174" y="749892"/>
                </a:lnTo>
              </a:path>
            </a:pathLst>
          </a:custGeom>
          <a:ln w="3632">
            <a:solidFill>
              <a:srgbClr val="4677BE"/>
            </a:solidFill>
          </a:ln>
        </p:spPr>
        <p:txBody>
          <a:bodyPr wrap="square" lIns="0" tIns="0" rIns="0" bIns="0" rtlCol="0"/>
          <a:lstStyle/>
          <a:p/>
        </p:txBody>
      </p:sp>
      <p:sp>
        <p:nvSpPr>
          <p:cNvPr id="108" name="object 108"/>
          <p:cNvSpPr/>
          <p:nvPr/>
        </p:nvSpPr>
        <p:spPr>
          <a:xfrm>
            <a:off x="7200402" y="4228471"/>
            <a:ext cx="76200" cy="93345"/>
          </a:xfrm>
          <a:custGeom>
            <a:avLst/>
            <a:gdLst/>
            <a:ahLst/>
            <a:cxnLst/>
            <a:rect l="l" t="t" r="r" b="b"/>
            <a:pathLst>
              <a:path w="76200" h="93345">
                <a:moveTo>
                  <a:pt x="73887" y="0"/>
                </a:moveTo>
                <a:lnTo>
                  <a:pt x="0" y="38871"/>
                </a:lnTo>
                <a:lnTo>
                  <a:pt x="75855" y="93320"/>
                </a:lnTo>
                <a:lnTo>
                  <a:pt x="73887" y="0"/>
                </a:lnTo>
                <a:close/>
              </a:path>
            </a:pathLst>
          </a:custGeom>
          <a:solidFill>
            <a:srgbClr val="4677BE"/>
          </a:solidFill>
        </p:spPr>
        <p:txBody>
          <a:bodyPr wrap="square" lIns="0" tIns="0" rIns="0" bIns="0" rtlCol="0"/>
          <a:lstStyle/>
          <a:p/>
        </p:txBody>
      </p:sp>
      <p:sp>
        <p:nvSpPr>
          <p:cNvPr id="109" name="object 109"/>
          <p:cNvSpPr/>
          <p:nvPr/>
        </p:nvSpPr>
        <p:spPr>
          <a:xfrm>
            <a:off x="6813705" y="3834785"/>
            <a:ext cx="484505" cy="159385"/>
          </a:xfrm>
          <a:custGeom>
            <a:avLst/>
            <a:gdLst/>
            <a:ahLst/>
            <a:cxnLst/>
            <a:rect l="l" t="t" r="r" b="b"/>
            <a:pathLst>
              <a:path w="484504" h="159385">
                <a:moveTo>
                  <a:pt x="0" y="159250"/>
                </a:moveTo>
                <a:lnTo>
                  <a:pt x="484505" y="159250"/>
                </a:lnTo>
                <a:lnTo>
                  <a:pt x="484505" y="0"/>
                </a:lnTo>
                <a:lnTo>
                  <a:pt x="0" y="0"/>
                </a:lnTo>
                <a:lnTo>
                  <a:pt x="0" y="159250"/>
                </a:lnTo>
                <a:close/>
              </a:path>
            </a:pathLst>
          </a:custGeom>
          <a:solidFill>
            <a:srgbClr val="FFFFFF"/>
          </a:solidFill>
        </p:spPr>
        <p:txBody>
          <a:bodyPr wrap="square" lIns="0" tIns="0" rIns="0" bIns="0" rtlCol="0"/>
          <a:lstStyle/>
          <a:p/>
        </p:txBody>
      </p:sp>
      <p:sp>
        <p:nvSpPr>
          <p:cNvPr id="110" name="object 110"/>
          <p:cNvSpPr txBox="1"/>
          <p:nvPr/>
        </p:nvSpPr>
        <p:spPr>
          <a:xfrm>
            <a:off x="6806759" y="3820559"/>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业务解释</a:t>
            </a:r>
            <a:endParaRPr sz="950">
              <a:latin typeface="宋体"/>
              <a:cs typeface="宋体"/>
            </a:endParaRPr>
          </a:p>
        </p:txBody>
      </p:sp>
      <p:sp>
        <p:nvSpPr>
          <p:cNvPr id="111" name="object 111"/>
          <p:cNvSpPr/>
          <p:nvPr/>
        </p:nvSpPr>
        <p:spPr>
          <a:xfrm>
            <a:off x="8056917" y="4536112"/>
            <a:ext cx="47625" cy="0"/>
          </a:xfrm>
          <a:custGeom>
            <a:avLst/>
            <a:gdLst/>
            <a:ahLst/>
            <a:cxnLst/>
            <a:rect l="l" t="t" r="r" b="b"/>
            <a:pathLst>
              <a:path w="47625" h="0">
                <a:moveTo>
                  <a:pt x="0" y="0"/>
                </a:moveTo>
                <a:lnTo>
                  <a:pt x="47541" y="0"/>
                </a:lnTo>
              </a:path>
            </a:pathLst>
          </a:custGeom>
          <a:ln w="3629">
            <a:solidFill>
              <a:srgbClr val="4677BE"/>
            </a:solidFill>
          </a:ln>
        </p:spPr>
        <p:txBody>
          <a:bodyPr wrap="square" lIns="0" tIns="0" rIns="0" bIns="0" rtlCol="0"/>
          <a:lstStyle/>
          <a:p/>
        </p:txBody>
      </p:sp>
      <p:sp>
        <p:nvSpPr>
          <p:cNvPr id="112" name="object 112"/>
          <p:cNvSpPr/>
          <p:nvPr/>
        </p:nvSpPr>
        <p:spPr>
          <a:xfrm>
            <a:off x="7705499" y="4536112"/>
            <a:ext cx="109220" cy="0"/>
          </a:xfrm>
          <a:custGeom>
            <a:avLst/>
            <a:gdLst/>
            <a:ahLst/>
            <a:cxnLst/>
            <a:rect l="l" t="t" r="r" b="b"/>
            <a:pathLst>
              <a:path w="109220" h="0">
                <a:moveTo>
                  <a:pt x="0" y="0"/>
                </a:moveTo>
                <a:lnTo>
                  <a:pt x="109165" y="0"/>
                </a:lnTo>
              </a:path>
            </a:pathLst>
          </a:custGeom>
          <a:ln w="3629">
            <a:solidFill>
              <a:srgbClr val="4677BE"/>
            </a:solidFill>
          </a:ln>
        </p:spPr>
        <p:txBody>
          <a:bodyPr wrap="square" lIns="0" tIns="0" rIns="0" bIns="0" rtlCol="0"/>
          <a:lstStyle/>
          <a:p/>
        </p:txBody>
      </p:sp>
      <p:sp>
        <p:nvSpPr>
          <p:cNvPr id="113" name="object 113"/>
          <p:cNvSpPr/>
          <p:nvPr/>
        </p:nvSpPr>
        <p:spPr>
          <a:xfrm>
            <a:off x="8094012" y="4494367"/>
            <a:ext cx="83820" cy="83820"/>
          </a:xfrm>
          <a:custGeom>
            <a:avLst/>
            <a:gdLst/>
            <a:ahLst/>
            <a:cxnLst/>
            <a:rect l="l" t="t" r="r" b="b"/>
            <a:pathLst>
              <a:path w="83820" h="83820">
                <a:moveTo>
                  <a:pt x="0" y="0"/>
                </a:moveTo>
                <a:lnTo>
                  <a:pt x="0" y="83519"/>
                </a:lnTo>
                <a:lnTo>
                  <a:pt x="83577" y="41744"/>
                </a:lnTo>
                <a:lnTo>
                  <a:pt x="0" y="0"/>
                </a:lnTo>
                <a:close/>
              </a:path>
            </a:pathLst>
          </a:custGeom>
          <a:solidFill>
            <a:srgbClr val="4677BE"/>
          </a:solidFill>
        </p:spPr>
        <p:txBody>
          <a:bodyPr wrap="square" lIns="0" tIns="0" rIns="0" bIns="0" rtlCol="0"/>
          <a:lstStyle/>
          <a:p/>
        </p:txBody>
      </p:sp>
      <p:sp>
        <p:nvSpPr>
          <p:cNvPr id="114" name="object 114"/>
          <p:cNvSpPr txBox="1"/>
          <p:nvPr/>
        </p:nvSpPr>
        <p:spPr>
          <a:xfrm>
            <a:off x="7807717" y="4442253"/>
            <a:ext cx="267970"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内容</a:t>
            </a:r>
            <a:endParaRPr sz="950">
              <a:latin typeface="宋体"/>
              <a:cs typeface="宋体"/>
            </a:endParaRPr>
          </a:p>
        </p:txBody>
      </p:sp>
      <p:sp>
        <p:nvSpPr>
          <p:cNvPr id="115" name="object 115"/>
          <p:cNvSpPr/>
          <p:nvPr/>
        </p:nvSpPr>
        <p:spPr>
          <a:xfrm>
            <a:off x="8177589" y="5822349"/>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116" name="object 116"/>
          <p:cNvSpPr/>
          <p:nvPr/>
        </p:nvSpPr>
        <p:spPr>
          <a:xfrm>
            <a:off x="8177589" y="5393619"/>
            <a:ext cx="858519" cy="0"/>
          </a:xfrm>
          <a:custGeom>
            <a:avLst/>
            <a:gdLst/>
            <a:ahLst/>
            <a:cxnLst/>
            <a:rect l="l" t="t" r="r" b="b"/>
            <a:pathLst>
              <a:path w="858520" h="0">
                <a:moveTo>
                  <a:pt x="0" y="0"/>
                </a:moveTo>
                <a:lnTo>
                  <a:pt x="858332" y="0"/>
                </a:lnTo>
              </a:path>
            </a:pathLst>
          </a:custGeom>
          <a:ln w="3629">
            <a:solidFill>
              <a:srgbClr val="000000"/>
            </a:solidFill>
          </a:ln>
        </p:spPr>
        <p:txBody>
          <a:bodyPr wrap="square" lIns="0" tIns="0" rIns="0" bIns="0" rtlCol="0"/>
          <a:lstStyle/>
          <a:p/>
        </p:txBody>
      </p:sp>
      <p:sp>
        <p:nvSpPr>
          <p:cNvPr id="117" name="object 117"/>
          <p:cNvSpPr txBox="1"/>
          <p:nvPr/>
        </p:nvSpPr>
        <p:spPr>
          <a:xfrm>
            <a:off x="8351878" y="5514095"/>
            <a:ext cx="509905"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获取笔录</a:t>
            </a:r>
            <a:endParaRPr sz="950">
              <a:latin typeface="宋体"/>
              <a:cs typeface="宋体"/>
            </a:endParaRPr>
          </a:p>
        </p:txBody>
      </p:sp>
      <p:sp>
        <p:nvSpPr>
          <p:cNvPr id="118" name="object 118"/>
          <p:cNvSpPr/>
          <p:nvPr/>
        </p:nvSpPr>
        <p:spPr>
          <a:xfrm>
            <a:off x="8606831" y="4964873"/>
            <a:ext cx="0" cy="135255"/>
          </a:xfrm>
          <a:custGeom>
            <a:avLst/>
            <a:gdLst/>
            <a:ahLst/>
            <a:cxnLst/>
            <a:rect l="l" t="t" r="r" b="b"/>
            <a:pathLst>
              <a:path w="0" h="135254">
                <a:moveTo>
                  <a:pt x="0" y="0"/>
                </a:moveTo>
                <a:lnTo>
                  <a:pt x="0" y="134747"/>
                </a:lnTo>
              </a:path>
            </a:pathLst>
          </a:custGeom>
          <a:ln w="3633">
            <a:solidFill>
              <a:srgbClr val="4677BE"/>
            </a:solidFill>
          </a:ln>
        </p:spPr>
        <p:txBody>
          <a:bodyPr wrap="square" lIns="0" tIns="0" rIns="0" bIns="0" rtlCol="0"/>
          <a:lstStyle/>
          <a:p/>
        </p:txBody>
      </p:sp>
      <p:sp>
        <p:nvSpPr>
          <p:cNvPr id="119" name="object 119"/>
          <p:cNvSpPr/>
          <p:nvPr/>
        </p:nvSpPr>
        <p:spPr>
          <a:xfrm>
            <a:off x="8606831" y="5258871"/>
            <a:ext cx="0" cy="62230"/>
          </a:xfrm>
          <a:custGeom>
            <a:avLst/>
            <a:gdLst/>
            <a:ahLst/>
            <a:cxnLst/>
            <a:rect l="l" t="t" r="r" b="b"/>
            <a:pathLst>
              <a:path w="0" h="62229">
                <a:moveTo>
                  <a:pt x="0" y="0"/>
                </a:moveTo>
                <a:lnTo>
                  <a:pt x="0" y="61694"/>
                </a:lnTo>
              </a:path>
            </a:pathLst>
          </a:custGeom>
          <a:ln w="3633">
            <a:solidFill>
              <a:srgbClr val="4677BE"/>
            </a:solidFill>
          </a:ln>
        </p:spPr>
        <p:txBody>
          <a:bodyPr wrap="square" lIns="0" tIns="0" rIns="0" bIns="0" rtlCol="0"/>
          <a:lstStyle/>
          <a:p/>
        </p:txBody>
      </p:sp>
      <p:sp>
        <p:nvSpPr>
          <p:cNvPr id="120" name="object 120"/>
          <p:cNvSpPr/>
          <p:nvPr/>
        </p:nvSpPr>
        <p:spPr>
          <a:xfrm>
            <a:off x="8565043" y="5310129"/>
            <a:ext cx="83820" cy="83820"/>
          </a:xfrm>
          <a:custGeom>
            <a:avLst/>
            <a:gdLst/>
            <a:ahLst/>
            <a:cxnLst/>
            <a:rect l="l" t="t" r="r" b="b"/>
            <a:pathLst>
              <a:path w="83820" h="83820">
                <a:moveTo>
                  <a:pt x="83577" y="0"/>
                </a:moveTo>
                <a:lnTo>
                  <a:pt x="0" y="0"/>
                </a:lnTo>
                <a:lnTo>
                  <a:pt x="41788" y="83489"/>
                </a:lnTo>
                <a:lnTo>
                  <a:pt x="83577" y="0"/>
                </a:lnTo>
                <a:close/>
              </a:path>
            </a:pathLst>
          </a:custGeom>
          <a:solidFill>
            <a:srgbClr val="4677BE"/>
          </a:solidFill>
        </p:spPr>
        <p:txBody>
          <a:bodyPr wrap="square" lIns="0" tIns="0" rIns="0" bIns="0" rtlCol="0"/>
          <a:lstStyle/>
          <a:p/>
        </p:txBody>
      </p:sp>
      <p:sp>
        <p:nvSpPr>
          <p:cNvPr id="121" name="object 121"/>
          <p:cNvSpPr txBox="1"/>
          <p:nvPr/>
        </p:nvSpPr>
        <p:spPr>
          <a:xfrm>
            <a:off x="8473005" y="5085364"/>
            <a:ext cx="267970" cy="170815"/>
          </a:xfrm>
          <a:prstGeom prst="rect">
            <a:avLst/>
          </a:prstGeom>
        </p:spPr>
        <p:txBody>
          <a:bodyPr wrap="square" lIns="0" tIns="12700" rIns="0" bIns="0" rtlCol="0" vert="horz">
            <a:spAutoFit/>
          </a:bodyPr>
          <a:lstStyle/>
          <a:p>
            <a:pPr marL="12700">
              <a:lnSpc>
                <a:spcPct val="100000"/>
              </a:lnSpc>
              <a:spcBef>
                <a:spcPts val="100"/>
              </a:spcBef>
            </a:pPr>
            <a:r>
              <a:rPr dirty="0" sz="950">
                <a:latin typeface="宋体"/>
                <a:cs typeface="宋体"/>
              </a:rPr>
              <a:t>成果</a:t>
            </a:r>
            <a:endParaRPr sz="950">
              <a:latin typeface="宋体"/>
              <a:cs typeface="宋体"/>
            </a:endParaRPr>
          </a:p>
        </p:txBody>
      </p:sp>
      <p:sp>
        <p:nvSpPr>
          <p:cNvPr id="122" name="object 122"/>
          <p:cNvSpPr/>
          <p:nvPr/>
        </p:nvSpPr>
        <p:spPr>
          <a:xfrm>
            <a:off x="66293" y="2786633"/>
            <a:ext cx="5364480" cy="1572895"/>
          </a:xfrm>
          <a:custGeom>
            <a:avLst/>
            <a:gdLst/>
            <a:ahLst/>
            <a:cxnLst/>
            <a:rect l="l" t="t" r="r" b="b"/>
            <a:pathLst>
              <a:path w="5364480" h="1572895">
                <a:moveTo>
                  <a:pt x="0" y="786383"/>
                </a:moveTo>
                <a:lnTo>
                  <a:pt x="3717" y="744617"/>
                </a:lnTo>
                <a:lnTo>
                  <a:pt x="14748" y="703418"/>
                </a:lnTo>
                <a:lnTo>
                  <a:pt x="32905" y="662841"/>
                </a:lnTo>
                <a:lnTo>
                  <a:pt x="58003" y="622942"/>
                </a:lnTo>
                <a:lnTo>
                  <a:pt x="89858" y="583774"/>
                </a:lnTo>
                <a:lnTo>
                  <a:pt x="128284" y="545391"/>
                </a:lnTo>
                <a:lnTo>
                  <a:pt x="173095" y="507847"/>
                </a:lnTo>
                <a:lnTo>
                  <a:pt x="224106" y="471198"/>
                </a:lnTo>
                <a:lnTo>
                  <a:pt x="281132" y="435498"/>
                </a:lnTo>
                <a:lnTo>
                  <a:pt x="343987" y="400800"/>
                </a:lnTo>
                <a:lnTo>
                  <a:pt x="412487" y="367159"/>
                </a:lnTo>
                <a:lnTo>
                  <a:pt x="448795" y="350752"/>
                </a:lnTo>
                <a:lnTo>
                  <a:pt x="486445" y="334630"/>
                </a:lnTo>
                <a:lnTo>
                  <a:pt x="525412" y="318799"/>
                </a:lnTo>
                <a:lnTo>
                  <a:pt x="565676" y="303266"/>
                </a:lnTo>
                <a:lnTo>
                  <a:pt x="607211" y="288039"/>
                </a:lnTo>
                <a:lnTo>
                  <a:pt x="649995" y="273123"/>
                </a:lnTo>
                <a:lnTo>
                  <a:pt x="694004" y="258526"/>
                </a:lnTo>
                <a:lnTo>
                  <a:pt x="739216" y="244254"/>
                </a:lnTo>
                <a:lnTo>
                  <a:pt x="785607" y="230314"/>
                </a:lnTo>
                <a:lnTo>
                  <a:pt x="833155" y="216713"/>
                </a:lnTo>
                <a:lnTo>
                  <a:pt x="881835" y="203458"/>
                </a:lnTo>
                <a:lnTo>
                  <a:pt x="931625" y="190556"/>
                </a:lnTo>
                <a:lnTo>
                  <a:pt x="982502" y="178013"/>
                </a:lnTo>
                <a:lnTo>
                  <a:pt x="1034442" y="165836"/>
                </a:lnTo>
                <a:lnTo>
                  <a:pt x="1087422" y="154032"/>
                </a:lnTo>
                <a:lnTo>
                  <a:pt x="1141419" y="142608"/>
                </a:lnTo>
                <a:lnTo>
                  <a:pt x="1196411" y="131570"/>
                </a:lnTo>
                <a:lnTo>
                  <a:pt x="1252373" y="120926"/>
                </a:lnTo>
                <a:lnTo>
                  <a:pt x="1309283" y="110682"/>
                </a:lnTo>
                <a:lnTo>
                  <a:pt x="1367117" y="100844"/>
                </a:lnTo>
                <a:lnTo>
                  <a:pt x="1425852" y="91420"/>
                </a:lnTo>
                <a:lnTo>
                  <a:pt x="1485465" y="82417"/>
                </a:lnTo>
                <a:lnTo>
                  <a:pt x="1545934" y="73841"/>
                </a:lnTo>
                <a:lnTo>
                  <a:pt x="1607234" y="65699"/>
                </a:lnTo>
                <a:lnTo>
                  <a:pt x="1669342" y="57998"/>
                </a:lnTo>
                <a:lnTo>
                  <a:pt x="1732236" y="50744"/>
                </a:lnTo>
                <a:lnTo>
                  <a:pt x="1795892" y="43945"/>
                </a:lnTo>
                <a:lnTo>
                  <a:pt x="1860287" y="37607"/>
                </a:lnTo>
                <a:lnTo>
                  <a:pt x="1925398" y="31738"/>
                </a:lnTo>
                <a:lnTo>
                  <a:pt x="1991202" y="26342"/>
                </a:lnTo>
                <a:lnTo>
                  <a:pt x="2057675" y="21429"/>
                </a:lnTo>
                <a:lnTo>
                  <a:pt x="2124795" y="17004"/>
                </a:lnTo>
                <a:lnTo>
                  <a:pt x="2192537" y="13074"/>
                </a:lnTo>
                <a:lnTo>
                  <a:pt x="2260880" y="9646"/>
                </a:lnTo>
                <a:lnTo>
                  <a:pt x="2329800" y="6727"/>
                </a:lnTo>
                <a:lnTo>
                  <a:pt x="2399273" y="4323"/>
                </a:lnTo>
                <a:lnTo>
                  <a:pt x="2469277" y="2442"/>
                </a:lnTo>
                <a:lnTo>
                  <a:pt x="2539788" y="1089"/>
                </a:lnTo>
                <a:lnTo>
                  <a:pt x="2610783" y="273"/>
                </a:lnTo>
                <a:lnTo>
                  <a:pt x="2682240" y="0"/>
                </a:lnTo>
                <a:lnTo>
                  <a:pt x="2753694" y="273"/>
                </a:lnTo>
                <a:lnTo>
                  <a:pt x="2824688" y="1089"/>
                </a:lnTo>
                <a:lnTo>
                  <a:pt x="2895197" y="2442"/>
                </a:lnTo>
                <a:lnTo>
                  <a:pt x="2965199" y="4323"/>
                </a:lnTo>
                <a:lnTo>
                  <a:pt x="3034671" y="6727"/>
                </a:lnTo>
                <a:lnTo>
                  <a:pt x="3103590" y="9646"/>
                </a:lnTo>
                <a:lnTo>
                  <a:pt x="3171931" y="13074"/>
                </a:lnTo>
                <a:lnTo>
                  <a:pt x="3239673" y="17004"/>
                </a:lnTo>
                <a:lnTo>
                  <a:pt x="3306792" y="21429"/>
                </a:lnTo>
                <a:lnTo>
                  <a:pt x="3373264" y="26342"/>
                </a:lnTo>
                <a:lnTo>
                  <a:pt x="3439067" y="31738"/>
                </a:lnTo>
                <a:lnTo>
                  <a:pt x="3504177" y="37607"/>
                </a:lnTo>
                <a:lnTo>
                  <a:pt x="3568572" y="43945"/>
                </a:lnTo>
                <a:lnTo>
                  <a:pt x="3632228" y="50744"/>
                </a:lnTo>
                <a:lnTo>
                  <a:pt x="3695121" y="57998"/>
                </a:lnTo>
                <a:lnTo>
                  <a:pt x="3757229" y="65699"/>
                </a:lnTo>
                <a:lnTo>
                  <a:pt x="3818529" y="73841"/>
                </a:lnTo>
                <a:lnTo>
                  <a:pt x="3878997" y="82417"/>
                </a:lnTo>
                <a:lnTo>
                  <a:pt x="3938610" y="91420"/>
                </a:lnTo>
                <a:lnTo>
                  <a:pt x="3997345" y="100844"/>
                </a:lnTo>
                <a:lnTo>
                  <a:pt x="4055180" y="110682"/>
                </a:lnTo>
                <a:lnTo>
                  <a:pt x="4112089" y="120926"/>
                </a:lnTo>
                <a:lnTo>
                  <a:pt x="4168051" y="131570"/>
                </a:lnTo>
                <a:lnTo>
                  <a:pt x="4223043" y="142608"/>
                </a:lnTo>
                <a:lnTo>
                  <a:pt x="4277041" y="154032"/>
                </a:lnTo>
                <a:lnTo>
                  <a:pt x="4330021" y="165836"/>
                </a:lnTo>
                <a:lnTo>
                  <a:pt x="4381962" y="178013"/>
                </a:lnTo>
                <a:lnTo>
                  <a:pt x="4432839" y="190556"/>
                </a:lnTo>
                <a:lnTo>
                  <a:pt x="4482629" y="203458"/>
                </a:lnTo>
                <a:lnTo>
                  <a:pt x="4531310" y="216713"/>
                </a:lnTo>
                <a:lnTo>
                  <a:pt x="4578857" y="230314"/>
                </a:lnTo>
                <a:lnTo>
                  <a:pt x="4625249" y="244254"/>
                </a:lnTo>
                <a:lnTo>
                  <a:pt x="4670462" y="258526"/>
                </a:lnTo>
                <a:lnTo>
                  <a:pt x="4714472" y="273123"/>
                </a:lnTo>
                <a:lnTo>
                  <a:pt x="4757256" y="288039"/>
                </a:lnTo>
                <a:lnTo>
                  <a:pt x="4798792" y="303266"/>
                </a:lnTo>
                <a:lnTo>
                  <a:pt x="4839055" y="318799"/>
                </a:lnTo>
                <a:lnTo>
                  <a:pt x="4878024" y="334630"/>
                </a:lnTo>
                <a:lnTo>
                  <a:pt x="4915674" y="350752"/>
                </a:lnTo>
                <a:lnTo>
                  <a:pt x="4951983" y="367159"/>
                </a:lnTo>
                <a:lnTo>
                  <a:pt x="4986927" y="383844"/>
                </a:lnTo>
                <a:lnTo>
                  <a:pt x="5052629" y="418020"/>
                </a:lnTo>
                <a:lnTo>
                  <a:pt x="5112594" y="453226"/>
                </a:lnTo>
                <a:lnTo>
                  <a:pt x="5166637" y="489408"/>
                </a:lnTo>
                <a:lnTo>
                  <a:pt x="5214572" y="526511"/>
                </a:lnTo>
                <a:lnTo>
                  <a:pt x="5256215" y="564480"/>
                </a:lnTo>
                <a:lnTo>
                  <a:pt x="5291379" y="603263"/>
                </a:lnTo>
                <a:lnTo>
                  <a:pt x="5319880" y="642804"/>
                </a:lnTo>
                <a:lnTo>
                  <a:pt x="5341531" y="683048"/>
                </a:lnTo>
                <a:lnTo>
                  <a:pt x="5356149" y="723943"/>
                </a:lnTo>
                <a:lnTo>
                  <a:pt x="5363546" y="765432"/>
                </a:lnTo>
                <a:lnTo>
                  <a:pt x="5364480" y="786383"/>
                </a:lnTo>
                <a:lnTo>
                  <a:pt x="5363546" y="807335"/>
                </a:lnTo>
                <a:lnTo>
                  <a:pt x="5356149" y="848824"/>
                </a:lnTo>
                <a:lnTo>
                  <a:pt x="5341531" y="889719"/>
                </a:lnTo>
                <a:lnTo>
                  <a:pt x="5319880" y="929963"/>
                </a:lnTo>
                <a:lnTo>
                  <a:pt x="5291379" y="969504"/>
                </a:lnTo>
                <a:lnTo>
                  <a:pt x="5256215" y="1008287"/>
                </a:lnTo>
                <a:lnTo>
                  <a:pt x="5214572" y="1046256"/>
                </a:lnTo>
                <a:lnTo>
                  <a:pt x="5166637" y="1083359"/>
                </a:lnTo>
                <a:lnTo>
                  <a:pt x="5112594" y="1119541"/>
                </a:lnTo>
                <a:lnTo>
                  <a:pt x="5052629" y="1154747"/>
                </a:lnTo>
                <a:lnTo>
                  <a:pt x="4986927" y="1188923"/>
                </a:lnTo>
                <a:lnTo>
                  <a:pt x="4951983" y="1205608"/>
                </a:lnTo>
                <a:lnTo>
                  <a:pt x="4915674" y="1222015"/>
                </a:lnTo>
                <a:lnTo>
                  <a:pt x="4878024" y="1238137"/>
                </a:lnTo>
                <a:lnTo>
                  <a:pt x="4839055" y="1253968"/>
                </a:lnTo>
                <a:lnTo>
                  <a:pt x="4798792" y="1269501"/>
                </a:lnTo>
                <a:lnTo>
                  <a:pt x="4757256" y="1284728"/>
                </a:lnTo>
                <a:lnTo>
                  <a:pt x="4714472" y="1299644"/>
                </a:lnTo>
                <a:lnTo>
                  <a:pt x="4670462" y="1314241"/>
                </a:lnTo>
                <a:lnTo>
                  <a:pt x="4625249" y="1328513"/>
                </a:lnTo>
                <a:lnTo>
                  <a:pt x="4578857" y="1342453"/>
                </a:lnTo>
                <a:lnTo>
                  <a:pt x="4531310" y="1356054"/>
                </a:lnTo>
                <a:lnTo>
                  <a:pt x="4482629" y="1369309"/>
                </a:lnTo>
                <a:lnTo>
                  <a:pt x="4432839" y="1382211"/>
                </a:lnTo>
                <a:lnTo>
                  <a:pt x="4381962" y="1394754"/>
                </a:lnTo>
                <a:lnTo>
                  <a:pt x="4330021" y="1406931"/>
                </a:lnTo>
                <a:lnTo>
                  <a:pt x="4277041" y="1418735"/>
                </a:lnTo>
                <a:lnTo>
                  <a:pt x="4223043" y="1430159"/>
                </a:lnTo>
                <a:lnTo>
                  <a:pt x="4168051" y="1441197"/>
                </a:lnTo>
                <a:lnTo>
                  <a:pt x="4112089" y="1451841"/>
                </a:lnTo>
                <a:lnTo>
                  <a:pt x="4055180" y="1462085"/>
                </a:lnTo>
                <a:lnTo>
                  <a:pt x="3997345" y="1471923"/>
                </a:lnTo>
                <a:lnTo>
                  <a:pt x="3938610" y="1481347"/>
                </a:lnTo>
                <a:lnTo>
                  <a:pt x="3878997" y="1490350"/>
                </a:lnTo>
                <a:lnTo>
                  <a:pt x="3818529" y="1498926"/>
                </a:lnTo>
                <a:lnTo>
                  <a:pt x="3757229" y="1507068"/>
                </a:lnTo>
                <a:lnTo>
                  <a:pt x="3695121" y="1514769"/>
                </a:lnTo>
                <a:lnTo>
                  <a:pt x="3632228" y="1522023"/>
                </a:lnTo>
                <a:lnTo>
                  <a:pt x="3568572" y="1528822"/>
                </a:lnTo>
                <a:lnTo>
                  <a:pt x="3504177" y="1535160"/>
                </a:lnTo>
                <a:lnTo>
                  <a:pt x="3439067" y="1541029"/>
                </a:lnTo>
                <a:lnTo>
                  <a:pt x="3373264" y="1546425"/>
                </a:lnTo>
                <a:lnTo>
                  <a:pt x="3306792" y="1551338"/>
                </a:lnTo>
                <a:lnTo>
                  <a:pt x="3239673" y="1555763"/>
                </a:lnTo>
                <a:lnTo>
                  <a:pt x="3171931" y="1559693"/>
                </a:lnTo>
                <a:lnTo>
                  <a:pt x="3103590" y="1563121"/>
                </a:lnTo>
                <a:lnTo>
                  <a:pt x="3034671" y="1566040"/>
                </a:lnTo>
                <a:lnTo>
                  <a:pt x="2965199" y="1568444"/>
                </a:lnTo>
                <a:lnTo>
                  <a:pt x="2895197" y="1570325"/>
                </a:lnTo>
                <a:lnTo>
                  <a:pt x="2824688" y="1571678"/>
                </a:lnTo>
                <a:lnTo>
                  <a:pt x="2753694" y="1572494"/>
                </a:lnTo>
                <a:lnTo>
                  <a:pt x="2682240" y="1572767"/>
                </a:lnTo>
                <a:lnTo>
                  <a:pt x="2610783" y="1572494"/>
                </a:lnTo>
                <a:lnTo>
                  <a:pt x="2539788" y="1571678"/>
                </a:lnTo>
                <a:lnTo>
                  <a:pt x="2469277" y="1570325"/>
                </a:lnTo>
                <a:lnTo>
                  <a:pt x="2399273" y="1568444"/>
                </a:lnTo>
                <a:lnTo>
                  <a:pt x="2329800" y="1566040"/>
                </a:lnTo>
                <a:lnTo>
                  <a:pt x="2260880" y="1563121"/>
                </a:lnTo>
                <a:lnTo>
                  <a:pt x="2192537" y="1559693"/>
                </a:lnTo>
                <a:lnTo>
                  <a:pt x="2124795" y="1555763"/>
                </a:lnTo>
                <a:lnTo>
                  <a:pt x="2057675" y="1551338"/>
                </a:lnTo>
                <a:lnTo>
                  <a:pt x="1991202" y="1546425"/>
                </a:lnTo>
                <a:lnTo>
                  <a:pt x="1925398" y="1541029"/>
                </a:lnTo>
                <a:lnTo>
                  <a:pt x="1860287" y="1535160"/>
                </a:lnTo>
                <a:lnTo>
                  <a:pt x="1795892" y="1528822"/>
                </a:lnTo>
                <a:lnTo>
                  <a:pt x="1732236" y="1522023"/>
                </a:lnTo>
                <a:lnTo>
                  <a:pt x="1669342" y="1514769"/>
                </a:lnTo>
                <a:lnTo>
                  <a:pt x="1607234" y="1507068"/>
                </a:lnTo>
                <a:lnTo>
                  <a:pt x="1545934" y="1498926"/>
                </a:lnTo>
                <a:lnTo>
                  <a:pt x="1485465" y="1490350"/>
                </a:lnTo>
                <a:lnTo>
                  <a:pt x="1425852" y="1481347"/>
                </a:lnTo>
                <a:lnTo>
                  <a:pt x="1367117" y="1471923"/>
                </a:lnTo>
                <a:lnTo>
                  <a:pt x="1309283" y="1462085"/>
                </a:lnTo>
                <a:lnTo>
                  <a:pt x="1252373" y="1451841"/>
                </a:lnTo>
                <a:lnTo>
                  <a:pt x="1196411" y="1441197"/>
                </a:lnTo>
                <a:lnTo>
                  <a:pt x="1141419" y="1430159"/>
                </a:lnTo>
                <a:lnTo>
                  <a:pt x="1087422" y="1418735"/>
                </a:lnTo>
                <a:lnTo>
                  <a:pt x="1034442" y="1406931"/>
                </a:lnTo>
                <a:lnTo>
                  <a:pt x="982502" y="1394754"/>
                </a:lnTo>
                <a:lnTo>
                  <a:pt x="931625" y="1382211"/>
                </a:lnTo>
                <a:lnTo>
                  <a:pt x="881835" y="1369309"/>
                </a:lnTo>
                <a:lnTo>
                  <a:pt x="833155" y="1356054"/>
                </a:lnTo>
                <a:lnTo>
                  <a:pt x="785607" y="1342453"/>
                </a:lnTo>
                <a:lnTo>
                  <a:pt x="739216" y="1328513"/>
                </a:lnTo>
                <a:lnTo>
                  <a:pt x="694004" y="1314241"/>
                </a:lnTo>
                <a:lnTo>
                  <a:pt x="649995" y="1299644"/>
                </a:lnTo>
                <a:lnTo>
                  <a:pt x="607211" y="1284728"/>
                </a:lnTo>
                <a:lnTo>
                  <a:pt x="565676" y="1269501"/>
                </a:lnTo>
                <a:lnTo>
                  <a:pt x="525412" y="1253968"/>
                </a:lnTo>
                <a:lnTo>
                  <a:pt x="486445" y="1238137"/>
                </a:lnTo>
                <a:lnTo>
                  <a:pt x="448795" y="1222015"/>
                </a:lnTo>
                <a:lnTo>
                  <a:pt x="412487" y="1205608"/>
                </a:lnTo>
                <a:lnTo>
                  <a:pt x="377543" y="1188923"/>
                </a:lnTo>
                <a:lnTo>
                  <a:pt x="311843" y="1154747"/>
                </a:lnTo>
                <a:lnTo>
                  <a:pt x="251879" y="1119541"/>
                </a:lnTo>
                <a:lnTo>
                  <a:pt x="197837" y="1083359"/>
                </a:lnTo>
                <a:lnTo>
                  <a:pt x="149903" y="1046256"/>
                </a:lnTo>
                <a:lnTo>
                  <a:pt x="108261" y="1008287"/>
                </a:lnTo>
                <a:lnTo>
                  <a:pt x="73098" y="969504"/>
                </a:lnTo>
                <a:lnTo>
                  <a:pt x="44598" y="929963"/>
                </a:lnTo>
                <a:lnTo>
                  <a:pt x="22947" y="889719"/>
                </a:lnTo>
                <a:lnTo>
                  <a:pt x="8330" y="848824"/>
                </a:lnTo>
                <a:lnTo>
                  <a:pt x="933" y="807335"/>
                </a:lnTo>
                <a:lnTo>
                  <a:pt x="0" y="786383"/>
                </a:lnTo>
                <a:close/>
              </a:path>
            </a:pathLst>
          </a:custGeom>
          <a:ln w="19050">
            <a:solidFill>
              <a:srgbClr val="FF0000"/>
            </a:solidFill>
          </a:ln>
        </p:spPr>
        <p:txBody>
          <a:bodyPr wrap="square" lIns="0" tIns="0" rIns="0" bIns="0" rtlCol="0"/>
          <a:lstStyle/>
          <a:p/>
        </p:txBody>
      </p:sp>
      <p:sp>
        <p:nvSpPr>
          <p:cNvPr id="123" name="object 123"/>
          <p:cNvSpPr/>
          <p:nvPr/>
        </p:nvSpPr>
        <p:spPr>
          <a:xfrm>
            <a:off x="76961" y="4758690"/>
            <a:ext cx="5364480" cy="1574800"/>
          </a:xfrm>
          <a:custGeom>
            <a:avLst/>
            <a:gdLst/>
            <a:ahLst/>
            <a:cxnLst/>
            <a:rect l="l" t="t" r="r" b="b"/>
            <a:pathLst>
              <a:path w="5364480" h="1574800">
                <a:moveTo>
                  <a:pt x="0" y="787146"/>
                </a:moveTo>
                <a:lnTo>
                  <a:pt x="3718" y="745342"/>
                </a:lnTo>
                <a:lnTo>
                  <a:pt x="14748" y="704106"/>
                </a:lnTo>
                <a:lnTo>
                  <a:pt x="32906" y="663493"/>
                </a:lnTo>
                <a:lnTo>
                  <a:pt x="58005" y="623557"/>
                </a:lnTo>
                <a:lnTo>
                  <a:pt x="89861" y="584353"/>
                </a:lnTo>
                <a:lnTo>
                  <a:pt x="128287" y="545934"/>
                </a:lnTo>
                <a:lnTo>
                  <a:pt x="173100" y="508356"/>
                </a:lnTo>
                <a:lnTo>
                  <a:pt x="224112" y="471672"/>
                </a:lnTo>
                <a:lnTo>
                  <a:pt x="281139" y="435937"/>
                </a:lnTo>
                <a:lnTo>
                  <a:pt x="343996" y="401206"/>
                </a:lnTo>
                <a:lnTo>
                  <a:pt x="412496" y="367533"/>
                </a:lnTo>
                <a:lnTo>
                  <a:pt x="448805" y="351110"/>
                </a:lnTo>
                <a:lnTo>
                  <a:pt x="486455" y="334971"/>
                </a:lnTo>
                <a:lnTo>
                  <a:pt x="525424" y="319125"/>
                </a:lnTo>
                <a:lnTo>
                  <a:pt x="565687" y="303577"/>
                </a:lnTo>
                <a:lnTo>
                  <a:pt x="607223" y="288334"/>
                </a:lnTo>
                <a:lnTo>
                  <a:pt x="650007" y="273404"/>
                </a:lnTo>
                <a:lnTo>
                  <a:pt x="694017" y="258792"/>
                </a:lnTo>
                <a:lnTo>
                  <a:pt x="739230" y="244506"/>
                </a:lnTo>
                <a:lnTo>
                  <a:pt x="785622" y="230552"/>
                </a:lnTo>
                <a:lnTo>
                  <a:pt x="833169" y="216938"/>
                </a:lnTo>
                <a:lnTo>
                  <a:pt x="881850" y="203669"/>
                </a:lnTo>
                <a:lnTo>
                  <a:pt x="931640" y="190754"/>
                </a:lnTo>
                <a:lnTo>
                  <a:pt x="982517" y="178198"/>
                </a:lnTo>
                <a:lnTo>
                  <a:pt x="1034458" y="166009"/>
                </a:lnTo>
                <a:lnTo>
                  <a:pt x="1087438" y="154193"/>
                </a:lnTo>
                <a:lnTo>
                  <a:pt x="1141436" y="142757"/>
                </a:lnTo>
                <a:lnTo>
                  <a:pt x="1196428" y="131708"/>
                </a:lnTo>
                <a:lnTo>
                  <a:pt x="1252390" y="121053"/>
                </a:lnTo>
                <a:lnTo>
                  <a:pt x="1309299" y="110798"/>
                </a:lnTo>
                <a:lnTo>
                  <a:pt x="1367134" y="100950"/>
                </a:lnTo>
                <a:lnTo>
                  <a:pt x="1425869" y="91517"/>
                </a:lnTo>
                <a:lnTo>
                  <a:pt x="1485482" y="82504"/>
                </a:lnTo>
                <a:lnTo>
                  <a:pt x="1545950" y="73919"/>
                </a:lnTo>
                <a:lnTo>
                  <a:pt x="1607250" y="65769"/>
                </a:lnTo>
                <a:lnTo>
                  <a:pt x="1669358" y="58059"/>
                </a:lnTo>
                <a:lnTo>
                  <a:pt x="1732251" y="50798"/>
                </a:lnTo>
                <a:lnTo>
                  <a:pt x="1795907" y="43992"/>
                </a:lnTo>
                <a:lnTo>
                  <a:pt x="1860302" y="37647"/>
                </a:lnTo>
                <a:lnTo>
                  <a:pt x="1925412" y="31771"/>
                </a:lnTo>
                <a:lnTo>
                  <a:pt x="1991215" y="26371"/>
                </a:lnTo>
                <a:lnTo>
                  <a:pt x="2057687" y="21452"/>
                </a:lnTo>
                <a:lnTo>
                  <a:pt x="2124806" y="17022"/>
                </a:lnTo>
                <a:lnTo>
                  <a:pt x="2192548" y="13088"/>
                </a:lnTo>
                <a:lnTo>
                  <a:pt x="2260889" y="9656"/>
                </a:lnTo>
                <a:lnTo>
                  <a:pt x="2329808" y="6734"/>
                </a:lnTo>
                <a:lnTo>
                  <a:pt x="2399280" y="4328"/>
                </a:lnTo>
                <a:lnTo>
                  <a:pt x="2469282" y="2444"/>
                </a:lnTo>
                <a:lnTo>
                  <a:pt x="2539791" y="1091"/>
                </a:lnTo>
                <a:lnTo>
                  <a:pt x="2610785" y="273"/>
                </a:lnTo>
                <a:lnTo>
                  <a:pt x="2682240" y="0"/>
                </a:lnTo>
                <a:lnTo>
                  <a:pt x="2753694" y="273"/>
                </a:lnTo>
                <a:lnTo>
                  <a:pt x="2824688" y="1091"/>
                </a:lnTo>
                <a:lnTo>
                  <a:pt x="2895197" y="2444"/>
                </a:lnTo>
                <a:lnTo>
                  <a:pt x="2965199" y="4328"/>
                </a:lnTo>
                <a:lnTo>
                  <a:pt x="3034671" y="6734"/>
                </a:lnTo>
                <a:lnTo>
                  <a:pt x="3103590" y="9656"/>
                </a:lnTo>
                <a:lnTo>
                  <a:pt x="3171931" y="13088"/>
                </a:lnTo>
                <a:lnTo>
                  <a:pt x="3239673" y="17022"/>
                </a:lnTo>
                <a:lnTo>
                  <a:pt x="3306792" y="21452"/>
                </a:lnTo>
                <a:lnTo>
                  <a:pt x="3373264" y="26371"/>
                </a:lnTo>
                <a:lnTo>
                  <a:pt x="3439067" y="31771"/>
                </a:lnTo>
                <a:lnTo>
                  <a:pt x="3504177" y="37647"/>
                </a:lnTo>
                <a:lnTo>
                  <a:pt x="3568572" y="43992"/>
                </a:lnTo>
                <a:lnTo>
                  <a:pt x="3632228" y="50798"/>
                </a:lnTo>
                <a:lnTo>
                  <a:pt x="3695121" y="58059"/>
                </a:lnTo>
                <a:lnTo>
                  <a:pt x="3757229" y="65769"/>
                </a:lnTo>
                <a:lnTo>
                  <a:pt x="3818529" y="73919"/>
                </a:lnTo>
                <a:lnTo>
                  <a:pt x="3878997" y="82504"/>
                </a:lnTo>
                <a:lnTo>
                  <a:pt x="3938610" y="91517"/>
                </a:lnTo>
                <a:lnTo>
                  <a:pt x="3997345" y="100950"/>
                </a:lnTo>
                <a:lnTo>
                  <a:pt x="4055180" y="110798"/>
                </a:lnTo>
                <a:lnTo>
                  <a:pt x="4112089" y="121053"/>
                </a:lnTo>
                <a:lnTo>
                  <a:pt x="4168051" y="131708"/>
                </a:lnTo>
                <a:lnTo>
                  <a:pt x="4223043" y="142757"/>
                </a:lnTo>
                <a:lnTo>
                  <a:pt x="4277041" y="154193"/>
                </a:lnTo>
                <a:lnTo>
                  <a:pt x="4330021" y="166009"/>
                </a:lnTo>
                <a:lnTo>
                  <a:pt x="4381962" y="178198"/>
                </a:lnTo>
                <a:lnTo>
                  <a:pt x="4432839" y="190754"/>
                </a:lnTo>
                <a:lnTo>
                  <a:pt x="4482629" y="203669"/>
                </a:lnTo>
                <a:lnTo>
                  <a:pt x="4531310" y="216938"/>
                </a:lnTo>
                <a:lnTo>
                  <a:pt x="4578857" y="230552"/>
                </a:lnTo>
                <a:lnTo>
                  <a:pt x="4625249" y="244506"/>
                </a:lnTo>
                <a:lnTo>
                  <a:pt x="4670462" y="258792"/>
                </a:lnTo>
                <a:lnTo>
                  <a:pt x="4714472" y="273404"/>
                </a:lnTo>
                <a:lnTo>
                  <a:pt x="4757256" y="288334"/>
                </a:lnTo>
                <a:lnTo>
                  <a:pt x="4798792" y="303577"/>
                </a:lnTo>
                <a:lnTo>
                  <a:pt x="4839055" y="319125"/>
                </a:lnTo>
                <a:lnTo>
                  <a:pt x="4878024" y="334971"/>
                </a:lnTo>
                <a:lnTo>
                  <a:pt x="4915674" y="351110"/>
                </a:lnTo>
                <a:lnTo>
                  <a:pt x="4951983" y="367533"/>
                </a:lnTo>
                <a:lnTo>
                  <a:pt x="4986927" y="384234"/>
                </a:lnTo>
                <a:lnTo>
                  <a:pt x="5052629" y="418443"/>
                </a:lnTo>
                <a:lnTo>
                  <a:pt x="5112594" y="453683"/>
                </a:lnTo>
                <a:lnTo>
                  <a:pt x="5166637" y="489899"/>
                </a:lnTo>
                <a:lnTo>
                  <a:pt x="5214572" y="527036"/>
                </a:lnTo>
                <a:lnTo>
                  <a:pt x="5256215" y="565042"/>
                </a:lnTo>
                <a:lnTo>
                  <a:pt x="5291379" y="603860"/>
                </a:lnTo>
                <a:lnTo>
                  <a:pt x="5319880" y="643437"/>
                </a:lnTo>
                <a:lnTo>
                  <a:pt x="5341531" y="683718"/>
                </a:lnTo>
                <a:lnTo>
                  <a:pt x="5356149" y="724649"/>
                </a:lnTo>
                <a:lnTo>
                  <a:pt x="5363546" y="766176"/>
                </a:lnTo>
                <a:lnTo>
                  <a:pt x="5364480" y="787146"/>
                </a:lnTo>
                <a:lnTo>
                  <a:pt x="5363546" y="808116"/>
                </a:lnTo>
                <a:lnTo>
                  <a:pt x="5356149" y="849643"/>
                </a:lnTo>
                <a:lnTo>
                  <a:pt x="5341531" y="890575"/>
                </a:lnTo>
                <a:lnTo>
                  <a:pt x="5319880" y="930857"/>
                </a:lnTo>
                <a:lnTo>
                  <a:pt x="5291379" y="970435"/>
                </a:lnTo>
                <a:lnTo>
                  <a:pt x="5256215" y="1009254"/>
                </a:lnTo>
                <a:lnTo>
                  <a:pt x="5214572" y="1047260"/>
                </a:lnTo>
                <a:lnTo>
                  <a:pt x="5166637" y="1084398"/>
                </a:lnTo>
                <a:lnTo>
                  <a:pt x="5112594" y="1120614"/>
                </a:lnTo>
                <a:lnTo>
                  <a:pt x="5052629" y="1155854"/>
                </a:lnTo>
                <a:lnTo>
                  <a:pt x="4986927" y="1190063"/>
                </a:lnTo>
                <a:lnTo>
                  <a:pt x="4951983" y="1206764"/>
                </a:lnTo>
                <a:lnTo>
                  <a:pt x="4915674" y="1223187"/>
                </a:lnTo>
                <a:lnTo>
                  <a:pt x="4878024" y="1239325"/>
                </a:lnTo>
                <a:lnTo>
                  <a:pt x="4839055" y="1255171"/>
                </a:lnTo>
                <a:lnTo>
                  <a:pt x="4798792" y="1270719"/>
                </a:lnTo>
                <a:lnTo>
                  <a:pt x="4757256" y="1285962"/>
                </a:lnTo>
                <a:lnTo>
                  <a:pt x="4714472" y="1300893"/>
                </a:lnTo>
                <a:lnTo>
                  <a:pt x="4670462" y="1315504"/>
                </a:lnTo>
                <a:lnTo>
                  <a:pt x="4625249" y="1329790"/>
                </a:lnTo>
                <a:lnTo>
                  <a:pt x="4578858" y="1343744"/>
                </a:lnTo>
                <a:lnTo>
                  <a:pt x="4531310" y="1357358"/>
                </a:lnTo>
                <a:lnTo>
                  <a:pt x="4482629" y="1370626"/>
                </a:lnTo>
                <a:lnTo>
                  <a:pt x="4432839" y="1383541"/>
                </a:lnTo>
                <a:lnTo>
                  <a:pt x="4381962" y="1396097"/>
                </a:lnTo>
                <a:lnTo>
                  <a:pt x="4330021" y="1408286"/>
                </a:lnTo>
                <a:lnTo>
                  <a:pt x="4277041" y="1420102"/>
                </a:lnTo>
                <a:lnTo>
                  <a:pt x="4223043" y="1431537"/>
                </a:lnTo>
                <a:lnTo>
                  <a:pt x="4168051" y="1442586"/>
                </a:lnTo>
                <a:lnTo>
                  <a:pt x="4112089" y="1453241"/>
                </a:lnTo>
                <a:lnTo>
                  <a:pt x="4055180" y="1463496"/>
                </a:lnTo>
                <a:lnTo>
                  <a:pt x="3997345" y="1473343"/>
                </a:lnTo>
                <a:lnTo>
                  <a:pt x="3938610" y="1482777"/>
                </a:lnTo>
                <a:lnTo>
                  <a:pt x="3878997" y="1491789"/>
                </a:lnTo>
                <a:lnTo>
                  <a:pt x="3818529" y="1500374"/>
                </a:lnTo>
                <a:lnTo>
                  <a:pt x="3757229" y="1508524"/>
                </a:lnTo>
                <a:lnTo>
                  <a:pt x="3695121" y="1516233"/>
                </a:lnTo>
                <a:lnTo>
                  <a:pt x="3632228" y="1523494"/>
                </a:lnTo>
                <a:lnTo>
                  <a:pt x="3568572" y="1530300"/>
                </a:lnTo>
                <a:lnTo>
                  <a:pt x="3504177" y="1536645"/>
                </a:lnTo>
                <a:lnTo>
                  <a:pt x="3439067" y="1542521"/>
                </a:lnTo>
                <a:lnTo>
                  <a:pt x="3373264" y="1547921"/>
                </a:lnTo>
                <a:lnTo>
                  <a:pt x="3306792" y="1552840"/>
                </a:lnTo>
                <a:lnTo>
                  <a:pt x="3239673" y="1557269"/>
                </a:lnTo>
                <a:lnTo>
                  <a:pt x="3171931" y="1561203"/>
                </a:lnTo>
                <a:lnTo>
                  <a:pt x="3103590" y="1564635"/>
                </a:lnTo>
                <a:lnTo>
                  <a:pt x="3034671" y="1567557"/>
                </a:lnTo>
                <a:lnTo>
                  <a:pt x="2965199" y="1569963"/>
                </a:lnTo>
                <a:lnTo>
                  <a:pt x="2895197" y="1571847"/>
                </a:lnTo>
                <a:lnTo>
                  <a:pt x="2824688" y="1573200"/>
                </a:lnTo>
                <a:lnTo>
                  <a:pt x="2753694" y="1574018"/>
                </a:lnTo>
                <a:lnTo>
                  <a:pt x="2682240" y="1574292"/>
                </a:lnTo>
                <a:lnTo>
                  <a:pt x="2610785" y="1574018"/>
                </a:lnTo>
                <a:lnTo>
                  <a:pt x="2539791" y="1573200"/>
                </a:lnTo>
                <a:lnTo>
                  <a:pt x="2469282" y="1571847"/>
                </a:lnTo>
                <a:lnTo>
                  <a:pt x="2399280" y="1569963"/>
                </a:lnTo>
                <a:lnTo>
                  <a:pt x="2329808" y="1567557"/>
                </a:lnTo>
                <a:lnTo>
                  <a:pt x="2260889" y="1564635"/>
                </a:lnTo>
                <a:lnTo>
                  <a:pt x="2192548" y="1561203"/>
                </a:lnTo>
                <a:lnTo>
                  <a:pt x="2124806" y="1557269"/>
                </a:lnTo>
                <a:lnTo>
                  <a:pt x="2057687" y="1552840"/>
                </a:lnTo>
                <a:lnTo>
                  <a:pt x="1991215" y="1547921"/>
                </a:lnTo>
                <a:lnTo>
                  <a:pt x="1925412" y="1542521"/>
                </a:lnTo>
                <a:lnTo>
                  <a:pt x="1860302" y="1536645"/>
                </a:lnTo>
                <a:lnTo>
                  <a:pt x="1795907" y="1530300"/>
                </a:lnTo>
                <a:lnTo>
                  <a:pt x="1732251" y="1523494"/>
                </a:lnTo>
                <a:lnTo>
                  <a:pt x="1669358" y="1516233"/>
                </a:lnTo>
                <a:lnTo>
                  <a:pt x="1607250" y="1508524"/>
                </a:lnTo>
                <a:lnTo>
                  <a:pt x="1545950" y="1500374"/>
                </a:lnTo>
                <a:lnTo>
                  <a:pt x="1485482" y="1491789"/>
                </a:lnTo>
                <a:lnTo>
                  <a:pt x="1425869" y="1482777"/>
                </a:lnTo>
                <a:lnTo>
                  <a:pt x="1367134" y="1473343"/>
                </a:lnTo>
                <a:lnTo>
                  <a:pt x="1309299" y="1463496"/>
                </a:lnTo>
                <a:lnTo>
                  <a:pt x="1252390" y="1453241"/>
                </a:lnTo>
                <a:lnTo>
                  <a:pt x="1196428" y="1442586"/>
                </a:lnTo>
                <a:lnTo>
                  <a:pt x="1141436" y="1431537"/>
                </a:lnTo>
                <a:lnTo>
                  <a:pt x="1087438" y="1420102"/>
                </a:lnTo>
                <a:lnTo>
                  <a:pt x="1034458" y="1408286"/>
                </a:lnTo>
                <a:lnTo>
                  <a:pt x="982517" y="1396097"/>
                </a:lnTo>
                <a:lnTo>
                  <a:pt x="931640" y="1383541"/>
                </a:lnTo>
                <a:lnTo>
                  <a:pt x="881850" y="1370626"/>
                </a:lnTo>
                <a:lnTo>
                  <a:pt x="833169" y="1357358"/>
                </a:lnTo>
                <a:lnTo>
                  <a:pt x="785622" y="1343744"/>
                </a:lnTo>
                <a:lnTo>
                  <a:pt x="739230" y="1329790"/>
                </a:lnTo>
                <a:lnTo>
                  <a:pt x="694017" y="1315504"/>
                </a:lnTo>
                <a:lnTo>
                  <a:pt x="650007" y="1300893"/>
                </a:lnTo>
                <a:lnTo>
                  <a:pt x="607223" y="1285962"/>
                </a:lnTo>
                <a:lnTo>
                  <a:pt x="565687" y="1270719"/>
                </a:lnTo>
                <a:lnTo>
                  <a:pt x="525424" y="1255171"/>
                </a:lnTo>
                <a:lnTo>
                  <a:pt x="486455" y="1239325"/>
                </a:lnTo>
                <a:lnTo>
                  <a:pt x="448805" y="1223187"/>
                </a:lnTo>
                <a:lnTo>
                  <a:pt x="412496" y="1206764"/>
                </a:lnTo>
                <a:lnTo>
                  <a:pt x="377552" y="1190063"/>
                </a:lnTo>
                <a:lnTo>
                  <a:pt x="311850" y="1155854"/>
                </a:lnTo>
                <a:lnTo>
                  <a:pt x="251885" y="1120614"/>
                </a:lnTo>
                <a:lnTo>
                  <a:pt x="197842" y="1084398"/>
                </a:lnTo>
                <a:lnTo>
                  <a:pt x="149907" y="1047260"/>
                </a:lnTo>
                <a:lnTo>
                  <a:pt x="108264" y="1009254"/>
                </a:lnTo>
                <a:lnTo>
                  <a:pt x="73100" y="970435"/>
                </a:lnTo>
                <a:lnTo>
                  <a:pt x="44599" y="930857"/>
                </a:lnTo>
                <a:lnTo>
                  <a:pt x="22948" y="890575"/>
                </a:lnTo>
                <a:lnTo>
                  <a:pt x="8330" y="849643"/>
                </a:lnTo>
                <a:lnTo>
                  <a:pt x="933" y="808116"/>
                </a:lnTo>
                <a:lnTo>
                  <a:pt x="0" y="787146"/>
                </a:lnTo>
                <a:close/>
              </a:path>
            </a:pathLst>
          </a:custGeom>
          <a:ln w="19050">
            <a:solidFill>
              <a:srgbClr val="FF0000"/>
            </a:solidFill>
          </a:ln>
        </p:spPr>
        <p:txBody>
          <a:bodyPr wrap="square" lIns="0" tIns="0" rIns="0" bIns="0" rtlCol="0"/>
          <a:lstStyle/>
          <a:p/>
        </p:txBody>
      </p:sp>
      <p:sp>
        <p:nvSpPr>
          <p:cNvPr id="124" name="object 124"/>
          <p:cNvSpPr/>
          <p:nvPr/>
        </p:nvSpPr>
        <p:spPr>
          <a:xfrm>
            <a:off x="3757421" y="1212341"/>
            <a:ext cx="2125980" cy="1574800"/>
          </a:xfrm>
          <a:custGeom>
            <a:avLst/>
            <a:gdLst/>
            <a:ahLst/>
            <a:cxnLst/>
            <a:rect l="l" t="t" r="r" b="b"/>
            <a:pathLst>
              <a:path w="2125979" h="1574800">
                <a:moveTo>
                  <a:pt x="0" y="787146"/>
                </a:moveTo>
                <a:lnTo>
                  <a:pt x="1383" y="746640"/>
                </a:lnTo>
                <a:lnTo>
                  <a:pt x="5487" y="706666"/>
                </a:lnTo>
                <a:lnTo>
                  <a:pt x="12246" y="667273"/>
                </a:lnTo>
                <a:lnTo>
                  <a:pt x="21594" y="628510"/>
                </a:lnTo>
                <a:lnTo>
                  <a:pt x="33462" y="590428"/>
                </a:lnTo>
                <a:lnTo>
                  <a:pt x="47785" y="553075"/>
                </a:lnTo>
                <a:lnTo>
                  <a:pt x="64496" y="516501"/>
                </a:lnTo>
                <a:lnTo>
                  <a:pt x="83528" y="480756"/>
                </a:lnTo>
                <a:lnTo>
                  <a:pt x="104814" y="445889"/>
                </a:lnTo>
                <a:lnTo>
                  <a:pt x="128287" y="411948"/>
                </a:lnTo>
                <a:lnTo>
                  <a:pt x="153881" y="378985"/>
                </a:lnTo>
                <a:lnTo>
                  <a:pt x="181529" y="347048"/>
                </a:lnTo>
                <a:lnTo>
                  <a:pt x="211164" y="316187"/>
                </a:lnTo>
                <a:lnTo>
                  <a:pt x="242719" y="286451"/>
                </a:lnTo>
                <a:lnTo>
                  <a:pt x="276128" y="257889"/>
                </a:lnTo>
                <a:lnTo>
                  <a:pt x="311324" y="230552"/>
                </a:lnTo>
                <a:lnTo>
                  <a:pt x="348240" y="204488"/>
                </a:lnTo>
                <a:lnTo>
                  <a:pt x="386809" y="179748"/>
                </a:lnTo>
                <a:lnTo>
                  <a:pt x="426965" y="156380"/>
                </a:lnTo>
                <a:lnTo>
                  <a:pt x="468641" y="134434"/>
                </a:lnTo>
                <a:lnTo>
                  <a:pt x="511769" y="113959"/>
                </a:lnTo>
                <a:lnTo>
                  <a:pt x="556284" y="95005"/>
                </a:lnTo>
                <a:lnTo>
                  <a:pt x="602119" y="77622"/>
                </a:lnTo>
                <a:lnTo>
                  <a:pt x="649206" y="61858"/>
                </a:lnTo>
                <a:lnTo>
                  <a:pt x="697479" y="47764"/>
                </a:lnTo>
                <a:lnTo>
                  <a:pt x="746871" y="35389"/>
                </a:lnTo>
                <a:lnTo>
                  <a:pt x="797316" y="24781"/>
                </a:lnTo>
                <a:lnTo>
                  <a:pt x="848746" y="15992"/>
                </a:lnTo>
                <a:lnTo>
                  <a:pt x="901096" y="9069"/>
                </a:lnTo>
                <a:lnTo>
                  <a:pt x="954297" y="4064"/>
                </a:lnTo>
                <a:lnTo>
                  <a:pt x="1008284" y="1024"/>
                </a:lnTo>
                <a:lnTo>
                  <a:pt x="1062989" y="0"/>
                </a:lnTo>
                <a:lnTo>
                  <a:pt x="1117695" y="1024"/>
                </a:lnTo>
                <a:lnTo>
                  <a:pt x="1171682" y="4064"/>
                </a:lnTo>
                <a:lnTo>
                  <a:pt x="1224883" y="9069"/>
                </a:lnTo>
                <a:lnTo>
                  <a:pt x="1277233" y="15992"/>
                </a:lnTo>
                <a:lnTo>
                  <a:pt x="1328663" y="24781"/>
                </a:lnTo>
                <a:lnTo>
                  <a:pt x="1379108" y="35389"/>
                </a:lnTo>
                <a:lnTo>
                  <a:pt x="1428500" y="47764"/>
                </a:lnTo>
                <a:lnTo>
                  <a:pt x="1476773" y="61858"/>
                </a:lnTo>
                <a:lnTo>
                  <a:pt x="1523860" y="77622"/>
                </a:lnTo>
                <a:lnTo>
                  <a:pt x="1569695" y="95005"/>
                </a:lnTo>
                <a:lnTo>
                  <a:pt x="1614210" y="113959"/>
                </a:lnTo>
                <a:lnTo>
                  <a:pt x="1657338" y="134434"/>
                </a:lnTo>
                <a:lnTo>
                  <a:pt x="1699014" y="156380"/>
                </a:lnTo>
                <a:lnTo>
                  <a:pt x="1739170" y="179748"/>
                </a:lnTo>
                <a:lnTo>
                  <a:pt x="1777739" y="204488"/>
                </a:lnTo>
                <a:lnTo>
                  <a:pt x="1814655" y="230552"/>
                </a:lnTo>
                <a:lnTo>
                  <a:pt x="1849851" y="257889"/>
                </a:lnTo>
                <a:lnTo>
                  <a:pt x="1883260" y="286451"/>
                </a:lnTo>
                <a:lnTo>
                  <a:pt x="1914815" y="316187"/>
                </a:lnTo>
                <a:lnTo>
                  <a:pt x="1944450" y="347048"/>
                </a:lnTo>
                <a:lnTo>
                  <a:pt x="1972098" y="378985"/>
                </a:lnTo>
                <a:lnTo>
                  <a:pt x="1997692" y="411948"/>
                </a:lnTo>
                <a:lnTo>
                  <a:pt x="2021165" y="445889"/>
                </a:lnTo>
                <a:lnTo>
                  <a:pt x="2042451" y="480756"/>
                </a:lnTo>
                <a:lnTo>
                  <a:pt x="2061483" y="516501"/>
                </a:lnTo>
                <a:lnTo>
                  <a:pt x="2078194" y="553075"/>
                </a:lnTo>
                <a:lnTo>
                  <a:pt x="2092517" y="590428"/>
                </a:lnTo>
                <a:lnTo>
                  <a:pt x="2104385" y="628510"/>
                </a:lnTo>
                <a:lnTo>
                  <a:pt x="2113733" y="667273"/>
                </a:lnTo>
                <a:lnTo>
                  <a:pt x="2120492" y="706666"/>
                </a:lnTo>
                <a:lnTo>
                  <a:pt x="2124596" y="746640"/>
                </a:lnTo>
                <a:lnTo>
                  <a:pt x="2125979" y="787146"/>
                </a:lnTo>
                <a:lnTo>
                  <a:pt x="2124596" y="827651"/>
                </a:lnTo>
                <a:lnTo>
                  <a:pt x="2120492" y="867625"/>
                </a:lnTo>
                <a:lnTo>
                  <a:pt x="2113733" y="907018"/>
                </a:lnTo>
                <a:lnTo>
                  <a:pt x="2104385" y="945781"/>
                </a:lnTo>
                <a:lnTo>
                  <a:pt x="2092517" y="983863"/>
                </a:lnTo>
                <a:lnTo>
                  <a:pt x="2078194" y="1021216"/>
                </a:lnTo>
                <a:lnTo>
                  <a:pt x="2061483" y="1057790"/>
                </a:lnTo>
                <a:lnTo>
                  <a:pt x="2042451" y="1093535"/>
                </a:lnTo>
                <a:lnTo>
                  <a:pt x="2021165" y="1128402"/>
                </a:lnTo>
                <a:lnTo>
                  <a:pt x="1997692" y="1162343"/>
                </a:lnTo>
                <a:lnTo>
                  <a:pt x="1972098" y="1195306"/>
                </a:lnTo>
                <a:lnTo>
                  <a:pt x="1944450" y="1227243"/>
                </a:lnTo>
                <a:lnTo>
                  <a:pt x="1914815" y="1258104"/>
                </a:lnTo>
                <a:lnTo>
                  <a:pt x="1883260" y="1287840"/>
                </a:lnTo>
                <a:lnTo>
                  <a:pt x="1849851" y="1316402"/>
                </a:lnTo>
                <a:lnTo>
                  <a:pt x="1814655" y="1343739"/>
                </a:lnTo>
                <a:lnTo>
                  <a:pt x="1777739" y="1369803"/>
                </a:lnTo>
                <a:lnTo>
                  <a:pt x="1739170" y="1394543"/>
                </a:lnTo>
                <a:lnTo>
                  <a:pt x="1699014" y="1417911"/>
                </a:lnTo>
                <a:lnTo>
                  <a:pt x="1657338" y="1439857"/>
                </a:lnTo>
                <a:lnTo>
                  <a:pt x="1614210" y="1460332"/>
                </a:lnTo>
                <a:lnTo>
                  <a:pt x="1569695" y="1479286"/>
                </a:lnTo>
                <a:lnTo>
                  <a:pt x="1523860" y="1496669"/>
                </a:lnTo>
                <a:lnTo>
                  <a:pt x="1476773" y="1512433"/>
                </a:lnTo>
                <a:lnTo>
                  <a:pt x="1428500" y="1526527"/>
                </a:lnTo>
                <a:lnTo>
                  <a:pt x="1379108" y="1538902"/>
                </a:lnTo>
                <a:lnTo>
                  <a:pt x="1328663" y="1549510"/>
                </a:lnTo>
                <a:lnTo>
                  <a:pt x="1277233" y="1558299"/>
                </a:lnTo>
                <a:lnTo>
                  <a:pt x="1224883" y="1565222"/>
                </a:lnTo>
                <a:lnTo>
                  <a:pt x="1171682" y="1570227"/>
                </a:lnTo>
                <a:lnTo>
                  <a:pt x="1117695" y="1573267"/>
                </a:lnTo>
                <a:lnTo>
                  <a:pt x="1062989" y="1574292"/>
                </a:lnTo>
                <a:lnTo>
                  <a:pt x="1008284" y="1573267"/>
                </a:lnTo>
                <a:lnTo>
                  <a:pt x="954297" y="1570227"/>
                </a:lnTo>
                <a:lnTo>
                  <a:pt x="901096" y="1565222"/>
                </a:lnTo>
                <a:lnTo>
                  <a:pt x="848746" y="1558299"/>
                </a:lnTo>
                <a:lnTo>
                  <a:pt x="797316" y="1549510"/>
                </a:lnTo>
                <a:lnTo>
                  <a:pt x="746871" y="1538902"/>
                </a:lnTo>
                <a:lnTo>
                  <a:pt x="697479" y="1526527"/>
                </a:lnTo>
                <a:lnTo>
                  <a:pt x="649206" y="1512433"/>
                </a:lnTo>
                <a:lnTo>
                  <a:pt x="602119" y="1496669"/>
                </a:lnTo>
                <a:lnTo>
                  <a:pt x="556284" y="1479286"/>
                </a:lnTo>
                <a:lnTo>
                  <a:pt x="511769" y="1460332"/>
                </a:lnTo>
                <a:lnTo>
                  <a:pt x="468641" y="1439857"/>
                </a:lnTo>
                <a:lnTo>
                  <a:pt x="426965" y="1417911"/>
                </a:lnTo>
                <a:lnTo>
                  <a:pt x="386809" y="1394543"/>
                </a:lnTo>
                <a:lnTo>
                  <a:pt x="348240" y="1369803"/>
                </a:lnTo>
                <a:lnTo>
                  <a:pt x="311324" y="1343739"/>
                </a:lnTo>
                <a:lnTo>
                  <a:pt x="276128" y="1316402"/>
                </a:lnTo>
                <a:lnTo>
                  <a:pt x="242719" y="1287840"/>
                </a:lnTo>
                <a:lnTo>
                  <a:pt x="211164" y="1258104"/>
                </a:lnTo>
                <a:lnTo>
                  <a:pt x="181529" y="1227243"/>
                </a:lnTo>
                <a:lnTo>
                  <a:pt x="153881" y="1195306"/>
                </a:lnTo>
                <a:lnTo>
                  <a:pt x="128287" y="1162343"/>
                </a:lnTo>
                <a:lnTo>
                  <a:pt x="104814" y="1128402"/>
                </a:lnTo>
                <a:lnTo>
                  <a:pt x="83528" y="1093535"/>
                </a:lnTo>
                <a:lnTo>
                  <a:pt x="64496" y="1057790"/>
                </a:lnTo>
                <a:lnTo>
                  <a:pt x="47785" y="1021216"/>
                </a:lnTo>
                <a:lnTo>
                  <a:pt x="33462" y="983863"/>
                </a:lnTo>
                <a:lnTo>
                  <a:pt x="21594" y="945781"/>
                </a:lnTo>
                <a:lnTo>
                  <a:pt x="12246" y="907018"/>
                </a:lnTo>
                <a:lnTo>
                  <a:pt x="5487" y="867625"/>
                </a:lnTo>
                <a:lnTo>
                  <a:pt x="1383" y="827651"/>
                </a:lnTo>
                <a:lnTo>
                  <a:pt x="0" y="787146"/>
                </a:lnTo>
                <a:close/>
              </a:path>
            </a:pathLst>
          </a:custGeom>
          <a:ln w="19050">
            <a:solidFill>
              <a:srgbClr val="FF0000"/>
            </a:solidFill>
          </a:ln>
        </p:spPr>
        <p:txBody>
          <a:bodyPr wrap="square" lIns="0" tIns="0" rIns="0" bIns="0" rtlCol="0"/>
          <a:lstStyle/>
          <a:p/>
        </p:txBody>
      </p:sp>
      <p:sp>
        <p:nvSpPr>
          <p:cNvPr id="125" name="object 125"/>
          <p:cNvSpPr/>
          <p:nvPr/>
        </p:nvSpPr>
        <p:spPr>
          <a:xfrm>
            <a:off x="5795009" y="2786633"/>
            <a:ext cx="3274060" cy="3282950"/>
          </a:xfrm>
          <a:custGeom>
            <a:avLst/>
            <a:gdLst/>
            <a:ahLst/>
            <a:cxnLst/>
            <a:rect l="l" t="t" r="r" b="b"/>
            <a:pathLst>
              <a:path w="3274059" h="3282950">
                <a:moveTo>
                  <a:pt x="0" y="1641347"/>
                </a:moveTo>
                <a:lnTo>
                  <a:pt x="697" y="1592951"/>
                </a:lnTo>
                <a:lnTo>
                  <a:pt x="2778" y="1544902"/>
                </a:lnTo>
                <a:lnTo>
                  <a:pt x="6222" y="1497221"/>
                </a:lnTo>
                <a:lnTo>
                  <a:pt x="11011" y="1449925"/>
                </a:lnTo>
                <a:lnTo>
                  <a:pt x="17125" y="1403035"/>
                </a:lnTo>
                <a:lnTo>
                  <a:pt x="24545" y="1356570"/>
                </a:lnTo>
                <a:lnTo>
                  <a:pt x="33252" y="1310549"/>
                </a:lnTo>
                <a:lnTo>
                  <a:pt x="43227" y="1264991"/>
                </a:lnTo>
                <a:lnTo>
                  <a:pt x="54450" y="1219915"/>
                </a:lnTo>
                <a:lnTo>
                  <a:pt x="66903" y="1175341"/>
                </a:lnTo>
                <a:lnTo>
                  <a:pt x="80565" y="1131288"/>
                </a:lnTo>
                <a:lnTo>
                  <a:pt x="95419" y="1087775"/>
                </a:lnTo>
                <a:lnTo>
                  <a:pt x="111445" y="1044821"/>
                </a:lnTo>
                <a:lnTo>
                  <a:pt x="128623" y="1002446"/>
                </a:lnTo>
                <a:lnTo>
                  <a:pt x="146934" y="960669"/>
                </a:lnTo>
                <a:lnTo>
                  <a:pt x="166360" y="919509"/>
                </a:lnTo>
                <a:lnTo>
                  <a:pt x="186881" y="878985"/>
                </a:lnTo>
                <a:lnTo>
                  <a:pt x="208477" y="839117"/>
                </a:lnTo>
                <a:lnTo>
                  <a:pt x="231130" y="799924"/>
                </a:lnTo>
                <a:lnTo>
                  <a:pt x="254821" y="761425"/>
                </a:lnTo>
                <a:lnTo>
                  <a:pt x="279530" y="723639"/>
                </a:lnTo>
                <a:lnTo>
                  <a:pt x="305238" y="686586"/>
                </a:lnTo>
                <a:lnTo>
                  <a:pt x="331926" y="650284"/>
                </a:lnTo>
                <a:lnTo>
                  <a:pt x="359575" y="614754"/>
                </a:lnTo>
                <a:lnTo>
                  <a:pt x="388165" y="580013"/>
                </a:lnTo>
                <a:lnTo>
                  <a:pt x="417677" y="546082"/>
                </a:lnTo>
                <a:lnTo>
                  <a:pt x="448093" y="512980"/>
                </a:lnTo>
                <a:lnTo>
                  <a:pt x="479393" y="480726"/>
                </a:lnTo>
                <a:lnTo>
                  <a:pt x="511557" y="449339"/>
                </a:lnTo>
                <a:lnTo>
                  <a:pt x="544567" y="418839"/>
                </a:lnTo>
                <a:lnTo>
                  <a:pt x="578404" y="389244"/>
                </a:lnTo>
                <a:lnTo>
                  <a:pt x="613047" y="360574"/>
                </a:lnTo>
                <a:lnTo>
                  <a:pt x="648479" y="332849"/>
                </a:lnTo>
                <a:lnTo>
                  <a:pt x="684680" y="306086"/>
                </a:lnTo>
                <a:lnTo>
                  <a:pt x="721630" y="280307"/>
                </a:lnTo>
                <a:lnTo>
                  <a:pt x="759311" y="255529"/>
                </a:lnTo>
                <a:lnTo>
                  <a:pt x="797703" y="231773"/>
                </a:lnTo>
                <a:lnTo>
                  <a:pt x="836787" y="209056"/>
                </a:lnTo>
                <a:lnTo>
                  <a:pt x="876544" y="187400"/>
                </a:lnTo>
                <a:lnTo>
                  <a:pt x="916954" y="166822"/>
                </a:lnTo>
                <a:lnTo>
                  <a:pt x="958000" y="147342"/>
                </a:lnTo>
                <a:lnTo>
                  <a:pt x="999660" y="128980"/>
                </a:lnTo>
                <a:lnTo>
                  <a:pt x="1041917" y="111754"/>
                </a:lnTo>
                <a:lnTo>
                  <a:pt x="1084751" y="95684"/>
                </a:lnTo>
                <a:lnTo>
                  <a:pt x="1128142" y="80789"/>
                </a:lnTo>
                <a:lnTo>
                  <a:pt x="1172072" y="67088"/>
                </a:lnTo>
                <a:lnTo>
                  <a:pt x="1216522" y="54601"/>
                </a:lnTo>
                <a:lnTo>
                  <a:pt x="1261472" y="43347"/>
                </a:lnTo>
                <a:lnTo>
                  <a:pt x="1306902" y="33344"/>
                </a:lnTo>
                <a:lnTo>
                  <a:pt x="1352795" y="24613"/>
                </a:lnTo>
                <a:lnTo>
                  <a:pt x="1399130" y="17173"/>
                </a:lnTo>
                <a:lnTo>
                  <a:pt x="1445889" y="11042"/>
                </a:lnTo>
                <a:lnTo>
                  <a:pt x="1493052" y="6240"/>
                </a:lnTo>
                <a:lnTo>
                  <a:pt x="1540601" y="2786"/>
                </a:lnTo>
                <a:lnTo>
                  <a:pt x="1588515" y="699"/>
                </a:lnTo>
                <a:lnTo>
                  <a:pt x="1636775" y="0"/>
                </a:lnTo>
                <a:lnTo>
                  <a:pt x="1685036" y="699"/>
                </a:lnTo>
                <a:lnTo>
                  <a:pt x="1732950" y="2786"/>
                </a:lnTo>
                <a:lnTo>
                  <a:pt x="1780499" y="6240"/>
                </a:lnTo>
                <a:lnTo>
                  <a:pt x="1827662" y="11042"/>
                </a:lnTo>
                <a:lnTo>
                  <a:pt x="1874421" y="17173"/>
                </a:lnTo>
                <a:lnTo>
                  <a:pt x="1920756" y="24613"/>
                </a:lnTo>
                <a:lnTo>
                  <a:pt x="1966649" y="33344"/>
                </a:lnTo>
                <a:lnTo>
                  <a:pt x="2012079" y="43347"/>
                </a:lnTo>
                <a:lnTo>
                  <a:pt x="2057029" y="54601"/>
                </a:lnTo>
                <a:lnTo>
                  <a:pt x="2101479" y="67088"/>
                </a:lnTo>
                <a:lnTo>
                  <a:pt x="2145409" y="80789"/>
                </a:lnTo>
                <a:lnTo>
                  <a:pt x="2188800" y="95684"/>
                </a:lnTo>
                <a:lnTo>
                  <a:pt x="2231634" y="111754"/>
                </a:lnTo>
                <a:lnTo>
                  <a:pt x="2273891" y="128980"/>
                </a:lnTo>
                <a:lnTo>
                  <a:pt x="2315551" y="147342"/>
                </a:lnTo>
                <a:lnTo>
                  <a:pt x="2356597" y="166822"/>
                </a:lnTo>
                <a:lnTo>
                  <a:pt x="2397007" y="187400"/>
                </a:lnTo>
                <a:lnTo>
                  <a:pt x="2436764" y="209056"/>
                </a:lnTo>
                <a:lnTo>
                  <a:pt x="2475848" y="231773"/>
                </a:lnTo>
                <a:lnTo>
                  <a:pt x="2514240" y="255529"/>
                </a:lnTo>
                <a:lnTo>
                  <a:pt x="2551921" y="280307"/>
                </a:lnTo>
                <a:lnTo>
                  <a:pt x="2588871" y="306086"/>
                </a:lnTo>
                <a:lnTo>
                  <a:pt x="2625072" y="332849"/>
                </a:lnTo>
                <a:lnTo>
                  <a:pt x="2660504" y="360574"/>
                </a:lnTo>
                <a:lnTo>
                  <a:pt x="2695147" y="389244"/>
                </a:lnTo>
                <a:lnTo>
                  <a:pt x="2728984" y="418839"/>
                </a:lnTo>
                <a:lnTo>
                  <a:pt x="2761994" y="449339"/>
                </a:lnTo>
                <a:lnTo>
                  <a:pt x="2794158" y="480726"/>
                </a:lnTo>
                <a:lnTo>
                  <a:pt x="2825458" y="512980"/>
                </a:lnTo>
                <a:lnTo>
                  <a:pt x="2855874" y="546082"/>
                </a:lnTo>
                <a:lnTo>
                  <a:pt x="2885386" y="580013"/>
                </a:lnTo>
                <a:lnTo>
                  <a:pt x="2913976" y="614754"/>
                </a:lnTo>
                <a:lnTo>
                  <a:pt x="2941625" y="650284"/>
                </a:lnTo>
                <a:lnTo>
                  <a:pt x="2968313" y="686586"/>
                </a:lnTo>
                <a:lnTo>
                  <a:pt x="2994021" y="723639"/>
                </a:lnTo>
                <a:lnTo>
                  <a:pt x="3018730" y="761425"/>
                </a:lnTo>
                <a:lnTo>
                  <a:pt x="3042421" y="799924"/>
                </a:lnTo>
                <a:lnTo>
                  <a:pt x="3065074" y="839117"/>
                </a:lnTo>
                <a:lnTo>
                  <a:pt x="3086670" y="878985"/>
                </a:lnTo>
                <a:lnTo>
                  <a:pt x="3107191" y="919509"/>
                </a:lnTo>
                <a:lnTo>
                  <a:pt x="3126617" y="960669"/>
                </a:lnTo>
                <a:lnTo>
                  <a:pt x="3144928" y="1002446"/>
                </a:lnTo>
                <a:lnTo>
                  <a:pt x="3162106" y="1044821"/>
                </a:lnTo>
                <a:lnTo>
                  <a:pt x="3178132" y="1087775"/>
                </a:lnTo>
                <a:lnTo>
                  <a:pt x="3192986" y="1131288"/>
                </a:lnTo>
                <a:lnTo>
                  <a:pt x="3206648" y="1175341"/>
                </a:lnTo>
                <a:lnTo>
                  <a:pt x="3219101" y="1219915"/>
                </a:lnTo>
                <a:lnTo>
                  <a:pt x="3230324" y="1264991"/>
                </a:lnTo>
                <a:lnTo>
                  <a:pt x="3240299" y="1310549"/>
                </a:lnTo>
                <a:lnTo>
                  <a:pt x="3249006" y="1356570"/>
                </a:lnTo>
                <a:lnTo>
                  <a:pt x="3256426" y="1403035"/>
                </a:lnTo>
                <a:lnTo>
                  <a:pt x="3262540" y="1449925"/>
                </a:lnTo>
                <a:lnTo>
                  <a:pt x="3267329" y="1497221"/>
                </a:lnTo>
                <a:lnTo>
                  <a:pt x="3270773" y="1544902"/>
                </a:lnTo>
                <a:lnTo>
                  <a:pt x="3272854" y="1592951"/>
                </a:lnTo>
                <a:lnTo>
                  <a:pt x="3273551" y="1641347"/>
                </a:lnTo>
                <a:lnTo>
                  <a:pt x="3272854" y="1689744"/>
                </a:lnTo>
                <a:lnTo>
                  <a:pt x="3270773" y="1737793"/>
                </a:lnTo>
                <a:lnTo>
                  <a:pt x="3267329" y="1785474"/>
                </a:lnTo>
                <a:lnTo>
                  <a:pt x="3262540" y="1832770"/>
                </a:lnTo>
                <a:lnTo>
                  <a:pt x="3256426" y="1879660"/>
                </a:lnTo>
                <a:lnTo>
                  <a:pt x="3249006" y="1926125"/>
                </a:lnTo>
                <a:lnTo>
                  <a:pt x="3240299" y="1972146"/>
                </a:lnTo>
                <a:lnTo>
                  <a:pt x="3230324" y="2017704"/>
                </a:lnTo>
                <a:lnTo>
                  <a:pt x="3219101" y="2062780"/>
                </a:lnTo>
                <a:lnTo>
                  <a:pt x="3206648" y="2107354"/>
                </a:lnTo>
                <a:lnTo>
                  <a:pt x="3192986" y="2151407"/>
                </a:lnTo>
                <a:lnTo>
                  <a:pt x="3178132" y="2194920"/>
                </a:lnTo>
                <a:lnTo>
                  <a:pt x="3162106" y="2237874"/>
                </a:lnTo>
                <a:lnTo>
                  <a:pt x="3144928" y="2280249"/>
                </a:lnTo>
                <a:lnTo>
                  <a:pt x="3126617" y="2322026"/>
                </a:lnTo>
                <a:lnTo>
                  <a:pt x="3107191" y="2363186"/>
                </a:lnTo>
                <a:lnTo>
                  <a:pt x="3086670" y="2403710"/>
                </a:lnTo>
                <a:lnTo>
                  <a:pt x="3065074" y="2443578"/>
                </a:lnTo>
                <a:lnTo>
                  <a:pt x="3042421" y="2482771"/>
                </a:lnTo>
                <a:lnTo>
                  <a:pt x="3018730" y="2521270"/>
                </a:lnTo>
                <a:lnTo>
                  <a:pt x="2994021" y="2559056"/>
                </a:lnTo>
                <a:lnTo>
                  <a:pt x="2968313" y="2596109"/>
                </a:lnTo>
                <a:lnTo>
                  <a:pt x="2941625" y="2632411"/>
                </a:lnTo>
                <a:lnTo>
                  <a:pt x="2913976" y="2667941"/>
                </a:lnTo>
                <a:lnTo>
                  <a:pt x="2885386" y="2702682"/>
                </a:lnTo>
                <a:lnTo>
                  <a:pt x="2855874" y="2736613"/>
                </a:lnTo>
                <a:lnTo>
                  <a:pt x="2825458" y="2769715"/>
                </a:lnTo>
                <a:lnTo>
                  <a:pt x="2794158" y="2801969"/>
                </a:lnTo>
                <a:lnTo>
                  <a:pt x="2761994" y="2833356"/>
                </a:lnTo>
                <a:lnTo>
                  <a:pt x="2728984" y="2863856"/>
                </a:lnTo>
                <a:lnTo>
                  <a:pt x="2695147" y="2893451"/>
                </a:lnTo>
                <a:lnTo>
                  <a:pt x="2660504" y="2922121"/>
                </a:lnTo>
                <a:lnTo>
                  <a:pt x="2625072" y="2949846"/>
                </a:lnTo>
                <a:lnTo>
                  <a:pt x="2588871" y="2976609"/>
                </a:lnTo>
                <a:lnTo>
                  <a:pt x="2551921" y="3002388"/>
                </a:lnTo>
                <a:lnTo>
                  <a:pt x="2514240" y="3027166"/>
                </a:lnTo>
                <a:lnTo>
                  <a:pt x="2475848" y="3050922"/>
                </a:lnTo>
                <a:lnTo>
                  <a:pt x="2436764" y="3073639"/>
                </a:lnTo>
                <a:lnTo>
                  <a:pt x="2397007" y="3095295"/>
                </a:lnTo>
                <a:lnTo>
                  <a:pt x="2356597" y="3115873"/>
                </a:lnTo>
                <a:lnTo>
                  <a:pt x="2315551" y="3135353"/>
                </a:lnTo>
                <a:lnTo>
                  <a:pt x="2273891" y="3153715"/>
                </a:lnTo>
                <a:lnTo>
                  <a:pt x="2231634" y="3170941"/>
                </a:lnTo>
                <a:lnTo>
                  <a:pt x="2188800" y="3187011"/>
                </a:lnTo>
                <a:lnTo>
                  <a:pt x="2145409" y="3201906"/>
                </a:lnTo>
                <a:lnTo>
                  <a:pt x="2101479" y="3215607"/>
                </a:lnTo>
                <a:lnTo>
                  <a:pt x="2057029" y="3228094"/>
                </a:lnTo>
                <a:lnTo>
                  <a:pt x="2012079" y="3239348"/>
                </a:lnTo>
                <a:lnTo>
                  <a:pt x="1966649" y="3249351"/>
                </a:lnTo>
                <a:lnTo>
                  <a:pt x="1920756" y="3258082"/>
                </a:lnTo>
                <a:lnTo>
                  <a:pt x="1874421" y="3265522"/>
                </a:lnTo>
                <a:lnTo>
                  <a:pt x="1827662" y="3271653"/>
                </a:lnTo>
                <a:lnTo>
                  <a:pt x="1780499" y="3276455"/>
                </a:lnTo>
                <a:lnTo>
                  <a:pt x="1732950" y="3279909"/>
                </a:lnTo>
                <a:lnTo>
                  <a:pt x="1685036" y="3281996"/>
                </a:lnTo>
                <a:lnTo>
                  <a:pt x="1636775" y="3282695"/>
                </a:lnTo>
                <a:lnTo>
                  <a:pt x="1588515" y="3281996"/>
                </a:lnTo>
                <a:lnTo>
                  <a:pt x="1540601" y="3279909"/>
                </a:lnTo>
                <a:lnTo>
                  <a:pt x="1493052" y="3276455"/>
                </a:lnTo>
                <a:lnTo>
                  <a:pt x="1445889" y="3271653"/>
                </a:lnTo>
                <a:lnTo>
                  <a:pt x="1399130" y="3265522"/>
                </a:lnTo>
                <a:lnTo>
                  <a:pt x="1352795" y="3258082"/>
                </a:lnTo>
                <a:lnTo>
                  <a:pt x="1306902" y="3249351"/>
                </a:lnTo>
                <a:lnTo>
                  <a:pt x="1261472" y="3239348"/>
                </a:lnTo>
                <a:lnTo>
                  <a:pt x="1216522" y="3228094"/>
                </a:lnTo>
                <a:lnTo>
                  <a:pt x="1172072" y="3215607"/>
                </a:lnTo>
                <a:lnTo>
                  <a:pt x="1128142" y="3201906"/>
                </a:lnTo>
                <a:lnTo>
                  <a:pt x="1084751" y="3187011"/>
                </a:lnTo>
                <a:lnTo>
                  <a:pt x="1041917" y="3170941"/>
                </a:lnTo>
                <a:lnTo>
                  <a:pt x="999660" y="3153715"/>
                </a:lnTo>
                <a:lnTo>
                  <a:pt x="958000" y="3135353"/>
                </a:lnTo>
                <a:lnTo>
                  <a:pt x="916954" y="3115873"/>
                </a:lnTo>
                <a:lnTo>
                  <a:pt x="876544" y="3095295"/>
                </a:lnTo>
                <a:lnTo>
                  <a:pt x="836787" y="3073639"/>
                </a:lnTo>
                <a:lnTo>
                  <a:pt x="797703" y="3050922"/>
                </a:lnTo>
                <a:lnTo>
                  <a:pt x="759311" y="3027166"/>
                </a:lnTo>
                <a:lnTo>
                  <a:pt x="721630" y="3002388"/>
                </a:lnTo>
                <a:lnTo>
                  <a:pt x="684680" y="2976609"/>
                </a:lnTo>
                <a:lnTo>
                  <a:pt x="648479" y="2949846"/>
                </a:lnTo>
                <a:lnTo>
                  <a:pt x="613047" y="2922121"/>
                </a:lnTo>
                <a:lnTo>
                  <a:pt x="578404" y="2893451"/>
                </a:lnTo>
                <a:lnTo>
                  <a:pt x="544567" y="2863856"/>
                </a:lnTo>
                <a:lnTo>
                  <a:pt x="511557" y="2833356"/>
                </a:lnTo>
                <a:lnTo>
                  <a:pt x="479393" y="2801969"/>
                </a:lnTo>
                <a:lnTo>
                  <a:pt x="448093" y="2769715"/>
                </a:lnTo>
                <a:lnTo>
                  <a:pt x="417677" y="2736613"/>
                </a:lnTo>
                <a:lnTo>
                  <a:pt x="388165" y="2702682"/>
                </a:lnTo>
                <a:lnTo>
                  <a:pt x="359575" y="2667941"/>
                </a:lnTo>
                <a:lnTo>
                  <a:pt x="331926" y="2632411"/>
                </a:lnTo>
                <a:lnTo>
                  <a:pt x="305238" y="2596109"/>
                </a:lnTo>
                <a:lnTo>
                  <a:pt x="279530" y="2559056"/>
                </a:lnTo>
                <a:lnTo>
                  <a:pt x="254821" y="2521270"/>
                </a:lnTo>
                <a:lnTo>
                  <a:pt x="231130" y="2482771"/>
                </a:lnTo>
                <a:lnTo>
                  <a:pt x="208477" y="2443578"/>
                </a:lnTo>
                <a:lnTo>
                  <a:pt x="186881" y="2403710"/>
                </a:lnTo>
                <a:lnTo>
                  <a:pt x="166360" y="2363186"/>
                </a:lnTo>
                <a:lnTo>
                  <a:pt x="146934" y="2322026"/>
                </a:lnTo>
                <a:lnTo>
                  <a:pt x="128623" y="2280249"/>
                </a:lnTo>
                <a:lnTo>
                  <a:pt x="111445" y="2237874"/>
                </a:lnTo>
                <a:lnTo>
                  <a:pt x="95419" y="2194920"/>
                </a:lnTo>
                <a:lnTo>
                  <a:pt x="80565" y="2151407"/>
                </a:lnTo>
                <a:lnTo>
                  <a:pt x="66903" y="2107354"/>
                </a:lnTo>
                <a:lnTo>
                  <a:pt x="54450" y="2062780"/>
                </a:lnTo>
                <a:lnTo>
                  <a:pt x="43227" y="2017704"/>
                </a:lnTo>
                <a:lnTo>
                  <a:pt x="33252" y="1972146"/>
                </a:lnTo>
                <a:lnTo>
                  <a:pt x="24545" y="1926125"/>
                </a:lnTo>
                <a:lnTo>
                  <a:pt x="17125" y="1879660"/>
                </a:lnTo>
                <a:lnTo>
                  <a:pt x="11011" y="1832770"/>
                </a:lnTo>
                <a:lnTo>
                  <a:pt x="6222" y="1785474"/>
                </a:lnTo>
                <a:lnTo>
                  <a:pt x="2778" y="1737793"/>
                </a:lnTo>
                <a:lnTo>
                  <a:pt x="697" y="1689744"/>
                </a:lnTo>
                <a:lnTo>
                  <a:pt x="0" y="1641347"/>
                </a:lnTo>
                <a:close/>
              </a:path>
            </a:pathLst>
          </a:custGeom>
          <a:ln w="19050">
            <a:solidFill>
              <a:srgbClr val="FF0000"/>
            </a:solidFill>
          </a:ln>
        </p:spPr>
        <p:txBody>
          <a:bodyPr wrap="square" lIns="0" tIns="0" rIns="0" bIns="0" rtlCol="0"/>
          <a:lstStyle/>
          <a:p/>
        </p:txBody>
      </p:sp>
      <p:sp>
        <p:nvSpPr>
          <p:cNvPr id="126" name="object 126"/>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2126" y="129997"/>
            <a:ext cx="4081145"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1.3.1</a:t>
            </a:r>
            <a:r>
              <a:rPr dirty="0" spc="-105">
                <a:latin typeface="Calibri"/>
                <a:cs typeface="Calibri"/>
              </a:rPr>
              <a:t> </a:t>
            </a:r>
            <a:r>
              <a:rPr dirty="0" spc="5"/>
              <a:t>获取的内容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337563"/>
            <a:ext cx="7741284" cy="3861435"/>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310"/>
              <a:buFont typeface="Wingdings"/>
              <a:buChar char=""/>
              <a:tabLst>
                <a:tab pos="356235" algn="l"/>
              </a:tabLst>
            </a:pPr>
            <a:r>
              <a:rPr dirty="0" sz="2900">
                <a:latin typeface="宋体"/>
                <a:cs typeface="宋体"/>
              </a:rPr>
              <a:t>在</a:t>
            </a:r>
            <a:r>
              <a:rPr dirty="0" sz="2900">
                <a:solidFill>
                  <a:srgbClr val="00A15F"/>
                </a:solidFill>
                <a:latin typeface="宋体"/>
                <a:cs typeface="宋体"/>
              </a:rPr>
              <a:t>项目的范围</a:t>
            </a:r>
            <a:r>
              <a:rPr dirty="0" sz="2900">
                <a:latin typeface="宋体"/>
                <a:cs typeface="宋体"/>
              </a:rPr>
              <a:t>之内</a:t>
            </a:r>
            <a:endParaRPr sz="2900">
              <a:latin typeface="宋体"/>
              <a:cs typeface="宋体"/>
            </a:endParaRPr>
          </a:p>
          <a:p>
            <a:pPr>
              <a:lnSpc>
                <a:spcPct val="100000"/>
              </a:lnSpc>
              <a:spcBef>
                <a:spcPts val="15"/>
              </a:spcBef>
              <a:buClr>
                <a:srgbClr val="00663B"/>
              </a:buClr>
              <a:buFont typeface="Wingdings"/>
              <a:buChar char=""/>
            </a:pPr>
            <a:endParaRPr sz="2700">
              <a:latin typeface="宋体"/>
              <a:cs typeface="宋体"/>
            </a:endParaRPr>
          </a:p>
          <a:p>
            <a:pPr marL="355600" indent="-343535">
              <a:lnSpc>
                <a:spcPct val="100000"/>
              </a:lnSpc>
              <a:spcBef>
                <a:spcPts val="5"/>
              </a:spcBef>
              <a:buClr>
                <a:srgbClr val="00663B"/>
              </a:buClr>
              <a:buSzPct val="79310"/>
              <a:buFont typeface="Wingdings"/>
              <a:buChar char=""/>
              <a:tabLst>
                <a:tab pos="356235" algn="l"/>
              </a:tabLst>
            </a:pPr>
            <a:r>
              <a:rPr dirty="0" sz="2900">
                <a:latin typeface="宋体"/>
                <a:cs typeface="宋体"/>
              </a:rPr>
              <a:t>所有为用户创建</a:t>
            </a:r>
            <a:r>
              <a:rPr dirty="0" sz="2900">
                <a:solidFill>
                  <a:srgbClr val="00A15F"/>
                </a:solidFill>
                <a:latin typeface="宋体"/>
                <a:cs typeface="宋体"/>
              </a:rPr>
              <a:t>解系统</a:t>
            </a:r>
            <a:r>
              <a:rPr dirty="0" sz="2900" spc="-15">
                <a:latin typeface="宋体"/>
                <a:cs typeface="宋体"/>
              </a:rPr>
              <a:t>必</a:t>
            </a:r>
            <a:r>
              <a:rPr dirty="0" sz="2900">
                <a:latin typeface="宋体"/>
                <a:cs typeface="宋体"/>
              </a:rPr>
              <a:t>须的</a:t>
            </a:r>
            <a:r>
              <a:rPr dirty="0" sz="2900" spc="-15">
                <a:latin typeface="宋体"/>
                <a:cs typeface="宋体"/>
              </a:rPr>
              <a:t>信</a:t>
            </a:r>
            <a:r>
              <a:rPr dirty="0" sz="2900">
                <a:latin typeface="宋体"/>
                <a:cs typeface="宋体"/>
              </a:rPr>
              <a:t>息</a:t>
            </a:r>
            <a:endParaRPr sz="2900">
              <a:latin typeface="宋体"/>
              <a:cs typeface="宋体"/>
            </a:endParaRPr>
          </a:p>
          <a:p>
            <a:pPr lvl="1" marL="756285" indent="-287020">
              <a:lnSpc>
                <a:spcPct val="100000"/>
              </a:lnSpc>
              <a:spcBef>
                <a:spcPts val="615"/>
              </a:spcBef>
              <a:buClr>
                <a:srgbClr val="C00000"/>
              </a:buClr>
              <a:buSzPct val="60000"/>
              <a:buFont typeface="Wingdings"/>
              <a:buChar char=""/>
              <a:tabLst>
                <a:tab pos="756285" algn="l"/>
                <a:tab pos="756920" algn="l"/>
              </a:tabLst>
            </a:pPr>
            <a:r>
              <a:rPr dirty="0" sz="2500" spc="-10">
                <a:latin typeface="宋体"/>
                <a:cs typeface="宋体"/>
              </a:rPr>
              <a:t>需求</a:t>
            </a:r>
            <a:endParaRPr sz="2500">
              <a:latin typeface="宋体"/>
              <a:cs typeface="宋体"/>
            </a:endParaRPr>
          </a:p>
          <a:p>
            <a:pPr lvl="2" marL="1155700" indent="-229235">
              <a:lnSpc>
                <a:spcPct val="100000"/>
              </a:lnSpc>
              <a:spcBef>
                <a:spcPts val="520"/>
              </a:spcBef>
              <a:buFont typeface="Arial"/>
              <a:buChar char="•"/>
              <a:tabLst>
                <a:tab pos="1155700" algn="l"/>
                <a:tab pos="1156335" algn="l"/>
              </a:tabLst>
            </a:pPr>
            <a:r>
              <a:rPr dirty="0" sz="2100">
                <a:latin typeface="宋体"/>
                <a:cs typeface="宋体"/>
              </a:rPr>
              <a:t>通常体现为用户的观点、看法、目标或者问题</a:t>
            </a:r>
            <a:endParaRPr sz="2100">
              <a:latin typeface="宋体"/>
              <a:cs typeface="宋体"/>
            </a:endParaRPr>
          </a:p>
          <a:p>
            <a:pPr lvl="1" marL="756285" indent="-287020">
              <a:lnSpc>
                <a:spcPct val="100000"/>
              </a:lnSpc>
              <a:spcBef>
                <a:spcPts val="585"/>
              </a:spcBef>
              <a:buClr>
                <a:srgbClr val="C00000"/>
              </a:buClr>
              <a:buSzPct val="60000"/>
              <a:buFont typeface="Wingdings"/>
              <a:buChar char=""/>
              <a:tabLst>
                <a:tab pos="756285" algn="l"/>
                <a:tab pos="756920" algn="l"/>
              </a:tabLst>
            </a:pPr>
            <a:r>
              <a:rPr dirty="0" sz="2500" spc="-5">
                <a:latin typeface="宋体"/>
                <a:cs typeface="宋体"/>
              </a:rPr>
              <a:t>问题域特性</a:t>
            </a:r>
            <a:endParaRPr sz="2500">
              <a:latin typeface="宋体"/>
              <a:cs typeface="宋体"/>
            </a:endParaRPr>
          </a:p>
          <a:p>
            <a:pPr lvl="2" marL="1155700" indent="-229235">
              <a:lnSpc>
                <a:spcPct val="100000"/>
              </a:lnSpc>
              <a:spcBef>
                <a:spcPts val="520"/>
              </a:spcBef>
              <a:buFont typeface="Arial"/>
              <a:buChar char="•"/>
              <a:tabLst>
                <a:tab pos="1155700" algn="l"/>
                <a:tab pos="1156335" algn="l"/>
              </a:tabLst>
            </a:pPr>
            <a:r>
              <a:rPr dirty="0" sz="2100" spc="-5">
                <a:latin typeface="宋体"/>
                <a:cs typeface="宋体"/>
              </a:rPr>
              <a:t>需要注意的是不要忽略系统的环境和约束</a:t>
            </a:r>
            <a:endParaRPr sz="2100">
              <a:latin typeface="宋体"/>
              <a:cs typeface="宋体"/>
            </a:endParaRPr>
          </a:p>
          <a:p>
            <a:pPr lvl="2">
              <a:lnSpc>
                <a:spcPct val="100000"/>
              </a:lnSpc>
              <a:spcBef>
                <a:spcPts val="45"/>
              </a:spcBef>
              <a:buFont typeface="Arial"/>
              <a:buChar char="•"/>
            </a:pPr>
            <a:endParaRPr sz="2300">
              <a:latin typeface="宋体"/>
              <a:cs typeface="宋体"/>
            </a:endParaRPr>
          </a:p>
          <a:p>
            <a:pPr marL="355600" indent="-343535">
              <a:lnSpc>
                <a:spcPct val="100000"/>
              </a:lnSpc>
              <a:spcBef>
                <a:spcPts val="5"/>
              </a:spcBef>
              <a:buClr>
                <a:srgbClr val="00663B"/>
              </a:buClr>
              <a:buSzPct val="79310"/>
              <a:buFont typeface="Wingdings"/>
              <a:buChar char=""/>
              <a:tabLst>
                <a:tab pos="356235" algn="l"/>
              </a:tabLst>
            </a:pPr>
            <a:r>
              <a:rPr dirty="0" sz="2900">
                <a:latin typeface="宋体"/>
                <a:cs typeface="宋体"/>
              </a:rPr>
              <a:t>获取的内容不是一次得</a:t>
            </a:r>
            <a:r>
              <a:rPr dirty="0" sz="2900" spc="-15">
                <a:latin typeface="宋体"/>
                <a:cs typeface="宋体"/>
              </a:rPr>
              <a:t>到</a:t>
            </a:r>
            <a:r>
              <a:rPr dirty="0" sz="2900">
                <a:latin typeface="宋体"/>
                <a:cs typeface="宋体"/>
              </a:rPr>
              <a:t>的，</a:t>
            </a:r>
            <a:r>
              <a:rPr dirty="0" sz="2900" spc="-15">
                <a:latin typeface="宋体"/>
                <a:cs typeface="宋体"/>
              </a:rPr>
              <a:t>而</a:t>
            </a:r>
            <a:r>
              <a:rPr dirty="0" sz="2900" spc="5">
                <a:latin typeface="宋体"/>
                <a:cs typeface="宋体"/>
              </a:rPr>
              <a:t>是</a:t>
            </a:r>
            <a:r>
              <a:rPr dirty="0" sz="2900">
                <a:solidFill>
                  <a:srgbClr val="00A15F"/>
                </a:solidFill>
                <a:latin typeface="宋体"/>
                <a:cs typeface="宋体"/>
              </a:rPr>
              <a:t>逐</a:t>
            </a:r>
            <a:r>
              <a:rPr dirty="0" sz="2900" spc="-15">
                <a:solidFill>
                  <a:srgbClr val="00A15F"/>
                </a:solidFill>
                <a:latin typeface="宋体"/>
                <a:cs typeface="宋体"/>
              </a:rPr>
              <a:t>步</a:t>
            </a:r>
            <a:r>
              <a:rPr dirty="0" sz="2900">
                <a:solidFill>
                  <a:srgbClr val="00A15F"/>
                </a:solidFill>
                <a:latin typeface="宋体"/>
                <a:cs typeface="宋体"/>
              </a:rPr>
              <a:t>积</a:t>
            </a:r>
            <a:r>
              <a:rPr dirty="0" sz="2900" spc="-5">
                <a:solidFill>
                  <a:srgbClr val="00A15F"/>
                </a:solidFill>
                <a:latin typeface="宋体"/>
                <a:cs typeface="宋体"/>
              </a:rPr>
              <a:t>累</a:t>
            </a:r>
            <a:r>
              <a:rPr dirty="0" sz="2900">
                <a:latin typeface="宋体"/>
                <a:cs typeface="宋体"/>
              </a:rPr>
              <a:t>的</a:t>
            </a:r>
            <a:endParaRPr sz="2900">
              <a:latin typeface="宋体"/>
              <a:cs typeface="宋体"/>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2126" y="110744"/>
            <a:ext cx="408114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1.3.2</a:t>
            </a:r>
            <a:r>
              <a:rPr dirty="0" spc="-95">
                <a:latin typeface="Calibri"/>
                <a:cs typeface="Calibri"/>
              </a:rPr>
              <a:t> </a:t>
            </a:r>
            <a:r>
              <a:rPr dirty="0"/>
              <a:t>获取的来源</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graphicFrame>
        <p:nvGraphicFramePr>
          <p:cNvPr id="3" name="object 3"/>
          <p:cNvGraphicFramePr>
            <a:graphicFrameLocks noGrp="1"/>
          </p:cNvGraphicFramePr>
          <p:nvPr/>
        </p:nvGraphicFramePr>
        <p:xfrm>
          <a:off x="287070" y="1034391"/>
          <a:ext cx="8558530" cy="4623435"/>
        </p:xfrm>
        <a:graphic>
          <a:graphicData uri="http://schemas.openxmlformats.org/drawingml/2006/table">
            <a:tbl>
              <a:tblPr firstRow="1" bandRow="1">
                <a:tableStyleId>{2D5ABB26-0587-4C30-8999-92F81FD0307C}</a:tableStyleId>
              </a:tblPr>
              <a:tblGrid>
                <a:gridCol w="287655"/>
                <a:gridCol w="259079"/>
                <a:gridCol w="3730625"/>
                <a:gridCol w="338454"/>
                <a:gridCol w="285750"/>
                <a:gridCol w="3656329"/>
              </a:tblGrid>
              <a:tr h="2176335">
                <a:tc>
                  <a:txBody>
                    <a:bodyPr/>
                    <a:lstStyle/>
                    <a:p>
                      <a:pPr marL="31750">
                        <a:lnSpc>
                          <a:spcPct val="100000"/>
                        </a:lnSpc>
                        <a:spcBef>
                          <a:spcPts val="965"/>
                        </a:spcBef>
                      </a:pPr>
                      <a:r>
                        <a:rPr dirty="0" sz="1750">
                          <a:solidFill>
                            <a:srgbClr val="00663B"/>
                          </a:solidFill>
                          <a:latin typeface="Wingdings"/>
                          <a:cs typeface="Wingdings"/>
                        </a:rPr>
                        <a:t>◼</a:t>
                      </a:r>
                      <a:endParaRPr sz="1750">
                        <a:latin typeface="Wingdings"/>
                        <a:cs typeface="Wingdings"/>
                      </a:endParaRPr>
                    </a:p>
                  </a:txBody>
                  <a:tcPr marL="0" marR="0" marB="0" marT="122555"/>
                </a:tc>
                <a:tc>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15"/>
                        </a:spcBef>
                      </a:pPr>
                      <a:endParaRPr sz="1250">
                        <a:latin typeface="Times New Roman"/>
                        <a:cs typeface="Times New Roman"/>
                      </a:endParaRPr>
                    </a:p>
                    <a:p>
                      <a:pPr marL="88265">
                        <a:lnSpc>
                          <a:spcPct val="100000"/>
                        </a:lnSpc>
                      </a:pPr>
                      <a:r>
                        <a:rPr dirty="0" sz="1200">
                          <a:solidFill>
                            <a:srgbClr val="C00000"/>
                          </a:solidFill>
                          <a:latin typeface="Wingdings"/>
                          <a:cs typeface="Wingdings"/>
                        </a:rPr>
                        <a:t>◼</a:t>
                      </a:r>
                      <a:endParaRPr sz="1200">
                        <a:latin typeface="Wingdings"/>
                        <a:cs typeface="Wingdings"/>
                      </a:endParaRPr>
                    </a:p>
                    <a:p>
                      <a:pPr>
                        <a:lnSpc>
                          <a:spcPct val="100000"/>
                        </a:lnSpc>
                        <a:spcBef>
                          <a:spcPts val="5"/>
                        </a:spcBef>
                      </a:pPr>
                      <a:endParaRPr sz="1250">
                        <a:latin typeface="Times New Roman"/>
                        <a:cs typeface="Times New Roman"/>
                      </a:endParaRPr>
                    </a:p>
                    <a:p>
                      <a:pPr marL="88265">
                        <a:lnSpc>
                          <a:spcPct val="100000"/>
                        </a:lnSpc>
                      </a:pPr>
                      <a:r>
                        <a:rPr dirty="0" sz="1200">
                          <a:solidFill>
                            <a:srgbClr val="C00000"/>
                          </a:solidFill>
                          <a:latin typeface="Wingdings"/>
                          <a:cs typeface="Wingdings"/>
                        </a:rPr>
                        <a:t>◼</a:t>
                      </a:r>
                      <a:endParaRPr sz="1200">
                        <a:latin typeface="Wingdings"/>
                        <a:cs typeface="Wingdings"/>
                      </a:endParaRPr>
                    </a:p>
                    <a:p>
                      <a:pPr>
                        <a:lnSpc>
                          <a:spcPct val="100000"/>
                        </a:lnSpc>
                        <a:spcBef>
                          <a:spcPts val="5"/>
                        </a:spcBef>
                      </a:pPr>
                      <a:endParaRPr sz="1250">
                        <a:latin typeface="Times New Roman"/>
                        <a:cs typeface="Times New Roman"/>
                      </a:endParaRPr>
                    </a:p>
                    <a:p>
                      <a:pPr marL="88265">
                        <a:lnSpc>
                          <a:spcPct val="100000"/>
                        </a:lnSpc>
                      </a:pPr>
                      <a:r>
                        <a:rPr dirty="0" sz="1200">
                          <a:solidFill>
                            <a:srgbClr val="C00000"/>
                          </a:solidFill>
                          <a:latin typeface="Wingdings"/>
                          <a:cs typeface="Wingdings"/>
                        </a:rPr>
                        <a:t>◼</a:t>
                      </a:r>
                      <a:endParaRPr sz="1200">
                        <a:latin typeface="Wingdings"/>
                        <a:cs typeface="Wingdings"/>
                      </a:endParaRPr>
                    </a:p>
                    <a:p>
                      <a:pPr>
                        <a:lnSpc>
                          <a:spcPct val="100000"/>
                        </a:lnSpc>
                        <a:spcBef>
                          <a:spcPts val="40"/>
                        </a:spcBef>
                      </a:pPr>
                      <a:endParaRPr sz="1350">
                        <a:latin typeface="Times New Roman"/>
                        <a:cs typeface="Times New Roman"/>
                      </a:endParaRPr>
                    </a:p>
                    <a:p>
                      <a:pPr marL="88265">
                        <a:lnSpc>
                          <a:spcPct val="100000"/>
                        </a:lnSpc>
                        <a:spcBef>
                          <a:spcPts val="5"/>
                        </a:spcBef>
                      </a:pPr>
                      <a:r>
                        <a:rPr dirty="0" sz="1200">
                          <a:solidFill>
                            <a:srgbClr val="C00000"/>
                          </a:solidFill>
                          <a:latin typeface="Wingdings"/>
                          <a:cs typeface="Wingdings"/>
                        </a:rPr>
                        <a:t>◼</a:t>
                      </a:r>
                      <a:endParaRPr sz="1200">
                        <a:latin typeface="Wingdings"/>
                        <a:cs typeface="Wingdings"/>
                      </a:endParaRPr>
                    </a:p>
                  </a:txBody>
                  <a:tcPr marL="0" marR="0" marB="0" marT="0"/>
                </a:tc>
                <a:tc>
                  <a:txBody>
                    <a:bodyPr/>
                    <a:lstStyle/>
                    <a:p>
                      <a:pPr marL="56515">
                        <a:lnSpc>
                          <a:spcPct val="100000"/>
                        </a:lnSpc>
                        <a:spcBef>
                          <a:spcPts val="515"/>
                        </a:spcBef>
                      </a:pPr>
                      <a:r>
                        <a:rPr dirty="0" sz="2200" spc="-5">
                          <a:latin typeface="宋体"/>
                          <a:cs typeface="宋体"/>
                        </a:rPr>
                        <a:t>涉众</a:t>
                      </a:r>
                      <a:endParaRPr sz="2200">
                        <a:latin typeface="宋体"/>
                        <a:cs typeface="宋体"/>
                      </a:endParaRPr>
                    </a:p>
                    <a:p>
                      <a:pPr marL="324485" marR="2888615">
                        <a:lnSpc>
                          <a:spcPct val="120100"/>
                        </a:lnSpc>
                        <a:spcBef>
                          <a:spcPts val="5"/>
                        </a:spcBef>
                      </a:pPr>
                      <a:r>
                        <a:rPr dirty="0" sz="2000">
                          <a:latin typeface="宋体"/>
                          <a:cs typeface="宋体"/>
                        </a:rPr>
                        <a:t>用户 客户</a:t>
                      </a:r>
                      <a:endParaRPr sz="2000">
                        <a:latin typeface="宋体"/>
                        <a:cs typeface="宋体"/>
                      </a:endParaRPr>
                    </a:p>
                    <a:p>
                      <a:pPr marL="324485">
                        <a:lnSpc>
                          <a:spcPct val="100000"/>
                        </a:lnSpc>
                        <a:spcBef>
                          <a:spcPts val="480"/>
                        </a:spcBef>
                      </a:pPr>
                      <a:r>
                        <a:rPr dirty="0" sz="2000">
                          <a:latin typeface="宋体"/>
                          <a:cs typeface="宋体"/>
                        </a:rPr>
                        <a:t>领域专家</a:t>
                      </a:r>
                      <a:endParaRPr sz="2000">
                        <a:latin typeface="宋体"/>
                        <a:cs typeface="宋体"/>
                      </a:endParaRPr>
                    </a:p>
                    <a:p>
                      <a:pPr marL="324485" marR="90805">
                        <a:lnSpc>
                          <a:spcPts val="2240"/>
                        </a:lnSpc>
                        <a:spcBef>
                          <a:spcPts val="844"/>
                        </a:spcBef>
                      </a:pPr>
                      <a:r>
                        <a:rPr dirty="0" sz="2000">
                          <a:latin typeface="宋体"/>
                          <a:cs typeface="宋体"/>
                        </a:rPr>
                        <a:t>市场人员、销售人员等</a:t>
                      </a:r>
                      <a:r>
                        <a:rPr dirty="0" sz="2000" spc="-15">
                          <a:latin typeface="宋体"/>
                          <a:cs typeface="宋体"/>
                        </a:rPr>
                        <a:t>其</a:t>
                      </a:r>
                      <a:r>
                        <a:rPr dirty="0" sz="2000">
                          <a:latin typeface="宋体"/>
                          <a:cs typeface="宋体"/>
                        </a:rPr>
                        <a:t>他用 </a:t>
                      </a:r>
                      <a:r>
                        <a:rPr dirty="0" sz="2000">
                          <a:latin typeface="宋体"/>
                          <a:cs typeface="宋体"/>
                        </a:rPr>
                        <a:t>户替代源</a:t>
                      </a:r>
                      <a:endParaRPr sz="2000">
                        <a:latin typeface="宋体"/>
                        <a:cs typeface="宋体"/>
                      </a:endParaRPr>
                    </a:p>
                  </a:txBody>
                  <a:tcPr marL="0" marR="0" marB="0" marT="65405"/>
                </a:tc>
                <a:tc>
                  <a:txBody>
                    <a:bodyPr/>
                    <a:lstStyle/>
                    <a:p>
                      <a:pPr marL="98425">
                        <a:lnSpc>
                          <a:spcPct val="100000"/>
                        </a:lnSpc>
                        <a:spcBef>
                          <a:spcPts val="484"/>
                        </a:spcBef>
                      </a:pPr>
                      <a:r>
                        <a:rPr dirty="0" sz="1400">
                          <a:solidFill>
                            <a:srgbClr val="00663B"/>
                          </a:solidFill>
                          <a:latin typeface="Wingdings"/>
                          <a:cs typeface="Wingdings"/>
                        </a:rPr>
                        <a:t>◼</a:t>
                      </a:r>
                      <a:endParaRPr sz="1400">
                        <a:latin typeface="Wingdings"/>
                        <a:cs typeface="Wingdings"/>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50"/>
                        </a:spcBef>
                      </a:pPr>
                      <a:endParaRPr sz="1950">
                        <a:latin typeface="Times New Roman"/>
                        <a:cs typeface="Times New Roman"/>
                      </a:endParaRPr>
                    </a:p>
                    <a:p>
                      <a:pPr marL="98425">
                        <a:lnSpc>
                          <a:spcPct val="100000"/>
                        </a:lnSpc>
                      </a:pPr>
                      <a:r>
                        <a:rPr dirty="0" sz="1400">
                          <a:solidFill>
                            <a:srgbClr val="00663B"/>
                          </a:solidFill>
                          <a:latin typeface="Wingdings"/>
                          <a:cs typeface="Wingdings"/>
                        </a:rPr>
                        <a:t>◼</a:t>
                      </a:r>
                      <a:endParaRPr sz="1400">
                        <a:latin typeface="Wingdings"/>
                        <a:cs typeface="Wingdings"/>
                      </a:endParaRPr>
                    </a:p>
                  </a:txBody>
                  <a:tcPr marL="0" marR="0" marB="0" marT="61594"/>
                </a:tc>
                <a:tc>
                  <a:txBody>
                    <a:bodyPr/>
                    <a:lstStyle/>
                    <a:p>
                      <a:pPr>
                        <a:lnSpc>
                          <a:spcPct val="100000"/>
                        </a:lnSpc>
                      </a:pPr>
                      <a:endParaRPr sz="1300">
                        <a:latin typeface="Times New Roman"/>
                        <a:cs typeface="Times New Roman"/>
                      </a:endParaRPr>
                    </a:p>
                    <a:p>
                      <a:pPr>
                        <a:lnSpc>
                          <a:spcPct val="100000"/>
                        </a:lnSpc>
                        <a:spcBef>
                          <a:spcPts val="30"/>
                        </a:spcBef>
                      </a:pPr>
                      <a:endParaRPr sz="1900">
                        <a:latin typeface="Times New Roman"/>
                        <a:cs typeface="Times New Roman"/>
                      </a:endParaRPr>
                    </a:p>
                    <a:p>
                      <a:pPr marL="104139">
                        <a:lnSpc>
                          <a:spcPct val="100000"/>
                        </a:lnSpc>
                      </a:pPr>
                      <a:r>
                        <a:rPr dirty="0" sz="1200">
                          <a:solidFill>
                            <a:srgbClr val="C0504D"/>
                          </a:solidFill>
                          <a:latin typeface="Wingdings"/>
                          <a:cs typeface="Wingdings"/>
                        </a:rPr>
                        <a:t></a:t>
                      </a:r>
                      <a:endParaRPr sz="1200">
                        <a:latin typeface="Wingdings"/>
                        <a:cs typeface="Wingdings"/>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marL="104139">
                        <a:lnSpc>
                          <a:spcPct val="100000"/>
                        </a:lnSpc>
                        <a:spcBef>
                          <a:spcPts val="755"/>
                        </a:spcBef>
                      </a:pPr>
                      <a:r>
                        <a:rPr dirty="0" sz="1200">
                          <a:solidFill>
                            <a:srgbClr val="C0504D"/>
                          </a:solidFill>
                          <a:latin typeface="Wingdings"/>
                          <a:cs typeface="Wingdings"/>
                        </a:rPr>
                        <a:t></a:t>
                      </a:r>
                      <a:endParaRPr sz="1200">
                        <a:latin typeface="Wingdings"/>
                        <a:cs typeface="Wingdings"/>
                      </a:endParaRPr>
                    </a:p>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10"/>
                        </a:spcBef>
                      </a:pPr>
                      <a:endParaRPr sz="1400">
                        <a:latin typeface="Times New Roman"/>
                        <a:cs typeface="Times New Roman"/>
                      </a:endParaRPr>
                    </a:p>
                    <a:p>
                      <a:pPr marL="104139">
                        <a:lnSpc>
                          <a:spcPct val="100000"/>
                        </a:lnSpc>
                      </a:pPr>
                      <a:r>
                        <a:rPr dirty="0" sz="1200">
                          <a:solidFill>
                            <a:srgbClr val="C0504D"/>
                          </a:solidFill>
                          <a:latin typeface="Wingdings"/>
                          <a:cs typeface="Wingdings"/>
                        </a:rPr>
                        <a:t></a:t>
                      </a:r>
                      <a:endParaRPr sz="1200">
                        <a:latin typeface="Wingdings"/>
                        <a:cs typeface="Wingdings"/>
                      </a:endParaRPr>
                    </a:p>
                  </a:txBody>
                  <a:tcPr marL="0" marR="0" marB="0" marT="0"/>
                </a:tc>
                <a:tc>
                  <a:txBody>
                    <a:bodyPr/>
                    <a:lstStyle/>
                    <a:p>
                      <a:pPr marL="45085">
                        <a:lnSpc>
                          <a:spcPts val="2325"/>
                        </a:lnSpc>
                      </a:pPr>
                      <a:r>
                        <a:rPr dirty="0" sz="2200">
                          <a:latin typeface="宋体"/>
                          <a:cs typeface="宋体"/>
                        </a:rPr>
                        <a:t>硬数据</a:t>
                      </a:r>
                      <a:endParaRPr sz="2200">
                        <a:latin typeface="宋体"/>
                        <a:cs typeface="宋体"/>
                      </a:endParaRPr>
                    </a:p>
                    <a:p>
                      <a:pPr marL="313690" marR="24130">
                        <a:lnSpc>
                          <a:spcPts val="2300"/>
                        </a:lnSpc>
                        <a:spcBef>
                          <a:spcPts val="740"/>
                        </a:spcBef>
                      </a:pPr>
                      <a:r>
                        <a:rPr dirty="0" sz="2000">
                          <a:latin typeface="宋体"/>
                          <a:cs typeface="宋体"/>
                        </a:rPr>
                        <a:t>登记表格、单据、报表</a:t>
                      </a:r>
                      <a:r>
                        <a:rPr dirty="0" sz="2000" spc="-10">
                          <a:latin typeface="宋体"/>
                          <a:cs typeface="宋体"/>
                        </a:rPr>
                        <a:t>等</a:t>
                      </a:r>
                      <a:r>
                        <a:rPr dirty="0" sz="2000">
                          <a:latin typeface="宋体"/>
                          <a:cs typeface="宋体"/>
                        </a:rPr>
                        <a:t>定量 </a:t>
                      </a:r>
                      <a:r>
                        <a:rPr dirty="0" sz="2000">
                          <a:latin typeface="宋体"/>
                          <a:cs typeface="宋体"/>
                        </a:rPr>
                        <a:t>文档</a:t>
                      </a:r>
                      <a:endParaRPr sz="2000">
                        <a:latin typeface="宋体"/>
                        <a:cs typeface="宋体"/>
                      </a:endParaRPr>
                    </a:p>
                    <a:p>
                      <a:pPr marL="313690">
                        <a:lnSpc>
                          <a:spcPct val="100000"/>
                        </a:lnSpc>
                        <a:spcBef>
                          <a:spcPts val="425"/>
                        </a:spcBef>
                      </a:pPr>
                      <a:r>
                        <a:rPr dirty="0" sz="2000" spc="5">
                          <a:latin typeface="宋体"/>
                          <a:cs typeface="宋体"/>
                        </a:rPr>
                        <a:t>备忘录、日志等定性文档</a:t>
                      </a:r>
                      <a:endParaRPr sz="2000">
                        <a:latin typeface="宋体"/>
                        <a:cs typeface="宋体"/>
                      </a:endParaRPr>
                    </a:p>
                    <a:p>
                      <a:pPr marL="45085">
                        <a:lnSpc>
                          <a:spcPct val="100000"/>
                        </a:lnSpc>
                        <a:spcBef>
                          <a:spcPts val="525"/>
                        </a:spcBef>
                      </a:pPr>
                      <a:r>
                        <a:rPr dirty="0" sz="2200" spc="-5">
                          <a:latin typeface="宋体"/>
                          <a:cs typeface="宋体"/>
                        </a:rPr>
                        <a:t>重要文档</a:t>
                      </a:r>
                      <a:endParaRPr sz="2200">
                        <a:latin typeface="宋体"/>
                        <a:cs typeface="宋体"/>
                      </a:endParaRPr>
                    </a:p>
                    <a:p>
                      <a:pPr marL="313690">
                        <a:lnSpc>
                          <a:spcPct val="100000"/>
                        </a:lnSpc>
                        <a:spcBef>
                          <a:spcPts val="484"/>
                        </a:spcBef>
                      </a:pPr>
                      <a:r>
                        <a:rPr dirty="0" sz="2000">
                          <a:latin typeface="宋体"/>
                          <a:cs typeface="宋体"/>
                        </a:rPr>
                        <a:t>原有系统的规格说明</a:t>
                      </a:r>
                      <a:endParaRPr sz="2000">
                        <a:latin typeface="宋体"/>
                        <a:cs typeface="宋体"/>
                      </a:endParaRPr>
                    </a:p>
                  </a:txBody>
                  <a:tcPr marL="0" marR="0" marB="0" marT="0"/>
                </a:tc>
              </a:tr>
              <a:tr h="331470">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algn="r" marR="38100">
                        <a:lnSpc>
                          <a:spcPct val="100000"/>
                        </a:lnSpc>
                        <a:spcBef>
                          <a:spcPts val="685"/>
                        </a:spcBef>
                      </a:pPr>
                      <a:r>
                        <a:rPr dirty="0" sz="1200">
                          <a:solidFill>
                            <a:srgbClr val="C0504D"/>
                          </a:solidFill>
                          <a:latin typeface="Wingdings"/>
                          <a:cs typeface="Wingdings"/>
                        </a:rPr>
                        <a:t></a:t>
                      </a:r>
                      <a:endParaRPr sz="1200">
                        <a:latin typeface="Wingdings"/>
                        <a:cs typeface="Wingdings"/>
                      </a:endParaRPr>
                    </a:p>
                  </a:txBody>
                  <a:tcPr marL="0" marR="0" marB="0" marT="86995"/>
                </a:tc>
                <a:tc>
                  <a:txBody>
                    <a:bodyPr/>
                    <a:lstStyle/>
                    <a:p>
                      <a:pPr marL="313690">
                        <a:lnSpc>
                          <a:spcPts val="2290"/>
                        </a:lnSpc>
                      </a:pPr>
                      <a:r>
                        <a:rPr dirty="0" sz="2000">
                          <a:latin typeface="宋体"/>
                          <a:cs typeface="宋体"/>
                        </a:rPr>
                        <a:t>竞争产品的规格说明</a:t>
                      </a:r>
                      <a:endParaRPr sz="2000">
                        <a:latin typeface="宋体"/>
                        <a:cs typeface="宋体"/>
                      </a:endParaRPr>
                    </a:p>
                  </a:txBody>
                  <a:tcPr marL="0" marR="0" marB="0" marT="0"/>
                </a:tc>
              </a:tr>
              <a:tr h="393908">
                <a:tc>
                  <a:txBody>
                    <a:bodyPr/>
                    <a:lstStyle/>
                    <a:p>
                      <a:pPr marL="31750">
                        <a:lnSpc>
                          <a:spcPct val="100000"/>
                        </a:lnSpc>
                        <a:spcBef>
                          <a:spcPts val="665"/>
                        </a:spcBef>
                      </a:pPr>
                      <a:r>
                        <a:rPr dirty="0" sz="1750">
                          <a:solidFill>
                            <a:srgbClr val="00663B"/>
                          </a:solidFill>
                          <a:latin typeface="Wingdings"/>
                          <a:cs typeface="Wingdings"/>
                        </a:rPr>
                        <a:t>◼</a:t>
                      </a:r>
                      <a:endParaRPr sz="1750">
                        <a:latin typeface="Wingdings"/>
                        <a:cs typeface="Wingdings"/>
                      </a:endParaRPr>
                    </a:p>
                  </a:txBody>
                  <a:tcPr marL="0" marR="0" marB="0" marT="84455"/>
                </a:tc>
                <a:tc>
                  <a:txBody>
                    <a:bodyPr/>
                    <a:lstStyle/>
                    <a:p>
                      <a:pPr>
                        <a:lnSpc>
                          <a:spcPct val="100000"/>
                        </a:lnSpc>
                      </a:pPr>
                      <a:endParaRPr sz="2000">
                        <a:latin typeface="Times New Roman"/>
                        <a:cs typeface="Times New Roman"/>
                      </a:endParaRPr>
                    </a:p>
                  </a:txBody>
                  <a:tcPr marL="0" marR="0" marB="0" marT="0"/>
                </a:tc>
                <a:tc>
                  <a:txBody>
                    <a:bodyPr/>
                    <a:lstStyle/>
                    <a:p>
                      <a:pPr marL="56515">
                        <a:lnSpc>
                          <a:spcPct val="100000"/>
                        </a:lnSpc>
                        <a:spcBef>
                          <a:spcPts val="215"/>
                        </a:spcBef>
                      </a:pPr>
                      <a:r>
                        <a:rPr dirty="0" sz="2200" spc="-5">
                          <a:latin typeface="宋体"/>
                          <a:cs typeface="宋体"/>
                        </a:rPr>
                        <a:t>相关产品</a:t>
                      </a:r>
                      <a:endParaRPr sz="2200">
                        <a:latin typeface="宋体"/>
                        <a:cs typeface="宋体"/>
                      </a:endParaRPr>
                    </a:p>
                  </a:txBody>
                  <a:tcPr marL="0" marR="0" marB="0" marT="27305"/>
                </a:tc>
                <a:tc>
                  <a:txBody>
                    <a:bodyPr/>
                    <a:lstStyle/>
                    <a:p>
                      <a:pPr>
                        <a:lnSpc>
                          <a:spcPct val="100000"/>
                        </a:lnSpc>
                      </a:pPr>
                      <a:endParaRPr sz="2000">
                        <a:latin typeface="Times New Roman"/>
                        <a:cs typeface="Times New Roman"/>
                      </a:endParaRPr>
                    </a:p>
                  </a:txBody>
                  <a:tcPr marL="0" marR="0" marB="0" marT="0"/>
                </a:tc>
                <a:tc>
                  <a:txBody>
                    <a:bodyPr/>
                    <a:lstStyle/>
                    <a:p>
                      <a:pPr algn="r" marR="38100">
                        <a:lnSpc>
                          <a:spcPct val="100000"/>
                        </a:lnSpc>
                        <a:spcBef>
                          <a:spcPts val="960"/>
                        </a:spcBef>
                      </a:pPr>
                      <a:r>
                        <a:rPr dirty="0" sz="1200">
                          <a:solidFill>
                            <a:srgbClr val="C0504D"/>
                          </a:solidFill>
                          <a:latin typeface="Wingdings"/>
                          <a:cs typeface="Wingdings"/>
                        </a:rPr>
                        <a:t></a:t>
                      </a:r>
                      <a:endParaRPr sz="1200">
                        <a:latin typeface="Wingdings"/>
                        <a:cs typeface="Wingdings"/>
                      </a:endParaRPr>
                    </a:p>
                  </a:txBody>
                  <a:tcPr marL="0" marR="0" marB="0" marT="121920"/>
                </a:tc>
                <a:tc>
                  <a:txBody>
                    <a:bodyPr/>
                    <a:lstStyle/>
                    <a:p>
                      <a:pPr marL="313690">
                        <a:lnSpc>
                          <a:spcPct val="100000"/>
                        </a:lnSpc>
                        <a:spcBef>
                          <a:spcPts val="160"/>
                        </a:spcBef>
                      </a:pPr>
                      <a:r>
                        <a:rPr dirty="0" sz="2000">
                          <a:latin typeface="宋体"/>
                          <a:cs typeface="宋体"/>
                        </a:rPr>
                        <a:t>协作产品的规格说明</a:t>
                      </a:r>
                      <a:endParaRPr sz="2000">
                        <a:latin typeface="宋体"/>
                        <a:cs typeface="宋体"/>
                      </a:endParaRPr>
                    </a:p>
                  </a:txBody>
                  <a:tcPr marL="0" marR="0" marB="0" marT="20320"/>
                </a:tc>
              </a:tr>
              <a:tr h="697021">
                <a:tc>
                  <a:txBody>
                    <a:bodyPr/>
                    <a:lstStyle/>
                    <a:p>
                      <a:pPr>
                        <a:lnSpc>
                          <a:spcPct val="100000"/>
                        </a:lnSpc>
                      </a:pPr>
                      <a:endParaRPr sz="2000">
                        <a:latin typeface="Times New Roman"/>
                        <a:cs typeface="Times New Roman"/>
                      </a:endParaRPr>
                    </a:p>
                  </a:txBody>
                  <a:tcPr marL="0" marR="0" marB="0" marT="0"/>
                </a:tc>
                <a:tc>
                  <a:txBody>
                    <a:bodyPr/>
                    <a:lstStyle/>
                    <a:p>
                      <a:pPr marL="88265">
                        <a:lnSpc>
                          <a:spcPct val="100000"/>
                        </a:lnSpc>
                        <a:spcBef>
                          <a:spcPts val="1040"/>
                        </a:spcBef>
                      </a:pPr>
                      <a:r>
                        <a:rPr dirty="0" sz="1200">
                          <a:solidFill>
                            <a:srgbClr val="C00000"/>
                          </a:solidFill>
                          <a:latin typeface="Wingdings"/>
                          <a:cs typeface="Wingdings"/>
                        </a:rPr>
                        <a:t>◼</a:t>
                      </a:r>
                      <a:endParaRPr sz="1200">
                        <a:latin typeface="Wingdings"/>
                        <a:cs typeface="Wingdings"/>
                      </a:endParaRPr>
                    </a:p>
                    <a:p>
                      <a:pPr>
                        <a:lnSpc>
                          <a:spcPct val="100000"/>
                        </a:lnSpc>
                      </a:pPr>
                      <a:endParaRPr sz="1250">
                        <a:latin typeface="Times New Roman"/>
                        <a:cs typeface="Times New Roman"/>
                      </a:endParaRPr>
                    </a:p>
                    <a:p>
                      <a:pPr marL="88265">
                        <a:lnSpc>
                          <a:spcPct val="100000"/>
                        </a:lnSpc>
                        <a:spcBef>
                          <a:spcPts val="5"/>
                        </a:spcBef>
                      </a:pPr>
                      <a:r>
                        <a:rPr dirty="0" sz="1200">
                          <a:solidFill>
                            <a:srgbClr val="C00000"/>
                          </a:solidFill>
                          <a:latin typeface="Wingdings"/>
                          <a:cs typeface="Wingdings"/>
                        </a:rPr>
                        <a:t>◼</a:t>
                      </a:r>
                      <a:endParaRPr sz="1200">
                        <a:latin typeface="Wingdings"/>
                        <a:cs typeface="Wingdings"/>
                      </a:endParaRPr>
                    </a:p>
                  </a:txBody>
                  <a:tcPr marL="0" marR="0" marB="0" marT="132080"/>
                </a:tc>
                <a:tc>
                  <a:txBody>
                    <a:bodyPr/>
                    <a:lstStyle/>
                    <a:p>
                      <a:pPr marL="324485">
                        <a:lnSpc>
                          <a:spcPct val="100000"/>
                        </a:lnSpc>
                        <a:spcBef>
                          <a:spcPts val="240"/>
                        </a:spcBef>
                      </a:pPr>
                      <a:r>
                        <a:rPr dirty="0" sz="2000">
                          <a:latin typeface="宋体"/>
                          <a:cs typeface="宋体"/>
                        </a:rPr>
                        <a:t>原有系统</a:t>
                      </a:r>
                      <a:endParaRPr sz="2000">
                        <a:latin typeface="宋体"/>
                        <a:cs typeface="宋体"/>
                      </a:endParaRPr>
                    </a:p>
                    <a:p>
                      <a:pPr marL="324485">
                        <a:lnSpc>
                          <a:spcPts val="2265"/>
                        </a:lnSpc>
                        <a:spcBef>
                          <a:spcPts val="480"/>
                        </a:spcBef>
                      </a:pPr>
                      <a:r>
                        <a:rPr dirty="0" sz="2000">
                          <a:latin typeface="宋体"/>
                          <a:cs typeface="宋体"/>
                        </a:rPr>
                        <a:t>竞争产品</a:t>
                      </a:r>
                      <a:endParaRPr sz="2000">
                        <a:latin typeface="宋体"/>
                        <a:cs typeface="宋体"/>
                      </a:endParaRPr>
                    </a:p>
                  </a:txBody>
                  <a:tcPr marL="0" marR="0" marB="0" marT="30480"/>
                </a:tc>
                <a:tc>
                  <a:txBody>
                    <a:bodyPr/>
                    <a:lstStyle/>
                    <a:p>
                      <a:pPr>
                        <a:lnSpc>
                          <a:spcPct val="100000"/>
                        </a:lnSpc>
                      </a:pPr>
                      <a:endParaRPr sz="2000">
                        <a:latin typeface="Times New Roman"/>
                        <a:cs typeface="Times New Roman"/>
                      </a:endParaRPr>
                    </a:p>
                  </a:txBody>
                  <a:tcPr marL="0" marR="0" marB="0" marT="0"/>
                </a:tc>
                <a:tc>
                  <a:txBody>
                    <a:bodyPr/>
                    <a:lstStyle/>
                    <a:p>
                      <a:pPr algn="r" marR="38100">
                        <a:lnSpc>
                          <a:spcPct val="100000"/>
                        </a:lnSpc>
                        <a:spcBef>
                          <a:spcPts val="835"/>
                        </a:spcBef>
                      </a:pPr>
                      <a:r>
                        <a:rPr dirty="0" sz="1200">
                          <a:solidFill>
                            <a:srgbClr val="C0504D"/>
                          </a:solidFill>
                          <a:latin typeface="Wingdings"/>
                          <a:cs typeface="Wingdings"/>
                        </a:rPr>
                        <a:t></a:t>
                      </a:r>
                      <a:endParaRPr sz="1200">
                        <a:latin typeface="Wingdings"/>
                        <a:cs typeface="Wingdings"/>
                      </a:endParaRPr>
                    </a:p>
                  </a:txBody>
                  <a:tcPr marL="0" marR="0" marB="0" marT="106045"/>
                </a:tc>
                <a:tc>
                  <a:txBody>
                    <a:bodyPr/>
                    <a:lstStyle/>
                    <a:p>
                      <a:pPr marL="313690" marR="24130">
                        <a:lnSpc>
                          <a:spcPts val="2300"/>
                        </a:lnSpc>
                        <a:spcBef>
                          <a:spcPts val="195"/>
                        </a:spcBef>
                      </a:pPr>
                      <a:r>
                        <a:rPr dirty="0" sz="2000">
                          <a:latin typeface="宋体"/>
                          <a:cs typeface="宋体"/>
                        </a:rPr>
                        <a:t>客户的需求文档（委托</a:t>
                      </a:r>
                      <a:r>
                        <a:rPr dirty="0" sz="2000" spc="-10">
                          <a:latin typeface="宋体"/>
                          <a:cs typeface="宋体"/>
                        </a:rPr>
                        <a:t>开</a:t>
                      </a:r>
                      <a:r>
                        <a:rPr dirty="0" sz="2000">
                          <a:latin typeface="宋体"/>
                          <a:cs typeface="宋体"/>
                        </a:rPr>
                        <a:t>发的 </a:t>
                      </a:r>
                      <a:r>
                        <a:rPr dirty="0" sz="2000">
                          <a:latin typeface="宋体"/>
                          <a:cs typeface="宋体"/>
                        </a:rPr>
                        <a:t>规格说明、招标书）</a:t>
                      </a:r>
                      <a:endParaRPr sz="2000">
                        <a:latin typeface="宋体"/>
                        <a:cs typeface="宋体"/>
                      </a:endParaRPr>
                    </a:p>
                  </a:txBody>
                  <a:tcPr marL="0" marR="0" marB="0" marT="24765"/>
                </a:tc>
              </a:tr>
              <a:tr h="389339">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spcBef>
                          <a:spcPts val="30"/>
                        </a:spcBef>
                      </a:pPr>
                      <a:endParaRPr sz="1250">
                        <a:latin typeface="Times New Roman"/>
                        <a:cs typeface="Times New Roman"/>
                      </a:endParaRPr>
                    </a:p>
                    <a:p>
                      <a:pPr marL="88265">
                        <a:lnSpc>
                          <a:spcPct val="100000"/>
                        </a:lnSpc>
                      </a:pPr>
                      <a:r>
                        <a:rPr dirty="0" sz="1200">
                          <a:solidFill>
                            <a:srgbClr val="C00000"/>
                          </a:solidFill>
                          <a:latin typeface="Wingdings"/>
                          <a:cs typeface="Wingdings"/>
                        </a:rPr>
                        <a:t>◼</a:t>
                      </a:r>
                      <a:endParaRPr sz="1200">
                        <a:latin typeface="Wingdings"/>
                        <a:cs typeface="Wingdings"/>
                      </a:endParaRPr>
                    </a:p>
                  </a:txBody>
                  <a:tcPr marL="0" marR="0" marB="0" marT="3810"/>
                </a:tc>
                <a:tc>
                  <a:txBody>
                    <a:bodyPr/>
                    <a:lstStyle/>
                    <a:p>
                      <a:pPr marL="324485">
                        <a:lnSpc>
                          <a:spcPts val="2295"/>
                        </a:lnSpc>
                        <a:spcBef>
                          <a:spcPts val="670"/>
                        </a:spcBef>
                      </a:pPr>
                      <a:r>
                        <a:rPr dirty="0" sz="2000">
                          <a:latin typeface="宋体"/>
                          <a:cs typeface="宋体"/>
                        </a:rPr>
                        <a:t>协作产品（和解系统存</a:t>
                      </a:r>
                      <a:r>
                        <a:rPr dirty="0" sz="2000" spc="-10">
                          <a:latin typeface="宋体"/>
                          <a:cs typeface="宋体"/>
                        </a:rPr>
                        <a:t>在</a:t>
                      </a:r>
                      <a:r>
                        <a:rPr dirty="0" sz="2000">
                          <a:latin typeface="宋体"/>
                          <a:cs typeface="宋体"/>
                        </a:rPr>
                        <a:t>接口</a:t>
                      </a:r>
                      <a:endParaRPr sz="2000">
                        <a:latin typeface="宋体"/>
                        <a:cs typeface="宋体"/>
                      </a:endParaRPr>
                    </a:p>
                  </a:txBody>
                  <a:tcPr marL="0" marR="0" marB="0" marT="85090"/>
                </a:tc>
                <a:tc>
                  <a:txBody>
                    <a:bodyPr/>
                    <a:lstStyle/>
                    <a:p>
                      <a:pPr marL="98425">
                        <a:lnSpc>
                          <a:spcPct val="100000"/>
                        </a:lnSpc>
                        <a:spcBef>
                          <a:spcPts val="570"/>
                        </a:spcBef>
                      </a:pPr>
                      <a:r>
                        <a:rPr dirty="0" sz="1400">
                          <a:solidFill>
                            <a:srgbClr val="00663B"/>
                          </a:solidFill>
                          <a:latin typeface="Wingdings"/>
                          <a:cs typeface="Wingdings"/>
                        </a:rPr>
                        <a:t>◼</a:t>
                      </a:r>
                      <a:endParaRPr sz="1400">
                        <a:latin typeface="Wingdings"/>
                        <a:cs typeface="Wingdings"/>
                      </a:endParaRPr>
                    </a:p>
                  </a:txBody>
                  <a:tcPr marL="0" marR="0" marB="0" marT="72390"/>
                </a:tc>
                <a:tc>
                  <a:txBody>
                    <a:bodyPr/>
                    <a:lstStyle/>
                    <a:p>
                      <a:pPr>
                        <a:lnSpc>
                          <a:spcPct val="100000"/>
                        </a:lnSpc>
                      </a:pPr>
                      <a:endParaRPr sz="2000">
                        <a:latin typeface="Times New Roman"/>
                        <a:cs typeface="Times New Roman"/>
                      </a:endParaRPr>
                    </a:p>
                  </a:txBody>
                  <a:tcPr marL="0" marR="0" marB="0" marT="0"/>
                </a:tc>
                <a:tc>
                  <a:txBody>
                    <a:bodyPr/>
                    <a:lstStyle/>
                    <a:p>
                      <a:pPr marL="45085">
                        <a:lnSpc>
                          <a:spcPts val="2410"/>
                        </a:lnSpc>
                      </a:pPr>
                      <a:r>
                        <a:rPr dirty="0" sz="2200" spc="-5">
                          <a:latin typeface="宋体"/>
                          <a:cs typeface="宋体"/>
                        </a:rPr>
                        <a:t>相关技术标准和法规</a:t>
                      </a:r>
                      <a:endParaRPr sz="2200">
                        <a:latin typeface="宋体"/>
                        <a:cs typeface="宋体"/>
                      </a:endParaRPr>
                    </a:p>
                  </a:txBody>
                  <a:tcPr marL="0" marR="0" marB="0" marT="0"/>
                </a:tc>
              </a:tr>
              <a:tr h="325555">
                <a:tc>
                  <a:txBody>
                    <a:bodyPr/>
                    <a:lstStyle/>
                    <a:p>
                      <a:pPr>
                        <a:lnSpc>
                          <a:spcPct val="100000"/>
                        </a:lnSpc>
                      </a:pPr>
                      <a:endParaRPr sz="2000">
                        <a:latin typeface="Times New Roman"/>
                        <a:cs typeface="Times New Roman"/>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marL="324485">
                        <a:lnSpc>
                          <a:spcPts val="2250"/>
                        </a:lnSpc>
                      </a:pPr>
                      <a:r>
                        <a:rPr dirty="0" sz="2000">
                          <a:latin typeface="宋体"/>
                          <a:cs typeface="宋体"/>
                        </a:rPr>
                        <a:t>的其他软件系统）</a:t>
                      </a:r>
                      <a:endParaRPr sz="2000">
                        <a:latin typeface="宋体"/>
                        <a:cs typeface="宋体"/>
                      </a:endParaRPr>
                    </a:p>
                  </a:txBody>
                  <a:tcPr marL="0" marR="0" marB="0" marT="0"/>
                </a:tc>
                <a:tc>
                  <a:txBody>
                    <a:bodyPr/>
                    <a:lstStyle/>
                    <a:p>
                      <a:pPr>
                        <a:lnSpc>
                          <a:spcPct val="100000"/>
                        </a:lnSpc>
                      </a:pPr>
                      <a:endParaRPr sz="2000">
                        <a:latin typeface="Times New Roman"/>
                        <a:cs typeface="Times New Roman"/>
                      </a:endParaRPr>
                    </a:p>
                  </a:txBody>
                  <a:tcPr marL="0" marR="0" marB="0" marT="0"/>
                </a:tc>
                <a:tc>
                  <a:txBody>
                    <a:bodyPr/>
                    <a:lstStyle/>
                    <a:p>
                      <a:pPr algn="r" marR="38100">
                        <a:lnSpc>
                          <a:spcPct val="100000"/>
                        </a:lnSpc>
                        <a:spcBef>
                          <a:spcPts val="635"/>
                        </a:spcBef>
                      </a:pPr>
                      <a:r>
                        <a:rPr dirty="0" sz="1200">
                          <a:solidFill>
                            <a:srgbClr val="C0504D"/>
                          </a:solidFill>
                          <a:latin typeface="Wingdings"/>
                          <a:cs typeface="Wingdings"/>
                        </a:rPr>
                        <a:t></a:t>
                      </a:r>
                      <a:endParaRPr sz="1200">
                        <a:latin typeface="Wingdings"/>
                        <a:cs typeface="Wingdings"/>
                      </a:endParaRPr>
                    </a:p>
                  </a:txBody>
                  <a:tcPr marL="0" marR="0" marB="0" marT="80645"/>
                </a:tc>
                <a:tc>
                  <a:txBody>
                    <a:bodyPr/>
                    <a:lstStyle/>
                    <a:p>
                      <a:pPr marL="313690">
                        <a:lnSpc>
                          <a:spcPts val="2235"/>
                        </a:lnSpc>
                      </a:pPr>
                      <a:r>
                        <a:rPr dirty="0" sz="2000">
                          <a:latin typeface="宋体"/>
                          <a:cs typeface="宋体"/>
                        </a:rPr>
                        <a:t>相关法律、法规及规章</a:t>
                      </a:r>
                      <a:r>
                        <a:rPr dirty="0" sz="2000" spc="-10">
                          <a:latin typeface="宋体"/>
                          <a:cs typeface="宋体"/>
                        </a:rPr>
                        <a:t>制</a:t>
                      </a:r>
                      <a:r>
                        <a:rPr dirty="0" sz="2000">
                          <a:latin typeface="宋体"/>
                          <a:cs typeface="宋体"/>
                        </a:rPr>
                        <a:t>度</a:t>
                      </a:r>
                      <a:endParaRPr sz="2000">
                        <a:latin typeface="宋体"/>
                        <a:cs typeface="宋体"/>
                      </a:endParaRPr>
                    </a:p>
                  </a:txBody>
                  <a:tcPr marL="0" marR="0" marB="0" marT="0"/>
                </a:tc>
              </a:tr>
              <a:tr h="309194">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a:lnSpc>
                          <a:spcPct val="100000"/>
                        </a:lnSpc>
                      </a:pPr>
                      <a:endParaRPr sz="1900">
                        <a:latin typeface="Times New Roman"/>
                        <a:cs typeface="Times New Roman"/>
                      </a:endParaRPr>
                    </a:p>
                  </a:txBody>
                  <a:tcPr marL="0" marR="0" marB="0" marT="0"/>
                </a:tc>
                <a:tc>
                  <a:txBody>
                    <a:bodyPr/>
                    <a:lstStyle/>
                    <a:p>
                      <a:pPr algn="r" marR="38100">
                        <a:lnSpc>
                          <a:spcPts val="1380"/>
                        </a:lnSpc>
                        <a:spcBef>
                          <a:spcPts val="950"/>
                        </a:spcBef>
                      </a:pPr>
                      <a:r>
                        <a:rPr dirty="0" sz="1200">
                          <a:solidFill>
                            <a:srgbClr val="C0504D"/>
                          </a:solidFill>
                          <a:latin typeface="Wingdings"/>
                          <a:cs typeface="Wingdings"/>
                        </a:rPr>
                        <a:t></a:t>
                      </a:r>
                      <a:endParaRPr sz="1200">
                        <a:latin typeface="Wingdings"/>
                        <a:cs typeface="Wingdings"/>
                      </a:endParaRPr>
                    </a:p>
                  </a:txBody>
                  <a:tcPr marL="0" marR="0" marB="0" marT="120650"/>
                </a:tc>
                <a:tc>
                  <a:txBody>
                    <a:bodyPr/>
                    <a:lstStyle/>
                    <a:p>
                      <a:pPr marL="313690">
                        <a:lnSpc>
                          <a:spcPts val="2180"/>
                        </a:lnSpc>
                        <a:spcBef>
                          <a:spcPts val="150"/>
                        </a:spcBef>
                      </a:pPr>
                      <a:r>
                        <a:rPr dirty="0" sz="2000">
                          <a:latin typeface="宋体"/>
                          <a:cs typeface="宋体"/>
                        </a:rPr>
                        <a:t>行业规范、行业标准</a:t>
                      </a:r>
                      <a:endParaRPr sz="2000">
                        <a:latin typeface="宋体"/>
                        <a:cs typeface="宋体"/>
                      </a:endParaRPr>
                    </a:p>
                  </a:txBody>
                  <a:tcPr marL="0" marR="0" marB="0" marT="190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2126" y="129997"/>
            <a:ext cx="4081145"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1.3.3</a:t>
            </a:r>
            <a:r>
              <a:rPr dirty="0" spc="-105">
                <a:latin typeface="Calibri"/>
                <a:cs typeface="Calibri"/>
              </a:rPr>
              <a:t> </a:t>
            </a:r>
            <a:r>
              <a:rPr dirty="0" spc="5"/>
              <a:t>获取的方法</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225422"/>
            <a:ext cx="8107680" cy="435737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8846"/>
              <a:buFont typeface="Wingdings"/>
              <a:buChar char=""/>
              <a:tabLst>
                <a:tab pos="355600" algn="l"/>
                <a:tab pos="356235" algn="l"/>
              </a:tabLst>
            </a:pPr>
            <a:r>
              <a:rPr dirty="0" sz="2600">
                <a:latin typeface="宋体"/>
                <a:cs typeface="宋体"/>
              </a:rPr>
              <a:t>传统方法</a:t>
            </a:r>
            <a:endParaRPr sz="2600">
              <a:latin typeface="宋体"/>
              <a:cs typeface="宋体"/>
            </a:endParaRPr>
          </a:p>
          <a:p>
            <a:pPr lvl="1" marL="756285" indent="-287020">
              <a:lnSpc>
                <a:spcPct val="100000"/>
              </a:lnSpc>
              <a:spcBef>
                <a:spcPts val="15"/>
              </a:spcBef>
              <a:buClr>
                <a:srgbClr val="C00000"/>
              </a:buClr>
              <a:buSzPct val="59090"/>
              <a:buFont typeface="Wingdings"/>
              <a:buChar char=""/>
              <a:tabLst>
                <a:tab pos="756285" algn="l"/>
                <a:tab pos="756920" algn="l"/>
              </a:tabLst>
            </a:pPr>
            <a:r>
              <a:rPr dirty="0" sz="2200" spc="-5">
                <a:latin typeface="宋体"/>
                <a:cs typeface="宋体"/>
              </a:rPr>
              <a:t>面谈、问卷调查、硬数据分析、文</a:t>
            </a:r>
            <a:r>
              <a:rPr dirty="0" sz="2200">
                <a:latin typeface="宋体"/>
                <a:cs typeface="宋体"/>
              </a:rPr>
              <a:t>档</a:t>
            </a:r>
            <a:r>
              <a:rPr dirty="0" sz="2200" spc="-5">
                <a:latin typeface="宋体"/>
                <a:cs typeface="宋体"/>
              </a:rPr>
              <a:t>检查</a:t>
            </a:r>
            <a:r>
              <a:rPr dirty="0" sz="2200">
                <a:latin typeface="宋体"/>
                <a:cs typeface="宋体"/>
              </a:rPr>
              <a:t>、</a:t>
            </a:r>
            <a:r>
              <a:rPr dirty="0" sz="2200" spc="-5">
                <a:latin typeface="宋体"/>
                <a:cs typeface="宋体"/>
              </a:rPr>
              <a:t>需求</a:t>
            </a:r>
            <a:r>
              <a:rPr dirty="0" sz="2200">
                <a:latin typeface="宋体"/>
                <a:cs typeface="宋体"/>
              </a:rPr>
              <a:t>剥</a:t>
            </a:r>
            <a:r>
              <a:rPr dirty="0" sz="2200" spc="-5">
                <a:latin typeface="宋体"/>
                <a:cs typeface="宋体"/>
              </a:rPr>
              <a:t>离等</a:t>
            </a:r>
            <a:endParaRPr sz="2200">
              <a:latin typeface="宋体"/>
              <a:cs typeface="宋体"/>
            </a:endParaRPr>
          </a:p>
          <a:p>
            <a:pPr lvl="1">
              <a:lnSpc>
                <a:spcPct val="100000"/>
              </a:lnSpc>
              <a:spcBef>
                <a:spcPts val="10"/>
              </a:spcBef>
              <a:buClr>
                <a:srgbClr val="C00000"/>
              </a:buClr>
              <a:buFont typeface="Wingdings"/>
              <a:buChar char=""/>
            </a:pPr>
            <a:endParaRPr sz="1550">
              <a:latin typeface="宋体"/>
              <a:cs typeface="宋体"/>
            </a:endParaRPr>
          </a:p>
          <a:p>
            <a:pPr marL="355600" indent="-343535">
              <a:lnSpc>
                <a:spcPct val="100000"/>
              </a:lnSpc>
              <a:spcBef>
                <a:spcPts val="5"/>
              </a:spcBef>
              <a:buClr>
                <a:srgbClr val="00663B"/>
              </a:buClr>
              <a:buSzPct val="78846"/>
              <a:buFont typeface="Wingdings"/>
              <a:buChar char=""/>
              <a:tabLst>
                <a:tab pos="355600" algn="l"/>
                <a:tab pos="356235" algn="l"/>
              </a:tabLst>
            </a:pPr>
            <a:r>
              <a:rPr dirty="0" sz="2600">
                <a:latin typeface="宋体"/>
                <a:cs typeface="宋体"/>
              </a:rPr>
              <a:t>集体获取方法</a:t>
            </a:r>
            <a:endParaRPr sz="2600">
              <a:latin typeface="宋体"/>
              <a:cs typeface="宋体"/>
            </a:endParaRPr>
          </a:p>
          <a:p>
            <a:pPr lvl="1" marL="756285" indent="-287020">
              <a:lnSpc>
                <a:spcPct val="100000"/>
              </a:lnSpc>
              <a:spcBef>
                <a:spcPts val="15"/>
              </a:spcBef>
              <a:buClr>
                <a:srgbClr val="C00000"/>
              </a:buClr>
              <a:buSzPct val="59090"/>
              <a:buFont typeface="Wingdings"/>
              <a:buChar char=""/>
              <a:tabLst>
                <a:tab pos="756285" algn="l"/>
                <a:tab pos="756920" algn="l"/>
              </a:tabLst>
            </a:pPr>
            <a:r>
              <a:rPr dirty="0" sz="2200" spc="-5">
                <a:latin typeface="宋体"/>
                <a:cs typeface="宋体"/>
              </a:rPr>
              <a:t>头脑风暴</a:t>
            </a:r>
            <a:r>
              <a:rPr dirty="0" sz="2200" spc="-5">
                <a:latin typeface="Calibri"/>
                <a:cs typeface="Calibri"/>
              </a:rPr>
              <a:t>(Brainstorming)</a:t>
            </a:r>
            <a:r>
              <a:rPr dirty="0" sz="2200" spc="-5">
                <a:latin typeface="宋体"/>
                <a:cs typeface="宋体"/>
              </a:rPr>
              <a:t>、专题讨论会</a:t>
            </a:r>
            <a:r>
              <a:rPr dirty="0" sz="2200" spc="-10">
                <a:latin typeface="Calibri"/>
                <a:cs typeface="Calibri"/>
              </a:rPr>
              <a:t>(Workshop)</a:t>
            </a:r>
            <a:r>
              <a:rPr dirty="0" sz="2200" spc="-5">
                <a:latin typeface="宋体"/>
                <a:cs typeface="宋体"/>
              </a:rPr>
              <a:t>、</a:t>
            </a:r>
            <a:r>
              <a:rPr dirty="0" sz="2200" spc="-5">
                <a:latin typeface="Calibri"/>
                <a:cs typeface="Calibri"/>
              </a:rPr>
              <a:t>JAD</a:t>
            </a:r>
            <a:r>
              <a:rPr dirty="0" sz="2200" spc="-5">
                <a:latin typeface="宋体"/>
                <a:cs typeface="宋体"/>
              </a:rPr>
              <a:t>等</a:t>
            </a:r>
            <a:endParaRPr sz="2200">
              <a:latin typeface="宋体"/>
              <a:cs typeface="宋体"/>
            </a:endParaRPr>
          </a:p>
          <a:p>
            <a:pPr marL="355600" indent="-343535">
              <a:lnSpc>
                <a:spcPct val="100000"/>
              </a:lnSpc>
              <a:spcBef>
                <a:spcPts val="2000"/>
              </a:spcBef>
              <a:buClr>
                <a:srgbClr val="00663B"/>
              </a:buClr>
              <a:buSzPct val="78846"/>
              <a:buFont typeface="Wingdings"/>
              <a:buChar char=""/>
              <a:tabLst>
                <a:tab pos="355600" algn="l"/>
                <a:tab pos="356235" algn="l"/>
              </a:tabLst>
            </a:pPr>
            <a:r>
              <a:rPr dirty="0" sz="2600">
                <a:latin typeface="宋体"/>
                <a:cs typeface="宋体"/>
              </a:rPr>
              <a:t>原型</a:t>
            </a:r>
            <a:endParaRPr sz="2600">
              <a:latin typeface="宋体"/>
              <a:cs typeface="宋体"/>
            </a:endParaRPr>
          </a:p>
          <a:p>
            <a:pPr marL="355600" indent="-343535">
              <a:lnSpc>
                <a:spcPct val="100000"/>
              </a:lnSpc>
              <a:spcBef>
                <a:spcPts val="1875"/>
              </a:spcBef>
              <a:buClr>
                <a:srgbClr val="00663B"/>
              </a:buClr>
              <a:buSzPct val="78846"/>
              <a:buFont typeface="Wingdings"/>
              <a:buChar char=""/>
              <a:tabLst>
                <a:tab pos="355600" algn="l"/>
                <a:tab pos="356235" algn="l"/>
              </a:tabLst>
            </a:pPr>
            <a:r>
              <a:rPr dirty="0" sz="2600">
                <a:latin typeface="宋体"/>
                <a:cs typeface="宋体"/>
              </a:rPr>
              <a:t>认知方法</a:t>
            </a:r>
            <a:endParaRPr sz="2600">
              <a:latin typeface="宋体"/>
              <a:cs typeface="宋体"/>
            </a:endParaRPr>
          </a:p>
          <a:p>
            <a:pPr lvl="1" marL="756285" indent="-287020">
              <a:lnSpc>
                <a:spcPct val="100000"/>
              </a:lnSpc>
              <a:spcBef>
                <a:spcPts val="15"/>
              </a:spcBef>
              <a:buClr>
                <a:srgbClr val="C00000"/>
              </a:buClr>
              <a:buSzPct val="59090"/>
              <a:buFont typeface="Wingdings"/>
              <a:buChar char=""/>
              <a:tabLst>
                <a:tab pos="756285" algn="l"/>
                <a:tab pos="756920" algn="l"/>
              </a:tabLst>
            </a:pPr>
            <a:r>
              <a:rPr dirty="0" sz="2200" spc="-5">
                <a:latin typeface="宋体"/>
                <a:cs typeface="宋体"/>
              </a:rPr>
              <a:t>任务分析</a:t>
            </a:r>
            <a:r>
              <a:rPr dirty="0" sz="2200" spc="-5">
                <a:latin typeface="Calibri"/>
                <a:cs typeface="Calibri"/>
              </a:rPr>
              <a:t>(Task</a:t>
            </a:r>
            <a:r>
              <a:rPr dirty="0" sz="2200" spc="25">
                <a:latin typeface="Calibri"/>
                <a:cs typeface="Calibri"/>
              </a:rPr>
              <a:t> </a:t>
            </a:r>
            <a:r>
              <a:rPr dirty="0" sz="2200" spc="-5">
                <a:latin typeface="Calibri"/>
                <a:cs typeface="Calibri"/>
              </a:rPr>
              <a:t>Analysis)</a:t>
            </a:r>
            <a:r>
              <a:rPr dirty="0" sz="2200" spc="-5">
                <a:latin typeface="宋体"/>
                <a:cs typeface="宋体"/>
              </a:rPr>
              <a:t>、协议分析</a:t>
            </a:r>
            <a:r>
              <a:rPr dirty="0" sz="2200" spc="-5">
                <a:latin typeface="Calibri"/>
                <a:cs typeface="Calibri"/>
              </a:rPr>
              <a:t>(Protocol Analysis)</a:t>
            </a:r>
            <a:r>
              <a:rPr dirty="0" sz="2200" spc="-5">
                <a:latin typeface="宋体"/>
                <a:cs typeface="宋体"/>
              </a:rPr>
              <a:t>等</a:t>
            </a:r>
            <a:endParaRPr sz="2200">
              <a:latin typeface="宋体"/>
              <a:cs typeface="宋体"/>
            </a:endParaRPr>
          </a:p>
          <a:p>
            <a:pPr marL="355600" indent="-343535">
              <a:lnSpc>
                <a:spcPct val="100000"/>
              </a:lnSpc>
              <a:spcBef>
                <a:spcPts val="2000"/>
              </a:spcBef>
              <a:buClr>
                <a:srgbClr val="00663B"/>
              </a:buClr>
              <a:buSzPct val="78846"/>
              <a:buFont typeface="Wingdings"/>
              <a:buChar char=""/>
              <a:tabLst>
                <a:tab pos="355600" algn="l"/>
                <a:tab pos="356235" algn="l"/>
              </a:tabLst>
            </a:pPr>
            <a:r>
              <a:rPr dirty="0" sz="2600">
                <a:latin typeface="宋体"/>
                <a:cs typeface="宋体"/>
              </a:rPr>
              <a:t>基于上下文的方法</a:t>
            </a:r>
            <a:endParaRPr sz="2600">
              <a:latin typeface="宋体"/>
              <a:cs typeface="宋体"/>
            </a:endParaRPr>
          </a:p>
          <a:p>
            <a:pPr lvl="1" marL="756285" indent="-287020">
              <a:lnSpc>
                <a:spcPct val="100000"/>
              </a:lnSpc>
              <a:spcBef>
                <a:spcPts val="20"/>
              </a:spcBef>
              <a:buClr>
                <a:srgbClr val="C00000"/>
              </a:buClr>
              <a:buSzPct val="59090"/>
              <a:buFont typeface="Wingdings"/>
              <a:buChar char=""/>
              <a:tabLst>
                <a:tab pos="756285" algn="l"/>
                <a:tab pos="756920" algn="l"/>
              </a:tabLst>
            </a:pPr>
            <a:r>
              <a:rPr dirty="0" sz="2200" spc="-5">
                <a:latin typeface="宋体"/>
                <a:cs typeface="宋体"/>
              </a:rPr>
              <a:t>观察、民族志</a:t>
            </a:r>
            <a:r>
              <a:rPr dirty="0" sz="2200" spc="-5">
                <a:latin typeface="Calibri"/>
                <a:cs typeface="Calibri"/>
              </a:rPr>
              <a:t>(Ethnography)</a:t>
            </a:r>
            <a:r>
              <a:rPr dirty="0" sz="2200" spc="-5">
                <a:latin typeface="宋体"/>
                <a:cs typeface="宋体"/>
              </a:rPr>
              <a:t>和话语分析</a:t>
            </a:r>
            <a:r>
              <a:rPr dirty="0" sz="2200" spc="-5">
                <a:latin typeface="Calibri"/>
                <a:cs typeface="Calibri"/>
              </a:rPr>
              <a:t>(Conversation</a:t>
            </a:r>
            <a:r>
              <a:rPr dirty="0" sz="2200" spc="15">
                <a:latin typeface="Calibri"/>
                <a:cs typeface="Calibri"/>
              </a:rPr>
              <a:t> </a:t>
            </a:r>
            <a:r>
              <a:rPr dirty="0" sz="2200" spc="-5">
                <a:latin typeface="Calibri"/>
                <a:cs typeface="Calibri"/>
              </a:rPr>
              <a:t>Analysis)</a:t>
            </a:r>
            <a:endParaRPr sz="22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97533" y="213182"/>
            <a:ext cx="5945505" cy="605790"/>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1.3.4</a:t>
            </a:r>
            <a:r>
              <a:rPr dirty="0" sz="3800" spc="-75">
                <a:latin typeface="Calibri"/>
                <a:cs typeface="Calibri"/>
              </a:rPr>
              <a:t> </a:t>
            </a:r>
            <a:r>
              <a:rPr dirty="0" sz="3800" spc="5"/>
              <a:t>获取的过</a:t>
            </a:r>
            <a:r>
              <a:rPr dirty="0" sz="3800" spc="-5"/>
              <a:t>程</a:t>
            </a:r>
            <a:r>
              <a:rPr dirty="0" sz="3800">
                <a:latin typeface="Arial"/>
                <a:cs typeface="Arial"/>
              </a:rPr>
              <a:t>—</a:t>
            </a:r>
            <a:r>
              <a:rPr dirty="0" u="heavy" sz="3800">
                <a:uFill>
                  <a:solidFill>
                    <a:srgbClr val="00663B"/>
                  </a:solidFill>
                </a:uFill>
              </a:rPr>
              <a:t>注意事项</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2891" y="1174630"/>
            <a:ext cx="7879080" cy="4542155"/>
          </a:xfrm>
          <a:prstGeom prst="rect">
            <a:avLst/>
          </a:prstGeom>
        </p:spPr>
        <p:txBody>
          <a:bodyPr wrap="square" lIns="0" tIns="114300" rIns="0" bIns="0" rtlCol="0" vert="horz">
            <a:spAutoFit/>
          </a:bodyPr>
          <a:lstStyle/>
          <a:p>
            <a:pPr marL="355600" indent="-342900">
              <a:lnSpc>
                <a:spcPct val="100000"/>
              </a:lnSpc>
              <a:spcBef>
                <a:spcPts val="900"/>
              </a:spcBef>
              <a:buClr>
                <a:srgbClr val="00663B"/>
              </a:buClr>
              <a:buSzPct val="79687"/>
              <a:buFont typeface="Wingdings"/>
              <a:buChar char=""/>
              <a:tabLst>
                <a:tab pos="355600" algn="l"/>
              </a:tabLst>
            </a:pPr>
            <a:r>
              <a:rPr dirty="0" sz="3200">
                <a:latin typeface="宋体"/>
                <a:cs typeface="宋体"/>
              </a:rPr>
              <a:t>在整体上制定组织方案</a:t>
            </a:r>
            <a:endParaRPr sz="3200">
              <a:latin typeface="宋体"/>
              <a:cs typeface="宋体"/>
            </a:endParaRPr>
          </a:p>
          <a:p>
            <a:pPr lvl="1" marL="756285" indent="-287655">
              <a:lnSpc>
                <a:spcPts val="3350"/>
              </a:lnSpc>
              <a:spcBef>
                <a:spcPts val="690"/>
              </a:spcBef>
              <a:buClr>
                <a:srgbClr val="C00000"/>
              </a:buClr>
              <a:buSzPct val="58928"/>
              <a:buFont typeface="Wingdings"/>
              <a:buChar char=""/>
              <a:tabLst>
                <a:tab pos="756285" algn="l"/>
                <a:tab pos="756920" algn="l"/>
              </a:tabLst>
            </a:pPr>
            <a:r>
              <a:rPr dirty="0" sz="2800" spc="-5">
                <a:latin typeface="宋体"/>
                <a:cs typeface="宋体"/>
              </a:rPr>
              <a:t>确定系统的边界，建立上下文图或</a:t>
            </a:r>
            <a:r>
              <a:rPr dirty="0" sz="2800" spc="5">
                <a:latin typeface="宋体"/>
                <a:cs typeface="宋体"/>
              </a:rPr>
              <a:t>系</a:t>
            </a:r>
            <a:r>
              <a:rPr dirty="0" sz="2800" spc="-5">
                <a:latin typeface="宋体"/>
                <a:cs typeface="宋体"/>
              </a:rPr>
              <a:t>统用</a:t>
            </a:r>
            <a:r>
              <a:rPr dirty="0" sz="2800" spc="5">
                <a:latin typeface="宋体"/>
                <a:cs typeface="宋体"/>
              </a:rPr>
              <a:t>例</a:t>
            </a:r>
            <a:r>
              <a:rPr dirty="0" sz="2800" spc="-5">
                <a:latin typeface="宋体"/>
                <a:cs typeface="宋体"/>
              </a:rPr>
              <a:t>图</a:t>
            </a:r>
            <a:endParaRPr sz="2800">
              <a:latin typeface="宋体"/>
              <a:cs typeface="宋体"/>
            </a:endParaRPr>
          </a:p>
          <a:p>
            <a:pPr marL="355600" indent="-342900">
              <a:lnSpc>
                <a:spcPts val="3829"/>
              </a:lnSpc>
              <a:buClr>
                <a:srgbClr val="00663B"/>
              </a:buClr>
              <a:buSzPct val="79687"/>
              <a:buFont typeface="Wingdings"/>
              <a:buChar char=""/>
              <a:tabLst>
                <a:tab pos="355600" algn="l"/>
              </a:tabLst>
            </a:pPr>
            <a:r>
              <a:rPr dirty="0" sz="3200">
                <a:latin typeface="宋体"/>
                <a:cs typeface="宋体"/>
              </a:rPr>
              <a:t>维护项目的前景和范围</a:t>
            </a:r>
            <a:endParaRPr sz="3200">
              <a:latin typeface="宋体"/>
              <a:cs typeface="宋体"/>
            </a:endParaRPr>
          </a:p>
          <a:p>
            <a:pPr>
              <a:lnSpc>
                <a:spcPct val="100000"/>
              </a:lnSpc>
              <a:buClr>
                <a:srgbClr val="00663B"/>
              </a:buClr>
              <a:buFont typeface="Wingdings"/>
              <a:buChar char=""/>
            </a:pPr>
            <a:endParaRPr sz="3000">
              <a:latin typeface="宋体"/>
              <a:cs typeface="宋体"/>
            </a:endParaRPr>
          </a:p>
          <a:p>
            <a:pPr marL="355600" indent="-342900">
              <a:lnSpc>
                <a:spcPct val="100000"/>
              </a:lnSpc>
              <a:buClr>
                <a:srgbClr val="00663B"/>
              </a:buClr>
              <a:buSzPct val="79687"/>
              <a:buFont typeface="Wingdings"/>
              <a:buChar char=""/>
              <a:tabLst>
                <a:tab pos="355600" algn="l"/>
              </a:tabLst>
            </a:pPr>
            <a:r>
              <a:rPr dirty="0" sz="3200">
                <a:latin typeface="宋体"/>
                <a:cs typeface="宋体"/>
              </a:rPr>
              <a:t>引导和控制获取过程</a:t>
            </a:r>
            <a:endParaRPr sz="3200">
              <a:latin typeface="宋体"/>
              <a:cs typeface="宋体"/>
            </a:endParaRPr>
          </a:p>
          <a:p>
            <a:pPr>
              <a:lnSpc>
                <a:spcPct val="100000"/>
              </a:lnSpc>
              <a:spcBef>
                <a:spcPts val="60"/>
              </a:spcBef>
              <a:buClr>
                <a:srgbClr val="00663B"/>
              </a:buClr>
              <a:buFont typeface="Wingdings"/>
              <a:buChar char=""/>
            </a:pPr>
            <a:endParaRPr sz="2950">
              <a:latin typeface="宋体"/>
              <a:cs typeface="宋体"/>
            </a:endParaRPr>
          </a:p>
          <a:p>
            <a:pPr marL="355600" indent="-342900">
              <a:lnSpc>
                <a:spcPct val="100000"/>
              </a:lnSpc>
              <a:buClr>
                <a:srgbClr val="00663B"/>
              </a:buClr>
              <a:buSzPct val="79687"/>
              <a:buFont typeface="Wingdings"/>
              <a:buChar char=""/>
              <a:tabLst>
                <a:tab pos="355600" algn="l"/>
              </a:tabLst>
            </a:pPr>
            <a:r>
              <a:rPr dirty="0" sz="3200">
                <a:latin typeface="宋体"/>
                <a:cs typeface="宋体"/>
              </a:rPr>
              <a:t>接受需求的不稳定性</a:t>
            </a:r>
            <a:endParaRPr sz="3200">
              <a:latin typeface="宋体"/>
              <a:cs typeface="宋体"/>
            </a:endParaRPr>
          </a:p>
          <a:p>
            <a:pPr>
              <a:lnSpc>
                <a:spcPct val="100000"/>
              </a:lnSpc>
              <a:buClr>
                <a:srgbClr val="00663B"/>
              </a:buClr>
              <a:buFont typeface="Wingdings"/>
              <a:buChar char=""/>
            </a:pPr>
            <a:endParaRPr sz="3000">
              <a:latin typeface="宋体"/>
              <a:cs typeface="宋体"/>
            </a:endParaRPr>
          </a:p>
          <a:p>
            <a:pPr marL="355600" indent="-342900">
              <a:lnSpc>
                <a:spcPct val="100000"/>
              </a:lnSpc>
              <a:buClr>
                <a:srgbClr val="00663B"/>
              </a:buClr>
              <a:buSzPct val="79687"/>
              <a:buFont typeface="Wingdings"/>
              <a:buChar char=""/>
              <a:tabLst>
                <a:tab pos="355600" algn="l"/>
              </a:tabLst>
            </a:pPr>
            <a:r>
              <a:rPr dirty="0" sz="3200">
                <a:latin typeface="宋体"/>
                <a:cs typeface="宋体"/>
              </a:rPr>
              <a:t>控制探索性工作</a:t>
            </a:r>
            <a:endParaRPr sz="3200">
              <a:latin typeface="宋体"/>
              <a:cs typeface="宋体"/>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4158" y="269824"/>
            <a:ext cx="7016750" cy="605790"/>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1.3.4</a:t>
            </a:r>
            <a:r>
              <a:rPr dirty="0" sz="3800" spc="-45">
                <a:latin typeface="Calibri"/>
                <a:cs typeface="Calibri"/>
              </a:rPr>
              <a:t> </a:t>
            </a:r>
            <a:r>
              <a:rPr dirty="0" sz="3800" spc="5"/>
              <a:t>获取的过</a:t>
            </a:r>
            <a:r>
              <a:rPr dirty="0" sz="3800" spc="-5"/>
              <a:t>程</a:t>
            </a:r>
            <a:r>
              <a:rPr dirty="0" sz="3800" spc="5">
                <a:latin typeface="Arial"/>
                <a:cs typeface="Arial"/>
              </a:rPr>
              <a:t>—</a:t>
            </a:r>
            <a:r>
              <a:rPr dirty="0" sz="3800" spc="-270">
                <a:latin typeface="Arial"/>
                <a:cs typeface="Arial"/>
              </a:rPr>
              <a:t> </a:t>
            </a:r>
            <a:r>
              <a:rPr dirty="0" sz="3800"/>
              <a:t>防止需求遗漏</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61543" y="1173019"/>
            <a:ext cx="7691120" cy="3957954"/>
          </a:xfrm>
          <a:prstGeom prst="rect">
            <a:avLst/>
          </a:prstGeom>
        </p:spPr>
        <p:txBody>
          <a:bodyPr wrap="square" lIns="0" tIns="42545" rIns="0" bIns="0" rtlCol="0" vert="horz">
            <a:spAutoFit/>
          </a:bodyPr>
          <a:lstStyle/>
          <a:p>
            <a:pPr algn="just" marL="355600" indent="-342900">
              <a:lnSpc>
                <a:spcPct val="100000"/>
              </a:lnSpc>
              <a:spcBef>
                <a:spcPts val="335"/>
              </a:spcBef>
              <a:buClr>
                <a:srgbClr val="00663B"/>
              </a:buClr>
              <a:buSzPct val="79687"/>
              <a:buFont typeface="Wingdings"/>
              <a:buChar char=""/>
              <a:tabLst>
                <a:tab pos="355600" algn="l"/>
              </a:tabLst>
            </a:pPr>
            <a:r>
              <a:rPr dirty="0" sz="3200">
                <a:latin typeface="宋体"/>
                <a:cs typeface="宋体"/>
              </a:rPr>
              <a:t>务必让</a:t>
            </a:r>
            <a:r>
              <a:rPr dirty="0" sz="3200">
                <a:solidFill>
                  <a:srgbClr val="00A15F"/>
                </a:solidFill>
                <a:latin typeface="宋体"/>
                <a:cs typeface="宋体"/>
              </a:rPr>
              <a:t>所有的涉众</a:t>
            </a:r>
            <a:r>
              <a:rPr dirty="0" sz="3200">
                <a:latin typeface="宋体"/>
                <a:cs typeface="宋体"/>
              </a:rPr>
              <a:t>都表</a:t>
            </a:r>
            <a:r>
              <a:rPr dirty="0" sz="3200" spc="-15">
                <a:latin typeface="宋体"/>
                <a:cs typeface="宋体"/>
              </a:rPr>
              <a:t>达</a:t>
            </a:r>
            <a:r>
              <a:rPr dirty="0" sz="3200">
                <a:latin typeface="宋体"/>
                <a:cs typeface="宋体"/>
              </a:rPr>
              <a:t>出自</a:t>
            </a:r>
            <a:r>
              <a:rPr dirty="0" sz="3200" spc="-15">
                <a:latin typeface="宋体"/>
                <a:cs typeface="宋体"/>
              </a:rPr>
              <a:t>己</a:t>
            </a:r>
            <a:r>
              <a:rPr dirty="0" sz="3200">
                <a:latin typeface="宋体"/>
                <a:cs typeface="宋体"/>
              </a:rPr>
              <a:t>的意</a:t>
            </a:r>
            <a:r>
              <a:rPr dirty="0" sz="3200" spc="-15">
                <a:latin typeface="宋体"/>
                <a:cs typeface="宋体"/>
              </a:rPr>
              <a:t>见</a:t>
            </a:r>
            <a:r>
              <a:rPr dirty="0" sz="3200">
                <a:latin typeface="宋体"/>
                <a:cs typeface="宋体"/>
              </a:rPr>
              <a:t>。</a:t>
            </a:r>
            <a:endParaRPr sz="3200">
              <a:latin typeface="宋体"/>
              <a:cs typeface="宋体"/>
            </a:endParaRPr>
          </a:p>
          <a:p>
            <a:pPr algn="just" marL="354965" marR="5080" indent="-342900">
              <a:lnSpc>
                <a:spcPct val="96900"/>
              </a:lnSpc>
              <a:spcBef>
                <a:spcPts val="360"/>
              </a:spcBef>
              <a:buClr>
                <a:srgbClr val="00663B"/>
              </a:buClr>
              <a:buSzPct val="79687"/>
              <a:buFont typeface="Wingdings"/>
              <a:buChar char=""/>
              <a:tabLst>
                <a:tab pos="355600" algn="l"/>
              </a:tabLst>
            </a:pPr>
            <a:r>
              <a:rPr dirty="0" sz="3200">
                <a:latin typeface="宋体"/>
                <a:cs typeface="宋体"/>
              </a:rPr>
              <a:t>不要</a:t>
            </a:r>
            <a:r>
              <a:rPr dirty="0" sz="3200" spc="5">
                <a:latin typeface="宋体"/>
                <a:cs typeface="宋体"/>
              </a:rPr>
              <a:t>以</a:t>
            </a:r>
            <a:r>
              <a:rPr dirty="0" sz="3200">
                <a:solidFill>
                  <a:srgbClr val="FF0000"/>
                </a:solidFill>
                <a:latin typeface="宋体"/>
                <a:cs typeface="宋体"/>
              </a:rPr>
              <a:t>抽象和模糊的需</a:t>
            </a:r>
            <a:r>
              <a:rPr dirty="0" sz="3200" spc="-10">
                <a:solidFill>
                  <a:srgbClr val="FF0000"/>
                </a:solidFill>
                <a:latin typeface="宋体"/>
                <a:cs typeface="宋体"/>
              </a:rPr>
              <a:t>求</a:t>
            </a:r>
            <a:r>
              <a:rPr dirty="0" sz="3200" spc="5">
                <a:latin typeface="宋体"/>
                <a:cs typeface="宋体"/>
              </a:rPr>
              <a:t>作为</a:t>
            </a:r>
            <a:r>
              <a:rPr dirty="0" sz="3200" spc="-10">
                <a:latin typeface="宋体"/>
                <a:cs typeface="宋体"/>
              </a:rPr>
              <a:t>结</a:t>
            </a:r>
            <a:r>
              <a:rPr dirty="0" sz="3200" spc="5">
                <a:latin typeface="宋体"/>
                <a:cs typeface="宋体"/>
              </a:rPr>
              <a:t>束。</a:t>
            </a:r>
            <a:r>
              <a:rPr dirty="0" sz="3200" spc="-10">
                <a:latin typeface="宋体"/>
                <a:cs typeface="宋体"/>
              </a:rPr>
              <a:t>对</a:t>
            </a:r>
            <a:r>
              <a:rPr dirty="0" sz="3200">
                <a:latin typeface="宋体"/>
                <a:cs typeface="宋体"/>
              </a:rPr>
              <a:t>抽 </a:t>
            </a:r>
            <a:r>
              <a:rPr dirty="0" sz="3200">
                <a:latin typeface="宋体"/>
                <a:cs typeface="宋体"/>
              </a:rPr>
              <a:t>象和模糊的需求，要进</a:t>
            </a:r>
            <a:r>
              <a:rPr dirty="0" sz="3200" spc="-15">
                <a:latin typeface="宋体"/>
                <a:cs typeface="宋体"/>
              </a:rPr>
              <a:t>行</a:t>
            </a:r>
            <a:r>
              <a:rPr dirty="0" sz="3200">
                <a:latin typeface="宋体"/>
                <a:cs typeface="宋体"/>
              </a:rPr>
              <a:t>细化</a:t>
            </a:r>
            <a:r>
              <a:rPr dirty="0" sz="3200" spc="-15">
                <a:latin typeface="宋体"/>
                <a:cs typeface="宋体"/>
              </a:rPr>
              <a:t>，</a:t>
            </a:r>
            <a:r>
              <a:rPr dirty="0" sz="3200">
                <a:latin typeface="宋体"/>
                <a:cs typeface="宋体"/>
              </a:rPr>
              <a:t>让真</a:t>
            </a:r>
            <a:r>
              <a:rPr dirty="0" sz="3200" spc="-15">
                <a:latin typeface="宋体"/>
                <a:cs typeface="宋体"/>
              </a:rPr>
              <a:t>正</a:t>
            </a:r>
            <a:r>
              <a:rPr dirty="0" sz="3200">
                <a:latin typeface="宋体"/>
                <a:cs typeface="宋体"/>
              </a:rPr>
              <a:t>的 需求显露出来。</a:t>
            </a:r>
            <a:endParaRPr sz="3200">
              <a:latin typeface="宋体"/>
              <a:cs typeface="宋体"/>
            </a:endParaRPr>
          </a:p>
          <a:p>
            <a:pPr algn="just" marL="354965" marR="5715" indent="-342900">
              <a:lnSpc>
                <a:spcPct val="96900"/>
              </a:lnSpc>
              <a:spcBef>
                <a:spcPts val="359"/>
              </a:spcBef>
              <a:buClr>
                <a:srgbClr val="00663B"/>
              </a:buClr>
              <a:buSzPct val="79687"/>
              <a:buFont typeface="Wingdings"/>
              <a:buChar char=""/>
              <a:tabLst>
                <a:tab pos="355600" algn="l"/>
              </a:tabLst>
            </a:pPr>
            <a:r>
              <a:rPr dirty="0" sz="3200">
                <a:latin typeface="宋体"/>
                <a:cs typeface="宋体"/>
              </a:rPr>
              <a:t>使用</a:t>
            </a:r>
            <a:r>
              <a:rPr dirty="0" sz="3200" spc="5">
                <a:solidFill>
                  <a:srgbClr val="00A15F"/>
                </a:solidFill>
                <a:latin typeface="宋体"/>
                <a:cs typeface="宋体"/>
              </a:rPr>
              <a:t>多种方法表达需求</a:t>
            </a:r>
            <a:r>
              <a:rPr dirty="0" sz="3200" spc="-10">
                <a:solidFill>
                  <a:srgbClr val="00A15F"/>
                </a:solidFill>
                <a:latin typeface="宋体"/>
                <a:cs typeface="宋体"/>
              </a:rPr>
              <a:t>信</a:t>
            </a:r>
            <a:r>
              <a:rPr dirty="0" sz="3200" spc="-15">
                <a:solidFill>
                  <a:srgbClr val="00A15F"/>
                </a:solidFill>
                <a:latin typeface="宋体"/>
                <a:cs typeface="宋体"/>
              </a:rPr>
              <a:t>息</a:t>
            </a:r>
            <a:r>
              <a:rPr dirty="0" sz="3200" spc="5">
                <a:latin typeface="宋体"/>
                <a:cs typeface="宋体"/>
              </a:rPr>
              <a:t>。</a:t>
            </a:r>
            <a:r>
              <a:rPr dirty="0" sz="3200" spc="-15">
                <a:latin typeface="宋体"/>
                <a:cs typeface="宋体"/>
              </a:rPr>
              <a:t>利</a:t>
            </a:r>
            <a:r>
              <a:rPr dirty="0" sz="3200" spc="5">
                <a:latin typeface="宋体"/>
                <a:cs typeface="宋体"/>
              </a:rPr>
              <a:t>用不</a:t>
            </a:r>
            <a:r>
              <a:rPr dirty="0" sz="3200" spc="-15">
                <a:latin typeface="宋体"/>
                <a:cs typeface="宋体"/>
              </a:rPr>
              <a:t>同</a:t>
            </a:r>
            <a:r>
              <a:rPr dirty="0" sz="3200">
                <a:latin typeface="宋体"/>
                <a:cs typeface="宋体"/>
              </a:rPr>
              <a:t>的 </a:t>
            </a:r>
            <a:r>
              <a:rPr dirty="0" sz="3200">
                <a:latin typeface="宋体"/>
                <a:cs typeface="宋体"/>
              </a:rPr>
              <a:t>分析技术为相同的需求</a:t>
            </a:r>
            <a:r>
              <a:rPr dirty="0" sz="3200" spc="-15">
                <a:latin typeface="宋体"/>
                <a:cs typeface="宋体"/>
              </a:rPr>
              <a:t>进</a:t>
            </a:r>
            <a:r>
              <a:rPr dirty="0" sz="3200">
                <a:latin typeface="宋体"/>
                <a:cs typeface="宋体"/>
              </a:rPr>
              <a:t>行建</a:t>
            </a:r>
            <a:r>
              <a:rPr dirty="0" sz="3200" spc="-15">
                <a:latin typeface="宋体"/>
                <a:cs typeface="宋体"/>
              </a:rPr>
              <a:t>模</a:t>
            </a:r>
            <a:r>
              <a:rPr dirty="0" sz="3200">
                <a:latin typeface="宋体"/>
                <a:cs typeface="宋体"/>
              </a:rPr>
              <a:t>，通</a:t>
            </a:r>
            <a:r>
              <a:rPr dirty="0" sz="3200" spc="-15">
                <a:latin typeface="宋体"/>
                <a:cs typeface="宋体"/>
              </a:rPr>
              <a:t>过</a:t>
            </a:r>
            <a:r>
              <a:rPr dirty="0" sz="3200">
                <a:latin typeface="宋体"/>
                <a:cs typeface="宋体"/>
              </a:rPr>
              <a:t>分 析不同的关注点，考察</a:t>
            </a:r>
            <a:r>
              <a:rPr dirty="0" sz="3200" spc="-15">
                <a:latin typeface="宋体"/>
                <a:cs typeface="宋体"/>
              </a:rPr>
              <a:t>需</a:t>
            </a:r>
            <a:r>
              <a:rPr dirty="0" sz="3200">
                <a:latin typeface="宋体"/>
                <a:cs typeface="宋体"/>
              </a:rPr>
              <a:t>求是</a:t>
            </a:r>
            <a:r>
              <a:rPr dirty="0" sz="3200" spc="-15">
                <a:latin typeface="宋体"/>
                <a:cs typeface="宋体"/>
              </a:rPr>
              <a:t>否</a:t>
            </a:r>
            <a:r>
              <a:rPr dirty="0" sz="3200">
                <a:latin typeface="宋体"/>
                <a:cs typeface="宋体"/>
              </a:rPr>
              <a:t>完整。</a:t>
            </a:r>
            <a:endParaRPr sz="3200">
              <a:latin typeface="宋体"/>
              <a:cs typeface="宋体"/>
            </a:endParaRPr>
          </a:p>
          <a:p>
            <a:pPr algn="just" marL="355600" indent="-342900">
              <a:lnSpc>
                <a:spcPct val="100000"/>
              </a:lnSpc>
              <a:buClr>
                <a:srgbClr val="00663B"/>
              </a:buClr>
              <a:buSzPct val="79687"/>
              <a:buFont typeface="Wingdings"/>
              <a:buChar char=""/>
              <a:tabLst>
                <a:tab pos="355600" algn="l"/>
              </a:tabLst>
            </a:pPr>
            <a:r>
              <a:rPr dirty="0" sz="3200">
                <a:latin typeface="宋体"/>
                <a:cs typeface="宋体"/>
              </a:rPr>
              <a:t>注意检</a:t>
            </a:r>
            <a:r>
              <a:rPr dirty="0" sz="3200" spc="5">
                <a:latin typeface="宋体"/>
                <a:cs typeface="宋体"/>
              </a:rPr>
              <a:t>查</a:t>
            </a:r>
            <a:r>
              <a:rPr dirty="0" sz="3200">
                <a:solidFill>
                  <a:srgbClr val="00A15F"/>
                </a:solidFill>
                <a:latin typeface="宋体"/>
                <a:cs typeface="宋体"/>
              </a:rPr>
              <a:t>边界值</a:t>
            </a:r>
            <a:r>
              <a:rPr dirty="0" sz="3200">
                <a:latin typeface="宋体"/>
                <a:cs typeface="宋体"/>
              </a:rPr>
              <a:t>和</a:t>
            </a:r>
            <a:r>
              <a:rPr dirty="0" sz="3200" spc="5">
                <a:solidFill>
                  <a:srgbClr val="00A15F"/>
                </a:solidFill>
                <a:latin typeface="宋体"/>
                <a:cs typeface="宋体"/>
              </a:rPr>
              <a:t>布尔</a:t>
            </a:r>
            <a:r>
              <a:rPr dirty="0" sz="3200" spc="-15">
                <a:solidFill>
                  <a:srgbClr val="00A15F"/>
                </a:solidFill>
                <a:latin typeface="宋体"/>
                <a:cs typeface="宋体"/>
              </a:rPr>
              <a:t>逻</a:t>
            </a:r>
            <a:r>
              <a:rPr dirty="0" sz="3200" spc="5">
                <a:solidFill>
                  <a:srgbClr val="00A15F"/>
                </a:solidFill>
                <a:latin typeface="宋体"/>
                <a:cs typeface="宋体"/>
              </a:rPr>
              <a:t>辑</a:t>
            </a:r>
            <a:r>
              <a:rPr dirty="0" sz="3200" spc="5">
                <a:latin typeface="宋体"/>
                <a:cs typeface="宋体"/>
              </a:rPr>
              <a:t>。</a:t>
            </a:r>
            <a:endParaRPr sz="3200">
              <a:latin typeface="宋体"/>
              <a:cs typeface="宋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6102" y="286588"/>
            <a:ext cx="8371840" cy="574675"/>
          </a:xfrm>
          <a:prstGeom prst="rect"/>
        </p:spPr>
        <p:txBody>
          <a:bodyPr wrap="square" lIns="0" tIns="12700" rIns="0" bIns="0" rtlCol="0" vert="horz">
            <a:spAutoFit/>
          </a:bodyPr>
          <a:lstStyle/>
          <a:p>
            <a:pPr marL="12700">
              <a:lnSpc>
                <a:spcPct val="100000"/>
              </a:lnSpc>
              <a:spcBef>
                <a:spcPts val="100"/>
              </a:spcBef>
            </a:pPr>
            <a:r>
              <a:rPr dirty="0" sz="3600">
                <a:latin typeface="Calibri"/>
                <a:cs typeface="Calibri"/>
              </a:rPr>
              <a:t>1.3.4</a:t>
            </a:r>
            <a:r>
              <a:rPr dirty="0" sz="3600" spc="-55">
                <a:latin typeface="Calibri"/>
                <a:cs typeface="Calibri"/>
              </a:rPr>
              <a:t> </a:t>
            </a:r>
            <a:r>
              <a:rPr dirty="0" sz="3600" spc="-5"/>
              <a:t>获取的过</a:t>
            </a:r>
            <a:r>
              <a:rPr dirty="0" sz="3600"/>
              <a:t>程</a:t>
            </a:r>
            <a:r>
              <a:rPr dirty="0" sz="3600" spc="-5">
                <a:latin typeface="Arial"/>
                <a:cs typeface="Arial"/>
              </a:rPr>
              <a:t>—</a:t>
            </a:r>
            <a:r>
              <a:rPr dirty="0" u="heavy" sz="3600" spc="-5">
                <a:uFill>
                  <a:solidFill>
                    <a:srgbClr val="00663B"/>
                  </a:solidFill>
                </a:uFill>
              </a:rPr>
              <a:t>结束获取活动</a:t>
            </a:r>
            <a:r>
              <a:rPr dirty="0" sz="3600" spc="-5"/>
              <a:t>判断条件</a:t>
            </a:r>
            <a:endParaRPr sz="36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7768" y="1551279"/>
            <a:ext cx="8320405" cy="3957954"/>
          </a:xfrm>
          <a:prstGeom prst="rect">
            <a:avLst/>
          </a:prstGeom>
        </p:spPr>
        <p:txBody>
          <a:bodyPr wrap="square" lIns="0" tIns="43180" rIns="0" bIns="0" rtlCol="0" vert="horz">
            <a:spAutoFit/>
          </a:bodyPr>
          <a:lstStyle/>
          <a:p>
            <a:pPr marL="584200" indent="-571500">
              <a:lnSpc>
                <a:spcPct val="100000"/>
              </a:lnSpc>
              <a:spcBef>
                <a:spcPts val="340"/>
              </a:spcBef>
              <a:buClr>
                <a:srgbClr val="00663B"/>
              </a:buClr>
              <a:buSzPct val="79687"/>
              <a:buFont typeface="Wingdings"/>
              <a:buChar char=""/>
              <a:tabLst>
                <a:tab pos="583565" algn="l"/>
                <a:tab pos="584200" algn="l"/>
              </a:tabLst>
            </a:pPr>
            <a:r>
              <a:rPr dirty="0" sz="3200">
                <a:latin typeface="宋体"/>
                <a:cs typeface="宋体"/>
              </a:rPr>
              <a:t>用户想不出更多的用例；</a:t>
            </a:r>
            <a:endParaRPr sz="3200">
              <a:latin typeface="宋体"/>
              <a:cs typeface="宋体"/>
            </a:endParaRPr>
          </a:p>
          <a:p>
            <a:pPr marL="583565" marR="407670" indent="-571500">
              <a:lnSpc>
                <a:spcPts val="3600"/>
              </a:lnSpc>
              <a:spcBef>
                <a:spcPts val="560"/>
              </a:spcBef>
              <a:buClr>
                <a:srgbClr val="00663B"/>
              </a:buClr>
              <a:buSzPct val="79687"/>
              <a:buFont typeface="Wingdings"/>
              <a:buChar char=""/>
              <a:tabLst>
                <a:tab pos="583565" algn="l"/>
                <a:tab pos="584200" algn="l"/>
              </a:tabLst>
            </a:pPr>
            <a:r>
              <a:rPr dirty="0" sz="3200">
                <a:latin typeface="宋体"/>
                <a:cs typeface="宋体"/>
              </a:rPr>
              <a:t>用户想出的新用例都是</a:t>
            </a:r>
            <a:r>
              <a:rPr dirty="0" sz="3200" spc="-15">
                <a:solidFill>
                  <a:srgbClr val="FF0000"/>
                </a:solidFill>
                <a:latin typeface="宋体"/>
                <a:cs typeface="宋体"/>
              </a:rPr>
              <a:t>导</a:t>
            </a:r>
            <a:r>
              <a:rPr dirty="0" sz="3200">
                <a:solidFill>
                  <a:srgbClr val="FF0000"/>
                </a:solidFill>
                <a:latin typeface="宋体"/>
                <a:cs typeface="宋体"/>
              </a:rPr>
              <a:t>出用</a:t>
            </a:r>
            <a:r>
              <a:rPr dirty="0" sz="3200" spc="-10">
                <a:solidFill>
                  <a:srgbClr val="FF0000"/>
                </a:solidFill>
                <a:latin typeface="宋体"/>
                <a:cs typeface="宋体"/>
              </a:rPr>
              <a:t>例</a:t>
            </a:r>
            <a:r>
              <a:rPr dirty="0" sz="3200">
                <a:latin typeface="宋体"/>
                <a:cs typeface="宋体"/>
              </a:rPr>
              <a:t>（通</a:t>
            </a:r>
            <a:r>
              <a:rPr dirty="0" sz="3200" spc="-15">
                <a:latin typeface="宋体"/>
                <a:cs typeface="宋体"/>
              </a:rPr>
              <a:t>过</a:t>
            </a:r>
            <a:r>
              <a:rPr dirty="0" sz="3200">
                <a:latin typeface="宋体"/>
                <a:cs typeface="宋体"/>
              </a:rPr>
              <a:t>其 </a:t>
            </a:r>
            <a:r>
              <a:rPr dirty="0" sz="3200">
                <a:latin typeface="宋体"/>
                <a:cs typeface="宋体"/>
              </a:rPr>
              <a:t>他用例的结合可以推导</a:t>
            </a:r>
            <a:r>
              <a:rPr dirty="0" sz="3200" spc="-15">
                <a:latin typeface="宋体"/>
                <a:cs typeface="宋体"/>
              </a:rPr>
              <a:t>出</a:t>
            </a:r>
            <a:r>
              <a:rPr dirty="0" sz="3200">
                <a:latin typeface="宋体"/>
                <a:cs typeface="宋体"/>
              </a:rPr>
              <a:t>该用</a:t>
            </a:r>
            <a:r>
              <a:rPr dirty="0" sz="3200" spc="-15">
                <a:latin typeface="宋体"/>
                <a:cs typeface="宋体"/>
              </a:rPr>
              <a:t>例</a:t>
            </a:r>
            <a:r>
              <a:rPr dirty="0" sz="3200">
                <a:latin typeface="宋体"/>
                <a:cs typeface="宋体"/>
              </a:rPr>
              <a:t>）；</a:t>
            </a:r>
            <a:endParaRPr sz="3200">
              <a:latin typeface="宋体"/>
              <a:cs typeface="宋体"/>
            </a:endParaRPr>
          </a:p>
          <a:p>
            <a:pPr marL="584200" indent="-571500">
              <a:lnSpc>
                <a:spcPts val="3760"/>
              </a:lnSpc>
              <a:buClr>
                <a:srgbClr val="00663B"/>
              </a:buClr>
              <a:buSzPct val="79687"/>
              <a:buFont typeface="Wingdings"/>
              <a:buChar char=""/>
              <a:tabLst>
                <a:tab pos="583565" algn="l"/>
                <a:tab pos="584200" algn="l"/>
              </a:tabLst>
            </a:pPr>
            <a:r>
              <a:rPr dirty="0" sz="3200">
                <a:latin typeface="宋体"/>
                <a:cs typeface="宋体"/>
              </a:rPr>
              <a:t>用户只是在</a:t>
            </a:r>
            <a:r>
              <a:rPr dirty="0" sz="3200">
                <a:solidFill>
                  <a:srgbClr val="FF0000"/>
                </a:solidFill>
                <a:latin typeface="宋体"/>
                <a:cs typeface="宋体"/>
              </a:rPr>
              <a:t>重复</a:t>
            </a:r>
            <a:r>
              <a:rPr dirty="0" sz="3200">
                <a:latin typeface="宋体"/>
                <a:cs typeface="宋体"/>
              </a:rPr>
              <a:t>已经讨论过的问题；</a:t>
            </a:r>
            <a:endParaRPr sz="3200">
              <a:latin typeface="宋体"/>
              <a:cs typeface="宋体"/>
            </a:endParaRPr>
          </a:p>
          <a:p>
            <a:pPr marL="584200" indent="-571500">
              <a:lnSpc>
                <a:spcPct val="100000"/>
              </a:lnSpc>
              <a:buClr>
                <a:srgbClr val="00663B"/>
              </a:buClr>
              <a:buSzPct val="79687"/>
              <a:buFont typeface="Wingdings"/>
              <a:buChar char=""/>
              <a:tabLst>
                <a:tab pos="583565" algn="l"/>
                <a:tab pos="584200" algn="l"/>
              </a:tabLst>
            </a:pPr>
            <a:r>
              <a:rPr dirty="0" sz="3200">
                <a:latin typeface="宋体"/>
                <a:cs typeface="宋体"/>
              </a:rPr>
              <a:t>新提</a:t>
            </a:r>
            <a:r>
              <a:rPr dirty="0" sz="3200" spc="-15">
                <a:latin typeface="宋体"/>
                <a:cs typeface="宋体"/>
              </a:rPr>
              <a:t>出</a:t>
            </a:r>
            <a:r>
              <a:rPr dirty="0" sz="3200">
                <a:latin typeface="宋体"/>
                <a:cs typeface="宋体"/>
              </a:rPr>
              <a:t>的特</a:t>
            </a:r>
            <a:r>
              <a:rPr dirty="0" sz="3200" spc="-15">
                <a:latin typeface="宋体"/>
                <a:cs typeface="宋体"/>
              </a:rPr>
              <a:t>性</a:t>
            </a:r>
            <a:r>
              <a:rPr dirty="0" sz="3200">
                <a:latin typeface="宋体"/>
                <a:cs typeface="宋体"/>
              </a:rPr>
              <a:t>、需</a:t>
            </a:r>
            <a:r>
              <a:rPr dirty="0" sz="3200" spc="-15">
                <a:latin typeface="宋体"/>
                <a:cs typeface="宋体"/>
              </a:rPr>
              <a:t>求</a:t>
            </a:r>
            <a:r>
              <a:rPr dirty="0" sz="3200">
                <a:latin typeface="宋体"/>
                <a:cs typeface="宋体"/>
              </a:rPr>
              <a:t>等都</a:t>
            </a:r>
            <a:r>
              <a:rPr dirty="0" sz="3200" spc="-5">
                <a:latin typeface="宋体"/>
                <a:cs typeface="宋体"/>
              </a:rPr>
              <a:t>在</a:t>
            </a:r>
            <a:r>
              <a:rPr dirty="0" sz="3200">
                <a:solidFill>
                  <a:srgbClr val="FF0000"/>
                </a:solidFill>
                <a:latin typeface="宋体"/>
                <a:cs typeface="宋体"/>
              </a:rPr>
              <a:t>项目</a:t>
            </a:r>
            <a:r>
              <a:rPr dirty="0" sz="3200" spc="-15">
                <a:solidFill>
                  <a:srgbClr val="FF0000"/>
                </a:solidFill>
                <a:latin typeface="宋体"/>
                <a:cs typeface="宋体"/>
              </a:rPr>
              <a:t>范</a:t>
            </a:r>
            <a:r>
              <a:rPr dirty="0" sz="3200">
                <a:solidFill>
                  <a:srgbClr val="FF0000"/>
                </a:solidFill>
                <a:latin typeface="宋体"/>
                <a:cs typeface="宋体"/>
              </a:rPr>
              <a:t>围之</a:t>
            </a:r>
            <a:r>
              <a:rPr dirty="0" sz="3200" spc="-10">
                <a:solidFill>
                  <a:srgbClr val="FF0000"/>
                </a:solidFill>
                <a:latin typeface="宋体"/>
                <a:cs typeface="宋体"/>
              </a:rPr>
              <a:t>外</a:t>
            </a:r>
            <a:r>
              <a:rPr dirty="0" sz="3200">
                <a:latin typeface="宋体"/>
                <a:cs typeface="宋体"/>
              </a:rPr>
              <a:t>；</a:t>
            </a:r>
            <a:endParaRPr sz="3200">
              <a:latin typeface="宋体"/>
              <a:cs typeface="宋体"/>
            </a:endParaRPr>
          </a:p>
          <a:p>
            <a:pPr marL="584200" indent="-571500">
              <a:lnSpc>
                <a:spcPct val="100000"/>
              </a:lnSpc>
              <a:buClr>
                <a:srgbClr val="00663B"/>
              </a:buClr>
              <a:buSzPct val="79687"/>
              <a:buFont typeface="Wingdings"/>
              <a:buChar char=""/>
              <a:tabLst>
                <a:tab pos="583565" algn="l"/>
                <a:tab pos="584200" algn="l"/>
              </a:tabLst>
            </a:pPr>
            <a:r>
              <a:rPr dirty="0" sz="3200">
                <a:latin typeface="宋体"/>
                <a:cs typeface="宋体"/>
              </a:rPr>
              <a:t>新提出的需</a:t>
            </a:r>
            <a:r>
              <a:rPr dirty="0" sz="3200" spc="5">
                <a:latin typeface="宋体"/>
                <a:cs typeface="宋体"/>
              </a:rPr>
              <a:t>求</a:t>
            </a:r>
            <a:r>
              <a:rPr dirty="0" sz="3200" spc="5">
                <a:solidFill>
                  <a:srgbClr val="FF0000"/>
                </a:solidFill>
                <a:latin typeface="宋体"/>
                <a:cs typeface="宋体"/>
              </a:rPr>
              <a:t>优先级都</a:t>
            </a:r>
            <a:r>
              <a:rPr dirty="0" sz="3200" spc="-20">
                <a:solidFill>
                  <a:srgbClr val="FF0000"/>
                </a:solidFill>
                <a:latin typeface="宋体"/>
                <a:cs typeface="宋体"/>
              </a:rPr>
              <a:t>很</a:t>
            </a:r>
            <a:r>
              <a:rPr dirty="0" sz="3200" spc="5">
                <a:solidFill>
                  <a:srgbClr val="FF0000"/>
                </a:solidFill>
                <a:latin typeface="宋体"/>
                <a:cs typeface="宋体"/>
              </a:rPr>
              <a:t>低</a:t>
            </a:r>
            <a:r>
              <a:rPr dirty="0" sz="3200" spc="5">
                <a:latin typeface="宋体"/>
                <a:cs typeface="宋体"/>
              </a:rPr>
              <a:t>；</a:t>
            </a:r>
            <a:endParaRPr sz="3200">
              <a:latin typeface="宋体"/>
              <a:cs typeface="宋体"/>
            </a:endParaRPr>
          </a:p>
          <a:p>
            <a:pPr marL="583565" marR="407670" indent="-571500">
              <a:lnSpc>
                <a:spcPts val="3600"/>
              </a:lnSpc>
              <a:spcBef>
                <a:spcPts val="560"/>
              </a:spcBef>
              <a:buClr>
                <a:srgbClr val="00663B"/>
              </a:buClr>
              <a:buSzPct val="79687"/>
              <a:buFont typeface="Wingdings"/>
              <a:buChar char=""/>
              <a:tabLst>
                <a:tab pos="583565" algn="l"/>
                <a:tab pos="584200" algn="l"/>
              </a:tabLst>
            </a:pPr>
            <a:r>
              <a:rPr dirty="0" sz="3200">
                <a:latin typeface="宋体"/>
                <a:cs typeface="宋体"/>
              </a:rPr>
              <a:t>用户提出的新功能都属</a:t>
            </a:r>
            <a:r>
              <a:rPr dirty="0" sz="3200" spc="-10">
                <a:latin typeface="宋体"/>
                <a:cs typeface="宋体"/>
              </a:rPr>
              <a:t>于</a:t>
            </a:r>
            <a:r>
              <a:rPr dirty="0" sz="3200">
                <a:solidFill>
                  <a:srgbClr val="FF0000"/>
                </a:solidFill>
                <a:latin typeface="宋体"/>
                <a:cs typeface="宋体"/>
              </a:rPr>
              <a:t>后继版</a:t>
            </a:r>
            <a:r>
              <a:rPr dirty="0" sz="3200" spc="-10">
                <a:solidFill>
                  <a:srgbClr val="FF0000"/>
                </a:solidFill>
                <a:latin typeface="宋体"/>
                <a:cs typeface="宋体"/>
              </a:rPr>
              <a:t>本</a:t>
            </a:r>
            <a:r>
              <a:rPr dirty="0" sz="3200">
                <a:latin typeface="宋体"/>
                <a:cs typeface="宋体"/>
              </a:rPr>
              <a:t>，</a:t>
            </a:r>
            <a:r>
              <a:rPr dirty="0" sz="3200" spc="-15">
                <a:latin typeface="宋体"/>
                <a:cs typeface="宋体"/>
              </a:rPr>
              <a:t>而</a:t>
            </a:r>
            <a:r>
              <a:rPr dirty="0" sz="3200">
                <a:latin typeface="宋体"/>
                <a:cs typeface="宋体"/>
              </a:rPr>
              <a:t>非 </a:t>
            </a:r>
            <a:r>
              <a:rPr dirty="0" sz="3200">
                <a:latin typeface="宋体"/>
                <a:cs typeface="宋体"/>
              </a:rPr>
              <a:t>当前版本</a:t>
            </a:r>
            <a:endParaRPr sz="3200">
              <a:latin typeface="宋体"/>
              <a:cs typeface="宋体"/>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2126" y="166243"/>
            <a:ext cx="408114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1.3.5</a:t>
            </a:r>
            <a:r>
              <a:rPr dirty="0" spc="-90">
                <a:latin typeface="Calibri"/>
                <a:cs typeface="Calibri"/>
              </a:rPr>
              <a:t> </a:t>
            </a:r>
            <a:r>
              <a:rPr dirty="0"/>
              <a:t>获取的结果</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a:spLocks noGrp="1"/>
          </p:cNvSpPr>
          <p:nvPr>
            <p:ph type="body" idx="1"/>
          </p:nvPr>
        </p:nvSpPr>
        <p:spPr>
          <a:prstGeom prst="rect"/>
        </p:spPr>
        <p:txBody>
          <a:bodyPr wrap="square" lIns="0" tIns="113664" rIns="0" bIns="0" rtlCol="0" vert="horz">
            <a:spAutoFit/>
          </a:bodyPr>
          <a:lstStyle/>
          <a:p>
            <a:pPr marL="512445" indent="-343535">
              <a:lnSpc>
                <a:spcPct val="100000"/>
              </a:lnSpc>
              <a:spcBef>
                <a:spcPts val="894"/>
              </a:spcBef>
              <a:buClr>
                <a:srgbClr val="00663B"/>
              </a:buClr>
              <a:buSzPct val="79687"/>
              <a:buFont typeface="Wingdings"/>
              <a:buChar char=""/>
              <a:tabLst>
                <a:tab pos="513080" algn="l"/>
              </a:tabLst>
            </a:pPr>
            <a:r>
              <a:rPr dirty="0" b="0">
                <a:latin typeface="宋体"/>
                <a:cs typeface="宋体"/>
              </a:rPr>
              <a:t>肯定会产生</a:t>
            </a:r>
            <a:r>
              <a:rPr dirty="0">
                <a:latin typeface="宋体"/>
                <a:cs typeface="宋体"/>
              </a:rPr>
              <a:t>获取笔录（</a:t>
            </a:r>
            <a:r>
              <a:rPr dirty="0"/>
              <a:t>Elicitation</a:t>
            </a:r>
            <a:r>
              <a:rPr dirty="0" spc="-50"/>
              <a:t> </a:t>
            </a:r>
            <a:r>
              <a:rPr dirty="0"/>
              <a:t>Notes</a:t>
            </a:r>
            <a:r>
              <a:rPr dirty="0">
                <a:latin typeface="宋体"/>
                <a:cs typeface="宋体"/>
              </a:rPr>
              <a:t>）</a:t>
            </a:r>
          </a:p>
          <a:p>
            <a:pPr lvl="1" marL="913130" indent="-287020">
              <a:lnSpc>
                <a:spcPct val="100000"/>
              </a:lnSpc>
              <a:spcBef>
                <a:spcPts val="690"/>
              </a:spcBef>
              <a:buClr>
                <a:srgbClr val="C00000"/>
              </a:buClr>
              <a:buSzPct val="58928"/>
              <a:buFont typeface="Wingdings"/>
              <a:buChar char=""/>
              <a:tabLst>
                <a:tab pos="913130" algn="l"/>
                <a:tab pos="913765" algn="l"/>
              </a:tabLst>
            </a:pPr>
            <a:r>
              <a:rPr dirty="0" sz="2800" spc="-5">
                <a:latin typeface="宋体"/>
                <a:cs typeface="宋体"/>
              </a:rPr>
              <a:t>用户需求、问题域知识和约束</a:t>
            </a:r>
            <a:endParaRPr sz="2800">
              <a:latin typeface="宋体"/>
              <a:cs typeface="宋体"/>
            </a:endParaRPr>
          </a:p>
          <a:p>
            <a:pPr lvl="1" marL="913130" marR="5080" indent="-287020">
              <a:lnSpc>
                <a:spcPts val="3140"/>
              </a:lnSpc>
              <a:spcBef>
                <a:spcPts val="1175"/>
              </a:spcBef>
              <a:buClr>
                <a:srgbClr val="C00000"/>
              </a:buClr>
              <a:buSzPct val="58928"/>
              <a:buFont typeface="Wingdings"/>
              <a:buChar char=""/>
              <a:tabLst>
                <a:tab pos="913130" algn="l"/>
                <a:tab pos="913765" algn="l"/>
              </a:tabLst>
            </a:pPr>
            <a:r>
              <a:rPr dirty="0" sz="2800" spc="-5">
                <a:latin typeface="宋体"/>
                <a:cs typeface="宋体"/>
              </a:rPr>
              <a:t>可能具有组织差、冗余、遗漏、自</a:t>
            </a:r>
            <a:r>
              <a:rPr dirty="0" sz="2800">
                <a:latin typeface="宋体"/>
                <a:cs typeface="宋体"/>
              </a:rPr>
              <a:t>相</a:t>
            </a:r>
            <a:r>
              <a:rPr dirty="0" sz="2800" spc="-5">
                <a:latin typeface="宋体"/>
                <a:cs typeface="宋体"/>
              </a:rPr>
              <a:t>矛盾</a:t>
            </a:r>
            <a:r>
              <a:rPr dirty="0" sz="2800">
                <a:latin typeface="宋体"/>
                <a:cs typeface="宋体"/>
              </a:rPr>
              <a:t>等</a:t>
            </a:r>
            <a:r>
              <a:rPr dirty="0" sz="2800" spc="-5">
                <a:latin typeface="宋体"/>
                <a:cs typeface="宋体"/>
              </a:rPr>
              <a:t>诸多 </a:t>
            </a:r>
            <a:r>
              <a:rPr dirty="0" sz="2800" spc="-5">
                <a:latin typeface="宋体"/>
                <a:cs typeface="宋体"/>
              </a:rPr>
              <a:t>问题</a:t>
            </a:r>
            <a:endParaRPr sz="2800">
              <a:latin typeface="宋体"/>
              <a:cs typeface="宋体"/>
            </a:endParaRPr>
          </a:p>
          <a:p>
            <a:pPr lvl="1" marL="913130" indent="-287020">
              <a:lnSpc>
                <a:spcPct val="100000"/>
              </a:lnSpc>
              <a:spcBef>
                <a:spcPts val="610"/>
              </a:spcBef>
              <a:buClr>
                <a:srgbClr val="C00000"/>
              </a:buClr>
              <a:buSzPct val="58928"/>
              <a:buFont typeface="Wingdings"/>
              <a:buChar char=""/>
              <a:tabLst>
                <a:tab pos="913130" algn="l"/>
                <a:tab pos="913765" algn="l"/>
              </a:tabLst>
            </a:pPr>
            <a:r>
              <a:rPr dirty="0" sz="2800" spc="-5">
                <a:latin typeface="宋体"/>
                <a:cs typeface="宋体"/>
              </a:rPr>
              <a:t>可以包括文字记录、录音、摄像等</a:t>
            </a:r>
            <a:r>
              <a:rPr dirty="0" sz="2800">
                <a:latin typeface="宋体"/>
                <a:cs typeface="宋体"/>
              </a:rPr>
              <a:t>各</a:t>
            </a:r>
            <a:r>
              <a:rPr dirty="0" sz="2800" spc="-5">
                <a:latin typeface="宋体"/>
                <a:cs typeface="宋体"/>
              </a:rPr>
              <a:t>种形式</a:t>
            </a:r>
            <a:endParaRPr sz="2800">
              <a:latin typeface="宋体"/>
              <a:cs typeface="宋体"/>
            </a:endParaRPr>
          </a:p>
          <a:p>
            <a:pPr lvl="1" marL="156845">
              <a:lnSpc>
                <a:spcPct val="100000"/>
              </a:lnSpc>
              <a:spcBef>
                <a:spcPts val="45"/>
              </a:spcBef>
              <a:buClr>
                <a:srgbClr val="C00000"/>
              </a:buClr>
              <a:buFont typeface="Wingdings"/>
              <a:buChar char=""/>
            </a:pPr>
            <a:endParaRPr sz="3100">
              <a:latin typeface="宋体"/>
              <a:cs typeface="宋体"/>
            </a:endParaRPr>
          </a:p>
          <a:p>
            <a:pPr marL="512445" indent="-343535">
              <a:lnSpc>
                <a:spcPct val="100000"/>
              </a:lnSpc>
              <a:buClr>
                <a:srgbClr val="00663B"/>
              </a:buClr>
              <a:buSzPct val="79687"/>
              <a:buFont typeface="Wingdings"/>
              <a:buChar char=""/>
              <a:tabLst>
                <a:tab pos="513080" algn="l"/>
              </a:tabLst>
            </a:pPr>
            <a:r>
              <a:rPr dirty="0" b="0">
                <a:latin typeface="宋体"/>
                <a:cs typeface="宋体"/>
              </a:rPr>
              <a:t>可能会产生两份定义明</a:t>
            </a:r>
            <a:r>
              <a:rPr dirty="0" spc="-15" b="0">
                <a:latin typeface="宋体"/>
                <a:cs typeface="宋体"/>
              </a:rPr>
              <a:t>确</a:t>
            </a:r>
            <a:r>
              <a:rPr dirty="0" b="0">
                <a:latin typeface="宋体"/>
                <a:cs typeface="宋体"/>
              </a:rPr>
              <a:t>的正</a:t>
            </a:r>
            <a:r>
              <a:rPr dirty="0" spc="-15" b="0">
                <a:latin typeface="宋体"/>
                <a:cs typeface="宋体"/>
              </a:rPr>
              <a:t>式</a:t>
            </a:r>
            <a:r>
              <a:rPr dirty="0" b="0">
                <a:latin typeface="宋体"/>
                <a:cs typeface="宋体"/>
              </a:rPr>
              <a:t>文档</a:t>
            </a:r>
          </a:p>
          <a:p>
            <a:pPr lvl="1" marL="913130" indent="-287020">
              <a:lnSpc>
                <a:spcPct val="100000"/>
              </a:lnSpc>
              <a:spcBef>
                <a:spcPts val="690"/>
              </a:spcBef>
              <a:buClr>
                <a:srgbClr val="C00000"/>
              </a:buClr>
              <a:buSzPct val="58928"/>
              <a:buFont typeface="Wingdings"/>
              <a:buChar char=""/>
              <a:tabLst>
                <a:tab pos="913130" algn="l"/>
                <a:tab pos="913765" algn="l"/>
              </a:tabLst>
            </a:pPr>
            <a:r>
              <a:rPr dirty="0" sz="2800" spc="-10">
                <a:latin typeface="宋体"/>
                <a:cs typeface="宋体"/>
              </a:rPr>
              <a:t>项目前景和范围文档</a:t>
            </a:r>
            <a:endParaRPr sz="2800">
              <a:latin typeface="宋体"/>
              <a:cs typeface="宋体"/>
            </a:endParaRPr>
          </a:p>
          <a:p>
            <a:pPr lvl="1" marL="913130" indent="-287020">
              <a:lnSpc>
                <a:spcPct val="100000"/>
              </a:lnSpc>
              <a:spcBef>
                <a:spcPts val="670"/>
              </a:spcBef>
              <a:buClr>
                <a:srgbClr val="C00000"/>
              </a:buClr>
              <a:buSzPct val="58928"/>
              <a:buFont typeface="Wingdings"/>
              <a:buChar char=""/>
              <a:tabLst>
                <a:tab pos="913130" algn="l"/>
                <a:tab pos="913765" algn="l"/>
              </a:tabLst>
            </a:pPr>
            <a:r>
              <a:rPr dirty="0" sz="2800" spc="-5">
                <a:latin typeface="宋体"/>
                <a:cs typeface="宋体"/>
              </a:rPr>
              <a:t>用例文档</a:t>
            </a:r>
            <a:endParaRPr sz="2800">
              <a:latin typeface="宋体"/>
              <a:cs typeface="宋体"/>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5578" y="129997"/>
            <a:ext cx="7157084"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1.4.</a:t>
            </a:r>
            <a:r>
              <a:rPr dirty="0" spc="-85">
                <a:latin typeface="Calibri"/>
                <a:cs typeface="Calibri"/>
              </a:rPr>
              <a:t> </a:t>
            </a:r>
            <a:r>
              <a:rPr dirty="0" spc="5"/>
              <a:t>需求获取的实践调查情况</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209294"/>
            <a:ext cx="7691120" cy="3972560"/>
          </a:xfrm>
          <a:prstGeom prst="rect">
            <a:avLst/>
          </a:prstGeom>
        </p:spPr>
        <p:txBody>
          <a:bodyPr wrap="square" lIns="0" tIns="53975" rIns="0" bIns="0" rtlCol="0" vert="horz">
            <a:spAutoFit/>
          </a:bodyPr>
          <a:lstStyle/>
          <a:p>
            <a:pPr marL="355600" marR="5080" indent="-343535">
              <a:lnSpc>
                <a:spcPts val="3600"/>
              </a:lnSpc>
              <a:spcBef>
                <a:spcPts val="425"/>
              </a:spcBef>
              <a:buClr>
                <a:srgbClr val="00663B"/>
              </a:buClr>
              <a:buSzPct val="79687"/>
              <a:buFont typeface="Wingdings"/>
              <a:buChar char=""/>
              <a:tabLst>
                <a:tab pos="356235" algn="l"/>
              </a:tabLst>
            </a:pPr>
            <a:r>
              <a:rPr dirty="0" sz="3200">
                <a:latin typeface="宋体"/>
                <a:cs typeface="宋体"/>
              </a:rPr>
              <a:t>实践中</a:t>
            </a:r>
            <a:r>
              <a:rPr dirty="0" sz="3200" spc="-5">
                <a:latin typeface="宋体"/>
                <a:cs typeface="宋体"/>
              </a:rPr>
              <a:t>的</a:t>
            </a:r>
            <a:r>
              <a:rPr dirty="0" u="heavy" sz="3200">
                <a:uFill>
                  <a:solidFill>
                    <a:srgbClr val="000000"/>
                  </a:solidFill>
                </a:uFill>
                <a:latin typeface="宋体"/>
                <a:cs typeface="宋体"/>
              </a:rPr>
              <a:t>需求获取活</a:t>
            </a:r>
            <a:r>
              <a:rPr dirty="0" u="heavy" sz="3200" spc="-10">
                <a:uFill>
                  <a:solidFill>
                    <a:srgbClr val="000000"/>
                  </a:solidFill>
                </a:uFill>
                <a:latin typeface="宋体"/>
                <a:cs typeface="宋体"/>
              </a:rPr>
              <a:t>动</a:t>
            </a:r>
            <a:r>
              <a:rPr dirty="0" sz="3200" spc="-15">
                <a:latin typeface="宋体"/>
                <a:cs typeface="宋体"/>
              </a:rPr>
              <a:t>主</a:t>
            </a:r>
            <a:r>
              <a:rPr dirty="0" sz="3200">
                <a:latin typeface="宋体"/>
                <a:cs typeface="宋体"/>
              </a:rPr>
              <a:t>要关</a:t>
            </a:r>
            <a:r>
              <a:rPr dirty="0" sz="3200" spc="-15">
                <a:latin typeface="宋体"/>
                <a:cs typeface="宋体"/>
              </a:rPr>
              <a:t>注</a:t>
            </a:r>
            <a:r>
              <a:rPr dirty="0" sz="3200">
                <a:latin typeface="宋体"/>
                <a:cs typeface="宋体"/>
              </a:rPr>
              <a:t>以下</a:t>
            </a:r>
            <a:r>
              <a:rPr dirty="0" sz="3200" spc="-10" b="1">
                <a:solidFill>
                  <a:srgbClr val="00A15F"/>
                </a:solidFill>
                <a:latin typeface="宋体"/>
                <a:cs typeface="宋体"/>
              </a:rPr>
              <a:t>几个 </a:t>
            </a:r>
            <a:r>
              <a:rPr dirty="0" sz="3200" spc="-5" b="1">
                <a:solidFill>
                  <a:srgbClr val="00A15F"/>
                </a:solidFill>
                <a:latin typeface="宋体"/>
                <a:cs typeface="宋体"/>
              </a:rPr>
              <a:t>问题</a:t>
            </a:r>
            <a:r>
              <a:rPr dirty="0" sz="3200" spc="5">
                <a:latin typeface="宋体"/>
                <a:cs typeface="宋体"/>
              </a:rPr>
              <a:t>：</a:t>
            </a:r>
            <a:endParaRPr sz="3200">
              <a:latin typeface="宋体"/>
              <a:cs typeface="宋体"/>
            </a:endParaRPr>
          </a:p>
          <a:p>
            <a:pPr lvl="1" marL="756285" indent="-287020">
              <a:lnSpc>
                <a:spcPct val="100000"/>
              </a:lnSpc>
              <a:spcBef>
                <a:spcPts val="605"/>
              </a:spcBef>
              <a:buClr>
                <a:srgbClr val="C00000"/>
              </a:buClr>
              <a:buSzPct val="58928"/>
              <a:buFont typeface="Wingdings"/>
              <a:buChar char=""/>
              <a:tabLst>
                <a:tab pos="756285" algn="l"/>
                <a:tab pos="756920" algn="l"/>
              </a:tabLst>
            </a:pPr>
            <a:r>
              <a:rPr dirty="0" sz="2800" spc="-5">
                <a:latin typeface="宋体"/>
                <a:cs typeface="宋体"/>
              </a:rPr>
              <a:t>项目目标；</a:t>
            </a:r>
            <a:endParaRPr sz="2800">
              <a:latin typeface="宋体"/>
              <a:cs typeface="宋体"/>
            </a:endParaRPr>
          </a:p>
          <a:p>
            <a:pPr lvl="2" marL="1155700" indent="-229235">
              <a:lnSpc>
                <a:spcPct val="100000"/>
              </a:lnSpc>
              <a:spcBef>
                <a:spcPts val="595"/>
              </a:spcBef>
              <a:buFont typeface="Arial"/>
              <a:buChar char="•"/>
              <a:tabLst>
                <a:tab pos="1156335" algn="l"/>
              </a:tabLst>
            </a:pPr>
            <a:r>
              <a:rPr dirty="0" sz="2400">
                <a:latin typeface="宋体"/>
                <a:cs typeface="宋体"/>
              </a:rPr>
              <a:t>项目成功的十大影响因素之</a:t>
            </a:r>
            <a:r>
              <a:rPr dirty="0" sz="2400" spc="5">
                <a:latin typeface="宋体"/>
                <a:cs typeface="宋体"/>
              </a:rPr>
              <a:t>一</a:t>
            </a:r>
            <a:r>
              <a:rPr dirty="0" sz="2400">
                <a:latin typeface="Calibri"/>
                <a:cs typeface="Calibri"/>
              </a:rPr>
              <a:t>[Standish</a:t>
            </a:r>
            <a:r>
              <a:rPr dirty="0" sz="2400" spc="-15">
                <a:latin typeface="Calibri"/>
                <a:cs typeface="Calibri"/>
              </a:rPr>
              <a:t> </a:t>
            </a:r>
            <a:r>
              <a:rPr dirty="0" sz="2400" spc="-5">
                <a:latin typeface="Calibri"/>
                <a:cs typeface="Calibri"/>
              </a:rPr>
              <a:t>Group]</a:t>
            </a:r>
            <a:endParaRPr sz="2400">
              <a:latin typeface="Calibri"/>
              <a:cs typeface="Calibri"/>
            </a:endParaRPr>
          </a:p>
          <a:p>
            <a:pPr lvl="1" marL="756285" indent="-287020">
              <a:lnSpc>
                <a:spcPct val="100000"/>
              </a:lnSpc>
              <a:spcBef>
                <a:spcPts val="655"/>
              </a:spcBef>
              <a:buClr>
                <a:srgbClr val="C00000"/>
              </a:buClr>
              <a:buSzPct val="58928"/>
              <a:buFont typeface="Wingdings"/>
              <a:buChar char=""/>
              <a:tabLst>
                <a:tab pos="756285" algn="l"/>
                <a:tab pos="756920" algn="l"/>
              </a:tabLst>
            </a:pPr>
            <a:r>
              <a:rPr dirty="0" sz="2800" spc="-5">
                <a:latin typeface="宋体"/>
                <a:cs typeface="宋体"/>
              </a:rPr>
              <a:t>项目范围；</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用户参与；</a:t>
            </a:r>
            <a:endParaRPr sz="2800">
              <a:latin typeface="宋体"/>
              <a:cs typeface="宋体"/>
            </a:endParaRPr>
          </a:p>
          <a:p>
            <a:pPr lvl="1" marL="756285" indent="-287020">
              <a:lnSpc>
                <a:spcPct val="100000"/>
              </a:lnSpc>
              <a:spcBef>
                <a:spcPts val="670"/>
              </a:spcBef>
              <a:buClr>
                <a:srgbClr val="C00000"/>
              </a:buClr>
              <a:buSzPct val="58928"/>
              <a:buFont typeface="Wingdings"/>
              <a:buChar char=""/>
              <a:tabLst>
                <a:tab pos="756285" algn="l"/>
                <a:tab pos="756920" algn="l"/>
              </a:tabLst>
            </a:pPr>
            <a:r>
              <a:rPr dirty="0" sz="2800" spc="-5">
                <a:latin typeface="宋体"/>
                <a:cs typeface="宋体"/>
              </a:rPr>
              <a:t>交流问题；</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10">
                <a:latin typeface="宋体"/>
                <a:cs typeface="宋体"/>
              </a:rPr>
              <a:t>获取方法的使用；</a:t>
            </a:r>
            <a:endParaRPr sz="2800">
              <a:latin typeface="宋体"/>
              <a:cs typeface="宋体"/>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5578" y="154305"/>
            <a:ext cx="7157084"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1.4.</a:t>
            </a:r>
            <a:r>
              <a:rPr dirty="0" spc="-55">
                <a:latin typeface="Calibri"/>
                <a:cs typeface="Calibri"/>
              </a:rPr>
              <a:t> </a:t>
            </a:r>
            <a:r>
              <a:rPr dirty="0"/>
              <a:t>需求获取的实践调查情况</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046786"/>
            <a:ext cx="7873365" cy="3464560"/>
          </a:xfrm>
          <a:prstGeom prst="rect">
            <a:avLst/>
          </a:prstGeom>
        </p:spPr>
        <p:txBody>
          <a:bodyPr wrap="square" lIns="0" tIns="144780" rIns="0" bIns="0" rtlCol="0" vert="horz">
            <a:spAutoFit/>
          </a:bodyPr>
          <a:lstStyle/>
          <a:p>
            <a:pPr marL="355600" indent="-343535">
              <a:lnSpc>
                <a:spcPct val="100000"/>
              </a:lnSpc>
              <a:spcBef>
                <a:spcPts val="1140"/>
              </a:spcBef>
              <a:buClr>
                <a:srgbClr val="00663B"/>
              </a:buClr>
              <a:buSzPct val="79687"/>
              <a:buFont typeface="Wingdings"/>
              <a:buChar char=""/>
              <a:tabLst>
                <a:tab pos="356235" algn="l"/>
              </a:tabLst>
            </a:pPr>
            <a:r>
              <a:rPr dirty="0" sz="3200">
                <a:latin typeface="宋体"/>
                <a:cs typeface="宋体"/>
              </a:rPr>
              <a:t>项目范围</a:t>
            </a:r>
            <a:endParaRPr sz="3200">
              <a:latin typeface="宋体"/>
              <a:cs typeface="宋体"/>
            </a:endParaRPr>
          </a:p>
          <a:p>
            <a:pPr lvl="1" marL="756285" marR="5080" indent="-287020">
              <a:lnSpc>
                <a:spcPts val="3150"/>
              </a:lnSpc>
              <a:spcBef>
                <a:spcPts val="1185"/>
              </a:spcBef>
              <a:buClr>
                <a:srgbClr val="C00000"/>
              </a:buClr>
              <a:buSzPct val="58928"/>
              <a:buFont typeface="Wingdings"/>
              <a:buChar char=""/>
              <a:tabLst>
                <a:tab pos="756285" algn="l"/>
                <a:tab pos="756920" algn="l"/>
              </a:tabLst>
            </a:pPr>
            <a:r>
              <a:rPr dirty="0" sz="2800" spc="-5">
                <a:latin typeface="宋体"/>
                <a:cs typeface="宋体"/>
              </a:rPr>
              <a:t>项目的边界定义不清晰，或者根本</a:t>
            </a:r>
            <a:r>
              <a:rPr dirty="0" sz="2800">
                <a:latin typeface="宋体"/>
                <a:cs typeface="宋体"/>
              </a:rPr>
              <a:t>就</a:t>
            </a:r>
            <a:r>
              <a:rPr dirty="0" sz="2800" spc="-5">
                <a:latin typeface="宋体"/>
                <a:cs typeface="宋体"/>
              </a:rPr>
              <a:t>没有</a:t>
            </a:r>
            <a:r>
              <a:rPr dirty="0" sz="2800">
                <a:latin typeface="宋体"/>
                <a:cs typeface="宋体"/>
              </a:rPr>
              <a:t>定</a:t>
            </a:r>
            <a:r>
              <a:rPr dirty="0" sz="2800" spc="-5">
                <a:latin typeface="宋体"/>
                <a:cs typeface="宋体"/>
              </a:rPr>
              <a:t>义 </a:t>
            </a:r>
            <a:r>
              <a:rPr dirty="0" sz="2800" spc="-5">
                <a:latin typeface="宋体"/>
                <a:cs typeface="宋体"/>
              </a:rPr>
              <a:t>项目的边界；</a:t>
            </a:r>
            <a:endParaRPr sz="2800">
              <a:latin typeface="宋体"/>
              <a:cs typeface="宋体"/>
            </a:endParaRPr>
          </a:p>
          <a:p>
            <a:pPr lvl="1" marL="756285" marR="5080" indent="-287020">
              <a:lnSpc>
                <a:spcPts val="3140"/>
              </a:lnSpc>
              <a:spcBef>
                <a:spcPts val="1105"/>
              </a:spcBef>
              <a:buClr>
                <a:srgbClr val="C00000"/>
              </a:buClr>
              <a:buSzPct val="58928"/>
              <a:buFont typeface="Wingdings"/>
              <a:buChar char=""/>
              <a:tabLst>
                <a:tab pos="756285" algn="l"/>
                <a:tab pos="756920" algn="l"/>
              </a:tabLst>
            </a:pPr>
            <a:r>
              <a:rPr dirty="0" sz="2800" spc="-5">
                <a:latin typeface="宋体"/>
                <a:cs typeface="宋体"/>
              </a:rPr>
              <a:t>定义的项目边界错误，使得最终的</a:t>
            </a:r>
            <a:r>
              <a:rPr dirty="0" sz="2800">
                <a:latin typeface="宋体"/>
                <a:cs typeface="宋体"/>
              </a:rPr>
              <a:t>需</a:t>
            </a:r>
            <a:r>
              <a:rPr dirty="0" sz="2800" spc="-5">
                <a:latin typeface="宋体"/>
                <a:cs typeface="宋体"/>
              </a:rPr>
              <a:t>求不</a:t>
            </a:r>
            <a:r>
              <a:rPr dirty="0" sz="2800">
                <a:latin typeface="宋体"/>
                <a:cs typeface="宋体"/>
              </a:rPr>
              <a:t>完</a:t>
            </a:r>
            <a:r>
              <a:rPr dirty="0" sz="2800" spc="-5">
                <a:latin typeface="宋体"/>
                <a:cs typeface="宋体"/>
              </a:rPr>
              <a:t>备 </a:t>
            </a:r>
            <a:r>
              <a:rPr dirty="0" sz="2800" spc="-5">
                <a:latin typeface="宋体"/>
                <a:cs typeface="宋体"/>
              </a:rPr>
              <a:t>或者冗余；</a:t>
            </a:r>
            <a:endParaRPr sz="2800">
              <a:latin typeface="宋体"/>
              <a:cs typeface="宋体"/>
            </a:endParaRPr>
          </a:p>
          <a:p>
            <a:pPr lvl="1" marL="756285" marR="5080" indent="-287020">
              <a:lnSpc>
                <a:spcPts val="3140"/>
              </a:lnSpc>
              <a:spcBef>
                <a:spcPts val="1110"/>
              </a:spcBef>
              <a:buClr>
                <a:srgbClr val="C00000"/>
              </a:buClr>
              <a:buSzPct val="58928"/>
              <a:buFont typeface="Wingdings"/>
              <a:buChar char=""/>
              <a:tabLst>
                <a:tab pos="756285" algn="l"/>
                <a:tab pos="756920" algn="l"/>
              </a:tabLst>
            </a:pPr>
            <a:r>
              <a:rPr dirty="0" sz="2800" spc="-5">
                <a:latin typeface="宋体"/>
                <a:cs typeface="宋体"/>
              </a:rPr>
              <a:t>没有控制已建立的项目边界，使得</a:t>
            </a:r>
            <a:r>
              <a:rPr dirty="0" sz="2800">
                <a:latin typeface="宋体"/>
                <a:cs typeface="宋体"/>
              </a:rPr>
              <a:t>项</a:t>
            </a:r>
            <a:r>
              <a:rPr dirty="0" sz="2800" spc="-5">
                <a:latin typeface="宋体"/>
                <a:cs typeface="宋体"/>
              </a:rPr>
              <a:t>目范</a:t>
            </a:r>
            <a:r>
              <a:rPr dirty="0" sz="2800">
                <a:latin typeface="宋体"/>
                <a:cs typeface="宋体"/>
              </a:rPr>
              <a:t>围</a:t>
            </a:r>
            <a:r>
              <a:rPr dirty="0" sz="2800" spc="-5">
                <a:latin typeface="宋体"/>
                <a:cs typeface="宋体"/>
              </a:rPr>
              <a:t>失 </a:t>
            </a:r>
            <a:r>
              <a:rPr dirty="0" sz="2800" spc="-5">
                <a:latin typeface="宋体"/>
                <a:cs typeface="宋体"/>
              </a:rPr>
              <a:t>控</a:t>
            </a:r>
            <a:endParaRPr sz="2800">
              <a:latin typeface="宋体"/>
              <a:cs typeface="宋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5578" y="85470"/>
            <a:ext cx="7157084"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1.4.</a:t>
            </a:r>
            <a:r>
              <a:rPr dirty="0" spc="-55">
                <a:latin typeface="Calibri"/>
                <a:cs typeface="Calibri"/>
              </a:rPr>
              <a:t> </a:t>
            </a:r>
            <a:r>
              <a:rPr dirty="0"/>
              <a:t>需求获取的实践调查情况</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078221"/>
            <a:ext cx="6450965" cy="3177540"/>
          </a:xfrm>
          <a:prstGeom prst="rect">
            <a:avLst/>
          </a:prstGeom>
        </p:spPr>
        <p:txBody>
          <a:bodyPr wrap="square" lIns="0" tIns="113664" rIns="0" bIns="0" rtlCol="0" vert="horz">
            <a:spAutoFit/>
          </a:bodyPr>
          <a:lstStyle/>
          <a:p>
            <a:pPr marL="355600" indent="-343535">
              <a:lnSpc>
                <a:spcPct val="100000"/>
              </a:lnSpc>
              <a:spcBef>
                <a:spcPts val="894"/>
              </a:spcBef>
              <a:buClr>
                <a:srgbClr val="00663B"/>
              </a:buClr>
              <a:buSzPct val="79687"/>
              <a:buFont typeface="Wingdings"/>
              <a:buChar char=""/>
              <a:tabLst>
                <a:tab pos="356235" algn="l"/>
              </a:tabLst>
            </a:pPr>
            <a:r>
              <a:rPr dirty="0" sz="3200">
                <a:latin typeface="宋体"/>
                <a:cs typeface="宋体"/>
              </a:rPr>
              <a:t>涉</a:t>
            </a:r>
            <a:r>
              <a:rPr dirty="0" sz="3200" spc="-5">
                <a:latin typeface="宋体"/>
                <a:cs typeface="宋体"/>
              </a:rPr>
              <a:t>众</a:t>
            </a:r>
            <a:r>
              <a:rPr dirty="0" sz="3200" spc="-5">
                <a:latin typeface="Calibri"/>
                <a:cs typeface="Calibri"/>
              </a:rPr>
              <a:t>/</a:t>
            </a:r>
            <a:r>
              <a:rPr dirty="0" sz="3200">
                <a:latin typeface="宋体"/>
                <a:cs typeface="宋体"/>
              </a:rPr>
              <a:t>用户参与不足</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没有能够有效的选择参与项目的用户</a:t>
            </a:r>
            <a:endParaRPr sz="2800">
              <a:latin typeface="宋体"/>
              <a:cs typeface="宋体"/>
            </a:endParaRPr>
          </a:p>
          <a:p>
            <a:pPr lvl="1" marL="756285" indent="-287020">
              <a:lnSpc>
                <a:spcPct val="100000"/>
              </a:lnSpc>
              <a:spcBef>
                <a:spcPts val="670"/>
              </a:spcBef>
              <a:buClr>
                <a:srgbClr val="C00000"/>
              </a:buClr>
              <a:buSzPct val="58928"/>
              <a:buFont typeface="Wingdings"/>
              <a:buChar char=""/>
              <a:tabLst>
                <a:tab pos="756285" algn="l"/>
                <a:tab pos="756920" algn="l"/>
              </a:tabLst>
            </a:pPr>
            <a:r>
              <a:rPr dirty="0" sz="2800" spc="-5">
                <a:latin typeface="宋体"/>
                <a:cs typeface="宋体"/>
              </a:rPr>
              <a:t>认识不足</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用户抵制</a:t>
            </a:r>
            <a:endParaRPr sz="2800">
              <a:latin typeface="宋体"/>
              <a:cs typeface="宋体"/>
            </a:endParaRPr>
          </a:p>
          <a:p>
            <a:pPr lvl="1" marL="756285" indent="-287020">
              <a:lnSpc>
                <a:spcPct val="100000"/>
              </a:lnSpc>
              <a:spcBef>
                <a:spcPts val="670"/>
              </a:spcBef>
              <a:buClr>
                <a:srgbClr val="C00000"/>
              </a:buClr>
              <a:buSzPct val="58928"/>
              <a:buFont typeface="Wingdings"/>
              <a:buChar char=""/>
              <a:tabLst>
                <a:tab pos="756285" algn="l"/>
                <a:tab pos="756920" algn="l"/>
              </a:tabLst>
            </a:pPr>
            <a:r>
              <a:rPr dirty="0" sz="2800" spc="-10">
                <a:latin typeface="宋体"/>
                <a:cs typeface="宋体"/>
              </a:rPr>
              <a:t>没有明确的用户</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管理上的障碍</a:t>
            </a:r>
            <a:endParaRPr sz="2800">
              <a:latin typeface="宋体"/>
              <a:cs typeface="宋体"/>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5578" y="129997"/>
            <a:ext cx="7157084"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1.4.</a:t>
            </a:r>
            <a:r>
              <a:rPr dirty="0" spc="-85">
                <a:latin typeface="Calibri"/>
                <a:cs typeface="Calibri"/>
              </a:rPr>
              <a:t> </a:t>
            </a:r>
            <a:r>
              <a:rPr dirty="0" spc="5"/>
              <a:t>需求获取的实践调查情况</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078221"/>
            <a:ext cx="8232140" cy="3945254"/>
          </a:xfrm>
          <a:prstGeom prst="rect">
            <a:avLst/>
          </a:prstGeom>
        </p:spPr>
        <p:txBody>
          <a:bodyPr wrap="square" lIns="0" tIns="113664" rIns="0" bIns="0" rtlCol="0" vert="horz">
            <a:spAutoFit/>
          </a:bodyPr>
          <a:lstStyle/>
          <a:p>
            <a:pPr marL="355600" indent="-343535">
              <a:lnSpc>
                <a:spcPct val="100000"/>
              </a:lnSpc>
              <a:spcBef>
                <a:spcPts val="894"/>
              </a:spcBef>
              <a:buClr>
                <a:srgbClr val="00663B"/>
              </a:buClr>
              <a:buSzPct val="79687"/>
              <a:buFont typeface="Wingdings"/>
              <a:buChar char=""/>
              <a:tabLst>
                <a:tab pos="356235" algn="l"/>
              </a:tabLst>
            </a:pPr>
            <a:r>
              <a:rPr dirty="0" sz="3200">
                <a:latin typeface="宋体"/>
                <a:cs typeface="宋体"/>
              </a:rPr>
              <a:t>交流问题</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最大的问题就是理解偏差</a:t>
            </a:r>
            <a:endParaRPr sz="2800">
              <a:latin typeface="宋体"/>
              <a:cs typeface="宋体"/>
            </a:endParaRPr>
          </a:p>
          <a:p>
            <a:pPr lvl="1" marL="756285" marR="5080" indent="-287020">
              <a:lnSpc>
                <a:spcPct val="97900"/>
              </a:lnSpc>
              <a:spcBef>
                <a:spcPts val="960"/>
              </a:spcBef>
              <a:buClr>
                <a:srgbClr val="C00000"/>
              </a:buClr>
              <a:buSzPct val="58928"/>
              <a:buFont typeface="Wingdings"/>
              <a:buChar char=""/>
              <a:tabLst>
                <a:tab pos="756285" algn="l"/>
                <a:tab pos="756920" algn="l"/>
              </a:tabLst>
            </a:pPr>
            <a:r>
              <a:rPr dirty="0" sz="2800" spc="-5">
                <a:latin typeface="宋体"/>
                <a:cs typeface="宋体"/>
              </a:rPr>
              <a:t>常用的交流方式：非正式的电话交</a:t>
            </a:r>
            <a:r>
              <a:rPr dirty="0" sz="2800">
                <a:latin typeface="宋体"/>
                <a:cs typeface="宋体"/>
              </a:rPr>
              <a:t>谈</a:t>
            </a:r>
            <a:r>
              <a:rPr dirty="0" sz="2800" spc="-5">
                <a:latin typeface="宋体"/>
                <a:cs typeface="宋体"/>
              </a:rPr>
              <a:t>、正</a:t>
            </a:r>
            <a:r>
              <a:rPr dirty="0" sz="2800">
                <a:latin typeface="宋体"/>
                <a:cs typeface="宋体"/>
              </a:rPr>
              <a:t>式</a:t>
            </a:r>
            <a:r>
              <a:rPr dirty="0" sz="2800" spc="-5">
                <a:latin typeface="宋体"/>
                <a:cs typeface="宋体"/>
              </a:rPr>
              <a:t>的 </a:t>
            </a:r>
            <a:r>
              <a:rPr dirty="0" sz="2800" spc="-5">
                <a:latin typeface="宋体"/>
                <a:cs typeface="宋体"/>
              </a:rPr>
              <a:t>电话交</a:t>
            </a:r>
            <a:r>
              <a:rPr dirty="0" sz="2800">
                <a:latin typeface="宋体"/>
                <a:cs typeface="宋体"/>
              </a:rPr>
              <a:t>谈</a:t>
            </a:r>
            <a:r>
              <a:rPr dirty="0" sz="2800" spc="-5">
                <a:latin typeface="宋体"/>
                <a:cs typeface="宋体"/>
              </a:rPr>
              <a:t>（例如</a:t>
            </a:r>
            <a:r>
              <a:rPr dirty="0" sz="2800">
                <a:latin typeface="宋体"/>
                <a:cs typeface="宋体"/>
              </a:rPr>
              <a:t>客</a:t>
            </a:r>
            <a:r>
              <a:rPr dirty="0" sz="2800" spc="-5">
                <a:latin typeface="宋体"/>
                <a:cs typeface="宋体"/>
              </a:rPr>
              <a:t>户热线</a:t>
            </a:r>
            <a:r>
              <a:rPr dirty="0" sz="2800">
                <a:latin typeface="宋体"/>
                <a:cs typeface="宋体"/>
              </a:rPr>
              <a:t>或</a:t>
            </a:r>
            <a:r>
              <a:rPr dirty="0" sz="2800" spc="-5">
                <a:latin typeface="宋体"/>
                <a:cs typeface="宋体"/>
              </a:rPr>
              <a:t>者远程</a:t>
            </a:r>
            <a:r>
              <a:rPr dirty="0" sz="2800">
                <a:latin typeface="宋体"/>
                <a:cs typeface="宋体"/>
              </a:rPr>
              <a:t>电</a:t>
            </a:r>
            <a:r>
              <a:rPr dirty="0" sz="2800" spc="-5">
                <a:latin typeface="宋体"/>
                <a:cs typeface="宋体"/>
              </a:rPr>
              <a:t>话会议</a:t>
            </a:r>
            <a:r>
              <a:rPr dirty="0" sz="2800">
                <a:latin typeface="宋体"/>
                <a:cs typeface="宋体"/>
              </a:rPr>
              <a:t>）</a:t>
            </a:r>
            <a:r>
              <a:rPr dirty="0" sz="2800" spc="-5">
                <a:latin typeface="宋体"/>
                <a:cs typeface="宋体"/>
              </a:rPr>
              <a:t>、 </a:t>
            </a:r>
            <a:r>
              <a:rPr dirty="0" sz="2800" spc="-5">
                <a:latin typeface="宋体"/>
                <a:cs typeface="宋体"/>
              </a:rPr>
              <a:t>邮件、</a:t>
            </a:r>
            <a:r>
              <a:rPr dirty="0" sz="2800" spc="-5">
                <a:latin typeface="Calibri"/>
                <a:cs typeface="Calibri"/>
              </a:rPr>
              <a:t>web</a:t>
            </a:r>
            <a:r>
              <a:rPr dirty="0" sz="2800" spc="-5">
                <a:latin typeface="宋体"/>
                <a:cs typeface="宋体"/>
              </a:rPr>
              <a:t>反馈表、文档以及一些面</a:t>
            </a:r>
            <a:r>
              <a:rPr dirty="0" sz="2800">
                <a:latin typeface="宋体"/>
                <a:cs typeface="宋体"/>
              </a:rPr>
              <a:t>对</a:t>
            </a:r>
            <a:r>
              <a:rPr dirty="0" sz="2800" spc="-5">
                <a:latin typeface="宋体"/>
                <a:cs typeface="宋体"/>
              </a:rPr>
              <a:t>面的交 </a:t>
            </a:r>
            <a:r>
              <a:rPr dirty="0" sz="2800" spc="-10">
                <a:latin typeface="宋体"/>
                <a:cs typeface="宋体"/>
              </a:rPr>
              <a:t>流（例</a:t>
            </a:r>
            <a:r>
              <a:rPr dirty="0" sz="2800" spc="-5">
                <a:latin typeface="宋体"/>
                <a:cs typeface="宋体"/>
              </a:rPr>
              <a:t>如</a:t>
            </a:r>
            <a:r>
              <a:rPr dirty="0" sz="2800" spc="-5">
                <a:latin typeface="Calibri"/>
                <a:cs typeface="Calibri"/>
              </a:rPr>
              <a:t>JAD</a:t>
            </a:r>
            <a:r>
              <a:rPr dirty="0" sz="2800" spc="-10">
                <a:latin typeface="宋体"/>
                <a:cs typeface="宋体"/>
              </a:rPr>
              <a:t>会议、原型等）</a:t>
            </a:r>
            <a:endParaRPr sz="2800">
              <a:latin typeface="宋体"/>
              <a:cs typeface="宋体"/>
            </a:endParaRPr>
          </a:p>
          <a:p>
            <a:pPr lvl="1" marL="756285" indent="-287020">
              <a:lnSpc>
                <a:spcPct val="100000"/>
              </a:lnSpc>
              <a:spcBef>
                <a:spcPts val="670"/>
              </a:spcBef>
              <a:buClr>
                <a:srgbClr val="C00000"/>
              </a:buClr>
              <a:buSzPct val="58928"/>
              <a:buFont typeface="Wingdings"/>
              <a:buChar char=""/>
              <a:tabLst>
                <a:tab pos="756285" algn="l"/>
                <a:tab pos="756920" algn="l"/>
              </a:tabLst>
            </a:pPr>
            <a:r>
              <a:rPr dirty="0" sz="2800" spc="-5">
                <a:latin typeface="宋体"/>
                <a:cs typeface="宋体"/>
              </a:rPr>
              <a:t>面对面的交流方式是最有效，也是</a:t>
            </a:r>
            <a:r>
              <a:rPr dirty="0" sz="2800">
                <a:latin typeface="宋体"/>
                <a:cs typeface="宋体"/>
              </a:rPr>
              <a:t>最</a:t>
            </a:r>
            <a:r>
              <a:rPr dirty="0" sz="2800" spc="-5">
                <a:latin typeface="宋体"/>
                <a:cs typeface="宋体"/>
              </a:rPr>
              <a:t>受欢</a:t>
            </a:r>
            <a:r>
              <a:rPr dirty="0" sz="2800">
                <a:latin typeface="宋体"/>
                <a:cs typeface="宋体"/>
              </a:rPr>
              <a:t>迎</a:t>
            </a:r>
            <a:r>
              <a:rPr dirty="0" sz="2800" spc="-5">
                <a:latin typeface="宋体"/>
                <a:cs typeface="宋体"/>
              </a:rPr>
              <a:t>的</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直接交流途径优于间接交流途径</a:t>
            </a:r>
            <a:endParaRPr sz="2800">
              <a:latin typeface="宋体"/>
              <a:cs typeface="宋体"/>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5578" y="169290"/>
            <a:ext cx="7157084"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1.4.</a:t>
            </a:r>
            <a:r>
              <a:rPr dirty="0" spc="-55">
                <a:latin typeface="Calibri"/>
                <a:cs typeface="Calibri"/>
              </a:rPr>
              <a:t> </a:t>
            </a:r>
            <a:r>
              <a:rPr dirty="0"/>
              <a:t>需求获取的实践调查情况</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078221"/>
            <a:ext cx="3965575" cy="4276725"/>
          </a:xfrm>
          <a:prstGeom prst="rect">
            <a:avLst/>
          </a:prstGeom>
        </p:spPr>
        <p:txBody>
          <a:bodyPr wrap="square" lIns="0" tIns="113664" rIns="0" bIns="0" rtlCol="0" vert="horz">
            <a:spAutoFit/>
          </a:bodyPr>
          <a:lstStyle/>
          <a:p>
            <a:pPr marL="355600" indent="-343535">
              <a:lnSpc>
                <a:spcPct val="100000"/>
              </a:lnSpc>
              <a:spcBef>
                <a:spcPts val="894"/>
              </a:spcBef>
              <a:buClr>
                <a:srgbClr val="00663B"/>
              </a:buClr>
              <a:buSzPct val="79687"/>
              <a:buFont typeface="Wingdings"/>
              <a:buChar char=""/>
              <a:tabLst>
                <a:tab pos="356235" algn="l"/>
              </a:tabLst>
            </a:pPr>
            <a:r>
              <a:rPr dirty="0" sz="3200">
                <a:latin typeface="宋体"/>
                <a:cs typeface="宋体"/>
              </a:rPr>
              <a:t>获取方法的使用</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面谈、原型</a:t>
            </a:r>
            <a:endParaRPr sz="2800">
              <a:latin typeface="宋体"/>
              <a:cs typeface="宋体"/>
            </a:endParaRPr>
          </a:p>
          <a:p>
            <a:pPr lvl="2" marL="1155700" indent="-229235">
              <a:lnSpc>
                <a:spcPct val="100000"/>
              </a:lnSpc>
              <a:spcBef>
                <a:spcPts val="590"/>
              </a:spcBef>
              <a:buFont typeface="Arial"/>
              <a:buChar char="•"/>
              <a:tabLst>
                <a:tab pos="1156335" algn="l"/>
              </a:tabLst>
            </a:pPr>
            <a:r>
              <a:rPr dirty="0" sz="2400">
                <a:latin typeface="宋体"/>
                <a:cs typeface="宋体"/>
              </a:rPr>
              <a:t>存在选择问题</a:t>
            </a:r>
            <a:endParaRPr sz="2400">
              <a:latin typeface="宋体"/>
              <a:cs typeface="宋体"/>
            </a:endParaRPr>
          </a:p>
          <a:p>
            <a:pPr lvl="1" marL="756285" indent="-287020">
              <a:lnSpc>
                <a:spcPct val="100000"/>
              </a:lnSpc>
              <a:spcBef>
                <a:spcPts val="660"/>
              </a:spcBef>
              <a:buClr>
                <a:srgbClr val="C00000"/>
              </a:buClr>
              <a:buSzPct val="58928"/>
              <a:buFont typeface="Wingdings"/>
              <a:buChar char=""/>
              <a:tabLst>
                <a:tab pos="756285" algn="l"/>
                <a:tab pos="756920" algn="l"/>
              </a:tabLst>
            </a:pPr>
            <a:r>
              <a:rPr dirty="0" sz="2800" spc="-5">
                <a:latin typeface="宋体"/>
                <a:cs typeface="宋体"/>
              </a:rPr>
              <a:t>五个方面的选择依据</a:t>
            </a:r>
            <a:endParaRPr sz="2800">
              <a:latin typeface="宋体"/>
              <a:cs typeface="宋体"/>
            </a:endParaRPr>
          </a:p>
          <a:p>
            <a:pPr lvl="2" marL="1155700" indent="-229235">
              <a:lnSpc>
                <a:spcPct val="100000"/>
              </a:lnSpc>
              <a:spcBef>
                <a:spcPts val="590"/>
              </a:spcBef>
              <a:buFont typeface="Arial"/>
              <a:buChar char="•"/>
              <a:tabLst>
                <a:tab pos="1156335" algn="l"/>
              </a:tabLst>
            </a:pPr>
            <a:r>
              <a:rPr dirty="0" sz="2400">
                <a:latin typeface="宋体"/>
                <a:cs typeface="宋体"/>
              </a:rPr>
              <a:t>需求的目的</a:t>
            </a:r>
            <a:endParaRPr sz="2400">
              <a:latin typeface="宋体"/>
              <a:cs typeface="宋体"/>
            </a:endParaRPr>
          </a:p>
          <a:p>
            <a:pPr lvl="2" marL="1155700" indent="-229235">
              <a:lnSpc>
                <a:spcPct val="100000"/>
              </a:lnSpc>
              <a:spcBef>
                <a:spcPts val="575"/>
              </a:spcBef>
              <a:buFont typeface="Arial"/>
              <a:buChar char="•"/>
              <a:tabLst>
                <a:tab pos="1156335" algn="l"/>
              </a:tabLst>
            </a:pPr>
            <a:r>
              <a:rPr dirty="0" sz="2400" spc="-5">
                <a:latin typeface="宋体"/>
                <a:cs typeface="宋体"/>
              </a:rPr>
              <a:t>知识的类型</a:t>
            </a:r>
            <a:endParaRPr sz="2400">
              <a:latin typeface="宋体"/>
              <a:cs typeface="宋体"/>
            </a:endParaRPr>
          </a:p>
          <a:p>
            <a:pPr lvl="2" marL="1155700" indent="-229235">
              <a:lnSpc>
                <a:spcPct val="100000"/>
              </a:lnSpc>
              <a:spcBef>
                <a:spcPts val="580"/>
              </a:spcBef>
              <a:buFont typeface="Arial"/>
              <a:buChar char="•"/>
              <a:tabLst>
                <a:tab pos="1156335" algn="l"/>
              </a:tabLst>
            </a:pPr>
            <a:r>
              <a:rPr dirty="0" sz="2400">
                <a:latin typeface="宋体"/>
                <a:cs typeface="宋体"/>
              </a:rPr>
              <a:t>知识内化的特性要求</a:t>
            </a:r>
            <a:endParaRPr sz="2400">
              <a:latin typeface="宋体"/>
              <a:cs typeface="宋体"/>
            </a:endParaRPr>
          </a:p>
          <a:p>
            <a:pPr lvl="2" marL="1155700" indent="-229235">
              <a:lnSpc>
                <a:spcPct val="100000"/>
              </a:lnSpc>
              <a:spcBef>
                <a:spcPts val="575"/>
              </a:spcBef>
              <a:buFont typeface="Arial"/>
              <a:buChar char="•"/>
              <a:tabLst>
                <a:tab pos="1156335" algn="l"/>
              </a:tabLst>
            </a:pPr>
            <a:r>
              <a:rPr dirty="0" sz="2400">
                <a:latin typeface="宋体"/>
                <a:cs typeface="宋体"/>
              </a:rPr>
              <a:t>可观察的现象</a:t>
            </a:r>
            <a:endParaRPr sz="2400">
              <a:latin typeface="宋体"/>
              <a:cs typeface="宋体"/>
            </a:endParaRPr>
          </a:p>
          <a:p>
            <a:pPr lvl="2" marL="1155700" indent="-229235">
              <a:lnSpc>
                <a:spcPct val="100000"/>
              </a:lnSpc>
              <a:spcBef>
                <a:spcPts val="575"/>
              </a:spcBef>
              <a:buFont typeface="Arial"/>
              <a:buChar char="•"/>
              <a:tabLst>
                <a:tab pos="1156335" algn="l"/>
              </a:tabLst>
            </a:pPr>
            <a:r>
              <a:rPr dirty="0" sz="2400" spc="-5">
                <a:latin typeface="宋体"/>
                <a:cs typeface="宋体"/>
              </a:rPr>
              <a:t>约束</a:t>
            </a:r>
            <a:endParaRPr sz="2400">
              <a:latin typeface="宋体"/>
              <a:cs typeface="宋体"/>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178813"/>
            <a:ext cx="4839970" cy="295275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687"/>
              <a:buFont typeface="Wingdings"/>
              <a:buChar char=""/>
              <a:tabLst>
                <a:tab pos="356235" algn="l"/>
              </a:tabLst>
            </a:pPr>
            <a:r>
              <a:rPr dirty="0" sz="3200">
                <a:latin typeface="Calibri"/>
                <a:cs typeface="Calibri"/>
              </a:rPr>
              <a:t>1.</a:t>
            </a:r>
            <a:r>
              <a:rPr dirty="0" sz="3200" spc="5">
                <a:latin typeface="Calibri"/>
                <a:cs typeface="Calibri"/>
              </a:rPr>
              <a:t> </a:t>
            </a:r>
            <a:r>
              <a:rPr dirty="0" sz="3200">
                <a:latin typeface="宋体"/>
                <a:cs typeface="宋体"/>
              </a:rPr>
              <a:t>需求获取概述</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2.</a:t>
            </a:r>
            <a:r>
              <a:rPr dirty="0" sz="3200" spc="-80">
                <a:latin typeface="Calibri"/>
                <a:cs typeface="Calibri"/>
              </a:rPr>
              <a:t> </a:t>
            </a:r>
            <a:r>
              <a:rPr dirty="0" sz="3200">
                <a:latin typeface="宋体"/>
                <a:cs typeface="宋体"/>
              </a:rPr>
              <a:t>确定项目的前景和范围</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3.</a:t>
            </a:r>
            <a:r>
              <a:rPr dirty="0" sz="3200" spc="-50">
                <a:latin typeface="Calibri"/>
                <a:cs typeface="Calibri"/>
              </a:rPr>
              <a:t> </a:t>
            </a:r>
            <a:r>
              <a:rPr dirty="0" sz="3200">
                <a:latin typeface="宋体"/>
                <a:cs typeface="宋体"/>
              </a:rPr>
              <a:t>涉众分析与硬数据采样</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4.</a:t>
            </a:r>
            <a:r>
              <a:rPr dirty="0" sz="3200" spc="-80">
                <a:latin typeface="Calibri"/>
                <a:cs typeface="Calibri"/>
              </a:rPr>
              <a:t> </a:t>
            </a:r>
            <a:r>
              <a:rPr dirty="0" sz="3200">
                <a:latin typeface="宋体"/>
                <a:cs typeface="宋体"/>
              </a:rPr>
              <a:t>面谈</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5.</a:t>
            </a:r>
            <a:r>
              <a:rPr dirty="0" sz="3200" spc="-90">
                <a:latin typeface="Calibri"/>
                <a:cs typeface="Calibri"/>
              </a:rPr>
              <a:t> </a:t>
            </a:r>
            <a:r>
              <a:rPr dirty="0" sz="3200">
                <a:latin typeface="宋体"/>
                <a:cs typeface="宋体"/>
              </a:rPr>
              <a:t>原型</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宋体"/>
                <a:cs typeface="宋体"/>
              </a:rPr>
              <a:t>本章小结</a:t>
            </a:r>
            <a:endParaRPr sz="3200">
              <a:latin typeface="宋体"/>
              <a:cs typeface="宋体"/>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17562"/>
            <a:ext cx="5619115" cy="236791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solidFill>
                  <a:srgbClr val="FF0000"/>
                </a:solidFill>
                <a:latin typeface="宋体"/>
                <a:cs typeface="宋体"/>
              </a:rPr>
              <a:t>确定项目前景和范围</a:t>
            </a:r>
            <a:r>
              <a:rPr dirty="0" sz="3200" spc="-15">
                <a:solidFill>
                  <a:srgbClr val="FF0000"/>
                </a:solidFill>
                <a:latin typeface="宋体"/>
                <a:cs typeface="宋体"/>
              </a:rPr>
              <a:t>的</a:t>
            </a:r>
            <a:r>
              <a:rPr dirty="0" sz="3200">
                <a:solidFill>
                  <a:srgbClr val="FF0000"/>
                </a:solidFill>
                <a:latin typeface="宋体"/>
                <a:cs typeface="宋体"/>
              </a:rPr>
              <a:t>活动</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问题分析</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建立系统边界</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项目前景和范围文档</a:t>
            </a:r>
            <a:endParaRPr sz="3200">
              <a:latin typeface="宋体"/>
              <a:cs typeface="宋体"/>
            </a:endParaRPr>
          </a:p>
        </p:txBody>
      </p:sp>
      <p:sp>
        <p:nvSpPr>
          <p:cNvPr id="3" name="object 3"/>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0432" y="222250"/>
            <a:ext cx="6149340" cy="940435"/>
          </a:xfrm>
          <a:prstGeom prst="rect"/>
        </p:spPr>
        <p:txBody>
          <a:bodyPr wrap="square" lIns="0" tIns="12700" rIns="0" bIns="0" rtlCol="0" vert="horz">
            <a:spAutoFit/>
          </a:bodyPr>
          <a:lstStyle/>
          <a:p>
            <a:pPr marL="12700">
              <a:lnSpc>
                <a:spcPct val="100000"/>
              </a:lnSpc>
              <a:spcBef>
                <a:spcPts val="100"/>
              </a:spcBef>
            </a:pPr>
            <a:r>
              <a:rPr dirty="0" sz="3000">
                <a:latin typeface="Calibri"/>
                <a:cs typeface="Calibri"/>
              </a:rPr>
              <a:t>2.1. </a:t>
            </a:r>
            <a:r>
              <a:rPr dirty="0" sz="3000"/>
              <a:t>确定项目前景和范围的活动</a:t>
            </a:r>
            <a:endParaRPr sz="3000">
              <a:latin typeface="Calibri"/>
              <a:cs typeface="Calibri"/>
            </a:endParaRPr>
          </a:p>
          <a:p>
            <a:pPr marL="40005">
              <a:lnSpc>
                <a:spcPct val="100000"/>
              </a:lnSpc>
            </a:pPr>
            <a:r>
              <a:rPr dirty="0" sz="3000" spc="-5">
                <a:latin typeface="Arial"/>
                <a:cs typeface="Arial"/>
              </a:rPr>
              <a:t>——</a:t>
            </a:r>
            <a:r>
              <a:rPr dirty="0" sz="3000" spc="-5"/>
              <a:t>为什么要确定项目的前景和范围</a:t>
            </a:r>
            <a:endParaRPr sz="30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56661"/>
            <a:ext cx="8058150" cy="4154170"/>
          </a:xfrm>
          <a:prstGeom prst="rect">
            <a:avLst/>
          </a:prstGeom>
        </p:spPr>
        <p:txBody>
          <a:bodyPr wrap="square" lIns="0" tIns="45085" rIns="0" bIns="0" rtlCol="0" vert="horz">
            <a:spAutoFit/>
          </a:bodyPr>
          <a:lstStyle/>
          <a:p>
            <a:pPr marL="355600" indent="-343535">
              <a:lnSpc>
                <a:spcPct val="100000"/>
              </a:lnSpc>
              <a:spcBef>
                <a:spcPts val="355"/>
              </a:spcBef>
              <a:buClr>
                <a:srgbClr val="00663B"/>
              </a:buClr>
              <a:buSzPct val="78571"/>
              <a:buFont typeface="Wingdings"/>
              <a:buChar char=""/>
              <a:tabLst>
                <a:tab pos="355600" algn="l"/>
                <a:tab pos="356235" algn="l"/>
              </a:tabLst>
            </a:pPr>
            <a:r>
              <a:rPr dirty="0" sz="2100" spc="-5">
                <a:latin typeface="宋体"/>
                <a:cs typeface="宋体"/>
              </a:rPr>
              <a:t>在看待现实世界时</a:t>
            </a:r>
            <a:endParaRPr sz="2100">
              <a:latin typeface="宋体"/>
              <a:cs typeface="宋体"/>
            </a:endParaRPr>
          </a:p>
          <a:p>
            <a:pPr lvl="1" marL="756285" indent="-287020">
              <a:lnSpc>
                <a:spcPct val="100000"/>
              </a:lnSpc>
              <a:spcBef>
                <a:spcPts val="245"/>
              </a:spcBef>
              <a:buClr>
                <a:srgbClr val="C00000"/>
              </a:buClr>
              <a:buSzPct val="60000"/>
              <a:buFont typeface="Wingdings"/>
              <a:buChar char=""/>
              <a:tabLst>
                <a:tab pos="756285" algn="l"/>
                <a:tab pos="756920" algn="l"/>
              </a:tabLst>
            </a:pPr>
            <a:r>
              <a:rPr dirty="0" sz="2000">
                <a:latin typeface="宋体"/>
                <a:cs typeface="宋体"/>
              </a:rPr>
              <a:t>世界是复杂的</a:t>
            </a:r>
            <a:endParaRPr sz="2000">
              <a:latin typeface="宋体"/>
              <a:cs typeface="宋体"/>
            </a:endParaRPr>
          </a:p>
          <a:p>
            <a:pPr lvl="2" marL="1155700" indent="-229235">
              <a:lnSpc>
                <a:spcPct val="100000"/>
              </a:lnSpc>
              <a:spcBef>
                <a:spcPts val="225"/>
              </a:spcBef>
              <a:buFont typeface="Arial"/>
              <a:buChar char="•"/>
              <a:tabLst>
                <a:tab pos="1155700" algn="l"/>
                <a:tab pos="1156335" algn="l"/>
              </a:tabLst>
            </a:pPr>
            <a:r>
              <a:rPr dirty="0" sz="1800">
                <a:latin typeface="宋体"/>
                <a:cs typeface="宋体"/>
              </a:rPr>
              <a:t>从不同的角度观察，会看到不同的内容</a:t>
            </a:r>
            <a:endParaRPr sz="1800">
              <a:latin typeface="宋体"/>
              <a:cs typeface="宋体"/>
            </a:endParaRPr>
          </a:p>
          <a:p>
            <a:pPr marL="1612900" marR="5080" indent="-228600">
              <a:lnSpc>
                <a:spcPts val="1730"/>
              </a:lnSpc>
              <a:spcBef>
                <a:spcPts val="415"/>
              </a:spcBef>
            </a:pPr>
            <a:r>
              <a:rPr dirty="0" sz="1600" spc="-5">
                <a:latin typeface="Arial"/>
                <a:cs typeface="Arial"/>
              </a:rPr>
              <a:t>–</a:t>
            </a:r>
            <a:r>
              <a:rPr dirty="0" sz="1600" spc="400">
                <a:latin typeface="Arial"/>
                <a:cs typeface="Arial"/>
              </a:rPr>
              <a:t> </a:t>
            </a:r>
            <a:r>
              <a:rPr dirty="0" sz="1600" spc="-5">
                <a:latin typeface="宋体"/>
                <a:cs typeface="宋体"/>
              </a:rPr>
              <a:t>例如，对桌子，木匠、商人、考古</a:t>
            </a:r>
            <a:r>
              <a:rPr dirty="0" sz="1600" spc="5">
                <a:latin typeface="宋体"/>
                <a:cs typeface="宋体"/>
              </a:rPr>
              <a:t>学</a:t>
            </a:r>
            <a:r>
              <a:rPr dirty="0" sz="1600" spc="-5">
                <a:latin typeface="宋体"/>
                <a:cs typeface="宋体"/>
              </a:rPr>
              <a:t>家、</a:t>
            </a:r>
            <a:r>
              <a:rPr dirty="0" sz="1600" spc="5">
                <a:latin typeface="宋体"/>
                <a:cs typeface="宋体"/>
              </a:rPr>
              <a:t>工</a:t>
            </a:r>
            <a:r>
              <a:rPr dirty="0" sz="1600" spc="-5">
                <a:latin typeface="宋体"/>
                <a:cs typeface="宋体"/>
              </a:rPr>
              <a:t>艺学</a:t>
            </a:r>
            <a:r>
              <a:rPr dirty="0" sz="1600">
                <a:latin typeface="宋体"/>
                <a:cs typeface="宋体"/>
              </a:rPr>
              <a:t>家</a:t>
            </a:r>
            <a:r>
              <a:rPr dirty="0" sz="1600" spc="-5">
                <a:latin typeface="Calibri"/>
                <a:cs typeface="Calibri"/>
              </a:rPr>
              <a:t>…</a:t>
            </a:r>
            <a:r>
              <a:rPr dirty="0" sz="1600" spc="5">
                <a:latin typeface="宋体"/>
                <a:cs typeface="宋体"/>
              </a:rPr>
              <a:t>观</a:t>
            </a:r>
            <a:r>
              <a:rPr dirty="0" sz="1600" spc="-5">
                <a:latin typeface="宋体"/>
                <a:cs typeface="宋体"/>
              </a:rPr>
              <a:t>察到</a:t>
            </a:r>
            <a:r>
              <a:rPr dirty="0" sz="1600" spc="5">
                <a:latin typeface="宋体"/>
                <a:cs typeface="宋体"/>
              </a:rPr>
              <a:t>的</a:t>
            </a:r>
            <a:r>
              <a:rPr dirty="0" sz="1600" spc="-5">
                <a:latin typeface="宋体"/>
                <a:cs typeface="宋体"/>
              </a:rPr>
              <a:t>内容</a:t>
            </a:r>
            <a:r>
              <a:rPr dirty="0" sz="1600" spc="5">
                <a:latin typeface="宋体"/>
                <a:cs typeface="宋体"/>
              </a:rPr>
              <a:t>是</a:t>
            </a:r>
            <a:r>
              <a:rPr dirty="0" sz="1600" spc="-5">
                <a:latin typeface="宋体"/>
                <a:cs typeface="宋体"/>
              </a:rPr>
              <a:t>不一 样的</a:t>
            </a:r>
            <a:endParaRPr sz="1600">
              <a:latin typeface="宋体"/>
              <a:cs typeface="宋体"/>
            </a:endParaRPr>
          </a:p>
          <a:p>
            <a:pPr marL="355600" indent="-343535">
              <a:lnSpc>
                <a:spcPct val="100000"/>
              </a:lnSpc>
              <a:spcBef>
                <a:spcPts val="204"/>
              </a:spcBef>
              <a:buClr>
                <a:srgbClr val="00663B"/>
              </a:buClr>
              <a:buSzPct val="78571"/>
              <a:buFont typeface="Wingdings"/>
              <a:buChar char=""/>
              <a:tabLst>
                <a:tab pos="355600" algn="l"/>
                <a:tab pos="356235" algn="l"/>
              </a:tabLst>
            </a:pPr>
            <a:r>
              <a:rPr dirty="0" sz="2100" spc="-5">
                <a:latin typeface="宋体"/>
                <a:cs typeface="宋体"/>
              </a:rPr>
              <a:t>因此</a:t>
            </a:r>
            <a:r>
              <a:rPr dirty="0" sz="2100">
                <a:latin typeface="Calibri"/>
                <a:cs typeface="Calibri"/>
              </a:rPr>
              <a:t>…</a:t>
            </a:r>
            <a:endParaRPr sz="2100">
              <a:latin typeface="Calibri"/>
              <a:cs typeface="Calibri"/>
            </a:endParaRPr>
          </a:p>
          <a:p>
            <a:pPr lvl="1" marL="756285" indent="-287020">
              <a:lnSpc>
                <a:spcPct val="100000"/>
              </a:lnSpc>
              <a:spcBef>
                <a:spcPts val="245"/>
              </a:spcBef>
              <a:buClr>
                <a:srgbClr val="C00000"/>
              </a:buClr>
              <a:buSzPct val="60000"/>
              <a:buFont typeface="Wingdings"/>
              <a:buChar char=""/>
              <a:tabLst>
                <a:tab pos="756285" algn="l"/>
                <a:tab pos="756920" algn="l"/>
              </a:tabLst>
            </a:pPr>
            <a:r>
              <a:rPr dirty="0" sz="2000">
                <a:latin typeface="宋体"/>
                <a:cs typeface="宋体"/>
              </a:rPr>
              <a:t>如何保证项目涉众以符</a:t>
            </a:r>
            <a:r>
              <a:rPr dirty="0" sz="2000" spc="-15">
                <a:latin typeface="宋体"/>
                <a:cs typeface="宋体"/>
              </a:rPr>
              <a:t>合</a:t>
            </a:r>
            <a:r>
              <a:rPr dirty="0" sz="2000">
                <a:latin typeface="宋体"/>
                <a:cs typeface="宋体"/>
              </a:rPr>
              <a:t>项目</a:t>
            </a:r>
            <a:r>
              <a:rPr dirty="0" sz="2000" spc="-15">
                <a:latin typeface="宋体"/>
                <a:cs typeface="宋体"/>
              </a:rPr>
              <a:t>需</a:t>
            </a:r>
            <a:r>
              <a:rPr dirty="0" sz="2000">
                <a:latin typeface="宋体"/>
                <a:cs typeface="宋体"/>
              </a:rPr>
              <a:t>要的</a:t>
            </a:r>
            <a:r>
              <a:rPr dirty="0" sz="2000" spc="-15">
                <a:latin typeface="宋体"/>
                <a:cs typeface="宋体"/>
              </a:rPr>
              <a:t>角</a:t>
            </a:r>
            <a:r>
              <a:rPr dirty="0" sz="2000">
                <a:latin typeface="宋体"/>
                <a:cs typeface="宋体"/>
              </a:rPr>
              <a:t>度描</a:t>
            </a:r>
            <a:r>
              <a:rPr dirty="0" sz="2000" spc="-15">
                <a:latin typeface="宋体"/>
                <a:cs typeface="宋体"/>
              </a:rPr>
              <a:t>述</a:t>
            </a:r>
            <a:r>
              <a:rPr dirty="0" sz="2000">
                <a:latin typeface="宋体"/>
                <a:cs typeface="宋体"/>
              </a:rPr>
              <a:t>现实</a:t>
            </a:r>
            <a:r>
              <a:rPr dirty="0" sz="2000" spc="-15">
                <a:latin typeface="宋体"/>
                <a:cs typeface="宋体"/>
              </a:rPr>
              <a:t>世</a:t>
            </a:r>
            <a:r>
              <a:rPr dirty="0" sz="2000">
                <a:latin typeface="宋体"/>
                <a:cs typeface="宋体"/>
              </a:rPr>
              <a:t>界？</a:t>
            </a:r>
            <a:endParaRPr sz="2000">
              <a:latin typeface="宋体"/>
              <a:cs typeface="宋体"/>
            </a:endParaRPr>
          </a:p>
          <a:p>
            <a:pPr lvl="1" marL="756285" indent="-287020">
              <a:lnSpc>
                <a:spcPct val="100000"/>
              </a:lnSpc>
              <a:spcBef>
                <a:spcPts val="240"/>
              </a:spcBef>
              <a:buClr>
                <a:srgbClr val="C00000"/>
              </a:buClr>
              <a:buSzPct val="60000"/>
              <a:buFont typeface="Wingdings"/>
              <a:buChar char=""/>
              <a:tabLst>
                <a:tab pos="756285" algn="l"/>
                <a:tab pos="756920" algn="l"/>
              </a:tabLst>
            </a:pPr>
            <a:r>
              <a:rPr dirty="0" sz="2000">
                <a:latin typeface="宋体"/>
                <a:cs typeface="宋体"/>
              </a:rPr>
              <a:t>描述哪些事物和事件才</a:t>
            </a:r>
            <a:r>
              <a:rPr dirty="0" sz="2000" spc="-15">
                <a:latin typeface="宋体"/>
                <a:cs typeface="宋体"/>
              </a:rPr>
              <a:t>会</a:t>
            </a:r>
            <a:r>
              <a:rPr dirty="0" sz="2000">
                <a:latin typeface="宋体"/>
                <a:cs typeface="宋体"/>
              </a:rPr>
              <a:t>尽可</a:t>
            </a:r>
            <a:r>
              <a:rPr dirty="0" sz="2000" spc="-15">
                <a:latin typeface="宋体"/>
                <a:cs typeface="宋体"/>
              </a:rPr>
              <a:t>能</a:t>
            </a:r>
            <a:r>
              <a:rPr dirty="0" sz="2000">
                <a:latin typeface="宋体"/>
                <a:cs typeface="宋体"/>
              </a:rPr>
              <a:t>的符</a:t>
            </a:r>
            <a:r>
              <a:rPr dirty="0" sz="2000" spc="-15">
                <a:latin typeface="宋体"/>
                <a:cs typeface="宋体"/>
              </a:rPr>
              <a:t>合</a:t>
            </a:r>
            <a:r>
              <a:rPr dirty="0" sz="2000">
                <a:latin typeface="宋体"/>
                <a:cs typeface="宋体"/>
              </a:rPr>
              <a:t>项目</a:t>
            </a:r>
            <a:r>
              <a:rPr dirty="0" sz="2000" spc="-15">
                <a:latin typeface="宋体"/>
                <a:cs typeface="宋体"/>
              </a:rPr>
              <a:t>的</a:t>
            </a:r>
            <a:r>
              <a:rPr dirty="0" sz="2000">
                <a:latin typeface="宋体"/>
                <a:cs typeface="宋体"/>
              </a:rPr>
              <a:t>需要？</a:t>
            </a:r>
            <a:endParaRPr sz="2000">
              <a:latin typeface="宋体"/>
              <a:cs typeface="宋体"/>
            </a:endParaRPr>
          </a:p>
          <a:p>
            <a:pPr marL="355600" indent="-343535">
              <a:lnSpc>
                <a:spcPct val="100000"/>
              </a:lnSpc>
              <a:spcBef>
                <a:spcPts val="250"/>
              </a:spcBef>
              <a:buClr>
                <a:srgbClr val="00663B"/>
              </a:buClr>
              <a:buSzPct val="78571"/>
              <a:buFont typeface="Wingdings"/>
              <a:buChar char=""/>
              <a:tabLst>
                <a:tab pos="355600" algn="l"/>
                <a:tab pos="356235" algn="l"/>
              </a:tabLst>
            </a:pPr>
            <a:r>
              <a:rPr dirty="0" sz="2100">
                <a:latin typeface="宋体"/>
                <a:cs typeface="宋体"/>
              </a:rPr>
              <a:t>方法</a:t>
            </a:r>
            <a:r>
              <a:rPr dirty="0" sz="2100" spc="-5">
                <a:latin typeface="宋体"/>
                <a:cs typeface="宋体"/>
              </a:rPr>
              <a:t>是</a:t>
            </a:r>
            <a:r>
              <a:rPr dirty="0" sz="2100">
                <a:latin typeface="Calibri"/>
                <a:cs typeface="Calibri"/>
              </a:rPr>
              <a:t>…</a:t>
            </a:r>
            <a:endParaRPr sz="2100">
              <a:latin typeface="Calibri"/>
              <a:cs typeface="Calibri"/>
            </a:endParaRPr>
          </a:p>
          <a:p>
            <a:pPr lvl="1" marL="756285" indent="-287020">
              <a:lnSpc>
                <a:spcPct val="100000"/>
              </a:lnSpc>
              <a:spcBef>
                <a:spcPts val="245"/>
              </a:spcBef>
              <a:buClr>
                <a:srgbClr val="C00000"/>
              </a:buClr>
              <a:buSzPct val="60000"/>
              <a:buFont typeface="Wingdings"/>
              <a:buChar char=""/>
              <a:tabLst>
                <a:tab pos="756285" algn="l"/>
                <a:tab pos="756920" algn="l"/>
              </a:tabLst>
            </a:pPr>
            <a:r>
              <a:rPr dirty="0" sz="2000">
                <a:latin typeface="宋体"/>
                <a:cs typeface="宋体"/>
              </a:rPr>
              <a:t>定义项目前景</a:t>
            </a:r>
            <a:endParaRPr sz="2000">
              <a:latin typeface="宋体"/>
              <a:cs typeface="宋体"/>
            </a:endParaRPr>
          </a:p>
          <a:p>
            <a:pPr lvl="2" marL="1155700" indent="-229235">
              <a:lnSpc>
                <a:spcPct val="100000"/>
              </a:lnSpc>
              <a:spcBef>
                <a:spcPts val="225"/>
              </a:spcBef>
              <a:buFont typeface="Arial"/>
              <a:buChar char="•"/>
              <a:tabLst>
                <a:tab pos="1155700" algn="l"/>
                <a:tab pos="1156335" algn="l"/>
              </a:tabLst>
            </a:pPr>
            <a:r>
              <a:rPr dirty="0" sz="1800">
                <a:latin typeface="宋体"/>
                <a:cs typeface="宋体"/>
              </a:rPr>
              <a:t>所有的涉众都从共同认同的项目前景出发，理解和描</a:t>
            </a:r>
            <a:r>
              <a:rPr dirty="0" sz="1800" spc="5">
                <a:latin typeface="宋体"/>
                <a:cs typeface="宋体"/>
              </a:rPr>
              <a:t>述</a:t>
            </a:r>
            <a:r>
              <a:rPr dirty="0" sz="1800">
                <a:solidFill>
                  <a:srgbClr val="00A15F"/>
                </a:solidFill>
                <a:latin typeface="宋体"/>
                <a:cs typeface="宋体"/>
              </a:rPr>
              <a:t>问题域</a:t>
            </a:r>
            <a:r>
              <a:rPr dirty="0" sz="1800">
                <a:latin typeface="宋体"/>
                <a:cs typeface="宋体"/>
              </a:rPr>
              <a:t>及</a:t>
            </a:r>
            <a:r>
              <a:rPr dirty="0" sz="1800">
                <a:solidFill>
                  <a:srgbClr val="00A15F"/>
                </a:solidFill>
                <a:latin typeface="宋体"/>
                <a:cs typeface="宋体"/>
              </a:rPr>
              <a:t>需求</a:t>
            </a:r>
            <a:endParaRPr sz="1800">
              <a:latin typeface="宋体"/>
              <a:cs typeface="宋体"/>
            </a:endParaRPr>
          </a:p>
          <a:p>
            <a:pPr lvl="1" marL="756285" indent="-287020">
              <a:lnSpc>
                <a:spcPct val="100000"/>
              </a:lnSpc>
              <a:spcBef>
                <a:spcPts val="234"/>
              </a:spcBef>
              <a:buClr>
                <a:srgbClr val="C00000"/>
              </a:buClr>
              <a:buSzPct val="60000"/>
              <a:buFont typeface="Wingdings"/>
              <a:buChar char=""/>
              <a:tabLst>
                <a:tab pos="756285" algn="l"/>
                <a:tab pos="756920" algn="l"/>
              </a:tabLst>
            </a:pPr>
            <a:r>
              <a:rPr dirty="0" sz="2000">
                <a:latin typeface="宋体"/>
                <a:cs typeface="宋体"/>
              </a:rPr>
              <a:t>定义项目范围</a:t>
            </a:r>
            <a:endParaRPr sz="2000">
              <a:latin typeface="宋体"/>
              <a:cs typeface="宋体"/>
            </a:endParaRPr>
          </a:p>
          <a:p>
            <a:pPr lvl="2" marL="1155700" indent="-229235">
              <a:lnSpc>
                <a:spcPct val="100000"/>
              </a:lnSpc>
              <a:spcBef>
                <a:spcPts val="220"/>
              </a:spcBef>
              <a:buFont typeface="Arial"/>
              <a:buChar char="•"/>
              <a:tabLst>
                <a:tab pos="1155700" algn="l"/>
                <a:tab pos="1156335" algn="l"/>
              </a:tabLst>
            </a:pPr>
            <a:r>
              <a:rPr dirty="0" sz="1800">
                <a:latin typeface="宋体"/>
                <a:cs typeface="宋体"/>
              </a:rPr>
              <a:t>范围内的</a:t>
            </a:r>
            <a:r>
              <a:rPr dirty="0" sz="1800">
                <a:solidFill>
                  <a:srgbClr val="00A15F"/>
                </a:solidFill>
                <a:latin typeface="宋体"/>
                <a:cs typeface="宋体"/>
              </a:rPr>
              <a:t>事物</a:t>
            </a:r>
            <a:r>
              <a:rPr dirty="0" sz="1800">
                <a:latin typeface="宋体"/>
                <a:cs typeface="宋体"/>
              </a:rPr>
              <a:t>和</a:t>
            </a:r>
            <a:r>
              <a:rPr dirty="0" sz="1800">
                <a:solidFill>
                  <a:srgbClr val="00A15F"/>
                </a:solidFill>
                <a:latin typeface="宋体"/>
                <a:cs typeface="宋体"/>
              </a:rPr>
              <a:t>事件</a:t>
            </a:r>
            <a:r>
              <a:rPr dirty="0" sz="1800">
                <a:latin typeface="宋体"/>
                <a:cs typeface="宋体"/>
              </a:rPr>
              <a:t>是描述的目标</a:t>
            </a:r>
            <a:endParaRPr sz="1800">
              <a:latin typeface="宋体"/>
              <a:cs typeface="宋体"/>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62125" y="138506"/>
            <a:ext cx="5622290" cy="1002030"/>
          </a:xfrm>
          <a:prstGeom prst="rect"/>
        </p:spPr>
        <p:txBody>
          <a:bodyPr wrap="square" lIns="0" tIns="13335" rIns="0" bIns="0" rtlCol="0" vert="horz">
            <a:spAutoFit/>
          </a:bodyPr>
          <a:lstStyle/>
          <a:p>
            <a:pPr marL="12700">
              <a:lnSpc>
                <a:spcPct val="100000"/>
              </a:lnSpc>
              <a:spcBef>
                <a:spcPts val="105"/>
              </a:spcBef>
            </a:pPr>
            <a:r>
              <a:rPr dirty="0" sz="3200" spc="-5">
                <a:latin typeface="Calibri"/>
                <a:cs typeface="Calibri"/>
              </a:rPr>
              <a:t>2.1.</a:t>
            </a:r>
            <a:r>
              <a:rPr dirty="0" sz="3200" spc="-45">
                <a:latin typeface="Calibri"/>
                <a:cs typeface="Calibri"/>
              </a:rPr>
              <a:t> </a:t>
            </a:r>
            <a:r>
              <a:rPr dirty="0" sz="3200" spc="5"/>
              <a:t>确定项目前景和范围</a:t>
            </a:r>
            <a:r>
              <a:rPr dirty="0" sz="3200" spc="-10"/>
              <a:t>的</a:t>
            </a:r>
            <a:r>
              <a:rPr dirty="0" sz="3200" spc="5"/>
              <a:t>活动</a:t>
            </a:r>
            <a:endParaRPr sz="3200">
              <a:latin typeface="Calibri"/>
              <a:cs typeface="Calibri"/>
            </a:endParaRPr>
          </a:p>
          <a:p>
            <a:pPr marL="1842770">
              <a:lnSpc>
                <a:spcPct val="100000"/>
              </a:lnSpc>
            </a:pPr>
            <a:r>
              <a:rPr dirty="0" sz="3200">
                <a:latin typeface="Arial"/>
                <a:cs typeface="Arial"/>
              </a:rPr>
              <a:t>——</a:t>
            </a:r>
            <a:r>
              <a:rPr dirty="0" sz="3200"/>
              <a:t>位置和作用</a:t>
            </a:r>
            <a:endParaRPr sz="3200">
              <a:latin typeface="Arial"/>
              <a:cs typeface="Arial"/>
            </a:endParaRPr>
          </a:p>
        </p:txBody>
      </p:sp>
      <p:sp>
        <p:nvSpPr>
          <p:cNvPr id="3" name="object 3"/>
          <p:cNvSpPr txBox="1"/>
          <p:nvPr/>
        </p:nvSpPr>
        <p:spPr>
          <a:xfrm>
            <a:off x="2663265" y="2946938"/>
            <a:ext cx="1177925" cy="322580"/>
          </a:xfrm>
          <a:prstGeom prst="rect">
            <a:avLst/>
          </a:prstGeom>
          <a:solidFill>
            <a:srgbClr val="E8EDF7"/>
          </a:solidFill>
          <a:ln w="3693">
            <a:solidFill>
              <a:srgbClr val="000000"/>
            </a:solidFill>
          </a:ln>
        </p:spPr>
        <p:txBody>
          <a:bodyPr wrap="square" lIns="0" tIns="37465" rIns="0" bIns="0" rtlCol="0" vert="horz">
            <a:spAutoFit/>
          </a:bodyPr>
          <a:lstStyle/>
          <a:p>
            <a:pPr marL="127000">
              <a:lnSpc>
                <a:spcPct val="100000"/>
              </a:lnSpc>
              <a:spcBef>
                <a:spcPts val="295"/>
              </a:spcBef>
            </a:pPr>
            <a:r>
              <a:rPr dirty="0" sz="1450">
                <a:latin typeface="宋体"/>
                <a:cs typeface="宋体"/>
              </a:rPr>
              <a:t>前景和范围</a:t>
            </a:r>
            <a:endParaRPr sz="1450">
              <a:latin typeface="宋体"/>
              <a:cs typeface="宋体"/>
            </a:endParaRPr>
          </a:p>
        </p:txBody>
      </p:sp>
      <p:sp>
        <p:nvSpPr>
          <p:cNvPr id="4" name="object 4"/>
          <p:cNvSpPr/>
          <p:nvPr/>
        </p:nvSpPr>
        <p:spPr>
          <a:xfrm>
            <a:off x="2172568" y="2200323"/>
            <a:ext cx="2159635" cy="414655"/>
          </a:xfrm>
          <a:custGeom>
            <a:avLst/>
            <a:gdLst/>
            <a:ahLst/>
            <a:cxnLst/>
            <a:rect l="l" t="t" r="r" b="b"/>
            <a:pathLst>
              <a:path w="2159635" h="414655">
                <a:moveTo>
                  <a:pt x="1079517" y="0"/>
                </a:moveTo>
                <a:lnTo>
                  <a:pt x="1005607" y="478"/>
                </a:lnTo>
                <a:lnTo>
                  <a:pt x="933035" y="1892"/>
                </a:lnTo>
                <a:lnTo>
                  <a:pt x="861959" y="4211"/>
                </a:lnTo>
                <a:lnTo>
                  <a:pt x="792542" y="7404"/>
                </a:lnTo>
                <a:lnTo>
                  <a:pt x="724943" y="11441"/>
                </a:lnTo>
                <a:lnTo>
                  <a:pt x="659324" y="16290"/>
                </a:lnTo>
                <a:lnTo>
                  <a:pt x="595845" y="21921"/>
                </a:lnTo>
                <a:lnTo>
                  <a:pt x="534668" y="28302"/>
                </a:lnTo>
                <a:lnTo>
                  <a:pt x="475953" y="35404"/>
                </a:lnTo>
                <a:lnTo>
                  <a:pt x="419860" y="43194"/>
                </a:lnTo>
                <a:lnTo>
                  <a:pt x="366551" y="51642"/>
                </a:lnTo>
                <a:lnTo>
                  <a:pt x="316186" y="60718"/>
                </a:lnTo>
                <a:lnTo>
                  <a:pt x="268927" y="70390"/>
                </a:lnTo>
                <a:lnTo>
                  <a:pt x="224933" y="80628"/>
                </a:lnTo>
                <a:lnTo>
                  <a:pt x="184367" y="91400"/>
                </a:lnTo>
                <a:lnTo>
                  <a:pt x="147387" y="102676"/>
                </a:lnTo>
                <a:lnTo>
                  <a:pt x="84835" y="126617"/>
                </a:lnTo>
                <a:lnTo>
                  <a:pt x="38562" y="152202"/>
                </a:lnTo>
                <a:lnTo>
                  <a:pt x="9854" y="179185"/>
                </a:lnTo>
                <a:lnTo>
                  <a:pt x="0" y="207320"/>
                </a:lnTo>
                <a:lnTo>
                  <a:pt x="2490" y="221497"/>
                </a:lnTo>
                <a:lnTo>
                  <a:pt x="38562" y="262373"/>
                </a:lnTo>
                <a:lnTo>
                  <a:pt x="84835" y="287934"/>
                </a:lnTo>
                <a:lnTo>
                  <a:pt x="147387" y="311855"/>
                </a:lnTo>
                <a:lnTo>
                  <a:pt x="184367" y="323123"/>
                </a:lnTo>
                <a:lnTo>
                  <a:pt x="224933" y="333889"/>
                </a:lnTo>
                <a:lnTo>
                  <a:pt x="268927" y="344120"/>
                </a:lnTo>
                <a:lnTo>
                  <a:pt x="316186" y="353787"/>
                </a:lnTo>
                <a:lnTo>
                  <a:pt x="366551" y="362858"/>
                </a:lnTo>
                <a:lnTo>
                  <a:pt x="419860" y="371303"/>
                </a:lnTo>
                <a:lnTo>
                  <a:pt x="475953" y="379090"/>
                </a:lnTo>
                <a:lnTo>
                  <a:pt x="534668" y="386189"/>
                </a:lnTo>
                <a:lnTo>
                  <a:pt x="595845" y="392569"/>
                </a:lnTo>
                <a:lnTo>
                  <a:pt x="659324" y="398198"/>
                </a:lnTo>
                <a:lnTo>
                  <a:pt x="724943" y="403046"/>
                </a:lnTo>
                <a:lnTo>
                  <a:pt x="792542" y="407082"/>
                </a:lnTo>
                <a:lnTo>
                  <a:pt x="861959" y="410275"/>
                </a:lnTo>
                <a:lnTo>
                  <a:pt x="933035" y="412594"/>
                </a:lnTo>
                <a:lnTo>
                  <a:pt x="1005607" y="414008"/>
                </a:lnTo>
                <a:lnTo>
                  <a:pt x="1079517" y="414486"/>
                </a:lnTo>
                <a:lnTo>
                  <a:pt x="1153430" y="414008"/>
                </a:lnTo>
                <a:lnTo>
                  <a:pt x="1226005" y="412594"/>
                </a:lnTo>
                <a:lnTo>
                  <a:pt x="1297084" y="410275"/>
                </a:lnTo>
                <a:lnTo>
                  <a:pt x="1366504" y="407082"/>
                </a:lnTo>
                <a:lnTo>
                  <a:pt x="1434104" y="403046"/>
                </a:lnTo>
                <a:lnTo>
                  <a:pt x="1499725" y="398198"/>
                </a:lnTo>
                <a:lnTo>
                  <a:pt x="1563205" y="392569"/>
                </a:lnTo>
                <a:lnTo>
                  <a:pt x="1624383" y="386189"/>
                </a:lnTo>
                <a:lnTo>
                  <a:pt x="1683099" y="379090"/>
                </a:lnTo>
                <a:lnTo>
                  <a:pt x="1739192" y="371303"/>
                </a:lnTo>
                <a:lnTo>
                  <a:pt x="1792501" y="362858"/>
                </a:lnTo>
                <a:lnTo>
                  <a:pt x="1842866" y="353787"/>
                </a:lnTo>
                <a:lnTo>
                  <a:pt x="1890126" y="344120"/>
                </a:lnTo>
                <a:lnTo>
                  <a:pt x="1934119" y="333889"/>
                </a:lnTo>
                <a:lnTo>
                  <a:pt x="1974685" y="323123"/>
                </a:lnTo>
                <a:lnTo>
                  <a:pt x="2011664" y="311855"/>
                </a:lnTo>
                <a:lnTo>
                  <a:pt x="2074216" y="287934"/>
                </a:lnTo>
                <a:lnTo>
                  <a:pt x="2120488" y="262373"/>
                </a:lnTo>
                <a:lnTo>
                  <a:pt x="2149195" y="235419"/>
                </a:lnTo>
                <a:lnTo>
                  <a:pt x="2159049" y="207320"/>
                </a:lnTo>
                <a:lnTo>
                  <a:pt x="2156559" y="193124"/>
                </a:lnTo>
                <a:lnTo>
                  <a:pt x="2120488" y="152202"/>
                </a:lnTo>
                <a:lnTo>
                  <a:pt x="2074216" y="126617"/>
                </a:lnTo>
                <a:lnTo>
                  <a:pt x="2011664" y="102676"/>
                </a:lnTo>
                <a:lnTo>
                  <a:pt x="1974685" y="91400"/>
                </a:lnTo>
                <a:lnTo>
                  <a:pt x="1934119" y="80628"/>
                </a:lnTo>
                <a:lnTo>
                  <a:pt x="1890126" y="70390"/>
                </a:lnTo>
                <a:lnTo>
                  <a:pt x="1842866" y="60718"/>
                </a:lnTo>
                <a:lnTo>
                  <a:pt x="1792501" y="51642"/>
                </a:lnTo>
                <a:lnTo>
                  <a:pt x="1739192" y="43194"/>
                </a:lnTo>
                <a:lnTo>
                  <a:pt x="1683099" y="35404"/>
                </a:lnTo>
                <a:lnTo>
                  <a:pt x="1624383" y="28302"/>
                </a:lnTo>
                <a:lnTo>
                  <a:pt x="1563205" y="21921"/>
                </a:lnTo>
                <a:lnTo>
                  <a:pt x="1499725" y="16290"/>
                </a:lnTo>
                <a:lnTo>
                  <a:pt x="1434104" y="11441"/>
                </a:lnTo>
                <a:lnTo>
                  <a:pt x="1366504" y="7404"/>
                </a:lnTo>
                <a:lnTo>
                  <a:pt x="1297084" y="4211"/>
                </a:lnTo>
                <a:lnTo>
                  <a:pt x="1226005" y="1892"/>
                </a:lnTo>
                <a:lnTo>
                  <a:pt x="1153430" y="478"/>
                </a:lnTo>
                <a:lnTo>
                  <a:pt x="1079517" y="0"/>
                </a:lnTo>
                <a:close/>
              </a:path>
            </a:pathLst>
          </a:custGeom>
          <a:solidFill>
            <a:srgbClr val="E8EDF7"/>
          </a:solidFill>
        </p:spPr>
        <p:txBody>
          <a:bodyPr wrap="square" lIns="0" tIns="0" rIns="0" bIns="0" rtlCol="0"/>
          <a:lstStyle/>
          <a:p/>
        </p:txBody>
      </p:sp>
      <p:sp>
        <p:nvSpPr>
          <p:cNvPr id="5" name="object 5"/>
          <p:cNvSpPr/>
          <p:nvPr/>
        </p:nvSpPr>
        <p:spPr>
          <a:xfrm>
            <a:off x="2172568" y="2200323"/>
            <a:ext cx="2159635" cy="414655"/>
          </a:xfrm>
          <a:custGeom>
            <a:avLst/>
            <a:gdLst/>
            <a:ahLst/>
            <a:cxnLst/>
            <a:rect l="l" t="t" r="r" b="b"/>
            <a:pathLst>
              <a:path w="2159635" h="414655">
                <a:moveTo>
                  <a:pt x="0" y="207320"/>
                </a:moveTo>
                <a:lnTo>
                  <a:pt x="21932" y="165534"/>
                </a:lnTo>
                <a:lnTo>
                  <a:pt x="59583" y="139219"/>
                </a:lnTo>
                <a:lnTo>
                  <a:pt x="114157" y="114425"/>
                </a:lnTo>
                <a:lnTo>
                  <a:pt x="184367" y="91400"/>
                </a:lnTo>
                <a:lnTo>
                  <a:pt x="224933" y="80628"/>
                </a:lnTo>
                <a:lnTo>
                  <a:pt x="268927" y="70390"/>
                </a:lnTo>
                <a:lnTo>
                  <a:pt x="316186" y="60718"/>
                </a:lnTo>
                <a:lnTo>
                  <a:pt x="366551" y="51642"/>
                </a:lnTo>
                <a:lnTo>
                  <a:pt x="419860" y="43194"/>
                </a:lnTo>
                <a:lnTo>
                  <a:pt x="475953" y="35404"/>
                </a:lnTo>
                <a:lnTo>
                  <a:pt x="534668" y="28302"/>
                </a:lnTo>
                <a:lnTo>
                  <a:pt x="595845" y="21921"/>
                </a:lnTo>
                <a:lnTo>
                  <a:pt x="659324" y="16290"/>
                </a:lnTo>
                <a:lnTo>
                  <a:pt x="724943" y="11441"/>
                </a:lnTo>
                <a:lnTo>
                  <a:pt x="792542" y="7404"/>
                </a:lnTo>
                <a:lnTo>
                  <a:pt x="861959" y="4211"/>
                </a:lnTo>
                <a:lnTo>
                  <a:pt x="933035" y="1892"/>
                </a:lnTo>
                <a:lnTo>
                  <a:pt x="1005607" y="478"/>
                </a:lnTo>
                <a:lnTo>
                  <a:pt x="1079517" y="0"/>
                </a:lnTo>
                <a:lnTo>
                  <a:pt x="1153430" y="478"/>
                </a:lnTo>
                <a:lnTo>
                  <a:pt x="1226006" y="1892"/>
                </a:lnTo>
                <a:lnTo>
                  <a:pt x="1297084" y="4211"/>
                </a:lnTo>
                <a:lnTo>
                  <a:pt x="1366504" y="7404"/>
                </a:lnTo>
                <a:lnTo>
                  <a:pt x="1434104" y="11441"/>
                </a:lnTo>
                <a:lnTo>
                  <a:pt x="1499725" y="16290"/>
                </a:lnTo>
                <a:lnTo>
                  <a:pt x="1563205" y="21921"/>
                </a:lnTo>
                <a:lnTo>
                  <a:pt x="1624383" y="28302"/>
                </a:lnTo>
                <a:lnTo>
                  <a:pt x="1683099" y="35404"/>
                </a:lnTo>
                <a:lnTo>
                  <a:pt x="1739192" y="43194"/>
                </a:lnTo>
                <a:lnTo>
                  <a:pt x="1792501" y="51642"/>
                </a:lnTo>
                <a:lnTo>
                  <a:pt x="1842866" y="60718"/>
                </a:lnTo>
                <a:lnTo>
                  <a:pt x="1890126" y="70390"/>
                </a:lnTo>
                <a:lnTo>
                  <a:pt x="1934119" y="80628"/>
                </a:lnTo>
                <a:lnTo>
                  <a:pt x="1974685" y="91400"/>
                </a:lnTo>
                <a:lnTo>
                  <a:pt x="2011664" y="102676"/>
                </a:lnTo>
                <a:lnTo>
                  <a:pt x="2074216" y="126617"/>
                </a:lnTo>
                <a:lnTo>
                  <a:pt x="2120488" y="152202"/>
                </a:lnTo>
                <a:lnTo>
                  <a:pt x="2149195" y="179185"/>
                </a:lnTo>
                <a:lnTo>
                  <a:pt x="2159049" y="207320"/>
                </a:lnTo>
                <a:lnTo>
                  <a:pt x="2156559" y="221497"/>
                </a:lnTo>
                <a:lnTo>
                  <a:pt x="2149195" y="235419"/>
                </a:lnTo>
                <a:lnTo>
                  <a:pt x="2120488" y="262373"/>
                </a:lnTo>
                <a:lnTo>
                  <a:pt x="2074216" y="287934"/>
                </a:lnTo>
                <a:lnTo>
                  <a:pt x="2011664" y="311855"/>
                </a:lnTo>
                <a:lnTo>
                  <a:pt x="1974685" y="323123"/>
                </a:lnTo>
                <a:lnTo>
                  <a:pt x="1934119" y="333889"/>
                </a:lnTo>
                <a:lnTo>
                  <a:pt x="1890126" y="344120"/>
                </a:lnTo>
                <a:lnTo>
                  <a:pt x="1842866" y="353787"/>
                </a:lnTo>
                <a:lnTo>
                  <a:pt x="1792501" y="362858"/>
                </a:lnTo>
                <a:lnTo>
                  <a:pt x="1739192" y="371303"/>
                </a:lnTo>
                <a:lnTo>
                  <a:pt x="1683099" y="379090"/>
                </a:lnTo>
                <a:lnTo>
                  <a:pt x="1624383" y="386189"/>
                </a:lnTo>
                <a:lnTo>
                  <a:pt x="1563205" y="392569"/>
                </a:lnTo>
                <a:lnTo>
                  <a:pt x="1499725" y="398198"/>
                </a:lnTo>
                <a:lnTo>
                  <a:pt x="1434104" y="403046"/>
                </a:lnTo>
                <a:lnTo>
                  <a:pt x="1366504" y="407082"/>
                </a:lnTo>
                <a:lnTo>
                  <a:pt x="1297084" y="410275"/>
                </a:lnTo>
                <a:lnTo>
                  <a:pt x="1226006" y="412594"/>
                </a:lnTo>
                <a:lnTo>
                  <a:pt x="1153430" y="414008"/>
                </a:lnTo>
                <a:lnTo>
                  <a:pt x="1079517" y="414486"/>
                </a:lnTo>
                <a:lnTo>
                  <a:pt x="1005607" y="414008"/>
                </a:lnTo>
                <a:lnTo>
                  <a:pt x="933035" y="412594"/>
                </a:lnTo>
                <a:lnTo>
                  <a:pt x="861959" y="410275"/>
                </a:lnTo>
                <a:lnTo>
                  <a:pt x="792542" y="407082"/>
                </a:lnTo>
                <a:lnTo>
                  <a:pt x="724943" y="403046"/>
                </a:lnTo>
                <a:lnTo>
                  <a:pt x="659324" y="398198"/>
                </a:lnTo>
                <a:lnTo>
                  <a:pt x="595845" y="392569"/>
                </a:lnTo>
                <a:lnTo>
                  <a:pt x="534668" y="386189"/>
                </a:lnTo>
                <a:lnTo>
                  <a:pt x="475953" y="379090"/>
                </a:lnTo>
                <a:lnTo>
                  <a:pt x="419860" y="371303"/>
                </a:lnTo>
                <a:lnTo>
                  <a:pt x="366551" y="362858"/>
                </a:lnTo>
                <a:lnTo>
                  <a:pt x="316186" y="353787"/>
                </a:lnTo>
                <a:lnTo>
                  <a:pt x="268927" y="344120"/>
                </a:lnTo>
                <a:lnTo>
                  <a:pt x="224933" y="333889"/>
                </a:lnTo>
                <a:lnTo>
                  <a:pt x="184367" y="323123"/>
                </a:lnTo>
                <a:lnTo>
                  <a:pt x="147387" y="311855"/>
                </a:lnTo>
                <a:lnTo>
                  <a:pt x="84835" y="287934"/>
                </a:lnTo>
                <a:lnTo>
                  <a:pt x="38562" y="262373"/>
                </a:lnTo>
                <a:lnTo>
                  <a:pt x="9854" y="235419"/>
                </a:lnTo>
                <a:lnTo>
                  <a:pt x="2490" y="221497"/>
                </a:lnTo>
                <a:lnTo>
                  <a:pt x="0" y="207320"/>
                </a:lnTo>
                <a:close/>
              </a:path>
            </a:pathLst>
          </a:custGeom>
          <a:ln w="3693">
            <a:solidFill>
              <a:srgbClr val="000000"/>
            </a:solidFill>
          </a:ln>
        </p:spPr>
        <p:txBody>
          <a:bodyPr wrap="square" lIns="0" tIns="0" rIns="0" bIns="0" rtlCol="0"/>
          <a:lstStyle/>
          <a:p/>
        </p:txBody>
      </p:sp>
      <p:sp>
        <p:nvSpPr>
          <p:cNvPr id="6" name="object 6"/>
          <p:cNvSpPr txBox="1"/>
          <p:nvPr/>
        </p:nvSpPr>
        <p:spPr>
          <a:xfrm>
            <a:off x="2393276" y="2291667"/>
            <a:ext cx="1718310" cy="210185"/>
          </a:xfrm>
          <a:prstGeom prst="rect">
            <a:avLst/>
          </a:prstGeom>
        </p:spPr>
        <p:txBody>
          <a:bodyPr wrap="square" lIns="0" tIns="13970" rIns="0" bIns="0" rtlCol="0" vert="horz">
            <a:spAutoFit/>
          </a:bodyPr>
          <a:lstStyle/>
          <a:p>
            <a:pPr marL="12700">
              <a:lnSpc>
                <a:spcPct val="100000"/>
              </a:lnSpc>
              <a:spcBef>
                <a:spcPts val="110"/>
              </a:spcBef>
            </a:pPr>
            <a:r>
              <a:rPr dirty="0" sz="1200" spc="10">
                <a:latin typeface="宋体"/>
                <a:cs typeface="宋体"/>
              </a:rPr>
              <a:t>业务需求定义前景和范围</a:t>
            </a:r>
            <a:endParaRPr sz="1200">
              <a:latin typeface="宋体"/>
              <a:cs typeface="宋体"/>
            </a:endParaRPr>
          </a:p>
        </p:txBody>
      </p:sp>
      <p:sp>
        <p:nvSpPr>
          <p:cNvPr id="7" name="object 7"/>
          <p:cNvSpPr/>
          <p:nvPr/>
        </p:nvSpPr>
        <p:spPr>
          <a:xfrm>
            <a:off x="2205282" y="3602621"/>
            <a:ext cx="2093595" cy="380365"/>
          </a:xfrm>
          <a:custGeom>
            <a:avLst/>
            <a:gdLst/>
            <a:ahLst/>
            <a:cxnLst/>
            <a:rect l="l" t="t" r="r" b="b"/>
            <a:pathLst>
              <a:path w="2093595" h="380364">
                <a:moveTo>
                  <a:pt x="1046804" y="0"/>
                </a:moveTo>
                <a:lnTo>
                  <a:pt x="972046" y="477"/>
                </a:lnTo>
                <a:lnTo>
                  <a:pt x="898707" y="1887"/>
                </a:lnTo>
                <a:lnTo>
                  <a:pt x="826964" y="4199"/>
                </a:lnTo>
                <a:lnTo>
                  <a:pt x="756993" y="7380"/>
                </a:lnTo>
                <a:lnTo>
                  <a:pt x="688972" y="11398"/>
                </a:lnTo>
                <a:lnTo>
                  <a:pt x="623079" y="16220"/>
                </a:lnTo>
                <a:lnTo>
                  <a:pt x="559490" y="21816"/>
                </a:lnTo>
                <a:lnTo>
                  <a:pt x="498382" y="28152"/>
                </a:lnTo>
                <a:lnTo>
                  <a:pt x="439933" y="35196"/>
                </a:lnTo>
                <a:lnTo>
                  <a:pt x="384320" y="42917"/>
                </a:lnTo>
                <a:lnTo>
                  <a:pt x="331719" y="51282"/>
                </a:lnTo>
                <a:lnTo>
                  <a:pt x="282309" y="60260"/>
                </a:lnTo>
                <a:lnTo>
                  <a:pt x="236265" y="69817"/>
                </a:lnTo>
                <a:lnTo>
                  <a:pt x="193766" y="79923"/>
                </a:lnTo>
                <a:lnTo>
                  <a:pt x="154989" y="90544"/>
                </a:lnTo>
                <a:lnTo>
                  <a:pt x="89307" y="113207"/>
                </a:lnTo>
                <a:lnTo>
                  <a:pt x="40636" y="137547"/>
                </a:lnTo>
                <a:lnTo>
                  <a:pt x="10395" y="163309"/>
                </a:lnTo>
                <a:lnTo>
                  <a:pt x="0" y="190236"/>
                </a:lnTo>
                <a:lnTo>
                  <a:pt x="2628" y="203809"/>
                </a:lnTo>
                <a:lnTo>
                  <a:pt x="40636" y="242857"/>
                </a:lnTo>
                <a:lnTo>
                  <a:pt x="89307" y="267173"/>
                </a:lnTo>
                <a:lnTo>
                  <a:pt x="154989" y="289815"/>
                </a:lnTo>
                <a:lnTo>
                  <a:pt x="193766" y="300429"/>
                </a:lnTo>
                <a:lnTo>
                  <a:pt x="236265" y="310528"/>
                </a:lnTo>
                <a:lnTo>
                  <a:pt x="282309" y="320079"/>
                </a:lnTo>
                <a:lnTo>
                  <a:pt x="331719" y="329052"/>
                </a:lnTo>
                <a:lnTo>
                  <a:pt x="384320" y="337413"/>
                </a:lnTo>
                <a:lnTo>
                  <a:pt x="439933" y="345130"/>
                </a:lnTo>
                <a:lnTo>
                  <a:pt x="498382" y="352172"/>
                </a:lnTo>
                <a:lnTo>
                  <a:pt x="559490" y="358506"/>
                </a:lnTo>
                <a:lnTo>
                  <a:pt x="623079" y="364100"/>
                </a:lnTo>
                <a:lnTo>
                  <a:pt x="688973" y="368921"/>
                </a:lnTo>
                <a:lnTo>
                  <a:pt x="756993" y="372938"/>
                </a:lnTo>
                <a:lnTo>
                  <a:pt x="826964" y="376118"/>
                </a:lnTo>
                <a:lnTo>
                  <a:pt x="898707" y="378430"/>
                </a:lnTo>
                <a:lnTo>
                  <a:pt x="972046" y="379840"/>
                </a:lnTo>
                <a:lnTo>
                  <a:pt x="1046804" y="380318"/>
                </a:lnTo>
                <a:lnTo>
                  <a:pt x="1121572" y="379840"/>
                </a:lnTo>
                <a:lnTo>
                  <a:pt x="1194919" y="378430"/>
                </a:lnTo>
                <a:lnTo>
                  <a:pt x="1266669" y="376118"/>
                </a:lnTo>
                <a:lnTo>
                  <a:pt x="1336643" y="372938"/>
                </a:lnTo>
                <a:lnTo>
                  <a:pt x="1404666" y="368921"/>
                </a:lnTo>
                <a:lnTo>
                  <a:pt x="1470560" y="364100"/>
                </a:lnTo>
                <a:lnTo>
                  <a:pt x="1534148" y="358506"/>
                </a:lnTo>
                <a:lnTo>
                  <a:pt x="1595253" y="352172"/>
                </a:lnTo>
                <a:lnTo>
                  <a:pt x="1653699" y="345130"/>
                </a:lnTo>
                <a:lnTo>
                  <a:pt x="1709307" y="337413"/>
                </a:lnTo>
                <a:lnTo>
                  <a:pt x="1761902" y="329052"/>
                </a:lnTo>
                <a:lnTo>
                  <a:pt x="1811307" y="320079"/>
                </a:lnTo>
                <a:lnTo>
                  <a:pt x="1857344" y="310528"/>
                </a:lnTo>
                <a:lnTo>
                  <a:pt x="1899836" y="300429"/>
                </a:lnTo>
                <a:lnTo>
                  <a:pt x="1938607" y="289815"/>
                </a:lnTo>
                <a:lnTo>
                  <a:pt x="2004276" y="267173"/>
                </a:lnTo>
                <a:lnTo>
                  <a:pt x="2052935" y="242857"/>
                </a:lnTo>
                <a:lnTo>
                  <a:pt x="2083169" y="217125"/>
                </a:lnTo>
                <a:lnTo>
                  <a:pt x="2093561" y="190236"/>
                </a:lnTo>
                <a:lnTo>
                  <a:pt x="2090934" y="176643"/>
                </a:lnTo>
                <a:lnTo>
                  <a:pt x="2052935" y="137547"/>
                </a:lnTo>
                <a:lnTo>
                  <a:pt x="2004276" y="113207"/>
                </a:lnTo>
                <a:lnTo>
                  <a:pt x="1938607" y="90544"/>
                </a:lnTo>
                <a:lnTo>
                  <a:pt x="1899836" y="79923"/>
                </a:lnTo>
                <a:lnTo>
                  <a:pt x="1857344" y="69817"/>
                </a:lnTo>
                <a:lnTo>
                  <a:pt x="1811307" y="60260"/>
                </a:lnTo>
                <a:lnTo>
                  <a:pt x="1761902" y="51282"/>
                </a:lnTo>
                <a:lnTo>
                  <a:pt x="1709307" y="42917"/>
                </a:lnTo>
                <a:lnTo>
                  <a:pt x="1653699" y="35196"/>
                </a:lnTo>
                <a:lnTo>
                  <a:pt x="1595253" y="28152"/>
                </a:lnTo>
                <a:lnTo>
                  <a:pt x="1534148" y="21816"/>
                </a:lnTo>
                <a:lnTo>
                  <a:pt x="1470560" y="16220"/>
                </a:lnTo>
                <a:lnTo>
                  <a:pt x="1404666" y="11398"/>
                </a:lnTo>
                <a:lnTo>
                  <a:pt x="1336643" y="7380"/>
                </a:lnTo>
                <a:lnTo>
                  <a:pt x="1266669" y="4199"/>
                </a:lnTo>
                <a:lnTo>
                  <a:pt x="1194919" y="1887"/>
                </a:lnTo>
                <a:lnTo>
                  <a:pt x="1121572" y="477"/>
                </a:lnTo>
                <a:lnTo>
                  <a:pt x="1046804" y="0"/>
                </a:lnTo>
                <a:close/>
              </a:path>
            </a:pathLst>
          </a:custGeom>
          <a:solidFill>
            <a:srgbClr val="E8EDF7"/>
          </a:solidFill>
        </p:spPr>
        <p:txBody>
          <a:bodyPr wrap="square" lIns="0" tIns="0" rIns="0" bIns="0" rtlCol="0"/>
          <a:lstStyle/>
          <a:p/>
        </p:txBody>
      </p:sp>
      <p:sp>
        <p:nvSpPr>
          <p:cNvPr id="8" name="object 8"/>
          <p:cNvSpPr/>
          <p:nvPr/>
        </p:nvSpPr>
        <p:spPr>
          <a:xfrm>
            <a:off x="2205282" y="3602621"/>
            <a:ext cx="2093595" cy="380365"/>
          </a:xfrm>
          <a:custGeom>
            <a:avLst/>
            <a:gdLst/>
            <a:ahLst/>
            <a:cxnLst/>
            <a:rect l="l" t="t" r="r" b="b"/>
            <a:pathLst>
              <a:path w="2093595" h="380364">
                <a:moveTo>
                  <a:pt x="0" y="190236"/>
                </a:moveTo>
                <a:lnTo>
                  <a:pt x="23123" y="150266"/>
                </a:lnTo>
                <a:lnTo>
                  <a:pt x="62757" y="125183"/>
                </a:lnTo>
                <a:lnTo>
                  <a:pt x="120110" y="101650"/>
                </a:lnTo>
                <a:lnTo>
                  <a:pt x="193766" y="79923"/>
                </a:lnTo>
                <a:lnTo>
                  <a:pt x="236265" y="69817"/>
                </a:lnTo>
                <a:lnTo>
                  <a:pt x="282309" y="60260"/>
                </a:lnTo>
                <a:lnTo>
                  <a:pt x="331719" y="51282"/>
                </a:lnTo>
                <a:lnTo>
                  <a:pt x="384320" y="42917"/>
                </a:lnTo>
                <a:lnTo>
                  <a:pt x="439933" y="35196"/>
                </a:lnTo>
                <a:lnTo>
                  <a:pt x="498382" y="28152"/>
                </a:lnTo>
                <a:lnTo>
                  <a:pt x="559490" y="21816"/>
                </a:lnTo>
                <a:lnTo>
                  <a:pt x="623079" y="16220"/>
                </a:lnTo>
                <a:lnTo>
                  <a:pt x="688973" y="11398"/>
                </a:lnTo>
                <a:lnTo>
                  <a:pt x="756993" y="7380"/>
                </a:lnTo>
                <a:lnTo>
                  <a:pt x="826964" y="4199"/>
                </a:lnTo>
                <a:lnTo>
                  <a:pt x="898707" y="1887"/>
                </a:lnTo>
                <a:lnTo>
                  <a:pt x="972046" y="477"/>
                </a:lnTo>
                <a:lnTo>
                  <a:pt x="1046804" y="0"/>
                </a:lnTo>
                <a:lnTo>
                  <a:pt x="1121572" y="477"/>
                </a:lnTo>
                <a:lnTo>
                  <a:pt x="1194919" y="1887"/>
                </a:lnTo>
                <a:lnTo>
                  <a:pt x="1266669" y="4199"/>
                </a:lnTo>
                <a:lnTo>
                  <a:pt x="1336643" y="7380"/>
                </a:lnTo>
                <a:lnTo>
                  <a:pt x="1404666" y="11398"/>
                </a:lnTo>
                <a:lnTo>
                  <a:pt x="1470560" y="16220"/>
                </a:lnTo>
                <a:lnTo>
                  <a:pt x="1534148" y="21816"/>
                </a:lnTo>
                <a:lnTo>
                  <a:pt x="1595253" y="28152"/>
                </a:lnTo>
                <a:lnTo>
                  <a:pt x="1653699" y="35196"/>
                </a:lnTo>
                <a:lnTo>
                  <a:pt x="1709307" y="42917"/>
                </a:lnTo>
                <a:lnTo>
                  <a:pt x="1761903" y="51282"/>
                </a:lnTo>
                <a:lnTo>
                  <a:pt x="1811307" y="60260"/>
                </a:lnTo>
                <a:lnTo>
                  <a:pt x="1857344" y="69817"/>
                </a:lnTo>
                <a:lnTo>
                  <a:pt x="1899836" y="79923"/>
                </a:lnTo>
                <a:lnTo>
                  <a:pt x="1938607" y="90544"/>
                </a:lnTo>
                <a:lnTo>
                  <a:pt x="2004276" y="113207"/>
                </a:lnTo>
                <a:lnTo>
                  <a:pt x="2052935" y="137547"/>
                </a:lnTo>
                <a:lnTo>
                  <a:pt x="2083169" y="163309"/>
                </a:lnTo>
                <a:lnTo>
                  <a:pt x="2093562" y="190236"/>
                </a:lnTo>
                <a:lnTo>
                  <a:pt x="2090934" y="203809"/>
                </a:lnTo>
                <a:lnTo>
                  <a:pt x="2083169" y="217125"/>
                </a:lnTo>
                <a:lnTo>
                  <a:pt x="2052935" y="242857"/>
                </a:lnTo>
                <a:lnTo>
                  <a:pt x="2004276" y="267173"/>
                </a:lnTo>
                <a:lnTo>
                  <a:pt x="1938607" y="289815"/>
                </a:lnTo>
                <a:lnTo>
                  <a:pt x="1899836" y="300429"/>
                </a:lnTo>
                <a:lnTo>
                  <a:pt x="1857344" y="310528"/>
                </a:lnTo>
                <a:lnTo>
                  <a:pt x="1811307" y="320079"/>
                </a:lnTo>
                <a:lnTo>
                  <a:pt x="1761903" y="329052"/>
                </a:lnTo>
                <a:lnTo>
                  <a:pt x="1709307" y="337413"/>
                </a:lnTo>
                <a:lnTo>
                  <a:pt x="1653699" y="345130"/>
                </a:lnTo>
                <a:lnTo>
                  <a:pt x="1595253" y="352172"/>
                </a:lnTo>
                <a:lnTo>
                  <a:pt x="1534148" y="358506"/>
                </a:lnTo>
                <a:lnTo>
                  <a:pt x="1470560" y="364100"/>
                </a:lnTo>
                <a:lnTo>
                  <a:pt x="1404666" y="368921"/>
                </a:lnTo>
                <a:lnTo>
                  <a:pt x="1336643" y="372938"/>
                </a:lnTo>
                <a:lnTo>
                  <a:pt x="1266669" y="376118"/>
                </a:lnTo>
                <a:lnTo>
                  <a:pt x="1194919" y="378430"/>
                </a:lnTo>
                <a:lnTo>
                  <a:pt x="1121572" y="379840"/>
                </a:lnTo>
                <a:lnTo>
                  <a:pt x="1046804" y="380318"/>
                </a:lnTo>
                <a:lnTo>
                  <a:pt x="972046" y="379840"/>
                </a:lnTo>
                <a:lnTo>
                  <a:pt x="898707" y="378430"/>
                </a:lnTo>
                <a:lnTo>
                  <a:pt x="826964" y="376118"/>
                </a:lnTo>
                <a:lnTo>
                  <a:pt x="756993" y="372938"/>
                </a:lnTo>
                <a:lnTo>
                  <a:pt x="688973" y="368921"/>
                </a:lnTo>
                <a:lnTo>
                  <a:pt x="623079" y="364100"/>
                </a:lnTo>
                <a:lnTo>
                  <a:pt x="559490" y="358506"/>
                </a:lnTo>
                <a:lnTo>
                  <a:pt x="498382" y="352172"/>
                </a:lnTo>
                <a:lnTo>
                  <a:pt x="439933" y="345130"/>
                </a:lnTo>
                <a:lnTo>
                  <a:pt x="384320" y="337413"/>
                </a:lnTo>
                <a:lnTo>
                  <a:pt x="331719" y="329052"/>
                </a:lnTo>
                <a:lnTo>
                  <a:pt x="282309" y="320079"/>
                </a:lnTo>
                <a:lnTo>
                  <a:pt x="236265" y="310528"/>
                </a:lnTo>
                <a:lnTo>
                  <a:pt x="193766" y="300429"/>
                </a:lnTo>
                <a:lnTo>
                  <a:pt x="154989" y="289815"/>
                </a:lnTo>
                <a:lnTo>
                  <a:pt x="89307" y="267173"/>
                </a:lnTo>
                <a:lnTo>
                  <a:pt x="40636" y="242857"/>
                </a:lnTo>
                <a:lnTo>
                  <a:pt x="10395" y="217125"/>
                </a:lnTo>
                <a:lnTo>
                  <a:pt x="2628" y="203809"/>
                </a:lnTo>
                <a:lnTo>
                  <a:pt x="0" y="190236"/>
                </a:lnTo>
                <a:close/>
              </a:path>
            </a:pathLst>
          </a:custGeom>
          <a:ln w="3693">
            <a:solidFill>
              <a:srgbClr val="000000"/>
            </a:solidFill>
          </a:ln>
        </p:spPr>
        <p:txBody>
          <a:bodyPr wrap="square" lIns="0" tIns="0" rIns="0" bIns="0" rtlCol="0"/>
          <a:lstStyle/>
          <a:p/>
        </p:txBody>
      </p:sp>
      <p:sp>
        <p:nvSpPr>
          <p:cNvPr id="9" name="object 9"/>
          <p:cNvSpPr txBox="1"/>
          <p:nvPr/>
        </p:nvSpPr>
        <p:spPr>
          <a:xfrm>
            <a:off x="2393061" y="3557446"/>
            <a:ext cx="1718310" cy="422275"/>
          </a:xfrm>
          <a:prstGeom prst="rect">
            <a:avLst/>
          </a:prstGeom>
        </p:spPr>
        <p:txBody>
          <a:bodyPr wrap="square" lIns="0" tIns="12065" rIns="0" bIns="0" rtlCol="0" vert="horz">
            <a:spAutoFit/>
          </a:bodyPr>
          <a:lstStyle/>
          <a:p>
            <a:pPr marL="473709" marR="5080" indent="-461645">
              <a:lnSpc>
                <a:spcPct val="108400"/>
              </a:lnSpc>
              <a:spcBef>
                <a:spcPts val="95"/>
              </a:spcBef>
            </a:pPr>
            <a:r>
              <a:rPr dirty="0" sz="1200" spc="10">
                <a:latin typeface="宋体"/>
                <a:cs typeface="宋体"/>
              </a:rPr>
              <a:t>在前景和范围的指导下定 </a:t>
            </a:r>
            <a:r>
              <a:rPr dirty="0" sz="1200" spc="10">
                <a:latin typeface="宋体"/>
                <a:cs typeface="宋体"/>
              </a:rPr>
              <a:t>义用户需求</a:t>
            </a:r>
            <a:endParaRPr sz="1200">
              <a:latin typeface="宋体"/>
              <a:cs typeface="宋体"/>
            </a:endParaRPr>
          </a:p>
        </p:txBody>
      </p:sp>
      <p:sp>
        <p:nvSpPr>
          <p:cNvPr id="10" name="object 10"/>
          <p:cNvSpPr txBox="1"/>
          <p:nvPr/>
        </p:nvSpPr>
        <p:spPr>
          <a:xfrm>
            <a:off x="2663265" y="1491355"/>
            <a:ext cx="1177925" cy="382270"/>
          </a:xfrm>
          <a:prstGeom prst="rect">
            <a:avLst/>
          </a:prstGeom>
          <a:solidFill>
            <a:srgbClr val="E8EDF7"/>
          </a:solidFill>
          <a:ln w="3693">
            <a:solidFill>
              <a:srgbClr val="000000"/>
            </a:solidFill>
          </a:ln>
        </p:spPr>
        <p:txBody>
          <a:bodyPr wrap="square" lIns="0" tIns="67310" rIns="0" bIns="0" rtlCol="0" vert="horz">
            <a:spAutoFit/>
          </a:bodyPr>
          <a:lstStyle/>
          <a:p>
            <a:pPr marL="219075">
              <a:lnSpc>
                <a:spcPct val="100000"/>
              </a:lnSpc>
              <a:spcBef>
                <a:spcPts val="530"/>
              </a:spcBef>
            </a:pPr>
            <a:r>
              <a:rPr dirty="0" sz="1450">
                <a:latin typeface="宋体"/>
                <a:cs typeface="宋体"/>
              </a:rPr>
              <a:t>业务需求</a:t>
            </a:r>
            <a:endParaRPr sz="1450">
              <a:latin typeface="宋体"/>
              <a:cs typeface="宋体"/>
            </a:endParaRPr>
          </a:p>
        </p:txBody>
      </p:sp>
      <p:sp>
        <p:nvSpPr>
          <p:cNvPr id="11" name="object 11"/>
          <p:cNvSpPr txBox="1"/>
          <p:nvPr/>
        </p:nvSpPr>
        <p:spPr>
          <a:xfrm>
            <a:off x="2706872" y="4272711"/>
            <a:ext cx="1090930" cy="354965"/>
          </a:xfrm>
          <a:prstGeom prst="rect">
            <a:avLst/>
          </a:prstGeom>
          <a:solidFill>
            <a:srgbClr val="E8EDF7"/>
          </a:solidFill>
          <a:ln w="3693">
            <a:solidFill>
              <a:srgbClr val="000000"/>
            </a:solidFill>
          </a:ln>
        </p:spPr>
        <p:txBody>
          <a:bodyPr wrap="square" lIns="0" tIns="53340" rIns="0" bIns="0" rtlCol="0" vert="horz">
            <a:spAutoFit/>
          </a:bodyPr>
          <a:lstStyle/>
          <a:p>
            <a:pPr marL="175260">
              <a:lnSpc>
                <a:spcPct val="100000"/>
              </a:lnSpc>
              <a:spcBef>
                <a:spcPts val="420"/>
              </a:spcBef>
            </a:pPr>
            <a:r>
              <a:rPr dirty="0" sz="1450">
                <a:latin typeface="宋体"/>
                <a:cs typeface="宋体"/>
              </a:rPr>
              <a:t>用户需求</a:t>
            </a:r>
            <a:endParaRPr sz="1450">
              <a:latin typeface="宋体"/>
              <a:cs typeface="宋体"/>
            </a:endParaRPr>
          </a:p>
        </p:txBody>
      </p:sp>
      <p:sp>
        <p:nvSpPr>
          <p:cNvPr id="12" name="object 12"/>
          <p:cNvSpPr/>
          <p:nvPr/>
        </p:nvSpPr>
        <p:spPr>
          <a:xfrm>
            <a:off x="2183473" y="4927132"/>
            <a:ext cx="2137410" cy="349250"/>
          </a:xfrm>
          <a:custGeom>
            <a:avLst/>
            <a:gdLst/>
            <a:ahLst/>
            <a:cxnLst/>
            <a:rect l="l" t="t" r="r" b="b"/>
            <a:pathLst>
              <a:path w="2137410" h="349250">
                <a:moveTo>
                  <a:pt x="1068612" y="0"/>
                </a:moveTo>
                <a:lnTo>
                  <a:pt x="992296" y="438"/>
                </a:lnTo>
                <a:lnTo>
                  <a:pt x="917429" y="1732"/>
                </a:lnTo>
                <a:lnTo>
                  <a:pt x="844191" y="3854"/>
                </a:lnTo>
                <a:lnTo>
                  <a:pt x="772762" y="6774"/>
                </a:lnTo>
                <a:lnTo>
                  <a:pt x="703324" y="10461"/>
                </a:lnTo>
                <a:lnTo>
                  <a:pt x="636058" y="14887"/>
                </a:lnTo>
                <a:lnTo>
                  <a:pt x="571144" y="20022"/>
                </a:lnTo>
                <a:lnTo>
                  <a:pt x="508763" y="25836"/>
                </a:lnTo>
                <a:lnTo>
                  <a:pt x="449096" y="32301"/>
                </a:lnTo>
                <a:lnTo>
                  <a:pt x="392324" y="39386"/>
                </a:lnTo>
                <a:lnTo>
                  <a:pt x="338628" y="47062"/>
                </a:lnTo>
                <a:lnTo>
                  <a:pt x="288188" y="55299"/>
                </a:lnTo>
                <a:lnTo>
                  <a:pt x="241186" y="64068"/>
                </a:lnTo>
                <a:lnTo>
                  <a:pt x="197801" y="73340"/>
                </a:lnTo>
                <a:lnTo>
                  <a:pt x="158216" y="83084"/>
                </a:lnTo>
                <a:lnTo>
                  <a:pt x="91166" y="103874"/>
                </a:lnTo>
                <a:lnTo>
                  <a:pt x="41482" y="126200"/>
                </a:lnTo>
                <a:lnTo>
                  <a:pt x="10611" y="149828"/>
                </a:lnTo>
                <a:lnTo>
                  <a:pt x="0" y="174521"/>
                </a:lnTo>
                <a:lnTo>
                  <a:pt x="2683" y="186984"/>
                </a:lnTo>
                <a:lnTo>
                  <a:pt x="41483" y="222835"/>
                </a:lnTo>
                <a:lnTo>
                  <a:pt x="91167" y="245159"/>
                </a:lnTo>
                <a:lnTo>
                  <a:pt x="158217" y="265947"/>
                </a:lnTo>
                <a:lnTo>
                  <a:pt x="197803" y="275690"/>
                </a:lnTo>
                <a:lnTo>
                  <a:pt x="241188" y="284961"/>
                </a:lnTo>
                <a:lnTo>
                  <a:pt x="288190" y="293730"/>
                </a:lnTo>
                <a:lnTo>
                  <a:pt x="338631" y="301967"/>
                </a:lnTo>
                <a:lnTo>
                  <a:pt x="392327" y="309642"/>
                </a:lnTo>
                <a:lnTo>
                  <a:pt x="449100" y="316727"/>
                </a:lnTo>
                <a:lnTo>
                  <a:pt x="508768" y="323191"/>
                </a:lnTo>
                <a:lnTo>
                  <a:pt x="571149" y="329005"/>
                </a:lnTo>
                <a:lnTo>
                  <a:pt x="636064" y="334140"/>
                </a:lnTo>
                <a:lnTo>
                  <a:pt x="703332" y="338566"/>
                </a:lnTo>
                <a:lnTo>
                  <a:pt x="772771" y="342253"/>
                </a:lnTo>
                <a:lnTo>
                  <a:pt x="844201" y="345173"/>
                </a:lnTo>
                <a:lnTo>
                  <a:pt x="917441" y="347294"/>
                </a:lnTo>
                <a:lnTo>
                  <a:pt x="992310" y="348589"/>
                </a:lnTo>
                <a:lnTo>
                  <a:pt x="1068627" y="349027"/>
                </a:lnTo>
                <a:lnTo>
                  <a:pt x="1144946" y="348589"/>
                </a:lnTo>
                <a:lnTo>
                  <a:pt x="1219816" y="347294"/>
                </a:lnTo>
                <a:lnTo>
                  <a:pt x="1293056" y="345173"/>
                </a:lnTo>
                <a:lnTo>
                  <a:pt x="1364486" y="342253"/>
                </a:lnTo>
                <a:lnTo>
                  <a:pt x="1433924" y="338566"/>
                </a:lnTo>
                <a:lnTo>
                  <a:pt x="1501191" y="334140"/>
                </a:lnTo>
                <a:lnTo>
                  <a:pt x="1566104" y="329005"/>
                </a:lnTo>
                <a:lnTo>
                  <a:pt x="1628484" y="323191"/>
                </a:lnTo>
                <a:lnTo>
                  <a:pt x="1688149" y="316727"/>
                </a:lnTo>
                <a:lnTo>
                  <a:pt x="1744919" y="309642"/>
                </a:lnTo>
                <a:lnTo>
                  <a:pt x="1798613" y="301967"/>
                </a:lnTo>
                <a:lnTo>
                  <a:pt x="1849051" y="293730"/>
                </a:lnTo>
                <a:lnTo>
                  <a:pt x="1896051" y="284961"/>
                </a:lnTo>
                <a:lnTo>
                  <a:pt x="1939432" y="275691"/>
                </a:lnTo>
                <a:lnTo>
                  <a:pt x="1979015" y="265947"/>
                </a:lnTo>
                <a:lnTo>
                  <a:pt x="2046060" y="245159"/>
                </a:lnTo>
                <a:lnTo>
                  <a:pt x="2095740" y="222835"/>
                </a:lnTo>
                <a:lnTo>
                  <a:pt x="2126609" y="199210"/>
                </a:lnTo>
                <a:lnTo>
                  <a:pt x="2137219" y="174521"/>
                </a:lnTo>
                <a:lnTo>
                  <a:pt x="2134537" y="162056"/>
                </a:lnTo>
                <a:lnTo>
                  <a:pt x="2095740" y="126200"/>
                </a:lnTo>
                <a:lnTo>
                  <a:pt x="2046060" y="103874"/>
                </a:lnTo>
                <a:lnTo>
                  <a:pt x="1979014" y="83084"/>
                </a:lnTo>
                <a:lnTo>
                  <a:pt x="1939431" y="73340"/>
                </a:lnTo>
                <a:lnTo>
                  <a:pt x="1896049" y="64068"/>
                </a:lnTo>
                <a:lnTo>
                  <a:pt x="1849049" y="55299"/>
                </a:lnTo>
                <a:lnTo>
                  <a:pt x="1798611" y="47062"/>
                </a:lnTo>
                <a:lnTo>
                  <a:pt x="1744916" y="39386"/>
                </a:lnTo>
                <a:lnTo>
                  <a:pt x="1688146" y="32301"/>
                </a:lnTo>
                <a:lnTo>
                  <a:pt x="1628479" y="25836"/>
                </a:lnTo>
                <a:lnTo>
                  <a:pt x="1566099" y="20022"/>
                </a:lnTo>
                <a:lnTo>
                  <a:pt x="1501184" y="14887"/>
                </a:lnTo>
                <a:lnTo>
                  <a:pt x="1433917" y="10461"/>
                </a:lnTo>
                <a:lnTo>
                  <a:pt x="1364477" y="6774"/>
                </a:lnTo>
                <a:lnTo>
                  <a:pt x="1293046" y="3854"/>
                </a:lnTo>
                <a:lnTo>
                  <a:pt x="1219805" y="1732"/>
                </a:lnTo>
                <a:lnTo>
                  <a:pt x="1144933" y="438"/>
                </a:lnTo>
                <a:lnTo>
                  <a:pt x="1068612" y="0"/>
                </a:lnTo>
                <a:close/>
              </a:path>
            </a:pathLst>
          </a:custGeom>
          <a:solidFill>
            <a:srgbClr val="E8EDF7"/>
          </a:solidFill>
        </p:spPr>
        <p:txBody>
          <a:bodyPr wrap="square" lIns="0" tIns="0" rIns="0" bIns="0" rtlCol="0"/>
          <a:lstStyle/>
          <a:p/>
        </p:txBody>
      </p:sp>
      <p:sp>
        <p:nvSpPr>
          <p:cNvPr id="13" name="object 13"/>
          <p:cNvSpPr/>
          <p:nvPr/>
        </p:nvSpPr>
        <p:spPr>
          <a:xfrm>
            <a:off x="2183473" y="4927132"/>
            <a:ext cx="2137410" cy="349250"/>
          </a:xfrm>
          <a:custGeom>
            <a:avLst/>
            <a:gdLst/>
            <a:ahLst/>
            <a:cxnLst/>
            <a:rect l="l" t="t" r="r" b="b"/>
            <a:pathLst>
              <a:path w="2137410" h="349250">
                <a:moveTo>
                  <a:pt x="0" y="174521"/>
                </a:moveTo>
                <a:lnTo>
                  <a:pt x="23605" y="137866"/>
                </a:lnTo>
                <a:lnTo>
                  <a:pt x="64063" y="114860"/>
                </a:lnTo>
                <a:lnTo>
                  <a:pt x="122611" y="93272"/>
                </a:lnTo>
                <a:lnTo>
                  <a:pt x="197801" y="73340"/>
                </a:lnTo>
                <a:lnTo>
                  <a:pt x="241186" y="64068"/>
                </a:lnTo>
                <a:lnTo>
                  <a:pt x="288188" y="55299"/>
                </a:lnTo>
                <a:lnTo>
                  <a:pt x="338628" y="47062"/>
                </a:lnTo>
                <a:lnTo>
                  <a:pt x="392324" y="39386"/>
                </a:lnTo>
                <a:lnTo>
                  <a:pt x="449096" y="32301"/>
                </a:lnTo>
                <a:lnTo>
                  <a:pt x="508763" y="25836"/>
                </a:lnTo>
                <a:lnTo>
                  <a:pt x="571144" y="20022"/>
                </a:lnTo>
                <a:lnTo>
                  <a:pt x="636058" y="14887"/>
                </a:lnTo>
                <a:lnTo>
                  <a:pt x="703324" y="10461"/>
                </a:lnTo>
                <a:lnTo>
                  <a:pt x="772762" y="6774"/>
                </a:lnTo>
                <a:lnTo>
                  <a:pt x="844191" y="3854"/>
                </a:lnTo>
                <a:lnTo>
                  <a:pt x="917429" y="1732"/>
                </a:lnTo>
                <a:lnTo>
                  <a:pt x="992296" y="438"/>
                </a:lnTo>
                <a:lnTo>
                  <a:pt x="1068612" y="0"/>
                </a:lnTo>
                <a:lnTo>
                  <a:pt x="1144933" y="438"/>
                </a:lnTo>
                <a:lnTo>
                  <a:pt x="1219805" y="1732"/>
                </a:lnTo>
                <a:lnTo>
                  <a:pt x="1293046" y="3854"/>
                </a:lnTo>
                <a:lnTo>
                  <a:pt x="1364478" y="6774"/>
                </a:lnTo>
                <a:lnTo>
                  <a:pt x="1433917" y="10461"/>
                </a:lnTo>
                <a:lnTo>
                  <a:pt x="1501185" y="14887"/>
                </a:lnTo>
                <a:lnTo>
                  <a:pt x="1566099" y="20022"/>
                </a:lnTo>
                <a:lnTo>
                  <a:pt x="1628479" y="25836"/>
                </a:lnTo>
                <a:lnTo>
                  <a:pt x="1688146" y="32301"/>
                </a:lnTo>
                <a:lnTo>
                  <a:pt x="1744916" y="39386"/>
                </a:lnTo>
                <a:lnTo>
                  <a:pt x="1798611" y="47062"/>
                </a:lnTo>
                <a:lnTo>
                  <a:pt x="1849049" y="55299"/>
                </a:lnTo>
                <a:lnTo>
                  <a:pt x="1896049" y="64068"/>
                </a:lnTo>
                <a:lnTo>
                  <a:pt x="1939431" y="73340"/>
                </a:lnTo>
                <a:lnTo>
                  <a:pt x="1979014" y="83084"/>
                </a:lnTo>
                <a:lnTo>
                  <a:pt x="2046060" y="103874"/>
                </a:lnTo>
                <a:lnTo>
                  <a:pt x="2095740" y="126200"/>
                </a:lnTo>
                <a:lnTo>
                  <a:pt x="2126609" y="149828"/>
                </a:lnTo>
                <a:lnTo>
                  <a:pt x="2137220" y="174521"/>
                </a:lnTo>
                <a:lnTo>
                  <a:pt x="2134537" y="186984"/>
                </a:lnTo>
                <a:lnTo>
                  <a:pt x="2126609" y="199210"/>
                </a:lnTo>
                <a:lnTo>
                  <a:pt x="2095740" y="222835"/>
                </a:lnTo>
                <a:lnTo>
                  <a:pt x="2046060" y="245159"/>
                </a:lnTo>
                <a:lnTo>
                  <a:pt x="1979015" y="265947"/>
                </a:lnTo>
                <a:lnTo>
                  <a:pt x="1939432" y="275691"/>
                </a:lnTo>
                <a:lnTo>
                  <a:pt x="1896051" y="284961"/>
                </a:lnTo>
                <a:lnTo>
                  <a:pt x="1849051" y="293730"/>
                </a:lnTo>
                <a:lnTo>
                  <a:pt x="1798613" y="301967"/>
                </a:lnTo>
                <a:lnTo>
                  <a:pt x="1744919" y="309642"/>
                </a:lnTo>
                <a:lnTo>
                  <a:pt x="1688149" y="316727"/>
                </a:lnTo>
                <a:lnTo>
                  <a:pt x="1628484" y="323191"/>
                </a:lnTo>
                <a:lnTo>
                  <a:pt x="1566104" y="329005"/>
                </a:lnTo>
                <a:lnTo>
                  <a:pt x="1501191" y="334140"/>
                </a:lnTo>
                <a:lnTo>
                  <a:pt x="1433925" y="338566"/>
                </a:lnTo>
                <a:lnTo>
                  <a:pt x="1364486" y="342253"/>
                </a:lnTo>
                <a:lnTo>
                  <a:pt x="1293057" y="345173"/>
                </a:lnTo>
                <a:lnTo>
                  <a:pt x="1219816" y="347294"/>
                </a:lnTo>
                <a:lnTo>
                  <a:pt x="1144946" y="348589"/>
                </a:lnTo>
                <a:lnTo>
                  <a:pt x="1068627" y="349027"/>
                </a:lnTo>
                <a:lnTo>
                  <a:pt x="992310" y="348589"/>
                </a:lnTo>
                <a:lnTo>
                  <a:pt x="917441" y="347294"/>
                </a:lnTo>
                <a:lnTo>
                  <a:pt x="844201" y="345173"/>
                </a:lnTo>
                <a:lnTo>
                  <a:pt x="772771" y="342253"/>
                </a:lnTo>
                <a:lnTo>
                  <a:pt x="703332" y="338566"/>
                </a:lnTo>
                <a:lnTo>
                  <a:pt x="636064" y="334140"/>
                </a:lnTo>
                <a:lnTo>
                  <a:pt x="571149" y="329005"/>
                </a:lnTo>
                <a:lnTo>
                  <a:pt x="508768" y="323191"/>
                </a:lnTo>
                <a:lnTo>
                  <a:pt x="449100" y="316727"/>
                </a:lnTo>
                <a:lnTo>
                  <a:pt x="392327" y="309642"/>
                </a:lnTo>
                <a:lnTo>
                  <a:pt x="338631" y="301967"/>
                </a:lnTo>
                <a:lnTo>
                  <a:pt x="288190" y="293730"/>
                </a:lnTo>
                <a:lnTo>
                  <a:pt x="241188" y="284961"/>
                </a:lnTo>
                <a:lnTo>
                  <a:pt x="197803" y="275690"/>
                </a:lnTo>
                <a:lnTo>
                  <a:pt x="158217" y="265947"/>
                </a:lnTo>
                <a:lnTo>
                  <a:pt x="91167" y="245159"/>
                </a:lnTo>
                <a:lnTo>
                  <a:pt x="41483" y="222835"/>
                </a:lnTo>
                <a:lnTo>
                  <a:pt x="10611" y="199210"/>
                </a:lnTo>
                <a:lnTo>
                  <a:pt x="2683" y="186984"/>
                </a:lnTo>
                <a:lnTo>
                  <a:pt x="0" y="174521"/>
                </a:lnTo>
                <a:close/>
              </a:path>
            </a:pathLst>
          </a:custGeom>
          <a:ln w="3693">
            <a:solidFill>
              <a:srgbClr val="000000"/>
            </a:solidFill>
          </a:ln>
        </p:spPr>
        <p:txBody>
          <a:bodyPr wrap="square" lIns="0" tIns="0" rIns="0" bIns="0" rtlCol="0"/>
          <a:lstStyle/>
          <a:p/>
        </p:txBody>
      </p:sp>
      <p:sp>
        <p:nvSpPr>
          <p:cNvPr id="14" name="object 14"/>
          <p:cNvSpPr txBox="1"/>
          <p:nvPr/>
        </p:nvSpPr>
        <p:spPr>
          <a:xfrm>
            <a:off x="2393215" y="4985677"/>
            <a:ext cx="1718310" cy="210185"/>
          </a:xfrm>
          <a:prstGeom prst="rect">
            <a:avLst/>
          </a:prstGeom>
        </p:spPr>
        <p:txBody>
          <a:bodyPr wrap="square" lIns="0" tIns="13970" rIns="0" bIns="0" rtlCol="0" vert="horz">
            <a:spAutoFit/>
          </a:bodyPr>
          <a:lstStyle/>
          <a:p>
            <a:pPr marL="12700">
              <a:lnSpc>
                <a:spcPct val="100000"/>
              </a:lnSpc>
              <a:spcBef>
                <a:spcPts val="110"/>
              </a:spcBef>
            </a:pPr>
            <a:r>
              <a:rPr dirty="0" sz="1200" spc="10">
                <a:latin typeface="宋体"/>
                <a:cs typeface="宋体"/>
              </a:rPr>
              <a:t>转化用户需求为软件需求</a:t>
            </a:r>
            <a:endParaRPr sz="1200">
              <a:latin typeface="宋体"/>
              <a:cs typeface="宋体"/>
            </a:endParaRPr>
          </a:p>
        </p:txBody>
      </p:sp>
      <p:sp>
        <p:nvSpPr>
          <p:cNvPr id="15" name="object 15"/>
          <p:cNvSpPr txBox="1"/>
          <p:nvPr/>
        </p:nvSpPr>
        <p:spPr>
          <a:xfrm>
            <a:off x="2685069" y="5663375"/>
            <a:ext cx="1134110" cy="354965"/>
          </a:xfrm>
          <a:prstGeom prst="rect">
            <a:avLst/>
          </a:prstGeom>
          <a:solidFill>
            <a:srgbClr val="E8EDF7"/>
          </a:solidFill>
          <a:ln w="3693">
            <a:solidFill>
              <a:srgbClr val="000000"/>
            </a:solidFill>
          </a:ln>
        </p:spPr>
        <p:txBody>
          <a:bodyPr wrap="square" lIns="0" tIns="53975" rIns="0" bIns="0" rtlCol="0" vert="horz">
            <a:spAutoFit/>
          </a:bodyPr>
          <a:lstStyle/>
          <a:p>
            <a:pPr marL="197485">
              <a:lnSpc>
                <a:spcPct val="100000"/>
              </a:lnSpc>
              <a:spcBef>
                <a:spcPts val="425"/>
              </a:spcBef>
            </a:pPr>
            <a:r>
              <a:rPr dirty="0" sz="1450">
                <a:latin typeface="宋体"/>
                <a:cs typeface="宋体"/>
              </a:rPr>
              <a:t>软件需求</a:t>
            </a:r>
            <a:endParaRPr sz="1450">
              <a:latin typeface="宋体"/>
              <a:cs typeface="宋体"/>
            </a:endParaRPr>
          </a:p>
        </p:txBody>
      </p:sp>
      <p:sp>
        <p:nvSpPr>
          <p:cNvPr id="16" name="object 16"/>
          <p:cNvSpPr/>
          <p:nvPr/>
        </p:nvSpPr>
        <p:spPr>
          <a:xfrm>
            <a:off x="3252085" y="1873105"/>
            <a:ext cx="0" cy="210820"/>
          </a:xfrm>
          <a:custGeom>
            <a:avLst/>
            <a:gdLst/>
            <a:ahLst/>
            <a:cxnLst/>
            <a:rect l="l" t="t" r="r" b="b"/>
            <a:pathLst>
              <a:path w="0" h="210819">
                <a:moveTo>
                  <a:pt x="0" y="0"/>
                </a:moveTo>
                <a:lnTo>
                  <a:pt x="0" y="210398"/>
                </a:lnTo>
              </a:path>
            </a:pathLst>
          </a:custGeom>
          <a:ln w="3692">
            <a:solidFill>
              <a:srgbClr val="4677BE"/>
            </a:solidFill>
          </a:ln>
        </p:spPr>
        <p:txBody>
          <a:bodyPr wrap="square" lIns="0" tIns="0" rIns="0" bIns="0" rtlCol="0"/>
          <a:lstStyle/>
          <a:p/>
        </p:txBody>
      </p:sp>
      <p:sp>
        <p:nvSpPr>
          <p:cNvPr id="17" name="object 17"/>
          <p:cNvSpPr/>
          <p:nvPr/>
        </p:nvSpPr>
        <p:spPr>
          <a:xfrm>
            <a:off x="3209617" y="2072884"/>
            <a:ext cx="85090" cy="127635"/>
          </a:xfrm>
          <a:custGeom>
            <a:avLst/>
            <a:gdLst/>
            <a:ahLst/>
            <a:cxnLst/>
            <a:rect l="l" t="t" r="r" b="b"/>
            <a:pathLst>
              <a:path w="85089" h="127635">
                <a:moveTo>
                  <a:pt x="84937" y="0"/>
                </a:moveTo>
                <a:lnTo>
                  <a:pt x="0" y="0"/>
                </a:lnTo>
                <a:lnTo>
                  <a:pt x="42468" y="127439"/>
                </a:lnTo>
                <a:lnTo>
                  <a:pt x="84937" y="0"/>
                </a:lnTo>
                <a:close/>
              </a:path>
            </a:pathLst>
          </a:custGeom>
          <a:solidFill>
            <a:srgbClr val="4677BE"/>
          </a:solidFill>
        </p:spPr>
        <p:txBody>
          <a:bodyPr wrap="square" lIns="0" tIns="0" rIns="0" bIns="0" rtlCol="0"/>
          <a:lstStyle/>
          <a:p/>
        </p:txBody>
      </p:sp>
      <p:sp>
        <p:nvSpPr>
          <p:cNvPr id="18" name="object 18"/>
          <p:cNvSpPr/>
          <p:nvPr/>
        </p:nvSpPr>
        <p:spPr>
          <a:xfrm>
            <a:off x="3252085" y="2614810"/>
            <a:ext cx="0" cy="215900"/>
          </a:xfrm>
          <a:custGeom>
            <a:avLst/>
            <a:gdLst/>
            <a:ahLst/>
            <a:cxnLst/>
            <a:rect l="l" t="t" r="r" b="b"/>
            <a:pathLst>
              <a:path w="0" h="215900">
                <a:moveTo>
                  <a:pt x="0" y="0"/>
                </a:moveTo>
                <a:lnTo>
                  <a:pt x="0" y="215323"/>
                </a:lnTo>
              </a:path>
            </a:pathLst>
          </a:custGeom>
          <a:ln w="3692">
            <a:solidFill>
              <a:srgbClr val="4677BE"/>
            </a:solidFill>
          </a:ln>
        </p:spPr>
        <p:txBody>
          <a:bodyPr wrap="square" lIns="0" tIns="0" rIns="0" bIns="0" rtlCol="0"/>
          <a:lstStyle/>
          <a:p/>
        </p:txBody>
      </p:sp>
      <p:sp>
        <p:nvSpPr>
          <p:cNvPr id="19" name="object 19"/>
          <p:cNvSpPr/>
          <p:nvPr/>
        </p:nvSpPr>
        <p:spPr>
          <a:xfrm>
            <a:off x="3209617" y="2819514"/>
            <a:ext cx="85090" cy="127635"/>
          </a:xfrm>
          <a:custGeom>
            <a:avLst/>
            <a:gdLst/>
            <a:ahLst/>
            <a:cxnLst/>
            <a:rect l="l" t="t" r="r" b="b"/>
            <a:pathLst>
              <a:path w="85089" h="127635">
                <a:moveTo>
                  <a:pt x="84937" y="0"/>
                </a:moveTo>
                <a:lnTo>
                  <a:pt x="0" y="0"/>
                </a:lnTo>
                <a:lnTo>
                  <a:pt x="42468" y="127439"/>
                </a:lnTo>
                <a:lnTo>
                  <a:pt x="84937" y="0"/>
                </a:lnTo>
                <a:close/>
              </a:path>
            </a:pathLst>
          </a:custGeom>
          <a:solidFill>
            <a:srgbClr val="4677BE"/>
          </a:solidFill>
        </p:spPr>
        <p:txBody>
          <a:bodyPr wrap="square" lIns="0" tIns="0" rIns="0" bIns="0" rtlCol="0"/>
          <a:lstStyle/>
          <a:p/>
        </p:txBody>
      </p:sp>
      <p:sp>
        <p:nvSpPr>
          <p:cNvPr id="20" name="object 20"/>
          <p:cNvSpPr/>
          <p:nvPr/>
        </p:nvSpPr>
        <p:spPr>
          <a:xfrm>
            <a:off x="3252085" y="3269247"/>
            <a:ext cx="0" cy="217170"/>
          </a:xfrm>
          <a:custGeom>
            <a:avLst/>
            <a:gdLst/>
            <a:ahLst/>
            <a:cxnLst/>
            <a:rect l="l" t="t" r="r" b="b"/>
            <a:pathLst>
              <a:path w="0" h="217170">
                <a:moveTo>
                  <a:pt x="0" y="0"/>
                </a:moveTo>
                <a:lnTo>
                  <a:pt x="0" y="216555"/>
                </a:lnTo>
              </a:path>
            </a:pathLst>
          </a:custGeom>
          <a:ln w="3692">
            <a:solidFill>
              <a:srgbClr val="4677BE"/>
            </a:solidFill>
          </a:ln>
        </p:spPr>
        <p:txBody>
          <a:bodyPr wrap="square" lIns="0" tIns="0" rIns="0" bIns="0" rtlCol="0"/>
          <a:lstStyle/>
          <a:p/>
        </p:txBody>
      </p:sp>
      <p:sp>
        <p:nvSpPr>
          <p:cNvPr id="21" name="object 21"/>
          <p:cNvSpPr/>
          <p:nvPr/>
        </p:nvSpPr>
        <p:spPr>
          <a:xfrm>
            <a:off x="3209617" y="3475182"/>
            <a:ext cx="85090" cy="127635"/>
          </a:xfrm>
          <a:custGeom>
            <a:avLst/>
            <a:gdLst/>
            <a:ahLst/>
            <a:cxnLst/>
            <a:rect l="l" t="t" r="r" b="b"/>
            <a:pathLst>
              <a:path w="85089" h="127635">
                <a:moveTo>
                  <a:pt x="84937" y="0"/>
                </a:moveTo>
                <a:lnTo>
                  <a:pt x="0" y="0"/>
                </a:lnTo>
                <a:lnTo>
                  <a:pt x="42468" y="127439"/>
                </a:lnTo>
                <a:lnTo>
                  <a:pt x="84937" y="0"/>
                </a:lnTo>
                <a:close/>
              </a:path>
            </a:pathLst>
          </a:custGeom>
          <a:solidFill>
            <a:srgbClr val="4677BE"/>
          </a:solidFill>
        </p:spPr>
        <p:txBody>
          <a:bodyPr wrap="square" lIns="0" tIns="0" rIns="0" bIns="0" rtlCol="0"/>
          <a:lstStyle/>
          <a:p/>
        </p:txBody>
      </p:sp>
      <p:sp>
        <p:nvSpPr>
          <p:cNvPr id="22" name="object 22"/>
          <p:cNvSpPr/>
          <p:nvPr/>
        </p:nvSpPr>
        <p:spPr>
          <a:xfrm>
            <a:off x="3252085" y="3982940"/>
            <a:ext cx="0" cy="173355"/>
          </a:xfrm>
          <a:custGeom>
            <a:avLst/>
            <a:gdLst/>
            <a:ahLst/>
            <a:cxnLst/>
            <a:rect l="l" t="t" r="r" b="b"/>
            <a:pathLst>
              <a:path w="0" h="173354">
                <a:moveTo>
                  <a:pt x="0" y="0"/>
                </a:moveTo>
                <a:lnTo>
                  <a:pt x="0" y="172997"/>
                </a:lnTo>
              </a:path>
            </a:pathLst>
          </a:custGeom>
          <a:ln w="3692">
            <a:solidFill>
              <a:srgbClr val="4677BE"/>
            </a:solidFill>
          </a:ln>
        </p:spPr>
        <p:txBody>
          <a:bodyPr wrap="square" lIns="0" tIns="0" rIns="0" bIns="0" rtlCol="0"/>
          <a:lstStyle/>
          <a:p/>
        </p:txBody>
      </p:sp>
      <p:sp>
        <p:nvSpPr>
          <p:cNvPr id="23" name="object 23"/>
          <p:cNvSpPr/>
          <p:nvPr/>
        </p:nvSpPr>
        <p:spPr>
          <a:xfrm>
            <a:off x="3209617" y="4145318"/>
            <a:ext cx="85090" cy="127635"/>
          </a:xfrm>
          <a:custGeom>
            <a:avLst/>
            <a:gdLst/>
            <a:ahLst/>
            <a:cxnLst/>
            <a:rect l="l" t="t" r="r" b="b"/>
            <a:pathLst>
              <a:path w="85089" h="127635">
                <a:moveTo>
                  <a:pt x="84937" y="0"/>
                </a:moveTo>
                <a:lnTo>
                  <a:pt x="0" y="0"/>
                </a:lnTo>
                <a:lnTo>
                  <a:pt x="42468" y="127439"/>
                </a:lnTo>
                <a:lnTo>
                  <a:pt x="84937" y="0"/>
                </a:lnTo>
                <a:close/>
              </a:path>
            </a:pathLst>
          </a:custGeom>
          <a:solidFill>
            <a:srgbClr val="4677BE"/>
          </a:solidFill>
        </p:spPr>
        <p:txBody>
          <a:bodyPr wrap="square" lIns="0" tIns="0" rIns="0" bIns="0" rtlCol="0"/>
          <a:lstStyle/>
          <a:p/>
        </p:txBody>
      </p:sp>
      <p:sp>
        <p:nvSpPr>
          <p:cNvPr id="24" name="object 24"/>
          <p:cNvSpPr/>
          <p:nvPr/>
        </p:nvSpPr>
        <p:spPr>
          <a:xfrm>
            <a:off x="3252085" y="4627187"/>
            <a:ext cx="0" cy="183515"/>
          </a:xfrm>
          <a:custGeom>
            <a:avLst/>
            <a:gdLst/>
            <a:ahLst/>
            <a:cxnLst/>
            <a:rect l="l" t="t" r="r" b="b"/>
            <a:pathLst>
              <a:path w="0" h="183514">
                <a:moveTo>
                  <a:pt x="0" y="0"/>
                </a:moveTo>
                <a:lnTo>
                  <a:pt x="0" y="183125"/>
                </a:lnTo>
              </a:path>
            </a:pathLst>
          </a:custGeom>
          <a:ln w="3692">
            <a:solidFill>
              <a:srgbClr val="4677BE"/>
            </a:solidFill>
          </a:ln>
        </p:spPr>
        <p:txBody>
          <a:bodyPr wrap="square" lIns="0" tIns="0" rIns="0" bIns="0" rtlCol="0"/>
          <a:lstStyle/>
          <a:p/>
        </p:txBody>
      </p:sp>
      <p:sp>
        <p:nvSpPr>
          <p:cNvPr id="25" name="object 25"/>
          <p:cNvSpPr/>
          <p:nvPr/>
        </p:nvSpPr>
        <p:spPr>
          <a:xfrm>
            <a:off x="3209617" y="4799693"/>
            <a:ext cx="85090" cy="127635"/>
          </a:xfrm>
          <a:custGeom>
            <a:avLst/>
            <a:gdLst/>
            <a:ahLst/>
            <a:cxnLst/>
            <a:rect l="l" t="t" r="r" b="b"/>
            <a:pathLst>
              <a:path w="85089" h="127635">
                <a:moveTo>
                  <a:pt x="84937" y="0"/>
                </a:moveTo>
                <a:lnTo>
                  <a:pt x="0" y="0"/>
                </a:lnTo>
                <a:lnTo>
                  <a:pt x="42468" y="127439"/>
                </a:lnTo>
                <a:lnTo>
                  <a:pt x="84937" y="0"/>
                </a:lnTo>
                <a:close/>
              </a:path>
            </a:pathLst>
          </a:custGeom>
          <a:solidFill>
            <a:srgbClr val="4677BE"/>
          </a:solidFill>
        </p:spPr>
        <p:txBody>
          <a:bodyPr wrap="square" lIns="0" tIns="0" rIns="0" bIns="0" rtlCol="0"/>
          <a:lstStyle/>
          <a:p/>
        </p:txBody>
      </p:sp>
      <p:sp>
        <p:nvSpPr>
          <p:cNvPr id="26" name="object 26"/>
          <p:cNvSpPr/>
          <p:nvPr/>
        </p:nvSpPr>
        <p:spPr>
          <a:xfrm>
            <a:off x="3252086" y="5276160"/>
            <a:ext cx="0" cy="270510"/>
          </a:xfrm>
          <a:custGeom>
            <a:avLst/>
            <a:gdLst/>
            <a:ahLst/>
            <a:cxnLst/>
            <a:rect l="l" t="t" r="r" b="b"/>
            <a:pathLst>
              <a:path w="0" h="270510">
                <a:moveTo>
                  <a:pt x="0" y="0"/>
                </a:moveTo>
                <a:lnTo>
                  <a:pt x="0" y="270393"/>
                </a:lnTo>
              </a:path>
            </a:pathLst>
          </a:custGeom>
          <a:ln w="3692">
            <a:solidFill>
              <a:srgbClr val="4677BE"/>
            </a:solidFill>
          </a:ln>
        </p:spPr>
        <p:txBody>
          <a:bodyPr wrap="square" lIns="0" tIns="0" rIns="0" bIns="0" rtlCol="0"/>
          <a:lstStyle/>
          <a:p/>
        </p:txBody>
      </p:sp>
      <p:sp>
        <p:nvSpPr>
          <p:cNvPr id="27" name="object 27"/>
          <p:cNvSpPr/>
          <p:nvPr/>
        </p:nvSpPr>
        <p:spPr>
          <a:xfrm>
            <a:off x="3209617" y="5535934"/>
            <a:ext cx="85090" cy="127635"/>
          </a:xfrm>
          <a:custGeom>
            <a:avLst/>
            <a:gdLst/>
            <a:ahLst/>
            <a:cxnLst/>
            <a:rect l="l" t="t" r="r" b="b"/>
            <a:pathLst>
              <a:path w="85089" h="127635">
                <a:moveTo>
                  <a:pt x="84937" y="0"/>
                </a:moveTo>
                <a:lnTo>
                  <a:pt x="0" y="0"/>
                </a:lnTo>
                <a:lnTo>
                  <a:pt x="42468" y="127439"/>
                </a:lnTo>
                <a:lnTo>
                  <a:pt x="84937" y="0"/>
                </a:lnTo>
                <a:close/>
              </a:path>
            </a:pathLst>
          </a:custGeom>
          <a:solidFill>
            <a:srgbClr val="4677BE"/>
          </a:solidFill>
        </p:spPr>
        <p:txBody>
          <a:bodyPr wrap="square" lIns="0" tIns="0" rIns="0" bIns="0" rtlCol="0"/>
          <a:lstStyle/>
          <a:p/>
        </p:txBody>
      </p:sp>
      <p:sp>
        <p:nvSpPr>
          <p:cNvPr id="28" name="object 28"/>
          <p:cNvSpPr txBox="1"/>
          <p:nvPr/>
        </p:nvSpPr>
        <p:spPr>
          <a:xfrm>
            <a:off x="5490189" y="2878234"/>
            <a:ext cx="1485900" cy="1337310"/>
          </a:xfrm>
          <a:prstGeom prst="rect">
            <a:avLst/>
          </a:prstGeom>
        </p:spPr>
        <p:txBody>
          <a:bodyPr wrap="square" lIns="0" tIns="7620" rIns="0" bIns="0" rtlCol="0" vert="horz">
            <a:spAutoFit/>
          </a:bodyPr>
          <a:lstStyle/>
          <a:p>
            <a:pPr algn="just" marL="12700" marR="5080" indent="83820">
              <a:lnSpc>
                <a:spcPct val="101600"/>
              </a:lnSpc>
              <a:spcBef>
                <a:spcPts val="60"/>
              </a:spcBef>
            </a:pPr>
            <a:r>
              <a:rPr dirty="0" sz="1700" spc="-5">
                <a:latin typeface="宋体"/>
                <a:cs typeface="宋体"/>
              </a:rPr>
              <a:t>所有不符合业 务需求目标的 用户需求和软 件需求都不应 </a:t>
            </a:r>
            <a:r>
              <a:rPr dirty="0" sz="1700" spc="-5">
                <a:latin typeface="宋体"/>
                <a:cs typeface="宋体"/>
              </a:rPr>
              <a:t>该包含在</a:t>
            </a:r>
            <a:r>
              <a:rPr dirty="0" sz="1700" spc="-5">
                <a:latin typeface="Times New Roman"/>
                <a:cs typeface="Times New Roman"/>
              </a:rPr>
              <a:t>S</a:t>
            </a:r>
            <a:r>
              <a:rPr dirty="0" sz="1700" spc="-5">
                <a:latin typeface="Times New Roman"/>
                <a:cs typeface="Times New Roman"/>
              </a:rPr>
              <a:t>R</a:t>
            </a:r>
            <a:r>
              <a:rPr dirty="0" sz="1700" spc="-5">
                <a:latin typeface="Times New Roman"/>
                <a:cs typeface="Times New Roman"/>
              </a:rPr>
              <a:t>S</a:t>
            </a:r>
            <a:r>
              <a:rPr dirty="0" sz="1700" spc="-5">
                <a:latin typeface="宋体"/>
                <a:cs typeface="宋体"/>
              </a:rPr>
              <a:t>之</a:t>
            </a:r>
            <a:endParaRPr sz="1700">
              <a:latin typeface="宋体"/>
              <a:cs typeface="宋体"/>
            </a:endParaRPr>
          </a:p>
        </p:txBody>
      </p:sp>
      <p:sp>
        <p:nvSpPr>
          <p:cNvPr id="29" name="object 29"/>
          <p:cNvSpPr txBox="1"/>
          <p:nvPr/>
        </p:nvSpPr>
        <p:spPr>
          <a:xfrm>
            <a:off x="6112600" y="4214966"/>
            <a:ext cx="241300" cy="284480"/>
          </a:xfrm>
          <a:prstGeom prst="rect">
            <a:avLst/>
          </a:prstGeom>
        </p:spPr>
        <p:txBody>
          <a:bodyPr wrap="square" lIns="0" tIns="12065" rIns="0" bIns="0" rtlCol="0" vert="horz">
            <a:spAutoFit/>
          </a:bodyPr>
          <a:lstStyle/>
          <a:p>
            <a:pPr marL="12700">
              <a:lnSpc>
                <a:spcPct val="100000"/>
              </a:lnSpc>
              <a:spcBef>
                <a:spcPts val="95"/>
              </a:spcBef>
            </a:pPr>
            <a:r>
              <a:rPr dirty="0" sz="1700" spc="-5">
                <a:latin typeface="宋体"/>
                <a:cs typeface="宋体"/>
              </a:rPr>
              <a:t>中</a:t>
            </a:r>
            <a:endParaRPr sz="1700">
              <a:latin typeface="宋体"/>
              <a:cs typeface="宋体"/>
            </a:endParaRPr>
          </a:p>
        </p:txBody>
      </p:sp>
      <p:sp>
        <p:nvSpPr>
          <p:cNvPr id="30" name="object 30"/>
          <p:cNvSpPr/>
          <p:nvPr/>
        </p:nvSpPr>
        <p:spPr>
          <a:xfrm>
            <a:off x="3797376" y="4272757"/>
            <a:ext cx="1941195" cy="177165"/>
          </a:xfrm>
          <a:custGeom>
            <a:avLst/>
            <a:gdLst/>
            <a:ahLst/>
            <a:cxnLst/>
            <a:rect l="l" t="t" r="r" b="b"/>
            <a:pathLst>
              <a:path w="1941195" h="177164">
                <a:moveTo>
                  <a:pt x="0" y="177153"/>
                </a:moveTo>
                <a:lnTo>
                  <a:pt x="1940936" y="177153"/>
                </a:lnTo>
                <a:lnTo>
                  <a:pt x="1940936" y="0"/>
                </a:lnTo>
              </a:path>
            </a:pathLst>
          </a:custGeom>
          <a:ln w="3693">
            <a:solidFill>
              <a:srgbClr val="FF0000"/>
            </a:solidFill>
            <a:prstDash val="sysDot"/>
          </a:ln>
        </p:spPr>
        <p:txBody>
          <a:bodyPr wrap="square" lIns="0" tIns="0" rIns="0" bIns="0" rtlCol="0"/>
          <a:lstStyle/>
          <a:p/>
        </p:txBody>
      </p:sp>
      <p:sp>
        <p:nvSpPr>
          <p:cNvPr id="31" name="object 31"/>
          <p:cNvSpPr/>
          <p:nvPr/>
        </p:nvSpPr>
        <p:spPr>
          <a:xfrm>
            <a:off x="3819072" y="4360026"/>
            <a:ext cx="2704465" cy="1480820"/>
          </a:xfrm>
          <a:custGeom>
            <a:avLst/>
            <a:gdLst/>
            <a:ahLst/>
            <a:cxnLst/>
            <a:rect l="l" t="t" r="r" b="b"/>
            <a:pathLst>
              <a:path w="2704465" h="1480820">
                <a:moveTo>
                  <a:pt x="0" y="1480578"/>
                </a:moveTo>
                <a:lnTo>
                  <a:pt x="2704293" y="1480578"/>
                </a:lnTo>
                <a:lnTo>
                  <a:pt x="2704293" y="0"/>
                </a:lnTo>
              </a:path>
            </a:pathLst>
          </a:custGeom>
          <a:ln w="3693">
            <a:solidFill>
              <a:srgbClr val="FF0000"/>
            </a:solidFill>
            <a:prstDash val="sysDot"/>
          </a:ln>
        </p:spPr>
        <p:txBody>
          <a:bodyPr wrap="square" lIns="0" tIns="0" rIns="0" bIns="0" rtlCol="0"/>
          <a:lstStyle/>
          <a:p/>
        </p:txBody>
      </p:sp>
      <p:sp>
        <p:nvSpPr>
          <p:cNvPr id="32" name="object 32"/>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6177" y="127761"/>
            <a:ext cx="6314440" cy="1123315"/>
          </a:xfrm>
          <a:prstGeom prst="rect"/>
        </p:spPr>
        <p:txBody>
          <a:bodyPr wrap="square" lIns="0" tIns="12700" rIns="0" bIns="0" rtlCol="0" vert="horz">
            <a:spAutoFit/>
          </a:bodyPr>
          <a:lstStyle/>
          <a:p>
            <a:pPr marL="12700">
              <a:lnSpc>
                <a:spcPct val="100000"/>
              </a:lnSpc>
              <a:spcBef>
                <a:spcPts val="100"/>
              </a:spcBef>
            </a:pPr>
            <a:r>
              <a:rPr dirty="0" sz="3600">
                <a:latin typeface="Calibri"/>
                <a:cs typeface="Calibri"/>
              </a:rPr>
              <a:t>2.1.</a:t>
            </a:r>
            <a:r>
              <a:rPr dirty="0" sz="3600" spc="-90">
                <a:latin typeface="Calibri"/>
                <a:cs typeface="Calibri"/>
              </a:rPr>
              <a:t> </a:t>
            </a:r>
            <a:r>
              <a:rPr dirty="0" sz="3600"/>
              <a:t>确定项目前景和范围的活动</a:t>
            </a:r>
            <a:endParaRPr sz="3600">
              <a:latin typeface="Calibri"/>
              <a:cs typeface="Calibri"/>
            </a:endParaRPr>
          </a:p>
          <a:p>
            <a:pPr marL="2469515">
              <a:lnSpc>
                <a:spcPct val="100000"/>
              </a:lnSpc>
            </a:pPr>
            <a:r>
              <a:rPr dirty="0" sz="3600" spc="-5">
                <a:latin typeface="Arial"/>
                <a:cs typeface="Arial"/>
              </a:rPr>
              <a:t>——</a:t>
            </a:r>
            <a:r>
              <a:rPr dirty="0" sz="3600" spc="-5"/>
              <a:t>关键点</a:t>
            </a:r>
            <a:endParaRPr sz="36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712417"/>
            <a:ext cx="7830184" cy="3839210"/>
          </a:xfrm>
          <a:prstGeom prst="rect">
            <a:avLst/>
          </a:prstGeom>
        </p:spPr>
        <p:txBody>
          <a:bodyPr wrap="square" lIns="0" tIns="123189" rIns="0" bIns="0" rtlCol="0" vert="horz">
            <a:spAutoFit/>
          </a:bodyPr>
          <a:lstStyle/>
          <a:p>
            <a:pPr marL="355600" marR="5080" indent="-343535">
              <a:lnSpc>
                <a:spcPct val="74000"/>
              </a:lnSpc>
              <a:spcBef>
                <a:spcPts val="969"/>
              </a:spcBef>
              <a:buClr>
                <a:srgbClr val="00663B"/>
              </a:buClr>
              <a:buSzPct val="80357"/>
              <a:buFont typeface="Wingdings"/>
              <a:buChar char=""/>
              <a:tabLst>
                <a:tab pos="355600" algn="l"/>
                <a:tab pos="356235" algn="l"/>
              </a:tabLst>
            </a:pPr>
            <a:r>
              <a:rPr dirty="0" sz="2800" spc="-10">
                <a:latin typeface="宋体"/>
                <a:cs typeface="宋体"/>
              </a:rPr>
              <a:t>定义业务需求和能够满足需求</a:t>
            </a:r>
            <a:r>
              <a:rPr dirty="0" sz="2800" spc="-5">
                <a:latin typeface="宋体"/>
                <a:cs typeface="宋体"/>
              </a:rPr>
              <a:t>的</a:t>
            </a:r>
            <a:r>
              <a:rPr dirty="0" sz="2800" spc="-5">
                <a:solidFill>
                  <a:srgbClr val="00A15F"/>
                </a:solidFill>
                <a:latin typeface="宋体"/>
                <a:cs typeface="宋体"/>
              </a:rPr>
              <a:t>高层解决</a:t>
            </a:r>
            <a:r>
              <a:rPr dirty="0" sz="2800">
                <a:solidFill>
                  <a:srgbClr val="00A15F"/>
                </a:solidFill>
                <a:latin typeface="宋体"/>
                <a:cs typeface="宋体"/>
              </a:rPr>
              <a:t>方</a:t>
            </a:r>
            <a:r>
              <a:rPr dirty="0" sz="2800" spc="-5">
                <a:solidFill>
                  <a:srgbClr val="00A15F"/>
                </a:solidFill>
                <a:latin typeface="宋体"/>
                <a:cs typeface="宋体"/>
              </a:rPr>
              <a:t>案</a:t>
            </a:r>
            <a:r>
              <a:rPr dirty="0" sz="2800" spc="-5">
                <a:latin typeface="宋体"/>
                <a:cs typeface="宋体"/>
              </a:rPr>
              <a:t>，  包</a:t>
            </a:r>
            <a:r>
              <a:rPr dirty="0" sz="2800" spc="-10">
                <a:latin typeface="宋体"/>
                <a:cs typeface="宋体"/>
              </a:rPr>
              <a:t>括</a:t>
            </a:r>
            <a:r>
              <a:rPr dirty="0" sz="2800" spc="-5">
                <a:latin typeface="Calibri"/>
                <a:cs typeface="Calibri"/>
              </a:rPr>
              <a:t>:</a:t>
            </a:r>
            <a:endParaRPr sz="2800">
              <a:latin typeface="Calibri"/>
              <a:cs typeface="Calibri"/>
            </a:endParaRPr>
          </a:p>
          <a:p>
            <a:pPr lvl="1" marL="756285" indent="-287020">
              <a:lnSpc>
                <a:spcPct val="100000"/>
              </a:lnSpc>
              <a:spcBef>
                <a:spcPts val="15"/>
              </a:spcBef>
              <a:buClr>
                <a:srgbClr val="C00000"/>
              </a:buClr>
              <a:buSzPct val="60416"/>
              <a:buFont typeface="Wingdings"/>
              <a:buChar char=""/>
              <a:tabLst>
                <a:tab pos="756285" algn="l"/>
                <a:tab pos="756920" algn="l"/>
              </a:tabLst>
            </a:pPr>
            <a:r>
              <a:rPr dirty="0" sz="2400">
                <a:latin typeface="宋体"/>
                <a:cs typeface="宋体"/>
              </a:rPr>
              <a:t>业务</a:t>
            </a:r>
            <a:r>
              <a:rPr dirty="0" sz="2400">
                <a:solidFill>
                  <a:srgbClr val="00A15F"/>
                </a:solidFill>
                <a:latin typeface="宋体"/>
                <a:cs typeface="宋体"/>
              </a:rPr>
              <a:t>目标</a:t>
            </a:r>
            <a:r>
              <a:rPr dirty="0" sz="2400" spc="-5">
                <a:solidFill>
                  <a:srgbClr val="00A15F"/>
                </a:solidFill>
                <a:latin typeface="Calibri"/>
                <a:cs typeface="Calibri"/>
              </a:rPr>
              <a:t>/</a:t>
            </a:r>
            <a:r>
              <a:rPr dirty="0" sz="2400">
                <a:solidFill>
                  <a:srgbClr val="00A15F"/>
                </a:solidFill>
                <a:latin typeface="宋体"/>
                <a:cs typeface="宋体"/>
              </a:rPr>
              <a:t>目的</a:t>
            </a:r>
            <a:endParaRPr sz="2400">
              <a:latin typeface="宋体"/>
              <a:cs typeface="宋体"/>
            </a:endParaRPr>
          </a:p>
          <a:p>
            <a:pPr lvl="1" marL="756285" indent="-287020">
              <a:lnSpc>
                <a:spcPct val="100000"/>
              </a:lnSpc>
              <a:buClr>
                <a:srgbClr val="C00000"/>
              </a:buClr>
              <a:buSzPct val="60416"/>
              <a:buFont typeface="Wingdings"/>
              <a:buChar char=""/>
              <a:tabLst>
                <a:tab pos="756285" algn="l"/>
                <a:tab pos="756920" algn="l"/>
              </a:tabLst>
            </a:pPr>
            <a:r>
              <a:rPr dirty="0" sz="2400">
                <a:latin typeface="宋体"/>
                <a:cs typeface="宋体"/>
              </a:rPr>
              <a:t>高层业务</a:t>
            </a:r>
            <a:r>
              <a:rPr dirty="0" sz="2400">
                <a:solidFill>
                  <a:srgbClr val="00A15F"/>
                </a:solidFill>
                <a:latin typeface="宋体"/>
                <a:cs typeface="宋体"/>
              </a:rPr>
              <a:t>功能</a:t>
            </a:r>
            <a:endParaRPr sz="2400">
              <a:latin typeface="宋体"/>
              <a:cs typeface="宋体"/>
            </a:endParaRPr>
          </a:p>
          <a:p>
            <a:pPr lvl="1" marL="756285" indent="-287020">
              <a:lnSpc>
                <a:spcPct val="100000"/>
              </a:lnSpc>
              <a:buClr>
                <a:srgbClr val="C00000"/>
              </a:buClr>
              <a:buSzPct val="60416"/>
              <a:buFont typeface="Wingdings"/>
              <a:buChar char=""/>
              <a:tabLst>
                <a:tab pos="756285" algn="l"/>
                <a:tab pos="756920" algn="l"/>
              </a:tabLst>
            </a:pPr>
            <a:r>
              <a:rPr dirty="0" sz="2400" spc="-5">
                <a:latin typeface="宋体"/>
                <a:cs typeface="宋体"/>
              </a:rPr>
              <a:t>每个高层业务功能所关联</a:t>
            </a:r>
            <a:r>
              <a:rPr dirty="0" sz="2400">
                <a:latin typeface="宋体"/>
                <a:cs typeface="宋体"/>
              </a:rPr>
              <a:t>的</a:t>
            </a:r>
            <a:r>
              <a:rPr dirty="0" sz="2400" spc="-5">
                <a:solidFill>
                  <a:srgbClr val="00A15F"/>
                </a:solidFill>
                <a:latin typeface="宋体"/>
                <a:cs typeface="宋体"/>
              </a:rPr>
              <a:t>高层数据</a:t>
            </a:r>
            <a:endParaRPr sz="2400">
              <a:latin typeface="宋体"/>
              <a:cs typeface="宋体"/>
            </a:endParaRPr>
          </a:p>
          <a:p>
            <a:pPr lvl="1" marL="756285" indent="-287020">
              <a:lnSpc>
                <a:spcPct val="100000"/>
              </a:lnSpc>
              <a:spcBef>
                <a:spcPts val="5"/>
              </a:spcBef>
              <a:buClr>
                <a:srgbClr val="C00000"/>
              </a:buClr>
              <a:buSzPct val="60416"/>
              <a:buFont typeface="Wingdings"/>
              <a:buChar char=""/>
              <a:tabLst>
                <a:tab pos="756285" algn="l"/>
                <a:tab pos="756920" algn="l"/>
              </a:tabLst>
            </a:pPr>
            <a:r>
              <a:rPr dirty="0" sz="2400">
                <a:latin typeface="宋体"/>
                <a:cs typeface="宋体"/>
              </a:rPr>
              <a:t>每个功能相关的项目</a:t>
            </a:r>
            <a:r>
              <a:rPr dirty="0" sz="2400">
                <a:solidFill>
                  <a:srgbClr val="00A15F"/>
                </a:solidFill>
                <a:latin typeface="宋体"/>
                <a:cs typeface="宋体"/>
              </a:rPr>
              <a:t>涉众</a:t>
            </a:r>
            <a:endParaRPr sz="2400">
              <a:latin typeface="宋体"/>
              <a:cs typeface="宋体"/>
            </a:endParaRPr>
          </a:p>
          <a:p>
            <a:pPr lvl="1" marL="756285" indent="-287020">
              <a:lnSpc>
                <a:spcPct val="100000"/>
              </a:lnSpc>
              <a:buClr>
                <a:srgbClr val="C00000"/>
              </a:buClr>
              <a:buSzPct val="60416"/>
              <a:buFont typeface="Wingdings"/>
              <a:buChar char=""/>
              <a:tabLst>
                <a:tab pos="756285" algn="l"/>
                <a:tab pos="756920" algn="l"/>
              </a:tabLst>
            </a:pPr>
            <a:r>
              <a:rPr dirty="0" sz="2400">
                <a:latin typeface="宋体"/>
                <a:cs typeface="宋体"/>
              </a:rPr>
              <a:t>等等</a:t>
            </a:r>
            <a:endParaRPr sz="2400">
              <a:latin typeface="宋体"/>
              <a:cs typeface="宋体"/>
            </a:endParaRPr>
          </a:p>
          <a:p>
            <a:pPr lvl="1">
              <a:lnSpc>
                <a:spcPct val="100000"/>
              </a:lnSpc>
              <a:spcBef>
                <a:spcPts val="35"/>
              </a:spcBef>
              <a:buClr>
                <a:srgbClr val="C00000"/>
              </a:buClr>
              <a:buFont typeface="Wingdings"/>
              <a:buChar char=""/>
            </a:pPr>
            <a:endParaRPr sz="3150">
              <a:latin typeface="宋体"/>
              <a:cs typeface="宋体"/>
            </a:endParaRPr>
          </a:p>
          <a:p>
            <a:pPr marL="355600" marR="146685" indent="-343535">
              <a:lnSpc>
                <a:spcPct val="74100"/>
              </a:lnSpc>
              <a:buClr>
                <a:srgbClr val="00663B"/>
              </a:buClr>
              <a:buSzPct val="79687"/>
              <a:buFont typeface="Wingdings"/>
              <a:buChar char=""/>
              <a:tabLst>
                <a:tab pos="356235" algn="l"/>
              </a:tabLst>
            </a:pPr>
            <a:r>
              <a:rPr dirty="0" sz="3200">
                <a:solidFill>
                  <a:srgbClr val="FB2408"/>
                </a:solidFill>
                <a:latin typeface="宋体"/>
                <a:cs typeface="宋体"/>
              </a:rPr>
              <a:t>如果存在不同业务需求</a:t>
            </a:r>
            <a:r>
              <a:rPr dirty="0" sz="3200" spc="-15">
                <a:solidFill>
                  <a:srgbClr val="FB2408"/>
                </a:solidFill>
                <a:latin typeface="宋体"/>
                <a:cs typeface="宋体"/>
              </a:rPr>
              <a:t>之</a:t>
            </a:r>
            <a:r>
              <a:rPr dirty="0" sz="3200">
                <a:solidFill>
                  <a:srgbClr val="FB2408"/>
                </a:solidFill>
                <a:latin typeface="宋体"/>
                <a:cs typeface="宋体"/>
              </a:rPr>
              <a:t>间的</a:t>
            </a:r>
            <a:r>
              <a:rPr dirty="0" sz="3200" spc="-15">
                <a:solidFill>
                  <a:srgbClr val="FB2408"/>
                </a:solidFill>
                <a:latin typeface="宋体"/>
                <a:cs typeface="宋体"/>
              </a:rPr>
              <a:t>冲</a:t>
            </a:r>
            <a:r>
              <a:rPr dirty="0" sz="3200">
                <a:solidFill>
                  <a:srgbClr val="FB2408"/>
                </a:solidFill>
                <a:latin typeface="宋体"/>
                <a:cs typeface="宋体"/>
              </a:rPr>
              <a:t>突，</a:t>
            </a:r>
            <a:r>
              <a:rPr dirty="0" sz="3200" spc="-15">
                <a:solidFill>
                  <a:srgbClr val="FB2408"/>
                </a:solidFill>
                <a:latin typeface="宋体"/>
                <a:cs typeface="宋体"/>
              </a:rPr>
              <a:t>那</a:t>
            </a:r>
            <a:r>
              <a:rPr dirty="0" sz="3200">
                <a:solidFill>
                  <a:srgbClr val="FB2408"/>
                </a:solidFill>
                <a:latin typeface="宋体"/>
                <a:cs typeface="宋体"/>
              </a:rPr>
              <a:t>么 在确定项目前景和范围</a:t>
            </a:r>
            <a:r>
              <a:rPr dirty="0" sz="3200" spc="-15">
                <a:solidFill>
                  <a:srgbClr val="FB2408"/>
                </a:solidFill>
                <a:latin typeface="宋体"/>
                <a:cs typeface="宋体"/>
              </a:rPr>
              <a:t>阶</a:t>
            </a:r>
            <a:r>
              <a:rPr dirty="0" sz="3200">
                <a:solidFill>
                  <a:srgbClr val="FB2408"/>
                </a:solidFill>
                <a:latin typeface="宋体"/>
                <a:cs typeface="宋体"/>
              </a:rPr>
              <a:t>段必</a:t>
            </a:r>
            <a:r>
              <a:rPr dirty="0" sz="3200" spc="-15">
                <a:solidFill>
                  <a:srgbClr val="FB2408"/>
                </a:solidFill>
                <a:latin typeface="宋体"/>
                <a:cs typeface="宋体"/>
              </a:rPr>
              <a:t>须</a:t>
            </a:r>
            <a:r>
              <a:rPr dirty="0" sz="3200">
                <a:solidFill>
                  <a:srgbClr val="FB2408"/>
                </a:solidFill>
                <a:latin typeface="宋体"/>
                <a:cs typeface="宋体"/>
              </a:rPr>
              <a:t>予以</a:t>
            </a:r>
            <a:r>
              <a:rPr dirty="0" sz="3200" spc="-15">
                <a:solidFill>
                  <a:srgbClr val="FB2408"/>
                </a:solidFill>
                <a:latin typeface="宋体"/>
                <a:cs typeface="宋体"/>
              </a:rPr>
              <a:t>解</a:t>
            </a:r>
            <a:r>
              <a:rPr dirty="0" sz="3200">
                <a:solidFill>
                  <a:srgbClr val="FB2408"/>
                </a:solidFill>
                <a:latin typeface="宋体"/>
                <a:cs typeface="宋体"/>
              </a:rPr>
              <a:t>决</a:t>
            </a:r>
            <a:endParaRPr sz="3200">
              <a:latin typeface="宋体"/>
              <a:cs typeface="宋体"/>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6177" y="127761"/>
            <a:ext cx="6314440" cy="1123315"/>
          </a:xfrm>
          <a:prstGeom prst="rect"/>
        </p:spPr>
        <p:txBody>
          <a:bodyPr wrap="square" lIns="0" tIns="12700" rIns="0" bIns="0" rtlCol="0" vert="horz">
            <a:spAutoFit/>
          </a:bodyPr>
          <a:lstStyle/>
          <a:p>
            <a:pPr marL="12700">
              <a:lnSpc>
                <a:spcPct val="100000"/>
              </a:lnSpc>
              <a:spcBef>
                <a:spcPts val="100"/>
              </a:spcBef>
            </a:pPr>
            <a:r>
              <a:rPr dirty="0" sz="3600">
                <a:latin typeface="Calibri"/>
                <a:cs typeface="Calibri"/>
              </a:rPr>
              <a:t>2.1.</a:t>
            </a:r>
            <a:r>
              <a:rPr dirty="0" sz="3600" spc="-90">
                <a:latin typeface="Calibri"/>
                <a:cs typeface="Calibri"/>
              </a:rPr>
              <a:t> </a:t>
            </a:r>
            <a:r>
              <a:rPr dirty="0" sz="3600"/>
              <a:t>确定项目前景和范围的活动</a:t>
            </a:r>
            <a:endParaRPr sz="3600">
              <a:latin typeface="Calibri"/>
              <a:cs typeface="Calibri"/>
            </a:endParaRPr>
          </a:p>
          <a:p>
            <a:pPr marL="1326515">
              <a:lnSpc>
                <a:spcPct val="100000"/>
              </a:lnSpc>
            </a:pPr>
            <a:r>
              <a:rPr dirty="0" sz="3600" spc="-5">
                <a:latin typeface="Arial"/>
                <a:cs typeface="Arial"/>
              </a:rPr>
              <a:t>——</a:t>
            </a:r>
            <a:r>
              <a:rPr dirty="0" sz="3600" spc="-5"/>
              <a:t>业务需求冲突示例</a:t>
            </a:r>
            <a:endParaRPr sz="36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40205"/>
            <a:ext cx="8025130" cy="436245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8846"/>
              <a:buFont typeface="Wingdings"/>
              <a:buChar char=""/>
              <a:tabLst>
                <a:tab pos="355600" algn="l"/>
                <a:tab pos="356235" algn="l"/>
              </a:tabLst>
            </a:pPr>
            <a:r>
              <a:rPr dirty="0" sz="2600">
                <a:latin typeface="宋体"/>
                <a:cs typeface="宋体"/>
              </a:rPr>
              <a:t>对一个</a:t>
            </a:r>
            <a:r>
              <a:rPr dirty="0" sz="2600">
                <a:solidFill>
                  <a:srgbClr val="00A15F"/>
                </a:solidFill>
                <a:latin typeface="宋体"/>
                <a:cs typeface="宋体"/>
              </a:rPr>
              <a:t>配有嵌入式软</a:t>
            </a:r>
            <a:r>
              <a:rPr dirty="0" sz="2600" spc="5">
                <a:solidFill>
                  <a:srgbClr val="00A15F"/>
                </a:solidFill>
                <a:latin typeface="宋体"/>
                <a:cs typeface="宋体"/>
              </a:rPr>
              <a:t>件</a:t>
            </a:r>
            <a:r>
              <a:rPr dirty="0" sz="2600" spc="-10">
                <a:latin typeface="宋体"/>
                <a:cs typeface="宋体"/>
              </a:rPr>
              <a:t>的</a:t>
            </a:r>
            <a:r>
              <a:rPr dirty="0" sz="2600" spc="5">
                <a:latin typeface="宋体"/>
                <a:cs typeface="宋体"/>
              </a:rPr>
              <a:t>售货</a:t>
            </a:r>
            <a:r>
              <a:rPr dirty="0" sz="2600" spc="-10">
                <a:latin typeface="宋体"/>
                <a:cs typeface="宋体"/>
              </a:rPr>
              <a:t>机</a:t>
            </a:r>
            <a:r>
              <a:rPr dirty="0" sz="2600" spc="5">
                <a:latin typeface="宋体"/>
                <a:cs typeface="宋体"/>
              </a:rPr>
              <a:t>而言：</a:t>
            </a:r>
            <a:endParaRPr sz="2600">
              <a:latin typeface="宋体"/>
              <a:cs typeface="宋体"/>
            </a:endParaRPr>
          </a:p>
          <a:p>
            <a:pPr lvl="1" marL="756285" indent="-287020">
              <a:lnSpc>
                <a:spcPct val="100000"/>
              </a:lnSpc>
              <a:spcBef>
                <a:spcPts val="20"/>
              </a:spcBef>
              <a:buClr>
                <a:srgbClr val="C00000"/>
              </a:buClr>
              <a:buSzPct val="59090"/>
              <a:buFont typeface="Wingdings"/>
              <a:buChar char=""/>
              <a:tabLst>
                <a:tab pos="756285" algn="l"/>
                <a:tab pos="756920" algn="l"/>
              </a:tabLst>
            </a:pPr>
            <a:r>
              <a:rPr dirty="0" sz="2200" spc="-5">
                <a:latin typeface="宋体"/>
                <a:cs typeface="宋体"/>
              </a:rPr>
              <a:t>销售机开发者的</a:t>
            </a:r>
            <a:r>
              <a:rPr dirty="0" sz="2200" spc="-5" b="1">
                <a:latin typeface="宋体"/>
                <a:cs typeface="宋体"/>
              </a:rPr>
              <a:t>业务目标</a:t>
            </a:r>
            <a:r>
              <a:rPr dirty="0" sz="2200" spc="-5">
                <a:latin typeface="宋体"/>
                <a:cs typeface="宋体"/>
              </a:rPr>
              <a:t>：</a:t>
            </a:r>
            <a:endParaRPr sz="2200">
              <a:latin typeface="宋体"/>
              <a:cs typeface="宋体"/>
            </a:endParaRPr>
          </a:p>
          <a:p>
            <a:pPr lvl="2" marL="1155700" indent="-229235">
              <a:lnSpc>
                <a:spcPct val="100000"/>
              </a:lnSpc>
              <a:spcBef>
                <a:spcPts val="5"/>
              </a:spcBef>
              <a:buFont typeface="Arial"/>
              <a:buChar char="•"/>
              <a:tabLst>
                <a:tab pos="1155700" algn="l"/>
                <a:tab pos="1156335" algn="l"/>
              </a:tabLst>
            </a:pPr>
            <a:r>
              <a:rPr dirty="0" sz="2000">
                <a:latin typeface="宋体"/>
                <a:cs typeface="宋体"/>
              </a:rPr>
              <a:t>向零售商出售或出租售</a:t>
            </a:r>
            <a:r>
              <a:rPr dirty="0" sz="2000" spc="-15">
                <a:latin typeface="宋体"/>
                <a:cs typeface="宋体"/>
              </a:rPr>
              <a:t>货</a:t>
            </a:r>
            <a:r>
              <a:rPr dirty="0" sz="2000">
                <a:latin typeface="宋体"/>
                <a:cs typeface="宋体"/>
              </a:rPr>
              <a:t>机，</a:t>
            </a:r>
            <a:r>
              <a:rPr dirty="0" sz="2000" spc="-15">
                <a:latin typeface="宋体"/>
                <a:cs typeface="宋体"/>
              </a:rPr>
              <a:t>并</a:t>
            </a:r>
            <a:r>
              <a:rPr dirty="0" sz="2000">
                <a:latin typeface="宋体"/>
                <a:cs typeface="宋体"/>
              </a:rPr>
              <a:t>由此</a:t>
            </a:r>
            <a:r>
              <a:rPr dirty="0" sz="2000" spc="-15">
                <a:latin typeface="宋体"/>
                <a:cs typeface="宋体"/>
              </a:rPr>
              <a:t>获</a:t>
            </a:r>
            <a:r>
              <a:rPr dirty="0" sz="2000">
                <a:latin typeface="宋体"/>
                <a:cs typeface="宋体"/>
              </a:rPr>
              <a:t>利。</a:t>
            </a:r>
            <a:endParaRPr sz="2000">
              <a:latin typeface="宋体"/>
              <a:cs typeface="宋体"/>
            </a:endParaRPr>
          </a:p>
          <a:p>
            <a:pPr lvl="2" marL="1155700" indent="-229235">
              <a:lnSpc>
                <a:spcPct val="100000"/>
              </a:lnSpc>
              <a:buFont typeface="Arial"/>
              <a:buChar char="•"/>
              <a:tabLst>
                <a:tab pos="1155700" algn="l"/>
                <a:tab pos="1156335" algn="l"/>
              </a:tabLst>
            </a:pPr>
            <a:r>
              <a:rPr dirty="0" sz="2000">
                <a:latin typeface="宋体"/>
                <a:cs typeface="宋体"/>
              </a:rPr>
              <a:t>通过售货机向顾客销售</a:t>
            </a:r>
            <a:r>
              <a:rPr dirty="0" sz="2000" spc="-15">
                <a:latin typeface="宋体"/>
                <a:cs typeface="宋体"/>
              </a:rPr>
              <a:t>消</a:t>
            </a:r>
            <a:r>
              <a:rPr dirty="0" sz="2000">
                <a:latin typeface="宋体"/>
                <a:cs typeface="宋体"/>
              </a:rPr>
              <a:t>费品。</a:t>
            </a:r>
            <a:endParaRPr sz="2000">
              <a:latin typeface="宋体"/>
              <a:cs typeface="宋体"/>
            </a:endParaRPr>
          </a:p>
          <a:p>
            <a:pPr lvl="2" marL="1155700" indent="-229235">
              <a:lnSpc>
                <a:spcPct val="100000"/>
              </a:lnSpc>
              <a:buFont typeface="Arial"/>
              <a:buChar char="•"/>
              <a:tabLst>
                <a:tab pos="1155700" algn="l"/>
                <a:tab pos="1156335" algn="l"/>
              </a:tabLst>
            </a:pPr>
            <a:r>
              <a:rPr dirty="0" sz="2000">
                <a:latin typeface="宋体"/>
                <a:cs typeface="宋体"/>
              </a:rPr>
              <a:t>吸引客户对商品的兴趣。</a:t>
            </a:r>
            <a:endParaRPr sz="2000">
              <a:latin typeface="宋体"/>
              <a:cs typeface="宋体"/>
            </a:endParaRPr>
          </a:p>
          <a:p>
            <a:pPr lvl="2" marL="1155700" indent="-229235">
              <a:lnSpc>
                <a:spcPts val="2395"/>
              </a:lnSpc>
              <a:buFont typeface="Arial"/>
              <a:buChar char="•"/>
              <a:tabLst>
                <a:tab pos="1155700" algn="l"/>
                <a:tab pos="1156335" algn="l"/>
              </a:tabLst>
            </a:pPr>
            <a:r>
              <a:rPr dirty="0" sz="2000">
                <a:latin typeface="宋体"/>
                <a:cs typeface="宋体"/>
              </a:rPr>
              <a:t>生产出多种类型的售货</a:t>
            </a:r>
            <a:r>
              <a:rPr dirty="0" sz="2000" spc="-10">
                <a:latin typeface="宋体"/>
                <a:cs typeface="宋体"/>
              </a:rPr>
              <a:t>机</a:t>
            </a:r>
            <a:r>
              <a:rPr dirty="0" sz="2000" spc="5">
                <a:latin typeface="宋体"/>
                <a:cs typeface="宋体"/>
              </a:rPr>
              <a:t>。</a:t>
            </a:r>
            <a:endParaRPr sz="2000">
              <a:latin typeface="宋体"/>
              <a:cs typeface="宋体"/>
            </a:endParaRPr>
          </a:p>
          <a:p>
            <a:pPr lvl="1" marL="756285" indent="-287020">
              <a:lnSpc>
                <a:spcPts val="2635"/>
              </a:lnSpc>
              <a:buClr>
                <a:srgbClr val="C00000"/>
              </a:buClr>
              <a:buSzPct val="59090"/>
              <a:buFont typeface="Wingdings"/>
              <a:buChar char=""/>
              <a:tabLst>
                <a:tab pos="756285" algn="l"/>
                <a:tab pos="756920" algn="l"/>
              </a:tabLst>
            </a:pPr>
            <a:r>
              <a:rPr dirty="0" sz="2200" spc="-5">
                <a:latin typeface="宋体"/>
                <a:cs typeface="宋体"/>
              </a:rPr>
              <a:t>零售商的</a:t>
            </a:r>
            <a:r>
              <a:rPr dirty="0" sz="2200" spc="-5" b="1">
                <a:latin typeface="宋体"/>
                <a:cs typeface="宋体"/>
              </a:rPr>
              <a:t>业务目</a:t>
            </a:r>
            <a:r>
              <a:rPr dirty="0" sz="2200" b="1">
                <a:latin typeface="宋体"/>
                <a:cs typeface="宋体"/>
              </a:rPr>
              <a:t>标</a:t>
            </a:r>
            <a:r>
              <a:rPr dirty="0" sz="2200" spc="-5">
                <a:latin typeface="宋体"/>
                <a:cs typeface="宋体"/>
              </a:rPr>
              <a:t>：</a:t>
            </a:r>
            <a:endParaRPr sz="2200">
              <a:latin typeface="宋体"/>
              <a:cs typeface="宋体"/>
            </a:endParaRPr>
          </a:p>
          <a:p>
            <a:pPr lvl="2" marL="1155700" indent="-229235">
              <a:lnSpc>
                <a:spcPct val="100000"/>
              </a:lnSpc>
              <a:spcBef>
                <a:spcPts val="10"/>
              </a:spcBef>
              <a:buFont typeface="Arial"/>
              <a:buChar char="•"/>
              <a:tabLst>
                <a:tab pos="1155700" algn="l"/>
                <a:tab pos="1156335" algn="l"/>
              </a:tabLst>
            </a:pPr>
            <a:r>
              <a:rPr dirty="0" sz="2000">
                <a:latin typeface="宋体"/>
                <a:cs typeface="宋体"/>
              </a:rPr>
              <a:t>将单位营业面积的收益</a:t>
            </a:r>
            <a:r>
              <a:rPr dirty="0" sz="2000" spc="-15">
                <a:latin typeface="宋体"/>
                <a:cs typeface="宋体"/>
              </a:rPr>
              <a:t>最</a:t>
            </a:r>
            <a:r>
              <a:rPr dirty="0" sz="2000">
                <a:latin typeface="宋体"/>
                <a:cs typeface="宋体"/>
              </a:rPr>
              <a:t>大化。</a:t>
            </a:r>
            <a:endParaRPr sz="2000">
              <a:latin typeface="宋体"/>
              <a:cs typeface="宋体"/>
            </a:endParaRPr>
          </a:p>
          <a:p>
            <a:pPr lvl="2" marL="1155700" indent="-229235">
              <a:lnSpc>
                <a:spcPct val="100000"/>
              </a:lnSpc>
              <a:buFont typeface="Arial"/>
              <a:buChar char="•"/>
              <a:tabLst>
                <a:tab pos="1155700" algn="l"/>
                <a:tab pos="1156335" algn="l"/>
              </a:tabLst>
            </a:pPr>
            <a:r>
              <a:rPr dirty="0" sz="2000">
                <a:latin typeface="宋体"/>
                <a:cs typeface="宋体"/>
              </a:rPr>
              <a:t>吸引更多的顾客来商店</a:t>
            </a:r>
            <a:r>
              <a:rPr dirty="0" sz="2000" spc="-15">
                <a:latin typeface="宋体"/>
                <a:cs typeface="宋体"/>
              </a:rPr>
              <a:t>购</a:t>
            </a:r>
            <a:r>
              <a:rPr dirty="0" sz="2000">
                <a:latin typeface="宋体"/>
                <a:cs typeface="宋体"/>
              </a:rPr>
              <a:t>买。</a:t>
            </a:r>
            <a:endParaRPr sz="2000">
              <a:latin typeface="宋体"/>
              <a:cs typeface="宋体"/>
            </a:endParaRPr>
          </a:p>
          <a:p>
            <a:pPr lvl="2" marL="1155700" indent="-229235">
              <a:lnSpc>
                <a:spcPts val="2390"/>
              </a:lnSpc>
              <a:buFont typeface="Arial"/>
              <a:buChar char="•"/>
              <a:tabLst>
                <a:tab pos="1155700" algn="l"/>
                <a:tab pos="1156335" algn="l"/>
              </a:tabLst>
            </a:pPr>
            <a:r>
              <a:rPr dirty="0" sz="2000">
                <a:latin typeface="宋体"/>
                <a:cs typeface="宋体"/>
              </a:rPr>
              <a:t>用售货机替代人工，带</a:t>
            </a:r>
            <a:r>
              <a:rPr dirty="0" sz="2000" spc="-15">
                <a:latin typeface="宋体"/>
                <a:cs typeface="宋体"/>
              </a:rPr>
              <a:t>来</a:t>
            </a:r>
            <a:r>
              <a:rPr dirty="0" sz="2000">
                <a:latin typeface="宋体"/>
                <a:cs typeface="宋体"/>
              </a:rPr>
              <a:t>销量</a:t>
            </a:r>
            <a:r>
              <a:rPr dirty="0" sz="2000" spc="-15">
                <a:latin typeface="宋体"/>
                <a:cs typeface="宋体"/>
              </a:rPr>
              <a:t>和</a:t>
            </a:r>
            <a:r>
              <a:rPr dirty="0" sz="2000">
                <a:latin typeface="宋体"/>
                <a:cs typeface="宋体"/>
              </a:rPr>
              <a:t>利润</a:t>
            </a:r>
            <a:r>
              <a:rPr dirty="0" sz="2000" spc="-15">
                <a:latin typeface="宋体"/>
                <a:cs typeface="宋体"/>
              </a:rPr>
              <a:t>的</a:t>
            </a:r>
            <a:r>
              <a:rPr dirty="0" sz="2000">
                <a:latin typeface="宋体"/>
                <a:cs typeface="宋体"/>
              </a:rPr>
              <a:t>增长。</a:t>
            </a:r>
            <a:endParaRPr sz="2000">
              <a:latin typeface="宋体"/>
              <a:cs typeface="宋体"/>
            </a:endParaRPr>
          </a:p>
          <a:p>
            <a:pPr marL="355600" indent="-343535">
              <a:lnSpc>
                <a:spcPts val="3110"/>
              </a:lnSpc>
              <a:buClr>
                <a:srgbClr val="00663B"/>
              </a:buClr>
              <a:buSzPct val="78846"/>
              <a:buFont typeface="Wingdings"/>
              <a:buChar char=""/>
              <a:tabLst>
                <a:tab pos="355600" algn="l"/>
                <a:tab pos="356235" algn="l"/>
              </a:tabLst>
            </a:pPr>
            <a:r>
              <a:rPr dirty="0" sz="2600">
                <a:latin typeface="宋体"/>
                <a:cs typeface="宋体"/>
              </a:rPr>
              <a:t>可能产生的矛盾：</a:t>
            </a:r>
            <a:endParaRPr sz="2600">
              <a:latin typeface="宋体"/>
              <a:cs typeface="宋体"/>
            </a:endParaRPr>
          </a:p>
          <a:p>
            <a:pPr lvl="1" marL="756285" marR="5080" indent="-287020">
              <a:lnSpc>
                <a:spcPts val="2470"/>
              </a:lnSpc>
              <a:spcBef>
                <a:spcPts val="925"/>
              </a:spcBef>
              <a:buClr>
                <a:srgbClr val="C00000"/>
              </a:buClr>
              <a:buSzPct val="59090"/>
              <a:buFont typeface="Wingdings"/>
              <a:buChar char=""/>
              <a:tabLst>
                <a:tab pos="756285" algn="l"/>
                <a:tab pos="756920" algn="l"/>
              </a:tabLst>
            </a:pPr>
            <a:r>
              <a:rPr dirty="0" sz="2200" spc="-5">
                <a:latin typeface="宋体"/>
                <a:cs typeface="宋体"/>
              </a:rPr>
              <a:t>开发者重技术、零售商要求简单可</a:t>
            </a:r>
            <a:r>
              <a:rPr dirty="0" sz="2200">
                <a:latin typeface="宋体"/>
                <a:cs typeface="宋体"/>
              </a:rPr>
              <a:t>直</a:t>
            </a:r>
            <a:r>
              <a:rPr dirty="0" sz="2200" spc="-5">
                <a:latin typeface="宋体"/>
                <a:cs typeface="宋体"/>
              </a:rPr>
              <a:t>接投</a:t>
            </a:r>
            <a:r>
              <a:rPr dirty="0" sz="2200">
                <a:latin typeface="宋体"/>
                <a:cs typeface="宋体"/>
              </a:rPr>
              <a:t>入</a:t>
            </a:r>
            <a:r>
              <a:rPr dirty="0" sz="2200" spc="-5">
                <a:latin typeface="宋体"/>
                <a:cs typeface="宋体"/>
              </a:rPr>
              <a:t>使用</a:t>
            </a:r>
            <a:r>
              <a:rPr dirty="0" sz="2200">
                <a:latin typeface="宋体"/>
                <a:cs typeface="宋体"/>
              </a:rPr>
              <a:t>、</a:t>
            </a:r>
            <a:r>
              <a:rPr dirty="0" sz="2200" spc="-5">
                <a:latin typeface="宋体"/>
                <a:cs typeface="宋体"/>
              </a:rPr>
              <a:t>顾客</a:t>
            </a:r>
            <a:r>
              <a:rPr dirty="0" sz="2200">
                <a:latin typeface="宋体"/>
                <a:cs typeface="宋体"/>
              </a:rPr>
              <a:t>希</a:t>
            </a:r>
            <a:r>
              <a:rPr dirty="0" sz="2200" spc="-5">
                <a:latin typeface="宋体"/>
                <a:cs typeface="宋体"/>
              </a:rPr>
              <a:t>望 </a:t>
            </a:r>
            <a:r>
              <a:rPr dirty="0" sz="2200" spc="-5">
                <a:latin typeface="宋体"/>
                <a:cs typeface="宋体"/>
              </a:rPr>
              <a:t>方便和功能性</a:t>
            </a:r>
            <a:endParaRPr sz="2200">
              <a:latin typeface="宋体"/>
              <a:cs typeface="宋体"/>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0429" y="472566"/>
            <a:ext cx="2263140" cy="696595"/>
          </a:xfrm>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7562"/>
            <a:ext cx="5619115" cy="390461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确定项目前景和范围</a:t>
            </a:r>
            <a:r>
              <a:rPr dirty="0" sz="3200" spc="-15">
                <a:latin typeface="宋体"/>
                <a:cs typeface="宋体"/>
              </a:rPr>
              <a:t>的</a:t>
            </a:r>
            <a:r>
              <a:rPr dirty="0" sz="3200">
                <a:latin typeface="宋体"/>
                <a:cs typeface="宋体"/>
              </a:rPr>
              <a:t>活动</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B2408"/>
                </a:solidFill>
                <a:latin typeface="宋体"/>
                <a:cs typeface="宋体"/>
              </a:rPr>
              <a:t>问题分析</a:t>
            </a:r>
            <a:endParaRPr sz="3200">
              <a:latin typeface="宋体"/>
              <a:cs typeface="宋体"/>
            </a:endParaRPr>
          </a:p>
          <a:p>
            <a:pPr lvl="2" marL="1251585" indent="-895350">
              <a:lnSpc>
                <a:spcPct val="100000"/>
              </a:lnSpc>
              <a:spcBef>
                <a:spcPts val="690"/>
              </a:spcBef>
              <a:buFont typeface="Calibri"/>
              <a:buAutoNum type="arabicPeriod"/>
              <a:tabLst>
                <a:tab pos="1252220" algn="l"/>
              </a:tabLst>
            </a:pPr>
            <a:r>
              <a:rPr dirty="0" sz="2800" spc="-5">
                <a:solidFill>
                  <a:srgbClr val="FB2408"/>
                </a:solidFill>
                <a:latin typeface="宋体"/>
                <a:cs typeface="宋体"/>
              </a:rPr>
              <a:t>明确问题</a:t>
            </a:r>
            <a:endParaRPr sz="2800">
              <a:latin typeface="宋体"/>
              <a:cs typeface="宋体"/>
            </a:endParaRPr>
          </a:p>
          <a:p>
            <a:pPr lvl="2" marL="1251585" indent="-895350">
              <a:lnSpc>
                <a:spcPct val="100000"/>
              </a:lnSpc>
              <a:spcBef>
                <a:spcPts val="675"/>
              </a:spcBef>
              <a:buFont typeface="Calibri"/>
              <a:buAutoNum type="arabicPeriod"/>
              <a:tabLst>
                <a:tab pos="1252220" algn="l"/>
              </a:tabLst>
            </a:pPr>
            <a:r>
              <a:rPr dirty="0" sz="2800" spc="-5">
                <a:solidFill>
                  <a:srgbClr val="FB2408"/>
                </a:solidFill>
                <a:latin typeface="宋体"/>
                <a:cs typeface="宋体"/>
              </a:rPr>
              <a:t>发现业务需求</a:t>
            </a:r>
            <a:endParaRPr sz="2800">
              <a:latin typeface="宋体"/>
              <a:cs typeface="宋体"/>
            </a:endParaRPr>
          </a:p>
          <a:p>
            <a:pPr lvl="2" marL="1251585" indent="-895350">
              <a:lnSpc>
                <a:spcPct val="100000"/>
              </a:lnSpc>
              <a:spcBef>
                <a:spcPts val="670"/>
              </a:spcBef>
              <a:buFont typeface="Calibri"/>
              <a:buAutoNum type="arabicPeriod"/>
              <a:tabLst>
                <a:tab pos="1252220" algn="l"/>
              </a:tabLst>
            </a:pPr>
            <a:r>
              <a:rPr dirty="0" sz="2800" spc="-5">
                <a:solidFill>
                  <a:srgbClr val="FB2408"/>
                </a:solidFill>
                <a:latin typeface="宋体"/>
                <a:cs typeface="宋体"/>
              </a:rPr>
              <a:t>定义解决方案及系统特性</a:t>
            </a:r>
            <a:endParaRPr sz="2800">
              <a:latin typeface="宋体"/>
              <a:cs typeface="宋体"/>
            </a:endParaRPr>
          </a:p>
          <a:p>
            <a:pPr lvl="1" marL="724535" indent="-712470">
              <a:lnSpc>
                <a:spcPct val="100000"/>
              </a:lnSpc>
              <a:spcBef>
                <a:spcPts val="755"/>
              </a:spcBef>
              <a:buFont typeface="Calibri"/>
              <a:buAutoNum type="arabicPeriod"/>
              <a:tabLst>
                <a:tab pos="725170" algn="l"/>
              </a:tabLst>
            </a:pPr>
            <a:r>
              <a:rPr dirty="0" sz="3200">
                <a:latin typeface="宋体"/>
                <a:cs typeface="宋体"/>
              </a:rPr>
              <a:t>建立系统边界</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项目前景和范围文档</a:t>
            </a:r>
            <a:endParaRPr sz="3200">
              <a:latin typeface="宋体"/>
              <a:cs typeface="宋体"/>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7801" y="385318"/>
            <a:ext cx="3169285" cy="605155"/>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2.2.1.</a:t>
            </a:r>
            <a:r>
              <a:rPr dirty="0" sz="3800" spc="-75">
                <a:latin typeface="Calibri"/>
                <a:cs typeface="Calibri"/>
              </a:rPr>
              <a:t> </a:t>
            </a:r>
            <a:r>
              <a:rPr dirty="0" sz="3800"/>
              <a:t>明确问题</a:t>
            </a:r>
            <a:endParaRPr sz="3800">
              <a:latin typeface="Calibri"/>
              <a:cs typeface="Calibri"/>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3847"/>
            <a:ext cx="6807200" cy="2153920"/>
          </a:xfrm>
          <a:prstGeom prst="rect">
            <a:avLst/>
          </a:prstGeom>
        </p:spPr>
        <p:txBody>
          <a:bodyPr wrap="square" lIns="0" tIns="114300" rIns="0" bIns="0" rtlCol="0" vert="horz">
            <a:spAutoFit/>
          </a:bodyPr>
          <a:lstStyle/>
          <a:p>
            <a:pPr marL="355600" indent="-343535">
              <a:lnSpc>
                <a:spcPct val="100000"/>
              </a:lnSpc>
              <a:spcBef>
                <a:spcPts val="900"/>
              </a:spcBef>
              <a:buClr>
                <a:srgbClr val="00663B"/>
              </a:buClr>
              <a:buSzPct val="79687"/>
              <a:buFont typeface="Wingdings"/>
              <a:buChar char=""/>
              <a:tabLst>
                <a:tab pos="356235" algn="l"/>
              </a:tabLst>
            </a:pPr>
            <a:r>
              <a:rPr dirty="0" sz="3200">
                <a:latin typeface="宋体"/>
                <a:cs typeface="宋体"/>
              </a:rPr>
              <a:t>从问题域出发</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对问题达成共识</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收集背景资料，判断问题的明确性</a:t>
            </a:r>
            <a:endParaRPr sz="2800">
              <a:latin typeface="宋体"/>
              <a:cs typeface="宋体"/>
            </a:endParaRPr>
          </a:p>
          <a:p>
            <a:pPr lvl="1" marL="756285" indent="-287020">
              <a:lnSpc>
                <a:spcPct val="100000"/>
              </a:lnSpc>
              <a:spcBef>
                <a:spcPts val="670"/>
              </a:spcBef>
              <a:buClr>
                <a:srgbClr val="C00000"/>
              </a:buClr>
              <a:buSzPct val="58928"/>
              <a:buFont typeface="Wingdings"/>
              <a:buChar char=""/>
              <a:tabLst>
                <a:tab pos="756285" algn="l"/>
                <a:tab pos="756920" algn="l"/>
              </a:tabLst>
            </a:pPr>
            <a:r>
              <a:rPr dirty="0" sz="2800" spc="-5">
                <a:latin typeface="宋体"/>
                <a:cs typeface="宋体"/>
              </a:rPr>
              <a:t>分析不明确问题，发现问题背后的</a:t>
            </a:r>
            <a:r>
              <a:rPr dirty="0" sz="2800">
                <a:latin typeface="宋体"/>
                <a:cs typeface="宋体"/>
              </a:rPr>
              <a:t>问</a:t>
            </a:r>
            <a:r>
              <a:rPr dirty="0" sz="2800" spc="-5">
                <a:latin typeface="宋体"/>
                <a:cs typeface="宋体"/>
              </a:rPr>
              <a:t>题</a:t>
            </a:r>
            <a:endParaRPr sz="2800">
              <a:latin typeface="宋体"/>
              <a:cs typeface="宋体"/>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20517" y="95757"/>
            <a:ext cx="4820920" cy="1184910"/>
          </a:xfrm>
          <a:prstGeom prst="rect"/>
        </p:spPr>
        <p:txBody>
          <a:bodyPr wrap="square" lIns="0" tIns="12700" rIns="0" bIns="0" rtlCol="0" vert="horz">
            <a:spAutoFit/>
          </a:bodyPr>
          <a:lstStyle/>
          <a:p>
            <a:pPr marL="440690">
              <a:lnSpc>
                <a:spcPct val="100000"/>
              </a:lnSpc>
              <a:spcBef>
                <a:spcPts val="100"/>
              </a:spcBef>
            </a:pPr>
            <a:r>
              <a:rPr dirty="0" sz="3800">
                <a:latin typeface="Calibri"/>
                <a:cs typeface="Calibri"/>
              </a:rPr>
              <a:t>2.2.1</a:t>
            </a:r>
            <a:r>
              <a:rPr dirty="0" sz="3800" spc="-10">
                <a:latin typeface="Calibri"/>
                <a:cs typeface="Calibri"/>
              </a:rPr>
              <a:t> </a:t>
            </a:r>
            <a:r>
              <a:rPr dirty="0" sz="3800"/>
              <a:t>明确问题</a:t>
            </a:r>
            <a:endParaRPr sz="3800">
              <a:latin typeface="Calibri"/>
              <a:cs typeface="Calibri"/>
            </a:endParaRPr>
          </a:p>
          <a:p>
            <a:pPr marL="12700">
              <a:lnSpc>
                <a:spcPct val="100000"/>
              </a:lnSpc>
              <a:spcBef>
                <a:spcPts val="5"/>
              </a:spcBef>
            </a:pPr>
            <a:r>
              <a:rPr dirty="0" sz="3800" spc="-5">
                <a:latin typeface="Calibri"/>
                <a:cs typeface="Calibri"/>
              </a:rPr>
              <a:t>——(1)</a:t>
            </a:r>
            <a:r>
              <a:rPr dirty="0" sz="3800" spc="5"/>
              <a:t>对问题达</a:t>
            </a:r>
            <a:r>
              <a:rPr dirty="0" sz="3800" spc="-10"/>
              <a:t>成</a:t>
            </a:r>
            <a:r>
              <a:rPr dirty="0" sz="3800" spc="5"/>
              <a:t>共识</a:t>
            </a:r>
            <a:endParaRPr sz="3800">
              <a:latin typeface="Calibri"/>
              <a:cs typeface="Calibri"/>
            </a:endParaRPr>
          </a:p>
        </p:txBody>
      </p:sp>
      <p:sp>
        <p:nvSpPr>
          <p:cNvPr id="3" name="object 3"/>
          <p:cNvSpPr txBox="1"/>
          <p:nvPr/>
        </p:nvSpPr>
        <p:spPr>
          <a:xfrm>
            <a:off x="535940" y="1667375"/>
            <a:ext cx="4845050" cy="1128395"/>
          </a:xfrm>
          <a:prstGeom prst="rect">
            <a:avLst/>
          </a:prstGeom>
        </p:spPr>
        <p:txBody>
          <a:bodyPr wrap="square" lIns="0" tIns="113664" rIns="0" bIns="0" rtlCol="0" vert="horz">
            <a:spAutoFit/>
          </a:bodyPr>
          <a:lstStyle/>
          <a:p>
            <a:pPr marL="355600" indent="-343535">
              <a:lnSpc>
                <a:spcPct val="100000"/>
              </a:lnSpc>
              <a:spcBef>
                <a:spcPts val="894"/>
              </a:spcBef>
              <a:buFont typeface="Arial"/>
              <a:buChar char="•"/>
              <a:tabLst>
                <a:tab pos="355600" algn="l"/>
                <a:tab pos="356235" algn="l"/>
              </a:tabLst>
            </a:pPr>
            <a:r>
              <a:rPr dirty="0" sz="3200">
                <a:latin typeface="宋体"/>
                <a:cs typeface="宋体"/>
              </a:rPr>
              <a:t>采用标准化格式描述问题</a:t>
            </a:r>
            <a:endParaRPr sz="3200">
              <a:latin typeface="宋体"/>
              <a:cs typeface="宋体"/>
            </a:endParaRPr>
          </a:p>
          <a:p>
            <a:pPr marL="469900">
              <a:lnSpc>
                <a:spcPct val="100000"/>
              </a:lnSpc>
              <a:spcBef>
                <a:spcPts val="690"/>
              </a:spcBef>
            </a:pPr>
            <a:r>
              <a:rPr dirty="0" sz="2800" spc="-5">
                <a:latin typeface="Arial"/>
                <a:cs typeface="Arial"/>
              </a:rPr>
              <a:t>–</a:t>
            </a:r>
            <a:r>
              <a:rPr dirty="0" sz="2800" spc="-90">
                <a:latin typeface="Arial"/>
                <a:cs typeface="Arial"/>
              </a:rPr>
              <a:t> </a:t>
            </a:r>
            <a:r>
              <a:rPr dirty="0" sz="2800" spc="-5">
                <a:latin typeface="宋体"/>
                <a:cs typeface="宋体"/>
              </a:rPr>
              <a:t>在涉众之间取得认同</a:t>
            </a:r>
            <a:endParaRPr sz="2800">
              <a:latin typeface="宋体"/>
              <a:cs typeface="宋体"/>
            </a:endParaRPr>
          </a:p>
        </p:txBody>
      </p:sp>
      <p:graphicFrame>
        <p:nvGraphicFramePr>
          <p:cNvPr id="4" name="object 4"/>
          <p:cNvGraphicFramePr>
            <a:graphicFrameLocks noGrp="1"/>
          </p:cNvGraphicFramePr>
          <p:nvPr/>
        </p:nvGraphicFramePr>
        <p:xfrm>
          <a:off x="823912" y="3033712"/>
          <a:ext cx="7434580" cy="2466975"/>
        </p:xfrm>
        <a:graphic>
          <a:graphicData uri="http://schemas.openxmlformats.org/drawingml/2006/table">
            <a:tbl>
              <a:tblPr firstRow="1" bandRow="1">
                <a:tableStyleId>{2D5ABB26-0587-4C30-8999-92F81FD0307C}</a:tableStyleId>
              </a:tblPr>
              <a:tblGrid>
                <a:gridCol w="2016125"/>
                <a:gridCol w="5375275"/>
              </a:tblGrid>
              <a:tr h="508000">
                <a:tc>
                  <a:txBody>
                    <a:bodyPr/>
                    <a:lstStyle/>
                    <a:p>
                      <a:pPr marL="91440">
                        <a:lnSpc>
                          <a:spcPct val="100000"/>
                        </a:lnSpc>
                        <a:spcBef>
                          <a:spcPts val="330"/>
                        </a:spcBef>
                      </a:pPr>
                      <a:r>
                        <a:rPr dirty="0" sz="2400" spc="-5">
                          <a:latin typeface="宋体"/>
                          <a:cs typeface="宋体"/>
                        </a:rPr>
                        <a:t>元素</a:t>
                      </a:r>
                      <a:endParaRPr sz="2400">
                        <a:latin typeface="宋体"/>
                        <a:cs typeface="宋体"/>
                      </a:endParaRPr>
                    </a:p>
                  </a:txBody>
                  <a:tcPr marL="0" marR="0" marB="0" marT="4191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1440">
                        <a:lnSpc>
                          <a:spcPct val="100000"/>
                        </a:lnSpc>
                        <a:spcBef>
                          <a:spcPts val="330"/>
                        </a:spcBef>
                      </a:pPr>
                      <a:r>
                        <a:rPr dirty="0" sz="2400" spc="-5">
                          <a:latin typeface="宋体"/>
                          <a:cs typeface="宋体"/>
                        </a:rPr>
                        <a:t>内容</a:t>
                      </a:r>
                      <a:endParaRPr sz="2400">
                        <a:latin typeface="宋体"/>
                        <a:cs typeface="宋体"/>
                      </a:endParaRPr>
                    </a:p>
                  </a:txBody>
                  <a:tcPr marL="0" marR="0" marB="0" marT="4191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tr>
              <a:tr h="1930400">
                <a:tc>
                  <a:txBody>
                    <a:bodyPr/>
                    <a:lstStyle/>
                    <a:p>
                      <a:pPr marL="91440">
                        <a:lnSpc>
                          <a:spcPct val="100000"/>
                        </a:lnSpc>
                        <a:spcBef>
                          <a:spcPts val="305"/>
                        </a:spcBef>
                      </a:pPr>
                      <a:r>
                        <a:rPr dirty="0" sz="2400">
                          <a:latin typeface="Arial"/>
                          <a:cs typeface="Arial"/>
                        </a:rPr>
                        <a:t>ID</a:t>
                      </a:r>
                      <a:endParaRPr sz="2400">
                        <a:latin typeface="Arial"/>
                        <a:cs typeface="Arial"/>
                      </a:endParaRPr>
                    </a:p>
                    <a:p>
                      <a:pPr algn="just" marL="91440" marR="1306830">
                        <a:lnSpc>
                          <a:spcPct val="100000"/>
                        </a:lnSpc>
                        <a:spcBef>
                          <a:spcPts val="25"/>
                        </a:spcBef>
                      </a:pPr>
                      <a:r>
                        <a:rPr dirty="0" sz="2400">
                          <a:latin typeface="宋体"/>
                          <a:cs typeface="宋体"/>
                        </a:rPr>
                        <a:t>问题 涉众 影响 </a:t>
                      </a:r>
                      <a:r>
                        <a:rPr dirty="0" sz="2400" spc="-5">
                          <a:latin typeface="宋体"/>
                          <a:cs typeface="宋体"/>
                        </a:rPr>
                        <a:t>解决</a:t>
                      </a:r>
                      <a:endParaRPr sz="2400">
                        <a:latin typeface="宋体"/>
                        <a:cs typeface="宋体"/>
                      </a:endParaRPr>
                    </a:p>
                  </a:txBody>
                  <a:tcPr marL="0" marR="0" marB="0" marT="38735">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a:lnSpc>
                          <a:spcPct val="100000"/>
                        </a:lnSpc>
                        <a:spcBef>
                          <a:spcPts val="330"/>
                        </a:spcBef>
                      </a:pPr>
                      <a:r>
                        <a:rPr dirty="0" sz="2400" spc="-5">
                          <a:latin typeface="宋体"/>
                          <a:cs typeface="宋体"/>
                        </a:rPr>
                        <a:t>问题标识</a:t>
                      </a:r>
                      <a:endParaRPr sz="2400">
                        <a:latin typeface="宋体"/>
                        <a:cs typeface="宋体"/>
                      </a:endParaRPr>
                    </a:p>
                    <a:p>
                      <a:pPr marL="91440">
                        <a:lnSpc>
                          <a:spcPct val="100000"/>
                        </a:lnSpc>
                      </a:pPr>
                      <a:r>
                        <a:rPr dirty="0" sz="2400">
                          <a:latin typeface="宋体"/>
                          <a:cs typeface="宋体"/>
                        </a:rPr>
                        <a:t>问题描述</a:t>
                      </a:r>
                      <a:endParaRPr sz="2400">
                        <a:latin typeface="宋体"/>
                        <a:cs typeface="宋体"/>
                      </a:endParaRPr>
                    </a:p>
                    <a:p>
                      <a:pPr marL="91440">
                        <a:lnSpc>
                          <a:spcPct val="100000"/>
                        </a:lnSpc>
                      </a:pPr>
                      <a:r>
                        <a:rPr dirty="0" sz="2400">
                          <a:latin typeface="宋体"/>
                          <a:cs typeface="宋体"/>
                        </a:rPr>
                        <a:t>受问题影响的风险承担人</a:t>
                      </a:r>
                      <a:endParaRPr sz="2400">
                        <a:latin typeface="宋体"/>
                        <a:cs typeface="宋体"/>
                      </a:endParaRPr>
                    </a:p>
                    <a:p>
                      <a:pPr marL="91440" marR="398780">
                        <a:lnSpc>
                          <a:spcPct val="100000"/>
                        </a:lnSpc>
                      </a:pPr>
                      <a:r>
                        <a:rPr dirty="0" sz="2400">
                          <a:latin typeface="宋体"/>
                          <a:cs typeface="宋体"/>
                        </a:rPr>
                        <a:t>问题对风险承担人和业务活动的影响 </a:t>
                      </a:r>
                      <a:r>
                        <a:rPr dirty="0" sz="2400" spc="-5">
                          <a:latin typeface="宋体"/>
                          <a:cs typeface="宋体"/>
                        </a:rPr>
                        <a:t>指出可能的解决方案及主要优点</a:t>
                      </a:r>
                      <a:endParaRPr sz="2400">
                        <a:latin typeface="宋体"/>
                        <a:cs typeface="宋体"/>
                      </a:endParaRPr>
                    </a:p>
                  </a:txBody>
                  <a:tcPr marL="0" marR="0" marB="0" marT="4191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20517" y="95757"/>
            <a:ext cx="4820920" cy="1184910"/>
          </a:xfrm>
          <a:prstGeom prst="rect"/>
        </p:spPr>
        <p:txBody>
          <a:bodyPr wrap="square" lIns="0" tIns="12700" rIns="0" bIns="0" rtlCol="0" vert="horz">
            <a:spAutoFit/>
          </a:bodyPr>
          <a:lstStyle/>
          <a:p>
            <a:pPr marL="440690">
              <a:lnSpc>
                <a:spcPct val="100000"/>
              </a:lnSpc>
              <a:spcBef>
                <a:spcPts val="100"/>
              </a:spcBef>
            </a:pPr>
            <a:r>
              <a:rPr dirty="0" sz="3800">
                <a:latin typeface="Calibri"/>
                <a:cs typeface="Calibri"/>
              </a:rPr>
              <a:t>2.2.1</a:t>
            </a:r>
            <a:r>
              <a:rPr dirty="0" sz="3800" spc="-10">
                <a:latin typeface="Calibri"/>
                <a:cs typeface="Calibri"/>
              </a:rPr>
              <a:t> </a:t>
            </a:r>
            <a:r>
              <a:rPr dirty="0" sz="3800"/>
              <a:t>明确问题</a:t>
            </a:r>
            <a:endParaRPr sz="3800">
              <a:latin typeface="Calibri"/>
              <a:cs typeface="Calibri"/>
            </a:endParaRPr>
          </a:p>
          <a:p>
            <a:pPr marL="12700">
              <a:lnSpc>
                <a:spcPct val="100000"/>
              </a:lnSpc>
              <a:spcBef>
                <a:spcPts val="5"/>
              </a:spcBef>
            </a:pPr>
            <a:r>
              <a:rPr dirty="0" sz="3800" spc="-5">
                <a:latin typeface="Calibri"/>
                <a:cs typeface="Calibri"/>
              </a:rPr>
              <a:t>——(1)</a:t>
            </a:r>
            <a:r>
              <a:rPr dirty="0" sz="3800" spc="5"/>
              <a:t>对问题达</a:t>
            </a:r>
            <a:r>
              <a:rPr dirty="0" sz="3800" spc="-10"/>
              <a:t>成</a:t>
            </a:r>
            <a:r>
              <a:rPr dirty="0" sz="3800" spc="5"/>
              <a:t>共识</a:t>
            </a:r>
            <a:endParaRPr sz="3800">
              <a:latin typeface="Calibri"/>
              <a:cs typeface="Calibri"/>
            </a:endParaRPr>
          </a:p>
        </p:txBody>
      </p:sp>
      <p:sp>
        <p:nvSpPr>
          <p:cNvPr id="3" name="object 3"/>
          <p:cNvSpPr txBox="1"/>
          <p:nvPr/>
        </p:nvSpPr>
        <p:spPr>
          <a:xfrm>
            <a:off x="535940" y="1667375"/>
            <a:ext cx="4845050" cy="1128395"/>
          </a:xfrm>
          <a:prstGeom prst="rect">
            <a:avLst/>
          </a:prstGeom>
        </p:spPr>
        <p:txBody>
          <a:bodyPr wrap="square" lIns="0" tIns="113664" rIns="0" bIns="0" rtlCol="0" vert="horz">
            <a:spAutoFit/>
          </a:bodyPr>
          <a:lstStyle/>
          <a:p>
            <a:pPr marL="355600" indent="-343535">
              <a:lnSpc>
                <a:spcPct val="100000"/>
              </a:lnSpc>
              <a:spcBef>
                <a:spcPts val="894"/>
              </a:spcBef>
              <a:buFont typeface="Arial"/>
              <a:buChar char="•"/>
              <a:tabLst>
                <a:tab pos="355600" algn="l"/>
                <a:tab pos="356235" algn="l"/>
              </a:tabLst>
            </a:pPr>
            <a:r>
              <a:rPr dirty="0" sz="3200">
                <a:latin typeface="宋体"/>
                <a:cs typeface="宋体"/>
              </a:rPr>
              <a:t>采用标准化格式描述问题</a:t>
            </a:r>
            <a:endParaRPr sz="3200">
              <a:latin typeface="宋体"/>
              <a:cs typeface="宋体"/>
            </a:endParaRPr>
          </a:p>
          <a:p>
            <a:pPr marL="469900">
              <a:lnSpc>
                <a:spcPct val="100000"/>
              </a:lnSpc>
              <a:spcBef>
                <a:spcPts val="690"/>
              </a:spcBef>
            </a:pPr>
            <a:r>
              <a:rPr dirty="0" sz="2800" spc="-5">
                <a:latin typeface="Arial"/>
                <a:cs typeface="Arial"/>
              </a:rPr>
              <a:t>–</a:t>
            </a:r>
            <a:r>
              <a:rPr dirty="0" sz="2800" spc="-85">
                <a:latin typeface="Arial"/>
                <a:cs typeface="Arial"/>
              </a:rPr>
              <a:t> </a:t>
            </a:r>
            <a:r>
              <a:rPr dirty="0" sz="2800" spc="-5">
                <a:latin typeface="宋体"/>
                <a:cs typeface="宋体"/>
              </a:rPr>
              <a:t>实例</a:t>
            </a:r>
            <a:endParaRPr sz="2800">
              <a:latin typeface="宋体"/>
              <a:cs typeface="宋体"/>
            </a:endParaRPr>
          </a:p>
        </p:txBody>
      </p:sp>
      <p:sp>
        <p:nvSpPr>
          <p:cNvPr id="4" name="object 4"/>
          <p:cNvSpPr/>
          <p:nvPr/>
        </p:nvSpPr>
        <p:spPr>
          <a:xfrm>
            <a:off x="457200" y="3204972"/>
            <a:ext cx="8306177" cy="2543555"/>
          </a:xfrm>
          <a:prstGeom prst="rect">
            <a:avLst/>
          </a:prstGeom>
          <a:blipFill>
            <a:blip r:embed="rId2" cstate="print"/>
            <a:stretch>
              <a:fillRect/>
            </a:stretch>
          </a:blipFill>
        </p:spPr>
        <p:txBody>
          <a:bodyPr wrap="square" lIns="0" tIns="0" rIns="0" bIns="0" rtlCol="0"/>
          <a:lstStyl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8760" y="95757"/>
            <a:ext cx="5504180" cy="1184910"/>
          </a:xfrm>
          <a:prstGeom prst="rect"/>
        </p:spPr>
        <p:txBody>
          <a:bodyPr wrap="square" lIns="0" tIns="12700" rIns="0" bIns="0" rtlCol="0" vert="horz">
            <a:spAutoFit/>
          </a:bodyPr>
          <a:lstStyle/>
          <a:p>
            <a:pPr marL="782320">
              <a:lnSpc>
                <a:spcPct val="100000"/>
              </a:lnSpc>
              <a:spcBef>
                <a:spcPts val="100"/>
              </a:spcBef>
            </a:pPr>
            <a:r>
              <a:rPr dirty="0" sz="3800">
                <a:latin typeface="Calibri"/>
                <a:cs typeface="Calibri"/>
              </a:rPr>
              <a:t>2.2.1</a:t>
            </a:r>
            <a:r>
              <a:rPr dirty="0" sz="3800" spc="-5">
                <a:latin typeface="Calibri"/>
                <a:cs typeface="Calibri"/>
              </a:rPr>
              <a:t> </a:t>
            </a:r>
            <a:r>
              <a:rPr dirty="0" sz="3800"/>
              <a:t>明确问题</a:t>
            </a:r>
            <a:endParaRPr sz="3800">
              <a:latin typeface="Calibri"/>
              <a:cs typeface="Calibri"/>
            </a:endParaRPr>
          </a:p>
          <a:p>
            <a:pPr marL="12700">
              <a:lnSpc>
                <a:spcPct val="100000"/>
              </a:lnSpc>
              <a:spcBef>
                <a:spcPts val="5"/>
              </a:spcBef>
            </a:pPr>
            <a:r>
              <a:rPr dirty="0" sz="3800">
                <a:latin typeface="Arial"/>
                <a:cs typeface="Arial"/>
              </a:rPr>
              <a:t>——</a:t>
            </a:r>
            <a:r>
              <a:rPr dirty="0" sz="3800">
                <a:latin typeface="Calibri"/>
                <a:cs typeface="Calibri"/>
              </a:rPr>
              <a:t>(2)</a:t>
            </a:r>
            <a:r>
              <a:rPr dirty="0" sz="3800" spc="-95">
                <a:latin typeface="Calibri"/>
                <a:cs typeface="Calibri"/>
              </a:rPr>
              <a:t> </a:t>
            </a:r>
            <a:r>
              <a:rPr dirty="0" sz="3800" spc="5"/>
              <a:t>判断问题的明确性</a:t>
            </a:r>
            <a:endParaRPr sz="3800">
              <a:latin typeface="Calibri"/>
              <a:cs typeface="Calibri"/>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213156" y="1513847"/>
            <a:ext cx="8711565" cy="4463415"/>
          </a:xfrm>
          <a:prstGeom prst="rect">
            <a:avLst/>
          </a:prstGeom>
        </p:spPr>
        <p:txBody>
          <a:bodyPr wrap="square" lIns="0" tIns="114300" rIns="0" bIns="0" rtlCol="0" vert="horz">
            <a:spAutoFit/>
          </a:bodyPr>
          <a:lstStyle/>
          <a:p>
            <a:pPr algn="just" marL="355600" indent="-343535">
              <a:lnSpc>
                <a:spcPct val="100000"/>
              </a:lnSpc>
              <a:spcBef>
                <a:spcPts val="900"/>
              </a:spcBef>
              <a:buClr>
                <a:srgbClr val="00663B"/>
              </a:buClr>
              <a:buSzPct val="79687"/>
              <a:buFont typeface="Wingdings"/>
              <a:buChar char=""/>
              <a:tabLst>
                <a:tab pos="356235" algn="l"/>
              </a:tabLst>
            </a:pPr>
            <a:r>
              <a:rPr dirty="0" sz="3200">
                <a:latin typeface="宋体"/>
                <a:cs typeface="宋体"/>
              </a:rPr>
              <a:t>问题的明确性要求它们</a:t>
            </a:r>
            <a:r>
              <a:rPr dirty="0" sz="3200" spc="-15">
                <a:latin typeface="宋体"/>
                <a:cs typeface="宋体"/>
              </a:rPr>
              <a:t>具</a:t>
            </a:r>
            <a:r>
              <a:rPr dirty="0" sz="3200">
                <a:latin typeface="宋体"/>
                <a:cs typeface="宋体"/>
              </a:rPr>
              <a:t>备一</a:t>
            </a:r>
            <a:r>
              <a:rPr dirty="0" sz="3200" spc="-15">
                <a:latin typeface="宋体"/>
                <a:cs typeface="宋体"/>
              </a:rPr>
              <a:t>下</a:t>
            </a:r>
            <a:r>
              <a:rPr dirty="0" sz="3200">
                <a:latin typeface="宋体"/>
                <a:cs typeface="宋体"/>
              </a:rPr>
              <a:t>两点：</a:t>
            </a:r>
            <a:endParaRPr sz="3200">
              <a:latin typeface="宋体"/>
              <a:cs typeface="宋体"/>
            </a:endParaRPr>
          </a:p>
          <a:p>
            <a:pPr algn="just" lvl="1" marL="756285" indent="-287020">
              <a:lnSpc>
                <a:spcPct val="100000"/>
              </a:lnSpc>
              <a:spcBef>
                <a:spcPts val="690"/>
              </a:spcBef>
              <a:buClr>
                <a:srgbClr val="C00000"/>
              </a:buClr>
              <a:buSzPct val="58928"/>
              <a:buFont typeface="Wingdings"/>
              <a:buChar char=""/>
              <a:tabLst>
                <a:tab pos="756920" algn="l"/>
              </a:tabLst>
            </a:pPr>
            <a:r>
              <a:rPr dirty="0" sz="2800" spc="-5">
                <a:latin typeface="宋体"/>
                <a:cs typeface="宋体"/>
              </a:rPr>
              <a:t>易于理解；</a:t>
            </a:r>
            <a:endParaRPr sz="2800">
              <a:latin typeface="宋体"/>
              <a:cs typeface="宋体"/>
            </a:endParaRPr>
          </a:p>
          <a:p>
            <a:pPr algn="just" lvl="2" marL="1155700" indent="-229235">
              <a:lnSpc>
                <a:spcPct val="100000"/>
              </a:lnSpc>
              <a:spcBef>
                <a:spcPts val="495"/>
              </a:spcBef>
              <a:buFont typeface="Arial"/>
              <a:buChar char="•"/>
              <a:tabLst>
                <a:tab pos="1156335" algn="l"/>
              </a:tabLst>
            </a:pPr>
            <a:r>
              <a:rPr dirty="0" sz="2400" spc="-5" i="1">
                <a:latin typeface="Calibri"/>
                <a:cs typeface="Calibri"/>
              </a:rPr>
              <a:t>P1.</a:t>
            </a:r>
            <a:r>
              <a:rPr dirty="0" sz="2400" spc="-20" i="1">
                <a:latin typeface="Calibri"/>
                <a:cs typeface="Calibri"/>
              </a:rPr>
              <a:t> </a:t>
            </a:r>
            <a:r>
              <a:rPr dirty="0" sz="2500" spc="-100" i="1">
                <a:latin typeface="宋体"/>
                <a:cs typeface="宋体"/>
              </a:rPr>
              <a:t>图书管理员：图书总是无法上架。</a:t>
            </a:r>
            <a:endParaRPr sz="2500">
              <a:latin typeface="宋体"/>
              <a:cs typeface="宋体"/>
            </a:endParaRPr>
          </a:p>
          <a:p>
            <a:pPr algn="just" lvl="2" marL="1156335" marR="5080" indent="-1156335">
              <a:lnSpc>
                <a:spcPct val="115199"/>
              </a:lnSpc>
              <a:buFont typeface="Arial"/>
              <a:buChar char="•"/>
              <a:tabLst>
                <a:tab pos="1156335" algn="l"/>
              </a:tabLst>
            </a:pPr>
            <a:r>
              <a:rPr dirty="0" sz="2400" spc="-5" i="1">
                <a:solidFill>
                  <a:srgbClr val="00A15F"/>
                </a:solidFill>
                <a:latin typeface="Calibri"/>
                <a:cs typeface="Calibri"/>
              </a:rPr>
              <a:t>P2.</a:t>
            </a:r>
            <a:r>
              <a:rPr dirty="0" sz="2400" spc="-35" i="1">
                <a:solidFill>
                  <a:srgbClr val="00A15F"/>
                </a:solidFill>
                <a:latin typeface="Calibri"/>
                <a:cs typeface="Calibri"/>
              </a:rPr>
              <a:t> </a:t>
            </a:r>
            <a:r>
              <a:rPr dirty="0" sz="2500" spc="-105" i="1">
                <a:solidFill>
                  <a:srgbClr val="00A15F"/>
                </a:solidFill>
                <a:latin typeface="宋体"/>
                <a:cs typeface="宋体"/>
              </a:rPr>
              <a:t>图书管理员：图书的内容分类不合适，无法分类上架 </a:t>
            </a:r>
            <a:r>
              <a:rPr dirty="0" sz="2500" spc="-100" i="1">
                <a:solidFill>
                  <a:srgbClr val="00A15F"/>
                </a:solidFill>
                <a:latin typeface="宋体"/>
                <a:cs typeface="宋体"/>
              </a:rPr>
              <a:t>图书上架的工作太繁杂，导致来不及上架。 图书的借阅不遵守章程，不能保证上架。</a:t>
            </a:r>
            <a:endParaRPr sz="2500">
              <a:latin typeface="宋体"/>
              <a:cs typeface="宋体"/>
            </a:endParaRPr>
          </a:p>
          <a:p>
            <a:pPr algn="just" lvl="2" marL="1155700" indent="-229235">
              <a:lnSpc>
                <a:spcPct val="100000"/>
              </a:lnSpc>
              <a:spcBef>
                <a:spcPts val="455"/>
              </a:spcBef>
              <a:buFont typeface="Arial"/>
              <a:buChar char="•"/>
              <a:tabLst>
                <a:tab pos="1156335" algn="l"/>
              </a:tabLst>
            </a:pPr>
            <a:r>
              <a:rPr dirty="0" sz="2400" spc="-5" i="1">
                <a:latin typeface="Calibri"/>
                <a:cs typeface="Calibri"/>
              </a:rPr>
              <a:t>P3.</a:t>
            </a:r>
            <a:r>
              <a:rPr dirty="0" sz="2400" spc="-20" i="1">
                <a:latin typeface="Calibri"/>
                <a:cs typeface="Calibri"/>
              </a:rPr>
              <a:t> </a:t>
            </a:r>
            <a:r>
              <a:rPr dirty="0" sz="2500" spc="-105" i="1">
                <a:latin typeface="宋体"/>
                <a:cs typeface="宋体"/>
              </a:rPr>
              <a:t>生产的废品过多。</a:t>
            </a:r>
            <a:endParaRPr sz="2500">
              <a:latin typeface="宋体"/>
              <a:cs typeface="宋体"/>
            </a:endParaRPr>
          </a:p>
          <a:p>
            <a:pPr algn="just" lvl="1" marL="756285" indent="-287020">
              <a:lnSpc>
                <a:spcPct val="100000"/>
              </a:lnSpc>
              <a:spcBef>
                <a:spcPts val="640"/>
              </a:spcBef>
              <a:buClr>
                <a:srgbClr val="C00000"/>
              </a:buClr>
              <a:buSzPct val="58928"/>
              <a:buFont typeface="Wingdings"/>
              <a:buChar char=""/>
              <a:tabLst>
                <a:tab pos="756920" algn="l"/>
              </a:tabLst>
            </a:pPr>
            <a:r>
              <a:rPr dirty="0" sz="2800" spc="-5">
                <a:latin typeface="宋体"/>
                <a:cs typeface="宋体"/>
              </a:rPr>
              <a:t>能指明解决的方向</a:t>
            </a:r>
            <a:endParaRPr sz="2800">
              <a:latin typeface="宋体"/>
              <a:cs typeface="宋体"/>
            </a:endParaRPr>
          </a:p>
          <a:p>
            <a:pPr algn="ctr" marR="29845">
              <a:lnSpc>
                <a:spcPct val="100000"/>
              </a:lnSpc>
              <a:spcBef>
                <a:spcPts val="1925"/>
              </a:spcBef>
            </a:pPr>
            <a:r>
              <a:rPr dirty="0" sz="2500" spc="-100" b="1" i="1">
                <a:solidFill>
                  <a:srgbClr val="C00000"/>
                </a:solidFill>
                <a:latin typeface="楷体"/>
                <a:cs typeface="楷体"/>
              </a:rPr>
              <a:t>判断标准：是否能够理解并解决</a:t>
            </a:r>
            <a:endParaRPr sz="2500">
              <a:latin typeface="楷体"/>
              <a:cs typeface="楷体"/>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6445" y="95757"/>
            <a:ext cx="5984875" cy="1184910"/>
          </a:xfrm>
          <a:prstGeom prst="rect"/>
        </p:spPr>
        <p:txBody>
          <a:bodyPr wrap="square" lIns="0" tIns="12700" rIns="0" bIns="0" rtlCol="0" vert="horz">
            <a:spAutoFit/>
          </a:bodyPr>
          <a:lstStyle/>
          <a:p>
            <a:pPr marL="1024890">
              <a:lnSpc>
                <a:spcPct val="100000"/>
              </a:lnSpc>
              <a:spcBef>
                <a:spcPts val="100"/>
              </a:spcBef>
            </a:pPr>
            <a:r>
              <a:rPr dirty="0" sz="3800">
                <a:latin typeface="Calibri"/>
                <a:cs typeface="Calibri"/>
              </a:rPr>
              <a:t>2.2.1</a:t>
            </a:r>
            <a:r>
              <a:rPr dirty="0" sz="3800" spc="-5">
                <a:latin typeface="Calibri"/>
                <a:cs typeface="Calibri"/>
              </a:rPr>
              <a:t> </a:t>
            </a:r>
            <a:r>
              <a:rPr dirty="0" sz="3800"/>
              <a:t>明确问题</a:t>
            </a:r>
            <a:endParaRPr sz="3800">
              <a:latin typeface="Calibri"/>
              <a:cs typeface="Calibri"/>
            </a:endParaRPr>
          </a:p>
          <a:p>
            <a:pPr marL="12700">
              <a:lnSpc>
                <a:spcPct val="100000"/>
              </a:lnSpc>
              <a:spcBef>
                <a:spcPts val="5"/>
              </a:spcBef>
            </a:pPr>
            <a:r>
              <a:rPr dirty="0" sz="3800">
                <a:latin typeface="Arial"/>
                <a:cs typeface="Arial"/>
              </a:rPr>
              <a:t>——</a:t>
            </a:r>
            <a:r>
              <a:rPr dirty="0" sz="3800">
                <a:latin typeface="Calibri"/>
                <a:cs typeface="Calibri"/>
              </a:rPr>
              <a:t>(3)</a:t>
            </a:r>
            <a:r>
              <a:rPr dirty="0" sz="3800" spc="-95">
                <a:latin typeface="Calibri"/>
                <a:cs typeface="Calibri"/>
              </a:rPr>
              <a:t> </a:t>
            </a:r>
            <a:r>
              <a:rPr dirty="0" sz="3800"/>
              <a:t>发现问题背后的问题</a:t>
            </a:r>
            <a:endParaRPr sz="3800">
              <a:latin typeface="Calibri"/>
              <a:cs typeface="Calibri"/>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3847"/>
            <a:ext cx="7162165" cy="2153920"/>
          </a:xfrm>
          <a:prstGeom prst="rect">
            <a:avLst/>
          </a:prstGeom>
        </p:spPr>
        <p:txBody>
          <a:bodyPr wrap="square" lIns="0" tIns="114300" rIns="0" bIns="0" rtlCol="0" vert="horz">
            <a:spAutoFit/>
          </a:bodyPr>
          <a:lstStyle/>
          <a:p>
            <a:pPr marL="355600" indent="-343535">
              <a:lnSpc>
                <a:spcPct val="100000"/>
              </a:lnSpc>
              <a:spcBef>
                <a:spcPts val="900"/>
              </a:spcBef>
              <a:buClr>
                <a:srgbClr val="00663B"/>
              </a:buClr>
              <a:buSzPct val="79687"/>
              <a:buFont typeface="Wingdings"/>
              <a:buChar char=""/>
              <a:tabLst>
                <a:tab pos="356235" algn="l"/>
              </a:tabLst>
            </a:pPr>
            <a:r>
              <a:rPr dirty="0" sz="3200">
                <a:latin typeface="宋体"/>
                <a:cs typeface="宋体"/>
              </a:rPr>
              <a:t>对于不明确的问题</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直接咨询涉众是第一选择</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利用收集的资料和业务数据是第二</a:t>
            </a:r>
            <a:r>
              <a:rPr dirty="0" sz="2800">
                <a:latin typeface="宋体"/>
                <a:cs typeface="宋体"/>
              </a:rPr>
              <a:t>选</a:t>
            </a:r>
            <a:r>
              <a:rPr dirty="0" sz="2800" spc="-5">
                <a:latin typeface="宋体"/>
                <a:cs typeface="宋体"/>
              </a:rPr>
              <a:t>择</a:t>
            </a:r>
            <a:endParaRPr sz="2800">
              <a:latin typeface="宋体"/>
              <a:cs typeface="宋体"/>
            </a:endParaRPr>
          </a:p>
          <a:p>
            <a:pPr lvl="1" marL="756285" indent="-287020">
              <a:lnSpc>
                <a:spcPct val="100000"/>
              </a:lnSpc>
              <a:spcBef>
                <a:spcPts val="670"/>
              </a:spcBef>
              <a:buClr>
                <a:srgbClr val="C00000"/>
              </a:buClr>
              <a:buSzPct val="58928"/>
              <a:buFont typeface="Wingdings"/>
              <a:buChar char=""/>
              <a:tabLst>
                <a:tab pos="756285" algn="l"/>
                <a:tab pos="756920" algn="l"/>
              </a:tabLst>
            </a:pPr>
            <a:r>
              <a:rPr dirty="0" sz="2800" spc="-5">
                <a:latin typeface="宋体"/>
                <a:cs typeface="宋体"/>
              </a:rPr>
              <a:t>必要时需要使用一些简单的问题分</a:t>
            </a:r>
            <a:r>
              <a:rPr dirty="0" sz="2800">
                <a:latin typeface="宋体"/>
                <a:cs typeface="宋体"/>
              </a:rPr>
              <a:t>析</a:t>
            </a:r>
            <a:r>
              <a:rPr dirty="0" sz="2800" spc="-5">
                <a:latin typeface="宋体"/>
                <a:cs typeface="宋体"/>
              </a:rPr>
              <a:t>技巧</a:t>
            </a:r>
            <a:endParaRPr sz="2800">
              <a:latin typeface="宋体"/>
              <a:cs typeface="宋体"/>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7029" y="95757"/>
            <a:ext cx="5784215" cy="1184910"/>
          </a:xfrm>
          <a:prstGeom prst="rect"/>
        </p:spPr>
        <p:txBody>
          <a:bodyPr wrap="square" lIns="0" tIns="12700" rIns="0" bIns="0" rtlCol="0" vert="horz">
            <a:spAutoFit/>
          </a:bodyPr>
          <a:lstStyle/>
          <a:p>
            <a:pPr marL="923925">
              <a:lnSpc>
                <a:spcPct val="100000"/>
              </a:lnSpc>
              <a:spcBef>
                <a:spcPts val="100"/>
              </a:spcBef>
            </a:pPr>
            <a:r>
              <a:rPr dirty="0" sz="3800">
                <a:latin typeface="Calibri"/>
                <a:cs typeface="Calibri"/>
              </a:rPr>
              <a:t>2.2.1</a:t>
            </a:r>
            <a:r>
              <a:rPr dirty="0" sz="3800" spc="-5">
                <a:latin typeface="Calibri"/>
                <a:cs typeface="Calibri"/>
              </a:rPr>
              <a:t> </a:t>
            </a:r>
            <a:r>
              <a:rPr dirty="0" sz="3800"/>
              <a:t>明确问题</a:t>
            </a:r>
            <a:endParaRPr sz="3800">
              <a:latin typeface="Calibri"/>
              <a:cs typeface="Calibri"/>
            </a:endParaRPr>
          </a:p>
          <a:p>
            <a:pPr marL="12700">
              <a:lnSpc>
                <a:spcPct val="100000"/>
              </a:lnSpc>
              <a:spcBef>
                <a:spcPts val="5"/>
              </a:spcBef>
            </a:pPr>
            <a:r>
              <a:rPr dirty="0" sz="3800" spc="5">
                <a:latin typeface="Calibri"/>
                <a:cs typeface="Calibri"/>
              </a:rPr>
              <a:t>—</a:t>
            </a:r>
            <a:r>
              <a:rPr dirty="0" sz="3800" spc="-5">
                <a:latin typeface="Calibri"/>
                <a:cs typeface="Calibri"/>
              </a:rPr>
              <a:t>—(3</a:t>
            </a:r>
            <a:r>
              <a:rPr dirty="0" sz="3800">
                <a:latin typeface="Calibri"/>
                <a:cs typeface="Calibri"/>
              </a:rPr>
              <a:t>)</a:t>
            </a:r>
            <a:r>
              <a:rPr dirty="0" sz="3800" spc="5"/>
              <a:t>发现深层</a:t>
            </a:r>
            <a:r>
              <a:rPr dirty="0" sz="3800" spc="-20"/>
              <a:t>问</a:t>
            </a:r>
            <a:r>
              <a:rPr dirty="0" sz="3800" spc="5"/>
              <a:t>题的</a:t>
            </a:r>
            <a:r>
              <a:rPr dirty="0" sz="3800" spc="-15"/>
              <a:t>示</a:t>
            </a:r>
            <a:r>
              <a:rPr dirty="0" sz="3800" spc="5"/>
              <a:t>例</a:t>
            </a:r>
            <a:endParaRPr sz="3800">
              <a:latin typeface="Calibri"/>
              <a:cs typeface="Calibri"/>
            </a:endParaRPr>
          </a:p>
        </p:txBody>
      </p:sp>
      <p:sp>
        <p:nvSpPr>
          <p:cNvPr id="3" name="object 3"/>
          <p:cNvSpPr txBox="1"/>
          <p:nvPr/>
        </p:nvSpPr>
        <p:spPr>
          <a:xfrm>
            <a:off x="535940" y="1602689"/>
            <a:ext cx="3837304" cy="3930650"/>
          </a:xfrm>
          <a:prstGeom prst="rect">
            <a:avLst/>
          </a:prstGeom>
        </p:spPr>
        <p:txBody>
          <a:bodyPr wrap="square" lIns="0" tIns="77470" rIns="0" bIns="0" rtlCol="0" vert="horz">
            <a:spAutoFit/>
          </a:bodyPr>
          <a:lstStyle/>
          <a:p>
            <a:pPr marL="355600" marR="165100" indent="-343535">
              <a:lnSpc>
                <a:spcPts val="2620"/>
              </a:lnSpc>
              <a:spcBef>
                <a:spcPts val="610"/>
              </a:spcBef>
              <a:buFont typeface="Arial"/>
              <a:buChar char="•"/>
              <a:tabLst>
                <a:tab pos="355600" algn="l"/>
                <a:tab pos="356235" algn="l"/>
              </a:tabLst>
            </a:pPr>
            <a:r>
              <a:rPr dirty="0" sz="2600">
                <a:latin typeface="宋体"/>
                <a:cs typeface="宋体"/>
              </a:rPr>
              <a:t>当前问题：</a:t>
            </a:r>
            <a:r>
              <a:rPr dirty="0" sz="2600" spc="5">
                <a:solidFill>
                  <a:srgbClr val="00A15F"/>
                </a:solidFill>
                <a:latin typeface="宋体"/>
                <a:cs typeface="宋体"/>
              </a:rPr>
              <a:t>产生了太多 </a:t>
            </a:r>
            <a:r>
              <a:rPr dirty="0" sz="2600">
                <a:solidFill>
                  <a:srgbClr val="00A15F"/>
                </a:solidFill>
                <a:latin typeface="宋体"/>
                <a:cs typeface="宋体"/>
              </a:rPr>
              <a:t>的废品</a:t>
            </a:r>
            <a:endParaRPr sz="2600">
              <a:latin typeface="宋体"/>
              <a:cs typeface="宋体"/>
            </a:endParaRPr>
          </a:p>
          <a:p>
            <a:pPr marL="355600" marR="166370" indent="-343535">
              <a:lnSpc>
                <a:spcPts val="2620"/>
              </a:lnSpc>
              <a:spcBef>
                <a:spcPts val="1000"/>
              </a:spcBef>
              <a:buFont typeface="Arial"/>
              <a:buChar char="•"/>
              <a:tabLst>
                <a:tab pos="355600" algn="l"/>
                <a:tab pos="356235" algn="l"/>
              </a:tabLst>
            </a:pPr>
            <a:r>
              <a:rPr dirty="0" sz="2600">
                <a:latin typeface="宋体"/>
                <a:cs typeface="宋体"/>
              </a:rPr>
              <a:t>进一步问题：产生太多 </a:t>
            </a:r>
            <a:r>
              <a:rPr dirty="0" sz="2600">
                <a:latin typeface="宋体"/>
                <a:cs typeface="宋体"/>
              </a:rPr>
              <a:t>废品的原因？</a:t>
            </a:r>
            <a:endParaRPr sz="2600">
              <a:latin typeface="宋体"/>
              <a:cs typeface="宋体"/>
            </a:endParaRPr>
          </a:p>
          <a:p>
            <a:pPr lvl="1" marL="756285" indent="-287020">
              <a:lnSpc>
                <a:spcPct val="100000"/>
              </a:lnSpc>
              <a:spcBef>
                <a:spcPts val="275"/>
              </a:spcBef>
              <a:buFont typeface="Arial"/>
              <a:buChar char="–"/>
              <a:tabLst>
                <a:tab pos="756285" algn="l"/>
                <a:tab pos="756920" algn="l"/>
              </a:tabLst>
            </a:pPr>
            <a:r>
              <a:rPr dirty="0" sz="2200" spc="-10">
                <a:latin typeface="宋体"/>
                <a:cs typeface="宋体"/>
              </a:rPr>
              <a:t>用图列出所有的可能原因</a:t>
            </a:r>
            <a:endParaRPr sz="2200">
              <a:latin typeface="宋体"/>
              <a:cs typeface="宋体"/>
            </a:endParaRPr>
          </a:p>
          <a:p>
            <a:pPr lvl="1" marL="756285" marR="5080" indent="-287020">
              <a:lnSpc>
                <a:spcPts val="2210"/>
              </a:lnSpc>
              <a:spcBef>
                <a:spcPts val="865"/>
              </a:spcBef>
              <a:buFont typeface="Arial"/>
              <a:buChar char="–"/>
              <a:tabLst>
                <a:tab pos="756285" algn="l"/>
                <a:tab pos="756920" algn="l"/>
              </a:tabLst>
            </a:pPr>
            <a:r>
              <a:rPr dirty="0" sz="2200" spc="-5">
                <a:latin typeface="宋体"/>
                <a:cs typeface="宋体"/>
              </a:rPr>
              <a:t>请用户确认（通常可以解 </a:t>
            </a:r>
            <a:r>
              <a:rPr dirty="0" sz="2200" spc="-5">
                <a:latin typeface="宋体"/>
                <a:cs typeface="宋体"/>
              </a:rPr>
              <a:t>决问题）</a:t>
            </a:r>
            <a:endParaRPr sz="2200">
              <a:latin typeface="宋体"/>
              <a:cs typeface="宋体"/>
            </a:endParaRPr>
          </a:p>
          <a:p>
            <a:pPr lvl="1" marL="756285" indent="-287020">
              <a:lnSpc>
                <a:spcPts val="2425"/>
              </a:lnSpc>
              <a:spcBef>
                <a:spcPts val="430"/>
              </a:spcBef>
              <a:buFont typeface="Arial"/>
              <a:buChar char="–"/>
              <a:tabLst>
                <a:tab pos="756285" algn="l"/>
                <a:tab pos="756920" algn="l"/>
              </a:tabLst>
            </a:pPr>
            <a:r>
              <a:rPr dirty="0" sz="2200" spc="-5">
                <a:latin typeface="宋体"/>
                <a:cs typeface="宋体"/>
              </a:rPr>
              <a:t>如果用户无法确认，则搜</a:t>
            </a:r>
            <a:endParaRPr sz="2200">
              <a:latin typeface="宋体"/>
              <a:cs typeface="宋体"/>
            </a:endParaRPr>
          </a:p>
          <a:p>
            <a:pPr marL="756285">
              <a:lnSpc>
                <a:spcPts val="2425"/>
              </a:lnSpc>
            </a:pPr>
            <a:r>
              <a:rPr dirty="0" sz="2200" spc="-10">
                <a:latin typeface="宋体"/>
                <a:cs typeface="宋体"/>
              </a:rPr>
              <a:t>集数据进行分析</a:t>
            </a:r>
            <a:endParaRPr sz="2200">
              <a:latin typeface="宋体"/>
              <a:cs typeface="宋体"/>
            </a:endParaRPr>
          </a:p>
          <a:p>
            <a:pPr lvl="1" marL="756285" marR="5080" indent="-287020">
              <a:lnSpc>
                <a:spcPts val="2210"/>
              </a:lnSpc>
              <a:spcBef>
                <a:spcPts val="865"/>
              </a:spcBef>
              <a:buFont typeface="Arial"/>
              <a:buChar char="–"/>
              <a:tabLst>
                <a:tab pos="756285" algn="l"/>
                <a:tab pos="756920" algn="l"/>
              </a:tabLst>
            </a:pPr>
            <a:r>
              <a:rPr dirty="0" sz="2200" spc="-5">
                <a:latin typeface="宋体"/>
                <a:cs typeface="宋体"/>
              </a:rPr>
              <a:t>重新定义新的问题（不准 </a:t>
            </a:r>
            <a:r>
              <a:rPr dirty="0" sz="2200" spc="-5">
                <a:latin typeface="宋体"/>
                <a:cs typeface="宋体"/>
              </a:rPr>
              <a:t>确的销售订单）</a:t>
            </a:r>
            <a:endParaRPr sz="2200">
              <a:latin typeface="宋体"/>
              <a:cs typeface="宋体"/>
            </a:endParaRPr>
          </a:p>
        </p:txBody>
      </p:sp>
      <p:sp>
        <p:nvSpPr>
          <p:cNvPr id="4" name="object 4"/>
          <p:cNvSpPr/>
          <p:nvPr/>
        </p:nvSpPr>
        <p:spPr>
          <a:xfrm>
            <a:off x="4757043" y="2392566"/>
            <a:ext cx="3709035" cy="0"/>
          </a:xfrm>
          <a:custGeom>
            <a:avLst/>
            <a:gdLst/>
            <a:ahLst/>
            <a:cxnLst/>
            <a:rect l="l" t="t" r="r" b="b"/>
            <a:pathLst>
              <a:path w="3709034" h="0">
                <a:moveTo>
                  <a:pt x="0" y="0"/>
                </a:moveTo>
                <a:lnTo>
                  <a:pt x="3708664" y="0"/>
                </a:lnTo>
              </a:path>
            </a:pathLst>
          </a:custGeom>
          <a:ln w="53051">
            <a:solidFill>
              <a:srgbClr val="4677BE"/>
            </a:solidFill>
          </a:ln>
        </p:spPr>
        <p:txBody>
          <a:bodyPr wrap="square" lIns="0" tIns="0" rIns="0" bIns="0" rtlCol="0"/>
          <a:lstStyle/>
          <a:p/>
        </p:txBody>
      </p:sp>
      <p:sp>
        <p:nvSpPr>
          <p:cNvPr id="5" name="object 5"/>
          <p:cNvSpPr/>
          <p:nvPr/>
        </p:nvSpPr>
        <p:spPr>
          <a:xfrm>
            <a:off x="8441603" y="2296666"/>
            <a:ext cx="289560" cy="192405"/>
          </a:xfrm>
          <a:custGeom>
            <a:avLst/>
            <a:gdLst/>
            <a:ahLst/>
            <a:cxnLst/>
            <a:rect l="l" t="t" r="r" b="b"/>
            <a:pathLst>
              <a:path w="289559" h="192405">
                <a:moveTo>
                  <a:pt x="0" y="0"/>
                </a:moveTo>
                <a:lnTo>
                  <a:pt x="0" y="191802"/>
                </a:lnTo>
                <a:lnTo>
                  <a:pt x="289258" y="95901"/>
                </a:lnTo>
                <a:lnTo>
                  <a:pt x="0" y="0"/>
                </a:lnTo>
                <a:close/>
              </a:path>
            </a:pathLst>
          </a:custGeom>
          <a:solidFill>
            <a:srgbClr val="4677BE"/>
          </a:solidFill>
        </p:spPr>
        <p:txBody>
          <a:bodyPr wrap="square" lIns="0" tIns="0" rIns="0" bIns="0" rtlCol="0"/>
          <a:lstStyle/>
          <a:p/>
        </p:txBody>
      </p:sp>
      <p:sp>
        <p:nvSpPr>
          <p:cNvPr id="6" name="object 6"/>
          <p:cNvSpPr/>
          <p:nvPr/>
        </p:nvSpPr>
        <p:spPr>
          <a:xfrm>
            <a:off x="4853975" y="1621380"/>
            <a:ext cx="581660" cy="771525"/>
          </a:xfrm>
          <a:custGeom>
            <a:avLst/>
            <a:gdLst/>
            <a:ahLst/>
            <a:cxnLst/>
            <a:rect l="l" t="t" r="r" b="b"/>
            <a:pathLst>
              <a:path w="581660" h="771525">
                <a:moveTo>
                  <a:pt x="0" y="0"/>
                </a:moveTo>
                <a:lnTo>
                  <a:pt x="581509" y="771187"/>
                </a:lnTo>
              </a:path>
            </a:pathLst>
          </a:custGeom>
          <a:ln w="4094">
            <a:solidFill>
              <a:srgbClr val="4677BE"/>
            </a:solidFill>
          </a:ln>
        </p:spPr>
        <p:txBody>
          <a:bodyPr wrap="square" lIns="0" tIns="0" rIns="0" bIns="0" rtlCol="0"/>
          <a:lstStyle/>
          <a:p/>
        </p:txBody>
      </p:sp>
      <p:sp>
        <p:nvSpPr>
          <p:cNvPr id="7" name="object 7"/>
          <p:cNvSpPr/>
          <p:nvPr/>
        </p:nvSpPr>
        <p:spPr>
          <a:xfrm>
            <a:off x="4591232" y="1917465"/>
            <a:ext cx="1094740" cy="179070"/>
          </a:xfrm>
          <a:custGeom>
            <a:avLst/>
            <a:gdLst/>
            <a:ahLst/>
            <a:cxnLst/>
            <a:rect l="l" t="t" r="r" b="b"/>
            <a:pathLst>
              <a:path w="1094739" h="179069">
                <a:moveTo>
                  <a:pt x="0" y="179032"/>
                </a:moveTo>
                <a:lnTo>
                  <a:pt x="1094122" y="179032"/>
                </a:lnTo>
                <a:lnTo>
                  <a:pt x="1094122" y="0"/>
                </a:lnTo>
                <a:lnTo>
                  <a:pt x="0" y="0"/>
                </a:lnTo>
                <a:lnTo>
                  <a:pt x="0" y="179032"/>
                </a:lnTo>
                <a:close/>
              </a:path>
            </a:pathLst>
          </a:custGeom>
          <a:solidFill>
            <a:srgbClr val="FFFFFF"/>
          </a:solidFill>
        </p:spPr>
        <p:txBody>
          <a:bodyPr wrap="square" lIns="0" tIns="0" rIns="0" bIns="0" rtlCol="0"/>
          <a:lstStyle/>
          <a:p/>
        </p:txBody>
      </p:sp>
      <p:sp>
        <p:nvSpPr>
          <p:cNvPr id="8" name="object 8"/>
          <p:cNvSpPr txBox="1"/>
          <p:nvPr/>
        </p:nvSpPr>
        <p:spPr>
          <a:xfrm>
            <a:off x="4584941" y="1902998"/>
            <a:ext cx="1120140" cy="189230"/>
          </a:xfrm>
          <a:prstGeom prst="rect">
            <a:avLst/>
          </a:prstGeom>
        </p:spPr>
        <p:txBody>
          <a:bodyPr wrap="square" lIns="0" tIns="15240" rIns="0" bIns="0" rtlCol="0" vert="horz">
            <a:spAutoFit/>
          </a:bodyPr>
          <a:lstStyle/>
          <a:p>
            <a:pPr marL="12700">
              <a:lnSpc>
                <a:spcPct val="100000"/>
              </a:lnSpc>
              <a:spcBef>
                <a:spcPts val="120"/>
              </a:spcBef>
            </a:pPr>
            <a:r>
              <a:rPr dirty="0" sz="1050" spc="25">
                <a:latin typeface="宋体"/>
                <a:cs typeface="宋体"/>
              </a:rPr>
              <a:t>不准确的销售订单</a:t>
            </a:r>
            <a:endParaRPr sz="1050">
              <a:latin typeface="宋体"/>
              <a:cs typeface="宋体"/>
            </a:endParaRPr>
          </a:p>
        </p:txBody>
      </p:sp>
      <p:sp>
        <p:nvSpPr>
          <p:cNvPr id="9" name="object 9"/>
          <p:cNvSpPr/>
          <p:nvPr/>
        </p:nvSpPr>
        <p:spPr>
          <a:xfrm>
            <a:off x="4853975" y="2392567"/>
            <a:ext cx="581660" cy="819785"/>
          </a:xfrm>
          <a:custGeom>
            <a:avLst/>
            <a:gdLst/>
            <a:ahLst/>
            <a:cxnLst/>
            <a:rect l="l" t="t" r="r" b="b"/>
            <a:pathLst>
              <a:path w="581660" h="819785">
                <a:moveTo>
                  <a:pt x="581508" y="0"/>
                </a:moveTo>
                <a:lnTo>
                  <a:pt x="0" y="819392"/>
                </a:lnTo>
              </a:path>
            </a:pathLst>
          </a:custGeom>
          <a:ln w="4095">
            <a:solidFill>
              <a:srgbClr val="4677BE"/>
            </a:solidFill>
          </a:ln>
        </p:spPr>
        <p:txBody>
          <a:bodyPr wrap="square" lIns="0" tIns="0" rIns="0" bIns="0" rtlCol="0"/>
          <a:lstStyle/>
          <a:p/>
        </p:txBody>
      </p:sp>
      <p:sp>
        <p:nvSpPr>
          <p:cNvPr id="10" name="object 10"/>
          <p:cNvSpPr/>
          <p:nvPr/>
        </p:nvSpPr>
        <p:spPr>
          <a:xfrm>
            <a:off x="4796380" y="2712747"/>
            <a:ext cx="683895" cy="179070"/>
          </a:xfrm>
          <a:custGeom>
            <a:avLst/>
            <a:gdLst/>
            <a:ahLst/>
            <a:cxnLst/>
            <a:rect l="l" t="t" r="r" b="b"/>
            <a:pathLst>
              <a:path w="683895" h="179069">
                <a:moveTo>
                  <a:pt x="0" y="179032"/>
                </a:moveTo>
                <a:lnTo>
                  <a:pt x="683826" y="179032"/>
                </a:lnTo>
                <a:lnTo>
                  <a:pt x="683826" y="0"/>
                </a:lnTo>
                <a:lnTo>
                  <a:pt x="0" y="0"/>
                </a:lnTo>
                <a:lnTo>
                  <a:pt x="0" y="179032"/>
                </a:lnTo>
                <a:close/>
              </a:path>
            </a:pathLst>
          </a:custGeom>
          <a:solidFill>
            <a:srgbClr val="FFFFFF"/>
          </a:solidFill>
        </p:spPr>
        <p:txBody>
          <a:bodyPr wrap="square" lIns="0" tIns="0" rIns="0" bIns="0" rtlCol="0"/>
          <a:lstStyle/>
          <a:p/>
        </p:txBody>
      </p:sp>
      <p:sp>
        <p:nvSpPr>
          <p:cNvPr id="11" name="object 11"/>
          <p:cNvSpPr txBox="1"/>
          <p:nvPr/>
        </p:nvSpPr>
        <p:spPr>
          <a:xfrm>
            <a:off x="4790091" y="2698296"/>
            <a:ext cx="709295" cy="189230"/>
          </a:xfrm>
          <a:prstGeom prst="rect">
            <a:avLst/>
          </a:prstGeom>
        </p:spPr>
        <p:txBody>
          <a:bodyPr wrap="square" lIns="0" tIns="15240" rIns="0" bIns="0" rtlCol="0" vert="horz">
            <a:spAutoFit/>
          </a:bodyPr>
          <a:lstStyle/>
          <a:p>
            <a:pPr marL="12700">
              <a:lnSpc>
                <a:spcPct val="100000"/>
              </a:lnSpc>
              <a:spcBef>
                <a:spcPts val="120"/>
              </a:spcBef>
            </a:pPr>
            <a:r>
              <a:rPr dirty="0" sz="1050" spc="25">
                <a:latin typeface="宋体"/>
                <a:cs typeface="宋体"/>
              </a:rPr>
              <a:t>制成品折旧</a:t>
            </a:r>
            <a:endParaRPr sz="1050">
              <a:latin typeface="宋体"/>
              <a:cs typeface="宋体"/>
            </a:endParaRPr>
          </a:p>
        </p:txBody>
      </p:sp>
      <p:sp>
        <p:nvSpPr>
          <p:cNvPr id="12" name="object 12"/>
          <p:cNvSpPr/>
          <p:nvPr/>
        </p:nvSpPr>
        <p:spPr>
          <a:xfrm>
            <a:off x="5871629" y="1621380"/>
            <a:ext cx="581660" cy="771525"/>
          </a:xfrm>
          <a:custGeom>
            <a:avLst/>
            <a:gdLst/>
            <a:ahLst/>
            <a:cxnLst/>
            <a:rect l="l" t="t" r="r" b="b"/>
            <a:pathLst>
              <a:path w="581660" h="771525">
                <a:moveTo>
                  <a:pt x="0" y="0"/>
                </a:moveTo>
                <a:lnTo>
                  <a:pt x="581577" y="771187"/>
                </a:lnTo>
              </a:path>
            </a:pathLst>
          </a:custGeom>
          <a:ln w="4094">
            <a:solidFill>
              <a:srgbClr val="4677BE"/>
            </a:solidFill>
          </a:ln>
        </p:spPr>
        <p:txBody>
          <a:bodyPr wrap="square" lIns="0" tIns="0" rIns="0" bIns="0" rtlCol="0"/>
          <a:lstStyle/>
          <a:p/>
        </p:txBody>
      </p:sp>
      <p:sp>
        <p:nvSpPr>
          <p:cNvPr id="13" name="object 13"/>
          <p:cNvSpPr txBox="1"/>
          <p:nvPr/>
        </p:nvSpPr>
        <p:spPr>
          <a:xfrm>
            <a:off x="5876127" y="1902998"/>
            <a:ext cx="572770" cy="189230"/>
          </a:xfrm>
          <a:prstGeom prst="rect">
            <a:avLst/>
          </a:prstGeom>
        </p:spPr>
        <p:txBody>
          <a:bodyPr wrap="square" lIns="0" tIns="15240" rIns="0" bIns="0" rtlCol="0" vert="horz">
            <a:spAutoFit/>
          </a:bodyPr>
          <a:lstStyle/>
          <a:p>
            <a:pPr marL="12700">
              <a:lnSpc>
                <a:spcPct val="100000"/>
              </a:lnSpc>
              <a:spcBef>
                <a:spcPts val="120"/>
              </a:spcBef>
            </a:pPr>
            <a:r>
              <a:rPr dirty="0" sz="1050" spc="25">
                <a:latin typeface="宋体"/>
                <a:cs typeface="宋体"/>
              </a:rPr>
              <a:t>运输损耗</a:t>
            </a:r>
            <a:endParaRPr sz="1050">
              <a:latin typeface="宋体"/>
              <a:cs typeface="宋体"/>
            </a:endParaRPr>
          </a:p>
        </p:txBody>
      </p:sp>
      <p:sp>
        <p:nvSpPr>
          <p:cNvPr id="14" name="object 14"/>
          <p:cNvSpPr/>
          <p:nvPr/>
        </p:nvSpPr>
        <p:spPr>
          <a:xfrm>
            <a:off x="5871629" y="2392567"/>
            <a:ext cx="581660" cy="819785"/>
          </a:xfrm>
          <a:custGeom>
            <a:avLst/>
            <a:gdLst/>
            <a:ahLst/>
            <a:cxnLst/>
            <a:rect l="l" t="t" r="r" b="b"/>
            <a:pathLst>
              <a:path w="581660" h="819785">
                <a:moveTo>
                  <a:pt x="581577" y="0"/>
                </a:moveTo>
                <a:lnTo>
                  <a:pt x="0" y="819392"/>
                </a:lnTo>
              </a:path>
            </a:pathLst>
          </a:custGeom>
          <a:ln w="4095">
            <a:solidFill>
              <a:srgbClr val="4677BE"/>
            </a:solidFill>
          </a:ln>
        </p:spPr>
        <p:txBody>
          <a:bodyPr wrap="square" lIns="0" tIns="0" rIns="0" bIns="0" rtlCol="0"/>
          <a:lstStyle/>
          <a:p/>
        </p:txBody>
      </p:sp>
      <p:sp>
        <p:nvSpPr>
          <p:cNvPr id="15" name="object 15"/>
          <p:cNvSpPr txBox="1"/>
          <p:nvPr/>
        </p:nvSpPr>
        <p:spPr>
          <a:xfrm>
            <a:off x="5876127" y="2698297"/>
            <a:ext cx="572770" cy="189230"/>
          </a:xfrm>
          <a:prstGeom prst="rect">
            <a:avLst/>
          </a:prstGeom>
        </p:spPr>
        <p:txBody>
          <a:bodyPr wrap="square" lIns="0" tIns="15240" rIns="0" bIns="0" rtlCol="0" vert="horz">
            <a:spAutoFit/>
          </a:bodyPr>
          <a:lstStyle/>
          <a:p>
            <a:pPr marL="12700">
              <a:lnSpc>
                <a:spcPct val="100000"/>
              </a:lnSpc>
              <a:spcBef>
                <a:spcPts val="120"/>
              </a:spcBef>
            </a:pPr>
            <a:r>
              <a:rPr dirty="0" sz="1050" spc="25">
                <a:latin typeface="宋体"/>
                <a:cs typeface="宋体"/>
              </a:rPr>
              <a:t>制造缺陷</a:t>
            </a:r>
            <a:endParaRPr sz="1050">
              <a:latin typeface="宋体"/>
              <a:cs typeface="宋体"/>
            </a:endParaRPr>
          </a:p>
        </p:txBody>
      </p:sp>
      <p:sp>
        <p:nvSpPr>
          <p:cNvPr id="16" name="object 16"/>
          <p:cNvSpPr/>
          <p:nvPr/>
        </p:nvSpPr>
        <p:spPr>
          <a:xfrm>
            <a:off x="6889316" y="1621380"/>
            <a:ext cx="581660" cy="771525"/>
          </a:xfrm>
          <a:custGeom>
            <a:avLst/>
            <a:gdLst/>
            <a:ahLst/>
            <a:cxnLst/>
            <a:rect l="l" t="t" r="r" b="b"/>
            <a:pathLst>
              <a:path w="581659" h="771525">
                <a:moveTo>
                  <a:pt x="0" y="0"/>
                </a:moveTo>
                <a:lnTo>
                  <a:pt x="581423" y="771187"/>
                </a:lnTo>
              </a:path>
            </a:pathLst>
          </a:custGeom>
          <a:ln w="4094">
            <a:solidFill>
              <a:srgbClr val="4677BE"/>
            </a:solidFill>
          </a:ln>
        </p:spPr>
        <p:txBody>
          <a:bodyPr wrap="square" lIns="0" tIns="0" rIns="0" bIns="0" rtlCol="0"/>
          <a:lstStyle/>
          <a:p/>
        </p:txBody>
      </p:sp>
      <p:sp>
        <p:nvSpPr>
          <p:cNvPr id="17" name="object 17"/>
          <p:cNvSpPr txBox="1"/>
          <p:nvPr/>
        </p:nvSpPr>
        <p:spPr>
          <a:xfrm>
            <a:off x="6893712" y="1902998"/>
            <a:ext cx="572770" cy="189230"/>
          </a:xfrm>
          <a:prstGeom prst="rect">
            <a:avLst/>
          </a:prstGeom>
        </p:spPr>
        <p:txBody>
          <a:bodyPr wrap="square" lIns="0" tIns="15240" rIns="0" bIns="0" rtlCol="0" vert="horz">
            <a:spAutoFit/>
          </a:bodyPr>
          <a:lstStyle/>
          <a:p>
            <a:pPr marL="12700">
              <a:lnSpc>
                <a:spcPct val="100000"/>
              </a:lnSpc>
              <a:spcBef>
                <a:spcPts val="120"/>
              </a:spcBef>
            </a:pPr>
            <a:r>
              <a:rPr dirty="0" sz="1050" spc="25">
                <a:latin typeface="宋体"/>
                <a:cs typeface="宋体"/>
              </a:rPr>
              <a:t>用户退货</a:t>
            </a:r>
            <a:endParaRPr sz="1050">
              <a:latin typeface="宋体"/>
              <a:cs typeface="宋体"/>
            </a:endParaRPr>
          </a:p>
        </p:txBody>
      </p:sp>
      <p:sp>
        <p:nvSpPr>
          <p:cNvPr id="18" name="object 18"/>
          <p:cNvSpPr/>
          <p:nvPr/>
        </p:nvSpPr>
        <p:spPr>
          <a:xfrm>
            <a:off x="6889317" y="2392567"/>
            <a:ext cx="581660" cy="819785"/>
          </a:xfrm>
          <a:custGeom>
            <a:avLst/>
            <a:gdLst/>
            <a:ahLst/>
            <a:cxnLst/>
            <a:rect l="l" t="t" r="r" b="b"/>
            <a:pathLst>
              <a:path w="581659" h="819785">
                <a:moveTo>
                  <a:pt x="581423" y="0"/>
                </a:moveTo>
                <a:lnTo>
                  <a:pt x="0" y="819392"/>
                </a:lnTo>
              </a:path>
            </a:pathLst>
          </a:custGeom>
          <a:ln w="4095">
            <a:solidFill>
              <a:srgbClr val="4677BE"/>
            </a:solidFill>
          </a:ln>
        </p:spPr>
        <p:txBody>
          <a:bodyPr wrap="square" lIns="0" tIns="0" rIns="0" bIns="0" rtlCol="0"/>
          <a:lstStyle/>
          <a:p/>
        </p:txBody>
      </p:sp>
      <p:sp>
        <p:nvSpPr>
          <p:cNvPr id="19" name="object 19"/>
          <p:cNvSpPr txBox="1"/>
          <p:nvPr/>
        </p:nvSpPr>
        <p:spPr>
          <a:xfrm>
            <a:off x="7030649" y="2698297"/>
            <a:ext cx="299085" cy="189230"/>
          </a:xfrm>
          <a:prstGeom prst="rect">
            <a:avLst/>
          </a:prstGeom>
        </p:spPr>
        <p:txBody>
          <a:bodyPr wrap="square" lIns="0" tIns="15240" rIns="0" bIns="0" rtlCol="0" vert="horz">
            <a:spAutoFit/>
          </a:bodyPr>
          <a:lstStyle/>
          <a:p>
            <a:pPr marL="12700">
              <a:lnSpc>
                <a:spcPct val="100000"/>
              </a:lnSpc>
              <a:spcBef>
                <a:spcPts val="120"/>
              </a:spcBef>
            </a:pPr>
            <a:r>
              <a:rPr dirty="0" sz="1050" spc="25">
                <a:latin typeface="宋体"/>
                <a:cs typeface="宋体"/>
              </a:rPr>
              <a:t>其他</a:t>
            </a:r>
            <a:endParaRPr sz="1050">
              <a:latin typeface="宋体"/>
              <a:cs typeface="宋体"/>
            </a:endParaRPr>
          </a:p>
        </p:txBody>
      </p:sp>
      <p:sp>
        <p:nvSpPr>
          <p:cNvPr id="20" name="object 20"/>
          <p:cNvSpPr txBox="1"/>
          <p:nvPr/>
        </p:nvSpPr>
        <p:spPr>
          <a:xfrm>
            <a:off x="7713962" y="2039029"/>
            <a:ext cx="572770" cy="189230"/>
          </a:xfrm>
          <a:prstGeom prst="rect">
            <a:avLst/>
          </a:prstGeom>
        </p:spPr>
        <p:txBody>
          <a:bodyPr wrap="square" lIns="0" tIns="15240" rIns="0" bIns="0" rtlCol="0" vert="horz">
            <a:spAutoFit/>
          </a:bodyPr>
          <a:lstStyle/>
          <a:p>
            <a:pPr marL="12700">
              <a:lnSpc>
                <a:spcPct val="100000"/>
              </a:lnSpc>
              <a:spcBef>
                <a:spcPts val="120"/>
              </a:spcBef>
            </a:pPr>
            <a:r>
              <a:rPr dirty="0" sz="1050" spc="25">
                <a:latin typeface="宋体"/>
                <a:cs typeface="宋体"/>
              </a:rPr>
              <a:t>太多废品</a:t>
            </a:r>
            <a:endParaRPr sz="1050">
              <a:latin typeface="宋体"/>
              <a:cs typeface="宋体"/>
            </a:endParaRPr>
          </a:p>
        </p:txBody>
      </p:sp>
      <p:sp>
        <p:nvSpPr>
          <p:cNvPr id="21" name="object 21"/>
          <p:cNvSpPr/>
          <p:nvPr/>
        </p:nvSpPr>
        <p:spPr>
          <a:xfrm>
            <a:off x="6062800" y="5159428"/>
            <a:ext cx="1018540" cy="0"/>
          </a:xfrm>
          <a:custGeom>
            <a:avLst/>
            <a:gdLst/>
            <a:ahLst/>
            <a:cxnLst/>
            <a:rect l="l" t="t" r="r" b="b"/>
            <a:pathLst>
              <a:path w="1018540" h="0">
                <a:moveTo>
                  <a:pt x="0" y="0"/>
                </a:moveTo>
                <a:lnTo>
                  <a:pt x="1018536" y="0"/>
                </a:lnTo>
              </a:path>
            </a:pathLst>
          </a:custGeom>
          <a:ln w="5950">
            <a:solidFill>
              <a:srgbClr val="000000"/>
            </a:solidFill>
          </a:ln>
        </p:spPr>
        <p:txBody>
          <a:bodyPr wrap="square" lIns="0" tIns="0" rIns="0" bIns="0" rtlCol="0"/>
          <a:lstStyle/>
          <a:p/>
        </p:txBody>
      </p:sp>
      <p:sp>
        <p:nvSpPr>
          <p:cNvPr id="22" name="object 22"/>
          <p:cNvSpPr/>
          <p:nvPr/>
        </p:nvSpPr>
        <p:spPr>
          <a:xfrm>
            <a:off x="5038311" y="5159428"/>
            <a:ext cx="203200" cy="0"/>
          </a:xfrm>
          <a:custGeom>
            <a:avLst/>
            <a:gdLst/>
            <a:ahLst/>
            <a:cxnLst/>
            <a:rect l="l" t="t" r="r" b="b"/>
            <a:pathLst>
              <a:path w="203200" h="0">
                <a:moveTo>
                  <a:pt x="0" y="0"/>
                </a:moveTo>
                <a:lnTo>
                  <a:pt x="202596" y="0"/>
                </a:lnTo>
              </a:path>
            </a:pathLst>
          </a:custGeom>
          <a:ln w="5950">
            <a:solidFill>
              <a:srgbClr val="000000"/>
            </a:solidFill>
          </a:ln>
        </p:spPr>
        <p:txBody>
          <a:bodyPr wrap="square" lIns="0" tIns="0" rIns="0" bIns="0" rtlCol="0"/>
          <a:lstStyle/>
          <a:p/>
        </p:txBody>
      </p:sp>
      <p:sp>
        <p:nvSpPr>
          <p:cNvPr id="23" name="object 23"/>
          <p:cNvSpPr/>
          <p:nvPr/>
        </p:nvSpPr>
        <p:spPr>
          <a:xfrm>
            <a:off x="5514937" y="4837722"/>
            <a:ext cx="1566545" cy="0"/>
          </a:xfrm>
          <a:custGeom>
            <a:avLst/>
            <a:gdLst/>
            <a:ahLst/>
            <a:cxnLst/>
            <a:rect l="l" t="t" r="r" b="b"/>
            <a:pathLst>
              <a:path w="1566545" h="0">
                <a:moveTo>
                  <a:pt x="0" y="0"/>
                </a:moveTo>
                <a:lnTo>
                  <a:pt x="1566399" y="0"/>
                </a:lnTo>
              </a:path>
            </a:pathLst>
          </a:custGeom>
          <a:ln w="5950">
            <a:solidFill>
              <a:srgbClr val="000000"/>
            </a:solidFill>
          </a:ln>
        </p:spPr>
        <p:txBody>
          <a:bodyPr wrap="square" lIns="0" tIns="0" rIns="0" bIns="0" rtlCol="0"/>
          <a:lstStyle/>
          <a:p/>
        </p:txBody>
      </p:sp>
      <p:sp>
        <p:nvSpPr>
          <p:cNvPr id="24" name="object 24"/>
          <p:cNvSpPr/>
          <p:nvPr/>
        </p:nvSpPr>
        <p:spPr>
          <a:xfrm>
            <a:off x="5038311" y="4837722"/>
            <a:ext cx="203200" cy="0"/>
          </a:xfrm>
          <a:custGeom>
            <a:avLst/>
            <a:gdLst/>
            <a:ahLst/>
            <a:cxnLst/>
            <a:rect l="l" t="t" r="r" b="b"/>
            <a:pathLst>
              <a:path w="203200" h="0">
                <a:moveTo>
                  <a:pt x="0" y="0"/>
                </a:moveTo>
                <a:lnTo>
                  <a:pt x="202596" y="0"/>
                </a:lnTo>
              </a:path>
            </a:pathLst>
          </a:custGeom>
          <a:ln w="5950">
            <a:solidFill>
              <a:srgbClr val="000000"/>
            </a:solidFill>
          </a:ln>
        </p:spPr>
        <p:txBody>
          <a:bodyPr wrap="square" lIns="0" tIns="0" rIns="0" bIns="0" rtlCol="0"/>
          <a:lstStyle/>
          <a:p/>
        </p:txBody>
      </p:sp>
      <p:sp>
        <p:nvSpPr>
          <p:cNvPr id="25" name="object 25"/>
          <p:cNvSpPr/>
          <p:nvPr/>
        </p:nvSpPr>
        <p:spPr>
          <a:xfrm>
            <a:off x="5514937" y="4516015"/>
            <a:ext cx="1566545" cy="0"/>
          </a:xfrm>
          <a:custGeom>
            <a:avLst/>
            <a:gdLst/>
            <a:ahLst/>
            <a:cxnLst/>
            <a:rect l="l" t="t" r="r" b="b"/>
            <a:pathLst>
              <a:path w="1566545" h="0">
                <a:moveTo>
                  <a:pt x="0" y="0"/>
                </a:moveTo>
                <a:lnTo>
                  <a:pt x="1566399" y="0"/>
                </a:lnTo>
              </a:path>
            </a:pathLst>
          </a:custGeom>
          <a:ln w="5950">
            <a:solidFill>
              <a:srgbClr val="000000"/>
            </a:solidFill>
          </a:ln>
        </p:spPr>
        <p:txBody>
          <a:bodyPr wrap="square" lIns="0" tIns="0" rIns="0" bIns="0" rtlCol="0"/>
          <a:lstStyle/>
          <a:p/>
        </p:txBody>
      </p:sp>
      <p:sp>
        <p:nvSpPr>
          <p:cNvPr id="26" name="object 26"/>
          <p:cNvSpPr/>
          <p:nvPr/>
        </p:nvSpPr>
        <p:spPr>
          <a:xfrm>
            <a:off x="5038311" y="4516015"/>
            <a:ext cx="203200" cy="0"/>
          </a:xfrm>
          <a:custGeom>
            <a:avLst/>
            <a:gdLst/>
            <a:ahLst/>
            <a:cxnLst/>
            <a:rect l="l" t="t" r="r" b="b"/>
            <a:pathLst>
              <a:path w="203200" h="0">
                <a:moveTo>
                  <a:pt x="0" y="0"/>
                </a:moveTo>
                <a:lnTo>
                  <a:pt x="202596" y="0"/>
                </a:lnTo>
              </a:path>
            </a:pathLst>
          </a:custGeom>
          <a:ln w="5950">
            <a:solidFill>
              <a:srgbClr val="000000"/>
            </a:solidFill>
          </a:ln>
        </p:spPr>
        <p:txBody>
          <a:bodyPr wrap="square" lIns="0" tIns="0" rIns="0" bIns="0" rtlCol="0"/>
          <a:lstStyle/>
          <a:p/>
        </p:txBody>
      </p:sp>
      <p:sp>
        <p:nvSpPr>
          <p:cNvPr id="27" name="object 27"/>
          <p:cNvSpPr/>
          <p:nvPr/>
        </p:nvSpPr>
        <p:spPr>
          <a:xfrm>
            <a:off x="5514937" y="4194308"/>
            <a:ext cx="1566545" cy="0"/>
          </a:xfrm>
          <a:custGeom>
            <a:avLst/>
            <a:gdLst/>
            <a:ahLst/>
            <a:cxnLst/>
            <a:rect l="l" t="t" r="r" b="b"/>
            <a:pathLst>
              <a:path w="1566545" h="0">
                <a:moveTo>
                  <a:pt x="0" y="0"/>
                </a:moveTo>
                <a:lnTo>
                  <a:pt x="1566399" y="0"/>
                </a:lnTo>
              </a:path>
            </a:pathLst>
          </a:custGeom>
          <a:ln w="5950">
            <a:solidFill>
              <a:srgbClr val="000000"/>
            </a:solidFill>
          </a:ln>
        </p:spPr>
        <p:txBody>
          <a:bodyPr wrap="square" lIns="0" tIns="0" rIns="0" bIns="0" rtlCol="0"/>
          <a:lstStyle/>
          <a:p/>
        </p:txBody>
      </p:sp>
      <p:sp>
        <p:nvSpPr>
          <p:cNvPr id="28" name="object 28"/>
          <p:cNvSpPr/>
          <p:nvPr/>
        </p:nvSpPr>
        <p:spPr>
          <a:xfrm>
            <a:off x="5038311" y="4194308"/>
            <a:ext cx="203200" cy="0"/>
          </a:xfrm>
          <a:custGeom>
            <a:avLst/>
            <a:gdLst/>
            <a:ahLst/>
            <a:cxnLst/>
            <a:rect l="l" t="t" r="r" b="b"/>
            <a:pathLst>
              <a:path w="203200" h="0">
                <a:moveTo>
                  <a:pt x="0" y="0"/>
                </a:moveTo>
                <a:lnTo>
                  <a:pt x="202596" y="0"/>
                </a:lnTo>
              </a:path>
            </a:pathLst>
          </a:custGeom>
          <a:ln w="5950">
            <a:solidFill>
              <a:srgbClr val="000000"/>
            </a:solidFill>
          </a:ln>
        </p:spPr>
        <p:txBody>
          <a:bodyPr wrap="square" lIns="0" tIns="0" rIns="0" bIns="0" rtlCol="0"/>
          <a:lstStyle/>
          <a:p/>
        </p:txBody>
      </p:sp>
      <p:sp>
        <p:nvSpPr>
          <p:cNvPr id="29" name="object 29"/>
          <p:cNvSpPr/>
          <p:nvPr/>
        </p:nvSpPr>
        <p:spPr>
          <a:xfrm>
            <a:off x="5038311" y="3872601"/>
            <a:ext cx="2043430" cy="0"/>
          </a:xfrm>
          <a:custGeom>
            <a:avLst/>
            <a:gdLst/>
            <a:ahLst/>
            <a:cxnLst/>
            <a:rect l="l" t="t" r="r" b="b"/>
            <a:pathLst>
              <a:path w="2043429" h="0">
                <a:moveTo>
                  <a:pt x="0" y="0"/>
                </a:moveTo>
                <a:lnTo>
                  <a:pt x="2043025" y="0"/>
                </a:lnTo>
              </a:path>
            </a:pathLst>
          </a:custGeom>
          <a:ln w="5950">
            <a:solidFill>
              <a:srgbClr val="000000"/>
            </a:solidFill>
          </a:ln>
        </p:spPr>
        <p:txBody>
          <a:bodyPr wrap="square" lIns="0" tIns="0" rIns="0" bIns="0" rtlCol="0"/>
          <a:lstStyle/>
          <a:p/>
        </p:txBody>
      </p:sp>
      <p:sp>
        <p:nvSpPr>
          <p:cNvPr id="30" name="object 30"/>
          <p:cNvSpPr/>
          <p:nvPr/>
        </p:nvSpPr>
        <p:spPr>
          <a:xfrm>
            <a:off x="5038311" y="3550736"/>
            <a:ext cx="2043430" cy="0"/>
          </a:xfrm>
          <a:custGeom>
            <a:avLst/>
            <a:gdLst/>
            <a:ahLst/>
            <a:cxnLst/>
            <a:rect l="l" t="t" r="r" b="b"/>
            <a:pathLst>
              <a:path w="2043429" h="0">
                <a:moveTo>
                  <a:pt x="0" y="0"/>
                </a:moveTo>
                <a:lnTo>
                  <a:pt x="2043025" y="0"/>
                </a:lnTo>
              </a:path>
            </a:pathLst>
          </a:custGeom>
          <a:ln w="5950">
            <a:solidFill>
              <a:srgbClr val="000000"/>
            </a:solidFill>
          </a:ln>
        </p:spPr>
        <p:txBody>
          <a:bodyPr wrap="square" lIns="0" tIns="0" rIns="0" bIns="0" rtlCol="0"/>
          <a:lstStyle/>
          <a:p/>
        </p:txBody>
      </p:sp>
      <p:sp>
        <p:nvSpPr>
          <p:cNvPr id="31" name="object 31"/>
          <p:cNvSpPr/>
          <p:nvPr/>
        </p:nvSpPr>
        <p:spPr>
          <a:xfrm>
            <a:off x="5038311" y="3550736"/>
            <a:ext cx="2043430" cy="0"/>
          </a:xfrm>
          <a:custGeom>
            <a:avLst/>
            <a:gdLst/>
            <a:ahLst/>
            <a:cxnLst/>
            <a:rect l="l" t="t" r="r" b="b"/>
            <a:pathLst>
              <a:path w="2043429" h="0">
                <a:moveTo>
                  <a:pt x="0" y="0"/>
                </a:moveTo>
                <a:lnTo>
                  <a:pt x="2043025" y="0"/>
                </a:lnTo>
              </a:path>
            </a:pathLst>
          </a:custGeom>
          <a:ln w="5950">
            <a:solidFill>
              <a:srgbClr val="000000"/>
            </a:solidFill>
          </a:ln>
        </p:spPr>
        <p:txBody>
          <a:bodyPr wrap="square" lIns="0" tIns="0" rIns="0" bIns="0" rtlCol="0"/>
          <a:lstStyle/>
          <a:p/>
        </p:txBody>
      </p:sp>
      <p:sp>
        <p:nvSpPr>
          <p:cNvPr id="32" name="object 32"/>
          <p:cNvSpPr/>
          <p:nvPr/>
        </p:nvSpPr>
        <p:spPr>
          <a:xfrm>
            <a:off x="7087289" y="3550736"/>
            <a:ext cx="0" cy="1924685"/>
          </a:xfrm>
          <a:custGeom>
            <a:avLst/>
            <a:gdLst/>
            <a:ahLst/>
            <a:cxnLst/>
            <a:rect l="l" t="t" r="r" b="b"/>
            <a:pathLst>
              <a:path w="0" h="1924685">
                <a:moveTo>
                  <a:pt x="0" y="0"/>
                </a:moveTo>
                <a:lnTo>
                  <a:pt x="0" y="1924686"/>
                </a:lnTo>
              </a:path>
            </a:pathLst>
          </a:custGeom>
          <a:ln w="5952">
            <a:solidFill>
              <a:srgbClr val="000000"/>
            </a:solidFill>
          </a:ln>
        </p:spPr>
        <p:txBody>
          <a:bodyPr wrap="square" lIns="0" tIns="0" rIns="0" bIns="0" rtlCol="0"/>
          <a:lstStyle/>
          <a:p/>
        </p:txBody>
      </p:sp>
      <p:sp>
        <p:nvSpPr>
          <p:cNvPr id="33" name="object 33"/>
          <p:cNvSpPr/>
          <p:nvPr/>
        </p:nvSpPr>
        <p:spPr>
          <a:xfrm>
            <a:off x="5044264" y="5481373"/>
            <a:ext cx="2043430" cy="0"/>
          </a:xfrm>
          <a:custGeom>
            <a:avLst/>
            <a:gdLst/>
            <a:ahLst/>
            <a:cxnLst/>
            <a:rect l="l" t="t" r="r" b="b"/>
            <a:pathLst>
              <a:path w="2043429" h="0">
                <a:moveTo>
                  <a:pt x="0" y="0"/>
                </a:moveTo>
                <a:lnTo>
                  <a:pt x="2043025" y="0"/>
                </a:lnTo>
              </a:path>
            </a:pathLst>
          </a:custGeom>
          <a:ln w="5950">
            <a:solidFill>
              <a:srgbClr val="000000"/>
            </a:solidFill>
          </a:ln>
        </p:spPr>
        <p:txBody>
          <a:bodyPr wrap="square" lIns="0" tIns="0" rIns="0" bIns="0" rtlCol="0"/>
          <a:lstStyle/>
          <a:p/>
        </p:txBody>
      </p:sp>
      <p:sp>
        <p:nvSpPr>
          <p:cNvPr id="34" name="object 34"/>
          <p:cNvSpPr/>
          <p:nvPr/>
        </p:nvSpPr>
        <p:spPr>
          <a:xfrm>
            <a:off x="5038311" y="3556686"/>
            <a:ext cx="0" cy="1924685"/>
          </a:xfrm>
          <a:custGeom>
            <a:avLst/>
            <a:gdLst/>
            <a:ahLst/>
            <a:cxnLst/>
            <a:rect l="l" t="t" r="r" b="b"/>
            <a:pathLst>
              <a:path w="0" h="1924685">
                <a:moveTo>
                  <a:pt x="0" y="0"/>
                </a:moveTo>
                <a:lnTo>
                  <a:pt x="0" y="1924686"/>
                </a:lnTo>
              </a:path>
            </a:pathLst>
          </a:custGeom>
          <a:ln w="5952">
            <a:solidFill>
              <a:srgbClr val="000000"/>
            </a:solidFill>
          </a:ln>
        </p:spPr>
        <p:txBody>
          <a:bodyPr wrap="square" lIns="0" tIns="0" rIns="0" bIns="0" rtlCol="0"/>
          <a:lstStyle/>
          <a:p/>
        </p:txBody>
      </p:sp>
      <p:sp>
        <p:nvSpPr>
          <p:cNvPr id="35" name="object 35"/>
          <p:cNvSpPr/>
          <p:nvPr/>
        </p:nvSpPr>
        <p:spPr>
          <a:xfrm>
            <a:off x="5240907" y="3872681"/>
            <a:ext cx="274320" cy="1609090"/>
          </a:xfrm>
          <a:custGeom>
            <a:avLst/>
            <a:gdLst/>
            <a:ahLst/>
            <a:cxnLst/>
            <a:rect l="l" t="t" r="r" b="b"/>
            <a:pathLst>
              <a:path w="274320" h="1609089">
                <a:moveTo>
                  <a:pt x="0" y="1608692"/>
                </a:moveTo>
                <a:lnTo>
                  <a:pt x="274030" y="1608692"/>
                </a:lnTo>
                <a:lnTo>
                  <a:pt x="274030" y="0"/>
                </a:lnTo>
                <a:lnTo>
                  <a:pt x="0" y="0"/>
                </a:lnTo>
                <a:lnTo>
                  <a:pt x="0" y="1608692"/>
                </a:lnTo>
                <a:close/>
              </a:path>
            </a:pathLst>
          </a:custGeom>
          <a:solidFill>
            <a:srgbClr val="4F81BC"/>
          </a:solidFill>
        </p:spPr>
        <p:txBody>
          <a:bodyPr wrap="square" lIns="0" tIns="0" rIns="0" bIns="0" rtlCol="0"/>
          <a:lstStyle/>
          <a:p/>
        </p:txBody>
      </p:sp>
      <p:sp>
        <p:nvSpPr>
          <p:cNvPr id="36" name="object 36"/>
          <p:cNvSpPr/>
          <p:nvPr/>
        </p:nvSpPr>
        <p:spPr>
          <a:xfrm>
            <a:off x="5240907" y="3872681"/>
            <a:ext cx="274320" cy="1609090"/>
          </a:xfrm>
          <a:custGeom>
            <a:avLst/>
            <a:gdLst/>
            <a:ahLst/>
            <a:cxnLst/>
            <a:rect l="l" t="t" r="r" b="b"/>
            <a:pathLst>
              <a:path w="274320" h="1609089">
                <a:moveTo>
                  <a:pt x="0" y="1608692"/>
                </a:moveTo>
                <a:lnTo>
                  <a:pt x="274030" y="1608692"/>
                </a:lnTo>
                <a:lnTo>
                  <a:pt x="274030" y="0"/>
                </a:lnTo>
                <a:lnTo>
                  <a:pt x="0" y="0"/>
                </a:lnTo>
                <a:lnTo>
                  <a:pt x="0" y="1608692"/>
                </a:lnTo>
                <a:close/>
              </a:path>
            </a:pathLst>
          </a:custGeom>
          <a:ln w="5952">
            <a:solidFill>
              <a:srgbClr val="000000"/>
            </a:solidFill>
          </a:ln>
        </p:spPr>
        <p:txBody>
          <a:bodyPr wrap="square" lIns="0" tIns="0" rIns="0" bIns="0" rtlCol="0"/>
          <a:lstStyle/>
          <a:p/>
        </p:txBody>
      </p:sp>
      <p:sp>
        <p:nvSpPr>
          <p:cNvPr id="37" name="object 37"/>
          <p:cNvSpPr/>
          <p:nvPr/>
        </p:nvSpPr>
        <p:spPr>
          <a:xfrm>
            <a:off x="5514937" y="4837761"/>
            <a:ext cx="274320" cy="643890"/>
          </a:xfrm>
          <a:custGeom>
            <a:avLst/>
            <a:gdLst/>
            <a:ahLst/>
            <a:cxnLst/>
            <a:rect l="l" t="t" r="r" b="b"/>
            <a:pathLst>
              <a:path w="274320" h="643889">
                <a:moveTo>
                  <a:pt x="0" y="643611"/>
                </a:moveTo>
                <a:lnTo>
                  <a:pt x="273832" y="643611"/>
                </a:lnTo>
                <a:lnTo>
                  <a:pt x="273832" y="0"/>
                </a:lnTo>
                <a:lnTo>
                  <a:pt x="0" y="0"/>
                </a:lnTo>
                <a:lnTo>
                  <a:pt x="0" y="643611"/>
                </a:lnTo>
                <a:close/>
              </a:path>
            </a:pathLst>
          </a:custGeom>
          <a:solidFill>
            <a:srgbClr val="C0504D"/>
          </a:solidFill>
        </p:spPr>
        <p:txBody>
          <a:bodyPr wrap="square" lIns="0" tIns="0" rIns="0" bIns="0" rtlCol="0"/>
          <a:lstStyle/>
          <a:p/>
        </p:txBody>
      </p:sp>
      <p:sp>
        <p:nvSpPr>
          <p:cNvPr id="38" name="object 38"/>
          <p:cNvSpPr/>
          <p:nvPr/>
        </p:nvSpPr>
        <p:spPr>
          <a:xfrm>
            <a:off x="5514937" y="4837761"/>
            <a:ext cx="274320" cy="643890"/>
          </a:xfrm>
          <a:custGeom>
            <a:avLst/>
            <a:gdLst/>
            <a:ahLst/>
            <a:cxnLst/>
            <a:rect l="l" t="t" r="r" b="b"/>
            <a:pathLst>
              <a:path w="274320" h="643889">
                <a:moveTo>
                  <a:pt x="0" y="643611"/>
                </a:moveTo>
                <a:lnTo>
                  <a:pt x="273832" y="643611"/>
                </a:lnTo>
                <a:lnTo>
                  <a:pt x="273832" y="0"/>
                </a:lnTo>
                <a:lnTo>
                  <a:pt x="0" y="0"/>
                </a:lnTo>
                <a:lnTo>
                  <a:pt x="0" y="643611"/>
                </a:lnTo>
                <a:close/>
              </a:path>
            </a:pathLst>
          </a:custGeom>
          <a:ln w="5952">
            <a:solidFill>
              <a:srgbClr val="000000"/>
            </a:solidFill>
          </a:ln>
        </p:spPr>
        <p:txBody>
          <a:bodyPr wrap="square" lIns="0" tIns="0" rIns="0" bIns="0" rtlCol="0"/>
          <a:lstStyle/>
          <a:p/>
        </p:txBody>
      </p:sp>
      <p:sp>
        <p:nvSpPr>
          <p:cNvPr id="39" name="object 39"/>
          <p:cNvSpPr/>
          <p:nvPr/>
        </p:nvSpPr>
        <p:spPr>
          <a:xfrm>
            <a:off x="5788769" y="5094016"/>
            <a:ext cx="274320" cy="387985"/>
          </a:xfrm>
          <a:custGeom>
            <a:avLst/>
            <a:gdLst/>
            <a:ahLst/>
            <a:cxnLst/>
            <a:rect l="l" t="t" r="r" b="b"/>
            <a:pathLst>
              <a:path w="274320" h="387985">
                <a:moveTo>
                  <a:pt x="0" y="387357"/>
                </a:moveTo>
                <a:lnTo>
                  <a:pt x="274030" y="387357"/>
                </a:lnTo>
                <a:lnTo>
                  <a:pt x="274030" y="0"/>
                </a:lnTo>
                <a:lnTo>
                  <a:pt x="0" y="0"/>
                </a:lnTo>
                <a:lnTo>
                  <a:pt x="0" y="387357"/>
                </a:lnTo>
                <a:close/>
              </a:path>
            </a:pathLst>
          </a:custGeom>
          <a:solidFill>
            <a:srgbClr val="0000FF"/>
          </a:solidFill>
        </p:spPr>
        <p:txBody>
          <a:bodyPr wrap="square" lIns="0" tIns="0" rIns="0" bIns="0" rtlCol="0"/>
          <a:lstStyle/>
          <a:p/>
        </p:txBody>
      </p:sp>
      <p:sp>
        <p:nvSpPr>
          <p:cNvPr id="40" name="object 40"/>
          <p:cNvSpPr/>
          <p:nvPr/>
        </p:nvSpPr>
        <p:spPr>
          <a:xfrm>
            <a:off x="5788769" y="5094016"/>
            <a:ext cx="274320" cy="387985"/>
          </a:xfrm>
          <a:custGeom>
            <a:avLst/>
            <a:gdLst/>
            <a:ahLst/>
            <a:cxnLst/>
            <a:rect l="l" t="t" r="r" b="b"/>
            <a:pathLst>
              <a:path w="274320" h="387985">
                <a:moveTo>
                  <a:pt x="0" y="387357"/>
                </a:moveTo>
                <a:lnTo>
                  <a:pt x="274030" y="387357"/>
                </a:lnTo>
                <a:lnTo>
                  <a:pt x="274030" y="0"/>
                </a:lnTo>
                <a:lnTo>
                  <a:pt x="0" y="0"/>
                </a:lnTo>
                <a:lnTo>
                  <a:pt x="0" y="387357"/>
                </a:lnTo>
                <a:close/>
              </a:path>
            </a:pathLst>
          </a:custGeom>
          <a:ln w="5951">
            <a:solidFill>
              <a:srgbClr val="000000"/>
            </a:solidFill>
          </a:ln>
        </p:spPr>
        <p:txBody>
          <a:bodyPr wrap="square" lIns="0" tIns="0" rIns="0" bIns="0" rtlCol="0"/>
          <a:lstStyle/>
          <a:p/>
        </p:txBody>
      </p:sp>
      <p:sp>
        <p:nvSpPr>
          <p:cNvPr id="41" name="object 41"/>
          <p:cNvSpPr/>
          <p:nvPr/>
        </p:nvSpPr>
        <p:spPr>
          <a:xfrm>
            <a:off x="6062840" y="5189417"/>
            <a:ext cx="268605" cy="292100"/>
          </a:xfrm>
          <a:custGeom>
            <a:avLst/>
            <a:gdLst/>
            <a:ahLst/>
            <a:cxnLst/>
            <a:rect l="l" t="t" r="r" b="b"/>
            <a:pathLst>
              <a:path w="268604" h="292100">
                <a:moveTo>
                  <a:pt x="0" y="291955"/>
                </a:moveTo>
                <a:lnTo>
                  <a:pt x="268077" y="291955"/>
                </a:lnTo>
                <a:lnTo>
                  <a:pt x="268077" y="0"/>
                </a:lnTo>
                <a:lnTo>
                  <a:pt x="0" y="0"/>
                </a:lnTo>
                <a:lnTo>
                  <a:pt x="0" y="291955"/>
                </a:lnTo>
                <a:close/>
              </a:path>
            </a:pathLst>
          </a:custGeom>
          <a:solidFill>
            <a:srgbClr val="800080"/>
          </a:solidFill>
        </p:spPr>
        <p:txBody>
          <a:bodyPr wrap="square" lIns="0" tIns="0" rIns="0" bIns="0" rtlCol="0"/>
          <a:lstStyle/>
          <a:p/>
        </p:txBody>
      </p:sp>
      <p:sp>
        <p:nvSpPr>
          <p:cNvPr id="42" name="object 42"/>
          <p:cNvSpPr/>
          <p:nvPr/>
        </p:nvSpPr>
        <p:spPr>
          <a:xfrm>
            <a:off x="6062840" y="5189417"/>
            <a:ext cx="268605" cy="292100"/>
          </a:xfrm>
          <a:custGeom>
            <a:avLst/>
            <a:gdLst/>
            <a:ahLst/>
            <a:cxnLst/>
            <a:rect l="l" t="t" r="r" b="b"/>
            <a:pathLst>
              <a:path w="268604" h="292100">
                <a:moveTo>
                  <a:pt x="0" y="291955"/>
                </a:moveTo>
                <a:lnTo>
                  <a:pt x="268077" y="291955"/>
                </a:lnTo>
                <a:lnTo>
                  <a:pt x="268077" y="0"/>
                </a:lnTo>
                <a:lnTo>
                  <a:pt x="0" y="0"/>
                </a:lnTo>
                <a:lnTo>
                  <a:pt x="0" y="291955"/>
                </a:lnTo>
                <a:close/>
              </a:path>
            </a:pathLst>
          </a:custGeom>
          <a:ln w="5951">
            <a:solidFill>
              <a:srgbClr val="000000"/>
            </a:solidFill>
          </a:ln>
        </p:spPr>
        <p:txBody>
          <a:bodyPr wrap="square" lIns="0" tIns="0" rIns="0" bIns="0" rtlCol="0"/>
          <a:lstStyle/>
          <a:p/>
        </p:txBody>
      </p:sp>
      <p:sp>
        <p:nvSpPr>
          <p:cNvPr id="43" name="object 43"/>
          <p:cNvSpPr/>
          <p:nvPr/>
        </p:nvSpPr>
        <p:spPr>
          <a:xfrm>
            <a:off x="6330878" y="5320519"/>
            <a:ext cx="274320" cy="161290"/>
          </a:xfrm>
          <a:custGeom>
            <a:avLst/>
            <a:gdLst/>
            <a:ahLst/>
            <a:cxnLst/>
            <a:rect l="l" t="t" r="r" b="b"/>
            <a:pathLst>
              <a:path w="274320" h="161289">
                <a:moveTo>
                  <a:pt x="0" y="160853"/>
                </a:moveTo>
                <a:lnTo>
                  <a:pt x="274030" y="160853"/>
                </a:lnTo>
                <a:lnTo>
                  <a:pt x="274030" y="0"/>
                </a:lnTo>
                <a:lnTo>
                  <a:pt x="0" y="0"/>
                </a:lnTo>
                <a:lnTo>
                  <a:pt x="0" y="160853"/>
                </a:lnTo>
                <a:close/>
              </a:path>
            </a:pathLst>
          </a:custGeom>
          <a:solidFill>
            <a:srgbClr val="EDEBE0"/>
          </a:solidFill>
        </p:spPr>
        <p:txBody>
          <a:bodyPr wrap="square" lIns="0" tIns="0" rIns="0" bIns="0" rtlCol="0"/>
          <a:lstStyle/>
          <a:p/>
        </p:txBody>
      </p:sp>
      <p:sp>
        <p:nvSpPr>
          <p:cNvPr id="44" name="object 44"/>
          <p:cNvSpPr/>
          <p:nvPr/>
        </p:nvSpPr>
        <p:spPr>
          <a:xfrm>
            <a:off x="6330878" y="5320520"/>
            <a:ext cx="274320" cy="161290"/>
          </a:xfrm>
          <a:custGeom>
            <a:avLst/>
            <a:gdLst/>
            <a:ahLst/>
            <a:cxnLst/>
            <a:rect l="l" t="t" r="r" b="b"/>
            <a:pathLst>
              <a:path w="274320" h="161289">
                <a:moveTo>
                  <a:pt x="0" y="160853"/>
                </a:moveTo>
                <a:lnTo>
                  <a:pt x="274030" y="160853"/>
                </a:lnTo>
                <a:lnTo>
                  <a:pt x="274030" y="0"/>
                </a:lnTo>
                <a:lnTo>
                  <a:pt x="0" y="0"/>
                </a:lnTo>
                <a:lnTo>
                  <a:pt x="0" y="160853"/>
                </a:lnTo>
                <a:close/>
              </a:path>
            </a:pathLst>
          </a:custGeom>
          <a:ln w="5950">
            <a:solidFill>
              <a:srgbClr val="000000"/>
            </a:solidFill>
          </a:ln>
        </p:spPr>
        <p:txBody>
          <a:bodyPr wrap="square" lIns="0" tIns="0" rIns="0" bIns="0" rtlCol="0"/>
          <a:lstStyle/>
          <a:p/>
        </p:txBody>
      </p:sp>
      <p:sp>
        <p:nvSpPr>
          <p:cNvPr id="45" name="object 45"/>
          <p:cNvSpPr/>
          <p:nvPr/>
        </p:nvSpPr>
        <p:spPr>
          <a:xfrm>
            <a:off x="6604948" y="5350271"/>
            <a:ext cx="274320" cy="131445"/>
          </a:xfrm>
          <a:custGeom>
            <a:avLst/>
            <a:gdLst/>
            <a:ahLst/>
            <a:cxnLst/>
            <a:rect l="l" t="t" r="r" b="b"/>
            <a:pathLst>
              <a:path w="274320" h="131445">
                <a:moveTo>
                  <a:pt x="0" y="131102"/>
                </a:moveTo>
                <a:lnTo>
                  <a:pt x="274030" y="131102"/>
                </a:lnTo>
                <a:lnTo>
                  <a:pt x="274030" y="0"/>
                </a:lnTo>
                <a:lnTo>
                  <a:pt x="0" y="0"/>
                </a:lnTo>
                <a:lnTo>
                  <a:pt x="0" y="131102"/>
                </a:lnTo>
                <a:close/>
              </a:path>
            </a:pathLst>
          </a:custGeom>
          <a:solidFill>
            <a:srgbClr val="1F487C"/>
          </a:solidFill>
        </p:spPr>
        <p:txBody>
          <a:bodyPr wrap="square" lIns="0" tIns="0" rIns="0" bIns="0" rtlCol="0"/>
          <a:lstStyle/>
          <a:p/>
        </p:txBody>
      </p:sp>
      <p:sp>
        <p:nvSpPr>
          <p:cNvPr id="46" name="object 46"/>
          <p:cNvSpPr/>
          <p:nvPr/>
        </p:nvSpPr>
        <p:spPr>
          <a:xfrm>
            <a:off x="6604948" y="5350271"/>
            <a:ext cx="274320" cy="131445"/>
          </a:xfrm>
          <a:custGeom>
            <a:avLst/>
            <a:gdLst/>
            <a:ahLst/>
            <a:cxnLst/>
            <a:rect l="l" t="t" r="r" b="b"/>
            <a:pathLst>
              <a:path w="274320" h="131445">
                <a:moveTo>
                  <a:pt x="0" y="131102"/>
                </a:moveTo>
                <a:lnTo>
                  <a:pt x="274030" y="131102"/>
                </a:lnTo>
                <a:lnTo>
                  <a:pt x="274030" y="0"/>
                </a:lnTo>
                <a:lnTo>
                  <a:pt x="0" y="0"/>
                </a:lnTo>
                <a:lnTo>
                  <a:pt x="0" y="131102"/>
                </a:lnTo>
                <a:close/>
              </a:path>
            </a:pathLst>
          </a:custGeom>
          <a:ln w="5950">
            <a:solidFill>
              <a:srgbClr val="000000"/>
            </a:solidFill>
          </a:ln>
        </p:spPr>
        <p:txBody>
          <a:bodyPr wrap="square" lIns="0" tIns="0" rIns="0" bIns="0" rtlCol="0"/>
          <a:lstStyle/>
          <a:p/>
        </p:txBody>
      </p:sp>
      <p:sp>
        <p:nvSpPr>
          <p:cNvPr id="47" name="object 47"/>
          <p:cNvSpPr/>
          <p:nvPr/>
        </p:nvSpPr>
        <p:spPr>
          <a:xfrm>
            <a:off x="5038311" y="3550736"/>
            <a:ext cx="0" cy="1924685"/>
          </a:xfrm>
          <a:custGeom>
            <a:avLst/>
            <a:gdLst/>
            <a:ahLst/>
            <a:cxnLst/>
            <a:rect l="l" t="t" r="r" b="b"/>
            <a:pathLst>
              <a:path w="0" h="1924685">
                <a:moveTo>
                  <a:pt x="0" y="0"/>
                </a:moveTo>
                <a:lnTo>
                  <a:pt x="0" y="1924686"/>
                </a:lnTo>
              </a:path>
            </a:pathLst>
          </a:custGeom>
          <a:ln w="5952">
            <a:solidFill>
              <a:srgbClr val="000000"/>
            </a:solidFill>
          </a:ln>
        </p:spPr>
        <p:txBody>
          <a:bodyPr wrap="square" lIns="0" tIns="0" rIns="0" bIns="0" rtlCol="0"/>
          <a:lstStyle/>
          <a:p/>
        </p:txBody>
      </p:sp>
      <p:sp>
        <p:nvSpPr>
          <p:cNvPr id="48" name="object 48"/>
          <p:cNvSpPr/>
          <p:nvPr/>
        </p:nvSpPr>
        <p:spPr>
          <a:xfrm>
            <a:off x="5038311" y="5481373"/>
            <a:ext cx="41910" cy="0"/>
          </a:xfrm>
          <a:custGeom>
            <a:avLst/>
            <a:gdLst/>
            <a:ahLst/>
            <a:cxnLst/>
            <a:rect l="l" t="t" r="r" b="b"/>
            <a:pathLst>
              <a:path w="41910" h="0">
                <a:moveTo>
                  <a:pt x="0" y="0"/>
                </a:moveTo>
                <a:lnTo>
                  <a:pt x="41670" y="0"/>
                </a:lnTo>
              </a:path>
            </a:pathLst>
          </a:custGeom>
          <a:ln w="5950">
            <a:solidFill>
              <a:srgbClr val="000000"/>
            </a:solidFill>
          </a:ln>
        </p:spPr>
        <p:txBody>
          <a:bodyPr wrap="square" lIns="0" tIns="0" rIns="0" bIns="0" rtlCol="0"/>
          <a:lstStyle/>
          <a:p/>
        </p:txBody>
      </p:sp>
      <p:sp>
        <p:nvSpPr>
          <p:cNvPr id="49" name="object 49"/>
          <p:cNvSpPr/>
          <p:nvPr/>
        </p:nvSpPr>
        <p:spPr>
          <a:xfrm>
            <a:off x="5038311" y="5159428"/>
            <a:ext cx="41910" cy="0"/>
          </a:xfrm>
          <a:custGeom>
            <a:avLst/>
            <a:gdLst/>
            <a:ahLst/>
            <a:cxnLst/>
            <a:rect l="l" t="t" r="r" b="b"/>
            <a:pathLst>
              <a:path w="41910" h="0">
                <a:moveTo>
                  <a:pt x="0" y="0"/>
                </a:moveTo>
                <a:lnTo>
                  <a:pt x="41670" y="0"/>
                </a:lnTo>
              </a:path>
            </a:pathLst>
          </a:custGeom>
          <a:ln w="5950">
            <a:solidFill>
              <a:srgbClr val="000000"/>
            </a:solidFill>
          </a:ln>
        </p:spPr>
        <p:txBody>
          <a:bodyPr wrap="square" lIns="0" tIns="0" rIns="0" bIns="0" rtlCol="0"/>
          <a:lstStyle/>
          <a:p/>
        </p:txBody>
      </p:sp>
      <p:sp>
        <p:nvSpPr>
          <p:cNvPr id="50" name="object 50"/>
          <p:cNvSpPr/>
          <p:nvPr/>
        </p:nvSpPr>
        <p:spPr>
          <a:xfrm>
            <a:off x="5038311" y="4837722"/>
            <a:ext cx="41910" cy="0"/>
          </a:xfrm>
          <a:custGeom>
            <a:avLst/>
            <a:gdLst/>
            <a:ahLst/>
            <a:cxnLst/>
            <a:rect l="l" t="t" r="r" b="b"/>
            <a:pathLst>
              <a:path w="41910" h="0">
                <a:moveTo>
                  <a:pt x="0" y="0"/>
                </a:moveTo>
                <a:lnTo>
                  <a:pt x="41670" y="0"/>
                </a:lnTo>
              </a:path>
            </a:pathLst>
          </a:custGeom>
          <a:ln w="5950">
            <a:solidFill>
              <a:srgbClr val="000000"/>
            </a:solidFill>
          </a:ln>
        </p:spPr>
        <p:txBody>
          <a:bodyPr wrap="square" lIns="0" tIns="0" rIns="0" bIns="0" rtlCol="0"/>
          <a:lstStyle/>
          <a:p/>
        </p:txBody>
      </p:sp>
      <p:sp>
        <p:nvSpPr>
          <p:cNvPr id="51" name="object 51"/>
          <p:cNvSpPr/>
          <p:nvPr/>
        </p:nvSpPr>
        <p:spPr>
          <a:xfrm>
            <a:off x="5038311" y="4516015"/>
            <a:ext cx="41910" cy="0"/>
          </a:xfrm>
          <a:custGeom>
            <a:avLst/>
            <a:gdLst/>
            <a:ahLst/>
            <a:cxnLst/>
            <a:rect l="l" t="t" r="r" b="b"/>
            <a:pathLst>
              <a:path w="41910" h="0">
                <a:moveTo>
                  <a:pt x="0" y="0"/>
                </a:moveTo>
                <a:lnTo>
                  <a:pt x="41670" y="0"/>
                </a:lnTo>
              </a:path>
            </a:pathLst>
          </a:custGeom>
          <a:ln w="5950">
            <a:solidFill>
              <a:srgbClr val="000000"/>
            </a:solidFill>
          </a:ln>
        </p:spPr>
        <p:txBody>
          <a:bodyPr wrap="square" lIns="0" tIns="0" rIns="0" bIns="0" rtlCol="0"/>
          <a:lstStyle/>
          <a:p/>
        </p:txBody>
      </p:sp>
      <p:sp>
        <p:nvSpPr>
          <p:cNvPr id="52" name="object 52"/>
          <p:cNvSpPr/>
          <p:nvPr/>
        </p:nvSpPr>
        <p:spPr>
          <a:xfrm>
            <a:off x="5038311" y="4194308"/>
            <a:ext cx="41910" cy="0"/>
          </a:xfrm>
          <a:custGeom>
            <a:avLst/>
            <a:gdLst/>
            <a:ahLst/>
            <a:cxnLst/>
            <a:rect l="l" t="t" r="r" b="b"/>
            <a:pathLst>
              <a:path w="41910" h="0">
                <a:moveTo>
                  <a:pt x="0" y="0"/>
                </a:moveTo>
                <a:lnTo>
                  <a:pt x="41670" y="0"/>
                </a:lnTo>
              </a:path>
            </a:pathLst>
          </a:custGeom>
          <a:ln w="5950">
            <a:solidFill>
              <a:srgbClr val="000000"/>
            </a:solidFill>
          </a:ln>
        </p:spPr>
        <p:txBody>
          <a:bodyPr wrap="square" lIns="0" tIns="0" rIns="0" bIns="0" rtlCol="0"/>
          <a:lstStyle/>
          <a:p/>
        </p:txBody>
      </p:sp>
      <p:sp>
        <p:nvSpPr>
          <p:cNvPr id="53" name="object 53"/>
          <p:cNvSpPr/>
          <p:nvPr/>
        </p:nvSpPr>
        <p:spPr>
          <a:xfrm>
            <a:off x="5038311" y="3872601"/>
            <a:ext cx="41910" cy="0"/>
          </a:xfrm>
          <a:custGeom>
            <a:avLst/>
            <a:gdLst/>
            <a:ahLst/>
            <a:cxnLst/>
            <a:rect l="l" t="t" r="r" b="b"/>
            <a:pathLst>
              <a:path w="41910" h="0">
                <a:moveTo>
                  <a:pt x="0" y="0"/>
                </a:moveTo>
                <a:lnTo>
                  <a:pt x="41670" y="0"/>
                </a:lnTo>
              </a:path>
            </a:pathLst>
          </a:custGeom>
          <a:ln w="5950">
            <a:solidFill>
              <a:srgbClr val="000000"/>
            </a:solidFill>
          </a:ln>
        </p:spPr>
        <p:txBody>
          <a:bodyPr wrap="square" lIns="0" tIns="0" rIns="0" bIns="0" rtlCol="0"/>
          <a:lstStyle/>
          <a:p/>
        </p:txBody>
      </p:sp>
      <p:sp>
        <p:nvSpPr>
          <p:cNvPr id="54" name="object 54"/>
          <p:cNvSpPr/>
          <p:nvPr/>
        </p:nvSpPr>
        <p:spPr>
          <a:xfrm>
            <a:off x="5038311" y="3550736"/>
            <a:ext cx="41910" cy="0"/>
          </a:xfrm>
          <a:custGeom>
            <a:avLst/>
            <a:gdLst/>
            <a:ahLst/>
            <a:cxnLst/>
            <a:rect l="l" t="t" r="r" b="b"/>
            <a:pathLst>
              <a:path w="41910" h="0">
                <a:moveTo>
                  <a:pt x="0" y="0"/>
                </a:moveTo>
                <a:lnTo>
                  <a:pt x="41670" y="0"/>
                </a:lnTo>
              </a:path>
            </a:pathLst>
          </a:custGeom>
          <a:ln w="5950">
            <a:solidFill>
              <a:srgbClr val="000000"/>
            </a:solidFill>
          </a:ln>
        </p:spPr>
        <p:txBody>
          <a:bodyPr wrap="square" lIns="0" tIns="0" rIns="0" bIns="0" rtlCol="0"/>
          <a:lstStyle/>
          <a:p/>
        </p:txBody>
      </p:sp>
      <p:sp>
        <p:nvSpPr>
          <p:cNvPr id="55" name="object 55"/>
          <p:cNvSpPr/>
          <p:nvPr/>
        </p:nvSpPr>
        <p:spPr>
          <a:xfrm>
            <a:off x="5038311" y="5481373"/>
            <a:ext cx="2043430" cy="0"/>
          </a:xfrm>
          <a:custGeom>
            <a:avLst/>
            <a:gdLst/>
            <a:ahLst/>
            <a:cxnLst/>
            <a:rect l="l" t="t" r="r" b="b"/>
            <a:pathLst>
              <a:path w="2043429" h="0">
                <a:moveTo>
                  <a:pt x="0" y="0"/>
                </a:moveTo>
                <a:lnTo>
                  <a:pt x="2043025" y="0"/>
                </a:lnTo>
              </a:path>
            </a:pathLst>
          </a:custGeom>
          <a:ln w="5950">
            <a:solidFill>
              <a:srgbClr val="000000"/>
            </a:solidFill>
          </a:ln>
        </p:spPr>
        <p:txBody>
          <a:bodyPr wrap="square" lIns="0" tIns="0" rIns="0" bIns="0" rtlCol="0"/>
          <a:lstStyle/>
          <a:p/>
        </p:txBody>
      </p:sp>
      <p:sp>
        <p:nvSpPr>
          <p:cNvPr id="56" name="object 56"/>
          <p:cNvSpPr/>
          <p:nvPr/>
        </p:nvSpPr>
        <p:spPr>
          <a:xfrm>
            <a:off x="5038311" y="5439484"/>
            <a:ext cx="0" cy="41910"/>
          </a:xfrm>
          <a:custGeom>
            <a:avLst/>
            <a:gdLst/>
            <a:ahLst/>
            <a:cxnLst/>
            <a:rect l="l" t="t" r="r" b="b"/>
            <a:pathLst>
              <a:path w="0" h="41910">
                <a:moveTo>
                  <a:pt x="0" y="41889"/>
                </a:moveTo>
                <a:lnTo>
                  <a:pt x="0" y="0"/>
                </a:lnTo>
              </a:path>
            </a:pathLst>
          </a:custGeom>
          <a:ln w="5952">
            <a:solidFill>
              <a:srgbClr val="000000"/>
            </a:solidFill>
          </a:ln>
        </p:spPr>
        <p:txBody>
          <a:bodyPr wrap="square" lIns="0" tIns="0" rIns="0" bIns="0" rtlCol="0"/>
          <a:lstStyle/>
          <a:p/>
        </p:txBody>
      </p:sp>
      <p:sp>
        <p:nvSpPr>
          <p:cNvPr id="57" name="object 57"/>
          <p:cNvSpPr/>
          <p:nvPr/>
        </p:nvSpPr>
        <p:spPr>
          <a:xfrm>
            <a:off x="7087289" y="5439484"/>
            <a:ext cx="0" cy="41910"/>
          </a:xfrm>
          <a:custGeom>
            <a:avLst/>
            <a:gdLst/>
            <a:ahLst/>
            <a:cxnLst/>
            <a:rect l="l" t="t" r="r" b="b"/>
            <a:pathLst>
              <a:path w="0" h="41910">
                <a:moveTo>
                  <a:pt x="0" y="41889"/>
                </a:moveTo>
                <a:lnTo>
                  <a:pt x="0" y="0"/>
                </a:lnTo>
              </a:path>
            </a:pathLst>
          </a:custGeom>
          <a:ln w="5952">
            <a:solidFill>
              <a:srgbClr val="000000"/>
            </a:solidFill>
          </a:ln>
        </p:spPr>
        <p:txBody>
          <a:bodyPr wrap="square" lIns="0" tIns="0" rIns="0" bIns="0" rtlCol="0"/>
          <a:lstStyle/>
          <a:p/>
        </p:txBody>
      </p:sp>
      <p:sp>
        <p:nvSpPr>
          <p:cNvPr id="58" name="object 58"/>
          <p:cNvSpPr txBox="1"/>
          <p:nvPr/>
        </p:nvSpPr>
        <p:spPr>
          <a:xfrm>
            <a:off x="4826190" y="5382157"/>
            <a:ext cx="97155" cy="197485"/>
          </a:xfrm>
          <a:prstGeom prst="rect">
            <a:avLst/>
          </a:prstGeom>
        </p:spPr>
        <p:txBody>
          <a:bodyPr wrap="square" lIns="0" tIns="15875" rIns="0" bIns="0" rtlCol="0" vert="horz">
            <a:spAutoFit/>
          </a:bodyPr>
          <a:lstStyle/>
          <a:p>
            <a:pPr marL="12700">
              <a:lnSpc>
                <a:spcPct val="100000"/>
              </a:lnSpc>
              <a:spcBef>
                <a:spcPts val="125"/>
              </a:spcBef>
            </a:pPr>
            <a:r>
              <a:rPr dirty="0" sz="1100" spc="5" b="1">
                <a:latin typeface="宋体"/>
                <a:cs typeface="宋体"/>
              </a:rPr>
              <a:t>0</a:t>
            </a:r>
            <a:endParaRPr sz="1100">
              <a:latin typeface="宋体"/>
              <a:cs typeface="宋体"/>
            </a:endParaRPr>
          </a:p>
        </p:txBody>
      </p:sp>
      <p:sp>
        <p:nvSpPr>
          <p:cNvPr id="59" name="object 59"/>
          <p:cNvSpPr txBox="1"/>
          <p:nvPr/>
        </p:nvSpPr>
        <p:spPr>
          <a:xfrm>
            <a:off x="4748604" y="5060451"/>
            <a:ext cx="180340" cy="197485"/>
          </a:xfrm>
          <a:prstGeom prst="rect">
            <a:avLst/>
          </a:prstGeom>
        </p:spPr>
        <p:txBody>
          <a:bodyPr wrap="square" lIns="0" tIns="15875" rIns="0" bIns="0" rtlCol="0" vert="horz">
            <a:spAutoFit/>
          </a:bodyPr>
          <a:lstStyle/>
          <a:p>
            <a:pPr marL="12700">
              <a:lnSpc>
                <a:spcPct val="100000"/>
              </a:lnSpc>
              <a:spcBef>
                <a:spcPts val="125"/>
              </a:spcBef>
            </a:pPr>
            <a:r>
              <a:rPr dirty="0" sz="1100" spc="50" b="1">
                <a:latin typeface="宋体"/>
                <a:cs typeface="宋体"/>
              </a:rPr>
              <a:t>10</a:t>
            </a:r>
            <a:endParaRPr sz="1100">
              <a:latin typeface="宋体"/>
              <a:cs typeface="宋体"/>
            </a:endParaRPr>
          </a:p>
        </p:txBody>
      </p:sp>
      <p:sp>
        <p:nvSpPr>
          <p:cNvPr id="60" name="object 60"/>
          <p:cNvSpPr txBox="1"/>
          <p:nvPr/>
        </p:nvSpPr>
        <p:spPr>
          <a:xfrm>
            <a:off x="4748604" y="4738744"/>
            <a:ext cx="180340" cy="197485"/>
          </a:xfrm>
          <a:prstGeom prst="rect">
            <a:avLst/>
          </a:prstGeom>
        </p:spPr>
        <p:txBody>
          <a:bodyPr wrap="square" lIns="0" tIns="15875" rIns="0" bIns="0" rtlCol="0" vert="horz">
            <a:spAutoFit/>
          </a:bodyPr>
          <a:lstStyle/>
          <a:p>
            <a:pPr marL="12700">
              <a:lnSpc>
                <a:spcPct val="100000"/>
              </a:lnSpc>
              <a:spcBef>
                <a:spcPts val="125"/>
              </a:spcBef>
            </a:pPr>
            <a:r>
              <a:rPr dirty="0" sz="1100" spc="50" b="1">
                <a:latin typeface="宋体"/>
                <a:cs typeface="宋体"/>
              </a:rPr>
              <a:t>20</a:t>
            </a:r>
            <a:endParaRPr sz="1100">
              <a:latin typeface="宋体"/>
              <a:cs typeface="宋体"/>
            </a:endParaRPr>
          </a:p>
        </p:txBody>
      </p:sp>
      <p:sp>
        <p:nvSpPr>
          <p:cNvPr id="61" name="object 61"/>
          <p:cNvSpPr txBox="1"/>
          <p:nvPr/>
        </p:nvSpPr>
        <p:spPr>
          <a:xfrm>
            <a:off x="4748604" y="4416878"/>
            <a:ext cx="180340" cy="197485"/>
          </a:xfrm>
          <a:prstGeom prst="rect">
            <a:avLst/>
          </a:prstGeom>
        </p:spPr>
        <p:txBody>
          <a:bodyPr wrap="square" lIns="0" tIns="15875" rIns="0" bIns="0" rtlCol="0" vert="horz">
            <a:spAutoFit/>
          </a:bodyPr>
          <a:lstStyle/>
          <a:p>
            <a:pPr marL="12700">
              <a:lnSpc>
                <a:spcPct val="100000"/>
              </a:lnSpc>
              <a:spcBef>
                <a:spcPts val="125"/>
              </a:spcBef>
            </a:pPr>
            <a:r>
              <a:rPr dirty="0" sz="1100" spc="50" b="1">
                <a:latin typeface="宋体"/>
                <a:cs typeface="宋体"/>
              </a:rPr>
              <a:t>30</a:t>
            </a:r>
            <a:endParaRPr sz="1100">
              <a:latin typeface="宋体"/>
              <a:cs typeface="宋体"/>
            </a:endParaRPr>
          </a:p>
        </p:txBody>
      </p:sp>
      <p:sp>
        <p:nvSpPr>
          <p:cNvPr id="62" name="object 62"/>
          <p:cNvSpPr txBox="1"/>
          <p:nvPr/>
        </p:nvSpPr>
        <p:spPr>
          <a:xfrm>
            <a:off x="4748604" y="4095172"/>
            <a:ext cx="180340" cy="197485"/>
          </a:xfrm>
          <a:prstGeom prst="rect">
            <a:avLst/>
          </a:prstGeom>
        </p:spPr>
        <p:txBody>
          <a:bodyPr wrap="square" lIns="0" tIns="15875" rIns="0" bIns="0" rtlCol="0" vert="horz">
            <a:spAutoFit/>
          </a:bodyPr>
          <a:lstStyle/>
          <a:p>
            <a:pPr marL="12700">
              <a:lnSpc>
                <a:spcPct val="100000"/>
              </a:lnSpc>
              <a:spcBef>
                <a:spcPts val="125"/>
              </a:spcBef>
            </a:pPr>
            <a:r>
              <a:rPr dirty="0" sz="1100" spc="50" b="1">
                <a:latin typeface="宋体"/>
                <a:cs typeface="宋体"/>
              </a:rPr>
              <a:t>40</a:t>
            </a:r>
            <a:endParaRPr sz="1100">
              <a:latin typeface="宋体"/>
              <a:cs typeface="宋体"/>
            </a:endParaRPr>
          </a:p>
        </p:txBody>
      </p:sp>
      <p:sp>
        <p:nvSpPr>
          <p:cNvPr id="63" name="object 63"/>
          <p:cNvSpPr txBox="1"/>
          <p:nvPr/>
        </p:nvSpPr>
        <p:spPr>
          <a:xfrm>
            <a:off x="4748604" y="3773465"/>
            <a:ext cx="180340" cy="197485"/>
          </a:xfrm>
          <a:prstGeom prst="rect">
            <a:avLst/>
          </a:prstGeom>
        </p:spPr>
        <p:txBody>
          <a:bodyPr wrap="square" lIns="0" tIns="15875" rIns="0" bIns="0" rtlCol="0" vert="horz">
            <a:spAutoFit/>
          </a:bodyPr>
          <a:lstStyle/>
          <a:p>
            <a:pPr marL="12700">
              <a:lnSpc>
                <a:spcPct val="100000"/>
              </a:lnSpc>
              <a:spcBef>
                <a:spcPts val="125"/>
              </a:spcBef>
            </a:pPr>
            <a:r>
              <a:rPr dirty="0" sz="1100" spc="50" b="1">
                <a:latin typeface="宋体"/>
                <a:cs typeface="宋体"/>
              </a:rPr>
              <a:t>50</a:t>
            </a:r>
            <a:endParaRPr sz="1100">
              <a:latin typeface="宋体"/>
              <a:cs typeface="宋体"/>
            </a:endParaRPr>
          </a:p>
        </p:txBody>
      </p:sp>
      <p:sp>
        <p:nvSpPr>
          <p:cNvPr id="64" name="object 64"/>
          <p:cNvSpPr txBox="1"/>
          <p:nvPr/>
        </p:nvSpPr>
        <p:spPr>
          <a:xfrm>
            <a:off x="4748604" y="3451758"/>
            <a:ext cx="180340" cy="197485"/>
          </a:xfrm>
          <a:prstGeom prst="rect">
            <a:avLst/>
          </a:prstGeom>
        </p:spPr>
        <p:txBody>
          <a:bodyPr wrap="square" lIns="0" tIns="15875" rIns="0" bIns="0" rtlCol="0" vert="horz">
            <a:spAutoFit/>
          </a:bodyPr>
          <a:lstStyle/>
          <a:p>
            <a:pPr marL="12700">
              <a:lnSpc>
                <a:spcPct val="100000"/>
              </a:lnSpc>
              <a:spcBef>
                <a:spcPts val="125"/>
              </a:spcBef>
            </a:pPr>
            <a:r>
              <a:rPr dirty="0" sz="1100" spc="50" b="1">
                <a:latin typeface="宋体"/>
                <a:cs typeface="宋体"/>
              </a:rPr>
              <a:t>60</a:t>
            </a:r>
            <a:endParaRPr sz="1100">
              <a:latin typeface="宋体"/>
              <a:cs typeface="宋体"/>
            </a:endParaRPr>
          </a:p>
        </p:txBody>
      </p:sp>
      <p:sp>
        <p:nvSpPr>
          <p:cNvPr id="65" name="object 65"/>
          <p:cNvSpPr txBox="1"/>
          <p:nvPr/>
        </p:nvSpPr>
        <p:spPr>
          <a:xfrm>
            <a:off x="5898302" y="5590652"/>
            <a:ext cx="323215" cy="197485"/>
          </a:xfrm>
          <a:prstGeom prst="rect">
            <a:avLst/>
          </a:prstGeom>
        </p:spPr>
        <p:txBody>
          <a:bodyPr wrap="square" lIns="0" tIns="15875" rIns="0" bIns="0" rtlCol="0" vert="horz">
            <a:spAutoFit/>
          </a:bodyPr>
          <a:lstStyle/>
          <a:p>
            <a:pPr marL="12700">
              <a:lnSpc>
                <a:spcPct val="100000"/>
              </a:lnSpc>
              <a:spcBef>
                <a:spcPts val="125"/>
              </a:spcBef>
            </a:pPr>
            <a:r>
              <a:rPr dirty="0" sz="1100" spc="65" b="1">
                <a:latin typeface="宋体"/>
                <a:cs typeface="宋体"/>
              </a:rPr>
              <a:t>贡献</a:t>
            </a:r>
            <a:endParaRPr sz="1100">
              <a:latin typeface="宋体"/>
              <a:cs typeface="宋体"/>
            </a:endParaRPr>
          </a:p>
        </p:txBody>
      </p:sp>
      <p:sp>
        <p:nvSpPr>
          <p:cNvPr id="66" name="object 66"/>
          <p:cNvSpPr/>
          <p:nvPr/>
        </p:nvSpPr>
        <p:spPr>
          <a:xfrm>
            <a:off x="7197616" y="3595561"/>
            <a:ext cx="89535" cy="89535"/>
          </a:xfrm>
          <a:custGeom>
            <a:avLst/>
            <a:gdLst/>
            <a:ahLst/>
            <a:cxnLst/>
            <a:rect l="l" t="t" r="r" b="b"/>
            <a:pathLst>
              <a:path w="89534" h="89535">
                <a:moveTo>
                  <a:pt x="0" y="89252"/>
                </a:moveTo>
                <a:lnTo>
                  <a:pt x="89293" y="89252"/>
                </a:lnTo>
                <a:lnTo>
                  <a:pt x="89293" y="0"/>
                </a:lnTo>
                <a:lnTo>
                  <a:pt x="0" y="0"/>
                </a:lnTo>
                <a:lnTo>
                  <a:pt x="0" y="89252"/>
                </a:lnTo>
                <a:close/>
              </a:path>
            </a:pathLst>
          </a:custGeom>
          <a:solidFill>
            <a:srgbClr val="4F81BC"/>
          </a:solidFill>
        </p:spPr>
        <p:txBody>
          <a:bodyPr wrap="square" lIns="0" tIns="0" rIns="0" bIns="0" rtlCol="0"/>
          <a:lstStyle/>
          <a:p/>
        </p:txBody>
      </p:sp>
      <p:sp>
        <p:nvSpPr>
          <p:cNvPr id="67" name="object 67"/>
          <p:cNvSpPr/>
          <p:nvPr/>
        </p:nvSpPr>
        <p:spPr>
          <a:xfrm>
            <a:off x="7197616" y="3595561"/>
            <a:ext cx="89535" cy="89535"/>
          </a:xfrm>
          <a:custGeom>
            <a:avLst/>
            <a:gdLst/>
            <a:ahLst/>
            <a:cxnLst/>
            <a:rect l="l" t="t" r="r" b="b"/>
            <a:pathLst>
              <a:path w="89534" h="89535">
                <a:moveTo>
                  <a:pt x="0" y="89252"/>
                </a:moveTo>
                <a:lnTo>
                  <a:pt x="89293" y="89252"/>
                </a:lnTo>
                <a:lnTo>
                  <a:pt x="89293" y="0"/>
                </a:lnTo>
                <a:lnTo>
                  <a:pt x="0" y="0"/>
                </a:lnTo>
                <a:lnTo>
                  <a:pt x="0" y="89252"/>
                </a:lnTo>
                <a:close/>
              </a:path>
            </a:pathLst>
          </a:custGeom>
          <a:ln w="5951">
            <a:solidFill>
              <a:srgbClr val="000000"/>
            </a:solidFill>
          </a:ln>
        </p:spPr>
        <p:txBody>
          <a:bodyPr wrap="square" lIns="0" tIns="0" rIns="0" bIns="0" rtlCol="0"/>
          <a:lstStyle/>
          <a:p/>
        </p:txBody>
      </p:sp>
      <p:sp>
        <p:nvSpPr>
          <p:cNvPr id="68" name="object 68"/>
          <p:cNvSpPr/>
          <p:nvPr/>
        </p:nvSpPr>
        <p:spPr>
          <a:xfrm>
            <a:off x="7197616" y="3958879"/>
            <a:ext cx="89535" cy="89535"/>
          </a:xfrm>
          <a:custGeom>
            <a:avLst/>
            <a:gdLst/>
            <a:ahLst/>
            <a:cxnLst/>
            <a:rect l="l" t="t" r="r" b="b"/>
            <a:pathLst>
              <a:path w="89534" h="89535">
                <a:moveTo>
                  <a:pt x="0" y="89451"/>
                </a:moveTo>
                <a:lnTo>
                  <a:pt x="89293" y="89451"/>
                </a:lnTo>
                <a:lnTo>
                  <a:pt x="89293" y="0"/>
                </a:lnTo>
                <a:lnTo>
                  <a:pt x="0" y="0"/>
                </a:lnTo>
                <a:lnTo>
                  <a:pt x="0" y="89451"/>
                </a:lnTo>
                <a:close/>
              </a:path>
            </a:pathLst>
          </a:custGeom>
          <a:solidFill>
            <a:srgbClr val="C0504D"/>
          </a:solidFill>
        </p:spPr>
        <p:txBody>
          <a:bodyPr wrap="square" lIns="0" tIns="0" rIns="0" bIns="0" rtlCol="0"/>
          <a:lstStyle/>
          <a:p/>
        </p:txBody>
      </p:sp>
      <p:sp>
        <p:nvSpPr>
          <p:cNvPr id="69" name="object 69"/>
          <p:cNvSpPr/>
          <p:nvPr/>
        </p:nvSpPr>
        <p:spPr>
          <a:xfrm>
            <a:off x="7197616" y="3958879"/>
            <a:ext cx="89535" cy="89535"/>
          </a:xfrm>
          <a:custGeom>
            <a:avLst/>
            <a:gdLst/>
            <a:ahLst/>
            <a:cxnLst/>
            <a:rect l="l" t="t" r="r" b="b"/>
            <a:pathLst>
              <a:path w="89534" h="89535">
                <a:moveTo>
                  <a:pt x="0" y="89451"/>
                </a:moveTo>
                <a:lnTo>
                  <a:pt x="89293" y="89451"/>
                </a:lnTo>
                <a:lnTo>
                  <a:pt x="89293" y="0"/>
                </a:lnTo>
                <a:lnTo>
                  <a:pt x="0" y="0"/>
                </a:lnTo>
                <a:lnTo>
                  <a:pt x="0" y="89451"/>
                </a:lnTo>
                <a:close/>
              </a:path>
            </a:pathLst>
          </a:custGeom>
          <a:ln w="5951">
            <a:solidFill>
              <a:srgbClr val="000000"/>
            </a:solidFill>
          </a:ln>
        </p:spPr>
        <p:txBody>
          <a:bodyPr wrap="square" lIns="0" tIns="0" rIns="0" bIns="0" rtlCol="0"/>
          <a:lstStyle/>
          <a:p/>
        </p:txBody>
      </p:sp>
      <p:sp>
        <p:nvSpPr>
          <p:cNvPr id="70" name="object 70"/>
          <p:cNvSpPr/>
          <p:nvPr/>
        </p:nvSpPr>
        <p:spPr>
          <a:xfrm>
            <a:off x="7197616" y="4322435"/>
            <a:ext cx="89535" cy="89535"/>
          </a:xfrm>
          <a:custGeom>
            <a:avLst/>
            <a:gdLst/>
            <a:ahLst/>
            <a:cxnLst/>
            <a:rect l="l" t="t" r="r" b="b"/>
            <a:pathLst>
              <a:path w="89534" h="89535">
                <a:moveTo>
                  <a:pt x="0" y="89252"/>
                </a:moveTo>
                <a:lnTo>
                  <a:pt x="89293" y="89252"/>
                </a:lnTo>
                <a:lnTo>
                  <a:pt x="89293" y="0"/>
                </a:lnTo>
                <a:lnTo>
                  <a:pt x="0" y="0"/>
                </a:lnTo>
                <a:lnTo>
                  <a:pt x="0" y="89252"/>
                </a:lnTo>
                <a:close/>
              </a:path>
            </a:pathLst>
          </a:custGeom>
          <a:solidFill>
            <a:srgbClr val="0000FF"/>
          </a:solidFill>
        </p:spPr>
        <p:txBody>
          <a:bodyPr wrap="square" lIns="0" tIns="0" rIns="0" bIns="0" rtlCol="0"/>
          <a:lstStyle/>
          <a:p/>
        </p:txBody>
      </p:sp>
      <p:sp>
        <p:nvSpPr>
          <p:cNvPr id="71" name="object 71"/>
          <p:cNvSpPr/>
          <p:nvPr/>
        </p:nvSpPr>
        <p:spPr>
          <a:xfrm>
            <a:off x="7197616" y="4322435"/>
            <a:ext cx="89535" cy="89535"/>
          </a:xfrm>
          <a:custGeom>
            <a:avLst/>
            <a:gdLst/>
            <a:ahLst/>
            <a:cxnLst/>
            <a:rect l="l" t="t" r="r" b="b"/>
            <a:pathLst>
              <a:path w="89534" h="89535">
                <a:moveTo>
                  <a:pt x="0" y="89252"/>
                </a:moveTo>
                <a:lnTo>
                  <a:pt x="89293" y="89252"/>
                </a:lnTo>
                <a:lnTo>
                  <a:pt x="89293" y="0"/>
                </a:lnTo>
                <a:lnTo>
                  <a:pt x="0" y="0"/>
                </a:lnTo>
                <a:lnTo>
                  <a:pt x="0" y="89252"/>
                </a:lnTo>
                <a:close/>
              </a:path>
            </a:pathLst>
          </a:custGeom>
          <a:ln w="5951">
            <a:solidFill>
              <a:srgbClr val="000000"/>
            </a:solidFill>
          </a:ln>
        </p:spPr>
        <p:txBody>
          <a:bodyPr wrap="square" lIns="0" tIns="0" rIns="0" bIns="0" rtlCol="0"/>
          <a:lstStyle/>
          <a:p/>
        </p:txBody>
      </p:sp>
      <p:sp>
        <p:nvSpPr>
          <p:cNvPr id="72" name="object 72"/>
          <p:cNvSpPr/>
          <p:nvPr/>
        </p:nvSpPr>
        <p:spPr>
          <a:xfrm>
            <a:off x="7197616" y="4685833"/>
            <a:ext cx="89535" cy="89535"/>
          </a:xfrm>
          <a:custGeom>
            <a:avLst/>
            <a:gdLst/>
            <a:ahLst/>
            <a:cxnLst/>
            <a:rect l="l" t="t" r="r" b="b"/>
            <a:pathLst>
              <a:path w="89534" h="89535">
                <a:moveTo>
                  <a:pt x="0" y="89451"/>
                </a:moveTo>
                <a:lnTo>
                  <a:pt x="89293" y="89451"/>
                </a:lnTo>
                <a:lnTo>
                  <a:pt x="89293" y="0"/>
                </a:lnTo>
                <a:lnTo>
                  <a:pt x="0" y="0"/>
                </a:lnTo>
                <a:lnTo>
                  <a:pt x="0" y="89451"/>
                </a:lnTo>
                <a:close/>
              </a:path>
            </a:pathLst>
          </a:custGeom>
          <a:solidFill>
            <a:srgbClr val="800080"/>
          </a:solidFill>
        </p:spPr>
        <p:txBody>
          <a:bodyPr wrap="square" lIns="0" tIns="0" rIns="0" bIns="0" rtlCol="0"/>
          <a:lstStyle/>
          <a:p/>
        </p:txBody>
      </p:sp>
      <p:sp>
        <p:nvSpPr>
          <p:cNvPr id="73" name="object 73"/>
          <p:cNvSpPr/>
          <p:nvPr/>
        </p:nvSpPr>
        <p:spPr>
          <a:xfrm>
            <a:off x="7197616" y="4685833"/>
            <a:ext cx="89535" cy="89535"/>
          </a:xfrm>
          <a:custGeom>
            <a:avLst/>
            <a:gdLst/>
            <a:ahLst/>
            <a:cxnLst/>
            <a:rect l="l" t="t" r="r" b="b"/>
            <a:pathLst>
              <a:path w="89534" h="89535">
                <a:moveTo>
                  <a:pt x="0" y="89451"/>
                </a:moveTo>
                <a:lnTo>
                  <a:pt x="89293" y="89451"/>
                </a:lnTo>
                <a:lnTo>
                  <a:pt x="89293" y="0"/>
                </a:lnTo>
                <a:lnTo>
                  <a:pt x="0" y="0"/>
                </a:lnTo>
                <a:lnTo>
                  <a:pt x="0" y="89451"/>
                </a:lnTo>
                <a:close/>
              </a:path>
            </a:pathLst>
          </a:custGeom>
          <a:ln w="5951">
            <a:solidFill>
              <a:srgbClr val="000000"/>
            </a:solidFill>
          </a:ln>
        </p:spPr>
        <p:txBody>
          <a:bodyPr wrap="square" lIns="0" tIns="0" rIns="0" bIns="0" rtlCol="0"/>
          <a:lstStyle/>
          <a:p/>
        </p:txBody>
      </p:sp>
      <p:sp>
        <p:nvSpPr>
          <p:cNvPr id="74" name="object 74"/>
          <p:cNvSpPr/>
          <p:nvPr/>
        </p:nvSpPr>
        <p:spPr>
          <a:xfrm>
            <a:off x="7197616" y="5049389"/>
            <a:ext cx="89535" cy="89535"/>
          </a:xfrm>
          <a:custGeom>
            <a:avLst/>
            <a:gdLst/>
            <a:ahLst/>
            <a:cxnLst/>
            <a:rect l="l" t="t" r="r" b="b"/>
            <a:pathLst>
              <a:path w="89534" h="89535">
                <a:moveTo>
                  <a:pt x="0" y="89252"/>
                </a:moveTo>
                <a:lnTo>
                  <a:pt x="89293" y="89252"/>
                </a:lnTo>
                <a:lnTo>
                  <a:pt x="89293" y="0"/>
                </a:lnTo>
                <a:lnTo>
                  <a:pt x="0" y="0"/>
                </a:lnTo>
                <a:lnTo>
                  <a:pt x="0" y="89252"/>
                </a:lnTo>
                <a:close/>
              </a:path>
            </a:pathLst>
          </a:custGeom>
          <a:solidFill>
            <a:srgbClr val="EDEBE0"/>
          </a:solidFill>
        </p:spPr>
        <p:txBody>
          <a:bodyPr wrap="square" lIns="0" tIns="0" rIns="0" bIns="0" rtlCol="0"/>
          <a:lstStyle/>
          <a:p/>
        </p:txBody>
      </p:sp>
      <p:sp>
        <p:nvSpPr>
          <p:cNvPr id="75" name="object 75"/>
          <p:cNvSpPr/>
          <p:nvPr/>
        </p:nvSpPr>
        <p:spPr>
          <a:xfrm>
            <a:off x="7197616" y="5049389"/>
            <a:ext cx="89535" cy="89535"/>
          </a:xfrm>
          <a:custGeom>
            <a:avLst/>
            <a:gdLst/>
            <a:ahLst/>
            <a:cxnLst/>
            <a:rect l="l" t="t" r="r" b="b"/>
            <a:pathLst>
              <a:path w="89534" h="89535">
                <a:moveTo>
                  <a:pt x="0" y="89252"/>
                </a:moveTo>
                <a:lnTo>
                  <a:pt x="89293" y="89252"/>
                </a:lnTo>
                <a:lnTo>
                  <a:pt x="89293" y="0"/>
                </a:lnTo>
                <a:lnTo>
                  <a:pt x="0" y="0"/>
                </a:lnTo>
                <a:lnTo>
                  <a:pt x="0" y="89252"/>
                </a:lnTo>
                <a:close/>
              </a:path>
            </a:pathLst>
          </a:custGeom>
          <a:ln w="5951">
            <a:solidFill>
              <a:srgbClr val="000000"/>
            </a:solidFill>
          </a:ln>
        </p:spPr>
        <p:txBody>
          <a:bodyPr wrap="square" lIns="0" tIns="0" rIns="0" bIns="0" rtlCol="0"/>
          <a:lstStyle/>
          <a:p/>
        </p:txBody>
      </p:sp>
      <p:sp>
        <p:nvSpPr>
          <p:cNvPr id="76" name="object 76"/>
          <p:cNvSpPr/>
          <p:nvPr/>
        </p:nvSpPr>
        <p:spPr>
          <a:xfrm>
            <a:off x="7197616" y="5412708"/>
            <a:ext cx="89535" cy="89535"/>
          </a:xfrm>
          <a:custGeom>
            <a:avLst/>
            <a:gdLst/>
            <a:ahLst/>
            <a:cxnLst/>
            <a:rect l="l" t="t" r="r" b="b"/>
            <a:pathLst>
              <a:path w="89534" h="89535">
                <a:moveTo>
                  <a:pt x="0" y="89451"/>
                </a:moveTo>
                <a:lnTo>
                  <a:pt x="89293" y="89451"/>
                </a:lnTo>
                <a:lnTo>
                  <a:pt x="89293" y="0"/>
                </a:lnTo>
                <a:lnTo>
                  <a:pt x="0" y="0"/>
                </a:lnTo>
                <a:lnTo>
                  <a:pt x="0" y="89451"/>
                </a:lnTo>
                <a:close/>
              </a:path>
            </a:pathLst>
          </a:custGeom>
          <a:solidFill>
            <a:srgbClr val="1F487C"/>
          </a:solidFill>
        </p:spPr>
        <p:txBody>
          <a:bodyPr wrap="square" lIns="0" tIns="0" rIns="0" bIns="0" rtlCol="0"/>
          <a:lstStyle/>
          <a:p/>
        </p:txBody>
      </p:sp>
      <p:sp>
        <p:nvSpPr>
          <p:cNvPr id="77" name="object 77"/>
          <p:cNvSpPr/>
          <p:nvPr/>
        </p:nvSpPr>
        <p:spPr>
          <a:xfrm>
            <a:off x="7197616" y="5412708"/>
            <a:ext cx="89535" cy="89535"/>
          </a:xfrm>
          <a:custGeom>
            <a:avLst/>
            <a:gdLst/>
            <a:ahLst/>
            <a:cxnLst/>
            <a:rect l="l" t="t" r="r" b="b"/>
            <a:pathLst>
              <a:path w="89534" h="89535">
                <a:moveTo>
                  <a:pt x="0" y="89451"/>
                </a:moveTo>
                <a:lnTo>
                  <a:pt x="89293" y="89451"/>
                </a:lnTo>
                <a:lnTo>
                  <a:pt x="89293" y="0"/>
                </a:lnTo>
                <a:lnTo>
                  <a:pt x="0" y="0"/>
                </a:lnTo>
                <a:lnTo>
                  <a:pt x="0" y="89451"/>
                </a:lnTo>
                <a:close/>
              </a:path>
            </a:pathLst>
          </a:custGeom>
          <a:ln w="5951">
            <a:solidFill>
              <a:srgbClr val="000000"/>
            </a:solidFill>
          </a:ln>
        </p:spPr>
        <p:txBody>
          <a:bodyPr wrap="square" lIns="0" tIns="0" rIns="0" bIns="0" rtlCol="0"/>
          <a:lstStyle/>
          <a:p/>
        </p:txBody>
      </p:sp>
      <p:sp>
        <p:nvSpPr>
          <p:cNvPr id="78" name="object 78"/>
          <p:cNvSpPr txBox="1"/>
          <p:nvPr/>
        </p:nvSpPr>
        <p:spPr>
          <a:xfrm>
            <a:off x="7149993" y="3523920"/>
            <a:ext cx="1250950" cy="2181225"/>
          </a:xfrm>
          <a:prstGeom prst="rect">
            <a:avLst/>
          </a:prstGeom>
          <a:ln w="5952">
            <a:solidFill>
              <a:srgbClr val="000000"/>
            </a:solidFill>
          </a:ln>
        </p:spPr>
        <p:txBody>
          <a:bodyPr wrap="square" lIns="0" tIns="26670" rIns="0" bIns="0" rtlCol="0" vert="horz">
            <a:spAutoFit/>
          </a:bodyPr>
          <a:lstStyle/>
          <a:p>
            <a:pPr marL="178435" marR="22225">
              <a:lnSpc>
                <a:spcPct val="100000"/>
              </a:lnSpc>
              <a:spcBef>
                <a:spcPts val="210"/>
              </a:spcBef>
            </a:pPr>
            <a:r>
              <a:rPr dirty="0" sz="1100" spc="65" b="1">
                <a:latin typeface="宋体"/>
                <a:cs typeface="宋体"/>
              </a:rPr>
              <a:t>不准确的销售订 </a:t>
            </a:r>
            <a:r>
              <a:rPr dirty="0" sz="1100" spc="20" b="1">
                <a:latin typeface="宋体"/>
                <a:cs typeface="宋体"/>
              </a:rPr>
              <a:t>单</a:t>
            </a:r>
            <a:endParaRPr sz="1100">
              <a:latin typeface="宋体"/>
              <a:cs typeface="宋体"/>
            </a:endParaRPr>
          </a:p>
          <a:p>
            <a:pPr marL="178435">
              <a:lnSpc>
                <a:spcPct val="100000"/>
              </a:lnSpc>
              <a:spcBef>
                <a:spcPts val="225"/>
              </a:spcBef>
            </a:pPr>
            <a:r>
              <a:rPr dirty="0" sz="1100" spc="65" b="1">
                <a:latin typeface="宋体"/>
                <a:cs typeface="宋体"/>
              </a:rPr>
              <a:t>运输损耗</a:t>
            </a:r>
            <a:endParaRPr sz="1100">
              <a:latin typeface="宋体"/>
              <a:cs typeface="宋体"/>
            </a:endParaRPr>
          </a:p>
          <a:p>
            <a:pPr marL="178435" marR="320040">
              <a:lnSpc>
                <a:spcPct val="216800"/>
              </a:lnSpc>
            </a:pPr>
            <a:r>
              <a:rPr dirty="0" sz="1100" spc="65" b="1">
                <a:latin typeface="宋体"/>
                <a:cs typeface="宋体"/>
              </a:rPr>
              <a:t>用户退货 </a:t>
            </a:r>
            <a:r>
              <a:rPr dirty="0" sz="1100" spc="65" b="1">
                <a:latin typeface="宋体"/>
                <a:cs typeface="宋体"/>
              </a:rPr>
              <a:t>制成品折旧 </a:t>
            </a:r>
            <a:r>
              <a:rPr dirty="0" sz="1100" spc="65" b="1">
                <a:latin typeface="宋体"/>
                <a:cs typeface="宋体"/>
              </a:rPr>
              <a:t>制造缺陷 其他</a:t>
            </a:r>
            <a:endParaRPr sz="1100">
              <a:latin typeface="宋体"/>
              <a:cs typeface="宋体"/>
            </a:endParaRPr>
          </a:p>
        </p:txBody>
      </p:sp>
      <p:sp>
        <p:nvSpPr>
          <p:cNvPr id="79" name="object 79"/>
          <p:cNvSpPr txBox="1"/>
          <p:nvPr/>
        </p:nvSpPr>
        <p:spPr>
          <a:xfrm>
            <a:off x="1869439" y="5861380"/>
            <a:ext cx="5854065" cy="411480"/>
          </a:xfrm>
          <a:prstGeom prst="rect">
            <a:avLst/>
          </a:prstGeom>
        </p:spPr>
        <p:txBody>
          <a:bodyPr wrap="square" lIns="0" tIns="16510" rIns="0" bIns="0" rtlCol="0" vert="horz">
            <a:spAutoFit/>
          </a:bodyPr>
          <a:lstStyle/>
          <a:p>
            <a:pPr marL="12700">
              <a:lnSpc>
                <a:spcPct val="100000"/>
              </a:lnSpc>
              <a:spcBef>
                <a:spcPts val="130"/>
              </a:spcBef>
            </a:pPr>
            <a:r>
              <a:rPr dirty="0" sz="2500" spc="-55" b="1" i="1">
                <a:solidFill>
                  <a:srgbClr val="C00000"/>
                </a:solidFill>
                <a:latin typeface="楷体"/>
                <a:cs typeface="楷体"/>
              </a:rPr>
              <a:t>P8.</a:t>
            </a:r>
            <a:r>
              <a:rPr dirty="0" sz="2500" spc="-120" b="1" i="1">
                <a:solidFill>
                  <a:srgbClr val="C00000"/>
                </a:solidFill>
                <a:latin typeface="楷体"/>
                <a:cs typeface="楷体"/>
              </a:rPr>
              <a:t> </a:t>
            </a:r>
            <a:r>
              <a:rPr dirty="0" sz="2500" spc="-100" b="1" i="1">
                <a:solidFill>
                  <a:srgbClr val="C00000"/>
                </a:solidFill>
                <a:latin typeface="楷体"/>
                <a:cs typeface="楷体"/>
              </a:rPr>
              <a:t>销售订单不准确，导致产生太多废品。</a:t>
            </a:r>
            <a:endParaRPr sz="2500">
              <a:latin typeface="楷体"/>
              <a:cs typeface="楷体"/>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2852" y="315595"/>
            <a:ext cx="463931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2.2.2</a:t>
            </a:r>
            <a:r>
              <a:rPr dirty="0" spc="-85">
                <a:latin typeface="Calibri"/>
                <a:cs typeface="Calibri"/>
              </a:rPr>
              <a:t> </a:t>
            </a:r>
            <a:r>
              <a:rPr dirty="0"/>
              <a:t>发现业务需求</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45361"/>
            <a:ext cx="8307705" cy="4189095"/>
          </a:xfrm>
          <a:prstGeom prst="rect">
            <a:avLst/>
          </a:prstGeom>
        </p:spPr>
        <p:txBody>
          <a:bodyPr wrap="square" lIns="0" tIns="53975" rIns="0" bIns="0" rtlCol="0" vert="horz">
            <a:spAutoFit/>
          </a:bodyPr>
          <a:lstStyle/>
          <a:p>
            <a:pPr marL="355600" marR="622935" indent="-343535">
              <a:lnSpc>
                <a:spcPts val="3600"/>
              </a:lnSpc>
              <a:spcBef>
                <a:spcPts val="425"/>
              </a:spcBef>
              <a:buClr>
                <a:srgbClr val="00663B"/>
              </a:buClr>
              <a:buSzPct val="79687"/>
              <a:buFont typeface="Wingdings"/>
              <a:buChar char=""/>
              <a:tabLst>
                <a:tab pos="356235" algn="l"/>
              </a:tabLst>
            </a:pPr>
            <a:r>
              <a:rPr dirty="0" sz="3200">
                <a:latin typeface="宋体"/>
                <a:cs typeface="宋体"/>
              </a:rPr>
              <a:t>每一个</a:t>
            </a:r>
            <a:r>
              <a:rPr dirty="0" sz="3200">
                <a:solidFill>
                  <a:srgbClr val="00A15F"/>
                </a:solidFill>
                <a:latin typeface="宋体"/>
                <a:cs typeface="宋体"/>
              </a:rPr>
              <a:t>明确、一致的问</a:t>
            </a:r>
            <a:r>
              <a:rPr dirty="0" sz="3200" spc="-5">
                <a:solidFill>
                  <a:srgbClr val="00A15F"/>
                </a:solidFill>
                <a:latin typeface="宋体"/>
                <a:cs typeface="宋体"/>
              </a:rPr>
              <a:t>题</a:t>
            </a:r>
            <a:r>
              <a:rPr dirty="0" sz="3200" spc="5">
                <a:latin typeface="宋体"/>
                <a:cs typeface="宋体"/>
              </a:rPr>
              <a:t>都意</a:t>
            </a:r>
            <a:r>
              <a:rPr dirty="0" sz="3200" spc="-15">
                <a:latin typeface="宋体"/>
                <a:cs typeface="宋体"/>
              </a:rPr>
              <a:t>味</a:t>
            </a:r>
            <a:r>
              <a:rPr dirty="0" sz="3200" spc="5">
                <a:latin typeface="宋体"/>
                <a:cs typeface="宋体"/>
              </a:rPr>
              <a:t>着涉</a:t>
            </a:r>
            <a:r>
              <a:rPr dirty="0" sz="3200" spc="-15">
                <a:latin typeface="宋体"/>
                <a:cs typeface="宋体"/>
              </a:rPr>
              <a:t>众</a:t>
            </a:r>
            <a:r>
              <a:rPr dirty="0" sz="3200">
                <a:latin typeface="宋体"/>
                <a:cs typeface="宋体"/>
              </a:rPr>
              <a:t>存 </a:t>
            </a:r>
            <a:r>
              <a:rPr dirty="0" sz="3200">
                <a:latin typeface="宋体"/>
                <a:cs typeface="宋体"/>
              </a:rPr>
              <a:t>在一些相应的</a:t>
            </a:r>
            <a:r>
              <a:rPr dirty="0" sz="3200">
                <a:solidFill>
                  <a:srgbClr val="00A15F"/>
                </a:solidFill>
                <a:latin typeface="宋体"/>
                <a:cs typeface="宋体"/>
              </a:rPr>
              <a:t>期望目标</a:t>
            </a:r>
            <a:r>
              <a:rPr dirty="0" sz="3200" spc="-15">
                <a:latin typeface="宋体"/>
                <a:cs typeface="宋体"/>
              </a:rPr>
              <a:t>，</a:t>
            </a:r>
            <a:r>
              <a:rPr dirty="0" sz="3200">
                <a:latin typeface="宋体"/>
                <a:cs typeface="宋体"/>
              </a:rPr>
              <a:t>即业</a:t>
            </a:r>
            <a:r>
              <a:rPr dirty="0" sz="3200" spc="-15">
                <a:latin typeface="宋体"/>
                <a:cs typeface="宋体"/>
              </a:rPr>
              <a:t>务</a:t>
            </a:r>
            <a:r>
              <a:rPr dirty="0" sz="3200">
                <a:latin typeface="宋体"/>
                <a:cs typeface="宋体"/>
              </a:rPr>
              <a:t>需求。</a:t>
            </a:r>
            <a:endParaRPr sz="3200">
              <a:latin typeface="宋体"/>
              <a:cs typeface="宋体"/>
            </a:endParaRPr>
          </a:p>
          <a:p>
            <a:pPr lvl="1" marL="756285" indent="-287020">
              <a:lnSpc>
                <a:spcPct val="100000"/>
              </a:lnSpc>
              <a:spcBef>
                <a:spcPts val="1800"/>
              </a:spcBef>
              <a:buClr>
                <a:srgbClr val="C00000"/>
              </a:buClr>
              <a:buSzPct val="59375"/>
              <a:buFont typeface="Wingdings"/>
              <a:buChar char=""/>
              <a:tabLst>
                <a:tab pos="756920" algn="l"/>
              </a:tabLst>
            </a:pPr>
            <a:r>
              <a:rPr dirty="0" sz="3200" i="1">
                <a:latin typeface="Calibri"/>
                <a:cs typeface="Calibri"/>
              </a:rPr>
              <a:t>P3.</a:t>
            </a:r>
            <a:r>
              <a:rPr dirty="0" sz="3200" spc="-10" i="1">
                <a:latin typeface="Calibri"/>
                <a:cs typeface="Calibri"/>
              </a:rPr>
              <a:t> </a:t>
            </a:r>
            <a:r>
              <a:rPr dirty="0" sz="3350" spc="-150" i="1">
                <a:latin typeface="宋体"/>
                <a:cs typeface="宋体"/>
              </a:rPr>
              <a:t>决策者：生产的废品过多</a:t>
            </a:r>
            <a:endParaRPr sz="3350">
              <a:latin typeface="宋体"/>
              <a:cs typeface="宋体"/>
            </a:endParaRPr>
          </a:p>
          <a:p>
            <a:pPr lvl="2" marL="1155700" marR="537845" indent="-228600">
              <a:lnSpc>
                <a:spcPct val="142400"/>
              </a:lnSpc>
              <a:spcBef>
                <a:spcPts val="775"/>
              </a:spcBef>
              <a:buFont typeface="Arial"/>
              <a:buChar char="•"/>
              <a:tabLst>
                <a:tab pos="1156335" algn="l"/>
              </a:tabLst>
            </a:pPr>
            <a:r>
              <a:rPr dirty="0" sz="2800" spc="-5" i="1">
                <a:latin typeface="Calibri"/>
                <a:cs typeface="Calibri"/>
              </a:rPr>
              <a:t>B</a:t>
            </a:r>
            <a:r>
              <a:rPr dirty="0" sz="2800" i="1">
                <a:latin typeface="Calibri"/>
                <a:cs typeface="Calibri"/>
              </a:rPr>
              <a:t>R</a:t>
            </a:r>
            <a:r>
              <a:rPr dirty="0" sz="2800" spc="-5" i="1">
                <a:latin typeface="Calibri"/>
                <a:cs typeface="Calibri"/>
              </a:rPr>
              <a:t>2</a:t>
            </a:r>
            <a:r>
              <a:rPr dirty="0" sz="2950" spc="-155" i="1">
                <a:latin typeface="宋体"/>
                <a:cs typeface="宋体"/>
              </a:rPr>
              <a:t>：提供销售订单的准确性，</a:t>
            </a:r>
            <a:r>
              <a:rPr dirty="0" sz="2950" spc="-150" i="1">
                <a:latin typeface="宋体"/>
                <a:cs typeface="宋体"/>
              </a:rPr>
              <a:t>在</a:t>
            </a:r>
            <a:r>
              <a:rPr dirty="0" sz="2950" spc="-155" i="1">
                <a:latin typeface="宋体"/>
                <a:cs typeface="宋体"/>
              </a:rPr>
              <a:t>系统</a:t>
            </a:r>
            <a:r>
              <a:rPr dirty="0" sz="2950" spc="-150" i="1">
                <a:latin typeface="宋体"/>
                <a:cs typeface="宋体"/>
              </a:rPr>
              <a:t>使</a:t>
            </a:r>
            <a:r>
              <a:rPr dirty="0" sz="2950" spc="-120" i="1">
                <a:latin typeface="宋体"/>
                <a:cs typeface="宋体"/>
              </a:rPr>
              <a:t>用 </a:t>
            </a:r>
            <a:r>
              <a:rPr dirty="0" sz="2950" spc="-160" i="1">
                <a:latin typeface="宋体"/>
                <a:cs typeface="宋体"/>
              </a:rPr>
              <a:t>后</a:t>
            </a:r>
            <a:r>
              <a:rPr dirty="0" sz="2800" spc="-10" i="1">
                <a:latin typeface="Calibri"/>
                <a:cs typeface="Calibri"/>
              </a:rPr>
              <a:t>3</a:t>
            </a:r>
            <a:r>
              <a:rPr dirty="0" sz="2950" spc="-160" i="1">
                <a:latin typeface="宋体"/>
                <a:cs typeface="宋体"/>
              </a:rPr>
              <a:t>个月内，减</a:t>
            </a:r>
            <a:r>
              <a:rPr dirty="0" sz="2950" spc="-155" i="1">
                <a:latin typeface="宋体"/>
                <a:cs typeface="宋体"/>
              </a:rPr>
              <a:t>少</a:t>
            </a:r>
            <a:r>
              <a:rPr dirty="0" sz="2800" spc="-5" i="1">
                <a:latin typeface="Calibri"/>
                <a:cs typeface="Calibri"/>
              </a:rPr>
              <a:t>50%</a:t>
            </a:r>
            <a:r>
              <a:rPr dirty="0" sz="2950" spc="-155" i="1">
                <a:latin typeface="宋体"/>
                <a:cs typeface="宋体"/>
              </a:rPr>
              <a:t>因此而产生</a:t>
            </a:r>
            <a:r>
              <a:rPr dirty="0" sz="2950" spc="-150" i="1">
                <a:latin typeface="宋体"/>
                <a:cs typeface="宋体"/>
              </a:rPr>
              <a:t>的</a:t>
            </a:r>
            <a:r>
              <a:rPr dirty="0" sz="2950" spc="-155" i="1">
                <a:latin typeface="宋体"/>
                <a:cs typeface="宋体"/>
              </a:rPr>
              <a:t>废品。</a:t>
            </a:r>
            <a:endParaRPr sz="2950">
              <a:latin typeface="宋体"/>
              <a:cs typeface="宋体"/>
            </a:endParaRPr>
          </a:p>
          <a:p>
            <a:pPr>
              <a:lnSpc>
                <a:spcPct val="100000"/>
              </a:lnSpc>
            </a:pPr>
            <a:endParaRPr sz="4350">
              <a:latin typeface="宋体"/>
              <a:cs typeface="宋体"/>
            </a:endParaRPr>
          </a:p>
          <a:p>
            <a:pPr marL="329565">
              <a:lnSpc>
                <a:spcPct val="100000"/>
              </a:lnSpc>
            </a:pPr>
            <a:r>
              <a:rPr dirty="0" sz="2500" spc="-105" b="1" i="1">
                <a:solidFill>
                  <a:srgbClr val="C00000"/>
                </a:solidFill>
                <a:latin typeface="楷体"/>
                <a:cs typeface="楷体"/>
              </a:rPr>
              <a:t>确定每一个问题对应目标的过程就是发现业务需求的过程。</a:t>
            </a:r>
            <a:endParaRPr sz="2500">
              <a:latin typeface="楷体"/>
              <a:cs typeface="楷体"/>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2852" y="315595"/>
            <a:ext cx="463931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2.2.2</a:t>
            </a:r>
            <a:r>
              <a:rPr dirty="0" spc="-85">
                <a:latin typeface="Calibri"/>
                <a:cs typeface="Calibri"/>
              </a:rPr>
              <a:t> </a:t>
            </a:r>
            <a:r>
              <a:rPr dirty="0"/>
              <a:t>发现业务需求</a:t>
            </a:r>
          </a:p>
        </p:txBody>
      </p:sp>
      <p:sp>
        <p:nvSpPr>
          <p:cNvPr id="3" name="object 3"/>
          <p:cNvSpPr txBox="1"/>
          <p:nvPr/>
        </p:nvSpPr>
        <p:spPr>
          <a:xfrm>
            <a:off x="1464944" y="5236489"/>
            <a:ext cx="6151880" cy="411480"/>
          </a:xfrm>
          <a:prstGeom prst="rect">
            <a:avLst/>
          </a:prstGeom>
        </p:spPr>
        <p:txBody>
          <a:bodyPr wrap="square" lIns="0" tIns="16510" rIns="0" bIns="0" rtlCol="0" vert="horz">
            <a:spAutoFit/>
          </a:bodyPr>
          <a:lstStyle/>
          <a:p>
            <a:pPr marL="12700">
              <a:lnSpc>
                <a:spcPct val="100000"/>
              </a:lnSpc>
              <a:spcBef>
                <a:spcPts val="130"/>
              </a:spcBef>
            </a:pPr>
            <a:r>
              <a:rPr dirty="0" sz="2500" spc="-100" b="1" i="1">
                <a:solidFill>
                  <a:srgbClr val="C00000"/>
                </a:solidFill>
                <a:latin typeface="楷体"/>
                <a:cs typeface="楷体"/>
              </a:rPr>
              <a:t>让所有涉众都就“目标”描述内容达成共识。</a:t>
            </a:r>
            <a:endParaRPr sz="2500">
              <a:latin typeface="楷体"/>
              <a:cs typeface="楷体"/>
            </a:endParaRPr>
          </a:p>
        </p:txBody>
      </p:sp>
      <p:sp>
        <p:nvSpPr>
          <p:cNvPr id="4" name="object 4"/>
          <p:cNvSpPr/>
          <p:nvPr/>
        </p:nvSpPr>
        <p:spPr>
          <a:xfrm>
            <a:off x="404996" y="1967483"/>
            <a:ext cx="8267334" cy="2923032"/>
          </a:xfrm>
          <a:prstGeom prst="rect">
            <a:avLst/>
          </a:prstGeom>
          <a:blipFill>
            <a:blip r:embed="rId2" cstate="print"/>
            <a:stretch>
              <a:fillRect/>
            </a:stretch>
          </a:blipFill>
        </p:spPr>
        <p:txBody>
          <a:bodyPr wrap="square" lIns="0" tIns="0" rIns="0" bIns="0" rtlCol="0"/>
          <a:lstStyle/>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96746" y="368249"/>
            <a:ext cx="6754495" cy="635000"/>
          </a:xfrm>
          <a:prstGeom prst="rect"/>
        </p:spPr>
        <p:txBody>
          <a:bodyPr wrap="square" lIns="0" tIns="12065" rIns="0" bIns="0" rtlCol="0" vert="horz">
            <a:spAutoFit/>
          </a:bodyPr>
          <a:lstStyle/>
          <a:p>
            <a:pPr marL="12700">
              <a:lnSpc>
                <a:spcPct val="100000"/>
              </a:lnSpc>
              <a:spcBef>
                <a:spcPts val="95"/>
              </a:spcBef>
            </a:pPr>
            <a:r>
              <a:rPr dirty="0" sz="4000" spc="-5">
                <a:latin typeface="Calibri"/>
                <a:cs typeface="Calibri"/>
              </a:rPr>
              <a:t>2.2.3</a:t>
            </a:r>
            <a:r>
              <a:rPr dirty="0" sz="4000" spc="-55">
                <a:latin typeface="Calibri"/>
                <a:cs typeface="Calibri"/>
              </a:rPr>
              <a:t> </a:t>
            </a:r>
            <a:r>
              <a:rPr dirty="0" sz="4000" spc="-5"/>
              <a:t>定义解决方案及系统特性</a:t>
            </a:r>
            <a:endParaRPr sz="4000">
              <a:latin typeface="Calibri"/>
              <a:cs typeface="Calibri"/>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14881"/>
            <a:ext cx="6609715" cy="2855595"/>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687"/>
              <a:buFont typeface="Wingdings"/>
              <a:buChar char=""/>
              <a:tabLst>
                <a:tab pos="356235" algn="l"/>
              </a:tabLst>
            </a:pPr>
            <a:r>
              <a:rPr dirty="0" sz="3200" spc="-5">
                <a:latin typeface="Calibri"/>
                <a:cs typeface="Calibri"/>
              </a:rPr>
              <a:t>(1)</a:t>
            </a:r>
            <a:r>
              <a:rPr dirty="0" sz="3200">
                <a:latin typeface="Calibri"/>
                <a:cs typeface="Calibri"/>
              </a:rPr>
              <a:t> </a:t>
            </a:r>
            <a:r>
              <a:rPr dirty="0" sz="3200">
                <a:latin typeface="宋体"/>
                <a:cs typeface="宋体"/>
              </a:rPr>
              <a:t>确定高层次的解决方案</a:t>
            </a:r>
            <a:endParaRPr sz="3200">
              <a:latin typeface="宋体"/>
              <a:cs typeface="宋体"/>
            </a:endParaRPr>
          </a:p>
          <a:p>
            <a:pPr>
              <a:lnSpc>
                <a:spcPct val="100000"/>
              </a:lnSpc>
              <a:spcBef>
                <a:spcPts val="60"/>
              </a:spcBef>
              <a:buClr>
                <a:srgbClr val="00663B"/>
              </a:buClr>
              <a:buFont typeface="Wingdings"/>
              <a:buChar char=""/>
            </a:pPr>
            <a:endParaRPr sz="4150">
              <a:latin typeface="宋体"/>
              <a:cs typeface="宋体"/>
            </a:endParaRPr>
          </a:p>
          <a:p>
            <a:pPr marL="355600" indent="-343535">
              <a:lnSpc>
                <a:spcPct val="100000"/>
              </a:lnSpc>
              <a:buClr>
                <a:srgbClr val="00663B"/>
              </a:buClr>
              <a:buSzPct val="79687"/>
              <a:buFont typeface="Wingdings"/>
              <a:buChar char=""/>
              <a:tabLst>
                <a:tab pos="356235" algn="l"/>
              </a:tabLst>
            </a:pPr>
            <a:r>
              <a:rPr dirty="0" sz="3200" spc="-5">
                <a:latin typeface="Calibri"/>
                <a:cs typeface="Calibri"/>
              </a:rPr>
              <a:t>(2)</a:t>
            </a:r>
            <a:r>
              <a:rPr dirty="0" sz="3200" spc="-55">
                <a:latin typeface="Calibri"/>
                <a:cs typeface="Calibri"/>
              </a:rPr>
              <a:t> </a:t>
            </a:r>
            <a:r>
              <a:rPr dirty="0" sz="3200">
                <a:latin typeface="宋体"/>
                <a:cs typeface="宋体"/>
              </a:rPr>
              <a:t>确定系统特性和解决方案</a:t>
            </a:r>
            <a:r>
              <a:rPr dirty="0" sz="3200" spc="-15">
                <a:latin typeface="宋体"/>
                <a:cs typeface="宋体"/>
              </a:rPr>
              <a:t>的</a:t>
            </a:r>
            <a:r>
              <a:rPr dirty="0" sz="3200">
                <a:latin typeface="宋体"/>
                <a:cs typeface="宋体"/>
              </a:rPr>
              <a:t>边界</a:t>
            </a:r>
            <a:endParaRPr sz="3200">
              <a:latin typeface="宋体"/>
              <a:cs typeface="宋体"/>
            </a:endParaRPr>
          </a:p>
          <a:p>
            <a:pPr>
              <a:lnSpc>
                <a:spcPct val="100000"/>
              </a:lnSpc>
              <a:spcBef>
                <a:spcPts val="60"/>
              </a:spcBef>
              <a:buClr>
                <a:srgbClr val="00663B"/>
              </a:buClr>
              <a:buFont typeface="Wingdings"/>
              <a:buChar char=""/>
            </a:pPr>
            <a:endParaRPr sz="4150">
              <a:latin typeface="宋体"/>
              <a:cs typeface="宋体"/>
            </a:endParaRPr>
          </a:p>
          <a:p>
            <a:pPr marL="355600" indent="-343535">
              <a:lnSpc>
                <a:spcPct val="100000"/>
              </a:lnSpc>
              <a:spcBef>
                <a:spcPts val="5"/>
              </a:spcBef>
              <a:buClr>
                <a:srgbClr val="00663B"/>
              </a:buClr>
              <a:buSzPct val="79687"/>
              <a:buFont typeface="Wingdings"/>
              <a:buChar char=""/>
              <a:tabLst>
                <a:tab pos="356235" algn="l"/>
              </a:tabLst>
            </a:pPr>
            <a:r>
              <a:rPr dirty="0" sz="3200" spc="-5">
                <a:latin typeface="Calibri"/>
                <a:cs typeface="Calibri"/>
              </a:rPr>
              <a:t>(3)</a:t>
            </a:r>
            <a:r>
              <a:rPr dirty="0" sz="3200">
                <a:latin typeface="Calibri"/>
                <a:cs typeface="Calibri"/>
              </a:rPr>
              <a:t> </a:t>
            </a:r>
            <a:r>
              <a:rPr dirty="0" sz="3200">
                <a:latin typeface="宋体"/>
                <a:cs typeface="宋体"/>
              </a:rPr>
              <a:t>确定解决方案的约束</a:t>
            </a:r>
            <a:endParaRPr sz="3200">
              <a:latin typeface="宋体"/>
              <a:cs typeface="宋体"/>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8952" y="160985"/>
            <a:ext cx="6312535" cy="1123950"/>
          </a:xfrm>
          <a:prstGeom prst="rect"/>
        </p:spPr>
        <p:txBody>
          <a:bodyPr wrap="square" lIns="0" tIns="12700" rIns="0" bIns="0" rtlCol="0" vert="horz">
            <a:spAutoFit/>
          </a:bodyPr>
          <a:lstStyle/>
          <a:p>
            <a:pPr marL="12700">
              <a:lnSpc>
                <a:spcPct val="100000"/>
              </a:lnSpc>
              <a:spcBef>
                <a:spcPts val="100"/>
              </a:spcBef>
            </a:pPr>
            <a:r>
              <a:rPr dirty="0" sz="3600">
                <a:latin typeface="Calibri"/>
                <a:cs typeface="Calibri"/>
              </a:rPr>
              <a:t>2.2.3</a:t>
            </a:r>
            <a:r>
              <a:rPr dirty="0" sz="3600" spc="-25">
                <a:latin typeface="Calibri"/>
                <a:cs typeface="Calibri"/>
              </a:rPr>
              <a:t> </a:t>
            </a:r>
            <a:r>
              <a:rPr dirty="0" sz="3600" spc="-5"/>
              <a:t>定义解决方案及系统特性</a:t>
            </a:r>
            <a:endParaRPr sz="3600">
              <a:latin typeface="Calibri"/>
              <a:cs typeface="Calibri"/>
            </a:endParaRPr>
          </a:p>
          <a:p>
            <a:pPr marL="701040">
              <a:lnSpc>
                <a:spcPct val="100000"/>
              </a:lnSpc>
              <a:spcBef>
                <a:spcPts val="5"/>
              </a:spcBef>
            </a:pPr>
            <a:r>
              <a:rPr dirty="0" sz="3600" spc="-5">
                <a:latin typeface="Calibri"/>
                <a:cs typeface="Calibri"/>
              </a:rPr>
              <a:t>—(1)</a:t>
            </a:r>
            <a:r>
              <a:rPr dirty="0" sz="3600" spc="-85">
                <a:latin typeface="Calibri"/>
                <a:cs typeface="Calibri"/>
              </a:rPr>
              <a:t> </a:t>
            </a:r>
            <a:r>
              <a:rPr dirty="0" sz="3600"/>
              <a:t>确定高层次的解决方案</a:t>
            </a:r>
            <a:endParaRPr sz="3600">
              <a:latin typeface="Calibri"/>
              <a:cs typeface="Calibri"/>
            </a:endParaRPr>
          </a:p>
        </p:txBody>
      </p:sp>
      <p:sp>
        <p:nvSpPr>
          <p:cNvPr id="3" name="object 3"/>
          <p:cNvSpPr txBox="1"/>
          <p:nvPr/>
        </p:nvSpPr>
        <p:spPr>
          <a:xfrm>
            <a:off x="535940" y="1753616"/>
            <a:ext cx="7641590" cy="1190625"/>
          </a:xfrm>
          <a:prstGeom prst="rect">
            <a:avLst/>
          </a:prstGeom>
        </p:spPr>
        <p:txBody>
          <a:bodyPr wrap="square" lIns="0" tIns="24765" rIns="0" bIns="0" rtlCol="0" vert="horz">
            <a:spAutoFit/>
          </a:bodyPr>
          <a:lstStyle/>
          <a:p>
            <a:pPr algn="just" marL="355600" marR="5080" indent="-343535">
              <a:lnSpc>
                <a:spcPct val="97000"/>
              </a:lnSpc>
              <a:spcBef>
                <a:spcPts val="195"/>
              </a:spcBef>
              <a:buFont typeface="Arial"/>
              <a:buChar char="•"/>
              <a:tabLst>
                <a:tab pos="356235" algn="l"/>
              </a:tabLst>
            </a:pPr>
            <a:r>
              <a:rPr dirty="0" sz="2600">
                <a:latin typeface="宋体"/>
                <a:cs typeface="宋体"/>
              </a:rPr>
              <a:t>发现各种可行的高层次</a:t>
            </a:r>
            <a:r>
              <a:rPr dirty="0" sz="2600" spc="-15">
                <a:latin typeface="宋体"/>
                <a:cs typeface="宋体"/>
              </a:rPr>
              <a:t>解</a:t>
            </a:r>
            <a:r>
              <a:rPr dirty="0" sz="2600">
                <a:latin typeface="宋体"/>
                <a:cs typeface="宋体"/>
              </a:rPr>
              <a:t>决方</a:t>
            </a:r>
            <a:r>
              <a:rPr dirty="0" sz="2600" spc="-15">
                <a:latin typeface="宋体"/>
                <a:cs typeface="宋体"/>
              </a:rPr>
              <a:t>案</a:t>
            </a:r>
            <a:r>
              <a:rPr dirty="0" sz="2600">
                <a:latin typeface="宋体"/>
                <a:cs typeface="宋体"/>
              </a:rPr>
              <a:t>，分</a:t>
            </a:r>
            <a:r>
              <a:rPr dirty="0" sz="2600" spc="-15">
                <a:latin typeface="宋体"/>
                <a:cs typeface="宋体"/>
              </a:rPr>
              <a:t>析</a:t>
            </a:r>
            <a:r>
              <a:rPr dirty="0" sz="2600">
                <a:latin typeface="宋体"/>
                <a:cs typeface="宋体"/>
              </a:rPr>
              <a:t>不同</a:t>
            </a:r>
            <a:r>
              <a:rPr dirty="0" sz="2600" spc="-15">
                <a:latin typeface="宋体"/>
                <a:cs typeface="宋体"/>
              </a:rPr>
              <a:t>方</a:t>
            </a:r>
            <a:r>
              <a:rPr dirty="0" sz="2600">
                <a:latin typeface="宋体"/>
                <a:cs typeface="宋体"/>
              </a:rPr>
              <a:t>案的 </a:t>
            </a:r>
            <a:r>
              <a:rPr dirty="0" sz="2600">
                <a:latin typeface="宋体"/>
                <a:cs typeface="宋体"/>
              </a:rPr>
              <a:t>业务优势和代价，然</a:t>
            </a:r>
            <a:r>
              <a:rPr dirty="0" sz="2600" spc="5">
                <a:latin typeface="宋体"/>
                <a:cs typeface="宋体"/>
              </a:rPr>
              <a:t>后</a:t>
            </a:r>
            <a:r>
              <a:rPr dirty="0" sz="2600" spc="-10">
                <a:solidFill>
                  <a:srgbClr val="00A15F"/>
                </a:solidFill>
                <a:latin typeface="宋体"/>
                <a:cs typeface="宋体"/>
              </a:rPr>
              <a:t>通</a:t>
            </a:r>
            <a:r>
              <a:rPr dirty="0" sz="2600" spc="5">
                <a:solidFill>
                  <a:srgbClr val="00A15F"/>
                </a:solidFill>
                <a:latin typeface="宋体"/>
                <a:cs typeface="宋体"/>
              </a:rPr>
              <a:t>过和</a:t>
            </a:r>
            <a:r>
              <a:rPr dirty="0" sz="2600" spc="-10">
                <a:solidFill>
                  <a:srgbClr val="00A15F"/>
                </a:solidFill>
                <a:latin typeface="宋体"/>
                <a:cs typeface="宋体"/>
              </a:rPr>
              <a:t>涉</a:t>
            </a:r>
            <a:r>
              <a:rPr dirty="0" sz="2600" spc="5">
                <a:solidFill>
                  <a:srgbClr val="00A15F"/>
                </a:solidFill>
                <a:latin typeface="宋体"/>
                <a:cs typeface="宋体"/>
              </a:rPr>
              <a:t>众的</a:t>
            </a:r>
            <a:r>
              <a:rPr dirty="0" sz="2600" spc="-10">
                <a:solidFill>
                  <a:srgbClr val="00A15F"/>
                </a:solidFill>
                <a:latin typeface="宋体"/>
                <a:cs typeface="宋体"/>
              </a:rPr>
              <a:t>协</a:t>
            </a:r>
            <a:r>
              <a:rPr dirty="0" sz="2600" spc="5">
                <a:solidFill>
                  <a:srgbClr val="00A15F"/>
                </a:solidFill>
                <a:latin typeface="宋体"/>
                <a:cs typeface="宋体"/>
              </a:rPr>
              <a:t>商，</a:t>
            </a:r>
            <a:r>
              <a:rPr dirty="0" sz="2600" spc="-10">
                <a:solidFill>
                  <a:srgbClr val="00A15F"/>
                </a:solidFill>
                <a:latin typeface="宋体"/>
                <a:cs typeface="宋体"/>
              </a:rPr>
              <a:t>选</a:t>
            </a:r>
            <a:r>
              <a:rPr dirty="0" sz="2600" spc="5">
                <a:solidFill>
                  <a:srgbClr val="00A15F"/>
                </a:solidFill>
                <a:latin typeface="宋体"/>
                <a:cs typeface="宋体"/>
              </a:rPr>
              <a:t>定其 </a:t>
            </a:r>
            <a:r>
              <a:rPr dirty="0" sz="2600">
                <a:solidFill>
                  <a:srgbClr val="00A15F"/>
                </a:solidFill>
                <a:latin typeface="宋体"/>
                <a:cs typeface="宋体"/>
              </a:rPr>
              <a:t>中一个</a:t>
            </a:r>
            <a:endParaRPr sz="2600">
              <a:latin typeface="宋体"/>
              <a:cs typeface="宋体"/>
            </a:endParaRPr>
          </a:p>
        </p:txBody>
      </p:sp>
      <p:graphicFrame>
        <p:nvGraphicFramePr>
          <p:cNvPr id="4" name="object 4"/>
          <p:cNvGraphicFramePr>
            <a:graphicFrameLocks noGrp="1"/>
          </p:cNvGraphicFramePr>
          <p:nvPr/>
        </p:nvGraphicFramePr>
        <p:xfrm>
          <a:off x="679450" y="3422650"/>
          <a:ext cx="7715250" cy="2257425"/>
        </p:xfrm>
        <a:graphic>
          <a:graphicData uri="http://schemas.openxmlformats.org/drawingml/2006/table">
            <a:tbl>
              <a:tblPr firstRow="1" bandRow="1">
                <a:tableStyleId>{2D5ABB26-0587-4C30-8999-92F81FD0307C}</a:tableStyleId>
              </a:tblPr>
              <a:tblGrid>
                <a:gridCol w="1384300"/>
                <a:gridCol w="1424305"/>
                <a:gridCol w="4888230"/>
              </a:tblGrid>
              <a:tr h="447675">
                <a:tc gridSpan="2">
                  <a:txBody>
                    <a:bodyPr/>
                    <a:lstStyle/>
                    <a:p>
                      <a:pPr algn="ctr" marL="635">
                        <a:lnSpc>
                          <a:spcPct val="100000"/>
                        </a:lnSpc>
                        <a:spcBef>
                          <a:spcPts val="300"/>
                        </a:spcBef>
                      </a:pPr>
                      <a:r>
                        <a:rPr dirty="0" sz="2000">
                          <a:latin typeface="微软雅黑"/>
                          <a:cs typeface="微软雅黑"/>
                        </a:rPr>
                        <a:t>要素</a:t>
                      </a:r>
                      <a:endParaRPr sz="20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algn="ctr" marL="1270">
                        <a:lnSpc>
                          <a:spcPct val="100000"/>
                        </a:lnSpc>
                        <a:spcBef>
                          <a:spcPts val="300"/>
                        </a:spcBef>
                      </a:pPr>
                      <a:r>
                        <a:rPr dirty="0" sz="2000">
                          <a:latin typeface="微软雅黑"/>
                          <a:cs typeface="微软雅黑"/>
                        </a:rPr>
                        <a:t>内容</a:t>
                      </a:r>
                      <a:endParaRPr sz="20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6024">
                <a:tc gridSpan="2">
                  <a:txBody>
                    <a:bodyPr/>
                    <a:lstStyle/>
                    <a:p>
                      <a:pPr marL="91440">
                        <a:lnSpc>
                          <a:spcPct val="100000"/>
                        </a:lnSpc>
                        <a:spcBef>
                          <a:spcPts val="300"/>
                        </a:spcBef>
                      </a:pPr>
                      <a:r>
                        <a:rPr dirty="0" sz="2000" spc="5">
                          <a:latin typeface="Times New Roman"/>
                          <a:cs typeface="Times New Roman"/>
                        </a:rPr>
                        <a:t>ID</a:t>
                      </a:r>
                      <a:endParaRPr sz="2000">
                        <a:latin typeface="Times New Roman"/>
                        <a:cs typeface="Times New Roman"/>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pPr/>
                    </a:p>
                  </a:txBody>
                  <a:tcPr marL="0" marR="0" marB="0" marT="0"/>
                </a:tc>
                <a:tc>
                  <a:txBody>
                    <a:bodyPr/>
                    <a:lstStyle/>
                    <a:p>
                      <a:pPr marL="92075">
                        <a:lnSpc>
                          <a:spcPct val="100000"/>
                        </a:lnSpc>
                        <a:spcBef>
                          <a:spcPts val="300"/>
                        </a:spcBef>
                      </a:pPr>
                      <a:r>
                        <a:rPr dirty="0" sz="2000">
                          <a:latin typeface="微软雅黑"/>
                          <a:cs typeface="微软雅黑"/>
                        </a:rPr>
                        <a:t>问题标识</a:t>
                      </a:r>
                      <a:endParaRPr sz="20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7675">
                <a:tc rowSpan="3">
                  <a:txBody>
                    <a:bodyPr/>
                    <a:lstStyle/>
                    <a:p>
                      <a:pPr>
                        <a:lnSpc>
                          <a:spcPct val="100000"/>
                        </a:lnSpc>
                        <a:spcBef>
                          <a:spcPts val="35"/>
                        </a:spcBef>
                      </a:pPr>
                      <a:endParaRPr sz="3500">
                        <a:latin typeface="Times New Roman"/>
                        <a:cs typeface="Times New Roman"/>
                      </a:endParaRPr>
                    </a:p>
                    <a:p>
                      <a:pPr marL="183515">
                        <a:lnSpc>
                          <a:spcPct val="100000"/>
                        </a:lnSpc>
                      </a:pPr>
                      <a:r>
                        <a:rPr dirty="0" sz="2000">
                          <a:latin typeface="微软雅黑"/>
                          <a:cs typeface="微软雅黑"/>
                        </a:rPr>
                        <a:t>解决方案</a:t>
                      </a:r>
                      <a:endParaRPr sz="2000">
                        <a:latin typeface="微软雅黑"/>
                        <a:cs typeface="微软雅黑"/>
                      </a:endParaRPr>
                    </a:p>
                  </a:txBody>
                  <a:tcPr marL="0" marR="0" marB="0" marT="44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0"/>
                        </a:spcBef>
                      </a:pPr>
                      <a:r>
                        <a:rPr dirty="0" sz="2000">
                          <a:latin typeface="微软雅黑"/>
                          <a:cs typeface="微软雅黑"/>
                        </a:rPr>
                        <a:t>方案描述</a:t>
                      </a:r>
                      <a:endParaRPr sz="20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0"/>
                        </a:spcBef>
                      </a:pPr>
                      <a:r>
                        <a:rPr dirty="0" sz="2000">
                          <a:latin typeface="微软雅黑"/>
                          <a:cs typeface="微软雅黑"/>
                        </a:rPr>
                        <a:t>概要描</a:t>
                      </a:r>
                      <a:r>
                        <a:rPr dirty="0" sz="2000" spc="-15">
                          <a:latin typeface="微软雅黑"/>
                          <a:cs typeface="微软雅黑"/>
                        </a:rPr>
                        <a:t>述</a:t>
                      </a:r>
                      <a:r>
                        <a:rPr dirty="0" sz="2000">
                          <a:latin typeface="微软雅黑"/>
                          <a:cs typeface="微软雅黑"/>
                        </a:rPr>
                        <a:t>解</a:t>
                      </a:r>
                      <a:r>
                        <a:rPr dirty="0" sz="2000" spc="-15">
                          <a:latin typeface="微软雅黑"/>
                          <a:cs typeface="微软雅黑"/>
                        </a:rPr>
                        <a:t>决</a:t>
                      </a:r>
                      <a:r>
                        <a:rPr dirty="0" sz="2000">
                          <a:latin typeface="微软雅黑"/>
                          <a:cs typeface="微软雅黑"/>
                        </a:rPr>
                        <a:t>方案</a:t>
                      </a:r>
                      <a:endParaRPr sz="20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4500">
                <a:tc vMerge="1">
                  <a:txBody>
                    <a:bodyPr/>
                    <a:lstStyle/>
                    <a:p>
                      <a:pPr/>
                    </a:p>
                  </a:txBody>
                  <a:tcPr marL="0" marR="0" marB="0" marT="44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0"/>
                        </a:spcBef>
                      </a:pPr>
                      <a:r>
                        <a:rPr dirty="0" sz="2000">
                          <a:latin typeface="微软雅黑"/>
                          <a:cs typeface="微软雅黑"/>
                        </a:rPr>
                        <a:t>业务优势</a:t>
                      </a:r>
                      <a:endParaRPr sz="20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0"/>
                        </a:spcBef>
                      </a:pPr>
                      <a:r>
                        <a:rPr dirty="0" sz="2000">
                          <a:latin typeface="微软雅黑"/>
                          <a:cs typeface="微软雅黑"/>
                        </a:rPr>
                        <a:t>该解决</a:t>
                      </a:r>
                      <a:r>
                        <a:rPr dirty="0" sz="2000" spc="-15">
                          <a:latin typeface="微软雅黑"/>
                          <a:cs typeface="微软雅黑"/>
                        </a:rPr>
                        <a:t>方</a:t>
                      </a:r>
                      <a:r>
                        <a:rPr dirty="0" sz="2000">
                          <a:latin typeface="微软雅黑"/>
                          <a:cs typeface="微软雅黑"/>
                        </a:rPr>
                        <a:t>案</a:t>
                      </a:r>
                      <a:r>
                        <a:rPr dirty="0" sz="2000" spc="-15">
                          <a:latin typeface="微软雅黑"/>
                          <a:cs typeface="微软雅黑"/>
                        </a:rPr>
                        <a:t>所</a:t>
                      </a:r>
                      <a:r>
                        <a:rPr dirty="0" sz="2000">
                          <a:latin typeface="微软雅黑"/>
                          <a:cs typeface="微软雅黑"/>
                        </a:rPr>
                        <a:t>能带来</a:t>
                      </a:r>
                      <a:r>
                        <a:rPr dirty="0" sz="2000" spc="-15">
                          <a:latin typeface="微软雅黑"/>
                          <a:cs typeface="微软雅黑"/>
                        </a:rPr>
                        <a:t>的</a:t>
                      </a:r>
                      <a:r>
                        <a:rPr dirty="0" sz="2000">
                          <a:latin typeface="微软雅黑"/>
                          <a:cs typeface="微软雅黑"/>
                        </a:rPr>
                        <a:t>业</a:t>
                      </a:r>
                      <a:r>
                        <a:rPr dirty="0" sz="2000" spc="-15">
                          <a:latin typeface="微软雅黑"/>
                          <a:cs typeface="微软雅黑"/>
                        </a:rPr>
                        <a:t>务</a:t>
                      </a:r>
                      <a:r>
                        <a:rPr dirty="0" sz="2000">
                          <a:latin typeface="微软雅黑"/>
                          <a:cs typeface="微软雅黑"/>
                        </a:rPr>
                        <a:t>优势</a:t>
                      </a:r>
                      <a:endParaRPr sz="20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8850">
                <a:tc vMerge="1">
                  <a:txBody>
                    <a:bodyPr/>
                    <a:lstStyle/>
                    <a:p>
                      <a:pPr/>
                    </a:p>
                  </a:txBody>
                  <a:tcPr marL="0" marR="0" marB="0" marT="44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0"/>
                        </a:spcBef>
                      </a:pPr>
                      <a:r>
                        <a:rPr dirty="0" sz="2000">
                          <a:latin typeface="微软雅黑"/>
                          <a:cs typeface="微软雅黑"/>
                        </a:rPr>
                        <a:t>代价</a:t>
                      </a:r>
                      <a:endParaRPr sz="20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00"/>
                        </a:spcBef>
                      </a:pPr>
                      <a:r>
                        <a:rPr dirty="0" sz="2000">
                          <a:latin typeface="微软雅黑"/>
                          <a:cs typeface="微软雅黑"/>
                        </a:rPr>
                        <a:t>该解决</a:t>
                      </a:r>
                      <a:r>
                        <a:rPr dirty="0" sz="2000" spc="-15">
                          <a:latin typeface="微软雅黑"/>
                          <a:cs typeface="微软雅黑"/>
                        </a:rPr>
                        <a:t>方</a:t>
                      </a:r>
                      <a:r>
                        <a:rPr dirty="0" sz="2000">
                          <a:latin typeface="微软雅黑"/>
                          <a:cs typeface="微软雅黑"/>
                        </a:rPr>
                        <a:t>案</a:t>
                      </a:r>
                      <a:r>
                        <a:rPr dirty="0" sz="2000" spc="-15">
                          <a:latin typeface="微软雅黑"/>
                          <a:cs typeface="微软雅黑"/>
                        </a:rPr>
                        <a:t>将</a:t>
                      </a:r>
                      <a:r>
                        <a:rPr dirty="0" sz="2000">
                          <a:latin typeface="微软雅黑"/>
                          <a:cs typeface="微软雅黑"/>
                        </a:rPr>
                        <a:t>花费的</a:t>
                      </a:r>
                      <a:r>
                        <a:rPr dirty="0" sz="2000" spc="-15">
                          <a:latin typeface="微软雅黑"/>
                          <a:cs typeface="微软雅黑"/>
                        </a:rPr>
                        <a:t>代</a:t>
                      </a:r>
                      <a:r>
                        <a:rPr dirty="0" sz="2000">
                          <a:latin typeface="微软雅黑"/>
                          <a:cs typeface="微软雅黑"/>
                        </a:rPr>
                        <a:t>价</a:t>
                      </a:r>
                      <a:endParaRPr sz="20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8264" y="127762"/>
            <a:ext cx="6426835" cy="1184275"/>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2.2.3</a:t>
            </a:r>
            <a:r>
              <a:rPr dirty="0" sz="3800" spc="-45">
                <a:latin typeface="Calibri"/>
                <a:cs typeface="Calibri"/>
              </a:rPr>
              <a:t> </a:t>
            </a:r>
            <a:r>
              <a:rPr dirty="0" sz="3800"/>
              <a:t>定义解决方案及系统</a:t>
            </a:r>
            <a:r>
              <a:rPr dirty="0" sz="3800" spc="-15"/>
              <a:t>特</a:t>
            </a:r>
            <a:r>
              <a:rPr dirty="0" sz="3800"/>
              <a:t>性</a:t>
            </a:r>
            <a:endParaRPr sz="3800">
              <a:latin typeface="Calibri"/>
              <a:cs typeface="Calibri"/>
            </a:endParaRPr>
          </a:p>
          <a:p>
            <a:pPr marL="1254760">
              <a:lnSpc>
                <a:spcPct val="100000"/>
              </a:lnSpc>
              <a:spcBef>
                <a:spcPts val="5"/>
              </a:spcBef>
            </a:pPr>
            <a:r>
              <a:rPr dirty="0" sz="3800">
                <a:latin typeface="Arial"/>
                <a:cs typeface="Arial"/>
              </a:rPr>
              <a:t>——</a:t>
            </a:r>
            <a:r>
              <a:rPr dirty="0" sz="3800"/>
              <a:t>确定解决方案示例</a:t>
            </a:r>
            <a:endParaRPr sz="3800">
              <a:latin typeface="Arial"/>
              <a:cs typeface="Arial"/>
            </a:endParaRPr>
          </a:p>
        </p:txBody>
      </p:sp>
      <p:sp>
        <p:nvSpPr>
          <p:cNvPr id="3" name="object 3"/>
          <p:cNvSpPr txBox="1"/>
          <p:nvPr/>
        </p:nvSpPr>
        <p:spPr>
          <a:xfrm>
            <a:off x="121107" y="1538897"/>
            <a:ext cx="8440420" cy="5155565"/>
          </a:xfrm>
          <a:prstGeom prst="rect">
            <a:avLst/>
          </a:prstGeom>
        </p:spPr>
        <p:txBody>
          <a:bodyPr wrap="square" lIns="0" tIns="92075" rIns="0" bIns="0" rtlCol="0" vert="horz">
            <a:spAutoFit/>
          </a:bodyPr>
          <a:lstStyle/>
          <a:p>
            <a:pPr marL="770255" indent="-343535">
              <a:lnSpc>
                <a:spcPct val="100000"/>
              </a:lnSpc>
              <a:spcBef>
                <a:spcPts val="725"/>
              </a:spcBef>
              <a:buClr>
                <a:srgbClr val="00663B"/>
              </a:buClr>
              <a:buSzPct val="78846"/>
              <a:buFont typeface="Wingdings"/>
              <a:buChar char=""/>
              <a:tabLst>
                <a:tab pos="770255" algn="l"/>
                <a:tab pos="770890" algn="l"/>
              </a:tabLst>
            </a:pPr>
            <a:r>
              <a:rPr dirty="0" sz="2600">
                <a:latin typeface="宋体"/>
                <a:cs typeface="宋体"/>
              </a:rPr>
              <a:t>背景：对一个设备制造</a:t>
            </a:r>
            <a:r>
              <a:rPr dirty="0" sz="2600" spc="-15">
                <a:latin typeface="宋体"/>
                <a:cs typeface="宋体"/>
              </a:rPr>
              <a:t>商</a:t>
            </a:r>
            <a:r>
              <a:rPr dirty="0" sz="2600">
                <a:latin typeface="宋体"/>
                <a:cs typeface="宋体"/>
              </a:rPr>
              <a:t>的信</a:t>
            </a:r>
            <a:r>
              <a:rPr dirty="0" sz="2600" spc="-15">
                <a:latin typeface="宋体"/>
                <a:cs typeface="宋体"/>
              </a:rPr>
              <a:t>息</a:t>
            </a:r>
            <a:r>
              <a:rPr dirty="0" sz="2600">
                <a:latin typeface="宋体"/>
                <a:cs typeface="宋体"/>
              </a:rPr>
              <a:t>服务</a:t>
            </a:r>
            <a:r>
              <a:rPr dirty="0" sz="2600" spc="-15">
                <a:latin typeface="宋体"/>
                <a:cs typeface="宋体"/>
              </a:rPr>
              <a:t>系</a:t>
            </a:r>
            <a:r>
              <a:rPr dirty="0" sz="2600">
                <a:latin typeface="宋体"/>
                <a:cs typeface="宋体"/>
              </a:rPr>
              <a:t>统升级</a:t>
            </a:r>
            <a:endParaRPr sz="2600">
              <a:latin typeface="宋体"/>
              <a:cs typeface="宋体"/>
            </a:endParaRPr>
          </a:p>
          <a:p>
            <a:pPr marL="770255" indent="-343535">
              <a:lnSpc>
                <a:spcPct val="100000"/>
              </a:lnSpc>
              <a:spcBef>
                <a:spcPts val="630"/>
              </a:spcBef>
              <a:buClr>
                <a:srgbClr val="00663B"/>
              </a:buClr>
              <a:buSzPct val="78846"/>
              <a:buFont typeface="Wingdings"/>
              <a:buChar char=""/>
              <a:tabLst>
                <a:tab pos="770255" algn="l"/>
                <a:tab pos="770890" algn="l"/>
              </a:tabLst>
            </a:pPr>
            <a:r>
              <a:rPr dirty="0" sz="2600">
                <a:latin typeface="宋体"/>
                <a:cs typeface="宋体"/>
              </a:rPr>
              <a:t>问题：改进同经销商之</a:t>
            </a:r>
            <a:r>
              <a:rPr dirty="0" sz="2600" spc="-15">
                <a:latin typeface="宋体"/>
                <a:cs typeface="宋体"/>
              </a:rPr>
              <a:t>间</a:t>
            </a:r>
            <a:r>
              <a:rPr dirty="0" sz="2600">
                <a:latin typeface="宋体"/>
                <a:cs typeface="宋体"/>
              </a:rPr>
              <a:t>的通信</a:t>
            </a:r>
            <a:endParaRPr sz="2600">
              <a:latin typeface="宋体"/>
              <a:cs typeface="宋体"/>
            </a:endParaRPr>
          </a:p>
          <a:p>
            <a:pPr marL="770255" indent="-343535">
              <a:lnSpc>
                <a:spcPct val="100000"/>
              </a:lnSpc>
              <a:spcBef>
                <a:spcPts val="625"/>
              </a:spcBef>
              <a:buClr>
                <a:srgbClr val="00663B"/>
              </a:buClr>
              <a:buSzPct val="78846"/>
              <a:buFont typeface="Wingdings"/>
              <a:buChar char=""/>
              <a:tabLst>
                <a:tab pos="770255" algn="l"/>
                <a:tab pos="770890" algn="l"/>
              </a:tabLst>
            </a:pPr>
            <a:r>
              <a:rPr dirty="0" sz="2600">
                <a:latin typeface="宋体"/>
                <a:cs typeface="宋体"/>
              </a:rPr>
              <a:t>涉众：制造商、经销商</a:t>
            </a:r>
            <a:endParaRPr sz="2600">
              <a:latin typeface="宋体"/>
              <a:cs typeface="宋体"/>
            </a:endParaRPr>
          </a:p>
          <a:p>
            <a:pPr marL="770255" indent="-343535">
              <a:lnSpc>
                <a:spcPct val="100000"/>
              </a:lnSpc>
              <a:spcBef>
                <a:spcPts val="620"/>
              </a:spcBef>
              <a:buClr>
                <a:srgbClr val="00663B"/>
              </a:buClr>
              <a:buSzPct val="78846"/>
              <a:buFont typeface="Wingdings"/>
              <a:buChar char=""/>
              <a:tabLst>
                <a:tab pos="770255" algn="l"/>
                <a:tab pos="770890" algn="l"/>
              </a:tabLst>
            </a:pPr>
            <a:r>
              <a:rPr dirty="0" sz="2600">
                <a:latin typeface="宋体"/>
                <a:cs typeface="宋体"/>
              </a:rPr>
              <a:t>开发人员提出的解决方</a:t>
            </a:r>
            <a:r>
              <a:rPr dirty="0" sz="2600" spc="-15">
                <a:latin typeface="宋体"/>
                <a:cs typeface="宋体"/>
              </a:rPr>
              <a:t>案</a:t>
            </a:r>
            <a:r>
              <a:rPr dirty="0" sz="2600" spc="5">
                <a:latin typeface="宋体"/>
                <a:cs typeface="宋体"/>
              </a:rPr>
              <a:t>：</a:t>
            </a:r>
            <a:endParaRPr sz="2600">
              <a:latin typeface="宋体"/>
              <a:cs typeface="宋体"/>
            </a:endParaRPr>
          </a:p>
          <a:p>
            <a:pPr lvl="1" marL="1170940" marR="5080" indent="-287020">
              <a:lnSpc>
                <a:spcPts val="2470"/>
              </a:lnSpc>
              <a:spcBef>
                <a:spcPts val="940"/>
              </a:spcBef>
              <a:buClr>
                <a:srgbClr val="C00000"/>
              </a:buClr>
              <a:buSzPct val="59090"/>
              <a:buFont typeface="Wingdings"/>
              <a:buChar char=""/>
              <a:tabLst>
                <a:tab pos="1170940" algn="l"/>
                <a:tab pos="1171575" algn="l"/>
              </a:tabLst>
            </a:pPr>
            <a:r>
              <a:rPr dirty="0" sz="2200" spc="-5">
                <a:latin typeface="宋体"/>
                <a:cs typeface="宋体"/>
              </a:rPr>
              <a:t>提供更好的财务报告、更好的发票</a:t>
            </a:r>
            <a:r>
              <a:rPr dirty="0" sz="2200">
                <a:latin typeface="宋体"/>
                <a:cs typeface="宋体"/>
              </a:rPr>
              <a:t>和</a:t>
            </a:r>
            <a:r>
              <a:rPr dirty="0" sz="2200" spc="-5">
                <a:latin typeface="宋体"/>
                <a:cs typeface="宋体"/>
              </a:rPr>
              <a:t>陈述</a:t>
            </a:r>
            <a:r>
              <a:rPr dirty="0" sz="2200">
                <a:latin typeface="宋体"/>
                <a:cs typeface="宋体"/>
              </a:rPr>
              <a:t>的</a:t>
            </a:r>
            <a:r>
              <a:rPr dirty="0" sz="2200" spc="-5">
                <a:latin typeface="宋体"/>
                <a:cs typeface="宋体"/>
              </a:rPr>
              <a:t>格式</a:t>
            </a:r>
            <a:r>
              <a:rPr dirty="0" sz="2200">
                <a:latin typeface="宋体"/>
                <a:cs typeface="宋体"/>
              </a:rPr>
              <a:t>、</a:t>
            </a:r>
            <a:r>
              <a:rPr dirty="0" sz="2200" spc="-5">
                <a:latin typeface="宋体"/>
                <a:cs typeface="宋体"/>
              </a:rPr>
              <a:t>在线</a:t>
            </a:r>
            <a:r>
              <a:rPr dirty="0" sz="2200">
                <a:latin typeface="宋体"/>
                <a:cs typeface="宋体"/>
              </a:rPr>
              <a:t>的</a:t>
            </a:r>
            <a:r>
              <a:rPr dirty="0" sz="2200" spc="-5">
                <a:latin typeface="宋体"/>
                <a:cs typeface="宋体"/>
              </a:rPr>
              <a:t>零 </a:t>
            </a:r>
            <a:r>
              <a:rPr dirty="0" sz="2200" spc="-5">
                <a:latin typeface="宋体"/>
                <a:cs typeface="宋体"/>
              </a:rPr>
              <a:t>件订购以及电子邮件</a:t>
            </a:r>
            <a:endParaRPr sz="2200">
              <a:latin typeface="宋体"/>
              <a:cs typeface="宋体"/>
            </a:endParaRPr>
          </a:p>
          <a:p>
            <a:pPr lvl="1" marL="1170940" indent="-287020">
              <a:lnSpc>
                <a:spcPct val="100000"/>
              </a:lnSpc>
              <a:spcBef>
                <a:spcPts val="475"/>
              </a:spcBef>
              <a:buClr>
                <a:srgbClr val="C00000"/>
              </a:buClr>
              <a:buSzPct val="59090"/>
              <a:buFont typeface="Wingdings"/>
              <a:buChar char=""/>
              <a:tabLst>
                <a:tab pos="1170940" algn="l"/>
                <a:tab pos="1171575" algn="l"/>
              </a:tabLst>
            </a:pPr>
            <a:r>
              <a:rPr dirty="0" sz="2200" spc="-5">
                <a:latin typeface="宋体"/>
                <a:cs typeface="宋体"/>
              </a:rPr>
              <a:t>最终希望能实现公司和经销商间的</a:t>
            </a:r>
            <a:r>
              <a:rPr dirty="0" sz="2200">
                <a:latin typeface="宋体"/>
                <a:cs typeface="宋体"/>
              </a:rPr>
              <a:t>电</a:t>
            </a:r>
            <a:r>
              <a:rPr dirty="0" sz="2200" spc="-5">
                <a:latin typeface="宋体"/>
                <a:cs typeface="宋体"/>
              </a:rPr>
              <a:t>子资</a:t>
            </a:r>
            <a:r>
              <a:rPr dirty="0" sz="2200">
                <a:latin typeface="宋体"/>
                <a:cs typeface="宋体"/>
              </a:rPr>
              <a:t>金</a:t>
            </a:r>
            <a:r>
              <a:rPr dirty="0" sz="2200" spc="-5">
                <a:latin typeface="宋体"/>
                <a:cs typeface="宋体"/>
              </a:rPr>
              <a:t>转账</a:t>
            </a:r>
            <a:endParaRPr sz="2200">
              <a:latin typeface="宋体"/>
              <a:cs typeface="宋体"/>
            </a:endParaRPr>
          </a:p>
          <a:p>
            <a:pPr marL="770255" indent="-343535">
              <a:lnSpc>
                <a:spcPct val="100000"/>
              </a:lnSpc>
              <a:spcBef>
                <a:spcPts val="610"/>
              </a:spcBef>
              <a:buClr>
                <a:srgbClr val="00663B"/>
              </a:buClr>
              <a:buSzPct val="78846"/>
              <a:buFont typeface="Wingdings"/>
              <a:buChar char=""/>
              <a:tabLst>
                <a:tab pos="770255" algn="l"/>
                <a:tab pos="770890" algn="l"/>
              </a:tabLst>
            </a:pPr>
            <a:r>
              <a:rPr dirty="0" sz="2600">
                <a:latin typeface="宋体"/>
                <a:cs typeface="宋体"/>
              </a:rPr>
              <a:t>客户讨论修正后的方案：</a:t>
            </a:r>
            <a:endParaRPr sz="2600">
              <a:latin typeface="宋体"/>
              <a:cs typeface="宋体"/>
            </a:endParaRPr>
          </a:p>
          <a:p>
            <a:pPr lvl="1" marL="1170940" indent="-287020">
              <a:lnSpc>
                <a:spcPct val="100000"/>
              </a:lnSpc>
              <a:spcBef>
                <a:spcPts val="545"/>
              </a:spcBef>
              <a:buClr>
                <a:srgbClr val="C00000"/>
              </a:buClr>
              <a:buSzPct val="59090"/>
              <a:buFont typeface="Wingdings"/>
              <a:buChar char=""/>
              <a:tabLst>
                <a:tab pos="1170940" algn="l"/>
                <a:tab pos="1171575" algn="l"/>
              </a:tabLst>
            </a:pPr>
            <a:r>
              <a:rPr dirty="0" sz="2200" spc="-5">
                <a:latin typeface="宋体"/>
                <a:cs typeface="宋体"/>
              </a:rPr>
              <a:t>首要任务是提供电子资金转账</a:t>
            </a:r>
            <a:endParaRPr sz="2200">
              <a:latin typeface="宋体"/>
              <a:cs typeface="宋体"/>
            </a:endParaRPr>
          </a:p>
          <a:p>
            <a:pPr lvl="1" marL="1170940" indent="-287020">
              <a:lnSpc>
                <a:spcPct val="100000"/>
              </a:lnSpc>
              <a:spcBef>
                <a:spcPts val="530"/>
              </a:spcBef>
              <a:buClr>
                <a:srgbClr val="C00000"/>
              </a:buClr>
              <a:buSzPct val="59090"/>
              <a:buFont typeface="Wingdings"/>
              <a:buChar char=""/>
              <a:tabLst>
                <a:tab pos="1170940" algn="l"/>
                <a:tab pos="1171575" algn="l"/>
              </a:tabLst>
            </a:pPr>
            <a:r>
              <a:rPr dirty="0" sz="2200" spc="-5">
                <a:latin typeface="宋体"/>
                <a:cs typeface="宋体"/>
              </a:rPr>
              <a:t>最好能有电子邮件及其它的通信特性</a:t>
            </a:r>
            <a:endParaRPr sz="2200">
              <a:latin typeface="宋体"/>
              <a:cs typeface="宋体"/>
            </a:endParaRPr>
          </a:p>
          <a:p>
            <a:pPr>
              <a:lnSpc>
                <a:spcPct val="100000"/>
              </a:lnSpc>
            </a:pPr>
            <a:endParaRPr sz="2200">
              <a:latin typeface="宋体"/>
              <a:cs typeface="宋体"/>
            </a:endParaRPr>
          </a:p>
          <a:p>
            <a:pPr marL="12700">
              <a:lnSpc>
                <a:spcPct val="100000"/>
              </a:lnSpc>
              <a:spcBef>
                <a:spcPts val="1595"/>
              </a:spcBef>
            </a:pPr>
            <a:r>
              <a:rPr dirty="0" sz="1600" spc="-5">
                <a:solidFill>
                  <a:srgbClr val="00663B"/>
                </a:solidFill>
                <a:latin typeface="华文行楷"/>
                <a:cs typeface="华文行楷"/>
              </a:rPr>
              <a:t>软件需求工程</a:t>
            </a:r>
            <a:r>
              <a:rPr dirty="0" sz="1600" spc="-20">
                <a:solidFill>
                  <a:srgbClr val="00663B"/>
                </a:solidFill>
                <a:latin typeface="华文行楷"/>
                <a:cs typeface="华文行楷"/>
              </a:rPr>
              <a:t>与</a:t>
            </a:r>
            <a:r>
              <a:rPr dirty="0" sz="1600" spc="-5">
                <a:solidFill>
                  <a:srgbClr val="00663B"/>
                </a:solidFill>
                <a:latin typeface="Calibri"/>
                <a:cs typeface="Calibri"/>
              </a:rPr>
              <a:t>UML</a:t>
            </a:r>
            <a:r>
              <a:rPr dirty="0" sz="1600" spc="-5">
                <a:solidFill>
                  <a:srgbClr val="00663B"/>
                </a:solidFill>
                <a:latin typeface="华文行楷"/>
                <a:cs typeface="华文行楷"/>
              </a:rPr>
              <a:t>建模</a:t>
            </a:r>
            <a:endParaRPr sz="1600">
              <a:latin typeface="华文行楷"/>
              <a:cs typeface="华文行楷"/>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58264" y="95757"/>
            <a:ext cx="6426835"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2.2.3</a:t>
            </a:r>
            <a:r>
              <a:rPr dirty="0" sz="3800" spc="-45">
                <a:latin typeface="Calibri"/>
                <a:cs typeface="Calibri"/>
              </a:rPr>
              <a:t> </a:t>
            </a:r>
            <a:r>
              <a:rPr dirty="0" sz="3800"/>
              <a:t>定义解决方案及系统</a:t>
            </a:r>
            <a:r>
              <a:rPr dirty="0" sz="3800" spc="-15"/>
              <a:t>特</a:t>
            </a:r>
            <a:r>
              <a:rPr dirty="0" sz="3800"/>
              <a:t>性</a:t>
            </a:r>
            <a:endParaRPr sz="3800">
              <a:latin typeface="Calibri"/>
              <a:cs typeface="Calibri"/>
            </a:endParaRPr>
          </a:p>
          <a:p>
            <a:pPr marL="1196975">
              <a:lnSpc>
                <a:spcPct val="100000"/>
              </a:lnSpc>
              <a:spcBef>
                <a:spcPts val="5"/>
              </a:spcBef>
            </a:pPr>
            <a:r>
              <a:rPr dirty="0" sz="3800" spc="-5">
                <a:latin typeface="Calibri"/>
                <a:cs typeface="Calibri"/>
              </a:rPr>
              <a:t>—(2)</a:t>
            </a:r>
            <a:r>
              <a:rPr dirty="0" sz="3800" spc="-40">
                <a:latin typeface="Calibri"/>
                <a:cs typeface="Calibri"/>
              </a:rPr>
              <a:t> </a:t>
            </a:r>
            <a:r>
              <a:rPr dirty="0" sz="3800"/>
              <a:t>确定问题解决边界</a:t>
            </a:r>
            <a:endParaRPr sz="3800">
              <a:latin typeface="Calibri"/>
              <a:cs typeface="Calibri"/>
            </a:endParaRPr>
          </a:p>
        </p:txBody>
      </p:sp>
      <p:sp>
        <p:nvSpPr>
          <p:cNvPr id="3" name="object 3"/>
          <p:cNvSpPr txBox="1"/>
          <p:nvPr/>
        </p:nvSpPr>
        <p:spPr>
          <a:xfrm>
            <a:off x="467664" y="1537328"/>
            <a:ext cx="7639050" cy="2168525"/>
          </a:xfrm>
          <a:prstGeom prst="rect">
            <a:avLst/>
          </a:prstGeom>
        </p:spPr>
        <p:txBody>
          <a:bodyPr wrap="square" lIns="0" tIns="115570" rIns="0" bIns="0" rtlCol="0" vert="horz">
            <a:spAutoFit/>
          </a:bodyPr>
          <a:lstStyle/>
          <a:p>
            <a:pPr marL="355600" indent="-342900">
              <a:lnSpc>
                <a:spcPct val="100000"/>
              </a:lnSpc>
              <a:spcBef>
                <a:spcPts val="910"/>
              </a:spcBef>
              <a:buFont typeface="Arial"/>
              <a:buChar char="•"/>
              <a:tabLst>
                <a:tab pos="354965" algn="l"/>
                <a:tab pos="355600" algn="l"/>
              </a:tabLst>
            </a:pPr>
            <a:r>
              <a:rPr dirty="0" sz="2600">
                <a:latin typeface="宋体"/>
                <a:cs typeface="宋体"/>
              </a:rPr>
              <a:t>明确该解决方案需要具</a:t>
            </a:r>
            <a:r>
              <a:rPr dirty="0" sz="2600" spc="-15">
                <a:latin typeface="宋体"/>
                <a:cs typeface="宋体"/>
              </a:rPr>
              <a:t>备</a:t>
            </a:r>
            <a:r>
              <a:rPr dirty="0" sz="2600">
                <a:latin typeface="宋体"/>
                <a:cs typeface="宋体"/>
              </a:rPr>
              <a:t>的功</a:t>
            </a:r>
            <a:r>
              <a:rPr dirty="0" sz="2600" spc="-15">
                <a:latin typeface="宋体"/>
                <a:cs typeface="宋体"/>
              </a:rPr>
              <a:t>能</a:t>
            </a:r>
            <a:r>
              <a:rPr dirty="0" sz="2600">
                <a:latin typeface="宋体"/>
                <a:cs typeface="宋体"/>
              </a:rPr>
              <a:t>特征</a:t>
            </a:r>
            <a:r>
              <a:rPr dirty="0" sz="2600" spc="-15">
                <a:latin typeface="宋体"/>
                <a:cs typeface="宋体"/>
              </a:rPr>
              <a:t>，</a:t>
            </a:r>
            <a:r>
              <a:rPr dirty="0" sz="2600">
                <a:latin typeface="宋体"/>
                <a:cs typeface="宋体"/>
              </a:rPr>
              <a:t>即系</a:t>
            </a:r>
            <a:r>
              <a:rPr dirty="0" sz="2600" spc="-15">
                <a:latin typeface="宋体"/>
                <a:cs typeface="宋体"/>
              </a:rPr>
              <a:t>统</a:t>
            </a:r>
            <a:r>
              <a:rPr dirty="0" sz="2600">
                <a:latin typeface="宋体"/>
                <a:cs typeface="宋体"/>
              </a:rPr>
              <a:t>特性</a:t>
            </a:r>
            <a:endParaRPr sz="2600">
              <a:latin typeface="宋体"/>
              <a:cs typeface="宋体"/>
            </a:endParaRPr>
          </a:p>
          <a:p>
            <a:pPr marL="355600" marR="5080" indent="-342900">
              <a:lnSpc>
                <a:spcPts val="2930"/>
              </a:lnSpc>
              <a:spcBef>
                <a:spcPts val="1075"/>
              </a:spcBef>
              <a:buFont typeface="Arial"/>
              <a:buChar char="•"/>
              <a:tabLst>
                <a:tab pos="354965" algn="l"/>
                <a:tab pos="355600" algn="l"/>
              </a:tabLst>
            </a:pPr>
            <a:r>
              <a:rPr dirty="0" sz="2600">
                <a:latin typeface="宋体"/>
                <a:cs typeface="宋体"/>
              </a:rPr>
              <a:t>分析解决方案需</a:t>
            </a:r>
            <a:r>
              <a:rPr dirty="0" sz="2600" spc="5">
                <a:latin typeface="宋体"/>
                <a:cs typeface="宋体"/>
              </a:rPr>
              <a:t>要</a:t>
            </a:r>
            <a:r>
              <a:rPr dirty="0" sz="2600" spc="5">
                <a:solidFill>
                  <a:srgbClr val="C00000"/>
                </a:solidFill>
                <a:latin typeface="宋体"/>
                <a:cs typeface="宋体"/>
              </a:rPr>
              <a:t>和周</a:t>
            </a:r>
            <a:r>
              <a:rPr dirty="0" sz="2600" spc="-15">
                <a:solidFill>
                  <a:srgbClr val="C00000"/>
                </a:solidFill>
                <a:latin typeface="宋体"/>
                <a:cs typeface="宋体"/>
              </a:rPr>
              <a:t>围</a:t>
            </a:r>
            <a:r>
              <a:rPr dirty="0" sz="2600" spc="5">
                <a:solidFill>
                  <a:srgbClr val="C00000"/>
                </a:solidFill>
                <a:latin typeface="宋体"/>
                <a:cs typeface="宋体"/>
              </a:rPr>
              <a:t>环境</a:t>
            </a:r>
            <a:r>
              <a:rPr dirty="0" sz="2600" spc="-15">
                <a:solidFill>
                  <a:srgbClr val="C00000"/>
                </a:solidFill>
                <a:latin typeface="宋体"/>
                <a:cs typeface="宋体"/>
              </a:rPr>
              <a:t>形</a:t>
            </a:r>
            <a:r>
              <a:rPr dirty="0" sz="2600" spc="5">
                <a:solidFill>
                  <a:srgbClr val="C00000"/>
                </a:solidFill>
                <a:latin typeface="宋体"/>
                <a:cs typeface="宋体"/>
              </a:rPr>
              <a:t>成的</a:t>
            </a:r>
            <a:r>
              <a:rPr dirty="0" sz="2600" spc="-15">
                <a:solidFill>
                  <a:srgbClr val="C00000"/>
                </a:solidFill>
                <a:latin typeface="宋体"/>
                <a:cs typeface="宋体"/>
              </a:rPr>
              <a:t>交</a:t>
            </a:r>
            <a:r>
              <a:rPr dirty="0" sz="2600" spc="5">
                <a:solidFill>
                  <a:srgbClr val="C00000"/>
                </a:solidFill>
                <a:latin typeface="宋体"/>
                <a:cs typeface="宋体"/>
              </a:rPr>
              <a:t>互作</a:t>
            </a:r>
            <a:r>
              <a:rPr dirty="0" sz="2600" spc="-15">
                <a:solidFill>
                  <a:srgbClr val="C00000"/>
                </a:solidFill>
                <a:latin typeface="宋体"/>
                <a:cs typeface="宋体"/>
              </a:rPr>
              <a:t>用</a:t>
            </a:r>
            <a:r>
              <a:rPr dirty="0" sz="2600">
                <a:latin typeface="宋体"/>
                <a:cs typeface="宋体"/>
              </a:rPr>
              <a:t>，定 </a:t>
            </a:r>
            <a:r>
              <a:rPr dirty="0" sz="2600">
                <a:latin typeface="宋体"/>
                <a:cs typeface="宋体"/>
              </a:rPr>
              <a:t>义解决方案的边界</a:t>
            </a:r>
            <a:endParaRPr sz="2600">
              <a:latin typeface="宋体"/>
              <a:cs typeface="宋体"/>
            </a:endParaRPr>
          </a:p>
          <a:p>
            <a:pPr lvl="1" marL="756285" indent="-287020">
              <a:lnSpc>
                <a:spcPct val="100000"/>
              </a:lnSpc>
              <a:spcBef>
                <a:spcPts val="475"/>
              </a:spcBef>
              <a:buFont typeface="Arial"/>
              <a:buChar char="–"/>
              <a:tabLst>
                <a:tab pos="756285" algn="l"/>
                <a:tab pos="756920" algn="l"/>
              </a:tabLst>
            </a:pPr>
            <a:r>
              <a:rPr dirty="0" sz="2200" spc="-5">
                <a:latin typeface="宋体"/>
                <a:cs typeface="宋体"/>
              </a:rPr>
              <a:t>尤其是</a:t>
            </a:r>
            <a:r>
              <a:rPr dirty="0" sz="2200" spc="-5">
                <a:solidFill>
                  <a:srgbClr val="C00000"/>
                </a:solidFill>
                <a:latin typeface="宋体"/>
                <a:cs typeface="宋体"/>
              </a:rPr>
              <a:t>信息流的输入</a:t>
            </a:r>
            <a:r>
              <a:rPr dirty="0" sz="2200" spc="-5">
                <a:solidFill>
                  <a:srgbClr val="C00000"/>
                </a:solidFill>
                <a:latin typeface="Calibri"/>
                <a:cs typeface="Calibri"/>
              </a:rPr>
              <a:t>/</a:t>
            </a:r>
            <a:r>
              <a:rPr dirty="0" sz="2200" spc="-5">
                <a:solidFill>
                  <a:srgbClr val="C00000"/>
                </a:solidFill>
                <a:latin typeface="宋体"/>
                <a:cs typeface="宋体"/>
              </a:rPr>
              <a:t>输出关系</a:t>
            </a:r>
            <a:endParaRPr sz="2200">
              <a:latin typeface="宋体"/>
              <a:cs typeface="宋体"/>
            </a:endParaRPr>
          </a:p>
          <a:p>
            <a:pPr lvl="2" marL="1155700" indent="-229870">
              <a:lnSpc>
                <a:spcPct val="100000"/>
              </a:lnSpc>
              <a:spcBef>
                <a:spcPts val="490"/>
              </a:spcBef>
              <a:buFont typeface="Arial"/>
              <a:buChar char="•"/>
              <a:tabLst>
                <a:tab pos="1155700" algn="l"/>
                <a:tab pos="1156335" algn="l"/>
              </a:tabLst>
            </a:pPr>
            <a:r>
              <a:rPr dirty="0" sz="2000">
                <a:latin typeface="宋体"/>
                <a:cs typeface="宋体"/>
              </a:rPr>
              <a:t>它需要的信息由谁提供？</a:t>
            </a:r>
            <a:endParaRPr sz="2000">
              <a:latin typeface="宋体"/>
              <a:cs typeface="宋体"/>
            </a:endParaRPr>
          </a:p>
        </p:txBody>
      </p:sp>
      <p:sp>
        <p:nvSpPr>
          <p:cNvPr id="4" name="object 4"/>
          <p:cNvSpPr txBox="1"/>
          <p:nvPr/>
        </p:nvSpPr>
        <p:spPr>
          <a:xfrm>
            <a:off x="1382013" y="3679229"/>
            <a:ext cx="3054350" cy="1123950"/>
          </a:xfrm>
          <a:prstGeom prst="rect">
            <a:avLst/>
          </a:prstGeom>
        </p:spPr>
        <p:txBody>
          <a:bodyPr wrap="square" lIns="0" tIns="74295" rIns="0" bIns="0" rtlCol="0" vert="horz">
            <a:spAutoFit/>
          </a:bodyPr>
          <a:lstStyle/>
          <a:p>
            <a:pPr marL="241300" indent="-229235">
              <a:lnSpc>
                <a:spcPct val="100000"/>
              </a:lnSpc>
              <a:spcBef>
                <a:spcPts val="585"/>
              </a:spcBef>
              <a:buFont typeface="Arial"/>
              <a:buChar char="•"/>
              <a:tabLst>
                <a:tab pos="241300" algn="l"/>
                <a:tab pos="241935" algn="l"/>
              </a:tabLst>
            </a:pPr>
            <a:r>
              <a:rPr dirty="0" sz="2000">
                <a:latin typeface="宋体"/>
                <a:cs typeface="宋体"/>
              </a:rPr>
              <a:t>它产生的信息由谁使用？</a:t>
            </a:r>
            <a:endParaRPr sz="2000">
              <a:latin typeface="宋体"/>
              <a:cs typeface="宋体"/>
            </a:endParaRPr>
          </a:p>
          <a:p>
            <a:pPr marL="241300" indent="-229235">
              <a:lnSpc>
                <a:spcPct val="100000"/>
              </a:lnSpc>
              <a:spcBef>
                <a:spcPts val="480"/>
              </a:spcBef>
              <a:buFont typeface="Arial"/>
              <a:buChar char="•"/>
              <a:tabLst>
                <a:tab pos="241300" algn="l"/>
                <a:tab pos="241935" algn="l"/>
              </a:tabLst>
            </a:pPr>
            <a:r>
              <a:rPr dirty="0" sz="2000">
                <a:latin typeface="宋体"/>
                <a:cs typeface="宋体"/>
              </a:rPr>
              <a:t>谁控制它的执行？</a:t>
            </a:r>
            <a:endParaRPr sz="2000">
              <a:latin typeface="宋体"/>
              <a:cs typeface="宋体"/>
            </a:endParaRPr>
          </a:p>
          <a:p>
            <a:pPr marL="241300" indent="-229235">
              <a:lnSpc>
                <a:spcPct val="100000"/>
              </a:lnSpc>
              <a:spcBef>
                <a:spcPts val="480"/>
              </a:spcBef>
              <a:buFont typeface="Arial"/>
              <a:buChar char="•"/>
              <a:tabLst>
                <a:tab pos="241300" algn="l"/>
                <a:tab pos="241935" algn="l"/>
              </a:tabLst>
            </a:pPr>
            <a:r>
              <a:rPr dirty="0" sz="2000">
                <a:latin typeface="宋体"/>
                <a:cs typeface="宋体"/>
              </a:rPr>
              <a:t>谁会影响它的执行？</a:t>
            </a:r>
            <a:endParaRPr sz="2000">
              <a:latin typeface="宋体"/>
              <a:cs typeface="宋体"/>
            </a:endParaRPr>
          </a:p>
        </p:txBody>
      </p:sp>
      <p:sp>
        <p:nvSpPr>
          <p:cNvPr id="5" name="object 5"/>
          <p:cNvSpPr/>
          <p:nvPr/>
        </p:nvSpPr>
        <p:spPr>
          <a:xfrm>
            <a:off x="4833480" y="3569991"/>
            <a:ext cx="126705" cy="125636"/>
          </a:xfrm>
          <a:prstGeom prst="rect">
            <a:avLst/>
          </a:prstGeom>
          <a:blipFill>
            <a:blip r:embed="rId2" cstate="print"/>
            <a:stretch>
              <a:fillRect/>
            </a:stretch>
          </a:blipFill>
        </p:spPr>
        <p:txBody>
          <a:bodyPr wrap="square" lIns="0" tIns="0" rIns="0" bIns="0" rtlCol="0"/>
          <a:lstStyle/>
          <a:p/>
        </p:txBody>
      </p:sp>
      <p:sp>
        <p:nvSpPr>
          <p:cNvPr id="6" name="object 6"/>
          <p:cNvSpPr/>
          <p:nvPr/>
        </p:nvSpPr>
        <p:spPr>
          <a:xfrm>
            <a:off x="4775215" y="3753309"/>
            <a:ext cx="243840" cy="0"/>
          </a:xfrm>
          <a:custGeom>
            <a:avLst/>
            <a:gdLst/>
            <a:ahLst/>
            <a:cxnLst/>
            <a:rect l="l" t="t" r="r" b="b"/>
            <a:pathLst>
              <a:path w="243839" h="0">
                <a:moveTo>
                  <a:pt x="0" y="0"/>
                </a:moveTo>
                <a:lnTo>
                  <a:pt x="243234" y="0"/>
                </a:lnTo>
              </a:path>
            </a:pathLst>
          </a:custGeom>
          <a:ln w="5080">
            <a:solidFill>
              <a:srgbClr val="000000"/>
            </a:solidFill>
          </a:ln>
        </p:spPr>
        <p:txBody>
          <a:bodyPr wrap="square" lIns="0" tIns="0" rIns="0" bIns="0" rtlCol="0"/>
          <a:lstStyle/>
          <a:p/>
        </p:txBody>
      </p:sp>
      <p:sp>
        <p:nvSpPr>
          <p:cNvPr id="7" name="object 7"/>
          <p:cNvSpPr/>
          <p:nvPr/>
        </p:nvSpPr>
        <p:spPr>
          <a:xfrm>
            <a:off x="4896837" y="3994416"/>
            <a:ext cx="121920" cy="241300"/>
          </a:xfrm>
          <a:custGeom>
            <a:avLst/>
            <a:gdLst/>
            <a:ahLst/>
            <a:cxnLst/>
            <a:rect l="l" t="t" r="r" b="b"/>
            <a:pathLst>
              <a:path w="121920" h="241300">
                <a:moveTo>
                  <a:pt x="0" y="0"/>
                </a:moveTo>
                <a:lnTo>
                  <a:pt x="121612" y="241107"/>
                </a:lnTo>
              </a:path>
            </a:pathLst>
          </a:custGeom>
          <a:ln w="5083">
            <a:solidFill>
              <a:srgbClr val="000000"/>
            </a:solidFill>
          </a:ln>
        </p:spPr>
        <p:txBody>
          <a:bodyPr wrap="square" lIns="0" tIns="0" rIns="0" bIns="0" rtlCol="0"/>
          <a:lstStyle/>
          <a:p/>
        </p:txBody>
      </p:sp>
      <p:sp>
        <p:nvSpPr>
          <p:cNvPr id="8" name="object 8"/>
          <p:cNvSpPr/>
          <p:nvPr/>
        </p:nvSpPr>
        <p:spPr>
          <a:xfrm>
            <a:off x="4775215" y="3693085"/>
            <a:ext cx="121920" cy="542925"/>
          </a:xfrm>
          <a:custGeom>
            <a:avLst/>
            <a:gdLst/>
            <a:ahLst/>
            <a:cxnLst/>
            <a:rect l="l" t="t" r="r" b="b"/>
            <a:pathLst>
              <a:path w="121920" h="542925">
                <a:moveTo>
                  <a:pt x="121622" y="0"/>
                </a:moveTo>
                <a:lnTo>
                  <a:pt x="121622" y="301330"/>
                </a:lnTo>
                <a:lnTo>
                  <a:pt x="0" y="542437"/>
                </a:lnTo>
              </a:path>
            </a:pathLst>
          </a:custGeom>
          <a:ln w="5084">
            <a:solidFill>
              <a:srgbClr val="000000"/>
            </a:solidFill>
          </a:ln>
        </p:spPr>
        <p:txBody>
          <a:bodyPr wrap="square" lIns="0" tIns="0" rIns="0" bIns="0" rtlCol="0"/>
          <a:lstStyle/>
          <a:p/>
        </p:txBody>
      </p:sp>
      <p:sp>
        <p:nvSpPr>
          <p:cNvPr id="9" name="object 9"/>
          <p:cNvSpPr/>
          <p:nvPr/>
        </p:nvSpPr>
        <p:spPr>
          <a:xfrm>
            <a:off x="4833480" y="4707046"/>
            <a:ext cx="126705" cy="125636"/>
          </a:xfrm>
          <a:prstGeom prst="rect">
            <a:avLst/>
          </a:prstGeom>
          <a:blipFill>
            <a:blip r:embed="rId3" cstate="print"/>
            <a:stretch>
              <a:fillRect/>
            </a:stretch>
          </a:blipFill>
        </p:spPr>
        <p:txBody>
          <a:bodyPr wrap="square" lIns="0" tIns="0" rIns="0" bIns="0" rtlCol="0"/>
          <a:lstStyle/>
          <a:p/>
        </p:txBody>
      </p:sp>
      <p:sp>
        <p:nvSpPr>
          <p:cNvPr id="10" name="object 10"/>
          <p:cNvSpPr/>
          <p:nvPr/>
        </p:nvSpPr>
        <p:spPr>
          <a:xfrm>
            <a:off x="4775215" y="4890365"/>
            <a:ext cx="243840" cy="0"/>
          </a:xfrm>
          <a:custGeom>
            <a:avLst/>
            <a:gdLst/>
            <a:ahLst/>
            <a:cxnLst/>
            <a:rect l="l" t="t" r="r" b="b"/>
            <a:pathLst>
              <a:path w="243839" h="0">
                <a:moveTo>
                  <a:pt x="0" y="0"/>
                </a:moveTo>
                <a:lnTo>
                  <a:pt x="243234" y="0"/>
                </a:lnTo>
              </a:path>
            </a:pathLst>
          </a:custGeom>
          <a:ln w="5080">
            <a:solidFill>
              <a:srgbClr val="000000"/>
            </a:solidFill>
          </a:ln>
        </p:spPr>
        <p:txBody>
          <a:bodyPr wrap="square" lIns="0" tIns="0" rIns="0" bIns="0" rtlCol="0"/>
          <a:lstStyle/>
          <a:p/>
        </p:txBody>
      </p:sp>
      <p:sp>
        <p:nvSpPr>
          <p:cNvPr id="11" name="object 11"/>
          <p:cNvSpPr/>
          <p:nvPr/>
        </p:nvSpPr>
        <p:spPr>
          <a:xfrm>
            <a:off x="4896838" y="5131472"/>
            <a:ext cx="121920" cy="241300"/>
          </a:xfrm>
          <a:custGeom>
            <a:avLst/>
            <a:gdLst/>
            <a:ahLst/>
            <a:cxnLst/>
            <a:rect l="l" t="t" r="r" b="b"/>
            <a:pathLst>
              <a:path w="121920" h="241300">
                <a:moveTo>
                  <a:pt x="0" y="0"/>
                </a:moveTo>
                <a:lnTo>
                  <a:pt x="121612" y="241159"/>
                </a:lnTo>
              </a:path>
            </a:pathLst>
          </a:custGeom>
          <a:ln w="5083">
            <a:solidFill>
              <a:srgbClr val="000000"/>
            </a:solidFill>
          </a:ln>
        </p:spPr>
        <p:txBody>
          <a:bodyPr wrap="square" lIns="0" tIns="0" rIns="0" bIns="0" rtlCol="0"/>
          <a:lstStyle/>
          <a:p/>
        </p:txBody>
      </p:sp>
      <p:sp>
        <p:nvSpPr>
          <p:cNvPr id="12" name="object 12"/>
          <p:cNvSpPr/>
          <p:nvPr/>
        </p:nvSpPr>
        <p:spPr>
          <a:xfrm>
            <a:off x="4775215" y="4830141"/>
            <a:ext cx="121920" cy="542925"/>
          </a:xfrm>
          <a:custGeom>
            <a:avLst/>
            <a:gdLst/>
            <a:ahLst/>
            <a:cxnLst/>
            <a:rect l="l" t="t" r="r" b="b"/>
            <a:pathLst>
              <a:path w="121920" h="542925">
                <a:moveTo>
                  <a:pt x="121622" y="0"/>
                </a:moveTo>
                <a:lnTo>
                  <a:pt x="121622" y="301330"/>
                </a:lnTo>
                <a:lnTo>
                  <a:pt x="0" y="542490"/>
                </a:lnTo>
              </a:path>
            </a:pathLst>
          </a:custGeom>
          <a:ln w="5084">
            <a:solidFill>
              <a:srgbClr val="000000"/>
            </a:solidFill>
          </a:ln>
        </p:spPr>
        <p:txBody>
          <a:bodyPr wrap="square" lIns="0" tIns="0" rIns="0" bIns="0" rtlCol="0"/>
          <a:lstStyle/>
          <a:p/>
        </p:txBody>
      </p:sp>
      <p:sp>
        <p:nvSpPr>
          <p:cNvPr id="13" name="object 13"/>
          <p:cNvSpPr/>
          <p:nvPr/>
        </p:nvSpPr>
        <p:spPr>
          <a:xfrm>
            <a:off x="6139751" y="5356088"/>
            <a:ext cx="126694" cy="125636"/>
          </a:xfrm>
          <a:prstGeom prst="rect">
            <a:avLst/>
          </a:prstGeom>
          <a:blipFill>
            <a:blip r:embed="rId4" cstate="print"/>
            <a:stretch>
              <a:fillRect/>
            </a:stretch>
          </a:blipFill>
        </p:spPr>
        <p:txBody>
          <a:bodyPr wrap="square" lIns="0" tIns="0" rIns="0" bIns="0" rtlCol="0"/>
          <a:lstStyle/>
          <a:p/>
        </p:txBody>
      </p:sp>
      <p:sp>
        <p:nvSpPr>
          <p:cNvPr id="14" name="object 14"/>
          <p:cNvSpPr/>
          <p:nvPr/>
        </p:nvSpPr>
        <p:spPr>
          <a:xfrm>
            <a:off x="6081486" y="5539459"/>
            <a:ext cx="243840" cy="0"/>
          </a:xfrm>
          <a:custGeom>
            <a:avLst/>
            <a:gdLst/>
            <a:ahLst/>
            <a:cxnLst/>
            <a:rect l="l" t="t" r="r" b="b"/>
            <a:pathLst>
              <a:path w="243839" h="0">
                <a:moveTo>
                  <a:pt x="0" y="0"/>
                </a:moveTo>
                <a:lnTo>
                  <a:pt x="243224" y="0"/>
                </a:lnTo>
              </a:path>
            </a:pathLst>
          </a:custGeom>
          <a:ln w="5080">
            <a:solidFill>
              <a:srgbClr val="000000"/>
            </a:solidFill>
          </a:ln>
        </p:spPr>
        <p:txBody>
          <a:bodyPr wrap="square" lIns="0" tIns="0" rIns="0" bIns="0" rtlCol="0"/>
          <a:lstStyle/>
          <a:p/>
        </p:txBody>
      </p:sp>
      <p:sp>
        <p:nvSpPr>
          <p:cNvPr id="15" name="object 15"/>
          <p:cNvSpPr/>
          <p:nvPr/>
        </p:nvSpPr>
        <p:spPr>
          <a:xfrm>
            <a:off x="6203098" y="5780566"/>
            <a:ext cx="121920" cy="241300"/>
          </a:xfrm>
          <a:custGeom>
            <a:avLst/>
            <a:gdLst/>
            <a:ahLst/>
            <a:cxnLst/>
            <a:rect l="l" t="t" r="r" b="b"/>
            <a:pathLst>
              <a:path w="121920" h="241300">
                <a:moveTo>
                  <a:pt x="0" y="0"/>
                </a:moveTo>
                <a:lnTo>
                  <a:pt x="121612" y="241117"/>
                </a:lnTo>
              </a:path>
            </a:pathLst>
          </a:custGeom>
          <a:ln w="5083">
            <a:solidFill>
              <a:srgbClr val="000000"/>
            </a:solidFill>
          </a:ln>
        </p:spPr>
        <p:txBody>
          <a:bodyPr wrap="square" lIns="0" tIns="0" rIns="0" bIns="0" rtlCol="0"/>
          <a:lstStyle/>
          <a:p/>
        </p:txBody>
      </p:sp>
      <p:sp>
        <p:nvSpPr>
          <p:cNvPr id="16" name="object 16"/>
          <p:cNvSpPr/>
          <p:nvPr/>
        </p:nvSpPr>
        <p:spPr>
          <a:xfrm>
            <a:off x="6081486" y="5479182"/>
            <a:ext cx="121920" cy="542925"/>
          </a:xfrm>
          <a:custGeom>
            <a:avLst/>
            <a:gdLst/>
            <a:ahLst/>
            <a:cxnLst/>
            <a:rect l="l" t="t" r="r" b="b"/>
            <a:pathLst>
              <a:path w="121920" h="542925">
                <a:moveTo>
                  <a:pt x="121612" y="0"/>
                </a:moveTo>
                <a:lnTo>
                  <a:pt x="121612" y="301383"/>
                </a:lnTo>
                <a:lnTo>
                  <a:pt x="0" y="542501"/>
                </a:lnTo>
              </a:path>
            </a:pathLst>
          </a:custGeom>
          <a:ln w="5084">
            <a:solidFill>
              <a:srgbClr val="000000"/>
            </a:solidFill>
          </a:ln>
        </p:spPr>
        <p:txBody>
          <a:bodyPr wrap="square" lIns="0" tIns="0" rIns="0" bIns="0" rtlCol="0"/>
          <a:lstStyle/>
          <a:p/>
        </p:txBody>
      </p:sp>
      <p:sp>
        <p:nvSpPr>
          <p:cNvPr id="17" name="object 17"/>
          <p:cNvSpPr/>
          <p:nvPr/>
        </p:nvSpPr>
        <p:spPr>
          <a:xfrm>
            <a:off x="7171018" y="5370090"/>
            <a:ext cx="126694" cy="125636"/>
          </a:xfrm>
          <a:prstGeom prst="rect">
            <a:avLst/>
          </a:prstGeom>
          <a:blipFill>
            <a:blip r:embed="rId5" cstate="print"/>
            <a:stretch>
              <a:fillRect/>
            </a:stretch>
          </a:blipFill>
        </p:spPr>
        <p:txBody>
          <a:bodyPr wrap="square" lIns="0" tIns="0" rIns="0" bIns="0" rtlCol="0"/>
          <a:lstStyle/>
          <a:p/>
        </p:txBody>
      </p:sp>
      <p:sp>
        <p:nvSpPr>
          <p:cNvPr id="18" name="object 18"/>
          <p:cNvSpPr/>
          <p:nvPr/>
        </p:nvSpPr>
        <p:spPr>
          <a:xfrm>
            <a:off x="7112753" y="5553462"/>
            <a:ext cx="243840" cy="0"/>
          </a:xfrm>
          <a:custGeom>
            <a:avLst/>
            <a:gdLst/>
            <a:ahLst/>
            <a:cxnLst/>
            <a:rect l="l" t="t" r="r" b="b"/>
            <a:pathLst>
              <a:path w="243840" h="0">
                <a:moveTo>
                  <a:pt x="0" y="0"/>
                </a:moveTo>
                <a:lnTo>
                  <a:pt x="243224" y="0"/>
                </a:lnTo>
              </a:path>
            </a:pathLst>
          </a:custGeom>
          <a:ln w="5080">
            <a:solidFill>
              <a:srgbClr val="000000"/>
            </a:solidFill>
          </a:ln>
        </p:spPr>
        <p:txBody>
          <a:bodyPr wrap="square" lIns="0" tIns="0" rIns="0" bIns="0" rtlCol="0"/>
          <a:lstStyle/>
          <a:p/>
        </p:txBody>
      </p:sp>
      <p:sp>
        <p:nvSpPr>
          <p:cNvPr id="19" name="object 19"/>
          <p:cNvSpPr/>
          <p:nvPr/>
        </p:nvSpPr>
        <p:spPr>
          <a:xfrm>
            <a:off x="7234365" y="5794569"/>
            <a:ext cx="121920" cy="241300"/>
          </a:xfrm>
          <a:custGeom>
            <a:avLst/>
            <a:gdLst/>
            <a:ahLst/>
            <a:cxnLst/>
            <a:rect l="l" t="t" r="r" b="b"/>
            <a:pathLst>
              <a:path w="121920" h="241300">
                <a:moveTo>
                  <a:pt x="0" y="0"/>
                </a:moveTo>
                <a:lnTo>
                  <a:pt x="121612" y="241107"/>
                </a:lnTo>
              </a:path>
            </a:pathLst>
          </a:custGeom>
          <a:ln w="5083">
            <a:solidFill>
              <a:srgbClr val="000000"/>
            </a:solidFill>
          </a:ln>
        </p:spPr>
        <p:txBody>
          <a:bodyPr wrap="square" lIns="0" tIns="0" rIns="0" bIns="0" rtlCol="0"/>
          <a:lstStyle/>
          <a:p/>
        </p:txBody>
      </p:sp>
      <p:sp>
        <p:nvSpPr>
          <p:cNvPr id="20" name="object 20"/>
          <p:cNvSpPr/>
          <p:nvPr/>
        </p:nvSpPr>
        <p:spPr>
          <a:xfrm>
            <a:off x="7112753" y="5493185"/>
            <a:ext cx="121920" cy="542925"/>
          </a:xfrm>
          <a:custGeom>
            <a:avLst/>
            <a:gdLst/>
            <a:ahLst/>
            <a:cxnLst/>
            <a:rect l="l" t="t" r="r" b="b"/>
            <a:pathLst>
              <a:path w="121920" h="542925">
                <a:moveTo>
                  <a:pt x="121612" y="0"/>
                </a:moveTo>
                <a:lnTo>
                  <a:pt x="121612" y="301383"/>
                </a:lnTo>
                <a:lnTo>
                  <a:pt x="0" y="542490"/>
                </a:lnTo>
              </a:path>
            </a:pathLst>
          </a:custGeom>
          <a:ln w="5084">
            <a:solidFill>
              <a:srgbClr val="000000"/>
            </a:solidFill>
          </a:ln>
        </p:spPr>
        <p:txBody>
          <a:bodyPr wrap="square" lIns="0" tIns="0" rIns="0" bIns="0" rtlCol="0"/>
          <a:lstStyle/>
          <a:p/>
        </p:txBody>
      </p:sp>
      <p:sp>
        <p:nvSpPr>
          <p:cNvPr id="21" name="object 21"/>
          <p:cNvSpPr/>
          <p:nvPr/>
        </p:nvSpPr>
        <p:spPr>
          <a:xfrm>
            <a:off x="8175271" y="3958429"/>
            <a:ext cx="126800" cy="125636"/>
          </a:xfrm>
          <a:prstGeom prst="rect">
            <a:avLst/>
          </a:prstGeom>
          <a:blipFill>
            <a:blip r:embed="rId6" cstate="print"/>
            <a:stretch>
              <a:fillRect/>
            </a:stretch>
          </a:blipFill>
        </p:spPr>
        <p:txBody>
          <a:bodyPr wrap="square" lIns="0" tIns="0" rIns="0" bIns="0" rtlCol="0"/>
          <a:lstStyle/>
          <a:p/>
        </p:txBody>
      </p:sp>
      <p:sp>
        <p:nvSpPr>
          <p:cNvPr id="22" name="object 22"/>
          <p:cNvSpPr/>
          <p:nvPr/>
        </p:nvSpPr>
        <p:spPr>
          <a:xfrm>
            <a:off x="8117006" y="4141853"/>
            <a:ext cx="243840" cy="0"/>
          </a:xfrm>
          <a:custGeom>
            <a:avLst/>
            <a:gdLst/>
            <a:ahLst/>
            <a:cxnLst/>
            <a:rect l="l" t="t" r="r" b="b"/>
            <a:pathLst>
              <a:path w="243840" h="0">
                <a:moveTo>
                  <a:pt x="0" y="0"/>
                </a:moveTo>
                <a:lnTo>
                  <a:pt x="243330" y="0"/>
                </a:lnTo>
              </a:path>
            </a:pathLst>
          </a:custGeom>
          <a:ln w="5080">
            <a:solidFill>
              <a:srgbClr val="000000"/>
            </a:solidFill>
          </a:ln>
        </p:spPr>
        <p:txBody>
          <a:bodyPr wrap="square" lIns="0" tIns="0" rIns="0" bIns="0" rtlCol="0"/>
          <a:lstStyle/>
          <a:p/>
        </p:txBody>
      </p:sp>
      <p:sp>
        <p:nvSpPr>
          <p:cNvPr id="23" name="object 23"/>
          <p:cNvSpPr/>
          <p:nvPr/>
        </p:nvSpPr>
        <p:spPr>
          <a:xfrm>
            <a:off x="8238725" y="4382960"/>
            <a:ext cx="121920" cy="241300"/>
          </a:xfrm>
          <a:custGeom>
            <a:avLst/>
            <a:gdLst/>
            <a:ahLst/>
            <a:cxnLst/>
            <a:rect l="l" t="t" r="r" b="b"/>
            <a:pathLst>
              <a:path w="121920" h="241300">
                <a:moveTo>
                  <a:pt x="0" y="0"/>
                </a:moveTo>
                <a:lnTo>
                  <a:pt x="121612" y="241107"/>
                </a:lnTo>
              </a:path>
            </a:pathLst>
          </a:custGeom>
          <a:ln w="5083">
            <a:solidFill>
              <a:srgbClr val="000000"/>
            </a:solidFill>
          </a:ln>
        </p:spPr>
        <p:txBody>
          <a:bodyPr wrap="square" lIns="0" tIns="0" rIns="0" bIns="0" rtlCol="0"/>
          <a:lstStyle/>
          <a:p/>
        </p:txBody>
      </p:sp>
      <p:sp>
        <p:nvSpPr>
          <p:cNvPr id="24" name="object 24"/>
          <p:cNvSpPr/>
          <p:nvPr/>
        </p:nvSpPr>
        <p:spPr>
          <a:xfrm>
            <a:off x="8117006" y="4081524"/>
            <a:ext cx="121920" cy="542925"/>
          </a:xfrm>
          <a:custGeom>
            <a:avLst/>
            <a:gdLst/>
            <a:ahLst/>
            <a:cxnLst/>
            <a:rect l="l" t="t" r="r" b="b"/>
            <a:pathLst>
              <a:path w="121920" h="542925">
                <a:moveTo>
                  <a:pt x="121718" y="0"/>
                </a:moveTo>
                <a:lnTo>
                  <a:pt x="121718" y="301436"/>
                </a:lnTo>
                <a:lnTo>
                  <a:pt x="0" y="542543"/>
                </a:lnTo>
              </a:path>
            </a:pathLst>
          </a:custGeom>
          <a:ln w="5084">
            <a:solidFill>
              <a:srgbClr val="000000"/>
            </a:solidFill>
          </a:ln>
        </p:spPr>
        <p:txBody>
          <a:bodyPr wrap="square" lIns="0" tIns="0" rIns="0" bIns="0" rtlCol="0"/>
          <a:lstStyle/>
          <a:p/>
        </p:txBody>
      </p:sp>
      <p:sp>
        <p:nvSpPr>
          <p:cNvPr id="25" name="object 25"/>
          <p:cNvSpPr txBox="1"/>
          <p:nvPr/>
        </p:nvSpPr>
        <p:spPr>
          <a:xfrm>
            <a:off x="4602533" y="4264311"/>
            <a:ext cx="661035" cy="178435"/>
          </a:xfrm>
          <a:prstGeom prst="rect">
            <a:avLst/>
          </a:prstGeom>
        </p:spPr>
        <p:txBody>
          <a:bodyPr wrap="square" lIns="0" tIns="12700" rIns="0" bIns="0" rtlCol="0" vert="horz">
            <a:spAutoFit/>
          </a:bodyPr>
          <a:lstStyle/>
          <a:p>
            <a:pPr marL="12700">
              <a:lnSpc>
                <a:spcPct val="100000"/>
              </a:lnSpc>
              <a:spcBef>
                <a:spcPts val="100"/>
              </a:spcBef>
            </a:pPr>
            <a:r>
              <a:rPr dirty="0" sz="1000">
                <a:latin typeface="宋体"/>
                <a:cs typeface="宋体"/>
              </a:rPr>
              <a:t>订单输入员</a:t>
            </a:r>
            <a:endParaRPr sz="1000">
              <a:latin typeface="宋体"/>
              <a:cs typeface="宋体"/>
            </a:endParaRPr>
          </a:p>
        </p:txBody>
      </p:sp>
      <p:sp>
        <p:nvSpPr>
          <p:cNvPr id="26" name="object 26"/>
          <p:cNvSpPr txBox="1"/>
          <p:nvPr/>
        </p:nvSpPr>
        <p:spPr>
          <a:xfrm>
            <a:off x="4616379" y="5190032"/>
            <a:ext cx="534035" cy="178435"/>
          </a:xfrm>
          <a:prstGeom prst="rect">
            <a:avLst/>
          </a:prstGeom>
        </p:spPr>
        <p:txBody>
          <a:bodyPr wrap="square" lIns="0" tIns="12700" rIns="0" bIns="0" rtlCol="0" vert="horz">
            <a:spAutoFit/>
          </a:bodyPr>
          <a:lstStyle/>
          <a:p>
            <a:pPr marL="12700">
              <a:lnSpc>
                <a:spcPct val="100000"/>
              </a:lnSpc>
              <a:spcBef>
                <a:spcPts val="100"/>
              </a:spcBef>
            </a:pPr>
            <a:r>
              <a:rPr dirty="0" sz="1000">
                <a:latin typeface="宋体"/>
                <a:cs typeface="宋体"/>
              </a:rPr>
              <a:t>票据文员</a:t>
            </a:r>
            <a:endParaRPr sz="1000">
              <a:latin typeface="宋体"/>
              <a:cs typeface="宋体"/>
            </a:endParaRPr>
          </a:p>
        </p:txBody>
      </p:sp>
      <p:sp>
        <p:nvSpPr>
          <p:cNvPr id="27" name="object 27"/>
          <p:cNvSpPr txBox="1"/>
          <p:nvPr/>
        </p:nvSpPr>
        <p:spPr>
          <a:xfrm>
            <a:off x="5990819" y="6060102"/>
            <a:ext cx="407034" cy="178435"/>
          </a:xfrm>
          <a:prstGeom prst="rect">
            <a:avLst/>
          </a:prstGeom>
        </p:spPr>
        <p:txBody>
          <a:bodyPr wrap="square" lIns="0" tIns="12700" rIns="0" bIns="0" rtlCol="0" vert="horz">
            <a:spAutoFit/>
          </a:bodyPr>
          <a:lstStyle/>
          <a:p>
            <a:pPr marL="12700">
              <a:lnSpc>
                <a:spcPct val="100000"/>
              </a:lnSpc>
              <a:spcBef>
                <a:spcPts val="100"/>
              </a:spcBef>
            </a:pPr>
            <a:r>
              <a:rPr dirty="0" sz="1000">
                <a:latin typeface="宋体"/>
                <a:cs typeface="宋体"/>
              </a:rPr>
              <a:t>运输员</a:t>
            </a:r>
            <a:endParaRPr sz="1000">
              <a:latin typeface="宋体"/>
              <a:cs typeface="宋体"/>
            </a:endParaRPr>
          </a:p>
        </p:txBody>
      </p:sp>
      <p:sp>
        <p:nvSpPr>
          <p:cNvPr id="28" name="object 28"/>
          <p:cNvSpPr txBox="1"/>
          <p:nvPr/>
        </p:nvSpPr>
        <p:spPr>
          <a:xfrm>
            <a:off x="6968907" y="6074103"/>
            <a:ext cx="534035" cy="178435"/>
          </a:xfrm>
          <a:prstGeom prst="rect">
            <a:avLst/>
          </a:prstGeom>
        </p:spPr>
        <p:txBody>
          <a:bodyPr wrap="square" lIns="0" tIns="12700" rIns="0" bIns="0" rtlCol="0" vert="horz">
            <a:spAutoFit/>
          </a:bodyPr>
          <a:lstStyle/>
          <a:p>
            <a:pPr marL="12700">
              <a:lnSpc>
                <a:spcPct val="100000"/>
              </a:lnSpc>
              <a:spcBef>
                <a:spcPts val="100"/>
              </a:spcBef>
            </a:pPr>
            <a:r>
              <a:rPr dirty="0" sz="1000">
                <a:latin typeface="宋体"/>
                <a:cs typeface="宋体"/>
              </a:rPr>
              <a:t>生产工长</a:t>
            </a:r>
            <a:endParaRPr sz="1000">
              <a:latin typeface="宋体"/>
              <a:cs typeface="宋体"/>
            </a:endParaRPr>
          </a:p>
        </p:txBody>
      </p:sp>
      <p:sp>
        <p:nvSpPr>
          <p:cNvPr id="29" name="object 29"/>
          <p:cNvSpPr txBox="1"/>
          <p:nvPr/>
        </p:nvSpPr>
        <p:spPr>
          <a:xfrm>
            <a:off x="7709173" y="4611579"/>
            <a:ext cx="915669" cy="353060"/>
          </a:xfrm>
          <a:prstGeom prst="rect">
            <a:avLst/>
          </a:prstGeom>
        </p:spPr>
        <p:txBody>
          <a:bodyPr wrap="square" lIns="0" tIns="12700" rIns="0" bIns="0" rtlCol="0" vert="horz">
            <a:spAutoFit/>
          </a:bodyPr>
          <a:lstStyle/>
          <a:p>
            <a:pPr marL="266700" marR="5080" indent="-254635">
              <a:lnSpc>
                <a:spcPct val="107300"/>
              </a:lnSpc>
              <a:spcBef>
                <a:spcPts val="100"/>
              </a:spcBef>
            </a:pPr>
            <a:r>
              <a:rPr dirty="0" sz="1000">
                <a:latin typeface="宋体"/>
                <a:cs typeface="宋体"/>
              </a:rPr>
              <a:t>包含定价数据的 </a:t>
            </a:r>
            <a:r>
              <a:rPr dirty="0" sz="1000">
                <a:latin typeface="宋体"/>
                <a:cs typeface="宋体"/>
              </a:rPr>
              <a:t>旧系统</a:t>
            </a:r>
            <a:endParaRPr sz="1000">
              <a:latin typeface="宋体"/>
              <a:cs typeface="宋体"/>
            </a:endParaRPr>
          </a:p>
        </p:txBody>
      </p:sp>
      <p:sp>
        <p:nvSpPr>
          <p:cNvPr id="30" name="object 30"/>
          <p:cNvSpPr/>
          <p:nvPr/>
        </p:nvSpPr>
        <p:spPr>
          <a:xfrm>
            <a:off x="5604042" y="3812475"/>
            <a:ext cx="2192655" cy="1110615"/>
          </a:xfrm>
          <a:custGeom>
            <a:avLst/>
            <a:gdLst/>
            <a:ahLst/>
            <a:cxnLst/>
            <a:rect l="l" t="t" r="r" b="b"/>
            <a:pathLst>
              <a:path w="2192654" h="1110614">
                <a:moveTo>
                  <a:pt x="0" y="555032"/>
                </a:moveTo>
                <a:lnTo>
                  <a:pt x="6878" y="492505"/>
                </a:lnTo>
                <a:lnTo>
                  <a:pt x="27018" y="432008"/>
                </a:lnTo>
                <a:lnTo>
                  <a:pt x="59682" y="373916"/>
                </a:lnTo>
                <a:lnTo>
                  <a:pt x="104128" y="318604"/>
                </a:lnTo>
                <a:lnTo>
                  <a:pt x="159617" y="266447"/>
                </a:lnTo>
                <a:lnTo>
                  <a:pt x="191270" y="241669"/>
                </a:lnTo>
                <a:lnTo>
                  <a:pt x="225407" y="217821"/>
                </a:lnTo>
                <a:lnTo>
                  <a:pt x="261935" y="194948"/>
                </a:lnTo>
                <a:lnTo>
                  <a:pt x="300760" y="173099"/>
                </a:lnTo>
                <a:lnTo>
                  <a:pt x="341791" y="152319"/>
                </a:lnTo>
                <a:lnTo>
                  <a:pt x="384935" y="132656"/>
                </a:lnTo>
                <a:lnTo>
                  <a:pt x="430099" y="114157"/>
                </a:lnTo>
                <a:lnTo>
                  <a:pt x="477192" y="96869"/>
                </a:lnTo>
                <a:lnTo>
                  <a:pt x="526119" y="80838"/>
                </a:lnTo>
                <a:lnTo>
                  <a:pt x="576790" y="66112"/>
                </a:lnTo>
                <a:lnTo>
                  <a:pt x="629111" y="52736"/>
                </a:lnTo>
                <a:lnTo>
                  <a:pt x="682990" y="40759"/>
                </a:lnTo>
                <a:lnTo>
                  <a:pt x="738334" y="30226"/>
                </a:lnTo>
                <a:lnTo>
                  <a:pt x="795051" y="21186"/>
                </a:lnTo>
                <a:lnTo>
                  <a:pt x="853049" y="13684"/>
                </a:lnTo>
                <a:lnTo>
                  <a:pt x="912234" y="7767"/>
                </a:lnTo>
                <a:lnTo>
                  <a:pt x="972515" y="3483"/>
                </a:lnTo>
                <a:lnTo>
                  <a:pt x="1033798" y="878"/>
                </a:lnTo>
                <a:lnTo>
                  <a:pt x="1095992" y="0"/>
                </a:lnTo>
                <a:lnTo>
                  <a:pt x="1158186" y="878"/>
                </a:lnTo>
                <a:lnTo>
                  <a:pt x="1219470" y="3483"/>
                </a:lnTo>
                <a:lnTo>
                  <a:pt x="1279752" y="7767"/>
                </a:lnTo>
                <a:lnTo>
                  <a:pt x="1338940" y="13684"/>
                </a:lnTo>
                <a:lnTo>
                  <a:pt x="1396940" y="21186"/>
                </a:lnTo>
                <a:lnTo>
                  <a:pt x="1453661" y="30226"/>
                </a:lnTo>
                <a:lnTo>
                  <a:pt x="1509009" y="40759"/>
                </a:lnTo>
                <a:lnTo>
                  <a:pt x="1562892" y="52736"/>
                </a:lnTo>
                <a:lnTo>
                  <a:pt x="1615218" y="66112"/>
                </a:lnTo>
                <a:lnTo>
                  <a:pt x="1665893" y="80838"/>
                </a:lnTo>
                <a:lnTo>
                  <a:pt x="1714826" y="96869"/>
                </a:lnTo>
                <a:lnTo>
                  <a:pt x="1761924" y="114157"/>
                </a:lnTo>
                <a:lnTo>
                  <a:pt x="1807093" y="132656"/>
                </a:lnTo>
                <a:lnTo>
                  <a:pt x="1850243" y="152319"/>
                </a:lnTo>
                <a:lnTo>
                  <a:pt x="1891279" y="173099"/>
                </a:lnTo>
                <a:lnTo>
                  <a:pt x="1930110" y="194948"/>
                </a:lnTo>
                <a:lnTo>
                  <a:pt x="1966643" y="217821"/>
                </a:lnTo>
                <a:lnTo>
                  <a:pt x="2000785" y="241669"/>
                </a:lnTo>
                <a:lnTo>
                  <a:pt x="2032444" y="266447"/>
                </a:lnTo>
                <a:lnTo>
                  <a:pt x="2061527" y="292108"/>
                </a:lnTo>
                <a:lnTo>
                  <a:pt x="2111595" y="345889"/>
                </a:lnTo>
                <a:lnTo>
                  <a:pt x="2150250" y="402638"/>
                </a:lnTo>
                <a:lnTo>
                  <a:pt x="2176750" y="461980"/>
                </a:lnTo>
                <a:lnTo>
                  <a:pt x="2190355" y="523539"/>
                </a:lnTo>
                <a:lnTo>
                  <a:pt x="2192090" y="555032"/>
                </a:lnTo>
                <a:lnTo>
                  <a:pt x="2190355" y="586537"/>
                </a:lnTo>
                <a:lnTo>
                  <a:pt x="2185211" y="617580"/>
                </a:lnTo>
                <a:lnTo>
                  <a:pt x="2165066" y="678095"/>
                </a:lnTo>
                <a:lnTo>
                  <a:pt x="2132396" y="736202"/>
                </a:lnTo>
                <a:lnTo>
                  <a:pt x="2087942" y="791526"/>
                </a:lnTo>
                <a:lnTo>
                  <a:pt x="2032444" y="843694"/>
                </a:lnTo>
                <a:lnTo>
                  <a:pt x="2000785" y="868476"/>
                </a:lnTo>
                <a:lnTo>
                  <a:pt x="1966643" y="892329"/>
                </a:lnTo>
                <a:lnTo>
                  <a:pt x="1930110" y="915205"/>
                </a:lnTo>
                <a:lnTo>
                  <a:pt x="1891279" y="937058"/>
                </a:lnTo>
                <a:lnTo>
                  <a:pt x="1850243" y="957840"/>
                </a:lnTo>
                <a:lnTo>
                  <a:pt x="1807093" y="977505"/>
                </a:lnTo>
                <a:lnTo>
                  <a:pt x="1761924" y="996006"/>
                </a:lnTo>
                <a:lnTo>
                  <a:pt x="1714826" y="1013296"/>
                </a:lnTo>
                <a:lnTo>
                  <a:pt x="1665893" y="1029328"/>
                </a:lnTo>
                <a:lnTo>
                  <a:pt x="1615218" y="1044056"/>
                </a:lnTo>
                <a:lnTo>
                  <a:pt x="1562892" y="1057432"/>
                </a:lnTo>
                <a:lnTo>
                  <a:pt x="1509009" y="1069411"/>
                </a:lnTo>
                <a:lnTo>
                  <a:pt x="1453661" y="1079944"/>
                </a:lnTo>
                <a:lnTo>
                  <a:pt x="1396941" y="1088985"/>
                </a:lnTo>
                <a:lnTo>
                  <a:pt x="1338940" y="1096487"/>
                </a:lnTo>
                <a:lnTo>
                  <a:pt x="1279753" y="1102404"/>
                </a:lnTo>
                <a:lnTo>
                  <a:pt x="1219470" y="1106688"/>
                </a:lnTo>
                <a:lnTo>
                  <a:pt x="1158186" y="1109293"/>
                </a:lnTo>
                <a:lnTo>
                  <a:pt x="1095992" y="1110171"/>
                </a:lnTo>
                <a:lnTo>
                  <a:pt x="1033798" y="1109293"/>
                </a:lnTo>
                <a:lnTo>
                  <a:pt x="972515" y="1106688"/>
                </a:lnTo>
                <a:lnTo>
                  <a:pt x="912234" y="1102404"/>
                </a:lnTo>
                <a:lnTo>
                  <a:pt x="853049" y="1096487"/>
                </a:lnTo>
                <a:lnTo>
                  <a:pt x="795052" y="1088985"/>
                </a:lnTo>
                <a:lnTo>
                  <a:pt x="738334" y="1079944"/>
                </a:lnTo>
                <a:lnTo>
                  <a:pt x="682990" y="1069411"/>
                </a:lnTo>
                <a:lnTo>
                  <a:pt x="629111" y="1057432"/>
                </a:lnTo>
                <a:lnTo>
                  <a:pt x="576790" y="1044056"/>
                </a:lnTo>
                <a:lnTo>
                  <a:pt x="526120" y="1029328"/>
                </a:lnTo>
                <a:lnTo>
                  <a:pt x="477192" y="1013296"/>
                </a:lnTo>
                <a:lnTo>
                  <a:pt x="430099" y="996006"/>
                </a:lnTo>
                <a:lnTo>
                  <a:pt x="384935" y="977505"/>
                </a:lnTo>
                <a:lnTo>
                  <a:pt x="341791" y="957840"/>
                </a:lnTo>
                <a:lnTo>
                  <a:pt x="300760" y="937058"/>
                </a:lnTo>
                <a:lnTo>
                  <a:pt x="261935" y="915205"/>
                </a:lnTo>
                <a:lnTo>
                  <a:pt x="225407" y="892329"/>
                </a:lnTo>
                <a:lnTo>
                  <a:pt x="191271" y="868476"/>
                </a:lnTo>
                <a:lnTo>
                  <a:pt x="159617" y="843694"/>
                </a:lnTo>
                <a:lnTo>
                  <a:pt x="130538" y="818028"/>
                </a:lnTo>
                <a:lnTo>
                  <a:pt x="80479" y="764235"/>
                </a:lnTo>
                <a:lnTo>
                  <a:pt x="41831" y="707473"/>
                </a:lnTo>
                <a:lnTo>
                  <a:pt x="15336" y="648115"/>
                </a:lnTo>
                <a:lnTo>
                  <a:pt x="1734" y="586537"/>
                </a:lnTo>
                <a:lnTo>
                  <a:pt x="0" y="555032"/>
                </a:lnTo>
                <a:close/>
              </a:path>
            </a:pathLst>
          </a:custGeom>
          <a:ln w="3175">
            <a:solidFill>
              <a:srgbClr val="000000"/>
            </a:solidFill>
            <a:prstDash val="sysDot"/>
          </a:ln>
        </p:spPr>
        <p:txBody>
          <a:bodyPr wrap="square" lIns="0" tIns="0" rIns="0" bIns="0" rtlCol="0"/>
          <a:lstStyle/>
          <a:p/>
        </p:txBody>
      </p:sp>
      <p:sp>
        <p:nvSpPr>
          <p:cNvPr id="31" name="object 31"/>
          <p:cNvSpPr txBox="1"/>
          <p:nvPr/>
        </p:nvSpPr>
        <p:spPr>
          <a:xfrm>
            <a:off x="6144517" y="4112493"/>
            <a:ext cx="1141730" cy="540385"/>
          </a:xfrm>
          <a:prstGeom prst="rect">
            <a:avLst/>
          </a:prstGeom>
          <a:solidFill>
            <a:srgbClr val="E8EDF7"/>
          </a:solidFill>
          <a:ln w="3175">
            <a:solidFill>
              <a:srgbClr val="000000"/>
            </a:solidFill>
          </a:ln>
        </p:spPr>
        <p:txBody>
          <a:bodyPr wrap="square" lIns="0" tIns="1905" rIns="0" bIns="0" rtlCol="0" vert="horz">
            <a:spAutoFit/>
          </a:bodyPr>
          <a:lstStyle/>
          <a:p>
            <a:pPr>
              <a:lnSpc>
                <a:spcPct val="100000"/>
              </a:lnSpc>
              <a:spcBef>
                <a:spcPts val="15"/>
              </a:spcBef>
            </a:pPr>
            <a:endParaRPr sz="1250">
              <a:latin typeface="Times New Roman"/>
              <a:cs typeface="Times New Roman"/>
            </a:endParaRPr>
          </a:p>
          <a:p>
            <a:pPr marL="61594">
              <a:lnSpc>
                <a:spcPct val="100000"/>
              </a:lnSpc>
            </a:pPr>
            <a:r>
              <a:rPr dirty="0" sz="1000">
                <a:latin typeface="宋体"/>
                <a:cs typeface="宋体"/>
              </a:rPr>
              <a:t>新的销售订单系统</a:t>
            </a:r>
            <a:endParaRPr sz="1000">
              <a:latin typeface="宋体"/>
              <a:cs typeface="宋体"/>
            </a:endParaRPr>
          </a:p>
        </p:txBody>
      </p:sp>
      <p:sp>
        <p:nvSpPr>
          <p:cNvPr id="32" name="object 32"/>
          <p:cNvSpPr/>
          <p:nvPr/>
        </p:nvSpPr>
        <p:spPr>
          <a:xfrm>
            <a:off x="7666681" y="3842534"/>
            <a:ext cx="1051560" cy="1080135"/>
          </a:xfrm>
          <a:custGeom>
            <a:avLst/>
            <a:gdLst/>
            <a:ahLst/>
            <a:cxnLst/>
            <a:rect l="l" t="t" r="r" b="b"/>
            <a:pathLst>
              <a:path w="1051559" h="1080135">
                <a:moveTo>
                  <a:pt x="0" y="1080112"/>
                </a:moveTo>
                <a:lnTo>
                  <a:pt x="1051002" y="1080112"/>
                </a:lnTo>
                <a:lnTo>
                  <a:pt x="1051002" y="0"/>
                </a:lnTo>
                <a:lnTo>
                  <a:pt x="0" y="0"/>
                </a:lnTo>
                <a:lnTo>
                  <a:pt x="0" y="1080112"/>
                </a:lnTo>
                <a:close/>
              </a:path>
            </a:pathLst>
          </a:custGeom>
          <a:ln w="3175">
            <a:solidFill>
              <a:srgbClr val="000000"/>
            </a:solidFill>
          </a:ln>
        </p:spPr>
        <p:txBody>
          <a:bodyPr wrap="square" lIns="0" tIns="0" rIns="0" bIns="0" rtlCol="0"/>
          <a:lstStyle/>
          <a:p/>
        </p:txBody>
      </p:sp>
      <p:sp>
        <p:nvSpPr>
          <p:cNvPr id="33" name="object 33"/>
          <p:cNvSpPr/>
          <p:nvPr/>
        </p:nvSpPr>
        <p:spPr>
          <a:xfrm>
            <a:off x="5088620" y="3792577"/>
            <a:ext cx="986155" cy="551180"/>
          </a:xfrm>
          <a:custGeom>
            <a:avLst/>
            <a:gdLst/>
            <a:ahLst/>
            <a:cxnLst/>
            <a:rect l="l" t="t" r="r" b="b"/>
            <a:pathLst>
              <a:path w="986154" h="551179">
                <a:moveTo>
                  <a:pt x="0" y="0"/>
                </a:moveTo>
                <a:lnTo>
                  <a:pt x="985768" y="550799"/>
                </a:lnTo>
              </a:path>
            </a:pathLst>
          </a:custGeom>
          <a:ln w="3175">
            <a:solidFill>
              <a:srgbClr val="4677BE"/>
            </a:solidFill>
          </a:ln>
        </p:spPr>
        <p:txBody>
          <a:bodyPr wrap="square" lIns="0" tIns="0" rIns="0" bIns="0" rtlCol="0"/>
          <a:lstStyle/>
          <a:p/>
        </p:txBody>
      </p:sp>
      <p:sp>
        <p:nvSpPr>
          <p:cNvPr id="34" name="object 34"/>
          <p:cNvSpPr/>
          <p:nvPr/>
        </p:nvSpPr>
        <p:spPr>
          <a:xfrm>
            <a:off x="5018450" y="3753309"/>
            <a:ext cx="91440" cy="68580"/>
          </a:xfrm>
          <a:custGeom>
            <a:avLst/>
            <a:gdLst/>
            <a:ahLst/>
            <a:cxnLst/>
            <a:rect l="l" t="t" r="r" b="b"/>
            <a:pathLst>
              <a:path w="91439" h="68579">
                <a:moveTo>
                  <a:pt x="0" y="0"/>
                </a:moveTo>
                <a:lnTo>
                  <a:pt x="62278" y="68267"/>
                </a:lnTo>
                <a:lnTo>
                  <a:pt x="90827" y="17252"/>
                </a:lnTo>
                <a:lnTo>
                  <a:pt x="0" y="0"/>
                </a:lnTo>
                <a:close/>
              </a:path>
            </a:pathLst>
          </a:custGeom>
          <a:solidFill>
            <a:srgbClr val="4677BE"/>
          </a:solidFill>
        </p:spPr>
        <p:txBody>
          <a:bodyPr wrap="square" lIns="0" tIns="0" rIns="0" bIns="0" rtlCol="0"/>
          <a:lstStyle/>
          <a:p/>
        </p:txBody>
      </p:sp>
      <p:sp>
        <p:nvSpPr>
          <p:cNvPr id="35" name="object 35"/>
          <p:cNvSpPr/>
          <p:nvPr/>
        </p:nvSpPr>
        <p:spPr>
          <a:xfrm>
            <a:off x="6053732" y="4314269"/>
            <a:ext cx="90805" cy="68580"/>
          </a:xfrm>
          <a:custGeom>
            <a:avLst/>
            <a:gdLst/>
            <a:ahLst/>
            <a:cxnLst/>
            <a:rect l="l" t="t" r="r" b="b"/>
            <a:pathLst>
              <a:path w="90804" h="68579">
                <a:moveTo>
                  <a:pt x="28496" y="0"/>
                </a:moveTo>
                <a:lnTo>
                  <a:pt x="0" y="51015"/>
                </a:lnTo>
                <a:lnTo>
                  <a:pt x="90785" y="68267"/>
                </a:lnTo>
                <a:lnTo>
                  <a:pt x="28496" y="0"/>
                </a:lnTo>
                <a:close/>
              </a:path>
            </a:pathLst>
          </a:custGeom>
          <a:solidFill>
            <a:srgbClr val="4677BE"/>
          </a:solidFill>
        </p:spPr>
        <p:txBody>
          <a:bodyPr wrap="square" lIns="0" tIns="0" rIns="0" bIns="0" rtlCol="0"/>
          <a:lstStyle/>
          <a:p/>
        </p:txBody>
      </p:sp>
      <p:sp>
        <p:nvSpPr>
          <p:cNvPr id="36" name="object 36"/>
          <p:cNvSpPr/>
          <p:nvPr/>
        </p:nvSpPr>
        <p:spPr>
          <a:xfrm>
            <a:off x="5091735" y="4415559"/>
            <a:ext cx="979805" cy="441959"/>
          </a:xfrm>
          <a:custGeom>
            <a:avLst/>
            <a:gdLst/>
            <a:ahLst/>
            <a:cxnLst/>
            <a:rect l="l" t="t" r="r" b="b"/>
            <a:pathLst>
              <a:path w="979804" h="441960">
                <a:moveTo>
                  <a:pt x="0" y="441782"/>
                </a:moveTo>
                <a:lnTo>
                  <a:pt x="979475" y="0"/>
                </a:lnTo>
              </a:path>
            </a:pathLst>
          </a:custGeom>
          <a:ln w="3175">
            <a:solidFill>
              <a:srgbClr val="4677BE"/>
            </a:solidFill>
          </a:ln>
        </p:spPr>
        <p:txBody>
          <a:bodyPr wrap="square" lIns="0" tIns="0" rIns="0" bIns="0" rtlCol="0"/>
          <a:lstStyle/>
          <a:p/>
        </p:txBody>
      </p:sp>
      <p:sp>
        <p:nvSpPr>
          <p:cNvPr id="37" name="object 37"/>
          <p:cNvSpPr/>
          <p:nvPr/>
        </p:nvSpPr>
        <p:spPr>
          <a:xfrm>
            <a:off x="5018450" y="4827706"/>
            <a:ext cx="92075" cy="62865"/>
          </a:xfrm>
          <a:custGeom>
            <a:avLst/>
            <a:gdLst/>
            <a:ahLst/>
            <a:cxnLst/>
            <a:rect l="l" t="t" r="r" b="b"/>
            <a:pathLst>
              <a:path w="92075" h="62864">
                <a:moveTo>
                  <a:pt x="67914" y="0"/>
                </a:moveTo>
                <a:lnTo>
                  <a:pt x="0" y="62658"/>
                </a:lnTo>
                <a:lnTo>
                  <a:pt x="91971" y="53238"/>
                </a:lnTo>
                <a:lnTo>
                  <a:pt x="67914" y="0"/>
                </a:lnTo>
                <a:close/>
              </a:path>
            </a:pathLst>
          </a:custGeom>
          <a:solidFill>
            <a:srgbClr val="4677BE"/>
          </a:solidFill>
        </p:spPr>
        <p:txBody>
          <a:bodyPr wrap="square" lIns="0" tIns="0" rIns="0" bIns="0" rtlCol="0"/>
          <a:lstStyle/>
          <a:p/>
        </p:txBody>
      </p:sp>
      <p:sp>
        <p:nvSpPr>
          <p:cNvPr id="38" name="object 38"/>
          <p:cNvSpPr/>
          <p:nvPr/>
        </p:nvSpPr>
        <p:spPr>
          <a:xfrm>
            <a:off x="6052566" y="4382537"/>
            <a:ext cx="92075" cy="62865"/>
          </a:xfrm>
          <a:custGeom>
            <a:avLst/>
            <a:gdLst/>
            <a:ahLst/>
            <a:cxnLst/>
            <a:rect l="l" t="t" r="r" b="b"/>
            <a:pathLst>
              <a:path w="92075" h="62864">
                <a:moveTo>
                  <a:pt x="91950" y="0"/>
                </a:moveTo>
                <a:lnTo>
                  <a:pt x="0" y="9419"/>
                </a:lnTo>
                <a:lnTo>
                  <a:pt x="24047" y="62658"/>
                </a:lnTo>
                <a:lnTo>
                  <a:pt x="91950" y="0"/>
                </a:lnTo>
                <a:close/>
              </a:path>
            </a:pathLst>
          </a:custGeom>
          <a:solidFill>
            <a:srgbClr val="4677BE"/>
          </a:solidFill>
        </p:spPr>
        <p:txBody>
          <a:bodyPr wrap="square" lIns="0" tIns="0" rIns="0" bIns="0" rtlCol="0"/>
          <a:lstStyle/>
          <a:p/>
        </p:txBody>
      </p:sp>
      <p:sp>
        <p:nvSpPr>
          <p:cNvPr id="39" name="object 39"/>
          <p:cNvSpPr/>
          <p:nvPr/>
        </p:nvSpPr>
        <p:spPr>
          <a:xfrm>
            <a:off x="6250345" y="4717526"/>
            <a:ext cx="417830" cy="573405"/>
          </a:xfrm>
          <a:custGeom>
            <a:avLst/>
            <a:gdLst/>
            <a:ahLst/>
            <a:cxnLst/>
            <a:rect l="l" t="t" r="r" b="b"/>
            <a:pathLst>
              <a:path w="417829" h="573404">
                <a:moveTo>
                  <a:pt x="0" y="573174"/>
                </a:moveTo>
                <a:lnTo>
                  <a:pt x="417379" y="0"/>
                </a:lnTo>
              </a:path>
            </a:pathLst>
          </a:custGeom>
          <a:ln w="3175">
            <a:solidFill>
              <a:srgbClr val="4677BE"/>
            </a:solidFill>
          </a:ln>
        </p:spPr>
        <p:txBody>
          <a:bodyPr wrap="square" lIns="0" tIns="0" rIns="0" bIns="0" rtlCol="0"/>
          <a:lstStyle/>
          <a:p/>
        </p:txBody>
      </p:sp>
      <p:sp>
        <p:nvSpPr>
          <p:cNvPr id="40" name="object 40"/>
          <p:cNvSpPr/>
          <p:nvPr/>
        </p:nvSpPr>
        <p:spPr>
          <a:xfrm>
            <a:off x="6203098" y="5267605"/>
            <a:ext cx="75565" cy="88265"/>
          </a:xfrm>
          <a:custGeom>
            <a:avLst/>
            <a:gdLst/>
            <a:ahLst/>
            <a:cxnLst/>
            <a:rect l="l" t="t" r="r" b="b"/>
            <a:pathLst>
              <a:path w="75564" h="88264">
                <a:moveTo>
                  <a:pt x="27966" y="0"/>
                </a:moveTo>
                <a:lnTo>
                  <a:pt x="0" y="88049"/>
                </a:lnTo>
                <a:lnTo>
                  <a:pt x="75213" y="34366"/>
                </a:lnTo>
                <a:lnTo>
                  <a:pt x="27966" y="0"/>
                </a:lnTo>
                <a:close/>
              </a:path>
            </a:pathLst>
          </a:custGeom>
          <a:solidFill>
            <a:srgbClr val="4677BE"/>
          </a:solidFill>
        </p:spPr>
        <p:txBody>
          <a:bodyPr wrap="square" lIns="0" tIns="0" rIns="0" bIns="0" rtlCol="0"/>
          <a:lstStyle/>
          <a:p/>
        </p:txBody>
      </p:sp>
      <p:sp>
        <p:nvSpPr>
          <p:cNvPr id="41" name="object 41"/>
          <p:cNvSpPr/>
          <p:nvPr/>
        </p:nvSpPr>
        <p:spPr>
          <a:xfrm>
            <a:off x="6639864" y="4652539"/>
            <a:ext cx="75565" cy="88265"/>
          </a:xfrm>
          <a:custGeom>
            <a:avLst/>
            <a:gdLst/>
            <a:ahLst/>
            <a:cxnLst/>
            <a:rect l="l" t="t" r="r" b="b"/>
            <a:pathLst>
              <a:path w="75565" h="88264">
                <a:moveTo>
                  <a:pt x="75213" y="0"/>
                </a:moveTo>
                <a:lnTo>
                  <a:pt x="0" y="53661"/>
                </a:lnTo>
                <a:lnTo>
                  <a:pt x="47246" y="88060"/>
                </a:lnTo>
                <a:lnTo>
                  <a:pt x="75213" y="0"/>
                </a:lnTo>
                <a:close/>
              </a:path>
            </a:pathLst>
          </a:custGeom>
          <a:solidFill>
            <a:srgbClr val="4677BE"/>
          </a:solidFill>
        </p:spPr>
        <p:txBody>
          <a:bodyPr wrap="square" lIns="0" tIns="0" rIns="0" bIns="0" rtlCol="0"/>
          <a:lstStyle/>
          <a:p/>
        </p:txBody>
      </p:sp>
      <p:sp>
        <p:nvSpPr>
          <p:cNvPr id="42" name="object 42"/>
          <p:cNvSpPr/>
          <p:nvPr/>
        </p:nvSpPr>
        <p:spPr>
          <a:xfrm>
            <a:off x="6762218" y="4717631"/>
            <a:ext cx="425450" cy="587375"/>
          </a:xfrm>
          <a:custGeom>
            <a:avLst/>
            <a:gdLst/>
            <a:ahLst/>
            <a:cxnLst/>
            <a:rect l="l" t="t" r="r" b="b"/>
            <a:pathLst>
              <a:path w="425450" h="587375">
                <a:moveTo>
                  <a:pt x="425006" y="586944"/>
                </a:moveTo>
                <a:lnTo>
                  <a:pt x="0" y="0"/>
                </a:lnTo>
              </a:path>
            </a:pathLst>
          </a:custGeom>
          <a:ln w="3175">
            <a:solidFill>
              <a:srgbClr val="4677BE"/>
            </a:solidFill>
          </a:ln>
        </p:spPr>
        <p:txBody>
          <a:bodyPr wrap="square" lIns="0" tIns="0" rIns="0" bIns="0" rtlCol="0"/>
          <a:lstStyle/>
          <a:p/>
        </p:txBody>
      </p:sp>
      <p:sp>
        <p:nvSpPr>
          <p:cNvPr id="43" name="object 43"/>
          <p:cNvSpPr/>
          <p:nvPr/>
        </p:nvSpPr>
        <p:spPr>
          <a:xfrm>
            <a:off x="7159258" y="5281534"/>
            <a:ext cx="75565" cy="88265"/>
          </a:xfrm>
          <a:custGeom>
            <a:avLst/>
            <a:gdLst/>
            <a:ahLst/>
            <a:cxnLst/>
            <a:rect l="l" t="t" r="r" b="b"/>
            <a:pathLst>
              <a:path w="75565" h="88264">
                <a:moveTo>
                  <a:pt x="47352" y="0"/>
                </a:moveTo>
                <a:lnTo>
                  <a:pt x="0" y="34250"/>
                </a:lnTo>
                <a:lnTo>
                  <a:pt x="75107" y="88123"/>
                </a:lnTo>
                <a:lnTo>
                  <a:pt x="47352" y="0"/>
                </a:lnTo>
                <a:close/>
              </a:path>
            </a:pathLst>
          </a:custGeom>
          <a:solidFill>
            <a:srgbClr val="4677BE"/>
          </a:solidFill>
        </p:spPr>
        <p:txBody>
          <a:bodyPr wrap="square" lIns="0" tIns="0" rIns="0" bIns="0" rtlCol="0"/>
          <a:lstStyle/>
          <a:p/>
        </p:txBody>
      </p:sp>
      <p:sp>
        <p:nvSpPr>
          <p:cNvPr id="44" name="object 44"/>
          <p:cNvSpPr/>
          <p:nvPr/>
        </p:nvSpPr>
        <p:spPr>
          <a:xfrm>
            <a:off x="6715077" y="4652539"/>
            <a:ext cx="75565" cy="88265"/>
          </a:xfrm>
          <a:custGeom>
            <a:avLst/>
            <a:gdLst/>
            <a:ahLst/>
            <a:cxnLst/>
            <a:rect l="l" t="t" r="r" b="b"/>
            <a:pathLst>
              <a:path w="75565" h="88264">
                <a:moveTo>
                  <a:pt x="0" y="0"/>
                </a:moveTo>
                <a:lnTo>
                  <a:pt x="27754" y="88165"/>
                </a:lnTo>
                <a:lnTo>
                  <a:pt x="75107" y="53873"/>
                </a:lnTo>
                <a:lnTo>
                  <a:pt x="0" y="0"/>
                </a:lnTo>
                <a:close/>
              </a:path>
            </a:pathLst>
          </a:custGeom>
          <a:solidFill>
            <a:srgbClr val="4677BE"/>
          </a:solidFill>
        </p:spPr>
        <p:txBody>
          <a:bodyPr wrap="square" lIns="0" tIns="0" rIns="0" bIns="0" rtlCol="0"/>
          <a:lstStyle/>
          <a:p/>
        </p:txBody>
      </p:sp>
      <p:sp>
        <p:nvSpPr>
          <p:cNvPr id="45" name="object 45"/>
          <p:cNvSpPr txBox="1"/>
          <p:nvPr/>
        </p:nvSpPr>
        <p:spPr>
          <a:xfrm>
            <a:off x="6145376" y="3857352"/>
            <a:ext cx="1169670" cy="254635"/>
          </a:xfrm>
          <a:prstGeom prst="rect">
            <a:avLst/>
          </a:prstGeom>
        </p:spPr>
        <p:txBody>
          <a:bodyPr wrap="square" lIns="0" tIns="12700" rIns="0" bIns="0" rtlCol="0" vert="horz">
            <a:spAutoFit/>
          </a:bodyPr>
          <a:lstStyle/>
          <a:p>
            <a:pPr marL="12700">
              <a:lnSpc>
                <a:spcPct val="100000"/>
              </a:lnSpc>
              <a:spcBef>
                <a:spcPts val="100"/>
              </a:spcBef>
            </a:pPr>
            <a:r>
              <a:rPr dirty="0" sz="1500">
                <a:latin typeface="宋体"/>
                <a:cs typeface="宋体"/>
              </a:rPr>
              <a:t>新的解决方案</a:t>
            </a:r>
            <a:endParaRPr sz="1500">
              <a:latin typeface="宋体"/>
              <a:cs typeface="宋体"/>
            </a:endParaRPr>
          </a:p>
        </p:txBody>
      </p:sp>
      <p:sp>
        <p:nvSpPr>
          <p:cNvPr id="46" name="object 46"/>
          <p:cNvSpPr/>
          <p:nvPr/>
        </p:nvSpPr>
        <p:spPr>
          <a:xfrm>
            <a:off x="7427907" y="4918624"/>
            <a:ext cx="728980" cy="754380"/>
          </a:xfrm>
          <a:custGeom>
            <a:avLst/>
            <a:gdLst/>
            <a:ahLst/>
            <a:cxnLst/>
            <a:rect l="l" t="t" r="r" b="b"/>
            <a:pathLst>
              <a:path w="728979" h="754379">
                <a:moveTo>
                  <a:pt x="728507" y="754025"/>
                </a:moveTo>
                <a:lnTo>
                  <a:pt x="0" y="0"/>
                </a:lnTo>
              </a:path>
            </a:pathLst>
          </a:custGeom>
          <a:ln w="22872">
            <a:solidFill>
              <a:srgbClr val="FF0000"/>
            </a:solidFill>
          </a:ln>
        </p:spPr>
        <p:txBody>
          <a:bodyPr wrap="square" lIns="0" tIns="0" rIns="0" bIns="0" rtlCol="0"/>
          <a:lstStyle/>
          <a:p/>
        </p:txBody>
      </p:sp>
      <p:sp>
        <p:nvSpPr>
          <p:cNvPr id="47" name="object 47"/>
          <p:cNvSpPr/>
          <p:nvPr/>
        </p:nvSpPr>
        <p:spPr>
          <a:xfrm>
            <a:off x="7333308" y="4820615"/>
            <a:ext cx="139065" cy="141605"/>
          </a:xfrm>
          <a:custGeom>
            <a:avLst/>
            <a:gdLst/>
            <a:ahLst/>
            <a:cxnLst/>
            <a:rect l="l" t="t" r="r" b="b"/>
            <a:pathLst>
              <a:path w="139065" h="141604">
                <a:moveTo>
                  <a:pt x="0" y="0"/>
                </a:moveTo>
                <a:lnTo>
                  <a:pt x="67585" y="141298"/>
                </a:lnTo>
                <a:lnTo>
                  <a:pt x="138879" y="72501"/>
                </a:lnTo>
                <a:lnTo>
                  <a:pt x="0" y="0"/>
                </a:lnTo>
                <a:close/>
              </a:path>
            </a:pathLst>
          </a:custGeom>
          <a:solidFill>
            <a:srgbClr val="FF0000"/>
          </a:solidFill>
        </p:spPr>
        <p:txBody>
          <a:bodyPr wrap="square" lIns="0" tIns="0" rIns="0" bIns="0" rtlCol="0"/>
          <a:lstStyle/>
          <a:p/>
        </p:txBody>
      </p:sp>
      <p:sp>
        <p:nvSpPr>
          <p:cNvPr id="48" name="object 48"/>
          <p:cNvSpPr txBox="1"/>
          <p:nvPr/>
        </p:nvSpPr>
        <p:spPr>
          <a:xfrm>
            <a:off x="7806844" y="5499314"/>
            <a:ext cx="979169" cy="516255"/>
          </a:xfrm>
          <a:prstGeom prst="rect">
            <a:avLst/>
          </a:prstGeom>
        </p:spPr>
        <p:txBody>
          <a:bodyPr wrap="square" lIns="0" tIns="12700" rIns="0" bIns="0" rtlCol="0" vert="horz">
            <a:spAutoFit/>
          </a:bodyPr>
          <a:lstStyle/>
          <a:p>
            <a:pPr marL="393700" marR="5080" indent="-381635">
              <a:lnSpc>
                <a:spcPct val="107300"/>
              </a:lnSpc>
              <a:spcBef>
                <a:spcPts val="100"/>
              </a:spcBef>
            </a:pPr>
            <a:r>
              <a:rPr dirty="0" sz="1500">
                <a:solidFill>
                  <a:srgbClr val="FF0000"/>
                </a:solidFill>
                <a:latin typeface="宋体"/>
                <a:cs typeface="宋体"/>
              </a:rPr>
              <a:t>解决方案边 </a:t>
            </a:r>
            <a:r>
              <a:rPr dirty="0" sz="1500">
                <a:solidFill>
                  <a:srgbClr val="FF0000"/>
                </a:solidFill>
                <a:latin typeface="宋体"/>
                <a:cs typeface="宋体"/>
              </a:rPr>
              <a:t>界</a:t>
            </a:r>
            <a:endParaRPr sz="1500">
              <a:latin typeface="宋体"/>
              <a:cs typeface="宋体"/>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8952" y="0"/>
            <a:ext cx="6085205" cy="1123315"/>
          </a:xfrm>
          <a:prstGeom prst="rect"/>
        </p:spPr>
        <p:txBody>
          <a:bodyPr wrap="square" lIns="0" tIns="12700" rIns="0" bIns="0" rtlCol="0" vert="horz">
            <a:spAutoFit/>
          </a:bodyPr>
          <a:lstStyle/>
          <a:p>
            <a:pPr algn="r" marR="5080">
              <a:lnSpc>
                <a:spcPct val="100000"/>
              </a:lnSpc>
              <a:spcBef>
                <a:spcPts val="100"/>
              </a:spcBef>
            </a:pPr>
            <a:r>
              <a:rPr dirty="0" sz="3600">
                <a:latin typeface="Calibri"/>
                <a:cs typeface="Calibri"/>
              </a:rPr>
              <a:t>2.2.3</a:t>
            </a:r>
            <a:r>
              <a:rPr dirty="0" sz="3600" spc="-95">
                <a:latin typeface="Calibri"/>
                <a:cs typeface="Calibri"/>
              </a:rPr>
              <a:t> </a:t>
            </a:r>
            <a:r>
              <a:rPr dirty="0" sz="3600"/>
              <a:t>定义解决方案及系统特性</a:t>
            </a:r>
            <a:endParaRPr sz="3600">
              <a:latin typeface="Calibri"/>
              <a:cs typeface="Calibri"/>
            </a:endParaRPr>
          </a:p>
          <a:p>
            <a:pPr algn="r" marR="58419">
              <a:lnSpc>
                <a:spcPct val="100000"/>
              </a:lnSpc>
            </a:pPr>
            <a:r>
              <a:rPr dirty="0" sz="3600" spc="5">
                <a:latin typeface="Calibri"/>
                <a:cs typeface="Calibri"/>
              </a:rPr>
              <a:t>—</a:t>
            </a:r>
            <a:r>
              <a:rPr dirty="0" sz="3600" spc="-5">
                <a:latin typeface="Calibri"/>
                <a:cs typeface="Calibri"/>
              </a:rPr>
              <a:t>(3</a:t>
            </a:r>
            <a:r>
              <a:rPr dirty="0" sz="3600">
                <a:latin typeface="Calibri"/>
                <a:cs typeface="Calibri"/>
              </a:rPr>
              <a:t>)</a:t>
            </a:r>
            <a:r>
              <a:rPr dirty="0" sz="3600"/>
              <a:t>确定解决方案的约束</a:t>
            </a:r>
            <a:endParaRPr sz="3600">
              <a:latin typeface="Calibri"/>
              <a:cs typeface="Calibri"/>
            </a:endParaRPr>
          </a:p>
        </p:txBody>
      </p:sp>
      <p:graphicFrame>
        <p:nvGraphicFramePr>
          <p:cNvPr id="3" name="object 3"/>
          <p:cNvGraphicFramePr>
            <a:graphicFrameLocks noGrp="1"/>
          </p:cNvGraphicFramePr>
          <p:nvPr/>
        </p:nvGraphicFramePr>
        <p:xfrm>
          <a:off x="2063623" y="1157350"/>
          <a:ext cx="5124450" cy="5133975"/>
        </p:xfrm>
        <a:graphic>
          <a:graphicData uri="http://schemas.openxmlformats.org/drawingml/2006/table">
            <a:tbl>
              <a:tblPr firstRow="1" bandRow="1">
                <a:tableStyleId>{2D5ABB26-0587-4C30-8999-92F81FD0307C}</a:tableStyleId>
              </a:tblPr>
              <a:tblGrid>
                <a:gridCol w="1346200"/>
                <a:gridCol w="3759200"/>
              </a:tblGrid>
              <a:tr h="243839">
                <a:tc>
                  <a:txBody>
                    <a:bodyPr/>
                    <a:lstStyle/>
                    <a:p>
                      <a:pPr algn="ctr">
                        <a:lnSpc>
                          <a:spcPct val="100000"/>
                        </a:lnSpc>
                        <a:spcBef>
                          <a:spcPts val="320"/>
                        </a:spcBef>
                      </a:pPr>
                      <a:r>
                        <a:rPr dirty="0" sz="1000" spc="-5">
                          <a:latin typeface="微软雅黑"/>
                          <a:cs typeface="微软雅黑"/>
                        </a:rPr>
                        <a:t>约束源</a:t>
                      </a:r>
                      <a:endParaRPr sz="1000">
                        <a:latin typeface="微软雅黑"/>
                        <a:cs typeface="微软雅黑"/>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20"/>
                        </a:spcBef>
                      </a:pPr>
                      <a:r>
                        <a:rPr dirty="0" sz="1000" spc="-5">
                          <a:latin typeface="微软雅黑"/>
                          <a:cs typeface="微软雅黑"/>
                        </a:rPr>
                        <a:t>问题示例</a:t>
                      </a:r>
                      <a:endParaRPr sz="1000">
                        <a:latin typeface="微软雅黑"/>
                        <a:cs typeface="微软雅黑"/>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39">
                <a:tc rowSpan="3">
                  <a:txBody>
                    <a:bodyPr/>
                    <a:lstStyle/>
                    <a:p>
                      <a:pPr>
                        <a:lnSpc>
                          <a:spcPct val="100000"/>
                        </a:lnSpc>
                      </a:pPr>
                      <a:endParaRPr sz="1300">
                        <a:latin typeface="Times New Roman"/>
                        <a:cs typeface="Times New Roman"/>
                      </a:endParaRPr>
                    </a:p>
                    <a:p>
                      <a:pPr marL="91440">
                        <a:lnSpc>
                          <a:spcPct val="100000"/>
                        </a:lnSpc>
                        <a:spcBef>
                          <a:spcPts val="745"/>
                        </a:spcBef>
                      </a:pPr>
                      <a:r>
                        <a:rPr dirty="0" sz="1000" spc="-5">
                          <a:latin typeface="微软雅黑"/>
                          <a:cs typeface="微软雅黑"/>
                        </a:rPr>
                        <a:t>经济的</a:t>
                      </a:r>
                      <a:endParaRPr sz="1000">
                        <a:latin typeface="微软雅黑"/>
                        <a:cs typeface="微软雅黑"/>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000" spc="-5">
                          <a:latin typeface="微软雅黑"/>
                          <a:cs typeface="微软雅黑"/>
                        </a:rPr>
                        <a:t>有哪些</a:t>
                      </a:r>
                      <a:r>
                        <a:rPr dirty="0" sz="1000" spc="5">
                          <a:latin typeface="微软雅黑"/>
                          <a:cs typeface="微软雅黑"/>
                        </a:rPr>
                        <a:t>财</a:t>
                      </a:r>
                      <a:r>
                        <a:rPr dirty="0" sz="1000" spc="-5">
                          <a:latin typeface="微软雅黑"/>
                          <a:cs typeface="微软雅黑"/>
                        </a:rPr>
                        <a:t>政或</a:t>
                      </a:r>
                      <a:r>
                        <a:rPr dirty="0" sz="1000" spc="5">
                          <a:latin typeface="微软雅黑"/>
                          <a:cs typeface="微软雅黑"/>
                        </a:rPr>
                        <a:t>者</a:t>
                      </a:r>
                      <a:r>
                        <a:rPr dirty="0" sz="1000" spc="-5">
                          <a:latin typeface="微软雅黑"/>
                          <a:cs typeface="微软雅黑"/>
                        </a:rPr>
                        <a:t>预算</a:t>
                      </a:r>
                      <a:r>
                        <a:rPr dirty="0" sz="1000" spc="5">
                          <a:latin typeface="微软雅黑"/>
                          <a:cs typeface="微软雅黑"/>
                        </a:rPr>
                        <a:t>上</a:t>
                      </a:r>
                      <a:r>
                        <a:rPr dirty="0" sz="1000" spc="-5">
                          <a:latin typeface="微软雅黑"/>
                          <a:cs typeface="微软雅黑"/>
                        </a:rPr>
                        <a:t>的</a:t>
                      </a:r>
                      <a:r>
                        <a:rPr dirty="0" sz="1000" spc="5">
                          <a:latin typeface="微软雅黑"/>
                          <a:cs typeface="微软雅黑"/>
                        </a:rPr>
                        <a:t>约</a:t>
                      </a:r>
                      <a:r>
                        <a:rPr dirty="0" sz="1000" spc="-5">
                          <a:latin typeface="微软雅黑"/>
                          <a:cs typeface="微软雅黑"/>
                        </a:rPr>
                        <a:t>束？</a:t>
                      </a:r>
                      <a:endParaRPr sz="1000">
                        <a:latin typeface="微软雅黑"/>
                        <a:cs typeface="微软雅黑"/>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4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000" spc="-5">
                          <a:latin typeface="微软雅黑"/>
                          <a:cs typeface="微软雅黑"/>
                        </a:rPr>
                        <a:t>有货物</a:t>
                      </a:r>
                      <a:r>
                        <a:rPr dirty="0" sz="1000" spc="5">
                          <a:latin typeface="微软雅黑"/>
                          <a:cs typeface="微软雅黑"/>
                        </a:rPr>
                        <a:t>成</a:t>
                      </a:r>
                      <a:r>
                        <a:rPr dirty="0" sz="1000" spc="-5">
                          <a:latin typeface="微软雅黑"/>
                          <a:cs typeface="微软雅黑"/>
                        </a:rPr>
                        <a:t>本和</a:t>
                      </a:r>
                      <a:r>
                        <a:rPr dirty="0" sz="1000" spc="5">
                          <a:latin typeface="微软雅黑"/>
                          <a:cs typeface="微软雅黑"/>
                        </a:rPr>
                        <a:t>价</a:t>
                      </a:r>
                      <a:r>
                        <a:rPr dirty="0" sz="1000" spc="-5">
                          <a:latin typeface="微软雅黑"/>
                          <a:cs typeface="微软雅黑"/>
                        </a:rPr>
                        <a:t>格上</a:t>
                      </a:r>
                      <a:r>
                        <a:rPr dirty="0" sz="1000" spc="5">
                          <a:latin typeface="微软雅黑"/>
                          <a:cs typeface="微软雅黑"/>
                        </a:rPr>
                        <a:t>的</a:t>
                      </a:r>
                      <a:r>
                        <a:rPr dirty="0" sz="1000" spc="-5">
                          <a:latin typeface="微软雅黑"/>
                          <a:cs typeface="微软雅黑"/>
                        </a:rPr>
                        <a:t>要</a:t>
                      </a:r>
                      <a:r>
                        <a:rPr dirty="0" sz="1000" spc="5">
                          <a:latin typeface="微软雅黑"/>
                          <a:cs typeface="微软雅黑"/>
                        </a:rPr>
                        <a:t>求</a:t>
                      </a:r>
                      <a:r>
                        <a:rPr dirty="0" sz="1000" spc="-5">
                          <a:latin typeface="微软雅黑"/>
                          <a:cs typeface="微软雅黑"/>
                        </a:rPr>
                        <a:t>吗？</a:t>
                      </a:r>
                      <a:endParaRPr sz="1000">
                        <a:latin typeface="微软雅黑"/>
                        <a:cs typeface="微软雅黑"/>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966">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有任何</a:t>
                      </a:r>
                      <a:r>
                        <a:rPr dirty="0" sz="1000" spc="5">
                          <a:latin typeface="微软雅黑"/>
                          <a:cs typeface="微软雅黑"/>
                        </a:rPr>
                        <a:t>法</a:t>
                      </a:r>
                      <a:r>
                        <a:rPr dirty="0" sz="1000" spc="-5">
                          <a:latin typeface="微软雅黑"/>
                          <a:cs typeface="微软雅黑"/>
                        </a:rPr>
                        <a:t>律许</a:t>
                      </a:r>
                      <a:r>
                        <a:rPr dirty="0" sz="1000" spc="5">
                          <a:latin typeface="微软雅黑"/>
                          <a:cs typeface="微软雅黑"/>
                        </a:rPr>
                        <a:t>可</a:t>
                      </a:r>
                      <a:r>
                        <a:rPr dirty="0" sz="1000" spc="-5">
                          <a:latin typeface="微软雅黑"/>
                          <a:cs typeface="微软雅黑"/>
                        </a:rPr>
                        <a:t>问题</a:t>
                      </a:r>
                      <a:r>
                        <a:rPr dirty="0" sz="1000" spc="5">
                          <a:latin typeface="微软雅黑"/>
                          <a:cs typeface="微软雅黑"/>
                        </a:rPr>
                        <a:t>吗</a:t>
                      </a:r>
                      <a:r>
                        <a:rPr dirty="0" sz="1000" spc="-5">
                          <a:latin typeface="微软雅黑"/>
                          <a:cs typeface="微软雅黑"/>
                        </a:rPr>
                        <a:t>？</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39">
                <a:tc rowSpan="2">
                  <a:txBody>
                    <a:bodyPr/>
                    <a:lstStyle/>
                    <a:p>
                      <a:pPr>
                        <a:lnSpc>
                          <a:spcPct val="100000"/>
                        </a:lnSpc>
                        <a:spcBef>
                          <a:spcPts val="15"/>
                        </a:spcBef>
                      </a:pPr>
                      <a:endParaRPr sz="1100">
                        <a:latin typeface="Times New Roman"/>
                        <a:cs typeface="Times New Roman"/>
                      </a:endParaRPr>
                    </a:p>
                    <a:p>
                      <a:pPr marL="91440">
                        <a:lnSpc>
                          <a:spcPct val="100000"/>
                        </a:lnSpc>
                        <a:spcBef>
                          <a:spcPts val="5"/>
                        </a:spcBef>
                      </a:pPr>
                      <a:r>
                        <a:rPr dirty="0" sz="1000" spc="-5">
                          <a:latin typeface="微软雅黑"/>
                          <a:cs typeface="微软雅黑"/>
                        </a:rPr>
                        <a:t>行政的</a:t>
                      </a:r>
                      <a:endParaRPr sz="1000">
                        <a:latin typeface="微软雅黑"/>
                        <a:cs typeface="微软雅黑"/>
                      </a:endParaRPr>
                    </a:p>
                  </a:txBody>
                  <a:tcPr marL="0" marR="0" marB="0" marT="19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000" spc="-5">
                          <a:latin typeface="微软雅黑"/>
                          <a:cs typeface="微软雅黑"/>
                        </a:rPr>
                        <a:t>有产生</a:t>
                      </a:r>
                      <a:r>
                        <a:rPr dirty="0" sz="1000" spc="5">
                          <a:latin typeface="微软雅黑"/>
                          <a:cs typeface="微软雅黑"/>
                        </a:rPr>
                        <a:t>影</a:t>
                      </a:r>
                      <a:r>
                        <a:rPr dirty="0" sz="1000" spc="-5">
                          <a:latin typeface="微软雅黑"/>
                          <a:cs typeface="微软雅黑"/>
                        </a:rPr>
                        <a:t>响的</a:t>
                      </a:r>
                      <a:r>
                        <a:rPr dirty="0" sz="1000" spc="5">
                          <a:latin typeface="微软雅黑"/>
                          <a:cs typeface="微软雅黑"/>
                        </a:rPr>
                        <a:t>内</a:t>
                      </a:r>
                      <a:r>
                        <a:rPr dirty="0" sz="1000" spc="-5">
                          <a:latin typeface="微软雅黑"/>
                          <a:cs typeface="微软雅黑"/>
                        </a:rPr>
                        <a:t>部或</a:t>
                      </a:r>
                      <a:r>
                        <a:rPr dirty="0" sz="1000" spc="5">
                          <a:latin typeface="微软雅黑"/>
                          <a:cs typeface="微软雅黑"/>
                        </a:rPr>
                        <a:t>外</a:t>
                      </a:r>
                      <a:r>
                        <a:rPr dirty="0" sz="1000" spc="-5">
                          <a:latin typeface="微软雅黑"/>
                          <a:cs typeface="微软雅黑"/>
                        </a:rPr>
                        <a:t>部</a:t>
                      </a:r>
                      <a:r>
                        <a:rPr dirty="0" sz="1000" spc="5">
                          <a:latin typeface="微软雅黑"/>
                          <a:cs typeface="微软雅黑"/>
                        </a:rPr>
                        <a:t>政</a:t>
                      </a:r>
                      <a:r>
                        <a:rPr dirty="0" sz="1000" spc="-5">
                          <a:latin typeface="微软雅黑"/>
                          <a:cs typeface="微软雅黑"/>
                        </a:rPr>
                        <a:t>治问题</a:t>
                      </a:r>
                      <a:r>
                        <a:rPr dirty="0" sz="1000" spc="5">
                          <a:latin typeface="微软雅黑"/>
                          <a:cs typeface="微软雅黑"/>
                        </a:rPr>
                        <a:t>吗</a:t>
                      </a:r>
                      <a:r>
                        <a:rPr dirty="0" sz="1000" spc="-5">
                          <a:latin typeface="微软雅黑"/>
                          <a:cs typeface="微软雅黑"/>
                        </a:rPr>
                        <a:t>？</a:t>
                      </a:r>
                      <a:endParaRPr sz="1000">
                        <a:latin typeface="微软雅黑"/>
                        <a:cs typeface="微软雅黑"/>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39">
                <a:tc vMerge="1">
                  <a:txBody>
                    <a:bodyPr/>
                    <a:lstStyle/>
                    <a:p>
                      <a:pPr/>
                    </a:p>
                  </a:txBody>
                  <a:tcPr marL="0" marR="0" marB="0" marT="19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有什么</a:t>
                      </a:r>
                      <a:r>
                        <a:rPr dirty="0" sz="1000" spc="5">
                          <a:latin typeface="微软雅黑"/>
                          <a:cs typeface="微软雅黑"/>
                        </a:rPr>
                        <a:t>需</a:t>
                      </a:r>
                      <a:r>
                        <a:rPr dirty="0" sz="1000" spc="-5">
                          <a:latin typeface="微软雅黑"/>
                          <a:cs typeface="微软雅黑"/>
                        </a:rPr>
                        <a:t>要部</a:t>
                      </a:r>
                      <a:r>
                        <a:rPr dirty="0" sz="1000" spc="5">
                          <a:latin typeface="微软雅黑"/>
                          <a:cs typeface="微软雅黑"/>
                        </a:rPr>
                        <a:t>门</a:t>
                      </a:r>
                      <a:r>
                        <a:rPr dirty="0" sz="1000" spc="-5">
                          <a:latin typeface="微软雅黑"/>
                          <a:cs typeface="微软雅黑"/>
                        </a:rPr>
                        <a:t>间协</a:t>
                      </a:r>
                      <a:r>
                        <a:rPr dirty="0" sz="1000" spc="5">
                          <a:latin typeface="微软雅黑"/>
                          <a:cs typeface="微软雅黑"/>
                        </a:rPr>
                        <a:t>调</a:t>
                      </a:r>
                      <a:r>
                        <a:rPr dirty="0" sz="1000" spc="-5">
                          <a:latin typeface="微软雅黑"/>
                          <a:cs typeface="微软雅黑"/>
                        </a:rPr>
                        <a:t>的</a:t>
                      </a:r>
                      <a:r>
                        <a:rPr dirty="0" sz="1000" spc="5">
                          <a:latin typeface="微软雅黑"/>
                          <a:cs typeface="微软雅黑"/>
                        </a:rPr>
                        <a:t>问</a:t>
                      </a:r>
                      <a:r>
                        <a:rPr dirty="0" sz="1000" spc="-5">
                          <a:latin typeface="微软雅黑"/>
                          <a:cs typeface="微软雅黑"/>
                        </a:rPr>
                        <a:t>题吗？</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40">
                <a:tc rowSpan="4">
                  <a:txBody>
                    <a:bodyPr/>
                    <a:lstStyle/>
                    <a:p>
                      <a:pPr>
                        <a:lnSpc>
                          <a:spcPct val="100000"/>
                        </a:lnSpc>
                      </a:pPr>
                      <a:endParaRPr sz="1300">
                        <a:latin typeface="Times New Roman"/>
                        <a:cs typeface="Times New Roman"/>
                      </a:endParaRPr>
                    </a:p>
                    <a:p>
                      <a:pPr>
                        <a:lnSpc>
                          <a:spcPct val="100000"/>
                        </a:lnSpc>
                        <a:spcBef>
                          <a:spcPts val="40"/>
                        </a:spcBef>
                      </a:pPr>
                      <a:endParaRPr sz="1450">
                        <a:latin typeface="Times New Roman"/>
                        <a:cs typeface="Times New Roman"/>
                      </a:endParaRPr>
                    </a:p>
                    <a:p>
                      <a:pPr marL="91440">
                        <a:lnSpc>
                          <a:spcPct val="100000"/>
                        </a:lnSpc>
                      </a:pPr>
                      <a:r>
                        <a:rPr dirty="0" sz="1000" spc="-5">
                          <a:latin typeface="微软雅黑"/>
                          <a:cs typeface="微软雅黑"/>
                        </a:rPr>
                        <a:t>技术的</a:t>
                      </a:r>
                      <a:endParaRPr sz="1000">
                        <a:latin typeface="微软雅黑"/>
                        <a:cs typeface="微软雅黑"/>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dirty="0" sz="1000" spc="-5">
                          <a:latin typeface="微软雅黑"/>
                          <a:cs typeface="微软雅黑"/>
                        </a:rPr>
                        <a:t>在技术</a:t>
                      </a:r>
                      <a:r>
                        <a:rPr dirty="0" sz="1000" spc="5">
                          <a:latin typeface="微软雅黑"/>
                          <a:cs typeface="微软雅黑"/>
                        </a:rPr>
                        <a:t>的</a:t>
                      </a:r>
                      <a:r>
                        <a:rPr dirty="0" sz="1000" spc="-5">
                          <a:latin typeface="微软雅黑"/>
                          <a:cs typeface="微软雅黑"/>
                        </a:rPr>
                        <a:t>选择</a:t>
                      </a:r>
                      <a:r>
                        <a:rPr dirty="0" sz="1000" spc="5">
                          <a:latin typeface="微软雅黑"/>
                          <a:cs typeface="微软雅黑"/>
                        </a:rPr>
                        <a:t>上</a:t>
                      </a:r>
                      <a:r>
                        <a:rPr dirty="0" sz="1000" spc="-5">
                          <a:latin typeface="微软雅黑"/>
                          <a:cs typeface="微软雅黑"/>
                        </a:rPr>
                        <a:t>有什</a:t>
                      </a:r>
                      <a:r>
                        <a:rPr dirty="0" sz="1000" spc="5">
                          <a:latin typeface="微软雅黑"/>
                          <a:cs typeface="微软雅黑"/>
                        </a:rPr>
                        <a:t>么</a:t>
                      </a:r>
                      <a:r>
                        <a:rPr dirty="0" sz="1000" spc="-5">
                          <a:latin typeface="微软雅黑"/>
                          <a:cs typeface="微软雅黑"/>
                        </a:rPr>
                        <a:t>限</a:t>
                      </a:r>
                      <a:r>
                        <a:rPr dirty="0" sz="1000" spc="5">
                          <a:latin typeface="微软雅黑"/>
                          <a:cs typeface="微软雅黑"/>
                        </a:rPr>
                        <a:t>制</a:t>
                      </a:r>
                      <a:r>
                        <a:rPr dirty="0" sz="1000" spc="-5">
                          <a:latin typeface="微软雅黑"/>
                          <a:cs typeface="微软雅黑"/>
                        </a:rPr>
                        <a:t>吗？</a:t>
                      </a:r>
                      <a:endParaRPr sz="1000">
                        <a:latin typeface="微软雅黑"/>
                        <a:cs typeface="微软雅黑"/>
                      </a:endParaRPr>
                    </a:p>
                  </a:txBody>
                  <a:tcPr marL="0" marR="0" marB="0" marT="40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966">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是否必</a:t>
                      </a:r>
                      <a:r>
                        <a:rPr dirty="0" sz="1000" spc="5">
                          <a:latin typeface="微软雅黑"/>
                          <a:cs typeface="微软雅黑"/>
                        </a:rPr>
                        <a:t>须</a:t>
                      </a:r>
                      <a:r>
                        <a:rPr dirty="0" sz="1000" spc="-5">
                          <a:latin typeface="微软雅黑"/>
                          <a:cs typeface="微软雅黑"/>
                        </a:rPr>
                        <a:t>使用</a:t>
                      </a:r>
                      <a:r>
                        <a:rPr dirty="0" sz="1000" spc="5">
                          <a:latin typeface="微软雅黑"/>
                          <a:cs typeface="微软雅黑"/>
                        </a:rPr>
                        <a:t>既</a:t>
                      </a:r>
                      <a:r>
                        <a:rPr dirty="0" sz="1000" spc="-5">
                          <a:latin typeface="微软雅黑"/>
                          <a:cs typeface="微软雅黑"/>
                        </a:rPr>
                        <a:t>有的</a:t>
                      </a:r>
                      <a:r>
                        <a:rPr dirty="0" sz="1000" spc="5">
                          <a:latin typeface="微软雅黑"/>
                          <a:cs typeface="微软雅黑"/>
                        </a:rPr>
                        <a:t>平</a:t>
                      </a:r>
                      <a:r>
                        <a:rPr dirty="0" sz="1000" spc="-5">
                          <a:latin typeface="微软雅黑"/>
                          <a:cs typeface="微软雅黑"/>
                        </a:rPr>
                        <a:t>台</a:t>
                      </a:r>
                      <a:r>
                        <a:rPr dirty="0" sz="1000" spc="5">
                          <a:latin typeface="微软雅黑"/>
                          <a:cs typeface="微软雅黑"/>
                        </a:rPr>
                        <a:t>和</a:t>
                      </a:r>
                      <a:r>
                        <a:rPr dirty="0" sz="1000" spc="-5">
                          <a:latin typeface="微软雅黑"/>
                          <a:cs typeface="微软雅黑"/>
                        </a:rPr>
                        <a:t>技术进</a:t>
                      </a:r>
                      <a:r>
                        <a:rPr dirty="0" sz="1000" spc="5">
                          <a:latin typeface="微软雅黑"/>
                          <a:cs typeface="微软雅黑"/>
                        </a:rPr>
                        <a:t>行</a:t>
                      </a:r>
                      <a:r>
                        <a:rPr dirty="0" sz="1000" spc="-5">
                          <a:latin typeface="微软雅黑"/>
                          <a:cs typeface="微软雅黑"/>
                        </a:rPr>
                        <a:t>工作？</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39">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对新技</a:t>
                      </a:r>
                      <a:r>
                        <a:rPr dirty="0" sz="1000" spc="5">
                          <a:latin typeface="微软雅黑"/>
                          <a:cs typeface="微软雅黑"/>
                        </a:rPr>
                        <a:t>术</a:t>
                      </a:r>
                      <a:r>
                        <a:rPr dirty="0" sz="1000" spc="-5">
                          <a:latin typeface="微软雅黑"/>
                          <a:cs typeface="微软雅黑"/>
                        </a:rPr>
                        <a:t>的应</a:t>
                      </a:r>
                      <a:r>
                        <a:rPr dirty="0" sz="1000" spc="5">
                          <a:latin typeface="微软雅黑"/>
                          <a:cs typeface="微软雅黑"/>
                        </a:rPr>
                        <a:t>用</a:t>
                      </a:r>
                      <a:r>
                        <a:rPr dirty="0" sz="1000" spc="-5">
                          <a:latin typeface="微软雅黑"/>
                          <a:cs typeface="微软雅黑"/>
                        </a:rPr>
                        <a:t>会被</a:t>
                      </a:r>
                      <a:r>
                        <a:rPr dirty="0" sz="1000" spc="5">
                          <a:latin typeface="微软雅黑"/>
                          <a:cs typeface="微软雅黑"/>
                        </a:rPr>
                        <a:t>禁</a:t>
                      </a:r>
                      <a:r>
                        <a:rPr dirty="0" sz="1000" spc="-5">
                          <a:latin typeface="微软雅黑"/>
                          <a:cs typeface="微软雅黑"/>
                        </a:rPr>
                        <a:t>止</a:t>
                      </a:r>
                      <a:r>
                        <a:rPr dirty="0" sz="1000" spc="5">
                          <a:latin typeface="微软雅黑"/>
                          <a:cs typeface="微软雅黑"/>
                        </a:rPr>
                        <a:t>吗</a:t>
                      </a:r>
                      <a:r>
                        <a:rPr dirty="0" sz="1000" spc="-5">
                          <a:latin typeface="微软雅黑"/>
                          <a:cs typeface="微软雅黑"/>
                        </a:rPr>
                        <a:t>？</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39">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有可能使用</a:t>
                      </a:r>
                      <a:r>
                        <a:rPr dirty="0" sz="1000" spc="-5">
                          <a:latin typeface="Times New Roman"/>
                          <a:cs typeface="Times New Roman"/>
                        </a:rPr>
                        <a:t>COTS</a:t>
                      </a:r>
                      <a:r>
                        <a:rPr dirty="0" sz="1000" spc="-5">
                          <a:latin typeface="微软雅黑"/>
                          <a:cs typeface="微软雅黑"/>
                        </a:rPr>
                        <a:t>软件包吗？</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40">
                <a:tc rowSpan="2">
                  <a:txBody>
                    <a:bodyPr/>
                    <a:lstStyle/>
                    <a:p>
                      <a:pPr>
                        <a:lnSpc>
                          <a:spcPct val="100000"/>
                        </a:lnSpc>
                        <a:spcBef>
                          <a:spcPts val="20"/>
                        </a:spcBef>
                      </a:pPr>
                      <a:endParaRPr sz="1100">
                        <a:latin typeface="Times New Roman"/>
                        <a:cs typeface="Times New Roman"/>
                      </a:endParaRPr>
                    </a:p>
                    <a:p>
                      <a:pPr marL="91440">
                        <a:lnSpc>
                          <a:spcPct val="100000"/>
                        </a:lnSpc>
                      </a:pPr>
                      <a:r>
                        <a:rPr dirty="0" sz="1000" spc="-5">
                          <a:latin typeface="微软雅黑"/>
                          <a:cs typeface="微软雅黑"/>
                        </a:rPr>
                        <a:t>系统的</a:t>
                      </a:r>
                      <a:endParaRPr sz="1000">
                        <a:latin typeface="微软雅黑"/>
                        <a:cs typeface="微软雅黑"/>
                      </a:endParaR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要</a:t>
                      </a:r>
                      <a:r>
                        <a:rPr dirty="0" sz="1000" spc="-10">
                          <a:latin typeface="微软雅黑"/>
                          <a:cs typeface="微软雅黑"/>
                        </a:rPr>
                        <a:t>建</a:t>
                      </a:r>
                      <a:r>
                        <a:rPr dirty="0" sz="1000" spc="-5">
                          <a:latin typeface="微软雅黑"/>
                          <a:cs typeface="微软雅黑"/>
                        </a:rPr>
                        <a:t>立</a:t>
                      </a:r>
                      <a:r>
                        <a:rPr dirty="0" sz="1000">
                          <a:latin typeface="微软雅黑"/>
                          <a:cs typeface="微软雅黑"/>
                        </a:rPr>
                        <a:t>在</a:t>
                      </a:r>
                      <a:r>
                        <a:rPr dirty="0" sz="1000" spc="-5">
                          <a:latin typeface="微软雅黑"/>
                          <a:cs typeface="微软雅黑"/>
                        </a:rPr>
                        <a:t>现</a:t>
                      </a:r>
                      <a:r>
                        <a:rPr dirty="0" sz="1000" spc="-10">
                          <a:latin typeface="微软雅黑"/>
                          <a:cs typeface="微软雅黑"/>
                        </a:rPr>
                        <a:t>有</a:t>
                      </a:r>
                      <a:r>
                        <a:rPr dirty="0" sz="1000">
                          <a:latin typeface="微软雅黑"/>
                          <a:cs typeface="微软雅黑"/>
                        </a:rPr>
                        <a:t>系</a:t>
                      </a:r>
                      <a:r>
                        <a:rPr dirty="0" sz="1000" spc="-5">
                          <a:latin typeface="微软雅黑"/>
                          <a:cs typeface="微软雅黑"/>
                        </a:rPr>
                        <a:t>统</a:t>
                      </a:r>
                      <a:r>
                        <a:rPr dirty="0" sz="1000" spc="-10">
                          <a:latin typeface="微软雅黑"/>
                          <a:cs typeface="微软雅黑"/>
                        </a:rPr>
                        <a:t>基</a:t>
                      </a:r>
                      <a:r>
                        <a:rPr dirty="0" sz="1000">
                          <a:latin typeface="微软雅黑"/>
                          <a:cs typeface="微软雅黑"/>
                        </a:rPr>
                        <a:t>础</a:t>
                      </a:r>
                      <a:r>
                        <a:rPr dirty="0" sz="1000" spc="-5">
                          <a:latin typeface="微软雅黑"/>
                          <a:cs typeface="微软雅黑"/>
                        </a:rPr>
                        <a:t>之</a:t>
                      </a:r>
                      <a:r>
                        <a:rPr dirty="0" sz="1000">
                          <a:latin typeface="微软雅黑"/>
                          <a:cs typeface="微软雅黑"/>
                        </a:rPr>
                        <a:t>上</a:t>
                      </a:r>
                      <a:r>
                        <a:rPr dirty="0" sz="1000" spc="-5">
                          <a:latin typeface="微软雅黑"/>
                          <a:cs typeface="微软雅黑"/>
                        </a:rPr>
                        <a:t>吗？</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967">
                <a:tc vMerge="1">
                  <a:txBody>
                    <a:bodyPr/>
                    <a:lstStyle/>
                    <a:p>
                      <a:p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要维护</a:t>
                      </a:r>
                      <a:r>
                        <a:rPr dirty="0" sz="1000" spc="5">
                          <a:latin typeface="微软雅黑"/>
                          <a:cs typeface="微软雅黑"/>
                        </a:rPr>
                        <a:t>和</a:t>
                      </a:r>
                      <a:r>
                        <a:rPr dirty="0" sz="1000" spc="-5">
                          <a:latin typeface="微软雅黑"/>
                          <a:cs typeface="微软雅黑"/>
                        </a:rPr>
                        <a:t>现有</a:t>
                      </a:r>
                      <a:r>
                        <a:rPr dirty="0" sz="1000" spc="5">
                          <a:latin typeface="微软雅黑"/>
                          <a:cs typeface="微软雅黑"/>
                        </a:rPr>
                        <a:t>系</a:t>
                      </a:r>
                      <a:r>
                        <a:rPr dirty="0" sz="1000" spc="-5">
                          <a:latin typeface="微软雅黑"/>
                          <a:cs typeface="微软雅黑"/>
                        </a:rPr>
                        <a:t>统的</a:t>
                      </a:r>
                      <a:r>
                        <a:rPr dirty="0" sz="1000" spc="5">
                          <a:latin typeface="微软雅黑"/>
                          <a:cs typeface="微软雅黑"/>
                        </a:rPr>
                        <a:t>兼</a:t>
                      </a:r>
                      <a:r>
                        <a:rPr dirty="0" sz="1000" spc="-5">
                          <a:latin typeface="微软雅黑"/>
                          <a:cs typeface="微软雅黑"/>
                        </a:rPr>
                        <a:t>容</a:t>
                      </a:r>
                      <a:r>
                        <a:rPr dirty="0" sz="1000" spc="5">
                          <a:latin typeface="微软雅黑"/>
                          <a:cs typeface="微软雅黑"/>
                        </a:rPr>
                        <a:t>性</a:t>
                      </a:r>
                      <a:r>
                        <a:rPr dirty="0" sz="1000" spc="-5">
                          <a:latin typeface="微软雅黑"/>
                          <a:cs typeface="微软雅黑"/>
                        </a:rPr>
                        <a:t>吗？</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39">
                <a:tc rowSpan="5">
                  <a:txBody>
                    <a:bodyPr/>
                    <a:lstStyle/>
                    <a:p>
                      <a:pPr>
                        <a:lnSpc>
                          <a:spcPct val="100000"/>
                        </a:lnSpc>
                      </a:pPr>
                      <a:endParaRPr sz="1300">
                        <a:latin typeface="Times New Roman"/>
                        <a:cs typeface="Times New Roman"/>
                      </a:endParaRPr>
                    </a:p>
                    <a:p>
                      <a:pPr>
                        <a:lnSpc>
                          <a:spcPct val="100000"/>
                        </a:lnSpc>
                      </a:pPr>
                      <a:endParaRPr sz="1300">
                        <a:latin typeface="Times New Roman"/>
                        <a:cs typeface="Times New Roman"/>
                      </a:endParaRPr>
                    </a:p>
                    <a:p>
                      <a:pPr>
                        <a:lnSpc>
                          <a:spcPct val="100000"/>
                        </a:lnSpc>
                        <a:spcBef>
                          <a:spcPts val="25"/>
                        </a:spcBef>
                      </a:pPr>
                      <a:endParaRPr sz="1000">
                        <a:latin typeface="Times New Roman"/>
                        <a:cs typeface="Times New Roman"/>
                      </a:endParaRPr>
                    </a:p>
                    <a:p>
                      <a:pPr marL="91440">
                        <a:lnSpc>
                          <a:spcPct val="100000"/>
                        </a:lnSpc>
                        <a:spcBef>
                          <a:spcPts val="5"/>
                        </a:spcBef>
                      </a:pPr>
                      <a:r>
                        <a:rPr dirty="0" sz="1000" spc="-5">
                          <a:latin typeface="微软雅黑"/>
                          <a:cs typeface="微软雅黑"/>
                        </a:rPr>
                        <a:t>环境的</a:t>
                      </a:r>
                      <a:endParaRPr sz="1000">
                        <a:latin typeface="微软雅黑"/>
                        <a:cs typeface="微软雅黑"/>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需要支</a:t>
                      </a:r>
                      <a:r>
                        <a:rPr dirty="0" sz="1000" spc="5">
                          <a:latin typeface="微软雅黑"/>
                          <a:cs typeface="微软雅黑"/>
                        </a:rPr>
                        <a:t>持</a:t>
                      </a:r>
                      <a:r>
                        <a:rPr dirty="0" sz="1000" spc="-5">
                          <a:latin typeface="微软雅黑"/>
                          <a:cs typeface="微软雅黑"/>
                        </a:rPr>
                        <a:t>哪些</a:t>
                      </a:r>
                      <a:r>
                        <a:rPr dirty="0" sz="1000" spc="5">
                          <a:latin typeface="微软雅黑"/>
                          <a:cs typeface="微软雅黑"/>
                        </a:rPr>
                        <a:t>操</a:t>
                      </a:r>
                      <a:r>
                        <a:rPr dirty="0" sz="1000" spc="-5">
                          <a:latin typeface="微软雅黑"/>
                          <a:cs typeface="微软雅黑"/>
                        </a:rPr>
                        <a:t>作系</a:t>
                      </a:r>
                      <a:r>
                        <a:rPr dirty="0" sz="1000" spc="5">
                          <a:latin typeface="微软雅黑"/>
                          <a:cs typeface="微软雅黑"/>
                        </a:rPr>
                        <a:t>统</a:t>
                      </a:r>
                      <a:r>
                        <a:rPr dirty="0" sz="1000" spc="-5">
                          <a:latin typeface="微软雅黑"/>
                          <a:cs typeface="微软雅黑"/>
                        </a:rPr>
                        <a:t>和</a:t>
                      </a:r>
                      <a:r>
                        <a:rPr dirty="0" sz="1000" spc="5">
                          <a:latin typeface="微软雅黑"/>
                          <a:cs typeface="微软雅黑"/>
                        </a:rPr>
                        <a:t>环</a:t>
                      </a:r>
                      <a:r>
                        <a:rPr dirty="0" sz="1000" spc="-5">
                          <a:latin typeface="微软雅黑"/>
                          <a:cs typeface="微软雅黑"/>
                        </a:rPr>
                        <a:t>境？</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4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有环境</a:t>
                      </a:r>
                      <a:r>
                        <a:rPr dirty="0" sz="1000" spc="5">
                          <a:latin typeface="微软雅黑"/>
                          <a:cs typeface="微软雅黑"/>
                        </a:rPr>
                        <a:t>的</a:t>
                      </a:r>
                      <a:r>
                        <a:rPr dirty="0" sz="1000" spc="-5">
                          <a:latin typeface="微软雅黑"/>
                          <a:cs typeface="微软雅黑"/>
                        </a:rPr>
                        <a:t>约束</a:t>
                      </a:r>
                      <a:r>
                        <a:rPr dirty="0" sz="1000" spc="5">
                          <a:latin typeface="微软雅黑"/>
                          <a:cs typeface="微软雅黑"/>
                        </a:rPr>
                        <a:t>吗</a:t>
                      </a:r>
                      <a:r>
                        <a:rPr dirty="0" sz="1000" spc="-5">
                          <a:latin typeface="微软雅黑"/>
                          <a:cs typeface="微软雅黑"/>
                        </a:rPr>
                        <a:t>？其</a:t>
                      </a:r>
                      <a:r>
                        <a:rPr dirty="0" sz="1000" spc="5">
                          <a:latin typeface="微软雅黑"/>
                          <a:cs typeface="微软雅黑"/>
                        </a:rPr>
                        <a:t>灵</a:t>
                      </a:r>
                      <a:r>
                        <a:rPr dirty="0" sz="1000" spc="-5">
                          <a:latin typeface="微软雅黑"/>
                          <a:cs typeface="微软雅黑"/>
                        </a:rPr>
                        <a:t>活</a:t>
                      </a:r>
                      <a:r>
                        <a:rPr dirty="0" sz="1000" spc="5">
                          <a:latin typeface="微软雅黑"/>
                          <a:cs typeface="微软雅黑"/>
                        </a:rPr>
                        <a:t>度</a:t>
                      </a:r>
                      <a:r>
                        <a:rPr dirty="0" sz="1000" spc="-5">
                          <a:latin typeface="微软雅黑"/>
                          <a:cs typeface="微软雅黑"/>
                        </a:rPr>
                        <a:t>怎样？</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39">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符合法</a:t>
                      </a:r>
                      <a:r>
                        <a:rPr dirty="0" sz="1000" spc="5">
                          <a:latin typeface="微软雅黑"/>
                          <a:cs typeface="微软雅黑"/>
                        </a:rPr>
                        <a:t>律</a:t>
                      </a:r>
                      <a:r>
                        <a:rPr dirty="0" sz="1000" spc="-5">
                          <a:latin typeface="微软雅黑"/>
                          <a:cs typeface="微软雅黑"/>
                        </a:rPr>
                        <a:t>法规</a:t>
                      </a:r>
                      <a:r>
                        <a:rPr dirty="0" sz="1000" spc="5">
                          <a:latin typeface="微软雅黑"/>
                          <a:cs typeface="微软雅黑"/>
                        </a:rPr>
                        <a:t>吗</a:t>
                      </a:r>
                      <a:r>
                        <a:rPr dirty="0" sz="1000" spc="-5">
                          <a:latin typeface="微软雅黑"/>
                          <a:cs typeface="微软雅黑"/>
                        </a:rPr>
                        <a:t>？</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967">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有安全</a:t>
                      </a:r>
                      <a:r>
                        <a:rPr dirty="0" sz="1000" spc="5">
                          <a:latin typeface="微软雅黑"/>
                          <a:cs typeface="微软雅黑"/>
                        </a:rPr>
                        <a:t>性</a:t>
                      </a:r>
                      <a:r>
                        <a:rPr dirty="0" sz="1000" spc="-5">
                          <a:latin typeface="微软雅黑"/>
                          <a:cs typeface="微软雅黑"/>
                        </a:rPr>
                        <a:t>需求</a:t>
                      </a:r>
                      <a:r>
                        <a:rPr dirty="0" sz="1000" spc="5">
                          <a:latin typeface="微软雅黑"/>
                          <a:cs typeface="微软雅黑"/>
                        </a:rPr>
                        <a:t>吗</a:t>
                      </a:r>
                      <a:r>
                        <a:rPr dirty="0" sz="1000" spc="-5">
                          <a:latin typeface="微软雅黑"/>
                          <a:cs typeface="微软雅黑"/>
                        </a:rPr>
                        <a:t>？</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39">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可能会</a:t>
                      </a:r>
                      <a:r>
                        <a:rPr dirty="0" sz="1000" spc="5">
                          <a:latin typeface="微软雅黑"/>
                          <a:cs typeface="微软雅黑"/>
                        </a:rPr>
                        <a:t>被</a:t>
                      </a:r>
                      <a:r>
                        <a:rPr dirty="0" sz="1000" spc="-5">
                          <a:latin typeface="微软雅黑"/>
                          <a:cs typeface="微软雅黑"/>
                        </a:rPr>
                        <a:t>哪些</a:t>
                      </a:r>
                      <a:r>
                        <a:rPr dirty="0" sz="1000" spc="5">
                          <a:latin typeface="微软雅黑"/>
                          <a:cs typeface="微软雅黑"/>
                        </a:rPr>
                        <a:t>其</a:t>
                      </a:r>
                      <a:r>
                        <a:rPr dirty="0" sz="1000" spc="-5">
                          <a:latin typeface="微软雅黑"/>
                          <a:cs typeface="微软雅黑"/>
                        </a:rPr>
                        <a:t>他标</a:t>
                      </a:r>
                      <a:r>
                        <a:rPr dirty="0" sz="1000" spc="5">
                          <a:latin typeface="微软雅黑"/>
                          <a:cs typeface="微软雅黑"/>
                        </a:rPr>
                        <a:t>准</a:t>
                      </a:r>
                      <a:r>
                        <a:rPr dirty="0" sz="1000" spc="-5">
                          <a:latin typeface="微软雅黑"/>
                          <a:cs typeface="微软雅黑"/>
                        </a:rPr>
                        <a:t>限</a:t>
                      </a:r>
                      <a:r>
                        <a:rPr dirty="0" sz="1000" spc="5">
                          <a:latin typeface="微软雅黑"/>
                          <a:cs typeface="微软雅黑"/>
                        </a:rPr>
                        <a:t>制</a:t>
                      </a:r>
                      <a:r>
                        <a:rPr dirty="0" sz="1000" spc="-5">
                          <a:latin typeface="微软雅黑"/>
                          <a:cs typeface="微软雅黑"/>
                        </a:rPr>
                        <a:t>？</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40">
                <a:tc rowSpan="4">
                  <a:txBody>
                    <a:bodyPr/>
                    <a:lstStyle/>
                    <a:p>
                      <a:pPr>
                        <a:lnSpc>
                          <a:spcPct val="100000"/>
                        </a:lnSpc>
                      </a:pPr>
                      <a:endParaRPr sz="1300">
                        <a:latin typeface="Times New Roman"/>
                        <a:cs typeface="Times New Roman"/>
                      </a:endParaRPr>
                    </a:p>
                    <a:p>
                      <a:pPr>
                        <a:lnSpc>
                          <a:spcPct val="100000"/>
                        </a:lnSpc>
                        <a:spcBef>
                          <a:spcPts val="45"/>
                        </a:spcBef>
                      </a:pPr>
                      <a:endParaRPr sz="1450">
                        <a:latin typeface="Times New Roman"/>
                        <a:cs typeface="Times New Roman"/>
                      </a:endParaRPr>
                    </a:p>
                    <a:p>
                      <a:pPr marL="91440">
                        <a:lnSpc>
                          <a:spcPct val="100000"/>
                        </a:lnSpc>
                      </a:pPr>
                      <a:r>
                        <a:rPr dirty="0" sz="1000" spc="-5">
                          <a:latin typeface="微软雅黑"/>
                          <a:cs typeface="微软雅黑"/>
                        </a:rPr>
                        <a:t>进度及</a:t>
                      </a:r>
                      <a:r>
                        <a:rPr dirty="0" sz="1000" spc="5">
                          <a:latin typeface="微软雅黑"/>
                          <a:cs typeface="微软雅黑"/>
                        </a:rPr>
                        <a:t>资</a:t>
                      </a:r>
                      <a:r>
                        <a:rPr dirty="0" sz="1000" spc="-5">
                          <a:latin typeface="微软雅黑"/>
                          <a:cs typeface="微软雅黑"/>
                        </a:rPr>
                        <a:t>源的</a:t>
                      </a:r>
                      <a:endParaRPr sz="1000">
                        <a:latin typeface="微软雅黑"/>
                        <a:cs typeface="微软雅黑"/>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1000" spc="-5">
                          <a:latin typeface="微软雅黑"/>
                          <a:cs typeface="微软雅黑"/>
                        </a:rPr>
                        <a:t>进度要</a:t>
                      </a:r>
                      <a:r>
                        <a:rPr dirty="0" sz="1000" spc="5">
                          <a:latin typeface="微软雅黑"/>
                          <a:cs typeface="微软雅黑"/>
                        </a:rPr>
                        <a:t>求</a:t>
                      </a:r>
                      <a:r>
                        <a:rPr dirty="0" sz="1000" spc="-5">
                          <a:latin typeface="微软雅黑"/>
                          <a:cs typeface="微软雅黑"/>
                        </a:rPr>
                        <a:t>如何？</a:t>
                      </a:r>
                      <a:endParaRPr sz="1000">
                        <a:latin typeface="微软雅黑"/>
                        <a:cs typeface="微软雅黑"/>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6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000" spc="-5">
                          <a:latin typeface="微软雅黑"/>
                          <a:cs typeface="微软雅黑"/>
                        </a:rPr>
                        <a:t>会被限</a:t>
                      </a:r>
                      <a:r>
                        <a:rPr dirty="0" sz="1000" spc="5">
                          <a:latin typeface="微软雅黑"/>
                          <a:cs typeface="微软雅黑"/>
                        </a:rPr>
                        <a:t>制</a:t>
                      </a:r>
                      <a:r>
                        <a:rPr dirty="0" sz="1000" spc="-5">
                          <a:latin typeface="微软雅黑"/>
                          <a:cs typeface="微软雅黑"/>
                        </a:rPr>
                        <a:t>在已</a:t>
                      </a:r>
                      <a:r>
                        <a:rPr dirty="0" sz="1000" spc="5">
                          <a:latin typeface="微软雅黑"/>
                          <a:cs typeface="微软雅黑"/>
                        </a:rPr>
                        <a:t>有</a:t>
                      </a:r>
                      <a:r>
                        <a:rPr dirty="0" sz="1000" spc="-5">
                          <a:latin typeface="微软雅黑"/>
                          <a:cs typeface="微软雅黑"/>
                        </a:rPr>
                        <a:t>资源</a:t>
                      </a:r>
                      <a:r>
                        <a:rPr dirty="0" sz="1000" spc="5">
                          <a:latin typeface="微软雅黑"/>
                          <a:cs typeface="微软雅黑"/>
                        </a:rPr>
                        <a:t>上</a:t>
                      </a:r>
                      <a:r>
                        <a:rPr dirty="0" sz="1000" spc="-5">
                          <a:latin typeface="微软雅黑"/>
                          <a:cs typeface="微软雅黑"/>
                        </a:rPr>
                        <a:t>吗？</a:t>
                      </a:r>
                      <a:endParaRPr sz="1000">
                        <a:latin typeface="微软雅黑"/>
                        <a:cs typeface="微软雅黑"/>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78">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000" spc="-5">
                          <a:latin typeface="微软雅黑"/>
                          <a:cs typeface="微软雅黑"/>
                        </a:rPr>
                        <a:t>可以使</a:t>
                      </a:r>
                      <a:r>
                        <a:rPr dirty="0" sz="1000" spc="5">
                          <a:latin typeface="微软雅黑"/>
                          <a:cs typeface="微软雅黑"/>
                        </a:rPr>
                        <a:t>用</a:t>
                      </a:r>
                      <a:r>
                        <a:rPr dirty="0" sz="1000" spc="-5">
                          <a:latin typeface="微软雅黑"/>
                          <a:cs typeface="微软雅黑"/>
                        </a:rPr>
                        <a:t>外部</a:t>
                      </a:r>
                      <a:r>
                        <a:rPr dirty="0" sz="1000" spc="5">
                          <a:latin typeface="微软雅黑"/>
                          <a:cs typeface="微软雅黑"/>
                        </a:rPr>
                        <a:t>人</a:t>
                      </a:r>
                      <a:r>
                        <a:rPr dirty="0" sz="1000" spc="-5">
                          <a:latin typeface="微软雅黑"/>
                          <a:cs typeface="微软雅黑"/>
                        </a:rPr>
                        <a:t>力吗？</a:t>
                      </a:r>
                      <a:endParaRPr sz="1000">
                        <a:latin typeface="微软雅黑"/>
                        <a:cs typeface="微软雅黑"/>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24386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30"/>
                        </a:spcBef>
                      </a:pPr>
                      <a:r>
                        <a:rPr dirty="0" sz="1000" spc="-5">
                          <a:latin typeface="微软雅黑"/>
                          <a:cs typeface="微软雅黑"/>
                        </a:rPr>
                        <a:t>可以暂</a:t>
                      </a:r>
                      <a:r>
                        <a:rPr dirty="0" sz="1000" spc="5">
                          <a:latin typeface="微软雅黑"/>
                          <a:cs typeface="微软雅黑"/>
                        </a:rPr>
                        <a:t>时</a:t>
                      </a:r>
                      <a:r>
                        <a:rPr dirty="0" sz="1000" spc="-5">
                          <a:latin typeface="微软雅黑"/>
                          <a:cs typeface="微软雅黑"/>
                        </a:rPr>
                        <a:t>或永</a:t>
                      </a:r>
                      <a:r>
                        <a:rPr dirty="0" sz="1000" spc="5">
                          <a:latin typeface="微软雅黑"/>
                          <a:cs typeface="微软雅黑"/>
                        </a:rPr>
                        <a:t>久</a:t>
                      </a:r>
                      <a:r>
                        <a:rPr dirty="0" sz="1000" spc="-5">
                          <a:latin typeface="微软雅黑"/>
                          <a:cs typeface="微软雅黑"/>
                        </a:rPr>
                        <a:t>的扩</a:t>
                      </a:r>
                      <a:r>
                        <a:rPr dirty="0" sz="1000" spc="5">
                          <a:latin typeface="微软雅黑"/>
                          <a:cs typeface="微软雅黑"/>
                        </a:rPr>
                        <a:t>展</a:t>
                      </a:r>
                      <a:r>
                        <a:rPr dirty="0" sz="1000" spc="-5">
                          <a:latin typeface="微软雅黑"/>
                          <a:cs typeface="微软雅黑"/>
                        </a:rPr>
                        <a:t>资</a:t>
                      </a:r>
                      <a:r>
                        <a:rPr dirty="0" sz="1000" spc="5">
                          <a:latin typeface="微软雅黑"/>
                          <a:cs typeface="微软雅黑"/>
                        </a:rPr>
                        <a:t>源</a:t>
                      </a:r>
                      <a:r>
                        <a:rPr dirty="0" sz="1000" spc="-5">
                          <a:latin typeface="微软雅黑"/>
                          <a:cs typeface="微软雅黑"/>
                        </a:rPr>
                        <a:t>吗？</a:t>
                      </a:r>
                      <a:endParaRPr sz="1000">
                        <a:latin typeface="微软雅黑"/>
                        <a:cs typeface="微软雅黑"/>
                      </a:endParaRPr>
                    </a:p>
                  </a:txBody>
                  <a:tcPr marL="0" marR="0" marB="0" marT="419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2669" y="55626"/>
            <a:ext cx="6402705" cy="1184275"/>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2.3</a:t>
            </a:r>
            <a:r>
              <a:rPr dirty="0" sz="3800" spc="-20">
                <a:latin typeface="Calibri"/>
                <a:cs typeface="Calibri"/>
              </a:rPr>
              <a:t> </a:t>
            </a:r>
            <a:r>
              <a:rPr dirty="0" sz="3800"/>
              <a:t>定义解决方案及系统特性</a:t>
            </a:r>
            <a:endParaRPr sz="3800">
              <a:latin typeface="Calibri"/>
              <a:cs typeface="Calibri"/>
            </a:endParaRPr>
          </a:p>
          <a:p>
            <a:pPr marL="584200">
              <a:lnSpc>
                <a:spcPct val="100000"/>
              </a:lnSpc>
            </a:pPr>
            <a:r>
              <a:rPr dirty="0" sz="3800" spc="-5">
                <a:latin typeface="Calibri"/>
                <a:cs typeface="Calibri"/>
              </a:rPr>
              <a:t>—(3)</a:t>
            </a:r>
            <a:r>
              <a:rPr dirty="0" sz="3800"/>
              <a:t>确定解决方案</a:t>
            </a:r>
            <a:r>
              <a:rPr dirty="0" sz="3800" spc="-15"/>
              <a:t>约</a:t>
            </a:r>
            <a:r>
              <a:rPr dirty="0" sz="3800"/>
              <a:t>束示例</a:t>
            </a:r>
            <a:endParaRPr sz="3800">
              <a:latin typeface="Calibri"/>
              <a:cs typeface="Calibri"/>
            </a:endParaRPr>
          </a:p>
        </p:txBody>
      </p:sp>
      <p:sp>
        <p:nvSpPr>
          <p:cNvPr id="3" name="object 3"/>
          <p:cNvSpPr txBox="1"/>
          <p:nvPr/>
        </p:nvSpPr>
        <p:spPr>
          <a:xfrm>
            <a:off x="535940" y="1617929"/>
            <a:ext cx="4998085" cy="422909"/>
          </a:xfrm>
          <a:prstGeom prst="rect">
            <a:avLst/>
          </a:prstGeom>
        </p:spPr>
        <p:txBody>
          <a:bodyPr wrap="square" lIns="0" tIns="13335" rIns="0" bIns="0" rtlCol="0" vert="horz">
            <a:spAutoFit/>
          </a:bodyPr>
          <a:lstStyle/>
          <a:p>
            <a:pPr marL="355600" indent="-343535">
              <a:lnSpc>
                <a:spcPct val="100000"/>
              </a:lnSpc>
              <a:spcBef>
                <a:spcPts val="105"/>
              </a:spcBef>
              <a:buFont typeface="Arial"/>
              <a:buChar char="•"/>
              <a:tabLst>
                <a:tab pos="355600" algn="l"/>
                <a:tab pos="356235" algn="l"/>
              </a:tabLst>
            </a:pPr>
            <a:r>
              <a:rPr dirty="0" sz="2600">
                <a:latin typeface="宋体"/>
                <a:cs typeface="宋体"/>
              </a:rPr>
              <a:t>对“新的销售订单系</a:t>
            </a:r>
            <a:r>
              <a:rPr dirty="0" sz="2600" spc="5">
                <a:latin typeface="宋体"/>
                <a:cs typeface="宋体"/>
              </a:rPr>
              <a:t>统</a:t>
            </a:r>
            <a:r>
              <a:rPr dirty="0" sz="2600" spc="-10">
                <a:latin typeface="宋体"/>
                <a:cs typeface="宋体"/>
              </a:rPr>
              <a:t>”</a:t>
            </a:r>
            <a:r>
              <a:rPr dirty="0" sz="2600">
                <a:latin typeface="宋体"/>
                <a:cs typeface="宋体"/>
              </a:rPr>
              <a:t>的约束</a:t>
            </a:r>
            <a:endParaRPr sz="2600">
              <a:latin typeface="宋体"/>
              <a:cs typeface="宋体"/>
            </a:endParaRPr>
          </a:p>
        </p:txBody>
      </p:sp>
      <p:graphicFrame>
        <p:nvGraphicFramePr>
          <p:cNvPr id="4" name="object 4"/>
          <p:cNvGraphicFramePr>
            <a:graphicFrameLocks noGrp="1"/>
          </p:cNvGraphicFramePr>
          <p:nvPr/>
        </p:nvGraphicFramePr>
        <p:xfrm>
          <a:off x="290512" y="2347912"/>
          <a:ext cx="8729980" cy="3767454"/>
        </p:xfrm>
        <a:graphic>
          <a:graphicData uri="http://schemas.openxmlformats.org/drawingml/2006/table">
            <a:tbl>
              <a:tblPr firstRow="1" bandRow="1">
                <a:tableStyleId>{2D5ABB26-0587-4C30-8999-92F81FD0307C}</a:tableStyleId>
              </a:tblPr>
              <a:tblGrid>
                <a:gridCol w="1343025"/>
                <a:gridCol w="4127500"/>
                <a:gridCol w="3215640"/>
              </a:tblGrid>
              <a:tr h="609600">
                <a:tc>
                  <a:txBody>
                    <a:bodyPr/>
                    <a:lstStyle/>
                    <a:p>
                      <a:pPr marL="90805">
                        <a:lnSpc>
                          <a:spcPct val="100000"/>
                        </a:lnSpc>
                        <a:spcBef>
                          <a:spcPts val="325"/>
                        </a:spcBef>
                      </a:pPr>
                      <a:r>
                        <a:rPr dirty="0" sz="2200" spc="-5">
                          <a:latin typeface="宋体"/>
                          <a:cs typeface="宋体"/>
                        </a:rPr>
                        <a:t>约束源</a:t>
                      </a:r>
                      <a:endParaRPr sz="2200">
                        <a:latin typeface="宋体"/>
                        <a:cs typeface="宋体"/>
                      </a:endParaRPr>
                    </a:p>
                  </a:txBody>
                  <a:tcPr marL="0" marR="0" marB="0" marT="41275">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1440">
                        <a:lnSpc>
                          <a:spcPct val="100000"/>
                        </a:lnSpc>
                        <a:spcBef>
                          <a:spcPts val="325"/>
                        </a:spcBef>
                      </a:pPr>
                      <a:r>
                        <a:rPr dirty="0" sz="2200" spc="-5">
                          <a:latin typeface="宋体"/>
                          <a:cs typeface="宋体"/>
                        </a:rPr>
                        <a:t>约束</a:t>
                      </a:r>
                      <a:endParaRPr sz="2200">
                        <a:latin typeface="宋体"/>
                        <a:cs typeface="宋体"/>
                      </a:endParaRPr>
                    </a:p>
                  </a:txBody>
                  <a:tcPr marL="0" marR="0" marB="0" marT="41275">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tcPr>
                </a:tc>
                <a:tc>
                  <a:txBody>
                    <a:bodyPr/>
                    <a:lstStyle/>
                    <a:p>
                      <a:pPr marL="92075">
                        <a:lnSpc>
                          <a:spcPct val="100000"/>
                        </a:lnSpc>
                        <a:spcBef>
                          <a:spcPts val="325"/>
                        </a:spcBef>
                      </a:pPr>
                      <a:r>
                        <a:rPr dirty="0" sz="2200" spc="-5">
                          <a:latin typeface="宋体"/>
                          <a:cs typeface="宋体"/>
                        </a:rPr>
                        <a:t>理由</a:t>
                      </a:r>
                      <a:endParaRPr sz="2200">
                        <a:latin typeface="宋体"/>
                        <a:cs typeface="宋体"/>
                      </a:endParaRPr>
                    </a:p>
                  </a:txBody>
                  <a:tcPr marL="0" marR="0" marB="0" marT="41275">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tcPr>
                </a:tc>
              </a:tr>
              <a:tr h="1097280">
                <a:tc>
                  <a:txBody>
                    <a:bodyPr/>
                    <a:lstStyle/>
                    <a:p>
                      <a:pPr marL="90805">
                        <a:lnSpc>
                          <a:spcPct val="100000"/>
                        </a:lnSpc>
                        <a:spcBef>
                          <a:spcPts val="325"/>
                        </a:spcBef>
                      </a:pPr>
                      <a:r>
                        <a:rPr dirty="0" sz="2200" spc="-10">
                          <a:latin typeface="宋体"/>
                          <a:cs typeface="宋体"/>
                        </a:rPr>
                        <a:t>技术</a:t>
                      </a:r>
                      <a:endParaRPr sz="2200">
                        <a:latin typeface="宋体"/>
                        <a:cs typeface="宋体"/>
                      </a:endParaRPr>
                    </a:p>
                  </a:txBody>
                  <a:tcPr marL="0" marR="0" marB="0" marT="41275">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a:lnSpc>
                          <a:spcPct val="100000"/>
                        </a:lnSpc>
                        <a:spcBef>
                          <a:spcPts val="325"/>
                        </a:spcBef>
                      </a:pPr>
                      <a:r>
                        <a:rPr dirty="0" sz="2200" spc="-10">
                          <a:latin typeface="宋体"/>
                          <a:cs typeface="宋体"/>
                        </a:rPr>
                        <a:t>使用</a:t>
                      </a:r>
                      <a:r>
                        <a:rPr dirty="0" sz="2200" spc="-5">
                          <a:latin typeface="Arial"/>
                          <a:cs typeface="Arial"/>
                        </a:rPr>
                        <a:t>J2EE</a:t>
                      </a:r>
                      <a:r>
                        <a:rPr dirty="0" sz="2200" spc="-10">
                          <a:latin typeface="宋体"/>
                          <a:cs typeface="宋体"/>
                        </a:rPr>
                        <a:t>平台</a:t>
                      </a:r>
                      <a:endParaRPr sz="2200">
                        <a:latin typeface="宋体"/>
                        <a:cs typeface="宋体"/>
                      </a:endParaRPr>
                    </a:p>
                  </a:txBody>
                  <a:tcPr marL="0" marR="0" marB="0" marT="41275">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075" marR="216535">
                        <a:lnSpc>
                          <a:spcPct val="100000"/>
                        </a:lnSpc>
                        <a:spcBef>
                          <a:spcPts val="325"/>
                        </a:spcBef>
                      </a:pPr>
                      <a:r>
                        <a:rPr dirty="0" sz="2200" spc="-15">
                          <a:latin typeface="Arial"/>
                          <a:cs typeface="Arial"/>
                        </a:rPr>
                        <a:t>Web</a:t>
                      </a:r>
                      <a:r>
                        <a:rPr dirty="0" sz="2200" spc="-10">
                          <a:latin typeface="宋体"/>
                          <a:cs typeface="宋体"/>
                        </a:rPr>
                        <a:t>方式符合互联网发 </a:t>
                      </a:r>
                      <a:r>
                        <a:rPr dirty="0" sz="2200">
                          <a:latin typeface="宋体"/>
                          <a:cs typeface="宋体"/>
                        </a:rPr>
                        <a:t>展趋势，同时</a:t>
                      </a:r>
                      <a:r>
                        <a:rPr dirty="0" sz="2200">
                          <a:latin typeface="Arial"/>
                          <a:cs typeface="Arial"/>
                        </a:rPr>
                        <a:t>J</a:t>
                      </a:r>
                      <a:r>
                        <a:rPr dirty="0" sz="2200" spc="5">
                          <a:latin typeface="Arial"/>
                          <a:cs typeface="Arial"/>
                        </a:rPr>
                        <a:t>2</a:t>
                      </a:r>
                      <a:r>
                        <a:rPr dirty="0" sz="2200">
                          <a:latin typeface="Arial"/>
                          <a:cs typeface="Arial"/>
                        </a:rPr>
                        <a:t>EE</a:t>
                      </a:r>
                      <a:r>
                        <a:rPr dirty="0" sz="2200">
                          <a:latin typeface="宋体"/>
                          <a:cs typeface="宋体"/>
                        </a:rPr>
                        <a:t>的开 </a:t>
                      </a:r>
                      <a:r>
                        <a:rPr dirty="0" sz="2200" spc="-5">
                          <a:latin typeface="宋体"/>
                          <a:cs typeface="宋体"/>
                        </a:rPr>
                        <a:t>源性质可以降低成本</a:t>
                      </a:r>
                      <a:endParaRPr sz="2200">
                        <a:latin typeface="宋体"/>
                        <a:cs typeface="宋体"/>
                      </a:endParaRPr>
                    </a:p>
                  </a:txBody>
                  <a:tcPr marL="0" marR="0" marB="0" marT="41275">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tr>
              <a:tr h="1016000">
                <a:tc>
                  <a:txBody>
                    <a:bodyPr/>
                    <a:lstStyle/>
                    <a:p>
                      <a:pPr marL="90805">
                        <a:lnSpc>
                          <a:spcPct val="100000"/>
                        </a:lnSpc>
                        <a:spcBef>
                          <a:spcPts val="325"/>
                        </a:spcBef>
                      </a:pPr>
                      <a:r>
                        <a:rPr dirty="0" sz="2200" spc="-5">
                          <a:latin typeface="宋体"/>
                          <a:cs typeface="宋体"/>
                        </a:rPr>
                        <a:t>系统</a:t>
                      </a:r>
                      <a:endParaRPr sz="2200">
                        <a:latin typeface="宋体"/>
                        <a:cs typeface="宋体"/>
                      </a:endParaRPr>
                    </a:p>
                  </a:txBody>
                  <a:tcPr marL="0" marR="0" marB="0" marT="41275">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1440">
                        <a:lnSpc>
                          <a:spcPct val="100000"/>
                        </a:lnSpc>
                        <a:spcBef>
                          <a:spcPts val="325"/>
                        </a:spcBef>
                      </a:pPr>
                      <a:r>
                        <a:rPr dirty="0" sz="2200" spc="-5">
                          <a:latin typeface="宋体"/>
                          <a:cs typeface="宋体"/>
                        </a:rPr>
                        <a:t>使用</a:t>
                      </a:r>
                      <a:r>
                        <a:rPr dirty="0" sz="2200" spc="-10">
                          <a:latin typeface="Arial"/>
                          <a:cs typeface="Arial"/>
                        </a:rPr>
                        <a:t>MySQL</a:t>
                      </a:r>
                      <a:r>
                        <a:rPr dirty="0" sz="2200" spc="-5">
                          <a:latin typeface="宋体"/>
                          <a:cs typeface="宋体"/>
                        </a:rPr>
                        <a:t>数据库管理系统</a:t>
                      </a:r>
                      <a:endParaRPr sz="2200">
                        <a:latin typeface="宋体"/>
                        <a:cs typeface="宋体"/>
                      </a:endParaRPr>
                    </a:p>
                  </a:txBody>
                  <a:tcPr marL="0" marR="0" marB="0" marT="41275">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2075">
                        <a:lnSpc>
                          <a:spcPct val="100000"/>
                        </a:lnSpc>
                        <a:spcBef>
                          <a:spcPts val="325"/>
                        </a:spcBef>
                      </a:pPr>
                      <a:r>
                        <a:rPr dirty="0" sz="2200" spc="-5">
                          <a:latin typeface="宋体"/>
                          <a:cs typeface="宋体"/>
                        </a:rPr>
                        <a:t>降低成本</a:t>
                      </a:r>
                      <a:endParaRPr sz="2200">
                        <a:latin typeface="宋体"/>
                        <a:cs typeface="宋体"/>
                      </a:endParaRPr>
                    </a:p>
                  </a:txBody>
                  <a:tcPr marL="0" marR="0" marB="0" marT="41275">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1016000">
                <a:tc>
                  <a:txBody>
                    <a:bodyPr/>
                    <a:lstStyle/>
                    <a:p>
                      <a:pPr marL="90805">
                        <a:lnSpc>
                          <a:spcPct val="100000"/>
                        </a:lnSpc>
                        <a:spcBef>
                          <a:spcPts val="330"/>
                        </a:spcBef>
                      </a:pPr>
                      <a:r>
                        <a:rPr dirty="0" sz="2200" spc="-5">
                          <a:latin typeface="宋体"/>
                          <a:cs typeface="宋体"/>
                        </a:rPr>
                        <a:t>行政</a:t>
                      </a:r>
                      <a:endParaRPr sz="2200">
                        <a:latin typeface="宋体"/>
                        <a:cs typeface="宋体"/>
                      </a:endParaRPr>
                    </a:p>
                  </a:txBody>
                  <a:tcPr marL="0" marR="0" marB="0" marT="4191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1440">
                        <a:lnSpc>
                          <a:spcPts val="2585"/>
                        </a:lnSpc>
                        <a:spcBef>
                          <a:spcPts val="434"/>
                        </a:spcBef>
                      </a:pPr>
                      <a:r>
                        <a:rPr dirty="0" sz="2200" spc="-5">
                          <a:latin typeface="宋体"/>
                          <a:cs typeface="宋体"/>
                        </a:rPr>
                        <a:t>不同连锁店之间的积压商品流转</a:t>
                      </a:r>
                      <a:endParaRPr sz="2200">
                        <a:latin typeface="宋体"/>
                        <a:cs typeface="宋体"/>
                      </a:endParaRPr>
                    </a:p>
                    <a:p>
                      <a:pPr marL="91440">
                        <a:lnSpc>
                          <a:spcPts val="2585"/>
                        </a:lnSpc>
                      </a:pPr>
                      <a:r>
                        <a:rPr dirty="0" sz="2200" spc="-10">
                          <a:latin typeface="宋体"/>
                          <a:cs typeface="宋体"/>
                        </a:rPr>
                        <a:t>由各自的业务经理自行决定</a:t>
                      </a:r>
                      <a:endParaRPr sz="2200">
                        <a:latin typeface="宋体"/>
                        <a:cs typeface="宋体"/>
                      </a:endParaRPr>
                    </a:p>
                  </a:txBody>
                  <a:tcPr marL="0" marR="0" marB="0" marT="55244">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2075">
                        <a:lnSpc>
                          <a:spcPts val="2585"/>
                        </a:lnSpc>
                        <a:spcBef>
                          <a:spcPts val="434"/>
                        </a:spcBef>
                      </a:pPr>
                      <a:r>
                        <a:rPr dirty="0" sz="2200" spc="-5">
                          <a:latin typeface="宋体"/>
                          <a:cs typeface="宋体"/>
                        </a:rPr>
                        <a:t>利于不同连锁店之间的</a:t>
                      </a:r>
                      <a:endParaRPr sz="2200">
                        <a:latin typeface="宋体"/>
                        <a:cs typeface="宋体"/>
                      </a:endParaRPr>
                    </a:p>
                    <a:p>
                      <a:pPr marL="92075">
                        <a:lnSpc>
                          <a:spcPts val="2585"/>
                        </a:lnSpc>
                      </a:pPr>
                      <a:r>
                        <a:rPr dirty="0" sz="2200" spc="-10">
                          <a:latin typeface="宋体"/>
                          <a:cs typeface="宋体"/>
                        </a:rPr>
                        <a:t>工作协调</a:t>
                      </a:r>
                      <a:endParaRPr sz="2200">
                        <a:latin typeface="宋体"/>
                        <a:cs typeface="宋体"/>
                      </a:endParaRPr>
                    </a:p>
                  </a:txBody>
                  <a:tcPr marL="0" marR="0" marB="0" marT="55244">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0429" y="472566"/>
            <a:ext cx="2263140" cy="696595"/>
          </a:xfrm>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7562"/>
            <a:ext cx="5619115" cy="236791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确定项目前景和范围</a:t>
            </a:r>
            <a:r>
              <a:rPr dirty="0" sz="3200" spc="-15">
                <a:latin typeface="宋体"/>
                <a:cs typeface="宋体"/>
              </a:rPr>
              <a:t>的</a:t>
            </a:r>
            <a:r>
              <a:rPr dirty="0" sz="3200">
                <a:latin typeface="宋体"/>
                <a:cs typeface="宋体"/>
              </a:rPr>
              <a:t>活动</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问题分析</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B2408"/>
                </a:solidFill>
                <a:latin typeface="宋体"/>
                <a:cs typeface="宋体"/>
              </a:rPr>
              <a:t>建立系统边界</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项目前景和范围文档</a:t>
            </a:r>
            <a:endParaRPr sz="3200">
              <a:latin typeface="宋体"/>
              <a:cs typeface="宋体"/>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3060" y="212597"/>
            <a:ext cx="435737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2.3.</a:t>
            </a:r>
            <a:r>
              <a:rPr dirty="0" spc="-70">
                <a:latin typeface="Calibri"/>
                <a:cs typeface="Calibri"/>
              </a:rPr>
              <a:t> </a:t>
            </a:r>
            <a:r>
              <a:rPr dirty="0"/>
              <a:t>建立系统边界</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427810"/>
            <a:ext cx="7973059" cy="4105910"/>
          </a:xfrm>
          <a:prstGeom prst="rect">
            <a:avLst/>
          </a:prstGeom>
        </p:spPr>
        <p:txBody>
          <a:bodyPr wrap="square" lIns="0" tIns="25400" rIns="0" bIns="0" rtlCol="0" vert="horz">
            <a:spAutoFit/>
          </a:bodyPr>
          <a:lstStyle/>
          <a:p>
            <a:pPr algn="just" marL="355600" marR="5080" indent="-343535">
              <a:lnSpc>
                <a:spcPct val="97000"/>
              </a:lnSpc>
              <a:spcBef>
                <a:spcPts val="200"/>
              </a:spcBef>
              <a:buClr>
                <a:srgbClr val="00663B"/>
              </a:buClr>
              <a:buSzPct val="78846"/>
              <a:buFont typeface="Wingdings"/>
              <a:buChar char=""/>
              <a:tabLst>
                <a:tab pos="356235" algn="l"/>
              </a:tabLst>
            </a:pPr>
            <a:r>
              <a:rPr dirty="0" sz="2600" b="1">
                <a:solidFill>
                  <a:srgbClr val="FF0000"/>
                </a:solidFill>
                <a:latin typeface="宋体"/>
                <a:cs typeface="宋体"/>
              </a:rPr>
              <a:t>挑战：</a:t>
            </a:r>
            <a:r>
              <a:rPr dirty="0" sz="2600">
                <a:latin typeface="宋体"/>
                <a:cs typeface="宋体"/>
              </a:rPr>
              <a:t>随着问题数量的</a:t>
            </a:r>
            <a:r>
              <a:rPr dirty="0" sz="2600" spc="-15">
                <a:latin typeface="宋体"/>
                <a:cs typeface="宋体"/>
              </a:rPr>
              <a:t>增</a:t>
            </a:r>
            <a:r>
              <a:rPr dirty="0" sz="2600">
                <a:latin typeface="宋体"/>
                <a:cs typeface="宋体"/>
              </a:rPr>
              <a:t>加，</a:t>
            </a:r>
            <a:r>
              <a:rPr dirty="0" sz="2600" spc="-15">
                <a:latin typeface="宋体"/>
                <a:cs typeface="宋体"/>
              </a:rPr>
              <a:t>系</a:t>
            </a:r>
            <a:r>
              <a:rPr dirty="0" sz="2600">
                <a:latin typeface="宋体"/>
                <a:cs typeface="宋体"/>
              </a:rPr>
              <a:t>统的</a:t>
            </a:r>
            <a:r>
              <a:rPr dirty="0" sz="2600" spc="-15">
                <a:latin typeface="宋体"/>
                <a:cs typeface="宋体"/>
              </a:rPr>
              <a:t>问</a:t>
            </a:r>
            <a:r>
              <a:rPr dirty="0" sz="2600">
                <a:latin typeface="宋体"/>
                <a:cs typeface="宋体"/>
              </a:rPr>
              <a:t>题解</a:t>
            </a:r>
            <a:r>
              <a:rPr dirty="0" sz="2600" spc="-15">
                <a:latin typeface="宋体"/>
                <a:cs typeface="宋体"/>
              </a:rPr>
              <a:t>决</a:t>
            </a:r>
            <a:r>
              <a:rPr dirty="0" sz="2600">
                <a:latin typeface="宋体"/>
                <a:cs typeface="宋体"/>
              </a:rPr>
              <a:t>方案的 </a:t>
            </a:r>
            <a:r>
              <a:rPr dirty="0" sz="2600">
                <a:latin typeface="宋体"/>
                <a:cs typeface="宋体"/>
              </a:rPr>
              <a:t>复杂性也会增加，这就</a:t>
            </a:r>
            <a:r>
              <a:rPr dirty="0" sz="2600" spc="-15">
                <a:latin typeface="宋体"/>
                <a:cs typeface="宋体"/>
              </a:rPr>
              <a:t>需</a:t>
            </a:r>
            <a:r>
              <a:rPr dirty="0" sz="2600">
                <a:latin typeface="宋体"/>
                <a:cs typeface="宋体"/>
              </a:rPr>
              <a:t>要讲</a:t>
            </a:r>
            <a:r>
              <a:rPr dirty="0" sz="2600" spc="-15">
                <a:latin typeface="宋体"/>
                <a:cs typeface="宋体"/>
              </a:rPr>
              <a:t>各</a:t>
            </a:r>
            <a:r>
              <a:rPr dirty="0" sz="2600">
                <a:latin typeface="宋体"/>
                <a:cs typeface="宋体"/>
              </a:rPr>
              <a:t>个分</a:t>
            </a:r>
            <a:r>
              <a:rPr dirty="0" sz="2600" spc="-15">
                <a:latin typeface="宋体"/>
                <a:cs typeface="宋体"/>
              </a:rPr>
              <a:t>散</a:t>
            </a:r>
            <a:r>
              <a:rPr dirty="0" sz="2600">
                <a:latin typeface="宋体"/>
                <a:cs typeface="宋体"/>
              </a:rPr>
              <a:t>的问</a:t>
            </a:r>
            <a:r>
              <a:rPr dirty="0" sz="2600" spc="-15">
                <a:latin typeface="宋体"/>
                <a:cs typeface="宋体"/>
              </a:rPr>
              <a:t>题</a:t>
            </a:r>
            <a:r>
              <a:rPr dirty="0" sz="2600">
                <a:latin typeface="宋体"/>
                <a:cs typeface="宋体"/>
              </a:rPr>
              <a:t>解决方 案整合起来，建立解系</a:t>
            </a:r>
            <a:r>
              <a:rPr dirty="0" sz="2600" spc="-15">
                <a:latin typeface="宋体"/>
                <a:cs typeface="宋体"/>
              </a:rPr>
              <a:t>统</a:t>
            </a:r>
            <a:r>
              <a:rPr dirty="0" sz="2600">
                <a:latin typeface="宋体"/>
                <a:cs typeface="宋体"/>
              </a:rPr>
              <a:t>的整</a:t>
            </a:r>
            <a:r>
              <a:rPr dirty="0" sz="2600" spc="-15">
                <a:latin typeface="宋体"/>
                <a:cs typeface="宋体"/>
              </a:rPr>
              <a:t>体</a:t>
            </a:r>
            <a:r>
              <a:rPr dirty="0" sz="2600">
                <a:latin typeface="宋体"/>
                <a:cs typeface="宋体"/>
              </a:rPr>
              <a:t>解决</a:t>
            </a:r>
            <a:r>
              <a:rPr dirty="0" sz="2600" spc="-15">
                <a:latin typeface="宋体"/>
                <a:cs typeface="宋体"/>
              </a:rPr>
              <a:t>方</a:t>
            </a:r>
            <a:r>
              <a:rPr dirty="0" sz="2600">
                <a:latin typeface="宋体"/>
                <a:cs typeface="宋体"/>
              </a:rPr>
              <a:t>案</a:t>
            </a:r>
            <a:endParaRPr sz="2600">
              <a:latin typeface="宋体"/>
              <a:cs typeface="宋体"/>
            </a:endParaRPr>
          </a:p>
          <a:p>
            <a:pPr algn="just" lvl="1" marL="756285" indent="-287020">
              <a:lnSpc>
                <a:spcPct val="100000"/>
              </a:lnSpc>
              <a:spcBef>
                <a:spcPts val="545"/>
              </a:spcBef>
              <a:buClr>
                <a:srgbClr val="C00000"/>
              </a:buClr>
              <a:buSzPct val="59090"/>
              <a:buFont typeface="Wingdings"/>
              <a:buChar char=""/>
              <a:tabLst>
                <a:tab pos="756920" algn="l"/>
              </a:tabLst>
            </a:pPr>
            <a:r>
              <a:rPr dirty="0" sz="2200" spc="-5">
                <a:latin typeface="宋体"/>
                <a:cs typeface="宋体"/>
              </a:rPr>
              <a:t>可以从总体上来理解系统中的业务</a:t>
            </a:r>
            <a:r>
              <a:rPr dirty="0" sz="2200">
                <a:latin typeface="宋体"/>
                <a:cs typeface="宋体"/>
              </a:rPr>
              <a:t>静</a:t>
            </a:r>
            <a:r>
              <a:rPr dirty="0" sz="2200" spc="-5">
                <a:latin typeface="宋体"/>
                <a:cs typeface="宋体"/>
              </a:rPr>
              <a:t>态结</a:t>
            </a:r>
            <a:r>
              <a:rPr dirty="0" sz="2200">
                <a:latin typeface="宋体"/>
                <a:cs typeface="宋体"/>
              </a:rPr>
              <a:t>构</a:t>
            </a:r>
            <a:r>
              <a:rPr dirty="0" sz="2200" spc="-5">
                <a:latin typeface="宋体"/>
                <a:cs typeface="宋体"/>
              </a:rPr>
              <a:t>和动</a:t>
            </a:r>
            <a:r>
              <a:rPr dirty="0" sz="2200">
                <a:latin typeface="宋体"/>
                <a:cs typeface="宋体"/>
              </a:rPr>
              <a:t>态</a:t>
            </a:r>
            <a:r>
              <a:rPr dirty="0" sz="2200" spc="-5">
                <a:latin typeface="宋体"/>
                <a:cs typeface="宋体"/>
              </a:rPr>
              <a:t>行为</a:t>
            </a:r>
            <a:endParaRPr sz="2200">
              <a:latin typeface="宋体"/>
              <a:cs typeface="宋体"/>
            </a:endParaRPr>
          </a:p>
          <a:p>
            <a:pPr algn="just" lvl="1" marL="756285" indent="-287020">
              <a:lnSpc>
                <a:spcPct val="100000"/>
              </a:lnSpc>
              <a:spcBef>
                <a:spcPts val="525"/>
              </a:spcBef>
              <a:buClr>
                <a:srgbClr val="C00000"/>
              </a:buClr>
              <a:buSzPct val="59090"/>
              <a:buFont typeface="Wingdings"/>
              <a:buChar char=""/>
              <a:tabLst>
                <a:tab pos="756920" algn="l"/>
              </a:tabLst>
            </a:pPr>
            <a:r>
              <a:rPr dirty="0" sz="2200" spc="-10">
                <a:latin typeface="宋体"/>
                <a:cs typeface="宋体"/>
              </a:rPr>
              <a:t>确保不同问题的涉众在系统总体上</a:t>
            </a:r>
            <a:r>
              <a:rPr dirty="0" sz="2200">
                <a:latin typeface="宋体"/>
                <a:cs typeface="宋体"/>
              </a:rPr>
              <a:t>也</a:t>
            </a:r>
            <a:r>
              <a:rPr dirty="0" sz="2200" spc="-10">
                <a:latin typeface="宋体"/>
                <a:cs typeface="宋体"/>
              </a:rPr>
              <a:t>能达</a:t>
            </a:r>
            <a:r>
              <a:rPr dirty="0" sz="2200">
                <a:latin typeface="宋体"/>
                <a:cs typeface="宋体"/>
              </a:rPr>
              <a:t>成</a:t>
            </a:r>
            <a:r>
              <a:rPr dirty="0" sz="2200" spc="-10">
                <a:latin typeface="宋体"/>
                <a:cs typeface="宋体"/>
              </a:rPr>
              <a:t>一致</a:t>
            </a:r>
            <a:endParaRPr sz="2200">
              <a:latin typeface="宋体"/>
              <a:cs typeface="宋体"/>
            </a:endParaRPr>
          </a:p>
          <a:p>
            <a:pPr algn="just" lvl="2" marL="1155700" indent="-229235">
              <a:lnSpc>
                <a:spcPct val="100000"/>
              </a:lnSpc>
              <a:spcBef>
                <a:spcPts val="490"/>
              </a:spcBef>
              <a:buFont typeface="Arial"/>
              <a:buChar char="•"/>
              <a:tabLst>
                <a:tab pos="1156335" algn="l"/>
              </a:tabLst>
            </a:pPr>
            <a:r>
              <a:rPr dirty="0" sz="2000">
                <a:latin typeface="宋体"/>
                <a:cs typeface="宋体"/>
              </a:rPr>
              <a:t>问题分析仅仅是确保了</a:t>
            </a:r>
            <a:r>
              <a:rPr dirty="0" sz="2000" spc="-15">
                <a:latin typeface="宋体"/>
                <a:cs typeface="宋体"/>
              </a:rPr>
              <a:t>涉</a:t>
            </a:r>
            <a:r>
              <a:rPr dirty="0" sz="2000">
                <a:latin typeface="宋体"/>
                <a:cs typeface="宋体"/>
              </a:rPr>
              <a:t>众在</a:t>
            </a:r>
            <a:r>
              <a:rPr dirty="0" sz="2000" spc="-15">
                <a:latin typeface="宋体"/>
                <a:cs typeface="宋体"/>
              </a:rPr>
              <a:t>具</a:t>
            </a:r>
            <a:r>
              <a:rPr dirty="0" sz="2000">
                <a:latin typeface="宋体"/>
                <a:cs typeface="宋体"/>
              </a:rPr>
              <a:t>体问</a:t>
            </a:r>
            <a:r>
              <a:rPr dirty="0" sz="2000" spc="-15">
                <a:latin typeface="宋体"/>
                <a:cs typeface="宋体"/>
              </a:rPr>
              <a:t>题</a:t>
            </a:r>
            <a:r>
              <a:rPr dirty="0" sz="2000">
                <a:latin typeface="宋体"/>
                <a:cs typeface="宋体"/>
              </a:rPr>
              <a:t>上达</a:t>
            </a:r>
            <a:r>
              <a:rPr dirty="0" sz="2000" spc="-15">
                <a:latin typeface="宋体"/>
                <a:cs typeface="宋体"/>
              </a:rPr>
              <a:t>成</a:t>
            </a:r>
            <a:r>
              <a:rPr dirty="0" sz="2000">
                <a:latin typeface="宋体"/>
                <a:cs typeface="宋体"/>
              </a:rPr>
              <a:t>一致</a:t>
            </a:r>
            <a:endParaRPr sz="2000">
              <a:latin typeface="宋体"/>
              <a:cs typeface="宋体"/>
            </a:endParaRPr>
          </a:p>
          <a:p>
            <a:pPr algn="just" marL="355600" marR="7620" indent="-343535">
              <a:lnSpc>
                <a:spcPts val="2930"/>
              </a:lnSpc>
              <a:spcBef>
                <a:spcPts val="1050"/>
              </a:spcBef>
              <a:buClr>
                <a:srgbClr val="00663B"/>
              </a:buClr>
              <a:buSzPct val="78846"/>
              <a:buFont typeface="Wingdings"/>
              <a:buChar char=""/>
              <a:tabLst>
                <a:tab pos="356235" algn="l"/>
              </a:tabLst>
            </a:pPr>
            <a:r>
              <a:rPr dirty="0" sz="2600">
                <a:latin typeface="宋体"/>
                <a:cs typeface="宋体"/>
              </a:rPr>
              <a:t>将</a:t>
            </a:r>
            <a:r>
              <a:rPr dirty="0" sz="2600">
                <a:solidFill>
                  <a:srgbClr val="00A15F"/>
                </a:solidFill>
                <a:latin typeface="宋体"/>
                <a:cs typeface="宋体"/>
              </a:rPr>
              <a:t>所有问</a:t>
            </a:r>
            <a:r>
              <a:rPr dirty="0" sz="2600" spc="-5">
                <a:solidFill>
                  <a:srgbClr val="00A15F"/>
                </a:solidFill>
                <a:latin typeface="宋体"/>
                <a:cs typeface="宋体"/>
              </a:rPr>
              <a:t>题</a:t>
            </a:r>
            <a:r>
              <a:rPr dirty="0" sz="2600">
                <a:latin typeface="宋体"/>
                <a:cs typeface="宋体"/>
              </a:rPr>
              <a:t>的解决</a:t>
            </a:r>
            <a:r>
              <a:rPr dirty="0" sz="2600" spc="5">
                <a:latin typeface="宋体"/>
                <a:cs typeface="宋体"/>
              </a:rPr>
              <a:t>方</a:t>
            </a:r>
            <a:r>
              <a:rPr dirty="0" sz="2600">
                <a:latin typeface="宋体"/>
                <a:cs typeface="宋体"/>
              </a:rPr>
              <a:t>案进行综</a:t>
            </a:r>
            <a:r>
              <a:rPr dirty="0" sz="2600" spc="-15">
                <a:latin typeface="宋体"/>
                <a:cs typeface="宋体"/>
              </a:rPr>
              <a:t>合</a:t>
            </a:r>
            <a:r>
              <a:rPr dirty="0" sz="2600">
                <a:latin typeface="宋体"/>
                <a:cs typeface="宋体"/>
              </a:rPr>
              <a:t>，就可以得</a:t>
            </a:r>
            <a:r>
              <a:rPr dirty="0" sz="2600" spc="-35">
                <a:latin typeface="宋体"/>
                <a:cs typeface="宋体"/>
              </a:rPr>
              <a:t>到</a:t>
            </a:r>
            <a:r>
              <a:rPr dirty="0" sz="2600">
                <a:solidFill>
                  <a:srgbClr val="00A15F"/>
                </a:solidFill>
                <a:latin typeface="宋体"/>
                <a:cs typeface="宋体"/>
              </a:rPr>
              <a:t>整个解 系</a:t>
            </a:r>
            <a:r>
              <a:rPr dirty="0" sz="2600" spc="-5">
                <a:solidFill>
                  <a:srgbClr val="00A15F"/>
                </a:solidFill>
                <a:latin typeface="宋体"/>
                <a:cs typeface="宋体"/>
              </a:rPr>
              <a:t>统</a:t>
            </a:r>
            <a:r>
              <a:rPr dirty="0" sz="2600">
                <a:latin typeface="宋体"/>
                <a:cs typeface="宋体"/>
              </a:rPr>
              <a:t>的功能和边界</a:t>
            </a:r>
            <a:endParaRPr sz="2600">
              <a:latin typeface="宋体"/>
              <a:cs typeface="宋体"/>
            </a:endParaRPr>
          </a:p>
          <a:p>
            <a:pPr algn="just" marL="355600" marR="7620" indent="-343535">
              <a:lnSpc>
                <a:spcPts val="2930"/>
              </a:lnSpc>
              <a:spcBef>
                <a:spcPts val="1005"/>
              </a:spcBef>
              <a:buClr>
                <a:srgbClr val="00663B"/>
              </a:buClr>
              <a:buSzPct val="78846"/>
              <a:buFont typeface="Wingdings"/>
              <a:buChar char=""/>
              <a:tabLst>
                <a:tab pos="356235" algn="l"/>
              </a:tabLst>
            </a:pPr>
            <a:r>
              <a:rPr dirty="0" sz="2600">
                <a:latin typeface="宋体"/>
                <a:cs typeface="宋体"/>
              </a:rPr>
              <a:t>系统边界的常用技术描</a:t>
            </a:r>
            <a:r>
              <a:rPr dirty="0" sz="2600" spc="-15">
                <a:latin typeface="宋体"/>
                <a:cs typeface="宋体"/>
              </a:rPr>
              <a:t>述</a:t>
            </a:r>
            <a:r>
              <a:rPr dirty="0" sz="2600">
                <a:latin typeface="宋体"/>
                <a:cs typeface="宋体"/>
              </a:rPr>
              <a:t>手段</a:t>
            </a:r>
            <a:r>
              <a:rPr dirty="0" sz="2600" spc="-10">
                <a:latin typeface="宋体"/>
                <a:cs typeface="宋体"/>
              </a:rPr>
              <a:t>是</a:t>
            </a:r>
            <a:r>
              <a:rPr dirty="0" sz="2600">
                <a:solidFill>
                  <a:srgbClr val="00A15F"/>
                </a:solidFill>
                <a:latin typeface="宋体"/>
                <a:cs typeface="宋体"/>
              </a:rPr>
              <a:t>系统</a:t>
            </a:r>
            <a:r>
              <a:rPr dirty="0" sz="2600" spc="-15">
                <a:solidFill>
                  <a:srgbClr val="00A15F"/>
                </a:solidFill>
                <a:latin typeface="宋体"/>
                <a:cs typeface="宋体"/>
              </a:rPr>
              <a:t>用</a:t>
            </a:r>
            <a:r>
              <a:rPr dirty="0" sz="2600">
                <a:solidFill>
                  <a:srgbClr val="00A15F"/>
                </a:solidFill>
                <a:latin typeface="宋体"/>
                <a:cs typeface="宋体"/>
              </a:rPr>
              <a:t>例图</a:t>
            </a:r>
            <a:r>
              <a:rPr dirty="0" sz="2600" spc="-15">
                <a:latin typeface="宋体"/>
                <a:cs typeface="宋体"/>
              </a:rPr>
              <a:t>和</a:t>
            </a:r>
            <a:r>
              <a:rPr dirty="0" sz="2600">
                <a:solidFill>
                  <a:srgbClr val="00A15F"/>
                </a:solidFill>
                <a:latin typeface="宋体"/>
                <a:cs typeface="宋体"/>
              </a:rPr>
              <a:t>上下文 图</a:t>
            </a:r>
            <a:endParaRPr sz="2600">
              <a:latin typeface="宋体"/>
              <a:cs typeface="宋体"/>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9098" y="121157"/>
            <a:ext cx="4527550"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2.3.</a:t>
            </a:r>
            <a:r>
              <a:rPr dirty="0" sz="3800" spc="-15">
                <a:latin typeface="Calibri"/>
                <a:cs typeface="Calibri"/>
              </a:rPr>
              <a:t> </a:t>
            </a:r>
            <a:r>
              <a:rPr dirty="0" sz="3800"/>
              <a:t>建立系统边界</a:t>
            </a:r>
            <a:endParaRPr sz="3800">
              <a:latin typeface="Calibri"/>
              <a:cs typeface="Calibri"/>
            </a:endParaRPr>
          </a:p>
          <a:p>
            <a:pPr marL="166370">
              <a:lnSpc>
                <a:spcPct val="100000"/>
              </a:lnSpc>
              <a:spcBef>
                <a:spcPts val="5"/>
              </a:spcBef>
            </a:pPr>
            <a:r>
              <a:rPr dirty="0" sz="3800">
                <a:latin typeface="Arial"/>
                <a:cs typeface="Arial"/>
              </a:rPr>
              <a:t>——</a:t>
            </a:r>
            <a:r>
              <a:rPr dirty="0" sz="3800"/>
              <a:t>系统用例图示例</a:t>
            </a:r>
            <a:endParaRPr sz="3800">
              <a:latin typeface="Arial"/>
              <a:cs typeface="Arial"/>
            </a:endParaRPr>
          </a:p>
        </p:txBody>
      </p:sp>
      <p:sp>
        <p:nvSpPr>
          <p:cNvPr id="3" name="object 3"/>
          <p:cNvSpPr/>
          <p:nvPr/>
        </p:nvSpPr>
        <p:spPr>
          <a:xfrm>
            <a:off x="1761707" y="2956917"/>
            <a:ext cx="249554" cy="247650"/>
          </a:xfrm>
          <a:custGeom>
            <a:avLst/>
            <a:gdLst/>
            <a:ahLst/>
            <a:cxnLst/>
            <a:rect l="l" t="t" r="r" b="b"/>
            <a:pathLst>
              <a:path w="249555" h="247650">
                <a:moveTo>
                  <a:pt x="0" y="123645"/>
                </a:moveTo>
                <a:lnTo>
                  <a:pt x="9804" y="75539"/>
                </a:lnTo>
                <a:lnTo>
                  <a:pt x="36540" y="36235"/>
                </a:lnTo>
                <a:lnTo>
                  <a:pt x="76195" y="9724"/>
                </a:lnTo>
                <a:lnTo>
                  <a:pt x="124754" y="0"/>
                </a:lnTo>
                <a:lnTo>
                  <a:pt x="173314" y="9724"/>
                </a:lnTo>
                <a:lnTo>
                  <a:pt x="212969" y="36235"/>
                </a:lnTo>
                <a:lnTo>
                  <a:pt x="239705" y="75539"/>
                </a:lnTo>
                <a:lnTo>
                  <a:pt x="249509" y="123645"/>
                </a:lnTo>
                <a:lnTo>
                  <a:pt x="239705" y="171876"/>
                </a:lnTo>
                <a:lnTo>
                  <a:pt x="212969" y="211245"/>
                </a:lnTo>
                <a:lnTo>
                  <a:pt x="173314" y="237780"/>
                </a:lnTo>
                <a:lnTo>
                  <a:pt x="124754" y="247507"/>
                </a:lnTo>
                <a:lnTo>
                  <a:pt x="76195" y="237780"/>
                </a:lnTo>
                <a:lnTo>
                  <a:pt x="36540" y="211245"/>
                </a:lnTo>
                <a:lnTo>
                  <a:pt x="9804" y="171876"/>
                </a:lnTo>
                <a:lnTo>
                  <a:pt x="0" y="123645"/>
                </a:lnTo>
                <a:close/>
              </a:path>
            </a:pathLst>
          </a:custGeom>
          <a:ln w="10431">
            <a:solidFill>
              <a:srgbClr val="000000"/>
            </a:solidFill>
          </a:ln>
        </p:spPr>
        <p:txBody>
          <a:bodyPr wrap="square" lIns="0" tIns="0" rIns="0" bIns="0" rtlCol="0"/>
          <a:lstStyle/>
          <a:p/>
        </p:txBody>
      </p:sp>
      <p:sp>
        <p:nvSpPr>
          <p:cNvPr id="4" name="object 4"/>
          <p:cNvSpPr/>
          <p:nvPr/>
        </p:nvSpPr>
        <p:spPr>
          <a:xfrm>
            <a:off x="1636940" y="3328070"/>
            <a:ext cx="499109" cy="0"/>
          </a:xfrm>
          <a:custGeom>
            <a:avLst/>
            <a:gdLst/>
            <a:ahLst/>
            <a:cxnLst/>
            <a:rect l="l" t="t" r="r" b="b"/>
            <a:pathLst>
              <a:path w="499110" h="0">
                <a:moveTo>
                  <a:pt x="0" y="0"/>
                </a:moveTo>
                <a:lnTo>
                  <a:pt x="499032" y="0"/>
                </a:lnTo>
              </a:path>
            </a:pathLst>
          </a:custGeom>
          <a:ln w="10430">
            <a:solidFill>
              <a:srgbClr val="000000"/>
            </a:solidFill>
          </a:ln>
        </p:spPr>
        <p:txBody>
          <a:bodyPr wrap="square" lIns="0" tIns="0" rIns="0" bIns="0" rtlCol="0"/>
          <a:lstStyle/>
          <a:p/>
        </p:txBody>
      </p:sp>
      <p:sp>
        <p:nvSpPr>
          <p:cNvPr id="5" name="object 5"/>
          <p:cNvSpPr/>
          <p:nvPr/>
        </p:nvSpPr>
        <p:spPr>
          <a:xfrm>
            <a:off x="1886462" y="3823086"/>
            <a:ext cx="249554" cy="495300"/>
          </a:xfrm>
          <a:custGeom>
            <a:avLst/>
            <a:gdLst/>
            <a:ahLst/>
            <a:cxnLst/>
            <a:rect l="l" t="t" r="r" b="b"/>
            <a:pathLst>
              <a:path w="249555" h="495300">
                <a:moveTo>
                  <a:pt x="0" y="0"/>
                </a:moveTo>
                <a:lnTo>
                  <a:pt x="249509" y="495080"/>
                </a:lnTo>
              </a:path>
            </a:pathLst>
          </a:custGeom>
          <a:ln w="10432">
            <a:solidFill>
              <a:srgbClr val="000000"/>
            </a:solidFill>
          </a:ln>
        </p:spPr>
        <p:txBody>
          <a:bodyPr wrap="square" lIns="0" tIns="0" rIns="0" bIns="0" rtlCol="0"/>
          <a:lstStyle/>
          <a:p/>
        </p:txBody>
      </p:sp>
      <p:sp>
        <p:nvSpPr>
          <p:cNvPr id="6" name="object 6"/>
          <p:cNvSpPr/>
          <p:nvPr/>
        </p:nvSpPr>
        <p:spPr>
          <a:xfrm>
            <a:off x="1636940" y="3204425"/>
            <a:ext cx="249554" cy="1113790"/>
          </a:xfrm>
          <a:custGeom>
            <a:avLst/>
            <a:gdLst/>
            <a:ahLst/>
            <a:cxnLst/>
            <a:rect l="l" t="t" r="r" b="b"/>
            <a:pathLst>
              <a:path w="249555" h="1113789">
                <a:moveTo>
                  <a:pt x="249522" y="0"/>
                </a:moveTo>
                <a:lnTo>
                  <a:pt x="249522" y="618661"/>
                </a:lnTo>
                <a:lnTo>
                  <a:pt x="0" y="1113741"/>
                </a:lnTo>
              </a:path>
            </a:pathLst>
          </a:custGeom>
          <a:ln w="10432">
            <a:solidFill>
              <a:srgbClr val="000000"/>
            </a:solidFill>
          </a:ln>
        </p:spPr>
        <p:txBody>
          <a:bodyPr wrap="square" lIns="0" tIns="0" rIns="0" bIns="0" rtlCol="0"/>
          <a:lstStyle/>
          <a:p/>
        </p:txBody>
      </p:sp>
      <p:sp>
        <p:nvSpPr>
          <p:cNvPr id="7" name="object 7"/>
          <p:cNvSpPr txBox="1"/>
          <p:nvPr/>
        </p:nvSpPr>
        <p:spPr>
          <a:xfrm>
            <a:off x="1656376" y="4389626"/>
            <a:ext cx="460375" cy="286385"/>
          </a:xfrm>
          <a:prstGeom prst="rect">
            <a:avLst/>
          </a:prstGeom>
        </p:spPr>
        <p:txBody>
          <a:bodyPr wrap="square" lIns="0" tIns="13970" rIns="0" bIns="0" rtlCol="0" vert="horz">
            <a:spAutoFit/>
          </a:bodyPr>
          <a:lstStyle/>
          <a:p>
            <a:pPr marL="12700">
              <a:lnSpc>
                <a:spcPct val="100000"/>
              </a:lnSpc>
              <a:spcBef>
                <a:spcPts val="110"/>
              </a:spcBef>
            </a:pPr>
            <a:r>
              <a:rPr dirty="0" sz="1700" spc="10">
                <a:latin typeface="宋体"/>
                <a:cs typeface="宋体"/>
              </a:rPr>
              <a:t>客户</a:t>
            </a:r>
            <a:endParaRPr sz="1700">
              <a:latin typeface="宋体"/>
              <a:cs typeface="宋体"/>
            </a:endParaRPr>
          </a:p>
        </p:txBody>
      </p:sp>
      <p:sp>
        <p:nvSpPr>
          <p:cNvPr id="8" name="object 8"/>
          <p:cNvSpPr/>
          <p:nvPr/>
        </p:nvSpPr>
        <p:spPr>
          <a:xfrm>
            <a:off x="3605602" y="2252421"/>
            <a:ext cx="1857375" cy="929005"/>
          </a:xfrm>
          <a:custGeom>
            <a:avLst/>
            <a:gdLst/>
            <a:ahLst/>
            <a:cxnLst/>
            <a:rect l="l" t="t" r="r" b="b"/>
            <a:pathLst>
              <a:path w="1857375" h="929005">
                <a:moveTo>
                  <a:pt x="0" y="464158"/>
                </a:moveTo>
                <a:lnTo>
                  <a:pt x="8475" y="401160"/>
                </a:lnTo>
                <a:lnTo>
                  <a:pt x="33164" y="340742"/>
                </a:lnTo>
                <a:lnTo>
                  <a:pt x="72962" y="283457"/>
                </a:lnTo>
                <a:lnTo>
                  <a:pt x="126763" y="229858"/>
                </a:lnTo>
                <a:lnTo>
                  <a:pt x="158569" y="204612"/>
                </a:lnTo>
                <a:lnTo>
                  <a:pt x="193461" y="180495"/>
                </a:lnTo>
                <a:lnTo>
                  <a:pt x="231300" y="157576"/>
                </a:lnTo>
                <a:lnTo>
                  <a:pt x="271950" y="135922"/>
                </a:lnTo>
                <a:lnTo>
                  <a:pt x="315271" y="115605"/>
                </a:lnTo>
                <a:lnTo>
                  <a:pt x="361125" y="96692"/>
                </a:lnTo>
                <a:lnTo>
                  <a:pt x="409375" y="79252"/>
                </a:lnTo>
                <a:lnTo>
                  <a:pt x="459881" y="63355"/>
                </a:lnTo>
                <a:lnTo>
                  <a:pt x="512506" y="49070"/>
                </a:lnTo>
                <a:lnTo>
                  <a:pt x="567112" y="36466"/>
                </a:lnTo>
                <a:lnTo>
                  <a:pt x="623560" y="25611"/>
                </a:lnTo>
                <a:lnTo>
                  <a:pt x="681712" y="16575"/>
                </a:lnTo>
                <a:lnTo>
                  <a:pt x="741430" y="9427"/>
                </a:lnTo>
                <a:lnTo>
                  <a:pt x="802576" y="4235"/>
                </a:lnTo>
                <a:lnTo>
                  <a:pt x="865011" y="1070"/>
                </a:lnTo>
                <a:lnTo>
                  <a:pt x="928598" y="0"/>
                </a:lnTo>
                <a:lnTo>
                  <a:pt x="992185" y="1070"/>
                </a:lnTo>
                <a:lnTo>
                  <a:pt x="1054622" y="4235"/>
                </a:lnTo>
                <a:lnTo>
                  <a:pt x="1115770" y="9427"/>
                </a:lnTo>
                <a:lnTo>
                  <a:pt x="1175491" y="16575"/>
                </a:lnTo>
                <a:lnTo>
                  <a:pt x="1233647" y="25611"/>
                </a:lnTo>
                <a:lnTo>
                  <a:pt x="1290100" y="36466"/>
                </a:lnTo>
                <a:lnTo>
                  <a:pt x="1344711" y="49070"/>
                </a:lnTo>
                <a:lnTo>
                  <a:pt x="1397342" y="63355"/>
                </a:lnTo>
                <a:lnTo>
                  <a:pt x="1447855" y="79252"/>
                </a:lnTo>
                <a:lnTo>
                  <a:pt x="1496111" y="96692"/>
                </a:lnTo>
                <a:lnTo>
                  <a:pt x="1541972" y="115605"/>
                </a:lnTo>
                <a:lnTo>
                  <a:pt x="1585300" y="135922"/>
                </a:lnTo>
                <a:lnTo>
                  <a:pt x="1625956" y="157576"/>
                </a:lnTo>
                <a:lnTo>
                  <a:pt x="1663802" y="180495"/>
                </a:lnTo>
                <a:lnTo>
                  <a:pt x="1698701" y="204612"/>
                </a:lnTo>
                <a:lnTo>
                  <a:pt x="1730513" y="229858"/>
                </a:lnTo>
                <a:lnTo>
                  <a:pt x="1759100" y="256162"/>
                </a:lnTo>
                <a:lnTo>
                  <a:pt x="1806048" y="311674"/>
                </a:lnTo>
                <a:lnTo>
                  <a:pt x="1838437" y="370594"/>
                </a:lnTo>
                <a:lnTo>
                  <a:pt x="1855162" y="432371"/>
                </a:lnTo>
                <a:lnTo>
                  <a:pt x="1857304" y="464158"/>
                </a:lnTo>
                <a:lnTo>
                  <a:pt x="1855162" y="495946"/>
                </a:lnTo>
                <a:lnTo>
                  <a:pt x="1848827" y="527161"/>
                </a:lnTo>
                <a:lnTo>
                  <a:pt x="1824131" y="587590"/>
                </a:lnTo>
                <a:lnTo>
                  <a:pt x="1784325" y="644893"/>
                </a:lnTo>
                <a:lnTo>
                  <a:pt x="1730513" y="698515"/>
                </a:lnTo>
                <a:lnTo>
                  <a:pt x="1698701" y="723773"/>
                </a:lnTo>
                <a:lnTo>
                  <a:pt x="1663802" y="747903"/>
                </a:lnTo>
                <a:lnTo>
                  <a:pt x="1625956" y="770836"/>
                </a:lnTo>
                <a:lnTo>
                  <a:pt x="1585300" y="792503"/>
                </a:lnTo>
                <a:lnTo>
                  <a:pt x="1541972" y="812834"/>
                </a:lnTo>
                <a:lnTo>
                  <a:pt x="1496111" y="831760"/>
                </a:lnTo>
                <a:lnTo>
                  <a:pt x="1447855" y="849213"/>
                </a:lnTo>
                <a:lnTo>
                  <a:pt x="1397342" y="865122"/>
                </a:lnTo>
                <a:lnTo>
                  <a:pt x="1344711" y="879419"/>
                </a:lnTo>
                <a:lnTo>
                  <a:pt x="1290100" y="892034"/>
                </a:lnTo>
                <a:lnTo>
                  <a:pt x="1233647" y="902899"/>
                </a:lnTo>
                <a:lnTo>
                  <a:pt x="1175491" y="911943"/>
                </a:lnTo>
                <a:lnTo>
                  <a:pt x="1115770" y="919098"/>
                </a:lnTo>
                <a:lnTo>
                  <a:pt x="1054622" y="924294"/>
                </a:lnTo>
                <a:lnTo>
                  <a:pt x="992185" y="927463"/>
                </a:lnTo>
                <a:lnTo>
                  <a:pt x="928598" y="928534"/>
                </a:lnTo>
                <a:lnTo>
                  <a:pt x="865011" y="927463"/>
                </a:lnTo>
                <a:lnTo>
                  <a:pt x="802576" y="924294"/>
                </a:lnTo>
                <a:lnTo>
                  <a:pt x="741430" y="919098"/>
                </a:lnTo>
                <a:lnTo>
                  <a:pt x="681712" y="911943"/>
                </a:lnTo>
                <a:lnTo>
                  <a:pt x="623560" y="902899"/>
                </a:lnTo>
                <a:lnTo>
                  <a:pt x="567112" y="892034"/>
                </a:lnTo>
                <a:lnTo>
                  <a:pt x="512506" y="879419"/>
                </a:lnTo>
                <a:lnTo>
                  <a:pt x="459881" y="865122"/>
                </a:lnTo>
                <a:lnTo>
                  <a:pt x="409375" y="849213"/>
                </a:lnTo>
                <a:lnTo>
                  <a:pt x="361125" y="831760"/>
                </a:lnTo>
                <a:lnTo>
                  <a:pt x="315271" y="812834"/>
                </a:lnTo>
                <a:lnTo>
                  <a:pt x="271950" y="792503"/>
                </a:lnTo>
                <a:lnTo>
                  <a:pt x="231300" y="770836"/>
                </a:lnTo>
                <a:lnTo>
                  <a:pt x="193461" y="747903"/>
                </a:lnTo>
                <a:lnTo>
                  <a:pt x="158569" y="723773"/>
                </a:lnTo>
                <a:lnTo>
                  <a:pt x="126763" y="698515"/>
                </a:lnTo>
                <a:lnTo>
                  <a:pt x="98181" y="672199"/>
                </a:lnTo>
                <a:lnTo>
                  <a:pt x="51244" y="616667"/>
                </a:lnTo>
                <a:lnTo>
                  <a:pt x="18862" y="557732"/>
                </a:lnTo>
                <a:lnTo>
                  <a:pt x="2141" y="495946"/>
                </a:lnTo>
                <a:lnTo>
                  <a:pt x="0" y="464158"/>
                </a:lnTo>
                <a:close/>
              </a:path>
            </a:pathLst>
          </a:custGeom>
          <a:ln w="10430">
            <a:solidFill>
              <a:srgbClr val="000000"/>
            </a:solidFill>
          </a:ln>
        </p:spPr>
        <p:txBody>
          <a:bodyPr wrap="square" lIns="0" tIns="0" rIns="0" bIns="0" rtlCol="0"/>
          <a:lstStyle/>
          <a:p/>
        </p:txBody>
      </p:sp>
      <p:sp>
        <p:nvSpPr>
          <p:cNvPr id="9" name="object 9"/>
          <p:cNvSpPr/>
          <p:nvPr/>
        </p:nvSpPr>
        <p:spPr>
          <a:xfrm>
            <a:off x="3614600" y="3363490"/>
            <a:ext cx="1848485" cy="923925"/>
          </a:xfrm>
          <a:custGeom>
            <a:avLst/>
            <a:gdLst/>
            <a:ahLst/>
            <a:cxnLst/>
            <a:rect l="l" t="t" r="r" b="b"/>
            <a:pathLst>
              <a:path w="1848485" h="923925">
                <a:moveTo>
                  <a:pt x="0" y="461985"/>
                </a:moveTo>
                <a:lnTo>
                  <a:pt x="8438" y="399258"/>
                </a:lnTo>
                <a:lnTo>
                  <a:pt x="33017" y="339108"/>
                </a:lnTo>
                <a:lnTo>
                  <a:pt x="72636" y="282082"/>
                </a:lnTo>
                <a:lnTo>
                  <a:pt x="126193" y="228731"/>
                </a:lnTo>
                <a:lnTo>
                  <a:pt x="157853" y="203604"/>
                </a:lnTo>
                <a:lnTo>
                  <a:pt x="192585" y="179602"/>
                </a:lnTo>
                <a:lnTo>
                  <a:pt x="230250" y="156792"/>
                </a:lnTo>
                <a:lnTo>
                  <a:pt x="270711" y="135243"/>
                </a:lnTo>
                <a:lnTo>
                  <a:pt x="313830" y="115025"/>
                </a:lnTo>
                <a:lnTo>
                  <a:pt x="359469" y="96204"/>
                </a:lnTo>
                <a:lnTo>
                  <a:pt x="407490" y="78851"/>
                </a:lnTo>
                <a:lnTo>
                  <a:pt x="457756" y="63033"/>
                </a:lnTo>
                <a:lnTo>
                  <a:pt x="510129" y="48820"/>
                </a:lnTo>
                <a:lnTo>
                  <a:pt x="564471" y="36279"/>
                </a:lnTo>
                <a:lnTo>
                  <a:pt x="620645" y="25479"/>
                </a:lnTo>
                <a:lnTo>
                  <a:pt x="678512" y="16489"/>
                </a:lnTo>
                <a:lnTo>
                  <a:pt x="737936" y="9378"/>
                </a:lnTo>
                <a:lnTo>
                  <a:pt x="798777" y="4213"/>
                </a:lnTo>
                <a:lnTo>
                  <a:pt x="860899" y="1064"/>
                </a:lnTo>
                <a:lnTo>
                  <a:pt x="924164" y="0"/>
                </a:lnTo>
                <a:lnTo>
                  <a:pt x="987428" y="1064"/>
                </a:lnTo>
                <a:lnTo>
                  <a:pt x="1049550" y="4213"/>
                </a:lnTo>
                <a:lnTo>
                  <a:pt x="1110391" y="9378"/>
                </a:lnTo>
                <a:lnTo>
                  <a:pt x="1169814" y="16489"/>
                </a:lnTo>
                <a:lnTo>
                  <a:pt x="1227680" y="25479"/>
                </a:lnTo>
                <a:lnTo>
                  <a:pt x="1283853" y="36279"/>
                </a:lnTo>
                <a:lnTo>
                  <a:pt x="1338194" y="48820"/>
                </a:lnTo>
                <a:lnTo>
                  <a:pt x="1390566" y="63033"/>
                </a:lnTo>
                <a:lnTo>
                  <a:pt x="1440831" y="78851"/>
                </a:lnTo>
                <a:lnTo>
                  <a:pt x="1488851" y="96204"/>
                </a:lnTo>
                <a:lnTo>
                  <a:pt x="1534488" y="115025"/>
                </a:lnTo>
                <a:lnTo>
                  <a:pt x="1577606" y="135243"/>
                </a:lnTo>
                <a:lnTo>
                  <a:pt x="1618065" y="156792"/>
                </a:lnTo>
                <a:lnTo>
                  <a:pt x="1655729" y="179602"/>
                </a:lnTo>
                <a:lnTo>
                  <a:pt x="1690459" y="203604"/>
                </a:lnTo>
                <a:lnTo>
                  <a:pt x="1722119" y="228731"/>
                </a:lnTo>
                <a:lnTo>
                  <a:pt x="1750569" y="254913"/>
                </a:lnTo>
                <a:lnTo>
                  <a:pt x="1797293" y="310170"/>
                </a:lnTo>
                <a:lnTo>
                  <a:pt x="1829528" y="368826"/>
                </a:lnTo>
                <a:lnTo>
                  <a:pt x="1846174" y="430334"/>
                </a:lnTo>
                <a:lnTo>
                  <a:pt x="1848306" y="461985"/>
                </a:lnTo>
                <a:lnTo>
                  <a:pt x="1846174" y="493604"/>
                </a:lnTo>
                <a:lnTo>
                  <a:pt x="1839869" y="524651"/>
                </a:lnTo>
                <a:lnTo>
                  <a:pt x="1815290" y="584758"/>
                </a:lnTo>
                <a:lnTo>
                  <a:pt x="1775673" y="641755"/>
                </a:lnTo>
                <a:lnTo>
                  <a:pt x="1722119" y="695092"/>
                </a:lnTo>
                <a:lnTo>
                  <a:pt x="1690459" y="720215"/>
                </a:lnTo>
                <a:lnTo>
                  <a:pt x="1655729" y="744216"/>
                </a:lnTo>
                <a:lnTo>
                  <a:pt x="1618065" y="767027"/>
                </a:lnTo>
                <a:lnTo>
                  <a:pt x="1577606" y="788578"/>
                </a:lnTo>
                <a:lnTo>
                  <a:pt x="1534488" y="808800"/>
                </a:lnTo>
                <a:lnTo>
                  <a:pt x="1488851" y="827626"/>
                </a:lnTo>
                <a:lnTo>
                  <a:pt x="1440831" y="844985"/>
                </a:lnTo>
                <a:lnTo>
                  <a:pt x="1390566" y="860810"/>
                </a:lnTo>
                <a:lnTo>
                  <a:pt x="1338194" y="875030"/>
                </a:lnTo>
                <a:lnTo>
                  <a:pt x="1283853" y="887578"/>
                </a:lnTo>
                <a:lnTo>
                  <a:pt x="1227680" y="898385"/>
                </a:lnTo>
                <a:lnTo>
                  <a:pt x="1169814" y="907381"/>
                </a:lnTo>
                <a:lnTo>
                  <a:pt x="1110391" y="914498"/>
                </a:lnTo>
                <a:lnTo>
                  <a:pt x="1049550" y="919666"/>
                </a:lnTo>
                <a:lnTo>
                  <a:pt x="987428" y="922818"/>
                </a:lnTo>
                <a:lnTo>
                  <a:pt x="924164" y="923884"/>
                </a:lnTo>
                <a:lnTo>
                  <a:pt x="860899" y="922818"/>
                </a:lnTo>
                <a:lnTo>
                  <a:pt x="798777" y="919666"/>
                </a:lnTo>
                <a:lnTo>
                  <a:pt x="737936" y="914498"/>
                </a:lnTo>
                <a:lnTo>
                  <a:pt x="678512" y="907381"/>
                </a:lnTo>
                <a:lnTo>
                  <a:pt x="620645" y="898385"/>
                </a:lnTo>
                <a:lnTo>
                  <a:pt x="564471" y="887578"/>
                </a:lnTo>
                <a:lnTo>
                  <a:pt x="510129" y="875030"/>
                </a:lnTo>
                <a:lnTo>
                  <a:pt x="457756" y="860810"/>
                </a:lnTo>
                <a:lnTo>
                  <a:pt x="407490" y="844985"/>
                </a:lnTo>
                <a:lnTo>
                  <a:pt x="359469" y="827626"/>
                </a:lnTo>
                <a:lnTo>
                  <a:pt x="313830" y="808800"/>
                </a:lnTo>
                <a:lnTo>
                  <a:pt x="270711" y="788578"/>
                </a:lnTo>
                <a:lnTo>
                  <a:pt x="230250" y="767027"/>
                </a:lnTo>
                <a:lnTo>
                  <a:pt x="192585" y="744216"/>
                </a:lnTo>
                <a:lnTo>
                  <a:pt x="157853" y="720215"/>
                </a:lnTo>
                <a:lnTo>
                  <a:pt x="126193" y="695092"/>
                </a:lnTo>
                <a:lnTo>
                  <a:pt x="97741" y="668915"/>
                </a:lnTo>
                <a:lnTo>
                  <a:pt x="51016" y="613680"/>
                </a:lnTo>
                <a:lnTo>
                  <a:pt x="18779" y="555059"/>
                </a:lnTo>
                <a:lnTo>
                  <a:pt x="2132" y="493604"/>
                </a:lnTo>
                <a:lnTo>
                  <a:pt x="0" y="461985"/>
                </a:lnTo>
                <a:close/>
              </a:path>
            </a:pathLst>
          </a:custGeom>
          <a:ln w="10430">
            <a:solidFill>
              <a:srgbClr val="000000"/>
            </a:solidFill>
          </a:ln>
        </p:spPr>
        <p:txBody>
          <a:bodyPr wrap="square" lIns="0" tIns="0" rIns="0" bIns="0" rtlCol="0"/>
          <a:lstStyle/>
          <a:p/>
        </p:txBody>
      </p:sp>
      <p:sp>
        <p:nvSpPr>
          <p:cNvPr id="10" name="object 10"/>
          <p:cNvSpPr txBox="1"/>
          <p:nvPr/>
        </p:nvSpPr>
        <p:spPr>
          <a:xfrm>
            <a:off x="3874036" y="3666877"/>
            <a:ext cx="1329690" cy="286385"/>
          </a:xfrm>
          <a:prstGeom prst="rect">
            <a:avLst/>
          </a:prstGeom>
        </p:spPr>
        <p:txBody>
          <a:bodyPr wrap="square" lIns="0" tIns="13970" rIns="0" bIns="0" rtlCol="0" vert="horz">
            <a:spAutoFit/>
          </a:bodyPr>
          <a:lstStyle/>
          <a:p>
            <a:pPr marL="12700">
              <a:lnSpc>
                <a:spcPct val="100000"/>
              </a:lnSpc>
              <a:spcBef>
                <a:spcPts val="110"/>
              </a:spcBef>
            </a:pPr>
            <a:r>
              <a:rPr dirty="0" sz="1700" spc="10">
                <a:latin typeface="宋体"/>
                <a:cs typeface="宋体"/>
              </a:rPr>
              <a:t>处理客户单据</a:t>
            </a:r>
            <a:endParaRPr sz="1700">
              <a:latin typeface="宋体"/>
              <a:cs typeface="宋体"/>
            </a:endParaRPr>
          </a:p>
        </p:txBody>
      </p:sp>
      <p:sp>
        <p:nvSpPr>
          <p:cNvPr id="11" name="object 11"/>
          <p:cNvSpPr/>
          <p:nvPr/>
        </p:nvSpPr>
        <p:spPr>
          <a:xfrm>
            <a:off x="3635531" y="4590121"/>
            <a:ext cx="1827530" cy="913765"/>
          </a:xfrm>
          <a:custGeom>
            <a:avLst/>
            <a:gdLst/>
            <a:ahLst/>
            <a:cxnLst/>
            <a:rect l="l" t="t" r="r" b="b"/>
            <a:pathLst>
              <a:path w="1827529" h="913764">
                <a:moveTo>
                  <a:pt x="0" y="456748"/>
                </a:moveTo>
                <a:lnTo>
                  <a:pt x="8339" y="394768"/>
                </a:lnTo>
                <a:lnTo>
                  <a:pt x="32632" y="335322"/>
                </a:lnTo>
                <a:lnTo>
                  <a:pt x="71791" y="278956"/>
                </a:lnTo>
                <a:lnTo>
                  <a:pt x="124727" y="226213"/>
                </a:lnTo>
                <a:lnTo>
                  <a:pt x="156022" y="201371"/>
                </a:lnTo>
                <a:lnTo>
                  <a:pt x="190353" y="177638"/>
                </a:lnTo>
                <a:lnTo>
                  <a:pt x="227585" y="155083"/>
                </a:lnTo>
                <a:lnTo>
                  <a:pt x="267581" y="133774"/>
                </a:lnTo>
                <a:lnTo>
                  <a:pt x="310206" y="113779"/>
                </a:lnTo>
                <a:lnTo>
                  <a:pt x="355323" y="95165"/>
                </a:lnTo>
                <a:lnTo>
                  <a:pt x="402797" y="78002"/>
                </a:lnTo>
                <a:lnTo>
                  <a:pt x="452492" y="62357"/>
                </a:lnTo>
                <a:lnTo>
                  <a:pt x="504270" y="48297"/>
                </a:lnTo>
                <a:lnTo>
                  <a:pt x="557998" y="35891"/>
                </a:lnTo>
                <a:lnTo>
                  <a:pt x="613538" y="25208"/>
                </a:lnTo>
                <a:lnTo>
                  <a:pt x="670754" y="16314"/>
                </a:lnTo>
                <a:lnTo>
                  <a:pt x="729511" y="9279"/>
                </a:lnTo>
                <a:lnTo>
                  <a:pt x="789673" y="4169"/>
                </a:lnTo>
                <a:lnTo>
                  <a:pt x="851103" y="1053"/>
                </a:lnTo>
                <a:lnTo>
                  <a:pt x="913666" y="0"/>
                </a:lnTo>
                <a:lnTo>
                  <a:pt x="976229" y="1053"/>
                </a:lnTo>
                <a:lnTo>
                  <a:pt x="1037660" y="4169"/>
                </a:lnTo>
                <a:lnTo>
                  <a:pt x="1097823" y="9279"/>
                </a:lnTo>
                <a:lnTo>
                  <a:pt x="1156581" y="16314"/>
                </a:lnTo>
                <a:lnTo>
                  <a:pt x="1213799" y="25208"/>
                </a:lnTo>
                <a:lnTo>
                  <a:pt x="1269341" y="35891"/>
                </a:lnTo>
                <a:lnTo>
                  <a:pt x="1323071" y="48297"/>
                </a:lnTo>
                <a:lnTo>
                  <a:pt x="1374852" y="62357"/>
                </a:lnTo>
                <a:lnTo>
                  <a:pt x="1424549" y="78002"/>
                </a:lnTo>
                <a:lnTo>
                  <a:pt x="1472025" y="95165"/>
                </a:lnTo>
                <a:lnTo>
                  <a:pt x="1517145" y="113779"/>
                </a:lnTo>
                <a:lnTo>
                  <a:pt x="1559773" y="133774"/>
                </a:lnTo>
                <a:lnTo>
                  <a:pt x="1599772" y="155083"/>
                </a:lnTo>
                <a:lnTo>
                  <a:pt x="1637006" y="177638"/>
                </a:lnTo>
                <a:lnTo>
                  <a:pt x="1671340" y="201371"/>
                </a:lnTo>
                <a:lnTo>
                  <a:pt x="1702637" y="226213"/>
                </a:lnTo>
                <a:lnTo>
                  <a:pt x="1730762" y="252098"/>
                </a:lnTo>
                <a:lnTo>
                  <a:pt x="1776950" y="306720"/>
                </a:lnTo>
                <a:lnTo>
                  <a:pt x="1808815" y="364694"/>
                </a:lnTo>
                <a:lnTo>
                  <a:pt x="1825269" y="425475"/>
                </a:lnTo>
                <a:lnTo>
                  <a:pt x="1827376" y="456748"/>
                </a:lnTo>
                <a:lnTo>
                  <a:pt x="1825269" y="488019"/>
                </a:lnTo>
                <a:lnTo>
                  <a:pt x="1819036" y="518724"/>
                </a:lnTo>
                <a:lnTo>
                  <a:pt x="1794741" y="578167"/>
                </a:lnTo>
                <a:lnTo>
                  <a:pt x="1755578" y="634531"/>
                </a:lnTo>
                <a:lnTo>
                  <a:pt x="1702637" y="687273"/>
                </a:lnTo>
                <a:lnTo>
                  <a:pt x="1671340" y="712116"/>
                </a:lnTo>
                <a:lnTo>
                  <a:pt x="1637006" y="735849"/>
                </a:lnTo>
                <a:lnTo>
                  <a:pt x="1599772" y="758405"/>
                </a:lnTo>
                <a:lnTo>
                  <a:pt x="1559773" y="779714"/>
                </a:lnTo>
                <a:lnTo>
                  <a:pt x="1517145" y="799710"/>
                </a:lnTo>
                <a:lnTo>
                  <a:pt x="1472025" y="818324"/>
                </a:lnTo>
                <a:lnTo>
                  <a:pt x="1424549" y="835489"/>
                </a:lnTo>
                <a:lnTo>
                  <a:pt x="1374852" y="851135"/>
                </a:lnTo>
                <a:lnTo>
                  <a:pt x="1323071" y="865195"/>
                </a:lnTo>
                <a:lnTo>
                  <a:pt x="1269341" y="877602"/>
                </a:lnTo>
                <a:lnTo>
                  <a:pt x="1213799" y="888286"/>
                </a:lnTo>
                <a:lnTo>
                  <a:pt x="1156581" y="897181"/>
                </a:lnTo>
                <a:lnTo>
                  <a:pt x="1097823" y="904217"/>
                </a:lnTo>
                <a:lnTo>
                  <a:pt x="1037660" y="909327"/>
                </a:lnTo>
                <a:lnTo>
                  <a:pt x="976229" y="912443"/>
                </a:lnTo>
                <a:lnTo>
                  <a:pt x="913666" y="913497"/>
                </a:lnTo>
                <a:lnTo>
                  <a:pt x="851103" y="912443"/>
                </a:lnTo>
                <a:lnTo>
                  <a:pt x="789673" y="909327"/>
                </a:lnTo>
                <a:lnTo>
                  <a:pt x="729511" y="904217"/>
                </a:lnTo>
                <a:lnTo>
                  <a:pt x="670754" y="897181"/>
                </a:lnTo>
                <a:lnTo>
                  <a:pt x="613538" y="888286"/>
                </a:lnTo>
                <a:lnTo>
                  <a:pt x="557998" y="877602"/>
                </a:lnTo>
                <a:lnTo>
                  <a:pt x="504270" y="865195"/>
                </a:lnTo>
                <a:lnTo>
                  <a:pt x="452492" y="851135"/>
                </a:lnTo>
                <a:lnTo>
                  <a:pt x="402797" y="835489"/>
                </a:lnTo>
                <a:lnTo>
                  <a:pt x="355323" y="818324"/>
                </a:lnTo>
                <a:lnTo>
                  <a:pt x="310206" y="799710"/>
                </a:lnTo>
                <a:lnTo>
                  <a:pt x="267581" y="779714"/>
                </a:lnTo>
                <a:lnTo>
                  <a:pt x="227585" y="758405"/>
                </a:lnTo>
                <a:lnTo>
                  <a:pt x="190353" y="735849"/>
                </a:lnTo>
                <a:lnTo>
                  <a:pt x="156022" y="712116"/>
                </a:lnTo>
                <a:lnTo>
                  <a:pt x="124727" y="687273"/>
                </a:lnTo>
                <a:lnTo>
                  <a:pt x="96605" y="661389"/>
                </a:lnTo>
                <a:lnTo>
                  <a:pt x="50421" y="606768"/>
                </a:lnTo>
                <a:lnTo>
                  <a:pt x="18559" y="548796"/>
                </a:lnTo>
                <a:lnTo>
                  <a:pt x="2107" y="488019"/>
                </a:lnTo>
                <a:lnTo>
                  <a:pt x="0" y="456748"/>
                </a:lnTo>
                <a:close/>
              </a:path>
            </a:pathLst>
          </a:custGeom>
          <a:ln w="10430">
            <a:solidFill>
              <a:srgbClr val="000000"/>
            </a:solidFill>
          </a:ln>
        </p:spPr>
        <p:txBody>
          <a:bodyPr wrap="square" lIns="0" tIns="0" rIns="0" bIns="0" rtlCol="0"/>
          <a:lstStyle/>
          <a:p/>
        </p:txBody>
      </p:sp>
      <p:sp>
        <p:nvSpPr>
          <p:cNvPr id="12" name="object 12"/>
          <p:cNvSpPr txBox="1"/>
          <p:nvPr/>
        </p:nvSpPr>
        <p:spPr>
          <a:xfrm>
            <a:off x="4101811" y="4888358"/>
            <a:ext cx="895350" cy="286385"/>
          </a:xfrm>
          <a:prstGeom prst="rect">
            <a:avLst/>
          </a:prstGeom>
        </p:spPr>
        <p:txBody>
          <a:bodyPr wrap="square" lIns="0" tIns="13970" rIns="0" bIns="0" rtlCol="0" vert="horz">
            <a:spAutoFit/>
          </a:bodyPr>
          <a:lstStyle/>
          <a:p>
            <a:pPr marL="12700">
              <a:lnSpc>
                <a:spcPct val="100000"/>
              </a:lnSpc>
              <a:spcBef>
                <a:spcPts val="110"/>
              </a:spcBef>
            </a:pPr>
            <a:r>
              <a:rPr dirty="0" sz="1700" spc="10">
                <a:latin typeface="宋体"/>
                <a:cs typeface="宋体"/>
              </a:rPr>
              <a:t>账户管理</a:t>
            </a:r>
            <a:endParaRPr sz="1700">
              <a:latin typeface="宋体"/>
              <a:cs typeface="宋体"/>
            </a:endParaRPr>
          </a:p>
        </p:txBody>
      </p:sp>
      <p:sp>
        <p:nvSpPr>
          <p:cNvPr id="13" name="object 13"/>
          <p:cNvSpPr/>
          <p:nvPr/>
        </p:nvSpPr>
        <p:spPr>
          <a:xfrm>
            <a:off x="3244943" y="1792589"/>
            <a:ext cx="2588260" cy="4065904"/>
          </a:xfrm>
          <a:custGeom>
            <a:avLst/>
            <a:gdLst/>
            <a:ahLst/>
            <a:cxnLst/>
            <a:rect l="l" t="t" r="r" b="b"/>
            <a:pathLst>
              <a:path w="2588260" h="4065904">
                <a:moveTo>
                  <a:pt x="0" y="4065517"/>
                </a:moveTo>
                <a:lnTo>
                  <a:pt x="2587686" y="4065517"/>
                </a:lnTo>
                <a:lnTo>
                  <a:pt x="2587686" y="0"/>
                </a:lnTo>
                <a:lnTo>
                  <a:pt x="0" y="0"/>
                </a:lnTo>
                <a:lnTo>
                  <a:pt x="0" y="4065517"/>
                </a:lnTo>
                <a:close/>
              </a:path>
            </a:pathLst>
          </a:custGeom>
          <a:ln w="15647">
            <a:solidFill>
              <a:srgbClr val="000000"/>
            </a:solidFill>
          </a:ln>
        </p:spPr>
        <p:txBody>
          <a:bodyPr wrap="square" lIns="0" tIns="0" rIns="0" bIns="0" rtlCol="0"/>
          <a:lstStyle/>
          <a:p/>
        </p:txBody>
      </p:sp>
      <p:sp>
        <p:nvSpPr>
          <p:cNvPr id="14" name="object 14"/>
          <p:cNvSpPr txBox="1"/>
          <p:nvPr/>
        </p:nvSpPr>
        <p:spPr>
          <a:xfrm>
            <a:off x="3760800" y="1864872"/>
            <a:ext cx="1546860" cy="979805"/>
          </a:xfrm>
          <a:prstGeom prst="rect">
            <a:avLst/>
          </a:prstGeom>
        </p:spPr>
        <p:txBody>
          <a:bodyPr wrap="square" lIns="0" tIns="13970" rIns="0" bIns="0" rtlCol="0" vert="horz">
            <a:spAutoFit/>
          </a:bodyPr>
          <a:lstStyle/>
          <a:p>
            <a:pPr algn="ctr" marL="7620">
              <a:lnSpc>
                <a:spcPct val="100000"/>
              </a:lnSpc>
              <a:spcBef>
                <a:spcPts val="110"/>
              </a:spcBef>
            </a:pPr>
            <a:r>
              <a:rPr dirty="0" sz="1700" spc="15">
                <a:latin typeface="宋体"/>
                <a:cs typeface="宋体"/>
              </a:rPr>
              <a:t>信用卡系</a:t>
            </a:r>
            <a:r>
              <a:rPr dirty="0" sz="1700" spc="10">
                <a:latin typeface="宋体"/>
                <a:cs typeface="宋体"/>
              </a:rPr>
              <a:t>统</a:t>
            </a:r>
            <a:endParaRPr sz="1700">
              <a:latin typeface="宋体"/>
              <a:cs typeface="宋体"/>
            </a:endParaRPr>
          </a:p>
          <a:p>
            <a:pPr>
              <a:lnSpc>
                <a:spcPct val="100000"/>
              </a:lnSpc>
            </a:pPr>
            <a:endParaRPr sz="1700">
              <a:latin typeface="宋体"/>
              <a:cs typeface="宋体"/>
            </a:endParaRPr>
          </a:p>
          <a:p>
            <a:pPr algn="ctr">
              <a:lnSpc>
                <a:spcPct val="100000"/>
              </a:lnSpc>
              <a:spcBef>
                <a:spcPts val="1240"/>
              </a:spcBef>
            </a:pPr>
            <a:r>
              <a:rPr dirty="0" sz="1700" spc="10">
                <a:latin typeface="宋体"/>
                <a:cs typeface="宋体"/>
              </a:rPr>
              <a:t>使用信用卡功能</a:t>
            </a:r>
            <a:endParaRPr sz="1700">
              <a:latin typeface="宋体"/>
              <a:cs typeface="宋体"/>
            </a:endParaRPr>
          </a:p>
        </p:txBody>
      </p:sp>
      <p:sp>
        <p:nvSpPr>
          <p:cNvPr id="15" name="object 15"/>
          <p:cNvSpPr/>
          <p:nvPr/>
        </p:nvSpPr>
        <p:spPr>
          <a:xfrm>
            <a:off x="7429644" y="1977533"/>
            <a:ext cx="249554" cy="247650"/>
          </a:xfrm>
          <a:custGeom>
            <a:avLst/>
            <a:gdLst/>
            <a:ahLst/>
            <a:cxnLst/>
            <a:rect l="l" t="t" r="r" b="b"/>
            <a:pathLst>
              <a:path w="249554" h="247650">
                <a:moveTo>
                  <a:pt x="0" y="123645"/>
                </a:moveTo>
                <a:lnTo>
                  <a:pt x="9804" y="75539"/>
                </a:lnTo>
                <a:lnTo>
                  <a:pt x="36540" y="36235"/>
                </a:lnTo>
                <a:lnTo>
                  <a:pt x="76195" y="9724"/>
                </a:lnTo>
                <a:lnTo>
                  <a:pt x="124754" y="0"/>
                </a:lnTo>
                <a:lnTo>
                  <a:pt x="173314" y="9724"/>
                </a:lnTo>
                <a:lnTo>
                  <a:pt x="212969" y="36235"/>
                </a:lnTo>
                <a:lnTo>
                  <a:pt x="239705" y="75539"/>
                </a:lnTo>
                <a:lnTo>
                  <a:pt x="249509" y="123645"/>
                </a:lnTo>
                <a:lnTo>
                  <a:pt x="239705" y="171876"/>
                </a:lnTo>
                <a:lnTo>
                  <a:pt x="212969" y="211245"/>
                </a:lnTo>
                <a:lnTo>
                  <a:pt x="173314" y="237780"/>
                </a:lnTo>
                <a:lnTo>
                  <a:pt x="124754" y="247507"/>
                </a:lnTo>
                <a:lnTo>
                  <a:pt x="76195" y="237780"/>
                </a:lnTo>
                <a:lnTo>
                  <a:pt x="36540" y="211245"/>
                </a:lnTo>
                <a:lnTo>
                  <a:pt x="9804" y="171876"/>
                </a:lnTo>
                <a:lnTo>
                  <a:pt x="0" y="123645"/>
                </a:lnTo>
                <a:close/>
              </a:path>
            </a:pathLst>
          </a:custGeom>
          <a:ln w="10431">
            <a:solidFill>
              <a:srgbClr val="000000"/>
            </a:solidFill>
          </a:ln>
        </p:spPr>
        <p:txBody>
          <a:bodyPr wrap="square" lIns="0" tIns="0" rIns="0" bIns="0" rtlCol="0"/>
          <a:lstStyle/>
          <a:p/>
        </p:txBody>
      </p:sp>
      <p:sp>
        <p:nvSpPr>
          <p:cNvPr id="16" name="object 16"/>
          <p:cNvSpPr/>
          <p:nvPr/>
        </p:nvSpPr>
        <p:spPr>
          <a:xfrm>
            <a:off x="7304889" y="2348686"/>
            <a:ext cx="499109" cy="0"/>
          </a:xfrm>
          <a:custGeom>
            <a:avLst/>
            <a:gdLst/>
            <a:ahLst/>
            <a:cxnLst/>
            <a:rect l="l" t="t" r="r" b="b"/>
            <a:pathLst>
              <a:path w="499109" h="0">
                <a:moveTo>
                  <a:pt x="0" y="0"/>
                </a:moveTo>
                <a:lnTo>
                  <a:pt x="499019" y="0"/>
                </a:lnTo>
              </a:path>
            </a:pathLst>
          </a:custGeom>
          <a:ln w="10430">
            <a:solidFill>
              <a:srgbClr val="000000"/>
            </a:solidFill>
          </a:ln>
        </p:spPr>
        <p:txBody>
          <a:bodyPr wrap="square" lIns="0" tIns="0" rIns="0" bIns="0" rtlCol="0"/>
          <a:lstStyle/>
          <a:p/>
        </p:txBody>
      </p:sp>
      <p:sp>
        <p:nvSpPr>
          <p:cNvPr id="17" name="object 17"/>
          <p:cNvSpPr/>
          <p:nvPr/>
        </p:nvSpPr>
        <p:spPr>
          <a:xfrm>
            <a:off x="7554399" y="2843702"/>
            <a:ext cx="249554" cy="495300"/>
          </a:xfrm>
          <a:custGeom>
            <a:avLst/>
            <a:gdLst/>
            <a:ahLst/>
            <a:cxnLst/>
            <a:rect l="l" t="t" r="r" b="b"/>
            <a:pathLst>
              <a:path w="249554" h="495300">
                <a:moveTo>
                  <a:pt x="0" y="0"/>
                </a:moveTo>
                <a:lnTo>
                  <a:pt x="249509" y="495015"/>
                </a:lnTo>
              </a:path>
            </a:pathLst>
          </a:custGeom>
          <a:ln w="10432">
            <a:solidFill>
              <a:srgbClr val="000000"/>
            </a:solidFill>
          </a:ln>
        </p:spPr>
        <p:txBody>
          <a:bodyPr wrap="square" lIns="0" tIns="0" rIns="0" bIns="0" rtlCol="0"/>
          <a:lstStyle/>
          <a:p/>
        </p:txBody>
      </p:sp>
      <p:sp>
        <p:nvSpPr>
          <p:cNvPr id="18" name="object 18"/>
          <p:cNvSpPr/>
          <p:nvPr/>
        </p:nvSpPr>
        <p:spPr>
          <a:xfrm>
            <a:off x="7304889" y="2225041"/>
            <a:ext cx="249554" cy="1113790"/>
          </a:xfrm>
          <a:custGeom>
            <a:avLst/>
            <a:gdLst/>
            <a:ahLst/>
            <a:cxnLst/>
            <a:rect l="l" t="t" r="r" b="b"/>
            <a:pathLst>
              <a:path w="249554" h="1113789">
                <a:moveTo>
                  <a:pt x="249509" y="0"/>
                </a:moveTo>
                <a:lnTo>
                  <a:pt x="249509" y="618661"/>
                </a:lnTo>
                <a:lnTo>
                  <a:pt x="0" y="1113676"/>
                </a:lnTo>
              </a:path>
            </a:pathLst>
          </a:custGeom>
          <a:ln w="10432">
            <a:solidFill>
              <a:srgbClr val="000000"/>
            </a:solidFill>
          </a:ln>
        </p:spPr>
        <p:txBody>
          <a:bodyPr wrap="square" lIns="0" tIns="0" rIns="0" bIns="0" rtlCol="0"/>
          <a:lstStyle/>
          <a:p/>
        </p:txBody>
      </p:sp>
      <p:sp>
        <p:nvSpPr>
          <p:cNvPr id="19" name="object 19"/>
          <p:cNvSpPr txBox="1"/>
          <p:nvPr/>
        </p:nvSpPr>
        <p:spPr>
          <a:xfrm>
            <a:off x="7107013" y="3410330"/>
            <a:ext cx="895350" cy="286385"/>
          </a:xfrm>
          <a:prstGeom prst="rect">
            <a:avLst/>
          </a:prstGeom>
        </p:spPr>
        <p:txBody>
          <a:bodyPr wrap="square" lIns="0" tIns="13970" rIns="0" bIns="0" rtlCol="0" vert="horz">
            <a:spAutoFit/>
          </a:bodyPr>
          <a:lstStyle/>
          <a:p>
            <a:pPr marL="12700">
              <a:lnSpc>
                <a:spcPct val="100000"/>
              </a:lnSpc>
              <a:spcBef>
                <a:spcPts val="110"/>
              </a:spcBef>
            </a:pPr>
            <a:r>
              <a:rPr dirty="0" sz="1700" spc="10">
                <a:latin typeface="宋体"/>
                <a:cs typeface="宋体"/>
              </a:rPr>
              <a:t>零售机构</a:t>
            </a:r>
            <a:endParaRPr sz="1700">
              <a:latin typeface="宋体"/>
              <a:cs typeface="宋体"/>
            </a:endParaRPr>
          </a:p>
        </p:txBody>
      </p:sp>
      <p:sp>
        <p:nvSpPr>
          <p:cNvPr id="20" name="object 20"/>
          <p:cNvSpPr/>
          <p:nvPr/>
        </p:nvSpPr>
        <p:spPr>
          <a:xfrm>
            <a:off x="7435947" y="4161100"/>
            <a:ext cx="249554" cy="247650"/>
          </a:xfrm>
          <a:custGeom>
            <a:avLst/>
            <a:gdLst/>
            <a:ahLst/>
            <a:cxnLst/>
            <a:rect l="l" t="t" r="r" b="b"/>
            <a:pathLst>
              <a:path w="249554" h="247650">
                <a:moveTo>
                  <a:pt x="0" y="123753"/>
                </a:moveTo>
                <a:lnTo>
                  <a:pt x="9804" y="75576"/>
                </a:lnTo>
                <a:lnTo>
                  <a:pt x="36540" y="36240"/>
                </a:lnTo>
                <a:lnTo>
                  <a:pt x="76195" y="9722"/>
                </a:lnTo>
                <a:lnTo>
                  <a:pt x="124754" y="0"/>
                </a:lnTo>
                <a:lnTo>
                  <a:pt x="173314" y="9722"/>
                </a:lnTo>
                <a:lnTo>
                  <a:pt x="212969" y="36240"/>
                </a:lnTo>
                <a:lnTo>
                  <a:pt x="239705" y="75576"/>
                </a:lnTo>
                <a:lnTo>
                  <a:pt x="249509" y="123753"/>
                </a:lnTo>
                <a:lnTo>
                  <a:pt x="239705" y="171922"/>
                </a:lnTo>
                <a:lnTo>
                  <a:pt x="212969" y="211259"/>
                </a:lnTo>
                <a:lnTo>
                  <a:pt x="173314" y="237781"/>
                </a:lnTo>
                <a:lnTo>
                  <a:pt x="124754" y="247507"/>
                </a:lnTo>
                <a:lnTo>
                  <a:pt x="76195" y="237781"/>
                </a:lnTo>
                <a:lnTo>
                  <a:pt x="36540" y="211259"/>
                </a:lnTo>
                <a:lnTo>
                  <a:pt x="9804" y="171922"/>
                </a:lnTo>
                <a:lnTo>
                  <a:pt x="0" y="123753"/>
                </a:lnTo>
                <a:close/>
              </a:path>
            </a:pathLst>
          </a:custGeom>
          <a:ln w="10431">
            <a:solidFill>
              <a:srgbClr val="000000"/>
            </a:solidFill>
          </a:ln>
        </p:spPr>
        <p:txBody>
          <a:bodyPr wrap="square" lIns="0" tIns="0" rIns="0" bIns="0" rtlCol="0"/>
          <a:lstStyle/>
          <a:p/>
        </p:txBody>
      </p:sp>
      <p:sp>
        <p:nvSpPr>
          <p:cNvPr id="21" name="object 21"/>
          <p:cNvSpPr/>
          <p:nvPr/>
        </p:nvSpPr>
        <p:spPr>
          <a:xfrm>
            <a:off x="7311193" y="4532362"/>
            <a:ext cx="499109" cy="0"/>
          </a:xfrm>
          <a:custGeom>
            <a:avLst/>
            <a:gdLst/>
            <a:ahLst/>
            <a:cxnLst/>
            <a:rect l="l" t="t" r="r" b="b"/>
            <a:pathLst>
              <a:path w="499109" h="0">
                <a:moveTo>
                  <a:pt x="0" y="0"/>
                </a:moveTo>
                <a:lnTo>
                  <a:pt x="499019" y="0"/>
                </a:lnTo>
              </a:path>
            </a:pathLst>
          </a:custGeom>
          <a:ln w="10430">
            <a:solidFill>
              <a:srgbClr val="000000"/>
            </a:solidFill>
          </a:ln>
        </p:spPr>
        <p:txBody>
          <a:bodyPr wrap="square" lIns="0" tIns="0" rIns="0" bIns="0" rtlCol="0"/>
          <a:lstStyle/>
          <a:p/>
        </p:txBody>
      </p:sp>
      <p:sp>
        <p:nvSpPr>
          <p:cNvPr id="22" name="object 22"/>
          <p:cNvSpPr/>
          <p:nvPr/>
        </p:nvSpPr>
        <p:spPr>
          <a:xfrm>
            <a:off x="7560702" y="5027378"/>
            <a:ext cx="249554" cy="495300"/>
          </a:xfrm>
          <a:custGeom>
            <a:avLst/>
            <a:gdLst/>
            <a:ahLst/>
            <a:cxnLst/>
            <a:rect l="l" t="t" r="r" b="b"/>
            <a:pathLst>
              <a:path w="249554" h="495300">
                <a:moveTo>
                  <a:pt x="0" y="0"/>
                </a:moveTo>
                <a:lnTo>
                  <a:pt x="249509" y="495015"/>
                </a:lnTo>
              </a:path>
            </a:pathLst>
          </a:custGeom>
          <a:ln w="10432">
            <a:solidFill>
              <a:srgbClr val="000000"/>
            </a:solidFill>
          </a:ln>
        </p:spPr>
        <p:txBody>
          <a:bodyPr wrap="square" lIns="0" tIns="0" rIns="0" bIns="0" rtlCol="0"/>
          <a:lstStyle/>
          <a:p/>
        </p:txBody>
      </p:sp>
      <p:sp>
        <p:nvSpPr>
          <p:cNvPr id="23" name="object 23"/>
          <p:cNvSpPr/>
          <p:nvPr/>
        </p:nvSpPr>
        <p:spPr>
          <a:xfrm>
            <a:off x="7311193" y="4408608"/>
            <a:ext cx="249554" cy="1113790"/>
          </a:xfrm>
          <a:custGeom>
            <a:avLst/>
            <a:gdLst/>
            <a:ahLst/>
            <a:cxnLst/>
            <a:rect l="l" t="t" r="r" b="b"/>
            <a:pathLst>
              <a:path w="249554" h="1113789">
                <a:moveTo>
                  <a:pt x="249509" y="0"/>
                </a:moveTo>
                <a:lnTo>
                  <a:pt x="249509" y="618769"/>
                </a:lnTo>
                <a:lnTo>
                  <a:pt x="0" y="1113785"/>
                </a:lnTo>
              </a:path>
            </a:pathLst>
          </a:custGeom>
          <a:ln w="10432">
            <a:solidFill>
              <a:srgbClr val="000000"/>
            </a:solidFill>
          </a:ln>
        </p:spPr>
        <p:txBody>
          <a:bodyPr wrap="square" lIns="0" tIns="0" rIns="0" bIns="0" rtlCol="0"/>
          <a:lstStyle/>
          <a:p/>
        </p:txBody>
      </p:sp>
      <p:sp>
        <p:nvSpPr>
          <p:cNvPr id="24" name="object 24"/>
          <p:cNvSpPr txBox="1"/>
          <p:nvPr/>
        </p:nvSpPr>
        <p:spPr>
          <a:xfrm>
            <a:off x="7113316" y="5593860"/>
            <a:ext cx="895350" cy="286385"/>
          </a:xfrm>
          <a:prstGeom prst="rect">
            <a:avLst/>
          </a:prstGeom>
        </p:spPr>
        <p:txBody>
          <a:bodyPr wrap="square" lIns="0" tIns="13970" rIns="0" bIns="0" rtlCol="0" vert="horz">
            <a:spAutoFit/>
          </a:bodyPr>
          <a:lstStyle/>
          <a:p>
            <a:pPr marL="12700">
              <a:lnSpc>
                <a:spcPct val="100000"/>
              </a:lnSpc>
              <a:spcBef>
                <a:spcPts val="110"/>
              </a:spcBef>
            </a:pPr>
            <a:r>
              <a:rPr dirty="0" sz="1700" spc="10">
                <a:latin typeface="宋体"/>
                <a:cs typeface="宋体"/>
              </a:rPr>
              <a:t>金融机构</a:t>
            </a:r>
            <a:endParaRPr sz="1700">
              <a:latin typeface="宋体"/>
              <a:cs typeface="宋体"/>
            </a:endParaRPr>
          </a:p>
        </p:txBody>
      </p:sp>
      <p:sp>
        <p:nvSpPr>
          <p:cNvPr id="25" name="object 25"/>
          <p:cNvSpPr/>
          <p:nvPr/>
        </p:nvSpPr>
        <p:spPr>
          <a:xfrm>
            <a:off x="2135972" y="2716580"/>
            <a:ext cx="1470025" cy="611505"/>
          </a:xfrm>
          <a:custGeom>
            <a:avLst/>
            <a:gdLst/>
            <a:ahLst/>
            <a:cxnLst/>
            <a:rect l="l" t="t" r="r" b="b"/>
            <a:pathLst>
              <a:path w="1470025" h="611504">
                <a:moveTo>
                  <a:pt x="0" y="611490"/>
                </a:moveTo>
                <a:lnTo>
                  <a:pt x="1469630" y="0"/>
                </a:lnTo>
              </a:path>
            </a:pathLst>
          </a:custGeom>
          <a:ln w="15646">
            <a:solidFill>
              <a:srgbClr val="000000"/>
            </a:solidFill>
          </a:ln>
        </p:spPr>
        <p:txBody>
          <a:bodyPr wrap="square" lIns="0" tIns="0" rIns="0" bIns="0" rtlCol="0"/>
          <a:lstStyle/>
          <a:p/>
        </p:txBody>
      </p:sp>
      <p:sp>
        <p:nvSpPr>
          <p:cNvPr id="26" name="object 26"/>
          <p:cNvSpPr/>
          <p:nvPr/>
        </p:nvSpPr>
        <p:spPr>
          <a:xfrm>
            <a:off x="2135972" y="3328070"/>
            <a:ext cx="1478915" cy="497840"/>
          </a:xfrm>
          <a:custGeom>
            <a:avLst/>
            <a:gdLst/>
            <a:ahLst/>
            <a:cxnLst/>
            <a:rect l="l" t="t" r="r" b="b"/>
            <a:pathLst>
              <a:path w="1478914" h="497839">
                <a:moveTo>
                  <a:pt x="0" y="0"/>
                </a:moveTo>
                <a:lnTo>
                  <a:pt x="1478628" y="497406"/>
                </a:lnTo>
              </a:path>
            </a:pathLst>
          </a:custGeom>
          <a:ln w="15646">
            <a:solidFill>
              <a:srgbClr val="000000"/>
            </a:solidFill>
          </a:ln>
        </p:spPr>
        <p:txBody>
          <a:bodyPr wrap="square" lIns="0" tIns="0" rIns="0" bIns="0" rtlCol="0"/>
          <a:lstStyle/>
          <a:p/>
        </p:txBody>
      </p:sp>
      <p:sp>
        <p:nvSpPr>
          <p:cNvPr id="27" name="object 27"/>
          <p:cNvSpPr/>
          <p:nvPr/>
        </p:nvSpPr>
        <p:spPr>
          <a:xfrm>
            <a:off x="2135972" y="3328070"/>
            <a:ext cx="1499870" cy="1718945"/>
          </a:xfrm>
          <a:custGeom>
            <a:avLst/>
            <a:gdLst/>
            <a:ahLst/>
            <a:cxnLst/>
            <a:rect l="l" t="t" r="r" b="b"/>
            <a:pathLst>
              <a:path w="1499870" h="1718945">
                <a:moveTo>
                  <a:pt x="0" y="0"/>
                </a:moveTo>
                <a:lnTo>
                  <a:pt x="1499558" y="1718799"/>
                </a:lnTo>
              </a:path>
            </a:pathLst>
          </a:custGeom>
          <a:ln w="15647">
            <a:solidFill>
              <a:srgbClr val="000000"/>
            </a:solidFill>
          </a:ln>
        </p:spPr>
        <p:txBody>
          <a:bodyPr wrap="square" lIns="0" tIns="0" rIns="0" bIns="0" rtlCol="0"/>
          <a:lstStyle/>
          <a:p/>
        </p:txBody>
      </p:sp>
      <p:sp>
        <p:nvSpPr>
          <p:cNvPr id="28" name="object 28"/>
          <p:cNvSpPr/>
          <p:nvPr/>
        </p:nvSpPr>
        <p:spPr>
          <a:xfrm>
            <a:off x="5462907" y="2348686"/>
            <a:ext cx="1842135" cy="368300"/>
          </a:xfrm>
          <a:custGeom>
            <a:avLst/>
            <a:gdLst/>
            <a:ahLst/>
            <a:cxnLst/>
            <a:rect l="l" t="t" r="r" b="b"/>
            <a:pathLst>
              <a:path w="1842134" h="368300">
                <a:moveTo>
                  <a:pt x="0" y="367893"/>
                </a:moveTo>
                <a:lnTo>
                  <a:pt x="1841982" y="0"/>
                </a:lnTo>
              </a:path>
            </a:pathLst>
          </a:custGeom>
          <a:ln w="15645">
            <a:solidFill>
              <a:srgbClr val="000000"/>
            </a:solidFill>
          </a:ln>
        </p:spPr>
        <p:txBody>
          <a:bodyPr wrap="square" lIns="0" tIns="0" rIns="0" bIns="0" rtlCol="0"/>
          <a:lstStyle/>
          <a:p/>
        </p:txBody>
      </p:sp>
      <p:sp>
        <p:nvSpPr>
          <p:cNvPr id="29" name="object 29"/>
          <p:cNvSpPr/>
          <p:nvPr/>
        </p:nvSpPr>
        <p:spPr>
          <a:xfrm>
            <a:off x="5462907" y="3825476"/>
            <a:ext cx="1848485" cy="707390"/>
          </a:xfrm>
          <a:custGeom>
            <a:avLst/>
            <a:gdLst/>
            <a:ahLst/>
            <a:cxnLst/>
            <a:rect l="l" t="t" r="r" b="b"/>
            <a:pathLst>
              <a:path w="1848484" h="707389">
                <a:moveTo>
                  <a:pt x="0" y="0"/>
                </a:moveTo>
                <a:lnTo>
                  <a:pt x="1848285" y="706885"/>
                </a:lnTo>
              </a:path>
            </a:pathLst>
          </a:custGeom>
          <a:ln w="15646">
            <a:solidFill>
              <a:srgbClr val="000000"/>
            </a:solidFill>
          </a:ln>
        </p:spPr>
        <p:txBody>
          <a:bodyPr wrap="square" lIns="0" tIns="0" rIns="0" bIns="0" rtlCol="0"/>
          <a:lstStyle/>
          <a:p/>
        </p:txBody>
      </p:sp>
      <p:sp>
        <p:nvSpPr>
          <p:cNvPr id="30" name="object 30"/>
          <p:cNvSpPr/>
          <p:nvPr/>
        </p:nvSpPr>
        <p:spPr>
          <a:xfrm>
            <a:off x="5462907" y="4532362"/>
            <a:ext cx="1848485" cy="514984"/>
          </a:xfrm>
          <a:custGeom>
            <a:avLst/>
            <a:gdLst/>
            <a:ahLst/>
            <a:cxnLst/>
            <a:rect l="l" t="t" r="r" b="b"/>
            <a:pathLst>
              <a:path w="1848484" h="514985">
                <a:moveTo>
                  <a:pt x="0" y="514507"/>
                </a:moveTo>
                <a:lnTo>
                  <a:pt x="1848285" y="0"/>
                </a:lnTo>
              </a:path>
            </a:pathLst>
          </a:custGeom>
          <a:ln w="15646">
            <a:solidFill>
              <a:srgbClr val="000000"/>
            </a:solidFill>
          </a:ln>
        </p:spPr>
        <p:txBody>
          <a:bodyPr wrap="square" lIns="0" tIns="0" rIns="0" bIns="0" rtlCol="0"/>
          <a:lstStyle/>
          <a:p/>
        </p:txBody>
      </p:sp>
      <p:sp>
        <p:nvSpPr>
          <p:cNvPr id="31" name="object 31"/>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89098" y="122377"/>
            <a:ext cx="4286885" cy="1184910"/>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2.3.</a:t>
            </a:r>
            <a:r>
              <a:rPr dirty="0" sz="3800" spc="-25">
                <a:latin typeface="Calibri"/>
                <a:cs typeface="Calibri"/>
              </a:rPr>
              <a:t> </a:t>
            </a:r>
            <a:r>
              <a:rPr dirty="0" sz="3800"/>
              <a:t>建立系统边界</a:t>
            </a:r>
            <a:endParaRPr sz="3800">
              <a:latin typeface="Calibri"/>
              <a:cs typeface="Calibri"/>
            </a:endParaRPr>
          </a:p>
          <a:p>
            <a:pPr marL="407034">
              <a:lnSpc>
                <a:spcPct val="100000"/>
              </a:lnSpc>
            </a:pPr>
            <a:r>
              <a:rPr dirty="0" sz="3800">
                <a:latin typeface="Arial"/>
                <a:cs typeface="Arial"/>
              </a:rPr>
              <a:t>——</a:t>
            </a:r>
            <a:r>
              <a:rPr dirty="0" sz="3800"/>
              <a:t>上下文图示例</a:t>
            </a:r>
            <a:endParaRPr sz="3800">
              <a:latin typeface="Arial"/>
              <a:cs typeface="Arial"/>
            </a:endParaRPr>
          </a:p>
        </p:txBody>
      </p:sp>
      <p:sp>
        <p:nvSpPr>
          <p:cNvPr id="3" name="object 3"/>
          <p:cNvSpPr txBox="1"/>
          <p:nvPr/>
        </p:nvSpPr>
        <p:spPr>
          <a:xfrm>
            <a:off x="3517138" y="6309766"/>
            <a:ext cx="2490470" cy="208915"/>
          </a:xfrm>
          <a:prstGeom prst="rect">
            <a:avLst/>
          </a:prstGeom>
        </p:spPr>
        <p:txBody>
          <a:bodyPr wrap="square" lIns="0" tIns="12700" rIns="0" bIns="0" rtlCol="0" vert="horz">
            <a:spAutoFit/>
          </a:bodyPr>
          <a:lstStyle/>
          <a:p>
            <a:pPr marL="12700">
              <a:lnSpc>
                <a:spcPct val="100000"/>
              </a:lnSpc>
              <a:spcBef>
                <a:spcPts val="100"/>
              </a:spcBef>
            </a:pPr>
            <a:r>
              <a:rPr dirty="0" sz="1200" spc="-5">
                <a:latin typeface="微软雅黑"/>
                <a:cs typeface="微软雅黑"/>
              </a:rPr>
              <a:t>图</a:t>
            </a:r>
            <a:r>
              <a:rPr dirty="0" sz="1200">
                <a:latin typeface="微软雅黑"/>
                <a:cs typeface="微软雅黑"/>
              </a:rPr>
              <a:t>5－5、</a:t>
            </a:r>
            <a:r>
              <a:rPr dirty="0" sz="1200" spc="-5">
                <a:latin typeface="微软雅黑"/>
                <a:cs typeface="微软雅黑"/>
              </a:rPr>
              <a:t>自</a:t>
            </a:r>
            <a:r>
              <a:rPr dirty="0" sz="1200">
                <a:latin typeface="微软雅黑"/>
                <a:cs typeface="微软雅黑"/>
              </a:rPr>
              <a:t>助</a:t>
            </a:r>
            <a:r>
              <a:rPr dirty="0" sz="1200" spc="-5">
                <a:latin typeface="微软雅黑"/>
                <a:cs typeface="微软雅黑"/>
              </a:rPr>
              <a:t>餐</a:t>
            </a:r>
            <a:r>
              <a:rPr dirty="0" sz="1200">
                <a:latin typeface="微软雅黑"/>
                <a:cs typeface="微软雅黑"/>
              </a:rPr>
              <a:t>厅</a:t>
            </a:r>
            <a:r>
              <a:rPr dirty="0" sz="1200" spc="-5">
                <a:latin typeface="微软雅黑"/>
                <a:cs typeface="微软雅黑"/>
              </a:rPr>
              <a:t>订</a:t>
            </a:r>
            <a:r>
              <a:rPr dirty="0" sz="1200" spc="-15">
                <a:latin typeface="微软雅黑"/>
                <a:cs typeface="微软雅黑"/>
              </a:rPr>
              <a:t>餐</a:t>
            </a:r>
            <a:r>
              <a:rPr dirty="0" sz="1200">
                <a:latin typeface="微软雅黑"/>
                <a:cs typeface="微软雅黑"/>
              </a:rPr>
              <a:t>系</a:t>
            </a:r>
            <a:r>
              <a:rPr dirty="0" sz="1200" spc="-5">
                <a:latin typeface="微软雅黑"/>
                <a:cs typeface="微软雅黑"/>
              </a:rPr>
              <a:t>统</a:t>
            </a:r>
            <a:r>
              <a:rPr dirty="0" sz="1200">
                <a:latin typeface="微软雅黑"/>
                <a:cs typeface="微软雅黑"/>
              </a:rPr>
              <a:t>上</a:t>
            </a:r>
            <a:r>
              <a:rPr dirty="0" sz="1200" spc="-5">
                <a:latin typeface="微软雅黑"/>
                <a:cs typeface="微软雅黑"/>
              </a:rPr>
              <a:t>下</a:t>
            </a:r>
            <a:r>
              <a:rPr dirty="0" sz="1200">
                <a:latin typeface="微软雅黑"/>
                <a:cs typeface="微软雅黑"/>
              </a:rPr>
              <a:t>文图</a:t>
            </a:r>
            <a:endParaRPr sz="1200">
              <a:latin typeface="微软雅黑"/>
              <a:cs typeface="微软雅黑"/>
            </a:endParaRPr>
          </a:p>
        </p:txBody>
      </p:sp>
      <p:sp>
        <p:nvSpPr>
          <p:cNvPr id="4" name="object 4"/>
          <p:cNvSpPr txBox="1"/>
          <p:nvPr/>
        </p:nvSpPr>
        <p:spPr>
          <a:xfrm>
            <a:off x="4129532" y="3568065"/>
            <a:ext cx="787400" cy="377825"/>
          </a:xfrm>
          <a:prstGeom prst="rect">
            <a:avLst/>
          </a:prstGeom>
        </p:spPr>
        <p:txBody>
          <a:bodyPr wrap="square" lIns="0" tIns="29845" rIns="0" bIns="0" rtlCol="0" vert="horz">
            <a:spAutoFit/>
          </a:bodyPr>
          <a:lstStyle/>
          <a:p>
            <a:pPr marL="12700" marR="5080">
              <a:lnSpc>
                <a:spcPts val="1330"/>
              </a:lnSpc>
              <a:spcBef>
                <a:spcPts val="235"/>
              </a:spcBef>
            </a:pPr>
            <a:r>
              <a:rPr dirty="0" sz="1200">
                <a:latin typeface="宋体"/>
                <a:cs typeface="宋体"/>
              </a:rPr>
              <a:t>自助餐厅在 线订餐系统</a:t>
            </a:r>
            <a:endParaRPr sz="1200">
              <a:latin typeface="宋体"/>
              <a:cs typeface="宋体"/>
            </a:endParaRPr>
          </a:p>
        </p:txBody>
      </p:sp>
      <p:sp>
        <p:nvSpPr>
          <p:cNvPr id="5" name="object 5"/>
          <p:cNvSpPr txBox="1"/>
          <p:nvPr/>
        </p:nvSpPr>
        <p:spPr>
          <a:xfrm>
            <a:off x="4461764" y="1548129"/>
            <a:ext cx="3302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顾客</a:t>
            </a:r>
            <a:endParaRPr sz="1200">
              <a:latin typeface="宋体"/>
              <a:cs typeface="宋体"/>
            </a:endParaRPr>
          </a:p>
        </p:txBody>
      </p:sp>
      <p:sp>
        <p:nvSpPr>
          <p:cNvPr id="6" name="object 6"/>
          <p:cNvSpPr txBox="1"/>
          <p:nvPr/>
        </p:nvSpPr>
        <p:spPr>
          <a:xfrm>
            <a:off x="1486027" y="4528820"/>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工资系统</a:t>
            </a:r>
            <a:endParaRPr sz="1200">
              <a:latin typeface="宋体"/>
              <a:cs typeface="宋体"/>
            </a:endParaRPr>
          </a:p>
        </p:txBody>
      </p:sp>
      <p:sp>
        <p:nvSpPr>
          <p:cNvPr id="7" name="object 7"/>
          <p:cNvSpPr txBox="1"/>
          <p:nvPr/>
        </p:nvSpPr>
        <p:spPr>
          <a:xfrm>
            <a:off x="1569211" y="2581402"/>
            <a:ext cx="7874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菜单管理人</a:t>
            </a:r>
            <a:endParaRPr sz="1200">
              <a:latin typeface="宋体"/>
              <a:cs typeface="宋体"/>
            </a:endParaRPr>
          </a:p>
        </p:txBody>
      </p:sp>
      <p:sp>
        <p:nvSpPr>
          <p:cNvPr id="8" name="object 8"/>
          <p:cNvSpPr txBox="1"/>
          <p:nvPr/>
        </p:nvSpPr>
        <p:spPr>
          <a:xfrm>
            <a:off x="6882130" y="4509007"/>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送餐人员</a:t>
            </a:r>
            <a:endParaRPr sz="1200">
              <a:latin typeface="宋体"/>
              <a:cs typeface="宋体"/>
            </a:endParaRPr>
          </a:p>
        </p:txBody>
      </p:sp>
      <p:sp>
        <p:nvSpPr>
          <p:cNvPr id="9" name="object 9"/>
          <p:cNvSpPr txBox="1"/>
          <p:nvPr/>
        </p:nvSpPr>
        <p:spPr>
          <a:xfrm>
            <a:off x="7131557" y="2786253"/>
            <a:ext cx="1092200" cy="377825"/>
          </a:xfrm>
          <a:prstGeom prst="rect">
            <a:avLst/>
          </a:prstGeom>
        </p:spPr>
        <p:txBody>
          <a:bodyPr wrap="square" lIns="0" tIns="29845" rIns="0" bIns="0" rtlCol="0" vert="horz">
            <a:spAutoFit/>
          </a:bodyPr>
          <a:lstStyle/>
          <a:p>
            <a:pPr marL="469900" marR="5080" indent="-457200">
              <a:lnSpc>
                <a:spcPts val="1330"/>
              </a:lnSpc>
              <a:spcBef>
                <a:spcPts val="235"/>
              </a:spcBef>
            </a:pPr>
            <a:r>
              <a:rPr dirty="0" sz="1200">
                <a:latin typeface="宋体"/>
                <a:cs typeface="宋体"/>
              </a:rPr>
              <a:t>自助餐厅工作人 员</a:t>
            </a:r>
            <a:endParaRPr sz="1200">
              <a:latin typeface="宋体"/>
              <a:cs typeface="宋体"/>
            </a:endParaRPr>
          </a:p>
        </p:txBody>
      </p:sp>
      <p:sp>
        <p:nvSpPr>
          <p:cNvPr id="10" name="object 10"/>
          <p:cNvSpPr txBox="1"/>
          <p:nvPr/>
        </p:nvSpPr>
        <p:spPr>
          <a:xfrm>
            <a:off x="5789167" y="4140454"/>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送餐请求</a:t>
            </a:r>
            <a:endParaRPr sz="1200">
              <a:latin typeface="宋体"/>
              <a:cs typeface="宋体"/>
            </a:endParaRPr>
          </a:p>
        </p:txBody>
      </p:sp>
      <p:sp>
        <p:nvSpPr>
          <p:cNvPr id="11" name="object 11"/>
          <p:cNvSpPr txBox="1"/>
          <p:nvPr/>
        </p:nvSpPr>
        <p:spPr>
          <a:xfrm>
            <a:off x="1821307" y="3740911"/>
            <a:ext cx="1397000" cy="347345"/>
          </a:xfrm>
          <a:prstGeom prst="rect">
            <a:avLst/>
          </a:prstGeom>
        </p:spPr>
        <p:txBody>
          <a:bodyPr wrap="square" lIns="0" tIns="56515" rIns="0" bIns="0" rtlCol="0" vert="horz">
            <a:spAutoFit/>
          </a:bodyPr>
          <a:lstStyle/>
          <a:p>
            <a:pPr marL="546100" marR="5080" indent="-533400">
              <a:lnSpc>
                <a:spcPct val="75800"/>
              </a:lnSpc>
              <a:spcBef>
                <a:spcPts val="445"/>
              </a:spcBef>
            </a:pPr>
            <a:r>
              <a:rPr dirty="0" sz="1200">
                <a:latin typeface="宋体"/>
                <a:cs typeface="宋体"/>
              </a:rPr>
              <a:t>从工资中扣除餐费的 请求</a:t>
            </a:r>
            <a:endParaRPr sz="1200">
              <a:latin typeface="宋体"/>
              <a:cs typeface="宋体"/>
            </a:endParaRPr>
          </a:p>
        </p:txBody>
      </p:sp>
      <p:sp>
        <p:nvSpPr>
          <p:cNvPr id="12" name="object 12"/>
          <p:cNvSpPr txBox="1"/>
          <p:nvPr/>
        </p:nvSpPr>
        <p:spPr>
          <a:xfrm>
            <a:off x="2795397" y="4846066"/>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付款要求</a:t>
            </a:r>
            <a:endParaRPr sz="1200">
              <a:latin typeface="宋体"/>
              <a:cs typeface="宋体"/>
            </a:endParaRPr>
          </a:p>
        </p:txBody>
      </p:sp>
      <p:sp>
        <p:nvSpPr>
          <p:cNvPr id="13" name="object 13"/>
          <p:cNvSpPr txBox="1"/>
          <p:nvPr/>
        </p:nvSpPr>
        <p:spPr>
          <a:xfrm>
            <a:off x="2634742" y="3345941"/>
            <a:ext cx="63627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菜单内容</a:t>
            </a:r>
            <a:endParaRPr sz="1200">
              <a:latin typeface="宋体"/>
              <a:cs typeface="宋体"/>
            </a:endParaRPr>
          </a:p>
        </p:txBody>
      </p:sp>
      <p:sp>
        <p:nvSpPr>
          <p:cNvPr id="14" name="object 14"/>
          <p:cNvSpPr/>
          <p:nvPr/>
        </p:nvSpPr>
        <p:spPr>
          <a:xfrm>
            <a:off x="1138237" y="1519237"/>
            <a:ext cx="7202805" cy="4499229"/>
          </a:xfrm>
          <a:prstGeom prst="rect">
            <a:avLst/>
          </a:prstGeom>
          <a:blipFill>
            <a:blip r:embed="rId2" cstate="print"/>
            <a:stretch>
              <a:fillRect/>
            </a:stretch>
          </a:blipFill>
        </p:spPr>
        <p:txBody>
          <a:bodyPr wrap="square" lIns="0" tIns="0" rIns="0" bIns="0" rtlCol="0"/>
          <a:lstStyle/>
          <a:p/>
        </p:txBody>
      </p:sp>
      <p:sp>
        <p:nvSpPr>
          <p:cNvPr id="15" name="object 15"/>
          <p:cNvSpPr txBox="1"/>
          <p:nvPr/>
        </p:nvSpPr>
        <p:spPr>
          <a:xfrm>
            <a:off x="7223252" y="3445255"/>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付款请求</a:t>
            </a:r>
            <a:endParaRPr sz="1200">
              <a:latin typeface="宋体"/>
              <a:cs typeface="宋体"/>
            </a:endParaRPr>
          </a:p>
        </p:txBody>
      </p:sp>
      <p:sp>
        <p:nvSpPr>
          <p:cNvPr id="26" name="object 26"/>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16" name="object 16"/>
          <p:cNvSpPr txBox="1"/>
          <p:nvPr/>
        </p:nvSpPr>
        <p:spPr>
          <a:xfrm>
            <a:off x="6051041" y="2574797"/>
            <a:ext cx="692150" cy="542290"/>
          </a:xfrm>
          <a:prstGeom prst="rect">
            <a:avLst/>
          </a:prstGeom>
        </p:spPr>
        <p:txBody>
          <a:bodyPr wrap="square" lIns="0" tIns="12700" rIns="0" bIns="0" rtlCol="0" vert="horz">
            <a:spAutoFit/>
          </a:bodyPr>
          <a:lstStyle/>
          <a:p>
            <a:pPr marL="69215" marR="5080" indent="-57150">
              <a:lnSpc>
                <a:spcPct val="141300"/>
              </a:lnSpc>
              <a:spcBef>
                <a:spcPts val="100"/>
              </a:spcBef>
            </a:pPr>
            <a:r>
              <a:rPr dirty="0" sz="1200">
                <a:latin typeface="宋体"/>
                <a:cs typeface="宋体"/>
              </a:rPr>
              <a:t>食物订单 送餐请求</a:t>
            </a:r>
            <a:endParaRPr sz="1200">
              <a:latin typeface="宋体"/>
              <a:cs typeface="宋体"/>
            </a:endParaRPr>
          </a:p>
        </p:txBody>
      </p:sp>
      <p:sp>
        <p:nvSpPr>
          <p:cNvPr id="17" name="object 17"/>
          <p:cNvSpPr txBox="1"/>
          <p:nvPr/>
        </p:nvSpPr>
        <p:spPr>
          <a:xfrm>
            <a:off x="4655565" y="2173046"/>
            <a:ext cx="330200" cy="208915"/>
          </a:xfrm>
          <a:prstGeom prst="rect">
            <a:avLst/>
          </a:prstGeom>
        </p:spPr>
        <p:txBody>
          <a:bodyPr wrap="square" lIns="0" tIns="12700" rIns="0" bIns="0" rtlCol="0" vert="horz">
            <a:spAutoFit/>
          </a:bodyPr>
          <a:lstStyle/>
          <a:p>
            <a:pPr marL="12700">
              <a:lnSpc>
                <a:spcPct val="100000"/>
              </a:lnSpc>
              <a:spcBef>
                <a:spcPts val="100"/>
              </a:spcBef>
            </a:pPr>
            <a:r>
              <a:rPr dirty="0" sz="1200" spc="-5">
                <a:latin typeface="宋体"/>
                <a:cs typeface="宋体"/>
              </a:rPr>
              <a:t>菜单</a:t>
            </a:r>
            <a:endParaRPr sz="1200">
              <a:latin typeface="宋体"/>
              <a:cs typeface="宋体"/>
            </a:endParaRPr>
          </a:p>
        </p:txBody>
      </p:sp>
      <p:sp>
        <p:nvSpPr>
          <p:cNvPr id="18" name="object 18"/>
          <p:cNvSpPr txBox="1"/>
          <p:nvPr/>
        </p:nvSpPr>
        <p:spPr>
          <a:xfrm>
            <a:off x="3998721" y="2340102"/>
            <a:ext cx="482600" cy="347345"/>
          </a:xfrm>
          <a:prstGeom prst="rect">
            <a:avLst/>
          </a:prstGeom>
        </p:spPr>
        <p:txBody>
          <a:bodyPr wrap="square" lIns="0" tIns="56515" rIns="0" bIns="0" rtlCol="0" vert="horz">
            <a:spAutoFit/>
          </a:bodyPr>
          <a:lstStyle/>
          <a:p>
            <a:pPr marL="165100" marR="5080" indent="-152400">
              <a:lnSpc>
                <a:spcPct val="75800"/>
              </a:lnSpc>
              <a:spcBef>
                <a:spcPts val="445"/>
              </a:spcBef>
            </a:pPr>
            <a:r>
              <a:rPr dirty="0" sz="1200">
                <a:latin typeface="宋体"/>
                <a:cs typeface="宋体"/>
              </a:rPr>
              <a:t>食物订 单</a:t>
            </a:r>
            <a:endParaRPr sz="1200">
              <a:latin typeface="宋体"/>
              <a:cs typeface="宋体"/>
            </a:endParaRPr>
          </a:p>
        </p:txBody>
      </p:sp>
      <p:sp>
        <p:nvSpPr>
          <p:cNvPr id="19" name="object 19"/>
          <p:cNvSpPr txBox="1"/>
          <p:nvPr/>
        </p:nvSpPr>
        <p:spPr>
          <a:xfrm>
            <a:off x="5149341" y="2113915"/>
            <a:ext cx="9398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食物订购信息</a:t>
            </a:r>
            <a:endParaRPr sz="1200">
              <a:latin typeface="宋体"/>
              <a:cs typeface="宋体"/>
            </a:endParaRPr>
          </a:p>
        </p:txBody>
      </p:sp>
      <p:sp>
        <p:nvSpPr>
          <p:cNvPr id="20" name="object 20"/>
          <p:cNvSpPr txBox="1"/>
          <p:nvPr/>
        </p:nvSpPr>
        <p:spPr>
          <a:xfrm>
            <a:off x="2994405" y="2002282"/>
            <a:ext cx="939800" cy="347345"/>
          </a:xfrm>
          <a:prstGeom prst="rect">
            <a:avLst/>
          </a:prstGeom>
        </p:spPr>
        <p:txBody>
          <a:bodyPr wrap="square" lIns="0" tIns="56515" rIns="0" bIns="0" rtlCol="0" vert="horz">
            <a:spAutoFit/>
          </a:bodyPr>
          <a:lstStyle/>
          <a:p>
            <a:pPr marL="165100" marR="5080" indent="-152400">
              <a:lnSpc>
                <a:spcPct val="75800"/>
              </a:lnSpc>
              <a:spcBef>
                <a:spcPts val="445"/>
              </a:spcBef>
            </a:pPr>
            <a:r>
              <a:rPr dirty="0" sz="1200">
                <a:latin typeface="宋体"/>
                <a:cs typeface="宋体"/>
              </a:rPr>
              <a:t>注册从工资中 扣除餐费</a:t>
            </a:r>
            <a:endParaRPr sz="1200">
              <a:latin typeface="宋体"/>
              <a:cs typeface="宋体"/>
            </a:endParaRPr>
          </a:p>
        </p:txBody>
      </p:sp>
      <p:sp>
        <p:nvSpPr>
          <p:cNvPr id="21" name="object 21"/>
          <p:cNvSpPr txBox="1"/>
          <p:nvPr/>
        </p:nvSpPr>
        <p:spPr>
          <a:xfrm>
            <a:off x="4000880" y="5428589"/>
            <a:ext cx="1092200" cy="378460"/>
          </a:xfrm>
          <a:prstGeom prst="rect">
            <a:avLst/>
          </a:prstGeom>
        </p:spPr>
        <p:txBody>
          <a:bodyPr wrap="square" lIns="0" tIns="12700" rIns="0" bIns="0" rtlCol="0" vert="horz">
            <a:spAutoFit/>
          </a:bodyPr>
          <a:lstStyle/>
          <a:p>
            <a:pPr algn="ctr">
              <a:lnSpc>
                <a:spcPts val="1385"/>
              </a:lnSpc>
              <a:spcBef>
                <a:spcPts val="100"/>
              </a:spcBef>
            </a:pPr>
            <a:r>
              <a:rPr dirty="0" sz="1200" spc="-5">
                <a:latin typeface="宋体"/>
                <a:cs typeface="宋体"/>
              </a:rPr>
              <a:t>自助餐厅库存系</a:t>
            </a:r>
            <a:endParaRPr sz="1200">
              <a:latin typeface="宋体"/>
              <a:cs typeface="宋体"/>
            </a:endParaRPr>
          </a:p>
          <a:p>
            <a:pPr algn="ctr">
              <a:lnSpc>
                <a:spcPts val="1385"/>
              </a:lnSpc>
            </a:pPr>
            <a:r>
              <a:rPr dirty="0" sz="1200">
                <a:latin typeface="宋体"/>
                <a:cs typeface="宋体"/>
              </a:rPr>
              <a:t>统</a:t>
            </a:r>
            <a:endParaRPr sz="1200">
              <a:latin typeface="宋体"/>
              <a:cs typeface="宋体"/>
            </a:endParaRPr>
          </a:p>
        </p:txBody>
      </p:sp>
      <p:sp>
        <p:nvSpPr>
          <p:cNvPr id="22" name="object 22"/>
          <p:cNvSpPr txBox="1"/>
          <p:nvPr/>
        </p:nvSpPr>
        <p:spPr>
          <a:xfrm>
            <a:off x="3775328" y="4796408"/>
            <a:ext cx="635000" cy="208279"/>
          </a:xfrm>
          <a:prstGeom prst="rect">
            <a:avLst/>
          </a:prstGeom>
        </p:spPr>
        <p:txBody>
          <a:bodyPr wrap="square" lIns="0" tIns="12700" rIns="0" bIns="0" rtlCol="0" vert="horz">
            <a:spAutoFit/>
          </a:bodyPr>
          <a:lstStyle/>
          <a:p>
            <a:pPr marL="12700">
              <a:lnSpc>
                <a:spcPct val="100000"/>
              </a:lnSpc>
              <a:spcBef>
                <a:spcPts val="100"/>
              </a:spcBef>
            </a:pPr>
            <a:r>
              <a:rPr dirty="0" sz="1200">
                <a:latin typeface="宋体"/>
                <a:cs typeface="宋体"/>
              </a:rPr>
              <a:t>食物订单</a:t>
            </a:r>
            <a:endParaRPr sz="1200">
              <a:latin typeface="宋体"/>
              <a:cs typeface="宋体"/>
            </a:endParaRPr>
          </a:p>
        </p:txBody>
      </p:sp>
      <p:sp>
        <p:nvSpPr>
          <p:cNvPr id="23" name="object 23"/>
          <p:cNvSpPr txBox="1"/>
          <p:nvPr/>
        </p:nvSpPr>
        <p:spPr>
          <a:xfrm>
            <a:off x="4625721" y="4664709"/>
            <a:ext cx="939800" cy="347345"/>
          </a:xfrm>
          <a:prstGeom prst="rect">
            <a:avLst/>
          </a:prstGeom>
        </p:spPr>
        <p:txBody>
          <a:bodyPr wrap="square" lIns="0" tIns="12700" rIns="0" bIns="0" rtlCol="0" vert="horz">
            <a:spAutoFit/>
          </a:bodyPr>
          <a:lstStyle/>
          <a:p>
            <a:pPr marL="12700">
              <a:lnSpc>
                <a:spcPts val="1265"/>
              </a:lnSpc>
              <a:spcBef>
                <a:spcPts val="100"/>
              </a:spcBef>
            </a:pPr>
            <a:r>
              <a:rPr dirty="0" sz="1200">
                <a:latin typeface="宋体"/>
                <a:cs typeface="宋体"/>
              </a:rPr>
              <a:t>可提供的食物</a:t>
            </a:r>
            <a:endParaRPr sz="1200">
              <a:latin typeface="宋体"/>
              <a:cs typeface="宋体"/>
            </a:endParaRPr>
          </a:p>
          <a:p>
            <a:pPr marL="12700">
              <a:lnSpc>
                <a:spcPts val="1265"/>
              </a:lnSpc>
            </a:pPr>
            <a:r>
              <a:rPr dirty="0" sz="1200" spc="-5">
                <a:latin typeface="宋体"/>
                <a:cs typeface="宋体"/>
              </a:rPr>
              <a:t>信息</a:t>
            </a:r>
            <a:endParaRPr sz="1200">
              <a:latin typeface="宋体"/>
              <a:cs typeface="宋体"/>
            </a:endParaRPr>
          </a:p>
        </p:txBody>
      </p:sp>
      <p:sp>
        <p:nvSpPr>
          <p:cNvPr id="24" name="object 24"/>
          <p:cNvSpPr txBox="1"/>
          <p:nvPr/>
        </p:nvSpPr>
        <p:spPr>
          <a:xfrm>
            <a:off x="2527173" y="4267580"/>
            <a:ext cx="1397000" cy="347345"/>
          </a:xfrm>
          <a:prstGeom prst="rect">
            <a:avLst/>
          </a:prstGeom>
        </p:spPr>
        <p:txBody>
          <a:bodyPr wrap="square" lIns="0" tIns="56515" rIns="0" bIns="0" rtlCol="0" vert="horz">
            <a:spAutoFit/>
          </a:bodyPr>
          <a:lstStyle/>
          <a:p>
            <a:pPr marL="546100" marR="5080" indent="-533400">
              <a:lnSpc>
                <a:spcPct val="75800"/>
              </a:lnSpc>
              <a:spcBef>
                <a:spcPts val="445"/>
              </a:spcBef>
            </a:pPr>
            <a:r>
              <a:rPr dirty="0" sz="1200">
                <a:latin typeface="宋体"/>
                <a:cs typeface="宋体"/>
              </a:rPr>
              <a:t>从工资中扣除餐费的 响应</a:t>
            </a:r>
            <a:endParaRPr sz="1200">
              <a:latin typeface="宋体"/>
              <a:cs typeface="宋体"/>
            </a:endParaRPr>
          </a:p>
        </p:txBody>
      </p:sp>
      <p:sp>
        <p:nvSpPr>
          <p:cNvPr id="25" name="object 25"/>
          <p:cNvSpPr txBox="1"/>
          <p:nvPr/>
        </p:nvSpPr>
        <p:spPr>
          <a:xfrm>
            <a:off x="6019546" y="3244088"/>
            <a:ext cx="787400" cy="347345"/>
          </a:xfrm>
          <a:prstGeom prst="rect">
            <a:avLst/>
          </a:prstGeom>
        </p:spPr>
        <p:txBody>
          <a:bodyPr wrap="square" lIns="0" tIns="56515" rIns="0" bIns="0" rtlCol="0" vert="horz">
            <a:spAutoFit/>
          </a:bodyPr>
          <a:lstStyle/>
          <a:p>
            <a:pPr marL="317500" marR="5080" indent="-304800">
              <a:lnSpc>
                <a:spcPct val="75800"/>
              </a:lnSpc>
              <a:spcBef>
                <a:spcPts val="445"/>
              </a:spcBef>
            </a:pPr>
            <a:r>
              <a:rPr dirty="0" sz="1200">
                <a:latin typeface="宋体"/>
                <a:cs typeface="宋体"/>
              </a:rPr>
              <a:t>更新食物状 态</a:t>
            </a:r>
            <a:endParaRPr sz="1200">
              <a:latin typeface="宋体"/>
              <a:cs typeface="宋体"/>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0429" y="472566"/>
            <a:ext cx="2263140" cy="696595"/>
          </a:xfrm>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7562"/>
            <a:ext cx="5619115" cy="236791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确定项目前景和范围</a:t>
            </a:r>
            <a:r>
              <a:rPr dirty="0" sz="3200" spc="-15">
                <a:latin typeface="宋体"/>
                <a:cs typeface="宋体"/>
              </a:rPr>
              <a:t>的</a:t>
            </a:r>
            <a:r>
              <a:rPr dirty="0" sz="3200">
                <a:latin typeface="宋体"/>
                <a:cs typeface="宋体"/>
              </a:rPr>
              <a:t>活动</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问题分析</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建立系统边界</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B2408"/>
                </a:solidFill>
                <a:latin typeface="宋体"/>
                <a:cs typeface="宋体"/>
              </a:rPr>
              <a:t>项目前景和范围文档</a:t>
            </a:r>
            <a:endParaRPr sz="3200">
              <a:latin typeface="宋体"/>
              <a:cs typeface="宋体"/>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4169" y="472566"/>
            <a:ext cx="4916805" cy="696595"/>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2.4.</a:t>
            </a:r>
            <a:r>
              <a:rPr dirty="0" spc="-65">
                <a:latin typeface="Calibri"/>
                <a:cs typeface="Calibri"/>
              </a:rPr>
              <a:t> </a:t>
            </a:r>
            <a:r>
              <a:rPr dirty="0"/>
              <a:t>前景和范围文档</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42313"/>
            <a:ext cx="8003540" cy="4243070"/>
          </a:xfrm>
          <a:prstGeom prst="rect">
            <a:avLst/>
          </a:prstGeom>
        </p:spPr>
        <p:txBody>
          <a:bodyPr wrap="square" lIns="0" tIns="12700" rIns="0" bIns="0" rtlCol="0" vert="horz">
            <a:spAutoFit/>
          </a:bodyPr>
          <a:lstStyle/>
          <a:p>
            <a:pPr marL="355600" indent="-343535">
              <a:lnSpc>
                <a:spcPts val="2790"/>
              </a:lnSpc>
              <a:spcBef>
                <a:spcPts val="100"/>
              </a:spcBef>
              <a:buClr>
                <a:srgbClr val="00663B"/>
              </a:buClr>
              <a:buSzPct val="79166"/>
              <a:buFont typeface="Wingdings"/>
              <a:buChar char=""/>
              <a:tabLst>
                <a:tab pos="355600" algn="l"/>
                <a:tab pos="356235" algn="l"/>
              </a:tabLst>
            </a:pPr>
            <a:r>
              <a:rPr dirty="0" sz="2400" spc="-5">
                <a:latin typeface="宋体"/>
                <a:cs typeface="宋体"/>
              </a:rPr>
              <a:t>业务需求、高层次解决方案和系统特性都应该被定义</a:t>
            </a:r>
            <a:r>
              <a:rPr dirty="0" sz="2400" spc="5">
                <a:latin typeface="宋体"/>
                <a:cs typeface="宋体"/>
              </a:rPr>
              <a:t>到</a:t>
            </a:r>
            <a:r>
              <a:rPr dirty="0" sz="2400" spc="-10" b="1">
                <a:solidFill>
                  <a:srgbClr val="C00000"/>
                </a:solidFill>
                <a:latin typeface="宋体"/>
                <a:cs typeface="宋体"/>
              </a:rPr>
              <a:t>项</a:t>
            </a:r>
            <a:endParaRPr sz="2400">
              <a:latin typeface="宋体"/>
              <a:cs typeface="宋体"/>
            </a:endParaRPr>
          </a:p>
          <a:p>
            <a:pPr marL="355600">
              <a:lnSpc>
                <a:spcPts val="2790"/>
              </a:lnSpc>
            </a:pPr>
            <a:r>
              <a:rPr dirty="0" sz="2400" b="1">
                <a:solidFill>
                  <a:srgbClr val="C00000"/>
                </a:solidFill>
                <a:latin typeface="宋体"/>
                <a:cs typeface="宋体"/>
              </a:rPr>
              <a:t>目前景与范围文档</a:t>
            </a:r>
            <a:r>
              <a:rPr dirty="0" sz="2400">
                <a:latin typeface="宋体"/>
                <a:cs typeface="宋体"/>
              </a:rPr>
              <a:t>之中。</a:t>
            </a:r>
            <a:endParaRPr sz="2400">
              <a:latin typeface="宋体"/>
              <a:cs typeface="宋体"/>
            </a:endParaRPr>
          </a:p>
          <a:p>
            <a:pPr>
              <a:lnSpc>
                <a:spcPct val="100000"/>
              </a:lnSpc>
              <a:spcBef>
                <a:spcPts val="30"/>
              </a:spcBef>
            </a:pPr>
            <a:endParaRPr sz="3450">
              <a:latin typeface="宋体"/>
              <a:cs typeface="宋体"/>
            </a:endParaRPr>
          </a:p>
          <a:p>
            <a:pPr marL="355600" marR="19685" indent="-343535">
              <a:lnSpc>
                <a:spcPts val="2700"/>
              </a:lnSpc>
              <a:spcBef>
                <a:spcPts val="5"/>
              </a:spcBef>
              <a:buClr>
                <a:srgbClr val="00663B"/>
              </a:buClr>
              <a:buSzPct val="79166"/>
              <a:buFont typeface="Wingdings"/>
              <a:buChar char=""/>
              <a:tabLst>
                <a:tab pos="355600" algn="l"/>
                <a:tab pos="356235" algn="l"/>
              </a:tabLst>
            </a:pPr>
            <a:r>
              <a:rPr dirty="0" sz="2400">
                <a:latin typeface="宋体"/>
                <a:cs typeface="宋体"/>
              </a:rPr>
              <a:t>前景与范围文档主要由需求工程师来完成，但文档的负责 人一般是项目的投资负责人、执行主管或其他类似角色。</a:t>
            </a:r>
            <a:endParaRPr sz="2400">
              <a:latin typeface="宋体"/>
              <a:cs typeface="宋体"/>
            </a:endParaRPr>
          </a:p>
          <a:p>
            <a:pPr>
              <a:lnSpc>
                <a:spcPct val="100000"/>
              </a:lnSpc>
              <a:spcBef>
                <a:spcPts val="35"/>
              </a:spcBef>
              <a:buClr>
                <a:srgbClr val="00663B"/>
              </a:buClr>
              <a:buFont typeface="Wingdings"/>
              <a:buChar char=""/>
            </a:pPr>
            <a:endParaRPr sz="3400">
              <a:latin typeface="宋体"/>
              <a:cs typeface="宋体"/>
            </a:endParaRPr>
          </a:p>
          <a:p>
            <a:pPr marL="355600" marR="5080" indent="-343535">
              <a:lnSpc>
                <a:spcPts val="2700"/>
              </a:lnSpc>
              <a:buClr>
                <a:srgbClr val="00663B"/>
              </a:buClr>
              <a:buSzPct val="79166"/>
              <a:buFont typeface="Wingdings"/>
              <a:buChar char=""/>
              <a:tabLst>
                <a:tab pos="355600" algn="l"/>
                <a:tab pos="356235" algn="l"/>
              </a:tabLst>
            </a:pPr>
            <a:r>
              <a:rPr dirty="0" sz="2400">
                <a:latin typeface="宋体"/>
                <a:cs typeface="宋体"/>
              </a:rPr>
              <a:t>文档中记录的应该是清晰、明确的</a:t>
            </a:r>
            <a:r>
              <a:rPr dirty="0" sz="2400" b="1">
                <a:solidFill>
                  <a:srgbClr val="C00000"/>
                </a:solidFill>
                <a:latin typeface="宋体"/>
                <a:cs typeface="宋体"/>
              </a:rPr>
              <a:t>业务需</a:t>
            </a:r>
            <a:r>
              <a:rPr dirty="0" sz="2400" spc="5" b="1">
                <a:solidFill>
                  <a:srgbClr val="C00000"/>
                </a:solidFill>
                <a:latin typeface="宋体"/>
                <a:cs typeface="宋体"/>
              </a:rPr>
              <a:t>求</a:t>
            </a:r>
            <a:r>
              <a:rPr dirty="0" sz="2400">
                <a:latin typeface="宋体"/>
                <a:cs typeface="宋体"/>
              </a:rPr>
              <a:t>、</a:t>
            </a:r>
            <a:r>
              <a:rPr dirty="0" sz="2400" b="1">
                <a:solidFill>
                  <a:srgbClr val="C00000"/>
                </a:solidFill>
                <a:latin typeface="宋体"/>
                <a:cs typeface="宋体"/>
              </a:rPr>
              <a:t>高层次解决 </a:t>
            </a:r>
            <a:r>
              <a:rPr dirty="0" sz="2400" spc="-5" b="1">
                <a:solidFill>
                  <a:srgbClr val="C00000"/>
                </a:solidFill>
                <a:latin typeface="宋体"/>
                <a:cs typeface="宋体"/>
              </a:rPr>
              <a:t>方案</a:t>
            </a:r>
            <a:r>
              <a:rPr dirty="0" sz="2400" spc="-5">
                <a:latin typeface="宋体"/>
                <a:cs typeface="宋体"/>
              </a:rPr>
              <a:t>和</a:t>
            </a:r>
            <a:r>
              <a:rPr dirty="0" sz="2400" spc="-5" b="1">
                <a:solidFill>
                  <a:srgbClr val="C00000"/>
                </a:solidFill>
                <a:latin typeface="宋体"/>
                <a:cs typeface="宋体"/>
              </a:rPr>
              <a:t>系统特</a:t>
            </a:r>
            <a:r>
              <a:rPr dirty="0" sz="2400" b="1">
                <a:solidFill>
                  <a:srgbClr val="C00000"/>
                </a:solidFill>
                <a:latin typeface="宋体"/>
                <a:cs typeface="宋体"/>
              </a:rPr>
              <a:t>性</a:t>
            </a:r>
            <a:r>
              <a:rPr dirty="0" sz="2400">
                <a:solidFill>
                  <a:srgbClr val="C00000"/>
                </a:solidFill>
                <a:latin typeface="宋体"/>
                <a:cs typeface="宋体"/>
              </a:rPr>
              <a:t>。</a:t>
            </a:r>
            <a:endParaRPr sz="2400">
              <a:latin typeface="宋体"/>
              <a:cs typeface="宋体"/>
            </a:endParaRPr>
          </a:p>
          <a:p>
            <a:pPr>
              <a:lnSpc>
                <a:spcPct val="100000"/>
              </a:lnSpc>
              <a:spcBef>
                <a:spcPts val="35"/>
              </a:spcBef>
              <a:buClr>
                <a:srgbClr val="00663B"/>
              </a:buClr>
              <a:buFont typeface="Wingdings"/>
              <a:buChar char=""/>
            </a:pPr>
            <a:endParaRPr sz="3200">
              <a:latin typeface="宋体"/>
              <a:cs typeface="宋体"/>
            </a:endParaRPr>
          </a:p>
          <a:p>
            <a:pPr marL="355600" indent="-343535">
              <a:lnSpc>
                <a:spcPct val="100000"/>
              </a:lnSpc>
              <a:buClr>
                <a:srgbClr val="00663B"/>
              </a:buClr>
              <a:buSzPct val="79166"/>
              <a:buFont typeface="Wingdings"/>
              <a:buChar char=""/>
              <a:tabLst>
                <a:tab pos="355600" algn="l"/>
                <a:tab pos="356235" algn="l"/>
              </a:tabLst>
            </a:pPr>
            <a:r>
              <a:rPr dirty="0" sz="2400">
                <a:latin typeface="宋体"/>
                <a:cs typeface="宋体"/>
              </a:rPr>
              <a:t>项目合约或抽象的业务用例文档也可以实现类似目</a:t>
            </a:r>
            <a:r>
              <a:rPr dirty="0" sz="2400" spc="5">
                <a:latin typeface="宋体"/>
                <a:cs typeface="宋体"/>
              </a:rPr>
              <a:t>的</a:t>
            </a:r>
            <a:r>
              <a:rPr dirty="0" sz="3200">
                <a:latin typeface="宋体"/>
                <a:cs typeface="宋体"/>
              </a:rPr>
              <a:t>。</a:t>
            </a:r>
            <a:endParaRPr sz="3200">
              <a:latin typeface="宋体"/>
              <a:cs typeface="宋体"/>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46782" y="95199"/>
            <a:ext cx="4250055" cy="605790"/>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2.4.</a:t>
            </a:r>
            <a:r>
              <a:rPr dirty="0" sz="3800" spc="-85">
                <a:latin typeface="Calibri"/>
                <a:cs typeface="Calibri"/>
              </a:rPr>
              <a:t> </a:t>
            </a:r>
            <a:r>
              <a:rPr dirty="0" sz="3800"/>
              <a:t>前景和范围文档</a:t>
            </a:r>
            <a:endParaRPr sz="3800">
              <a:latin typeface="Calibri"/>
              <a:cs typeface="Calibri"/>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3263899" y="792816"/>
            <a:ext cx="1881505" cy="5420995"/>
          </a:xfrm>
          <a:prstGeom prst="rect">
            <a:avLst/>
          </a:prstGeom>
        </p:spPr>
        <p:txBody>
          <a:bodyPr wrap="square" lIns="0" tIns="63500" rIns="0" bIns="0" rtlCol="0" vert="horz">
            <a:spAutoFit/>
          </a:bodyPr>
          <a:lstStyle/>
          <a:p>
            <a:pPr marL="362585" indent="-350520">
              <a:lnSpc>
                <a:spcPct val="100000"/>
              </a:lnSpc>
              <a:spcBef>
                <a:spcPts val="500"/>
              </a:spcBef>
              <a:buFont typeface="Times New Roman"/>
              <a:buAutoNum type="arabicPlain"/>
              <a:tabLst>
                <a:tab pos="362585" algn="l"/>
                <a:tab pos="363220" algn="l"/>
              </a:tabLst>
            </a:pPr>
            <a:r>
              <a:rPr dirty="0" sz="1350" spc="10">
                <a:latin typeface="宋体"/>
                <a:cs typeface="宋体"/>
              </a:rPr>
              <a:t>业务需求</a:t>
            </a:r>
            <a:endParaRPr sz="1350">
              <a:latin typeface="宋体"/>
              <a:cs typeface="宋体"/>
            </a:endParaRPr>
          </a:p>
          <a:p>
            <a:pPr lvl="1" marL="829944" indent="-467995">
              <a:lnSpc>
                <a:spcPct val="100000"/>
              </a:lnSpc>
              <a:spcBef>
                <a:spcPts val="400"/>
              </a:spcBef>
              <a:buFont typeface="Times New Roman"/>
              <a:buAutoNum type="arabicPeriod"/>
              <a:tabLst>
                <a:tab pos="829944" algn="l"/>
                <a:tab pos="830580" algn="l"/>
              </a:tabLst>
            </a:pPr>
            <a:r>
              <a:rPr dirty="0" sz="1350" spc="10">
                <a:latin typeface="宋体"/>
                <a:cs typeface="宋体"/>
              </a:rPr>
              <a:t>应用背景</a:t>
            </a:r>
            <a:endParaRPr sz="1350">
              <a:latin typeface="宋体"/>
              <a:cs typeface="宋体"/>
            </a:endParaRPr>
          </a:p>
          <a:p>
            <a:pPr lvl="1" marL="829944" indent="-467995">
              <a:lnSpc>
                <a:spcPct val="100000"/>
              </a:lnSpc>
              <a:spcBef>
                <a:spcPts val="405"/>
              </a:spcBef>
              <a:buFont typeface="Times New Roman"/>
              <a:buAutoNum type="arabicPeriod"/>
              <a:tabLst>
                <a:tab pos="829944" algn="l"/>
                <a:tab pos="830580" algn="l"/>
              </a:tabLst>
            </a:pPr>
            <a:r>
              <a:rPr dirty="0" sz="1350" spc="10">
                <a:latin typeface="宋体"/>
                <a:cs typeface="宋体"/>
              </a:rPr>
              <a:t>业务机遇</a:t>
            </a:r>
            <a:endParaRPr sz="1350">
              <a:latin typeface="宋体"/>
              <a:cs typeface="宋体"/>
            </a:endParaRPr>
          </a:p>
          <a:p>
            <a:pPr lvl="1" marL="829944" indent="-467995">
              <a:lnSpc>
                <a:spcPct val="100000"/>
              </a:lnSpc>
              <a:spcBef>
                <a:spcPts val="400"/>
              </a:spcBef>
              <a:buFont typeface="Times New Roman"/>
              <a:buAutoNum type="arabicPeriod"/>
              <a:tabLst>
                <a:tab pos="829944" algn="l"/>
                <a:tab pos="830580" algn="l"/>
              </a:tabLst>
            </a:pPr>
            <a:r>
              <a:rPr dirty="0" sz="1350" spc="10">
                <a:latin typeface="宋体"/>
                <a:cs typeface="宋体"/>
              </a:rPr>
              <a:t>业务目标</a:t>
            </a:r>
            <a:endParaRPr sz="1350">
              <a:latin typeface="宋体"/>
              <a:cs typeface="宋体"/>
            </a:endParaRPr>
          </a:p>
          <a:p>
            <a:pPr lvl="1" marL="829944" indent="-467995">
              <a:lnSpc>
                <a:spcPct val="100000"/>
              </a:lnSpc>
              <a:spcBef>
                <a:spcPts val="405"/>
              </a:spcBef>
              <a:buFont typeface="Times New Roman"/>
              <a:buAutoNum type="arabicPeriod"/>
              <a:tabLst>
                <a:tab pos="829944" algn="l"/>
                <a:tab pos="830580" algn="l"/>
              </a:tabLst>
            </a:pPr>
            <a:r>
              <a:rPr dirty="0" sz="1350" spc="10">
                <a:latin typeface="宋体"/>
                <a:cs typeface="宋体"/>
              </a:rPr>
              <a:t>业务风险</a:t>
            </a:r>
            <a:endParaRPr sz="1350">
              <a:latin typeface="宋体"/>
              <a:cs typeface="宋体"/>
            </a:endParaRPr>
          </a:p>
          <a:p>
            <a:pPr marL="362585" indent="-350520">
              <a:lnSpc>
                <a:spcPct val="100000"/>
              </a:lnSpc>
              <a:spcBef>
                <a:spcPts val="405"/>
              </a:spcBef>
              <a:buFont typeface="Times New Roman"/>
              <a:buAutoNum type="arabicPlain"/>
              <a:tabLst>
                <a:tab pos="362585" algn="l"/>
                <a:tab pos="363220" algn="l"/>
              </a:tabLst>
            </a:pPr>
            <a:r>
              <a:rPr dirty="0" sz="1350" spc="10">
                <a:latin typeface="宋体"/>
                <a:cs typeface="宋体"/>
              </a:rPr>
              <a:t>项目前景</a:t>
            </a:r>
            <a:endParaRPr sz="1350">
              <a:latin typeface="宋体"/>
              <a:cs typeface="宋体"/>
            </a:endParaRPr>
          </a:p>
          <a:p>
            <a:pPr lvl="1" marL="829944" indent="-467995">
              <a:lnSpc>
                <a:spcPct val="100000"/>
              </a:lnSpc>
              <a:spcBef>
                <a:spcPts val="405"/>
              </a:spcBef>
              <a:buFont typeface="Times New Roman"/>
              <a:buAutoNum type="arabicPeriod"/>
              <a:tabLst>
                <a:tab pos="829944" algn="l"/>
                <a:tab pos="830580" algn="l"/>
              </a:tabLst>
            </a:pPr>
            <a:r>
              <a:rPr dirty="0" sz="1350" spc="10">
                <a:latin typeface="宋体"/>
                <a:cs typeface="宋体"/>
              </a:rPr>
              <a:t>前景概述</a:t>
            </a:r>
            <a:endParaRPr sz="1350">
              <a:latin typeface="宋体"/>
              <a:cs typeface="宋体"/>
            </a:endParaRPr>
          </a:p>
          <a:p>
            <a:pPr lvl="1" marL="829944" indent="-467995">
              <a:lnSpc>
                <a:spcPct val="100000"/>
              </a:lnSpc>
              <a:spcBef>
                <a:spcPts val="400"/>
              </a:spcBef>
              <a:buFont typeface="Times New Roman"/>
              <a:buAutoNum type="arabicPeriod"/>
              <a:tabLst>
                <a:tab pos="829944" algn="l"/>
                <a:tab pos="830580" algn="l"/>
              </a:tabLst>
            </a:pPr>
            <a:r>
              <a:rPr dirty="0" sz="1350" spc="10">
                <a:latin typeface="宋体"/>
                <a:cs typeface="宋体"/>
              </a:rPr>
              <a:t>主要特性</a:t>
            </a:r>
            <a:endParaRPr sz="1350">
              <a:latin typeface="宋体"/>
              <a:cs typeface="宋体"/>
            </a:endParaRPr>
          </a:p>
          <a:p>
            <a:pPr lvl="1" marL="829944" indent="-467995">
              <a:lnSpc>
                <a:spcPct val="100000"/>
              </a:lnSpc>
              <a:spcBef>
                <a:spcPts val="405"/>
              </a:spcBef>
              <a:buFont typeface="Times New Roman"/>
              <a:buAutoNum type="arabicPeriod"/>
              <a:tabLst>
                <a:tab pos="829944" algn="l"/>
                <a:tab pos="830580" algn="l"/>
              </a:tabLst>
            </a:pPr>
            <a:r>
              <a:rPr dirty="0" sz="1350" spc="10">
                <a:latin typeface="宋体"/>
                <a:cs typeface="宋体"/>
              </a:rPr>
              <a:t>假设与依赖</a:t>
            </a:r>
            <a:endParaRPr sz="1350">
              <a:latin typeface="宋体"/>
              <a:cs typeface="宋体"/>
            </a:endParaRPr>
          </a:p>
          <a:p>
            <a:pPr marL="362585" indent="-350520">
              <a:lnSpc>
                <a:spcPct val="100000"/>
              </a:lnSpc>
              <a:spcBef>
                <a:spcPts val="400"/>
              </a:spcBef>
              <a:buFont typeface="Times New Roman"/>
              <a:buAutoNum type="arabicPlain"/>
              <a:tabLst>
                <a:tab pos="362585" algn="l"/>
                <a:tab pos="363220" algn="l"/>
              </a:tabLst>
            </a:pPr>
            <a:r>
              <a:rPr dirty="0" sz="1350" spc="10">
                <a:latin typeface="宋体"/>
                <a:cs typeface="宋体"/>
              </a:rPr>
              <a:t>项目范围</a:t>
            </a:r>
            <a:endParaRPr sz="1350">
              <a:latin typeface="宋体"/>
              <a:cs typeface="宋体"/>
            </a:endParaRPr>
          </a:p>
          <a:p>
            <a:pPr lvl="1" marL="829944" indent="-467995">
              <a:lnSpc>
                <a:spcPct val="100000"/>
              </a:lnSpc>
              <a:spcBef>
                <a:spcPts val="405"/>
              </a:spcBef>
              <a:buFont typeface="Times New Roman"/>
              <a:buAutoNum type="arabicPeriod"/>
              <a:tabLst>
                <a:tab pos="829944" algn="l"/>
                <a:tab pos="830580" algn="l"/>
              </a:tabLst>
            </a:pPr>
            <a:r>
              <a:rPr dirty="0" sz="1350" spc="10">
                <a:latin typeface="宋体"/>
                <a:cs typeface="宋体"/>
              </a:rPr>
              <a:t>第一版范围</a:t>
            </a:r>
            <a:endParaRPr sz="1350">
              <a:latin typeface="宋体"/>
              <a:cs typeface="宋体"/>
            </a:endParaRPr>
          </a:p>
          <a:p>
            <a:pPr lvl="1" marL="829944" indent="-467995">
              <a:lnSpc>
                <a:spcPct val="100000"/>
              </a:lnSpc>
              <a:spcBef>
                <a:spcPts val="400"/>
              </a:spcBef>
              <a:buFont typeface="Times New Roman"/>
              <a:buAutoNum type="arabicPeriod"/>
              <a:tabLst>
                <a:tab pos="829944" algn="l"/>
                <a:tab pos="830580" algn="l"/>
              </a:tabLst>
            </a:pPr>
            <a:r>
              <a:rPr dirty="0" sz="1350" spc="10">
                <a:latin typeface="宋体"/>
                <a:cs typeface="宋体"/>
              </a:rPr>
              <a:t>后续版本范围</a:t>
            </a:r>
            <a:endParaRPr sz="1350">
              <a:latin typeface="宋体"/>
              <a:cs typeface="宋体"/>
            </a:endParaRPr>
          </a:p>
          <a:p>
            <a:pPr lvl="1" marL="829944" indent="-467995">
              <a:lnSpc>
                <a:spcPct val="100000"/>
              </a:lnSpc>
              <a:spcBef>
                <a:spcPts val="405"/>
              </a:spcBef>
              <a:buFont typeface="Times New Roman"/>
              <a:buAutoNum type="arabicPeriod"/>
              <a:tabLst>
                <a:tab pos="829944" algn="l"/>
                <a:tab pos="830580" algn="l"/>
              </a:tabLst>
            </a:pPr>
            <a:r>
              <a:rPr dirty="0" sz="1350" spc="10">
                <a:latin typeface="宋体"/>
                <a:cs typeface="宋体"/>
              </a:rPr>
              <a:t>限制与排除</a:t>
            </a:r>
            <a:endParaRPr sz="1350">
              <a:latin typeface="宋体"/>
              <a:cs typeface="宋体"/>
            </a:endParaRPr>
          </a:p>
          <a:p>
            <a:pPr marL="362585" indent="-350520">
              <a:lnSpc>
                <a:spcPct val="100000"/>
              </a:lnSpc>
              <a:spcBef>
                <a:spcPts val="400"/>
              </a:spcBef>
              <a:buFont typeface="Times New Roman"/>
              <a:buAutoNum type="arabicPlain"/>
              <a:tabLst>
                <a:tab pos="362585" algn="l"/>
                <a:tab pos="363220" algn="l"/>
              </a:tabLst>
            </a:pPr>
            <a:r>
              <a:rPr dirty="0" sz="1350" spc="10">
                <a:latin typeface="宋体"/>
                <a:cs typeface="宋体"/>
              </a:rPr>
              <a:t>项目环境</a:t>
            </a:r>
            <a:endParaRPr sz="1350">
              <a:latin typeface="宋体"/>
              <a:cs typeface="宋体"/>
            </a:endParaRPr>
          </a:p>
          <a:p>
            <a:pPr lvl="1" marL="829944" indent="-467995">
              <a:lnSpc>
                <a:spcPct val="100000"/>
              </a:lnSpc>
              <a:spcBef>
                <a:spcPts val="405"/>
              </a:spcBef>
              <a:buFont typeface="Times New Roman"/>
              <a:buAutoNum type="arabicPeriod"/>
              <a:tabLst>
                <a:tab pos="829944" algn="l"/>
                <a:tab pos="830580" algn="l"/>
              </a:tabLst>
            </a:pPr>
            <a:r>
              <a:rPr dirty="0" sz="1350" spc="10">
                <a:latin typeface="宋体"/>
                <a:cs typeface="宋体"/>
              </a:rPr>
              <a:t>操作环境</a:t>
            </a:r>
            <a:endParaRPr sz="1350">
              <a:latin typeface="宋体"/>
              <a:cs typeface="宋体"/>
            </a:endParaRPr>
          </a:p>
          <a:p>
            <a:pPr lvl="1" marL="829944" indent="-467995">
              <a:lnSpc>
                <a:spcPct val="100000"/>
              </a:lnSpc>
              <a:spcBef>
                <a:spcPts val="405"/>
              </a:spcBef>
              <a:buFont typeface="Times New Roman"/>
              <a:buAutoNum type="arabicPeriod"/>
              <a:tabLst>
                <a:tab pos="829944" algn="l"/>
                <a:tab pos="830580" algn="l"/>
              </a:tabLst>
            </a:pPr>
            <a:r>
              <a:rPr dirty="0" sz="1350" spc="10">
                <a:latin typeface="宋体"/>
                <a:cs typeface="宋体"/>
              </a:rPr>
              <a:t>涉众</a:t>
            </a:r>
            <a:endParaRPr sz="1350">
              <a:latin typeface="宋体"/>
              <a:cs typeface="宋体"/>
            </a:endParaRPr>
          </a:p>
          <a:p>
            <a:pPr lvl="1" marL="829944" indent="-467995">
              <a:lnSpc>
                <a:spcPct val="100000"/>
              </a:lnSpc>
              <a:spcBef>
                <a:spcPts val="405"/>
              </a:spcBef>
              <a:buFont typeface="Times New Roman"/>
              <a:buAutoNum type="arabicPeriod"/>
              <a:tabLst>
                <a:tab pos="829944" algn="l"/>
                <a:tab pos="830580" algn="l"/>
              </a:tabLst>
            </a:pPr>
            <a:r>
              <a:rPr dirty="0" sz="1350" spc="10">
                <a:latin typeface="宋体"/>
                <a:cs typeface="宋体"/>
              </a:rPr>
              <a:t>项目属性</a:t>
            </a:r>
            <a:endParaRPr sz="1350">
              <a:latin typeface="宋体"/>
              <a:cs typeface="宋体"/>
            </a:endParaRPr>
          </a:p>
          <a:p>
            <a:pPr>
              <a:lnSpc>
                <a:spcPct val="100000"/>
              </a:lnSpc>
              <a:spcBef>
                <a:spcPts val="35"/>
              </a:spcBef>
            </a:pPr>
            <a:endParaRPr sz="1550">
              <a:latin typeface="宋体"/>
              <a:cs typeface="宋体"/>
            </a:endParaRPr>
          </a:p>
          <a:p>
            <a:pPr marL="358775" marR="822325">
              <a:lnSpc>
                <a:spcPct val="124900"/>
              </a:lnSpc>
            </a:pPr>
            <a:r>
              <a:rPr dirty="0" sz="1350" spc="10">
                <a:latin typeface="宋体"/>
                <a:cs typeface="宋体"/>
              </a:rPr>
              <a:t>词汇表 </a:t>
            </a:r>
            <a:r>
              <a:rPr dirty="0" sz="1350" spc="10">
                <a:latin typeface="宋体"/>
                <a:cs typeface="宋体"/>
              </a:rPr>
              <a:t>参考资料 </a:t>
            </a:r>
            <a:r>
              <a:rPr dirty="0" sz="1350" spc="10">
                <a:latin typeface="宋体"/>
                <a:cs typeface="宋体"/>
              </a:rPr>
              <a:t>附录</a:t>
            </a:r>
            <a:endParaRPr sz="1350">
              <a:latin typeface="宋体"/>
              <a:cs typeface="宋体"/>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8697" y="184784"/>
            <a:ext cx="2547620" cy="696595"/>
          </a:xfrm>
          <a:prstGeom prst="rect"/>
        </p:spPr>
        <p:txBody>
          <a:bodyPr wrap="square" lIns="0" tIns="12700" rIns="0" bIns="0" rtlCol="0" vert="horz">
            <a:spAutoFit/>
          </a:bodyPr>
          <a:lstStyle/>
          <a:p>
            <a:pPr marL="12700">
              <a:lnSpc>
                <a:spcPct val="100000"/>
              </a:lnSpc>
              <a:spcBef>
                <a:spcPts val="100"/>
              </a:spcBef>
            </a:pPr>
            <a:r>
              <a:rPr dirty="0"/>
              <a:t>第</a:t>
            </a:r>
            <a:r>
              <a:rPr dirty="0" spc="-5">
                <a:latin typeface="Calibri"/>
                <a:cs typeface="Calibri"/>
              </a:rPr>
              <a:t>2</a:t>
            </a:r>
            <a:r>
              <a:rPr dirty="0"/>
              <a:t>节小结</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441195"/>
            <a:ext cx="8031480" cy="4464685"/>
          </a:xfrm>
          <a:prstGeom prst="rect">
            <a:avLst/>
          </a:prstGeom>
        </p:spPr>
        <p:txBody>
          <a:bodyPr wrap="square" lIns="0" tIns="45720" rIns="0" bIns="0" rtlCol="0" vert="horz">
            <a:spAutoFit/>
          </a:bodyPr>
          <a:lstStyle/>
          <a:p>
            <a:pPr marL="355600" marR="67945" indent="-343535">
              <a:lnSpc>
                <a:spcPts val="2930"/>
              </a:lnSpc>
              <a:spcBef>
                <a:spcPts val="360"/>
              </a:spcBef>
              <a:buClr>
                <a:srgbClr val="00663B"/>
              </a:buClr>
              <a:buSzPct val="78846"/>
              <a:buFont typeface="Wingdings"/>
              <a:buChar char=""/>
              <a:tabLst>
                <a:tab pos="355600" algn="l"/>
                <a:tab pos="356235" algn="l"/>
              </a:tabLst>
            </a:pPr>
            <a:r>
              <a:rPr dirty="0" sz="2600">
                <a:latin typeface="宋体"/>
                <a:cs typeface="宋体"/>
              </a:rPr>
              <a:t>确定项目的前景和范围</a:t>
            </a:r>
            <a:r>
              <a:rPr dirty="0" sz="2600" spc="-15">
                <a:latin typeface="宋体"/>
                <a:cs typeface="宋体"/>
              </a:rPr>
              <a:t>是</a:t>
            </a:r>
            <a:r>
              <a:rPr dirty="0" sz="2600">
                <a:latin typeface="宋体"/>
                <a:cs typeface="宋体"/>
              </a:rPr>
              <a:t>需求</a:t>
            </a:r>
            <a:r>
              <a:rPr dirty="0" sz="2600" spc="-15">
                <a:latin typeface="宋体"/>
                <a:cs typeface="宋体"/>
              </a:rPr>
              <a:t>工</a:t>
            </a:r>
            <a:r>
              <a:rPr dirty="0" sz="2600">
                <a:latin typeface="宋体"/>
                <a:cs typeface="宋体"/>
              </a:rPr>
              <a:t>程以</a:t>
            </a:r>
            <a:r>
              <a:rPr dirty="0" sz="2600" spc="-15">
                <a:latin typeface="宋体"/>
                <a:cs typeface="宋体"/>
              </a:rPr>
              <a:t>及</a:t>
            </a:r>
            <a:r>
              <a:rPr dirty="0" sz="2600">
                <a:latin typeface="宋体"/>
                <a:cs typeface="宋体"/>
              </a:rPr>
              <a:t>整个</a:t>
            </a:r>
            <a:r>
              <a:rPr dirty="0" sz="2600" spc="-15">
                <a:latin typeface="宋体"/>
                <a:cs typeface="宋体"/>
              </a:rPr>
              <a:t>项</a:t>
            </a:r>
            <a:r>
              <a:rPr dirty="0" sz="2600">
                <a:latin typeface="宋体"/>
                <a:cs typeface="宋体"/>
              </a:rPr>
              <a:t>目的重 要工作，它决定着整个</a:t>
            </a:r>
            <a:r>
              <a:rPr dirty="0" sz="2600" spc="-15">
                <a:latin typeface="宋体"/>
                <a:cs typeface="宋体"/>
              </a:rPr>
              <a:t>项</a:t>
            </a:r>
            <a:r>
              <a:rPr dirty="0" sz="2600">
                <a:latin typeface="宋体"/>
                <a:cs typeface="宋体"/>
              </a:rPr>
              <a:t>目后</a:t>
            </a:r>
            <a:r>
              <a:rPr dirty="0" sz="2600" spc="-15">
                <a:latin typeface="宋体"/>
                <a:cs typeface="宋体"/>
              </a:rPr>
              <a:t>继</a:t>
            </a:r>
            <a:r>
              <a:rPr dirty="0" sz="2600">
                <a:latin typeface="宋体"/>
                <a:cs typeface="宋体"/>
              </a:rPr>
              <a:t>工作</a:t>
            </a:r>
            <a:r>
              <a:rPr dirty="0" sz="2600" spc="-15">
                <a:latin typeface="宋体"/>
                <a:cs typeface="宋体"/>
              </a:rPr>
              <a:t>的</a:t>
            </a:r>
            <a:r>
              <a:rPr dirty="0" sz="2600">
                <a:latin typeface="宋体"/>
                <a:cs typeface="宋体"/>
              </a:rPr>
              <a:t>方向</a:t>
            </a:r>
            <a:endParaRPr sz="2600">
              <a:latin typeface="宋体"/>
              <a:cs typeface="宋体"/>
            </a:endParaRPr>
          </a:p>
          <a:p>
            <a:pPr>
              <a:lnSpc>
                <a:spcPct val="100000"/>
              </a:lnSpc>
              <a:spcBef>
                <a:spcPts val="5"/>
              </a:spcBef>
              <a:buClr>
                <a:srgbClr val="00663B"/>
              </a:buClr>
              <a:buFont typeface="Wingdings"/>
              <a:buChar char=""/>
            </a:pPr>
            <a:endParaRPr sz="3350">
              <a:latin typeface="宋体"/>
              <a:cs typeface="宋体"/>
            </a:endParaRPr>
          </a:p>
          <a:p>
            <a:pPr marL="355600" indent="-343535">
              <a:lnSpc>
                <a:spcPct val="100000"/>
              </a:lnSpc>
              <a:buClr>
                <a:srgbClr val="00663B"/>
              </a:buClr>
              <a:buSzPct val="78846"/>
              <a:buFont typeface="Wingdings"/>
              <a:buChar char=""/>
              <a:tabLst>
                <a:tab pos="355600" algn="l"/>
                <a:tab pos="356235" algn="l"/>
              </a:tabLst>
            </a:pPr>
            <a:r>
              <a:rPr dirty="0" sz="2600">
                <a:latin typeface="宋体"/>
                <a:cs typeface="宋体"/>
              </a:rPr>
              <a:t>确定项目的前景和范围要</a:t>
            </a:r>
            <a:endParaRPr sz="2600">
              <a:latin typeface="宋体"/>
              <a:cs typeface="宋体"/>
            </a:endParaRPr>
          </a:p>
          <a:p>
            <a:pPr lvl="1" marL="756285" indent="-287020">
              <a:lnSpc>
                <a:spcPct val="100000"/>
              </a:lnSpc>
              <a:spcBef>
                <a:spcPts val="545"/>
              </a:spcBef>
              <a:buClr>
                <a:srgbClr val="C00000"/>
              </a:buClr>
              <a:buSzPct val="59090"/>
              <a:buFont typeface="Wingdings"/>
              <a:buChar char=""/>
              <a:tabLst>
                <a:tab pos="756285" algn="l"/>
                <a:tab pos="756920" algn="l"/>
              </a:tabLst>
            </a:pPr>
            <a:r>
              <a:rPr dirty="0" sz="2200" spc="-5">
                <a:latin typeface="宋体"/>
                <a:cs typeface="宋体"/>
              </a:rPr>
              <a:t>首先从</a:t>
            </a:r>
            <a:r>
              <a:rPr dirty="0" sz="2200" spc="-5" b="1">
                <a:latin typeface="宋体"/>
                <a:cs typeface="宋体"/>
              </a:rPr>
              <a:t>分析问</a:t>
            </a:r>
            <a:r>
              <a:rPr dirty="0" sz="2200" b="1">
                <a:latin typeface="宋体"/>
                <a:cs typeface="宋体"/>
              </a:rPr>
              <a:t>题</a:t>
            </a:r>
            <a:r>
              <a:rPr dirty="0" sz="2200" spc="-5">
                <a:latin typeface="宋体"/>
                <a:cs typeface="宋体"/>
              </a:rPr>
              <a:t>着手</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然后依据明确的问题发现</a:t>
            </a:r>
            <a:r>
              <a:rPr dirty="0" sz="2200" spc="-5" b="1">
                <a:latin typeface="宋体"/>
                <a:cs typeface="宋体"/>
              </a:rPr>
              <a:t>业务需求</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最后再为业务需求定义</a:t>
            </a:r>
            <a:r>
              <a:rPr dirty="0" sz="2200" spc="-10" b="1">
                <a:latin typeface="宋体"/>
                <a:cs typeface="宋体"/>
              </a:rPr>
              <a:t>问题的解</a:t>
            </a:r>
            <a:r>
              <a:rPr dirty="0" sz="2200" spc="5" b="1">
                <a:latin typeface="宋体"/>
                <a:cs typeface="宋体"/>
              </a:rPr>
              <a:t>决</a:t>
            </a:r>
            <a:r>
              <a:rPr dirty="0" sz="2200" spc="-10" b="1">
                <a:latin typeface="宋体"/>
                <a:cs typeface="宋体"/>
              </a:rPr>
              <a:t>方</a:t>
            </a:r>
            <a:r>
              <a:rPr dirty="0" sz="2200" spc="15" b="1">
                <a:latin typeface="宋体"/>
                <a:cs typeface="宋体"/>
              </a:rPr>
              <a:t>案</a:t>
            </a:r>
            <a:r>
              <a:rPr dirty="0" sz="2200" spc="5">
                <a:latin typeface="宋体"/>
                <a:cs typeface="宋体"/>
              </a:rPr>
              <a:t>依</a:t>
            </a:r>
            <a:r>
              <a:rPr dirty="0" sz="2200" spc="-5">
                <a:latin typeface="宋体"/>
                <a:cs typeface="宋体"/>
              </a:rPr>
              <a:t>据</a:t>
            </a:r>
            <a:r>
              <a:rPr dirty="0" sz="2200" spc="-10" b="1">
                <a:latin typeface="宋体"/>
                <a:cs typeface="宋体"/>
              </a:rPr>
              <a:t>系</a:t>
            </a:r>
            <a:r>
              <a:rPr dirty="0" sz="2200" spc="5" b="1">
                <a:latin typeface="宋体"/>
                <a:cs typeface="宋体"/>
              </a:rPr>
              <a:t>统</a:t>
            </a:r>
            <a:r>
              <a:rPr dirty="0" sz="2200" spc="-10" b="1">
                <a:latin typeface="宋体"/>
                <a:cs typeface="宋体"/>
              </a:rPr>
              <a:t>特</a:t>
            </a:r>
            <a:r>
              <a:rPr dirty="0" sz="2200" spc="-15" b="1">
                <a:latin typeface="宋体"/>
                <a:cs typeface="宋体"/>
              </a:rPr>
              <a:t>性</a:t>
            </a:r>
            <a:endParaRPr sz="2200">
              <a:latin typeface="宋体"/>
              <a:cs typeface="宋体"/>
            </a:endParaRPr>
          </a:p>
          <a:p>
            <a:pPr lvl="2" marL="1155700" marR="5080" indent="-228600">
              <a:lnSpc>
                <a:spcPts val="2240"/>
              </a:lnSpc>
              <a:spcBef>
                <a:spcPts val="855"/>
              </a:spcBef>
              <a:buFont typeface="Arial"/>
              <a:buChar char="•"/>
              <a:tabLst>
                <a:tab pos="1155700" algn="l"/>
                <a:tab pos="1156335" algn="l"/>
              </a:tabLst>
            </a:pPr>
            <a:r>
              <a:rPr dirty="0" sz="2000">
                <a:latin typeface="宋体"/>
                <a:cs typeface="宋体"/>
              </a:rPr>
              <a:t>各个单独问题的解决方</a:t>
            </a:r>
            <a:r>
              <a:rPr dirty="0" sz="2000" spc="-15">
                <a:latin typeface="宋体"/>
                <a:cs typeface="宋体"/>
              </a:rPr>
              <a:t>案</a:t>
            </a:r>
            <a:r>
              <a:rPr dirty="0" sz="2000">
                <a:latin typeface="宋体"/>
                <a:cs typeface="宋体"/>
              </a:rPr>
              <a:t>整合</a:t>
            </a:r>
            <a:r>
              <a:rPr dirty="0" sz="2000" spc="-15">
                <a:latin typeface="宋体"/>
                <a:cs typeface="宋体"/>
              </a:rPr>
              <a:t>起</a:t>
            </a:r>
            <a:r>
              <a:rPr dirty="0" sz="2000">
                <a:latin typeface="宋体"/>
                <a:cs typeface="宋体"/>
              </a:rPr>
              <a:t>来，</a:t>
            </a:r>
            <a:r>
              <a:rPr dirty="0" sz="2000" spc="-15">
                <a:latin typeface="宋体"/>
                <a:cs typeface="宋体"/>
              </a:rPr>
              <a:t>就</a:t>
            </a:r>
            <a:r>
              <a:rPr dirty="0" sz="2000">
                <a:latin typeface="宋体"/>
                <a:cs typeface="宋体"/>
              </a:rPr>
              <a:t>是整</a:t>
            </a:r>
            <a:r>
              <a:rPr dirty="0" sz="2000" spc="-15">
                <a:latin typeface="宋体"/>
                <a:cs typeface="宋体"/>
              </a:rPr>
              <a:t>个</a:t>
            </a:r>
            <a:r>
              <a:rPr dirty="0" sz="2000">
                <a:latin typeface="宋体"/>
                <a:cs typeface="宋体"/>
              </a:rPr>
              <a:t>解系</a:t>
            </a:r>
            <a:r>
              <a:rPr dirty="0" sz="2000" spc="-15">
                <a:latin typeface="宋体"/>
                <a:cs typeface="宋体"/>
              </a:rPr>
              <a:t>统</a:t>
            </a:r>
            <a:r>
              <a:rPr dirty="0" sz="2000">
                <a:latin typeface="宋体"/>
                <a:cs typeface="宋体"/>
              </a:rPr>
              <a:t>的整</a:t>
            </a:r>
            <a:r>
              <a:rPr dirty="0" sz="2000" spc="-15">
                <a:latin typeface="宋体"/>
                <a:cs typeface="宋体"/>
              </a:rPr>
              <a:t>体</a:t>
            </a:r>
            <a:r>
              <a:rPr dirty="0" sz="2000">
                <a:latin typeface="宋体"/>
                <a:cs typeface="宋体"/>
              </a:rPr>
              <a:t>解 决方案</a:t>
            </a:r>
            <a:endParaRPr sz="2000">
              <a:latin typeface="宋体"/>
              <a:cs typeface="宋体"/>
            </a:endParaRPr>
          </a:p>
          <a:p>
            <a:pPr lvl="2">
              <a:lnSpc>
                <a:spcPct val="100000"/>
              </a:lnSpc>
              <a:spcBef>
                <a:spcPts val="40"/>
              </a:spcBef>
              <a:buFont typeface="Arial"/>
              <a:buChar char="•"/>
            </a:pPr>
            <a:endParaRPr sz="2650">
              <a:latin typeface="宋体"/>
              <a:cs typeface="宋体"/>
            </a:endParaRPr>
          </a:p>
          <a:p>
            <a:pPr marL="355600" indent="-343535">
              <a:lnSpc>
                <a:spcPct val="100000"/>
              </a:lnSpc>
              <a:buClr>
                <a:srgbClr val="00663B"/>
              </a:buClr>
              <a:buSzPct val="78846"/>
              <a:buFont typeface="Wingdings"/>
              <a:buChar char=""/>
              <a:tabLst>
                <a:tab pos="355600" algn="l"/>
                <a:tab pos="356235" algn="l"/>
              </a:tabLst>
            </a:pPr>
            <a:r>
              <a:rPr dirty="0" sz="2600">
                <a:latin typeface="宋体"/>
                <a:cs typeface="宋体"/>
              </a:rPr>
              <a:t>项目的前景和范围需要</a:t>
            </a:r>
            <a:r>
              <a:rPr dirty="0" sz="2600" spc="-15">
                <a:latin typeface="宋体"/>
                <a:cs typeface="宋体"/>
              </a:rPr>
              <a:t>以</a:t>
            </a:r>
            <a:r>
              <a:rPr dirty="0" sz="2600">
                <a:latin typeface="宋体"/>
                <a:cs typeface="宋体"/>
              </a:rPr>
              <a:t>文档</a:t>
            </a:r>
            <a:r>
              <a:rPr dirty="0" sz="2600" spc="-15">
                <a:latin typeface="宋体"/>
                <a:cs typeface="宋体"/>
              </a:rPr>
              <a:t>的</a:t>
            </a:r>
            <a:r>
              <a:rPr dirty="0" sz="2600">
                <a:latin typeface="宋体"/>
                <a:cs typeface="宋体"/>
              </a:rPr>
              <a:t>方式</a:t>
            </a:r>
            <a:r>
              <a:rPr dirty="0" sz="2600" spc="-15">
                <a:latin typeface="宋体"/>
                <a:cs typeface="宋体"/>
              </a:rPr>
              <a:t>明</a:t>
            </a:r>
            <a:r>
              <a:rPr dirty="0" sz="2600">
                <a:latin typeface="宋体"/>
                <a:cs typeface="宋体"/>
              </a:rPr>
              <a:t>确的</a:t>
            </a:r>
            <a:r>
              <a:rPr dirty="0" sz="2600" spc="-15">
                <a:latin typeface="宋体"/>
                <a:cs typeface="宋体"/>
              </a:rPr>
              <a:t>固</a:t>
            </a:r>
            <a:r>
              <a:rPr dirty="0" sz="2600">
                <a:latin typeface="宋体"/>
                <a:cs typeface="宋体"/>
              </a:rPr>
              <a:t>定下来</a:t>
            </a:r>
            <a:endParaRPr sz="2600">
              <a:latin typeface="宋体"/>
              <a:cs typeface="宋体"/>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178813"/>
            <a:ext cx="4839970" cy="295275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687"/>
              <a:buFont typeface="Wingdings"/>
              <a:buChar char=""/>
              <a:tabLst>
                <a:tab pos="356235" algn="l"/>
              </a:tabLst>
            </a:pPr>
            <a:r>
              <a:rPr dirty="0" sz="3200">
                <a:latin typeface="Calibri"/>
                <a:cs typeface="Calibri"/>
              </a:rPr>
              <a:t>1.</a:t>
            </a:r>
            <a:r>
              <a:rPr dirty="0" sz="3200" spc="5">
                <a:latin typeface="Calibri"/>
                <a:cs typeface="Calibri"/>
              </a:rPr>
              <a:t> </a:t>
            </a:r>
            <a:r>
              <a:rPr dirty="0" sz="3200">
                <a:latin typeface="宋体"/>
                <a:cs typeface="宋体"/>
              </a:rPr>
              <a:t>需求获取概述</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2.</a:t>
            </a:r>
            <a:r>
              <a:rPr dirty="0" sz="3200" spc="-80">
                <a:latin typeface="Calibri"/>
                <a:cs typeface="Calibri"/>
              </a:rPr>
              <a:t> </a:t>
            </a:r>
            <a:r>
              <a:rPr dirty="0" sz="3200">
                <a:latin typeface="宋体"/>
                <a:cs typeface="宋体"/>
              </a:rPr>
              <a:t>确定项目的前景和范围</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3.</a:t>
            </a:r>
            <a:r>
              <a:rPr dirty="0" sz="3200" spc="-50">
                <a:latin typeface="Calibri"/>
                <a:cs typeface="Calibri"/>
              </a:rPr>
              <a:t> </a:t>
            </a:r>
            <a:r>
              <a:rPr dirty="0" sz="3200">
                <a:latin typeface="宋体"/>
                <a:cs typeface="宋体"/>
              </a:rPr>
              <a:t>涉众分析与硬数据采样</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4.</a:t>
            </a:r>
            <a:r>
              <a:rPr dirty="0" sz="3200" spc="-80">
                <a:latin typeface="Calibri"/>
                <a:cs typeface="Calibri"/>
              </a:rPr>
              <a:t> </a:t>
            </a:r>
            <a:r>
              <a:rPr dirty="0" sz="3200">
                <a:latin typeface="宋体"/>
                <a:cs typeface="宋体"/>
              </a:rPr>
              <a:t>面谈</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5.</a:t>
            </a:r>
            <a:r>
              <a:rPr dirty="0" sz="3200" spc="-90">
                <a:latin typeface="Calibri"/>
                <a:cs typeface="Calibri"/>
              </a:rPr>
              <a:t> </a:t>
            </a:r>
            <a:r>
              <a:rPr dirty="0" sz="3200">
                <a:latin typeface="宋体"/>
                <a:cs typeface="宋体"/>
              </a:rPr>
              <a:t>原型</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宋体"/>
                <a:cs typeface="宋体"/>
              </a:rPr>
              <a:t>本章小结</a:t>
            </a:r>
            <a:endParaRPr sz="3200">
              <a:latin typeface="宋体"/>
              <a:cs typeface="宋体"/>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17562"/>
            <a:ext cx="4399915" cy="236791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solidFill>
                  <a:srgbClr val="FF0000"/>
                </a:solidFill>
                <a:latin typeface="宋体"/>
                <a:cs typeface="宋体"/>
              </a:rPr>
              <a:t>涉众分析的必要性</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涉众分析的主要内容</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涉众分析过程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硬数据采样</a:t>
            </a:r>
            <a:endParaRPr sz="3200">
              <a:latin typeface="宋体"/>
              <a:cs typeface="宋体"/>
            </a:endParaRPr>
          </a:p>
        </p:txBody>
      </p:sp>
      <p:sp>
        <p:nvSpPr>
          <p:cNvPr id="3" name="object 3"/>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8741" y="126314"/>
            <a:ext cx="5822315" cy="1184910"/>
          </a:xfrm>
          <a:prstGeom prst="rect"/>
        </p:spPr>
        <p:txBody>
          <a:bodyPr wrap="square" lIns="0" tIns="13335" rIns="0" bIns="0" rtlCol="0" vert="horz">
            <a:spAutoFit/>
          </a:bodyPr>
          <a:lstStyle/>
          <a:p>
            <a:pPr marL="99060">
              <a:lnSpc>
                <a:spcPct val="100000"/>
              </a:lnSpc>
              <a:spcBef>
                <a:spcPts val="105"/>
              </a:spcBef>
            </a:pPr>
            <a:r>
              <a:rPr dirty="0" sz="3800">
                <a:latin typeface="Calibri"/>
                <a:cs typeface="Calibri"/>
              </a:rPr>
              <a:t>3.1.</a:t>
            </a:r>
            <a:r>
              <a:rPr dirty="0" sz="3800" spc="-20">
                <a:latin typeface="Calibri"/>
                <a:cs typeface="Calibri"/>
              </a:rPr>
              <a:t> </a:t>
            </a:r>
            <a:r>
              <a:rPr dirty="0" sz="3800"/>
              <a:t>涉众分析的必要性</a:t>
            </a:r>
            <a:endParaRPr sz="3800">
              <a:latin typeface="Calibri"/>
              <a:cs typeface="Calibri"/>
            </a:endParaRPr>
          </a:p>
          <a:p>
            <a:pPr marL="12700">
              <a:lnSpc>
                <a:spcPct val="100000"/>
              </a:lnSpc>
            </a:pPr>
            <a:r>
              <a:rPr dirty="0" sz="3800">
                <a:latin typeface="Arial"/>
                <a:cs typeface="Arial"/>
              </a:rPr>
              <a:t>——</a:t>
            </a:r>
            <a:r>
              <a:rPr dirty="0" sz="3800"/>
              <a:t>回顾：需求获取的</a:t>
            </a:r>
            <a:r>
              <a:rPr dirty="0" sz="3800" spc="-15"/>
              <a:t>源</a:t>
            </a:r>
            <a:r>
              <a:rPr dirty="0" sz="3800"/>
              <a:t>头</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453948" y="1513847"/>
            <a:ext cx="8452485" cy="4145279"/>
          </a:xfrm>
          <a:prstGeom prst="rect">
            <a:avLst/>
          </a:prstGeom>
        </p:spPr>
        <p:txBody>
          <a:bodyPr wrap="square" lIns="0" tIns="114300" rIns="0" bIns="0" rtlCol="0" vert="horz">
            <a:spAutoFit/>
          </a:bodyPr>
          <a:lstStyle/>
          <a:p>
            <a:pPr marL="437515" indent="-343535">
              <a:lnSpc>
                <a:spcPct val="100000"/>
              </a:lnSpc>
              <a:spcBef>
                <a:spcPts val="900"/>
              </a:spcBef>
              <a:buClr>
                <a:srgbClr val="00663B"/>
              </a:buClr>
              <a:buSzPct val="79687"/>
              <a:buFont typeface="Wingdings"/>
              <a:buChar char=""/>
              <a:tabLst>
                <a:tab pos="438150" algn="l"/>
              </a:tabLst>
            </a:pPr>
            <a:r>
              <a:rPr dirty="0" sz="3200">
                <a:latin typeface="宋体"/>
                <a:cs typeface="宋体"/>
              </a:rPr>
              <a:t>两种类型</a:t>
            </a:r>
            <a:endParaRPr sz="3200">
              <a:latin typeface="宋体"/>
              <a:cs typeface="宋体"/>
            </a:endParaRPr>
          </a:p>
          <a:p>
            <a:pPr lvl="1" marL="838200" indent="-287020">
              <a:lnSpc>
                <a:spcPct val="100000"/>
              </a:lnSpc>
              <a:spcBef>
                <a:spcPts val="690"/>
              </a:spcBef>
              <a:buClr>
                <a:srgbClr val="C00000"/>
              </a:buClr>
              <a:buSzPct val="58928"/>
              <a:buFont typeface="Wingdings"/>
              <a:buChar char=""/>
              <a:tabLst>
                <a:tab pos="838200" algn="l"/>
                <a:tab pos="838835" algn="l"/>
              </a:tabLst>
            </a:pPr>
            <a:r>
              <a:rPr dirty="0" sz="2800" spc="-5">
                <a:latin typeface="宋体"/>
                <a:cs typeface="宋体"/>
              </a:rPr>
              <a:t>人脑内知识</a:t>
            </a:r>
            <a:endParaRPr sz="2800">
              <a:latin typeface="宋体"/>
              <a:cs typeface="宋体"/>
            </a:endParaRPr>
          </a:p>
          <a:p>
            <a:pPr lvl="2" marL="1237615" indent="-229235">
              <a:lnSpc>
                <a:spcPct val="100000"/>
              </a:lnSpc>
              <a:spcBef>
                <a:spcPts val="595"/>
              </a:spcBef>
              <a:buFont typeface="Arial"/>
              <a:buChar char="•"/>
              <a:tabLst>
                <a:tab pos="1238250" algn="l"/>
              </a:tabLst>
            </a:pPr>
            <a:r>
              <a:rPr dirty="0" sz="2400">
                <a:latin typeface="宋体"/>
                <a:cs typeface="宋体"/>
              </a:rPr>
              <a:t>困难，有很多问题</a:t>
            </a:r>
            <a:endParaRPr sz="2400">
              <a:latin typeface="宋体"/>
              <a:cs typeface="宋体"/>
            </a:endParaRPr>
          </a:p>
          <a:p>
            <a:pPr lvl="3" marL="1694814" indent="-229235">
              <a:lnSpc>
                <a:spcPct val="100000"/>
              </a:lnSpc>
              <a:spcBef>
                <a:spcPts val="495"/>
              </a:spcBef>
              <a:buFont typeface="Arial"/>
              <a:buChar char="–"/>
              <a:tabLst>
                <a:tab pos="1695450" algn="l"/>
              </a:tabLst>
            </a:pPr>
            <a:r>
              <a:rPr dirty="0" sz="2000">
                <a:latin typeface="宋体"/>
                <a:cs typeface="宋体"/>
              </a:rPr>
              <a:t>如何寻找合适的人？</a:t>
            </a:r>
            <a:endParaRPr sz="2000">
              <a:latin typeface="宋体"/>
              <a:cs typeface="宋体"/>
            </a:endParaRPr>
          </a:p>
          <a:p>
            <a:pPr lvl="3" marL="1694814" indent="-229235">
              <a:lnSpc>
                <a:spcPct val="100000"/>
              </a:lnSpc>
              <a:spcBef>
                <a:spcPts val="480"/>
              </a:spcBef>
              <a:buFont typeface="Arial"/>
              <a:buChar char="–"/>
              <a:tabLst>
                <a:tab pos="1695450" algn="l"/>
              </a:tabLst>
            </a:pPr>
            <a:r>
              <a:rPr dirty="0" sz="2000">
                <a:latin typeface="宋体"/>
                <a:cs typeface="宋体"/>
              </a:rPr>
              <a:t>如何有效的与他们进行</a:t>
            </a:r>
            <a:r>
              <a:rPr dirty="0" sz="2000" spc="-15">
                <a:latin typeface="宋体"/>
                <a:cs typeface="宋体"/>
              </a:rPr>
              <a:t>交</a:t>
            </a:r>
            <a:r>
              <a:rPr dirty="0" sz="2000">
                <a:latin typeface="宋体"/>
                <a:cs typeface="宋体"/>
              </a:rPr>
              <a:t>流？</a:t>
            </a:r>
            <a:endParaRPr sz="2000">
              <a:latin typeface="宋体"/>
              <a:cs typeface="宋体"/>
            </a:endParaRPr>
          </a:p>
          <a:p>
            <a:pPr marL="1466215">
              <a:lnSpc>
                <a:spcPct val="100000"/>
              </a:lnSpc>
              <a:spcBef>
                <a:spcPts val="445"/>
              </a:spcBef>
            </a:pPr>
            <a:r>
              <a:rPr dirty="0" sz="2000">
                <a:latin typeface="Arial"/>
                <a:cs typeface="Arial"/>
              </a:rPr>
              <a:t>–</a:t>
            </a:r>
            <a:r>
              <a:rPr dirty="0" sz="2000" spc="120">
                <a:latin typeface="Arial"/>
                <a:cs typeface="Arial"/>
              </a:rPr>
              <a:t> </a:t>
            </a:r>
            <a:r>
              <a:rPr dirty="0" sz="2000">
                <a:latin typeface="Calibri"/>
                <a:cs typeface="Calibri"/>
              </a:rPr>
              <a:t>…</a:t>
            </a:r>
            <a:endParaRPr sz="2000">
              <a:latin typeface="Calibri"/>
              <a:cs typeface="Calibri"/>
            </a:endParaRPr>
          </a:p>
          <a:p>
            <a:pPr lvl="1" marL="838200" indent="-287020">
              <a:lnSpc>
                <a:spcPct val="100000"/>
              </a:lnSpc>
              <a:spcBef>
                <a:spcPts val="675"/>
              </a:spcBef>
              <a:buClr>
                <a:srgbClr val="C00000"/>
              </a:buClr>
              <a:buSzPct val="58928"/>
              <a:buFont typeface="Wingdings"/>
              <a:buChar char=""/>
              <a:tabLst>
                <a:tab pos="838200" algn="l"/>
                <a:tab pos="838835" algn="l"/>
              </a:tabLst>
            </a:pPr>
            <a:r>
              <a:rPr dirty="0" sz="2800" spc="-5">
                <a:latin typeface="宋体"/>
                <a:cs typeface="宋体"/>
              </a:rPr>
              <a:t>人脑外知识</a:t>
            </a:r>
            <a:endParaRPr sz="2800">
              <a:latin typeface="宋体"/>
              <a:cs typeface="宋体"/>
            </a:endParaRPr>
          </a:p>
          <a:p>
            <a:pPr>
              <a:lnSpc>
                <a:spcPct val="100000"/>
              </a:lnSpc>
              <a:spcBef>
                <a:spcPts val="30"/>
              </a:spcBef>
            </a:pPr>
            <a:endParaRPr sz="4050">
              <a:latin typeface="宋体"/>
              <a:cs typeface="宋体"/>
            </a:endParaRPr>
          </a:p>
          <a:p>
            <a:pPr marL="12700">
              <a:lnSpc>
                <a:spcPct val="100000"/>
              </a:lnSpc>
            </a:pPr>
            <a:r>
              <a:rPr dirty="0" sz="2000" spc="5" b="1">
                <a:solidFill>
                  <a:srgbClr val="C00000"/>
                </a:solidFill>
                <a:latin typeface="楷体"/>
                <a:cs typeface="楷体"/>
              </a:rPr>
              <a:t>所有对软</a:t>
            </a:r>
            <a:r>
              <a:rPr dirty="0" sz="2000" spc="-5" b="1">
                <a:solidFill>
                  <a:srgbClr val="C00000"/>
                </a:solidFill>
                <a:latin typeface="楷体"/>
                <a:cs typeface="楷体"/>
              </a:rPr>
              <a:t>件系</a:t>
            </a:r>
            <a:r>
              <a:rPr dirty="0" sz="2000" spc="5" b="1">
                <a:solidFill>
                  <a:srgbClr val="C00000"/>
                </a:solidFill>
                <a:latin typeface="楷体"/>
                <a:cs typeface="楷体"/>
              </a:rPr>
              <a:t>统的开发</a:t>
            </a:r>
            <a:r>
              <a:rPr dirty="0" sz="2000" spc="-5" b="1">
                <a:solidFill>
                  <a:srgbClr val="C00000"/>
                </a:solidFill>
                <a:latin typeface="楷体"/>
                <a:cs typeface="楷体"/>
              </a:rPr>
              <a:t>和应</a:t>
            </a:r>
            <a:r>
              <a:rPr dirty="0" sz="2000" spc="5" b="1">
                <a:solidFill>
                  <a:srgbClr val="C00000"/>
                </a:solidFill>
                <a:latin typeface="楷体"/>
                <a:cs typeface="楷体"/>
              </a:rPr>
              <a:t>用具有发</a:t>
            </a:r>
            <a:r>
              <a:rPr dirty="0" sz="2000" spc="-5" b="1">
                <a:solidFill>
                  <a:srgbClr val="C00000"/>
                </a:solidFill>
                <a:latin typeface="楷体"/>
                <a:cs typeface="楷体"/>
              </a:rPr>
              <a:t>言权</a:t>
            </a:r>
            <a:r>
              <a:rPr dirty="0" sz="2000" spc="5" b="1">
                <a:solidFill>
                  <a:srgbClr val="C00000"/>
                </a:solidFill>
                <a:latin typeface="楷体"/>
                <a:cs typeface="楷体"/>
              </a:rPr>
              <a:t>和决定权</a:t>
            </a:r>
            <a:r>
              <a:rPr dirty="0" sz="2000" spc="-5" b="1">
                <a:solidFill>
                  <a:srgbClr val="C00000"/>
                </a:solidFill>
                <a:latin typeface="楷体"/>
                <a:cs typeface="楷体"/>
              </a:rPr>
              <a:t>的人</a:t>
            </a:r>
            <a:r>
              <a:rPr dirty="0" sz="2000" spc="5" b="1">
                <a:solidFill>
                  <a:srgbClr val="C00000"/>
                </a:solidFill>
                <a:latin typeface="楷体"/>
                <a:cs typeface="楷体"/>
              </a:rPr>
              <a:t>，统称为</a:t>
            </a:r>
            <a:r>
              <a:rPr dirty="0" sz="2000" spc="-5" b="1">
                <a:solidFill>
                  <a:srgbClr val="C00000"/>
                </a:solidFill>
                <a:latin typeface="楷体"/>
                <a:cs typeface="楷体"/>
              </a:rPr>
              <a:t>“涉</a:t>
            </a:r>
            <a:r>
              <a:rPr dirty="0" sz="2000" spc="5" b="1">
                <a:solidFill>
                  <a:srgbClr val="C00000"/>
                </a:solidFill>
                <a:latin typeface="楷体"/>
                <a:cs typeface="楷体"/>
              </a:rPr>
              <a:t>众”</a:t>
            </a:r>
            <a:r>
              <a:rPr dirty="0" sz="2000" spc="-5" b="1">
                <a:solidFill>
                  <a:srgbClr val="C00000"/>
                </a:solidFill>
                <a:latin typeface="楷体"/>
                <a:cs typeface="楷体"/>
              </a:rPr>
              <a:t>。</a:t>
            </a:r>
            <a:endParaRPr sz="2000">
              <a:latin typeface="楷体"/>
              <a:cs typeface="楷体"/>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5608" y="95757"/>
            <a:ext cx="4733925"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3.1.</a:t>
            </a:r>
            <a:r>
              <a:rPr dirty="0" sz="3800" spc="-60">
                <a:latin typeface="Calibri"/>
                <a:cs typeface="Calibri"/>
              </a:rPr>
              <a:t> </a:t>
            </a:r>
            <a:r>
              <a:rPr dirty="0" sz="3800"/>
              <a:t>涉众分析的必要性</a:t>
            </a:r>
            <a:endParaRPr sz="3800">
              <a:latin typeface="Calibri"/>
              <a:cs typeface="Calibri"/>
            </a:endParaRPr>
          </a:p>
          <a:p>
            <a:pPr algn="ctr" marL="913130">
              <a:lnSpc>
                <a:spcPct val="100000"/>
              </a:lnSpc>
              <a:spcBef>
                <a:spcPts val="5"/>
              </a:spcBef>
            </a:pPr>
            <a:r>
              <a:rPr dirty="0" sz="3800">
                <a:latin typeface="Arial"/>
                <a:cs typeface="Arial"/>
              </a:rPr>
              <a:t>——</a:t>
            </a:r>
            <a:r>
              <a:rPr dirty="0" sz="3800"/>
              <a:t>涉众</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45361"/>
            <a:ext cx="7918450" cy="3829685"/>
          </a:xfrm>
          <a:prstGeom prst="rect">
            <a:avLst/>
          </a:prstGeom>
        </p:spPr>
        <p:txBody>
          <a:bodyPr wrap="square" lIns="0" tIns="53975" rIns="0" bIns="0" rtlCol="0" vert="horz">
            <a:spAutoFit/>
          </a:bodyPr>
          <a:lstStyle/>
          <a:p>
            <a:pPr marL="584200" marR="5080" indent="-572135">
              <a:lnSpc>
                <a:spcPts val="3600"/>
              </a:lnSpc>
              <a:spcBef>
                <a:spcPts val="425"/>
              </a:spcBef>
              <a:buClr>
                <a:srgbClr val="00663B"/>
              </a:buClr>
              <a:buSzPct val="79687"/>
              <a:buFont typeface="Wingdings"/>
              <a:buChar char=""/>
              <a:tabLst>
                <a:tab pos="584200" algn="l"/>
                <a:tab pos="584835" algn="l"/>
              </a:tabLst>
            </a:pPr>
            <a:r>
              <a:rPr dirty="0" sz="3200">
                <a:latin typeface="宋体"/>
                <a:cs typeface="宋体"/>
              </a:rPr>
              <a:t>所有能够影响软件系统</a:t>
            </a:r>
            <a:r>
              <a:rPr dirty="0" sz="3200" spc="-15">
                <a:latin typeface="宋体"/>
                <a:cs typeface="宋体"/>
              </a:rPr>
              <a:t>的</a:t>
            </a:r>
            <a:r>
              <a:rPr dirty="0" sz="3200">
                <a:latin typeface="宋体"/>
                <a:cs typeface="宋体"/>
              </a:rPr>
              <a:t>实现</a:t>
            </a:r>
            <a:r>
              <a:rPr dirty="0" sz="3200" spc="-15">
                <a:latin typeface="宋体"/>
                <a:cs typeface="宋体"/>
              </a:rPr>
              <a:t>，</a:t>
            </a:r>
            <a:r>
              <a:rPr dirty="0" sz="3200">
                <a:latin typeface="宋体"/>
                <a:cs typeface="宋体"/>
              </a:rPr>
              <a:t>或者</a:t>
            </a:r>
            <a:r>
              <a:rPr dirty="0" sz="3200" spc="-15">
                <a:latin typeface="宋体"/>
                <a:cs typeface="宋体"/>
              </a:rPr>
              <a:t>会</a:t>
            </a:r>
            <a:r>
              <a:rPr dirty="0" sz="3200">
                <a:latin typeface="宋体"/>
                <a:cs typeface="宋体"/>
              </a:rPr>
              <a:t>被 </a:t>
            </a:r>
            <a:r>
              <a:rPr dirty="0" sz="3200">
                <a:latin typeface="宋体"/>
                <a:cs typeface="宋体"/>
              </a:rPr>
              <a:t>实现后的软件系统所影</a:t>
            </a:r>
            <a:r>
              <a:rPr dirty="0" sz="3200" spc="-15">
                <a:latin typeface="宋体"/>
                <a:cs typeface="宋体"/>
              </a:rPr>
              <a:t>响</a:t>
            </a:r>
            <a:r>
              <a:rPr dirty="0" sz="3200" spc="5">
                <a:latin typeface="宋体"/>
                <a:cs typeface="宋体"/>
              </a:rPr>
              <a:t>的</a:t>
            </a:r>
            <a:r>
              <a:rPr dirty="0" sz="3200">
                <a:solidFill>
                  <a:srgbClr val="C00000"/>
                </a:solidFill>
                <a:latin typeface="宋体"/>
                <a:cs typeface="宋体"/>
              </a:rPr>
              <a:t>个人和团</a:t>
            </a:r>
            <a:r>
              <a:rPr dirty="0" sz="3200" spc="-25">
                <a:solidFill>
                  <a:srgbClr val="C00000"/>
                </a:solidFill>
                <a:latin typeface="宋体"/>
                <a:cs typeface="宋体"/>
              </a:rPr>
              <a:t>体</a:t>
            </a:r>
            <a:r>
              <a:rPr dirty="0" sz="3200">
                <a:latin typeface="宋体"/>
                <a:cs typeface="宋体"/>
              </a:rPr>
              <a:t>。</a:t>
            </a:r>
            <a:endParaRPr sz="3200">
              <a:latin typeface="宋体"/>
              <a:cs typeface="宋体"/>
            </a:endParaRPr>
          </a:p>
          <a:p>
            <a:pPr lvl="1" marL="852169" indent="-495934">
              <a:lnSpc>
                <a:spcPct val="100000"/>
              </a:lnSpc>
              <a:spcBef>
                <a:spcPts val="610"/>
              </a:spcBef>
              <a:buSzPct val="58928"/>
              <a:buFont typeface="Wingdings"/>
              <a:buChar char=""/>
              <a:tabLst>
                <a:tab pos="852169" algn="l"/>
                <a:tab pos="852805" algn="l"/>
              </a:tabLst>
            </a:pPr>
            <a:r>
              <a:rPr dirty="0" sz="2800" spc="-5">
                <a:solidFill>
                  <a:srgbClr val="C00000"/>
                </a:solidFill>
                <a:latin typeface="宋体"/>
                <a:cs typeface="宋体"/>
              </a:rPr>
              <a:t>用户</a:t>
            </a:r>
            <a:r>
              <a:rPr dirty="0" sz="2800" spc="-5">
                <a:latin typeface="Calibri"/>
                <a:cs typeface="Calibri"/>
              </a:rPr>
              <a:t>:</a:t>
            </a:r>
            <a:r>
              <a:rPr dirty="0" sz="2800" spc="5">
                <a:latin typeface="Calibri"/>
                <a:cs typeface="Calibri"/>
              </a:rPr>
              <a:t> </a:t>
            </a:r>
            <a:r>
              <a:rPr dirty="0" sz="2800" spc="-5">
                <a:latin typeface="宋体"/>
                <a:cs typeface="宋体"/>
              </a:rPr>
              <a:t>最终使用和操作产品的人</a:t>
            </a:r>
            <a:endParaRPr sz="2800">
              <a:latin typeface="宋体"/>
              <a:cs typeface="宋体"/>
            </a:endParaRPr>
          </a:p>
          <a:p>
            <a:pPr lvl="2" marL="1103630" indent="-419734">
              <a:lnSpc>
                <a:spcPct val="100000"/>
              </a:lnSpc>
              <a:spcBef>
                <a:spcPts val="595"/>
              </a:spcBef>
              <a:buFont typeface="Arial"/>
              <a:buChar char="•"/>
              <a:tabLst>
                <a:tab pos="1103630" algn="l"/>
                <a:tab pos="1104265" algn="l"/>
              </a:tabLst>
            </a:pPr>
            <a:r>
              <a:rPr dirty="0" sz="2400" spc="-5">
                <a:latin typeface="宋体"/>
                <a:cs typeface="宋体"/>
              </a:rPr>
              <a:t>关注软件功能</a:t>
            </a:r>
            <a:endParaRPr sz="2400">
              <a:latin typeface="宋体"/>
              <a:cs typeface="宋体"/>
            </a:endParaRPr>
          </a:p>
          <a:p>
            <a:pPr lvl="1" marL="852169" indent="-495934">
              <a:lnSpc>
                <a:spcPct val="100000"/>
              </a:lnSpc>
              <a:spcBef>
                <a:spcPts val="655"/>
              </a:spcBef>
              <a:buSzPct val="58928"/>
              <a:buFont typeface="Wingdings"/>
              <a:buChar char=""/>
              <a:tabLst>
                <a:tab pos="852169" algn="l"/>
                <a:tab pos="852805" algn="l"/>
              </a:tabLst>
            </a:pPr>
            <a:r>
              <a:rPr dirty="0" sz="2800" spc="-5">
                <a:solidFill>
                  <a:srgbClr val="C00000"/>
                </a:solidFill>
                <a:latin typeface="宋体"/>
                <a:cs typeface="宋体"/>
              </a:rPr>
              <a:t>客户</a:t>
            </a:r>
            <a:r>
              <a:rPr dirty="0" sz="2800" spc="-5">
                <a:latin typeface="Calibri"/>
                <a:cs typeface="Calibri"/>
              </a:rPr>
              <a:t>:</a:t>
            </a:r>
            <a:r>
              <a:rPr dirty="0" sz="2800" spc="5">
                <a:latin typeface="Calibri"/>
                <a:cs typeface="Calibri"/>
              </a:rPr>
              <a:t> </a:t>
            </a:r>
            <a:r>
              <a:rPr dirty="0" sz="2800" spc="-5">
                <a:latin typeface="宋体"/>
                <a:cs typeface="宋体"/>
              </a:rPr>
              <a:t>为软件系统的开发付费的人</a:t>
            </a:r>
            <a:endParaRPr sz="2800">
              <a:latin typeface="宋体"/>
              <a:cs typeface="宋体"/>
            </a:endParaRPr>
          </a:p>
          <a:p>
            <a:pPr lvl="2" marL="1103630" indent="-419734">
              <a:lnSpc>
                <a:spcPct val="100000"/>
              </a:lnSpc>
              <a:spcBef>
                <a:spcPts val="595"/>
              </a:spcBef>
              <a:buFont typeface="Arial"/>
              <a:buChar char="•"/>
              <a:tabLst>
                <a:tab pos="1103630" algn="l"/>
                <a:tab pos="1104265" algn="l"/>
              </a:tabLst>
            </a:pPr>
            <a:r>
              <a:rPr dirty="0" sz="2400">
                <a:latin typeface="宋体"/>
                <a:cs typeface="宋体"/>
              </a:rPr>
              <a:t>关注经济上的成本、收益</a:t>
            </a:r>
            <a:endParaRPr sz="2400">
              <a:latin typeface="宋体"/>
              <a:cs typeface="宋体"/>
            </a:endParaRPr>
          </a:p>
          <a:p>
            <a:pPr lvl="1" marL="852169" indent="-495934">
              <a:lnSpc>
                <a:spcPct val="100000"/>
              </a:lnSpc>
              <a:spcBef>
                <a:spcPts val="655"/>
              </a:spcBef>
              <a:buSzPct val="58928"/>
              <a:buFont typeface="Wingdings"/>
              <a:buChar char=""/>
              <a:tabLst>
                <a:tab pos="852169" algn="l"/>
                <a:tab pos="852805" algn="l"/>
              </a:tabLst>
            </a:pPr>
            <a:r>
              <a:rPr dirty="0" sz="2800" spc="-10">
                <a:solidFill>
                  <a:srgbClr val="C00000"/>
                </a:solidFill>
                <a:latin typeface="宋体"/>
                <a:cs typeface="宋体"/>
              </a:rPr>
              <a:t>开发者</a:t>
            </a:r>
            <a:r>
              <a:rPr dirty="0" sz="2800" spc="-5">
                <a:latin typeface="Calibri"/>
                <a:cs typeface="Calibri"/>
              </a:rPr>
              <a:t>:</a:t>
            </a:r>
            <a:r>
              <a:rPr dirty="0" sz="2800" spc="15">
                <a:latin typeface="Calibri"/>
                <a:cs typeface="Calibri"/>
              </a:rPr>
              <a:t> </a:t>
            </a:r>
            <a:r>
              <a:rPr dirty="0" sz="2800" spc="-5">
                <a:latin typeface="宋体"/>
                <a:cs typeface="宋体"/>
              </a:rPr>
              <a:t>负责实现软件系统的人</a:t>
            </a:r>
            <a:endParaRPr sz="2800">
              <a:latin typeface="宋体"/>
              <a:cs typeface="宋体"/>
            </a:endParaRPr>
          </a:p>
          <a:p>
            <a:pPr lvl="2" marL="1103630" indent="-419734">
              <a:lnSpc>
                <a:spcPct val="100000"/>
              </a:lnSpc>
              <a:spcBef>
                <a:spcPts val="595"/>
              </a:spcBef>
              <a:buFont typeface="Arial"/>
              <a:buChar char="•"/>
              <a:tabLst>
                <a:tab pos="1103630" algn="l"/>
                <a:tab pos="1104265" algn="l"/>
              </a:tabLst>
            </a:pPr>
            <a:r>
              <a:rPr dirty="0" sz="2400">
                <a:latin typeface="宋体"/>
                <a:cs typeface="宋体"/>
              </a:rPr>
              <a:t>关注技术上的成本和收益</a:t>
            </a:r>
            <a:endParaRPr sz="2400">
              <a:latin typeface="宋体"/>
              <a:cs typeface="宋体"/>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8489" y="95757"/>
            <a:ext cx="4366260"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1.</a:t>
            </a:r>
            <a:r>
              <a:rPr dirty="0" sz="3800" spc="-65">
                <a:latin typeface="Calibri"/>
                <a:cs typeface="Calibri"/>
              </a:rPr>
              <a:t> </a:t>
            </a:r>
            <a:r>
              <a:rPr dirty="0" sz="3800"/>
              <a:t>涉众分析的必要性</a:t>
            </a:r>
            <a:endParaRPr sz="3800">
              <a:latin typeface="Calibri"/>
              <a:cs typeface="Calibri"/>
            </a:endParaRPr>
          </a:p>
          <a:p>
            <a:pPr algn="ctr" marL="914400">
              <a:lnSpc>
                <a:spcPct val="100000"/>
              </a:lnSpc>
              <a:spcBef>
                <a:spcPts val="5"/>
              </a:spcBef>
            </a:pPr>
            <a:r>
              <a:rPr dirty="0" sz="3800">
                <a:latin typeface="Arial"/>
                <a:cs typeface="Arial"/>
              </a:rPr>
              <a:t>——</a:t>
            </a:r>
            <a:r>
              <a:rPr dirty="0" sz="3800"/>
              <a:t>涉众</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371727"/>
            <a:ext cx="8056880" cy="4099560"/>
          </a:xfrm>
          <a:prstGeom prst="rect">
            <a:avLst/>
          </a:prstGeom>
        </p:spPr>
        <p:txBody>
          <a:bodyPr wrap="square" lIns="0" tIns="81915" rIns="0" bIns="0" rtlCol="0" vert="horz">
            <a:spAutoFit/>
          </a:bodyPr>
          <a:lstStyle/>
          <a:p>
            <a:pPr marL="584200" marR="5080" indent="-572135">
              <a:lnSpc>
                <a:spcPts val="2810"/>
              </a:lnSpc>
              <a:spcBef>
                <a:spcPts val="645"/>
              </a:spcBef>
              <a:buClr>
                <a:srgbClr val="00663B"/>
              </a:buClr>
              <a:buSzPct val="80357"/>
              <a:buFont typeface="Wingdings"/>
              <a:buChar char=""/>
              <a:tabLst>
                <a:tab pos="584200" algn="l"/>
                <a:tab pos="584835" algn="l"/>
              </a:tabLst>
            </a:pPr>
            <a:r>
              <a:rPr dirty="0" sz="2800" spc="-5">
                <a:latin typeface="宋体"/>
                <a:cs typeface="宋体"/>
              </a:rPr>
              <a:t>所有能够影响软件系统的实现，或</a:t>
            </a:r>
            <a:r>
              <a:rPr dirty="0" sz="2800">
                <a:latin typeface="宋体"/>
                <a:cs typeface="宋体"/>
              </a:rPr>
              <a:t>者</a:t>
            </a:r>
            <a:r>
              <a:rPr dirty="0" sz="2800" spc="-5">
                <a:latin typeface="宋体"/>
                <a:cs typeface="宋体"/>
              </a:rPr>
              <a:t>会被</a:t>
            </a:r>
            <a:r>
              <a:rPr dirty="0" sz="2800">
                <a:latin typeface="宋体"/>
                <a:cs typeface="宋体"/>
              </a:rPr>
              <a:t>实</a:t>
            </a:r>
            <a:r>
              <a:rPr dirty="0" sz="2800" spc="-5">
                <a:latin typeface="宋体"/>
                <a:cs typeface="宋体"/>
              </a:rPr>
              <a:t>现后 </a:t>
            </a:r>
            <a:r>
              <a:rPr dirty="0" sz="2800" spc="-10">
                <a:latin typeface="宋体"/>
                <a:cs typeface="宋体"/>
              </a:rPr>
              <a:t>的软件系统所影响的个人和团体。</a:t>
            </a:r>
            <a:endParaRPr sz="2800">
              <a:latin typeface="宋体"/>
              <a:cs typeface="宋体"/>
            </a:endParaRPr>
          </a:p>
          <a:p>
            <a:pPr lvl="1" marL="852169" indent="-495934">
              <a:lnSpc>
                <a:spcPct val="100000"/>
              </a:lnSpc>
              <a:spcBef>
                <a:spcPts val="305"/>
              </a:spcBef>
              <a:buSzPct val="60416"/>
              <a:buFont typeface="Wingdings"/>
              <a:buChar char=""/>
              <a:tabLst>
                <a:tab pos="852169" algn="l"/>
                <a:tab pos="852805" algn="l"/>
              </a:tabLst>
            </a:pPr>
            <a:r>
              <a:rPr dirty="0" sz="2400">
                <a:solidFill>
                  <a:srgbClr val="C00000"/>
                </a:solidFill>
                <a:latin typeface="宋体"/>
                <a:cs typeface="宋体"/>
              </a:rPr>
              <a:t>管理者</a:t>
            </a:r>
            <a:r>
              <a:rPr dirty="0" sz="2400">
                <a:latin typeface="宋体"/>
                <a:cs typeface="宋体"/>
              </a:rPr>
              <a:t>：参与软件系统开发事务管理的人</a:t>
            </a:r>
            <a:endParaRPr sz="2400">
              <a:latin typeface="宋体"/>
              <a:cs typeface="宋体"/>
            </a:endParaRPr>
          </a:p>
          <a:p>
            <a:pPr lvl="2" marL="1103630" indent="-419734">
              <a:lnSpc>
                <a:spcPct val="100000"/>
              </a:lnSpc>
              <a:spcBef>
                <a:spcPts val="254"/>
              </a:spcBef>
              <a:buFont typeface="Arial"/>
              <a:buChar char="•"/>
              <a:tabLst>
                <a:tab pos="1103630" algn="l"/>
                <a:tab pos="1104265" algn="l"/>
              </a:tabLst>
            </a:pPr>
            <a:r>
              <a:rPr dirty="0" sz="2000">
                <a:latin typeface="宋体"/>
                <a:cs typeface="宋体"/>
              </a:rPr>
              <a:t>投资方管理</a:t>
            </a:r>
            <a:r>
              <a:rPr dirty="0" sz="2000" spc="434">
                <a:latin typeface="宋体"/>
                <a:cs typeface="宋体"/>
              </a:rPr>
              <a:t>者</a:t>
            </a:r>
            <a:r>
              <a:rPr dirty="0" sz="2000">
                <a:latin typeface="宋体"/>
                <a:cs typeface="宋体"/>
              </a:rPr>
              <a:t>、执行负责人、项目</a:t>
            </a:r>
            <a:r>
              <a:rPr dirty="0" sz="2000" spc="-15">
                <a:latin typeface="宋体"/>
                <a:cs typeface="宋体"/>
              </a:rPr>
              <a:t>管</a:t>
            </a:r>
            <a:r>
              <a:rPr dirty="0" sz="2000">
                <a:latin typeface="宋体"/>
                <a:cs typeface="宋体"/>
              </a:rPr>
              <a:t>理者</a:t>
            </a:r>
            <a:endParaRPr sz="2000">
              <a:latin typeface="宋体"/>
              <a:cs typeface="宋体"/>
            </a:endParaRPr>
          </a:p>
          <a:p>
            <a:pPr lvl="2" marL="1103630" indent="-419734">
              <a:lnSpc>
                <a:spcPct val="100000"/>
              </a:lnSpc>
              <a:spcBef>
                <a:spcPts val="240"/>
              </a:spcBef>
              <a:buFont typeface="Arial"/>
              <a:buChar char="•"/>
              <a:tabLst>
                <a:tab pos="1103630" algn="l"/>
                <a:tab pos="1104265" algn="l"/>
              </a:tabLst>
            </a:pPr>
            <a:r>
              <a:rPr dirty="0" sz="2000">
                <a:latin typeface="宋体"/>
                <a:cs typeface="宋体"/>
              </a:rPr>
              <a:t>关注系统的开发进程</a:t>
            </a:r>
            <a:endParaRPr sz="2000">
              <a:latin typeface="宋体"/>
              <a:cs typeface="宋体"/>
            </a:endParaRPr>
          </a:p>
          <a:p>
            <a:pPr lvl="1" marL="852169" indent="-495934">
              <a:lnSpc>
                <a:spcPct val="100000"/>
              </a:lnSpc>
              <a:spcBef>
                <a:spcPts val="270"/>
              </a:spcBef>
              <a:buSzPct val="60416"/>
              <a:buFont typeface="Wingdings"/>
              <a:buChar char=""/>
              <a:tabLst>
                <a:tab pos="852169" algn="l"/>
                <a:tab pos="852805" algn="l"/>
              </a:tabLst>
            </a:pPr>
            <a:r>
              <a:rPr dirty="0" sz="2400" spc="-5">
                <a:solidFill>
                  <a:srgbClr val="C00000"/>
                </a:solidFill>
                <a:latin typeface="宋体"/>
                <a:cs typeface="宋体"/>
              </a:rPr>
              <a:t>领域专家</a:t>
            </a:r>
            <a:r>
              <a:rPr dirty="0" sz="2400">
                <a:latin typeface="Calibri"/>
                <a:cs typeface="Calibri"/>
              </a:rPr>
              <a:t>:</a:t>
            </a:r>
            <a:r>
              <a:rPr dirty="0" sz="2400" spc="-15">
                <a:latin typeface="Calibri"/>
                <a:cs typeface="Calibri"/>
              </a:rPr>
              <a:t> </a:t>
            </a:r>
            <a:r>
              <a:rPr dirty="0" sz="2400" spc="-5">
                <a:latin typeface="宋体"/>
                <a:cs typeface="宋体"/>
              </a:rPr>
              <a:t>在问题域中具有丰富知识的专家</a:t>
            </a:r>
            <a:endParaRPr sz="2400">
              <a:latin typeface="宋体"/>
              <a:cs typeface="宋体"/>
            </a:endParaRPr>
          </a:p>
          <a:p>
            <a:pPr lvl="2" marL="1103630" indent="-419734">
              <a:lnSpc>
                <a:spcPct val="100000"/>
              </a:lnSpc>
              <a:spcBef>
                <a:spcPts val="260"/>
              </a:spcBef>
              <a:buFont typeface="Arial"/>
              <a:buChar char="•"/>
              <a:tabLst>
                <a:tab pos="1103630" algn="l"/>
                <a:tab pos="1104265" algn="l"/>
              </a:tabLst>
            </a:pPr>
            <a:r>
              <a:rPr dirty="0" sz="2000">
                <a:latin typeface="宋体"/>
                <a:cs typeface="宋体"/>
              </a:rPr>
              <a:t>关注软件中的知识</a:t>
            </a:r>
            <a:endParaRPr sz="2000">
              <a:latin typeface="宋体"/>
              <a:cs typeface="宋体"/>
            </a:endParaRPr>
          </a:p>
          <a:p>
            <a:pPr lvl="1" marL="852169" indent="-495934">
              <a:lnSpc>
                <a:spcPct val="100000"/>
              </a:lnSpc>
              <a:spcBef>
                <a:spcPts val="275"/>
              </a:spcBef>
              <a:buSzPct val="60416"/>
              <a:buFont typeface="Wingdings"/>
              <a:buChar char=""/>
              <a:tabLst>
                <a:tab pos="852169" algn="l"/>
                <a:tab pos="852805" algn="l"/>
              </a:tabLst>
            </a:pPr>
            <a:r>
              <a:rPr dirty="0" sz="2400">
                <a:solidFill>
                  <a:srgbClr val="C00000"/>
                </a:solidFill>
                <a:latin typeface="宋体"/>
                <a:cs typeface="宋体"/>
              </a:rPr>
              <a:t>政府力</a:t>
            </a:r>
            <a:r>
              <a:rPr dirty="0" sz="2400" spc="540">
                <a:solidFill>
                  <a:srgbClr val="C00000"/>
                </a:solidFill>
                <a:latin typeface="宋体"/>
                <a:cs typeface="宋体"/>
              </a:rPr>
              <a:t>量</a:t>
            </a:r>
            <a:r>
              <a:rPr dirty="0" sz="2400" spc="5">
                <a:latin typeface="Calibri"/>
                <a:cs typeface="Calibri"/>
              </a:rPr>
              <a:t>:</a:t>
            </a:r>
            <a:r>
              <a:rPr dirty="0" sz="2400">
                <a:latin typeface="宋体"/>
                <a:cs typeface="宋体"/>
              </a:rPr>
              <a:t>法律法</a:t>
            </a:r>
            <a:r>
              <a:rPr dirty="0" sz="2400" spc="525">
                <a:latin typeface="宋体"/>
                <a:cs typeface="宋体"/>
              </a:rPr>
              <a:t>规</a:t>
            </a:r>
            <a:r>
              <a:rPr dirty="0" sz="2400">
                <a:latin typeface="宋体"/>
                <a:cs typeface="宋体"/>
              </a:rPr>
              <a:t>、长远规划、政策意向等</a:t>
            </a:r>
            <a:endParaRPr sz="2400">
              <a:latin typeface="宋体"/>
              <a:cs typeface="宋体"/>
            </a:endParaRPr>
          </a:p>
          <a:p>
            <a:pPr lvl="2" marL="1103630" indent="-419734">
              <a:lnSpc>
                <a:spcPct val="100000"/>
              </a:lnSpc>
              <a:spcBef>
                <a:spcPts val="254"/>
              </a:spcBef>
              <a:buFont typeface="Arial"/>
              <a:buChar char="•"/>
              <a:tabLst>
                <a:tab pos="1103630" algn="l"/>
                <a:tab pos="1104265" algn="l"/>
              </a:tabLst>
            </a:pPr>
            <a:r>
              <a:rPr dirty="0" sz="2000">
                <a:latin typeface="宋体"/>
                <a:cs typeface="宋体"/>
              </a:rPr>
              <a:t>起约束和指导作用</a:t>
            </a:r>
            <a:endParaRPr sz="2000">
              <a:latin typeface="宋体"/>
              <a:cs typeface="宋体"/>
            </a:endParaRPr>
          </a:p>
          <a:p>
            <a:pPr lvl="1" marL="852169" indent="-495934">
              <a:lnSpc>
                <a:spcPct val="100000"/>
              </a:lnSpc>
              <a:spcBef>
                <a:spcPts val="270"/>
              </a:spcBef>
              <a:buSzPct val="60416"/>
              <a:buFont typeface="Wingdings"/>
              <a:buChar char=""/>
              <a:tabLst>
                <a:tab pos="852169" algn="l"/>
                <a:tab pos="852805" algn="l"/>
              </a:tabLst>
            </a:pPr>
            <a:r>
              <a:rPr dirty="0" sz="2400" spc="-5">
                <a:solidFill>
                  <a:srgbClr val="C00000"/>
                </a:solidFill>
                <a:latin typeface="宋体"/>
                <a:cs typeface="宋体"/>
              </a:rPr>
              <a:t>市场力量</a:t>
            </a:r>
            <a:r>
              <a:rPr dirty="0" sz="2400">
                <a:latin typeface="宋体"/>
                <a:cs typeface="宋体"/>
              </a:rPr>
              <a:t>：组织中的市场部门人员</a:t>
            </a:r>
            <a:endParaRPr sz="2400">
              <a:latin typeface="宋体"/>
              <a:cs typeface="宋体"/>
            </a:endParaRPr>
          </a:p>
          <a:p>
            <a:pPr lvl="2" marL="1103630" indent="-419734">
              <a:lnSpc>
                <a:spcPct val="100000"/>
              </a:lnSpc>
              <a:spcBef>
                <a:spcPts val="260"/>
              </a:spcBef>
              <a:buFont typeface="Arial"/>
              <a:buChar char="•"/>
              <a:tabLst>
                <a:tab pos="1103630" algn="l"/>
                <a:tab pos="1104265" algn="l"/>
              </a:tabLst>
            </a:pPr>
            <a:r>
              <a:rPr dirty="0" sz="2000">
                <a:latin typeface="宋体"/>
                <a:cs typeface="宋体"/>
              </a:rPr>
              <a:t>关注用户的想法</a:t>
            </a:r>
            <a:endParaRPr sz="2000">
              <a:latin typeface="宋体"/>
              <a:cs typeface="宋体"/>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88489" y="95757"/>
            <a:ext cx="4366260"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1.</a:t>
            </a:r>
            <a:r>
              <a:rPr dirty="0" sz="3800" spc="-65">
                <a:latin typeface="Calibri"/>
                <a:cs typeface="Calibri"/>
              </a:rPr>
              <a:t> </a:t>
            </a:r>
            <a:r>
              <a:rPr dirty="0" sz="3800"/>
              <a:t>涉众分析的必要性</a:t>
            </a:r>
            <a:endParaRPr sz="3800">
              <a:latin typeface="Calibri"/>
              <a:cs typeface="Calibri"/>
            </a:endParaRPr>
          </a:p>
          <a:p>
            <a:pPr algn="ctr" marL="914400">
              <a:lnSpc>
                <a:spcPct val="100000"/>
              </a:lnSpc>
              <a:spcBef>
                <a:spcPts val="5"/>
              </a:spcBef>
            </a:pPr>
            <a:r>
              <a:rPr dirty="0" sz="3800">
                <a:latin typeface="Arial"/>
                <a:cs typeface="Arial"/>
              </a:rPr>
              <a:t>——</a:t>
            </a:r>
            <a:r>
              <a:rPr dirty="0" sz="3800"/>
              <a:t>涉众</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320767"/>
            <a:ext cx="8561705" cy="4788535"/>
          </a:xfrm>
          <a:prstGeom prst="rect">
            <a:avLst/>
          </a:prstGeom>
        </p:spPr>
        <p:txBody>
          <a:bodyPr wrap="square" lIns="0" tIns="127000" rIns="0" bIns="0" rtlCol="0" vert="horz">
            <a:spAutoFit/>
          </a:bodyPr>
          <a:lstStyle/>
          <a:p>
            <a:pPr marL="355600" indent="-343535">
              <a:lnSpc>
                <a:spcPct val="100000"/>
              </a:lnSpc>
              <a:spcBef>
                <a:spcPts val="1000"/>
              </a:spcBef>
              <a:buClr>
                <a:srgbClr val="00663B"/>
              </a:buClr>
              <a:buSzPct val="80357"/>
              <a:buFont typeface="Wingdings"/>
              <a:buChar char=""/>
              <a:tabLst>
                <a:tab pos="355600" algn="l"/>
                <a:tab pos="356235" algn="l"/>
              </a:tabLst>
            </a:pPr>
            <a:r>
              <a:rPr dirty="0" sz="2800" spc="-10">
                <a:latin typeface="宋体"/>
                <a:cs typeface="宋体"/>
              </a:rPr>
              <a:t>涉众</a:t>
            </a:r>
            <a:r>
              <a:rPr dirty="0" sz="2800" spc="-10">
                <a:solidFill>
                  <a:srgbClr val="C00000"/>
                </a:solidFill>
                <a:latin typeface="宋体"/>
                <a:cs typeface="宋体"/>
              </a:rPr>
              <a:t>类别需要细分</a:t>
            </a:r>
            <a:endParaRPr sz="2800">
              <a:latin typeface="宋体"/>
              <a:cs typeface="宋体"/>
            </a:endParaRPr>
          </a:p>
          <a:p>
            <a:pPr lvl="1" marL="756285" marR="786765" indent="-287020">
              <a:lnSpc>
                <a:spcPts val="2700"/>
              </a:lnSpc>
              <a:spcBef>
                <a:spcPts val="1015"/>
              </a:spcBef>
              <a:buClr>
                <a:srgbClr val="C00000"/>
              </a:buClr>
              <a:buSzPct val="60416"/>
              <a:buFont typeface="Wingdings"/>
              <a:buChar char=""/>
              <a:tabLst>
                <a:tab pos="756285" algn="l"/>
                <a:tab pos="756920" algn="l"/>
              </a:tabLst>
            </a:pPr>
            <a:r>
              <a:rPr dirty="0" sz="2400">
                <a:latin typeface="宋体"/>
                <a:cs typeface="宋体"/>
              </a:rPr>
              <a:t>每一类涉众的所有成员都能够一致、稳定的从相同立 场、相同视角来看待相同的软件系统</a:t>
            </a:r>
            <a:endParaRPr sz="2400">
              <a:latin typeface="宋体"/>
              <a:cs typeface="宋体"/>
            </a:endParaRPr>
          </a:p>
          <a:p>
            <a:pPr marL="355600" indent="-343535">
              <a:lnSpc>
                <a:spcPct val="100000"/>
              </a:lnSpc>
              <a:spcBef>
                <a:spcPts val="595"/>
              </a:spcBef>
              <a:buClr>
                <a:srgbClr val="00663B"/>
              </a:buClr>
              <a:buSzPct val="80357"/>
              <a:buFont typeface="Wingdings"/>
              <a:buChar char=""/>
              <a:tabLst>
                <a:tab pos="355600" algn="l"/>
                <a:tab pos="356235" algn="l"/>
              </a:tabLst>
            </a:pPr>
            <a:r>
              <a:rPr dirty="0" sz="2800" spc="-5">
                <a:latin typeface="宋体"/>
                <a:cs typeface="宋体"/>
              </a:rPr>
              <a:t>发现比</a:t>
            </a:r>
            <a:r>
              <a:rPr dirty="0" sz="2800" spc="-10">
                <a:latin typeface="宋体"/>
                <a:cs typeface="宋体"/>
              </a:rPr>
              <a:t>较</a:t>
            </a:r>
            <a:r>
              <a:rPr dirty="0" sz="2800" spc="-5">
                <a:solidFill>
                  <a:srgbClr val="C00000"/>
                </a:solidFill>
                <a:latin typeface="宋体"/>
                <a:cs typeface="宋体"/>
              </a:rPr>
              <a:t>关键的涉众</a:t>
            </a:r>
            <a:endParaRPr sz="2800">
              <a:latin typeface="宋体"/>
              <a:cs typeface="宋体"/>
            </a:endParaRPr>
          </a:p>
          <a:p>
            <a:pPr lvl="1" marL="756285" marR="786765" indent="-287020">
              <a:lnSpc>
                <a:spcPts val="2700"/>
              </a:lnSpc>
              <a:spcBef>
                <a:spcPts val="1015"/>
              </a:spcBef>
              <a:buClr>
                <a:srgbClr val="C00000"/>
              </a:buClr>
              <a:buSzPct val="60416"/>
              <a:buFont typeface="Wingdings"/>
              <a:buChar char=""/>
              <a:tabLst>
                <a:tab pos="756285" algn="l"/>
                <a:tab pos="756920" algn="l"/>
              </a:tabLst>
            </a:pPr>
            <a:r>
              <a:rPr dirty="0" sz="2400">
                <a:latin typeface="宋体"/>
                <a:cs typeface="宋体"/>
              </a:rPr>
              <a:t>需要分析他们各自的赢利条件，以在相互妥协中尽力 实现一个共赢的结局</a:t>
            </a:r>
            <a:endParaRPr sz="2400">
              <a:latin typeface="宋体"/>
              <a:cs typeface="宋体"/>
            </a:endParaRPr>
          </a:p>
          <a:p>
            <a:pPr marL="355600" indent="-343535">
              <a:lnSpc>
                <a:spcPct val="100000"/>
              </a:lnSpc>
              <a:spcBef>
                <a:spcPts val="595"/>
              </a:spcBef>
              <a:buClr>
                <a:srgbClr val="00663B"/>
              </a:buClr>
              <a:buSzPct val="80357"/>
              <a:buFont typeface="Wingdings"/>
              <a:buChar char=""/>
              <a:tabLst>
                <a:tab pos="355600" algn="l"/>
                <a:tab pos="356235" algn="l"/>
              </a:tabLst>
            </a:pPr>
            <a:r>
              <a:rPr dirty="0" sz="2800" spc="-5">
                <a:latin typeface="宋体"/>
                <a:cs typeface="宋体"/>
              </a:rPr>
              <a:t>涉众群</a:t>
            </a:r>
            <a:r>
              <a:rPr dirty="0" sz="2800" spc="-10">
                <a:latin typeface="宋体"/>
                <a:cs typeface="宋体"/>
              </a:rPr>
              <a:t>体</a:t>
            </a:r>
            <a:r>
              <a:rPr dirty="0" sz="2800" spc="-5">
                <a:solidFill>
                  <a:srgbClr val="C00000"/>
                </a:solidFill>
                <a:latin typeface="宋体"/>
                <a:cs typeface="宋体"/>
              </a:rPr>
              <a:t>不是固定不变</a:t>
            </a:r>
            <a:r>
              <a:rPr dirty="0" sz="2800" spc="-5">
                <a:latin typeface="宋体"/>
                <a:cs typeface="宋体"/>
              </a:rPr>
              <a:t>的</a:t>
            </a:r>
            <a:endParaRPr sz="2800">
              <a:latin typeface="宋体"/>
              <a:cs typeface="宋体"/>
            </a:endParaRPr>
          </a:p>
          <a:p>
            <a:pPr lvl="1" marL="756285" indent="-287020">
              <a:lnSpc>
                <a:spcPts val="2790"/>
              </a:lnSpc>
              <a:spcBef>
                <a:spcPts val="775"/>
              </a:spcBef>
              <a:buClr>
                <a:srgbClr val="C00000"/>
              </a:buClr>
              <a:buSzPct val="60416"/>
              <a:buFont typeface="Wingdings"/>
              <a:buChar char=""/>
              <a:tabLst>
                <a:tab pos="756285" algn="l"/>
                <a:tab pos="756920" algn="l"/>
              </a:tabLst>
            </a:pPr>
            <a:r>
              <a:rPr dirty="0" sz="2400" spc="-5">
                <a:latin typeface="宋体"/>
                <a:cs typeface="宋体"/>
              </a:rPr>
              <a:t>对涉众的理解不是一个完成之后就可以结束的活动，</a:t>
            </a:r>
            <a:endParaRPr sz="2400">
              <a:latin typeface="宋体"/>
              <a:cs typeface="宋体"/>
            </a:endParaRPr>
          </a:p>
          <a:p>
            <a:pPr marL="756285">
              <a:lnSpc>
                <a:spcPts val="2790"/>
              </a:lnSpc>
            </a:pPr>
            <a:r>
              <a:rPr dirty="0" sz="2400">
                <a:latin typeface="宋体"/>
                <a:cs typeface="宋体"/>
              </a:rPr>
              <a:t>而是应该在完成之后继续保持适当的关注</a:t>
            </a:r>
            <a:endParaRPr sz="2400">
              <a:latin typeface="宋体"/>
              <a:cs typeface="宋体"/>
            </a:endParaRPr>
          </a:p>
          <a:p>
            <a:pPr>
              <a:lnSpc>
                <a:spcPct val="100000"/>
              </a:lnSpc>
              <a:spcBef>
                <a:spcPts val="40"/>
              </a:spcBef>
            </a:pPr>
            <a:endParaRPr sz="2000">
              <a:latin typeface="宋体"/>
              <a:cs typeface="宋体"/>
            </a:endParaRPr>
          </a:p>
          <a:p>
            <a:pPr marL="12700">
              <a:lnSpc>
                <a:spcPct val="100000"/>
              </a:lnSpc>
            </a:pPr>
            <a:r>
              <a:rPr dirty="0" sz="2950" spc="-145" i="1">
                <a:solidFill>
                  <a:srgbClr val="C00000"/>
                </a:solidFill>
                <a:latin typeface="楷体"/>
                <a:cs typeface="楷体"/>
              </a:rPr>
              <a:t>涉</a:t>
            </a:r>
            <a:r>
              <a:rPr dirty="0" sz="2950" spc="-155" i="1">
                <a:solidFill>
                  <a:srgbClr val="C00000"/>
                </a:solidFill>
                <a:latin typeface="楷体"/>
                <a:cs typeface="楷体"/>
              </a:rPr>
              <a:t>众分析</a:t>
            </a:r>
            <a:r>
              <a:rPr dirty="0" sz="2950" spc="-140" i="1">
                <a:solidFill>
                  <a:srgbClr val="C00000"/>
                </a:solidFill>
                <a:latin typeface="楷体"/>
                <a:cs typeface="楷体"/>
              </a:rPr>
              <a:t>就</a:t>
            </a:r>
            <a:r>
              <a:rPr dirty="0" sz="2950" spc="-155" i="1">
                <a:solidFill>
                  <a:srgbClr val="C00000"/>
                </a:solidFill>
                <a:latin typeface="楷体"/>
                <a:cs typeface="楷体"/>
              </a:rPr>
              <a:t>是为软</a:t>
            </a:r>
            <a:r>
              <a:rPr dirty="0" sz="2950" spc="-140" i="1">
                <a:solidFill>
                  <a:srgbClr val="C00000"/>
                </a:solidFill>
                <a:latin typeface="楷体"/>
                <a:cs typeface="楷体"/>
              </a:rPr>
              <a:t>件</a:t>
            </a:r>
            <a:r>
              <a:rPr dirty="0" sz="2950" spc="-155" i="1">
                <a:solidFill>
                  <a:srgbClr val="C00000"/>
                </a:solidFill>
                <a:latin typeface="楷体"/>
                <a:cs typeface="楷体"/>
              </a:rPr>
              <a:t>系统寻</a:t>
            </a:r>
            <a:r>
              <a:rPr dirty="0" sz="2950" spc="-140" i="1">
                <a:solidFill>
                  <a:srgbClr val="C00000"/>
                </a:solidFill>
                <a:latin typeface="楷体"/>
                <a:cs typeface="楷体"/>
              </a:rPr>
              <a:t>找</a:t>
            </a:r>
            <a:r>
              <a:rPr dirty="0" sz="2950" spc="-155" i="1">
                <a:solidFill>
                  <a:srgbClr val="C00000"/>
                </a:solidFill>
                <a:latin typeface="楷体"/>
                <a:cs typeface="楷体"/>
              </a:rPr>
              <a:t>并理解</a:t>
            </a:r>
            <a:r>
              <a:rPr dirty="0" sz="2950" spc="-140" i="1">
                <a:solidFill>
                  <a:srgbClr val="C00000"/>
                </a:solidFill>
                <a:latin typeface="楷体"/>
                <a:cs typeface="楷体"/>
              </a:rPr>
              <a:t>关</a:t>
            </a:r>
            <a:r>
              <a:rPr dirty="0" sz="2950" spc="-155" i="1">
                <a:solidFill>
                  <a:srgbClr val="C00000"/>
                </a:solidFill>
                <a:latin typeface="楷体"/>
                <a:cs typeface="楷体"/>
              </a:rPr>
              <a:t>键涉众</a:t>
            </a:r>
            <a:r>
              <a:rPr dirty="0" sz="2950" spc="-140" i="1">
                <a:solidFill>
                  <a:srgbClr val="C00000"/>
                </a:solidFill>
                <a:latin typeface="楷体"/>
                <a:cs typeface="楷体"/>
              </a:rPr>
              <a:t>的</a:t>
            </a:r>
            <a:r>
              <a:rPr dirty="0" sz="2950" spc="-155" i="1">
                <a:solidFill>
                  <a:srgbClr val="C00000"/>
                </a:solidFill>
                <a:latin typeface="楷体"/>
                <a:cs typeface="楷体"/>
              </a:rPr>
              <a:t>过程。</a:t>
            </a:r>
            <a:endParaRPr sz="2950">
              <a:latin typeface="楷体"/>
              <a:cs typeface="楷体"/>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0429" y="334721"/>
            <a:ext cx="2263140" cy="697230"/>
          </a:xfrm>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7562"/>
            <a:ext cx="4399915" cy="236791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涉众分析的必要性</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F0000"/>
                </a:solidFill>
                <a:latin typeface="宋体"/>
                <a:cs typeface="宋体"/>
              </a:rPr>
              <a:t>涉众分析的主要内容</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涉众分析过程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硬数据采样</a:t>
            </a:r>
            <a:endParaRPr sz="3200">
              <a:latin typeface="宋体"/>
              <a:cs typeface="宋体"/>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107" y="6425590"/>
            <a:ext cx="2239645" cy="269240"/>
          </a:xfrm>
          <a:prstGeom prst="rect">
            <a:avLst/>
          </a:prstGeom>
        </p:spPr>
        <p:txBody>
          <a:bodyPr wrap="square" lIns="0" tIns="12065" rIns="0" bIns="0" rtlCol="0" vert="horz">
            <a:spAutoFit/>
          </a:bodyPr>
          <a:lstStyle/>
          <a:p>
            <a:pPr marL="12700">
              <a:lnSpc>
                <a:spcPct val="100000"/>
              </a:lnSpc>
              <a:spcBef>
                <a:spcPts val="95"/>
              </a:spcBef>
            </a:pPr>
            <a:r>
              <a:rPr dirty="0" sz="1600" spc="-5">
                <a:solidFill>
                  <a:srgbClr val="00663B"/>
                </a:solidFill>
                <a:latin typeface="华文行楷"/>
                <a:cs typeface="华文行楷"/>
              </a:rPr>
              <a:t>软件需求工程</a:t>
            </a:r>
            <a:r>
              <a:rPr dirty="0" sz="1600" spc="-20">
                <a:solidFill>
                  <a:srgbClr val="00663B"/>
                </a:solidFill>
                <a:latin typeface="华文行楷"/>
                <a:cs typeface="华文行楷"/>
              </a:rPr>
              <a:t>与</a:t>
            </a:r>
            <a:r>
              <a:rPr dirty="0" sz="1600" spc="-5">
                <a:solidFill>
                  <a:srgbClr val="00663B"/>
                </a:solidFill>
                <a:latin typeface="Calibri"/>
                <a:cs typeface="Calibri"/>
              </a:rPr>
              <a:t>UM</a:t>
            </a:r>
            <a:r>
              <a:rPr dirty="0" sz="1600" spc="-10">
                <a:solidFill>
                  <a:srgbClr val="00663B"/>
                </a:solidFill>
                <a:latin typeface="Calibri"/>
                <a:cs typeface="Calibri"/>
              </a:rPr>
              <a:t>L</a:t>
            </a:r>
            <a:r>
              <a:rPr dirty="0" sz="1600" spc="-5">
                <a:solidFill>
                  <a:srgbClr val="00663B"/>
                </a:solidFill>
                <a:latin typeface="华文行楷"/>
                <a:cs typeface="华文行楷"/>
              </a:rPr>
              <a:t>建模</a:t>
            </a:r>
            <a:endParaRPr sz="1600">
              <a:latin typeface="华文行楷"/>
              <a:cs typeface="华文行楷"/>
            </a:endParaRPr>
          </a:p>
        </p:txBody>
      </p:sp>
      <p:sp>
        <p:nvSpPr>
          <p:cNvPr id="3" name="object 3"/>
          <p:cNvSpPr txBox="1">
            <a:spLocks noGrp="1"/>
          </p:cNvSpPr>
          <p:nvPr>
            <p:ph type="title"/>
          </p:nvPr>
        </p:nvSpPr>
        <p:spPr>
          <a:xfrm>
            <a:off x="1963292" y="132333"/>
            <a:ext cx="5696585" cy="1184275"/>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3.2.</a:t>
            </a:r>
            <a:r>
              <a:rPr dirty="0" sz="3800" spc="-20">
                <a:latin typeface="Calibri"/>
                <a:cs typeface="Calibri"/>
              </a:rPr>
              <a:t> </a:t>
            </a:r>
            <a:r>
              <a:rPr dirty="0" sz="3800"/>
              <a:t>涉众分析的主要内容</a:t>
            </a:r>
            <a:endParaRPr sz="3800">
              <a:latin typeface="Calibri"/>
              <a:cs typeface="Calibri"/>
            </a:endParaRPr>
          </a:p>
          <a:p>
            <a:pPr marL="448309">
              <a:lnSpc>
                <a:spcPct val="100000"/>
              </a:lnSpc>
              <a:spcBef>
                <a:spcPts val="5"/>
              </a:spcBef>
            </a:pPr>
            <a:r>
              <a:rPr dirty="0" sz="3800">
                <a:latin typeface="Arial"/>
                <a:cs typeface="Arial"/>
              </a:rPr>
              <a:t>——</a:t>
            </a:r>
            <a:r>
              <a:rPr dirty="0" sz="3800"/>
              <a:t>涉众分</a:t>
            </a:r>
            <a:r>
              <a:rPr dirty="0" sz="3800" spc="840"/>
              <a:t>析</a:t>
            </a:r>
            <a:r>
              <a:rPr dirty="0" sz="3800">
                <a:latin typeface="Calibri"/>
                <a:cs typeface="Calibri"/>
              </a:rPr>
              <a:t>/</a:t>
            </a:r>
            <a:r>
              <a:rPr dirty="0" sz="3800" spc="-60">
                <a:latin typeface="Calibri"/>
                <a:cs typeface="Calibri"/>
              </a:rPr>
              <a:t> </a:t>
            </a:r>
            <a:r>
              <a:rPr dirty="0" sz="3800"/>
              <a:t>寻找涉众</a:t>
            </a:r>
            <a:endParaRPr sz="3800">
              <a:latin typeface="Calibri"/>
              <a:cs typeface="Calibri"/>
            </a:endParaRPr>
          </a:p>
        </p:txBody>
      </p:sp>
      <p:sp>
        <p:nvSpPr>
          <p:cNvPr id="4" name="object 4"/>
          <p:cNvSpPr txBox="1"/>
          <p:nvPr/>
        </p:nvSpPr>
        <p:spPr>
          <a:xfrm>
            <a:off x="535940" y="1540205"/>
            <a:ext cx="8031480" cy="108458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8846"/>
              <a:buFont typeface="Wingdings"/>
              <a:buChar char=""/>
              <a:tabLst>
                <a:tab pos="355600" algn="l"/>
                <a:tab pos="356235" algn="l"/>
              </a:tabLst>
            </a:pPr>
            <a:r>
              <a:rPr dirty="0" sz="2600">
                <a:latin typeface="宋体"/>
                <a:cs typeface="宋体"/>
              </a:rPr>
              <a:t>信息系统的四种类型</a:t>
            </a:r>
            <a:endParaRPr sz="2600">
              <a:latin typeface="宋体"/>
              <a:cs typeface="宋体"/>
            </a:endParaRPr>
          </a:p>
          <a:p>
            <a:pPr lvl="1" marL="756285" indent="-287020">
              <a:lnSpc>
                <a:spcPct val="100000"/>
              </a:lnSpc>
              <a:spcBef>
                <a:spcPts val="20"/>
              </a:spcBef>
              <a:buClr>
                <a:srgbClr val="C00000"/>
              </a:buClr>
              <a:buSzPct val="59090"/>
              <a:buFont typeface="Wingdings"/>
              <a:buChar char=""/>
              <a:tabLst>
                <a:tab pos="756285" algn="l"/>
                <a:tab pos="756920" algn="l"/>
              </a:tabLst>
            </a:pPr>
            <a:r>
              <a:rPr dirty="0" sz="2200" spc="-5">
                <a:latin typeface="宋体"/>
                <a:cs typeface="宋体"/>
              </a:rPr>
              <a:t>（</a:t>
            </a:r>
            <a:r>
              <a:rPr dirty="0" sz="2200" spc="-5">
                <a:latin typeface="Calibri"/>
                <a:cs typeface="Calibri"/>
              </a:rPr>
              <a:t>1</a:t>
            </a:r>
            <a:r>
              <a:rPr dirty="0" sz="2200" spc="-5">
                <a:latin typeface="宋体"/>
                <a:cs typeface="宋体"/>
              </a:rPr>
              <a:t>）小型系统</a:t>
            </a:r>
            <a:r>
              <a:rPr dirty="0" sz="2200" spc="-10">
                <a:latin typeface="宋体"/>
                <a:cs typeface="宋体"/>
              </a:rPr>
              <a:t>（</a:t>
            </a:r>
            <a:r>
              <a:rPr dirty="0" sz="2200" spc="-10">
                <a:latin typeface="Calibri"/>
                <a:cs typeface="Calibri"/>
              </a:rPr>
              <a:t>Small</a:t>
            </a:r>
            <a:r>
              <a:rPr dirty="0" sz="2200" spc="20">
                <a:latin typeface="Calibri"/>
                <a:cs typeface="Calibri"/>
              </a:rPr>
              <a:t> </a:t>
            </a:r>
            <a:r>
              <a:rPr dirty="0" sz="2200" spc="-5">
                <a:latin typeface="Calibri"/>
                <a:cs typeface="Calibri"/>
              </a:rPr>
              <a:t>System</a:t>
            </a:r>
            <a:r>
              <a:rPr dirty="0" sz="2200" spc="-5">
                <a:latin typeface="宋体"/>
                <a:cs typeface="宋体"/>
              </a:rPr>
              <a:t>）</a:t>
            </a:r>
            <a:endParaRPr sz="2200">
              <a:latin typeface="宋体"/>
              <a:cs typeface="宋体"/>
            </a:endParaRPr>
          </a:p>
          <a:p>
            <a:pPr lvl="2" marL="1155700" indent="-229235">
              <a:lnSpc>
                <a:spcPct val="100000"/>
              </a:lnSpc>
              <a:spcBef>
                <a:spcPts val="150"/>
              </a:spcBef>
              <a:buFont typeface="Arial"/>
              <a:buChar char="•"/>
              <a:tabLst>
                <a:tab pos="1155700" algn="l"/>
                <a:tab pos="1156335" algn="l"/>
              </a:tabLst>
            </a:pPr>
            <a:r>
              <a:rPr dirty="0" sz="2000">
                <a:latin typeface="宋体"/>
                <a:cs typeface="宋体"/>
              </a:rPr>
              <a:t>小型系统是指那些能够</a:t>
            </a:r>
            <a:r>
              <a:rPr dirty="0" sz="2000" spc="-15">
                <a:latin typeface="宋体"/>
                <a:cs typeface="宋体"/>
              </a:rPr>
              <a:t>支</a:t>
            </a:r>
            <a:r>
              <a:rPr dirty="0" sz="2000">
                <a:latin typeface="宋体"/>
                <a:cs typeface="宋体"/>
              </a:rPr>
              <a:t>持组</a:t>
            </a:r>
            <a:r>
              <a:rPr dirty="0" sz="2000" spc="-15">
                <a:latin typeface="宋体"/>
                <a:cs typeface="宋体"/>
              </a:rPr>
              <a:t>织</a:t>
            </a:r>
            <a:r>
              <a:rPr dirty="0" sz="2000">
                <a:latin typeface="宋体"/>
                <a:cs typeface="宋体"/>
              </a:rPr>
              <a:t>的部</a:t>
            </a:r>
            <a:r>
              <a:rPr dirty="0" sz="2000" spc="-15">
                <a:latin typeface="宋体"/>
                <a:cs typeface="宋体"/>
              </a:rPr>
              <a:t>分</a:t>
            </a:r>
            <a:r>
              <a:rPr dirty="0" sz="2000">
                <a:latin typeface="宋体"/>
                <a:cs typeface="宋体"/>
              </a:rPr>
              <a:t>工作</a:t>
            </a:r>
            <a:r>
              <a:rPr dirty="0" sz="2000" spc="-15">
                <a:latin typeface="宋体"/>
                <a:cs typeface="宋体"/>
              </a:rPr>
              <a:t>，</a:t>
            </a:r>
            <a:r>
              <a:rPr dirty="0" sz="2000">
                <a:latin typeface="宋体"/>
                <a:cs typeface="宋体"/>
              </a:rPr>
              <a:t>但又</a:t>
            </a:r>
            <a:r>
              <a:rPr dirty="0" sz="2000" spc="-15">
                <a:latin typeface="宋体"/>
                <a:cs typeface="宋体"/>
              </a:rPr>
              <a:t>不</a:t>
            </a:r>
            <a:r>
              <a:rPr dirty="0" sz="2000">
                <a:latin typeface="宋体"/>
                <a:cs typeface="宋体"/>
              </a:rPr>
              <a:t>会影</a:t>
            </a:r>
            <a:r>
              <a:rPr dirty="0" sz="2000" spc="-15">
                <a:latin typeface="宋体"/>
                <a:cs typeface="宋体"/>
              </a:rPr>
              <a:t>响</a:t>
            </a:r>
            <a:r>
              <a:rPr dirty="0" sz="2000">
                <a:latin typeface="宋体"/>
                <a:cs typeface="宋体"/>
              </a:rPr>
              <a:t>整</a:t>
            </a:r>
            <a:endParaRPr sz="2000">
              <a:latin typeface="宋体"/>
              <a:cs typeface="宋体"/>
            </a:endParaRPr>
          </a:p>
        </p:txBody>
      </p:sp>
      <p:sp>
        <p:nvSpPr>
          <p:cNvPr id="5" name="object 5"/>
          <p:cNvSpPr txBox="1"/>
          <p:nvPr/>
        </p:nvSpPr>
        <p:spPr>
          <a:xfrm>
            <a:off x="1450594" y="2519299"/>
            <a:ext cx="3561079" cy="1245870"/>
          </a:xfrm>
          <a:prstGeom prst="rect">
            <a:avLst/>
          </a:prstGeom>
        </p:spPr>
        <p:txBody>
          <a:bodyPr wrap="square" lIns="0" tIns="13335" rIns="0" bIns="0" rtlCol="0" vert="horz">
            <a:spAutoFit/>
          </a:bodyPr>
          <a:lstStyle/>
          <a:p>
            <a:pPr marL="241300">
              <a:lnSpc>
                <a:spcPct val="100000"/>
              </a:lnSpc>
              <a:spcBef>
                <a:spcPts val="105"/>
              </a:spcBef>
            </a:pPr>
            <a:r>
              <a:rPr dirty="0" sz="2000">
                <a:latin typeface="宋体"/>
                <a:cs typeface="宋体"/>
              </a:rPr>
              <a:t>个组织基础工作的信息</a:t>
            </a:r>
            <a:r>
              <a:rPr dirty="0" sz="2000" spc="-15">
                <a:latin typeface="宋体"/>
                <a:cs typeface="宋体"/>
              </a:rPr>
              <a:t>系</a:t>
            </a:r>
            <a:r>
              <a:rPr dirty="0" sz="2000">
                <a:latin typeface="宋体"/>
                <a:cs typeface="宋体"/>
              </a:rPr>
              <a:t>统</a:t>
            </a:r>
            <a:endParaRPr sz="2000">
              <a:latin typeface="宋体"/>
              <a:cs typeface="宋体"/>
            </a:endParaRPr>
          </a:p>
          <a:p>
            <a:pPr marL="241300" indent="-228600">
              <a:lnSpc>
                <a:spcPct val="100000"/>
              </a:lnSpc>
              <a:buFont typeface="Arial"/>
              <a:buChar char="•"/>
              <a:tabLst>
                <a:tab pos="240665" algn="l"/>
                <a:tab pos="241300" algn="l"/>
              </a:tabLst>
            </a:pPr>
            <a:r>
              <a:rPr dirty="0" sz="2000">
                <a:latin typeface="宋体"/>
                <a:cs typeface="宋体"/>
              </a:rPr>
              <a:t>关注于某个特定问题</a:t>
            </a:r>
            <a:endParaRPr sz="2000">
              <a:latin typeface="宋体"/>
              <a:cs typeface="宋体"/>
            </a:endParaRPr>
          </a:p>
          <a:p>
            <a:pPr marL="241300" indent="-228600">
              <a:lnSpc>
                <a:spcPct val="100000"/>
              </a:lnSpc>
              <a:buFont typeface="Arial"/>
              <a:buChar char="•"/>
              <a:tabLst>
                <a:tab pos="240665" algn="l"/>
                <a:tab pos="241300" algn="l"/>
              </a:tabLst>
            </a:pPr>
            <a:r>
              <a:rPr dirty="0" sz="2000">
                <a:latin typeface="宋体"/>
                <a:cs typeface="宋体"/>
              </a:rPr>
              <a:t>功能较为固定，界限较</a:t>
            </a:r>
            <a:r>
              <a:rPr dirty="0" sz="2000" spc="-10">
                <a:latin typeface="宋体"/>
                <a:cs typeface="宋体"/>
              </a:rPr>
              <a:t>为</a:t>
            </a:r>
            <a:r>
              <a:rPr dirty="0" sz="2000">
                <a:latin typeface="宋体"/>
                <a:cs typeface="宋体"/>
              </a:rPr>
              <a:t>清晰</a:t>
            </a:r>
            <a:endParaRPr sz="2000">
              <a:latin typeface="宋体"/>
              <a:cs typeface="宋体"/>
            </a:endParaRPr>
          </a:p>
          <a:p>
            <a:pPr marL="241300" indent="-228600">
              <a:lnSpc>
                <a:spcPct val="100000"/>
              </a:lnSpc>
              <a:buFont typeface="Arial"/>
              <a:buChar char="•"/>
              <a:tabLst>
                <a:tab pos="240665" algn="l"/>
                <a:tab pos="241300" algn="l"/>
              </a:tabLst>
            </a:pPr>
            <a:r>
              <a:rPr dirty="0" sz="2000">
                <a:solidFill>
                  <a:srgbClr val="00A15F"/>
                </a:solidFill>
                <a:latin typeface="宋体"/>
                <a:cs typeface="宋体"/>
              </a:rPr>
              <a:t>涉众有限且明显</a:t>
            </a:r>
            <a:endParaRPr sz="2000">
              <a:latin typeface="宋体"/>
              <a:cs typeface="宋体"/>
            </a:endParaRPr>
          </a:p>
        </p:txBody>
      </p:sp>
      <p:sp>
        <p:nvSpPr>
          <p:cNvPr id="6" name="object 6"/>
          <p:cNvSpPr txBox="1"/>
          <p:nvPr/>
        </p:nvSpPr>
        <p:spPr>
          <a:xfrm>
            <a:off x="993444" y="3718045"/>
            <a:ext cx="7574280" cy="1784985"/>
          </a:xfrm>
          <a:prstGeom prst="rect">
            <a:avLst/>
          </a:prstGeom>
        </p:spPr>
        <p:txBody>
          <a:bodyPr wrap="square" lIns="0" tIns="33019" rIns="0" bIns="0" rtlCol="0" vert="horz">
            <a:spAutoFit/>
          </a:bodyPr>
          <a:lstStyle/>
          <a:p>
            <a:pPr marL="299085" indent="-287020">
              <a:lnSpc>
                <a:spcPct val="100000"/>
              </a:lnSpc>
              <a:spcBef>
                <a:spcPts val="259"/>
              </a:spcBef>
              <a:buClr>
                <a:srgbClr val="C00000"/>
              </a:buClr>
              <a:buSzPct val="59090"/>
              <a:buFont typeface="Wingdings"/>
              <a:buChar char=""/>
              <a:tabLst>
                <a:tab pos="299085" algn="l"/>
                <a:tab pos="299720" algn="l"/>
              </a:tabLst>
            </a:pPr>
            <a:r>
              <a:rPr dirty="0" sz="2200" spc="-5">
                <a:latin typeface="宋体"/>
                <a:cs typeface="宋体"/>
              </a:rPr>
              <a:t>（</a:t>
            </a:r>
            <a:r>
              <a:rPr dirty="0" sz="2200" spc="-5">
                <a:latin typeface="Calibri"/>
                <a:cs typeface="Calibri"/>
              </a:rPr>
              <a:t>2</a:t>
            </a:r>
            <a:r>
              <a:rPr dirty="0" sz="2200" spc="-5">
                <a:latin typeface="宋体"/>
                <a:cs typeface="宋体"/>
              </a:rPr>
              <a:t>）组织级系统（</a:t>
            </a:r>
            <a:r>
              <a:rPr dirty="0" sz="2200" spc="-5">
                <a:latin typeface="Calibri"/>
                <a:cs typeface="Calibri"/>
              </a:rPr>
              <a:t>Organization-Wide</a:t>
            </a:r>
            <a:r>
              <a:rPr dirty="0" sz="2200" spc="35">
                <a:latin typeface="Calibri"/>
                <a:cs typeface="Calibri"/>
              </a:rPr>
              <a:t> </a:t>
            </a:r>
            <a:r>
              <a:rPr dirty="0" sz="2200" spc="-5">
                <a:latin typeface="Calibri"/>
                <a:cs typeface="Calibri"/>
              </a:rPr>
              <a:t>System</a:t>
            </a:r>
            <a:r>
              <a:rPr dirty="0" sz="2200" spc="-5">
                <a:latin typeface="宋体"/>
                <a:cs typeface="宋体"/>
              </a:rPr>
              <a:t>）</a:t>
            </a:r>
            <a:endParaRPr sz="2200">
              <a:latin typeface="宋体"/>
              <a:cs typeface="宋体"/>
            </a:endParaRPr>
          </a:p>
          <a:p>
            <a:pPr lvl="1" marL="697865" marR="5080" indent="-228600">
              <a:lnSpc>
                <a:spcPct val="74000"/>
              </a:lnSpc>
              <a:spcBef>
                <a:spcPts val="775"/>
              </a:spcBef>
              <a:buFont typeface="Arial"/>
              <a:buChar char="•"/>
              <a:tabLst>
                <a:tab pos="697865" algn="l"/>
                <a:tab pos="698500" algn="l"/>
              </a:tabLst>
            </a:pPr>
            <a:r>
              <a:rPr dirty="0" sz="2000">
                <a:latin typeface="宋体"/>
                <a:cs typeface="宋体"/>
              </a:rPr>
              <a:t>其功能能够影响整个组</a:t>
            </a:r>
            <a:r>
              <a:rPr dirty="0" sz="2000" spc="-15">
                <a:latin typeface="宋体"/>
                <a:cs typeface="宋体"/>
              </a:rPr>
              <a:t>织</a:t>
            </a:r>
            <a:r>
              <a:rPr dirty="0" sz="2000">
                <a:latin typeface="宋体"/>
                <a:cs typeface="宋体"/>
              </a:rPr>
              <a:t>基础</a:t>
            </a:r>
            <a:r>
              <a:rPr dirty="0" sz="2000" spc="-15">
                <a:latin typeface="宋体"/>
                <a:cs typeface="宋体"/>
              </a:rPr>
              <a:t>工</a:t>
            </a:r>
            <a:r>
              <a:rPr dirty="0" sz="2000">
                <a:latin typeface="宋体"/>
                <a:cs typeface="宋体"/>
              </a:rPr>
              <a:t>作的</a:t>
            </a:r>
            <a:r>
              <a:rPr dirty="0" sz="2000" spc="-15">
                <a:latin typeface="宋体"/>
                <a:cs typeface="宋体"/>
              </a:rPr>
              <a:t>系</a:t>
            </a:r>
            <a:r>
              <a:rPr dirty="0" sz="2000">
                <a:latin typeface="宋体"/>
                <a:cs typeface="宋体"/>
              </a:rPr>
              <a:t>统，</a:t>
            </a:r>
            <a:r>
              <a:rPr dirty="0" sz="2000" spc="-15">
                <a:latin typeface="宋体"/>
                <a:cs typeface="宋体"/>
              </a:rPr>
              <a:t>它</a:t>
            </a:r>
            <a:r>
              <a:rPr dirty="0" sz="2000">
                <a:latin typeface="宋体"/>
                <a:cs typeface="宋体"/>
              </a:rPr>
              <a:t>的功</a:t>
            </a:r>
            <a:r>
              <a:rPr dirty="0" sz="2000" spc="-15">
                <a:latin typeface="宋体"/>
                <a:cs typeface="宋体"/>
              </a:rPr>
              <a:t>能</a:t>
            </a:r>
            <a:r>
              <a:rPr dirty="0" sz="2000">
                <a:latin typeface="宋体"/>
                <a:cs typeface="宋体"/>
              </a:rPr>
              <a:t>在质</a:t>
            </a:r>
            <a:r>
              <a:rPr dirty="0" sz="2000" spc="-15">
                <a:latin typeface="宋体"/>
                <a:cs typeface="宋体"/>
              </a:rPr>
              <a:t>量</a:t>
            </a:r>
            <a:r>
              <a:rPr dirty="0" sz="2000">
                <a:latin typeface="宋体"/>
                <a:cs typeface="宋体"/>
              </a:rPr>
              <a:t>上 和小型系统有着明显的</a:t>
            </a:r>
            <a:r>
              <a:rPr dirty="0" sz="2000" spc="-15">
                <a:latin typeface="宋体"/>
                <a:cs typeface="宋体"/>
              </a:rPr>
              <a:t>差</a:t>
            </a:r>
            <a:r>
              <a:rPr dirty="0" sz="2000">
                <a:latin typeface="宋体"/>
                <a:cs typeface="宋体"/>
              </a:rPr>
              <a:t>异。</a:t>
            </a:r>
            <a:endParaRPr sz="2000">
              <a:latin typeface="宋体"/>
              <a:cs typeface="宋体"/>
            </a:endParaRPr>
          </a:p>
          <a:p>
            <a:pPr lvl="1" marL="697865" indent="-229235">
              <a:lnSpc>
                <a:spcPts val="2090"/>
              </a:lnSpc>
              <a:spcBef>
                <a:spcPts val="145"/>
              </a:spcBef>
              <a:buFont typeface="Arial"/>
              <a:buChar char="•"/>
              <a:tabLst>
                <a:tab pos="697865" algn="l"/>
                <a:tab pos="698500" algn="l"/>
              </a:tabLst>
            </a:pPr>
            <a:r>
              <a:rPr dirty="0" sz="2000">
                <a:latin typeface="宋体"/>
                <a:cs typeface="宋体"/>
              </a:rPr>
              <a:t>它可能会影响用户群体</a:t>
            </a:r>
            <a:r>
              <a:rPr dirty="0" sz="2000" spc="-10">
                <a:latin typeface="宋体"/>
                <a:cs typeface="宋体"/>
              </a:rPr>
              <a:t>之</a:t>
            </a:r>
            <a:r>
              <a:rPr dirty="0" sz="2000">
                <a:latin typeface="宋体"/>
                <a:cs typeface="宋体"/>
              </a:rPr>
              <a:t>外的</a:t>
            </a:r>
            <a:r>
              <a:rPr dirty="0" sz="2000" spc="-10">
                <a:latin typeface="宋体"/>
                <a:cs typeface="宋体"/>
              </a:rPr>
              <a:t>组</a:t>
            </a:r>
            <a:r>
              <a:rPr dirty="0" sz="2000">
                <a:latin typeface="宋体"/>
                <a:cs typeface="宋体"/>
              </a:rPr>
              <a:t>织内</a:t>
            </a:r>
            <a:r>
              <a:rPr dirty="0" sz="2000" spc="-10">
                <a:latin typeface="宋体"/>
                <a:cs typeface="宋体"/>
              </a:rPr>
              <a:t>其</a:t>
            </a:r>
            <a:r>
              <a:rPr dirty="0" sz="2000">
                <a:latin typeface="宋体"/>
                <a:cs typeface="宋体"/>
              </a:rPr>
              <a:t>他群</a:t>
            </a:r>
            <a:r>
              <a:rPr dirty="0" sz="2000" spc="-10">
                <a:latin typeface="宋体"/>
                <a:cs typeface="宋体"/>
              </a:rPr>
              <a:t>体</a:t>
            </a:r>
            <a:r>
              <a:rPr dirty="0" sz="2000">
                <a:latin typeface="宋体"/>
                <a:cs typeface="宋体"/>
              </a:rPr>
              <a:t>，甚</a:t>
            </a:r>
            <a:r>
              <a:rPr dirty="0" sz="2000" spc="-10">
                <a:latin typeface="宋体"/>
                <a:cs typeface="宋体"/>
              </a:rPr>
              <a:t>至</a:t>
            </a:r>
            <a:r>
              <a:rPr dirty="0" sz="2000">
                <a:latin typeface="宋体"/>
                <a:cs typeface="宋体"/>
              </a:rPr>
              <a:t>改变</a:t>
            </a:r>
            <a:r>
              <a:rPr dirty="0" sz="2000" spc="-10">
                <a:latin typeface="宋体"/>
                <a:cs typeface="宋体"/>
              </a:rPr>
              <a:t>组</a:t>
            </a:r>
            <a:r>
              <a:rPr dirty="0" sz="2000" spc="5">
                <a:latin typeface="宋体"/>
                <a:cs typeface="宋体"/>
              </a:rPr>
              <a:t>织</a:t>
            </a:r>
            <a:endParaRPr sz="2000">
              <a:latin typeface="宋体"/>
              <a:cs typeface="宋体"/>
            </a:endParaRPr>
          </a:p>
          <a:p>
            <a:pPr marL="697865">
              <a:lnSpc>
                <a:spcPts val="2090"/>
              </a:lnSpc>
            </a:pPr>
            <a:r>
              <a:rPr dirty="0" sz="2000">
                <a:latin typeface="宋体"/>
                <a:cs typeface="宋体"/>
              </a:rPr>
              <a:t>现存的权力结构</a:t>
            </a:r>
            <a:endParaRPr sz="2000">
              <a:latin typeface="宋体"/>
              <a:cs typeface="宋体"/>
            </a:endParaRPr>
          </a:p>
          <a:p>
            <a:pPr lvl="1" marL="697865" indent="-229235">
              <a:lnSpc>
                <a:spcPct val="100000"/>
              </a:lnSpc>
              <a:buFont typeface="Arial"/>
              <a:buChar char="•"/>
              <a:tabLst>
                <a:tab pos="697865" algn="l"/>
                <a:tab pos="698500" algn="l"/>
              </a:tabLst>
            </a:pPr>
            <a:r>
              <a:rPr dirty="0" sz="2000">
                <a:solidFill>
                  <a:srgbClr val="00A15F"/>
                </a:solidFill>
                <a:latin typeface="宋体"/>
                <a:cs typeface="宋体"/>
              </a:rPr>
              <a:t>用户不再有限和明显，</a:t>
            </a:r>
            <a:r>
              <a:rPr dirty="0" sz="2000" spc="-15">
                <a:solidFill>
                  <a:srgbClr val="00A15F"/>
                </a:solidFill>
                <a:latin typeface="宋体"/>
                <a:cs typeface="宋体"/>
              </a:rPr>
              <a:t>而</a:t>
            </a:r>
            <a:r>
              <a:rPr dirty="0" sz="2000">
                <a:solidFill>
                  <a:srgbClr val="00A15F"/>
                </a:solidFill>
                <a:latin typeface="宋体"/>
                <a:cs typeface="宋体"/>
              </a:rPr>
              <a:t>且用</a:t>
            </a:r>
            <a:r>
              <a:rPr dirty="0" sz="2000" spc="-15">
                <a:solidFill>
                  <a:srgbClr val="00A15F"/>
                </a:solidFill>
                <a:latin typeface="宋体"/>
                <a:cs typeface="宋体"/>
              </a:rPr>
              <a:t>户</a:t>
            </a:r>
            <a:r>
              <a:rPr dirty="0" sz="2000">
                <a:solidFill>
                  <a:srgbClr val="00A15F"/>
                </a:solidFill>
                <a:latin typeface="宋体"/>
                <a:cs typeface="宋体"/>
              </a:rPr>
              <a:t>之外</a:t>
            </a:r>
            <a:r>
              <a:rPr dirty="0" sz="2000" spc="-15">
                <a:solidFill>
                  <a:srgbClr val="00A15F"/>
                </a:solidFill>
                <a:latin typeface="宋体"/>
                <a:cs typeface="宋体"/>
              </a:rPr>
              <a:t>的</a:t>
            </a:r>
            <a:r>
              <a:rPr dirty="0" sz="2000">
                <a:solidFill>
                  <a:srgbClr val="00A15F"/>
                </a:solidFill>
                <a:latin typeface="宋体"/>
                <a:cs typeface="宋体"/>
              </a:rPr>
              <a:t>其他</a:t>
            </a:r>
            <a:r>
              <a:rPr dirty="0" sz="2000" spc="-15">
                <a:solidFill>
                  <a:srgbClr val="00A15F"/>
                </a:solidFill>
                <a:latin typeface="宋体"/>
                <a:cs typeface="宋体"/>
              </a:rPr>
              <a:t>群</a:t>
            </a:r>
            <a:r>
              <a:rPr dirty="0" sz="2000">
                <a:solidFill>
                  <a:srgbClr val="00A15F"/>
                </a:solidFill>
                <a:latin typeface="宋体"/>
                <a:cs typeface="宋体"/>
              </a:rPr>
              <a:t>体尤</a:t>
            </a:r>
            <a:r>
              <a:rPr dirty="0" sz="2000" spc="-15">
                <a:solidFill>
                  <a:srgbClr val="00A15F"/>
                </a:solidFill>
                <a:latin typeface="宋体"/>
                <a:cs typeface="宋体"/>
              </a:rPr>
              <a:t>其</a:t>
            </a:r>
            <a:r>
              <a:rPr dirty="0" sz="2000">
                <a:solidFill>
                  <a:srgbClr val="00A15F"/>
                </a:solidFill>
                <a:latin typeface="宋体"/>
                <a:cs typeface="宋体"/>
              </a:rPr>
              <a:t>不明显</a:t>
            </a:r>
            <a:endParaRPr sz="2000">
              <a:latin typeface="宋体"/>
              <a:cs typeface="宋体"/>
            </a:endParaRPr>
          </a:p>
        </p:txBody>
      </p:sp>
      <p:sp>
        <p:nvSpPr>
          <p:cNvPr id="7" name="object 7"/>
          <p:cNvSpPr txBox="1"/>
          <p:nvPr/>
        </p:nvSpPr>
        <p:spPr>
          <a:xfrm>
            <a:off x="1450594" y="5476443"/>
            <a:ext cx="3815715" cy="330835"/>
          </a:xfrm>
          <a:prstGeom prst="rect">
            <a:avLst/>
          </a:prstGeom>
        </p:spPr>
        <p:txBody>
          <a:bodyPr wrap="square" lIns="0" tIns="12700" rIns="0" bIns="0" rtlCol="0" vert="horz">
            <a:spAutoFit/>
          </a:bodyPr>
          <a:lstStyle/>
          <a:p>
            <a:pPr marL="241300" indent="-228600">
              <a:lnSpc>
                <a:spcPct val="100000"/>
              </a:lnSpc>
              <a:spcBef>
                <a:spcPts val="100"/>
              </a:spcBef>
              <a:buFont typeface="Arial"/>
              <a:buChar char="•"/>
              <a:tabLst>
                <a:tab pos="240665" algn="l"/>
                <a:tab pos="241300" algn="l"/>
              </a:tabLst>
            </a:pPr>
            <a:r>
              <a:rPr dirty="0" sz="2000">
                <a:latin typeface="宋体"/>
                <a:cs typeface="宋体"/>
              </a:rPr>
              <a:t>发现直接和间接群体，</a:t>
            </a:r>
            <a:r>
              <a:rPr dirty="0" sz="2000" spc="-15">
                <a:latin typeface="宋体"/>
                <a:cs typeface="宋体"/>
              </a:rPr>
              <a:t>防</a:t>
            </a:r>
            <a:r>
              <a:rPr dirty="0" sz="2000">
                <a:latin typeface="宋体"/>
                <a:cs typeface="宋体"/>
              </a:rPr>
              <a:t>止抵制</a:t>
            </a:r>
            <a:endParaRPr sz="2000">
              <a:latin typeface="宋体"/>
              <a:cs typeface="宋体"/>
            </a:endParaRPr>
          </a:p>
        </p:txBody>
      </p:sp>
      <p:sp>
        <p:nvSpPr>
          <p:cNvPr id="8" name="object 8"/>
          <p:cNvSpPr/>
          <p:nvPr/>
        </p:nvSpPr>
        <p:spPr>
          <a:xfrm>
            <a:off x="4955285" y="2574798"/>
            <a:ext cx="4189095" cy="1341120"/>
          </a:xfrm>
          <a:custGeom>
            <a:avLst/>
            <a:gdLst/>
            <a:ahLst/>
            <a:cxnLst/>
            <a:rect l="l" t="t" r="r" b="b"/>
            <a:pathLst>
              <a:path w="4189095" h="1341120">
                <a:moveTo>
                  <a:pt x="4188713" y="0"/>
                </a:moveTo>
                <a:lnTo>
                  <a:pt x="223519" y="0"/>
                </a:lnTo>
                <a:lnTo>
                  <a:pt x="178473" y="4541"/>
                </a:lnTo>
                <a:lnTo>
                  <a:pt x="136517" y="17565"/>
                </a:lnTo>
                <a:lnTo>
                  <a:pt x="98549" y="38174"/>
                </a:lnTo>
                <a:lnTo>
                  <a:pt x="65468" y="65468"/>
                </a:lnTo>
                <a:lnTo>
                  <a:pt x="38174" y="98549"/>
                </a:lnTo>
                <a:lnTo>
                  <a:pt x="17565" y="136517"/>
                </a:lnTo>
                <a:lnTo>
                  <a:pt x="4541" y="178473"/>
                </a:lnTo>
                <a:lnTo>
                  <a:pt x="0" y="223519"/>
                </a:lnTo>
                <a:lnTo>
                  <a:pt x="0" y="1117600"/>
                </a:lnTo>
                <a:lnTo>
                  <a:pt x="4541" y="1162646"/>
                </a:lnTo>
                <a:lnTo>
                  <a:pt x="17565" y="1204602"/>
                </a:lnTo>
                <a:lnTo>
                  <a:pt x="38174" y="1242570"/>
                </a:lnTo>
                <a:lnTo>
                  <a:pt x="65468" y="1275651"/>
                </a:lnTo>
                <a:lnTo>
                  <a:pt x="98549" y="1302945"/>
                </a:lnTo>
                <a:lnTo>
                  <a:pt x="136517" y="1323554"/>
                </a:lnTo>
                <a:lnTo>
                  <a:pt x="178473" y="1336578"/>
                </a:lnTo>
                <a:lnTo>
                  <a:pt x="223519" y="1341120"/>
                </a:lnTo>
                <a:lnTo>
                  <a:pt x="4188713" y="1341120"/>
                </a:lnTo>
                <a:lnTo>
                  <a:pt x="4188713" y="0"/>
                </a:lnTo>
                <a:close/>
              </a:path>
            </a:pathLst>
          </a:custGeom>
          <a:solidFill>
            <a:srgbClr val="FFFFFF"/>
          </a:solidFill>
        </p:spPr>
        <p:txBody>
          <a:bodyPr wrap="square" lIns="0" tIns="0" rIns="0" bIns="0" rtlCol="0"/>
          <a:lstStyle/>
          <a:p/>
        </p:txBody>
      </p:sp>
      <p:sp>
        <p:nvSpPr>
          <p:cNvPr id="9" name="object 9"/>
          <p:cNvSpPr/>
          <p:nvPr/>
        </p:nvSpPr>
        <p:spPr>
          <a:xfrm>
            <a:off x="4955285" y="2574798"/>
            <a:ext cx="4189095" cy="223520"/>
          </a:xfrm>
          <a:custGeom>
            <a:avLst/>
            <a:gdLst/>
            <a:ahLst/>
            <a:cxnLst/>
            <a:rect l="l" t="t" r="r" b="b"/>
            <a:pathLst>
              <a:path w="4189095" h="223519">
                <a:moveTo>
                  <a:pt x="0" y="223519"/>
                </a:moveTo>
                <a:lnTo>
                  <a:pt x="4541" y="178473"/>
                </a:lnTo>
                <a:lnTo>
                  <a:pt x="17565" y="136517"/>
                </a:lnTo>
                <a:lnTo>
                  <a:pt x="38174" y="98549"/>
                </a:lnTo>
                <a:lnTo>
                  <a:pt x="65468" y="65468"/>
                </a:lnTo>
                <a:lnTo>
                  <a:pt x="98549" y="38174"/>
                </a:lnTo>
                <a:lnTo>
                  <a:pt x="136517" y="17565"/>
                </a:lnTo>
                <a:lnTo>
                  <a:pt x="178473" y="4541"/>
                </a:lnTo>
                <a:lnTo>
                  <a:pt x="223519" y="0"/>
                </a:lnTo>
                <a:lnTo>
                  <a:pt x="4188713" y="0"/>
                </a:lnTo>
              </a:path>
            </a:pathLst>
          </a:custGeom>
          <a:ln w="25400">
            <a:solidFill>
              <a:srgbClr val="00A15F"/>
            </a:solidFill>
          </a:ln>
        </p:spPr>
        <p:txBody>
          <a:bodyPr wrap="square" lIns="0" tIns="0" rIns="0" bIns="0" rtlCol="0"/>
          <a:lstStyle/>
          <a:p/>
        </p:txBody>
      </p:sp>
      <p:sp>
        <p:nvSpPr>
          <p:cNvPr id="10" name="object 10"/>
          <p:cNvSpPr/>
          <p:nvPr/>
        </p:nvSpPr>
        <p:spPr>
          <a:xfrm>
            <a:off x="4955285" y="2798317"/>
            <a:ext cx="4189095" cy="1117600"/>
          </a:xfrm>
          <a:custGeom>
            <a:avLst/>
            <a:gdLst/>
            <a:ahLst/>
            <a:cxnLst/>
            <a:rect l="l" t="t" r="r" b="b"/>
            <a:pathLst>
              <a:path w="4189095" h="1117600">
                <a:moveTo>
                  <a:pt x="4188713" y="1117600"/>
                </a:moveTo>
                <a:lnTo>
                  <a:pt x="223519" y="1117600"/>
                </a:lnTo>
                <a:lnTo>
                  <a:pt x="178473" y="1113058"/>
                </a:lnTo>
                <a:lnTo>
                  <a:pt x="136517" y="1100034"/>
                </a:lnTo>
                <a:lnTo>
                  <a:pt x="98549" y="1079425"/>
                </a:lnTo>
                <a:lnTo>
                  <a:pt x="65468" y="1052131"/>
                </a:lnTo>
                <a:lnTo>
                  <a:pt x="38174" y="1019050"/>
                </a:lnTo>
                <a:lnTo>
                  <a:pt x="17565" y="981082"/>
                </a:lnTo>
                <a:lnTo>
                  <a:pt x="4541" y="939126"/>
                </a:lnTo>
                <a:lnTo>
                  <a:pt x="0" y="894080"/>
                </a:lnTo>
                <a:lnTo>
                  <a:pt x="0" y="0"/>
                </a:lnTo>
              </a:path>
            </a:pathLst>
          </a:custGeom>
          <a:ln w="25400">
            <a:solidFill>
              <a:srgbClr val="00A15F"/>
            </a:solidFill>
          </a:ln>
        </p:spPr>
        <p:txBody>
          <a:bodyPr wrap="square" lIns="0" tIns="0" rIns="0" bIns="0" rtlCol="0"/>
          <a:lstStyle/>
          <a:p/>
        </p:txBody>
      </p:sp>
      <p:sp>
        <p:nvSpPr>
          <p:cNvPr id="11" name="object 11"/>
          <p:cNvSpPr txBox="1"/>
          <p:nvPr/>
        </p:nvSpPr>
        <p:spPr>
          <a:xfrm>
            <a:off x="6036945" y="2610993"/>
            <a:ext cx="2446020" cy="940435"/>
          </a:xfrm>
          <a:prstGeom prst="rect">
            <a:avLst/>
          </a:prstGeom>
        </p:spPr>
        <p:txBody>
          <a:bodyPr wrap="square" lIns="0" tIns="13335" rIns="0" bIns="0" rtlCol="0" vert="horz">
            <a:spAutoFit/>
          </a:bodyPr>
          <a:lstStyle/>
          <a:p>
            <a:pPr algn="ctr" marL="12700" marR="5080">
              <a:lnSpc>
                <a:spcPct val="100000"/>
              </a:lnSpc>
              <a:spcBef>
                <a:spcPts val="105"/>
              </a:spcBef>
            </a:pPr>
            <a:r>
              <a:rPr dirty="0" sz="2000">
                <a:latin typeface="宋体"/>
                <a:cs typeface="宋体"/>
              </a:rPr>
              <a:t>（</a:t>
            </a:r>
            <a:r>
              <a:rPr dirty="0" sz="2000">
                <a:latin typeface="Calibri"/>
                <a:cs typeface="Calibri"/>
              </a:rPr>
              <a:t>1</a:t>
            </a:r>
            <a:r>
              <a:rPr dirty="0" sz="2000">
                <a:latin typeface="宋体"/>
                <a:cs typeface="宋体"/>
              </a:rPr>
              <a:t>）小型系统例子： </a:t>
            </a:r>
            <a:r>
              <a:rPr dirty="0" sz="2000">
                <a:latin typeface="宋体"/>
                <a:cs typeface="宋体"/>
              </a:rPr>
              <a:t>笔记本系统</a:t>
            </a:r>
            <a:endParaRPr sz="2000">
              <a:latin typeface="宋体"/>
              <a:cs typeface="宋体"/>
            </a:endParaRPr>
          </a:p>
          <a:p>
            <a:pPr algn="ctr">
              <a:lnSpc>
                <a:spcPct val="100000"/>
              </a:lnSpc>
            </a:pPr>
            <a:r>
              <a:rPr dirty="0" sz="2000">
                <a:latin typeface="宋体"/>
                <a:cs typeface="宋体"/>
              </a:rPr>
              <a:t>闲置物品交换系统</a:t>
            </a:r>
            <a:endParaRPr sz="2000">
              <a:latin typeface="宋体"/>
              <a:cs typeface="宋体"/>
            </a:endParaRPr>
          </a:p>
        </p:txBody>
      </p:sp>
      <p:sp>
        <p:nvSpPr>
          <p:cNvPr id="12" name="object 12"/>
          <p:cNvSpPr txBox="1"/>
          <p:nvPr/>
        </p:nvSpPr>
        <p:spPr>
          <a:xfrm>
            <a:off x="6609968" y="3525392"/>
            <a:ext cx="1297940" cy="330835"/>
          </a:xfrm>
          <a:prstGeom prst="rect">
            <a:avLst/>
          </a:prstGeom>
        </p:spPr>
        <p:txBody>
          <a:bodyPr wrap="square" lIns="0" tIns="13335" rIns="0" bIns="0" rtlCol="0" vert="horz">
            <a:spAutoFit/>
          </a:bodyPr>
          <a:lstStyle/>
          <a:p>
            <a:pPr marL="12700">
              <a:lnSpc>
                <a:spcPct val="100000"/>
              </a:lnSpc>
              <a:spcBef>
                <a:spcPts val="105"/>
              </a:spcBef>
            </a:pPr>
            <a:r>
              <a:rPr dirty="0" sz="2000">
                <a:latin typeface="宋体"/>
                <a:cs typeface="宋体"/>
              </a:rPr>
              <a:t>生活小帮手</a:t>
            </a:r>
            <a:endParaRPr sz="2000">
              <a:latin typeface="宋体"/>
              <a:cs typeface="宋体"/>
            </a:endParaRPr>
          </a:p>
        </p:txBody>
      </p:sp>
      <p:sp>
        <p:nvSpPr>
          <p:cNvPr id="13" name="object 13"/>
          <p:cNvSpPr/>
          <p:nvPr/>
        </p:nvSpPr>
        <p:spPr>
          <a:xfrm>
            <a:off x="5285994" y="5558790"/>
            <a:ext cx="3858260" cy="1115695"/>
          </a:xfrm>
          <a:custGeom>
            <a:avLst/>
            <a:gdLst/>
            <a:ahLst/>
            <a:cxnLst/>
            <a:rect l="l" t="t" r="r" b="b"/>
            <a:pathLst>
              <a:path w="3858259" h="1115695">
                <a:moveTo>
                  <a:pt x="3858005" y="0"/>
                </a:moveTo>
                <a:lnTo>
                  <a:pt x="185927" y="0"/>
                </a:lnTo>
                <a:lnTo>
                  <a:pt x="136480" y="6641"/>
                </a:lnTo>
                <a:lnTo>
                  <a:pt x="92060" y="25385"/>
                </a:lnTo>
                <a:lnTo>
                  <a:pt x="54435" y="54459"/>
                </a:lnTo>
                <a:lnTo>
                  <a:pt x="25371" y="92089"/>
                </a:lnTo>
                <a:lnTo>
                  <a:pt x="6637" y="136502"/>
                </a:lnTo>
                <a:lnTo>
                  <a:pt x="0" y="185928"/>
                </a:lnTo>
                <a:lnTo>
                  <a:pt x="0" y="929640"/>
                </a:lnTo>
                <a:lnTo>
                  <a:pt x="6637" y="979065"/>
                </a:lnTo>
                <a:lnTo>
                  <a:pt x="25371" y="1023478"/>
                </a:lnTo>
                <a:lnTo>
                  <a:pt x="54435" y="1061108"/>
                </a:lnTo>
                <a:lnTo>
                  <a:pt x="92060" y="1090182"/>
                </a:lnTo>
                <a:lnTo>
                  <a:pt x="136480" y="1108926"/>
                </a:lnTo>
                <a:lnTo>
                  <a:pt x="185927" y="1115568"/>
                </a:lnTo>
                <a:lnTo>
                  <a:pt x="3858005" y="1115568"/>
                </a:lnTo>
                <a:lnTo>
                  <a:pt x="3858005" y="0"/>
                </a:lnTo>
                <a:close/>
              </a:path>
            </a:pathLst>
          </a:custGeom>
          <a:solidFill>
            <a:srgbClr val="FFFFFF"/>
          </a:solidFill>
        </p:spPr>
        <p:txBody>
          <a:bodyPr wrap="square" lIns="0" tIns="0" rIns="0" bIns="0" rtlCol="0"/>
          <a:lstStyle/>
          <a:p/>
        </p:txBody>
      </p:sp>
      <p:sp>
        <p:nvSpPr>
          <p:cNvPr id="14" name="object 14"/>
          <p:cNvSpPr/>
          <p:nvPr/>
        </p:nvSpPr>
        <p:spPr>
          <a:xfrm>
            <a:off x="5285994" y="5558790"/>
            <a:ext cx="3858260" cy="186055"/>
          </a:xfrm>
          <a:custGeom>
            <a:avLst/>
            <a:gdLst/>
            <a:ahLst/>
            <a:cxnLst/>
            <a:rect l="l" t="t" r="r" b="b"/>
            <a:pathLst>
              <a:path w="3858259" h="186054">
                <a:moveTo>
                  <a:pt x="0" y="185928"/>
                </a:moveTo>
                <a:lnTo>
                  <a:pt x="6637" y="136502"/>
                </a:lnTo>
                <a:lnTo>
                  <a:pt x="25371" y="92089"/>
                </a:lnTo>
                <a:lnTo>
                  <a:pt x="54435" y="54459"/>
                </a:lnTo>
                <a:lnTo>
                  <a:pt x="92060" y="25385"/>
                </a:lnTo>
                <a:lnTo>
                  <a:pt x="136480" y="6641"/>
                </a:lnTo>
                <a:lnTo>
                  <a:pt x="185927" y="0"/>
                </a:lnTo>
                <a:lnTo>
                  <a:pt x="3858005" y="0"/>
                </a:lnTo>
              </a:path>
            </a:pathLst>
          </a:custGeom>
          <a:ln w="25400">
            <a:solidFill>
              <a:srgbClr val="00A15F"/>
            </a:solidFill>
          </a:ln>
        </p:spPr>
        <p:txBody>
          <a:bodyPr wrap="square" lIns="0" tIns="0" rIns="0" bIns="0" rtlCol="0"/>
          <a:lstStyle/>
          <a:p/>
        </p:txBody>
      </p:sp>
      <p:sp>
        <p:nvSpPr>
          <p:cNvPr id="15" name="object 15"/>
          <p:cNvSpPr/>
          <p:nvPr/>
        </p:nvSpPr>
        <p:spPr>
          <a:xfrm>
            <a:off x="5285994" y="5744717"/>
            <a:ext cx="3858260" cy="929640"/>
          </a:xfrm>
          <a:custGeom>
            <a:avLst/>
            <a:gdLst/>
            <a:ahLst/>
            <a:cxnLst/>
            <a:rect l="l" t="t" r="r" b="b"/>
            <a:pathLst>
              <a:path w="3858259" h="929640">
                <a:moveTo>
                  <a:pt x="3858005" y="929639"/>
                </a:moveTo>
                <a:lnTo>
                  <a:pt x="185927" y="929639"/>
                </a:lnTo>
                <a:lnTo>
                  <a:pt x="136480" y="922998"/>
                </a:lnTo>
                <a:lnTo>
                  <a:pt x="92060" y="904254"/>
                </a:lnTo>
                <a:lnTo>
                  <a:pt x="54435" y="875180"/>
                </a:lnTo>
                <a:lnTo>
                  <a:pt x="25371" y="837550"/>
                </a:lnTo>
                <a:lnTo>
                  <a:pt x="6637" y="793137"/>
                </a:lnTo>
                <a:lnTo>
                  <a:pt x="0" y="743711"/>
                </a:lnTo>
                <a:lnTo>
                  <a:pt x="0" y="0"/>
                </a:lnTo>
              </a:path>
            </a:pathLst>
          </a:custGeom>
          <a:ln w="25400">
            <a:solidFill>
              <a:srgbClr val="00A15F"/>
            </a:solidFill>
          </a:ln>
        </p:spPr>
        <p:txBody>
          <a:bodyPr wrap="square" lIns="0" tIns="0" rIns="0" bIns="0" rtlCol="0"/>
          <a:lstStyle/>
          <a:p/>
        </p:txBody>
      </p:sp>
      <p:sp>
        <p:nvSpPr>
          <p:cNvPr id="16" name="object 16"/>
          <p:cNvSpPr txBox="1"/>
          <p:nvPr/>
        </p:nvSpPr>
        <p:spPr>
          <a:xfrm>
            <a:off x="6510655" y="5607811"/>
            <a:ext cx="2157730" cy="756920"/>
          </a:xfrm>
          <a:prstGeom prst="rect">
            <a:avLst/>
          </a:prstGeom>
        </p:spPr>
        <p:txBody>
          <a:bodyPr wrap="square" lIns="0" tIns="12065" rIns="0" bIns="0" rtlCol="0" vert="horz">
            <a:spAutoFit/>
          </a:bodyPr>
          <a:lstStyle/>
          <a:p>
            <a:pPr algn="ctr" marL="12700" marR="5080">
              <a:lnSpc>
                <a:spcPct val="100000"/>
              </a:lnSpc>
              <a:spcBef>
                <a:spcPts val="95"/>
              </a:spcBef>
            </a:pPr>
            <a:r>
              <a:rPr dirty="0" sz="1600" spc="-5">
                <a:latin typeface="宋体"/>
                <a:cs typeface="宋体"/>
              </a:rPr>
              <a:t>（</a:t>
            </a:r>
            <a:r>
              <a:rPr dirty="0" sz="1600" spc="-10">
                <a:latin typeface="Calibri"/>
                <a:cs typeface="Calibri"/>
              </a:rPr>
              <a:t>2</a:t>
            </a:r>
            <a:r>
              <a:rPr dirty="0" sz="1600" spc="-5">
                <a:latin typeface="宋体"/>
                <a:cs typeface="宋体"/>
              </a:rPr>
              <a:t>）组织级系统例子： </a:t>
            </a:r>
            <a:r>
              <a:rPr dirty="0" sz="1600" spc="-5">
                <a:latin typeface="宋体"/>
                <a:cs typeface="宋体"/>
              </a:rPr>
              <a:t>学生信息管理系统</a:t>
            </a:r>
            <a:endParaRPr sz="1600">
              <a:latin typeface="宋体"/>
              <a:cs typeface="宋体"/>
            </a:endParaRPr>
          </a:p>
          <a:p>
            <a:pPr algn="ctr">
              <a:lnSpc>
                <a:spcPct val="100000"/>
              </a:lnSpc>
            </a:pPr>
            <a:r>
              <a:rPr dirty="0" sz="1600" spc="-5">
                <a:latin typeface="Calibri"/>
                <a:cs typeface="Calibri"/>
              </a:rPr>
              <a:t>BIT</a:t>
            </a:r>
            <a:r>
              <a:rPr dirty="0" sz="1600" spc="-5">
                <a:latin typeface="宋体"/>
                <a:cs typeface="宋体"/>
              </a:rPr>
              <a:t>课程</a:t>
            </a:r>
            <a:endParaRPr sz="1600">
              <a:latin typeface="宋体"/>
              <a:cs typeface="宋体"/>
            </a:endParaRPr>
          </a:p>
        </p:txBody>
      </p:sp>
      <p:sp>
        <p:nvSpPr>
          <p:cNvPr id="17" name="object 17"/>
          <p:cNvSpPr txBox="1"/>
          <p:nvPr/>
        </p:nvSpPr>
        <p:spPr>
          <a:xfrm>
            <a:off x="6765163" y="6339636"/>
            <a:ext cx="1649730" cy="269240"/>
          </a:xfrm>
          <a:prstGeom prst="rect">
            <a:avLst/>
          </a:prstGeom>
        </p:spPr>
        <p:txBody>
          <a:bodyPr wrap="square" lIns="0" tIns="12065" rIns="0" bIns="0" rtlCol="0" vert="horz">
            <a:spAutoFit/>
          </a:bodyPr>
          <a:lstStyle/>
          <a:p>
            <a:pPr marL="12700">
              <a:lnSpc>
                <a:spcPct val="100000"/>
              </a:lnSpc>
              <a:spcBef>
                <a:spcPts val="95"/>
              </a:spcBef>
            </a:pPr>
            <a:r>
              <a:rPr dirty="0" sz="1600" spc="-5">
                <a:latin typeface="宋体"/>
                <a:cs typeface="宋体"/>
              </a:rPr>
              <a:t>食堂远程下单系统</a:t>
            </a:r>
            <a:endParaRPr sz="1600">
              <a:latin typeface="宋体"/>
              <a:cs typeface="宋体"/>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107" y="6425590"/>
            <a:ext cx="2239645" cy="269240"/>
          </a:xfrm>
          <a:prstGeom prst="rect">
            <a:avLst/>
          </a:prstGeom>
        </p:spPr>
        <p:txBody>
          <a:bodyPr wrap="square" lIns="0" tIns="12065" rIns="0" bIns="0" rtlCol="0" vert="horz">
            <a:spAutoFit/>
          </a:bodyPr>
          <a:lstStyle/>
          <a:p>
            <a:pPr marL="12700">
              <a:lnSpc>
                <a:spcPct val="100000"/>
              </a:lnSpc>
              <a:spcBef>
                <a:spcPts val="95"/>
              </a:spcBef>
            </a:pPr>
            <a:r>
              <a:rPr dirty="0" sz="1600" spc="-5">
                <a:solidFill>
                  <a:srgbClr val="00663B"/>
                </a:solidFill>
                <a:latin typeface="华文行楷"/>
                <a:cs typeface="华文行楷"/>
              </a:rPr>
              <a:t>软件需求工程</a:t>
            </a:r>
            <a:r>
              <a:rPr dirty="0" sz="1600" spc="-20">
                <a:solidFill>
                  <a:srgbClr val="00663B"/>
                </a:solidFill>
                <a:latin typeface="华文行楷"/>
                <a:cs typeface="华文行楷"/>
              </a:rPr>
              <a:t>与</a:t>
            </a:r>
            <a:r>
              <a:rPr dirty="0" sz="1600" spc="-5">
                <a:solidFill>
                  <a:srgbClr val="00663B"/>
                </a:solidFill>
                <a:latin typeface="Calibri"/>
                <a:cs typeface="Calibri"/>
              </a:rPr>
              <a:t>UM</a:t>
            </a:r>
            <a:r>
              <a:rPr dirty="0" sz="1600" spc="-10">
                <a:solidFill>
                  <a:srgbClr val="00663B"/>
                </a:solidFill>
                <a:latin typeface="Calibri"/>
                <a:cs typeface="Calibri"/>
              </a:rPr>
              <a:t>L</a:t>
            </a:r>
            <a:r>
              <a:rPr dirty="0" sz="1600" spc="-5">
                <a:solidFill>
                  <a:srgbClr val="00663B"/>
                </a:solidFill>
                <a:latin typeface="华文行楷"/>
                <a:cs typeface="华文行楷"/>
              </a:rPr>
              <a:t>建模</a:t>
            </a:r>
            <a:endParaRPr sz="1600">
              <a:latin typeface="华文行楷"/>
              <a:cs typeface="华文行楷"/>
            </a:endParaRPr>
          </a:p>
        </p:txBody>
      </p:sp>
      <p:sp>
        <p:nvSpPr>
          <p:cNvPr id="3" name="object 3"/>
          <p:cNvSpPr txBox="1">
            <a:spLocks noGrp="1"/>
          </p:cNvSpPr>
          <p:nvPr>
            <p:ph type="title"/>
          </p:nvPr>
        </p:nvSpPr>
        <p:spPr>
          <a:xfrm>
            <a:off x="1963292" y="95757"/>
            <a:ext cx="5696585"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3.2.</a:t>
            </a:r>
            <a:r>
              <a:rPr dirty="0" sz="3800" spc="-20">
                <a:latin typeface="Calibri"/>
                <a:cs typeface="Calibri"/>
              </a:rPr>
              <a:t> </a:t>
            </a:r>
            <a:r>
              <a:rPr dirty="0" sz="3800"/>
              <a:t>涉众分析的主要内容</a:t>
            </a:r>
            <a:endParaRPr sz="3800">
              <a:latin typeface="Calibri"/>
              <a:cs typeface="Calibri"/>
            </a:endParaRPr>
          </a:p>
          <a:p>
            <a:pPr marL="448309">
              <a:lnSpc>
                <a:spcPct val="100000"/>
              </a:lnSpc>
              <a:spcBef>
                <a:spcPts val="5"/>
              </a:spcBef>
            </a:pPr>
            <a:r>
              <a:rPr dirty="0" sz="3800">
                <a:latin typeface="Arial"/>
                <a:cs typeface="Arial"/>
              </a:rPr>
              <a:t>——</a:t>
            </a:r>
            <a:r>
              <a:rPr dirty="0" sz="3800"/>
              <a:t>涉众分</a:t>
            </a:r>
            <a:r>
              <a:rPr dirty="0" sz="3800" spc="5"/>
              <a:t>析</a:t>
            </a:r>
            <a:r>
              <a:rPr dirty="0" sz="3800" spc="-1105"/>
              <a:t> </a:t>
            </a:r>
            <a:r>
              <a:rPr dirty="0" sz="3800">
                <a:latin typeface="Calibri"/>
                <a:cs typeface="Calibri"/>
              </a:rPr>
              <a:t>/</a:t>
            </a:r>
            <a:r>
              <a:rPr dirty="0" sz="3800" spc="-45">
                <a:latin typeface="Calibri"/>
                <a:cs typeface="Calibri"/>
              </a:rPr>
              <a:t> </a:t>
            </a:r>
            <a:r>
              <a:rPr dirty="0" sz="3800" spc="5"/>
              <a:t>寻找涉众</a:t>
            </a:r>
            <a:endParaRPr sz="3800">
              <a:latin typeface="Calibri"/>
              <a:cs typeface="Calibri"/>
            </a:endParaRPr>
          </a:p>
        </p:txBody>
      </p:sp>
      <p:sp>
        <p:nvSpPr>
          <p:cNvPr id="4" name="object 4"/>
          <p:cNvSpPr txBox="1"/>
          <p:nvPr/>
        </p:nvSpPr>
        <p:spPr>
          <a:xfrm>
            <a:off x="535940" y="1614881"/>
            <a:ext cx="4030979" cy="51435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687"/>
              <a:buFont typeface="Wingdings"/>
              <a:buChar char=""/>
              <a:tabLst>
                <a:tab pos="356235" algn="l"/>
              </a:tabLst>
            </a:pPr>
            <a:r>
              <a:rPr dirty="0" sz="3200">
                <a:latin typeface="宋体"/>
                <a:cs typeface="宋体"/>
              </a:rPr>
              <a:t>信息系统的四种类型</a:t>
            </a:r>
            <a:endParaRPr sz="3200">
              <a:latin typeface="宋体"/>
              <a:cs typeface="宋体"/>
            </a:endParaRPr>
          </a:p>
        </p:txBody>
      </p:sp>
      <p:sp>
        <p:nvSpPr>
          <p:cNvPr id="5" name="object 5"/>
          <p:cNvSpPr txBox="1"/>
          <p:nvPr/>
        </p:nvSpPr>
        <p:spPr>
          <a:xfrm>
            <a:off x="993444" y="2191638"/>
            <a:ext cx="7416800" cy="3807460"/>
          </a:xfrm>
          <a:prstGeom prst="rect">
            <a:avLst/>
          </a:prstGeom>
        </p:spPr>
        <p:txBody>
          <a:bodyPr wrap="square" lIns="0" tIns="12065" rIns="0" bIns="0" rtlCol="0" vert="horz">
            <a:spAutoFit/>
          </a:bodyPr>
          <a:lstStyle/>
          <a:p>
            <a:pPr marL="299085" marR="657225" indent="-287020">
              <a:lnSpc>
                <a:spcPct val="100000"/>
              </a:lnSpc>
              <a:spcBef>
                <a:spcPts val="95"/>
              </a:spcBef>
              <a:buClr>
                <a:srgbClr val="C00000"/>
              </a:buClr>
              <a:buSzPct val="58928"/>
              <a:buFont typeface="Wingdings"/>
              <a:buChar char=""/>
              <a:tabLst>
                <a:tab pos="299085" algn="l"/>
                <a:tab pos="299720" algn="l"/>
              </a:tabLst>
            </a:pPr>
            <a:r>
              <a:rPr dirty="0" sz="2800" spc="-5">
                <a:latin typeface="宋体"/>
                <a:cs typeface="宋体"/>
              </a:rPr>
              <a:t>（</a:t>
            </a:r>
            <a:r>
              <a:rPr dirty="0" sz="2800" spc="-5">
                <a:latin typeface="Calibri"/>
                <a:cs typeface="Calibri"/>
              </a:rPr>
              <a:t>3</a:t>
            </a:r>
            <a:r>
              <a:rPr dirty="0" sz="2800" spc="-5">
                <a:latin typeface="宋体"/>
                <a:cs typeface="宋体"/>
              </a:rPr>
              <a:t>）战略信息系统</a:t>
            </a:r>
            <a:r>
              <a:rPr dirty="0" sz="2800" spc="-10">
                <a:latin typeface="宋体"/>
                <a:cs typeface="宋体"/>
              </a:rPr>
              <a:t>（</a:t>
            </a:r>
            <a:r>
              <a:rPr dirty="0" sz="2800" spc="-10">
                <a:latin typeface="Calibri"/>
                <a:cs typeface="Calibri"/>
              </a:rPr>
              <a:t>Strategic</a:t>
            </a:r>
            <a:r>
              <a:rPr dirty="0" sz="2800" spc="20">
                <a:latin typeface="Calibri"/>
                <a:cs typeface="Calibri"/>
              </a:rPr>
              <a:t> </a:t>
            </a:r>
            <a:r>
              <a:rPr dirty="0" sz="2800" spc="-5">
                <a:latin typeface="Calibri"/>
                <a:cs typeface="Calibri"/>
              </a:rPr>
              <a:t>Information  </a:t>
            </a:r>
            <a:r>
              <a:rPr dirty="0" sz="2800" spc="-10">
                <a:latin typeface="Calibri"/>
                <a:cs typeface="Calibri"/>
              </a:rPr>
              <a:t>System</a:t>
            </a:r>
            <a:r>
              <a:rPr dirty="0" sz="2800" spc="-10">
                <a:latin typeface="宋体"/>
                <a:cs typeface="宋体"/>
              </a:rPr>
              <a:t>）</a:t>
            </a:r>
            <a:endParaRPr sz="2800">
              <a:latin typeface="宋体"/>
              <a:cs typeface="宋体"/>
            </a:endParaRPr>
          </a:p>
          <a:p>
            <a:pPr lvl="1" marL="697865" indent="-229235">
              <a:lnSpc>
                <a:spcPct val="100000"/>
              </a:lnSpc>
              <a:spcBef>
                <a:spcPts val="590"/>
              </a:spcBef>
              <a:buFont typeface="Arial"/>
              <a:buChar char="•"/>
              <a:tabLst>
                <a:tab pos="698500" algn="l"/>
              </a:tabLst>
            </a:pPr>
            <a:r>
              <a:rPr dirty="0" sz="2400" spc="-5">
                <a:latin typeface="宋体"/>
                <a:cs typeface="宋体"/>
              </a:rPr>
              <a:t>作为组织战略决策而得以开发的系统</a:t>
            </a:r>
            <a:endParaRPr sz="2400">
              <a:latin typeface="宋体"/>
              <a:cs typeface="宋体"/>
            </a:endParaRPr>
          </a:p>
          <a:p>
            <a:pPr lvl="1" marL="697865" marR="5080" indent="-228600">
              <a:lnSpc>
                <a:spcPts val="2700"/>
              </a:lnSpc>
              <a:spcBef>
                <a:spcPts val="1000"/>
              </a:spcBef>
              <a:buFont typeface="Arial"/>
              <a:buChar char="•"/>
              <a:tabLst>
                <a:tab pos="698500" algn="l"/>
              </a:tabLst>
            </a:pPr>
            <a:r>
              <a:rPr dirty="0" sz="2400">
                <a:latin typeface="宋体"/>
                <a:cs typeface="宋体"/>
              </a:rPr>
              <a:t>无法根据现有的业务和技术状况来确定系统将来的 应用效果</a:t>
            </a:r>
            <a:endParaRPr sz="2400">
              <a:latin typeface="宋体"/>
              <a:cs typeface="宋体"/>
            </a:endParaRPr>
          </a:p>
          <a:p>
            <a:pPr lvl="1" marL="697865" indent="-229235">
              <a:lnSpc>
                <a:spcPct val="100000"/>
              </a:lnSpc>
              <a:spcBef>
                <a:spcPts val="515"/>
              </a:spcBef>
              <a:buFont typeface="Arial"/>
              <a:buChar char="•"/>
              <a:tabLst>
                <a:tab pos="698500" algn="l"/>
              </a:tabLst>
            </a:pPr>
            <a:r>
              <a:rPr dirty="0" sz="2400">
                <a:latin typeface="宋体"/>
                <a:cs typeface="宋体"/>
              </a:rPr>
              <a:t>系统的影响范围也难以确定</a:t>
            </a:r>
            <a:endParaRPr sz="2400">
              <a:latin typeface="宋体"/>
              <a:cs typeface="宋体"/>
            </a:endParaRPr>
          </a:p>
          <a:p>
            <a:pPr lvl="1" marL="697865" indent="-229235">
              <a:lnSpc>
                <a:spcPct val="100000"/>
              </a:lnSpc>
              <a:spcBef>
                <a:spcPts val="580"/>
              </a:spcBef>
              <a:buFont typeface="Arial"/>
              <a:buChar char="•"/>
              <a:tabLst>
                <a:tab pos="698500" algn="l"/>
              </a:tabLst>
            </a:pPr>
            <a:r>
              <a:rPr dirty="0" sz="2400">
                <a:solidFill>
                  <a:srgbClr val="00A15F"/>
                </a:solidFill>
                <a:latin typeface="宋体"/>
                <a:cs typeface="宋体"/>
              </a:rPr>
              <a:t>涉众数量更多而且更加难以确定</a:t>
            </a:r>
            <a:endParaRPr sz="2400">
              <a:latin typeface="宋体"/>
              <a:cs typeface="宋体"/>
            </a:endParaRPr>
          </a:p>
          <a:p>
            <a:pPr lvl="1" marL="697865" marR="5080" indent="-228600">
              <a:lnSpc>
                <a:spcPts val="2700"/>
              </a:lnSpc>
              <a:spcBef>
                <a:spcPts val="994"/>
              </a:spcBef>
              <a:buFont typeface="Arial"/>
              <a:buChar char="•"/>
              <a:tabLst>
                <a:tab pos="698500" algn="l"/>
              </a:tabLst>
            </a:pPr>
            <a:r>
              <a:rPr dirty="0" sz="2400">
                <a:latin typeface="宋体"/>
                <a:cs typeface="宋体"/>
              </a:rPr>
              <a:t>在业务环境内分析各种可能的机遇和风险，并据此 发现可能的涉众，防止抵制</a:t>
            </a:r>
            <a:endParaRPr sz="2400">
              <a:latin typeface="宋体"/>
              <a:cs typeface="宋体"/>
            </a:endParaRPr>
          </a:p>
        </p:txBody>
      </p:sp>
      <p:sp>
        <p:nvSpPr>
          <p:cNvPr id="6" name="object 6"/>
          <p:cNvSpPr/>
          <p:nvPr/>
        </p:nvSpPr>
        <p:spPr>
          <a:xfrm>
            <a:off x="4909565" y="1040130"/>
            <a:ext cx="4067810" cy="1251585"/>
          </a:xfrm>
          <a:custGeom>
            <a:avLst/>
            <a:gdLst/>
            <a:ahLst/>
            <a:cxnLst/>
            <a:rect l="l" t="t" r="r" b="b"/>
            <a:pathLst>
              <a:path w="4067809" h="1251585">
                <a:moveTo>
                  <a:pt x="3859022" y="0"/>
                </a:moveTo>
                <a:lnTo>
                  <a:pt x="208534" y="0"/>
                </a:lnTo>
                <a:lnTo>
                  <a:pt x="160713" y="5506"/>
                </a:lnTo>
                <a:lnTo>
                  <a:pt x="116817" y="21192"/>
                </a:lnTo>
                <a:lnTo>
                  <a:pt x="78098" y="45806"/>
                </a:lnTo>
                <a:lnTo>
                  <a:pt x="45806" y="78098"/>
                </a:lnTo>
                <a:lnTo>
                  <a:pt x="21192" y="116817"/>
                </a:lnTo>
                <a:lnTo>
                  <a:pt x="5506" y="160713"/>
                </a:lnTo>
                <a:lnTo>
                  <a:pt x="0" y="208534"/>
                </a:lnTo>
                <a:lnTo>
                  <a:pt x="0" y="1042670"/>
                </a:lnTo>
                <a:lnTo>
                  <a:pt x="5506" y="1090490"/>
                </a:lnTo>
                <a:lnTo>
                  <a:pt x="21192" y="1134386"/>
                </a:lnTo>
                <a:lnTo>
                  <a:pt x="45806" y="1173105"/>
                </a:lnTo>
                <a:lnTo>
                  <a:pt x="78098" y="1205397"/>
                </a:lnTo>
                <a:lnTo>
                  <a:pt x="116817" y="1230011"/>
                </a:lnTo>
                <a:lnTo>
                  <a:pt x="160713" y="1245697"/>
                </a:lnTo>
                <a:lnTo>
                  <a:pt x="208534" y="1251204"/>
                </a:lnTo>
                <a:lnTo>
                  <a:pt x="3859022" y="1251204"/>
                </a:lnTo>
                <a:lnTo>
                  <a:pt x="3906842" y="1245697"/>
                </a:lnTo>
                <a:lnTo>
                  <a:pt x="3950738" y="1230011"/>
                </a:lnTo>
                <a:lnTo>
                  <a:pt x="3989457" y="1205397"/>
                </a:lnTo>
                <a:lnTo>
                  <a:pt x="4021749" y="1173105"/>
                </a:lnTo>
                <a:lnTo>
                  <a:pt x="4046363" y="1134386"/>
                </a:lnTo>
                <a:lnTo>
                  <a:pt x="4062049" y="1090490"/>
                </a:lnTo>
                <a:lnTo>
                  <a:pt x="4067556" y="1042670"/>
                </a:lnTo>
                <a:lnTo>
                  <a:pt x="4067556" y="208534"/>
                </a:lnTo>
                <a:lnTo>
                  <a:pt x="4062049" y="160713"/>
                </a:lnTo>
                <a:lnTo>
                  <a:pt x="4046363" y="116817"/>
                </a:lnTo>
                <a:lnTo>
                  <a:pt x="4021749" y="78098"/>
                </a:lnTo>
                <a:lnTo>
                  <a:pt x="3989457" y="45806"/>
                </a:lnTo>
                <a:lnTo>
                  <a:pt x="3950738" y="21192"/>
                </a:lnTo>
                <a:lnTo>
                  <a:pt x="3906842" y="5506"/>
                </a:lnTo>
                <a:lnTo>
                  <a:pt x="3859022" y="0"/>
                </a:lnTo>
                <a:close/>
              </a:path>
            </a:pathLst>
          </a:custGeom>
          <a:solidFill>
            <a:srgbClr val="FFFFFF"/>
          </a:solidFill>
        </p:spPr>
        <p:txBody>
          <a:bodyPr wrap="square" lIns="0" tIns="0" rIns="0" bIns="0" rtlCol="0"/>
          <a:lstStyle/>
          <a:p/>
        </p:txBody>
      </p:sp>
      <p:sp>
        <p:nvSpPr>
          <p:cNvPr id="7" name="object 7"/>
          <p:cNvSpPr/>
          <p:nvPr/>
        </p:nvSpPr>
        <p:spPr>
          <a:xfrm>
            <a:off x="4909565" y="1040130"/>
            <a:ext cx="4067810" cy="1251585"/>
          </a:xfrm>
          <a:custGeom>
            <a:avLst/>
            <a:gdLst/>
            <a:ahLst/>
            <a:cxnLst/>
            <a:rect l="l" t="t" r="r" b="b"/>
            <a:pathLst>
              <a:path w="4067809" h="1251585">
                <a:moveTo>
                  <a:pt x="0" y="208534"/>
                </a:moveTo>
                <a:lnTo>
                  <a:pt x="5506" y="160713"/>
                </a:lnTo>
                <a:lnTo>
                  <a:pt x="21192" y="116817"/>
                </a:lnTo>
                <a:lnTo>
                  <a:pt x="45806" y="78098"/>
                </a:lnTo>
                <a:lnTo>
                  <a:pt x="78098" y="45806"/>
                </a:lnTo>
                <a:lnTo>
                  <a:pt x="116817" y="21192"/>
                </a:lnTo>
                <a:lnTo>
                  <a:pt x="160713" y="5506"/>
                </a:lnTo>
                <a:lnTo>
                  <a:pt x="208534" y="0"/>
                </a:lnTo>
                <a:lnTo>
                  <a:pt x="3859022" y="0"/>
                </a:lnTo>
                <a:lnTo>
                  <a:pt x="3906842" y="5506"/>
                </a:lnTo>
                <a:lnTo>
                  <a:pt x="3950738" y="21192"/>
                </a:lnTo>
                <a:lnTo>
                  <a:pt x="3989457" y="45806"/>
                </a:lnTo>
                <a:lnTo>
                  <a:pt x="4021749" y="78098"/>
                </a:lnTo>
                <a:lnTo>
                  <a:pt x="4046363" y="116817"/>
                </a:lnTo>
                <a:lnTo>
                  <a:pt x="4062049" y="160713"/>
                </a:lnTo>
                <a:lnTo>
                  <a:pt x="4067556" y="208534"/>
                </a:lnTo>
                <a:lnTo>
                  <a:pt x="4067556" y="1042670"/>
                </a:lnTo>
                <a:lnTo>
                  <a:pt x="4062049" y="1090490"/>
                </a:lnTo>
                <a:lnTo>
                  <a:pt x="4046363" y="1134386"/>
                </a:lnTo>
                <a:lnTo>
                  <a:pt x="4021749" y="1173105"/>
                </a:lnTo>
                <a:lnTo>
                  <a:pt x="3989457" y="1205397"/>
                </a:lnTo>
                <a:lnTo>
                  <a:pt x="3950738" y="1230011"/>
                </a:lnTo>
                <a:lnTo>
                  <a:pt x="3906842" y="1245697"/>
                </a:lnTo>
                <a:lnTo>
                  <a:pt x="3859022" y="1251204"/>
                </a:lnTo>
                <a:lnTo>
                  <a:pt x="208534" y="1251204"/>
                </a:lnTo>
                <a:lnTo>
                  <a:pt x="160713" y="1245697"/>
                </a:lnTo>
                <a:lnTo>
                  <a:pt x="116817" y="1230011"/>
                </a:lnTo>
                <a:lnTo>
                  <a:pt x="78098" y="1205397"/>
                </a:lnTo>
                <a:lnTo>
                  <a:pt x="45806" y="1173105"/>
                </a:lnTo>
                <a:lnTo>
                  <a:pt x="21192" y="1134386"/>
                </a:lnTo>
                <a:lnTo>
                  <a:pt x="5506" y="1090490"/>
                </a:lnTo>
                <a:lnTo>
                  <a:pt x="0" y="1042670"/>
                </a:lnTo>
                <a:lnTo>
                  <a:pt x="0" y="208534"/>
                </a:lnTo>
                <a:close/>
              </a:path>
            </a:pathLst>
          </a:custGeom>
          <a:ln w="25400">
            <a:solidFill>
              <a:srgbClr val="00A15F"/>
            </a:solidFill>
          </a:ln>
        </p:spPr>
        <p:txBody>
          <a:bodyPr wrap="square" lIns="0" tIns="0" rIns="0" bIns="0" rtlCol="0"/>
          <a:lstStyle/>
          <a:p/>
        </p:txBody>
      </p:sp>
      <p:sp>
        <p:nvSpPr>
          <p:cNvPr id="8" name="object 8"/>
          <p:cNvSpPr txBox="1"/>
          <p:nvPr/>
        </p:nvSpPr>
        <p:spPr>
          <a:xfrm>
            <a:off x="5843142" y="1230248"/>
            <a:ext cx="2199005" cy="574675"/>
          </a:xfrm>
          <a:prstGeom prst="rect">
            <a:avLst/>
          </a:prstGeom>
        </p:spPr>
        <p:txBody>
          <a:bodyPr wrap="square" lIns="0" tIns="12700" rIns="0" bIns="0" rtlCol="0" vert="horz">
            <a:spAutoFit/>
          </a:bodyPr>
          <a:lstStyle/>
          <a:p>
            <a:pPr algn="ctr">
              <a:lnSpc>
                <a:spcPct val="100000"/>
              </a:lnSpc>
              <a:spcBef>
                <a:spcPts val="100"/>
              </a:spcBef>
            </a:pPr>
            <a:r>
              <a:rPr dirty="0" sz="1800">
                <a:latin typeface="宋体"/>
                <a:cs typeface="宋体"/>
              </a:rPr>
              <a:t>（</a:t>
            </a:r>
            <a:r>
              <a:rPr dirty="0" sz="1800" spc="-5">
                <a:latin typeface="Calibri"/>
                <a:cs typeface="Calibri"/>
              </a:rPr>
              <a:t>3</a:t>
            </a:r>
            <a:r>
              <a:rPr dirty="0" sz="1800">
                <a:latin typeface="宋体"/>
                <a:cs typeface="宋体"/>
              </a:rPr>
              <a:t>）战略信息系统：</a:t>
            </a:r>
            <a:endParaRPr sz="1800">
              <a:latin typeface="宋体"/>
              <a:cs typeface="宋体"/>
            </a:endParaRPr>
          </a:p>
          <a:p>
            <a:pPr algn="ctr">
              <a:lnSpc>
                <a:spcPct val="100000"/>
              </a:lnSpc>
            </a:pPr>
            <a:r>
              <a:rPr dirty="0" sz="1800" spc="-5">
                <a:latin typeface="宋体"/>
                <a:cs typeface="宋体"/>
              </a:rPr>
              <a:t>校内权益提案平台</a:t>
            </a:r>
            <a:endParaRPr sz="1800">
              <a:latin typeface="宋体"/>
              <a:cs typeface="宋体"/>
            </a:endParaRPr>
          </a:p>
        </p:txBody>
      </p:sp>
      <p:sp>
        <p:nvSpPr>
          <p:cNvPr id="9" name="object 9"/>
          <p:cNvSpPr txBox="1"/>
          <p:nvPr/>
        </p:nvSpPr>
        <p:spPr>
          <a:xfrm>
            <a:off x="5558154" y="1779270"/>
            <a:ext cx="2768600"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宋体"/>
                <a:cs typeface="宋体"/>
              </a:rPr>
              <a:t>国家安全机关举报受理平台</a:t>
            </a:r>
            <a:endParaRPr sz="1800">
              <a:latin typeface="宋体"/>
              <a:cs typeface="宋体"/>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107" y="6425590"/>
            <a:ext cx="2239645" cy="269240"/>
          </a:xfrm>
          <a:prstGeom prst="rect">
            <a:avLst/>
          </a:prstGeom>
        </p:spPr>
        <p:txBody>
          <a:bodyPr wrap="square" lIns="0" tIns="12065" rIns="0" bIns="0" rtlCol="0" vert="horz">
            <a:spAutoFit/>
          </a:bodyPr>
          <a:lstStyle/>
          <a:p>
            <a:pPr marL="12700">
              <a:lnSpc>
                <a:spcPct val="100000"/>
              </a:lnSpc>
              <a:spcBef>
                <a:spcPts val="95"/>
              </a:spcBef>
            </a:pPr>
            <a:r>
              <a:rPr dirty="0" sz="1600" spc="-5">
                <a:solidFill>
                  <a:srgbClr val="00663B"/>
                </a:solidFill>
                <a:latin typeface="华文行楷"/>
                <a:cs typeface="华文行楷"/>
              </a:rPr>
              <a:t>软件需求工程</a:t>
            </a:r>
            <a:r>
              <a:rPr dirty="0" sz="1600" spc="-20">
                <a:solidFill>
                  <a:srgbClr val="00663B"/>
                </a:solidFill>
                <a:latin typeface="华文行楷"/>
                <a:cs typeface="华文行楷"/>
              </a:rPr>
              <a:t>与</a:t>
            </a:r>
            <a:r>
              <a:rPr dirty="0" sz="1600" spc="-5">
                <a:solidFill>
                  <a:srgbClr val="00663B"/>
                </a:solidFill>
                <a:latin typeface="Calibri"/>
                <a:cs typeface="Calibri"/>
              </a:rPr>
              <a:t>UM</a:t>
            </a:r>
            <a:r>
              <a:rPr dirty="0" sz="1600" spc="-10">
                <a:solidFill>
                  <a:srgbClr val="00663B"/>
                </a:solidFill>
                <a:latin typeface="Calibri"/>
                <a:cs typeface="Calibri"/>
              </a:rPr>
              <a:t>L</a:t>
            </a:r>
            <a:r>
              <a:rPr dirty="0" sz="1600" spc="-5">
                <a:solidFill>
                  <a:srgbClr val="00663B"/>
                </a:solidFill>
                <a:latin typeface="华文行楷"/>
                <a:cs typeface="华文行楷"/>
              </a:rPr>
              <a:t>建模</a:t>
            </a:r>
            <a:endParaRPr sz="1600">
              <a:latin typeface="华文行楷"/>
              <a:cs typeface="华文行楷"/>
            </a:endParaRPr>
          </a:p>
        </p:txBody>
      </p:sp>
      <p:sp>
        <p:nvSpPr>
          <p:cNvPr id="3" name="object 3"/>
          <p:cNvSpPr txBox="1">
            <a:spLocks noGrp="1"/>
          </p:cNvSpPr>
          <p:nvPr>
            <p:ph type="title"/>
          </p:nvPr>
        </p:nvSpPr>
        <p:spPr>
          <a:xfrm>
            <a:off x="1963292" y="233299"/>
            <a:ext cx="5696585" cy="1184275"/>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3.2.</a:t>
            </a:r>
            <a:r>
              <a:rPr dirty="0" sz="3800" spc="-20">
                <a:latin typeface="Calibri"/>
                <a:cs typeface="Calibri"/>
              </a:rPr>
              <a:t> </a:t>
            </a:r>
            <a:r>
              <a:rPr dirty="0" sz="3800"/>
              <a:t>涉众分析的主要内容</a:t>
            </a:r>
            <a:endParaRPr sz="3800">
              <a:latin typeface="Calibri"/>
              <a:cs typeface="Calibri"/>
            </a:endParaRPr>
          </a:p>
          <a:p>
            <a:pPr marL="448309">
              <a:lnSpc>
                <a:spcPct val="100000"/>
              </a:lnSpc>
              <a:spcBef>
                <a:spcPts val="5"/>
              </a:spcBef>
            </a:pPr>
            <a:r>
              <a:rPr dirty="0" sz="3800">
                <a:latin typeface="Arial"/>
                <a:cs typeface="Arial"/>
              </a:rPr>
              <a:t>——</a:t>
            </a:r>
            <a:r>
              <a:rPr dirty="0" sz="3800"/>
              <a:t>涉众分</a:t>
            </a:r>
            <a:r>
              <a:rPr dirty="0" sz="3800" spc="840"/>
              <a:t>析</a:t>
            </a:r>
            <a:r>
              <a:rPr dirty="0" sz="3800">
                <a:latin typeface="Calibri"/>
                <a:cs typeface="Calibri"/>
              </a:rPr>
              <a:t>/</a:t>
            </a:r>
            <a:r>
              <a:rPr dirty="0" sz="3800" spc="-60">
                <a:latin typeface="Calibri"/>
                <a:cs typeface="Calibri"/>
              </a:rPr>
              <a:t> </a:t>
            </a:r>
            <a:r>
              <a:rPr dirty="0" sz="3800"/>
              <a:t>寻找涉众</a:t>
            </a:r>
            <a:endParaRPr sz="3800">
              <a:latin typeface="Calibri"/>
              <a:cs typeface="Calibri"/>
            </a:endParaRPr>
          </a:p>
        </p:txBody>
      </p:sp>
      <p:sp>
        <p:nvSpPr>
          <p:cNvPr id="4" name="object 4"/>
          <p:cNvSpPr/>
          <p:nvPr/>
        </p:nvSpPr>
        <p:spPr>
          <a:xfrm>
            <a:off x="2138933" y="5654802"/>
            <a:ext cx="4753610" cy="1117600"/>
          </a:xfrm>
          <a:custGeom>
            <a:avLst/>
            <a:gdLst/>
            <a:ahLst/>
            <a:cxnLst/>
            <a:rect l="l" t="t" r="r" b="b"/>
            <a:pathLst>
              <a:path w="4753609" h="1117600">
                <a:moveTo>
                  <a:pt x="4567174" y="0"/>
                </a:moveTo>
                <a:lnTo>
                  <a:pt x="186182" y="0"/>
                </a:lnTo>
                <a:lnTo>
                  <a:pt x="136671" y="6651"/>
                </a:lnTo>
                <a:lnTo>
                  <a:pt x="92192" y="25420"/>
                </a:lnTo>
                <a:lnTo>
                  <a:pt x="54514" y="54533"/>
                </a:lnTo>
                <a:lnTo>
                  <a:pt x="25409" y="92215"/>
                </a:lnTo>
                <a:lnTo>
                  <a:pt x="6647" y="136689"/>
                </a:lnTo>
                <a:lnTo>
                  <a:pt x="0" y="186182"/>
                </a:lnTo>
                <a:lnTo>
                  <a:pt x="0" y="930910"/>
                </a:lnTo>
                <a:lnTo>
                  <a:pt x="6647" y="980402"/>
                </a:lnTo>
                <a:lnTo>
                  <a:pt x="25409" y="1024876"/>
                </a:lnTo>
                <a:lnTo>
                  <a:pt x="54514" y="1062558"/>
                </a:lnTo>
                <a:lnTo>
                  <a:pt x="92192" y="1091671"/>
                </a:lnTo>
                <a:lnTo>
                  <a:pt x="136671" y="1110440"/>
                </a:lnTo>
                <a:lnTo>
                  <a:pt x="186182" y="1117092"/>
                </a:lnTo>
                <a:lnTo>
                  <a:pt x="4567174" y="1117092"/>
                </a:lnTo>
                <a:lnTo>
                  <a:pt x="4616684" y="1110440"/>
                </a:lnTo>
                <a:lnTo>
                  <a:pt x="4661163" y="1091671"/>
                </a:lnTo>
                <a:lnTo>
                  <a:pt x="4698841" y="1062558"/>
                </a:lnTo>
                <a:lnTo>
                  <a:pt x="4727946" y="1024876"/>
                </a:lnTo>
                <a:lnTo>
                  <a:pt x="4746708" y="980402"/>
                </a:lnTo>
                <a:lnTo>
                  <a:pt x="4753356" y="930910"/>
                </a:lnTo>
                <a:lnTo>
                  <a:pt x="4753356" y="186182"/>
                </a:lnTo>
                <a:lnTo>
                  <a:pt x="4746708" y="136689"/>
                </a:lnTo>
                <a:lnTo>
                  <a:pt x="4727946" y="92215"/>
                </a:lnTo>
                <a:lnTo>
                  <a:pt x="4698841" y="54533"/>
                </a:lnTo>
                <a:lnTo>
                  <a:pt x="4661163" y="25420"/>
                </a:lnTo>
                <a:lnTo>
                  <a:pt x="4616684" y="6651"/>
                </a:lnTo>
                <a:lnTo>
                  <a:pt x="4567174" y="0"/>
                </a:lnTo>
                <a:close/>
              </a:path>
            </a:pathLst>
          </a:custGeom>
          <a:solidFill>
            <a:srgbClr val="FFFFFF"/>
          </a:solidFill>
        </p:spPr>
        <p:txBody>
          <a:bodyPr wrap="square" lIns="0" tIns="0" rIns="0" bIns="0" rtlCol="0"/>
          <a:lstStyle/>
          <a:p/>
        </p:txBody>
      </p:sp>
      <p:sp>
        <p:nvSpPr>
          <p:cNvPr id="5" name="object 5"/>
          <p:cNvSpPr/>
          <p:nvPr/>
        </p:nvSpPr>
        <p:spPr>
          <a:xfrm>
            <a:off x="2138933" y="5654802"/>
            <a:ext cx="4753610" cy="1117600"/>
          </a:xfrm>
          <a:custGeom>
            <a:avLst/>
            <a:gdLst/>
            <a:ahLst/>
            <a:cxnLst/>
            <a:rect l="l" t="t" r="r" b="b"/>
            <a:pathLst>
              <a:path w="4753609" h="1117600">
                <a:moveTo>
                  <a:pt x="0" y="186182"/>
                </a:moveTo>
                <a:lnTo>
                  <a:pt x="6647" y="136689"/>
                </a:lnTo>
                <a:lnTo>
                  <a:pt x="25409" y="92215"/>
                </a:lnTo>
                <a:lnTo>
                  <a:pt x="54514" y="54533"/>
                </a:lnTo>
                <a:lnTo>
                  <a:pt x="92192" y="25420"/>
                </a:lnTo>
                <a:lnTo>
                  <a:pt x="136671" y="6651"/>
                </a:lnTo>
                <a:lnTo>
                  <a:pt x="186182" y="0"/>
                </a:lnTo>
                <a:lnTo>
                  <a:pt x="4567174" y="0"/>
                </a:lnTo>
                <a:lnTo>
                  <a:pt x="4616684" y="6651"/>
                </a:lnTo>
                <a:lnTo>
                  <a:pt x="4661163" y="25420"/>
                </a:lnTo>
                <a:lnTo>
                  <a:pt x="4698841" y="54533"/>
                </a:lnTo>
                <a:lnTo>
                  <a:pt x="4727946" y="92215"/>
                </a:lnTo>
                <a:lnTo>
                  <a:pt x="4746708" y="136689"/>
                </a:lnTo>
                <a:lnTo>
                  <a:pt x="4753356" y="186182"/>
                </a:lnTo>
                <a:lnTo>
                  <a:pt x="4753356" y="930910"/>
                </a:lnTo>
                <a:lnTo>
                  <a:pt x="4746708" y="980402"/>
                </a:lnTo>
                <a:lnTo>
                  <a:pt x="4727946" y="1024876"/>
                </a:lnTo>
                <a:lnTo>
                  <a:pt x="4698841" y="1062558"/>
                </a:lnTo>
                <a:lnTo>
                  <a:pt x="4661163" y="1091671"/>
                </a:lnTo>
                <a:lnTo>
                  <a:pt x="4616684" y="1110440"/>
                </a:lnTo>
                <a:lnTo>
                  <a:pt x="4567174" y="1117092"/>
                </a:lnTo>
                <a:lnTo>
                  <a:pt x="186182" y="1117092"/>
                </a:lnTo>
                <a:lnTo>
                  <a:pt x="136671" y="1110440"/>
                </a:lnTo>
                <a:lnTo>
                  <a:pt x="92192" y="1091671"/>
                </a:lnTo>
                <a:lnTo>
                  <a:pt x="54514" y="1062558"/>
                </a:lnTo>
                <a:lnTo>
                  <a:pt x="25409" y="1024876"/>
                </a:lnTo>
                <a:lnTo>
                  <a:pt x="6647" y="980402"/>
                </a:lnTo>
                <a:lnTo>
                  <a:pt x="0" y="930910"/>
                </a:lnTo>
                <a:lnTo>
                  <a:pt x="0" y="186182"/>
                </a:lnTo>
                <a:close/>
              </a:path>
            </a:pathLst>
          </a:custGeom>
          <a:ln w="25399">
            <a:solidFill>
              <a:srgbClr val="00A15F"/>
            </a:solidFill>
          </a:ln>
        </p:spPr>
        <p:txBody>
          <a:bodyPr wrap="square" lIns="0" tIns="0" rIns="0" bIns="0" rtlCol="0"/>
          <a:lstStyle/>
          <a:p/>
        </p:txBody>
      </p:sp>
      <p:sp>
        <p:nvSpPr>
          <p:cNvPr id="6" name="object 6"/>
          <p:cNvSpPr txBox="1"/>
          <p:nvPr/>
        </p:nvSpPr>
        <p:spPr>
          <a:xfrm>
            <a:off x="535940" y="1513847"/>
            <a:ext cx="8319134" cy="4839335"/>
          </a:xfrm>
          <a:prstGeom prst="rect">
            <a:avLst/>
          </a:prstGeom>
        </p:spPr>
        <p:txBody>
          <a:bodyPr wrap="square" lIns="0" tIns="114300" rIns="0" bIns="0" rtlCol="0" vert="horz">
            <a:spAutoFit/>
          </a:bodyPr>
          <a:lstStyle/>
          <a:p>
            <a:pPr marL="355600" indent="-343535">
              <a:lnSpc>
                <a:spcPct val="100000"/>
              </a:lnSpc>
              <a:spcBef>
                <a:spcPts val="900"/>
              </a:spcBef>
              <a:buClr>
                <a:srgbClr val="00663B"/>
              </a:buClr>
              <a:buSzPct val="79687"/>
              <a:buFont typeface="Wingdings"/>
              <a:buChar char=""/>
              <a:tabLst>
                <a:tab pos="356235" algn="l"/>
              </a:tabLst>
            </a:pPr>
            <a:r>
              <a:rPr dirty="0" sz="3200">
                <a:latin typeface="宋体"/>
                <a:cs typeface="宋体"/>
              </a:rPr>
              <a:t>信息系统的四种类型</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a:t>
            </a:r>
            <a:r>
              <a:rPr dirty="0" sz="2800" spc="-5">
                <a:latin typeface="Calibri"/>
                <a:cs typeface="Calibri"/>
              </a:rPr>
              <a:t>4</a:t>
            </a:r>
            <a:r>
              <a:rPr dirty="0" sz="2800" spc="-5">
                <a:latin typeface="宋体"/>
                <a:cs typeface="宋体"/>
              </a:rPr>
              <a:t>）</a:t>
            </a:r>
            <a:r>
              <a:rPr dirty="0" sz="2800">
                <a:latin typeface="宋体"/>
                <a:cs typeface="宋体"/>
              </a:rPr>
              <a:t>组</a:t>
            </a:r>
            <a:r>
              <a:rPr dirty="0" sz="2800" spc="-5">
                <a:latin typeface="宋体"/>
                <a:cs typeface="宋体"/>
              </a:rPr>
              <a:t>织间系</a:t>
            </a:r>
            <a:r>
              <a:rPr dirty="0" sz="2800">
                <a:latin typeface="宋体"/>
                <a:cs typeface="宋体"/>
              </a:rPr>
              <a:t>统</a:t>
            </a:r>
            <a:r>
              <a:rPr dirty="0" sz="2800" spc="-5">
                <a:latin typeface="宋体"/>
                <a:cs typeface="宋体"/>
              </a:rPr>
              <a:t>（</a:t>
            </a:r>
            <a:r>
              <a:rPr dirty="0" sz="2800" spc="-5">
                <a:latin typeface="Calibri"/>
                <a:cs typeface="Calibri"/>
              </a:rPr>
              <a:t>Inter-Organizational</a:t>
            </a:r>
            <a:r>
              <a:rPr dirty="0" sz="2800" spc="-45">
                <a:latin typeface="Calibri"/>
                <a:cs typeface="Calibri"/>
              </a:rPr>
              <a:t> </a:t>
            </a:r>
            <a:r>
              <a:rPr dirty="0" sz="2800" spc="-5">
                <a:latin typeface="Calibri"/>
                <a:cs typeface="Calibri"/>
              </a:rPr>
              <a:t>Systems</a:t>
            </a:r>
            <a:r>
              <a:rPr dirty="0" sz="2800" spc="-5">
                <a:latin typeface="宋体"/>
                <a:cs typeface="宋体"/>
              </a:rPr>
              <a:t>）</a:t>
            </a:r>
            <a:endParaRPr sz="2800">
              <a:latin typeface="宋体"/>
              <a:cs typeface="宋体"/>
            </a:endParaRPr>
          </a:p>
          <a:p>
            <a:pPr lvl="2" marL="1155700" marR="449580" indent="-228600">
              <a:lnSpc>
                <a:spcPts val="2700"/>
              </a:lnSpc>
              <a:spcBef>
                <a:spcPts val="1015"/>
              </a:spcBef>
              <a:buFont typeface="Arial"/>
              <a:buChar char="•"/>
              <a:tabLst>
                <a:tab pos="1156335" algn="l"/>
              </a:tabLst>
            </a:pPr>
            <a:r>
              <a:rPr dirty="0" sz="2400">
                <a:latin typeface="宋体"/>
                <a:cs typeface="宋体"/>
              </a:rPr>
              <a:t>通过系统自身的实施建立或增强组织之间的合作关 </a:t>
            </a:r>
            <a:r>
              <a:rPr dirty="0" sz="2400">
                <a:latin typeface="宋体"/>
                <a:cs typeface="宋体"/>
              </a:rPr>
              <a:t>系</a:t>
            </a:r>
            <a:endParaRPr sz="2400">
              <a:latin typeface="宋体"/>
              <a:cs typeface="宋体"/>
            </a:endParaRPr>
          </a:p>
          <a:p>
            <a:pPr lvl="2" marL="1155700" indent="-229235">
              <a:lnSpc>
                <a:spcPct val="100000"/>
              </a:lnSpc>
              <a:spcBef>
                <a:spcPts val="515"/>
              </a:spcBef>
              <a:buFont typeface="Arial"/>
              <a:buChar char="•"/>
              <a:tabLst>
                <a:tab pos="1156335" algn="l"/>
              </a:tabLst>
            </a:pPr>
            <a:r>
              <a:rPr dirty="0" sz="2400">
                <a:latin typeface="宋体"/>
                <a:cs typeface="宋体"/>
              </a:rPr>
              <a:t>系统的很多决定不是单个组织所能控制的</a:t>
            </a:r>
            <a:endParaRPr sz="2400">
              <a:latin typeface="宋体"/>
              <a:cs typeface="宋体"/>
            </a:endParaRPr>
          </a:p>
          <a:p>
            <a:pPr lvl="2" marL="1155700" indent="-229235">
              <a:lnSpc>
                <a:spcPct val="100000"/>
              </a:lnSpc>
              <a:spcBef>
                <a:spcPts val="575"/>
              </a:spcBef>
              <a:buFont typeface="Arial"/>
              <a:buChar char="•"/>
              <a:tabLst>
                <a:tab pos="1156335" algn="l"/>
              </a:tabLst>
            </a:pPr>
            <a:r>
              <a:rPr dirty="0" sz="2400">
                <a:latin typeface="宋体"/>
                <a:cs typeface="宋体"/>
              </a:rPr>
              <a:t>在主动参与和抵制系统的问题上有着更多的困难</a:t>
            </a:r>
            <a:endParaRPr sz="2400">
              <a:latin typeface="宋体"/>
              <a:cs typeface="宋体"/>
            </a:endParaRPr>
          </a:p>
          <a:p>
            <a:pPr lvl="2" marL="1155700" indent="-229235">
              <a:lnSpc>
                <a:spcPct val="100000"/>
              </a:lnSpc>
              <a:spcBef>
                <a:spcPts val="580"/>
              </a:spcBef>
              <a:buFont typeface="Arial"/>
              <a:buChar char="•"/>
              <a:tabLst>
                <a:tab pos="1156335" algn="l"/>
              </a:tabLst>
            </a:pPr>
            <a:r>
              <a:rPr dirty="0" sz="2400">
                <a:solidFill>
                  <a:srgbClr val="00A15F"/>
                </a:solidFill>
                <a:latin typeface="宋体"/>
                <a:cs typeface="宋体"/>
              </a:rPr>
              <a:t>涉众比组织内系统的涉众更加难以寻找和选择</a:t>
            </a:r>
            <a:endParaRPr sz="2400">
              <a:latin typeface="宋体"/>
              <a:cs typeface="宋体"/>
            </a:endParaRPr>
          </a:p>
          <a:p>
            <a:pPr lvl="2" marL="1155700" marR="449580" indent="-228600">
              <a:lnSpc>
                <a:spcPts val="2700"/>
              </a:lnSpc>
              <a:spcBef>
                <a:spcPts val="994"/>
              </a:spcBef>
              <a:buFont typeface="Arial"/>
              <a:buChar char="•"/>
              <a:tabLst>
                <a:tab pos="1156335" algn="l"/>
              </a:tabLst>
            </a:pPr>
            <a:r>
              <a:rPr dirty="0" sz="2400">
                <a:latin typeface="宋体"/>
                <a:cs typeface="宋体"/>
              </a:rPr>
              <a:t>考虑组织之间的合作关系和利益分配方案，在组织 的大框架下进行涉众的寻找和选择</a:t>
            </a:r>
            <a:endParaRPr sz="2400">
              <a:latin typeface="宋体"/>
              <a:cs typeface="宋体"/>
            </a:endParaRPr>
          </a:p>
          <a:p>
            <a:pPr algn="ctr" marR="353060">
              <a:lnSpc>
                <a:spcPct val="100000"/>
              </a:lnSpc>
              <a:spcBef>
                <a:spcPts val="1770"/>
              </a:spcBef>
            </a:pPr>
            <a:r>
              <a:rPr dirty="0" sz="1800" spc="-5">
                <a:latin typeface="宋体"/>
                <a:cs typeface="宋体"/>
              </a:rPr>
              <a:t>（</a:t>
            </a:r>
            <a:r>
              <a:rPr dirty="0" sz="1800" spc="-5">
                <a:latin typeface="Calibri"/>
                <a:cs typeface="Calibri"/>
              </a:rPr>
              <a:t>4</a:t>
            </a:r>
            <a:r>
              <a:rPr dirty="0" sz="1800" spc="-5">
                <a:latin typeface="宋体"/>
                <a:cs typeface="宋体"/>
              </a:rPr>
              <a:t>）组织间系统：</a:t>
            </a:r>
            <a:endParaRPr sz="1800">
              <a:latin typeface="宋体"/>
              <a:cs typeface="宋体"/>
            </a:endParaRPr>
          </a:p>
          <a:p>
            <a:pPr algn="ctr" marR="353060">
              <a:lnSpc>
                <a:spcPct val="100000"/>
              </a:lnSpc>
              <a:spcBef>
                <a:spcPts val="5"/>
              </a:spcBef>
            </a:pPr>
            <a:r>
              <a:rPr dirty="0" sz="1800">
                <a:latin typeface="宋体"/>
                <a:cs typeface="宋体"/>
              </a:rPr>
              <a:t>企业学校对接平台</a:t>
            </a:r>
            <a:endParaRPr sz="1800">
              <a:latin typeface="宋体"/>
              <a:cs typeface="宋体"/>
            </a:endParaRPr>
          </a:p>
        </p:txBody>
      </p:sp>
      <p:sp>
        <p:nvSpPr>
          <p:cNvPr id="7" name="object 7"/>
          <p:cNvSpPr txBox="1"/>
          <p:nvPr/>
        </p:nvSpPr>
        <p:spPr>
          <a:xfrm>
            <a:off x="3702177" y="6327749"/>
            <a:ext cx="1625600" cy="299720"/>
          </a:xfrm>
          <a:prstGeom prst="rect">
            <a:avLst/>
          </a:prstGeom>
        </p:spPr>
        <p:txBody>
          <a:bodyPr wrap="square" lIns="0" tIns="12700" rIns="0" bIns="0" rtlCol="0" vert="horz">
            <a:spAutoFit/>
          </a:bodyPr>
          <a:lstStyle/>
          <a:p>
            <a:pPr marL="12700">
              <a:lnSpc>
                <a:spcPct val="100000"/>
              </a:lnSpc>
              <a:spcBef>
                <a:spcPts val="100"/>
              </a:spcBef>
            </a:pPr>
            <a:r>
              <a:rPr dirty="0" sz="1800">
                <a:latin typeface="宋体"/>
                <a:cs typeface="宋体"/>
              </a:rPr>
              <a:t>阿里巴巴批发网</a:t>
            </a:r>
            <a:endParaRPr sz="1800">
              <a:latin typeface="宋体"/>
              <a:cs typeface="宋体"/>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47697" y="0"/>
            <a:ext cx="5512435" cy="1184275"/>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2.</a:t>
            </a:r>
            <a:r>
              <a:rPr dirty="0" sz="3800" spc="-15">
                <a:latin typeface="Calibri"/>
                <a:cs typeface="Calibri"/>
              </a:rPr>
              <a:t> </a:t>
            </a:r>
            <a:r>
              <a:rPr dirty="0" sz="3800"/>
              <a:t>涉众分析的主要内容</a:t>
            </a:r>
            <a:endParaRPr sz="3800">
              <a:latin typeface="Calibri"/>
              <a:cs typeface="Calibri"/>
            </a:endParaRPr>
          </a:p>
          <a:p>
            <a:pPr marL="264160">
              <a:lnSpc>
                <a:spcPct val="100000"/>
              </a:lnSpc>
              <a:spcBef>
                <a:spcPts val="5"/>
              </a:spcBef>
            </a:pPr>
            <a:r>
              <a:rPr dirty="0" sz="3800">
                <a:latin typeface="Arial"/>
                <a:cs typeface="Arial"/>
              </a:rPr>
              <a:t>——</a:t>
            </a:r>
            <a:r>
              <a:rPr dirty="0" sz="3800"/>
              <a:t>涉众分</a:t>
            </a:r>
            <a:r>
              <a:rPr dirty="0" sz="3800" spc="840"/>
              <a:t>析</a:t>
            </a:r>
            <a:r>
              <a:rPr dirty="0" sz="3800">
                <a:latin typeface="Calibri"/>
                <a:cs typeface="Calibri"/>
              </a:rPr>
              <a:t>/</a:t>
            </a:r>
            <a:r>
              <a:rPr dirty="0" sz="3800" spc="-60">
                <a:latin typeface="Calibri"/>
                <a:cs typeface="Calibri"/>
              </a:rPr>
              <a:t> </a:t>
            </a:r>
            <a:r>
              <a:rPr dirty="0" sz="3800"/>
              <a:t>理解涉众</a:t>
            </a:r>
            <a:endParaRPr sz="3800">
              <a:latin typeface="Calibri"/>
              <a:cs typeface="Calibri"/>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31581"/>
            <a:ext cx="8189595" cy="4294505"/>
          </a:xfrm>
          <a:prstGeom prst="rect">
            <a:avLst/>
          </a:prstGeom>
        </p:spPr>
        <p:txBody>
          <a:bodyPr wrap="square" lIns="0" tIns="98425" rIns="0" bIns="0" rtlCol="0" vert="horz">
            <a:spAutoFit/>
          </a:bodyPr>
          <a:lstStyle/>
          <a:p>
            <a:pPr marL="355600" indent="-343535">
              <a:lnSpc>
                <a:spcPct val="100000"/>
              </a:lnSpc>
              <a:spcBef>
                <a:spcPts val="775"/>
              </a:spcBef>
              <a:buClr>
                <a:srgbClr val="00663B"/>
              </a:buClr>
              <a:buSzPct val="80357"/>
              <a:buFont typeface="Wingdings"/>
              <a:buChar char=""/>
              <a:tabLst>
                <a:tab pos="355600" algn="l"/>
                <a:tab pos="356235" algn="l"/>
              </a:tabLst>
            </a:pPr>
            <a:r>
              <a:rPr dirty="0" sz="2800" spc="-10">
                <a:latin typeface="Calibri"/>
                <a:cs typeface="Calibri"/>
              </a:rPr>
              <a:t>L1</a:t>
            </a:r>
            <a:r>
              <a:rPr dirty="0" sz="2800" spc="-10">
                <a:latin typeface="宋体"/>
                <a:cs typeface="宋体"/>
              </a:rPr>
              <a:t>：根据软件系统的功能前景寻</a:t>
            </a:r>
            <a:r>
              <a:rPr dirty="0" sz="2800">
                <a:latin typeface="宋体"/>
                <a:cs typeface="宋体"/>
              </a:rPr>
              <a:t>找</a:t>
            </a:r>
            <a:r>
              <a:rPr dirty="0" sz="2800" spc="-10">
                <a:latin typeface="宋体"/>
                <a:cs typeface="宋体"/>
              </a:rPr>
              <a:t>涉众</a:t>
            </a:r>
            <a:endParaRPr sz="2800">
              <a:latin typeface="宋体"/>
              <a:cs typeface="宋体"/>
            </a:endParaRPr>
          </a:p>
          <a:p>
            <a:pPr marL="355600" indent="-343535">
              <a:lnSpc>
                <a:spcPct val="100000"/>
              </a:lnSpc>
              <a:spcBef>
                <a:spcPts val="675"/>
              </a:spcBef>
              <a:buClr>
                <a:srgbClr val="00663B"/>
              </a:buClr>
              <a:buSzPct val="80357"/>
              <a:buFont typeface="Wingdings"/>
              <a:buChar char=""/>
              <a:tabLst>
                <a:tab pos="355600" algn="l"/>
                <a:tab pos="356235" algn="l"/>
              </a:tabLst>
            </a:pPr>
            <a:r>
              <a:rPr dirty="0" sz="2800" spc="-5">
                <a:latin typeface="Calibri"/>
                <a:cs typeface="Calibri"/>
              </a:rPr>
              <a:t>L2</a:t>
            </a:r>
            <a:r>
              <a:rPr dirty="0" sz="2800" spc="-5">
                <a:latin typeface="宋体"/>
                <a:cs typeface="宋体"/>
              </a:rPr>
              <a:t>：从涉众对象那里获取需求</a:t>
            </a:r>
            <a:endParaRPr sz="2800">
              <a:latin typeface="宋体"/>
              <a:cs typeface="宋体"/>
            </a:endParaRPr>
          </a:p>
          <a:p>
            <a:pPr marL="355600" indent="-343535">
              <a:lnSpc>
                <a:spcPct val="100000"/>
              </a:lnSpc>
              <a:spcBef>
                <a:spcPts val="675"/>
              </a:spcBef>
              <a:buClr>
                <a:srgbClr val="00663B"/>
              </a:buClr>
              <a:buSzPct val="80357"/>
              <a:buFont typeface="Wingdings"/>
              <a:buChar char=""/>
              <a:tabLst>
                <a:tab pos="355600" algn="l"/>
                <a:tab pos="356235" algn="l"/>
              </a:tabLst>
            </a:pPr>
            <a:r>
              <a:rPr dirty="0" sz="2800" spc="-5">
                <a:latin typeface="Calibri"/>
                <a:cs typeface="Calibri"/>
              </a:rPr>
              <a:t>L3</a:t>
            </a:r>
            <a:r>
              <a:rPr dirty="0" sz="2800" spc="5">
                <a:latin typeface="Calibri"/>
                <a:cs typeface="Calibri"/>
              </a:rPr>
              <a:t> </a:t>
            </a:r>
            <a:r>
              <a:rPr dirty="0" sz="2800" spc="-5">
                <a:latin typeface="Calibri"/>
                <a:cs typeface="Calibri"/>
              </a:rPr>
              <a:t>: </a:t>
            </a:r>
            <a:r>
              <a:rPr dirty="0" sz="2800" spc="-5">
                <a:latin typeface="宋体"/>
                <a:cs typeface="宋体"/>
              </a:rPr>
              <a:t>分析涉众的输赢条</a:t>
            </a:r>
            <a:r>
              <a:rPr dirty="0" sz="2800">
                <a:latin typeface="宋体"/>
                <a:cs typeface="宋体"/>
              </a:rPr>
              <a:t>件</a:t>
            </a:r>
            <a:r>
              <a:rPr dirty="0" sz="2800" spc="-10">
                <a:latin typeface="Calibri"/>
                <a:cs typeface="Calibri"/>
              </a:rPr>
              <a:t>,</a:t>
            </a:r>
            <a:r>
              <a:rPr dirty="0" sz="2800" spc="-5">
                <a:latin typeface="宋体"/>
                <a:cs typeface="宋体"/>
              </a:rPr>
              <a:t>实施共赢</a:t>
            </a:r>
            <a:r>
              <a:rPr dirty="0" sz="2800">
                <a:latin typeface="宋体"/>
                <a:cs typeface="宋体"/>
              </a:rPr>
              <a:t>策</a:t>
            </a:r>
            <a:r>
              <a:rPr dirty="0" sz="2800" spc="-5">
                <a:latin typeface="宋体"/>
                <a:cs typeface="宋体"/>
              </a:rPr>
              <a:t>略</a:t>
            </a:r>
            <a:endParaRPr sz="2800">
              <a:latin typeface="宋体"/>
              <a:cs typeface="宋体"/>
            </a:endParaRPr>
          </a:p>
          <a:p>
            <a:pPr marL="355600" marR="135255" indent="-343535">
              <a:lnSpc>
                <a:spcPct val="100000"/>
              </a:lnSpc>
              <a:spcBef>
                <a:spcPts val="670"/>
              </a:spcBef>
              <a:buClr>
                <a:srgbClr val="00663B"/>
              </a:buClr>
              <a:buSzPct val="80357"/>
              <a:buFont typeface="Wingdings"/>
              <a:buChar char=""/>
              <a:tabLst>
                <a:tab pos="355600" algn="l"/>
                <a:tab pos="356235" algn="l"/>
                <a:tab pos="942340" algn="l"/>
              </a:tabLst>
            </a:pPr>
            <a:r>
              <a:rPr dirty="0" sz="2800" spc="-5">
                <a:latin typeface="Calibri"/>
                <a:cs typeface="Calibri"/>
              </a:rPr>
              <a:t>L4:	</a:t>
            </a:r>
            <a:r>
              <a:rPr dirty="0" sz="2800" spc="-10">
                <a:latin typeface="宋体"/>
                <a:cs typeface="宋体"/>
              </a:rPr>
              <a:t>了解涉众实现、监控和评估软件</a:t>
            </a:r>
            <a:r>
              <a:rPr dirty="0" sz="2800">
                <a:latin typeface="宋体"/>
                <a:cs typeface="宋体"/>
              </a:rPr>
              <a:t>系</a:t>
            </a:r>
            <a:r>
              <a:rPr dirty="0" sz="2800" spc="-10">
                <a:latin typeface="宋体"/>
                <a:cs typeface="宋体"/>
              </a:rPr>
              <a:t>统的</a:t>
            </a:r>
            <a:r>
              <a:rPr dirty="0" sz="2800">
                <a:latin typeface="宋体"/>
                <a:cs typeface="宋体"/>
              </a:rPr>
              <a:t>能</a:t>
            </a:r>
            <a:r>
              <a:rPr dirty="0" sz="2800" spc="-10">
                <a:latin typeface="宋体"/>
                <a:cs typeface="宋体"/>
              </a:rPr>
              <a:t>力，  </a:t>
            </a:r>
            <a:r>
              <a:rPr dirty="0" sz="2800" spc="-5">
                <a:latin typeface="宋体"/>
                <a:cs typeface="宋体"/>
              </a:rPr>
              <a:t>分析涉众的力量和影响范围；了解</a:t>
            </a:r>
            <a:r>
              <a:rPr dirty="0" sz="2800">
                <a:latin typeface="宋体"/>
                <a:cs typeface="宋体"/>
              </a:rPr>
              <a:t>涉</a:t>
            </a:r>
            <a:r>
              <a:rPr dirty="0" sz="2800" spc="-5">
                <a:latin typeface="宋体"/>
                <a:cs typeface="宋体"/>
              </a:rPr>
              <a:t>众实</a:t>
            </a:r>
            <a:r>
              <a:rPr dirty="0" sz="2800">
                <a:latin typeface="宋体"/>
                <a:cs typeface="宋体"/>
              </a:rPr>
              <a:t>现</a:t>
            </a:r>
            <a:r>
              <a:rPr dirty="0" sz="2800" spc="-5">
                <a:latin typeface="宋体"/>
                <a:cs typeface="宋体"/>
              </a:rPr>
              <a:t>、监 控和评估软件系统的意愿，即分析</a:t>
            </a:r>
            <a:r>
              <a:rPr dirty="0" sz="2800">
                <a:latin typeface="宋体"/>
                <a:cs typeface="宋体"/>
              </a:rPr>
              <a:t>涉</a:t>
            </a:r>
            <a:r>
              <a:rPr dirty="0" sz="2800" spc="-5">
                <a:latin typeface="宋体"/>
                <a:cs typeface="宋体"/>
              </a:rPr>
              <a:t>众的</a:t>
            </a:r>
            <a:r>
              <a:rPr dirty="0" sz="2800">
                <a:latin typeface="宋体"/>
                <a:cs typeface="宋体"/>
              </a:rPr>
              <a:t>关</a:t>
            </a:r>
            <a:r>
              <a:rPr dirty="0" sz="2800" spc="-5">
                <a:latin typeface="宋体"/>
                <a:cs typeface="宋体"/>
              </a:rPr>
              <a:t>注点 </a:t>
            </a:r>
            <a:r>
              <a:rPr dirty="0" sz="2800" spc="-10">
                <a:latin typeface="宋体"/>
                <a:cs typeface="宋体"/>
              </a:rPr>
              <a:t>和兴趣取向。</a:t>
            </a:r>
            <a:endParaRPr sz="2800">
              <a:latin typeface="宋体"/>
              <a:cs typeface="宋体"/>
            </a:endParaRPr>
          </a:p>
          <a:p>
            <a:pPr marL="355600" marR="5080" indent="-343535">
              <a:lnSpc>
                <a:spcPct val="100000"/>
              </a:lnSpc>
              <a:spcBef>
                <a:spcPts val="675"/>
              </a:spcBef>
              <a:buClr>
                <a:srgbClr val="00663B"/>
              </a:buClr>
              <a:buSzPct val="80357"/>
              <a:buFont typeface="Wingdings"/>
              <a:buChar char=""/>
              <a:tabLst>
                <a:tab pos="355600" algn="l"/>
                <a:tab pos="356235" algn="l"/>
                <a:tab pos="942340" algn="l"/>
              </a:tabLst>
            </a:pPr>
            <a:r>
              <a:rPr dirty="0" sz="2800" spc="-5">
                <a:latin typeface="Calibri"/>
                <a:cs typeface="Calibri"/>
              </a:rPr>
              <a:t>L5:	</a:t>
            </a:r>
            <a:r>
              <a:rPr dirty="0" sz="2800" spc="-5">
                <a:latin typeface="宋体"/>
                <a:cs typeface="宋体"/>
              </a:rPr>
              <a:t>了解涉众的个人特征和工作特征</a:t>
            </a:r>
            <a:r>
              <a:rPr dirty="0" sz="2800">
                <a:latin typeface="宋体"/>
                <a:cs typeface="宋体"/>
              </a:rPr>
              <a:t>，</a:t>
            </a:r>
            <a:r>
              <a:rPr dirty="0" sz="2800" spc="-5">
                <a:latin typeface="宋体"/>
                <a:cs typeface="宋体"/>
              </a:rPr>
              <a:t>以便</a:t>
            </a:r>
            <a:r>
              <a:rPr dirty="0" sz="2800">
                <a:latin typeface="宋体"/>
                <a:cs typeface="宋体"/>
              </a:rPr>
              <a:t>在</a:t>
            </a:r>
            <a:r>
              <a:rPr dirty="0" sz="2800" spc="-5">
                <a:latin typeface="宋体"/>
                <a:cs typeface="宋体"/>
              </a:rPr>
              <a:t>涉众 </a:t>
            </a:r>
            <a:r>
              <a:rPr dirty="0" sz="2800" spc="-5">
                <a:latin typeface="宋体"/>
                <a:cs typeface="宋体"/>
              </a:rPr>
              <a:t>固定的</a:t>
            </a:r>
            <a:r>
              <a:rPr dirty="0" sz="2800">
                <a:latin typeface="宋体"/>
                <a:cs typeface="宋体"/>
              </a:rPr>
              <a:t>情</a:t>
            </a:r>
            <a:r>
              <a:rPr dirty="0" sz="2800" spc="-5">
                <a:latin typeface="宋体"/>
                <a:cs typeface="宋体"/>
              </a:rPr>
              <a:t>况下</a:t>
            </a:r>
            <a:r>
              <a:rPr dirty="0" sz="2800">
                <a:latin typeface="宋体"/>
                <a:cs typeface="宋体"/>
              </a:rPr>
              <a:t>对</a:t>
            </a:r>
            <a:r>
              <a:rPr dirty="0" sz="2800">
                <a:solidFill>
                  <a:srgbClr val="C00000"/>
                </a:solidFill>
                <a:latin typeface="宋体"/>
                <a:cs typeface="宋体"/>
              </a:rPr>
              <a:t>软</a:t>
            </a:r>
            <a:r>
              <a:rPr dirty="0" sz="2800" spc="-5">
                <a:solidFill>
                  <a:srgbClr val="C00000"/>
                </a:solidFill>
                <a:latin typeface="宋体"/>
                <a:cs typeface="宋体"/>
              </a:rPr>
              <a:t>件系统</a:t>
            </a:r>
            <a:r>
              <a:rPr dirty="0" sz="2800">
                <a:solidFill>
                  <a:srgbClr val="C00000"/>
                </a:solidFill>
                <a:latin typeface="宋体"/>
                <a:cs typeface="宋体"/>
              </a:rPr>
              <a:t>的</a:t>
            </a:r>
            <a:r>
              <a:rPr dirty="0" sz="2800" spc="-5">
                <a:solidFill>
                  <a:srgbClr val="C00000"/>
                </a:solidFill>
                <a:latin typeface="宋体"/>
                <a:cs typeface="宋体"/>
              </a:rPr>
              <a:t>功能进</a:t>
            </a:r>
            <a:r>
              <a:rPr dirty="0" sz="2800">
                <a:solidFill>
                  <a:srgbClr val="C00000"/>
                </a:solidFill>
                <a:latin typeface="宋体"/>
                <a:cs typeface="宋体"/>
              </a:rPr>
              <a:t>行</a:t>
            </a:r>
            <a:r>
              <a:rPr dirty="0" sz="2800" spc="-5">
                <a:solidFill>
                  <a:srgbClr val="C00000"/>
                </a:solidFill>
                <a:latin typeface="宋体"/>
                <a:cs typeface="宋体"/>
              </a:rPr>
              <a:t>合理的</a:t>
            </a:r>
            <a:r>
              <a:rPr dirty="0" sz="2800">
                <a:solidFill>
                  <a:srgbClr val="C00000"/>
                </a:solidFill>
                <a:latin typeface="宋体"/>
                <a:cs typeface="宋体"/>
              </a:rPr>
              <a:t>调</a:t>
            </a:r>
            <a:r>
              <a:rPr dirty="0" sz="2800" spc="15">
                <a:solidFill>
                  <a:srgbClr val="C00000"/>
                </a:solidFill>
                <a:latin typeface="宋体"/>
                <a:cs typeface="宋体"/>
              </a:rPr>
              <a:t>整</a:t>
            </a:r>
            <a:r>
              <a:rPr dirty="0" sz="2800" spc="-5">
                <a:latin typeface="宋体"/>
                <a:cs typeface="宋体"/>
              </a:rPr>
              <a:t>。</a:t>
            </a:r>
            <a:endParaRPr sz="2800">
              <a:latin typeface="宋体"/>
              <a:cs typeface="宋体"/>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0429" y="472566"/>
            <a:ext cx="2263140" cy="696595"/>
          </a:xfrm>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7598"/>
            <a:ext cx="4399915" cy="4519930"/>
          </a:xfrm>
          <a:prstGeom prst="rect">
            <a:avLst/>
          </a:prstGeom>
        </p:spPr>
        <p:txBody>
          <a:bodyPr wrap="square" lIns="0" tIns="61594" rIns="0" bIns="0" rtlCol="0" vert="horz">
            <a:spAutoFit/>
          </a:bodyPr>
          <a:lstStyle/>
          <a:p>
            <a:pPr lvl="1" marL="724535" indent="-712470">
              <a:lnSpc>
                <a:spcPct val="100000"/>
              </a:lnSpc>
              <a:spcBef>
                <a:spcPts val="484"/>
              </a:spcBef>
              <a:buFont typeface="Calibri"/>
              <a:buAutoNum type="arabicPeriod"/>
              <a:tabLst>
                <a:tab pos="725170" algn="l"/>
              </a:tabLst>
            </a:pPr>
            <a:r>
              <a:rPr dirty="0" sz="3200">
                <a:latin typeface="宋体"/>
                <a:cs typeface="宋体"/>
              </a:rPr>
              <a:t>涉众分析的必要性</a:t>
            </a:r>
            <a:endParaRPr sz="3200">
              <a:latin typeface="宋体"/>
              <a:cs typeface="宋体"/>
            </a:endParaRPr>
          </a:p>
          <a:p>
            <a:pPr lvl="1" marL="724535" indent="-712470">
              <a:lnSpc>
                <a:spcPct val="100000"/>
              </a:lnSpc>
              <a:spcBef>
                <a:spcPts val="390"/>
              </a:spcBef>
              <a:buFont typeface="Calibri"/>
              <a:buAutoNum type="arabicPeriod"/>
              <a:tabLst>
                <a:tab pos="725170" algn="l"/>
              </a:tabLst>
            </a:pPr>
            <a:r>
              <a:rPr dirty="0" sz="3200">
                <a:latin typeface="宋体"/>
                <a:cs typeface="宋体"/>
              </a:rPr>
              <a:t>涉众分析的主要内容</a:t>
            </a:r>
            <a:endParaRPr sz="3200">
              <a:latin typeface="宋体"/>
              <a:cs typeface="宋体"/>
            </a:endParaRPr>
          </a:p>
          <a:p>
            <a:pPr lvl="1" marL="724535" indent="-712470">
              <a:lnSpc>
                <a:spcPct val="100000"/>
              </a:lnSpc>
              <a:spcBef>
                <a:spcPts val="384"/>
              </a:spcBef>
              <a:buFont typeface="Calibri"/>
              <a:buAutoNum type="arabicPeriod"/>
              <a:tabLst>
                <a:tab pos="725170" algn="l"/>
              </a:tabLst>
            </a:pPr>
            <a:r>
              <a:rPr dirty="0" sz="3200">
                <a:solidFill>
                  <a:srgbClr val="FF0000"/>
                </a:solidFill>
                <a:latin typeface="宋体"/>
                <a:cs typeface="宋体"/>
              </a:rPr>
              <a:t>涉众分析过程</a:t>
            </a:r>
            <a:endParaRPr sz="3200">
              <a:latin typeface="宋体"/>
              <a:cs typeface="宋体"/>
            </a:endParaRPr>
          </a:p>
          <a:p>
            <a:pPr lvl="2" marL="852169" indent="-495934">
              <a:lnSpc>
                <a:spcPct val="100000"/>
              </a:lnSpc>
              <a:spcBef>
                <a:spcPts val="350"/>
              </a:spcBef>
              <a:buClr>
                <a:srgbClr val="C00000"/>
              </a:buClr>
              <a:buSzPct val="58928"/>
              <a:buFont typeface="Calibri"/>
              <a:buAutoNum type="arabicPeriod"/>
              <a:tabLst>
                <a:tab pos="852169" algn="l"/>
                <a:tab pos="852805" algn="l"/>
              </a:tabLst>
            </a:pPr>
            <a:r>
              <a:rPr dirty="0" sz="2800" spc="-10">
                <a:solidFill>
                  <a:srgbClr val="FF0000"/>
                </a:solidFill>
                <a:latin typeface="宋体"/>
                <a:cs typeface="宋体"/>
              </a:rPr>
              <a:t>总体过程</a:t>
            </a:r>
            <a:endParaRPr sz="2800">
              <a:latin typeface="宋体"/>
              <a:cs typeface="宋体"/>
            </a:endParaRPr>
          </a:p>
          <a:p>
            <a:pPr lvl="2" marL="852169" indent="-495934">
              <a:lnSpc>
                <a:spcPct val="100000"/>
              </a:lnSpc>
              <a:spcBef>
                <a:spcPts val="340"/>
              </a:spcBef>
              <a:buClr>
                <a:srgbClr val="C00000"/>
              </a:buClr>
              <a:buSzPct val="58928"/>
              <a:buFont typeface="Calibri"/>
              <a:buAutoNum type="arabicPeriod"/>
              <a:tabLst>
                <a:tab pos="852169" algn="l"/>
                <a:tab pos="852805" algn="l"/>
              </a:tabLst>
            </a:pPr>
            <a:r>
              <a:rPr dirty="0" sz="2800" spc="-5">
                <a:solidFill>
                  <a:srgbClr val="FF0000"/>
                </a:solidFill>
                <a:latin typeface="宋体"/>
                <a:cs typeface="宋体"/>
              </a:rPr>
              <a:t>识别</a:t>
            </a:r>
            <a:endParaRPr sz="2800">
              <a:latin typeface="宋体"/>
              <a:cs typeface="宋体"/>
            </a:endParaRPr>
          </a:p>
          <a:p>
            <a:pPr lvl="2" marL="852169" indent="-495934">
              <a:lnSpc>
                <a:spcPct val="100000"/>
              </a:lnSpc>
              <a:spcBef>
                <a:spcPts val="335"/>
              </a:spcBef>
              <a:buClr>
                <a:srgbClr val="C00000"/>
              </a:buClr>
              <a:buSzPct val="58928"/>
              <a:buFont typeface="Calibri"/>
              <a:buAutoNum type="arabicPeriod"/>
              <a:tabLst>
                <a:tab pos="852169" algn="l"/>
                <a:tab pos="852805" algn="l"/>
              </a:tabLst>
            </a:pPr>
            <a:r>
              <a:rPr dirty="0" sz="2800" spc="-5">
                <a:solidFill>
                  <a:srgbClr val="FF0000"/>
                </a:solidFill>
                <a:latin typeface="宋体"/>
                <a:cs typeface="宋体"/>
              </a:rPr>
              <a:t>描述</a:t>
            </a:r>
            <a:endParaRPr sz="2800">
              <a:latin typeface="宋体"/>
              <a:cs typeface="宋体"/>
            </a:endParaRPr>
          </a:p>
          <a:p>
            <a:pPr lvl="2" marL="852169" indent="-495934">
              <a:lnSpc>
                <a:spcPct val="100000"/>
              </a:lnSpc>
              <a:spcBef>
                <a:spcPts val="335"/>
              </a:spcBef>
              <a:buClr>
                <a:srgbClr val="C00000"/>
              </a:buClr>
              <a:buSzPct val="58928"/>
              <a:buFont typeface="Calibri"/>
              <a:buAutoNum type="arabicPeriod"/>
              <a:tabLst>
                <a:tab pos="852169" algn="l"/>
                <a:tab pos="852805" algn="l"/>
              </a:tabLst>
            </a:pPr>
            <a:r>
              <a:rPr dirty="0" sz="2800" spc="-10">
                <a:solidFill>
                  <a:srgbClr val="FF0000"/>
                </a:solidFill>
                <a:latin typeface="宋体"/>
                <a:cs typeface="宋体"/>
              </a:rPr>
              <a:t>评估</a:t>
            </a:r>
            <a:endParaRPr sz="2800">
              <a:latin typeface="宋体"/>
              <a:cs typeface="宋体"/>
            </a:endParaRPr>
          </a:p>
          <a:p>
            <a:pPr lvl="2" marL="852169" indent="-495934">
              <a:lnSpc>
                <a:spcPct val="100000"/>
              </a:lnSpc>
              <a:spcBef>
                <a:spcPts val="340"/>
              </a:spcBef>
              <a:buClr>
                <a:srgbClr val="C00000"/>
              </a:buClr>
              <a:buSzPct val="58928"/>
              <a:buFont typeface="Calibri"/>
              <a:buAutoNum type="arabicPeriod"/>
              <a:tabLst>
                <a:tab pos="852169" algn="l"/>
                <a:tab pos="852805" algn="l"/>
              </a:tabLst>
            </a:pPr>
            <a:r>
              <a:rPr dirty="0" sz="2800" spc="-5">
                <a:solidFill>
                  <a:srgbClr val="FF0000"/>
                </a:solidFill>
                <a:latin typeface="宋体"/>
                <a:cs typeface="宋体"/>
              </a:rPr>
              <a:t>选择</a:t>
            </a:r>
            <a:endParaRPr sz="2800">
              <a:latin typeface="宋体"/>
              <a:cs typeface="宋体"/>
            </a:endParaRPr>
          </a:p>
          <a:p>
            <a:pPr lvl="1" marL="724535" indent="-712470">
              <a:lnSpc>
                <a:spcPct val="100000"/>
              </a:lnSpc>
              <a:spcBef>
                <a:spcPts val="365"/>
              </a:spcBef>
              <a:buFont typeface="Calibri"/>
              <a:buAutoNum type="arabicPeriod"/>
              <a:tabLst>
                <a:tab pos="725170" algn="l"/>
              </a:tabLst>
            </a:pPr>
            <a:r>
              <a:rPr dirty="0" sz="3200">
                <a:latin typeface="宋体"/>
                <a:cs typeface="宋体"/>
              </a:rPr>
              <a:t>硬数据采样</a:t>
            </a:r>
            <a:endParaRPr sz="3200">
              <a:latin typeface="宋体"/>
              <a:cs typeface="宋体"/>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2436" y="218008"/>
            <a:ext cx="5198745"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3.3.1</a:t>
            </a:r>
            <a:r>
              <a:rPr dirty="0" spc="-95">
                <a:latin typeface="Calibri"/>
                <a:cs typeface="Calibri"/>
              </a:rPr>
              <a:t> </a:t>
            </a:r>
            <a:r>
              <a:rPr dirty="0"/>
              <a:t>涉众分析的过程</a:t>
            </a:r>
          </a:p>
        </p:txBody>
      </p:sp>
      <p:sp>
        <p:nvSpPr>
          <p:cNvPr id="3" name="object 3"/>
          <p:cNvSpPr/>
          <p:nvPr/>
        </p:nvSpPr>
        <p:spPr>
          <a:xfrm>
            <a:off x="21882" y="4058573"/>
            <a:ext cx="909319" cy="454025"/>
          </a:xfrm>
          <a:custGeom>
            <a:avLst/>
            <a:gdLst/>
            <a:ahLst/>
            <a:cxnLst/>
            <a:rect l="l" t="t" r="r" b="b"/>
            <a:pathLst>
              <a:path w="909319" h="454025">
                <a:moveTo>
                  <a:pt x="0" y="453456"/>
                </a:moveTo>
                <a:lnTo>
                  <a:pt x="908857" y="453456"/>
                </a:lnTo>
                <a:lnTo>
                  <a:pt x="908857" y="0"/>
                </a:lnTo>
                <a:lnTo>
                  <a:pt x="0" y="0"/>
                </a:lnTo>
                <a:lnTo>
                  <a:pt x="0" y="453456"/>
                </a:lnTo>
                <a:close/>
              </a:path>
            </a:pathLst>
          </a:custGeom>
          <a:solidFill>
            <a:srgbClr val="E8EDF7"/>
          </a:solidFill>
        </p:spPr>
        <p:txBody>
          <a:bodyPr wrap="square" lIns="0" tIns="0" rIns="0" bIns="0" rtlCol="0"/>
          <a:lstStyle/>
          <a:p/>
        </p:txBody>
      </p:sp>
      <p:sp>
        <p:nvSpPr>
          <p:cNvPr id="4" name="object 4"/>
          <p:cNvSpPr/>
          <p:nvPr/>
        </p:nvSpPr>
        <p:spPr>
          <a:xfrm>
            <a:off x="1657787" y="3831829"/>
            <a:ext cx="909319" cy="907415"/>
          </a:xfrm>
          <a:custGeom>
            <a:avLst/>
            <a:gdLst/>
            <a:ahLst/>
            <a:cxnLst/>
            <a:rect l="l" t="t" r="r" b="b"/>
            <a:pathLst>
              <a:path w="909319" h="907414">
                <a:moveTo>
                  <a:pt x="454484" y="0"/>
                </a:moveTo>
                <a:lnTo>
                  <a:pt x="408009" y="2340"/>
                </a:lnTo>
                <a:lnTo>
                  <a:pt x="362877" y="9212"/>
                </a:lnTo>
                <a:lnTo>
                  <a:pt x="319318" y="20385"/>
                </a:lnTo>
                <a:lnTo>
                  <a:pt x="277560" y="35633"/>
                </a:lnTo>
                <a:lnTo>
                  <a:pt x="237830" y="54728"/>
                </a:lnTo>
                <a:lnTo>
                  <a:pt x="200358" y="77442"/>
                </a:lnTo>
                <a:lnTo>
                  <a:pt x="165372" y="103547"/>
                </a:lnTo>
                <a:lnTo>
                  <a:pt x="133099" y="132816"/>
                </a:lnTo>
                <a:lnTo>
                  <a:pt x="103768" y="165021"/>
                </a:lnTo>
                <a:lnTo>
                  <a:pt x="77607" y="199933"/>
                </a:lnTo>
                <a:lnTo>
                  <a:pt x="54845" y="237326"/>
                </a:lnTo>
                <a:lnTo>
                  <a:pt x="35709" y="276971"/>
                </a:lnTo>
                <a:lnTo>
                  <a:pt x="20428" y="318640"/>
                </a:lnTo>
                <a:lnTo>
                  <a:pt x="9231" y="362107"/>
                </a:lnTo>
                <a:lnTo>
                  <a:pt x="2345" y="407143"/>
                </a:lnTo>
                <a:lnTo>
                  <a:pt x="0" y="453520"/>
                </a:lnTo>
                <a:lnTo>
                  <a:pt x="2345" y="499869"/>
                </a:lnTo>
                <a:lnTo>
                  <a:pt x="9231" y="544881"/>
                </a:lnTo>
                <a:lnTo>
                  <a:pt x="20428" y="588329"/>
                </a:lnTo>
                <a:lnTo>
                  <a:pt x="35709" y="629983"/>
                </a:lnTo>
                <a:lnTo>
                  <a:pt x="54845" y="669617"/>
                </a:lnTo>
                <a:lnTo>
                  <a:pt x="77607" y="707000"/>
                </a:lnTo>
                <a:lnTo>
                  <a:pt x="103768" y="741907"/>
                </a:lnTo>
                <a:lnTo>
                  <a:pt x="133099" y="774107"/>
                </a:lnTo>
                <a:lnTo>
                  <a:pt x="165372" y="803374"/>
                </a:lnTo>
                <a:lnTo>
                  <a:pt x="200358" y="829478"/>
                </a:lnTo>
                <a:lnTo>
                  <a:pt x="237830" y="852193"/>
                </a:lnTo>
                <a:lnTo>
                  <a:pt x="277560" y="871289"/>
                </a:lnTo>
                <a:lnTo>
                  <a:pt x="319318" y="886539"/>
                </a:lnTo>
                <a:lnTo>
                  <a:pt x="362877" y="897714"/>
                </a:lnTo>
                <a:lnTo>
                  <a:pt x="408009" y="904586"/>
                </a:lnTo>
                <a:lnTo>
                  <a:pt x="454484" y="906928"/>
                </a:lnTo>
                <a:lnTo>
                  <a:pt x="500934" y="904586"/>
                </a:lnTo>
                <a:lnTo>
                  <a:pt x="546045" y="897714"/>
                </a:lnTo>
                <a:lnTo>
                  <a:pt x="589591" y="886539"/>
                </a:lnTo>
                <a:lnTo>
                  <a:pt x="631341" y="871289"/>
                </a:lnTo>
                <a:lnTo>
                  <a:pt x="671067" y="852193"/>
                </a:lnTo>
                <a:lnTo>
                  <a:pt x="708540" y="829478"/>
                </a:lnTo>
                <a:lnTo>
                  <a:pt x="743530" y="803374"/>
                </a:lnTo>
                <a:lnTo>
                  <a:pt x="775810" y="774107"/>
                </a:lnTo>
                <a:lnTo>
                  <a:pt x="805149" y="741907"/>
                </a:lnTo>
                <a:lnTo>
                  <a:pt x="831319" y="707000"/>
                </a:lnTo>
                <a:lnTo>
                  <a:pt x="854092" y="669617"/>
                </a:lnTo>
                <a:lnTo>
                  <a:pt x="873237" y="629983"/>
                </a:lnTo>
                <a:lnTo>
                  <a:pt x="888526" y="588329"/>
                </a:lnTo>
                <a:lnTo>
                  <a:pt x="899731" y="544881"/>
                </a:lnTo>
                <a:lnTo>
                  <a:pt x="906621" y="499869"/>
                </a:lnTo>
                <a:lnTo>
                  <a:pt x="908969" y="453520"/>
                </a:lnTo>
                <a:lnTo>
                  <a:pt x="906621" y="407143"/>
                </a:lnTo>
                <a:lnTo>
                  <a:pt x="899731" y="362107"/>
                </a:lnTo>
                <a:lnTo>
                  <a:pt x="888526" y="318640"/>
                </a:lnTo>
                <a:lnTo>
                  <a:pt x="873237" y="276971"/>
                </a:lnTo>
                <a:lnTo>
                  <a:pt x="854092" y="237326"/>
                </a:lnTo>
                <a:lnTo>
                  <a:pt x="831319" y="199933"/>
                </a:lnTo>
                <a:lnTo>
                  <a:pt x="805149" y="165021"/>
                </a:lnTo>
                <a:lnTo>
                  <a:pt x="775810" y="132816"/>
                </a:lnTo>
                <a:lnTo>
                  <a:pt x="743530" y="103547"/>
                </a:lnTo>
                <a:lnTo>
                  <a:pt x="708540" y="77442"/>
                </a:lnTo>
                <a:lnTo>
                  <a:pt x="671067" y="54728"/>
                </a:lnTo>
                <a:lnTo>
                  <a:pt x="631341" y="35633"/>
                </a:lnTo>
                <a:lnTo>
                  <a:pt x="589591" y="20385"/>
                </a:lnTo>
                <a:lnTo>
                  <a:pt x="546045" y="9212"/>
                </a:lnTo>
                <a:lnTo>
                  <a:pt x="500934" y="2340"/>
                </a:lnTo>
                <a:lnTo>
                  <a:pt x="454484" y="0"/>
                </a:lnTo>
                <a:close/>
              </a:path>
            </a:pathLst>
          </a:custGeom>
          <a:solidFill>
            <a:srgbClr val="E8EDF7"/>
          </a:solidFill>
        </p:spPr>
        <p:txBody>
          <a:bodyPr wrap="square" lIns="0" tIns="0" rIns="0" bIns="0" rtlCol="0"/>
          <a:lstStyle/>
          <a:p/>
        </p:txBody>
      </p:sp>
      <p:sp>
        <p:nvSpPr>
          <p:cNvPr id="5" name="object 5"/>
          <p:cNvSpPr/>
          <p:nvPr/>
        </p:nvSpPr>
        <p:spPr>
          <a:xfrm>
            <a:off x="1657787" y="3831829"/>
            <a:ext cx="909319" cy="907415"/>
          </a:xfrm>
          <a:custGeom>
            <a:avLst/>
            <a:gdLst/>
            <a:ahLst/>
            <a:cxnLst/>
            <a:rect l="l" t="t" r="r" b="b"/>
            <a:pathLst>
              <a:path w="909319" h="907414">
                <a:moveTo>
                  <a:pt x="0" y="453520"/>
                </a:moveTo>
                <a:lnTo>
                  <a:pt x="2345" y="407143"/>
                </a:lnTo>
                <a:lnTo>
                  <a:pt x="9231" y="362107"/>
                </a:lnTo>
                <a:lnTo>
                  <a:pt x="20428" y="318640"/>
                </a:lnTo>
                <a:lnTo>
                  <a:pt x="35709" y="276971"/>
                </a:lnTo>
                <a:lnTo>
                  <a:pt x="54845" y="237326"/>
                </a:lnTo>
                <a:lnTo>
                  <a:pt x="77607" y="199933"/>
                </a:lnTo>
                <a:lnTo>
                  <a:pt x="103768" y="165021"/>
                </a:lnTo>
                <a:lnTo>
                  <a:pt x="133099" y="132816"/>
                </a:lnTo>
                <a:lnTo>
                  <a:pt x="165372" y="103547"/>
                </a:lnTo>
                <a:lnTo>
                  <a:pt x="200358" y="77442"/>
                </a:lnTo>
                <a:lnTo>
                  <a:pt x="237830" y="54728"/>
                </a:lnTo>
                <a:lnTo>
                  <a:pt x="277560" y="35633"/>
                </a:lnTo>
                <a:lnTo>
                  <a:pt x="319318" y="20385"/>
                </a:lnTo>
                <a:lnTo>
                  <a:pt x="362877" y="9212"/>
                </a:lnTo>
                <a:lnTo>
                  <a:pt x="408009" y="2340"/>
                </a:lnTo>
                <a:lnTo>
                  <a:pt x="454484" y="0"/>
                </a:lnTo>
                <a:lnTo>
                  <a:pt x="500934" y="2340"/>
                </a:lnTo>
                <a:lnTo>
                  <a:pt x="546045" y="9212"/>
                </a:lnTo>
                <a:lnTo>
                  <a:pt x="589591" y="20385"/>
                </a:lnTo>
                <a:lnTo>
                  <a:pt x="631341" y="35633"/>
                </a:lnTo>
                <a:lnTo>
                  <a:pt x="671067" y="54728"/>
                </a:lnTo>
                <a:lnTo>
                  <a:pt x="708540" y="77442"/>
                </a:lnTo>
                <a:lnTo>
                  <a:pt x="743530" y="103547"/>
                </a:lnTo>
                <a:lnTo>
                  <a:pt x="775810" y="132816"/>
                </a:lnTo>
                <a:lnTo>
                  <a:pt x="805149" y="165021"/>
                </a:lnTo>
                <a:lnTo>
                  <a:pt x="831320" y="199933"/>
                </a:lnTo>
                <a:lnTo>
                  <a:pt x="854092" y="237326"/>
                </a:lnTo>
                <a:lnTo>
                  <a:pt x="873237" y="276971"/>
                </a:lnTo>
                <a:lnTo>
                  <a:pt x="888526" y="318640"/>
                </a:lnTo>
                <a:lnTo>
                  <a:pt x="899731" y="362107"/>
                </a:lnTo>
                <a:lnTo>
                  <a:pt x="906621" y="407143"/>
                </a:lnTo>
                <a:lnTo>
                  <a:pt x="908969" y="453520"/>
                </a:lnTo>
                <a:lnTo>
                  <a:pt x="906621" y="499869"/>
                </a:lnTo>
                <a:lnTo>
                  <a:pt x="899731" y="544881"/>
                </a:lnTo>
                <a:lnTo>
                  <a:pt x="888526" y="588329"/>
                </a:lnTo>
                <a:lnTo>
                  <a:pt x="873237" y="629983"/>
                </a:lnTo>
                <a:lnTo>
                  <a:pt x="854092" y="669617"/>
                </a:lnTo>
                <a:lnTo>
                  <a:pt x="831320" y="707000"/>
                </a:lnTo>
                <a:lnTo>
                  <a:pt x="805149" y="741907"/>
                </a:lnTo>
                <a:lnTo>
                  <a:pt x="775810" y="774107"/>
                </a:lnTo>
                <a:lnTo>
                  <a:pt x="743530" y="803374"/>
                </a:lnTo>
                <a:lnTo>
                  <a:pt x="708540" y="829478"/>
                </a:lnTo>
                <a:lnTo>
                  <a:pt x="671067" y="852193"/>
                </a:lnTo>
                <a:lnTo>
                  <a:pt x="631341" y="871289"/>
                </a:lnTo>
                <a:lnTo>
                  <a:pt x="589591" y="886539"/>
                </a:lnTo>
                <a:lnTo>
                  <a:pt x="546045" y="897714"/>
                </a:lnTo>
                <a:lnTo>
                  <a:pt x="500934" y="904586"/>
                </a:lnTo>
                <a:lnTo>
                  <a:pt x="454484" y="906928"/>
                </a:lnTo>
                <a:lnTo>
                  <a:pt x="408009" y="904586"/>
                </a:lnTo>
                <a:lnTo>
                  <a:pt x="362877" y="897714"/>
                </a:lnTo>
                <a:lnTo>
                  <a:pt x="319318" y="886539"/>
                </a:lnTo>
                <a:lnTo>
                  <a:pt x="277560" y="871289"/>
                </a:lnTo>
                <a:lnTo>
                  <a:pt x="237830" y="852193"/>
                </a:lnTo>
                <a:lnTo>
                  <a:pt x="200358" y="829478"/>
                </a:lnTo>
                <a:lnTo>
                  <a:pt x="165372" y="803374"/>
                </a:lnTo>
                <a:lnTo>
                  <a:pt x="133099" y="774107"/>
                </a:lnTo>
                <a:lnTo>
                  <a:pt x="103768" y="741907"/>
                </a:lnTo>
                <a:lnTo>
                  <a:pt x="77607" y="707000"/>
                </a:lnTo>
                <a:lnTo>
                  <a:pt x="54845" y="669617"/>
                </a:lnTo>
                <a:lnTo>
                  <a:pt x="35709" y="629983"/>
                </a:lnTo>
                <a:lnTo>
                  <a:pt x="20428" y="588329"/>
                </a:lnTo>
                <a:lnTo>
                  <a:pt x="9231" y="544881"/>
                </a:lnTo>
                <a:lnTo>
                  <a:pt x="2345" y="499869"/>
                </a:lnTo>
                <a:lnTo>
                  <a:pt x="0" y="453520"/>
                </a:lnTo>
                <a:close/>
              </a:path>
            </a:pathLst>
          </a:custGeom>
          <a:ln w="3843">
            <a:solidFill>
              <a:srgbClr val="000000"/>
            </a:solidFill>
          </a:ln>
        </p:spPr>
        <p:txBody>
          <a:bodyPr wrap="square" lIns="0" tIns="0" rIns="0" bIns="0" rtlCol="0"/>
          <a:lstStyle/>
          <a:p/>
        </p:txBody>
      </p:sp>
      <p:sp>
        <p:nvSpPr>
          <p:cNvPr id="6" name="object 6"/>
          <p:cNvSpPr/>
          <p:nvPr/>
        </p:nvSpPr>
        <p:spPr>
          <a:xfrm>
            <a:off x="3566463" y="3831829"/>
            <a:ext cx="909319" cy="907415"/>
          </a:xfrm>
          <a:custGeom>
            <a:avLst/>
            <a:gdLst/>
            <a:ahLst/>
            <a:cxnLst/>
            <a:rect l="l" t="t" r="r" b="b"/>
            <a:pathLst>
              <a:path w="909320" h="907414">
                <a:moveTo>
                  <a:pt x="454324" y="0"/>
                </a:moveTo>
                <a:lnTo>
                  <a:pt x="407877" y="2340"/>
                </a:lnTo>
                <a:lnTo>
                  <a:pt x="362770" y="9212"/>
                </a:lnTo>
                <a:lnTo>
                  <a:pt x="319232" y="20385"/>
                </a:lnTo>
                <a:lnTo>
                  <a:pt x="277492" y="35633"/>
                </a:lnTo>
                <a:lnTo>
                  <a:pt x="237778" y="54728"/>
                </a:lnTo>
                <a:lnTo>
                  <a:pt x="200319" y="77442"/>
                </a:lnTo>
                <a:lnTo>
                  <a:pt x="165343" y="103547"/>
                </a:lnTo>
                <a:lnTo>
                  <a:pt x="133079" y="132816"/>
                </a:lnTo>
                <a:lnTo>
                  <a:pt x="103754" y="165021"/>
                </a:lnTo>
                <a:lnTo>
                  <a:pt x="77598" y="199933"/>
                </a:lnTo>
                <a:lnTo>
                  <a:pt x="54840" y="237326"/>
                </a:lnTo>
                <a:lnTo>
                  <a:pt x="35707" y="276971"/>
                </a:lnTo>
                <a:lnTo>
                  <a:pt x="20427" y="318640"/>
                </a:lnTo>
                <a:lnTo>
                  <a:pt x="9231" y="362107"/>
                </a:lnTo>
                <a:lnTo>
                  <a:pt x="2345" y="407143"/>
                </a:lnTo>
                <a:lnTo>
                  <a:pt x="0" y="453520"/>
                </a:lnTo>
                <a:lnTo>
                  <a:pt x="2345" y="499869"/>
                </a:lnTo>
                <a:lnTo>
                  <a:pt x="9231" y="544881"/>
                </a:lnTo>
                <a:lnTo>
                  <a:pt x="20427" y="588329"/>
                </a:lnTo>
                <a:lnTo>
                  <a:pt x="35707" y="629983"/>
                </a:lnTo>
                <a:lnTo>
                  <a:pt x="54840" y="669617"/>
                </a:lnTo>
                <a:lnTo>
                  <a:pt x="77598" y="707000"/>
                </a:lnTo>
                <a:lnTo>
                  <a:pt x="103754" y="741907"/>
                </a:lnTo>
                <a:lnTo>
                  <a:pt x="133079" y="774107"/>
                </a:lnTo>
                <a:lnTo>
                  <a:pt x="165343" y="803374"/>
                </a:lnTo>
                <a:lnTo>
                  <a:pt x="200319" y="829478"/>
                </a:lnTo>
                <a:lnTo>
                  <a:pt x="237778" y="852193"/>
                </a:lnTo>
                <a:lnTo>
                  <a:pt x="277492" y="871289"/>
                </a:lnTo>
                <a:lnTo>
                  <a:pt x="319232" y="886539"/>
                </a:lnTo>
                <a:lnTo>
                  <a:pt x="362770" y="897714"/>
                </a:lnTo>
                <a:lnTo>
                  <a:pt x="407877" y="904586"/>
                </a:lnTo>
                <a:lnTo>
                  <a:pt x="454324" y="906928"/>
                </a:lnTo>
                <a:lnTo>
                  <a:pt x="500800" y="904586"/>
                </a:lnTo>
                <a:lnTo>
                  <a:pt x="545931" y="897714"/>
                </a:lnTo>
                <a:lnTo>
                  <a:pt x="589490" y="886539"/>
                </a:lnTo>
                <a:lnTo>
                  <a:pt x="631248" y="871289"/>
                </a:lnTo>
                <a:lnTo>
                  <a:pt x="670978" y="852193"/>
                </a:lnTo>
                <a:lnTo>
                  <a:pt x="708450" y="829478"/>
                </a:lnTo>
                <a:lnTo>
                  <a:pt x="743437" y="803374"/>
                </a:lnTo>
                <a:lnTo>
                  <a:pt x="775710" y="774107"/>
                </a:lnTo>
                <a:lnTo>
                  <a:pt x="805041" y="741907"/>
                </a:lnTo>
                <a:lnTo>
                  <a:pt x="831201" y="707000"/>
                </a:lnTo>
                <a:lnTo>
                  <a:pt x="853964" y="669617"/>
                </a:lnTo>
                <a:lnTo>
                  <a:pt x="873099" y="629983"/>
                </a:lnTo>
                <a:lnTo>
                  <a:pt x="888380" y="588329"/>
                </a:lnTo>
                <a:lnTo>
                  <a:pt x="899577" y="544881"/>
                </a:lnTo>
                <a:lnTo>
                  <a:pt x="906463" y="499869"/>
                </a:lnTo>
                <a:lnTo>
                  <a:pt x="908809" y="453520"/>
                </a:lnTo>
                <a:lnTo>
                  <a:pt x="906463" y="407143"/>
                </a:lnTo>
                <a:lnTo>
                  <a:pt x="899577" y="362107"/>
                </a:lnTo>
                <a:lnTo>
                  <a:pt x="888380" y="318640"/>
                </a:lnTo>
                <a:lnTo>
                  <a:pt x="873099" y="276971"/>
                </a:lnTo>
                <a:lnTo>
                  <a:pt x="853964" y="237326"/>
                </a:lnTo>
                <a:lnTo>
                  <a:pt x="831201" y="199933"/>
                </a:lnTo>
                <a:lnTo>
                  <a:pt x="805041" y="165021"/>
                </a:lnTo>
                <a:lnTo>
                  <a:pt x="775710" y="132816"/>
                </a:lnTo>
                <a:lnTo>
                  <a:pt x="743437" y="103547"/>
                </a:lnTo>
                <a:lnTo>
                  <a:pt x="708450" y="77442"/>
                </a:lnTo>
                <a:lnTo>
                  <a:pt x="670978" y="54728"/>
                </a:lnTo>
                <a:lnTo>
                  <a:pt x="631248" y="35633"/>
                </a:lnTo>
                <a:lnTo>
                  <a:pt x="589490" y="20385"/>
                </a:lnTo>
                <a:lnTo>
                  <a:pt x="545931" y="9212"/>
                </a:lnTo>
                <a:lnTo>
                  <a:pt x="500800" y="2340"/>
                </a:lnTo>
                <a:lnTo>
                  <a:pt x="454324" y="0"/>
                </a:lnTo>
                <a:close/>
              </a:path>
            </a:pathLst>
          </a:custGeom>
          <a:solidFill>
            <a:srgbClr val="E8EDF7"/>
          </a:solidFill>
        </p:spPr>
        <p:txBody>
          <a:bodyPr wrap="square" lIns="0" tIns="0" rIns="0" bIns="0" rtlCol="0"/>
          <a:lstStyle/>
          <a:p/>
        </p:txBody>
      </p:sp>
      <p:sp>
        <p:nvSpPr>
          <p:cNvPr id="7" name="object 7"/>
          <p:cNvSpPr/>
          <p:nvPr/>
        </p:nvSpPr>
        <p:spPr>
          <a:xfrm>
            <a:off x="3566463" y="3831829"/>
            <a:ext cx="909319" cy="907415"/>
          </a:xfrm>
          <a:custGeom>
            <a:avLst/>
            <a:gdLst/>
            <a:ahLst/>
            <a:cxnLst/>
            <a:rect l="l" t="t" r="r" b="b"/>
            <a:pathLst>
              <a:path w="909320" h="907414">
                <a:moveTo>
                  <a:pt x="0" y="453520"/>
                </a:moveTo>
                <a:lnTo>
                  <a:pt x="2345" y="407143"/>
                </a:lnTo>
                <a:lnTo>
                  <a:pt x="9231" y="362107"/>
                </a:lnTo>
                <a:lnTo>
                  <a:pt x="20427" y="318640"/>
                </a:lnTo>
                <a:lnTo>
                  <a:pt x="35707" y="276971"/>
                </a:lnTo>
                <a:lnTo>
                  <a:pt x="54840" y="237326"/>
                </a:lnTo>
                <a:lnTo>
                  <a:pt x="77598" y="199933"/>
                </a:lnTo>
                <a:lnTo>
                  <a:pt x="103754" y="165021"/>
                </a:lnTo>
                <a:lnTo>
                  <a:pt x="133079" y="132816"/>
                </a:lnTo>
                <a:lnTo>
                  <a:pt x="165343" y="103547"/>
                </a:lnTo>
                <a:lnTo>
                  <a:pt x="200319" y="77442"/>
                </a:lnTo>
                <a:lnTo>
                  <a:pt x="237778" y="54728"/>
                </a:lnTo>
                <a:lnTo>
                  <a:pt x="277492" y="35633"/>
                </a:lnTo>
                <a:lnTo>
                  <a:pt x="319232" y="20385"/>
                </a:lnTo>
                <a:lnTo>
                  <a:pt x="362770" y="9212"/>
                </a:lnTo>
                <a:lnTo>
                  <a:pt x="407877" y="2340"/>
                </a:lnTo>
                <a:lnTo>
                  <a:pt x="454324" y="0"/>
                </a:lnTo>
                <a:lnTo>
                  <a:pt x="500800" y="2340"/>
                </a:lnTo>
                <a:lnTo>
                  <a:pt x="545931" y="9212"/>
                </a:lnTo>
                <a:lnTo>
                  <a:pt x="589490" y="20385"/>
                </a:lnTo>
                <a:lnTo>
                  <a:pt x="631248" y="35633"/>
                </a:lnTo>
                <a:lnTo>
                  <a:pt x="670978" y="54728"/>
                </a:lnTo>
                <a:lnTo>
                  <a:pt x="708450" y="77442"/>
                </a:lnTo>
                <a:lnTo>
                  <a:pt x="743437" y="103547"/>
                </a:lnTo>
                <a:lnTo>
                  <a:pt x="775710" y="132816"/>
                </a:lnTo>
                <a:lnTo>
                  <a:pt x="805041" y="165021"/>
                </a:lnTo>
                <a:lnTo>
                  <a:pt x="831201" y="199933"/>
                </a:lnTo>
                <a:lnTo>
                  <a:pt x="853964" y="237326"/>
                </a:lnTo>
                <a:lnTo>
                  <a:pt x="873099" y="276971"/>
                </a:lnTo>
                <a:lnTo>
                  <a:pt x="888380" y="318640"/>
                </a:lnTo>
                <a:lnTo>
                  <a:pt x="899577" y="362107"/>
                </a:lnTo>
                <a:lnTo>
                  <a:pt x="906463" y="407143"/>
                </a:lnTo>
                <a:lnTo>
                  <a:pt x="908809" y="453520"/>
                </a:lnTo>
                <a:lnTo>
                  <a:pt x="906463" y="499869"/>
                </a:lnTo>
                <a:lnTo>
                  <a:pt x="899577" y="544881"/>
                </a:lnTo>
                <a:lnTo>
                  <a:pt x="888380" y="588329"/>
                </a:lnTo>
                <a:lnTo>
                  <a:pt x="873099" y="629983"/>
                </a:lnTo>
                <a:lnTo>
                  <a:pt x="853964" y="669617"/>
                </a:lnTo>
                <a:lnTo>
                  <a:pt x="831201" y="707000"/>
                </a:lnTo>
                <a:lnTo>
                  <a:pt x="805041" y="741907"/>
                </a:lnTo>
                <a:lnTo>
                  <a:pt x="775710" y="774107"/>
                </a:lnTo>
                <a:lnTo>
                  <a:pt x="743437" y="803374"/>
                </a:lnTo>
                <a:lnTo>
                  <a:pt x="708450" y="829478"/>
                </a:lnTo>
                <a:lnTo>
                  <a:pt x="670978" y="852193"/>
                </a:lnTo>
                <a:lnTo>
                  <a:pt x="631248" y="871289"/>
                </a:lnTo>
                <a:lnTo>
                  <a:pt x="589490" y="886539"/>
                </a:lnTo>
                <a:lnTo>
                  <a:pt x="545931" y="897714"/>
                </a:lnTo>
                <a:lnTo>
                  <a:pt x="500800" y="904586"/>
                </a:lnTo>
                <a:lnTo>
                  <a:pt x="454324" y="906928"/>
                </a:lnTo>
                <a:lnTo>
                  <a:pt x="407877" y="904586"/>
                </a:lnTo>
                <a:lnTo>
                  <a:pt x="362770" y="897714"/>
                </a:lnTo>
                <a:lnTo>
                  <a:pt x="319232" y="886539"/>
                </a:lnTo>
                <a:lnTo>
                  <a:pt x="277492" y="871289"/>
                </a:lnTo>
                <a:lnTo>
                  <a:pt x="237778" y="852193"/>
                </a:lnTo>
                <a:lnTo>
                  <a:pt x="200319" y="829478"/>
                </a:lnTo>
                <a:lnTo>
                  <a:pt x="165343" y="803374"/>
                </a:lnTo>
                <a:lnTo>
                  <a:pt x="133079" y="774107"/>
                </a:lnTo>
                <a:lnTo>
                  <a:pt x="103754" y="741907"/>
                </a:lnTo>
                <a:lnTo>
                  <a:pt x="77598" y="707000"/>
                </a:lnTo>
                <a:lnTo>
                  <a:pt x="54840" y="669617"/>
                </a:lnTo>
                <a:lnTo>
                  <a:pt x="35707" y="629983"/>
                </a:lnTo>
                <a:lnTo>
                  <a:pt x="20427" y="588329"/>
                </a:lnTo>
                <a:lnTo>
                  <a:pt x="9231" y="544881"/>
                </a:lnTo>
                <a:lnTo>
                  <a:pt x="2345" y="499869"/>
                </a:lnTo>
                <a:lnTo>
                  <a:pt x="0" y="453520"/>
                </a:lnTo>
                <a:close/>
              </a:path>
            </a:pathLst>
          </a:custGeom>
          <a:ln w="3843">
            <a:solidFill>
              <a:srgbClr val="000000"/>
            </a:solidFill>
          </a:ln>
        </p:spPr>
        <p:txBody>
          <a:bodyPr wrap="square" lIns="0" tIns="0" rIns="0" bIns="0" rtlCol="0"/>
          <a:lstStyle/>
          <a:p/>
        </p:txBody>
      </p:sp>
      <p:sp>
        <p:nvSpPr>
          <p:cNvPr id="8" name="object 8"/>
          <p:cNvSpPr/>
          <p:nvPr/>
        </p:nvSpPr>
        <p:spPr>
          <a:xfrm>
            <a:off x="6838272" y="3831829"/>
            <a:ext cx="909319" cy="907415"/>
          </a:xfrm>
          <a:custGeom>
            <a:avLst/>
            <a:gdLst/>
            <a:ahLst/>
            <a:cxnLst/>
            <a:rect l="l" t="t" r="r" b="b"/>
            <a:pathLst>
              <a:path w="909320" h="907414">
                <a:moveTo>
                  <a:pt x="454484" y="0"/>
                </a:moveTo>
                <a:lnTo>
                  <a:pt x="408009" y="2340"/>
                </a:lnTo>
                <a:lnTo>
                  <a:pt x="362877" y="9212"/>
                </a:lnTo>
                <a:lnTo>
                  <a:pt x="319318" y="20385"/>
                </a:lnTo>
                <a:lnTo>
                  <a:pt x="277560" y="35633"/>
                </a:lnTo>
                <a:lnTo>
                  <a:pt x="237830" y="54728"/>
                </a:lnTo>
                <a:lnTo>
                  <a:pt x="200358" y="77442"/>
                </a:lnTo>
                <a:lnTo>
                  <a:pt x="165372" y="103547"/>
                </a:lnTo>
                <a:lnTo>
                  <a:pt x="133099" y="132816"/>
                </a:lnTo>
                <a:lnTo>
                  <a:pt x="103768" y="165021"/>
                </a:lnTo>
                <a:lnTo>
                  <a:pt x="77607" y="199933"/>
                </a:lnTo>
                <a:lnTo>
                  <a:pt x="54845" y="237326"/>
                </a:lnTo>
                <a:lnTo>
                  <a:pt x="35709" y="276971"/>
                </a:lnTo>
                <a:lnTo>
                  <a:pt x="20428" y="318640"/>
                </a:lnTo>
                <a:lnTo>
                  <a:pt x="9231" y="362107"/>
                </a:lnTo>
                <a:lnTo>
                  <a:pt x="2345" y="407143"/>
                </a:lnTo>
                <a:lnTo>
                  <a:pt x="0" y="453520"/>
                </a:lnTo>
                <a:lnTo>
                  <a:pt x="2345" y="499869"/>
                </a:lnTo>
                <a:lnTo>
                  <a:pt x="9231" y="544881"/>
                </a:lnTo>
                <a:lnTo>
                  <a:pt x="20428" y="588329"/>
                </a:lnTo>
                <a:lnTo>
                  <a:pt x="35709" y="629983"/>
                </a:lnTo>
                <a:lnTo>
                  <a:pt x="54845" y="669617"/>
                </a:lnTo>
                <a:lnTo>
                  <a:pt x="77607" y="707000"/>
                </a:lnTo>
                <a:lnTo>
                  <a:pt x="103768" y="741907"/>
                </a:lnTo>
                <a:lnTo>
                  <a:pt x="133099" y="774107"/>
                </a:lnTo>
                <a:lnTo>
                  <a:pt x="165372" y="803374"/>
                </a:lnTo>
                <a:lnTo>
                  <a:pt x="200358" y="829478"/>
                </a:lnTo>
                <a:lnTo>
                  <a:pt x="237830" y="852193"/>
                </a:lnTo>
                <a:lnTo>
                  <a:pt x="277560" y="871289"/>
                </a:lnTo>
                <a:lnTo>
                  <a:pt x="319318" y="886539"/>
                </a:lnTo>
                <a:lnTo>
                  <a:pt x="362877" y="897714"/>
                </a:lnTo>
                <a:lnTo>
                  <a:pt x="408009" y="904586"/>
                </a:lnTo>
                <a:lnTo>
                  <a:pt x="454484" y="906928"/>
                </a:lnTo>
                <a:lnTo>
                  <a:pt x="500932" y="904586"/>
                </a:lnTo>
                <a:lnTo>
                  <a:pt x="546038" y="897714"/>
                </a:lnTo>
                <a:lnTo>
                  <a:pt x="589576" y="886539"/>
                </a:lnTo>
                <a:lnTo>
                  <a:pt x="631316" y="871289"/>
                </a:lnTo>
                <a:lnTo>
                  <a:pt x="671030" y="852193"/>
                </a:lnTo>
                <a:lnTo>
                  <a:pt x="708489" y="829478"/>
                </a:lnTo>
                <a:lnTo>
                  <a:pt x="743465" y="803374"/>
                </a:lnTo>
                <a:lnTo>
                  <a:pt x="775730" y="774107"/>
                </a:lnTo>
                <a:lnTo>
                  <a:pt x="805054" y="741907"/>
                </a:lnTo>
                <a:lnTo>
                  <a:pt x="831210" y="707000"/>
                </a:lnTo>
                <a:lnTo>
                  <a:pt x="853969" y="669617"/>
                </a:lnTo>
                <a:lnTo>
                  <a:pt x="873102" y="629983"/>
                </a:lnTo>
                <a:lnTo>
                  <a:pt x="888381" y="588329"/>
                </a:lnTo>
                <a:lnTo>
                  <a:pt x="899577" y="544881"/>
                </a:lnTo>
                <a:lnTo>
                  <a:pt x="906463" y="499869"/>
                </a:lnTo>
                <a:lnTo>
                  <a:pt x="908809" y="453520"/>
                </a:lnTo>
                <a:lnTo>
                  <a:pt x="906463" y="407143"/>
                </a:lnTo>
                <a:lnTo>
                  <a:pt x="899577" y="362107"/>
                </a:lnTo>
                <a:lnTo>
                  <a:pt x="888381" y="318640"/>
                </a:lnTo>
                <a:lnTo>
                  <a:pt x="873102" y="276971"/>
                </a:lnTo>
                <a:lnTo>
                  <a:pt x="853969" y="237326"/>
                </a:lnTo>
                <a:lnTo>
                  <a:pt x="831210" y="199933"/>
                </a:lnTo>
                <a:lnTo>
                  <a:pt x="805054" y="165021"/>
                </a:lnTo>
                <a:lnTo>
                  <a:pt x="775730" y="132816"/>
                </a:lnTo>
                <a:lnTo>
                  <a:pt x="743465" y="103547"/>
                </a:lnTo>
                <a:lnTo>
                  <a:pt x="708489" y="77442"/>
                </a:lnTo>
                <a:lnTo>
                  <a:pt x="671030" y="54728"/>
                </a:lnTo>
                <a:lnTo>
                  <a:pt x="631316" y="35633"/>
                </a:lnTo>
                <a:lnTo>
                  <a:pt x="589576" y="20385"/>
                </a:lnTo>
                <a:lnTo>
                  <a:pt x="546038" y="9212"/>
                </a:lnTo>
                <a:lnTo>
                  <a:pt x="500932" y="2340"/>
                </a:lnTo>
                <a:lnTo>
                  <a:pt x="454484" y="0"/>
                </a:lnTo>
                <a:close/>
              </a:path>
            </a:pathLst>
          </a:custGeom>
          <a:solidFill>
            <a:srgbClr val="E8EDF7"/>
          </a:solidFill>
        </p:spPr>
        <p:txBody>
          <a:bodyPr wrap="square" lIns="0" tIns="0" rIns="0" bIns="0" rtlCol="0"/>
          <a:lstStyle/>
          <a:p/>
        </p:txBody>
      </p:sp>
      <p:sp>
        <p:nvSpPr>
          <p:cNvPr id="9" name="object 9"/>
          <p:cNvSpPr/>
          <p:nvPr/>
        </p:nvSpPr>
        <p:spPr>
          <a:xfrm>
            <a:off x="6838273" y="3831829"/>
            <a:ext cx="909319" cy="907415"/>
          </a:xfrm>
          <a:custGeom>
            <a:avLst/>
            <a:gdLst/>
            <a:ahLst/>
            <a:cxnLst/>
            <a:rect l="l" t="t" r="r" b="b"/>
            <a:pathLst>
              <a:path w="909320" h="907414">
                <a:moveTo>
                  <a:pt x="0" y="453520"/>
                </a:moveTo>
                <a:lnTo>
                  <a:pt x="2345" y="407143"/>
                </a:lnTo>
                <a:lnTo>
                  <a:pt x="9231" y="362107"/>
                </a:lnTo>
                <a:lnTo>
                  <a:pt x="20428" y="318640"/>
                </a:lnTo>
                <a:lnTo>
                  <a:pt x="35709" y="276971"/>
                </a:lnTo>
                <a:lnTo>
                  <a:pt x="54845" y="237326"/>
                </a:lnTo>
                <a:lnTo>
                  <a:pt x="77607" y="199933"/>
                </a:lnTo>
                <a:lnTo>
                  <a:pt x="103768" y="165021"/>
                </a:lnTo>
                <a:lnTo>
                  <a:pt x="133099" y="132816"/>
                </a:lnTo>
                <a:lnTo>
                  <a:pt x="165372" y="103547"/>
                </a:lnTo>
                <a:lnTo>
                  <a:pt x="200358" y="77442"/>
                </a:lnTo>
                <a:lnTo>
                  <a:pt x="237830" y="54728"/>
                </a:lnTo>
                <a:lnTo>
                  <a:pt x="277560" y="35633"/>
                </a:lnTo>
                <a:lnTo>
                  <a:pt x="319318" y="20385"/>
                </a:lnTo>
                <a:lnTo>
                  <a:pt x="362877" y="9212"/>
                </a:lnTo>
                <a:lnTo>
                  <a:pt x="408009" y="2340"/>
                </a:lnTo>
                <a:lnTo>
                  <a:pt x="454484" y="0"/>
                </a:lnTo>
                <a:lnTo>
                  <a:pt x="500932" y="2340"/>
                </a:lnTo>
                <a:lnTo>
                  <a:pt x="546038" y="9212"/>
                </a:lnTo>
                <a:lnTo>
                  <a:pt x="589576" y="20385"/>
                </a:lnTo>
                <a:lnTo>
                  <a:pt x="631316" y="35633"/>
                </a:lnTo>
                <a:lnTo>
                  <a:pt x="671030" y="54728"/>
                </a:lnTo>
                <a:lnTo>
                  <a:pt x="708489" y="77442"/>
                </a:lnTo>
                <a:lnTo>
                  <a:pt x="743465" y="103547"/>
                </a:lnTo>
                <a:lnTo>
                  <a:pt x="775730" y="132816"/>
                </a:lnTo>
                <a:lnTo>
                  <a:pt x="805054" y="165021"/>
                </a:lnTo>
                <a:lnTo>
                  <a:pt x="831210" y="199933"/>
                </a:lnTo>
                <a:lnTo>
                  <a:pt x="853969" y="237326"/>
                </a:lnTo>
                <a:lnTo>
                  <a:pt x="873102" y="276971"/>
                </a:lnTo>
                <a:lnTo>
                  <a:pt x="888381" y="318640"/>
                </a:lnTo>
                <a:lnTo>
                  <a:pt x="899577" y="362107"/>
                </a:lnTo>
                <a:lnTo>
                  <a:pt x="906463" y="407143"/>
                </a:lnTo>
                <a:lnTo>
                  <a:pt x="908809" y="453520"/>
                </a:lnTo>
                <a:lnTo>
                  <a:pt x="906463" y="499869"/>
                </a:lnTo>
                <a:lnTo>
                  <a:pt x="899577" y="544881"/>
                </a:lnTo>
                <a:lnTo>
                  <a:pt x="888381" y="588329"/>
                </a:lnTo>
                <a:lnTo>
                  <a:pt x="873102" y="629983"/>
                </a:lnTo>
                <a:lnTo>
                  <a:pt x="853969" y="669617"/>
                </a:lnTo>
                <a:lnTo>
                  <a:pt x="831210" y="707000"/>
                </a:lnTo>
                <a:lnTo>
                  <a:pt x="805054" y="741907"/>
                </a:lnTo>
                <a:lnTo>
                  <a:pt x="775730" y="774107"/>
                </a:lnTo>
                <a:lnTo>
                  <a:pt x="743465" y="803374"/>
                </a:lnTo>
                <a:lnTo>
                  <a:pt x="708489" y="829478"/>
                </a:lnTo>
                <a:lnTo>
                  <a:pt x="671030" y="852193"/>
                </a:lnTo>
                <a:lnTo>
                  <a:pt x="631316" y="871289"/>
                </a:lnTo>
                <a:lnTo>
                  <a:pt x="589576" y="886539"/>
                </a:lnTo>
                <a:lnTo>
                  <a:pt x="546038" y="897714"/>
                </a:lnTo>
                <a:lnTo>
                  <a:pt x="500932" y="904586"/>
                </a:lnTo>
                <a:lnTo>
                  <a:pt x="454484" y="906928"/>
                </a:lnTo>
                <a:lnTo>
                  <a:pt x="408009" y="904586"/>
                </a:lnTo>
                <a:lnTo>
                  <a:pt x="362877" y="897714"/>
                </a:lnTo>
                <a:lnTo>
                  <a:pt x="319318" y="886539"/>
                </a:lnTo>
                <a:lnTo>
                  <a:pt x="277560" y="871289"/>
                </a:lnTo>
                <a:lnTo>
                  <a:pt x="237830" y="852193"/>
                </a:lnTo>
                <a:lnTo>
                  <a:pt x="200358" y="829478"/>
                </a:lnTo>
                <a:lnTo>
                  <a:pt x="165372" y="803374"/>
                </a:lnTo>
                <a:lnTo>
                  <a:pt x="133099" y="774107"/>
                </a:lnTo>
                <a:lnTo>
                  <a:pt x="103768" y="741907"/>
                </a:lnTo>
                <a:lnTo>
                  <a:pt x="77607" y="707000"/>
                </a:lnTo>
                <a:lnTo>
                  <a:pt x="54845" y="669617"/>
                </a:lnTo>
                <a:lnTo>
                  <a:pt x="35709" y="629983"/>
                </a:lnTo>
                <a:lnTo>
                  <a:pt x="20428" y="588329"/>
                </a:lnTo>
                <a:lnTo>
                  <a:pt x="9231" y="544881"/>
                </a:lnTo>
                <a:lnTo>
                  <a:pt x="2345" y="499869"/>
                </a:lnTo>
                <a:lnTo>
                  <a:pt x="0" y="453520"/>
                </a:lnTo>
                <a:close/>
              </a:path>
            </a:pathLst>
          </a:custGeom>
          <a:ln w="3843">
            <a:solidFill>
              <a:srgbClr val="000000"/>
            </a:solidFill>
          </a:ln>
        </p:spPr>
        <p:txBody>
          <a:bodyPr wrap="square" lIns="0" tIns="0" rIns="0" bIns="0" rtlCol="0"/>
          <a:lstStyle/>
          <a:p/>
        </p:txBody>
      </p:sp>
      <p:sp>
        <p:nvSpPr>
          <p:cNvPr id="10" name="object 10"/>
          <p:cNvSpPr/>
          <p:nvPr/>
        </p:nvSpPr>
        <p:spPr>
          <a:xfrm>
            <a:off x="5202287" y="3831829"/>
            <a:ext cx="909319" cy="907415"/>
          </a:xfrm>
          <a:custGeom>
            <a:avLst/>
            <a:gdLst/>
            <a:ahLst/>
            <a:cxnLst/>
            <a:rect l="l" t="t" r="r" b="b"/>
            <a:pathLst>
              <a:path w="909320" h="907414">
                <a:moveTo>
                  <a:pt x="454484" y="0"/>
                </a:moveTo>
                <a:lnTo>
                  <a:pt x="408035" y="2340"/>
                </a:lnTo>
                <a:lnTo>
                  <a:pt x="362923" y="9212"/>
                </a:lnTo>
                <a:lnTo>
                  <a:pt x="319378" y="20385"/>
                </a:lnTo>
                <a:lnTo>
                  <a:pt x="277627" y="35633"/>
                </a:lnTo>
                <a:lnTo>
                  <a:pt x="237902" y="54728"/>
                </a:lnTo>
                <a:lnTo>
                  <a:pt x="200429" y="77442"/>
                </a:lnTo>
                <a:lnTo>
                  <a:pt x="165438" y="103547"/>
                </a:lnTo>
                <a:lnTo>
                  <a:pt x="133159" y="132816"/>
                </a:lnTo>
                <a:lnTo>
                  <a:pt x="103819" y="165021"/>
                </a:lnTo>
                <a:lnTo>
                  <a:pt x="77649" y="199933"/>
                </a:lnTo>
                <a:lnTo>
                  <a:pt x="54877" y="237326"/>
                </a:lnTo>
                <a:lnTo>
                  <a:pt x="35732" y="276971"/>
                </a:lnTo>
                <a:lnTo>
                  <a:pt x="20442" y="318640"/>
                </a:lnTo>
                <a:lnTo>
                  <a:pt x="9238" y="362107"/>
                </a:lnTo>
                <a:lnTo>
                  <a:pt x="2347" y="407143"/>
                </a:lnTo>
                <a:lnTo>
                  <a:pt x="0" y="453520"/>
                </a:lnTo>
                <a:lnTo>
                  <a:pt x="2347" y="499869"/>
                </a:lnTo>
                <a:lnTo>
                  <a:pt x="9238" y="544881"/>
                </a:lnTo>
                <a:lnTo>
                  <a:pt x="20442" y="588329"/>
                </a:lnTo>
                <a:lnTo>
                  <a:pt x="35732" y="629983"/>
                </a:lnTo>
                <a:lnTo>
                  <a:pt x="54877" y="669617"/>
                </a:lnTo>
                <a:lnTo>
                  <a:pt x="77649" y="707000"/>
                </a:lnTo>
                <a:lnTo>
                  <a:pt x="103819" y="741907"/>
                </a:lnTo>
                <a:lnTo>
                  <a:pt x="133159" y="774107"/>
                </a:lnTo>
                <a:lnTo>
                  <a:pt x="165438" y="803374"/>
                </a:lnTo>
                <a:lnTo>
                  <a:pt x="200429" y="829478"/>
                </a:lnTo>
                <a:lnTo>
                  <a:pt x="237902" y="852193"/>
                </a:lnTo>
                <a:lnTo>
                  <a:pt x="277627" y="871289"/>
                </a:lnTo>
                <a:lnTo>
                  <a:pt x="319378" y="886539"/>
                </a:lnTo>
                <a:lnTo>
                  <a:pt x="362923" y="897714"/>
                </a:lnTo>
                <a:lnTo>
                  <a:pt x="408035" y="904586"/>
                </a:lnTo>
                <a:lnTo>
                  <a:pt x="454484" y="906928"/>
                </a:lnTo>
                <a:lnTo>
                  <a:pt x="500960" y="904586"/>
                </a:lnTo>
                <a:lnTo>
                  <a:pt x="546091" y="897714"/>
                </a:lnTo>
                <a:lnTo>
                  <a:pt x="589650" y="886539"/>
                </a:lnTo>
                <a:lnTo>
                  <a:pt x="631409" y="871289"/>
                </a:lnTo>
                <a:lnTo>
                  <a:pt x="671138" y="852193"/>
                </a:lnTo>
                <a:lnTo>
                  <a:pt x="708610" y="829478"/>
                </a:lnTo>
                <a:lnTo>
                  <a:pt x="743597" y="803374"/>
                </a:lnTo>
                <a:lnTo>
                  <a:pt x="775870" y="774107"/>
                </a:lnTo>
                <a:lnTo>
                  <a:pt x="805201" y="741907"/>
                </a:lnTo>
                <a:lnTo>
                  <a:pt x="831362" y="707000"/>
                </a:lnTo>
                <a:lnTo>
                  <a:pt x="854124" y="669617"/>
                </a:lnTo>
                <a:lnTo>
                  <a:pt x="873260" y="629983"/>
                </a:lnTo>
                <a:lnTo>
                  <a:pt x="888540" y="588329"/>
                </a:lnTo>
                <a:lnTo>
                  <a:pt x="899737" y="544881"/>
                </a:lnTo>
                <a:lnTo>
                  <a:pt x="906623" y="499869"/>
                </a:lnTo>
                <a:lnTo>
                  <a:pt x="908969" y="453520"/>
                </a:lnTo>
                <a:lnTo>
                  <a:pt x="906623" y="407143"/>
                </a:lnTo>
                <a:lnTo>
                  <a:pt x="899737" y="362107"/>
                </a:lnTo>
                <a:lnTo>
                  <a:pt x="888540" y="318640"/>
                </a:lnTo>
                <a:lnTo>
                  <a:pt x="873260" y="276971"/>
                </a:lnTo>
                <a:lnTo>
                  <a:pt x="854124" y="237326"/>
                </a:lnTo>
                <a:lnTo>
                  <a:pt x="831362" y="199933"/>
                </a:lnTo>
                <a:lnTo>
                  <a:pt x="805201" y="165021"/>
                </a:lnTo>
                <a:lnTo>
                  <a:pt x="775870" y="132816"/>
                </a:lnTo>
                <a:lnTo>
                  <a:pt x="743597" y="103547"/>
                </a:lnTo>
                <a:lnTo>
                  <a:pt x="708610" y="77442"/>
                </a:lnTo>
                <a:lnTo>
                  <a:pt x="671138" y="54728"/>
                </a:lnTo>
                <a:lnTo>
                  <a:pt x="631409" y="35633"/>
                </a:lnTo>
                <a:lnTo>
                  <a:pt x="589650" y="20385"/>
                </a:lnTo>
                <a:lnTo>
                  <a:pt x="546091" y="9212"/>
                </a:lnTo>
                <a:lnTo>
                  <a:pt x="500960" y="2340"/>
                </a:lnTo>
                <a:lnTo>
                  <a:pt x="454484" y="0"/>
                </a:lnTo>
                <a:close/>
              </a:path>
            </a:pathLst>
          </a:custGeom>
          <a:solidFill>
            <a:srgbClr val="E8EDF7"/>
          </a:solidFill>
        </p:spPr>
        <p:txBody>
          <a:bodyPr wrap="square" lIns="0" tIns="0" rIns="0" bIns="0" rtlCol="0"/>
          <a:lstStyle/>
          <a:p/>
        </p:txBody>
      </p:sp>
      <p:sp>
        <p:nvSpPr>
          <p:cNvPr id="11" name="object 11"/>
          <p:cNvSpPr/>
          <p:nvPr/>
        </p:nvSpPr>
        <p:spPr>
          <a:xfrm>
            <a:off x="5202287" y="3831829"/>
            <a:ext cx="909319" cy="907415"/>
          </a:xfrm>
          <a:custGeom>
            <a:avLst/>
            <a:gdLst/>
            <a:ahLst/>
            <a:cxnLst/>
            <a:rect l="l" t="t" r="r" b="b"/>
            <a:pathLst>
              <a:path w="909320" h="907414">
                <a:moveTo>
                  <a:pt x="0" y="453520"/>
                </a:moveTo>
                <a:lnTo>
                  <a:pt x="2347" y="407143"/>
                </a:lnTo>
                <a:lnTo>
                  <a:pt x="9238" y="362107"/>
                </a:lnTo>
                <a:lnTo>
                  <a:pt x="20442" y="318640"/>
                </a:lnTo>
                <a:lnTo>
                  <a:pt x="35732" y="276971"/>
                </a:lnTo>
                <a:lnTo>
                  <a:pt x="54877" y="237326"/>
                </a:lnTo>
                <a:lnTo>
                  <a:pt x="77649" y="199933"/>
                </a:lnTo>
                <a:lnTo>
                  <a:pt x="103819" y="165021"/>
                </a:lnTo>
                <a:lnTo>
                  <a:pt x="133159" y="132816"/>
                </a:lnTo>
                <a:lnTo>
                  <a:pt x="165438" y="103547"/>
                </a:lnTo>
                <a:lnTo>
                  <a:pt x="200429" y="77442"/>
                </a:lnTo>
                <a:lnTo>
                  <a:pt x="237902" y="54728"/>
                </a:lnTo>
                <a:lnTo>
                  <a:pt x="277627" y="35633"/>
                </a:lnTo>
                <a:lnTo>
                  <a:pt x="319378" y="20385"/>
                </a:lnTo>
                <a:lnTo>
                  <a:pt x="362923" y="9212"/>
                </a:lnTo>
                <a:lnTo>
                  <a:pt x="408035" y="2340"/>
                </a:lnTo>
                <a:lnTo>
                  <a:pt x="454484" y="0"/>
                </a:lnTo>
                <a:lnTo>
                  <a:pt x="500960" y="2340"/>
                </a:lnTo>
                <a:lnTo>
                  <a:pt x="546091" y="9212"/>
                </a:lnTo>
                <a:lnTo>
                  <a:pt x="589650" y="20385"/>
                </a:lnTo>
                <a:lnTo>
                  <a:pt x="631409" y="35633"/>
                </a:lnTo>
                <a:lnTo>
                  <a:pt x="671138" y="54728"/>
                </a:lnTo>
                <a:lnTo>
                  <a:pt x="708610" y="77442"/>
                </a:lnTo>
                <a:lnTo>
                  <a:pt x="743597" y="103547"/>
                </a:lnTo>
                <a:lnTo>
                  <a:pt x="775870" y="132816"/>
                </a:lnTo>
                <a:lnTo>
                  <a:pt x="805201" y="165021"/>
                </a:lnTo>
                <a:lnTo>
                  <a:pt x="831362" y="199933"/>
                </a:lnTo>
                <a:lnTo>
                  <a:pt x="854124" y="237326"/>
                </a:lnTo>
                <a:lnTo>
                  <a:pt x="873260" y="276971"/>
                </a:lnTo>
                <a:lnTo>
                  <a:pt x="888540" y="318640"/>
                </a:lnTo>
                <a:lnTo>
                  <a:pt x="899737" y="362107"/>
                </a:lnTo>
                <a:lnTo>
                  <a:pt x="906623" y="407143"/>
                </a:lnTo>
                <a:lnTo>
                  <a:pt x="908969" y="453520"/>
                </a:lnTo>
                <a:lnTo>
                  <a:pt x="906623" y="499869"/>
                </a:lnTo>
                <a:lnTo>
                  <a:pt x="899737" y="544881"/>
                </a:lnTo>
                <a:lnTo>
                  <a:pt x="888540" y="588329"/>
                </a:lnTo>
                <a:lnTo>
                  <a:pt x="873260" y="629983"/>
                </a:lnTo>
                <a:lnTo>
                  <a:pt x="854124" y="669617"/>
                </a:lnTo>
                <a:lnTo>
                  <a:pt x="831362" y="707000"/>
                </a:lnTo>
                <a:lnTo>
                  <a:pt x="805201" y="741907"/>
                </a:lnTo>
                <a:lnTo>
                  <a:pt x="775870" y="774107"/>
                </a:lnTo>
                <a:lnTo>
                  <a:pt x="743597" y="803374"/>
                </a:lnTo>
                <a:lnTo>
                  <a:pt x="708610" y="829478"/>
                </a:lnTo>
                <a:lnTo>
                  <a:pt x="671138" y="852193"/>
                </a:lnTo>
                <a:lnTo>
                  <a:pt x="631409" y="871289"/>
                </a:lnTo>
                <a:lnTo>
                  <a:pt x="589650" y="886539"/>
                </a:lnTo>
                <a:lnTo>
                  <a:pt x="546091" y="897714"/>
                </a:lnTo>
                <a:lnTo>
                  <a:pt x="500960" y="904586"/>
                </a:lnTo>
                <a:lnTo>
                  <a:pt x="454484" y="906928"/>
                </a:lnTo>
                <a:lnTo>
                  <a:pt x="408035" y="904586"/>
                </a:lnTo>
                <a:lnTo>
                  <a:pt x="362923" y="897714"/>
                </a:lnTo>
                <a:lnTo>
                  <a:pt x="319378" y="886539"/>
                </a:lnTo>
                <a:lnTo>
                  <a:pt x="277627" y="871289"/>
                </a:lnTo>
                <a:lnTo>
                  <a:pt x="237902" y="852193"/>
                </a:lnTo>
                <a:lnTo>
                  <a:pt x="200429" y="829478"/>
                </a:lnTo>
                <a:lnTo>
                  <a:pt x="165438" y="803374"/>
                </a:lnTo>
                <a:lnTo>
                  <a:pt x="133159" y="774107"/>
                </a:lnTo>
                <a:lnTo>
                  <a:pt x="103819" y="741907"/>
                </a:lnTo>
                <a:lnTo>
                  <a:pt x="77649" y="707000"/>
                </a:lnTo>
                <a:lnTo>
                  <a:pt x="54877" y="669617"/>
                </a:lnTo>
                <a:lnTo>
                  <a:pt x="35732" y="629983"/>
                </a:lnTo>
                <a:lnTo>
                  <a:pt x="20442" y="588329"/>
                </a:lnTo>
                <a:lnTo>
                  <a:pt x="9238" y="544881"/>
                </a:lnTo>
                <a:lnTo>
                  <a:pt x="2347" y="499869"/>
                </a:lnTo>
                <a:lnTo>
                  <a:pt x="0" y="453520"/>
                </a:lnTo>
                <a:close/>
              </a:path>
            </a:pathLst>
          </a:custGeom>
          <a:ln w="3843">
            <a:solidFill>
              <a:srgbClr val="000000"/>
            </a:solidFill>
          </a:ln>
        </p:spPr>
        <p:txBody>
          <a:bodyPr wrap="square" lIns="0" tIns="0" rIns="0" bIns="0" rtlCol="0"/>
          <a:lstStyle/>
          <a:p/>
        </p:txBody>
      </p:sp>
      <p:sp>
        <p:nvSpPr>
          <p:cNvPr id="12" name="object 12"/>
          <p:cNvSpPr/>
          <p:nvPr/>
        </p:nvSpPr>
        <p:spPr>
          <a:xfrm>
            <a:off x="1544751" y="4285349"/>
            <a:ext cx="36195" cy="0"/>
          </a:xfrm>
          <a:custGeom>
            <a:avLst/>
            <a:gdLst/>
            <a:ahLst/>
            <a:cxnLst/>
            <a:rect l="l" t="t" r="r" b="b"/>
            <a:pathLst>
              <a:path w="36194" h="0">
                <a:moveTo>
                  <a:pt x="0" y="0"/>
                </a:moveTo>
                <a:lnTo>
                  <a:pt x="35637" y="0"/>
                </a:lnTo>
              </a:path>
            </a:pathLst>
          </a:custGeom>
          <a:ln w="3839">
            <a:solidFill>
              <a:srgbClr val="4677BE"/>
            </a:solidFill>
          </a:ln>
        </p:spPr>
        <p:txBody>
          <a:bodyPr wrap="square" lIns="0" tIns="0" rIns="0" bIns="0" rtlCol="0"/>
          <a:lstStyle/>
          <a:p/>
        </p:txBody>
      </p:sp>
      <p:sp>
        <p:nvSpPr>
          <p:cNvPr id="13" name="object 13"/>
          <p:cNvSpPr/>
          <p:nvPr/>
        </p:nvSpPr>
        <p:spPr>
          <a:xfrm>
            <a:off x="930739" y="4285349"/>
            <a:ext cx="101600" cy="0"/>
          </a:xfrm>
          <a:custGeom>
            <a:avLst/>
            <a:gdLst/>
            <a:ahLst/>
            <a:cxnLst/>
            <a:rect l="l" t="t" r="r" b="b"/>
            <a:pathLst>
              <a:path w="101600" h="0">
                <a:moveTo>
                  <a:pt x="0" y="0"/>
                </a:moveTo>
                <a:lnTo>
                  <a:pt x="101012" y="0"/>
                </a:lnTo>
              </a:path>
            </a:pathLst>
          </a:custGeom>
          <a:ln w="3839">
            <a:solidFill>
              <a:srgbClr val="4677BE"/>
            </a:solidFill>
          </a:ln>
        </p:spPr>
        <p:txBody>
          <a:bodyPr wrap="square" lIns="0" tIns="0" rIns="0" bIns="0" rtlCol="0"/>
          <a:lstStyle/>
          <a:p/>
        </p:txBody>
      </p:sp>
      <p:sp>
        <p:nvSpPr>
          <p:cNvPr id="14" name="object 14"/>
          <p:cNvSpPr/>
          <p:nvPr/>
        </p:nvSpPr>
        <p:spPr>
          <a:xfrm>
            <a:off x="1569327" y="4241197"/>
            <a:ext cx="88900" cy="88900"/>
          </a:xfrm>
          <a:custGeom>
            <a:avLst/>
            <a:gdLst/>
            <a:ahLst/>
            <a:cxnLst/>
            <a:rect l="l" t="t" r="r" b="b"/>
            <a:pathLst>
              <a:path w="88900" h="88900">
                <a:moveTo>
                  <a:pt x="0" y="0"/>
                </a:moveTo>
                <a:lnTo>
                  <a:pt x="0" y="88304"/>
                </a:lnTo>
                <a:lnTo>
                  <a:pt x="88460" y="44152"/>
                </a:lnTo>
                <a:lnTo>
                  <a:pt x="0" y="0"/>
                </a:lnTo>
                <a:close/>
              </a:path>
            </a:pathLst>
          </a:custGeom>
          <a:solidFill>
            <a:srgbClr val="4677BE"/>
          </a:solidFill>
        </p:spPr>
        <p:txBody>
          <a:bodyPr wrap="square" lIns="0" tIns="0" rIns="0" bIns="0" rtlCol="0"/>
          <a:lstStyle/>
          <a:p/>
        </p:txBody>
      </p:sp>
      <p:sp>
        <p:nvSpPr>
          <p:cNvPr id="15" name="object 15"/>
          <p:cNvSpPr/>
          <p:nvPr/>
        </p:nvSpPr>
        <p:spPr>
          <a:xfrm>
            <a:off x="3317017" y="4285349"/>
            <a:ext cx="172085" cy="0"/>
          </a:xfrm>
          <a:custGeom>
            <a:avLst/>
            <a:gdLst/>
            <a:ahLst/>
            <a:cxnLst/>
            <a:rect l="l" t="t" r="r" b="b"/>
            <a:pathLst>
              <a:path w="172085" h="0">
                <a:moveTo>
                  <a:pt x="0" y="0"/>
                </a:moveTo>
                <a:lnTo>
                  <a:pt x="172014" y="0"/>
                </a:lnTo>
              </a:path>
            </a:pathLst>
          </a:custGeom>
          <a:ln w="3839">
            <a:solidFill>
              <a:srgbClr val="4677BE"/>
            </a:solidFill>
          </a:ln>
        </p:spPr>
        <p:txBody>
          <a:bodyPr wrap="square" lIns="0" tIns="0" rIns="0" bIns="0" rtlCol="0"/>
          <a:lstStyle/>
          <a:p/>
        </p:txBody>
      </p:sp>
      <p:sp>
        <p:nvSpPr>
          <p:cNvPr id="16" name="object 16"/>
          <p:cNvSpPr/>
          <p:nvPr/>
        </p:nvSpPr>
        <p:spPr>
          <a:xfrm>
            <a:off x="2566757" y="4285349"/>
            <a:ext cx="237490" cy="0"/>
          </a:xfrm>
          <a:custGeom>
            <a:avLst/>
            <a:gdLst/>
            <a:ahLst/>
            <a:cxnLst/>
            <a:rect l="l" t="t" r="r" b="b"/>
            <a:pathLst>
              <a:path w="237489" h="0">
                <a:moveTo>
                  <a:pt x="0" y="0"/>
                </a:moveTo>
                <a:lnTo>
                  <a:pt x="237261" y="0"/>
                </a:lnTo>
              </a:path>
            </a:pathLst>
          </a:custGeom>
          <a:ln w="3839">
            <a:solidFill>
              <a:srgbClr val="4677BE"/>
            </a:solidFill>
          </a:ln>
        </p:spPr>
        <p:txBody>
          <a:bodyPr wrap="square" lIns="0" tIns="0" rIns="0" bIns="0" rtlCol="0"/>
          <a:lstStyle/>
          <a:p/>
        </p:txBody>
      </p:sp>
      <p:sp>
        <p:nvSpPr>
          <p:cNvPr id="17" name="object 17"/>
          <p:cNvSpPr/>
          <p:nvPr/>
        </p:nvSpPr>
        <p:spPr>
          <a:xfrm>
            <a:off x="3477971" y="4241197"/>
            <a:ext cx="88900" cy="88900"/>
          </a:xfrm>
          <a:custGeom>
            <a:avLst/>
            <a:gdLst/>
            <a:ahLst/>
            <a:cxnLst/>
            <a:rect l="l" t="t" r="r" b="b"/>
            <a:pathLst>
              <a:path w="88900" h="88900">
                <a:moveTo>
                  <a:pt x="0" y="0"/>
                </a:moveTo>
                <a:lnTo>
                  <a:pt x="0" y="88304"/>
                </a:lnTo>
                <a:lnTo>
                  <a:pt x="88492" y="44152"/>
                </a:lnTo>
                <a:lnTo>
                  <a:pt x="0" y="0"/>
                </a:lnTo>
                <a:close/>
              </a:path>
            </a:pathLst>
          </a:custGeom>
          <a:solidFill>
            <a:srgbClr val="4677BE"/>
          </a:solidFill>
        </p:spPr>
        <p:txBody>
          <a:bodyPr wrap="square" lIns="0" tIns="0" rIns="0" bIns="0" rtlCol="0"/>
          <a:lstStyle/>
          <a:p/>
        </p:txBody>
      </p:sp>
      <p:sp>
        <p:nvSpPr>
          <p:cNvPr id="18" name="object 18"/>
          <p:cNvSpPr/>
          <p:nvPr/>
        </p:nvSpPr>
        <p:spPr>
          <a:xfrm>
            <a:off x="3566463" y="6144487"/>
            <a:ext cx="909319" cy="0"/>
          </a:xfrm>
          <a:custGeom>
            <a:avLst/>
            <a:gdLst/>
            <a:ahLst/>
            <a:cxnLst/>
            <a:rect l="l" t="t" r="r" b="b"/>
            <a:pathLst>
              <a:path w="909320" h="0">
                <a:moveTo>
                  <a:pt x="0" y="0"/>
                </a:moveTo>
                <a:lnTo>
                  <a:pt x="908809" y="0"/>
                </a:lnTo>
              </a:path>
            </a:pathLst>
          </a:custGeom>
          <a:ln w="3839">
            <a:solidFill>
              <a:srgbClr val="000000"/>
            </a:solidFill>
          </a:ln>
        </p:spPr>
        <p:txBody>
          <a:bodyPr wrap="square" lIns="0" tIns="0" rIns="0" bIns="0" rtlCol="0"/>
          <a:lstStyle/>
          <a:p/>
        </p:txBody>
      </p:sp>
      <p:sp>
        <p:nvSpPr>
          <p:cNvPr id="19" name="object 19"/>
          <p:cNvSpPr/>
          <p:nvPr/>
        </p:nvSpPr>
        <p:spPr>
          <a:xfrm>
            <a:off x="3566463" y="5691022"/>
            <a:ext cx="909319" cy="0"/>
          </a:xfrm>
          <a:custGeom>
            <a:avLst/>
            <a:gdLst/>
            <a:ahLst/>
            <a:cxnLst/>
            <a:rect l="l" t="t" r="r" b="b"/>
            <a:pathLst>
              <a:path w="909320" h="0">
                <a:moveTo>
                  <a:pt x="0" y="0"/>
                </a:moveTo>
                <a:lnTo>
                  <a:pt x="908809" y="0"/>
                </a:lnTo>
              </a:path>
            </a:pathLst>
          </a:custGeom>
          <a:ln w="3839">
            <a:solidFill>
              <a:srgbClr val="000000"/>
            </a:solidFill>
          </a:ln>
        </p:spPr>
        <p:txBody>
          <a:bodyPr wrap="square" lIns="0" tIns="0" rIns="0" bIns="0" rtlCol="0"/>
          <a:lstStyle/>
          <a:p/>
        </p:txBody>
      </p:sp>
      <p:sp>
        <p:nvSpPr>
          <p:cNvPr id="20" name="object 20"/>
          <p:cNvSpPr txBox="1"/>
          <p:nvPr/>
        </p:nvSpPr>
        <p:spPr>
          <a:xfrm>
            <a:off x="3751748" y="5819194"/>
            <a:ext cx="538480" cy="179070"/>
          </a:xfrm>
          <a:prstGeom prst="rect">
            <a:avLst/>
          </a:prstGeom>
        </p:spPr>
        <p:txBody>
          <a:bodyPr wrap="square" lIns="0" tIns="13335" rIns="0" bIns="0" rtlCol="0" vert="horz">
            <a:spAutoFit/>
          </a:bodyPr>
          <a:lstStyle/>
          <a:p>
            <a:pPr marL="12700">
              <a:lnSpc>
                <a:spcPct val="100000"/>
              </a:lnSpc>
              <a:spcBef>
                <a:spcPts val="105"/>
              </a:spcBef>
            </a:pPr>
            <a:r>
              <a:rPr dirty="0" sz="1000" spc="5">
                <a:latin typeface="宋体"/>
                <a:cs typeface="宋体"/>
              </a:rPr>
              <a:t>涉众特征</a:t>
            </a:r>
            <a:endParaRPr sz="1000">
              <a:latin typeface="宋体"/>
              <a:cs typeface="宋体"/>
            </a:endParaRPr>
          </a:p>
        </p:txBody>
      </p:sp>
      <p:sp>
        <p:nvSpPr>
          <p:cNvPr id="21" name="object 21"/>
          <p:cNvSpPr/>
          <p:nvPr/>
        </p:nvSpPr>
        <p:spPr>
          <a:xfrm>
            <a:off x="4020787" y="4738757"/>
            <a:ext cx="0" cy="307975"/>
          </a:xfrm>
          <a:custGeom>
            <a:avLst/>
            <a:gdLst/>
            <a:ahLst/>
            <a:cxnLst/>
            <a:rect l="l" t="t" r="r" b="b"/>
            <a:pathLst>
              <a:path w="0" h="307975">
                <a:moveTo>
                  <a:pt x="0" y="0"/>
                </a:moveTo>
                <a:lnTo>
                  <a:pt x="0" y="307705"/>
                </a:lnTo>
              </a:path>
            </a:pathLst>
          </a:custGeom>
          <a:ln w="3847">
            <a:solidFill>
              <a:srgbClr val="4677BE"/>
            </a:solidFill>
          </a:ln>
        </p:spPr>
        <p:txBody>
          <a:bodyPr wrap="square" lIns="0" tIns="0" rIns="0" bIns="0" rtlCol="0"/>
          <a:lstStyle/>
          <a:p/>
        </p:txBody>
      </p:sp>
      <p:sp>
        <p:nvSpPr>
          <p:cNvPr id="22" name="object 22"/>
          <p:cNvSpPr/>
          <p:nvPr/>
        </p:nvSpPr>
        <p:spPr>
          <a:xfrm>
            <a:off x="4020787" y="5383332"/>
            <a:ext cx="0" cy="230504"/>
          </a:xfrm>
          <a:custGeom>
            <a:avLst/>
            <a:gdLst/>
            <a:ahLst/>
            <a:cxnLst/>
            <a:rect l="l" t="t" r="r" b="b"/>
            <a:pathLst>
              <a:path w="0" h="230504">
                <a:moveTo>
                  <a:pt x="0" y="0"/>
                </a:moveTo>
                <a:lnTo>
                  <a:pt x="0" y="230423"/>
                </a:lnTo>
              </a:path>
            </a:pathLst>
          </a:custGeom>
          <a:ln w="3847">
            <a:solidFill>
              <a:srgbClr val="4677BE"/>
            </a:solidFill>
          </a:ln>
        </p:spPr>
        <p:txBody>
          <a:bodyPr wrap="square" lIns="0" tIns="0" rIns="0" bIns="0" rtlCol="0"/>
          <a:lstStyle/>
          <a:p/>
        </p:txBody>
      </p:sp>
      <p:sp>
        <p:nvSpPr>
          <p:cNvPr id="23" name="object 23"/>
          <p:cNvSpPr/>
          <p:nvPr/>
        </p:nvSpPr>
        <p:spPr>
          <a:xfrm>
            <a:off x="3976541" y="5602717"/>
            <a:ext cx="88900" cy="88900"/>
          </a:xfrm>
          <a:custGeom>
            <a:avLst/>
            <a:gdLst/>
            <a:ahLst/>
            <a:cxnLst/>
            <a:rect l="l" t="t" r="r" b="b"/>
            <a:pathLst>
              <a:path w="88900" h="88900">
                <a:moveTo>
                  <a:pt x="88492" y="0"/>
                </a:moveTo>
                <a:lnTo>
                  <a:pt x="0" y="0"/>
                </a:lnTo>
                <a:lnTo>
                  <a:pt x="44246" y="88304"/>
                </a:lnTo>
                <a:lnTo>
                  <a:pt x="88492" y="0"/>
                </a:lnTo>
                <a:close/>
              </a:path>
            </a:pathLst>
          </a:custGeom>
          <a:solidFill>
            <a:srgbClr val="4677BE"/>
          </a:solidFill>
        </p:spPr>
        <p:txBody>
          <a:bodyPr wrap="square" lIns="0" tIns="0" rIns="0" bIns="0" rtlCol="0"/>
          <a:lstStyle/>
          <a:p/>
        </p:txBody>
      </p:sp>
      <p:sp>
        <p:nvSpPr>
          <p:cNvPr id="24" name="object 24"/>
          <p:cNvSpPr txBox="1"/>
          <p:nvPr/>
        </p:nvSpPr>
        <p:spPr>
          <a:xfrm>
            <a:off x="3430964" y="5017270"/>
            <a:ext cx="1179830" cy="362585"/>
          </a:xfrm>
          <a:prstGeom prst="rect">
            <a:avLst/>
          </a:prstGeom>
        </p:spPr>
        <p:txBody>
          <a:bodyPr wrap="square" lIns="0" tIns="28575" rIns="0" bIns="0" rtlCol="0" vert="horz">
            <a:spAutoFit/>
          </a:bodyPr>
          <a:lstStyle/>
          <a:p>
            <a:pPr algn="ctr">
              <a:lnSpc>
                <a:spcPct val="100000"/>
              </a:lnSpc>
              <a:spcBef>
                <a:spcPts val="225"/>
              </a:spcBef>
            </a:pPr>
            <a:r>
              <a:rPr dirty="0" sz="1000" spc="5">
                <a:latin typeface="宋体"/>
                <a:cs typeface="宋体"/>
              </a:rPr>
              <a:t>个人特征、工作特征</a:t>
            </a:r>
            <a:endParaRPr sz="1000">
              <a:latin typeface="宋体"/>
              <a:cs typeface="宋体"/>
            </a:endParaRPr>
          </a:p>
          <a:p>
            <a:pPr algn="ctr">
              <a:lnSpc>
                <a:spcPct val="100000"/>
              </a:lnSpc>
              <a:spcBef>
                <a:spcPts val="125"/>
              </a:spcBef>
            </a:pPr>
            <a:r>
              <a:rPr dirty="0" sz="1000" spc="5">
                <a:latin typeface="宋体"/>
                <a:cs typeface="宋体"/>
              </a:rPr>
              <a:t>、级别、目标等</a:t>
            </a:r>
            <a:endParaRPr sz="1000">
              <a:latin typeface="宋体"/>
              <a:cs typeface="宋体"/>
            </a:endParaRPr>
          </a:p>
        </p:txBody>
      </p:sp>
      <p:sp>
        <p:nvSpPr>
          <p:cNvPr id="25" name="object 25"/>
          <p:cNvSpPr/>
          <p:nvPr/>
        </p:nvSpPr>
        <p:spPr>
          <a:xfrm>
            <a:off x="5089268" y="4285349"/>
            <a:ext cx="36195" cy="0"/>
          </a:xfrm>
          <a:custGeom>
            <a:avLst/>
            <a:gdLst/>
            <a:ahLst/>
            <a:cxnLst/>
            <a:rect l="l" t="t" r="r" b="b"/>
            <a:pathLst>
              <a:path w="36195" h="0">
                <a:moveTo>
                  <a:pt x="0" y="0"/>
                </a:moveTo>
                <a:lnTo>
                  <a:pt x="35589" y="0"/>
                </a:lnTo>
              </a:path>
            </a:pathLst>
          </a:custGeom>
          <a:ln w="3839">
            <a:solidFill>
              <a:srgbClr val="4677BE"/>
            </a:solidFill>
          </a:ln>
        </p:spPr>
        <p:txBody>
          <a:bodyPr wrap="square" lIns="0" tIns="0" rIns="0" bIns="0" rtlCol="0"/>
          <a:lstStyle/>
          <a:p/>
        </p:txBody>
      </p:sp>
      <p:sp>
        <p:nvSpPr>
          <p:cNvPr id="26" name="object 26"/>
          <p:cNvSpPr/>
          <p:nvPr/>
        </p:nvSpPr>
        <p:spPr>
          <a:xfrm>
            <a:off x="4475272" y="4285349"/>
            <a:ext cx="101600" cy="0"/>
          </a:xfrm>
          <a:custGeom>
            <a:avLst/>
            <a:gdLst/>
            <a:ahLst/>
            <a:cxnLst/>
            <a:rect l="l" t="t" r="r" b="b"/>
            <a:pathLst>
              <a:path w="101600" h="0">
                <a:moveTo>
                  <a:pt x="0" y="0"/>
                </a:moveTo>
                <a:lnTo>
                  <a:pt x="100996" y="0"/>
                </a:lnTo>
              </a:path>
            </a:pathLst>
          </a:custGeom>
          <a:ln w="3839">
            <a:solidFill>
              <a:srgbClr val="4677BE"/>
            </a:solidFill>
          </a:ln>
        </p:spPr>
        <p:txBody>
          <a:bodyPr wrap="square" lIns="0" tIns="0" rIns="0" bIns="0" rtlCol="0"/>
          <a:lstStyle/>
          <a:p/>
        </p:txBody>
      </p:sp>
      <p:sp>
        <p:nvSpPr>
          <p:cNvPr id="27" name="object 27"/>
          <p:cNvSpPr/>
          <p:nvPr/>
        </p:nvSpPr>
        <p:spPr>
          <a:xfrm>
            <a:off x="5113795" y="4241197"/>
            <a:ext cx="88900" cy="88900"/>
          </a:xfrm>
          <a:custGeom>
            <a:avLst/>
            <a:gdLst/>
            <a:ahLst/>
            <a:cxnLst/>
            <a:rect l="l" t="t" r="r" b="b"/>
            <a:pathLst>
              <a:path w="88900" h="88900">
                <a:moveTo>
                  <a:pt x="0" y="0"/>
                </a:moveTo>
                <a:lnTo>
                  <a:pt x="0" y="88304"/>
                </a:lnTo>
                <a:lnTo>
                  <a:pt x="88492" y="44152"/>
                </a:lnTo>
                <a:lnTo>
                  <a:pt x="0" y="0"/>
                </a:lnTo>
                <a:close/>
              </a:path>
            </a:pathLst>
          </a:custGeom>
          <a:solidFill>
            <a:srgbClr val="4677BE"/>
          </a:solidFill>
        </p:spPr>
        <p:txBody>
          <a:bodyPr wrap="square" lIns="0" tIns="0" rIns="0" bIns="0" rtlCol="0"/>
          <a:lstStyle/>
          <a:p/>
        </p:txBody>
      </p:sp>
      <p:sp>
        <p:nvSpPr>
          <p:cNvPr id="28" name="object 28"/>
          <p:cNvSpPr/>
          <p:nvPr/>
        </p:nvSpPr>
        <p:spPr>
          <a:xfrm>
            <a:off x="6725253" y="4285349"/>
            <a:ext cx="36195" cy="0"/>
          </a:xfrm>
          <a:custGeom>
            <a:avLst/>
            <a:gdLst/>
            <a:ahLst/>
            <a:cxnLst/>
            <a:rect l="l" t="t" r="r" b="b"/>
            <a:pathLst>
              <a:path w="36195" h="0">
                <a:moveTo>
                  <a:pt x="0" y="0"/>
                </a:moveTo>
                <a:lnTo>
                  <a:pt x="35589" y="0"/>
                </a:lnTo>
              </a:path>
            </a:pathLst>
          </a:custGeom>
          <a:ln w="3839">
            <a:solidFill>
              <a:srgbClr val="4677BE"/>
            </a:solidFill>
          </a:ln>
        </p:spPr>
        <p:txBody>
          <a:bodyPr wrap="square" lIns="0" tIns="0" rIns="0" bIns="0" rtlCol="0"/>
          <a:lstStyle/>
          <a:p/>
        </p:txBody>
      </p:sp>
      <p:sp>
        <p:nvSpPr>
          <p:cNvPr id="29" name="object 29"/>
          <p:cNvSpPr/>
          <p:nvPr/>
        </p:nvSpPr>
        <p:spPr>
          <a:xfrm>
            <a:off x="6111257" y="4285349"/>
            <a:ext cx="101600" cy="0"/>
          </a:xfrm>
          <a:custGeom>
            <a:avLst/>
            <a:gdLst/>
            <a:ahLst/>
            <a:cxnLst/>
            <a:rect l="l" t="t" r="r" b="b"/>
            <a:pathLst>
              <a:path w="101600" h="0">
                <a:moveTo>
                  <a:pt x="0" y="0"/>
                </a:moveTo>
                <a:lnTo>
                  <a:pt x="100996" y="0"/>
                </a:lnTo>
              </a:path>
            </a:pathLst>
          </a:custGeom>
          <a:ln w="3839">
            <a:solidFill>
              <a:srgbClr val="4677BE"/>
            </a:solidFill>
          </a:ln>
        </p:spPr>
        <p:txBody>
          <a:bodyPr wrap="square" lIns="0" tIns="0" rIns="0" bIns="0" rtlCol="0"/>
          <a:lstStyle/>
          <a:p/>
        </p:txBody>
      </p:sp>
      <p:sp>
        <p:nvSpPr>
          <p:cNvPr id="30" name="object 30"/>
          <p:cNvSpPr/>
          <p:nvPr/>
        </p:nvSpPr>
        <p:spPr>
          <a:xfrm>
            <a:off x="6749780" y="4241197"/>
            <a:ext cx="88900" cy="88900"/>
          </a:xfrm>
          <a:custGeom>
            <a:avLst/>
            <a:gdLst/>
            <a:ahLst/>
            <a:cxnLst/>
            <a:rect l="l" t="t" r="r" b="b"/>
            <a:pathLst>
              <a:path w="88900" h="88900">
                <a:moveTo>
                  <a:pt x="0" y="0"/>
                </a:moveTo>
                <a:lnTo>
                  <a:pt x="0" y="88304"/>
                </a:lnTo>
                <a:lnTo>
                  <a:pt x="88492" y="44152"/>
                </a:lnTo>
                <a:lnTo>
                  <a:pt x="0" y="0"/>
                </a:lnTo>
                <a:close/>
              </a:path>
            </a:pathLst>
          </a:custGeom>
          <a:solidFill>
            <a:srgbClr val="4677BE"/>
          </a:solidFill>
        </p:spPr>
        <p:txBody>
          <a:bodyPr wrap="square" lIns="0" tIns="0" rIns="0" bIns="0" rtlCol="0"/>
          <a:lstStyle/>
          <a:p/>
        </p:txBody>
      </p:sp>
      <p:sp>
        <p:nvSpPr>
          <p:cNvPr id="31" name="object 31"/>
          <p:cNvSpPr txBox="1"/>
          <p:nvPr/>
        </p:nvSpPr>
        <p:spPr>
          <a:xfrm>
            <a:off x="207168" y="1096794"/>
            <a:ext cx="7395845" cy="3268979"/>
          </a:xfrm>
          <a:prstGeom prst="rect">
            <a:avLst/>
          </a:prstGeom>
        </p:spPr>
        <p:txBody>
          <a:bodyPr wrap="square" lIns="0" tIns="79375" rIns="0" bIns="0" rtlCol="0" vert="horz">
            <a:spAutoFit/>
          </a:bodyPr>
          <a:lstStyle/>
          <a:p>
            <a:pPr marL="684530" indent="-344170">
              <a:lnSpc>
                <a:spcPct val="100000"/>
              </a:lnSpc>
              <a:spcBef>
                <a:spcPts val="625"/>
              </a:spcBef>
              <a:buClr>
                <a:srgbClr val="00663B"/>
              </a:buClr>
              <a:buSzPct val="79545"/>
              <a:buFont typeface="Wingdings"/>
              <a:buChar char=""/>
              <a:tabLst>
                <a:tab pos="684530" algn="l"/>
                <a:tab pos="685165" algn="l"/>
              </a:tabLst>
            </a:pPr>
            <a:r>
              <a:rPr dirty="0" sz="2200" spc="-5">
                <a:latin typeface="宋体"/>
                <a:cs typeface="宋体"/>
              </a:rPr>
              <a:t>寻找软件系统的</a:t>
            </a:r>
            <a:r>
              <a:rPr dirty="0" sz="2200" spc="-5">
                <a:solidFill>
                  <a:srgbClr val="00A15F"/>
                </a:solidFill>
                <a:latin typeface="宋体"/>
                <a:cs typeface="宋体"/>
              </a:rPr>
              <a:t>涉众类别</a:t>
            </a:r>
            <a:r>
              <a:rPr dirty="0" sz="2200" spc="-5">
                <a:latin typeface="宋体"/>
                <a:cs typeface="宋体"/>
              </a:rPr>
              <a:t>，辨别关</a:t>
            </a:r>
            <a:r>
              <a:rPr dirty="0" sz="2200">
                <a:latin typeface="宋体"/>
                <a:cs typeface="宋体"/>
              </a:rPr>
              <a:t>键</a:t>
            </a:r>
            <a:r>
              <a:rPr dirty="0" sz="2200" spc="-5">
                <a:latin typeface="宋体"/>
                <a:cs typeface="宋体"/>
              </a:rPr>
              <a:t>的涉</a:t>
            </a:r>
            <a:r>
              <a:rPr dirty="0" sz="2200">
                <a:latin typeface="宋体"/>
                <a:cs typeface="宋体"/>
              </a:rPr>
              <a:t>众</a:t>
            </a:r>
            <a:r>
              <a:rPr dirty="0" sz="2200" spc="-5">
                <a:latin typeface="宋体"/>
                <a:cs typeface="宋体"/>
              </a:rPr>
              <a:t>类别；</a:t>
            </a:r>
            <a:endParaRPr sz="2200">
              <a:latin typeface="宋体"/>
              <a:cs typeface="宋体"/>
            </a:endParaRPr>
          </a:p>
          <a:p>
            <a:pPr marL="684530" indent="-344170">
              <a:lnSpc>
                <a:spcPct val="100000"/>
              </a:lnSpc>
              <a:spcBef>
                <a:spcPts val="525"/>
              </a:spcBef>
              <a:buClr>
                <a:srgbClr val="00663B"/>
              </a:buClr>
              <a:buSzPct val="79545"/>
              <a:buFont typeface="Wingdings"/>
              <a:buChar char=""/>
              <a:tabLst>
                <a:tab pos="684530" algn="l"/>
                <a:tab pos="685165" algn="l"/>
              </a:tabLst>
            </a:pPr>
            <a:r>
              <a:rPr dirty="0" sz="2200" spc="-10">
                <a:latin typeface="宋体"/>
                <a:cs typeface="宋体"/>
              </a:rPr>
              <a:t>描述不同涉众类别</a:t>
            </a:r>
            <a:r>
              <a:rPr dirty="0" sz="2200" spc="-5">
                <a:latin typeface="宋体"/>
                <a:cs typeface="宋体"/>
              </a:rPr>
              <a:t>的</a:t>
            </a:r>
            <a:r>
              <a:rPr dirty="0" sz="2200" spc="-10">
                <a:solidFill>
                  <a:srgbClr val="00A15F"/>
                </a:solidFill>
                <a:latin typeface="宋体"/>
                <a:cs typeface="宋体"/>
              </a:rPr>
              <a:t>特征</a:t>
            </a:r>
            <a:r>
              <a:rPr dirty="0" sz="2200" spc="-5">
                <a:latin typeface="宋体"/>
                <a:cs typeface="宋体"/>
              </a:rPr>
              <a:t>，包</a:t>
            </a:r>
            <a:r>
              <a:rPr dirty="0" sz="2200" spc="-15">
                <a:latin typeface="宋体"/>
                <a:cs typeface="宋体"/>
              </a:rPr>
              <a:t>括</a:t>
            </a:r>
            <a:r>
              <a:rPr dirty="0" sz="2200" spc="-5">
                <a:latin typeface="宋体"/>
                <a:cs typeface="宋体"/>
              </a:rPr>
              <a:t>个人特征、工作</a:t>
            </a:r>
            <a:r>
              <a:rPr dirty="0" sz="2200">
                <a:latin typeface="宋体"/>
                <a:cs typeface="宋体"/>
              </a:rPr>
              <a:t>特</a:t>
            </a:r>
            <a:r>
              <a:rPr dirty="0" sz="2200" spc="-5">
                <a:latin typeface="宋体"/>
                <a:cs typeface="宋体"/>
              </a:rPr>
              <a:t>征；</a:t>
            </a:r>
            <a:endParaRPr sz="2200">
              <a:latin typeface="宋体"/>
              <a:cs typeface="宋体"/>
            </a:endParaRPr>
          </a:p>
          <a:p>
            <a:pPr marL="684530" indent="-344170">
              <a:lnSpc>
                <a:spcPct val="100000"/>
              </a:lnSpc>
              <a:spcBef>
                <a:spcPts val="535"/>
              </a:spcBef>
              <a:buClr>
                <a:srgbClr val="00663B"/>
              </a:buClr>
              <a:buSzPct val="79545"/>
              <a:buFont typeface="Wingdings"/>
              <a:buChar char=""/>
              <a:tabLst>
                <a:tab pos="684530" algn="l"/>
                <a:tab pos="685165" algn="l"/>
              </a:tabLst>
            </a:pPr>
            <a:r>
              <a:rPr dirty="0" sz="2200" spc="-5">
                <a:latin typeface="宋体"/>
                <a:cs typeface="宋体"/>
              </a:rPr>
              <a:t>分析不同涉众类别的</a:t>
            </a:r>
            <a:r>
              <a:rPr dirty="0" sz="2200" spc="-5">
                <a:solidFill>
                  <a:srgbClr val="00A15F"/>
                </a:solidFill>
                <a:latin typeface="宋体"/>
                <a:cs typeface="宋体"/>
              </a:rPr>
              <a:t>输赢条件和受</a:t>
            </a:r>
            <a:r>
              <a:rPr dirty="0" sz="2200">
                <a:solidFill>
                  <a:srgbClr val="00A15F"/>
                </a:solidFill>
                <a:latin typeface="宋体"/>
                <a:cs typeface="宋体"/>
              </a:rPr>
              <a:t>影</a:t>
            </a:r>
            <a:r>
              <a:rPr dirty="0" sz="2200" spc="-5">
                <a:solidFill>
                  <a:srgbClr val="00A15F"/>
                </a:solidFill>
                <a:latin typeface="宋体"/>
                <a:cs typeface="宋体"/>
              </a:rPr>
              <a:t>响程</a:t>
            </a:r>
            <a:r>
              <a:rPr dirty="0" sz="2200" spc="10">
                <a:solidFill>
                  <a:srgbClr val="00A15F"/>
                </a:solidFill>
                <a:latin typeface="宋体"/>
                <a:cs typeface="宋体"/>
              </a:rPr>
              <a:t>度</a:t>
            </a:r>
            <a:r>
              <a:rPr dirty="0" sz="2200" spc="-5">
                <a:latin typeface="宋体"/>
                <a:cs typeface="宋体"/>
              </a:rPr>
              <a:t>；</a:t>
            </a:r>
            <a:endParaRPr sz="2200">
              <a:latin typeface="宋体"/>
              <a:cs typeface="宋体"/>
            </a:endParaRPr>
          </a:p>
          <a:p>
            <a:pPr marL="684530" indent="-344170">
              <a:lnSpc>
                <a:spcPct val="100000"/>
              </a:lnSpc>
              <a:spcBef>
                <a:spcPts val="525"/>
              </a:spcBef>
              <a:buClr>
                <a:srgbClr val="00663B"/>
              </a:buClr>
              <a:buSzPct val="79545"/>
              <a:buFont typeface="Wingdings"/>
              <a:buChar char=""/>
              <a:tabLst>
                <a:tab pos="684530" algn="l"/>
                <a:tab pos="685165" algn="l"/>
              </a:tabLst>
            </a:pPr>
            <a:r>
              <a:rPr dirty="0" sz="2200" spc="-5">
                <a:latin typeface="宋体"/>
                <a:cs typeface="宋体"/>
              </a:rPr>
              <a:t>描述不同涉众类别的</a:t>
            </a:r>
            <a:r>
              <a:rPr dirty="0" sz="2200" spc="-5">
                <a:solidFill>
                  <a:srgbClr val="00A15F"/>
                </a:solidFill>
                <a:latin typeface="宋体"/>
                <a:cs typeface="宋体"/>
              </a:rPr>
              <a:t>关注点和兴趣</a:t>
            </a:r>
            <a:r>
              <a:rPr dirty="0" sz="2200">
                <a:solidFill>
                  <a:srgbClr val="00A15F"/>
                </a:solidFill>
                <a:latin typeface="宋体"/>
                <a:cs typeface="宋体"/>
              </a:rPr>
              <a:t>取向</a:t>
            </a:r>
            <a:r>
              <a:rPr dirty="0" sz="2200" spc="-5">
                <a:latin typeface="宋体"/>
                <a:cs typeface="宋体"/>
              </a:rPr>
              <a:t>；</a:t>
            </a:r>
            <a:endParaRPr sz="2200">
              <a:latin typeface="宋体"/>
              <a:cs typeface="宋体"/>
            </a:endParaRPr>
          </a:p>
          <a:p>
            <a:pPr marL="684530" indent="-344170">
              <a:lnSpc>
                <a:spcPct val="100000"/>
              </a:lnSpc>
              <a:spcBef>
                <a:spcPts val="530"/>
              </a:spcBef>
              <a:buClr>
                <a:srgbClr val="00663B"/>
              </a:buClr>
              <a:buSzPct val="79545"/>
              <a:buFont typeface="Wingdings"/>
              <a:buChar char=""/>
              <a:tabLst>
                <a:tab pos="684530" algn="l"/>
                <a:tab pos="685165" algn="l"/>
              </a:tabLst>
            </a:pPr>
            <a:r>
              <a:rPr dirty="0" sz="2200" spc="-5">
                <a:latin typeface="宋体"/>
                <a:cs typeface="宋体"/>
              </a:rPr>
              <a:t>分析不同涉众类别的</a:t>
            </a:r>
            <a:r>
              <a:rPr dirty="0" sz="2200" spc="-5">
                <a:solidFill>
                  <a:srgbClr val="00A15F"/>
                </a:solidFill>
                <a:latin typeface="宋体"/>
                <a:cs typeface="宋体"/>
              </a:rPr>
              <a:t>重要性和影响</a:t>
            </a:r>
            <a:r>
              <a:rPr dirty="0" sz="2200" spc="5">
                <a:solidFill>
                  <a:srgbClr val="00A15F"/>
                </a:solidFill>
                <a:latin typeface="宋体"/>
                <a:cs typeface="宋体"/>
              </a:rPr>
              <a:t>力</a:t>
            </a:r>
            <a:r>
              <a:rPr dirty="0" sz="2200" spc="-5">
                <a:latin typeface="宋体"/>
                <a:cs typeface="宋体"/>
              </a:rPr>
              <a:t>；</a:t>
            </a:r>
            <a:endParaRPr sz="2200">
              <a:latin typeface="宋体"/>
              <a:cs typeface="宋体"/>
            </a:endParaRPr>
          </a:p>
          <a:p>
            <a:pPr marL="684530" indent="-344170">
              <a:lnSpc>
                <a:spcPct val="100000"/>
              </a:lnSpc>
              <a:spcBef>
                <a:spcPts val="525"/>
              </a:spcBef>
              <a:buClr>
                <a:srgbClr val="00663B"/>
              </a:buClr>
              <a:buSzPct val="79545"/>
              <a:buFont typeface="Wingdings"/>
              <a:buChar char=""/>
              <a:tabLst>
                <a:tab pos="684530" algn="l"/>
                <a:tab pos="685165" algn="l"/>
              </a:tabLst>
            </a:pPr>
            <a:r>
              <a:rPr dirty="0" sz="2200" spc="-10">
                <a:latin typeface="宋体"/>
                <a:cs typeface="宋体"/>
              </a:rPr>
              <a:t>为每种涉众类别选</a:t>
            </a:r>
            <a:r>
              <a:rPr dirty="0" sz="2200" spc="-5">
                <a:latin typeface="宋体"/>
                <a:cs typeface="宋体"/>
              </a:rPr>
              <a:t>择</a:t>
            </a:r>
            <a:r>
              <a:rPr dirty="0" sz="2200" spc="-10">
                <a:solidFill>
                  <a:srgbClr val="00A15F"/>
                </a:solidFill>
                <a:latin typeface="宋体"/>
                <a:cs typeface="宋体"/>
              </a:rPr>
              <a:t>合适的代表</a:t>
            </a:r>
            <a:r>
              <a:rPr dirty="0" sz="2200" spc="-5">
                <a:latin typeface="宋体"/>
                <a:cs typeface="宋体"/>
              </a:rPr>
              <a:t>参与项目开发。</a:t>
            </a:r>
            <a:endParaRPr sz="2200">
              <a:latin typeface="宋体"/>
              <a:cs typeface="宋体"/>
            </a:endParaRPr>
          </a:p>
          <a:p>
            <a:pPr>
              <a:lnSpc>
                <a:spcPct val="100000"/>
              </a:lnSpc>
            </a:pPr>
            <a:endParaRPr sz="2200">
              <a:latin typeface="宋体"/>
              <a:cs typeface="宋体"/>
            </a:endParaRPr>
          </a:p>
          <a:p>
            <a:pPr>
              <a:lnSpc>
                <a:spcPct val="100000"/>
              </a:lnSpc>
              <a:spcBef>
                <a:spcPts val="15"/>
              </a:spcBef>
            </a:pPr>
            <a:endParaRPr sz="1950">
              <a:latin typeface="宋体"/>
              <a:cs typeface="宋体"/>
            </a:endParaRPr>
          </a:p>
          <a:p>
            <a:pPr marL="12700">
              <a:lnSpc>
                <a:spcPct val="100000"/>
              </a:lnSpc>
              <a:tabLst>
                <a:tab pos="829944" algn="l"/>
                <a:tab pos="1648460" algn="l"/>
                <a:tab pos="2602230" algn="l"/>
                <a:tab pos="3556635" algn="l"/>
                <a:tab pos="4374515" algn="l"/>
                <a:tab pos="5193030" algn="l"/>
                <a:tab pos="6010910" algn="l"/>
                <a:tab pos="6828790" algn="l"/>
              </a:tabLst>
            </a:pPr>
            <a:r>
              <a:rPr dirty="0" sz="1000" spc="5">
                <a:latin typeface="宋体"/>
                <a:cs typeface="宋体"/>
              </a:rPr>
              <a:t>初始涉众	初始涉众	涉众识别	涉众类别	涉众描述	涉众类别	涉众评估	涉众类别	涉众选择</a:t>
            </a:r>
            <a:endParaRPr sz="1000">
              <a:latin typeface="宋体"/>
              <a:cs typeface="宋体"/>
            </a:endParaRPr>
          </a:p>
        </p:txBody>
      </p:sp>
      <p:sp>
        <p:nvSpPr>
          <p:cNvPr id="32" name="object 32"/>
          <p:cNvSpPr/>
          <p:nvPr/>
        </p:nvSpPr>
        <p:spPr>
          <a:xfrm>
            <a:off x="4552703" y="4738757"/>
            <a:ext cx="1104265" cy="1179195"/>
          </a:xfrm>
          <a:custGeom>
            <a:avLst/>
            <a:gdLst/>
            <a:ahLst/>
            <a:cxnLst/>
            <a:rect l="l" t="t" r="r" b="b"/>
            <a:pathLst>
              <a:path w="1104264" h="1179195">
                <a:moveTo>
                  <a:pt x="1104069" y="0"/>
                </a:moveTo>
                <a:lnTo>
                  <a:pt x="1104069" y="1178992"/>
                </a:lnTo>
                <a:lnTo>
                  <a:pt x="0" y="1178992"/>
                </a:lnTo>
              </a:path>
            </a:pathLst>
          </a:custGeom>
          <a:ln w="3843">
            <a:solidFill>
              <a:srgbClr val="4677BE"/>
            </a:solidFill>
          </a:ln>
        </p:spPr>
        <p:txBody>
          <a:bodyPr wrap="square" lIns="0" tIns="0" rIns="0" bIns="0" rtlCol="0"/>
          <a:lstStyle/>
          <a:p/>
        </p:txBody>
      </p:sp>
      <p:sp>
        <p:nvSpPr>
          <p:cNvPr id="33" name="object 33"/>
          <p:cNvSpPr/>
          <p:nvPr/>
        </p:nvSpPr>
        <p:spPr>
          <a:xfrm>
            <a:off x="4475272" y="5873597"/>
            <a:ext cx="88900" cy="88900"/>
          </a:xfrm>
          <a:custGeom>
            <a:avLst/>
            <a:gdLst/>
            <a:ahLst/>
            <a:cxnLst/>
            <a:rect l="l" t="t" r="r" b="b"/>
            <a:pathLst>
              <a:path w="88900" h="88900">
                <a:moveTo>
                  <a:pt x="88492" y="0"/>
                </a:moveTo>
                <a:lnTo>
                  <a:pt x="0" y="44152"/>
                </a:lnTo>
                <a:lnTo>
                  <a:pt x="88492" y="88304"/>
                </a:lnTo>
                <a:lnTo>
                  <a:pt x="88492" y="0"/>
                </a:lnTo>
                <a:close/>
              </a:path>
            </a:pathLst>
          </a:custGeom>
          <a:solidFill>
            <a:srgbClr val="4677BE"/>
          </a:solidFill>
        </p:spPr>
        <p:txBody>
          <a:bodyPr wrap="square" lIns="0" tIns="0" rIns="0" bIns="0" rtlCol="0"/>
          <a:lstStyle/>
          <a:p/>
        </p:txBody>
      </p:sp>
      <p:sp>
        <p:nvSpPr>
          <p:cNvPr id="34" name="object 34"/>
          <p:cNvSpPr/>
          <p:nvPr/>
        </p:nvSpPr>
        <p:spPr>
          <a:xfrm>
            <a:off x="5201806" y="5833540"/>
            <a:ext cx="897890" cy="168910"/>
          </a:xfrm>
          <a:custGeom>
            <a:avLst/>
            <a:gdLst/>
            <a:ahLst/>
            <a:cxnLst/>
            <a:rect l="l" t="t" r="r" b="b"/>
            <a:pathLst>
              <a:path w="897889" h="168910">
                <a:moveTo>
                  <a:pt x="0" y="168434"/>
                </a:moveTo>
                <a:lnTo>
                  <a:pt x="897747" y="168434"/>
                </a:lnTo>
                <a:lnTo>
                  <a:pt x="897747" y="0"/>
                </a:lnTo>
                <a:lnTo>
                  <a:pt x="0" y="0"/>
                </a:lnTo>
                <a:lnTo>
                  <a:pt x="0" y="168434"/>
                </a:lnTo>
                <a:close/>
              </a:path>
            </a:pathLst>
          </a:custGeom>
          <a:solidFill>
            <a:srgbClr val="FFFFFF"/>
          </a:solidFill>
        </p:spPr>
        <p:txBody>
          <a:bodyPr wrap="square" lIns="0" tIns="0" rIns="0" bIns="0" rtlCol="0"/>
          <a:lstStyle/>
          <a:p/>
        </p:txBody>
      </p:sp>
      <p:sp>
        <p:nvSpPr>
          <p:cNvPr id="35" name="object 35"/>
          <p:cNvSpPr txBox="1"/>
          <p:nvPr/>
        </p:nvSpPr>
        <p:spPr>
          <a:xfrm>
            <a:off x="5195198" y="5819194"/>
            <a:ext cx="923290" cy="179070"/>
          </a:xfrm>
          <a:prstGeom prst="rect">
            <a:avLst/>
          </a:prstGeom>
        </p:spPr>
        <p:txBody>
          <a:bodyPr wrap="square" lIns="0" tIns="13335" rIns="0" bIns="0" rtlCol="0" vert="horz">
            <a:spAutoFit/>
          </a:bodyPr>
          <a:lstStyle/>
          <a:p>
            <a:pPr marL="12700">
              <a:lnSpc>
                <a:spcPct val="100000"/>
              </a:lnSpc>
              <a:spcBef>
                <a:spcPts val="105"/>
              </a:spcBef>
            </a:pPr>
            <a:r>
              <a:rPr dirty="0" sz="1000" spc="5">
                <a:latin typeface="宋体"/>
                <a:cs typeface="宋体"/>
              </a:rPr>
              <a:t>重要性、影响力</a:t>
            </a:r>
            <a:endParaRPr sz="1000">
              <a:latin typeface="宋体"/>
              <a:cs typeface="宋体"/>
            </a:endParaRPr>
          </a:p>
        </p:txBody>
      </p:sp>
      <p:sp>
        <p:nvSpPr>
          <p:cNvPr id="36" name="object 36"/>
          <p:cNvSpPr/>
          <p:nvPr/>
        </p:nvSpPr>
        <p:spPr>
          <a:xfrm>
            <a:off x="4475272" y="4355897"/>
            <a:ext cx="695960" cy="1562100"/>
          </a:xfrm>
          <a:custGeom>
            <a:avLst/>
            <a:gdLst/>
            <a:ahLst/>
            <a:cxnLst/>
            <a:rect l="l" t="t" r="r" b="b"/>
            <a:pathLst>
              <a:path w="695960" h="1562100">
                <a:moveTo>
                  <a:pt x="0" y="1561852"/>
                </a:moveTo>
                <a:lnTo>
                  <a:pt x="695594" y="0"/>
                </a:lnTo>
              </a:path>
            </a:pathLst>
          </a:custGeom>
          <a:ln w="3846">
            <a:solidFill>
              <a:srgbClr val="4677BE"/>
            </a:solidFill>
          </a:ln>
        </p:spPr>
        <p:txBody>
          <a:bodyPr wrap="square" lIns="0" tIns="0" rIns="0" bIns="0" rtlCol="0"/>
          <a:lstStyle/>
          <a:p/>
        </p:txBody>
      </p:sp>
      <p:sp>
        <p:nvSpPr>
          <p:cNvPr id="37" name="object 37"/>
          <p:cNvSpPr/>
          <p:nvPr/>
        </p:nvSpPr>
        <p:spPr>
          <a:xfrm>
            <a:off x="5125979" y="4285349"/>
            <a:ext cx="81280" cy="99060"/>
          </a:xfrm>
          <a:custGeom>
            <a:avLst/>
            <a:gdLst/>
            <a:ahLst/>
            <a:cxnLst/>
            <a:rect l="l" t="t" r="r" b="b"/>
            <a:pathLst>
              <a:path w="81279" h="99060">
                <a:moveTo>
                  <a:pt x="76308" y="0"/>
                </a:moveTo>
                <a:lnTo>
                  <a:pt x="0" y="62708"/>
                </a:lnTo>
                <a:lnTo>
                  <a:pt x="80797" y="98542"/>
                </a:lnTo>
                <a:lnTo>
                  <a:pt x="76308" y="0"/>
                </a:lnTo>
                <a:close/>
              </a:path>
            </a:pathLst>
          </a:custGeom>
          <a:solidFill>
            <a:srgbClr val="4677BE"/>
          </a:solidFill>
        </p:spPr>
        <p:txBody>
          <a:bodyPr wrap="square" lIns="0" tIns="0" rIns="0" bIns="0" rtlCol="0"/>
          <a:lstStyle/>
          <a:p/>
        </p:txBody>
      </p:sp>
      <p:sp>
        <p:nvSpPr>
          <p:cNvPr id="38" name="object 38"/>
          <p:cNvSpPr txBox="1"/>
          <p:nvPr/>
        </p:nvSpPr>
        <p:spPr>
          <a:xfrm>
            <a:off x="4697910" y="5002953"/>
            <a:ext cx="281940" cy="179070"/>
          </a:xfrm>
          <a:prstGeom prst="rect">
            <a:avLst/>
          </a:prstGeom>
        </p:spPr>
        <p:txBody>
          <a:bodyPr wrap="square" lIns="0" tIns="13335" rIns="0" bIns="0" rtlCol="0" vert="horz">
            <a:spAutoFit/>
          </a:bodyPr>
          <a:lstStyle/>
          <a:p>
            <a:pPr marL="12700">
              <a:lnSpc>
                <a:spcPct val="100000"/>
              </a:lnSpc>
              <a:spcBef>
                <a:spcPts val="105"/>
              </a:spcBef>
            </a:pPr>
            <a:r>
              <a:rPr dirty="0" sz="1000" spc="5">
                <a:latin typeface="宋体"/>
                <a:cs typeface="宋体"/>
              </a:rPr>
              <a:t>特征</a:t>
            </a:r>
            <a:endParaRPr sz="1000">
              <a:latin typeface="宋体"/>
              <a:cs typeface="宋体"/>
            </a:endParaRPr>
          </a:p>
        </p:txBody>
      </p:sp>
      <p:sp>
        <p:nvSpPr>
          <p:cNvPr id="39" name="object 39"/>
          <p:cNvSpPr txBox="1"/>
          <p:nvPr/>
        </p:nvSpPr>
        <p:spPr>
          <a:xfrm>
            <a:off x="8201566" y="4058573"/>
            <a:ext cx="909319" cy="454025"/>
          </a:xfrm>
          <a:prstGeom prst="rect">
            <a:avLst/>
          </a:prstGeom>
          <a:solidFill>
            <a:srgbClr val="E8EDF7"/>
          </a:solidFill>
          <a:ln w="3840">
            <a:solidFill>
              <a:srgbClr val="000000"/>
            </a:solidFill>
          </a:ln>
        </p:spPr>
        <p:txBody>
          <a:bodyPr wrap="square" lIns="0" tIns="2540" rIns="0" bIns="0" rtlCol="0" vert="horz">
            <a:spAutoFit/>
          </a:bodyPr>
          <a:lstStyle/>
          <a:p>
            <a:pPr>
              <a:lnSpc>
                <a:spcPct val="100000"/>
              </a:lnSpc>
              <a:spcBef>
                <a:spcPts val="20"/>
              </a:spcBef>
            </a:pPr>
            <a:endParaRPr sz="950">
              <a:latin typeface="Times New Roman"/>
              <a:cs typeface="Times New Roman"/>
            </a:endParaRPr>
          </a:p>
          <a:p>
            <a:pPr marL="133350">
              <a:lnSpc>
                <a:spcPct val="100000"/>
              </a:lnSpc>
              <a:spcBef>
                <a:spcPts val="5"/>
              </a:spcBef>
            </a:pPr>
            <a:r>
              <a:rPr dirty="0" sz="1000" spc="5">
                <a:latin typeface="宋体"/>
                <a:cs typeface="宋体"/>
              </a:rPr>
              <a:t>项目参与者</a:t>
            </a:r>
            <a:endParaRPr sz="1000">
              <a:latin typeface="宋体"/>
              <a:cs typeface="宋体"/>
            </a:endParaRPr>
          </a:p>
        </p:txBody>
      </p:sp>
      <p:sp>
        <p:nvSpPr>
          <p:cNvPr id="40" name="object 40"/>
          <p:cNvSpPr/>
          <p:nvPr/>
        </p:nvSpPr>
        <p:spPr>
          <a:xfrm>
            <a:off x="8096562" y="4285349"/>
            <a:ext cx="27940" cy="0"/>
          </a:xfrm>
          <a:custGeom>
            <a:avLst/>
            <a:gdLst/>
            <a:ahLst/>
            <a:cxnLst/>
            <a:rect l="l" t="t" r="r" b="b"/>
            <a:pathLst>
              <a:path w="27940" h="0">
                <a:moveTo>
                  <a:pt x="0" y="0"/>
                </a:moveTo>
                <a:lnTo>
                  <a:pt x="27573" y="0"/>
                </a:lnTo>
              </a:path>
            </a:pathLst>
          </a:custGeom>
          <a:ln w="3839">
            <a:solidFill>
              <a:srgbClr val="4677BE"/>
            </a:solidFill>
          </a:ln>
        </p:spPr>
        <p:txBody>
          <a:bodyPr wrap="square" lIns="0" tIns="0" rIns="0" bIns="0" rtlCol="0"/>
          <a:lstStyle/>
          <a:p/>
        </p:txBody>
      </p:sp>
      <p:sp>
        <p:nvSpPr>
          <p:cNvPr id="41" name="object 41"/>
          <p:cNvSpPr/>
          <p:nvPr/>
        </p:nvSpPr>
        <p:spPr>
          <a:xfrm>
            <a:off x="7747082" y="4285349"/>
            <a:ext cx="93345" cy="0"/>
          </a:xfrm>
          <a:custGeom>
            <a:avLst/>
            <a:gdLst/>
            <a:ahLst/>
            <a:cxnLst/>
            <a:rect l="l" t="t" r="r" b="b"/>
            <a:pathLst>
              <a:path w="93345" h="0">
                <a:moveTo>
                  <a:pt x="0" y="0"/>
                </a:moveTo>
                <a:lnTo>
                  <a:pt x="92980" y="0"/>
                </a:lnTo>
              </a:path>
            </a:pathLst>
          </a:custGeom>
          <a:ln w="3839">
            <a:solidFill>
              <a:srgbClr val="4677BE"/>
            </a:solidFill>
          </a:ln>
        </p:spPr>
        <p:txBody>
          <a:bodyPr wrap="square" lIns="0" tIns="0" rIns="0" bIns="0" rtlCol="0"/>
          <a:lstStyle/>
          <a:p/>
        </p:txBody>
      </p:sp>
      <p:sp>
        <p:nvSpPr>
          <p:cNvPr id="42" name="object 42"/>
          <p:cNvSpPr/>
          <p:nvPr/>
        </p:nvSpPr>
        <p:spPr>
          <a:xfrm>
            <a:off x="8113074" y="4241197"/>
            <a:ext cx="88900" cy="88900"/>
          </a:xfrm>
          <a:custGeom>
            <a:avLst/>
            <a:gdLst/>
            <a:ahLst/>
            <a:cxnLst/>
            <a:rect l="l" t="t" r="r" b="b"/>
            <a:pathLst>
              <a:path w="88900" h="88900">
                <a:moveTo>
                  <a:pt x="0" y="0"/>
                </a:moveTo>
                <a:lnTo>
                  <a:pt x="0" y="88304"/>
                </a:lnTo>
                <a:lnTo>
                  <a:pt x="88492" y="44152"/>
                </a:lnTo>
                <a:lnTo>
                  <a:pt x="0" y="0"/>
                </a:lnTo>
                <a:close/>
              </a:path>
            </a:pathLst>
          </a:custGeom>
          <a:solidFill>
            <a:srgbClr val="4677BE"/>
          </a:solidFill>
        </p:spPr>
        <p:txBody>
          <a:bodyPr wrap="square" lIns="0" tIns="0" rIns="0" bIns="0" rtlCol="0"/>
          <a:lstStyle/>
          <a:p/>
        </p:txBody>
      </p:sp>
      <p:sp>
        <p:nvSpPr>
          <p:cNvPr id="43" name="object 43"/>
          <p:cNvSpPr txBox="1"/>
          <p:nvPr/>
        </p:nvSpPr>
        <p:spPr>
          <a:xfrm>
            <a:off x="7833455" y="4186745"/>
            <a:ext cx="281940" cy="179070"/>
          </a:xfrm>
          <a:prstGeom prst="rect">
            <a:avLst/>
          </a:prstGeom>
        </p:spPr>
        <p:txBody>
          <a:bodyPr wrap="square" lIns="0" tIns="13335" rIns="0" bIns="0" rtlCol="0" vert="horz">
            <a:spAutoFit/>
          </a:bodyPr>
          <a:lstStyle/>
          <a:p>
            <a:pPr marL="12700">
              <a:lnSpc>
                <a:spcPct val="100000"/>
              </a:lnSpc>
              <a:spcBef>
                <a:spcPts val="105"/>
              </a:spcBef>
            </a:pPr>
            <a:r>
              <a:rPr dirty="0" sz="1000" spc="5">
                <a:latin typeface="宋体"/>
                <a:cs typeface="宋体"/>
              </a:rPr>
              <a:t>代表</a:t>
            </a:r>
            <a:endParaRPr sz="1000">
              <a:latin typeface="宋体"/>
              <a:cs typeface="宋体"/>
            </a:endParaRPr>
          </a:p>
        </p:txBody>
      </p:sp>
      <p:sp>
        <p:nvSpPr>
          <p:cNvPr id="44" name="object 4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542" y="261950"/>
            <a:ext cx="3521710"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3.3.2</a:t>
            </a:r>
            <a:r>
              <a:rPr dirty="0" spc="-105">
                <a:latin typeface="Calibri"/>
                <a:cs typeface="Calibri"/>
              </a:rPr>
              <a:t> </a:t>
            </a:r>
            <a:r>
              <a:rPr dirty="0" spc="5"/>
              <a:t>涉众识别</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228224"/>
            <a:ext cx="8127365" cy="4310380"/>
          </a:xfrm>
          <a:prstGeom prst="rect">
            <a:avLst/>
          </a:prstGeom>
        </p:spPr>
        <p:txBody>
          <a:bodyPr wrap="square" lIns="0" tIns="144780" rIns="0" bIns="0" rtlCol="0" vert="horz">
            <a:spAutoFit/>
          </a:bodyPr>
          <a:lstStyle/>
          <a:p>
            <a:pPr marL="584200" indent="-572135">
              <a:lnSpc>
                <a:spcPct val="100000"/>
              </a:lnSpc>
              <a:spcBef>
                <a:spcPts val="1140"/>
              </a:spcBef>
              <a:buClr>
                <a:srgbClr val="00663B"/>
              </a:buClr>
              <a:buSzPct val="79687"/>
              <a:buFont typeface="Wingdings"/>
              <a:buChar char=""/>
              <a:tabLst>
                <a:tab pos="584200" algn="l"/>
                <a:tab pos="584835" algn="l"/>
              </a:tabLst>
            </a:pPr>
            <a:r>
              <a:rPr dirty="0" sz="3200">
                <a:latin typeface="宋体"/>
                <a:cs typeface="宋体"/>
              </a:rPr>
              <a:t>目的是寻找和发现各种</a:t>
            </a:r>
            <a:r>
              <a:rPr dirty="0" sz="3200" spc="-15">
                <a:latin typeface="宋体"/>
                <a:cs typeface="宋体"/>
              </a:rPr>
              <a:t>涉</a:t>
            </a:r>
            <a:r>
              <a:rPr dirty="0" sz="3200">
                <a:latin typeface="宋体"/>
                <a:cs typeface="宋体"/>
              </a:rPr>
              <a:t>众类别</a:t>
            </a:r>
            <a:endParaRPr sz="3200">
              <a:latin typeface="宋体"/>
              <a:cs typeface="宋体"/>
            </a:endParaRPr>
          </a:p>
          <a:p>
            <a:pPr lvl="1" marL="852169" marR="161290" indent="-495300">
              <a:lnSpc>
                <a:spcPts val="3150"/>
              </a:lnSpc>
              <a:spcBef>
                <a:spcPts val="1180"/>
              </a:spcBef>
              <a:buClr>
                <a:srgbClr val="C00000"/>
              </a:buClr>
              <a:buSzPct val="58928"/>
              <a:buFont typeface="Wingdings"/>
              <a:buChar char=""/>
              <a:tabLst>
                <a:tab pos="852169" algn="l"/>
                <a:tab pos="852805" algn="l"/>
              </a:tabLst>
            </a:pPr>
            <a:r>
              <a:rPr dirty="0" sz="2800" spc="-10">
                <a:latin typeface="宋体"/>
                <a:cs typeface="宋体"/>
              </a:rPr>
              <a:t>基本过程：从一</a:t>
            </a:r>
            <a:r>
              <a:rPr dirty="0" sz="2800" spc="-5">
                <a:latin typeface="宋体"/>
                <a:cs typeface="宋体"/>
              </a:rPr>
              <a:t>些</a:t>
            </a:r>
            <a:r>
              <a:rPr dirty="0" sz="2800" spc="-5">
                <a:solidFill>
                  <a:srgbClr val="00A15F"/>
                </a:solidFill>
                <a:latin typeface="宋体"/>
                <a:cs typeface="宋体"/>
              </a:rPr>
              <a:t>比较容易发现的</a:t>
            </a:r>
            <a:r>
              <a:rPr dirty="0" sz="2800">
                <a:solidFill>
                  <a:srgbClr val="00A15F"/>
                </a:solidFill>
                <a:latin typeface="宋体"/>
                <a:cs typeface="宋体"/>
              </a:rPr>
              <a:t>涉</a:t>
            </a:r>
            <a:r>
              <a:rPr dirty="0" sz="2800" spc="-20">
                <a:solidFill>
                  <a:srgbClr val="00A15F"/>
                </a:solidFill>
                <a:latin typeface="宋体"/>
                <a:cs typeface="宋体"/>
              </a:rPr>
              <a:t>众</a:t>
            </a:r>
            <a:r>
              <a:rPr dirty="0" sz="2800" spc="-5">
                <a:latin typeface="宋体"/>
                <a:cs typeface="宋体"/>
              </a:rPr>
              <a:t>出发， </a:t>
            </a:r>
            <a:r>
              <a:rPr dirty="0" sz="2800" spc="-5">
                <a:latin typeface="宋体"/>
                <a:cs typeface="宋体"/>
              </a:rPr>
              <a:t>通常包括客户、管理者和相关的投</a:t>
            </a:r>
            <a:r>
              <a:rPr dirty="0" sz="2800">
                <a:latin typeface="宋体"/>
                <a:cs typeface="宋体"/>
              </a:rPr>
              <a:t>资</a:t>
            </a:r>
            <a:r>
              <a:rPr dirty="0" sz="2800" spc="-5">
                <a:latin typeface="宋体"/>
                <a:cs typeface="宋体"/>
              </a:rPr>
              <a:t>者</a:t>
            </a:r>
            <a:endParaRPr sz="2800">
              <a:latin typeface="宋体"/>
              <a:cs typeface="宋体"/>
            </a:endParaRPr>
          </a:p>
          <a:p>
            <a:pPr lvl="2" marL="1103630" indent="-419734">
              <a:lnSpc>
                <a:spcPct val="100000"/>
              </a:lnSpc>
              <a:spcBef>
                <a:spcPts val="520"/>
              </a:spcBef>
              <a:buFont typeface="Calibri"/>
              <a:buAutoNum type="arabicPeriod"/>
              <a:tabLst>
                <a:tab pos="1103630" algn="l"/>
                <a:tab pos="1104265" algn="l"/>
              </a:tabLst>
            </a:pPr>
            <a:r>
              <a:rPr dirty="0" sz="2400">
                <a:latin typeface="宋体"/>
                <a:cs typeface="宋体"/>
              </a:rPr>
              <a:t>由初始涉众集体讨论，列出一</a:t>
            </a:r>
            <a:r>
              <a:rPr dirty="0" sz="2400" spc="5">
                <a:latin typeface="宋体"/>
                <a:cs typeface="宋体"/>
              </a:rPr>
              <a:t>个</a:t>
            </a:r>
            <a:r>
              <a:rPr dirty="0" sz="2400">
                <a:solidFill>
                  <a:srgbClr val="00A15F"/>
                </a:solidFill>
                <a:latin typeface="宋体"/>
                <a:cs typeface="宋体"/>
              </a:rPr>
              <a:t>涉众类别列表</a:t>
            </a:r>
            <a:endParaRPr sz="2400">
              <a:latin typeface="宋体"/>
              <a:cs typeface="宋体"/>
            </a:endParaRPr>
          </a:p>
          <a:p>
            <a:pPr lvl="2" marL="1103630" marR="240029" indent="-419100">
              <a:lnSpc>
                <a:spcPct val="100000"/>
              </a:lnSpc>
              <a:spcBef>
                <a:spcPts val="575"/>
              </a:spcBef>
              <a:buFont typeface="Calibri"/>
              <a:buAutoNum type="arabicPeriod"/>
              <a:tabLst>
                <a:tab pos="1103630" algn="l"/>
                <a:tab pos="1104265" algn="l"/>
              </a:tabLst>
            </a:pPr>
            <a:r>
              <a:rPr dirty="0" sz="2400">
                <a:latin typeface="宋体"/>
                <a:cs typeface="宋体"/>
              </a:rPr>
              <a:t>对上一步产生的涉众类别列表进行分</a:t>
            </a:r>
            <a:r>
              <a:rPr dirty="0" sz="2400" spc="545">
                <a:latin typeface="宋体"/>
                <a:cs typeface="宋体"/>
              </a:rPr>
              <a:t>析</a:t>
            </a:r>
            <a:r>
              <a:rPr dirty="0" sz="2400">
                <a:latin typeface="宋体"/>
                <a:cs typeface="宋体"/>
              </a:rPr>
              <a:t>，缩减为一 个关键</a:t>
            </a:r>
            <a:r>
              <a:rPr dirty="0" sz="2400">
                <a:solidFill>
                  <a:srgbClr val="00A15F"/>
                </a:solidFill>
                <a:latin typeface="宋体"/>
                <a:cs typeface="宋体"/>
              </a:rPr>
              <a:t>涉众类别列表</a:t>
            </a:r>
            <a:endParaRPr sz="2400">
              <a:latin typeface="宋体"/>
              <a:cs typeface="宋体"/>
            </a:endParaRPr>
          </a:p>
          <a:p>
            <a:pPr lvl="2" marL="1103630" marR="5080" indent="-419100">
              <a:lnSpc>
                <a:spcPts val="2700"/>
              </a:lnSpc>
              <a:spcBef>
                <a:spcPts val="1000"/>
              </a:spcBef>
              <a:buFont typeface="Calibri"/>
              <a:buAutoNum type="arabicPeriod"/>
              <a:tabLst>
                <a:tab pos="1103630" algn="l"/>
                <a:tab pos="1104265" algn="l"/>
              </a:tabLst>
            </a:pPr>
            <a:r>
              <a:rPr dirty="0" sz="2400">
                <a:latin typeface="宋体"/>
                <a:cs typeface="宋体"/>
              </a:rPr>
              <a:t>由上一步的各个关键涉众类别选择代表，集中讨论， 列出</a:t>
            </a:r>
            <a:r>
              <a:rPr dirty="0" sz="2400">
                <a:solidFill>
                  <a:srgbClr val="00A15F"/>
                </a:solidFill>
                <a:latin typeface="宋体"/>
                <a:cs typeface="宋体"/>
              </a:rPr>
              <a:t>新的涉众类别列表</a:t>
            </a:r>
            <a:endParaRPr sz="2400">
              <a:latin typeface="宋体"/>
              <a:cs typeface="宋体"/>
            </a:endParaRPr>
          </a:p>
          <a:p>
            <a:pPr marL="1036955">
              <a:lnSpc>
                <a:spcPct val="100000"/>
              </a:lnSpc>
              <a:spcBef>
                <a:spcPts val="434"/>
              </a:spcBef>
              <a:tabLst>
                <a:tab pos="1417955" algn="l"/>
              </a:tabLst>
            </a:pPr>
            <a:r>
              <a:rPr dirty="0" sz="2000">
                <a:latin typeface="Arial"/>
                <a:cs typeface="Arial"/>
              </a:rPr>
              <a:t>–	</a:t>
            </a:r>
            <a:r>
              <a:rPr dirty="0" sz="2000">
                <a:latin typeface="宋体"/>
                <a:cs typeface="宋体"/>
              </a:rPr>
              <a:t>如果涉众类别列表趋于</a:t>
            </a:r>
            <a:r>
              <a:rPr dirty="0" sz="2000" spc="-10">
                <a:latin typeface="宋体"/>
                <a:cs typeface="宋体"/>
              </a:rPr>
              <a:t>稳</a:t>
            </a:r>
            <a:r>
              <a:rPr dirty="0" sz="2000">
                <a:latin typeface="宋体"/>
                <a:cs typeface="宋体"/>
              </a:rPr>
              <a:t>定，</a:t>
            </a:r>
            <a:r>
              <a:rPr dirty="0" sz="2000" spc="-10">
                <a:latin typeface="宋体"/>
                <a:cs typeface="宋体"/>
              </a:rPr>
              <a:t>就</a:t>
            </a:r>
            <a:r>
              <a:rPr dirty="0" sz="2000">
                <a:latin typeface="宋体"/>
                <a:cs typeface="宋体"/>
              </a:rPr>
              <a:t>结束</a:t>
            </a:r>
            <a:r>
              <a:rPr dirty="0" sz="2000" spc="-10">
                <a:latin typeface="宋体"/>
                <a:cs typeface="宋体"/>
              </a:rPr>
              <a:t>涉</a:t>
            </a:r>
            <a:r>
              <a:rPr dirty="0" sz="2000">
                <a:latin typeface="宋体"/>
                <a:cs typeface="宋体"/>
              </a:rPr>
              <a:t>众识</a:t>
            </a:r>
            <a:r>
              <a:rPr dirty="0" sz="2000" spc="-10">
                <a:latin typeface="宋体"/>
                <a:cs typeface="宋体"/>
              </a:rPr>
              <a:t>别</a:t>
            </a:r>
            <a:r>
              <a:rPr dirty="0" sz="2000">
                <a:latin typeface="宋体"/>
                <a:cs typeface="宋体"/>
              </a:rPr>
              <a:t>过</a:t>
            </a:r>
            <a:r>
              <a:rPr dirty="0" sz="2000" spc="5">
                <a:latin typeface="宋体"/>
                <a:cs typeface="宋体"/>
              </a:rPr>
              <a:t>程</a:t>
            </a:r>
            <a:r>
              <a:rPr dirty="0" sz="2000" spc="-600">
                <a:latin typeface="宋体"/>
                <a:cs typeface="宋体"/>
              </a:rPr>
              <a:t> </a:t>
            </a:r>
            <a:r>
              <a:rPr dirty="0" sz="2000">
                <a:latin typeface="宋体"/>
                <a:cs typeface="宋体"/>
              </a:rPr>
              <a:t>，否则</a:t>
            </a:r>
            <a:endParaRPr sz="2000">
              <a:latin typeface="宋体"/>
              <a:cs typeface="宋体"/>
            </a:endParaRPr>
          </a:p>
          <a:p>
            <a:pPr marL="1417955">
              <a:lnSpc>
                <a:spcPct val="100000"/>
              </a:lnSpc>
              <a:spcBef>
                <a:spcPts val="5"/>
              </a:spcBef>
            </a:pPr>
            <a:r>
              <a:rPr dirty="0" sz="2000">
                <a:latin typeface="宋体"/>
                <a:cs typeface="宋体"/>
              </a:rPr>
              <a:t>转向第</a:t>
            </a:r>
            <a:r>
              <a:rPr dirty="0" sz="2000">
                <a:latin typeface="Calibri"/>
                <a:cs typeface="Calibri"/>
              </a:rPr>
              <a:t>2</a:t>
            </a:r>
            <a:r>
              <a:rPr dirty="0" sz="2000">
                <a:latin typeface="宋体"/>
                <a:cs typeface="宋体"/>
              </a:rPr>
              <a:t>步</a:t>
            </a:r>
            <a:endParaRPr sz="2000">
              <a:latin typeface="宋体"/>
              <a:cs typeface="宋体"/>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542" y="170433"/>
            <a:ext cx="352171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3.3.2</a:t>
            </a:r>
            <a:r>
              <a:rPr dirty="0" spc="-95">
                <a:latin typeface="Calibri"/>
                <a:cs typeface="Calibri"/>
              </a:rPr>
              <a:t> </a:t>
            </a:r>
            <a:r>
              <a:rPr dirty="0"/>
              <a:t>涉众识别</a:t>
            </a:r>
          </a:p>
        </p:txBody>
      </p:sp>
      <p:sp>
        <p:nvSpPr>
          <p:cNvPr id="3" name="object 3"/>
          <p:cNvSpPr/>
          <p:nvPr/>
        </p:nvSpPr>
        <p:spPr>
          <a:xfrm>
            <a:off x="1388542" y="1094232"/>
            <a:ext cx="6423481" cy="5071872"/>
          </a:xfrm>
          <a:prstGeom prst="rect">
            <a:avLst/>
          </a:prstGeom>
          <a:blipFill>
            <a:blip r:embed="rId2" cstate="print"/>
            <a:stretch>
              <a:fillRect/>
            </a:stretch>
          </a:blipFill>
        </p:spPr>
        <p:txBody>
          <a:bodyPr wrap="square" lIns="0" tIns="0" rIns="0" bIns="0" rtlCol="0"/>
          <a:lstStyle/>
          <a:p/>
        </p:txBody>
      </p:sp>
      <p:sp>
        <p:nvSpPr>
          <p:cNvPr id="4" name="object 4"/>
          <p:cNvSpPr/>
          <p:nvPr/>
        </p:nvSpPr>
        <p:spPr>
          <a:xfrm>
            <a:off x="3080766" y="3134105"/>
            <a:ext cx="1297305" cy="623570"/>
          </a:xfrm>
          <a:custGeom>
            <a:avLst/>
            <a:gdLst/>
            <a:ahLst/>
            <a:cxnLst/>
            <a:rect l="l" t="t" r="r" b="b"/>
            <a:pathLst>
              <a:path w="1297304" h="623570">
                <a:moveTo>
                  <a:pt x="0" y="623315"/>
                </a:moveTo>
                <a:lnTo>
                  <a:pt x="1296924" y="623315"/>
                </a:lnTo>
                <a:lnTo>
                  <a:pt x="1296924" y="0"/>
                </a:lnTo>
                <a:lnTo>
                  <a:pt x="0" y="0"/>
                </a:lnTo>
                <a:lnTo>
                  <a:pt x="0" y="623315"/>
                </a:lnTo>
                <a:close/>
              </a:path>
            </a:pathLst>
          </a:custGeom>
          <a:solidFill>
            <a:srgbClr val="C5D9F0">
              <a:alpha val="21960"/>
            </a:srgbClr>
          </a:solidFill>
        </p:spPr>
        <p:txBody>
          <a:bodyPr wrap="square" lIns="0" tIns="0" rIns="0" bIns="0" rtlCol="0"/>
          <a:lstStyle/>
          <a:p/>
        </p:txBody>
      </p:sp>
      <p:sp>
        <p:nvSpPr>
          <p:cNvPr id="5" name="object 5"/>
          <p:cNvSpPr/>
          <p:nvPr/>
        </p:nvSpPr>
        <p:spPr>
          <a:xfrm>
            <a:off x="3080766" y="3134105"/>
            <a:ext cx="1297305" cy="623570"/>
          </a:xfrm>
          <a:custGeom>
            <a:avLst/>
            <a:gdLst/>
            <a:ahLst/>
            <a:cxnLst/>
            <a:rect l="l" t="t" r="r" b="b"/>
            <a:pathLst>
              <a:path w="1297304" h="623570">
                <a:moveTo>
                  <a:pt x="0" y="623315"/>
                </a:moveTo>
                <a:lnTo>
                  <a:pt x="1296924" y="623315"/>
                </a:lnTo>
                <a:lnTo>
                  <a:pt x="1296924" y="0"/>
                </a:lnTo>
                <a:lnTo>
                  <a:pt x="0" y="0"/>
                </a:lnTo>
                <a:lnTo>
                  <a:pt x="0" y="623315"/>
                </a:lnTo>
                <a:close/>
              </a:path>
            </a:pathLst>
          </a:custGeom>
          <a:ln w="28575">
            <a:solidFill>
              <a:srgbClr val="00663B"/>
            </a:solidFill>
          </a:ln>
        </p:spPr>
        <p:txBody>
          <a:bodyPr wrap="square" lIns="0" tIns="0" rIns="0" bIns="0" rtlCol="0"/>
          <a:lstStyle/>
          <a:p/>
        </p:txBody>
      </p:sp>
      <p:sp>
        <p:nvSpPr>
          <p:cNvPr id="6" name="object 6"/>
          <p:cNvSpPr/>
          <p:nvPr/>
        </p:nvSpPr>
        <p:spPr>
          <a:xfrm>
            <a:off x="4767834" y="3134105"/>
            <a:ext cx="1297305" cy="623570"/>
          </a:xfrm>
          <a:custGeom>
            <a:avLst/>
            <a:gdLst/>
            <a:ahLst/>
            <a:cxnLst/>
            <a:rect l="l" t="t" r="r" b="b"/>
            <a:pathLst>
              <a:path w="1297304" h="623570">
                <a:moveTo>
                  <a:pt x="0" y="623315"/>
                </a:moveTo>
                <a:lnTo>
                  <a:pt x="1296924" y="623315"/>
                </a:lnTo>
                <a:lnTo>
                  <a:pt x="1296924" y="0"/>
                </a:lnTo>
                <a:lnTo>
                  <a:pt x="0" y="0"/>
                </a:lnTo>
                <a:lnTo>
                  <a:pt x="0" y="623315"/>
                </a:lnTo>
                <a:close/>
              </a:path>
            </a:pathLst>
          </a:custGeom>
          <a:solidFill>
            <a:srgbClr val="C5D9F0">
              <a:alpha val="21960"/>
            </a:srgbClr>
          </a:solidFill>
        </p:spPr>
        <p:txBody>
          <a:bodyPr wrap="square" lIns="0" tIns="0" rIns="0" bIns="0" rtlCol="0"/>
          <a:lstStyle/>
          <a:p/>
        </p:txBody>
      </p:sp>
      <p:sp>
        <p:nvSpPr>
          <p:cNvPr id="7" name="object 7"/>
          <p:cNvSpPr/>
          <p:nvPr/>
        </p:nvSpPr>
        <p:spPr>
          <a:xfrm>
            <a:off x="4767834" y="3134105"/>
            <a:ext cx="1297305" cy="623570"/>
          </a:xfrm>
          <a:custGeom>
            <a:avLst/>
            <a:gdLst/>
            <a:ahLst/>
            <a:cxnLst/>
            <a:rect l="l" t="t" r="r" b="b"/>
            <a:pathLst>
              <a:path w="1297304" h="623570">
                <a:moveTo>
                  <a:pt x="0" y="623315"/>
                </a:moveTo>
                <a:lnTo>
                  <a:pt x="1296924" y="623315"/>
                </a:lnTo>
                <a:lnTo>
                  <a:pt x="1296924" y="0"/>
                </a:lnTo>
                <a:lnTo>
                  <a:pt x="0" y="0"/>
                </a:lnTo>
                <a:lnTo>
                  <a:pt x="0" y="623315"/>
                </a:lnTo>
                <a:close/>
              </a:path>
            </a:pathLst>
          </a:custGeom>
          <a:ln w="28575">
            <a:solidFill>
              <a:srgbClr val="00663B"/>
            </a:solidFill>
          </a:ln>
        </p:spPr>
        <p:txBody>
          <a:bodyPr wrap="square" lIns="0" tIns="0" rIns="0" bIns="0" rtlCol="0"/>
          <a:lstStyle/>
          <a:p/>
        </p:txBody>
      </p:sp>
      <p:sp>
        <p:nvSpPr>
          <p:cNvPr id="8" name="object 8"/>
          <p:cNvSpPr/>
          <p:nvPr/>
        </p:nvSpPr>
        <p:spPr>
          <a:xfrm>
            <a:off x="5097017" y="2207514"/>
            <a:ext cx="1297305" cy="623570"/>
          </a:xfrm>
          <a:custGeom>
            <a:avLst/>
            <a:gdLst/>
            <a:ahLst/>
            <a:cxnLst/>
            <a:rect l="l" t="t" r="r" b="b"/>
            <a:pathLst>
              <a:path w="1297304" h="623569">
                <a:moveTo>
                  <a:pt x="0" y="623315"/>
                </a:moveTo>
                <a:lnTo>
                  <a:pt x="1296924" y="623315"/>
                </a:lnTo>
                <a:lnTo>
                  <a:pt x="1296924" y="0"/>
                </a:lnTo>
                <a:lnTo>
                  <a:pt x="0" y="0"/>
                </a:lnTo>
                <a:lnTo>
                  <a:pt x="0" y="623315"/>
                </a:lnTo>
                <a:close/>
              </a:path>
            </a:pathLst>
          </a:custGeom>
          <a:solidFill>
            <a:srgbClr val="C5D9F0">
              <a:alpha val="21960"/>
            </a:srgbClr>
          </a:solidFill>
        </p:spPr>
        <p:txBody>
          <a:bodyPr wrap="square" lIns="0" tIns="0" rIns="0" bIns="0" rtlCol="0"/>
          <a:lstStyle/>
          <a:p/>
        </p:txBody>
      </p:sp>
      <p:sp>
        <p:nvSpPr>
          <p:cNvPr id="9" name="object 9"/>
          <p:cNvSpPr/>
          <p:nvPr/>
        </p:nvSpPr>
        <p:spPr>
          <a:xfrm>
            <a:off x="5097017" y="2207514"/>
            <a:ext cx="1297305" cy="623570"/>
          </a:xfrm>
          <a:custGeom>
            <a:avLst/>
            <a:gdLst/>
            <a:ahLst/>
            <a:cxnLst/>
            <a:rect l="l" t="t" r="r" b="b"/>
            <a:pathLst>
              <a:path w="1297304" h="623569">
                <a:moveTo>
                  <a:pt x="0" y="623315"/>
                </a:moveTo>
                <a:lnTo>
                  <a:pt x="1296924" y="623315"/>
                </a:lnTo>
                <a:lnTo>
                  <a:pt x="1296924" y="0"/>
                </a:lnTo>
                <a:lnTo>
                  <a:pt x="0" y="0"/>
                </a:lnTo>
                <a:lnTo>
                  <a:pt x="0" y="623315"/>
                </a:lnTo>
                <a:close/>
              </a:path>
            </a:pathLst>
          </a:custGeom>
          <a:ln w="28575">
            <a:solidFill>
              <a:srgbClr val="00663B"/>
            </a:solidFill>
          </a:ln>
        </p:spPr>
        <p:txBody>
          <a:bodyPr wrap="square" lIns="0" tIns="0" rIns="0" bIns="0" rtlCol="0"/>
          <a:lstStyle/>
          <a:p/>
        </p:txBody>
      </p:sp>
      <p:sp>
        <p:nvSpPr>
          <p:cNvPr id="10" name="object 10"/>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74773" y="101853"/>
            <a:ext cx="4394835" cy="696595"/>
          </a:xfrm>
          <a:prstGeom prst="rect"/>
        </p:spPr>
        <p:txBody>
          <a:bodyPr wrap="square" lIns="0" tIns="12700" rIns="0" bIns="0" rtlCol="0" vert="horz">
            <a:spAutoFit/>
          </a:bodyPr>
          <a:lstStyle/>
          <a:p>
            <a:pPr marL="12700">
              <a:lnSpc>
                <a:spcPct val="100000"/>
              </a:lnSpc>
              <a:spcBef>
                <a:spcPts val="100"/>
              </a:spcBef>
              <a:tabLst>
                <a:tab pos="1396365" algn="l"/>
              </a:tabLst>
            </a:pPr>
            <a:r>
              <a:rPr dirty="0">
                <a:latin typeface="Calibri"/>
                <a:cs typeface="Calibri"/>
              </a:rPr>
              <a:t>3.3.3	</a:t>
            </a:r>
            <a:r>
              <a:rPr dirty="0"/>
              <a:t>涉众描述</a:t>
            </a:r>
            <a:r>
              <a:rPr dirty="0" spc="-1290"/>
              <a:t> </a:t>
            </a:r>
            <a:r>
              <a:rPr dirty="0" spc="-5">
                <a:latin typeface="Calibri"/>
                <a:cs typeface="Calibri"/>
              </a:rPr>
              <a:t>(1)</a:t>
            </a:r>
          </a:p>
        </p:txBody>
      </p:sp>
      <p:graphicFrame>
        <p:nvGraphicFramePr>
          <p:cNvPr id="3" name="object 3"/>
          <p:cNvGraphicFramePr>
            <a:graphicFrameLocks noGrp="1"/>
          </p:cNvGraphicFramePr>
          <p:nvPr/>
        </p:nvGraphicFramePr>
        <p:xfrm>
          <a:off x="450850" y="1315211"/>
          <a:ext cx="8248650" cy="4544060"/>
        </p:xfrm>
        <a:graphic>
          <a:graphicData uri="http://schemas.openxmlformats.org/drawingml/2006/table">
            <a:tbl>
              <a:tblPr firstRow="1" bandRow="1">
                <a:tableStyleId>{2D5ABB26-0587-4C30-8999-92F81FD0307C}</a:tableStyleId>
              </a:tblPr>
              <a:tblGrid>
                <a:gridCol w="2120900"/>
                <a:gridCol w="6108700"/>
              </a:tblGrid>
              <a:tr h="454025">
                <a:tc rowSpan="4">
                  <a:txBody>
                    <a:bodyPr/>
                    <a:lstStyle/>
                    <a:p>
                      <a:pPr>
                        <a:lnSpc>
                          <a:spcPct val="100000"/>
                        </a:lnSpc>
                      </a:pPr>
                      <a:endParaRPr sz="1800">
                        <a:latin typeface="Times New Roman"/>
                        <a:cs typeface="Times New Roman"/>
                      </a:endParaRPr>
                    </a:p>
                    <a:p>
                      <a:pPr>
                        <a:lnSpc>
                          <a:spcPct val="100000"/>
                        </a:lnSpc>
                      </a:pPr>
                      <a:endParaRPr sz="1800">
                        <a:latin typeface="Times New Roman"/>
                        <a:cs typeface="Times New Roman"/>
                      </a:endParaRPr>
                    </a:p>
                    <a:p>
                      <a:pPr>
                        <a:lnSpc>
                          <a:spcPct val="100000"/>
                        </a:lnSpc>
                        <a:spcBef>
                          <a:spcPts val="50"/>
                        </a:spcBef>
                      </a:pPr>
                      <a:endParaRPr sz="1550">
                        <a:latin typeface="Times New Roman"/>
                        <a:cs typeface="Times New Roman"/>
                      </a:endParaRPr>
                    </a:p>
                    <a:p>
                      <a:pPr marL="91440">
                        <a:lnSpc>
                          <a:spcPct val="100000"/>
                        </a:lnSpc>
                        <a:spcBef>
                          <a:spcPts val="5"/>
                        </a:spcBef>
                      </a:pPr>
                      <a:r>
                        <a:rPr dirty="0" sz="1800" spc="-5">
                          <a:latin typeface="宋体"/>
                          <a:cs typeface="宋体"/>
                        </a:rPr>
                        <a:t>个人特征</a:t>
                      </a:r>
                      <a:endParaRPr sz="1800">
                        <a:latin typeface="宋体"/>
                        <a:cs typeface="宋体"/>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25"/>
                        </a:spcBef>
                      </a:pPr>
                      <a:r>
                        <a:rPr dirty="0" sz="1800">
                          <a:latin typeface="宋体"/>
                          <a:cs typeface="宋体"/>
                        </a:rPr>
                        <a:t>年龄、性别、学历、职业、职务</a:t>
                      </a:r>
                      <a:endParaRPr sz="1800">
                        <a:latin typeface="宋体"/>
                        <a:cs typeface="宋体"/>
                      </a:endParaRPr>
                    </a:p>
                  </a:txBody>
                  <a:tcPr marL="0" marR="0" marB="0" marT="793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250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20"/>
                        </a:spcBef>
                      </a:pPr>
                      <a:r>
                        <a:rPr dirty="0" sz="1800">
                          <a:latin typeface="宋体"/>
                          <a:cs typeface="宋体"/>
                        </a:rPr>
                        <a:t>生活方式、个性、对新技术的态度</a:t>
                      </a:r>
                      <a:endParaRPr sz="1800">
                        <a:latin typeface="宋体"/>
                        <a:cs typeface="宋体"/>
                      </a:endParaRPr>
                    </a:p>
                  </a:txBody>
                  <a:tcPr marL="0" marR="0" marB="0" marT="787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402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25"/>
                        </a:spcBef>
                      </a:pPr>
                      <a:r>
                        <a:rPr dirty="0" sz="1800" spc="-5">
                          <a:latin typeface="宋体"/>
                          <a:cs typeface="宋体"/>
                        </a:rPr>
                        <a:t>技能</a:t>
                      </a:r>
                      <a:endParaRPr sz="1800">
                        <a:latin typeface="宋体"/>
                        <a:cs typeface="宋体"/>
                      </a:endParaRPr>
                    </a:p>
                  </a:txBody>
                  <a:tcPr marL="0" marR="0" marB="0" marT="793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2374">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20"/>
                        </a:spcBef>
                      </a:pPr>
                      <a:r>
                        <a:rPr dirty="0" sz="1800">
                          <a:latin typeface="宋体"/>
                          <a:cs typeface="宋体"/>
                        </a:rPr>
                        <a:t>身体能力及限制，例如色盲</a:t>
                      </a:r>
                      <a:endParaRPr sz="1800">
                        <a:latin typeface="宋体"/>
                        <a:cs typeface="宋体"/>
                      </a:endParaRPr>
                    </a:p>
                  </a:txBody>
                  <a:tcPr marL="0" marR="0" marB="0" marT="787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0850">
                <a:tc rowSpan="3">
                  <a:txBody>
                    <a:bodyPr/>
                    <a:lstStyle/>
                    <a:p>
                      <a:pPr>
                        <a:lnSpc>
                          <a:spcPct val="100000"/>
                        </a:lnSpc>
                      </a:pPr>
                      <a:endParaRPr sz="1800">
                        <a:latin typeface="Times New Roman"/>
                        <a:cs typeface="Times New Roman"/>
                      </a:endParaRPr>
                    </a:p>
                    <a:p>
                      <a:pPr>
                        <a:lnSpc>
                          <a:spcPct val="100000"/>
                        </a:lnSpc>
                        <a:spcBef>
                          <a:spcPts val="45"/>
                        </a:spcBef>
                      </a:pPr>
                      <a:endParaRPr sz="1800">
                        <a:latin typeface="Times New Roman"/>
                        <a:cs typeface="Times New Roman"/>
                      </a:endParaRPr>
                    </a:p>
                    <a:p>
                      <a:pPr marL="91440">
                        <a:lnSpc>
                          <a:spcPct val="100000"/>
                        </a:lnSpc>
                      </a:pPr>
                      <a:r>
                        <a:rPr dirty="0" sz="1800">
                          <a:latin typeface="宋体"/>
                          <a:cs typeface="宋体"/>
                        </a:rPr>
                        <a:t>工作特征</a:t>
                      </a:r>
                      <a:endParaRPr sz="1800">
                        <a:latin typeface="宋体"/>
                        <a:cs typeface="宋体"/>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15"/>
                        </a:spcBef>
                      </a:pPr>
                      <a:r>
                        <a:rPr dirty="0" sz="1800">
                          <a:latin typeface="宋体"/>
                          <a:cs typeface="宋体"/>
                        </a:rPr>
                        <a:t>任务</a:t>
                      </a:r>
                      <a:endParaRPr sz="1800">
                        <a:latin typeface="宋体"/>
                        <a:cs typeface="宋体"/>
                      </a:endParaRPr>
                    </a:p>
                  </a:txBody>
                  <a:tcPr marL="0" marR="0" marB="0" marT="7810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4025">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30"/>
                        </a:spcBef>
                      </a:pPr>
                      <a:r>
                        <a:rPr dirty="0" sz="1800">
                          <a:latin typeface="宋体"/>
                          <a:cs typeface="宋体"/>
                        </a:rPr>
                        <a:t>使用状况（利用程度、使用频率等）</a:t>
                      </a:r>
                      <a:endParaRPr sz="1800">
                        <a:latin typeface="宋体"/>
                        <a:cs typeface="宋体"/>
                      </a:endParaRPr>
                    </a:p>
                  </a:txBody>
                  <a:tcPr marL="0" marR="0" marB="0" marT="800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250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25"/>
                        </a:spcBef>
                      </a:pPr>
                      <a:r>
                        <a:rPr dirty="0" sz="1800">
                          <a:latin typeface="宋体"/>
                          <a:cs typeface="宋体"/>
                        </a:rPr>
                        <a:t>技能和经验（新手</a:t>
                      </a:r>
                      <a:r>
                        <a:rPr dirty="0" sz="1800">
                          <a:latin typeface="Calibri"/>
                          <a:cs typeface="Calibri"/>
                        </a:rPr>
                        <a:t>――</a:t>
                      </a:r>
                      <a:r>
                        <a:rPr dirty="0" sz="1800">
                          <a:latin typeface="宋体"/>
                          <a:cs typeface="宋体"/>
                        </a:rPr>
                        <a:t>专家）</a:t>
                      </a:r>
                      <a:endParaRPr sz="1800">
                        <a:latin typeface="宋体"/>
                        <a:cs typeface="宋体"/>
                      </a:endParaRPr>
                    </a:p>
                  </a:txBody>
                  <a:tcPr marL="0" marR="0" marB="0" marT="793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4025">
                <a:tc rowSpan="3">
                  <a:txBody>
                    <a:bodyPr/>
                    <a:lstStyle/>
                    <a:p>
                      <a:pPr>
                        <a:lnSpc>
                          <a:spcPct val="100000"/>
                        </a:lnSpc>
                      </a:pPr>
                      <a:endParaRPr sz="1800">
                        <a:latin typeface="Times New Roman"/>
                        <a:cs typeface="Times New Roman"/>
                      </a:endParaRPr>
                    </a:p>
                    <a:p>
                      <a:pPr>
                        <a:lnSpc>
                          <a:spcPct val="100000"/>
                        </a:lnSpc>
                      </a:pPr>
                      <a:endParaRPr sz="1850">
                        <a:latin typeface="Times New Roman"/>
                        <a:cs typeface="Times New Roman"/>
                      </a:endParaRPr>
                    </a:p>
                    <a:p>
                      <a:pPr marL="91440">
                        <a:lnSpc>
                          <a:spcPct val="100000"/>
                        </a:lnSpc>
                      </a:pPr>
                      <a:r>
                        <a:rPr dirty="0" sz="1800" spc="-5">
                          <a:latin typeface="宋体"/>
                          <a:cs typeface="宋体"/>
                        </a:rPr>
                        <a:t>地理和社会特征</a:t>
                      </a:r>
                      <a:endParaRPr sz="1800">
                        <a:latin typeface="宋体"/>
                        <a:cs typeface="宋体"/>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30"/>
                        </a:spcBef>
                      </a:pPr>
                      <a:r>
                        <a:rPr dirty="0" sz="1800">
                          <a:latin typeface="宋体"/>
                          <a:cs typeface="宋体"/>
                        </a:rPr>
                        <a:t>地理：区域、国家</a:t>
                      </a:r>
                      <a:endParaRPr sz="1800">
                        <a:latin typeface="宋体"/>
                        <a:cs typeface="宋体"/>
                      </a:endParaRPr>
                    </a:p>
                  </a:txBody>
                  <a:tcPr marL="0" marR="0" marB="0" marT="800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2374">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25"/>
                        </a:spcBef>
                      </a:pPr>
                      <a:r>
                        <a:rPr dirty="0" sz="1800" spc="-5">
                          <a:latin typeface="宋体"/>
                          <a:cs typeface="宋体"/>
                        </a:rPr>
                        <a:t>文化背景</a:t>
                      </a:r>
                      <a:endParaRPr sz="1800">
                        <a:latin typeface="宋体"/>
                        <a:cs typeface="宋体"/>
                      </a:endParaRPr>
                    </a:p>
                  </a:txBody>
                  <a:tcPr marL="0" marR="0" marB="0" marT="793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54037">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635"/>
                        </a:spcBef>
                      </a:pPr>
                      <a:r>
                        <a:rPr dirty="0" sz="1800">
                          <a:latin typeface="宋体"/>
                          <a:cs typeface="宋体"/>
                        </a:rPr>
                        <a:t>社会关系</a:t>
                      </a:r>
                      <a:endParaRPr sz="1800">
                        <a:latin typeface="宋体"/>
                        <a:cs typeface="宋体"/>
                      </a:endParaRPr>
                    </a:p>
                  </a:txBody>
                  <a:tcPr marL="0" marR="0" marB="0" marT="806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8200" y="199466"/>
            <a:ext cx="5927725" cy="635000"/>
          </a:xfrm>
          <a:prstGeom prst="rect"/>
        </p:spPr>
        <p:txBody>
          <a:bodyPr wrap="square" lIns="0" tIns="12065" rIns="0" bIns="0" rtlCol="0" vert="horz">
            <a:spAutoFit/>
          </a:bodyPr>
          <a:lstStyle/>
          <a:p>
            <a:pPr marL="12700">
              <a:lnSpc>
                <a:spcPct val="100000"/>
              </a:lnSpc>
              <a:spcBef>
                <a:spcPts val="95"/>
              </a:spcBef>
            </a:pPr>
            <a:r>
              <a:rPr dirty="0" sz="4000" spc="-5">
                <a:latin typeface="Calibri"/>
                <a:cs typeface="Calibri"/>
              </a:rPr>
              <a:t>3.3.3</a:t>
            </a:r>
            <a:r>
              <a:rPr dirty="0" sz="4000" spc="-25">
                <a:latin typeface="Calibri"/>
                <a:cs typeface="Calibri"/>
              </a:rPr>
              <a:t> </a:t>
            </a:r>
            <a:r>
              <a:rPr dirty="0" sz="4000" spc="-10"/>
              <a:t>涉众描</a:t>
            </a:r>
            <a:r>
              <a:rPr dirty="0" sz="4000" spc="-5"/>
              <a:t>述</a:t>
            </a:r>
            <a:r>
              <a:rPr dirty="0" sz="4000" spc="-1110"/>
              <a:t> </a:t>
            </a:r>
            <a:r>
              <a:rPr dirty="0" sz="4000" spc="-5">
                <a:latin typeface="Calibri"/>
                <a:cs typeface="Calibri"/>
              </a:rPr>
              <a:t>(1)</a:t>
            </a:r>
            <a:r>
              <a:rPr dirty="0" sz="4000" spc="-20">
                <a:latin typeface="Calibri"/>
                <a:cs typeface="Calibri"/>
              </a:rPr>
              <a:t> </a:t>
            </a:r>
            <a:r>
              <a:rPr dirty="0" sz="4000" spc="-15">
                <a:latin typeface="Calibri"/>
                <a:cs typeface="Calibri"/>
              </a:rPr>
              <a:t>——</a:t>
            </a:r>
            <a:r>
              <a:rPr dirty="0" sz="4000" spc="-10"/>
              <a:t>示例</a:t>
            </a:r>
            <a:endParaRPr sz="4000">
              <a:latin typeface="Calibri"/>
              <a:cs typeface="Calibri"/>
            </a:endParaRPr>
          </a:p>
        </p:txBody>
      </p:sp>
      <p:graphicFrame>
        <p:nvGraphicFramePr>
          <p:cNvPr id="3" name="object 3"/>
          <p:cNvGraphicFramePr>
            <a:graphicFrameLocks noGrp="1"/>
          </p:cNvGraphicFramePr>
          <p:nvPr/>
        </p:nvGraphicFramePr>
        <p:xfrm>
          <a:off x="233451" y="952880"/>
          <a:ext cx="8587105" cy="5238115"/>
        </p:xfrm>
        <a:graphic>
          <a:graphicData uri="http://schemas.openxmlformats.org/drawingml/2006/table">
            <a:tbl>
              <a:tblPr firstRow="1" bandRow="1">
                <a:tableStyleId>{2D5ABB26-0587-4C30-8999-92F81FD0307C}</a:tableStyleId>
              </a:tblPr>
              <a:tblGrid>
                <a:gridCol w="1117600"/>
                <a:gridCol w="7451090"/>
              </a:tblGrid>
              <a:tr h="438150">
                <a:tc>
                  <a:txBody>
                    <a:bodyPr/>
                    <a:lstStyle/>
                    <a:p>
                      <a:pPr algn="r" marR="322580">
                        <a:lnSpc>
                          <a:spcPct val="100000"/>
                        </a:lnSpc>
                        <a:spcBef>
                          <a:spcPts val="300"/>
                        </a:spcBef>
                      </a:pPr>
                      <a:r>
                        <a:rPr dirty="0" sz="1800">
                          <a:latin typeface="微软雅黑"/>
                          <a:cs typeface="微软雅黑"/>
                        </a:rPr>
                        <a:t>涉众</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00"/>
                        </a:spcBef>
                      </a:pPr>
                      <a:r>
                        <a:rPr dirty="0" sz="1800">
                          <a:latin typeface="微软雅黑"/>
                          <a:cs typeface="微软雅黑"/>
                        </a:rPr>
                        <a:t>特征</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914273">
                <a:tc>
                  <a:txBody>
                    <a:bodyPr/>
                    <a:lstStyle/>
                    <a:p>
                      <a:pPr>
                        <a:lnSpc>
                          <a:spcPct val="100000"/>
                        </a:lnSpc>
                        <a:spcBef>
                          <a:spcPts val="45"/>
                        </a:spcBef>
                      </a:pPr>
                      <a:endParaRPr sz="2100">
                        <a:latin typeface="Times New Roman"/>
                        <a:cs typeface="Times New Roman"/>
                      </a:endParaRPr>
                    </a:p>
                    <a:p>
                      <a:pPr algn="r" marR="332105">
                        <a:lnSpc>
                          <a:spcPct val="100000"/>
                        </a:lnSpc>
                      </a:pPr>
                      <a:r>
                        <a:rPr dirty="0" sz="1800">
                          <a:latin typeface="微软雅黑"/>
                          <a:cs typeface="微软雅黑"/>
                        </a:rPr>
                        <a:t>药剂师</a:t>
                      </a:r>
                      <a:endParaRPr sz="1800">
                        <a:latin typeface="微软雅黑"/>
                        <a:cs typeface="微软雅黑"/>
                      </a:endParaRPr>
                    </a:p>
                  </a:txBody>
                  <a:tcPr marL="0" marR="0" marB="0" marT="57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marL="91440" marR="264795">
                        <a:lnSpc>
                          <a:spcPct val="100299"/>
                        </a:lnSpc>
                        <a:spcBef>
                          <a:spcPts val="284"/>
                        </a:spcBef>
                      </a:pPr>
                      <a:r>
                        <a:rPr dirty="0" sz="1800">
                          <a:latin typeface="微软雅黑"/>
                          <a:cs typeface="微软雅黑"/>
                        </a:rPr>
                        <a:t>药剂师将使用系统请求来自供应商和仓库的化学制品。药剂师每天多次 使用系统，主要用于跟踪进出实验室的化学制品容器。药剂师需要在供 应商目录中查找指定化学制品</a:t>
                      </a:r>
                      <a:endParaRPr sz="1800">
                        <a:latin typeface="微软雅黑"/>
                        <a:cs typeface="微软雅黑"/>
                      </a:endParaRPr>
                    </a:p>
                  </a:txBody>
                  <a:tcPr marL="0" marR="0" marB="0" marT="36194">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220724">
                <a:tc>
                  <a:txBody>
                    <a:bodyPr/>
                    <a:lstStyle/>
                    <a:p>
                      <a:pPr>
                        <a:lnSpc>
                          <a:spcPct val="100000"/>
                        </a:lnSpc>
                        <a:spcBef>
                          <a:spcPts val="45"/>
                        </a:spcBef>
                      </a:pPr>
                      <a:endParaRPr sz="3150">
                        <a:latin typeface="Times New Roman"/>
                        <a:cs typeface="Times New Roman"/>
                      </a:endParaRPr>
                    </a:p>
                    <a:p>
                      <a:pPr algn="r" marR="332105">
                        <a:lnSpc>
                          <a:spcPct val="100000"/>
                        </a:lnSpc>
                        <a:spcBef>
                          <a:spcPts val="5"/>
                        </a:spcBef>
                      </a:pPr>
                      <a:r>
                        <a:rPr dirty="0" sz="1800">
                          <a:latin typeface="微软雅黑"/>
                          <a:cs typeface="微软雅黑"/>
                        </a:rPr>
                        <a:t>采购者</a:t>
                      </a:r>
                      <a:endParaRPr sz="1800">
                        <a:latin typeface="微软雅黑"/>
                        <a:cs typeface="微软雅黑"/>
                      </a:endParaRPr>
                    </a:p>
                  </a:txBody>
                  <a:tcPr marL="0" marR="0" marB="0" marT="57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marL="91440" marR="264795">
                        <a:lnSpc>
                          <a:spcPct val="100200"/>
                        </a:lnSpc>
                        <a:spcBef>
                          <a:spcPts val="285"/>
                        </a:spcBef>
                      </a:pPr>
                      <a:r>
                        <a:rPr dirty="0" sz="1800">
                          <a:latin typeface="微软雅黑"/>
                          <a:cs typeface="微软雅黑"/>
                        </a:rPr>
                        <a:t>采购者在采购部门处理其他用户所提交的化学制品请求，他们与外部的 </a:t>
                      </a:r>
                      <a:r>
                        <a:rPr dirty="0" sz="1800" spc="-5">
                          <a:latin typeface="微软雅黑"/>
                          <a:cs typeface="微软雅黑"/>
                        </a:rPr>
                        <a:t>供应商建立联系，制定并发出订单。采购者对化学制品几乎不了解，因 </a:t>
                      </a:r>
                      <a:r>
                        <a:rPr dirty="0" sz="1800">
                          <a:latin typeface="微软雅黑"/>
                          <a:cs typeface="微软雅黑"/>
                        </a:rPr>
                        <a:t>此将需要简单的查询机制来查找供应商目录。采购者不使用系统中容器 跟踪这一特性。每个采购者平均每天使用系</a:t>
                      </a:r>
                      <a:r>
                        <a:rPr dirty="0" sz="1800" spc="5">
                          <a:latin typeface="微软雅黑"/>
                          <a:cs typeface="微软雅黑"/>
                        </a:rPr>
                        <a:t>统</a:t>
                      </a:r>
                      <a:r>
                        <a:rPr dirty="0" sz="1800">
                          <a:latin typeface="Times New Roman"/>
                          <a:cs typeface="Times New Roman"/>
                        </a:rPr>
                        <a:t>10</a:t>
                      </a:r>
                      <a:r>
                        <a:rPr dirty="0" sz="1800">
                          <a:latin typeface="微软雅黑"/>
                          <a:cs typeface="微软雅黑"/>
                        </a:rPr>
                        <a:t>次</a:t>
                      </a:r>
                      <a:endParaRPr sz="1800">
                        <a:latin typeface="微软雅黑"/>
                        <a:cs typeface="微软雅黑"/>
                      </a:endParaRPr>
                    </a:p>
                  </a:txBody>
                  <a:tcPr marL="0" marR="0" marB="0" marT="36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463040">
                <a:tc>
                  <a:txBody>
                    <a:bodyPr/>
                    <a:lstStyle/>
                    <a:p>
                      <a:pPr>
                        <a:lnSpc>
                          <a:spcPct val="100000"/>
                        </a:lnSpc>
                        <a:spcBef>
                          <a:spcPts val="10"/>
                        </a:spcBef>
                      </a:pPr>
                      <a:endParaRPr sz="3050">
                        <a:latin typeface="Times New Roman"/>
                        <a:cs typeface="Times New Roman"/>
                      </a:endParaRPr>
                    </a:p>
                    <a:p>
                      <a:pPr marL="91440" marR="103505">
                        <a:lnSpc>
                          <a:spcPct val="100600"/>
                        </a:lnSpc>
                        <a:spcBef>
                          <a:spcPts val="5"/>
                        </a:spcBef>
                      </a:pPr>
                      <a:r>
                        <a:rPr dirty="0" sz="1800">
                          <a:latin typeface="微软雅黑"/>
                          <a:cs typeface="微软雅黑"/>
                        </a:rPr>
                        <a:t>化学制品 仓库人员</a:t>
                      </a:r>
                      <a:endParaRPr sz="1800">
                        <a:latin typeface="微软雅黑"/>
                        <a:cs typeface="微软雅黑"/>
                      </a:endParaRPr>
                    </a:p>
                  </a:txBody>
                  <a:tcPr marL="0" marR="0" marB="0" marT="12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marL="91440" marR="205740">
                        <a:lnSpc>
                          <a:spcPct val="100099"/>
                        </a:lnSpc>
                        <a:spcBef>
                          <a:spcPts val="290"/>
                        </a:spcBef>
                      </a:pPr>
                      <a:r>
                        <a:rPr dirty="0" sz="1800">
                          <a:latin typeface="微软雅黑"/>
                          <a:cs typeface="微软雅黑"/>
                        </a:rPr>
                        <a:t>化学制品仓库人员包括三个技师，管理着多</a:t>
                      </a:r>
                      <a:r>
                        <a:rPr dirty="0" sz="1800" spc="5">
                          <a:latin typeface="微软雅黑"/>
                          <a:cs typeface="微软雅黑"/>
                        </a:rPr>
                        <a:t>达</a:t>
                      </a:r>
                      <a:r>
                        <a:rPr dirty="0" sz="1800">
                          <a:latin typeface="Times New Roman"/>
                          <a:cs typeface="Times New Roman"/>
                        </a:rPr>
                        <a:t>500</a:t>
                      </a:r>
                      <a:r>
                        <a:rPr dirty="0" sz="1800" spc="-95">
                          <a:latin typeface="Times New Roman"/>
                          <a:cs typeface="Times New Roman"/>
                        </a:rPr>
                        <a:t> </a:t>
                      </a:r>
                      <a:r>
                        <a:rPr dirty="0" sz="1800">
                          <a:latin typeface="Times New Roman"/>
                          <a:cs typeface="Times New Roman"/>
                        </a:rPr>
                        <a:t>000</a:t>
                      </a:r>
                      <a:r>
                        <a:rPr dirty="0" sz="1800">
                          <a:latin typeface="微软雅黑"/>
                          <a:cs typeface="微软雅黑"/>
                        </a:rPr>
                        <a:t>种化学制品容器。 他们将处理来自药剂师的请求并提供可用的容器，向供应商请求新的化 学制品以及跟踪进出仓库的所有容器的流向，他们是货存清单和化学制 品使用报告特性的唯一使用者。由于交易量大，化学制品仓库人员所使 </a:t>
                      </a:r>
                      <a:r>
                        <a:rPr dirty="0" sz="1800" spc="-5">
                          <a:latin typeface="微软雅黑"/>
                          <a:cs typeface="微软雅黑"/>
                        </a:rPr>
                        <a:t>用的系统功能必须是自动化并且高效</a:t>
                      </a:r>
                      <a:endParaRPr sz="1800">
                        <a:latin typeface="微软雅黑"/>
                        <a:cs typeface="微软雅黑"/>
                      </a:endParaRPr>
                    </a:p>
                  </a:txBody>
                  <a:tcPr marL="0" marR="0" marB="0" marT="368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188669">
                <a:tc>
                  <a:txBody>
                    <a:bodyPr/>
                    <a:lstStyle/>
                    <a:p>
                      <a:pPr>
                        <a:lnSpc>
                          <a:spcPct val="100000"/>
                        </a:lnSpc>
                        <a:spcBef>
                          <a:spcPts val="25"/>
                        </a:spcBef>
                      </a:pPr>
                      <a:endParaRPr sz="2100">
                        <a:latin typeface="Times New Roman"/>
                        <a:cs typeface="Times New Roman"/>
                      </a:endParaRPr>
                    </a:p>
                    <a:p>
                      <a:pPr marL="91440" marR="103505">
                        <a:lnSpc>
                          <a:spcPct val="100600"/>
                        </a:lnSpc>
                        <a:spcBef>
                          <a:spcPts val="5"/>
                        </a:spcBef>
                      </a:pPr>
                      <a:r>
                        <a:rPr dirty="0" sz="1800">
                          <a:latin typeface="微软雅黑"/>
                          <a:cs typeface="微软雅黑"/>
                        </a:rPr>
                        <a:t>卫生和安 全人员</a:t>
                      </a:r>
                      <a:endParaRPr sz="1800">
                        <a:latin typeface="微软雅黑"/>
                        <a:cs typeface="微软雅黑"/>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marL="91440" marR="264795">
                        <a:lnSpc>
                          <a:spcPct val="100200"/>
                        </a:lnSpc>
                        <a:spcBef>
                          <a:spcPts val="290"/>
                        </a:spcBef>
                      </a:pPr>
                      <a:r>
                        <a:rPr dirty="0" sz="1800">
                          <a:latin typeface="微软雅黑"/>
                          <a:cs typeface="微软雅黑"/>
                        </a:rPr>
                        <a:t>卫生和安全人员使用系统是为了生成符合官方关于化学制品使用和处理 规则的季度报表。这些报表必须提前定义，并不需要特别查询能力，当 官方的规则改变时，卫生和安全管理人员可能每年多次要求变化报表中 的内容。报表变更优先级最高</a:t>
                      </a:r>
                      <a:endParaRPr sz="1800">
                        <a:latin typeface="微软雅黑"/>
                        <a:cs typeface="微软雅黑"/>
                      </a:endParaRPr>
                    </a:p>
                  </a:txBody>
                  <a:tcPr marL="0" marR="0" marB="0" marT="3683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1107" y="6425590"/>
            <a:ext cx="2239645" cy="269240"/>
          </a:xfrm>
          <a:prstGeom prst="rect">
            <a:avLst/>
          </a:prstGeom>
        </p:spPr>
        <p:txBody>
          <a:bodyPr wrap="square" lIns="0" tIns="12065" rIns="0" bIns="0" rtlCol="0" vert="horz">
            <a:spAutoFit/>
          </a:bodyPr>
          <a:lstStyle/>
          <a:p>
            <a:pPr marL="12700">
              <a:lnSpc>
                <a:spcPct val="100000"/>
              </a:lnSpc>
              <a:spcBef>
                <a:spcPts val="95"/>
              </a:spcBef>
            </a:pPr>
            <a:r>
              <a:rPr dirty="0" sz="1600" spc="-5">
                <a:solidFill>
                  <a:srgbClr val="00663B"/>
                </a:solidFill>
                <a:latin typeface="华文行楷"/>
                <a:cs typeface="华文行楷"/>
              </a:rPr>
              <a:t>软件需求工程</a:t>
            </a:r>
            <a:r>
              <a:rPr dirty="0" sz="1600" spc="-20">
                <a:solidFill>
                  <a:srgbClr val="00663B"/>
                </a:solidFill>
                <a:latin typeface="华文行楷"/>
                <a:cs typeface="华文行楷"/>
              </a:rPr>
              <a:t>与</a:t>
            </a:r>
            <a:r>
              <a:rPr dirty="0" sz="1600" spc="-5">
                <a:solidFill>
                  <a:srgbClr val="00663B"/>
                </a:solidFill>
                <a:latin typeface="Calibri"/>
                <a:cs typeface="Calibri"/>
              </a:rPr>
              <a:t>UM</a:t>
            </a:r>
            <a:r>
              <a:rPr dirty="0" sz="1600" spc="-10">
                <a:solidFill>
                  <a:srgbClr val="00663B"/>
                </a:solidFill>
                <a:latin typeface="Calibri"/>
                <a:cs typeface="Calibri"/>
              </a:rPr>
              <a:t>L</a:t>
            </a:r>
            <a:r>
              <a:rPr dirty="0" sz="1600" spc="-5">
                <a:solidFill>
                  <a:srgbClr val="00663B"/>
                </a:solidFill>
                <a:latin typeface="华文行楷"/>
                <a:cs typeface="华文行楷"/>
              </a:rPr>
              <a:t>建模</a:t>
            </a:r>
            <a:endParaRPr sz="1600">
              <a:latin typeface="华文行楷"/>
              <a:cs typeface="华文行楷"/>
            </a:endParaRPr>
          </a:p>
        </p:txBody>
      </p:sp>
      <p:sp>
        <p:nvSpPr>
          <p:cNvPr id="3" name="object 3"/>
          <p:cNvSpPr txBox="1">
            <a:spLocks noGrp="1"/>
          </p:cNvSpPr>
          <p:nvPr>
            <p:ph type="title"/>
          </p:nvPr>
        </p:nvSpPr>
        <p:spPr>
          <a:xfrm>
            <a:off x="2374773" y="198501"/>
            <a:ext cx="4394835" cy="696595"/>
          </a:xfrm>
          <a:prstGeom prst="rect"/>
        </p:spPr>
        <p:txBody>
          <a:bodyPr wrap="square" lIns="0" tIns="12700" rIns="0" bIns="0" rtlCol="0" vert="horz">
            <a:spAutoFit/>
          </a:bodyPr>
          <a:lstStyle/>
          <a:p>
            <a:pPr marL="12700">
              <a:lnSpc>
                <a:spcPct val="100000"/>
              </a:lnSpc>
              <a:spcBef>
                <a:spcPts val="100"/>
              </a:spcBef>
              <a:tabLst>
                <a:tab pos="1396365" algn="l"/>
              </a:tabLst>
            </a:pPr>
            <a:r>
              <a:rPr dirty="0">
                <a:latin typeface="Calibri"/>
                <a:cs typeface="Calibri"/>
              </a:rPr>
              <a:t>3.3.3	</a:t>
            </a:r>
            <a:r>
              <a:rPr dirty="0"/>
              <a:t>涉众描述</a:t>
            </a:r>
            <a:r>
              <a:rPr dirty="0" spc="-1290"/>
              <a:t> </a:t>
            </a:r>
            <a:r>
              <a:rPr dirty="0" spc="-5">
                <a:latin typeface="Calibri"/>
                <a:cs typeface="Calibri"/>
              </a:rPr>
              <a:t>(2)</a:t>
            </a:r>
          </a:p>
        </p:txBody>
      </p:sp>
      <p:sp>
        <p:nvSpPr>
          <p:cNvPr id="4" name="object 4"/>
          <p:cNvSpPr txBox="1"/>
          <p:nvPr/>
        </p:nvSpPr>
        <p:spPr>
          <a:xfrm>
            <a:off x="535940" y="1645361"/>
            <a:ext cx="7689850" cy="3703320"/>
          </a:xfrm>
          <a:prstGeom prst="rect">
            <a:avLst/>
          </a:prstGeom>
        </p:spPr>
        <p:txBody>
          <a:bodyPr wrap="square" lIns="0" tIns="53975" rIns="0" bIns="0" rtlCol="0" vert="horz">
            <a:spAutoFit/>
          </a:bodyPr>
          <a:lstStyle/>
          <a:p>
            <a:pPr marL="355600" marR="5080" indent="-343535">
              <a:lnSpc>
                <a:spcPts val="3600"/>
              </a:lnSpc>
              <a:spcBef>
                <a:spcPts val="425"/>
              </a:spcBef>
              <a:buClr>
                <a:srgbClr val="00663B"/>
              </a:buClr>
              <a:buSzPct val="79687"/>
              <a:buFont typeface="Wingdings"/>
              <a:buChar char=""/>
              <a:tabLst>
                <a:tab pos="356235" algn="l"/>
              </a:tabLst>
            </a:pPr>
            <a:r>
              <a:rPr dirty="0" sz="3200">
                <a:latin typeface="宋体"/>
                <a:cs typeface="宋体"/>
              </a:rPr>
              <a:t>对项目的</a:t>
            </a:r>
            <a:r>
              <a:rPr dirty="0" sz="3200" spc="5">
                <a:solidFill>
                  <a:srgbClr val="00A15F"/>
                </a:solidFill>
                <a:latin typeface="宋体"/>
                <a:cs typeface="宋体"/>
              </a:rPr>
              <a:t>关注</a:t>
            </a:r>
            <a:r>
              <a:rPr dirty="0" sz="3200">
                <a:solidFill>
                  <a:srgbClr val="00A15F"/>
                </a:solidFill>
                <a:latin typeface="宋体"/>
                <a:cs typeface="宋体"/>
              </a:rPr>
              <a:t>点</a:t>
            </a:r>
            <a:r>
              <a:rPr dirty="0" sz="3200">
                <a:latin typeface="宋体"/>
                <a:cs typeface="宋体"/>
              </a:rPr>
              <a:t>和</a:t>
            </a:r>
            <a:r>
              <a:rPr dirty="0" sz="3200" spc="5">
                <a:solidFill>
                  <a:srgbClr val="00A15F"/>
                </a:solidFill>
                <a:latin typeface="宋体"/>
                <a:cs typeface="宋体"/>
              </a:rPr>
              <a:t>兴</a:t>
            </a:r>
            <a:r>
              <a:rPr dirty="0" sz="3200">
                <a:solidFill>
                  <a:srgbClr val="00A15F"/>
                </a:solidFill>
                <a:latin typeface="宋体"/>
                <a:cs typeface="宋体"/>
              </a:rPr>
              <a:t>趣</a:t>
            </a:r>
            <a:r>
              <a:rPr dirty="0" sz="3200" spc="-10">
                <a:latin typeface="宋体"/>
                <a:cs typeface="宋体"/>
              </a:rPr>
              <a:t>所</a:t>
            </a:r>
            <a:r>
              <a:rPr dirty="0" sz="3200" spc="5">
                <a:latin typeface="宋体"/>
                <a:cs typeface="宋体"/>
              </a:rPr>
              <a:t>在，</a:t>
            </a:r>
            <a:r>
              <a:rPr dirty="0" sz="3200" spc="-15">
                <a:latin typeface="宋体"/>
                <a:cs typeface="宋体"/>
              </a:rPr>
              <a:t>态</a:t>
            </a:r>
            <a:r>
              <a:rPr dirty="0" sz="3200" spc="5">
                <a:latin typeface="宋体"/>
                <a:cs typeface="宋体"/>
              </a:rPr>
              <a:t>度是</a:t>
            </a:r>
            <a:r>
              <a:rPr dirty="0" sz="3200" spc="-15">
                <a:latin typeface="宋体"/>
                <a:cs typeface="宋体"/>
              </a:rPr>
              <a:t>反</a:t>
            </a:r>
            <a:r>
              <a:rPr dirty="0" sz="3200">
                <a:latin typeface="宋体"/>
                <a:cs typeface="宋体"/>
              </a:rPr>
              <a:t>对 </a:t>
            </a:r>
            <a:r>
              <a:rPr dirty="0" sz="3200">
                <a:latin typeface="宋体"/>
                <a:cs typeface="宋体"/>
              </a:rPr>
              <a:t>还是赞同；</a:t>
            </a:r>
            <a:endParaRPr sz="3200">
              <a:latin typeface="宋体"/>
              <a:cs typeface="宋体"/>
            </a:endParaRPr>
          </a:p>
          <a:p>
            <a:pPr marL="355600" indent="-343535">
              <a:lnSpc>
                <a:spcPct val="100000"/>
              </a:lnSpc>
              <a:spcBef>
                <a:spcPts val="690"/>
              </a:spcBef>
              <a:buClr>
                <a:srgbClr val="00663B"/>
              </a:buClr>
              <a:buSzPct val="79687"/>
              <a:buFont typeface="Wingdings"/>
              <a:buChar char=""/>
              <a:tabLst>
                <a:tab pos="356235" algn="l"/>
              </a:tabLst>
            </a:pPr>
            <a:r>
              <a:rPr dirty="0" sz="3200">
                <a:latin typeface="宋体"/>
                <a:cs typeface="宋体"/>
              </a:rPr>
              <a:t>对</a:t>
            </a:r>
            <a:r>
              <a:rPr dirty="0" sz="3200">
                <a:solidFill>
                  <a:srgbClr val="00A15F"/>
                </a:solidFill>
                <a:latin typeface="宋体"/>
                <a:cs typeface="宋体"/>
              </a:rPr>
              <a:t>项目的期</a:t>
            </a:r>
            <a:r>
              <a:rPr dirty="0" sz="3200" spc="5">
                <a:solidFill>
                  <a:srgbClr val="00A15F"/>
                </a:solidFill>
                <a:latin typeface="宋体"/>
                <a:cs typeface="宋体"/>
              </a:rPr>
              <a:t>望</a:t>
            </a:r>
            <a:r>
              <a:rPr dirty="0" sz="3200" spc="5">
                <a:latin typeface="宋体"/>
                <a:cs typeface="宋体"/>
              </a:rPr>
              <a:t>，成为项</a:t>
            </a:r>
            <a:r>
              <a:rPr dirty="0" sz="3200" spc="-20">
                <a:latin typeface="宋体"/>
                <a:cs typeface="宋体"/>
              </a:rPr>
              <a:t>目</a:t>
            </a:r>
            <a:r>
              <a:rPr dirty="0" sz="3200" spc="5">
                <a:latin typeface="宋体"/>
                <a:cs typeface="宋体"/>
              </a:rPr>
              <a:t>赢家</a:t>
            </a:r>
            <a:r>
              <a:rPr dirty="0" sz="3200" spc="-15">
                <a:latin typeface="宋体"/>
                <a:cs typeface="宋体"/>
              </a:rPr>
              <a:t>的</a:t>
            </a:r>
            <a:r>
              <a:rPr dirty="0" sz="3200" spc="5">
                <a:latin typeface="宋体"/>
                <a:cs typeface="宋体"/>
              </a:rPr>
              <a:t>条件；</a:t>
            </a:r>
            <a:endParaRPr sz="3200">
              <a:latin typeface="宋体"/>
              <a:cs typeface="宋体"/>
            </a:endParaRPr>
          </a:p>
          <a:p>
            <a:pPr marL="355600" marR="5715" indent="-343535">
              <a:lnSpc>
                <a:spcPts val="3600"/>
              </a:lnSpc>
              <a:spcBef>
                <a:spcPts val="1330"/>
              </a:spcBef>
              <a:buClr>
                <a:srgbClr val="00663B"/>
              </a:buClr>
              <a:buSzPct val="79687"/>
              <a:buFont typeface="Wingdings"/>
              <a:buChar char=""/>
              <a:tabLst>
                <a:tab pos="356235" algn="l"/>
              </a:tabLst>
            </a:pPr>
            <a:r>
              <a:rPr dirty="0" sz="3200">
                <a:latin typeface="宋体"/>
                <a:cs typeface="宋体"/>
              </a:rPr>
              <a:t>可能受到的</a:t>
            </a:r>
            <a:r>
              <a:rPr dirty="0" sz="3200">
                <a:solidFill>
                  <a:srgbClr val="00A15F"/>
                </a:solidFill>
                <a:latin typeface="宋体"/>
                <a:cs typeface="宋体"/>
              </a:rPr>
              <a:t>项目的影响</a:t>
            </a:r>
            <a:r>
              <a:rPr dirty="0" sz="3200" spc="-15">
                <a:latin typeface="宋体"/>
                <a:cs typeface="宋体"/>
              </a:rPr>
              <a:t>，</a:t>
            </a:r>
            <a:r>
              <a:rPr dirty="0" sz="3200">
                <a:latin typeface="宋体"/>
                <a:cs typeface="宋体"/>
              </a:rPr>
              <a:t>影响</a:t>
            </a:r>
            <a:r>
              <a:rPr dirty="0" sz="3200" spc="-15">
                <a:latin typeface="宋体"/>
                <a:cs typeface="宋体"/>
              </a:rPr>
              <a:t>的</a:t>
            </a:r>
            <a:r>
              <a:rPr dirty="0" sz="3200">
                <a:latin typeface="宋体"/>
                <a:cs typeface="宋体"/>
              </a:rPr>
              <a:t>具体</a:t>
            </a:r>
            <a:r>
              <a:rPr dirty="0" sz="3200" spc="-15">
                <a:latin typeface="宋体"/>
                <a:cs typeface="宋体"/>
              </a:rPr>
              <a:t>内</a:t>
            </a:r>
            <a:r>
              <a:rPr dirty="0" sz="3200">
                <a:latin typeface="宋体"/>
                <a:cs typeface="宋体"/>
              </a:rPr>
              <a:t>容 </a:t>
            </a:r>
            <a:r>
              <a:rPr dirty="0" sz="3200">
                <a:latin typeface="宋体"/>
                <a:cs typeface="宋体"/>
              </a:rPr>
              <a:t>及影响程度；</a:t>
            </a:r>
            <a:endParaRPr sz="3200">
              <a:latin typeface="宋体"/>
              <a:cs typeface="宋体"/>
            </a:endParaRPr>
          </a:p>
          <a:p>
            <a:pPr marL="355600" marR="5080" indent="-343535">
              <a:lnSpc>
                <a:spcPts val="3600"/>
              </a:lnSpc>
              <a:spcBef>
                <a:spcPts val="1250"/>
              </a:spcBef>
              <a:buClr>
                <a:srgbClr val="00663B"/>
              </a:buClr>
              <a:buSzPct val="79687"/>
              <a:buFont typeface="Wingdings"/>
              <a:buChar char=""/>
              <a:tabLst>
                <a:tab pos="356235" algn="l"/>
              </a:tabLst>
            </a:pPr>
            <a:r>
              <a:rPr dirty="0" sz="3200">
                <a:latin typeface="宋体"/>
                <a:cs typeface="宋体"/>
              </a:rPr>
              <a:t>可以</a:t>
            </a:r>
            <a:r>
              <a:rPr dirty="0" sz="3200">
                <a:solidFill>
                  <a:srgbClr val="00A15F"/>
                </a:solidFill>
                <a:latin typeface="宋体"/>
                <a:cs typeface="宋体"/>
              </a:rPr>
              <a:t>对项目施加的影</a:t>
            </a:r>
            <a:r>
              <a:rPr dirty="0" sz="3200" spc="5">
                <a:solidFill>
                  <a:srgbClr val="00A15F"/>
                </a:solidFill>
                <a:latin typeface="宋体"/>
                <a:cs typeface="宋体"/>
              </a:rPr>
              <a:t>响</a:t>
            </a:r>
            <a:r>
              <a:rPr dirty="0" sz="3200" spc="-10">
                <a:latin typeface="宋体"/>
                <a:cs typeface="宋体"/>
              </a:rPr>
              <a:t>，</a:t>
            </a:r>
            <a:r>
              <a:rPr dirty="0" sz="3200" spc="5">
                <a:latin typeface="宋体"/>
                <a:cs typeface="宋体"/>
              </a:rPr>
              <a:t>力量</a:t>
            </a:r>
            <a:r>
              <a:rPr dirty="0" sz="3200" spc="-15">
                <a:latin typeface="宋体"/>
                <a:cs typeface="宋体"/>
              </a:rPr>
              <a:t>的</a:t>
            </a:r>
            <a:r>
              <a:rPr dirty="0" sz="3200" spc="5">
                <a:latin typeface="宋体"/>
                <a:cs typeface="宋体"/>
              </a:rPr>
              <a:t>施加</a:t>
            </a:r>
            <a:r>
              <a:rPr dirty="0" sz="3200" spc="-15">
                <a:latin typeface="宋体"/>
                <a:cs typeface="宋体"/>
              </a:rPr>
              <a:t>点</a:t>
            </a:r>
            <a:r>
              <a:rPr dirty="0" sz="3200">
                <a:latin typeface="宋体"/>
                <a:cs typeface="宋体"/>
              </a:rPr>
              <a:t>及 </a:t>
            </a:r>
            <a:r>
              <a:rPr dirty="0" sz="3200">
                <a:latin typeface="宋体"/>
                <a:cs typeface="宋体"/>
              </a:rPr>
              <a:t>其强度。</a:t>
            </a:r>
            <a:endParaRPr sz="3200">
              <a:latin typeface="宋体"/>
              <a:cs typeface="宋体"/>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5454" y="187198"/>
            <a:ext cx="7613015" cy="635000"/>
          </a:xfrm>
          <a:prstGeom prst="rect"/>
        </p:spPr>
        <p:txBody>
          <a:bodyPr wrap="square" lIns="0" tIns="12065" rIns="0" bIns="0" rtlCol="0" vert="horz">
            <a:spAutoFit/>
          </a:bodyPr>
          <a:lstStyle/>
          <a:p>
            <a:pPr marL="12700">
              <a:lnSpc>
                <a:spcPct val="100000"/>
              </a:lnSpc>
              <a:spcBef>
                <a:spcPts val="95"/>
              </a:spcBef>
              <a:tabLst>
                <a:tab pos="1269365" algn="l"/>
              </a:tabLst>
            </a:pPr>
            <a:r>
              <a:rPr dirty="0" sz="4000" spc="-5">
                <a:latin typeface="Calibri"/>
                <a:cs typeface="Calibri"/>
              </a:rPr>
              <a:t>3.3.3	</a:t>
            </a:r>
            <a:r>
              <a:rPr dirty="0" sz="4000" spc="-5"/>
              <a:t>涉众描述</a:t>
            </a:r>
            <a:r>
              <a:rPr dirty="0" sz="4000" spc="-1130"/>
              <a:t> </a:t>
            </a:r>
            <a:r>
              <a:rPr dirty="0" sz="4000" spc="-5">
                <a:latin typeface="Calibri"/>
                <a:cs typeface="Calibri"/>
              </a:rPr>
              <a:t>(2)</a:t>
            </a:r>
            <a:r>
              <a:rPr dirty="0" sz="4000" spc="-40">
                <a:latin typeface="Calibri"/>
                <a:cs typeface="Calibri"/>
              </a:rPr>
              <a:t> </a:t>
            </a:r>
            <a:r>
              <a:rPr dirty="0" sz="4000" spc="-15">
                <a:latin typeface="Calibri"/>
                <a:cs typeface="Calibri"/>
              </a:rPr>
              <a:t>—</a:t>
            </a:r>
            <a:r>
              <a:rPr dirty="0" sz="4000" spc="-5"/>
              <a:t>自助餐厅示例</a:t>
            </a:r>
            <a:endParaRPr sz="4000">
              <a:latin typeface="Calibri"/>
              <a:cs typeface="Calibri"/>
            </a:endParaRPr>
          </a:p>
        </p:txBody>
      </p:sp>
      <p:graphicFrame>
        <p:nvGraphicFramePr>
          <p:cNvPr id="3" name="object 3"/>
          <p:cNvGraphicFramePr>
            <a:graphicFrameLocks noGrp="1"/>
          </p:cNvGraphicFramePr>
          <p:nvPr/>
        </p:nvGraphicFramePr>
        <p:xfrm>
          <a:off x="293966" y="1147825"/>
          <a:ext cx="8249284" cy="4919980"/>
        </p:xfrm>
        <a:graphic>
          <a:graphicData uri="http://schemas.openxmlformats.org/drawingml/2006/table">
            <a:tbl>
              <a:tblPr firstRow="1" bandRow="1">
                <a:tableStyleId>{2D5ABB26-0587-4C30-8999-92F81FD0307C}</a:tableStyleId>
              </a:tblPr>
              <a:tblGrid>
                <a:gridCol w="1105535"/>
                <a:gridCol w="1577340"/>
                <a:gridCol w="2147570"/>
                <a:gridCol w="1838325"/>
                <a:gridCol w="1560829"/>
              </a:tblGrid>
              <a:tr h="365760">
                <a:tc>
                  <a:txBody>
                    <a:bodyPr/>
                    <a:lstStyle/>
                    <a:p>
                      <a:pPr marL="323215">
                        <a:lnSpc>
                          <a:spcPct val="100000"/>
                        </a:lnSpc>
                        <a:spcBef>
                          <a:spcPts val="300"/>
                        </a:spcBef>
                      </a:pPr>
                      <a:r>
                        <a:rPr dirty="0" sz="1800" b="1">
                          <a:latin typeface="微软雅黑"/>
                          <a:cs typeface="微软雅黑"/>
                        </a:rPr>
                        <a:t>涉众</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31470">
                        <a:lnSpc>
                          <a:spcPct val="100000"/>
                        </a:lnSpc>
                        <a:spcBef>
                          <a:spcPts val="300"/>
                        </a:spcBef>
                      </a:pPr>
                      <a:r>
                        <a:rPr dirty="0" sz="1800" b="1">
                          <a:latin typeface="微软雅黑"/>
                          <a:cs typeface="微软雅黑"/>
                        </a:rPr>
                        <a:t>主要目标</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00"/>
                        </a:spcBef>
                      </a:pPr>
                      <a:r>
                        <a:rPr dirty="0" sz="1800" b="1">
                          <a:latin typeface="微软雅黑"/>
                          <a:cs typeface="微软雅黑"/>
                        </a:rPr>
                        <a:t>态度</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47345">
                        <a:lnSpc>
                          <a:spcPct val="100000"/>
                        </a:lnSpc>
                        <a:spcBef>
                          <a:spcPts val="300"/>
                        </a:spcBef>
                      </a:pPr>
                      <a:r>
                        <a:rPr dirty="0" sz="1800" b="1">
                          <a:latin typeface="微软雅黑"/>
                          <a:cs typeface="微软雅黑"/>
                        </a:rPr>
                        <a:t>主要关注点</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23215">
                        <a:lnSpc>
                          <a:spcPct val="100000"/>
                        </a:lnSpc>
                        <a:spcBef>
                          <a:spcPts val="300"/>
                        </a:spcBef>
                      </a:pPr>
                      <a:r>
                        <a:rPr dirty="0" sz="1800" b="1">
                          <a:latin typeface="微软雅黑"/>
                          <a:cs typeface="微软雅黑"/>
                        </a:rPr>
                        <a:t>约束条件</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188719">
                <a:tc>
                  <a:txBody>
                    <a:bodyPr/>
                    <a:lstStyle/>
                    <a:p>
                      <a:pPr>
                        <a:lnSpc>
                          <a:spcPct val="100000"/>
                        </a:lnSpc>
                        <a:spcBef>
                          <a:spcPts val="35"/>
                        </a:spcBef>
                      </a:pPr>
                      <a:endParaRPr sz="2100">
                        <a:latin typeface="Times New Roman"/>
                        <a:cs typeface="Times New Roman"/>
                      </a:endParaRPr>
                    </a:p>
                    <a:p>
                      <a:pPr marL="91440">
                        <a:lnSpc>
                          <a:spcPct val="100000"/>
                        </a:lnSpc>
                      </a:pPr>
                      <a:r>
                        <a:rPr dirty="0" sz="1800">
                          <a:latin typeface="微软雅黑"/>
                          <a:cs typeface="微软雅黑"/>
                        </a:rPr>
                        <a:t>公司管理</a:t>
                      </a:r>
                      <a:endParaRPr sz="1800">
                        <a:latin typeface="微软雅黑"/>
                        <a:cs typeface="微软雅黑"/>
                      </a:endParaRPr>
                    </a:p>
                    <a:p>
                      <a:pPr marL="91440">
                        <a:lnSpc>
                          <a:spcPct val="100000"/>
                        </a:lnSpc>
                        <a:spcBef>
                          <a:spcPts val="10"/>
                        </a:spcBef>
                      </a:pPr>
                      <a:r>
                        <a:rPr dirty="0" sz="1800">
                          <a:latin typeface="微软雅黑"/>
                          <a:cs typeface="微软雅黑"/>
                        </a:rPr>
                        <a:t>层</a:t>
                      </a:r>
                      <a:endParaRPr sz="1800">
                        <a:latin typeface="微软雅黑"/>
                        <a:cs typeface="微软雅黑"/>
                      </a:endParaRPr>
                    </a:p>
                  </a:txBody>
                  <a:tcPr marL="0" marR="0" marB="0" marT="44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marL="91440" marR="104139">
                        <a:lnSpc>
                          <a:spcPct val="100299"/>
                        </a:lnSpc>
                        <a:spcBef>
                          <a:spcPts val="1365"/>
                        </a:spcBef>
                      </a:pPr>
                      <a:r>
                        <a:rPr dirty="0" sz="1800">
                          <a:latin typeface="微软雅黑"/>
                          <a:cs typeface="微软雅黑"/>
                        </a:rPr>
                        <a:t>提高员工生产 率；节约自助 餐厅的费用</a:t>
                      </a:r>
                      <a:endParaRPr sz="1800">
                        <a:latin typeface="微软雅黑"/>
                        <a:cs typeface="微软雅黑"/>
                      </a:endParaRPr>
                    </a:p>
                  </a:txBody>
                  <a:tcPr marL="0" marR="0" marB="0" marT="1733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104775">
                        <a:lnSpc>
                          <a:spcPct val="100299"/>
                        </a:lnSpc>
                        <a:spcBef>
                          <a:spcPts val="1365"/>
                        </a:spcBef>
                      </a:pPr>
                      <a:r>
                        <a:rPr dirty="0" sz="1800">
                          <a:latin typeface="微软雅黑"/>
                          <a:cs typeface="微软雅黑"/>
                        </a:rPr>
                        <a:t>强烈承诺完成版本</a:t>
                      </a:r>
                      <a:r>
                        <a:rPr dirty="0" sz="1800">
                          <a:latin typeface="Times New Roman"/>
                          <a:cs typeface="Times New Roman"/>
                        </a:rPr>
                        <a:t>2 </a:t>
                      </a:r>
                      <a:r>
                        <a:rPr dirty="0" sz="1800">
                          <a:latin typeface="微软雅黑"/>
                          <a:cs typeface="微软雅黑"/>
                        </a:rPr>
                        <a:t>如果有条件尽早完 </a:t>
                      </a:r>
                      <a:r>
                        <a:rPr dirty="0" sz="1800" spc="-5">
                          <a:latin typeface="微软雅黑"/>
                          <a:cs typeface="微软雅黑"/>
                        </a:rPr>
                        <a:t>成版本</a:t>
                      </a:r>
                      <a:r>
                        <a:rPr dirty="0" sz="1800">
                          <a:latin typeface="Times New Roman"/>
                          <a:cs typeface="Times New Roman"/>
                        </a:rPr>
                        <a:t>3</a:t>
                      </a:r>
                      <a:endParaRPr sz="1800">
                        <a:latin typeface="Times New Roman"/>
                        <a:cs typeface="Times New Roman"/>
                      </a:endParaRPr>
                    </a:p>
                  </a:txBody>
                  <a:tcPr marL="0" marR="0" marB="0" marT="17335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marL="92075" marR="137795" indent="-181610">
                        <a:lnSpc>
                          <a:spcPct val="100200"/>
                        </a:lnSpc>
                        <a:spcBef>
                          <a:spcPts val="285"/>
                        </a:spcBef>
                      </a:pPr>
                      <a:r>
                        <a:rPr dirty="0" baseline="-33950" sz="2700" spc="-562">
                          <a:latin typeface="微软雅黑"/>
                          <a:cs typeface="微软雅黑"/>
                        </a:rPr>
                        <a:t>；</a:t>
                      </a:r>
                      <a:r>
                        <a:rPr dirty="0" sz="1800">
                          <a:latin typeface="微软雅黑"/>
                          <a:cs typeface="微软雅黑"/>
                        </a:rPr>
                        <a:t>使用该系统所节 约的费用必须超 </a:t>
                      </a:r>
                      <a:r>
                        <a:rPr dirty="0" sz="1800" spc="-5">
                          <a:latin typeface="微软雅黑"/>
                          <a:cs typeface="微软雅黑"/>
                        </a:rPr>
                        <a:t>过开发和使用此 </a:t>
                      </a:r>
                      <a:r>
                        <a:rPr dirty="0" sz="1800">
                          <a:latin typeface="微软雅黑"/>
                          <a:cs typeface="微软雅黑"/>
                        </a:rPr>
                        <a:t>系统的费用</a:t>
                      </a:r>
                      <a:endParaRPr sz="1800">
                        <a:latin typeface="微软雅黑"/>
                        <a:cs typeface="微软雅黑"/>
                      </a:endParaRPr>
                    </a:p>
                  </a:txBody>
                  <a:tcPr marL="0" marR="0" marB="0" marT="3619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5"/>
                        </a:spcBef>
                      </a:pPr>
                      <a:endParaRPr sz="3050">
                        <a:latin typeface="Times New Roman"/>
                        <a:cs typeface="Times New Roman"/>
                      </a:endParaRPr>
                    </a:p>
                    <a:p>
                      <a:pPr marL="92075">
                        <a:lnSpc>
                          <a:spcPct val="100000"/>
                        </a:lnSpc>
                      </a:pPr>
                      <a:r>
                        <a:rPr dirty="0" sz="1800">
                          <a:latin typeface="微软雅黑"/>
                          <a:cs typeface="微软雅黑"/>
                        </a:rPr>
                        <a:t>无</a:t>
                      </a:r>
                      <a:endParaRPr sz="1800">
                        <a:latin typeface="微软雅黑"/>
                        <a:cs typeface="微软雅黑"/>
                      </a:endParaRPr>
                    </a:p>
                  </a:txBody>
                  <a:tcPr marL="0" marR="0" marB="0" marT="444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554353">
                <a:tc>
                  <a:txBody>
                    <a:bodyPr/>
                    <a:lstStyle/>
                    <a:p>
                      <a:pPr>
                        <a:lnSpc>
                          <a:spcPct val="100000"/>
                        </a:lnSpc>
                        <a:spcBef>
                          <a:spcPts val="25"/>
                        </a:spcBef>
                      </a:pPr>
                      <a:endParaRPr sz="3350">
                        <a:latin typeface="Times New Roman"/>
                        <a:cs typeface="Times New Roman"/>
                      </a:endParaRPr>
                    </a:p>
                    <a:p>
                      <a:pPr marL="91440" marR="91440">
                        <a:lnSpc>
                          <a:spcPct val="100600"/>
                        </a:lnSpc>
                      </a:pPr>
                      <a:r>
                        <a:rPr dirty="0" sz="1800">
                          <a:latin typeface="微软雅黑"/>
                          <a:cs typeface="微软雅黑"/>
                        </a:rPr>
                        <a:t>自助餐厅 工作人员</a:t>
                      </a:r>
                      <a:endParaRPr sz="1800">
                        <a:latin typeface="微软雅黑"/>
                        <a:cs typeface="微软雅黑"/>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marL="91440" marR="104139">
                        <a:lnSpc>
                          <a:spcPct val="100099"/>
                        </a:lnSpc>
                        <a:spcBef>
                          <a:spcPts val="650"/>
                        </a:spcBef>
                      </a:pPr>
                      <a:r>
                        <a:rPr dirty="0" sz="1800">
                          <a:latin typeface="微软雅黑"/>
                          <a:cs typeface="微软雅黑"/>
                        </a:rPr>
                        <a:t>更高效地利用 了工作人员的 整个工作时间 提高了客户的 满意度</a:t>
                      </a:r>
                      <a:endParaRPr sz="1800">
                        <a:latin typeface="微软雅黑"/>
                        <a:cs typeface="微软雅黑"/>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1730"/>
                        </a:spcBef>
                      </a:pPr>
                      <a:r>
                        <a:rPr dirty="0" sz="1800">
                          <a:latin typeface="微软雅黑"/>
                          <a:cs typeface="微软雅黑"/>
                        </a:rPr>
                        <a:t>担心与工会的关系</a:t>
                      </a:r>
                      <a:endParaRPr sz="1800">
                        <a:latin typeface="微软雅黑"/>
                        <a:cs typeface="微软雅黑"/>
                      </a:endParaRPr>
                    </a:p>
                    <a:p>
                      <a:pPr marL="91440" marR="219075" indent="-180340">
                        <a:lnSpc>
                          <a:spcPct val="100000"/>
                        </a:lnSpc>
                        <a:spcBef>
                          <a:spcPts val="5"/>
                        </a:spcBef>
                      </a:pPr>
                      <a:r>
                        <a:rPr dirty="0" baseline="-33950" sz="2700" spc="-577">
                          <a:latin typeface="微软雅黑"/>
                          <a:cs typeface="微软雅黑"/>
                        </a:rPr>
                        <a:t>；</a:t>
                      </a:r>
                      <a:r>
                        <a:rPr dirty="0" sz="1800">
                          <a:latin typeface="微软雅黑"/>
                          <a:cs typeface="微软雅黑"/>
                        </a:rPr>
                        <a:t>和可能的裁员，否 则很愿意接受新系</a:t>
                      </a:r>
                      <a:endParaRPr sz="1800">
                        <a:latin typeface="微软雅黑"/>
                        <a:cs typeface="微软雅黑"/>
                      </a:endParaRPr>
                    </a:p>
                    <a:p>
                      <a:pPr marL="91440">
                        <a:lnSpc>
                          <a:spcPct val="100000"/>
                        </a:lnSpc>
                        <a:spcBef>
                          <a:spcPts val="10"/>
                        </a:spcBef>
                      </a:pPr>
                      <a:r>
                        <a:rPr dirty="0" sz="1800">
                          <a:latin typeface="微软雅黑"/>
                          <a:cs typeface="微软雅黑"/>
                        </a:rPr>
                        <a:t>统</a:t>
                      </a:r>
                      <a:endParaRPr sz="1800">
                        <a:latin typeface="微软雅黑"/>
                        <a:cs typeface="微软雅黑"/>
                      </a:endParaRPr>
                    </a:p>
                  </a:txBody>
                  <a:tcPr marL="0" marR="0" marB="0" marT="2197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a:cs typeface="Times New Roman"/>
                      </a:endParaRPr>
                    </a:p>
                    <a:p>
                      <a:pPr>
                        <a:lnSpc>
                          <a:spcPct val="100000"/>
                        </a:lnSpc>
                        <a:spcBef>
                          <a:spcPts val="40"/>
                        </a:spcBef>
                      </a:pPr>
                      <a:endParaRPr sz="1900">
                        <a:latin typeface="Times New Roman"/>
                        <a:cs typeface="Times New Roman"/>
                      </a:endParaRPr>
                    </a:p>
                    <a:p>
                      <a:pPr marL="92075">
                        <a:lnSpc>
                          <a:spcPct val="100000"/>
                        </a:lnSpc>
                      </a:pPr>
                      <a:r>
                        <a:rPr dirty="0" sz="1800">
                          <a:latin typeface="微软雅黑"/>
                          <a:cs typeface="微软雅黑"/>
                        </a:rPr>
                        <a:t>保证工作</a:t>
                      </a:r>
                      <a:endParaRPr sz="1800">
                        <a:latin typeface="微软雅黑"/>
                        <a:cs typeface="微软雅黑"/>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86360">
                        <a:lnSpc>
                          <a:spcPct val="100099"/>
                        </a:lnSpc>
                        <a:spcBef>
                          <a:spcPts val="650"/>
                        </a:spcBef>
                      </a:pPr>
                      <a:r>
                        <a:rPr dirty="0" sz="1800">
                          <a:latin typeface="微软雅黑"/>
                          <a:cs typeface="微软雅黑"/>
                        </a:rPr>
                        <a:t>培训工作人员 使 </a:t>
                      </a:r>
                      <a:r>
                        <a:rPr dirty="0" sz="1800" spc="-5">
                          <a:latin typeface="微软雅黑"/>
                          <a:cs typeface="微软雅黑"/>
                        </a:rPr>
                        <a:t>用 </a:t>
                      </a:r>
                      <a:r>
                        <a:rPr dirty="0" sz="1800">
                          <a:latin typeface="Times New Roman"/>
                          <a:cs typeface="Times New Roman"/>
                        </a:rPr>
                        <a:t>Internet  </a:t>
                      </a:r>
                      <a:r>
                        <a:rPr dirty="0" sz="1800">
                          <a:latin typeface="微软雅黑"/>
                          <a:cs typeface="微软雅黑"/>
                        </a:rPr>
                        <a:t>的技能；需要 有送货的人员 和车辆</a:t>
                      </a:r>
                      <a:endParaRPr sz="1800">
                        <a:latin typeface="微软雅黑"/>
                        <a:cs typeface="微软雅黑"/>
                      </a:endParaRPr>
                    </a:p>
                  </a:txBody>
                  <a:tcPr marL="0" marR="0" marB="0" marT="8255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1798243">
                <a:tc>
                  <a:txBody>
                    <a:bodyPr/>
                    <a:lstStyle/>
                    <a:p>
                      <a:pPr>
                        <a:lnSpc>
                          <a:spcPct val="100000"/>
                        </a:lnSpc>
                      </a:pPr>
                      <a:endParaRPr sz="2400">
                        <a:latin typeface="Times New Roman"/>
                        <a:cs typeface="Times New Roman"/>
                      </a:endParaRPr>
                    </a:p>
                    <a:p>
                      <a:pPr>
                        <a:lnSpc>
                          <a:spcPct val="100000"/>
                        </a:lnSpc>
                        <a:spcBef>
                          <a:spcPts val="25"/>
                        </a:spcBef>
                      </a:pPr>
                      <a:endParaRPr sz="2750">
                        <a:latin typeface="Times New Roman"/>
                        <a:cs typeface="Times New Roman"/>
                      </a:endParaRPr>
                    </a:p>
                    <a:p>
                      <a:pPr marL="91440">
                        <a:lnSpc>
                          <a:spcPct val="100000"/>
                        </a:lnSpc>
                      </a:pPr>
                      <a:r>
                        <a:rPr dirty="0" sz="1800">
                          <a:latin typeface="微软雅黑"/>
                          <a:cs typeface="微软雅黑"/>
                        </a:rPr>
                        <a:t>顾客</a:t>
                      </a:r>
                      <a:endParaRPr sz="1800">
                        <a:latin typeface="微软雅黑"/>
                        <a:cs typeface="微软雅黑"/>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45"/>
                        </a:spcBef>
                      </a:pPr>
                      <a:endParaRPr sz="2300">
                        <a:latin typeface="Times New Roman"/>
                        <a:cs typeface="Times New Roman"/>
                      </a:endParaRPr>
                    </a:p>
                    <a:p>
                      <a:pPr algn="just" marL="91440" marR="104139">
                        <a:lnSpc>
                          <a:spcPct val="100200"/>
                        </a:lnSpc>
                      </a:pPr>
                      <a:r>
                        <a:rPr dirty="0" sz="1800">
                          <a:latin typeface="微软雅黑"/>
                          <a:cs typeface="微软雅黑"/>
                        </a:rPr>
                        <a:t>可以更好地选 择食物；节约 了时间；更加 方便</a:t>
                      </a:r>
                      <a:endParaRPr sz="1800">
                        <a:latin typeface="微软雅黑"/>
                        <a:cs typeface="微软雅黑"/>
                      </a:endParaRPr>
                    </a:p>
                  </a:txBody>
                  <a:tcPr marL="0" marR="0" marB="0" marT="57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just" marL="91440" marR="219075">
                        <a:lnSpc>
                          <a:spcPct val="100099"/>
                        </a:lnSpc>
                        <a:spcBef>
                          <a:spcPts val="530"/>
                        </a:spcBef>
                      </a:pPr>
                      <a:r>
                        <a:rPr dirty="0" sz="1800" spc="-5">
                          <a:latin typeface="微软雅黑"/>
                          <a:cs typeface="微软雅黑"/>
                        </a:rPr>
                        <a:t>因为在自助餐厅和 </a:t>
                      </a:r>
                      <a:r>
                        <a:rPr dirty="0" sz="1800">
                          <a:latin typeface="微软雅黑"/>
                          <a:cs typeface="微软雅黑"/>
                        </a:rPr>
                        <a:t>饭店就餐有社交作 用，所以积极支持 新系统，但使用系 统的次数可能没有 </a:t>
                      </a:r>
                      <a:r>
                        <a:rPr dirty="0" sz="1800" spc="-5">
                          <a:latin typeface="微软雅黑"/>
                          <a:cs typeface="微软雅黑"/>
                        </a:rPr>
                        <a:t>期望的次数多</a:t>
                      </a:r>
                      <a:endParaRPr sz="1800">
                        <a:latin typeface="微软雅黑"/>
                        <a:cs typeface="微软雅黑"/>
                      </a:endParaRPr>
                    </a:p>
                  </a:txBody>
                  <a:tcPr marL="0" marR="0" marB="0" marT="673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30"/>
                        </a:spcBef>
                      </a:pPr>
                      <a:endParaRPr sz="3250">
                        <a:latin typeface="Times New Roman"/>
                        <a:cs typeface="Times New Roman"/>
                      </a:endParaRPr>
                    </a:p>
                    <a:p>
                      <a:pPr algn="just" marL="92075" marR="137795">
                        <a:lnSpc>
                          <a:spcPct val="100299"/>
                        </a:lnSpc>
                      </a:pPr>
                      <a:r>
                        <a:rPr dirty="0" sz="1800">
                          <a:latin typeface="微软雅黑"/>
                          <a:cs typeface="微软雅黑"/>
                        </a:rPr>
                        <a:t>使用要简单；送 货可靠；食物选 择要有效</a:t>
                      </a:r>
                      <a:endParaRPr sz="1800">
                        <a:latin typeface="微软雅黑"/>
                        <a:cs typeface="微软雅黑"/>
                      </a:endParaRPr>
                    </a:p>
                  </a:txBody>
                  <a:tcPr marL="0" marR="0" marB="0" marT="381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400">
                        <a:latin typeface="Times New Roman"/>
                        <a:cs typeface="Times New Roman"/>
                      </a:endParaRPr>
                    </a:p>
                    <a:p>
                      <a:pPr marL="92075" marR="86360">
                        <a:lnSpc>
                          <a:spcPct val="100600"/>
                        </a:lnSpc>
                        <a:spcBef>
                          <a:spcPts val="2085"/>
                        </a:spcBef>
                      </a:pPr>
                      <a:r>
                        <a:rPr dirty="0" sz="1800">
                          <a:latin typeface="微软雅黑"/>
                          <a:cs typeface="微软雅黑"/>
                        </a:rPr>
                        <a:t>需要访问公司 的内部网络</a:t>
                      </a:r>
                      <a:endParaRPr sz="1800">
                        <a:latin typeface="微软雅黑"/>
                        <a:cs typeface="微软雅黑"/>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8533" y="189687"/>
            <a:ext cx="3648075" cy="697230"/>
          </a:xfrm>
          <a:prstGeom prst="rect"/>
        </p:spPr>
        <p:txBody>
          <a:bodyPr wrap="square" lIns="0" tIns="13335" rIns="0" bIns="0" rtlCol="0" vert="horz">
            <a:spAutoFit/>
          </a:bodyPr>
          <a:lstStyle/>
          <a:p>
            <a:pPr marL="12700">
              <a:lnSpc>
                <a:spcPct val="100000"/>
              </a:lnSpc>
              <a:spcBef>
                <a:spcPts val="105"/>
              </a:spcBef>
              <a:tabLst>
                <a:tab pos="1396365" algn="l"/>
              </a:tabLst>
            </a:pPr>
            <a:r>
              <a:rPr dirty="0">
                <a:latin typeface="Calibri"/>
                <a:cs typeface="Calibri"/>
              </a:rPr>
              <a:t>3.3.4</a:t>
            </a:r>
            <a:r>
              <a:rPr dirty="0">
                <a:latin typeface="Calibri"/>
                <a:cs typeface="Calibri"/>
              </a:rPr>
              <a:t>	</a:t>
            </a:r>
            <a:r>
              <a:rPr dirty="0" spc="5"/>
              <a:t>涉众评估</a:t>
            </a:r>
          </a:p>
        </p:txBody>
      </p:sp>
      <p:sp>
        <p:nvSpPr>
          <p:cNvPr id="3" name="object 3"/>
          <p:cNvSpPr txBox="1"/>
          <p:nvPr/>
        </p:nvSpPr>
        <p:spPr>
          <a:xfrm>
            <a:off x="535940" y="1255412"/>
            <a:ext cx="7466965" cy="1311910"/>
          </a:xfrm>
          <a:prstGeom prst="rect">
            <a:avLst/>
          </a:prstGeom>
        </p:spPr>
        <p:txBody>
          <a:bodyPr wrap="square" lIns="0" tIns="95250" rIns="0" bIns="0" rtlCol="0" vert="horz">
            <a:spAutoFit/>
          </a:bodyPr>
          <a:lstStyle/>
          <a:p>
            <a:pPr marL="355600" indent="-343535">
              <a:lnSpc>
                <a:spcPct val="100000"/>
              </a:lnSpc>
              <a:spcBef>
                <a:spcPts val="750"/>
              </a:spcBef>
              <a:buFont typeface="Arial"/>
              <a:buChar char="•"/>
              <a:tabLst>
                <a:tab pos="355600" algn="l"/>
                <a:tab pos="356235" algn="l"/>
              </a:tabLst>
            </a:pPr>
            <a:r>
              <a:rPr dirty="0" sz="2600" b="1">
                <a:latin typeface="宋体"/>
                <a:cs typeface="宋体"/>
              </a:rPr>
              <a:t>优先级评估</a:t>
            </a:r>
            <a:endParaRPr sz="2600">
              <a:latin typeface="宋体"/>
              <a:cs typeface="宋体"/>
            </a:endParaRPr>
          </a:p>
          <a:p>
            <a:pPr lvl="1" marL="756285" indent="-287020">
              <a:lnSpc>
                <a:spcPct val="100000"/>
              </a:lnSpc>
              <a:spcBef>
                <a:spcPts val="545"/>
              </a:spcBef>
              <a:buFont typeface="Arial"/>
              <a:buChar char="–"/>
              <a:tabLst>
                <a:tab pos="756285" algn="l"/>
                <a:tab pos="756920" algn="l"/>
              </a:tabLst>
            </a:pPr>
            <a:r>
              <a:rPr dirty="0" sz="2200" spc="-5">
                <a:latin typeface="宋体"/>
                <a:cs typeface="宋体"/>
              </a:rPr>
              <a:t>涉众</a:t>
            </a:r>
            <a:r>
              <a:rPr dirty="0" u="heavy" sz="2200" spc="-5">
                <a:uFill>
                  <a:solidFill>
                    <a:srgbClr val="000000"/>
                  </a:solidFill>
                </a:uFill>
                <a:latin typeface="宋体"/>
                <a:cs typeface="宋体"/>
              </a:rPr>
              <a:t>并不是完全平等</a:t>
            </a:r>
            <a:r>
              <a:rPr dirty="0" sz="2200" spc="-5">
                <a:latin typeface="宋体"/>
                <a:cs typeface="宋体"/>
              </a:rPr>
              <a:t>的，有些涉众</a:t>
            </a:r>
            <a:r>
              <a:rPr dirty="0" sz="2200">
                <a:latin typeface="宋体"/>
                <a:cs typeface="宋体"/>
              </a:rPr>
              <a:t>比</a:t>
            </a:r>
            <a:r>
              <a:rPr dirty="0" sz="2200" spc="-5">
                <a:latin typeface="宋体"/>
                <a:cs typeface="宋体"/>
              </a:rPr>
              <a:t>其他</a:t>
            </a:r>
            <a:r>
              <a:rPr dirty="0" sz="2200">
                <a:latin typeface="宋体"/>
                <a:cs typeface="宋体"/>
              </a:rPr>
              <a:t>涉</a:t>
            </a:r>
            <a:r>
              <a:rPr dirty="0" sz="2200" spc="-5">
                <a:latin typeface="宋体"/>
                <a:cs typeface="宋体"/>
              </a:rPr>
              <a:t>众更</a:t>
            </a:r>
            <a:r>
              <a:rPr dirty="0" sz="2200">
                <a:latin typeface="宋体"/>
                <a:cs typeface="宋体"/>
              </a:rPr>
              <a:t>为</a:t>
            </a:r>
            <a:r>
              <a:rPr dirty="0" sz="2200" spc="-5">
                <a:latin typeface="宋体"/>
                <a:cs typeface="宋体"/>
              </a:rPr>
              <a:t>重要</a:t>
            </a:r>
            <a:endParaRPr sz="2200">
              <a:latin typeface="宋体"/>
              <a:cs typeface="宋体"/>
            </a:endParaRPr>
          </a:p>
          <a:p>
            <a:pPr lvl="1" marL="756285" indent="-287020">
              <a:lnSpc>
                <a:spcPct val="100000"/>
              </a:lnSpc>
              <a:spcBef>
                <a:spcPts val="530"/>
              </a:spcBef>
              <a:buFont typeface="Arial"/>
              <a:buChar char="–"/>
              <a:tabLst>
                <a:tab pos="756285" algn="l"/>
                <a:tab pos="756920" algn="l"/>
              </a:tabLst>
            </a:pPr>
            <a:r>
              <a:rPr dirty="0" sz="2200" spc="-5">
                <a:latin typeface="宋体"/>
                <a:cs typeface="宋体"/>
              </a:rPr>
              <a:t>优先考虑涉众的基本特征，尤其是</a:t>
            </a:r>
            <a:r>
              <a:rPr dirty="0" sz="2200">
                <a:latin typeface="宋体"/>
                <a:cs typeface="宋体"/>
              </a:rPr>
              <a:t>任</a:t>
            </a:r>
            <a:r>
              <a:rPr dirty="0" sz="2200" spc="-5">
                <a:latin typeface="宋体"/>
                <a:cs typeface="宋体"/>
              </a:rPr>
              <a:t>务特征</a:t>
            </a:r>
            <a:endParaRPr sz="2200">
              <a:latin typeface="宋体"/>
              <a:cs typeface="宋体"/>
            </a:endParaRPr>
          </a:p>
        </p:txBody>
      </p:sp>
      <p:graphicFrame>
        <p:nvGraphicFramePr>
          <p:cNvPr id="4" name="object 4"/>
          <p:cNvGraphicFramePr>
            <a:graphicFrameLocks noGrp="1"/>
          </p:cNvGraphicFramePr>
          <p:nvPr/>
        </p:nvGraphicFramePr>
        <p:xfrm>
          <a:off x="743927" y="3174492"/>
          <a:ext cx="7897495" cy="2405380"/>
        </p:xfrm>
        <a:graphic>
          <a:graphicData uri="http://schemas.openxmlformats.org/drawingml/2006/table">
            <a:tbl>
              <a:tblPr firstRow="1" bandRow="1">
                <a:tableStyleId>{2D5ABB26-0587-4C30-8999-92F81FD0307C}</a:tableStyleId>
              </a:tblPr>
              <a:tblGrid>
                <a:gridCol w="2727325"/>
                <a:gridCol w="2592704"/>
                <a:gridCol w="1415415"/>
                <a:gridCol w="1141729"/>
              </a:tblGrid>
              <a:tr h="731774">
                <a:tc>
                  <a:txBody>
                    <a:bodyPr/>
                    <a:lstStyle/>
                    <a:p>
                      <a:pPr algn="ctr" marL="1905">
                        <a:lnSpc>
                          <a:spcPct val="100000"/>
                        </a:lnSpc>
                        <a:spcBef>
                          <a:spcPts val="1620"/>
                        </a:spcBef>
                      </a:pPr>
                      <a:r>
                        <a:rPr dirty="0" sz="2000">
                          <a:latin typeface="微软雅黑"/>
                          <a:cs typeface="微软雅黑"/>
                        </a:rPr>
                        <a:t>用户群体</a:t>
                      </a:r>
                      <a:endParaRPr sz="2000">
                        <a:latin typeface="微软雅黑"/>
                        <a:cs typeface="微软雅黑"/>
                      </a:endParaRPr>
                    </a:p>
                  </a:txBody>
                  <a:tcPr marL="0" marR="0" marB="0" marT="2057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1620"/>
                        </a:spcBef>
                      </a:pPr>
                      <a:r>
                        <a:rPr dirty="0" sz="2000">
                          <a:latin typeface="微软雅黑"/>
                          <a:cs typeface="微软雅黑"/>
                        </a:rPr>
                        <a:t>任务</a:t>
                      </a:r>
                      <a:endParaRPr sz="2000">
                        <a:latin typeface="微软雅黑"/>
                        <a:cs typeface="微软雅黑"/>
                      </a:endParaRPr>
                    </a:p>
                  </a:txBody>
                  <a:tcPr marL="0" marR="0" marB="0" marT="2057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1620"/>
                        </a:spcBef>
                      </a:pPr>
                      <a:r>
                        <a:rPr dirty="0" sz="2000">
                          <a:latin typeface="微软雅黑"/>
                          <a:cs typeface="微软雅黑"/>
                        </a:rPr>
                        <a:t>群体数量</a:t>
                      </a:r>
                      <a:endParaRPr sz="2000">
                        <a:latin typeface="微软雅黑"/>
                        <a:cs typeface="微软雅黑"/>
                      </a:endParaRPr>
                    </a:p>
                  </a:txBody>
                  <a:tcPr marL="0" marR="0" marB="0" marT="2057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3810">
                        <a:lnSpc>
                          <a:spcPct val="100000"/>
                        </a:lnSpc>
                        <a:spcBef>
                          <a:spcPts val="1620"/>
                        </a:spcBef>
                      </a:pPr>
                      <a:r>
                        <a:rPr dirty="0" sz="2000">
                          <a:latin typeface="微软雅黑"/>
                          <a:cs typeface="微软雅黑"/>
                        </a:rPr>
                        <a:t>优先级</a:t>
                      </a:r>
                      <a:endParaRPr sz="2000">
                        <a:latin typeface="微软雅黑"/>
                        <a:cs typeface="微软雅黑"/>
                      </a:endParaRPr>
                    </a:p>
                  </a:txBody>
                  <a:tcPr marL="0" marR="0" marB="0" marT="2057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764032">
                <a:tc>
                  <a:txBody>
                    <a:bodyPr/>
                    <a:lstStyle/>
                    <a:p>
                      <a:pPr marL="904240" marR="169545" indent="-727075">
                        <a:lnSpc>
                          <a:spcPct val="100499"/>
                        </a:lnSpc>
                        <a:spcBef>
                          <a:spcPts val="520"/>
                        </a:spcBef>
                      </a:pPr>
                      <a:r>
                        <a:rPr dirty="0" sz="2000">
                          <a:latin typeface="微软雅黑"/>
                          <a:cs typeface="微软雅黑"/>
                        </a:rPr>
                        <a:t>入院秘书（</a:t>
                      </a:r>
                      <a:r>
                        <a:rPr dirty="0" sz="2000">
                          <a:latin typeface="Times New Roman"/>
                          <a:cs typeface="Times New Roman"/>
                        </a:rPr>
                        <a:t>A</a:t>
                      </a:r>
                      <a:r>
                        <a:rPr dirty="0" sz="2000" spc="10">
                          <a:latin typeface="Times New Roman"/>
                          <a:cs typeface="Times New Roman"/>
                        </a:rPr>
                        <a:t>d</a:t>
                      </a:r>
                      <a:r>
                        <a:rPr dirty="0" sz="2000" spc="-25">
                          <a:latin typeface="Times New Roman"/>
                          <a:cs typeface="Times New Roman"/>
                        </a:rPr>
                        <a:t>m</a:t>
                      </a:r>
                      <a:r>
                        <a:rPr dirty="0" sz="2000">
                          <a:latin typeface="Times New Roman"/>
                          <a:cs typeface="Times New Roman"/>
                        </a:rPr>
                        <a:t>iss</a:t>
                      </a:r>
                      <a:r>
                        <a:rPr dirty="0" sz="2000" spc="-10">
                          <a:latin typeface="Times New Roman"/>
                          <a:cs typeface="Times New Roman"/>
                        </a:rPr>
                        <a:t>i</a:t>
                      </a:r>
                      <a:r>
                        <a:rPr dirty="0" sz="2000">
                          <a:latin typeface="Times New Roman"/>
                          <a:cs typeface="Times New Roman"/>
                        </a:rPr>
                        <a:t>on  </a:t>
                      </a:r>
                      <a:r>
                        <a:rPr dirty="0" sz="2000">
                          <a:latin typeface="Times New Roman"/>
                          <a:cs typeface="Times New Roman"/>
                        </a:rPr>
                        <a:t>Clerks</a:t>
                      </a:r>
                      <a:r>
                        <a:rPr dirty="0" sz="2000">
                          <a:latin typeface="微软雅黑"/>
                          <a:cs typeface="微软雅黑"/>
                        </a:rPr>
                        <a:t>）</a:t>
                      </a:r>
                      <a:endParaRPr sz="2000">
                        <a:latin typeface="微软雅黑"/>
                        <a:cs typeface="微软雅黑"/>
                      </a:endParaRPr>
                    </a:p>
                  </a:txBody>
                  <a:tcPr marL="0" marR="0" marB="0" marT="660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1745"/>
                        </a:spcBef>
                      </a:pPr>
                      <a:r>
                        <a:rPr dirty="0" sz="2000">
                          <a:latin typeface="微软雅黑"/>
                          <a:cs typeface="微软雅黑"/>
                        </a:rPr>
                        <a:t>收集病</a:t>
                      </a:r>
                      <a:r>
                        <a:rPr dirty="0" sz="2000" spc="-15">
                          <a:latin typeface="微软雅黑"/>
                          <a:cs typeface="微软雅黑"/>
                        </a:rPr>
                        <a:t>人</a:t>
                      </a:r>
                      <a:r>
                        <a:rPr dirty="0" sz="2000">
                          <a:latin typeface="微软雅黑"/>
                          <a:cs typeface="微软雅黑"/>
                        </a:rPr>
                        <a:t>的</a:t>
                      </a:r>
                      <a:r>
                        <a:rPr dirty="0" sz="2000" spc="-15">
                          <a:latin typeface="微软雅黑"/>
                          <a:cs typeface="微软雅黑"/>
                        </a:rPr>
                        <a:t>数</a:t>
                      </a:r>
                      <a:r>
                        <a:rPr dirty="0" sz="2000">
                          <a:latin typeface="微软雅黑"/>
                          <a:cs typeface="微软雅黑"/>
                        </a:rPr>
                        <a:t>据</a:t>
                      </a:r>
                      <a:endParaRPr sz="2000">
                        <a:latin typeface="微软雅黑"/>
                        <a:cs typeface="微软雅黑"/>
                      </a:endParaRPr>
                    </a:p>
                  </a:txBody>
                  <a:tcPr marL="0" marR="0" marB="0" marT="2216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1745"/>
                        </a:spcBef>
                      </a:pPr>
                      <a:r>
                        <a:rPr dirty="0" sz="2000" spc="5">
                          <a:latin typeface="Times New Roman"/>
                          <a:cs typeface="Times New Roman"/>
                        </a:rPr>
                        <a:t>25</a:t>
                      </a:r>
                      <a:endParaRPr sz="2000">
                        <a:latin typeface="Times New Roman"/>
                        <a:cs typeface="Times New Roman"/>
                      </a:endParaRPr>
                    </a:p>
                  </a:txBody>
                  <a:tcPr marL="0" marR="0" marB="0" marT="2216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905">
                        <a:lnSpc>
                          <a:spcPct val="100000"/>
                        </a:lnSpc>
                        <a:spcBef>
                          <a:spcPts val="1745"/>
                        </a:spcBef>
                      </a:pPr>
                      <a:r>
                        <a:rPr dirty="0" sz="2000">
                          <a:latin typeface="Times New Roman"/>
                          <a:cs typeface="Times New Roman"/>
                        </a:rPr>
                        <a:t>2</a:t>
                      </a:r>
                      <a:endParaRPr sz="2000">
                        <a:latin typeface="Times New Roman"/>
                        <a:cs typeface="Times New Roman"/>
                      </a:endParaRPr>
                    </a:p>
                  </a:txBody>
                  <a:tcPr marL="0" marR="0" marB="0" marT="22161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8818">
                <a:tc>
                  <a:txBody>
                    <a:bodyPr/>
                    <a:lstStyle/>
                    <a:p>
                      <a:pPr algn="ctr" marL="1905">
                        <a:lnSpc>
                          <a:spcPct val="100000"/>
                        </a:lnSpc>
                        <a:spcBef>
                          <a:spcPts val="505"/>
                        </a:spcBef>
                      </a:pPr>
                      <a:r>
                        <a:rPr dirty="0" sz="2000">
                          <a:latin typeface="微软雅黑"/>
                          <a:cs typeface="微软雅黑"/>
                        </a:rPr>
                        <a:t>护士</a:t>
                      </a:r>
                      <a:endParaRPr sz="2000">
                        <a:latin typeface="微软雅黑"/>
                        <a:cs typeface="微软雅黑"/>
                      </a:endParaRPr>
                    </a:p>
                  </a:txBody>
                  <a:tcPr marL="0" marR="0" marB="0" marT="641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505"/>
                        </a:spcBef>
                      </a:pPr>
                      <a:r>
                        <a:rPr dirty="0" sz="2000">
                          <a:latin typeface="微软雅黑"/>
                          <a:cs typeface="微软雅黑"/>
                        </a:rPr>
                        <a:t>查看体</a:t>
                      </a:r>
                      <a:r>
                        <a:rPr dirty="0" sz="2000" spc="-15">
                          <a:latin typeface="微软雅黑"/>
                          <a:cs typeface="微软雅黑"/>
                        </a:rPr>
                        <a:t>检</a:t>
                      </a:r>
                      <a:r>
                        <a:rPr dirty="0" sz="2000">
                          <a:latin typeface="微软雅黑"/>
                          <a:cs typeface="微软雅黑"/>
                        </a:rPr>
                        <a:t>信息</a:t>
                      </a:r>
                      <a:endParaRPr sz="2000">
                        <a:latin typeface="微软雅黑"/>
                        <a:cs typeface="微软雅黑"/>
                      </a:endParaRPr>
                    </a:p>
                  </a:txBody>
                  <a:tcPr marL="0" marR="0" marB="0" marT="641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505"/>
                        </a:spcBef>
                      </a:pPr>
                      <a:r>
                        <a:rPr dirty="0" sz="2000" spc="5">
                          <a:latin typeface="Times New Roman"/>
                          <a:cs typeface="Times New Roman"/>
                        </a:rPr>
                        <a:t>490</a:t>
                      </a:r>
                      <a:endParaRPr sz="2000">
                        <a:latin typeface="Times New Roman"/>
                        <a:cs typeface="Times New Roman"/>
                      </a:endParaRPr>
                    </a:p>
                  </a:txBody>
                  <a:tcPr marL="0" marR="0" marB="0" marT="641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905">
                        <a:lnSpc>
                          <a:spcPct val="100000"/>
                        </a:lnSpc>
                        <a:spcBef>
                          <a:spcPts val="505"/>
                        </a:spcBef>
                      </a:pPr>
                      <a:r>
                        <a:rPr dirty="0" sz="2000">
                          <a:latin typeface="Times New Roman"/>
                          <a:cs typeface="Times New Roman"/>
                        </a:rPr>
                        <a:t>3</a:t>
                      </a:r>
                      <a:endParaRPr sz="2000">
                        <a:latin typeface="Times New Roman"/>
                        <a:cs typeface="Times New Roman"/>
                      </a:endParaRPr>
                    </a:p>
                  </a:txBody>
                  <a:tcPr marL="0" marR="0" marB="0" marT="641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447547">
                <a:tc>
                  <a:txBody>
                    <a:bodyPr/>
                    <a:lstStyle/>
                    <a:p>
                      <a:pPr algn="ctr" marL="635">
                        <a:lnSpc>
                          <a:spcPct val="100000"/>
                        </a:lnSpc>
                        <a:spcBef>
                          <a:spcPts val="505"/>
                        </a:spcBef>
                      </a:pPr>
                      <a:r>
                        <a:rPr dirty="0" sz="2000">
                          <a:latin typeface="微软雅黑"/>
                          <a:cs typeface="微软雅黑"/>
                        </a:rPr>
                        <a:t>管理员</a:t>
                      </a:r>
                      <a:endParaRPr sz="2000">
                        <a:latin typeface="微软雅黑"/>
                        <a:cs typeface="微软雅黑"/>
                      </a:endParaRPr>
                    </a:p>
                  </a:txBody>
                  <a:tcPr marL="0" marR="0" marB="0" marT="641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505"/>
                        </a:spcBef>
                      </a:pPr>
                      <a:r>
                        <a:rPr dirty="0" sz="2000">
                          <a:latin typeface="微软雅黑"/>
                          <a:cs typeface="微软雅黑"/>
                        </a:rPr>
                        <a:t>软件安</a:t>
                      </a:r>
                      <a:r>
                        <a:rPr dirty="0" sz="2000" spc="-15">
                          <a:latin typeface="微软雅黑"/>
                          <a:cs typeface="微软雅黑"/>
                        </a:rPr>
                        <a:t>装</a:t>
                      </a:r>
                      <a:r>
                        <a:rPr dirty="0" sz="2000">
                          <a:latin typeface="微软雅黑"/>
                          <a:cs typeface="微软雅黑"/>
                        </a:rPr>
                        <a:t>与</a:t>
                      </a:r>
                      <a:r>
                        <a:rPr dirty="0" sz="2000" spc="-15">
                          <a:latin typeface="微软雅黑"/>
                          <a:cs typeface="微软雅黑"/>
                        </a:rPr>
                        <a:t>维</a:t>
                      </a:r>
                      <a:r>
                        <a:rPr dirty="0" sz="2000">
                          <a:latin typeface="微软雅黑"/>
                          <a:cs typeface="微软雅黑"/>
                        </a:rPr>
                        <a:t>护</a:t>
                      </a:r>
                      <a:endParaRPr sz="2000">
                        <a:latin typeface="微软雅黑"/>
                        <a:cs typeface="微软雅黑"/>
                      </a:endParaRPr>
                    </a:p>
                  </a:txBody>
                  <a:tcPr marL="0" marR="0" marB="0" marT="641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505"/>
                        </a:spcBef>
                      </a:pPr>
                      <a:r>
                        <a:rPr dirty="0" sz="2000" spc="5">
                          <a:latin typeface="Times New Roman"/>
                          <a:cs typeface="Times New Roman"/>
                        </a:rPr>
                        <a:t>12</a:t>
                      </a:r>
                      <a:endParaRPr sz="2000">
                        <a:latin typeface="Times New Roman"/>
                        <a:cs typeface="Times New Roman"/>
                      </a:endParaRPr>
                    </a:p>
                  </a:txBody>
                  <a:tcPr marL="0" marR="0" marB="0" marT="641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905">
                        <a:lnSpc>
                          <a:spcPct val="100000"/>
                        </a:lnSpc>
                        <a:spcBef>
                          <a:spcPts val="505"/>
                        </a:spcBef>
                      </a:pPr>
                      <a:r>
                        <a:rPr dirty="0" sz="2000">
                          <a:latin typeface="Times New Roman"/>
                          <a:cs typeface="Times New Roman"/>
                        </a:rPr>
                        <a:t>1</a:t>
                      </a:r>
                      <a:endParaRPr sz="2000">
                        <a:latin typeface="Times New Roman"/>
                        <a:cs typeface="Times New Roman"/>
                      </a:endParaRPr>
                    </a:p>
                  </a:txBody>
                  <a:tcPr marL="0" marR="0" marB="0" marT="641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5" name="object 5"/>
          <p:cNvSpPr txBox="1"/>
          <p:nvPr/>
        </p:nvSpPr>
        <p:spPr>
          <a:xfrm>
            <a:off x="1880997" y="5689498"/>
            <a:ext cx="6315710" cy="299720"/>
          </a:xfrm>
          <a:prstGeom prst="rect">
            <a:avLst/>
          </a:prstGeom>
        </p:spPr>
        <p:txBody>
          <a:bodyPr wrap="square" lIns="0" tIns="12700" rIns="0" bIns="0" rtlCol="0" vert="horz">
            <a:spAutoFit/>
          </a:bodyPr>
          <a:lstStyle/>
          <a:p>
            <a:pPr marL="12700">
              <a:lnSpc>
                <a:spcPct val="100000"/>
              </a:lnSpc>
              <a:spcBef>
                <a:spcPts val="100"/>
              </a:spcBef>
            </a:pPr>
            <a:r>
              <a:rPr dirty="0" sz="1800" b="1">
                <a:latin typeface="宋体"/>
                <a:cs typeface="宋体"/>
              </a:rPr>
              <a:t>例</a:t>
            </a:r>
            <a:r>
              <a:rPr dirty="0" sz="1800" spc="-10" b="1">
                <a:latin typeface="宋体"/>
                <a:cs typeface="宋体"/>
              </a:rPr>
              <a:t>：</a:t>
            </a:r>
            <a:r>
              <a:rPr dirty="0" sz="1800" spc="-490" b="1">
                <a:latin typeface="宋体"/>
                <a:cs typeface="宋体"/>
              </a:rPr>
              <a:t> </a:t>
            </a:r>
            <a:r>
              <a:rPr dirty="0" sz="1800" b="1">
                <a:latin typeface="宋体"/>
                <a:cs typeface="宋体"/>
              </a:rPr>
              <a:t>医务体检软件的</a:t>
            </a:r>
            <a:r>
              <a:rPr dirty="0" sz="1800" spc="-20" b="1">
                <a:latin typeface="Calibri"/>
                <a:cs typeface="Calibri"/>
              </a:rPr>
              <a:t>User/Task</a:t>
            </a:r>
            <a:r>
              <a:rPr dirty="0" sz="1800" b="1">
                <a:latin typeface="宋体"/>
                <a:cs typeface="宋体"/>
              </a:rPr>
              <a:t>矩阵（数值越大，优先级越高）</a:t>
            </a:r>
            <a:endParaRPr sz="1800">
              <a:latin typeface="宋体"/>
              <a:cs typeface="宋体"/>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542" y="164414"/>
            <a:ext cx="3521710"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3.3.4</a:t>
            </a:r>
            <a:r>
              <a:rPr dirty="0" spc="-105">
                <a:latin typeface="Calibri"/>
                <a:cs typeface="Calibri"/>
              </a:rPr>
              <a:t> </a:t>
            </a:r>
            <a:r>
              <a:rPr dirty="0" spc="5"/>
              <a:t>涉众评估</a:t>
            </a:r>
          </a:p>
        </p:txBody>
      </p:sp>
      <p:graphicFrame>
        <p:nvGraphicFramePr>
          <p:cNvPr id="3" name="object 3"/>
          <p:cNvGraphicFramePr>
            <a:graphicFrameLocks noGrp="1"/>
          </p:cNvGraphicFramePr>
          <p:nvPr/>
        </p:nvGraphicFramePr>
        <p:xfrm>
          <a:off x="2569300" y="2550613"/>
          <a:ext cx="4022090" cy="3002280"/>
        </p:xfrm>
        <a:graphic>
          <a:graphicData uri="http://schemas.openxmlformats.org/drawingml/2006/table">
            <a:tbl>
              <a:tblPr firstRow="1" bandRow="1">
                <a:tableStyleId>{2D5ABB26-0587-4C30-8999-92F81FD0307C}</a:tableStyleId>
              </a:tblPr>
              <a:tblGrid>
                <a:gridCol w="2007870"/>
                <a:gridCol w="2007870"/>
              </a:tblGrid>
              <a:tr h="1498883">
                <a:tc>
                  <a:txBody>
                    <a:bodyPr/>
                    <a:lstStyle/>
                    <a:p>
                      <a:pPr>
                        <a:lnSpc>
                          <a:spcPct val="100000"/>
                        </a:lnSpc>
                      </a:pPr>
                      <a:endParaRPr sz="1900">
                        <a:latin typeface="Times New Roman"/>
                        <a:cs typeface="Times New Roman"/>
                      </a:endParaRPr>
                    </a:p>
                    <a:p>
                      <a:pPr>
                        <a:lnSpc>
                          <a:spcPct val="100000"/>
                        </a:lnSpc>
                        <a:spcBef>
                          <a:spcPts val="45"/>
                        </a:spcBef>
                      </a:pPr>
                      <a:endParaRPr sz="2050">
                        <a:latin typeface="Times New Roman"/>
                        <a:cs typeface="Times New Roman"/>
                      </a:endParaRPr>
                    </a:p>
                    <a:p>
                      <a:pPr algn="ctr">
                        <a:lnSpc>
                          <a:spcPct val="100000"/>
                        </a:lnSpc>
                      </a:pPr>
                      <a:r>
                        <a:rPr dirty="0" sz="1950">
                          <a:latin typeface="宋体"/>
                          <a:cs typeface="宋体"/>
                        </a:rPr>
                        <a:t>被影响者</a:t>
                      </a:r>
                      <a:endParaRPr sz="1950">
                        <a:latin typeface="宋体"/>
                        <a:cs typeface="宋体"/>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E8EDF7"/>
                    </a:solidFill>
                  </a:tcPr>
                </a:tc>
                <a:tc>
                  <a:txBody>
                    <a:bodyPr/>
                    <a:lstStyle/>
                    <a:p>
                      <a:pPr>
                        <a:lnSpc>
                          <a:spcPct val="100000"/>
                        </a:lnSpc>
                      </a:pPr>
                      <a:endParaRPr sz="1900">
                        <a:latin typeface="Times New Roman"/>
                        <a:cs typeface="Times New Roman"/>
                      </a:endParaRPr>
                    </a:p>
                    <a:p>
                      <a:pPr>
                        <a:lnSpc>
                          <a:spcPct val="100000"/>
                        </a:lnSpc>
                        <a:spcBef>
                          <a:spcPts val="45"/>
                        </a:spcBef>
                      </a:pPr>
                      <a:endParaRPr sz="2050">
                        <a:latin typeface="Times New Roman"/>
                        <a:cs typeface="Times New Roman"/>
                      </a:endParaRPr>
                    </a:p>
                    <a:p>
                      <a:pPr algn="ctr">
                        <a:lnSpc>
                          <a:spcPct val="100000"/>
                        </a:lnSpc>
                      </a:pPr>
                      <a:r>
                        <a:rPr dirty="0" sz="1950">
                          <a:latin typeface="宋体"/>
                          <a:cs typeface="宋体"/>
                        </a:rPr>
                        <a:t>参与者</a:t>
                      </a:r>
                      <a:endParaRPr sz="1950">
                        <a:latin typeface="宋体"/>
                        <a:cs typeface="宋体"/>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E8EDF7"/>
                    </a:solidFill>
                  </a:tcPr>
                </a:tc>
              </a:tr>
              <a:tr h="1498883">
                <a:tc>
                  <a:txBody>
                    <a:bodyPr/>
                    <a:lstStyle/>
                    <a:p>
                      <a:pPr>
                        <a:lnSpc>
                          <a:spcPct val="100000"/>
                        </a:lnSpc>
                      </a:pPr>
                      <a:endParaRPr sz="1900">
                        <a:latin typeface="Times New Roman"/>
                        <a:cs typeface="Times New Roman"/>
                      </a:endParaRPr>
                    </a:p>
                    <a:p>
                      <a:pPr>
                        <a:lnSpc>
                          <a:spcPct val="100000"/>
                        </a:lnSpc>
                        <a:spcBef>
                          <a:spcPts val="45"/>
                        </a:spcBef>
                      </a:pPr>
                      <a:endParaRPr sz="2050">
                        <a:latin typeface="Times New Roman"/>
                        <a:cs typeface="Times New Roman"/>
                      </a:endParaRPr>
                    </a:p>
                    <a:p>
                      <a:pPr algn="ctr">
                        <a:lnSpc>
                          <a:spcPct val="100000"/>
                        </a:lnSpc>
                      </a:pPr>
                      <a:r>
                        <a:rPr dirty="0" sz="1950">
                          <a:latin typeface="宋体"/>
                          <a:cs typeface="宋体"/>
                        </a:rPr>
                        <a:t>观众</a:t>
                      </a:r>
                      <a:endParaRPr sz="1950">
                        <a:latin typeface="宋体"/>
                        <a:cs typeface="宋体"/>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E8EDF7"/>
                    </a:solidFill>
                  </a:tcPr>
                </a:tc>
                <a:tc>
                  <a:txBody>
                    <a:bodyPr/>
                    <a:lstStyle/>
                    <a:p>
                      <a:pPr>
                        <a:lnSpc>
                          <a:spcPct val="100000"/>
                        </a:lnSpc>
                      </a:pPr>
                      <a:endParaRPr sz="1900">
                        <a:latin typeface="Times New Roman"/>
                        <a:cs typeface="Times New Roman"/>
                      </a:endParaRPr>
                    </a:p>
                    <a:p>
                      <a:pPr>
                        <a:lnSpc>
                          <a:spcPct val="100000"/>
                        </a:lnSpc>
                        <a:spcBef>
                          <a:spcPts val="45"/>
                        </a:spcBef>
                      </a:pPr>
                      <a:endParaRPr sz="2050">
                        <a:latin typeface="Times New Roman"/>
                        <a:cs typeface="Times New Roman"/>
                      </a:endParaRPr>
                    </a:p>
                    <a:p>
                      <a:pPr algn="ctr">
                        <a:lnSpc>
                          <a:spcPct val="100000"/>
                        </a:lnSpc>
                      </a:pPr>
                      <a:r>
                        <a:rPr dirty="0" sz="1950">
                          <a:latin typeface="宋体"/>
                          <a:cs typeface="宋体"/>
                        </a:rPr>
                        <a:t>环境设定者</a:t>
                      </a:r>
                      <a:endParaRPr sz="1950">
                        <a:latin typeface="宋体"/>
                        <a:cs typeface="宋体"/>
                      </a:endParaRPr>
                    </a:p>
                  </a:txBody>
                  <a:tcPr marL="0" marR="0" marB="0" marT="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solidFill>
                      <a:srgbClr val="E8EDF7"/>
                    </a:solidFill>
                  </a:tcPr>
                </a:tc>
              </a:tr>
            </a:tbl>
          </a:graphicData>
        </a:graphic>
      </p:graphicFrame>
      <p:sp>
        <p:nvSpPr>
          <p:cNvPr id="4" name="object 4"/>
          <p:cNvSpPr/>
          <p:nvPr/>
        </p:nvSpPr>
        <p:spPr>
          <a:xfrm>
            <a:off x="4939622" y="5850285"/>
            <a:ext cx="1312545" cy="0"/>
          </a:xfrm>
          <a:custGeom>
            <a:avLst/>
            <a:gdLst/>
            <a:ahLst/>
            <a:cxnLst/>
            <a:rect l="l" t="t" r="r" b="b"/>
            <a:pathLst>
              <a:path w="1312545" h="0">
                <a:moveTo>
                  <a:pt x="0" y="0"/>
                </a:moveTo>
                <a:lnTo>
                  <a:pt x="1312062" y="0"/>
                </a:lnTo>
              </a:path>
            </a:pathLst>
          </a:custGeom>
          <a:ln w="4230">
            <a:solidFill>
              <a:srgbClr val="000000"/>
            </a:solidFill>
          </a:ln>
        </p:spPr>
        <p:txBody>
          <a:bodyPr wrap="square" lIns="0" tIns="0" rIns="0" bIns="0" rtlCol="0"/>
          <a:lstStyle/>
          <a:p/>
        </p:txBody>
      </p:sp>
      <p:sp>
        <p:nvSpPr>
          <p:cNvPr id="5" name="object 5"/>
          <p:cNvSpPr/>
          <p:nvPr/>
        </p:nvSpPr>
        <p:spPr>
          <a:xfrm>
            <a:off x="2872581" y="5850285"/>
            <a:ext cx="1433830" cy="0"/>
          </a:xfrm>
          <a:custGeom>
            <a:avLst/>
            <a:gdLst/>
            <a:ahLst/>
            <a:cxnLst/>
            <a:rect l="l" t="t" r="r" b="b"/>
            <a:pathLst>
              <a:path w="1433829" h="0">
                <a:moveTo>
                  <a:pt x="0" y="0"/>
                </a:moveTo>
                <a:lnTo>
                  <a:pt x="1433621" y="0"/>
                </a:lnTo>
              </a:path>
            </a:pathLst>
          </a:custGeom>
          <a:ln w="4230">
            <a:solidFill>
              <a:srgbClr val="000000"/>
            </a:solidFill>
          </a:ln>
        </p:spPr>
        <p:txBody>
          <a:bodyPr wrap="square" lIns="0" tIns="0" rIns="0" bIns="0" rtlCol="0"/>
          <a:lstStyle/>
          <a:p/>
        </p:txBody>
      </p:sp>
      <p:sp>
        <p:nvSpPr>
          <p:cNvPr id="6" name="object 6"/>
          <p:cNvSpPr/>
          <p:nvPr/>
        </p:nvSpPr>
        <p:spPr>
          <a:xfrm>
            <a:off x="6239467" y="5801637"/>
            <a:ext cx="146685" cy="97790"/>
          </a:xfrm>
          <a:custGeom>
            <a:avLst/>
            <a:gdLst/>
            <a:ahLst/>
            <a:cxnLst/>
            <a:rect l="l" t="t" r="r" b="b"/>
            <a:pathLst>
              <a:path w="146685" h="97789">
                <a:moveTo>
                  <a:pt x="0" y="0"/>
                </a:moveTo>
                <a:lnTo>
                  <a:pt x="0" y="97293"/>
                </a:lnTo>
                <a:lnTo>
                  <a:pt x="146614" y="48648"/>
                </a:lnTo>
                <a:lnTo>
                  <a:pt x="0" y="0"/>
                </a:lnTo>
                <a:close/>
              </a:path>
            </a:pathLst>
          </a:custGeom>
          <a:solidFill>
            <a:srgbClr val="000000"/>
          </a:solidFill>
        </p:spPr>
        <p:txBody>
          <a:bodyPr wrap="square" lIns="0" tIns="0" rIns="0" bIns="0" rtlCol="0"/>
          <a:lstStyle/>
          <a:p/>
        </p:txBody>
      </p:sp>
      <p:sp>
        <p:nvSpPr>
          <p:cNvPr id="7" name="object 7"/>
          <p:cNvSpPr txBox="1"/>
          <p:nvPr/>
        </p:nvSpPr>
        <p:spPr>
          <a:xfrm>
            <a:off x="4300232" y="5664850"/>
            <a:ext cx="659130" cy="321945"/>
          </a:xfrm>
          <a:prstGeom prst="rect">
            <a:avLst/>
          </a:prstGeom>
        </p:spPr>
        <p:txBody>
          <a:bodyPr wrap="square" lIns="0" tIns="11430" rIns="0" bIns="0" rtlCol="0" vert="horz">
            <a:spAutoFit/>
          </a:bodyPr>
          <a:lstStyle/>
          <a:p>
            <a:pPr marL="12700">
              <a:lnSpc>
                <a:spcPct val="100000"/>
              </a:lnSpc>
              <a:spcBef>
                <a:spcPts val="90"/>
              </a:spcBef>
            </a:pPr>
            <a:r>
              <a:rPr dirty="0" sz="1950">
                <a:latin typeface="Times New Roman"/>
                <a:cs typeface="Times New Roman"/>
              </a:rPr>
              <a:t>P</a:t>
            </a:r>
            <a:r>
              <a:rPr dirty="0" sz="1950">
                <a:latin typeface="Times New Roman"/>
                <a:cs typeface="Times New Roman"/>
              </a:rPr>
              <a:t>o</a:t>
            </a:r>
            <a:r>
              <a:rPr dirty="0" sz="1950">
                <a:latin typeface="Times New Roman"/>
                <a:cs typeface="Times New Roman"/>
              </a:rPr>
              <a:t>w</a:t>
            </a:r>
            <a:r>
              <a:rPr dirty="0" sz="1950">
                <a:latin typeface="Times New Roman"/>
                <a:cs typeface="Times New Roman"/>
              </a:rPr>
              <a:t>er</a:t>
            </a:r>
            <a:endParaRPr sz="1950">
              <a:latin typeface="Times New Roman"/>
              <a:cs typeface="Times New Roman"/>
            </a:endParaRPr>
          </a:p>
        </p:txBody>
      </p:sp>
      <p:sp>
        <p:nvSpPr>
          <p:cNvPr id="8" name="object 8"/>
          <p:cNvSpPr/>
          <p:nvPr/>
        </p:nvSpPr>
        <p:spPr>
          <a:xfrm>
            <a:off x="2169874" y="2886203"/>
            <a:ext cx="0" cy="752475"/>
          </a:xfrm>
          <a:custGeom>
            <a:avLst/>
            <a:gdLst/>
            <a:ahLst/>
            <a:cxnLst/>
            <a:rect l="l" t="t" r="r" b="b"/>
            <a:pathLst>
              <a:path w="0" h="752475">
                <a:moveTo>
                  <a:pt x="0" y="0"/>
                </a:moveTo>
                <a:lnTo>
                  <a:pt x="0" y="751900"/>
                </a:lnTo>
              </a:path>
            </a:pathLst>
          </a:custGeom>
          <a:ln w="4249">
            <a:solidFill>
              <a:srgbClr val="000000"/>
            </a:solidFill>
          </a:ln>
        </p:spPr>
        <p:txBody>
          <a:bodyPr wrap="square" lIns="0" tIns="0" rIns="0" bIns="0" rtlCol="0"/>
          <a:lstStyle/>
          <a:p/>
        </p:txBody>
      </p:sp>
      <p:sp>
        <p:nvSpPr>
          <p:cNvPr id="9" name="object 9"/>
          <p:cNvSpPr/>
          <p:nvPr/>
        </p:nvSpPr>
        <p:spPr>
          <a:xfrm>
            <a:off x="2169874" y="4378035"/>
            <a:ext cx="0" cy="873125"/>
          </a:xfrm>
          <a:custGeom>
            <a:avLst/>
            <a:gdLst/>
            <a:ahLst/>
            <a:cxnLst/>
            <a:rect l="l" t="t" r="r" b="b"/>
            <a:pathLst>
              <a:path w="0" h="873125">
                <a:moveTo>
                  <a:pt x="0" y="0"/>
                </a:moveTo>
                <a:lnTo>
                  <a:pt x="0" y="872675"/>
                </a:lnTo>
              </a:path>
            </a:pathLst>
          </a:custGeom>
          <a:ln w="4249">
            <a:solidFill>
              <a:srgbClr val="000000"/>
            </a:solidFill>
          </a:ln>
        </p:spPr>
        <p:txBody>
          <a:bodyPr wrap="square" lIns="0" tIns="0" rIns="0" bIns="0" rtlCol="0"/>
          <a:lstStyle/>
          <a:p/>
        </p:txBody>
      </p:sp>
      <p:sp>
        <p:nvSpPr>
          <p:cNvPr id="10" name="object 10"/>
          <p:cNvSpPr/>
          <p:nvPr/>
        </p:nvSpPr>
        <p:spPr>
          <a:xfrm>
            <a:off x="2121002" y="2752419"/>
            <a:ext cx="97790" cy="146050"/>
          </a:xfrm>
          <a:custGeom>
            <a:avLst/>
            <a:gdLst/>
            <a:ahLst/>
            <a:cxnLst/>
            <a:rect l="l" t="t" r="r" b="b"/>
            <a:pathLst>
              <a:path w="97789" h="146050">
                <a:moveTo>
                  <a:pt x="48871" y="0"/>
                </a:moveTo>
                <a:lnTo>
                  <a:pt x="0" y="145945"/>
                </a:lnTo>
                <a:lnTo>
                  <a:pt x="97743" y="145945"/>
                </a:lnTo>
                <a:lnTo>
                  <a:pt x="48871" y="0"/>
                </a:lnTo>
                <a:close/>
              </a:path>
            </a:pathLst>
          </a:custGeom>
          <a:solidFill>
            <a:srgbClr val="000000"/>
          </a:solidFill>
        </p:spPr>
        <p:txBody>
          <a:bodyPr wrap="square" lIns="0" tIns="0" rIns="0" bIns="0" rtlCol="0"/>
          <a:lstStyle/>
          <a:p/>
        </p:txBody>
      </p:sp>
      <p:sp>
        <p:nvSpPr>
          <p:cNvPr id="11" name="object 11"/>
          <p:cNvSpPr txBox="1"/>
          <p:nvPr/>
        </p:nvSpPr>
        <p:spPr>
          <a:xfrm>
            <a:off x="2010642" y="3618789"/>
            <a:ext cx="300355" cy="765810"/>
          </a:xfrm>
          <a:prstGeom prst="rect">
            <a:avLst/>
          </a:prstGeom>
        </p:spPr>
        <p:txBody>
          <a:bodyPr wrap="square" lIns="0" tIns="0" rIns="0" bIns="0" rtlCol="0" vert="vert270">
            <a:spAutoFit/>
          </a:bodyPr>
          <a:lstStyle/>
          <a:p>
            <a:pPr marL="12700">
              <a:lnSpc>
                <a:spcPts val="2230"/>
              </a:lnSpc>
            </a:pPr>
            <a:r>
              <a:rPr dirty="0" sz="1950">
                <a:latin typeface="Times New Roman"/>
                <a:cs typeface="Times New Roman"/>
              </a:rPr>
              <a:t>Intere</a:t>
            </a:r>
            <a:r>
              <a:rPr dirty="0" sz="1950">
                <a:latin typeface="Times New Roman"/>
                <a:cs typeface="Times New Roman"/>
              </a:rPr>
              <a:t>s</a:t>
            </a:r>
            <a:r>
              <a:rPr dirty="0" sz="1950">
                <a:latin typeface="Times New Roman"/>
                <a:cs typeface="Times New Roman"/>
              </a:rPr>
              <a:t>t</a:t>
            </a:r>
            <a:endParaRPr sz="1950">
              <a:latin typeface="Times New Roman"/>
              <a:cs typeface="Times New Roman"/>
            </a:endParaRPr>
          </a:p>
        </p:txBody>
      </p:sp>
      <p:sp>
        <p:nvSpPr>
          <p:cNvPr id="16" name="object 16"/>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12" name="object 12"/>
          <p:cNvSpPr txBox="1"/>
          <p:nvPr/>
        </p:nvSpPr>
        <p:spPr>
          <a:xfrm>
            <a:off x="2438629" y="5672015"/>
            <a:ext cx="273685" cy="321945"/>
          </a:xfrm>
          <a:prstGeom prst="rect">
            <a:avLst/>
          </a:prstGeom>
        </p:spPr>
        <p:txBody>
          <a:bodyPr wrap="square" lIns="0" tIns="11430" rIns="0" bIns="0" rtlCol="0" vert="horz">
            <a:spAutoFit/>
          </a:bodyPr>
          <a:lstStyle/>
          <a:p>
            <a:pPr marL="12700">
              <a:lnSpc>
                <a:spcPct val="100000"/>
              </a:lnSpc>
              <a:spcBef>
                <a:spcPts val="90"/>
              </a:spcBef>
            </a:pPr>
            <a:r>
              <a:rPr dirty="0" sz="1950">
                <a:latin typeface="宋体"/>
                <a:cs typeface="宋体"/>
              </a:rPr>
              <a:t>低</a:t>
            </a:r>
            <a:endParaRPr sz="1950">
              <a:latin typeface="宋体"/>
              <a:cs typeface="宋体"/>
            </a:endParaRPr>
          </a:p>
        </p:txBody>
      </p:sp>
      <p:sp>
        <p:nvSpPr>
          <p:cNvPr id="13" name="object 13"/>
          <p:cNvSpPr txBox="1"/>
          <p:nvPr/>
        </p:nvSpPr>
        <p:spPr>
          <a:xfrm>
            <a:off x="2029824" y="5213463"/>
            <a:ext cx="273685" cy="321945"/>
          </a:xfrm>
          <a:prstGeom prst="rect">
            <a:avLst/>
          </a:prstGeom>
        </p:spPr>
        <p:txBody>
          <a:bodyPr wrap="square" lIns="0" tIns="11430" rIns="0" bIns="0" rtlCol="0" vert="horz">
            <a:spAutoFit/>
          </a:bodyPr>
          <a:lstStyle/>
          <a:p>
            <a:pPr marL="12700">
              <a:lnSpc>
                <a:spcPct val="100000"/>
              </a:lnSpc>
              <a:spcBef>
                <a:spcPts val="90"/>
              </a:spcBef>
            </a:pPr>
            <a:r>
              <a:rPr dirty="0" sz="1950">
                <a:latin typeface="宋体"/>
                <a:cs typeface="宋体"/>
              </a:rPr>
              <a:t>低</a:t>
            </a:r>
            <a:endParaRPr sz="1950">
              <a:latin typeface="宋体"/>
              <a:cs typeface="宋体"/>
            </a:endParaRPr>
          </a:p>
        </p:txBody>
      </p:sp>
      <p:sp>
        <p:nvSpPr>
          <p:cNvPr id="14" name="object 14"/>
          <p:cNvSpPr txBox="1"/>
          <p:nvPr/>
        </p:nvSpPr>
        <p:spPr>
          <a:xfrm>
            <a:off x="6446866" y="5672015"/>
            <a:ext cx="273685" cy="321945"/>
          </a:xfrm>
          <a:prstGeom prst="rect">
            <a:avLst/>
          </a:prstGeom>
        </p:spPr>
        <p:txBody>
          <a:bodyPr wrap="square" lIns="0" tIns="11430" rIns="0" bIns="0" rtlCol="0" vert="horz">
            <a:spAutoFit/>
          </a:bodyPr>
          <a:lstStyle/>
          <a:p>
            <a:pPr marL="12700">
              <a:lnSpc>
                <a:spcPct val="100000"/>
              </a:lnSpc>
              <a:spcBef>
                <a:spcPts val="90"/>
              </a:spcBef>
            </a:pPr>
            <a:r>
              <a:rPr dirty="0" sz="1950">
                <a:latin typeface="宋体"/>
                <a:cs typeface="宋体"/>
              </a:rPr>
              <a:t>高</a:t>
            </a:r>
            <a:endParaRPr sz="1950">
              <a:latin typeface="宋体"/>
              <a:cs typeface="宋体"/>
            </a:endParaRPr>
          </a:p>
        </p:txBody>
      </p:sp>
      <p:sp>
        <p:nvSpPr>
          <p:cNvPr id="15" name="object 15"/>
          <p:cNvSpPr txBox="1"/>
          <p:nvPr/>
        </p:nvSpPr>
        <p:spPr>
          <a:xfrm>
            <a:off x="535940" y="1051225"/>
            <a:ext cx="7176134" cy="1744980"/>
          </a:xfrm>
          <a:prstGeom prst="rect">
            <a:avLst/>
          </a:prstGeom>
        </p:spPr>
        <p:txBody>
          <a:bodyPr wrap="square" lIns="0" tIns="113030" rIns="0" bIns="0" rtlCol="0" vert="horz">
            <a:spAutoFit/>
          </a:bodyPr>
          <a:lstStyle/>
          <a:p>
            <a:pPr marL="355600" indent="-343535">
              <a:lnSpc>
                <a:spcPct val="100000"/>
              </a:lnSpc>
              <a:spcBef>
                <a:spcPts val="890"/>
              </a:spcBef>
              <a:buClr>
                <a:srgbClr val="00663B"/>
              </a:buClr>
              <a:buSzPct val="79687"/>
              <a:buFont typeface="Wingdings"/>
              <a:buChar char=""/>
              <a:tabLst>
                <a:tab pos="356235" algn="l"/>
              </a:tabLst>
            </a:pPr>
            <a:r>
              <a:rPr dirty="0" sz="3200" b="1">
                <a:latin typeface="宋体"/>
                <a:cs typeface="宋体"/>
              </a:rPr>
              <a:t>优先级评估</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920" algn="l"/>
              </a:tabLst>
            </a:pPr>
            <a:r>
              <a:rPr dirty="0" sz="2800" spc="-10" b="1">
                <a:latin typeface="宋体"/>
                <a:cs typeface="宋体"/>
              </a:rPr>
              <a:t>基于涉众扩展特</a:t>
            </a:r>
            <a:r>
              <a:rPr dirty="0" sz="2800" spc="-5" b="1">
                <a:latin typeface="宋体"/>
                <a:cs typeface="宋体"/>
              </a:rPr>
              <a:t>征</a:t>
            </a:r>
            <a:r>
              <a:rPr dirty="0" sz="2800" spc="-5">
                <a:latin typeface="宋体"/>
                <a:cs typeface="宋体"/>
              </a:rPr>
              <a:t>进行涉</a:t>
            </a:r>
            <a:r>
              <a:rPr dirty="0" sz="2800" spc="-15">
                <a:latin typeface="宋体"/>
                <a:cs typeface="宋体"/>
              </a:rPr>
              <a:t>众</a:t>
            </a:r>
            <a:r>
              <a:rPr dirty="0" sz="2800" spc="-5">
                <a:latin typeface="宋体"/>
                <a:cs typeface="宋体"/>
              </a:rPr>
              <a:t>优先级的评估</a:t>
            </a:r>
            <a:endParaRPr sz="2800">
              <a:latin typeface="宋体"/>
              <a:cs typeface="宋体"/>
            </a:endParaRPr>
          </a:p>
          <a:p>
            <a:pPr marL="1506220">
              <a:lnSpc>
                <a:spcPct val="100000"/>
              </a:lnSpc>
              <a:spcBef>
                <a:spcPts val="2515"/>
              </a:spcBef>
            </a:pPr>
            <a:r>
              <a:rPr dirty="0" sz="1950">
                <a:latin typeface="宋体"/>
                <a:cs typeface="宋体"/>
              </a:rPr>
              <a:t>高</a:t>
            </a:r>
            <a:endParaRPr sz="1950">
              <a:latin typeface="宋体"/>
              <a:cs typeface="宋体"/>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542" y="197865"/>
            <a:ext cx="352171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3.3.5</a:t>
            </a:r>
            <a:r>
              <a:rPr dirty="0" spc="-95">
                <a:latin typeface="Calibri"/>
                <a:cs typeface="Calibri"/>
              </a:rPr>
              <a:t> </a:t>
            </a:r>
            <a:r>
              <a:rPr dirty="0"/>
              <a:t>涉众选择</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178062"/>
            <a:ext cx="7916545" cy="4036695"/>
          </a:xfrm>
          <a:prstGeom prst="rect">
            <a:avLst/>
          </a:prstGeom>
        </p:spPr>
        <p:txBody>
          <a:bodyPr wrap="square" lIns="0" tIns="68580" rIns="0" bIns="0" rtlCol="0" vert="horz">
            <a:spAutoFit/>
          </a:bodyPr>
          <a:lstStyle/>
          <a:p>
            <a:pPr marL="355600" indent="-343535">
              <a:lnSpc>
                <a:spcPct val="100000"/>
              </a:lnSpc>
              <a:spcBef>
                <a:spcPts val="540"/>
              </a:spcBef>
              <a:buClr>
                <a:srgbClr val="00663B"/>
              </a:buClr>
              <a:buSzPct val="79166"/>
              <a:buFont typeface="Wingdings"/>
              <a:buChar char=""/>
              <a:tabLst>
                <a:tab pos="356235" algn="l"/>
              </a:tabLst>
            </a:pPr>
            <a:r>
              <a:rPr dirty="0" sz="3600">
                <a:latin typeface="宋体"/>
                <a:cs typeface="宋体"/>
              </a:rPr>
              <a:t>代表采样</a:t>
            </a:r>
            <a:endParaRPr sz="3600">
              <a:latin typeface="宋体"/>
              <a:cs typeface="宋体"/>
            </a:endParaRPr>
          </a:p>
          <a:p>
            <a:pPr lvl="1" marL="756285" indent="-287020">
              <a:lnSpc>
                <a:spcPct val="100000"/>
              </a:lnSpc>
              <a:spcBef>
                <a:spcPts val="400"/>
              </a:spcBef>
              <a:buClr>
                <a:srgbClr val="C00000"/>
              </a:buClr>
              <a:buSzPct val="59375"/>
              <a:buFont typeface="Wingdings"/>
              <a:buChar char=""/>
              <a:tabLst>
                <a:tab pos="756920" algn="l"/>
              </a:tabLst>
            </a:pPr>
            <a:r>
              <a:rPr dirty="0" sz="3200">
                <a:latin typeface="宋体"/>
                <a:cs typeface="宋体"/>
              </a:rPr>
              <a:t>完整采</a:t>
            </a:r>
            <a:r>
              <a:rPr dirty="0" sz="3200" spc="5">
                <a:latin typeface="宋体"/>
                <a:cs typeface="宋体"/>
              </a:rPr>
              <a:t>样</a:t>
            </a:r>
            <a:r>
              <a:rPr dirty="0" sz="3200">
                <a:latin typeface="Calibri"/>
                <a:cs typeface="Calibri"/>
              </a:rPr>
              <a:t>:</a:t>
            </a:r>
            <a:r>
              <a:rPr dirty="0" sz="3200" spc="-60">
                <a:latin typeface="Calibri"/>
                <a:cs typeface="Calibri"/>
              </a:rPr>
              <a:t> </a:t>
            </a:r>
            <a:r>
              <a:rPr dirty="0" u="heavy" sz="3200">
                <a:uFill>
                  <a:solidFill>
                    <a:srgbClr val="000000"/>
                  </a:solidFill>
                </a:uFill>
                <a:latin typeface="宋体"/>
                <a:cs typeface="宋体"/>
              </a:rPr>
              <a:t>每种涉众类别</a:t>
            </a:r>
            <a:r>
              <a:rPr dirty="0" sz="3200">
                <a:latin typeface="宋体"/>
                <a:cs typeface="宋体"/>
              </a:rPr>
              <a:t>都</a:t>
            </a:r>
            <a:r>
              <a:rPr dirty="0" sz="3200" spc="5">
                <a:latin typeface="宋体"/>
                <a:cs typeface="宋体"/>
              </a:rPr>
              <a:t>有</a:t>
            </a:r>
            <a:r>
              <a:rPr dirty="0" sz="3200" spc="5">
                <a:solidFill>
                  <a:srgbClr val="00A15F"/>
                </a:solidFill>
                <a:latin typeface="宋体"/>
                <a:cs typeface="宋体"/>
              </a:rPr>
              <a:t>自己</a:t>
            </a:r>
            <a:r>
              <a:rPr dirty="0" sz="3200" spc="-15">
                <a:solidFill>
                  <a:srgbClr val="00A15F"/>
                </a:solidFill>
                <a:latin typeface="宋体"/>
                <a:cs typeface="宋体"/>
              </a:rPr>
              <a:t>的</a:t>
            </a:r>
            <a:r>
              <a:rPr dirty="0" sz="3200" spc="5">
                <a:solidFill>
                  <a:srgbClr val="00A15F"/>
                </a:solidFill>
                <a:latin typeface="宋体"/>
                <a:cs typeface="宋体"/>
              </a:rPr>
              <a:t>代表</a:t>
            </a:r>
            <a:endParaRPr sz="3200">
              <a:latin typeface="宋体"/>
              <a:cs typeface="宋体"/>
            </a:endParaRPr>
          </a:p>
          <a:p>
            <a:pPr lvl="1" marL="756285" indent="-287020">
              <a:lnSpc>
                <a:spcPct val="100000"/>
              </a:lnSpc>
              <a:spcBef>
                <a:spcPts val="385"/>
              </a:spcBef>
              <a:buClr>
                <a:srgbClr val="C00000"/>
              </a:buClr>
              <a:buSzPct val="59375"/>
              <a:buFont typeface="Wingdings"/>
              <a:buChar char=""/>
              <a:tabLst>
                <a:tab pos="756920" algn="l"/>
              </a:tabLst>
            </a:pPr>
            <a:r>
              <a:rPr dirty="0" sz="3200">
                <a:latin typeface="宋体"/>
                <a:cs typeface="宋体"/>
              </a:rPr>
              <a:t>态度积极</a:t>
            </a:r>
            <a:r>
              <a:rPr dirty="0" sz="3200">
                <a:latin typeface="Calibri"/>
                <a:cs typeface="Calibri"/>
              </a:rPr>
              <a:t>:</a:t>
            </a:r>
            <a:r>
              <a:rPr dirty="0" sz="3200" spc="-15">
                <a:latin typeface="Calibri"/>
                <a:cs typeface="Calibri"/>
              </a:rPr>
              <a:t> </a:t>
            </a:r>
            <a:r>
              <a:rPr dirty="0" sz="3200">
                <a:latin typeface="宋体"/>
                <a:cs typeface="宋体"/>
              </a:rPr>
              <a:t>愿意提供帮助</a:t>
            </a:r>
            <a:endParaRPr sz="3200">
              <a:latin typeface="宋体"/>
              <a:cs typeface="宋体"/>
            </a:endParaRPr>
          </a:p>
          <a:p>
            <a:pPr lvl="1" marL="756285" indent="-287020">
              <a:lnSpc>
                <a:spcPct val="100000"/>
              </a:lnSpc>
              <a:spcBef>
                <a:spcPts val="385"/>
              </a:spcBef>
              <a:buClr>
                <a:srgbClr val="C00000"/>
              </a:buClr>
              <a:buSzPct val="59375"/>
              <a:buFont typeface="Wingdings"/>
              <a:buChar char=""/>
              <a:tabLst>
                <a:tab pos="756920" algn="l"/>
              </a:tabLst>
            </a:pPr>
            <a:r>
              <a:rPr dirty="0" sz="3200">
                <a:latin typeface="宋体"/>
                <a:cs typeface="宋体"/>
              </a:rPr>
              <a:t>数量适中</a:t>
            </a:r>
            <a:endParaRPr sz="3200">
              <a:latin typeface="宋体"/>
              <a:cs typeface="宋体"/>
            </a:endParaRPr>
          </a:p>
          <a:p>
            <a:pPr lvl="2" marL="1155700" indent="-229235">
              <a:lnSpc>
                <a:spcPct val="100000"/>
              </a:lnSpc>
              <a:spcBef>
                <a:spcPts val="355"/>
              </a:spcBef>
              <a:buFont typeface="Arial"/>
              <a:buChar char="•"/>
              <a:tabLst>
                <a:tab pos="1156335" algn="l"/>
              </a:tabLst>
            </a:pPr>
            <a:r>
              <a:rPr dirty="0" sz="2800" spc="-10">
                <a:latin typeface="宋体"/>
                <a:cs typeface="宋体"/>
              </a:rPr>
              <a:t>太</a:t>
            </a:r>
            <a:r>
              <a:rPr dirty="0" sz="2800" spc="-5">
                <a:latin typeface="宋体"/>
                <a:cs typeface="宋体"/>
              </a:rPr>
              <a:t>少</a:t>
            </a:r>
            <a:r>
              <a:rPr dirty="0" sz="2800" spc="-760">
                <a:latin typeface="宋体"/>
                <a:cs typeface="宋体"/>
              </a:rPr>
              <a:t> </a:t>
            </a:r>
            <a:r>
              <a:rPr dirty="0" sz="2800" spc="-5">
                <a:latin typeface="Calibri"/>
                <a:cs typeface="Calibri"/>
              </a:rPr>
              <a:t>: </a:t>
            </a:r>
            <a:r>
              <a:rPr dirty="0" sz="2800" spc="-5">
                <a:latin typeface="宋体"/>
                <a:cs typeface="宋体"/>
              </a:rPr>
              <a:t>个人看法倾轧群体共同看法</a:t>
            </a:r>
            <a:endParaRPr sz="2800">
              <a:latin typeface="宋体"/>
              <a:cs typeface="宋体"/>
            </a:endParaRPr>
          </a:p>
          <a:p>
            <a:pPr lvl="2" marL="1155700" indent="-229235">
              <a:lnSpc>
                <a:spcPct val="100000"/>
              </a:lnSpc>
              <a:spcBef>
                <a:spcPts val="335"/>
              </a:spcBef>
              <a:buFont typeface="Arial"/>
              <a:buChar char="•"/>
              <a:tabLst>
                <a:tab pos="1156335" algn="l"/>
              </a:tabLst>
            </a:pPr>
            <a:r>
              <a:rPr dirty="0" sz="2800" spc="-5">
                <a:latin typeface="宋体"/>
                <a:cs typeface="宋体"/>
              </a:rPr>
              <a:t>太多</a:t>
            </a:r>
            <a:r>
              <a:rPr dirty="0" sz="2800" spc="-5">
                <a:latin typeface="Calibri"/>
                <a:cs typeface="Calibri"/>
              </a:rPr>
              <a:t>:</a:t>
            </a:r>
            <a:r>
              <a:rPr dirty="0" sz="2800" spc="5">
                <a:latin typeface="Calibri"/>
                <a:cs typeface="Calibri"/>
              </a:rPr>
              <a:t> </a:t>
            </a:r>
            <a:r>
              <a:rPr dirty="0" sz="2800" spc="-5">
                <a:latin typeface="宋体"/>
                <a:cs typeface="宋体"/>
              </a:rPr>
              <a:t>达成一致困难</a:t>
            </a:r>
            <a:endParaRPr sz="2800">
              <a:latin typeface="宋体"/>
              <a:cs typeface="宋体"/>
            </a:endParaRPr>
          </a:p>
          <a:p>
            <a:pPr lvl="2" marL="1155700" marR="5080" indent="-228600">
              <a:lnSpc>
                <a:spcPts val="2810"/>
              </a:lnSpc>
              <a:spcBef>
                <a:spcPts val="1105"/>
              </a:spcBef>
              <a:buFont typeface="Arial"/>
              <a:buChar char="•"/>
              <a:tabLst>
                <a:tab pos="1156335" algn="l"/>
              </a:tabLst>
            </a:pPr>
            <a:r>
              <a:rPr dirty="0" sz="2800" spc="-5">
                <a:latin typeface="宋体"/>
                <a:cs typeface="宋体"/>
              </a:rPr>
              <a:t>代表数量的准确数字要视项目的上</a:t>
            </a:r>
            <a:r>
              <a:rPr dirty="0" sz="2800">
                <a:latin typeface="宋体"/>
                <a:cs typeface="宋体"/>
              </a:rPr>
              <a:t>下</a:t>
            </a:r>
            <a:r>
              <a:rPr dirty="0" sz="2800" spc="-5">
                <a:latin typeface="宋体"/>
                <a:cs typeface="宋体"/>
              </a:rPr>
              <a:t>文环境 </a:t>
            </a:r>
            <a:r>
              <a:rPr dirty="0" sz="2800" spc="-10">
                <a:latin typeface="宋体"/>
                <a:cs typeface="宋体"/>
              </a:rPr>
              <a:t>来确</a:t>
            </a:r>
            <a:r>
              <a:rPr dirty="0" sz="2800" spc="-5">
                <a:latin typeface="宋体"/>
                <a:cs typeface="宋体"/>
              </a:rPr>
              <a:t>定</a:t>
            </a:r>
            <a:r>
              <a:rPr dirty="0" sz="2800" spc="-5">
                <a:latin typeface="Calibri"/>
                <a:cs typeface="Calibri"/>
              </a:rPr>
              <a:t>,</a:t>
            </a:r>
            <a:r>
              <a:rPr dirty="0" sz="2800" spc="5">
                <a:latin typeface="Calibri"/>
                <a:cs typeface="Calibri"/>
              </a:rPr>
              <a:t> </a:t>
            </a:r>
            <a:r>
              <a:rPr dirty="0" sz="2800" spc="-10">
                <a:latin typeface="宋体"/>
                <a:cs typeface="宋体"/>
              </a:rPr>
              <a:t>一般</a:t>
            </a:r>
            <a:r>
              <a:rPr dirty="0" sz="2800" spc="-10">
                <a:latin typeface="Calibri"/>
                <a:cs typeface="Calibri"/>
              </a:rPr>
              <a:t>6-10</a:t>
            </a:r>
            <a:endParaRPr sz="2800">
              <a:latin typeface="Calibri"/>
              <a:cs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542" y="230835"/>
            <a:ext cx="3521710"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3.3.5</a:t>
            </a:r>
            <a:r>
              <a:rPr dirty="0" spc="-105">
                <a:latin typeface="Calibri"/>
                <a:cs typeface="Calibri"/>
              </a:rPr>
              <a:t> </a:t>
            </a:r>
            <a:r>
              <a:rPr dirty="0" spc="5"/>
              <a:t>涉众选择</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3847"/>
            <a:ext cx="7960995" cy="3314700"/>
          </a:xfrm>
          <a:prstGeom prst="rect">
            <a:avLst/>
          </a:prstGeom>
        </p:spPr>
        <p:txBody>
          <a:bodyPr wrap="square" lIns="0" tIns="114300" rIns="0" bIns="0" rtlCol="0" vert="horz">
            <a:spAutoFit/>
          </a:bodyPr>
          <a:lstStyle/>
          <a:p>
            <a:pPr marL="355600" indent="-343535">
              <a:lnSpc>
                <a:spcPct val="100000"/>
              </a:lnSpc>
              <a:spcBef>
                <a:spcPts val="900"/>
              </a:spcBef>
              <a:buClr>
                <a:srgbClr val="00663B"/>
              </a:buClr>
              <a:buSzPct val="79687"/>
              <a:buFont typeface="Wingdings"/>
              <a:buChar char=""/>
              <a:tabLst>
                <a:tab pos="356235" algn="l"/>
              </a:tabLst>
            </a:pPr>
            <a:r>
              <a:rPr dirty="0" sz="3200">
                <a:latin typeface="宋体"/>
                <a:cs typeface="宋体"/>
              </a:rPr>
              <a:t>用户替代源</a:t>
            </a:r>
            <a:endParaRPr sz="3200">
              <a:latin typeface="宋体"/>
              <a:cs typeface="宋体"/>
            </a:endParaRPr>
          </a:p>
          <a:p>
            <a:pPr lvl="1" marL="756285" marR="5080" indent="-287020">
              <a:lnSpc>
                <a:spcPct val="100000"/>
              </a:lnSpc>
              <a:spcBef>
                <a:spcPts val="690"/>
              </a:spcBef>
              <a:buClr>
                <a:srgbClr val="C00000"/>
              </a:buClr>
              <a:buSzPct val="58928"/>
              <a:buFont typeface="Wingdings"/>
              <a:buChar char=""/>
              <a:tabLst>
                <a:tab pos="756285" algn="l"/>
                <a:tab pos="756920" algn="l"/>
              </a:tabLst>
            </a:pPr>
            <a:r>
              <a:rPr dirty="0" sz="2800" spc="-5">
                <a:solidFill>
                  <a:srgbClr val="00A15F"/>
                </a:solidFill>
                <a:latin typeface="宋体"/>
                <a:cs typeface="宋体"/>
              </a:rPr>
              <a:t>因为业务关系而和用户频繁接触的人</a:t>
            </a:r>
            <a:r>
              <a:rPr dirty="0" sz="2800" spc="-780">
                <a:solidFill>
                  <a:srgbClr val="00A15F"/>
                </a:solidFill>
                <a:latin typeface="宋体"/>
                <a:cs typeface="宋体"/>
              </a:rPr>
              <a:t> </a:t>
            </a:r>
            <a:r>
              <a:rPr dirty="0" sz="2800" spc="-5">
                <a:latin typeface="宋体"/>
                <a:cs typeface="宋体"/>
              </a:rPr>
              <a:t>，能够代 替他们发表看法</a:t>
            </a:r>
            <a:endParaRPr sz="2800">
              <a:latin typeface="宋体"/>
              <a:cs typeface="宋体"/>
            </a:endParaRPr>
          </a:p>
          <a:p>
            <a:pPr lvl="2" marL="1155700" indent="-229235">
              <a:lnSpc>
                <a:spcPct val="100000"/>
              </a:lnSpc>
              <a:spcBef>
                <a:spcPts val="595"/>
              </a:spcBef>
              <a:buFont typeface="Arial"/>
              <a:buChar char="•"/>
              <a:tabLst>
                <a:tab pos="1156335" algn="l"/>
              </a:tabLst>
            </a:pPr>
            <a:r>
              <a:rPr dirty="0" sz="2400" spc="-5">
                <a:latin typeface="宋体"/>
                <a:cs typeface="宋体"/>
              </a:rPr>
              <a:t>市场人员</a:t>
            </a:r>
            <a:endParaRPr sz="2400">
              <a:latin typeface="宋体"/>
              <a:cs typeface="宋体"/>
            </a:endParaRPr>
          </a:p>
          <a:p>
            <a:pPr lvl="2" marL="1155700" indent="-229235">
              <a:lnSpc>
                <a:spcPct val="100000"/>
              </a:lnSpc>
              <a:spcBef>
                <a:spcPts val="575"/>
              </a:spcBef>
              <a:buFont typeface="Arial"/>
              <a:buChar char="•"/>
              <a:tabLst>
                <a:tab pos="1156335" algn="l"/>
              </a:tabLst>
            </a:pPr>
            <a:r>
              <a:rPr dirty="0" sz="2400">
                <a:latin typeface="宋体"/>
                <a:cs typeface="宋体"/>
              </a:rPr>
              <a:t>服务咨询人员</a:t>
            </a:r>
            <a:endParaRPr sz="2400">
              <a:latin typeface="宋体"/>
              <a:cs typeface="宋体"/>
            </a:endParaRPr>
          </a:p>
          <a:p>
            <a:pPr lvl="2" marL="1155700" indent="-229235">
              <a:lnSpc>
                <a:spcPct val="100000"/>
              </a:lnSpc>
              <a:spcBef>
                <a:spcPts val="575"/>
              </a:spcBef>
              <a:buFont typeface="Arial"/>
              <a:buChar char="•"/>
              <a:tabLst>
                <a:tab pos="1156335" algn="l"/>
              </a:tabLst>
            </a:pPr>
            <a:r>
              <a:rPr dirty="0" sz="2400">
                <a:latin typeface="宋体"/>
                <a:cs typeface="宋体"/>
              </a:rPr>
              <a:t>技术支持人员</a:t>
            </a:r>
            <a:endParaRPr sz="2400">
              <a:latin typeface="宋体"/>
              <a:cs typeface="宋体"/>
            </a:endParaRPr>
          </a:p>
          <a:p>
            <a:pPr lvl="2" marL="1155700" indent="-229235">
              <a:lnSpc>
                <a:spcPct val="100000"/>
              </a:lnSpc>
              <a:spcBef>
                <a:spcPts val="580"/>
              </a:spcBef>
              <a:buFont typeface="Arial"/>
              <a:buChar char="•"/>
              <a:tabLst>
                <a:tab pos="1156335" algn="l"/>
              </a:tabLst>
            </a:pPr>
            <a:r>
              <a:rPr dirty="0" sz="2400" spc="-5">
                <a:latin typeface="宋体"/>
                <a:cs typeface="宋体"/>
              </a:rPr>
              <a:t>领域专家</a:t>
            </a:r>
            <a:endParaRPr sz="2400">
              <a:latin typeface="宋体"/>
              <a:cs typeface="宋体"/>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761" y="166496"/>
            <a:ext cx="3047365" cy="605155"/>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3.3.5</a:t>
            </a:r>
            <a:r>
              <a:rPr dirty="0" sz="3800" spc="-70">
                <a:latin typeface="Calibri"/>
                <a:cs typeface="Calibri"/>
              </a:rPr>
              <a:t> </a:t>
            </a:r>
            <a:r>
              <a:rPr dirty="0" sz="3800"/>
              <a:t>涉众选择</a:t>
            </a:r>
            <a:endParaRPr sz="3800">
              <a:latin typeface="Calibri"/>
              <a:cs typeface="Calibri"/>
            </a:endParaRPr>
          </a:p>
        </p:txBody>
      </p:sp>
      <p:sp>
        <p:nvSpPr>
          <p:cNvPr id="3" name="object 3"/>
          <p:cNvSpPr txBox="1"/>
          <p:nvPr/>
        </p:nvSpPr>
        <p:spPr>
          <a:xfrm>
            <a:off x="868313" y="2696046"/>
            <a:ext cx="788035" cy="472440"/>
          </a:xfrm>
          <a:prstGeom prst="rect">
            <a:avLst/>
          </a:prstGeom>
          <a:solidFill>
            <a:srgbClr val="E8EDF7"/>
          </a:solidFill>
          <a:ln w="4443">
            <a:solidFill>
              <a:srgbClr val="000000"/>
            </a:solidFill>
          </a:ln>
        </p:spPr>
        <p:txBody>
          <a:bodyPr wrap="square" lIns="0" tIns="6985" rIns="0" bIns="0" rtlCol="0" vert="horz">
            <a:spAutoFit/>
          </a:bodyPr>
          <a:lstStyle/>
          <a:p>
            <a:pPr>
              <a:lnSpc>
                <a:spcPct val="100000"/>
              </a:lnSpc>
              <a:spcBef>
                <a:spcPts val="55"/>
              </a:spcBef>
            </a:pPr>
            <a:endParaRPr sz="900">
              <a:latin typeface="Times New Roman"/>
              <a:cs typeface="Times New Roman"/>
            </a:endParaRPr>
          </a:p>
          <a:p>
            <a:pPr marL="245110">
              <a:lnSpc>
                <a:spcPct val="100000"/>
              </a:lnSpc>
            </a:pPr>
            <a:r>
              <a:rPr dirty="0" sz="1150" spc="15">
                <a:latin typeface="宋体"/>
                <a:cs typeface="宋体"/>
              </a:rPr>
              <a:t>用户</a:t>
            </a:r>
            <a:endParaRPr sz="1150">
              <a:latin typeface="宋体"/>
              <a:cs typeface="宋体"/>
            </a:endParaRPr>
          </a:p>
        </p:txBody>
      </p:sp>
      <p:sp>
        <p:nvSpPr>
          <p:cNvPr id="4" name="object 4"/>
          <p:cNvSpPr txBox="1"/>
          <p:nvPr/>
        </p:nvSpPr>
        <p:spPr>
          <a:xfrm>
            <a:off x="2443567" y="2696046"/>
            <a:ext cx="788035" cy="472440"/>
          </a:xfrm>
          <a:prstGeom prst="rect">
            <a:avLst/>
          </a:prstGeom>
          <a:solidFill>
            <a:srgbClr val="E8EDF7"/>
          </a:solidFill>
          <a:ln w="4443">
            <a:solidFill>
              <a:srgbClr val="000000"/>
            </a:solidFill>
          </a:ln>
        </p:spPr>
        <p:txBody>
          <a:bodyPr wrap="square" lIns="0" tIns="6985" rIns="0" bIns="0" rtlCol="0" vert="horz">
            <a:spAutoFit/>
          </a:bodyPr>
          <a:lstStyle/>
          <a:p>
            <a:pPr>
              <a:lnSpc>
                <a:spcPct val="100000"/>
              </a:lnSpc>
              <a:spcBef>
                <a:spcPts val="55"/>
              </a:spcBef>
            </a:pPr>
            <a:endParaRPr sz="900">
              <a:latin typeface="Times New Roman"/>
              <a:cs typeface="Times New Roman"/>
            </a:endParaRPr>
          </a:p>
          <a:p>
            <a:pPr marL="245110">
              <a:lnSpc>
                <a:spcPct val="100000"/>
              </a:lnSpc>
            </a:pPr>
            <a:r>
              <a:rPr dirty="0" sz="1150" spc="15">
                <a:latin typeface="宋体"/>
                <a:cs typeface="宋体"/>
              </a:rPr>
              <a:t>客户</a:t>
            </a:r>
            <a:endParaRPr sz="1150">
              <a:latin typeface="宋体"/>
              <a:cs typeface="宋体"/>
            </a:endParaRPr>
          </a:p>
        </p:txBody>
      </p:sp>
      <p:sp>
        <p:nvSpPr>
          <p:cNvPr id="5" name="object 5"/>
          <p:cNvSpPr txBox="1"/>
          <p:nvPr/>
        </p:nvSpPr>
        <p:spPr>
          <a:xfrm>
            <a:off x="4018800" y="2696046"/>
            <a:ext cx="788035" cy="472440"/>
          </a:xfrm>
          <a:prstGeom prst="rect">
            <a:avLst/>
          </a:prstGeom>
          <a:solidFill>
            <a:srgbClr val="E8EDF7"/>
          </a:solidFill>
          <a:ln w="4443">
            <a:solidFill>
              <a:srgbClr val="000000"/>
            </a:solidFill>
          </a:ln>
        </p:spPr>
        <p:txBody>
          <a:bodyPr wrap="square" lIns="0" tIns="6985" rIns="0" bIns="0" rtlCol="0" vert="horz">
            <a:spAutoFit/>
          </a:bodyPr>
          <a:lstStyle/>
          <a:p>
            <a:pPr>
              <a:lnSpc>
                <a:spcPct val="100000"/>
              </a:lnSpc>
              <a:spcBef>
                <a:spcPts val="55"/>
              </a:spcBef>
            </a:pPr>
            <a:endParaRPr sz="900">
              <a:latin typeface="Times New Roman"/>
              <a:cs typeface="Times New Roman"/>
            </a:endParaRPr>
          </a:p>
          <a:p>
            <a:pPr marL="97155">
              <a:lnSpc>
                <a:spcPct val="100000"/>
              </a:lnSpc>
            </a:pPr>
            <a:r>
              <a:rPr dirty="0" sz="1150" spc="15">
                <a:latin typeface="宋体"/>
                <a:cs typeface="宋体"/>
              </a:rPr>
              <a:t>市场人员</a:t>
            </a:r>
            <a:endParaRPr sz="1150">
              <a:latin typeface="宋体"/>
              <a:cs typeface="宋体"/>
            </a:endParaRPr>
          </a:p>
        </p:txBody>
      </p:sp>
      <p:sp>
        <p:nvSpPr>
          <p:cNvPr id="6" name="object 6"/>
          <p:cNvSpPr txBox="1"/>
          <p:nvPr/>
        </p:nvSpPr>
        <p:spPr>
          <a:xfrm>
            <a:off x="5594070" y="2696046"/>
            <a:ext cx="892810" cy="472440"/>
          </a:xfrm>
          <a:prstGeom prst="rect">
            <a:avLst/>
          </a:prstGeom>
          <a:solidFill>
            <a:srgbClr val="E8EDF7"/>
          </a:solidFill>
          <a:ln w="4443">
            <a:solidFill>
              <a:srgbClr val="000000"/>
            </a:solidFill>
          </a:ln>
        </p:spPr>
        <p:txBody>
          <a:bodyPr wrap="square" lIns="0" tIns="6985" rIns="0" bIns="0" rtlCol="0" vert="horz">
            <a:spAutoFit/>
          </a:bodyPr>
          <a:lstStyle/>
          <a:p>
            <a:pPr>
              <a:lnSpc>
                <a:spcPct val="100000"/>
              </a:lnSpc>
              <a:spcBef>
                <a:spcPts val="55"/>
              </a:spcBef>
            </a:pPr>
            <a:endParaRPr sz="900">
              <a:latin typeface="Times New Roman"/>
              <a:cs typeface="Times New Roman"/>
            </a:endParaRPr>
          </a:p>
          <a:p>
            <a:pPr marL="75565">
              <a:lnSpc>
                <a:spcPct val="100000"/>
              </a:lnSpc>
            </a:pPr>
            <a:r>
              <a:rPr dirty="0" sz="1150" spc="15">
                <a:latin typeface="宋体"/>
                <a:cs typeface="宋体"/>
              </a:rPr>
              <a:t>需求分析员</a:t>
            </a:r>
            <a:endParaRPr sz="1150">
              <a:latin typeface="宋体"/>
              <a:cs typeface="宋体"/>
            </a:endParaRPr>
          </a:p>
        </p:txBody>
      </p:sp>
      <p:sp>
        <p:nvSpPr>
          <p:cNvPr id="7" name="object 7"/>
          <p:cNvSpPr txBox="1"/>
          <p:nvPr/>
        </p:nvSpPr>
        <p:spPr>
          <a:xfrm>
            <a:off x="7169340" y="2696046"/>
            <a:ext cx="788035" cy="472440"/>
          </a:xfrm>
          <a:prstGeom prst="rect">
            <a:avLst/>
          </a:prstGeom>
          <a:solidFill>
            <a:srgbClr val="E8EDF7"/>
          </a:solidFill>
          <a:ln w="4443">
            <a:solidFill>
              <a:srgbClr val="000000"/>
            </a:solidFill>
          </a:ln>
        </p:spPr>
        <p:txBody>
          <a:bodyPr wrap="square" lIns="0" tIns="6985" rIns="0" bIns="0" rtlCol="0" vert="horz">
            <a:spAutoFit/>
          </a:bodyPr>
          <a:lstStyle/>
          <a:p>
            <a:pPr>
              <a:lnSpc>
                <a:spcPct val="100000"/>
              </a:lnSpc>
              <a:spcBef>
                <a:spcPts val="55"/>
              </a:spcBef>
            </a:pPr>
            <a:endParaRPr sz="900">
              <a:latin typeface="Times New Roman"/>
              <a:cs typeface="Times New Roman"/>
            </a:endParaRPr>
          </a:p>
          <a:p>
            <a:pPr marL="97155">
              <a:lnSpc>
                <a:spcPct val="100000"/>
              </a:lnSpc>
            </a:pPr>
            <a:r>
              <a:rPr dirty="0" sz="1150" spc="15">
                <a:latin typeface="宋体"/>
                <a:cs typeface="宋体"/>
              </a:rPr>
              <a:t>开发人员</a:t>
            </a:r>
            <a:endParaRPr sz="1150">
              <a:latin typeface="宋体"/>
              <a:cs typeface="宋体"/>
            </a:endParaRPr>
          </a:p>
        </p:txBody>
      </p:sp>
      <p:sp>
        <p:nvSpPr>
          <p:cNvPr id="8" name="object 8"/>
          <p:cNvSpPr txBox="1"/>
          <p:nvPr/>
        </p:nvSpPr>
        <p:spPr>
          <a:xfrm>
            <a:off x="4281283" y="1462880"/>
            <a:ext cx="892810" cy="472440"/>
          </a:xfrm>
          <a:prstGeom prst="rect">
            <a:avLst/>
          </a:prstGeom>
          <a:solidFill>
            <a:srgbClr val="E8EDF7"/>
          </a:solidFill>
          <a:ln w="4443">
            <a:solidFill>
              <a:srgbClr val="000000"/>
            </a:solidFill>
          </a:ln>
        </p:spPr>
        <p:txBody>
          <a:bodyPr wrap="square" lIns="0" tIns="0" rIns="0" bIns="0" rtlCol="0" vert="horz">
            <a:spAutoFit/>
          </a:bodyPr>
          <a:lstStyle/>
          <a:p>
            <a:pPr>
              <a:lnSpc>
                <a:spcPct val="100000"/>
              </a:lnSpc>
            </a:pPr>
            <a:endParaRPr sz="950">
              <a:latin typeface="Times New Roman"/>
              <a:cs typeface="Times New Roman"/>
            </a:endParaRPr>
          </a:p>
          <a:p>
            <a:pPr marL="75565">
              <a:lnSpc>
                <a:spcPct val="100000"/>
              </a:lnSpc>
            </a:pPr>
            <a:r>
              <a:rPr dirty="0" sz="1150" spc="15">
                <a:latin typeface="宋体"/>
                <a:cs typeface="宋体"/>
              </a:rPr>
              <a:t>用户代言人</a:t>
            </a:r>
            <a:endParaRPr sz="1150">
              <a:latin typeface="宋体"/>
              <a:cs typeface="宋体"/>
            </a:endParaRPr>
          </a:p>
        </p:txBody>
      </p:sp>
      <p:sp>
        <p:nvSpPr>
          <p:cNvPr id="9" name="object 9"/>
          <p:cNvSpPr/>
          <p:nvPr/>
        </p:nvSpPr>
        <p:spPr>
          <a:xfrm>
            <a:off x="3546256" y="3824072"/>
            <a:ext cx="1050290" cy="472440"/>
          </a:xfrm>
          <a:custGeom>
            <a:avLst/>
            <a:gdLst/>
            <a:ahLst/>
            <a:cxnLst/>
            <a:rect l="l" t="t" r="r" b="b"/>
            <a:pathLst>
              <a:path w="1050289" h="472439">
                <a:moveTo>
                  <a:pt x="0" y="472238"/>
                </a:moveTo>
                <a:lnTo>
                  <a:pt x="1050173" y="472238"/>
                </a:lnTo>
                <a:lnTo>
                  <a:pt x="1050173" y="0"/>
                </a:lnTo>
                <a:lnTo>
                  <a:pt x="0" y="0"/>
                </a:lnTo>
                <a:lnTo>
                  <a:pt x="0" y="472238"/>
                </a:lnTo>
                <a:close/>
              </a:path>
            </a:pathLst>
          </a:custGeom>
          <a:solidFill>
            <a:srgbClr val="E8EDF7"/>
          </a:solidFill>
        </p:spPr>
        <p:txBody>
          <a:bodyPr wrap="square" lIns="0" tIns="0" rIns="0" bIns="0" rtlCol="0"/>
          <a:lstStyle/>
          <a:p/>
        </p:txBody>
      </p:sp>
      <p:sp>
        <p:nvSpPr>
          <p:cNvPr id="10" name="object 10"/>
          <p:cNvSpPr txBox="1"/>
          <p:nvPr/>
        </p:nvSpPr>
        <p:spPr>
          <a:xfrm>
            <a:off x="3546256" y="3824072"/>
            <a:ext cx="1050290" cy="472440"/>
          </a:xfrm>
          <a:prstGeom prst="rect">
            <a:avLst/>
          </a:prstGeom>
          <a:ln w="4443">
            <a:solidFill>
              <a:srgbClr val="000000"/>
            </a:solidFill>
          </a:ln>
        </p:spPr>
        <p:txBody>
          <a:bodyPr wrap="square" lIns="0" tIns="0" rIns="0" bIns="0" rtlCol="0" vert="horz">
            <a:spAutoFit/>
          </a:bodyPr>
          <a:lstStyle/>
          <a:p>
            <a:pPr>
              <a:lnSpc>
                <a:spcPct val="100000"/>
              </a:lnSpc>
            </a:pPr>
            <a:endParaRPr sz="950">
              <a:latin typeface="Times New Roman"/>
              <a:cs typeface="Times New Roman"/>
            </a:endParaRPr>
          </a:p>
          <a:p>
            <a:pPr marL="80010">
              <a:lnSpc>
                <a:spcPct val="100000"/>
              </a:lnSpc>
            </a:pPr>
            <a:r>
              <a:rPr dirty="0" sz="1150" spc="15">
                <a:latin typeface="宋体"/>
                <a:cs typeface="宋体"/>
              </a:rPr>
              <a:t>技术支持人员</a:t>
            </a:r>
            <a:endParaRPr sz="1150">
              <a:latin typeface="宋体"/>
              <a:cs typeface="宋体"/>
            </a:endParaRPr>
          </a:p>
        </p:txBody>
      </p:sp>
      <p:sp>
        <p:nvSpPr>
          <p:cNvPr id="11" name="object 11"/>
          <p:cNvSpPr txBox="1"/>
          <p:nvPr/>
        </p:nvSpPr>
        <p:spPr>
          <a:xfrm>
            <a:off x="3992496" y="4558660"/>
            <a:ext cx="892810" cy="472440"/>
          </a:xfrm>
          <a:prstGeom prst="rect">
            <a:avLst/>
          </a:prstGeom>
          <a:solidFill>
            <a:srgbClr val="E8EDF7"/>
          </a:solidFill>
          <a:ln w="4443">
            <a:solidFill>
              <a:srgbClr val="000000"/>
            </a:solidFill>
          </a:ln>
        </p:spPr>
        <p:txBody>
          <a:bodyPr wrap="square" lIns="0" tIns="0" rIns="0" bIns="0" rtlCol="0" vert="horz">
            <a:spAutoFit/>
          </a:bodyPr>
          <a:lstStyle/>
          <a:p>
            <a:pPr>
              <a:lnSpc>
                <a:spcPct val="100000"/>
              </a:lnSpc>
            </a:pPr>
            <a:endParaRPr sz="950">
              <a:latin typeface="Times New Roman"/>
              <a:cs typeface="Times New Roman"/>
            </a:endParaRPr>
          </a:p>
          <a:p>
            <a:pPr marL="75565">
              <a:lnSpc>
                <a:spcPct val="100000"/>
              </a:lnSpc>
            </a:pPr>
            <a:r>
              <a:rPr dirty="0" sz="1150" spc="15">
                <a:latin typeface="宋体"/>
                <a:cs typeface="宋体"/>
              </a:rPr>
              <a:t>用户管理者</a:t>
            </a:r>
            <a:endParaRPr sz="1150">
              <a:latin typeface="宋体"/>
              <a:cs typeface="宋体"/>
            </a:endParaRPr>
          </a:p>
        </p:txBody>
      </p:sp>
      <p:sp>
        <p:nvSpPr>
          <p:cNvPr id="12" name="object 12"/>
          <p:cNvSpPr txBox="1"/>
          <p:nvPr/>
        </p:nvSpPr>
        <p:spPr>
          <a:xfrm>
            <a:off x="3493833" y="5319494"/>
            <a:ext cx="892810" cy="472440"/>
          </a:xfrm>
          <a:prstGeom prst="rect">
            <a:avLst/>
          </a:prstGeom>
          <a:solidFill>
            <a:srgbClr val="E8EDF7"/>
          </a:solidFill>
          <a:ln w="4443">
            <a:solidFill>
              <a:srgbClr val="000000"/>
            </a:solidFill>
          </a:ln>
        </p:spPr>
        <p:txBody>
          <a:bodyPr wrap="square" lIns="0" tIns="0" rIns="0" bIns="0" rtlCol="0" vert="horz">
            <a:spAutoFit/>
          </a:bodyPr>
          <a:lstStyle/>
          <a:p>
            <a:pPr>
              <a:lnSpc>
                <a:spcPct val="100000"/>
              </a:lnSpc>
            </a:pPr>
            <a:endParaRPr sz="950">
              <a:latin typeface="Times New Roman"/>
              <a:cs typeface="Times New Roman"/>
            </a:endParaRPr>
          </a:p>
          <a:p>
            <a:pPr marL="149860">
              <a:lnSpc>
                <a:spcPct val="100000"/>
              </a:lnSpc>
            </a:pPr>
            <a:r>
              <a:rPr dirty="0" sz="1150" spc="15">
                <a:latin typeface="宋体"/>
                <a:cs typeface="宋体"/>
              </a:rPr>
              <a:t>销售人员</a:t>
            </a:r>
            <a:endParaRPr sz="1150">
              <a:latin typeface="宋体"/>
              <a:cs typeface="宋体"/>
            </a:endParaRPr>
          </a:p>
        </p:txBody>
      </p:sp>
      <p:sp>
        <p:nvSpPr>
          <p:cNvPr id="13" name="object 13"/>
          <p:cNvSpPr txBox="1"/>
          <p:nvPr/>
        </p:nvSpPr>
        <p:spPr>
          <a:xfrm>
            <a:off x="5357891" y="5319495"/>
            <a:ext cx="892810" cy="472440"/>
          </a:xfrm>
          <a:prstGeom prst="rect">
            <a:avLst/>
          </a:prstGeom>
          <a:solidFill>
            <a:srgbClr val="E8EDF7"/>
          </a:solidFill>
          <a:ln w="4443">
            <a:solidFill>
              <a:srgbClr val="000000"/>
            </a:solidFill>
          </a:ln>
        </p:spPr>
        <p:txBody>
          <a:bodyPr wrap="square" lIns="0" tIns="0" rIns="0" bIns="0" rtlCol="0" vert="horz">
            <a:spAutoFit/>
          </a:bodyPr>
          <a:lstStyle/>
          <a:p>
            <a:pPr>
              <a:lnSpc>
                <a:spcPct val="100000"/>
              </a:lnSpc>
            </a:pPr>
            <a:endParaRPr sz="950">
              <a:latin typeface="Times New Roman"/>
              <a:cs typeface="Times New Roman"/>
            </a:endParaRPr>
          </a:p>
          <a:p>
            <a:pPr marL="149860">
              <a:lnSpc>
                <a:spcPct val="100000"/>
              </a:lnSpc>
            </a:pPr>
            <a:r>
              <a:rPr dirty="0" sz="1150" spc="15">
                <a:latin typeface="宋体"/>
                <a:cs typeface="宋体"/>
              </a:rPr>
              <a:t>产品经理</a:t>
            </a:r>
            <a:endParaRPr sz="1150">
              <a:latin typeface="宋体"/>
              <a:cs typeface="宋体"/>
            </a:endParaRPr>
          </a:p>
        </p:txBody>
      </p:sp>
      <p:sp>
        <p:nvSpPr>
          <p:cNvPr id="14" name="object 14"/>
          <p:cNvSpPr/>
          <p:nvPr/>
        </p:nvSpPr>
        <p:spPr>
          <a:xfrm>
            <a:off x="1262133" y="1174709"/>
            <a:ext cx="6203950" cy="1521460"/>
          </a:xfrm>
          <a:custGeom>
            <a:avLst/>
            <a:gdLst/>
            <a:ahLst/>
            <a:cxnLst/>
            <a:rect l="l" t="t" r="r" b="b"/>
            <a:pathLst>
              <a:path w="6203950" h="1521460">
                <a:moveTo>
                  <a:pt x="6203404" y="1420121"/>
                </a:moveTo>
                <a:lnTo>
                  <a:pt x="5845337" y="1081750"/>
                </a:lnTo>
                <a:lnTo>
                  <a:pt x="5483381" y="789470"/>
                </a:lnTo>
                <a:lnTo>
                  <a:pt x="5117534" y="542911"/>
                </a:lnTo>
                <a:lnTo>
                  <a:pt x="4747612" y="342443"/>
                </a:lnTo>
                <a:lnTo>
                  <a:pt x="4373801" y="187881"/>
                </a:lnTo>
                <a:lnTo>
                  <a:pt x="3996099" y="79409"/>
                </a:lnTo>
                <a:lnTo>
                  <a:pt x="3614322" y="16659"/>
                </a:lnTo>
                <a:lnTo>
                  <a:pt x="3228470" y="0"/>
                </a:lnTo>
                <a:lnTo>
                  <a:pt x="2838913" y="29246"/>
                </a:lnTo>
                <a:lnTo>
                  <a:pt x="2445280" y="104584"/>
                </a:lnTo>
                <a:lnTo>
                  <a:pt x="2047573" y="225827"/>
                </a:lnTo>
                <a:lnTo>
                  <a:pt x="1645975" y="392976"/>
                </a:lnTo>
                <a:lnTo>
                  <a:pt x="1240432" y="606031"/>
                </a:lnTo>
                <a:lnTo>
                  <a:pt x="830925" y="865178"/>
                </a:lnTo>
                <a:lnTo>
                  <a:pt x="417435" y="1170230"/>
                </a:lnTo>
                <a:lnTo>
                  <a:pt x="0" y="1521188"/>
                </a:lnTo>
              </a:path>
            </a:pathLst>
          </a:custGeom>
          <a:ln w="4442">
            <a:solidFill>
              <a:srgbClr val="4677BE"/>
            </a:solidFill>
          </a:ln>
        </p:spPr>
        <p:txBody>
          <a:bodyPr wrap="square" lIns="0" tIns="0" rIns="0" bIns="0" rtlCol="0"/>
          <a:lstStyle/>
          <a:p/>
        </p:txBody>
      </p:sp>
      <p:sp>
        <p:nvSpPr>
          <p:cNvPr id="15" name="object 15"/>
          <p:cNvSpPr/>
          <p:nvPr/>
        </p:nvSpPr>
        <p:spPr>
          <a:xfrm>
            <a:off x="7419782" y="2550221"/>
            <a:ext cx="143510" cy="146050"/>
          </a:xfrm>
          <a:custGeom>
            <a:avLst/>
            <a:gdLst/>
            <a:ahLst/>
            <a:cxnLst/>
            <a:rect l="l" t="t" r="r" b="b"/>
            <a:pathLst>
              <a:path w="143509" h="146050">
                <a:moveTo>
                  <a:pt x="73539" y="0"/>
                </a:moveTo>
                <a:lnTo>
                  <a:pt x="0" y="71080"/>
                </a:lnTo>
                <a:lnTo>
                  <a:pt x="143374" y="145677"/>
                </a:lnTo>
                <a:lnTo>
                  <a:pt x="73539" y="0"/>
                </a:lnTo>
                <a:close/>
              </a:path>
            </a:pathLst>
          </a:custGeom>
          <a:solidFill>
            <a:srgbClr val="4677BE"/>
          </a:solidFill>
        </p:spPr>
        <p:txBody>
          <a:bodyPr wrap="square" lIns="0" tIns="0" rIns="0" bIns="0" rtlCol="0"/>
          <a:lstStyle/>
          <a:p/>
        </p:txBody>
      </p:sp>
      <p:sp>
        <p:nvSpPr>
          <p:cNvPr id="16" name="object 16"/>
          <p:cNvSpPr/>
          <p:nvPr/>
        </p:nvSpPr>
        <p:spPr>
          <a:xfrm>
            <a:off x="1262133" y="1674861"/>
            <a:ext cx="2879725" cy="1021080"/>
          </a:xfrm>
          <a:custGeom>
            <a:avLst/>
            <a:gdLst/>
            <a:ahLst/>
            <a:cxnLst/>
            <a:rect l="l" t="t" r="r" b="b"/>
            <a:pathLst>
              <a:path w="2879725" h="1021080">
                <a:moveTo>
                  <a:pt x="2879480" y="9440"/>
                </a:moveTo>
                <a:lnTo>
                  <a:pt x="2573466" y="0"/>
                </a:lnTo>
                <a:lnTo>
                  <a:pt x="2264117" y="20916"/>
                </a:lnTo>
                <a:lnTo>
                  <a:pt x="1951249" y="72375"/>
                </a:lnTo>
                <a:lnTo>
                  <a:pt x="1634861" y="154377"/>
                </a:lnTo>
                <a:lnTo>
                  <a:pt x="1314954" y="266735"/>
                </a:lnTo>
                <a:lnTo>
                  <a:pt x="991471" y="409636"/>
                </a:lnTo>
                <a:lnTo>
                  <a:pt x="664506" y="582893"/>
                </a:lnTo>
                <a:lnTo>
                  <a:pt x="334003" y="786693"/>
                </a:lnTo>
                <a:lnTo>
                  <a:pt x="0" y="1021036"/>
                </a:lnTo>
              </a:path>
            </a:pathLst>
          </a:custGeom>
          <a:ln w="4442">
            <a:solidFill>
              <a:srgbClr val="4677BE"/>
            </a:solidFill>
          </a:ln>
        </p:spPr>
        <p:txBody>
          <a:bodyPr wrap="square" lIns="0" tIns="0" rIns="0" bIns="0" rtlCol="0"/>
          <a:lstStyle/>
          <a:p/>
        </p:txBody>
      </p:sp>
      <p:sp>
        <p:nvSpPr>
          <p:cNvPr id="17" name="object 17"/>
          <p:cNvSpPr/>
          <p:nvPr/>
        </p:nvSpPr>
        <p:spPr>
          <a:xfrm>
            <a:off x="4123459" y="1632287"/>
            <a:ext cx="158115" cy="102235"/>
          </a:xfrm>
          <a:custGeom>
            <a:avLst/>
            <a:gdLst/>
            <a:ahLst/>
            <a:cxnLst/>
            <a:rect l="l" t="t" r="r" b="b"/>
            <a:pathLst>
              <a:path w="158114" h="102235">
                <a:moveTo>
                  <a:pt x="10743" y="0"/>
                </a:moveTo>
                <a:lnTo>
                  <a:pt x="0" y="101622"/>
                </a:lnTo>
                <a:lnTo>
                  <a:pt x="157823" y="66822"/>
                </a:lnTo>
                <a:lnTo>
                  <a:pt x="10743" y="0"/>
                </a:lnTo>
                <a:close/>
              </a:path>
            </a:pathLst>
          </a:custGeom>
          <a:solidFill>
            <a:srgbClr val="4677BE"/>
          </a:solidFill>
        </p:spPr>
        <p:txBody>
          <a:bodyPr wrap="square" lIns="0" tIns="0" rIns="0" bIns="0" rtlCol="0"/>
          <a:lstStyle/>
          <a:p/>
        </p:txBody>
      </p:sp>
      <p:sp>
        <p:nvSpPr>
          <p:cNvPr id="18" name="object 18"/>
          <p:cNvSpPr/>
          <p:nvPr/>
        </p:nvSpPr>
        <p:spPr>
          <a:xfrm>
            <a:off x="1262133" y="2224066"/>
            <a:ext cx="4648835" cy="472440"/>
          </a:xfrm>
          <a:custGeom>
            <a:avLst/>
            <a:gdLst/>
            <a:ahLst/>
            <a:cxnLst/>
            <a:rect l="l" t="t" r="r" b="b"/>
            <a:pathLst>
              <a:path w="4648835" h="472439">
                <a:moveTo>
                  <a:pt x="4648695" y="417595"/>
                </a:moveTo>
                <a:lnTo>
                  <a:pt x="4219312" y="262848"/>
                </a:lnTo>
                <a:lnTo>
                  <a:pt x="3782148" y="143826"/>
                </a:lnTo>
                <a:lnTo>
                  <a:pt x="3337020" y="60344"/>
                </a:lnTo>
                <a:lnTo>
                  <a:pt x="2884111" y="12402"/>
                </a:lnTo>
                <a:lnTo>
                  <a:pt x="2423237" y="0"/>
                </a:lnTo>
                <a:lnTo>
                  <a:pt x="1954398" y="23323"/>
                </a:lnTo>
                <a:lnTo>
                  <a:pt x="1477593" y="82186"/>
                </a:lnTo>
                <a:lnTo>
                  <a:pt x="993009" y="176404"/>
                </a:lnTo>
                <a:lnTo>
                  <a:pt x="500459" y="306347"/>
                </a:lnTo>
                <a:lnTo>
                  <a:pt x="0" y="471831"/>
                </a:lnTo>
              </a:path>
            </a:pathLst>
          </a:custGeom>
          <a:ln w="4442">
            <a:solidFill>
              <a:srgbClr val="4677BE"/>
            </a:solidFill>
          </a:ln>
        </p:spPr>
        <p:txBody>
          <a:bodyPr wrap="square" lIns="0" tIns="0" rIns="0" bIns="0" rtlCol="0"/>
          <a:lstStyle/>
          <a:p/>
        </p:txBody>
      </p:sp>
      <p:sp>
        <p:nvSpPr>
          <p:cNvPr id="19" name="object 19"/>
          <p:cNvSpPr/>
          <p:nvPr/>
        </p:nvSpPr>
        <p:spPr>
          <a:xfrm>
            <a:off x="5879152" y="2589463"/>
            <a:ext cx="161925" cy="106680"/>
          </a:xfrm>
          <a:custGeom>
            <a:avLst/>
            <a:gdLst/>
            <a:ahLst/>
            <a:cxnLst/>
            <a:rect l="l" t="t" r="r" b="b"/>
            <a:pathLst>
              <a:path w="161925" h="106680">
                <a:moveTo>
                  <a:pt x="39641" y="0"/>
                </a:moveTo>
                <a:lnTo>
                  <a:pt x="0" y="94218"/>
                </a:lnTo>
                <a:lnTo>
                  <a:pt x="161342" y="106435"/>
                </a:lnTo>
                <a:lnTo>
                  <a:pt x="39641" y="0"/>
                </a:lnTo>
                <a:close/>
              </a:path>
            </a:pathLst>
          </a:custGeom>
          <a:solidFill>
            <a:srgbClr val="4677BE"/>
          </a:solidFill>
        </p:spPr>
        <p:txBody>
          <a:bodyPr wrap="square" lIns="0" tIns="0" rIns="0" bIns="0" rtlCol="0"/>
          <a:lstStyle/>
          <a:p/>
        </p:txBody>
      </p:sp>
      <p:sp>
        <p:nvSpPr>
          <p:cNvPr id="20" name="object 20"/>
          <p:cNvSpPr/>
          <p:nvPr/>
        </p:nvSpPr>
        <p:spPr>
          <a:xfrm>
            <a:off x="5173948" y="1699110"/>
            <a:ext cx="829310" cy="861694"/>
          </a:xfrm>
          <a:custGeom>
            <a:avLst/>
            <a:gdLst/>
            <a:ahLst/>
            <a:cxnLst/>
            <a:rect l="l" t="t" r="r" b="b"/>
            <a:pathLst>
              <a:path w="829310" h="861694">
                <a:moveTo>
                  <a:pt x="829313" y="861291"/>
                </a:moveTo>
                <a:lnTo>
                  <a:pt x="755218" y="682850"/>
                </a:lnTo>
                <a:lnTo>
                  <a:pt x="655559" y="518292"/>
                </a:lnTo>
                <a:lnTo>
                  <a:pt x="530153" y="367802"/>
                </a:lnTo>
                <a:lnTo>
                  <a:pt x="378998" y="231195"/>
                </a:lnTo>
                <a:lnTo>
                  <a:pt x="202465" y="108471"/>
                </a:lnTo>
                <a:lnTo>
                  <a:pt x="0" y="0"/>
                </a:lnTo>
              </a:path>
            </a:pathLst>
          </a:custGeom>
          <a:ln w="4444">
            <a:solidFill>
              <a:srgbClr val="4677BE"/>
            </a:solidFill>
          </a:ln>
        </p:spPr>
        <p:txBody>
          <a:bodyPr wrap="square" lIns="0" tIns="0" rIns="0" bIns="0" rtlCol="0"/>
          <a:lstStyle/>
          <a:p/>
        </p:txBody>
      </p:sp>
      <p:sp>
        <p:nvSpPr>
          <p:cNvPr id="21" name="object 21"/>
          <p:cNvSpPr/>
          <p:nvPr/>
        </p:nvSpPr>
        <p:spPr>
          <a:xfrm>
            <a:off x="5950654" y="2534672"/>
            <a:ext cx="99060" cy="161290"/>
          </a:xfrm>
          <a:custGeom>
            <a:avLst/>
            <a:gdLst/>
            <a:ahLst/>
            <a:cxnLst/>
            <a:rect l="l" t="t" r="r" b="b"/>
            <a:pathLst>
              <a:path w="99060" h="161289">
                <a:moveTo>
                  <a:pt x="98546" y="0"/>
                </a:moveTo>
                <a:lnTo>
                  <a:pt x="0" y="27025"/>
                </a:lnTo>
                <a:lnTo>
                  <a:pt x="89840" y="161225"/>
                </a:lnTo>
                <a:lnTo>
                  <a:pt x="98546" y="0"/>
                </a:lnTo>
                <a:close/>
              </a:path>
            </a:pathLst>
          </a:custGeom>
          <a:solidFill>
            <a:srgbClr val="4677BE"/>
          </a:solidFill>
        </p:spPr>
        <p:txBody>
          <a:bodyPr wrap="square" lIns="0" tIns="0" rIns="0" bIns="0" rtlCol="0"/>
          <a:lstStyle/>
          <a:p/>
        </p:txBody>
      </p:sp>
      <p:sp>
        <p:nvSpPr>
          <p:cNvPr id="22" name="object 22"/>
          <p:cNvSpPr/>
          <p:nvPr/>
        </p:nvSpPr>
        <p:spPr>
          <a:xfrm>
            <a:off x="5173948" y="1699110"/>
            <a:ext cx="2266315" cy="929005"/>
          </a:xfrm>
          <a:custGeom>
            <a:avLst/>
            <a:gdLst/>
            <a:ahLst/>
            <a:cxnLst/>
            <a:rect l="l" t="t" r="r" b="b"/>
            <a:pathLst>
              <a:path w="2266315" h="929005">
                <a:moveTo>
                  <a:pt x="2266210" y="928854"/>
                </a:moveTo>
                <a:lnTo>
                  <a:pt x="1820526" y="697843"/>
                </a:lnTo>
                <a:lnTo>
                  <a:pt x="1371137" y="489416"/>
                </a:lnTo>
                <a:lnTo>
                  <a:pt x="917857" y="303571"/>
                </a:lnTo>
                <a:lnTo>
                  <a:pt x="460873" y="140494"/>
                </a:lnTo>
                <a:lnTo>
                  <a:pt x="0" y="0"/>
                </a:lnTo>
              </a:path>
            </a:pathLst>
          </a:custGeom>
          <a:ln w="4442">
            <a:solidFill>
              <a:srgbClr val="4677BE"/>
            </a:solidFill>
          </a:ln>
        </p:spPr>
        <p:txBody>
          <a:bodyPr wrap="square" lIns="0" tIns="0" rIns="0" bIns="0" rtlCol="0"/>
          <a:lstStyle/>
          <a:p/>
        </p:txBody>
      </p:sp>
      <p:sp>
        <p:nvSpPr>
          <p:cNvPr id="23" name="object 23"/>
          <p:cNvSpPr/>
          <p:nvPr/>
        </p:nvSpPr>
        <p:spPr>
          <a:xfrm>
            <a:off x="7404223" y="2577061"/>
            <a:ext cx="159385" cy="119380"/>
          </a:xfrm>
          <a:custGeom>
            <a:avLst/>
            <a:gdLst/>
            <a:ahLst/>
            <a:cxnLst/>
            <a:rect l="l" t="t" r="r" b="b"/>
            <a:pathLst>
              <a:path w="159384" h="119380">
                <a:moveTo>
                  <a:pt x="49643" y="0"/>
                </a:moveTo>
                <a:lnTo>
                  <a:pt x="0" y="89405"/>
                </a:lnTo>
                <a:lnTo>
                  <a:pt x="158934" y="118837"/>
                </a:lnTo>
                <a:lnTo>
                  <a:pt x="49643" y="0"/>
                </a:lnTo>
                <a:close/>
              </a:path>
            </a:pathLst>
          </a:custGeom>
          <a:solidFill>
            <a:srgbClr val="4677BE"/>
          </a:solidFill>
        </p:spPr>
        <p:txBody>
          <a:bodyPr wrap="square" lIns="0" tIns="0" rIns="0" bIns="0" rtlCol="0"/>
          <a:lstStyle/>
          <a:p/>
        </p:txBody>
      </p:sp>
      <p:sp>
        <p:nvSpPr>
          <p:cNvPr id="24" name="object 24"/>
          <p:cNvSpPr/>
          <p:nvPr/>
        </p:nvSpPr>
        <p:spPr>
          <a:xfrm>
            <a:off x="1655950" y="2932091"/>
            <a:ext cx="647065" cy="0"/>
          </a:xfrm>
          <a:custGeom>
            <a:avLst/>
            <a:gdLst/>
            <a:ahLst/>
            <a:cxnLst/>
            <a:rect l="l" t="t" r="r" b="b"/>
            <a:pathLst>
              <a:path w="647064" h="0">
                <a:moveTo>
                  <a:pt x="0" y="0"/>
                </a:moveTo>
                <a:lnTo>
                  <a:pt x="647020" y="0"/>
                </a:lnTo>
              </a:path>
            </a:pathLst>
          </a:custGeom>
          <a:ln w="4442">
            <a:solidFill>
              <a:srgbClr val="4677BE"/>
            </a:solidFill>
          </a:ln>
        </p:spPr>
        <p:txBody>
          <a:bodyPr wrap="square" lIns="0" tIns="0" rIns="0" bIns="0" rtlCol="0"/>
          <a:lstStyle/>
          <a:p/>
        </p:txBody>
      </p:sp>
      <p:sp>
        <p:nvSpPr>
          <p:cNvPr id="25" name="object 25"/>
          <p:cNvSpPr/>
          <p:nvPr/>
        </p:nvSpPr>
        <p:spPr>
          <a:xfrm>
            <a:off x="2290189" y="2881002"/>
            <a:ext cx="153670" cy="102235"/>
          </a:xfrm>
          <a:custGeom>
            <a:avLst/>
            <a:gdLst/>
            <a:ahLst/>
            <a:cxnLst/>
            <a:rect l="l" t="t" r="r" b="b"/>
            <a:pathLst>
              <a:path w="153669" h="102235">
                <a:moveTo>
                  <a:pt x="0" y="0"/>
                </a:moveTo>
                <a:lnTo>
                  <a:pt x="0" y="102177"/>
                </a:lnTo>
                <a:lnTo>
                  <a:pt x="153377" y="51088"/>
                </a:lnTo>
                <a:lnTo>
                  <a:pt x="0" y="0"/>
                </a:lnTo>
                <a:close/>
              </a:path>
            </a:pathLst>
          </a:custGeom>
          <a:solidFill>
            <a:srgbClr val="4677BE"/>
          </a:solidFill>
        </p:spPr>
        <p:txBody>
          <a:bodyPr wrap="square" lIns="0" tIns="0" rIns="0" bIns="0" rtlCol="0"/>
          <a:lstStyle/>
          <a:p/>
        </p:txBody>
      </p:sp>
      <p:sp>
        <p:nvSpPr>
          <p:cNvPr id="26" name="object 26"/>
          <p:cNvSpPr/>
          <p:nvPr/>
        </p:nvSpPr>
        <p:spPr>
          <a:xfrm>
            <a:off x="3231165" y="2932091"/>
            <a:ext cx="647065" cy="0"/>
          </a:xfrm>
          <a:custGeom>
            <a:avLst/>
            <a:gdLst/>
            <a:ahLst/>
            <a:cxnLst/>
            <a:rect l="l" t="t" r="r" b="b"/>
            <a:pathLst>
              <a:path w="647064" h="0">
                <a:moveTo>
                  <a:pt x="0" y="0"/>
                </a:moveTo>
                <a:lnTo>
                  <a:pt x="647038" y="0"/>
                </a:lnTo>
              </a:path>
            </a:pathLst>
          </a:custGeom>
          <a:ln w="4442">
            <a:solidFill>
              <a:srgbClr val="4677BE"/>
            </a:solidFill>
          </a:ln>
        </p:spPr>
        <p:txBody>
          <a:bodyPr wrap="square" lIns="0" tIns="0" rIns="0" bIns="0" rtlCol="0"/>
          <a:lstStyle/>
          <a:p/>
        </p:txBody>
      </p:sp>
      <p:sp>
        <p:nvSpPr>
          <p:cNvPr id="27" name="object 27"/>
          <p:cNvSpPr/>
          <p:nvPr/>
        </p:nvSpPr>
        <p:spPr>
          <a:xfrm>
            <a:off x="3865422" y="2881002"/>
            <a:ext cx="153670" cy="102235"/>
          </a:xfrm>
          <a:custGeom>
            <a:avLst/>
            <a:gdLst/>
            <a:ahLst/>
            <a:cxnLst/>
            <a:rect l="l" t="t" r="r" b="b"/>
            <a:pathLst>
              <a:path w="153670" h="102235">
                <a:moveTo>
                  <a:pt x="0" y="0"/>
                </a:moveTo>
                <a:lnTo>
                  <a:pt x="0" y="102177"/>
                </a:lnTo>
                <a:lnTo>
                  <a:pt x="153377" y="51088"/>
                </a:lnTo>
                <a:lnTo>
                  <a:pt x="0" y="0"/>
                </a:lnTo>
                <a:close/>
              </a:path>
            </a:pathLst>
          </a:custGeom>
          <a:solidFill>
            <a:srgbClr val="4677BE"/>
          </a:solidFill>
        </p:spPr>
        <p:txBody>
          <a:bodyPr wrap="square" lIns="0" tIns="0" rIns="0" bIns="0" rtlCol="0"/>
          <a:lstStyle/>
          <a:p/>
        </p:txBody>
      </p:sp>
      <p:sp>
        <p:nvSpPr>
          <p:cNvPr id="28" name="object 28"/>
          <p:cNvSpPr/>
          <p:nvPr/>
        </p:nvSpPr>
        <p:spPr>
          <a:xfrm>
            <a:off x="4806435" y="2932091"/>
            <a:ext cx="647065" cy="0"/>
          </a:xfrm>
          <a:custGeom>
            <a:avLst/>
            <a:gdLst/>
            <a:ahLst/>
            <a:cxnLst/>
            <a:rect l="l" t="t" r="r" b="b"/>
            <a:pathLst>
              <a:path w="647064" h="0">
                <a:moveTo>
                  <a:pt x="0" y="0"/>
                </a:moveTo>
                <a:lnTo>
                  <a:pt x="647038" y="0"/>
                </a:lnTo>
              </a:path>
            </a:pathLst>
          </a:custGeom>
          <a:ln w="4442">
            <a:solidFill>
              <a:srgbClr val="4677BE"/>
            </a:solidFill>
          </a:ln>
        </p:spPr>
        <p:txBody>
          <a:bodyPr wrap="square" lIns="0" tIns="0" rIns="0" bIns="0" rtlCol="0"/>
          <a:lstStyle/>
          <a:p/>
        </p:txBody>
      </p:sp>
      <p:sp>
        <p:nvSpPr>
          <p:cNvPr id="29" name="object 29"/>
          <p:cNvSpPr/>
          <p:nvPr/>
        </p:nvSpPr>
        <p:spPr>
          <a:xfrm>
            <a:off x="5440692" y="2881002"/>
            <a:ext cx="153670" cy="102235"/>
          </a:xfrm>
          <a:custGeom>
            <a:avLst/>
            <a:gdLst/>
            <a:ahLst/>
            <a:cxnLst/>
            <a:rect l="l" t="t" r="r" b="b"/>
            <a:pathLst>
              <a:path w="153670" h="102235">
                <a:moveTo>
                  <a:pt x="0" y="0"/>
                </a:moveTo>
                <a:lnTo>
                  <a:pt x="0" y="102177"/>
                </a:lnTo>
                <a:lnTo>
                  <a:pt x="153377" y="51088"/>
                </a:lnTo>
                <a:lnTo>
                  <a:pt x="0" y="0"/>
                </a:lnTo>
                <a:close/>
              </a:path>
            </a:pathLst>
          </a:custGeom>
          <a:solidFill>
            <a:srgbClr val="4677BE"/>
          </a:solidFill>
        </p:spPr>
        <p:txBody>
          <a:bodyPr wrap="square" lIns="0" tIns="0" rIns="0" bIns="0" rtlCol="0"/>
          <a:lstStyle/>
          <a:p/>
        </p:txBody>
      </p:sp>
      <p:sp>
        <p:nvSpPr>
          <p:cNvPr id="30" name="object 30"/>
          <p:cNvSpPr/>
          <p:nvPr/>
        </p:nvSpPr>
        <p:spPr>
          <a:xfrm>
            <a:off x="6486735" y="2932091"/>
            <a:ext cx="542290" cy="0"/>
          </a:xfrm>
          <a:custGeom>
            <a:avLst/>
            <a:gdLst/>
            <a:ahLst/>
            <a:cxnLst/>
            <a:rect l="l" t="t" r="r" b="b"/>
            <a:pathLst>
              <a:path w="542290" h="0">
                <a:moveTo>
                  <a:pt x="0" y="0"/>
                </a:moveTo>
                <a:lnTo>
                  <a:pt x="542008" y="0"/>
                </a:lnTo>
              </a:path>
            </a:pathLst>
          </a:custGeom>
          <a:ln w="4442">
            <a:solidFill>
              <a:srgbClr val="4677BE"/>
            </a:solidFill>
          </a:ln>
        </p:spPr>
        <p:txBody>
          <a:bodyPr wrap="square" lIns="0" tIns="0" rIns="0" bIns="0" rtlCol="0"/>
          <a:lstStyle/>
          <a:p/>
        </p:txBody>
      </p:sp>
      <p:sp>
        <p:nvSpPr>
          <p:cNvPr id="31" name="object 31"/>
          <p:cNvSpPr/>
          <p:nvPr/>
        </p:nvSpPr>
        <p:spPr>
          <a:xfrm>
            <a:off x="7015962" y="2881002"/>
            <a:ext cx="153670" cy="102235"/>
          </a:xfrm>
          <a:custGeom>
            <a:avLst/>
            <a:gdLst/>
            <a:ahLst/>
            <a:cxnLst/>
            <a:rect l="l" t="t" r="r" b="b"/>
            <a:pathLst>
              <a:path w="153670" h="102235">
                <a:moveTo>
                  <a:pt x="0" y="0"/>
                </a:moveTo>
                <a:lnTo>
                  <a:pt x="0" y="102177"/>
                </a:lnTo>
                <a:lnTo>
                  <a:pt x="153377" y="51088"/>
                </a:lnTo>
                <a:lnTo>
                  <a:pt x="0" y="0"/>
                </a:lnTo>
                <a:close/>
              </a:path>
            </a:pathLst>
          </a:custGeom>
          <a:solidFill>
            <a:srgbClr val="4677BE"/>
          </a:solidFill>
        </p:spPr>
        <p:txBody>
          <a:bodyPr wrap="square" lIns="0" tIns="0" rIns="0" bIns="0" rtlCol="0"/>
          <a:lstStyle/>
          <a:p/>
        </p:txBody>
      </p:sp>
      <p:sp>
        <p:nvSpPr>
          <p:cNvPr id="32" name="object 32"/>
          <p:cNvSpPr/>
          <p:nvPr/>
        </p:nvSpPr>
        <p:spPr>
          <a:xfrm>
            <a:off x="1262133" y="3168284"/>
            <a:ext cx="2143760" cy="894080"/>
          </a:xfrm>
          <a:custGeom>
            <a:avLst/>
            <a:gdLst/>
            <a:ahLst/>
            <a:cxnLst/>
            <a:rect l="l" t="t" r="r" b="b"/>
            <a:pathLst>
              <a:path w="2143760" h="894079">
                <a:moveTo>
                  <a:pt x="2143526" y="893684"/>
                </a:moveTo>
                <a:lnTo>
                  <a:pt x="1838068" y="877765"/>
                </a:lnTo>
                <a:lnTo>
                  <a:pt x="1543353" y="834636"/>
                </a:lnTo>
                <a:lnTo>
                  <a:pt x="1259382" y="763926"/>
                </a:lnTo>
                <a:lnTo>
                  <a:pt x="986081" y="665820"/>
                </a:lnTo>
                <a:lnTo>
                  <a:pt x="723505" y="540505"/>
                </a:lnTo>
                <a:lnTo>
                  <a:pt x="471617" y="387608"/>
                </a:lnTo>
                <a:lnTo>
                  <a:pt x="230455" y="207502"/>
                </a:lnTo>
                <a:lnTo>
                  <a:pt x="0" y="0"/>
                </a:lnTo>
              </a:path>
            </a:pathLst>
          </a:custGeom>
          <a:ln w="4442">
            <a:solidFill>
              <a:srgbClr val="4677BE"/>
            </a:solidFill>
          </a:ln>
        </p:spPr>
        <p:txBody>
          <a:bodyPr wrap="square" lIns="0" tIns="0" rIns="0" bIns="0" rtlCol="0"/>
          <a:lstStyle/>
          <a:p/>
        </p:txBody>
      </p:sp>
      <p:sp>
        <p:nvSpPr>
          <p:cNvPr id="33" name="object 33"/>
          <p:cNvSpPr/>
          <p:nvPr/>
        </p:nvSpPr>
        <p:spPr>
          <a:xfrm>
            <a:off x="3392322" y="4011065"/>
            <a:ext cx="154305" cy="102235"/>
          </a:xfrm>
          <a:custGeom>
            <a:avLst/>
            <a:gdLst/>
            <a:ahLst/>
            <a:cxnLst/>
            <a:rect l="l" t="t" r="r" b="b"/>
            <a:pathLst>
              <a:path w="154304" h="102235">
                <a:moveTo>
                  <a:pt x="0" y="0"/>
                </a:moveTo>
                <a:lnTo>
                  <a:pt x="1296" y="102177"/>
                </a:lnTo>
                <a:lnTo>
                  <a:pt x="153933" y="49052"/>
                </a:lnTo>
                <a:lnTo>
                  <a:pt x="0" y="0"/>
                </a:lnTo>
                <a:close/>
              </a:path>
            </a:pathLst>
          </a:custGeom>
          <a:solidFill>
            <a:srgbClr val="4677BE"/>
          </a:solidFill>
        </p:spPr>
        <p:txBody>
          <a:bodyPr wrap="square" lIns="0" tIns="0" rIns="0" bIns="0" rtlCol="0"/>
          <a:lstStyle/>
          <a:p/>
        </p:txBody>
      </p:sp>
      <p:sp>
        <p:nvSpPr>
          <p:cNvPr id="34" name="object 34"/>
          <p:cNvSpPr/>
          <p:nvPr/>
        </p:nvSpPr>
        <p:spPr>
          <a:xfrm>
            <a:off x="1262133" y="3168284"/>
            <a:ext cx="2593975" cy="1594485"/>
          </a:xfrm>
          <a:custGeom>
            <a:avLst/>
            <a:gdLst/>
            <a:ahLst/>
            <a:cxnLst/>
            <a:rect l="l" t="t" r="r" b="b"/>
            <a:pathLst>
              <a:path w="2593975" h="1594485">
                <a:moveTo>
                  <a:pt x="2593657" y="1594323"/>
                </a:moveTo>
                <a:lnTo>
                  <a:pt x="2215399" y="1485463"/>
                </a:lnTo>
                <a:lnTo>
                  <a:pt x="1852702" y="1350781"/>
                </a:lnTo>
                <a:lnTo>
                  <a:pt x="1505379" y="1190240"/>
                </a:lnTo>
                <a:lnTo>
                  <a:pt x="1173450" y="1003858"/>
                </a:lnTo>
                <a:lnTo>
                  <a:pt x="856951" y="791691"/>
                </a:lnTo>
                <a:lnTo>
                  <a:pt x="555882" y="553647"/>
                </a:lnTo>
                <a:lnTo>
                  <a:pt x="270226" y="289688"/>
                </a:lnTo>
                <a:lnTo>
                  <a:pt x="0" y="0"/>
                </a:lnTo>
              </a:path>
            </a:pathLst>
          </a:custGeom>
          <a:ln w="4443">
            <a:solidFill>
              <a:srgbClr val="4677BE"/>
            </a:solidFill>
          </a:ln>
        </p:spPr>
        <p:txBody>
          <a:bodyPr wrap="square" lIns="0" tIns="0" rIns="0" bIns="0" rtlCol="0"/>
          <a:lstStyle/>
          <a:p/>
        </p:txBody>
      </p:sp>
      <p:sp>
        <p:nvSpPr>
          <p:cNvPr id="35" name="object 35"/>
          <p:cNvSpPr/>
          <p:nvPr/>
        </p:nvSpPr>
        <p:spPr>
          <a:xfrm>
            <a:off x="3831523" y="4709945"/>
            <a:ext cx="161290" cy="99695"/>
          </a:xfrm>
          <a:custGeom>
            <a:avLst/>
            <a:gdLst/>
            <a:ahLst/>
            <a:cxnLst/>
            <a:rect l="l" t="t" r="r" b="b"/>
            <a:pathLst>
              <a:path w="161289" h="99695">
                <a:moveTo>
                  <a:pt x="23525" y="0"/>
                </a:moveTo>
                <a:lnTo>
                  <a:pt x="0" y="99456"/>
                </a:lnTo>
                <a:lnTo>
                  <a:pt x="160972" y="84833"/>
                </a:lnTo>
                <a:lnTo>
                  <a:pt x="23525" y="0"/>
                </a:lnTo>
                <a:close/>
              </a:path>
            </a:pathLst>
          </a:custGeom>
          <a:solidFill>
            <a:srgbClr val="4677BE"/>
          </a:solidFill>
        </p:spPr>
        <p:txBody>
          <a:bodyPr wrap="square" lIns="0" tIns="0" rIns="0" bIns="0" rtlCol="0"/>
          <a:lstStyle/>
          <a:p/>
        </p:txBody>
      </p:sp>
      <p:sp>
        <p:nvSpPr>
          <p:cNvPr id="36" name="object 36"/>
          <p:cNvSpPr/>
          <p:nvPr/>
        </p:nvSpPr>
        <p:spPr>
          <a:xfrm>
            <a:off x="1262133" y="3168284"/>
            <a:ext cx="2101215" cy="2336800"/>
          </a:xfrm>
          <a:custGeom>
            <a:avLst/>
            <a:gdLst/>
            <a:ahLst/>
            <a:cxnLst/>
            <a:rect l="l" t="t" r="r" b="b"/>
            <a:pathLst>
              <a:path w="2101215" h="2336800">
                <a:moveTo>
                  <a:pt x="0" y="0"/>
                </a:moveTo>
                <a:lnTo>
                  <a:pt x="166696" y="376687"/>
                </a:lnTo>
                <a:lnTo>
                  <a:pt x="350082" y="723943"/>
                </a:lnTo>
                <a:lnTo>
                  <a:pt x="550140" y="1042156"/>
                </a:lnTo>
                <a:lnTo>
                  <a:pt x="766869" y="1331012"/>
                </a:lnTo>
                <a:lnTo>
                  <a:pt x="1000289" y="1590602"/>
                </a:lnTo>
                <a:lnTo>
                  <a:pt x="1250361" y="1820928"/>
                </a:lnTo>
                <a:lnTo>
                  <a:pt x="1517049" y="2021970"/>
                </a:lnTo>
                <a:lnTo>
                  <a:pt x="1800464" y="2193728"/>
                </a:lnTo>
                <a:lnTo>
                  <a:pt x="2100736" y="2336221"/>
                </a:lnTo>
              </a:path>
            </a:pathLst>
          </a:custGeom>
          <a:ln w="4444">
            <a:solidFill>
              <a:srgbClr val="4677BE"/>
            </a:solidFill>
          </a:ln>
        </p:spPr>
        <p:txBody>
          <a:bodyPr wrap="square" lIns="0" tIns="0" rIns="0" bIns="0" rtlCol="0"/>
          <a:lstStyle/>
          <a:p/>
        </p:txBody>
      </p:sp>
      <p:sp>
        <p:nvSpPr>
          <p:cNvPr id="37" name="object 37"/>
          <p:cNvSpPr/>
          <p:nvPr/>
        </p:nvSpPr>
        <p:spPr>
          <a:xfrm>
            <a:off x="3332305" y="5452270"/>
            <a:ext cx="161925" cy="103505"/>
          </a:xfrm>
          <a:custGeom>
            <a:avLst/>
            <a:gdLst/>
            <a:ahLst/>
            <a:cxnLst/>
            <a:rect l="l" t="t" r="r" b="b"/>
            <a:pathLst>
              <a:path w="161925" h="103504">
                <a:moveTo>
                  <a:pt x="37232" y="0"/>
                </a:moveTo>
                <a:lnTo>
                  <a:pt x="0" y="95180"/>
                </a:lnTo>
                <a:lnTo>
                  <a:pt x="161528" y="103343"/>
                </a:lnTo>
                <a:lnTo>
                  <a:pt x="37232" y="0"/>
                </a:lnTo>
                <a:close/>
              </a:path>
            </a:pathLst>
          </a:custGeom>
          <a:solidFill>
            <a:srgbClr val="4677BE"/>
          </a:solidFill>
        </p:spPr>
        <p:txBody>
          <a:bodyPr wrap="square" lIns="0" tIns="0" rIns="0" bIns="0" rtlCol="0"/>
          <a:lstStyle/>
          <a:p/>
        </p:txBody>
      </p:sp>
      <p:sp>
        <p:nvSpPr>
          <p:cNvPr id="38" name="object 38"/>
          <p:cNvSpPr/>
          <p:nvPr/>
        </p:nvSpPr>
        <p:spPr>
          <a:xfrm>
            <a:off x="4386314" y="5555613"/>
            <a:ext cx="831215" cy="0"/>
          </a:xfrm>
          <a:custGeom>
            <a:avLst/>
            <a:gdLst/>
            <a:ahLst/>
            <a:cxnLst/>
            <a:rect l="l" t="t" r="r" b="b"/>
            <a:pathLst>
              <a:path w="831214" h="0">
                <a:moveTo>
                  <a:pt x="0" y="0"/>
                </a:moveTo>
                <a:lnTo>
                  <a:pt x="830980" y="0"/>
                </a:lnTo>
              </a:path>
            </a:pathLst>
          </a:custGeom>
          <a:ln w="4442">
            <a:solidFill>
              <a:srgbClr val="4677BE"/>
            </a:solidFill>
          </a:ln>
        </p:spPr>
        <p:txBody>
          <a:bodyPr wrap="square" lIns="0" tIns="0" rIns="0" bIns="0" rtlCol="0"/>
          <a:lstStyle/>
          <a:p/>
        </p:txBody>
      </p:sp>
      <p:sp>
        <p:nvSpPr>
          <p:cNvPr id="39" name="object 39"/>
          <p:cNvSpPr/>
          <p:nvPr/>
        </p:nvSpPr>
        <p:spPr>
          <a:xfrm>
            <a:off x="5204513" y="5504525"/>
            <a:ext cx="153670" cy="102235"/>
          </a:xfrm>
          <a:custGeom>
            <a:avLst/>
            <a:gdLst/>
            <a:ahLst/>
            <a:cxnLst/>
            <a:rect l="l" t="t" r="r" b="b"/>
            <a:pathLst>
              <a:path w="153670" h="102235">
                <a:moveTo>
                  <a:pt x="0" y="0"/>
                </a:moveTo>
                <a:lnTo>
                  <a:pt x="0" y="102177"/>
                </a:lnTo>
                <a:lnTo>
                  <a:pt x="153377" y="51088"/>
                </a:lnTo>
                <a:lnTo>
                  <a:pt x="0" y="0"/>
                </a:lnTo>
                <a:close/>
              </a:path>
            </a:pathLst>
          </a:custGeom>
          <a:solidFill>
            <a:srgbClr val="4677BE"/>
          </a:solidFill>
        </p:spPr>
        <p:txBody>
          <a:bodyPr wrap="square" lIns="0" tIns="0" rIns="0" bIns="0" rtlCol="0"/>
          <a:lstStyle/>
          <a:p/>
        </p:txBody>
      </p:sp>
      <p:sp>
        <p:nvSpPr>
          <p:cNvPr id="40" name="object 40"/>
          <p:cNvSpPr/>
          <p:nvPr/>
        </p:nvSpPr>
        <p:spPr>
          <a:xfrm>
            <a:off x="6250371" y="3307113"/>
            <a:ext cx="1292225" cy="2248535"/>
          </a:xfrm>
          <a:custGeom>
            <a:avLst/>
            <a:gdLst/>
            <a:ahLst/>
            <a:cxnLst/>
            <a:rect l="l" t="t" r="r" b="b"/>
            <a:pathLst>
              <a:path w="1292225" h="2248535">
                <a:moveTo>
                  <a:pt x="0" y="2248500"/>
                </a:moveTo>
                <a:lnTo>
                  <a:pt x="252665" y="2017490"/>
                </a:lnTo>
                <a:lnTo>
                  <a:pt x="479212" y="1772171"/>
                </a:lnTo>
                <a:lnTo>
                  <a:pt x="679826" y="1512544"/>
                </a:lnTo>
                <a:lnTo>
                  <a:pt x="854135" y="1238645"/>
                </a:lnTo>
                <a:lnTo>
                  <a:pt x="1002697" y="950418"/>
                </a:lnTo>
                <a:lnTo>
                  <a:pt x="1124954" y="647865"/>
                </a:lnTo>
                <a:lnTo>
                  <a:pt x="1221278" y="331151"/>
                </a:lnTo>
                <a:lnTo>
                  <a:pt x="1291669" y="0"/>
                </a:lnTo>
              </a:path>
            </a:pathLst>
          </a:custGeom>
          <a:ln w="4444">
            <a:solidFill>
              <a:srgbClr val="4677BE"/>
            </a:solidFill>
          </a:ln>
        </p:spPr>
        <p:txBody>
          <a:bodyPr wrap="square" lIns="0" tIns="0" rIns="0" bIns="0" rtlCol="0"/>
          <a:lstStyle/>
          <a:p/>
        </p:txBody>
      </p:sp>
      <p:sp>
        <p:nvSpPr>
          <p:cNvPr id="41" name="object 41"/>
          <p:cNvSpPr/>
          <p:nvPr/>
        </p:nvSpPr>
        <p:spPr>
          <a:xfrm>
            <a:off x="7489618" y="3168284"/>
            <a:ext cx="100965" cy="159385"/>
          </a:xfrm>
          <a:custGeom>
            <a:avLst/>
            <a:gdLst/>
            <a:ahLst/>
            <a:cxnLst/>
            <a:rect l="l" t="t" r="r" b="b"/>
            <a:pathLst>
              <a:path w="100965" h="159385">
                <a:moveTo>
                  <a:pt x="73539" y="0"/>
                </a:moveTo>
                <a:lnTo>
                  <a:pt x="0" y="143826"/>
                </a:lnTo>
                <a:lnTo>
                  <a:pt x="100955" y="159189"/>
                </a:lnTo>
                <a:lnTo>
                  <a:pt x="73539" y="0"/>
                </a:lnTo>
                <a:close/>
              </a:path>
            </a:pathLst>
          </a:custGeom>
          <a:solidFill>
            <a:srgbClr val="4677BE"/>
          </a:solidFill>
        </p:spPr>
        <p:txBody>
          <a:bodyPr wrap="square" lIns="0" tIns="0" rIns="0" bIns="0" rtlCol="0"/>
          <a:lstStyle/>
          <a:p/>
        </p:txBody>
      </p:sp>
      <p:sp>
        <p:nvSpPr>
          <p:cNvPr id="42" name="object 42"/>
          <p:cNvSpPr/>
          <p:nvPr/>
        </p:nvSpPr>
        <p:spPr>
          <a:xfrm>
            <a:off x="4885161" y="3306927"/>
            <a:ext cx="1133475" cy="1488440"/>
          </a:xfrm>
          <a:custGeom>
            <a:avLst/>
            <a:gdLst/>
            <a:ahLst/>
            <a:cxnLst/>
            <a:rect l="l" t="t" r="r" b="b"/>
            <a:pathLst>
              <a:path w="1133475" h="1488439">
                <a:moveTo>
                  <a:pt x="0" y="1487851"/>
                </a:moveTo>
                <a:lnTo>
                  <a:pt x="223953" y="1360166"/>
                </a:lnTo>
                <a:lnTo>
                  <a:pt x="424196" y="1215840"/>
                </a:lnTo>
                <a:lnTo>
                  <a:pt x="601099" y="1054836"/>
                </a:lnTo>
                <a:lnTo>
                  <a:pt x="754477" y="877173"/>
                </a:lnTo>
                <a:lnTo>
                  <a:pt x="884329" y="682850"/>
                </a:lnTo>
                <a:lnTo>
                  <a:pt x="990656" y="471831"/>
                </a:lnTo>
                <a:lnTo>
                  <a:pt x="1073643" y="244337"/>
                </a:lnTo>
                <a:lnTo>
                  <a:pt x="1132920" y="0"/>
                </a:lnTo>
              </a:path>
            </a:pathLst>
          </a:custGeom>
          <a:ln w="4444">
            <a:solidFill>
              <a:srgbClr val="4677BE"/>
            </a:solidFill>
          </a:ln>
        </p:spPr>
        <p:txBody>
          <a:bodyPr wrap="square" lIns="0" tIns="0" rIns="0" bIns="0" rtlCol="0"/>
          <a:lstStyle/>
          <a:p/>
        </p:txBody>
      </p:sp>
      <p:sp>
        <p:nvSpPr>
          <p:cNvPr id="43" name="object 43"/>
          <p:cNvSpPr/>
          <p:nvPr/>
        </p:nvSpPr>
        <p:spPr>
          <a:xfrm>
            <a:off x="5965659" y="3168284"/>
            <a:ext cx="100965" cy="159385"/>
          </a:xfrm>
          <a:custGeom>
            <a:avLst/>
            <a:gdLst/>
            <a:ahLst/>
            <a:cxnLst/>
            <a:rect l="l" t="t" r="r" b="b"/>
            <a:pathLst>
              <a:path w="100964" h="159385">
                <a:moveTo>
                  <a:pt x="74836" y="0"/>
                </a:moveTo>
                <a:lnTo>
                  <a:pt x="0" y="143085"/>
                </a:lnTo>
                <a:lnTo>
                  <a:pt x="100955" y="159374"/>
                </a:lnTo>
                <a:lnTo>
                  <a:pt x="74836" y="0"/>
                </a:lnTo>
                <a:close/>
              </a:path>
            </a:pathLst>
          </a:custGeom>
          <a:solidFill>
            <a:srgbClr val="4677BE"/>
          </a:solidFill>
        </p:spPr>
        <p:txBody>
          <a:bodyPr wrap="square" lIns="0" tIns="0" rIns="0" bIns="0" rtlCol="0"/>
          <a:lstStyle/>
          <a:p/>
        </p:txBody>
      </p:sp>
      <p:sp>
        <p:nvSpPr>
          <p:cNvPr id="44" name="object 44"/>
          <p:cNvSpPr/>
          <p:nvPr/>
        </p:nvSpPr>
        <p:spPr>
          <a:xfrm>
            <a:off x="4596374" y="3291749"/>
            <a:ext cx="1377315" cy="768985"/>
          </a:xfrm>
          <a:custGeom>
            <a:avLst/>
            <a:gdLst/>
            <a:ahLst/>
            <a:cxnLst/>
            <a:rect l="l" t="t" r="r" b="b"/>
            <a:pathLst>
              <a:path w="1377314" h="768985">
                <a:moveTo>
                  <a:pt x="0" y="768368"/>
                </a:moveTo>
                <a:lnTo>
                  <a:pt x="224138" y="756521"/>
                </a:lnTo>
                <a:lnTo>
                  <a:pt x="433458" y="720611"/>
                </a:lnTo>
                <a:lnTo>
                  <a:pt x="627959" y="660452"/>
                </a:lnTo>
                <a:lnTo>
                  <a:pt x="807455" y="576415"/>
                </a:lnTo>
                <a:lnTo>
                  <a:pt x="972318" y="468499"/>
                </a:lnTo>
                <a:lnTo>
                  <a:pt x="1121990" y="336334"/>
                </a:lnTo>
                <a:lnTo>
                  <a:pt x="1257029" y="180106"/>
                </a:lnTo>
                <a:lnTo>
                  <a:pt x="1377064" y="0"/>
                </a:lnTo>
              </a:path>
            </a:pathLst>
          </a:custGeom>
          <a:ln w="4443">
            <a:solidFill>
              <a:srgbClr val="4677BE"/>
            </a:solidFill>
          </a:ln>
        </p:spPr>
        <p:txBody>
          <a:bodyPr wrap="square" lIns="0" tIns="0" rIns="0" bIns="0" rtlCol="0"/>
          <a:lstStyle/>
          <a:p/>
        </p:txBody>
      </p:sp>
      <p:sp>
        <p:nvSpPr>
          <p:cNvPr id="45" name="object 45"/>
          <p:cNvSpPr/>
          <p:nvPr/>
        </p:nvSpPr>
        <p:spPr>
          <a:xfrm>
            <a:off x="5922498" y="3168284"/>
            <a:ext cx="118110" cy="159385"/>
          </a:xfrm>
          <a:custGeom>
            <a:avLst/>
            <a:gdLst/>
            <a:ahLst/>
            <a:cxnLst/>
            <a:rect l="l" t="t" r="r" b="b"/>
            <a:pathLst>
              <a:path w="118110" h="159385">
                <a:moveTo>
                  <a:pt x="117997" y="0"/>
                </a:moveTo>
                <a:lnTo>
                  <a:pt x="0" y="110322"/>
                </a:lnTo>
                <a:lnTo>
                  <a:pt x="89840" y="159004"/>
                </a:lnTo>
                <a:lnTo>
                  <a:pt x="117997" y="0"/>
                </a:lnTo>
                <a:close/>
              </a:path>
            </a:pathLst>
          </a:custGeom>
          <a:solidFill>
            <a:srgbClr val="4677BE"/>
          </a:solidFill>
        </p:spPr>
        <p:txBody>
          <a:bodyPr wrap="square" lIns="0" tIns="0" rIns="0" bIns="0" rtlCol="0"/>
          <a:lstStyle/>
          <a:p/>
        </p:txBody>
      </p:sp>
      <p:sp>
        <p:nvSpPr>
          <p:cNvPr id="46" name="object 46"/>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40432" y="197561"/>
            <a:ext cx="5416550" cy="605790"/>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3.3.5</a:t>
            </a:r>
            <a:r>
              <a:rPr dirty="0" sz="3800" spc="-70">
                <a:latin typeface="Calibri"/>
                <a:cs typeface="Calibri"/>
              </a:rPr>
              <a:t> </a:t>
            </a:r>
            <a:r>
              <a:rPr dirty="0" sz="3800"/>
              <a:t>涉众选择</a:t>
            </a:r>
            <a:r>
              <a:rPr dirty="0" sz="3800">
                <a:latin typeface="Calibri"/>
                <a:cs typeface="Calibri"/>
              </a:rPr>
              <a:t>—</a:t>
            </a:r>
            <a:r>
              <a:rPr dirty="0" sz="3800"/>
              <a:t>用户参与</a:t>
            </a:r>
            <a:endParaRPr sz="3800">
              <a:latin typeface="Calibri"/>
              <a:cs typeface="Calibri"/>
            </a:endParaRPr>
          </a:p>
        </p:txBody>
      </p:sp>
      <p:sp>
        <p:nvSpPr>
          <p:cNvPr id="3" name="object 3"/>
          <p:cNvSpPr txBox="1"/>
          <p:nvPr/>
        </p:nvSpPr>
        <p:spPr>
          <a:xfrm>
            <a:off x="459740" y="945384"/>
            <a:ext cx="8301355" cy="1342390"/>
          </a:xfrm>
          <a:prstGeom prst="rect">
            <a:avLst/>
          </a:prstGeom>
        </p:spPr>
        <p:txBody>
          <a:bodyPr wrap="square" lIns="0" tIns="85090" rIns="0" bIns="0" rtlCol="0" vert="horz">
            <a:spAutoFit/>
          </a:bodyPr>
          <a:lstStyle/>
          <a:p>
            <a:pPr marL="355600" indent="-342900">
              <a:lnSpc>
                <a:spcPct val="100000"/>
              </a:lnSpc>
              <a:spcBef>
                <a:spcPts val="670"/>
              </a:spcBef>
              <a:buFont typeface="Arial"/>
              <a:buChar char="•"/>
              <a:tabLst>
                <a:tab pos="354965" algn="l"/>
                <a:tab pos="355600" algn="l"/>
              </a:tabLst>
            </a:pPr>
            <a:r>
              <a:rPr dirty="0" sz="2400">
                <a:latin typeface="宋体"/>
                <a:cs typeface="宋体"/>
              </a:rPr>
              <a:t>建立和用户的直接联系</a:t>
            </a:r>
            <a:endParaRPr sz="2400">
              <a:latin typeface="宋体"/>
              <a:cs typeface="宋体"/>
            </a:endParaRPr>
          </a:p>
          <a:p>
            <a:pPr marL="355600" indent="-342900">
              <a:lnSpc>
                <a:spcPct val="100000"/>
              </a:lnSpc>
              <a:spcBef>
                <a:spcPts val="580"/>
              </a:spcBef>
              <a:buFont typeface="Arial"/>
              <a:buChar char="•"/>
              <a:tabLst>
                <a:tab pos="354965" algn="l"/>
                <a:tab pos="355600" algn="l"/>
              </a:tabLst>
            </a:pPr>
            <a:r>
              <a:rPr dirty="0" sz="2400">
                <a:latin typeface="宋体"/>
                <a:cs typeface="宋体"/>
              </a:rPr>
              <a:t>用户参与软件系统开发的整个过程</a:t>
            </a:r>
            <a:endParaRPr sz="2400">
              <a:latin typeface="宋体"/>
              <a:cs typeface="宋体"/>
            </a:endParaRPr>
          </a:p>
          <a:p>
            <a:pPr marL="355600" indent="-342900">
              <a:lnSpc>
                <a:spcPct val="100000"/>
              </a:lnSpc>
              <a:spcBef>
                <a:spcPts val="575"/>
              </a:spcBef>
              <a:buFont typeface="Arial"/>
              <a:buChar char="•"/>
              <a:tabLst>
                <a:tab pos="354965" algn="l"/>
                <a:tab pos="355600" algn="l"/>
              </a:tabLst>
            </a:pPr>
            <a:r>
              <a:rPr dirty="0" sz="2400">
                <a:latin typeface="宋体"/>
                <a:cs typeface="宋体"/>
              </a:rPr>
              <a:t>反馈设计：最终的软件系统是和用户的活动行为密切相关的</a:t>
            </a:r>
            <a:endParaRPr sz="2400">
              <a:latin typeface="宋体"/>
              <a:cs typeface="宋体"/>
            </a:endParaRPr>
          </a:p>
        </p:txBody>
      </p:sp>
      <p:graphicFrame>
        <p:nvGraphicFramePr>
          <p:cNvPr id="4" name="object 4"/>
          <p:cNvGraphicFramePr>
            <a:graphicFrameLocks noGrp="1"/>
          </p:cNvGraphicFramePr>
          <p:nvPr/>
        </p:nvGraphicFramePr>
        <p:xfrm>
          <a:off x="217576" y="2440813"/>
          <a:ext cx="8692515" cy="3635375"/>
        </p:xfrm>
        <a:graphic>
          <a:graphicData uri="http://schemas.openxmlformats.org/drawingml/2006/table">
            <a:tbl>
              <a:tblPr firstRow="1" bandRow="1">
                <a:tableStyleId>{2D5ABB26-0587-4C30-8999-92F81FD0307C}</a:tableStyleId>
              </a:tblPr>
              <a:tblGrid>
                <a:gridCol w="1056005"/>
                <a:gridCol w="7617459"/>
              </a:tblGrid>
              <a:tr h="370839">
                <a:tc rowSpan="5">
                  <a:txBody>
                    <a:bodyPr/>
                    <a:lstStyle/>
                    <a:p>
                      <a:pPr>
                        <a:lnSpc>
                          <a:spcPct val="100000"/>
                        </a:lnSpc>
                      </a:pPr>
                      <a:endParaRPr sz="2400">
                        <a:latin typeface="Times New Roman"/>
                        <a:cs typeface="Times New Roman"/>
                      </a:endParaRPr>
                    </a:p>
                    <a:p>
                      <a:pPr>
                        <a:lnSpc>
                          <a:spcPct val="100000"/>
                        </a:lnSpc>
                        <a:spcBef>
                          <a:spcPts val="10"/>
                        </a:spcBef>
                      </a:pPr>
                      <a:endParaRPr sz="2950">
                        <a:latin typeface="Times New Roman"/>
                        <a:cs typeface="Times New Roman"/>
                      </a:endParaRPr>
                    </a:p>
                    <a:p>
                      <a:pPr marL="91440">
                        <a:lnSpc>
                          <a:spcPct val="100000"/>
                        </a:lnSpc>
                        <a:spcBef>
                          <a:spcPts val="5"/>
                        </a:spcBef>
                      </a:pPr>
                      <a:r>
                        <a:rPr dirty="0" sz="1800">
                          <a:latin typeface="微软雅黑"/>
                          <a:cs typeface="微软雅黑"/>
                        </a:rPr>
                        <a:t>优点</a:t>
                      </a:r>
                      <a:endParaRPr sz="1800">
                        <a:latin typeface="微软雅黑"/>
                        <a:cs typeface="微软雅黑"/>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会有更精确的用户需求，进而提高了系统的质量</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713">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0"/>
                        </a:spcBef>
                      </a:pPr>
                      <a:r>
                        <a:rPr dirty="0" sz="1800" spc="-5">
                          <a:latin typeface="微软雅黑"/>
                          <a:cs typeface="微软雅黑"/>
                        </a:rPr>
                        <a:t>可以避免发生代价昂贵的系统故障</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839">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能提高用户对系统的接受度</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84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用户能够更有效的理解和使用系统</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840">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可以提高组织内决策制定过程的参与度</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839">
                <a:tc rowSpan="4">
                  <a:txBody>
                    <a:bodyPr/>
                    <a:lstStyle/>
                    <a:p>
                      <a:pPr>
                        <a:lnSpc>
                          <a:spcPct val="100000"/>
                        </a:lnSpc>
                      </a:pPr>
                      <a:endParaRPr sz="2400">
                        <a:latin typeface="Times New Roman"/>
                        <a:cs typeface="Times New Roman"/>
                      </a:endParaRPr>
                    </a:p>
                    <a:p>
                      <a:pPr>
                        <a:lnSpc>
                          <a:spcPct val="100000"/>
                        </a:lnSpc>
                        <a:spcBef>
                          <a:spcPts val="20"/>
                        </a:spcBef>
                      </a:pPr>
                      <a:endParaRPr sz="2650">
                        <a:latin typeface="Times New Roman"/>
                        <a:cs typeface="Times New Roman"/>
                      </a:endParaRPr>
                    </a:p>
                    <a:p>
                      <a:pPr marL="91440">
                        <a:lnSpc>
                          <a:spcPct val="100000"/>
                        </a:lnSpc>
                      </a:pPr>
                      <a:r>
                        <a:rPr dirty="0" sz="1800">
                          <a:latin typeface="微软雅黑"/>
                          <a:cs typeface="微软雅黑"/>
                        </a:rPr>
                        <a:t>缺点</a:t>
                      </a:r>
                      <a:endParaRPr sz="1800">
                        <a:latin typeface="微软雅黑"/>
                        <a:cs typeface="微软雅黑"/>
                      </a:endParaR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采集和管理巨量原始数据会花费很多时间</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713">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9"/>
                        </a:spcBef>
                      </a:pPr>
                      <a:r>
                        <a:rPr dirty="0" sz="1800">
                          <a:latin typeface="微软雅黑"/>
                          <a:cs typeface="微软雅黑"/>
                        </a:rPr>
                        <a:t>需要解决直接接触用户和对设计施加影响的困难</a:t>
                      </a:r>
                      <a:endParaRPr sz="1800">
                        <a:latin typeface="微软雅黑"/>
                        <a:cs typeface="微软雅黑"/>
                      </a:endParaRPr>
                    </a:p>
                  </a:txBody>
                  <a:tcPr marL="0" marR="0" marB="0" marT="3936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56082">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95"/>
                        </a:spcBef>
                      </a:pPr>
                      <a:r>
                        <a:rPr dirty="0" sz="1800" spc="-5">
                          <a:latin typeface="微软雅黑"/>
                          <a:cs typeface="微软雅黑"/>
                        </a:rPr>
                        <a:t>用户通常不愿意在别人的观察下工作，而且研究发现用户在被观察时并不</a:t>
                      </a:r>
                      <a:endParaRPr sz="1800">
                        <a:latin typeface="微软雅黑"/>
                        <a:cs typeface="微软雅黑"/>
                      </a:endParaRPr>
                    </a:p>
                    <a:p>
                      <a:pPr marL="91440">
                        <a:lnSpc>
                          <a:spcPct val="100000"/>
                        </a:lnSpc>
                        <a:spcBef>
                          <a:spcPts val="15"/>
                        </a:spcBef>
                      </a:pPr>
                      <a:r>
                        <a:rPr dirty="0" sz="1800">
                          <a:latin typeface="微软雅黑"/>
                          <a:cs typeface="微软雅黑"/>
                        </a:rPr>
                        <a:t>是真的在工作</a:t>
                      </a:r>
                      <a:endParaRPr sz="1800">
                        <a:latin typeface="微软雅黑"/>
                        <a:cs typeface="微软雅黑"/>
                      </a:endParaRPr>
                    </a:p>
                  </a:txBody>
                  <a:tcPr marL="0" marR="0" marB="0" marT="374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70814">
                <a:tc vMerge="1">
                  <a:txBody>
                    <a:bodyPr/>
                    <a:lstStyle/>
                    <a:p>
                      <a:pPr/>
                    </a:p>
                  </a:txBody>
                  <a:tcPr marL="0" marR="0" marB="0" marT="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9"/>
                        </a:spcBef>
                      </a:pPr>
                      <a:r>
                        <a:rPr dirty="0" sz="1800">
                          <a:latin typeface="微软雅黑"/>
                          <a:cs typeface="微软雅黑"/>
                        </a:rPr>
                        <a:t>难以安排对用户工作过程的观察</a:t>
                      </a:r>
                      <a:endParaRPr sz="1800">
                        <a:latin typeface="微软雅黑"/>
                        <a:cs typeface="微软雅黑"/>
                      </a:endParaRPr>
                    </a:p>
                  </a:txBody>
                  <a:tcPr marL="0" marR="0" marB="0" marT="3936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0429" y="472566"/>
            <a:ext cx="2263140" cy="696595"/>
          </a:xfrm>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7562"/>
            <a:ext cx="4399915" cy="339407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涉众分析的必要性</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涉众分析的主要内容</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涉众分析过程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F0000"/>
                </a:solidFill>
                <a:latin typeface="宋体"/>
                <a:cs typeface="宋体"/>
              </a:rPr>
              <a:t>硬数据采样</a:t>
            </a:r>
            <a:endParaRPr sz="3200">
              <a:latin typeface="宋体"/>
              <a:cs typeface="宋体"/>
            </a:endParaRPr>
          </a:p>
          <a:p>
            <a:pPr lvl="2" marL="1251585" indent="-895350">
              <a:lnSpc>
                <a:spcPct val="100000"/>
              </a:lnSpc>
              <a:spcBef>
                <a:spcPts val="690"/>
              </a:spcBef>
              <a:buFont typeface="Calibri"/>
              <a:buAutoNum type="arabicPeriod"/>
              <a:tabLst>
                <a:tab pos="1252220" algn="l"/>
              </a:tabLst>
            </a:pPr>
            <a:r>
              <a:rPr dirty="0" sz="2800" spc="-5">
                <a:solidFill>
                  <a:srgbClr val="FF0000"/>
                </a:solidFill>
                <a:latin typeface="宋体"/>
                <a:cs typeface="宋体"/>
              </a:rPr>
              <a:t>硬数据类型</a:t>
            </a:r>
            <a:endParaRPr sz="2800">
              <a:latin typeface="宋体"/>
              <a:cs typeface="宋体"/>
            </a:endParaRPr>
          </a:p>
          <a:p>
            <a:pPr lvl="2" marL="1251585" indent="-895350">
              <a:lnSpc>
                <a:spcPct val="100000"/>
              </a:lnSpc>
              <a:spcBef>
                <a:spcPts val="670"/>
              </a:spcBef>
              <a:buFont typeface="Calibri"/>
              <a:buAutoNum type="arabicPeriod"/>
              <a:tabLst>
                <a:tab pos="1252220" algn="l"/>
              </a:tabLst>
            </a:pPr>
            <a:r>
              <a:rPr dirty="0" sz="2800" spc="-10">
                <a:solidFill>
                  <a:srgbClr val="FF0000"/>
                </a:solidFill>
                <a:latin typeface="宋体"/>
                <a:cs typeface="宋体"/>
              </a:rPr>
              <a:t>采样方法</a:t>
            </a:r>
            <a:endParaRPr sz="2800">
              <a:latin typeface="宋体"/>
              <a:cs typeface="宋体"/>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2126" y="186308"/>
            <a:ext cx="408114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3.4.1</a:t>
            </a:r>
            <a:r>
              <a:rPr dirty="0" spc="-90">
                <a:latin typeface="Calibri"/>
                <a:cs typeface="Calibri"/>
              </a:rPr>
              <a:t> </a:t>
            </a:r>
            <a:r>
              <a:rPr dirty="0"/>
              <a:t>硬数据类型</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228717"/>
            <a:ext cx="8065134" cy="3912870"/>
          </a:xfrm>
          <a:prstGeom prst="rect">
            <a:avLst/>
          </a:prstGeom>
        </p:spPr>
        <p:txBody>
          <a:bodyPr wrap="square" lIns="0" tIns="113664" rIns="0" bIns="0" rtlCol="0" vert="horz">
            <a:spAutoFit/>
          </a:bodyPr>
          <a:lstStyle/>
          <a:p>
            <a:pPr marL="355600" indent="-343535">
              <a:lnSpc>
                <a:spcPct val="100000"/>
              </a:lnSpc>
              <a:spcBef>
                <a:spcPts val="894"/>
              </a:spcBef>
              <a:buClr>
                <a:srgbClr val="00663B"/>
              </a:buClr>
              <a:buSzPct val="79687"/>
              <a:buFont typeface="Wingdings"/>
              <a:buChar char=""/>
              <a:tabLst>
                <a:tab pos="356235" algn="l"/>
              </a:tabLst>
            </a:pPr>
            <a:r>
              <a:rPr dirty="0" sz="3200">
                <a:solidFill>
                  <a:srgbClr val="00A15F"/>
                </a:solidFill>
                <a:latin typeface="宋体"/>
                <a:cs typeface="宋体"/>
              </a:rPr>
              <a:t>定量硬数据</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数据收集表</a:t>
            </a:r>
            <a:r>
              <a:rPr dirty="0" sz="2800" spc="655">
                <a:latin typeface="宋体"/>
                <a:cs typeface="宋体"/>
              </a:rPr>
              <a:t>格</a:t>
            </a:r>
            <a:r>
              <a:rPr dirty="0" sz="2800" spc="-10">
                <a:latin typeface="Calibri"/>
                <a:cs typeface="Calibri"/>
              </a:rPr>
              <a:t>-</a:t>
            </a:r>
            <a:r>
              <a:rPr dirty="0" sz="2800" spc="-5">
                <a:latin typeface="宋体"/>
                <a:cs typeface="宋体"/>
              </a:rPr>
              <a:t>》用户执行业务需要填写的</a:t>
            </a:r>
            <a:r>
              <a:rPr dirty="0" sz="2800">
                <a:latin typeface="宋体"/>
                <a:cs typeface="宋体"/>
              </a:rPr>
              <a:t>表</a:t>
            </a:r>
            <a:r>
              <a:rPr dirty="0" sz="2800" spc="-5">
                <a:latin typeface="宋体"/>
                <a:cs typeface="宋体"/>
              </a:rPr>
              <a:t>格</a:t>
            </a:r>
            <a:endParaRPr sz="2800">
              <a:latin typeface="宋体"/>
              <a:cs typeface="宋体"/>
            </a:endParaRPr>
          </a:p>
          <a:p>
            <a:pPr lvl="2" marL="1155700" indent="-229235">
              <a:lnSpc>
                <a:spcPct val="100000"/>
              </a:lnSpc>
              <a:spcBef>
                <a:spcPts val="590"/>
              </a:spcBef>
              <a:buFont typeface="Arial"/>
              <a:buChar char="•"/>
              <a:tabLst>
                <a:tab pos="1156335" algn="l"/>
              </a:tabLst>
            </a:pPr>
            <a:r>
              <a:rPr dirty="0" sz="2400">
                <a:latin typeface="宋体"/>
                <a:cs typeface="宋体"/>
              </a:rPr>
              <a:t>反映了组织的信息流</a:t>
            </a:r>
            <a:endParaRPr sz="2400">
              <a:latin typeface="宋体"/>
              <a:cs typeface="宋体"/>
            </a:endParaRPr>
          </a:p>
          <a:p>
            <a:pPr lvl="2" marL="1155700" indent="-229235">
              <a:lnSpc>
                <a:spcPct val="100000"/>
              </a:lnSpc>
              <a:spcBef>
                <a:spcPts val="580"/>
              </a:spcBef>
              <a:buFont typeface="Arial"/>
              <a:buChar char="•"/>
              <a:tabLst>
                <a:tab pos="1156335" algn="l"/>
              </a:tabLst>
            </a:pPr>
            <a:r>
              <a:rPr dirty="0" sz="2400">
                <a:latin typeface="宋体"/>
                <a:cs typeface="宋体"/>
              </a:rPr>
              <a:t>收集正在使用的每张空白表表</a:t>
            </a:r>
            <a:r>
              <a:rPr dirty="0" sz="2400" spc="545">
                <a:latin typeface="宋体"/>
                <a:cs typeface="宋体"/>
              </a:rPr>
              <a:t>格</a:t>
            </a:r>
            <a:r>
              <a:rPr dirty="0" sz="2400">
                <a:latin typeface="宋体"/>
                <a:cs typeface="宋体"/>
              </a:rPr>
              <a:t>、填写和分发说明</a:t>
            </a:r>
            <a:endParaRPr sz="2400">
              <a:latin typeface="宋体"/>
              <a:cs typeface="宋体"/>
            </a:endParaRPr>
          </a:p>
          <a:p>
            <a:pPr lvl="2" marL="1155700" indent="-229235">
              <a:lnSpc>
                <a:spcPct val="100000"/>
              </a:lnSpc>
              <a:spcBef>
                <a:spcPts val="575"/>
              </a:spcBef>
              <a:buFont typeface="Arial"/>
              <a:buChar char="•"/>
              <a:tabLst>
                <a:tab pos="1156335" algn="l"/>
              </a:tabLst>
            </a:pPr>
            <a:r>
              <a:rPr dirty="0" sz="2400">
                <a:latin typeface="宋体"/>
                <a:cs typeface="宋体"/>
              </a:rPr>
              <a:t>对比填写好的表格</a:t>
            </a:r>
            <a:endParaRPr sz="2400">
              <a:latin typeface="宋体"/>
              <a:cs typeface="宋体"/>
            </a:endParaRPr>
          </a:p>
          <a:p>
            <a:pPr lvl="3" marL="1612900" indent="-229235">
              <a:lnSpc>
                <a:spcPct val="100000"/>
              </a:lnSpc>
              <a:spcBef>
                <a:spcPts val="495"/>
              </a:spcBef>
              <a:buFont typeface="Arial"/>
              <a:buChar char="–"/>
              <a:tabLst>
                <a:tab pos="1613535" algn="l"/>
              </a:tabLst>
            </a:pPr>
            <a:r>
              <a:rPr dirty="0" sz="2000">
                <a:latin typeface="宋体"/>
                <a:cs typeface="宋体"/>
              </a:rPr>
              <a:t>表格中是否有从来都不</a:t>
            </a:r>
            <a:r>
              <a:rPr dirty="0" sz="2000" spc="-15">
                <a:latin typeface="宋体"/>
                <a:cs typeface="宋体"/>
              </a:rPr>
              <a:t>填</a:t>
            </a:r>
            <a:r>
              <a:rPr dirty="0" sz="2000">
                <a:latin typeface="宋体"/>
                <a:cs typeface="宋体"/>
              </a:rPr>
              <a:t>写的</a:t>
            </a:r>
            <a:r>
              <a:rPr dirty="0" sz="2000" spc="-15">
                <a:latin typeface="宋体"/>
                <a:cs typeface="宋体"/>
              </a:rPr>
              <a:t>数</a:t>
            </a:r>
            <a:r>
              <a:rPr dirty="0" sz="2000">
                <a:latin typeface="宋体"/>
                <a:cs typeface="宋体"/>
              </a:rPr>
              <a:t>据项；</a:t>
            </a:r>
            <a:endParaRPr sz="2000">
              <a:latin typeface="宋体"/>
              <a:cs typeface="宋体"/>
            </a:endParaRPr>
          </a:p>
          <a:p>
            <a:pPr lvl="3" marL="1612900" indent="-229235">
              <a:lnSpc>
                <a:spcPct val="100000"/>
              </a:lnSpc>
              <a:spcBef>
                <a:spcPts val="480"/>
              </a:spcBef>
              <a:buFont typeface="Arial"/>
              <a:buChar char="–"/>
              <a:tabLst>
                <a:tab pos="1613535" algn="l"/>
              </a:tabLst>
            </a:pPr>
            <a:r>
              <a:rPr dirty="0" sz="2000">
                <a:latin typeface="宋体"/>
                <a:cs typeface="宋体"/>
              </a:rPr>
              <a:t>应该收到表格的人是否</a:t>
            </a:r>
            <a:r>
              <a:rPr dirty="0" sz="2000" spc="-10">
                <a:latin typeface="宋体"/>
                <a:cs typeface="宋体"/>
              </a:rPr>
              <a:t>真</a:t>
            </a:r>
            <a:r>
              <a:rPr dirty="0" sz="2000">
                <a:latin typeface="宋体"/>
                <a:cs typeface="宋体"/>
              </a:rPr>
              <a:t>的收</a:t>
            </a:r>
            <a:r>
              <a:rPr dirty="0" sz="2000" spc="-10">
                <a:latin typeface="宋体"/>
                <a:cs typeface="宋体"/>
              </a:rPr>
              <a:t>到</a:t>
            </a:r>
            <a:r>
              <a:rPr dirty="0" sz="2000">
                <a:latin typeface="宋体"/>
                <a:cs typeface="宋体"/>
              </a:rPr>
              <a:t>了；</a:t>
            </a:r>
            <a:endParaRPr sz="2000">
              <a:latin typeface="宋体"/>
              <a:cs typeface="宋体"/>
            </a:endParaRPr>
          </a:p>
          <a:p>
            <a:pPr lvl="3" marL="1612900" indent="-229235">
              <a:lnSpc>
                <a:spcPct val="100000"/>
              </a:lnSpc>
              <a:spcBef>
                <a:spcPts val="484"/>
              </a:spcBef>
              <a:buFont typeface="Arial"/>
              <a:buChar char="–"/>
              <a:tabLst>
                <a:tab pos="1613535" algn="l"/>
              </a:tabLst>
            </a:pPr>
            <a:r>
              <a:rPr dirty="0" sz="2000">
                <a:latin typeface="宋体"/>
                <a:cs typeface="宋体"/>
              </a:rPr>
              <a:t>他们是否按照正常程序</a:t>
            </a:r>
            <a:r>
              <a:rPr dirty="0" sz="2000" spc="-15">
                <a:latin typeface="宋体"/>
                <a:cs typeface="宋体"/>
              </a:rPr>
              <a:t>使</a:t>
            </a:r>
            <a:r>
              <a:rPr dirty="0" sz="2000">
                <a:latin typeface="宋体"/>
                <a:cs typeface="宋体"/>
              </a:rPr>
              <a:t>用、</a:t>
            </a:r>
            <a:r>
              <a:rPr dirty="0" sz="2000" spc="-15">
                <a:latin typeface="宋体"/>
                <a:cs typeface="宋体"/>
              </a:rPr>
              <a:t>存</a:t>
            </a:r>
            <a:r>
              <a:rPr dirty="0" sz="2000">
                <a:latin typeface="宋体"/>
                <a:cs typeface="宋体"/>
              </a:rPr>
              <a:t>储和</a:t>
            </a:r>
            <a:r>
              <a:rPr dirty="0" sz="2000" spc="-15">
                <a:latin typeface="宋体"/>
                <a:cs typeface="宋体"/>
              </a:rPr>
              <a:t>丢</a:t>
            </a:r>
            <a:r>
              <a:rPr dirty="0" sz="2000">
                <a:latin typeface="宋体"/>
                <a:cs typeface="宋体"/>
              </a:rPr>
              <a:t>弃表格</a:t>
            </a:r>
            <a:endParaRPr sz="2000">
              <a:latin typeface="宋体"/>
              <a:cs typeface="宋体"/>
            </a:endParaRPr>
          </a:p>
          <a:p>
            <a:pPr lvl="3" marL="1612900" indent="-229235">
              <a:lnSpc>
                <a:spcPct val="100000"/>
              </a:lnSpc>
              <a:spcBef>
                <a:spcPts val="480"/>
              </a:spcBef>
              <a:buFont typeface="Arial"/>
              <a:buChar char="–"/>
              <a:tabLst>
                <a:tab pos="1613535" algn="l"/>
              </a:tabLst>
            </a:pPr>
            <a:r>
              <a:rPr dirty="0" sz="2000">
                <a:latin typeface="宋体"/>
                <a:cs typeface="宋体"/>
              </a:rPr>
              <a:t>等等</a:t>
            </a:r>
            <a:endParaRPr sz="2000">
              <a:latin typeface="宋体"/>
              <a:cs typeface="宋体"/>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2126" y="304291"/>
            <a:ext cx="408114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3.4.1</a:t>
            </a:r>
            <a:r>
              <a:rPr dirty="0" spc="-90">
                <a:latin typeface="Calibri"/>
                <a:cs typeface="Calibri"/>
              </a:rPr>
              <a:t> </a:t>
            </a:r>
            <a:r>
              <a:rPr dirty="0"/>
              <a:t>硬数据类型</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346155"/>
            <a:ext cx="7874634" cy="3910965"/>
          </a:xfrm>
          <a:prstGeom prst="rect">
            <a:avLst/>
          </a:prstGeom>
        </p:spPr>
        <p:txBody>
          <a:bodyPr wrap="square" lIns="0" tIns="113664" rIns="0" bIns="0" rtlCol="0" vert="horz">
            <a:spAutoFit/>
          </a:bodyPr>
          <a:lstStyle/>
          <a:p>
            <a:pPr algn="just" marL="355600" indent="-343535">
              <a:lnSpc>
                <a:spcPct val="100000"/>
              </a:lnSpc>
              <a:spcBef>
                <a:spcPts val="894"/>
              </a:spcBef>
              <a:buClr>
                <a:srgbClr val="00663B"/>
              </a:buClr>
              <a:buSzPct val="79687"/>
              <a:buFont typeface="Wingdings"/>
              <a:buChar char=""/>
              <a:tabLst>
                <a:tab pos="356235" algn="l"/>
              </a:tabLst>
            </a:pPr>
            <a:r>
              <a:rPr dirty="0" sz="3200">
                <a:solidFill>
                  <a:srgbClr val="00A15F"/>
                </a:solidFill>
                <a:latin typeface="宋体"/>
                <a:cs typeface="宋体"/>
              </a:rPr>
              <a:t>定量硬数据</a:t>
            </a:r>
            <a:endParaRPr sz="3200">
              <a:latin typeface="宋体"/>
              <a:cs typeface="宋体"/>
            </a:endParaRPr>
          </a:p>
          <a:p>
            <a:pPr algn="just" lvl="1" marL="756285" indent="-287020">
              <a:lnSpc>
                <a:spcPct val="100000"/>
              </a:lnSpc>
              <a:spcBef>
                <a:spcPts val="690"/>
              </a:spcBef>
              <a:buClr>
                <a:srgbClr val="C00000"/>
              </a:buClr>
              <a:buSzPct val="58928"/>
              <a:buFont typeface="Wingdings"/>
              <a:buChar char=""/>
              <a:tabLst>
                <a:tab pos="756920" algn="l"/>
              </a:tabLst>
            </a:pPr>
            <a:r>
              <a:rPr dirty="0" sz="2800" spc="-5">
                <a:latin typeface="宋体"/>
                <a:cs typeface="宋体"/>
              </a:rPr>
              <a:t>统计报表</a:t>
            </a:r>
            <a:r>
              <a:rPr dirty="0" sz="2800" spc="-10">
                <a:latin typeface="Calibri"/>
                <a:cs typeface="Calibri"/>
              </a:rPr>
              <a:t>-</a:t>
            </a:r>
            <a:r>
              <a:rPr dirty="0" sz="2800" spc="-5">
                <a:latin typeface="宋体"/>
                <a:cs typeface="宋体"/>
              </a:rPr>
              <a:t>》组织行动的反馈</a:t>
            </a:r>
            <a:r>
              <a:rPr dirty="0" sz="2800">
                <a:latin typeface="宋体"/>
                <a:cs typeface="宋体"/>
              </a:rPr>
              <a:t>和</a:t>
            </a:r>
            <a:r>
              <a:rPr dirty="0" sz="2800" spc="-5">
                <a:latin typeface="宋体"/>
                <a:cs typeface="宋体"/>
              </a:rPr>
              <a:t>决策</a:t>
            </a:r>
            <a:r>
              <a:rPr dirty="0" sz="2800">
                <a:latin typeface="宋体"/>
                <a:cs typeface="宋体"/>
              </a:rPr>
              <a:t>基</a:t>
            </a:r>
            <a:r>
              <a:rPr dirty="0" sz="2800" spc="-5">
                <a:latin typeface="宋体"/>
                <a:cs typeface="宋体"/>
              </a:rPr>
              <a:t>础</a:t>
            </a:r>
            <a:endParaRPr sz="2800">
              <a:latin typeface="宋体"/>
              <a:cs typeface="宋体"/>
            </a:endParaRPr>
          </a:p>
          <a:p>
            <a:pPr algn="just" lvl="2" marL="1155700" indent="-229235">
              <a:lnSpc>
                <a:spcPct val="100000"/>
              </a:lnSpc>
              <a:spcBef>
                <a:spcPts val="595"/>
              </a:spcBef>
              <a:buFont typeface="Arial"/>
              <a:buChar char="•"/>
              <a:tabLst>
                <a:tab pos="1156335" algn="l"/>
              </a:tabLst>
            </a:pPr>
            <a:r>
              <a:rPr dirty="0" sz="2400">
                <a:latin typeface="宋体"/>
                <a:cs typeface="宋体"/>
              </a:rPr>
              <a:t>反映了组织过去的主要业务和业务目标</a:t>
            </a:r>
            <a:endParaRPr sz="2400">
              <a:latin typeface="宋体"/>
              <a:cs typeface="宋体"/>
            </a:endParaRPr>
          </a:p>
          <a:p>
            <a:pPr algn="just" lvl="2" marL="1155700" marR="5080" indent="-228600">
              <a:lnSpc>
                <a:spcPct val="96900"/>
              </a:lnSpc>
              <a:spcBef>
                <a:spcPts val="844"/>
              </a:spcBef>
              <a:buFont typeface="Arial"/>
              <a:buChar char="•"/>
              <a:tabLst>
                <a:tab pos="1156335" algn="l"/>
              </a:tabLst>
            </a:pPr>
            <a:r>
              <a:rPr dirty="0" sz="2400">
                <a:latin typeface="宋体"/>
                <a:cs typeface="宋体"/>
              </a:rPr>
              <a:t>统计规则也是一种丰富的知识，统计项分解为细节 </a:t>
            </a:r>
            <a:r>
              <a:rPr dirty="0" sz="2400" spc="-5">
                <a:latin typeface="宋体"/>
                <a:cs typeface="宋体"/>
              </a:rPr>
              <a:t>业务数据的过程往往也就是组织目标分解到具体业 </a:t>
            </a:r>
            <a:r>
              <a:rPr dirty="0" sz="2400">
                <a:latin typeface="宋体"/>
                <a:cs typeface="宋体"/>
              </a:rPr>
              <a:t>务的过程</a:t>
            </a:r>
            <a:endParaRPr sz="2400">
              <a:latin typeface="宋体"/>
              <a:cs typeface="宋体"/>
            </a:endParaRPr>
          </a:p>
          <a:p>
            <a:pPr algn="just" lvl="2" marL="1155700" marR="5080" indent="-228600">
              <a:lnSpc>
                <a:spcPct val="96900"/>
              </a:lnSpc>
              <a:spcBef>
                <a:spcPts val="844"/>
              </a:spcBef>
              <a:buFont typeface="Arial"/>
              <a:buChar char="•"/>
              <a:tabLst>
                <a:tab pos="1156335" algn="l"/>
              </a:tabLst>
            </a:pPr>
            <a:r>
              <a:rPr dirty="0" sz="2400">
                <a:latin typeface="宋体"/>
                <a:cs typeface="宋体"/>
              </a:rPr>
              <a:t>根据实际工作填写过的统计报表，就可以发现组织 实际的业务执行状况，从中发现组织面临的具体问 </a:t>
            </a:r>
            <a:r>
              <a:rPr dirty="0" sz="2400">
                <a:latin typeface="宋体"/>
                <a:cs typeface="宋体"/>
              </a:rPr>
              <a:t>题</a:t>
            </a:r>
            <a:endParaRPr sz="2400">
              <a:latin typeface="宋体"/>
              <a:cs typeface="宋体"/>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2126" y="197612"/>
            <a:ext cx="408114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3.4.1</a:t>
            </a:r>
            <a:r>
              <a:rPr dirty="0" spc="-90">
                <a:latin typeface="Calibri"/>
                <a:cs typeface="Calibri"/>
              </a:rPr>
              <a:t> </a:t>
            </a:r>
            <a:r>
              <a:rPr dirty="0"/>
              <a:t>硬数据类型</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177678"/>
            <a:ext cx="8032115" cy="4716780"/>
          </a:xfrm>
          <a:prstGeom prst="rect">
            <a:avLst/>
          </a:prstGeom>
        </p:spPr>
        <p:txBody>
          <a:bodyPr wrap="square" lIns="0" tIns="114300" rIns="0" bIns="0" rtlCol="0" vert="horz">
            <a:spAutoFit/>
          </a:bodyPr>
          <a:lstStyle/>
          <a:p>
            <a:pPr marL="774700" indent="-762635">
              <a:lnSpc>
                <a:spcPct val="100000"/>
              </a:lnSpc>
              <a:spcBef>
                <a:spcPts val="900"/>
              </a:spcBef>
              <a:buClr>
                <a:srgbClr val="00663B"/>
              </a:buClr>
              <a:buSzPct val="79687"/>
              <a:buFont typeface="Wingdings"/>
              <a:buChar char=""/>
              <a:tabLst>
                <a:tab pos="774700" algn="l"/>
                <a:tab pos="775335" algn="l"/>
              </a:tabLst>
            </a:pPr>
            <a:r>
              <a:rPr dirty="0" sz="3200">
                <a:solidFill>
                  <a:srgbClr val="00A15F"/>
                </a:solidFill>
                <a:latin typeface="宋体"/>
                <a:cs typeface="宋体"/>
              </a:rPr>
              <a:t>定性硬数据</a:t>
            </a:r>
            <a:endParaRPr sz="3200">
              <a:latin typeface="宋体"/>
              <a:cs typeface="宋体"/>
            </a:endParaRPr>
          </a:p>
          <a:p>
            <a:pPr lvl="1" marL="1018540" indent="-662305">
              <a:lnSpc>
                <a:spcPct val="100000"/>
              </a:lnSpc>
              <a:spcBef>
                <a:spcPts val="690"/>
              </a:spcBef>
              <a:buClr>
                <a:srgbClr val="C00000"/>
              </a:buClr>
              <a:buSzPct val="58928"/>
              <a:buFont typeface="Wingdings"/>
              <a:buChar char=""/>
              <a:tabLst>
                <a:tab pos="1018540" algn="l"/>
                <a:tab pos="1019175" algn="l"/>
              </a:tabLst>
            </a:pPr>
            <a:r>
              <a:rPr dirty="0" sz="2800" spc="-5">
                <a:latin typeface="宋体"/>
                <a:cs typeface="宋体"/>
              </a:rPr>
              <a:t>整个组织的描述文档</a:t>
            </a:r>
            <a:endParaRPr sz="2800">
              <a:latin typeface="宋体"/>
              <a:cs typeface="宋体"/>
            </a:endParaRPr>
          </a:p>
          <a:p>
            <a:pPr lvl="2" marL="1243965" indent="-560070">
              <a:lnSpc>
                <a:spcPct val="100000"/>
              </a:lnSpc>
              <a:spcBef>
                <a:spcPts val="595"/>
              </a:spcBef>
              <a:buFont typeface="Arial"/>
              <a:buChar char="•"/>
              <a:tabLst>
                <a:tab pos="1243965" algn="l"/>
                <a:tab pos="1244600" algn="l"/>
              </a:tabLst>
            </a:pPr>
            <a:r>
              <a:rPr dirty="0" sz="2400">
                <a:latin typeface="宋体"/>
                <a:cs typeface="宋体"/>
              </a:rPr>
              <a:t>组织结构</a:t>
            </a:r>
            <a:r>
              <a:rPr dirty="0" sz="2400" spc="540">
                <a:latin typeface="宋体"/>
                <a:cs typeface="宋体"/>
              </a:rPr>
              <a:t>图</a:t>
            </a:r>
            <a:r>
              <a:rPr dirty="0" sz="2400">
                <a:latin typeface="宋体"/>
                <a:cs typeface="宋体"/>
              </a:rPr>
              <a:t>：帮助发现项目的关键涉众</a:t>
            </a:r>
            <a:endParaRPr sz="2400">
              <a:latin typeface="宋体"/>
              <a:cs typeface="宋体"/>
            </a:endParaRPr>
          </a:p>
          <a:p>
            <a:pPr lvl="2" marL="1243965" indent="-560070">
              <a:lnSpc>
                <a:spcPct val="100000"/>
              </a:lnSpc>
              <a:spcBef>
                <a:spcPts val="575"/>
              </a:spcBef>
              <a:buFont typeface="Arial"/>
              <a:buChar char="•"/>
              <a:tabLst>
                <a:tab pos="1243965" algn="l"/>
                <a:tab pos="1244600" algn="l"/>
              </a:tabLst>
            </a:pPr>
            <a:r>
              <a:rPr dirty="0" sz="2400">
                <a:latin typeface="宋体"/>
                <a:cs typeface="宋体"/>
              </a:rPr>
              <a:t>门户网站：反映组织的业务开展状况</a:t>
            </a:r>
            <a:endParaRPr sz="2400">
              <a:latin typeface="宋体"/>
              <a:cs typeface="宋体"/>
            </a:endParaRPr>
          </a:p>
          <a:p>
            <a:pPr lvl="1" marL="1018540" indent="-662305">
              <a:lnSpc>
                <a:spcPct val="100000"/>
              </a:lnSpc>
              <a:spcBef>
                <a:spcPts val="655"/>
              </a:spcBef>
              <a:buClr>
                <a:srgbClr val="C00000"/>
              </a:buClr>
              <a:buSzPct val="58928"/>
              <a:buFont typeface="Wingdings"/>
              <a:buChar char=""/>
              <a:tabLst>
                <a:tab pos="1018540" algn="l"/>
                <a:tab pos="1019175" algn="l"/>
              </a:tabLst>
            </a:pPr>
            <a:r>
              <a:rPr dirty="0" sz="2800" spc="-5">
                <a:latin typeface="宋体"/>
                <a:cs typeface="宋体"/>
              </a:rPr>
              <a:t>业务指导文档</a:t>
            </a:r>
            <a:endParaRPr sz="2800">
              <a:latin typeface="宋体"/>
              <a:cs typeface="宋体"/>
            </a:endParaRPr>
          </a:p>
          <a:p>
            <a:pPr lvl="2" marL="1243965" marR="5080" indent="-559435">
              <a:lnSpc>
                <a:spcPct val="100000"/>
              </a:lnSpc>
              <a:spcBef>
                <a:spcPts val="595"/>
              </a:spcBef>
              <a:buFont typeface="Arial"/>
              <a:buChar char="•"/>
              <a:tabLst>
                <a:tab pos="1243965" algn="l"/>
                <a:tab pos="1244600" algn="l"/>
              </a:tabLst>
            </a:pPr>
            <a:r>
              <a:rPr dirty="0" sz="2400">
                <a:latin typeface="宋体"/>
                <a:cs typeface="宋体"/>
              </a:rPr>
              <a:t>工作指南和规章手</a:t>
            </a:r>
            <a:r>
              <a:rPr dirty="0" sz="2400" spc="545">
                <a:latin typeface="宋体"/>
                <a:cs typeface="宋体"/>
              </a:rPr>
              <a:t>册</a:t>
            </a:r>
            <a:r>
              <a:rPr dirty="0" sz="2400">
                <a:latin typeface="宋体"/>
                <a:cs typeface="宋体"/>
              </a:rPr>
              <a:t>：解释业务的详细执行过程， 反映业务的具体细节</a:t>
            </a:r>
            <a:endParaRPr sz="2400">
              <a:latin typeface="宋体"/>
              <a:cs typeface="宋体"/>
            </a:endParaRPr>
          </a:p>
          <a:p>
            <a:pPr lvl="1" marL="1018540" indent="-662305">
              <a:lnSpc>
                <a:spcPct val="100000"/>
              </a:lnSpc>
              <a:spcBef>
                <a:spcPts val="655"/>
              </a:spcBef>
              <a:buClr>
                <a:srgbClr val="C00000"/>
              </a:buClr>
              <a:buSzPct val="58928"/>
              <a:buFont typeface="Wingdings"/>
              <a:buChar char=""/>
              <a:tabLst>
                <a:tab pos="1018540" algn="l"/>
                <a:tab pos="1019175" algn="l"/>
              </a:tabLst>
            </a:pPr>
            <a:r>
              <a:rPr dirty="0" sz="2800" spc="-5">
                <a:latin typeface="宋体"/>
                <a:cs typeface="宋体"/>
              </a:rPr>
              <a:t>业务备忘</a:t>
            </a:r>
            <a:endParaRPr sz="2800">
              <a:latin typeface="宋体"/>
              <a:cs typeface="宋体"/>
            </a:endParaRPr>
          </a:p>
          <a:p>
            <a:pPr lvl="2" marL="1243965" indent="-560070">
              <a:lnSpc>
                <a:spcPct val="100000"/>
              </a:lnSpc>
              <a:spcBef>
                <a:spcPts val="595"/>
              </a:spcBef>
              <a:buFont typeface="Arial"/>
              <a:buChar char="•"/>
              <a:tabLst>
                <a:tab pos="1243965" algn="l"/>
                <a:tab pos="1244600" algn="l"/>
              </a:tabLst>
            </a:pPr>
            <a:r>
              <a:rPr dirty="0" sz="2400">
                <a:latin typeface="宋体"/>
                <a:cs typeface="宋体"/>
              </a:rPr>
              <a:t>反映业务的实际执行情况</a:t>
            </a:r>
            <a:endParaRPr sz="2400">
              <a:latin typeface="宋体"/>
              <a:cs typeface="宋体"/>
            </a:endParaRPr>
          </a:p>
          <a:p>
            <a:pPr lvl="2" marL="1243965" indent="-560070">
              <a:lnSpc>
                <a:spcPct val="100000"/>
              </a:lnSpc>
              <a:spcBef>
                <a:spcPts val="575"/>
              </a:spcBef>
              <a:buFont typeface="Arial"/>
              <a:buChar char="•"/>
              <a:tabLst>
                <a:tab pos="1243965" algn="l"/>
                <a:tab pos="1244600" algn="l"/>
              </a:tabLst>
            </a:pPr>
            <a:r>
              <a:rPr dirty="0" sz="2400">
                <a:latin typeface="宋体"/>
                <a:cs typeface="宋体"/>
              </a:rPr>
              <a:t>形成对组织工作过程的清晰理解</a:t>
            </a:r>
            <a:endParaRPr sz="2400">
              <a:latin typeface="宋体"/>
              <a:cs typeface="宋体"/>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542" y="210438"/>
            <a:ext cx="352171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3.4.2</a:t>
            </a:r>
            <a:r>
              <a:rPr dirty="0" spc="-95">
                <a:latin typeface="Calibri"/>
                <a:cs typeface="Calibri"/>
              </a:rPr>
              <a:t> </a:t>
            </a:r>
            <a:r>
              <a:rPr dirty="0"/>
              <a:t>采样方法</a:t>
            </a:r>
          </a:p>
        </p:txBody>
      </p:sp>
      <p:sp>
        <p:nvSpPr>
          <p:cNvPr id="3" name="object 3"/>
          <p:cNvSpPr txBox="1"/>
          <p:nvPr/>
        </p:nvSpPr>
        <p:spPr>
          <a:xfrm>
            <a:off x="472440" y="1238647"/>
            <a:ext cx="7562215" cy="1276350"/>
          </a:xfrm>
          <a:prstGeom prst="rect">
            <a:avLst/>
          </a:prstGeom>
        </p:spPr>
        <p:txBody>
          <a:bodyPr wrap="square" lIns="0" tIns="95250" rIns="0" bIns="0" rtlCol="0" vert="horz">
            <a:spAutoFit/>
          </a:bodyPr>
          <a:lstStyle/>
          <a:p>
            <a:pPr marL="381000" indent="-342900">
              <a:lnSpc>
                <a:spcPct val="100000"/>
              </a:lnSpc>
              <a:spcBef>
                <a:spcPts val="750"/>
              </a:spcBef>
              <a:buFont typeface="Arial"/>
              <a:buChar char="•"/>
              <a:tabLst>
                <a:tab pos="380365" algn="l"/>
                <a:tab pos="381000" algn="l"/>
              </a:tabLst>
            </a:pPr>
            <a:r>
              <a:rPr dirty="0" sz="2600">
                <a:latin typeface="宋体"/>
                <a:cs typeface="宋体"/>
              </a:rPr>
              <a:t>采样数量</a:t>
            </a:r>
            <a:endParaRPr sz="2600">
              <a:latin typeface="宋体"/>
              <a:cs typeface="宋体"/>
            </a:endParaRPr>
          </a:p>
          <a:p>
            <a:pPr lvl="1" marL="781685" indent="-287020">
              <a:lnSpc>
                <a:spcPct val="100000"/>
              </a:lnSpc>
              <a:spcBef>
                <a:spcPts val="545"/>
              </a:spcBef>
              <a:buFont typeface="Arial"/>
              <a:buChar char="–"/>
              <a:tabLst>
                <a:tab pos="781685" algn="l"/>
                <a:tab pos="782320" algn="l"/>
              </a:tabLst>
            </a:pPr>
            <a:r>
              <a:rPr dirty="0" sz="2200" spc="-5">
                <a:latin typeface="宋体"/>
                <a:cs typeface="宋体"/>
              </a:rPr>
              <a:t>样本大小</a:t>
            </a:r>
            <a:r>
              <a:rPr dirty="0" sz="2200" spc="-10">
                <a:latin typeface="宋体"/>
                <a:cs typeface="宋体"/>
              </a:rPr>
              <a:t>＝</a:t>
            </a:r>
            <a:r>
              <a:rPr dirty="0" sz="2200" spc="-10">
                <a:latin typeface="Calibri"/>
                <a:cs typeface="Calibri"/>
              </a:rPr>
              <a:t>p</a:t>
            </a:r>
            <a:r>
              <a:rPr dirty="0" sz="2200" spc="-10">
                <a:latin typeface="宋体"/>
                <a:cs typeface="宋体"/>
              </a:rPr>
              <a:t>×</a:t>
            </a:r>
            <a:r>
              <a:rPr dirty="0" sz="2200" spc="-10">
                <a:latin typeface="Calibri"/>
                <a:cs typeface="Calibri"/>
              </a:rPr>
              <a:t>(1</a:t>
            </a:r>
            <a:r>
              <a:rPr dirty="0" sz="2200" spc="-10">
                <a:latin typeface="宋体"/>
                <a:cs typeface="宋体"/>
              </a:rPr>
              <a:t>－</a:t>
            </a:r>
            <a:r>
              <a:rPr dirty="0" sz="2200" spc="-10">
                <a:latin typeface="Calibri"/>
                <a:cs typeface="Calibri"/>
              </a:rPr>
              <a:t>p)</a:t>
            </a:r>
            <a:r>
              <a:rPr dirty="0" sz="2200" spc="-5">
                <a:latin typeface="Calibri"/>
                <a:cs typeface="Calibri"/>
              </a:rPr>
              <a:t> </a:t>
            </a:r>
            <a:r>
              <a:rPr dirty="0" sz="2200" spc="-5">
                <a:latin typeface="宋体"/>
                <a:cs typeface="宋体"/>
              </a:rPr>
              <a:t>×（确定性因子</a:t>
            </a:r>
            <a:r>
              <a:rPr dirty="0" sz="2200" spc="-5">
                <a:latin typeface="Calibri"/>
                <a:cs typeface="Calibri"/>
              </a:rPr>
              <a:t>/</a:t>
            </a:r>
            <a:r>
              <a:rPr dirty="0" sz="2200" spc="-5">
                <a:latin typeface="宋体"/>
                <a:cs typeface="宋体"/>
              </a:rPr>
              <a:t>可接受的错误</a:t>
            </a:r>
            <a:r>
              <a:rPr dirty="0" sz="2200">
                <a:latin typeface="宋体"/>
                <a:cs typeface="宋体"/>
              </a:rPr>
              <a:t>）</a:t>
            </a:r>
            <a:r>
              <a:rPr dirty="0" baseline="24904" sz="2175">
                <a:latin typeface="Calibri"/>
                <a:cs typeface="Calibri"/>
              </a:rPr>
              <a:t>2</a:t>
            </a:r>
            <a:endParaRPr baseline="24904" sz="2175">
              <a:latin typeface="Calibri"/>
              <a:cs typeface="Calibri"/>
            </a:endParaRPr>
          </a:p>
          <a:p>
            <a:pPr lvl="2" marL="1181100" indent="-229235">
              <a:lnSpc>
                <a:spcPct val="100000"/>
              </a:lnSpc>
              <a:spcBef>
                <a:spcPts val="489"/>
              </a:spcBef>
              <a:buFont typeface="Arial"/>
              <a:buChar char="•"/>
              <a:tabLst>
                <a:tab pos="1181100" algn="l"/>
                <a:tab pos="1181735" algn="l"/>
              </a:tabLst>
            </a:pPr>
            <a:r>
              <a:rPr dirty="0" sz="2000">
                <a:latin typeface="Calibri"/>
                <a:cs typeface="Calibri"/>
              </a:rPr>
              <a:t>p</a:t>
            </a:r>
            <a:r>
              <a:rPr dirty="0" sz="2000">
                <a:latin typeface="宋体"/>
                <a:cs typeface="宋体"/>
              </a:rPr>
              <a:t>是差异样本比例，未</a:t>
            </a:r>
            <a:r>
              <a:rPr dirty="0" sz="2000" spc="-15">
                <a:latin typeface="宋体"/>
                <a:cs typeface="宋体"/>
              </a:rPr>
              <a:t>知</a:t>
            </a:r>
            <a:r>
              <a:rPr dirty="0" sz="2000">
                <a:latin typeface="宋体"/>
                <a:cs typeface="宋体"/>
              </a:rPr>
              <a:t>的情</a:t>
            </a:r>
            <a:r>
              <a:rPr dirty="0" sz="2000" spc="-15">
                <a:latin typeface="宋体"/>
                <a:cs typeface="宋体"/>
              </a:rPr>
              <a:t>况</a:t>
            </a:r>
            <a:r>
              <a:rPr dirty="0" sz="2000">
                <a:latin typeface="宋体"/>
                <a:cs typeface="宋体"/>
              </a:rPr>
              <a:t>下设</a:t>
            </a:r>
            <a:r>
              <a:rPr dirty="0" sz="2000" spc="-10">
                <a:latin typeface="宋体"/>
                <a:cs typeface="宋体"/>
              </a:rPr>
              <a:t>为</a:t>
            </a:r>
            <a:r>
              <a:rPr dirty="0" sz="2000" spc="-5">
                <a:latin typeface="Calibri"/>
                <a:cs typeface="Calibri"/>
              </a:rPr>
              <a:t>0.25</a:t>
            </a:r>
            <a:endParaRPr sz="2000">
              <a:latin typeface="Calibri"/>
              <a:cs typeface="Calibri"/>
            </a:endParaRPr>
          </a:p>
        </p:txBody>
      </p:sp>
      <p:graphicFrame>
        <p:nvGraphicFramePr>
          <p:cNvPr id="4" name="object 4"/>
          <p:cNvGraphicFramePr>
            <a:graphicFrameLocks noGrp="1"/>
          </p:cNvGraphicFramePr>
          <p:nvPr/>
        </p:nvGraphicFramePr>
        <p:xfrm>
          <a:off x="1394205" y="2923032"/>
          <a:ext cx="6267450" cy="2638425"/>
        </p:xfrm>
        <a:graphic>
          <a:graphicData uri="http://schemas.openxmlformats.org/drawingml/2006/table">
            <a:tbl>
              <a:tblPr firstRow="1" bandRow="1">
                <a:tableStyleId>{2D5ABB26-0587-4C30-8999-92F81FD0307C}</a:tableStyleId>
              </a:tblPr>
              <a:tblGrid>
                <a:gridCol w="3333750"/>
                <a:gridCol w="2914650"/>
              </a:tblGrid>
              <a:tr h="657225">
                <a:tc>
                  <a:txBody>
                    <a:bodyPr/>
                    <a:lstStyle/>
                    <a:p>
                      <a:pPr algn="ctr" marL="2540">
                        <a:lnSpc>
                          <a:spcPct val="100000"/>
                        </a:lnSpc>
                        <a:spcBef>
                          <a:spcPts val="1320"/>
                        </a:spcBef>
                      </a:pPr>
                      <a:r>
                        <a:rPr dirty="0" sz="2000" spc="5">
                          <a:latin typeface="微软雅黑"/>
                          <a:cs typeface="微软雅黑"/>
                        </a:rPr>
                        <a:t>期望的</a:t>
                      </a:r>
                      <a:r>
                        <a:rPr dirty="0" sz="2000" spc="-10">
                          <a:latin typeface="微软雅黑"/>
                          <a:cs typeface="微软雅黑"/>
                        </a:rPr>
                        <a:t>确</a:t>
                      </a:r>
                      <a:r>
                        <a:rPr dirty="0" sz="2000" spc="5">
                          <a:latin typeface="微软雅黑"/>
                          <a:cs typeface="微软雅黑"/>
                        </a:rPr>
                        <a:t>定性</a:t>
                      </a:r>
                      <a:endParaRPr sz="2000">
                        <a:latin typeface="微软雅黑"/>
                        <a:cs typeface="微软雅黑"/>
                      </a:endParaRPr>
                    </a:p>
                  </a:txBody>
                  <a:tcPr marL="0" marR="0" marB="0" marT="167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2540">
                        <a:lnSpc>
                          <a:spcPct val="100000"/>
                        </a:lnSpc>
                        <a:spcBef>
                          <a:spcPts val="1320"/>
                        </a:spcBef>
                      </a:pPr>
                      <a:r>
                        <a:rPr dirty="0" sz="2000" spc="5">
                          <a:latin typeface="微软雅黑"/>
                          <a:cs typeface="微软雅黑"/>
                        </a:rPr>
                        <a:t>确定</a:t>
                      </a:r>
                      <a:r>
                        <a:rPr dirty="0" sz="2000" spc="-5">
                          <a:latin typeface="微软雅黑"/>
                          <a:cs typeface="微软雅黑"/>
                        </a:rPr>
                        <a:t>性</a:t>
                      </a:r>
                      <a:r>
                        <a:rPr dirty="0" sz="2000" spc="-10">
                          <a:latin typeface="微软雅黑"/>
                          <a:cs typeface="微软雅黑"/>
                        </a:rPr>
                        <a:t>因</a:t>
                      </a:r>
                      <a:r>
                        <a:rPr dirty="0" sz="2000" spc="5">
                          <a:latin typeface="微软雅黑"/>
                          <a:cs typeface="微软雅黑"/>
                        </a:rPr>
                        <a:t>子</a:t>
                      </a:r>
                      <a:endParaRPr sz="2000">
                        <a:latin typeface="微软雅黑"/>
                        <a:cs typeface="微软雅黑"/>
                      </a:endParaRPr>
                    </a:p>
                  </a:txBody>
                  <a:tcPr marL="0" marR="0" marB="0" marT="167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55700">
                <a:tc>
                  <a:txBody>
                    <a:bodyPr/>
                    <a:lstStyle/>
                    <a:p>
                      <a:pPr algn="ctr" marL="2540">
                        <a:lnSpc>
                          <a:spcPct val="100000"/>
                        </a:lnSpc>
                        <a:spcBef>
                          <a:spcPts val="1320"/>
                        </a:spcBef>
                      </a:pPr>
                      <a:r>
                        <a:rPr dirty="0" sz="2000">
                          <a:latin typeface="Times New Roman"/>
                          <a:cs typeface="Times New Roman"/>
                        </a:rPr>
                        <a:t>95%</a:t>
                      </a:r>
                      <a:endParaRPr sz="2000">
                        <a:latin typeface="Times New Roman"/>
                        <a:cs typeface="Times New Roman"/>
                      </a:endParaRPr>
                    </a:p>
                  </a:txBody>
                  <a:tcPr marL="0" marR="0" marB="0" marT="167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1270">
                        <a:lnSpc>
                          <a:spcPct val="100000"/>
                        </a:lnSpc>
                        <a:spcBef>
                          <a:spcPts val="1320"/>
                        </a:spcBef>
                      </a:pPr>
                      <a:r>
                        <a:rPr dirty="0" sz="2000">
                          <a:latin typeface="Times New Roman"/>
                          <a:cs typeface="Times New Roman"/>
                        </a:rPr>
                        <a:t>1.960</a:t>
                      </a:r>
                      <a:endParaRPr sz="2000">
                        <a:latin typeface="Times New Roman"/>
                        <a:cs typeface="Times New Roman"/>
                      </a:endParaRPr>
                    </a:p>
                  </a:txBody>
                  <a:tcPr marL="0" marR="0" marB="0" marT="167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57225">
                <a:tc>
                  <a:txBody>
                    <a:bodyPr/>
                    <a:lstStyle/>
                    <a:p>
                      <a:pPr algn="ctr" marL="2540">
                        <a:lnSpc>
                          <a:spcPct val="100000"/>
                        </a:lnSpc>
                        <a:spcBef>
                          <a:spcPts val="1325"/>
                        </a:spcBef>
                      </a:pPr>
                      <a:r>
                        <a:rPr dirty="0" sz="2000" spc="5">
                          <a:latin typeface="Times New Roman"/>
                          <a:cs typeface="Times New Roman"/>
                        </a:rPr>
                        <a:t>90%</a:t>
                      </a:r>
                      <a:endParaRPr sz="2000">
                        <a:latin typeface="Times New Roman"/>
                        <a:cs typeface="Times New Roman"/>
                      </a:endParaRPr>
                    </a:p>
                  </a:txBody>
                  <a:tcPr marL="0" marR="0" marB="0" marT="168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1325"/>
                        </a:spcBef>
                      </a:pPr>
                      <a:r>
                        <a:rPr dirty="0" sz="2000">
                          <a:latin typeface="Times New Roman"/>
                          <a:cs typeface="Times New Roman"/>
                        </a:rPr>
                        <a:t>1.645</a:t>
                      </a:r>
                      <a:endParaRPr sz="2000">
                        <a:latin typeface="Times New Roman"/>
                        <a:cs typeface="Times New Roman"/>
                      </a:endParaRPr>
                    </a:p>
                  </a:txBody>
                  <a:tcPr marL="0" marR="0" marB="0" marT="1682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55574">
                <a:tc>
                  <a:txBody>
                    <a:bodyPr/>
                    <a:lstStyle/>
                    <a:p>
                      <a:pPr algn="ctr" marL="2540">
                        <a:lnSpc>
                          <a:spcPct val="100000"/>
                        </a:lnSpc>
                        <a:spcBef>
                          <a:spcPts val="1320"/>
                        </a:spcBef>
                      </a:pPr>
                      <a:r>
                        <a:rPr dirty="0" sz="2000" spc="5">
                          <a:latin typeface="Times New Roman"/>
                          <a:cs typeface="Times New Roman"/>
                        </a:rPr>
                        <a:t>80%</a:t>
                      </a:r>
                      <a:endParaRPr sz="2000">
                        <a:latin typeface="Times New Roman"/>
                        <a:cs typeface="Times New Roman"/>
                      </a:endParaRPr>
                    </a:p>
                  </a:txBody>
                  <a:tcPr marL="0" marR="0" marB="0" marT="167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1320"/>
                        </a:spcBef>
                      </a:pPr>
                      <a:r>
                        <a:rPr dirty="0" sz="2000">
                          <a:latin typeface="Times New Roman"/>
                          <a:cs typeface="Times New Roman"/>
                        </a:rPr>
                        <a:t>1.281</a:t>
                      </a:r>
                      <a:endParaRPr sz="2000">
                        <a:latin typeface="Times New Roman"/>
                        <a:cs typeface="Times New Roman"/>
                      </a:endParaRPr>
                    </a:p>
                  </a:txBody>
                  <a:tcPr marL="0" marR="0" marB="0" marT="1676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542" y="225678"/>
            <a:ext cx="352171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3.4.2</a:t>
            </a:r>
            <a:r>
              <a:rPr dirty="0" spc="-95">
                <a:latin typeface="Calibri"/>
                <a:cs typeface="Calibri"/>
              </a:rPr>
              <a:t> </a:t>
            </a:r>
            <a:r>
              <a:rPr dirty="0"/>
              <a:t>采样方法</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23240" y="1513847"/>
            <a:ext cx="7804784" cy="3961129"/>
          </a:xfrm>
          <a:prstGeom prst="rect">
            <a:avLst/>
          </a:prstGeom>
        </p:spPr>
        <p:txBody>
          <a:bodyPr wrap="square" lIns="0" tIns="114300" rIns="0" bIns="0" rtlCol="0" vert="horz">
            <a:spAutoFit/>
          </a:bodyPr>
          <a:lstStyle/>
          <a:p>
            <a:pPr marL="368300" indent="-343535">
              <a:lnSpc>
                <a:spcPct val="100000"/>
              </a:lnSpc>
              <a:spcBef>
                <a:spcPts val="900"/>
              </a:spcBef>
              <a:buClr>
                <a:srgbClr val="00663B"/>
              </a:buClr>
              <a:buSzPct val="79687"/>
              <a:buFont typeface="Wingdings"/>
              <a:buChar char=""/>
              <a:tabLst>
                <a:tab pos="368935" algn="l"/>
              </a:tabLst>
            </a:pPr>
            <a:r>
              <a:rPr dirty="0" sz="3200">
                <a:latin typeface="宋体"/>
                <a:cs typeface="宋体"/>
              </a:rPr>
              <a:t>采样数量示例</a:t>
            </a:r>
            <a:endParaRPr sz="3200">
              <a:latin typeface="宋体"/>
              <a:cs typeface="宋体"/>
            </a:endParaRPr>
          </a:p>
          <a:p>
            <a:pPr lvl="1" marL="768985" indent="-287020">
              <a:lnSpc>
                <a:spcPts val="3329"/>
              </a:lnSpc>
              <a:spcBef>
                <a:spcPts val="690"/>
              </a:spcBef>
              <a:buClr>
                <a:srgbClr val="C00000"/>
              </a:buClr>
              <a:buSzPct val="58928"/>
              <a:buFont typeface="Wingdings"/>
              <a:buChar char=""/>
              <a:tabLst>
                <a:tab pos="768985" algn="l"/>
                <a:tab pos="769620" algn="l"/>
              </a:tabLst>
            </a:pPr>
            <a:r>
              <a:rPr dirty="0" sz="2800" spc="-5">
                <a:latin typeface="宋体"/>
                <a:cs typeface="宋体"/>
              </a:rPr>
              <a:t>每</a:t>
            </a:r>
            <a:r>
              <a:rPr dirty="0" sz="2800" spc="-10">
                <a:latin typeface="Calibri"/>
                <a:cs typeface="Calibri"/>
              </a:rPr>
              <a:t>10</a:t>
            </a:r>
            <a:r>
              <a:rPr dirty="0" sz="2800" spc="-5">
                <a:latin typeface="宋体"/>
                <a:cs typeface="宋体"/>
              </a:rPr>
              <a:t>张发票中就有</a:t>
            </a:r>
            <a:r>
              <a:rPr dirty="0" sz="2800" spc="-10">
                <a:latin typeface="Calibri"/>
                <a:cs typeface="Calibri"/>
              </a:rPr>
              <a:t>1</a:t>
            </a:r>
            <a:r>
              <a:rPr dirty="0" sz="2800" spc="-5">
                <a:latin typeface="宋体"/>
                <a:cs typeface="宋体"/>
              </a:rPr>
              <a:t>张</a:t>
            </a:r>
            <a:r>
              <a:rPr dirty="0" sz="2800" spc="5">
                <a:latin typeface="宋体"/>
                <a:cs typeface="宋体"/>
              </a:rPr>
              <a:t>发</a:t>
            </a:r>
            <a:r>
              <a:rPr dirty="0" sz="2800" spc="-5">
                <a:latin typeface="宋体"/>
                <a:cs typeface="宋体"/>
              </a:rPr>
              <a:t>票与</a:t>
            </a:r>
            <a:r>
              <a:rPr dirty="0" sz="2800" spc="10">
                <a:latin typeface="宋体"/>
                <a:cs typeface="宋体"/>
              </a:rPr>
              <a:t>常</a:t>
            </a:r>
            <a:r>
              <a:rPr dirty="0" sz="2800" spc="-5">
                <a:latin typeface="宋体"/>
                <a:cs typeface="宋体"/>
              </a:rPr>
              <a:t>规情</a:t>
            </a:r>
            <a:r>
              <a:rPr dirty="0" sz="2800" spc="10">
                <a:latin typeface="宋体"/>
                <a:cs typeface="宋体"/>
              </a:rPr>
              <a:t>况</a:t>
            </a:r>
            <a:r>
              <a:rPr dirty="0" sz="2800" spc="-5">
                <a:latin typeface="宋体"/>
                <a:cs typeface="宋体"/>
              </a:rPr>
              <a:t>不同</a:t>
            </a:r>
            <a:endParaRPr sz="2800">
              <a:latin typeface="宋体"/>
              <a:cs typeface="宋体"/>
            </a:endParaRPr>
          </a:p>
          <a:p>
            <a:pPr marL="768985">
              <a:lnSpc>
                <a:spcPts val="3329"/>
              </a:lnSpc>
            </a:pPr>
            <a:r>
              <a:rPr dirty="0" sz="2800" spc="-10">
                <a:latin typeface="Calibri"/>
                <a:cs typeface="Calibri"/>
              </a:rPr>
              <a:t>(</a:t>
            </a:r>
            <a:r>
              <a:rPr dirty="0" sz="2800" spc="-10">
                <a:solidFill>
                  <a:srgbClr val="00A15F"/>
                </a:solidFill>
                <a:latin typeface="Calibri"/>
                <a:cs typeface="Calibri"/>
              </a:rPr>
              <a:t>p=0.1</a:t>
            </a:r>
            <a:r>
              <a:rPr dirty="0" sz="2800" spc="-10">
                <a:latin typeface="Calibri"/>
                <a:cs typeface="Calibri"/>
              </a:rPr>
              <a:t>)</a:t>
            </a:r>
            <a:endParaRPr sz="2800">
              <a:latin typeface="Calibri"/>
              <a:cs typeface="Calibri"/>
            </a:endParaRPr>
          </a:p>
          <a:p>
            <a:pPr lvl="1" marL="768985" marR="17780" indent="-287020">
              <a:lnSpc>
                <a:spcPct val="100000"/>
              </a:lnSpc>
              <a:spcBef>
                <a:spcPts val="735"/>
              </a:spcBef>
              <a:buClr>
                <a:srgbClr val="C00000"/>
              </a:buClr>
              <a:buSzPct val="58928"/>
              <a:buFont typeface="Wingdings"/>
              <a:buChar char=""/>
              <a:tabLst>
                <a:tab pos="769620" algn="l"/>
              </a:tabLst>
            </a:pPr>
            <a:r>
              <a:rPr dirty="0" sz="2800" spc="-10">
                <a:latin typeface="宋体"/>
                <a:cs typeface="宋体"/>
              </a:rPr>
              <a:t>希望发票样本中包含所有的情况具</a:t>
            </a:r>
            <a:r>
              <a:rPr dirty="0" sz="2800" spc="10">
                <a:latin typeface="宋体"/>
                <a:cs typeface="宋体"/>
              </a:rPr>
              <a:t>有</a:t>
            </a:r>
            <a:r>
              <a:rPr dirty="0" sz="2800">
                <a:solidFill>
                  <a:srgbClr val="00A15F"/>
                </a:solidFill>
                <a:latin typeface="Calibri"/>
                <a:cs typeface="Calibri"/>
              </a:rPr>
              <a:t>90%</a:t>
            </a:r>
            <a:r>
              <a:rPr dirty="0" sz="2800" spc="-10">
                <a:latin typeface="宋体"/>
                <a:cs typeface="宋体"/>
              </a:rPr>
              <a:t>的确 </a:t>
            </a:r>
            <a:r>
              <a:rPr dirty="0" sz="2800" spc="-5">
                <a:latin typeface="宋体"/>
                <a:cs typeface="宋体"/>
              </a:rPr>
              <a:t>定</a:t>
            </a:r>
            <a:r>
              <a:rPr dirty="0" sz="2800" spc="640">
                <a:latin typeface="宋体"/>
                <a:cs typeface="宋体"/>
              </a:rPr>
              <a:t>性</a:t>
            </a:r>
            <a:r>
              <a:rPr dirty="0" sz="2800" spc="-5">
                <a:latin typeface="Calibri"/>
                <a:cs typeface="Calibri"/>
              </a:rPr>
              <a:t>(</a:t>
            </a:r>
            <a:r>
              <a:rPr dirty="0" sz="2800" spc="-5">
                <a:latin typeface="宋体"/>
                <a:cs typeface="宋体"/>
              </a:rPr>
              <a:t>确定性因子</a:t>
            </a:r>
            <a:r>
              <a:rPr dirty="0" sz="2800" spc="-5">
                <a:solidFill>
                  <a:srgbClr val="00A15F"/>
                </a:solidFill>
                <a:latin typeface="Calibri"/>
                <a:cs typeface="Calibri"/>
              </a:rPr>
              <a:t>1.645</a:t>
            </a:r>
            <a:r>
              <a:rPr dirty="0" sz="2800" spc="-5">
                <a:latin typeface="宋体"/>
                <a:cs typeface="宋体"/>
              </a:rPr>
              <a:t>，</a:t>
            </a:r>
            <a:r>
              <a:rPr dirty="0" sz="2800">
                <a:latin typeface="宋体"/>
                <a:cs typeface="宋体"/>
              </a:rPr>
              <a:t>可</a:t>
            </a:r>
            <a:r>
              <a:rPr dirty="0" sz="2800" spc="-5">
                <a:latin typeface="宋体"/>
                <a:cs typeface="宋体"/>
              </a:rPr>
              <a:t>接受</a:t>
            </a:r>
            <a:r>
              <a:rPr dirty="0" sz="2800">
                <a:latin typeface="宋体"/>
                <a:cs typeface="宋体"/>
              </a:rPr>
              <a:t>错</a:t>
            </a:r>
            <a:r>
              <a:rPr dirty="0" sz="2800" spc="5">
                <a:latin typeface="宋体"/>
                <a:cs typeface="宋体"/>
              </a:rPr>
              <a:t>误</a:t>
            </a:r>
            <a:r>
              <a:rPr dirty="0" sz="2800">
                <a:solidFill>
                  <a:srgbClr val="00A15F"/>
                </a:solidFill>
                <a:latin typeface="Calibri"/>
                <a:cs typeface="Calibri"/>
              </a:rPr>
              <a:t>0.10</a:t>
            </a:r>
            <a:r>
              <a:rPr dirty="0" sz="2800">
                <a:latin typeface="Calibri"/>
                <a:cs typeface="Calibri"/>
              </a:rPr>
              <a:t>)</a:t>
            </a:r>
            <a:endParaRPr sz="2800">
              <a:latin typeface="Calibri"/>
              <a:cs typeface="Calibri"/>
            </a:endParaRPr>
          </a:p>
          <a:p>
            <a:pPr lvl="1">
              <a:lnSpc>
                <a:spcPct val="100000"/>
              </a:lnSpc>
              <a:spcBef>
                <a:spcPts val="5"/>
              </a:spcBef>
              <a:buClr>
                <a:srgbClr val="C00000"/>
              </a:buClr>
              <a:buFont typeface="Wingdings"/>
              <a:buChar char=""/>
            </a:pPr>
            <a:endParaRPr sz="3850">
              <a:latin typeface="Calibri"/>
              <a:cs typeface="Calibri"/>
            </a:endParaRPr>
          </a:p>
          <a:p>
            <a:pPr lvl="1" marL="768985" indent="-287020">
              <a:lnSpc>
                <a:spcPct val="100000"/>
              </a:lnSpc>
              <a:buClr>
                <a:srgbClr val="C00000"/>
              </a:buClr>
              <a:buSzPct val="58928"/>
              <a:buFont typeface="Wingdings"/>
              <a:buChar char=""/>
              <a:tabLst>
                <a:tab pos="769620" algn="l"/>
              </a:tabLst>
            </a:pPr>
            <a:r>
              <a:rPr dirty="0" sz="2800" spc="-10">
                <a:latin typeface="宋体"/>
                <a:cs typeface="宋体"/>
              </a:rPr>
              <a:t>样本大小为：</a:t>
            </a:r>
            <a:endParaRPr sz="2800">
              <a:latin typeface="宋体"/>
              <a:cs typeface="宋体"/>
            </a:endParaRPr>
          </a:p>
          <a:p>
            <a:pPr lvl="2" marL="1168400" indent="-229235">
              <a:lnSpc>
                <a:spcPct val="100000"/>
              </a:lnSpc>
              <a:spcBef>
                <a:spcPts val="595"/>
              </a:spcBef>
              <a:buFont typeface="Arial"/>
              <a:buChar char="•"/>
              <a:tabLst>
                <a:tab pos="1169035" algn="l"/>
              </a:tabLst>
            </a:pPr>
            <a:r>
              <a:rPr dirty="0" sz="2400" spc="-5">
                <a:latin typeface="Calibri"/>
                <a:cs typeface="Calibri"/>
              </a:rPr>
              <a:t>SS=0.10</a:t>
            </a:r>
            <a:r>
              <a:rPr dirty="0" sz="2400" spc="-5">
                <a:latin typeface="宋体"/>
                <a:cs typeface="宋体"/>
              </a:rPr>
              <a:t>×</a:t>
            </a:r>
            <a:r>
              <a:rPr dirty="0" sz="2400" spc="-5">
                <a:latin typeface="Calibri"/>
                <a:cs typeface="Calibri"/>
              </a:rPr>
              <a:t>(1</a:t>
            </a:r>
            <a:r>
              <a:rPr dirty="0" sz="2400" spc="-5">
                <a:latin typeface="宋体"/>
                <a:cs typeface="宋体"/>
              </a:rPr>
              <a:t>－</a:t>
            </a:r>
            <a:r>
              <a:rPr dirty="0" sz="2400" spc="-5">
                <a:latin typeface="Calibri"/>
                <a:cs typeface="Calibri"/>
              </a:rPr>
              <a:t>0.10)</a:t>
            </a:r>
            <a:r>
              <a:rPr dirty="0" sz="2400" spc="-5">
                <a:latin typeface="宋体"/>
                <a:cs typeface="宋体"/>
              </a:rPr>
              <a:t>×</a:t>
            </a:r>
            <a:r>
              <a:rPr dirty="0" sz="2400" spc="-5">
                <a:latin typeface="Calibri"/>
                <a:cs typeface="Calibri"/>
              </a:rPr>
              <a:t>(1.645/0.10)</a:t>
            </a:r>
            <a:r>
              <a:rPr dirty="0" baseline="24305" sz="2400" spc="-7">
                <a:latin typeface="Calibri"/>
                <a:cs typeface="Calibri"/>
              </a:rPr>
              <a:t>2</a:t>
            </a:r>
            <a:r>
              <a:rPr dirty="0" sz="2400" spc="-5">
                <a:latin typeface="Calibri"/>
                <a:cs typeface="Calibri"/>
              </a:rPr>
              <a:t>=25</a:t>
            </a:r>
            <a:endParaRPr sz="2400">
              <a:latin typeface="Calibri"/>
              <a:cs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542" y="304291"/>
            <a:ext cx="352171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3.4.2</a:t>
            </a:r>
            <a:r>
              <a:rPr dirty="0" spc="-95">
                <a:latin typeface="Calibri"/>
                <a:cs typeface="Calibri"/>
              </a:rPr>
              <a:t> </a:t>
            </a:r>
            <a:r>
              <a:rPr dirty="0"/>
              <a:t>采样方法</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3847"/>
            <a:ext cx="7569834" cy="2961005"/>
          </a:xfrm>
          <a:prstGeom prst="rect">
            <a:avLst/>
          </a:prstGeom>
        </p:spPr>
        <p:txBody>
          <a:bodyPr wrap="square" lIns="0" tIns="114300" rIns="0" bIns="0" rtlCol="0" vert="horz">
            <a:spAutoFit/>
          </a:bodyPr>
          <a:lstStyle/>
          <a:p>
            <a:pPr marL="355600" indent="-343535">
              <a:lnSpc>
                <a:spcPct val="100000"/>
              </a:lnSpc>
              <a:spcBef>
                <a:spcPts val="900"/>
              </a:spcBef>
              <a:buClr>
                <a:srgbClr val="00663B"/>
              </a:buClr>
              <a:buSzPct val="79687"/>
              <a:buFont typeface="Wingdings"/>
              <a:buChar char=""/>
              <a:tabLst>
                <a:tab pos="356235" algn="l"/>
              </a:tabLst>
            </a:pPr>
            <a:r>
              <a:rPr dirty="0" sz="3200">
                <a:latin typeface="宋体"/>
                <a:cs typeface="宋体"/>
              </a:rPr>
              <a:t>采样方式</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随机抽样</a:t>
            </a:r>
            <a:endParaRPr sz="2800">
              <a:latin typeface="宋体"/>
              <a:cs typeface="宋体"/>
            </a:endParaRPr>
          </a:p>
          <a:p>
            <a:pPr lvl="2" marL="1155700" indent="-229235">
              <a:lnSpc>
                <a:spcPct val="100000"/>
              </a:lnSpc>
              <a:spcBef>
                <a:spcPts val="595"/>
              </a:spcBef>
              <a:buFont typeface="Arial"/>
              <a:buChar char="•"/>
              <a:tabLst>
                <a:tab pos="1156335" algn="l"/>
              </a:tabLst>
            </a:pPr>
            <a:r>
              <a:rPr dirty="0" sz="2400">
                <a:latin typeface="宋体"/>
                <a:cs typeface="宋体"/>
              </a:rPr>
              <a:t>随机地采样数据</a:t>
            </a:r>
            <a:endParaRPr sz="2400">
              <a:latin typeface="宋体"/>
              <a:cs typeface="宋体"/>
            </a:endParaRPr>
          </a:p>
          <a:p>
            <a:pPr lvl="2">
              <a:lnSpc>
                <a:spcPct val="100000"/>
              </a:lnSpc>
              <a:spcBef>
                <a:spcPts val="10"/>
              </a:spcBef>
              <a:buFont typeface="Arial"/>
              <a:buChar char="•"/>
            </a:pPr>
            <a:endParaRPr sz="3200">
              <a:latin typeface="宋体"/>
              <a:cs typeface="宋体"/>
            </a:endParaRPr>
          </a:p>
          <a:p>
            <a:pPr lvl="1" marL="756285" indent="-287020">
              <a:lnSpc>
                <a:spcPct val="100000"/>
              </a:lnSpc>
              <a:buClr>
                <a:srgbClr val="C00000"/>
              </a:buClr>
              <a:buSzPct val="58928"/>
              <a:buFont typeface="Wingdings"/>
              <a:buChar char=""/>
              <a:tabLst>
                <a:tab pos="756285" algn="l"/>
                <a:tab pos="756920" algn="l"/>
              </a:tabLst>
            </a:pPr>
            <a:r>
              <a:rPr dirty="0" sz="2800" spc="-5">
                <a:latin typeface="宋体"/>
                <a:cs typeface="宋体"/>
              </a:rPr>
              <a:t>分层抽样</a:t>
            </a:r>
            <a:endParaRPr sz="2800">
              <a:latin typeface="宋体"/>
              <a:cs typeface="宋体"/>
            </a:endParaRPr>
          </a:p>
          <a:p>
            <a:pPr lvl="2" marL="1155700" indent="-229235">
              <a:lnSpc>
                <a:spcPct val="100000"/>
              </a:lnSpc>
              <a:spcBef>
                <a:spcPts val="595"/>
              </a:spcBef>
              <a:buFont typeface="Arial"/>
              <a:buChar char="•"/>
              <a:tabLst>
                <a:tab pos="1156335" algn="l"/>
              </a:tabLst>
            </a:pPr>
            <a:r>
              <a:rPr dirty="0" sz="2400">
                <a:latin typeface="宋体"/>
                <a:cs typeface="宋体"/>
              </a:rPr>
              <a:t>考虑系统的分层，从每一层中随机抽取一个样本</a:t>
            </a:r>
            <a:endParaRPr sz="2400">
              <a:latin typeface="宋体"/>
              <a:cs typeface="宋体"/>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8697" y="258902"/>
            <a:ext cx="2547620" cy="697230"/>
          </a:xfrm>
          <a:prstGeom prst="rect"/>
        </p:spPr>
        <p:txBody>
          <a:bodyPr wrap="square" lIns="0" tIns="13335" rIns="0" bIns="0" rtlCol="0" vert="horz">
            <a:spAutoFit/>
          </a:bodyPr>
          <a:lstStyle/>
          <a:p>
            <a:pPr marL="12700">
              <a:lnSpc>
                <a:spcPct val="100000"/>
              </a:lnSpc>
              <a:spcBef>
                <a:spcPts val="105"/>
              </a:spcBef>
            </a:pPr>
            <a:r>
              <a:rPr dirty="0"/>
              <a:t>第</a:t>
            </a:r>
            <a:r>
              <a:rPr dirty="0" spc="-5">
                <a:latin typeface="Calibri"/>
                <a:cs typeface="Calibri"/>
              </a:rPr>
              <a:t>3</a:t>
            </a:r>
            <a:r>
              <a:rPr dirty="0" spc="5"/>
              <a:t>节小结</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35237"/>
            <a:ext cx="8025130" cy="4211955"/>
          </a:xfrm>
          <a:prstGeom prst="rect">
            <a:avLst/>
          </a:prstGeom>
        </p:spPr>
        <p:txBody>
          <a:bodyPr wrap="square" lIns="0" tIns="56515" rIns="0" bIns="0" rtlCol="0" vert="horz">
            <a:spAutoFit/>
          </a:bodyPr>
          <a:lstStyle/>
          <a:p>
            <a:pPr marL="355600" indent="-343535">
              <a:lnSpc>
                <a:spcPct val="100000"/>
              </a:lnSpc>
              <a:spcBef>
                <a:spcPts val="445"/>
              </a:spcBef>
              <a:buClr>
                <a:srgbClr val="00663B"/>
              </a:buClr>
              <a:buSzPct val="78846"/>
              <a:buFont typeface="Wingdings"/>
              <a:buChar char=""/>
              <a:tabLst>
                <a:tab pos="355600" algn="l"/>
                <a:tab pos="356235" algn="l"/>
              </a:tabLst>
            </a:pPr>
            <a:r>
              <a:rPr dirty="0" sz="2600">
                <a:latin typeface="宋体"/>
                <a:cs typeface="宋体"/>
              </a:rPr>
              <a:t>涉众是软件项目当中的</a:t>
            </a:r>
            <a:r>
              <a:rPr dirty="0" sz="2600" spc="-15">
                <a:latin typeface="宋体"/>
                <a:cs typeface="宋体"/>
              </a:rPr>
              <a:t>重</a:t>
            </a:r>
            <a:r>
              <a:rPr dirty="0" sz="2600">
                <a:latin typeface="宋体"/>
                <a:cs typeface="宋体"/>
              </a:rPr>
              <a:t>要力量</a:t>
            </a:r>
            <a:endParaRPr sz="2600">
              <a:latin typeface="宋体"/>
              <a:cs typeface="宋体"/>
            </a:endParaRPr>
          </a:p>
          <a:p>
            <a:pPr lvl="1" marL="756285" indent="-287020">
              <a:lnSpc>
                <a:spcPct val="100000"/>
              </a:lnSpc>
              <a:spcBef>
                <a:spcPts val="280"/>
              </a:spcBef>
              <a:buClr>
                <a:srgbClr val="C00000"/>
              </a:buClr>
              <a:buSzPct val="59090"/>
              <a:buFont typeface="Wingdings"/>
              <a:buChar char=""/>
              <a:tabLst>
                <a:tab pos="756285" algn="l"/>
                <a:tab pos="756920" algn="l"/>
              </a:tabLst>
            </a:pPr>
            <a:r>
              <a:rPr dirty="0" sz="2200" spc="-5">
                <a:latin typeface="宋体"/>
                <a:cs typeface="宋体"/>
              </a:rPr>
              <a:t>涉众的合作与参与是项目成功的必</a:t>
            </a:r>
            <a:r>
              <a:rPr dirty="0" sz="2200">
                <a:latin typeface="宋体"/>
                <a:cs typeface="宋体"/>
              </a:rPr>
              <a:t>要</a:t>
            </a:r>
            <a:r>
              <a:rPr dirty="0" sz="2200" spc="-5">
                <a:latin typeface="宋体"/>
                <a:cs typeface="宋体"/>
              </a:rPr>
              <a:t>条件</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涉众对产品的接受度和满意度也是</a:t>
            </a:r>
            <a:r>
              <a:rPr dirty="0" sz="2200">
                <a:latin typeface="宋体"/>
                <a:cs typeface="宋体"/>
              </a:rPr>
              <a:t>成</a:t>
            </a:r>
            <a:r>
              <a:rPr dirty="0" sz="2200" spc="-5">
                <a:latin typeface="宋体"/>
                <a:cs typeface="宋体"/>
              </a:rPr>
              <a:t>功的</a:t>
            </a:r>
            <a:r>
              <a:rPr dirty="0" sz="2200">
                <a:latin typeface="宋体"/>
                <a:cs typeface="宋体"/>
              </a:rPr>
              <a:t>一</a:t>
            </a:r>
            <a:r>
              <a:rPr dirty="0" sz="2200" spc="-5">
                <a:latin typeface="宋体"/>
                <a:cs typeface="宋体"/>
              </a:rPr>
              <a:t>个衡</a:t>
            </a:r>
            <a:r>
              <a:rPr dirty="0" sz="2200">
                <a:latin typeface="宋体"/>
                <a:cs typeface="宋体"/>
              </a:rPr>
              <a:t>量</a:t>
            </a:r>
            <a:r>
              <a:rPr dirty="0" sz="2200" spc="-5">
                <a:latin typeface="宋体"/>
                <a:cs typeface="宋体"/>
              </a:rPr>
              <a:t>标准</a:t>
            </a:r>
            <a:endParaRPr sz="2200">
              <a:latin typeface="宋体"/>
              <a:cs typeface="宋体"/>
            </a:endParaRPr>
          </a:p>
          <a:p>
            <a:pPr marL="355600" marR="61594" indent="-343535">
              <a:lnSpc>
                <a:spcPts val="2620"/>
              </a:lnSpc>
              <a:spcBef>
                <a:spcPts val="995"/>
              </a:spcBef>
              <a:buClr>
                <a:srgbClr val="00663B"/>
              </a:buClr>
              <a:buSzPct val="78846"/>
              <a:buFont typeface="Wingdings"/>
              <a:buChar char=""/>
              <a:tabLst>
                <a:tab pos="355600" algn="l"/>
                <a:tab pos="356235" algn="l"/>
              </a:tabLst>
            </a:pPr>
            <a:r>
              <a:rPr dirty="0" sz="2600">
                <a:latin typeface="宋体"/>
                <a:cs typeface="宋体"/>
              </a:rPr>
              <a:t>对于复杂的系统，涉众</a:t>
            </a:r>
            <a:r>
              <a:rPr dirty="0" sz="2600" spc="-15">
                <a:latin typeface="宋体"/>
                <a:cs typeface="宋体"/>
              </a:rPr>
              <a:t>力</a:t>
            </a:r>
            <a:r>
              <a:rPr dirty="0" sz="2600">
                <a:latin typeface="宋体"/>
                <a:cs typeface="宋体"/>
              </a:rPr>
              <a:t>量的</a:t>
            </a:r>
            <a:r>
              <a:rPr dirty="0" sz="2600" spc="-15">
                <a:latin typeface="宋体"/>
                <a:cs typeface="宋体"/>
              </a:rPr>
              <a:t>有</a:t>
            </a:r>
            <a:r>
              <a:rPr dirty="0" sz="2600">
                <a:latin typeface="宋体"/>
                <a:cs typeface="宋体"/>
              </a:rPr>
              <a:t>效发</a:t>
            </a:r>
            <a:r>
              <a:rPr dirty="0" sz="2600" spc="-15">
                <a:latin typeface="宋体"/>
                <a:cs typeface="宋体"/>
              </a:rPr>
              <a:t>挥</a:t>
            </a:r>
            <a:r>
              <a:rPr dirty="0" sz="2600">
                <a:latin typeface="宋体"/>
                <a:cs typeface="宋体"/>
              </a:rPr>
              <a:t>并不</a:t>
            </a:r>
            <a:r>
              <a:rPr dirty="0" sz="2600" spc="-15">
                <a:latin typeface="宋体"/>
                <a:cs typeface="宋体"/>
              </a:rPr>
              <a:t>是</a:t>
            </a:r>
            <a:r>
              <a:rPr dirty="0" sz="2600">
                <a:latin typeface="宋体"/>
                <a:cs typeface="宋体"/>
              </a:rPr>
              <a:t>一件容 易的任务</a:t>
            </a:r>
            <a:endParaRPr sz="2600">
              <a:latin typeface="宋体"/>
              <a:cs typeface="宋体"/>
            </a:endParaRPr>
          </a:p>
          <a:p>
            <a:pPr lvl="1" marL="756285" marR="5080" indent="-287020">
              <a:lnSpc>
                <a:spcPts val="2210"/>
              </a:lnSpc>
              <a:spcBef>
                <a:spcPts val="869"/>
              </a:spcBef>
              <a:buClr>
                <a:srgbClr val="C00000"/>
              </a:buClr>
              <a:buSzPct val="59090"/>
              <a:buFont typeface="Wingdings"/>
              <a:buChar char=""/>
              <a:tabLst>
                <a:tab pos="756285" algn="l"/>
                <a:tab pos="756920" algn="l"/>
              </a:tabLst>
            </a:pPr>
            <a:r>
              <a:rPr dirty="0" sz="2200" spc="-5">
                <a:latin typeface="宋体"/>
                <a:cs typeface="宋体"/>
              </a:rPr>
              <a:t>对必要内容的关注和一个完整的过</a:t>
            </a:r>
            <a:r>
              <a:rPr dirty="0" sz="2200">
                <a:latin typeface="宋体"/>
                <a:cs typeface="宋体"/>
              </a:rPr>
              <a:t>程</a:t>
            </a:r>
            <a:r>
              <a:rPr dirty="0" sz="2200" spc="-5">
                <a:latin typeface="宋体"/>
                <a:cs typeface="宋体"/>
              </a:rPr>
              <a:t>可以</a:t>
            </a:r>
            <a:r>
              <a:rPr dirty="0" sz="2200">
                <a:latin typeface="宋体"/>
                <a:cs typeface="宋体"/>
              </a:rPr>
              <a:t>帮</a:t>
            </a:r>
            <a:r>
              <a:rPr dirty="0" sz="2200" spc="-5">
                <a:latin typeface="宋体"/>
                <a:cs typeface="宋体"/>
              </a:rPr>
              <a:t>助项</a:t>
            </a:r>
            <a:r>
              <a:rPr dirty="0" sz="2200">
                <a:latin typeface="宋体"/>
                <a:cs typeface="宋体"/>
              </a:rPr>
              <a:t>目</a:t>
            </a:r>
            <a:r>
              <a:rPr dirty="0" sz="2200" spc="-5">
                <a:latin typeface="宋体"/>
                <a:cs typeface="宋体"/>
              </a:rPr>
              <a:t>利用</a:t>
            </a:r>
            <a:r>
              <a:rPr dirty="0" sz="2200">
                <a:latin typeface="宋体"/>
                <a:cs typeface="宋体"/>
              </a:rPr>
              <a:t>涉</a:t>
            </a:r>
            <a:r>
              <a:rPr dirty="0" sz="2200" spc="-5">
                <a:latin typeface="宋体"/>
                <a:cs typeface="宋体"/>
              </a:rPr>
              <a:t>众 </a:t>
            </a:r>
            <a:r>
              <a:rPr dirty="0" sz="2200" spc="-5">
                <a:latin typeface="宋体"/>
                <a:cs typeface="宋体"/>
              </a:rPr>
              <a:t>的力量</a:t>
            </a:r>
            <a:endParaRPr sz="2200">
              <a:latin typeface="宋体"/>
              <a:cs typeface="宋体"/>
            </a:endParaRPr>
          </a:p>
          <a:p>
            <a:pPr lvl="1" marL="756285" indent="-287020">
              <a:lnSpc>
                <a:spcPct val="100000"/>
              </a:lnSpc>
              <a:spcBef>
                <a:spcPts val="260"/>
              </a:spcBef>
              <a:buClr>
                <a:srgbClr val="C00000"/>
              </a:buClr>
              <a:buSzPct val="59090"/>
              <a:buFont typeface="Wingdings"/>
              <a:buChar char=""/>
              <a:tabLst>
                <a:tab pos="756285" algn="l"/>
                <a:tab pos="756920" algn="l"/>
              </a:tabLst>
            </a:pPr>
            <a:r>
              <a:rPr dirty="0" sz="2200" spc="-5">
                <a:latin typeface="宋体"/>
                <a:cs typeface="宋体"/>
              </a:rPr>
              <a:t>对涉众的分析需要很多的分析方法</a:t>
            </a:r>
            <a:r>
              <a:rPr dirty="0" sz="2200">
                <a:latin typeface="宋体"/>
                <a:cs typeface="宋体"/>
              </a:rPr>
              <a:t>和</a:t>
            </a:r>
            <a:r>
              <a:rPr dirty="0" sz="2200" spc="-5">
                <a:latin typeface="宋体"/>
                <a:cs typeface="宋体"/>
              </a:rPr>
              <a:t>技巧</a:t>
            </a:r>
            <a:endParaRPr sz="2200">
              <a:latin typeface="宋体"/>
              <a:cs typeface="宋体"/>
            </a:endParaRPr>
          </a:p>
          <a:p>
            <a:pPr marL="355600" indent="-343535">
              <a:lnSpc>
                <a:spcPct val="100000"/>
              </a:lnSpc>
              <a:spcBef>
                <a:spcPts val="300"/>
              </a:spcBef>
              <a:buClr>
                <a:srgbClr val="00663B"/>
              </a:buClr>
              <a:buSzPct val="78846"/>
              <a:buFont typeface="Wingdings"/>
              <a:buChar char=""/>
              <a:tabLst>
                <a:tab pos="355600" algn="l"/>
                <a:tab pos="356235" algn="l"/>
              </a:tabLst>
            </a:pPr>
            <a:r>
              <a:rPr dirty="0" sz="2600">
                <a:latin typeface="宋体"/>
                <a:cs typeface="宋体"/>
              </a:rPr>
              <a:t>硬数据也是需求获取当</a:t>
            </a:r>
            <a:r>
              <a:rPr dirty="0" sz="2600" spc="-15">
                <a:latin typeface="宋体"/>
                <a:cs typeface="宋体"/>
              </a:rPr>
              <a:t>中</a:t>
            </a:r>
            <a:r>
              <a:rPr dirty="0" sz="2600">
                <a:latin typeface="宋体"/>
                <a:cs typeface="宋体"/>
              </a:rPr>
              <a:t>一个</a:t>
            </a:r>
            <a:r>
              <a:rPr dirty="0" sz="2600" spc="-15">
                <a:latin typeface="宋体"/>
                <a:cs typeface="宋体"/>
              </a:rPr>
              <a:t>非</a:t>
            </a:r>
            <a:r>
              <a:rPr dirty="0" sz="2600">
                <a:latin typeface="宋体"/>
                <a:cs typeface="宋体"/>
              </a:rPr>
              <a:t>常重</a:t>
            </a:r>
            <a:r>
              <a:rPr dirty="0" sz="2600" spc="-15">
                <a:latin typeface="宋体"/>
                <a:cs typeface="宋体"/>
              </a:rPr>
              <a:t>要</a:t>
            </a:r>
            <a:r>
              <a:rPr dirty="0" sz="2600">
                <a:latin typeface="宋体"/>
                <a:cs typeface="宋体"/>
              </a:rPr>
              <a:t>的源头</a:t>
            </a:r>
            <a:endParaRPr sz="2600">
              <a:latin typeface="宋体"/>
              <a:cs typeface="宋体"/>
            </a:endParaRPr>
          </a:p>
          <a:p>
            <a:pPr lvl="1" marL="756285" indent="-287020">
              <a:lnSpc>
                <a:spcPct val="100000"/>
              </a:lnSpc>
              <a:spcBef>
                <a:spcPts val="280"/>
              </a:spcBef>
              <a:buClr>
                <a:srgbClr val="C00000"/>
              </a:buClr>
              <a:buSzPct val="59090"/>
              <a:buFont typeface="Wingdings"/>
              <a:buChar char=""/>
              <a:tabLst>
                <a:tab pos="756285" algn="l"/>
                <a:tab pos="756920" algn="l"/>
              </a:tabLst>
            </a:pPr>
            <a:r>
              <a:rPr dirty="0" sz="2200" spc="-5">
                <a:latin typeface="宋体"/>
                <a:cs typeface="宋体"/>
              </a:rPr>
              <a:t>不同的硬数据有着不同的贡献</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对硬数据的有效采样是发挥硬数据</a:t>
            </a:r>
            <a:r>
              <a:rPr dirty="0" sz="2200">
                <a:latin typeface="宋体"/>
                <a:cs typeface="宋体"/>
              </a:rPr>
              <a:t>作</a:t>
            </a:r>
            <a:r>
              <a:rPr dirty="0" sz="2200" spc="-5">
                <a:latin typeface="宋体"/>
                <a:cs typeface="宋体"/>
              </a:rPr>
              <a:t>用的</a:t>
            </a:r>
            <a:r>
              <a:rPr dirty="0" sz="2200">
                <a:latin typeface="宋体"/>
                <a:cs typeface="宋体"/>
              </a:rPr>
              <a:t>必</a:t>
            </a:r>
            <a:r>
              <a:rPr dirty="0" sz="2200" spc="-5">
                <a:latin typeface="宋体"/>
                <a:cs typeface="宋体"/>
              </a:rPr>
              <a:t>要前提</a:t>
            </a:r>
            <a:endParaRPr sz="2200">
              <a:latin typeface="宋体"/>
              <a:cs typeface="宋体"/>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178813"/>
            <a:ext cx="4839970" cy="295275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687"/>
              <a:buFont typeface="Wingdings"/>
              <a:buChar char=""/>
              <a:tabLst>
                <a:tab pos="356235" algn="l"/>
              </a:tabLst>
            </a:pPr>
            <a:r>
              <a:rPr dirty="0" sz="3200">
                <a:latin typeface="Calibri"/>
                <a:cs typeface="Calibri"/>
              </a:rPr>
              <a:t>1.</a:t>
            </a:r>
            <a:r>
              <a:rPr dirty="0" sz="3200" spc="5">
                <a:latin typeface="Calibri"/>
                <a:cs typeface="Calibri"/>
              </a:rPr>
              <a:t> </a:t>
            </a:r>
            <a:r>
              <a:rPr dirty="0" sz="3200">
                <a:latin typeface="宋体"/>
                <a:cs typeface="宋体"/>
              </a:rPr>
              <a:t>需求获取概述</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2.</a:t>
            </a:r>
            <a:r>
              <a:rPr dirty="0" sz="3200" spc="-80">
                <a:latin typeface="Calibri"/>
                <a:cs typeface="Calibri"/>
              </a:rPr>
              <a:t> </a:t>
            </a:r>
            <a:r>
              <a:rPr dirty="0" sz="3200">
                <a:latin typeface="宋体"/>
                <a:cs typeface="宋体"/>
              </a:rPr>
              <a:t>确定项目的前景和范围</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3.</a:t>
            </a:r>
            <a:r>
              <a:rPr dirty="0" sz="3200" spc="-50">
                <a:latin typeface="Calibri"/>
                <a:cs typeface="Calibri"/>
              </a:rPr>
              <a:t> </a:t>
            </a:r>
            <a:r>
              <a:rPr dirty="0" sz="3200">
                <a:latin typeface="宋体"/>
                <a:cs typeface="宋体"/>
              </a:rPr>
              <a:t>涉众分析与硬数据采样</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4.</a:t>
            </a:r>
            <a:r>
              <a:rPr dirty="0" sz="3200" spc="-80">
                <a:latin typeface="Calibri"/>
                <a:cs typeface="Calibri"/>
              </a:rPr>
              <a:t> </a:t>
            </a:r>
            <a:r>
              <a:rPr dirty="0" sz="3200">
                <a:latin typeface="宋体"/>
                <a:cs typeface="宋体"/>
              </a:rPr>
              <a:t>面谈</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5.</a:t>
            </a:r>
            <a:r>
              <a:rPr dirty="0" sz="3200" spc="-90">
                <a:latin typeface="Calibri"/>
                <a:cs typeface="Calibri"/>
              </a:rPr>
              <a:t> </a:t>
            </a:r>
            <a:r>
              <a:rPr dirty="0" sz="3200">
                <a:latin typeface="宋体"/>
                <a:cs typeface="宋体"/>
              </a:rPr>
              <a:t>原型</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宋体"/>
                <a:cs typeface="宋体"/>
              </a:rPr>
              <a:t>本章小结</a:t>
            </a:r>
            <a:endParaRPr sz="3200">
              <a:latin typeface="宋体"/>
              <a:cs typeface="宋体"/>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164412"/>
            <a:ext cx="3179445" cy="514350"/>
          </a:xfrm>
          <a:prstGeom prst="rect"/>
        </p:spPr>
        <p:txBody>
          <a:bodyPr wrap="square" lIns="0" tIns="13335" rIns="0" bIns="0" rtlCol="0" vert="horz">
            <a:spAutoFit/>
          </a:bodyPr>
          <a:lstStyle/>
          <a:p>
            <a:pPr marL="12700">
              <a:lnSpc>
                <a:spcPct val="100000"/>
              </a:lnSpc>
              <a:spcBef>
                <a:spcPts val="105"/>
              </a:spcBef>
            </a:pPr>
            <a:r>
              <a:rPr dirty="0" sz="3200" spc="-5">
                <a:solidFill>
                  <a:srgbClr val="FF0000"/>
                </a:solidFill>
                <a:latin typeface="Calibri"/>
                <a:cs typeface="Calibri"/>
              </a:rPr>
              <a:t>4.1.</a:t>
            </a:r>
            <a:r>
              <a:rPr dirty="0" sz="3200" spc="-45">
                <a:solidFill>
                  <a:srgbClr val="FF0000"/>
                </a:solidFill>
                <a:latin typeface="Calibri"/>
                <a:cs typeface="Calibri"/>
              </a:rPr>
              <a:t> </a:t>
            </a:r>
            <a:r>
              <a:rPr dirty="0" sz="3200">
                <a:solidFill>
                  <a:srgbClr val="FF0000"/>
                </a:solidFill>
              </a:rPr>
              <a:t>面谈中的问题</a:t>
            </a:r>
            <a:endParaRPr sz="3200">
              <a:latin typeface="Calibri"/>
              <a:cs typeface="Calibri"/>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55216"/>
            <a:ext cx="3179445" cy="3389629"/>
          </a:xfrm>
          <a:prstGeom prst="rect">
            <a:avLst/>
          </a:prstGeom>
        </p:spPr>
        <p:txBody>
          <a:bodyPr wrap="square" lIns="0" tIns="97790" rIns="0" bIns="0" rtlCol="0" vert="horz">
            <a:spAutoFit/>
          </a:bodyPr>
          <a:lstStyle/>
          <a:p>
            <a:pPr lvl="2" marL="1251585" indent="-895350">
              <a:lnSpc>
                <a:spcPct val="100000"/>
              </a:lnSpc>
              <a:spcBef>
                <a:spcPts val="770"/>
              </a:spcBef>
              <a:buFont typeface="Calibri"/>
              <a:buAutoNum type="arabicPeriod"/>
              <a:tabLst>
                <a:tab pos="1252220" algn="l"/>
              </a:tabLst>
            </a:pPr>
            <a:r>
              <a:rPr dirty="0" sz="2800" spc="-5">
                <a:solidFill>
                  <a:srgbClr val="FF0000"/>
                </a:solidFill>
                <a:latin typeface="宋体"/>
                <a:cs typeface="宋体"/>
              </a:rPr>
              <a:t>问题的类型</a:t>
            </a:r>
            <a:endParaRPr sz="2800">
              <a:latin typeface="宋体"/>
              <a:cs typeface="宋体"/>
            </a:endParaRPr>
          </a:p>
          <a:p>
            <a:pPr lvl="2" marL="1251585" indent="-895350">
              <a:lnSpc>
                <a:spcPct val="100000"/>
              </a:lnSpc>
              <a:spcBef>
                <a:spcPts val="675"/>
              </a:spcBef>
              <a:buFont typeface="Calibri"/>
              <a:buAutoNum type="arabicPeriod"/>
              <a:tabLst>
                <a:tab pos="1252220" algn="l"/>
              </a:tabLst>
            </a:pPr>
            <a:r>
              <a:rPr dirty="0" sz="2800" spc="-5">
                <a:solidFill>
                  <a:srgbClr val="FF0000"/>
                </a:solidFill>
                <a:latin typeface="宋体"/>
                <a:cs typeface="宋体"/>
              </a:rPr>
              <a:t>问题的组织</a:t>
            </a:r>
            <a:endParaRPr sz="2800">
              <a:latin typeface="宋体"/>
              <a:cs typeface="宋体"/>
            </a:endParaRPr>
          </a:p>
          <a:p>
            <a:pPr lvl="1" marL="724535" indent="-712470">
              <a:lnSpc>
                <a:spcPct val="100000"/>
              </a:lnSpc>
              <a:spcBef>
                <a:spcPts val="750"/>
              </a:spcBef>
              <a:buFont typeface="Calibri"/>
              <a:buAutoNum type="arabicPeriod" startAt="2"/>
              <a:tabLst>
                <a:tab pos="725170" algn="l"/>
              </a:tabLst>
            </a:pPr>
            <a:r>
              <a:rPr dirty="0" sz="3200">
                <a:latin typeface="宋体"/>
                <a:cs typeface="宋体"/>
              </a:rPr>
              <a:t>面谈的过程</a:t>
            </a:r>
            <a:endParaRPr sz="3200">
              <a:latin typeface="宋体"/>
              <a:cs typeface="宋体"/>
            </a:endParaRPr>
          </a:p>
          <a:p>
            <a:pPr lvl="1" marL="724535" indent="-712470">
              <a:lnSpc>
                <a:spcPct val="100000"/>
              </a:lnSpc>
              <a:spcBef>
                <a:spcPts val="770"/>
              </a:spcBef>
              <a:buFont typeface="Calibri"/>
              <a:buAutoNum type="arabicPeriod" startAt="2"/>
              <a:tabLst>
                <a:tab pos="725170" algn="l"/>
              </a:tabLst>
            </a:pPr>
            <a:r>
              <a:rPr dirty="0" sz="3200">
                <a:latin typeface="宋体"/>
                <a:cs typeface="宋体"/>
              </a:rPr>
              <a:t>面谈的类型</a:t>
            </a:r>
            <a:endParaRPr sz="3200">
              <a:latin typeface="宋体"/>
              <a:cs typeface="宋体"/>
            </a:endParaRPr>
          </a:p>
          <a:p>
            <a:pPr lvl="1" marL="724535" indent="-712470">
              <a:lnSpc>
                <a:spcPct val="100000"/>
              </a:lnSpc>
              <a:spcBef>
                <a:spcPts val="770"/>
              </a:spcBef>
              <a:buFont typeface="Calibri"/>
              <a:buAutoNum type="arabicPeriod" startAt="2"/>
              <a:tabLst>
                <a:tab pos="725170" algn="l"/>
              </a:tabLst>
            </a:pPr>
            <a:r>
              <a:rPr dirty="0" sz="3200">
                <a:latin typeface="宋体"/>
                <a:cs typeface="宋体"/>
              </a:rPr>
              <a:t>面谈的优缺点</a:t>
            </a:r>
            <a:endParaRPr sz="3200">
              <a:latin typeface="宋体"/>
              <a:cs typeface="宋体"/>
            </a:endParaRPr>
          </a:p>
          <a:p>
            <a:pPr lvl="1" marL="724535" indent="-712470">
              <a:lnSpc>
                <a:spcPct val="100000"/>
              </a:lnSpc>
              <a:spcBef>
                <a:spcPts val="770"/>
              </a:spcBef>
              <a:buFont typeface="Calibri"/>
              <a:buAutoNum type="arabicPeriod" startAt="2"/>
              <a:tabLst>
                <a:tab pos="725170" algn="l"/>
              </a:tabLst>
            </a:pPr>
            <a:r>
              <a:rPr dirty="0" sz="3200">
                <a:latin typeface="宋体"/>
                <a:cs typeface="宋体"/>
              </a:rPr>
              <a:t>相关方法</a:t>
            </a:r>
            <a:endParaRPr sz="3200">
              <a:latin typeface="宋体"/>
              <a:cs typeface="宋体"/>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3060" y="214376"/>
            <a:ext cx="435737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4.1.</a:t>
            </a:r>
            <a:r>
              <a:rPr dirty="0" spc="-70">
                <a:latin typeface="Calibri"/>
                <a:cs typeface="Calibri"/>
              </a:rPr>
              <a:t> </a:t>
            </a:r>
            <a:r>
              <a:rPr dirty="0"/>
              <a:t>面谈中的问题</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360423"/>
            <a:ext cx="7995920" cy="3951604"/>
          </a:xfrm>
          <a:prstGeom prst="rect">
            <a:avLst/>
          </a:prstGeom>
        </p:spPr>
        <p:txBody>
          <a:bodyPr wrap="square" lIns="0" tIns="12065" rIns="0" bIns="0" rtlCol="0" vert="horz">
            <a:spAutoFit/>
          </a:bodyPr>
          <a:lstStyle/>
          <a:p>
            <a:pPr marL="355600" marR="5080" indent="-343535">
              <a:lnSpc>
                <a:spcPct val="100000"/>
              </a:lnSpc>
              <a:spcBef>
                <a:spcPts val="95"/>
              </a:spcBef>
              <a:buClr>
                <a:srgbClr val="00663B"/>
              </a:buClr>
              <a:buSzPct val="80357"/>
              <a:buFont typeface="Wingdings"/>
              <a:buChar char=""/>
              <a:tabLst>
                <a:tab pos="355600" algn="l"/>
                <a:tab pos="356235" algn="l"/>
              </a:tabLst>
            </a:pPr>
            <a:r>
              <a:rPr dirty="0" sz="2800" spc="-5">
                <a:latin typeface="宋体"/>
                <a:cs typeface="宋体"/>
              </a:rPr>
              <a:t>面对面的会见（</a:t>
            </a:r>
            <a:r>
              <a:rPr dirty="0" sz="2800" spc="-5">
                <a:latin typeface="Calibri"/>
                <a:cs typeface="Calibri"/>
              </a:rPr>
              <a:t>face-to-face</a:t>
            </a:r>
            <a:r>
              <a:rPr dirty="0" sz="2800" spc="-20">
                <a:latin typeface="Calibri"/>
                <a:cs typeface="Calibri"/>
              </a:rPr>
              <a:t> </a:t>
            </a:r>
            <a:r>
              <a:rPr dirty="0" sz="2800" spc="-5">
                <a:latin typeface="Calibri"/>
                <a:cs typeface="Calibri"/>
              </a:rPr>
              <a:t>meeting</a:t>
            </a:r>
            <a:r>
              <a:rPr dirty="0" sz="2800" spc="-5">
                <a:latin typeface="宋体"/>
                <a:cs typeface="宋体"/>
              </a:rPr>
              <a:t>）被认为是最 具丰富内容的交流方法</a:t>
            </a:r>
            <a:endParaRPr sz="2800">
              <a:latin typeface="宋体"/>
              <a:cs typeface="宋体"/>
            </a:endParaRPr>
          </a:p>
          <a:p>
            <a:pPr marL="355600" indent="-343535">
              <a:lnSpc>
                <a:spcPct val="100000"/>
              </a:lnSpc>
              <a:spcBef>
                <a:spcPts val="670"/>
              </a:spcBef>
              <a:buClr>
                <a:srgbClr val="00663B"/>
              </a:buClr>
              <a:buSzPct val="80357"/>
              <a:buFont typeface="Wingdings"/>
              <a:buChar char=""/>
              <a:tabLst>
                <a:tab pos="355600" algn="l"/>
                <a:tab pos="356235" algn="l"/>
              </a:tabLst>
            </a:pPr>
            <a:r>
              <a:rPr dirty="0" sz="2800" spc="-10">
                <a:latin typeface="宋体"/>
                <a:cs typeface="宋体"/>
              </a:rPr>
              <a:t>实践当中应用最为广泛的需求获取</a:t>
            </a:r>
            <a:r>
              <a:rPr dirty="0" sz="2800">
                <a:latin typeface="宋体"/>
                <a:cs typeface="宋体"/>
              </a:rPr>
              <a:t>方</a:t>
            </a:r>
            <a:r>
              <a:rPr dirty="0" sz="2800" spc="-10">
                <a:latin typeface="宋体"/>
                <a:cs typeface="宋体"/>
              </a:rPr>
              <a:t>法之一</a:t>
            </a:r>
            <a:endParaRPr sz="2800">
              <a:latin typeface="宋体"/>
              <a:cs typeface="宋体"/>
            </a:endParaRPr>
          </a:p>
          <a:p>
            <a:pPr marL="355600" indent="-343535">
              <a:lnSpc>
                <a:spcPct val="100000"/>
              </a:lnSpc>
              <a:spcBef>
                <a:spcPts val="675"/>
              </a:spcBef>
              <a:buClr>
                <a:srgbClr val="00663B"/>
              </a:buClr>
              <a:buSzPct val="80357"/>
              <a:buFont typeface="Wingdings"/>
              <a:buChar char=""/>
              <a:tabLst>
                <a:tab pos="355600" algn="l"/>
                <a:tab pos="356235" algn="l"/>
              </a:tabLst>
            </a:pPr>
            <a:r>
              <a:rPr dirty="0" sz="2800" spc="-5">
                <a:latin typeface="宋体"/>
                <a:cs typeface="宋体"/>
              </a:rPr>
              <a:t>可以获得的信息内容包括</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事实和问题</a:t>
            </a:r>
            <a:endParaRPr sz="2800">
              <a:latin typeface="宋体"/>
              <a:cs typeface="宋体"/>
            </a:endParaRPr>
          </a:p>
          <a:p>
            <a:pPr lvl="1" marL="756285" indent="-287020">
              <a:lnSpc>
                <a:spcPct val="100000"/>
              </a:lnSpc>
              <a:spcBef>
                <a:spcPts val="670"/>
              </a:spcBef>
              <a:buClr>
                <a:srgbClr val="C00000"/>
              </a:buClr>
              <a:buSzPct val="58928"/>
              <a:buFont typeface="Wingdings"/>
              <a:buChar char=""/>
              <a:tabLst>
                <a:tab pos="756285" algn="l"/>
                <a:tab pos="756920" algn="l"/>
              </a:tabLst>
            </a:pPr>
            <a:r>
              <a:rPr dirty="0" sz="2800" spc="-10">
                <a:latin typeface="宋体"/>
                <a:cs typeface="宋体"/>
              </a:rPr>
              <a:t>被会见者的观点</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被会见者的感受</a:t>
            </a:r>
            <a:endParaRPr sz="2800">
              <a:latin typeface="宋体"/>
              <a:cs typeface="宋体"/>
            </a:endParaRPr>
          </a:p>
          <a:p>
            <a:pPr lvl="1" marL="756285" indent="-287020">
              <a:lnSpc>
                <a:spcPct val="100000"/>
              </a:lnSpc>
              <a:spcBef>
                <a:spcPts val="670"/>
              </a:spcBef>
              <a:buClr>
                <a:srgbClr val="C00000"/>
              </a:buClr>
              <a:buSzPct val="58928"/>
              <a:buFont typeface="Wingdings"/>
              <a:buChar char=""/>
              <a:tabLst>
                <a:tab pos="756285" algn="l"/>
                <a:tab pos="756920" algn="l"/>
              </a:tabLst>
            </a:pPr>
            <a:r>
              <a:rPr dirty="0" sz="2800" spc="-5">
                <a:latin typeface="宋体"/>
                <a:cs typeface="宋体"/>
              </a:rPr>
              <a:t>组织和个人的目标</a:t>
            </a:r>
            <a:endParaRPr sz="2800">
              <a:latin typeface="宋体"/>
              <a:cs typeface="宋体"/>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32126" y="197865"/>
            <a:ext cx="408114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4.1.1</a:t>
            </a:r>
            <a:r>
              <a:rPr dirty="0" spc="-90">
                <a:latin typeface="Calibri"/>
                <a:cs typeface="Calibri"/>
              </a:rPr>
              <a:t> </a:t>
            </a:r>
            <a:r>
              <a:rPr dirty="0"/>
              <a:t>问题的类型</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45361"/>
            <a:ext cx="7688580" cy="1998345"/>
          </a:xfrm>
          <a:prstGeom prst="rect">
            <a:avLst/>
          </a:prstGeom>
        </p:spPr>
        <p:txBody>
          <a:bodyPr wrap="square" lIns="0" tIns="53975" rIns="0" bIns="0" rtlCol="0" vert="horz">
            <a:spAutoFit/>
          </a:bodyPr>
          <a:lstStyle/>
          <a:p>
            <a:pPr marL="355600" marR="5080" indent="-343535">
              <a:lnSpc>
                <a:spcPts val="3600"/>
              </a:lnSpc>
              <a:spcBef>
                <a:spcPts val="425"/>
              </a:spcBef>
              <a:buClr>
                <a:srgbClr val="00663B"/>
              </a:buClr>
              <a:buSzPct val="79687"/>
              <a:buFont typeface="Wingdings"/>
              <a:buChar char=""/>
              <a:tabLst>
                <a:tab pos="356235" algn="l"/>
              </a:tabLst>
            </a:pPr>
            <a:r>
              <a:rPr dirty="0" sz="3200">
                <a:latin typeface="宋体"/>
                <a:cs typeface="宋体"/>
              </a:rPr>
              <a:t>问题基本上可以分为两</a:t>
            </a:r>
            <a:r>
              <a:rPr dirty="0" sz="3200" spc="-15">
                <a:latin typeface="宋体"/>
                <a:cs typeface="宋体"/>
              </a:rPr>
              <a:t>种</a:t>
            </a:r>
            <a:r>
              <a:rPr dirty="0" sz="3200">
                <a:latin typeface="宋体"/>
                <a:cs typeface="宋体"/>
              </a:rPr>
              <a:t>类型</a:t>
            </a:r>
            <a:r>
              <a:rPr dirty="0" sz="3200" spc="-15">
                <a:latin typeface="宋体"/>
                <a:cs typeface="宋体"/>
              </a:rPr>
              <a:t>：</a:t>
            </a:r>
            <a:r>
              <a:rPr dirty="0" sz="3200">
                <a:latin typeface="宋体"/>
                <a:cs typeface="宋体"/>
              </a:rPr>
              <a:t>开放</a:t>
            </a:r>
            <a:r>
              <a:rPr dirty="0" sz="3200" spc="-15">
                <a:latin typeface="宋体"/>
                <a:cs typeface="宋体"/>
              </a:rPr>
              <a:t>式</a:t>
            </a:r>
            <a:r>
              <a:rPr dirty="0" sz="3200">
                <a:latin typeface="宋体"/>
                <a:cs typeface="宋体"/>
              </a:rPr>
              <a:t>问 </a:t>
            </a:r>
            <a:r>
              <a:rPr dirty="0" sz="3200">
                <a:latin typeface="宋体"/>
                <a:cs typeface="宋体"/>
              </a:rPr>
              <a:t>题和封闭式问题</a:t>
            </a:r>
            <a:endParaRPr sz="3200">
              <a:latin typeface="宋体"/>
              <a:cs typeface="宋体"/>
            </a:endParaRPr>
          </a:p>
          <a:p>
            <a:pPr lvl="1" marL="756285" indent="-287020">
              <a:lnSpc>
                <a:spcPct val="100000"/>
              </a:lnSpc>
              <a:spcBef>
                <a:spcPts val="610"/>
              </a:spcBef>
              <a:buClr>
                <a:srgbClr val="C00000"/>
              </a:buClr>
              <a:buSzPct val="58928"/>
              <a:buFont typeface="Wingdings"/>
              <a:buChar char=""/>
              <a:tabLst>
                <a:tab pos="756285" algn="l"/>
                <a:tab pos="756920" algn="l"/>
              </a:tabLst>
            </a:pPr>
            <a:r>
              <a:rPr dirty="0" sz="2800" spc="-5">
                <a:latin typeface="宋体"/>
                <a:cs typeface="宋体"/>
              </a:rPr>
              <a:t>开放式问题</a:t>
            </a:r>
            <a:r>
              <a:rPr dirty="0" sz="2800" spc="-10">
                <a:latin typeface="宋体"/>
                <a:cs typeface="宋体"/>
              </a:rPr>
              <a:t>（</a:t>
            </a:r>
            <a:r>
              <a:rPr dirty="0" sz="2800" spc="-10">
                <a:latin typeface="Calibri"/>
                <a:cs typeface="Calibri"/>
              </a:rPr>
              <a:t>Open-Ended</a:t>
            </a:r>
            <a:r>
              <a:rPr dirty="0" sz="2800" spc="-10">
                <a:latin typeface="宋体"/>
                <a:cs typeface="宋体"/>
              </a:rPr>
              <a:t>）</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封闭式问题</a:t>
            </a:r>
            <a:r>
              <a:rPr dirty="0" sz="2800" spc="-10">
                <a:latin typeface="宋体"/>
                <a:cs typeface="宋体"/>
              </a:rPr>
              <a:t>（</a:t>
            </a:r>
            <a:r>
              <a:rPr dirty="0" sz="2800" spc="-10">
                <a:latin typeface="Calibri"/>
                <a:cs typeface="Calibri"/>
              </a:rPr>
              <a:t>Closed</a:t>
            </a:r>
            <a:r>
              <a:rPr dirty="0" sz="2800" spc="-10">
                <a:latin typeface="宋体"/>
                <a:cs typeface="宋体"/>
              </a:rPr>
              <a:t>）</a:t>
            </a:r>
            <a:endParaRPr sz="2800">
              <a:latin typeface="宋体"/>
              <a:cs typeface="宋体"/>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2466" y="14477"/>
            <a:ext cx="3926204" cy="1184275"/>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4.1.1</a:t>
            </a:r>
            <a:r>
              <a:rPr dirty="0" sz="3800" spc="-20">
                <a:latin typeface="Calibri"/>
                <a:cs typeface="Calibri"/>
              </a:rPr>
              <a:t> </a:t>
            </a:r>
            <a:r>
              <a:rPr dirty="0" sz="3800"/>
              <a:t>问题的类型</a:t>
            </a:r>
            <a:endParaRPr sz="3800">
              <a:latin typeface="Calibri"/>
              <a:cs typeface="Calibri"/>
            </a:endParaRPr>
          </a:p>
          <a:p>
            <a:pPr algn="ctr" marL="517525">
              <a:lnSpc>
                <a:spcPct val="100000"/>
              </a:lnSpc>
              <a:spcBef>
                <a:spcPts val="5"/>
              </a:spcBef>
            </a:pPr>
            <a:r>
              <a:rPr dirty="0" sz="3800">
                <a:latin typeface="Arial"/>
                <a:cs typeface="Arial"/>
              </a:rPr>
              <a:t>——</a:t>
            </a:r>
            <a:r>
              <a:rPr dirty="0" sz="3800"/>
              <a:t>开放式问题</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688340" y="1871599"/>
            <a:ext cx="7745095" cy="3350895"/>
          </a:xfrm>
          <a:prstGeom prst="rect">
            <a:avLst/>
          </a:prstGeom>
        </p:spPr>
        <p:txBody>
          <a:bodyPr wrap="square" lIns="0" tIns="45720" rIns="0" bIns="0" rtlCol="0" vert="horz">
            <a:spAutoFit/>
          </a:bodyPr>
          <a:lstStyle/>
          <a:p>
            <a:pPr marL="355600" marR="110489" indent="-343535">
              <a:lnSpc>
                <a:spcPts val="2930"/>
              </a:lnSpc>
              <a:spcBef>
                <a:spcPts val="360"/>
              </a:spcBef>
              <a:buClr>
                <a:srgbClr val="00663B"/>
              </a:buClr>
              <a:buSzPct val="78846"/>
              <a:buFont typeface="Wingdings"/>
              <a:buChar char=""/>
              <a:tabLst>
                <a:tab pos="355600" algn="l"/>
                <a:tab pos="356235" algn="l"/>
              </a:tabLst>
            </a:pPr>
            <a:r>
              <a:rPr dirty="0" sz="2600">
                <a:latin typeface="宋体"/>
                <a:cs typeface="宋体"/>
              </a:rPr>
              <a:t>被会见者对答复的选择</a:t>
            </a:r>
            <a:r>
              <a:rPr dirty="0" sz="2600" spc="-15">
                <a:latin typeface="宋体"/>
                <a:cs typeface="宋体"/>
              </a:rPr>
              <a:t>可</a:t>
            </a:r>
            <a:r>
              <a:rPr dirty="0" sz="2600">
                <a:latin typeface="宋体"/>
                <a:cs typeface="宋体"/>
              </a:rPr>
              <a:t>以</a:t>
            </a:r>
            <a:r>
              <a:rPr dirty="0" sz="2600" spc="5">
                <a:latin typeface="宋体"/>
                <a:cs typeface="宋体"/>
              </a:rPr>
              <a:t>是</a:t>
            </a:r>
            <a:r>
              <a:rPr dirty="0" sz="2600" spc="-15">
                <a:solidFill>
                  <a:srgbClr val="00A15F"/>
                </a:solidFill>
                <a:latin typeface="宋体"/>
                <a:cs typeface="宋体"/>
              </a:rPr>
              <a:t>开</a:t>
            </a:r>
            <a:r>
              <a:rPr dirty="0" sz="2600">
                <a:solidFill>
                  <a:srgbClr val="00A15F"/>
                </a:solidFill>
                <a:latin typeface="宋体"/>
                <a:cs typeface="宋体"/>
              </a:rPr>
              <a:t>放和</a:t>
            </a:r>
            <a:r>
              <a:rPr dirty="0" sz="2600" spc="-15">
                <a:solidFill>
                  <a:srgbClr val="00A15F"/>
                </a:solidFill>
                <a:latin typeface="宋体"/>
                <a:cs typeface="宋体"/>
              </a:rPr>
              <a:t>不</a:t>
            </a:r>
            <a:r>
              <a:rPr dirty="0" sz="2600">
                <a:solidFill>
                  <a:srgbClr val="00A15F"/>
                </a:solidFill>
                <a:latin typeface="宋体"/>
                <a:cs typeface="宋体"/>
              </a:rPr>
              <a:t>受限</a:t>
            </a:r>
            <a:r>
              <a:rPr dirty="0" sz="2600" spc="-10">
                <a:solidFill>
                  <a:srgbClr val="00A15F"/>
                </a:solidFill>
                <a:latin typeface="宋体"/>
                <a:cs typeface="宋体"/>
              </a:rPr>
              <a:t>制</a:t>
            </a:r>
            <a:r>
              <a:rPr dirty="0" sz="2600">
                <a:latin typeface="宋体"/>
                <a:cs typeface="宋体"/>
              </a:rPr>
              <a:t>的，  他们可能答复两个词，</a:t>
            </a:r>
            <a:r>
              <a:rPr dirty="0" sz="2600" spc="-15">
                <a:latin typeface="宋体"/>
                <a:cs typeface="宋体"/>
              </a:rPr>
              <a:t>也</a:t>
            </a:r>
            <a:r>
              <a:rPr dirty="0" sz="2600">
                <a:latin typeface="宋体"/>
                <a:cs typeface="宋体"/>
              </a:rPr>
              <a:t>可能</a:t>
            </a:r>
            <a:r>
              <a:rPr dirty="0" sz="2600" spc="-15">
                <a:latin typeface="宋体"/>
                <a:cs typeface="宋体"/>
              </a:rPr>
              <a:t>答</a:t>
            </a:r>
            <a:r>
              <a:rPr dirty="0" sz="2600">
                <a:latin typeface="宋体"/>
                <a:cs typeface="宋体"/>
              </a:rPr>
              <a:t>复两</a:t>
            </a:r>
            <a:r>
              <a:rPr dirty="0" sz="2600" spc="-15">
                <a:latin typeface="宋体"/>
                <a:cs typeface="宋体"/>
              </a:rPr>
              <a:t>段</a:t>
            </a:r>
            <a:r>
              <a:rPr dirty="0" sz="2600">
                <a:latin typeface="宋体"/>
                <a:cs typeface="宋体"/>
              </a:rPr>
              <a:t>话。</a:t>
            </a:r>
            <a:endParaRPr sz="2600">
              <a:latin typeface="宋体"/>
              <a:cs typeface="宋体"/>
            </a:endParaRPr>
          </a:p>
          <a:p>
            <a:pPr marL="355600" marR="112395" indent="-343535">
              <a:lnSpc>
                <a:spcPts val="2930"/>
              </a:lnSpc>
              <a:spcBef>
                <a:spcPts val="1000"/>
              </a:spcBef>
              <a:buClr>
                <a:srgbClr val="00663B"/>
              </a:buClr>
              <a:buSzPct val="78846"/>
              <a:buFont typeface="Wingdings"/>
              <a:buChar char=""/>
              <a:tabLst>
                <a:tab pos="355600" algn="l"/>
                <a:tab pos="356235" algn="l"/>
              </a:tabLst>
            </a:pPr>
            <a:r>
              <a:rPr dirty="0" sz="2600">
                <a:latin typeface="宋体"/>
                <a:cs typeface="宋体"/>
              </a:rPr>
              <a:t>在希望得到丰富（具有</a:t>
            </a:r>
            <a:r>
              <a:rPr dirty="0" sz="2600" spc="-15">
                <a:latin typeface="宋体"/>
                <a:cs typeface="宋体"/>
              </a:rPr>
              <a:t>一</a:t>
            </a:r>
            <a:r>
              <a:rPr dirty="0" sz="2600">
                <a:latin typeface="宋体"/>
                <a:cs typeface="宋体"/>
              </a:rPr>
              <a:t>定深</a:t>
            </a:r>
            <a:r>
              <a:rPr dirty="0" sz="2600" spc="-15">
                <a:latin typeface="宋体"/>
                <a:cs typeface="宋体"/>
              </a:rPr>
              <a:t>度</a:t>
            </a:r>
            <a:r>
              <a:rPr dirty="0" sz="2600">
                <a:latin typeface="宋体"/>
                <a:cs typeface="宋体"/>
              </a:rPr>
              <a:t>和广</a:t>
            </a:r>
            <a:r>
              <a:rPr dirty="0" sz="2600" spc="-15">
                <a:latin typeface="宋体"/>
                <a:cs typeface="宋体"/>
              </a:rPr>
              <a:t>度</a:t>
            </a:r>
            <a:r>
              <a:rPr dirty="0" sz="2600">
                <a:latin typeface="宋体"/>
                <a:cs typeface="宋体"/>
              </a:rPr>
              <a:t>）信</a:t>
            </a:r>
            <a:r>
              <a:rPr dirty="0" sz="2600" spc="-15">
                <a:latin typeface="宋体"/>
                <a:cs typeface="宋体"/>
              </a:rPr>
              <a:t>息</a:t>
            </a:r>
            <a:r>
              <a:rPr dirty="0" sz="2600">
                <a:latin typeface="宋体"/>
                <a:cs typeface="宋体"/>
              </a:rPr>
              <a:t>时， </a:t>
            </a:r>
            <a:r>
              <a:rPr dirty="0" sz="2600">
                <a:latin typeface="宋体"/>
                <a:cs typeface="宋体"/>
              </a:rPr>
              <a:t>开放式问题比较合适</a:t>
            </a:r>
            <a:endParaRPr sz="2600">
              <a:latin typeface="宋体"/>
              <a:cs typeface="宋体"/>
            </a:endParaRPr>
          </a:p>
          <a:p>
            <a:pPr marL="355600" indent="-343535">
              <a:lnSpc>
                <a:spcPct val="100000"/>
              </a:lnSpc>
              <a:spcBef>
                <a:spcPts val="560"/>
              </a:spcBef>
              <a:buClr>
                <a:srgbClr val="00663B"/>
              </a:buClr>
              <a:buSzPct val="78846"/>
              <a:buFont typeface="Wingdings"/>
              <a:buChar char=""/>
              <a:tabLst>
                <a:tab pos="355600" algn="l"/>
                <a:tab pos="356235" algn="l"/>
              </a:tabLst>
            </a:pPr>
            <a:r>
              <a:rPr dirty="0" sz="2600">
                <a:latin typeface="宋体"/>
                <a:cs typeface="宋体"/>
              </a:rPr>
              <a:t>例如：</a:t>
            </a:r>
            <a:endParaRPr sz="2600">
              <a:latin typeface="宋体"/>
              <a:cs typeface="宋体"/>
            </a:endParaRPr>
          </a:p>
          <a:p>
            <a:pPr lvl="1" marL="756285" indent="-287020">
              <a:lnSpc>
                <a:spcPct val="100000"/>
              </a:lnSpc>
              <a:spcBef>
                <a:spcPts val="545"/>
              </a:spcBef>
              <a:buClr>
                <a:srgbClr val="C00000"/>
              </a:buClr>
              <a:buSzPct val="59090"/>
              <a:buFont typeface="Wingdings"/>
              <a:buChar char=""/>
              <a:tabLst>
                <a:tab pos="756285" algn="l"/>
                <a:tab pos="756920" algn="l"/>
              </a:tabLst>
            </a:pPr>
            <a:r>
              <a:rPr dirty="0" sz="2200" spc="-5">
                <a:latin typeface="宋体"/>
                <a:cs typeface="宋体"/>
              </a:rPr>
              <a:t>“你觉得把所有的经理都置于一个</a:t>
            </a:r>
            <a:r>
              <a:rPr dirty="0" sz="2200">
                <a:latin typeface="宋体"/>
                <a:cs typeface="宋体"/>
              </a:rPr>
              <a:t>内</a:t>
            </a:r>
            <a:r>
              <a:rPr dirty="0" sz="2200" spc="-5">
                <a:latin typeface="宋体"/>
                <a:cs typeface="宋体"/>
              </a:rPr>
              <a:t>联网</a:t>
            </a:r>
            <a:r>
              <a:rPr dirty="0" sz="2200">
                <a:latin typeface="宋体"/>
                <a:cs typeface="宋体"/>
              </a:rPr>
              <a:t>内</a:t>
            </a:r>
            <a:r>
              <a:rPr dirty="0" sz="2200" spc="-5">
                <a:latin typeface="宋体"/>
                <a:cs typeface="宋体"/>
              </a:rPr>
              <a:t>怎么</a:t>
            </a:r>
            <a:r>
              <a:rPr dirty="0" sz="2200">
                <a:latin typeface="宋体"/>
                <a:cs typeface="宋体"/>
              </a:rPr>
              <a:t>样</a:t>
            </a:r>
            <a:r>
              <a:rPr dirty="0" sz="2200" spc="-5">
                <a:latin typeface="宋体"/>
                <a:cs typeface="宋体"/>
              </a:rPr>
              <a:t>？”</a:t>
            </a:r>
            <a:endParaRPr sz="2200">
              <a:latin typeface="宋体"/>
              <a:cs typeface="宋体"/>
            </a:endParaRPr>
          </a:p>
          <a:p>
            <a:pPr lvl="1" marL="756285" indent="-287020">
              <a:lnSpc>
                <a:spcPct val="100000"/>
              </a:lnSpc>
              <a:spcBef>
                <a:spcPts val="525"/>
              </a:spcBef>
              <a:buClr>
                <a:srgbClr val="C00000"/>
              </a:buClr>
              <a:buSzPct val="59090"/>
              <a:buFont typeface="Wingdings"/>
              <a:buChar char=""/>
              <a:tabLst>
                <a:tab pos="756285" algn="l"/>
                <a:tab pos="756920" algn="l"/>
              </a:tabLst>
            </a:pPr>
            <a:r>
              <a:rPr dirty="0" sz="2200" spc="-10">
                <a:latin typeface="宋体"/>
                <a:cs typeface="宋体"/>
              </a:rPr>
              <a:t>“请解释你是如何做进度决策的？”</a:t>
            </a:r>
            <a:endParaRPr sz="2200">
              <a:latin typeface="宋体"/>
              <a:cs typeface="宋体"/>
            </a:endParaRPr>
          </a:p>
          <a:p>
            <a:pPr lvl="1" marL="756285" indent="-287020">
              <a:lnSpc>
                <a:spcPct val="100000"/>
              </a:lnSpc>
              <a:spcBef>
                <a:spcPts val="535"/>
              </a:spcBef>
              <a:buClr>
                <a:srgbClr val="C00000"/>
              </a:buClr>
              <a:buSzPct val="59090"/>
              <a:buFont typeface="Wingdings"/>
              <a:buChar char=""/>
              <a:tabLst>
                <a:tab pos="756285" algn="l"/>
                <a:tab pos="756920" algn="l"/>
              </a:tabLst>
            </a:pPr>
            <a:r>
              <a:rPr dirty="0" sz="2200" spc="-5">
                <a:latin typeface="宋体"/>
                <a:cs typeface="宋体"/>
              </a:rPr>
              <a:t>“对公司中企业对企业电子商务的</a:t>
            </a:r>
            <a:r>
              <a:rPr dirty="0" sz="2200">
                <a:latin typeface="宋体"/>
                <a:cs typeface="宋体"/>
              </a:rPr>
              <a:t>当</a:t>
            </a:r>
            <a:r>
              <a:rPr dirty="0" sz="2200" spc="-5">
                <a:latin typeface="宋体"/>
                <a:cs typeface="宋体"/>
              </a:rPr>
              <a:t>前状</a:t>
            </a:r>
            <a:r>
              <a:rPr dirty="0" sz="2200">
                <a:latin typeface="宋体"/>
                <a:cs typeface="宋体"/>
              </a:rPr>
              <a:t>态</a:t>
            </a:r>
            <a:r>
              <a:rPr dirty="0" sz="2200" spc="-5">
                <a:latin typeface="宋体"/>
                <a:cs typeface="宋体"/>
              </a:rPr>
              <a:t>有何</a:t>
            </a:r>
            <a:r>
              <a:rPr dirty="0" sz="2200">
                <a:latin typeface="宋体"/>
                <a:cs typeface="宋体"/>
              </a:rPr>
              <a:t>看</a:t>
            </a:r>
            <a:r>
              <a:rPr dirty="0" sz="2200" spc="-5">
                <a:latin typeface="宋体"/>
                <a:cs typeface="宋体"/>
              </a:rPr>
              <a:t>法？”</a:t>
            </a:r>
            <a:endParaRPr sz="2200">
              <a:latin typeface="宋体"/>
              <a:cs typeface="宋体"/>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91689" y="14477"/>
            <a:ext cx="5448300" cy="1184275"/>
          </a:xfrm>
          <a:prstGeom prst="rect"/>
        </p:spPr>
        <p:txBody>
          <a:bodyPr wrap="square" lIns="0" tIns="12700" rIns="0" bIns="0" rtlCol="0" vert="horz">
            <a:spAutoFit/>
          </a:bodyPr>
          <a:lstStyle/>
          <a:p>
            <a:pPr marL="515620">
              <a:lnSpc>
                <a:spcPct val="100000"/>
              </a:lnSpc>
              <a:spcBef>
                <a:spcPts val="100"/>
              </a:spcBef>
            </a:pPr>
            <a:r>
              <a:rPr dirty="0" sz="3800">
                <a:latin typeface="Calibri"/>
                <a:cs typeface="Calibri"/>
              </a:rPr>
              <a:t>4.1.1</a:t>
            </a:r>
            <a:r>
              <a:rPr dirty="0" sz="3800" spc="-10">
                <a:latin typeface="Calibri"/>
                <a:cs typeface="Calibri"/>
              </a:rPr>
              <a:t> </a:t>
            </a:r>
            <a:r>
              <a:rPr dirty="0" sz="3800"/>
              <a:t>问题的类型</a:t>
            </a:r>
            <a:endParaRPr sz="3800">
              <a:latin typeface="Calibri"/>
              <a:cs typeface="Calibri"/>
            </a:endParaRPr>
          </a:p>
          <a:p>
            <a:pPr marL="12700">
              <a:lnSpc>
                <a:spcPct val="100000"/>
              </a:lnSpc>
              <a:spcBef>
                <a:spcPts val="5"/>
              </a:spcBef>
            </a:pPr>
            <a:r>
              <a:rPr dirty="0" sz="3800">
                <a:latin typeface="Arial"/>
                <a:cs typeface="Arial"/>
              </a:rPr>
              <a:t>——</a:t>
            </a:r>
            <a:r>
              <a:rPr dirty="0" sz="3800" spc="-254">
                <a:latin typeface="Arial"/>
                <a:cs typeface="Arial"/>
              </a:rPr>
              <a:t> </a:t>
            </a:r>
            <a:r>
              <a:rPr dirty="0" sz="3800"/>
              <a:t>开放式问题的优缺点</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58493"/>
            <a:ext cx="7886700" cy="4264025"/>
          </a:xfrm>
          <a:prstGeom prst="rect">
            <a:avLst/>
          </a:prstGeom>
        </p:spPr>
        <p:txBody>
          <a:bodyPr wrap="square" lIns="0" tIns="12700" rIns="0" bIns="0" rtlCol="0" vert="horz">
            <a:spAutoFit/>
          </a:bodyPr>
          <a:lstStyle/>
          <a:p>
            <a:pPr marL="355600" indent="-343535">
              <a:lnSpc>
                <a:spcPct val="100000"/>
              </a:lnSpc>
              <a:spcBef>
                <a:spcPts val="100"/>
              </a:spcBef>
              <a:buClr>
                <a:srgbClr val="00663B"/>
              </a:buClr>
              <a:buSzPct val="78571"/>
              <a:buFont typeface="Wingdings"/>
              <a:buChar char=""/>
              <a:tabLst>
                <a:tab pos="355600" algn="l"/>
                <a:tab pos="356235" algn="l"/>
              </a:tabLst>
            </a:pPr>
            <a:r>
              <a:rPr dirty="0" sz="2100" spc="-5">
                <a:latin typeface="宋体"/>
                <a:cs typeface="宋体"/>
              </a:rPr>
              <a:t>优点：</a:t>
            </a:r>
            <a:endParaRPr sz="2100">
              <a:latin typeface="宋体"/>
              <a:cs typeface="宋体"/>
            </a:endParaRPr>
          </a:p>
          <a:p>
            <a:pPr lvl="1" marL="756285" indent="-287020">
              <a:lnSpc>
                <a:spcPct val="100000"/>
              </a:lnSpc>
              <a:spcBef>
                <a:spcPts val="10"/>
              </a:spcBef>
              <a:buClr>
                <a:srgbClr val="C00000"/>
              </a:buClr>
              <a:buSzPct val="60000"/>
              <a:buFont typeface="Wingdings"/>
              <a:buChar char=""/>
              <a:tabLst>
                <a:tab pos="756285" algn="l"/>
                <a:tab pos="756920" algn="l"/>
              </a:tabLst>
            </a:pPr>
            <a:r>
              <a:rPr dirty="0" sz="2000">
                <a:latin typeface="宋体"/>
                <a:cs typeface="宋体"/>
              </a:rPr>
              <a:t>让被会见者感到自在；</a:t>
            </a:r>
            <a:endParaRPr sz="2000">
              <a:latin typeface="宋体"/>
              <a:cs typeface="宋体"/>
            </a:endParaRPr>
          </a:p>
          <a:p>
            <a:pPr lvl="1" marL="756285" marR="5080" indent="-287020">
              <a:lnSpc>
                <a:spcPct val="74000"/>
              </a:lnSpc>
              <a:spcBef>
                <a:spcPts val="765"/>
              </a:spcBef>
              <a:buClr>
                <a:srgbClr val="C00000"/>
              </a:buClr>
              <a:buSzPct val="60000"/>
              <a:buFont typeface="Wingdings"/>
              <a:buChar char=""/>
              <a:tabLst>
                <a:tab pos="756285" algn="l"/>
                <a:tab pos="756920" algn="l"/>
              </a:tabLst>
            </a:pPr>
            <a:r>
              <a:rPr dirty="0" sz="2000">
                <a:latin typeface="宋体"/>
                <a:cs typeface="宋体"/>
              </a:rPr>
              <a:t>会见者可以收集被会见</a:t>
            </a:r>
            <a:r>
              <a:rPr dirty="0" sz="2000" spc="-15">
                <a:latin typeface="宋体"/>
                <a:cs typeface="宋体"/>
              </a:rPr>
              <a:t>者</a:t>
            </a:r>
            <a:r>
              <a:rPr dirty="0" sz="2000">
                <a:latin typeface="宋体"/>
                <a:cs typeface="宋体"/>
              </a:rPr>
              <a:t>使用</a:t>
            </a:r>
            <a:r>
              <a:rPr dirty="0" sz="2000" spc="-15">
                <a:latin typeface="宋体"/>
                <a:cs typeface="宋体"/>
              </a:rPr>
              <a:t>的</a:t>
            </a:r>
            <a:r>
              <a:rPr dirty="0" sz="2000">
                <a:latin typeface="宋体"/>
                <a:cs typeface="宋体"/>
              </a:rPr>
              <a:t>词汇</a:t>
            </a:r>
            <a:r>
              <a:rPr dirty="0" sz="2000" spc="-15">
                <a:latin typeface="宋体"/>
                <a:cs typeface="宋体"/>
              </a:rPr>
              <a:t>，</a:t>
            </a:r>
            <a:r>
              <a:rPr dirty="0" sz="2000">
                <a:latin typeface="宋体"/>
                <a:cs typeface="宋体"/>
              </a:rPr>
              <a:t>这能</a:t>
            </a:r>
            <a:r>
              <a:rPr dirty="0" sz="2000" spc="-15">
                <a:latin typeface="宋体"/>
                <a:cs typeface="宋体"/>
              </a:rPr>
              <a:t>反</a:t>
            </a:r>
            <a:r>
              <a:rPr dirty="0" sz="2000">
                <a:latin typeface="宋体"/>
                <a:cs typeface="宋体"/>
              </a:rPr>
              <a:t>应他</a:t>
            </a:r>
            <a:r>
              <a:rPr dirty="0" sz="2000" spc="-15">
                <a:latin typeface="宋体"/>
                <a:cs typeface="宋体"/>
              </a:rPr>
              <a:t>的</a:t>
            </a:r>
            <a:r>
              <a:rPr dirty="0" sz="2000">
                <a:latin typeface="宋体"/>
                <a:cs typeface="宋体"/>
              </a:rPr>
              <a:t>教育</a:t>
            </a:r>
            <a:r>
              <a:rPr dirty="0" sz="2000" spc="-15">
                <a:latin typeface="宋体"/>
                <a:cs typeface="宋体"/>
              </a:rPr>
              <a:t>、</a:t>
            </a:r>
            <a:r>
              <a:rPr dirty="0" sz="2000">
                <a:latin typeface="宋体"/>
                <a:cs typeface="宋体"/>
              </a:rPr>
              <a:t>价值 标准、态度和信念；</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提供丰富的细节；</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对没采用的进一步的提</a:t>
            </a:r>
            <a:r>
              <a:rPr dirty="0" sz="2000" spc="-10">
                <a:latin typeface="宋体"/>
                <a:cs typeface="宋体"/>
              </a:rPr>
              <a:t>问</a:t>
            </a:r>
            <a:r>
              <a:rPr dirty="0" sz="2000">
                <a:latin typeface="宋体"/>
                <a:cs typeface="宋体"/>
              </a:rPr>
              <a:t>有启</a:t>
            </a:r>
            <a:r>
              <a:rPr dirty="0" sz="2000" spc="-10">
                <a:latin typeface="宋体"/>
                <a:cs typeface="宋体"/>
              </a:rPr>
              <a:t>迪</a:t>
            </a:r>
            <a:r>
              <a:rPr dirty="0" sz="2000">
                <a:latin typeface="宋体"/>
                <a:cs typeface="宋体"/>
              </a:rPr>
              <a:t>作用；</a:t>
            </a:r>
            <a:endParaRPr sz="2000">
              <a:latin typeface="宋体"/>
              <a:cs typeface="宋体"/>
            </a:endParaRPr>
          </a:p>
          <a:p>
            <a:pPr lvl="1" marL="756285" indent="-287020">
              <a:lnSpc>
                <a:spcPct val="100000"/>
              </a:lnSpc>
              <a:spcBef>
                <a:spcPts val="5"/>
              </a:spcBef>
              <a:buClr>
                <a:srgbClr val="C00000"/>
              </a:buClr>
              <a:buSzPct val="60000"/>
              <a:buFont typeface="Wingdings"/>
              <a:buChar char=""/>
              <a:tabLst>
                <a:tab pos="756285" algn="l"/>
                <a:tab pos="756920" algn="l"/>
              </a:tabLst>
            </a:pPr>
            <a:r>
              <a:rPr dirty="0" sz="2000">
                <a:latin typeface="宋体"/>
                <a:cs typeface="宋体"/>
              </a:rPr>
              <a:t>让被会见者更感兴趣；</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容许更多的自发性；</a:t>
            </a:r>
            <a:endParaRPr sz="2000">
              <a:latin typeface="宋体"/>
              <a:cs typeface="宋体"/>
            </a:endParaRPr>
          </a:p>
          <a:p>
            <a:pPr lvl="1" marL="756285" indent="-287020">
              <a:lnSpc>
                <a:spcPts val="2400"/>
              </a:lnSpc>
              <a:buClr>
                <a:srgbClr val="C00000"/>
              </a:buClr>
              <a:buSzPct val="60000"/>
              <a:buFont typeface="Wingdings"/>
              <a:buChar char=""/>
              <a:tabLst>
                <a:tab pos="756285" algn="l"/>
                <a:tab pos="756920" algn="l"/>
              </a:tabLst>
            </a:pPr>
            <a:r>
              <a:rPr dirty="0" sz="2000">
                <a:latin typeface="宋体"/>
                <a:cs typeface="宋体"/>
              </a:rPr>
              <a:t>会见者可以在没有太多</a:t>
            </a:r>
            <a:r>
              <a:rPr dirty="0" sz="2000" spc="-15">
                <a:latin typeface="宋体"/>
                <a:cs typeface="宋体"/>
              </a:rPr>
              <a:t>准</a:t>
            </a:r>
            <a:r>
              <a:rPr dirty="0" sz="2000">
                <a:latin typeface="宋体"/>
                <a:cs typeface="宋体"/>
              </a:rPr>
              <a:t>备的</a:t>
            </a:r>
            <a:r>
              <a:rPr dirty="0" sz="2000" spc="-15">
                <a:latin typeface="宋体"/>
                <a:cs typeface="宋体"/>
              </a:rPr>
              <a:t>情</a:t>
            </a:r>
            <a:r>
              <a:rPr dirty="0" sz="2000">
                <a:latin typeface="宋体"/>
                <a:cs typeface="宋体"/>
              </a:rPr>
              <a:t>况下</a:t>
            </a:r>
            <a:r>
              <a:rPr dirty="0" sz="2000" spc="-15">
                <a:latin typeface="宋体"/>
                <a:cs typeface="宋体"/>
              </a:rPr>
              <a:t>进</a:t>
            </a:r>
            <a:r>
              <a:rPr dirty="0" sz="2000">
                <a:latin typeface="宋体"/>
                <a:cs typeface="宋体"/>
              </a:rPr>
              <a:t>行面</a:t>
            </a:r>
            <a:r>
              <a:rPr dirty="0" sz="2000" spc="-15">
                <a:latin typeface="宋体"/>
                <a:cs typeface="宋体"/>
              </a:rPr>
              <a:t>谈</a:t>
            </a:r>
            <a:r>
              <a:rPr dirty="0" sz="2000">
                <a:latin typeface="宋体"/>
                <a:cs typeface="宋体"/>
              </a:rPr>
              <a:t>。</a:t>
            </a:r>
            <a:endParaRPr sz="2000">
              <a:latin typeface="宋体"/>
              <a:cs typeface="宋体"/>
            </a:endParaRPr>
          </a:p>
          <a:p>
            <a:pPr marL="355600" indent="-343535">
              <a:lnSpc>
                <a:spcPts val="2520"/>
              </a:lnSpc>
              <a:buClr>
                <a:srgbClr val="00663B"/>
              </a:buClr>
              <a:buSzPct val="78571"/>
              <a:buFont typeface="Wingdings"/>
              <a:buChar char=""/>
              <a:tabLst>
                <a:tab pos="355600" algn="l"/>
                <a:tab pos="356235" algn="l"/>
              </a:tabLst>
            </a:pPr>
            <a:r>
              <a:rPr dirty="0" sz="2100">
                <a:latin typeface="宋体"/>
                <a:cs typeface="宋体"/>
              </a:rPr>
              <a:t>缺点：</a:t>
            </a:r>
            <a:endParaRPr sz="21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提此类问题可能会产生</a:t>
            </a:r>
            <a:r>
              <a:rPr dirty="0" sz="2000" spc="-10">
                <a:latin typeface="宋体"/>
                <a:cs typeface="宋体"/>
              </a:rPr>
              <a:t>太</a:t>
            </a:r>
            <a:r>
              <a:rPr dirty="0" sz="2000">
                <a:latin typeface="宋体"/>
                <a:cs typeface="宋体"/>
              </a:rPr>
              <a:t>多不</a:t>
            </a:r>
            <a:r>
              <a:rPr dirty="0" sz="2000" spc="-10">
                <a:latin typeface="宋体"/>
                <a:cs typeface="宋体"/>
              </a:rPr>
              <a:t>相</a:t>
            </a:r>
            <a:r>
              <a:rPr dirty="0" sz="2000">
                <a:latin typeface="宋体"/>
                <a:cs typeface="宋体"/>
              </a:rPr>
              <a:t>干的</a:t>
            </a:r>
            <a:r>
              <a:rPr dirty="0" sz="2000" spc="-10">
                <a:latin typeface="宋体"/>
                <a:cs typeface="宋体"/>
              </a:rPr>
              <a:t>细</a:t>
            </a:r>
            <a:r>
              <a:rPr dirty="0" sz="2000">
                <a:latin typeface="宋体"/>
                <a:cs typeface="宋体"/>
              </a:rPr>
              <a:t>节；</a:t>
            </a:r>
            <a:endParaRPr sz="2000">
              <a:latin typeface="宋体"/>
              <a:cs typeface="宋体"/>
            </a:endParaRPr>
          </a:p>
          <a:p>
            <a:pPr lvl="1" marL="756285" indent="-287020">
              <a:lnSpc>
                <a:spcPct val="100000"/>
              </a:lnSpc>
              <a:spcBef>
                <a:spcPts val="5"/>
              </a:spcBef>
              <a:buClr>
                <a:srgbClr val="C00000"/>
              </a:buClr>
              <a:buSzPct val="60000"/>
              <a:buFont typeface="Wingdings"/>
              <a:buChar char=""/>
              <a:tabLst>
                <a:tab pos="756285" algn="l"/>
                <a:tab pos="756920" algn="l"/>
              </a:tabLst>
            </a:pPr>
            <a:r>
              <a:rPr dirty="0" sz="2000">
                <a:latin typeface="宋体"/>
                <a:cs typeface="宋体"/>
              </a:rPr>
              <a:t>面谈可能失控；</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开放式的回答会花费大</a:t>
            </a:r>
            <a:r>
              <a:rPr dirty="0" sz="2000" spc="-15">
                <a:latin typeface="宋体"/>
                <a:cs typeface="宋体"/>
              </a:rPr>
              <a:t>量</a:t>
            </a:r>
            <a:r>
              <a:rPr dirty="0" sz="2000">
                <a:latin typeface="宋体"/>
                <a:cs typeface="宋体"/>
              </a:rPr>
              <a:t>的时</a:t>
            </a:r>
            <a:r>
              <a:rPr dirty="0" sz="2000" spc="-15">
                <a:latin typeface="宋体"/>
                <a:cs typeface="宋体"/>
              </a:rPr>
              <a:t>间</a:t>
            </a:r>
            <a:r>
              <a:rPr dirty="0" sz="2000">
                <a:latin typeface="宋体"/>
                <a:cs typeface="宋体"/>
              </a:rPr>
              <a:t>才能</a:t>
            </a:r>
            <a:r>
              <a:rPr dirty="0" sz="2000" spc="-15">
                <a:latin typeface="宋体"/>
                <a:cs typeface="宋体"/>
              </a:rPr>
              <a:t>获</a:t>
            </a:r>
            <a:r>
              <a:rPr dirty="0" sz="2000">
                <a:latin typeface="宋体"/>
                <a:cs typeface="宋体"/>
              </a:rPr>
              <a:t>得有</a:t>
            </a:r>
            <a:r>
              <a:rPr dirty="0" sz="2000" spc="-15">
                <a:latin typeface="宋体"/>
                <a:cs typeface="宋体"/>
              </a:rPr>
              <a:t>用</a:t>
            </a:r>
            <a:r>
              <a:rPr dirty="0" sz="2000">
                <a:latin typeface="宋体"/>
                <a:cs typeface="宋体"/>
              </a:rPr>
              <a:t>的信</a:t>
            </a:r>
            <a:r>
              <a:rPr dirty="0" sz="2000" spc="-15">
                <a:latin typeface="宋体"/>
                <a:cs typeface="宋体"/>
              </a:rPr>
              <a:t>息</a:t>
            </a:r>
            <a:r>
              <a:rPr dirty="0" sz="2000">
                <a:latin typeface="宋体"/>
                <a:cs typeface="宋体"/>
              </a:rPr>
              <a:t>量；</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可能会使会见者看上去</a:t>
            </a:r>
            <a:r>
              <a:rPr dirty="0" sz="2000" spc="-15">
                <a:latin typeface="宋体"/>
                <a:cs typeface="宋体"/>
              </a:rPr>
              <a:t>没</a:t>
            </a:r>
            <a:r>
              <a:rPr dirty="0" sz="2000">
                <a:latin typeface="宋体"/>
                <a:cs typeface="宋体"/>
              </a:rPr>
              <a:t>有准</a:t>
            </a:r>
            <a:r>
              <a:rPr dirty="0" sz="2000" spc="-15">
                <a:latin typeface="宋体"/>
                <a:cs typeface="宋体"/>
              </a:rPr>
              <a:t>备</a:t>
            </a:r>
            <a:r>
              <a:rPr dirty="0" sz="2000">
                <a:latin typeface="宋体"/>
                <a:cs typeface="宋体"/>
              </a:rPr>
              <a:t>。</a:t>
            </a:r>
            <a:endParaRPr sz="2000">
              <a:latin typeface="宋体"/>
              <a:cs typeface="宋体"/>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3223" y="0"/>
            <a:ext cx="3925570" cy="1184910"/>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4.1.1</a:t>
            </a:r>
            <a:r>
              <a:rPr dirty="0" sz="3800" spc="-30">
                <a:latin typeface="Calibri"/>
                <a:cs typeface="Calibri"/>
              </a:rPr>
              <a:t> </a:t>
            </a:r>
            <a:r>
              <a:rPr dirty="0" sz="3800" spc="5"/>
              <a:t>问题的类型</a:t>
            </a:r>
            <a:endParaRPr sz="3800">
              <a:latin typeface="Calibri"/>
              <a:cs typeface="Calibri"/>
            </a:endParaRPr>
          </a:p>
          <a:p>
            <a:pPr algn="ctr" marL="517525">
              <a:lnSpc>
                <a:spcPct val="100000"/>
              </a:lnSpc>
            </a:pPr>
            <a:r>
              <a:rPr dirty="0" sz="3800">
                <a:latin typeface="Arial"/>
                <a:cs typeface="Arial"/>
              </a:rPr>
              <a:t>——</a:t>
            </a:r>
            <a:r>
              <a:rPr dirty="0" sz="3800"/>
              <a:t>封闭式问题</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459740" y="1455381"/>
            <a:ext cx="8543925" cy="3906520"/>
          </a:xfrm>
          <a:prstGeom prst="rect">
            <a:avLst/>
          </a:prstGeom>
        </p:spPr>
        <p:txBody>
          <a:bodyPr wrap="square" lIns="0" tIns="98425" rIns="0" bIns="0" rtlCol="0" vert="horz">
            <a:spAutoFit/>
          </a:bodyPr>
          <a:lstStyle/>
          <a:p>
            <a:pPr marL="355600" indent="-342900">
              <a:lnSpc>
                <a:spcPct val="100000"/>
              </a:lnSpc>
              <a:spcBef>
                <a:spcPts val="775"/>
              </a:spcBef>
              <a:buClr>
                <a:srgbClr val="00663B"/>
              </a:buClr>
              <a:buSzPct val="80357"/>
              <a:buFont typeface="Wingdings"/>
              <a:buChar char=""/>
              <a:tabLst>
                <a:tab pos="354965" algn="l"/>
                <a:tab pos="355600" algn="l"/>
              </a:tabLst>
            </a:pPr>
            <a:r>
              <a:rPr dirty="0" sz="2800" spc="-5">
                <a:latin typeface="宋体"/>
                <a:cs typeface="宋体"/>
              </a:rPr>
              <a:t>答案有基本的形式，被会见者的回</a:t>
            </a:r>
            <a:r>
              <a:rPr dirty="0" sz="2800">
                <a:latin typeface="宋体"/>
                <a:cs typeface="宋体"/>
              </a:rPr>
              <a:t>答</a:t>
            </a:r>
            <a:r>
              <a:rPr dirty="0" sz="2800" spc="-35">
                <a:latin typeface="宋体"/>
                <a:cs typeface="宋体"/>
              </a:rPr>
              <a:t>是</a:t>
            </a:r>
            <a:r>
              <a:rPr dirty="0" sz="2800" spc="-5">
                <a:solidFill>
                  <a:srgbClr val="00A15F"/>
                </a:solidFill>
                <a:latin typeface="宋体"/>
                <a:cs typeface="宋体"/>
              </a:rPr>
              <a:t>受到限制</a:t>
            </a:r>
            <a:r>
              <a:rPr dirty="0" sz="2800" spc="-5">
                <a:latin typeface="宋体"/>
                <a:cs typeface="宋体"/>
              </a:rPr>
              <a:t>的</a:t>
            </a:r>
            <a:endParaRPr sz="2800">
              <a:latin typeface="宋体"/>
              <a:cs typeface="宋体"/>
            </a:endParaRPr>
          </a:p>
          <a:p>
            <a:pPr marL="355600" indent="-342900">
              <a:lnSpc>
                <a:spcPct val="100000"/>
              </a:lnSpc>
              <a:spcBef>
                <a:spcPts val="675"/>
              </a:spcBef>
              <a:buClr>
                <a:srgbClr val="00663B"/>
              </a:buClr>
              <a:buSzPct val="80357"/>
              <a:buFont typeface="Wingdings"/>
              <a:buChar char=""/>
              <a:tabLst>
                <a:tab pos="354965" algn="l"/>
                <a:tab pos="355600" algn="l"/>
              </a:tabLst>
            </a:pPr>
            <a:r>
              <a:rPr dirty="0" sz="2800" spc="-5">
                <a:latin typeface="宋体"/>
                <a:cs typeface="宋体"/>
              </a:rPr>
              <a:t>例如：</a:t>
            </a:r>
            <a:endParaRPr sz="2800">
              <a:latin typeface="宋体"/>
              <a:cs typeface="宋体"/>
            </a:endParaRPr>
          </a:p>
          <a:p>
            <a:pPr lvl="1" marL="756285" indent="-287020">
              <a:lnSpc>
                <a:spcPct val="100000"/>
              </a:lnSpc>
              <a:spcBef>
                <a:spcPts val="595"/>
              </a:spcBef>
              <a:buClr>
                <a:srgbClr val="C00000"/>
              </a:buClr>
              <a:buSzPct val="60416"/>
              <a:buFont typeface="Wingdings"/>
              <a:buChar char=""/>
              <a:tabLst>
                <a:tab pos="756285" algn="l"/>
                <a:tab pos="756920" algn="l"/>
              </a:tabLst>
            </a:pPr>
            <a:r>
              <a:rPr dirty="0" sz="2400">
                <a:latin typeface="宋体"/>
                <a:cs typeface="宋体"/>
              </a:rPr>
              <a:t>“项目存储库每个星期更新多少次？”</a:t>
            </a:r>
            <a:endParaRPr sz="2400">
              <a:latin typeface="宋体"/>
              <a:cs typeface="宋体"/>
            </a:endParaRPr>
          </a:p>
          <a:p>
            <a:pPr lvl="1" marL="756285" indent="-287020">
              <a:lnSpc>
                <a:spcPct val="100000"/>
              </a:lnSpc>
              <a:spcBef>
                <a:spcPts val="575"/>
              </a:spcBef>
              <a:buClr>
                <a:srgbClr val="C00000"/>
              </a:buClr>
              <a:buSzPct val="60416"/>
              <a:buFont typeface="Wingdings"/>
              <a:buChar char=""/>
              <a:tabLst>
                <a:tab pos="756285" algn="l"/>
                <a:tab pos="756920" algn="l"/>
              </a:tabLst>
            </a:pPr>
            <a:r>
              <a:rPr dirty="0" sz="2400" spc="-5">
                <a:latin typeface="宋体"/>
                <a:cs typeface="宋体"/>
              </a:rPr>
              <a:t>“电话中心一个月平均收到多少个电话？”</a:t>
            </a:r>
            <a:endParaRPr sz="2400">
              <a:latin typeface="宋体"/>
              <a:cs typeface="宋体"/>
            </a:endParaRPr>
          </a:p>
          <a:p>
            <a:pPr lvl="1" marL="756285" indent="-287020">
              <a:lnSpc>
                <a:spcPct val="100000"/>
              </a:lnSpc>
              <a:spcBef>
                <a:spcPts val="580"/>
              </a:spcBef>
              <a:buClr>
                <a:srgbClr val="C00000"/>
              </a:buClr>
              <a:buSzPct val="60416"/>
              <a:buFont typeface="Wingdings"/>
              <a:buChar char=""/>
              <a:tabLst>
                <a:tab pos="756285" algn="l"/>
                <a:tab pos="756920" algn="l"/>
              </a:tabLst>
            </a:pPr>
            <a:r>
              <a:rPr dirty="0" sz="2400">
                <a:latin typeface="宋体"/>
                <a:cs typeface="宋体"/>
              </a:rPr>
              <a:t>“下列信息中哪个对你最有用：（</a:t>
            </a:r>
            <a:r>
              <a:rPr dirty="0" sz="2400" spc="-5">
                <a:latin typeface="Calibri"/>
                <a:cs typeface="Calibri"/>
              </a:rPr>
              <a:t>1</a:t>
            </a:r>
            <a:r>
              <a:rPr dirty="0" sz="2400">
                <a:latin typeface="宋体"/>
                <a:cs typeface="宋体"/>
              </a:rPr>
              <a:t>）填好的客户投诉单；</a:t>
            </a:r>
            <a:endParaRPr sz="2400">
              <a:latin typeface="宋体"/>
              <a:cs typeface="宋体"/>
            </a:endParaRPr>
          </a:p>
          <a:p>
            <a:pPr marL="756285" marR="234315">
              <a:lnSpc>
                <a:spcPct val="100000"/>
              </a:lnSpc>
            </a:pPr>
            <a:r>
              <a:rPr dirty="0" sz="2400" spc="-5">
                <a:latin typeface="宋体"/>
                <a:cs typeface="宋体"/>
              </a:rPr>
              <a:t>（</a:t>
            </a:r>
            <a:r>
              <a:rPr dirty="0" sz="2400" spc="-5">
                <a:latin typeface="Calibri"/>
                <a:cs typeface="Calibri"/>
              </a:rPr>
              <a:t>2</a:t>
            </a:r>
            <a:r>
              <a:rPr dirty="0" sz="2400">
                <a:latin typeface="宋体"/>
                <a:cs typeface="宋体"/>
              </a:rPr>
              <a:t>）访问</a:t>
            </a:r>
            <a:r>
              <a:rPr dirty="0" sz="2400">
                <a:latin typeface="Calibri"/>
                <a:cs typeface="Calibri"/>
              </a:rPr>
              <a:t>w</a:t>
            </a:r>
            <a:r>
              <a:rPr dirty="0" sz="2400" spc="5">
                <a:latin typeface="Calibri"/>
                <a:cs typeface="Calibri"/>
              </a:rPr>
              <a:t>e</a:t>
            </a:r>
            <a:r>
              <a:rPr dirty="0" sz="2400">
                <a:latin typeface="Calibri"/>
                <a:cs typeface="Calibri"/>
              </a:rPr>
              <a:t>b</a:t>
            </a:r>
            <a:r>
              <a:rPr dirty="0" sz="2400">
                <a:latin typeface="宋体"/>
                <a:cs typeface="宋体"/>
              </a:rPr>
              <a:t>站点的客户的电子邮件投诉；</a:t>
            </a:r>
            <a:r>
              <a:rPr dirty="0" sz="2400" spc="5">
                <a:latin typeface="宋体"/>
                <a:cs typeface="宋体"/>
              </a:rPr>
              <a:t>（</a:t>
            </a:r>
            <a:r>
              <a:rPr dirty="0" sz="2400" spc="-5">
                <a:latin typeface="Calibri"/>
                <a:cs typeface="Calibri"/>
              </a:rPr>
              <a:t>3</a:t>
            </a:r>
            <a:r>
              <a:rPr dirty="0" sz="2400">
                <a:latin typeface="宋体"/>
                <a:cs typeface="宋体"/>
              </a:rPr>
              <a:t>）与客户 面对面的交流</a:t>
            </a:r>
            <a:r>
              <a:rPr dirty="0" sz="2400" spc="-5">
                <a:latin typeface="宋体"/>
                <a:cs typeface="宋体"/>
              </a:rPr>
              <a:t>；（</a:t>
            </a:r>
            <a:r>
              <a:rPr dirty="0" sz="2400" spc="-5">
                <a:latin typeface="Calibri"/>
                <a:cs typeface="Calibri"/>
              </a:rPr>
              <a:t>4</a:t>
            </a:r>
            <a:r>
              <a:rPr dirty="0" sz="2400" spc="-5">
                <a:latin typeface="宋体"/>
                <a:cs typeface="宋体"/>
              </a:rPr>
              <a:t>）</a:t>
            </a:r>
            <a:r>
              <a:rPr dirty="0" sz="2400">
                <a:latin typeface="宋体"/>
                <a:cs typeface="宋体"/>
              </a:rPr>
              <a:t>退回的货物。”</a:t>
            </a:r>
            <a:endParaRPr sz="2400">
              <a:latin typeface="宋体"/>
              <a:cs typeface="宋体"/>
            </a:endParaRPr>
          </a:p>
          <a:p>
            <a:pPr lvl="1" marL="756285" indent="-287020">
              <a:lnSpc>
                <a:spcPts val="2790"/>
              </a:lnSpc>
              <a:spcBef>
                <a:spcPts val="755"/>
              </a:spcBef>
              <a:buClr>
                <a:srgbClr val="C00000"/>
              </a:buClr>
              <a:buSzPct val="60416"/>
              <a:buFont typeface="Wingdings"/>
              <a:buChar char=""/>
              <a:tabLst>
                <a:tab pos="756285" algn="l"/>
                <a:tab pos="756920" algn="l"/>
              </a:tabLst>
            </a:pPr>
            <a:r>
              <a:rPr dirty="0" sz="2400" spc="-5">
                <a:latin typeface="宋体"/>
                <a:cs typeface="宋体"/>
              </a:rPr>
              <a:t>“列出头两项需要优先考虑的改善技术基础设施的事</a:t>
            </a:r>
            <a:endParaRPr sz="2400">
              <a:latin typeface="宋体"/>
              <a:cs typeface="宋体"/>
            </a:endParaRPr>
          </a:p>
          <a:p>
            <a:pPr marL="756285">
              <a:lnSpc>
                <a:spcPts val="2790"/>
              </a:lnSpc>
            </a:pPr>
            <a:r>
              <a:rPr dirty="0" sz="2400">
                <a:latin typeface="宋体"/>
                <a:cs typeface="宋体"/>
              </a:rPr>
              <a:t>项。”</a:t>
            </a:r>
            <a:endParaRPr sz="2400">
              <a:latin typeface="宋体"/>
              <a:cs typeface="宋体"/>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59532" y="48006"/>
            <a:ext cx="5340350" cy="1184910"/>
          </a:xfrm>
          <a:prstGeom prst="rect"/>
        </p:spPr>
        <p:txBody>
          <a:bodyPr wrap="square" lIns="0" tIns="12700" rIns="0" bIns="0" rtlCol="0" vert="horz">
            <a:spAutoFit/>
          </a:bodyPr>
          <a:lstStyle/>
          <a:p>
            <a:pPr marL="461009">
              <a:lnSpc>
                <a:spcPct val="100000"/>
              </a:lnSpc>
              <a:spcBef>
                <a:spcPts val="100"/>
              </a:spcBef>
            </a:pPr>
            <a:r>
              <a:rPr dirty="0" sz="3800">
                <a:latin typeface="Calibri"/>
                <a:cs typeface="Calibri"/>
              </a:rPr>
              <a:t>4.1.1</a:t>
            </a:r>
            <a:r>
              <a:rPr dirty="0" sz="3800" spc="-10">
                <a:latin typeface="Calibri"/>
                <a:cs typeface="Calibri"/>
              </a:rPr>
              <a:t> </a:t>
            </a:r>
            <a:r>
              <a:rPr dirty="0" sz="3800"/>
              <a:t>问题的类型</a:t>
            </a:r>
            <a:endParaRPr sz="3800">
              <a:latin typeface="Calibri"/>
              <a:cs typeface="Calibri"/>
            </a:endParaRPr>
          </a:p>
          <a:p>
            <a:pPr marL="12700">
              <a:lnSpc>
                <a:spcPct val="100000"/>
              </a:lnSpc>
              <a:spcBef>
                <a:spcPts val="5"/>
              </a:spcBef>
            </a:pPr>
            <a:r>
              <a:rPr dirty="0" sz="3800">
                <a:latin typeface="Arial"/>
                <a:cs typeface="Arial"/>
              </a:rPr>
              <a:t>——</a:t>
            </a:r>
            <a:r>
              <a:rPr dirty="0" sz="3800"/>
              <a:t>封闭式问题的优缺点</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35237"/>
            <a:ext cx="4674235" cy="4224020"/>
          </a:xfrm>
          <a:prstGeom prst="rect">
            <a:avLst/>
          </a:prstGeom>
        </p:spPr>
        <p:txBody>
          <a:bodyPr wrap="square" lIns="0" tIns="56515" rIns="0" bIns="0" rtlCol="0" vert="horz">
            <a:spAutoFit/>
          </a:bodyPr>
          <a:lstStyle/>
          <a:p>
            <a:pPr marL="355600" indent="-343535">
              <a:lnSpc>
                <a:spcPct val="100000"/>
              </a:lnSpc>
              <a:spcBef>
                <a:spcPts val="445"/>
              </a:spcBef>
              <a:buClr>
                <a:srgbClr val="00663B"/>
              </a:buClr>
              <a:buSzPct val="78846"/>
              <a:buFont typeface="Wingdings"/>
              <a:buChar char=""/>
              <a:tabLst>
                <a:tab pos="355600" algn="l"/>
                <a:tab pos="356235" algn="l"/>
              </a:tabLst>
            </a:pPr>
            <a:r>
              <a:rPr dirty="0" sz="2600">
                <a:latin typeface="宋体"/>
                <a:cs typeface="宋体"/>
              </a:rPr>
              <a:t>优点：</a:t>
            </a:r>
            <a:endParaRPr sz="2600">
              <a:latin typeface="宋体"/>
              <a:cs typeface="宋体"/>
            </a:endParaRPr>
          </a:p>
          <a:p>
            <a:pPr lvl="1" marL="756285" indent="-287020">
              <a:lnSpc>
                <a:spcPct val="100000"/>
              </a:lnSpc>
              <a:spcBef>
                <a:spcPts val="280"/>
              </a:spcBef>
              <a:buClr>
                <a:srgbClr val="C00000"/>
              </a:buClr>
              <a:buSzPct val="59090"/>
              <a:buFont typeface="Wingdings"/>
              <a:buChar char=""/>
              <a:tabLst>
                <a:tab pos="756285" algn="l"/>
                <a:tab pos="756920" algn="l"/>
              </a:tabLst>
            </a:pPr>
            <a:r>
              <a:rPr dirty="0" sz="2200" spc="-5">
                <a:latin typeface="宋体"/>
                <a:cs typeface="宋体"/>
              </a:rPr>
              <a:t>节省时间；</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切中要点；</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保持对面谈的控制；</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10">
                <a:latin typeface="宋体"/>
                <a:cs typeface="宋体"/>
              </a:rPr>
              <a:t>快速探讨大范围问题；</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得到贴切的数据</a:t>
            </a:r>
            <a:endParaRPr sz="2200">
              <a:latin typeface="宋体"/>
              <a:cs typeface="宋体"/>
            </a:endParaRPr>
          </a:p>
          <a:p>
            <a:pPr marL="355600" indent="-343535">
              <a:lnSpc>
                <a:spcPct val="100000"/>
              </a:lnSpc>
              <a:spcBef>
                <a:spcPts val="295"/>
              </a:spcBef>
              <a:buClr>
                <a:srgbClr val="00663B"/>
              </a:buClr>
              <a:buSzPct val="78846"/>
              <a:buFont typeface="Wingdings"/>
              <a:buChar char=""/>
              <a:tabLst>
                <a:tab pos="355600" algn="l"/>
                <a:tab pos="356235" algn="l"/>
              </a:tabLst>
            </a:pPr>
            <a:r>
              <a:rPr dirty="0" sz="2600">
                <a:latin typeface="宋体"/>
                <a:cs typeface="宋体"/>
              </a:rPr>
              <a:t>缺点：</a:t>
            </a:r>
            <a:endParaRPr sz="2600">
              <a:latin typeface="宋体"/>
              <a:cs typeface="宋体"/>
            </a:endParaRPr>
          </a:p>
          <a:p>
            <a:pPr lvl="1" marL="756285" indent="-287020">
              <a:lnSpc>
                <a:spcPct val="100000"/>
              </a:lnSpc>
              <a:spcBef>
                <a:spcPts val="280"/>
              </a:spcBef>
              <a:buClr>
                <a:srgbClr val="C00000"/>
              </a:buClr>
              <a:buSzPct val="59090"/>
              <a:buFont typeface="Wingdings"/>
              <a:buChar char=""/>
              <a:tabLst>
                <a:tab pos="756285" algn="l"/>
                <a:tab pos="756920" algn="l"/>
              </a:tabLst>
            </a:pPr>
            <a:r>
              <a:rPr dirty="0" sz="2200" spc="-5">
                <a:latin typeface="宋体"/>
                <a:cs typeface="宋体"/>
              </a:rPr>
              <a:t>使得被会见者厌烦；</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10">
                <a:latin typeface="宋体"/>
                <a:cs typeface="宋体"/>
              </a:rPr>
              <a:t>得不到丰富的细节；</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出于上述原因，失去主要思想；</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不能建立和面谈者的友好关系。</a:t>
            </a:r>
            <a:endParaRPr sz="2200">
              <a:latin typeface="宋体"/>
              <a:cs typeface="宋体"/>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23191" y="1209276"/>
            <a:ext cx="3351529" cy="662305"/>
          </a:xfrm>
          <a:custGeom>
            <a:avLst/>
            <a:gdLst/>
            <a:ahLst/>
            <a:cxnLst/>
            <a:rect l="l" t="t" r="r" b="b"/>
            <a:pathLst>
              <a:path w="3351529" h="662305">
                <a:moveTo>
                  <a:pt x="335172" y="0"/>
                </a:moveTo>
                <a:lnTo>
                  <a:pt x="0" y="330799"/>
                </a:lnTo>
                <a:lnTo>
                  <a:pt x="335172" y="661765"/>
                </a:lnTo>
                <a:lnTo>
                  <a:pt x="335172" y="443344"/>
                </a:lnTo>
                <a:lnTo>
                  <a:pt x="3237212" y="443344"/>
                </a:lnTo>
                <a:lnTo>
                  <a:pt x="3351153" y="330799"/>
                </a:lnTo>
                <a:lnTo>
                  <a:pt x="3237323" y="218420"/>
                </a:lnTo>
                <a:lnTo>
                  <a:pt x="335172" y="218420"/>
                </a:lnTo>
                <a:lnTo>
                  <a:pt x="335172" y="0"/>
                </a:lnTo>
                <a:close/>
              </a:path>
              <a:path w="3351529" h="662305">
                <a:moveTo>
                  <a:pt x="3237212" y="443344"/>
                </a:moveTo>
                <a:lnTo>
                  <a:pt x="3016081" y="443344"/>
                </a:lnTo>
                <a:lnTo>
                  <a:pt x="3016081" y="661765"/>
                </a:lnTo>
                <a:lnTo>
                  <a:pt x="3237212" y="443344"/>
                </a:lnTo>
                <a:close/>
              </a:path>
              <a:path w="3351529" h="662305">
                <a:moveTo>
                  <a:pt x="3016081" y="0"/>
                </a:moveTo>
                <a:lnTo>
                  <a:pt x="3016081" y="218420"/>
                </a:lnTo>
                <a:lnTo>
                  <a:pt x="3237323" y="218420"/>
                </a:lnTo>
                <a:lnTo>
                  <a:pt x="3016081" y="0"/>
                </a:lnTo>
                <a:close/>
              </a:path>
            </a:pathLst>
          </a:custGeom>
          <a:solidFill>
            <a:srgbClr val="E8EDF7"/>
          </a:solidFill>
        </p:spPr>
        <p:txBody>
          <a:bodyPr wrap="square" lIns="0" tIns="0" rIns="0" bIns="0" rtlCol="0"/>
          <a:lstStyle/>
          <a:p/>
        </p:txBody>
      </p:sp>
      <p:sp>
        <p:nvSpPr>
          <p:cNvPr id="3" name="object 3"/>
          <p:cNvSpPr/>
          <p:nvPr/>
        </p:nvSpPr>
        <p:spPr>
          <a:xfrm>
            <a:off x="2623191" y="1209276"/>
            <a:ext cx="3351529" cy="662305"/>
          </a:xfrm>
          <a:custGeom>
            <a:avLst/>
            <a:gdLst/>
            <a:ahLst/>
            <a:cxnLst/>
            <a:rect l="l" t="t" r="r" b="b"/>
            <a:pathLst>
              <a:path w="3351529" h="662305">
                <a:moveTo>
                  <a:pt x="0" y="330799"/>
                </a:moveTo>
                <a:lnTo>
                  <a:pt x="335172" y="0"/>
                </a:lnTo>
                <a:lnTo>
                  <a:pt x="335172" y="218420"/>
                </a:lnTo>
                <a:lnTo>
                  <a:pt x="3016082" y="218420"/>
                </a:lnTo>
                <a:lnTo>
                  <a:pt x="3016082" y="0"/>
                </a:lnTo>
                <a:lnTo>
                  <a:pt x="3351153" y="330799"/>
                </a:lnTo>
                <a:lnTo>
                  <a:pt x="3016082" y="661765"/>
                </a:lnTo>
                <a:lnTo>
                  <a:pt x="3016082" y="443344"/>
                </a:lnTo>
                <a:lnTo>
                  <a:pt x="335172" y="443344"/>
                </a:lnTo>
                <a:lnTo>
                  <a:pt x="335172" y="661765"/>
                </a:lnTo>
                <a:lnTo>
                  <a:pt x="0" y="330799"/>
                </a:lnTo>
                <a:close/>
              </a:path>
            </a:pathLst>
          </a:custGeom>
          <a:ln w="4003">
            <a:solidFill>
              <a:srgbClr val="000000"/>
            </a:solidFill>
          </a:ln>
        </p:spPr>
        <p:txBody>
          <a:bodyPr wrap="square" lIns="0" tIns="0" rIns="0" bIns="0" rtlCol="0"/>
          <a:lstStyle/>
          <a:p/>
        </p:txBody>
      </p:sp>
      <p:sp>
        <p:nvSpPr>
          <p:cNvPr id="4" name="object 4"/>
          <p:cNvSpPr txBox="1"/>
          <p:nvPr/>
        </p:nvSpPr>
        <p:spPr>
          <a:xfrm>
            <a:off x="3678295" y="1393151"/>
            <a:ext cx="1241425" cy="266065"/>
          </a:xfrm>
          <a:prstGeom prst="rect">
            <a:avLst/>
          </a:prstGeom>
        </p:spPr>
        <p:txBody>
          <a:bodyPr wrap="square" lIns="0" tIns="15875" rIns="0" bIns="0" rtlCol="0" vert="horz">
            <a:spAutoFit/>
          </a:bodyPr>
          <a:lstStyle/>
          <a:p>
            <a:pPr marL="12700">
              <a:lnSpc>
                <a:spcPct val="100000"/>
              </a:lnSpc>
              <a:spcBef>
                <a:spcPts val="125"/>
              </a:spcBef>
            </a:pPr>
            <a:r>
              <a:rPr dirty="0" sz="1550" spc="45">
                <a:latin typeface="宋体"/>
                <a:cs typeface="宋体"/>
              </a:rPr>
              <a:t>数据的可靠性</a:t>
            </a:r>
            <a:endParaRPr sz="1550">
              <a:latin typeface="宋体"/>
              <a:cs typeface="宋体"/>
            </a:endParaRPr>
          </a:p>
        </p:txBody>
      </p:sp>
      <p:sp>
        <p:nvSpPr>
          <p:cNvPr id="5" name="object 5"/>
          <p:cNvSpPr txBox="1"/>
          <p:nvPr/>
        </p:nvSpPr>
        <p:spPr>
          <a:xfrm>
            <a:off x="1149299" y="331068"/>
            <a:ext cx="1207770"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开放式问题</a:t>
            </a:r>
            <a:endParaRPr sz="1800">
              <a:latin typeface="宋体"/>
              <a:cs typeface="宋体"/>
            </a:endParaRPr>
          </a:p>
        </p:txBody>
      </p:sp>
      <p:sp>
        <p:nvSpPr>
          <p:cNvPr id="6" name="object 6"/>
          <p:cNvSpPr txBox="1"/>
          <p:nvPr/>
        </p:nvSpPr>
        <p:spPr>
          <a:xfrm>
            <a:off x="6088648" y="322564"/>
            <a:ext cx="1207770"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封闭式问题</a:t>
            </a:r>
            <a:endParaRPr sz="1800">
              <a:latin typeface="宋体"/>
              <a:cs typeface="宋体"/>
            </a:endParaRPr>
          </a:p>
        </p:txBody>
      </p:sp>
      <p:sp>
        <p:nvSpPr>
          <p:cNvPr id="7" name="object 7"/>
          <p:cNvSpPr txBox="1"/>
          <p:nvPr/>
        </p:nvSpPr>
        <p:spPr>
          <a:xfrm>
            <a:off x="1644965" y="1370818"/>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低</a:t>
            </a:r>
            <a:endParaRPr sz="1800">
              <a:latin typeface="宋体"/>
              <a:cs typeface="宋体"/>
            </a:endParaRPr>
          </a:p>
        </p:txBody>
      </p:sp>
      <p:sp>
        <p:nvSpPr>
          <p:cNvPr id="8" name="object 8"/>
          <p:cNvSpPr txBox="1"/>
          <p:nvPr/>
        </p:nvSpPr>
        <p:spPr>
          <a:xfrm>
            <a:off x="6605441" y="1370818"/>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高</a:t>
            </a:r>
            <a:endParaRPr sz="1800">
              <a:latin typeface="宋体"/>
              <a:cs typeface="宋体"/>
            </a:endParaRPr>
          </a:p>
        </p:txBody>
      </p:sp>
      <p:sp>
        <p:nvSpPr>
          <p:cNvPr id="9" name="object 9"/>
          <p:cNvSpPr/>
          <p:nvPr/>
        </p:nvSpPr>
        <p:spPr>
          <a:xfrm>
            <a:off x="2623191" y="2012764"/>
            <a:ext cx="3351529" cy="662305"/>
          </a:xfrm>
          <a:custGeom>
            <a:avLst/>
            <a:gdLst/>
            <a:ahLst/>
            <a:cxnLst/>
            <a:rect l="l" t="t" r="r" b="b"/>
            <a:pathLst>
              <a:path w="3351529" h="662305">
                <a:moveTo>
                  <a:pt x="335172" y="0"/>
                </a:moveTo>
                <a:lnTo>
                  <a:pt x="0" y="330799"/>
                </a:lnTo>
                <a:lnTo>
                  <a:pt x="335172" y="661765"/>
                </a:lnTo>
                <a:lnTo>
                  <a:pt x="335172" y="443344"/>
                </a:lnTo>
                <a:lnTo>
                  <a:pt x="3237212" y="443344"/>
                </a:lnTo>
                <a:lnTo>
                  <a:pt x="3351153" y="330799"/>
                </a:lnTo>
                <a:lnTo>
                  <a:pt x="3237323" y="218420"/>
                </a:lnTo>
                <a:lnTo>
                  <a:pt x="335172" y="218420"/>
                </a:lnTo>
                <a:lnTo>
                  <a:pt x="335172" y="0"/>
                </a:lnTo>
                <a:close/>
              </a:path>
              <a:path w="3351529" h="662305">
                <a:moveTo>
                  <a:pt x="3237212" y="443344"/>
                </a:moveTo>
                <a:lnTo>
                  <a:pt x="3016081" y="443344"/>
                </a:lnTo>
                <a:lnTo>
                  <a:pt x="3016081" y="661765"/>
                </a:lnTo>
                <a:lnTo>
                  <a:pt x="3237212" y="443344"/>
                </a:lnTo>
                <a:close/>
              </a:path>
              <a:path w="3351529" h="662305">
                <a:moveTo>
                  <a:pt x="3016081" y="0"/>
                </a:moveTo>
                <a:lnTo>
                  <a:pt x="3016081" y="218420"/>
                </a:lnTo>
                <a:lnTo>
                  <a:pt x="3237323" y="218420"/>
                </a:lnTo>
                <a:lnTo>
                  <a:pt x="3016081" y="0"/>
                </a:lnTo>
                <a:close/>
              </a:path>
            </a:pathLst>
          </a:custGeom>
          <a:solidFill>
            <a:srgbClr val="E8EDF7"/>
          </a:solidFill>
        </p:spPr>
        <p:txBody>
          <a:bodyPr wrap="square" lIns="0" tIns="0" rIns="0" bIns="0" rtlCol="0"/>
          <a:lstStyle/>
          <a:p/>
        </p:txBody>
      </p:sp>
      <p:sp>
        <p:nvSpPr>
          <p:cNvPr id="10" name="object 10"/>
          <p:cNvSpPr/>
          <p:nvPr/>
        </p:nvSpPr>
        <p:spPr>
          <a:xfrm>
            <a:off x="2623191" y="2012764"/>
            <a:ext cx="3351529" cy="662305"/>
          </a:xfrm>
          <a:custGeom>
            <a:avLst/>
            <a:gdLst/>
            <a:ahLst/>
            <a:cxnLst/>
            <a:rect l="l" t="t" r="r" b="b"/>
            <a:pathLst>
              <a:path w="3351529" h="662305">
                <a:moveTo>
                  <a:pt x="0" y="330799"/>
                </a:moveTo>
                <a:lnTo>
                  <a:pt x="335172" y="0"/>
                </a:lnTo>
                <a:lnTo>
                  <a:pt x="335172" y="218420"/>
                </a:lnTo>
                <a:lnTo>
                  <a:pt x="3016082" y="218420"/>
                </a:lnTo>
                <a:lnTo>
                  <a:pt x="3016082" y="0"/>
                </a:lnTo>
                <a:lnTo>
                  <a:pt x="3351153" y="330799"/>
                </a:lnTo>
                <a:lnTo>
                  <a:pt x="3016082" y="661765"/>
                </a:lnTo>
                <a:lnTo>
                  <a:pt x="3016082" y="443344"/>
                </a:lnTo>
                <a:lnTo>
                  <a:pt x="335172" y="443344"/>
                </a:lnTo>
                <a:lnTo>
                  <a:pt x="335172" y="661765"/>
                </a:lnTo>
                <a:lnTo>
                  <a:pt x="0" y="330799"/>
                </a:lnTo>
                <a:close/>
              </a:path>
            </a:pathLst>
          </a:custGeom>
          <a:ln w="4003">
            <a:solidFill>
              <a:srgbClr val="000000"/>
            </a:solidFill>
          </a:ln>
        </p:spPr>
        <p:txBody>
          <a:bodyPr wrap="square" lIns="0" tIns="0" rIns="0" bIns="0" rtlCol="0"/>
          <a:lstStyle/>
          <a:p/>
        </p:txBody>
      </p:sp>
      <p:sp>
        <p:nvSpPr>
          <p:cNvPr id="11" name="object 11"/>
          <p:cNvSpPr txBox="1"/>
          <p:nvPr/>
        </p:nvSpPr>
        <p:spPr>
          <a:xfrm>
            <a:off x="3576963" y="2196639"/>
            <a:ext cx="1444625" cy="266065"/>
          </a:xfrm>
          <a:prstGeom prst="rect">
            <a:avLst/>
          </a:prstGeom>
        </p:spPr>
        <p:txBody>
          <a:bodyPr wrap="square" lIns="0" tIns="15875" rIns="0" bIns="0" rtlCol="0" vert="horz">
            <a:spAutoFit/>
          </a:bodyPr>
          <a:lstStyle/>
          <a:p>
            <a:pPr marL="12700">
              <a:lnSpc>
                <a:spcPct val="100000"/>
              </a:lnSpc>
              <a:spcBef>
                <a:spcPts val="125"/>
              </a:spcBef>
            </a:pPr>
            <a:r>
              <a:rPr dirty="0" sz="1550" spc="45">
                <a:latin typeface="宋体"/>
                <a:cs typeface="宋体"/>
              </a:rPr>
              <a:t>使用时间的效率</a:t>
            </a:r>
            <a:endParaRPr sz="1550">
              <a:latin typeface="宋体"/>
              <a:cs typeface="宋体"/>
            </a:endParaRPr>
          </a:p>
        </p:txBody>
      </p:sp>
      <p:sp>
        <p:nvSpPr>
          <p:cNvPr id="12" name="object 12"/>
          <p:cNvSpPr txBox="1"/>
          <p:nvPr/>
        </p:nvSpPr>
        <p:spPr>
          <a:xfrm>
            <a:off x="1644965" y="2174306"/>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低</a:t>
            </a:r>
            <a:endParaRPr sz="1800">
              <a:latin typeface="宋体"/>
              <a:cs typeface="宋体"/>
            </a:endParaRPr>
          </a:p>
        </p:txBody>
      </p:sp>
      <p:sp>
        <p:nvSpPr>
          <p:cNvPr id="13" name="object 13"/>
          <p:cNvSpPr txBox="1"/>
          <p:nvPr/>
        </p:nvSpPr>
        <p:spPr>
          <a:xfrm>
            <a:off x="6605441" y="2174306"/>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高</a:t>
            </a:r>
            <a:endParaRPr sz="1800">
              <a:latin typeface="宋体"/>
              <a:cs typeface="宋体"/>
            </a:endParaRPr>
          </a:p>
        </p:txBody>
      </p:sp>
      <p:sp>
        <p:nvSpPr>
          <p:cNvPr id="14" name="object 14"/>
          <p:cNvSpPr/>
          <p:nvPr/>
        </p:nvSpPr>
        <p:spPr>
          <a:xfrm>
            <a:off x="2630639" y="2871942"/>
            <a:ext cx="3351529" cy="661670"/>
          </a:xfrm>
          <a:custGeom>
            <a:avLst/>
            <a:gdLst/>
            <a:ahLst/>
            <a:cxnLst/>
            <a:rect l="l" t="t" r="r" b="b"/>
            <a:pathLst>
              <a:path w="3351529" h="661670">
                <a:moveTo>
                  <a:pt x="335155" y="0"/>
                </a:moveTo>
                <a:lnTo>
                  <a:pt x="0" y="330799"/>
                </a:lnTo>
                <a:lnTo>
                  <a:pt x="335155" y="661598"/>
                </a:lnTo>
                <a:lnTo>
                  <a:pt x="335155" y="443344"/>
                </a:lnTo>
                <a:lnTo>
                  <a:pt x="3237137" y="443344"/>
                </a:lnTo>
                <a:lnTo>
                  <a:pt x="3351136" y="330799"/>
                </a:lnTo>
                <a:lnTo>
                  <a:pt x="3237137" y="218254"/>
                </a:lnTo>
                <a:lnTo>
                  <a:pt x="335155" y="218254"/>
                </a:lnTo>
                <a:lnTo>
                  <a:pt x="335155" y="0"/>
                </a:lnTo>
                <a:close/>
              </a:path>
              <a:path w="3351529" h="661670">
                <a:moveTo>
                  <a:pt x="3237137" y="443344"/>
                </a:moveTo>
                <a:lnTo>
                  <a:pt x="3016065" y="443344"/>
                </a:lnTo>
                <a:lnTo>
                  <a:pt x="3016065" y="661598"/>
                </a:lnTo>
                <a:lnTo>
                  <a:pt x="3237137" y="443344"/>
                </a:lnTo>
                <a:close/>
              </a:path>
              <a:path w="3351529" h="661670">
                <a:moveTo>
                  <a:pt x="3016065" y="0"/>
                </a:moveTo>
                <a:lnTo>
                  <a:pt x="3016065" y="218254"/>
                </a:lnTo>
                <a:lnTo>
                  <a:pt x="3237137" y="218254"/>
                </a:lnTo>
                <a:lnTo>
                  <a:pt x="3016065" y="0"/>
                </a:lnTo>
                <a:close/>
              </a:path>
            </a:pathLst>
          </a:custGeom>
          <a:solidFill>
            <a:srgbClr val="E8EDF7"/>
          </a:solidFill>
        </p:spPr>
        <p:txBody>
          <a:bodyPr wrap="square" lIns="0" tIns="0" rIns="0" bIns="0" rtlCol="0"/>
          <a:lstStyle/>
          <a:p/>
        </p:txBody>
      </p:sp>
      <p:sp>
        <p:nvSpPr>
          <p:cNvPr id="15" name="object 15"/>
          <p:cNvSpPr/>
          <p:nvPr/>
        </p:nvSpPr>
        <p:spPr>
          <a:xfrm>
            <a:off x="2630639" y="2871942"/>
            <a:ext cx="3351529" cy="661670"/>
          </a:xfrm>
          <a:custGeom>
            <a:avLst/>
            <a:gdLst/>
            <a:ahLst/>
            <a:cxnLst/>
            <a:rect l="l" t="t" r="r" b="b"/>
            <a:pathLst>
              <a:path w="3351529" h="661670">
                <a:moveTo>
                  <a:pt x="0" y="330799"/>
                </a:moveTo>
                <a:lnTo>
                  <a:pt x="335155" y="0"/>
                </a:lnTo>
                <a:lnTo>
                  <a:pt x="335155" y="218254"/>
                </a:lnTo>
                <a:lnTo>
                  <a:pt x="3016065" y="218254"/>
                </a:lnTo>
                <a:lnTo>
                  <a:pt x="3016065" y="0"/>
                </a:lnTo>
                <a:lnTo>
                  <a:pt x="3351136" y="330799"/>
                </a:lnTo>
                <a:lnTo>
                  <a:pt x="3016065" y="661598"/>
                </a:lnTo>
                <a:lnTo>
                  <a:pt x="3016065" y="443344"/>
                </a:lnTo>
                <a:lnTo>
                  <a:pt x="335155" y="443344"/>
                </a:lnTo>
                <a:lnTo>
                  <a:pt x="335155" y="661598"/>
                </a:lnTo>
                <a:lnTo>
                  <a:pt x="0" y="330799"/>
                </a:lnTo>
                <a:close/>
              </a:path>
            </a:pathLst>
          </a:custGeom>
          <a:ln w="4003">
            <a:solidFill>
              <a:srgbClr val="000000"/>
            </a:solidFill>
          </a:ln>
        </p:spPr>
        <p:txBody>
          <a:bodyPr wrap="square" lIns="0" tIns="0" rIns="0" bIns="0" rtlCol="0"/>
          <a:lstStyle/>
          <a:p/>
        </p:txBody>
      </p:sp>
      <p:sp>
        <p:nvSpPr>
          <p:cNvPr id="16" name="object 16"/>
          <p:cNvSpPr txBox="1"/>
          <p:nvPr/>
        </p:nvSpPr>
        <p:spPr>
          <a:xfrm>
            <a:off x="3787058" y="3055817"/>
            <a:ext cx="1038860" cy="266065"/>
          </a:xfrm>
          <a:prstGeom prst="rect">
            <a:avLst/>
          </a:prstGeom>
        </p:spPr>
        <p:txBody>
          <a:bodyPr wrap="square" lIns="0" tIns="15875" rIns="0" bIns="0" rtlCol="0" vert="horz">
            <a:spAutoFit/>
          </a:bodyPr>
          <a:lstStyle/>
          <a:p>
            <a:pPr marL="12700">
              <a:lnSpc>
                <a:spcPct val="100000"/>
              </a:lnSpc>
              <a:spcBef>
                <a:spcPts val="125"/>
              </a:spcBef>
            </a:pPr>
            <a:r>
              <a:rPr dirty="0" sz="1550" spc="45">
                <a:latin typeface="宋体"/>
                <a:cs typeface="宋体"/>
              </a:rPr>
              <a:t>数据的精度</a:t>
            </a:r>
            <a:endParaRPr sz="1550">
              <a:latin typeface="宋体"/>
              <a:cs typeface="宋体"/>
            </a:endParaRPr>
          </a:p>
        </p:txBody>
      </p:sp>
      <p:sp>
        <p:nvSpPr>
          <p:cNvPr id="17" name="object 17"/>
          <p:cNvSpPr txBox="1"/>
          <p:nvPr/>
        </p:nvSpPr>
        <p:spPr>
          <a:xfrm>
            <a:off x="1652413" y="3033484"/>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低</a:t>
            </a:r>
            <a:endParaRPr sz="1800">
              <a:latin typeface="宋体"/>
              <a:cs typeface="宋体"/>
            </a:endParaRPr>
          </a:p>
        </p:txBody>
      </p:sp>
      <p:sp>
        <p:nvSpPr>
          <p:cNvPr id="18" name="object 18"/>
          <p:cNvSpPr txBox="1"/>
          <p:nvPr/>
        </p:nvSpPr>
        <p:spPr>
          <a:xfrm>
            <a:off x="6612873" y="3033484"/>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高</a:t>
            </a:r>
            <a:endParaRPr sz="1800">
              <a:latin typeface="宋体"/>
              <a:cs typeface="宋体"/>
            </a:endParaRPr>
          </a:p>
        </p:txBody>
      </p:sp>
      <p:sp>
        <p:nvSpPr>
          <p:cNvPr id="19" name="object 19"/>
          <p:cNvSpPr/>
          <p:nvPr/>
        </p:nvSpPr>
        <p:spPr>
          <a:xfrm>
            <a:off x="2630639" y="3675431"/>
            <a:ext cx="3351529" cy="661670"/>
          </a:xfrm>
          <a:custGeom>
            <a:avLst/>
            <a:gdLst/>
            <a:ahLst/>
            <a:cxnLst/>
            <a:rect l="l" t="t" r="r" b="b"/>
            <a:pathLst>
              <a:path w="3351529" h="661670">
                <a:moveTo>
                  <a:pt x="335155" y="0"/>
                </a:moveTo>
                <a:lnTo>
                  <a:pt x="0" y="330799"/>
                </a:lnTo>
                <a:lnTo>
                  <a:pt x="335155" y="661598"/>
                </a:lnTo>
                <a:lnTo>
                  <a:pt x="335155" y="443344"/>
                </a:lnTo>
                <a:lnTo>
                  <a:pt x="3237137" y="443344"/>
                </a:lnTo>
                <a:lnTo>
                  <a:pt x="3351136" y="330799"/>
                </a:lnTo>
                <a:lnTo>
                  <a:pt x="3237137" y="218254"/>
                </a:lnTo>
                <a:lnTo>
                  <a:pt x="335155" y="218254"/>
                </a:lnTo>
                <a:lnTo>
                  <a:pt x="335155" y="0"/>
                </a:lnTo>
                <a:close/>
              </a:path>
              <a:path w="3351529" h="661670">
                <a:moveTo>
                  <a:pt x="3237137" y="443344"/>
                </a:moveTo>
                <a:lnTo>
                  <a:pt x="3016065" y="443344"/>
                </a:lnTo>
                <a:lnTo>
                  <a:pt x="3016065" y="661598"/>
                </a:lnTo>
                <a:lnTo>
                  <a:pt x="3237137" y="443344"/>
                </a:lnTo>
                <a:close/>
              </a:path>
              <a:path w="3351529" h="661670">
                <a:moveTo>
                  <a:pt x="3016065" y="0"/>
                </a:moveTo>
                <a:lnTo>
                  <a:pt x="3016065" y="218254"/>
                </a:lnTo>
                <a:lnTo>
                  <a:pt x="3237137" y="218254"/>
                </a:lnTo>
                <a:lnTo>
                  <a:pt x="3016065" y="0"/>
                </a:lnTo>
                <a:close/>
              </a:path>
            </a:pathLst>
          </a:custGeom>
          <a:solidFill>
            <a:srgbClr val="E8EDF7"/>
          </a:solidFill>
        </p:spPr>
        <p:txBody>
          <a:bodyPr wrap="square" lIns="0" tIns="0" rIns="0" bIns="0" rtlCol="0"/>
          <a:lstStyle/>
          <a:p/>
        </p:txBody>
      </p:sp>
      <p:sp>
        <p:nvSpPr>
          <p:cNvPr id="20" name="object 20"/>
          <p:cNvSpPr/>
          <p:nvPr/>
        </p:nvSpPr>
        <p:spPr>
          <a:xfrm>
            <a:off x="2630639" y="3675431"/>
            <a:ext cx="3351529" cy="661670"/>
          </a:xfrm>
          <a:custGeom>
            <a:avLst/>
            <a:gdLst/>
            <a:ahLst/>
            <a:cxnLst/>
            <a:rect l="l" t="t" r="r" b="b"/>
            <a:pathLst>
              <a:path w="3351529" h="661670">
                <a:moveTo>
                  <a:pt x="0" y="330799"/>
                </a:moveTo>
                <a:lnTo>
                  <a:pt x="335155" y="0"/>
                </a:lnTo>
                <a:lnTo>
                  <a:pt x="335155" y="218254"/>
                </a:lnTo>
                <a:lnTo>
                  <a:pt x="3016065" y="218254"/>
                </a:lnTo>
                <a:lnTo>
                  <a:pt x="3016065" y="0"/>
                </a:lnTo>
                <a:lnTo>
                  <a:pt x="3351136" y="330799"/>
                </a:lnTo>
                <a:lnTo>
                  <a:pt x="3016065" y="661598"/>
                </a:lnTo>
                <a:lnTo>
                  <a:pt x="3016065" y="443344"/>
                </a:lnTo>
                <a:lnTo>
                  <a:pt x="335155" y="443344"/>
                </a:lnTo>
                <a:lnTo>
                  <a:pt x="335155" y="661598"/>
                </a:lnTo>
                <a:lnTo>
                  <a:pt x="0" y="330799"/>
                </a:lnTo>
                <a:close/>
              </a:path>
            </a:pathLst>
          </a:custGeom>
          <a:ln w="4003">
            <a:solidFill>
              <a:srgbClr val="000000"/>
            </a:solidFill>
          </a:ln>
        </p:spPr>
        <p:txBody>
          <a:bodyPr wrap="square" lIns="0" tIns="0" rIns="0" bIns="0" rtlCol="0"/>
          <a:lstStyle/>
          <a:p/>
        </p:txBody>
      </p:sp>
      <p:sp>
        <p:nvSpPr>
          <p:cNvPr id="21" name="object 21"/>
          <p:cNvSpPr txBox="1"/>
          <p:nvPr/>
        </p:nvSpPr>
        <p:spPr>
          <a:xfrm>
            <a:off x="3787058" y="3859305"/>
            <a:ext cx="1038860" cy="266065"/>
          </a:xfrm>
          <a:prstGeom prst="rect">
            <a:avLst/>
          </a:prstGeom>
        </p:spPr>
        <p:txBody>
          <a:bodyPr wrap="square" lIns="0" tIns="15875" rIns="0" bIns="0" rtlCol="0" vert="horz">
            <a:spAutoFit/>
          </a:bodyPr>
          <a:lstStyle/>
          <a:p>
            <a:pPr marL="12700">
              <a:lnSpc>
                <a:spcPct val="100000"/>
              </a:lnSpc>
              <a:spcBef>
                <a:spcPts val="125"/>
              </a:spcBef>
            </a:pPr>
            <a:r>
              <a:rPr dirty="0" sz="1550" spc="45">
                <a:latin typeface="宋体"/>
                <a:cs typeface="宋体"/>
              </a:rPr>
              <a:t>广度和深度</a:t>
            </a:r>
            <a:endParaRPr sz="1550">
              <a:latin typeface="宋体"/>
              <a:cs typeface="宋体"/>
            </a:endParaRPr>
          </a:p>
        </p:txBody>
      </p:sp>
      <p:sp>
        <p:nvSpPr>
          <p:cNvPr id="22" name="object 22"/>
          <p:cNvSpPr txBox="1"/>
          <p:nvPr/>
        </p:nvSpPr>
        <p:spPr>
          <a:xfrm>
            <a:off x="1652413" y="3836972"/>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广</a:t>
            </a:r>
            <a:endParaRPr sz="1800">
              <a:latin typeface="宋体"/>
              <a:cs typeface="宋体"/>
            </a:endParaRPr>
          </a:p>
        </p:txBody>
      </p:sp>
      <p:sp>
        <p:nvSpPr>
          <p:cNvPr id="23" name="object 23"/>
          <p:cNvSpPr txBox="1"/>
          <p:nvPr/>
        </p:nvSpPr>
        <p:spPr>
          <a:xfrm>
            <a:off x="6612873" y="3836972"/>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窄</a:t>
            </a:r>
            <a:endParaRPr sz="1800">
              <a:latin typeface="宋体"/>
              <a:cs typeface="宋体"/>
            </a:endParaRPr>
          </a:p>
        </p:txBody>
      </p:sp>
      <p:sp>
        <p:nvSpPr>
          <p:cNvPr id="24" name="object 24"/>
          <p:cNvSpPr/>
          <p:nvPr/>
        </p:nvSpPr>
        <p:spPr>
          <a:xfrm>
            <a:off x="2630639" y="4526121"/>
            <a:ext cx="3351529" cy="662305"/>
          </a:xfrm>
          <a:custGeom>
            <a:avLst/>
            <a:gdLst/>
            <a:ahLst/>
            <a:cxnLst/>
            <a:rect l="l" t="t" r="r" b="b"/>
            <a:pathLst>
              <a:path w="3351529" h="662304">
                <a:moveTo>
                  <a:pt x="335155" y="0"/>
                </a:moveTo>
                <a:lnTo>
                  <a:pt x="0" y="330832"/>
                </a:lnTo>
                <a:lnTo>
                  <a:pt x="335155" y="661681"/>
                </a:lnTo>
                <a:lnTo>
                  <a:pt x="335155" y="443327"/>
                </a:lnTo>
                <a:lnTo>
                  <a:pt x="3237205" y="443327"/>
                </a:lnTo>
                <a:lnTo>
                  <a:pt x="3351136" y="330832"/>
                </a:lnTo>
                <a:lnTo>
                  <a:pt x="3237216" y="218354"/>
                </a:lnTo>
                <a:lnTo>
                  <a:pt x="335155" y="218354"/>
                </a:lnTo>
                <a:lnTo>
                  <a:pt x="335155" y="0"/>
                </a:lnTo>
                <a:close/>
              </a:path>
              <a:path w="3351529" h="662304">
                <a:moveTo>
                  <a:pt x="3237205" y="443327"/>
                </a:moveTo>
                <a:lnTo>
                  <a:pt x="3016065" y="443327"/>
                </a:lnTo>
                <a:lnTo>
                  <a:pt x="3016065" y="661681"/>
                </a:lnTo>
                <a:lnTo>
                  <a:pt x="3237205" y="443327"/>
                </a:lnTo>
                <a:close/>
              </a:path>
              <a:path w="3351529" h="662304">
                <a:moveTo>
                  <a:pt x="3016065" y="0"/>
                </a:moveTo>
                <a:lnTo>
                  <a:pt x="3016065" y="218354"/>
                </a:lnTo>
                <a:lnTo>
                  <a:pt x="3237216" y="218354"/>
                </a:lnTo>
                <a:lnTo>
                  <a:pt x="3016065" y="0"/>
                </a:lnTo>
                <a:close/>
              </a:path>
            </a:pathLst>
          </a:custGeom>
          <a:solidFill>
            <a:srgbClr val="E8EDF7"/>
          </a:solidFill>
        </p:spPr>
        <p:txBody>
          <a:bodyPr wrap="square" lIns="0" tIns="0" rIns="0" bIns="0" rtlCol="0"/>
          <a:lstStyle/>
          <a:p/>
        </p:txBody>
      </p:sp>
      <p:sp>
        <p:nvSpPr>
          <p:cNvPr id="25" name="object 25"/>
          <p:cNvSpPr/>
          <p:nvPr/>
        </p:nvSpPr>
        <p:spPr>
          <a:xfrm>
            <a:off x="2630639" y="4526121"/>
            <a:ext cx="3351529" cy="662305"/>
          </a:xfrm>
          <a:custGeom>
            <a:avLst/>
            <a:gdLst/>
            <a:ahLst/>
            <a:cxnLst/>
            <a:rect l="l" t="t" r="r" b="b"/>
            <a:pathLst>
              <a:path w="3351529" h="662304">
                <a:moveTo>
                  <a:pt x="0" y="330832"/>
                </a:moveTo>
                <a:lnTo>
                  <a:pt x="335155" y="0"/>
                </a:lnTo>
                <a:lnTo>
                  <a:pt x="335155" y="218354"/>
                </a:lnTo>
                <a:lnTo>
                  <a:pt x="3016065" y="218354"/>
                </a:lnTo>
                <a:lnTo>
                  <a:pt x="3016065" y="0"/>
                </a:lnTo>
                <a:lnTo>
                  <a:pt x="3351136" y="330832"/>
                </a:lnTo>
                <a:lnTo>
                  <a:pt x="3016065" y="661681"/>
                </a:lnTo>
                <a:lnTo>
                  <a:pt x="3016065" y="443327"/>
                </a:lnTo>
                <a:lnTo>
                  <a:pt x="335155" y="443327"/>
                </a:lnTo>
                <a:lnTo>
                  <a:pt x="335155" y="661681"/>
                </a:lnTo>
                <a:lnTo>
                  <a:pt x="0" y="330832"/>
                </a:lnTo>
                <a:close/>
              </a:path>
            </a:pathLst>
          </a:custGeom>
          <a:ln w="4003">
            <a:solidFill>
              <a:srgbClr val="000000"/>
            </a:solidFill>
          </a:ln>
        </p:spPr>
        <p:txBody>
          <a:bodyPr wrap="square" lIns="0" tIns="0" rIns="0" bIns="0" rtlCol="0"/>
          <a:lstStyle/>
          <a:p/>
        </p:txBody>
      </p:sp>
      <p:sp>
        <p:nvSpPr>
          <p:cNvPr id="26" name="object 26"/>
          <p:cNvSpPr txBox="1"/>
          <p:nvPr/>
        </p:nvSpPr>
        <p:spPr>
          <a:xfrm>
            <a:off x="3584394" y="4710013"/>
            <a:ext cx="1444625" cy="266065"/>
          </a:xfrm>
          <a:prstGeom prst="rect">
            <a:avLst/>
          </a:prstGeom>
        </p:spPr>
        <p:txBody>
          <a:bodyPr wrap="square" lIns="0" tIns="15875" rIns="0" bIns="0" rtlCol="0" vert="horz">
            <a:spAutoFit/>
          </a:bodyPr>
          <a:lstStyle/>
          <a:p>
            <a:pPr marL="12700">
              <a:lnSpc>
                <a:spcPct val="100000"/>
              </a:lnSpc>
              <a:spcBef>
                <a:spcPts val="125"/>
              </a:spcBef>
            </a:pPr>
            <a:r>
              <a:rPr dirty="0" sz="1550" spc="45">
                <a:latin typeface="宋体"/>
                <a:cs typeface="宋体"/>
              </a:rPr>
              <a:t>需要的面谈技能</a:t>
            </a:r>
            <a:endParaRPr sz="1550">
              <a:latin typeface="宋体"/>
              <a:cs typeface="宋体"/>
            </a:endParaRPr>
          </a:p>
        </p:txBody>
      </p:sp>
      <p:sp>
        <p:nvSpPr>
          <p:cNvPr id="27" name="object 27"/>
          <p:cNvSpPr txBox="1"/>
          <p:nvPr/>
        </p:nvSpPr>
        <p:spPr>
          <a:xfrm>
            <a:off x="1652413" y="4687646"/>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多</a:t>
            </a:r>
            <a:endParaRPr sz="1800">
              <a:latin typeface="宋体"/>
              <a:cs typeface="宋体"/>
            </a:endParaRPr>
          </a:p>
        </p:txBody>
      </p:sp>
      <p:sp>
        <p:nvSpPr>
          <p:cNvPr id="28" name="object 28"/>
          <p:cNvSpPr txBox="1"/>
          <p:nvPr/>
        </p:nvSpPr>
        <p:spPr>
          <a:xfrm>
            <a:off x="6612873" y="4687646"/>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少</a:t>
            </a:r>
            <a:endParaRPr sz="1800">
              <a:latin typeface="宋体"/>
              <a:cs typeface="宋体"/>
            </a:endParaRPr>
          </a:p>
        </p:txBody>
      </p:sp>
      <p:sp>
        <p:nvSpPr>
          <p:cNvPr id="29" name="object 29"/>
          <p:cNvSpPr/>
          <p:nvPr/>
        </p:nvSpPr>
        <p:spPr>
          <a:xfrm>
            <a:off x="2630639" y="5329593"/>
            <a:ext cx="3351529" cy="662305"/>
          </a:xfrm>
          <a:custGeom>
            <a:avLst/>
            <a:gdLst/>
            <a:ahLst/>
            <a:cxnLst/>
            <a:rect l="l" t="t" r="r" b="b"/>
            <a:pathLst>
              <a:path w="3351529" h="662304">
                <a:moveTo>
                  <a:pt x="335155" y="0"/>
                </a:moveTo>
                <a:lnTo>
                  <a:pt x="0" y="330832"/>
                </a:lnTo>
                <a:lnTo>
                  <a:pt x="335155" y="661681"/>
                </a:lnTo>
                <a:lnTo>
                  <a:pt x="335155" y="443327"/>
                </a:lnTo>
                <a:lnTo>
                  <a:pt x="3237205" y="443327"/>
                </a:lnTo>
                <a:lnTo>
                  <a:pt x="3351136" y="330832"/>
                </a:lnTo>
                <a:lnTo>
                  <a:pt x="3237216" y="218354"/>
                </a:lnTo>
                <a:lnTo>
                  <a:pt x="335155" y="218354"/>
                </a:lnTo>
                <a:lnTo>
                  <a:pt x="335155" y="0"/>
                </a:lnTo>
                <a:close/>
              </a:path>
              <a:path w="3351529" h="662304">
                <a:moveTo>
                  <a:pt x="3237205" y="443327"/>
                </a:moveTo>
                <a:lnTo>
                  <a:pt x="3016065" y="443327"/>
                </a:lnTo>
                <a:lnTo>
                  <a:pt x="3016065" y="661681"/>
                </a:lnTo>
                <a:lnTo>
                  <a:pt x="3237205" y="443327"/>
                </a:lnTo>
                <a:close/>
              </a:path>
              <a:path w="3351529" h="662304">
                <a:moveTo>
                  <a:pt x="3016065" y="0"/>
                </a:moveTo>
                <a:lnTo>
                  <a:pt x="3016065" y="218354"/>
                </a:lnTo>
                <a:lnTo>
                  <a:pt x="3237216" y="218354"/>
                </a:lnTo>
                <a:lnTo>
                  <a:pt x="3016065" y="0"/>
                </a:lnTo>
                <a:close/>
              </a:path>
            </a:pathLst>
          </a:custGeom>
          <a:solidFill>
            <a:srgbClr val="E8EDF7"/>
          </a:solidFill>
        </p:spPr>
        <p:txBody>
          <a:bodyPr wrap="square" lIns="0" tIns="0" rIns="0" bIns="0" rtlCol="0"/>
          <a:lstStyle/>
          <a:p/>
        </p:txBody>
      </p:sp>
      <p:sp>
        <p:nvSpPr>
          <p:cNvPr id="30" name="object 30"/>
          <p:cNvSpPr/>
          <p:nvPr/>
        </p:nvSpPr>
        <p:spPr>
          <a:xfrm>
            <a:off x="2630639" y="5329593"/>
            <a:ext cx="3351529" cy="662305"/>
          </a:xfrm>
          <a:custGeom>
            <a:avLst/>
            <a:gdLst/>
            <a:ahLst/>
            <a:cxnLst/>
            <a:rect l="l" t="t" r="r" b="b"/>
            <a:pathLst>
              <a:path w="3351529" h="662304">
                <a:moveTo>
                  <a:pt x="0" y="330832"/>
                </a:moveTo>
                <a:lnTo>
                  <a:pt x="335155" y="0"/>
                </a:lnTo>
                <a:lnTo>
                  <a:pt x="335155" y="218354"/>
                </a:lnTo>
                <a:lnTo>
                  <a:pt x="3016065" y="218354"/>
                </a:lnTo>
                <a:lnTo>
                  <a:pt x="3016065" y="0"/>
                </a:lnTo>
                <a:lnTo>
                  <a:pt x="3351136" y="330832"/>
                </a:lnTo>
                <a:lnTo>
                  <a:pt x="3016065" y="661681"/>
                </a:lnTo>
                <a:lnTo>
                  <a:pt x="3016065" y="443327"/>
                </a:lnTo>
                <a:lnTo>
                  <a:pt x="335155" y="443327"/>
                </a:lnTo>
                <a:lnTo>
                  <a:pt x="335155" y="661681"/>
                </a:lnTo>
                <a:lnTo>
                  <a:pt x="0" y="330832"/>
                </a:lnTo>
                <a:close/>
              </a:path>
            </a:pathLst>
          </a:custGeom>
          <a:ln w="4003">
            <a:solidFill>
              <a:srgbClr val="000000"/>
            </a:solidFill>
          </a:ln>
        </p:spPr>
        <p:txBody>
          <a:bodyPr wrap="square" lIns="0" tIns="0" rIns="0" bIns="0" rtlCol="0"/>
          <a:lstStyle/>
          <a:p/>
        </p:txBody>
      </p:sp>
      <p:sp>
        <p:nvSpPr>
          <p:cNvPr id="31" name="object 31"/>
          <p:cNvSpPr txBox="1"/>
          <p:nvPr/>
        </p:nvSpPr>
        <p:spPr>
          <a:xfrm>
            <a:off x="3685726" y="5513485"/>
            <a:ext cx="1241425" cy="266065"/>
          </a:xfrm>
          <a:prstGeom prst="rect">
            <a:avLst/>
          </a:prstGeom>
        </p:spPr>
        <p:txBody>
          <a:bodyPr wrap="square" lIns="0" tIns="15875" rIns="0" bIns="0" rtlCol="0" vert="horz">
            <a:spAutoFit/>
          </a:bodyPr>
          <a:lstStyle/>
          <a:p>
            <a:pPr marL="12700">
              <a:lnSpc>
                <a:spcPct val="100000"/>
              </a:lnSpc>
              <a:spcBef>
                <a:spcPts val="125"/>
              </a:spcBef>
            </a:pPr>
            <a:r>
              <a:rPr dirty="0" sz="1550" spc="45">
                <a:latin typeface="宋体"/>
                <a:cs typeface="宋体"/>
              </a:rPr>
              <a:t>分析的难易度</a:t>
            </a:r>
            <a:endParaRPr sz="1550">
              <a:latin typeface="宋体"/>
              <a:cs typeface="宋体"/>
            </a:endParaRPr>
          </a:p>
        </p:txBody>
      </p:sp>
      <p:sp>
        <p:nvSpPr>
          <p:cNvPr id="34" name="object 3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2" name="object 32"/>
          <p:cNvSpPr txBox="1"/>
          <p:nvPr/>
        </p:nvSpPr>
        <p:spPr>
          <a:xfrm>
            <a:off x="1652413" y="5491118"/>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难</a:t>
            </a:r>
            <a:endParaRPr sz="1800">
              <a:latin typeface="宋体"/>
              <a:cs typeface="宋体"/>
            </a:endParaRPr>
          </a:p>
        </p:txBody>
      </p:sp>
      <p:sp>
        <p:nvSpPr>
          <p:cNvPr id="33" name="object 33"/>
          <p:cNvSpPr txBox="1"/>
          <p:nvPr/>
        </p:nvSpPr>
        <p:spPr>
          <a:xfrm>
            <a:off x="6612873" y="5491118"/>
            <a:ext cx="262255" cy="306070"/>
          </a:xfrm>
          <a:prstGeom prst="rect">
            <a:avLst/>
          </a:prstGeom>
        </p:spPr>
        <p:txBody>
          <a:bodyPr wrap="square" lIns="0" tIns="17145" rIns="0" bIns="0" rtlCol="0" vert="horz">
            <a:spAutoFit/>
          </a:bodyPr>
          <a:lstStyle/>
          <a:p>
            <a:pPr marL="12700">
              <a:lnSpc>
                <a:spcPct val="100000"/>
              </a:lnSpc>
              <a:spcBef>
                <a:spcPts val="135"/>
              </a:spcBef>
            </a:pPr>
            <a:r>
              <a:rPr dirty="0" sz="1800" spc="60">
                <a:latin typeface="宋体"/>
                <a:cs typeface="宋体"/>
              </a:rPr>
              <a:t>易</a:t>
            </a:r>
            <a:endParaRPr sz="1800">
              <a:latin typeface="宋体"/>
              <a:cs typeface="宋体"/>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59532" y="19938"/>
            <a:ext cx="5340350" cy="1184910"/>
          </a:xfrm>
          <a:prstGeom prst="rect"/>
        </p:spPr>
        <p:txBody>
          <a:bodyPr wrap="square" lIns="0" tIns="12700" rIns="0" bIns="0" rtlCol="0" vert="horz">
            <a:spAutoFit/>
          </a:bodyPr>
          <a:lstStyle/>
          <a:p>
            <a:pPr marL="461009">
              <a:lnSpc>
                <a:spcPct val="100000"/>
              </a:lnSpc>
              <a:spcBef>
                <a:spcPts val="100"/>
              </a:spcBef>
            </a:pPr>
            <a:r>
              <a:rPr dirty="0" sz="3800">
                <a:latin typeface="Calibri"/>
                <a:cs typeface="Calibri"/>
              </a:rPr>
              <a:t>4.1.1</a:t>
            </a:r>
            <a:r>
              <a:rPr dirty="0" sz="3800" spc="-10">
                <a:latin typeface="Calibri"/>
                <a:cs typeface="Calibri"/>
              </a:rPr>
              <a:t> </a:t>
            </a:r>
            <a:r>
              <a:rPr dirty="0" sz="3800"/>
              <a:t>问题的类型</a:t>
            </a:r>
            <a:endParaRPr sz="3800">
              <a:latin typeface="Calibri"/>
              <a:cs typeface="Calibri"/>
            </a:endParaRPr>
          </a:p>
          <a:p>
            <a:pPr marL="12700">
              <a:lnSpc>
                <a:spcPct val="100000"/>
              </a:lnSpc>
              <a:spcBef>
                <a:spcPts val="5"/>
              </a:spcBef>
            </a:pPr>
            <a:r>
              <a:rPr dirty="0" sz="3800">
                <a:latin typeface="Arial"/>
                <a:cs typeface="Arial"/>
              </a:rPr>
              <a:t>——</a:t>
            </a:r>
            <a:r>
              <a:rPr dirty="0" sz="3800"/>
              <a:t>其他重要的问题类型</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58493"/>
            <a:ext cx="7379334" cy="4355465"/>
          </a:xfrm>
          <a:prstGeom prst="rect">
            <a:avLst/>
          </a:prstGeom>
        </p:spPr>
        <p:txBody>
          <a:bodyPr wrap="square" lIns="0" tIns="12700" rIns="0" bIns="0" rtlCol="0" vert="horz">
            <a:spAutoFit/>
          </a:bodyPr>
          <a:lstStyle/>
          <a:p>
            <a:pPr marL="355600" indent="-343535">
              <a:lnSpc>
                <a:spcPct val="100000"/>
              </a:lnSpc>
              <a:spcBef>
                <a:spcPts val="100"/>
              </a:spcBef>
              <a:buClr>
                <a:srgbClr val="00663B"/>
              </a:buClr>
              <a:buSzPct val="78571"/>
              <a:buFont typeface="Wingdings"/>
              <a:buChar char=""/>
              <a:tabLst>
                <a:tab pos="355600" algn="l"/>
                <a:tab pos="356235" algn="l"/>
              </a:tabLst>
            </a:pPr>
            <a:r>
              <a:rPr dirty="0" sz="2100" spc="-5" b="1">
                <a:latin typeface="宋体"/>
                <a:cs typeface="宋体"/>
              </a:rPr>
              <a:t>探究式问题</a:t>
            </a:r>
            <a:endParaRPr sz="2100">
              <a:latin typeface="宋体"/>
              <a:cs typeface="宋体"/>
            </a:endParaRPr>
          </a:p>
          <a:p>
            <a:pPr lvl="1" marL="756285" indent="-287020">
              <a:lnSpc>
                <a:spcPct val="100000"/>
              </a:lnSpc>
              <a:spcBef>
                <a:spcPts val="10"/>
              </a:spcBef>
              <a:buClr>
                <a:srgbClr val="C00000"/>
              </a:buClr>
              <a:buSzPct val="60000"/>
              <a:buFont typeface="Wingdings"/>
              <a:buChar char=""/>
              <a:tabLst>
                <a:tab pos="756285" algn="l"/>
                <a:tab pos="756920" algn="l"/>
              </a:tabLst>
            </a:pPr>
            <a:r>
              <a:rPr dirty="0" sz="2000">
                <a:latin typeface="宋体"/>
                <a:cs typeface="宋体"/>
              </a:rPr>
              <a:t>为什么？</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你能举个例子吗？</a:t>
            </a:r>
            <a:endParaRPr sz="2000">
              <a:latin typeface="宋体"/>
              <a:cs typeface="宋体"/>
            </a:endParaRPr>
          </a:p>
          <a:p>
            <a:pPr lvl="1" marL="756285" indent="-287020">
              <a:lnSpc>
                <a:spcPts val="2400"/>
              </a:lnSpc>
              <a:buClr>
                <a:srgbClr val="C00000"/>
              </a:buClr>
              <a:buSzPct val="60000"/>
              <a:buFont typeface="Wingdings"/>
              <a:buChar char=""/>
              <a:tabLst>
                <a:tab pos="756285" algn="l"/>
                <a:tab pos="756920" algn="l"/>
              </a:tabLst>
            </a:pPr>
            <a:r>
              <a:rPr dirty="0" sz="2000">
                <a:latin typeface="宋体"/>
                <a:cs typeface="宋体"/>
              </a:rPr>
              <a:t>你能详细描述一下吗？</a:t>
            </a:r>
            <a:endParaRPr sz="2000">
              <a:latin typeface="宋体"/>
              <a:cs typeface="宋体"/>
            </a:endParaRPr>
          </a:p>
          <a:p>
            <a:pPr marL="355600" indent="-343535">
              <a:lnSpc>
                <a:spcPts val="2520"/>
              </a:lnSpc>
              <a:buClr>
                <a:srgbClr val="00663B"/>
              </a:buClr>
              <a:buSzPct val="78571"/>
              <a:buFont typeface="Wingdings"/>
              <a:buChar char=""/>
              <a:tabLst>
                <a:tab pos="355600" algn="l"/>
                <a:tab pos="356235" algn="l"/>
              </a:tabLst>
            </a:pPr>
            <a:r>
              <a:rPr dirty="0" sz="2100" b="1">
                <a:latin typeface="宋体"/>
                <a:cs typeface="宋体"/>
              </a:rPr>
              <a:t>诱导性问题</a:t>
            </a:r>
            <a:endParaRPr sz="2100">
              <a:latin typeface="宋体"/>
              <a:cs typeface="宋体"/>
            </a:endParaRPr>
          </a:p>
          <a:p>
            <a:pPr lvl="1" marL="756285" indent="-287020">
              <a:lnSpc>
                <a:spcPts val="2400"/>
              </a:lnSpc>
              <a:buClr>
                <a:srgbClr val="C00000"/>
              </a:buClr>
              <a:buSzPct val="60000"/>
              <a:buFont typeface="Wingdings"/>
              <a:buChar char=""/>
              <a:tabLst>
                <a:tab pos="756285" algn="l"/>
                <a:tab pos="756920" algn="l"/>
              </a:tabLst>
            </a:pPr>
            <a:r>
              <a:rPr dirty="0" sz="2000">
                <a:latin typeface="宋体"/>
                <a:cs typeface="宋体"/>
              </a:rPr>
              <a:t>“你和其他经理一样，</a:t>
            </a:r>
            <a:r>
              <a:rPr dirty="0" sz="2000" spc="-10">
                <a:latin typeface="宋体"/>
                <a:cs typeface="宋体"/>
              </a:rPr>
              <a:t>都</a:t>
            </a:r>
            <a:r>
              <a:rPr dirty="0" sz="2000">
                <a:latin typeface="宋体"/>
                <a:cs typeface="宋体"/>
              </a:rPr>
              <a:t>同意</a:t>
            </a:r>
            <a:r>
              <a:rPr dirty="0" sz="2000" spc="-10">
                <a:latin typeface="宋体"/>
                <a:cs typeface="宋体"/>
              </a:rPr>
              <a:t>把</a:t>
            </a:r>
            <a:r>
              <a:rPr dirty="0" sz="2000">
                <a:latin typeface="宋体"/>
                <a:cs typeface="宋体"/>
              </a:rPr>
              <a:t>财产</a:t>
            </a:r>
            <a:r>
              <a:rPr dirty="0" sz="2000" spc="-10">
                <a:latin typeface="宋体"/>
                <a:cs typeface="宋体"/>
              </a:rPr>
              <a:t>管</a:t>
            </a:r>
            <a:r>
              <a:rPr dirty="0" sz="2000">
                <a:latin typeface="宋体"/>
                <a:cs typeface="宋体"/>
              </a:rPr>
              <a:t>理计</a:t>
            </a:r>
            <a:r>
              <a:rPr dirty="0" sz="2000" spc="-10">
                <a:latin typeface="宋体"/>
                <a:cs typeface="宋体"/>
              </a:rPr>
              <a:t>算</a:t>
            </a:r>
            <a:r>
              <a:rPr dirty="0" sz="2000">
                <a:latin typeface="宋体"/>
                <a:cs typeface="宋体"/>
              </a:rPr>
              <a:t>机化</a:t>
            </a:r>
            <a:r>
              <a:rPr dirty="0" sz="2000" spc="-10">
                <a:latin typeface="宋体"/>
                <a:cs typeface="宋体"/>
              </a:rPr>
              <a:t>，</a:t>
            </a:r>
            <a:r>
              <a:rPr dirty="0" sz="2000">
                <a:latin typeface="宋体"/>
                <a:cs typeface="宋体"/>
              </a:rPr>
              <a:t>是吗”</a:t>
            </a:r>
            <a:endParaRPr sz="2000">
              <a:latin typeface="宋体"/>
              <a:cs typeface="宋体"/>
            </a:endParaRPr>
          </a:p>
          <a:p>
            <a:pPr marL="355600" indent="-343535">
              <a:lnSpc>
                <a:spcPct val="100000"/>
              </a:lnSpc>
              <a:buClr>
                <a:srgbClr val="00663B"/>
              </a:buClr>
              <a:buSzPct val="78571"/>
              <a:buFont typeface="Wingdings"/>
              <a:buChar char=""/>
              <a:tabLst>
                <a:tab pos="355600" algn="l"/>
                <a:tab pos="356235" algn="l"/>
              </a:tabLst>
            </a:pPr>
            <a:r>
              <a:rPr dirty="0" sz="2100" b="1">
                <a:latin typeface="宋体"/>
                <a:cs typeface="宋体"/>
              </a:rPr>
              <a:t>双重问题</a:t>
            </a:r>
            <a:endParaRPr sz="2100">
              <a:latin typeface="宋体"/>
              <a:cs typeface="宋体"/>
            </a:endParaRPr>
          </a:p>
          <a:p>
            <a:pPr lvl="1" marL="756285" indent="-287020">
              <a:lnSpc>
                <a:spcPts val="2400"/>
              </a:lnSpc>
              <a:spcBef>
                <a:spcPts val="5"/>
              </a:spcBef>
              <a:buClr>
                <a:srgbClr val="C00000"/>
              </a:buClr>
              <a:buSzPct val="60000"/>
              <a:buFont typeface="Wingdings"/>
              <a:buChar char=""/>
              <a:tabLst>
                <a:tab pos="756285" algn="l"/>
                <a:tab pos="756920" algn="l"/>
              </a:tabLst>
            </a:pPr>
            <a:r>
              <a:rPr dirty="0" sz="2000">
                <a:latin typeface="宋体"/>
                <a:cs typeface="宋体"/>
              </a:rPr>
              <a:t>“每天你通常会做什么</a:t>
            </a:r>
            <a:r>
              <a:rPr dirty="0" sz="2000" spc="-15">
                <a:latin typeface="宋体"/>
                <a:cs typeface="宋体"/>
              </a:rPr>
              <a:t>决</a:t>
            </a:r>
            <a:r>
              <a:rPr dirty="0" sz="2000">
                <a:latin typeface="宋体"/>
                <a:cs typeface="宋体"/>
              </a:rPr>
              <a:t>策，</a:t>
            </a:r>
            <a:r>
              <a:rPr dirty="0" sz="2000" spc="-15">
                <a:latin typeface="宋体"/>
                <a:cs typeface="宋体"/>
              </a:rPr>
              <a:t>你</a:t>
            </a:r>
            <a:r>
              <a:rPr dirty="0" sz="2000">
                <a:latin typeface="宋体"/>
                <a:cs typeface="宋体"/>
              </a:rPr>
              <a:t>是怎</a:t>
            </a:r>
            <a:r>
              <a:rPr dirty="0" sz="2000" spc="-15">
                <a:latin typeface="宋体"/>
                <a:cs typeface="宋体"/>
              </a:rPr>
              <a:t>样</a:t>
            </a:r>
            <a:r>
              <a:rPr dirty="0" sz="2000">
                <a:latin typeface="宋体"/>
                <a:cs typeface="宋体"/>
              </a:rPr>
              <a:t>做的”</a:t>
            </a:r>
            <a:endParaRPr sz="2000">
              <a:latin typeface="宋体"/>
              <a:cs typeface="宋体"/>
            </a:endParaRPr>
          </a:p>
          <a:p>
            <a:pPr marL="355600" indent="-343535">
              <a:lnSpc>
                <a:spcPts val="2520"/>
              </a:lnSpc>
              <a:buClr>
                <a:srgbClr val="00663B"/>
              </a:buClr>
              <a:buSzPct val="78571"/>
              <a:buFont typeface="Wingdings"/>
              <a:buChar char=""/>
              <a:tabLst>
                <a:tab pos="355600" algn="l"/>
                <a:tab pos="356235" algn="l"/>
              </a:tabLst>
            </a:pPr>
            <a:r>
              <a:rPr dirty="0" sz="2100" b="1">
                <a:latin typeface="宋体"/>
                <a:cs typeface="宋体"/>
              </a:rPr>
              <a:t>元问题</a:t>
            </a:r>
            <a:endParaRPr sz="2100">
              <a:latin typeface="宋体"/>
              <a:cs typeface="宋体"/>
            </a:endParaRPr>
          </a:p>
          <a:p>
            <a:pPr lvl="1" marL="756285" indent="-287020">
              <a:lnSpc>
                <a:spcPct val="100000"/>
              </a:lnSpc>
              <a:spcBef>
                <a:spcPts val="5"/>
              </a:spcBef>
              <a:buClr>
                <a:srgbClr val="C00000"/>
              </a:buClr>
              <a:buSzPct val="60000"/>
              <a:buFont typeface="Wingdings"/>
              <a:buChar char=""/>
              <a:tabLst>
                <a:tab pos="756285" algn="l"/>
                <a:tab pos="756920" algn="l"/>
              </a:tabLst>
            </a:pPr>
            <a:r>
              <a:rPr dirty="0" sz="2000">
                <a:latin typeface="宋体"/>
                <a:cs typeface="宋体"/>
              </a:rPr>
              <a:t>我的问题看起来相关吗？</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你的回答正式吗？</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你是回答这些问题的最</a:t>
            </a:r>
            <a:r>
              <a:rPr dirty="0" sz="2000" spc="-15">
                <a:latin typeface="宋体"/>
                <a:cs typeface="宋体"/>
              </a:rPr>
              <a:t>佳</a:t>
            </a:r>
            <a:r>
              <a:rPr dirty="0" sz="2000">
                <a:latin typeface="宋体"/>
                <a:cs typeface="宋体"/>
              </a:rPr>
              <a:t>人选</a:t>
            </a:r>
            <a:r>
              <a:rPr dirty="0" sz="2000" spc="-15">
                <a:latin typeface="宋体"/>
                <a:cs typeface="宋体"/>
              </a:rPr>
              <a:t>吗</a:t>
            </a:r>
            <a:r>
              <a:rPr dirty="0" sz="2000">
                <a:latin typeface="宋体"/>
                <a:cs typeface="宋体"/>
              </a:rPr>
              <a:t>？</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我问了太多的问题吗？</a:t>
            </a:r>
            <a:endParaRPr sz="2000">
              <a:latin typeface="宋体"/>
              <a:cs typeface="宋体"/>
            </a:endParaRPr>
          </a:p>
          <a:p>
            <a:pPr lvl="1" marL="756285" indent="-287020">
              <a:lnSpc>
                <a:spcPct val="100000"/>
              </a:lnSpc>
              <a:buClr>
                <a:srgbClr val="C00000"/>
              </a:buClr>
              <a:buSzPct val="60000"/>
              <a:buFont typeface="Wingdings"/>
              <a:buChar char=""/>
              <a:tabLst>
                <a:tab pos="756285" algn="l"/>
                <a:tab pos="756920" algn="l"/>
              </a:tabLst>
            </a:pPr>
            <a:r>
              <a:rPr dirty="0" sz="2000">
                <a:latin typeface="宋体"/>
                <a:cs typeface="宋体"/>
              </a:rPr>
              <a:t>我还应该见什么人？</a:t>
            </a:r>
            <a:endParaRPr sz="2000">
              <a:latin typeface="宋体"/>
              <a:cs typeface="宋体"/>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1936" y="0"/>
            <a:ext cx="5884545" cy="1123315"/>
          </a:xfrm>
          <a:prstGeom prst="rect"/>
        </p:spPr>
        <p:txBody>
          <a:bodyPr wrap="square" lIns="0" tIns="12700" rIns="0" bIns="0" rtlCol="0" vert="horz">
            <a:spAutoFit/>
          </a:bodyPr>
          <a:lstStyle/>
          <a:p>
            <a:pPr marL="826769">
              <a:lnSpc>
                <a:spcPct val="100000"/>
              </a:lnSpc>
              <a:spcBef>
                <a:spcPts val="100"/>
              </a:spcBef>
            </a:pPr>
            <a:r>
              <a:rPr dirty="0" sz="3600">
                <a:latin typeface="Calibri"/>
                <a:cs typeface="Calibri"/>
              </a:rPr>
              <a:t>4.1.1</a:t>
            </a:r>
            <a:r>
              <a:rPr dirty="0" sz="3600" spc="-10">
                <a:latin typeface="Calibri"/>
                <a:cs typeface="Calibri"/>
              </a:rPr>
              <a:t> </a:t>
            </a:r>
            <a:r>
              <a:rPr dirty="0" sz="3600"/>
              <a:t>问题的类型</a:t>
            </a:r>
            <a:endParaRPr sz="3600">
              <a:latin typeface="Calibri"/>
              <a:cs typeface="Calibri"/>
            </a:endParaRPr>
          </a:p>
          <a:p>
            <a:pPr marL="12700">
              <a:lnSpc>
                <a:spcPct val="100000"/>
              </a:lnSpc>
            </a:pPr>
            <a:r>
              <a:rPr dirty="0" sz="3600">
                <a:latin typeface="Calibri"/>
                <a:cs typeface="Calibri"/>
              </a:rPr>
              <a:t>——</a:t>
            </a:r>
            <a:r>
              <a:rPr dirty="0" sz="3600" spc="-5"/>
              <a:t>其他重要的问题类型示例</a:t>
            </a:r>
            <a:endParaRPr sz="3600">
              <a:latin typeface="Calibri"/>
              <a:cs typeface="Calibri"/>
            </a:endParaRPr>
          </a:p>
        </p:txBody>
      </p:sp>
      <p:graphicFrame>
        <p:nvGraphicFramePr>
          <p:cNvPr id="3" name="object 3"/>
          <p:cNvGraphicFramePr>
            <a:graphicFrameLocks noGrp="1"/>
          </p:cNvGraphicFramePr>
          <p:nvPr/>
        </p:nvGraphicFramePr>
        <p:xfrm>
          <a:off x="69850" y="1251203"/>
          <a:ext cx="8934450" cy="5042535"/>
        </p:xfrm>
        <a:graphic>
          <a:graphicData uri="http://schemas.openxmlformats.org/drawingml/2006/table">
            <a:tbl>
              <a:tblPr firstRow="1" bandRow="1">
                <a:tableStyleId>{2D5ABB26-0587-4C30-8999-92F81FD0307C}</a:tableStyleId>
              </a:tblPr>
              <a:tblGrid>
                <a:gridCol w="1328420"/>
                <a:gridCol w="7586980"/>
              </a:tblGrid>
              <a:tr h="365760">
                <a:tc>
                  <a:txBody>
                    <a:bodyPr/>
                    <a:lstStyle/>
                    <a:p>
                      <a:pPr marL="434340">
                        <a:lnSpc>
                          <a:spcPct val="100000"/>
                        </a:lnSpc>
                        <a:spcBef>
                          <a:spcPts val="300"/>
                        </a:spcBef>
                      </a:pPr>
                      <a:r>
                        <a:rPr dirty="0" sz="1800">
                          <a:latin typeface="微软雅黑"/>
                          <a:cs typeface="微软雅黑"/>
                        </a:rPr>
                        <a:t>提示</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635">
                        <a:lnSpc>
                          <a:spcPct val="100000"/>
                        </a:lnSpc>
                        <a:spcBef>
                          <a:spcPts val="300"/>
                        </a:spcBef>
                      </a:pPr>
                      <a:r>
                        <a:rPr dirty="0" sz="1800">
                          <a:latin typeface="微软雅黑"/>
                          <a:cs typeface="微软雅黑"/>
                        </a:rPr>
                        <a:t>示例</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60">
                <a:tc rowSpan="3">
                  <a:txBody>
                    <a:bodyPr/>
                    <a:lstStyle/>
                    <a:p>
                      <a:pPr>
                        <a:lnSpc>
                          <a:spcPct val="100000"/>
                        </a:lnSpc>
                        <a:spcBef>
                          <a:spcPts val="20"/>
                        </a:spcBef>
                      </a:pPr>
                      <a:endParaRPr sz="2750">
                        <a:latin typeface="Times New Roman"/>
                        <a:cs typeface="Times New Roman"/>
                      </a:endParaRPr>
                    </a:p>
                    <a:p>
                      <a:pPr marL="90805">
                        <a:lnSpc>
                          <a:spcPct val="100000"/>
                        </a:lnSpc>
                      </a:pPr>
                      <a:r>
                        <a:rPr dirty="0" sz="1800">
                          <a:latin typeface="微软雅黑"/>
                          <a:cs typeface="微软雅黑"/>
                        </a:rPr>
                        <a:t>总结和反馈</a:t>
                      </a:r>
                      <a:endParaRPr sz="1800">
                        <a:latin typeface="微软雅黑"/>
                        <a:cs typeface="微软雅黑"/>
                      </a:endParaR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0"/>
                        </a:spcBef>
                      </a:pPr>
                      <a:r>
                        <a:rPr dirty="0" sz="1800">
                          <a:latin typeface="微软雅黑"/>
                          <a:cs typeface="微软雅黑"/>
                        </a:rPr>
                        <a:t>你能不能总结一下系统的功能？</a:t>
                      </a:r>
                      <a:endParaRPr sz="1800">
                        <a:latin typeface="微软雅黑"/>
                        <a:cs typeface="微软雅黑"/>
                      </a:endParaRPr>
                    </a:p>
                  </a:txBody>
                  <a:tcPr marL="0" marR="0" marB="0" marT="3810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60">
                <a:tc vMerge="1">
                  <a:txBody>
                    <a:bodyPr/>
                    <a:lstStyle/>
                    <a:p>
                      <a:p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你能不能总结一下一个成功系统的必备特征？</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60">
                <a:tc vMerge="1">
                  <a:txBody>
                    <a:bodyPr/>
                    <a:lstStyle/>
                    <a:p>
                      <a:p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在使用的时候，你希望能够从系统当中得到什么类型的信息反馈？</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59">
                <a:tc rowSpan="3">
                  <a:txBody>
                    <a:bodyPr/>
                    <a:lstStyle/>
                    <a:p>
                      <a:pPr>
                        <a:lnSpc>
                          <a:spcPct val="100000"/>
                        </a:lnSpc>
                        <a:spcBef>
                          <a:spcPts val="20"/>
                        </a:spcBef>
                      </a:pPr>
                      <a:endParaRPr sz="2750">
                        <a:latin typeface="Times New Roman"/>
                        <a:cs typeface="Times New Roman"/>
                      </a:endParaRPr>
                    </a:p>
                    <a:p>
                      <a:pPr marL="90805">
                        <a:lnSpc>
                          <a:spcPct val="100000"/>
                        </a:lnSpc>
                      </a:pPr>
                      <a:r>
                        <a:rPr dirty="0" sz="1800" spc="-5">
                          <a:latin typeface="微软雅黑"/>
                          <a:cs typeface="微软雅黑"/>
                        </a:rPr>
                        <a:t>重复和改述</a:t>
                      </a:r>
                      <a:endParaRPr sz="1800">
                        <a:latin typeface="微软雅黑"/>
                        <a:cs typeface="微软雅黑"/>
                      </a:endParaR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能不能再说一次系统的哪些特征是重要的？</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60">
                <a:tc vMerge="1">
                  <a:txBody>
                    <a:bodyPr/>
                    <a:lstStyle/>
                    <a:p>
                      <a:p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spc="-5">
                          <a:latin typeface="微软雅黑"/>
                          <a:cs typeface="微软雅黑"/>
                        </a:rPr>
                        <a:t>你能不能详细的重新叙述一下使用系统的步骤？</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887">
                <a:tc vMerge="1">
                  <a:txBody>
                    <a:bodyPr/>
                    <a:lstStyle/>
                    <a:p>
                      <a:pPr/>
                    </a:p>
                  </a:txBody>
                  <a:tcPr marL="0" marR="0" marB="0" marT="254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在使用系统的时候你会做出什么决定？</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60">
                <a:tc rowSpan="3">
                  <a:txBody>
                    <a:bodyPr/>
                    <a:lstStyle/>
                    <a:p>
                      <a:pPr>
                        <a:lnSpc>
                          <a:spcPct val="100000"/>
                        </a:lnSpc>
                        <a:spcBef>
                          <a:spcPts val="10"/>
                        </a:spcBef>
                      </a:pPr>
                      <a:endParaRPr sz="2750">
                        <a:latin typeface="Times New Roman"/>
                        <a:cs typeface="Times New Roman"/>
                      </a:endParaRPr>
                    </a:p>
                    <a:p>
                      <a:pPr marL="90805">
                        <a:lnSpc>
                          <a:spcPct val="100000"/>
                        </a:lnSpc>
                      </a:pPr>
                      <a:r>
                        <a:rPr dirty="0" sz="1800">
                          <a:latin typeface="微软雅黑"/>
                          <a:cs typeface="微软雅黑"/>
                        </a:rPr>
                        <a:t>建立场景和</a:t>
                      </a:r>
                      <a:endParaRPr sz="1800">
                        <a:latin typeface="微软雅黑"/>
                        <a:cs typeface="微软雅黑"/>
                      </a:endParaRPr>
                    </a:p>
                    <a:p>
                      <a:pPr marL="90805">
                        <a:lnSpc>
                          <a:spcPct val="100000"/>
                        </a:lnSpc>
                        <a:spcBef>
                          <a:spcPts val="15"/>
                        </a:spcBef>
                      </a:pPr>
                      <a:r>
                        <a:rPr dirty="0" sz="1800" spc="-5">
                          <a:latin typeface="微软雅黑"/>
                          <a:cs typeface="微软雅黑"/>
                        </a:rPr>
                        <a:t>细节描述</a:t>
                      </a:r>
                      <a:endParaRPr sz="1800">
                        <a:latin typeface="微软雅黑"/>
                        <a:cs typeface="微软雅黑"/>
                      </a:endParaRPr>
                    </a:p>
                  </a:txBody>
                  <a:tcPr marL="0" marR="0" marB="0" marT="12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有什么是你现在能做，却在新系统中不能做的？</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59">
                <a:tc vMerge="1">
                  <a:txBody>
                    <a:bodyPr/>
                    <a:lstStyle/>
                    <a:p>
                      <a:pPr/>
                    </a:p>
                  </a:txBody>
                  <a:tcPr marL="0" marR="0" marB="0" marT="12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在什么情况下，功能是必需的？</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640080">
                <a:tc vMerge="1">
                  <a:txBody>
                    <a:bodyPr/>
                    <a:lstStyle/>
                    <a:p>
                      <a:pPr/>
                    </a:p>
                  </a:txBody>
                  <a:tcPr marL="0" marR="0" marB="0" marT="127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295"/>
                        </a:spcBef>
                      </a:pPr>
                      <a:r>
                        <a:rPr dirty="0" sz="1800" spc="-5">
                          <a:latin typeface="微软雅黑"/>
                          <a:cs typeface="微软雅黑"/>
                        </a:rPr>
                        <a:t>设想现在是</a:t>
                      </a:r>
                      <a:r>
                        <a:rPr dirty="0" sz="1800" spc="-5">
                          <a:latin typeface="Times New Roman"/>
                          <a:cs typeface="Times New Roman"/>
                        </a:rPr>
                        <a:t>6</a:t>
                      </a:r>
                      <a:r>
                        <a:rPr dirty="0" sz="1800" spc="-5">
                          <a:latin typeface="微软雅黑"/>
                          <a:cs typeface="微软雅黑"/>
                        </a:rPr>
                        <a:t>个月之后，你需要评估系统的成功状况，你会使用哪些标准</a:t>
                      </a:r>
                      <a:endParaRPr sz="1800">
                        <a:latin typeface="微软雅黑"/>
                        <a:cs typeface="微软雅黑"/>
                      </a:endParaRPr>
                    </a:p>
                    <a:p>
                      <a:pPr marL="434340">
                        <a:lnSpc>
                          <a:spcPct val="100000"/>
                        </a:lnSpc>
                        <a:spcBef>
                          <a:spcPts val="10"/>
                        </a:spcBef>
                      </a:pPr>
                      <a:r>
                        <a:rPr dirty="0" sz="1800">
                          <a:latin typeface="微软雅黑"/>
                          <a:cs typeface="微软雅黑"/>
                        </a:rPr>
                        <a:t>来做出评价？</a:t>
                      </a:r>
                      <a:endParaRPr sz="1800">
                        <a:latin typeface="微软雅黑"/>
                        <a:cs typeface="微软雅黑"/>
                      </a:endParaRPr>
                    </a:p>
                  </a:txBody>
                  <a:tcPr marL="0" marR="0" marB="0" marT="3746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60">
                <a:tc rowSpan="3">
                  <a:txBody>
                    <a:bodyPr/>
                    <a:lstStyle/>
                    <a:p>
                      <a:pPr>
                        <a:lnSpc>
                          <a:spcPct val="100000"/>
                        </a:lnSpc>
                        <a:spcBef>
                          <a:spcPts val="25"/>
                        </a:spcBef>
                      </a:pPr>
                      <a:endParaRPr sz="2750">
                        <a:latin typeface="Times New Roman"/>
                        <a:cs typeface="Times New Roman"/>
                      </a:endParaRPr>
                    </a:p>
                    <a:p>
                      <a:pPr marL="90805">
                        <a:lnSpc>
                          <a:spcPct val="100000"/>
                        </a:lnSpc>
                      </a:pPr>
                      <a:r>
                        <a:rPr dirty="0" sz="1800">
                          <a:latin typeface="微软雅黑"/>
                          <a:cs typeface="微软雅黑"/>
                        </a:rPr>
                        <a:t>抗辩</a:t>
                      </a:r>
                      <a:endParaRPr sz="1800">
                        <a:latin typeface="微软雅黑"/>
                        <a:cs typeface="微软雅黑"/>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9"/>
                        </a:spcBef>
                      </a:pPr>
                      <a:r>
                        <a:rPr dirty="0" sz="1800">
                          <a:latin typeface="微软雅黑"/>
                          <a:cs typeface="微软雅黑"/>
                        </a:rPr>
                        <a:t>你能不能想出什么不使用系统的理由？</a:t>
                      </a:r>
                      <a:endParaRPr sz="1800">
                        <a:latin typeface="微软雅黑"/>
                        <a:cs typeface="微软雅黑"/>
                      </a:endParaRPr>
                    </a:p>
                  </a:txBody>
                  <a:tcPr marL="0" marR="0" marB="0" marT="3936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34">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5"/>
                        </a:spcBef>
                      </a:pPr>
                      <a:r>
                        <a:rPr dirty="0" sz="1800">
                          <a:latin typeface="微软雅黑"/>
                          <a:cs typeface="微软雅黑"/>
                        </a:rPr>
                        <a:t>你为什么会不想使用系统呢？</a:t>
                      </a:r>
                      <a:endParaRPr sz="1800">
                        <a:latin typeface="微软雅黑"/>
                        <a:cs typeface="微软雅黑"/>
                      </a:endParaRPr>
                    </a:p>
                  </a:txBody>
                  <a:tcPr marL="0" marR="0" marB="0" marT="3873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365760">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9"/>
                        </a:spcBef>
                      </a:pPr>
                      <a:r>
                        <a:rPr dirty="0" sz="1800" spc="-5">
                          <a:latin typeface="微软雅黑"/>
                          <a:cs typeface="微软雅黑"/>
                        </a:rPr>
                        <a:t>你能不能想出将来可能导致系统失败或故障的原因？</a:t>
                      </a:r>
                      <a:endParaRPr sz="1800">
                        <a:latin typeface="微软雅黑"/>
                        <a:cs typeface="微软雅黑"/>
                      </a:endParaRPr>
                    </a:p>
                  </a:txBody>
                  <a:tcPr marL="0" marR="0" marB="0" marT="39369">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4262" y="219532"/>
            <a:ext cx="6878955"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4.1.2</a:t>
            </a:r>
            <a:r>
              <a:rPr dirty="0" spc="-100">
                <a:latin typeface="Calibri"/>
                <a:cs typeface="Calibri"/>
              </a:rPr>
              <a:t> </a:t>
            </a:r>
            <a:r>
              <a:rPr dirty="0" spc="5"/>
              <a:t>问题的组织：面谈结构</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179196"/>
            <a:ext cx="3550285" cy="2515235"/>
          </a:xfrm>
          <a:prstGeom prst="rect">
            <a:avLst/>
          </a:prstGeom>
        </p:spPr>
        <p:txBody>
          <a:bodyPr wrap="square" lIns="0" tIns="77470" rIns="0" bIns="0" rtlCol="0" vert="horz">
            <a:spAutoFit/>
          </a:bodyPr>
          <a:lstStyle/>
          <a:p>
            <a:pPr marL="12700">
              <a:lnSpc>
                <a:spcPct val="100000"/>
              </a:lnSpc>
              <a:spcBef>
                <a:spcPts val="610"/>
              </a:spcBef>
            </a:pPr>
            <a:r>
              <a:rPr dirty="0" sz="3200" spc="5">
                <a:solidFill>
                  <a:srgbClr val="00663B"/>
                </a:solidFill>
                <a:latin typeface="Wingdings"/>
                <a:cs typeface="Wingdings"/>
              </a:rPr>
              <a:t>◼</a:t>
            </a:r>
            <a:r>
              <a:rPr dirty="0" sz="3200" spc="-565">
                <a:solidFill>
                  <a:srgbClr val="00663B"/>
                </a:solidFill>
                <a:latin typeface="Times New Roman"/>
                <a:cs typeface="Times New Roman"/>
              </a:rPr>
              <a:t> </a:t>
            </a:r>
            <a:r>
              <a:rPr dirty="0" sz="4000" spc="-10">
                <a:latin typeface="宋体"/>
                <a:cs typeface="宋体"/>
              </a:rPr>
              <a:t>三种基础结</a:t>
            </a:r>
            <a:r>
              <a:rPr dirty="0" sz="4000" spc="-5">
                <a:latin typeface="宋体"/>
                <a:cs typeface="宋体"/>
              </a:rPr>
              <a:t>构</a:t>
            </a:r>
            <a:r>
              <a:rPr dirty="0" sz="4000" spc="-755">
                <a:latin typeface="Calibri"/>
                <a:cs typeface="Calibri"/>
              </a:rPr>
              <a:t>:</a:t>
            </a:r>
            <a:endParaRPr sz="4000">
              <a:latin typeface="Calibri"/>
              <a:cs typeface="Calibri"/>
            </a:endParaRPr>
          </a:p>
          <a:p>
            <a:pPr marL="756285" indent="-287020">
              <a:lnSpc>
                <a:spcPct val="100000"/>
              </a:lnSpc>
              <a:spcBef>
                <a:spcPts val="465"/>
              </a:spcBef>
              <a:buClr>
                <a:srgbClr val="C00000"/>
              </a:buClr>
              <a:buSzPct val="59722"/>
              <a:buFont typeface="Wingdings"/>
              <a:buChar char=""/>
              <a:tabLst>
                <a:tab pos="756920" algn="l"/>
              </a:tabLst>
            </a:pPr>
            <a:r>
              <a:rPr dirty="0" sz="3600">
                <a:latin typeface="宋体"/>
                <a:cs typeface="宋体"/>
              </a:rPr>
              <a:t>金字塔型</a:t>
            </a:r>
            <a:endParaRPr sz="3600">
              <a:latin typeface="宋体"/>
              <a:cs typeface="宋体"/>
            </a:endParaRPr>
          </a:p>
          <a:p>
            <a:pPr marL="756285" indent="-287020">
              <a:lnSpc>
                <a:spcPct val="100000"/>
              </a:lnSpc>
              <a:spcBef>
                <a:spcPts val="430"/>
              </a:spcBef>
              <a:buClr>
                <a:srgbClr val="C00000"/>
              </a:buClr>
              <a:buSzPct val="59722"/>
              <a:buFont typeface="Wingdings"/>
              <a:buChar char=""/>
              <a:tabLst>
                <a:tab pos="756920" algn="l"/>
              </a:tabLst>
            </a:pPr>
            <a:r>
              <a:rPr dirty="0" sz="3600">
                <a:latin typeface="宋体"/>
                <a:cs typeface="宋体"/>
              </a:rPr>
              <a:t>漏斗型</a:t>
            </a:r>
            <a:endParaRPr sz="3600">
              <a:latin typeface="宋体"/>
              <a:cs typeface="宋体"/>
            </a:endParaRPr>
          </a:p>
          <a:p>
            <a:pPr marL="756285" indent="-287020">
              <a:lnSpc>
                <a:spcPct val="100000"/>
              </a:lnSpc>
              <a:spcBef>
                <a:spcPts val="434"/>
              </a:spcBef>
              <a:buClr>
                <a:srgbClr val="C00000"/>
              </a:buClr>
              <a:buSzPct val="59722"/>
              <a:buFont typeface="Wingdings"/>
              <a:buChar char=""/>
              <a:tabLst>
                <a:tab pos="756920" algn="l"/>
              </a:tabLst>
            </a:pPr>
            <a:r>
              <a:rPr dirty="0" sz="3600">
                <a:latin typeface="宋体"/>
                <a:cs typeface="宋体"/>
              </a:rPr>
              <a:t>菱形</a:t>
            </a:r>
            <a:endParaRPr sz="3600">
              <a:latin typeface="宋体"/>
              <a:cs typeface="宋体"/>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84170" y="52196"/>
            <a:ext cx="3925570" cy="1184275"/>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4.1.2</a:t>
            </a:r>
            <a:r>
              <a:rPr dirty="0" sz="3800" spc="-20">
                <a:latin typeface="Calibri"/>
                <a:cs typeface="Calibri"/>
              </a:rPr>
              <a:t> </a:t>
            </a:r>
            <a:r>
              <a:rPr dirty="0" sz="3800"/>
              <a:t>问题的组织</a:t>
            </a:r>
            <a:endParaRPr sz="3800">
              <a:latin typeface="Calibri"/>
              <a:cs typeface="Calibri"/>
            </a:endParaRPr>
          </a:p>
          <a:p>
            <a:pPr algn="ctr" marL="517525">
              <a:lnSpc>
                <a:spcPct val="100000"/>
              </a:lnSpc>
              <a:spcBef>
                <a:spcPts val="5"/>
              </a:spcBef>
            </a:pPr>
            <a:r>
              <a:rPr dirty="0" sz="3800">
                <a:latin typeface="Arial"/>
                <a:cs typeface="Arial"/>
              </a:rPr>
              <a:t>——</a:t>
            </a:r>
            <a:r>
              <a:rPr dirty="0" sz="3800"/>
              <a:t>金字塔结构</a:t>
            </a:r>
            <a:endParaRPr sz="3800">
              <a:latin typeface="Arial"/>
              <a:cs typeface="Arial"/>
            </a:endParaRPr>
          </a:p>
        </p:txBody>
      </p:sp>
      <p:sp>
        <p:nvSpPr>
          <p:cNvPr id="3" name="object 3"/>
          <p:cNvSpPr txBox="1"/>
          <p:nvPr/>
        </p:nvSpPr>
        <p:spPr>
          <a:xfrm>
            <a:off x="535940" y="2033142"/>
            <a:ext cx="3437254" cy="1413510"/>
          </a:xfrm>
          <a:prstGeom prst="rect">
            <a:avLst/>
          </a:prstGeom>
        </p:spPr>
        <p:txBody>
          <a:bodyPr wrap="square" lIns="0" tIns="83820" rIns="0" bIns="0" rtlCol="0" vert="horz">
            <a:spAutoFit/>
          </a:bodyPr>
          <a:lstStyle/>
          <a:p>
            <a:pPr algn="just" marL="355600" marR="5080" indent="-343535">
              <a:lnSpc>
                <a:spcPct val="78500"/>
              </a:lnSpc>
              <a:spcBef>
                <a:spcPts val="660"/>
              </a:spcBef>
              <a:buClr>
                <a:srgbClr val="00663B"/>
              </a:buClr>
              <a:buSzPct val="79545"/>
              <a:buFont typeface="Wingdings"/>
              <a:buChar char=""/>
              <a:tabLst>
                <a:tab pos="356235" algn="l"/>
              </a:tabLst>
            </a:pPr>
            <a:r>
              <a:rPr dirty="0" sz="2200" spc="-5">
                <a:latin typeface="宋体"/>
                <a:cs typeface="宋体"/>
              </a:rPr>
              <a:t>如果会见者认为被会见者 需</a:t>
            </a:r>
            <a:r>
              <a:rPr dirty="0" sz="2200" spc="-10">
                <a:latin typeface="宋体"/>
                <a:cs typeface="宋体"/>
              </a:rPr>
              <a:t>要</a:t>
            </a:r>
            <a:r>
              <a:rPr dirty="0" sz="2200" spc="-5">
                <a:solidFill>
                  <a:srgbClr val="00A15F"/>
                </a:solidFill>
                <a:latin typeface="宋体"/>
                <a:cs typeface="宋体"/>
              </a:rPr>
              <a:t>对话题进行预热</a:t>
            </a:r>
            <a:r>
              <a:rPr dirty="0" sz="2200" spc="-5">
                <a:latin typeface="宋体"/>
                <a:cs typeface="宋体"/>
              </a:rPr>
              <a:t>，可 以采用金字塔结构，通过 </a:t>
            </a:r>
            <a:r>
              <a:rPr dirty="0" sz="2200" spc="-5">
                <a:solidFill>
                  <a:srgbClr val="00A15F"/>
                </a:solidFill>
                <a:latin typeface="宋体"/>
                <a:cs typeface="宋体"/>
              </a:rPr>
              <a:t>逐步的引</a:t>
            </a:r>
            <a:r>
              <a:rPr dirty="0" sz="2200" spc="-10">
                <a:solidFill>
                  <a:srgbClr val="00A15F"/>
                </a:solidFill>
                <a:latin typeface="宋体"/>
                <a:cs typeface="宋体"/>
              </a:rPr>
              <a:t>导</a:t>
            </a:r>
            <a:r>
              <a:rPr dirty="0" sz="2200" spc="-5">
                <a:latin typeface="宋体"/>
                <a:cs typeface="宋体"/>
              </a:rPr>
              <a:t>来使得被会见 </a:t>
            </a:r>
            <a:r>
              <a:rPr dirty="0" sz="2200" spc="-10">
                <a:latin typeface="宋体"/>
                <a:cs typeface="宋体"/>
              </a:rPr>
              <a:t>者打开话匣子。</a:t>
            </a:r>
            <a:endParaRPr sz="2200">
              <a:latin typeface="宋体"/>
              <a:cs typeface="宋体"/>
            </a:endParaRPr>
          </a:p>
        </p:txBody>
      </p:sp>
      <p:sp>
        <p:nvSpPr>
          <p:cNvPr id="4" name="object 4"/>
          <p:cNvSpPr txBox="1"/>
          <p:nvPr/>
        </p:nvSpPr>
        <p:spPr>
          <a:xfrm>
            <a:off x="535940" y="3776853"/>
            <a:ext cx="3436620" cy="1414145"/>
          </a:xfrm>
          <a:prstGeom prst="rect">
            <a:avLst/>
          </a:prstGeom>
        </p:spPr>
        <p:txBody>
          <a:bodyPr wrap="square" lIns="0" tIns="83820" rIns="0" bIns="0" rtlCol="0" vert="horz">
            <a:spAutoFit/>
          </a:bodyPr>
          <a:lstStyle/>
          <a:p>
            <a:pPr algn="just" marL="355600" marR="5080" indent="-343535">
              <a:lnSpc>
                <a:spcPct val="78600"/>
              </a:lnSpc>
              <a:spcBef>
                <a:spcPts val="660"/>
              </a:spcBef>
              <a:buClr>
                <a:srgbClr val="00663B"/>
              </a:buClr>
              <a:buSzPct val="79545"/>
              <a:buFont typeface="Wingdings"/>
              <a:buChar char=""/>
              <a:tabLst>
                <a:tab pos="356235" algn="l"/>
              </a:tabLst>
            </a:pPr>
            <a:r>
              <a:rPr dirty="0" sz="2200" spc="-5">
                <a:latin typeface="宋体"/>
                <a:cs typeface="宋体"/>
              </a:rPr>
              <a:t>如果会见者发现自己事先 对事实的确认存在较大偏 差或者被会见者看上去不 </a:t>
            </a:r>
            <a:r>
              <a:rPr dirty="0" sz="2200" spc="-10">
                <a:latin typeface="宋体"/>
                <a:cs typeface="宋体"/>
              </a:rPr>
              <a:t>情愿讨论这个话题，也可 </a:t>
            </a:r>
            <a:r>
              <a:rPr dirty="0" sz="2200" spc="-5">
                <a:latin typeface="宋体"/>
                <a:cs typeface="宋体"/>
              </a:rPr>
              <a:t>以采用金字塔结构。</a:t>
            </a:r>
            <a:endParaRPr sz="2200">
              <a:latin typeface="宋体"/>
              <a:cs typeface="宋体"/>
            </a:endParaRPr>
          </a:p>
        </p:txBody>
      </p:sp>
      <p:sp>
        <p:nvSpPr>
          <p:cNvPr id="5" name="object 5"/>
          <p:cNvSpPr/>
          <p:nvPr/>
        </p:nvSpPr>
        <p:spPr>
          <a:xfrm>
            <a:off x="3853493" y="1620067"/>
            <a:ext cx="5236845" cy="4542790"/>
          </a:xfrm>
          <a:custGeom>
            <a:avLst/>
            <a:gdLst/>
            <a:ahLst/>
            <a:cxnLst/>
            <a:rect l="l" t="t" r="r" b="b"/>
            <a:pathLst>
              <a:path w="5236845" h="4542790">
                <a:moveTo>
                  <a:pt x="2618060" y="0"/>
                </a:moveTo>
                <a:lnTo>
                  <a:pt x="0" y="4542662"/>
                </a:lnTo>
                <a:lnTo>
                  <a:pt x="5236276" y="4542662"/>
                </a:lnTo>
                <a:lnTo>
                  <a:pt x="2618060" y="0"/>
                </a:lnTo>
                <a:close/>
              </a:path>
            </a:pathLst>
          </a:custGeom>
          <a:solidFill>
            <a:srgbClr val="E8EDF7"/>
          </a:solidFill>
        </p:spPr>
        <p:txBody>
          <a:bodyPr wrap="square" lIns="0" tIns="0" rIns="0" bIns="0" rtlCol="0"/>
          <a:lstStyle/>
          <a:p/>
        </p:txBody>
      </p:sp>
      <p:sp>
        <p:nvSpPr>
          <p:cNvPr id="6" name="object 6"/>
          <p:cNvSpPr/>
          <p:nvPr/>
        </p:nvSpPr>
        <p:spPr>
          <a:xfrm>
            <a:off x="3853493" y="1620067"/>
            <a:ext cx="5236845" cy="4542790"/>
          </a:xfrm>
          <a:custGeom>
            <a:avLst/>
            <a:gdLst/>
            <a:ahLst/>
            <a:cxnLst/>
            <a:rect l="l" t="t" r="r" b="b"/>
            <a:pathLst>
              <a:path w="5236845" h="4542790">
                <a:moveTo>
                  <a:pt x="5236276" y="4542662"/>
                </a:moveTo>
                <a:lnTo>
                  <a:pt x="2618060" y="0"/>
                </a:lnTo>
                <a:lnTo>
                  <a:pt x="0" y="4542662"/>
                </a:lnTo>
                <a:lnTo>
                  <a:pt x="5236276" y="4542662"/>
                </a:lnTo>
                <a:close/>
              </a:path>
            </a:pathLst>
          </a:custGeom>
          <a:ln w="3493">
            <a:solidFill>
              <a:srgbClr val="000000"/>
            </a:solidFill>
          </a:ln>
        </p:spPr>
        <p:txBody>
          <a:bodyPr wrap="square" lIns="0" tIns="0" rIns="0" bIns="0" rtlCol="0"/>
          <a:lstStyle/>
          <a:p/>
        </p:txBody>
      </p:sp>
      <p:sp>
        <p:nvSpPr>
          <p:cNvPr id="7" name="object 7"/>
          <p:cNvSpPr/>
          <p:nvPr/>
        </p:nvSpPr>
        <p:spPr>
          <a:xfrm>
            <a:off x="5069660" y="4023567"/>
            <a:ext cx="2787650" cy="29209"/>
          </a:xfrm>
          <a:custGeom>
            <a:avLst/>
            <a:gdLst/>
            <a:ahLst/>
            <a:cxnLst/>
            <a:rect l="l" t="t" r="r" b="b"/>
            <a:pathLst>
              <a:path w="2787650" h="29210">
                <a:moveTo>
                  <a:pt x="0" y="28991"/>
                </a:moveTo>
                <a:lnTo>
                  <a:pt x="2787134" y="0"/>
                </a:lnTo>
              </a:path>
            </a:pathLst>
          </a:custGeom>
          <a:ln w="3496">
            <a:solidFill>
              <a:srgbClr val="000000"/>
            </a:solidFill>
          </a:ln>
        </p:spPr>
        <p:txBody>
          <a:bodyPr wrap="square" lIns="0" tIns="0" rIns="0" bIns="0" rtlCol="0"/>
          <a:lstStyle/>
          <a:p/>
        </p:txBody>
      </p:sp>
      <p:sp>
        <p:nvSpPr>
          <p:cNvPr id="8" name="object 8"/>
          <p:cNvSpPr/>
          <p:nvPr/>
        </p:nvSpPr>
        <p:spPr>
          <a:xfrm>
            <a:off x="4459601" y="5111101"/>
            <a:ext cx="4029710" cy="9525"/>
          </a:xfrm>
          <a:custGeom>
            <a:avLst/>
            <a:gdLst/>
            <a:ahLst/>
            <a:cxnLst/>
            <a:rect l="l" t="t" r="r" b="b"/>
            <a:pathLst>
              <a:path w="4029709" h="9525">
                <a:moveTo>
                  <a:pt x="0" y="0"/>
                </a:moveTo>
                <a:lnTo>
                  <a:pt x="4029387" y="9323"/>
                </a:lnTo>
              </a:path>
            </a:pathLst>
          </a:custGeom>
          <a:ln w="3496">
            <a:solidFill>
              <a:srgbClr val="000000"/>
            </a:solidFill>
          </a:ln>
        </p:spPr>
        <p:txBody>
          <a:bodyPr wrap="square" lIns="0" tIns="0" rIns="0" bIns="0" rtlCol="0"/>
          <a:lstStyle/>
          <a:p/>
        </p:txBody>
      </p:sp>
      <p:sp>
        <p:nvSpPr>
          <p:cNvPr id="9" name="object 9"/>
          <p:cNvSpPr txBox="1"/>
          <p:nvPr/>
        </p:nvSpPr>
        <p:spPr>
          <a:xfrm>
            <a:off x="5662173" y="2151349"/>
            <a:ext cx="1621155" cy="880110"/>
          </a:xfrm>
          <a:prstGeom prst="rect">
            <a:avLst/>
          </a:prstGeom>
        </p:spPr>
        <p:txBody>
          <a:bodyPr wrap="square" lIns="0" tIns="12065" rIns="0" bIns="0" rtlCol="0" vert="horz">
            <a:spAutoFit/>
          </a:bodyPr>
          <a:lstStyle/>
          <a:p>
            <a:pPr algn="just" marL="445770" marR="468630">
              <a:lnSpc>
                <a:spcPct val="102000"/>
              </a:lnSpc>
              <a:spcBef>
                <a:spcPts val="95"/>
              </a:spcBef>
            </a:pPr>
            <a:r>
              <a:rPr dirty="0" sz="1350" spc="20">
                <a:latin typeface="宋体"/>
                <a:cs typeface="宋体"/>
              </a:rPr>
              <a:t>你碰到的 防火墙问 题有什么</a:t>
            </a:r>
            <a:endParaRPr sz="1350">
              <a:latin typeface="宋体"/>
              <a:cs typeface="宋体"/>
            </a:endParaRPr>
          </a:p>
          <a:p>
            <a:pPr algn="just" marL="12700">
              <a:lnSpc>
                <a:spcPct val="100000"/>
              </a:lnSpc>
              <a:spcBef>
                <a:spcPts val="150"/>
              </a:spcBef>
            </a:pPr>
            <a:r>
              <a:rPr dirty="0" u="sng" sz="1350" spc="5">
                <a:uFill>
                  <a:solidFill>
                    <a:srgbClr val="000000"/>
                  </a:solidFill>
                </a:uFill>
                <a:latin typeface="Times New Roman"/>
                <a:cs typeface="Times New Roman"/>
              </a:rPr>
              <a:t> </a:t>
            </a:r>
            <a:r>
              <a:rPr dirty="0" u="sng" sz="1350" spc="5">
                <a:uFill>
                  <a:solidFill>
                    <a:srgbClr val="000000"/>
                  </a:solidFill>
                </a:uFill>
                <a:latin typeface="Times New Roman"/>
                <a:cs typeface="Times New Roman"/>
              </a:rPr>
              <a:t>     </a:t>
            </a:r>
            <a:r>
              <a:rPr dirty="0" u="sng" sz="1350" spc="10">
                <a:uFill>
                  <a:solidFill>
                    <a:srgbClr val="000000"/>
                  </a:solidFill>
                </a:uFill>
                <a:latin typeface="Times New Roman"/>
                <a:cs typeface="Times New Roman"/>
              </a:rPr>
              <a:t> </a:t>
            </a:r>
            <a:r>
              <a:rPr dirty="0" sz="1350">
                <a:latin typeface="Times New Roman"/>
                <a:cs typeface="Times New Roman"/>
              </a:rPr>
              <a:t>    </a:t>
            </a:r>
            <a:r>
              <a:rPr dirty="0" sz="1350" spc="30">
                <a:latin typeface="Times New Roman"/>
                <a:cs typeface="Times New Roman"/>
              </a:rPr>
              <a:t> </a:t>
            </a:r>
            <a:r>
              <a:rPr dirty="0" u="sng" sz="1350" spc="20">
                <a:uFill>
                  <a:solidFill>
                    <a:srgbClr val="000000"/>
                  </a:solidFill>
                </a:uFill>
                <a:latin typeface="宋体"/>
                <a:cs typeface="宋体"/>
              </a:rPr>
              <a:t>特殊性     </a:t>
            </a:r>
            <a:r>
              <a:rPr dirty="0" u="sng" sz="1350" spc="285">
                <a:uFill>
                  <a:solidFill>
                    <a:srgbClr val="000000"/>
                  </a:solidFill>
                </a:uFill>
                <a:latin typeface="宋体"/>
                <a:cs typeface="宋体"/>
              </a:rPr>
              <a:t> </a:t>
            </a:r>
            <a:endParaRPr sz="1350">
              <a:latin typeface="宋体"/>
              <a:cs typeface="宋体"/>
            </a:endParaRPr>
          </a:p>
        </p:txBody>
      </p:sp>
      <p:sp>
        <p:nvSpPr>
          <p:cNvPr id="13" name="object 13"/>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10" name="object 10"/>
          <p:cNvSpPr txBox="1"/>
          <p:nvPr/>
        </p:nvSpPr>
        <p:spPr>
          <a:xfrm>
            <a:off x="5821133" y="3295991"/>
            <a:ext cx="1247140" cy="669925"/>
          </a:xfrm>
          <a:prstGeom prst="rect">
            <a:avLst/>
          </a:prstGeom>
        </p:spPr>
        <p:txBody>
          <a:bodyPr wrap="square" lIns="0" tIns="4445" rIns="0" bIns="0" rtlCol="0" vert="horz">
            <a:spAutoFit/>
          </a:bodyPr>
          <a:lstStyle/>
          <a:p>
            <a:pPr algn="just" marL="12700" marR="5080">
              <a:lnSpc>
                <a:spcPct val="105600"/>
              </a:lnSpc>
              <a:spcBef>
                <a:spcPts val="35"/>
              </a:spcBef>
            </a:pPr>
            <a:r>
              <a:rPr dirty="0" sz="1350" spc="20">
                <a:latin typeface="宋体"/>
                <a:cs typeface="宋体"/>
              </a:rPr>
              <a:t>你想过用其他方 法来改善公司数 </a:t>
            </a:r>
            <a:r>
              <a:rPr dirty="0" sz="1350" spc="20">
                <a:latin typeface="宋体"/>
                <a:cs typeface="宋体"/>
              </a:rPr>
              <a:t>据的安全性吗</a:t>
            </a:r>
            <a:endParaRPr sz="1350">
              <a:latin typeface="宋体"/>
              <a:cs typeface="宋体"/>
            </a:endParaRPr>
          </a:p>
        </p:txBody>
      </p:sp>
      <p:sp>
        <p:nvSpPr>
          <p:cNvPr id="11" name="object 11"/>
          <p:cNvSpPr txBox="1"/>
          <p:nvPr/>
        </p:nvSpPr>
        <p:spPr>
          <a:xfrm>
            <a:off x="5714968" y="4527217"/>
            <a:ext cx="1596390" cy="475615"/>
          </a:xfrm>
          <a:prstGeom prst="rect">
            <a:avLst/>
          </a:prstGeom>
        </p:spPr>
        <p:txBody>
          <a:bodyPr wrap="square" lIns="0" tIns="12065" rIns="0" bIns="0" rtlCol="0" vert="horz">
            <a:spAutoFit/>
          </a:bodyPr>
          <a:lstStyle/>
          <a:p>
            <a:pPr marL="99695" marR="5080" indent="-87630">
              <a:lnSpc>
                <a:spcPct val="109400"/>
              </a:lnSpc>
              <a:spcBef>
                <a:spcPts val="95"/>
              </a:spcBef>
            </a:pPr>
            <a:r>
              <a:rPr dirty="0" sz="1350" spc="20">
                <a:latin typeface="宋体"/>
                <a:cs typeface="宋体"/>
              </a:rPr>
              <a:t>你认为怎样才能使这 </a:t>
            </a:r>
            <a:r>
              <a:rPr dirty="0" sz="1350" spc="20">
                <a:latin typeface="宋体"/>
                <a:cs typeface="宋体"/>
              </a:rPr>
              <a:t>里的安全性更有效</a:t>
            </a:r>
            <a:endParaRPr sz="1350">
              <a:latin typeface="宋体"/>
              <a:cs typeface="宋体"/>
            </a:endParaRPr>
          </a:p>
        </p:txBody>
      </p:sp>
      <p:sp>
        <p:nvSpPr>
          <p:cNvPr id="12" name="object 12"/>
          <p:cNvSpPr txBox="1"/>
          <p:nvPr/>
        </p:nvSpPr>
        <p:spPr>
          <a:xfrm>
            <a:off x="5479950" y="5484421"/>
            <a:ext cx="2313305" cy="475615"/>
          </a:xfrm>
          <a:prstGeom prst="rect">
            <a:avLst/>
          </a:prstGeom>
        </p:spPr>
        <p:txBody>
          <a:bodyPr wrap="square" lIns="0" tIns="12065" rIns="0" bIns="0" rtlCol="0" vert="horz">
            <a:spAutoFit/>
          </a:bodyPr>
          <a:lstStyle/>
          <a:p>
            <a:pPr marL="12700" marR="5080" indent="8890">
              <a:lnSpc>
                <a:spcPct val="109400"/>
              </a:lnSpc>
              <a:spcBef>
                <a:spcPts val="95"/>
              </a:spcBef>
            </a:pPr>
            <a:r>
              <a:rPr dirty="0" sz="1350" spc="20">
                <a:latin typeface="宋体"/>
                <a:cs typeface="宋体"/>
              </a:rPr>
              <a:t>总</a:t>
            </a:r>
            <a:r>
              <a:rPr dirty="0" sz="1350" spc="15">
                <a:latin typeface="宋体"/>
                <a:cs typeface="宋体"/>
              </a:rPr>
              <a:t>之</a:t>
            </a:r>
            <a:r>
              <a:rPr dirty="0" sz="1350" spc="20">
                <a:latin typeface="宋体"/>
                <a:cs typeface="宋体"/>
              </a:rPr>
              <a:t>，你是怎样看待数据的安 </a:t>
            </a:r>
            <a:r>
              <a:rPr dirty="0" sz="1350" spc="20">
                <a:latin typeface="宋体"/>
                <a:cs typeface="宋体"/>
              </a:rPr>
              <a:t>全性和访</a:t>
            </a:r>
            <a:r>
              <a:rPr dirty="0" sz="1350" spc="15">
                <a:latin typeface="宋体"/>
                <a:cs typeface="宋体"/>
              </a:rPr>
              <a:t>问</a:t>
            </a:r>
            <a:r>
              <a:rPr dirty="0" sz="1350" spc="5">
                <a:latin typeface="Times New Roman"/>
                <a:cs typeface="Times New Roman"/>
              </a:rPr>
              <a:t>Interne</a:t>
            </a:r>
            <a:r>
              <a:rPr dirty="0" sz="1350">
                <a:latin typeface="Times New Roman"/>
                <a:cs typeface="Times New Roman"/>
              </a:rPr>
              <a:t>t</a:t>
            </a:r>
            <a:r>
              <a:rPr dirty="0" sz="1350" spc="20">
                <a:latin typeface="宋体"/>
                <a:cs typeface="宋体"/>
              </a:rPr>
              <a:t>的重要性的</a:t>
            </a:r>
            <a:endParaRPr sz="1350">
              <a:latin typeface="宋体"/>
              <a:cs typeface="宋体"/>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7970" y="85470"/>
            <a:ext cx="3683635"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4.1.2</a:t>
            </a:r>
            <a:r>
              <a:rPr dirty="0" sz="3800" spc="-30">
                <a:latin typeface="Calibri"/>
                <a:cs typeface="Calibri"/>
              </a:rPr>
              <a:t> </a:t>
            </a:r>
            <a:r>
              <a:rPr dirty="0" sz="3800"/>
              <a:t>问题的组织</a:t>
            </a:r>
            <a:endParaRPr sz="3800">
              <a:latin typeface="Calibri"/>
              <a:cs typeface="Calibri"/>
            </a:endParaRPr>
          </a:p>
          <a:p>
            <a:pPr algn="ctr" marL="758825">
              <a:lnSpc>
                <a:spcPct val="100000"/>
              </a:lnSpc>
              <a:spcBef>
                <a:spcPts val="5"/>
              </a:spcBef>
            </a:pPr>
            <a:r>
              <a:rPr dirty="0" sz="3800">
                <a:latin typeface="Arial"/>
                <a:cs typeface="Arial"/>
              </a:rPr>
              <a:t>——</a:t>
            </a:r>
            <a:r>
              <a:rPr dirty="0" sz="3800"/>
              <a:t>漏斗结构</a:t>
            </a:r>
            <a:endParaRPr sz="3800">
              <a:latin typeface="Arial"/>
              <a:cs typeface="Arial"/>
            </a:endParaRPr>
          </a:p>
        </p:txBody>
      </p:sp>
      <p:sp>
        <p:nvSpPr>
          <p:cNvPr id="3" name="object 3"/>
          <p:cNvSpPr txBox="1">
            <a:spLocks noGrp="1"/>
          </p:cNvSpPr>
          <p:nvPr>
            <p:ph idx="2" sz="half"/>
          </p:nvPr>
        </p:nvSpPr>
        <p:spPr>
          <a:prstGeom prst="rect"/>
        </p:spPr>
        <p:txBody>
          <a:bodyPr wrap="square" lIns="0" tIns="85725" rIns="0" bIns="0" rtlCol="0" vert="horz">
            <a:spAutoFit/>
          </a:bodyPr>
          <a:lstStyle/>
          <a:p>
            <a:pPr algn="just" marL="355600" marR="271780" indent="-343535">
              <a:lnSpc>
                <a:spcPct val="77200"/>
              </a:lnSpc>
              <a:spcBef>
                <a:spcPts val="675"/>
              </a:spcBef>
              <a:buClr>
                <a:srgbClr val="00663B"/>
              </a:buClr>
              <a:buSzPct val="78571"/>
              <a:buFont typeface="Wingdings"/>
              <a:buChar char=""/>
              <a:tabLst>
                <a:tab pos="356235" algn="l"/>
              </a:tabLst>
            </a:pPr>
            <a:r>
              <a:rPr dirty="0" spc="-5"/>
              <a:t>漏斗结构为开始一场面谈 提供了一种容易而轻松的 </a:t>
            </a:r>
            <a:r>
              <a:rPr dirty="0"/>
              <a:t>途径。</a:t>
            </a:r>
          </a:p>
          <a:p>
            <a:pPr algn="just" marL="355600" marR="271780" indent="-343535">
              <a:lnSpc>
                <a:spcPct val="78100"/>
              </a:lnSpc>
              <a:spcBef>
                <a:spcPts val="695"/>
              </a:spcBef>
              <a:buClr>
                <a:srgbClr val="00663B"/>
              </a:buClr>
              <a:buSzPct val="78571"/>
              <a:buFont typeface="Wingdings"/>
              <a:buChar char=""/>
              <a:tabLst>
                <a:tab pos="356235" algn="l"/>
              </a:tabLst>
            </a:pPr>
            <a:r>
              <a:rPr dirty="0"/>
              <a:t>当被会见者对这个话题有 情绪，并且需要自由表达 这些情绪的时候，需要采 </a:t>
            </a:r>
            <a:r>
              <a:rPr dirty="0" spc="-5"/>
              <a:t>用漏斗型提问顺序。</a:t>
            </a:r>
          </a:p>
          <a:p>
            <a:pPr marL="355600" marR="5080" indent="-343535">
              <a:lnSpc>
                <a:spcPct val="77100"/>
              </a:lnSpc>
              <a:spcBef>
                <a:spcPts val="725"/>
              </a:spcBef>
              <a:buClr>
                <a:srgbClr val="00663B"/>
              </a:buClr>
              <a:buSzPct val="78571"/>
              <a:buFont typeface="Wingdings"/>
              <a:buChar char=""/>
              <a:tabLst>
                <a:tab pos="355600" algn="l"/>
                <a:tab pos="356235" algn="l"/>
              </a:tabLst>
            </a:pPr>
            <a:r>
              <a:rPr dirty="0"/>
              <a:t>或者</a:t>
            </a:r>
            <a:r>
              <a:rPr dirty="0" spc="-5"/>
              <a:t>在</a:t>
            </a:r>
            <a:r>
              <a:rPr dirty="0">
                <a:solidFill>
                  <a:srgbClr val="00A15F"/>
                </a:solidFill>
              </a:rPr>
              <a:t>会见者事先对事实 了解不多</a:t>
            </a:r>
            <a:r>
              <a:rPr dirty="0" spc="-5">
                <a:solidFill>
                  <a:srgbClr val="00A15F"/>
                </a:solidFill>
              </a:rPr>
              <a:t>时</a:t>
            </a:r>
            <a:r>
              <a:rPr dirty="0"/>
              <a:t>，也应该采用 漏斗结构的问题组织方式。</a:t>
            </a:r>
          </a:p>
          <a:p>
            <a:pPr algn="just" marL="355600" marR="271145" indent="-343535">
              <a:lnSpc>
                <a:spcPct val="78100"/>
              </a:lnSpc>
              <a:spcBef>
                <a:spcPts val="695"/>
              </a:spcBef>
              <a:buClr>
                <a:srgbClr val="00663B"/>
              </a:buClr>
              <a:buSzPct val="78571"/>
              <a:buFont typeface="Wingdings"/>
              <a:buChar char=""/>
              <a:tabLst>
                <a:tab pos="356235" algn="l"/>
              </a:tabLst>
            </a:pPr>
            <a:r>
              <a:rPr dirty="0"/>
              <a:t>用这种方式组织面谈能得 </a:t>
            </a:r>
            <a:r>
              <a:rPr dirty="0" spc="-5"/>
              <a:t>出</a:t>
            </a:r>
            <a:r>
              <a:rPr dirty="0" spc="-5">
                <a:solidFill>
                  <a:srgbClr val="00A15F"/>
                </a:solidFill>
              </a:rPr>
              <a:t>很多的详细信</a:t>
            </a:r>
            <a:r>
              <a:rPr dirty="0">
                <a:solidFill>
                  <a:srgbClr val="00A15F"/>
                </a:solidFill>
              </a:rPr>
              <a:t>息</a:t>
            </a:r>
            <a:r>
              <a:rPr dirty="0" spc="-5"/>
              <a:t>，以至 </a:t>
            </a:r>
            <a:r>
              <a:rPr dirty="0"/>
              <a:t>于没有必要使用长序列的 受限制问题和调查问题。</a:t>
            </a:r>
          </a:p>
        </p:txBody>
      </p:sp>
      <p:sp>
        <p:nvSpPr>
          <p:cNvPr id="4" name="object 4"/>
          <p:cNvSpPr/>
          <p:nvPr/>
        </p:nvSpPr>
        <p:spPr>
          <a:xfrm>
            <a:off x="4078852" y="1544493"/>
            <a:ext cx="4862830" cy="4279265"/>
          </a:xfrm>
          <a:custGeom>
            <a:avLst/>
            <a:gdLst/>
            <a:ahLst/>
            <a:cxnLst/>
            <a:rect l="l" t="t" r="r" b="b"/>
            <a:pathLst>
              <a:path w="4862830" h="4279265">
                <a:moveTo>
                  <a:pt x="4862478" y="0"/>
                </a:moveTo>
                <a:lnTo>
                  <a:pt x="0" y="57048"/>
                </a:lnTo>
                <a:lnTo>
                  <a:pt x="2470879" y="4279159"/>
                </a:lnTo>
                <a:lnTo>
                  <a:pt x="4862478" y="0"/>
                </a:lnTo>
                <a:close/>
              </a:path>
            </a:pathLst>
          </a:custGeom>
          <a:solidFill>
            <a:srgbClr val="E8EDF7"/>
          </a:solidFill>
        </p:spPr>
        <p:txBody>
          <a:bodyPr wrap="square" lIns="0" tIns="0" rIns="0" bIns="0" rtlCol="0"/>
          <a:lstStyle/>
          <a:p/>
        </p:txBody>
      </p:sp>
      <p:sp>
        <p:nvSpPr>
          <p:cNvPr id="5" name="object 5"/>
          <p:cNvSpPr/>
          <p:nvPr/>
        </p:nvSpPr>
        <p:spPr>
          <a:xfrm>
            <a:off x="4078852" y="1544493"/>
            <a:ext cx="4862830" cy="4279265"/>
          </a:xfrm>
          <a:custGeom>
            <a:avLst/>
            <a:gdLst/>
            <a:ahLst/>
            <a:cxnLst/>
            <a:rect l="l" t="t" r="r" b="b"/>
            <a:pathLst>
              <a:path w="4862830" h="4279265">
                <a:moveTo>
                  <a:pt x="0" y="57048"/>
                </a:moveTo>
                <a:lnTo>
                  <a:pt x="2470879" y="4279159"/>
                </a:lnTo>
                <a:lnTo>
                  <a:pt x="4862478" y="0"/>
                </a:lnTo>
                <a:lnTo>
                  <a:pt x="0" y="57048"/>
                </a:lnTo>
                <a:close/>
              </a:path>
            </a:pathLst>
          </a:custGeom>
          <a:ln w="3432">
            <a:solidFill>
              <a:srgbClr val="000000"/>
            </a:solidFill>
          </a:ln>
        </p:spPr>
        <p:txBody>
          <a:bodyPr wrap="square" lIns="0" tIns="0" rIns="0" bIns="0" rtlCol="0"/>
          <a:lstStyle/>
          <a:p/>
        </p:txBody>
      </p:sp>
      <p:sp>
        <p:nvSpPr>
          <p:cNvPr id="6" name="object 6"/>
          <p:cNvSpPr/>
          <p:nvPr/>
        </p:nvSpPr>
        <p:spPr>
          <a:xfrm>
            <a:off x="4621688" y="2475878"/>
            <a:ext cx="3799204" cy="53340"/>
          </a:xfrm>
          <a:custGeom>
            <a:avLst/>
            <a:gdLst/>
            <a:ahLst/>
            <a:cxnLst/>
            <a:rect l="l" t="t" r="r" b="b"/>
            <a:pathLst>
              <a:path w="3799204" h="53339">
                <a:moveTo>
                  <a:pt x="0" y="53294"/>
                </a:moveTo>
                <a:lnTo>
                  <a:pt x="3799077" y="0"/>
                </a:lnTo>
              </a:path>
            </a:pathLst>
          </a:custGeom>
          <a:ln w="3602">
            <a:solidFill>
              <a:srgbClr val="000000"/>
            </a:solidFill>
          </a:ln>
        </p:spPr>
        <p:txBody>
          <a:bodyPr wrap="square" lIns="0" tIns="0" rIns="0" bIns="0" rtlCol="0"/>
          <a:lstStyle/>
          <a:p/>
        </p:txBody>
      </p:sp>
      <p:sp>
        <p:nvSpPr>
          <p:cNvPr id="7" name="object 7"/>
          <p:cNvSpPr/>
          <p:nvPr/>
        </p:nvSpPr>
        <p:spPr>
          <a:xfrm>
            <a:off x="5133351" y="3381742"/>
            <a:ext cx="2781300" cy="22225"/>
          </a:xfrm>
          <a:custGeom>
            <a:avLst/>
            <a:gdLst/>
            <a:ahLst/>
            <a:cxnLst/>
            <a:rect l="l" t="t" r="r" b="b"/>
            <a:pathLst>
              <a:path w="2781300" h="22225">
                <a:moveTo>
                  <a:pt x="0" y="21618"/>
                </a:moveTo>
                <a:lnTo>
                  <a:pt x="2781172" y="0"/>
                </a:lnTo>
              </a:path>
            </a:pathLst>
          </a:custGeom>
          <a:ln w="3603">
            <a:solidFill>
              <a:srgbClr val="000000"/>
            </a:solidFill>
          </a:ln>
        </p:spPr>
        <p:txBody>
          <a:bodyPr wrap="square" lIns="0" tIns="0" rIns="0" bIns="0" rtlCol="0"/>
          <a:lstStyle/>
          <a:p/>
        </p:txBody>
      </p:sp>
      <p:sp>
        <p:nvSpPr>
          <p:cNvPr id="8" name="object 8"/>
          <p:cNvSpPr/>
          <p:nvPr/>
        </p:nvSpPr>
        <p:spPr>
          <a:xfrm>
            <a:off x="8403632" y="3542827"/>
            <a:ext cx="99060" cy="111125"/>
          </a:xfrm>
          <a:custGeom>
            <a:avLst/>
            <a:gdLst/>
            <a:ahLst/>
            <a:cxnLst/>
            <a:rect l="l" t="t" r="r" b="b"/>
            <a:pathLst>
              <a:path w="99059" h="111125">
                <a:moveTo>
                  <a:pt x="98651" y="0"/>
                </a:moveTo>
                <a:lnTo>
                  <a:pt x="0" y="110643"/>
                </a:lnTo>
              </a:path>
            </a:pathLst>
          </a:custGeom>
          <a:ln w="3385">
            <a:solidFill>
              <a:srgbClr val="000000"/>
            </a:solidFill>
          </a:ln>
        </p:spPr>
        <p:txBody>
          <a:bodyPr wrap="square" lIns="0" tIns="0" rIns="0" bIns="0" rtlCol="0"/>
          <a:lstStyle/>
          <a:p/>
        </p:txBody>
      </p:sp>
      <p:sp>
        <p:nvSpPr>
          <p:cNvPr id="9" name="object 9"/>
          <p:cNvSpPr/>
          <p:nvPr/>
        </p:nvSpPr>
        <p:spPr>
          <a:xfrm>
            <a:off x="5648481" y="4283551"/>
            <a:ext cx="1761489" cy="1905"/>
          </a:xfrm>
          <a:custGeom>
            <a:avLst/>
            <a:gdLst/>
            <a:ahLst/>
            <a:cxnLst/>
            <a:rect l="l" t="t" r="r" b="b"/>
            <a:pathLst>
              <a:path w="1761490" h="1904">
                <a:moveTo>
                  <a:pt x="0" y="0"/>
                </a:moveTo>
                <a:lnTo>
                  <a:pt x="1761138" y="1651"/>
                </a:lnTo>
              </a:path>
            </a:pathLst>
          </a:custGeom>
          <a:ln w="3603">
            <a:solidFill>
              <a:srgbClr val="000000"/>
            </a:solidFill>
          </a:ln>
        </p:spPr>
        <p:txBody>
          <a:bodyPr wrap="square" lIns="0" tIns="0" rIns="0" bIns="0" rtlCol="0"/>
          <a:lstStyle/>
          <a:p/>
        </p:txBody>
      </p:sp>
      <p:sp>
        <p:nvSpPr>
          <p:cNvPr id="10" name="object 10"/>
          <p:cNvSpPr txBox="1"/>
          <p:nvPr/>
        </p:nvSpPr>
        <p:spPr>
          <a:xfrm>
            <a:off x="5579562" y="1737767"/>
            <a:ext cx="1899285" cy="3366770"/>
          </a:xfrm>
          <a:prstGeom prst="rect">
            <a:avLst/>
          </a:prstGeom>
        </p:spPr>
        <p:txBody>
          <a:bodyPr wrap="square" lIns="0" tIns="12065" rIns="0" bIns="0" rtlCol="0" vert="horz">
            <a:spAutoFit/>
          </a:bodyPr>
          <a:lstStyle/>
          <a:p>
            <a:pPr algn="ctr" marL="12700" marR="5080">
              <a:lnSpc>
                <a:spcPct val="111100"/>
              </a:lnSpc>
              <a:spcBef>
                <a:spcPts val="95"/>
              </a:spcBef>
            </a:pPr>
            <a:r>
              <a:rPr dirty="0" sz="1400" spc="-140">
                <a:latin typeface="宋体"/>
                <a:cs typeface="宋体"/>
              </a:rPr>
              <a:t>你对新的基</a:t>
            </a:r>
            <a:r>
              <a:rPr dirty="0" sz="1400" spc="-145">
                <a:latin typeface="宋体"/>
                <a:cs typeface="宋体"/>
              </a:rPr>
              <a:t>于</a:t>
            </a:r>
            <a:r>
              <a:rPr dirty="0" sz="1400" spc="-100">
                <a:latin typeface="Times New Roman"/>
                <a:cs typeface="Times New Roman"/>
              </a:rPr>
              <a:t>w</a:t>
            </a:r>
            <a:r>
              <a:rPr dirty="0" sz="1400" spc="-60">
                <a:latin typeface="Times New Roman"/>
                <a:cs typeface="Times New Roman"/>
              </a:rPr>
              <a:t>e</a:t>
            </a:r>
            <a:r>
              <a:rPr dirty="0" sz="1400" spc="-75">
                <a:latin typeface="Times New Roman"/>
                <a:cs typeface="Times New Roman"/>
              </a:rPr>
              <a:t>b</a:t>
            </a:r>
            <a:r>
              <a:rPr dirty="0" sz="1400" spc="-125">
                <a:latin typeface="宋体"/>
                <a:cs typeface="宋体"/>
              </a:rPr>
              <a:t>的采购系 </a:t>
            </a:r>
            <a:r>
              <a:rPr dirty="0" sz="1400" spc="-140">
                <a:latin typeface="宋体"/>
                <a:cs typeface="宋体"/>
              </a:rPr>
              <a:t>统有何看法</a:t>
            </a:r>
            <a:endParaRPr sz="1400">
              <a:latin typeface="宋体"/>
              <a:cs typeface="宋体"/>
            </a:endParaRPr>
          </a:p>
          <a:p>
            <a:pPr>
              <a:lnSpc>
                <a:spcPct val="100000"/>
              </a:lnSpc>
            </a:pPr>
            <a:endParaRPr sz="1400">
              <a:latin typeface="宋体"/>
              <a:cs typeface="宋体"/>
            </a:endParaRPr>
          </a:p>
          <a:p>
            <a:pPr>
              <a:lnSpc>
                <a:spcPct val="100000"/>
              </a:lnSpc>
              <a:spcBef>
                <a:spcPts val="50"/>
              </a:spcBef>
            </a:pPr>
            <a:endParaRPr sz="1400">
              <a:latin typeface="宋体"/>
              <a:cs typeface="宋体"/>
            </a:endParaRPr>
          </a:p>
          <a:p>
            <a:pPr marL="408940" marR="518159" indent="-160655">
              <a:lnSpc>
                <a:spcPct val="108700"/>
              </a:lnSpc>
            </a:pPr>
            <a:r>
              <a:rPr dirty="0" sz="1400" spc="-130">
                <a:latin typeface="宋体"/>
                <a:cs typeface="宋体"/>
              </a:rPr>
              <a:t>实现它将会牵扯 </a:t>
            </a:r>
            <a:r>
              <a:rPr dirty="0" sz="1400" spc="-140">
                <a:latin typeface="宋体"/>
                <a:cs typeface="宋体"/>
              </a:rPr>
              <a:t>到哪些部门</a:t>
            </a:r>
            <a:endParaRPr sz="1400">
              <a:latin typeface="宋体"/>
              <a:cs typeface="宋体"/>
            </a:endParaRPr>
          </a:p>
          <a:p>
            <a:pPr>
              <a:lnSpc>
                <a:spcPct val="100000"/>
              </a:lnSpc>
            </a:pPr>
            <a:endParaRPr sz="1400">
              <a:latin typeface="宋体"/>
              <a:cs typeface="宋体"/>
            </a:endParaRPr>
          </a:p>
          <a:p>
            <a:pPr>
              <a:lnSpc>
                <a:spcPct val="100000"/>
              </a:lnSpc>
              <a:spcBef>
                <a:spcPts val="25"/>
              </a:spcBef>
            </a:pPr>
            <a:endParaRPr sz="1700">
              <a:latin typeface="宋体"/>
              <a:cs typeface="宋体"/>
            </a:endParaRPr>
          </a:p>
          <a:p>
            <a:pPr algn="ctr" marL="387350" marR="379730">
              <a:lnSpc>
                <a:spcPct val="108600"/>
              </a:lnSpc>
            </a:pPr>
            <a:r>
              <a:rPr dirty="0" sz="1400" spc="-130">
                <a:latin typeface="宋体"/>
                <a:cs typeface="宋体"/>
              </a:rPr>
              <a:t>在站点上能买到 </a:t>
            </a:r>
            <a:r>
              <a:rPr dirty="0" sz="1400" spc="-140">
                <a:latin typeface="宋体"/>
                <a:cs typeface="宋体"/>
              </a:rPr>
              <a:t>什么商品</a:t>
            </a:r>
            <a:endParaRPr sz="1400">
              <a:latin typeface="宋体"/>
              <a:cs typeface="宋体"/>
            </a:endParaRPr>
          </a:p>
          <a:p>
            <a:pPr>
              <a:lnSpc>
                <a:spcPct val="100000"/>
              </a:lnSpc>
              <a:spcBef>
                <a:spcPts val="40"/>
              </a:spcBef>
            </a:pPr>
            <a:endParaRPr sz="1750">
              <a:latin typeface="宋体"/>
              <a:cs typeface="宋体"/>
            </a:endParaRPr>
          </a:p>
          <a:p>
            <a:pPr algn="ctr" marL="492125" marR="434975">
              <a:lnSpc>
                <a:spcPct val="106200"/>
              </a:lnSpc>
            </a:pPr>
            <a:r>
              <a:rPr dirty="0" sz="1400" spc="-95">
                <a:latin typeface="Times New Roman"/>
                <a:cs typeface="Times New Roman"/>
              </a:rPr>
              <a:t>We</a:t>
            </a:r>
            <a:r>
              <a:rPr dirty="0" sz="1400" spc="-75">
                <a:latin typeface="Times New Roman"/>
                <a:cs typeface="Times New Roman"/>
              </a:rPr>
              <a:t>b</a:t>
            </a:r>
            <a:r>
              <a:rPr dirty="0" sz="1400" spc="-125">
                <a:latin typeface="宋体"/>
                <a:cs typeface="宋体"/>
              </a:rPr>
              <a:t>站点是否 遗漏了必需的 </a:t>
            </a:r>
            <a:r>
              <a:rPr dirty="0" sz="1400" spc="-140">
                <a:latin typeface="宋体"/>
                <a:cs typeface="宋体"/>
              </a:rPr>
              <a:t>商品</a:t>
            </a:r>
            <a:endParaRPr sz="1400">
              <a:latin typeface="宋体"/>
              <a:cs typeface="宋体"/>
            </a:endParaRPr>
          </a:p>
        </p:txBody>
      </p:sp>
      <p:sp>
        <p:nvSpPr>
          <p:cNvPr id="11" name="object 11"/>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58567" y="0"/>
            <a:ext cx="3846195" cy="1244600"/>
          </a:xfrm>
          <a:prstGeom prst="rect"/>
        </p:spPr>
        <p:txBody>
          <a:bodyPr wrap="square" lIns="0" tIns="12065" rIns="0" bIns="0" rtlCol="0" vert="horz">
            <a:spAutoFit/>
          </a:bodyPr>
          <a:lstStyle/>
          <a:p>
            <a:pPr marL="12700">
              <a:lnSpc>
                <a:spcPct val="100000"/>
              </a:lnSpc>
              <a:spcBef>
                <a:spcPts val="95"/>
              </a:spcBef>
            </a:pPr>
            <a:r>
              <a:rPr dirty="0" sz="4000" spc="-5">
                <a:latin typeface="Calibri"/>
                <a:cs typeface="Calibri"/>
              </a:rPr>
              <a:t>4.1.2</a:t>
            </a:r>
            <a:r>
              <a:rPr dirty="0" sz="4000" spc="-40">
                <a:latin typeface="Calibri"/>
                <a:cs typeface="Calibri"/>
              </a:rPr>
              <a:t> </a:t>
            </a:r>
            <a:r>
              <a:rPr dirty="0" sz="4000" spc="-5"/>
              <a:t>问题的组织</a:t>
            </a:r>
            <a:endParaRPr sz="4000">
              <a:latin typeface="Calibri"/>
              <a:cs typeface="Calibri"/>
            </a:endParaRPr>
          </a:p>
          <a:p>
            <a:pPr algn="ctr" marL="774065">
              <a:lnSpc>
                <a:spcPct val="100000"/>
              </a:lnSpc>
            </a:pPr>
            <a:r>
              <a:rPr dirty="0" sz="4000" spc="-10">
                <a:latin typeface="Arial"/>
                <a:cs typeface="Arial"/>
              </a:rPr>
              <a:t>——</a:t>
            </a:r>
            <a:r>
              <a:rPr dirty="0" sz="4000" spc="-5"/>
              <a:t>菱形结构</a:t>
            </a:r>
            <a:endParaRPr sz="4000">
              <a:latin typeface="Arial"/>
              <a:cs typeface="Arial"/>
            </a:endParaRPr>
          </a:p>
        </p:txBody>
      </p:sp>
      <p:sp>
        <p:nvSpPr>
          <p:cNvPr id="3" name="object 3"/>
          <p:cNvSpPr txBox="1"/>
          <p:nvPr/>
        </p:nvSpPr>
        <p:spPr>
          <a:xfrm>
            <a:off x="535940" y="1794713"/>
            <a:ext cx="2879090" cy="3156585"/>
          </a:xfrm>
          <a:prstGeom prst="rect">
            <a:avLst/>
          </a:prstGeom>
        </p:spPr>
        <p:txBody>
          <a:bodyPr wrap="square" lIns="0" tIns="19050" rIns="0" bIns="0" rtlCol="0" vert="horz">
            <a:spAutoFit/>
          </a:bodyPr>
          <a:lstStyle/>
          <a:p>
            <a:pPr algn="just" marL="355600" marR="5080" indent="-343535">
              <a:lnSpc>
                <a:spcPct val="97900"/>
              </a:lnSpc>
              <a:spcBef>
                <a:spcPts val="150"/>
              </a:spcBef>
              <a:buClr>
                <a:srgbClr val="00663B"/>
              </a:buClr>
              <a:buSzPct val="79545"/>
              <a:buFont typeface="Wingdings"/>
              <a:buChar char=""/>
              <a:tabLst>
                <a:tab pos="356235" algn="l"/>
              </a:tabLst>
            </a:pPr>
            <a:r>
              <a:rPr dirty="0" sz="2200" spc="-10">
                <a:latin typeface="宋体"/>
                <a:cs typeface="宋体"/>
              </a:rPr>
              <a:t>使用菱形结构的主要 </a:t>
            </a:r>
            <a:r>
              <a:rPr dirty="0" sz="2200" spc="-5">
                <a:latin typeface="宋体"/>
                <a:cs typeface="宋体"/>
              </a:rPr>
              <a:t>优点是通</a:t>
            </a:r>
            <a:r>
              <a:rPr dirty="0" sz="2200" spc="-10">
                <a:latin typeface="宋体"/>
                <a:cs typeface="宋体"/>
              </a:rPr>
              <a:t>过</a:t>
            </a:r>
            <a:r>
              <a:rPr dirty="0" sz="2200" spc="-5">
                <a:solidFill>
                  <a:srgbClr val="00A15F"/>
                </a:solidFill>
                <a:latin typeface="宋体"/>
                <a:cs typeface="宋体"/>
              </a:rPr>
              <a:t>各种各样 的问</a:t>
            </a:r>
            <a:r>
              <a:rPr dirty="0" sz="2200" spc="-10">
                <a:solidFill>
                  <a:srgbClr val="00A15F"/>
                </a:solidFill>
                <a:latin typeface="宋体"/>
                <a:cs typeface="宋体"/>
              </a:rPr>
              <a:t>题</a:t>
            </a:r>
            <a:r>
              <a:rPr dirty="0" sz="2200" spc="-5">
                <a:latin typeface="宋体"/>
                <a:cs typeface="宋体"/>
              </a:rPr>
              <a:t>保持被会见者 </a:t>
            </a:r>
            <a:r>
              <a:rPr dirty="0" sz="2200" spc="-5">
                <a:latin typeface="宋体"/>
                <a:cs typeface="宋体"/>
              </a:rPr>
              <a:t>的兴趣和注意力。</a:t>
            </a:r>
            <a:endParaRPr sz="2200">
              <a:latin typeface="宋体"/>
              <a:cs typeface="宋体"/>
            </a:endParaRPr>
          </a:p>
          <a:p>
            <a:pPr>
              <a:lnSpc>
                <a:spcPct val="100000"/>
              </a:lnSpc>
              <a:spcBef>
                <a:spcPts val="15"/>
              </a:spcBef>
              <a:buClr>
                <a:srgbClr val="00663B"/>
              </a:buClr>
              <a:buFont typeface="Wingdings"/>
              <a:buChar char=""/>
            </a:pPr>
            <a:endParaRPr sz="3050">
              <a:latin typeface="宋体"/>
              <a:cs typeface="宋体"/>
            </a:endParaRPr>
          </a:p>
          <a:p>
            <a:pPr algn="just" marL="355600" marR="5080" indent="-343535">
              <a:lnSpc>
                <a:spcPct val="97900"/>
              </a:lnSpc>
              <a:buClr>
                <a:srgbClr val="00663B"/>
              </a:buClr>
              <a:buSzPct val="79545"/>
              <a:buFont typeface="Wingdings"/>
              <a:buChar char=""/>
              <a:tabLst>
                <a:tab pos="356235" algn="l"/>
              </a:tabLst>
            </a:pPr>
            <a:r>
              <a:rPr dirty="0" sz="2200" spc="-5">
                <a:latin typeface="宋体"/>
                <a:cs typeface="宋体"/>
              </a:rPr>
              <a:t>一旦掌握了如何在正 确的时间问正确的问 题，就可以多样地选 </a:t>
            </a:r>
            <a:r>
              <a:rPr dirty="0" sz="2200" spc="-10">
                <a:latin typeface="宋体"/>
                <a:cs typeface="宋体"/>
              </a:rPr>
              <a:t>择问题的顺序。</a:t>
            </a:r>
            <a:endParaRPr sz="2200">
              <a:latin typeface="宋体"/>
              <a:cs typeface="宋体"/>
            </a:endParaRPr>
          </a:p>
        </p:txBody>
      </p:sp>
      <p:sp>
        <p:nvSpPr>
          <p:cNvPr id="4" name="object 4"/>
          <p:cNvSpPr/>
          <p:nvPr/>
        </p:nvSpPr>
        <p:spPr>
          <a:xfrm>
            <a:off x="3626418" y="1478280"/>
            <a:ext cx="5252085" cy="2147570"/>
          </a:xfrm>
          <a:custGeom>
            <a:avLst/>
            <a:gdLst/>
            <a:ahLst/>
            <a:cxnLst/>
            <a:rect l="l" t="t" r="r" b="b"/>
            <a:pathLst>
              <a:path w="5252084" h="2147570">
                <a:moveTo>
                  <a:pt x="2625975" y="0"/>
                </a:moveTo>
                <a:lnTo>
                  <a:pt x="0" y="2147232"/>
                </a:lnTo>
                <a:lnTo>
                  <a:pt x="5251803" y="2147232"/>
                </a:lnTo>
                <a:lnTo>
                  <a:pt x="2625975" y="0"/>
                </a:lnTo>
                <a:close/>
              </a:path>
            </a:pathLst>
          </a:custGeom>
          <a:solidFill>
            <a:srgbClr val="E8EDF7"/>
          </a:solidFill>
        </p:spPr>
        <p:txBody>
          <a:bodyPr wrap="square" lIns="0" tIns="0" rIns="0" bIns="0" rtlCol="0"/>
          <a:lstStyle/>
          <a:p/>
        </p:txBody>
      </p:sp>
      <p:sp>
        <p:nvSpPr>
          <p:cNvPr id="5" name="object 5"/>
          <p:cNvSpPr/>
          <p:nvPr/>
        </p:nvSpPr>
        <p:spPr>
          <a:xfrm>
            <a:off x="3626419" y="1478280"/>
            <a:ext cx="5252085" cy="2147570"/>
          </a:xfrm>
          <a:custGeom>
            <a:avLst/>
            <a:gdLst/>
            <a:ahLst/>
            <a:cxnLst/>
            <a:rect l="l" t="t" r="r" b="b"/>
            <a:pathLst>
              <a:path w="5252084" h="2147570">
                <a:moveTo>
                  <a:pt x="5251804" y="2147232"/>
                </a:moveTo>
                <a:lnTo>
                  <a:pt x="2625975" y="0"/>
                </a:lnTo>
                <a:lnTo>
                  <a:pt x="0" y="2147232"/>
                </a:lnTo>
                <a:lnTo>
                  <a:pt x="5251804" y="2147232"/>
                </a:lnTo>
                <a:close/>
              </a:path>
            </a:pathLst>
          </a:custGeom>
          <a:ln w="5347">
            <a:solidFill>
              <a:srgbClr val="000000"/>
            </a:solidFill>
          </a:ln>
        </p:spPr>
        <p:txBody>
          <a:bodyPr wrap="square" lIns="0" tIns="0" rIns="0" bIns="0" rtlCol="0"/>
          <a:lstStyle/>
          <a:p/>
        </p:txBody>
      </p:sp>
      <p:sp>
        <p:nvSpPr>
          <p:cNvPr id="6" name="object 6"/>
          <p:cNvSpPr/>
          <p:nvPr/>
        </p:nvSpPr>
        <p:spPr>
          <a:xfrm>
            <a:off x="3594834" y="3625512"/>
            <a:ext cx="5252085" cy="2147570"/>
          </a:xfrm>
          <a:custGeom>
            <a:avLst/>
            <a:gdLst/>
            <a:ahLst/>
            <a:cxnLst/>
            <a:rect l="l" t="t" r="r" b="b"/>
            <a:pathLst>
              <a:path w="5252084" h="2147570">
                <a:moveTo>
                  <a:pt x="5251743" y="0"/>
                </a:moveTo>
                <a:lnTo>
                  <a:pt x="0" y="0"/>
                </a:lnTo>
                <a:lnTo>
                  <a:pt x="2625915" y="2147278"/>
                </a:lnTo>
                <a:lnTo>
                  <a:pt x="5251743" y="0"/>
                </a:lnTo>
                <a:close/>
              </a:path>
            </a:pathLst>
          </a:custGeom>
          <a:solidFill>
            <a:srgbClr val="E8EDF7"/>
          </a:solidFill>
        </p:spPr>
        <p:txBody>
          <a:bodyPr wrap="square" lIns="0" tIns="0" rIns="0" bIns="0" rtlCol="0"/>
          <a:lstStyle/>
          <a:p/>
        </p:txBody>
      </p:sp>
      <p:sp>
        <p:nvSpPr>
          <p:cNvPr id="7" name="object 7"/>
          <p:cNvSpPr/>
          <p:nvPr/>
        </p:nvSpPr>
        <p:spPr>
          <a:xfrm>
            <a:off x="3594834" y="3625512"/>
            <a:ext cx="5252085" cy="2147570"/>
          </a:xfrm>
          <a:custGeom>
            <a:avLst/>
            <a:gdLst/>
            <a:ahLst/>
            <a:cxnLst/>
            <a:rect l="l" t="t" r="r" b="b"/>
            <a:pathLst>
              <a:path w="5252084" h="2147570">
                <a:moveTo>
                  <a:pt x="0" y="0"/>
                </a:moveTo>
                <a:lnTo>
                  <a:pt x="2625915" y="2147278"/>
                </a:lnTo>
                <a:lnTo>
                  <a:pt x="5251743" y="0"/>
                </a:lnTo>
                <a:lnTo>
                  <a:pt x="0" y="0"/>
                </a:lnTo>
                <a:close/>
              </a:path>
            </a:pathLst>
          </a:custGeom>
          <a:ln w="5347">
            <a:solidFill>
              <a:srgbClr val="000000"/>
            </a:solidFill>
          </a:ln>
        </p:spPr>
        <p:txBody>
          <a:bodyPr wrap="square" lIns="0" tIns="0" rIns="0" bIns="0" rtlCol="0"/>
          <a:lstStyle/>
          <a:p/>
        </p:txBody>
      </p:sp>
      <p:sp>
        <p:nvSpPr>
          <p:cNvPr id="8" name="object 8"/>
          <p:cNvSpPr/>
          <p:nvPr/>
        </p:nvSpPr>
        <p:spPr>
          <a:xfrm>
            <a:off x="3567622" y="3625512"/>
            <a:ext cx="5306695" cy="0"/>
          </a:xfrm>
          <a:custGeom>
            <a:avLst/>
            <a:gdLst/>
            <a:ahLst/>
            <a:cxnLst/>
            <a:rect l="l" t="t" r="r" b="b"/>
            <a:pathLst>
              <a:path w="5306695" h="0">
                <a:moveTo>
                  <a:pt x="0" y="0"/>
                </a:moveTo>
                <a:lnTo>
                  <a:pt x="5306366" y="0"/>
                </a:lnTo>
              </a:path>
            </a:pathLst>
          </a:custGeom>
          <a:ln w="5347">
            <a:solidFill>
              <a:srgbClr val="CCFFFF"/>
            </a:solidFill>
          </a:ln>
        </p:spPr>
        <p:txBody>
          <a:bodyPr wrap="square" lIns="0" tIns="0" rIns="0" bIns="0" rtlCol="0"/>
          <a:lstStyle/>
          <a:p/>
        </p:txBody>
      </p:sp>
      <p:sp>
        <p:nvSpPr>
          <p:cNvPr id="9" name="object 9"/>
          <p:cNvSpPr/>
          <p:nvPr/>
        </p:nvSpPr>
        <p:spPr>
          <a:xfrm>
            <a:off x="5048208" y="2462822"/>
            <a:ext cx="2458720" cy="41275"/>
          </a:xfrm>
          <a:custGeom>
            <a:avLst/>
            <a:gdLst/>
            <a:ahLst/>
            <a:cxnLst/>
            <a:rect l="l" t="t" r="r" b="b"/>
            <a:pathLst>
              <a:path w="2458720" h="41275">
                <a:moveTo>
                  <a:pt x="0" y="0"/>
                </a:moveTo>
                <a:lnTo>
                  <a:pt x="2458156" y="40771"/>
                </a:lnTo>
              </a:path>
            </a:pathLst>
          </a:custGeom>
          <a:ln w="5347">
            <a:solidFill>
              <a:srgbClr val="000000"/>
            </a:solidFill>
          </a:ln>
        </p:spPr>
        <p:txBody>
          <a:bodyPr wrap="square" lIns="0" tIns="0" rIns="0" bIns="0" rtlCol="0"/>
          <a:lstStyle/>
          <a:p/>
        </p:txBody>
      </p:sp>
      <p:sp>
        <p:nvSpPr>
          <p:cNvPr id="10" name="object 10"/>
          <p:cNvSpPr/>
          <p:nvPr/>
        </p:nvSpPr>
        <p:spPr>
          <a:xfrm>
            <a:off x="4194986" y="3160623"/>
            <a:ext cx="4196080" cy="66675"/>
          </a:xfrm>
          <a:custGeom>
            <a:avLst/>
            <a:gdLst/>
            <a:ahLst/>
            <a:cxnLst/>
            <a:rect l="l" t="t" r="r" b="b"/>
            <a:pathLst>
              <a:path w="4196080" h="66675">
                <a:moveTo>
                  <a:pt x="0" y="0"/>
                </a:moveTo>
                <a:lnTo>
                  <a:pt x="4195642" y="66170"/>
                </a:lnTo>
              </a:path>
            </a:pathLst>
          </a:custGeom>
          <a:ln w="5347">
            <a:solidFill>
              <a:srgbClr val="000000"/>
            </a:solidFill>
          </a:ln>
        </p:spPr>
        <p:txBody>
          <a:bodyPr wrap="square" lIns="0" tIns="0" rIns="0" bIns="0" rtlCol="0"/>
          <a:lstStyle/>
          <a:p/>
        </p:txBody>
      </p:sp>
      <p:sp>
        <p:nvSpPr>
          <p:cNvPr id="11" name="object 11"/>
          <p:cNvSpPr/>
          <p:nvPr/>
        </p:nvSpPr>
        <p:spPr>
          <a:xfrm>
            <a:off x="5169148" y="4895502"/>
            <a:ext cx="2124710" cy="17780"/>
          </a:xfrm>
          <a:custGeom>
            <a:avLst/>
            <a:gdLst/>
            <a:ahLst/>
            <a:cxnLst/>
            <a:rect l="l" t="t" r="r" b="b"/>
            <a:pathLst>
              <a:path w="2124709" h="17779">
                <a:moveTo>
                  <a:pt x="0" y="17355"/>
                </a:moveTo>
                <a:lnTo>
                  <a:pt x="2124396" y="0"/>
                </a:lnTo>
              </a:path>
            </a:pathLst>
          </a:custGeom>
          <a:ln w="5347">
            <a:solidFill>
              <a:srgbClr val="000000"/>
            </a:solidFill>
          </a:ln>
        </p:spPr>
        <p:txBody>
          <a:bodyPr wrap="square" lIns="0" tIns="0" rIns="0" bIns="0" rtlCol="0"/>
          <a:lstStyle/>
          <a:p/>
        </p:txBody>
      </p:sp>
      <p:sp>
        <p:nvSpPr>
          <p:cNvPr id="12" name="object 12"/>
          <p:cNvSpPr/>
          <p:nvPr/>
        </p:nvSpPr>
        <p:spPr>
          <a:xfrm>
            <a:off x="4233918" y="4136854"/>
            <a:ext cx="3987800" cy="11430"/>
          </a:xfrm>
          <a:custGeom>
            <a:avLst/>
            <a:gdLst/>
            <a:ahLst/>
            <a:cxnLst/>
            <a:rect l="l" t="t" r="r" b="b"/>
            <a:pathLst>
              <a:path w="3987800" h="11429">
                <a:moveTo>
                  <a:pt x="0" y="11251"/>
                </a:moveTo>
                <a:lnTo>
                  <a:pt x="3987346" y="0"/>
                </a:lnTo>
              </a:path>
            </a:pathLst>
          </a:custGeom>
          <a:ln w="5347">
            <a:solidFill>
              <a:srgbClr val="000000"/>
            </a:solidFill>
          </a:ln>
        </p:spPr>
        <p:txBody>
          <a:bodyPr wrap="square" lIns="0" tIns="0" rIns="0" bIns="0" rtlCol="0"/>
          <a:lstStyle/>
          <a:p/>
        </p:txBody>
      </p:sp>
      <p:sp>
        <p:nvSpPr>
          <p:cNvPr id="13" name="object 13"/>
          <p:cNvSpPr txBox="1"/>
          <p:nvPr/>
        </p:nvSpPr>
        <p:spPr>
          <a:xfrm>
            <a:off x="5170554" y="2104562"/>
            <a:ext cx="2543175" cy="1767205"/>
          </a:xfrm>
          <a:prstGeom prst="rect">
            <a:avLst/>
          </a:prstGeom>
        </p:spPr>
        <p:txBody>
          <a:bodyPr wrap="square" lIns="0" tIns="12700" rIns="0" bIns="0" rtlCol="0" vert="horz">
            <a:spAutoFit/>
          </a:bodyPr>
          <a:lstStyle/>
          <a:p>
            <a:pPr algn="ctr" marL="301625" marR="673735">
              <a:lnSpc>
                <a:spcPct val="110000"/>
              </a:lnSpc>
              <a:spcBef>
                <a:spcPts val="100"/>
              </a:spcBef>
            </a:pPr>
            <a:r>
              <a:rPr dirty="0" sz="1050">
                <a:latin typeface="宋体"/>
                <a:cs typeface="宋体"/>
              </a:rPr>
              <a:t>你所使用的免费</a:t>
            </a:r>
            <a:r>
              <a:rPr dirty="0" sz="1050">
                <a:latin typeface="Times New Roman"/>
                <a:cs typeface="Times New Roman"/>
              </a:rPr>
              <a:t>w</a:t>
            </a:r>
            <a:r>
              <a:rPr dirty="0" sz="1050">
                <a:latin typeface="Times New Roman"/>
                <a:cs typeface="Times New Roman"/>
              </a:rPr>
              <a:t>eb</a:t>
            </a:r>
            <a:r>
              <a:rPr dirty="0" sz="1050">
                <a:latin typeface="宋体"/>
                <a:cs typeface="宋体"/>
              </a:rPr>
              <a:t>站点使 </a:t>
            </a:r>
            <a:r>
              <a:rPr dirty="0" sz="1050">
                <a:latin typeface="宋体"/>
                <a:cs typeface="宋体"/>
              </a:rPr>
              <a:t>用服务跟踪哪五种信息</a:t>
            </a:r>
            <a:endParaRPr sz="1050">
              <a:latin typeface="宋体"/>
              <a:cs typeface="宋体"/>
            </a:endParaRPr>
          </a:p>
          <a:p>
            <a:pPr>
              <a:lnSpc>
                <a:spcPct val="100000"/>
              </a:lnSpc>
            </a:pPr>
            <a:endParaRPr sz="1000">
              <a:latin typeface="宋体"/>
              <a:cs typeface="宋体"/>
            </a:endParaRPr>
          </a:p>
          <a:p>
            <a:pPr>
              <a:lnSpc>
                <a:spcPct val="100000"/>
              </a:lnSpc>
              <a:spcBef>
                <a:spcPts val="45"/>
              </a:spcBef>
            </a:pPr>
            <a:endParaRPr sz="1000">
              <a:latin typeface="宋体"/>
              <a:cs typeface="宋体"/>
            </a:endParaRPr>
          </a:p>
          <a:p>
            <a:pPr marL="880744" marR="5080" indent="-847090">
              <a:lnSpc>
                <a:spcPct val="109900"/>
              </a:lnSpc>
            </a:pPr>
            <a:r>
              <a:rPr dirty="0" sz="1050">
                <a:latin typeface="宋体"/>
                <a:cs typeface="宋体"/>
              </a:rPr>
              <a:t>为获得此项服</a:t>
            </a:r>
            <a:r>
              <a:rPr dirty="0" sz="1050" spc="-5">
                <a:latin typeface="宋体"/>
                <a:cs typeface="宋体"/>
              </a:rPr>
              <a:t>务</a:t>
            </a:r>
            <a:r>
              <a:rPr dirty="0" sz="1050">
                <a:latin typeface="宋体"/>
                <a:cs typeface="宋体"/>
              </a:rPr>
              <a:t>，你在</a:t>
            </a:r>
            <a:r>
              <a:rPr dirty="0" sz="1050">
                <a:latin typeface="Times New Roman"/>
                <a:cs typeface="Times New Roman"/>
              </a:rPr>
              <a:t>w</a:t>
            </a:r>
            <a:r>
              <a:rPr dirty="0" sz="1050">
                <a:latin typeface="Times New Roman"/>
                <a:cs typeface="Times New Roman"/>
              </a:rPr>
              <a:t>eb</a:t>
            </a:r>
            <a:r>
              <a:rPr dirty="0" sz="1050">
                <a:latin typeface="宋体"/>
                <a:cs typeface="宋体"/>
              </a:rPr>
              <a:t>站点增加了什么 </a:t>
            </a:r>
            <a:r>
              <a:rPr dirty="0" sz="1050">
                <a:latin typeface="宋体"/>
                <a:cs typeface="宋体"/>
              </a:rPr>
              <a:t>样的推广活动</a:t>
            </a:r>
            <a:endParaRPr sz="1050">
              <a:latin typeface="宋体"/>
              <a:cs typeface="宋体"/>
            </a:endParaRPr>
          </a:p>
          <a:p>
            <a:pPr>
              <a:lnSpc>
                <a:spcPct val="100000"/>
              </a:lnSpc>
            </a:pPr>
            <a:endParaRPr sz="1000">
              <a:latin typeface="宋体"/>
              <a:cs typeface="宋体"/>
            </a:endParaRPr>
          </a:p>
          <a:p>
            <a:pPr>
              <a:lnSpc>
                <a:spcPct val="100000"/>
              </a:lnSpc>
              <a:spcBef>
                <a:spcPts val="35"/>
              </a:spcBef>
            </a:pPr>
            <a:endParaRPr sz="1150">
              <a:latin typeface="宋体"/>
              <a:cs typeface="宋体"/>
            </a:endParaRPr>
          </a:p>
          <a:p>
            <a:pPr algn="ctr" marL="12700" marR="427990">
              <a:lnSpc>
                <a:spcPct val="109900"/>
              </a:lnSpc>
            </a:pPr>
            <a:r>
              <a:rPr dirty="0" sz="1050">
                <a:latin typeface="宋体"/>
                <a:cs typeface="宋体"/>
              </a:rPr>
              <a:t>作为</a:t>
            </a:r>
            <a:r>
              <a:rPr dirty="0" sz="1050">
                <a:latin typeface="Times New Roman"/>
                <a:cs typeface="Times New Roman"/>
              </a:rPr>
              <a:t>w</a:t>
            </a:r>
            <a:r>
              <a:rPr dirty="0" sz="1050">
                <a:latin typeface="Times New Roman"/>
                <a:cs typeface="Times New Roman"/>
              </a:rPr>
              <a:t>eb</a:t>
            </a:r>
            <a:r>
              <a:rPr dirty="0" sz="1050">
                <a:latin typeface="宋体"/>
                <a:cs typeface="宋体"/>
              </a:rPr>
              <a:t>站点管理员，你认为使用信 </a:t>
            </a:r>
            <a:r>
              <a:rPr dirty="0" sz="1050">
                <a:latin typeface="宋体"/>
                <a:cs typeface="宋体"/>
              </a:rPr>
              <a:t>息的价值是什么</a:t>
            </a:r>
            <a:endParaRPr sz="1050">
              <a:latin typeface="宋体"/>
              <a:cs typeface="宋体"/>
            </a:endParaRPr>
          </a:p>
        </p:txBody>
      </p:sp>
      <p:sp>
        <p:nvSpPr>
          <p:cNvPr id="15" name="object 15"/>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14" name="object 14"/>
          <p:cNvSpPr txBox="1"/>
          <p:nvPr/>
        </p:nvSpPr>
        <p:spPr>
          <a:xfrm>
            <a:off x="4819434" y="4378210"/>
            <a:ext cx="2833370" cy="1089025"/>
          </a:xfrm>
          <a:prstGeom prst="rect">
            <a:avLst/>
          </a:prstGeom>
        </p:spPr>
        <p:txBody>
          <a:bodyPr wrap="square" lIns="0" tIns="12700" rIns="0" bIns="0" rtlCol="0" vert="horz">
            <a:spAutoFit/>
          </a:bodyPr>
          <a:lstStyle/>
          <a:p>
            <a:pPr algn="ctr" marL="12700" marR="5080">
              <a:lnSpc>
                <a:spcPct val="107500"/>
              </a:lnSpc>
              <a:spcBef>
                <a:spcPts val="100"/>
              </a:spcBef>
            </a:pPr>
            <a:r>
              <a:rPr dirty="0" sz="1050">
                <a:latin typeface="宋体"/>
                <a:cs typeface="宋体"/>
              </a:rPr>
              <a:t>通过使用这项服务，你发现终端用户在你的站点 </a:t>
            </a:r>
            <a:r>
              <a:rPr dirty="0" sz="1050">
                <a:latin typeface="宋体"/>
                <a:cs typeface="宋体"/>
              </a:rPr>
              <a:t>上的行为最令你感到惊讶的两条是什么</a:t>
            </a:r>
            <a:endParaRPr sz="1050">
              <a:latin typeface="宋体"/>
              <a:cs typeface="宋体"/>
            </a:endParaRPr>
          </a:p>
          <a:p>
            <a:pPr>
              <a:lnSpc>
                <a:spcPct val="100000"/>
              </a:lnSpc>
              <a:spcBef>
                <a:spcPts val="25"/>
              </a:spcBef>
            </a:pPr>
            <a:endParaRPr sz="1300">
              <a:latin typeface="宋体"/>
              <a:cs typeface="宋体"/>
            </a:endParaRPr>
          </a:p>
          <a:p>
            <a:pPr algn="ctr" marL="764540" marR="723900" indent="-635">
              <a:lnSpc>
                <a:spcPct val="105100"/>
              </a:lnSpc>
            </a:pPr>
            <a:r>
              <a:rPr dirty="0" sz="1050">
                <a:latin typeface="Times New Roman"/>
                <a:cs typeface="Times New Roman"/>
              </a:rPr>
              <a:t>Cooki</a:t>
            </a:r>
            <a:r>
              <a:rPr dirty="0" sz="1050" spc="-5">
                <a:latin typeface="Times New Roman"/>
                <a:cs typeface="Times New Roman"/>
              </a:rPr>
              <a:t>e</a:t>
            </a:r>
            <a:r>
              <a:rPr dirty="0" sz="1050">
                <a:latin typeface="宋体"/>
                <a:cs typeface="宋体"/>
              </a:rPr>
              <a:t>是度量终端用户 使用站点的更好的方法 </a:t>
            </a:r>
            <a:r>
              <a:rPr dirty="0" sz="1050">
                <a:latin typeface="宋体"/>
                <a:cs typeface="宋体"/>
              </a:rPr>
              <a:t>吗</a:t>
            </a:r>
            <a:endParaRPr sz="1050">
              <a:latin typeface="宋体"/>
              <a:cs typeface="宋体"/>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344244"/>
            <a:ext cx="3179445" cy="514350"/>
          </a:xfrm>
          <a:prstGeom prst="rect"/>
        </p:spPr>
        <p:txBody>
          <a:bodyPr wrap="square" lIns="0" tIns="13335" rIns="0" bIns="0" rtlCol="0" vert="horz">
            <a:spAutoFit/>
          </a:bodyPr>
          <a:lstStyle/>
          <a:p>
            <a:pPr marL="12700">
              <a:lnSpc>
                <a:spcPct val="100000"/>
              </a:lnSpc>
              <a:spcBef>
                <a:spcPts val="105"/>
              </a:spcBef>
            </a:pPr>
            <a:r>
              <a:rPr dirty="0" sz="3200" spc="-5">
                <a:solidFill>
                  <a:srgbClr val="000000"/>
                </a:solidFill>
                <a:latin typeface="Calibri"/>
                <a:cs typeface="Calibri"/>
              </a:rPr>
              <a:t>4.1.</a:t>
            </a:r>
            <a:r>
              <a:rPr dirty="0" sz="3200" spc="-45">
                <a:solidFill>
                  <a:srgbClr val="000000"/>
                </a:solidFill>
                <a:latin typeface="Calibri"/>
                <a:cs typeface="Calibri"/>
              </a:rPr>
              <a:t> </a:t>
            </a:r>
            <a:r>
              <a:rPr dirty="0" sz="3200">
                <a:solidFill>
                  <a:srgbClr val="000000"/>
                </a:solidFill>
              </a:rPr>
              <a:t>面谈中的问题</a:t>
            </a:r>
            <a:endParaRPr sz="3200">
              <a:latin typeface="Calibri"/>
              <a:cs typeface="Calibri"/>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829554"/>
            <a:ext cx="3395345" cy="3907154"/>
          </a:xfrm>
          <a:prstGeom prst="rect">
            <a:avLst/>
          </a:prstGeom>
        </p:spPr>
        <p:txBody>
          <a:bodyPr wrap="square" lIns="0" tIns="113664" rIns="0" bIns="0" rtlCol="0" vert="horz">
            <a:spAutoFit/>
          </a:bodyPr>
          <a:lstStyle/>
          <a:p>
            <a:pPr lvl="1" marL="724535" indent="-712470">
              <a:lnSpc>
                <a:spcPct val="100000"/>
              </a:lnSpc>
              <a:spcBef>
                <a:spcPts val="894"/>
              </a:spcBef>
              <a:buFont typeface="Calibri"/>
              <a:buAutoNum type="arabicPeriod" startAt="2"/>
              <a:tabLst>
                <a:tab pos="725170" algn="l"/>
              </a:tabLst>
            </a:pPr>
            <a:r>
              <a:rPr dirty="0" sz="3200">
                <a:solidFill>
                  <a:srgbClr val="FF0000"/>
                </a:solidFill>
                <a:latin typeface="宋体"/>
                <a:cs typeface="宋体"/>
              </a:rPr>
              <a:t>面谈的过程</a:t>
            </a:r>
            <a:endParaRPr sz="3200">
              <a:latin typeface="宋体"/>
              <a:cs typeface="宋体"/>
            </a:endParaRPr>
          </a:p>
          <a:p>
            <a:pPr lvl="2" marL="1251585" indent="-895350">
              <a:lnSpc>
                <a:spcPct val="100000"/>
              </a:lnSpc>
              <a:spcBef>
                <a:spcPts val="690"/>
              </a:spcBef>
              <a:buFont typeface="Calibri"/>
              <a:buAutoNum type="arabicPeriod"/>
              <a:tabLst>
                <a:tab pos="1252220" algn="l"/>
              </a:tabLst>
            </a:pPr>
            <a:r>
              <a:rPr dirty="0" sz="2800" spc="-5">
                <a:solidFill>
                  <a:srgbClr val="FF0000"/>
                </a:solidFill>
                <a:latin typeface="宋体"/>
                <a:cs typeface="宋体"/>
              </a:rPr>
              <a:t>准备面谈</a:t>
            </a:r>
            <a:endParaRPr sz="2800">
              <a:latin typeface="宋体"/>
              <a:cs typeface="宋体"/>
            </a:endParaRPr>
          </a:p>
          <a:p>
            <a:pPr lvl="2" marL="1251585" indent="-895350">
              <a:lnSpc>
                <a:spcPct val="100000"/>
              </a:lnSpc>
              <a:spcBef>
                <a:spcPts val="670"/>
              </a:spcBef>
              <a:buFont typeface="Calibri"/>
              <a:buAutoNum type="arabicPeriod"/>
              <a:tabLst>
                <a:tab pos="1252220" algn="l"/>
              </a:tabLst>
            </a:pPr>
            <a:r>
              <a:rPr dirty="0" sz="2800" spc="-10">
                <a:solidFill>
                  <a:srgbClr val="FF0000"/>
                </a:solidFill>
                <a:latin typeface="宋体"/>
                <a:cs typeface="宋体"/>
              </a:rPr>
              <a:t>主持面谈</a:t>
            </a:r>
            <a:endParaRPr sz="2800">
              <a:latin typeface="宋体"/>
              <a:cs typeface="宋体"/>
            </a:endParaRPr>
          </a:p>
          <a:p>
            <a:pPr lvl="2" marL="1251585" indent="-895350">
              <a:lnSpc>
                <a:spcPct val="100000"/>
              </a:lnSpc>
              <a:spcBef>
                <a:spcPts val="675"/>
              </a:spcBef>
              <a:buFont typeface="Calibri"/>
              <a:buAutoNum type="arabicPeriod"/>
              <a:tabLst>
                <a:tab pos="1252220" algn="l"/>
              </a:tabLst>
            </a:pPr>
            <a:r>
              <a:rPr dirty="0" sz="2800" spc="-5">
                <a:solidFill>
                  <a:srgbClr val="FF0000"/>
                </a:solidFill>
                <a:latin typeface="宋体"/>
                <a:cs typeface="宋体"/>
              </a:rPr>
              <a:t>处理面谈结果</a:t>
            </a:r>
            <a:endParaRPr sz="2800">
              <a:latin typeface="宋体"/>
              <a:cs typeface="宋体"/>
            </a:endParaRPr>
          </a:p>
          <a:p>
            <a:pPr lvl="1" marL="724535" indent="-712470">
              <a:lnSpc>
                <a:spcPct val="100000"/>
              </a:lnSpc>
              <a:spcBef>
                <a:spcPts val="750"/>
              </a:spcBef>
              <a:buFont typeface="Calibri"/>
              <a:buAutoNum type="arabicPeriod" startAt="2"/>
              <a:tabLst>
                <a:tab pos="725170" algn="l"/>
              </a:tabLst>
            </a:pPr>
            <a:r>
              <a:rPr dirty="0" sz="3200">
                <a:latin typeface="宋体"/>
                <a:cs typeface="宋体"/>
              </a:rPr>
              <a:t>面谈的类型</a:t>
            </a:r>
            <a:endParaRPr sz="3200">
              <a:latin typeface="宋体"/>
              <a:cs typeface="宋体"/>
            </a:endParaRPr>
          </a:p>
          <a:p>
            <a:pPr lvl="1" marL="724535" indent="-712470">
              <a:lnSpc>
                <a:spcPct val="100000"/>
              </a:lnSpc>
              <a:spcBef>
                <a:spcPts val="770"/>
              </a:spcBef>
              <a:buFont typeface="Calibri"/>
              <a:buAutoNum type="arabicPeriod" startAt="2"/>
              <a:tabLst>
                <a:tab pos="725170" algn="l"/>
              </a:tabLst>
            </a:pPr>
            <a:r>
              <a:rPr dirty="0" sz="3200">
                <a:latin typeface="宋体"/>
                <a:cs typeface="宋体"/>
              </a:rPr>
              <a:t>面谈的优缺点</a:t>
            </a:r>
            <a:endParaRPr sz="3200">
              <a:latin typeface="宋体"/>
              <a:cs typeface="宋体"/>
            </a:endParaRPr>
          </a:p>
          <a:p>
            <a:pPr lvl="1" marL="724535" indent="-712470">
              <a:lnSpc>
                <a:spcPct val="100000"/>
              </a:lnSpc>
              <a:spcBef>
                <a:spcPts val="770"/>
              </a:spcBef>
              <a:buFont typeface="Calibri"/>
              <a:buAutoNum type="arabicPeriod" startAt="2"/>
              <a:tabLst>
                <a:tab pos="725170" algn="l"/>
              </a:tabLst>
            </a:pPr>
            <a:r>
              <a:rPr dirty="0" sz="3200">
                <a:latin typeface="宋体"/>
                <a:cs typeface="宋体"/>
              </a:rPr>
              <a:t>相关方法</a:t>
            </a:r>
            <a:endParaRPr sz="3200">
              <a:latin typeface="宋体"/>
              <a:cs typeface="宋体"/>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23286" y="69850"/>
            <a:ext cx="352171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4.2.1</a:t>
            </a:r>
            <a:r>
              <a:rPr dirty="0" spc="-95">
                <a:latin typeface="Calibri"/>
                <a:cs typeface="Calibri"/>
              </a:rPr>
              <a:t> </a:t>
            </a:r>
            <a:r>
              <a:rPr dirty="0"/>
              <a:t>准备面谈</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688340" y="1951685"/>
            <a:ext cx="7785100" cy="3354704"/>
          </a:xfrm>
          <a:prstGeom prst="rect">
            <a:avLst/>
          </a:prstGeom>
        </p:spPr>
        <p:txBody>
          <a:bodyPr wrap="square" lIns="0" tIns="12065" rIns="0" bIns="0" rtlCol="0" vert="horz">
            <a:spAutoFit/>
          </a:bodyPr>
          <a:lstStyle/>
          <a:p>
            <a:pPr marL="584200" indent="-572135">
              <a:lnSpc>
                <a:spcPct val="100000"/>
              </a:lnSpc>
              <a:spcBef>
                <a:spcPts val="95"/>
              </a:spcBef>
              <a:buClr>
                <a:srgbClr val="00663B"/>
              </a:buClr>
              <a:buSzPct val="80357"/>
              <a:buFont typeface="Calibri"/>
              <a:buAutoNum type="arabicPeriod"/>
              <a:tabLst>
                <a:tab pos="584200" algn="l"/>
                <a:tab pos="584835" algn="l"/>
              </a:tabLst>
            </a:pPr>
            <a:r>
              <a:rPr dirty="0" sz="2800" spc="-10">
                <a:latin typeface="宋体"/>
                <a:cs typeface="宋体"/>
              </a:rPr>
              <a:t>阅读背景资</a:t>
            </a:r>
            <a:r>
              <a:rPr dirty="0" sz="2800" spc="-5">
                <a:latin typeface="宋体"/>
                <a:cs typeface="宋体"/>
              </a:rPr>
              <a:t>料</a:t>
            </a:r>
            <a:r>
              <a:rPr dirty="0" sz="2800" spc="-750">
                <a:latin typeface="宋体"/>
                <a:cs typeface="宋体"/>
              </a:rPr>
              <a:t> </a:t>
            </a:r>
            <a:r>
              <a:rPr dirty="0" sz="2800" spc="-10">
                <a:latin typeface="宋体"/>
                <a:cs typeface="宋体"/>
              </a:rPr>
              <a:t>（被会见者及其组织的信息）</a:t>
            </a:r>
            <a:endParaRPr sz="2800">
              <a:latin typeface="宋体"/>
              <a:cs typeface="宋体"/>
            </a:endParaRPr>
          </a:p>
          <a:p>
            <a:pPr marL="584200" indent="-572135">
              <a:lnSpc>
                <a:spcPct val="100000"/>
              </a:lnSpc>
              <a:spcBef>
                <a:spcPts val="2355"/>
              </a:spcBef>
              <a:buClr>
                <a:srgbClr val="00663B"/>
              </a:buClr>
              <a:buSzPct val="80357"/>
              <a:buFont typeface="Calibri"/>
              <a:buAutoNum type="arabicPeriod"/>
              <a:tabLst>
                <a:tab pos="584200" algn="l"/>
                <a:tab pos="584835" algn="l"/>
              </a:tabLst>
            </a:pPr>
            <a:r>
              <a:rPr dirty="0" sz="2800" spc="-5">
                <a:latin typeface="宋体"/>
                <a:cs typeface="宋体"/>
              </a:rPr>
              <a:t>确定面谈主题和目</a:t>
            </a:r>
            <a:r>
              <a:rPr dirty="0" sz="2800" spc="670">
                <a:latin typeface="宋体"/>
                <a:cs typeface="宋体"/>
              </a:rPr>
              <a:t>标</a:t>
            </a:r>
            <a:r>
              <a:rPr dirty="0" sz="2800" spc="-5">
                <a:latin typeface="宋体"/>
                <a:cs typeface="宋体"/>
              </a:rPr>
              <a:t>（项目范围和系统特性）</a:t>
            </a:r>
            <a:endParaRPr sz="2800">
              <a:latin typeface="宋体"/>
              <a:cs typeface="宋体"/>
            </a:endParaRPr>
          </a:p>
          <a:p>
            <a:pPr marL="584200" indent="-572135">
              <a:lnSpc>
                <a:spcPct val="100000"/>
              </a:lnSpc>
              <a:spcBef>
                <a:spcPts val="2355"/>
              </a:spcBef>
              <a:buClr>
                <a:srgbClr val="00663B"/>
              </a:buClr>
              <a:buSzPct val="80357"/>
              <a:buFont typeface="Calibri"/>
              <a:buAutoNum type="arabicPeriod"/>
              <a:tabLst>
                <a:tab pos="584200" algn="l"/>
                <a:tab pos="584835" algn="l"/>
              </a:tabLst>
            </a:pPr>
            <a:r>
              <a:rPr dirty="0" sz="2800" spc="-10">
                <a:latin typeface="宋体"/>
                <a:cs typeface="宋体"/>
              </a:rPr>
              <a:t>选择被会见者</a:t>
            </a:r>
            <a:endParaRPr sz="2800">
              <a:latin typeface="宋体"/>
              <a:cs typeface="宋体"/>
            </a:endParaRPr>
          </a:p>
          <a:p>
            <a:pPr marL="584200" indent="-572135">
              <a:lnSpc>
                <a:spcPct val="100000"/>
              </a:lnSpc>
              <a:spcBef>
                <a:spcPts val="2355"/>
              </a:spcBef>
              <a:buClr>
                <a:srgbClr val="00663B"/>
              </a:buClr>
              <a:buSzPct val="80357"/>
              <a:buFont typeface="Calibri"/>
              <a:buAutoNum type="arabicPeriod"/>
              <a:tabLst>
                <a:tab pos="584200" algn="l"/>
                <a:tab pos="584835" algn="l"/>
              </a:tabLst>
            </a:pPr>
            <a:r>
              <a:rPr dirty="0" sz="2800" spc="-5">
                <a:latin typeface="宋体"/>
                <a:cs typeface="宋体"/>
              </a:rPr>
              <a:t>准备被会见者（邀请通知）</a:t>
            </a:r>
            <a:endParaRPr sz="2800">
              <a:latin typeface="宋体"/>
              <a:cs typeface="宋体"/>
            </a:endParaRPr>
          </a:p>
          <a:p>
            <a:pPr marL="584200" indent="-572135">
              <a:lnSpc>
                <a:spcPct val="100000"/>
              </a:lnSpc>
              <a:spcBef>
                <a:spcPts val="2350"/>
              </a:spcBef>
              <a:buClr>
                <a:srgbClr val="00663B"/>
              </a:buClr>
              <a:buSzPct val="80357"/>
              <a:buFont typeface="Calibri"/>
              <a:buAutoNum type="arabicPeriod"/>
              <a:tabLst>
                <a:tab pos="584200" algn="l"/>
                <a:tab pos="584835" algn="l"/>
              </a:tabLst>
            </a:pPr>
            <a:r>
              <a:rPr dirty="0" sz="2800" spc="-10">
                <a:latin typeface="宋体"/>
                <a:cs typeface="宋体"/>
              </a:rPr>
              <a:t>确定问题和类型</a:t>
            </a:r>
            <a:endParaRPr sz="2800">
              <a:latin typeface="宋体"/>
              <a:cs typeface="宋体"/>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761" y="125679"/>
            <a:ext cx="3497579" cy="1184910"/>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4.2.2</a:t>
            </a:r>
            <a:r>
              <a:rPr dirty="0" sz="3800" spc="-30">
                <a:latin typeface="Calibri"/>
                <a:cs typeface="Calibri"/>
              </a:rPr>
              <a:t> </a:t>
            </a:r>
            <a:r>
              <a:rPr dirty="0" sz="3800" spc="5"/>
              <a:t>主持面谈</a:t>
            </a:r>
            <a:endParaRPr sz="3800">
              <a:latin typeface="Calibri"/>
              <a:cs typeface="Calibri"/>
            </a:endParaRPr>
          </a:p>
          <a:p>
            <a:pPr algn="ctr" marL="464820">
              <a:lnSpc>
                <a:spcPct val="100000"/>
              </a:lnSpc>
            </a:pPr>
            <a:r>
              <a:rPr dirty="0" sz="3800">
                <a:latin typeface="Arial"/>
                <a:cs typeface="Arial"/>
              </a:rPr>
              <a:t>——</a:t>
            </a:r>
            <a:r>
              <a:rPr dirty="0" sz="3800" spc="-275">
                <a:latin typeface="Arial"/>
                <a:cs typeface="Arial"/>
              </a:rPr>
              <a:t> </a:t>
            </a:r>
            <a:r>
              <a:rPr dirty="0" sz="3800"/>
              <a:t>记录面谈</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688340" y="1611267"/>
            <a:ext cx="7466330" cy="4135754"/>
          </a:xfrm>
          <a:prstGeom prst="rect">
            <a:avLst/>
          </a:prstGeom>
        </p:spPr>
        <p:txBody>
          <a:bodyPr wrap="square" lIns="0" tIns="95885" rIns="0" bIns="0" rtlCol="0" vert="horz">
            <a:spAutoFit/>
          </a:bodyPr>
          <a:lstStyle/>
          <a:p>
            <a:pPr marL="355600" indent="-343535">
              <a:lnSpc>
                <a:spcPct val="100000"/>
              </a:lnSpc>
              <a:spcBef>
                <a:spcPts val="755"/>
              </a:spcBef>
              <a:buClr>
                <a:srgbClr val="00663B"/>
              </a:buClr>
              <a:buSzPct val="78846"/>
              <a:buFont typeface="Wingdings"/>
              <a:buChar char=""/>
              <a:tabLst>
                <a:tab pos="355600" algn="l"/>
                <a:tab pos="356235" algn="l"/>
              </a:tabLst>
            </a:pPr>
            <a:r>
              <a:rPr dirty="0" sz="2600">
                <a:latin typeface="宋体"/>
                <a:cs typeface="宋体"/>
              </a:rPr>
              <a:t>笔录的优点有：</a:t>
            </a:r>
            <a:endParaRPr sz="2600">
              <a:latin typeface="宋体"/>
              <a:cs typeface="宋体"/>
            </a:endParaRPr>
          </a:p>
          <a:p>
            <a:pPr lvl="1" marL="756285" indent="-287020">
              <a:lnSpc>
                <a:spcPct val="100000"/>
              </a:lnSpc>
              <a:spcBef>
                <a:spcPts val="550"/>
              </a:spcBef>
              <a:buClr>
                <a:srgbClr val="C00000"/>
              </a:buClr>
              <a:buSzPct val="59090"/>
              <a:buFont typeface="Wingdings"/>
              <a:buChar char=""/>
              <a:tabLst>
                <a:tab pos="756285" algn="l"/>
                <a:tab pos="756920" algn="l"/>
              </a:tabLst>
            </a:pPr>
            <a:r>
              <a:rPr dirty="0" sz="2200" spc="-5">
                <a:latin typeface="宋体"/>
                <a:cs typeface="宋体"/>
              </a:rPr>
              <a:t>使会见者专心和集中精力；</a:t>
            </a:r>
            <a:endParaRPr sz="2200">
              <a:latin typeface="宋体"/>
              <a:cs typeface="宋体"/>
            </a:endParaRPr>
          </a:p>
          <a:p>
            <a:pPr lvl="1" marL="756285" indent="-287020">
              <a:lnSpc>
                <a:spcPct val="100000"/>
              </a:lnSpc>
              <a:spcBef>
                <a:spcPts val="525"/>
              </a:spcBef>
              <a:buClr>
                <a:srgbClr val="C00000"/>
              </a:buClr>
              <a:buSzPct val="59090"/>
              <a:buFont typeface="Wingdings"/>
              <a:buChar char=""/>
              <a:tabLst>
                <a:tab pos="756285" algn="l"/>
                <a:tab pos="756920" algn="l"/>
              </a:tabLst>
            </a:pPr>
            <a:r>
              <a:rPr dirty="0" sz="2200" spc="-5">
                <a:latin typeface="宋体"/>
                <a:cs typeface="宋体"/>
              </a:rPr>
              <a:t>帮助回忆重要的问题；</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表现会见者对面谈的兴趣；</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表明会见者是有准备的。</a:t>
            </a:r>
            <a:endParaRPr sz="2200">
              <a:latin typeface="宋体"/>
              <a:cs typeface="宋体"/>
            </a:endParaRPr>
          </a:p>
          <a:p>
            <a:pPr marL="355600" indent="-343535">
              <a:lnSpc>
                <a:spcPct val="100000"/>
              </a:lnSpc>
              <a:spcBef>
                <a:spcPts val="610"/>
              </a:spcBef>
              <a:buClr>
                <a:srgbClr val="00663B"/>
              </a:buClr>
              <a:buSzPct val="78846"/>
              <a:buFont typeface="Wingdings"/>
              <a:buChar char=""/>
              <a:tabLst>
                <a:tab pos="355600" algn="l"/>
                <a:tab pos="356235" algn="l"/>
              </a:tabLst>
            </a:pPr>
            <a:r>
              <a:rPr dirty="0" sz="2600">
                <a:latin typeface="宋体"/>
                <a:cs typeface="宋体"/>
              </a:rPr>
              <a:t>虽然笔录有一些好的优</a:t>
            </a:r>
            <a:r>
              <a:rPr dirty="0" sz="2600" spc="-15">
                <a:latin typeface="宋体"/>
                <a:cs typeface="宋体"/>
              </a:rPr>
              <a:t>点</a:t>
            </a:r>
            <a:r>
              <a:rPr dirty="0" sz="2600">
                <a:latin typeface="宋体"/>
                <a:cs typeface="宋体"/>
              </a:rPr>
              <a:t>，但</a:t>
            </a:r>
            <a:r>
              <a:rPr dirty="0" sz="2600" spc="-15">
                <a:latin typeface="宋体"/>
                <a:cs typeface="宋体"/>
              </a:rPr>
              <a:t>也</a:t>
            </a:r>
            <a:r>
              <a:rPr dirty="0" sz="2600">
                <a:latin typeface="宋体"/>
                <a:cs typeface="宋体"/>
              </a:rPr>
              <a:t>有一</a:t>
            </a:r>
            <a:r>
              <a:rPr dirty="0" sz="2600" spc="-15">
                <a:latin typeface="宋体"/>
                <a:cs typeface="宋体"/>
              </a:rPr>
              <a:t>些</a:t>
            </a:r>
            <a:r>
              <a:rPr dirty="0" sz="2600">
                <a:latin typeface="宋体"/>
                <a:cs typeface="宋体"/>
              </a:rPr>
              <a:t>缺点：</a:t>
            </a:r>
            <a:endParaRPr sz="2600">
              <a:latin typeface="宋体"/>
              <a:cs typeface="宋体"/>
            </a:endParaRPr>
          </a:p>
          <a:p>
            <a:pPr lvl="1" marL="756285" indent="-287020">
              <a:lnSpc>
                <a:spcPts val="2555"/>
              </a:lnSpc>
              <a:spcBef>
                <a:spcPts val="710"/>
              </a:spcBef>
              <a:buClr>
                <a:srgbClr val="C00000"/>
              </a:buClr>
              <a:buSzPct val="59090"/>
              <a:buFont typeface="Wingdings"/>
              <a:buChar char=""/>
              <a:tabLst>
                <a:tab pos="756285" algn="l"/>
                <a:tab pos="756920" algn="l"/>
              </a:tabLst>
            </a:pPr>
            <a:r>
              <a:rPr dirty="0" sz="2200" spc="-5">
                <a:latin typeface="宋体"/>
                <a:cs typeface="宋体"/>
              </a:rPr>
              <a:t>丢失很多被会见者在谈话中表现出</a:t>
            </a:r>
            <a:r>
              <a:rPr dirty="0" sz="2200">
                <a:latin typeface="宋体"/>
                <a:cs typeface="宋体"/>
              </a:rPr>
              <a:t>来</a:t>
            </a:r>
            <a:r>
              <a:rPr dirty="0" sz="2200" spc="-5">
                <a:latin typeface="宋体"/>
                <a:cs typeface="宋体"/>
              </a:rPr>
              <a:t>的语</a:t>
            </a:r>
            <a:r>
              <a:rPr dirty="0" sz="2200">
                <a:latin typeface="宋体"/>
                <a:cs typeface="宋体"/>
              </a:rPr>
              <a:t>调</a:t>
            </a:r>
            <a:r>
              <a:rPr dirty="0" sz="2200" spc="-5">
                <a:latin typeface="宋体"/>
                <a:cs typeface="宋体"/>
              </a:rPr>
              <a:t>、停</a:t>
            </a:r>
            <a:r>
              <a:rPr dirty="0" sz="2200">
                <a:latin typeface="宋体"/>
                <a:cs typeface="宋体"/>
              </a:rPr>
              <a:t>顿</a:t>
            </a:r>
            <a:r>
              <a:rPr dirty="0" sz="2200" spc="-5">
                <a:latin typeface="宋体"/>
                <a:cs typeface="宋体"/>
              </a:rPr>
              <a:t>等语</a:t>
            </a:r>
            <a:endParaRPr sz="2200">
              <a:latin typeface="宋体"/>
              <a:cs typeface="宋体"/>
            </a:endParaRPr>
          </a:p>
          <a:p>
            <a:pPr marL="756285">
              <a:lnSpc>
                <a:spcPts val="2555"/>
              </a:lnSpc>
            </a:pPr>
            <a:r>
              <a:rPr dirty="0" sz="2200" spc="-10">
                <a:latin typeface="宋体"/>
                <a:cs typeface="宋体"/>
              </a:rPr>
              <a:t>音信息；</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做笔记时，会让被会见者说话犹豫；</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造成对事实注意过多，而对感觉及</a:t>
            </a:r>
            <a:r>
              <a:rPr dirty="0" sz="2200">
                <a:latin typeface="宋体"/>
                <a:cs typeface="宋体"/>
              </a:rPr>
              <a:t>观</a:t>
            </a:r>
            <a:r>
              <a:rPr dirty="0" sz="2200" spc="-5">
                <a:latin typeface="宋体"/>
                <a:cs typeface="宋体"/>
              </a:rPr>
              <a:t>点注</a:t>
            </a:r>
            <a:r>
              <a:rPr dirty="0" sz="2200">
                <a:latin typeface="宋体"/>
                <a:cs typeface="宋体"/>
              </a:rPr>
              <a:t>意</a:t>
            </a:r>
            <a:r>
              <a:rPr dirty="0" sz="2200" spc="-5">
                <a:latin typeface="宋体"/>
                <a:cs typeface="宋体"/>
              </a:rPr>
              <a:t>过少。</a:t>
            </a:r>
            <a:endParaRPr sz="2200">
              <a:latin typeface="宋体"/>
              <a:cs typeface="宋体"/>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761" y="95757"/>
            <a:ext cx="3497579"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4.2.2</a:t>
            </a:r>
            <a:r>
              <a:rPr dirty="0" sz="3800" spc="-15">
                <a:latin typeface="Calibri"/>
                <a:cs typeface="Calibri"/>
              </a:rPr>
              <a:t> </a:t>
            </a:r>
            <a:r>
              <a:rPr dirty="0" sz="3800"/>
              <a:t>主持面谈</a:t>
            </a:r>
            <a:endParaRPr sz="3800">
              <a:latin typeface="Calibri"/>
              <a:cs typeface="Calibri"/>
            </a:endParaRPr>
          </a:p>
          <a:p>
            <a:pPr algn="ctr" marL="464820">
              <a:lnSpc>
                <a:spcPct val="100000"/>
              </a:lnSpc>
              <a:spcBef>
                <a:spcPts val="5"/>
              </a:spcBef>
            </a:pPr>
            <a:r>
              <a:rPr dirty="0" sz="3800">
                <a:latin typeface="Arial"/>
                <a:cs typeface="Arial"/>
              </a:rPr>
              <a:t>——</a:t>
            </a:r>
            <a:r>
              <a:rPr dirty="0" sz="3800" spc="-285">
                <a:latin typeface="Arial"/>
                <a:cs typeface="Arial"/>
              </a:rPr>
              <a:t> </a:t>
            </a:r>
            <a:r>
              <a:rPr dirty="0" sz="3800"/>
              <a:t>记录面谈</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688340" y="1590047"/>
            <a:ext cx="7517765" cy="4275455"/>
          </a:xfrm>
          <a:prstGeom prst="rect">
            <a:avLst/>
          </a:prstGeom>
        </p:spPr>
        <p:txBody>
          <a:bodyPr wrap="square" lIns="0" tIns="114300" rIns="0" bIns="0" rtlCol="0" vert="horz">
            <a:spAutoFit/>
          </a:bodyPr>
          <a:lstStyle/>
          <a:p>
            <a:pPr marL="355600" indent="-343535">
              <a:lnSpc>
                <a:spcPct val="100000"/>
              </a:lnSpc>
              <a:spcBef>
                <a:spcPts val="900"/>
              </a:spcBef>
              <a:buClr>
                <a:srgbClr val="00663B"/>
              </a:buClr>
              <a:buSzPct val="79687"/>
              <a:buFont typeface="Wingdings"/>
              <a:buChar char=""/>
              <a:tabLst>
                <a:tab pos="356235" algn="l"/>
              </a:tabLst>
            </a:pPr>
            <a:r>
              <a:rPr dirty="0" sz="3200">
                <a:latin typeface="宋体"/>
                <a:cs typeface="宋体"/>
              </a:rPr>
              <a:t>录音和摄像的优点有：</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记录了更多的信息；</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会见者能轻松地倾听并更快速地做</a:t>
            </a:r>
            <a:r>
              <a:rPr dirty="0" sz="2800">
                <a:latin typeface="宋体"/>
                <a:cs typeface="宋体"/>
              </a:rPr>
              <a:t>出</a:t>
            </a:r>
            <a:r>
              <a:rPr dirty="0" sz="2800" spc="-5">
                <a:latin typeface="宋体"/>
                <a:cs typeface="宋体"/>
              </a:rPr>
              <a:t>响应；</a:t>
            </a:r>
            <a:endParaRPr sz="2800">
              <a:latin typeface="宋体"/>
              <a:cs typeface="宋体"/>
            </a:endParaRPr>
          </a:p>
          <a:p>
            <a:pPr lvl="1" marL="756285" indent="-287020">
              <a:lnSpc>
                <a:spcPct val="100000"/>
              </a:lnSpc>
              <a:spcBef>
                <a:spcPts val="670"/>
              </a:spcBef>
              <a:buClr>
                <a:srgbClr val="C00000"/>
              </a:buClr>
              <a:buSzPct val="58928"/>
              <a:buFont typeface="Wingdings"/>
              <a:buChar char=""/>
              <a:tabLst>
                <a:tab pos="756285" algn="l"/>
                <a:tab pos="756920" algn="l"/>
              </a:tabLst>
            </a:pPr>
            <a:r>
              <a:rPr dirty="0" sz="2800" spc="-5">
                <a:latin typeface="宋体"/>
                <a:cs typeface="宋体"/>
              </a:rPr>
              <a:t>可以完整的重现面谈过程。</a:t>
            </a:r>
            <a:endParaRPr sz="2800">
              <a:latin typeface="宋体"/>
              <a:cs typeface="宋体"/>
            </a:endParaRPr>
          </a:p>
          <a:p>
            <a:pPr marL="355600" indent="-343535">
              <a:lnSpc>
                <a:spcPct val="100000"/>
              </a:lnSpc>
              <a:spcBef>
                <a:spcPts val="755"/>
              </a:spcBef>
              <a:buClr>
                <a:srgbClr val="00663B"/>
              </a:buClr>
              <a:buSzPct val="79687"/>
              <a:buFont typeface="Wingdings"/>
              <a:buChar char=""/>
              <a:tabLst>
                <a:tab pos="356235" algn="l"/>
              </a:tabLst>
            </a:pPr>
            <a:r>
              <a:rPr dirty="0" sz="3200">
                <a:latin typeface="宋体"/>
                <a:cs typeface="宋体"/>
              </a:rPr>
              <a:t>录音和摄像也有很多的</a:t>
            </a:r>
            <a:r>
              <a:rPr dirty="0" sz="3200" spc="-15">
                <a:latin typeface="宋体"/>
                <a:cs typeface="宋体"/>
              </a:rPr>
              <a:t>缺</a:t>
            </a:r>
            <a:r>
              <a:rPr dirty="0" sz="3200">
                <a:latin typeface="宋体"/>
                <a:cs typeface="宋体"/>
              </a:rPr>
              <a:t>点：</a:t>
            </a:r>
            <a:endParaRPr sz="3200">
              <a:latin typeface="宋体"/>
              <a:cs typeface="宋体"/>
            </a:endParaRPr>
          </a:p>
          <a:p>
            <a:pPr lvl="1" marL="756285" indent="-287020">
              <a:lnSpc>
                <a:spcPct val="100000"/>
              </a:lnSpc>
              <a:spcBef>
                <a:spcPts val="685"/>
              </a:spcBef>
              <a:buClr>
                <a:srgbClr val="C00000"/>
              </a:buClr>
              <a:buSzPct val="58928"/>
              <a:buFont typeface="Wingdings"/>
              <a:buChar char=""/>
              <a:tabLst>
                <a:tab pos="756285" algn="l"/>
                <a:tab pos="756920" algn="l"/>
              </a:tabLst>
            </a:pPr>
            <a:r>
              <a:rPr dirty="0" sz="2800" spc="-10">
                <a:latin typeface="宋体"/>
                <a:cs typeface="宋体"/>
              </a:rPr>
              <a:t>被会见者可能会紧张，回答不自在；</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数据采集的代价较高；</a:t>
            </a:r>
            <a:endParaRPr sz="2800">
              <a:latin typeface="宋体"/>
              <a:cs typeface="宋体"/>
            </a:endParaRPr>
          </a:p>
          <a:p>
            <a:pPr lvl="1" marL="756285" indent="-287020">
              <a:lnSpc>
                <a:spcPct val="100000"/>
              </a:lnSpc>
              <a:spcBef>
                <a:spcPts val="675"/>
              </a:spcBef>
              <a:buClr>
                <a:srgbClr val="C00000"/>
              </a:buClr>
              <a:buSzPct val="58928"/>
              <a:buFont typeface="Wingdings"/>
              <a:buChar char=""/>
              <a:tabLst>
                <a:tab pos="756285" algn="l"/>
                <a:tab pos="756920" algn="l"/>
              </a:tabLst>
            </a:pPr>
            <a:r>
              <a:rPr dirty="0" sz="2800" spc="-5">
                <a:latin typeface="宋体"/>
                <a:cs typeface="宋体"/>
              </a:rPr>
              <a:t>事后进行信息寻找时难以定位。</a:t>
            </a:r>
            <a:endParaRPr sz="2800">
              <a:latin typeface="宋体"/>
              <a:cs typeface="宋体"/>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2852" y="289051"/>
            <a:ext cx="463931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4.2.3</a:t>
            </a:r>
            <a:r>
              <a:rPr dirty="0" spc="-85">
                <a:latin typeface="Calibri"/>
                <a:cs typeface="Calibri"/>
              </a:rPr>
              <a:t> </a:t>
            </a:r>
            <a:r>
              <a:rPr dirty="0"/>
              <a:t>处理面谈结果</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3847"/>
            <a:ext cx="5030470" cy="3834765"/>
          </a:xfrm>
          <a:prstGeom prst="rect">
            <a:avLst/>
          </a:prstGeom>
        </p:spPr>
        <p:txBody>
          <a:bodyPr wrap="square" lIns="0" tIns="114300" rIns="0" bIns="0" rtlCol="0" vert="horz">
            <a:spAutoFit/>
          </a:bodyPr>
          <a:lstStyle/>
          <a:p>
            <a:pPr marL="355600" indent="-343535">
              <a:lnSpc>
                <a:spcPct val="100000"/>
              </a:lnSpc>
              <a:spcBef>
                <a:spcPts val="900"/>
              </a:spcBef>
              <a:buClr>
                <a:srgbClr val="00663B"/>
              </a:buClr>
              <a:buSzPct val="79687"/>
              <a:buFont typeface="Wingdings"/>
              <a:buChar char=""/>
              <a:tabLst>
                <a:tab pos="356235" algn="l"/>
              </a:tabLst>
            </a:pPr>
            <a:r>
              <a:rPr dirty="0" sz="3200">
                <a:latin typeface="宋体"/>
                <a:cs typeface="宋体"/>
              </a:rPr>
              <a:t>复查面谈记录</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整理出内容要点，进行分类</a:t>
            </a:r>
            <a:endParaRPr sz="2800">
              <a:latin typeface="宋体"/>
              <a:cs typeface="宋体"/>
            </a:endParaRPr>
          </a:p>
          <a:p>
            <a:pPr lvl="1">
              <a:lnSpc>
                <a:spcPct val="100000"/>
              </a:lnSpc>
              <a:spcBef>
                <a:spcPts val="45"/>
              </a:spcBef>
              <a:buClr>
                <a:srgbClr val="C00000"/>
              </a:buClr>
              <a:buFont typeface="Wingdings"/>
              <a:buChar char=""/>
            </a:pPr>
            <a:endParaRPr sz="37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宋体"/>
                <a:cs typeface="宋体"/>
              </a:rPr>
              <a:t>总结面谈信息</a:t>
            </a:r>
            <a:endParaRPr sz="3200">
              <a:latin typeface="宋体"/>
              <a:cs typeface="宋体"/>
            </a:endParaRPr>
          </a:p>
          <a:p>
            <a:pPr lvl="1" marL="756285" indent="-287020">
              <a:lnSpc>
                <a:spcPct val="100000"/>
              </a:lnSpc>
              <a:spcBef>
                <a:spcPts val="690"/>
              </a:spcBef>
              <a:buClr>
                <a:srgbClr val="C00000"/>
              </a:buClr>
              <a:buSzPct val="58928"/>
              <a:buFont typeface="Wingdings"/>
              <a:buChar char=""/>
              <a:tabLst>
                <a:tab pos="756285" algn="l"/>
                <a:tab pos="756920" algn="l"/>
              </a:tabLst>
            </a:pPr>
            <a:r>
              <a:rPr dirty="0" sz="2800" spc="-5">
                <a:latin typeface="宋体"/>
                <a:cs typeface="宋体"/>
              </a:rPr>
              <a:t>评估面谈中所得到的信息</a:t>
            </a:r>
            <a:endParaRPr sz="2800">
              <a:latin typeface="宋体"/>
              <a:cs typeface="宋体"/>
            </a:endParaRPr>
          </a:p>
          <a:p>
            <a:pPr lvl="1">
              <a:lnSpc>
                <a:spcPct val="100000"/>
              </a:lnSpc>
              <a:spcBef>
                <a:spcPts val="45"/>
              </a:spcBef>
              <a:buClr>
                <a:srgbClr val="C00000"/>
              </a:buClr>
              <a:buFont typeface="Wingdings"/>
              <a:buChar char=""/>
            </a:pPr>
            <a:endParaRPr sz="37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宋体"/>
                <a:cs typeface="宋体"/>
              </a:rPr>
              <a:t>完成面谈报告</a:t>
            </a:r>
            <a:endParaRPr sz="3200">
              <a:latin typeface="宋体"/>
              <a:cs typeface="宋体"/>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5654" y="95757"/>
            <a:ext cx="4012565" cy="1184910"/>
          </a:xfrm>
          <a:prstGeom prst="rect"/>
        </p:spPr>
        <p:txBody>
          <a:bodyPr wrap="square" lIns="0" tIns="12700" rIns="0" bIns="0" rtlCol="0" vert="horz">
            <a:spAutoFit/>
          </a:bodyPr>
          <a:lstStyle/>
          <a:p>
            <a:pPr algn="r" marR="5080">
              <a:lnSpc>
                <a:spcPct val="100000"/>
              </a:lnSpc>
              <a:spcBef>
                <a:spcPts val="100"/>
              </a:spcBef>
            </a:pPr>
            <a:r>
              <a:rPr dirty="0" sz="3800">
                <a:latin typeface="Calibri"/>
                <a:cs typeface="Calibri"/>
              </a:rPr>
              <a:t>4.2.3</a:t>
            </a:r>
            <a:r>
              <a:rPr dirty="0" sz="3800" spc="-70">
                <a:latin typeface="Calibri"/>
                <a:cs typeface="Calibri"/>
              </a:rPr>
              <a:t> </a:t>
            </a:r>
            <a:r>
              <a:rPr dirty="0" sz="3800"/>
              <a:t>处理面谈结果</a:t>
            </a:r>
            <a:endParaRPr sz="3800">
              <a:latin typeface="Calibri"/>
              <a:cs typeface="Calibri"/>
            </a:endParaRPr>
          </a:p>
          <a:p>
            <a:pPr algn="r" marR="91440">
              <a:lnSpc>
                <a:spcPct val="100000"/>
              </a:lnSpc>
              <a:spcBef>
                <a:spcPts val="5"/>
              </a:spcBef>
            </a:pPr>
            <a:r>
              <a:rPr dirty="0" sz="3800">
                <a:latin typeface="Arial"/>
                <a:cs typeface="Arial"/>
              </a:rPr>
              <a:t>——</a:t>
            </a:r>
            <a:r>
              <a:rPr dirty="0" sz="3800"/>
              <a:t>面谈报告</a:t>
            </a:r>
            <a:endParaRPr sz="3800">
              <a:latin typeface="Arial"/>
              <a:cs typeface="Arial"/>
            </a:endParaRPr>
          </a:p>
        </p:txBody>
      </p:sp>
      <p:sp>
        <p:nvSpPr>
          <p:cNvPr id="3" name="object 3"/>
          <p:cNvSpPr txBox="1"/>
          <p:nvPr/>
        </p:nvSpPr>
        <p:spPr>
          <a:xfrm>
            <a:off x="612140" y="1391158"/>
            <a:ext cx="7988934" cy="391160"/>
          </a:xfrm>
          <a:prstGeom prst="rect">
            <a:avLst/>
          </a:prstGeom>
        </p:spPr>
        <p:txBody>
          <a:bodyPr wrap="square" lIns="0" tIns="12700" rIns="0" bIns="0" rtlCol="0" vert="horz">
            <a:spAutoFit/>
          </a:bodyPr>
          <a:lstStyle/>
          <a:p>
            <a:pPr marL="355600" indent="-343535">
              <a:lnSpc>
                <a:spcPct val="100000"/>
              </a:lnSpc>
              <a:spcBef>
                <a:spcPts val="100"/>
              </a:spcBef>
              <a:buClr>
                <a:srgbClr val="00663B"/>
              </a:buClr>
              <a:buSzPct val="79166"/>
              <a:buFont typeface="Wingdings"/>
              <a:buChar char=""/>
              <a:tabLst>
                <a:tab pos="355600" algn="l"/>
                <a:tab pos="356235" algn="l"/>
              </a:tabLst>
            </a:pPr>
            <a:r>
              <a:rPr dirty="0" sz="2400">
                <a:latin typeface="宋体"/>
                <a:cs typeface="宋体"/>
              </a:rPr>
              <a:t>应该尽快的复查面谈记录，总结面谈信息，完成面谈报告</a:t>
            </a:r>
            <a:endParaRPr sz="2400">
              <a:latin typeface="宋体"/>
              <a:cs typeface="宋体"/>
            </a:endParaRPr>
          </a:p>
        </p:txBody>
      </p:sp>
      <p:sp>
        <p:nvSpPr>
          <p:cNvPr id="4" name="object 4"/>
          <p:cNvSpPr/>
          <p:nvPr/>
        </p:nvSpPr>
        <p:spPr>
          <a:xfrm>
            <a:off x="1196339" y="1933955"/>
            <a:ext cx="7199376" cy="4294632"/>
          </a:xfrm>
          <a:prstGeom prst="rect">
            <a:avLst/>
          </a:prstGeom>
          <a:blipFill>
            <a:blip r:embed="rId2" cstate="print"/>
            <a:stretch>
              <a:fillRect/>
            </a:stretch>
          </a:blipFill>
        </p:spPr>
        <p:txBody>
          <a:bodyPr wrap="square" lIns="0" tIns="0" rIns="0" bIns="0" rtlCol="0"/>
          <a:lstStyle/>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17562"/>
            <a:ext cx="3179445" cy="295338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面谈中的问题</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面谈的过程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F0000"/>
                </a:solidFill>
                <a:latin typeface="宋体"/>
                <a:cs typeface="宋体"/>
              </a:rPr>
              <a:t>面谈的类型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面谈的优缺点</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相关方法</a:t>
            </a:r>
            <a:endParaRPr sz="3200">
              <a:latin typeface="宋体"/>
              <a:cs typeface="宋体"/>
            </a:endParaRPr>
          </a:p>
        </p:txBody>
      </p:sp>
      <p:sp>
        <p:nvSpPr>
          <p:cNvPr id="3" name="object 3"/>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3857" y="214376"/>
            <a:ext cx="3797300"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4.3.</a:t>
            </a:r>
            <a:r>
              <a:rPr dirty="0" spc="-80">
                <a:latin typeface="Calibri"/>
                <a:cs typeface="Calibri"/>
              </a:rPr>
              <a:t> </a:t>
            </a:r>
            <a:r>
              <a:rPr dirty="0"/>
              <a:t>面谈的类型</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278151"/>
            <a:ext cx="8025765" cy="4457700"/>
          </a:xfrm>
          <a:prstGeom prst="rect">
            <a:avLst/>
          </a:prstGeom>
        </p:spPr>
        <p:txBody>
          <a:bodyPr wrap="square" lIns="0" tIns="55879" rIns="0" bIns="0" rtlCol="0" vert="horz">
            <a:spAutoFit/>
          </a:bodyPr>
          <a:lstStyle/>
          <a:p>
            <a:pPr marL="355600" indent="-343535">
              <a:lnSpc>
                <a:spcPct val="100000"/>
              </a:lnSpc>
              <a:spcBef>
                <a:spcPts val="439"/>
              </a:spcBef>
              <a:buClr>
                <a:srgbClr val="00663B"/>
              </a:buClr>
              <a:buSzPct val="78846"/>
              <a:buFont typeface="Wingdings"/>
              <a:buChar char=""/>
              <a:tabLst>
                <a:tab pos="355600" algn="l"/>
                <a:tab pos="356235" algn="l"/>
              </a:tabLst>
            </a:pPr>
            <a:r>
              <a:rPr dirty="0" sz="2600">
                <a:latin typeface="宋体"/>
                <a:cs typeface="宋体"/>
              </a:rPr>
              <a:t>结构化面谈</a:t>
            </a:r>
            <a:endParaRPr sz="2600">
              <a:latin typeface="宋体"/>
              <a:cs typeface="宋体"/>
            </a:endParaRPr>
          </a:p>
          <a:p>
            <a:pPr lvl="1" marL="756285" indent="-287020">
              <a:lnSpc>
                <a:spcPct val="100000"/>
              </a:lnSpc>
              <a:spcBef>
                <a:spcPts val="280"/>
              </a:spcBef>
              <a:buClr>
                <a:srgbClr val="C00000"/>
              </a:buClr>
              <a:buSzPct val="59090"/>
              <a:buFont typeface="Wingdings"/>
              <a:buChar char=""/>
              <a:tabLst>
                <a:tab pos="756285" algn="l"/>
                <a:tab pos="756920" algn="l"/>
              </a:tabLst>
            </a:pPr>
            <a:r>
              <a:rPr dirty="0" sz="2200" spc="-5">
                <a:latin typeface="宋体"/>
                <a:cs typeface="宋体"/>
              </a:rPr>
              <a:t>安全按照事先的问题和结构来控制</a:t>
            </a:r>
            <a:r>
              <a:rPr dirty="0" sz="2200">
                <a:latin typeface="宋体"/>
                <a:cs typeface="宋体"/>
              </a:rPr>
              <a:t>面</a:t>
            </a:r>
            <a:r>
              <a:rPr dirty="0" sz="2200" spc="-5">
                <a:latin typeface="宋体"/>
                <a:cs typeface="宋体"/>
              </a:rPr>
              <a:t>谈</a:t>
            </a:r>
            <a:endParaRPr sz="2200">
              <a:latin typeface="宋体"/>
              <a:cs typeface="宋体"/>
            </a:endParaRPr>
          </a:p>
          <a:p>
            <a:pPr marL="355600" indent="-343535">
              <a:lnSpc>
                <a:spcPct val="100000"/>
              </a:lnSpc>
              <a:spcBef>
                <a:spcPts val="295"/>
              </a:spcBef>
              <a:buClr>
                <a:srgbClr val="00663B"/>
              </a:buClr>
              <a:buSzPct val="78846"/>
              <a:buFont typeface="Wingdings"/>
              <a:buChar char=""/>
              <a:tabLst>
                <a:tab pos="355600" algn="l"/>
                <a:tab pos="356235" algn="l"/>
              </a:tabLst>
            </a:pPr>
            <a:r>
              <a:rPr dirty="0" sz="2600">
                <a:latin typeface="宋体"/>
                <a:cs typeface="宋体"/>
              </a:rPr>
              <a:t>半结构化面谈</a:t>
            </a:r>
            <a:endParaRPr sz="2600">
              <a:latin typeface="宋体"/>
              <a:cs typeface="宋体"/>
            </a:endParaRPr>
          </a:p>
          <a:p>
            <a:pPr algn="r" lvl="1" marL="286385" marR="5080" indent="-286385">
              <a:lnSpc>
                <a:spcPts val="2425"/>
              </a:lnSpc>
              <a:spcBef>
                <a:spcPts val="445"/>
              </a:spcBef>
              <a:buClr>
                <a:srgbClr val="C00000"/>
              </a:buClr>
              <a:buSzPct val="59090"/>
              <a:buFont typeface="Wingdings"/>
              <a:buChar char=""/>
              <a:tabLst>
                <a:tab pos="286385" algn="l"/>
                <a:tab pos="287020" algn="l"/>
              </a:tabLst>
            </a:pPr>
            <a:r>
              <a:rPr dirty="0" sz="2200" spc="-10">
                <a:latin typeface="宋体"/>
                <a:cs typeface="宋体"/>
              </a:rPr>
              <a:t>事先需要根据面谈内容准备面谈的</a:t>
            </a:r>
            <a:r>
              <a:rPr dirty="0" sz="2200">
                <a:latin typeface="宋体"/>
                <a:cs typeface="宋体"/>
              </a:rPr>
              <a:t>问</a:t>
            </a:r>
            <a:r>
              <a:rPr dirty="0" sz="2200" spc="-10">
                <a:latin typeface="宋体"/>
                <a:cs typeface="宋体"/>
              </a:rPr>
              <a:t>题和</a:t>
            </a:r>
            <a:r>
              <a:rPr dirty="0" sz="2200">
                <a:latin typeface="宋体"/>
                <a:cs typeface="宋体"/>
              </a:rPr>
              <a:t>面</a:t>
            </a:r>
            <a:r>
              <a:rPr dirty="0" sz="2200" spc="-10">
                <a:latin typeface="宋体"/>
                <a:cs typeface="宋体"/>
              </a:rPr>
              <a:t>谈结</a:t>
            </a:r>
            <a:r>
              <a:rPr dirty="0" sz="2200">
                <a:latin typeface="宋体"/>
                <a:cs typeface="宋体"/>
              </a:rPr>
              <a:t>构</a:t>
            </a:r>
            <a:r>
              <a:rPr dirty="0" sz="2200" spc="-10">
                <a:latin typeface="宋体"/>
                <a:cs typeface="宋体"/>
              </a:rPr>
              <a:t>，但</a:t>
            </a:r>
            <a:r>
              <a:rPr dirty="0" sz="2200">
                <a:latin typeface="宋体"/>
                <a:cs typeface="宋体"/>
              </a:rPr>
              <a:t>在</a:t>
            </a:r>
            <a:r>
              <a:rPr dirty="0" sz="2200" spc="-5">
                <a:latin typeface="宋体"/>
                <a:cs typeface="宋体"/>
              </a:rPr>
              <a:t>面</a:t>
            </a:r>
            <a:endParaRPr sz="2200">
              <a:latin typeface="宋体"/>
              <a:cs typeface="宋体"/>
            </a:endParaRPr>
          </a:p>
          <a:p>
            <a:pPr algn="r" marR="5080">
              <a:lnSpc>
                <a:spcPts val="2425"/>
              </a:lnSpc>
            </a:pPr>
            <a:r>
              <a:rPr dirty="0" sz="2200" spc="-5">
                <a:latin typeface="宋体"/>
                <a:cs typeface="宋体"/>
              </a:rPr>
              <a:t>谈过程当中，会见者可以根据实际</a:t>
            </a:r>
            <a:r>
              <a:rPr dirty="0" sz="2200">
                <a:latin typeface="宋体"/>
                <a:cs typeface="宋体"/>
              </a:rPr>
              <a:t>情</a:t>
            </a:r>
            <a:r>
              <a:rPr dirty="0" sz="2200" spc="-5">
                <a:latin typeface="宋体"/>
                <a:cs typeface="宋体"/>
              </a:rPr>
              <a:t>况采</a:t>
            </a:r>
            <a:r>
              <a:rPr dirty="0" sz="2200">
                <a:latin typeface="宋体"/>
                <a:cs typeface="宋体"/>
              </a:rPr>
              <a:t>取</a:t>
            </a:r>
            <a:r>
              <a:rPr dirty="0" sz="2200" spc="-5">
                <a:latin typeface="宋体"/>
                <a:cs typeface="宋体"/>
              </a:rPr>
              <a:t>一些</a:t>
            </a:r>
            <a:r>
              <a:rPr dirty="0" sz="2200">
                <a:latin typeface="宋体"/>
                <a:cs typeface="宋体"/>
              </a:rPr>
              <a:t>灵</a:t>
            </a:r>
            <a:r>
              <a:rPr dirty="0" sz="2200" spc="-5">
                <a:latin typeface="宋体"/>
                <a:cs typeface="宋体"/>
              </a:rPr>
              <a:t>活的</a:t>
            </a:r>
            <a:r>
              <a:rPr dirty="0" sz="2200">
                <a:latin typeface="宋体"/>
                <a:cs typeface="宋体"/>
              </a:rPr>
              <a:t>策</a:t>
            </a:r>
            <a:r>
              <a:rPr dirty="0" sz="2200" spc="-5">
                <a:latin typeface="宋体"/>
                <a:cs typeface="宋体"/>
              </a:rPr>
              <a:t>略</a:t>
            </a:r>
            <a:endParaRPr sz="2200">
              <a:latin typeface="宋体"/>
              <a:cs typeface="宋体"/>
            </a:endParaRPr>
          </a:p>
          <a:p>
            <a:pPr marL="355600" indent="-343535">
              <a:lnSpc>
                <a:spcPct val="100000"/>
              </a:lnSpc>
              <a:spcBef>
                <a:spcPts val="300"/>
              </a:spcBef>
              <a:buClr>
                <a:srgbClr val="00663B"/>
              </a:buClr>
              <a:buSzPct val="78846"/>
              <a:buFont typeface="Wingdings"/>
              <a:buChar char=""/>
              <a:tabLst>
                <a:tab pos="355600" algn="l"/>
                <a:tab pos="356235" algn="l"/>
              </a:tabLst>
            </a:pPr>
            <a:r>
              <a:rPr dirty="0" sz="2600">
                <a:latin typeface="宋体"/>
                <a:cs typeface="宋体"/>
              </a:rPr>
              <a:t>非结构化面谈</a:t>
            </a:r>
            <a:endParaRPr sz="2600">
              <a:latin typeface="宋体"/>
              <a:cs typeface="宋体"/>
            </a:endParaRPr>
          </a:p>
          <a:p>
            <a:pPr lvl="1" marL="756285" indent="-287020">
              <a:lnSpc>
                <a:spcPct val="100000"/>
              </a:lnSpc>
              <a:spcBef>
                <a:spcPts val="280"/>
              </a:spcBef>
              <a:buClr>
                <a:srgbClr val="C00000"/>
              </a:buClr>
              <a:buSzPct val="59090"/>
              <a:buFont typeface="Wingdings"/>
              <a:buChar char=""/>
              <a:tabLst>
                <a:tab pos="756285" algn="l"/>
                <a:tab pos="756920" algn="l"/>
              </a:tabLst>
            </a:pPr>
            <a:r>
              <a:rPr dirty="0" sz="2200" spc="-5">
                <a:latin typeface="宋体"/>
                <a:cs typeface="宋体"/>
              </a:rPr>
              <a:t>没有事先预定的议程安排</a:t>
            </a:r>
            <a:endParaRPr sz="2200">
              <a:latin typeface="宋体"/>
              <a:cs typeface="宋体"/>
            </a:endParaRPr>
          </a:p>
          <a:p>
            <a:pPr lvl="1" marL="756285" indent="-287020">
              <a:lnSpc>
                <a:spcPts val="2425"/>
              </a:lnSpc>
              <a:spcBef>
                <a:spcPts val="430"/>
              </a:spcBef>
              <a:buClr>
                <a:srgbClr val="C00000"/>
              </a:buClr>
              <a:buSzPct val="59090"/>
              <a:buFont typeface="Wingdings"/>
              <a:buChar char=""/>
              <a:tabLst>
                <a:tab pos="756285" algn="l"/>
                <a:tab pos="756920" algn="l"/>
              </a:tabLst>
            </a:pPr>
            <a:r>
              <a:rPr dirty="0" sz="2200" spc="-10">
                <a:latin typeface="宋体"/>
                <a:cs typeface="宋体"/>
              </a:rPr>
              <a:t>甚至会在没有太多事前准备的情况</a:t>
            </a:r>
            <a:r>
              <a:rPr dirty="0" sz="2200">
                <a:latin typeface="宋体"/>
                <a:cs typeface="宋体"/>
              </a:rPr>
              <a:t>下</a:t>
            </a:r>
            <a:r>
              <a:rPr dirty="0" sz="2200" spc="-10">
                <a:latin typeface="宋体"/>
                <a:cs typeface="宋体"/>
              </a:rPr>
              <a:t>就直</a:t>
            </a:r>
            <a:r>
              <a:rPr dirty="0" sz="2200">
                <a:latin typeface="宋体"/>
                <a:cs typeface="宋体"/>
              </a:rPr>
              <a:t>接</a:t>
            </a:r>
            <a:r>
              <a:rPr dirty="0" sz="2200" spc="-10">
                <a:latin typeface="宋体"/>
                <a:cs typeface="宋体"/>
              </a:rPr>
              <a:t>到访</a:t>
            </a:r>
            <a:r>
              <a:rPr dirty="0" sz="2200">
                <a:latin typeface="宋体"/>
                <a:cs typeface="宋体"/>
              </a:rPr>
              <a:t>被</a:t>
            </a:r>
            <a:r>
              <a:rPr dirty="0" sz="2200" spc="-10">
                <a:latin typeface="宋体"/>
                <a:cs typeface="宋体"/>
              </a:rPr>
              <a:t>会见</a:t>
            </a:r>
            <a:r>
              <a:rPr dirty="0" sz="2200">
                <a:latin typeface="宋体"/>
                <a:cs typeface="宋体"/>
              </a:rPr>
              <a:t>者</a:t>
            </a:r>
            <a:r>
              <a:rPr dirty="0" sz="2200" spc="-5">
                <a:latin typeface="宋体"/>
                <a:cs typeface="宋体"/>
              </a:rPr>
              <a:t>的</a:t>
            </a:r>
            <a:endParaRPr sz="2200">
              <a:latin typeface="宋体"/>
              <a:cs typeface="宋体"/>
            </a:endParaRPr>
          </a:p>
          <a:p>
            <a:pPr marL="756285">
              <a:lnSpc>
                <a:spcPts val="2425"/>
              </a:lnSpc>
            </a:pPr>
            <a:r>
              <a:rPr dirty="0" sz="2200" spc="-5">
                <a:latin typeface="宋体"/>
                <a:cs typeface="宋体"/>
              </a:rPr>
              <a:t>工作地，就某个主题开展会谈</a:t>
            </a:r>
            <a:endParaRPr sz="2200">
              <a:latin typeface="宋体"/>
              <a:cs typeface="宋体"/>
            </a:endParaRPr>
          </a:p>
          <a:p>
            <a:pPr lvl="1" marL="756285" marR="5080" indent="-287020">
              <a:lnSpc>
                <a:spcPts val="2210"/>
              </a:lnSpc>
              <a:spcBef>
                <a:spcPts val="865"/>
              </a:spcBef>
              <a:buClr>
                <a:srgbClr val="C00000"/>
              </a:buClr>
              <a:buSzPct val="59090"/>
              <a:buFont typeface="Wingdings"/>
              <a:buChar char=""/>
              <a:tabLst>
                <a:tab pos="756285" algn="l"/>
                <a:tab pos="756920" algn="l"/>
              </a:tabLst>
            </a:pPr>
            <a:r>
              <a:rPr dirty="0" sz="2200" spc="-5">
                <a:latin typeface="宋体"/>
                <a:cs typeface="宋体"/>
              </a:rPr>
              <a:t>会见者和被会见者谈话的主题可能</a:t>
            </a:r>
            <a:r>
              <a:rPr dirty="0" sz="2200">
                <a:latin typeface="宋体"/>
                <a:cs typeface="宋体"/>
              </a:rPr>
              <a:t>非</a:t>
            </a:r>
            <a:r>
              <a:rPr dirty="0" sz="2200" spc="-5">
                <a:latin typeface="宋体"/>
                <a:cs typeface="宋体"/>
              </a:rPr>
              <a:t>常广</a:t>
            </a:r>
            <a:r>
              <a:rPr dirty="0" sz="2200">
                <a:latin typeface="宋体"/>
                <a:cs typeface="宋体"/>
              </a:rPr>
              <a:t>泛</a:t>
            </a:r>
            <a:r>
              <a:rPr dirty="0" sz="2200" spc="-5">
                <a:latin typeface="宋体"/>
                <a:cs typeface="宋体"/>
              </a:rPr>
              <a:t>，而</a:t>
            </a:r>
            <a:r>
              <a:rPr dirty="0" sz="2200">
                <a:latin typeface="宋体"/>
                <a:cs typeface="宋体"/>
              </a:rPr>
              <a:t>且</a:t>
            </a:r>
            <a:r>
              <a:rPr dirty="0" sz="2200" spc="-5">
                <a:latin typeface="宋体"/>
                <a:cs typeface="宋体"/>
              </a:rPr>
              <a:t>每个</a:t>
            </a:r>
            <a:r>
              <a:rPr dirty="0" sz="2200">
                <a:latin typeface="宋体"/>
                <a:cs typeface="宋体"/>
              </a:rPr>
              <a:t>主</a:t>
            </a:r>
            <a:r>
              <a:rPr dirty="0" sz="2200" spc="-5">
                <a:latin typeface="宋体"/>
                <a:cs typeface="宋体"/>
              </a:rPr>
              <a:t>题 </a:t>
            </a:r>
            <a:r>
              <a:rPr dirty="0" sz="2200" spc="-5">
                <a:latin typeface="宋体"/>
                <a:cs typeface="宋体"/>
              </a:rPr>
              <a:t>都不会非常深入</a:t>
            </a:r>
            <a:endParaRPr sz="2200">
              <a:latin typeface="宋体"/>
              <a:cs typeface="宋体"/>
            </a:endParaRPr>
          </a:p>
          <a:p>
            <a:pPr lvl="1" marL="756285" indent="-287020">
              <a:lnSpc>
                <a:spcPct val="100000"/>
              </a:lnSpc>
              <a:spcBef>
                <a:spcPts val="260"/>
              </a:spcBef>
              <a:buClr>
                <a:srgbClr val="C00000"/>
              </a:buClr>
              <a:buSzPct val="59090"/>
              <a:buFont typeface="Wingdings"/>
              <a:buChar char=""/>
              <a:tabLst>
                <a:tab pos="756285" algn="l"/>
                <a:tab pos="756920" algn="l"/>
              </a:tabLst>
            </a:pPr>
            <a:r>
              <a:rPr dirty="0" sz="2200" spc="-10">
                <a:latin typeface="宋体"/>
                <a:cs typeface="宋体"/>
              </a:rPr>
              <a:t>也可能在非结构面谈中仅就某个特</a:t>
            </a:r>
            <a:r>
              <a:rPr dirty="0" sz="2200">
                <a:latin typeface="宋体"/>
                <a:cs typeface="宋体"/>
              </a:rPr>
              <a:t>殊</a:t>
            </a:r>
            <a:r>
              <a:rPr dirty="0" sz="2200" spc="-10">
                <a:latin typeface="宋体"/>
                <a:cs typeface="宋体"/>
              </a:rPr>
              <a:t>的主</a:t>
            </a:r>
            <a:r>
              <a:rPr dirty="0" sz="2200">
                <a:latin typeface="宋体"/>
                <a:cs typeface="宋体"/>
              </a:rPr>
              <a:t>题</a:t>
            </a:r>
            <a:r>
              <a:rPr dirty="0" sz="2200" spc="-10">
                <a:latin typeface="宋体"/>
                <a:cs typeface="宋体"/>
              </a:rPr>
              <a:t>进行</a:t>
            </a:r>
            <a:r>
              <a:rPr dirty="0" sz="2200">
                <a:latin typeface="宋体"/>
                <a:cs typeface="宋体"/>
              </a:rPr>
              <a:t>深</a:t>
            </a:r>
            <a:r>
              <a:rPr dirty="0" sz="2200" spc="-10">
                <a:latin typeface="宋体"/>
                <a:cs typeface="宋体"/>
              </a:rPr>
              <a:t>入的</a:t>
            </a:r>
            <a:r>
              <a:rPr dirty="0" sz="2200">
                <a:latin typeface="宋体"/>
                <a:cs typeface="宋体"/>
              </a:rPr>
              <a:t>讨</a:t>
            </a:r>
            <a:r>
              <a:rPr dirty="0" sz="2200" spc="-5">
                <a:latin typeface="宋体"/>
                <a:cs typeface="宋体"/>
              </a:rPr>
              <a:t>论</a:t>
            </a:r>
            <a:endParaRPr sz="2200">
              <a:latin typeface="宋体"/>
              <a:cs typeface="宋体"/>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47594" y="34543"/>
            <a:ext cx="3448685" cy="635000"/>
          </a:xfrm>
          <a:prstGeom prst="rect"/>
        </p:spPr>
        <p:txBody>
          <a:bodyPr wrap="square" lIns="0" tIns="12065" rIns="0" bIns="0" rtlCol="0" vert="horz">
            <a:spAutoFit/>
          </a:bodyPr>
          <a:lstStyle/>
          <a:p>
            <a:pPr marL="12700">
              <a:lnSpc>
                <a:spcPct val="100000"/>
              </a:lnSpc>
              <a:spcBef>
                <a:spcPts val="95"/>
              </a:spcBef>
            </a:pPr>
            <a:r>
              <a:rPr dirty="0" sz="4000" spc="-5">
                <a:latin typeface="Calibri"/>
                <a:cs typeface="Calibri"/>
              </a:rPr>
              <a:t>4.3.</a:t>
            </a:r>
            <a:r>
              <a:rPr dirty="0" sz="4000" spc="-80">
                <a:latin typeface="Calibri"/>
                <a:cs typeface="Calibri"/>
              </a:rPr>
              <a:t> </a:t>
            </a:r>
            <a:r>
              <a:rPr dirty="0" sz="4000" spc="-5"/>
              <a:t>面谈的类型</a:t>
            </a:r>
            <a:endParaRPr sz="4000">
              <a:latin typeface="Calibri"/>
              <a:cs typeface="Calibri"/>
            </a:endParaRPr>
          </a:p>
        </p:txBody>
      </p:sp>
      <p:sp>
        <p:nvSpPr>
          <p:cNvPr id="3" name="object 3"/>
          <p:cNvSpPr/>
          <p:nvPr/>
        </p:nvSpPr>
        <p:spPr>
          <a:xfrm>
            <a:off x="2974266" y="1800185"/>
            <a:ext cx="3129280" cy="440055"/>
          </a:xfrm>
          <a:custGeom>
            <a:avLst/>
            <a:gdLst/>
            <a:ahLst/>
            <a:cxnLst/>
            <a:rect l="l" t="t" r="r" b="b"/>
            <a:pathLst>
              <a:path w="3129279" h="440055">
                <a:moveTo>
                  <a:pt x="219010" y="0"/>
                </a:moveTo>
                <a:lnTo>
                  <a:pt x="0" y="219745"/>
                </a:lnTo>
                <a:lnTo>
                  <a:pt x="219010" y="439490"/>
                </a:lnTo>
                <a:lnTo>
                  <a:pt x="219010" y="294507"/>
                </a:lnTo>
                <a:lnTo>
                  <a:pt x="3054554" y="294507"/>
                </a:lnTo>
                <a:lnTo>
                  <a:pt x="3129066" y="219745"/>
                </a:lnTo>
                <a:lnTo>
                  <a:pt x="3054664" y="145093"/>
                </a:lnTo>
                <a:lnTo>
                  <a:pt x="219010" y="145093"/>
                </a:lnTo>
                <a:lnTo>
                  <a:pt x="219010" y="0"/>
                </a:lnTo>
                <a:close/>
              </a:path>
              <a:path w="3129279" h="440055">
                <a:moveTo>
                  <a:pt x="3054554" y="294507"/>
                </a:moveTo>
                <a:lnTo>
                  <a:pt x="2910056" y="294507"/>
                </a:lnTo>
                <a:lnTo>
                  <a:pt x="2910056" y="439490"/>
                </a:lnTo>
                <a:lnTo>
                  <a:pt x="3054554" y="294507"/>
                </a:lnTo>
                <a:close/>
              </a:path>
              <a:path w="3129279" h="440055">
                <a:moveTo>
                  <a:pt x="2910056" y="0"/>
                </a:moveTo>
                <a:lnTo>
                  <a:pt x="2910056" y="145093"/>
                </a:lnTo>
                <a:lnTo>
                  <a:pt x="3054664" y="145093"/>
                </a:lnTo>
                <a:lnTo>
                  <a:pt x="2910056" y="0"/>
                </a:lnTo>
                <a:close/>
              </a:path>
            </a:pathLst>
          </a:custGeom>
          <a:solidFill>
            <a:srgbClr val="E8EDF7"/>
          </a:solidFill>
        </p:spPr>
        <p:txBody>
          <a:bodyPr wrap="square" lIns="0" tIns="0" rIns="0" bIns="0" rtlCol="0"/>
          <a:lstStyle/>
          <a:p/>
        </p:txBody>
      </p:sp>
      <p:sp>
        <p:nvSpPr>
          <p:cNvPr id="4" name="object 4"/>
          <p:cNvSpPr/>
          <p:nvPr/>
        </p:nvSpPr>
        <p:spPr>
          <a:xfrm>
            <a:off x="2974266" y="1800185"/>
            <a:ext cx="3129280" cy="440055"/>
          </a:xfrm>
          <a:custGeom>
            <a:avLst/>
            <a:gdLst/>
            <a:ahLst/>
            <a:cxnLst/>
            <a:rect l="l" t="t" r="r" b="b"/>
            <a:pathLst>
              <a:path w="3129279" h="440055">
                <a:moveTo>
                  <a:pt x="0" y="219745"/>
                </a:moveTo>
                <a:lnTo>
                  <a:pt x="219010" y="0"/>
                </a:lnTo>
                <a:lnTo>
                  <a:pt x="219010" y="145093"/>
                </a:lnTo>
                <a:lnTo>
                  <a:pt x="2910056" y="145093"/>
                </a:lnTo>
                <a:lnTo>
                  <a:pt x="2910056" y="0"/>
                </a:lnTo>
                <a:lnTo>
                  <a:pt x="3129066" y="219745"/>
                </a:lnTo>
                <a:lnTo>
                  <a:pt x="2910056" y="439490"/>
                </a:lnTo>
                <a:lnTo>
                  <a:pt x="2910056" y="294507"/>
                </a:lnTo>
                <a:lnTo>
                  <a:pt x="219010" y="294507"/>
                </a:lnTo>
                <a:lnTo>
                  <a:pt x="219010" y="439490"/>
                </a:lnTo>
                <a:lnTo>
                  <a:pt x="0" y="219745"/>
                </a:lnTo>
                <a:close/>
              </a:path>
            </a:pathLst>
          </a:custGeom>
          <a:ln w="3175">
            <a:solidFill>
              <a:srgbClr val="000000"/>
            </a:solidFill>
          </a:ln>
        </p:spPr>
        <p:txBody>
          <a:bodyPr wrap="square" lIns="0" tIns="0" rIns="0" bIns="0" rtlCol="0"/>
          <a:lstStyle/>
          <a:p/>
        </p:txBody>
      </p:sp>
      <p:sp>
        <p:nvSpPr>
          <p:cNvPr id="5" name="object 5"/>
          <p:cNvSpPr txBox="1"/>
          <p:nvPr/>
        </p:nvSpPr>
        <p:spPr>
          <a:xfrm>
            <a:off x="4139740" y="1903231"/>
            <a:ext cx="798195"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所需的时间</a:t>
            </a:r>
            <a:endParaRPr sz="1200">
              <a:latin typeface="宋体"/>
              <a:cs typeface="宋体"/>
            </a:endParaRPr>
          </a:p>
        </p:txBody>
      </p:sp>
      <p:sp>
        <p:nvSpPr>
          <p:cNvPr id="6" name="object 6"/>
          <p:cNvSpPr/>
          <p:nvPr/>
        </p:nvSpPr>
        <p:spPr>
          <a:xfrm>
            <a:off x="2974266" y="2302476"/>
            <a:ext cx="3129280" cy="440055"/>
          </a:xfrm>
          <a:custGeom>
            <a:avLst/>
            <a:gdLst/>
            <a:ahLst/>
            <a:cxnLst/>
            <a:rect l="l" t="t" r="r" b="b"/>
            <a:pathLst>
              <a:path w="3129279" h="440055">
                <a:moveTo>
                  <a:pt x="219010" y="0"/>
                </a:moveTo>
                <a:lnTo>
                  <a:pt x="0" y="219856"/>
                </a:lnTo>
                <a:lnTo>
                  <a:pt x="219010" y="439601"/>
                </a:lnTo>
                <a:lnTo>
                  <a:pt x="219010" y="294507"/>
                </a:lnTo>
                <a:lnTo>
                  <a:pt x="3054664" y="294507"/>
                </a:lnTo>
                <a:lnTo>
                  <a:pt x="3129066" y="219856"/>
                </a:lnTo>
                <a:lnTo>
                  <a:pt x="3054592" y="145093"/>
                </a:lnTo>
                <a:lnTo>
                  <a:pt x="219010" y="145093"/>
                </a:lnTo>
                <a:lnTo>
                  <a:pt x="219010" y="0"/>
                </a:lnTo>
                <a:close/>
              </a:path>
              <a:path w="3129279" h="440055">
                <a:moveTo>
                  <a:pt x="3054664" y="294507"/>
                </a:moveTo>
                <a:lnTo>
                  <a:pt x="2910056" y="294507"/>
                </a:lnTo>
                <a:lnTo>
                  <a:pt x="2910056" y="439601"/>
                </a:lnTo>
                <a:lnTo>
                  <a:pt x="3054664" y="294507"/>
                </a:lnTo>
                <a:close/>
              </a:path>
              <a:path w="3129279" h="440055">
                <a:moveTo>
                  <a:pt x="2910056" y="0"/>
                </a:moveTo>
                <a:lnTo>
                  <a:pt x="2910056" y="145093"/>
                </a:lnTo>
                <a:lnTo>
                  <a:pt x="3054592" y="145093"/>
                </a:lnTo>
                <a:lnTo>
                  <a:pt x="2910056" y="0"/>
                </a:lnTo>
                <a:close/>
              </a:path>
            </a:pathLst>
          </a:custGeom>
          <a:solidFill>
            <a:srgbClr val="E8EDF7"/>
          </a:solidFill>
        </p:spPr>
        <p:txBody>
          <a:bodyPr wrap="square" lIns="0" tIns="0" rIns="0" bIns="0" rtlCol="0"/>
          <a:lstStyle/>
          <a:p/>
        </p:txBody>
      </p:sp>
      <p:sp>
        <p:nvSpPr>
          <p:cNvPr id="7" name="object 7"/>
          <p:cNvSpPr/>
          <p:nvPr/>
        </p:nvSpPr>
        <p:spPr>
          <a:xfrm>
            <a:off x="2974266" y="2302475"/>
            <a:ext cx="3129280" cy="440055"/>
          </a:xfrm>
          <a:custGeom>
            <a:avLst/>
            <a:gdLst/>
            <a:ahLst/>
            <a:cxnLst/>
            <a:rect l="l" t="t" r="r" b="b"/>
            <a:pathLst>
              <a:path w="3129279" h="440055">
                <a:moveTo>
                  <a:pt x="0" y="219856"/>
                </a:moveTo>
                <a:lnTo>
                  <a:pt x="219010" y="0"/>
                </a:lnTo>
                <a:lnTo>
                  <a:pt x="219010" y="145093"/>
                </a:lnTo>
                <a:lnTo>
                  <a:pt x="2910056" y="145093"/>
                </a:lnTo>
                <a:lnTo>
                  <a:pt x="2910056" y="0"/>
                </a:lnTo>
                <a:lnTo>
                  <a:pt x="3129066" y="219856"/>
                </a:lnTo>
                <a:lnTo>
                  <a:pt x="2910056" y="439601"/>
                </a:lnTo>
                <a:lnTo>
                  <a:pt x="2910056" y="294507"/>
                </a:lnTo>
                <a:lnTo>
                  <a:pt x="219010" y="294507"/>
                </a:lnTo>
                <a:lnTo>
                  <a:pt x="219010" y="439601"/>
                </a:lnTo>
                <a:lnTo>
                  <a:pt x="0" y="219856"/>
                </a:lnTo>
                <a:close/>
              </a:path>
            </a:pathLst>
          </a:custGeom>
          <a:ln w="3175">
            <a:solidFill>
              <a:srgbClr val="000000"/>
            </a:solidFill>
          </a:ln>
        </p:spPr>
        <p:txBody>
          <a:bodyPr wrap="square" lIns="0" tIns="0" rIns="0" bIns="0" rtlCol="0"/>
          <a:lstStyle/>
          <a:p/>
        </p:txBody>
      </p:sp>
      <p:sp>
        <p:nvSpPr>
          <p:cNvPr id="8" name="object 8"/>
          <p:cNvSpPr txBox="1"/>
          <p:nvPr/>
        </p:nvSpPr>
        <p:spPr>
          <a:xfrm>
            <a:off x="3907925" y="2405522"/>
            <a:ext cx="1261745"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会见者需要的培训</a:t>
            </a:r>
            <a:endParaRPr sz="1200">
              <a:latin typeface="宋体"/>
              <a:cs typeface="宋体"/>
            </a:endParaRPr>
          </a:p>
        </p:txBody>
      </p:sp>
      <p:sp>
        <p:nvSpPr>
          <p:cNvPr id="9" name="object 9"/>
          <p:cNvSpPr/>
          <p:nvPr/>
        </p:nvSpPr>
        <p:spPr>
          <a:xfrm>
            <a:off x="2974266" y="2804877"/>
            <a:ext cx="3129280" cy="440055"/>
          </a:xfrm>
          <a:custGeom>
            <a:avLst/>
            <a:gdLst/>
            <a:ahLst/>
            <a:cxnLst/>
            <a:rect l="l" t="t" r="r" b="b"/>
            <a:pathLst>
              <a:path w="3129279" h="440055">
                <a:moveTo>
                  <a:pt x="219010" y="0"/>
                </a:moveTo>
                <a:lnTo>
                  <a:pt x="0" y="219745"/>
                </a:lnTo>
                <a:lnTo>
                  <a:pt x="219010" y="439490"/>
                </a:lnTo>
                <a:lnTo>
                  <a:pt x="219010" y="294507"/>
                </a:lnTo>
                <a:lnTo>
                  <a:pt x="3054554" y="294507"/>
                </a:lnTo>
                <a:lnTo>
                  <a:pt x="3129066" y="219745"/>
                </a:lnTo>
                <a:lnTo>
                  <a:pt x="3054554" y="144983"/>
                </a:lnTo>
                <a:lnTo>
                  <a:pt x="219010" y="144983"/>
                </a:lnTo>
                <a:lnTo>
                  <a:pt x="219010" y="0"/>
                </a:lnTo>
                <a:close/>
              </a:path>
              <a:path w="3129279" h="440055">
                <a:moveTo>
                  <a:pt x="3054554" y="294507"/>
                </a:moveTo>
                <a:lnTo>
                  <a:pt x="2910056" y="294507"/>
                </a:lnTo>
                <a:lnTo>
                  <a:pt x="2910056" y="439490"/>
                </a:lnTo>
                <a:lnTo>
                  <a:pt x="3054554" y="294507"/>
                </a:lnTo>
                <a:close/>
              </a:path>
              <a:path w="3129279" h="440055">
                <a:moveTo>
                  <a:pt x="2910056" y="0"/>
                </a:moveTo>
                <a:lnTo>
                  <a:pt x="2910056" y="144983"/>
                </a:lnTo>
                <a:lnTo>
                  <a:pt x="3054554" y="144983"/>
                </a:lnTo>
                <a:lnTo>
                  <a:pt x="2910056" y="0"/>
                </a:lnTo>
                <a:close/>
              </a:path>
            </a:pathLst>
          </a:custGeom>
          <a:solidFill>
            <a:srgbClr val="E8EDF7"/>
          </a:solidFill>
        </p:spPr>
        <p:txBody>
          <a:bodyPr wrap="square" lIns="0" tIns="0" rIns="0" bIns="0" rtlCol="0"/>
          <a:lstStyle/>
          <a:p/>
        </p:txBody>
      </p:sp>
      <p:sp>
        <p:nvSpPr>
          <p:cNvPr id="10" name="object 10"/>
          <p:cNvSpPr/>
          <p:nvPr/>
        </p:nvSpPr>
        <p:spPr>
          <a:xfrm>
            <a:off x="2974266" y="2804877"/>
            <a:ext cx="3129280" cy="440055"/>
          </a:xfrm>
          <a:custGeom>
            <a:avLst/>
            <a:gdLst/>
            <a:ahLst/>
            <a:cxnLst/>
            <a:rect l="l" t="t" r="r" b="b"/>
            <a:pathLst>
              <a:path w="3129279" h="440055">
                <a:moveTo>
                  <a:pt x="0" y="219745"/>
                </a:moveTo>
                <a:lnTo>
                  <a:pt x="219010" y="0"/>
                </a:lnTo>
                <a:lnTo>
                  <a:pt x="219010" y="144983"/>
                </a:lnTo>
                <a:lnTo>
                  <a:pt x="2910056" y="144983"/>
                </a:lnTo>
                <a:lnTo>
                  <a:pt x="2910056" y="0"/>
                </a:lnTo>
                <a:lnTo>
                  <a:pt x="3129066" y="219745"/>
                </a:lnTo>
                <a:lnTo>
                  <a:pt x="2910056" y="439490"/>
                </a:lnTo>
                <a:lnTo>
                  <a:pt x="2910056" y="294507"/>
                </a:lnTo>
                <a:lnTo>
                  <a:pt x="219010" y="294507"/>
                </a:lnTo>
                <a:lnTo>
                  <a:pt x="219010" y="439490"/>
                </a:lnTo>
                <a:lnTo>
                  <a:pt x="0" y="219745"/>
                </a:lnTo>
                <a:close/>
              </a:path>
            </a:pathLst>
          </a:custGeom>
          <a:ln w="3175">
            <a:solidFill>
              <a:srgbClr val="000000"/>
            </a:solidFill>
          </a:ln>
        </p:spPr>
        <p:txBody>
          <a:bodyPr wrap="square" lIns="0" tIns="0" rIns="0" bIns="0" rtlCol="0"/>
          <a:lstStyle/>
          <a:p/>
        </p:txBody>
      </p:sp>
      <p:sp>
        <p:nvSpPr>
          <p:cNvPr id="11" name="object 11"/>
          <p:cNvSpPr txBox="1"/>
          <p:nvPr/>
        </p:nvSpPr>
        <p:spPr>
          <a:xfrm>
            <a:off x="4062468" y="2907924"/>
            <a:ext cx="953135"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允许的自发性</a:t>
            </a:r>
            <a:endParaRPr sz="1200">
              <a:latin typeface="宋体"/>
              <a:cs typeface="宋体"/>
            </a:endParaRPr>
          </a:p>
        </p:txBody>
      </p:sp>
      <p:sp>
        <p:nvSpPr>
          <p:cNvPr id="12" name="object 12"/>
          <p:cNvSpPr/>
          <p:nvPr/>
        </p:nvSpPr>
        <p:spPr>
          <a:xfrm>
            <a:off x="2974266" y="3307169"/>
            <a:ext cx="3129280" cy="440055"/>
          </a:xfrm>
          <a:custGeom>
            <a:avLst/>
            <a:gdLst/>
            <a:ahLst/>
            <a:cxnLst/>
            <a:rect l="l" t="t" r="r" b="b"/>
            <a:pathLst>
              <a:path w="3129279" h="440054">
                <a:moveTo>
                  <a:pt x="219010" y="0"/>
                </a:moveTo>
                <a:lnTo>
                  <a:pt x="0" y="219856"/>
                </a:lnTo>
                <a:lnTo>
                  <a:pt x="219010" y="439601"/>
                </a:lnTo>
                <a:lnTo>
                  <a:pt x="219010" y="294507"/>
                </a:lnTo>
                <a:lnTo>
                  <a:pt x="3054664" y="294507"/>
                </a:lnTo>
                <a:lnTo>
                  <a:pt x="3129066" y="219856"/>
                </a:lnTo>
                <a:lnTo>
                  <a:pt x="3054592" y="145093"/>
                </a:lnTo>
                <a:lnTo>
                  <a:pt x="219010" y="145093"/>
                </a:lnTo>
                <a:lnTo>
                  <a:pt x="219010" y="0"/>
                </a:lnTo>
                <a:close/>
              </a:path>
              <a:path w="3129279" h="440054">
                <a:moveTo>
                  <a:pt x="3054664" y="294507"/>
                </a:moveTo>
                <a:lnTo>
                  <a:pt x="2910056" y="294507"/>
                </a:lnTo>
                <a:lnTo>
                  <a:pt x="2910056" y="439601"/>
                </a:lnTo>
                <a:lnTo>
                  <a:pt x="3054664" y="294507"/>
                </a:lnTo>
                <a:close/>
              </a:path>
              <a:path w="3129279" h="440054">
                <a:moveTo>
                  <a:pt x="2910056" y="0"/>
                </a:moveTo>
                <a:lnTo>
                  <a:pt x="2910056" y="145093"/>
                </a:lnTo>
                <a:lnTo>
                  <a:pt x="3054592" y="145093"/>
                </a:lnTo>
                <a:lnTo>
                  <a:pt x="2910056" y="0"/>
                </a:lnTo>
                <a:close/>
              </a:path>
            </a:pathLst>
          </a:custGeom>
          <a:solidFill>
            <a:srgbClr val="E8EDF7"/>
          </a:solidFill>
        </p:spPr>
        <p:txBody>
          <a:bodyPr wrap="square" lIns="0" tIns="0" rIns="0" bIns="0" rtlCol="0"/>
          <a:lstStyle/>
          <a:p/>
        </p:txBody>
      </p:sp>
      <p:sp>
        <p:nvSpPr>
          <p:cNvPr id="13" name="object 13"/>
          <p:cNvSpPr/>
          <p:nvPr/>
        </p:nvSpPr>
        <p:spPr>
          <a:xfrm>
            <a:off x="2974266" y="3307168"/>
            <a:ext cx="3129280" cy="440055"/>
          </a:xfrm>
          <a:custGeom>
            <a:avLst/>
            <a:gdLst/>
            <a:ahLst/>
            <a:cxnLst/>
            <a:rect l="l" t="t" r="r" b="b"/>
            <a:pathLst>
              <a:path w="3129279" h="440054">
                <a:moveTo>
                  <a:pt x="0" y="219856"/>
                </a:moveTo>
                <a:lnTo>
                  <a:pt x="219010" y="0"/>
                </a:lnTo>
                <a:lnTo>
                  <a:pt x="219010" y="145093"/>
                </a:lnTo>
                <a:lnTo>
                  <a:pt x="2910056" y="145093"/>
                </a:lnTo>
                <a:lnTo>
                  <a:pt x="2910056" y="0"/>
                </a:lnTo>
                <a:lnTo>
                  <a:pt x="3129066" y="219856"/>
                </a:lnTo>
                <a:lnTo>
                  <a:pt x="2910056" y="439601"/>
                </a:lnTo>
                <a:lnTo>
                  <a:pt x="2910056" y="294507"/>
                </a:lnTo>
                <a:lnTo>
                  <a:pt x="219010" y="294507"/>
                </a:lnTo>
                <a:lnTo>
                  <a:pt x="219010" y="439601"/>
                </a:lnTo>
                <a:lnTo>
                  <a:pt x="0" y="219856"/>
                </a:lnTo>
                <a:close/>
              </a:path>
            </a:pathLst>
          </a:custGeom>
          <a:ln w="3175">
            <a:solidFill>
              <a:srgbClr val="000000"/>
            </a:solidFill>
          </a:ln>
        </p:spPr>
        <p:txBody>
          <a:bodyPr wrap="square" lIns="0" tIns="0" rIns="0" bIns="0" rtlCol="0"/>
          <a:lstStyle/>
          <a:p/>
        </p:txBody>
      </p:sp>
      <p:sp>
        <p:nvSpPr>
          <p:cNvPr id="14" name="object 14"/>
          <p:cNvSpPr txBox="1"/>
          <p:nvPr/>
        </p:nvSpPr>
        <p:spPr>
          <a:xfrm>
            <a:off x="3830653" y="3410215"/>
            <a:ext cx="1416685"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对被会见者的洞察力</a:t>
            </a:r>
            <a:endParaRPr sz="1200">
              <a:latin typeface="宋体"/>
              <a:cs typeface="宋体"/>
            </a:endParaRPr>
          </a:p>
        </p:txBody>
      </p:sp>
      <p:sp>
        <p:nvSpPr>
          <p:cNvPr id="15" name="object 15"/>
          <p:cNvSpPr/>
          <p:nvPr/>
        </p:nvSpPr>
        <p:spPr>
          <a:xfrm>
            <a:off x="2974266" y="1297894"/>
            <a:ext cx="3129280" cy="440055"/>
          </a:xfrm>
          <a:custGeom>
            <a:avLst/>
            <a:gdLst/>
            <a:ahLst/>
            <a:cxnLst/>
            <a:rect l="l" t="t" r="r" b="b"/>
            <a:pathLst>
              <a:path w="3129279" h="440055">
                <a:moveTo>
                  <a:pt x="219010" y="0"/>
                </a:moveTo>
                <a:lnTo>
                  <a:pt x="0" y="219745"/>
                </a:lnTo>
                <a:lnTo>
                  <a:pt x="219010" y="439490"/>
                </a:lnTo>
                <a:lnTo>
                  <a:pt x="219010" y="294396"/>
                </a:lnTo>
                <a:lnTo>
                  <a:pt x="3054664" y="294396"/>
                </a:lnTo>
                <a:lnTo>
                  <a:pt x="3129066" y="219745"/>
                </a:lnTo>
                <a:lnTo>
                  <a:pt x="3054554" y="144983"/>
                </a:lnTo>
                <a:lnTo>
                  <a:pt x="219010" y="144983"/>
                </a:lnTo>
                <a:lnTo>
                  <a:pt x="219010" y="0"/>
                </a:lnTo>
                <a:close/>
              </a:path>
              <a:path w="3129279" h="440055">
                <a:moveTo>
                  <a:pt x="3054664" y="294396"/>
                </a:moveTo>
                <a:lnTo>
                  <a:pt x="2910056" y="294396"/>
                </a:lnTo>
                <a:lnTo>
                  <a:pt x="2910056" y="439490"/>
                </a:lnTo>
                <a:lnTo>
                  <a:pt x="3054664" y="294396"/>
                </a:lnTo>
                <a:close/>
              </a:path>
              <a:path w="3129279" h="440055">
                <a:moveTo>
                  <a:pt x="2910056" y="0"/>
                </a:moveTo>
                <a:lnTo>
                  <a:pt x="2910056" y="144983"/>
                </a:lnTo>
                <a:lnTo>
                  <a:pt x="3054554" y="144983"/>
                </a:lnTo>
                <a:lnTo>
                  <a:pt x="2910056" y="0"/>
                </a:lnTo>
                <a:close/>
              </a:path>
            </a:pathLst>
          </a:custGeom>
          <a:solidFill>
            <a:srgbClr val="E8EDF7"/>
          </a:solidFill>
        </p:spPr>
        <p:txBody>
          <a:bodyPr wrap="square" lIns="0" tIns="0" rIns="0" bIns="0" rtlCol="0"/>
          <a:lstStyle/>
          <a:p/>
        </p:txBody>
      </p:sp>
      <p:sp>
        <p:nvSpPr>
          <p:cNvPr id="16" name="object 16"/>
          <p:cNvSpPr/>
          <p:nvPr/>
        </p:nvSpPr>
        <p:spPr>
          <a:xfrm>
            <a:off x="2974266" y="1297893"/>
            <a:ext cx="3129280" cy="440055"/>
          </a:xfrm>
          <a:custGeom>
            <a:avLst/>
            <a:gdLst/>
            <a:ahLst/>
            <a:cxnLst/>
            <a:rect l="l" t="t" r="r" b="b"/>
            <a:pathLst>
              <a:path w="3129279" h="440055">
                <a:moveTo>
                  <a:pt x="0" y="219745"/>
                </a:moveTo>
                <a:lnTo>
                  <a:pt x="219010" y="0"/>
                </a:lnTo>
                <a:lnTo>
                  <a:pt x="219010" y="144983"/>
                </a:lnTo>
                <a:lnTo>
                  <a:pt x="2910056" y="144983"/>
                </a:lnTo>
                <a:lnTo>
                  <a:pt x="2910056" y="0"/>
                </a:lnTo>
                <a:lnTo>
                  <a:pt x="3129066" y="219745"/>
                </a:lnTo>
                <a:lnTo>
                  <a:pt x="2910056" y="439490"/>
                </a:lnTo>
                <a:lnTo>
                  <a:pt x="2910056" y="294396"/>
                </a:lnTo>
                <a:lnTo>
                  <a:pt x="219010" y="294396"/>
                </a:lnTo>
                <a:lnTo>
                  <a:pt x="219010" y="439490"/>
                </a:lnTo>
                <a:lnTo>
                  <a:pt x="0" y="219745"/>
                </a:lnTo>
                <a:close/>
              </a:path>
            </a:pathLst>
          </a:custGeom>
          <a:ln w="3175">
            <a:solidFill>
              <a:srgbClr val="000000"/>
            </a:solidFill>
          </a:ln>
        </p:spPr>
        <p:txBody>
          <a:bodyPr wrap="square" lIns="0" tIns="0" rIns="0" bIns="0" rtlCol="0"/>
          <a:lstStyle/>
          <a:p/>
        </p:txBody>
      </p:sp>
      <p:sp>
        <p:nvSpPr>
          <p:cNvPr id="17" name="object 17"/>
          <p:cNvSpPr txBox="1"/>
          <p:nvPr/>
        </p:nvSpPr>
        <p:spPr>
          <a:xfrm>
            <a:off x="3830653" y="1400829"/>
            <a:ext cx="1416685"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评估获取内容的难度</a:t>
            </a:r>
            <a:endParaRPr sz="1200">
              <a:latin typeface="宋体"/>
              <a:cs typeface="宋体"/>
            </a:endParaRPr>
          </a:p>
        </p:txBody>
      </p:sp>
      <p:sp>
        <p:nvSpPr>
          <p:cNvPr id="18" name="object 18"/>
          <p:cNvSpPr/>
          <p:nvPr/>
        </p:nvSpPr>
        <p:spPr>
          <a:xfrm>
            <a:off x="2974266" y="4311861"/>
            <a:ext cx="3129280" cy="440055"/>
          </a:xfrm>
          <a:custGeom>
            <a:avLst/>
            <a:gdLst/>
            <a:ahLst/>
            <a:cxnLst/>
            <a:rect l="l" t="t" r="r" b="b"/>
            <a:pathLst>
              <a:path w="3129279" h="440054">
                <a:moveTo>
                  <a:pt x="219010" y="0"/>
                </a:moveTo>
                <a:lnTo>
                  <a:pt x="0" y="219745"/>
                </a:lnTo>
                <a:lnTo>
                  <a:pt x="219010" y="439601"/>
                </a:lnTo>
                <a:lnTo>
                  <a:pt x="219010" y="294507"/>
                </a:lnTo>
                <a:lnTo>
                  <a:pt x="3054592" y="294507"/>
                </a:lnTo>
                <a:lnTo>
                  <a:pt x="3129066" y="219745"/>
                </a:lnTo>
                <a:lnTo>
                  <a:pt x="3054664" y="145093"/>
                </a:lnTo>
                <a:lnTo>
                  <a:pt x="219010" y="145093"/>
                </a:lnTo>
                <a:lnTo>
                  <a:pt x="219010" y="0"/>
                </a:lnTo>
                <a:close/>
              </a:path>
              <a:path w="3129279" h="440054">
                <a:moveTo>
                  <a:pt x="3054592" y="294507"/>
                </a:moveTo>
                <a:lnTo>
                  <a:pt x="2910056" y="294507"/>
                </a:lnTo>
                <a:lnTo>
                  <a:pt x="2910056" y="439601"/>
                </a:lnTo>
                <a:lnTo>
                  <a:pt x="3054592" y="294507"/>
                </a:lnTo>
                <a:close/>
              </a:path>
              <a:path w="3129279" h="440054">
                <a:moveTo>
                  <a:pt x="2910056" y="0"/>
                </a:moveTo>
                <a:lnTo>
                  <a:pt x="2910056" y="145093"/>
                </a:lnTo>
                <a:lnTo>
                  <a:pt x="3054664" y="145093"/>
                </a:lnTo>
                <a:lnTo>
                  <a:pt x="2910056" y="0"/>
                </a:lnTo>
                <a:close/>
              </a:path>
            </a:pathLst>
          </a:custGeom>
          <a:solidFill>
            <a:srgbClr val="E8EDF7"/>
          </a:solidFill>
        </p:spPr>
        <p:txBody>
          <a:bodyPr wrap="square" lIns="0" tIns="0" rIns="0" bIns="0" rtlCol="0"/>
          <a:lstStyle/>
          <a:p/>
        </p:txBody>
      </p:sp>
      <p:sp>
        <p:nvSpPr>
          <p:cNvPr id="19" name="object 19"/>
          <p:cNvSpPr/>
          <p:nvPr/>
        </p:nvSpPr>
        <p:spPr>
          <a:xfrm>
            <a:off x="2974266" y="4311861"/>
            <a:ext cx="3129280" cy="440055"/>
          </a:xfrm>
          <a:custGeom>
            <a:avLst/>
            <a:gdLst/>
            <a:ahLst/>
            <a:cxnLst/>
            <a:rect l="l" t="t" r="r" b="b"/>
            <a:pathLst>
              <a:path w="3129279" h="440054">
                <a:moveTo>
                  <a:pt x="0" y="219745"/>
                </a:moveTo>
                <a:lnTo>
                  <a:pt x="219010" y="0"/>
                </a:lnTo>
                <a:lnTo>
                  <a:pt x="219010" y="145093"/>
                </a:lnTo>
                <a:lnTo>
                  <a:pt x="2910056" y="145093"/>
                </a:lnTo>
                <a:lnTo>
                  <a:pt x="2910056" y="0"/>
                </a:lnTo>
                <a:lnTo>
                  <a:pt x="3129066" y="219745"/>
                </a:lnTo>
                <a:lnTo>
                  <a:pt x="2910056" y="439601"/>
                </a:lnTo>
                <a:lnTo>
                  <a:pt x="2910056" y="294507"/>
                </a:lnTo>
                <a:lnTo>
                  <a:pt x="219010" y="294507"/>
                </a:lnTo>
                <a:lnTo>
                  <a:pt x="219010" y="439601"/>
                </a:lnTo>
                <a:lnTo>
                  <a:pt x="0" y="219745"/>
                </a:lnTo>
                <a:close/>
              </a:path>
            </a:pathLst>
          </a:custGeom>
          <a:ln w="3175">
            <a:solidFill>
              <a:srgbClr val="000000"/>
            </a:solidFill>
          </a:ln>
        </p:spPr>
        <p:txBody>
          <a:bodyPr wrap="square" lIns="0" tIns="0" rIns="0" bIns="0" rtlCol="0"/>
          <a:lstStyle/>
          <a:p/>
        </p:txBody>
      </p:sp>
      <p:sp>
        <p:nvSpPr>
          <p:cNvPr id="20" name="object 20"/>
          <p:cNvSpPr txBox="1"/>
          <p:nvPr/>
        </p:nvSpPr>
        <p:spPr>
          <a:xfrm>
            <a:off x="3907925" y="4414908"/>
            <a:ext cx="1261745"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会见者的控制程度</a:t>
            </a:r>
            <a:endParaRPr sz="1200">
              <a:latin typeface="宋体"/>
              <a:cs typeface="宋体"/>
            </a:endParaRPr>
          </a:p>
        </p:txBody>
      </p:sp>
      <p:sp>
        <p:nvSpPr>
          <p:cNvPr id="21" name="object 21"/>
          <p:cNvSpPr/>
          <p:nvPr/>
        </p:nvSpPr>
        <p:spPr>
          <a:xfrm>
            <a:off x="2974266" y="4814263"/>
            <a:ext cx="3129280" cy="440055"/>
          </a:xfrm>
          <a:custGeom>
            <a:avLst/>
            <a:gdLst/>
            <a:ahLst/>
            <a:cxnLst/>
            <a:rect l="l" t="t" r="r" b="b"/>
            <a:pathLst>
              <a:path w="3129279" h="440054">
                <a:moveTo>
                  <a:pt x="219010" y="0"/>
                </a:moveTo>
                <a:lnTo>
                  <a:pt x="0" y="219745"/>
                </a:lnTo>
                <a:lnTo>
                  <a:pt x="219010" y="439501"/>
                </a:lnTo>
                <a:lnTo>
                  <a:pt x="219010" y="294396"/>
                </a:lnTo>
                <a:lnTo>
                  <a:pt x="3054668" y="294396"/>
                </a:lnTo>
                <a:lnTo>
                  <a:pt x="3129066" y="219745"/>
                </a:lnTo>
                <a:lnTo>
                  <a:pt x="3054554" y="144983"/>
                </a:lnTo>
                <a:lnTo>
                  <a:pt x="219010" y="144983"/>
                </a:lnTo>
                <a:lnTo>
                  <a:pt x="219010" y="0"/>
                </a:lnTo>
                <a:close/>
              </a:path>
              <a:path w="3129279" h="440054">
                <a:moveTo>
                  <a:pt x="3054668" y="294396"/>
                </a:moveTo>
                <a:lnTo>
                  <a:pt x="2910056" y="294396"/>
                </a:lnTo>
                <a:lnTo>
                  <a:pt x="2910056" y="439501"/>
                </a:lnTo>
                <a:lnTo>
                  <a:pt x="3054668" y="294396"/>
                </a:lnTo>
                <a:close/>
              </a:path>
              <a:path w="3129279" h="440054">
                <a:moveTo>
                  <a:pt x="2910056" y="0"/>
                </a:moveTo>
                <a:lnTo>
                  <a:pt x="2910056" y="144983"/>
                </a:lnTo>
                <a:lnTo>
                  <a:pt x="3054554" y="144983"/>
                </a:lnTo>
                <a:lnTo>
                  <a:pt x="2910056" y="0"/>
                </a:lnTo>
                <a:close/>
              </a:path>
            </a:pathLst>
          </a:custGeom>
          <a:solidFill>
            <a:srgbClr val="E8EDF7"/>
          </a:solidFill>
        </p:spPr>
        <p:txBody>
          <a:bodyPr wrap="square" lIns="0" tIns="0" rIns="0" bIns="0" rtlCol="0"/>
          <a:lstStyle/>
          <a:p/>
        </p:txBody>
      </p:sp>
      <p:sp>
        <p:nvSpPr>
          <p:cNvPr id="22" name="object 22"/>
          <p:cNvSpPr/>
          <p:nvPr/>
        </p:nvSpPr>
        <p:spPr>
          <a:xfrm>
            <a:off x="2974266" y="4814263"/>
            <a:ext cx="3129280" cy="440055"/>
          </a:xfrm>
          <a:custGeom>
            <a:avLst/>
            <a:gdLst/>
            <a:ahLst/>
            <a:cxnLst/>
            <a:rect l="l" t="t" r="r" b="b"/>
            <a:pathLst>
              <a:path w="3129279" h="440054">
                <a:moveTo>
                  <a:pt x="0" y="219745"/>
                </a:moveTo>
                <a:lnTo>
                  <a:pt x="219010" y="0"/>
                </a:lnTo>
                <a:lnTo>
                  <a:pt x="219010" y="144983"/>
                </a:lnTo>
                <a:lnTo>
                  <a:pt x="2910056" y="144983"/>
                </a:lnTo>
                <a:lnTo>
                  <a:pt x="2910056" y="0"/>
                </a:lnTo>
                <a:lnTo>
                  <a:pt x="3129066" y="219745"/>
                </a:lnTo>
                <a:lnTo>
                  <a:pt x="2910056" y="439501"/>
                </a:lnTo>
                <a:lnTo>
                  <a:pt x="2910056" y="294396"/>
                </a:lnTo>
                <a:lnTo>
                  <a:pt x="219010" y="294396"/>
                </a:lnTo>
                <a:lnTo>
                  <a:pt x="219010" y="439501"/>
                </a:lnTo>
                <a:lnTo>
                  <a:pt x="0" y="219745"/>
                </a:lnTo>
                <a:close/>
              </a:path>
            </a:pathLst>
          </a:custGeom>
          <a:ln w="3175">
            <a:solidFill>
              <a:srgbClr val="000000"/>
            </a:solidFill>
          </a:ln>
        </p:spPr>
        <p:txBody>
          <a:bodyPr wrap="square" lIns="0" tIns="0" rIns="0" bIns="0" rtlCol="0"/>
          <a:lstStyle/>
          <a:p/>
        </p:txBody>
      </p:sp>
      <p:sp>
        <p:nvSpPr>
          <p:cNvPr id="23" name="object 23"/>
          <p:cNvSpPr txBox="1"/>
          <p:nvPr/>
        </p:nvSpPr>
        <p:spPr>
          <a:xfrm>
            <a:off x="3985197" y="4917199"/>
            <a:ext cx="1107440"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获取内容的精度</a:t>
            </a:r>
            <a:endParaRPr sz="1200">
              <a:latin typeface="宋体"/>
              <a:cs typeface="宋体"/>
            </a:endParaRPr>
          </a:p>
        </p:txBody>
      </p:sp>
      <p:sp>
        <p:nvSpPr>
          <p:cNvPr id="24" name="object 24"/>
          <p:cNvSpPr/>
          <p:nvPr/>
        </p:nvSpPr>
        <p:spPr>
          <a:xfrm>
            <a:off x="2974266" y="5316554"/>
            <a:ext cx="3129280" cy="440055"/>
          </a:xfrm>
          <a:custGeom>
            <a:avLst/>
            <a:gdLst/>
            <a:ahLst/>
            <a:cxnLst/>
            <a:rect l="l" t="t" r="r" b="b"/>
            <a:pathLst>
              <a:path w="3129279" h="440054">
                <a:moveTo>
                  <a:pt x="219010" y="0"/>
                </a:moveTo>
                <a:lnTo>
                  <a:pt x="0" y="219778"/>
                </a:lnTo>
                <a:lnTo>
                  <a:pt x="219010" y="439546"/>
                </a:lnTo>
                <a:lnTo>
                  <a:pt x="219010" y="294496"/>
                </a:lnTo>
                <a:lnTo>
                  <a:pt x="3054606" y="294496"/>
                </a:lnTo>
                <a:lnTo>
                  <a:pt x="3129066" y="219778"/>
                </a:lnTo>
                <a:lnTo>
                  <a:pt x="3054598" y="145049"/>
                </a:lnTo>
                <a:lnTo>
                  <a:pt x="219010" y="145049"/>
                </a:lnTo>
                <a:lnTo>
                  <a:pt x="219010" y="0"/>
                </a:lnTo>
                <a:close/>
              </a:path>
              <a:path w="3129279" h="440054">
                <a:moveTo>
                  <a:pt x="3054606" y="294496"/>
                </a:moveTo>
                <a:lnTo>
                  <a:pt x="2910056" y="294496"/>
                </a:lnTo>
                <a:lnTo>
                  <a:pt x="2910056" y="439546"/>
                </a:lnTo>
                <a:lnTo>
                  <a:pt x="3054606" y="294496"/>
                </a:lnTo>
                <a:close/>
              </a:path>
              <a:path w="3129279" h="440054">
                <a:moveTo>
                  <a:pt x="2910056" y="0"/>
                </a:moveTo>
                <a:lnTo>
                  <a:pt x="2910056" y="145049"/>
                </a:lnTo>
                <a:lnTo>
                  <a:pt x="3054598" y="145049"/>
                </a:lnTo>
                <a:lnTo>
                  <a:pt x="2910056" y="0"/>
                </a:lnTo>
                <a:close/>
              </a:path>
            </a:pathLst>
          </a:custGeom>
          <a:solidFill>
            <a:srgbClr val="E8EDF7"/>
          </a:solidFill>
        </p:spPr>
        <p:txBody>
          <a:bodyPr wrap="square" lIns="0" tIns="0" rIns="0" bIns="0" rtlCol="0"/>
          <a:lstStyle/>
          <a:p/>
        </p:txBody>
      </p:sp>
      <p:sp>
        <p:nvSpPr>
          <p:cNvPr id="25" name="object 25"/>
          <p:cNvSpPr/>
          <p:nvPr/>
        </p:nvSpPr>
        <p:spPr>
          <a:xfrm>
            <a:off x="2974266" y="5316554"/>
            <a:ext cx="3129280" cy="440055"/>
          </a:xfrm>
          <a:custGeom>
            <a:avLst/>
            <a:gdLst/>
            <a:ahLst/>
            <a:cxnLst/>
            <a:rect l="l" t="t" r="r" b="b"/>
            <a:pathLst>
              <a:path w="3129279" h="440054">
                <a:moveTo>
                  <a:pt x="0" y="219778"/>
                </a:moveTo>
                <a:lnTo>
                  <a:pt x="219010" y="0"/>
                </a:lnTo>
                <a:lnTo>
                  <a:pt x="219010" y="145049"/>
                </a:lnTo>
                <a:lnTo>
                  <a:pt x="2910056" y="145049"/>
                </a:lnTo>
                <a:lnTo>
                  <a:pt x="2910056" y="0"/>
                </a:lnTo>
                <a:lnTo>
                  <a:pt x="3129066" y="219778"/>
                </a:lnTo>
                <a:lnTo>
                  <a:pt x="2910056" y="439546"/>
                </a:lnTo>
                <a:lnTo>
                  <a:pt x="2910056" y="294496"/>
                </a:lnTo>
                <a:lnTo>
                  <a:pt x="219010" y="294496"/>
                </a:lnTo>
                <a:lnTo>
                  <a:pt x="219010" y="439546"/>
                </a:lnTo>
                <a:lnTo>
                  <a:pt x="0" y="219778"/>
                </a:lnTo>
                <a:close/>
              </a:path>
            </a:pathLst>
          </a:custGeom>
          <a:ln w="3175">
            <a:solidFill>
              <a:srgbClr val="000000"/>
            </a:solidFill>
          </a:ln>
        </p:spPr>
        <p:txBody>
          <a:bodyPr wrap="square" lIns="0" tIns="0" rIns="0" bIns="0" rtlCol="0"/>
          <a:lstStyle/>
          <a:p/>
        </p:txBody>
      </p:sp>
      <p:sp>
        <p:nvSpPr>
          <p:cNvPr id="26" name="object 26"/>
          <p:cNvSpPr txBox="1"/>
          <p:nvPr/>
        </p:nvSpPr>
        <p:spPr>
          <a:xfrm>
            <a:off x="3907925" y="5419590"/>
            <a:ext cx="1261745"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获取内容的可信度</a:t>
            </a:r>
            <a:endParaRPr sz="1200">
              <a:latin typeface="宋体"/>
              <a:cs typeface="宋体"/>
            </a:endParaRPr>
          </a:p>
        </p:txBody>
      </p:sp>
      <p:sp>
        <p:nvSpPr>
          <p:cNvPr id="27" name="object 27"/>
          <p:cNvSpPr/>
          <p:nvPr/>
        </p:nvSpPr>
        <p:spPr>
          <a:xfrm>
            <a:off x="2974266" y="5818889"/>
            <a:ext cx="3129280" cy="440055"/>
          </a:xfrm>
          <a:custGeom>
            <a:avLst/>
            <a:gdLst/>
            <a:ahLst/>
            <a:cxnLst/>
            <a:rect l="l" t="t" r="r" b="b"/>
            <a:pathLst>
              <a:path w="3129279" h="440054">
                <a:moveTo>
                  <a:pt x="219010" y="0"/>
                </a:moveTo>
                <a:lnTo>
                  <a:pt x="0" y="219778"/>
                </a:lnTo>
                <a:lnTo>
                  <a:pt x="219010" y="439551"/>
                </a:lnTo>
                <a:lnTo>
                  <a:pt x="219010" y="294496"/>
                </a:lnTo>
                <a:lnTo>
                  <a:pt x="3054608" y="294496"/>
                </a:lnTo>
                <a:lnTo>
                  <a:pt x="3129066" y="219778"/>
                </a:lnTo>
                <a:lnTo>
                  <a:pt x="3054609" y="145060"/>
                </a:lnTo>
                <a:lnTo>
                  <a:pt x="219010" y="145060"/>
                </a:lnTo>
                <a:lnTo>
                  <a:pt x="219010" y="0"/>
                </a:lnTo>
                <a:close/>
              </a:path>
              <a:path w="3129279" h="440054">
                <a:moveTo>
                  <a:pt x="3054608" y="294496"/>
                </a:moveTo>
                <a:lnTo>
                  <a:pt x="2910056" y="294496"/>
                </a:lnTo>
                <a:lnTo>
                  <a:pt x="2910056" y="439551"/>
                </a:lnTo>
                <a:lnTo>
                  <a:pt x="3054608" y="294496"/>
                </a:lnTo>
                <a:close/>
              </a:path>
              <a:path w="3129279" h="440054">
                <a:moveTo>
                  <a:pt x="2910056" y="0"/>
                </a:moveTo>
                <a:lnTo>
                  <a:pt x="2910056" y="145060"/>
                </a:lnTo>
                <a:lnTo>
                  <a:pt x="3054609" y="145060"/>
                </a:lnTo>
                <a:lnTo>
                  <a:pt x="2910056" y="0"/>
                </a:lnTo>
                <a:close/>
              </a:path>
            </a:pathLst>
          </a:custGeom>
          <a:solidFill>
            <a:srgbClr val="E8EDF7"/>
          </a:solidFill>
        </p:spPr>
        <p:txBody>
          <a:bodyPr wrap="square" lIns="0" tIns="0" rIns="0" bIns="0" rtlCol="0"/>
          <a:lstStyle/>
          <a:p/>
        </p:txBody>
      </p:sp>
      <p:sp>
        <p:nvSpPr>
          <p:cNvPr id="28" name="object 28"/>
          <p:cNvSpPr/>
          <p:nvPr/>
        </p:nvSpPr>
        <p:spPr>
          <a:xfrm>
            <a:off x="2974266" y="5818889"/>
            <a:ext cx="3129280" cy="440055"/>
          </a:xfrm>
          <a:custGeom>
            <a:avLst/>
            <a:gdLst/>
            <a:ahLst/>
            <a:cxnLst/>
            <a:rect l="l" t="t" r="r" b="b"/>
            <a:pathLst>
              <a:path w="3129279" h="440054">
                <a:moveTo>
                  <a:pt x="0" y="219778"/>
                </a:moveTo>
                <a:lnTo>
                  <a:pt x="219010" y="0"/>
                </a:lnTo>
                <a:lnTo>
                  <a:pt x="219010" y="145060"/>
                </a:lnTo>
                <a:lnTo>
                  <a:pt x="2910056" y="145060"/>
                </a:lnTo>
                <a:lnTo>
                  <a:pt x="2910056" y="0"/>
                </a:lnTo>
                <a:lnTo>
                  <a:pt x="3129066" y="219778"/>
                </a:lnTo>
                <a:lnTo>
                  <a:pt x="2910056" y="439551"/>
                </a:lnTo>
                <a:lnTo>
                  <a:pt x="2910056" y="294496"/>
                </a:lnTo>
                <a:lnTo>
                  <a:pt x="219010" y="294496"/>
                </a:lnTo>
                <a:lnTo>
                  <a:pt x="219010" y="439551"/>
                </a:lnTo>
                <a:lnTo>
                  <a:pt x="0" y="219778"/>
                </a:lnTo>
                <a:close/>
              </a:path>
            </a:pathLst>
          </a:custGeom>
          <a:ln w="3175">
            <a:solidFill>
              <a:srgbClr val="000000"/>
            </a:solidFill>
          </a:ln>
        </p:spPr>
        <p:txBody>
          <a:bodyPr wrap="square" lIns="0" tIns="0" rIns="0" bIns="0" rtlCol="0"/>
          <a:lstStyle/>
          <a:p/>
        </p:txBody>
      </p:sp>
      <p:sp>
        <p:nvSpPr>
          <p:cNvPr id="29" name="object 29"/>
          <p:cNvSpPr txBox="1"/>
          <p:nvPr/>
        </p:nvSpPr>
        <p:spPr>
          <a:xfrm>
            <a:off x="3753381" y="5921925"/>
            <a:ext cx="1570990"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获取内容的广度和深度</a:t>
            </a:r>
            <a:endParaRPr sz="1200">
              <a:latin typeface="宋体"/>
              <a:cs typeface="宋体"/>
            </a:endParaRPr>
          </a:p>
        </p:txBody>
      </p:sp>
      <p:sp>
        <p:nvSpPr>
          <p:cNvPr id="30" name="object 30"/>
          <p:cNvSpPr/>
          <p:nvPr/>
        </p:nvSpPr>
        <p:spPr>
          <a:xfrm>
            <a:off x="2974266" y="3809570"/>
            <a:ext cx="3129280" cy="440055"/>
          </a:xfrm>
          <a:custGeom>
            <a:avLst/>
            <a:gdLst/>
            <a:ahLst/>
            <a:cxnLst/>
            <a:rect l="l" t="t" r="r" b="b"/>
            <a:pathLst>
              <a:path w="3129279" h="440054">
                <a:moveTo>
                  <a:pt x="219010" y="0"/>
                </a:moveTo>
                <a:lnTo>
                  <a:pt x="0" y="219745"/>
                </a:lnTo>
                <a:lnTo>
                  <a:pt x="219010" y="439490"/>
                </a:lnTo>
                <a:lnTo>
                  <a:pt x="219010" y="294507"/>
                </a:lnTo>
                <a:lnTo>
                  <a:pt x="3054554" y="294507"/>
                </a:lnTo>
                <a:lnTo>
                  <a:pt x="3129066" y="219745"/>
                </a:lnTo>
                <a:lnTo>
                  <a:pt x="3054554" y="144983"/>
                </a:lnTo>
                <a:lnTo>
                  <a:pt x="219010" y="144983"/>
                </a:lnTo>
                <a:lnTo>
                  <a:pt x="219010" y="0"/>
                </a:lnTo>
                <a:close/>
              </a:path>
              <a:path w="3129279" h="440054">
                <a:moveTo>
                  <a:pt x="3054554" y="294507"/>
                </a:moveTo>
                <a:lnTo>
                  <a:pt x="2910056" y="294507"/>
                </a:lnTo>
                <a:lnTo>
                  <a:pt x="2910056" y="439490"/>
                </a:lnTo>
                <a:lnTo>
                  <a:pt x="3054554" y="294507"/>
                </a:lnTo>
                <a:close/>
              </a:path>
              <a:path w="3129279" h="440054">
                <a:moveTo>
                  <a:pt x="2910056" y="0"/>
                </a:moveTo>
                <a:lnTo>
                  <a:pt x="2910056" y="144983"/>
                </a:lnTo>
                <a:lnTo>
                  <a:pt x="3054554" y="144983"/>
                </a:lnTo>
                <a:lnTo>
                  <a:pt x="2910056" y="0"/>
                </a:lnTo>
                <a:close/>
              </a:path>
            </a:pathLst>
          </a:custGeom>
          <a:solidFill>
            <a:srgbClr val="E8EDF7"/>
          </a:solidFill>
        </p:spPr>
        <p:txBody>
          <a:bodyPr wrap="square" lIns="0" tIns="0" rIns="0" bIns="0" rtlCol="0"/>
          <a:lstStyle/>
          <a:p/>
        </p:txBody>
      </p:sp>
      <p:sp>
        <p:nvSpPr>
          <p:cNvPr id="31" name="object 31"/>
          <p:cNvSpPr/>
          <p:nvPr/>
        </p:nvSpPr>
        <p:spPr>
          <a:xfrm>
            <a:off x="2974266" y="3809570"/>
            <a:ext cx="3129280" cy="440055"/>
          </a:xfrm>
          <a:custGeom>
            <a:avLst/>
            <a:gdLst/>
            <a:ahLst/>
            <a:cxnLst/>
            <a:rect l="l" t="t" r="r" b="b"/>
            <a:pathLst>
              <a:path w="3129279" h="440054">
                <a:moveTo>
                  <a:pt x="0" y="219745"/>
                </a:moveTo>
                <a:lnTo>
                  <a:pt x="219010" y="0"/>
                </a:lnTo>
                <a:lnTo>
                  <a:pt x="219010" y="144983"/>
                </a:lnTo>
                <a:lnTo>
                  <a:pt x="2910056" y="144983"/>
                </a:lnTo>
                <a:lnTo>
                  <a:pt x="2910056" y="0"/>
                </a:lnTo>
                <a:lnTo>
                  <a:pt x="3129066" y="219745"/>
                </a:lnTo>
                <a:lnTo>
                  <a:pt x="2910056" y="439490"/>
                </a:lnTo>
                <a:lnTo>
                  <a:pt x="2910056" y="294507"/>
                </a:lnTo>
                <a:lnTo>
                  <a:pt x="219010" y="294507"/>
                </a:lnTo>
                <a:lnTo>
                  <a:pt x="219010" y="439490"/>
                </a:lnTo>
                <a:lnTo>
                  <a:pt x="0" y="219745"/>
                </a:lnTo>
                <a:close/>
              </a:path>
            </a:pathLst>
          </a:custGeom>
          <a:ln w="3175">
            <a:solidFill>
              <a:srgbClr val="000000"/>
            </a:solidFill>
          </a:ln>
        </p:spPr>
        <p:txBody>
          <a:bodyPr wrap="square" lIns="0" tIns="0" rIns="0" bIns="0" rtlCol="0"/>
          <a:lstStyle/>
          <a:p/>
        </p:txBody>
      </p:sp>
      <p:sp>
        <p:nvSpPr>
          <p:cNvPr id="32" name="object 32"/>
          <p:cNvSpPr txBox="1"/>
          <p:nvPr/>
        </p:nvSpPr>
        <p:spPr>
          <a:xfrm>
            <a:off x="4294284" y="3912617"/>
            <a:ext cx="489584" cy="212090"/>
          </a:xfrm>
          <a:prstGeom prst="rect">
            <a:avLst/>
          </a:prstGeom>
        </p:spPr>
        <p:txBody>
          <a:bodyPr wrap="square" lIns="0" tIns="15240" rIns="0" bIns="0" rtlCol="0" vert="horz">
            <a:spAutoFit/>
          </a:bodyPr>
          <a:lstStyle/>
          <a:p>
            <a:pPr marL="12700">
              <a:lnSpc>
                <a:spcPct val="100000"/>
              </a:lnSpc>
              <a:spcBef>
                <a:spcPts val="120"/>
              </a:spcBef>
            </a:pPr>
            <a:r>
              <a:rPr dirty="0" sz="1200" spc="15">
                <a:latin typeface="宋体"/>
                <a:cs typeface="宋体"/>
              </a:rPr>
              <a:t>灵活性</a:t>
            </a:r>
            <a:endParaRPr sz="1200">
              <a:latin typeface="宋体"/>
              <a:cs typeface="宋体"/>
            </a:endParaRPr>
          </a:p>
        </p:txBody>
      </p:sp>
      <p:sp>
        <p:nvSpPr>
          <p:cNvPr id="55" name="object 55"/>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3" name="object 33"/>
          <p:cNvSpPr txBox="1"/>
          <p:nvPr/>
        </p:nvSpPr>
        <p:spPr>
          <a:xfrm>
            <a:off x="2632321" y="1376680"/>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难</a:t>
            </a:r>
            <a:endParaRPr sz="1550">
              <a:latin typeface="宋体"/>
              <a:cs typeface="宋体"/>
            </a:endParaRPr>
          </a:p>
        </p:txBody>
      </p:sp>
      <p:sp>
        <p:nvSpPr>
          <p:cNvPr id="34" name="object 34"/>
          <p:cNvSpPr txBox="1"/>
          <p:nvPr/>
        </p:nvSpPr>
        <p:spPr>
          <a:xfrm>
            <a:off x="6272883" y="1376680"/>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易</a:t>
            </a:r>
            <a:endParaRPr sz="1550">
              <a:latin typeface="宋体"/>
              <a:cs typeface="宋体"/>
            </a:endParaRPr>
          </a:p>
        </p:txBody>
      </p:sp>
      <p:sp>
        <p:nvSpPr>
          <p:cNvPr id="35" name="object 35"/>
          <p:cNvSpPr txBox="1"/>
          <p:nvPr/>
        </p:nvSpPr>
        <p:spPr>
          <a:xfrm>
            <a:off x="2611811" y="1879082"/>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多</a:t>
            </a:r>
            <a:endParaRPr sz="1550">
              <a:latin typeface="宋体"/>
              <a:cs typeface="宋体"/>
            </a:endParaRPr>
          </a:p>
        </p:txBody>
      </p:sp>
      <p:sp>
        <p:nvSpPr>
          <p:cNvPr id="36" name="object 36"/>
          <p:cNvSpPr txBox="1"/>
          <p:nvPr/>
        </p:nvSpPr>
        <p:spPr>
          <a:xfrm>
            <a:off x="6262065" y="1867896"/>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少</a:t>
            </a:r>
            <a:endParaRPr sz="1550">
              <a:latin typeface="宋体"/>
              <a:cs typeface="宋体"/>
            </a:endParaRPr>
          </a:p>
        </p:txBody>
      </p:sp>
      <p:sp>
        <p:nvSpPr>
          <p:cNvPr id="37" name="object 37"/>
          <p:cNvSpPr txBox="1"/>
          <p:nvPr/>
        </p:nvSpPr>
        <p:spPr>
          <a:xfrm>
            <a:off x="2611811" y="2381373"/>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多</a:t>
            </a:r>
            <a:endParaRPr sz="1550">
              <a:latin typeface="宋体"/>
              <a:cs typeface="宋体"/>
            </a:endParaRPr>
          </a:p>
        </p:txBody>
      </p:sp>
      <p:sp>
        <p:nvSpPr>
          <p:cNvPr id="38" name="object 38"/>
          <p:cNvSpPr txBox="1"/>
          <p:nvPr/>
        </p:nvSpPr>
        <p:spPr>
          <a:xfrm>
            <a:off x="2622585" y="2935389"/>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多</a:t>
            </a:r>
            <a:endParaRPr sz="1550">
              <a:latin typeface="宋体"/>
              <a:cs typeface="宋体"/>
            </a:endParaRPr>
          </a:p>
        </p:txBody>
      </p:sp>
      <p:sp>
        <p:nvSpPr>
          <p:cNvPr id="39" name="object 39"/>
          <p:cNvSpPr txBox="1"/>
          <p:nvPr/>
        </p:nvSpPr>
        <p:spPr>
          <a:xfrm>
            <a:off x="6262065" y="2381373"/>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少</a:t>
            </a:r>
            <a:endParaRPr sz="1550">
              <a:latin typeface="宋体"/>
              <a:cs typeface="宋体"/>
            </a:endParaRPr>
          </a:p>
        </p:txBody>
      </p:sp>
      <p:sp>
        <p:nvSpPr>
          <p:cNvPr id="40" name="object 40"/>
          <p:cNvSpPr txBox="1"/>
          <p:nvPr/>
        </p:nvSpPr>
        <p:spPr>
          <a:xfrm>
            <a:off x="6262065" y="2909582"/>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少</a:t>
            </a:r>
            <a:endParaRPr sz="1550">
              <a:latin typeface="宋体"/>
              <a:cs typeface="宋体"/>
            </a:endParaRPr>
          </a:p>
        </p:txBody>
      </p:sp>
      <p:sp>
        <p:nvSpPr>
          <p:cNvPr id="41" name="object 41"/>
          <p:cNvSpPr txBox="1"/>
          <p:nvPr/>
        </p:nvSpPr>
        <p:spPr>
          <a:xfrm>
            <a:off x="6109730" y="3386066"/>
            <a:ext cx="1217930"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几乎没有机会</a:t>
            </a:r>
            <a:endParaRPr sz="1550">
              <a:latin typeface="宋体"/>
              <a:cs typeface="宋体"/>
            </a:endParaRPr>
          </a:p>
        </p:txBody>
      </p:sp>
      <p:sp>
        <p:nvSpPr>
          <p:cNvPr id="42" name="object 42"/>
          <p:cNvSpPr txBox="1"/>
          <p:nvPr/>
        </p:nvSpPr>
        <p:spPr>
          <a:xfrm>
            <a:off x="2157442" y="3411873"/>
            <a:ext cx="820419"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更多机会</a:t>
            </a:r>
            <a:endParaRPr sz="1550">
              <a:latin typeface="宋体"/>
              <a:cs typeface="宋体"/>
            </a:endParaRPr>
          </a:p>
        </p:txBody>
      </p:sp>
      <p:sp>
        <p:nvSpPr>
          <p:cNvPr id="43" name="object 43"/>
          <p:cNvSpPr txBox="1"/>
          <p:nvPr/>
        </p:nvSpPr>
        <p:spPr>
          <a:xfrm>
            <a:off x="2611811" y="3888468"/>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大</a:t>
            </a:r>
            <a:endParaRPr sz="1550">
              <a:latin typeface="宋体"/>
              <a:cs typeface="宋体"/>
            </a:endParaRPr>
          </a:p>
        </p:txBody>
      </p:sp>
      <p:sp>
        <p:nvSpPr>
          <p:cNvPr id="44" name="object 44"/>
          <p:cNvSpPr txBox="1"/>
          <p:nvPr/>
        </p:nvSpPr>
        <p:spPr>
          <a:xfrm>
            <a:off x="6199475" y="3857344"/>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小</a:t>
            </a:r>
            <a:endParaRPr sz="1550">
              <a:latin typeface="宋体"/>
              <a:cs typeface="宋体"/>
            </a:endParaRPr>
          </a:p>
        </p:txBody>
      </p:sp>
      <p:sp>
        <p:nvSpPr>
          <p:cNvPr id="45" name="object 45"/>
          <p:cNvSpPr txBox="1"/>
          <p:nvPr/>
        </p:nvSpPr>
        <p:spPr>
          <a:xfrm>
            <a:off x="2611811" y="4390759"/>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低</a:t>
            </a:r>
            <a:endParaRPr sz="1550">
              <a:latin typeface="宋体"/>
              <a:cs typeface="宋体"/>
            </a:endParaRPr>
          </a:p>
        </p:txBody>
      </p:sp>
      <p:sp>
        <p:nvSpPr>
          <p:cNvPr id="46" name="object 46"/>
          <p:cNvSpPr txBox="1"/>
          <p:nvPr/>
        </p:nvSpPr>
        <p:spPr>
          <a:xfrm>
            <a:off x="2611811" y="4918967"/>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低</a:t>
            </a:r>
            <a:endParaRPr sz="1550">
              <a:latin typeface="宋体"/>
              <a:cs typeface="宋体"/>
            </a:endParaRPr>
          </a:p>
        </p:txBody>
      </p:sp>
      <p:sp>
        <p:nvSpPr>
          <p:cNvPr id="47" name="object 47"/>
          <p:cNvSpPr txBox="1"/>
          <p:nvPr/>
        </p:nvSpPr>
        <p:spPr>
          <a:xfrm>
            <a:off x="2601027" y="5447065"/>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低</a:t>
            </a:r>
            <a:endParaRPr sz="1550">
              <a:latin typeface="宋体"/>
              <a:cs typeface="宋体"/>
            </a:endParaRPr>
          </a:p>
        </p:txBody>
      </p:sp>
      <p:sp>
        <p:nvSpPr>
          <p:cNvPr id="48" name="object 48"/>
          <p:cNvSpPr txBox="1"/>
          <p:nvPr/>
        </p:nvSpPr>
        <p:spPr>
          <a:xfrm>
            <a:off x="6179053" y="5866387"/>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低</a:t>
            </a:r>
            <a:endParaRPr sz="1550">
              <a:latin typeface="宋体"/>
              <a:cs typeface="宋体"/>
            </a:endParaRPr>
          </a:p>
        </p:txBody>
      </p:sp>
      <p:sp>
        <p:nvSpPr>
          <p:cNvPr id="49" name="object 49"/>
          <p:cNvSpPr txBox="1"/>
          <p:nvPr/>
        </p:nvSpPr>
        <p:spPr>
          <a:xfrm>
            <a:off x="2591290" y="5897776"/>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高</a:t>
            </a:r>
            <a:endParaRPr sz="1550">
              <a:latin typeface="宋体"/>
              <a:cs typeface="宋体"/>
            </a:endParaRPr>
          </a:p>
        </p:txBody>
      </p:sp>
      <p:sp>
        <p:nvSpPr>
          <p:cNvPr id="50" name="object 50"/>
          <p:cNvSpPr txBox="1"/>
          <p:nvPr/>
        </p:nvSpPr>
        <p:spPr>
          <a:xfrm>
            <a:off x="6199475" y="4416566"/>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高</a:t>
            </a:r>
            <a:endParaRPr sz="1550">
              <a:latin typeface="宋体"/>
              <a:cs typeface="宋体"/>
            </a:endParaRPr>
          </a:p>
        </p:txBody>
      </p:sp>
      <p:sp>
        <p:nvSpPr>
          <p:cNvPr id="51" name="object 51"/>
          <p:cNvSpPr txBox="1"/>
          <p:nvPr/>
        </p:nvSpPr>
        <p:spPr>
          <a:xfrm>
            <a:off x="6199475" y="4893050"/>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高</a:t>
            </a:r>
            <a:endParaRPr sz="1550">
              <a:latin typeface="宋体"/>
              <a:cs typeface="宋体"/>
            </a:endParaRPr>
          </a:p>
        </p:txBody>
      </p:sp>
      <p:sp>
        <p:nvSpPr>
          <p:cNvPr id="52" name="object 52"/>
          <p:cNvSpPr txBox="1"/>
          <p:nvPr/>
        </p:nvSpPr>
        <p:spPr>
          <a:xfrm>
            <a:off x="6199475" y="5384276"/>
            <a:ext cx="224154" cy="264795"/>
          </a:xfrm>
          <a:prstGeom prst="rect">
            <a:avLst/>
          </a:prstGeom>
        </p:spPr>
        <p:txBody>
          <a:bodyPr wrap="square" lIns="0" tIns="15240" rIns="0" bIns="0" rtlCol="0" vert="horz">
            <a:spAutoFit/>
          </a:bodyPr>
          <a:lstStyle/>
          <a:p>
            <a:pPr marL="12700">
              <a:lnSpc>
                <a:spcPct val="100000"/>
              </a:lnSpc>
              <a:spcBef>
                <a:spcPts val="120"/>
              </a:spcBef>
            </a:pPr>
            <a:r>
              <a:rPr dirty="0" sz="1550" spc="10">
                <a:latin typeface="宋体"/>
                <a:cs typeface="宋体"/>
              </a:rPr>
              <a:t>高</a:t>
            </a:r>
            <a:endParaRPr sz="1550">
              <a:latin typeface="宋体"/>
              <a:cs typeface="宋体"/>
            </a:endParaRPr>
          </a:p>
        </p:txBody>
      </p:sp>
      <p:sp>
        <p:nvSpPr>
          <p:cNvPr id="53" name="object 53"/>
          <p:cNvSpPr txBox="1"/>
          <p:nvPr/>
        </p:nvSpPr>
        <p:spPr>
          <a:xfrm>
            <a:off x="2046778" y="888343"/>
            <a:ext cx="1350645" cy="291465"/>
          </a:xfrm>
          <a:prstGeom prst="rect">
            <a:avLst/>
          </a:prstGeom>
        </p:spPr>
        <p:txBody>
          <a:bodyPr wrap="square" lIns="0" tIns="12065" rIns="0" bIns="0" rtlCol="0" vert="horz">
            <a:spAutoFit/>
          </a:bodyPr>
          <a:lstStyle/>
          <a:p>
            <a:pPr marL="12700">
              <a:lnSpc>
                <a:spcPct val="100000"/>
              </a:lnSpc>
              <a:spcBef>
                <a:spcPts val="95"/>
              </a:spcBef>
            </a:pPr>
            <a:r>
              <a:rPr dirty="0" sz="1750" spc="-15">
                <a:latin typeface="宋体"/>
                <a:cs typeface="宋体"/>
              </a:rPr>
              <a:t>非结构化面谈</a:t>
            </a:r>
            <a:endParaRPr sz="1750">
              <a:latin typeface="宋体"/>
              <a:cs typeface="宋体"/>
            </a:endParaRPr>
          </a:p>
        </p:txBody>
      </p:sp>
      <p:sp>
        <p:nvSpPr>
          <p:cNvPr id="54" name="object 54"/>
          <p:cNvSpPr txBox="1"/>
          <p:nvPr/>
        </p:nvSpPr>
        <p:spPr>
          <a:xfrm>
            <a:off x="5684845" y="859546"/>
            <a:ext cx="1129665" cy="291465"/>
          </a:xfrm>
          <a:prstGeom prst="rect">
            <a:avLst/>
          </a:prstGeom>
        </p:spPr>
        <p:txBody>
          <a:bodyPr wrap="square" lIns="0" tIns="12065" rIns="0" bIns="0" rtlCol="0" vert="horz">
            <a:spAutoFit/>
          </a:bodyPr>
          <a:lstStyle/>
          <a:p>
            <a:pPr marL="12700">
              <a:lnSpc>
                <a:spcPct val="100000"/>
              </a:lnSpc>
              <a:spcBef>
                <a:spcPts val="95"/>
              </a:spcBef>
            </a:pPr>
            <a:r>
              <a:rPr dirty="0" sz="1750" spc="-15">
                <a:latin typeface="宋体"/>
                <a:cs typeface="宋体"/>
              </a:rPr>
              <a:t>结构化面谈</a:t>
            </a:r>
            <a:endParaRPr sz="1750">
              <a:latin typeface="宋体"/>
              <a:cs typeface="宋体"/>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17562"/>
            <a:ext cx="3179445" cy="295338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面谈中的问题</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面谈的过程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面谈的类型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F0000"/>
                </a:solidFill>
                <a:latin typeface="宋体"/>
                <a:cs typeface="宋体"/>
              </a:rPr>
              <a:t>面谈的优缺点</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相关方法</a:t>
            </a:r>
            <a:endParaRPr sz="3200">
              <a:latin typeface="宋体"/>
              <a:cs typeface="宋体"/>
            </a:endParaRPr>
          </a:p>
        </p:txBody>
      </p:sp>
      <p:sp>
        <p:nvSpPr>
          <p:cNvPr id="3" name="object 3"/>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3857" y="334721"/>
            <a:ext cx="3797300"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4.4.</a:t>
            </a:r>
            <a:r>
              <a:rPr dirty="0" spc="-90">
                <a:latin typeface="Calibri"/>
                <a:cs typeface="Calibri"/>
              </a:rPr>
              <a:t> </a:t>
            </a:r>
            <a:r>
              <a:rPr dirty="0"/>
              <a:t>面谈的优点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3847"/>
            <a:ext cx="8232140" cy="4373245"/>
          </a:xfrm>
          <a:prstGeom prst="rect">
            <a:avLst/>
          </a:prstGeom>
        </p:spPr>
        <p:txBody>
          <a:bodyPr wrap="square" lIns="0" tIns="114300" rIns="0" bIns="0" rtlCol="0" vert="horz">
            <a:spAutoFit/>
          </a:bodyPr>
          <a:lstStyle/>
          <a:p>
            <a:pPr algn="just" marL="355600" indent="-343535">
              <a:lnSpc>
                <a:spcPct val="100000"/>
              </a:lnSpc>
              <a:spcBef>
                <a:spcPts val="900"/>
              </a:spcBef>
              <a:buClr>
                <a:srgbClr val="00663B"/>
              </a:buClr>
              <a:buSzPct val="79687"/>
              <a:buFont typeface="Wingdings"/>
              <a:buChar char=""/>
              <a:tabLst>
                <a:tab pos="356235" algn="l"/>
              </a:tabLst>
            </a:pPr>
            <a:r>
              <a:rPr dirty="0" sz="3200">
                <a:latin typeface="宋体"/>
                <a:cs typeface="宋体"/>
              </a:rPr>
              <a:t>面谈的优点有：</a:t>
            </a:r>
            <a:endParaRPr sz="3200">
              <a:latin typeface="宋体"/>
              <a:cs typeface="宋体"/>
            </a:endParaRPr>
          </a:p>
          <a:p>
            <a:pPr algn="just" lvl="1" marL="756285" indent="-287020">
              <a:lnSpc>
                <a:spcPct val="100000"/>
              </a:lnSpc>
              <a:spcBef>
                <a:spcPts val="690"/>
              </a:spcBef>
              <a:buClr>
                <a:srgbClr val="C00000"/>
              </a:buClr>
              <a:buSzPct val="58928"/>
              <a:buFont typeface="Wingdings"/>
              <a:buChar char=""/>
              <a:tabLst>
                <a:tab pos="756920" algn="l"/>
              </a:tabLst>
            </a:pPr>
            <a:r>
              <a:rPr dirty="0" sz="2800" spc="-5">
                <a:latin typeface="宋体"/>
                <a:cs typeface="宋体"/>
              </a:rPr>
              <a:t>面谈的开展条件较为简单，经济成</a:t>
            </a:r>
            <a:r>
              <a:rPr dirty="0" sz="2800">
                <a:latin typeface="宋体"/>
                <a:cs typeface="宋体"/>
              </a:rPr>
              <a:t>本</a:t>
            </a:r>
            <a:r>
              <a:rPr dirty="0" sz="2800" spc="-5">
                <a:latin typeface="宋体"/>
                <a:cs typeface="宋体"/>
              </a:rPr>
              <a:t>较低；</a:t>
            </a:r>
            <a:endParaRPr sz="2800">
              <a:latin typeface="宋体"/>
              <a:cs typeface="宋体"/>
            </a:endParaRPr>
          </a:p>
          <a:p>
            <a:pPr algn="just" lvl="1" marL="756285" marR="362585" indent="-287020">
              <a:lnSpc>
                <a:spcPct val="96800"/>
              </a:lnSpc>
              <a:spcBef>
                <a:spcPts val="994"/>
              </a:spcBef>
              <a:buClr>
                <a:srgbClr val="C00000"/>
              </a:buClr>
              <a:buSzPct val="58928"/>
              <a:buFont typeface="Wingdings"/>
              <a:buChar char=""/>
              <a:tabLst>
                <a:tab pos="756920" algn="l"/>
              </a:tabLst>
            </a:pPr>
            <a:r>
              <a:rPr dirty="0" sz="2800" spc="-5">
                <a:latin typeface="宋体"/>
                <a:cs typeface="宋体"/>
              </a:rPr>
              <a:t>能获得包括事实、问题、被会见者</a:t>
            </a:r>
            <a:r>
              <a:rPr dirty="0" sz="2800">
                <a:latin typeface="宋体"/>
                <a:cs typeface="宋体"/>
              </a:rPr>
              <a:t>观</a:t>
            </a:r>
            <a:r>
              <a:rPr dirty="0" sz="2800" spc="-5">
                <a:latin typeface="宋体"/>
                <a:cs typeface="宋体"/>
              </a:rPr>
              <a:t>点、</a:t>
            </a:r>
            <a:r>
              <a:rPr dirty="0" sz="2800">
                <a:latin typeface="宋体"/>
                <a:cs typeface="宋体"/>
              </a:rPr>
              <a:t>被</a:t>
            </a:r>
            <a:r>
              <a:rPr dirty="0" sz="2800" spc="-5">
                <a:latin typeface="宋体"/>
                <a:cs typeface="宋体"/>
              </a:rPr>
              <a:t>会 </a:t>
            </a:r>
            <a:r>
              <a:rPr dirty="0" sz="2800" spc="-10">
                <a:latin typeface="宋体"/>
                <a:cs typeface="宋体"/>
              </a:rPr>
              <a:t>见者态度和被会见者信仰等各种信</a:t>
            </a:r>
            <a:r>
              <a:rPr dirty="0" sz="2800">
                <a:latin typeface="宋体"/>
                <a:cs typeface="宋体"/>
              </a:rPr>
              <a:t>息</a:t>
            </a:r>
            <a:r>
              <a:rPr dirty="0" sz="2800" spc="-10">
                <a:latin typeface="宋体"/>
                <a:cs typeface="宋体"/>
              </a:rPr>
              <a:t>类型</a:t>
            </a:r>
            <a:r>
              <a:rPr dirty="0" sz="2800">
                <a:latin typeface="宋体"/>
                <a:cs typeface="宋体"/>
              </a:rPr>
              <a:t>在</a:t>
            </a:r>
            <a:r>
              <a:rPr dirty="0" sz="2800" spc="-5">
                <a:latin typeface="宋体"/>
                <a:cs typeface="宋体"/>
              </a:rPr>
              <a:t>内 的广泛内容；</a:t>
            </a:r>
            <a:endParaRPr sz="2800">
              <a:latin typeface="宋体"/>
              <a:cs typeface="宋体"/>
            </a:endParaRPr>
          </a:p>
          <a:p>
            <a:pPr lvl="1" marL="756285" marR="363220" indent="-287020">
              <a:lnSpc>
                <a:spcPts val="3140"/>
              </a:lnSpc>
              <a:spcBef>
                <a:spcPts val="1180"/>
              </a:spcBef>
              <a:buClr>
                <a:srgbClr val="C00000"/>
              </a:buClr>
              <a:buSzPct val="58928"/>
              <a:buFont typeface="Wingdings"/>
              <a:buChar char=""/>
              <a:tabLst>
                <a:tab pos="756285" algn="l"/>
                <a:tab pos="756920" algn="l"/>
              </a:tabLst>
            </a:pPr>
            <a:r>
              <a:rPr dirty="0" sz="2800" spc="-5">
                <a:latin typeface="宋体"/>
                <a:cs typeface="宋体"/>
              </a:rPr>
              <a:t>通过面谈，需求工程师可以和涉众</a:t>
            </a:r>
            <a:r>
              <a:rPr dirty="0" sz="2800">
                <a:latin typeface="宋体"/>
                <a:cs typeface="宋体"/>
              </a:rPr>
              <a:t>（</a:t>
            </a:r>
            <a:r>
              <a:rPr dirty="0" sz="2800" spc="-5">
                <a:latin typeface="宋体"/>
                <a:cs typeface="宋体"/>
              </a:rPr>
              <a:t>尤其</a:t>
            </a:r>
            <a:r>
              <a:rPr dirty="0" sz="2800">
                <a:latin typeface="宋体"/>
                <a:cs typeface="宋体"/>
              </a:rPr>
              <a:t>是</a:t>
            </a:r>
            <a:r>
              <a:rPr dirty="0" sz="2800" spc="-5">
                <a:latin typeface="宋体"/>
                <a:cs typeface="宋体"/>
              </a:rPr>
              <a:t>用 </a:t>
            </a:r>
            <a:r>
              <a:rPr dirty="0" sz="2800" spc="-10">
                <a:latin typeface="宋体"/>
                <a:cs typeface="宋体"/>
              </a:rPr>
              <a:t>户）建立相互之间的友好关系；</a:t>
            </a:r>
            <a:endParaRPr sz="2800">
              <a:latin typeface="宋体"/>
              <a:cs typeface="宋体"/>
            </a:endParaRPr>
          </a:p>
          <a:p>
            <a:pPr lvl="1" marL="756285" marR="5080" indent="-287020">
              <a:lnSpc>
                <a:spcPts val="3140"/>
              </a:lnSpc>
              <a:spcBef>
                <a:spcPts val="1115"/>
              </a:spcBef>
              <a:buClr>
                <a:srgbClr val="C00000"/>
              </a:buClr>
              <a:buSzPct val="58928"/>
              <a:buFont typeface="Wingdings"/>
              <a:buChar char=""/>
              <a:tabLst>
                <a:tab pos="756285" algn="l"/>
                <a:tab pos="756920" algn="l"/>
              </a:tabLst>
            </a:pPr>
            <a:r>
              <a:rPr dirty="0" sz="2800" spc="-5">
                <a:latin typeface="宋体"/>
                <a:cs typeface="宋体"/>
              </a:rPr>
              <a:t>通过参与面谈，被会见者会产生一</a:t>
            </a:r>
            <a:r>
              <a:rPr dirty="0" sz="2800">
                <a:latin typeface="宋体"/>
                <a:cs typeface="宋体"/>
              </a:rPr>
              <a:t>种</a:t>
            </a:r>
            <a:r>
              <a:rPr dirty="0" sz="2800" spc="-5">
                <a:latin typeface="宋体"/>
                <a:cs typeface="宋体"/>
              </a:rPr>
              <a:t>主动</a:t>
            </a:r>
            <a:r>
              <a:rPr dirty="0" sz="2800">
                <a:latin typeface="宋体"/>
                <a:cs typeface="宋体"/>
              </a:rPr>
              <a:t>为</a:t>
            </a:r>
            <a:r>
              <a:rPr dirty="0" sz="2800" spc="-5">
                <a:latin typeface="宋体"/>
                <a:cs typeface="宋体"/>
              </a:rPr>
              <a:t>项 </a:t>
            </a:r>
            <a:r>
              <a:rPr dirty="0" sz="2800" spc="-5">
                <a:latin typeface="宋体"/>
                <a:cs typeface="宋体"/>
              </a:rPr>
              <a:t>目做出</a:t>
            </a:r>
            <a:r>
              <a:rPr dirty="0" sz="2800">
                <a:latin typeface="宋体"/>
                <a:cs typeface="宋体"/>
              </a:rPr>
              <a:t>贡</a:t>
            </a:r>
            <a:r>
              <a:rPr dirty="0" sz="2800" spc="-5">
                <a:latin typeface="宋体"/>
                <a:cs typeface="宋体"/>
              </a:rPr>
              <a:t>献的感</a:t>
            </a:r>
            <a:r>
              <a:rPr dirty="0" sz="2800">
                <a:latin typeface="宋体"/>
                <a:cs typeface="宋体"/>
              </a:rPr>
              <a:t>觉</a:t>
            </a:r>
            <a:r>
              <a:rPr dirty="0" sz="2800" spc="-5">
                <a:latin typeface="宋体"/>
                <a:cs typeface="宋体"/>
              </a:rPr>
              <a:t>，提高</a:t>
            </a:r>
            <a:r>
              <a:rPr dirty="0" sz="2800">
                <a:latin typeface="宋体"/>
                <a:cs typeface="宋体"/>
              </a:rPr>
              <a:t>涉</a:t>
            </a:r>
            <a:r>
              <a:rPr dirty="0" sz="2800" spc="-5">
                <a:latin typeface="宋体"/>
                <a:cs typeface="宋体"/>
              </a:rPr>
              <a:t>众的项</a:t>
            </a:r>
            <a:r>
              <a:rPr dirty="0" sz="2800">
                <a:latin typeface="宋体"/>
                <a:cs typeface="宋体"/>
              </a:rPr>
              <a:t>目</a:t>
            </a:r>
            <a:r>
              <a:rPr dirty="0" sz="2800" spc="-5">
                <a:latin typeface="宋体"/>
                <a:cs typeface="宋体"/>
              </a:rPr>
              <a:t>参与热</a:t>
            </a:r>
            <a:r>
              <a:rPr dirty="0" sz="2800">
                <a:latin typeface="宋体"/>
                <a:cs typeface="宋体"/>
              </a:rPr>
              <a:t>情</a:t>
            </a:r>
            <a:r>
              <a:rPr dirty="0" sz="2800" spc="-5">
                <a:latin typeface="宋体"/>
                <a:cs typeface="宋体"/>
              </a:rPr>
              <a:t>。</a:t>
            </a:r>
            <a:endParaRPr sz="2800">
              <a:latin typeface="宋体"/>
              <a:cs typeface="宋体"/>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93060" y="334721"/>
            <a:ext cx="4357370"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4.4.</a:t>
            </a:r>
            <a:r>
              <a:rPr dirty="0" spc="-85">
                <a:latin typeface="Calibri"/>
                <a:cs typeface="Calibri"/>
              </a:rPr>
              <a:t> </a:t>
            </a:r>
            <a:r>
              <a:rPr dirty="0"/>
              <a:t>面谈的局限性</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35067"/>
            <a:ext cx="8025130" cy="4196715"/>
          </a:xfrm>
          <a:prstGeom prst="rect">
            <a:avLst/>
          </a:prstGeom>
        </p:spPr>
        <p:txBody>
          <a:bodyPr wrap="square" lIns="0" tIns="95885" rIns="0" bIns="0" rtlCol="0" vert="horz">
            <a:spAutoFit/>
          </a:bodyPr>
          <a:lstStyle/>
          <a:p>
            <a:pPr marL="355600" indent="-343535">
              <a:lnSpc>
                <a:spcPct val="100000"/>
              </a:lnSpc>
              <a:spcBef>
                <a:spcPts val="755"/>
              </a:spcBef>
              <a:buClr>
                <a:srgbClr val="00663B"/>
              </a:buClr>
              <a:buSzPct val="78846"/>
              <a:buFont typeface="Wingdings"/>
              <a:buChar char=""/>
              <a:tabLst>
                <a:tab pos="355600" algn="l"/>
                <a:tab pos="356235" algn="l"/>
              </a:tabLst>
            </a:pPr>
            <a:r>
              <a:rPr dirty="0" sz="2600">
                <a:latin typeface="宋体"/>
                <a:cs typeface="宋体"/>
              </a:rPr>
              <a:t>面谈的缺点和局限性包</a:t>
            </a:r>
            <a:r>
              <a:rPr dirty="0" sz="2600" spc="-15">
                <a:latin typeface="宋体"/>
                <a:cs typeface="宋体"/>
              </a:rPr>
              <a:t>括</a:t>
            </a:r>
            <a:r>
              <a:rPr dirty="0" sz="2600" spc="5">
                <a:latin typeface="宋体"/>
                <a:cs typeface="宋体"/>
              </a:rPr>
              <a:t>：</a:t>
            </a:r>
            <a:endParaRPr sz="2600">
              <a:latin typeface="宋体"/>
              <a:cs typeface="宋体"/>
            </a:endParaRPr>
          </a:p>
          <a:p>
            <a:pPr lvl="1" marL="756285" indent="-287020">
              <a:lnSpc>
                <a:spcPct val="100000"/>
              </a:lnSpc>
              <a:spcBef>
                <a:spcPts val="550"/>
              </a:spcBef>
              <a:buClr>
                <a:srgbClr val="C00000"/>
              </a:buClr>
              <a:buSzPct val="59090"/>
              <a:buFont typeface="Wingdings"/>
              <a:buChar char=""/>
              <a:tabLst>
                <a:tab pos="756285" algn="l"/>
                <a:tab pos="756920" algn="l"/>
              </a:tabLst>
            </a:pPr>
            <a:r>
              <a:rPr dirty="0" sz="2200" spc="-5">
                <a:latin typeface="宋体"/>
                <a:cs typeface="宋体"/>
              </a:rPr>
              <a:t>面谈比较耗时，时间成本较高；</a:t>
            </a:r>
            <a:endParaRPr sz="2200">
              <a:latin typeface="宋体"/>
              <a:cs typeface="宋体"/>
            </a:endParaRPr>
          </a:p>
          <a:p>
            <a:pPr lvl="1" marL="756285" indent="-287020">
              <a:lnSpc>
                <a:spcPct val="100000"/>
              </a:lnSpc>
              <a:spcBef>
                <a:spcPts val="525"/>
              </a:spcBef>
              <a:buClr>
                <a:srgbClr val="C00000"/>
              </a:buClr>
              <a:buSzPct val="59090"/>
              <a:buFont typeface="Wingdings"/>
              <a:buChar char=""/>
              <a:tabLst>
                <a:tab pos="756285" algn="l"/>
                <a:tab pos="756920" algn="l"/>
              </a:tabLst>
            </a:pPr>
            <a:r>
              <a:rPr dirty="0" sz="2200" spc="-5">
                <a:latin typeface="宋体"/>
                <a:cs typeface="宋体"/>
              </a:rPr>
              <a:t>在被会见者地理分散的情况下往往</a:t>
            </a:r>
            <a:r>
              <a:rPr dirty="0" sz="2200">
                <a:latin typeface="宋体"/>
                <a:cs typeface="宋体"/>
              </a:rPr>
              <a:t>难</a:t>
            </a:r>
            <a:r>
              <a:rPr dirty="0" sz="2200" spc="-5">
                <a:latin typeface="宋体"/>
                <a:cs typeface="宋体"/>
              </a:rPr>
              <a:t>以实</a:t>
            </a:r>
            <a:r>
              <a:rPr dirty="0" sz="2200">
                <a:latin typeface="宋体"/>
                <a:cs typeface="宋体"/>
              </a:rPr>
              <a:t>现</a:t>
            </a:r>
            <a:r>
              <a:rPr dirty="0" sz="2200" spc="-5">
                <a:latin typeface="宋体"/>
                <a:cs typeface="宋体"/>
              </a:rPr>
              <a:t>面谈；</a:t>
            </a:r>
            <a:endParaRPr sz="2200">
              <a:latin typeface="宋体"/>
              <a:cs typeface="宋体"/>
            </a:endParaRPr>
          </a:p>
          <a:p>
            <a:pPr lvl="1" marL="756285" indent="-287020">
              <a:lnSpc>
                <a:spcPts val="2555"/>
              </a:lnSpc>
              <a:spcBef>
                <a:spcPts val="700"/>
              </a:spcBef>
              <a:buClr>
                <a:srgbClr val="C00000"/>
              </a:buClr>
              <a:buSzPct val="59090"/>
              <a:buFont typeface="Wingdings"/>
              <a:buChar char=""/>
              <a:tabLst>
                <a:tab pos="756285" algn="l"/>
                <a:tab pos="756920" algn="l"/>
              </a:tabLst>
            </a:pPr>
            <a:r>
              <a:rPr dirty="0" sz="2200" spc="-5">
                <a:latin typeface="宋体"/>
                <a:cs typeface="宋体"/>
              </a:rPr>
              <a:t>面谈参与者的记忆和交流能力对结</a:t>
            </a:r>
            <a:r>
              <a:rPr dirty="0" sz="2200">
                <a:latin typeface="宋体"/>
                <a:cs typeface="宋体"/>
              </a:rPr>
              <a:t>果</a:t>
            </a:r>
            <a:r>
              <a:rPr dirty="0" sz="2200" spc="-5">
                <a:latin typeface="宋体"/>
                <a:cs typeface="宋体"/>
              </a:rPr>
              <a:t>影响</a:t>
            </a:r>
            <a:r>
              <a:rPr dirty="0" sz="2200">
                <a:latin typeface="宋体"/>
                <a:cs typeface="宋体"/>
              </a:rPr>
              <a:t>较</a:t>
            </a:r>
            <a:r>
              <a:rPr dirty="0" sz="2200" spc="-5">
                <a:latin typeface="宋体"/>
                <a:cs typeface="宋体"/>
              </a:rPr>
              <a:t>大，</a:t>
            </a:r>
            <a:r>
              <a:rPr dirty="0" sz="2200">
                <a:latin typeface="宋体"/>
                <a:cs typeface="宋体"/>
              </a:rPr>
              <a:t>尤</a:t>
            </a:r>
            <a:r>
              <a:rPr dirty="0" sz="2200" spc="-5">
                <a:latin typeface="宋体"/>
                <a:cs typeface="宋体"/>
              </a:rPr>
              <a:t>其是</a:t>
            </a:r>
            <a:r>
              <a:rPr dirty="0" sz="2200">
                <a:latin typeface="宋体"/>
                <a:cs typeface="宋体"/>
              </a:rPr>
              <a:t>面</a:t>
            </a:r>
            <a:r>
              <a:rPr dirty="0" sz="2200" spc="-5">
                <a:latin typeface="宋体"/>
                <a:cs typeface="宋体"/>
              </a:rPr>
              <a:t>谈</a:t>
            </a:r>
            <a:endParaRPr sz="2200">
              <a:latin typeface="宋体"/>
              <a:cs typeface="宋体"/>
            </a:endParaRPr>
          </a:p>
          <a:p>
            <a:pPr marL="756285">
              <a:lnSpc>
                <a:spcPts val="2555"/>
              </a:lnSpc>
            </a:pPr>
            <a:r>
              <a:rPr dirty="0" sz="2200" spc="-10">
                <a:latin typeface="宋体"/>
                <a:cs typeface="宋体"/>
              </a:rPr>
              <a:t>的成功较高的依赖于需求工程师的</a:t>
            </a:r>
            <a:r>
              <a:rPr dirty="0" sz="2200">
                <a:latin typeface="宋体"/>
                <a:cs typeface="宋体"/>
              </a:rPr>
              <a:t>人</a:t>
            </a:r>
            <a:r>
              <a:rPr dirty="0" sz="2200" spc="-10">
                <a:latin typeface="宋体"/>
                <a:cs typeface="宋体"/>
              </a:rPr>
              <a:t>际交</a:t>
            </a:r>
            <a:r>
              <a:rPr dirty="0" sz="2200">
                <a:latin typeface="宋体"/>
                <a:cs typeface="宋体"/>
              </a:rPr>
              <a:t>流</a:t>
            </a:r>
            <a:r>
              <a:rPr dirty="0" sz="2200" spc="-10">
                <a:latin typeface="宋体"/>
                <a:cs typeface="宋体"/>
              </a:rPr>
              <a:t>能力；</a:t>
            </a:r>
            <a:endParaRPr sz="2200">
              <a:latin typeface="宋体"/>
              <a:cs typeface="宋体"/>
            </a:endParaRPr>
          </a:p>
          <a:p>
            <a:pPr algn="just" lvl="1" marL="756285" marR="5080" indent="-287020">
              <a:lnSpc>
                <a:spcPct val="97900"/>
              </a:lnSpc>
              <a:spcBef>
                <a:spcPts val="750"/>
              </a:spcBef>
              <a:buClr>
                <a:srgbClr val="C00000"/>
              </a:buClr>
              <a:buSzPct val="59090"/>
              <a:buFont typeface="Wingdings"/>
              <a:buChar char=""/>
              <a:tabLst>
                <a:tab pos="756920" algn="l"/>
              </a:tabLst>
            </a:pPr>
            <a:r>
              <a:rPr dirty="0" sz="2200" spc="-5">
                <a:latin typeface="宋体"/>
                <a:cs typeface="宋体"/>
              </a:rPr>
              <a:t>交谈当中常见的概念结构不同、模</a:t>
            </a:r>
            <a:r>
              <a:rPr dirty="0" sz="2200">
                <a:latin typeface="宋体"/>
                <a:cs typeface="宋体"/>
              </a:rPr>
              <a:t>糊</a:t>
            </a:r>
            <a:r>
              <a:rPr dirty="0" sz="2200" spc="-5">
                <a:latin typeface="宋体"/>
                <a:cs typeface="宋体"/>
              </a:rPr>
              <a:t>化表</a:t>
            </a:r>
            <a:r>
              <a:rPr dirty="0" sz="2200">
                <a:latin typeface="宋体"/>
                <a:cs typeface="宋体"/>
              </a:rPr>
              <a:t>述</a:t>
            </a:r>
            <a:r>
              <a:rPr dirty="0" sz="2200" spc="-5">
                <a:latin typeface="宋体"/>
                <a:cs typeface="宋体"/>
              </a:rPr>
              <a:t>、默</a:t>
            </a:r>
            <a:r>
              <a:rPr dirty="0" sz="2200">
                <a:latin typeface="宋体"/>
                <a:cs typeface="宋体"/>
              </a:rPr>
              <a:t>认</a:t>
            </a:r>
            <a:r>
              <a:rPr dirty="0" sz="2200" spc="-5">
                <a:latin typeface="宋体"/>
                <a:cs typeface="宋体"/>
              </a:rPr>
              <a:t>知识</a:t>
            </a:r>
            <a:r>
              <a:rPr dirty="0" sz="2200">
                <a:latin typeface="宋体"/>
                <a:cs typeface="宋体"/>
              </a:rPr>
              <a:t>、</a:t>
            </a:r>
            <a:r>
              <a:rPr dirty="0" sz="2200" spc="-5">
                <a:latin typeface="宋体"/>
                <a:cs typeface="宋体"/>
              </a:rPr>
              <a:t>潜 在知识和态度偏见等各种问题在面</a:t>
            </a:r>
            <a:r>
              <a:rPr dirty="0" sz="2200">
                <a:latin typeface="宋体"/>
                <a:cs typeface="宋体"/>
              </a:rPr>
              <a:t>谈</a:t>
            </a:r>
            <a:r>
              <a:rPr dirty="0" sz="2200" spc="-5">
                <a:latin typeface="宋体"/>
                <a:cs typeface="宋体"/>
              </a:rPr>
              <a:t>中都</a:t>
            </a:r>
            <a:r>
              <a:rPr dirty="0" sz="2200">
                <a:latin typeface="宋体"/>
                <a:cs typeface="宋体"/>
              </a:rPr>
              <a:t>不</a:t>
            </a:r>
            <a:r>
              <a:rPr dirty="0" sz="2200" spc="-5">
                <a:latin typeface="宋体"/>
                <a:cs typeface="宋体"/>
              </a:rPr>
              <a:t>可避</a:t>
            </a:r>
            <a:r>
              <a:rPr dirty="0" sz="2200">
                <a:latin typeface="宋体"/>
                <a:cs typeface="宋体"/>
              </a:rPr>
              <a:t>免</a:t>
            </a:r>
            <a:r>
              <a:rPr dirty="0" sz="2200" spc="-5">
                <a:latin typeface="宋体"/>
                <a:cs typeface="宋体"/>
              </a:rPr>
              <a:t>，进</a:t>
            </a:r>
            <a:r>
              <a:rPr dirty="0" sz="2200">
                <a:latin typeface="宋体"/>
                <a:cs typeface="宋体"/>
              </a:rPr>
              <a:t>而</a:t>
            </a:r>
            <a:r>
              <a:rPr dirty="0" sz="2200" spc="-5">
                <a:latin typeface="宋体"/>
                <a:cs typeface="宋体"/>
              </a:rPr>
              <a:t>影 响面谈的效果，导致产生不充分的</a:t>
            </a:r>
            <a:r>
              <a:rPr dirty="0" sz="2200">
                <a:latin typeface="宋体"/>
                <a:cs typeface="宋体"/>
              </a:rPr>
              <a:t>、</a:t>
            </a:r>
            <a:r>
              <a:rPr dirty="0" sz="2200" spc="-5">
                <a:latin typeface="宋体"/>
                <a:cs typeface="宋体"/>
              </a:rPr>
              <a:t>不相</a:t>
            </a:r>
            <a:r>
              <a:rPr dirty="0" sz="2200">
                <a:latin typeface="宋体"/>
                <a:cs typeface="宋体"/>
              </a:rPr>
              <a:t>关</a:t>
            </a:r>
            <a:r>
              <a:rPr dirty="0" sz="2200" spc="-5">
                <a:latin typeface="宋体"/>
                <a:cs typeface="宋体"/>
              </a:rPr>
              <a:t>的或</a:t>
            </a:r>
            <a:r>
              <a:rPr dirty="0" sz="2200">
                <a:latin typeface="宋体"/>
                <a:cs typeface="宋体"/>
              </a:rPr>
              <a:t>者</a:t>
            </a:r>
            <a:r>
              <a:rPr dirty="0" sz="2200" spc="-5">
                <a:latin typeface="宋体"/>
                <a:cs typeface="宋体"/>
              </a:rPr>
              <a:t>错误</a:t>
            </a:r>
            <a:r>
              <a:rPr dirty="0" sz="2200">
                <a:latin typeface="宋体"/>
                <a:cs typeface="宋体"/>
              </a:rPr>
              <a:t>的</a:t>
            </a:r>
            <a:r>
              <a:rPr dirty="0" sz="2200" spc="-5">
                <a:latin typeface="宋体"/>
                <a:cs typeface="宋体"/>
              </a:rPr>
              <a:t>数 </a:t>
            </a:r>
            <a:r>
              <a:rPr dirty="0" sz="2200" spc="-10">
                <a:latin typeface="宋体"/>
                <a:cs typeface="宋体"/>
              </a:rPr>
              <a:t>据；</a:t>
            </a:r>
            <a:endParaRPr sz="2200">
              <a:latin typeface="宋体"/>
              <a:cs typeface="宋体"/>
            </a:endParaRPr>
          </a:p>
          <a:p>
            <a:pPr algn="just" lvl="1" marL="756285" marR="5080" indent="-287020">
              <a:lnSpc>
                <a:spcPts val="2470"/>
              </a:lnSpc>
              <a:spcBef>
                <a:spcPts val="925"/>
              </a:spcBef>
              <a:buClr>
                <a:srgbClr val="C00000"/>
              </a:buClr>
              <a:buSzPct val="59090"/>
              <a:buFont typeface="Wingdings"/>
              <a:buChar char=""/>
              <a:tabLst>
                <a:tab pos="756920" algn="l"/>
              </a:tabLst>
            </a:pPr>
            <a:r>
              <a:rPr dirty="0" sz="2200" spc="-5">
                <a:latin typeface="宋体"/>
                <a:cs typeface="宋体"/>
              </a:rPr>
              <a:t>在会见者不了解被会见者认知结构</a:t>
            </a:r>
            <a:r>
              <a:rPr dirty="0" sz="2200">
                <a:latin typeface="宋体"/>
                <a:cs typeface="宋体"/>
              </a:rPr>
              <a:t>的</a:t>
            </a:r>
            <a:r>
              <a:rPr dirty="0" sz="2200" spc="-5">
                <a:latin typeface="宋体"/>
                <a:cs typeface="宋体"/>
              </a:rPr>
              <a:t>情况</a:t>
            </a:r>
            <a:r>
              <a:rPr dirty="0" sz="2200">
                <a:latin typeface="宋体"/>
                <a:cs typeface="宋体"/>
              </a:rPr>
              <a:t>下</a:t>
            </a:r>
            <a:r>
              <a:rPr dirty="0" sz="2200" spc="-5">
                <a:latin typeface="宋体"/>
                <a:cs typeface="宋体"/>
              </a:rPr>
              <a:t>，面</a:t>
            </a:r>
            <a:r>
              <a:rPr dirty="0" sz="2200">
                <a:latin typeface="宋体"/>
                <a:cs typeface="宋体"/>
              </a:rPr>
              <a:t>谈</a:t>
            </a:r>
            <a:r>
              <a:rPr dirty="0" sz="2200" spc="-5">
                <a:latin typeface="宋体"/>
                <a:cs typeface="宋体"/>
              </a:rPr>
              <a:t>不可</a:t>
            </a:r>
            <a:r>
              <a:rPr dirty="0" sz="2200">
                <a:latin typeface="宋体"/>
                <a:cs typeface="宋体"/>
              </a:rPr>
              <a:t>能</a:t>
            </a:r>
            <a:r>
              <a:rPr dirty="0" sz="2200" spc="-5">
                <a:latin typeface="宋体"/>
                <a:cs typeface="宋体"/>
              </a:rPr>
              <a:t>取 </a:t>
            </a:r>
            <a:r>
              <a:rPr dirty="0" sz="2200" spc="-5">
                <a:latin typeface="宋体"/>
                <a:cs typeface="宋体"/>
              </a:rPr>
              <a:t>得令人满意的效果。</a:t>
            </a:r>
            <a:endParaRPr sz="2200">
              <a:latin typeface="宋体"/>
              <a:cs typeface="宋体"/>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0429" y="472566"/>
            <a:ext cx="2263140" cy="696595"/>
          </a:xfrm>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7562"/>
            <a:ext cx="3179445" cy="449135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面谈中的问题</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面谈的过程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面谈的类型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面谈的优缺点</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F0000"/>
                </a:solidFill>
                <a:latin typeface="宋体"/>
                <a:cs typeface="宋体"/>
              </a:rPr>
              <a:t>相关方法</a:t>
            </a:r>
            <a:endParaRPr sz="3200">
              <a:latin typeface="宋体"/>
              <a:cs typeface="宋体"/>
            </a:endParaRPr>
          </a:p>
          <a:p>
            <a:pPr lvl="2" marL="1251585" indent="-895350">
              <a:lnSpc>
                <a:spcPct val="100000"/>
              </a:lnSpc>
              <a:spcBef>
                <a:spcPts val="685"/>
              </a:spcBef>
              <a:buFont typeface="Calibri"/>
              <a:buAutoNum type="arabicPeriod"/>
              <a:tabLst>
                <a:tab pos="1252220" algn="l"/>
              </a:tabLst>
            </a:pPr>
            <a:r>
              <a:rPr dirty="0" sz="2800" spc="-10">
                <a:solidFill>
                  <a:srgbClr val="FF0000"/>
                </a:solidFill>
                <a:latin typeface="宋体"/>
                <a:cs typeface="宋体"/>
              </a:rPr>
              <a:t>群体面谈</a:t>
            </a:r>
            <a:endParaRPr sz="2800">
              <a:latin typeface="宋体"/>
              <a:cs typeface="宋体"/>
            </a:endParaRPr>
          </a:p>
          <a:p>
            <a:pPr lvl="2" marL="1251585" indent="-895350">
              <a:lnSpc>
                <a:spcPct val="100000"/>
              </a:lnSpc>
              <a:spcBef>
                <a:spcPts val="675"/>
              </a:spcBef>
              <a:buFont typeface="Calibri"/>
              <a:buAutoNum type="arabicPeriod"/>
              <a:tabLst>
                <a:tab pos="1252220" algn="l"/>
              </a:tabLst>
            </a:pPr>
            <a:r>
              <a:rPr dirty="0" sz="2800" spc="-5">
                <a:solidFill>
                  <a:srgbClr val="FF0000"/>
                </a:solidFill>
                <a:latin typeface="宋体"/>
                <a:cs typeface="宋体"/>
              </a:rPr>
              <a:t>调查问卷</a:t>
            </a:r>
            <a:endParaRPr sz="2800">
              <a:latin typeface="宋体"/>
              <a:cs typeface="宋体"/>
            </a:endParaRPr>
          </a:p>
          <a:p>
            <a:pPr lvl="2" marL="1251585" indent="-895350">
              <a:lnSpc>
                <a:spcPct val="100000"/>
              </a:lnSpc>
              <a:spcBef>
                <a:spcPts val="675"/>
              </a:spcBef>
              <a:buFont typeface="Calibri"/>
              <a:buAutoNum type="arabicPeriod"/>
              <a:tabLst>
                <a:tab pos="1252220" algn="l"/>
              </a:tabLst>
            </a:pPr>
            <a:r>
              <a:rPr dirty="0" sz="2800" spc="-5">
                <a:solidFill>
                  <a:srgbClr val="FF0000"/>
                </a:solidFill>
                <a:latin typeface="宋体"/>
                <a:cs typeface="宋体"/>
              </a:rPr>
              <a:t>头脑风暴</a:t>
            </a:r>
            <a:endParaRPr sz="2800">
              <a:latin typeface="宋体"/>
              <a:cs typeface="宋体"/>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75026" y="334721"/>
            <a:ext cx="3397885"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4.5.1</a:t>
            </a:r>
            <a:r>
              <a:rPr dirty="0" spc="5"/>
              <a:t>群体面谈</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42313"/>
            <a:ext cx="7968615" cy="3754120"/>
          </a:xfrm>
          <a:prstGeom prst="rect">
            <a:avLst/>
          </a:prstGeom>
        </p:spPr>
        <p:txBody>
          <a:bodyPr wrap="square" lIns="0" tIns="25400" rIns="0" bIns="0" rtlCol="0" vert="horz">
            <a:spAutoFit/>
          </a:bodyPr>
          <a:lstStyle/>
          <a:p>
            <a:pPr algn="just" marL="355600" marR="5080" indent="-343535">
              <a:lnSpc>
                <a:spcPct val="97000"/>
              </a:lnSpc>
              <a:spcBef>
                <a:spcPts val="200"/>
              </a:spcBef>
              <a:buClr>
                <a:srgbClr val="00663B"/>
              </a:buClr>
              <a:buSzPct val="78846"/>
              <a:buFont typeface="Wingdings"/>
              <a:buChar char=""/>
              <a:tabLst>
                <a:tab pos="356235" algn="l"/>
              </a:tabLst>
            </a:pPr>
            <a:r>
              <a:rPr dirty="0" sz="2600">
                <a:latin typeface="宋体"/>
                <a:cs typeface="宋体"/>
              </a:rPr>
              <a:t>群体面谈的方法是将所</a:t>
            </a:r>
            <a:r>
              <a:rPr dirty="0" sz="2600" spc="-15">
                <a:latin typeface="宋体"/>
                <a:cs typeface="宋体"/>
              </a:rPr>
              <a:t>有</a:t>
            </a:r>
            <a:r>
              <a:rPr dirty="0" sz="2600">
                <a:latin typeface="宋体"/>
                <a:cs typeface="宋体"/>
              </a:rPr>
              <a:t>的涉</a:t>
            </a:r>
            <a:r>
              <a:rPr dirty="0" sz="2600" spc="-15">
                <a:latin typeface="宋体"/>
                <a:cs typeface="宋体"/>
              </a:rPr>
              <a:t>众</a:t>
            </a:r>
            <a:r>
              <a:rPr dirty="0" sz="2600">
                <a:latin typeface="宋体"/>
                <a:cs typeface="宋体"/>
              </a:rPr>
              <a:t>方集</a:t>
            </a:r>
            <a:r>
              <a:rPr dirty="0" sz="2600" spc="-15">
                <a:latin typeface="宋体"/>
                <a:cs typeface="宋体"/>
              </a:rPr>
              <a:t>中</a:t>
            </a:r>
            <a:r>
              <a:rPr dirty="0" sz="2600">
                <a:latin typeface="宋体"/>
                <a:cs typeface="宋体"/>
              </a:rPr>
              <a:t>起来</a:t>
            </a:r>
            <a:r>
              <a:rPr dirty="0" sz="2600" spc="-15">
                <a:latin typeface="宋体"/>
                <a:cs typeface="宋体"/>
              </a:rPr>
              <a:t>，</a:t>
            </a:r>
            <a:r>
              <a:rPr dirty="0" sz="2600">
                <a:latin typeface="宋体"/>
                <a:cs typeface="宋体"/>
              </a:rPr>
              <a:t>选择一 </a:t>
            </a:r>
            <a:r>
              <a:rPr dirty="0" sz="2600">
                <a:latin typeface="宋体"/>
                <a:cs typeface="宋体"/>
              </a:rPr>
              <a:t>个合适的地点，集中一</a:t>
            </a:r>
            <a:r>
              <a:rPr dirty="0" sz="2600" spc="-15">
                <a:latin typeface="宋体"/>
                <a:cs typeface="宋体"/>
              </a:rPr>
              <a:t>段</a:t>
            </a:r>
            <a:r>
              <a:rPr dirty="0" sz="2600">
                <a:latin typeface="宋体"/>
                <a:cs typeface="宋体"/>
              </a:rPr>
              <a:t>时间</a:t>
            </a:r>
            <a:r>
              <a:rPr dirty="0" sz="2600" spc="-15">
                <a:latin typeface="宋体"/>
                <a:cs typeface="宋体"/>
              </a:rPr>
              <a:t>，</a:t>
            </a:r>
            <a:r>
              <a:rPr dirty="0" sz="2600">
                <a:latin typeface="宋体"/>
                <a:cs typeface="宋体"/>
              </a:rPr>
              <a:t>召开</a:t>
            </a:r>
            <a:r>
              <a:rPr dirty="0" sz="2600" spc="-15">
                <a:latin typeface="宋体"/>
                <a:cs typeface="宋体"/>
              </a:rPr>
              <a:t>一</a:t>
            </a:r>
            <a:r>
              <a:rPr dirty="0" sz="2600">
                <a:latin typeface="宋体"/>
                <a:cs typeface="宋体"/>
              </a:rPr>
              <a:t>个多</a:t>
            </a:r>
            <a:r>
              <a:rPr dirty="0" sz="2600" spc="-15">
                <a:latin typeface="宋体"/>
                <a:cs typeface="宋体"/>
              </a:rPr>
              <a:t>方</a:t>
            </a:r>
            <a:r>
              <a:rPr dirty="0" sz="2600">
                <a:latin typeface="宋体"/>
                <a:cs typeface="宋体"/>
              </a:rPr>
              <a:t>共同参 与的会议，一起进行需</a:t>
            </a:r>
            <a:r>
              <a:rPr dirty="0" sz="2600" spc="-15">
                <a:latin typeface="宋体"/>
                <a:cs typeface="宋体"/>
              </a:rPr>
              <a:t>求</a:t>
            </a:r>
            <a:r>
              <a:rPr dirty="0" sz="2600">
                <a:latin typeface="宋体"/>
                <a:cs typeface="宋体"/>
              </a:rPr>
              <a:t>的讨</a:t>
            </a:r>
            <a:r>
              <a:rPr dirty="0" sz="2600" spc="-15">
                <a:latin typeface="宋体"/>
                <a:cs typeface="宋体"/>
              </a:rPr>
              <a:t>论</a:t>
            </a:r>
            <a:r>
              <a:rPr dirty="0" sz="2600">
                <a:latin typeface="宋体"/>
                <a:cs typeface="宋体"/>
              </a:rPr>
              <a:t>、分</a:t>
            </a:r>
            <a:r>
              <a:rPr dirty="0" sz="2600" spc="-15">
                <a:latin typeface="宋体"/>
                <a:cs typeface="宋体"/>
              </a:rPr>
              <a:t>析</a:t>
            </a:r>
            <a:r>
              <a:rPr dirty="0" sz="2600">
                <a:latin typeface="宋体"/>
                <a:cs typeface="宋体"/>
              </a:rPr>
              <a:t>和获</a:t>
            </a:r>
            <a:r>
              <a:rPr dirty="0" sz="2600" spc="-15">
                <a:latin typeface="宋体"/>
                <a:cs typeface="宋体"/>
              </a:rPr>
              <a:t>取</a:t>
            </a:r>
            <a:r>
              <a:rPr dirty="0" sz="2600">
                <a:latin typeface="宋体"/>
                <a:cs typeface="宋体"/>
              </a:rPr>
              <a:t>。</a:t>
            </a:r>
            <a:endParaRPr sz="2600">
              <a:latin typeface="宋体"/>
              <a:cs typeface="宋体"/>
            </a:endParaRPr>
          </a:p>
          <a:p>
            <a:pPr>
              <a:lnSpc>
                <a:spcPct val="100000"/>
              </a:lnSpc>
              <a:spcBef>
                <a:spcPts val="10"/>
              </a:spcBef>
              <a:buClr>
                <a:srgbClr val="00663B"/>
              </a:buClr>
              <a:buFont typeface="Wingdings"/>
              <a:buChar char=""/>
            </a:pPr>
            <a:endParaRPr sz="3400">
              <a:latin typeface="宋体"/>
              <a:cs typeface="宋体"/>
            </a:endParaRPr>
          </a:p>
          <a:p>
            <a:pPr marL="355600" indent="-343535">
              <a:lnSpc>
                <a:spcPct val="100000"/>
              </a:lnSpc>
              <a:buClr>
                <a:srgbClr val="00663B"/>
              </a:buClr>
              <a:buSzPct val="78846"/>
              <a:buFont typeface="Wingdings"/>
              <a:buChar char=""/>
              <a:tabLst>
                <a:tab pos="355600" algn="l"/>
                <a:tab pos="356235" algn="l"/>
              </a:tabLst>
            </a:pPr>
            <a:r>
              <a:rPr dirty="0" sz="2600">
                <a:latin typeface="宋体"/>
                <a:cs typeface="宋体"/>
              </a:rPr>
              <a:t>群体面谈的需求获取方法</a:t>
            </a:r>
            <a:endParaRPr sz="2600">
              <a:latin typeface="宋体"/>
              <a:cs typeface="宋体"/>
            </a:endParaRPr>
          </a:p>
          <a:p>
            <a:pPr lvl="1" marL="756285" indent="-287020">
              <a:lnSpc>
                <a:spcPct val="100000"/>
              </a:lnSpc>
              <a:spcBef>
                <a:spcPts val="545"/>
              </a:spcBef>
              <a:buClr>
                <a:srgbClr val="C00000"/>
              </a:buClr>
              <a:buSzPct val="59090"/>
              <a:buFont typeface="Wingdings"/>
              <a:buChar char=""/>
              <a:tabLst>
                <a:tab pos="756285" algn="l"/>
                <a:tab pos="756920" algn="l"/>
              </a:tabLst>
            </a:pPr>
            <a:r>
              <a:rPr dirty="0" sz="2200" spc="-5">
                <a:latin typeface="宋体"/>
                <a:cs typeface="宋体"/>
              </a:rPr>
              <a:t>联合应用程序设计</a:t>
            </a:r>
            <a:r>
              <a:rPr dirty="0" sz="2200" spc="-5">
                <a:latin typeface="Calibri"/>
                <a:cs typeface="Calibri"/>
              </a:rPr>
              <a:t>JAD</a:t>
            </a:r>
            <a:r>
              <a:rPr dirty="0" sz="2200" spc="-5">
                <a:latin typeface="宋体"/>
                <a:cs typeface="宋体"/>
              </a:rPr>
              <a:t>（</a:t>
            </a:r>
            <a:r>
              <a:rPr dirty="0" sz="2200" spc="-5">
                <a:latin typeface="Calibri"/>
                <a:cs typeface="Calibri"/>
              </a:rPr>
              <a:t>Joint</a:t>
            </a:r>
            <a:r>
              <a:rPr dirty="0" sz="2200" spc="30">
                <a:latin typeface="Calibri"/>
                <a:cs typeface="Calibri"/>
              </a:rPr>
              <a:t> </a:t>
            </a:r>
            <a:r>
              <a:rPr dirty="0" sz="2200" spc="-5">
                <a:latin typeface="Calibri"/>
                <a:cs typeface="Calibri"/>
              </a:rPr>
              <a:t>Application</a:t>
            </a:r>
            <a:r>
              <a:rPr dirty="0" sz="2200" spc="-15">
                <a:latin typeface="Calibri"/>
                <a:cs typeface="Calibri"/>
              </a:rPr>
              <a:t> </a:t>
            </a:r>
            <a:r>
              <a:rPr dirty="0" sz="2200" spc="-5">
                <a:latin typeface="Calibri"/>
                <a:cs typeface="Calibri"/>
              </a:rPr>
              <a:t>Design</a:t>
            </a:r>
            <a:r>
              <a:rPr dirty="0" sz="2200" spc="-5">
                <a:latin typeface="宋体"/>
                <a:cs typeface="宋体"/>
              </a:rPr>
              <a:t>）</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需求专题讨论会</a:t>
            </a:r>
            <a:r>
              <a:rPr dirty="0" sz="2200" spc="-10">
                <a:latin typeface="宋体"/>
                <a:cs typeface="宋体"/>
              </a:rPr>
              <a:t>（</a:t>
            </a:r>
            <a:r>
              <a:rPr dirty="0" sz="2200" spc="-10">
                <a:latin typeface="Calibri"/>
                <a:cs typeface="Calibri"/>
              </a:rPr>
              <a:t>Requirement</a:t>
            </a:r>
            <a:r>
              <a:rPr dirty="0" sz="2200" spc="45">
                <a:latin typeface="Calibri"/>
                <a:cs typeface="Calibri"/>
              </a:rPr>
              <a:t> </a:t>
            </a:r>
            <a:r>
              <a:rPr dirty="0" sz="2200">
                <a:latin typeface="Calibri"/>
                <a:cs typeface="Calibri"/>
              </a:rPr>
              <a:t>Workshop</a:t>
            </a:r>
            <a:r>
              <a:rPr dirty="0" sz="2200">
                <a:latin typeface="宋体"/>
                <a:cs typeface="宋体"/>
              </a:rPr>
              <a:t>）</a:t>
            </a:r>
            <a:endParaRPr sz="2200">
              <a:latin typeface="宋体"/>
              <a:cs typeface="宋体"/>
            </a:endParaRPr>
          </a:p>
          <a:p>
            <a:pPr lvl="1" marL="756285" indent="-287020">
              <a:lnSpc>
                <a:spcPct val="100000"/>
              </a:lnSpc>
              <a:spcBef>
                <a:spcPts val="525"/>
              </a:spcBef>
              <a:buClr>
                <a:srgbClr val="C00000"/>
              </a:buClr>
              <a:buSzPct val="59090"/>
              <a:buFont typeface="Wingdings"/>
              <a:buChar char=""/>
              <a:tabLst>
                <a:tab pos="756285" algn="l"/>
                <a:tab pos="756920" algn="l"/>
              </a:tabLst>
            </a:pPr>
            <a:r>
              <a:rPr dirty="0" sz="2200" spc="-10">
                <a:latin typeface="宋体"/>
                <a:cs typeface="宋体"/>
              </a:rPr>
              <a:t>需求中心小组（</a:t>
            </a:r>
            <a:r>
              <a:rPr dirty="0" sz="2200" spc="-10">
                <a:latin typeface="Calibri"/>
                <a:cs typeface="Calibri"/>
              </a:rPr>
              <a:t>Requirement</a:t>
            </a:r>
            <a:r>
              <a:rPr dirty="0" sz="2200" spc="55">
                <a:latin typeface="Calibri"/>
                <a:cs typeface="Calibri"/>
              </a:rPr>
              <a:t> </a:t>
            </a:r>
            <a:r>
              <a:rPr dirty="0" sz="2200" spc="-5">
                <a:latin typeface="Calibri"/>
                <a:cs typeface="Calibri"/>
              </a:rPr>
              <a:t>Focus</a:t>
            </a:r>
            <a:r>
              <a:rPr dirty="0" sz="2200">
                <a:latin typeface="Calibri"/>
                <a:cs typeface="Calibri"/>
              </a:rPr>
              <a:t> </a:t>
            </a:r>
            <a:r>
              <a:rPr dirty="0" sz="2200" spc="-5">
                <a:latin typeface="Calibri"/>
                <a:cs typeface="Calibri"/>
              </a:rPr>
              <a:t>Group</a:t>
            </a:r>
            <a:r>
              <a:rPr dirty="0" sz="2200" spc="-5">
                <a:latin typeface="宋体"/>
                <a:cs typeface="宋体"/>
              </a:rPr>
              <a:t>）</a:t>
            </a:r>
            <a:endParaRPr sz="2200">
              <a:latin typeface="宋体"/>
              <a:cs typeface="宋体"/>
            </a:endParaRPr>
          </a:p>
          <a:p>
            <a:pPr lvl="1" marL="756285" indent="-287020">
              <a:lnSpc>
                <a:spcPct val="100000"/>
              </a:lnSpc>
              <a:spcBef>
                <a:spcPts val="535"/>
              </a:spcBef>
              <a:buClr>
                <a:srgbClr val="C00000"/>
              </a:buClr>
              <a:buSzPct val="59090"/>
              <a:buFont typeface="Wingdings"/>
              <a:buChar char=""/>
              <a:tabLst>
                <a:tab pos="756285" algn="l"/>
                <a:tab pos="756920" algn="l"/>
              </a:tabLst>
            </a:pPr>
            <a:r>
              <a:rPr dirty="0" sz="2200" spc="-5">
                <a:latin typeface="宋体"/>
                <a:cs typeface="宋体"/>
              </a:rPr>
              <a:t>联合需求规划</a:t>
            </a:r>
            <a:r>
              <a:rPr dirty="0" sz="2200" spc="-5">
                <a:latin typeface="Calibri"/>
                <a:cs typeface="Calibri"/>
              </a:rPr>
              <a:t>JRP</a:t>
            </a:r>
            <a:r>
              <a:rPr dirty="0" sz="2200" spc="-5">
                <a:latin typeface="宋体"/>
                <a:cs typeface="宋体"/>
              </a:rPr>
              <a:t>（</a:t>
            </a:r>
            <a:r>
              <a:rPr dirty="0" sz="2200" spc="-5">
                <a:latin typeface="Calibri"/>
                <a:cs typeface="Calibri"/>
              </a:rPr>
              <a:t>Joint</a:t>
            </a:r>
            <a:r>
              <a:rPr dirty="0" sz="2200" spc="30">
                <a:latin typeface="Calibri"/>
                <a:cs typeface="Calibri"/>
              </a:rPr>
              <a:t> </a:t>
            </a:r>
            <a:r>
              <a:rPr dirty="0" sz="2200" spc="-10">
                <a:latin typeface="Calibri"/>
                <a:cs typeface="Calibri"/>
              </a:rPr>
              <a:t>Requirements</a:t>
            </a:r>
            <a:r>
              <a:rPr dirty="0" sz="2200" spc="40">
                <a:latin typeface="Calibri"/>
                <a:cs typeface="Calibri"/>
              </a:rPr>
              <a:t> </a:t>
            </a:r>
            <a:r>
              <a:rPr dirty="0" sz="2200" spc="-5">
                <a:latin typeface="Calibri"/>
                <a:cs typeface="Calibri"/>
              </a:rPr>
              <a:t>Planning</a:t>
            </a:r>
            <a:r>
              <a:rPr dirty="0" sz="2200" spc="-5">
                <a:latin typeface="宋体"/>
                <a:cs typeface="宋体"/>
              </a:rPr>
              <a:t>）</a:t>
            </a:r>
            <a:endParaRPr sz="2200">
              <a:latin typeface="宋体"/>
              <a:cs typeface="宋体"/>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75026" y="334721"/>
            <a:ext cx="3397885"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4.5.1</a:t>
            </a:r>
            <a:r>
              <a:rPr dirty="0" spc="5"/>
              <a:t>群体面谈</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35237"/>
            <a:ext cx="8025130" cy="4458335"/>
          </a:xfrm>
          <a:prstGeom prst="rect">
            <a:avLst/>
          </a:prstGeom>
        </p:spPr>
        <p:txBody>
          <a:bodyPr wrap="square" lIns="0" tIns="56515" rIns="0" bIns="0" rtlCol="0" vert="horz">
            <a:spAutoFit/>
          </a:bodyPr>
          <a:lstStyle/>
          <a:p>
            <a:pPr marL="355600" indent="-343535">
              <a:lnSpc>
                <a:spcPct val="100000"/>
              </a:lnSpc>
              <a:spcBef>
                <a:spcPts val="445"/>
              </a:spcBef>
              <a:buClr>
                <a:srgbClr val="00663B"/>
              </a:buClr>
              <a:buSzPct val="78846"/>
              <a:buFont typeface="Wingdings"/>
              <a:buChar char=""/>
              <a:tabLst>
                <a:tab pos="355600" algn="l"/>
                <a:tab pos="356235" algn="l"/>
              </a:tabLst>
            </a:pPr>
            <a:r>
              <a:rPr dirty="0" sz="2600">
                <a:latin typeface="宋体"/>
                <a:cs typeface="宋体"/>
              </a:rPr>
              <a:t>优点：</a:t>
            </a:r>
            <a:endParaRPr sz="2600">
              <a:latin typeface="宋体"/>
              <a:cs typeface="宋体"/>
            </a:endParaRPr>
          </a:p>
          <a:p>
            <a:pPr lvl="1" marL="756285" indent="-287020">
              <a:lnSpc>
                <a:spcPct val="100000"/>
              </a:lnSpc>
              <a:spcBef>
                <a:spcPts val="280"/>
              </a:spcBef>
              <a:buClr>
                <a:srgbClr val="C00000"/>
              </a:buClr>
              <a:buSzPct val="59090"/>
              <a:buFont typeface="Wingdings"/>
              <a:buChar char=""/>
              <a:tabLst>
                <a:tab pos="756285" algn="l"/>
                <a:tab pos="756920" algn="l"/>
              </a:tabLst>
            </a:pPr>
            <a:r>
              <a:rPr dirty="0" sz="2200" spc="-5">
                <a:latin typeface="宋体"/>
                <a:cs typeface="宋体"/>
              </a:rPr>
              <a:t>节约时间，有着更低的时间成本；</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在一个集中连续的时间内完成，能</a:t>
            </a:r>
            <a:r>
              <a:rPr dirty="0" sz="2200">
                <a:latin typeface="宋体"/>
                <a:cs typeface="宋体"/>
              </a:rPr>
              <a:t>够</a:t>
            </a:r>
            <a:r>
              <a:rPr dirty="0" sz="2200" spc="-5">
                <a:latin typeface="宋体"/>
                <a:cs typeface="宋体"/>
              </a:rPr>
              <a:t>加速</a:t>
            </a:r>
            <a:r>
              <a:rPr dirty="0" sz="2200">
                <a:latin typeface="宋体"/>
                <a:cs typeface="宋体"/>
              </a:rPr>
              <a:t>项</a:t>
            </a:r>
            <a:r>
              <a:rPr dirty="0" sz="2200" spc="-5">
                <a:latin typeface="宋体"/>
                <a:cs typeface="宋体"/>
              </a:rPr>
              <a:t>目的</a:t>
            </a:r>
            <a:r>
              <a:rPr dirty="0" sz="2200">
                <a:latin typeface="宋体"/>
                <a:cs typeface="宋体"/>
              </a:rPr>
              <a:t>开</a:t>
            </a:r>
            <a:r>
              <a:rPr dirty="0" sz="2200" spc="-5">
                <a:latin typeface="宋体"/>
                <a:cs typeface="宋体"/>
              </a:rPr>
              <a:t>发进</a:t>
            </a:r>
            <a:r>
              <a:rPr dirty="0" sz="2200">
                <a:latin typeface="宋体"/>
                <a:cs typeface="宋体"/>
              </a:rPr>
              <a:t>度</a:t>
            </a:r>
            <a:r>
              <a:rPr dirty="0" sz="2200" spc="-5">
                <a:latin typeface="宋体"/>
                <a:cs typeface="宋体"/>
              </a:rPr>
              <a:t>；</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涉众方可以直接交流，提高了冲突</a:t>
            </a:r>
            <a:r>
              <a:rPr dirty="0" sz="2200">
                <a:latin typeface="宋体"/>
                <a:cs typeface="宋体"/>
              </a:rPr>
              <a:t>的</a:t>
            </a:r>
            <a:r>
              <a:rPr dirty="0" sz="2200" spc="-5">
                <a:latin typeface="宋体"/>
                <a:cs typeface="宋体"/>
              </a:rPr>
              <a:t>处理</a:t>
            </a:r>
            <a:r>
              <a:rPr dirty="0" sz="2200">
                <a:latin typeface="宋体"/>
                <a:cs typeface="宋体"/>
              </a:rPr>
              <a:t>能</a:t>
            </a:r>
            <a:r>
              <a:rPr dirty="0" sz="2200" spc="-5">
                <a:latin typeface="宋体"/>
                <a:cs typeface="宋体"/>
              </a:rPr>
              <a:t>力和</a:t>
            </a:r>
            <a:r>
              <a:rPr dirty="0" sz="2200">
                <a:latin typeface="宋体"/>
                <a:cs typeface="宋体"/>
              </a:rPr>
              <a:t>处</a:t>
            </a:r>
            <a:r>
              <a:rPr dirty="0" sz="2200" spc="-5">
                <a:latin typeface="宋体"/>
                <a:cs typeface="宋体"/>
              </a:rPr>
              <a:t>理效</a:t>
            </a:r>
            <a:r>
              <a:rPr dirty="0" sz="2200">
                <a:latin typeface="宋体"/>
                <a:cs typeface="宋体"/>
              </a:rPr>
              <a:t>率</a:t>
            </a:r>
            <a:r>
              <a:rPr dirty="0" sz="2200" spc="-5">
                <a:latin typeface="宋体"/>
                <a:cs typeface="宋体"/>
              </a:rPr>
              <a:t>；</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10">
                <a:latin typeface="宋体"/>
                <a:cs typeface="宋体"/>
              </a:rPr>
              <a:t>这可以提高涉众的项目参与度；</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常常会有创造性的信息内容产生。</a:t>
            </a:r>
            <a:endParaRPr sz="2200">
              <a:latin typeface="宋体"/>
              <a:cs typeface="宋体"/>
            </a:endParaRPr>
          </a:p>
          <a:p>
            <a:pPr marL="355600" indent="-343535">
              <a:lnSpc>
                <a:spcPct val="100000"/>
              </a:lnSpc>
              <a:spcBef>
                <a:spcPts val="295"/>
              </a:spcBef>
              <a:buClr>
                <a:srgbClr val="00663B"/>
              </a:buClr>
              <a:buSzPct val="78846"/>
              <a:buFont typeface="Wingdings"/>
              <a:buChar char=""/>
              <a:tabLst>
                <a:tab pos="355600" algn="l"/>
                <a:tab pos="356235" algn="l"/>
              </a:tabLst>
            </a:pPr>
            <a:r>
              <a:rPr dirty="0" sz="2600">
                <a:latin typeface="宋体"/>
                <a:cs typeface="宋体"/>
              </a:rPr>
              <a:t>缺点：</a:t>
            </a:r>
            <a:endParaRPr sz="2600">
              <a:latin typeface="宋体"/>
              <a:cs typeface="宋体"/>
            </a:endParaRPr>
          </a:p>
          <a:p>
            <a:pPr lvl="1" marL="756285" indent="-287020">
              <a:lnSpc>
                <a:spcPts val="2425"/>
              </a:lnSpc>
              <a:spcBef>
                <a:spcPts val="450"/>
              </a:spcBef>
              <a:buClr>
                <a:srgbClr val="C00000"/>
              </a:buClr>
              <a:buSzPct val="59090"/>
              <a:buFont typeface="Wingdings"/>
              <a:buChar char=""/>
              <a:tabLst>
                <a:tab pos="756285" algn="l"/>
                <a:tab pos="756920" algn="l"/>
              </a:tabLst>
            </a:pPr>
            <a:r>
              <a:rPr dirty="0" sz="2200" spc="-5">
                <a:latin typeface="宋体"/>
                <a:cs typeface="宋体"/>
              </a:rPr>
              <a:t>群体面谈要求所有参与方都要在一</a:t>
            </a:r>
            <a:r>
              <a:rPr dirty="0" sz="2200">
                <a:latin typeface="宋体"/>
                <a:cs typeface="宋体"/>
              </a:rPr>
              <a:t>个</a:t>
            </a:r>
            <a:r>
              <a:rPr dirty="0" sz="2200" spc="-5">
                <a:latin typeface="宋体"/>
                <a:cs typeface="宋体"/>
              </a:rPr>
              <a:t>集中</a:t>
            </a:r>
            <a:r>
              <a:rPr dirty="0" sz="2200">
                <a:latin typeface="宋体"/>
                <a:cs typeface="宋体"/>
              </a:rPr>
              <a:t>的</a:t>
            </a:r>
            <a:r>
              <a:rPr dirty="0" sz="2200" spc="-5">
                <a:latin typeface="宋体"/>
                <a:cs typeface="宋体"/>
              </a:rPr>
              <a:t>时间</a:t>
            </a:r>
            <a:r>
              <a:rPr dirty="0" sz="2200">
                <a:latin typeface="宋体"/>
                <a:cs typeface="宋体"/>
              </a:rPr>
              <a:t>内</a:t>
            </a:r>
            <a:r>
              <a:rPr dirty="0" sz="2200" spc="-5">
                <a:latin typeface="宋体"/>
                <a:cs typeface="宋体"/>
              </a:rPr>
              <a:t>抽出</a:t>
            </a:r>
            <a:r>
              <a:rPr dirty="0" sz="2200">
                <a:latin typeface="宋体"/>
                <a:cs typeface="宋体"/>
              </a:rPr>
              <a:t>大</a:t>
            </a:r>
            <a:r>
              <a:rPr dirty="0" sz="2200" spc="-5">
                <a:latin typeface="宋体"/>
                <a:cs typeface="宋体"/>
              </a:rPr>
              <a:t>量</a:t>
            </a:r>
            <a:endParaRPr sz="2200">
              <a:latin typeface="宋体"/>
              <a:cs typeface="宋体"/>
            </a:endParaRPr>
          </a:p>
          <a:p>
            <a:pPr marL="756285">
              <a:lnSpc>
                <a:spcPts val="2425"/>
              </a:lnSpc>
            </a:pPr>
            <a:r>
              <a:rPr dirty="0" sz="2200" spc="-10">
                <a:latin typeface="宋体"/>
                <a:cs typeface="宋体"/>
              </a:rPr>
              <a:t>时间和精力投入面谈，这往往难以</a:t>
            </a:r>
            <a:r>
              <a:rPr dirty="0" sz="2200">
                <a:latin typeface="宋体"/>
                <a:cs typeface="宋体"/>
              </a:rPr>
              <a:t>实</a:t>
            </a:r>
            <a:r>
              <a:rPr dirty="0" sz="2200" spc="-10">
                <a:latin typeface="宋体"/>
                <a:cs typeface="宋体"/>
              </a:rPr>
              <a:t>现；</a:t>
            </a:r>
            <a:endParaRPr sz="2200">
              <a:latin typeface="宋体"/>
              <a:cs typeface="宋体"/>
            </a:endParaRPr>
          </a:p>
          <a:p>
            <a:pPr lvl="1" marL="756285" marR="5080" indent="-287020">
              <a:lnSpc>
                <a:spcPts val="2210"/>
              </a:lnSpc>
              <a:spcBef>
                <a:spcPts val="865"/>
              </a:spcBef>
              <a:buClr>
                <a:srgbClr val="C00000"/>
              </a:buClr>
              <a:buSzPct val="59090"/>
              <a:buFont typeface="Wingdings"/>
              <a:buChar char=""/>
              <a:tabLst>
                <a:tab pos="756285" algn="l"/>
                <a:tab pos="756920" algn="l"/>
              </a:tabLst>
            </a:pPr>
            <a:r>
              <a:rPr dirty="0" sz="2200" spc="-5">
                <a:latin typeface="宋体"/>
                <a:cs typeface="宋体"/>
              </a:rPr>
              <a:t>群体面谈获得的信息比一对一面谈</a:t>
            </a:r>
            <a:r>
              <a:rPr dirty="0" sz="2200">
                <a:latin typeface="宋体"/>
                <a:cs typeface="宋体"/>
              </a:rPr>
              <a:t>要</a:t>
            </a:r>
            <a:r>
              <a:rPr dirty="0" sz="2200" spc="-5">
                <a:latin typeface="宋体"/>
                <a:cs typeface="宋体"/>
              </a:rPr>
              <a:t>复杂</a:t>
            </a:r>
            <a:r>
              <a:rPr dirty="0" sz="2200">
                <a:latin typeface="宋体"/>
                <a:cs typeface="宋体"/>
              </a:rPr>
              <a:t>的</a:t>
            </a:r>
            <a:r>
              <a:rPr dirty="0" sz="2200" spc="-5">
                <a:latin typeface="宋体"/>
                <a:cs typeface="宋体"/>
              </a:rPr>
              <a:t>多，</a:t>
            </a:r>
            <a:r>
              <a:rPr dirty="0" sz="2200">
                <a:latin typeface="宋体"/>
                <a:cs typeface="宋体"/>
              </a:rPr>
              <a:t>因</a:t>
            </a:r>
            <a:r>
              <a:rPr dirty="0" sz="2200" spc="-5">
                <a:latin typeface="宋体"/>
                <a:cs typeface="宋体"/>
              </a:rPr>
              <a:t>此对</a:t>
            </a:r>
            <a:r>
              <a:rPr dirty="0" sz="2200">
                <a:latin typeface="宋体"/>
                <a:cs typeface="宋体"/>
              </a:rPr>
              <a:t>它</a:t>
            </a:r>
            <a:r>
              <a:rPr dirty="0" sz="2200" spc="-5">
                <a:latin typeface="宋体"/>
                <a:cs typeface="宋体"/>
              </a:rPr>
              <a:t>们 </a:t>
            </a:r>
            <a:r>
              <a:rPr dirty="0" sz="2200" spc="-5">
                <a:latin typeface="宋体"/>
                <a:cs typeface="宋体"/>
              </a:rPr>
              <a:t>的分析是一个不小的技术挑战；</a:t>
            </a:r>
            <a:endParaRPr sz="2200">
              <a:latin typeface="宋体"/>
              <a:cs typeface="宋体"/>
            </a:endParaRPr>
          </a:p>
          <a:p>
            <a:pPr lvl="1" marL="756285" indent="-287020">
              <a:lnSpc>
                <a:spcPct val="100000"/>
              </a:lnSpc>
              <a:spcBef>
                <a:spcPts val="260"/>
              </a:spcBef>
              <a:buClr>
                <a:srgbClr val="C00000"/>
              </a:buClr>
              <a:buSzPct val="59090"/>
              <a:buFont typeface="Wingdings"/>
              <a:buChar char=""/>
              <a:tabLst>
                <a:tab pos="756285" algn="l"/>
                <a:tab pos="756920" algn="l"/>
              </a:tabLst>
            </a:pPr>
            <a:r>
              <a:rPr dirty="0" sz="2200" spc="-5">
                <a:latin typeface="宋体"/>
                <a:cs typeface="宋体"/>
              </a:rPr>
              <a:t>主持群体面谈比主持一对一面谈要</a:t>
            </a:r>
            <a:r>
              <a:rPr dirty="0" sz="2200">
                <a:latin typeface="宋体"/>
                <a:cs typeface="宋体"/>
              </a:rPr>
              <a:t>困</a:t>
            </a:r>
            <a:r>
              <a:rPr dirty="0" sz="2200" spc="-5">
                <a:latin typeface="宋体"/>
                <a:cs typeface="宋体"/>
              </a:rPr>
              <a:t>难的</a:t>
            </a:r>
            <a:r>
              <a:rPr dirty="0" sz="2200">
                <a:latin typeface="宋体"/>
                <a:cs typeface="宋体"/>
              </a:rPr>
              <a:t>多</a:t>
            </a:r>
            <a:r>
              <a:rPr dirty="0" sz="2200" spc="-5">
                <a:latin typeface="宋体"/>
                <a:cs typeface="宋体"/>
              </a:rPr>
              <a:t>。</a:t>
            </a:r>
            <a:endParaRPr sz="2200">
              <a:latin typeface="宋体"/>
              <a:cs typeface="宋体"/>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0914" y="311657"/>
            <a:ext cx="366331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4.5.1.</a:t>
            </a:r>
            <a:r>
              <a:rPr dirty="0" spc="-85">
                <a:latin typeface="Calibri"/>
                <a:cs typeface="Calibri"/>
              </a:rPr>
              <a:t> </a:t>
            </a:r>
            <a:r>
              <a:rPr dirty="0"/>
              <a:t>群体面谈</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40205"/>
            <a:ext cx="8032115" cy="4324985"/>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8846"/>
              <a:buFont typeface="Wingdings"/>
              <a:buChar char=""/>
              <a:tabLst>
                <a:tab pos="355600" algn="l"/>
                <a:tab pos="356235" algn="l"/>
              </a:tabLst>
            </a:pPr>
            <a:r>
              <a:rPr dirty="0" sz="2600">
                <a:latin typeface="宋体"/>
                <a:cs typeface="宋体"/>
              </a:rPr>
              <a:t>计划面谈</a:t>
            </a:r>
            <a:endParaRPr sz="2600">
              <a:latin typeface="宋体"/>
              <a:cs typeface="宋体"/>
            </a:endParaRPr>
          </a:p>
          <a:p>
            <a:pPr lvl="1" marL="756285" indent="-287020">
              <a:lnSpc>
                <a:spcPct val="100000"/>
              </a:lnSpc>
              <a:spcBef>
                <a:spcPts val="20"/>
              </a:spcBef>
              <a:buClr>
                <a:srgbClr val="C00000"/>
              </a:buClr>
              <a:buSzPct val="59090"/>
              <a:buFont typeface="Wingdings"/>
              <a:buChar char=""/>
              <a:tabLst>
                <a:tab pos="756285" algn="l"/>
                <a:tab pos="756920" algn="l"/>
              </a:tabLst>
            </a:pPr>
            <a:r>
              <a:rPr dirty="0" sz="2200" spc="-5">
                <a:latin typeface="宋体"/>
                <a:cs typeface="宋体"/>
              </a:rPr>
              <a:t>确定参与人员</a:t>
            </a:r>
            <a:endParaRPr sz="2200">
              <a:latin typeface="宋体"/>
              <a:cs typeface="宋体"/>
            </a:endParaRPr>
          </a:p>
          <a:p>
            <a:pPr lvl="2" marL="1155700" indent="-229235">
              <a:lnSpc>
                <a:spcPts val="2395"/>
              </a:lnSpc>
              <a:spcBef>
                <a:spcPts val="5"/>
              </a:spcBef>
              <a:buFont typeface="Arial"/>
              <a:buChar char="•"/>
              <a:tabLst>
                <a:tab pos="1155700" algn="l"/>
                <a:tab pos="1156335" algn="l"/>
              </a:tabLst>
            </a:pPr>
            <a:r>
              <a:rPr dirty="0" sz="2000">
                <a:latin typeface="宋体"/>
                <a:cs typeface="宋体"/>
              </a:rPr>
              <a:t>涉众、主持人、负责人</a:t>
            </a:r>
            <a:r>
              <a:rPr dirty="0" sz="2000" spc="-15">
                <a:latin typeface="宋体"/>
                <a:cs typeface="宋体"/>
              </a:rPr>
              <a:t>、</a:t>
            </a:r>
            <a:r>
              <a:rPr dirty="0" sz="2000">
                <a:latin typeface="宋体"/>
                <a:cs typeface="宋体"/>
              </a:rPr>
              <a:t>分析</a:t>
            </a:r>
            <a:r>
              <a:rPr dirty="0" sz="2000" spc="-15">
                <a:latin typeface="宋体"/>
                <a:cs typeface="宋体"/>
              </a:rPr>
              <a:t>人</a:t>
            </a:r>
            <a:r>
              <a:rPr dirty="0" sz="2000">
                <a:latin typeface="宋体"/>
                <a:cs typeface="宋体"/>
              </a:rPr>
              <a:t>员、</a:t>
            </a:r>
            <a:r>
              <a:rPr dirty="0" sz="2000" spc="-15">
                <a:latin typeface="宋体"/>
                <a:cs typeface="宋体"/>
              </a:rPr>
              <a:t>记</a:t>
            </a:r>
            <a:r>
              <a:rPr dirty="0" sz="2000">
                <a:latin typeface="宋体"/>
                <a:cs typeface="宋体"/>
              </a:rPr>
              <a:t>录人</a:t>
            </a:r>
            <a:r>
              <a:rPr dirty="0" sz="2000" spc="-15">
                <a:latin typeface="宋体"/>
                <a:cs typeface="宋体"/>
              </a:rPr>
              <a:t>员</a:t>
            </a:r>
            <a:r>
              <a:rPr dirty="0" sz="2000">
                <a:latin typeface="宋体"/>
                <a:cs typeface="宋体"/>
              </a:rPr>
              <a:t>、观</a:t>
            </a:r>
            <a:r>
              <a:rPr dirty="0" sz="2000" spc="-15">
                <a:latin typeface="宋体"/>
                <a:cs typeface="宋体"/>
              </a:rPr>
              <a:t>察</a:t>
            </a:r>
            <a:r>
              <a:rPr dirty="0" sz="2000">
                <a:latin typeface="宋体"/>
                <a:cs typeface="宋体"/>
              </a:rPr>
              <a:t>员</a:t>
            </a:r>
            <a:endParaRPr sz="2000">
              <a:latin typeface="宋体"/>
              <a:cs typeface="宋体"/>
            </a:endParaRPr>
          </a:p>
          <a:p>
            <a:pPr lvl="1" marL="756285" indent="-287020">
              <a:lnSpc>
                <a:spcPts val="2635"/>
              </a:lnSpc>
              <a:buClr>
                <a:srgbClr val="C00000"/>
              </a:buClr>
              <a:buSzPct val="59090"/>
              <a:buFont typeface="Wingdings"/>
              <a:buChar char=""/>
              <a:tabLst>
                <a:tab pos="756285" algn="l"/>
                <a:tab pos="756920" algn="l"/>
              </a:tabLst>
            </a:pPr>
            <a:r>
              <a:rPr dirty="0" sz="2200" spc="-5">
                <a:latin typeface="宋体"/>
                <a:cs typeface="宋体"/>
              </a:rPr>
              <a:t>安排会谈时间</a:t>
            </a:r>
            <a:endParaRPr sz="2200">
              <a:latin typeface="宋体"/>
              <a:cs typeface="宋体"/>
            </a:endParaRPr>
          </a:p>
          <a:p>
            <a:pPr lvl="2" marL="1155700" indent="-229235">
              <a:lnSpc>
                <a:spcPct val="100000"/>
              </a:lnSpc>
              <a:spcBef>
                <a:spcPts val="10"/>
              </a:spcBef>
              <a:buFont typeface="Arial"/>
              <a:buChar char="•"/>
              <a:tabLst>
                <a:tab pos="1155700" algn="l"/>
                <a:tab pos="1156335" algn="l"/>
              </a:tabLst>
            </a:pPr>
            <a:r>
              <a:rPr dirty="0" sz="2000">
                <a:latin typeface="宋体"/>
                <a:cs typeface="宋体"/>
              </a:rPr>
              <a:t>全职的</a:t>
            </a:r>
            <a:r>
              <a:rPr dirty="0" sz="2000">
                <a:latin typeface="Calibri"/>
                <a:cs typeface="Calibri"/>
              </a:rPr>
              <a:t>2</a:t>
            </a:r>
            <a:r>
              <a:rPr dirty="0" sz="2000">
                <a:latin typeface="宋体"/>
                <a:cs typeface="宋体"/>
              </a:rPr>
              <a:t>－</a:t>
            </a:r>
            <a:r>
              <a:rPr dirty="0" sz="2000">
                <a:latin typeface="Calibri"/>
                <a:cs typeface="Calibri"/>
              </a:rPr>
              <a:t>4</a:t>
            </a:r>
            <a:r>
              <a:rPr dirty="0" sz="2000">
                <a:latin typeface="宋体"/>
                <a:cs typeface="宋体"/>
              </a:rPr>
              <a:t>天参</a:t>
            </a:r>
            <a:r>
              <a:rPr dirty="0" sz="2000" spc="-15">
                <a:latin typeface="宋体"/>
                <a:cs typeface="宋体"/>
              </a:rPr>
              <a:t>与</a:t>
            </a:r>
            <a:r>
              <a:rPr dirty="0" sz="2000">
                <a:latin typeface="宋体"/>
                <a:cs typeface="宋体"/>
              </a:rPr>
              <a:t>会议</a:t>
            </a:r>
            <a:endParaRPr sz="2000">
              <a:latin typeface="宋体"/>
              <a:cs typeface="宋体"/>
            </a:endParaRPr>
          </a:p>
          <a:p>
            <a:pPr lvl="2" marL="1155700" indent="-229235">
              <a:lnSpc>
                <a:spcPts val="2395"/>
              </a:lnSpc>
              <a:buFont typeface="Arial"/>
              <a:buChar char="•"/>
              <a:tabLst>
                <a:tab pos="1155700" algn="l"/>
                <a:tab pos="1156335" algn="l"/>
              </a:tabLst>
            </a:pPr>
            <a:r>
              <a:rPr dirty="0" sz="2000">
                <a:latin typeface="宋体"/>
                <a:cs typeface="宋体"/>
              </a:rPr>
              <a:t>拟定一份议程</a:t>
            </a:r>
            <a:endParaRPr sz="2000">
              <a:latin typeface="宋体"/>
              <a:cs typeface="宋体"/>
            </a:endParaRPr>
          </a:p>
          <a:p>
            <a:pPr lvl="1" marL="756285" indent="-287020">
              <a:lnSpc>
                <a:spcPts val="2635"/>
              </a:lnSpc>
              <a:buClr>
                <a:srgbClr val="C00000"/>
              </a:buClr>
              <a:buSzPct val="59090"/>
              <a:buFont typeface="Wingdings"/>
              <a:buChar char=""/>
              <a:tabLst>
                <a:tab pos="756285" algn="l"/>
                <a:tab pos="756920" algn="l"/>
              </a:tabLst>
            </a:pPr>
            <a:r>
              <a:rPr dirty="0" sz="2200" spc="-5">
                <a:latin typeface="宋体"/>
                <a:cs typeface="宋体"/>
              </a:rPr>
              <a:t>选择会谈地点</a:t>
            </a:r>
            <a:endParaRPr sz="2200">
              <a:latin typeface="宋体"/>
              <a:cs typeface="宋体"/>
            </a:endParaRPr>
          </a:p>
          <a:p>
            <a:pPr lvl="2" marL="1155700" indent="-229235">
              <a:lnSpc>
                <a:spcPts val="2395"/>
              </a:lnSpc>
              <a:spcBef>
                <a:spcPts val="10"/>
              </a:spcBef>
              <a:buFont typeface="Arial"/>
              <a:buChar char="•"/>
              <a:tabLst>
                <a:tab pos="1155700" algn="l"/>
                <a:tab pos="1156335" algn="l"/>
              </a:tabLst>
            </a:pPr>
            <a:r>
              <a:rPr dirty="0" sz="2000">
                <a:latin typeface="宋体"/>
                <a:cs typeface="宋体"/>
              </a:rPr>
              <a:t>充足的空间，道具支持</a:t>
            </a:r>
            <a:r>
              <a:rPr dirty="0" sz="2000" spc="-15">
                <a:latin typeface="宋体"/>
                <a:cs typeface="宋体"/>
              </a:rPr>
              <a:t>，</a:t>
            </a:r>
            <a:r>
              <a:rPr dirty="0" sz="2000">
                <a:latin typeface="宋体"/>
                <a:cs typeface="宋体"/>
              </a:rPr>
              <a:t>良好</a:t>
            </a:r>
            <a:r>
              <a:rPr dirty="0" sz="2000" spc="-15">
                <a:latin typeface="宋体"/>
                <a:cs typeface="宋体"/>
              </a:rPr>
              <a:t>的</a:t>
            </a:r>
            <a:r>
              <a:rPr dirty="0" sz="2000">
                <a:latin typeface="宋体"/>
                <a:cs typeface="宋体"/>
              </a:rPr>
              <a:t>餐饮</a:t>
            </a:r>
            <a:r>
              <a:rPr dirty="0" sz="2000" spc="-15">
                <a:latin typeface="宋体"/>
                <a:cs typeface="宋体"/>
              </a:rPr>
              <a:t>服</a:t>
            </a:r>
            <a:r>
              <a:rPr dirty="0" sz="2000">
                <a:latin typeface="宋体"/>
                <a:cs typeface="宋体"/>
              </a:rPr>
              <a:t>务</a:t>
            </a:r>
            <a:endParaRPr sz="2000">
              <a:latin typeface="宋体"/>
              <a:cs typeface="宋体"/>
            </a:endParaRPr>
          </a:p>
          <a:p>
            <a:pPr lvl="1" marL="756285" indent="-287020">
              <a:lnSpc>
                <a:spcPts val="2635"/>
              </a:lnSpc>
              <a:buClr>
                <a:srgbClr val="C00000"/>
              </a:buClr>
              <a:buSzPct val="59090"/>
              <a:buFont typeface="Wingdings"/>
              <a:buChar char=""/>
              <a:tabLst>
                <a:tab pos="756285" algn="l"/>
                <a:tab pos="756920" algn="l"/>
              </a:tabLst>
            </a:pPr>
            <a:r>
              <a:rPr dirty="0" sz="2200" spc="-5">
                <a:latin typeface="宋体"/>
                <a:cs typeface="宋体"/>
              </a:rPr>
              <a:t>准备会谈内容</a:t>
            </a:r>
            <a:endParaRPr sz="2200">
              <a:latin typeface="宋体"/>
              <a:cs typeface="宋体"/>
            </a:endParaRPr>
          </a:p>
          <a:p>
            <a:pPr lvl="2" marL="1155700" indent="-229235">
              <a:lnSpc>
                <a:spcPts val="2090"/>
              </a:lnSpc>
              <a:spcBef>
                <a:spcPts val="150"/>
              </a:spcBef>
              <a:buFont typeface="Arial"/>
              <a:buChar char="•"/>
              <a:tabLst>
                <a:tab pos="1155700" algn="l"/>
                <a:tab pos="1156335" algn="l"/>
              </a:tabLst>
            </a:pPr>
            <a:r>
              <a:rPr dirty="0" sz="2000">
                <a:latin typeface="宋体"/>
                <a:cs typeface="宋体"/>
              </a:rPr>
              <a:t>面谈的主题和范围，会</a:t>
            </a:r>
            <a:r>
              <a:rPr dirty="0" sz="2000" spc="-10">
                <a:latin typeface="宋体"/>
                <a:cs typeface="宋体"/>
              </a:rPr>
              <a:t>议</a:t>
            </a:r>
            <a:r>
              <a:rPr dirty="0" sz="2000">
                <a:latin typeface="宋体"/>
                <a:cs typeface="宋体"/>
              </a:rPr>
              <a:t>的议</a:t>
            </a:r>
            <a:r>
              <a:rPr dirty="0" sz="2000" spc="-10">
                <a:latin typeface="宋体"/>
                <a:cs typeface="宋体"/>
              </a:rPr>
              <a:t>程</a:t>
            </a:r>
            <a:r>
              <a:rPr dirty="0" sz="2000">
                <a:latin typeface="宋体"/>
                <a:cs typeface="宋体"/>
              </a:rPr>
              <a:t>，需</a:t>
            </a:r>
            <a:r>
              <a:rPr dirty="0" sz="2000" spc="-10">
                <a:latin typeface="宋体"/>
                <a:cs typeface="宋体"/>
              </a:rPr>
              <a:t>求</a:t>
            </a:r>
            <a:r>
              <a:rPr dirty="0" sz="2000">
                <a:latin typeface="宋体"/>
                <a:cs typeface="宋体"/>
              </a:rPr>
              <a:t>的预</a:t>
            </a:r>
            <a:r>
              <a:rPr dirty="0" sz="2000" spc="-10">
                <a:latin typeface="宋体"/>
                <a:cs typeface="宋体"/>
              </a:rPr>
              <a:t>期</a:t>
            </a:r>
            <a:r>
              <a:rPr dirty="0" sz="2000">
                <a:latin typeface="宋体"/>
                <a:cs typeface="宋体"/>
              </a:rPr>
              <a:t>和会</a:t>
            </a:r>
            <a:r>
              <a:rPr dirty="0" sz="2000" spc="-10">
                <a:latin typeface="宋体"/>
                <a:cs typeface="宋体"/>
              </a:rPr>
              <a:t>谈</a:t>
            </a:r>
            <a:r>
              <a:rPr dirty="0" sz="2000">
                <a:latin typeface="宋体"/>
                <a:cs typeface="宋体"/>
              </a:rPr>
              <a:t>的目</a:t>
            </a:r>
            <a:r>
              <a:rPr dirty="0" sz="2000" spc="-10">
                <a:latin typeface="宋体"/>
                <a:cs typeface="宋体"/>
              </a:rPr>
              <a:t>标</a:t>
            </a:r>
            <a:r>
              <a:rPr dirty="0" sz="2000" spc="5">
                <a:latin typeface="宋体"/>
                <a:cs typeface="宋体"/>
              </a:rPr>
              <a:t>，</a:t>
            </a:r>
            <a:endParaRPr sz="2000">
              <a:latin typeface="宋体"/>
              <a:cs typeface="宋体"/>
            </a:endParaRPr>
          </a:p>
          <a:p>
            <a:pPr marL="1155700">
              <a:lnSpc>
                <a:spcPts val="2080"/>
              </a:lnSpc>
            </a:pPr>
            <a:r>
              <a:rPr dirty="0" sz="2000">
                <a:latin typeface="宋体"/>
                <a:cs typeface="宋体"/>
              </a:rPr>
              <a:t>各种材料</a:t>
            </a:r>
            <a:endParaRPr sz="2000">
              <a:latin typeface="宋体"/>
              <a:cs typeface="宋体"/>
            </a:endParaRPr>
          </a:p>
          <a:p>
            <a:pPr marL="355600" indent="-343535">
              <a:lnSpc>
                <a:spcPts val="3110"/>
              </a:lnSpc>
              <a:buClr>
                <a:srgbClr val="00663B"/>
              </a:buClr>
              <a:buSzPct val="78846"/>
              <a:buFont typeface="Wingdings"/>
              <a:buChar char=""/>
              <a:tabLst>
                <a:tab pos="355600" algn="l"/>
                <a:tab pos="356235" algn="l"/>
              </a:tabLst>
            </a:pPr>
            <a:r>
              <a:rPr dirty="0" sz="2600">
                <a:latin typeface="宋体"/>
                <a:cs typeface="宋体"/>
              </a:rPr>
              <a:t>主持面谈</a:t>
            </a:r>
            <a:endParaRPr sz="2600">
              <a:latin typeface="宋体"/>
              <a:cs typeface="宋体"/>
            </a:endParaRPr>
          </a:p>
          <a:p>
            <a:pPr marL="355600" indent="-343535">
              <a:lnSpc>
                <a:spcPct val="100000"/>
              </a:lnSpc>
              <a:buClr>
                <a:srgbClr val="00663B"/>
              </a:buClr>
              <a:buSzPct val="78846"/>
              <a:buFont typeface="Wingdings"/>
              <a:buChar char=""/>
              <a:tabLst>
                <a:tab pos="355600" algn="l"/>
                <a:tab pos="356235" algn="l"/>
              </a:tabLst>
            </a:pPr>
            <a:r>
              <a:rPr dirty="0" sz="2600">
                <a:latin typeface="宋体"/>
                <a:cs typeface="宋体"/>
              </a:rPr>
              <a:t>分析结果</a:t>
            </a:r>
            <a:endParaRPr sz="2600">
              <a:latin typeface="宋体"/>
              <a:cs typeface="宋体"/>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0914" y="149809"/>
            <a:ext cx="3663315"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4.5.1.</a:t>
            </a:r>
            <a:r>
              <a:rPr dirty="0" spc="-100">
                <a:latin typeface="Calibri"/>
                <a:cs typeface="Calibri"/>
              </a:rPr>
              <a:t> </a:t>
            </a:r>
            <a:r>
              <a:rPr dirty="0" spc="5"/>
              <a:t>群体面谈</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213921"/>
            <a:ext cx="6000115" cy="4121785"/>
          </a:xfrm>
          <a:prstGeom prst="rect">
            <a:avLst/>
          </a:prstGeom>
        </p:spPr>
        <p:txBody>
          <a:bodyPr wrap="square" lIns="0" tIns="57785" rIns="0" bIns="0" rtlCol="0" vert="horz">
            <a:spAutoFit/>
          </a:bodyPr>
          <a:lstStyle/>
          <a:p>
            <a:pPr marL="355600" indent="-343535">
              <a:lnSpc>
                <a:spcPct val="100000"/>
              </a:lnSpc>
              <a:spcBef>
                <a:spcPts val="455"/>
              </a:spcBef>
              <a:buClr>
                <a:srgbClr val="00663B"/>
              </a:buClr>
              <a:buSzPct val="80357"/>
              <a:buFont typeface="Wingdings"/>
              <a:buChar char=""/>
              <a:tabLst>
                <a:tab pos="355600" algn="l"/>
                <a:tab pos="356235" algn="l"/>
              </a:tabLst>
            </a:pPr>
            <a:r>
              <a:rPr dirty="0" sz="2800" spc="-10">
                <a:latin typeface="宋体"/>
                <a:cs typeface="宋体"/>
              </a:rPr>
              <a:t>主持面谈</a:t>
            </a:r>
            <a:endParaRPr sz="2800">
              <a:latin typeface="宋体"/>
              <a:cs typeface="宋体"/>
            </a:endParaRPr>
          </a:p>
          <a:p>
            <a:pPr lvl="1" marL="756285" indent="-287020">
              <a:lnSpc>
                <a:spcPct val="100000"/>
              </a:lnSpc>
              <a:spcBef>
                <a:spcPts val="305"/>
              </a:spcBef>
              <a:buClr>
                <a:srgbClr val="C00000"/>
              </a:buClr>
              <a:buSzPct val="60416"/>
              <a:buFont typeface="Wingdings"/>
              <a:buChar char=""/>
              <a:tabLst>
                <a:tab pos="756285" algn="l"/>
                <a:tab pos="756920" algn="l"/>
              </a:tabLst>
            </a:pPr>
            <a:r>
              <a:rPr dirty="0" sz="2400" spc="-5">
                <a:latin typeface="宋体"/>
                <a:cs typeface="宋体"/>
              </a:rPr>
              <a:t>（</a:t>
            </a:r>
            <a:r>
              <a:rPr dirty="0" sz="2400" spc="-5">
                <a:latin typeface="Calibri"/>
                <a:cs typeface="Calibri"/>
              </a:rPr>
              <a:t>1</a:t>
            </a:r>
            <a:r>
              <a:rPr dirty="0" sz="2400" spc="-5">
                <a:latin typeface="宋体"/>
                <a:cs typeface="宋体"/>
              </a:rPr>
              <a:t>）</a:t>
            </a:r>
            <a:r>
              <a:rPr dirty="0" sz="2400">
                <a:latin typeface="宋体"/>
                <a:cs typeface="宋体"/>
              </a:rPr>
              <a:t>建立基本规则</a:t>
            </a:r>
            <a:endParaRPr sz="2400">
              <a:latin typeface="宋体"/>
              <a:cs typeface="宋体"/>
            </a:endParaRPr>
          </a:p>
          <a:p>
            <a:pPr lvl="2" marL="1155700" indent="-229235">
              <a:lnSpc>
                <a:spcPct val="100000"/>
              </a:lnSpc>
              <a:spcBef>
                <a:spcPts val="254"/>
              </a:spcBef>
              <a:buFont typeface="Arial"/>
              <a:buChar char="•"/>
              <a:tabLst>
                <a:tab pos="1155700" algn="l"/>
                <a:tab pos="1156335" algn="l"/>
              </a:tabLst>
            </a:pPr>
            <a:r>
              <a:rPr dirty="0" sz="2000">
                <a:latin typeface="宋体"/>
                <a:cs typeface="宋体"/>
              </a:rPr>
              <a:t>按时开始和结束会议；</a:t>
            </a:r>
            <a:endParaRPr sz="2000">
              <a:latin typeface="宋体"/>
              <a:cs typeface="宋体"/>
            </a:endParaRPr>
          </a:p>
          <a:p>
            <a:pPr lvl="2" marL="1155700" indent="-229235">
              <a:lnSpc>
                <a:spcPct val="100000"/>
              </a:lnSpc>
              <a:spcBef>
                <a:spcPts val="240"/>
              </a:spcBef>
              <a:buFont typeface="Arial"/>
              <a:buChar char="•"/>
              <a:tabLst>
                <a:tab pos="1155700" algn="l"/>
                <a:tab pos="1156335" algn="l"/>
              </a:tabLst>
            </a:pPr>
            <a:r>
              <a:rPr dirty="0" sz="2000">
                <a:latin typeface="宋体"/>
                <a:cs typeface="宋体"/>
              </a:rPr>
              <a:t>中途休息（例如午餐）</a:t>
            </a:r>
            <a:r>
              <a:rPr dirty="0" sz="2000" spc="-15">
                <a:latin typeface="宋体"/>
                <a:cs typeface="宋体"/>
              </a:rPr>
              <a:t>后</a:t>
            </a:r>
            <a:r>
              <a:rPr dirty="0" sz="2000">
                <a:latin typeface="宋体"/>
                <a:cs typeface="宋体"/>
              </a:rPr>
              <a:t>要尽</a:t>
            </a:r>
            <a:r>
              <a:rPr dirty="0" sz="2000" spc="-15">
                <a:latin typeface="宋体"/>
                <a:cs typeface="宋体"/>
              </a:rPr>
              <a:t>快</a:t>
            </a:r>
            <a:r>
              <a:rPr dirty="0" sz="2000">
                <a:latin typeface="宋体"/>
                <a:cs typeface="宋体"/>
              </a:rPr>
              <a:t>进入</a:t>
            </a:r>
            <a:r>
              <a:rPr dirty="0" sz="2000" spc="-15">
                <a:latin typeface="宋体"/>
                <a:cs typeface="宋体"/>
              </a:rPr>
              <a:t>状</a:t>
            </a:r>
            <a:r>
              <a:rPr dirty="0" sz="2000">
                <a:latin typeface="宋体"/>
                <a:cs typeface="宋体"/>
              </a:rPr>
              <a:t>态；</a:t>
            </a:r>
            <a:endParaRPr sz="2000">
              <a:latin typeface="宋体"/>
              <a:cs typeface="宋体"/>
            </a:endParaRPr>
          </a:p>
          <a:p>
            <a:pPr lvl="2" marL="1155700" indent="-229235">
              <a:lnSpc>
                <a:spcPct val="100000"/>
              </a:lnSpc>
              <a:spcBef>
                <a:spcPts val="240"/>
              </a:spcBef>
              <a:buFont typeface="Arial"/>
              <a:buChar char="•"/>
              <a:tabLst>
                <a:tab pos="1155700" algn="l"/>
                <a:tab pos="1156335" algn="l"/>
              </a:tabLst>
            </a:pPr>
            <a:r>
              <a:rPr dirty="0" sz="2000">
                <a:latin typeface="宋体"/>
                <a:cs typeface="宋体"/>
              </a:rPr>
              <a:t>一次只讨论一个主题；</a:t>
            </a:r>
            <a:endParaRPr sz="2000">
              <a:latin typeface="宋体"/>
              <a:cs typeface="宋体"/>
            </a:endParaRPr>
          </a:p>
          <a:p>
            <a:pPr lvl="2" marL="1155700" indent="-229235">
              <a:lnSpc>
                <a:spcPct val="100000"/>
              </a:lnSpc>
              <a:spcBef>
                <a:spcPts val="244"/>
              </a:spcBef>
              <a:buFont typeface="Arial"/>
              <a:buChar char="•"/>
              <a:tabLst>
                <a:tab pos="1155700" algn="l"/>
                <a:tab pos="1156335" algn="l"/>
              </a:tabLst>
            </a:pPr>
            <a:r>
              <a:rPr dirty="0" sz="2000">
                <a:latin typeface="宋体"/>
                <a:cs typeface="宋体"/>
              </a:rPr>
              <a:t>期望每个人都为会议做</a:t>
            </a:r>
            <a:r>
              <a:rPr dirty="0" sz="2000" spc="-15">
                <a:latin typeface="宋体"/>
                <a:cs typeface="宋体"/>
              </a:rPr>
              <a:t>出</a:t>
            </a:r>
            <a:r>
              <a:rPr dirty="0" sz="2000">
                <a:latin typeface="宋体"/>
                <a:cs typeface="宋体"/>
              </a:rPr>
              <a:t>自己</a:t>
            </a:r>
            <a:r>
              <a:rPr dirty="0" sz="2000" spc="-15">
                <a:latin typeface="宋体"/>
                <a:cs typeface="宋体"/>
              </a:rPr>
              <a:t>的</a:t>
            </a:r>
            <a:r>
              <a:rPr dirty="0" sz="2000">
                <a:latin typeface="宋体"/>
                <a:cs typeface="宋体"/>
              </a:rPr>
              <a:t>贡献；</a:t>
            </a:r>
            <a:endParaRPr sz="2000">
              <a:latin typeface="宋体"/>
              <a:cs typeface="宋体"/>
            </a:endParaRPr>
          </a:p>
          <a:p>
            <a:pPr lvl="2" marL="1155700" indent="-229235">
              <a:lnSpc>
                <a:spcPct val="100000"/>
              </a:lnSpc>
              <a:spcBef>
                <a:spcPts val="240"/>
              </a:spcBef>
              <a:buFont typeface="Arial"/>
              <a:buChar char="•"/>
              <a:tabLst>
                <a:tab pos="1155700" algn="l"/>
                <a:tab pos="1156335" algn="l"/>
              </a:tabLst>
            </a:pPr>
            <a:r>
              <a:rPr dirty="0" sz="2000">
                <a:latin typeface="宋体"/>
                <a:cs typeface="宋体"/>
              </a:rPr>
              <a:t>要关注于问题，不要有</a:t>
            </a:r>
            <a:r>
              <a:rPr dirty="0" sz="2000" spc="-15">
                <a:latin typeface="宋体"/>
                <a:cs typeface="宋体"/>
              </a:rPr>
              <a:t>人</a:t>
            </a:r>
            <a:r>
              <a:rPr dirty="0" sz="2000">
                <a:latin typeface="宋体"/>
                <a:cs typeface="宋体"/>
              </a:rPr>
              <a:t>身批</a:t>
            </a:r>
            <a:r>
              <a:rPr dirty="0" sz="2000" spc="-15">
                <a:latin typeface="宋体"/>
                <a:cs typeface="宋体"/>
              </a:rPr>
              <a:t>评</a:t>
            </a:r>
            <a:r>
              <a:rPr dirty="0" sz="2000">
                <a:latin typeface="宋体"/>
                <a:cs typeface="宋体"/>
              </a:rPr>
              <a:t>和攻</a:t>
            </a:r>
            <a:r>
              <a:rPr dirty="0" sz="2000" spc="-15">
                <a:latin typeface="宋体"/>
                <a:cs typeface="宋体"/>
              </a:rPr>
              <a:t>击</a:t>
            </a:r>
            <a:r>
              <a:rPr dirty="0" sz="2000">
                <a:latin typeface="宋体"/>
                <a:cs typeface="宋体"/>
              </a:rPr>
              <a:t>；</a:t>
            </a:r>
            <a:endParaRPr sz="2000">
              <a:latin typeface="宋体"/>
              <a:cs typeface="宋体"/>
            </a:endParaRPr>
          </a:p>
          <a:p>
            <a:pPr lvl="2" marL="1155700" indent="-229235">
              <a:lnSpc>
                <a:spcPct val="100000"/>
              </a:lnSpc>
              <a:spcBef>
                <a:spcPts val="240"/>
              </a:spcBef>
              <a:buFont typeface="Arial"/>
              <a:buChar char="•"/>
              <a:tabLst>
                <a:tab pos="1155700" algn="l"/>
                <a:tab pos="1156335" algn="l"/>
              </a:tabLst>
            </a:pPr>
            <a:r>
              <a:rPr dirty="0" sz="2000">
                <a:latin typeface="宋体"/>
                <a:cs typeface="宋体"/>
              </a:rPr>
              <a:t>限制发言时间，不要个</a:t>
            </a:r>
            <a:r>
              <a:rPr dirty="0" sz="2000" spc="-15">
                <a:latin typeface="宋体"/>
                <a:cs typeface="宋体"/>
              </a:rPr>
              <a:t>人</a:t>
            </a:r>
            <a:r>
              <a:rPr dirty="0" sz="2000">
                <a:latin typeface="宋体"/>
                <a:cs typeface="宋体"/>
              </a:rPr>
              <a:t>把持</a:t>
            </a:r>
            <a:r>
              <a:rPr dirty="0" sz="2000" spc="-15">
                <a:latin typeface="宋体"/>
                <a:cs typeface="宋体"/>
              </a:rPr>
              <a:t>会</a:t>
            </a:r>
            <a:r>
              <a:rPr dirty="0" sz="2000">
                <a:latin typeface="宋体"/>
                <a:cs typeface="宋体"/>
              </a:rPr>
              <a:t>议。</a:t>
            </a:r>
            <a:endParaRPr sz="2000">
              <a:latin typeface="宋体"/>
              <a:cs typeface="宋体"/>
            </a:endParaRPr>
          </a:p>
          <a:p>
            <a:pPr lvl="1" marL="756285" indent="-287020">
              <a:lnSpc>
                <a:spcPct val="100000"/>
              </a:lnSpc>
              <a:spcBef>
                <a:spcPts val="270"/>
              </a:spcBef>
              <a:buClr>
                <a:srgbClr val="C00000"/>
              </a:buClr>
              <a:buSzPct val="60416"/>
              <a:buFont typeface="Wingdings"/>
              <a:buChar char=""/>
              <a:tabLst>
                <a:tab pos="756285" algn="l"/>
                <a:tab pos="756920" algn="l"/>
              </a:tabLst>
            </a:pPr>
            <a:r>
              <a:rPr dirty="0" sz="2400" spc="-5">
                <a:latin typeface="宋体"/>
                <a:cs typeface="宋体"/>
              </a:rPr>
              <a:t>（</a:t>
            </a:r>
            <a:r>
              <a:rPr dirty="0" sz="2400" spc="-5">
                <a:latin typeface="Calibri"/>
                <a:cs typeface="Calibri"/>
              </a:rPr>
              <a:t>2</a:t>
            </a:r>
            <a:r>
              <a:rPr dirty="0" sz="2400" spc="-5">
                <a:latin typeface="宋体"/>
                <a:cs typeface="宋体"/>
              </a:rPr>
              <a:t>）保持会议的气氛</a:t>
            </a:r>
            <a:endParaRPr sz="2400">
              <a:latin typeface="宋体"/>
              <a:cs typeface="宋体"/>
            </a:endParaRPr>
          </a:p>
          <a:p>
            <a:pPr lvl="1" marL="756285" indent="-287020">
              <a:lnSpc>
                <a:spcPct val="100000"/>
              </a:lnSpc>
              <a:spcBef>
                <a:spcPts val="290"/>
              </a:spcBef>
              <a:buClr>
                <a:srgbClr val="C00000"/>
              </a:buClr>
              <a:buSzPct val="60416"/>
              <a:buFont typeface="Wingdings"/>
              <a:buChar char=""/>
              <a:tabLst>
                <a:tab pos="756285" algn="l"/>
                <a:tab pos="756920" algn="l"/>
              </a:tabLst>
            </a:pPr>
            <a:r>
              <a:rPr dirty="0" sz="2400" spc="-5">
                <a:latin typeface="宋体"/>
                <a:cs typeface="宋体"/>
              </a:rPr>
              <a:t>（</a:t>
            </a:r>
            <a:r>
              <a:rPr dirty="0" sz="2400" spc="-5">
                <a:latin typeface="Calibri"/>
                <a:cs typeface="Calibri"/>
              </a:rPr>
              <a:t>3</a:t>
            </a:r>
            <a:r>
              <a:rPr dirty="0" sz="2400" spc="-5">
                <a:latin typeface="宋体"/>
                <a:cs typeface="宋体"/>
              </a:rPr>
              <a:t>）</a:t>
            </a:r>
            <a:r>
              <a:rPr dirty="0" sz="2400">
                <a:latin typeface="宋体"/>
                <a:cs typeface="宋体"/>
              </a:rPr>
              <a:t>确保每个人都积极地参与讨论</a:t>
            </a:r>
            <a:endParaRPr sz="2400">
              <a:latin typeface="宋体"/>
              <a:cs typeface="宋体"/>
            </a:endParaRPr>
          </a:p>
          <a:p>
            <a:pPr lvl="1" marL="756285" indent="-287020">
              <a:lnSpc>
                <a:spcPct val="100000"/>
              </a:lnSpc>
              <a:spcBef>
                <a:spcPts val="290"/>
              </a:spcBef>
              <a:buClr>
                <a:srgbClr val="C00000"/>
              </a:buClr>
              <a:buSzPct val="60416"/>
              <a:buFont typeface="Wingdings"/>
              <a:buChar char=""/>
              <a:tabLst>
                <a:tab pos="756285" algn="l"/>
                <a:tab pos="756920" algn="l"/>
              </a:tabLst>
            </a:pPr>
            <a:r>
              <a:rPr dirty="0" sz="2400" spc="-5">
                <a:latin typeface="宋体"/>
                <a:cs typeface="宋体"/>
              </a:rPr>
              <a:t>（</a:t>
            </a:r>
            <a:r>
              <a:rPr dirty="0" sz="2400" spc="-5">
                <a:latin typeface="Calibri"/>
                <a:cs typeface="Calibri"/>
              </a:rPr>
              <a:t>4</a:t>
            </a:r>
            <a:r>
              <a:rPr dirty="0" sz="2400" spc="-5">
                <a:latin typeface="宋体"/>
                <a:cs typeface="宋体"/>
              </a:rPr>
              <a:t>）</a:t>
            </a:r>
            <a:r>
              <a:rPr dirty="0" sz="2400">
                <a:latin typeface="宋体"/>
                <a:cs typeface="宋体"/>
              </a:rPr>
              <a:t>控制会议的主题</a:t>
            </a:r>
            <a:endParaRPr sz="2400">
              <a:latin typeface="宋体"/>
              <a:cs typeface="宋体"/>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0914" y="204596"/>
            <a:ext cx="366331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4.5.2.</a:t>
            </a:r>
            <a:r>
              <a:rPr dirty="0" spc="-85">
                <a:latin typeface="Calibri"/>
                <a:cs typeface="Calibri"/>
              </a:rPr>
              <a:t> </a:t>
            </a:r>
            <a:r>
              <a:rPr dirty="0"/>
              <a:t>调查问卷</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415541"/>
            <a:ext cx="7873365" cy="4491355"/>
          </a:xfrm>
          <a:prstGeom prst="rect">
            <a:avLst/>
          </a:prstGeom>
        </p:spPr>
        <p:txBody>
          <a:bodyPr wrap="square" lIns="0" tIns="92075" rIns="0" bIns="0" rtlCol="0" vert="horz">
            <a:spAutoFit/>
          </a:bodyPr>
          <a:lstStyle/>
          <a:p>
            <a:pPr marL="355600" marR="189865" indent="-343535">
              <a:lnSpc>
                <a:spcPts val="3220"/>
              </a:lnSpc>
              <a:spcBef>
                <a:spcPts val="725"/>
              </a:spcBef>
              <a:buClr>
                <a:srgbClr val="00663B"/>
              </a:buClr>
              <a:buSzPct val="79687"/>
              <a:buFont typeface="Wingdings"/>
              <a:buChar char=""/>
              <a:tabLst>
                <a:tab pos="356235" algn="l"/>
              </a:tabLst>
            </a:pPr>
            <a:r>
              <a:rPr dirty="0" sz="3200">
                <a:latin typeface="宋体"/>
                <a:cs typeface="宋体"/>
              </a:rPr>
              <a:t>面谈方法以口头语言为</a:t>
            </a:r>
            <a:r>
              <a:rPr dirty="0" sz="3200" spc="-15">
                <a:latin typeface="宋体"/>
                <a:cs typeface="宋体"/>
              </a:rPr>
              <a:t>主</a:t>
            </a:r>
            <a:r>
              <a:rPr dirty="0" sz="3200">
                <a:latin typeface="宋体"/>
                <a:cs typeface="宋体"/>
              </a:rPr>
              <a:t>要的</a:t>
            </a:r>
            <a:r>
              <a:rPr dirty="0" sz="3200" spc="-15">
                <a:latin typeface="宋体"/>
                <a:cs typeface="宋体"/>
              </a:rPr>
              <a:t>交</a:t>
            </a:r>
            <a:r>
              <a:rPr dirty="0" sz="3200">
                <a:latin typeface="宋体"/>
                <a:cs typeface="宋体"/>
              </a:rPr>
              <a:t>流媒</a:t>
            </a:r>
            <a:r>
              <a:rPr dirty="0" sz="3200" spc="-15">
                <a:latin typeface="宋体"/>
                <a:cs typeface="宋体"/>
              </a:rPr>
              <a:t>介</a:t>
            </a:r>
            <a:r>
              <a:rPr dirty="0" sz="3200">
                <a:latin typeface="宋体"/>
                <a:cs typeface="宋体"/>
              </a:rPr>
              <a:t>， </a:t>
            </a:r>
            <a:r>
              <a:rPr dirty="0" sz="3200">
                <a:latin typeface="宋体"/>
                <a:cs typeface="宋体"/>
              </a:rPr>
              <a:t>而调查问卷以</a:t>
            </a:r>
            <a:r>
              <a:rPr dirty="0" sz="3200">
                <a:solidFill>
                  <a:srgbClr val="00A15F"/>
                </a:solidFill>
                <a:latin typeface="宋体"/>
                <a:cs typeface="宋体"/>
              </a:rPr>
              <a:t>文档为主</a:t>
            </a:r>
            <a:r>
              <a:rPr dirty="0" sz="3200" spc="-15">
                <a:solidFill>
                  <a:srgbClr val="00A15F"/>
                </a:solidFill>
                <a:latin typeface="宋体"/>
                <a:cs typeface="宋体"/>
              </a:rPr>
              <a:t>要</a:t>
            </a:r>
            <a:r>
              <a:rPr dirty="0" sz="3200">
                <a:solidFill>
                  <a:srgbClr val="00A15F"/>
                </a:solidFill>
                <a:latin typeface="宋体"/>
                <a:cs typeface="宋体"/>
              </a:rPr>
              <a:t>的交</a:t>
            </a:r>
            <a:r>
              <a:rPr dirty="0" sz="3200" spc="-15">
                <a:solidFill>
                  <a:srgbClr val="00A15F"/>
                </a:solidFill>
                <a:latin typeface="宋体"/>
                <a:cs typeface="宋体"/>
              </a:rPr>
              <a:t>流</a:t>
            </a:r>
            <a:r>
              <a:rPr dirty="0" sz="3200">
                <a:solidFill>
                  <a:srgbClr val="00A15F"/>
                </a:solidFill>
                <a:latin typeface="宋体"/>
                <a:cs typeface="宋体"/>
              </a:rPr>
              <a:t>媒介</a:t>
            </a:r>
            <a:endParaRPr sz="3200">
              <a:latin typeface="宋体"/>
              <a:cs typeface="宋体"/>
            </a:endParaRPr>
          </a:p>
          <a:p>
            <a:pPr marL="355600" indent="-343535">
              <a:lnSpc>
                <a:spcPct val="100000"/>
              </a:lnSpc>
              <a:spcBef>
                <a:spcPts val="375"/>
              </a:spcBef>
              <a:buClr>
                <a:srgbClr val="00663B"/>
              </a:buClr>
              <a:buSzPct val="79687"/>
              <a:buFont typeface="Wingdings"/>
              <a:buChar char=""/>
              <a:tabLst>
                <a:tab pos="356235" algn="l"/>
              </a:tabLst>
            </a:pPr>
            <a:r>
              <a:rPr dirty="0" sz="3200">
                <a:latin typeface="宋体"/>
                <a:cs typeface="宋体"/>
              </a:rPr>
              <a:t>适用调查问卷的情况</a:t>
            </a:r>
            <a:endParaRPr sz="3200">
              <a:latin typeface="宋体"/>
              <a:cs typeface="宋体"/>
            </a:endParaRPr>
          </a:p>
          <a:p>
            <a:pPr lvl="1" marL="756285" indent="-287020">
              <a:lnSpc>
                <a:spcPct val="100000"/>
              </a:lnSpc>
              <a:spcBef>
                <a:spcPts val="359"/>
              </a:spcBef>
              <a:buClr>
                <a:srgbClr val="C00000"/>
              </a:buClr>
              <a:buSzPct val="58928"/>
              <a:buFont typeface="Wingdings"/>
              <a:buChar char=""/>
              <a:tabLst>
                <a:tab pos="756285" algn="l"/>
                <a:tab pos="756920" algn="l"/>
              </a:tabLst>
            </a:pPr>
            <a:r>
              <a:rPr dirty="0" sz="2800" spc="-5">
                <a:latin typeface="宋体"/>
                <a:cs typeface="宋体"/>
              </a:rPr>
              <a:t>系统的涉众在地理上是分布的；</a:t>
            </a:r>
            <a:endParaRPr sz="2800">
              <a:latin typeface="宋体"/>
              <a:cs typeface="宋体"/>
            </a:endParaRPr>
          </a:p>
          <a:p>
            <a:pPr lvl="1" marL="756285" marR="5080" indent="-287020">
              <a:lnSpc>
                <a:spcPts val="2810"/>
              </a:lnSpc>
              <a:spcBef>
                <a:spcPts val="1100"/>
              </a:spcBef>
              <a:buClr>
                <a:srgbClr val="C00000"/>
              </a:buClr>
              <a:buSzPct val="58928"/>
              <a:buFont typeface="Wingdings"/>
              <a:buChar char=""/>
              <a:tabLst>
                <a:tab pos="756285" algn="l"/>
                <a:tab pos="756920" algn="l"/>
              </a:tabLst>
            </a:pPr>
            <a:r>
              <a:rPr dirty="0" sz="2800" spc="-5">
                <a:latin typeface="宋体"/>
                <a:cs typeface="宋体"/>
              </a:rPr>
              <a:t>系统的涉众数量众多，而且了解所</a:t>
            </a:r>
            <a:r>
              <a:rPr dirty="0" sz="2800">
                <a:latin typeface="宋体"/>
                <a:cs typeface="宋体"/>
              </a:rPr>
              <a:t>有</a:t>
            </a:r>
            <a:r>
              <a:rPr dirty="0" sz="2800" spc="-5">
                <a:latin typeface="宋体"/>
                <a:cs typeface="宋体"/>
              </a:rPr>
              <a:t>涉众</a:t>
            </a:r>
            <a:r>
              <a:rPr dirty="0" sz="2800">
                <a:latin typeface="宋体"/>
                <a:cs typeface="宋体"/>
              </a:rPr>
              <a:t>的</a:t>
            </a:r>
            <a:r>
              <a:rPr dirty="0" sz="2800" spc="-5">
                <a:latin typeface="宋体"/>
                <a:cs typeface="宋体"/>
              </a:rPr>
              <a:t>统 </a:t>
            </a:r>
            <a:r>
              <a:rPr dirty="0" sz="2800" spc="-10">
                <a:latin typeface="宋体"/>
                <a:cs typeface="宋体"/>
              </a:rPr>
              <a:t>计倾向是非常重要的；</a:t>
            </a:r>
            <a:endParaRPr sz="2800">
              <a:latin typeface="宋体"/>
              <a:cs typeface="宋体"/>
            </a:endParaRPr>
          </a:p>
          <a:p>
            <a:pPr lvl="1" marL="756285" marR="5080" indent="-287020">
              <a:lnSpc>
                <a:spcPts val="2810"/>
              </a:lnSpc>
              <a:spcBef>
                <a:spcPts val="1105"/>
              </a:spcBef>
              <a:buClr>
                <a:srgbClr val="C00000"/>
              </a:buClr>
              <a:buSzPct val="58928"/>
              <a:buFont typeface="Wingdings"/>
              <a:buChar char=""/>
              <a:tabLst>
                <a:tab pos="756285" algn="l"/>
                <a:tab pos="756920" algn="l"/>
              </a:tabLst>
            </a:pPr>
            <a:r>
              <a:rPr dirty="0" sz="2800" spc="-5">
                <a:latin typeface="宋体"/>
                <a:cs typeface="宋体"/>
              </a:rPr>
              <a:t>需要进行一项探索性的研究，并希</a:t>
            </a:r>
            <a:r>
              <a:rPr dirty="0" sz="2800">
                <a:latin typeface="宋体"/>
                <a:cs typeface="宋体"/>
              </a:rPr>
              <a:t>望</a:t>
            </a:r>
            <a:r>
              <a:rPr dirty="0" sz="2800" spc="-5">
                <a:latin typeface="宋体"/>
                <a:cs typeface="宋体"/>
              </a:rPr>
              <a:t>在确</a:t>
            </a:r>
            <a:r>
              <a:rPr dirty="0" sz="2800">
                <a:latin typeface="宋体"/>
                <a:cs typeface="宋体"/>
              </a:rPr>
              <a:t>定</a:t>
            </a:r>
            <a:r>
              <a:rPr dirty="0" sz="2800" spc="-5">
                <a:latin typeface="宋体"/>
                <a:cs typeface="宋体"/>
              </a:rPr>
              <a:t>具 </a:t>
            </a:r>
            <a:r>
              <a:rPr dirty="0" sz="2800" spc="-5">
                <a:latin typeface="宋体"/>
                <a:cs typeface="宋体"/>
              </a:rPr>
              <a:t>体方向之前了解当前的总体状况；</a:t>
            </a:r>
            <a:endParaRPr sz="2800">
              <a:latin typeface="宋体"/>
              <a:cs typeface="宋体"/>
            </a:endParaRPr>
          </a:p>
          <a:p>
            <a:pPr lvl="1" marL="756285" marR="5080" indent="-287020">
              <a:lnSpc>
                <a:spcPts val="2810"/>
              </a:lnSpc>
              <a:spcBef>
                <a:spcPts val="1100"/>
              </a:spcBef>
              <a:buClr>
                <a:srgbClr val="C00000"/>
              </a:buClr>
              <a:buSzPct val="58928"/>
              <a:buFont typeface="Wingdings"/>
              <a:buChar char=""/>
              <a:tabLst>
                <a:tab pos="756285" algn="l"/>
                <a:tab pos="756920" algn="l"/>
              </a:tabLst>
            </a:pPr>
            <a:r>
              <a:rPr dirty="0" sz="2800" spc="-5">
                <a:latin typeface="宋体"/>
                <a:cs typeface="宋体"/>
              </a:rPr>
              <a:t>为后续的面谈标识问题和主题，建</a:t>
            </a:r>
            <a:r>
              <a:rPr dirty="0" sz="2800">
                <a:latin typeface="宋体"/>
                <a:cs typeface="宋体"/>
              </a:rPr>
              <a:t>立</a:t>
            </a:r>
            <a:r>
              <a:rPr dirty="0" sz="2800" spc="-5">
                <a:latin typeface="宋体"/>
                <a:cs typeface="宋体"/>
              </a:rPr>
              <a:t>一个</a:t>
            </a:r>
            <a:r>
              <a:rPr dirty="0" sz="2800">
                <a:latin typeface="宋体"/>
                <a:cs typeface="宋体"/>
              </a:rPr>
              <a:t>开</a:t>
            </a:r>
            <a:r>
              <a:rPr dirty="0" sz="2800" spc="-5">
                <a:latin typeface="宋体"/>
                <a:cs typeface="宋体"/>
              </a:rPr>
              <a:t>展 </a:t>
            </a:r>
            <a:r>
              <a:rPr dirty="0" sz="2800" spc="-10">
                <a:latin typeface="宋体"/>
                <a:cs typeface="宋体"/>
              </a:rPr>
              <a:t>工作的基础框架。</a:t>
            </a:r>
            <a:endParaRPr sz="2800">
              <a:latin typeface="宋体"/>
              <a:cs typeface="宋体"/>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8554" y="63754"/>
            <a:ext cx="4164965" cy="1244600"/>
          </a:xfrm>
          <a:prstGeom prst="rect"/>
        </p:spPr>
        <p:txBody>
          <a:bodyPr wrap="square" lIns="0" tIns="12065" rIns="0" bIns="0" rtlCol="0" vert="horz">
            <a:spAutoFit/>
          </a:bodyPr>
          <a:lstStyle/>
          <a:p>
            <a:pPr marL="12700">
              <a:lnSpc>
                <a:spcPct val="100000"/>
              </a:lnSpc>
              <a:spcBef>
                <a:spcPts val="95"/>
              </a:spcBef>
            </a:pPr>
            <a:r>
              <a:rPr dirty="0" sz="4000" spc="-5">
                <a:latin typeface="Calibri"/>
                <a:cs typeface="Calibri"/>
              </a:rPr>
              <a:t>4.5.2.</a:t>
            </a:r>
            <a:r>
              <a:rPr dirty="0" sz="4000" spc="-20">
                <a:latin typeface="Calibri"/>
                <a:cs typeface="Calibri"/>
              </a:rPr>
              <a:t> </a:t>
            </a:r>
            <a:r>
              <a:rPr dirty="0" sz="4000" spc="-5"/>
              <a:t>调查问卷</a:t>
            </a:r>
            <a:endParaRPr sz="4000">
              <a:latin typeface="Calibri"/>
              <a:cs typeface="Calibri"/>
            </a:endParaRPr>
          </a:p>
          <a:p>
            <a:pPr marL="90170">
              <a:lnSpc>
                <a:spcPct val="100000"/>
              </a:lnSpc>
            </a:pPr>
            <a:r>
              <a:rPr dirty="0" sz="4000" spc="-10">
                <a:latin typeface="Arial"/>
                <a:cs typeface="Arial"/>
              </a:rPr>
              <a:t>——</a:t>
            </a:r>
            <a:r>
              <a:rPr dirty="0" sz="4000" spc="-5"/>
              <a:t>格式设计要点</a:t>
            </a:r>
            <a:endParaRPr sz="40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17562"/>
            <a:ext cx="6469380" cy="2953385"/>
          </a:xfrm>
          <a:prstGeom prst="rect">
            <a:avLst/>
          </a:prstGeom>
        </p:spPr>
        <p:txBody>
          <a:bodyPr wrap="square" lIns="0" tIns="110489" rIns="0" bIns="0" rtlCol="0" vert="horz">
            <a:spAutoFit/>
          </a:bodyPr>
          <a:lstStyle/>
          <a:p>
            <a:pPr marL="355600" indent="-343535">
              <a:lnSpc>
                <a:spcPct val="100000"/>
              </a:lnSpc>
              <a:spcBef>
                <a:spcPts val="869"/>
              </a:spcBef>
              <a:buClr>
                <a:srgbClr val="00663B"/>
              </a:buClr>
              <a:buSzPct val="79687"/>
              <a:buFont typeface="Wingdings"/>
              <a:buChar char=""/>
              <a:tabLst>
                <a:tab pos="356235" algn="l"/>
              </a:tabLst>
            </a:pPr>
            <a:r>
              <a:rPr dirty="0" sz="3200">
                <a:latin typeface="宋体"/>
                <a:cs typeface="宋体"/>
              </a:rPr>
              <a:t>提供足够的空白空间</a:t>
            </a:r>
            <a:endParaRPr sz="3200">
              <a:latin typeface="宋体"/>
              <a:cs typeface="宋体"/>
            </a:endParaRPr>
          </a:p>
          <a:p>
            <a:pPr marL="355600" indent="-343535">
              <a:lnSpc>
                <a:spcPct val="100000"/>
              </a:lnSpc>
              <a:spcBef>
                <a:spcPts val="770"/>
              </a:spcBef>
              <a:buClr>
                <a:srgbClr val="00663B"/>
              </a:buClr>
              <a:buSzPct val="79687"/>
              <a:buFont typeface="Wingdings"/>
              <a:buChar char=""/>
              <a:tabLst>
                <a:tab pos="356235" algn="l"/>
              </a:tabLst>
            </a:pPr>
            <a:r>
              <a:rPr dirty="0" sz="3200">
                <a:latin typeface="宋体"/>
                <a:cs typeface="宋体"/>
              </a:rPr>
              <a:t>提供足够的答复空间</a:t>
            </a:r>
            <a:endParaRPr sz="3200">
              <a:latin typeface="宋体"/>
              <a:cs typeface="宋体"/>
            </a:endParaRPr>
          </a:p>
          <a:p>
            <a:pPr marL="355600" indent="-343535">
              <a:lnSpc>
                <a:spcPct val="100000"/>
              </a:lnSpc>
              <a:spcBef>
                <a:spcPts val="770"/>
              </a:spcBef>
              <a:buClr>
                <a:srgbClr val="00663B"/>
              </a:buClr>
              <a:buSzPct val="79687"/>
              <a:buFont typeface="Wingdings"/>
              <a:buChar char=""/>
              <a:tabLst>
                <a:tab pos="356235" algn="l"/>
              </a:tabLst>
            </a:pPr>
            <a:r>
              <a:rPr dirty="0" sz="3200">
                <a:latin typeface="宋体"/>
                <a:cs typeface="宋体"/>
              </a:rPr>
              <a:t>要求回答者清楚地标出</a:t>
            </a:r>
            <a:r>
              <a:rPr dirty="0" sz="3200" spc="-15">
                <a:latin typeface="宋体"/>
                <a:cs typeface="宋体"/>
              </a:rPr>
              <a:t>他</a:t>
            </a:r>
            <a:r>
              <a:rPr dirty="0" sz="3200">
                <a:latin typeface="宋体"/>
                <a:cs typeface="宋体"/>
              </a:rPr>
              <a:t>们的</a:t>
            </a:r>
            <a:r>
              <a:rPr dirty="0" sz="3200" spc="-15">
                <a:latin typeface="宋体"/>
                <a:cs typeface="宋体"/>
              </a:rPr>
              <a:t>答</a:t>
            </a:r>
            <a:r>
              <a:rPr dirty="0" sz="3200" spc="5">
                <a:latin typeface="宋体"/>
                <a:cs typeface="宋体"/>
              </a:rPr>
              <a:t>复</a:t>
            </a:r>
            <a:endParaRPr sz="3200">
              <a:latin typeface="宋体"/>
              <a:cs typeface="宋体"/>
            </a:endParaRPr>
          </a:p>
          <a:p>
            <a:pPr marL="355600" indent="-343535">
              <a:lnSpc>
                <a:spcPct val="100000"/>
              </a:lnSpc>
              <a:spcBef>
                <a:spcPts val="770"/>
              </a:spcBef>
              <a:buClr>
                <a:srgbClr val="00663B"/>
              </a:buClr>
              <a:buSzPct val="79687"/>
              <a:buFont typeface="Wingdings"/>
              <a:buChar char=""/>
              <a:tabLst>
                <a:tab pos="356235" algn="l"/>
              </a:tabLst>
            </a:pPr>
            <a:r>
              <a:rPr dirty="0" sz="3200">
                <a:latin typeface="宋体"/>
                <a:cs typeface="宋体"/>
              </a:rPr>
              <a:t>使用目标帮助确定格式</a:t>
            </a:r>
            <a:endParaRPr sz="3200">
              <a:latin typeface="宋体"/>
              <a:cs typeface="宋体"/>
            </a:endParaRPr>
          </a:p>
          <a:p>
            <a:pPr marL="355600" indent="-343535">
              <a:lnSpc>
                <a:spcPct val="100000"/>
              </a:lnSpc>
              <a:spcBef>
                <a:spcPts val="770"/>
              </a:spcBef>
              <a:buClr>
                <a:srgbClr val="00663B"/>
              </a:buClr>
              <a:buSzPct val="79687"/>
              <a:buFont typeface="Wingdings"/>
              <a:buChar char=""/>
              <a:tabLst>
                <a:tab pos="356235" algn="l"/>
              </a:tabLst>
            </a:pPr>
            <a:r>
              <a:rPr dirty="0" sz="3200">
                <a:latin typeface="宋体"/>
                <a:cs typeface="宋体"/>
              </a:rPr>
              <a:t>保持风格一致</a:t>
            </a:r>
            <a:endParaRPr sz="3200">
              <a:latin typeface="宋体"/>
              <a:cs typeface="宋体"/>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88157" y="95757"/>
            <a:ext cx="4483735" cy="1184910"/>
          </a:xfrm>
          <a:prstGeom prst="rect"/>
        </p:spPr>
        <p:txBody>
          <a:bodyPr wrap="square" lIns="0" tIns="12700" rIns="0" bIns="0" rtlCol="0" vert="horz">
            <a:spAutoFit/>
          </a:bodyPr>
          <a:lstStyle/>
          <a:p>
            <a:pPr marL="212090">
              <a:lnSpc>
                <a:spcPct val="100000"/>
              </a:lnSpc>
              <a:spcBef>
                <a:spcPts val="100"/>
              </a:spcBef>
            </a:pPr>
            <a:r>
              <a:rPr dirty="0" sz="3800">
                <a:latin typeface="Calibri"/>
                <a:cs typeface="Calibri"/>
              </a:rPr>
              <a:t>4.5.2.</a:t>
            </a:r>
            <a:r>
              <a:rPr dirty="0" sz="3800" spc="-15">
                <a:latin typeface="Calibri"/>
                <a:cs typeface="Calibri"/>
              </a:rPr>
              <a:t> </a:t>
            </a:r>
            <a:r>
              <a:rPr dirty="0" sz="3800"/>
              <a:t>调查问卷</a:t>
            </a:r>
            <a:endParaRPr sz="3800">
              <a:latin typeface="Calibri"/>
              <a:cs typeface="Calibri"/>
            </a:endParaRPr>
          </a:p>
          <a:p>
            <a:pPr marL="12700">
              <a:lnSpc>
                <a:spcPct val="100000"/>
              </a:lnSpc>
              <a:spcBef>
                <a:spcPts val="5"/>
              </a:spcBef>
            </a:pPr>
            <a:r>
              <a:rPr dirty="0" sz="3800">
                <a:latin typeface="Arial"/>
                <a:cs typeface="Arial"/>
              </a:rPr>
              <a:t>——</a:t>
            </a:r>
            <a:r>
              <a:rPr dirty="0" sz="3800" spc="-285">
                <a:latin typeface="Arial"/>
                <a:cs typeface="Arial"/>
              </a:rPr>
              <a:t> </a:t>
            </a:r>
            <a:r>
              <a:rPr dirty="0" sz="3800" spc="5"/>
              <a:t>问题的设置顺序</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854809"/>
            <a:ext cx="7688580" cy="2854325"/>
          </a:xfrm>
          <a:prstGeom prst="rect">
            <a:avLst/>
          </a:prstGeom>
        </p:spPr>
        <p:txBody>
          <a:bodyPr wrap="square" lIns="0" tIns="109855" rIns="0" bIns="0" rtlCol="0" vert="horz">
            <a:spAutoFit/>
          </a:bodyPr>
          <a:lstStyle/>
          <a:p>
            <a:pPr marL="355600" indent="-343535">
              <a:lnSpc>
                <a:spcPct val="100000"/>
              </a:lnSpc>
              <a:spcBef>
                <a:spcPts val="865"/>
              </a:spcBef>
              <a:buClr>
                <a:srgbClr val="00663B"/>
              </a:buClr>
              <a:buSzPct val="79687"/>
              <a:buFont typeface="Wingdings"/>
              <a:buChar char=""/>
              <a:tabLst>
                <a:tab pos="356235" algn="l"/>
              </a:tabLst>
            </a:pPr>
            <a:r>
              <a:rPr dirty="0" sz="3200">
                <a:latin typeface="宋体"/>
                <a:cs typeface="宋体"/>
              </a:rPr>
              <a:t>重要问题优先</a:t>
            </a:r>
            <a:endParaRPr sz="3200">
              <a:latin typeface="宋体"/>
              <a:cs typeface="宋体"/>
            </a:endParaRPr>
          </a:p>
          <a:p>
            <a:pPr marL="355600" indent="-343535">
              <a:lnSpc>
                <a:spcPct val="100000"/>
              </a:lnSpc>
              <a:spcBef>
                <a:spcPts val="770"/>
              </a:spcBef>
              <a:buClr>
                <a:srgbClr val="00663B"/>
              </a:buClr>
              <a:buSzPct val="79687"/>
              <a:buFont typeface="Wingdings"/>
              <a:buChar char=""/>
              <a:tabLst>
                <a:tab pos="356235" algn="l"/>
              </a:tabLst>
            </a:pPr>
            <a:r>
              <a:rPr dirty="0" sz="3200">
                <a:latin typeface="宋体"/>
                <a:cs typeface="宋体"/>
              </a:rPr>
              <a:t>相似的主题应该聚集在</a:t>
            </a:r>
            <a:r>
              <a:rPr dirty="0" sz="3200" spc="-15">
                <a:latin typeface="宋体"/>
                <a:cs typeface="宋体"/>
              </a:rPr>
              <a:t>一</a:t>
            </a:r>
            <a:r>
              <a:rPr dirty="0" sz="3200">
                <a:latin typeface="宋体"/>
                <a:cs typeface="宋体"/>
              </a:rPr>
              <a:t>起</a:t>
            </a:r>
            <a:endParaRPr sz="3200">
              <a:latin typeface="宋体"/>
              <a:cs typeface="宋体"/>
            </a:endParaRPr>
          </a:p>
          <a:p>
            <a:pPr marL="355600" indent="-343535">
              <a:lnSpc>
                <a:spcPct val="100000"/>
              </a:lnSpc>
              <a:spcBef>
                <a:spcPts val="765"/>
              </a:spcBef>
              <a:buClr>
                <a:srgbClr val="00663B"/>
              </a:buClr>
              <a:buSzPct val="79687"/>
              <a:buFont typeface="Wingdings"/>
              <a:buChar char=""/>
              <a:tabLst>
                <a:tab pos="356235" algn="l"/>
              </a:tabLst>
            </a:pPr>
            <a:r>
              <a:rPr dirty="0" sz="3200">
                <a:latin typeface="宋体"/>
                <a:cs typeface="宋体"/>
              </a:rPr>
              <a:t>考虑问题之间的关联性</a:t>
            </a:r>
            <a:endParaRPr sz="3200">
              <a:latin typeface="宋体"/>
              <a:cs typeface="宋体"/>
            </a:endParaRPr>
          </a:p>
          <a:p>
            <a:pPr marL="355600" marR="5080" indent="-343535">
              <a:lnSpc>
                <a:spcPts val="3600"/>
              </a:lnSpc>
              <a:spcBef>
                <a:spcPts val="1330"/>
              </a:spcBef>
              <a:buClr>
                <a:srgbClr val="00663B"/>
              </a:buClr>
              <a:buSzPct val="79687"/>
              <a:buFont typeface="Wingdings"/>
              <a:buChar char=""/>
              <a:tabLst>
                <a:tab pos="356235" algn="l"/>
              </a:tabLst>
            </a:pPr>
            <a:r>
              <a:rPr dirty="0" sz="3200">
                <a:latin typeface="宋体"/>
                <a:cs typeface="宋体"/>
              </a:rPr>
              <a:t>争议性问题应该位于相</a:t>
            </a:r>
            <a:r>
              <a:rPr dirty="0" sz="3200" spc="-15">
                <a:latin typeface="宋体"/>
                <a:cs typeface="宋体"/>
              </a:rPr>
              <a:t>应</a:t>
            </a:r>
            <a:r>
              <a:rPr dirty="0" sz="3200">
                <a:latin typeface="宋体"/>
                <a:cs typeface="宋体"/>
              </a:rPr>
              <a:t>的非</a:t>
            </a:r>
            <a:r>
              <a:rPr dirty="0" sz="3200" spc="-15">
                <a:latin typeface="宋体"/>
                <a:cs typeface="宋体"/>
              </a:rPr>
              <a:t>争</a:t>
            </a:r>
            <a:r>
              <a:rPr dirty="0" sz="3200">
                <a:latin typeface="宋体"/>
                <a:cs typeface="宋体"/>
              </a:rPr>
              <a:t>议问</a:t>
            </a:r>
            <a:r>
              <a:rPr dirty="0" sz="3200" spc="-15">
                <a:latin typeface="宋体"/>
                <a:cs typeface="宋体"/>
              </a:rPr>
              <a:t>题</a:t>
            </a:r>
            <a:r>
              <a:rPr dirty="0" sz="3200">
                <a:latin typeface="宋体"/>
                <a:cs typeface="宋体"/>
              </a:rPr>
              <a:t>之 </a:t>
            </a:r>
            <a:r>
              <a:rPr dirty="0" sz="3200">
                <a:latin typeface="宋体"/>
                <a:cs typeface="宋体"/>
              </a:rPr>
              <a:t>后</a:t>
            </a:r>
            <a:endParaRPr sz="3200">
              <a:latin typeface="宋体"/>
              <a:cs typeface="宋体"/>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0914" y="201295"/>
            <a:ext cx="3663315" cy="696595"/>
          </a:xfrm>
          <a:prstGeom prst="rect"/>
        </p:spPr>
        <p:txBody>
          <a:bodyPr wrap="square" lIns="0" tIns="12700" rIns="0" bIns="0" rtlCol="0" vert="horz">
            <a:spAutoFit/>
          </a:bodyPr>
          <a:lstStyle/>
          <a:p>
            <a:pPr marL="12700">
              <a:lnSpc>
                <a:spcPct val="100000"/>
              </a:lnSpc>
              <a:spcBef>
                <a:spcPts val="100"/>
              </a:spcBef>
            </a:pPr>
            <a:r>
              <a:rPr dirty="0">
                <a:latin typeface="Calibri"/>
                <a:cs typeface="Calibri"/>
              </a:rPr>
              <a:t>4.5.3.</a:t>
            </a:r>
            <a:r>
              <a:rPr dirty="0" spc="-85">
                <a:latin typeface="Calibri"/>
                <a:cs typeface="Calibri"/>
              </a:rPr>
              <a:t> </a:t>
            </a:r>
            <a:r>
              <a:rPr dirty="0"/>
              <a:t>头脑风暴</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42313"/>
            <a:ext cx="7988934" cy="4248785"/>
          </a:xfrm>
          <a:prstGeom prst="rect">
            <a:avLst/>
          </a:prstGeom>
        </p:spPr>
        <p:txBody>
          <a:bodyPr wrap="square" lIns="0" tIns="12700" rIns="0" bIns="0" rtlCol="0" vert="horz">
            <a:spAutoFit/>
          </a:bodyPr>
          <a:lstStyle/>
          <a:p>
            <a:pPr marL="355600" indent="-343535">
              <a:lnSpc>
                <a:spcPts val="2790"/>
              </a:lnSpc>
              <a:spcBef>
                <a:spcPts val="100"/>
              </a:spcBef>
              <a:buClr>
                <a:srgbClr val="00663B"/>
              </a:buClr>
              <a:buSzPct val="79166"/>
              <a:buFont typeface="Wingdings"/>
              <a:buChar char=""/>
              <a:tabLst>
                <a:tab pos="355600" algn="l"/>
                <a:tab pos="356235" algn="l"/>
              </a:tabLst>
            </a:pPr>
            <a:r>
              <a:rPr dirty="0" sz="2400" spc="-5">
                <a:latin typeface="宋体"/>
                <a:cs typeface="宋体"/>
              </a:rPr>
              <a:t>它的目的不是发现需求，而是“发明”需求，或者说是发</a:t>
            </a:r>
            <a:endParaRPr sz="2400">
              <a:latin typeface="宋体"/>
              <a:cs typeface="宋体"/>
            </a:endParaRPr>
          </a:p>
          <a:p>
            <a:pPr marL="355600">
              <a:lnSpc>
                <a:spcPts val="2790"/>
              </a:lnSpc>
            </a:pPr>
            <a:r>
              <a:rPr dirty="0" sz="2400">
                <a:latin typeface="宋体"/>
                <a:cs typeface="宋体"/>
              </a:rPr>
              <a:t>现“潜在”需求</a:t>
            </a:r>
            <a:endParaRPr sz="2400">
              <a:latin typeface="宋体"/>
              <a:cs typeface="宋体"/>
            </a:endParaRPr>
          </a:p>
          <a:p>
            <a:pPr marL="355600" marR="5080" indent="-343535">
              <a:lnSpc>
                <a:spcPts val="2700"/>
              </a:lnSpc>
              <a:spcBef>
                <a:spcPts val="994"/>
              </a:spcBef>
              <a:buClr>
                <a:srgbClr val="00663B"/>
              </a:buClr>
              <a:buSzPct val="79166"/>
              <a:buFont typeface="Wingdings"/>
              <a:buChar char=""/>
              <a:tabLst>
                <a:tab pos="355600" algn="l"/>
                <a:tab pos="356235" algn="l"/>
              </a:tabLst>
            </a:pPr>
            <a:r>
              <a:rPr dirty="0" sz="2400">
                <a:latin typeface="宋体"/>
                <a:cs typeface="宋体"/>
              </a:rPr>
              <a:t>它鼓励参与者在无约束的环境下进行某些问题的自由思考 和自由讨论，以产生新的想法</a:t>
            </a:r>
            <a:endParaRPr sz="2400">
              <a:latin typeface="宋体"/>
              <a:cs typeface="宋体"/>
            </a:endParaRPr>
          </a:p>
          <a:p>
            <a:pPr marL="355600" indent="-343535">
              <a:lnSpc>
                <a:spcPct val="100000"/>
              </a:lnSpc>
              <a:spcBef>
                <a:spcPts val="520"/>
              </a:spcBef>
              <a:buClr>
                <a:srgbClr val="00663B"/>
              </a:buClr>
              <a:buSzPct val="79166"/>
              <a:buFont typeface="Wingdings"/>
              <a:buChar char=""/>
              <a:tabLst>
                <a:tab pos="355600" algn="l"/>
                <a:tab pos="356235" algn="l"/>
              </a:tabLst>
            </a:pPr>
            <a:r>
              <a:rPr dirty="0" sz="2400">
                <a:latin typeface="宋体"/>
                <a:cs typeface="宋体"/>
              </a:rPr>
              <a:t>适用情况</a:t>
            </a:r>
            <a:endParaRPr sz="2400">
              <a:latin typeface="宋体"/>
              <a:cs typeface="宋体"/>
            </a:endParaRPr>
          </a:p>
          <a:p>
            <a:pPr lvl="1" marL="756285" indent="-287020">
              <a:lnSpc>
                <a:spcPct val="100000"/>
              </a:lnSpc>
              <a:spcBef>
                <a:spcPts val="495"/>
              </a:spcBef>
              <a:buClr>
                <a:srgbClr val="C00000"/>
              </a:buClr>
              <a:buSzPct val="60000"/>
              <a:buFont typeface="Wingdings"/>
              <a:buChar char=""/>
              <a:tabLst>
                <a:tab pos="756285" algn="l"/>
                <a:tab pos="756920" algn="l"/>
              </a:tabLst>
            </a:pPr>
            <a:r>
              <a:rPr dirty="0" sz="2000">
                <a:latin typeface="宋体"/>
                <a:cs typeface="宋体"/>
              </a:rPr>
              <a:t>发明并描述以前不存在</a:t>
            </a:r>
            <a:r>
              <a:rPr dirty="0" sz="2000" spc="-15">
                <a:latin typeface="宋体"/>
                <a:cs typeface="宋体"/>
              </a:rPr>
              <a:t>的</a:t>
            </a:r>
            <a:r>
              <a:rPr dirty="0" sz="2000">
                <a:latin typeface="宋体"/>
                <a:cs typeface="宋体"/>
              </a:rPr>
              <a:t>全新</a:t>
            </a:r>
            <a:r>
              <a:rPr dirty="0" sz="2000" spc="-15">
                <a:latin typeface="宋体"/>
                <a:cs typeface="宋体"/>
              </a:rPr>
              <a:t>的</a:t>
            </a:r>
            <a:r>
              <a:rPr dirty="0" sz="2000">
                <a:latin typeface="宋体"/>
                <a:cs typeface="宋体"/>
              </a:rPr>
              <a:t>业务</a:t>
            </a:r>
            <a:r>
              <a:rPr dirty="0" sz="2000" spc="-15">
                <a:latin typeface="宋体"/>
                <a:cs typeface="宋体"/>
              </a:rPr>
              <a:t>功</a:t>
            </a:r>
            <a:r>
              <a:rPr dirty="0" sz="2000">
                <a:latin typeface="宋体"/>
                <a:cs typeface="宋体"/>
              </a:rPr>
              <a:t>能</a:t>
            </a:r>
            <a:endParaRPr sz="2000">
              <a:latin typeface="宋体"/>
              <a:cs typeface="宋体"/>
            </a:endParaRPr>
          </a:p>
          <a:p>
            <a:pPr lvl="1" marL="756285" indent="-287020">
              <a:lnSpc>
                <a:spcPct val="100000"/>
              </a:lnSpc>
              <a:spcBef>
                <a:spcPts val="480"/>
              </a:spcBef>
              <a:buClr>
                <a:srgbClr val="C00000"/>
              </a:buClr>
              <a:buSzPct val="60000"/>
              <a:buFont typeface="Wingdings"/>
              <a:buChar char=""/>
              <a:tabLst>
                <a:tab pos="756285" algn="l"/>
                <a:tab pos="756920" algn="l"/>
              </a:tabLst>
            </a:pPr>
            <a:r>
              <a:rPr dirty="0" sz="2000">
                <a:latin typeface="宋体"/>
                <a:cs typeface="宋体"/>
              </a:rPr>
              <a:t>明确模糊的业务</a:t>
            </a:r>
            <a:endParaRPr sz="2000">
              <a:latin typeface="宋体"/>
              <a:cs typeface="宋体"/>
            </a:endParaRPr>
          </a:p>
          <a:p>
            <a:pPr lvl="1" marL="756285" indent="-287020">
              <a:lnSpc>
                <a:spcPct val="100000"/>
              </a:lnSpc>
              <a:spcBef>
                <a:spcPts val="480"/>
              </a:spcBef>
              <a:buClr>
                <a:srgbClr val="C00000"/>
              </a:buClr>
              <a:buSzPct val="60000"/>
              <a:buFont typeface="Wingdings"/>
              <a:buChar char=""/>
              <a:tabLst>
                <a:tab pos="756285" algn="l"/>
                <a:tab pos="756920" algn="l"/>
              </a:tabLst>
            </a:pPr>
            <a:r>
              <a:rPr dirty="0" sz="2000">
                <a:latin typeface="宋体"/>
                <a:cs typeface="宋体"/>
              </a:rPr>
              <a:t>在信息不充分的情况做</a:t>
            </a:r>
            <a:r>
              <a:rPr dirty="0" sz="2000" spc="-15">
                <a:latin typeface="宋体"/>
                <a:cs typeface="宋体"/>
              </a:rPr>
              <a:t>出</a:t>
            </a:r>
            <a:r>
              <a:rPr dirty="0" sz="2000">
                <a:latin typeface="宋体"/>
                <a:cs typeface="宋体"/>
              </a:rPr>
              <a:t>决策</a:t>
            </a:r>
            <a:endParaRPr sz="2000">
              <a:latin typeface="宋体"/>
              <a:cs typeface="宋体"/>
            </a:endParaRPr>
          </a:p>
          <a:p>
            <a:pPr marL="355600" indent="-343535">
              <a:lnSpc>
                <a:spcPct val="100000"/>
              </a:lnSpc>
              <a:spcBef>
                <a:spcPts val="565"/>
              </a:spcBef>
              <a:buClr>
                <a:srgbClr val="00663B"/>
              </a:buClr>
              <a:buSzPct val="79166"/>
              <a:buFont typeface="Wingdings"/>
              <a:buChar char=""/>
              <a:tabLst>
                <a:tab pos="355600" algn="l"/>
                <a:tab pos="356235" algn="l"/>
              </a:tabLst>
            </a:pPr>
            <a:r>
              <a:rPr dirty="0" sz="2400">
                <a:latin typeface="宋体"/>
                <a:cs typeface="宋体"/>
              </a:rPr>
              <a:t>包括两个阶段</a:t>
            </a:r>
            <a:endParaRPr sz="2400">
              <a:latin typeface="宋体"/>
              <a:cs typeface="宋体"/>
            </a:endParaRPr>
          </a:p>
          <a:p>
            <a:pPr lvl="1" marL="756285" indent="-287020">
              <a:lnSpc>
                <a:spcPct val="100000"/>
              </a:lnSpc>
              <a:spcBef>
                <a:spcPts val="495"/>
              </a:spcBef>
              <a:buClr>
                <a:srgbClr val="C00000"/>
              </a:buClr>
              <a:buSzPct val="60000"/>
              <a:buFont typeface="Wingdings"/>
              <a:buChar char=""/>
              <a:tabLst>
                <a:tab pos="756285" algn="l"/>
                <a:tab pos="756920" algn="l"/>
              </a:tabLst>
            </a:pPr>
            <a:r>
              <a:rPr dirty="0" sz="2000">
                <a:latin typeface="宋体"/>
                <a:cs typeface="宋体"/>
              </a:rPr>
              <a:t>想法产生阶段</a:t>
            </a:r>
            <a:endParaRPr sz="2000">
              <a:latin typeface="宋体"/>
              <a:cs typeface="宋体"/>
            </a:endParaRPr>
          </a:p>
          <a:p>
            <a:pPr lvl="1" marL="756285" indent="-287020">
              <a:lnSpc>
                <a:spcPct val="100000"/>
              </a:lnSpc>
              <a:spcBef>
                <a:spcPts val="480"/>
              </a:spcBef>
              <a:buClr>
                <a:srgbClr val="C00000"/>
              </a:buClr>
              <a:buSzPct val="60000"/>
              <a:buFont typeface="Wingdings"/>
              <a:buChar char=""/>
              <a:tabLst>
                <a:tab pos="756285" algn="l"/>
                <a:tab pos="756920" algn="l"/>
              </a:tabLst>
            </a:pPr>
            <a:r>
              <a:rPr dirty="0" sz="2000">
                <a:latin typeface="宋体"/>
                <a:cs typeface="宋体"/>
              </a:rPr>
              <a:t>想法精减阶段</a:t>
            </a:r>
            <a:endParaRPr sz="2000">
              <a:latin typeface="宋体"/>
              <a:cs typeface="宋体"/>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7801" y="95757"/>
            <a:ext cx="3988435"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4.5.3.</a:t>
            </a:r>
            <a:r>
              <a:rPr dirty="0" sz="3800" spc="-20">
                <a:latin typeface="Calibri"/>
                <a:cs typeface="Calibri"/>
              </a:rPr>
              <a:t> </a:t>
            </a:r>
            <a:r>
              <a:rPr dirty="0" sz="3800"/>
              <a:t>头脑风暴</a:t>
            </a:r>
            <a:endParaRPr sz="3800">
              <a:latin typeface="Calibri"/>
              <a:cs typeface="Calibri"/>
            </a:endParaRPr>
          </a:p>
          <a:p>
            <a:pPr marL="108585">
              <a:lnSpc>
                <a:spcPct val="100000"/>
              </a:lnSpc>
              <a:spcBef>
                <a:spcPts val="5"/>
              </a:spcBef>
            </a:pPr>
            <a:r>
              <a:rPr dirty="0" sz="3800">
                <a:latin typeface="Arial"/>
                <a:cs typeface="Arial"/>
              </a:rPr>
              <a:t>——</a:t>
            </a:r>
            <a:r>
              <a:rPr dirty="0" sz="3800" spc="5"/>
              <a:t>想法产生阶段</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386497"/>
            <a:ext cx="8025130" cy="3733800"/>
          </a:xfrm>
          <a:prstGeom prst="rect">
            <a:avLst/>
          </a:prstGeom>
        </p:spPr>
        <p:txBody>
          <a:bodyPr wrap="square" lIns="0" tIns="92075" rIns="0" bIns="0" rtlCol="0" vert="horz">
            <a:spAutoFit/>
          </a:bodyPr>
          <a:lstStyle/>
          <a:p>
            <a:pPr marL="355600" indent="-343535">
              <a:lnSpc>
                <a:spcPct val="100000"/>
              </a:lnSpc>
              <a:spcBef>
                <a:spcPts val="725"/>
              </a:spcBef>
              <a:buClr>
                <a:srgbClr val="00663B"/>
              </a:buClr>
              <a:buSzPct val="78846"/>
              <a:buFont typeface="Wingdings"/>
              <a:buChar char=""/>
              <a:tabLst>
                <a:tab pos="355600" algn="l"/>
                <a:tab pos="356235" algn="l"/>
              </a:tabLst>
            </a:pPr>
            <a:r>
              <a:rPr dirty="0" sz="2600">
                <a:latin typeface="宋体"/>
                <a:cs typeface="宋体"/>
              </a:rPr>
              <a:t>目的是产生出尽可能多</a:t>
            </a:r>
            <a:r>
              <a:rPr dirty="0" sz="2600" spc="-15">
                <a:latin typeface="宋体"/>
                <a:cs typeface="宋体"/>
              </a:rPr>
              <a:t>的</a:t>
            </a:r>
            <a:r>
              <a:rPr dirty="0" sz="2600">
                <a:latin typeface="宋体"/>
                <a:cs typeface="宋体"/>
              </a:rPr>
              <a:t>新的</a:t>
            </a:r>
            <a:r>
              <a:rPr dirty="0" sz="2600" spc="-15">
                <a:latin typeface="宋体"/>
                <a:cs typeface="宋体"/>
              </a:rPr>
              <a:t>想</a:t>
            </a:r>
            <a:r>
              <a:rPr dirty="0" sz="2600" spc="5">
                <a:latin typeface="宋体"/>
                <a:cs typeface="宋体"/>
              </a:rPr>
              <a:t>法</a:t>
            </a:r>
            <a:endParaRPr sz="2600">
              <a:latin typeface="宋体"/>
              <a:cs typeface="宋体"/>
            </a:endParaRPr>
          </a:p>
          <a:p>
            <a:pPr marL="355600" indent="-343535">
              <a:lnSpc>
                <a:spcPct val="100000"/>
              </a:lnSpc>
              <a:spcBef>
                <a:spcPts val="630"/>
              </a:spcBef>
              <a:buClr>
                <a:srgbClr val="00663B"/>
              </a:buClr>
              <a:buSzPct val="78846"/>
              <a:buFont typeface="Wingdings"/>
              <a:buChar char=""/>
              <a:tabLst>
                <a:tab pos="355600" algn="l"/>
                <a:tab pos="356235" algn="l"/>
              </a:tabLst>
            </a:pPr>
            <a:r>
              <a:rPr dirty="0" sz="2600">
                <a:latin typeface="宋体"/>
                <a:cs typeface="宋体"/>
              </a:rPr>
              <a:t>基本规则</a:t>
            </a:r>
            <a:endParaRPr sz="2600">
              <a:latin typeface="宋体"/>
              <a:cs typeface="宋体"/>
            </a:endParaRPr>
          </a:p>
          <a:p>
            <a:pPr lvl="1" marL="756285" indent="-287020">
              <a:lnSpc>
                <a:spcPct val="100000"/>
              </a:lnSpc>
              <a:spcBef>
                <a:spcPts val="545"/>
              </a:spcBef>
              <a:buClr>
                <a:srgbClr val="C00000"/>
              </a:buClr>
              <a:buSzPct val="59090"/>
              <a:buFont typeface="Wingdings"/>
              <a:buChar char=""/>
              <a:tabLst>
                <a:tab pos="756285" algn="l"/>
                <a:tab pos="756920" algn="l"/>
              </a:tabLst>
            </a:pPr>
            <a:r>
              <a:rPr dirty="0" sz="2200" spc="-5">
                <a:latin typeface="宋体"/>
                <a:cs typeface="宋体"/>
              </a:rPr>
              <a:t>充分发挥想像力，不要有任何的羁</a:t>
            </a:r>
            <a:r>
              <a:rPr dirty="0" sz="2200">
                <a:latin typeface="宋体"/>
                <a:cs typeface="宋体"/>
              </a:rPr>
              <a:t>绊</a:t>
            </a:r>
            <a:r>
              <a:rPr dirty="0" sz="2200" spc="-5">
                <a:latin typeface="宋体"/>
                <a:cs typeface="宋体"/>
              </a:rPr>
              <a:t>；</a:t>
            </a:r>
            <a:endParaRPr sz="2200">
              <a:latin typeface="宋体"/>
              <a:cs typeface="宋体"/>
            </a:endParaRPr>
          </a:p>
          <a:p>
            <a:pPr lvl="1" marL="756285" indent="-287020">
              <a:lnSpc>
                <a:spcPts val="2555"/>
              </a:lnSpc>
              <a:spcBef>
                <a:spcPts val="695"/>
              </a:spcBef>
              <a:buClr>
                <a:srgbClr val="C00000"/>
              </a:buClr>
              <a:buSzPct val="59090"/>
              <a:buFont typeface="Wingdings"/>
              <a:buChar char=""/>
              <a:tabLst>
                <a:tab pos="756285" algn="l"/>
                <a:tab pos="756920" algn="l"/>
              </a:tabLst>
            </a:pPr>
            <a:r>
              <a:rPr dirty="0" sz="2200" spc="-5">
                <a:latin typeface="宋体"/>
                <a:cs typeface="宋体"/>
              </a:rPr>
              <a:t>产生尽可能多的想法，想法重在数</a:t>
            </a:r>
            <a:r>
              <a:rPr dirty="0" sz="2200">
                <a:latin typeface="宋体"/>
                <a:cs typeface="宋体"/>
              </a:rPr>
              <a:t>量</a:t>
            </a:r>
            <a:r>
              <a:rPr dirty="0" sz="2200" spc="-5">
                <a:latin typeface="宋体"/>
                <a:cs typeface="宋体"/>
              </a:rPr>
              <a:t>而不</a:t>
            </a:r>
            <a:r>
              <a:rPr dirty="0" sz="2200">
                <a:latin typeface="宋体"/>
                <a:cs typeface="宋体"/>
              </a:rPr>
              <a:t>是</a:t>
            </a:r>
            <a:r>
              <a:rPr dirty="0" sz="2200" spc="-5">
                <a:latin typeface="宋体"/>
                <a:cs typeface="宋体"/>
              </a:rPr>
              <a:t>质量</a:t>
            </a:r>
            <a:r>
              <a:rPr dirty="0" sz="2200">
                <a:latin typeface="宋体"/>
                <a:cs typeface="宋体"/>
              </a:rPr>
              <a:t>，</a:t>
            </a:r>
            <a:r>
              <a:rPr dirty="0" sz="2200" spc="-5">
                <a:latin typeface="宋体"/>
                <a:cs typeface="宋体"/>
              </a:rPr>
              <a:t>不要</a:t>
            </a:r>
            <a:r>
              <a:rPr dirty="0" sz="2200">
                <a:latin typeface="宋体"/>
                <a:cs typeface="宋体"/>
              </a:rPr>
              <a:t>顾</a:t>
            </a:r>
            <a:r>
              <a:rPr dirty="0" sz="2200" spc="-5">
                <a:latin typeface="宋体"/>
                <a:cs typeface="宋体"/>
              </a:rPr>
              <a:t>及</a:t>
            </a:r>
            <a:endParaRPr sz="2200">
              <a:latin typeface="宋体"/>
              <a:cs typeface="宋体"/>
            </a:endParaRPr>
          </a:p>
          <a:p>
            <a:pPr marL="756285">
              <a:lnSpc>
                <a:spcPts val="2555"/>
              </a:lnSpc>
            </a:pPr>
            <a:r>
              <a:rPr dirty="0" sz="2200" spc="-10">
                <a:latin typeface="宋体"/>
                <a:cs typeface="宋体"/>
              </a:rPr>
              <a:t>想法是否荒诞；</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自由讨论，目的是产生新的想法，</a:t>
            </a:r>
            <a:r>
              <a:rPr dirty="0" sz="2200">
                <a:latin typeface="宋体"/>
                <a:cs typeface="宋体"/>
              </a:rPr>
              <a:t>不</a:t>
            </a:r>
            <a:r>
              <a:rPr dirty="0" sz="2200" spc="-5">
                <a:latin typeface="宋体"/>
                <a:cs typeface="宋体"/>
              </a:rPr>
              <a:t>要争</a:t>
            </a:r>
            <a:r>
              <a:rPr dirty="0" sz="2200">
                <a:latin typeface="宋体"/>
                <a:cs typeface="宋体"/>
              </a:rPr>
              <a:t>吵</a:t>
            </a:r>
            <a:r>
              <a:rPr dirty="0" sz="2200" spc="-5">
                <a:latin typeface="宋体"/>
                <a:cs typeface="宋体"/>
              </a:rPr>
              <a:t>和批</a:t>
            </a:r>
            <a:r>
              <a:rPr dirty="0" sz="2200">
                <a:latin typeface="宋体"/>
                <a:cs typeface="宋体"/>
              </a:rPr>
              <a:t>评</a:t>
            </a:r>
            <a:r>
              <a:rPr dirty="0" sz="2200" spc="-5">
                <a:latin typeface="宋体"/>
                <a:cs typeface="宋体"/>
              </a:rPr>
              <a:t>；</a:t>
            </a:r>
            <a:endParaRPr sz="2200">
              <a:latin typeface="宋体"/>
              <a:cs typeface="宋体"/>
            </a:endParaRPr>
          </a:p>
          <a:p>
            <a:pPr lvl="1" marL="756285" marR="5080" indent="-287020">
              <a:lnSpc>
                <a:spcPts val="2470"/>
              </a:lnSpc>
              <a:spcBef>
                <a:spcPts val="919"/>
              </a:spcBef>
              <a:buClr>
                <a:srgbClr val="C00000"/>
              </a:buClr>
              <a:buSzPct val="59090"/>
              <a:buFont typeface="Wingdings"/>
              <a:buChar char=""/>
              <a:tabLst>
                <a:tab pos="756285" algn="l"/>
                <a:tab pos="756920" algn="l"/>
              </a:tabLst>
            </a:pPr>
            <a:r>
              <a:rPr dirty="0" sz="2200" spc="-5">
                <a:latin typeface="宋体"/>
                <a:cs typeface="宋体"/>
              </a:rPr>
              <a:t>在自由讨论当中，可以转换和组合</a:t>
            </a:r>
            <a:r>
              <a:rPr dirty="0" sz="2200">
                <a:latin typeface="宋体"/>
                <a:cs typeface="宋体"/>
              </a:rPr>
              <a:t>所</a:t>
            </a:r>
            <a:r>
              <a:rPr dirty="0" sz="2200" spc="-5">
                <a:latin typeface="宋体"/>
                <a:cs typeface="宋体"/>
              </a:rPr>
              <a:t>有已</a:t>
            </a:r>
            <a:r>
              <a:rPr dirty="0" sz="2200">
                <a:latin typeface="宋体"/>
                <a:cs typeface="宋体"/>
              </a:rPr>
              <a:t>提</a:t>
            </a:r>
            <a:r>
              <a:rPr dirty="0" sz="2200" spc="-5">
                <a:latin typeface="宋体"/>
                <a:cs typeface="宋体"/>
              </a:rPr>
              <a:t>出的</a:t>
            </a:r>
            <a:r>
              <a:rPr dirty="0" sz="2200">
                <a:latin typeface="宋体"/>
                <a:cs typeface="宋体"/>
              </a:rPr>
              <a:t>想</a:t>
            </a:r>
            <a:r>
              <a:rPr dirty="0" sz="2200" spc="-5">
                <a:latin typeface="宋体"/>
                <a:cs typeface="宋体"/>
              </a:rPr>
              <a:t>法，</a:t>
            </a:r>
            <a:r>
              <a:rPr dirty="0" sz="2200">
                <a:latin typeface="宋体"/>
                <a:cs typeface="宋体"/>
              </a:rPr>
              <a:t>以</a:t>
            </a:r>
            <a:r>
              <a:rPr dirty="0" sz="2200" spc="-5">
                <a:latin typeface="宋体"/>
                <a:cs typeface="宋体"/>
              </a:rPr>
              <a:t>产 </a:t>
            </a:r>
            <a:r>
              <a:rPr dirty="0" sz="2200" spc="-5">
                <a:latin typeface="宋体"/>
                <a:cs typeface="宋体"/>
              </a:rPr>
              <a:t>生新的想法</a:t>
            </a:r>
            <a:endParaRPr sz="2200">
              <a:latin typeface="宋体"/>
              <a:cs typeface="宋体"/>
            </a:endParaRPr>
          </a:p>
          <a:p>
            <a:pPr marL="355600" indent="-343535">
              <a:lnSpc>
                <a:spcPct val="100000"/>
              </a:lnSpc>
              <a:spcBef>
                <a:spcPts val="560"/>
              </a:spcBef>
              <a:buClr>
                <a:srgbClr val="00663B"/>
              </a:buClr>
              <a:buSzPct val="78846"/>
              <a:buFont typeface="Wingdings"/>
              <a:buChar char=""/>
              <a:tabLst>
                <a:tab pos="355600" algn="l"/>
                <a:tab pos="356235" algn="l"/>
              </a:tabLst>
            </a:pPr>
            <a:r>
              <a:rPr dirty="0" sz="2600">
                <a:latin typeface="宋体"/>
                <a:cs typeface="宋体"/>
              </a:rPr>
              <a:t>通常持</a:t>
            </a:r>
            <a:r>
              <a:rPr dirty="0" sz="2600" spc="-5">
                <a:latin typeface="宋体"/>
                <a:cs typeface="宋体"/>
              </a:rPr>
              <a:t>续</a:t>
            </a:r>
            <a:r>
              <a:rPr dirty="0" sz="2600">
                <a:latin typeface="Calibri"/>
                <a:cs typeface="Calibri"/>
              </a:rPr>
              <a:t>1</a:t>
            </a:r>
            <a:r>
              <a:rPr dirty="0" sz="2600">
                <a:latin typeface="宋体"/>
                <a:cs typeface="宋体"/>
              </a:rPr>
              <a:t>个小时</a:t>
            </a:r>
            <a:r>
              <a:rPr dirty="0" sz="2600" spc="5">
                <a:latin typeface="宋体"/>
                <a:cs typeface="宋体"/>
              </a:rPr>
              <a:t>左</a:t>
            </a:r>
            <a:r>
              <a:rPr dirty="0" sz="2600" spc="-15">
                <a:latin typeface="宋体"/>
                <a:cs typeface="宋体"/>
              </a:rPr>
              <a:t>右</a:t>
            </a:r>
            <a:r>
              <a:rPr dirty="0" sz="2600">
                <a:latin typeface="宋体"/>
                <a:cs typeface="宋体"/>
              </a:rPr>
              <a:t>，特殊情况</a:t>
            </a:r>
            <a:r>
              <a:rPr dirty="0" sz="2600" spc="-15">
                <a:latin typeface="宋体"/>
                <a:cs typeface="宋体"/>
              </a:rPr>
              <a:t>下</a:t>
            </a:r>
            <a:r>
              <a:rPr dirty="0" sz="2600">
                <a:latin typeface="宋体"/>
                <a:cs typeface="宋体"/>
              </a:rPr>
              <a:t>持</a:t>
            </a:r>
            <a:r>
              <a:rPr dirty="0" sz="2600" spc="-15">
                <a:latin typeface="宋体"/>
                <a:cs typeface="宋体"/>
              </a:rPr>
              <a:t>续</a:t>
            </a:r>
            <a:r>
              <a:rPr dirty="0" sz="2600" spc="-10">
                <a:latin typeface="Calibri"/>
                <a:cs typeface="Calibri"/>
              </a:rPr>
              <a:t>2</a:t>
            </a:r>
            <a:r>
              <a:rPr dirty="0" sz="2600" spc="-10">
                <a:latin typeface="宋体"/>
                <a:cs typeface="宋体"/>
              </a:rPr>
              <a:t>～</a:t>
            </a:r>
            <a:r>
              <a:rPr dirty="0" sz="2600" spc="-10">
                <a:latin typeface="Calibri"/>
                <a:cs typeface="Calibri"/>
              </a:rPr>
              <a:t>3</a:t>
            </a:r>
            <a:r>
              <a:rPr dirty="0" sz="2600">
                <a:latin typeface="宋体"/>
                <a:cs typeface="宋体"/>
              </a:rPr>
              <a:t>个</a:t>
            </a:r>
            <a:r>
              <a:rPr dirty="0" sz="2600" spc="-15">
                <a:latin typeface="宋体"/>
                <a:cs typeface="宋体"/>
              </a:rPr>
              <a:t>小</a:t>
            </a:r>
            <a:r>
              <a:rPr dirty="0" sz="2600">
                <a:latin typeface="宋体"/>
                <a:cs typeface="宋体"/>
              </a:rPr>
              <a:t>时</a:t>
            </a:r>
            <a:endParaRPr sz="2600">
              <a:latin typeface="宋体"/>
              <a:cs typeface="宋体"/>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7801" y="95757"/>
            <a:ext cx="3988435" cy="1184910"/>
          </a:xfrm>
          <a:prstGeom prst="rect"/>
        </p:spPr>
        <p:txBody>
          <a:bodyPr wrap="square" lIns="0" tIns="12700" rIns="0" bIns="0" rtlCol="0" vert="horz">
            <a:spAutoFit/>
          </a:bodyPr>
          <a:lstStyle/>
          <a:p>
            <a:pPr marL="12700">
              <a:lnSpc>
                <a:spcPct val="100000"/>
              </a:lnSpc>
              <a:spcBef>
                <a:spcPts val="100"/>
              </a:spcBef>
            </a:pPr>
            <a:r>
              <a:rPr dirty="0" sz="3800">
                <a:latin typeface="Calibri"/>
                <a:cs typeface="Calibri"/>
              </a:rPr>
              <a:t>4.5.3.</a:t>
            </a:r>
            <a:r>
              <a:rPr dirty="0" sz="3800" spc="-20">
                <a:latin typeface="Calibri"/>
                <a:cs typeface="Calibri"/>
              </a:rPr>
              <a:t> </a:t>
            </a:r>
            <a:r>
              <a:rPr dirty="0" sz="3800"/>
              <a:t>头脑风暴</a:t>
            </a:r>
            <a:endParaRPr sz="3800">
              <a:latin typeface="Calibri"/>
              <a:cs typeface="Calibri"/>
            </a:endParaRPr>
          </a:p>
          <a:p>
            <a:pPr marL="108585">
              <a:lnSpc>
                <a:spcPct val="100000"/>
              </a:lnSpc>
              <a:spcBef>
                <a:spcPts val="5"/>
              </a:spcBef>
            </a:pPr>
            <a:r>
              <a:rPr dirty="0" sz="3800">
                <a:latin typeface="Arial"/>
                <a:cs typeface="Arial"/>
              </a:rPr>
              <a:t>——</a:t>
            </a:r>
            <a:r>
              <a:rPr dirty="0" sz="3800" spc="5"/>
              <a:t>想法精减阶段</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31581"/>
            <a:ext cx="7828280" cy="3441065"/>
          </a:xfrm>
          <a:prstGeom prst="rect">
            <a:avLst/>
          </a:prstGeom>
        </p:spPr>
        <p:txBody>
          <a:bodyPr wrap="square" lIns="0" tIns="98425" rIns="0" bIns="0" rtlCol="0" vert="horz">
            <a:spAutoFit/>
          </a:bodyPr>
          <a:lstStyle/>
          <a:p>
            <a:pPr marL="355600" indent="-343535">
              <a:lnSpc>
                <a:spcPct val="100000"/>
              </a:lnSpc>
              <a:spcBef>
                <a:spcPts val="775"/>
              </a:spcBef>
              <a:buClr>
                <a:srgbClr val="00663B"/>
              </a:buClr>
              <a:buSzPct val="80357"/>
              <a:buFont typeface="Wingdings"/>
              <a:buChar char=""/>
              <a:tabLst>
                <a:tab pos="355600" algn="l"/>
                <a:tab pos="356235" algn="l"/>
              </a:tabLst>
            </a:pPr>
            <a:r>
              <a:rPr dirty="0" sz="2800" spc="-10">
                <a:latin typeface="宋体"/>
                <a:cs typeface="宋体"/>
              </a:rPr>
              <a:t>第一步是去除那些不值得进一步讨</a:t>
            </a:r>
            <a:r>
              <a:rPr dirty="0" sz="2800">
                <a:latin typeface="宋体"/>
                <a:cs typeface="宋体"/>
              </a:rPr>
              <a:t>论</a:t>
            </a:r>
            <a:r>
              <a:rPr dirty="0" sz="2800" spc="-10">
                <a:latin typeface="宋体"/>
                <a:cs typeface="宋体"/>
              </a:rPr>
              <a:t>的想法</a:t>
            </a:r>
            <a:endParaRPr sz="2800">
              <a:latin typeface="宋体"/>
              <a:cs typeface="宋体"/>
            </a:endParaRPr>
          </a:p>
          <a:p>
            <a:pPr marL="355600" indent="-343535">
              <a:lnSpc>
                <a:spcPct val="100000"/>
              </a:lnSpc>
              <a:spcBef>
                <a:spcPts val="675"/>
              </a:spcBef>
              <a:buClr>
                <a:srgbClr val="00663B"/>
              </a:buClr>
              <a:buSzPct val="80357"/>
              <a:buFont typeface="Wingdings"/>
              <a:buChar char=""/>
              <a:tabLst>
                <a:tab pos="355600" algn="l"/>
                <a:tab pos="356235" algn="l"/>
              </a:tabLst>
            </a:pPr>
            <a:r>
              <a:rPr dirty="0" sz="2800" spc="-5">
                <a:latin typeface="宋体"/>
                <a:cs typeface="宋体"/>
              </a:rPr>
              <a:t>第二步是把类似的意见进行归类</a:t>
            </a:r>
            <a:endParaRPr sz="2800">
              <a:latin typeface="宋体"/>
              <a:cs typeface="宋体"/>
            </a:endParaRPr>
          </a:p>
          <a:p>
            <a:pPr marL="355600" marR="5080" indent="-343535">
              <a:lnSpc>
                <a:spcPts val="3140"/>
              </a:lnSpc>
              <a:spcBef>
                <a:spcPts val="1180"/>
              </a:spcBef>
              <a:buClr>
                <a:srgbClr val="00663B"/>
              </a:buClr>
              <a:buSzPct val="80357"/>
              <a:buFont typeface="Wingdings"/>
              <a:buChar char=""/>
              <a:tabLst>
                <a:tab pos="355600" algn="l"/>
                <a:tab pos="356235" algn="l"/>
              </a:tabLst>
            </a:pPr>
            <a:r>
              <a:rPr dirty="0" sz="2800" spc="-5">
                <a:latin typeface="宋体"/>
                <a:cs typeface="宋体"/>
              </a:rPr>
              <a:t>第三步是主持人遍历每一个未被删</a:t>
            </a:r>
            <a:r>
              <a:rPr dirty="0" sz="2800">
                <a:latin typeface="宋体"/>
                <a:cs typeface="宋体"/>
              </a:rPr>
              <a:t>除</a:t>
            </a:r>
            <a:r>
              <a:rPr dirty="0" sz="2800" spc="-5">
                <a:latin typeface="宋体"/>
                <a:cs typeface="宋体"/>
              </a:rPr>
              <a:t>的想</a:t>
            </a:r>
            <a:r>
              <a:rPr dirty="0" sz="2800">
                <a:latin typeface="宋体"/>
                <a:cs typeface="宋体"/>
              </a:rPr>
              <a:t>法</a:t>
            </a:r>
            <a:r>
              <a:rPr dirty="0" sz="2800" spc="-5">
                <a:latin typeface="宋体"/>
                <a:cs typeface="宋体"/>
              </a:rPr>
              <a:t>，确 </a:t>
            </a:r>
            <a:r>
              <a:rPr dirty="0" sz="2800" spc="-10">
                <a:latin typeface="宋体"/>
                <a:cs typeface="宋体"/>
              </a:rPr>
              <a:t>保所有参与者都对其有共同的理解</a:t>
            </a:r>
            <a:endParaRPr sz="2800">
              <a:latin typeface="宋体"/>
              <a:cs typeface="宋体"/>
            </a:endParaRPr>
          </a:p>
          <a:p>
            <a:pPr marL="355600" indent="-343535">
              <a:lnSpc>
                <a:spcPct val="100000"/>
              </a:lnSpc>
              <a:spcBef>
                <a:spcPts val="610"/>
              </a:spcBef>
              <a:buClr>
                <a:srgbClr val="00663B"/>
              </a:buClr>
              <a:buSzPct val="80357"/>
              <a:buFont typeface="Wingdings"/>
              <a:buChar char=""/>
              <a:tabLst>
                <a:tab pos="355600" algn="l"/>
                <a:tab pos="356235" algn="l"/>
              </a:tabLst>
            </a:pPr>
            <a:r>
              <a:rPr dirty="0" sz="2800" spc="-5">
                <a:latin typeface="宋体"/>
                <a:cs typeface="宋体"/>
              </a:rPr>
              <a:t>利用投票或类似方法，评估现有想</a:t>
            </a:r>
            <a:r>
              <a:rPr dirty="0" sz="2800">
                <a:latin typeface="宋体"/>
                <a:cs typeface="宋体"/>
              </a:rPr>
              <a:t>法</a:t>
            </a:r>
            <a:r>
              <a:rPr dirty="0" sz="2800" spc="-5">
                <a:latin typeface="宋体"/>
                <a:cs typeface="宋体"/>
              </a:rPr>
              <a:t>的优</a:t>
            </a:r>
            <a:r>
              <a:rPr dirty="0" sz="2800">
                <a:latin typeface="宋体"/>
                <a:cs typeface="宋体"/>
              </a:rPr>
              <a:t>先</a:t>
            </a:r>
            <a:r>
              <a:rPr dirty="0" sz="2800" spc="-5">
                <a:latin typeface="宋体"/>
                <a:cs typeface="宋体"/>
              </a:rPr>
              <a:t>级</a:t>
            </a:r>
            <a:endParaRPr sz="2800">
              <a:latin typeface="宋体"/>
              <a:cs typeface="宋体"/>
            </a:endParaRPr>
          </a:p>
          <a:p>
            <a:pPr marL="355600" marR="5080" indent="-343535">
              <a:lnSpc>
                <a:spcPts val="3140"/>
              </a:lnSpc>
              <a:spcBef>
                <a:spcPts val="1175"/>
              </a:spcBef>
              <a:buClr>
                <a:srgbClr val="00663B"/>
              </a:buClr>
              <a:buSzPct val="80357"/>
              <a:buFont typeface="Wingdings"/>
              <a:buChar char=""/>
              <a:tabLst>
                <a:tab pos="355600" algn="l"/>
                <a:tab pos="356235" algn="l"/>
              </a:tabLst>
            </a:pPr>
            <a:r>
              <a:rPr dirty="0" sz="2800" spc="-5">
                <a:latin typeface="宋体"/>
                <a:cs typeface="宋体"/>
              </a:rPr>
              <a:t>最后，根据评估的数据，从中筛选</a:t>
            </a:r>
            <a:r>
              <a:rPr dirty="0" sz="2800">
                <a:latin typeface="宋体"/>
                <a:cs typeface="宋体"/>
              </a:rPr>
              <a:t>出</a:t>
            </a:r>
            <a:r>
              <a:rPr dirty="0" sz="2800" spc="-5">
                <a:latin typeface="宋体"/>
                <a:cs typeface="宋体"/>
              </a:rPr>
              <a:t>符合</a:t>
            </a:r>
            <a:r>
              <a:rPr dirty="0" sz="2800">
                <a:latin typeface="宋体"/>
                <a:cs typeface="宋体"/>
              </a:rPr>
              <a:t>一</a:t>
            </a:r>
            <a:r>
              <a:rPr dirty="0" sz="2800" spc="-5">
                <a:latin typeface="宋体"/>
                <a:cs typeface="宋体"/>
              </a:rPr>
              <a:t>定标 </a:t>
            </a:r>
            <a:r>
              <a:rPr dirty="0" sz="2800" spc="-10">
                <a:latin typeface="宋体"/>
                <a:cs typeface="宋体"/>
              </a:rPr>
              <a:t>准的想法作为头脑风暴方法的成果</a:t>
            </a:r>
            <a:endParaRPr sz="2800">
              <a:latin typeface="宋体"/>
              <a:cs typeface="宋体"/>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1366" y="239013"/>
            <a:ext cx="5958840" cy="696595"/>
          </a:xfrm>
          <a:prstGeom prst="rect"/>
        </p:spPr>
        <p:txBody>
          <a:bodyPr wrap="square" lIns="0" tIns="12700" rIns="0" bIns="0" rtlCol="0" vert="horz">
            <a:spAutoFit/>
          </a:bodyPr>
          <a:lstStyle/>
          <a:p>
            <a:pPr marL="12700">
              <a:lnSpc>
                <a:spcPct val="100000"/>
              </a:lnSpc>
              <a:spcBef>
                <a:spcPts val="100"/>
              </a:spcBef>
            </a:pPr>
            <a:r>
              <a:rPr dirty="0"/>
              <a:t>实例分析</a:t>
            </a:r>
            <a:r>
              <a:rPr dirty="0" spc="-5">
                <a:latin typeface="Calibri"/>
                <a:cs typeface="Calibri"/>
              </a:rPr>
              <a:t>(</a:t>
            </a:r>
            <a:r>
              <a:rPr dirty="0"/>
              <a:t>业务管理系</a:t>
            </a:r>
            <a:r>
              <a:rPr dirty="0" spc="5"/>
              <a:t>统</a:t>
            </a:r>
            <a:r>
              <a:rPr dirty="0">
                <a:latin typeface="Calibri"/>
                <a:cs typeface="Calibri"/>
              </a:rPr>
              <a:t>)</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185417"/>
            <a:ext cx="8293734" cy="4590415"/>
          </a:xfrm>
          <a:prstGeom prst="rect">
            <a:avLst/>
          </a:prstGeom>
        </p:spPr>
        <p:txBody>
          <a:bodyPr wrap="square" lIns="0" tIns="19685" rIns="0" bIns="0" rtlCol="0" vert="horz">
            <a:spAutoFit/>
          </a:bodyPr>
          <a:lstStyle/>
          <a:p>
            <a:pPr marL="355600" marR="5080" indent="-343535">
              <a:lnSpc>
                <a:spcPct val="98000"/>
              </a:lnSpc>
              <a:spcBef>
                <a:spcPts val="155"/>
              </a:spcBef>
              <a:buClr>
                <a:srgbClr val="00663B"/>
              </a:buClr>
              <a:buSzPct val="79166"/>
              <a:buFont typeface="Wingdings"/>
              <a:buChar char=""/>
              <a:tabLst>
                <a:tab pos="355600" algn="l"/>
                <a:tab pos="356235" algn="l"/>
              </a:tabLst>
            </a:pPr>
            <a:r>
              <a:rPr dirty="0" sz="2400">
                <a:latin typeface="宋体"/>
                <a:cs typeface="宋体"/>
              </a:rPr>
              <a:t>一是事</a:t>
            </a:r>
            <a:r>
              <a:rPr dirty="0" sz="2400" spc="-5">
                <a:latin typeface="宋体"/>
                <a:cs typeface="宋体"/>
              </a:rPr>
              <a:t>先</a:t>
            </a:r>
            <a:r>
              <a:rPr dirty="0" sz="2400">
                <a:solidFill>
                  <a:srgbClr val="FF0000"/>
                </a:solidFill>
                <a:latin typeface="宋体"/>
                <a:cs typeface="宋体"/>
              </a:rPr>
              <a:t>没有充分做好面谈的相关准备工</a:t>
            </a:r>
            <a:r>
              <a:rPr dirty="0" sz="2400" spc="5">
                <a:solidFill>
                  <a:srgbClr val="FF0000"/>
                </a:solidFill>
                <a:latin typeface="宋体"/>
                <a:cs typeface="宋体"/>
              </a:rPr>
              <a:t>作</a:t>
            </a:r>
            <a:r>
              <a:rPr dirty="0" sz="2400">
                <a:latin typeface="宋体"/>
                <a:cs typeface="宋体"/>
              </a:rPr>
              <a:t>，没有带着问 </a:t>
            </a:r>
            <a:r>
              <a:rPr dirty="0" sz="2400" spc="-5">
                <a:latin typeface="宋体"/>
                <a:cs typeface="宋体"/>
              </a:rPr>
              <a:t>题去调研。在调研前，仅组织进行了半天的简单培训，并 </a:t>
            </a:r>
            <a:r>
              <a:rPr dirty="0" sz="2400">
                <a:latin typeface="宋体"/>
                <a:cs typeface="宋体"/>
              </a:rPr>
              <a:t>发了一份简单的调研计划和调研内容表，就要求开展调研， 导致获取的需求不全面，不细致。</a:t>
            </a:r>
            <a:endParaRPr sz="2400">
              <a:latin typeface="宋体"/>
              <a:cs typeface="宋体"/>
            </a:endParaRPr>
          </a:p>
          <a:p>
            <a:pPr algn="just" marL="355600" marR="307975" indent="-343535">
              <a:lnSpc>
                <a:spcPct val="96900"/>
              </a:lnSpc>
              <a:spcBef>
                <a:spcPts val="844"/>
              </a:spcBef>
              <a:buClr>
                <a:srgbClr val="00663B"/>
              </a:buClr>
              <a:buSzPct val="79166"/>
              <a:buFont typeface="Wingdings"/>
              <a:buChar char=""/>
              <a:tabLst>
                <a:tab pos="356235" algn="l"/>
              </a:tabLst>
            </a:pPr>
            <a:r>
              <a:rPr dirty="0" sz="2400">
                <a:latin typeface="宋体"/>
                <a:cs typeface="宋体"/>
              </a:rPr>
              <a:t>二</a:t>
            </a:r>
            <a:r>
              <a:rPr dirty="0" sz="2400" spc="-5">
                <a:latin typeface="宋体"/>
                <a:cs typeface="宋体"/>
              </a:rPr>
              <a:t>是</a:t>
            </a:r>
            <a:r>
              <a:rPr dirty="0" sz="2400">
                <a:solidFill>
                  <a:srgbClr val="FF0000"/>
                </a:solidFill>
                <a:latin typeface="宋体"/>
                <a:cs typeface="宋体"/>
              </a:rPr>
              <a:t>没有征对不同的涉众对象，制定不同的面谈策</a:t>
            </a:r>
            <a:r>
              <a:rPr dirty="0" sz="2400" spc="5">
                <a:solidFill>
                  <a:srgbClr val="FF0000"/>
                </a:solidFill>
                <a:latin typeface="宋体"/>
                <a:cs typeface="宋体"/>
              </a:rPr>
              <a:t>略</a:t>
            </a:r>
            <a:r>
              <a:rPr dirty="0" sz="2400">
                <a:latin typeface="宋体"/>
                <a:cs typeface="宋体"/>
              </a:rPr>
              <a:t>，更 </a:t>
            </a:r>
            <a:r>
              <a:rPr dirty="0" sz="2400" spc="-5">
                <a:latin typeface="宋体"/>
                <a:cs typeface="宋体"/>
              </a:rPr>
              <a:t>没有事先策划好问题组织的使用技巧，最终导致面谈效果 </a:t>
            </a:r>
            <a:r>
              <a:rPr dirty="0" sz="2400">
                <a:latin typeface="宋体"/>
                <a:cs typeface="宋体"/>
              </a:rPr>
              <a:t>不好。</a:t>
            </a:r>
            <a:endParaRPr sz="2400">
              <a:latin typeface="宋体"/>
              <a:cs typeface="宋体"/>
            </a:endParaRPr>
          </a:p>
          <a:p>
            <a:pPr algn="just" lvl="1" marL="756285" marR="411480" indent="-287020">
              <a:lnSpc>
                <a:spcPct val="96800"/>
              </a:lnSpc>
              <a:spcBef>
                <a:spcPts val="730"/>
              </a:spcBef>
              <a:buClr>
                <a:srgbClr val="C00000"/>
              </a:buClr>
              <a:buSzPct val="60000"/>
              <a:buFont typeface="Wingdings"/>
              <a:buChar char=""/>
              <a:tabLst>
                <a:tab pos="756920" algn="l"/>
              </a:tabLst>
            </a:pPr>
            <a:r>
              <a:rPr dirty="0" sz="2000">
                <a:latin typeface="宋体"/>
                <a:cs typeface="宋体"/>
              </a:rPr>
              <a:t>总以为是在内部，一定</a:t>
            </a:r>
            <a:r>
              <a:rPr dirty="0" sz="2000" spc="-15">
                <a:latin typeface="宋体"/>
                <a:cs typeface="宋体"/>
              </a:rPr>
              <a:t>能</a:t>
            </a:r>
            <a:r>
              <a:rPr dirty="0" sz="2000">
                <a:latin typeface="宋体"/>
                <a:cs typeface="宋体"/>
              </a:rPr>
              <a:t>获得</a:t>
            </a:r>
            <a:r>
              <a:rPr dirty="0" sz="2000" spc="-15">
                <a:latin typeface="宋体"/>
                <a:cs typeface="宋体"/>
              </a:rPr>
              <a:t>详</a:t>
            </a:r>
            <a:r>
              <a:rPr dirty="0" sz="2000">
                <a:latin typeface="宋体"/>
                <a:cs typeface="宋体"/>
              </a:rPr>
              <a:t>细的</a:t>
            </a:r>
            <a:r>
              <a:rPr dirty="0" sz="2000" spc="-15">
                <a:latin typeface="宋体"/>
                <a:cs typeface="宋体"/>
              </a:rPr>
              <a:t>需</a:t>
            </a:r>
            <a:r>
              <a:rPr dirty="0" sz="2000">
                <a:latin typeface="宋体"/>
                <a:cs typeface="宋体"/>
              </a:rPr>
              <a:t>求。</a:t>
            </a:r>
            <a:r>
              <a:rPr dirty="0" sz="2000" spc="-15">
                <a:latin typeface="宋体"/>
                <a:cs typeface="宋体"/>
              </a:rPr>
              <a:t>事</a:t>
            </a:r>
            <a:r>
              <a:rPr dirty="0" sz="2000">
                <a:latin typeface="宋体"/>
                <a:cs typeface="宋体"/>
              </a:rPr>
              <a:t>实上</a:t>
            </a:r>
            <a:r>
              <a:rPr dirty="0" sz="2000" spc="-15">
                <a:latin typeface="宋体"/>
                <a:cs typeface="宋体"/>
              </a:rPr>
              <a:t>，</a:t>
            </a:r>
            <a:r>
              <a:rPr dirty="0" sz="2000">
                <a:latin typeface="宋体"/>
                <a:cs typeface="宋体"/>
              </a:rPr>
              <a:t>很多</a:t>
            </a:r>
            <a:r>
              <a:rPr dirty="0" sz="2000" spc="-15">
                <a:latin typeface="宋体"/>
                <a:cs typeface="宋体"/>
              </a:rPr>
              <a:t>都</a:t>
            </a:r>
            <a:r>
              <a:rPr dirty="0" sz="2000">
                <a:latin typeface="宋体"/>
                <a:cs typeface="宋体"/>
              </a:rPr>
              <a:t>是应 付式的回答。我们问：</a:t>
            </a:r>
            <a:r>
              <a:rPr dirty="0" sz="2000" spc="-15">
                <a:latin typeface="宋体"/>
                <a:cs typeface="宋体"/>
              </a:rPr>
              <a:t>你</a:t>
            </a:r>
            <a:r>
              <a:rPr dirty="0" sz="2000">
                <a:latin typeface="宋体"/>
                <a:cs typeface="宋体"/>
              </a:rPr>
              <a:t>对这</a:t>
            </a:r>
            <a:r>
              <a:rPr dirty="0" sz="2000" spc="-15">
                <a:latin typeface="宋体"/>
                <a:cs typeface="宋体"/>
              </a:rPr>
              <a:t>个</a:t>
            </a:r>
            <a:r>
              <a:rPr dirty="0" sz="2000">
                <a:latin typeface="宋体"/>
                <a:cs typeface="宋体"/>
              </a:rPr>
              <a:t>软件</a:t>
            </a:r>
            <a:r>
              <a:rPr dirty="0" sz="2000" spc="-15">
                <a:latin typeface="宋体"/>
                <a:cs typeface="宋体"/>
              </a:rPr>
              <a:t>开</a:t>
            </a:r>
            <a:r>
              <a:rPr dirty="0" sz="2000">
                <a:latin typeface="宋体"/>
                <a:cs typeface="宋体"/>
              </a:rPr>
              <a:t>发有</a:t>
            </a:r>
            <a:r>
              <a:rPr dirty="0" sz="2000" spc="-15">
                <a:latin typeface="宋体"/>
                <a:cs typeface="宋体"/>
              </a:rPr>
              <a:t>什</a:t>
            </a:r>
            <a:r>
              <a:rPr dirty="0" sz="2000">
                <a:latin typeface="宋体"/>
                <a:cs typeface="宋体"/>
              </a:rPr>
              <a:t>么希</a:t>
            </a:r>
            <a:r>
              <a:rPr dirty="0" sz="2000" spc="-15">
                <a:latin typeface="宋体"/>
                <a:cs typeface="宋体"/>
              </a:rPr>
              <a:t>望</a:t>
            </a:r>
            <a:r>
              <a:rPr dirty="0" sz="2000">
                <a:latin typeface="宋体"/>
                <a:cs typeface="宋体"/>
              </a:rPr>
              <a:t>和建</a:t>
            </a:r>
            <a:r>
              <a:rPr dirty="0" sz="2000" spc="-15">
                <a:latin typeface="宋体"/>
                <a:cs typeface="宋体"/>
              </a:rPr>
              <a:t>议</a:t>
            </a:r>
            <a:r>
              <a:rPr dirty="0" sz="2000">
                <a:latin typeface="宋体"/>
                <a:cs typeface="宋体"/>
              </a:rPr>
              <a:t>？大 部分人的回答是没有建</a:t>
            </a:r>
            <a:r>
              <a:rPr dirty="0" sz="2000" spc="-10">
                <a:latin typeface="宋体"/>
                <a:cs typeface="宋体"/>
              </a:rPr>
              <a:t>议</a:t>
            </a:r>
            <a:r>
              <a:rPr dirty="0" sz="2000">
                <a:latin typeface="宋体"/>
                <a:cs typeface="宋体"/>
              </a:rPr>
              <a:t>或者</a:t>
            </a:r>
            <a:r>
              <a:rPr dirty="0" sz="2000" spc="-10">
                <a:latin typeface="宋体"/>
                <a:cs typeface="宋体"/>
              </a:rPr>
              <a:t>建</a:t>
            </a:r>
            <a:r>
              <a:rPr dirty="0" sz="2000">
                <a:latin typeface="宋体"/>
                <a:cs typeface="宋体"/>
              </a:rPr>
              <a:t>议“</a:t>
            </a:r>
            <a:r>
              <a:rPr dirty="0" sz="2000" spc="-10">
                <a:latin typeface="宋体"/>
                <a:cs typeface="宋体"/>
              </a:rPr>
              <a:t>操</a:t>
            </a:r>
            <a:r>
              <a:rPr dirty="0" sz="2000">
                <a:latin typeface="宋体"/>
                <a:cs typeface="宋体"/>
              </a:rPr>
              <a:t>作要</a:t>
            </a:r>
            <a:r>
              <a:rPr dirty="0" sz="2000" spc="-10">
                <a:latin typeface="宋体"/>
                <a:cs typeface="宋体"/>
              </a:rPr>
              <a:t>简</a:t>
            </a:r>
            <a:r>
              <a:rPr dirty="0" sz="2000">
                <a:latin typeface="宋体"/>
                <a:cs typeface="宋体"/>
              </a:rPr>
              <a:t>单”。</a:t>
            </a:r>
            <a:endParaRPr sz="2000">
              <a:latin typeface="宋体"/>
              <a:cs typeface="宋体"/>
            </a:endParaRPr>
          </a:p>
          <a:p>
            <a:pPr algn="just" lvl="1" marL="756285" marR="411480" indent="-287020">
              <a:lnSpc>
                <a:spcPct val="96700"/>
              </a:lnSpc>
              <a:spcBef>
                <a:spcPts val="720"/>
              </a:spcBef>
              <a:buClr>
                <a:srgbClr val="C00000"/>
              </a:buClr>
              <a:buSzPct val="60000"/>
              <a:buFont typeface="Wingdings"/>
              <a:buChar char=""/>
              <a:tabLst>
                <a:tab pos="756920" algn="l"/>
              </a:tabLst>
            </a:pPr>
            <a:r>
              <a:rPr dirty="0" sz="2000">
                <a:latin typeface="宋体"/>
                <a:cs typeface="宋体"/>
              </a:rPr>
              <a:t>回答多是被动式应付，</a:t>
            </a:r>
            <a:r>
              <a:rPr dirty="0" sz="2000" spc="-15">
                <a:latin typeface="宋体"/>
                <a:cs typeface="宋体"/>
              </a:rPr>
              <a:t>而</a:t>
            </a:r>
            <a:r>
              <a:rPr dirty="0" sz="2000">
                <a:latin typeface="宋体"/>
                <a:cs typeface="宋体"/>
              </a:rPr>
              <a:t>且无</a:t>
            </a:r>
            <a:r>
              <a:rPr dirty="0" sz="2000" spc="-15">
                <a:latin typeface="宋体"/>
                <a:cs typeface="宋体"/>
              </a:rPr>
              <a:t>论</a:t>
            </a:r>
            <a:r>
              <a:rPr dirty="0" sz="2000">
                <a:latin typeface="宋体"/>
                <a:cs typeface="宋体"/>
              </a:rPr>
              <a:t>回答</a:t>
            </a:r>
            <a:r>
              <a:rPr dirty="0" sz="2000" spc="-15">
                <a:latin typeface="宋体"/>
                <a:cs typeface="宋体"/>
              </a:rPr>
              <a:t>问</a:t>
            </a:r>
            <a:r>
              <a:rPr dirty="0" sz="2000">
                <a:latin typeface="宋体"/>
                <a:cs typeface="宋体"/>
              </a:rPr>
              <a:t>题还</a:t>
            </a:r>
            <a:r>
              <a:rPr dirty="0" sz="2000" spc="-15">
                <a:latin typeface="宋体"/>
                <a:cs typeface="宋体"/>
              </a:rPr>
              <a:t>是</a:t>
            </a:r>
            <a:r>
              <a:rPr dirty="0" sz="2000">
                <a:latin typeface="宋体"/>
                <a:cs typeface="宋体"/>
              </a:rPr>
              <a:t>填写</a:t>
            </a:r>
            <a:r>
              <a:rPr dirty="0" sz="2000" spc="-15">
                <a:latin typeface="宋体"/>
                <a:cs typeface="宋体"/>
              </a:rPr>
              <a:t>问</a:t>
            </a:r>
            <a:r>
              <a:rPr dirty="0" sz="2000">
                <a:latin typeface="宋体"/>
                <a:cs typeface="宋体"/>
              </a:rPr>
              <a:t>卷调</a:t>
            </a:r>
            <a:r>
              <a:rPr dirty="0" sz="2000" spc="-15">
                <a:latin typeface="宋体"/>
                <a:cs typeface="宋体"/>
              </a:rPr>
              <a:t>查</a:t>
            </a:r>
            <a:r>
              <a:rPr dirty="0" sz="2000">
                <a:latin typeface="宋体"/>
                <a:cs typeface="宋体"/>
              </a:rPr>
              <a:t>，不 能充分表达出真实意图</a:t>
            </a:r>
            <a:r>
              <a:rPr dirty="0" sz="2000" spc="-15">
                <a:latin typeface="宋体"/>
                <a:cs typeface="宋体"/>
              </a:rPr>
              <a:t>，</a:t>
            </a:r>
            <a:r>
              <a:rPr dirty="0" sz="2000">
                <a:latin typeface="宋体"/>
                <a:cs typeface="宋体"/>
              </a:rPr>
              <a:t>导致</a:t>
            </a:r>
            <a:r>
              <a:rPr dirty="0" sz="2000" spc="-15">
                <a:latin typeface="宋体"/>
                <a:cs typeface="宋体"/>
              </a:rPr>
              <a:t>在</a:t>
            </a:r>
            <a:r>
              <a:rPr dirty="0" sz="2000">
                <a:latin typeface="宋体"/>
                <a:cs typeface="宋体"/>
              </a:rPr>
              <a:t>需求</a:t>
            </a:r>
            <a:r>
              <a:rPr dirty="0" sz="2000" spc="-15">
                <a:latin typeface="宋体"/>
                <a:cs typeface="宋体"/>
              </a:rPr>
              <a:t>分</a:t>
            </a:r>
            <a:r>
              <a:rPr dirty="0" sz="2000">
                <a:latin typeface="宋体"/>
                <a:cs typeface="宋体"/>
              </a:rPr>
              <a:t>析过</a:t>
            </a:r>
            <a:r>
              <a:rPr dirty="0" sz="2000" spc="-15">
                <a:latin typeface="宋体"/>
                <a:cs typeface="宋体"/>
              </a:rPr>
              <a:t>程</a:t>
            </a:r>
            <a:r>
              <a:rPr dirty="0" sz="2000">
                <a:latin typeface="宋体"/>
                <a:cs typeface="宋体"/>
              </a:rPr>
              <a:t>中出</a:t>
            </a:r>
            <a:r>
              <a:rPr dirty="0" sz="2000" spc="-15">
                <a:latin typeface="宋体"/>
                <a:cs typeface="宋体"/>
              </a:rPr>
              <a:t>现</a:t>
            </a:r>
            <a:r>
              <a:rPr dirty="0" sz="2000">
                <a:latin typeface="宋体"/>
                <a:cs typeface="宋体"/>
              </a:rPr>
              <a:t>很多</a:t>
            </a:r>
            <a:r>
              <a:rPr dirty="0" sz="2000" spc="-15">
                <a:latin typeface="宋体"/>
                <a:cs typeface="宋体"/>
              </a:rPr>
              <a:t>模</a:t>
            </a:r>
            <a:r>
              <a:rPr dirty="0" sz="2000">
                <a:latin typeface="宋体"/>
                <a:cs typeface="宋体"/>
              </a:rPr>
              <a:t>糊需 求，从而影响了开发进</a:t>
            </a:r>
            <a:r>
              <a:rPr dirty="0" sz="2000" spc="-15">
                <a:latin typeface="宋体"/>
                <a:cs typeface="宋体"/>
              </a:rPr>
              <a:t>度</a:t>
            </a:r>
            <a:r>
              <a:rPr dirty="0" sz="2000">
                <a:latin typeface="宋体"/>
                <a:cs typeface="宋体"/>
              </a:rPr>
              <a:t>。</a:t>
            </a:r>
            <a:endParaRPr sz="2000">
              <a:latin typeface="宋体"/>
              <a:cs typeface="宋体"/>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8697" y="202768"/>
            <a:ext cx="2547620" cy="697230"/>
          </a:xfrm>
          <a:prstGeom prst="rect"/>
        </p:spPr>
        <p:txBody>
          <a:bodyPr wrap="square" lIns="0" tIns="13335" rIns="0" bIns="0" rtlCol="0" vert="horz">
            <a:spAutoFit/>
          </a:bodyPr>
          <a:lstStyle/>
          <a:p>
            <a:pPr marL="12700">
              <a:lnSpc>
                <a:spcPct val="100000"/>
              </a:lnSpc>
              <a:spcBef>
                <a:spcPts val="105"/>
              </a:spcBef>
            </a:pPr>
            <a:r>
              <a:rPr dirty="0"/>
              <a:t>第</a:t>
            </a:r>
            <a:r>
              <a:rPr dirty="0" spc="-5">
                <a:latin typeface="Calibri"/>
                <a:cs typeface="Calibri"/>
              </a:rPr>
              <a:t>4</a:t>
            </a:r>
            <a:r>
              <a:rPr dirty="0" spc="5"/>
              <a:t>节小结</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465714"/>
            <a:ext cx="7968615" cy="3784600"/>
          </a:xfrm>
          <a:prstGeom prst="rect">
            <a:avLst/>
          </a:prstGeom>
        </p:spPr>
        <p:txBody>
          <a:bodyPr wrap="square" lIns="0" tIns="125730" rIns="0" bIns="0" rtlCol="0" vert="horz">
            <a:spAutoFit/>
          </a:bodyPr>
          <a:lstStyle/>
          <a:p>
            <a:pPr marL="355600" indent="-343535">
              <a:lnSpc>
                <a:spcPct val="100000"/>
              </a:lnSpc>
              <a:spcBef>
                <a:spcPts val="990"/>
              </a:spcBef>
              <a:buClr>
                <a:srgbClr val="00663B"/>
              </a:buClr>
              <a:buSzPct val="78846"/>
              <a:buFont typeface="Wingdings"/>
              <a:buChar char=""/>
              <a:tabLst>
                <a:tab pos="355600" algn="l"/>
                <a:tab pos="356235" algn="l"/>
              </a:tabLst>
            </a:pPr>
            <a:r>
              <a:rPr dirty="0" sz="2600">
                <a:latin typeface="宋体"/>
                <a:cs typeface="宋体"/>
              </a:rPr>
              <a:t>面谈是需求获取当中最</a:t>
            </a:r>
            <a:r>
              <a:rPr dirty="0" sz="2600" spc="-15">
                <a:latin typeface="宋体"/>
                <a:cs typeface="宋体"/>
              </a:rPr>
              <a:t>为</a:t>
            </a:r>
            <a:r>
              <a:rPr dirty="0" sz="2600">
                <a:latin typeface="宋体"/>
                <a:cs typeface="宋体"/>
              </a:rPr>
              <a:t>常用</a:t>
            </a:r>
            <a:r>
              <a:rPr dirty="0" sz="2600" spc="-15">
                <a:latin typeface="宋体"/>
                <a:cs typeface="宋体"/>
              </a:rPr>
              <a:t>的</a:t>
            </a:r>
            <a:r>
              <a:rPr dirty="0" sz="2600">
                <a:latin typeface="宋体"/>
                <a:cs typeface="宋体"/>
              </a:rPr>
              <a:t>手段</a:t>
            </a:r>
            <a:r>
              <a:rPr dirty="0" sz="2600" spc="-15">
                <a:latin typeface="宋体"/>
                <a:cs typeface="宋体"/>
              </a:rPr>
              <a:t>，</a:t>
            </a:r>
            <a:r>
              <a:rPr dirty="0" sz="2600">
                <a:latin typeface="宋体"/>
                <a:cs typeface="宋体"/>
              </a:rPr>
              <a:t>效果</a:t>
            </a:r>
            <a:r>
              <a:rPr dirty="0" sz="2600" spc="-15">
                <a:latin typeface="宋体"/>
                <a:cs typeface="宋体"/>
              </a:rPr>
              <a:t>显</a:t>
            </a:r>
            <a:r>
              <a:rPr dirty="0" sz="2600" spc="5">
                <a:latin typeface="宋体"/>
                <a:cs typeface="宋体"/>
              </a:rPr>
              <a:t>著</a:t>
            </a:r>
            <a:endParaRPr sz="2600">
              <a:latin typeface="宋体"/>
              <a:cs typeface="宋体"/>
            </a:endParaRPr>
          </a:p>
          <a:p>
            <a:pPr marL="355600" indent="-343535">
              <a:lnSpc>
                <a:spcPct val="100000"/>
              </a:lnSpc>
              <a:spcBef>
                <a:spcPts val="890"/>
              </a:spcBef>
              <a:buClr>
                <a:srgbClr val="00663B"/>
              </a:buClr>
              <a:buSzPct val="78846"/>
              <a:buFont typeface="Wingdings"/>
              <a:buChar char=""/>
              <a:tabLst>
                <a:tab pos="355600" algn="l"/>
                <a:tab pos="356235" algn="l"/>
              </a:tabLst>
            </a:pPr>
            <a:r>
              <a:rPr dirty="0" sz="2600">
                <a:latin typeface="宋体"/>
                <a:cs typeface="宋体"/>
              </a:rPr>
              <a:t>成功的面谈需要很多的</a:t>
            </a:r>
            <a:r>
              <a:rPr dirty="0" sz="2600" spc="-15">
                <a:latin typeface="宋体"/>
                <a:cs typeface="宋体"/>
              </a:rPr>
              <a:t>面</a:t>
            </a:r>
            <a:r>
              <a:rPr dirty="0" sz="2600">
                <a:latin typeface="宋体"/>
                <a:cs typeface="宋体"/>
              </a:rPr>
              <a:t>谈技巧</a:t>
            </a:r>
            <a:endParaRPr sz="2600">
              <a:latin typeface="宋体"/>
              <a:cs typeface="宋体"/>
            </a:endParaRPr>
          </a:p>
          <a:p>
            <a:pPr lvl="1" marL="756285" indent="-287020">
              <a:lnSpc>
                <a:spcPct val="100000"/>
              </a:lnSpc>
              <a:spcBef>
                <a:spcPts val="955"/>
              </a:spcBef>
              <a:buClr>
                <a:srgbClr val="C00000"/>
              </a:buClr>
              <a:buSzPct val="59090"/>
              <a:buFont typeface="Wingdings"/>
              <a:buChar char=""/>
              <a:tabLst>
                <a:tab pos="756285" algn="l"/>
                <a:tab pos="756920" algn="l"/>
              </a:tabLst>
            </a:pPr>
            <a:r>
              <a:rPr dirty="0" sz="2200" spc="-5">
                <a:latin typeface="宋体"/>
                <a:cs typeface="宋体"/>
              </a:rPr>
              <a:t>对问题类型和组织结构的掌握是其</a:t>
            </a:r>
            <a:r>
              <a:rPr dirty="0" sz="2200">
                <a:latin typeface="宋体"/>
                <a:cs typeface="宋体"/>
              </a:rPr>
              <a:t>中</a:t>
            </a:r>
            <a:r>
              <a:rPr dirty="0" sz="2200" spc="-5">
                <a:latin typeface="宋体"/>
                <a:cs typeface="宋体"/>
              </a:rPr>
              <a:t>最为</a:t>
            </a:r>
            <a:r>
              <a:rPr dirty="0" sz="2200">
                <a:latin typeface="宋体"/>
                <a:cs typeface="宋体"/>
              </a:rPr>
              <a:t>重</a:t>
            </a:r>
            <a:r>
              <a:rPr dirty="0" sz="2200" spc="-5">
                <a:latin typeface="宋体"/>
                <a:cs typeface="宋体"/>
              </a:rPr>
              <a:t>要的</a:t>
            </a:r>
            <a:r>
              <a:rPr dirty="0" sz="2200">
                <a:latin typeface="宋体"/>
                <a:cs typeface="宋体"/>
              </a:rPr>
              <a:t>技</a:t>
            </a:r>
            <a:r>
              <a:rPr dirty="0" sz="2200" spc="-5">
                <a:latin typeface="宋体"/>
                <a:cs typeface="宋体"/>
              </a:rPr>
              <a:t>巧</a:t>
            </a:r>
            <a:endParaRPr sz="2200">
              <a:latin typeface="宋体"/>
              <a:cs typeface="宋体"/>
            </a:endParaRPr>
          </a:p>
          <a:p>
            <a:pPr lvl="1" marL="756285" indent="-287020">
              <a:lnSpc>
                <a:spcPct val="100000"/>
              </a:lnSpc>
              <a:spcBef>
                <a:spcPts val="935"/>
              </a:spcBef>
              <a:buClr>
                <a:srgbClr val="C00000"/>
              </a:buClr>
              <a:buSzPct val="59090"/>
              <a:buFont typeface="Wingdings"/>
              <a:buChar char=""/>
              <a:tabLst>
                <a:tab pos="756285" algn="l"/>
                <a:tab pos="756920" algn="l"/>
              </a:tabLst>
            </a:pPr>
            <a:r>
              <a:rPr dirty="0" sz="2200" spc="-10">
                <a:latin typeface="宋体"/>
                <a:cs typeface="宋体"/>
              </a:rPr>
              <a:t>面谈的组织和进行当中也要注意很</a:t>
            </a:r>
            <a:r>
              <a:rPr dirty="0" sz="2200">
                <a:latin typeface="宋体"/>
                <a:cs typeface="宋体"/>
              </a:rPr>
              <a:t>多</a:t>
            </a:r>
            <a:r>
              <a:rPr dirty="0" sz="2200" spc="-10">
                <a:latin typeface="宋体"/>
                <a:cs typeface="宋体"/>
              </a:rPr>
              <a:t>事项</a:t>
            </a:r>
            <a:endParaRPr sz="2200">
              <a:latin typeface="宋体"/>
              <a:cs typeface="宋体"/>
            </a:endParaRPr>
          </a:p>
          <a:p>
            <a:pPr marL="355600" indent="-343535">
              <a:lnSpc>
                <a:spcPct val="100000"/>
              </a:lnSpc>
              <a:spcBef>
                <a:spcPts val="875"/>
              </a:spcBef>
              <a:buClr>
                <a:srgbClr val="00663B"/>
              </a:buClr>
              <a:buSzPct val="78846"/>
              <a:buFont typeface="Wingdings"/>
              <a:buChar char=""/>
              <a:tabLst>
                <a:tab pos="355600" algn="l"/>
                <a:tab pos="356235" algn="l"/>
              </a:tabLst>
            </a:pPr>
            <a:r>
              <a:rPr dirty="0" sz="2600">
                <a:latin typeface="宋体"/>
                <a:cs typeface="宋体"/>
              </a:rPr>
              <a:t>按照完整的过程执行面</a:t>
            </a:r>
            <a:r>
              <a:rPr dirty="0" sz="2600" spc="-15">
                <a:latin typeface="宋体"/>
                <a:cs typeface="宋体"/>
              </a:rPr>
              <a:t>谈</a:t>
            </a:r>
            <a:r>
              <a:rPr dirty="0" sz="2600">
                <a:latin typeface="宋体"/>
                <a:cs typeface="宋体"/>
              </a:rPr>
              <a:t>可以</a:t>
            </a:r>
            <a:r>
              <a:rPr dirty="0" sz="2600" spc="-15">
                <a:latin typeface="宋体"/>
                <a:cs typeface="宋体"/>
              </a:rPr>
              <a:t>更</a:t>
            </a:r>
            <a:r>
              <a:rPr dirty="0" sz="2600">
                <a:latin typeface="宋体"/>
                <a:cs typeface="宋体"/>
              </a:rPr>
              <a:t>好的</a:t>
            </a:r>
            <a:r>
              <a:rPr dirty="0" sz="2600" spc="-15">
                <a:latin typeface="宋体"/>
                <a:cs typeface="宋体"/>
              </a:rPr>
              <a:t>保</a:t>
            </a:r>
            <a:r>
              <a:rPr dirty="0" sz="2600">
                <a:latin typeface="宋体"/>
                <a:cs typeface="宋体"/>
              </a:rPr>
              <a:t>证面</a:t>
            </a:r>
            <a:r>
              <a:rPr dirty="0" sz="2600" spc="-15">
                <a:latin typeface="宋体"/>
                <a:cs typeface="宋体"/>
              </a:rPr>
              <a:t>谈</a:t>
            </a:r>
            <a:r>
              <a:rPr dirty="0" sz="2600">
                <a:latin typeface="宋体"/>
                <a:cs typeface="宋体"/>
              </a:rPr>
              <a:t>的效果</a:t>
            </a:r>
            <a:endParaRPr sz="2600">
              <a:latin typeface="宋体"/>
              <a:cs typeface="宋体"/>
            </a:endParaRPr>
          </a:p>
          <a:p>
            <a:pPr marL="355600" marR="5080" indent="-343535">
              <a:lnSpc>
                <a:spcPts val="2620"/>
              </a:lnSpc>
              <a:spcBef>
                <a:spcPts val="1585"/>
              </a:spcBef>
              <a:buClr>
                <a:srgbClr val="00663B"/>
              </a:buClr>
              <a:buSzPct val="78846"/>
              <a:buFont typeface="Wingdings"/>
              <a:buChar char=""/>
              <a:tabLst>
                <a:tab pos="355600" algn="l"/>
                <a:tab pos="356235" algn="l"/>
              </a:tabLst>
            </a:pPr>
            <a:r>
              <a:rPr dirty="0" sz="2600">
                <a:latin typeface="宋体"/>
                <a:cs typeface="宋体"/>
              </a:rPr>
              <a:t>经过长期的实践，面谈</a:t>
            </a:r>
            <a:r>
              <a:rPr dirty="0" sz="2600" spc="-15">
                <a:latin typeface="宋体"/>
                <a:cs typeface="宋体"/>
              </a:rPr>
              <a:t>发</a:t>
            </a:r>
            <a:r>
              <a:rPr dirty="0" sz="2600">
                <a:latin typeface="宋体"/>
                <a:cs typeface="宋体"/>
              </a:rPr>
              <a:t>展出</a:t>
            </a:r>
            <a:r>
              <a:rPr dirty="0" sz="2600" spc="-15">
                <a:latin typeface="宋体"/>
                <a:cs typeface="宋体"/>
              </a:rPr>
              <a:t>了</a:t>
            </a:r>
            <a:r>
              <a:rPr dirty="0" sz="2600">
                <a:latin typeface="宋体"/>
                <a:cs typeface="宋体"/>
              </a:rPr>
              <a:t>多种</a:t>
            </a:r>
            <a:r>
              <a:rPr dirty="0" sz="2600" spc="-15">
                <a:latin typeface="宋体"/>
                <a:cs typeface="宋体"/>
              </a:rPr>
              <a:t>不</a:t>
            </a:r>
            <a:r>
              <a:rPr dirty="0" sz="2600">
                <a:latin typeface="宋体"/>
                <a:cs typeface="宋体"/>
              </a:rPr>
              <a:t>同的</a:t>
            </a:r>
            <a:r>
              <a:rPr dirty="0" sz="2600" spc="-15">
                <a:latin typeface="宋体"/>
                <a:cs typeface="宋体"/>
              </a:rPr>
              <a:t>形</a:t>
            </a:r>
            <a:r>
              <a:rPr dirty="0" sz="2600">
                <a:latin typeface="宋体"/>
                <a:cs typeface="宋体"/>
              </a:rPr>
              <a:t>式和类 似的需求获取方法</a:t>
            </a:r>
            <a:endParaRPr sz="2600">
              <a:latin typeface="宋体"/>
              <a:cs typeface="宋体"/>
            </a:endParaRPr>
          </a:p>
          <a:p>
            <a:pPr lvl="1" marL="756285" indent="-287020">
              <a:lnSpc>
                <a:spcPct val="100000"/>
              </a:lnSpc>
              <a:spcBef>
                <a:spcPts val="944"/>
              </a:spcBef>
              <a:buClr>
                <a:srgbClr val="C00000"/>
              </a:buClr>
              <a:buSzPct val="59090"/>
              <a:buFont typeface="Wingdings"/>
              <a:buChar char=""/>
              <a:tabLst>
                <a:tab pos="756285" algn="l"/>
                <a:tab pos="756920" algn="l"/>
              </a:tabLst>
            </a:pPr>
            <a:r>
              <a:rPr dirty="0" sz="2200" spc="-5">
                <a:latin typeface="宋体"/>
                <a:cs typeface="宋体"/>
              </a:rPr>
              <a:t>群体面谈、调查问卷和头脑风暴</a:t>
            </a:r>
            <a:endParaRPr sz="2200">
              <a:latin typeface="宋体"/>
              <a:cs typeface="宋体"/>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主要内容</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178813"/>
            <a:ext cx="4839970" cy="295275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687"/>
              <a:buFont typeface="Wingdings"/>
              <a:buChar char=""/>
              <a:tabLst>
                <a:tab pos="356235" algn="l"/>
              </a:tabLst>
            </a:pPr>
            <a:r>
              <a:rPr dirty="0" sz="3200">
                <a:latin typeface="Calibri"/>
                <a:cs typeface="Calibri"/>
              </a:rPr>
              <a:t>1.</a:t>
            </a:r>
            <a:r>
              <a:rPr dirty="0" sz="3200" spc="5">
                <a:latin typeface="Calibri"/>
                <a:cs typeface="Calibri"/>
              </a:rPr>
              <a:t> </a:t>
            </a:r>
            <a:r>
              <a:rPr dirty="0" sz="3200">
                <a:latin typeface="宋体"/>
                <a:cs typeface="宋体"/>
              </a:rPr>
              <a:t>需求获取概述</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2.</a:t>
            </a:r>
            <a:r>
              <a:rPr dirty="0" sz="3200" spc="-80">
                <a:latin typeface="Calibri"/>
                <a:cs typeface="Calibri"/>
              </a:rPr>
              <a:t> </a:t>
            </a:r>
            <a:r>
              <a:rPr dirty="0" sz="3200">
                <a:latin typeface="宋体"/>
                <a:cs typeface="宋体"/>
              </a:rPr>
              <a:t>确定项目的前景和范围</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3.</a:t>
            </a:r>
            <a:r>
              <a:rPr dirty="0" sz="3200" spc="-50">
                <a:latin typeface="Calibri"/>
                <a:cs typeface="Calibri"/>
              </a:rPr>
              <a:t> </a:t>
            </a:r>
            <a:r>
              <a:rPr dirty="0" sz="3200">
                <a:latin typeface="宋体"/>
                <a:cs typeface="宋体"/>
              </a:rPr>
              <a:t>涉众分析与硬数据采样</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4.</a:t>
            </a:r>
            <a:r>
              <a:rPr dirty="0" sz="3200" spc="-80">
                <a:latin typeface="Calibri"/>
                <a:cs typeface="Calibri"/>
              </a:rPr>
              <a:t> </a:t>
            </a:r>
            <a:r>
              <a:rPr dirty="0" sz="3200">
                <a:latin typeface="宋体"/>
                <a:cs typeface="宋体"/>
              </a:rPr>
              <a:t>面谈</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Calibri"/>
                <a:cs typeface="Calibri"/>
              </a:rPr>
              <a:t>5.</a:t>
            </a:r>
            <a:r>
              <a:rPr dirty="0" sz="3200" spc="-90">
                <a:latin typeface="Calibri"/>
                <a:cs typeface="Calibri"/>
              </a:rPr>
              <a:t> </a:t>
            </a:r>
            <a:r>
              <a:rPr dirty="0" sz="3200">
                <a:latin typeface="宋体"/>
                <a:cs typeface="宋体"/>
              </a:rPr>
              <a:t>原型</a:t>
            </a:r>
            <a:endParaRPr sz="3200">
              <a:latin typeface="宋体"/>
              <a:cs typeface="宋体"/>
            </a:endParaRPr>
          </a:p>
          <a:p>
            <a:pPr marL="355600" indent="-343535">
              <a:lnSpc>
                <a:spcPct val="100000"/>
              </a:lnSpc>
              <a:buClr>
                <a:srgbClr val="00663B"/>
              </a:buClr>
              <a:buSzPct val="79687"/>
              <a:buFont typeface="Wingdings"/>
              <a:buChar char=""/>
              <a:tabLst>
                <a:tab pos="356235" algn="l"/>
              </a:tabLst>
            </a:pPr>
            <a:r>
              <a:rPr dirty="0" sz="3200">
                <a:latin typeface="宋体"/>
                <a:cs typeface="宋体"/>
              </a:rPr>
              <a:t>本章小结</a:t>
            </a:r>
            <a:endParaRPr sz="3200">
              <a:latin typeface="宋体"/>
              <a:cs typeface="宋体"/>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17562"/>
            <a:ext cx="3992879" cy="236791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solidFill>
                  <a:srgbClr val="FF0000"/>
                </a:solidFill>
                <a:latin typeface="宋体"/>
                <a:cs typeface="宋体"/>
              </a:rPr>
              <a:t>应用原型的必要性</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原型的类别</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原型方法过程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原型方法的风险</a:t>
            </a:r>
            <a:endParaRPr sz="3200">
              <a:latin typeface="宋体"/>
              <a:cs typeface="宋体"/>
            </a:endParaRPr>
          </a:p>
        </p:txBody>
      </p:sp>
      <p:sp>
        <p:nvSpPr>
          <p:cNvPr id="3" name="object 3"/>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8948" y="95757"/>
            <a:ext cx="4625340" cy="1184910"/>
          </a:xfrm>
          <a:prstGeom prst="rect"/>
        </p:spPr>
        <p:txBody>
          <a:bodyPr wrap="square" lIns="0" tIns="12700" rIns="0" bIns="0" rtlCol="0" vert="horz">
            <a:spAutoFit/>
          </a:bodyPr>
          <a:lstStyle/>
          <a:p>
            <a:pPr algn="ctr">
              <a:lnSpc>
                <a:spcPct val="100000"/>
              </a:lnSpc>
              <a:spcBef>
                <a:spcPts val="100"/>
              </a:spcBef>
            </a:pPr>
            <a:r>
              <a:rPr dirty="0" sz="3800">
                <a:latin typeface="Calibri"/>
                <a:cs typeface="Calibri"/>
              </a:rPr>
              <a:t>5.1.</a:t>
            </a:r>
            <a:r>
              <a:rPr dirty="0" sz="3800"/>
              <a:t>应用原型的必要性</a:t>
            </a:r>
            <a:endParaRPr sz="3800">
              <a:latin typeface="Calibri"/>
              <a:cs typeface="Calibri"/>
            </a:endParaRPr>
          </a:p>
          <a:p>
            <a:pPr algn="ctr" marL="917575">
              <a:lnSpc>
                <a:spcPct val="100000"/>
              </a:lnSpc>
              <a:spcBef>
                <a:spcPts val="5"/>
              </a:spcBef>
            </a:pPr>
            <a:r>
              <a:rPr dirty="0" sz="3800">
                <a:latin typeface="Arial"/>
                <a:cs typeface="Arial"/>
              </a:rPr>
              <a:t>——</a:t>
            </a:r>
            <a:r>
              <a:rPr dirty="0" sz="3800" spc="5"/>
              <a:t>什么是原型</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14881"/>
            <a:ext cx="8474710" cy="4514215"/>
          </a:xfrm>
          <a:prstGeom prst="rect">
            <a:avLst/>
          </a:prstGeom>
        </p:spPr>
        <p:txBody>
          <a:bodyPr wrap="square" lIns="0" tIns="13335" rIns="0" bIns="0" rtlCol="0" vert="horz">
            <a:spAutoFit/>
          </a:bodyPr>
          <a:lstStyle/>
          <a:p>
            <a:pPr marL="355600" marR="563880" indent="-343535">
              <a:lnSpc>
                <a:spcPct val="100000"/>
              </a:lnSpc>
              <a:spcBef>
                <a:spcPts val="105"/>
              </a:spcBef>
              <a:buClr>
                <a:srgbClr val="00663B"/>
              </a:buClr>
              <a:buSzPct val="79687"/>
              <a:buFont typeface="Wingdings"/>
              <a:buChar char=""/>
              <a:tabLst>
                <a:tab pos="356235" algn="l"/>
              </a:tabLst>
            </a:pPr>
            <a:r>
              <a:rPr dirty="0" sz="3200">
                <a:latin typeface="Calibri"/>
                <a:cs typeface="Calibri"/>
              </a:rPr>
              <a:t>“</a:t>
            </a:r>
            <a:r>
              <a:rPr dirty="0" sz="3200">
                <a:latin typeface="宋体"/>
                <a:cs typeface="宋体"/>
              </a:rPr>
              <a:t>原型是一个系统，</a:t>
            </a:r>
            <a:r>
              <a:rPr dirty="0" sz="3200" spc="-15">
                <a:latin typeface="宋体"/>
                <a:cs typeface="宋体"/>
              </a:rPr>
              <a:t>它</a:t>
            </a:r>
            <a:r>
              <a:rPr dirty="0" sz="3200">
                <a:latin typeface="宋体"/>
                <a:cs typeface="宋体"/>
              </a:rPr>
              <a:t>内化</a:t>
            </a:r>
            <a:r>
              <a:rPr dirty="0" sz="3200" spc="-15">
                <a:latin typeface="宋体"/>
                <a:cs typeface="宋体"/>
              </a:rPr>
              <a:t>了</a:t>
            </a:r>
            <a:r>
              <a:rPr dirty="0" sz="3200" spc="5">
                <a:latin typeface="宋体"/>
                <a:cs typeface="宋体"/>
              </a:rPr>
              <a:t>（</a:t>
            </a:r>
            <a:r>
              <a:rPr dirty="0" sz="3200">
                <a:latin typeface="Calibri"/>
                <a:cs typeface="Calibri"/>
              </a:rPr>
              <a:t>captur</a:t>
            </a:r>
            <a:r>
              <a:rPr dirty="0" sz="3200" spc="-20">
                <a:latin typeface="Calibri"/>
                <a:cs typeface="Calibri"/>
              </a:rPr>
              <a:t>e</a:t>
            </a:r>
            <a:r>
              <a:rPr dirty="0" sz="3200">
                <a:latin typeface="宋体"/>
                <a:cs typeface="宋体"/>
              </a:rPr>
              <a:t>）一 </a:t>
            </a:r>
            <a:r>
              <a:rPr dirty="0" sz="3200">
                <a:latin typeface="宋体"/>
                <a:cs typeface="宋体"/>
              </a:rPr>
              <a:t>个更迟系统（</a:t>
            </a:r>
            <a:r>
              <a:rPr dirty="0" sz="3200">
                <a:latin typeface="Calibri"/>
                <a:cs typeface="Calibri"/>
              </a:rPr>
              <a:t>later</a:t>
            </a:r>
            <a:r>
              <a:rPr dirty="0" sz="3200" spc="-35">
                <a:latin typeface="Calibri"/>
                <a:cs typeface="Calibri"/>
              </a:rPr>
              <a:t> </a:t>
            </a:r>
            <a:r>
              <a:rPr dirty="0" sz="3200" spc="-5">
                <a:latin typeface="Calibri"/>
                <a:cs typeface="Calibri"/>
              </a:rPr>
              <a:t>system</a:t>
            </a:r>
            <a:r>
              <a:rPr dirty="0" sz="3200" spc="-5">
                <a:latin typeface="宋体"/>
                <a:cs typeface="宋体"/>
              </a:rPr>
              <a:t>）</a:t>
            </a:r>
            <a:r>
              <a:rPr dirty="0" sz="3200">
                <a:latin typeface="宋体"/>
                <a:cs typeface="宋体"/>
              </a:rPr>
              <a:t>的本质特征。</a:t>
            </a:r>
            <a:endParaRPr sz="3200">
              <a:latin typeface="宋体"/>
              <a:cs typeface="宋体"/>
            </a:endParaRPr>
          </a:p>
          <a:p>
            <a:pPr marL="355600" marR="790575">
              <a:lnSpc>
                <a:spcPts val="3600"/>
              </a:lnSpc>
              <a:spcBef>
                <a:spcPts val="565"/>
              </a:spcBef>
            </a:pPr>
            <a:r>
              <a:rPr dirty="0" sz="3200">
                <a:latin typeface="宋体"/>
                <a:cs typeface="宋体"/>
              </a:rPr>
              <a:t>原型系统通常被构造为</a:t>
            </a:r>
            <a:r>
              <a:rPr dirty="0" sz="3200" spc="-15">
                <a:latin typeface="宋体"/>
                <a:cs typeface="宋体"/>
              </a:rPr>
              <a:t>不</a:t>
            </a:r>
            <a:r>
              <a:rPr dirty="0" sz="3200">
                <a:latin typeface="宋体"/>
                <a:cs typeface="宋体"/>
              </a:rPr>
              <a:t>完整</a:t>
            </a:r>
            <a:r>
              <a:rPr dirty="0" sz="3200" spc="-15">
                <a:latin typeface="宋体"/>
                <a:cs typeface="宋体"/>
              </a:rPr>
              <a:t>的</a:t>
            </a:r>
            <a:r>
              <a:rPr dirty="0" sz="3200">
                <a:latin typeface="宋体"/>
                <a:cs typeface="宋体"/>
              </a:rPr>
              <a:t>系统</a:t>
            </a:r>
            <a:r>
              <a:rPr dirty="0" sz="3200" spc="-15">
                <a:latin typeface="宋体"/>
                <a:cs typeface="宋体"/>
              </a:rPr>
              <a:t>，</a:t>
            </a:r>
            <a:r>
              <a:rPr dirty="0" sz="3200">
                <a:latin typeface="宋体"/>
                <a:cs typeface="宋体"/>
              </a:rPr>
              <a:t>以 </a:t>
            </a:r>
            <a:r>
              <a:rPr dirty="0" sz="3200">
                <a:latin typeface="宋体"/>
                <a:cs typeface="宋体"/>
              </a:rPr>
              <a:t>在将来进行改进、补充</a:t>
            </a:r>
            <a:r>
              <a:rPr dirty="0" sz="3200" spc="-15">
                <a:latin typeface="宋体"/>
                <a:cs typeface="宋体"/>
              </a:rPr>
              <a:t>或</a:t>
            </a:r>
            <a:r>
              <a:rPr dirty="0" sz="3200">
                <a:latin typeface="宋体"/>
                <a:cs typeface="宋体"/>
              </a:rPr>
              <a:t>者替</a:t>
            </a:r>
            <a:r>
              <a:rPr dirty="0" sz="3200" spc="-15">
                <a:latin typeface="宋体"/>
                <a:cs typeface="宋体"/>
              </a:rPr>
              <a:t>代</a:t>
            </a:r>
            <a:r>
              <a:rPr dirty="0" sz="3200">
                <a:latin typeface="宋体"/>
                <a:cs typeface="宋体"/>
              </a:rPr>
              <a:t>。”</a:t>
            </a:r>
            <a:endParaRPr sz="3200">
              <a:latin typeface="宋体"/>
              <a:cs typeface="宋体"/>
            </a:endParaRPr>
          </a:p>
          <a:p>
            <a:pPr marL="355600" marR="5080" indent="-343535">
              <a:lnSpc>
                <a:spcPct val="102099"/>
              </a:lnSpc>
              <a:spcBef>
                <a:spcPts val="605"/>
              </a:spcBef>
              <a:buClr>
                <a:srgbClr val="00663B"/>
              </a:buClr>
              <a:buSzPct val="79687"/>
              <a:buFont typeface="Wingdings"/>
              <a:buChar char=""/>
              <a:tabLst>
                <a:tab pos="356235" algn="l"/>
              </a:tabLst>
            </a:pPr>
            <a:r>
              <a:rPr dirty="0" sz="3200">
                <a:latin typeface="宋体"/>
                <a:cs typeface="宋体"/>
              </a:rPr>
              <a:t>如果</a:t>
            </a:r>
            <a:r>
              <a:rPr dirty="0" sz="3200" spc="-15">
                <a:latin typeface="宋体"/>
                <a:cs typeface="宋体"/>
              </a:rPr>
              <a:t>在</a:t>
            </a:r>
            <a:r>
              <a:rPr dirty="0" sz="3200">
                <a:latin typeface="宋体"/>
                <a:cs typeface="宋体"/>
              </a:rPr>
              <a:t>最终</a:t>
            </a:r>
            <a:r>
              <a:rPr dirty="0" sz="3200" spc="-15">
                <a:latin typeface="宋体"/>
                <a:cs typeface="宋体"/>
              </a:rPr>
              <a:t>的</a:t>
            </a:r>
            <a:r>
              <a:rPr dirty="0" sz="3200">
                <a:latin typeface="宋体"/>
                <a:cs typeface="宋体"/>
              </a:rPr>
              <a:t>物件</a:t>
            </a:r>
            <a:r>
              <a:rPr dirty="0" sz="3200" spc="-5">
                <a:latin typeface="宋体"/>
                <a:cs typeface="宋体"/>
              </a:rPr>
              <a:t>（</a:t>
            </a:r>
            <a:r>
              <a:rPr dirty="0" sz="3200" spc="-5">
                <a:latin typeface="Calibri"/>
                <a:cs typeface="Calibri"/>
              </a:rPr>
              <a:t>final </a:t>
            </a:r>
            <a:r>
              <a:rPr dirty="0" sz="3200">
                <a:latin typeface="Calibri"/>
                <a:cs typeface="Calibri"/>
              </a:rPr>
              <a:t>artifact</a:t>
            </a:r>
            <a:r>
              <a:rPr dirty="0" sz="3200">
                <a:latin typeface="宋体"/>
                <a:cs typeface="宋体"/>
              </a:rPr>
              <a:t>）产</a:t>
            </a:r>
            <a:r>
              <a:rPr dirty="0" sz="3200" spc="-15">
                <a:latin typeface="宋体"/>
                <a:cs typeface="宋体"/>
              </a:rPr>
              <a:t>生</a:t>
            </a:r>
            <a:r>
              <a:rPr dirty="0" sz="3200">
                <a:latin typeface="宋体"/>
                <a:cs typeface="宋体"/>
              </a:rPr>
              <a:t>之前，  一个中间物件（</a:t>
            </a:r>
            <a:r>
              <a:rPr dirty="0" sz="3200">
                <a:latin typeface="Calibri"/>
                <a:cs typeface="Calibri"/>
              </a:rPr>
              <a:t>mediate</a:t>
            </a:r>
            <a:r>
              <a:rPr dirty="0" sz="3200" spc="-25">
                <a:latin typeface="Calibri"/>
                <a:cs typeface="Calibri"/>
              </a:rPr>
              <a:t> </a:t>
            </a:r>
            <a:r>
              <a:rPr dirty="0" sz="3200" spc="-5">
                <a:latin typeface="Calibri"/>
                <a:cs typeface="Calibri"/>
              </a:rPr>
              <a:t>artifact</a:t>
            </a:r>
            <a:r>
              <a:rPr dirty="0" sz="3200" spc="-5">
                <a:latin typeface="宋体"/>
                <a:cs typeface="宋体"/>
              </a:rPr>
              <a:t>）</a:t>
            </a:r>
            <a:r>
              <a:rPr dirty="0" sz="3200">
                <a:latin typeface="宋体"/>
                <a:cs typeface="宋体"/>
              </a:rPr>
              <a:t>被用来在 一定</a:t>
            </a:r>
            <a:r>
              <a:rPr dirty="0" sz="3200" spc="-15">
                <a:latin typeface="宋体"/>
                <a:cs typeface="宋体"/>
              </a:rPr>
              <a:t>广</a:t>
            </a:r>
            <a:r>
              <a:rPr dirty="0" sz="3200">
                <a:latin typeface="宋体"/>
                <a:cs typeface="宋体"/>
              </a:rPr>
              <a:t>度和</a:t>
            </a:r>
            <a:r>
              <a:rPr dirty="0" sz="3200" spc="-15">
                <a:latin typeface="宋体"/>
                <a:cs typeface="宋体"/>
              </a:rPr>
              <a:t>深</a:t>
            </a:r>
            <a:r>
              <a:rPr dirty="0" sz="3200">
                <a:latin typeface="宋体"/>
                <a:cs typeface="宋体"/>
              </a:rPr>
              <a:t>度范</a:t>
            </a:r>
            <a:r>
              <a:rPr dirty="0" sz="3200" spc="-15">
                <a:latin typeface="宋体"/>
                <a:cs typeface="宋体"/>
              </a:rPr>
              <a:t>围</a:t>
            </a:r>
            <a:r>
              <a:rPr dirty="0" sz="3200">
                <a:latin typeface="宋体"/>
                <a:cs typeface="宋体"/>
              </a:rPr>
              <a:t>内表</a:t>
            </a:r>
            <a:r>
              <a:rPr dirty="0" sz="3200" spc="-15">
                <a:latin typeface="宋体"/>
                <a:cs typeface="宋体"/>
              </a:rPr>
              <a:t>现</a:t>
            </a:r>
            <a:r>
              <a:rPr dirty="0" sz="3200">
                <a:latin typeface="宋体"/>
                <a:cs typeface="宋体"/>
              </a:rPr>
              <a:t>这个</a:t>
            </a:r>
            <a:r>
              <a:rPr dirty="0" sz="3200" spc="-15">
                <a:latin typeface="宋体"/>
                <a:cs typeface="宋体"/>
              </a:rPr>
              <a:t>最</a:t>
            </a:r>
            <a:r>
              <a:rPr dirty="0" sz="3200">
                <a:latin typeface="宋体"/>
                <a:cs typeface="宋体"/>
              </a:rPr>
              <a:t>终物</a:t>
            </a:r>
            <a:r>
              <a:rPr dirty="0" sz="3200" spc="-15">
                <a:latin typeface="宋体"/>
                <a:cs typeface="宋体"/>
              </a:rPr>
              <a:t>件</a:t>
            </a:r>
            <a:r>
              <a:rPr dirty="0" sz="3200">
                <a:latin typeface="宋体"/>
                <a:cs typeface="宋体"/>
              </a:rPr>
              <a:t>，  那么这个中间物件就被</a:t>
            </a:r>
            <a:r>
              <a:rPr dirty="0" sz="3200" spc="-15">
                <a:latin typeface="宋体"/>
                <a:cs typeface="宋体"/>
              </a:rPr>
              <a:t>认</a:t>
            </a:r>
            <a:r>
              <a:rPr dirty="0" sz="3200">
                <a:latin typeface="宋体"/>
                <a:cs typeface="宋体"/>
              </a:rPr>
              <a:t>为是</a:t>
            </a:r>
            <a:r>
              <a:rPr dirty="0" sz="3200" spc="-15">
                <a:latin typeface="宋体"/>
                <a:cs typeface="宋体"/>
              </a:rPr>
              <a:t>最</a:t>
            </a:r>
            <a:r>
              <a:rPr dirty="0" sz="3200">
                <a:latin typeface="宋体"/>
                <a:cs typeface="宋体"/>
              </a:rPr>
              <a:t>终物</a:t>
            </a:r>
            <a:r>
              <a:rPr dirty="0" sz="3200" spc="-15">
                <a:latin typeface="宋体"/>
                <a:cs typeface="宋体"/>
              </a:rPr>
              <a:t>件</a:t>
            </a:r>
            <a:r>
              <a:rPr dirty="0" sz="3200">
                <a:latin typeface="宋体"/>
                <a:cs typeface="宋体"/>
              </a:rPr>
              <a:t>在</a:t>
            </a:r>
            <a:endParaRPr sz="3200">
              <a:latin typeface="宋体"/>
              <a:cs typeface="宋体"/>
            </a:endParaRPr>
          </a:p>
          <a:p>
            <a:pPr marL="355600">
              <a:lnSpc>
                <a:spcPts val="3600"/>
              </a:lnSpc>
            </a:pPr>
            <a:r>
              <a:rPr dirty="0" sz="3200">
                <a:latin typeface="宋体"/>
                <a:cs typeface="宋体"/>
              </a:rPr>
              <a:t>该广度和深度上的原型。</a:t>
            </a:r>
            <a:endParaRPr sz="3200">
              <a:latin typeface="宋体"/>
              <a:cs typeface="宋体"/>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8948" y="122377"/>
            <a:ext cx="4625340" cy="1184910"/>
          </a:xfrm>
          <a:prstGeom prst="rect"/>
        </p:spPr>
        <p:txBody>
          <a:bodyPr wrap="square" lIns="0" tIns="13335" rIns="0" bIns="0" rtlCol="0" vert="horz">
            <a:spAutoFit/>
          </a:bodyPr>
          <a:lstStyle/>
          <a:p>
            <a:pPr algn="ctr">
              <a:lnSpc>
                <a:spcPct val="100000"/>
              </a:lnSpc>
              <a:spcBef>
                <a:spcPts val="105"/>
              </a:spcBef>
            </a:pPr>
            <a:r>
              <a:rPr dirty="0" sz="3800">
                <a:latin typeface="Calibri"/>
                <a:cs typeface="Calibri"/>
              </a:rPr>
              <a:t>5.1.</a:t>
            </a:r>
            <a:r>
              <a:rPr dirty="0" sz="3800"/>
              <a:t>应用原型的必要性</a:t>
            </a:r>
            <a:endParaRPr sz="3800">
              <a:latin typeface="Calibri"/>
              <a:cs typeface="Calibri"/>
            </a:endParaRPr>
          </a:p>
          <a:p>
            <a:pPr algn="ctr" marL="917575">
              <a:lnSpc>
                <a:spcPct val="100000"/>
              </a:lnSpc>
            </a:pPr>
            <a:r>
              <a:rPr dirty="0" sz="3800">
                <a:latin typeface="Arial"/>
                <a:cs typeface="Arial"/>
              </a:rPr>
              <a:t>——</a:t>
            </a:r>
            <a:r>
              <a:rPr dirty="0" sz="3800"/>
              <a:t>什么是原型</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45361"/>
            <a:ext cx="8091170" cy="3314700"/>
          </a:xfrm>
          <a:prstGeom prst="rect">
            <a:avLst/>
          </a:prstGeom>
        </p:spPr>
        <p:txBody>
          <a:bodyPr wrap="square" lIns="0" tIns="23495" rIns="0" bIns="0" rtlCol="0" vert="horz">
            <a:spAutoFit/>
          </a:bodyPr>
          <a:lstStyle/>
          <a:p>
            <a:pPr marL="355600" marR="5080" indent="-343535">
              <a:lnSpc>
                <a:spcPct val="97900"/>
              </a:lnSpc>
              <a:spcBef>
                <a:spcPts val="185"/>
              </a:spcBef>
              <a:buClr>
                <a:srgbClr val="00663B"/>
              </a:buClr>
              <a:buSzPct val="79687"/>
              <a:buFont typeface="Wingdings"/>
              <a:buChar char=""/>
              <a:tabLst>
                <a:tab pos="356235" algn="l"/>
              </a:tabLst>
            </a:pPr>
            <a:r>
              <a:rPr dirty="0" sz="3200" spc="5">
                <a:latin typeface="宋体"/>
                <a:cs typeface="宋体"/>
              </a:rPr>
              <a:t>包括</a:t>
            </a:r>
            <a:r>
              <a:rPr dirty="0" sz="3200" spc="-15">
                <a:latin typeface="宋体"/>
                <a:cs typeface="宋体"/>
              </a:rPr>
              <a:t>书</a:t>
            </a:r>
            <a:r>
              <a:rPr dirty="0" sz="3200" spc="5">
                <a:latin typeface="宋体"/>
                <a:cs typeface="宋体"/>
              </a:rPr>
              <a:t>面描</a:t>
            </a:r>
            <a:r>
              <a:rPr dirty="0" sz="3200" spc="-15">
                <a:latin typeface="宋体"/>
                <a:cs typeface="宋体"/>
              </a:rPr>
              <a:t>绘</a:t>
            </a:r>
            <a:r>
              <a:rPr dirty="0" sz="3200" spc="5">
                <a:latin typeface="宋体"/>
                <a:cs typeface="宋体"/>
              </a:rPr>
              <a:t>、场</a:t>
            </a:r>
            <a:r>
              <a:rPr dirty="0" sz="3200" spc="-15">
                <a:latin typeface="宋体"/>
                <a:cs typeface="宋体"/>
              </a:rPr>
              <a:t>景</a:t>
            </a:r>
            <a:r>
              <a:rPr dirty="0" sz="3200" spc="5">
                <a:latin typeface="宋体"/>
                <a:cs typeface="宋体"/>
              </a:rPr>
              <a:t>叙述</a:t>
            </a:r>
            <a:r>
              <a:rPr dirty="0" sz="3200" spc="-15">
                <a:latin typeface="宋体"/>
                <a:cs typeface="宋体"/>
              </a:rPr>
              <a:t>、</a:t>
            </a:r>
            <a:r>
              <a:rPr dirty="0" sz="3200" spc="5">
                <a:latin typeface="宋体"/>
                <a:cs typeface="宋体"/>
              </a:rPr>
              <a:t>情节</a:t>
            </a:r>
            <a:r>
              <a:rPr dirty="0" sz="3200" spc="-15">
                <a:latin typeface="宋体"/>
                <a:cs typeface="宋体"/>
              </a:rPr>
              <a:t>串</a:t>
            </a:r>
            <a:r>
              <a:rPr dirty="0" sz="3200" spc="5">
                <a:latin typeface="宋体"/>
                <a:cs typeface="宋体"/>
              </a:rPr>
              <a:t>联图</a:t>
            </a:r>
            <a:r>
              <a:rPr dirty="0" sz="3200" spc="-15">
                <a:latin typeface="宋体"/>
                <a:cs typeface="宋体"/>
              </a:rPr>
              <a:t>板</a:t>
            </a:r>
            <a:r>
              <a:rPr dirty="0" sz="3200">
                <a:latin typeface="宋体"/>
                <a:cs typeface="宋体"/>
              </a:rPr>
              <a:t>、 </a:t>
            </a:r>
            <a:r>
              <a:rPr dirty="0" sz="3200">
                <a:latin typeface="宋体"/>
                <a:cs typeface="宋体"/>
              </a:rPr>
              <a:t>幻灯演示、动画模拟、</a:t>
            </a:r>
            <a:r>
              <a:rPr dirty="0" sz="3200" spc="-15">
                <a:latin typeface="宋体"/>
                <a:cs typeface="宋体"/>
              </a:rPr>
              <a:t>屏</a:t>
            </a:r>
            <a:r>
              <a:rPr dirty="0" sz="3200">
                <a:latin typeface="宋体"/>
                <a:cs typeface="宋体"/>
              </a:rPr>
              <a:t>幕快</a:t>
            </a:r>
            <a:r>
              <a:rPr dirty="0" sz="3200" spc="-15">
                <a:latin typeface="宋体"/>
                <a:cs typeface="宋体"/>
              </a:rPr>
              <a:t>照</a:t>
            </a:r>
            <a:r>
              <a:rPr dirty="0" sz="3200">
                <a:latin typeface="宋体"/>
                <a:cs typeface="宋体"/>
              </a:rPr>
              <a:t>和程</a:t>
            </a:r>
            <a:r>
              <a:rPr dirty="0" sz="3200" spc="-15">
                <a:latin typeface="宋体"/>
                <a:cs typeface="宋体"/>
              </a:rPr>
              <a:t>序</a:t>
            </a:r>
            <a:r>
              <a:rPr dirty="0" sz="3200">
                <a:latin typeface="宋体"/>
                <a:cs typeface="宋体"/>
              </a:rPr>
              <a:t>代 码等在内的各种被用来</a:t>
            </a:r>
            <a:r>
              <a:rPr dirty="0" sz="3200" spc="-15">
                <a:latin typeface="宋体"/>
                <a:cs typeface="宋体"/>
              </a:rPr>
              <a:t>探</a:t>
            </a:r>
            <a:r>
              <a:rPr dirty="0" sz="3200">
                <a:latin typeface="宋体"/>
                <a:cs typeface="宋体"/>
              </a:rPr>
              <a:t>索和</a:t>
            </a:r>
            <a:r>
              <a:rPr dirty="0" sz="3200" spc="-15">
                <a:latin typeface="宋体"/>
                <a:cs typeface="宋体"/>
              </a:rPr>
              <a:t>论</a:t>
            </a:r>
            <a:r>
              <a:rPr dirty="0" sz="3200">
                <a:latin typeface="宋体"/>
                <a:cs typeface="宋体"/>
              </a:rPr>
              <a:t>证软</a:t>
            </a:r>
            <a:r>
              <a:rPr dirty="0" sz="3200" spc="-15">
                <a:latin typeface="宋体"/>
                <a:cs typeface="宋体"/>
              </a:rPr>
              <a:t>件</a:t>
            </a:r>
            <a:r>
              <a:rPr dirty="0" sz="3200">
                <a:latin typeface="宋体"/>
                <a:cs typeface="宋体"/>
              </a:rPr>
              <a:t>系 统功能的物件都是软件</a:t>
            </a:r>
            <a:r>
              <a:rPr dirty="0" sz="3200" spc="-15">
                <a:latin typeface="宋体"/>
                <a:cs typeface="宋体"/>
              </a:rPr>
              <a:t>的</a:t>
            </a:r>
            <a:r>
              <a:rPr dirty="0" sz="3200">
                <a:latin typeface="宋体"/>
                <a:cs typeface="宋体"/>
              </a:rPr>
              <a:t>原型</a:t>
            </a:r>
            <a:endParaRPr sz="3200">
              <a:latin typeface="宋体"/>
              <a:cs typeface="宋体"/>
            </a:endParaRPr>
          </a:p>
          <a:p>
            <a:pPr algn="just" lvl="1" marL="756285" marR="222250" indent="-287020">
              <a:lnSpc>
                <a:spcPct val="96800"/>
              </a:lnSpc>
              <a:spcBef>
                <a:spcPts val="1015"/>
              </a:spcBef>
              <a:buClr>
                <a:srgbClr val="C00000"/>
              </a:buClr>
              <a:buSzPct val="58928"/>
              <a:buFont typeface="Wingdings"/>
              <a:buChar char=""/>
              <a:tabLst>
                <a:tab pos="756920" algn="l"/>
              </a:tabLst>
            </a:pPr>
            <a:r>
              <a:rPr dirty="0" sz="2800" spc="-5">
                <a:latin typeface="宋体"/>
                <a:cs typeface="宋体"/>
              </a:rPr>
              <a:t>一个组织会发展出自己独特的原型</a:t>
            </a:r>
            <a:r>
              <a:rPr dirty="0" sz="2800">
                <a:latin typeface="宋体"/>
                <a:cs typeface="宋体"/>
              </a:rPr>
              <a:t>文</a:t>
            </a:r>
            <a:r>
              <a:rPr dirty="0" sz="2800" spc="-5">
                <a:latin typeface="宋体"/>
                <a:cs typeface="宋体"/>
              </a:rPr>
              <a:t>化，</a:t>
            </a:r>
            <a:r>
              <a:rPr dirty="0" sz="2800">
                <a:latin typeface="宋体"/>
                <a:cs typeface="宋体"/>
              </a:rPr>
              <a:t>这</a:t>
            </a:r>
            <a:r>
              <a:rPr dirty="0" sz="2800" spc="-5">
                <a:latin typeface="宋体"/>
                <a:cs typeface="宋体"/>
              </a:rPr>
              <a:t>些 原型文化仅仅将一些限定类型的事</a:t>
            </a:r>
            <a:r>
              <a:rPr dirty="0" sz="2800">
                <a:latin typeface="宋体"/>
                <a:cs typeface="宋体"/>
              </a:rPr>
              <a:t>物</a:t>
            </a:r>
            <a:r>
              <a:rPr dirty="0" sz="2800" spc="-5">
                <a:latin typeface="宋体"/>
                <a:cs typeface="宋体"/>
              </a:rPr>
              <a:t>看作</a:t>
            </a:r>
            <a:r>
              <a:rPr dirty="0" sz="2800">
                <a:latin typeface="宋体"/>
                <a:cs typeface="宋体"/>
              </a:rPr>
              <a:t>是</a:t>
            </a:r>
            <a:r>
              <a:rPr dirty="0" sz="2800" spc="-5">
                <a:latin typeface="宋体"/>
                <a:cs typeface="宋体"/>
              </a:rPr>
              <a:t>有 </a:t>
            </a:r>
            <a:r>
              <a:rPr dirty="0" sz="2800" spc="-10">
                <a:latin typeface="宋体"/>
                <a:cs typeface="宋体"/>
              </a:rPr>
              <a:t>效的原型</a:t>
            </a:r>
            <a:endParaRPr sz="2800">
              <a:latin typeface="宋体"/>
              <a:cs typeface="宋体"/>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8948" y="122377"/>
            <a:ext cx="4625340" cy="1184910"/>
          </a:xfrm>
          <a:prstGeom prst="rect"/>
        </p:spPr>
        <p:txBody>
          <a:bodyPr wrap="square" lIns="0" tIns="13335" rIns="0" bIns="0" rtlCol="0" vert="horz">
            <a:spAutoFit/>
          </a:bodyPr>
          <a:lstStyle/>
          <a:p>
            <a:pPr algn="ctr">
              <a:lnSpc>
                <a:spcPct val="100000"/>
              </a:lnSpc>
              <a:spcBef>
                <a:spcPts val="105"/>
              </a:spcBef>
            </a:pPr>
            <a:r>
              <a:rPr dirty="0" sz="3800">
                <a:latin typeface="Calibri"/>
                <a:cs typeface="Calibri"/>
              </a:rPr>
              <a:t>5.1.</a:t>
            </a:r>
            <a:r>
              <a:rPr dirty="0" sz="3800"/>
              <a:t>应用原型的必要性</a:t>
            </a:r>
            <a:endParaRPr sz="3800">
              <a:latin typeface="Calibri"/>
              <a:cs typeface="Calibri"/>
            </a:endParaRPr>
          </a:p>
          <a:p>
            <a:pPr algn="ctr" marL="917575">
              <a:lnSpc>
                <a:spcPct val="100000"/>
              </a:lnSpc>
            </a:pPr>
            <a:r>
              <a:rPr dirty="0" sz="3800">
                <a:latin typeface="Arial"/>
                <a:cs typeface="Arial"/>
              </a:rPr>
              <a:t>——</a:t>
            </a:r>
            <a:r>
              <a:rPr dirty="0" sz="3800"/>
              <a:t>什么是原型</a:t>
            </a:r>
            <a:endParaRPr sz="3800">
              <a:latin typeface="Arial"/>
              <a:cs typeface="Arial"/>
            </a:endParaRPr>
          </a:p>
        </p:txBody>
      </p:sp>
      <p:sp>
        <p:nvSpPr>
          <p:cNvPr id="3" name="object 3"/>
          <p:cNvSpPr/>
          <p:nvPr/>
        </p:nvSpPr>
        <p:spPr>
          <a:xfrm>
            <a:off x="2221992" y="1780032"/>
            <a:ext cx="5372100" cy="3657600"/>
          </a:xfrm>
          <a:prstGeom prst="rect">
            <a:avLst/>
          </a:prstGeom>
          <a:blipFill>
            <a:blip r:embed="rId2" cstate="print"/>
            <a:stretch>
              <a:fillRect/>
            </a:stretch>
          </a:blipFill>
        </p:spPr>
        <p:txBody>
          <a:bodyPr wrap="square" lIns="0" tIns="0" rIns="0" bIns="0" rtlCol="0"/>
          <a:lstStyle/>
          <a:p/>
        </p:txBody>
      </p:sp>
      <p:sp>
        <p:nvSpPr>
          <p:cNvPr id="4" name="object 4"/>
          <p:cNvSpPr txBox="1"/>
          <p:nvPr/>
        </p:nvSpPr>
        <p:spPr>
          <a:xfrm>
            <a:off x="4036314" y="5540146"/>
            <a:ext cx="1866900" cy="299720"/>
          </a:xfrm>
          <a:prstGeom prst="rect">
            <a:avLst/>
          </a:prstGeom>
        </p:spPr>
        <p:txBody>
          <a:bodyPr wrap="square" lIns="0" tIns="12700" rIns="0" bIns="0" rtlCol="0" vert="horz">
            <a:spAutoFit/>
          </a:bodyPr>
          <a:lstStyle/>
          <a:p>
            <a:pPr marL="12700">
              <a:lnSpc>
                <a:spcPct val="100000"/>
              </a:lnSpc>
              <a:spcBef>
                <a:spcPts val="100"/>
              </a:spcBef>
            </a:pPr>
            <a:r>
              <a:rPr dirty="0" sz="1800" b="1">
                <a:latin typeface="宋体"/>
                <a:cs typeface="宋体"/>
              </a:rPr>
              <a:t>纸质界面原型实例</a:t>
            </a:r>
            <a:endParaRPr sz="1800">
              <a:latin typeface="宋体"/>
              <a:cs typeface="宋体"/>
            </a:endParaRPr>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8948" y="122377"/>
            <a:ext cx="4625340" cy="1184910"/>
          </a:xfrm>
          <a:prstGeom prst="rect"/>
        </p:spPr>
        <p:txBody>
          <a:bodyPr wrap="square" lIns="0" tIns="13335" rIns="0" bIns="0" rtlCol="0" vert="horz">
            <a:spAutoFit/>
          </a:bodyPr>
          <a:lstStyle/>
          <a:p>
            <a:pPr algn="ctr">
              <a:lnSpc>
                <a:spcPct val="100000"/>
              </a:lnSpc>
              <a:spcBef>
                <a:spcPts val="105"/>
              </a:spcBef>
            </a:pPr>
            <a:r>
              <a:rPr dirty="0" sz="3800">
                <a:latin typeface="Calibri"/>
                <a:cs typeface="Calibri"/>
              </a:rPr>
              <a:t>5.1.</a:t>
            </a:r>
            <a:r>
              <a:rPr dirty="0" sz="3800"/>
              <a:t>应用原型的必要性</a:t>
            </a:r>
            <a:endParaRPr sz="3800">
              <a:latin typeface="Calibri"/>
              <a:cs typeface="Calibri"/>
            </a:endParaRPr>
          </a:p>
          <a:p>
            <a:pPr algn="ctr" marL="917575">
              <a:lnSpc>
                <a:spcPct val="100000"/>
              </a:lnSpc>
            </a:pPr>
            <a:r>
              <a:rPr dirty="0" sz="3800">
                <a:latin typeface="Arial"/>
                <a:cs typeface="Arial"/>
              </a:rPr>
              <a:t>——</a:t>
            </a:r>
            <a:r>
              <a:rPr dirty="0" sz="3800"/>
              <a:t>什么是原型</a:t>
            </a:r>
            <a:endParaRPr sz="3800">
              <a:latin typeface="Arial"/>
              <a:cs typeface="Arial"/>
            </a:endParaRPr>
          </a:p>
        </p:txBody>
      </p:sp>
      <p:sp>
        <p:nvSpPr>
          <p:cNvPr id="3" name="object 3"/>
          <p:cNvSpPr/>
          <p:nvPr/>
        </p:nvSpPr>
        <p:spPr>
          <a:xfrm>
            <a:off x="675131" y="1888235"/>
            <a:ext cx="8296656" cy="3534155"/>
          </a:xfrm>
          <a:prstGeom prst="rect">
            <a:avLst/>
          </a:prstGeom>
          <a:blipFill>
            <a:blip r:embed="rId2" cstate="print"/>
            <a:stretch>
              <a:fillRect/>
            </a:stretch>
          </a:blipFill>
        </p:spPr>
        <p:txBody>
          <a:bodyPr wrap="square" lIns="0" tIns="0" rIns="0" bIns="0" rtlCol="0"/>
          <a:lstStyle/>
          <a:p/>
        </p:txBody>
      </p:sp>
      <p:sp>
        <p:nvSpPr>
          <p:cNvPr id="4" name="object 4"/>
          <p:cNvSpPr txBox="1"/>
          <p:nvPr/>
        </p:nvSpPr>
        <p:spPr>
          <a:xfrm>
            <a:off x="3887470" y="5540146"/>
            <a:ext cx="1869439" cy="299720"/>
          </a:xfrm>
          <a:prstGeom prst="rect">
            <a:avLst/>
          </a:prstGeom>
        </p:spPr>
        <p:txBody>
          <a:bodyPr wrap="square" lIns="0" tIns="12700" rIns="0" bIns="0" rtlCol="0" vert="horz">
            <a:spAutoFit/>
          </a:bodyPr>
          <a:lstStyle/>
          <a:p>
            <a:pPr marL="12700">
              <a:lnSpc>
                <a:spcPct val="100000"/>
              </a:lnSpc>
              <a:spcBef>
                <a:spcPts val="100"/>
              </a:spcBef>
            </a:pPr>
            <a:r>
              <a:rPr dirty="0" sz="1800" b="1">
                <a:latin typeface="宋体"/>
                <a:cs typeface="宋体"/>
              </a:rPr>
              <a:t>原型的常见介质。</a:t>
            </a:r>
            <a:endParaRPr sz="1800">
              <a:latin typeface="宋体"/>
              <a:cs typeface="宋体"/>
            </a:endParaRPr>
          </a:p>
        </p:txBody>
      </p:sp>
      <p:sp>
        <p:nvSpPr>
          <p:cNvPr id="5" name="object 5"/>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8948" y="143078"/>
            <a:ext cx="5198745" cy="1184910"/>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5.1.</a:t>
            </a:r>
            <a:r>
              <a:rPr dirty="0" sz="3800"/>
              <a:t>应用原型的必要性</a:t>
            </a:r>
            <a:endParaRPr sz="3800">
              <a:latin typeface="Calibri"/>
              <a:cs typeface="Calibri"/>
            </a:endParaRPr>
          </a:p>
          <a:p>
            <a:pPr marL="354330">
              <a:lnSpc>
                <a:spcPct val="100000"/>
              </a:lnSpc>
            </a:pPr>
            <a:r>
              <a:rPr dirty="0" sz="3800">
                <a:latin typeface="Arial"/>
                <a:cs typeface="Arial"/>
              </a:rPr>
              <a:t>——</a:t>
            </a:r>
            <a:r>
              <a:rPr dirty="0" sz="3800"/>
              <a:t>为什么要利用原型</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35067"/>
            <a:ext cx="8025765" cy="3995420"/>
          </a:xfrm>
          <a:prstGeom prst="rect">
            <a:avLst/>
          </a:prstGeom>
        </p:spPr>
        <p:txBody>
          <a:bodyPr wrap="square" lIns="0" tIns="95885" rIns="0" bIns="0" rtlCol="0" vert="horz">
            <a:spAutoFit/>
          </a:bodyPr>
          <a:lstStyle/>
          <a:p>
            <a:pPr marL="355600" indent="-343535">
              <a:lnSpc>
                <a:spcPct val="100000"/>
              </a:lnSpc>
              <a:spcBef>
                <a:spcPts val="755"/>
              </a:spcBef>
              <a:buClr>
                <a:srgbClr val="00663B"/>
              </a:buClr>
              <a:buSzPct val="78846"/>
              <a:buFont typeface="Wingdings"/>
              <a:buChar char=""/>
              <a:tabLst>
                <a:tab pos="355600" algn="l"/>
                <a:tab pos="356235" algn="l"/>
              </a:tabLst>
            </a:pPr>
            <a:r>
              <a:rPr dirty="0" sz="2600">
                <a:latin typeface="宋体"/>
                <a:cs typeface="宋体"/>
              </a:rPr>
              <a:t>利用原型的好处有：</a:t>
            </a:r>
            <a:endParaRPr sz="2600">
              <a:latin typeface="宋体"/>
              <a:cs typeface="宋体"/>
            </a:endParaRPr>
          </a:p>
          <a:p>
            <a:pPr lvl="1" marL="756285" indent="-287020">
              <a:lnSpc>
                <a:spcPct val="100000"/>
              </a:lnSpc>
              <a:spcBef>
                <a:spcPts val="550"/>
              </a:spcBef>
              <a:buClr>
                <a:srgbClr val="C00000"/>
              </a:buClr>
              <a:buSzPct val="59090"/>
              <a:buFont typeface="Wingdings"/>
              <a:buChar char=""/>
              <a:tabLst>
                <a:tab pos="756285" algn="l"/>
                <a:tab pos="756920" algn="l"/>
              </a:tabLst>
            </a:pPr>
            <a:r>
              <a:rPr dirty="0" sz="2200" spc="-5">
                <a:solidFill>
                  <a:srgbClr val="FF0000"/>
                </a:solidFill>
                <a:latin typeface="宋体"/>
                <a:cs typeface="宋体"/>
              </a:rPr>
              <a:t>提高用户在软件开发中的参与程度；</a:t>
            </a:r>
            <a:endParaRPr sz="2200">
              <a:latin typeface="宋体"/>
              <a:cs typeface="宋体"/>
            </a:endParaRPr>
          </a:p>
          <a:p>
            <a:pPr lvl="1" marL="756285" indent="-287020">
              <a:lnSpc>
                <a:spcPct val="100000"/>
              </a:lnSpc>
              <a:spcBef>
                <a:spcPts val="525"/>
              </a:spcBef>
              <a:buClr>
                <a:srgbClr val="C00000"/>
              </a:buClr>
              <a:buSzPct val="59090"/>
              <a:buFont typeface="Wingdings"/>
              <a:buChar char=""/>
              <a:tabLst>
                <a:tab pos="756285" algn="l"/>
                <a:tab pos="756920" algn="l"/>
              </a:tabLst>
            </a:pPr>
            <a:r>
              <a:rPr dirty="0" sz="2200" spc="-5">
                <a:solidFill>
                  <a:srgbClr val="FF0000"/>
                </a:solidFill>
                <a:latin typeface="宋体"/>
                <a:cs typeface="宋体"/>
              </a:rPr>
              <a:t>及时、有力的响应用户需求的变化；</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减少返工；</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减少开发成本，提高经济效益；</a:t>
            </a:r>
            <a:endParaRPr sz="2200">
              <a:latin typeface="宋体"/>
              <a:cs typeface="宋体"/>
            </a:endParaRPr>
          </a:p>
          <a:p>
            <a:pPr lvl="1" marL="756285" indent="-287020">
              <a:lnSpc>
                <a:spcPct val="100000"/>
              </a:lnSpc>
              <a:spcBef>
                <a:spcPts val="530"/>
              </a:spcBef>
              <a:buClr>
                <a:srgbClr val="C00000"/>
              </a:buClr>
              <a:buSzPct val="59090"/>
              <a:buFont typeface="Wingdings"/>
              <a:buChar char=""/>
              <a:tabLst>
                <a:tab pos="756285" algn="l"/>
                <a:tab pos="756920" algn="l"/>
              </a:tabLst>
            </a:pPr>
            <a:r>
              <a:rPr dirty="0" sz="2200" spc="-5">
                <a:latin typeface="宋体"/>
                <a:cs typeface="宋体"/>
              </a:rPr>
              <a:t>有效的识别风险和解决风险，帮助</a:t>
            </a:r>
            <a:r>
              <a:rPr dirty="0" sz="2200">
                <a:latin typeface="宋体"/>
                <a:cs typeface="宋体"/>
              </a:rPr>
              <a:t>进</a:t>
            </a:r>
            <a:r>
              <a:rPr dirty="0" sz="2200" spc="-5">
                <a:latin typeface="宋体"/>
                <a:cs typeface="宋体"/>
              </a:rPr>
              <a:t>行风</a:t>
            </a:r>
            <a:r>
              <a:rPr dirty="0" sz="2200">
                <a:latin typeface="宋体"/>
                <a:cs typeface="宋体"/>
              </a:rPr>
              <a:t>险</a:t>
            </a:r>
            <a:r>
              <a:rPr dirty="0" sz="2200" spc="-5">
                <a:latin typeface="宋体"/>
                <a:cs typeface="宋体"/>
              </a:rPr>
              <a:t>管理；</a:t>
            </a:r>
            <a:endParaRPr sz="2200">
              <a:latin typeface="宋体"/>
              <a:cs typeface="宋体"/>
            </a:endParaRPr>
          </a:p>
          <a:p>
            <a:pPr lvl="1" marL="756285" indent="-287020">
              <a:lnSpc>
                <a:spcPct val="100000"/>
              </a:lnSpc>
              <a:spcBef>
                <a:spcPts val="525"/>
              </a:spcBef>
              <a:buClr>
                <a:srgbClr val="C00000"/>
              </a:buClr>
              <a:buSzPct val="59090"/>
              <a:buFont typeface="Wingdings"/>
              <a:buChar char=""/>
              <a:tabLst>
                <a:tab pos="756285" algn="l"/>
                <a:tab pos="756920" algn="l"/>
              </a:tabLst>
            </a:pPr>
            <a:r>
              <a:rPr dirty="0" sz="2200" spc="-5">
                <a:solidFill>
                  <a:srgbClr val="FF0000"/>
                </a:solidFill>
                <a:latin typeface="宋体"/>
                <a:cs typeface="宋体"/>
              </a:rPr>
              <a:t>帮助控制不完整需求所带来的风险；</a:t>
            </a:r>
            <a:endParaRPr sz="2200">
              <a:latin typeface="宋体"/>
              <a:cs typeface="宋体"/>
            </a:endParaRPr>
          </a:p>
          <a:p>
            <a:pPr algn="just" lvl="1" marL="756285" marR="5080" indent="-287020">
              <a:lnSpc>
                <a:spcPct val="96900"/>
              </a:lnSpc>
              <a:spcBef>
                <a:spcPts val="780"/>
              </a:spcBef>
              <a:buClr>
                <a:srgbClr val="C00000"/>
              </a:buClr>
              <a:buSzPct val="59090"/>
              <a:buFont typeface="Wingdings"/>
              <a:buChar char=""/>
              <a:tabLst>
                <a:tab pos="756920" algn="l"/>
              </a:tabLst>
            </a:pPr>
            <a:r>
              <a:rPr dirty="0" sz="2200" spc="-10">
                <a:latin typeface="宋体"/>
                <a:cs typeface="宋体"/>
              </a:rPr>
              <a:t>可以将一个大的难以处理的开发过</a:t>
            </a:r>
            <a:r>
              <a:rPr dirty="0" sz="2200">
                <a:latin typeface="宋体"/>
                <a:cs typeface="宋体"/>
              </a:rPr>
              <a:t>程</a:t>
            </a:r>
            <a:r>
              <a:rPr dirty="0" sz="2200" spc="-10">
                <a:latin typeface="宋体"/>
                <a:cs typeface="宋体"/>
              </a:rPr>
              <a:t>细分</a:t>
            </a:r>
            <a:r>
              <a:rPr dirty="0" sz="2200">
                <a:latin typeface="宋体"/>
                <a:cs typeface="宋体"/>
              </a:rPr>
              <a:t>成</a:t>
            </a:r>
            <a:r>
              <a:rPr dirty="0" sz="2200" spc="-10">
                <a:latin typeface="宋体"/>
                <a:cs typeface="宋体"/>
              </a:rPr>
              <a:t>一些</a:t>
            </a:r>
            <a:r>
              <a:rPr dirty="0" sz="2200">
                <a:latin typeface="宋体"/>
                <a:cs typeface="宋体"/>
              </a:rPr>
              <a:t>更</a:t>
            </a:r>
            <a:r>
              <a:rPr dirty="0" sz="2200" spc="-10">
                <a:latin typeface="宋体"/>
                <a:cs typeface="宋体"/>
              </a:rPr>
              <a:t>小更</a:t>
            </a:r>
            <a:r>
              <a:rPr dirty="0" sz="2200">
                <a:latin typeface="宋体"/>
                <a:cs typeface="宋体"/>
              </a:rPr>
              <a:t>容</a:t>
            </a:r>
            <a:r>
              <a:rPr dirty="0" sz="2200" spc="-5">
                <a:latin typeface="宋体"/>
                <a:cs typeface="宋体"/>
              </a:rPr>
              <a:t>易 </a:t>
            </a:r>
            <a:r>
              <a:rPr dirty="0" sz="2200" spc="-5">
                <a:latin typeface="宋体"/>
                <a:cs typeface="宋体"/>
              </a:rPr>
              <a:t>处理的步骤；增加开发者之间的交</a:t>
            </a:r>
            <a:r>
              <a:rPr dirty="0" sz="2200">
                <a:latin typeface="宋体"/>
                <a:cs typeface="宋体"/>
              </a:rPr>
              <a:t>流</a:t>
            </a:r>
            <a:r>
              <a:rPr dirty="0" sz="2200" spc="-5">
                <a:latin typeface="宋体"/>
                <a:cs typeface="宋体"/>
              </a:rPr>
              <a:t>，帮</a:t>
            </a:r>
            <a:r>
              <a:rPr dirty="0" sz="2200">
                <a:latin typeface="宋体"/>
                <a:cs typeface="宋体"/>
              </a:rPr>
              <a:t>助</a:t>
            </a:r>
            <a:r>
              <a:rPr dirty="0" sz="2200" spc="-5">
                <a:latin typeface="宋体"/>
                <a:cs typeface="宋体"/>
              </a:rPr>
              <a:t>确定</a:t>
            </a:r>
            <a:r>
              <a:rPr dirty="0" sz="2200">
                <a:latin typeface="宋体"/>
                <a:cs typeface="宋体"/>
              </a:rPr>
              <a:t>技</a:t>
            </a:r>
            <a:r>
              <a:rPr dirty="0" sz="2200" spc="-5">
                <a:latin typeface="宋体"/>
                <a:cs typeface="宋体"/>
              </a:rPr>
              <a:t>术解</a:t>
            </a:r>
            <a:r>
              <a:rPr dirty="0" sz="2200">
                <a:latin typeface="宋体"/>
                <a:cs typeface="宋体"/>
              </a:rPr>
              <a:t>决</a:t>
            </a:r>
            <a:r>
              <a:rPr dirty="0" sz="2200" spc="-5">
                <a:latin typeface="宋体"/>
                <a:cs typeface="宋体"/>
              </a:rPr>
              <a:t>方 </a:t>
            </a:r>
            <a:r>
              <a:rPr dirty="0" sz="2200" spc="-5">
                <a:latin typeface="宋体"/>
                <a:cs typeface="宋体"/>
              </a:rPr>
              <a:t>案的可行性；</a:t>
            </a:r>
            <a:endParaRPr sz="2200">
              <a:latin typeface="宋体"/>
              <a:cs typeface="宋体"/>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0705" y="115011"/>
            <a:ext cx="4856480" cy="1184910"/>
          </a:xfrm>
          <a:prstGeom prst="rect"/>
        </p:spPr>
        <p:txBody>
          <a:bodyPr wrap="square" lIns="0" tIns="13335" rIns="0" bIns="0" rtlCol="0" vert="horz">
            <a:spAutoFit/>
          </a:bodyPr>
          <a:lstStyle/>
          <a:p>
            <a:pPr marL="341630">
              <a:lnSpc>
                <a:spcPct val="100000"/>
              </a:lnSpc>
              <a:spcBef>
                <a:spcPts val="105"/>
              </a:spcBef>
            </a:pPr>
            <a:r>
              <a:rPr dirty="0" sz="3800">
                <a:latin typeface="Calibri"/>
                <a:cs typeface="Calibri"/>
              </a:rPr>
              <a:t>5.2.</a:t>
            </a:r>
            <a:r>
              <a:rPr dirty="0" sz="3800" spc="-20">
                <a:latin typeface="Calibri"/>
                <a:cs typeface="Calibri"/>
              </a:rPr>
              <a:t> </a:t>
            </a:r>
            <a:r>
              <a:rPr dirty="0" sz="3800"/>
              <a:t>原型的类别</a:t>
            </a:r>
            <a:endParaRPr sz="3800">
              <a:latin typeface="Calibri"/>
              <a:cs typeface="Calibri"/>
            </a:endParaRPr>
          </a:p>
          <a:p>
            <a:pPr marL="12700">
              <a:lnSpc>
                <a:spcPct val="100000"/>
              </a:lnSpc>
            </a:pPr>
            <a:r>
              <a:rPr dirty="0" sz="3800">
                <a:latin typeface="Arial"/>
                <a:cs typeface="Arial"/>
              </a:rPr>
              <a:t>——</a:t>
            </a:r>
            <a:r>
              <a:rPr dirty="0" sz="3800"/>
              <a:t>按照开发方法分类</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09743"/>
            <a:ext cx="8025765" cy="4569460"/>
          </a:xfrm>
          <a:prstGeom prst="rect">
            <a:avLst/>
          </a:prstGeom>
        </p:spPr>
        <p:txBody>
          <a:bodyPr wrap="square" lIns="0" tIns="121285" rIns="0" bIns="0" rtlCol="0" vert="horz">
            <a:spAutoFit/>
          </a:bodyPr>
          <a:lstStyle/>
          <a:p>
            <a:pPr marL="355600" indent="-343535">
              <a:lnSpc>
                <a:spcPct val="100000"/>
              </a:lnSpc>
              <a:spcBef>
                <a:spcPts val="955"/>
              </a:spcBef>
              <a:buClr>
                <a:srgbClr val="00663B"/>
              </a:buClr>
              <a:buSzPct val="78846"/>
              <a:buFont typeface="Wingdings"/>
              <a:buChar char=""/>
              <a:tabLst>
                <a:tab pos="355600" algn="l"/>
                <a:tab pos="356235" algn="l"/>
              </a:tabLst>
            </a:pPr>
            <a:r>
              <a:rPr dirty="0" sz="2600" b="1">
                <a:latin typeface="宋体"/>
                <a:cs typeface="宋体"/>
              </a:rPr>
              <a:t>探索式</a:t>
            </a:r>
            <a:r>
              <a:rPr dirty="0" sz="2600" spc="-5" b="1">
                <a:latin typeface="宋体"/>
                <a:cs typeface="宋体"/>
              </a:rPr>
              <a:t>（</a:t>
            </a:r>
            <a:r>
              <a:rPr dirty="0" sz="2600" spc="-5" b="1">
                <a:latin typeface="Calibri"/>
                <a:cs typeface="Calibri"/>
              </a:rPr>
              <a:t>exploratory</a:t>
            </a:r>
            <a:r>
              <a:rPr dirty="0" sz="2600" spc="-5" b="1">
                <a:latin typeface="宋体"/>
                <a:cs typeface="宋体"/>
              </a:rPr>
              <a:t>）</a:t>
            </a:r>
            <a:endParaRPr sz="2600">
              <a:latin typeface="宋体"/>
              <a:cs typeface="宋体"/>
            </a:endParaRPr>
          </a:p>
          <a:p>
            <a:pPr lvl="1" marL="756285" marR="5080" indent="-287020">
              <a:lnSpc>
                <a:spcPts val="2470"/>
              </a:lnSpc>
              <a:spcBef>
                <a:spcPts val="940"/>
              </a:spcBef>
              <a:buClr>
                <a:srgbClr val="C00000"/>
              </a:buClr>
              <a:buSzPct val="59090"/>
              <a:buFont typeface="Wingdings"/>
              <a:buChar char=""/>
              <a:tabLst>
                <a:tab pos="756285" algn="l"/>
                <a:tab pos="756920" algn="l"/>
              </a:tabLst>
            </a:pPr>
            <a:r>
              <a:rPr dirty="0" sz="2200" spc="-5">
                <a:latin typeface="宋体"/>
                <a:cs typeface="宋体"/>
              </a:rPr>
              <a:t>以</a:t>
            </a:r>
            <a:r>
              <a:rPr dirty="0" sz="2200" spc="-5">
                <a:solidFill>
                  <a:srgbClr val="00A15F"/>
                </a:solidFill>
                <a:latin typeface="宋体"/>
                <a:cs typeface="宋体"/>
              </a:rPr>
              <a:t>缺陷需求开始</a:t>
            </a:r>
            <a:r>
              <a:rPr dirty="0" sz="2200" spc="-5">
                <a:latin typeface="宋体"/>
                <a:cs typeface="宋体"/>
              </a:rPr>
              <a:t>继而不断调整和修</a:t>
            </a:r>
            <a:r>
              <a:rPr dirty="0" sz="2200">
                <a:latin typeface="宋体"/>
                <a:cs typeface="宋体"/>
              </a:rPr>
              <a:t>正</a:t>
            </a:r>
            <a:r>
              <a:rPr dirty="0" sz="2200" spc="-5">
                <a:latin typeface="宋体"/>
                <a:cs typeface="宋体"/>
              </a:rPr>
              <a:t>需求</a:t>
            </a:r>
            <a:r>
              <a:rPr dirty="0" sz="2200">
                <a:latin typeface="宋体"/>
                <a:cs typeface="宋体"/>
              </a:rPr>
              <a:t>的</a:t>
            </a:r>
            <a:r>
              <a:rPr dirty="0" sz="2200" spc="-5">
                <a:latin typeface="宋体"/>
                <a:cs typeface="宋体"/>
              </a:rPr>
              <a:t>原型</a:t>
            </a:r>
            <a:r>
              <a:rPr dirty="0" sz="2200">
                <a:latin typeface="宋体"/>
                <a:cs typeface="宋体"/>
              </a:rPr>
              <a:t>开</a:t>
            </a:r>
            <a:r>
              <a:rPr dirty="0" sz="2200" spc="-5">
                <a:latin typeface="宋体"/>
                <a:cs typeface="宋体"/>
              </a:rPr>
              <a:t>发方</a:t>
            </a:r>
            <a:r>
              <a:rPr dirty="0" sz="2200">
                <a:latin typeface="宋体"/>
                <a:cs typeface="宋体"/>
              </a:rPr>
              <a:t>式</a:t>
            </a:r>
            <a:r>
              <a:rPr dirty="0" sz="2200" spc="-5">
                <a:latin typeface="宋体"/>
                <a:cs typeface="宋体"/>
              </a:rPr>
              <a:t>称 </a:t>
            </a:r>
            <a:r>
              <a:rPr dirty="0" sz="2200" spc="-5">
                <a:latin typeface="宋体"/>
                <a:cs typeface="宋体"/>
              </a:rPr>
              <a:t>为探索式</a:t>
            </a:r>
            <a:endParaRPr sz="2200">
              <a:latin typeface="宋体"/>
              <a:cs typeface="宋体"/>
            </a:endParaRPr>
          </a:p>
          <a:p>
            <a:pPr lvl="1" marL="756285" indent="-287020">
              <a:lnSpc>
                <a:spcPct val="100000"/>
              </a:lnSpc>
              <a:spcBef>
                <a:spcPts val="475"/>
              </a:spcBef>
              <a:buClr>
                <a:srgbClr val="C00000"/>
              </a:buClr>
              <a:buSzPct val="59090"/>
              <a:buFont typeface="Wingdings"/>
              <a:buChar char=""/>
              <a:tabLst>
                <a:tab pos="756285" algn="l"/>
                <a:tab pos="756920" algn="l"/>
              </a:tabLst>
            </a:pPr>
            <a:r>
              <a:rPr dirty="0" sz="2200" spc="-5">
                <a:latin typeface="宋体"/>
                <a:cs typeface="宋体"/>
              </a:rPr>
              <a:t>要尽可能的调整各种设计选项</a:t>
            </a:r>
            <a:endParaRPr sz="2200">
              <a:latin typeface="宋体"/>
              <a:cs typeface="宋体"/>
            </a:endParaRPr>
          </a:p>
          <a:p>
            <a:pPr marL="355600" indent="-343535">
              <a:lnSpc>
                <a:spcPct val="100000"/>
              </a:lnSpc>
              <a:spcBef>
                <a:spcPts val="610"/>
              </a:spcBef>
              <a:buClr>
                <a:srgbClr val="00663B"/>
              </a:buClr>
              <a:buSzPct val="78846"/>
              <a:buFont typeface="Wingdings"/>
              <a:buChar char=""/>
              <a:tabLst>
                <a:tab pos="355600" algn="l"/>
                <a:tab pos="356235" algn="l"/>
              </a:tabLst>
            </a:pPr>
            <a:r>
              <a:rPr dirty="0" sz="2600" b="1">
                <a:latin typeface="宋体"/>
                <a:cs typeface="宋体"/>
              </a:rPr>
              <a:t>实验式</a:t>
            </a:r>
            <a:r>
              <a:rPr dirty="0" sz="2600" spc="-5" b="1">
                <a:latin typeface="宋体"/>
                <a:cs typeface="宋体"/>
              </a:rPr>
              <a:t>（</a:t>
            </a:r>
            <a:r>
              <a:rPr dirty="0" sz="2600" spc="-5" b="1">
                <a:latin typeface="Calibri"/>
                <a:cs typeface="Calibri"/>
              </a:rPr>
              <a:t>experimental</a:t>
            </a:r>
            <a:r>
              <a:rPr dirty="0" sz="2600" spc="-5" b="1">
                <a:latin typeface="宋体"/>
                <a:cs typeface="宋体"/>
              </a:rPr>
              <a:t>）</a:t>
            </a:r>
            <a:endParaRPr sz="2600">
              <a:latin typeface="宋体"/>
              <a:cs typeface="宋体"/>
            </a:endParaRPr>
          </a:p>
          <a:p>
            <a:pPr lvl="1" marL="756285" marR="5080" indent="-287020">
              <a:lnSpc>
                <a:spcPts val="2470"/>
              </a:lnSpc>
              <a:spcBef>
                <a:spcPts val="940"/>
              </a:spcBef>
              <a:buClr>
                <a:srgbClr val="C00000"/>
              </a:buClr>
              <a:buSzPct val="59090"/>
              <a:buFont typeface="Wingdings"/>
              <a:buChar char=""/>
              <a:tabLst>
                <a:tab pos="756285" algn="l"/>
                <a:tab pos="756920" algn="l"/>
              </a:tabLst>
            </a:pPr>
            <a:r>
              <a:rPr dirty="0" sz="2200" spc="-5">
                <a:latin typeface="宋体"/>
                <a:cs typeface="宋体"/>
              </a:rPr>
              <a:t>以</a:t>
            </a:r>
            <a:r>
              <a:rPr dirty="0" sz="2200" spc="-5">
                <a:solidFill>
                  <a:srgbClr val="00A15F"/>
                </a:solidFill>
                <a:latin typeface="宋体"/>
                <a:cs typeface="宋体"/>
              </a:rPr>
              <a:t>清晰的</a:t>
            </a:r>
            <a:r>
              <a:rPr dirty="0" sz="2200" spc="-5">
                <a:latin typeface="宋体"/>
                <a:cs typeface="宋体"/>
              </a:rPr>
              <a:t>用户需求和</a:t>
            </a:r>
            <a:r>
              <a:rPr dirty="0" sz="2200" spc="-5">
                <a:solidFill>
                  <a:srgbClr val="00A15F"/>
                </a:solidFill>
                <a:latin typeface="宋体"/>
                <a:cs typeface="宋体"/>
              </a:rPr>
              <a:t>模糊的</a:t>
            </a:r>
            <a:r>
              <a:rPr dirty="0" sz="2200" spc="-5">
                <a:latin typeface="宋体"/>
                <a:cs typeface="宋体"/>
              </a:rPr>
              <a:t>实现方</a:t>
            </a:r>
            <a:r>
              <a:rPr dirty="0" sz="2200">
                <a:latin typeface="宋体"/>
                <a:cs typeface="宋体"/>
              </a:rPr>
              <a:t>法</a:t>
            </a:r>
            <a:r>
              <a:rPr dirty="0" sz="2200" spc="-5">
                <a:latin typeface="宋体"/>
                <a:cs typeface="宋体"/>
              </a:rPr>
              <a:t>、实</a:t>
            </a:r>
            <a:r>
              <a:rPr dirty="0" sz="2200">
                <a:latin typeface="宋体"/>
                <a:cs typeface="宋体"/>
              </a:rPr>
              <a:t>现</a:t>
            </a:r>
            <a:r>
              <a:rPr dirty="0" sz="2200" spc="-5">
                <a:latin typeface="宋体"/>
                <a:cs typeface="宋体"/>
              </a:rPr>
              <a:t>效果</a:t>
            </a:r>
            <a:r>
              <a:rPr dirty="0" sz="2200">
                <a:latin typeface="宋体"/>
                <a:cs typeface="宋体"/>
              </a:rPr>
              <a:t>、</a:t>
            </a:r>
            <a:r>
              <a:rPr dirty="0" sz="2200" spc="-5">
                <a:latin typeface="宋体"/>
                <a:cs typeface="宋体"/>
              </a:rPr>
              <a:t>可行</a:t>
            </a:r>
            <a:r>
              <a:rPr dirty="0" sz="2200">
                <a:latin typeface="宋体"/>
                <a:cs typeface="宋体"/>
              </a:rPr>
              <a:t>性</a:t>
            </a:r>
            <a:r>
              <a:rPr dirty="0" sz="2200" spc="-5">
                <a:latin typeface="宋体"/>
                <a:cs typeface="宋体"/>
              </a:rPr>
              <a:t>开 </a:t>
            </a:r>
            <a:r>
              <a:rPr dirty="0" sz="2200" spc="-5">
                <a:latin typeface="宋体"/>
                <a:cs typeface="宋体"/>
              </a:rPr>
              <a:t>始，明确需求的可行性和技术实现</a:t>
            </a:r>
            <a:r>
              <a:rPr dirty="0" sz="2200">
                <a:latin typeface="宋体"/>
                <a:cs typeface="宋体"/>
              </a:rPr>
              <a:t>方</a:t>
            </a:r>
            <a:r>
              <a:rPr dirty="0" sz="2200" spc="-5">
                <a:latin typeface="宋体"/>
                <a:cs typeface="宋体"/>
              </a:rPr>
              <a:t>案</a:t>
            </a:r>
            <a:endParaRPr sz="2200">
              <a:latin typeface="宋体"/>
              <a:cs typeface="宋体"/>
            </a:endParaRPr>
          </a:p>
          <a:p>
            <a:pPr lvl="1" marL="756285" indent="-287020">
              <a:lnSpc>
                <a:spcPct val="100000"/>
              </a:lnSpc>
              <a:spcBef>
                <a:spcPts val="475"/>
              </a:spcBef>
              <a:buClr>
                <a:srgbClr val="C00000"/>
              </a:buClr>
              <a:buSzPct val="59090"/>
              <a:buFont typeface="Wingdings"/>
              <a:buChar char=""/>
              <a:tabLst>
                <a:tab pos="756285" algn="l"/>
                <a:tab pos="756920" algn="l"/>
              </a:tabLst>
            </a:pPr>
            <a:r>
              <a:rPr dirty="0" sz="2200" spc="-10">
                <a:latin typeface="宋体"/>
                <a:cs typeface="宋体"/>
              </a:rPr>
              <a:t>定义一个对原型的评估方法，确定</a:t>
            </a:r>
            <a:r>
              <a:rPr dirty="0" sz="2200">
                <a:latin typeface="宋体"/>
                <a:cs typeface="宋体"/>
              </a:rPr>
              <a:t>评</a:t>
            </a:r>
            <a:r>
              <a:rPr dirty="0" sz="2200" spc="-10">
                <a:latin typeface="宋体"/>
                <a:cs typeface="宋体"/>
              </a:rPr>
              <a:t>估的</a:t>
            </a:r>
            <a:r>
              <a:rPr dirty="0" sz="2200">
                <a:latin typeface="宋体"/>
                <a:cs typeface="宋体"/>
              </a:rPr>
              <a:t>属</a:t>
            </a:r>
            <a:r>
              <a:rPr dirty="0" sz="2200" spc="-5">
                <a:latin typeface="宋体"/>
                <a:cs typeface="宋体"/>
              </a:rPr>
              <a:t>性</a:t>
            </a:r>
            <a:endParaRPr sz="2200">
              <a:latin typeface="宋体"/>
              <a:cs typeface="宋体"/>
            </a:endParaRPr>
          </a:p>
          <a:p>
            <a:pPr marL="355600" indent="-343535">
              <a:lnSpc>
                <a:spcPct val="100000"/>
              </a:lnSpc>
              <a:spcBef>
                <a:spcPts val="610"/>
              </a:spcBef>
              <a:buClr>
                <a:srgbClr val="00663B"/>
              </a:buClr>
              <a:buSzPct val="78846"/>
              <a:buFont typeface="Wingdings"/>
              <a:buChar char=""/>
              <a:tabLst>
                <a:tab pos="355600" algn="l"/>
                <a:tab pos="356235" algn="l"/>
              </a:tabLst>
            </a:pPr>
            <a:r>
              <a:rPr dirty="0" sz="2600" b="1">
                <a:latin typeface="宋体"/>
                <a:cs typeface="宋体"/>
              </a:rPr>
              <a:t>演化式</a:t>
            </a:r>
            <a:r>
              <a:rPr dirty="0" sz="2600" spc="-5" b="1">
                <a:latin typeface="宋体"/>
                <a:cs typeface="宋体"/>
              </a:rPr>
              <a:t>（</a:t>
            </a:r>
            <a:r>
              <a:rPr dirty="0" sz="2600" spc="-5" b="1">
                <a:latin typeface="Calibri"/>
                <a:cs typeface="Calibri"/>
              </a:rPr>
              <a:t>evolutionary</a:t>
            </a:r>
            <a:r>
              <a:rPr dirty="0" sz="2600" spc="-5" b="1">
                <a:latin typeface="宋体"/>
                <a:cs typeface="宋体"/>
              </a:rPr>
              <a:t>）</a:t>
            </a:r>
            <a:endParaRPr sz="2600">
              <a:latin typeface="宋体"/>
              <a:cs typeface="宋体"/>
            </a:endParaRPr>
          </a:p>
          <a:p>
            <a:pPr lvl="1" marL="756285" indent="-287020">
              <a:lnSpc>
                <a:spcPct val="100000"/>
              </a:lnSpc>
              <a:spcBef>
                <a:spcPts val="545"/>
              </a:spcBef>
              <a:buClr>
                <a:srgbClr val="C00000"/>
              </a:buClr>
              <a:buSzPct val="59090"/>
              <a:buFont typeface="Wingdings"/>
              <a:buChar char=""/>
              <a:tabLst>
                <a:tab pos="756285" algn="l"/>
                <a:tab pos="756920" algn="l"/>
              </a:tabLst>
            </a:pPr>
            <a:r>
              <a:rPr dirty="0" sz="2200" spc="-5">
                <a:latin typeface="宋体"/>
                <a:cs typeface="宋体"/>
              </a:rPr>
              <a:t>以</a:t>
            </a:r>
            <a:r>
              <a:rPr dirty="0" sz="2200" spc="-5">
                <a:solidFill>
                  <a:srgbClr val="00A15F"/>
                </a:solidFill>
                <a:latin typeface="宋体"/>
                <a:cs typeface="宋体"/>
              </a:rPr>
              <a:t>清晰的原型化需求</a:t>
            </a:r>
            <a:r>
              <a:rPr dirty="0" sz="2200" spc="-5">
                <a:latin typeface="宋体"/>
                <a:cs typeface="宋体"/>
              </a:rPr>
              <a:t>和</a:t>
            </a:r>
            <a:r>
              <a:rPr dirty="0" sz="2200" spc="-5">
                <a:solidFill>
                  <a:srgbClr val="00A15F"/>
                </a:solidFill>
                <a:latin typeface="宋体"/>
                <a:cs typeface="宋体"/>
              </a:rPr>
              <a:t>项目积累下</a:t>
            </a:r>
            <a:r>
              <a:rPr dirty="0" sz="2200">
                <a:solidFill>
                  <a:srgbClr val="00A15F"/>
                </a:solidFill>
                <a:latin typeface="宋体"/>
                <a:cs typeface="宋体"/>
              </a:rPr>
              <a:t>来</a:t>
            </a:r>
            <a:r>
              <a:rPr dirty="0" sz="2200" spc="-5">
                <a:solidFill>
                  <a:srgbClr val="00A15F"/>
                </a:solidFill>
                <a:latin typeface="宋体"/>
                <a:cs typeface="宋体"/>
              </a:rPr>
              <a:t>的原</a:t>
            </a:r>
            <a:r>
              <a:rPr dirty="0" sz="2200">
                <a:solidFill>
                  <a:srgbClr val="00A15F"/>
                </a:solidFill>
                <a:latin typeface="宋体"/>
                <a:cs typeface="宋体"/>
              </a:rPr>
              <a:t>型</a:t>
            </a:r>
            <a:r>
              <a:rPr dirty="0" sz="2200" spc="-5">
                <a:solidFill>
                  <a:srgbClr val="00A15F"/>
                </a:solidFill>
                <a:latin typeface="宋体"/>
                <a:cs typeface="宋体"/>
              </a:rPr>
              <a:t>资</a:t>
            </a:r>
            <a:r>
              <a:rPr dirty="0" sz="2200" spc="5">
                <a:solidFill>
                  <a:srgbClr val="00A15F"/>
                </a:solidFill>
                <a:latin typeface="宋体"/>
                <a:cs typeface="宋体"/>
              </a:rPr>
              <a:t>产</a:t>
            </a:r>
            <a:r>
              <a:rPr dirty="0" sz="2200">
                <a:latin typeface="宋体"/>
                <a:cs typeface="宋体"/>
              </a:rPr>
              <a:t>为</a:t>
            </a:r>
            <a:r>
              <a:rPr dirty="0" sz="2200" spc="-5">
                <a:latin typeface="宋体"/>
                <a:cs typeface="宋体"/>
              </a:rPr>
              <a:t>开始</a:t>
            </a:r>
            <a:endParaRPr sz="2200">
              <a:latin typeface="宋体"/>
              <a:cs typeface="宋体"/>
            </a:endParaRPr>
          </a:p>
          <a:p>
            <a:pPr lvl="1" marL="756285" indent="-287020">
              <a:lnSpc>
                <a:spcPct val="100000"/>
              </a:lnSpc>
              <a:spcBef>
                <a:spcPts val="525"/>
              </a:spcBef>
              <a:buClr>
                <a:srgbClr val="C00000"/>
              </a:buClr>
              <a:buSzPct val="59090"/>
              <a:buFont typeface="Wingdings"/>
              <a:buChar char=""/>
              <a:tabLst>
                <a:tab pos="756285" algn="l"/>
                <a:tab pos="756920" algn="l"/>
              </a:tabLst>
            </a:pPr>
            <a:r>
              <a:rPr dirty="0" sz="2200" spc="-5">
                <a:latin typeface="宋体"/>
                <a:cs typeface="宋体"/>
              </a:rPr>
              <a:t>原型化的需求，也有项目积累下来</a:t>
            </a:r>
            <a:r>
              <a:rPr dirty="0" sz="2200">
                <a:latin typeface="宋体"/>
                <a:cs typeface="宋体"/>
              </a:rPr>
              <a:t>的</a:t>
            </a:r>
            <a:r>
              <a:rPr dirty="0" sz="2200" spc="-5">
                <a:latin typeface="宋体"/>
                <a:cs typeface="宋体"/>
              </a:rPr>
              <a:t>原型</a:t>
            </a:r>
            <a:r>
              <a:rPr dirty="0" sz="2200">
                <a:latin typeface="宋体"/>
                <a:cs typeface="宋体"/>
              </a:rPr>
              <a:t>资</a:t>
            </a:r>
            <a:r>
              <a:rPr dirty="0" sz="2200" spc="-5">
                <a:latin typeface="宋体"/>
                <a:cs typeface="宋体"/>
              </a:rPr>
              <a:t>产</a:t>
            </a:r>
            <a:endParaRPr sz="2200">
              <a:latin typeface="宋体"/>
              <a:cs typeface="宋体"/>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00705" y="135127"/>
            <a:ext cx="4856480" cy="1184910"/>
          </a:xfrm>
          <a:prstGeom prst="rect"/>
        </p:spPr>
        <p:txBody>
          <a:bodyPr wrap="square" lIns="0" tIns="12700" rIns="0" bIns="0" rtlCol="0" vert="horz">
            <a:spAutoFit/>
          </a:bodyPr>
          <a:lstStyle/>
          <a:p>
            <a:pPr marL="341630">
              <a:lnSpc>
                <a:spcPct val="100000"/>
              </a:lnSpc>
              <a:spcBef>
                <a:spcPts val="100"/>
              </a:spcBef>
            </a:pPr>
            <a:r>
              <a:rPr dirty="0" sz="3800">
                <a:latin typeface="Calibri"/>
                <a:cs typeface="Calibri"/>
              </a:rPr>
              <a:t>5.2.</a:t>
            </a:r>
            <a:r>
              <a:rPr dirty="0" sz="3800" spc="-15">
                <a:latin typeface="Calibri"/>
                <a:cs typeface="Calibri"/>
              </a:rPr>
              <a:t> </a:t>
            </a:r>
            <a:r>
              <a:rPr dirty="0" sz="3800"/>
              <a:t>原型的类别</a:t>
            </a:r>
            <a:endParaRPr sz="3800">
              <a:latin typeface="Calibri"/>
              <a:cs typeface="Calibri"/>
            </a:endParaRPr>
          </a:p>
          <a:p>
            <a:pPr marL="12700">
              <a:lnSpc>
                <a:spcPct val="100000"/>
              </a:lnSpc>
              <a:spcBef>
                <a:spcPts val="5"/>
              </a:spcBef>
            </a:pPr>
            <a:r>
              <a:rPr dirty="0" sz="3800">
                <a:latin typeface="Arial"/>
                <a:cs typeface="Arial"/>
              </a:rPr>
              <a:t>——</a:t>
            </a:r>
            <a:r>
              <a:rPr dirty="0" sz="3800"/>
              <a:t>按照开发方法分类</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02689"/>
            <a:ext cx="8025130" cy="4433570"/>
          </a:xfrm>
          <a:prstGeom prst="rect">
            <a:avLst/>
          </a:prstGeom>
        </p:spPr>
        <p:txBody>
          <a:bodyPr wrap="square" lIns="0" tIns="77470" rIns="0" bIns="0" rtlCol="0" vert="horz">
            <a:spAutoFit/>
          </a:bodyPr>
          <a:lstStyle/>
          <a:p>
            <a:pPr marL="355600" marR="60325" indent="-343535">
              <a:lnSpc>
                <a:spcPts val="2620"/>
              </a:lnSpc>
              <a:spcBef>
                <a:spcPts val="610"/>
              </a:spcBef>
              <a:buClr>
                <a:srgbClr val="00663B"/>
              </a:buClr>
              <a:buSzPct val="78846"/>
              <a:buFont typeface="Wingdings"/>
              <a:buChar char=""/>
              <a:tabLst>
                <a:tab pos="355600" algn="l"/>
                <a:tab pos="356235" algn="l"/>
              </a:tabLst>
            </a:pPr>
            <a:r>
              <a:rPr dirty="0" sz="2600">
                <a:latin typeface="宋体"/>
                <a:cs typeface="宋体"/>
              </a:rPr>
              <a:t>探索式和实验式方法产</a:t>
            </a:r>
            <a:r>
              <a:rPr dirty="0" sz="2600" spc="-15">
                <a:latin typeface="宋体"/>
                <a:cs typeface="宋体"/>
              </a:rPr>
              <a:t>生</a:t>
            </a:r>
            <a:r>
              <a:rPr dirty="0" sz="2600">
                <a:latin typeface="宋体"/>
                <a:cs typeface="宋体"/>
              </a:rPr>
              <a:t>的原</a:t>
            </a:r>
            <a:r>
              <a:rPr dirty="0" sz="2600" spc="-15">
                <a:latin typeface="宋体"/>
                <a:cs typeface="宋体"/>
              </a:rPr>
              <a:t>型</a:t>
            </a:r>
            <a:r>
              <a:rPr dirty="0" sz="2600">
                <a:latin typeface="宋体"/>
                <a:cs typeface="宋体"/>
              </a:rPr>
              <a:t>产品</a:t>
            </a:r>
            <a:r>
              <a:rPr dirty="0" sz="2600" spc="-15">
                <a:latin typeface="宋体"/>
                <a:cs typeface="宋体"/>
              </a:rPr>
              <a:t>又</a:t>
            </a:r>
            <a:r>
              <a:rPr dirty="0" sz="2600">
                <a:latin typeface="宋体"/>
                <a:cs typeface="宋体"/>
              </a:rPr>
              <a:t>被称为</a:t>
            </a:r>
            <a:r>
              <a:rPr dirty="0" sz="2600">
                <a:solidFill>
                  <a:srgbClr val="00A15F"/>
                </a:solidFill>
                <a:latin typeface="宋体"/>
                <a:cs typeface="宋体"/>
              </a:rPr>
              <a:t>抛弃式 </a:t>
            </a:r>
            <a:r>
              <a:rPr dirty="0" sz="2600">
                <a:solidFill>
                  <a:srgbClr val="00A15F"/>
                </a:solidFill>
                <a:latin typeface="宋体"/>
                <a:cs typeface="宋体"/>
              </a:rPr>
              <a:t>原型</a:t>
            </a:r>
            <a:endParaRPr sz="2600">
              <a:latin typeface="宋体"/>
              <a:cs typeface="宋体"/>
            </a:endParaRPr>
          </a:p>
          <a:p>
            <a:pPr lvl="1" marL="756285" indent="-287020">
              <a:lnSpc>
                <a:spcPct val="100000"/>
              </a:lnSpc>
              <a:spcBef>
                <a:spcPts val="275"/>
              </a:spcBef>
              <a:buClr>
                <a:srgbClr val="C00000"/>
              </a:buClr>
              <a:buSzPct val="59090"/>
              <a:buFont typeface="Wingdings"/>
              <a:buChar char=""/>
              <a:tabLst>
                <a:tab pos="756285" algn="l"/>
                <a:tab pos="756920" algn="l"/>
              </a:tabLst>
            </a:pPr>
            <a:r>
              <a:rPr dirty="0" sz="2200" spc="-5">
                <a:latin typeface="宋体"/>
                <a:cs typeface="宋体"/>
              </a:rPr>
              <a:t>花费最小的代价，争取最快的速度</a:t>
            </a:r>
            <a:endParaRPr sz="2200">
              <a:latin typeface="宋体"/>
              <a:cs typeface="宋体"/>
            </a:endParaRPr>
          </a:p>
          <a:p>
            <a:pPr lvl="1" marL="756285" indent="-287020">
              <a:lnSpc>
                <a:spcPct val="100000"/>
              </a:lnSpc>
              <a:spcBef>
                <a:spcPts val="265"/>
              </a:spcBef>
              <a:buClr>
                <a:srgbClr val="C00000"/>
              </a:buClr>
              <a:buSzPct val="59090"/>
              <a:buFont typeface="Wingdings"/>
              <a:buChar char=""/>
              <a:tabLst>
                <a:tab pos="756285" algn="l"/>
                <a:tab pos="756920" algn="l"/>
              </a:tabLst>
            </a:pPr>
            <a:r>
              <a:rPr dirty="0" sz="2200" spc="-5">
                <a:latin typeface="宋体"/>
                <a:cs typeface="宋体"/>
              </a:rPr>
              <a:t>可能会使用简易的开发工具和不成</a:t>
            </a:r>
            <a:r>
              <a:rPr dirty="0" sz="2200">
                <a:latin typeface="宋体"/>
                <a:cs typeface="宋体"/>
              </a:rPr>
              <a:t>熟</a:t>
            </a:r>
            <a:r>
              <a:rPr dirty="0" sz="2200" spc="-5">
                <a:latin typeface="宋体"/>
                <a:cs typeface="宋体"/>
              </a:rPr>
              <a:t>的构</a:t>
            </a:r>
            <a:r>
              <a:rPr dirty="0" sz="2200">
                <a:latin typeface="宋体"/>
                <a:cs typeface="宋体"/>
              </a:rPr>
              <a:t>造</a:t>
            </a:r>
            <a:r>
              <a:rPr dirty="0" sz="2200" spc="-5">
                <a:latin typeface="宋体"/>
                <a:cs typeface="宋体"/>
              </a:rPr>
              <a:t>技术</a:t>
            </a:r>
            <a:endParaRPr sz="2200">
              <a:latin typeface="宋体"/>
              <a:cs typeface="宋体"/>
            </a:endParaRPr>
          </a:p>
          <a:p>
            <a:pPr lvl="1" marL="756285" indent="-287020">
              <a:lnSpc>
                <a:spcPct val="100000"/>
              </a:lnSpc>
              <a:spcBef>
                <a:spcPts val="260"/>
              </a:spcBef>
              <a:buClr>
                <a:srgbClr val="C00000"/>
              </a:buClr>
              <a:buSzPct val="59090"/>
              <a:buFont typeface="Wingdings"/>
              <a:buChar char=""/>
              <a:tabLst>
                <a:tab pos="756285" algn="l"/>
                <a:tab pos="756920" algn="l"/>
              </a:tabLst>
            </a:pPr>
            <a:r>
              <a:rPr dirty="0" sz="2200" spc="-10">
                <a:latin typeface="宋体"/>
                <a:cs typeface="宋体"/>
              </a:rPr>
              <a:t>可能会忽略或简化处理原型目的不</a:t>
            </a:r>
            <a:r>
              <a:rPr dirty="0" sz="2200">
                <a:latin typeface="宋体"/>
                <a:cs typeface="宋体"/>
              </a:rPr>
              <a:t>相</a:t>
            </a:r>
            <a:r>
              <a:rPr dirty="0" sz="2200" spc="-10">
                <a:latin typeface="宋体"/>
                <a:cs typeface="宋体"/>
              </a:rPr>
              <a:t>关的</a:t>
            </a:r>
            <a:r>
              <a:rPr dirty="0" sz="2200">
                <a:latin typeface="宋体"/>
                <a:cs typeface="宋体"/>
              </a:rPr>
              <a:t>功</a:t>
            </a:r>
            <a:r>
              <a:rPr dirty="0" sz="2200" spc="-10">
                <a:latin typeface="宋体"/>
                <a:cs typeface="宋体"/>
              </a:rPr>
              <a:t>能特征</a:t>
            </a:r>
            <a:endParaRPr sz="2200">
              <a:latin typeface="宋体"/>
              <a:cs typeface="宋体"/>
            </a:endParaRPr>
          </a:p>
          <a:p>
            <a:pPr lvl="1" marL="756285" indent="-287020">
              <a:lnSpc>
                <a:spcPct val="100000"/>
              </a:lnSpc>
              <a:spcBef>
                <a:spcPts val="270"/>
              </a:spcBef>
              <a:buClr>
                <a:srgbClr val="C00000"/>
              </a:buClr>
              <a:buSzPct val="59090"/>
              <a:buFont typeface="Wingdings"/>
              <a:buChar char=""/>
              <a:tabLst>
                <a:tab pos="756285" algn="l"/>
                <a:tab pos="756920" algn="l"/>
              </a:tabLst>
            </a:pPr>
            <a:r>
              <a:rPr dirty="0" sz="2200" spc="-5">
                <a:latin typeface="宋体"/>
                <a:cs typeface="宋体"/>
              </a:rPr>
              <a:t>要坚决的抛弃</a:t>
            </a:r>
            <a:endParaRPr sz="2200">
              <a:latin typeface="宋体"/>
              <a:cs typeface="宋体"/>
            </a:endParaRPr>
          </a:p>
          <a:p>
            <a:pPr marL="355600" indent="-343535">
              <a:lnSpc>
                <a:spcPts val="2870"/>
              </a:lnSpc>
              <a:spcBef>
                <a:spcPts val="484"/>
              </a:spcBef>
              <a:buClr>
                <a:srgbClr val="00663B"/>
              </a:buClr>
              <a:buSzPct val="78846"/>
              <a:buFont typeface="Wingdings"/>
              <a:buChar char=""/>
              <a:tabLst>
                <a:tab pos="355600" algn="l"/>
                <a:tab pos="356235" algn="l"/>
              </a:tabLst>
            </a:pPr>
            <a:r>
              <a:rPr dirty="0" sz="2600">
                <a:latin typeface="宋体"/>
                <a:cs typeface="宋体"/>
              </a:rPr>
              <a:t>演化式原型方法产生的</a:t>
            </a:r>
            <a:r>
              <a:rPr dirty="0" sz="2600" spc="-15">
                <a:latin typeface="宋体"/>
                <a:cs typeface="宋体"/>
              </a:rPr>
              <a:t>原</a:t>
            </a:r>
            <a:r>
              <a:rPr dirty="0" sz="2600">
                <a:latin typeface="宋体"/>
                <a:cs typeface="宋体"/>
              </a:rPr>
              <a:t>型产</a:t>
            </a:r>
            <a:r>
              <a:rPr dirty="0" sz="2600" spc="-15">
                <a:latin typeface="宋体"/>
                <a:cs typeface="宋体"/>
              </a:rPr>
              <a:t>品</a:t>
            </a:r>
            <a:r>
              <a:rPr dirty="0" sz="2600">
                <a:latin typeface="宋体"/>
                <a:cs typeface="宋体"/>
              </a:rPr>
              <a:t>被称</a:t>
            </a:r>
            <a:r>
              <a:rPr dirty="0" sz="2600" spc="-15">
                <a:latin typeface="宋体"/>
                <a:cs typeface="宋体"/>
              </a:rPr>
              <a:t>为</a:t>
            </a:r>
            <a:r>
              <a:rPr dirty="0" sz="2600">
                <a:latin typeface="宋体"/>
                <a:cs typeface="宋体"/>
              </a:rPr>
              <a:t>演化</a:t>
            </a:r>
            <a:r>
              <a:rPr dirty="0" sz="2600" spc="-15">
                <a:latin typeface="宋体"/>
                <a:cs typeface="宋体"/>
              </a:rPr>
              <a:t>式</a:t>
            </a:r>
            <a:r>
              <a:rPr dirty="0" sz="2600">
                <a:latin typeface="宋体"/>
                <a:cs typeface="宋体"/>
              </a:rPr>
              <a:t>原型</a:t>
            </a:r>
            <a:endParaRPr sz="2600">
              <a:latin typeface="宋体"/>
              <a:cs typeface="宋体"/>
            </a:endParaRPr>
          </a:p>
          <a:p>
            <a:pPr marL="355600">
              <a:lnSpc>
                <a:spcPts val="2870"/>
              </a:lnSpc>
            </a:pPr>
            <a:r>
              <a:rPr dirty="0" sz="2600">
                <a:latin typeface="宋体"/>
                <a:cs typeface="宋体"/>
              </a:rPr>
              <a:t>（</a:t>
            </a:r>
            <a:r>
              <a:rPr dirty="0" sz="2600">
                <a:latin typeface="Calibri"/>
                <a:cs typeface="Calibri"/>
              </a:rPr>
              <a:t>evolutionary</a:t>
            </a:r>
            <a:r>
              <a:rPr dirty="0" sz="2600" spc="-20">
                <a:latin typeface="Calibri"/>
                <a:cs typeface="Calibri"/>
              </a:rPr>
              <a:t> </a:t>
            </a:r>
            <a:r>
              <a:rPr dirty="0" sz="2600" spc="-5">
                <a:latin typeface="Calibri"/>
                <a:cs typeface="Calibri"/>
              </a:rPr>
              <a:t>prototype</a:t>
            </a:r>
            <a:r>
              <a:rPr dirty="0" sz="2600" spc="-5">
                <a:latin typeface="宋体"/>
                <a:cs typeface="宋体"/>
              </a:rPr>
              <a:t>）</a:t>
            </a:r>
            <a:endParaRPr sz="2600">
              <a:latin typeface="宋体"/>
              <a:cs typeface="宋体"/>
            </a:endParaRPr>
          </a:p>
          <a:p>
            <a:pPr lvl="1" marL="756285" indent="-287020">
              <a:lnSpc>
                <a:spcPct val="100000"/>
              </a:lnSpc>
              <a:spcBef>
                <a:spcPts val="280"/>
              </a:spcBef>
              <a:buClr>
                <a:srgbClr val="C00000"/>
              </a:buClr>
              <a:buSzPct val="59090"/>
              <a:buFont typeface="Wingdings"/>
              <a:buChar char=""/>
              <a:tabLst>
                <a:tab pos="756285" algn="l"/>
                <a:tab pos="756920" algn="l"/>
              </a:tabLst>
            </a:pPr>
            <a:r>
              <a:rPr dirty="0" sz="2200" spc="-10">
                <a:latin typeface="宋体"/>
                <a:cs typeface="宋体"/>
              </a:rPr>
              <a:t>质量要从一开始就能达到最终系统</a:t>
            </a:r>
            <a:r>
              <a:rPr dirty="0" sz="2200">
                <a:latin typeface="宋体"/>
                <a:cs typeface="宋体"/>
              </a:rPr>
              <a:t>的</a:t>
            </a:r>
            <a:r>
              <a:rPr dirty="0" sz="2200" spc="-10">
                <a:latin typeface="宋体"/>
                <a:cs typeface="宋体"/>
              </a:rPr>
              <a:t>要求</a:t>
            </a:r>
            <a:endParaRPr sz="2200">
              <a:latin typeface="宋体"/>
              <a:cs typeface="宋体"/>
            </a:endParaRPr>
          </a:p>
          <a:p>
            <a:pPr lvl="1" marL="756285" marR="5080" indent="-287020">
              <a:lnSpc>
                <a:spcPts val="2210"/>
              </a:lnSpc>
              <a:spcBef>
                <a:spcPts val="870"/>
              </a:spcBef>
              <a:buClr>
                <a:srgbClr val="C00000"/>
              </a:buClr>
              <a:buSzPct val="59090"/>
              <a:buFont typeface="Wingdings"/>
              <a:buChar char=""/>
              <a:tabLst>
                <a:tab pos="756285" algn="l"/>
                <a:tab pos="756920" algn="l"/>
              </a:tabLst>
            </a:pPr>
            <a:r>
              <a:rPr dirty="0" sz="2200" spc="-5">
                <a:latin typeface="宋体"/>
                <a:cs typeface="宋体"/>
              </a:rPr>
              <a:t>要易于进行扩展和频繁改进，因此</a:t>
            </a:r>
            <a:r>
              <a:rPr dirty="0" sz="2200">
                <a:latin typeface="宋体"/>
                <a:cs typeface="宋体"/>
              </a:rPr>
              <a:t>开</a:t>
            </a:r>
            <a:r>
              <a:rPr dirty="0" sz="2200" spc="-5">
                <a:latin typeface="宋体"/>
                <a:cs typeface="宋体"/>
              </a:rPr>
              <a:t>发者</a:t>
            </a:r>
            <a:r>
              <a:rPr dirty="0" sz="2200">
                <a:latin typeface="宋体"/>
                <a:cs typeface="宋体"/>
              </a:rPr>
              <a:t>必</a:t>
            </a:r>
            <a:r>
              <a:rPr dirty="0" sz="2200" spc="-5">
                <a:latin typeface="宋体"/>
                <a:cs typeface="宋体"/>
              </a:rPr>
              <a:t>须重</a:t>
            </a:r>
            <a:r>
              <a:rPr dirty="0" sz="2200">
                <a:latin typeface="宋体"/>
                <a:cs typeface="宋体"/>
              </a:rPr>
              <a:t>视</a:t>
            </a:r>
            <a:r>
              <a:rPr dirty="0" sz="2200" spc="-5">
                <a:latin typeface="宋体"/>
                <a:cs typeface="宋体"/>
              </a:rPr>
              <a:t>演化</a:t>
            </a:r>
            <a:r>
              <a:rPr dirty="0" sz="2200">
                <a:latin typeface="宋体"/>
                <a:cs typeface="宋体"/>
              </a:rPr>
              <a:t>式</a:t>
            </a:r>
            <a:r>
              <a:rPr dirty="0" sz="2200" spc="-5">
                <a:latin typeface="宋体"/>
                <a:cs typeface="宋体"/>
              </a:rPr>
              <a:t>原 </a:t>
            </a:r>
            <a:r>
              <a:rPr dirty="0" sz="2200" spc="-5">
                <a:latin typeface="宋体"/>
                <a:cs typeface="宋体"/>
              </a:rPr>
              <a:t>型的设计</a:t>
            </a:r>
            <a:endParaRPr sz="2200">
              <a:latin typeface="宋体"/>
              <a:cs typeface="宋体"/>
            </a:endParaRPr>
          </a:p>
          <a:p>
            <a:pPr lvl="1" marL="756285" indent="-287020">
              <a:lnSpc>
                <a:spcPct val="100000"/>
              </a:lnSpc>
              <a:spcBef>
                <a:spcPts val="254"/>
              </a:spcBef>
              <a:buClr>
                <a:srgbClr val="C00000"/>
              </a:buClr>
              <a:buSzPct val="59090"/>
              <a:buFont typeface="Wingdings"/>
              <a:buChar char=""/>
              <a:tabLst>
                <a:tab pos="756285" algn="l"/>
                <a:tab pos="756920" algn="l"/>
              </a:tabLst>
            </a:pPr>
            <a:r>
              <a:rPr dirty="0" sz="2200" spc="-5">
                <a:latin typeface="宋体"/>
                <a:cs typeface="宋体"/>
              </a:rPr>
              <a:t>仅应该被用于处理清晰的需求、规</a:t>
            </a:r>
            <a:r>
              <a:rPr dirty="0" sz="2200">
                <a:latin typeface="宋体"/>
                <a:cs typeface="宋体"/>
              </a:rPr>
              <a:t>格</a:t>
            </a:r>
            <a:r>
              <a:rPr dirty="0" sz="2200" spc="-5">
                <a:latin typeface="宋体"/>
                <a:cs typeface="宋体"/>
              </a:rPr>
              <a:t>说明</a:t>
            </a:r>
            <a:r>
              <a:rPr dirty="0" sz="2200">
                <a:latin typeface="宋体"/>
                <a:cs typeface="宋体"/>
              </a:rPr>
              <a:t>和</a:t>
            </a:r>
            <a:r>
              <a:rPr dirty="0" sz="2200" spc="-5">
                <a:latin typeface="宋体"/>
                <a:cs typeface="宋体"/>
              </a:rPr>
              <a:t>技术</a:t>
            </a:r>
            <a:r>
              <a:rPr dirty="0" sz="2200">
                <a:latin typeface="宋体"/>
                <a:cs typeface="宋体"/>
              </a:rPr>
              <a:t>方</a:t>
            </a:r>
            <a:r>
              <a:rPr dirty="0" sz="2200" spc="-5">
                <a:latin typeface="宋体"/>
                <a:cs typeface="宋体"/>
              </a:rPr>
              <a:t>案</a:t>
            </a:r>
            <a:endParaRPr sz="2200">
              <a:latin typeface="宋体"/>
              <a:cs typeface="宋体"/>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17562"/>
            <a:ext cx="3992879" cy="236791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应用原型的必要性</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原型的类别</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F0000"/>
                </a:solidFill>
                <a:latin typeface="宋体"/>
                <a:cs typeface="宋体"/>
              </a:rPr>
              <a:t>原型方法过程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原型方法的风险</a:t>
            </a:r>
            <a:endParaRPr sz="3200">
              <a:latin typeface="宋体"/>
              <a:cs typeface="宋体"/>
            </a:endParaRPr>
          </a:p>
        </p:txBody>
      </p:sp>
      <p:sp>
        <p:nvSpPr>
          <p:cNvPr id="3" name="object 3"/>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9285" y="472566"/>
            <a:ext cx="3806825" cy="696595"/>
          </a:xfrm>
          <a:prstGeom prst="rect"/>
        </p:spPr>
        <p:txBody>
          <a:bodyPr wrap="square" lIns="0" tIns="13335" rIns="0" bIns="0" rtlCol="0" vert="horz">
            <a:spAutoFit/>
          </a:bodyPr>
          <a:lstStyle/>
          <a:p>
            <a:pPr marL="12700">
              <a:lnSpc>
                <a:spcPct val="100000"/>
              </a:lnSpc>
              <a:spcBef>
                <a:spcPts val="105"/>
              </a:spcBef>
            </a:pPr>
            <a:r>
              <a:rPr dirty="0" spc="-5">
                <a:latin typeface="Calibri"/>
                <a:cs typeface="Calibri"/>
              </a:rPr>
              <a:t>3.</a:t>
            </a:r>
            <a:r>
              <a:rPr dirty="0"/>
              <a:t>原型方法过程</a:t>
            </a:r>
          </a:p>
        </p:txBody>
      </p:sp>
      <p:sp>
        <p:nvSpPr>
          <p:cNvPr id="3" name="object 3"/>
          <p:cNvSpPr/>
          <p:nvPr/>
        </p:nvSpPr>
        <p:spPr>
          <a:xfrm>
            <a:off x="21991" y="2855887"/>
            <a:ext cx="1461770" cy="639445"/>
          </a:xfrm>
          <a:custGeom>
            <a:avLst/>
            <a:gdLst/>
            <a:ahLst/>
            <a:cxnLst/>
            <a:rect l="l" t="t" r="r" b="b"/>
            <a:pathLst>
              <a:path w="1461770" h="639445">
                <a:moveTo>
                  <a:pt x="0" y="639230"/>
                </a:moveTo>
                <a:lnTo>
                  <a:pt x="1461432" y="639230"/>
                </a:lnTo>
                <a:lnTo>
                  <a:pt x="1461432" y="0"/>
                </a:lnTo>
                <a:lnTo>
                  <a:pt x="0" y="0"/>
                </a:lnTo>
                <a:lnTo>
                  <a:pt x="0" y="639230"/>
                </a:lnTo>
                <a:close/>
              </a:path>
            </a:pathLst>
          </a:custGeom>
          <a:solidFill>
            <a:srgbClr val="E8EDF7"/>
          </a:solidFill>
        </p:spPr>
        <p:txBody>
          <a:bodyPr wrap="square" lIns="0" tIns="0" rIns="0" bIns="0" rtlCol="0"/>
          <a:lstStyle/>
          <a:p/>
        </p:txBody>
      </p:sp>
      <p:sp>
        <p:nvSpPr>
          <p:cNvPr id="4" name="object 4"/>
          <p:cNvSpPr txBox="1"/>
          <p:nvPr/>
        </p:nvSpPr>
        <p:spPr>
          <a:xfrm>
            <a:off x="21991" y="2855887"/>
            <a:ext cx="1461770" cy="639445"/>
          </a:xfrm>
          <a:prstGeom prst="rect">
            <a:avLst/>
          </a:prstGeom>
          <a:ln w="3865">
            <a:solidFill>
              <a:srgbClr val="000000"/>
            </a:solidFill>
          </a:ln>
        </p:spPr>
        <p:txBody>
          <a:bodyPr wrap="square" lIns="0" tIns="2540" rIns="0" bIns="0" rtlCol="0" vert="horz">
            <a:spAutoFit/>
          </a:bodyPr>
          <a:lstStyle/>
          <a:p>
            <a:pPr>
              <a:lnSpc>
                <a:spcPct val="100000"/>
              </a:lnSpc>
              <a:spcBef>
                <a:spcPts val="20"/>
              </a:spcBef>
            </a:pPr>
            <a:endParaRPr sz="1300">
              <a:latin typeface="Times New Roman"/>
              <a:cs typeface="Times New Roman"/>
            </a:endParaRPr>
          </a:p>
          <a:p>
            <a:pPr marL="150495">
              <a:lnSpc>
                <a:spcPct val="100000"/>
              </a:lnSpc>
            </a:pPr>
            <a:r>
              <a:rPr dirty="0" sz="1500" spc="20">
                <a:latin typeface="宋体"/>
                <a:cs typeface="宋体"/>
              </a:rPr>
              <a:t>确定原型需求</a:t>
            </a:r>
            <a:endParaRPr sz="1500">
              <a:latin typeface="宋体"/>
              <a:cs typeface="宋体"/>
            </a:endParaRPr>
          </a:p>
        </p:txBody>
      </p:sp>
      <p:sp>
        <p:nvSpPr>
          <p:cNvPr id="5" name="object 5"/>
          <p:cNvSpPr/>
          <p:nvPr/>
        </p:nvSpPr>
        <p:spPr>
          <a:xfrm>
            <a:off x="2259759" y="2855887"/>
            <a:ext cx="1461770" cy="639445"/>
          </a:xfrm>
          <a:custGeom>
            <a:avLst/>
            <a:gdLst/>
            <a:ahLst/>
            <a:cxnLst/>
            <a:rect l="l" t="t" r="r" b="b"/>
            <a:pathLst>
              <a:path w="1461770" h="639445">
                <a:moveTo>
                  <a:pt x="0" y="639230"/>
                </a:moveTo>
                <a:lnTo>
                  <a:pt x="1461432" y="639230"/>
                </a:lnTo>
                <a:lnTo>
                  <a:pt x="1461432" y="0"/>
                </a:lnTo>
                <a:lnTo>
                  <a:pt x="0" y="0"/>
                </a:lnTo>
                <a:lnTo>
                  <a:pt x="0" y="639230"/>
                </a:lnTo>
                <a:close/>
              </a:path>
            </a:pathLst>
          </a:custGeom>
          <a:solidFill>
            <a:srgbClr val="E8EDF7"/>
          </a:solidFill>
        </p:spPr>
        <p:txBody>
          <a:bodyPr wrap="square" lIns="0" tIns="0" rIns="0" bIns="0" rtlCol="0"/>
          <a:lstStyle/>
          <a:p/>
        </p:txBody>
      </p:sp>
      <p:sp>
        <p:nvSpPr>
          <p:cNvPr id="6" name="object 6"/>
          <p:cNvSpPr/>
          <p:nvPr/>
        </p:nvSpPr>
        <p:spPr>
          <a:xfrm>
            <a:off x="2259759" y="2855887"/>
            <a:ext cx="1461770" cy="639445"/>
          </a:xfrm>
          <a:custGeom>
            <a:avLst/>
            <a:gdLst/>
            <a:ahLst/>
            <a:cxnLst/>
            <a:rect l="l" t="t" r="r" b="b"/>
            <a:pathLst>
              <a:path w="1461770" h="639445">
                <a:moveTo>
                  <a:pt x="0" y="639230"/>
                </a:moveTo>
                <a:lnTo>
                  <a:pt x="1461432" y="639230"/>
                </a:lnTo>
                <a:lnTo>
                  <a:pt x="1461432" y="0"/>
                </a:lnTo>
                <a:lnTo>
                  <a:pt x="0" y="0"/>
                </a:lnTo>
                <a:lnTo>
                  <a:pt x="0" y="639230"/>
                </a:lnTo>
                <a:close/>
              </a:path>
            </a:pathLst>
          </a:custGeom>
          <a:ln w="3865">
            <a:solidFill>
              <a:srgbClr val="000000"/>
            </a:solidFill>
          </a:ln>
        </p:spPr>
        <p:txBody>
          <a:bodyPr wrap="square" lIns="0" tIns="0" rIns="0" bIns="0" rtlCol="0"/>
          <a:lstStyle/>
          <a:p/>
        </p:txBody>
      </p:sp>
      <p:sp>
        <p:nvSpPr>
          <p:cNvPr id="7" name="object 7"/>
          <p:cNvSpPr txBox="1"/>
          <p:nvPr/>
        </p:nvSpPr>
        <p:spPr>
          <a:xfrm>
            <a:off x="2259759" y="3033173"/>
            <a:ext cx="1461770" cy="257810"/>
          </a:xfrm>
          <a:prstGeom prst="rect">
            <a:avLst/>
          </a:prstGeom>
        </p:spPr>
        <p:txBody>
          <a:bodyPr wrap="square" lIns="0" tIns="15240" rIns="0" bIns="0" rtlCol="0" vert="horz">
            <a:spAutoFit/>
          </a:bodyPr>
          <a:lstStyle/>
          <a:p>
            <a:pPr marL="343535">
              <a:lnSpc>
                <a:spcPct val="100000"/>
              </a:lnSpc>
              <a:spcBef>
                <a:spcPts val="120"/>
              </a:spcBef>
            </a:pPr>
            <a:r>
              <a:rPr dirty="0" sz="1500" spc="20">
                <a:latin typeface="宋体"/>
                <a:cs typeface="宋体"/>
              </a:rPr>
              <a:t>原型开发</a:t>
            </a:r>
            <a:endParaRPr sz="1500">
              <a:latin typeface="宋体"/>
              <a:cs typeface="宋体"/>
            </a:endParaRPr>
          </a:p>
        </p:txBody>
      </p:sp>
      <p:sp>
        <p:nvSpPr>
          <p:cNvPr id="8" name="object 8"/>
          <p:cNvSpPr/>
          <p:nvPr/>
        </p:nvSpPr>
        <p:spPr>
          <a:xfrm>
            <a:off x="4497608" y="2855887"/>
            <a:ext cx="1461770" cy="639445"/>
          </a:xfrm>
          <a:custGeom>
            <a:avLst/>
            <a:gdLst/>
            <a:ahLst/>
            <a:cxnLst/>
            <a:rect l="l" t="t" r="r" b="b"/>
            <a:pathLst>
              <a:path w="1461770" h="639445">
                <a:moveTo>
                  <a:pt x="0" y="639230"/>
                </a:moveTo>
                <a:lnTo>
                  <a:pt x="1461432" y="639230"/>
                </a:lnTo>
                <a:lnTo>
                  <a:pt x="1461432" y="0"/>
                </a:lnTo>
                <a:lnTo>
                  <a:pt x="0" y="0"/>
                </a:lnTo>
                <a:lnTo>
                  <a:pt x="0" y="639230"/>
                </a:lnTo>
                <a:close/>
              </a:path>
            </a:pathLst>
          </a:custGeom>
          <a:solidFill>
            <a:srgbClr val="E8EDF7"/>
          </a:solidFill>
        </p:spPr>
        <p:txBody>
          <a:bodyPr wrap="square" lIns="0" tIns="0" rIns="0" bIns="0" rtlCol="0"/>
          <a:lstStyle/>
          <a:p/>
        </p:txBody>
      </p:sp>
      <p:sp>
        <p:nvSpPr>
          <p:cNvPr id="9" name="object 9"/>
          <p:cNvSpPr/>
          <p:nvPr/>
        </p:nvSpPr>
        <p:spPr>
          <a:xfrm>
            <a:off x="4497608" y="2855887"/>
            <a:ext cx="1461770" cy="639445"/>
          </a:xfrm>
          <a:custGeom>
            <a:avLst/>
            <a:gdLst/>
            <a:ahLst/>
            <a:cxnLst/>
            <a:rect l="l" t="t" r="r" b="b"/>
            <a:pathLst>
              <a:path w="1461770" h="639445">
                <a:moveTo>
                  <a:pt x="0" y="639230"/>
                </a:moveTo>
                <a:lnTo>
                  <a:pt x="1461432" y="639230"/>
                </a:lnTo>
                <a:lnTo>
                  <a:pt x="1461432" y="0"/>
                </a:lnTo>
                <a:lnTo>
                  <a:pt x="0" y="0"/>
                </a:lnTo>
                <a:lnTo>
                  <a:pt x="0" y="639230"/>
                </a:lnTo>
                <a:close/>
              </a:path>
            </a:pathLst>
          </a:custGeom>
          <a:ln w="3865">
            <a:solidFill>
              <a:srgbClr val="000000"/>
            </a:solidFill>
          </a:ln>
        </p:spPr>
        <p:txBody>
          <a:bodyPr wrap="square" lIns="0" tIns="0" rIns="0" bIns="0" rtlCol="0"/>
          <a:lstStyle/>
          <a:p/>
        </p:txBody>
      </p:sp>
      <p:sp>
        <p:nvSpPr>
          <p:cNvPr id="10" name="object 10"/>
          <p:cNvSpPr txBox="1"/>
          <p:nvPr/>
        </p:nvSpPr>
        <p:spPr>
          <a:xfrm>
            <a:off x="4497608" y="3033173"/>
            <a:ext cx="1461770" cy="257810"/>
          </a:xfrm>
          <a:prstGeom prst="rect">
            <a:avLst/>
          </a:prstGeom>
        </p:spPr>
        <p:txBody>
          <a:bodyPr wrap="square" lIns="0" tIns="15240" rIns="0" bIns="0" rtlCol="0" vert="horz">
            <a:spAutoFit/>
          </a:bodyPr>
          <a:lstStyle/>
          <a:p>
            <a:pPr marL="343535">
              <a:lnSpc>
                <a:spcPct val="100000"/>
              </a:lnSpc>
              <a:spcBef>
                <a:spcPts val="120"/>
              </a:spcBef>
            </a:pPr>
            <a:r>
              <a:rPr dirty="0" sz="1500" spc="20">
                <a:latin typeface="宋体"/>
                <a:cs typeface="宋体"/>
              </a:rPr>
              <a:t>原型评估</a:t>
            </a:r>
            <a:endParaRPr sz="1500">
              <a:latin typeface="宋体"/>
              <a:cs typeface="宋体"/>
            </a:endParaRPr>
          </a:p>
        </p:txBody>
      </p:sp>
      <p:sp>
        <p:nvSpPr>
          <p:cNvPr id="11" name="object 11"/>
          <p:cNvSpPr/>
          <p:nvPr/>
        </p:nvSpPr>
        <p:spPr>
          <a:xfrm>
            <a:off x="6644106" y="2673308"/>
            <a:ext cx="1005205" cy="1004569"/>
          </a:xfrm>
          <a:custGeom>
            <a:avLst/>
            <a:gdLst/>
            <a:ahLst/>
            <a:cxnLst/>
            <a:rect l="l" t="t" r="r" b="b"/>
            <a:pathLst>
              <a:path w="1005204" h="1004570">
                <a:moveTo>
                  <a:pt x="502347" y="0"/>
                </a:moveTo>
                <a:lnTo>
                  <a:pt x="0" y="502235"/>
                </a:lnTo>
                <a:lnTo>
                  <a:pt x="502347" y="1004454"/>
                </a:lnTo>
                <a:lnTo>
                  <a:pt x="1004695" y="502235"/>
                </a:lnTo>
                <a:lnTo>
                  <a:pt x="502347" y="0"/>
                </a:lnTo>
                <a:close/>
              </a:path>
            </a:pathLst>
          </a:custGeom>
          <a:solidFill>
            <a:srgbClr val="E8EDF7"/>
          </a:solidFill>
        </p:spPr>
        <p:txBody>
          <a:bodyPr wrap="square" lIns="0" tIns="0" rIns="0" bIns="0" rtlCol="0"/>
          <a:lstStyle/>
          <a:p/>
        </p:txBody>
      </p:sp>
      <p:sp>
        <p:nvSpPr>
          <p:cNvPr id="12" name="object 12"/>
          <p:cNvSpPr/>
          <p:nvPr/>
        </p:nvSpPr>
        <p:spPr>
          <a:xfrm>
            <a:off x="6644106" y="2673308"/>
            <a:ext cx="1005205" cy="1004569"/>
          </a:xfrm>
          <a:custGeom>
            <a:avLst/>
            <a:gdLst/>
            <a:ahLst/>
            <a:cxnLst/>
            <a:rect l="l" t="t" r="r" b="b"/>
            <a:pathLst>
              <a:path w="1005204" h="1004570">
                <a:moveTo>
                  <a:pt x="0" y="502235"/>
                </a:moveTo>
                <a:lnTo>
                  <a:pt x="502347" y="1004454"/>
                </a:lnTo>
                <a:lnTo>
                  <a:pt x="1004695" y="502235"/>
                </a:lnTo>
                <a:lnTo>
                  <a:pt x="502347" y="0"/>
                </a:lnTo>
                <a:lnTo>
                  <a:pt x="0" y="502235"/>
                </a:lnTo>
                <a:close/>
              </a:path>
            </a:pathLst>
          </a:custGeom>
          <a:ln w="3866">
            <a:solidFill>
              <a:srgbClr val="000000"/>
            </a:solidFill>
          </a:ln>
        </p:spPr>
        <p:txBody>
          <a:bodyPr wrap="square" lIns="0" tIns="0" rIns="0" bIns="0" rtlCol="0"/>
          <a:lstStyle/>
          <a:p/>
        </p:txBody>
      </p:sp>
      <p:sp>
        <p:nvSpPr>
          <p:cNvPr id="13" name="object 13"/>
          <p:cNvSpPr/>
          <p:nvPr/>
        </p:nvSpPr>
        <p:spPr>
          <a:xfrm>
            <a:off x="6415809" y="4453973"/>
            <a:ext cx="1461770" cy="639445"/>
          </a:xfrm>
          <a:custGeom>
            <a:avLst/>
            <a:gdLst/>
            <a:ahLst/>
            <a:cxnLst/>
            <a:rect l="l" t="t" r="r" b="b"/>
            <a:pathLst>
              <a:path w="1461770" h="639445">
                <a:moveTo>
                  <a:pt x="0" y="639230"/>
                </a:moveTo>
                <a:lnTo>
                  <a:pt x="1461432" y="639230"/>
                </a:lnTo>
                <a:lnTo>
                  <a:pt x="1461432" y="0"/>
                </a:lnTo>
                <a:lnTo>
                  <a:pt x="0" y="0"/>
                </a:lnTo>
                <a:lnTo>
                  <a:pt x="0" y="639230"/>
                </a:lnTo>
                <a:close/>
              </a:path>
            </a:pathLst>
          </a:custGeom>
          <a:solidFill>
            <a:srgbClr val="E8EDF7"/>
          </a:solidFill>
        </p:spPr>
        <p:txBody>
          <a:bodyPr wrap="square" lIns="0" tIns="0" rIns="0" bIns="0" rtlCol="0"/>
          <a:lstStyle/>
          <a:p/>
        </p:txBody>
      </p:sp>
      <p:sp>
        <p:nvSpPr>
          <p:cNvPr id="14" name="object 14"/>
          <p:cNvSpPr/>
          <p:nvPr/>
        </p:nvSpPr>
        <p:spPr>
          <a:xfrm>
            <a:off x="6415809" y="4453973"/>
            <a:ext cx="1461770" cy="639445"/>
          </a:xfrm>
          <a:custGeom>
            <a:avLst/>
            <a:gdLst/>
            <a:ahLst/>
            <a:cxnLst/>
            <a:rect l="l" t="t" r="r" b="b"/>
            <a:pathLst>
              <a:path w="1461770" h="639445">
                <a:moveTo>
                  <a:pt x="0" y="639230"/>
                </a:moveTo>
                <a:lnTo>
                  <a:pt x="1461432" y="639230"/>
                </a:lnTo>
                <a:lnTo>
                  <a:pt x="1461432" y="0"/>
                </a:lnTo>
                <a:lnTo>
                  <a:pt x="0" y="0"/>
                </a:lnTo>
                <a:lnTo>
                  <a:pt x="0" y="639230"/>
                </a:lnTo>
                <a:close/>
              </a:path>
            </a:pathLst>
          </a:custGeom>
          <a:ln w="3865">
            <a:solidFill>
              <a:srgbClr val="000000"/>
            </a:solidFill>
          </a:ln>
        </p:spPr>
        <p:txBody>
          <a:bodyPr wrap="square" lIns="0" tIns="0" rIns="0" bIns="0" rtlCol="0"/>
          <a:lstStyle/>
          <a:p/>
        </p:txBody>
      </p:sp>
      <p:sp>
        <p:nvSpPr>
          <p:cNvPr id="15" name="object 15"/>
          <p:cNvSpPr/>
          <p:nvPr/>
        </p:nvSpPr>
        <p:spPr>
          <a:xfrm>
            <a:off x="1483424" y="3175543"/>
            <a:ext cx="654050" cy="0"/>
          </a:xfrm>
          <a:custGeom>
            <a:avLst/>
            <a:gdLst/>
            <a:ahLst/>
            <a:cxnLst/>
            <a:rect l="l" t="t" r="r" b="b"/>
            <a:pathLst>
              <a:path w="654050" h="0">
                <a:moveTo>
                  <a:pt x="0" y="0"/>
                </a:moveTo>
                <a:lnTo>
                  <a:pt x="654051" y="0"/>
                </a:lnTo>
              </a:path>
            </a:pathLst>
          </a:custGeom>
          <a:ln w="3865">
            <a:solidFill>
              <a:srgbClr val="000000"/>
            </a:solidFill>
          </a:ln>
        </p:spPr>
        <p:txBody>
          <a:bodyPr wrap="square" lIns="0" tIns="0" rIns="0" bIns="0" rtlCol="0"/>
          <a:lstStyle/>
          <a:p/>
        </p:txBody>
      </p:sp>
      <p:sp>
        <p:nvSpPr>
          <p:cNvPr id="16" name="object 16"/>
          <p:cNvSpPr/>
          <p:nvPr/>
        </p:nvSpPr>
        <p:spPr>
          <a:xfrm>
            <a:off x="2126358" y="3131086"/>
            <a:ext cx="133985" cy="89535"/>
          </a:xfrm>
          <a:custGeom>
            <a:avLst/>
            <a:gdLst/>
            <a:ahLst/>
            <a:cxnLst/>
            <a:rect l="l" t="t" r="r" b="b"/>
            <a:pathLst>
              <a:path w="133985" h="89535">
                <a:moveTo>
                  <a:pt x="0" y="0"/>
                </a:moveTo>
                <a:lnTo>
                  <a:pt x="0" y="88914"/>
                </a:lnTo>
                <a:lnTo>
                  <a:pt x="133400" y="44457"/>
                </a:lnTo>
                <a:lnTo>
                  <a:pt x="0" y="0"/>
                </a:lnTo>
                <a:close/>
              </a:path>
            </a:pathLst>
          </a:custGeom>
          <a:solidFill>
            <a:srgbClr val="000000"/>
          </a:solidFill>
        </p:spPr>
        <p:txBody>
          <a:bodyPr wrap="square" lIns="0" tIns="0" rIns="0" bIns="0" rtlCol="0"/>
          <a:lstStyle/>
          <a:p/>
        </p:txBody>
      </p:sp>
      <p:sp>
        <p:nvSpPr>
          <p:cNvPr id="17" name="object 17"/>
          <p:cNvSpPr/>
          <p:nvPr/>
        </p:nvSpPr>
        <p:spPr>
          <a:xfrm>
            <a:off x="3721208" y="3175543"/>
            <a:ext cx="654685" cy="0"/>
          </a:xfrm>
          <a:custGeom>
            <a:avLst/>
            <a:gdLst/>
            <a:ahLst/>
            <a:cxnLst/>
            <a:rect l="l" t="t" r="r" b="b"/>
            <a:pathLst>
              <a:path w="654685" h="0">
                <a:moveTo>
                  <a:pt x="0" y="0"/>
                </a:moveTo>
                <a:lnTo>
                  <a:pt x="654115" y="0"/>
                </a:lnTo>
              </a:path>
            </a:pathLst>
          </a:custGeom>
          <a:ln w="3865">
            <a:solidFill>
              <a:srgbClr val="000000"/>
            </a:solidFill>
          </a:ln>
        </p:spPr>
        <p:txBody>
          <a:bodyPr wrap="square" lIns="0" tIns="0" rIns="0" bIns="0" rtlCol="0"/>
          <a:lstStyle/>
          <a:p/>
        </p:txBody>
      </p:sp>
      <p:sp>
        <p:nvSpPr>
          <p:cNvPr id="18" name="object 18"/>
          <p:cNvSpPr/>
          <p:nvPr/>
        </p:nvSpPr>
        <p:spPr>
          <a:xfrm>
            <a:off x="4364207" y="3131086"/>
            <a:ext cx="133985" cy="89535"/>
          </a:xfrm>
          <a:custGeom>
            <a:avLst/>
            <a:gdLst/>
            <a:ahLst/>
            <a:cxnLst/>
            <a:rect l="l" t="t" r="r" b="b"/>
            <a:pathLst>
              <a:path w="133985" h="89535">
                <a:moveTo>
                  <a:pt x="0" y="0"/>
                </a:moveTo>
                <a:lnTo>
                  <a:pt x="0" y="88914"/>
                </a:lnTo>
                <a:lnTo>
                  <a:pt x="133400" y="44457"/>
                </a:lnTo>
                <a:lnTo>
                  <a:pt x="0" y="0"/>
                </a:lnTo>
                <a:close/>
              </a:path>
            </a:pathLst>
          </a:custGeom>
          <a:solidFill>
            <a:srgbClr val="000000"/>
          </a:solidFill>
        </p:spPr>
        <p:txBody>
          <a:bodyPr wrap="square" lIns="0" tIns="0" rIns="0" bIns="0" rtlCol="0"/>
          <a:lstStyle/>
          <a:p/>
        </p:txBody>
      </p:sp>
      <p:sp>
        <p:nvSpPr>
          <p:cNvPr id="19" name="object 19"/>
          <p:cNvSpPr/>
          <p:nvPr/>
        </p:nvSpPr>
        <p:spPr>
          <a:xfrm>
            <a:off x="5959056" y="3175543"/>
            <a:ext cx="563245" cy="0"/>
          </a:xfrm>
          <a:custGeom>
            <a:avLst/>
            <a:gdLst/>
            <a:ahLst/>
            <a:cxnLst/>
            <a:rect l="l" t="t" r="r" b="b"/>
            <a:pathLst>
              <a:path w="563245" h="0">
                <a:moveTo>
                  <a:pt x="0" y="0"/>
                </a:moveTo>
                <a:lnTo>
                  <a:pt x="562764" y="0"/>
                </a:lnTo>
              </a:path>
            </a:pathLst>
          </a:custGeom>
          <a:ln w="3865">
            <a:solidFill>
              <a:srgbClr val="000000"/>
            </a:solidFill>
          </a:ln>
        </p:spPr>
        <p:txBody>
          <a:bodyPr wrap="square" lIns="0" tIns="0" rIns="0" bIns="0" rtlCol="0"/>
          <a:lstStyle/>
          <a:p/>
        </p:txBody>
      </p:sp>
      <p:sp>
        <p:nvSpPr>
          <p:cNvPr id="20" name="object 20"/>
          <p:cNvSpPr/>
          <p:nvPr/>
        </p:nvSpPr>
        <p:spPr>
          <a:xfrm>
            <a:off x="6510704" y="3131086"/>
            <a:ext cx="133985" cy="89535"/>
          </a:xfrm>
          <a:custGeom>
            <a:avLst/>
            <a:gdLst/>
            <a:ahLst/>
            <a:cxnLst/>
            <a:rect l="l" t="t" r="r" b="b"/>
            <a:pathLst>
              <a:path w="133984" h="89535">
                <a:moveTo>
                  <a:pt x="0" y="0"/>
                </a:moveTo>
                <a:lnTo>
                  <a:pt x="0" y="88914"/>
                </a:lnTo>
                <a:lnTo>
                  <a:pt x="133400" y="44457"/>
                </a:lnTo>
                <a:lnTo>
                  <a:pt x="0" y="0"/>
                </a:lnTo>
                <a:close/>
              </a:path>
            </a:pathLst>
          </a:custGeom>
          <a:solidFill>
            <a:srgbClr val="000000"/>
          </a:solidFill>
        </p:spPr>
        <p:txBody>
          <a:bodyPr wrap="square" lIns="0" tIns="0" rIns="0" bIns="0" rtlCol="0"/>
          <a:lstStyle/>
          <a:p/>
        </p:txBody>
      </p:sp>
      <p:sp>
        <p:nvSpPr>
          <p:cNvPr id="21" name="object 21"/>
          <p:cNvSpPr/>
          <p:nvPr/>
        </p:nvSpPr>
        <p:spPr>
          <a:xfrm>
            <a:off x="7146453" y="3677763"/>
            <a:ext cx="0" cy="260985"/>
          </a:xfrm>
          <a:custGeom>
            <a:avLst/>
            <a:gdLst/>
            <a:ahLst/>
            <a:cxnLst/>
            <a:rect l="l" t="t" r="r" b="b"/>
            <a:pathLst>
              <a:path w="0" h="260985">
                <a:moveTo>
                  <a:pt x="0" y="0"/>
                </a:moveTo>
                <a:lnTo>
                  <a:pt x="0" y="260911"/>
                </a:lnTo>
              </a:path>
            </a:pathLst>
          </a:custGeom>
          <a:ln w="3866">
            <a:solidFill>
              <a:srgbClr val="000000"/>
            </a:solidFill>
          </a:ln>
        </p:spPr>
        <p:txBody>
          <a:bodyPr wrap="square" lIns="0" tIns="0" rIns="0" bIns="0" rtlCol="0"/>
          <a:lstStyle/>
          <a:p/>
        </p:txBody>
      </p:sp>
      <p:sp>
        <p:nvSpPr>
          <p:cNvPr id="22" name="object 22"/>
          <p:cNvSpPr/>
          <p:nvPr/>
        </p:nvSpPr>
        <p:spPr>
          <a:xfrm>
            <a:off x="7146453" y="4193061"/>
            <a:ext cx="0" cy="139065"/>
          </a:xfrm>
          <a:custGeom>
            <a:avLst/>
            <a:gdLst/>
            <a:ahLst/>
            <a:cxnLst/>
            <a:rect l="l" t="t" r="r" b="b"/>
            <a:pathLst>
              <a:path w="0" h="139064">
                <a:moveTo>
                  <a:pt x="0" y="0"/>
                </a:moveTo>
                <a:lnTo>
                  <a:pt x="0" y="138654"/>
                </a:lnTo>
              </a:path>
            </a:pathLst>
          </a:custGeom>
          <a:ln w="3866">
            <a:solidFill>
              <a:srgbClr val="000000"/>
            </a:solidFill>
          </a:ln>
        </p:spPr>
        <p:txBody>
          <a:bodyPr wrap="square" lIns="0" tIns="0" rIns="0" bIns="0" rtlCol="0"/>
          <a:lstStyle/>
          <a:p/>
        </p:txBody>
      </p:sp>
      <p:sp>
        <p:nvSpPr>
          <p:cNvPr id="23" name="object 23"/>
          <p:cNvSpPr/>
          <p:nvPr/>
        </p:nvSpPr>
        <p:spPr>
          <a:xfrm>
            <a:off x="7101986" y="4320601"/>
            <a:ext cx="89535" cy="133985"/>
          </a:xfrm>
          <a:custGeom>
            <a:avLst/>
            <a:gdLst/>
            <a:ahLst/>
            <a:cxnLst/>
            <a:rect l="l" t="t" r="r" b="b"/>
            <a:pathLst>
              <a:path w="89534" h="133985">
                <a:moveTo>
                  <a:pt x="88933" y="0"/>
                </a:moveTo>
                <a:lnTo>
                  <a:pt x="0" y="0"/>
                </a:lnTo>
                <a:lnTo>
                  <a:pt x="44466" y="133371"/>
                </a:lnTo>
                <a:lnTo>
                  <a:pt x="88933" y="0"/>
                </a:lnTo>
                <a:close/>
              </a:path>
            </a:pathLst>
          </a:custGeom>
          <a:solidFill>
            <a:srgbClr val="000000"/>
          </a:solidFill>
        </p:spPr>
        <p:txBody>
          <a:bodyPr wrap="square" lIns="0" tIns="0" rIns="0" bIns="0" rtlCol="0"/>
          <a:lstStyle/>
          <a:p/>
        </p:txBody>
      </p:sp>
      <p:sp>
        <p:nvSpPr>
          <p:cNvPr id="24" name="object 24"/>
          <p:cNvSpPr txBox="1"/>
          <p:nvPr/>
        </p:nvSpPr>
        <p:spPr>
          <a:xfrm>
            <a:off x="6415809" y="3923473"/>
            <a:ext cx="1461770" cy="965200"/>
          </a:xfrm>
          <a:prstGeom prst="rect">
            <a:avLst/>
          </a:prstGeom>
        </p:spPr>
        <p:txBody>
          <a:bodyPr wrap="square" lIns="0" tIns="15240" rIns="0" bIns="0" rtlCol="0" vert="horz">
            <a:spAutoFit/>
          </a:bodyPr>
          <a:lstStyle/>
          <a:p>
            <a:pPr algn="ctr">
              <a:lnSpc>
                <a:spcPct val="100000"/>
              </a:lnSpc>
              <a:spcBef>
                <a:spcPts val="120"/>
              </a:spcBef>
            </a:pPr>
            <a:r>
              <a:rPr dirty="0" sz="1500" spc="20">
                <a:latin typeface="宋体"/>
                <a:cs typeface="宋体"/>
              </a:rPr>
              <a:t>否</a:t>
            </a:r>
            <a:endParaRPr sz="1500">
              <a:latin typeface="宋体"/>
              <a:cs typeface="宋体"/>
            </a:endParaRPr>
          </a:p>
          <a:p>
            <a:pPr>
              <a:lnSpc>
                <a:spcPct val="100000"/>
              </a:lnSpc>
            </a:pPr>
            <a:endParaRPr sz="1500">
              <a:latin typeface="宋体"/>
              <a:cs typeface="宋体"/>
            </a:endParaRPr>
          </a:p>
          <a:p>
            <a:pPr>
              <a:lnSpc>
                <a:spcPct val="100000"/>
              </a:lnSpc>
              <a:spcBef>
                <a:spcPts val="55"/>
              </a:spcBef>
            </a:pPr>
            <a:endParaRPr sz="1400">
              <a:latin typeface="宋体"/>
              <a:cs typeface="宋体"/>
            </a:endParaRPr>
          </a:p>
          <a:p>
            <a:pPr algn="ctr">
              <a:lnSpc>
                <a:spcPct val="100000"/>
              </a:lnSpc>
            </a:pPr>
            <a:r>
              <a:rPr dirty="0" sz="1500" spc="20">
                <a:latin typeface="宋体"/>
                <a:cs typeface="宋体"/>
              </a:rPr>
              <a:t>原型修正</a:t>
            </a:r>
            <a:endParaRPr sz="1500">
              <a:latin typeface="宋体"/>
              <a:cs typeface="宋体"/>
            </a:endParaRPr>
          </a:p>
        </p:txBody>
      </p:sp>
      <p:sp>
        <p:nvSpPr>
          <p:cNvPr id="25" name="object 25"/>
          <p:cNvSpPr/>
          <p:nvPr/>
        </p:nvSpPr>
        <p:spPr>
          <a:xfrm>
            <a:off x="8401678" y="3175543"/>
            <a:ext cx="449580" cy="0"/>
          </a:xfrm>
          <a:custGeom>
            <a:avLst/>
            <a:gdLst/>
            <a:ahLst/>
            <a:cxnLst/>
            <a:rect l="l" t="t" r="r" b="b"/>
            <a:pathLst>
              <a:path w="449579" h="0">
                <a:moveTo>
                  <a:pt x="0" y="0"/>
                </a:moveTo>
                <a:lnTo>
                  <a:pt x="449342" y="0"/>
                </a:lnTo>
              </a:path>
            </a:pathLst>
          </a:custGeom>
          <a:ln w="3865">
            <a:solidFill>
              <a:srgbClr val="000000"/>
            </a:solidFill>
          </a:ln>
        </p:spPr>
        <p:txBody>
          <a:bodyPr wrap="square" lIns="0" tIns="0" rIns="0" bIns="0" rtlCol="0"/>
          <a:lstStyle/>
          <a:p/>
        </p:txBody>
      </p:sp>
      <p:sp>
        <p:nvSpPr>
          <p:cNvPr id="26" name="object 26"/>
          <p:cNvSpPr/>
          <p:nvPr/>
        </p:nvSpPr>
        <p:spPr>
          <a:xfrm>
            <a:off x="8839903" y="3131086"/>
            <a:ext cx="133985" cy="89535"/>
          </a:xfrm>
          <a:custGeom>
            <a:avLst/>
            <a:gdLst/>
            <a:ahLst/>
            <a:cxnLst/>
            <a:rect l="l" t="t" r="r" b="b"/>
            <a:pathLst>
              <a:path w="133984" h="89535">
                <a:moveTo>
                  <a:pt x="0" y="0"/>
                </a:moveTo>
                <a:lnTo>
                  <a:pt x="0" y="88914"/>
                </a:lnTo>
                <a:lnTo>
                  <a:pt x="133400" y="44457"/>
                </a:lnTo>
                <a:lnTo>
                  <a:pt x="0" y="0"/>
                </a:lnTo>
                <a:close/>
              </a:path>
            </a:pathLst>
          </a:custGeom>
          <a:solidFill>
            <a:srgbClr val="000000"/>
          </a:solidFill>
        </p:spPr>
        <p:txBody>
          <a:bodyPr wrap="square" lIns="0" tIns="0" rIns="0" bIns="0" rtlCol="0"/>
          <a:lstStyle/>
          <a:p/>
        </p:txBody>
      </p:sp>
      <p:sp>
        <p:nvSpPr>
          <p:cNvPr id="27" name="object 27"/>
          <p:cNvSpPr txBox="1"/>
          <p:nvPr/>
        </p:nvSpPr>
        <p:spPr>
          <a:xfrm>
            <a:off x="6749501" y="3033173"/>
            <a:ext cx="1671320" cy="257810"/>
          </a:xfrm>
          <a:prstGeom prst="rect">
            <a:avLst/>
          </a:prstGeom>
        </p:spPr>
        <p:txBody>
          <a:bodyPr wrap="square" lIns="0" tIns="15240" rIns="0" bIns="0" rtlCol="0" vert="horz">
            <a:spAutoFit/>
          </a:bodyPr>
          <a:lstStyle/>
          <a:p>
            <a:pPr marL="12700">
              <a:lnSpc>
                <a:spcPct val="100000"/>
              </a:lnSpc>
              <a:spcBef>
                <a:spcPts val="120"/>
              </a:spcBef>
              <a:tabLst>
                <a:tab pos="1464310" algn="l"/>
              </a:tabLst>
            </a:pPr>
            <a:r>
              <a:rPr dirty="0" sz="1500" spc="20">
                <a:latin typeface="宋体"/>
                <a:cs typeface="宋体"/>
              </a:rPr>
              <a:t>达到目</a:t>
            </a:r>
            <a:r>
              <a:rPr dirty="0" sz="1500" spc="15">
                <a:latin typeface="宋体"/>
                <a:cs typeface="宋体"/>
              </a:rPr>
              <a:t>的</a:t>
            </a:r>
            <a:r>
              <a:rPr dirty="0" sz="1500" spc="20">
                <a:latin typeface="宋体"/>
                <a:cs typeface="宋体"/>
              </a:rPr>
              <a:t>？</a:t>
            </a:r>
            <a:r>
              <a:rPr dirty="0" sz="1500">
                <a:latin typeface="宋体"/>
                <a:cs typeface="宋体"/>
              </a:rPr>
              <a:t>	</a:t>
            </a:r>
            <a:r>
              <a:rPr dirty="0" sz="1500" spc="20">
                <a:latin typeface="宋体"/>
                <a:cs typeface="宋体"/>
              </a:rPr>
              <a:t>是</a:t>
            </a:r>
            <a:endParaRPr sz="1500">
              <a:latin typeface="宋体"/>
              <a:cs typeface="宋体"/>
            </a:endParaRPr>
          </a:p>
        </p:txBody>
      </p:sp>
      <p:sp>
        <p:nvSpPr>
          <p:cNvPr id="28" name="object 28"/>
          <p:cNvSpPr/>
          <p:nvPr/>
        </p:nvSpPr>
        <p:spPr>
          <a:xfrm>
            <a:off x="5228251" y="3617375"/>
            <a:ext cx="1188085" cy="1156335"/>
          </a:xfrm>
          <a:custGeom>
            <a:avLst/>
            <a:gdLst/>
            <a:ahLst/>
            <a:cxnLst/>
            <a:rect l="l" t="t" r="r" b="b"/>
            <a:pathLst>
              <a:path w="1188085" h="1156335">
                <a:moveTo>
                  <a:pt x="1187558" y="1156220"/>
                </a:moveTo>
                <a:lnTo>
                  <a:pt x="0" y="1156220"/>
                </a:lnTo>
                <a:lnTo>
                  <a:pt x="0" y="0"/>
                </a:lnTo>
              </a:path>
            </a:pathLst>
          </a:custGeom>
          <a:ln w="3866">
            <a:solidFill>
              <a:srgbClr val="000000"/>
            </a:solidFill>
          </a:ln>
        </p:spPr>
        <p:txBody>
          <a:bodyPr wrap="square" lIns="0" tIns="0" rIns="0" bIns="0" rtlCol="0"/>
          <a:lstStyle/>
          <a:p/>
        </p:txBody>
      </p:sp>
      <p:sp>
        <p:nvSpPr>
          <p:cNvPr id="29" name="object 29"/>
          <p:cNvSpPr/>
          <p:nvPr/>
        </p:nvSpPr>
        <p:spPr>
          <a:xfrm>
            <a:off x="5183784" y="3495118"/>
            <a:ext cx="89535" cy="133985"/>
          </a:xfrm>
          <a:custGeom>
            <a:avLst/>
            <a:gdLst/>
            <a:ahLst/>
            <a:cxnLst/>
            <a:rect l="l" t="t" r="r" b="b"/>
            <a:pathLst>
              <a:path w="89535" h="133985">
                <a:moveTo>
                  <a:pt x="44466" y="0"/>
                </a:moveTo>
                <a:lnTo>
                  <a:pt x="0" y="133371"/>
                </a:lnTo>
                <a:lnTo>
                  <a:pt x="88933" y="133371"/>
                </a:lnTo>
                <a:lnTo>
                  <a:pt x="44466" y="0"/>
                </a:lnTo>
                <a:close/>
              </a:path>
            </a:pathLst>
          </a:custGeom>
          <a:solidFill>
            <a:srgbClr val="000000"/>
          </a:solidFill>
        </p:spPr>
        <p:txBody>
          <a:bodyPr wrap="square" lIns="0" tIns="0" rIns="0" bIns="0" rtlCol="0"/>
          <a:lstStyle/>
          <a:p/>
        </p:txBody>
      </p:sp>
      <p:sp>
        <p:nvSpPr>
          <p:cNvPr id="30" name="object 30"/>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2438" y="120218"/>
            <a:ext cx="4233545" cy="1184910"/>
          </a:xfrm>
          <a:prstGeom prst="rect"/>
        </p:spPr>
        <p:txBody>
          <a:bodyPr wrap="square" lIns="0" tIns="13335" rIns="0" bIns="0" rtlCol="0" vert="horz">
            <a:spAutoFit/>
          </a:bodyPr>
          <a:lstStyle/>
          <a:p>
            <a:pPr marL="12700">
              <a:lnSpc>
                <a:spcPct val="100000"/>
              </a:lnSpc>
              <a:spcBef>
                <a:spcPts val="105"/>
              </a:spcBef>
            </a:pPr>
            <a:r>
              <a:rPr dirty="0" sz="3800">
                <a:latin typeface="Calibri"/>
                <a:cs typeface="Calibri"/>
              </a:rPr>
              <a:t>5.3.</a:t>
            </a:r>
            <a:r>
              <a:rPr dirty="0" sz="3800"/>
              <a:t>原型方法过程</a:t>
            </a:r>
            <a:endParaRPr sz="3800">
              <a:latin typeface="Calibri"/>
              <a:cs typeface="Calibri"/>
            </a:endParaRPr>
          </a:p>
          <a:p>
            <a:pPr marL="353695">
              <a:lnSpc>
                <a:spcPct val="100000"/>
              </a:lnSpc>
            </a:pPr>
            <a:r>
              <a:rPr dirty="0" sz="3800">
                <a:latin typeface="Arial"/>
                <a:cs typeface="Arial"/>
              </a:rPr>
              <a:t>——</a:t>
            </a:r>
            <a:r>
              <a:rPr dirty="0" sz="3800"/>
              <a:t>确定原型需求</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45361"/>
            <a:ext cx="7877175" cy="4534535"/>
          </a:xfrm>
          <a:prstGeom prst="rect">
            <a:avLst/>
          </a:prstGeom>
        </p:spPr>
        <p:txBody>
          <a:bodyPr wrap="square" lIns="0" tIns="12065" rIns="0" bIns="0" rtlCol="0" vert="horz">
            <a:spAutoFit/>
          </a:bodyPr>
          <a:lstStyle/>
          <a:p>
            <a:pPr marL="355600" indent="-343535">
              <a:lnSpc>
                <a:spcPts val="3254"/>
              </a:lnSpc>
              <a:spcBef>
                <a:spcPts val="95"/>
              </a:spcBef>
              <a:buClr>
                <a:srgbClr val="00663B"/>
              </a:buClr>
              <a:buSzPct val="80357"/>
              <a:buFont typeface="Wingdings"/>
              <a:buChar char=""/>
              <a:tabLst>
                <a:tab pos="355600" algn="l"/>
                <a:tab pos="356235" algn="l"/>
              </a:tabLst>
            </a:pPr>
            <a:r>
              <a:rPr dirty="0" sz="2800" spc="-10">
                <a:latin typeface="宋体"/>
                <a:cs typeface="宋体"/>
              </a:rPr>
              <a:t>原型的需求内容可以</a:t>
            </a:r>
            <a:r>
              <a:rPr dirty="0" sz="2800" spc="-5">
                <a:latin typeface="宋体"/>
                <a:cs typeface="宋体"/>
              </a:rPr>
              <a:t>从</a:t>
            </a:r>
            <a:r>
              <a:rPr dirty="0" sz="2800" spc="-5">
                <a:solidFill>
                  <a:srgbClr val="00A15F"/>
                </a:solidFill>
                <a:latin typeface="宋体"/>
                <a:cs typeface="宋体"/>
              </a:rPr>
              <a:t>三个纬度</a:t>
            </a:r>
            <a:r>
              <a:rPr dirty="0" sz="2800" spc="-15">
                <a:solidFill>
                  <a:srgbClr val="00A15F"/>
                </a:solidFill>
                <a:latin typeface="宋体"/>
                <a:cs typeface="宋体"/>
              </a:rPr>
              <a:t>上</a:t>
            </a:r>
            <a:r>
              <a:rPr dirty="0" sz="2800">
                <a:latin typeface="宋体"/>
                <a:cs typeface="宋体"/>
              </a:rPr>
              <a:t>分</a:t>
            </a:r>
            <a:r>
              <a:rPr dirty="0" sz="2800" spc="-5">
                <a:latin typeface="宋体"/>
                <a:cs typeface="宋体"/>
              </a:rPr>
              <a:t>析：</a:t>
            </a:r>
            <a:r>
              <a:rPr dirty="0" sz="2800">
                <a:latin typeface="宋体"/>
                <a:cs typeface="宋体"/>
              </a:rPr>
              <a:t>角</a:t>
            </a:r>
            <a:r>
              <a:rPr dirty="0" sz="2800" spc="-5">
                <a:latin typeface="宋体"/>
                <a:cs typeface="宋体"/>
              </a:rPr>
              <a:t>色</a:t>
            </a:r>
            <a:endParaRPr sz="2800">
              <a:latin typeface="宋体"/>
              <a:cs typeface="宋体"/>
            </a:endParaRPr>
          </a:p>
          <a:p>
            <a:pPr marL="355600">
              <a:lnSpc>
                <a:spcPts val="3254"/>
              </a:lnSpc>
            </a:pPr>
            <a:r>
              <a:rPr dirty="0" sz="2800" spc="-5">
                <a:latin typeface="宋体"/>
                <a:cs typeface="宋体"/>
              </a:rPr>
              <a:t>（</a:t>
            </a:r>
            <a:r>
              <a:rPr dirty="0" sz="2800" spc="-5">
                <a:latin typeface="Calibri"/>
                <a:cs typeface="Calibri"/>
              </a:rPr>
              <a:t>Role</a:t>
            </a:r>
            <a:r>
              <a:rPr dirty="0" sz="2800" spc="-5">
                <a:latin typeface="宋体"/>
                <a:cs typeface="宋体"/>
              </a:rPr>
              <a:t>）、外观</a:t>
            </a:r>
            <a:r>
              <a:rPr dirty="0" sz="2800" spc="-10">
                <a:latin typeface="宋体"/>
                <a:cs typeface="宋体"/>
              </a:rPr>
              <a:t>（</a:t>
            </a:r>
            <a:r>
              <a:rPr dirty="0" sz="2800" spc="-10">
                <a:latin typeface="Calibri"/>
                <a:cs typeface="Calibri"/>
              </a:rPr>
              <a:t>Look</a:t>
            </a:r>
            <a:r>
              <a:rPr dirty="0" sz="2800" spc="20">
                <a:latin typeface="Calibri"/>
                <a:cs typeface="Calibri"/>
              </a:rPr>
              <a:t> </a:t>
            </a:r>
            <a:r>
              <a:rPr dirty="0" sz="2800" spc="-5">
                <a:latin typeface="Calibri"/>
                <a:cs typeface="Calibri"/>
              </a:rPr>
              <a:t>and</a:t>
            </a:r>
            <a:r>
              <a:rPr dirty="0" sz="2800" spc="10">
                <a:latin typeface="Calibri"/>
                <a:cs typeface="Calibri"/>
              </a:rPr>
              <a:t> </a:t>
            </a:r>
            <a:r>
              <a:rPr dirty="0" sz="2800" spc="-5">
                <a:latin typeface="Calibri"/>
                <a:cs typeface="Calibri"/>
              </a:rPr>
              <a:t>Feel</a:t>
            </a:r>
            <a:r>
              <a:rPr dirty="0" sz="2800" spc="-5">
                <a:latin typeface="宋体"/>
                <a:cs typeface="宋体"/>
              </a:rPr>
              <a:t>）和实现</a:t>
            </a:r>
            <a:endParaRPr sz="2800">
              <a:latin typeface="宋体"/>
              <a:cs typeface="宋体"/>
            </a:endParaRPr>
          </a:p>
          <a:p>
            <a:pPr marL="355600">
              <a:lnSpc>
                <a:spcPct val="100000"/>
              </a:lnSpc>
            </a:pPr>
            <a:r>
              <a:rPr dirty="0" sz="2800" spc="-5">
                <a:latin typeface="宋体"/>
                <a:cs typeface="宋体"/>
              </a:rPr>
              <a:t>（</a:t>
            </a:r>
            <a:r>
              <a:rPr dirty="0" sz="2800" spc="-5">
                <a:latin typeface="Calibri"/>
                <a:cs typeface="Calibri"/>
              </a:rPr>
              <a:t>Implementation</a:t>
            </a:r>
            <a:r>
              <a:rPr dirty="0" sz="2800" spc="-5">
                <a:latin typeface="宋体"/>
                <a:cs typeface="宋体"/>
              </a:rPr>
              <a:t>）</a:t>
            </a:r>
            <a:endParaRPr sz="2800">
              <a:latin typeface="宋体"/>
              <a:cs typeface="宋体"/>
            </a:endParaRPr>
          </a:p>
          <a:p>
            <a:pPr algn="just" lvl="1" marL="756285" marR="5080" indent="-287020">
              <a:lnSpc>
                <a:spcPts val="3150"/>
              </a:lnSpc>
              <a:spcBef>
                <a:spcPts val="1170"/>
              </a:spcBef>
              <a:buClr>
                <a:srgbClr val="C00000"/>
              </a:buClr>
              <a:buSzPct val="58928"/>
              <a:buFont typeface="Wingdings"/>
              <a:buChar char=""/>
              <a:tabLst>
                <a:tab pos="756920" algn="l"/>
              </a:tabLst>
            </a:pPr>
            <a:r>
              <a:rPr dirty="0" sz="2800" spc="-10" b="1">
                <a:latin typeface="宋体"/>
                <a:cs typeface="宋体"/>
              </a:rPr>
              <a:t>角色</a:t>
            </a:r>
            <a:r>
              <a:rPr dirty="0" sz="2800" spc="-10">
                <a:latin typeface="宋体"/>
                <a:cs typeface="宋体"/>
              </a:rPr>
              <a:t>是指原型物件在用户工作中的</a:t>
            </a:r>
            <a:r>
              <a:rPr dirty="0" sz="2800">
                <a:latin typeface="宋体"/>
                <a:cs typeface="宋体"/>
              </a:rPr>
              <a:t>价</a:t>
            </a:r>
            <a:r>
              <a:rPr dirty="0" sz="2800" spc="-10">
                <a:latin typeface="宋体"/>
                <a:cs typeface="宋体"/>
              </a:rPr>
              <a:t>值，</a:t>
            </a:r>
            <a:r>
              <a:rPr dirty="0" sz="2800">
                <a:latin typeface="宋体"/>
                <a:cs typeface="宋体"/>
              </a:rPr>
              <a:t>也</a:t>
            </a:r>
            <a:r>
              <a:rPr dirty="0" sz="2800" spc="-5">
                <a:latin typeface="宋体"/>
                <a:cs typeface="宋体"/>
              </a:rPr>
              <a:t>就 是说它为什么是对用户有用的。</a:t>
            </a:r>
            <a:endParaRPr sz="2800">
              <a:latin typeface="宋体"/>
              <a:cs typeface="宋体"/>
            </a:endParaRPr>
          </a:p>
          <a:p>
            <a:pPr algn="just" lvl="2" marL="1155700" indent="-229235">
              <a:lnSpc>
                <a:spcPct val="100000"/>
              </a:lnSpc>
              <a:spcBef>
                <a:spcPts val="520"/>
              </a:spcBef>
              <a:buFont typeface="Arial"/>
              <a:buChar char="•"/>
              <a:tabLst>
                <a:tab pos="1156335" algn="l"/>
              </a:tabLst>
            </a:pPr>
            <a:r>
              <a:rPr dirty="0" sz="2400">
                <a:latin typeface="宋体"/>
                <a:cs typeface="宋体"/>
              </a:rPr>
              <a:t>原型物件到底能够帮助用户完成什么样的工作</a:t>
            </a:r>
            <a:endParaRPr sz="2400">
              <a:latin typeface="宋体"/>
              <a:cs typeface="宋体"/>
            </a:endParaRPr>
          </a:p>
          <a:p>
            <a:pPr algn="just" lvl="1" marL="756285" marR="5080" indent="-287020">
              <a:lnSpc>
                <a:spcPct val="96800"/>
              </a:lnSpc>
              <a:spcBef>
                <a:spcPts val="975"/>
              </a:spcBef>
              <a:buClr>
                <a:srgbClr val="C00000"/>
              </a:buClr>
              <a:buSzPct val="58928"/>
              <a:buFont typeface="Wingdings"/>
              <a:buChar char=""/>
              <a:tabLst>
                <a:tab pos="756920" algn="l"/>
              </a:tabLst>
            </a:pPr>
            <a:r>
              <a:rPr dirty="0" sz="2800" spc="-10" b="1">
                <a:latin typeface="宋体"/>
                <a:cs typeface="宋体"/>
              </a:rPr>
              <a:t>外观</a:t>
            </a:r>
            <a:r>
              <a:rPr dirty="0" sz="2800" spc="-10">
                <a:latin typeface="宋体"/>
                <a:cs typeface="宋体"/>
              </a:rPr>
              <a:t>是指用户对原型物件的具体感</a:t>
            </a:r>
            <a:r>
              <a:rPr dirty="0" sz="2800">
                <a:latin typeface="宋体"/>
                <a:cs typeface="宋体"/>
              </a:rPr>
              <a:t>觉</a:t>
            </a:r>
            <a:r>
              <a:rPr dirty="0" sz="2800" spc="-10">
                <a:latin typeface="宋体"/>
                <a:cs typeface="宋体"/>
              </a:rPr>
              <a:t>体验</a:t>
            </a:r>
            <a:r>
              <a:rPr dirty="0" sz="2800">
                <a:latin typeface="宋体"/>
                <a:cs typeface="宋体"/>
              </a:rPr>
              <a:t>，</a:t>
            </a:r>
            <a:r>
              <a:rPr dirty="0" sz="2800" spc="-5">
                <a:latin typeface="宋体"/>
                <a:cs typeface="宋体"/>
              </a:rPr>
              <a:t>即 </a:t>
            </a:r>
            <a:r>
              <a:rPr dirty="0" sz="2800" spc="-5">
                <a:latin typeface="宋体"/>
                <a:cs typeface="宋体"/>
              </a:rPr>
              <a:t>用户在使用原型物件时会看到什么</a:t>
            </a:r>
            <a:r>
              <a:rPr dirty="0" sz="2800">
                <a:latin typeface="宋体"/>
                <a:cs typeface="宋体"/>
              </a:rPr>
              <a:t>、</a:t>
            </a:r>
            <a:r>
              <a:rPr dirty="0" sz="2800" spc="-5">
                <a:latin typeface="宋体"/>
                <a:cs typeface="宋体"/>
              </a:rPr>
              <a:t>听到</a:t>
            </a:r>
            <a:r>
              <a:rPr dirty="0" sz="2800">
                <a:latin typeface="宋体"/>
                <a:cs typeface="宋体"/>
              </a:rPr>
              <a:t>什</a:t>
            </a:r>
            <a:r>
              <a:rPr dirty="0" sz="2800" spc="-5">
                <a:latin typeface="宋体"/>
                <a:cs typeface="宋体"/>
              </a:rPr>
              <a:t>么 </a:t>
            </a:r>
            <a:r>
              <a:rPr dirty="0" sz="2800" spc="-5">
                <a:latin typeface="宋体"/>
                <a:cs typeface="宋体"/>
              </a:rPr>
              <a:t>和感觉到什么</a:t>
            </a:r>
            <a:endParaRPr sz="2800">
              <a:latin typeface="宋体"/>
              <a:cs typeface="宋体"/>
            </a:endParaRPr>
          </a:p>
          <a:p>
            <a:pPr algn="just" lvl="1" marL="756285" indent="-287020">
              <a:lnSpc>
                <a:spcPct val="100000"/>
              </a:lnSpc>
              <a:spcBef>
                <a:spcPts val="675"/>
              </a:spcBef>
              <a:buClr>
                <a:srgbClr val="C00000"/>
              </a:buClr>
              <a:buSzPct val="58928"/>
              <a:buFont typeface="Wingdings"/>
              <a:buChar char=""/>
              <a:tabLst>
                <a:tab pos="756920" algn="l"/>
              </a:tabLst>
            </a:pPr>
            <a:r>
              <a:rPr dirty="0" sz="2800" spc="-10" b="1">
                <a:latin typeface="宋体"/>
                <a:cs typeface="宋体"/>
              </a:rPr>
              <a:t>实现</a:t>
            </a:r>
            <a:r>
              <a:rPr dirty="0" sz="2800" spc="-10">
                <a:latin typeface="宋体"/>
                <a:cs typeface="宋体"/>
              </a:rPr>
              <a:t>是指原型物件完成功能的细节</a:t>
            </a:r>
            <a:r>
              <a:rPr dirty="0" sz="2800">
                <a:latin typeface="宋体"/>
                <a:cs typeface="宋体"/>
              </a:rPr>
              <a:t>技</a:t>
            </a:r>
            <a:r>
              <a:rPr dirty="0" sz="2800" spc="-10">
                <a:latin typeface="宋体"/>
                <a:cs typeface="宋体"/>
              </a:rPr>
              <a:t>术和</a:t>
            </a:r>
            <a:r>
              <a:rPr dirty="0" sz="2800">
                <a:latin typeface="宋体"/>
                <a:cs typeface="宋体"/>
              </a:rPr>
              <a:t>方</a:t>
            </a:r>
            <a:r>
              <a:rPr dirty="0" sz="2800" spc="-5">
                <a:latin typeface="宋体"/>
                <a:cs typeface="宋体"/>
              </a:rPr>
              <a:t>法</a:t>
            </a:r>
            <a:endParaRPr sz="2800">
              <a:latin typeface="宋体"/>
              <a:cs typeface="宋体"/>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50057" y="233299"/>
            <a:ext cx="3741420" cy="1184275"/>
          </a:xfrm>
          <a:prstGeom prst="rect"/>
        </p:spPr>
        <p:txBody>
          <a:bodyPr wrap="square" lIns="0" tIns="12700" rIns="0" bIns="0" rtlCol="0" vert="horz">
            <a:spAutoFit/>
          </a:bodyPr>
          <a:lstStyle/>
          <a:p>
            <a:pPr algn="r" marR="100965">
              <a:lnSpc>
                <a:spcPct val="100000"/>
              </a:lnSpc>
              <a:spcBef>
                <a:spcPts val="100"/>
              </a:spcBef>
            </a:pPr>
            <a:r>
              <a:rPr dirty="0" sz="3800">
                <a:latin typeface="Calibri"/>
                <a:cs typeface="Calibri"/>
              </a:rPr>
              <a:t>5.3</a:t>
            </a:r>
            <a:r>
              <a:rPr dirty="0" sz="3800" spc="-80">
                <a:latin typeface="Calibri"/>
                <a:cs typeface="Calibri"/>
              </a:rPr>
              <a:t> </a:t>
            </a:r>
            <a:r>
              <a:rPr dirty="0" sz="3800"/>
              <a:t>原型方法过程</a:t>
            </a:r>
            <a:endParaRPr sz="3800">
              <a:latin typeface="Calibri"/>
              <a:cs typeface="Calibri"/>
            </a:endParaRPr>
          </a:p>
          <a:p>
            <a:pPr algn="r" marR="5080">
              <a:lnSpc>
                <a:spcPct val="100000"/>
              </a:lnSpc>
              <a:spcBef>
                <a:spcPts val="5"/>
              </a:spcBef>
            </a:pPr>
            <a:r>
              <a:rPr dirty="0" sz="3800">
                <a:latin typeface="Arial"/>
                <a:cs typeface="Arial"/>
              </a:rPr>
              <a:t>——</a:t>
            </a:r>
            <a:r>
              <a:rPr dirty="0" sz="3800"/>
              <a:t>原型开发</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14881"/>
            <a:ext cx="4030979" cy="514350"/>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687"/>
              <a:buFont typeface="Wingdings"/>
              <a:buChar char=""/>
              <a:tabLst>
                <a:tab pos="356235" algn="l"/>
              </a:tabLst>
            </a:pPr>
            <a:r>
              <a:rPr dirty="0" sz="3200">
                <a:latin typeface="宋体"/>
                <a:cs typeface="宋体"/>
              </a:rPr>
              <a:t>选择原型开发的方法</a:t>
            </a:r>
            <a:endParaRPr sz="3200">
              <a:latin typeface="宋体"/>
              <a:cs typeface="宋体"/>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614881"/>
            <a:ext cx="4030979" cy="514350"/>
          </a:xfrm>
          <a:prstGeom prst="rect">
            <a:avLst/>
          </a:prstGeom>
        </p:spPr>
        <p:txBody>
          <a:bodyPr wrap="square" lIns="0" tIns="13335" rIns="0" bIns="0" rtlCol="0" vert="horz">
            <a:spAutoFit/>
          </a:bodyPr>
          <a:lstStyle/>
          <a:p>
            <a:pPr marL="355600" indent="-343535">
              <a:lnSpc>
                <a:spcPct val="100000"/>
              </a:lnSpc>
              <a:spcBef>
                <a:spcPts val="105"/>
              </a:spcBef>
              <a:buFont typeface="Arial"/>
              <a:buChar char="•"/>
              <a:tabLst>
                <a:tab pos="355600" algn="l"/>
                <a:tab pos="356235" algn="l"/>
              </a:tabLst>
            </a:pPr>
            <a:r>
              <a:rPr dirty="0" sz="3200">
                <a:latin typeface="宋体"/>
                <a:cs typeface="宋体"/>
              </a:rPr>
              <a:t>选择原型的构建技术</a:t>
            </a:r>
            <a:endParaRPr sz="3200">
              <a:latin typeface="宋体"/>
              <a:cs typeface="宋体"/>
            </a:endParaRPr>
          </a:p>
        </p:txBody>
      </p:sp>
      <p:graphicFrame>
        <p:nvGraphicFramePr>
          <p:cNvPr id="3" name="object 3"/>
          <p:cNvGraphicFramePr>
            <a:graphicFrameLocks noGrp="1"/>
          </p:cNvGraphicFramePr>
          <p:nvPr/>
        </p:nvGraphicFramePr>
        <p:xfrm>
          <a:off x="984250" y="2355850"/>
          <a:ext cx="7562850" cy="3705225"/>
        </p:xfrm>
        <a:graphic>
          <a:graphicData uri="http://schemas.openxmlformats.org/drawingml/2006/table">
            <a:tbl>
              <a:tblPr firstRow="1" bandRow="1">
                <a:tableStyleId>{2D5ABB26-0587-4C30-8999-92F81FD0307C}</a:tableStyleId>
              </a:tblPr>
              <a:tblGrid>
                <a:gridCol w="4578350"/>
                <a:gridCol w="2965450"/>
              </a:tblGrid>
              <a:tr h="738124">
                <a:tc>
                  <a:txBody>
                    <a:bodyPr/>
                    <a:lstStyle/>
                    <a:p>
                      <a:pPr algn="ctr">
                        <a:lnSpc>
                          <a:spcPct val="100000"/>
                        </a:lnSpc>
                        <a:spcBef>
                          <a:spcPts val="875"/>
                        </a:spcBef>
                      </a:pPr>
                      <a:r>
                        <a:rPr dirty="0" sz="3200">
                          <a:latin typeface="微软雅黑"/>
                          <a:cs typeface="微软雅黑"/>
                        </a:rPr>
                        <a:t>需求</a:t>
                      </a:r>
                      <a:r>
                        <a:rPr dirty="0" sz="3200" spc="-15">
                          <a:latin typeface="微软雅黑"/>
                          <a:cs typeface="微软雅黑"/>
                        </a:rPr>
                        <a:t>内</a:t>
                      </a:r>
                      <a:r>
                        <a:rPr dirty="0" sz="3200">
                          <a:latin typeface="微软雅黑"/>
                          <a:cs typeface="微软雅黑"/>
                        </a:rPr>
                        <a:t>容纬度</a:t>
                      </a:r>
                      <a:endParaRPr sz="3200">
                        <a:latin typeface="微软雅黑"/>
                        <a:cs typeface="微软雅黑"/>
                      </a:endParaRPr>
                    </a:p>
                  </a:txBody>
                  <a:tcPr marL="0" marR="0" marB="0" marT="1111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3175">
                        <a:lnSpc>
                          <a:spcPct val="100000"/>
                        </a:lnSpc>
                        <a:spcBef>
                          <a:spcPts val="875"/>
                        </a:spcBef>
                      </a:pPr>
                      <a:r>
                        <a:rPr dirty="0" sz="3200">
                          <a:latin typeface="微软雅黑"/>
                          <a:cs typeface="微软雅黑"/>
                        </a:rPr>
                        <a:t>构建技术</a:t>
                      </a:r>
                      <a:endParaRPr sz="3200">
                        <a:latin typeface="微软雅黑"/>
                        <a:cs typeface="微软雅黑"/>
                      </a:endParaRPr>
                    </a:p>
                  </a:txBody>
                  <a:tcPr marL="0" marR="0" marB="0" marT="1111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738251">
                <a:tc>
                  <a:txBody>
                    <a:bodyPr/>
                    <a:lstStyle/>
                    <a:p>
                      <a:pPr algn="ctr" marL="1905">
                        <a:lnSpc>
                          <a:spcPct val="100000"/>
                        </a:lnSpc>
                        <a:spcBef>
                          <a:spcPts val="875"/>
                        </a:spcBef>
                      </a:pPr>
                      <a:r>
                        <a:rPr dirty="0" sz="3200">
                          <a:latin typeface="微软雅黑"/>
                          <a:cs typeface="微软雅黑"/>
                        </a:rPr>
                        <a:t>外观</a:t>
                      </a:r>
                      <a:endParaRPr sz="3200">
                        <a:latin typeface="微软雅黑"/>
                        <a:cs typeface="微软雅黑"/>
                      </a:endParaRPr>
                    </a:p>
                  </a:txBody>
                  <a:tcPr marL="0" marR="0" marB="0" marT="1111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rowSpan="3">
                  <a:txBody>
                    <a:bodyPr/>
                    <a:lstStyle/>
                    <a:p>
                      <a:pPr>
                        <a:lnSpc>
                          <a:spcPct val="100000"/>
                        </a:lnSpc>
                        <a:spcBef>
                          <a:spcPts val="25"/>
                        </a:spcBef>
                      </a:pPr>
                      <a:endParaRPr sz="5800">
                        <a:latin typeface="Times New Roman"/>
                        <a:cs typeface="Times New Roman"/>
                      </a:endParaRPr>
                    </a:p>
                    <a:p>
                      <a:pPr algn="ctr" marL="3810">
                        <a:lnSpc>
                          <a:spcPct val="100000"/>
                        </a:lnSpc>
                      </a:pPr>
                      <a:r>
                        <a:rPr dirty="0" sz="3200">
                          <a:latin typeface="微软雅黑"/>
                          <a:cs typeface="微软雅黑"/>
                        </a:rPr>
                        <a:t>水平</a:t>
                      </a:r>
                      <a:endParaRPr sz="3200">
                        <a:latin typeface="微软雅黑"/>
                        <a:cs typeface="微软雅黑"/>
                      </a:endParaR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739775">
                <a:tc>
                  <a:txBody>
                    <a:bodyPr/>
                    <a:lstStyle/>
                    <a:p>
                      <a:pPr algn="ctr" marL="1905">
                        <a:lnSpc>
                          <a:spcPct val="100000"/>
                        </a:lnSpc>
                        <a:spcBef>
                          <a:spcPts val="880"/>
                        </a:spcBef>
                      </a:pPr>
                      <a:r>
                        <a:rPr dirty="0" sz="3200">
                          <a:latin typeface="微软雅黑"/>
                          <a:cs typeface="微软雅黑"/>
                        </a:rPr>
                        <a:t>角色</a:t>
                      </a:r>
                      <a:endParaRPr sz="3200">
                        <a:latin typeface="微软雅黑"/>
                        <a:cs typeface="微软雅黑"/>
                      </a:endParaRPr>
                    </a:p>
                  </a:txBody>
                  <a:tcPr marL="0" marR="0" marB="0" marT="1117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738251">
                <a:tc>
                  <a:txBody>
                    <a:bodyPr/>
                    <a:lstStyle/>
                    <a:p>
                      <a:pPr algn="ctr" marL="1905">
                        <a:lnSpc>
                          <a:spcPct val="100000"/>
                        </a:lnSpc>
                        <a:spcBef>
                          <a:spcPts val="875"/>
                        </a:spcBef>
                      </a:pPr>
                      <a:r>
                        <a:rPr dirty="0" sz="3200">
                          <a:latin typeface="微软雅黑"/>
                          <a:cs typeface="微软雅黑"/>
                        </a:rPr>
                        <a:t>实现</a:t>
                      </a:r>
                      <a:endParaRPr sz="3200">
                        <a:latin typeface="微软雅黑"/>
                        <a:cs typeface="微软雅黑"/>
                      </a:endParaRPr>
                    </a:p>
                  </a:txBody>
                  <a:tcPr marL="0" marR="0" marB="0" marT="11112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vMerge="1">
                  <a:txBody>
                    <a:bodyPr/>
                    <a:lstStyle/>
                    <a:p>
                      <a:pPr/>
                    </a:p>
                  </a:txBody>
                  <a:tcPr marL="0" marR="0" marB="0" marT="3175">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r h="738124">
                <a:tc>
                  <a:txBody>
                    <a:bodyPr/>
                    <a:lstStyle/>
                    <a:p>
                      <a:pPr algn="ctr" marL="1905">
                        <a:lnSpc>
                          <a:spcPct val="100000"/>
                        </a:lnSpc>
                        <a:spcBef>
                          <a:spcPts val="880"/>
                        </a:spcBef>
                      </a:pPr>
                      <a:r>
                        <a:rPr dirty="0" sz="3200">
                          <a:latin typeface="微软雅黑"/>
                          <a:cs typeface="微软雅黑"/>
                        </a:rPr>
                        <a:t>集成</a:t>
                      </a:r>
                      <a:endParaRPr sz="3200">
                        <a:latin typeface="微软雅黑"/>
                        <a:cs typeface="微软雅黑"/>
                      </a:endParaRPr>
                    </a:p>
                  </a:txBody>
                  <a:tcPr marL="0" marR="0" marB="0" marT="1117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marL="3810">
                        <a:lnSpc>
                          <a:spcPct val="100000"/>
                        </a:lnSpc>
                        <a:spcBef>
                          <a:spcPts val="880"/>
                        </a:spcBef>
                      </a:pPr>
                      <a:r>
                        <a:rPr dirty="0" sz="3200">
                          <a:latin typeface="微软雅黑"/>
                          <a:cs typeface="微软雅黑"/>
                        </a:rPr>
                        <a:t>垂直</a:t>
                      </a:r>
                      <a:endParaRPr sz="3200">
                        <a:latin typeface="微软雅黑"/>
                        <a:cs typeface="微软雅黑"/>
                      </a:endParaRPr>
                    </a:p>
                  </a:txBody>
                  <a:tcPr marL="0" marR="0" marB="0" marT="11176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r>
            </a:tbl>
          </a:graphicData>
        </a:graphic>
      </p:graphicFrame>
      <p:sp>
        <p:nvSpPr>
          <p:cNvPr id="4" name="object 4"/>
          <p:cNvSpPr txBox="1">
            <a:spLocks noGrp="1"/>
          </p:cNvSpPr>
          <p:nvPr>
            <p:ph type="title"/>
          </p:nvPr>
        </p:nvSpPr>
        <p:spPr>
          <a:xfrm>
            <a:off x="2750057" y="233299"/>
            <a:ext cx="3695700" cy="1184275"/>
          </a:xfrm>
          <a:prstGeom prst="rect"/>
        </p:spPr>
        <p:txBody>
          <a:bodyPr wrap="square" lIns="0" tIns="12700" rIns="0" bIns="0" rtlCol="0" vert="horz">
            <a:spAutoFit/>
          </a:bodyPr>
          <a:lstStyle/>
          <a:p>
            <a:pPr algn="r" marR="55244">
              <a:lnSpc>
                <a:spcPct val="100000"/>
              </a:lnSpc>
              <a:spcBef>
                <a:spcPts val="100"/>
              </a:spcBef>
            </a:pPr>
            <a:r>
              <a:rPr dirty="0" sz="3800">
                <a:latin typeface="Calibri"/>
                <a:cs typeface="Calibri"/>
              </a:rPr>
              <a:t>5.3</a:t>
            </a:r>
            <a:r>
              <a:rPr dirty="0" sz="3800" spc="-80">
                <a:latin typeface="Calibri"/>
                <a:cs typeface="Calibri"/>
              </a:rPr>
              <a:t> </a:t>
            </a:r>
            <a:r>
              <a:rPr dirty="0" sz="3800"/>
              <a:t>原型方法过程</a:t>
            </a:r>
            <a:endParaRPr sz="3800">
              <a:latin typeface="Calibri"/>
              <a:cs typeface="Calibri"/>
            </a:endParaRPr>
          </a:p>
          <a:p>
            <a:pPr algn="r" marR="5080">
              <a:lnSpc>
                <a:spcPct val="100000"/>
              </a:lnSpc>
              <a:spcBef>
                <a:spcPts val="5"/>
              </a:spcBef>
            </a:pPr>
            <a:r>
              <a:rPr dirty="0" sz="3800">
                <a:latin typeface="Calibri"/>
                <a:cs typeface="Calibri"/>
              </a:rPr>
              <a:t>——</a:t>
            </a:r>
            <a:r>
              <a:rPr dirty="0" sz="3800"/>
              <a:t>原型开发</a:t>
            </a:r>
            <a:endParaRPr sz="3800">
              <a:latin typeface="Calibri"/>
              <a:cs typeface="Calibri"/>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2438" y="95757"/>
            <a:ext cx="3749040" cy="1184910"/>
          </a:xfrm>
          <a:prstGeom prst="rect"/>
        </p:spPr>
        <p:txBody>
          <a:bodyPr wrap="square" lIns="0" tIns="12700" rIns="0" bIns="0" rtlCol="0" vert="horz">
            <a:spAutoFit/>
          </a:bodyPr>
          <a:lstStyle/>
          <a:p>
            <a:pPr algn="r" marR="95885">
              <a:lnSpc>
                <a:spcPct val="100000"/>
              </a:lnSpc>
              <a:spcBef>
                <a:spcPts val="100"/>
              </a:spcBef>
            </a:pPr>
            <a:r>
              <a:rPr dirty="0" sz="3800">
                <a:latin typeface="Calibri"/>
                <a:cs typeface="Calibri"/>
              </a:rPr>
              <a:t>5.3</a:t>
            </a:r>
            <a:r>
              <a:rPr dirty="0" sz="3800" spc="5">
                <a:latin typeface="Calibri"/>
                <a:cs typeface="Calibri"/>
              </a:rPr>
              <a:t>.</a:t>
            </a:r>
            <a:r>
              <a:rPr dirty="0" sz="3800"/>
              <a:t>原型方法过程</a:t>
            </a:r>
            <a:endParaRPr sz="3800">
              <a:latin typeface="Calibri"/>
              <a:cs typeface="Calibri"/>
            </a:endParaRPr>
          </a:p>
          <a:p>
            <a:pPr algn="r" marR="5080">
              <a:lnSpc>
                <a:spcPct val="100000"/>
              </a:lnSpc>
              <a:spcBef>
                <a:spcPts val="5"/>
              </a:spcBef>
            </a:pPr>
            <a:r>
              <a:rPr dirty="0" sz="3800">
                <a:latin typeface="Arial"/>
                <a:cs typeface="Arial"/>
              </a:rPr>
              <a:t>——</a:t>
            </a:r>
            <a:r>
              <a:rPr dirty="0" sz="3800"/>
              <a:t>原型评估</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29773"/>
            <a:ext cx="7472680" cy="3906520"/>
          </a:xfrm>
          <a:prstGeom prst="rect">
            <a:avLst/>
          </a:prstGeom>
        </p:spPr>
        <p:txBody>
          <a:bodyPr wrap="square" lIns="0" tIns="100330" rIns="0" bIns="0" rtlCol="0" vert="horz">
            <a:spAutoFit/>
          </a:bodyPr>
          <a:lstStyle/>
          <a:p>
            <a:pPr marL="355600" indent="-343535">
              <a:lnSpc>
                <a:spcPct val="100000"/>
              </a:lnSpc>
              <a:spcBef>
                <a:spcPts val="790"/>
              </a:spcBef>
              <a:buClr>
                <a:srgbClr val="00663B"/>
              </a:buClr>
              <a:buSzPct val="80357"/>
              <a:buFont typeface="Wingdings"/>
              <a:buChar char=""/>
              <a:tabLst>
                <a:tab pos="355600" algn="l"/>
                <a:tab pos="356235" algn="l"/>
              </a:tabLst>
            </a:pPr>
            <a:r>
              <a:rPr dirty="0" sz="2800" spc="-10">
                <a:latin typeface="宋体"/>
                <a:cs typeface="宋体"/>
              </a:rPr>
              <a:t>需要获取的评估者反馈</a:t>
            </a:r>
            <a:endParaRPr sz="2800">
              <a:latin typeface="宋体"/>
              <a:cs typeface="宋体"/>
            </a:endParaRPr>
          </a:p>
          <a:p>
            <a:pPr lvl="1" marL="756285" indent="-287020">
              <a:lnSpc>
                <a:spcPct val="100000"/>
              </a:lnSpc>
              <a:spcBef>
                <a:spcPts val="595"/>
              </a:spcBef>
              <a:buClr>
                <a:srgbClr val="C00000"/>
              </a:buClr>
              <a:buSzPct val="60416"/>
              <a:buFont typeface="Wingdings"/>
              <a:buChar char=""/>
              <a:tabLst>
                <a:tab pos="756285" algn="l"/>
                <a:tab pos="756920" algn="l"/>
              </a:tabLst>
            </a:pPr>
            <a:r>
              <a:rPr dirty="0" sz="2400">
                <a:latin typeface="宋体"/>
                <a:cs typeface="宋体"/>
              </a:rPr>
              <a:t>评估者反应</a:t>
            </a:r>
            <a:endParaRPr sz="2400">
              <a:latin typeface="宋体"/>
              <a:cs typeface="宋体"/>
            </a:endParaRPr>
          </a:p>
          <a:p>
            <a:pPr lvl="1" marL="756285" indent="-287020">
              <a:lnSpc>
                <a:spcPct val="100000"/>
              </a:lnSpc>
              <a:spcBef>
                <a:spcPts val="575"/>
              </a:spcBef>
              <a:buClr>
                <a:srgbClr val="C00000"/>
              </a:buClr>
              <a:buSzPct val="60416"/>
              <a:buFont typeface="Wingdings"/>
              <a:buChar char=""/>
              <a:tabLst>
                <a:tab pos="756285" algn="l"/>
                <a:tab pos="756920" algn="l"/>
              </a:tabLst>
            </a:pPr>
            <a:r>
              <a:rPr dirty="0" sz="2400">
                <a:latin typeface="宋体"/>
                <a:cs typeface="宋体"/>
              </a:rPr>
              <a:t>评估者建议</a:t>
            </a:r>
            <a:endParaRPr sz="2400">
              <a:latin typeface="宋体"/>
              <a:cs typeface="宋体"/>
            </a:endParaRPr>
          </a:p>
          <a:p>
            <a:pPr lvl="1" marL="756285" indent="-287020">
              <a:lnSpc>
                <a:spcPct val="100000"/>
              </a:lnSpc>
              <a:spcBef>
                <a:spcPts val="580"/>
              </a:spcBef>
              <a:buClr>
                <a:srgbClr val="C00000"/>
              </a:buClr>
              <a:buSzPct val="60416"/>
              <a:buFont typeface="Wingdings"/>
              <a:buChar char=""/>
              <a:tabLst>
                <a:tab pos="756285" algn="l"/>
                <a:tab pos="756920" algn="l"/>
              </a:tabLst>
            </a:pPr>
            <a:r>
              <a:rPr dirty="0" sz="2400" spc="-5">
                <a:latin typeface="宋体"/>
                <a:cs typeface="宋体"/>
              </a:rPr>
              <a:t>创新思想</a:t>
            </a:r>
            <a:endParaRPr sz="2400">
              <a:latin typeface="宋体"/>
              <a:cs typeface="宋体"/>
            </a:endParaRPr>
          </a:p>
          <a:p>
            <a:pPr marL="355600" indent="-343535">
              <a:lnSpc>
                <a:spcPct val="100000"/>
              </a:lnSpc>
              <a:spcBef>
                <a:spcPts val="655"/>
              </a:spcBef>
              <a:buClr>
                <a:srgbClr val="00663B"/>
              </a:buClr>
              <a:buSzPct val="80357"/>
              <a:buFont typeface="Wingdings"/>
              <a:buChar char=""/>
              <a:tabLst>
                <a:tab pos="355600" algn="l"/>
                <a:tab pos="356235" algn="l"/>
              </a:tabLst>
            </a:pPr>
            <a:r>
              <a:rPr dirty="0" sz="2800" spc="-5">
                <a:latin typeface="宋体"/>
                <a:cs typeface="宋体"/>
              </a:rPr>
              <a:t>可以创建一些脚本来指导评估者的</a:t>
            </a:r>
            <a:r>
              <a:rPr dirty="0" sz="2800">
                <a:latin typeface="宋体"/>
                <a:cs typeface="宋体"/>
              </a:rPr>
              <a:t>体</a:t>
            </a:r>
            <a:r>
              <a:rPr dirty="0" sz="2800" spc="-5">
                <a:latin typeface="宋体"/>
                <a:cs typeface="宋体"/>
              </a:rPr>
              <a:t>验活动</a:t>
            </a:r>
            <a:endParaRPr sz="2800">
              <a:latin typeface="宋体"/>
              <a:cs typeface="宋体"/>
            </a:endParaRPr>
          </a:p>
          <a:p>
            <a:pPr marL="355600" indent="-343535">
              <a:lnSpc>
                <a:spcPct val="100000"/>
              </a:lnSpc>
              <a:spcBef>
                <a:spcPts val="675"/>
              </a:spcBef>
              <a:buClr>
                <a:srgbClr val="00663B"/>
              </a:buClr>
              <a:buSzPct val="80357"/>
              <a:buFont typeface="Wingdings"/>
              <a:buChar char=""/>
              <a:tabLst>
                <a:tab pos="355600" algn="l"/>
                <a:tab pos="356235" algn="l"/>
              </a:tabLst>
            </a:pPr>
            <a:r>
              <a:rPr dirty="0" sz="2800" spc="-5">
                <a:latin typeface="宋体"/>
                <a:cs typeface="宋体"/>
              </a:rPr>
              <a:t>务必要让合适的人从恰当的角度来</a:t>
            </a:r>
            <a:r>
              <a:rPr dirty="0" sz="2800">
                <a:latin typeface="宋体"/>
                <a:cs typeface="宋体"/>
              </a:rPr>
              <a:t>评</a:t>
            </a:r>
            <a:r>
              <a:rPr dirty="0" sz="2800" spc="-5">
                <a:latin typeface="宋体"/>
                <a:cs typeface="宋体"/>
              </a:rPr>
              <a:t>估原型</a:t>
            </a:r>
            <a:endParaRPr sz="2800">
              <a:latin typeface="宋体"/>
              <a:cs typeface="宋体"/>
            </a:endParaRPr>
          </a:p>
          <a:p>
            <a:pPr marL="355600" indent="-343535">
              <a:lnSpc>
                <a:spcPct val="100000"/>
              </a:lnSpc>
              <a:spcBef>
                <a:spcPts val="670"/>
              </a:spcBef>
              <a:buClr>
                <a:srgbClr val="00663B"/>
              </a:buClr>
              <a:buSzPct val="80357"/>
              <a:buFont typeface="Wingdings"/>
              <a:buChar char=""/>
              <a:tabLst>
                <a:tab pos="355600" algn="l"/>
                <a:tab pos="356235" algn="l"/>
              </a:tabLst>
            </a:pPr>
            <a:r>
              <a:rPr dirty="0" sz="2800" spc="-10">
                <a:latin typeface="宋体"/>
                <a:cs typeface="宋体"/>
              </a:rPr>
              <a:t>观察评估人员使用原型的过程</a:t>
            </a:r>
            <a:endParaRPr sz="2800">
              <a:latin typeface="宋体"/>
              <a:cs typeface="宋体"/>
            </a:endParaRPr>
          </a:p>
          <a:p>
            <a:pPr marL="355600" indent="-343535">
              <a:lnSpc>
                <a:spcPct val="100000"/>
              </a:lnSpc>
              <a:spcBef>
                <a:spcPts val="675"/>
              </a:spcBef>
              <a:buClr>
                <a:srgbClr val="00663B"/>
              </a:buClr>
              <a:buSzPct val="80357"/>
              <a:buFont typeface="Wingdings"/>
              <a:buChar char=""/>
              <a:tabLst>
                <a:tab pos="355600" algn="l"/>
                <a:tab pos="356235" algn="l"/>
              </a:tabLst>
            </a:pPr>
            <a:r>
              <a:rPr dirty="0" sz="2800" spc="-5">
                <a:latin typeface="宋体"/>
                <a:cs typeface="宋体"/>
              </a:rPr>
              <a:t>创造一个无偏见的环境，让评估人</a:t>
            </a:r>
            <a:r>
              <a:rPr dirty="0" sz="2800">
                <a:latin typeface="宋体"/>
                <a:cs typeface="宋体"/>
              </a:rPr>
              <a:t>员</a:t>
            </a:r>
            <a:r>
              <a:rPr dirty="0" sz="2800" spc="-5">
                <a:latin typeface="宋体"/>
                <a:cs typeface="宋体"/>
              </a:rPr>
              <a:t>畅所</a:t>
            </a:r>
            <a:r>
              <a:rPr dirty="0" sz="2800">
                <a:latin typeface="宋体"/>
                <a:cs typeface="宋体"/>
              </a:rPr>
              <a:t>欲</a:t>
            </a:r>
            <a:r>
              <a:rPr dirty="0" sz="2800" spc="-5">
                <a:latin typeface="宋体"/>
                <a:cs typeface="宋体"/>
              </a:rPr>
              <a:t>言</a:t>
            </a:r>
            <a:endParaRPr sz="2800">
              <a:latin typeface="宋体"/>
              <a:cs typeface="宋体"/>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2438" y="95757"/>
            <a:ext cx="3749040" cy="1184910"/>
          </a:xfrm>
          <a:prstGeom prst="rect"/>
        </p:spPr>
        <p:txBody>
          <a:bodyPr wrap="square" lIns="0" tIns="12700" rIns="0" bIns="0" rtlCol="0" vert="horz">
            <a:spAutoFit/>
          </a:bodyPr>
          <a:lstStyle/>
          <a:p>
            <a:pPr algn="r" marR="95885">
              <a:lnSpc>
                <a:spcPct val="100000"/>
              </a:lnSpc>
              <a:spcBef>
                <a:spcPts val="100"/>
              </a:spcBef>
            </a:pPr>
            <a:r>
              <a:rPr dirty="0" sz="3800">
                <a:latin typeface="Calibri"/>
                <a:cs typeface="Calibri"/>
              </a:rPr>
              <a:t>5.3</a:t>
            </a:r>
            <a:r>
              <a:rPr dirty="0" sz="3800" spc="5">
                <a:latin typeface="Calibri"/>
                <a:cs typeface="Calibri"/>
              </a:rPr>
              <a:t>.</a:t>
            </a:r>
            <a:r>
              <a:rPr dirty="0" sz="3800"/>
              <a:t>原型方法过程</a:t>
            </a:r>
            <a:endParaRPr sz="3800">
              <a:latin typeface="Calibri"/>
              <a:cs typeface="Calibri"/>
            </a:endParaRPr>
          </a:p>
          <a:p>
            <a:pPr algn="r" marR="5080">
              <a:lnSpc>
                <a:spcPct val="100000"/>
              </a:lnSpc>
              <a:spcBef>
                <a:spcPts val="5"/>
              </a:spcBef>
            </a:pPr>
            <a:r>
              <a:rPr dirty="0" sz="3800">
                <a:latin typeface="Arial"/>
                <a:cs typeface="Arial"/>
              </a:rPr>
              <a:t>——</a:t>
            </a:r>
            <a:r>
              <a:rPr dirty="0" sz="3800"/>
              <a:t>原型修正</a:t>
            </a:r>
            <a:endParaRPr sz="3800">
              <a:latin typeface="Arial"/>
              <a:cs typeface="Arial"/>
            </a:endParaRP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97761"/>
            <a:ext cx="7282815" cy="1196975"/>
          </a:xfrm>
          <a:prstGeom prst="rect">
            <a:avLst/>
          </a:prstGeom>
        </p:spPr>
        <p:txBody>
          <a:bodyPr wrap="square" lIns="0" tIns="110489" rIns="0" bIns="0" rtlCol="0" vert="horz">
            <a:spAutoFit/>
          </a:bodyPr>
          <a:lstStyle/>
          <a:p>
            <a:pPr marL="355600" indent="-343535">
              <a:lnSpc>
                <a:spcPct val="100000"/>
              </a:lnSpc>
              <a:spcBef>
                <a:spcPts val="869"/>
              </a:spcBef>
              <a:buClr>
                <a:srgbClr val="00663B"/>
              </a:buClr>
              <a:buSzPct val="79687"/>
              <a:buFont typeface="Wingdings"/>
              <a:buChar char=""/>
              <a:tabLst>
                <a:tab pos="356235" algn="l"/>
              </a:tabLst>
            </a:pPr>
            <a:r>
              <a:rPr dirty="0" sz="3200">
                <a:latin typeface="宋体"/>
                <a:cs typeface="宋体"/>
              </a:rPr>
              <a:t>一方面要依据评估人员</a:t>
            </a:r>
            <a:r>
              <a:rPr dirty="0" sz="3200" spc="-15">
                <a:latin typeface="宋体"/>
                <a:cs typeface="宋体"/>
              </a:rPr>
              <a:t>的</a:t>
            </a:r>
            <a:r>
              <a:rPr dirty="0" sz="3200">
                <a:latin typeface="宋体"/>
                <a:cs typeface="宋体"/>
              </a:rPr>
              <a:t>反馈</a:t>
            </a:r>
            <a:endParaRPr sz="3200">
              <a:latin typeface="宋体"/>
              <a:cs typeface="宋体"/>
            </a:endParaRPr>
          </a:p>
          <a:p>
            <a:pPr marL="355600" indent="-343535">
              <a:lnSpc>
                <a:spcPct val="100000"/>
              </a:lnSpc>
              <a:spcBef>
                <a:spcPts val="770"/>
              </a:spcBef>
              <a:buClr>
                <a:srgbClr val="00663B"/>
              </a:buClr>
              <a:buSzPct val="79687"/>
              <a:buFont typeface="Wingdings"/>
              <a:buChar char=""/>
              <a:tabLst>
                <a:tab pos="356235" algn="l"/>
              </a:tabLst>
            </a:pPr>
            <a:r>
              <a:rPr dirty="0" sz="3200">
                <a:latin typeface="宋体"/>
                <a:cs typeface="宋体"/>
              </a:rPr>
              <a:t>另一方面也要考虑事先</a:t>
            </a:r>
            <a:r>
              <a:rPr dirty="0" sz="3200" spc="-15">
                <a:latin typeface="宋体"/>
                <a:cs typeface="宋体"/>
              </a:rPr>
              <a:t>的</a:t>
            </a:r>
            <a:r>
              <a:rPr dirty="0" sz="3200">
                <a:latin typeface="宋体"/>
                <a:cs typeface="宋体"/>
              </a:rPr>
              <a:t>原型</a:t>
            </a:r>
            <a:r>
              <a:rPr dirty="0" sz="3200" spc="-15">
                <a:latin typeface="宋体"/>
                <a:cs typeface="宋体"/>
              </a:rPr>
              <a:t>调</a:t>
            </a:r>
            <a:r>
              <a:rPr dirty="0" sz="3200">
                <a:latin typeface="宋体"/>
                <a:cs typeface="宋体"/>
              </a:rPr>
              <a:t>整计划</a:t>
            </a:r>
            <a:endParaRPr sz="3200">
              <a:latin typeface="宋体"/>
              <a:cs typeface="宋体"/>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1517562"/>
            <a:ext cx="3992879" cy="2367915"/>
          </a:xfrm>
          <a:prstGeom prst="rect">
            <a:avLst/>
          </a:prstGeom>
        </p:spPr>
        <p:txBody>
          <a:bodyPr wrap="square" lIns="0" tIns="110489" rIns="0" bIns="0" rtlCol="0" vert="horz">
            <a:spAutoFit/>
          </a:bodyPr>
          <a:lstStyle/>
          <a:p>
            <a:pPr lvl="1" marL="724535" indent="-712470">
              <a:lnSpc>
                <a:spcPct val="100000"/>
              </a:lnSpc>
              <a:spcBef>
                <a:spcPts val="869"/>
              </a:spcBef>
              <a:buFont typeface="Calibri"/>
              <a:buAutoNum type="arabicPeriod"/>
              <a:tabLst>
                <a:tab pos="725170" algn="l"/>
              </a:tabLst>
            </a:pPr>
            <a:r>
              <a:rPr dirty="0" sz="3200">
                <a:latin typeface="宋体"/>
                <a:cs typeface="宋体"/>
              </a:rPr>
              <a:t>应用原型的必要性</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原型的类别</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latin typeface="宋体"/>
                <a:cs typeface="宋体"/>
              </a:rPr>
              <a:t>原型方法过程</a:t>
            </a:r>
            <a:endParaRPr sz="3200">
              <a:latin typeface="宋体"/>
              <a:cs typeface="宋体"/>
            </a:endParaRPr>
          </a:p>
          <a:p>
            <a:pPr lvl="1" marL="724535" indent="-712470">
              <a:lnSpc>
                <a:spcPct val="100000"/>
              </a:lnSpc>
              <a:spcBef>
                <a:spcPts val="770"/>
              </a:spcBef>
              <a:buFont typeface="Calibri"/>
              <a:buAutoNum type="arabicPeriod"/>
              <a:tabLst>
                <a:tab pos="725170" algn="l"/>
              </a:tabLst>
            </a:pPr>
            <a:r>
              <a:rPr dirty="0" sz="3200">
                <a:solidFill>
                  <a:srgbClr val="FF0000"/>
                </a:solidFill>
                <a:latin typeface="宋体"/>
                <a:cs typeface="宋体"/>
              </a:rPr>
              <a:t>原型方法的风险</a:t>
            </a:r>
            <a:endParaRPr sz="3200">
              <a:latin typeface="宋体"/>
              <a:cs typeface="宋体"/>
            </a:endParaRPr>
          </a:p>
        </p:txBody>
      </p:sp>
      <p:sp>
        <p:nvSpPr>
          <p:cNvPr id="3" name="object 3"/>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4169" y="334721"/>
            <a:ext cx="4916805" cy="697230"/>
          </a:xfrm>
          <a:prstGeom prst="rect"/>
        </p:spPr>
        <p:txBody>
          <a:bodyPr wrap="square" lIns="0" tIns="13335" rIns="0" bIns="0" rtlCol="0" vert="horz">
            <a:spAutoFit/>
          </a:bodyPr>
          <a:lstStyle/>
          <a:p>
            <a:pPr marL="12700">
              <a:lnSpc>
                <a:spcPct val="100000"/>
              </a:lnSpc>
              <a:spcBef>
                <a:spcPts val="105"/>
              </a:spcBef>
            </a:pPr>
            <a:r>
              <a:rPr dirty="0">
                <a:latin typeface="Calibri"/>
                <a:cs typeface="Calibri"/>
              </a:rPr>
              <a:t>5.4.</a:t>
            </a:r>
            <a:r>
              <a:rPr dirty="0" spc="-85">
                <a:latin typeface="Calibri"/>
                <a:cs typeface="Calibri"/>
              </a:rPr>
              <a:t> </a:t>
            </a:r>
            <a:r>
              <a:rPr dirty="0"/>
              <a:t>原型方法的风险</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599641"/>
            <a:ext cx="8039734" cy="4311015"/>
          </a:xfrm>
          <a:prstGeom prst="rect">
            <a:avLst/>
          </a:prstGeom>
        </p:spPr>
        <p:txBody>
          <a:bodyPr wrap="square" lIns="0" tIns="73025" rIns="0" bIns="0" rtlCol="0" vert="horz">
            <a:spAutoFit/>
          </a:bodyPr>
          <a:lstStyle/>
          <a:p>
            <a:pPr algn="just" marL="355600" marR="55880" indent="-343535">
              <a:lnSpc>
                <a:spcPct val="86900"/>
              </a:lnSpc>
              <a:spcBef>
                <a:spcPts val="575"/>
              </a:spcBef>
              <a:buClr>
                <a:srgbClr val="00663B"/>
              </a:buClr>
              <a:buSzPct val="80000"/>
              <a:buFont typeface="Wingdings"/>
              <a:buChar char=""/>
              <a:tabLst>
                <a:tab pos="356235" algn="l"/>
              </a:tabLst>
            </a:pPr>
            <a:r>
              <a:rPr dirty="0" sz="3000" spc="-5">
                <a:latin typeface="宋体"/>
                <a:cs typeface="宋体"/>
              </a:rPr>
              <a:t>涉众看到了一个正在运行的原型，得出产品几 </a:t>
            </a:r>
            <a:r>
              <a:rPr dirty="0" sz="3000">
                <a:latin typeface="宋体"/>
                <a:cs typeface="宋体"/>
              </a:rPr>
              <a:t>乎已经完成的结论，从而提出</a:t>
            </a:r>
            <a:r>
              <a:rPr dirty="0" sz="3000">
                <a:solidFill>
                  <a:srgbClr val="FF0000"/>
                </a:solidFill>
                <a:latin typeface="宋体"/>
                <a:cs typeface="宋体"/>
              </a:rPr>
              <a:t>快速交付</a:t>
            </a:r>
            <a:r>
              <a:rPr dirty="0" sz="3000">
                <a:latin typeface="宋体"/>
                <a:cs typeface="宋体"/>
              </a:rPr>
              <a:t>产品的 不当要求</a:t>
            </a:r>
            <a:endParaRPr sz="3000">
              <a:latin typeface="宋体"/>
              <a:cs typeface="宋体"/>
            </a:endParaRPr>
          </a:p>
          <a:p>
            <a:pPr algn="just" marL="355600" marR="55880" indent="-343535">
              <a:lnSpc>
                <a:spcPct val="86900"/>
              </a:lnSpc>
              <a:spcBef>
                <a:spcPts val="1055"/>
              </a:spcBef>
              <a:buClr>
                <a:srgbClr val="00663B"/>
              </a:buClr>
              <a:buSzPct val="80000"/>
              <a:buFont typeface="Wingdings"/>
              <a:buChar char=""/>
              <a:tabLst>
                <a:tab pos="356235" algn="l"/>
              </a:tabLst>
            </a:pPr>
            <a:r>
              <a:rPr dirty="0" sz="3000" spc="-5">
                <a:latin typeface="宋体"/>
                <a:cs typeface="宋体"/>
              </a:rPr>
              <a:t>用户可能会被原型所表现出来的非功能特性遮 </a:t>
            </a:r>
            <a:r>
              <a:rPr dirty="0" sz="3000">
                <a:latin typeface="宋体"/>
                <a:cs typeface="宋体"/>
              </a:rPr>
              <a:t>蔽了眼睛，从而忽略了他们更应该重视的功能 特性</a:t>
            </a:r>
            <a:endParaRPr sz="3000">
              <a:latin typeface="宋体"/>
              <a:cs typeface="宋体"/>
            </a:endParaRPr>
          </a:p>
          <a:p>
            <a:pPr algn="just" lvl="1" marL="756285" marR="5080" indent="-287020">
              <a:lnSpc>
                <a:spcPts val="2620"/>
              </a:lnSpc>
              <a:spcBef>
                <a:spcPts val="1025"/>
              </a:spcBef>
              <a:buClr>
                <a:srgbClr val="C00000"/>
              </a:buClr>
              <a:buSzPct val="59615"/>
              <a:buFont typeface="Wingdings"/>
              <a:buChar char=""/>
              <a:tabLst>
                <a:tab pos="756920" algn="l"/>
              </a:tabLst>
            </a:pPr>
            <a:r>
              <a:rPr dirty="0" sz="2600">
                <a:latin typeface="宋体"/>
                <a:cs typeface="宋体"/>
              </a:rPr>
              <a:t>在澄清需求不确定性的</a:t>
            </a:r>
            <a:r>
              <a:rPr dirty="0" sz="2600" spc="-15">
                <a:latin typeface="宋体"/>
                <a:cs typeface="宋体"/>
              </a:rPr>
              <a:t>同</a:t>
            </a:r>
            <a:r>
              <a:rPr dirty="0" sz="2600">
                <a:latin typeface="宋体"/>
                <a:cs typeface="宋体"/>
              </a:rPr>
              <a:t>时也</a:t>
            </a:r>
            <a:r>
              <a:rPr dirty="0" sz="2600" spc="-15">
                <a:latin typeface="宋体"/>
                <a:cs typeface="宋体"/>
              </a:rPr>
              <a:t>可</a:t>
            </a:r>
            <a:r>
              <a:rPr dirty="0" sz="2600">
                <a:latin typeface="宋体"/>
                <a:cs typeface="宋体"/>
              </a:rPr>
              <a:t>能</a:t>
            </a:r>
            <a:r>
              <a:rPr dirty="0" sz="2600" spc="10">
                <a:latin typeface="宋体"/>
                <a:cs typeface="宋体"/>
              </a:rPr>
              <a:t>会</a:t>
            </a:r>
            <a:r>
              <a:rPr dirty="0" sz="2600" spc="-15">
                <a:solidFill>
                  <a:srgbClr val="FF0000"/>
                </a:solidFill>
                <a:latin typeface="宋体"/>
                <a:cs typeface="宋体"/>
              </a:rPr>
              <a:t>掩</a:t>
            </a:r>
            <a:r>
              <a:rPr dirty="0" sz="2600">
                <a:solidFill>
                  <a:srgbClr val="FF0000"/>
                </a:solidFill>
                <a:latin typeface="宋体"/>
                <a:cs typeface="宋体"/>
              </a:rPr>
              <a:t>盖</a:t>
            </a:r>
            <a:r>
              <a:rPr dirty="0" sz="2600">
                <a:latin typeface="宋体"/>
                <a:cs typeface="宋体"/>
              </a:rPr>
              <a:t>一</a:t>
            </a:r>
            <a:r>
              <a:rPr dirty="0" sz="2600" spc="-15">
                <a:latin typeface="宋体"/>
                <a:cs typeface="宋体"/>
              </a:rPr>
              <a:t>些</a:t>
            </a:r>
            <a:r>
              <a:rPr dirty="0" sz="2600">
                <a:latin typeface="宋体"/>
                <a:cs typeface="宋体"/>
              </a:rPr>
              <a:t>用户 </a:t>
            </a:r>
            <a:r>
              <a:rPr dirty="0" sz="2600">
                <a:latin typeface="宋体"/>
                <a:cs typeface="宋体"/>
              </a:rPr>
              <a:t>的假设，这些假设将会</a:t>
            </a:r>
            <a:r>
              <a:rPr dirty="0" sz="2600" spc="-15">
                <a:latin typeface="宋体"/>
                <a:cs typeface="宋体"/>
              </a:rPr>
              <a:t>无</a:t>
            </a:r>
            <a:r>
              <a:rPr dirty="0" sz="2600">
                <a:latin typeface="宋体"/>
                <a:cs typeface="宋体"/>
              </a:rPr>
              <a:t>从发现</a:t>
            </a:r>
            <a:endParaRPr sz="2600">
              <a:latin typeface="宋体"/>
              <a:cs typeface="宋体"/>
            </a:endParaRPr>
          </a:p>
          <a:p>
            <a:pPr algn="just" marL="355600" marR="55880" indent="-343535">
              <a:lnSpc>
                <a:spcPts val="3010"/>
              </a:lnSpc>
              <a:spcBef>
                <a:spcPts val="1160"/>
              </a:spcBef>
              <a:buClr>
                <a:srgbClr val="00663B"/>
              </a:buClr>
              <a:buSzPct val="80000"/>
              <a:buFont typeface="Wingdings"/>
              <a:buChar char=""/>
              <a:tabLst>
                <a:tab pos="356235" algn="l"/>
              </a:tabLst>
            </a:pPr>
            <a:r>
              <a:rPr dirty="0" sz="3000">
                <a:latin typeface="宋体"/>
                <a:cs typeface="宋体"/>
              </a:rPr>
              <a:t>原型开发工作投入太多的工作，使得开发团队 消耗了过多的时间和过大的成本</a:t>
            </a:r>
            <a:endParaRPr sz="3000">
              <a:latin typeface="宋体"/>
              <a:cs typeface="宋体"/>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8697" y="214630"/>
            <a:ext cx="2547620" cy="696595"/>
          </a:xfrm>
          <a:prstGeom prst="rect"/>
        </p:spPr>
        <p:txBody>
          <a:bodyPr wrap="square" lIns="0" tIns="12700" rIns="0" bIns="0" rtlCol="0" vert="horz">
            <a:spAutoFit/>
          </a:bodyPr>
          <a:lstStyle/>
          <a:p>
            <a:pPr marL="12700">
              <a:lnSpc>
                <a:spcPct val="100000"/>
              </a:lnSpc>
              <a:spcBef>
                <a:spcPts val="100"/>
              </a:spcBef>
            </a:pPr>
            <a:r>
              <a:rPr dirty="0"/>
              <a:t>第</a:t>
            </a:r>
            <a:r>
              <a:rPr dirty="0" spc="-5">
                <a:latin typeface="Calibri"/>
                <a:cs typeface="Calibri"/>
              </a:rPr>
              <a:t>5</a:t>
            </a:r>
            <a:r>
              <a:rPr dirty="0"/>
              <a:t>节小结</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1642313"/>
            <a:ext cx="8122284" cy="3807460"/>
          </a:xfrm>
          <a:prstGeom prst="rect">
            <a:avLst/>
          </a:prstGeom>
        </p:spPr>
        <p:txBody>
          <a:bodyPr wrap="square" lIns="0" tIns="45720" rIns="0" bIns="0" rtlCol="0" vert="horz">
            <a:spAutoFit/>
          </a:bodyPr>
          <a:lstStyle/>
          <a:p>
            <a:pPr algn="just" marL="508000" marR="5080" indent="-495934">
              <a:lnSpc>
                <a:spcPts val="2930"/>
              </a:lnSpc>
              <a:spcBef>
                <a:spcPts val="360"/>
              </a:spcBef>
              <a:buClr>
                <a:srgbClr val="00663B"/>
              </a:buClr>
              <a:buSzPct val="78846"/>
              <a:buFont typeface="Wingdings"/>
              <a:buChar char=""/>
              <a:tabLst>
                <a:tab pos="508634" algn="l"/>
              </a:tabLst>
            </a:pPr>
            <a:r>
              <a:rPr dirty="0" sz="2600" spc="5">
                <a:latin typeface="宋体"/>
                <a:cs typeface="宋体"/>
              </a:rPr>
              <a:t>原型是</a:t>
            </a:r>
            <a:r>
              <a:rPr dirty="0" sz="2600" spc="-20">
                <a:latin typeface="宋体"/>
                <a:cs typeface="宋体"/>
              </a:rPr>
              <a:t>软</a:t>
            </a:r>
            <a:r>
              <a:rPr dirty="0" sz="2600" spc="5">
                <a:latin typeface="宋体"/>
                <a:cs typeface="宋体"/>
              </a:rPr>
              <a:t>件开发</a:t>
            </a:r>
            <a:r>
              <a:rPr dirty="0" sz="2600" spc="-20">
                <a:latin typeface="宋体"/>
                <a:cs typeface="宋体"/>
              </a:rPr>
              <a:t>当</a:t>
            </a:r>
            <a:r>
              <a:rPr dirty="0" sz="2600">
                <a:latin typeface="宋体"/>
                <a:cs typeface="宋体"/>
              </a:rPr>
              <a:t>中</a:t>
            </a:r>
            <a:r>
              <a:rPr dirty="0" sz="2600" spc="5">
                <a:solidFill>
                  <a:srgbClr val="FF0000"/>
                </a:solidFill>
                <a:latin typeface="宋体"/>
                <a:cs typeface="宋体"/>
              </a:rPr>
              <a:t>消除</a:t>
            </a:r>
            <a:r>
              <a:rPr dirty="0" sz="2600" spc="-15">
                <a:solidFill>
                  <a:srgbClr val="FF0000"/>
                </a:solidFill>
                <a:latin typeface="宋体"/>
                <a:cs typeface="宋体"/>
              </a:rPr>
              <a:t>不</a:t>
            </a:r>
            <a:r>
              <a:rPr dirty="0" sz="2600" spc="5">
                <a:solidFill>
                  <a:srgbClr val="FF0000"/>
                </a:solidFill>
                <a:latin typeface="宋体"/>
                <a:cs typeface="宋体"/>
              </a:rPr>
              <a:t>确定性</a:t>
            </a:r>
            <a:r>
              <a:rPr dirty="0" sz="2600" spc="-20">
                <a:solidFill>
                  <a:srgbClr val="FF0000"/>
                </a:solidFill>
                <a:latin typeface="宋体"/>
                <a:cs typeface="宋体"/>
              </a:rPr>
              <a:t>风</a:t>
            </a:r>
            <a:r>
              <a:rPr dirty="0" sz="2600" spc="5">
                <a:solidFill>
                  <a:srgbClr val="FF0000"/>
                </a:solidFill>
                <a:latin typeface="宋体"/>
                <a:cs typeface="宋体"/>
              </a:rPr>
              <a:t>险</a:t>
            </a:r>
            <a:r>
              <a:rPr dirty="0" sz="2600" spc="5">
                <a:latin typeface="宋体"/>
                <a:cs typeface="宋体"/>
              </a:rPr>
              <a:t>的有</a:t>
            </a:r>
            <a:r>
              <a:rPr dirty="0" sz="2600" spc="-15">
                <a:latin typeface="宋体"/>
                <a:cs typeface="宋体"/>
              </a:rPr>
              <a:t>效</a:t>
            </a:r>
            <a:r>
              <a:rPr dirty="0" sz="2600" spc="5">
                <a:latin typeface="宋体"/>
                <a:cs typeface="宋体"/>
              </a:rPr>
              <a:t>工具， </a:t>
            </a:r>
            <a:r>
              <a:rPr dirty="0" sz="2600">
                <a:latin typeface="宋体"/>
                <a:cs typeface="宋体"/>
              </a:rPr>
              <a:t>是一种有效的需求获取</a:t>
            </a:r>
            <a:r>
              <a:rPr dirty="0" sz="2600" spc="-15">
                <a:latin typeface="宋体"/>
                <a:cs typeface="宋体"/>
              </a:rPr>
              <a:t>方</a:t>
            </a:r>
            <a:r>
              <a:rPr dirty="0" sz="2600">
                <a:latin typeface="宋体"/>
                <a:cs typeface="宋体"/>
              </a:rPr>
              <a:t>法</a:t>
            </a:r>
            <a:endParaRPr sz="2600">
              <a:latin typeface="宋体"/>
              <a:cs typeface="宋体"/>
            </a:endParaRPr>
          </a:p>
          <a:p>
            <a:pPr algn="just" marL="508000" marR="336550" indent="-495934">
              <a:lnSpc>
                <a:spcPct val="97000"/>
              </a:lnSpc>
              <a:spcBef>
                <a:spcPts val="844"/>
              </a:spcBef>
              <a:buClr>
                <a:srgbClr val="00663B"/>
              </a:buClr>
              <a:buSzPct val="78846"/>
              <a:buFont typeface="Wingdings"/>
              <a:buChar char=""/>
              <a:tabLst>
                <a:tab pos="508634" algn="l"/>
              </a:tabLst>
            </a:pPr>
            <a:r>
              <a:rPr dirty="0" sz="2600">
                <a:latin typeface="宋体"/>
                <a:cs typeface="宋体"/>
              </a:rPr>
              <a:t>原型的体系是复杂的，</a:t>
            </a:r>
            <a:r>
              <a:rPr dirty="0" sz="2600" spc="-15">
                <a:latin typeface="宋体"/>
                <a:cs typeface="宋体"/>
              </a:rPr>
              <a:t>不</a:t>
            </a:r>
            <a:r>
              <a:rPr dirty="0" sz="2600">
                <a:latin typeface="宋体"/>
                <a:cs typeface="宋体"/>
              </a:rPr>
              <a:t>同类</a:t>
            </a:r>
            <a:r>
              <a:rPr dirty="0" sz="2600" spc="-15">
                <a:latin typeface="宋体"/>
                <a:cs typeface="宋体"/>
              </a:rPr>
              <a:t>型</a:t>
            </a:r>
            <a:r>
              <a:rPr dirty="0" sz="2600">
                <a:latin typeface="宋体"/>
                <a:cs typeface="宋体"/>
              </a:rPr>
              <a:t>的原</a:t>
            </a:r>
            <a:r>
              <a:rPr dirty="0" sz="2600" spc="-15">
                <a:latin typeface="宋体"/>
                <a:cs typeface="宋体"/>
              </a:rPr>
              <a:t>型</a:t>
            </a:r>
            <a:r>
              <a:rPr dirty="0" sz="2600">
                <a:latin typeface="宋体"/>
                <a:cs typeface="宋体"/>
              </a:rPr>
              <a:t>具有</a:t>
            </a:r>
            <a:r>
              <a:rPr dirty="0" sz="2600" spc="-15">
                <a:latin typeface="宋体"/>
                <a:cs typeface="宋体"/>
              </a:rPr>
              <a:t>不</a:t>
            </a:r>
            <a:r>
              <a:rPr dirty="0" sz="2600">
                <a:latin typeface="宋体"/>
                <a:cs typeface="宋体"/>
              </a:rPr>
              <a:t>同的 </a:t>
            </a:r>
            <a:r>
              <a:rPr dirty="0" sz="2600">
                <a:latin typeface="宋体"/>
                <a:cs typeface="宋体"/>
              </a:rPr>
              <a:t>作用和创建要求，实践</a:t>
            </a:r>
            <a:r>
              <a:rPr dirty="0" sz="2600" spc="-15">
                <a:latin typeface="宋体"/>
                <a:cs typeface="宋体"/>
              </a:rPr>
              <a:t>当</a:t>
            </a:r>
            <a:r>
              <a:rPr dirty="0" sz="2600">
                <a:latin typeface="宋体"/>
                <a:cs typeface="宋体"/>
              </a:rPr>
              <a:t>中应</a:t>
            </a:r>
            <a:r>
              <a:rPr dirty="0" sz="2600" spc="-15">
                <a:latin typeface="宋体"/>
                <a:cs typeface="宋体"/>
              </a:rPr>
              <a:t>该</a:t>
            </a:r>
            <a:r>
              <a:rPr dirty="0" sz="2600">
                <a:latin typeface="宋体"/>
                <a:cs typeface="宋体"/>
              </a:rPr>
              <a:t>综合</a:t>
            </a:r>
            <a:r>
              <a:rPr dirty="0" sz="2600" spc="-15">
                <a:latin typeface="宋体"/>
                <a:cs typeface="宋体"/>
              </a:rPr>
              <a:t>考</a:t>
            </a:r>
            <a:r>
              <a:rPr dirty="0" sz="2600">
                <a:latin typeface="宋体"/>
                <a:cs typeface="宋体"/>
              </a:rPr>
              <a:t>虑各</a:t>
            </a:r>
            <a:r>
              <a:rPr dirty="0" sz="2600" spc="-15">
                <a:latin typeface="宋体"/>
                <a:cs typeface="宋体"/>
              </a:rPr>
              <a:t>种</a:t>
            </a:r>
            <a:r>
              <a:rPr dirty="0" sz="2600">
                <a:latin typeface="宋体"/>
                <a:cs typeface="宋体"/>
              </a:rPr>
              <a:t>应用 </a:t>
            </a:r>
            <a:r>
              <a:rPr dirty="0" sz="2600">
                <a:latin typeface="宋体"/>
                <a:cs typeface="宋体"/>
              </a:rPr>
              <a:t>因素选择合适的类别</a:t>
            </a:r>
            <a:endParaRPr sz="2600">
              <a:latin typeface="宋体"/>
              <a:cs typeface="宋体"/>
            </a:endParaRPr>
          </a:p>
          <a:p>
            <a:pPr algn="just" marL="508000" marR="336550" indent="-495934">
              <a:lnSpc>
                <a:spcPts val="2930"/>
              </a:lnSpc>
              <a:spcBef>
                <a:spcPts val="1070"/>
              </a:spcBef>
              <a:buClr>
                <a:srgbClr val="00663B"/>
              </a:buClr>
              <a:buSzPct val="78846"/>
              <a:buFont typeface="Wingdings"/>
              <a:buChar char=""/>
              <a:tabLst>
                <a:tab pos="508634" algn="l"/>
              </a:tabLst>
            </a:pPr>
            <a:r>
              <a:rPr dirty="0" sz="2600">
                <a:latin typeface="宋体"/>
                <a:cs typeface="宋体"/>
              </a:rPr>
              <a:t>一个完整的原型方法过</a:t>
            </a:r>
            <a:r>
              <a:rPr dirty="0" sz="2600" spc="-15">
                <a:latin typeface="宋体"/>
                <a:cs typeface="宋体"/>
              </a:rPr>
              <a:t>程</a:t>
            </a:r>
            <a:r>
              <a:rPr dirty="0" sz="2600">
                <a:latin typeface="宋体"/>
                <a:cs typeface="宋体"/>
              </a:rPr>
              <a:t>可以</a:t>
            </a:r>
            <a:r>
              <a:rPr dirty="0" sz="2600" spc="-15">
                <a:latin typeface="宋体"/>
                <a:cs typeface="宋体"/>
              </a:rPr>
              <a:t>帮</a:t>
            </a:r>
            <a:r>
              <a:rPr dirty="0" sz="2600">
                <a:latin typeface="宋体"/>
                <a:cs typeface="宋体"/>
              </a:rPr>
              <a:t>助更</a:t>
            </a:r>
            <a:r>
              <a:rPr dirty="0" sz="2600" spc="-15">
                <a:latin typeface="宋体"/>
                <a:cs typeface="宋体"/>
              </a:rPr>
              <a:t>有</a:t>
            </a:r>
            <a:r>
              <a:rPr dirty="0" sz="2600">
                <a:latin typeface="宋体"/>
                <a:cs typeface="宋体"/>
              </a:rPr>
              <a:t>效的</a:t>
            </a:r>
            <a:r>
              <a:rPr dirty="0" sz="2600" spc="-15">
                <a:latin typeface="宋体"/>
                <a:cs typeface="宋体"/>
              </a:rPr>
              <a:t>应</a:t>
            </a:r>
            <a:r>
              <a:rPr dirty="0" sz="2600">
                <a:latin typeface="宋体"/>
                <a:cs typeface="宋体"/>
              </a:rPr>
              <a:t>用原 型方法</a:t>
            </a:r>
            <a:endParaRPr sz="2600">
              <a:latin typeface="宋体"/>
              <a:cs typeface="宋体"/>
            </a:endParaRPr>
          </a:p>
          <a:p>
            <a:pPr algn="just" marL="508000" marR="336550" indent="-495934">
              <a:lnSpc>
                <a:spcPts val="2930"/>
              </a:lnSpc>
              <a:spcBef>
                <a:spcPts val="1010"/>
              </a:spcBef>
              <a:buClr>
                <a:srgbClr val="00663B"/>
              </a:buClr>
              <a:buSzPct val="78846"/>
              <a:buFont typeface="Wingdings"/>
              <a:buChar char=""/>
              <a:tabLst>
                <a:tab pos="508634" algn="l"/>
              </a:tabLst>
            </a:pPr>
            <a:r>
              <a:rPr dirty="0" sz="2600">
                <a:latin typeface="宋体"/>
                <a:cs typeface="宋体"/>
              </a:rPr>
              <a:t>原型方法的应用可能会</a:t>
            </a:r>
            <a:r>
              <a:rPr dirty="0" sz="2600" spc="-15">
                <a:latin typeface="宋体"/>
                <a:cs typeface="宋体"/>
              </a:rPr>
              <a:t>给</a:t>
            </a:r>
            <a:r>
              <a:rPr dirty="0" sz="2600">
                <a:latin typeface="宋体"/>
                <a:cs typeface="宋体"/>
              </a:rPr>
              <a:t>项目</a:t>
            </a:r>
            <a:r>
              <a:rPr dirty="0" sz="2600" spc="-15">
                <a:latin typeface="宋体"/>
                <a:cs typeface="宋体"/>
              </a:rPr>
              <a:t>带</a:t>
            </a:r>
            <a:r>
              <a:rPr dirty="0" sz="2600">
                <a:latin typeface="宋体"/>
                <a:cs typeface="宋体"/>
              </a:rPr>
              <a:t>来相</a:t>
            </a:r>
            <a:r>
              <a:rPr dirty="0" sz="2600" spc="-15">
                <a:latin typeface="宋体"/>
                <a:cs typeface="宋体"/>
              </a:rPr>
              <a:t>应</a:t>
            </a:r>
            <a:r>
              <a:rPr dirty="0" sz="2600">
                <a:latin typeface="宋体"/>
                <a:cs typeface="宋体"/>
              </a:rPr>
              <a:t>的风</a:t>
            </a:r>
            <a:r>
              <a:rPr dirty="0" sz="2600" spc="-15">
                <a:latin typeface="宋体"/>
                <a:cs typeface="宋体"/>
              </a:rPr>
              <a:t>险</a:t>
            </a:r>
            <a:r>
              <a:rPr dirty="0" sz="2600">
                <a:latin typeface="宋体"/>
                <a:cs typeface="宋体"/>
              </a:rPr>
              <a:t>，需 要妥善的加以解决</a:t>
            </a:r>
            <a:endParaRPr sz="2600">
              <a:latin typeface="宋体"/>
              <a:cs typeface="宋体"/>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3335" rIns="0" bIns="0" rtlCol="0" vert="horz">
            <a:spAutoFit/>
          </a:bodyPr>
          <a:lstStyle/>
          <a:p>
            <a:pPr marL="12700">
              <a:lnSpc>
                <a:spcPct val="100000"/>
              </a:lnSpc>
              <a:spcBef>
                <a:spcPts val="105"/>
              </a:spcBef>
            </a:pPr>
            <a:r>
              <a:rPr dirty="0"/>
              <a:t>本章小结</a:t>
            </a:r>
          </a:p>
        </p:txBody>
      </p:sp>
      <p:sp>
        <p:nvSpPr>
          <p:cNvPr id="4" name="object 4"/>
          <p:cNvSpPr txBox="1">
            <a:spLocks noGrp="1"/>
          </p:cNvSpPr>
          <p:nvPr>
            <p:ph type="ftr" idx="5" sz="quarter"/>
          </p:nvPr>
        </p:nvSpPr>
        <p:spPr>
          <a:prstGeom prst="rect"/>
        </p:spPr>
        <p:txBody>
          <a:bodyPr wrap="square" lIns="0" tIns="0" rIns="0" bIns="0" rtlCol="0" vert="horz">
            <a:spAutoFit/>
          </a:bodyPr>
          <a:lstStyle/>
          <a:p>
            <a:pPr marL="12700">
              <a:lnSpc>
                <a:spcPts val="1700"/>
              </a:lnSpc>
            </a:pPr>
            <a:r>
              <a:rPr dirty="0" spc="-5"/>
              <a:t>软件需求工程</a:t>
            </a:r>
            <a:r>
              <a:rPr dirty="0" spc="-20"/>
              <a:t>与</a:t>
            </a:r>
            <a:r>
              <a:rPr dirty="0" spc="-5">
                <a:latin typeface="Calibri"/>
                <a:cs typeface="Calibri"/>
              </a:rPr>
              <a:t>UM</a:t>
            </a:r>
            <a:r>
              <a:rPr dirty="0" spc="-10">
                <a:latin typeface="Calibri"/>
                <a:cs typeface="Calibri"/>
              </a:rPr>
              <a:t>L</a:t>
            </a:r>
            <a:r>
              <a:rPr dirty="0" spc="-5"/>
              <a:t>建模</a:t>
            </a:r>
          </a:p>
        </p:txBody>
      </p:sp>
      <p:sp>
        <p:nvSpPr>
          <p:cNvPr id="3" name="object 3"/>
          <p:cNvSpPr txBox="1"/>
          <p:nvPr/>
        </p:nvSpPr>
        <p:spPr>
          <a:xfrm>
            <a:off x="535940" y="969340"/>
            <a:ext cx="7688580" cy="5089525"/>
          </a:xfrm>
          <a:prstGeom prst="rect">
            <a:avLst/>
          </a:prstGeom>
        </p:spPr>
        <p:txBody>
          <a:bodyPr wrap="square" lIns="0" tIns="13335" rIns="0" bIns="0" rtlCol="0" vert="horz">
            <a:spAutoFit/>
          </a:bodyPr>
          <a:lstStyle/>
          <a:p>
            <a:pPr marL="355600" indent="-343535">
              <a:lnSpc>
                <a:spcPct val="100000"/>
              </a:lnSpc>
              <a:spcBef>
                <a:spcPts val="105"/>
              </a:spcBef>
              <a:buClr>
                <a:srgbClr val="00663B"/>
              </a:buClr>
              <a:buSzPct val="79687"/>
              <a:buFont typeface="Wingdings"/>
              <a:buChar char=""/>
              <a:tabLst>
                <a:tab pos="356235" algn="l"/>
              </a:tabLst>
            </a:pPr>
            <a:r>
              <a:rPr dirty="0" sz="3200">
                <a:latin typeface="宋体"/>
                <a:cs typeface="宋体"/>
              </a:rPr>
              <a:t>需求获取是一个困难和</a:t>
            </a:r>
            <a:r>
              <a:rPr dirty="0" sz="3200" spc="-15">
                <a:latin typeface="宋体"/>
                <a:cs typeface="宋体"/>
              </a:rPr>
              <a:t>复</a:t>
            </a:r>
            <a:r>
              <a:rPr dirty="0" sz="3200">
                <a:latin typeface="宋体"/>
                <a:cs typeface="宋体"/>
              </a:rPr>
              <a:t>杂的</a:t>
            </a:r>
            <a:r>
              <a:rPr dirty="0" sz="3200" spc="-15">
                <a:latin typeface="宋体"/>
                <a:cs typeface="宋体"/>
              </a:rPr>
              <a:t>任</a:t>
            </a:r>
            <a:r>
              <a:rPr dirty="0" sz="3200" spc="5">
                <a:latin typeface="宋体"/>
                <a:cs typeface="宋体"/>
              </a:rPr>
              <a:t>务</a:t>
            </a:r>
            <a:endParaRPr sz="3200">
              <a:latin typeface="宋体"/>
              <a:cs typeface="宋体"/>
            </a:endParaRPr>
          </a:p>
          <a:p>
            <a:pPr>
              <a:lnSpc>
                <a:spcPct val="100000"/>
              </a:lnSpc>
              <a:spcBef>
                <a:spcPts val="15"/>
              </a:spcBef>
              <a:buClr>
                <a:srgbClr val="00663B"/>
              </a:buClr>
              <a:buFont typeface="Wingdings"/>
              <a:buChar char=""/>
            </a:pPr>
            <a:endParaRPr sz="3050">
              <a:latin typeface="宋体"/>
              <a:cs typeface="宋体"/>
            </a:endParaRPr>
          </a:p>
          <a:p>
            <a:pPr marL="355600" marR="5080" indent="-343535">
              <a:lnSpc>
                <a:spcPts val="3600"/>
              </a:lnSpc>
              <a:buClr>
                <a:srgbClr val="00663B"/>
              </a:buClr>
              <a:buSzPct val="79687"/>
              <a:buFont typeface="Wingdings"/>
              <a:buChar char=""/>
              <a:tabLst>
                <a:tab pos="356235" algn="l"/>
              </a:tabLst>
            </a:pPr>
            <a:r>
              <a:rPr dirty="0" sz="3200">
                <a:latin typeface="宋体"/>
                <a:cs typeface="宋体"/>
              </a:rPr>
              <a:t>实践调查情况表明，需</a:t>
            </a:r>
            <a:r>
              <a:rPr dirty="0" sz="3200" spc="-15">
                <a:latin typeface="宋体"/>
                <a:cs typeface="宋体"/>
              </a:rPr>
              <a:t>求</a:t>
            </a:r>
            <a:r>
              <a:rPr dirty="0" sz="3200">
                <a:latin typeface="宋体"/>
                <a:cs typeface="宋体"/>
              </a:rPr>
              <a:t>获取</a:t>
            </a:r>
            <a:r>
              <a:rPr dirty="0" sz="3200" spc="-15">
                <a:latin typeface="宋体"/>
                <a:cs typeface="宋体"/>
              </a:rPr>
              <a:t>活</a:t>
            </a:r>
            <a:r>
              <a:rPr dirty="0" sz="3200">
                <a:latin typeface="宋体"/>
                <a:cs typeface="宋体"/>
              </a:rPr>
              <a:t>动是</a:t>
            </a:r>
            <a:r>
              <a:rPr dirty="0" sz="3200" spc="-15">
                <a:latin typeface="宋体"/>
                <a:cs typeface="宋体"/>
              </a:rPr>
              <a:t>一</a:t>
            </a:r>
            <a:r>
              <a:rPr dirty="0" sz="3200">
                <a:latin typeface="宋体"/>
                <a:cs typeface="宋体"/>
              </a:rPr>
              <a:t>个 </a:t>
            </a:r>
            <a:r>
              <a:rPr dirty="0" sz="3200">
                <a:latin typeface="宋体"/>
                <a:cs typeface="宋体"/>
              </a:rPr>
              <a:t>具有挑战性的任务</a:t>
            </a:r>
            <a:endParaRPr sz="3200">
              <a:latin typeface="宋体"/>
              <a:cs typeface="宋体"/>
            </a:endParaRPr>
          </a:p>
          <a:p>
            <a:pPr>
              <a:lnSpc>
                <a:spcPct val="100000"/>
              </a:lnSpc>
              <a:spcBef>
                <a:spcPts val="30"/>
              </a:spcBef>
              <a:buClr>
                <a:srgbClr val="00663B"/>
              </a:buClr>
              <a:buFont typeface="Wingdings"/>
              <a:buChar char=""/>
            </a:pPr>
            <a:endParaRPr sz="3350">
              <a:latin typeface="宋体"/>
              <a:cs typeface="宋体"/>
            </a:endParaRPr>
          </a:p>
          <a:p>
            <a:pPr marL="355600" marR="5080" indent="-343535">
              <a:lnSpc>
                <a:spcPts val="3600"/>
              </a:lnSpc>
              <a:buClr>
                <a:srgbClr val="00663B"/>
              </a:buClr>
              <a:buSzPct val="79687"/>
              <a:buFont typeface="Wingdings"/>
              <a:buChar char=""/>
              <a:tabLst>
                <a:tab pos="356235" algn="l"/>
              </a:tabLst>
            </a:pPr>
            <a:r>
              <a:rPr dirty="0" sz="3200">
                <a:latin typeface="宋体"/>
                <a:cs typeface="宋体"/>
              </a:rPr>
              <a:t>需求获取的成功执行需</a:t>
            </a:r>
            <a:r>
              <a:rPr dirty="0" sz="3200" spc="-15">
                <a:latin typeface="宋体"/>
                <a:cs typeface="宋体"/>
              </a:rPr>
              <a:t>要</a:t>
            </a:r>
            <a:r>
              <a:rPr dirty="0" sz="3200">
                <a:latin typeface="宋体"/>
                <a:cs typeface="宋体"/>
              </a:rPr>
              <a:t>有效</a:t>
            </a:r>
            <a:r>
              <a:rPr dirty="0" sz="3200" spc="-15">
                <a:latin typeface="宋体"/>
                <a:cs typeface="宋体"/>
              </a:rPr>
              <a:t>组</a:t>
            </a:r>
            <a:r>
              <a:rPr dirty="0" sz="3200">
                <a:latin typeface="宋体"/>
                <a:cs typeface="宋体"/>
              </a:rPr>
              <a:t>织子</a:t>
            </a:r>
            <a:r>
              <a:rPr dirty="0" sz="3200" spc="-15">
                <a:latin typeface="宋体"/>
                <a:cs typeface="宋体"/>
              </a:rPr>
              <a:t>活</a:t>
            </a:r>
            <a:r>
              <a:rPr dirty="0" sz="3200">
                <a:latin typeface="宋体"/>
                <a:cs typeface="宋体"/>
              </a:rPr>
              <a:t>动 </a:t>
            </a:r>
            <a:r>
              <a:rPr dirty="0" sz="3200">
                <a:latin typeface="宋体"/>
                <a:cs typeface="宋体"/>
              </a:rPr>
              <a:t>过程</a:t>
            </a:r>
            <a:endParaRPr sz="3200">
              <a:latin typeface="宋体"/>
              <a:cs typeface="宋体"/>
            </a:endParaRPr>
          </a:p>
          <a:p>
            <a:pPr lvl="1" marL="756285" indent="-287020">
              <a:lnSpc>
                <a:spcPts val="3300"/>
              </a:lnSpc>
              <a:buClr>
                <a:srgbClr val="C00000"/>
              </a:buClr>
              <a:buSzPct val="58928"/>
              <a:buFont typeface="Wingdings"/>
              <a:buChar char=""/>
              <a:tabLst>
                <a:tab pos="756285" algn="l"/>
                <a:tab pos="756920" algn="l"/>
              </a:tabLst>
            </a:pPr>
            <a:r>
              <a:rPr dirty="0" sz="2800" spc="-5">
                <a:latin typeface="宋体"/>
                <a:cs typeface="宋体"/>
              </a:rPr>
              <a:t>项目前景和范围</a:t>
            </a:r>
            <a:endParaRPr sz="2800">
              <a:latin typeface="宋体"/>
              <a:cs typeface="宋体"/>
            </a:endParaRPr>
          </a:p>
          <a:p>
            <a:pPr lvl="1" marL="756285" indent="-287020">
              <a:lnSpc>
                <a:spcPct val="100000"/>
              </a:lnSpc>
              <a:buClr>
                <a:srgbClr val="C00000"/>
              </a:buClr>
              <a:buSzPct val="58928"/>
              <a:buFont typeface="Wingdings"/>
              <a:buChar char=""/>
              <a:tabLst>
                <a:tab pos="756285" algn="l"/>
                <a:tab pos="756920" algn="l"/>
              </a:tabLst>
            </a:pPr>
            <a:r>
              <a:rPr dirty="0" sz="2800" spc="-5">
                <a:latin typeface="宋体"/>
                <a:cs typeface="宋体"/>
              </a:rPr>
              <a:t>涉众分析和硬数据采集</a:t>
            </a:r>
            <a:endParaRPr sz="2800">
              <a:latin typeface="宋体"/>
              <a:cs typeface="宋体"/>
            </a:endParaRPr>
          </a:p>
          <a:p>
            <a:pPr lvl="1" marL="756285" indent="-287020">
              <a:lnSpc>
                <a:spcPct val="100000"/>
              </a:lnSpc>
              <a:buClr>
                <a:srgbClr val="C00000"/>
              </a:buClr>
              <a:buSzPct val="58928"/>
              <a:buFont typeface="Wingdings"/>
              <a:buChar char=""/>
              <a:tabLst>
                <a:tab pos="756285" algn="l"/>
                <a:tab pos="756920" algn="l"/>
              </a:tabLst>
            </a:pPr>
            <a:r>
              <a:rPr dirty="0" sz="2800" spc="-5">
                <a:latin typeface="宋体"/>
                <a:cs typeface="宋体"/>
              </a:rPr>
              <a:t>面谈</a:t>
            </a:r>
            <a:endParaRPr sz="2800">
              <a:latin typeface="宋体"/>
              <a:cs typeface="宋体"/>
            </a:endParaRPr>
          </a:p>
          <a:p>
            <a:pPr lvl="1" marL="756285" indent="-287020">
              <a:lnSpc>
                <a:spcPct val="100000"/>
              </a:lnSpc>
              <a:spcBef>
                <a:spcPts val="5"/>
              </a:spcBef>
              <a:buClr>
                <a:srgbClr val="C00000"/>
              </a:buClr>
              <a:buSzPct val="58928"/>
              <a:buFont typeface="Wingdings"/>
              <a:buChar char=""/>
              <a:tabLst>
                <a:tab pos="756285" algn="l"/>
                <a:tab pos="756920" algn="l"/>
              </a:tabLst>
            </a:pPr>
            <a:r>
              <a:rPr dirty="0" sz="2800" spc="-5">
                <a:latin typeface="宋体"/>
                <a:cs typeface="宋体"/>
              </a:rPr>
              <a:t>原型</a:t>
            </a:r>
            <a:endParaRPr sz="2800">
              <a:latin typeface="宋体"/>
              <a:cs typeface="宋体"/>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360045"/>
          </a:xfrm>
          <a:custGeom>
            <a:avLst/>
            <a:gdLst/>
            <a:ahLst/>
            <a:cxnLst/>
            <a:rect l="l" t="t" r="r" b="b"/>
            <a:pathLst>
              <a:path w="9144000" h="360045">
                <a:moveTo>
                  <a:pt x="0" y="359663"/>
                </a:moveTo>
                <a:lnTo>
                  <a:pt x="9144000" y="359663"/>
                </a:lnTo>
                <a:lnTo>
                  <a:pt x="9144000" y="0"/>
                </a:lnTo>
                <a:lnTo>
                  <a:pt x="0" y="0"/>
                </a:lnTo>
                <a:lnTo>
                  <a:pt x="0" y="359663"/>
                </a:lnTo>
                <a:close/>
              </a:path>
            </a:pathLst>
          </a:custGeom>
          <a:solidFill>
            <a:srgbClr val="00663B"/>
          </a:solidFill>
        </p:spPr>
        <p:txBody>
          <a:bodyPr wrap="square" lIns="0" tIns="0" rIns="0" bIns="0" rtlCol="0"/>
          <a:lstStyle/>
          <a:p/>
        </p:txBody>
      </p:sp>
      <p:sp>
        <p:nvSpPr>
          <p:cNvPr id="3" name="object 3"/>
          <p:cNvSpPr/>
          <p:nvPr/>
        </p:nvSpPr>
        <p:spPr>
          <a:xfrm>
            <a:off x="0" y="6516623"/>
            <a:ext cx="9144000" cy="341630"/>
          </a:xfrm>
          <a:custGeom>
            <a:avLst/>
            <a:gdLst/>
            <a:ahLst/>
            <a:cxnLst/>
            <a:rect l="l" t="t" r="r" b="b"/>
            <a:pathLst>
              <a:path w="9144000" h="341629">
                <a:moveTo>
                  <a:pt x="9144000" y="341373"/>
                </a:moveTo>
                <a:lnTo>
                  <a:pt x="9144000" y="0"/>
                </a:lnTo>
                <a:lnTo>
                  <a:pt x="0" y="0"/>
                </a:lnTo>
                <a:lnTo>
                  <a:pt x="0" y="341373"/>
                </a:lnTo>
                <a:lnTo>
                  <a:pt x="9144000" y="341373"/>
                </a:lnTo>
                <a:close/>
              </a:path>
            </a:pathLst>
          </a:custGeom>
          <a:solidFill>
            <a:srgbClr val="00663B"/>
          </a:solidFill>
        </p:spPr>
        <p:txBody>
          <a:bodyPr wrap="square" lIns="0" tIns="0" rIns="0" bIns="0" rtlCol="0"/>
          <a:lstStyle/>
          <a:p/>
        </p:txBody>
      </p:sp>
      <p:sp>
        <p:nvSpPr>
          <p:cNvPr id="4" name="object 4"/>
          <p:cNvSpPr txBox="1"/>
          <p:nvPr/>
        </p:nvSpPr>
        <p:spPr>
          <a:xfrm>
            <a:off x="1767585" y="3488258"/>
            <a:ext cx="5610860" cy="697230"/>
          </a:xfrm>
          <a:prstGeom prst="rect">
            <a:avLst/>
          </a:prstGeom>
        </p:spPr>
        <p:txBody>
          <a:bodyPr wrap="square" lIns="0" tIns="13335" rIns="0" bIns="0" rtlCol="0" vert="horz">
            <a:spAutoFit/>
          </a:bodyPr>
          <a:lstStyle/>
          <a:p>
            <a:pPr algn="ctr" marR="384175">
              <a:lnSpc>
                <a:spcPct val="100000"/>
              </a:lnSpc>
              <a:spcBef>
                <a:spcPts val="105"/>
              </a:spcBef>
            </a:pPr>
            <a:r>
              <a:rPr dirty="0" sz="4400" spc="5" b="1">
                <a:solidFill>
                  <a:srgbClr val="385622"/>
                </a:solidFill>
                <a:latin typeface="微软雅黑"/>
                <a:cs typeface="微软雅黑"/>
              </a:rPr>
              <a:t>Q</a:t>
            </a:r>
            <a:r>
              <a:rPr dirty="0" sz="4400" spc="-730" b="1">
                <a:solidFill>
                  <a:srgbClr val="385622"/>
                </a:solidFill>
                <a:latin typeface="微软雅黑"/>
                <a:cs typeface="微软雅黑"/>
              </a:rPr>
              <a:t> </a:t>
            </a:r>
            <a:r>
              <a:rPr dirty="0" sz="4400" spc="5" b="1">
                <a:solidFill>
                  <a:srgbClr val="385622"/>
                </a:solidFill>
                <a:latin typeface="微软雅黑"/>
                <a:cs typeface="微软雅黑"/>
              </a:rPr>
              <a:t>&amp;</a:t>
            </a:r>
            <a:r>
              <a:rPr dirty="0" sz="4400" spc="-730" b="1">
                <a:solidFill>
                  <a:srgbClr val="385622"/>
                </a:solidFill>
                <a:latin typeface="微软雅黑"/>
                <a:cs typeface="微软雅黑"/>
              </a:rPr>
              <a:t> </a:t>
            </a:r>
            <a:r>
              <a:rPr dirty="0" sz="4400" b="1">
                <a:solidFill>
                  <a:srgbClr val="385622"/>
                </a:solidFill>
                <a:latin typeface="微软雅黑"/>
                <a:cs typeface="微软雅黑"/>
              </a:rPr>
              <a:t>A</a:t>
            </a:r>
            <a:endParaRPr sz="4400">
              <a:latin typeface="微软雅黑"/>
              <a:cs typeface="微软雅黑"/>
            </a:endParaRPr>
          </a:p>
        </p:txBody>
      </p:sp>
      <p:sp>
        <p:nvSpPr>
          <p:cNvPr id="5" name="object 5"/>
          <p:cNvSpPr/>
          <p:nvPr/>
        </p:nvSpPr>
        <p:spPr>
          <a:xfrm>
            <a:off x="1754885" y="2666238"/>
            <a:ext cx="5636260" cy="2383790"/>
          </a:xfrm>
          <a:custGeom>
            <a:avLst/>
            <a:gdLst/>
            <a:ahLst/>
            <a:cxnLst/>
            <a:rect l="l" t="t" r="r" b="b"/>
            <a:pathLst>
              <a:path w="5636259" h="2383790">
                <a:moveTo>
                  <a:pt x="0" y="2383536"/>
                </a:moveTo>
                <a:lnTo>
                  <a:pt x="5635752" y="2383536"/>
                </a:lnTo>
                <a:lnTo>
                  <a:pt x="5635752" y="0"/>
                </a:lnTo>
                <a:lnTo>
                  <a:pt x="0" y="0"/>
                </a:lnTo>
                <a:lnTo>
                  <a:pt x="0" y="2383536"/>
                </a:lnTo>
                <a:close/>
              </a:path>
            </a:pathLst>
          </a:custGeom>
          <a:ln w="25400">
            <a:solidFill>
              <a:srgbClr val="385622"/>
            </a:solidFill>
          </a:ln>
        </p:spPr>
        <p:txBody>
          <a:bodyPr wrap="square" lIns="0" tIns="0" rIns="0" bIns="0" rtlCol="0"/>
          <a:lstStyle/>
          <a:p/>
        </p:txBody>
      </p:sp>
      <p:sp>
        <p:nvSpPr>
          <p:cNvPr id="6" name="object 6"/>
          <p:cNvSpPr/>
          <p:nvPr/>
        </p:nvSpPr>
        <p:spPr>
          <a:xfrm>
            <a:off x="1120139" y="2046732"/>
            <a:ext cx="769620" cy="769620"/>
          </a:xfrm>
          <a:custGeom>
            <a:avLst/>
            <a:gdLst/>
            <a:ahLst/>
            <a:cxnLst/>
            <a:rect l="l" t="t" r="r" b="b"/>
            <a:pathLst>
              <a:path w="769619" h="769619">
                <a:moveTo>
                  <a:pt x="0" y="769620"/>
                </a:moveTo>
                <a:lnTo>
                  <a:pt x="769620" y="769620"/>
                </a:lnTo>
                <a:lnTo>
                  <a:pt x="769620" y="0"/>
                </a:lnTo>
                <a:lnTo>
                  <a:pt x="0" y="0"/>
                </a:lnTo>
                <a:lnTo>
                  <a:pt x="0" y="769620"/>
                </a:lnTo>
                <a:close/>
              </a:path>
            </a:pathLst>
          </a:custGeom>
          <a:solidFill>
            <a:srgbClr val="AD2E00"/>
          </a:solidFill>
        </p:spPr>
        <p:txBody>
          <a:bodyPr wrap="square" lIns="0" tIns="0" rIns="0" bIns="0" rtlCol="0"/>
          <a:lstStyle/>
          <a:p/>
        </p:txBody>
      </p:sp>
      <p:sp>
        <p:nvSpPr>
          <p:cNvPr id="7" name="object 7"/>
          <p:cNvSpPr/>
          <p:nvPr/>
        </p:nvSpPr>
        <p:spPr>
          <a:xfrm>
            <a:off x="946403" y="1871472"/>
            <a:ext cx="558165" cy="558165"/>
          </a:xfrm>
          <a:custGeom>
            <a:avLst/>
            <a:gdLst/>
            <a:ahLst/>
            <a:cxnLst/>
            <a:rect l="l" t="t" r="r" b="b"/>
            <a:pathLst>
              <a:path w="558165" h="558164">
                <a:moveTo>
                  <a:pt x="0" y="557784"/>
                </a:moveTo>
                <a:lnTo>
                  <a:pt x="557784" y="557784"/>
                </a:lnTo>
                <a:lnTo>
                  <a:pt x="557784" y="0"/>
                </a:lnTo>
                <a:lnTo>
                  <a:pt x="0" y="0"/>
                </a:lnTo>
                <a:lnTo>
                  <a:pt x="0" y="557784"/>
                </a:lnTo>
                <a:close/>
              </a:path>
            </a:pathLst>
          </a:custGeom>
          <a:solidFill>
            <a:srgbClr val="00663B"/>
          </a:solidFill>
        </p:spPr>
        <p:txBody>
          <a:bodyPr wrap="square" lIns="0" tIns="0" rIns="0" bIns="0" rtlCol="0"/>
          <a:lstStyle/>
          <a:p/>
        </p:txBody>
      </p:sp>
      <p:sp>
        <p:nvSpPr>
          <p:cNvPr id="8" name="object 8"/>
          <p:cNvSpPr/>
          <p:nvPr/>
        </p:nvSpPr>
        <p:spPr>
          <a:xfrm>
            <a:off x="1496567" y="2444495"/>
            <a:ext cx="559435" cy="558165"/>
          </a:xfrm>
          <a:custGeom>
            <a:avLst/>
            <a:gdLst/>
            <a:ahLst/>
            <a:cxnLst/>
            <a:rect l="l" t="t" r="r" b="b"/>
            <a:pathLst>
              <a:path w="559435" h="558164">
                <a:moveTo>
                  <a:pt x="0" y="557784"/>
                </a:moveTo>
                <a:lnTo>
                  <a:pt x="559307" y="557784"/>
                </a:lnTo>
                <a:lnTo>
                  <a:pt x="559307" y="0"/>
                </a:lnTo>
                <a:lnTo>
                  <a:pt x="0" y="0"/>
                </a:lnTo>
                <a:lnTo>
                  <a:pt x="0" y="557784"/>
                </a:lnTo>
                <a:close/>
              </a:path>
            </a:pathLst>
          </a:custGeom>
          <a:solidFill>
            <a:srgbClr val="00663B"/>
          </a:solidFill>
        </p:spPr>
        <p:txBody>
          <a:bodyPr wrap="square" lIns="0" tIns="0" rIns="0" bIns="0" rtlCol="0"/>
          <a:lstStyle/>
          <a:p/>
        </p:txBody>
      </p:sp>
      <p:sp>
        <p:nvSpPr>
          <p:cNvPr id="9" name="object 9"/>
          <p:cNvSpPr/>
          <p:nvPr/>
        </p:nvSpPr>
        <p:spPr>
          <a:xfrm>
            <a:off x="7266431" y="4951476"/>
            <a:ext cx="771525" cy="769620"/>
          </a:xfrm>
          <a:custGeom>
            <a:avLst/>
            <a:gdLst/>
            <a:ahLst/>
            <a:cxnLst/>
            <a:rect l="l" t="t" r="r" b="b"/>
            <a:pathLst>
              <a:path w="771525" h="769620">
                <a:moveTo>
                  <a:pt x="0" y="769620"/>
                </a:moveTo>
                <a:lnTo>
                  <a:pt x="771144" y="769620"/>
                </a:lnTo>
                <a:lnTo>
                  <a:pt x="771144" y="0"/>
                </a:lnTo>
                <a:lnTo>
                  <a:pt x="0" y="0"/>
                </a:lnTo>
                <a:lnTo>
                  <a:pt x="0" y="769620"/>
                </a:lnTo>
                <a:close/>
              </a:path>
            </a:pathLst>
          </a:custGeom>
          <a:solidFill>
            <a:srgbClr val="AD2E00"/>
          </a:solidFill>
        </p:spPr>
        <p:txBody>
          <a:bodyPr wrap="square" lIns="0" tIns="0" rIns="0" bIns="0" rtlCol="0"/>
          <a:lstStyle/>
          <a:p/>
        </p:txBody>
      </p:sp>
      <p:sp>
        <p:nvSpPr>
          <p:cNvPr id="10" name="object 10"/>
          <p:cNvSpPr/>
          <p:nvPr/>
        </p:nvSpPr>
        <p:spPr>
          <a:xfrm>
            <a:off x="7092695" y="4774691"/>
            <a:ext cx="559435" cy="559435"/>
          </a:xfrm>
          <a:custGeom>
            <a:avLst/>
            <a:gdLst/>
            <a:ahLst/>
            <a:cxnLst/>
            <a:rect l="l" t="t" r="r" b="b"/>
            <a:pathLst>
              <a:path w="559434" h="559435">
                <a:moveTo>
                  <a:pt x="0" y="559307"/>
                </a:moveTo>
                <a:lnTo>
                  <a:pt x="559307" y="559307"/>
                </a:lnTo>
                <a:lnTo>
                  <a:pt x="559307" y="0"/>
                </a:lnTo>
                <a:lnTo>
                  <a:pt x="0" y="0"/>
                </a:lnTo>
                <a:lnTo>
                  <a:pt x="0" y="559307"/>
                </a:lnTo>
                <a:close/>
              </a:path>
            </a:pathLst>
          </a:custGeom>
          <a:solidFill>
            <a:srgbClr val="00663B"/>
          </a:solidFill>
        </p:spPr>
        <p:txBody>
          <a:bodyPr wrap="square" lIns="0" tIns="0" rIns="0" bIns="0" rtlCol="0"/>
          <a:lstStyle/>
          <a:p/>
        </p:txBody>
      </p:sp>
      <p:sp>
        <p:nvSpPr>
          <p:cNvPr id="11" name="object 11"/>
          <p:cNvSpPr/>
          <p:nvPr/>
        </p:nvSpPr>
        <p:spPr>
          <a:xfrm>
            <a:off x="7642859" y="5347715"/>
            <a:ext cx="559435" cy="559435"/>
          </a:xfrm>
          <a:custGeom>
            <a:avLst/>
            <a:gdLst/>
            <a:ahLst/>
            <a:cxnLst/>
            <a:rect l="l" t="t" r="r" b="b"/>
            <a:pathLst>
              <a:path w="559434" h="559435">
                <a:moveTo>
                  <a:pt x="0" y="559307"/>
                </a:moveTo>
                <a:lnTo>
                  <a:pt x="559307" y="559307"/>
                </a:lnTo>
                <a:lnTo>
                  <a:pt x="559307" y="0"/>
                </a:lnTo>
                <a:lnTo>
                  <a:pt x="0" y="0"/>
                </a:lnTo>
                <a:lnTo>
                  <a:pt x="0" y="559307"/>
                </a:lnTo>
                <a:close/>
              </a:path>
            </a:pathLst>
          </a:custGeom>
          <a:solidFill>
            <a:srgbClr val="00663B"/>
          </a:solidFill>
        </p:spPr>
        <p:txBody>
          <a:bodyPr wrap="square" lIns="0" tIns="0" rIns="0" bIns="0" rtlCol="0"/>
          <a:lstStyle/>
          <a:p/>
        </p:txBody>
      </p:sp>
      <p:sp>
        <p:nvSpPr>
          <p:cNvPr id="12" name="object 12"/>
          <p:cNvSpPr/>
          <p:nvPr/>
        </p:nvSpPr>
        <p:spPr>
          <a:xfrm>
            <a:off x="3878579" y="745236"/>
            <a:ext cx="1080515" cy="1082039"/>
          </a:xfrm>
          <a:prstGeom prst="rect">
            <a:avLst/>
          </a:prstGeom>
          <a:blipFill>
            <a:blip r:embed="rId2" cstate="print"/>
            <a:stretch>
              <a:fillRect/>
            </a:stretch>
          </a:blipFill>
        </p:spPr>
        <p:txBody>
          <a:bodyPr wrap="square" lIns="0" tIns="0" rIns="0" bIns="0" rtlCol="0"/>
          <a:lstStyle/>
          <a:p/>
        </p:txBody>
      </p:sp>
      <p:sp>
        <p:nvSpPr>
          <p:cNvPr id="13" name="object 13"/>
          <p:cNvSpPr txBox="1"/>
          <p:nvPr/>
        </p:nvSpPr>
        <p:spPr>
          <a:xfrm>
            <a:off x="8326628" y="6228384"/>
            <a:ext cx="281940" cy="208279"/>
          </a:xfrm>
          <a:prstGeom prst="rect">
            <a:avLst/>
          </a:prstGeom>
        </p:spPr>
        <p:txBody>
          <a:bodyPr wrap="square" lIns="0" tIns="12700" rIns="0" bIns="0" rtlCol="0" vert="horz">
            <a:spAutoFit/>
          </a:bodyPr>
          <a:lstStyle/>
          <a:p>
            <a:pPr marL="12700">
              <a:lnSpc>
                <a:spcPct val="100000"/>
              </a:lnSpc>
              <a:spcBef>
                <a:spcPts val="100"/>
              </a:spcBef>
            </a:pPr>
            <a:r>
              <a:rPr dirty="0" sz="1200" spc="-5">
                <a:solidFill>
                  <a:srgbClr val="888888"/>
                </a:solidFill>
                <a:latin typeface="Arial"/>
                <a:cs typeface="Arial"/>
              </a:rPr>
              <a:t>144</a:t>
            </a:r>
            <a:endParaRPr sz="12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wanling gao</dc:creator>
  <dc:title>BigDataBench</dc:title>
  <dcterms:created xsi:type="dcterms:W3CDTF">2024-04-25T08:34:21Z</dcterms:created>
  <dcterms:modified xsi:type="dcterms:W3CDTF">2024-04-25T08:34:21Z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2024-03-22T00:00:00Z</vt:filetime>
  </property>
  <property fmtid="{D5CDD505-2E9C-101B-9397-08002B2CF9AE}" pid="3" name="Creator">
    <vt:lpwstr>Microsoft® PowerPoint® LTSC</vt:lpwstr>
  </property>
  <property fmtid="{D5CDD505-2E9C-101B-9397-08002B2CF9AE}" pid="4" name="LastSaved">
    <vt:filetime>2024-04-25T00:00:00Z</vt:filetime>
  </property>
</Properties>
</file>